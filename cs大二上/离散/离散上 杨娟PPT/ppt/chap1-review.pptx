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4"/>
  </p:handoutMasterIdLst>
  <p:sldIdLst>
    <p:sldId id="282" r:id="rId3"/>
    <p:sldId id="705" r:id="rId4"/>
    <p:sldId id="315" r:id="rId6"/>
    <p:sldId id="284" r:id="rId7"/>
    <p:sldId id="296" r:id="rId8"/>
    <p:sldId id="358" r:id="rId9"/>
    <p:sldId id="287" r:id="rId10"/>
    <p:sldId id="288" r:id="rId11"/>
    <p:sldId id="360" r:id="rId12"/>
    <p:sldId id="356" r:id="rId13"/>
    <p:sldId id="357" r:id="rId14"/>
    <p:sldId id="379" r:id="rId15"/>
    <p:sldId id="824" r:id="rId16"/>
    <p:sldId id="397" r:id="rId17"/>
    <p:sldId id="366" r:id="rId18"/>
    <p:sldId id="368" r:id="rId19"/>
    <p:sldId id="446" r:id="rId20"/>
    <p:sldId id="373" r:id="rId21"/>
    <p:sldId id="369" r:id="rId22"/>
    <p:sldId id="460" r:id="rId23"/>
    <p:sldId id="462" r:id="rId24"/>
    <p:sldId id="706" r:id="rId25"/>
    <p:sldId id="707" r:id="rId26"/>
    <p:sldId id="708" r:id="rId27"/>
    <p:sldId id="709" r:id="rId28"/>
    <p:sldId id="711" r:id="rId29"/>
    <p:sldId id="712" r:id="rId30"/>
    <p:sldId id="710" r:id="rId31"/>
    <p:sldId id="713" r:id="rId32"/>
    <p:sldId id="842" r:id="rId33"/>
  </p:sldIdLst>
  <p:sldSz cx="9144000" cy="6858000" type="screen4x3"/>
  <p:notesSz cx="6669405" cy="9926955"/>
  <p:custDataLst>
    <p:tags r:id="rId3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1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75329"/>
  </p:normalViewPr>
  <p:slideViewPr>
    <p:cSldViewPr showGuides="1">
      <p:cViewPr varScale="1">
        <p:scale>
          <a:sx n="68" d="100"/>
          <a:sy n="68" d="100"/>
        </p:scale>
        <p:origin x="2034" y="78"/>
      </p:cViewPr>
      <p:guideLst>
        <p:guide orient="horz" pos="1451"/>
        <p:guide pos="4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fontAlgn="base">
              <a:defRPr/>
            </a:pPr>
            <a:endParaRPr lang="zh-CN" altLang="en-US" strike="noStrike" noProof="1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fontAlgn="base">
              <a:defRPr/>
            </a:pPr>
            <a:endParaRPr lang="zh-CN" altLang="en-US" strike="noStrike" noProof="1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fontAlgn="base"/>
            <a:fld id="{FBA7B2A7-64F4-427F-9C6A-47DC0ED26B6A}" type="slidenum">
              <a:rPr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fontAlgn="base">
              <a:defRPr/>
            </a:pPr>
            <a:endParaRPr lang="zh-CN" altLang="en-US" strike="noStrike" noProof="1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/>
          </p:cNvSpPr>
          <p:nvPr>
            <p:ph type="body" sz="quarter"/>
          </p:nvPr>
        </p:nvSpPr>
        <p:spPr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fontAlgn="base"/>
            <a:fld id="{003D0CBB-C77E-447F-A11B-D0D9E393FD66}" type="slidenum">
              <a:rPr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i="0" u="none">
                <a:latin typeface="Arial" panose="020B0604020202090204" pitchFamily="34" charset="0"/>
              </a:rPr>
            </a:fld>
            <a:endParaRPr lang="en-US" altLang="zh-CN" sz="1200" b="0" i="0" u="none">
              <a:latin typeface="Arial" panose="020B0604020202090204" pitchFamily="34" charset="0"/>
            </a:endParaRPr>
          </a:p>
        </p:txBody>
      </p:sp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229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0" i="0" u="none"/>
            </a:fld>
            <a:endParaRPr lang="zh-CN" altLang="en-US" sz="1200" b="0" i="0" u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i="0" u="none">
                <a:latin typeface="Arial" panose="020B0604020202090204" pitchFamily="34" charset="0"/>
              </a:rPr>
            </a:fld>
            <a:endParaRPr lang="en-US" altLang="zh-CN" sz="1200" b="0" i="0" u="none">
              <a:latin typeface="Arial" panose="020B0604020202090204" pitchFamily="34" charset="0"/>
            </a:endParaRPr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i="0" u="none">
                <a:latin typeface="Arial" panose="020B0604020202090204" pitchFamily="34" charset="0"/>
              </a:rPr>
            </a:fld>
            <a:endParaRPr lang="en-US" altLang="zh-CN" sz="1200" b="0" i="0" u="none">
              <a:latin typeface="Arial" panose="020B0604020202090204" pitchFamily="34" charset="0"/>
            </a:endParaRPr>
          </a:p>
        </p:txBody>
      </p:sp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i="0" u="none">
                <a:latin typeface="Arial" panose="020B0604020202090204" pitchFamily="34" charset="0"/>
              </a:rPr>
            </a:fld>
            <a:endParaRPr lang="en-US" altLang="zh-CN" sz="1200" b="0" i="0" u="none">
              <a:latin typeface="Arial" panose="020B0604020202090204" pitchFamily="34" charset="0"/>
            </a:endParaRPr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i="0" u="none">
                <a:latin typeface="Arial" panose="020B0604020202090204" pitchFamily="34" charset="0"/>
              </a:rPr>
            </a:fld>
            <a:endParaRPr lang="en-US" altLang="zh-CN" sz="1200" b="0" i="0" u="none">
              <a:latin typeface="Arial" panose="020B0604020202090204" pitchFamily="34" charset="0"/>
            </a:endParaRPr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7"/>
          <p:cNvSpPr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i="0" u="none">
                <a:latin typeface="Arial" panose="020B0604020202090204" pitchFamily="34" charset="0"/>
              </a:rPr>
            </a:fld>
            <a:endParaRPr lang="en-US" altLang="zh-CN" sz="1200" b="0" i="0" u="none">
              <a:latin typeface="Arial" panose="020B0604020202090204" pitchFamily="34" charset="0"/>
            </a:endParaRPr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53" name="Rectangle 4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 algn="ctr" eaLnBrk="0" hangingPunct="0"/>
                <a:endParaRPr lang="zh-CN" altLang="en-US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2054" name="Rectangle 5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algn="ctr" eaLnBrk="0" hangingPunct="0"/>
                <a:endParaRPr lang="zh-CN" altLang="en-US">
                  <a:latin typeface="Times New Roman" panose="02020503050405090304" pitchFamily="18" charset="0"/>
                </a:endParaRPr>
              </a:p>
            </p:txBody>
          </p:sp>
        </p:grpSp>
        <p:grpSp>
          <p:nvGrpSpPr>
            <p:cNvPr id="2055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56" name="Rectangle 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lvl="0" algn="ctr" eaLnBrk="0" hangingPunct="0"/>
                <a:endParaRPr lang="zh-CN" altLang="en-US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2057" name="Rectangle 8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algn="ctr" eaLnBrk="0" hangingPunct="0"/>
                <a:endParaRPr lang="zh-CN" altLang="en-US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2058" name="Rectangle 9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0" hangingPunct="0"/>
              <a:endParaRPr lang="zh-CN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2059" name="Rectangle 10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lvl="0" algn="ctr" eaLnBrk="0" hangingPunct="0"/>
              <a:endParaRPr lang="zh-CN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2060" name="Rectangle 11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0" hangingPunct="0"/>
              <a:endParaRPr lang="zh-CN" altLang="en-US">
                <a:latin typeface="Times New Roman" panose="02020503050405090304" pitchFamily="18" charset="0"/>
              </a:endParaRPr>
            </a:p>
          </p:txBody>
        </p:sp>
      </p:grpSp>
      <p:sp>
        <p:nvSpPr>
          <p:cNvPr id="2061" name="Text Box 18"/>
          <p:cNvSpPr txBox="1"/>
          <p:nvPr userDrawn="1"/>
        </p:nvSpPr>
        <p:spPr>
          <a:xfrm>
            <a:off x="2447925" y="4581525"/>
            <a:ext cx="5756275" cy="16430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0" i="0" u="none">
                <a:solidFill>
                  <a:schemeClr val="folHlink"/>
                </a:solidFill>
                <a:latin typeface="Copperplate Gothic Light" panose="020E0507020206020404" pitchFamily="34" charset="0"/>
              </a:rPr>
              <a:t>Yang Juan</a:t>
            </a:r>
            <a:endParaRPr lang="en-US" altLang="zh-CN" b="0" i="0" u="none">
              <a:solidFill>
                <a:schemeClr val="folHlink"/>
              </a:solidFill>
              <a:latin typeface="Copperplate Gothic Light" panose="020E0507020206020404" pitchFamily="34" charset="0"/>
            </a:endParaRPr>
          </a:p>
          <a:p>
            <a:pPr lvl="0"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b="0" i="0" u="none">
                <a:solidFill>
                  <a:srgbClr val="009999"/>
                </a:solidFill>
                <a:latin typeface="Times New Roman" panose="02020503050405090304" pitchFamily="18" charset="0"/>
              </a:rPr>
              <a:t>yangjuan@bupt.edu.cn</a:t>
            </a:r>
            <a:endParaRPr lang="en-US" altLang="zh-CN" sz="1600" b="0" i="0" u="none">
              <a:solidFill>
                <a:srgbClr val="009999"/>
              </a:solidFill>
              <a:latin typeface="Times New Roman" panose="02020503050405090304" pitchFamily="18" charset="0"/>
            </a:endParaRPr>
          </a:p>
          <a:p>
            <a:pPr lvl="0"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b="0" i="0" u="none">
              <a:solidFill>
                <a:srgbClr val="009999"/>
              </a:solidFill>
              <a:latin typeface="Tahoma" panose="020B0604030504040204" pitchFamily="34" charset="0"/>
            </a:endParaRPr>
          </a:p>
          <a:p>
            <a:pPr lvl="0"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b="0" i="0" u="none">
                <a:solidFill>
                  <a:srgbClr val="009999"/>
                </a:solidFill>
                <a:latin typeface="Copperplate Gothic Light" panose="020E0507020206020404" pitchFamily="34" charset="0"/>
              </a:rPr>
              <a:t>College of Computer Science &amp; Technology</a:t>
            </a:r>
            <a:endParaRPr lang="en-US" altLang="zh-CN" sz="1600" b="0" i="0" u="none">
              <a:solidFill>
                <a:srgbClr val="009999"/>
              </a:solidFill>
              <a:latin typeface="Copperplate Gothic Light" panose="020E0507020206020404" pitchFamily="34" charset="0"/>
            </a:endParaRPr>
          </a:p>
          <a:p>
            <a:pPr lvl="0"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b="0" i="0" u="none">
                <a:solidFill>
                  <a:srgbClr val="009999"/>
                </a:solidFill>
                <a:latin typeface="Copperplate Gothic Light" panose="020E0507020206020404" pitchFamily="34" charset="0"/>
              </a:rPr>
              <a:t>Beijing University of Posts &amp; Telecommunications</a:t>
            </a:r>
            <a:endParaRPr lang="zh-CN" altLang="en-US" sz="1600" b="0" i="0" u="none">
              <a:latin typeface="Times New Roman" panose="02020503050405090304" pitchFamily="18" charset="0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16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fontAlgn="base">
              <a:defRPr/>
            </a:pPr>
            <a:fld id="{C1241983-3A3F-4D9D-BE82-F1F888C19C4C}" type="datetime1">
              <a:rPr lang="zh-CN" altLang="en-US" strike="noStrike" noProof="1">
                <a:latin typeface="+mn-lt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1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fontAlgn="base">
              <a:defRPr/>
            </a:pPr>
            <a:endParaRPr lang="en-US" altLang="zh-CN" strike="noStrike" noProof="1"/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fontAlgn="base"/>
            <a:fld id="{71E6A5E6-698D-4C5B-B3F8-F92893BAFEBB}" type="slidenum">
              <a:rPr lang="zh-CN" altLang="en-US" strike="noStrike" noProof="1"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 fontAlgn="base"/>
            <a:endParaRPr lang="zh-CN" altLang="en-US" strike="noStrike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Bar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88720"/>
          </a:xfrm>
          <a:prstGeom prst="rect">
            <a:avLst/>
          </a:prstGeom>
        </p:spPr>
        <p:txBody>
          <a:bodyPr anchor="ctr"/>
          <a:lstStyle>
            <a:lvl1pPr>
              <a:defRPr sz="4400" b="0">
                <a:solidFill>
                  <a:srgbClr val="04617B"/>
                </a:solidFill>
                <a:latin typeface="+mj-lt"/>
                <a:cs typeface="Arial" panose="020B0604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152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Font typeface="Arial" panose="020B0604020202090204" pitchFamily="34" charset="0"/>
              <a:buNone/>
              <a:defRPr sz="3200">
                <a:latin typeface="+mj-lt"/>
                <a:cs typeface="Arial" panose="020B0604020202090204" pitchFamily="34" charset="0"/>
              </a:defRPr>
            </a:lvl1pPr>
            <a:lvl2pPr marL="457200" indent="-342900">
              <a:spcBef>
                <a:spcPts val="1200"/>
              </a:spcBef>
              <a:spcAft>
                <a:spcPts val="600"/>
              </a:spcAft>
              <a:buClr>
                <a:srgbClr val="04617B"/>
              </a:buClr>
              <a:buFont typeface="Arial" panose="020B0604020202090204" pitchFamily="34" charset="0"/>
              <a:buChar char="•"/>
              <a:defRPr sz="2800">
                <a:latin typeface="+mj-lt"/>
                <a:cs typeface="Arial" panose="020B0604020202090204" pitchFamily="34" charset="0"/>
              </a:defRPr>
            </a:lvl2pPr>
            <a:lvl3pPr marL="822960" indent="-274320">
              <a:spcBef>
                <a:spcPts val="1200"/>
              </a:spcBef>
              <a:spcAft>
                <a:spcPts val="600"/>
              </a:spcAft>
              <a:buClr>
                <a:srgbClr val="B60000"/>
              </a:buClr>
              <a:buFont typeface="Arial" panose="020B0604020202090204" pitchFamily="34" charset="0"/>
              <a:buChar char="•"/>
              <a:defRPr sz="2400">
                <a:latin typeface="+mj-lt"/>
                <a:cs typeface="Arial" panose="020B0604020202090204" pitchFamily="34" charset="0"/>
              </a:defRPr>
            </a:lvl3pPr>
            <a:lvl4pPr marL="1188720" indent="-274320">
              <a:spcBef>
                <a:spcPts val="1200"/>
              </a:spcBef>
              <a:spcAft>
                <a:spcPts val="600"/>
              </a:spcAft>
              <a:buClr>
                <a:srgbClr val="663F78"/>
              </a:buClr>
              <a:buFont typeface="Arial" panose="020B0604020202090204" pitchFamily="34" charset="0"/>
              <a:buChar char="•"/>
              <a:defRPr sz="2000">
                <a:latin typeface="+mj-lt"/>
                <a:cs typeface="Arial" panose="020B0604020202090204" pitchFamily="34" charset="0"/>
              </a:defRPr>
            </a:lvl4pPr>
            <a:lvl5pPr marL="1554480" indent="-228600">
              <a:spcBef>
                <a:spcPts val="12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 sz="1600">
                <a:latin typeface="+mj-lt"/>
                <a:cs typeface="Arial" panose="020B060402020209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idx="13"/>
          </p:nvPr>
        </p:nvSpPr>
        <p:spPr>
          <a:xfrm>
            <a:off x="457200" y="3048000"/>
            <a:ext cx="8229600" cy="1600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Font typeface="Arial" panose="020B0604020202090204" pitchFamily="34" charset="0"/>
              <a:buNone/>
              <a:defRPr sz="3200">
                <a:latin typeface="+mj-lt"/>
                <a:cs typeface="Arial" panose="020B0604020202090204" pitchFamily="34" charset="0"/>
              </a:defRPr>
            </a:lvl1pPr>
            <a:lvl2pPr marL="457200" indent="-342900">
              <a:spcBef>
                <a:spcPts val="1200"/>
              </a:spcBef>
              <a:spcAft>
                <a:spcPts val="600"/>
              </a:spcAft>
              <a:buClr>
                <a:srgbClr val="04617B"/>
              </a:buClr>
              <a:buFont typeface="Arial" panose="020B0604020202090204" pitchFamily="34" charset="0"/>
              <a:buChar char="•"/>
              <a:defRPr sz="2800">
                <a:latin typeface="+mj-lt"/>
                <a:cs typeface="Arial" panose="020B0604020202090204" pitchFamily="34" charset="0"/>
              </a:defRPr>
            </a:lvl2pPr>
            <a:lvl3pPr marL="822960" indent="-274320">
              <a:spcBef>
                <a:spcPts val="1200"/>
              </a:spcBef>
              <a:spcAft>
                <a:spcPts val="600"/>
              </a:spcAft>
              <a:buClr>
                <a:srgbClr val="B60000"/>
              </a:buClr>
              <a:buFont typeface="Arial" panose="020B0604020202090204" pitchFamily="34" charset="0"/>
              <a:buChar char="•"/>
              <a:defRPr sz="2400">
                <a:latin typeface="+mj-lt"/>
                <a:cs typeface="Arial" panose="020B0604020202090204" pitchFamily="34" charset="0"/>
              </a:defRPr>
            </a:lvl3pPr>
            <a:lvl4pPr marL="1188720" indent="-274320">
              <a:spcBef>
                <a:spcPts val="1200"/>
              </a:spcBef>
              <a:spcAft>
                <a:spcPts val="600"/>
              </a:spcAft>
              <a:buClr>
                <a:srgbClr val="663F78"/>
              </a:buClr>
              <a:buFont typeface="Arial" panose="020B0604020202090204" pitchFamily="34" charset="0"/>
              <a:buChar char="•"/>
              <a:defRPr sz="2000">
                <a:latin typeface="+mj-lt"/>
                <a:cs typeface="Arial" panose="020B0604020202090204" pitchFamily="34" charset="0"/>
              </a:defRPr>
            </a:lvl4pPr>
            <a:lvl5pPr marL="1554480" indent="-228600">
              <a:spcBef>
                <a:spcPts val="12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 sz="1600">
                <a:latin typeface="+mj-lt"/>
                <a:cs typeface="Arial" panose="020B060402020209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idx="14"/>
          </p:nvPr>
        </p:nvSpPr>
        <p:spPr>
          <a:xfrm>
            <a:off x="457200" y="4800600"/>
            <a:ext cx="8229600" cy="1600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spcAft>
                <a:spcPts val="600"/>
              </a:spcAft>
              <a:buFont typeface="Arial" panose="020B0604020202090204" pitchFamily="34" charset="0"/>
              <a:buNone/>
              <a:defRPr sz="3200">
                <a:latin typeface="+mj-lt"/>
                <a:cs typeface="Arial" panose="020B0604020202090204" pitchFamily="34" charset="0"/>
              </a:defRPr>
            </a:lvl1pPr>
            <a:lvl2pPr marL="457200" indent="-342900">
              <a:spcBef>
                <a:spcPts val="1200"/>
              </a:spcBef>
              <a:spcAft>
                <a:spcPts val="600"/>
              </a:spcAft>
              <a:buClr>
                <a:srgbClr val="04617B"/>
              </a:buClr>
              <a:buFont typeface="Arial" panose="020B0604020202090204" pitchFamily="34" charset="0"/>
              <a:buChar char="•"/>
              <a:defRPr sz="2800">
                <a:latin typeface="+mj-lt"/>
                <a:cs typeface="Arial" panose="020B0604020202090204" pitchFamily="34" charset="0"/>
              </a:defRPr>
            </a:lvl2pPr>
            <a:lvl3pPr marL="822960" indent="-274320">
              <a:spcBef>
                <a:spcPts val="1200"/>
              </a:spcBef>
              <a:spcAft>
                <a:spcPts val="600"/>
              </a:spcAft>
              <a:buClr>
                <a:srgbClr val="B60000"/>
              </a:buClr>
              <a:buFont typeface="Arial" panose="020B0604020202090204" pitchFamily="34" charset="0"/>
              <a:buChar char="•"/>
              <a:defRPr sz="2400">
                <a:latin typeface="+mj-lt"/>
                <a:cs typeface="Arial" panose="020B0604020202090204" pitchFamily="34" charset="0"/>
              </a:defRPr>
            </a:lvl3pPr>
            <a:lvl4pPr marL="1188720" indent="-274320">
              <a:spcBef>
                <a:spcPts val="1200"/>
              </a:spcBef>
              <a:spcAft>
                <a:spcPts val="600"/>
              </a:spcAft>
              <a:buClr>
                <a:srgbClr val="663F78"/>
              </a:buClr>
              <a:buFont typeface="Arial" panose="020B0604020202090204" pitchFamily="34" charset="0"/>
              <a:buChar char="•"/>
              <a:defRPr sz="2000">
                <a:latin typeface="+mj-lt"/>
                <a:cs typeface="Arial" panose="020B0604020202090204" pitchFamily="34" charset="0"/>
              </a:defRPr>
            </a:lvl4pPr>
            <a:lvl5pPr marL="1554480" indent="-228600">
              <a:spcBef>
                <a:spcPts val="12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 sz="1600">
                <a:latin typeface="+mj-lt"/>
                <a:cs typeface="Arial" panose="020B060402020209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Jump Link"/>
          <p:cNvSpPr>
            <a:spLocks noGrp="1"/>
          </p:cNvSpPr>
          <p:nvPr>
            <p:ph type="body" sz="quarter" idx="15" hasCustomPrompt="1"/>
          </p:nvPr>
        </p:nvSpPr>
        <p:spPr>
          <a:xfrm>
            <a:off x="3465576" y="6553200"/>
            <a:ext cx="2212848" cy="1005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Add “Access the text alternative for slide images.”</a:t>
            </a:r>
            <a:endParaRPr lang="en-US" dirty="0"/>
          </a:p>
        </p:txBody>
      </p:sp>
      <p:sp>
        <p:nvSpPr>
          <p:cNvPr id="14" name="Photo Credit"/>
          <p:cNvSpPr>
            <a:spLocks noGrp="1"/>
          </p:cNvSpPr>
          <p:nvPr>
            <p:ph type="body" sz="quarter" idx="16" hasCustomPrompt="1"/>
          </p:nvPr>
        </p:nvSpPr>
        <p:spPr>
          <a:xfrm>
            <a:off x="6473952" y="6705600"/>
            <a:ext cx="2670048" cy="155448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fontAlgn="base"/>
            <a:fld id="{A47CC6A3-DA7B-4AC7-9665-6D90FF28EEDF}" type="slidenum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1028" name="Rectangle 2"/>
          <p:cNvSpPr/>
          <p:nvPr/>
        </p:nvSpPr>
        <p:spPr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29" name="Rectangle 3"/>
          <p:cNvSpPr/>
          <p:nvPr/>
        </p:nvSpPr>
        <p:spPr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0" name="Rectangle 4"/>
          <p:cNvSpPr/>
          <p:nvPr/>
        </p:nvSpPr>
        <p:spPr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1" name="Rectangle 5"/>
          <p:cNvSpPr/>
          <p:nvPr/>
        </p:nvSpPr>
        <p:spPr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2" name="Rectangle 6"/>
          <p:cNvSpPr/>
          <p:nvPr/>
        </p:nvSpPr>
        <p:spPr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3" name="Rectangle 7"/>
          <p:cNvSpPr/>
          <p:nvPr/>
        </p:nvSpPr>
        <p:spPr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4" name="Rectangle 8"/>
          <p:cNvSpPr/>
          <p:nvPr/>
        </p:nvSpPr>
        <p:spPr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150938" y="4349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24865" y="1278255"/>
            <a:ext cx="8130540" cy="48545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fontAlgn="base">
              <a:defRPr/>
            </a:pPr>
            <a:fld id="{18D32A4E-E830-4FBE-8768-DE972B0FA4DB}" type="datetime1">
              <a:rPr lang="zh-CN" altLang="en-US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fontAlgn="base">
              <a:defRPr/>
            </a:pPr>
            <a:r>
              <a:rPr lang="en-US" altLang="zh-CN" strike="noStrike" noProof="1">
                <a:latin typeface="Arial Narrow" panose="020B0606020202030204" pitchFamily="34" charset="0"/>
                <a:ea typeface="宋体" pitchFamily="2" charset="-122"/>
                <a:cs typeface="+mn-cs"/>
              </a:rPr>
              <a:t>School  of Computer Science</a:t>
            </a:r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Chapter Summary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435" y="1412875"/>
            <a:ext cx="8130540" cy="4854575"/>
          </a:xfrm>
        </p:spPr>
        <p:txBody>
          <a:bodyPr>
            <a:normAutofit fontScale="800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Propositional Logic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The Language of Propositions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Applications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Logical Equivalences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Predicate Logic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The Language of Quantifiers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Logical Equivalences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Nested Quantifiers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Proofs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Rules of Inference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Proof Methods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700" b="0" i="0" u="none" strike="noStrike" kern="0" cap="none" spc="0" normalizeH="0" baseline="3000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Proof Strategy</a:t>
            </a: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47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kumimoji="1" lang="en-US" sz="2800" b="0" i="0" u="none" strike="noStrike" kern="0" cap="none" spc="0" normalizeH="0" baseline="3000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3000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b="1" dirty="0"/>
              <a:t>The Foundations: Logic and Proofs</a:t>
            </a:r>
            <a:endParaRPr lang="en-US" altLang="zh-CN" sz="4000" b="1" dirty="0"/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899795" y="1340803"/>
            <a:ext cx="8229600" cy="4525962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1.1</a:t>
            </a:r>
            <a:r>
              <a:rPr lang="en-US" altLang="zh-CN" dirty="0">
                <a:latin typeface="Times New Roman" panose="02020503050405090304" pitchFamily="18" charset="0"/>
              </a:rPr>
              <a:t> Propositional Logic 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1.2  Applications of Propositional Logic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b="1" dirty="0">
                <a:latin typeface="Times New Roman" panose="02020503050405090304" pitchFamily="18" charset="0"/>
              </a:rPr>
              <a:t>1.3</a:t>
            </a:r>
            <a:r>
              <a:rPr lang="en-US" altLang="zh-CN" dirty="0">
                <a:latin typeface="Times New Roman" panose="02020503050405090304" pitchFamily="18" charset="0"/>
              </a:rPr>
              <a:t> Propositional Equivalences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b="1" dirty="0">
                <a:latin typeface="Times New Roman" panose="02020503050405090304" pitchFamily="18" charset="0"/>
              </a:rPr>
              <a:t>1.4</a:t>
            </a:r>
            <a:r>
              <a:rPr lang="en-US" altLang="zh-CN" dirty="0">
                <a:latin typeface="Times New Roman" panose="02020503050405090304" pitchFamily="18" charset="0"/>
              </a:rPr>
              <a:t> Predicates and Quantifiers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b="1" dirty="0">
                <a:latin typeface="Times New Roman" panose="02020503050405090304" pitchFamily="18" charset="0"/>
              </a:rPr>
              <a:t>1.5</a:t>
            </a:r>
            <a:r>
              <a:rPr lang="en-US" altLang="zh-CN" dirty="0">
                <a:latin typeface="Times New Roman" panose="02020503050405090304" pitchFamily="18" charset="0"/>
              </a:rPr>
              <a:t> Nested Quantifiers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b="1" dirty="0">
                <a:latin typeface="Times New Roman" panose="02020503050405090304" pitchFamily="18" charset="0"/>
              </a:rPr>
              <a:t>1.6</a:t>
            </a:r>
            <a:r>
              <a:rPr lang="en-US" altLang="zh-CN" dirty="0">
                <a:latin typeface="Times New Roman" panose="02020503050405090304" pitchFamily="18" charset="0"/>
              </a:rPr>
              <a:t> Rules of Inference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b="1" dirty="0">
                <a:latin typeface="Times New Roman" panose="02020503050405090304" pitchFamily="18" charset="0"/>
              </a:rPr>
              <a:t>1.7</a:t>
            </a:r>
            <a:r>
              <a:rPr lang="en-US" altLang="zh-CN" dirty="0">
                <a:latin typeface="Times New Roman" panose="02020503050405090304" pitchFamily="18" charset="0"/>
              </a:rPr>
              <a:t> Introduction to Proofs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b="1" dirty="0">
                <a:latin typeface="Times New Roman" panose="02020503050405090304" pitchFamily="18" charset="0"/>
              </a:rPr>
              <a:t>1.8</a:t>
            </a:r>
            <a:r>
              <a:rPr lang="en-US" altLang="zh-CN" dirty="0">
                <a:latin typeface="Times New Roman" panose="02020503050405090304" pitchFamily="18" charset="0"/>
              </a:rPr>
              <a:t> Proof Methods and Strategy 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Propositional Logic Summary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The Language of Propositions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Connectives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Truth Values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Truth Tables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Applications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Translating English Sentences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System Specifications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Logic Puzzles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Logic Circuits 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Logical Equivalences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Important Equivalences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Showing Equivalence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4000" b="0" i="0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Satisfiability</a:t>
            </a:r>
            <a:endParaRPr kumimoji="1" lang="en-US" sz="40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Title 1"/>
          <p:cNvSpPr>
            <a:spLocks noGrp="1"/>
          </p:cNvSpPr>
          <p:nvPr>
            <p:ph type="title"/>
          </p:nvPr>
        </p:nvSpPr>
        <p:spPr>
          <a:xfrm>
            <a:off x="1150938" y="187008"/>
            <a:ext cx="7793037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Propositional Logic Summary(1.1)</a:t>
            </a:r>
            <a:endParaRPr lang="en-US" altLang="zh-CN" dirty="0"/>
          </a:p>
        </p:txBody>
      </p:sp>
      <p:sp>
        <p:nvSpPr>
          <p:cNvPr id="9218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Propositions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Connectives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Negation </a:t>
            </a:r>
            <a:r>
              <a:rPr lang="en-US" altLang="zh-CN" dirty="0">
                <a:latin typeface="Times New Roman" panose="02020503050405090304" pitchFamily="18" charset="0"/>
                <a:ea typeface="Cambria Math" panose="02040503050406030204"/>
              </a:rPr>
              <a:t>¬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Conjunction </a:t>
            </a:r>
            <a:r>
              <a:rPr lang="en-US" altLang="zh-CN" dirty="0">
                <a:latin typeface="Times New Roman" panose="02020503050405090304" pitchFamily="18" charset="0"/>
                <a:cs typeface="Cambria Math" panose="02040503050406030204" pitchFamily="18" charset="0"/>
              </a:rPr>
              <a:t>∧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Disjunction </a:t>
            </a:r>
            <a:r>
              <a:rPr lang="en-US" altLang="zh-CN" dirty="0">
                <a:latin typeface="Times New Roman" panose="02020503050405090304" pitchFamily="18" charset="0"/>
                <a:cs typeface="Cambria Math" panose="02040503050406030204" pitchFamily="18" charset="0"/>
              </a:rPr>
              <a:t>∨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Implication</a:t>
            </a:r>
            <a:r>
              <a:rPr lang="en-US" altLang="zh-CN" dirty="0">
                <a:latin typeface="Times New Roman" panose="02020503050405090304" pitchFamily="18" charset="0"/>
                <a:ea typeface="Cambria Math" panose="02040503050406030204"/>
              </a:rPr>
              <a:t>→</a:t>
            </a:r>
            <a:r>
              <a:rPr lang="en-US" altLang="zh-CN" dirty="0">
                <a:latin typeface="Times New Roman" panose="02020503050405090304" pitchFamily="18" charset="0"/>
              </a:rPr>
              <a:t>; contrapositive, inverse, converse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Biconditional</a:t>
            </a:r>
            <a:r>
              <a:rPr lang="en-US" altLang="zh-CN" dirty="0">
                <a:latin typeface="Times New Roman" panose="02020503050405090304" pitchFamily="18" charset="0"/>
                <a:ea typeface="Cambria Math" panose="02040503050406030204"/>
              </a:rPr>
              <a:t>↔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Truth Tables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 lvl="1">
              <a:lnSpc>
                <a:spcPct val="90000"/>
              </a:lnSpc>
              <a:buNone/>
            </a:pP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795" y="189230"/>
            <a:ext cx="8244205" cy="1143000"/>
          </a:xfr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sz="3600" b="0" i="0" u="none" strike="noStrike" kern="0" cap="none" spc="0" normalizeH="0" baseline="0" noProof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Applications of Propositional Logic: Summary(1.2)</a:t>
            </a:r>
            <a:endParaRPr kumimoji="1" lang="en-US" sz="3600" b="0" i="0" u="none" strike="noStrike" kern="0" cap="none" spc="0" normalizeH="0" baseline="0" noProof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242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>
                <a:latin typeface="Times New Roman" panose="02020503050405090304" pitchFamily="18" charset="0"/>
              </a:rPr>
              <a:t>Translating English to Propositional Logic</a:t>
            </a:r>
            <a:endParaRPr lang="en-US" altLang="zh-CN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System Specifications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Boolean Searching</a:t>
            </a:r>
            <a:endParaRPr lang="en-US" altLang="zh-CN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Logic Puzzles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Logic Circuits 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Title 1"/>
          <p:cNvSpPr>
            <a:spLocks noGrp="1"/>
          </p:cNvSpPr>
          <p:nvPr>
            <p:ph type="title"/>
          </p:nvPr>
        </p:nvSpPr>
        <p:spPr>
          <a:xfrm>
            <a:off x="900113" y="260033"/>
            <a:ext cx="8243887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sz="4000" dirty="0"/>
              <a:t>Propositional Equivalences Summary(1.3)</a:t>
            </a:r>
            <a:endParaRPr lang="en-US" altLang="zh-C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Tautologies, Contradictions, and Contingencies. 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Logical Equivalence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Important Logical Equivalences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Showing Logical Equivalence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Normal Forms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Principal(Major) Disjunctive Normal Form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Principal</a:t>
            </a: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+mn-ea"/>
              </a:rPr>
              <a:t>(Major)</a:t>
            </a:r>
            <a:r>
              <a:rPr kumimoji="1" lang="en-US" altLang="zh-CN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Conjunctive Normal Form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Propositional </a:t>
            </a:r>
            <a:r>
              <a:rPr kumimoji="1" lang="en-US" sz="3300" b="0" i="0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Satisfiability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33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Sudoku Example</a:t>
            </a: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3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None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</a:t>
            </a: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of Computer </a:t>
            </a: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Science</a:t>
            </a: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/>
              <a:t>Logical Equivalences</a:t>
            </a:r>
            <a:endParaRPr lang="en-US" altLang="zh-CN"/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>
          <a:xfrm>
            <a:off x="899795" y="1340485"/>
            <a:ext cx="7986395" cy="484695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 </a:t>
            </a:r>
            <a:r>
              <a:rPr lang="en-US" altLang="zh-CN" sz="2400" i="1" dirty="0">
                <a:latin typeface="Times New Roman" panose="02020503050405090304" pitchFamily="18" charset="0"/>
              </a:rPr>
              <a:t>T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 i="1" dirty="0">
                <a:latin typeface="Times New Roman" panose="02020503050405090304" pitchFamily="18" charset="0"/>
              </a:rPr>
              <a:t>			</a:t>
            </a:r>
            <a:r>
              <a:rPr lang="en-US" altLang="zh-CN" sz="2400" dirty="0">
                <a:latin typeface="Times New Roman" panose="02020503050405090304" pitchFamily="18" charset="0"/>
              </a:rPr>
              <a:t>Identity（</a:t>
            </a:r>
            <a:r>
              <a:rPr lang="zh-CN" altLang="en-US" sz="2400" dirty="0">
                <a:latin typeface="Times New Roman" panose="02020503050405090304" pitchFamily="18" charset="0"/>
              </a:rPr>
              <a:t>同一律）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 </a:t>
            </a:r>
            <a:r>
              <a:rPr lang="en-US" altLang="zh-CN" sz="2400" i="1" dirty="0">
                <a:latin typeface="Times New Roman" panose="02020503050405090304" pitchFamily="18" charset="0"/>
              </a:rPr>
              <a:t>F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endParaRPr lang="en-US" altLang="zh-CN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 </a:t>
            </a:r>
            <a:r>
              <a:rPr lang="en-US" altLang="zh-CN" sz="2400" i="1" dirty="0">
                <a:latin typeface="Times New Roman" panose="02020503050405090304" pitchFamily="18" charset="0"/>
              </a:rPr>
              <a:t>T 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T 			</a:t>
            </a:r>
            <a:r>
              <a:rPr lang="en-US" altLang="zh-CN" sz="2400" dirty="0">
                <a:latin typeface="Times New Roman" panose="02020503050405090304" pitchFamily="18" charset="0"/>
              </a:rPr>
              <a:t>Domination（</a:t>
            </a:r>
            <a:r>
              <a:rPr lang="zh-CN" altLang="en-US" sz="2400" dirty="0">
                <a:latin typeface="Times New Roman" panose="02020503050405090304" pitchFamily="18" charset="0"/>
              </a:rPr>
              <a:t>零律）</a:t>
            </a:r>
            <a:endParaRPr lang="zh-CN" altLang="en-US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 </a:t>
            </a:r>
            <a:r>
              <a:rPr lang="en-US" altLang="zh-CN" sz="2400" i="1" dirty="0">
                <a:latin typeface="Times New Roman" panose="02020503050405090304" pitchFamily="18" charset="0"/>
              </a:rPr>
              <a:t>F 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F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>
                <a:latin typeface="Symbol" panose="05050102010706020507" pitchFamily="18" charset="2"/>
              </a:rPr>
              <a:t>Ú 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i="1" dirty="0">
                <a:latin typeface="Times New Roman" panose="02020503050405090304" pitchFamily="18" charset="0"/>
              </a:rPr>
              <a:t>		</a:t>
            </a:r>
            <a:r>
              <a:rPr lang="en-US" altLang="zh-CN" sz="2400" i="1">
                <a:latin typeface="Times New Roman" panose="02020503050405090304" pitchFamily="18" charset="0"/>
              </a:rPr>
              <a:t>	</a:t>
            </a:r>
            <a:r>
              <a:rPr lang="en-US" altLang="zh-CN" sz="2400">
                <a:latin typeface="Times New Roman" panose="02020503050405090304" pitchFamily="18" charset="0"/>
              </a:rPr>
              <a:t>Idempotency</a:t>
            </a:r>
            <a:r>
              <a:rPr lang="en-US" altLang="zh-CN" sz="2400" dirty="0">
                <a:latin typeface="Times New Roman" panose="02020503050405090304" pitchFamily="18" charset="0"/>
              </a:rPr>
              <a:t>（</a:t>
            </a:r>
            <a:r>
              <a:rPr lang="zh-CN" altLang="en-US" sz="2400" dirty="0">
                <a:latin typeface="Times New Roman" panose="02020503050405090304" pitchFamily="18" charset="0"/>
              </a:rPr>
              <a:t>等幂律）</a:t>
            </a:r>
            <a:endParaRPr lang="zh-CN" altLang="en-US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>
                <a:latin typeface="Symbol" panose="05050102010706020507" pitchFamily="18" charset="2"/>
              </a:rPr>
              <a:t>Ù 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latin typeface="Symbol" panose="05050102010706020507" pitchFamily="18" charset="2"/>
              </a:rPr>
              <a:t>~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>
                <a:latin typeface="Symbol" panose="05050102010706020507" pitchFamily="18" charset="2"/>
              </a:rPr>
              <a:t>~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Times New Roman" panose="02020503050405090304" pitchFamily="18" charset="0"/>
              </a:rPr>
              <a:t>))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i="1" dirty="0">
                <a:latin typeface="Times New Roman" panose="02020503050405090304" pitchFamily="18" charset="0"/>
              </a:rPr>
              <a:t>		</a:t>
            </a:r>
            <a:r>
              <a:rPr lang="en-US" altLang="zh-CN" sz="2400" dirty="0">
                <a:latin typeface="Times New Roman" panose="02020503050405090304" pitchFamily="18" charset="0"/>
              </a:rPr>
              <a:t>Double negation（</a:t>
            </a:r>
            <a:r>
              <a:rPr lang="zh-CN" altLang="en-US" sz="2400" dirty="0">
                <a:latin typeface="Times New Roman" panose="02020503050405090304" pitchFamily="18" charset="0"/>
              </a:rPr>
              <a:t>双重否定律）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</a:t>
            </a:r>
            <a:r>
              <a:rPr lang="en-US" altLang="zh-CN" sz="2400" i="1" dirty="0">
                <a:latin typeface="Times New Roman" panose="02020503050405090304" pitchFamily="18" charset="0"/>
              </a:rPr>
              <a:t>Q 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Q</a:t>
            </a:r>
            <a:r>
              <a:rPr lang="en-US" altLang="zh-CN" sz="2400">
                <a:latin typeface="Symbol" panose="05050102010706020507" pitchFamily="18" charset="2"/>
              </a:rPr>
              <a:t>Ú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 i="1" dirty="0">
                <a:latin typeface="Times New Roman" panose="02020503050405090304" pitchFamily="18" charset="0"/>
              </a:rPr>
              <a:t>		</a:t>
            </a:r>
            <a:r>
              <a:rPr lang="en-US" altLang="zh-CN" sz="2400" dirty="0">
                <a:latin typeface="Times New Roman" panose="02020503050405090304" pitchFamily="18" charset="0"/>
              </a:rPr>
              <a:t>Commutativity（</a:t>
            </a:r>
            <a:r>
              <a:rPr lang="zh-CN" altLang="en-US" sz="2400" dirty="0">
                <a:latin typeface="Times New Roman" panose="02020503050405090304" pitchFamily="18" charset="0"/>
              </a:rPr>
              <a:t>交换律）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i="1" dirty="0">
                <a:latin typeface="Times New Roman" panose="02020503050405090304" pitchFamily="18" charset="0"/>
              </a:rPr>
              <a:t>Q 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Q</a:t>
            </a:r>
            <a:r>
              <a:rPr lang="en-US" altLang="zh-CN" sz="2400">
                <a:latin typeface="Symbol" panose="05050102010706020507" pitchFamily="18" charset="2"/>
              </a:rPr>
              <a:t>Ù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endParaRPr lang="en-US" altLang="zh-CN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</a:t>
            </a:r>
            <a:r>
              <a:rPr lang="en-US" altLang="zh-CN" sz="2400" dirty="0">
                <a:latin typeface="Symbol" panose="05050102010706020507" pitchFamily="18" charset="2"/>
              </a:rPr>
              <a:t>Ú </a:t>
            </a:r>
            <a:r>
              <a:rPr lang="en-US" altLang="zh-CN" sz="2400" i="1" dirty="0">
                <a:latin typeface="Times New Roman" panose="02020503050405090304" pitchFamily="18" charset="0"/>
              </a:rPr>
              <a:t>R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Symbol" panose="05050102010706020507" pitchFamily="18" charset="2"/>
              </a:rPr>
              <a:t>Ú 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Symbol" panose="05050102010706020507" pitchFamily="18" charset="2"/>
              </a:rPr>
              <a:t>Ú 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) 	Associativity（</a:t>
            </a:r>
            <a:r>
              <a:rPr lang="zh-CN" altLang="en-US" sz="2400" dirty="0">
                <a:latin typeface="Times New Roman" panose="02020503050405090304" pitchFamily="18" charset="0"/>
              </a:rPr>
              <a:t>结合律）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 dirty="0">
                <a:latin typeface="Symbol" panose="05050102010706020507" pitchFamily="18" charset="2"/>
              </a:rPr>
              <a:t>Ù </a:t>
            </a:r>
            <a:r>
              <a:rPr lang="en-US" altLang="zh-CN" sz="2400" i="1" dirty="0">
                <a:latin typeface="Times New Roman" panose="02020503050405090304" pitchFamily="18" charset="0"/>
              </a:rPr>
              <a:t>R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 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Symbol" panose="05050102010706020507" pitchFamily="18" charset="2"/>
              </a:rPr>
              <a:t>Ù 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)</a:t>
            </a:r>
            <a:endParaRPr lang="en-US" altLang="zh-CN" sz="24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None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</a:t>
            </a: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of Computer </a:t>
            </a: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Science</a:t>
            </a: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/>
              <a:t>Logical Equivalences</a:t>
            </a:r>
            <a:endParaRPr lang="en-US" altLang="zh-CN"/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>
          <a:xfrm>
            <a:off x="462280" y="1340485"/>
            <a:ext cx="856488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Symbol" panose="05050102010706020507" pitchFamily="18" charset="2"/>
              </a:rPr>
              <a:t>Ú 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</a:t>
            </a:r>
            <a:r>
              <a:rPr lang="en-US" altLang="zh-CN" sz="2400">
                <a:latin typeface="Symbol" panose="05050102010706020507" pitchFamily="18" charset="2"/>
              </a:rPr>
              <a:t>Ú 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 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) 	         Distributivity（</a:t>
            </a:r>
            <a:r>
              <a:rPr lang="zh-CN" altLang="en-US" sz="2400" dirty="0">
                <a:latin typeface="Times New Roman" panose="02020503050405090304" pitchFamily="18" charset="0"/>
              </a:rPr>
              <a:t>分配律）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Symbol" panose="05050102010706020507" pitchFamily="18" charset="2"/>
              </a:rPr>
              <a:t>Ù 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</a:t>
            </a:r>
            <a:r>
              <a:rPr lang="en-US" altLang="zh-CN" sz="2400">
                <a:latin typeface="Symbol" panose="05050102010706020507" pitchFamily="18" charset="2"/>
              </a:rPr>
              <a:t>Ù 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 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)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latin typeface="Symbol" panose="05050102010706020507" pitchFamily="18" charset="2"/>
              </a:rPr>
              <a:t>~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~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Ú~</a:t>
            </a:r>
            <a:r>
              <a:rPr lang="en-US" altLang="zh-CN" sz="2400" i="1" dirty="0">
                <a:latin typeface="Times New Roman" panose="02020503050405090304" pitchFamily="18" charset="0"/>
              </a:rPr>
              <a:t>Q	            </a:t>
            </a:r>
            <a:r>
              <a:rPr lang="en-US" altLang="zh-CN" sz="2400" dirty="0" err="1">
                <a:latin typeface="Times New Roman" panose="02020503050405090304" pitchFamily="18" charset="0"/>
              </a:rPr>
              <a:t>DeMorgan’s</a:t>
            </a:r>
            <a:r>
              <a:rPr lang="en-US" altLang="zh-CN" sz="2400" dirty="0">
                <a:latin typeface="Times New Roman" panose="02020503050405090304" pitchFamily="18" charset="0"/>
              </a:rPr>
              <a:t> laws（</a:t>
            </a:r>
            <a:r>
              <a:rPr lang="zh-CN" altLang="en-US" sz="2400" dirty="0">
                <a:latin typeface="Times New Roman" panose="02020503050405090304" pitchFamily="18" charset="0"/>
              </a:rPr>
              <a:t>德·摩根律）</a:t>
            </a:r>
            <a:endParaRPr lang="zh-CN" altLang="en-US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latin typeface="Symbol" panose="05050102010706020507" pitchFamily="18" charset="2"/>
              </a:rPr>
              <a:t>~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~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Ù~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endParaRPr lang="en-US" altLang="zh-CN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>
                <a:latin typeface="Symbol" panose="05050102010706020507" pitchFamily="18" charset="2"/>
              </a:rPr>
              <a:t>Ú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P, P </a:t>
            </a:r>
            <a:r>
              <a:rPr lang="en-US" altLang="zh-CN" sz="2400">
                <a:latin typeface="Symbol" panose="05050102010706020507" pitchFamily="18" charset="2"/>
              </a:rPr>
              <a:t>Ù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        </a:t>
            </a:r>
            <a:r>
              <a:rPr lang="en-US" altLang="zh-CN" sz="2400">
                <a:latin typeface="Times New Roman" panose="02020503050405090304" pitchFamily="18" charset="0"/>
              </a:rPr>
              <a:t>Absorption</a:t>
            </a:r>
            <a:r>
              <a:rPr lang="en-US" altLang="zh-CN" sz="2400" dirty="0">
                <a:latin typeface="Times New Roman" panose="02020503050405090304" pitchFamily="18" charset="0"/>
              </a:rPr>
              <a:t>（</a:t>
            </a:r>
            <a:r>
              <a:rPr lang="zh-CN" altLang="en-US" sz="2400" dirty="0">
                <a:latin typeface="Times New Roman" panose="02020503050405090304" pitchFamily="18" charset="0"/>
              </a:rPr>
              <a:t>吸收律）</a:t>
            </a:r>
            <a:endParaRPr lang="en-US" altLang="zh-CN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err="1">
                <a:latin typeface="Symbol" panose="05050102010706020507" pitchFamily="18" charset="2"/>
              </a:rPr>
              <a:t>Ú</a:t>
            </a:r>
            <a:r>
              <a:rPr lang="en-US" altLang="zh-CN" sz="2400">
                <a:latin typeface="Symbol" panose="05050102010706020507" pitchFamily="18" charset="2"/>
              </a:rPr>
              <a:t>~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T			          </a:t>
            </a:r>
            <a:r>
              <a:rPr lang="en-US" altLang="zh-CN" sz="2400" dirty="0">
                <a:latin typeface="Times New Roman" panose="02020503050405090304" pitchFamily="18" charset="0"/>
              </a:rPr>
              <a:t>Tautology（</a:t>
            </a:r>
            <a:r>
              <a:rPr lang="zh-CN" altLang="en-US" sz="2400" dirty="0">
                <a:latin typeface="Times New Roman" panose="02020503050405090304" pitchFamily="18" charset="0"/>
              </a:rPr>
              <a:t>排中律）</a:t>
            </a:r>
            <a:endParaRPr lang="zh-CN" altLang="en-US" sz="2400" i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err="1">
                <a:latin typeface="Symbol" panose="05050102010706020507" pitchFamily="18" charset="2"/>
              </a:rPr>
              <a:t>Ù</a:t>
            </a:r>
            <a:r>
              <a:rPr lang="en-US" altLang="zh-CN" sz="2400">
                <a:latin typeface="Symbol" panose="05050102010706020507" pitchFamily="18" charset="2"/>
              </a:rPr>
              <a:t>~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F			          </a:t>
            </a:r>
            <a:r>
              <a:rPr lang="en-US" altLang="zh-CN" sz="2400" dirty="0">
                <a:latin typeface="Times New Roman" panose="02020503050405090304" pitchFamily="18" charset="0"/>
              </a:rPr>
              <a:t>Contradiction（</a:t>
            </a:r>
            <a:r>
              <a:rPr lang="zh-CN" altLang="en-US" sz="2400" dirty="0">
                <a:latin typeface="Times New Roman" panose="02020503050405090304" pitchFamily="18" charset="0"/>
              </a:rPr>
              <a:t>矛盾律）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Q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~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Ú</a:t>
            </a:r>
            <a:r>
              <a:rPr lang="en-US" altLang="zh-CN" sz="2400" i="1" dirty="0">
                <a:latin typeface="Times New Roman" panose="02020503050405090304" pitchFamily="18" charset="0"/>
              </a:rPr>
              <a:t>Q 	</a:t>
            </a:r>
            <a:r>
              <a:rPr lang="en-US" altLang="zh-CN" sz="2400" i="1">
                <a:latin typeface="Times New Roman" panose="02020503050405090304" pitchFamily="18" charset="0"/>
              </a:rPr>
              <a:t>                        </a:t>
            </a:r>
            <a:r>
              <a:rPr lang="en-US" altLang="zh-CN" sz="2400">
                <a:latin typeface="Times New Roman" panose="02020503050405090304" pitchFamily="18" charset="0"/>
              </a:rPr>
              <a:t>Implication</a:t>
            </a:r>
            <a:r>
              <a:rPr lang="en-US" altLang="zh-CN" sz="2400" dirty="0">
                <a:latin typeface="Times New Roman" panose="02020503050405090304" pitchFamily="18" charset="0"/>
              </a:rPr>
              <a:t>（</a:t>
            </a:r>
            <a:r>
              <a:rPr lang="zh-CN" altLang="en-US" sz="2400" dirty="0">
                <a:latin typeface="Times New Roman" panose="02020503050405090304" pitchFamily="18" charset="0"/>
              </a:rPr>
              <a:t>蕴涵等值式）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</a:rPr>
              <a:t>Q </a:t>
            </a:r>
            <a:r>
              <a:rPr lang="en-US" altLang="zh-CN" sz="180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</a:t>
            </a:r>
            <a:r>
              <a:rPr lang="en-US" altLang="zh-CN" sz="2400" i="1" dirty="0" err="1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      Equivalence</a:t>
            </a:r>
            <a:r>
              <a:rPr lang="zh-CN" altLang="en-US" sz="2400" dirty="0">
                <a:latin typeface="Times New Roman" panose="02020503050405090304" pitchFamily="18" charset="0"/>
              </a:rPr>
              <a:t>（等价等值式）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</a:t>
            </a:r>
            <a:r>
              <a:rPr lang="en-US" altLang="zh-CN" sz="2400" i="1" dirty="0" err="1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 </a:t>
            </a:r>
            <a:r>
              <a:rPr lang="en-US" altLang="zh-CN" sz="2400" i="1" dirty="0">
                <a:latin typeface="Times New Roman" panose="02020503050405090304" pitchFamily="18" charset="0"/>
              </a:rPr>
              <a:t> </a:t>
            </a:r>
            <a:r>
              <a:rPr lang="en-US" altLang="zh-CN" sz="2400">
                <a:latin typeface="Symbol" panose="05050102010706020507" pitchFamily="18" charset="2"/>
              </a:rPr>
              <a:t>~ 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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dirty="0">
                <a:latin typeface="Symbol" panose="05050102010706020507" pitchFamily="18" charset="2"/>
              </a:rPr>
              <a:t>~ 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       E</a:t>
            </a:r>
            <a:r>
              <a:rPr lang="en-US" altLang="zh-CN" sz="2400" dirty="0">
                <a:latin typeface="Times New Roman" panose="02020503050405090304" pitchFamily="18" charset="0"/>
              </a:rPr>
              <a:t>quivalent negation </a:t>
            </a:r>
            <a:r>
              <a:rPr lang="zh-CN" altLang="en-US" sz="2400" dirty="0">
                <a:latin typeface="Times New Roman" panose="02020503050405090304" pitchFamily="18" charset="0"/>
              </a:rPr>
              <a:t>（等价否定等值式）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</a:rPr>
              <a:t>Ù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Symbol" panose="05050102010706020507" pitchFamily="18" charset="2"/>
              </a:rPr>
              <a:t> ~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~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 i="1" dirty="0">
                <a:latin typeface="Times New Roman" panose="02020503050405090304" pitchFamily="18" charset="0"/>
              </a:rPr>
              <a:t>	         </a:t>
            </a:r>
            <a:r>
              <a:rPr lang="en-US" altLang="zh-CN" sz="2400" dirty="0">
                <a:latin typeface="Times New Roman" panose="02020503050405090304" pitchFamily="18" charset="0"/>
              </a:rPr>
              <a:t>Absurdity</a:t>
            </a:r>
            <a:r>
              <a:rPr lang="zh-CN" altLang="en-US" sz="2400" dirty="0">
                <a:latin typeface="Times New Roman" panose="02020503050405090304" pitchFamily="18" charset="0"/>
              </a:rPr>
              <a:t>（归谬论）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dirty="0">
                <a:latin typeface="Symbol" panose="05050102010706020507" pitchFamily="18" charset="2"/>
              </a:rPr>
              <a:t>~</a:t>
            </a:r>
            <a:r>
              <a:rPr lang="en-US" altLang="zh-CN" sz="2400" i="1" dirty="0">
                <a:latin typeface="Times New Roman" panose="02020503050405090304" pitchFamily="18" charset="0"/>
              </a:rPr>
              <a:t>Q </a:t>
            </a:r>
            <a:r>
              <a:rPr lang="en-US" altLang="zh-CN" sz="180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</a:rPr>
              <a:t> ~</a:t>
            </a: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Times New Roman" panose="02020503050405090304" pitchFamily="18" charset="0"/>
              </a:rPr>
              <a:t>) </a:t>
            </a:r>
            <a:r>
              <a:rPr lang="en-US" altLang="zh-CN" sz="2400" dirty="0">
                <a:latin typeface="Times New Roman" panose="02020503050405090304" pitchFamily="18" charset="0"/>
              </a:rPr>
              <a:t>	</a:t>
            </a:r>
            <a:r>
              <a:rPr lang="en-US" altLang="zh-CN" sz="2400">
                <a:latin typeface="Times New Roman" panose="02020503050405090304" pitchFamily="18" charset="0"/>
              </a:rPr>
              <a:t>         Contrapositive</a:t>
            </a:r>
            <a:r>
              <a:rPr lang="en-US" altLang="zh-CN" sz="2400" dirty="0">
                <a:latin typeface="Times New Roman" panose="02020503050405090304" pitchFamily="18" charset="0"/>
              </a:rPr>
              <a:t>（</a:t>
            </a:r>
            <a:r>
              <a:rPr lang="zh-CN" altLang="en-US" sz="2400" dirty="0">
                <a:latin typeface="Times New Roman" panose="02020503050405090304" pitchFamily="18" charset="0"/>
              </a:rPr>
              <a:t>假言易位）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2400" dirty="0">
                <a:latin typeface="Symbol" panose="05050102010706020507" pitchFamily="18" charset="2"/>
              </a:rPr>
              <a:t>Ù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)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R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</a:t>
            </a:r>
            <a:r>
              <a:rPr lang="en-US" altLang="zh-CN" sz="2400">
                <a:latin typeface="Symbol" panose="05050102010706020507" pitchFamily="18" charset="2"/>
              </a:rPr>
              <a:t> </a:t>
            </a:r>
            <a:r>
              <a:rPr lang="en-US" altLang="zh-CN" sz="2400" i="1">
                <a:latin typeface="Times New Roman" panose="02020503050405090304" pitchFamily="18" charset="0"/>
              </a:rPr>
              <a:t>P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</a:rPr>
              <a:t>Q </a:t>
            </a:r>
            <a:r>
              <a:rPr lang="en-US" altLang="zh-CN" sz="18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)	</a:t>
            </a:r>
            <a:r>
              <a:rPr lang="en-US" altLang="zh-CN" sz="2400">
                <a:latin typeface="Times New Roman" panose="02020503050405090304" pitchFamily="18" charset="0"/>
              </a:rPr>
              <a:t>	Exportation</a:t>
            </a:r>
            <a:r>
              <a:rPr lang="zh-CN" altLang="en-US" sz="2400" dirty="0">
                <a:latin typeface="Times New Roman" panose="02020503050405090304" pitchFamily="18" charset="0"/>
              </a:rPr>
              <a:t>（输出律）</a:t>
            </a:r>
            <a:endParaRPr lang="zh-CN" altLang="en-US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…..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4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895985" y="43815"/>
            <a:ext cx="8047990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sz="4000" dirty="0"/>
              <a:t>More Logical Equivalences</a:t>
            </a:r>
            <a:endParaRPr lang="en-US" altLang="zh-CN" sz="4000" dirty="0"/>
          </a:p>
        </p:txBody>
      </p:sp>
      <p:pic>
        <p:nvPicPr>
          <p:cNvPr id="15362" name="Content Placeholder 3" descr="table17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7405" y="1412875"/>
            <a:ext cx="4203065" cy="4483735"/>
          </a:xfrm>
        </p:spPr>
      </p:pic>
      <p:pic>
        <p:nvPicPr>
          <p:cNvPr id="15363" name="Picture 4" descr="table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330" y="2382520"/>
            <a:ext cx="3576955" cy="30276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1151255" y="43815"/>
            <a:ext cx="8014335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Predicate Logic Summary</a:t>
            </a:r>
            <a:endParaRPr lang="en-US" altLang="zh-CN" dirty="0"/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>
                <a:latin typeface="Times New Roman" panose="02020503050405090304" pitchFamily="18" charset="0"/>
              </a:rPr>
              <a:t>Predicate Logic (First-Order Logic (FOL), Predicate Calculus)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</a:rPr>
              <a:t>The Language of Quantifiers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</a:rPr>
              <a:t>Logical Equivalences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</a:rPr>
              <a:t>Nested Quantifiers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</a:rPr>
              <a:t>Translation from Predicate Logic to English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/>
            <a:r>
              <a:rPr lang="en-US" altLang="zh-CN" dirty="0">
                <a:latin typeface="Times New Roman" panose="02020503050405090304" pitchFamily="18" charset="0"/>
              </a:rPr>
              <a:t>Translation from English to Predicate Logic</a:t>
            </a:r>
            <a:endParaRPr lang="en-US" altLang="zh-CN" dirty="0">
              <a:latin typeface="Times New Roman" panose="02020503050405090304" pitchFamily="18" charset="0"/>
            </a:endParaRPr>
          </a:p>
          <a:p>
            <a:endParaRPr lang="en-US" altLang="zh-CN" dirty="0"/>
          </a:p>
          <a:p>
            <a:pPr lvl="1">
              <a:buNone/>
            </a:pP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904240" y="43815"/>
            <a:ext cx="8211820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sz="3600" dirty="0"/>
              <a:t>Predicates and Quantifiers(1.4)</a:t>
            </a:r>
            <a:endParaRPr lang="en-US" altLang="zh-C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Predicates 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Variables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Quantifiers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Universal Quantifier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Existential Quantifier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Negating Quantifiers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De Morgan’s Laws for Quantifiers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Translating English to Logic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Logic Programming (</a:t>
            </a:r>
            <a:r>
              <a:rPr kumimoji="1" lang="en-US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optional</a:t>
            </a: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)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830580" y="43815"/>
            <a:ext cx="8306435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sz="3200" dirty="0"/>
              <a:t>Nested Quantifiers Summary(1.5)</a:t>
            </a:r>
            <a:endParaRPr lang="en-US" altLang="zh-C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Nested Quantifiers 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Order of Quantifiers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Translating from Nested Quantifiers into English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Translating Mathematical Statements into Statements involving Nested Quantifiers.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Translated English Sentences into Logical Expressions.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Negating Nested Quantifiers.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None/>
            </a:pPr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None/>
            </a:pPr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None/>
            </a:pP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等值式</a:t>
            </a:r>
            <a:endParaRPr lang="zh-CN" altLang="en-US" dirty="0"/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~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(x)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x~A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 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~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(x)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x~A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endParaRPr lang="zh-CN" altLang="en-US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x(A(x)</a:t>
            </a:r>
            <a:r>
              <a:rPr lang="zh-CN" altLang="en-US" sz="2400" dirty="0">
                <a:solidFill>
                  <a:schemeClr val="tx2"/>
                </a:solidFill>
              </a:rPr>
              <a:t>∨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B)  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r>
              <a:rPr lang="zh-CN" altLang="en-US" sz="2400" dirty="0">
                <a:solidFill>
                  <a:schemeClr val="tx2"/>
                </a:solidFill>
              </a:rPr>
              <a:t>∨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x(A(x)</a:t>
            </a:r>
            <a:r>
              <a:rPr lang="zh-CN" altLang="en-US" sz="2400" dirty="0">
                <a:solidFill>
                  <a:schemeClr val="tx2"/>
                </a:solidFill>
              </a:rPr>
              <a:t>∧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B)  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r>
              <a:rPr lang="zh-CN" altLang="en-US" sz="2400" dirty="0">
                <a:solidFill>
                  <a:schemeClr val="tx2"/>
                </a:solidFill>
              </a:rPr>
              <a:t>∧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x(A(x)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B)  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x(B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A(x))  B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x(A(x)</a:t>
            </a:r>
            <a:r>
              <a:rPr lang="zh-CN" altLang="en-US" sz="2400" dirty="0">
                <a:solidFill>
                  <a:schemeClr val="tx2"/>
                </a:solidFill>
              </a:rPr>
              <a:t>∨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B)  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r>
              <a:rPr lang="zh-CN" altLang="en-US" sz="2400" dirty="0">
                <a:solidFill>
                  <a:schemeClr val="tx2"/>
                </a:solidFill>
              </a:rPr>
              <a:t>∨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x(A(x)</a:t>
            </a:r>
            <a:r>
              <a:rPr lang="zh-CN" altLang="en-US" sz="2400" dirty="0">
                <a:solidFill>
                  <a:schemeClr val="tx2"/>
                </a:solidFill>
              </a:rPr>
              <a:t>∧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B)  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r>
              <a:rPr lang="zh-CN" altLang="en-US" sz="2400" dirty="0">
                <a:solidFill>
                  <a:schemeClr val="tx2"/>
                </a:solidFill>
              </a:rPr>
              <a:t>∧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x(A(x)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B)  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B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x(B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A(x))  B</a:t>
            </a:r>
            <a:r>
              <a:rPr lang="zh-CN" altLang="en-US" sz="2400" dirty="0">
                <a:solidFill>
                  <a:schemeClr val="tx2"/>
                </a:solidFill>
              </a:rPr>
              <a:t>→</a:t>
            </a:r>
            <a:r>
              <a:rPr lang="zh-CN" altLang="en-US" sz="2400" dirty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400" dirty="0" err="1">
                <a:solidFill>
                  <a:schemeClr val="tx2"/>
                </a:solidFill>
                <a:sym typeface="Symbol" panose="05050102010706020507" pitchFamily="18" charset="2"/>
              </a:rPr>
              <a:t>xA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(x)</a:t>
            </a:r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/>
            <a:endParaRPr lang="en-US" altLang="zh-CN" sz="2400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815340" y="43815"/>
            <a:ext cx="8329295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sz="3600" dirty="0"/>
              <a:t>Rules of Inference Summary(1.6)</a:t>
            </a:r>
            <a:endParaRPr lang="en-US" altLang="zh-CN" sz="3600" dirty="0"/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Valid Arguments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Inference Rules for Propositional Logic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Using Rules of Inference to Build Arguments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Rules of Inference for Quantified Statements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Building Arguments for Quantified Statements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>
              <a:lnSpc>
                <a:spcPct val="90000"/>
              </a:lnSpc>
            </a:pPr>
            <a:endParaRPr lang="en-US" altLang="zh-CN" dirty="0"/>
          </a:p>
          <a:p>
            <a:pPr lvl="1">
              <a:lnSpc>
                <a:spcPct val="90000"/>
              </a:lnSpc>
              <a:buNone/>
            </a:pP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常见推理定律</a:t>
            </a:r>
            <a:endParaRPr lang="zh-CN" altLang="en-US" dirty="0"/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179705" y="1484630"/>
            <a:ext cx="9134475" cy="45259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dirty="0"/>
              <a:t>附加律 </a:t>
            </a:r>
            <a:r>
              <a:rPr lang="en-US" altLang="zh-CN" sz="2400" dirty="0">
                <a:latin typeface="Times New Roman" panose="02020503050405090304" pitchFamily="18" charset="0"/>
              </a:rPr>
              <a:t>Addition </a:t>
            </a:r>
            <a:r>
              <a:rPr lang="zh-CN" altLang="en-US" sz="2400" dirty="0"/>
              <a:t>		         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(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∨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/>
              <a:t>化简律 </a:t>
            </a:r>
            <a:r>
              <a:rPr lang="en-US" altLang="zh-CN" sz="2400" dirty="0">
                <a:latin typeface="Times New Roman" panose="02020503050405090304" pitchFamily="18" charset="0"/>
              </a:rPr>
              <a:t>Simplification </a:t>
            </a:r>
            <a:r>
              <a:rPr lang="zh-CN" altLang="en-US" sz="2400" dirty="0"/>
              <a:t>		</a:t>
            </a:r>
            <a:r>
              <a:rPr lang="en-US" altLang="zh-CN" sz="2400" dirty="0">
                <a:sym typeface="Wingdings" panose="05000000000000000000" pitchFamily="2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∧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endParaRPr lang="en-US" altLang="zh-CN" sz="2400" i="1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>
                <a:solidFill>
                  <a:schemeClr val="hlink"/>
                </a:solidFill>
              </a:rPr>
              <a:t>假言推理 </a:t>
            </a:r>
            <a:r>
              <a:rPr lang="en-US" altLang="zh-CN" sz="2400" i="1" dirty="0">
                <a:latin typeface="Times New Roman" panose="02020503050405090304" pitchFamily="18" charset="0"/>
              </a:rPr>
              <a:t>modus ponens </a:t>
            </a:r>
            <a:r>
              <a:rPr lang="zh-CN" altLang="en-US" sz="2400" dirty="0"/>
              <a:t>		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B 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i="1" dirty="0">
                <a:sym typeface="Symbol" panose="05050102010706020507" pitchFamily="18" charset="2"/>
              </a:rPr>
              <a:t>B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/>
              <a:t>拒取式	</a:t>
            </a:r>
            <a:r>
              <a:rPr lang="en-US" altLang="zh-CN" sz="2400" i="1" dirty="0">
                <a:latin typeface="Times New Roman" panose="02020503050405090304" pitchFamily="18" charset="0"/>
              </a:rPr>
              <a:t> Modus Tollens </a:t>
            </a:r>
            <a:r>
              <a:rPr lang="zh-CN" altLang="en-US" sz="2400" dirty="0"/>
              <a:t>	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B 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∧¬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dirty="0"/>
              <a:t>¬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析取三段论</a:t>
            </a:r>
            <a:r>
              <a:rPr lang="en-US" altLang="zh-CN" sz="2400" dirty="0">
                <a:latin typeface="Times New Roman" panose="02020503050405090304" pitchFamily="18" charset="0"/>
              </a:rPr>
              <a:t>Disjunctive syllogism 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∨</a:t>
            </a:r>
            <a:r>
              <a:rPr lang="en-US" altLang="zh-CN" sz="2400" i="1" dirty="0">
                <a:sym typeface="Wingdings" panose="05000000000000000000" pitchFamily="2" charset="2"/>
              </a:rPr>
              <a:t>B 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∧¬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endParaRPr lang="en-US" altLang="zh-CN" sz="2400" dirty="0"/>
          </a:p>
          <a:p>
            <a:pPr eaLnBrk="1" hangingPunct="1"/>
            <a:r>
              <a:rPr lang="zh-CN" altLang="en-US" sz="2400" dirty="0">
                <a:solidFill>
                  <a:schemeClr val="hlink"/>
                </a:solidFill>
              </a:rPr>
              <a:t>假言三段论 </a:t>
            </a:r>
            <a:r>
              <a:rPr lang="en-US" altLang="zh-CN" sz="2400" dirty="0">
                <a:latin typeface="Times New Roman" panose="02020503050405090304" pitchFamily="18" charset="0"/>
              </a:rPr>
              <a:t>Hypothetical syllogism 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C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(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C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/>
              <a:t>等价三段论 </a:t>
            </a:r>
            <a:r>
              <a:rPr lang="en-US" altLang="zh-CN" sz="2400" dirty="0" err="1">
                <a:latin typeface="Times New Roman" panose="02020503050405090304" pitchFamily="18" charset="0"/>
              </a:rPr>
              <a:t>Equivlence</a:t>
            </a:r>
            <a:r>
              <a:rPr lang="en-US" altLang="zh-CN" sz="2400" dirty="0">
                <a:latin typeface="Times New Roman" panose="02020503050405090304" pitchFamily="18" charset="0"/>
              </a:rPr>
              <a:t> syllogism </a:t>
            </a:r>
            <a:r>
              <a:rPr lang="zh-CN" altLang="en-US" sz="2400" dirty="0"/>
              <a:t>  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↔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/>
              <a:t>↔</a:t>
            </a:r>
            <a:r>
              <a:rPr lang="en-US" altLang="zh-CN" sz="2400" i="1" dirty="0">
                <a:sym typeface="Wingdings" panose="05000000000000000000" pitchFamily="2" charset="2"/>
              </a:rPr>
              <a:t>C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(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↔</a:t>
            </a:r>
            <a:r>
              <a:rPr lang="en-US" altLang="zh-CN" sz="2400" i="1" dirty="0">
                <a:sym typeface="Wingdings" panose="05000000000000000000" pitchFamily="2" charset="2"/>
              </a:rPr>
              <a:t>C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构造性两难 </a:t>
            </a:r>
            <a:r>
              <a:rPr lang="en-US" altLang="zh-CN" sz="2400" dirty="0">
                <a:latin typeface="Times New Roman" panose="02020503050405090304" pitchFamily="18" charset="0"/>
              </a:rPr>
              <a:t>Constructive dilemma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C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D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∨</a:t>
            </a:r>
            <a:r>
              <a:rPr lang="en-US" altLang="zh-CN" sz="2400" i="1" dirty="0">
                <a:sym typeface="Wingdings" panose="05000000000000000000" pitchFamily="2" charset="2"/>
              </a:rPr>
              <a:t>C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(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/>
              <a:t>∨</a:t>
            </a:r>
            <a:r>
              <a:rPr lang="en-US" altLang="zh-CN" sz="2400" i="1" dirty="0">
                <a:sym typeface="Wingdings" panose="05000000000000000000" pitchFamily="2" charset="2"/>
              </a:rPr>
              <a:t>D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/>
              <a:t>构造性两难</a:t>
            </a:r>
            <a:r>
              <a:rPr lang="en-US" altLang="zh-CN" sz="2400" dirty="0"/>
              <a:t>(</a:t>
            </a:r>
            <a:r>
              <a:rPr lang="zh-CN" altLang="en-US" sz="2400" dirty="0"/>
              <a:t>特殊形式</a:t>
            </a:r>
            <a:r>
              <a:rPr lang="en-US" altLang="zh-CN" sz="2400" dirty="0"/>
              <a:t>)	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¬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→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/>
              <a:t>∧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/>
              <a:t>∨¬</a:t>
            </a:r>
            <a:r>
              <a:rPr lang="en-US" altLang="zh-CN" sz="2400" i="1" dirty="0">
                <a:sym typeface="Wingdings" panose="05000000000000000000" pitchFamily="2" charset="2"/>
              </a:rPr>
              <a:t>A</a:t>
            </a:r>
            <a:r>
              <a:rPr lang="en-US" altLang="zh-CN" sz="2400" dirty="0">
                <a:sym typeface="Wingdings" panose="05000000000000000000" pitchFamily="2" charset="2"/>
              </a:rPr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</a:t>
            </a:r>
            <a:r>
              <a:rPr lang="en-US" altLang="zh-CN" sz="2400" i="1" dirty="0">
                <a:sym typeface="Wingdings" panose="05000000000000000000" pitchFamily="2" charset="2"/>
              </a:rPr>
              <a:t>B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/>
              <a:t>破坏性两难  </a:t>
            </a:r>
            <a:r>
              <a:rPr lang="en-US" altLang="zh-CN" sz="2000" dirty="0">
                <a:latin typeface="Times New Roman" panose="02020503050405090304" pitchFamily="18" charset="0"/>
              </a:rPr>
              <a:t>Destructive dilemma   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Wingdings" panose="05000000000000000000" pitchFamily="2" charset="2"/>
              </a:rPr>
              <a:t>A</a:t>
            </a:r>
            <a:r>
              <a:rPr lang="en-US" altLang="zh-CN" sz="2000" dirty="0"/>
              <a:t>→</a:t>
            </a:r>
            <a:r>
              <a:rPr lang="en-US" altLang="zh-CN" sz="2000" i="1" dirty="0">
                <a:sym typeface="Wingdings" panose="05000000000000000000" pitchFamily="2" charset="2"/>
              </a:rPr>
              <a:t>B</a:t>
            </a:r>
            <a:r>
              <a:rPr lang="en-US" altLang="zh-CN" sz="2000" dirty="0">
                <a:sym typeface="Wingdings" panose="05000000000000000000" pitchFamily="2" charset="2"/>
              </a:rPr>
              <a:t>)</a:t>
            </a:r>
            <a:r>
              <a:rPr lang="en-US" altLang="zh-CN" sz="2000" dirty="0"/>
              <a:t>∧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Wingdings" panose="05000000000000000000" pitchFamily="2" charset="2"/>
              </a:rPr>
              <a:t>C</a:t>
            </a:r>
            <a:r>
              <a:rPr lang="en-US" altLang="zh-CN" sz="2000" dirty="0"/>
              <a:t>→</a:t>
            </a:r>
            <a:r>
              <a:rPr lang="en-US" altLang="zh-CN" sz="2000" i="1" dirty="0">
                <a:sym typeface="Wingdings" panose="05000000000000000000" pitchFamily="2" charset="2"/>
              </a:rPr>
              <a:t>D</a:t>
            </a:r>
            <a:r>
              <a:rPr lang="en-US" altLang="zh-CN" sz="2000" dirty="0">
                <a:sym typeface="Wingdings" panose="05000000000000000000" pitchFamily="2" charset="2"/>
              </a:rPr>
              <a:t>)</a:t>
            </a:r>
            <a:r>
              <a:rPr lang="en-US" altLang="zh-CN" sz="2000" dirty="0"/>
              <a:t>∧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/>
              <a:t>¬</a:t>
            </a:r>
            <a:r>
              <a:rPr lang="en-US" altLang="zh-CN" sz="2000" i="1" dirty="0">
                <a:sym typeface="Wingdings" panose="05000000000000000000" pitchFamily="2" charset="2"/>
              </a:rPr>
              <a:t>B</a:t>
            </a:r>
            <a:r>
              <a:rPr lang="en-US" altLang="zh-CN" sz="2000" dirty="0"/>
              <a:t>∨¬</a:t>
            </a:r>
            <a:r>
              <a:rPr lang="en-US" altLang="zh-CN" sz="2000" i="1" dirty="0">
                <a:sym typeface="Wingdings" panose="05000000000000000000" pitchFamily="2" charset="2"/>
              </a:rPr>
              <a:t>D</a:t>
            </a:r>
            <a:r>
              <a:rPr lang="en-US" altLang="zh-CN" sz="2000" dirty="0">
                <a:sym typeface="Wingdings" panose="05000000000000000000" pitchFamily="2" charset="2"/>
              </a:rPr>
              <a:t>)</a:t>
            </a:r>
            <a:r>
              <a:rPr lang="en-US" altLang="zh-CN" sz="2000" dirty="0">
                <a:sym typeface="Symbol" panose="05050102010706020507" pitchFamily="18" charset="2"/>
              </a:rPr>
              <a:t>(</a:t>
            </a:r>
            <a:r>
              <a:rPr lang="en-US" altLang="zh-CN" sz="2000" dirty="0"/>
              <a:t>¬</a:t>
            </a:r>
            <a:r>
              <a:rPr lang="en-US" altLang="zh-CN" sz="2000" i="1" dirty="0">
                <a:sym typeface="Wingdings" panose="05000000000000000000" pitchFamily="2" charset="2"/>
              </a:rPr>
              <a:t>A</a:t>
            </a:r>
            <a:r>
              <a:rPr lang="en-US" altLang="zh-CN" sz="2000" dirty="0"/>
              <a:t>∨¬</a:t>
            </a:r>
            <a:r>
              <a:rPr lang="en-US" altLang="zh-CN" sz="2000" i="1" dirty="0">
                <a:sym typeface="Wingdings" panose="05000000000000000000" pitchFamily="2" charset="2"/>
              </a:rPr>
              <a:t>C</a:t>
            </a:r>
            <a:r>
              <a:rPr lang="en-US" altLang="zh-CN" sz="2000" dirty="0">
                <a:sym typeface="Wingdings" panose="05000000000000000000" pitchFamily="2" charset="2"/>
              </a:rPr>
              <a:t>)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/>
              <a:t>推理规则</a:t>
            </a:r>
            <a:endParaRPr lang="zh-CN" altLang="en-US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323533" y="1628458"/>
            <a:ext cx="8847137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前提引入规则：在证明的任何步骤上都可以引入前提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结论引入规则：在证明的任何步骤上所得到的结论都可以做为后继证明的前提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置换规则：在证明的任何步骤上，命题公式中的子公式都可以用与之等值的公式置换，得到公式序列中又一个公式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分离规则</a:t>
            </a:r>
            <a:r>
              <a:rPr lang="en-US" altLang="zh-CN" sz="2800" dirty="0"/>
              <a:t>(</a:t>
            </a:r>
            <a:r>
              <a:rPr lang="zh-CN" altLang="en-US" sz="2800" dirty="0"/>
              <a:t>假言推理</a:t>
            </a:r>
            <a:r>
              <a:rPr lang="en-US" altLang="zh-CN" sz="2800" dirty="0"/>
              <a:t>)  </a:t>
            </a:r>
            <a:r>
              <a:rPr lang="zh-CN" altLang="en-US" sz="2800" dirty="0"/>
              <a:t>已知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dirty="0"/>
              <a:t>→</a:t>
            </a:r>
            <a:r>
              <a:rPr lang="en-US" altLang="zh-CN" sz="2800" dirty="0">
                <a:sym typeface="Wingdings" panose="05000000000000000000" pitchFamily="2" charset="2"/>
              </a:rPr>
              <a:t>B )</a:t>
            </a:r>
            <a:r>
              <a:rPr lang="zh-CN" altLang="en-US" sz="2800" dirty="0"/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，则有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zh-CN" altLang="en-US" sz="2800" dirty="0">
              <a:sym typeface="Wingdings" panose="05000000000000000000" pitchFamily="2" charset="2"/>
            </a:endParaRPr>
          </a:p>
          <a:p>
            <a:pPr eaLnBrk="1" hangingPunct="1"/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>
                <a:sym typeface="Wingdings" panose="05000000000000000000" pitchFamily="2" charset="2"/>
              </a:rPr>
              <a:t>推理规则</a:t>
            </a:r>
            <a:endParaRPr lang="zh-CN" altLang="en-US" sz="3600">
              <a:sym typeface="Wingdings" panose="05000000000000000000" pitchFamily="2" charset="2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600" dirty="0">
                <a:sym typeface="Wingdings" panose="05000000000000000000" pitchFamily="2" charset="2"/>
              </a:rPr>
              <a:t>附加前提推理规则</a:t>
            </a:r>
            <a:r>
              <a:rPr lang="en-US" altLang="zh-CN" sz="3600" dirty="0">
                <a:sym typeface="Wingdings" panose="05000000000000000000" pitchFamily="2" charset="2"/>
              </a:rPr>
              <a:t>(</a:t>
            </a:r>
            <a:r>
              <a:rPr lang="zh-CN" altLang="en-US" sz="3600" dirty="0">
                <a:sym typeface="Wingdings" panose="05000000000000000000" pitchFamily="2" charset="2"/>
              </a:rPr>
              <a:t>简称</a:t>
            </a:r>
            <a:r>
              <a:rPr lang="en-US" altLang="zh-CN" sz="3600" dirty="0">
                <a:sym typeface="Wingdings" panose="05000000000000000000" pitchFamily="2" charset="2"/>
              </a:rPr>
              <a:t>CP</a:t>
            </a:r>
            <a:r>
              <a:rPr lang="zh-CN" altLang="en-US" sz="3600" dirty="0">
                <a:sym typeface="Wingdings" panose="05000000000000000000" pitchFamily="2" charset="2"/>
              </a:rPr>
              <a:t>规则</a:t>
            </a:r>
            <a:r>
              <a:rPr lang="en-US" altLang="zh-CN" sz="3600" dirty="0">
                <a:sym typeface="Wingdings" panose="05000000000000000000" pitchFamily="2" charset="2"/>
              </a:rPr>
              <a:t>) </a:t>
            </a:r>
            <a:endParaRPr lang="en-US" altLang="zh-CN" sz="3600" dirty="0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dirty="0">
                <a:sym typeface="Wingdings" panose="05000000000000000000" pitchFamily="2" charset="2"/>
              </a:rPr>
              <a:t>如果 </a:t>
            </a:r>
            <a:r>
              <a:rPr lang="zh-CN" altLang="en-US" dirty="0">
                <a:sym typeface="Symbol" panose="05050102010706020507" pitchFamily="18" charset="2"/>
              </a:rPr>
              <a:t></a:t>
            </a:r>
            <a:r>
              <a:rPr lang="zh-CN" altLang="en-US" sz="4000" dirty="0">
                <a:sym typeface="Symbol" panose="05050102010706020507" pitchFamily="18" charset="2"/>
              </a:rPr>
              <a:t> ，</a:t>
            </a:r>
            <a:r>
              <a:rPr lang="en-US" altLang="zh-CN" dirty="0">
                <a:sym typeface="Symbol" panose="05050102010706020507" pitchFamily="18" charset="2"/>
              </a:rPr>
              <a:t>A B</a:t>
            </a:r>
            <a:r>
              <a:rPr lang="zh-CN" altLang="en-US" dirty="0">
                <a:sym typeface="Symbol" panose="05050102010706020507" pitchFamily="18" charset="2"/>
              </a:rPr>
              <a:t>，则  </a:t>
            </a:r>
            <a:r>
              <a:rPr lang="en-US" altLang="zh-CN" dirty="0">
                <a:sym typeface="Symbol" panose="05050102010706020507" pitchFamily="18" charset="2"/>
              </a:rPr>
              <a:t>A </a:t>
            </a:r>
            <a:r>
              <a:rPr lang="en-US" altLang="zh-CN" dirty="0"/>
              <a:t>→ </a:t>
            </a:r>
            <a:r>
              <a:rPr lang="en-US" altLang="zh-CN" dirty="0">
                <a:sym typeface="Symbol" panose="05050102010706020507" pitchFamily="18" charset="2"/>
              </a:rPr>
              <a:t>B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3600" dirty="0">
                <a:sym typeface="Symbol" panose="05050102010706020507" pitchFamily="18" charset="2"/>
              </a:rPr>
              <a:t>反证推理规则</a:t>
            </a:r>
            <a:r>
              <a:rPr lang="zh-CN" altLang="en-US" dirty="0">
                <a:sym typeface="Symbol" panose="05050102010706020507" pitchFamily="18" charset="2"/>
              </a:rPr>
              <a:t>         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如果 </a:t>
            </a:r>
            <a:r>
              <a:rPr lang="zh-CN" altLang="en-US" dirty="0">
                <a:sym typeface="Symbol" panose="05050102010706020507" pitchFamily="18" charset="2"/>
              </a:rPr>
              <a:t></a:t>
            </a:r>
            <a:r>
              <a:rPr lang="zh-CN" altLang="en-US" sz="4000" dirty="0">
                <a:sym typeface="Symbol" panose="05050102010706020507" pitchFamily="18" charset="2"/>
              </a:rPr>
              <a:t> ， </a:t>
            </a:r>
            <a:r>
              <a:rPr lang="en-US" altLang="zh-CN" dirty="0"/>
              <a:t>¬</a:t>
            </a:r>
            <a:r>
              <a:rPr lang="en-US" altLang="zh-CN" sz="4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A F</a:t>
            </a:r>
            <a:r>
              <a:rPr lang="zh-CN" altLang="en-US" dirty="0">
                <a:sym typeface="Symbol" panose="05050102010706020507" pitchFamily="18" charset="2"/>
              </a:rPr>
              <a:t>，则  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719455" y="1340485"/>
            <a:ext cx="828294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等值式（</a:t>
            </a:r>
            <a:r>
              <a:rPr lang="en-US" altLang="zh-CN" dirty="0"/>
              <a:t>16</a:t>
            </a:r>
            <a:r>
              <a:rPr lang="zh-CN" altLang="en-US" dirty="0"/>
              <a:t>组、</a:t>
            </a:r>
            <a:r>
              <a:rPr lang="en-US" altLang="zh-CN" dirty="0"/>
              <a:t>24</a:t>
            </a:r>
            <a:r>
              <a:rPr lang="zh-CN" altLang="en-US" dirty="0"/>
              <a:t>条）</a:t>
            </a:r>
            <a:endParaRPr lang="zh-CN" altLang="en-US" dirty="0"/>
          </a:p>
          <a:p>
            <a:pPr lvl="1" eaLnBrk="1" hangingPunct="1"/>
            <a:r>
              <a:rPr lang="zh-CN" altLang="en-US" sz="2400" dirty="0"/>
              <a:t>幂等律、交换律、结合律、分配律、吸收律；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双重否定律、</a:t>
            </a:r>
            <a:r>
              <a:rPr lang="zh-CN" altLang="en-US" sz="2400" dirty="0">
                <a:sym typeface="Wingdings" panose="05000000000000000000" pitchFamily="2" charset="2"/>
              </a:rPr>
              <a:t>德●摩根</a:t>
            </a:r>
            <a:r>
              <a:rPr lang="zh-CN" altLang="en-US" sz="2400" dirty="0"/>
              <a:t>律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  <a:endParaRPr lang="zh-CN" altLang="en-US" sz="2400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零</a:t>
            </a:r>
            <a:r>
              <a:rPr lang="zh-CN" altLang="en-US" sz="2400" dirty="0"/>
              <a:t>律</a:t>
            </a:r>
            <a:r>
              <a:rPr lang="zh-CN" altLang="en-US" sz="2400" dirty="0">
                <a:sym typeface="Wingdings" panose="05000000000000000000" pitchFamily="2" charset="2"/>
              </a:rPr>
              <a:t>、同一</a:t>
            </a:r>
            <a:r>
              <a:rPr lang="zh-CN" altLang="en-US" sz="2400" dirty="0"/>
              <a:t>律</a:t>
            </a:r>
            <a:r>
              <a:rPr lang="zh-CN" altLang="en-US" sz="2400" dirty="0">
                <a:sym typeface="Wingdings" panose="05000000000000000000" pitchFamily="2" charset="2"/>
              </a:rPr>
              <a:t>、排中</a:t>
            </a:r>
            <a:r>
              <a:rPr lang="zh-CN" altLang="en-US" sz="2400" dirty="0"/>
              <a:t>律</a:t>
            </a:r>
            <a:r>
              <a:rPr lang="zh-CN" altLang="en-US" sz="2400" dirty="0">
                <a:sym typeface="Wingdings" panose="05000000000000000000" pitchFamily="2" charset="2"/>
              </a:rPr>
              <a:t>、矛盾</a:t>
            </a:r>
            <a:r>
              <a:rPr lang="zh-CN" altLang="en-US" sz="2400" dirty="0"/>
              <a:t>律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  <a:endParaRPr lang="zh-CN" altLang="en-US" sz="2400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/>
              <a:t>蕴涵等值式、等价等值式、假言易位、等价否定等值式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归谬论</a:t>
            </a:r>
            <a:endParaRPr lang="zh-CN" altLang="en-US" sz="2400" dirty="0"/>
          </a:p>
          <a:p>
            <a:pPr eaLnBrk="1" hangingPunct="1"/>
            <a:r>
              <a:rPr lang="zh-CN" altLang="en-US" dirty="0"/>
              <a:t>推理定律（</a:t>
            </a:r>
            <a:r>
              <a:rPr lang="en-US" altLang="zh-CN" dirty="0"/>
              <a:t>9</a:t>
            </a:r>
            <a:r>
              <a:rPr lang="zh-CN" altLang="en-US" dirty="0"/>
              <a:t>条）</a:t>
            </a:r>
            <a:endParaRPr lang="zh-CN" altLang="en-US" dirty="0"/>
          </a:p>
          <a:p>
            <a:pPr lvl="1" eaLnBrk="1" hangingPunct="1"/>
            <a:r>
              <a:rPr lang="zh-CN" altLang="en-US" sz="2400" dirty="0"/>
              <a:t>附加、化简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假言推理、拒取式、析取三段论、假言三段论、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等价三段论、构造性两难（特殊形式）、破坏性两难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>
                <a:sym typeface="Symbol" panose="05050102010706020507" pitchFamily="18" charset="2"/>
              </a:rPr>
              <a:t>证明</a:t>
            </a:r>
            <a:endParaRPr lang="zh-CN" altLang="en-US" sz="4000">
              <a:sym typeface="Symbol" panose="05050102010706020507" pitchFamily="18" charset="2"/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827088" y="1371283"/>
            <a:ext cx="8270875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所谓证明，就是一些公式的序列，其中每一个公式或是已知的前提，或是由前面的公式运用推理规则得出的公式，最后一个公式是结论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前提：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MT Extra" panose="05050102010205020202" pitchFamily="18" charset="2"/>
              </a:rPr>
              <a:t>…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k</a:t>
            </a:r>
            <a:endParaRPr lang="en-US" altLang="zh-CN" sz="28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结论：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endParaRPr lang="en-US" altLang="zh-CN" sz="2800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证明：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    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1          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前提引入</a:t>
            </a:r>
            <a:endParaRPr lang="zh-CN" altLang="en-US" sz="2800" baseline="-250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              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    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2       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××××(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推理规则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CN" sz="2800" baseline="-250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  A</a:t>
            </a:r>
            <a:r>
              <a:rPr lang="en-US" altLang="zh-CN" sz="2800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3       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××××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  <a:sym typeface="MT Extra" panose="05050102010205020202" pitchFamily="18" charset="2"/>
              </a:rPr>
              <a:t>                </a:t>
            </a:r>
            <a:endParaRPr lang="en-US" altLang="zh-CN" sz="2800" i="1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(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       A</a:t>
            </a:r>
            <a:r>
              <a:rPr lang="en-US" altLang="zh-CN" sz="2800" i="1" baseline="-250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k         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××××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1162368" y="116523"/>
            <a:ext cx="7793037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sz="4000" dirty="0"/>
              <a:t>Introduction to Proofs Summary(1.7)</a:t>
            </a:r>
            <a:endParaRPr lang="en-US" altLang="zh-C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412558"/>
            <a:ext cx="8631238" cy="4114800"/>
          </a:xfrm>
        </p:spPr>
        <p:txBody>
          <a:bodyPr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Mathematical Proofs</a:t>
            </a:r>
            <a:endParaRPr kumimoji="1" lang="en-US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Forms of Theorems</a:t>
            </a:r>
            <a:endParaRPr kumimoji="1" lang="en-US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Direct Proofs</a:t>
            </a:r>
            <a:r>
              <a:rPr kumimoji="1" lang="en-US" altLang="zh-CN" b="0" i="0" u="none" strike="noStrike" kern="0" cap="none" spc="0" normalizeH="0" baseline="0" noProof="1" dirty="0">
                <a:solidFill>
                  <a:srgbClr val="0066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</a:t>
            </a:r>
            <a:r>
              <a:rPr kumimoji="1" lang="en-US" altLang="zh-CN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Assume </a:t>
            </a:r>
            <a:r>
              <a:rPr kumimoji="1" lang="en-US" altLang="zh-CN" b="0" i="1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</a:t>
            </a:r>
            <a:r>
              <a:rPr kumimoji="1" lang="en-US" altLang="zh-CN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is true, and prove </a:t>
            </a:r>
            <a:r>
              <a:rPr kumimoji="1" lang="en-US" altLang="zh-CN" b="0" i="1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q</a:t>
            </a:r>
            <a:endParaRPr kumimoji="1" lang="en-US" b="0" i="0" u="none" strike="noStrike" kern="0" cap="none" spc="0" normalizeH="0" baseline="0" noProof="1" dirty="0">
              <a:solidFill>
                <a:srgbClr val="FF0000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Indirect Proofs</a:t>
            </a:r>
            <a:endParaRPr kumimoji="1" lang="en-US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Proof of the Contrapositive 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Assume 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q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, and prove 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0066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kumimoji="1" lang="en-US" altLang="zh-CN" sz="2800" b="0" i="0" u="none" strike="noStrike" kern="0" cap="none" spc="0" normalizeH="0" baseline="0" noProof="1" dirty="0">
              <a:solidFill>
                <a:srgbClr val="006600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  <a:sym typeface="Symbol" panose="05050102010706020507" pitchFamily="18" charset="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Proof by Contradiction</a:t>
            </a:r>
            <a:endParaRPr kumimoji="1" lang="en-US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assumes Q is false</a:t>
            </a:r>
            <a:r>
              <a:rPr kumimoji="1" lang="zh-CN" altLang="en-US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，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derives a contradiction, usually of the form P 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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 which establishes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Q 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0.</a:t>
            </a:r>
            <a:endParaRPr kumimoji="1" lang="en-US" sz="3200" b="0" i="0" u="none" strike="noStrike" kern="0" cap="none" spc="0" normalizeH="0" baseline="0" noProof="1" dirty="0">
              <a:solidFill>
                <a:srgbClr val="FF0000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kumimoji="1" lang="en-US" sz="24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sz="24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Proof Methods and Strategy Summary(1.8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333" y="1196975"/>
            <a:ext cx="8332788" cy="4114800"/>
          </a:xfrm>
        </p:spPr>
        <p:txBody>
          <a:bodyPr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Proof by Cases 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Show 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Times New Roman" panose="02020503050405090304" pitchFamily="18" charset="0"/>
                <a:sym typeface="Symbol" panose="05050102010706020507" pitchFamily="18" charset="2"/>
              </a:rPr>
              <a:t>↔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  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), and (</a:t>
            </a:r>
            <a:r>
              <a:rPr kumimoji="1" lang="en-US" altLang="zh-CN" sz="2800" b="0" i="1" u="none" strike="noStrike" kern="0" cap="none" spc="0" normalizeH="0" baseline="0" noProof="1" dirty="0" err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800" b="0" i="0" u="none" strike="noStrike" kern="0" cap="none" spc="0" normalizeH="0" baseline="0" noProof="1" dirty="0" err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="0" i="1" u="none" strike="noStrike" kern="0" cap="none" spc="0" normalizeH="0" baseline="0" noProof="1" dirty="0" err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) and (</a:t>
            </a:r>
            <a:r>
              <a:rPr kumimoji="1" lang="en-US" altLang="zh-CN" sz="2800" b="0" i="1" u="none" strike="noStrike" kern="0" cap="none" spc="0" normalizeH="0" baseline="0" noProof="1" dirty="0" err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800" b="0" i="0" u="none" strike="noStrike" kern="0" cap="none" spc="0" normalizeH="0" baseline="0" noProof="1" dirty="0" err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b="0" i="1" u="none" strike="noStrike" kern="0" cap="none" spc="0" normalizeH="0" baseline="0" noProof="1" dirty="0" err="1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q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).</a:t>
            </a:r>
            <a:endParaRPr kumimoji="1" lang="en-US" sz="2800" b="0" i="0" u="none" strike="noStrike" kern="0" cap="none" spc="0" normalizeH="0" baseline="0" noProof="1" dirty="0">
              <a:solidFill>
                <a:srgbClr val="FF0000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Existence Proofs</a:t>
            </a:r>
            <a:r>
              <a:rPr kumimoji="1" lang="en-US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zh-CN" altLang="en-US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rgbClr val="FF0000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x P(x) </a:t>
            </a:r>
            <a:endParaRPr kumimoji="1" lang="en-US" sz="2800" b="0" i="0" u="none" strike="noStrike" kern="0" cap="none" spc="0" normalizeH="0" baseline="0" noProof="1" dirty="0">
              <a:solidFill>
                <a:srgbClr val="00B050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24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Constructive</a:t>
            </a:r>
            <a:endParaRPr kumimoji="1" lang="en-US" sz="24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sz="2400" b="0" i="0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Nonconstructive</a:t>
            </a:r>
            <a:endParaRPr kumimoji="1" lang="en-US" sz="24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Disproof by Counterexample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Nonexistence Proofs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Uniqueness Proofs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Proof Strategies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Proving Universally Quantified Assertions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Open Problems</a:t>
            </a: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kumimoji="1" lang="en-US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endParaRPr kumimoji="1" lang="en-US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 err="1"/>
              <a:t>Excercise</a:t>
            </a:r>
            <a:endParaRPr lang="zh-CN" altLang="en-US" dirty="0"/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875348" y="1412558"/>
            <a:ext cx="8343900" cy="4114800"/>
          </a:xfrm>
        </p:spPr>
        <p:txBody>
          <a:bodyPr vert="horz" wrap="square" lIns="91440" tIns="45720" rIns="91440" bIns="45720" anchor="t" anchorCtr="0"/>
          <a:p>
            <a:r>
              <a:rPr lang="en-GB" altLang="zh-CN" dirty="0">
                <a:latin typeface="Times New Roman" panose="02020503050405090304" pitchFamily="18" charset="0"/>
              </a:rPr>
              <a:t>Which of these sentences are propositions? What are the truth values of those that are propositions? </a:t>
            </a:r>
            <a:endParaRPr lang="zh-CN" altLang="zh-CN" dirty="0">
              <a:latin typeface="Times New Roman" panose="02020503050405090304" pitchFamily="18" charset="0"/>
            </a:endParaRPr>
          </a:p>
          <a:p>
            <a:pPr marL="914400" lvl="2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a) </a:t>
            </a:r>
            <a:r>
              <a:rPr lang="en-GB" altLang="zh-CN" dirty="0"/>
              <a:t>2 + 7= 5.		</a:t>
            </a:r>
            <a:endParaRPr lang="zh-CN" altLang="zh-CN" dirty="0"/>
          </a:p>
          <a:p>
            <a:pPr marL="914400" lvl="2" indent="0">
              <a:buNone/>
            </a:pPr>
            <a:r>
              <a:rPr lang="en-GB" altLang="zh-CN" dirty="0"/>
              <a:t>  (b) x + 2 = 8.	</a:t>
            </a:r>
            <a:endParaRPr lang="en-GB" altLang="zh-CN" dirty="0"/>
          </a:p>
          <a:p>
            <a:pPr marL="914400" lvl="2" indent="0">
              <a:buNone/>
            </a:pPr>
            <a:r>
              <a:rPr lang="en-GB" altLang="zh-CN" dirty="0"/>
              <a:t>  (c) don’t talk.</a:t>
            </a:r>
            <a:endParaRPr lang="en-GB" altLang="zh-CN" dirty="0"/>
          </a:p>
          <a:p>
            <a:pPr marL="914400" lvl="2" indent="0">
              <a:buNone/>
            </a:pPr>
            <a:r>
              <a:rPr lang="en-GB" altLang="zh-CN" dirty="0"/>
              <a:t>  (d) If 2+2</a:t>
            </a:r>
            <a:r>
              <a:rPr lang="en-US" altLang="zh-CN" dirty="0"/>
              <a:t>=3</a:t>
            </a:r>
            <a:r>
              <a:rPr lang="en-GB" altLang="zh-CN" dirty="0"/>
              <a:t>, then pigs can fly.  </a:t>
            </a:r>
            <a:endParaRPr lang="en-GB" altLang="zh-CN" dirty="0"/>
          </a:p>
          <a:p>
            <a:pPr marL="914400" lvl="2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e) I’m lying(</a:t>
            </a:r>
            <a:r>
              <a:rPr lang="zh-CN" altLang="en-US" dirty="0"/>
              <a:t>说谎</a:t>
            </a:r>
            <a:r>
              <a:rPr lang="en-US" altLang="zh-CN" dirty="0"/>
              <a:t>)</a:t>
            </a:r>
            <a:endParaRPr lang="en-US" altLang="zh-CN" dirty="0"/>
          </a:p>
          <a:p>
            <a:pPr marL="914400" lvl="2" indent="0">
              <a:buNone/>
            </a:pPr>
            <a:r>
              <a:rPr lang="en-GB" altLang="zh-CN" dirty="0"/>
              <a:t>                     </a:t>
            </a:r>
            <a:endParaRPr lang="zh-CN" altLang="en-US" dirty="0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 err="1"/>
              <a:t>Excercise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484630"/>
            <a:ext cx="8665210" cy="4114800"/>
          </a:xfrm>
        </p:spPr>
        <p:txBody>
          <a:bodyPr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In the questions below suppose the variables x and y represent real numbers, and  E(x): x is even;  G(x): x </a:t>
            </a:r>
            <a:r>
              <a:rPr kumimoji="1" lang="en-US" altLang="zh-CN" b="0" i="0" u="none" strike="noStrike" kern="0" cap="none" spc="0" normalizeH="0" baseline="0" noProof="1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  <a:sym typeface="Symbol" panose="05050102010706020507" charset="0"/>
              </a:rPr>
              <a:t></a:t>
            </a:r>
            <a:r>
              <a:rPr kumimoji="1" lang="en-US" altLang="zh-CN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0;  I(x): x is an integer.</a:t>
            </a:r>
            <a:endParaRPr kumimoji="1" lang="en-US" altLang="zh-CN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Write the statement using these predicates and any needed quantifiers.</a:t>
            </a:r>
            <a:endParaRPr kumimoji="1" lang="en-US" altLang="zh-CN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Some real numbers are not positive.</a:t>
            </a:r>
            <a:endParaRPr kumimoji="1" lang="en-US" altLang="zh-CN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No even integers are odd.</a:t>
            </a:r>
            <a:endParaRPr kumimoji="1" lang="en-US" altLang="zh-CN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en-US" altLang="zh-CN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 err="1"/>
              <a:t>Excercise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765300"/>
            <a:ext cx="8836025" cy="4114800"/>
          </a:xfrm>
        </p:spPr>
        <p:txBody>
          <a:bodyPr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In the questions below suppose the variable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represents students and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y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represents courses, and 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):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is a freshman  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):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is a part-time student 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</a:t>
            </a:r>
            <a:r>
              <a:rPr kumimoji="1" lang="en-US" altLang="zh-CN" sz="3200" b="0" i="1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3200" b="0" i="0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,</a:t>
            </a:r>
            <a:r>
              <a:rPr kumimoji="1" lang="en-US" altLang="zh-CN" sz="3200" b="0" i="1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y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):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is taking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y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. Write the statement in good English without using variables in your answers.</a:t>
            </a:r>
            <a:endParaRPr kumimoji="1" lang="zh-CN" altLang="zh-CN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</a:t>
            </a:r>
            <a:r>
              <a:rPr kumimoji="1" lang="en-US" altLang="zh-CN" sz="3200" b="0" i="0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Mikko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).</a:t>
            </a:r>
            <a:endParaRPr kumimoji="1" lang="zh-CN" altLang="zh-CN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</a:t>
            </a:r>
            <a:r>
              <a:rPr kumimoji="1" lang="en-US" altLang="zh-CN" sz="3200" b="0" i="0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yT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(</a:t>
            </a:r>
            <a:r>
              <a:rPr kumimoji="1" lang="en-US" altLang="zh-CN" sz="3200" b="0" i="0" u="none" strike="noStrike" kern="0" cap="none" spc="0" normalizeH="0" baseline="0" noProof="1" dirty="0" err="1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Joe,y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)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	 </a:t>
            </a:r>
            <a:endParaRPr kumimoji="1" lang="zh-CN" altLang="zh-CN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x(A(x)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Symbol" panose="05050102010706020507" pitchFamily="18" charset="2"/>
              </a:rPr>
              <a:t>F(x)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  <a:sym typeface="Euclid Symbol" panose="05050102010706020507" pitchFamily="18" charset="2"/>
              </a:rPr>
              <a:t>)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	</a:t>
            </a:r>
            <a:endParaRPr kumimoji="1" lang="zh-CN" altLang="zh-CN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	</a:t>
            </a:r>
            <a:endParaRPr kumimoji="1" lang="zh-CN" altLang="zh-CN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kumimoji="1" lang="zh-CN" altLang="zh-CN" sz="3200" b="0" i="0" u="none" strike="noStrike" kern="0" cap="none" spc="0" normalizeH="0" baseline="0" noProof="1" dirty="0">
              <a:solidFill>
                <a:schemeClr val="tx1"/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kumimoji="1" lang="zh-CN" alt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 err="1"/>
              <a:t>Excercise</a:t>
            </a:r>
            <a:endParaRPr lang="zh-CN" altLang="en-US" dirty="0"/>
          </a:p>
        </p:txBody>
      </p:sp>
      <p:sp>
        <p:nvSpPr>
          <p:cNvPr id="36866" name="内容占位符 2"/>
          <p:cNvSpPr>
            <a:spLocks noGrp="1"/>
          </p:cNvSpPr>
          <p:nvPr>
            <p:ph idx="1"/>
          </p:nvPr>
        </p:nvSpPr>
        <p:spPr>
          <a:xfrm>
            <a:off x="755650" y="1340168"/>
            <a:ext cx="7983538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latin typeface="Times New Roman" panose="02020503050405090304" pitchFamily="18" charset="0"/>
              </a:rPr>
              <a:t>Show that 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(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) and 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en-US" altLang="zh-CN" dirty="0">
                <a:latin typeface="Times New Roman" panose="02020503050405090304" pitchFamily="18" charset="0"/>
              </a:rPr>
              <a:t>) 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 are logically equivalent.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Show that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(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) 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en-US" altLang="zh-CN" dirty="0">
                <a:latin typeface="Times New Roman" panose="02020503050405090304" pitchFamily="18" charset="0"/>
              </a:rPr>
              <a:t>) 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</a:rPr>
              <a:t>r </a:t>
            </a:r>
            <a:endParaRPr lang="en-US" altLang="zh-CN" i="1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Prove that  (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PingFang SC" panose="020B0400000000000000" charset="-122"/>
                <a:ea typeface="PingFang SC" panose="020B0400000000000000" charset="-122"/>
              </a:rPr>
              <a:t>∧</a:t>
            </a:r>
            <a:r>
              <a:rPr lang="en-US" altLang="zh-CN" dirty="0">
                <a:latin typeface="Times New Roman" panose="02020503050405090304" pitchFamily="18" charset="0"/>
              </a:rPr>
              <a:t> (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→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en-US" altLang="zh-CN" dirty="0">
                <a:latin typeface="Times New Roman" panose="02020503050405090304" pitchFamily="18" charset="0"/>
              </a:rPr>
              <a:t>))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→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 is a tautology using propositional equivalence and the laws of logic.</a:t>
            </a:r>
            <a:endParaRPr lang="zh-CN" altLang="zh-CN" dirty="0">
              <a:latin typeface="Times New Roman" panose="02020503050405090304" pitchFamily="18" charset="0"/>
            </a:endParaRPr>
          </a:p>
          <a:p>
            <a:endParaRPr lang="zh-CN" altLang="en-US" dirty="0"/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 err="1"/>
              <a:t>Excercise</a:t>
            </a:r>
            <a:endParaRPr lang="zh-CN" altLang="en-US" dirty="0"/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>
          <a:xfrm>
            <a:off x="899795" y="1412558"/>
            <a:ext cx="7983538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latin typeface="Times New Roman" panose="02020503050405090304" pitchFamily="18" charset="0"/>
              </a:rPr>
              <a:t>Find the principal(major) disjunctive normal form of 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(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) 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Find the principal(major) conjunctive normal form of 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(</a:t>
            </a:r>
            <a:r>
              <a:rPr lang="en-US" altLang="zh-CN" i="1" dirty="0">
                <a:latin typeface="Times New Roman" panose="02020503050405090304" pitchFamily="18" charset="0"/>
              </a:rPr>
              <a:t>q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) 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r>
              <a:rPr lang="en-US" altLang="zh-CN" dirty="0">
                <a:latin typeface="Times New Roman" panose="02020503050405090304" pitchFamily="18" charset="0"/>
              </a:rPr>
              <a:t>Put the statement </a:t>
            </a:r>
            <a:r>
              <a:rPr lang="en-US" altLang="zh-CN" sz="2800" dirty="0">
                <a:latin typeface="Times New Roman" panose="02020503050405090304" pitchFamily="18" charset="0"/>
              </a:rPr>
              <a:t>(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503050405090304" pitchFamily="18" charset="0"/>
              </a:rPr>
              <a:t>xP</a:t>
            </a:r>
            <a:r>
              <a:rPr lang="en-US" altLang="zh-CN" sz="2800" i="1" dirty="0">
                <a:latin typeface="Times New Roman" panose="02020503050405090304" pitchFamily="18" charset="0"/>
              </a:rPr>
              <a:t>(x)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i="1" dirty="0" err="1">
                <a:latin typeface="Times New Roman" panose="02020503050405090304" pitchFamily="18" charset="0"/>
              </a:rPr>
              <a:t>yR</a:t>
            </a:r>
            <a:r>
              <a:rPr lang="en-US" altLang="zh-CN" sz="2800" i="1" dirty="0">
                <a:latin typeface="Times New Roman" panose="02020503050405090304" pitchFamily="18" charset="0"/>
              </a:rPr>
              <a:t>(y)</a:t>
            </a:r>
            <a:r>
              <a:rPr lang="en-US" altLang="zh-CN" sz="2800" dirty="0">
                <a:latin typeface="Times New Roman" panose="02020503050405090304" pitchFamily="18" charset="0"/>
              </a:rPr>
              <a:t>)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 </a:t>
            </a:r>
            <a:r>
              <a:rPr lang="en-US" altLang="zh-CN" sz="2800" i="1" dirty="0" err="1">
                <a:latin typeface="Times New Roman" panose="02020503050405090304" pitchFamily="18" charset="0"/>
              </a:rPr>
              <a:t>xF</a:t>
            </a:r>
            <a:r>
              <a:rPr lang="en-US" altLang="zh-CN" sz="2800" i="1" dirty="0">
                <a:latin typeface="Times New Roman" panose="02020503050405090304" pitchFamily="18" charset="0"/>
              </a:rPr>
              <a:t>(x)</a:t>
            </a:r>
            <a:r>
              <a:rPr lang="en-US" altLang="zh-CN" sz="2800" i="1" dirty="0"/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in </a:t>
            </a:r>
            <a:r>
              <a:rPr lang="en-US" altLang="zh-CN" dirty="0" err="1">
                <a:latin typeface="Times New Roman" panose="02020503050405090304" pitchFamily="18" charset="0"/>
              </a:rPr>
              <a:t>prenex</a:t>
            </a:r>
            <a:r>
              <a:rPr lang="en-US" altLang="zh-CN" dirty="0">
                <a:latin typeface="Times New Roman" panose="02020503050405090304" pitchFamily="18" charset="0"/>
              </a:rPr>
              <a:t> normal form.</a:t>
            </a:r>
            <a:endParaRPr lang="zh-CN" altLang="en-US" dirty="0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 err="1"/>
              <a:t>Excercise</a:t>
            </a:r>
            <a:endParaRPr lang="zh-CN" altLang="en-US" dirty="0"/>
          </a:p>
        </p:txBody>
      </p:sp>
      <p:sp>
        <p:nvSpPr>
          <p:cNvPr id="38914" name="内容占位符 2"/>
          <p:cNvSpPr>
            <a:spLocks noGrp="1"/>
          </p:cNvSpPr>
          <p:nvPr>
            <p:ph idx="1"/>
          </p:nvPr>
        </p:nvSpPr>
        <p:spPr>
          <a:xfrm>
            <a:off x="899795" y="1340168"/>
            <a:ext cx="7983538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>
                <a:latin typeface="Times New Roman" panose="02020503050405090304" pitchFamily="18" charset="0"/>
              </a:rPr>
              <a:t>Show that the hypotheses “I left my notes in the library or I finished the rough draft of the paper” and “I did not leave my notes in the library or I revised the bibliography” imply that “I finished the rough draft of the paper or I revised the bibliography”.</a:t>
            </a:r>
            <a:endParaRPr lang="zh-CN" altLang="en-US" dirty="0"/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内容占位符 2"/>
          <p:cNvSpPr>
            <a:spLocks noGrp="1"/>
          </p:cNvSpPr>
          <p:nvPr>
            <p:ph idx="1"/>
          </p:nvPr>
        </p:nvSpPr>
        <p:spPr>
          <a:xfrm>
            <a:off x="539750" y="1371600"/>
            <a:ext cx="8620125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latin typeface="Times New Roman" panose="02020503050405090304" pitchFamily="18" charset="0"/>
              </a:rPr>
              <a:t>Let P (x), Q(x), and R(x) be the statements “x is a clear explanation,” “x is satisfactory,” and “x is an </a:t>
            </a:r>
            <a:r>
              <a:rPr lang="en-US" altLang="zh-CN" sz="2800" dirty="0" err="1">
                <a:latin typeface="Times New Roman" panose="02020503050405090304" pitchFamily="18" charset="0"/>
              </a:rPr>
              <a:t>excuse,”respectively</a:t>
            </a:r>
            <a:r>
              <a:rPr lang="en-US" altLang="zh-CN" sz="2800" dirty="0">
                <a:latin typeface="Times New Roman" panose="02020503050405090304" pitchFamily="18" charset="0"/>
              </a:rPr>
              <a:t>. Suppose that the domain for x consists of all English text. Express each of these statements using </a:t>
            </a:r>
            <a:r>
              <a:rPr lang="en-US" altLang="zh-CN" sz="2800" dirty="0" err="1">
                <a:latin typeface="Times New Roman" panose="02020503050405090304" pitchFamily="18" charset="0"/>
              </a:rPr>
              <a:t>quantifiers,logical</a:t>
            </a:r>
            <a:r>
              <a:rPr lang="en-US" altLang="zh-CN" sz="2800" dirty="0">
                <a:latin typeface="Times New Roman" panose="02020503050405090304" pitchFamily="18" charset="0"/>
              </a:rPr>
              <a:t> connectives, and P (x), Q(x), and R(x).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</a:rPr>
              <a:t>a) All clear explanations are satisfactory.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</a:rPr>
              <a:t>b) Some excuses are unsatisfactory.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</a:rPr>
              <a:t>c) Some excuses are not clear explanations.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</a:rPr>
              <a:t>∗d) Does (c) follow from (a) and (b)?</a:t>
            </a:r>
            <a:endParaRPr lang="zh-CN" altLang="en-US" sz="2800" dirty="0">
              <a:latin typeface="Times New Roman" panose="02020503050405090304" pitchFamily="18" charset="0"/>
            </a:endParaRPr>
          </a:p>
        </p:txBody>
      </p:sp>
      <p:sp>
        <p:nvSpPr>
          <p:cNvPr id="399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1" name="标题 1"/>
          <p:cNvSpPr txBox="1"/>
          <p:nvPr/>
        </p:nvSpPr>
        <p:spPr>
          <a:xfrm>
            <a:off x="1043623" y="11652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eaLnBrk="0" hangingPunct="0"/>
            <a:r>
              <a:rPr lang="en-US" altLang="zh-CN" sz="4400" b="0" i="0" u="none">
                <a:solidFill>
                  <a:schemeClr val="tx2"/>
                </a:solidFill>
                <a:latin typeface="Copperplate Gothic Light" panose="020E0507020206020404" pitchFamily="34" charset="0"/>
              </a:rPr>
              <a:t>Excercise</a:t>
            </a:r>
            <a:endParaRPr lang="zh-CN" altLang="en-US" sz="4400" b="0" i="0" u="none" dirty="0">
              <a:solidFill>
                <a:schemeClr val="tx2"/>
              </a:solidFill>
              <a:latin typeface="Copperplate Gothic Light" panose="020E05070202060204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 err="1"/>
              <a:t>Excercise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62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2095" y="1371600"/>
                <a:ext cx="8636635" cy="5148580"/>
              </a:xfrm>
            </p:spPr>
            <p:txBody>
              <a:bodyPr vert="horz" wrap="square" lIns="91440" tIns="45720" rIns="91440" bIns="45720" anchor="t" anchorCtr="0"/>
              <a:p>
                <a:r>
                  <a:rPr lang="en-US" altLang="zh-CN" dirty="0">
                    <a:latin typeface="Times New Roman" panose="02020503050405090304" pitchFamily="18" charset="0"/>
                  </a:rPr>
                  <a:t>Prove that the following is true for all positive integers </a:t>
                </a:r>
                <a:r>
                  <a:rPr lang="en-US" altLang="zh-CN" i="1" dirty="0">
                    <a:latin typeface="Times New Roman" panose="02020503050405090304" pitchFamily="18" charset="0"/>
                  </a:rPr>
                  <a:t>n</a:t>
                </a:r>
                <a:r>
                  <a:rPr lang="en-US" altLang="zh-CN" dirty="0">
                    <a:latin typeface="Times New Roman" panose="02020503050405090304" pitchFamily="18" charset="0"/>
                  </a:rPr>
                  <a:t>: </a:t>
                </a:r>
                <a:r>
                  <a:rPr lang="en-US" altLang="zh-CN" i="1" dirty="0">
                    <a:latin typeface="Times New Roman" panose="02020503050405090304" pitchFamily="18" charset="0"/>
                  </a:rPr>
                  <a:t>n</a:t>
                </a:r>
                <a:r>
                  <a:rPr lang="en-US" altLang="zh-CN" dirty="0">
                    <a:latin typeface="Times New Roman" panose="02020503050405090304" pitchFamily="18" charset="0"/>
                  </a:rPr>
                  <a:t> is even if and only if 3</a:t>
                </a:r>
                <a:r>
                  <a:rPr lang="en-US" altLang="zh-CN" i="1" dirty="0">
                    <a:latin typeface="Times New Roman" panose="02020503050405090304" pitchFamily="18" charset="0"/>
                  </a:rPr>
                  <a:t>n</a:t>
                </a:r>
                <a:r>
                  <a:rPr lang="en-US" altLang="zh-CN" baseline="30000" dirty="0">
                    <a:latin typeface="Times New Roman" panose="02020503050405090304" pitchFamily="18" charset="0"/>
                  </a:rPr>
                  <a:t>2</a:t>
                </a:r>
                <a:r>
                  <a:rPr lang="en-US" altLang="zh-CN" dirty="0">
                    <a:latin typeface="Times New Roman" panose="02020503050405090304" pitchFamily="18" charset="0"/>
                  </a:rPr>
                  <a:t> + 8 is even.</a:t>
                </a:r>
                <a:endParaRPr lang="en-US" altLang="zh-CN" dirty="0">
                  <a:latin typeface="Times New Roman" panose="02020503050405090304" pitchFamily="18" charset="0"/>
                </a:endParaRPr>
              </a:p>
              <a:p>
                <a:r>
                  <a:rPr lang="en-US" altLang="zh-CN" dirty="0">
                    <a:latin typeface="Times New Roman" panose="02020503050405090304" pitchFamily="18" charset="0"/>
                  </a:rPr>
                  <a:t>	Prove or disprove: For all real numbers </a:t>
                </a:r>
                <a:r>
                  <a:rPr lang="en-US" altLang="zh-CN" i="1" dirty="0">
                    <a:latin typeface="Times New Roman" panose="02020503050405090304" pitchFamily="18" charset="0"/>
                  </a:rPr>
                  <a:t>x</a:t>
                </a:r>
                <a:r>
                  <a:rPr lang="en-US" altLang="zh-CN" dirty="0">
                    <a:latin typeface="Times New Roman" panose="02020503050405090304" pitchFamily="18" charset="0"/>
                  </a:rPr>
                  <a:t>,</a:t>
                </a:r>
                <a:endParaRPr lang="en-US" altLang="zh-CN" dirty="0">
                  <a:latin typeface="Times New Roman" panose="02020503050405090304" pitchFamily="18" charset="0"/>
                </a:endParaRPr>
              </a:p>
              <a:p>
                <a:endParaRPr lang="en-US" altLang="zh-CN" dirty="0">
                  <a:latin typeface="Times New Roman" panose="02020503050405090304" pitchFamily="18" charset="0"/>
                </a:endParaRPr>
              </a:p>
              <a:p>
                <a:r>
                  <a:rPr lang="en-US" altLang="zh-CN" dirty="0">
                    <a:latin typeface="Times New Roman" panose="02020503050405090304" pitchFamily="18" charset="0"/>
                  </a:rPr>
                  <a:t>  Prove or disprove that the equation 2</a:t>
                </a:r>
                <a:r>
                  <a:rPr lang="en-US" altLang="zh-CN" i="1" dirty="0">
                    <a:latin typeface="Times New Roman" panose="02020503050405090304" pitchFamily="18" charset="0"/>
                  </a:rPr>
                  <a:t>x</a:t>
                </a:r>
                <a:r>
                  <a:rPr lang="en-US" altLang="zh-CN" baseline="30000" dirty="0">
                    <a:latin typeface="Times New Roman" panose="02020503050405090304" pitchFamily="18" charset="0"/>
                  </a:rPr>
                  <a:t>3</a:t>
                </a:r>
                <a:r>
                  <a:rPr lang="en-US" altLang="zh-CN" dirty="0">
                    <a:latin typeface="Times New Roman" panose="02020503050405090304" pitchFamily="18" charset="0"/>
                  </a:rPr>
                  <a:t>+</a:t>
                </a:r>
                <a:r>
                  <a:rPr lang="en-US" altLang="zh-CN" i="1" dirty="0">
                    <a:latin typeface="Times New Roman" panose="02020503050405090304" pitchFamily="18" charset="0"/>
                  </a:rPr>
                  <a:t>y</a:t>
                </a:r>
                <a:r>
                  <a:rPr lang="en-US" altLang="zh-CN" baseline="30000" dirty="0">
                    <a:latin typeface="Times New Roman" panose="02020503050405090304" pitchFamily="18" charset="0"/>
                  </a:rPr>
                  <a:t>2</a:t>
                </a:r>
                <a:r>
                  <a:rPr lang="en-US" altLang="zh-CN" dirty="0">
                    <a:latin typeface="Times New Roman" panose="02020503050405090304" pitchFamily="18" charset="0"/>
                  </a:rPr>
                  <a:t>=14 has no positive integer solutions and explain the proof method you use.</a:t>
                </a:r>
                <a:endParaRPr lang="en-US" altLang="zh-CN" dirty="0">
                  <a:latin typeface="Times New Roman" panose="02020503050405090304" pitchFamily="18" charset="0"/>
                </a:endParaRPr>
              </a:p>
              <a:p>
                <a:r>
                  <a:rPr lang="zh-CN" altLang="en-US" dirty="0">
                    <a:latin typeface="Times New Roman" panose="02020503050405090304" pitchFamily="18" charset="0"/>
                  </a:rPr>
                  <a:t>Prove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en-US" dirty="0">
                    <a:latin typeface="Times New Roman" panose="02020503050405090304" pitchFamily="18" charset="0"/>
                  </a:rPr>
                  <a:t> is irrational by giving a proof by contradiction.</a:t>
                </a: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0962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95" y="1371600"/>
                <a:ext cx="8636635" cy="514858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">
              <a:rPr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u="none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</a:t>
            </a:r>
            <a:endParaRPr lang="zh-CN" altLang="en-US" sz="12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4096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458" y="2996883"/>
            <a:ext cx="2149475" cy="576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275" y="0"/>
            <a:ext cx="8213725" cy="1188720"/>
          </a:xfrm>
        </p:spPr>
        <p:txBody>
          <a:bodyPr/>
          <a:lstStyle/>
          <a:p>
            <a:r>
              <a:rPr lang="en-IN" dirty="0"/>
              <a:t>Proof by Contradiction</a:t>
            </a:r>
            <a:r>
              <a:rPr lang="en-IN" sz="1500" dirty="0"/>
              <a:t> 1</a:t>
            </a:r>
            <a:endParaRPr lang="en-IN" sz="1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" y="1268730"/>
            <a:ext cx="9552940" cy="15240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Use a proof by contradiction to give a proof that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√2 is irrational.</a:t>
            </a:r>
            <a:endParaRPr lang="en-US" sz="2400" dirty="0">
              <a:latin typeface="Times New Roman" panose="02020503050405090304" pitchFamily="18" charset="0"/>
              <a:ea typeface="Cambria Math" panose="02040503050406030204"/>
              <a:cs typeface="Times New Roman" panose="02020503050405090304" pitchFamily="18" charset="0"/>
            </a:endParaRPr>
          </a:p>
          <a:p>
            <a:pPr>
              <a:spcBef>
                <a:spcPts val="300"/>
              </a:spcBef>
            </a:pPr>
            <a:r>
              <a:rPr lang="en-US" sz="2400" b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Solution: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Suppose √2 is rational. Then there exists integers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and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with √2 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= a/b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, where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b≠ 0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and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and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have no common factors (see Chapter 4). Then</a:t>
            </a:r>
            <a:endParaRPr lang="en-US" sz="2400" dirty="0">
              <a:latin typeface="Times New Roman" panose="02020503050405090304" pitchFamily="18" charset="0"/>
              <a:ea typeface="Cambria Math" panose="02040503050406030204"/>
              <a:cs typeface="Times New Roman" panose="02020503050405090304" pitchFamily="18" charset="0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2388752" y="2819400"/>
          <a:ext cx="88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52" name="Equation" r:id="rId1" imgW="10668000" imgH="10058400" progId="Equation.DSMT4">
                  <p:embed/>
                </p:oleObj>
              </mc:Choice>
              <mc:Fallback>
                <p:oleObj name="Equation" r:id="rId1" imgW="10668000" imgH="100584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8752" y="2819400"/>
                        <a:ext cx="889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4572000" y="3035300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53" name="Equation" r:id="rId3" imgW="13106400" imgH="4876800" progId="Equation.DSMT4">
                  <p:embed/>
                </p:oleObj>
              </mc:Choice>
              <mc:Fallback>
                <p:oleObj name="Equation" r:id="rId3" imgW="13106400" imgH="48768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3035300"/>
                        <a:ext cx="1092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5"/>
          <p:cNvSpPr>
            <a:spLocks noGrp="1"/>
          </p:cNvSpPr>
          <p:nvPr>
            <p:ph idx="13"/>
          </p:nvPr>
        </p:nvSpPr>
        <p:spPr>
          <a:xfrm>
            <a:off x="457200" y="3610842"/>
            <a:ext cx="8229600" cy="685800"/>
          </a:xfrm>
        </p:spPr>
        <p:txBody>
          <a:bodyPr/>
          <a:lstStyle/>
          <a:p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Therefore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i="1" baseline="300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2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must be even. If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i="1" baseline="300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2</a:t>
            </a:r>
            <a:r>
              <a:rPr lang="en-US" sz="2400" baseline="300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is even then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must be even (an exercise). Since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is even,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 =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2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c 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for some integer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c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. Thus,</a:t>
            </a:r>
            <a:endParaRPr lang="en-US" sz="2400" dirty="0">
              <a:latin typeface="Times New Roman" panose="02020503050405090304" pitchFamily="18" charset="0"/>
              <a:ea typeface="Cambria Math" panose="02040503050406030204"/>
              <a:cs typeface="Times New Roman" panose="02020503050405090304" pitchFamily="18" charset="0"/>
            </a:endParaRP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2211388" y="449580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54" name="Equation" r:id="rId5" imgW="14935200" imgH="4876800" progId="Equation.DSMT4">
                  <p:embed/>
                </p:oleObj>
              </mc:Choice>
              <mc:Fallback>
                <p:oleObj name="Equation" r:id="rId5" imgW="14935200" imgH="48768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11388" y="4495800"/>
                        <a:ext cx="1244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4559300" y="4495800"/>
          <a:ext cx="106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55" name="Equation" r:id="rId7" imgW="12801600" imgH="4876800" progId="Equation.DSMT4">
                  <p:embed/>
                </p:oleObj>
              </mc:Choice>
              <mc:Fallback>
                <p:oleObj name="Equation" r:id="rId7" imgW="12801600" imgH="48768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59300" y="4495800"/>
                        <a:ext cx="1066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8"/>
          <p:cNvSpPr>
            <a:spLocks noGrp="1"/>
          </p:cNvSpPr>
          <p:nvPr>
            <p:ph idx="14"/>
          </p:nvPr>
        </p:nvSpPr>
        <p:spPr>
          <a:xfrm>
            <a:off x="-23495" y="5088255"/>
            <a:ext cx="9082405" cy="1403985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Therefore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</a:t>
            </a:r>
            <a:r>
              <a:rPr lang="en-US" sz="2400" baseline="300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2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is even. Again then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must be even as well.</a:t>
            </a:r>
            <a:endParaRPr lang="en-US" sz="2400" dirty="0">
              <a:latin typeface="Times New Roman" panose="02020503050405090304" pitchFamily="18" charset="0"/>
              <a:ea typeface="Cambria Math" panose="02040503050406030204"/>
              <a:cs typeface="Times New Roman" panose="02020503050405090304" pitchFamily="18" charset="0"/>
            </a:endParaRPr>
          </a:p>
          <a:p>
            <a:pPr>
              <a:spcBef>
                <a:spcPts val="300"/>
              </a:spcBef>
            </a:pP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But then 2 must divide both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and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. This contradicts our assumption that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a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and 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b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</a:rPr>
              <a:t> have no common factors. We have proved by contradiction that our initial assumption must be false and  therefore √2 is irrational.</a:t>
            </a:r>
            <a:endParaRPr lang="en-US" sz="2400" dirty="0">
              <a:latin typeface="Times New Roman" panose="02020503050405090304" pitchFamily="18" charset="0"/>
              <a:ea typeface="Cambria Math" panose="02040503050406030204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1b106bf-0b1e-4dda-847d-1dc6ae20ef1e"/>
  <p:tag name="COMMONDATA" val="eyJoZGlkIjoiYjZhMmY1NGQwZjE0MWY4MTkzZjM4YzBiNDA1ZmM3ZDEifQ=="/>
  <p:tag name="commondata" val="eyJoZGlkIjoiYmVhZjkwODNmYWU4ZjEyODhhY2JmMGIzNjQ3MTYzNDI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8269</Words>
  <Application>WPS 演示</Application>
  <PresentationFormat>全屏显示(4:3)</PresentationFormat>
  <Paragraphs>398</Paragraphs>
  <Slides>30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61" baseType="lpstr">
      <vt:lpstr>Arial</vt:lpstr>
      <vt:lpstr>宋体</vt:lpstr>
      <vt:lpstr>Wingdings</vt:lpstr>
      <vt:lpstr>Times New Roman</vt:lpstr>
      <vt:lpstr>汉仪书宋二KW</vt:lpstr>
      <vt:lpstr>Arial Narrow</vt:lpstr>
      <vt:lpstr>Tahoma</vt:lpstr>
      <vt:lpstr>Copperplate Gothic Light</vt:lpstr>
      <vt:lpstr>苹方-简</vt:lpstr>
      <vt:lpstr>Copperplate Gothic Bold</vt:lpstr>
      <vt:lpstr>Cambria Math</vt:lpstr>
      <vt:lpstr>Kingsoft Math</vt:lpstr>
      <vt:lpstr>Cambria Math</vt:lpstr>
      <vt:lpstr>Symbol</vt:lpstr>
      <vt:lpstr>Kingsoft Sign</vt:lpstr>
      <vt:lpstr>微软雅黑</vt:lpstr>
      <vt:lpstr>汉仪旗黑</vt:lpstr>
      <vt:lpstr>宋体</vt:lpstr>
      <vt:lpstr>Arial Unicode MS</vt:lpstr>
      <vt:lpstr>MT Extra</vt:lpstr>
      <vt:lpstr>Euclid Symbol</vt:lpstr>
      <vt:lpstr>Symbol</vt:lpstr>
      <vt:lpstr>DejaVu Math TeX Gyre</vt:lpstr>
      <vt:lpstr>宋体-简</vt:lpstr>
      <vt:lpstr>Kingsoft Extra</vt:lpstr>
      <vt:lpstr>PingFang SC</vt:lpstr>
      <vt:lpstr>Blends</vt:lpstr>
      <vt:lpstr>Equation.DSMT4</vt:lpstr>
      <vt:lpstr>Equation.DSMT4</vt:lpstr>
      <vt:lpstr>Equation.DSMT4</vt:lpstr>
      <vt:lpstr>Equation.DSMT4</vt:lpstr>
      <vt:lpstr>Chapter Summary</vt:lpstr>
      <vt:lpstr>The Foundations: Logic and Proofs</vt:lpstr>
      <vt:lpstr>Propositional Logic Summary</vt:lpstr>
      <vt:lpstr>Propositional Logic Summary(1.1)</vt:lpstr>
      <vt:lpstr>Applications of Propositional Logic: Summary(1.2)</vt:lpstr>
      <vt:lpstr>Propositional Equivalences Summary(1.3)</vt:lpstr>
      <vt:lpstr>Logical Equivalences</vt:lpstr>
      <vt:lpstr>Logical Equivalences</vt:lpstr>
      <vt:lpstr>More Logical Equivalences</vt:lpstr>
      <vt:lpstr>Predicate Logic Summary</vt:lpstr>
      <vt:lpstr>Predicates and Quantifiers(1.4)</vt:lpstr>
      <vt:lpstr>Nested Quantifiers Summary(1.5)</vt:lpstr>
      <vt:lpstr>等值式</vt:lpstr>
      <vt:lpstr>Rules of Inference Summary(1.6)</vt:lpstr>
      <vt:lpstr>常见推理定律</vt:lpstr>
      <vt:lpstr>推理规则</vt:lpstr>
      <vt:lpstr>推理规则</vt:lpstr>
      <vt:lpstr>总结</vt:lpstr>
      <vt:lpstr>证明</vt:lpstr>
      <vt:lpstr>Introduction to Proofs Summary(1.7)</vt:lpstr>
      <vt:lpstr>Proof Methods and Strategy Summary(1.8）</vt:lpstr>
      <vt:lpstr>Excercise</vt:lpstr>
      <vt:lpstr>Excercise</vt:lpstr>
      <vt:lpstr>Excercise</vt:lpstr>
      <vt:lpstr>Excercise</vt:lpstr>
      <vt:lpstr>Excercise</vt:lpstr>
      <vt:lpstr>Excercise</vt:lpstr>
      <vt:lpstr>PowerPoint 演示文稿</vt:lpstr>
      <vt:lpstr>Excercise</vt:lpstr>
      <vt:lpstr>Proof by Contradiction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lvsiyao</dc:creator>
  <cp:lastModifiedBy>杨娟</cp:lastModifiedBy>
  <cp:revision>518</cp:revision>
  <cp:lastPrinted>2025-03-31T07:41:26Z</cp:lastPrinted>
  <dcterms:created xsi:type="dcterms:W3CDTF">2025-03-31T07:41:26Z</dcterms:created>
  <dcterms:modified xsi:type="dcterms:W3CDTF">2025-03-31T07:41:26Z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9686E4E771D34DFB98607A9734C3CA8C</vt:lpwstr>
  </property>
  <property fmtid="{D5CDD505-2E9C-101B-9397-08002B2CF9AE}" pid="3" name="KSOProductBuildVer">
    <vt:lpwstr>2052-6.9.0.8865</vt:lpwstr>
  </property>
</Properties>
</file>