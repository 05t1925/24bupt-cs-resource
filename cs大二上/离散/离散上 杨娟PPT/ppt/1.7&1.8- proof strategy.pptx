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handoutMasterIdLst>
    <p:handoutMasterId r:id="rId80"/>
  </p:handoutMasterIdLst>
  <p:sldIdLst>
    <p:sldId id="808" r:id="rId3"/>
    <p:sldId id="980" r:id="rId4"/>
    <p:sldId id="882" r:id="rId5"/>
    <p:sldId id="981" r:id="rId6"/>
    <p:sldId id="830" r:id="rId7"/>
    <p:sldId id="876" r:id="rId8"/>
    <p:sldId id="833" r:id="rId9"/>
    <p:sldId id="835" r:id="rId10"/>
    <p:sldId id="834" r:id="rId11"/>
    <p:sldId id="836" r:id="rId12"/>
    <p:sldId id="831" r:id="rId13"/>
    <p:sldId id="879" r:id="rId14"/>
    <p:sldId id="832" r:id="rId15"/>
    <p:sldId id="880" r:id="rId16"/>
    <p:sldId id="837" r:id="rId17"/>
    <p:sldId id="919" r:id="rId18"/>
    <p:sldId id="838" r:id="rId19"/>
    <p:sldId id="839" r:id="rId20"/>
    <p:sldId id="840" r:id="rId21"/>
    <p:sldId id="841" r:id="rId22"/>
    <p:sldId id="889" r:id="rId23"/>
    <p:sldId id="888" r:id="rId24"/>
    <p:sldId id="914" r:id="rId26"/>
    <p:sldId id="890" r:id="rId27"/>
    <p:sldId id="891" r:id="rId28"/>
    <p:sldId id="915" r:id="rId29"/>
    <p:sldId id="892" r:id="rId30"/>
    <p:sldId id="842" r:id="rId31"/>
    <p:sldId id="843" r:id="rId32"/>
    <p:sldId id="916" r:id="rId33"/>
    <p:sldId id="893" r:id="rId34"/>
    <p:sldId id="894" r:id="rId35"/>
    <p:sldId id="844" r:id="rId36"/>
    <p:sldId id="895" r:id="rId37"/>
    <p:sldId id="896" r:id="rId38"/>
    <p:sldId id="917" r:id="rId39"/>
    <p:sldId id="922" r:id="rId40"/>
    <p:sldId id="923" r:id="rId41"/>
    <p:sldId id="924" r:id="rId42"/>
    <p:sldId id="912" r:id="rId43"/>
    <p:sldId id="846" r:id="rId44"/>
    <p:sldId id="847" r:id="rId45"/>
    <p:sldId id="848" r:id="rId46"/>
    <p:sldId id="849" r:id="rId47"/>
    <p:sldId id="850" r:id="rId48"/>
    <p:sldId id="851" r:id="rId49"/>
    <p:sldId id="852" r:id="rId50"/>
    <p:sldId id="883" r:id="rId51"/>
    <p:sldId id="884" r:id="rId52"/>
    <p:sldId id="881" r:id="rId53"/>
    <p:sldId id="415" r:id="rId54"/>
    <p:sldId id="920" r:id="rId55"/>
    <p:sldId id="921" r:id="rId56"/>
    <p:sldId id="885" r:id="rId57"/>
    <p:sldId id="886" r:id="rId58"/>
    <p:sldId id="887" r:id="rId59"/>
    <p:sldId id="853" r:id="rId60"/>
    <p:sldId id="898" r:id="rId61"/>
    <p:sldId id="899" r:id="rId62"/>
    <p:sldId id="900" r:id="rId63"/>
    <p:sldId id="901" r:id="rId64"/>
    <p:sldId id="902" r:id="rId65"/>
    <p:sldId id="903" r:id="rId66"/>
    <p:sldId id="904" r:id="rId67"/>
    <p:sldId id="905" r:id="rId68"/>
    <p:sldId id="906" r:id="rId69"/>
    <p:sldId id="907" r:id="rId70"/>
    <p:sldId id="470" r:id="rId71"/>
    <p:sldId id="475" r:id="rId72"/>
    <p:sldId id="471" r:id="rId73"/>
    <p:sldId id="472" r:id="rId74"/>
    <p:sldId id="909" r:id="rId75"/>
    <p:sldId id="910" r:id="rId76"/>
    <p:sldId id="911" r:id="rId77"/>
    <p:sldId id="452" r:id="rId78"/>
    <p:sldId id="867" r:id="rId79"/>
  </p:sldIdLst>
  <p:sldSz cx="9144000" cy="6858000" type="screen4x3"/>
  <p:notesSz cx="6669405" cy="9926955"/>
  <p:custDataLst>
    <p:tags r:id="rId84"/>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9pPr>
  </p:defaultTextStyle>
  <p:extLst>
    <p:ext uri="{EFAFB233-063F-42B5-8137-9DF3F51BA10A}">
      <p15:sldGuideLst xmlns:p15="http://schemas.microsoft.com/office/powerpoint/2012/main">
        <p15:guide id="1" orient="horz" pos="1407" userDrawn="1">
          <p15:clr>
            <a:srgbClr val="A4A3A4"/>
          </p15:clr>
        </p15:guide>
        <p15:guide id="2" pos="48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FF3300"/>
    <a:srgbClr val="003399"/>
    <a:srgbClr val="336699"/>
    <a:srgbClr val="008080"/>
    <a:srgbClr val="009999"/>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5448"/>
  </p:normalViewPr>
  <p:slideViewPr>
    <p:cSldViewPr showGuides="1">
      <p:cViewPr varScale="1">
        <p:scale>
          <a:sx n="90" d="100"/>
          <a:sy n="90" d="100"/>
        </p:scale>
        <p:origin x="825" y="60"/>
      </p:cViewPr>
      <p:guideLst>
        <p:guide orient="horz" pos="1407"/>
        <p:guide pos="48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7698"/>
    </p:cViewPr>
  </p:sorterViewPr>
  <p:gridSpacing cx="72006" cy="72006"/>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4" Type="http://schemas.openxmlformats.org/officeDocument/2006/relationships/tags" Target="tags/tag2.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handoutMaster" Target="handoutMasters/handoutMaster1.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6.wmf"/><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7410" name="Rectangle 2"/>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algn="l" eaLnBrk="1" hangingPunct="1">
              <a:defRPr kumimoji="0" sz="1200" b="0" i="0" u="none"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17411" name="Rectangle 3"/>
          <p:cNvSpPr>
            <a:spLocks noGrp="1" noChangeArrowheads="1"/>
          </p:cNvSpPr>
          <p:nvPr>
            <p:ph type="dt" sz="quarter" idx="1"/>
          </p:nvPr>
        </p:nvSpPr>
        <p:spPr bwMode="auto">
          <a:xfrm>
            <a:off x="3779838"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0" sz="1200" b="0" i="0" u="none" noProof="1"/>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17412" name="Rectangle 4"/>
          <p:cNvSpPr>
            <a:spLocks noGrp="1" noChangeArrowheads="1"/>
          </p:cNvSpPr>
          <p:nvPr>
            <p:ph type="ftr" sz="quarter" idx="2"/>
          </p:nvPr>
        </p:nvSpPr>
        <p:spPr bwMode="auto">
          <a:xfrm>
            <a:off x="0" y="9429750"/>
            <a:ext cx="2889250" cy="496888"/>
          </a:xfrm>
          <a:prstGeom prst="rect">
            <a:avLst/>
          </a:prstGeom>
          <a:noFill/>
          <a:ln w="9525">
            <a:noFill/>
            <a:miter lim="800000"/>
          </a:ln>
          <a:effectLst/>
        </p:spPr>
        <p:txBody>
          <a:bodyPr vert="horz" wrap="square" lIns="91440" tIns="45720" rIns="91440" bIns="45720" numCol="1" anchor="b" anchorCtr="0" compatLnSpc="1"/>
          <a:lstStyle>
            <a:lvl1pPr algn="l" eaLnBrk="1" hangingPunct="1">
              <a:defRPr kumimoji="0" sz="1200" b="0" i="0" u="none"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17413" name="Rectangle 5"/>
          <p:cNvSpPr>
            <a:spLocks noGrp="1" noChangeArrowheads="1"/>
          </p:cNvSpPr>
          <p:nvPr>
            <p:ph type="sldNum" sz="quarter" idx="3"/>
          </p:nvPr>
        </p:nvSpPr>
        <p:spPr bwMode="auto">
          <a:xfrm>
            <a:off x="3779838" y="9429750"/>
            <a:ext cx="288925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200" b="0" i="0" u="none" noProof="1"/>
            </a:lvl1pPr>
          </a:lstStyle>
          <a:p>
            <a:pPr marL="0" marR="0" lvl="0" indent="0" algn="r" defTabSz="914400" rtl="0" eaLnBrk="1" fontAlgn="base" latinLnBrk="0" hangingPunct="1">
              <a:lnSpc>
                <a:spcPct val="100000"/>
              </a:lnSpc>
              <a:spcBef>
                <a:spcPct val="0"/>
              </a:spcBef>
              <a:spcAft>
                <a:spcPct val="0"/>
              </a:spcAft>
              <a:buClrTx/>
              <a:buSzTx/>
              <a:buFontTx/>
              <a:buNone/>
              <a:defRPr/>
            </a:pPr>
            <a:fld id="{2A03F9DB-9FF7-4E1B-B582-4A245ADF0F2A}" type="slidenum">
              <a:rPr kumimoji="0" lang="zh-CN" altLang="en-US"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rPr>
            </a:fld>
            <a:endParaRPr kumimoji="0" lang="en-US" altLang="zh-CN"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5362" name="Rectangle 2"/>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algn="l" eaLnBrk="1" hangingPunct="1">
              <a:defRPr kumimoji="0" sz="1200" b="0" i="0" u="none"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15363" name="Rectangle 3"/>
          <p:cNvSpPr>
            <a:spLocks noGrp="1" noChangeArrowheads="1"/>
          </p:cNvSpPr>
          <p:nvPr>
            <p:ph type="dt" idx="1"/>
          </p:nvPr>
        </p:nvSpPr>
        <p:spPr bwMode="auto">
          <a:xfrm>
            <a:off x="3779838"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0" sz="1200" b="0" i="0" u="none" noProof="1"/>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3076" name="Rectangle 4"/>
          <p:cNvSpPr>
            <a:spLocks noGrp="1" noRot="1" noChangeAspect="1" noTextEdit="1"/>
          </p:cNvSpPr>
          <p:nvPr>
            <p:ph type="sldImg"/>
          </p:nvPr>
        </p:nvSpPr>
        <p:spPr>
          <a:xfrm>
            <a:off x="852488" y="744538"/>
            <a:ext cx="4964112" cy="3722687"/>
          </a:xfrm>
          <a:prstGeom prst="rect">
            <a:avLst/>
          </a:prstGeom>
          <a:noFill/>
          <a:ln w="9525" cap="flat" cmpd="sng">
            <a:solidFill>
              <a:srgbClr val="000000"/>
            </a:solidFill>
            <a:prstDash val="solid"/>
            <a:miter/>
            <a:headEnd type="none" w="med" len="med"/>
            <a:tailEnd type="none" w="med" len="med"/>
          </a:ln>
        </p:spPr>
      </p:sp>
      <p:sp>
        <p:nvSpPr>
          <p:cNvPr id="4101" name="Rectangle 5"/>
          <p:cNvSpPr>
            <a:spLocks noGrp="1" noChangeArrowheads="1"/>
          </p:cNvSpPr>
          <p:nvPr>
            <p:ph type="body" sz="quarter" idx="4294967295"/>
          </p:nvPr>
        </p:nvSpPr>
        <p:spPr bwMode="auto">
          <a:xfrm>
            <a:off x="889000" y="4714875"/>
            <a:ext cx="4891088" cy="446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Second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Third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Fourth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Fifth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5366" name="Rectangle 6"/>
          <p:cNvSpPr>
            <a:spLocks noGrp="1" noChangeArrowheads="1"/>
          </p:cNvSpPr>
          <p:nvPr>
            <p:ph type="ftr" sz="quarter" idx="4"/>
          </p:nvPr>
        </p:nvSpPr>
        <p:spPr bwMode="auto">
          <a:xfrm>
            <a:off x="0" y="9429750"/>
            <a:ext cx="2889250" cy="496888"/>
          </a:xfrm>
          <a:prstGeom prst="rect">
            <a:avLst/>
          </a:prstGeom>
          <a:noFill/>
          <a:ln w="9525">
            <a:noFill/>
            <a:miter lim="800000"/>
          </a:ln>
          <a:effectLst/>
        </p:spPr>
        <p:txBody>
          <a:bodyPr vert="horz" wrap="square" lIns="91440" tIns="45720" rIns="91440" bIns="45720" numCol="1" anchor="b" anchorCtr="0" compatLnSpc="1"/>
          <a:lstStyle>
            <a:lvl1pPr algn="l" eaLnBrk="1" hangingPunct="1">
              <a:defRPr kumimoji="0" sz="1200" b="0" i="0" u="none"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15367" name="Rectangle 7"/>
          <p:cNvSpPr>
            <a:spLocks noGrp="1" noChangeArrowheads="1"/>
          </p:cNvSpPr>
          <p:nvPr>
            <p:ph type="sldNum" sz="quarter" idx="5"/>
          </p:nvPr>
        </p:nvSpPr>
        <p:spPr bwMode="auto">
          <a:xfrm>
            <a:off x="3779838" y="9429750"/>
            <a:ext cx="288925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200" b="0" i="0" u="none" noProof="1"/>
            </a:lvl1pPr>
          </a:lstStyle>
          <a:p>
            <a:pPr marL="0" marR="0" lvl="0" indent="0" algn="r" defTabSz="914400" rtl="0" eaLnBrk="1" fontAlgn="base" latinLnBrk="0" hangingPunct="1">
              <a:lnSpc>
                <a:spcPct val="100000"/>
              </a:lnSpc>
              <a:spcBef>
                <a:spcPct val="0"/>
              </a:spcBef>
              <a:spcAft>
                <a:spcPct val="0"/>
              </a:spcAft>
              <a:buClrTx/>
              <a:buSzTx/>
              <a:buFontTx/>
              <a:buNone/>
              <a:defRPr/>
            </a:pPr>
            <a:fld id="{8EA0CF19-670A-4276-85F0-975C24CB6F85}" type="slidenum">
              <a:rPr kumimoji="0" lang="zh-CN" altLang="en-US"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rPr>
            </a:fld>
            <a:endParaRPr kumimoji="0" lang="en-US" altLang="zh-CN"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幻灯片图像占位符 1"/>
          <p:cNvSpPr>
            <a:spLocks noGrp="1" noRot="1" noChangeAspect="1" noTextEdit="1"/>
          </p:cNvSpPr>
          <p:nvPr>
            <p:ph type="sldImg"/>
          </p:nvPr>
        </p:nvSpPr>
        <p:spPr/>
      </p:sp>
      <p:sp>
        <p:nvSpPr>
          <p:cNvPr id="25603" name="备注占位符 2"/>
          <p:cNvSpPr>
            <a:spLocks noGrp="1"/>
          </p:cNvSpPr>
          <p:nvPr>
            <p:ph type="body"/>
          </p:nvPr>
        </p:nvSpPr>
        <p:spPr/>
        <p:txBody>
          <a:bodyPr wrap="square" lIns="91440" tIns="45720" rIns="91440" bIns="45720" anchor="t" anchorCtr="0"/>
          <a:p>
            <a:pPr lvl="0"/>
            <a:endParaRPr lang="zh-CN" altLang="en-US" dirty="0"/>
          </a:p>
        </p:txBody>
      </p:sp>
      <p:sp>
        <p:nvSpPr>
          <p:cNvPr id="25604" name="灯片编号占位符 3"/>
          <p:cNvSpPr txBox="1">
            <a:spLocks noGrp="1"/>
          </p:cNvSpPr>
          <p:nvPr>
            <p:ph type="sldNum" sz="quarter"/>
          </p:nvPr>
        </p:nvSpPr>
        <p:spPr>
          <a:xfrm>
            <a:off x="3779838" y="9429750"/>
            <a:ext cx="2889250" cy="496888"/>
          </a:xfrm>
          <a:prstGeom prst="rect">
            <a:avLst/>
          </a:prstGeom>
          <a:noFill/>
          <a:ln w="9525">
            <a:noFill/>
          </a:ln>
        </p:spPr>
        <p:txBody>
          <a:bodyPr anchor="b" anchorCtr="0"/>
          <a:p>
            <a:pPr lvl="0" algn="r"/>
            <a:fld id="{9A0DB2DC-4C9A-4742-B13C-FB6460FD3503}" type="slidenum">
              <a:rPr lang="en-US" altLang="en-US" sz="1200" b="0" i="0" u="none" dirty="0"/>
            </a:fld>
            <a:endParaRPr lang="en-US" altLang="en-US" sz="1200" b="0" i="0" u="none"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7"/>
          <p:cNvSpPr txBox="1">
            <a:spLocks noGrp="1"/>
          </p:cNvSpPr>
          <p:nvPr>
            <p:ph type="sldNum" sz="quarter"/>
          </p:nvPr>
        </p:nvSpPr>
        <p:spPr>
          <a:xfrm>
            <a:off x="3779838" y="9429750"/>
            <a:ext cx="2889250" cy="496888"/>
          </a:xfrm>
          <a:prstGeom prst="rect">
            <a:avLst/>
          </a:prstGeom>
          <a:noFill/>
          <a:ln w="9525">
            <a:noFill/>
          </a:ln>
        </p:spPr>
        <p:txBody>
          <a:bodyPr anchor="b" anchorCtr="0"/>
          <a:p>
            <a:pPr lvl="0" algn="r"/>
            <a:fld id="{9A0DB2DC-4C9A-4742-B13C-FB6460FD3503}" type="slidenum">
              <a:rPr lang="en-US" altLang="en-US" sz="1200" b="0" i="0" u="none" dirty="0"/>
            </a:fld>
            <a:endParaRPr lang="en-US" altLang="en-US" sz="1200" b="0" i="0" u="none" dirty="0"/>
          </a:p>
        </p:txBody>
      </p:sp>
      <p:sp>
        <p:nvSpPr>
          <p:cNvPr id="36867" name="Rectangle 2"/>
          <p:cNvSpPr>
            <a:spLocks noGrp="1" noRot="1" noChangeAspect="1" noTextEdit="1"/>
          </p:cNvSpPr>
          <p:nvPr>
            <p:ph type="sldImg"/>
          </p:nvPr>
        </p:nvSpPr>
        <p:spPr>
          <a:xfrm>
            <a:off x="847725" y="762000"/>
            <a:ext cx="4975225" cy="3730625"/>
          </a:xfrm>
        </p:spPr>
      </p:sp>
      <p:sp>
        <p:nvSpPr>
          <p:cNvPr id="36868" name="Rectangle 3"/>
          <p:cNvSpPr>
            <a:spLocks noGrp="1"/>
          </p:cNvSpPr>
          <p:nvPr>
            <p:ph type="body"/>
          </p:nvPr>
        </p:nvSpPr>
        <p:spPr>
          <a:xfrm>
            <a:off x="889000" y="4746625"/>
            <a:ext cx="4891088" cy="4408488"/>
          </a:xfrm>
        </p:spPr>
        <p:txBody>
          <a:bodyPr wrap="square" lIns="91440" tIns="45720" rIns="91440" bIns="45720" anchor="t" anchorCtr="0"/>
          <a:p>
            <a:pPr lvl="0"/>
            <a:r>
              <a:rPr lang="en-US" altLang="zh-CN" dirty="0"/>
              <a:t>Need number theory for this example.  At least, need the definitions of factorial </a:t>
            </a:r>
            <a:r>
              <a:rPr lang="en-US" altLang="zh-CN" dirty="0">
                <a:latin typeface="Times New Roman" panose="02020503050405090304" pitchFamily="18" charset="0"/>
              </a:rPr>
              <a:t>“</a:t>
            </a:r>
            <a:r>
              <a:rPr lang="en-US" altLang="zh-CN" dirty="0"/>
              <a:t>!</a:t>
            </a:r>
            <a:r>
              <a:rPr lang="en-US" altLang="zh-CN" dirty="0">
                <a:latin typeface="Times New Roman" panose="02020503050405090304" pitchFamily="18" charset="0"/>
              </a:rPr>
              <a:t>”</a:t>
            </a:r>
            <a:r>
              <a:rPr lang="en-US" altLang="zh-CN" dirty="0"/>
              <a:t>, and divides notation </a:t>
            </a:r>
            <a:r>
              <a:rPr lang="en-US" altLang="zh-CN" dirty="0">
                <a:latin typeface="Times New Roman" panose="02020503050405090304" pitchFamily="18" charset="0"/>
              </a:rPr>
              <a:t>“</a:t>
            </a:r>
            <a:r>
              <a:rPr lang="en-US" altLang="zh-CN" dirty="0"/>
              <a:t>|</a:t>
            </a:r>
            <a:r>
              <a:rPr lang="en-US" altLang="zh-CN" dirty="0">
                <a:latin typeface="Times New Roman" panose="02020503050405090304" pitchFamily="18" charset="0"/>
              </a:rPr>
              <a:t>”</a:t>
            </a:r>
            <a:r>
              <a:rPr lang="en-US" altLang="zh-CN" dirty="0"/>
              <a:t>.</a:t>
            </a:r>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幻灯片图像占位符 1"/>
          <p:cNvSpPr>
            <a:spLocks noGrp="1" noRot="1" noChangeAspect="1" noTextEdit="1"/>
          </p:cNvSpPr>
          <p:nvPr>
            <p:ph type="sldImg"/>
          </p:nvPr>
        </p:nvSpPr>
        <p:spPr/>
      </p:sp>
      <p:sp>
        <p:nvSpPr>
          <p:cNvPr id="43011" name="备注占位符 2"/>
          <p:cNvSpPr>
            <a:spLocks noGrp="1"/>
          </p:cNvSpPr>
          <p:nvPr>
            <p:ph type="body"/>
          </p:nvPr>
        </p:nvSpPr>
        <p:spPr/>
        <p:txBody>
          <a:bodyPr wrap="square" lIns="91440" tIns="45720" rIns="91440" bIns="45720" anchor="t" anchorCtr="0"/>
          <a:p>
            <a:pPr lvl="0"/>
            <a:endParaRPr lang="zh-CN" altLang="en-US" dirty="0"/>
          </a:p>
        </p:txBody>
      </p:sp>
      <p:sp>
        <p:nvSpPr>
          <p:cNvPr id="43012" name="灯片编号占位符 3"/>
          <p:cNvSpPr txBox="1">
            <a:spLocks noGrp="1"/>
          </p:cNvSpPr>
          <p:nvPr>
            <p:ph type="sldNum" sz="quarter"/>
          </p:nvPr>
        </p:nvSpPr>
        <p:spPr>
          <a:xfrm>
            <a:off x="3779838" y="9429750"/>
            <a:ext cx="2889250" cy="496888"/>
          </a:xfrm>
          <a:prstGeom prst="rect">
            <a:avLst/>
          </a:prstGeom>
          <a:noFill/>
          <a:ln w="9525">
            <a:noFill/>
          </a:ln>
        </p:spPr>
        <p:txBody>
          <a:bodyPr anchor="b" anchorCtr="0"/>
          <a:p>
            <a:pPr lvl="0" algn="r"/>
            <a:fld id="{9A0DB2DC-4C9A-4742-B13C-FB6460FD3503}" type="slidenum">
              <a:rPr lang="en-US" altLang="en-US" sz="1200" b="0" i="0" u="none" dirty="0"/>
            </a:fld>
            <a:endParaRPr lang="en-US" altLang="en-US" sz="1200" b="0" i="0" u="none"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7"/>
          <p:cNvSpPr txBox="1">
            <a:spLocks noGrp="1"/>
          </p:cNvSpPr>
          <p:nvPr>
            <p:ph type="sldNum" sz="quarter"/>
          </p:nvPr>
        </p:nvSpPr>
        <p:spPr>
          <a:xfrm>
            <a:off x="3779838" y="9429750"/>
            <a:ext cx="2889250" cy="496888"/>
          </a:xfrm>
          <a:prstGeom prst="rect">
            <a:avLst/>
          </a:prstGeom>
          <a:noFill/>
          <a:ln w="9525">
            <a:noFill/>
          </a:ln>
        </p:spPr>
        <p:txBody>
          <a:bodyPr anchor="b" anchorCtr="0"/>
          <a:p>
            <a:pPr lvl="0" algn="r"/>
            <a:fld id="{9A0DB2DC-4C9A-4742-B13C-FB6460FD3503}" type="slidenum">
              <a:rPr lang="en-US" altLang="en-US" sz="1200" b="0" i="0" u="none" dirty="0"/>
            </a:fld>
            <a:endParaRPr lang="en-US" altLang="en-US" sz="1200" b="0" i="0" u="none" dirty="0"/>
          </a:p>
        </p:txBody>
      </p:sp>
      <p:sp>
        <p:nvSpPr>
          <p:cNvPr id="61443" name="Rectangle 2"/>
          <p:cNvSpPr>
            <a:spLocks noGrp="1" noRot="1" noChangeAspect="1" noTextEdit="1"/>
          </p:cNvSpPr>
          <p:nvPr>
            <p:ph type="sldImg"/>
          </p:nvPr>
        </p:nvSpPr>
        <p:spPr>
          <a:xfrm>
            <a:off x="849313" y="762000"/>
            <a:ext cx="4973637" cy="3730625"/>
          </a:xfrm>
        </p:spPr>
      </p:sp>
      <p:sp>
        <p:nvSpPr>
          <p:cNvPr id="61444" name="Rectangle 3"/>
          <p:cNvSpPr>
            <a:spLocks noGrp="1"/>
          </p:cNvSpPr>
          <p:nvPr>
            <p:ph type="body"/>
          </p:nvPr>
        </p:nvSpPr>
        <p:spPr>
          <a:xfrm>
            <a:off x="889000" y="4746625"/>
            <a:ext cx="4891088" cy="4406900"/>
          </a:xfrm>
        </p:spPr>
        <p:txBody>
          <a:bodyPr wrap="square" lIns="91440" tIns="45720" rIns="91440" bIns="45720" anchor="t" anchorCtr="0"/>
          <a:p>
            <a:pPr lvl="0"/>
            <a:r>
              <a:rPr lang="en-US" altLang="zh-CN" dirty="0"/>
              <a:t>The given statement is implicitly universal: FORALL integers n, n is even if n-squared is even.</a:t>
            </a:r>
            <a:endParaRPr lang="en-US" altLang="zh-CN" dirty="0"/>
          </a:p>
          <a:p>
            <a:pPr lvl="0"/>
            <a:r>
              <a:rPr lang="en-US" altLang="zh-CN" dirty="0"/>
              <a:t>Note that although the statement we are trying to prove is true, our proof of it is invalid.  It does not give a clear, valid path to the conclusion.  </a:t>
            </a:r>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779838" y="9429750"/>
            <a:ext cx="2889250" cy="496888"/>
          </a:xfrm>
          <a:prstGeom prst="rect">
            <a:avLst/>
          </a:prstGeom>
          <a:noFill/>
          <a:ln w="9525">
            <a:noFill/>
          </a:ln>
        </p:spPr>
        <p:txBody>
          <a:bodyPr anchor="b" anchorCtr="0"/>
          <a:p>
            <a:pPr lvl="0" algn="r"/>
            <a:fld id="{9A0DB2DC-4C9A-4742-B13C-FB6460FD3503}" type="slidenum">
              <a:rPr lang="en-US" altLang="en-US" sz="1200" b="0" i="0" u="none" dirty="0"/>
            </a:fld>
            <a:endParaRPr lang="en-US" altLang="en-US" sz="1200" b="0" i="0" u="none" dirty="0"/>
          </a:p>
        </p:txBody>
      </p:sp>
      <p:sp>
        <p:nvSpPr>
          <p:cNvPr id="64515" name="Rectangle 2"/>
          <p:cNvSpPr>
            <a:spLocks noGrp="1" noRot="1" noChangeAspect="1" noTextEdit="1"/>
          </p:cNvSpPr>
          <p:nvPr>
            <p:ph type="sldImg"/>
          </p:nvPr>
        </p:nvSpPr>
        <p:spPr>
          <a:xfrm>
            <a:off x="849313" y="762000"/>
            <a:ext cx="4973637" cy="3730625"/>
          </a:xfrm>
        </p:spPr>
      </p:sp>
      <p:sp>
        <p:nvSpPr>
          <p:cNvPr id="64516" name="Rectangle 3"/>
          <p:cNvSpPr>
            <a:spLocks noGrp="1"/>
          </p:cNvSpPr>
          <p:nvPr>
            <p:ph type="body"/>
          </p:nvPr>
        </p:nvSpPr>
        <p:spPr>
          <a:xfrm>
            <a:off x="889000" y="4746625"/>
            <a:ext cx="4891088" cy="4406900"/>
          </a:xfrm>
        </p:spPr>
        <p:txBody>
          <a:bodyPr wrap="square" lIns="91440" tIns="45720" rIns="91440" bIns="45720" anchor="t" anchorCtr="0"/>
          <a:p>
            <a:pPr lvl="0"/>
            <a:r>
              <a:rPr lang="en-US" altLang="zh-CN" dirty="0"/>
              <a:t>This is a relatively involved example and it should perhaps be saved until after some easier ones have already been done.  We also need number theory first for this example.  The vertical bar </a:t>
            </a:r>
            <a:r>
              <a:rPr lang="en-US" altLang="zh-CN" dirty="0">
                <a:latin typeface="Times New Roman" panose="02020503050405090304" pitchFamily="18" charset="0"/>
              </a:rPr>
              <a:t>“</a:t>
            </a:r>
            <a:r>
              <a:rPr lang="en-US" altLang="zh-CN" dirty="0"/>
              <a:t>|</a:t>
            </a:r>
            <a:r>
              <a:rPr lang="en-US" altLang="zh-CN" dirty="0">
                <a:latin typeface="Times New Roman" panose="02020503050405090304" pitchFamily="18" charset="0"/>
              </a:rPr>
              <a:t>”</a:t>
            </a:r>
            <a:r>
              <a:rPr lang="en-US" altLang="zh-CN" dirty="0"/>
              <a:t> means </a:t>
            </a:r>
            <a:r>
              <a:rPr lang="en-US" altLang="zh-CN" dirty="0">
                <a:latin typeface="Times New Roman" panose="02020503050405090304" pitchFamily="18" charset="0"/>
              </a:rPr>
              <a:t>“</a:t>
            </a:r>
            <a:r>
              <a:rPr lang="en-US" altLang="zh-CN" dirty="0"/>
              <a:t>divides (evenly).</a:t>
            </a:r>
            <a:r>
              <a:rPr lang="en-US" altLang="zh-CN" dirty="0">
                <a:latin typeface="Times New Roman" panose="02020503050405090304" pitchFamily="18" charset="0"/>
              </a:rPr>
              <a:t>”</a:t>
            </a:r>
            <a:r>
              <a:rPr lang="en-US" altLang="zh-CN" dirty="0"/>
              <a:t>  mod refers to the remainder of a division.  Later in the class we will encounter the theorem mentioned (first red-highlighted statement).  The triple horizontal lines mean between two numbers means those numbers are </a:t>
            </a:r>
            <a:r>
              <a:rPr lang="en-US" altLang="zh-CN" dirty="0">
                <a:latin typeface="Times New Roman" panose="02020503050405090304" pitchFamily="18" charset="0"/>
              </a:rPr>
              <a:t>“</a:t>
            </a:r>
            <a:r>
              <a:rPr lang="en-US" altLang="zh-CN" dirty="0"/>
              <a:t>congruent</a:t>
            </a:r>
            <a:r>
              <a:rPr lang="en-US" altLang="zh-CN" dirty="0">
                <a:latin typeface="Times New Roman" panose="02020503050405090304" pitchFamily="18" charset="0"/>
              </a:rPr>
              <a:t>”</a:t>
            </a:r>
            <a:r>
              <a:rPr lang="en-US" altLang="zh-CN" dirty="0"/>
              <a:t> under the given modulus, that is, they give the same remainder when divided by the modulus.</a:t>
            </a:r>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p:nvPr>
        </p:nvSpPr>
        <p:spPr/>
        <p:txBody>
          <a:bodyPr wrap="square" lIns="91440" tIns="45720" rIns="91440" bIns="45720" anchor="t" anchorCtr="0"/>
          <a:p>
            <a:pPr lvl="0"/>
            <a:endParaRPr lang="zh-CN" altLang="en-US" dirty="0"/>
          </a:p>
        </p:txBody>
      </p:sp>
      <p:sp>
        <p:nvSpPr>
          <p:cNvPr id="74756" name="灯片编号占位符 3"/>
          <p:cNvSpPr txBox="1">
            <a:spLocks noGrp="1"/>
          </p:cNvSpPr>
          <p:nvPr>
            <p:ph type="sldNum" sz="quarter"/>
          </p:nvPr>
        </p:nvSpPr>
        <p:spPr>
          <a:xfrm>
            <a:off x="3779838" y="9429750"/>
            <a:ext cx="2889250" cy="496888"/>
          </a:xfrm>
          <a:prstGeom prst="rect">
            <a:avLst/>
          </a:prstGeom>
          <a:noFill/>
          <a:ln w="9525">
            <a:noFill/>
          </a:ln>
        </p:spPr>
        <p:txBody>
          <a:bodyPr anchor="b" anchorCtr="0"/>
          <a:p>
            <a:pPr lvl="0" algn="r"/>
            <a:fld id="{9A0DB2DC-4C9A-4742-B13C-FB6460FD3503}" type="slidenum">
              <a:rPr lang="en-US" altLang="en-US" sz="1200" b="0" i="0" u="none" dirty="0"/>
            </a:fld>
            <a:endParaRPr lang="en-US" altLang="en-US" sz="1200" b="0" i="0" u="none"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幻灯片图像占位符 1"/>
          <p:cNvSpPr>
            <a:spLocks noGrp="1" noRot="1" noChangeAspect="1" noTextEdit="1"/>
          </p:cNvSpPr>
          <p:nvPr>
            <p:ph type="sldImg"/>
          </p:nvPr>
        </p:nvSpPr>
        <p:spPr/>
      </p:sp>
      <p:sp>
        <p:nvSpPr>
          <p:cNvPr id="77827" name="备注占位符 2"/>
          <p:cNvSpPr>
            <a:spLocks noGrp="1"/>
          </p:cNvSpPr>
          <p:nvPr>
            <p:ph type="body"/>
          </p:nvPr>
        </p:nvSpPr>
        <p:spPr/>
        <p:txBody>
          <a:bodyPr wrap="square" lIns="91440" tIns="45720" rIns="91440" bIns="45720" anchor="t" anchorCtr="0"/>
          <a:p>
            <a:pPr lvl="0"/>
            <a:r>
              <a:rPr lang="en-US" altLang="zh-CN" dirty="0"/>
              <a:t>Hence if N were a product of primes all of which had the form 4k +1, then</a:t>
            </a:r>
            <a:endParaRPr lang="en-US" altLang="zh-CN" dirty="0"/>
          </a:p>
          <a:p>
            <a:pPr lvl="0"/>
            <a:endParaRPr lang="en-US" altLang="zh-CN" dirty="0"/>
          </a:p>
          <a:p>
            <a:pPr lvl="0"/>
            <a:r>
              <a:rPr lang="en-US" altLang="zh-CN" dirty="0"/>
              <a:t>Proof: Suppose that p1, p2, . . . , pn are all the primes of the form 4k + 3.</a:t>
            </a:r>
            <a:endParaRPr lang="en-US" altLang="zh-CN" dirty="0"/>
          </a:p>
          <a:p>
            <a:pPr lvl="0"/>
            <a:r>
              <a:rPr lang="en-US" altLang="zh-CN" dirty="0"/>
              <a:t>Consider</a:t>
            </a:r>
            <a:endParaRPr lang="en-US" altLang="zh-CN" dirty="0"/>
          </a:p>
          <a:p>
            <a:pPr lvl="0"/>
            <a:r>
              <a:rPr lang="en-US" altLang="zh-CN" dirty="0"/>
              <a:t>N = 4p1p2 . . . pn − 1 = 4(p1p2 . . . pn − 1) + 3.</a:t>
            </a:r>
            <a:endParaRPr lang="en-US" altLang="zh-CN" dirty="0"/>
          </a:p>
          <a:p>
            <a:pPr lvl="0"/>
            <a:r>
              <a:rPr lang="en-US" altLang="zh-CN" dirty="0"/>
              <a:t>Then N is a product of prime numbers, all of which must be odd. Note that</a:t>
            </a:r>
            <a:endParaRPr lang="en-US" altLang="zh-CN" dirty="0"/>
          </a:p>
          <a:p>
            <a:pPr lvl="0"/>
            <a:r>
              <a:rPr lang="en-US" altLang="zh-CN" dirty="0"/>
              <a:t>(4k + 1)(4l + 1) = 4kl + 4k + 4l + 1 = 4(kl + k + l) + 1.</a:t>
            </a:r>
            <a:endParaRPr lang="en-US" altLang="zh-CN" dirty="0"/>
          </a:p>
          <a:p>
            <a:pPr lvl="0"/>
            <a:r>
              <a:rPr lang="en-US" altLang="zh-CN" dirty="0"/>
              <a:t>N would also have this form. Therefore one of the prime divisors of N must</a:t>
            </a:r>
            <a:endParaRPr lang="en-US" altLang="zh-CN" dirty="0"/>
          </a:p>
          <a:p>
            <a:pPr lvl="0"/>
            <a:r>
              <a:rPr lang="en-US" altLang="zh-CN" dirty="0"/>
              <a:t>have the form 4k + 3, so is pi for some i. Then</a:t>
            </a:r>
            <a:endParaRPr lang="en-US" altLang="zh-CN" dirty="0"/>
          </a:p>
          <a:p>
            <a:pPr lvl="0"/>
            <a:r>
              <a:rPr lang="en-US" altLang="zh-CN" dirty="0"/>
              <a:t>pi | (4p1p2 . . . pn − N) = 1,</a:t>
            </a:r>
            <a:endParaRPr lang="en-US" altLang="zh-CN" dirty="0"/>
          </a:p>
          <a:p>
            <a:pPr lvl="0"/>
            <a:r>
              <a:rPr lang="en-US" altLang="zh-CN" dirty="0"/>
              <a:t>a contradiction. This completes the proof.</a:t>
            </a:r>
            <a:endParaRPr lang="en-US" altLang="zh-CN" dirty="0"/>
          </a:p>
          <a:p>
            <a:pPr lvl="0"/>
            <a:endParaRPr lang="zh-CN" altLang="en-US" dirty="0"/>
          </a:p>
        </p:txBody>
      </p:sp>
      <p:sp>
        <p:nvSpPr>
          <p:cNvPr id="77828" name="灯片编号占位符 3"/>
          <p:cNvSpPr txBox="1">
            <a:spLocks noGrp="1"/>
          </p:cNvSpPr>
          <p:nvPr>
            <p:ph type="sldNum" sz="quarter"/>
          </p:nvPr>
        </p:nvSpPr>
        <p:spPr>
          <a:xfrm>
            <a:off x="3779838" y="9429750"/>
            <a:ext cx="2889250" cy="496888"/>
          </a:xfrm>
          <a:prstGeom prst="rect">
            <a:avLst/>
          </a:prstGeom>
          <a:noFill/>
          <a:ln w="9525">
            <a:noFill/>
          </a:ln>
        </p:spPr>
        <p:txBody>
          <a:bodyPr anchor="b" anchorCtr="0"/>
          <a:p>
            <a:pPr lvl="0" algn="r"/>
            <a:fld id="{9A0DB2DC-4C9A-4742-B13C-FB6460FD3503}" type="slidenum">
              <a:rPr lang="en-US" altLang="en-US" sz="1200" b="0" i="0" u="none" dirty="0"/>
            </a:fld>
            <a:endParaRPr lang="en-US" altLang="en-US" sz="1200" b="0" i="0" u="none"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050" name="Picture 17" descr="attach"/>
          <p:cNvPicPr>
            <a:picLocks noChangeAspect="1"/>
          </p:cNvPicPr>
          <p:nvPr userDrawn="1"/>
        </p:nvPicPr>
        <p:blipFill>
          <a:blip r:embed="rId2"/>
          <a:stretch>
            <a:fillRect/>
          </a:stretch>
        </p:blipFill>
        <p:spPr>
          <a:xfrm>
            <a:off x="1752600" y="533400"/>
            <a:ext cx="5905500" cy="5905500"/>
          </a:xfrm>
          <a:prstGeom prst="rect">
            <a:avLst/>
          </a:prstGeom>
          <a:noFill/>
          <a:ln w="9525">
            <a:noFill/>
          </a:ln>
        </p:spPr>
      </p:pic>
      <p:grpSp>
        <p:nvGrpSpPr>
          <p:cNvPr id="2051" name="Group 2"/>
          <p:cNvGrpSpPr/>
          <p:nvPr/>
        </p:nvGrpSpPr>
        <p:grpSpPr>
          <a:xfrm>
            <a:off x="0" y="2438400"/>
            <a:ext cx="9009063" cy="1052513"/>
            <a:chOff x="0" y="1536"/>
            <a:chExt cx="5675" cy="663"/>
          </a:xfrm>
        </p:grpSpPr>
        <p:grpSp>
          <p:nvGrpSpPr>
            <p:cNvPr id="2058" name="Group 3"/>
            <p:cNvGrpSpPr/>
            <p:nvPr/>
          </p:nvGrpSpPr>
          <p:grpSpPr>
            <a:xfrm>
              <a:off x="185" y="1604"/>
              <a:ext cx="449" cy="299"/>
              <a:chOff x="720" y="336"/>
              <a:chExt cx="624" cy="432"/>
            </a:xfrm>
          </p:grpSpPr>
          <p:sp>
            <p:nvSpPr>
              <p:cNvPr id="24"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i="1" u="sng">
                    <a:solidFill>
                      <a:schemeClr val="tx1"/>
                    </a:solidFill>
                    <a:latin typeface="Times New Roman" panose="02020503050405090304" pitchFamily="18" charset="0"/>
                    <a:ea typeface="宋体" pitchFamily="2" charset="-122"/>
                  </a:defRPr>
                </a:lvl1pPr>
                <a:lvl2pPr marL="742950" indent="-285750">
                  <a:defRPr sz="2400" b="1" i="1" u="sng">
                    <a:solidFill>
                      <a:schemeClr val="tx1"/>
                    </a:solidFill>
                    <a:latin typeface="Times New Roman" panose="02020503050405090304" pitchFamily="18" charset="0"/>
                    <a:ea typeface="宋体" pitchFamily="2" charset="-122"/>
                  </a:defRPr>
                </a:lvl2pPr>
                <a:lvl3pPr marL="1143000" indent="-228600">
                  <a:defRPr sz="2400" b="1" i="1" u="sng">
                    <a:solidFill>
                      <a:schemeClr val="tx1"/>
                    </a:solidFill>
                    <a:latin typeface="Times New Roman" panose="02020503050405090304" pitchFamily="18" charset="0"/>
                    <a:ea typeface="宋体" pitchFamily="2" charset="-122"/>
                  </a:defRPr>
                </a:lvl3pPr>
                <a:lvl4pPr marL="1600200" indent="-228600">
                  <a:defRPr sz="2400" b="1" i="1" u="sng">
                    <a:solidFill>
                      <a:schemeClr val="tx1"/>
                    </a:solidFill>
                    <a:latin typeface="Times New Roman" panose="02020503050405090304" pitchFamily="18" charset="0"/>
                    <a:ea typeface="宋体" pitchFamily="2" charset="-122"/>
                  </a:defRPr>
                </a:lvl4pPr>
                <a:lvl5pPr marL="2057400" indent="-228600">
                  <a:defRPr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1" i="1" u="sng"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5"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i="1" u="sng">
                    <a:solidFill>
                      <a:schemeClr val="tx1"/>
                    </a:solidFill>
                    <a:latin typeface="Times New Roman" panose="02020503050405090304" pitchFamily="18" charset="0"/>
                    <a:ea typeface="宋体" pitchFamily="2" charset="-122"/>
                  </a:defRPr>
                </a:lvl1pPr>
                <a:lvl2pPr marL="742950" indent="-285750">
                  <a:defRPr sz="2400" b="1" i="1" u="sng">
                    <a:solidFill>
                      <a:schemeClr val="tx1"/>
                    </a:solidFill>
                    <a:latin typeface="Times New Roman" panose="02020503050405090304" pitchFamily="18" charset="0"/>
                    <a:ea typeface="宋体" pitchFamily="2" charset="-122"/>
                  </a:defRPr>
                </a:lvl2pPr>
                <a:lvl3pPr marL="1143000" indent="-228600">
                  <a:defRPr sz="2400" b="1" i="1" u="sng">
                    <a:solidFill>
                      <a:schemeClr val="tx1"/>
                    </a:solidFill>
                    <a:latin typeface="Times New Roman" panose="02020503050405090304" pitchFamily="18" charset="0"/>
                    <a:ea typeface="宋体" pitchFamily="2" charset="-122"/>
                  </a:defRPr>
                </a:lvl3pPr>
                <a:lvl4pPr marL="1600200" indent="-228600">
                  <a:defRPr sz="2400" b="1" i="1" u="sng">
                    <a:solidFill>
                      <a:schemeClr val="tx1"/>
                    </a:solidFill>
                    <a:latin typeface="Times New Roman" panose="02020503050405090304" pitchFamily="18" charset="0"/>
                    <a:ea typeface="宋体" pitchFamily="2" charset="-122"/>
                  </a:defRPr>
                </a:lvl4pPr>
                <a:lvl5pPr marL="2057400" indent="-228600">
                  <a:defRPr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1" i="1" u="sng"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grpSp>
        <p:grpSp>
          <p:nvGrpSpPr>
            <p:cNvPr id="2059" name="Group 6"/>
            <p:cNvGrpSpPr/>
            <p:nvPr/>
          </p:nvGrpSpPr>
          <p:grpSpPr>
            <a:xfrm>
              <a:off x="263" y="1870"/>
              <a:ext cx="466" cy="299"/>
              <a:chOff x="912" y="2640"/>
              <a:chExt cx="672" cy="432"/>
            </a:xfrm>
          </p:grpSpPr>
          <p:sp>
            <p:nvSpPr>
              <p:cNvPr id="22"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i="1" u="sng">
                    <a:solidFill>
                      <a:schemeClr val="tx1"/>
                    </a:solidFill>
                    <a:latin typeface="Times New Roman" panose="02020503050405090304" pitchFamily="18" charset="0"/>
                    <a:ea typeface="宋体" pitchFamily="2" charset="-122"/>
                  </a:defRPr>
                </a:lvl1pPr>
                <a:lvl2pPr marL="742950" indent="-285750">
                  <a:defRPr sz="2400" b="1" i="1" u="sng">
                    <a:solidFill>
                      <a:schemeClr val="tx1"/>
                    </a:solidFill>
                    <a:latin typeface="Times New Roman" panose="02020503050405090304" pitchFamily="18" charset="0"/>
                    <a:ea typeface="宋体" pitchFamily="2" charset="-122"/>
                  </a:defRPr>
                </a:lvl2pPr>
                <a:lvl3pPr marL="1143000" indent="-228600">
                  <a:defRPr sz="2400" b="1" i="1" u="sng">
                    <a:solidFill>
                      <a:schemeClr val="tx1"/>
                    </a:solidFill>
                    <a:latin typeface="Times New Roman" panose="02020503050405090304" pitchFamily="18" charset="0"/>
                    <a:ea typeface="宋体" pitchFamily="2" charset="-122"/>
                  </a:defRPr>
                </a:lvl3pPr>
                <a:lvl4pPr marL="1600200" indent="-228600">
                  <a:defRPr sz="2400" b="1" i="1" u="sng">
                    <a:solidFill>
                      <a:schemeClr val="tx1"/>
                    </a:solidFill>
                    <a:latin typeface="Times New Roman" panose="02020503050405090304" pitchFamily="18" charset="0"/>
                    <a:ea typeface="宋体" pitchFamily="2" charset="-122"/>
                  </a:defRPr>
                </a:lvl4pPr>
                <a:lvl5pPr marL="2057400" indent="-228600">
                  <a:defRPr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1" i="1" u="sng"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3"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i="1" u="sng">
                    <a:solidFill>
                      <a:schemeClr val="tx1"/>
                    </a:solidFill>
                    <a:latin typeface="Times New Roman" panose="02020503050405090304" pitchFamily="18" charset="0"/>
                    <a:ea typeface="宋体" pitchFamily="2" charset="-122"/>
                  </a:defRPr>
                </a:lvl1pPr>
                <a:lvl2pPr marL="742950" indent="-285750">
                  <a:defRPr sz="2400" b="1" i="1" u="sng">
                    <a:solidFill>
                      <a:schemeClr val="tx1"/>
                    </a:solidFill>
                    <a:latin typeface="Times New Roman" panose="02020503050405090304" pitchFamily="18" charset="0"/>
                    <a:ea typeface="宋体" pitchFamily="2" charset="-122"/>
                  </a:defRPr>
                </a:lvl2pPr>
                <a:lvl3pPr marL="1143000" indent="-228600">
                  <a:defRPr sz="2400" b="1" i="1" u="sng">
                    <a:solidFill>
                      <a:schemeClr val="tx1"/>
                    </a:solidFill>
                    <a:latin typeface="Times New Roman" panose="02020503050405090304" pitchFamily="18" charset="0"/>
                    <a:ea typeface="宋体" pitchFamily="2" charset="-122"/>
                  </a:defRPr>
                </a:lvl3pPr>
                <a:lvl4pPr marL="1600200" indent="-228600">
                  <a:defRPr sz="2400" b="1" i="1" u="sng">
                    <a:solidFill>
                      <a:schemeClr val="tx1"/>
                    </a:solidFill>
                    <a:latin typeface="Times New Roman" panose="02020503050405090304" pitchFamily="18" charset="0"/>
                    <a:ea typeface="宋体" pitchFamily="2" charset="-122"/>
                  </a:defRPr>
                </a:lvl4pPr>
                <a:lvl5pPr marL="2057400" indent="-228600">
                  <a:defRPr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1" i="1" u="sng"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grpSp>
        <p:sp>
          <p:nvSpPr>
            <p:cNvPr id="19"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i="1" u="sng">
                  <a:solidFill>
                    <a:schemeClr val="tx1"/>
                  </a:solidFill>
                  <a:latin typeface="Times New Roman" panose="02020503050405090304" pitchFamily="18" charset="0"/>
                  <a:ea typeface="宋体" pitchFamily="2" charset="-122"/>
                </a:defRPr>
              </a:lvl1pPr>
              <a:lvl2pPr marL="742950" indent="-285750">
                <a:defRPr sz="2400" b="1" i="1" u="sng">
                  <a:solidFill>
                    <a:schemeClr val="tx1"/>
                  </a:solidFill>
                  <a:latin typeface="Times New Roman" panose="02020503050405090304" pitchFamily="18" charset="0"/>
                  <a:ea typeface="宋体" pitchFamily="2" charset="-122"/>
                </a:defRPr>
              </a:lvl2pPr>
              <a:lvl3pPr marL="1143000" indent="-228600">
                <a:defRPr sz="2400" b="1" i="1" u="sng">
                  <a:solidFill>
                    <a:schemeClr val="tx1"/>
                  </a:solidFill>
                  <a:latin typeface="Times New Roman" panose="02020503050405090304" pitchFamily="18" charset="0"/>
                  <a:ea typeface="宋体" pitchFamily="2" charset="-122"/>
                </a:defRPr>
              </a:lvl3pPr>
              <a:lvl4pPr marL="1600200" indent="-228600">
                <a:defRPr sz="2400" b="1" i="1" u="sng">
                  <a:solidFill>
                    <a:schemeClr val="tx1"/>
                  </a:solidFill>
                  <a:latin typeface="Times New Roman" panose="02020503050405090304" pitchFamily="18" charset="0"/>
                  <a:ea typeface="宋体" pitchFamily="2" charset="-122"/>
                </a:defRPr>
              </a:lvl4pPr>
              <a:lvl5pPr marL="2057400" indent="-228600">
                <a:defRPr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1" i="1" u="sng"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0"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i="1" u="sng">
                  <a:solidFill>
                    <a:schemeClr val="tx1"/>
                  </a:solidFill>
                  <a:latin typeface="Times New Roman" panose="02020503050405090304" pitchFamily="18" charset="0"/>
                  <a:ea typeface="宋体" pitchFamily="2" charset="-122"/>
                </a:defRPr>
              </a:lvl1pPr>
              <a:lvl2pPr marL="742950" indent="-285750">
                <a:defRPr sz="2400" b="1" i="1" u="sng">
                  <a:solidFill>
                    <a:schemeClr val="tx1"/>
                  </a:solidFill>
                  <a:latin typeface="Times New Roman" panose="02020503050405090304" pitchFamily="18" charset="0"/>
                  <a:ea typeface="宋体" pitchFamily="2" charset="-122"/>
                </a:defRPr>
              </a:lvl2pPr>
              <a:lvl3pPr marL="1143000" indent="-228600">
                <a:defRPr sz="2400" b="1" i="1" u="sng">
                  <a:solidFill>
                    <a:schemeClr val="tx1"/>
                  </a:solidFill>
                  <a:latin typeface="Times New Roman" panose="02020503050405090304" pitchFamily="18" charset="0"/>
                  <a:ea typeface="宋体" pitchFamily="2" charset="-122"/>
                </a:defRPr>
              </a:lvl3pPr>
              <a:lvl4pPr marL="1600200" indent="-228600">
                <a:defRPr sz="2400" b="1" i="1" u="sng">
                  <a:solidFill>
                    <a:schemeClr val="tx1"/>
                  </a:solidFill>
                  <a:latin typeface="Times New Roman" panose="02020503050405090304" pitchFamily="18" charset="0"/>
                  <a:ea typeface="宋体" pitchFamily="2" charset="-122"/>
                </a:defRPr>
              </a:lvl4pPr>
              <a:lvl5pPr marL="2057400" indent="-228600">
                <a:defRPr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1" i="1" u="sng"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1"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i="1" u="sng">
                  <a:solidFill>
                    <a:schemeClr val="tx1"/>
                  </a:solidFill>
                  <a:latin typeface="Times New Roman" panose="02020503050405090304" pitchFamily="18" charset="0"/>
                  <a:ea typeface="宋体" pitchFamily="2" charset="-122"/>
                </a:defRPr>
              </a:lvl1pPr>
              <a:lvl2pPr marL="742950" indent="-285750">
                <a:defRPr sz="2400" b="1" i="1" u="sng">
                  <a:solidFill>
                    <a:schemeClr val="tx1"/>
                  </a:solidFill>
                  <a:latin typeface="Times New Roman" panose="02020503050405090304" pitchFamily="18" charset="0"/>
                  <a:ea typeface="宋体" pitchFamily="2" charset="-122"/>
                </a:defRPr>
              </a:lvl2pPr>
              <a:lvl3pPr marL="1143000" indent="-228600">
                <a:defRPr sz="2400" b="1" i="1" u="sng">
                  <a:solidFill>
                    <a:schemeClr val="tx1"/>
                  </a:solidFill>
                  <a:latin typeface="Times New Roman" panose="02020503050405090304" pitchFamily="18" charset="0"/>
                  <a:ea typeface="宋体" pitchFamily="2" charset="-122"/>
                </a:defRPr>
              </a:lvl3pPr>
              <a:lvl4pPr marL="1600200" indent="-228600">
                <a:defRPr sz="2400" b="1" i="1" u="sng">
                  <a:solidFill>
                    <a:schemeClr val="tx1"/>
                  </a:solidFill>
                  <a:latin typeface="Times New Roman" panose="02020503050405090304" pitchFamily="18" charset="0"/>
                  <a:ea typeface="宋体" pitchFamily="2" charset="-122"/>
                </a:defRPr>
              </a:lvl4pPr>
              <a:lvl5pPr marL="2057400" indent="-228600">
                <a:defRPr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1" i="1" u="sng"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grpSp>
      <p:sp>
        <p:nvSpPr>
          <p:cNvPr id="26" name="Text Box 18"/>
          <p:cNvSpPr txBox="1">
            <a:spLocks noChangeArrowheads="1"/>
          </p:cNvSpPr>
          <p:nvPr/>
        </p:nvSpPr>
        <p:spPr bwMode="auto">
          <a:xfrm>
            <a:off x="2447925" y="4581525"/>
            <a:ext cx="5756275" cy="164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i="1" u="sng">
                <a:solidFill>
                  <a:schemeClr val="tx1"/>
                </a:solidFill>
                <a:latin typeface="Times New Roman" panose="02020503050405090304" pitchFamily="18" charset="0"/>
                <a:ea typeface="宋体" pitchFamily="2" charset="-122"/>
              </a:defRPr>
            </a:lvl1pPr>
            <a:lvl2pPr marL="742950" indent="-285750">
              <a:defRPr sz="2400" b="1" i="1" u="sng">
                <a:solidFill>
                  <a:schemeClr val="tx1"/>
                </a:solidFill>
                <a:latin typeface="Times New Roman" panose="02020503050405090304" pitchFamily="18" charset="0"/>
                <a:ea typeface="宋体" pitchFamily="2" charset="-122"/>
              </a:defRPr>
            </a:lvl2pPr>
            <a:lvl3pPr marL="1143000" indent="-228600">
              <a:defRPr sz="2400" b="1" i="1" u="sng">
                <a:solidFill>
                  <a:schemeClr val="tx1"/>
                </a:solidFill>
                <a:latin typeface="Times New Roman" panose="02020503050405090304" pitchFamily="18" charset="0"/>
                <a:ea typeface="宋体" pitchFamily="2" charset="-122"/>
              </a:defRPr>
            </a:lvl3pPr>
            <a:lvl4pPr marL="1600200" indent="-228600">
              <a:defRPr sz="2400" b="1" i="1" u="sng">
                <a:solidFill>
                  <a:schemeClr val="tx1"/>
                </a:solidFill>
                <a:latin typeface="Times New Roman" panose="02020503050405090304" pitchFamily="18" charset="0"/>
                <a:ea typeface="宋体" pitchFamily="2" charset="-122"/>
              </a:defRPr>
            </a:lvl4pPr>
            <a:lvl5pPr marL="2057400" indent="-228600">
              <a:defRPr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400" b="0" i="0" u="none" strike="noStrike" kern="1200" cap="none" spc="0" normalizeH="0" baseline="0" noProof="0">
                <a:ln>
                  <a:noFill/>
                </a:ln>
                <a:solidFill>
                  <a:schemeClr val="folHlink"/>
                </a:solidFill>
                <a:effectLst/>
                <a:uLnTx/>
                <a:uFillTx/>
                <a:latin typeface="Copperplate Gothic Light" panose="020E0507020206020404" pitchFamily="34" charset="0"/>
                <a:ea typeface="宋体" pitchFamily="2" charset="-122"/>
                <a:cs typeface="+mn-cs"/>
              </a:rPr>
              <a:t>Yang Juan</a:t>
            </a:r>
            <a:endParaRPr kumimoji="0" lang="en-US" altLang="zh-CN" sz="2400" b="0" i="0" u="none" strike="noStrike" kern="1200" cap="none" spc="0" normalizeH="0" baseline="0" noProof="0">
              <a:ln>
                <a:noFill/>
              </a:ln>
              <a:solidFill>
                <a:schemeClr val="folHlink"/>
              </a:solidFill>
              <a:effectLst/>
              <a:uLnTx/>
              <a:uFillTx/>
              <a:latin typeface="Copperplate Gothic Light" panose="020E0507020206020404" pitchFamily="34" charset="0"/>
              <a:ea typeface="宋体" pitchFamily="2" charset="-122"/>
              <a:cs typeface="+mn-cs"/>
            </a:endParaRPr>
          </a:p>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1600" b="0" i="0" u="none" strike="noStrike" kern="1200" cap="none" spc="0" normalizeH="0" baseline="0" noProof="0">
                <a:ln>
                  <a:noFill/>
                </a:ln>
                <a:solidFill>
                  <a:srgbClr val="009999"/>
                </a:solidFill>
                <a:effectLst/>
                <a:uLnTx/>
                <a:uFillTx/>
                <a:latin typeface="Times New Roman" panose="02020503050405090304" pitchFamily="18" charset="0"/>
                <a:ea typeface="宋体" pitchFamily="2" charset="-122"/>
                <a:cs typeface="+mn-cs"/>
              </a:rPr>
              <a:t>yangjuan@bupt.edu.cn</a:t>
            </a:r>
            <a:endParaRPr kumimoji="0" lang="en-US" altLang="zh-CN" sz="1600" b="0" i="0" u="none" strike="noStrike" kern="1200" cap="none" spc="0" normalizeH="0" baseline="0" noProof="0">
              <a:ln>
                <a:noFill/>
              </a:ln>
              <a:solidFill>
                <a:srgbClr val="009999"/>
              </a:solidFill>
              <a:effectLst/>
              <a:uLnTx/>
              <a:uFillTx/>
              <a:latin typeface="Times New Roman" panose="02020503050405090304" pitchFamily="18" charset="0"/>
              <a:ea typeface="宋体" pitchFamily="2" charset="-122"/>
              <a:cs typeface="+mn-cs"/>
            </a:endParaRPr>
          </a:p>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endParaRPr kumimoji="0" lang="en-US" altLang="zh-CN" sz="1600" b="0" i="0" u="none" strike="noStrike" kern="1200" cap="none" spc="0" normalizeH="0" baseline="0" noProof="0">
              <a:ln>
                <a:noFill/>
              </a:ln>
              <a:solidFill>
                <a:srgbClr val="009999"/>
              </a:solidFill>
              <a:effectLst/>
              <a:uLnTx/>
              <a:uFillTx/>
              <a:latin typeface="Tahoma" panose="020B0604030504040204" pitchFamily="34" charset="0"/>
              <a:ea typeface="宋体" pitchFamily="2" charset="-122"/>
              <a:cs typeface="+mn-cs"/>
            </a:endParaRPr>
          </a:p>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rPr>
              <a:t>School of Computer Science</a:t>
            </a:r>
            <a:endParaRPr kumimoji="0"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endParaRPr>
          </a:p>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rPr>
              <a:t>Beijing University of Posts &amp; Telecommunications</a:t>
            </a:r>
            <a:endParaRPr kumimoji="0" lang="zh-CN" altLang="en-US" sz="16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53612" name="Rectangle 12"/>
          <p:cNvSpPr>
            <a:spLocks noGrp="1" noChangeArrowheads="1"/>
          </p:cNvSpPr>
          <p:nvPr>
            <p:ph type="ctrTitle"/>
          </p:nvPr>
        </p:nvSpPr>
        <p:spPr>
          <a:xfrm>
            <a:off x="990600" y="1828800"/>
            <a:ext cx="7772400" cy="1143000"/>
          </a:xfrm>
        </p:spPr>
        <p:txBody>
          <a:bodyPr/>
          <a:lstStyle>
            <a:lvl1pPr>
              <a:defRPr>
                <a:latin typeface="Copperplate Gothic Bold" panose="020E0705020206020404" pitchFamily="34" charset="0"/>
              </a:defRPr>
            </a:lvl1pPr>
          </a:lstStyle>
          <a:p>
            <a:r>
              <a:rPr lang="zh-CN" altLang="en-US" noProof="1"/>
              <a:t>单击此处编辑母版标题样式</a:t>
            </a:r>
            <a:endParaRPr lang="zh-CN" altLang="en-US" noProof="1"/>
          </a:p>
        </p:txBody>
      </p:sp>
      <p:sp>
        <p:nvSpPr>
          <p:cNvPr id="153613"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endParaRPr lang="zh-CN" altLang="en-US" noProof="1"/>
          </a:p>
        </p:txBody>
      </p:sp>
      <p:sp>
        <p:nvSpPr>
          <p:cNvPr id="27" name="Rectangle 14"/>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sz="1400" b="0" i="0">
                <a:solidFill>
                  <a:schemeClr val="bg2"/>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CC083E53-2201-4753-A393-A3FB7BEE7C23}" type="datetime1">
              <a:rPr kumimoji="0" lang="zh-CN" altLang="en-US" sz="1400" b="0" i="0" u="none" strike="noStrike" kern="1200" cap="none" spc="0" normalizeH="0" baseline="0" noProof="1">
                <a:ln>
                  <a:noFill/>
                </a:ln>
                <a:solidFill>
                  <a:schemeClr val="bg2"/>
                </a:solidFill>
                <a:effectLst/>
                <a:uLnTx/>
                <a:uFillTx/>
                <a:latin typeface="+mn-lt"/>
                <a:ea typeface="宋体" pitchFamily="2" charset="-122"/>
                <a:cs typeface="+mn-cs"/>
              </a:rPr>
            </a:fld>
            <a:endParaRPr kumimoji="0" lang="en-US" altLang="zh-CN" sz="1400" b="0" i="0" u="none" strike="noStrike" kern="1200" cap="none" spc="0" normalizeH="0" baseline="0" noProof="1">
              <a:ln>
                <a:noFill/>
              </a:ln>
              <a:solidFill>
                <a:schemeClr val="bg2"/>
              </a:solidFill>
              <a:effectLst/>
              <a:uLnTx/>
              <a:uFillTx/>
              <a:latin typeface="+mn-lt"/>
              <a:ea typeface="宋体" pitchFamily="2" charset="-122"/>
              <a:cs typeface="+mn-cs"/>
            </a:endParaRPr>
          </a:p>
        </p:txBody>
      </p:sp>
      <p:sp>
        <p:nvSpPr>
          <p:cNvPr id="28" name="Rectangle 15"/>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lnSpc>
                <a:spcPct val="100000"/>
              </a:lnSpc>
              <a:defRPr kumimoji="0" sz="1400" b="0" i="0">
                <a:solidFill>
                  <a:schemeClr val="bg2"/>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1">
              <a:ln>
                <a:noFill/>
              </a:ln>
              <a:solidFill>
                <a:schemeClr val="bg2"/>
              </a:solidFill>
              <a:effectLst/>
              <a:uLnTx/>
              <a:uFillTx/>
              <a:latin typeface="+mn-lt"/>
              <a:ea typeface="宋体" pitchFamily="2" charset="-122"/>
              <a:cs typeface="+mn-cs"/>
            </a:endParaRPr>
          </a:p>
        </p:txBody>
      </p:sp>
      <p:sp>
        <p:nvSpPr>
          <p:cNvPr id="29"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lvl1pPr>
              <a:defRPr sz="1400" b="0" i="0">
                <a:solidFill>
                  <a:schemeClr val="bg2"/>
                </a:solidFill>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620813A-24BA-4C78-B5EE-BBF8F0F60022}" type="slidenum">
              <a:rPr kumimoji="0" lang="zh-CN" altLang="en-US" sz="1400" b="0" i="0" u="none" strike="noStrike" kern="1200" cap="none" spc="0" normalizeH="0" baseline="0" noProof="1">
                <a:ln>
                  <a:noFill/>
                </a:ln>
                <a:solidFill>
                  <a:schemeClr val="bg2"/>
                </a:solidFill>
                <a:effectLst/>
                <a:uLnTx/>
                <a:uFillTx/>
                <a:latin typeface="Tahoma" panose="020B0604030504040204" pitchFamily="34" charset="0"/>
                <a:ea typeface="宋体" pitchFamily="2" charset="-122"/>
                <a:cs typeface="+mn-cs"/>
              </a:rPr>
            </a:fld>
            <a:endParaRPr kumimoji="0" lang="en-US" altLang="zh-CN" sz="1400" b="0" i="0" u="none" strike="noStrike" kern="1200" cap="none" spc="0" normalizeH="0" baseline="0" noProof="1">
              <a:ln>
                <a:noFill/>
              </a:ln>
              <a:solidFill>
                <a:schemeClr val="bg2"/>
              </a:solidFill>
              <a:effectLst/>
              <a:uLnTx/>
              <a:uFillTx/>
              <a:latin typeface="Tahoma" panose="020B0604030504040204" pitchFamily="34" charset="0"/>
              <a:ea typeface="宋体"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F7766-2D2A-47AA-AE79-D91449614E7C}"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AF6B584-9858-42B9-8E3C-3DC4F786E248}"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F7766-2D2A-47AA-AE79-D91449614E7C}"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AF6B584-9858-42B9-8E3C-3DC4F786E248}"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F7766-2D2A-47AA-AE79-D91449614E7C}"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AF6B584-9858-42B9-8E3C-3DC4F786E248}"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F7766-2D2A-47AA-AE79-D91449614E7C}"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8" name="日期占位符 7"/>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AF6B584-9858-42B9-8E3C-3DC4F786E248}"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9" name="页脚占位符 8"/>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F7766-2D2A-47AA-AE79-D91449614E7C}"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4" name="日期占位符 3"/>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AF6B584-9858-42B9-8E3C-3DC4F786E248}"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5" name="页脚占位符 4"/>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F7766-2D2A-47AA-AE79-D91449614E7C}"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3" name="日期占位符 2"/>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AF6B584-9858-42B9-8E3C-3DC4F786E248}"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4" name="页脚占位符 3"/>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F7766-2D2A-47AA-AE79-D91449614E7C}"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AF6B584-9858-42B9-8E3C-3DC4F786E248}"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F7766-2D2A-47AA-AE79-D91449614E7C}"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AF6B584-9858-42B9-8E3C-3DC4F786E248}"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F7766-2D2A-47AA-AE79-D91449614E7C}"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AF6B584-9858-42B9-8E3C-3DC4F786E248}"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F7766-2D2A-47AA-AE79-D91449614E7C}"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AF6B584-9858-42B9-8E3C-3DC4F786E248}"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8" descr="attach"/>
          <p:cNvPicPr>
            <a:picLocks noChangeAspect="1"/>
          </p:cNvPicPr>
          <p:nvPr userDrawn="1"/>
        </p:nvPicPr>
        <p:blipFill>
          <a:blip r:embed="rId12"/>
          <a:stretch>
            <a:fillRect/>
          </a:stretch>
        </p:blipFill>
        <p:spPr>
          <a:xfrm>
            <a:off x="1752600" y="533400"/>
            <a:ext cx="5905500" cy="5905500"/>
          </a:xfrm>
          <a:prstGeom prst="rect">
            <a:avLst/>
          </a:prstGeom>
          <a:noFill/>
          <a:ln w="9525">
            <a:noFill/>
          </a:ln>
        </p:spPr>
      </p:pic>
      <p:sp>
        <p:nvSpPr>
          <p:cNvPr id="152592" name="Rectangle 16"/>
          <p:cNvSpPr>
            <a:spLocks noGrp="1" noChangeArrowheads="1"/>
          </p:cNvSpPr>
          <p:nvPr>
            <p:ph type="sldNum" sz="quarter" idx="4"/>
          </p:nvPr>
        </p:nvSpPr>
        <p:spPr bwMode="auto">
          <a:xfrm>
            <a:off x="7620000" y="6400800"/>
            <a:ext cx="1524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000" u="none" noProof="1">
                <a:solidFill>
                  <a:srgbClr val="009999"/>
                </a:solidFill>
                <a:latin typeface="Arial Narrow" panose="020B0606020202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F7766-2D2A-47AA-AE79-D91449614E7C}"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1028" name="Rectangle 2"/>
          <p:cNvSpPr>
            <a:spLocks noChangeArrowheads="1"/>
          </p:cNvSpPr>
          <p:nvPr/>
        </p:nvSpPr>
        <p:spPr bwMode="auto">
          <a:xfrm>
            <a:off x="417513" y="52451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i="1" u="sng">
                <a:solidFill>
                  <a:schemeClr val="tx1"/>
                </a:solidFill>
                <a:latin typeface="Times New Roman" panose="02020503050405090304" pitchFamily="18" charset="0"/>
                <a:ea typeface="宋体" pitchFamily="2" charset="-122"/>
              </a:defRPr>
            </a:lvl1pPr>
            <a:lvl2pPr marL="742950" indent="-285750">
              <a:defRPr sz="2400" b="1" i="1" u="sng">
                <a:solidFill>
                  <a:schemeClr val="tx1"/>
                </a:solidFill>
                <a:latin typeface="Times New Roman" panose="02020503050405090304" pitchFamily="18" charset="0"/>
                <a:ea typeface="宋体" pitchFamily="2" charset="-122"/>
              </a:defRPr>
            </a:lvl2pPr>
            <a:lvl3pPr marL="1143000" indent="-228600">
              <a:defRPr sz="2400" b="1" i="1" u="sng">
                <a:solidFill>
                  <a:schemeClr val="tx1"/>
                </a:solidFill>
                <a:latin typeface="Times New Roman" panose="02020503050405090304" pitchFamily="18" charset="0"/>
                <a:ea typeface="宋体" pitchFamily="2" charset="-122"/>
              </a:defRPr>
            </a:lvl3pPr>
            <a:lvl4pPr marL="1600200" indent="-228600">
              <a:defRPr sz="2400" b="1" i="1" u="sng">
                <a:solidFill>
                  <a:schemeClr val="tx1"/>
                </a:solidFill>
                <a:latin typeface="Times New Roman" panose="02020503050405090304" pitchFamily="18" charset="0"/>
                <a:ea typeface="宋体" pitchFamily="2" charset="-122"/>
              </a:defRPr>
            </a:lvl4pPr>
            <a:lvl5pPr marL="2057400" indent="-228600">
              <a:defRPr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29" name="Rectangle 3"/>
          <p:cNvSpPr>
            <a:spLocks noChangeArrowheads="1"/>
          </p:cNvSpPr>
          <p:nvPr/>
        </p:nvSpPr>
        <p:spPr bwMode="auto">
          <a:xfrm>
            <a:off x="800100" y="52451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i="1" u="sng">
                <a:solidFill>
                  <a:schemeClr val="tx1"/>
                </a:solidFill>
                <a:latin typeface="Times New Roman" panose="02020503050405090304" pitchFamily="18" charset="0"/>
                <a:ea typeface="宋体" pitchFamily="2" charset="-122"/>
              </a:defRPr>
            </a:lvl1pPr>
            <a:lvl2pPr marL="742950" indent="-285750">
              <a:defRPr sz="2400" b="1" i="1" u="sng">
                <a:solidFill>
                  <a:schemeClr val="tx1"/>
                </a:solidFill>
                <a:latin typeface="Times New Roman" panose="02020503050405090304" pitchFamily="18" charset="0"/>
                <a:ea typeface="宋体" pitchFamily="2" charset="-122"/>
              </a:defRPr>
            </a:lvl2pPr>
            <a:lvl3pPr marL="1143000" indent="-228600">
              <a:defRPr sz="2400" b="1" i="1" u="sng">
                <a:solidFill>
                  <a:schemeClr val="tx1"/>
                </a:solidFill>
                <a:latin typeface="Times New Roman" panose="02020503050405090304" pitchFamily="18" charset="0"/>
                <a:ea typeface="宋体" pitchFamily="2" charset="-122"/>
              </a:defRPr>
            </a:lvl3pPr>
            <a:lvl4pPr marL="1600200" indent="-228600">
              <a:defRPr sz="2400" b="1" i="1" u="sng">
                <a:solidFill>
                  <a:schemeClr val="tx1"/>
                </a:solidFill>
                <a:latin typeface="Times New Roman" panose="02020503050405090304" pitchFamily="18" charset="0"/>
                <a:ea typeface="宋体" pitchFamily="2" charset="-122"/>
              </a:defRPr>
            </a:lvl4pPr>
            <a:lvl5pPr marL="2057400" indent="-228600">
              <a:defRPr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0" name="Rectangle 4"/>
          <p:cNvSpPr>
            <a:spLocks noChangeArrowheads="1"/>
          </p:cNvSpPr>
          <p:nvPr/>
        </p:nvSpPr>
        <p:spPr bwMode="auto">
          <a:xfrm>
            <a:off x="541338" y="94678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i="1" u="sng">
                <a:solidFill>
                  <a:schemeClr val="tx1"/>
                </a:solidFill>
                <a:latin typeface="Times New Roman" panose="02020503050405090304" pitchFamily="18" charset="0"/>
                <a:ea typeface="宋体" pitchFamily="2" charset="-122"/>
              </a:defRPr>
            </a:lvl1pPr>
            <a:lvl2pPr marL="742950" indent="-285750">
              <a:defRPr sz="2400" b="1" i="1" u="sng">
                <a:solidFill>
                  <a:schemeClr val="tx1"/>
                </a:solidFill>
                <a:latin typeface="Times New Roman" panose="02020503050405090304" pitchFamily="18" charset="0"/>
                <a:ea typeface="宋体" pitchFamily="2" charset="-122"/>
              </a:defRPr>
            </a:lvl2pPr>
            <a:lvl3pPr marL="1143000" indent="-228600">
              <a:defRPr sz="2400" b="1" i="1" u="sng">
                <a:solidFill>
                  <a:schemeClr val="tx1"/>
                </a:solidFill>
                <a:latin typeface="Times New Roman" panose="02020503050405090304" pitchFamily="18" charset="0"/>
                <a:ea typeface="宋体" pitchFamily="2" charset="-122"/>
              </a:defRPr>
            </a:lvl3pPr>
            <a:lvl4pPr marL="1600200" indent="-228600">
              <a:defRPr sz="2400" b="1" i="1" u="sng">
                <a:solidFill>
                  <a:schemeClr val="tx1"/>
                </a:solidFill>
                <a:latin typeface="Times New Roman" panose="02020503050405090304" pitchFamily="18" charset="0"/>
                <a:ea typeface="宋体" pitchFamily="2" charset="-122"/>
              </a:defRPr>
            </a:lvl4pPr>
            <a:lvl5pPr marL="2057400" indent="-228600">
              <a:defRPr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1" name="Rectangle 5"/>
          <p:cNvSpPr>
            <a:spLocks noChangeArrowheads="1"/>
          </p:cNvSpPr>
          <p:nvPr/>
        </p:nvSpPr>
        <p:spPr bwMode="auto">
          <a:xfrm>
            <a:off x="911225" y="94678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i="1" u="sng">
                <a:solidFill>
                  <a:schemeClr val="tx1"/>
                </a:solidFill>
                <a:latin typeface="Times New Roman" panose="02020503050405090304" pitchFamily="18" charset="0"/>
                <a:ea typeface="宋体" pitchFamily="2" charset="-122"/>
              </a:defRPr>
            </a:lvl1pPr>
            <a:lvl2pPr marL="742950" indent="-285750">
              <a:defRPr sz="2400" b="1" i="1" u="sng">
                <a:solidFill>
                  <a:schemeClr val="tx1"/>
                </a:solidFill>
                <a:latin typeface="Times New Roman" panose="02020503050405090304" pitchFamily="18" charset="0"/>
                <a:ea typeface="宋体" pitchFamily="2" charset="-122"/>
              </a:defRPr>
            </a:lvl2pPr>
            <a:lvl3pPr marL="1143000" indent="-228600">
              <a:defRPr sz="2400" b="1" i="1" u="sng">
                <a:solidFill>
                  <a:schemeClr val="tx1"/>
                </a:solidFill>
                <a:latin typeface="Times New Roman" panose="02020503050405090304" pitchFamily="18" charset="0"/>
                <a:ea typeface="宋体" pitchFamily="2" charset="-122"/>
              </a:defRPr>
            </a:lvl3pPr>
            <a:lvl4pPr marL="1600200" indent="-228600">
              <a:defRPr sz="2400" b="1" i="1" u="sng">
                <a:solidFill>
                  <a:schemeClr val="tx1"/>
                </a:solidFill>
                <a:latin typeface="Times New Roman" panose="02020503050405090304" pitchFamily="18" charset="0"/>
                <a:ea typeface="宋体" pitchFamily="2" charset="-122"/>
              </a:defRPr>
            </a:lvl4pPr>
            <a:lvl5pPr marL="2057400" indent="-228600">
              <a:defRPr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2" name="Rectangle 6"/>
          <p:cNvSpPr>
            <a:spLocks noChangeArrowheads="1"/>
          </p:cNvSpPr>
          <p:nvPr/>
        </p:nvSpPr>
        <p:spPr bwMode="auto">
          <a:xfrm>
            <a:off x="127000" y="87376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i="1" u="sng">
                <a:solidFill>
                  <a:schemeClr val="tx1"/>
                </a:solidFill>
                <a:latin typeface="Times New Roman" panose="02020503050405090304" pitchFamily="18" charset="0"/>
                <a:ea typeface="宋体" pitchFamily="2" charset="-122"/>
              </a:defRPr>
            </a:lvl1pPr>
            <a:lvl2pPr marL="742950" indent="-285750">
              <a:defRPr sz="2400" b="1" i="1" u="sng">
                <a:solidFill>
                  <a:schemeClr val="tx1"/>
                </a:solidFill>
                <a:latin typeface="Times New Roman" panose="02020503050405090304" pitchFamily="18" charset="0"/>
                <a:ea typeface="宋体" pitchFamily="2" charset="-122"/>
              </a:defRPr>
            </a:lvl2pPr>
            <a:lvl3pPr marL="1143000" indent="-228600">
              <a:defRPr sz="2400" b="1" i="1" u="sng">
                <a:solidFill>
                  <a:schemeClr val="tx1"/>
                </a:solidFill>
                <a:latin typeface="Times New Roman" panose="02020503050405090304" pitchFamily="18" charset="0"/>
                <a:ea typeface="宋体" pitchFamily="2" charset="-122"/>
              </a:defRPr>
            </a:lvl3pPr>
            <a:lvl4pPr marL="1600200" indent="-228600">
              <a:defRPr sz="2400" b="1" i="1" u="sng">
                <a:solidFill>
                  <a:schemeClr val="tx1"/>
                </a:solidFill>
                <a:latin typeface="Times New Roman" panose="02020503050405090304" pitchFamily="18" charset="0"/>
                <a:ea typeface="宋体" pitchFamily="2" charset="-122"/>
              </a:defRPr>
            </a:lvl4pPr>
            <a:lvl5pPr marL="2057400" indent="-228600">
              <a:defRPr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3" name="Rectangle 7"/>
          <p:cNvSpPr>
            <a:spLocks noChangeArrowheads="1"/>
          </p:cNvSpPr>
          <p:nvPr/>
        </p:nvSpPr>
        <p:spPr bwMode="auto">
          <a:xfrm>
            <a:off x="762000" y="41656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i="1" u="sng">
                <a:solidFill>
                  <a:schemeClr val="tx1"/>
                </a:solidFill>
                <a:latin typeface="Times New Roman" panose="02020503050405090304" pitchFamily="18" charset="0"/>
                <a:ea typeface="宋体" pitchFamily="2" charset="-122"/>
              </a:defRPr>
            </a:lvl1pPr>
            <a:lvl2pPr marL="742950" indent="-285750">
              <a:defRPr sz="2400" b="1" i="1" u="sng">
                <a:solidFill>
                  <a:schemeClr val="tx1"/>
                </a:solidFill>
                <a:latin typeface="Times New Roman" panose="02020503050405090304" pitchFamily="18" charset="0"/>
                <a:ea typeface="宋体" pitchFamily="2" charset="-122"/>
              </a:defRPr>
            </a:lvl2pPr>
            <a:lvl3pPr marL="1143000" indent="-228600">
              <a:defRPr sz="2400" b="1" i="1" u="sng">
                <a:solidFill>
                  <a:schemeClr val="tx1"/>
                </a:solidFill>
                <a:latin typeface="Times New Roman" panose="02020503050405090304" pitchFamily="18" charset="0"/>
                <a:ea typeface="宋体" pitchFamily="2" charset="-122"/>
              </a:defRPr>
            </a:lvl3pPr>
            <a:lvl4pPr marL="1600200" indent="-228600">
              <a:defRPr sz="2400" b="1" i="1" u="sng">
                <a:solidFill>
                  <a:schemeClr val="tx1"/>
                </a:solidFill>
                <a:latin typeface="Times New Roman" panose="02020503050405090304" pitchFamily="18" charset="0"/>
                <a:ea typeface="宋体" pitchFamily="2" charset="-122"/>
              </a:defRPr>
            </a:lvl4pPr>
            <a:lvl5pPr marL="2057400" indent="-228600">
              <a:defRPr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4" name="Rectangle 8"/>
          <p:cNvSpPr>
            <a:spLocks noChangeArrowheads="1"/>
          </p:cNvSpPr>
          <p:nvPr/>
        </p:nvSpPr>
        <p:spPr bwMode="auto">
          <a:xfrm>
            <a:off x="442913" y="120713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i="1" u="sng">
                <a:solidFill>
                  <a:schemeClr val="tx1"/>
                </a:solidFill>
                <a:latin typeface="Times New Roman" panose="02020503050405090304" pitchFamily="18" charset="0"/>
                <a:ea typeface="宋体" pitchFamily="2" charset="-122"/>
              </a:defRPr>
            </a:lvl1pPr>
            <a:lvl2pPr marL="742950" indent="-285750">
              <a:defRPr sz="2400" b="1" i="1" u="sng">
                <a:solidFill>
                  <a:schemeClr val="tx1"/>
                </a:solidFill>
                <a:latin typeface="Times New Roman" panose="02020503050405090304" pitchFamily="18" charset="0"/>
                <a:ea typeface="宋体" pitchFamily="2" charset="-122"/>
              </a:defRPr>
            </a:lvl2pPr>
            <a:lvl3pPr marL="1143000" indent="-228600">
              <a:defRPr sz="2400" b="1" i="1" u="sng">
                <a:solidFill>
                  <a:schemeClr val="tx1"/>
                </a:solidFill>
                <a:latin typeface="Times New Roman" panose="02020503050405090304" pitchFamily="18" charset="0"/>
                <a:ea typeface="宋体" pitchFamily="2" charset="-122"/>
              </a:defRPr>
            </a:lvl3pPr>
            <a:lvl4pPr marL="1600200" indent="-228600">
              <a:defRPr sz="2400" b="1" i="1" u="sng">
                <a:solidFill>
                  <a:schemeClr val="tx1"/>
                </a:solidFill>
                <a:latin typeface="Times New Roman" panose="02020503050405090304" pitchFamily="18" charset="0"/>
                <a:ea typeface="宋体" pitchFamily="2" charset="-122"/>
              </a:defRPr>
            </a:lvl4pPr>
            <a:lvl5pPr marL="2057400" indent="-228600">
              <a:defRPr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5" name="Rectangle 9"/>
          <p:cNvSpPr>
            <a:spLocks noGrp="1"/>
          </p:cNvSpPr>
          <p:nvPr>
            <p:ph type="title"/>
          </p:nvPr>
        </p:nvSpPr>
        <p:spPr>
          <a:xfrm>
            <a:off x="1136650" y="258445"/>
            <a:ext cx="7807325" cy="92837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36" name="Rectangle 10"/>
          <p:cNvSpPr>
            <a:spLocks noGrp="1"/>
          </p:cNvSpPr>
          <p:nvPr>
            <p:ph type="body"/>
          </p:nvPr>
        </p:nvSpPr>
        <p:spPr>
          <a:xfrm>
            <a:off x="840740" y="1433830"/>
            <a:ext cx="8114665" cy="46990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52590" name="Rectangle 14"/>
          <p:cNvSpPr>
            <a:spLocks noGrp="1" noChangeArrowheads="1"/>
          </p:cNvSpPr>
          <p:nvPr>
            <p:ph type="dt" sz="half" idx="2"/>
          </p:nvPr>
        </p:nvSpPr>
        <p:spPr bwMode="auto">
          <a:xfrm>
            <a:off x="0" y="6400800"/>
            <a:ext cx="1447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kumimoji="0" sz="1000" u="none" noProof="1">
                <a:solidFill>
                  <a:srgbClr val="009999"/>
                </a:solidFill>
                <a:latin typeface="Arial Narrow" panose="020B060602020203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AF6B584-9858-42B9-8E3C-3DC4F786E248}"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152591" name="Rectangle 15"/>
          <p:cNvSpPr>
            <a:spLocks noGrp="1" noChangeArrowheads="1"/>
          </p:cNvSpPr>
          <p:nvPr>
            <p:ph type="ftr" sz="quarter" idx="3"/>
          </p:nvPr>
        </p:nvSpPr>
        <p:spPr bwMode="auto">
          <a:xfrm>
            <a:off x="1447800" y="6400800"/>
            <a:ext cx="629285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lnSpc>
                <a:spcPct val="110000"/>
              </a:lnSpc>
              <a:defRPr sz="1200" u="none" noProof="1">
                <a:solidFill>
                  <a:srgbClr val="009999"/>
                </a:solidFill>
                <a:latin typeface="Arial Narrow" panose="020B0606020202030204" pitchFamily="34" charset="0"/>
              </a:defRPr>
            </a:lvl1pPr>
          </a:lstStyle>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2pPr>
      <a:lvl3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3pPr>
      <a:lvl4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4pPr>
      <a:lvl5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5pPr>
      <a:lvl6pPr marL="4572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6pPr>
      <a:lvl7pPr marL="9144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7pPr>
      <a:lvl8pPr marL="13716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8pPr>
      <a:lvl9pPr marL="18288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oleObject" Target="../embeddings/oleObject5.bin"/><Relationship Id="rId7" Type="http://schemas.openxmlformats.org/officeDocument/2006/relationships/oleObject" Target="../embeddings/oleObject4.bin"/><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4" Type="http://schemas.openxmlformats.org/officeDocument/2006/relationships/vmlDrawing" Target="../drawings/vmlDrawing1.vml"/><Relationship Id="rId13" Type="http://schemas.openxmlformats.org/officeDocument/2006/relationships/slideLayout" Target="../slideLayouts/slideLayout2.xml"/><Relationship Id="rId12" Type="http://schemas.openxmlformats.org/officeDocument/2006/relationships/image" Target="../media/image6.wmf"/><Relationship Id="rId11" Type="http://schemas.openxmlformats.org/officeDocument/2006/relationships/oleObject" Target="../embeddings/oleObject7.bin"/><Relationship Id="rId10" Type="http://schemas.openxmlformats.org/officeDocument/2006/relationships/image" Target="../media/image5.wmf"/><Relationship Id="rId1" Type="http://schemas.openxmlformats.org/officeDocument/2006/relationships/oleObject" Target="../embeddings/oleObject1.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0.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wmf"/><Relationship Id="rId1" Type="http://schemas.openxmlformats.org/officeDocument/2006/relationships/oleObject" Target="../embeddings/oleObject8.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tags" Target="../tags/tag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jpeg"/><Relationship Id="rId1" Type="http://schemas.openxmlformats.org/officeDocument/2006/relationships/image" Target="../media/image14.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ctrTitle"/>
          </p:nvPr>
        </p:nvSpPr>
        <p:spPr>
          <a:xfrm>
            <a:off x="990600" y="228600"/>
            <a:ext cx="7772400" cy="304800"/>
          </a:xfrm>
        </p:spPr>
        <p:txBody>
          <a:bodyPr vert="horz" wrap="square" lIns="91440" tIns="45720" rIns="91440" bIns="45720" anchor="b" anchorCtr="0"/>
          <a:p>
            <a:pPr algn="r" eaLnBrk="1" hangingPunct="1">
              <a:buClrTx/>
              <a:buSzTx/>
              <a:buFontTx/>
            </a:pPr>
            <a:r>
              <a:rPr lang="en-US" altLang="zh-CN" sz="2000" dirty="0">
                <a:solidFill>
                  <a:schemeClr val="hlink"/>
                </a:solidFill>
                <a:latin typeface="Copperplate Gothic Bold" panose="020E0705020206020404" pitchFamily="34" charset="0"/>
                <a:ea typeface="+mj-ea"/>
                <a:cs typeface="+mj-cs"/>
              </a:rPr>
              <a:t>Discrete Mathematical Structures</a:t>
            </a:r>
            <a:endParaRPr lang="en-US" altLang="zh-CN" sz="2000" dirty="0">
              <a:solidFill>
                <a:schemeClr val="hlink"/>
              </a:solidFill>
              <a:latin typeface="Copperplate Gothic Bold" panose="020E0705020206020404" pitchFamily="34" charset="0"/>
              <a:ea typeface="+mj-ea"/>
              <a:cs typeface="+mj-cs"/>
            </a:endParaRPr>
          </a:p>
        </p:txBody>
      </p:sp>
      <p:sp>
        <p:nvSpPr>
          <p:cNvPr id="5123" name="Rectangle 3"/>
          <p:cNvSpPr/>
          <p:nvPr/>
        </p:nvSpPr>
        <p:spPr>
          <a:xfrm>
            <a:off x="990600" y="1854200"/>
            <a:ext cx="7772400" cy="11430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en-US" altLang="zh-CN" sz="4400" u="none" dirty="0">
                <a:solidFill>
                  <a:schemeClr val="tx2"/>
                </a:solidFill>
                <a:latin typeface="Copperplate Gothic Bold" panose="020E0705020206020404" pitchFamily="34" charset="0"/>
              </a:rPr>
              <a:t>Methods of Proof                         （</a:t>
            </a:r>
            <a:r>
              <a:rPr lang="zh-CN" altLang="en-US" sz="4400" u="none" dirty="0">
                <a:solidFill>
                  <a:schemeClr val="tx2"/>
                </a:solidFill>
                <a:latin typeface="Copperplate Gothic Bold" panose="020E0705020206020404" pitchFamily="34" charset="0"/>
              </a:rPr>
              <a:t>证明的方法）</a:t>
            </a:r>
            <a:endParaRPr lang="zh-CN" altLang="en-US" sz="4400" u="none" dirty="0">
              <a:solidFill>
                <a:schemeClr val="tx2"/>
              </a:solidFill>
              <a:latin typeface="Copperplate Gothic Bold" panose="020E0705020206020404" pitchFamily="34" charset="0"/>
            </a:endParaRPr>
          </a:p>
        </p:txBody>
      </p:sp>
      <p:sp>
        <p:nvSpPr>
          <p:cNvPr id="5124" name="Rectangle 4"/>
          <p:cNvSpPr>
            <a:spLocks noGrp="1"/>
          </p:cNvSpPr>
          <p:nvPr>
            <p:ph type="subTitle" idx="1"/>
          </p:nvPr>
        </p:nvSpPr>
        <p:spPr/>
        <p:txBody>
          <a:bodyPr vert="horz" wrap="square" lIns="91440" tIns="45720" rIns="91440" bIns="45720" anchor="t" anchorCtr="0"/>
          <a:p>
            <a:pPr eaLnBrk="1" hangingPunct="1">
              <a:buSzPct val="60000"/>
            </a:pPr>
            <a:endParaRPr lang="en-US" altLang="en-US" dirty="0">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9pPr>
          </a:lstStyle>
          <a:p>
            <a:pPr>
              <a:spcBef>
                <a:spcPct val="0"/>
              </a:spcBef>
              <a:buClrTx/>
              <a:buSzTx/>
              <a:buFontTx/>
              <a:buNone/>
            </a:pPr>
            <a:fld id="{939BEC6A-B599-4EE7-8D15-8D0165D0D033}" type="slidenum">
              <a:rPr kumimoji="0" lang="zh-CN" altLang="en-US" sz="1000" smtClean="0">
                <a:solidFill>
                  <a:srgbClr val="009999"/>
                </a:solidFill>
                <a:latin typeface="Arial Narrow" panose="020B0606020202030204" pitchFamily="34" charset="0"/>
              </a:rPr>
            </a:fld>
            <a:endParaRPr kumimoji="0" lang="en-US" altLang="zh-CN" sz="1000">
              <a:solidFill>
                <a:srgbClr val="009999"/>
              </a:solidFill>
              <a:latin typeface="Arial Narrow" panose="020B0606020202030204" pitchFamily="34" charset="0"/>
            </a:endParaRPr>
          </a:p>
        </p:txBody>
      </p:sp>
      <p:sp>
        <p:nvSpPr>
          <p:cNvPr id="614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9pPr>
          </a:lstStyle>
          <a:p>
            <a:pPr>
              <a:spcBef>
                <a:spcPct val="0"/>
              </a:spcBef>
              <a:buClrTx/>
              <a:buSzTx/>
              <a:buFontTx/>
              <a:buNone/>
            </a:pPr>
            <a:fld id="{CCD35B60-AD21-481F-86B1-C91D320B8972}" type="datetime1">
              <a:rPr kumimoji="0" lang="zh-CN" altLang="en-US" sz="1000" smtClean="0">
                <a:solidFill>
                  <a:srgbClr val="009999"/>
                </a:solidFill>
                <a:latin typeface="Arial Narrow" panose="020B0606020202030204" pitchFamily="34" charset="0"/>
              </a:rPr>
            </a:fld>
            <a:endParaRPr kumimoji="0" lang="en-US" altLang="zh-CN" sz="1000">
              <a:solidFill>
                <a:srgbClr val="009999"/>
              </a:solidFill>
              <a:latin typeface="Arial Narrow" panose="020B0606020202030204" pitchFamily="34" charset="0"/>
            </a:endParaRPr>
          </a:p>
        </p:txBody>
      </p:sp>
      <p:sp>
        <p:nvSpPr>
          <p:cNvPr id="614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9pPr>
          </a:lstStyle>
          <a:p>
            <a:pPr>
              <a:spcBef>
                <a:spcPct val="0"/>
              </a:spcBef>
              <a:buClrTx/>
              <a:buSzTx/>
              <a:buFontTx/>
              <a:buNone/>
            </a:pPr>
            <a:r>
              <a:rPr lang="en-US" altLang="zh-CN" sz="1200" dirty="0">
                <a:solidFill>
                  <a:srgbClr val="009999"/>
                </a:solidFill>
                <a:latin typeface="Arial Narrow" panose="020B0606020202030204" pitchFamily="34" charset="0"/>
              </a:rPr>
              <a:t>School of Computer Science, BUPT</a:t>
            </a:r>
            <a:endParaRPr lang="zh-CN" altLang="en-US" sz="1200" dirty="0">
              <a:solidFill>
                <a:srgbClr val="009999"/>
              </a:solidFill>
              <a:latin typeface="Arial Narrow" panose="020B0606020202030204" pitchFamily="34" charset="0"/>
            </a:endParaRPr>
          </a:p>
        </p:txBody>
      </p:sp>
      <p:sp>
        <p:nvSpPr>
          <p:cNvPr id="6149" name="Rectangle 2"/>
          <p:cNvSpPr>
            <a:spLocks noGrp="1" noChangeArrowheads="1"/>
          </p:cNvSpPr>
          <p:nvPr>
            <p:ph type="title"/>
          </p:nvPr>
        </p:nvSpPr>
        <p:spPr/>
        <p:txBody>
          <a:bodyPr/>
          <a:lstStyle/>
          <a:p>
            <a:pPr eaLnBrk="1" hangingPunct="1"/>
            <a:r>
              <a:rPr lang="en-US" altLang="zh-CN" b="0" kern="1200" dirty="0">
                <a:latin typeface="Copperplate Gothic Bold" panose="020E0705020206020404" pitchFamily="34" charset="0"/>
                <a:ea typeface="宋体" pitchFamily="2" charset="-122"/>
                <a:cs typeface="+mn-cs"/>
              </a:rPr>
              <a:t>Outline</a:t>
            </a:r>
            <a:endParaRPr lang="en-US" altLang="zh-CN" b="0" kern="1200" dirty="0">
              <a:latin typeface="Copperplate Gothic Bold" panose="020E0705020206020404" pitchFamily="34" charset="0"/>
              <a:ea typeface="宋体" pitchFamily="2" charset="-122"/>
              <a:cs typeface="+mn-cs"/>
            </a:endParaRPr>
          </a:p>
        </p:txBody>
      </p:sp>
      <p:sp>
        <p:nvSpPr>
          <p:cNvPr id="6150" name="Rectangle 3"/>
          <p:cNvSpPr>
            <a:spLocks noGrp="1" noChangeArrowheads="1"/>
          </p:cNvSpPr>
          <p:nvPr>
            <p:ph type="body" idx="1"/>
          </p:nvPr>
        </p:nvSpPr>
        <p:spPr>
          <a:xfrm>
            <a:off x="539934" y="1340644"/>
            <a:ext cx="8376419" cy="4896544"/>
          </a:xfrm>
        </p:spPr>
        <p:txBody>
          <a:bodyPr/>
          <a:lstStyle/>
          <a:p>
            <a:pPr algn="just" eaLnBrk="1" hangingPunct="1"/>
            <a:r>
              <a:rPr lang="en-US" altLang="zh-CN" sz="2800" kern="1200" dirty="0">
                <a:latin typeface="Times New Roman" panose="02020503050405090304" pitchFamily="18" charset="0"/>
                <a:ea typeface="宋体" pitchFamily="2" charset="-122"/>
                <a:cs typeface="Times New Roman" panose="02020503050405090304" pitchFamily="18" charset="0"/>
              </a:rPr>
              <a:t>Form of theorems</a:t>
            </a:r>
            <a:endParaRPr lang="en-US" altLang="zh-CN" sz="2800" kern="1200" dirty="0">
              <a:latin typeface="Times New Roman" panose="02020503050405090304" pitchFamily="18" charset="0"/>
              <a:ea typeface="宋体" pitchFamily="2" charset="-122"/>
              <a:cs typeface="Times New Roman" panose="02020503050405090304" pitchFamily="18" charset="0"/>
            </a:endParaRPr>
          </a:p>
          <a:p>
            <a:pPr algn="just" eaLnBrk="1" hangingPunct="1"/>
            <a:r>
              <a:rPr lang="en-US" altLang="zh-CN" sz="2800" dirty="0">
                <a:latin typeface="Times New Roman" panose="02020503050405090304" pitchFamily="18" charset="0"/>
                <a:cs typeface="Times New Roman" panose="02020503050405090304" pitchFamily="18" charset="0"/>
              </a:rPr>
              <a:t>Proof Methods for Implications</a:t>
            </a:r>
            <a:endParaRPr lang="en-US" altLang="zh-CN" sz="2800" dirty="0">
              <a:latin typeface="Times New Roman" panose="02020503050405090304" pitchFamily="18" charset="0"/>
              <a:cs typeface="Times New Roman" panose="02020503050405090304" pitchFamily="18" charset="0"/>
            </a:endParaRPr>
          </a:p>
          <a:p>
            <a:pPr algn="just" eaLnBrk="1" hangingPunct="1"/>
            <a:r>
              <a:rPr lang="en-US" altLang="zh-CN" sz="2800" dirty="0">
                <a:latin typeface="Times New Roman" panose="02020503050405090304" pitchFamily="18" charset="0"/>
                <a:cs typeface="Times New Roman" panose="02020503050405090304" pitchFamily="18" charset="0"/>
              </a:rPr>
              <a:t>Proof Methods for Existence </a:t>
            </a:r>
            <a:endParaRPr lang="en-US" altLang="zh-CN" sz="2800" dirty="0">
              <a:latin typeface="Times New Roman" panose="02020503050405090304" pitchFamily="18" charset="0"/>
              <a:cs typeface="Times New Roman" panose="02020503050405090304" pitchFamily="18" charset="0"/>
            </a:endParaRPr>
          </a:p>
          <a:p>
            <a:pPr algn="just" eaLnBrk="1" hangingPunct="1"/>
            <a:r>
              <a:rPr lang="en-US" altLang="zh-CN" sz="2800" dirty="0">
                <a:latin typeface="Times New Roman" panose="02020503050405090304" pitchFamily="18" charset="0"/>
                <a:cs typeface="Times New Roman" panose="02020503050405090304" pitchFamily="18" charset="0"/>
              </a:rPr>
              <a:t>Proof Methods for Unique Existence</a:t>
            </a:r>
            <a:endParaRPr lang="en-US" altLang="zh-CN" sz="2800" dirty="0">
              <a:latin typeface="Times New Roman" panose="02020503050405090304" pitchFamily="18" charset="0"/>
              <a:cs typeface="Times New Roman" panose="02020503050405090304" pitchFamily="18" charset="0"/>
            </a:endParaRPr>
          </a:p>
          <a:p>
            <a:pPr algn="just" eaLnBrk="1" hangingPunct="1"/>
            <a:r>
              <a:rPr lang="en-US" altLang="zh-CN" sz="2800" dirty="0">
                <a:latin typeface="Times New Roman" panose="02020503050405090304" pitchFamily="18" charset="0"/>
                <a:cs typeface="Times New Roman" panose="02020503050405090304" pitchFamily="18" charset="0"/>
              </a:rPr>
              <a:t>Proof Methods for Nonexistence</a:t>
            </a:r>
            <a:endParaRPr lang="en-US" altLang="zh-CN" sz="2800" dirty="0">
              <a:latin typeface="Times New Roman" panose="02020503050405090304" pitchFamily="18" charset="0"/>
              <a:cs typeface="Times New Roman" panose="02020503050405090304" pitchFamily="18" charset="0"/>
            </a:endParaRPr>
          </a:p>
          <a:p>
            <a:pPr algn="just" eaLnBrk="1" hangingPunct="1"/>
            <a:r>
              <a:rPr lang="en-US" altLang="zh-CN" sz="2800" dirty="0">
                <a:latin typeface="Times New Roman" panose="02020503050405090304" pitchFamily="18" charset="0"/>
                <a:cs typeface="Times New Roman" panose="02020503050405090304" pitchFamily="18" charset="0"/>
              </a:rPr>
              <a:t>Proof Methods for Universally Quantified Assertions</a:t>
            </a:r>
            <a:endParaRPr lang="en-US" altLang="zh-CN" sz="2800" dirty="0">
              <a:latin typeface="Times New Roman" panose="02020503050405090304" pitchFamily="18" charset="0"/>
              <a:cs typeface="Times New Roman" panose="02020503050405090304" pitchFamily="18" charset="0"/>
            </a:endParaRPr>
          </a:p>
          <a:p>
            <a:pPr algn="just" eaLnBrk="1" hangingPunct="1"/>
            <a:r>
              <a:rPr lang="en-US" altLang="zh-CN" sz="2800" dirty="0">
                <a:latin typeface="Times New Roman" panose="02020503050405090304" pitchFamily="18" charset="0"/>
                <a:cs typeface="Times New Roman" panose="02020503050405090304" pitchFamily="18" charset="0"/>
              </a:rPr>
              <a:t>Some Fallacies</a:t>
            </a:r>
            <a:endParaRPr lang="en-US" altLang="zh-CN" sz="28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14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14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6149"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Methods of Proof</a:t>
            </a:r>
            <a:endParaRPr lang="en-US" altLang="zh-CN" dirty="0">
              <a:latin typeface="Times New Roman" panose="02020503050405090304" pitchFamily="18" charset="0"/>
            </a:endParaRPr>
          </a:p>
        </p:txBody>
      </p:sp>
      <p:sp>
        <p:nvSpPr>
          <p:cNvPr id="6150" name="Rectangle 3"/>
          <p:cNvSpPr>
            <a:spLocks noGrp="1"/>
          </p:cNvSpPr>
          <p:nvPr>
            <p:ph idx="1"/>
          </p:nvPr>
        </p:nvSpPr>
        <p:spPr>
          <a:xfrm>
            <a:off x="814070" y="1268730"/>
            <a:ext cx="8129588" cy="4114800"/>
          </a:xfrm>
        </p:spPr>
        <p:txBody>
          <a:bodyPr vert="horz" wrap="square" lIns="91440" tIns="45720" rIns="91440" bIns="45720" anchor="t" anchorCtr="0"/>
          <a:p>
            <a:pPr eaLnBrk="1" hangingPunct="1">
              <a:lnSpc>
                <a:spcPct val="80000"/>
              </a:lnSpc>
            </a:pPr>
            <a:r>
              <a:rPr lang="en-US" altLang="zh-CN" b="1" dirty="0">
                <a:latin typeface="Times New Roman" panose="02020503050405090304" pitchFamily="18" charset="0"/>
              </a:rPr>
              <a:t>Definition: </a:t>
            </a:r>
            <a:r>
              <a:rPr lang="en-US" altLang="zh-CN" dirty="0">
                <a:latin typeface="Times New Roman" panose="02020503050405090304" pitchFamily="18" charset="0"/>
              </a:rPr>
              <a:t>A </a:t>
            </a:r>
            <a:r>
              <a:rPr lang="en-US" altLang="zh-CN" i="1" dirty="0">
                <a:solidFill>
                  <a:schemeClr val="hlink"/>
                </a:solidFill>
                <a:latin typeface="Times New Roman" panose="02020503050405090304" pitchFamily="18" charset="0"/>
              </a:rPr>
              <a:t>theorem</a:t>
            </a:r>
            <a:r>
              <a:rPr lang="en-US" altLang="zh-CN" dirty="0">
                <a:solidFill>
                  <a:schemeClr val="hlink"/>
                </a:solidFill>
                <a:latin typeface="Times New Roman" panose="02020503050405090304" pitchFamily="18" charset="0"/>
              </a:rPr>
              <a:t>(</a:t>
            </a:r>
            <a:r>
              <a:rPr lang="zh-CN" altLang="en-US" dirty="0">
                <a:solidFill>
                  <a:schemeClr val="hlink"/>
                </a:solidFill>
                <a:latin typeface="Times New Roman" panose="02020503050405090304" pitchFamily="18" charset="0"/>
              </a:rPr>
              <a:t>定理</a:t>
            </a:r>
            <a:r>
              <a:rPr lang="en-US" altLang="zh-CN" dirty="0">
                <a:solidFill>
                  <a:schemeClr val="hlink"/>
                </a:solidFill>
                <a:latin typeface="Times New Roman" panose="02020503050405090304" pitchFamily="18" charset="0"/>
              </a:rPr>
              <a:t>)</a:t>
            </a:r>
            <a:r>
              <a:rPr lang="en-US" altLang="zh-CN" i="1" dirty="0">
                <a:latin typeface="Times New Roman" panose="02020503050405090304" pitchFamily="18" charset="0"/>
              </a:rPr>
              <a:t> </a:t>
            </a:r>
            <a:r>
              <a:rPr lang="en-US" altLang="zh-CN" dirty="0">
                <a:latin typeface="Times New Roman" panose="02020503050405090304" pitchFamily="18" charset="0"/>
              </a:rPr>
              <a:t>is a </a:t>
            </a:r>
            <a:r>
              <a:rPr lang="en-US" altLang="zh-CN" i="1" dirty="0">
                <a:solidFill>
                  <a:schemeClr val="hlink"/>
                </a:solidFill>
                <a:latin typeface="Times New Roman" panose="02020503050405090304" pitchFamily="18" charset="0"/>
              </a:rPr>
              <a:t>valid </a:t>
            </a:r>
            <a:r>
              <a:rPr lang="en-US" altLang="zh-CN" dirty="0">
                <a:solidFill>
                  <a:schemeClr val="hlink"/>
                </a:solidFill>
                <a:latin typeface="Times New Roman" panose="02020503050405090304" pitchFamily="18" charset="0"/>
              </a:rPr>
              <a:t>(</a:t>
            </a:r>
            <a:r>
              <a:rPr lang="zh-CN" altLang="en-US" dirty="0">
                <a:solidFill>
                  <a:schemeClr val="hlink"/>
                </a:solidFill>
                <a:latin typeface="Times New Roman" panose="02020503050405090304" pitchFamily="18" charset="0"/>
              </a:rPr>
              <a:t>正确</a:t>
            </a:r>
            <a:r>
              <a:rPr lang="en-US" altLang="zh-CN" dirty="0">
                <a:solidFill>
                  <a:schemeClr val="hlink"/>
                </a:solidFill>
                <a:latin typeface="Times New Roman" panose="02020503050405090304" pitchFamily="18" charset="0"/>
              </a:rPr>
              <a:t>)</a:t>
            </a:r>
            <a:r>
              <a:rPr lang="zh-CN" altLang="en-US" i="1" dirty="0">
                <a:latin typeface="Times New Roman" panose="02020503050405090304" pitchFamily="18" charset="0"/>
              </a:rPr>
              <a:t> </a:t>
            </a:r>
            <a:r>
              <a:rPr lang="en-US" altLang="zh-CN" dirty="0">
                <a:latin typeface="Times New Roman" panose="02020503050405090304" pitchFamily="18" charset="0"/>
              </a:rPr>
              <a:t>logical assertion which can be proved using</a:t>
            </a:r>
            <a:endParaRPr lang="en-US" altLang="zh-CN" dirty="0">
              <a:latin typeface="Times New Roman" panose="02020503050405090304" pitchFamily="18" charset="0"/>
            </a:endParaRPr>
          </a:p>
          <a:p>
            <a:pPr lvl="1" eaLnBrk="1" hangingPunct="1">
              <a:lnSpc>
                <a:spcPct val="80000"/>
              </a:lnSpc>
            </a:pPr>
            <a:r>
              <a:rPr lang="en-US" altLang="zh-CN" dirty="0">
                <a:latin typeface="Times New Roman" panose="02020503050405090304" pitchFamily="18" charset="0"/>
              </a:rPr>
              <a:t>other theorems</a:t>
            </a:r>
            <a:endParaRPr lang="en-US" altLang="zh-CN" dirty="0">
              <a:latin typeface="Times New Roman" panose="02020503050405090304" pitchFamily="18" charset="0"/>
            </a:endParaRPr>
          </a:p>
          <a:p>
            <a:pPr lvl="1" eaLnBrk="1" hangingPunct="1">
              <a:lnSpc>
                <a:spcPct val="80000"/>
              </a:lnSpc>
            </a:pPr>
            <a:r>
              <a:rPr lang="en-US" altLang="zh-CN" i="1" dirty="0">
                <a:solidFill>
                  <a:schemeClr val="hlink"/>
                </a:solidFill>
                <a:latin typeface="Times New Roman" panose="02020503050405090304" pitchFamily="18" charset="0"/>
              </a:rPr>
              <a:t>axioms</a:t>
            </a:r>
            <a:r>
              <a:rPr lang="en-US" altLang="zh-CN" i="1" dirty="0">
                <a:latin typeface="Times New Roman" panose="02020503050405090304" pitchFamily="18" charset="0"/>
              </a:rPr>
              <a:t> </a:t>
            </a:r>
            <a:r>
              <a:rPr lang="en-US" altLang="zh-CN" dirty="0">
                <a:latin typeface="Times New Roman" panose="02020503050405090304" pitchFamily="18" charset="0"/>
              </a:rPr>
              <a:t>(</a:t>
            </a:r>
            <a:r>
              <a:rPr lang="zh-CN" altLang="en-US" dirty="0">
                <a:latin typeface="Times New Roman" panose="02020503050405090304" pitchFamily="18" charset="0"/>
              </a:rPr>
              <a:t>公理</a:t>
            </a:r>
            <a:r>
              <a:rPr lang="en-US" altLang="zh-CN" dirty="0">
                <a:latin typeface="Times New Roman" panose="02020503050405090304" pitchFamily="18" charset="0"/>
              </a:rPr>
              <a:t>) (statements which are given to be true) and</a:t>
            </a:r>
            <a:endParaRPr lang="en-US" altLang="zh-CN" dirty="0">
              <a:latin typeface="Times New Roman" panose="02020503050405090304" pitchFamily="18" charset="0"/>
            </a:endParaRPr>
          </a:p>
          <a:p>
            <a:pPr lvl="1" eaLnBrk="1" hangingPunct="1">
              <a:lnSpc>
                <a:spcPct val="80000"/>
              </a:lnSpc>
            </a:pPr>
            <a:r>
              <a:rPr lang="en-US" altLang="zh-CN" i="1" dirty="0">
                <a:solidFill>
                  <a:schemeClr val="hlink"/>
                </a:solidFill>
                <a:latin typeface="Times New Roman" panose="02020503050405090304" pitchFamily="18" charset="0"/>
              </a:rPr>
              <a:t>rules of inference</a:t>
            </a:r>
            <a:r>
              <a:rPr lang="en-US" altLang="zh-CN" i="1" dirty="0">
                <a:latin typeface="Times New Roman" panose="02020503050405090304" pitchFamily="18" charset="0"/>
              </a:rPr>
              <a:t> </a:t>
            </a:r>
            <a:r>
              <a:rPr lang="en-US" altLang="zh-CN" dirty="0">
                <a:latin typeface="Times New Roman" panose="02020503050405090304" pitchFamily="18" charset="0"/>
              </a:rPr>
              <a:t>(</a:t>
            </a:r>
            <a:r>
              <a:rPr lang="zh-CN" altLang="en-US" dirty="0">
                <a:latin typeface="Times New Roman" panose="02020503050405090304" pitchFamily="18" charset="0"/>
              </a:rPr>
              <a:t>推理规则</a:t>
            </a:r>
            <a:r>
              <a:rPr lang="en-US" altLang="zh-CN" dirty="0">
                <a:latin typeface="Times New Roman" panose="02020503050405090304" pitchFamily="18" charset="0"/>
              </a:rPr>
              <a:t>) </a:t>
            </a:r>
            <a:r>
              <a:rPr lang="zh-CN" altLang="en-US" dirty="0">
                <a:latin typeface="Times New Roman" panose="02020503050405090304" pitchFamily="18" charset="0"/>
              </a:rPr>
              <a:t>(</a:t>
            </a:r>
            <a:r>
              <a:rPr lang="en-US" altLang="zh-CN" dirty="0">
                <a:latin typeface="Times New Roman" panose="02020503050405090304" pitchFamily="18" charset="0"/>
              </a:rPr>
              <a:t>logical rules which allow the deduction of conclusions from premises).</a:t>
            </a:r>
            <a:endParaRPr lang="en-US" altLang="zh-CN" dirty="0">
              <a:latin typeface="Times New Roman" panose="02020503050405090304" pitchFamily="18" charset="0"/>
            </a:endParaRPr>
          </a:p>
          <a:p>
            <a:pPr eaLnBrk="1" hangingPunct="1">
              <a:lnSpc>
                <a:spcPct val="80000"/>
              </a:lnSpc>
            </a:pPr>
            <a:r>
              <a:rPr lang="en-US" altLang="zh-CN" dirty="0">
                <a:latin typeface="Times New Roman" panose="02020503050405090304" pitchFamily="18" charset="0"/>
              </a:rPr>
              <a:t>A </a:t>
            </a:r>
            <a:r>
              <a:rPr lang="en-US" altLang="zh-CN" i="1" dirty="0">
                <a:solidFill>
                  <a:schemeClr val="hlink"/>
                </a:solidFill>
                <a:latin typeface="Times New Roman" panose="02020503050405090304" pitchFamily="18" charset="0"/>
              </a:rPr>
              <a:t>lemma</a:t>
            </a:r>
            <a:r>
              <a:rPr lang="en-US" altLang="zh-CN" i="1" dirty="0">
                <a:latin typeface="Times New Roman" panose="02020503050405090304" pitchFamily="18" charset="0"/>
              </a:rPr>
              <a:t> </a:t>
            </a:r>
            <a:r>
              <a:rPr lang="en-US" altLang="zh-CN" dirty="0">
                <a:latin typeface="Times New Roman" panose="02020503050405090304" pitchFamily="18" charset="0"/>
              </a:rPr>
              <a:t>(</a:t>
            </a:r>
            <a:r>
              <a:rPr lang="zh-CN" altLang="en-US" dirty="0">
                <a:latin typeface="Times New Roman" panose="02020503050405090304" pitchFamily="18" charset="0"/>
              </a:rPr>
              <a:t>引理) </a:t>
            </a:r>
            <a:r>
              <a:rPr lang="en-US" altLang="zh-CN" dirty="0">
                <a:latin typeface="Times New Roman" panose="02020503050405090304" pitchFamily="18" charset="0"/>
              </a:rPr>
              <a:t>is a 'pre-theorem' or a result which is needed to prove a theorem.</a:t>
            </a:r>
            <a:endParaRPr lang="en-US" altLang="zh-CN" dirty="0">
              <a:latin typeface="Times New Roman" panose="02020503050405090304" pitchFamily="18" charset="0"/>
            </a:endParaRPr>
          </a:p>
          <a:p>
            <a:pPr eaLnBrk="1" hangingPunct="1">
              <a:lnSpc>
                <a:spcPct val="80000"/>
              </a:lnSpc>
            </a:pPr>
            <a:r>
              <a:rPr lang="en-US" altLang="zh-CN" dirty="0">
                <a:latin typeface="Times New Roman" panose="02020503050405090304" pitchFamily="18" charset="0"/>
              </a:rPr>
              <a:t>A </a:t>
            </a:r>
            <a:r>
              <a:rPr lang="en-US" altLang="zh-CN" i="1" dirty="0">
                <a:solidFill>
                  <a:schemeClr val="hlink"/>
                </a:solidFill>
                <a:latin typeface="Times New Roman" panose="02020503050405090304" pitchFamily="18" charset="0"/>
              </a:rPr>
              <a:t>corollary</a:t>
            </a:r>
            <a:r>
              <a:rPr lang="en-US" altLang="zh-CN" i="1" dirty="0">
                <a:latin typeface="Times New Roman" panose="02020503050405090304" pitchFamily="18" charset="0"/>
              </a:rPr>
              <a:t> </a:t>
            </a:r>
            <a:r>
              <a:rPr lang="en-US" altLang="zh-CN" dirty="0">
                <a:latin typeface="Times New Roman" panose="02020503050405090304" pitchFamily="18" charset="0"/>
              </a:rPr>
              <a:t>(</a:t>
            </a:r>
            <a:r>
              <a:rPr lang="zh-CN" altLang="en-US" dirty="0">
                <a:latin typeface="Times New Roman" panose="02020503050405090304" pitchFamily="18" charset="0"/>
              </a:rPr>
              <a:t>推论</a:t>
            </a:r>
            <a:r>
              <a:rPr lang="en-US" altLang="zh-CN" dirty="0">
                <a:latin typeface="Times New Roman" panose="02020503050405090304" pitchFamily="18" charset="0"/>
              </a:rPr>
              <a:t>)is a 'post-theorem' or a result which follows directly from a theorem.</a:t>
            </a:r>
            <a:endParaRPr lang="en-US" altLang="zh-CN" dirty="0">
              <a:latin typeface="Times New Roman" panose="0202050305040509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9pPr>
          </a:lstStyle>
          <a:p>
            <a:pPr>
              <a:spcBef>
                <a:spcPct val="0"/>
              </a:spcBef>
              <a:buClrTx/>
              <a:buSzTx/>
              <a:buFontTx/>
              <a:buNone/>
            </a:pPr>
            <a:fld id="{939BEC6A-B599-4EE7-8D15-8D0165D0D033}" type="slidenum">
              <a:rPr kumimoji="0" lang="zh-CN" altLang="en-US" sz="1000" smtClean="0">
                <a:solidFill>
                  <a:srgbClr val="009999"/>
                </a:solidFill>
                <a:latin typeface="Arial Narrow" panose="020B0606020202030204" pitchFamily="34" charset="0"/>
              </a:rPr>
            </a:fld>
            <a:endParaRPr kumimoji="0" lang="en-US" altLang="zh-CN" sz="1000">
              <a:solidFill>
                <a:srgbClr val="009999"/>
              </a:solidFill>
              <a:latin typeface="Arial Narrow" panose="020B0606020202030204" pitchFamily="34" charset="0"/>
            </a:endParaRPr>
          </a:p>
        </p:txBody>
      </p:sp>
      <p:sp>
        <p:nvSpPr>
          <p:cNvPr id="614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9pPr>
          </a:lstStyle>
          <a:p>
            <a:pPr>
              <a:spcBef>
                <a:spcPct val="0"/>
              </a:spcBef>
              <a:buClrTx/>
              <a:buSzTx/>
              <a:buFontTx/>
              <a:buNone/>
            </a:pPr>
            <a:fld id="{CCD35B60-AD21-481F-86B1-C91D320B8972}" type="datetime1">
              <a:rPr kumimoji="0" lang="zh-CN" altLang="en-US" sz="1000" smtClean="0">
                <a:solidFill>
                  <a:srgbClr val="009999"/>
                </a:solidFill>
                <a:latin typeface="Arial Narrow" panose="020B0606020202030204" pitchFamily="34" charset="0"/>
              </a:rPr>
            </a:fld>
            <a:endParaRPr kumimoji="0" lang="en-US" altLang="zh-CN" sz="1000">
              <a:solidFill>
                <a:srgbClr val="009999"/>
              </a:solidFill>
              <a:latin typeface="Arial Narrow" panose="020B0606020202030204" pitchFamily="34" charset="0"/>
            </a:endParaRPr>
          </a:p>
        </p:txBody>
      </p:sp>
      <p:sp>
        <p:nvSpPr>
          <p:cNvPr id="614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itchFamily="2" charset="-122"/>
              </a:defRPr>
            </a:lvl9pPr>
          </a:lstStyle>
          <a:p>
            <a:pPr>
              <a:spcBef>
                <a:spcPct val="0"/>
              </a:spcBef>
              <a:buClrTx/>
              <a:buSzTx/>
              <a:buFontTx/>
              <a:buNone/>
            </a:pPr>
            <a:r>
              <a:rPr lang="en-US" altLang="zh-CN" sz="1200" dirty="0">
                <a:solidFill>
                  <a:srgbClr val="009999"/>
                </a:solidFill>
                <a:latin typeface="Arial Narrow" panose="020B0606020202030204" pitchFamily="34" charset="0"/>
              </a:rPr>
              <a:t>School of Computer Science, BUPT</a:t>
            </a:r>
            <a:endParaRPr lang="zh-CN" altLang="en-US" sz="1200" dirty="0">
              <a:solidFill>
                <a:srgbClr val="009999"/>
              </a:solidFill>
              <a:latin typeface="Arial Narrow" panose="020B0606020202030204" pitchFamily="34" charset="0"/>
            </a:endParaRPr>
          </a:p>
        </p:txBody>
      </p:sp>
      <p:sp>
        <p:nvSpPr>
          <p:cNvPr id="6149" name="Rectangle 2"/>
          <p:cNvSpPr>
            <a:spLocks noGrp="1" noChangeArrowheads="1"/>
          </p:cNvSpPr>
          <p:nvPr>
            <p:ph type="title"/>
          </p:nvPr>
        </p:nvSpPr>
        <p:spPr/>
        <p:txBody>
          <a:bodyPr/>
          <a:lstStyle/>
          <a:p>
            <a:pPr eaLnBrk="1" hangingPunct="1"/>
            <a:r>
              <a:rPr lang="en-US" altLang="zh-CN" b="0" kern="1200" dirty="0">
                <a:latin typeface="Copperplate Gothic Bold" panose="020E0705020206020404" pitchFamily="34" charset="0"/>
                <a:ea typeface="宋体" pitchFamily="2" charset="-122"/>
                <a:cs typeface="+mn-cs"/>
              </a:rPr>
              <a:t>Form of theorems</a:t>
            </a:r>
            <a:endParaRPr lang="en-US" altLang="zh-CN" b="0" kern="1200" dirty="0">
              <a:latin typeface="Copperplate Gothic Bold" panose="020E0705020206020404" pitchFamily="34" charset="0"/>
              <a:ea typeface="宋体" pitchFamily="2" charset="-122"/>
              <a:cs typeface="+mn-cs"/>
            </a:endParaRPr>
          </a:p>
        </p:txBody>
      </p:sp>
      <p:sp>
        <p:nvSpPr>
          <p:cNvPr id="6150" name="Rectangle 3"/>
          <p:cNvSpPr>
            <a:spLocks noGrp="1" noChangeArrowheads="1"/>
          </p:cNvSpPr>
          <p:nvPr>
            <p:ph type="body" idx="1"/>
          </p:nvPr>
        </p:nvSpPr>
        <p:spPr>
          <a:xfrm>
            <a:off x="539934" y="1320071"/>
            <a:ext cx="8376419" cy="4948014"/>
          </a:xfrm>
        </p:spPr>
        <p:txBody>
          <a:bodyPr/>
          <a:lstStyle/>
          <a:p>
            <a:pPr algn="just" eaLnBrk="1" hangingPunct="1">
              <a:lnSpc>
                <a:spcPct val="80000"/>
              </a:lnSpc>
            </a:pPr>
            <a:r>
              <a:rPr lang="en-US" altLang="zh-CN" sz="2800" b="1" dirty="0">
                <a:latin typeface="Times New Roman" panose="02020503050405090304" pitchFamily="18" charset="0"/>
              </a:rPr>
              <a:t>Implication</a:t>
            </a:r>
            <a:endParaRPr lang="en-US" altLang="zh-CN" sz="2800" b="1" dirty="0">
              <a:latin typeface="Times New Roman" panose="02020503050405090304" pitchFamily="18" charset="0"/>
            </a:endParaRPr>
          </a:p>
          <a:p>
            <a:pPr lvl="1" algn="just" eaLnBrk="1" hangingPunct="1">
              <a:spcBef>
                <a:spcPts val="1200"/>
              </a:spcBef>
            </a:pPr>
            <a:r>
              <a:rPr lang="en-US" altLang="zh-CN" sz="2400" dirty="0">
                <a:latin typeface="Times New Roman" panose="02020503050405090304" pitchFamily="18" charset="0"/>
              </a:rPr>
              <a:t>P</a:t>
            </a:r>
            <a:r>
              <a:rPr lang="en-US" altLang="zh-CN" sz="2400" dirty="0">
                <a:latin typeface="Euclid" panose="02020503060505020303" pitchFamily="18" charset="0"/>
                <a:sym typeface="Symbol" panose="05050102010706020507" pitchFamily="18" charset="2"/>
              </a:rPr>
              <a:t>  </a:t>
            </a:r>
            <a:r>
              <a:rPr lang="en-US" altLang="zh-CN" sz="2400" i="1" dirty="0">
                <a:latin typeface="Times New Roman" panose="02020503050405090304" pitchFamily="18" charset="0"/>
              </a:rPr>
              <a:t>Q </a:t>
            </a:r>
            <a:endParaRPr lang="en-US" altLang="zh-CN" sz="2400" i="1" dirty="0">
              <a:latin typeface="Times New Roman" panose="02020503050405090304" pitchFamily="18" charset="0"/>
            </a:endParaRPr>
          </a:p>
          <a:p>
            <a:pPr algn="just" eaLnBrk="1" hangingPunct="1">
              <a:spcBef>
                <a:spcPts val="1200"/>
              </a:spcBef>
            </a:pPr>
            <a:r>
              <a:rPr lang="en-US" altLang="zh-CN" sz="2800" b="1" dirty="0">
                <a:latin typeface="Times New Roman" panose="02020503050405090304" pitchFamily="18" charset="0"/>
              </a:rPr>
              <a:t>Existence or nonexistence </a:t>
            </a:r>
            <a:endParaRPr lang="en-US" altLang="zh-CN" sz="2800" b="1" dirty="0">
              <a:latin typeface="Times New Roman" panose="02020503050405090304" pitchFamily="18" charset="0"/>
            </a:endParaRPr>
          </a:p>
          <a:p>
            <a:pPr lvl="1" algn="just" eaLnBrk="1" hangingPunct="1">
              <a:spcBef>
                <a:spcPts val="1200"/>
              </a:spcBef>
            </a:pPr>
            <a:r>
              <a:rPr lang="en-US" altLang="zh-CN" sz="2400" dirty="0">
                <a:latin typeface="Symbol" panose="05050102010706020507" pitchFamily="18" charset="2"/>
              </a:rPr>
              <a:t>$</a:t>
            </a:r>
            <a:r>
              <a:rPr lang="en-US" altLang="zh-CN" sz="2400" dirty="0" err="1">
                <a:latin typeface="Times New Roman" panose="02020503050405090304" pitchFamily="18" charset="0"/>
              </a:rPr>
              <a:t>xP</a:t>
            </a:r>
            <a:r>
              <a:rPr lang="en-US" altLang="zh-CN" sz="2400" dirty="0">
                <a:latin typeface="Times New Roman" panose="02020503050405090304" pitchFamily="18" charset="0"/>
              </a:rPr>
              <a:t>(x),  </a:t>
            </a:r>
            <a:r>
              <a:rPr lang="en-US" altLang="zh-CN" sz="2400" dirty="0">
                <a:latin typeface="Symbol" panose="05050102010706020507" pitchFamily="18" charset="2"/>
                <a:sym typeface="Symbol" panose="05050102010706020507" charset="0"/>
              </a:rPr>
              <a:t></a:t>
            </a:r>
            <a:r>
              <a:rPr lang="en-US" altLang="zh-CN" sz="2400" dirty="0">
                <a:latin typeface="Symbol" panose="05050102010706020507" pitchFamily="18" charset="2"/>
              </a:rPr>
              <a:t>$</a:t>
            </a:r>
            <a:r>
              <a:rPr lang="en-US" altLang="zh-CN" sz="2400" dirty="0" err="1">
                <a:latin typeface="Times New Roman" panose="02020503050405090304" pitchFamily="18" charset="0"/>
              </a:rPr>
              <a:t>xP</a:t>
            </a:r>
            <a:r>
              <a:rPr lang="en-US" altLang="zh-CN" sz="2400" dirty="0">
                <a:latin typeface="Times New Roman" panose="02020503050405090304" pitchFamily="18" charset="0"/>
              </a:rPr>
              <a:t>(x) </a:t>
            </a:r>
            <a:endParaRPr lang="en-US" altLang="zh-CN" sz="2400" dirty="0">
              <a:latin typeface="Times New Roman" panose="02020503050405090304" pitchFamily="18" charset="0"/>
            </a:endParaRPr>
          </a:p>
          <a:p>
            <a:pPr algn="just" eaLnBrk="1" hangingPunct="1">
              <a:spcBef>
                <a:spcPts val="1200"/>
              </a:spcBef>
            </a:pPr>
            <a:r>
              <a:rPr lang="en-US" altLang="zh-CN" sz="2800" b="1" dirty="0">
                <a:latin typeface="Times New Roman" panose="02020503050405090304" pitchFamily="18" charset="0"/>
              </a:rPr>
              <a:t>Uniqueness</a:t>
            </a:r>
            <a:endParaRPr lang="en-US" altLang="zh-CN" sz="2800" b="1" dirty="0">
              <a:latin typeface="Times New Roman" panose="02020503050405090304" pitchFamily="18" charset="0"/>
            </a:endParaRPr>
          </a:p>
          <a:p>
            <a:pPr lvl="1" algn="just" eaLnBrk="1" hangingPunct="1">
              <a:spcBef>
                <a:spcPts val="1200"/>
              </a:spcBef>
            </a:pPr>
            <a:r>
              <a:rPr lang="en-US" altLang="zh-CN" sz="2400" dirty="0">
                <a:latin typeface="Symbol" panose="05050102010706020507" pitchFamily="18" charset="2"/>
              </a:rPr>
              <a:t>$!</a:t>
            </a:r>
            <a:r>
              <a:rPr lang="en-US" altLang="zh-CN" sz="2400" dirty="0" err="1">
                <a:latin typeface="Times New Roman" panose="02020503050405090304" pitchFamily="18" charset="0"/>
              </a:rPr>
              <a:t>xP</a:t>
            </a:r>
            <a:r>
              <a:rPr lang="en-US" altLang="zh-CN" sz="2400" dirty="0">
                <a:latin typeface="Times New Roman" panose="02020503050405090304" pitchFamily="18" charset="0"/>
              </a:rPr>
              <a:t>(x)</a:t>
            </a:r>
            <a:endParaRPr lang="en-US" altLang="zh-CN" sz="2400" b="1" dirty="0">
              <a:latin typeface="Times New Roman" panose="02020503050405090304" pitchFamily="18" charset="0"/>
            </a:endParaRPr>
          </a:p>
          <a:p>
            <a:pPr algn="just" eaLnBrk="1" hangingPunct="1">
              <a:spcBef>
                <a:spcPts val="1200"/>
              </a:spcBef>
            </a:pPr>
            <a:r>
              <a:rPr lang="en-US" altLang="zh-CN" sz="2800" b="1" dirty="0">
                <a:latin typeface="Times New Roman" panose="02020503050405090304" pitchFamily="18" charset="0"/>
              </a:rPr>
              <a:t>Universally Quantified Assertions</a:t>
            </a:r>
            <a:endParaRPr lang="en-US" altLang="zh-CN" sz="2800" b="1" dirty="0">
              <a:latin typeface="Times New Roman" panose="02020503050405090304" pitchFamily="18" charset="0"/>
            </a:endParaRPr>
          </a:p>
          <a:p>
            <a:pPr lvl="1" algn="just" eaLnBrk="1" hangingPunct="1">
              <a:spcBef>
                <a:spcPts val="1200"/>
              </a:spcBef>
            </a:pPr>
            <a:r>
              <a:rPr lang="en-US" altLang="zh-CN" sz="2400" dirty="0">
                <a:latin typeface="Symbol" panose="05050102010706020507" pitchFamily="18" charset="2"/>
              </a:rPr>
              <a:t>"</a:t>
            </a:r>
            <a:r>
              <a:rPr lang="en-US" altLang="zh-CN" sz="2400" dirty="0" err="1">
                <a:latin typeface="Times New Roman" panose="02020503050405090304" pitchFamily="18" charset="0"/>
              </a:rPr>
              <a:t>xP</a:t>
            </a:r>
            <a:r>
              <a:rPr lang="en-US" altLang="zh-CN" sz="2400" dirty="0">
                <a:latin typeface="Times New Roman" panose="02020503050405090304" pitchFamily="18" charset="0"/>
              </a:rPr>
              <a:t>(x), </a:t>
            </a:r>
            <a:r>
              <a:rPr lang="en-US" altLang="zh-CN" sz="2400" dirty="0">
                <a:latin typeface="Symbol" panose="05050102010706020507" pitchFamily="18" charset="2"/>
                <a:sym typeface="Symbol" panose="05050102010706020507" charset="0"/>
              </a:rPr>
              <a:t></a:t>
            </a:r>
            <a:r>
              <a:rPr lang="en-US" altLang="zh-CN" sz="2400" dirty="0">
                <a:latin typeface="Symbol" panose="05050102010706020507" pitchFamily="18" charset="2"/>
              </a:rPr>
              <a:t>"</a:t>
            </a:r>
            <a:r>
              <a:rPr lang="en-US" altLang="zh-CN" sz="2400" dirty="0" err="1">
                <a:latin typeface="Times New Roman" panose="02020503050405090304" pitchFamily="18" charset="0"/>
              </a:rPr>
              <a:t>xP</a:t>
            </a:r>
            <a:r>
              <a:rPr lang="en-US" altLang="zh-CN" sz="2400" dirty="0">
                <a:latin typeface="Times New Roman" panose="02020503050405090304" pitchFamily="18" charset="0"/>
              </a:rPr>
              <a:t>(x)</a:t>
            </a:r>
            <a:endParaRPr lang="en-US" altLang="zh-CN" sz="2400" kern="1200" dirty="0">
              <a:latin typeface="Copperplate Gothic Bold" panose="020E0705020206020404" pitchFamily="34" charset="0"/>
              <a:ea typeface="宋体" pitchFamily="2" charset="-122"/>
            </a:endParaRPr>
          </a:p>
          <a:p>
            <a:pPr lvl="1" algn="just" eaLnBrk="1" hangingPunct="1">
              <a:spcBef>
                <a:spcPts val="1200"/>
              </a:spcBef>
            </a:pPr>
            <a:endParaRPr lang="en-US" altLang="zh-CN" sz="2400" kern="1200" dirty="0">
              <a:solidFill>
                <a:srgbClr val="FF0000"/>
              </a:solidFill>
              <a:latin typeface="Copperplate Gothic Bold" panose="020E0705020206020404" pitchFamily="34" charset="0"/>
              <a:ea typeface="宋体" pitchFamily="2" charset="-122"/>
            </a:endParaRPr>
          </a:p>
          <a:p>
            <a:pPr lvl="1" algn="just" eaLnBrk="1" hangingPunct="1">
              <a:spcBef>
                <a:spcPts val="1200"/>
              </a:spcBef>
            </a:pPr>
            <a:endParaRPr lang="en-US" altLang="zh-CN" sz="2400" i="1" dirty="0">
              <a:latin typeface="Times New Roman" panose="0202050305040509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17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17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7173" name="Rectangle 2"/>
          <p:cNvSpPr>
            <a:spLocks noGrp="1"/>
          </p:cNvSpPr>
          <p:nvPr>
            <p:ph type="title"/>
          </p:nvPr>
        </p:nvSpPr>
        <p:spPr/>
        <p:txBody>
          <a:bodyPr vert="horz" wrap="square" lIns="91440" tIns="45720" rIns="91440" bIns="45720" anchor="b" anchorCtr="0"/>
          <a:p>
            <a:pPr eaLnBrk="1" hangingPunct="1"/>
            <a:r>
              <a:rPr lang="en-US" altLang="zh-CN" dirty="0"/>
              <a:t>Methods of Proof</a:t>
            </a:r>
            <a:endParaRPr lang="en-US" altLang="zh-CN" dirty="0"/>
          </a:p>
        </p:txBody>
      </p:sp>
      <p:sp>
        <p:nvSpPr>
          <p:cNvPr id="7174" name="Rectangle 3"/>
          <p:cNvSpPr>
            <a:spLocks noGrp="1"/>
          </p:cNvSpPr>
          <p:nvPr>
            <p:ph idx="1"/>
          </p:nvPr>
        </p:nvSpPr>
        <p:spPr>
          <a:xfrm>
            <a:off x="972185" y="1412875"/>
            <a:ext cx="7772400" cy="4114800"/>
          </a:xfrm>
        </p:spPr>
        <p:txBody>
          <a:bodyPr vert="horz" wrap="square" lIns="91440" tIns="45720" rIns="91440" bIns="45720" anchor="t" anchorCtr="0"/>
          <a:p>
            <a:pPr eaLnBrk="1" hangingPunct="1"/>
            <a:r>
              <a:rPr lang="en-US" altLang="zh-CN" dirty="0">
                <a:latin typeface="Times New Roman" panose="02020503050405090304" pitchFamily="18" charset="0"/>
              </a:rPr>
              <a:t>We wish to establish the truth of the 'theorem'</a:t>
            </a:r>
            <a:endParaRPr lang="en-US" altLang="zh-CN" dirty="0">
              <a:latin typeface="Times New Roman" panose="02020503050405090304" pitchFamily="18" charset="0"/>
            </a:endParaRPr>
          </a:p>
          <a:p>
            <a:pPr eaLnBrk="1" hangingPunct="1">
              <a:buNone/>
            </a:pPr>
            <a:r>
              <a:rPr lang="en-US" altLang="zh-CN" i="1" dirty="0">
                <a:latin typeface="Times New Roman" panose="02020503050405090304" pitchFamily="18" charset="0"/>
              </a:rPr>
              <a:t>				P </a:t>
            </a:r>
            <a:r>
              <a:rPr lang="en-US" altLang="zh-CN" dirty="0">
                <a:latin typeface="Euclid" panose="02020503060505020303" pitchFamily="18" charset="0"/>
                <a:sym typeface="Symbol" panose="05050102010706020507" pitchFamily="18" charset="2"/>
              </a:rPr>
              <a:t> </a:t>
            </a:r>
            <a:r>
              <a:rPr lang="en-US" altLang="zh-CN" i="1" dirty="0">
                <a:latin typeface="Times New Roman" panose="02020503050405090304" pitchFamily="18" charset="0"/>
              </a:rPr>
              <a:t>Q</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eaLnBrk="1" hangingPunct="1"/>
            <a:r>
              <a:rPr lang="en-US" altLang="zh-CN" i="1" dirty="0">
                <a:latin typeface="Times New Roman" panose="02020503050405090304" pitchFamily="18" charset="0"/>
              </a:rPr>
              <a:t>P </a:t>
            </a:r>
            <a:r>
              <a:rPr lang="en-US" altLang="zh-CN" dirty="0">
                <a:latin typeface="Times New Roman" panose="02020503050405090304" pitchFamily="18" charset="0"/>
              </a:rPr>
              <a:t>may be a conjunction of other hypotheses.</a:t>
            </a:r>
            <a:endParaRPr lang="en-US" altLang="zh-CN" dirty="0">
              <a:latin typeface="Times New Roman" panose="02020503050405090304" pitchFamily="18" charset="0"/>
            </a:endParaRPr>
          </a:p>
          <a:p>
            <a:pPr eaLnBrk="1" hangingPunct="1"/>
            <a:r>
              <a:rPr lang="en-US" altLang="zh-CN" i="1" dirty="0">
                <a:latin typeface="Times New Roman" panose="02020503050405090304" pitchFamily="18" charset="0"/>
              </a:rPr>
              <a:t>P </a:t>
            </a:r>
            <a:r>
              <a:rPr lang="en-US" altLang="zh-CN" dirty="0">
                <a:latin typeface="Euclid" panose="02020503060505020303" pitchFamily="18" charset="0"/>
                <a:sym typeface="Symbol" panose="05050102010706020507" pitchFamily="18" charset="2"/>
              </a:rPr>
              <a:t> </a:t>
            </a:r>
            <a:r>
              <a:rPr lang="en-US" altLang="zh-CN" i="1" dirty="0">
                <a:latin typeface="Times New Roman" panose="02020503050405090304" pitchFamily="18" charset="0"/>
              </a:rPr>
              <a:t>Q </a:t>
            </a:r>
            <a:r>
              <a:rPr lang="en-US" altLang="zh-CN" dirty="0">
                <a:latin typeface="Times New Roman" panose="02020503050405090304" pitchFamily="18" charset="0"/>
              </a:rPr>
              <a:t>is a </a:t>
            </a:r>
            <a:r>
              <a:rPr lang="en-US" altLang="zh-CN" i="1" dirty="0">
                <a:solidFill>
                  <a:schemeClr val="hlink"/>
                </a:solidFill>
                <a:latin typeface="Times New Roman" panose="02020503050405090304" pitchFamily="18" charset="0"/>
              </a:rPr>
              <a:t>conjecture</a:t>
            </a:r>
            <a:r>
              <a:rPr lang="en-US" altLang="zh-CN" i="1" dirty="0">
                <a:latin typeface="Times New Roman" panose="02020503050405090304" pitchFamily="18" charset="0"/>
              </a:rPr>
              <a:t> </a:t>
            </a:r>
            <a:r>
              <a:rPr lang="en-US" altLang="zh-CN" dirty="0">
                <a:latin typeface="Times New Roman" panose="02020503050405090304" pitchFamily="18" charset="0"/>
              </a:rPr>
              <a:t>(</a:t>
            </a:r>
            <a:r>
              <a:rPr lang="zh-CN" altLang="en-US" dirty="0">
                <a:latin typeface="Times New Roman" panose="02020503050405090304" pitchFamily="18" charset="0"/>
              </a:rPr>
              <a:t>推测</a:t>
            </a:r>
            <a:r>
              <a:rPr lang="en-US" altLang="zh-CN" dirty="0">
                <a:latin typeface="Times New Roman" panose="02020503050405090304" pitchFamily="18" charset="0"/>
              </a:rPr>
              <a:t>) until a proof is produced.</a:t>
            </a:r>
            <a:endParaRPr lang="en-US" altLang="zh-CN" dirty="0">
              <a:latin typeface="Times New Roman" panose="0202050305040509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819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819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8197"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Proof Methods for Implications</a:t>
            </a:r>
            <a:endParaRPr lang="en-US" altLang="zh-CN" dirty="0">
              <a:latin typeface="Times New Roman" panose="02020503050405090304" pitchFamily="18" charset="0"/>
            </a:endParaRPr>
          </a:p>
        </p:txBody>
      </p:sp>
      <p:sp>
        <p:nvSpPr>
          <p:cNvPr id="8198" name="Rectangle 3"/>
          <p:cNvSpPr>
            <a:spLocks noGrp="1"/>
          </p:cNvSpPr>
          <p:nvPr>
            <p:ph idx="1"/>
          </p:nvPr>
        </p:nvSpPr>
        <p:spPr>
          <a:xfrm>
            <a:off x="972185" y="1371600"/>
            <a:ext cx="7887335" cy="4531360"/>
          </a:xfrm>
        </p:spPr>
        <p:txBody>
          <a:bodyPr vert="horz" wrap="square" lIns="91440" tIns="45720" rIns="91440" bIns="45720" anchor="t" anchorCtr="0"/>
          <a:p>
            <a:pPr eaLnBrk="1" hangingPunct="1">
              <a:buNone/>
            </a:pPr>
            <a:r>
              <a:rPr lang="en-US" altLang="zh-CN" dirty="0">
                <a:latin typeface="Times New Roman" panose="02020503050405090304" pitchFamily="18" charset="0"/>
              </a:rPr>
              <a:t>For proving implications </a:t>
            </a:r>
            <a:r>
              <a:rPr lang="en-US" altLang="zh-CN" i="1" dirty="0">
                <a:latin typeface="Times New Roman" panose="02020503050405090304" pitchFamily="18" charset="0"/>
              </a:rPr>
              <a:t>p</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q</a:t>
            </a:r>
            <a:r>
              <a:rPr lang="en-US" altLang="zh-CN" dirty="0">
                <a:latin typeface="Times New Roman" panose="02020503050405090304" pitchFamily="18" charset="0"/>
                <a:sym typeface="Symbol" panose="05050102010706020507" pitchFamily="18" charset="2"/>
              </a:rPr>
              <a:t>, we have:</a:t>
            </a:r>
            <a:endParaRPr lang="en-US" altLang="zh-CN" dirty="0">
              <a:latin typeface="Times New Roman" panose="02020503050405090304" pitchFamily="18" charset="0"/>
              <a:sym typeface="Symbol" panose="05050102010706020507" pitchFamily="18" charset="2"/>
            </a:endParaRPr>
          </a:p>
          <a:p>
            <a:pPr eaLnBrk="1" hangingPunct="1"/>
            <a:r>
              <a:rPr lang="en-US" altLang="zh-CN" i="1" dirty="0">
                <a:solidFill>
                  <a:schemeClr val="tx2"/>
                </a:solidFill>
                <a:latin typeface="Times New Roman" panose="02020503050405090304" pitchFamily="18" charset="0"/>
              </a:rPr>
              <a:t>Direct</a:t>
            </a:r>
            <a:r>
              <a:rPr lang="en-US" altLang="zh-CN" dirty="0">
                <a:solidFill>
                  <a:schemeClr val="tx2"/>
                </a:solidFill>
                <a:latin typeface="Times New Roman" panose="02020503050405090304" pitchFamily="18" charset="0"/>
              </a:rPr>
              <a:t> proof:</a:t>
            </a:r>
            <a:r>
              <a:rPr lang="en-US" altLang="zh-CN" dirty="0">
                <a:latin typeface="Times New Roman" panose="02020503050405090304" pitchFamily="18" charset="0"/>
              </a:rPr>
              <a:t> </a:t>
            </a:r>
            <a:r>
              <a:rPr lang="en-US" altLang="zh-CN" dirty="0">
                <a:solidFill>
                  <a:srgbClr val="006600"/>
                </a:solidFill>
                <a:latin typeface="Times New Roman" panose="02020503050405090304" pitchFamily="18" charset="0"/>
              </a:rPr>
              <a:t>Assume </a:t>
            </a:r>
            <a:r>
              <a:rPr lang="en-US" altLang="zh-CN" i="1" dirty="0">
                <a:solidFill>
                  <a:srgbClr val="006600"/>
                </a:solidFill>
                <a:latin typeface="Times New Roman" panose="02020503050405090304" pitchFamily="18" charset="0"/>
              </a:rPr>
              <a:t>p</a:t>
            </a:r>
            <a:r>
              <a:rPr lang="en-US" altLang="zh-CN" dirty="0">
                <a:solidFill>
                  <a:srgbClr val="006600"/>
                </a:solidFill>
                <a:latin typeface="Times New Roman" panose="02020503050405090304" pitchFamily="18" charset="0"/>
              </a:rPr>
              <a:t> is true, and prove </a:t>
            </a:r>
            <a:r>
              <a:rPr lang="en-US" altLang="zh-CN" i="1" dirty="0">
                <a:solidFill>
                  <a:srgbClr val="006600"/>
                </a:solidFill>
                <a:latin typeface="Times New Roman" panose="02020503050405090304" pitchFamily="18" charset="0"/>
              </a:rPr>
              <a:t>q</a:t>
            </a:r>
            <a:r>
              <a:rPr lang="en-US" altLang="zh-CN" dirty="0">
                <a:solidFill>
                  <a:srgbClr val="006600"/>
                </a:solidFill>
                <a:latin typeface="Times New Roman" panose="02020503050405090304" pitchFamily="18" charset="0"/>
              </a:rPr>
              <a:t>.</a:t>
            </a:r>
            <a:endParaRPr lang="en-US" altLang="zh-CN" dirty="0">
              <a:solidFill>
                <a:srgbClr val="006600"/>
              </a:solidFill>
              <a:latin typeface="Times New Roman" panose="02020503050405090304" pitchFamily="18" charset="0"/>
            </a:endParaRPr>
          </a:p>
          <a:p>
            <a:pPr eaLnBrk="1" hangingPunct="1"/>
            <a:r>
              <a:rPr lang="en-US" altLang="zh-CN" i="1" dirty="0">
                <a:solidFill>
                  <a:schemeClr val="tx2"/>
                </a:solidFill>
                <a:latin typeface="Times New Roman" panose="02020503050405090304" pitchFamily="18" charset="0"/>
              </a:rPr>
              <a:t>Indirect</a:t>
            </a:r>
            <a:r>
              <a:rPr lang="en-US" altLang="zh-CN" dirty="0">
                <a:solidFill>
                  <a:schemeClr val="tx2"/>
                </a:solidFill>
                <a:latin typeface="Times New Roman" panose="02020503050405090304" pitchFamily="18" charset="0"/>
              </a:rPr>
              <a:t> proof:</a:t>
            </a:r>
            <a:r>
              <a:rPr lang="en-US" altLang="zh-CN" dirty="0">
                <a:latin typeface="Times New Roman" panose="02020503050405090304" pitchFamily="18" charset="0"/>
              </a:rPr>
              <a:t> </a:t>
            </a:r>
            <a:r>
              <a:rPr lang="en-US" altLang="zh-CN" dirty="0">
                <a:solidFill>
                  <a:srgbClr val="006600"/>
                </a:solidFill>
                <a:latin typeface="Times New Roman" panose="02020503050405090304" pitchFamily="18" charset="0"/>
              </a:rPr>
              <a:t>Assume </a:t>
            </a:r>
            <a:r>
              <a:rPr lang="en-US" altLang="zh-CN" dirty="0">
                <a:solidFill>
                  <a:srgbClr val="006600"/>
                </a:solidFill>
                <a:latin typeface="Times New Roman" panose="02020503050405090304" pitchFamily="18" charset="0"/>
                <a:sym typeface="Symbol" panose="05050102010706020507" pitchFamily="18" charset="2"/>
              </a:rPr>
              <a:t></a:t>
            </a:r>
            <a:r>
              <a:rPr lang="en-US" altLang="zh-CN" i="1" dirty="0">
                <a:solidFill>
                  <a:srgbClr val="006600"/>
                </a:solidFill>
                <a:latin typeface="Times New Roman" panose="02020503050405090304" pitchFamily="18" charset="0"/>
              </a:rPr>
              <a:t>q</a:t>
            </a:r>
            <a:r>
              <a:rPr lang="en-US" altLang="zh-CN" dirty="0">
                <a:solidFill>
                  <a:srgbClr val="006600"/>
                </a:solidFill>
                <a:latin typeface="Times New Roman" panose="02020503050405090304" pitchFamily="18" charset="0"/>
              </a:rPr>
              <a:t>, and prove </a:t>
            </a:r>
            <a:r>
              <a:rPr lang="en-US" altLang="zh-CN" dirty="0">
                <a:solidFill>
                  <a:srgbClr val="006600"/>
                </a:solidFill>
                <a:latin typeface="Times New Roman" panose="02020503050405090304" pitchFamily="18" charset="0"/>
                <a:sym typeface="Symbol" panose="05050102010706020507" pitchFamily="18" charset="2"/>
              </a:rPr>
              <a:t></a:t>
            </a:r>
            <a:r>
              <a:rPr lang="en-US" altLang="zh-CN" i="1" dirty="0">
                <a:solidFill>
                  <a:srgbClr val="006600"/>
                </a:solidFill>
                <a:latin typeface="Times New Roman" panose="02020503050405090304" pitchFamily="18" charset="0"/>
                <a:sym typeface="Symbol" panose="05050102010706020507" pitchFamily="18" charset="2"/>
              </a:rPr>
              <a:t>p</a:t>
            </a:r>
            <a:r>
              <a:rPr lang="en-US" altLang="zh-CN" dirty="0">
                <a:solidFill>
                  <a:srgbClr val="006600"/>
                </a:solidFill>
                <a:latin typeface="Times New Roman" panose="02020503050405090304" pitchFamily="18" charset="0"/>
                <a:sym typeface="Symbol" panose="05050102010706020507" pitchFamily="18" charset="2"/>
              </a:rPr>
              <a:t>.</a:t>
            </a:r>
            <a:endParaRPr lang="en-US" altLang="zh-CN" dirty="0">
              <a:solidFill>
                <a:srgbClr val="006600"/>
              </a:solidFill>
              <a:latin typeface="Times New Roman" panose="02020503050405090304" pitchFamily="18" charset="0"/>
              <a:sym typeface="Symbol" panose="05050102010706020507" pitchFamily="18" charset="2"/>
            </a:endParaRPr>
          </a:p>
          <a:p>
            <a:pPr eaLnBrk="1" hangingPunct="1"/>
            <a:r>
              <a:rPr lang="en-US" altLang="zh-CN" i="1" dirty="0">
                <a:solidFill>
                  <a:schemeClr val="tx2"/>
                </a:solidFill>
                <a:latin typeface="Times New Roman" panose="02020503050405090304" pitchFamily="18" charset="0"/>
                <a:sym typeface="Symbol" panose="05050102010706020507" pitchFamily="18" charset="2"/>
              </a:rPr>
              <a:t>Vacuous</a:t>
            </a:r>
            <a:r>
              <a:rPr lang="en-US" altLang="zh-CN" dirty="0">
                <a:solidFill>
                  <a:schemeClr val="tx2"/>
                </a:solidFill>
                <a:latin typeface="Times New Roman" panose="02020503050405090304" pitchFamily="18" charset="0"/>
                <a:sym typeface="Symbol" panose="05050102010706020507" pitchFamily="18" charset="2"/>
              </a:rPr>
              <a:t> proof:</a:t>
            </a:r>
            <a:r>
              <a:rPr lang="en-US" altLang="zh-CN" dirty="0">
                <a:latin typeface="Times New Roman" panose="02020503050405090304" pitchFamily="18" charset="0"/>
                <a:sym typeface="Symbol" panose="05050102010706020507" pitchFamily="18" charset="2"/>
              </a:rPr>
              <a:t> </a:t>
            </a:r>
            <a:r>
              <a:rPr lang="en-US" altLang="zh-CN" dirty="0">
                <a:solidFill>
                  <a:srgbClr val="006600"/>
                </a:solidFill>
                <a:latin typeface="Times New Roman" panose="02020503050405090304" pitchFamily="18" charset="0"/>
                <a:sym typeface="Symbol" panose="05050102010706020507" pitchFamily="18" charset="2"/>
              </a:rPr>
              <a:t>Prove </a:t>
            </a:r>
            <a:r>
              <a:rPr lang="en-US" altLang="zh-CN" i="1" dirty="0">
                <a:solidFill>
                  <a:srgbClr val="006600"/>
                </a:solidFill>
                <a:latin typeface="Times New Roman" panose="02020503050405090304" pitchFamily="18" charset="0"/>
                <a:sym typeface="Symbol" panose="05050102010706020507" pitchFamily="18" charset="2"/>
              </a:rPr>
              <a:t>p</a:t>
            </a:r>
            <a:r>
              <a:rPr lang="en-US" altLang="zh-CN" dirty="0">
                <a:solidFill>
                  <a:srgbClr val="006600"/>
                </a:solidFill>
                <a:latin typeface="Times New Roman" panose="02020503050405090304" pitchFamily="18" charset="0"/>
                <a:sym typeface="Symbol" panose="05050102010706020507" pitchFamily="18" charset="2"/>
              </a:rPr>
              <a:t> by itself.</a:t>
            </a:r>
            <a:endParaRPr lang="en-US" altLang="zh-CN" dirty="0">
              <a:solidFill>
                <a:srgbClr val="006600"/>
              </a:solidFill>
              <a:latin typeface="Times New Roman" panose="02020503050405090304" pitchFamily="18" charset="0"/>
              <a:sym typeface="Symbol" panose="05050102010706020507" pitchFamily="18" charset="2"/>
            </a:endParaRPr>
          </a:p>
          <a:p>
            <a:pPr eaLnBrk="1" hangingPunct="1"/>
            <a:r>
              <a:rPr lang="en-US" altLang="zh-CN" i="1" dirty="0">
                <a:solidFill>
                  <a:schemeClr val="tx2"/>
                </a:solidFill>
                <a:latin typeface="Times New Roman" panose="02020503050405090304" pitchFamily="18" charset="0"/>
                <a:sym typeface="Symbol" panose="05050102010706020507" pitchFamily="18" charset="2"/>
              </a:rPr>
              <a:t>Trivial</a:t>
            </a:r>
            <a:r>
              <a:rPr lang="en-US" altLang="zh-CN" dirty="0">
                <a:solidFill>
                  <a:schemeClr val="tx2"/>
                </a:solidFill>
                <a:latin typeface="Times New Roman" panose="02020503050405090304" pitchFamily="18" charset="0"/>
                <a:sym typeface="Symbol" panose="05050102010706020507" pitchFamily="18" charset="2"/>
              </a:rPr>
              <a:t> proof:</a:t>
            </a:r>
            <a:r>
              <a:rPr lang="en-US" altLang="zh-CN" dirty="0">
                <a:latin typeface="Times New Roman" panose="02020503050405090304" pitchFamily="18" charset="0"/>
                <a:sym typeface="Symbol" panose="05050102010706020507" pitchFamily="18" charset="2"/>
              </a:rPr>
              <a:t> </a:t>
            </a:r>
            <a:r>
              <a:rPr lang="en-US" altLang="zh-CN" dirty="0">
                <a:solidFill>
                  <a:srgbClr val="006600"/>
                </a:solidFill>
                <a:latin typeface="Times New Roman" panose="02020503050405090304" pitchFamily="18" charset="0"/>
                <a:sym typeface="Symbol" panose="05050102010706020507" pitchFamily="18" charset="2"/>
              </a:rPr>
              <a:t>Prove </a:t>
            </a:r>
            <a:r>
              <a:rPr lang="en-US" altLang="zh-CN" i="1" dirty="0">
                <a:solidFill>
                  <a:srgbClr val="006600"/>
                </a:solidFill>
                <a:latin typeface="Times New Roman" panose="02020503050405090304" pitchFamily="18" charset="0"/>
                <a:sym typeface="Symbol" panose="05050102010706020507" pitchFamily="18" charset="2"/>
              </a:rPr>
              <a:t>q</a:t>
            </a:r>
            <a:r>
              <a:rPr lang="en-US" altLang="zh-CN" dirty="0">
                <a:solidFill>
                  <a:srgbClr val="006600"/>
                </a:solidFill>
                <a:latin typeface="Times New Roman" panose="02020503050405090304" pitchFamily="18" charset="0"/>
                <a:sym typeface="Symbol" panose="05050102010706020507" pitchFamily="18" charset="2"/>
              </a:rPr>
              <a:t> by itself.</a:t>
            </a:r>
            <a:endParaRPr lang="en-US" altLang="zh-CN" dirty="0">
              <a:solidFill>
                <a:srgbClr val="006600"/>
              </a:solidFill>
              <a:latin typeface="Times New Roman" panose="02020503050405090304" pitchFamily="18" charset="0"/>
              <a:sym typeface="Symbol" panose="05050102010706020507" pitchFamily="18" charset="2"/>
            </a:endParaRPr>
          </a:p>
          <a:p>
            <a:pPr eaLnBrk="1" hangingPunct="1"/>
            <a:r>
              <a:rPr lang="en-US" altLang="zh-CN" dirty="0">
                <a:solidFill>
                  <a:schemeClr val="tx2"/>
                </a:solidFill>
                <a:latin typeface="Times New Roman" panose="02020503050405090304" pitchFamily="18" charset="0"/>
                <a:sym typeface="Symbol" panose="05050102010706020507" pitchFamily="18" charset="2"/>
              </a:rPr>
              <a:t>Proof by cases:</a:t>
            </a:r>
            <a:r>
              <a:rPr lang="en-US" altLang="zh-CN" dirty="0">
                <a:latin typeface="Times New Roman" panose="02020503050405090304" pitchFamily="18" charset="0"/>
                <a:sym typeface="Symbol" panose="05050102010706020507" pitchFamily="18" charset="2"/>
              </a:rPr>
              <a:t> </a:t>
            </a:r>
            <a:br>
              <a:rPr lang="en-US" altLang="zh-CN" dirty="0">
                <a:latin typeface="Times New Roman" panose="02020503050405090304" pitchFamily="18" charset="0"/>
                <a:sym typeface="Symbol" panose="05050102010706020507" pitchFamily="18" charset="2"/>
              </a:rPr>
            </a:br>
            <a:r>
              <a:rPr lang="en-US" altLang="zh-CN" dirty="0">
                <a:solidFill>
                  <a:srgbClr val="006600"/>
                </a:solidFill>
                <a:latin typeface="Times New Roman" panose="02020503050405090304" pitchFamily="18" charset="0"/>
                <a:sym typeface="Symbol" panose="05050102010706020507" pitchFamily="18" charset="2"/>
              </a:rPr>
              <a:t>Show </a:t>
            </a:r>
            <a:r>
              <a:rPr lang="en-US" altLang="zh-CN" i="1" dirty="0">
                <a:solidFill>
                  <a:srgbClr val="006600"/>
                </a:solidFill>
                <a:latin typeface="Times New Roman" panose="02020503050405090304" pitchFamily="18" charset="0"/>
                <a:sym typeface="Symbol" panose="05050102010706020507" pitchFamily="18" charset="2"/>
              </a:rPr>
              <a:t>p</a:t>
            </a:r>
            <a:r>
              <a:rPr lang="en-US" altLang="zh-CN" dirty="0">
                <a:solidFill>
                  <a:srgbClr val="006600"/>
                </a:solidFill>
                <a:latin typeface="Arial" panose="020B0604020202090204" pitchFamily="34" charset="0"/>
                <a:cs typeface="Arial" panose="020B0604020202090204" pitchFamily="34" charset="0"/>
                <a:sym typeface="Symbol" panose="05050102010706020507" pitchFamily="18" charset="2"/>
              </a:rPr>
              <a:t>↔</a:t>
            </a:r>
            <a:r>
              <a:rPr lang="en-US" altLang="zh-CN" dirty="0">
                <a:solidFill>
                  <a:srgbClr val="006600"/>
                </a:solidFill>
                <a:latin typeface="Times New Roman" panose="02020503050405090304" pitchFamily="18" charset="0"/>
                <a:sym typeface="Symbol" panose="05050102010706020507" pitchFamily="18" charset="2"/>
              </a:rPr>
              <a:t>(</a:t>
            </a:r>
            <a:r>
              <a:rPr lang="en-US" altLang="zh-CN" i="1" dirty="0">
                <a:solidFill>
                  <a:srgbClr val="006600"/>
                </a:solidFill>
                <a:latin typeface="Times New Roman" panose="02020503050405090304" pitchFamily="18" charset="0"/>
                <a:sym typeface="Symbol" panose="05050102010706020507" pitchFamily="18" charset="2"/>
              </a:rPr>
              <a:t>a</a:t>
            </a:r>
            <a:r>
              <a:rPr lang="en-US" altLang="zh-CN" dirty="0">
                <a:solidFill>
                  <a:srgbClr val="006600"/>
                </a:solidFill>
                <a:latin typeface="Times New Roman" panose="02020503050405090304" pitchFamily="18" charset="0"/>
                <a:sym typeface="Symbol" panose="05050102010706020507" pitchFamily="18" charset="2"/>
              </a:rPr>
              <a:t>  </a:t>
            </a:r>
            <a:r>
              <a:rPr lang="en-US" altLang="zh-CN" i="1" dirty="0">
                <a:solidFill>
                  <a:srgbClr val="006600"/>
                </a:solidFill>
                <a:latin typeface="Times New Roman" panose="02020503050405090304" pitchFamily="18" charset="0"/>
                <a:sym typeface="Symbol" panose="05050102010706020507" pitchFamily="18" charset="2"/>
              </a:rPr>
              <a:t>b</a:t>
            </a:r>
            <a:r>
              <a:rPr lang="en-US" altLang="zh-CN" dirty="0">
                <a:solidFill>
                  <a:srgbClr val="006600"/>
                </a:solidFill>
                <a:latin typeface="Times New Roman" panose="02020503050405090304" pitchFamily="18" charset="0"/>
                <a:sym typeface="Symbol" panose="05050102010706020507" pitchFamily="18" charset="2"/>
              </a:rPr>
              <a:t>), and (</a:t>
            </a:r>
            <a:r>
              <a:rPr lang="en-US" altLang="zh-CN" i="1" dirty="0">
                <a:solidFill>
                  <a:srgbClr val="006600"/>
                </a:solidFill>
                <a:latin typeface="Times New Roman" panose="02020503050405090304" pitchFamily="18" charset="0"/>
                <a:sym typeface="Symbol" panose="05050102010706020507" pitchFamily="18" charset="2"/>
              </a:rPr>
              <a:t>a</a:t>
            </a:r>
            <a:r>
              <a:rPr lang="en-US" altLang="zh-CN" dirty="0">
                <a:solidFill>
                  <a:srgbClr val="006600"/>
                </a:solidFill>
                <a:latin typeface="Times New Roman" panose="02020503050405090304" pitchFamily="18" charset="0"/>
                <a:sym typeface="Symbol" panose="05050102010706020507" pitchFamily="18" charset="2"/>
              </a:rPr>
              <a:t></a:t>
            </a:r>
            <a:r>
              <a:rPr lang="en-US" altLang="zh-CN" i="1" dirty="0">
                <a:solidFill>
                  <a:srgbClr val="006600"/>
                </a:solidFill>
                <a:latin typeface="Times New Roman" panose="02020503050405090304" pitchFamily="18" charset="0"/>
                <a:sym typeface="Symbol" panose="05050102010706020507" pitchFamily="18" charset="2"/>
              </a:rPr>
              <a:t>q</a:t>
            </a:r>
            <a:r>
              <a:rPr lang="en-US" altLang="zh-CN" dirty="0">
                <a:solidFill>
                  <a:srgbClr val="006600"/>
                </a:solidFill>
                <a:latin typeface="Times New Roman" panose="02020503050405090304" pitchFamily="18" charset="0"/>
                <a:sym typeface="Symbol" panose="05050102010706020507" pitchFamily="18" charset="2"/>
              </a:rPr>
              <a:t>) and (</a:t>
            </a:r>
            <a:r>
              <a:rPr lang="en-US" altLang="zh-CN" i="1" dirty="0">
                <a:solidFill>
                  <a:srgbClr val="006600"/>
                </a:solidFill>
                <a:latin typeface="Times New Roman" panose="02020503050405090304" pitchFamily="18" charset="0"/>
                <a:sym typeface="Symbol" panose="05050102010706020507" pitchFamily="18" charset="2"/>
              </a:rPr>
              <a:t>b</a:t>
            </a:r>
            <a:r>
              <a:rPr lang="en-US" altLang="zh-CN" dirty="0">
                <a:solidFill>
                  <a:srgbClr val="006600"/>
                </a:solidFill>
                <a:latin typeface="Times New Roman" panose="02020503050405090304" pitchFamily="18" charset="0"/>
                <a:sym typeface="Symbol" panose="05050102010706020507" pitchFamily="18" charset="2"/>
              </a:rPr>
              <a:t></a:t>
            </a:r>
            <a:r>
              <a:rPr lang="en-US" altLang="zh-CN" i="1" dirty="0">
                <a:solidFill>
                  <a:srgbClr val="006600"/>
                </a:solidFill>
                <a:latin typeface="Times New Roman" panose="02020503050405090304" pitchFamily="18" charset="0"/>
                <a:sym typeface="Symbol" panose="05050102010706020507" pitchFamily="18" charset="2"/>
              </a:rPr>
              <a:t>q</a:t>
            </a:r>
            <a:r>
              <a:rPr lang="en-US" altLang="zh-CN" dirty="0">
                <a:solidFill>
                  <a:srgbClr val="006600"/>
                </a:solidFill>
                <a:latin typeface="Times New Roman" panose="02020503050405090304" pitchFamily="18" charset="0"/>
                <a:sym typeface="Symbol" panose="05050102010706020507" pitchFamily="18" charset="2"/>
              </a:rPr>
              <a:t>).</a:t>
            </a:r>
            <a:endParaRPr lang="en-US" altLang="zh-CN" i="1" dirty="0">
              <a:solidFill>
                <a:srgbClr val="006600"/>
              </a:solidFill>
              <a:latin typeface="Times New Roman" panose="02020503050405090304" pitchFamily="18" charset="0"/>
              <a:sym typeface="Symbol" panose="05050102010706020507" pitchFamily="18" charset="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921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922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9221" name="Rectangle 2"/>
          <p:cNvSpPr>
            <a:spLocks noGrp="1"/>
          </p:cNvSpPr>
          <p:nvPr>
            <p:ph type="title"/>
          </p:nvPr>
        </p:nvSpPr>
        <p:spPr/>
        <p:txBody>
          <a:bodyPr vert="horz" wrap="square" lIns="91440" tIns="45720" rIns="91440" bIns="45720" anchor="b" anchorCtr="0"/>
          <a:p>
            <a:pPr eaLnBrk="1" hangingPunct="1"/>
            <a:r>
              <a:rPr lang="en-US" altLang="zh-CN" b="1" i="1" dirty="0">
                <a:latin typeface="Times New Roman" panose="02020503050405090304" pitchFamily="18" charset="0"/>
              </a:rPr>
              <a:t>Direct </a:t>
            </a:r>
            <a:r>
              <a:rPr lang="en-US" altLang="zh-CN" dirty="0">
                <a:latin typeface="Times New Roman" panose="02020503050405090304" pitchFamily="18" charset="0"/>
              </a:rPr>
              <a:t>proof</a:t>
            </a:r>
            <a:endParaRPr lang="en-US" altLang="zh-CN" dirty="0">
              <a:latin typeface="Times New Roman" panose="02020503050405090304" pitchFamily="18" charset="0"/>
            </a:endParaRPr>
          </a:p>
        </p:txBody>
      </p:sp>
      <p:sp>
        <p:nvSpPr>
          <p:cNvPr id="9222"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assumes the hypotheses are true</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uses the rules of inference, axioms and any logical equivalences to establish the truth of the conclusion.</a:t>
            </a:r>
            <a:endParaRPr lang="en-US" altLang="zh-CN" dirty="0">
              <a:latin typeface="Times New Roman" panose="0202050305040509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024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024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10245"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Example</a:t>
            </a:r>
            <a:endParaRPr lang="en-US" altLang="zh-CN" dirty="0">
              <a:latin typeface="Times New Roman" panose="02020503050405090304" pitchFamily="18" charset="0"/>
            </a:endParaRPr>
          </a:p>
        </p:txBody>
      </p:sp>
      <p:sp>
        <p:nvSpPr>
          <p:cNvPr id="10246" name="Rectangle 3"/>
          <p:cNvSpPr>
            <a:spLocks noGrp="1"/>
          </p:cNvSpPr>
          <p:nvPr>
            <p:ph idx="1"/>
          </p:nvPr>
        </p:nvSpPr>
        <p:spPr/>
        <p:txBody>
          <a:bodyPr vert="horz" wrap="square" lIns="91440" tIns="45720" rIns="91440" bIns="45720" anchor="t" anchorCtr="0"/>
          <a:p>
            <a:pPr eaLnBrk="1" hangingPunct="1"/>
            <a:r>
              <a:rPr lang="en-US" altLang="zh-CN" sz="2800" dirty="0">
                <a:latin typeface="Times New Roman" panose="02020503050405090304" pitchFamily="18" charset="0"/>
              </a:rPr>
              <a:t>Theorem: </a:t>
            </a:r>
            <a:endParaRPr lang="en-US" altLang="zh-CN" sz="2800" dirty="0">
              <a:latin typeface="Times New Roman" panose="02020503050405090304" pitchFamily="18" charset="0"/>
            </a:endParaRPr>
          </a:p>
          <a:p>
            <a:pPr lvl="1" eaLnBrk="1" hangingPunct="1"/>
            <a:r>
              <a:rPr lang="en-US" altLang="zh-CN" sz="2400" i="1" dirty="0">
                <a:latin typeface="Times New Roman" panose="02020503050405090304" pitchFamily="18" charset="0"/>
              </a:rPr>
              <a:t>If 6x + 9y = 101, then x or y is not an integer.</a:t>
            </a:r>
            <a:endParaRPr lang="en-US" altLang="zh-CN" sz="2400" i="1" dirty="0">
              <a:latin typeface="Times New Roman" panose="02020503050405090304" pitchFamily="18" charset="0"/>
            </a:endParaRPr>
          </a:p>
          <a:p>
            <a:pPr eaLnBrk="1" hangingPunct="1"/>
            <a:r>
              <a:rPr lang="en-US" altLang="zh-CN" sz="2800" dirty="0">
                <a:latin typeface="Times New Roman" panose="02020503050405090304" pitchFamily="18" charset="0"/>
              </a:rPr>
              <a:t>Proof: (</a:t>
            </a:r>
            <a:r>
              <a:rPr lang="en-US" altLang="zh-CN" sz="2800" i="1" dirty="0">
                <a:solidFill>
                  <a:schemeClr val="hlink"/>
                </a:solidFill>
                <a:latin typeface="Times New Roman" panose="02020503050405090304" pitchFamily="18" charset="0"/>
              </a:rPr>
              <a:t>Direct</a:t>
            </a:r>
            <a:r>
              <a:rPr lang="en-US" altLang="zh-CN" sz="2800" i="1" dirty="0">
                <a:latin typeface="Times New Roman" panose="02020503050405090304" pitchFamily="18" charset="0"/>
              </a:rPr>
              <a:t>) </a:t>
            </a:r>
            <a:endParaRPr lang="en-US" altLang="zh-CN" sz="2800" i="1" dirty="0">
              <a:latin typeface="Times New Roman" panose="02020503050405090304" pitchFamily="18" charset="0"/>
            </a:endParaRPr>
          </a:p>
          <a:p>
            <a:pPr lvl="1" eaLnBrk="1" hangingPunct="1"/>
            <a:r>
              <a:rPr lang="en-US" altLang="zh-CN" sz="2400" dirty="0">
                <a:latin typeface="Times New Roman" panose="02020503050405090304" pitchFamily="18" charset="0"/>
              </a:rPr>
              <a:t>Assume 6x + 9y = 101 is true.</a:t>
            </a:r>
            <a:endParaRPr lang="en-US" altLang="zh-CN" sz="2400" dirty="0">
              <a:latin typeface="Times New Roman" panose="02020503050405090304" pitchFamily="18" charset="0"/>
            </a:endParaRPr>
          </a:p>
          <a:p>
            <a:pPr lvl="1" eaLnBrk="1" hangingPunct="1"/>
            <a:r>
              <a:rPr lang="en-US" altLang="zh-CN" sz="2400" dirty="0">
                <a:latin typeface="Times New Roman" panose="02020503050405090304" pitchFamily="18" charset="0"/>
              </a:rPr>
              <a:t>Then from the rules of algebra 3(2x + 3y) = 101.</a:t>
            </a:r>
            <a:endParaRPr lang="en-US" altLang="zh-CN" sz="2400" dirty="0">
              <a:latin typeface="Times New Roman" panose="02020503050405090304" pitchFamily="18" charset="0"/>
            </a:endParaRPr>
          </a:p>
          <a:p>
            <a:pPr lvl="1" eaLnBrk="1" hangingPunct="1"/>
            <a:r>
              <a:rPr lang="en-US" altLang="zh-CN" sz="2400" dirty="0">
                <a:latin typeface="Times New Roman" panose="02020503050405090304" pitchFamily="18" charset="0"/>
              </a:rPr>
              <a:t>But 101/3 is not an integer so it must be the case that one of 2x or 3y is not an integer (maybe both).</a:t>
            </a:r>
            <a:endParaRPr lang="en-US" altLang="zh-CN" sz="2400" dirty="0">
              <a:latin typeface="Times New Roman" panose="02020503050405090304" pitchFamily="18" charset="0"/>
            </a:endParaRPr>
          </a:p>
          <a:p>
            <a:pPr lvl="1" eaLnBrk="1" hangingPunct="1"/>
            <a:r>
              <a:rPr lang="en-US" altLang="zh-CN" sz="2400" dirty="0">
                <a:latin typeface="Times New Roman" panose="02020503050405090304" pitchFamily="18" charset="0"/>
              </a:rPr>
              <a:t>Therefore, one of x or y must not be an integer.</a:t>
            </a:r>
            <a:endParaRPr lang="en-US" altLang="zh-CN" sz="2400" dirty="0">
              <a:latin typeface="Times New Roman" panose="02020503050405090304" pitchFamily="18" charset="0"/>
            </a:endParaRPr>
          </a:p>
          <a:p>
            <a:pPr lvl="2" algn="r" eaLnBrk="1" hangingPunct="1"/>
            <a:r>
              <a:rPr lang="en-US" altLang="zh-CN" sz="2000" dirty="0">
                <a:latin typeface="Times New Roman" panose="02020503050405090304" pitchFamily="18" charset="0"/>
              </a:rPr>
              <a:t>Q.E.D.</a:t>
            </a:r>
            <a:endParaRPr lang="en-US" altLang="zh-CN" sz="2000" dirty="0">
              <a:latin typeface="Times New Roman" panose="0202050305040509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126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126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11269" name="Rectangle 2"/>
          <p:cNvSpPr>
            <a:spLocks noGrp="1"/>
          </p:cNvSpPr>
          <p:nvPr>
            <p:ph type="title"/>
          </p:nvPr>
        </p:nvSpPr>
        <p:spPr/>
        <p:txBody>
          <a:bodyPr vert="horz" wrap="square" lIns="91440" tIns="45720" rIns="91440" bIns="45720" anchor="b" anchorCtr="0"/>
          <a:p>
            <a:pPr eaLnBrk="1" hangingPunct="1"/>
            <a:r>
              <a:rPr lang="en-US" altLang="zh-CN" b="1" i="1" dirty="0">
                <a:latin typeface="Times New Roman" panose="02020503050405090304" pitchFamily="18" charset="0"/>
              </a:rPr>
              <a:t>Indirect </a:t>
            </a:r>
            <a:r>
              <a:rPr lang="en-US" altLang="zh-CN" dirty="0">
                <a:latin typeface="Times New Roman" panose="02020503050405090304" pitchFamily="18" charset="0"/>
              </a:rPr>
              <a:t>proof</a:t>
            </a:r>
            <a:endParaRPr lang="en-US" altLang="zh-CN" dirty="0">
              <a:latin typeface="Times New Roman" panose="02020503050405090304" pitchFamily="18" charset="0"/>
            </a:endParaRPr>
          </a:p>
        </p:txBody>
      </p:sp>
      <p:sp>
        <p:nvSpPr>
          <p:cNvPr id="11270" name="Rectangle 3"/>
          <p:cNvSpPr>
            <a:spLocks noGrp="1"/>
          </p:cNvSpPr>
          <p:nvPr>
            <p:ph idx="1"/>
          </p:nvPr>
        </p:nvSpPr>
        <p:spPr>
          <a:xfrm>
            <a:off x="781050" y="1291590"/>
            <a:ext cx="8174355" cy="4841240"/>
          </a:xfrm>
        </p:spPr>
        <p:txBody>
          <a:bodyPr vert="horz" wrap="square" lIns="91440" tIns="45720" rIns="91440" bIns="45720" anchor="t" anchorCtr="0"/>
          <a:p>
            <a:pPr eaLnBrk="1" hangingPunct="1"/>
            <a:r>
              <a:rPr lang="en-US" altLang="zh-CN" dirty="0">
                <a:latin typeface="Times New Roman" panose="02020503050405090304" pitchFamily="18" charset="0"/>
              </a:rPr>
              <a:t>A direct proof of the </a:t>
            </a:r>
            <a:r>
              <a:rPr lang="en-US" altLang="zh-CN" dirty="0">
                <a:solidFill>
                  <a:srgbClr val="FF0000"/>
                </a:solidFill>
                <a:latin typeface="Times New Roman" panose="02020503050405090304" pitchFamily="18" charset="0"/>
              </a:rPr>
              <a:t>contrapositive</a:t>
            </a:r>
            <a:r>
              <a:rPr lang="en-US" altLang="zh-CN" dirty="0">
                <a:latin typeface="Times New Roman" panose="02020503050405090304" pitchFamily="18" charset="0"/>
              </a:rPr>
              <a:t>（</a:t>
            </a:r>
            <a:r>
              <a:rPr lang="zh-CN" altLang="en-US" dirty="0">
                <a:latin typeface="Times New Roman" panose="02020503050405090304" pitchFamily="18" charset="0"/>
              </a:rPr>
              <a:t>逆反式）</a:t>
            </a:r>
            <a:endParaRPr lang="zh-CN" altLang="en-US" dirty="0">
              <a:latin typeface="Times New Roman" panose="02020503050405090304" pitchFamily="18" charset="0"/>
            </a:endParaRPr>
          </a:p>
          <a:p>
            <a:pPr lvl="1" eaLnBrk="1" hangingPunct="1"/>
            <a:r>
              <a:rPr lang="en-US" altLang="zh-CN" dirty="0">
                <a:latin typeface="Times New Roman" panose="02020503050405090304" pitchFamily="18" charset="0"/>
              </a:rPr>
              <a:t>assumes the conclusion of </a:t>
            </a:r>
            <a:r>
              <a:rPr lang="en-US" altLang="zh-CN" i="1" dirty="0">
                <a:latin typeface="Times New Roman" panose="02020503050405090304" pitchFamily="18" charset="0"/>
              </a:rPr>
              <a:t>P </a:t>
            </a:r>
            <a:r>
              <a:rPr lang="en-US" altLang="zh-CN" dirty="0">
                <a:latin typeface="Euclid" panose="02020503060505020303" pitchFamily="18" charset="0"/>
                <a:sym typeface="Symbol" panose="05050102010706020507" pitchFamily="18" charset="2"/>
              </a:rPr>
              <a:t> </a:t>
            </a:r>
            <a:r>
              <a:rPr lang="en-US" altLang="zh-CN" i="1" dirty="0">
                <a:latin typeface="Times New Roman" panose="02020503050405090304" pitchFamily="18" charset="0"/>
              </a:rPr>
              <a:t>Q </a:t>
            </a:r>
            <a:r>
              <a:rPr lang="en-US" altLang="zh-CN" dirty="0">
                <a:latin typeface="Times New Roman" panose="02020503050405090304" pitchFamily="18" charset="0"/>
              </a:rPr>
              <a:t>is false (</a:t>
            </a:r>
            <a:r>
              <a:rPr lang="en-US" altLang="zh-CN" dirty="0">
                <a:latin typeface="Times New Roman" panose="02020503050405090304" pitchFamily="18" charset="0"/>
                <a:sym typeface="Symbol" panose="05050102010706020507" pitchFamily="18" charset="2"/>
              </a:rPr>
              <a:t></a:t>
            </a:r>
            <a:r>
              <a:rPr lang="en-US" altLang="zh-CN" dirty="0">
                <a:solidFill>
                  <a:srgbClr val="006600"/>
                </a:solidFill>
                <a:latin typeface="Times New Roman" panose="02020503050405090304" pitchFamily="18" charset="0"/>
                <a:sym typeface="Symbol" panose="05050102010706020507" pitchFamily="18" charset="2"/>
              </a:rPr>
              <a:t> </a:t>
            </a:r>
            <a:r>
              <a:rPr lang="en-US" altLang="zh-CN" i="1" dirty="0">
                <a:latin typeface="Times New Roman" panose="02020503050405090304" pitchFamily="18" charset="0"/>
              </a:rPr>
              <a:t>Q </a:t>
            </a:r>
            <a:r>
              <a:rPr lang="en-US" altLang="zh-CN" dirty="0">
                <a:latin typeface="Times New Roman" panose="02020503050405090304" pitchFamily="18" charset="0"/>
              </a:rPr>
              <a:t>is true)</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uses the rules of inference, axioms and any logical equivalences to establish the premise </a:t>
            </a:r>
            <a:r>
              <a:rPr lang="en-US" altLang="zh-CN" i="1" dirty="0">
                <a:latin typeface="Times New Roman" panose="02020503050405090304" pitchFamily="18" charset="0"/>
              </a:rPr>
              <a:t>P </a:t>
            </a:r>
            <a:r>
              <a:rPr lang="en-US" altLang="zh-CN" dirty="0">
                <a:latin typeface="Times New Roman" panose="02020503050405090304" pitchFamily="18" charset="0"/>
              </a:rPr>
              <a:t>is false.</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Note, in order to show that a conjunction of hypotheses is false is suffices to show just one of the hypotheses is false.</a:t>
            </a:r>
            <a:endParaRPr lang="en-US" altLang="zh-CN" dirty="0">
              <a:latin typeface="Times New Roman" panose="02020503050405090304" pitchFamily="18" charset="0"/>
            </a:endParaRPr>
          </a:p>
        </p:txBody>
      </p:sp>
      <p:sp>
        <p:nvSpPr>
          <p:cNvPr id="7" name="矩形 6"/>
          <p:cNvSpPr/>
          <p:nvPr/>
        </p:nvSpPr>
        <p:spPr>
          <a:xfrm>
            <a:off x="971600" y="5516607"/>
            <a:ext cx="7200800" cy="523220"/>
          </a:xfrm>
          <a:prstGeom prst="rect">
            <a:avLst/>
          </a:prstGeom>
          <a:solidFill>
            <a:schemeClr val="accent2"/>
          </a:solidFill>
        </p:spPr>
        <p:txBody>
          <a:bodyPr wrap="square">
            <a:spAutoFit/>
          </a:bodyPr>
          <a:p>
            <a:pPr algn="ctr" eaLnBrk="1" hangingPunct="1">
              <a:spcBef>
                <a:spcPts val="1800"/>
              </a:spcBef>
              <a:defRPr/>
            </a:pPr>
            <a:r>
              <a:rPr lang="en-US" altLang="zh-CN" sz="2800" i="0" u="none" dirty="0"/>
              <a:t>P</a:t>
            </a:r>
            <a:r>
              <a:rPr lang="en-US" altLang="zh-CN" sz="2800" i="0" u="none" baseline="-30000" dirty="0"/>
              <a:t>1</a:t>
            </a:r>
            <a:r>
              <a:rPr lang="en-US" altLang="zh-CN" sz="2800" i="0" u="none" dirty="0">
                <a:latin typeface="Symbol" panose="05050102010706020507" pitchFamily="18" charset="2"/>
              </a:rPr>
              <a:t>Ù</a:t>
            </a:r>
            <a:r>
              <a:rPr lang="en-US" altLang="zh-CN" sz="2800" i="0" u="none" dirty="0"/>
              <a:t>P</a:t>
            </a:r>
            <a:r>
              <a:rPr lang="en-US" altLang="zh-CN" sz="2800" i="0" u="none" baseline="-30000" dirty="0"/>
              <a:t>2</a:t>
            </a:r>
            <a:r>
              <a:rPr lang="en-US" altLang="zh-CN" sz="2800" i="0" u="none" dirty="0">
                <a:latin typeface="Symbol" panose="05050102010706020507" pitchFamily="18" charset="2"/>
              </a:rPr>
              <a:t>Ù</a:t>
            </a:r>
            <a:r>
              <a:rPr lang="en-US" altLang="zh-CN" sz="2800" i="0" u="none" dirty="0"/>
              <a:t>…</a:t>
            </a:r>
            <a:r>
              <a:rPr lang="en-US" altLang="zh-CN" sz="2800" i="0" u="none" dirty="0" err="1">
                <a:latin typeface="Symbol" panose="05050102010706020507" pitchFamily="18" charset="2"/>
              </a:rPr>
              <a:t>Ù</a:t>
            </a:r>
            <a:r>
              <a:rPr lang="en-US" altLang="zh-CN" sz="2800" i="0" u="none" dirty="0" err="1"/>
              <a:t>P</a:t>
            </a:r>
            <a:r>
              <a:rPr lang="en-US" altLang="zh-CN" sz="2800" i="0" u="none" baseline="-30000" dirty="0" err="1"/>
              <a:t>k</a:t>
            </a:r>
            <a:r>
              <a:rPr lang="en-US" altLang="zh-CN" sz="2800" i="0" u="none" dirty="0" err="1">
                <a:latin typeface="Symbol" panose="05050102010706020507" pitchFamily="18" charset="2"/>
              </a:rPr>
              <a:t>®</a:t>
            </a:r>
            <a:r>
              <a:rPr lang="en-US" altLang="zh-CN" sz="2800" i="0" u="none" dirty="0" err="1"/>
              <a:t>Q</a:t>
            </a:r>
            <a:r>
              <a:rPr lang="en-US" altLang="zh-CN" sz="2800" i="0" u="none" dirty="0"/>
              <a:t>  </a:t>
            </a:r>
            <a:r>
              <a:rPr lang="en-US" altLang="zh-CN" sz="2800" i="0" u="none" dirty="0">
                <a:latin typeface="Symbol" panose="05050102010706020507" pitchFamily="18" charset="2"/>
              </a:rPr>
              <a:t>Û</a:t>
            </a:r>
            <a:r>
              <a:rPr lang="en-US" altLang="zh-CN" sz="2800" i="0" u="none" dirty="0"/>
              <a:t> </a:t>
            </a:r>
            <a:r>
              <a:rPr lang="en-US" altLang="zh-CN" sz="2800" i="0" u="none" dirty="0">
                <a:latin typeface="Symbol" panose="05050102010706020507" pitchFamily="18" charset="2"/>
              </a:rPr>
              <a:t>Ø</a:t>
            </a:r>
            <a:r>
              <a:rPr lang="en-US" altLang="zh-CN" sz="2800" i="0" u="none" dirty="0"/>
              <a:t>(P</a:t>
            </a:r>
            <a:r>
              <a:rPr lang="en-US" altLang="zh-CN" sz="2800" i="0" u="none" baseline="-30000" dirty="0"/>
              <a:t>1</a:t>
            </a:r>
            <a:r>
              <a:rPr lang="en-US" altLang="zh-CN" sz="2800" i="0" u="none" dirty="0">
                <a:latin typeface="Symbol" panose="05050102010706020507" pitchFamily="18" charset="2"/>
              </a:rPr>
              <a:t>Ù</a:t>
            </a:r>
            <a:r>
              <a:rPr lang="en-US" altLang="zh-CN" sz="2800" i="0" u="none" dirty="0"/>
              <a:t>P</a:t>
            </a:r>
            <a:r>
              <a:rPr lang="en-US" altLang="zh-CN" sz="2800" i="0" u="none" baseline="-30000" dirty="0"/>
              <a:t>2</a:t>
            </a:r>
            <a:r>
              <a:rPr lang="en-US" altLang="zh-CN" sz="2800" i="0" u="none" dirty="0">
                <a:latin typeface="Symbol" panose="05050102010706020507" pitchFamily="18" charset="2"/>
              </a:rPr>
              <a:t>Ù</a:t>
            </a:r>
            <a:r>
              <a:rPr lang="en-US" altLang="zh-CN" sz="2800" i="0" u="none" dirty="0"/>
              <a:t>…</a:t>
            </a:r>
            <a:r>
              <a:rPr lang="en-US" altLang="zh-CN" sz="2800" i="0" u="none" dirty="0" err="1">
                <a:latin typeface="Symbol" panose="05050102010706020507" pitchFamily="18" charset="2"/>
              </a:rPr>
              <a:t>Ù</a:t>
            </a:r>
            <a:r>
              <a:rPr lang="en-US" altLang="zh-CN" sz="2800" i="0" u="none" dirty="0" err="1"/>
              <a:t>P</a:t>
            </a:r>
            <a:r>
              <a:rPr lang="en-US" altLang="zh-CN" sz="2800" i="0" u="none" baseline="-30000" dirty="0" err="1"/>
              <a:t>k</a:t>
            </a:r>
            <a:r>
              <a:rPr lang="en-US" altLang="zh-CN" sz="2800" i="0" u="none" baseline="-30000" dirty="0"/>
              <a:t> </a:t>
            </a:r>
            <a:r>
              <a:rPr lang="en-US" altLang="zh-CN" sz="2800" i="0" u="none" dirty="0">
                <a:latin typeface="Symbol" panose="05050102010706020507" pitchFamily="18" charset="2"/>
              </a:rPr>
              <a:t>ÙØ</a:t>
            </a:r>
            <a:r>
              <a:rPr lang="en-US" altLang="zh-CN" sz="2800" i="0" u="none" dirty="0"/>
              <a:t>Q)</a:t>
            </a:r>
            <a:endParaRPr lang="zh-CN" altLang="en-US" sz="2800" i="0" u="none"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229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229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12293"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Example</a:t>
            </a:r>
            <a:endParaRPr lang="en-US" altLang="zh-CN" dirty="0">
              <a:latin typeface="Times New Roman" panose="02020503050405090304" pitchFamily="18" charset="0"/>
            </a:endParaRPr>
          </a:p>
        </p:txBody>
      </p:sp>
      <p:sp>
        <p:nvSpPr>
          <p:cNvPr id="12294" name="Rectangle 3"/>
          <p:cNvSpPr>
            <a:spLocks noGrp="1"/>
          </p:cNvSpPr>
          <p:nvPr>
            <p:ph idx="1"/>
          </p:nvPr>
        </p:nvSpPr>
        <p:spPr>
          <a:xfrm>
            <a:off x="396875" y="1362075"/>
            <a:ext cx="8699500" cy="4699000"/>
          </a:xfrm>
        </p:spPr>
        <p:txBody>
          <a:bodyPr vert="horz" wrap="square" lIns="91440" tIns="45720" rIns="91440" bIns="45720" anchor="t" anchorCtr="0"/>
          <a:p>
            <a:pPr eaLnBrk="1" hangingPunct="1">
              <a:lnSpc>
                <a:spcPct val="80000"/>
              </a:lnSpc>
            </a:pPr>
            <a:r>
              <a:rPr lang="en-US" altLang="zh-CN" dirty="0">
                <a:latin typeface="Times New Roman" panose="02020503050405090304" pitchFamily="18" charset="0"/>
              </a:rPr>
              <a:t>A </a:t>
            </a:r>
            <a:r>
              <a:rPr lang="en-US" altLang="zh-CN" i="1" dirty="0">
                <a:solidFill>
                  <a:schemeClr val="hlink"/>
                </a:solidFill>
                <a:latin typeface="Times New Roman" panose="02020503050405090304" pitchFamily="18" charset="0"/>
              </a:rPr>
              <a:t>perfect</a:t>
            </a:r>
            <a:r>
              <a:rPr lang="en-US" altLang="zh-CN" i="1" dirty="0">
                <a:latin typeface="Times New Roman" panose="02020503050405090304" pitchFamily="18" charset="0"/>
              </a:rPr>
              <a:t> </a:t>
            </a:r>
            <a:r>
              <a:rPr lang="en-US" altLang="zh-CN" dirty="0">
                <a:latin typeface="Times New Roman" panose="02020503050405090304" pitchFamily="18" charset="0"/>
              </a:rPr>
              <a:t>number is one which is the sum of all its divisors except itself. </a:t>
            </a:r>
            <a:endParaRPr lang="en-US" altLang="zh-CN" dirty="0">
              <a:latin typeface="Times New Roman" panose="02020503050405090304" pitchFamily="18" charset="0"/>
            </a:endParaRPr>
          </a:p>
          <a:p>
            <a:pPr lvl="1" eaLnBrk="1" hangingPunct="1">
              <a:lnSpc>
                <a:spcPct val="80000"/>
              </a:lnSpc>
            </a:pPr>
            <a:r>
              <a:rPr lang="en-US" altLang="zh-CN" dirty="0">
                <a:latin typeface="Times New Roman" panose="02020503050405090304" pitchFamily="18" charset="0"/>
              </a:rPr>
              <a:t>For example, 6 is perfect since 1 + 2 + 3 = 6. So is 28.</a:t>
            </a:r>
            <a:endParaRPr lang="en-US" altLang="zh-CN" dirty="0">
              <a:latin typeface="Times New Roman" panose="02020503050405090304" pitchFamily="18" charset="0"/>
            </a:endParaRPr>
          </a:p>
          <a:p>
            <a:pPr eaLnBrk="1" hangingPunct="1">
              <a:lnSpc>
                <a:spcPct val="80000"/>
              </a:lnSpc>
            </a:pPr>
            <a:r>
              <a:rPr lang="en-US" altLang="zh-CN" b="1" dirty="0">
                <a:latin typeface="Times New Roman" panose="02020503050405090304" pitchFamily="18" charset="0"/>
              </a:rPr>
              <a:t>Theorem:</a:t>
            </a:r>
            <a:r>
              <a:rPr lang="en-US" altLang="zh-CN" dirty="0">
                <a:latin typeface="Times New Roman" panose="02020503050405090304" pitchFamily="18" charset="0"/>
              </a:rPr>
              <a:t> </a:t>
            </a:r>
            <a:endParaRPr lang="en-US" altLang="zh-CN" dirty="0">
              <a:latin typeface="Times New Roman" panose="02020503050405090304" pitchFamily="18" charset="0"/>
            </a:endParaRPr>
          </a:p>
          <a:p>
            <a:pPr lvl="1" eaLnBrk="1" hangingPunct="1">
              <a:lnSpc>
                <a:spcPct val="80000"/>
              </a:lnSpc>
            </a:pPr>
            <a:r>
              <a:rPr lang="en-US" altLang="zh-CN" i="1" dirty="0">
                <a:latin typeface="Times New Roman" panose="02020503050405090304" pitchFamily="18" charset="0"/>
              </a:rPr>
              <a:t>A perfect number is not a prime.</a:t>
            </a:r>
            <a:endParaRPr lang="en-US" altLang="zh-CN" i="1" dirty="0">
              <a:latin typeface="Times New Roman" panose="02020503050405090304" pitchFamily="18" charset="0"/>
            </a:endParaRPr>
          </a:p>
          <a:p>
            <a:pPr eaLnBrk="1" hangingPunct="1">
              <a:lnSpc>
                <a:spcPct val="80000"/>
              </a:lnSpc>
            </a:pPr>
            <a:r>
              <a:rPr lang="en-US" altLang="zh-CN" sz="2800" b="1" dirty="0">
                <a:latin typeface="Times New Roman" panose="02020503050405090304" pitchFamily="18" charset="0"/>
              </a:rPr>
              <a:t>Proof</a:t>
            </a:r>
            <a:r>
              <a:rPr lang="en-US" altLang="zh-CN" sz="2800" dirty="0">
                <a:latin typeface="Times New Roman" panose="02020503050405090304" pitchFamily="18" charset="0"/>
              </a:rPr>
              <a:t>: (</a:t>
            </a:r>
            <a:r>
              <a:rPr lang="en-US" altLang="zh-CN" sz="2800" i="1" dirty="0">
                <a:solidFill>
                  <a:schemeClr val="hlink"/>
                </a:solidFill>
                <a:latin typeface="Times New Roman" panose="02020503050405090304" pitchFamily="18" charset="0"/>
              </a:rPr>
              <a:t>Indirect</a:t>
            </a:r>
            <a:r>
              <a:rPr lang="en-US" altLang="zh-CN" sz="2800" i="1" dirty="0">
                <a:latin typeface="Times New Roman" panose="02020503050405090304" pitchFamily="18" charset="0"/>
              </a:rPr>
              <a:t>). </a:t>
            </a:r>
            <a:endParaRPr lang="en-US" altLang="zh-CN" sz="2800" i="1" dirty="0">
              <a:latin typeface="Times New Roman" panose="02020503050405090304" pitchFamily="18" charset="0"/>
            </a:endParaRPr>
          </a:p>
          <a:p>
            <a:pPr lvl="1" eaLnBrk="1" hangingPunct="1">
              <a:lnSpc>
                <a:spcPct val="80000"/>
              </a:lnSpc>
            </a:pPr>
            <a:r>
              <a:rPr lang="en-US" altLang="zh-CN" sz="2400" dirty="0">
                <a:latin typeface="Times New Roman" panose="02020503050405090304" pitchFamily="18" charset="0"/>
              </a:rPr>
              <a:t>We assume the number </a:t>
            </a:r>
            <a:r>
              <a:rPr lang="en-US" altLang="zh-CN" sz="2400" i="1" dirty="0">
                <a:latin typeface="Times New Roman" panose="02020503050405090304" pitchFamily="18" charset="0"/>
              </a:rPr>
              <a:t>p</a:t>
            </a:r>
            <a:r>
              <a:rPr lang="en-US" altLang="zh-CN" sz="2400" dirty="0">
                <a:latin typeface="Times New Roman" panose="02020503050405090304" pitchFamily="18" charset="0"/>
              </a:rPr>
              <a:t> is a prime and show it is not perfect.</a:t>
            </a:r>
            <a:endParaRPr lang="en-US" altLang="zh-CN" sz="2400" dirty="0">
              <a:latin typeface="Times New Roman" panose="02020503050405090304" pitchFamily="18" charset="0"/>
            </a:endParaRPr>
          </a:p>
          <a:p>
            <a:pPr lvl="1" eaLnBrk="1" hangingPunct="1">
              <a:lnSpc>
                <a:spcPct val="80000"/>
              </a:lnSpc>
            </a:pPr>
            <a:r>
              <a:rPr lang="en-US" altLang="zh-CN" sz="2400" dirty="0">
                <a:latin typeface="Times New Roman" panose="02020503050405090304" pitchFamily="18" charset="0"/>
              </a:rPr>
              <a:t>But the only divisors of a prime are 1 and itself.</a:t>
            </a:r>
            <a:endParaRPr lang="en-US" altLang="zh-CN" sz="2400" dirty="0">
              <a:latin typeface="Times New Roman" panose="02020503050405090304" pitchFamily="18" charset="0"/>
            </a:endParaRPr>
          </a:p>
          <a:p>
            <a:pPr lvl="1" eaLnBrk="1" hangingPunct="1">
              <a:lnSpc>
                <a:spcPct val="80000"/>
              </a:lnSpc>
            </a:pPr>
            <a:r>
              <a:rPr lang="en-US" altLang="zh-CN" sz="2400" dirty="0">
                <a:latin typeface="Times New Roman" panose="02020503050405090304" pitchFamily="18" charset="0"/>
              </a:rPr>
              <a:t>Hence the sum of the divisors less than </a:t>
            </a:r>
            <a:r>
              <a:rPr lang="en-US" altLang="zh-CN" sz="2400" i="1" dirty="0">
                <a:latin typeface="Times New Roman" panose="02020503050405090304" pitchFamily="18" charset="0"/>
              </a:rPr>
              <a:t>p</a:t>
            </a:r>
            <a:r>
              <a:rPr lang="en-US" altLang="zh-CN" sz="2400" dirty="0">
                <a:latin typeface="Times New Roman" panose="02020503050405090304" pitchFamily="18" charset="0"/>
              </a:rPr>
              <a:t> is 1 which is not equal to </a:t>
            </a:r>
            <a:r>
              <a:rPr lang="en-US" altLang="zh-CN" sz="2400" i="1" dirty="0">
                <a:latin typeface="Times New Roman" panose="02020503050405090304" pitchFamily="18" charset="0"/>
              </a:rPr>
              <a:t>p</a:t>
            </a:r>
            <a:r>
              <a:rPr lang="en-US" altLang="zh-CN" sz="2400" dirty="0">
                <a:latin typeface="Times New Roman" panose="02020503050405090304" pitchFamily="18" charset="0"/>
              </a:rPr>
              <a:t>.</a:t>
            </a:r>
            <a:endParaRPr lang="en-US" altLang="zh-CN" sz="2400" dirty="0">
              <a:latin typeface="Times New Roman" panose="02020503050405090304" pitchFamily="18" charset="0"/>
            </a:endParaRPr>
          </a:p>
          <a:p>
            <a:pPr lvl="1" eaLnBrk="1" hangingPunct="1">
              <a:lnSpc>
                <a:spcPct val="80000"/>
              </a:lnSpc>
            </a:pPr>
            <a:r>
              <a:rPr lang="en-US" altLang="zh-CN" sz="2400" dirty="0">
                <a:latin typeface="Times New Roman" panose="02020503050405090304" pitchFamily="18" charset="0"/>
              </a:rPr>
              <a:t>Hence </a:t>
            </a:r>
            <a:r>
              <a:rPr lang="en-US" altLang="zh-CN" sz="2400" i="1" dirty="0">
                <a:latin typeface="Times New Roman" panose="02020503050405090304" pitchFamily="18" charset="0"/>
              </a:rPr>
              <a:t>p</a:t>
            </a:r>
            <a:r>
              <a:rPr lang="en-US" altLang="zh-CN" sz="2400" dirty="0">
                <a:latin typeface="Times New Roman" panose="02020503050405090304" pitchFamily="18" charset="0"/>
              </a:rPr>
              <a:t> cannot be perfect.</a:t>
            </a:r>
            <a:endParaRPr lang="en-US" altLang="zh-CN" sz="2400" dirty="0">
              <a:latin typeface="Times New Roman" panose="02020503050405090304" pitchFamily="18" charset="0"/>
            </a:endParaRPr>
          </a:p>
          <a:p>
            <a:pPr lvl="1" algn="r" eaLnBrk="1" hangingPunct="1">
              <a:lnSpc>
                <a:spcPct val="80000"/>
              </a:lnSpc>
            </a:pPr>
            <a:r>
              <a:rPr lang="en-US" altLang="zh-CN" sz="2400" dirty="0">
                <a:latin typeface="Times New Roman" panose="02020503050405090304" pitchFamily="18" charset="0"/>
              </a:rPr>
              <a:t>Q.E.D.</a:t>
            </a:r>
            <a:endParaRPr lang="en-US" altLang="zh-CN" sz="2400" dirty="0">
              <a:latin typeface="Times New Roman" panose="0202050305040509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331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331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13317" name="Rectangle 2"/>
          <p:cNvSpPr>
            <a:spLocks noGrp="1"/>
          </p:cNvSpPr>
          <p:nvPr>
            <p:ph type="title"/>
          </p:nvPr>
        </p:nvSpPr>
        <p:spPr/>
        <p:txBody>
          <a:bodyPr vert="horz" wrap="square" lIns="91440" tIns="45720" rIns="91440" bIns="45720" anchor="b" anchorCtr="0"/>
          <a:p>
            <a:pPr eaLnBrk="1" hangingPunct="1"/>
            <a:r>
              <a:rPr lang="en-US" altLang="zh-CN" b="1" i="1" dirty="0">
                <a:latin typeface="Times New Roman" panose="02020503050405090304" pitchFamily="18" charset="0"/>
              </a:rPr>
              <a:t>Trivial </a:t>
            </a:r>
            <a:r>
              <a:rPr lang="en-US" altLang="zh-CN" dirty="0">
                <a:latin typeface="Times New Roman" panose="02020503050405090304" pitchFamily="18" charset="0"/>
              </a:rPr>
              <a:t>proof (</a:t>
            </a:r>
            <a:r>
              <a:rPr lang="zh-CN" altLang="en-US" dirty="0">
                <a:latin typeface="Times New Roman" panose="02020503050405090304" pitchFamily="18" charset="0"/>
              </a:rPr>
              <a:t>平凡证明</a:t>
            </a:r>
            <a:r>
              <a:rPr lang="en-US" altLang="zh-CN" dirty="0">
                <a:latin typeface="Times New Roman" panose="02020503050405090304" pitchFamily="18" charset="0"/>
              </a:rPr>
              <a:t>)</a:t>
            </a:r>
            <a:endParaRPr lang="en-US" altLang="zh-CN" dirty="0">
              <a:latin typeface="Times New Roman" panose="02020503050405090304" pitchFamily="18" charset="0"/>
            </a:endParaRPr>
          </a:p>
        </p:txBody>
      </p:sp>
      <p:sp>
        <p:nvSpPr>
          <p:cNvPr id="13318"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If we know </a:t>
            </a:r>
            <a:r>
              <a:rPr lang="en-US" altLang="zh-CN" i="1" dirty="0">
                <a:latin typeface="Times New Roman" panose="02020503050405090304" pitchFamily="18" charset="0"/>
              </a:rPr>
              <a:t>Q </a:t>
            </a:r>
            <a:r>
              <a:rPr lang="en-US" altLang="zh-CN" dirty="0">
                <a:latin typeface="Times New Roman" panose="02020503050405090304" pitchFamily="18" charset="0"/>
              </a:rPr>
              <a:t>is true then </a:t>
            </a:r>
            <a:r>
              <a:rPr lang="en-US" altLang="zh-CN" i="1" dirty="0">
                <a:latin typeface="Times New Roman" panose="02020503050405090304" pitchFamily="18" charset="0"/>
              </a:rPr>
              <a:t>P </a:t>
            </a:r>
            <a:r>
              <a:rPr lang="en-US" altLang="zh-CN" dirty="0">
                <a:latin typeface="Euclid" panose="02020503060505020303" pitchFamily="18" charset="0"/>
                <a:sym typeface="Symbol" panose="05050102010706020507" pitchFamily="18" charset="2"/>
              </a:rPr>
              <a:t> </a:t>
            </a:r>
            <a:r>
              <a:rPr lang="en-US" altLang="zh-CN" i="1" dirty="0">
                <a:latin typeface="Times New Roman" panose="02020503050405090304" pitchFamily="18" charset="0"/>
              </a:rPr>
              <a:t>Q </a:t>
            </a:r>
            <a:r>
              <a:rPr lang="en-US" altLang="zh-CN" dirty="0">
                <a:latin typeface="Times New Roman" panose="02020503050405090304" pitchFamily="18" charset="0"/>
              </a:rPr>
              <a:t>is true.</a:t>
            </a:r>
            <a:endParaRPr lang="en-US" altLang="zh-CN" dirty="0">
              <a:latin typeface="Times New Roman" panose="02020503050405090304" pitchFamily="18" charset="0"/>
            </a:endParaRPr>
          </a:p>
          <a:p>
            <a:pPr eaLnBrk="1" hangingPunct="1">
              <a:buNone/>
            </a:pPr>
            <a:r>
              <a:rPr lang="en-US" altLang="zh-CN" i="1" dirty="0">
                <a:latin typeface="Times New Roman" panose="02020503050405090304" pitchFamily="18" charset="0"/>
              </a:rPr>
              <a:t>	If it's raining today then the void set is a subset of every set.</a:t>
            </a:r>
            <a:endParaRPr lang="en-US" altLang="zh-CN" i="1" dirty="0">
              <a:latin typeface="Times New Roman" panose="02020503050405090304" pitchFamily="18" charset="0"/>
            </a:endParaRPr>
          </a:p>
          <a:p>
            <a:pPr eaLnBrk="1" hangingPunct="1"/>
            <a:r>
              <a:rPr lang="en-US" altLang="zh-CN" dirty="0">
                <a:latin typeface="Times New Roman" panose="02020503050405090304" pitchFamily="18" charset="0"/>
              </a:rPr>
              <a:t>The assertion is </a:t>
            </a:r>
            <a:r>
              <a:rPr lang="en-US" altLang="zh-CN" i="1" dirty="0">
                <a:solidFill>
                  <a:schemeClr val="hlink"/>
                </a:solidFill>
                <a:latin typeface="Times New Roman" panose="02020503050405090304" pitchFamily="18" charset="0"/>
              </a:rPr>
              <a:t>trivially</a:t>
            </a:r>
            <a:r>
              <a:rPr lang="en-US" altLang="zh-CN" i="1" dirty="0">
                <a:latin typeface="Times New Roman" panose="02020503050405090304" pitchFamily="18" charset="0"/>
              </a:rPr>
              <a:t> </a:t>
            </a:r>
            <a:r>
              <a:rPr lang="en-US" altLang="zh-CN" dirty="0">
                <a:latin typeface="Times New Roman" panose="02020503050405090304" pitchFamily="18" charset="0"/>
              </a:rPr>
              <a:t>true independent of the truth of </a:t>
            </a:r>
            <a:r>
              <a:rPr lang="en-US" altLang="zh-CN" i="1" dirty="0">
                <a:latin typeface="Times New Roman" panose="02020503050405090304" pitchFamily="18" charset="0"/>
              </a:rPr>
              <a:t>P</a:t>
            </a:r>
            <a:r>
              <a:rPr lang="en-US" altLang="zh-CN" dirty="0">
                <a:latin typeface="Times New Roman" panose="02020503050405090304" pitchFamily="18" charset="0"/>
              </a:rPr>
              <a:t>.</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433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434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14341"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Trivial Proof Example</a:t>
            </a:r>
            <a:endParaRPr lang="en-US" altLang="zh-CN" dirty="0">
              <a:latin typeface="Times New Roman" panose="02020503050405090304" pitchFamily="18" charset="0"/>
            </a:endParaRPr>
          </a:p>
        </p:txBody>
      </p:sp>
      <p:sp>
        <p:nvSpPr>
          <p:cNvPr id="14342" name="Rectangle 3"/>
          <p:cNvSpPr>
            <a:spLocks noGrp="1"/>
          </p:cNvSpPr>
          <p:nvPr>
            <p:ph idx="1"/>
          </p:nvPr>
        </p:nvSpPr>
        <p:spPr/>
        <p:txBody>
          <a:bodyPr vert="horz" wrap="square" lIns="91440" tIns="45720" rIns="91440" bIns="45720" anchor="t" anchorCtr="0"/>
          <a:p>
            <a:pPr eaLnBrk="1" hangingPunct="1"/>
            <a:r>
              <a:rPr lang="en-US" altLang="zh-CN" b="1" dirty="0">
                <a:latin typeface="Times New Roman" panose="02020503050405090304" pitchFamily="18" charset="0"/>
              </a:rPr>
              <a:t>Theorem:</a:t>
            </a:r>
            <a:r>
              <a:rPr lang="en-US" altLang="zh-CN" dirty="0">
                <a:latin typeface="Times New Roman" panose="02020503050405090304" pitchFamily="18" charset="0"/>
              </a:rPr>
              <a:t>  (For integers </a:t>
            </a:r>
            <a:r>
              <a:rPr lang="en-US" altLang="zh-CN" i="1" dirty="0">
                <a:latin typeface="Times New Roman" panose="02020503050405090304" pitchFamily="18" charset="0"/>
              </a:rPr>
              <a:t>n</a:t>
            </a:r>
            <a:r>
              <a:rPr lang="en-US" altLang="zh-CN" dirty="0">
                <a:latin typeface="Times New Roman" panose="02020503050405090304" pitchFamily="18" charset="0"/>
              </a:rPr>
              <a:t>) If </a:t>
            </a:r>
            <a:r>
              <a:rPr lang="en-US" altLang="zh-CN" i="1" dirty="0">
                <a:latin typeface="Times New Roman" panose="02020503050405090304" pitchFamily="18" charset="0"/>
              </a:rPr>
              <a:t>n</a:t>
            </a:r>
            <a:r>
              <a:rPr lang="en-US" altLang="zh-CN" dirty="0">
                <a:latin typeface="Times New Roman" panose="02020503050405090304" pitchFamily="18" charset="0"/>
              </a:rPr>
              <a:t> is the sum of two prime numbers, then either </a:t>
            </a:r>
            <a:r>
              <a:rPr lang="en-US" altLang="zh-CN" i="1" dirty="0">
                <a:latin typeface="Times New Roman" panose="02020503050405090304" pitchFamily="18" charset="0"/>
              </a:rPr>
              <a:t>n</a:t>
            </a:r>
            <a:r>
              <a:rPr lang="en-US" altLang="zh-CN" dirty="0">
                <a:latin typeface="Times New Roman" panose="02020503050405090304" pitchFamily="18" charset="0"/>
              </a:rPr>
              <a:t> is odd or </a:t>
            </a:r>
            <a:r>
              <a:rPr lang="en-US" altLang="zh-CN" i="1" dirty="0">
                <a:latin typeface="Times New Roman" panose="02020503050405090304" pitchFamily="18" charset="0"/>
              </a:rPr>
              <a:t>n</a:t>
            </a:r>
            <a:r>
              <a:rPr lang="en-US" altLang="zh-CN" dirty="0">
                <a:latin typeface="Times New Roman" panose="02020503050405090304" pitchFamily="18" charset="0"/>
              </a:rPr>
              <a:t> is even.</a:t>
            </a:r>
            <a:endParaRPr lang="en-US" altLang="zh-CN" dirty="0">
              <a:latin typeface="Times New Roman" panose="02020503050405090304" pitchFamily="18" charset="0"/>
            </a:endParaRPr>
          </a:p>
          <a:p>
            <a:pPr eaLnBrk="1" hangingPunct="1"/>
            <a:r>
              <a:rPr lang="en-US" altLang="zh-CN" b="1" dirty="0">
                <a:latin typeface="Times New Roman" panose="02020503050405090304" pitchFamily="18" charset="0"/>
              </a:rPr>
              <a:t>Proof:</a:t>
            </a:r>
            <a:r>
              <a:rPr lang="en-US" altLang="zh-CN" dirty="0">
                <a:latin typeface="Times New Roman" panose="02020503050405090304" pitchFamily="18" charset="0"/>
              </a:rPr>
              <a:t>  </a:t>
            </a:r>
            <a:r>
              <a:rPr lang="en-US" altLang="zh-CN" i="1" dirty="0">
                <a:latin typeface="Times New Roman" panose="02020503050405090304" pitchFamily="18" charset="0"/>
              </a:rPr>
              <a:t>Any</a:t>
            </a:r>
            <a:r>
              <a:rPr lang="en-US" altLang="zh-CN" dirty="0">
                <a:latin typeface="Times New Roman" panose="02020503050405090304" pitchFamily="18" charset="0"/>
              </a:rPr>
              <a:t> integer </a:t>
            </a:r>
            <a:r>
              <a:rPr lang="en-US" altLang="zh-CN" i="1" dirty="0">
                <a:latin typeface="Times New Roman" panose="02020503050405090304" pitchFamily="18" charset="0"/>
              </a:rPr>
              <a:t>n</a:t>
            </a:r>
            <a:r>
              <a:rPr lang="en-US" altLang="zh-CN" dirty="0">
                <a:latin typeface="Times New Roman" panose="02020503050405090304" pitchFamily="18" charset="0"/>
              </a:rPr>
              <a:t> is either odd or even.  So the conclusion of the implication is true regardless of the truth of the antecedent.   Thus the implication is true trivially. </a:t>
            </a:r>
            <a:endParaRPr lang="en-US" altLang="zh-CN" b="1" dirty="0">
              <a:latin typeface="Times New Roman" panose="0202050305040509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536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536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15365" name="Rectangle 2"/>
          <p:cNvSpPr>
            <a:spLocks noGrp="1"/>
          </p:cNvSpPr>
          <p:nvPr>
            <p:ph type="title"/>
          </p:nvPr>
        </p:nvSpPr>
        <p:spPr/>
        <p:txBody>
          <a:bodyPr vert="horz" wrap="square" lIns="91440" tIns="45720" rIns="91440" bIns="45720" anchor="b" anchorCtr="0"/>
          <a:p>
            <a:pPr eaLnBrk="1" hangingPunct="1"/>
            <a:r>
              <a:rPr lang="en-US" altLang="zh-CN" b="1" i="1" dirty="0">
                <a:latin typeface="Times New Roman" panose="02020503050405090304" pitchFamily="18" charset="0"/>
              </a:rPr>
              <a:t>Vacuous </a:t>
            </a:r>
            <a:r>
              <a:rPr lang="en-US" altLang="zh-CN" i="1" dirty="0">
                <a:latin typeface="Times New Roman" panose="02020503050405090304" pitchFamily="18" charset="0"/>
              </a:rPr>
              <a:t>proof </a:t>
            </a:r>
            <a:r>
              <a:rPr lang="en-US" altLang="zh-CN" dirty="0">
                <a:latin typeface="Times New Roman" panose="02020503050405090304" pitchFamily="18" charset="0"/>
              </a:rPr>
              <a:t>(</a:t>
            </a:r>
            <a:r>
              <a:rPr lang="zh-CN" altLang="en-US" dirty="0">
                <a:latin typeface="Times New Roman" panose="02020503050405090304" pitchFamily="18" charset="0"/>
              </a:rPr>
              <a:t>空证明</a:t>
            </a:r>
            <a:r>
              <a:rPr lang="en-US" altLang="zh-CN" dirty="0">
                <a:latin typeface="Times New Roman" panose="02020503050405090304" pitchFamily="18" charset="0"/>
              </a:rPr>
              <a:t>)</a:t>
            </a:r>
            <a:endParaRPr lang="en-US" altLang="zh-CN" dirty="0">
              <a:latin typeface="Times New Roman" panose="02020503050405090304" pitchFamily="18" charset="0"/>
            </a:endParaRPr>
          </a:p>
        </p:txBody>
      </p:sp>
      <p:sp>
        <p:nvSpPr>
          <p:cNvPr id="15366" name="Rectangle 3"/>
          <p:cNvSpPr>
            <a:spLocks noGrp="1"/>
          </p:cNvSpPr>
          <p:nvPr>
            <p:ph idx="1"/>
          </p:nvPr>
        </p:nvSpPr>
        <p:spPr/>
        <p:txBody>
          <a:bodyPr vert="horz" wrap="square" lIns="91440" tIns="45720" rIns="91440" bIns="45720" anchor="t" anchorCtr="0"/>
          <a:p>
            <a:pPr eaLnBrk="1" hangingPunct="1">
              <a:lnSpc>
                <a:spcPct val="90000"/>
              </a:lnSpc>
            </a:pPr>
            <a:r>
              <a:rPr lang="en-US" altLang="zh-CN" sz="2800" dirty="0">
                <a:latin typeface="Times New Roman" panose="02020503050405090304" pitchFamily="18" charset="0"/>
              </a:rPr>
              <a:t>If we know one of the hypotheses in </a:t>
            </a:r>
            <a:r>
              <a:rPr lang="en-US" altLang="zh-CN" sz="2800" i="1" dirty="0">
                <a:latin typeface="Times New Roman" panose="02020503050405090304" pitchFamily="18" charset="0"/>
              </a:rPr>
              <a:t>P </a:t>
            </a:r>
            <a:r>
              <a:rPr lang="en-US" altLang="zh-CN" sz="2800" dirty="0">
                <a:latin typeface="Times New Roman" panose="02020503050405090304" pitchFamily="18" charset="0"/>
              </a:rPr>
              <a:t>is false then</a:t>
            </a:r>
            <a:endParaRPr lang="en-US" altLang="zh-CN" sz="2800" dirty="0">
              <a:latin typeface="Times New Roman" panose="02020503050405090304" pitchFamily="18" charset="0"/>
            </a:endParaRPr>
          </a:p>
          <a:p>
            <a:pPr eaLnBrk="1" hangingPunct="1">
              <a:lnSpc>
                <a:spcPct val="90000"/>
              </a:lnSpc>
            </a:pPr>
            <a:r>
              <a:rPr lang="en-US" altLang="zh-CN" sz="2800" i="1" dirty="0">
                <a:latin typeface="Times New Roman" panose="02020503050405090304" pitchFamily="18" charset="0"/>
              </a:rPr>
              <a:t>P </a:t>
            </a:r>
            <a:r>
              <a:rPr lang="en-US" altLang="zh-CN" sz="2800" dirty="0">
                <a:latin typeface="Euclid" panose="02020503060505020303" pitchFamily="18" charset="0"/>
                <a:sym typeface="Symbol" panose="05050102010706020507" pitchFamily="18" charset="2"/>
              </a:rPr>
              <a:t> </a:t>
            </a:r>
            <a:r>
              <a:rPr lang="en-US" altLang="zh-CN" sz="2800" i="1" dirty="0">
                <a:latin typeface="Times New Roman" panose="02020503050405090304" pitchFamily="18" charset="0"/>
              </a:rPr>
              <a:t>Q </a:t>
            </a:r>
            <a:r>
              <a:rPr lang="en-US" altLang="zh-CN" sz="2800" dirty="0">
                <a:latin typeface="Times New Roman" panose="02020503050405090304" pitchFamily="18" charset="0"/>
              </a:rPr>
              <a:t>is </a:t>
            </a:r>
            <a:r>
              <a:rPr lang="en-US" altLang="zh-CN" sz="2800" i="1" dirty="0">
                <a:solidFill>
                  <a:schemeClr val="hlink"/>
                </a:solidFill>
                <a:latin typeface="Times New Roman" panose="02020503050405090304" pitchFamily="18" charset="0"/>
              </a:rPr>
              <a:t>vacuously</a:t>
            </a:r>
            <a:r>
              <a:rPr lang="en-US" altLang="zh-CN" sz="2800" i="1" dirty="0">
                <a:latin typeface="Times New Roman" panose="02020503050405090304" pitchFamily="18" charset="0"/>
              </a:rPr>
              <a:t> </a:t>
            </a:r>
            <a:r>
              <a:rPr lang="en-US" altLang="zh-CN" sz="2800" dirty="0">
                <a:latin typeface="Times New Roman" panose="02020503050405090304" pitchFamily="18" charset="0"/>
              </a:rPr>
              <a:t>true.</a:t>
            </a:r>
            <a:endParaRPr lang="en-US" altLang="zh-CN" sz="2800" dirty="0">
              <a:latin typeface="Times New Roman" panose="02020503050405090304" pitchFamily="18" charset="0"/>
            </a:endParaRPr>
          </a:p>
          <a:p>
            <a:pPr eaLnBrk="1" hangingPunct="1">
              <a:lnSpc>
                <a:spcPct val="90000"/>
              </a:lnSpc>
              <a:buNone/>
            </a:pPr>
            <a:r>
              <a:rPr lang="en-US" altLang="zh-CN" sz="2800" i="1" dirty="0">
                <a:latin typeface="Times New Roman" panose="02020503050405090304" pitchFamily="18" charset="0"/>
              </a:rPr>
              <a:t>	If I am both rich and poor then hurricane Fran was a mild breeze.</a:t>
            </a:r>
            <a:endParaRPr lang="en-US" altLang="zh-CN" sz="2800" i="1" dirty="0">
              <a:latin typeface="Times New Roman" panose="02020503050405090304" pitchFamily="18" charset="0"/>
            </a:endParaRPr>
          </a:p>
          <a:p>
            <a:pPr eaLnBrk="1" hangingPunct="1">
              <a:lnSpc>
                <a:spcPct val="90000"/>
              </a:lnSpc>
            </a:pPr>
            <a:r>
              <a:rPr lang="en-US" altLang="zh-CN" sz="2800" dirty="0">
                <a:latin typeface="Times New Roman" panose="02020503050405090304" pitchFamily="18" charset="0"/>
              </a:rPr>
              <a:t>This is of the form</a:t>
            </a:r>
            <a:endParaRPr lang="en-US" altLang="zh-CN" sz="2800" dirty="0">
              <a:latin typeface="Times New Roman" panose="02020503050405090304" pitchFamily="18" charset="0"/>
            </a:endParaRPr>
          </a:p>
          <a:p>
            <a:pPr eaLnBrk="1" hangingPunct="1">
              <a:lnSpc>
                <a:spcPct val="90000"/>
              </a:lnSpc>
              <a:buNone/>
            </a:pPr>
            <a:r>
              <a:rPr lang="en-US" altLang="zh-CN" sz="2800" dirty="0">
                <a:latin typeface="Times New Roman" panose="02020503050405090304" pitchFamily="18" charset="0"/>
              </a:rPr>
              <a:t>	(</a:t>
            </a:r>
            <a:r>
              <a:rPr lang="en-US" altLang="zh-CN" sz="2800" i="1" dirty="0">
                <a:latin typeface="Times New Roman" panose="02020503050405090304" pitchFamily="18" charset="0"/>
              </a:rPr>
              <a:t>P </a:t>
            </a:r>
            <a:r>
              <a:rPr lang="en-US" altLang="zh-CN" sz="2800" dirty="0">
                <a:latin typeface="Symbol" panose="05050102010706020507" pitchFamily="18" charset="2"/>
              </a:rPr>
              <a:t>Ù </a:t>
            </a:r>
            <a:r>
              <a:rPr lang="en-US" altLang="zh-CN" sz="2800" dirty="0">
                <a:latin typeface="Times New Roman" panose="02020503050405090304" pitchFamily="18" charset="0"/>
                <a:sym typeface="Symbol" panose="05050102010706020507" pitchFamily="18" charset="2"/>
              </a:rPr>
              <a:t> </a:t>
            </a:r>
            <a:r>
              <a:rPr lang="en-US" altLang="zh-CN" sz="2800" i="1" dirty="0">
                <a:latin typeface="Times New Roman" panose="02020503050405090304" pitchFamily="18" charset="0"/>
              </a:rPr>
              <a:t>P</a:t>
            </a:r>
            <a:r>
              <a:rPr lang="en-US" altLang="zh-CN" sz="2800" dirty="0">
                <a:latin typeface="Times New Roman" panose="02020503050405090304" pitchFamily="18" charset="0"/>
              </a:rPr>
              <a:t>) </a:t>
            </a:r>
            <a:r>
              <a:rPr lang="en-US" altLang="zh-CN" sz="2800" dirty="0">
                <a:latin typeface="Euclid" panose="02020503060505020303" pitchFamily="18" charset="0"/>
                <a:sym typeface="Symbol" panose="05050102010706020507" pitchFamily="18" charset="2"/>
              </a:rPr>
              <a:t> </a:t>
            </a:r>
            <a:r>
              <a:rPr lang="en-US" altLang="zh-CN" sz="2800" i="1" dirty="0">
                <a:latin typeface="Times New Roman" panose="02020503050405090304" pitchFamily="18" charset="0"/>
              </a:rPr>
              <a:t>Q</a:t>
            </a:r>
            <a:endParaRPr lang="en-US" altLang="zh-CN" sz="2800" i="1"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and the hypotheses form a contradiction.</a:t>
            </a:r>
            <a:endParaRPr lang="en-US" altLang="zh-CN" sz="24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Hence Q follows from the hypotheses vacuously.</a:t>
            </a:r>
            <a:endParaRPr lang="en-US" altLang="zh-CN" sz="2400" dirty="0">
              <a:latin typeface="Times New Roman" panose="0202050305040509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638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638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16389"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Vacuous Proof Example</a:t>
            </a:r>
            <a:endParaRPr lang="en-US" altLang="zh-CN" dirty="0">
              <a:latin typeface="Times New Roman" panose="02020503050405090304" pitchFamily="18" charset="0"/>
            </a:endParaRPr>
          </a:p>
        </p:txBody>
      </p:sp>
      <p:sp>
        <p:nvSpPr>
          <p:cNvPr id="16390" name="Rectangle 3"/>
          <p:cNvSpPr>
            <a:spLocks noGrp="1"/>
          </p:cNvSpPr>
          <p:nvPr>
            <p:ph idx="1"/>
          </p:nvPr>
        </p:nvSpPr>
        <p:spPr/>
        <p:txBody>
          <a:bodyPr vert="horz" wrap="square" lIns="91440" tIns="45720" rIns="91440" bIns="45720" anchor="t" anchorCtr="0"/>
          <a:p>
            <a:pPr eaLnBrk="1" hangingPunct="1"/>
            <a:r>
              <a:rPr lang="en-US" altLang="zh-CN" b="1" dirty="0">
                <a:latin typeface="Times New Roman" panose="02020503050405090304" pitchFamily="18" charset="0"/>
              </a:rPr>
              <a:t>Theorem:</a:t>
            </a:r>
            <a:r>
              <a:rPr lang="en-US" altLang="zh-CN" dirty="0">
                <a:latin typeface="Times New Roman" panose="02020503050405090304" pitchFamily="18" charset="0"/>
              </a:rPr>
              <a:t> (For all </a:t>
            </a:r>
            <a:r>
              <a:rPr lang="en-US" altLang="zh-CN" i="1" dirty="0">
                <a:latin typeface="Times New Roman" panose="02020503050405090304" pitchFamily="18" charset="0"/>
              </a:rPr>
              <a:t>n</a:t>
            </a:r>
            <a:r>
              <a:rPr lang="en-US" altLang="zh-CN" dirty="0">
                <a:latin typeface="Times New Roman" panose="02020503050405090304" pitchFamily="18" charset="0"/>
              </a:rPr>
              <a:t>) If </a:t>
            </a:r>
            <a:r>
              <a:rPr lang="en-US" altLang="zh-CN" i="1" dirty="0">
                <a:latin typeface="Times New Roman" panose="02020503050405090304" pitchFamily="18" charset="0"/>
              </a:rPr>
              <a:t>n</a:t>
            </a:r>
            <a:r>
              <a:rPr lang="en-US" altLang="zh-CN" dirty="0">
                <a:latin typeface="Times New Roman" panose="02020503050405090304" pitchFamily="18" charset="0"/>
              </a:rPr>
              <a:t> is both odd and even, then </a:t>
            </a:r>
            <a:r>
              <a:rPr lang="en-US" altLang="zh-CN" i="1" dirty="0">
                <a:latin typeface="Times New Roman" panose="02020503050405090304" pitchFamily="18" charset="0"/>
              </a:rPr>
              <a:t>n</a:t>
            </a:r>
            <a:r>
              <a:rPr lang="en-US" altLang="zh-CN" baseline="30000" dirty="0">
                <a:latin typeface="Times New Roman" panose="02020503050405090304" pitchFamily="18" charset="0"/>
              </a:rPr>
              <a:t>2</a:t>
            </a:r>
            <a:r>
              <a:rPr lang="en-US" altLang="zh-CN" dirty="0">
                <a:latin typeface="Times New Roman" panose="02020503050405090304" pitchFamily="18" charset="0"/>
              </a:rPr>
              <a:t> = </a:t>
            </a:r>
            <a:r>
              <a:rPr lang="en-US" altLang="zh-CN" i="1" dirty="0">
                <a:latin typeface="Times New Roman" panose="02020503050405090304" pitchFamily="18" charset="0"/>
              </a:rPr>
              <a:t>n</a:t>
            </a:r>
            <a:r>
              <a:rPr lang="en-US" altLang="zh-CN" dirty="0">
                <a:latin typeface="Times New Roman" panose="02020503050405090304" pitchFamily="18" charset="0"/>
              </a:rPr>
              <a:t> + </a:t>
            </a:r>
            <a:r>
              <a:rPr lang="en-US" altLang="zh-CN" i="1" dirty="0">
                <a:latin typeface="Times New Roman" panose="02020503050405090304" pitchFamily="18" charset="0"/>
              </a:rPr>
              <a:t>n</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eaLnBrk="1" hangingPunct="1"/>
            <a:r>
              <a:rPr lang="en-US" altLang="zh-CN" b="1" dirty="0">
                <a:latin typeface="Times New Roman" panose="02020503050405090304" pitchFamily="18" charset="0"/>
              </a:rPr>
              <a:t>Proof: </a:t>
            </a:r>
            <a:r>
              <a:rPr lang="en-US" altLang="zh-CN" dirty="0">
                <a:latin typeface="Times New Roman" panose="02020503050405090304" pitchFamily="18" charset="0"/>
              </a:rPr>
              <a:t>The statement “</a:t>
            </a:r>
            <a:r>
              <a:rPr lang="en-US" altLang="zh-CN" i="1" dirty="0">
                <a:latin typeface="Times New Roman" panose="02020503050405090304" pitchFamily="18" charset="0"/>
              </a:rPr>
              <a:t>n</a:t>
            </a:r>
            <a:r>
              <a:rPr lang="en-US" altLang="zh-CN" dirty="0">
                <a:latin typeface="Times New Roman" panose="02020503050405090304" pitchFamily="18" charset="0"/>
              </a:rPr>
              <a:t> is both odd and even” is necessarily false, since no number can be both odd and even.  So, the theorem is vacuously true. </a:t>
            </a:r>
            <a:endParaRPr lang="en-US" altLang="zh-CN" b="1" dirty="0">
              <a:latin typeface="Times New Roman" panose="0202050305040509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741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741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17413" name="Rectangle 2"/>
          <p:cNvSpPr>
            <a:spLocks noGrp="1"/>
          </p:cNvSpPr>
          <p:nvPr>
            <p:ph type="title"/>
          </p:nvPr>
        </p:nvSpPr>
        <p:spPr/>
        <p:txBody>
          <a:bodyPr vert="horz" wrap="square" lIns="91440" tIns="45720" rIns="91440" bIns="45720" anchor="b" anchorCtr="0"/>
          <a:p>
            <a:pPr eaLnBrk="1" hangingPunct="1"/>
            <a:r>
              <a:rPr lang="en-US" altLang="zh-CN" sz="4000" i="1" dirty="0">
                <a:latin typeface="Times New Roman" panose="02020503050405090304" pitchFamily="18" charset="0"/>
              </a:rPr>
              <a:t>Proof by </a:t>
            </a:r>
            <a:r>
              <a:rPr lang="en-US" altLang="zh-CN" sz="4000" b="1" i="1" dirty="0">
                <a:latin typeface="Times New Roman" panose="02020503050405090304" pitchFamily="18" charset="0"/>
              </a:rPr>
              <a:t>contradiction</a:t>
            </a:r>
            <a:r>
              <a:rPr lang="en-US" altLang="zh-CN" sz="4000" dirty="0">
                <a:latin typeface="Times New Roman" panose="02020503050405090304" pitchFamily="18" charset="0"/>
              </a:rPr>
              <a:t>(</a:t>
            </a:r>
            <a:r>
              <a:rPr lang="zh-CN" altLang="en-US" sz="4000" dirty="0">
                <a:latin typeface="Times New Roman" panose="02020503050405090304" pitchFamily="18" charset="0"/>
              </a:rPr>
              <a:t>矛盾</a:t>
            </a:r>
            <a:r>
              <a:rPr lang="en-US" altLang="zh-CN" sz="4000" dirty="0">
                <a:latin typeface="Times New Roman" panose="02020503050405090304" pitchFamily="18" charset="0"/>
              </a:rPr>
              <a:t>)</a:t>
            </a:r>
            <a:endParaRPr lang="en-US" altLang="zh-CN" sz="4000" dirty="0">
              <a:latin typeface="Times New Roman" panose="02020503050405090304" pitchFamily="18" charset="0"/>
            </a:endParaRPr>
          </a:p>
        </p:txBody>
      </p:sp>
      <p:sp>
        <p:nvSpPr>
          <p:cNvPr id="17414" name="Rectangle 3"/>
          <p:cNvSpPr>
            <a:spLocks noGrp="1"/>
          </p:cNvSpPr>
          <p:nvPr>
            <p:ph idx="1"/>
          </p:nvPr>
        </p:nvSpPr>
        <p:spPr>
          <a:xfrm>
            <a:off x="612140" y="1371600"/>
            <a:ext cx="8437880" cy="4114800"/>
          </a:xfrm>
        </p:spPr>
        <p:txBody>
          <a:bodyPr vert="horz" wrap="square" lIns="91440" tIns="45720" rIns="91440" bIns="45720" anchor="t" anchorCtr="0"/>
          <a:p>
            <a:pPr eaLnBrk="1" hangingPunct="1"/>
            <a:r>
              <a:rPr lang="en-US" altLang="zh-CN" dirty="0">
                <a:latin typeface="Times New Roman" panose="02020503050405090304" pitchFamily="18" charset="0"/>
              </a:rPr>
              <a:t>to prove that a statement </a:t>
            </a:r>
            <a:r>
              <a:rPr lang="en-US" altLang="zh-CN" i="1" dirty="0">
                <a:latin typeface="Times New Roman" panose="02020503050405090304" pitchFamily="18" charset="0"/>
              </a:rPr>
              <a:t>Q</a:t>
            </a:r>
            <a:r>
              <a:rPr lang="en-US" altLang="zh-CN" dirty="0">
                <a:latin typeface="Times New Roman" panose="02020503050405090304" pitchFamily="18" charset="0"/>
              </a:rPr>
              <a:t> is true</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assumes the conclusion </a:t>
            </a:r>
            <a:r>
              <a:rPr lang="en-US" altLang="zh-CN" i="1" dirty="0">
                <a:latin typeface="Times New Roman" panose="02020503050405090304" pitchFamily="18" charset="0"/>
              </a:rPr>
              <a:t>Q </a:t>
            </a:r>
            <a:r>
              <a:rPr lang="en-US" altLang="zh-CN" dirty="0">
                <a:latin typeface="Times New Roman" panose="02020503050405090304" pitchFamily="18" charset="0"/>
              </a:rPr>
              <a:t>is false</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derives a contradiction, usually of the form </a:t>
            </a:r>
            <a:r>
              <a:rPr lang="en-US" altLang="zh-CN" i="1" dirty="0">
                <a:latin typeface="Times New Roman" panose="02020503050405090304" pitchFamily="18" charset="0"/>
              </a:rPr>
              <a:t>P </a:t>
            </a:r>
            <a:r>
              <a:rPr lang="en-US" altLang="zh-CN" dirty="0">
                <a:latin typeface="Symbol" panose="05050102010706020507" pitchFamily="18" charset="2"/>
              </a:rPr>
              <a:t>Ù </a:t>
            </a:r>
            <a:r>
              <a:rPr lang="en-US" altLang="zh-CN" dirty="0">
                <a:latin typeface="Times New Roman" panose="02020503050405090304" pitchFamily="18" charset="0"/>
                <a:sym typeface="Symbol" panose="05050102010706020507" pitchFamily="18" charset="2"/>
              </a:rPr>
              <a:t> </a:t>
            </a:r>
            <a:r>
              <a:rPr lang="en-US" altLang="zh-CN" i="1" dirty="0">
                <a:latin typeface="Times New Roman" panose="02020503050405090304" pitchFamily="18" charset="0"/>
              </a:rPr>
              <a:t>P </a:t>
            </a:r>
            <a:r>
              <a:rPr lang="en-US" altLang="zh-CN" dirty="0">
                <a:latin typeface="Times New Roman" panose="02020503050405090304" pitchFamily="18" charset="0"/>
              </a:rPr>
              <a:t>which establishes </a:t>
            </a:r>
            <a:r>
              <a:rPr lang="en-US" altLang="zh-CN" dirty="0">
                <a:latin typeface="Times New Roman" panose="02020503050405090304" pitchFamily="18" charset="0"/>
                <a:sym typeface="Symbol" panose="05050102010706020507" pitchFamily="18" charset="2"/>
              </a:rPr>
              <a:t></a:t>
            </a:r>
            <a:r>
              <a:rPr lang="en-US" altLang="zh-CN" dirty="0">
                <a:latin typeface="Symbol" panose="05050102010706020507" pitchFamily="18" charset="2"/>
              </a:rPr>
              <a:t> </a:t>
            </a:r>
            <a:r>
              <a:rPr lang="en-US" altLang="zh-CN" i="1" dirty="0">
                <a:latin typeface="Times New Roman" panose="02020503050405090304" pitchFamily="18" charset="0"/>
              </a:rPr>
              <a:t>Q </a:t>
            </a:r>
            <a:r>
              <a:rPr lang="en-US" altLang="zh-CN" dirty="0">
                <a:latin typeface="Euclid" panose="02020503060505020303" pitchFamily="18" charset="0"/>
                <a:sym typeface="Symbol" panose="05050102010706020507" pitchFamily="18" charset="2"/>
              </a:rPr>
              <a:t> </a:t>
            </a:r>
            <a:r>
              <a:rPr lang="en-US" altLang="zh-CN" dirty="0">
                <a:latin typeface="Times New Roman" panose="02020503050405090304" pitchFamily="18" charset="0"/>
              </a:rPr>
              <a:t>0.</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The Contrapositive of this assertion is </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1 </a:t>
            </a:r>
            <a:r>
              <a:rPr lang="en-US" altLang="zh-CN" dirty="0">
                <a:latin typeface="Euclid" panose="02020503060505020303" pitchFamily="18" charset="0"/>
                <a:sym typeface="Symbol" panose="05050102010706020507" pitchFamily="18" charset="2"/>
              </a:rPr>
              <a:t> </a:t>
            </a:r>
            <a:r>
              <a:rPr lang="en-US" altLang="zh-CN" i="1" dirty="0">
                <a:latin typeface="Times New Roman" panose="02020503050405090304" pitchFamily="18" charset="0"/>
              </a:rPr>
              <a:t>Q</a:t>
            </a:r>
            <a:endParaRPr lang="en-US" altLang="zh-CN" i="1" dirty="0">
              <a:latin typeface="Times New Roman" panose="02020503050405090304" pitchFamily="18" charset="0"/>
            </a:endParaRPr>
          </a:p>
          <a:p>
            <a:pPr eaLnBrk="1" hangingPunct="1"/>
            <a:r>
              <a:rPr lang="en-US" altLang="zh-CN" dirty="0">
                <a:latin typeface="Times New Roman" panose="02020503050405090304" pitchFamily="18" charset="0"/>
              </a:rPr>
              <a:t>from which it follows that </a:t>
            </a:r>
            <a:r>
              <a:rPr lang="en-US" altLang="zh-CN" i="1" dirty="0">
                <a:latin typeface="Times New Roman" panose="02020503050405090304" pitchFamily="18" charset="0"/>
              </a:rPr>
              <a:t>Q</a:t>
            </a:r>
            <a:r>
              <a:rPr lang="en-US" altLang="zh-CN" dirty="0">
                <a:latin typeface="Times New Roman" panose="02020503050405090304" pitchFamily="18" charset="0"/>
              </a:rPr>
              <a:t> must be true.</a:t>
            </a:r>
            <a:endParaRPr lang="en-US" altLang="zh-CN" dirty="0">
              <a:latin typeface="Times New Roman" panose="02020503050405090304" pitchFamily="18" charset="0"/>
            </a:endParaRPr>
          </a:p>
        </p:txBody>
      </p:sp>
      <p:sp>
        <p:nvSpPr>
          <p:cNvPr id="2" name="矩形 1"/>
          <p:cNvSpPr/>
          <p:nvPr/>
        </p:nvSpPr>
        <p:spPr>
          <a:xfrm>
            <a:off x="971347" y="5229086"/>
            <a:ext cx="7200800" cy="1045210"/>
          </a:xfrm>
          <a:prstGeom prst="rect">
            <a:avLst/>
          </a:prstGeom>
          <a:solidFill>
            <a:schemeClr val="accent2"/>
          </a:solidFill>
        </p:spPr>
        <p:txBody>
          <a:bodyPr wrap="square">
            <a:spAutoFit/>
          </a:bodyPr>
          <a:p>
            <a:pPr algn="ctr" eaLnBrk="1" hangingPunct="1">
              <a:spcBef>
                <a:spcPts val="600"/>
              </a:spcBef>
              <a:spcAft>
                <a:spcPts val="600"/>
              </a:spcAft>
            </a:pPr>
            <a:r>
              <a:rPr lang="en-US" altLang="zh-CN" sz="2800" dirty="0"/>
              <a:t>Contrast: The </a:t>
            </a:r>
            <a:r>
              <a:rPr lang="en-US" altLang="zh-CN" sz="2800" dirty="0">
                <a:solidFill>
                  <a:srgbClr val="FF0000"/>
                </a:solidFill>
              </a:rPr>
              <a:t>contrapositive</a:t>
            </a:r>
            <a:r>
              <a:rPr lang="en-US" altLang="zh-CN" sz="2800" dirty="0"/>
              <a:t> proof: </a:t>
            </a:r>
            <a:endParaRPr lang="en-US" altLang="zh-CN" sz="2800" dirty="0"/>
          </a:p>
          <a:p>
            <a:pPr algn="ctr" eaLnBrk="1" hangingPunct="1">
              <a:spcBef>
                <a:spcPts val="600"/>
              </a:spcBef>
              <a:spcAft>
                <a:spcPts val="600"/>
              </a:spcAft>
            </a:pPr>
            <a:r>
              <a:rPr lang="en-US" altLang="zh-CN" dirty="0">
                <a:solidFill>
                  <a:srgbClr val="FF0000"/>
                </a:solidFill>
              </a:rPr>
              <a:t>To proof P</a:t>
            </a:r>
            <a:r>
              <a:rPr lang="en-US" altLang="zh-CN" dirty="0">
                <a:solidFill>
                  <a:srgbClr val="FF0000"/>
                </a:solidFill>
                <a:latin typeface="Euclid" panose="02020503060505020303" pitchFamily="18" charset="0"/>
                <a:sym typeface="Symbol" panose="05050102010706020507" pitchFamily="18" charset="2"/>
              </a:rPr>
              <a:t> </a:t>
            </a:r>
            <a:r>
              <a:rPr lang="en-US" altLang="zh-CN" dirty="0">
                <a:solidFill>
                  <a:srgbClr val="FF0000"/>
                </a:solidFill>
              </a:rPr>
              <a:t>Q,  construct and proof  </a:t>
            </a:r>
            <a:r>
              <a:rPr lang="en-US" altLang="zh-CN" dirty="0">
                <a:solidFill>
                  <a:srgbClr val="FF0000"/>
                </a:solidFill>
                <a:sym typeface="Symbol" panose="05050102010706020507" pitchFamily="18" charset="2"/>
              </a:rPr>
              <a:t></a:t>
            </a:r>
            <a:r>
              <a:rPr lang="en-US" altLang="zh-CN" dirty="0">
                <a:solidFill>
                  <a:srgbClr val="FF0000"/>
                </a:solidFill>
              </a:rPr>
              <a:t>Q</a:t>
            </a:r>
            <a:r>
              <a:rPr lang="en-US" altLang="zh-CN" dirty="0">
                <a:solidFill>
                  <a:srgbClr val="FF0000"/>
                </a:solidFill>
                <a:sym typeface="Symbol" panose="05050102010706020507" pitchFamily="18" charset="2"/>
              </a:rPr>
              <a:t></a:t>
            </a:r>
            <a:r>
              <a:rPr lang="en-US" altLang="zh-CN" dirty="0">
                <a:solidFill>
                  <a:srgbClr val="FF0000"/>
                </a:solidFill>
              </a:rPr>
              <a:t> </a:t>
            </a:r>
            <a:r>
              <a:rPr lang="en-US" altLang="zh-CN" dirty="0">
                <a:solidFill>
                  <a:srgbClr val="FF0000"/>
                </a:solidFill>
                <a:sym typeface="Symbol" panose="05050102010706020507" pitchFamily="18" charset="2"/>
              </a:rPr>
              <a:t></a:t>
            </a:r>
            <a:r>
              <a:rPr lang="en-US" altLang="zh-CN" dirty="0">
                <a:solidFill>
                  <a:srgbClr val="FF0000"/>
                </a:solidFill>
              </a:rPr>
              <a:t> P.</a:t>
            </a:r>
            <a:endParaRPr lang="en-US" altLang="zh-CN" dirty="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843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843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18437"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Example</a:t>
            </a:r>
            <a:endParaRPr lang="en-US" altLang="zh-CN" dirty="0">
              <a:latin typeface="Times New Roman" panose="02020503050405090304" pitchFamily="18" charset="0"/>
            </a:endParaRPr>
          </a:p>
        </p:txBody>
      </p:sp>
      <p:sp>
        <p:nvSpPr>
          <p:cNvPr id="18438" name="Rectangle 3"/>
          <p:cNvSpPr>
            <a:spLocks noGrp="1"/>
          </p:cNvSpPr>
          <p:nvPr>
            <p:ph idx="1"/>
          </p:nvPr>
        </p:nvSpPr>
        <p:spPr>
          <a:xfrm>
            <a:off x="828675" y="1320165"/>
            <a:ext cx="8086725" cy="4580890"/>
          </a:xfrm>
        </p:spPr>
        <p:txBody>
          <a:bodyPr vert="horz" wrap="square" lIns="91440" tIns="45720" rIns="91440" bIns="45720" anchor="t" anchorCtr="0"/>
          <a:p>
            <a:pPr eaLnBrk="1" hangingPunct="1">
              <a:lnSpc>
                <a:spcPct val="90000"/>
              </a:lnSpc>
            </a:pPr>
            <a:r>
              <a:rPr lang="en-US" altLang="zh-CN" sz="2800" dirty="0">
                <a:latin typeface="Times New Roman" panose="02020503050405090304" pitchFamily="18" charset="0"/>
              </a:rPr>
              <a:t>Theorem: </a:t>
            </a:r>
            <a:r>
              <a:rPr lang="en-US" altLang="zh-CN" sz="2800" i="1" dirty="0">
                <a:latin typeface="Times New Roman" panose="02020503050405090304" pitchFamily="18" charset="0"/>
              </a:rPr>
              <a:t>There is no largest prime number</a:t>
            </a:r>
            <a:r>
              <a:rPr lang="en-US" altLang="zh-CN" sz="2800" dirty="0">
                <a:latin typeface="Times New Roman" panose="02020503050405090304" pitchFamily="18" charset="0"/>
              </a:rPr>
              <a:t>.</a:t>
            </a:r>
            <a:endParaRPr lang="en-US" altLang="zh-CN" sz="2800" dirty="0">
              <a:latin typeface="Times New Roman" panose="02020503050405090304" pitchFamily="18" charset="0"/>
            </a:endParaRPr>
          </a:p>
          <a:p>
            <a:pPr eaLnBrk="1" hangingPunct="1">
              <a:lnSpc>
                <a:spcPct val="90000"/>
              </a:lnSpc>
            </a:pPr>
            <a:r>
              <a:rPr lang="en-US" altLang="zh-CN" sz="2800" dirty="0">
                <a:latin typeface="Times New Roman" panose="02020503050405090304" pitchFamily="18" charset="0"/>
              </a:rPr>
              <a:t>We assume the conclusion 'there is no largest prime number' is false.</a:t>
            </a:r>
            <a:endParaRPr lang="en-US" altLang="zh-CN" sz="28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There is a largest prime number. Call it p.</a:t>
            </a:r>
            <a:endParaRPr lang="en-US" altLang="zh-CN" sz="24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Hence, the set of all primes lie between 1 and p.</a:t>
            </a:r>
            <a:endParaRPr lang="en-US" altLang="zh-CN" sz="24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Form the product of these primes:</a:t>
            </a:r>
            <a:endParaRPr lang="en-US" altLang="zh-CN" sz="24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	r = 2•3•5•7•11•....•p.</a:t>
            </a:r>
            <a:endParaRPr lang="en-US" altLang="zh-CN" sz="24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But r + 1 is a prime larger than p. (</a:t>
            </a:r>
            <a:r>
              <a:rPr lang="en-US" altLang="zh-CN" sz="2400" dirty="0">
                <a:solidFill>
                  <a:srgbClr val="FF0000"/>
                </a:solidFill>
                <a:latin typeface="Times New Roman" panose="02020503050405090304" pitchFamily="18" charset="0"/>
              </a:rPr>
              <a:t>Why?</a:t>
            </a:r>
            <a:r>
              <a:rPr lang="en-US" altLang="zh-CN" sz="2400" dirty="0">
                <a:latin typeface="Times New Roman" panose="02020503050405090304" pitchFamily="18" charset="0"/>
              </a:rPr>
              <a:t>).</a:t>
            </a:r>
            <a:endParaRPr lang="en-US" altLang="zh-CN" sz="24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This contradicts the assumption that there is a largest  prime. </a:t>
            </a:r>
            <a:endParaRPr lang="en-US" altLang="zh-CN" sz="2400" dirty="0">
              <a:latin typeface="Times New Roman" panose="02020503050405090304" pitchFamily="18" charset="0"/>
            </a:endParaRPr>
          </a:p>
          <a:p>
            <a:pPr lvl="1" algn="r" eaLnBrk="1" hangingPunct="1">
              <a:lnSpc>
                <a:spcPct val="90000"/>
              </a:lnSpc>
              <a:buNone/>
            </a:pPr>
            <a:r>
              <a:rPr lang="en-US" altLang="zh-CN" sz="2400" dirty="0">
                <a:latin typeface="Times New Roman" panose="02020503050405090304" pitchFamily="18" charset="0"/>
              </a:rPr>
              <a:t>Q.E.D.</a:t>
            </a:r>
            <a:endParaRPr lang="en-US" altLang="zh-CN" sz="2400" dirty="0">
              <a:latin typeface="Times New Roman" panose="0202050305040509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945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946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19461" name="Rectangle 2"/>
          <p:cNvSpPr>
            <a:spLocks noGrp="1"/>
          </p:cNvSpPr>
          <p:nvPr>
            <p:ph type="title"/>
          </p:nvPr>
        </p:nvSpPr>
        <p:spPr/>
        <p:txBody>
          <a:bodyPr vert="horz" wrap="square" lIns="91440" tIns="45720" rIns="91440" bIns="45720" anchor="b" anchorCtr="0"/>
          <a:p>
            <a:pPr eaLnBrk="1" hangingPunct="1"/>
            <a:r>
              <a:rPr lang="en-US" altLang="zh-CN" i="1" dirty="0">
                <a:latin typeface="Times New Roman" panose="02020503050405090304" pitchFamily="18" charset="0"/>
              </a:rPr>
              <a:t>Proof by </a:t>
            </a:r>
            <a:r>
              <a:rPr lang="en-US" altLang="zh-CN" b="1" i="1" dirty="0">
                <a:latin typeface="Times New Roman" panose="02020503050405090304" pitchFamily="18" charset="0"/>
              </a:rPr>
              <a:t>contradiction </a:t>
            </a:r>
            <a:endParaRPr lang="en-US" altLang="zh-CN" dirty="0">
              <a:latin typeface="Times New Roman" panose="02020503050405090304" pitchFamily="18" charset="0"/>
            </a:endParaRPr>
          </a:p>
        </p:txBody>
      </p:sp>
      <p:sp>
        <p:nvSpPr>
          <p:cNvPr id="18438" name="Rectangle 3"/>
          <p:cNvSpPr>
            <a:spLocks noGrp="1" noChangeArrowheads="1"/>
          </p:cNvSpPr>
          <p:nvPr>
            <p:ph idx="1"/>
          </p:nvPr>
        </p:nvSpPr>
        <p:spPr>
          <a:xfrm>
            <a:off x="539750" y="1371283"/>
            <a:ext cx="8496300" cy="41148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a:pPr>
            <a:r>
              <a:rPr kumimoji="1" lang="en-US" altLang="zh-CN" b="0" i="0" u="none" strike="noStrike" kern="0" cap="none" spc="0" normalizeH="0" baseline="0" noProof="1">
                <a:ln>
                  <a:noFill/>
                </a:ln>
                <a:solidFill>
                  <a:schemeClr val="tx1"/>
                </a:solidFill>
                <a:effectLst/>
                <a:uLnTx/>
                <a:uFillTx/>
                <a:latin typeface="Times New Roman" panose="02020503050405090304" pitchFamily="18" charset="0"/>
                <a:ea typeface="+mn-ea"/>
                <a:cs typeface="+mn-cs"/>
              </a:rPr>
              <a:t>Example:  Prove that if you pick 22 days from the calendar, at least 4 must fall on the same day of the week.</a:t>
            </a:r>
            <a:endParaRPr kumimoji="1" lang="en-US" altLang="zh-CN" b="0" i="0" u="none" strike="noStrike" kern="0" cap="none" spc="0" normalizeH="0" baseline="0" noProof="1">
              <a:ln>
                <a:noFill/>
              </a:ln>
              <a:solidFill>
                <a:schemeClr val="tx1"/>
              </a:solidFill>
              <a:effectLst/>
              <a:uLnTx/>
              <a:uFillTx/>
              <a:latin typeface="Times New Roman" panose="02020503050405090304" pitchFamily="18" charset="0"/>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a:pPr>
            <a:r>
              <a:rPr kumimoji="1" lang="en-US" altLang="zh-CN" b="0" i="0" u="none" strike="noStrike" kern="0" cap="none" spc="0" normalizeH="0" baseline="0" noProof="1">
                <a:ln>
                  <a:noFill/>
                </a:ln>
                <a:solidFill>
                  <a:schemeClr val="tx1"/>
                </a:solidFill>
                <a:effectLst/>
                <a:uLnTx/>
                <a:uFillTx/>
                <a:latin typeface="Times New Roman" panose="02020503050405090304" pitchFamily="18" charset="0"/>
                <a:ea typeface="+mn-ea"/>
                <a:cs typeface="+mn-cs"/>
              </a:rPr>
              <a:t>Solution: </a:t>
            </a:r>
            <a:endParaRPr kumimoji="1" lang="en-US" altLang="zh-CN" b="0" i="0" u="none" strike="noStrike" kern="0" cap="none" spc="0" normalizeH="0" baseline="0" noProof="1">
              <a:ln>
                <a:noFill/>
              </a:ln>
              <a:solidFill>
                <a:schemeClr val="tx1"/>
              </a:solidFill>
              <a:effectLst/>
              <a:uLnTx/>
              <a:uFillTx/>
              <a:latin typeface="Times New Roman" panose="02020503050405090304" pitchFamily="18" charset="0"/>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r>
              <a:rPr kumimoji="1" lang="en-US" altLang="zh-CN" b="0" i="0" u="none" strike="noStrike" kern="0" cap="none" spc="0" normalizeH="0" baseline="0" noProof="1">
                <a:ln>
                  <a:noFill/>
                </a:ln>
                <a:solidFill>
                  <a:schemeClr val="tx1"/>
                </a:solidFill>
                <a:effectLst/>
                <a:uLnTx/>
                <a:uFillTx/>
                <a:latin typeface="Times New Roman" panose="02020503050405090304" pitchFamily="18" charset="0"/>
                <a:ea typeface="+mn-ea"/>
                <a:cs typeface="+mn-ea"/>
              </a:rPr>
              <a:t>Assume that no more than 3 of the 22 days fall on the same day of the week.</a:t>
            </a:r>
            <a:endParaRPr kumimoji="1" lang="en-US" altLang="zh-CN" b="0" i="0" u="none" strike="noStrike" kern="0" cap="none" spc="0" normalizeH="0" baseline="0" noProof="1">
              <a:ln>
                <a:noFill/>
              </a:ln>
              <a:solidFill>
                <a:schemeClr val="tx1"/>
              </a:solidFill>
              <a:effectLst/>
              <a:uLnTx/>
              <a:uFillTx/>
              <a:latin typeface="Times New Roman" panose="02020503050405090304" pitchFamily="18" charset="0"/>
              <a:ea typeface="+mn-ea"/>
              <a:cs typeface="+mn-ea"/>
            </a:endParaRPr>
          </a:p>
          <a:p>
            <a:pPr marL="742950" marR="0" lvl="1" indent="-28575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r>
              <a:rPr kumimoji="1" lang="en-US" altLang="zh-CN" b="0" i="0" u="none" strike="noStrike" kern="0" cap="none" spc="0" normalizeH="0" baseline="0" noProof="1">
                <a:ln>
                  <a:noFill/>
                </a:ln>
                <a:solidFill>
                  <a:schemeClr val="tx1"/>
                </a:solidFill>
                <a:effectLst/>
                <a:uLnTx/>
                <a:uFillTx/>
                <a:latin typeface="Times New Roman" panose="02020503050405090304" pitchFamily="18" charset="0"/>
                <a:ea typeface="+mn-ea"/>
                <a:cs typeface="+mn-ea"/>
              </a:rPr>
              <a:t>Because there are 7 days of the week, we could only have picked 21 days. </a:t>
            </a:r>
            <a:endParaRPr kumimoji="1" lang="en-US" altLang="zh-CN" b="0" i="0" u="none" strike="noStrike" kern="0" cap="none" spc="0" normalizeH="0" baseline="0" noProof="1">
              <a:ln>
                <a:noFill/>
              </a:ln>
              <a:solidFill>
                <a:schemeClr val="tx1"/>
              </a:solidFill>
              <a:effectLst/>
              <a:uLnTx/>
              <a:uFillTx/>
              <a:latin typeface="Times New Roman" panose="02020503050405090304" pitchFamily="18" charset="0"/>
              <a:ea typeface="+mn-ea"/>
              <a:cs typeface="+mn-ea"/>
            </a:endParaRPr>
          </a:p>
          <a:p>
            <a:pPr marL="742950" marR="0" lvl="1" indent="-28575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r>
              <a:rPr kumimoji="1" lang="en-US" altLang="zh-CN" b="0" i="0" u="none" strike="noStrike" kern="0" cap="none" spc="0" normalizeH="0" baseline="0" noProof="1">
                <a:ln>
                  <a:noFill/>
                </a:ln>
                <a:solidFill>
                  <a:schemeClr val="tx1"/>
                </a:solidFill>
                <a:effectLst/>
                <a:uLnTx/>
                <a:uFillTx/>
                <a:latin typeface="Times New Roman" panose="02020503050405090304" pitchFamily="18" charset="0"/>
                <a:ea typeface="+mn-ea"/>
                <a:cs typeface="+mn-ea"/>
              </a:rPr>
              <a:t>This contradicts the assumption that we have picked 22 days.                                                                                                 								Q.E.D.</a:t>
            </a:r>
            <a:endParaRPr kumimoji="1" lang="en-US" altLang="zh-CN" sz="2400" b="0" i="0" u="none" strike="noStrike" kern="0" cap="none" spc="0" normalizeH="0" baseline="0" noProof="1">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endPar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048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048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20485" name="Rectangle 2"/>
          <p:cNvSpPr>
            <a:spLocks noGrp="1"/>
          </p:cNvSpPr>
          <p:nvPr>
            <p:ph type="title"/>
          </p:nvPr>
        </p:nvSpPr>
        <p:spPr/>
        <p:txBody>
          <a:bodyPr vert="horz" wrap="square" lIns="91440" tIns="45720" rIns="91440" bIns="45720" anchor="b" anchorCtr="0"/>
          <a:p>
            <a:pPr eaLnBrk="1" hangingPunct="1"/>
            <a:r>
              <a:rPr lang="en-US" altLang="zh-CN" i="1" dirty="0">
                <a:latin typeface="Times New Roman" panose="02020503050405090304" pitchFamily="18" charset="0"/>
              </a:rPr>
              <a:t>Proof by Cases</a:t>
            </a:r>
            <a:endParaRPr lang="en-US" altLang="zh-CN" dirty="0">
              <a:latin typeface="Times New Roman" panose="02020503050405090304" pitchFamily="18" charset="0"/>
            </a:endParaRPr>
          </a:p>
        </p:txBody>
      </p:sp>
      <p:sp>
        <p:nvSpPr>
          <p:cNvPr id="20486" name="Rectangle 3"/>
          <p:cNvSpPr>
            <a:spLocks noGrp="1"/>
          </p:cNvSpPr>
          <p:nvPr>
            <p:ph idx="1"/>
          </p:nvPr>
        </p:nvSpPr>
        <p:spPr>
          <a:xfrm>
            <a:off x="972185" y="1412875"/>
            <a:ext cx="7872095" cy="4365625"/>
          </a:xfrm>
        </p:spPr>
        <p:txBody>
          <a:bodyPr vert="horz" wrap="square" lIns="91440" tIns="45720" rIns="91440" bIns="45720" anchor="t" anchorCtr="0"/>
          <a:p>
            <a:pPr eaLnBrk="1" hangingPunct="1">
              <a:lnSpc>
                <a:spcPct val="80000"/>
              </a:lnSpc>
            </a:pPr>
            <a:r>
              <a:rPr lang="en-US" altLang="zh-CN" dirty="0">
                <a:latin typeface="Times New Roman" panose="02020503050405090304" pitchFamily="18" charset="0"/>
              </a:rPr>
              <a:t>Break the premise of </a:t>
            </a:r>
            <a:r>
              <a:rPr lang="en-US" altLang="zh-CN" i="1" dirty="0">
                <a:latin typeface="Times New Roman" panose="02020503050405090304" pitchFamily="18" charset="0"/>
              </a:rPr>
              <a:t>P </a:t>
            </a:r>
            <a:r>
              <a:rPr lang="en-US" altLang="zh-CN" dirty="0">
                <a:latin typeface="Euclid" panose="02020503060505020303" pitchFamily="18" charset="0"/>
                <a:sym typeface="Symbol" panose="05050102010706020507" pitchFamily="18" charset="2"/>
              </a:rPr>
              <a:t></a:t>
            </a:r>
            <a:r>
              <a:rPr lang="en-US" altLang="zh-CN" dirty="0">
                <a:latin typeface="Symbol" panose="05050102010706020507" pitchFamily="18" charset="2"/>
              </a:rPr>
              <a:t> </a:t>
            </a:r>
            <a:r>
              <a:rPr lang="en-US" altLang="zh-CN" i="1" dirty="0">
                <a:latin typeface="Times New Roman" panose="02020503050405090304" pitchFamily="18" charset="0"/>
              </a:rPr>
              <a:t>Q </a:t>
            </a:r>
            <a:r>
              <a:rPr lang="en-US" altLang="zh-CN" dirty="0">
                <a:latin typeface="Times New Roman" panose="02020503050405090304" pitchFamily="18" charset="0"/>
              </a:rPr>
              <a:t>into an equivalent disjunction of the form</a:t>
            </a:r>
            <a:endParaRPr lang="en-US" altLang="zh-CN" dirty="0">
              <a:latin typeface="Times New Roman" panose="02020503050405090304" pitchFamily="18" charset="0"/>
            </a:endParaRPr>
          </a:p>
          <a:p>
            <a:pPr lvl="1" eaLnBrk="1" hangingPunct="1">
              <a:lnSpc>
                <a:spcPct val="80000"/>
              </a:lnSpc>
              <a:buNone/>
            </a:pPr>
            <a:r>
              <a:rPr lang="en-US" altLang="zh-CN" i="1" dirty="0">
                <a:latin typeface="Times New Roman" panose="02020503050405090304" pitchFamily="18" charset="0"/>
              </a:rPr>
              <a:t>P</a:t>
            </a:r>
            <a:r>
              <a:rPr lang="en-US" altLang="zh-CN" baseline="-25000" dirty="0">
                <a:latin typeface="Times New Roman" panose="02020503050405090304" pitchFamily="18" charset="0"/>
              </a:rPr>
              <a:t>1</a:t>
            </a:r>
            <a:r>
              <a:rPr lang="en-US" altLang="zh-CN" dirty="0">
                <a:latin typeface="Times New Roman" panose="02020503050405090304" pitchFamily="18" charset="0"/>
              </a:rPr>
              <a:t> </a:t>
            </a:r>
            <a:r>
              <a:rPr lang="en-US" altLang="zh-CN" dirty="0">
                <a:latin typeface="Symbol" panose="05050102010706020507" pitchFamily="18" charset="2"/>
              </a:rPr>
              <a:t>Ú </a:t>
            </a:r>
            <a:r>
              <a:rPr lang="en-US" altLang="zh-CN" i="1" dirty="0">
                <a:latin typeface="Times New Roman" panose="02020503050405090304" pitchFamily="18" charset="0"/>
              </a:rPr>
              <a:t>P</a:t>
            </a:r>
            <a:r>
              <a:rPr lang="en-US" altLang="zh-CN" baseline="-25000" dirty="0">
                <a:latin typeface="Times New Roman" panose="02020503050405090304" pitchFamily="18" charset="0"/>
              </a:rPr>
              <a:t>2</a:t>
            </a:r>
            <a:r>
              <a:rPr lang="en-US" altLang="zh-CN" dirty="0">
                <a:latin typeface="Symbol" panose="05050102010706020507" pitchFamily="18" charset="2"/>
              </a:rPr>
              <a:t>Ú</a:t>
            </a:r>
            <a:r>
              <a:rPr lang="en-US" altLang="zh-CN" dirty="0">
                <a:latin typeface="Times New Roman" panose="02020503050405090304" pitchFamily="18" charset="0"/>
              </a:rPr>
              <a:t>...</a:t>
            </a:r>
            <a:r>
              <a:rPr lang="en-US" altLang="zh-CN" dirty="0">
                <a:latin typeface="Symbol" panose="05050102010706020507" pitchFamily="18" charset="2"/>
              </a:rPr>
              <a:t>Ú</a:t>
            </a:r>
            <a:r>
              <a:rPr lang="en-US" altLang="zh-CN" i="1" dirty="0">
                <a:latin typeface="Times New Roman" panose="02020503050405090304" pitchFamily="18" charset="0"/>
              </a:rPr>
              <a:t>P</a:t>
            </a:r>
            <a:r>
              <a:rPr lang="en-US" altLang="zh-CN" i="1" baseline="-25000" dirty="0">
                <a:latin typeface="Times New Roman" panose="02020503050405090304" pitchFamily="18" charset="0"/>
              </a:rPr>
              <a:t>n</a:t>
            </a:r>
            <a:r>
              <a:rPr lang="en-US" altLang="zh-CN" i="1" dirty="0">
                <a:latin typeface="Times New Roman" panose="02020503050405090304" pitchFamily="18" charset="0"/>
              </a:rPr>
              <a:t> </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eaLnBrk="1" hangingPunct="1">
              <a:lnSpc>
                <a:spcPct val="80000"/>
              </a:lnSpc>
            </a:pPr>
            <a:r>
              <a:rPr lang="en-US" altLang="zh-CN" dirty="0">
                <a:latin typeface="Times New Roman" panose="02020503050405090304" pitchFamily="18" charset="0"/>
              </a:rPr>
              <a:t>Then use the tautology</a:t>
            </a:r>
            <a:endParaRPr lang="en-US" altLang="zh-CN" dirty="0">
              <a:latin typeface="Times New Roman" panose="02020503050405090304" pitchFamily="18" charset="0"/>
            </a:endParaRPr>
          </a:p>
          <a:p>
            <a:pPr lvl="1" eaLnBrk="1" hangingPunct="1">
              <a:lnSpc>
                <a:spcPct val="80000"/>
              </a:lnSpc>
              <a:buNone/>
            </a:pPr>
            <a:r>
              <a:rPr lang="en-US" altLang="zh-CN" dirty="0">
                <a:latin typeface="Times New Roman" panose="02020503050405090304" pitchFamily="18" charset="0"/>
              </a:rPr>
              <a:t>[(</a:t>
            </a:r>
            <a:r>
              <a:rPr lang="en-US" altLang="zh-CN" i="1" dirty="0">
                <a:latin typeface="Times New Roman" panose="02020503050405090304" pitchFamily="18" charset="0"/>
              </a:rPr>
              <a:t>P</a:t>
            </a:r>
            <a:r>
              <a:rPr lang="en-US" altLang="zh-CN" baseline="-25000" dirty="0">
                <a:latin typeface="Times New Roman" panose="02020503050405090304" pitchFamily="18" charset="0"/>
              </a:rPr>
              <a:t>1</a:t>
            </a:r>
            <a:r>
              <a:rPr lang="en-US" altLang="zh-CN" dirty="0">
                <a:latin typeface="Times New Roman" panose="02020503050405090304" pitchFamily="18" charset="0"/>
              </a:rPr>
              <a:t> </a:t>
            </a:r>
            <a:r>
              <a:rPr lang="en-US" altLang="zh-CN" dirty="0">
                <a:latin typeface="Euclid" panose="02020503060505020303" pitchFamily="18" charset="0"/>
                <a:sym typeface="Symbol" panose="05050102010706020507" pitchFamily="18" charset="2"/>
              </a:rPr>
              <a:t></a:t>
            </a:r>
            <a:r>
              <a:rPr lang="en-US" altLang="zh-CN" dirty="0">
                <a:latin typeface="Symbol" panose="05050102010706020507" pitchFamily="18" charset="2"/>
              </a:rPr>
              <a:t> </a:t>
            </a:r>
            <a:r>
              <a:rPr lang="en-US" altLang="zh-CN" i="1" dirty="0">
                <a:latin typeface="Times New Roman" panose="02020503050405090304" pitchFamily="18" charset="0"/>
              </a:rPr>
              <a:t>Q</a:t>
            </a:r>
            <a:r>
              <a:rPr lang="en-US" altLang="zh-CN" dirty="0">
                <a:latin typeface="Times New Roman" panose="02020503050405090304" pitchFamily="18" charset="0"/>
              </a:rPr>
              <a:t>) </a:t>
            </a:r>
            <a:r>
              <a:rPr lang="en-US" altLang="zh-CN" dirty="0">
                <a:latin typeface="Symbol" panose="05050102010706020507" pitchFamily="18" charset="2"/>
              </a:rPr>
              <a:t>Ù</a:t>
            </a:r>
            <a:r>
              <a:rPr lang="en-US" altLang="zh-CN" dirty="0">
                <a:latin typeface="Times New Roman" panose="02020503050405090304" pitchFamily="18" charset="0"/>
              </a:rPr>
              <a:t>(</a:t>
            </a:r>
            <a:r>
              <a:rPr lang="en-US" altLang="zh-CN" i="1" dirty="0">
                <a:latin typeface="Times New Roman" panose="02020503050405090304" pitchFamily="18" charset="0"/>
              </a:rPr>
              <a:t>P</a:t>
            </a:r>
            <a:r>
              <a:rPr lang="en-US" altLang="zh-CN" baseline="-25000" dirty="0">
                <a:latin typeface="Times New Roman" panose="02020503050405090304" pitchFamily="18" charset="0"/>
              </a:rPr>
              <a:t>2 </a:t>
            </a:r>
            <a:r>
              <a:rPr lang="en-US" altLang="zh-CN" dirty="0">
                <a:latin typeface="Euclid" panose="02020503060505020303" pitchFamily="18" charset="0"/>
                <a:sym typeface="Symbol" panose="05050102010706020507" pitchFamily="18" charset="2"/>
              </a:rPr>
              <a:t></a:t>
            </a:r>
            <a:r>
              <a:rPr lang="en-US" altLang="zh-CN" dirty="0">
                <a:latin typeface="Symbol" panose="05050102010706020507" pitchFamily="18" charset="2"/>
              </a:rPr>
              <a:t> </a:t>
            </a:r>
            <a:r>
              <a:rPr lang="en-US" altLang="zh-CN" i="1" dirty="0">
                <a:latin typeface="Times New Roman" panose="02020503050405090304" pitchFamily="18" charset="0"/>
              </a:rPr>
              <a:t>Q</a:t>
            </a:r>
            <a:r>
              <a:rPr lang="en-US" altLang="zh-CN" dirty="0">
                <a:latin typeface="Times New Roman" panose="02020503050405090304" pitchFamily="18" charset="0"/>
              </a:rPr>
              <a:t>) </a:t>
            </a:r>
            <a:r>
              <a:rPr lang="en-US" altLang="zh-CN" dirty="0">
                <a:latin typeface="Symbol" panose="05050102010706020507" pitchFamily="18" charset="2"/>
              </a:rPr>
              <a:t>Ù</a:t>
            </a:r>
            <a:r>
              <a:rPr lang="en-US" altLang="zh-CN" dirty="0">
                <a:latin typeface="Times New Roman" panose="02020503050405090304" pitchFamily="18" charset="0"/>
              </a:rPr>
              <a:t>...</a:t>
            </a:r>
            <a:r>
              <a:rPr lang="en-US" altLang="zh-CN" dirty="0">
                <a:latin typeface="Symbol" panose="05050102010706020507" pitchFamily="18" charset="2"/>
              </a:rPr>
              <a:t>Ù </a:t>
            </a:r>
            <a:r>
              <a:rPr lang="en-US" altLang="zh-CN" dirty="0">
                <a:latin typeface="Times New Roman" panose="02020503050405090304" pitchFamily="18" charset="0"/>
              </a:rPr>
              <a:t>(</a:t>
            </a:r>
            <a:r>
              <a:rPr lang="en-US" altLang="zh-CN" i="1" dirty="0">
                <a:latin typeface="Times New Roman" panose="02020503050405090304" pitchFamily="18" charset="0"/>
              </a:rPr>
              <a:t>P</a:t>
            </a:r>
            <a:r>
              <a:rPr lang="en-US" altLang="zh-CN" i="1" baseline="-25000" dirty="0">
                <a:latin typeface="Times New Roman" panose="02020503050405090304" pitchFamily="18" charset="0"/>
              </a:rPr>
              <a:t>n </a:t>
            </a:r>
            <a:r>
              <a:rPr lang="en-US" altLang="zh-CN" dirty="0">
                <a:latin typeface="Euclid" panose="02020503060505020303" pitchFamily="18" charset="0"/>
                <a:sym typeface="Symbol" panose="05050102010706020507" pitchFamily="18" charset="2"/>
              </a:rPr>
              <a:t></a:t>
            </a:r>
            <a:r>
              <a:rPr lang="en-US" altLang="zh-CN" dirty="0">
                <a:latin typeface="Symbol" panose="05050102010706020507" pitchFamily="18" charset="2"/>
              </a:rPr>
              <a:t> </a:t>
            </a:r>
            <a:r>
              <a:rPr lang="en-US" altLang="zh-CN" i="1" dirty="0">
                <a:latin typeface="Times New Roman" panose="02020503050405090304" pitchFamily="18" charset="0"/>
              </a:rPr>
              <a:t>Q</a:t>
            </a:r>
            <a:r>
              <a:rPr lang="en-US" altLang="zh-CN" dirty="0">
                <a:latin typeface="Times New Roman" panose="02020503050405090304" pitchFamily="18" charset="0"/>
              </a:rPr>
              <a:t>)]</a:t>
            </a:r>
            <a:r>
              <a:rPr lang="en-US" altLang="zh-CN" dirty="0">
                <a:latin typeface="Symbol" panose="05050102010706020507" pitchFamily="18" charset="2"/>
              </a:rPr>
              <a:t>                                             </a:t>
            </a:r>
            <a:r>
              <a:rPr lang="en-US" altLang="zh-CN" dirty="0">
                <a:latin typeface="Symbol" panose="05050102010706020507" pitchFamily="18" charset="2"/>
                <a:sym typeface="Symbol" panose="05050102010706020507" pitchFamily="18" charset="2"/>
              </a:rPr>
              <a:t> </a:t>
            </a:r>
            <a:r>
              <a:rPr lang="en-US" altLang="zh-CN" dirty="0">
                <a:latin typeface="Times New Roman" panose="02020503050405090304" pitchFamily="18" charset="0"/>
              </a:rPr>
              <a:t>[(</a:t>
            </a:r>
            <a:r>
              <a:rPr lang="en-US" altLang="zh-CN" i="1" dirty="0">
                <a:latin typeface="Times New Roman" panose="02020503050405090304" pitchFamily="18" charset="0"/>
              </a:rPr>
              <a:t>P</a:t>
            </a:r>
            <a:r>
              <a:rPr lang="en-US" altLang="zh-CN" baseline="-25000" dirty="0">
                <a:latin typeface="Times New Roman" panose="02020503050405090304" pitchFamily="18" charset="0"/>
              </a:rPr>
              <a:t>1</a:t>
            </a:r>
            <a:r>
              <a:rPr lang="en-US" altLang="zh-CN" dirty="0">
                <a:latin typeface="Times New Roman" panose="02020503050405090304" pitchFamily="18" charset="0"/>
              </a:rPr>
              <a:t> </a:t>
            </a:r>
            <a:r>
              <a:rPr lang="en-US" altLang="zh-CN" dirty="0">
                <a:latin typeface="Symbol" panose="05050102010706020507" pitchFamily="18" charset="2"/>
              </a:rPr>
              <a:t>Ú </a:t>
            </a:r>
            <a:r>
              <a:rPr lang="en-US" altLang="zh-CN" i="1" dirty="0">
                <a:latin typeface="Times New Roman" panose="02020503050405090304" pitchFamily="18" charset="0"/>
              </a:rPr>
              <a:t>P</a:t>
            </a:r>
            <a:r>
              <a:rPr lang="en-US" altLang="zh-CN" baseline="-25000" dirty="0">
                <a:latin typeface="Times New Roman" panose="02020503050405090304" pitchFamily="18" charset="0"/>
              </a:rPr>
              <a:t>2</a:t>
            </a:r>
            <a:r>
              <a:rPr lang="en-US" altLang="zh-CN" dirty="0">
                <a:latin typeface="Times New Roman" panose="02020503050405090304" pitchFamily="18" charset="0"/>
              </a:rPr>
              <a:t> </a:t>
            </a:r>
            <a:r>
              <a:rPr lang="en-US" altLang="zh-CN" dirty="0">
                <a:latin typeface="Symbol" panose="05050102010706020507" pitchFamily="18" charset="2"/>
              </a:rPr>
              <a:t>Ú</a:t>
            </a:r>
            <a:r>
              <a:rPr lang="en-US" altLang="zh-CN" dirty="0">
                <a:latin typeface="Times New Roman" panose="02020503050405090304" pitchFamily="18" charset="0"/>
              </a:rPr>
              <a:t>... </a:t>
            </a:r>
            <a:r>
              <a:rPr lang="en-US" altLang="zh-CN" dirty="0">
                <a:latin typeface="Symbol" panose="05050102010706020507" pitchFamily="18" charset="2"/>
              </a:rPr>
              <a:t>Ú </a:t>
            </a:r>
            <a:r>
              <a:rPr lang="en-US" altLang="zh-CN" i="1" dirty="0">
                <a:latin typeface="Times New Roman" panose="02020503050405090304" pitchFamily="18" charset="0"/>
              </a:rPr>
              <a:t>P</a:t>
            </a:r>
            <a:r>
              <a:rPr lang="en-US" altLang="zh-CN" i="1" baseline="-25000" dirty="0">
                <a:latin typeface="Times New Roman" panose="02020503050405090304" pitchFamily="18" charset="0"/>
              </a:rPr>
              <a:t>n</a:t>
            </a:r>
            <a:r>
              <a:rPr lang="en-US" altLang="zh-CN" i="1" dirty="0">
                <a:latin typeface="Times New Roman" panose="02020503050405090304" pitchFamily="18" charset="0"/>
              </a:rPr>
              <a:t> </a:t>
            </a:r>
            <a:r>
              <a:rPr lang="en-US" altLang="zh-CN" dirty="0">
                <a:latin typeface="Times New Roman" panose="02020503050405090304" pitchFamily="18" charset="0"/>
              </a:rPr>
              <a:t>) </a:t>
            </a:r>
            <a:r>
              <a:rPr lang="en-US" altLang="zh-CN" dirty="0">
                <a:latin typeface="Euclid" panose="02020503060505020303" pitchFamily="18" charset="0"/>
                <a:sym typeface="Symbol" panose="05050102010706020507" pitchFamily="18" charset="2"/>
              </a:rPr>
              <a:t></a:t>
            </a:r>
            <a:r>
              <a:rPr lang="en-US" altLang="zh-CN" dirty="0">
                <a:latin typeface="Symbol" panose="05050102010706020507" pitchFamily="18" charset="2"/>
              </a:rPr>
              <a:t> </a:t>
            </a:r>
            <a:r>
              <a:rPr lang="en-US" altLang="zh-CN" i="1" dirty="0">
                <a:latin typeface="Times New Roman" panose="02020503050405090304" pitchFamily="18" charset="0"/>
              </a:rPr>
              <a:t>Q</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eaLnBrk="1" hangingPunct="1">
              <a:lnSpc>
                <a:spcPct val="80000"/>
              </a:lnSpc>
            </a:pPr>
            <a:r>
              <a:rPr lang="en-US" altLang="zh-CN" dirty="0">
                <a:latin typeface="Times New Roman" panose="02020503050405090304" pitchFamily="18" charset="0"/>
              </a:rPr>
              <a:t>Each of the implications </a:t>
            </a:r>
            <a:r>
              <a:rPr lang="en-US" altLang="zh-CN" i="1" dirty="0">
                <a:latin typeface="Times New Roman" panose="02020503050405090304" pitchFamily="18" charset="0"/>
              </a:rPr>
              <a:t>P</a:t>
            </a:r>
            <a:r>
              <a:rPr lang="en-US" altLang="zh-CN" i="1" baseline="-25000" dirty="0">
                <a:latin typeface="Times New Roman" panose="02020503050405090304" pitchFamily="18" charset="0"/>
              </a:rPr>
              <a:t>i </a:t>
            </a:r>
            <a:r>
              <a:rPr lang="en-US" altLang="zh-CN" dirty="0">
                <a:latin typeface="Euclid" panose="02020503060505020303" pitchFamily="18" charset="0"/>
                <a:sym typeface="Symbol" panose="05050102010706020507" pitchFamily="18" charset="2"/>
              </a:rPr>
              <a:t></a:t>
            </a:r>
            <a:r>
              <a:rPr lang="en-US" altLang="zh-CN" dirty="0">
                <a:latin typeface="Symbol" panose="05050102010706020507" pitchFamily="18" charset="2"/>
              </a:rPr>
              <a:t> </a:t>
            </a:r>
            <a:r>
              <a:rPr lang="en-US" altLang="zh-CN" i="1" dirty="0">
                <a:latin typeface="Times New Roman" panose="02020503050405090304" pitchFamily="18" charset="0"/>
              </a:rPr>
              <a:t>Q </a:t>
            </a:r>
            <a:r>
              <a:rPr lang="en-US" altLang="zh-CN" dirty="0">
                <a:latin typeface="Times New Roman" panose="02020503050405090304" pitchFamily="18" charset="0"/>
              </a:rPr>
              <a:t>is a </a:t>
            </a:r>
            <a:r>
              <a:rPr lang="en-US" altLang="zh-CN" i="1" dirty="0">
                <a:latin typeface="Times New Roman" panose="02020503050405090304" pitchFamily="18" charset="0"/>
              </a:rPr>
              <a:t>case</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eaLnBrk="1" hangingPunct="1">
              <a:lnSpc>
                <a:spcPct val="80000"/>
              </a:lnSpc>
            </a:pPr>
            <a:r>
              <a:rPr lang="en-US" altLang="zh-CN" dirty="0">
                <a:latin typeface="Times New Roman" panose="02020503050405090304" pitchFamily="18" charset="0"/>
              </a:rPr>
              <a:t>You must</a:t>
            </a:r>
            <a:endParaRPr lang="en-US" altLang="zh-CN" dirty="0">
              <a:latin typeface="Times New Roman" panose="02020503050405090304" pitchFamily="18" charset="0"/>
            </a:endParaRPr>
          </a:p>
          <a:p>
            <a:pPr lvl="1" eaLnBrk="1" hangingPunct="1">
              <a:lnSpc>
                <a:spcPct val="80000"/>
              </a:lnSpc>
            </a:pPr>
            <a:r>
              <a:rPr lang="en-US" altLang="zh-CN" dirty="0">
                <a:latin typeface="Times New Roman" panose="02020503050405090304" pitchFamily="18" charset="0"/>
              </a:rPr>
              <a:t>Convince the reader that the cases are inclusive, i.e., they exhaust all possibilities</a:t>
            </a:r>
            <a:endParaRPr lang="en-US" altLang="zh-CN" dirty="0">
              <a:latin typeface="Times New Roman" panose="02020503050405090304" pitchFamily="18" charset="0"/>
            </a:endParaRPr>
          </a:p>
          <a:p>
            <a:pPr lvl="1" eaLnBrk="1" hangingPunct="1">
              <a:lnSpc>
                <a:spcPct val="80000"/>
              </a:lnSpc>
            </a:pPr>
            <a:r>
              <a:rPr lang="en-US" altLang="zh-CN" dirty="0">
                <a:latin typeface="Times New Roman" panose="02020503050405090304" pitchFamily="18" charset="0"/>
              </a:rPr>
              <a:t>establish all implications</a:t>
            </a:r>
            <a:endParaRPr lang="en-US" altLang="zh-CN" dirty="0">
              <a:latin typeface="Times New Roman" panose="0202050305040509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150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150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21509"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Example</a:t>
            </a:r>
            <a:endParaRPr lang="en-US" altLang="zh-CN" dirty="0">
              <a:latin typeface="Times New Roman" panose="02020503050405090304" pitchFamily="18" charset="0"/>
            </a:endParaRPr>
          </a:p>
        </p:txBody>
      </p:sp>
      <p:sp>
        <p:nvSpPr>
          <p:cNvPr id="21510" name="Rectangle 3"/>
          <p:cNvSpPr>
            <a:spLocks noGrp="1"/>
          </p:cNvSpPr>
          <p:nvPr>
            <p:ph idx="1"/>
          </p:nvPr>
        </p:nvSpPr>
        <p:spPr>
          <a:xfrm>
            <a:off x="972185" y="1484630"/>
            <a:ext cx="7772400" cy="4114800"/>
          </a:xfrm>
        </p:spPr>
        <p:txBody>
          <a:bodyPr vert="horz" wrap="square" lIns="91440" tIns="45720" rIns="91440" bIns="45720" anchor="t" anchorCtr="0"/>
          <a:p>
            <a:pPr eaLnBrk="1" hangingPunct="1"/>
            <a:r>
              <a:rPr lang="en-US" altLang="zh-CN" sz="3600" dirty="0">
                <a:latin typeface="Times New Roman" panose="02020503050405090304" pitchFamily="18" charset="0"/>
              </a:rPr>
              <a:t>Let </a:t>
            </a:r>
            <a:r>
              <a:rPr lang="en-US" altLang="zh-CN" sz="3600" dirty="0">
                <a:latin typeface="Symbol" panose="05050102010706020507" pitchFamily="18" charset="2"/>
              </a:rPr>
              <a:t>Ä </a:t>
            </a:r>
            <a:r>
              <a:rPr lang="en-US" altLang="zh-CN" sz="3600" dirty="0">
                <a:latin typeface="Times New Roman" panose="02020503050405090304" pitchFamily="18" charset="0"/>
              </a:rPr>
              <a:t>be the operation 'max' on the set of integers:</a:t>
            </a:r>
            <a:endParaRPr lang="en-US" altLang="zh-CN" sz="3600" dirty="0">
              <a:latin typeface="Times New Roman" panose="02020503050405090304" pitchFamily="18" charset="0"/>
            </a:endParaRPr>
          </a:p>
          <a:p>
            <a:pPr lvl="1" eaLnBrk="1" hangingPunct="1">
              <a:buNone/>
            </a:pPr>
            <a:r>
              <a:rPr lang="en-US" altLang="zh-CN" sz="3200" dirty="0">
                <a:latin typeface="Times New Roman" panose="02020503050405090304" pitchFamily="18" charset="0"/>
              </a:rPr>
              <a:t>if </a:t>
            </a:r>
            <a:r>
              <a:rPr lang="en-US" altLang="zh-CN" sz="3200" i="1" dirty="0">
                <a:latin typeface="Times New Roman" panose="02020503050405090304" pitchFamily="18" charset="0"/>
              </a:rPr>
              <a:t>a</a:t>
            </a:r>
            <a:r>
              <a:rPr lang="en-US" altLang="zh-CN" sz="3200" dirty="0">
                <a:latin typeface="Times New Roman" panose="02020503050405090304" pitchFamily="18" charset="0"/>
              </a:rPr>
              <a:t> </a:t>
            </a:r>
            <a:r>
              <a:rPr lang="en-US" altLang="zh-CN" sz="3200" dirty="0">
                <a:latin typeface="Symbol" panose="05050102010706020507" pitchFamily="18" charset="2"/>
              </a:rPr>
              <a:t>³ </a:t>
            </a:r>
            <a:r>
              <a:rPr lang="en-US" altLang="zh-CN" sz="3200" i="1" dirty="0">
                <a:latin typeface="Times New Roman" panose="02020503050405090304" pitchFamily="18" charset="0"/>
              </a:rPr>
              <a:t>b</a:t>
            </a:r>
            <a:r>
              <a:rPr lang="en-US" altLang="zh-CN" sz="3200" dirty="0">
                <a:latin typeface="Times New Roman" panose="02020503050405090304" pitchFamily="18" charset="0"/>
              </a:rPr>
              <a:t> then </a:t>
            </a:r>
            <a:r>
              <a:rPr lang="en-US" altLang="zh-CN" sz="3200" i="1" dirty="0">
                <a:latin typeface="Times New Roman" panose="02020503050405090304" pitchFamily="18" charset="0"/>
              </a:rPr>
              <a:t>a</a:t>
            </a:r>
            <a:r>
              <a:rPr lang="en-US" altLang="zh-CN" sz="3200" dirty="0">
                <a:latin typeface="Symbol" panose="05050102010706020507" pitchFamily="18" charset="2"/>
              </a:rPr>
              <a:t>Ä</a:t>
            </a:r>
            <a:r>
              <a:rPr lang="en-US" altLang="zh-CN" sz="3200" i="1" dirty="0">
                <a:latin typeface="Times New Roman" panose="02020503050405090304" pitchFamily="18" charset="0"/>
              </a:rPr>
              <a:t>b</a:t>
            </a:r>
            <a:r>
              <a:rPr lang="en-US" altLang="zh-CN" sz="3200" dirty="0">
                <a:latin typeface="Times New Roman" panose="02020503050405090304" pitchFamily="18" charset="0"/>
              </a:rPr>
              <a:t> = max{</a:t>
            </a:r>
            <a:r>
              <a:rPr lang="en-US" altLang="zh-CN" sz="3200" i="1" dirty="0">
                <a:latin typeface="Times New Roman" panose="02020503050405090304" pitchFamily="18" charset="0"/>
              </a:rPr>
              <a:t>a</a:t>
            </a:r>
            <a:r>
              <a:rPr lang="en-US" altLang="zh-CN" sz="3200" dirty="0">
                <a:latin typeface="Times New Roman" panose="02020503050405090304" pitchFamily="18" charset="0"/>
              </a:rPr>
              <a:t>, </a:t>
            </a:r>
            <a:r>
              <a:rPr lang="en-US" altLang="zh-CN" sz="3200" i="1" dirty="0">
                <a:latin typeface="Times New Roman" panose="02020503050405090304" pitchFamily="18" charset="0"/>
              </a:rPr>
              <a:t>b</a:t>
            </a:r>
            <a:r>
              <a:rPr lang="en-US" altLang="zh-CN" sz="3200" dirty="0">
                <a:latin typeface="Times New Roman" panose="02020503050405090304" pitchFamily="18" charset="0"/>
              </a:rPr>
              <a:t>} = </a:t>
            </a:r>
            <a:r>
              <a:rPr lang="en-US" altLang="zh-CN" sz="3200" i="1" dirty="0">
                <a:latin typeface="Times New Roman" panose="02020503050405090304" pitchFamily="18" charset="0"/>
              </a:rPr>
              <a:t>a</a:t>
            </a:r>
            <a:r>
              <a:rPr lang="en-US" altLang="zh-CN" sz="3200" dirty="0">
                <a:latin typeface="Times New Roman" panose="02020503050405090304" pitchFamily="18" charset="0"/>
              </a:rPr>
              <a:t> = </a:t>
            </a:r>
            <a:r>
              <a:rPr lang="en-US" altLang="zh-CN" sz="3200" i="1" dirty="0">
                <a:latin typeface="Times New Roman" panose="02020503050405090304" pitchFamily="18" charset="0"/>
              </a:rPr>
              <a:t>b</a:t>
            </a:r>
            <a:r>
              <a:rPr lang="en-US" altLang="zh-CN" sz="3200" dirty="0">
                <a:latin typeface="Symbol" panose="05050102010706020507" pitchFamily="18" charset="2"/>
              </a:rPr>
              <a:t>Ä</a:t>
            </a:r>
            <a:r>
              <a:rPr lang="en-US" altLang="zh-CN" sz="3200" i="1" dirty="0">
                <a:latin typeface="Times New Roman" panose="02020503050405090304" pitchFamily="18" charset="0"/>
              </a:rPr>
              <a:t>a</a:t>
            </a:r>
            <a:r>
              <a:rPr lang="en-US" altLang="zh-CN" sz="3200" dirty="0">
                <a:latin typeface="Times New Roman" panose="02020503050405090304" pitchFamily="18" charset="0"/>
              </a:rPr>
              <a:t>.</a:t>
            </a:r>
            <a:endParaRPr lang="en-US" altLang="zh-CN" sz="3200" dirty="0">
              <a:latin typeface="Times New Roman" panose="02020503050405090304" pitchFamily="18" charset="0"/>
            </a:endParaRPr>
          </a:p>
          <a:p>
            <a:pPr eaLnBrk="1" hangingPunct="1"/>
            <a:r>
              <a:rPr lang="en-US" altLang="zh-CN" sz="3600" dirty="0">
                <a:latin typeface="Times New Roman" panose="02020503050405090304" pitchFamily="18" charset="0"/>
              </a:rPr>
              <a:t>Theorem: </a:t>
            </a:r>
            <a:endParaRPr lang="en-US" altLang="zh-CN" sz="3600" dirty="0">
              <a:latin typeface="Times New Roman" panose="02020503050405090304" pitchFamily="18" charset="0"/>
            </a:endParaRPr>
          </a:p>
          <a:p>
            <a:pPr lvl="1" eaLnBrk="1" hangingPunct="1"/>
            <a:r>
              <a:rPr lang="en-US" altLang="zh-CN" sz="3200" i="1" dirty="0">
                <a:latin typeface="Times New Roman" panose="02020503050405090304" pitchFamily="18" charset="0"/>
              </a:rPr>
              <a:t>The operation </a:t>
            </a:r>
            <a:r>
              <a:rPr lang="en-US" altLang="zh-CN" sz="3200" dirty="0">
                <a:latin typeface="Symbol" panose="05050102010706020507" pitchFamily="18" charset="2"/>
              </a:rPr>
              <a:t>Ä </a:t>
            </a:r>
            <a:r>
              <a:rPr lang="en-US" altLang="zh-CN" sz="3200" i="1" dirty="0">
                <a:latin typeface="Times New Roman" panose="02020503050405090304" pitchFamily="18" charset="0"/>
              </a:rPr>
              <a:t>is associative.</a:t>
            </a:r>
            <a:endParaRPr lang="en-US" altLang="zh-CN" sz="3200" i="1" dirty="0">
              <a:latin typeface="Times New Roman" panose="02020503050405090304" pitchFamily="18" charset="0"/>
            </a:endParaRPr>
          </a:p>
          <a:p>
            <a:pPr eaLnBrk="1" hangingPunct="1"/>
            <a:r>
              <a:rPr lang="en-US" altLang="zh-CN" sz="3600" dirty="0">
                <a:latin typeface="Times New Roman" panose="02020503050405090304" pitchFamily="18" charset="0"/>
              </a:rPr>
              <a:t>For all </a:t>
            </a:r>
            <a:r>
              <a:rPr lang="en-US" altLang="zh-CN" sz="3600" i="1" dirty="0">
                <a:latin typeface="Times New Roman" panose="02020503050405090304" pitchFamily="18" charset="0"/>
              </a:rPr>
              <a:t>a</a:t>
            </a:r>
            <a:r>
              <a:rPr lang="en-US" altLang="zh-CN" sz="3600" dirty="0">
                <a:latin typeface="Times New Roman" panose="02020503050405090304" pitchFamily="18" charset="0"/>
              </a:rPr>
              <a:t>, </a:t>
            </a:r>
            <a:r>
              <a:rPr lang="en-US" altLang="zh-CN" sz="3600" i="1" dirty="0">
                <a:latin typeface="Times New Roman" panose="02020503050405090304" pitchFamily="18" charset="0"/>
              </a:rPr>
              <a:t>b</a:t>
            </a:r>
            <a:r>
              <a:rPr lang="en-US" altLang="zh-CN" sz="3600" dirty="0">
                <a:latin typeface="Times New Roman" panose="02020503050405090304" pitchFamily="18" charset="0"/>
              </a:rPr>
              <a:t>, </a:t>
            </a:r>
            <a:r>
              <a:rPr lang="en-US" altLang="zh-CN" sz="3600" i="1" dirty="0">
                <a:latin typeface="Times New Roman" panose="02020503050405090304" pitchFamily="18" charset="0"/>
              </a:rPr>
              <a:t>c</a:t>
            </a:r>
            <a:endParaRPr lang="en-US" altLang="zh-CN" sz="3600" i="1" dirty="0">
              <a:latin typeface="Times New Roman" panose="02020503050405090304" pitchFamily="18" charset="0"/>
            </a:endParaRPr>
          </a:p>
          <a:p>
            <a:pPr lvl="1" eaLnBrk="1" hangingPunct="1"/>
            <a:r>
              <a:rPr lang="en-US" altLang="zh-CN" sz="3200" dirty="0">
                <a:latin typeface="Times New Roman" panose="02020503050405090304" pitchFamily="18" charset="0"/>
              </a:rPr>
              <a:t>(</a:t>
            </a:r>
            <a:r>
              <a:rPr lang="en-US" altLang="zh-CN" sz="3200" i="1" dirty="0">
                <a:latin typeface="Times New Roman" panose="02020503050405090304" pitchFamily="18" charset="0"/>
              </a:rPr>
              <a:t>a</a:t>
            </a:r>
            <a:r>
              <a:rPr lang="en-US" altLang="zh-CN" sz="3200" dirty="0">
                <a:latin typeface="Symbol" panose="05050102010706020507" pitchFamily="18" charset="2"/>
              </a:rPr>
              <a:t>Ä</a:t>
            </a:r>
            <a:r>
              <a:rPr lang="en-US" altLang="zh-CN" sz="3200" i="1" dirty="0">
                <a:latin typeface="Times New Roman" panose="02020503050405090304" pitchFamily="18" charset="0"/>
              </a:rPr>
              <a:t>b</a:t>
            </a:r>
            <a:r>
              <a:rPr lang="en-US" altLang="zh-CN" sz="3200" dirty="0">
                <a:latin typeface="Times New Roman" panose="02020503050405090304" pitchFamily="18" charset="0"/>
              </a:rPr>
              <a:t>)</a:t>
            </a:r>
            <a:r>
              <a:rPr lang="en-US" altLang="zh-CN" sz="3200" dirty="0">
                <a:latin typeface="Symbol" panose="05050102010706020507" pitchFamily="18" charset="2"/>
              </a:rPr>
              <a:t>Ä</a:t>
            </a:r>
            <a:r>
              <a:rPr lang="en-US" altLang="zh-CN" sz="3200" i="1" dirty="0">
                <a:latin typeface="Times New Roman" panose="02020503050405090304" pitchFamily="18" charset="0"/>
              </a:rPr>
              <a:t>c</a:t>
            </a:r>
            <a:r>
              <a:rPr lang="en-US" altLang="zh-CN" sz="3200" dirty="0">
                <a:latin typeface="Times New Roman" panose="02020503050405090304" pitchFamily="18" charset="0"/>
              </a:rPr>
              <a:t> = </a:t>
            </a:r>
            <a:r>
              <a:rPr lang="en-US" altLang="zh-CN" sz="3200" i="1" dirty="0">
                <a:latin typeface="Times New Roman" panose="02020503050405090304" pitchFamily="18" charset="0"/>
              </a:rPr>
              <a:t>a</a:t>
            </a:r>
            <a:r>
              <a:rPr lang="en-US" altLang="zh-CN" sz="3200" dirty="0">
                <a:latin typeface="Symbol" panose="05050102010706020507" pitchFamily="18" charset="2"/>
              </a:rPr>
              <a:t>Ä</a:t>
            </a:r>
            <a:r>
              <a:rPr lang="en-US" altLang="zh-CN" sz="3200" dirty="0">
                <a:latin typeface="Times New Roman" panose="02020503050405090304" pitchFamily="18" charset="0"/>
              </a:rPr>
              <a:t>(</a:t>
            </a:r>
            <a:r>
              <a:rPr lang="en-US" altLang="zh-CN" sz="3200" i="1" dirty="0">
                <a:latin typeface="Times New Roman" panose="02020503050405090304" pitchFamily="18" charset="0"/>
              </a:rPr>
              <a:t>b</a:t>
            </a:r>
            <a:r>
              <a:rPr lang="en-US" altLang="zh-CN" sz="3200" dirty="0">
                <a:latin typeface="Symbol" panose="05050102010706020507" pitchFamily="18" charset="2"/>
              </a:rPr>
              <a:t>Ä</a:t>
            </a:r>
            <a:r>
              <a:rPr lang="en-US" altLang="zh-CN" sz="3200" i="1" dirty="0">
                <a:latin typeface="Times New Roman" panose="02020503050405090304" pitchFamily="18" charset="0"/>
              </a:rPr>
              <a:t>c</a:t>
            </a:r>
            <a:r>
              <a:rPr lang="en-US" altLang="zh-CN" sz="3200" dirty="0">
                <a:latin typeface="Times New Roman" panose="02020503050405090304" pitchFamily="18" charset="0"/>
              </a:rPr>
              <a:t>).</a:t>
            </a:r>
            <a:endParaRPr lang="en-US" altLang="zh-CN" sz="3200" dirty="0">
              <a:latin typeface="Times New Roman" panose="0202050305040509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253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253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22533"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Example - Proof:</a:t>
            </a:r>
            <a:endParaRPr lang="en-US" altLang="zh-CN" dirty="0">
              <a:latin typeface="Times New Roman" panose="02020503050405090304" pitchFamily="18" charset="0"/>
            </a:endParaRPr>
          </a:p>
        </p:txBody>
      </p:sp>
      <p:sp>
        <p:nvSpPr>
          <p:cNvPr id="22534" name="Rectangle 3"/>
          <p:cNvSpPr>
            <a:spLocks noGrp="1"/>
          </p:cNvSpPr>
          <p:nvPr>
            <p:ph idx="1"/>
          </p:nvPr>
        </p:nvSpPr>
        <p:spPr>
          <a:xfrm>
            <a:off x="814388" y="1412875"/>
            <a:ext cx="8129587" cy="4114800"/>
          </a:xfrm>
        </p:spPr>
        <p:txBody>
          <a:bodyPr vert="horz" wrap="square" lIns="91440" tIns="45720" rIns="91440" bIns="45720" anchor="t" anchorCtr="0"/>
          <a:p>
            <a:pPr eaLnBrk="1" hangingPunct="1">
              <a:lnSpc>
                <a:spcPct val="80000"/>
              </a:lnSpc>
            </a:pPr>
            <a:r>
              <a:rPr lang="en-US" altLang="zh-CN" sz="2800" dirty="0">
                <a:latin typeface="Times New Roman" panose="02020503050405090304" pitchFamily="18" charset="0"/>
              </a:rPr>
              <a:t>Let </a:t>
            </a:r>
            <a:r>
              <a:rPr lang="en-US" altLang="zh-CN" sz="2800" i="1" dirty="0">
                <a:latin typeface="Times New Roman" panose="02020503050405090304" pitchFamily="18" charset="0"/>
              </a:rPr>
              <a:t>a</a:t>
            </a:r>
            <a:r>
              <a:rPr lang="en-US" altLang="zh-CN" sz="2800" dirty="0">
                <a:latin typeface="Times New Roman" panose="02020503050405090304" pitchFamily="18" charset="0"/>
              </a:rPr>
              <a:t>, </a:t>
            </a:r>
            <a:r>
              <a:rPr lang="en-US" altLang="zh-CN" sz="2800" i="1" dirty="0">
                <a:latin typeface="Times New Roman" panose="02020503050405090304" pitchFamily="18" charset="0"/>
              </a:rPr>
              <a:t>b</a:t>
            </a:r>
            <a:r>
              <a:rPr lang="en-US" altLang="zh-CN" sz="2800" dirty="0">
                <a:latin typeface="Times New Roman" panose="02020503050405090304" pitchFamily="18" charset="0"/>
              </a:rPr>
              <a:t>, </a:t>
            </a:r>
            <a:r>
              <a:rPr lang="en-US" altLang="zh-CN" sz="2800" i="1" dirty="0">
                <a:latin typeface="Times New Roman" panose="02020503050405090304" pitchFamily="18" charset="0"/>
              </a:rPr>
              <a:t>c</a:t>
            </a:r>
            <a:r>
              <a:rPr lang="en-US" altLang="zh-CN" sz="2800" dirty="0">
                <a:latin typeface="Times New Roman" panose="02020503050405090304" pitchFamily="18" charset="0"/>
              </a:rPr>
              <a:t> be arbitrary integers.</a:t>
            </a:r>
            <a:endParaRPr lang="en-US" altLang="zh-CN" sz="2800" dirty="0">
              <a:latin typeface="Times New Roman" panose="02020503050405090304" pitchFamily="18" charset="0"/>
            </a:endParaRPr>
          </a:p>
          <a:p>
            <a:pPr eaLnBrk="1" hangingPunct="1">
              <a:lnSpc>
                <a:spcPct val="80000"/>
              </a:lnSpc>
            </a:pPr>
            <a:r>
              <a:rPr lang="en-US" altLang="zh-CN" sz="2800" dirty="0">
                <a:latin typeface="Times New Roman" panose="02020503050405090304" pitchFamily="18" charset="0"/>
              </a:rPr>
              <a:t>Then one of the following 6 cases must hold (are exhaustive):</a:t>
            </a:r>
            <a:endParaRPr lang="en-US" altLang="zh-CN" sz="2800" dirty="0">
              <a:latin typeface="Times New Roman" panose="02020503050405090304" pitchFamily="18" charset="0"/>
            </a:endParaRPr>
          </a:p>
          <a:p>
            <a:pPr lvl="1" eaLnBrk="1" hangingPunct="1">
              <a:lnSpc>
                <a:spcPct val="80000"/>
              </a:lnSpc>
              <a:buNone/>
            </a:pPr>
            <a:r>
              <a:rPr lang="en-US" altLang="zh-CN" sz="2400" dirty="0">
                <a:latin typeface="Times New Roman" panose="02020503050405090304" pitchFamily="18" charset="0"/>
              </a:rPr>
              <a:t>1. </a:t>
            </a:r>
            <a:r>
              <a:rPr lang="en-US" altLang="zh-CN" sz="2400" i="1" dirty="0">
                <a:latin typeface="Times New Roman" panose="02020503050405090304" pitchFamily="18" charset="0"/>
              </a:rPr>
              <a:t>a</a:t>
            </a:r>
            <a:r>
              <a:rPr lang="en-US" altLang="zh-CN" sz="2400" dirty="0">
                <a:latin typeface="Times New Roman" panose="02020503050405090304" pitchFamily="18" charset="0"/>
              </a:rPr>
              <a:t> </a:t>
            </a:r>
            <a:r>
              <a:rPr lang="en-US" altLang="zh-CN" sz="2400" dirty="0">
                <a:latin typeface="Symbol" panose="05050102010706020507" pitchFamily="18" charset="2"/>
              </a:rPr>
              <a:t>³ </a:t>
            </a:r>
            <a:r>
              <a:rPr lang="en-US" altLang="zh-CN" sz="2400" i="1" dirty="0">
                <a:latin typeface="Times New Roman" panose="02020503050405090304" pitchFamily="18" charset="0"/>
              </a:rPr>
              <a:t>b</a:t>
            </a:r>
            <a:r>
              <a:rPr lang="en-US" altLang="zh-CN" sz="2400" dirty="0">
                <a:latin typeface="Times New Roman" panose="02020503050405090304" pitchFamily="18" charset="0"/>
              </a:rPr>
              <a:t> </a:t>
            </a:r>
            <a:r>
              <a:rPr lang="en-US" altLang="zh-CN" sz="2400" dirty="0">
                <a:latin typeface="Symbol" panose="05050102010706020507" pitchFamily="18" charset="2"/>
              </a:rPr>
              <a:t>³ </a:t>
            </a:r>
            <a:r>
              <a:rPr lang="en-US" altLang="zh-CN" sz="2400" i="1" dirty="0">
                <a:latin typeface="Times New Roman" panose="02020503050405090304" pitchFamily="18" charset="0"/>
              </a:rPr>
              <a:t>c</a:t>
            </a:r>
            <a:endParaRPr lang="en-US" altLang="zh-CN" sz="2400" i="1" dirty="0">
              <a:latin typeface="Times New Roman" panose="02020503050405090304" pitchFamily="18" charset="0"/>
            </a:endParaRPr>
          </a:p>
          <a:p>
            <a:pPr lvl="1" eaLnBrk="1" hangingPunct="1">
              <a:lnSpc>
                <a:spcPct val="80000"/>
              </a:lnSpc>
              <a:buNone/>
            </a:pPr>
            <a:r>
              <a:rPr lang="en-US" altLang="zh-CN" sz="2400" dirty="0">
                <a:latin typeface="Times New Roman" panose="02020503050405090304" pitchFamily="18" charset="0"/>
              </a:rPr>
              <a:t>2. </a:t>
            </a:r>
            <a:r>
              <a:rPr lang="en-US" altLang="zh-CN" sz="2400" i="1" dirty="0">
                <a:latin typeface="Times New Roman" panose="02020503050405090304" pitchFamily="18" charset="0"/>
              </a:rPr>
              <a:t>a</a:t>
            </a:r>
            <a:r>
              <a:rPr lang="en-US" altLang="zh-CN" sz="2400" dirty="0">
                <a:latin typeface="Times New Roman" panose="02020503050405090304" pitchFamily="18" charset="0"/>
              </a:rPr>
              <a:t> </a:t>
            </a:r>
            <a:r>
              <a:rPr lang="en-US" altLang="zh-CN" sz="2400" dirty="0">
                <a:latin typeface="Symbol" panose="05050102010706020507" pitchFamily="18" charset="2"/>
              </a:rPr>
              <a:t>³ </a:t>
            </a:r>
            <a:r>
              <a:rPr lang="en-US" altLang="zh-CN" sz="2400" i="1" dirty="0">
                <a:latin typeface="Times New Roman" panose="02020503050405090304" pitchFamily="18" charset="0"/>
              </a:rPr>
              <a:t>c</a:t>
            </a:r>
            <a:r>
              <a:rPr lang="en-US" altLang="zh-CN" sz="2400" dirty="0">
                <a:latin typeface="Times New Roman" panose="02020503050405090304" pitchFamily="18" charset="0"/>
              </a:rPr>
              <a:t> </a:t>
            </a:r>
            <a:r>
              <a:rPr lang="en-US" altLang="zh-CN" sz="2400" dirty="0">
                <a:latin typeface="Symbol" panose="05050102010706020507" pitchFamily="18" charset="2"/>
              </a:rPr>
              <a:t>³ </a:t>
            </a:r>
            <a:r>
              <a:rPr lang="en-US" altLang="zh-CN" sz="2400" i="1" dirty="0">
                <a:latin typeface="Times New Roman" panose="02020503050405090304" pitchFamily="18" charset="0"/>
              </a:rPr>
              <a:t>b</a:t>
            </a:r>
            <a:endParaRPr lang="en-US" altLang="zh-CN" sz="2400" i="1" dirty="0">
              <a:latin typeface="Times New Roman" panose="02020503050405090304" pitchFamily="18" charset="0"/>
            </a:endParaRPr>
          </a:p>
          <a:p>
            <a:pPr lvl="1" eaLnBrk="1" hangingPunct="1">
              <a:lnSpc>
                <a:spcPct val="80000"/>
              </a:lnSpc>
              <a:buNone/>
            </a:pPr>
            <a:r>
              <a:rPr lang="en-US" altLang="zh-CN" sz="2400" dirty="0">
                <a:latin typeface="Times New Roman" panose="02020503050405090304" pitchFamily="18" charset="0"/>
              </a:rPr>
              <a:t>3. </a:t>
            </a:r>
            <a:r>
              <a:rPr lang="en-US" altLang="zh-CN" sz="2400" i="1" dirty="0">
                <a:latin typeface="Times New Roman" panose="02020503050405090304" pitchFamily="18" charset="0"/>
              </a:rPr>
              <a:t>b</a:t>
            </a:r>
            <a:r>
              <a:rPr lang="en-US" altLang="zh-CN" sz="2400" dirty="0">
                <a:latin typeface="Times New Roman" panose="02020503050405090304" pitchFamily="18" charset="0"/>
              </a:rPr>
              <a:t> </a:t>
            </a:r>
            <a:r>
              <a:rPr lang="en-US" altLang="zh-CN" sz="2400" dirty="0">
                <a:latin typeface="Symbol" panose="05050102010706020507" pitchFamily="18" charset="2"/>
              </a:rPr>
              <a:t>³ </a:t>
            </a:r>
            <a:r>
              <a:rPr lang="en-US" altLang="zh-CN" sz="2400" i="1" dirty="0">
                <a:latin typeface="Times New Roman" panose="02020503050405090304" pitchFamily="18" charset="0"/>
              </a:rPr>
              <a:t>a</a:t>
            </a:r>
            <a:r>
              <a:rPr lang="en-US" altLang="zh-CN" sz="2400" dirty="0">
                <a:latin typeface="Times New Roman" panose="02020503050405090304" pitchFamily="18" charset="0"/>
              </a:rPr>
              <a:t> </a:t>
            </a:r>
            <a:r>
              <a:rPr lang="en-US" altLang="zh-CN" sz="2400" dirty="0">
                <a:latin typeface="Symbol" panose="05050102010706020507" pitchFamily="18" charset="2"/>
              </a:rPr>
              <a:t>³ </a:t>
            </a:r>
            <a:r>
              <a:rPr lang="en-US" altLang="zh-CN" sz="2400" i="1" dirty="0">
                <a:latin typeface="Times New Roman" panose="02020503050405090304" pitchFamily="18" charset="0"/>
              </a:rPr>
              <a:t>c</a:t>
            </a:r>
            <a:endParaRPr lang="en-US" altLang="zh-CN" sz="2400" i="1" dirty="0">
              <a:latin typeface="Times New Roman" panose="02020503050405090304" pitchFamily="18" charset="0"/>
            </a:endParaRPr>
          </a:p>
          <a:p>
            <a:pPr lvl="1" eaLnBrk="1" hangingPunct="1">
              <a:lnSpc>
                <a:spcPct val="80000"/>
              </a:lnSpc>
              <a:buNone/>
            </a:pPr>
            <a:r>
              <a:rPr lang="en-US" altLang="zh-CN" sz="2400" dirty="0">
                <a:latin typeface="Times New Roman" panose="02020503050405090304" pitchFamily="18" charset="0"/>
              </a:rPr>
              <a:t>4. </a:t>
            </a:r>
            <a:r>
              <a:rPr lang="en-US" altLang="zh-CN" sz="2400" i="1" dirty="0">
                <a:latin typeface="Times New Roman" panose="02020503050405090304" pitchFamily="18" charset="0"/>
              </a:rPr>
              <a:t>b</a:t>
            </a:r>
            <a:r>
              <a:rPr lang="en-US" altLang="zh-CN" sz="2400" dirty="0">
                <a:latin typeface="Times New Roman" panose="02020503050405090304" pitchFamily="18" charset="0"/>
              </a:rPr>
              <a:t> </a:t>
            </a:r>
            <a:r>
              <a:rPr lang="en-US" altLang="zh-CN" sz="2400" dirty="0">
                <a:latin typeface="Symbol" panose="05050102010706020507" pitchFamily="18" charset="2"/>
              </a:rPr>
              <a:t>³ </a:t>
            </a:r>
            <a:r>
              <a:rPr lang="en-US" altLang="zh-CN" sz="2400" i="1" dirty="0">
                <a:latin typeface="Times New Roman" panose="02020503050405090304" pitchFamily="18" charset="0"/>
              </a:rPr>
              <a:t>c</a:t>
            </a:r>
            <a:r>
              <a:rPr lang="en-US" altLang="zh-CN" sz="2400" dirty="0">
                <a:latin typeface="Times New Roman" panose="02020503050405090304" pitchFamily="18" charset="0"/>
              </a:rPr>
              <a:t> </a:t>
            </a:r>
            <a:r>
              <a:rPr lang="en-US" altLang="zh-CN" sz="2400" dirty="0">
                <a:latin typeface="Symbol" panose="05050102010706020507" pitchFamily="18" charset="2"/>
              </a:rPr>
              <a:t>³ </a:t>
            </a:r>
            <a:r>
              <a:rPr lang="en-US" altLang="zh-CN" sz="2400" i="1" dirty="0">
                <a:latin typeface="Times New Roman" panose="02020503050405090304" pitchFamily="18" charset="0"/>
              </a:rPr>
              <a:t>a</a:t>
            </a:r>
            <a:endParaRPr lang="en-US" altLang="zh-CN" sz="2400" i="1" dirty="0">
              <a:latin typeface="Times New Roman" panose="02020503050405090304" pitchFamily="18" charset="0"/>
            </a:endParaRPr>
          </a:p>
          <a:p>
            <a:pPr lvl="1" eaLnBrk="1" hangingPunct="1">
              <a:lnSpc>
                <a:spcPct val="80000"/>
              </a:lnSpc>
              <a:buNone/>
            </a:pPr>
            <a:r>
              <a:rPr lang="en-US" altLang="zh-CN" sz="2400" dirty="0">
                <a:latin typeface="Times New Roman" panose="02020503050405090304" pitchFamily="18" charset="0"/>
              </a:rPr>
              <a:t>5. </a:t>
            </a:r>
            <a:r>
              <a:rPr lang="en-US" altLang="zh-CN" sz="2400" i="1" dirty="0">
                <a:latin typeface="Times New Roman" panose="02020503050405090304" pitchFamily="18" charset="0"/>
              </a:rPr>
              <a:t>c</a:t>
            </a:r>
            <a:r>
              <a:rPr lang="en-US" altLang="zh-CN" sz="2400" dirty="0">
                <a:latin typeface="Times New Roman" panose="02020503050405090304" pitchFamily="18" charset="0"/>
              </a:rPr>
              <a:t> </a:t>
            </a:r>
            <a:r>
              <a:rPr lang="en-US" altLang="zh-CN" sz="2400" dirty="0">
                <a:latin typeface="Symbol" panose="05050102010706020507" pitchFamily="18" charset="2"/>
              </a:rPr>
              <a:t>³ </a:t>
            </a:r>
            <a:r>
              <a:rPr lang="en-US" altLang="zh-CN" sz="2400" i="1" dirty="0">
                <a:latin typeface="Times New Roman" panose="02020503050405090304" pitchFamily="18" charset="0"/>
              </a:rPr>
              <a:t>a</a:t>
            </a:r>
            <a:r>
              <a:rPr lang="en-US" altLang="zh-CN" sz="2400" dirty="0">
                <a:latin typeface="Times New Roman" panose="02020503050405090304" pitchFamily="18" charset="0"/>
              </a:rPr>
              <a:t> </a:t>
            </a:r>
            <a:r>
              <a:rPr lang="en-US" altLang="zh-CN" sz="2400" dirty="0">
                <a:latin typeface="Symbol" panose="05050102010706020507" pitchFamily="18" charset="2"/>
              </a:rPr>
              <a:t>³ </a:t>
            </a:r>
            <a:r>
              <a:rPr lang="en-US" altLang="zh-CN" sz="2400" i="1" dirty="0">
                <a:latin typeface="Times New Roman" panose="02020503050405090304" pitchFamily="18" charset="0"/>
              </a:rPr>
              <a:t>b</a:t>
            </a:r>
            <a:endParaRPr lang="en-US" altLang="zh-CN" sz="2400" i="1" dirty="0">
              <a:latin typeface="Times New Roman" panose="02020503050405090304" pitchFamily="18" charset="0"/>
            </a:endParaRPr>
          </a:p>
          <a:p>
            <a:pPr lvl="1" eaLnBrk="1" hangingPunct="1">
              <a:lnSpc>
                <a:spcPct val="80000"/>
              </a:lnSpc>
              <a:buNone/>
            </a:pPr>
            <a:r>
              <a:rPr lang="en-US" altLang="zh-CN" sz="2400" dirty="0">
                <a:latin typeface="Times New Roman" panose="02020503050405090304" pitchFamily="18" charset="0"/>
              </a:rPr>
              <a:t>6. </a:t>
            </a:r>
            <a:r>
              <a:rPr lang="en-US" altLang="zh-CN" sz="2400" i="1" dirty="0">
                <a:latin typeface="Times New Roman" panose="02020503050405090304" pitchFamily="18" charset="0"/>
              </a:rPr>
              <a:t>c</a:t>
            </a:r>
            <a:r>
              <a:rPr lang="en-US" altLang="zh-CN" sz="2400" dirty="0">
                <a:latin typeface="Times New Roman" panose="02020503050405090304" pitchFamily="18" charset="0"/>
              </a:rPr>
              <a:t> </a:t>
            </a:r>
            <a:r>
              <a:rPr lang="en-US" altLang="zh-CN" sz="2400" dirty="0">
                <a:latin typeface="Symbol" panose="05050102010706020507" pitchFamily="18" charset="2"/>
              </a:rPr>
              <a:t>³ </a:t>
            </a:r>
            <a:r>
              <a:rPr lang="en-US" altLang="zh-CN" sz="2400" i="1" dirty="0">
                <a:latin typeface="Times New Roman" panose="02020503050405090304" pitchFamily="18" charset="0"/>
              </a:rPr>
              <a:t>b</a:t>
            </a:r>
            <a:r>
              <a:rPr lang="en-US" altLang="zh-CN" sz="2400" dirty="0">
                <a:latin typeface="Times New Roman" panose="02020503050405090304" pitchFamily="18" charset="0"/>
              </a:rPr>
              <a:t> </a:t>
            </a:r>
            <a:r>
              <a:rPr lang="en-US" altLang="zh-CN" sz="2400" dirty="0">
                <a:latin typeface="Symbol" panose="05050102010706020507" pitchFamily="18" charset="2"/>
              </a:rPr>
              <a:t>³ </a:t>
            </a:r>
            <a:r>
              <a:rPr lang="en-US" altLang="zh-CN" sz="2400" i="1" dirty="0">
                <a:latin typeface="Times New Roman" panose="02020503050405090304" pitchFamily="18" charset="0"/>
              </a:rPr>
              <a:t>a</a:t>
            </a:r>
            <a:endParaRPr lang="en-US" altLang="zh-CN" sz="2400" i="1" dirty="0">
              <a:latin typeface="Times New Roman" panose="02020503050405090304" pitchFamily="18" charset="0"/>
            </a:endParaRPr>
          </a:p>
          <a:p>
            <a:pPr eaLnBrk="1" hangingPunct="1">
              <a:lnSpc>
                <a:spcPct val="80000"/>
              </a:lnSpc>
            </a:pPr>
            <a:r>
              <a:rPr lang="en-US" altLang="zh-CN" sz="2800" dirty="0">
                <a:latin typeface="Times New Roman" panose="02020503050405090304" pitchFamily="18" charset="0"/>
              </a:rPr>
              <a:t>Case 1: </a:t>
            </a:r>
            <a:r>
              <a:rPr lang="en-US" altLang="zh-CN" sz="2800" i="1" dirty="0">
                <a:latin typeface="Times New Roman" panose="02020503050405090304" pitchFamily="18" charset="0"/>
              </a:rPr>
              <a:t>a</a:t>
            </a:r>
            <a:r>
              <a:rPr lang="en-US" altLang="zh-CN" sz="2800" dirty="0">
                <a:latin typeface="Symbol" panose="05050102010706020507" pitchFamily="18" charset="2"/>
              </a:rPr>
              <a:t>Ä</a:t>
            </a:r>
            <a:r>
              <a:rPr lang="en-US" altLang="zh-CN" sz="2800" i="1" dirty="0">
                <a:latin typeface="Times New Roman" panose="02020503050405090304" pitchFamily="18" charset="0"/>
              </a:rPr>
              <a:t>b</a:t>
            </a:r>
            <a:r>
              <a:rPr lang="en-US" altLang="zh-CN" sz="2800" dirty="0">
                <a:latin typeface="Times New Roman" panose="02020503050405090304" pitchFamily="18" charset="0"/>
              </a:rPr>
              <a:t> = </a:t>
            </a:r>
            <a:r>
              <a:rPr lang="en-US" altLang="zh-CN" sz="2800" i="1" dirty="0">
                <a:latin typeface="Times New Roman" panose="02020503050405090304" pitchFamily="18" charset="0"/>
              </a:rPr>
              <a:t>a</a:t>
            </a:r>
            <a:r>
              <a:rPr lang="en-US" altLang="zh-CN" sz="2800" dirty="0">
                <a:latin typeface="Times New Roman" panose="02020503050405090304" pitchFamily="18" charset="0"/>
              </a:rPr>
              <a:t>, </a:t>
            </a:r>
            <a:r>
              <a:rPr lang="en-US" altLang="zh-CN" sz="2800" i="1" dirty="0">
                <a:latin typeface="Times New Roman" panose="02020503050405090304" pitchFamily="18" charset="0"/>
              </a:rPr>
              <a:t>a</a:t>
            </a:r>
            <a:r>
              <a:rPr lang="en-US" altLang="zh-CN" sz="2800" dirty="0">
                <a:latin typeface="Symbol" panose="05050102010706020507" pitchFamily="18" charset="2"/>
              </a:rPr>
              <a:t>Ä</a:t>
            </a:r>
            <a:r>
              <a:rPr lang="en-US" altLang="zh-CN" sz="2800" i="1" dirty="0">
                <a:latin typeface="Times New Roman" panose="02020503050405090304" pitchFamily="18" charset="0"/>
              </a:rPr>
              <a:t>c</a:t>
            </a:r>
            <a:r>
              <a:rPr lang="en-US" altLang="zh-CN" sz="2800" dirty="0">
                <a:latin typeface="Times New Roman" panose="02020503050405090304" pitchFamily="18" charset="0"/>
              </a:rPr>
              <a:t> = </a:t>
            </a:r>
            <a:r>
              <a:rPr lang="en-US" altLang="zh-CN" sz="2800" i="1" dirty="0">
                <a:latin typeface="Times New Roman" panose="02020503050405090304" pitchFamily="18" charset="0"/>
              </a:rPr>
              <a:t>a</a:t>
            </a:r>
            <a:r>
              <a:rPr lang="en-US" altLang="zh-CN" sz="2800" dirty="0">
                <a:latin typeface="Times New Roman" panose="02020503050405090304" pitchFamily="18" charset="0"/>
              </a:rPr>
              <a:t>, and </a:t>
            </a:r>
            <a:r>
              <a:rPr lang="en-US" altLang="zh-CN" sz="2800" i="1" dirty="0">
                <a:latin typeface="Times New Roman" panose="02020503050405090304" pitchFamily="18" charset="0"/>
              </a:rPr>
              <a:t>b</a:t>
            </a:r>
            <a:r>
              <a:rPr lang="en-US" altLang="zh-CN" sz="2800" dirty="0">
                <a:latin typeface="Symbol" panose="05050102010706020507" pitchFamily="18" charset="2"/>
              </a:rPr>
              <a:t>Ä</a:t>
            </a:r>
            <a:r>
              <a:rPr lang="en-US" altLang="zh-CN" sz="2800" i="1" dirty="0">
                <a:latin typeface="Times New Roman" panose="02020503050405090304" pitchFamily="18" charset="0"/>
              </a:rPr>
              <a:t>c </a:t>
            </a:r>
            <a:r>
              <a:rPr lang="en-US" altLang="zh-CN" sz="2800" dirty="0">
                <a:latin typeface="Times New Roman" panose="02020503050405090304" pitchFamily="18" charset="0"/>
              </a:rPr>
              <a:t>= </a:t>
            </a:r>
            <a:r>
              <a:rPr lang="en-US" altLang="zh-CN" sz="2800" i="1" dirty="0">
                <a:latin typeface="Times New Roman" panose="02020503050405090304" pitchFamily="18" charset="0"/>
              </a:rPr>
              <a:t>b</a:t>
            </a:r>
            <a:r>
              <a:rPr lang="en-US" altLang="zh-CN" sz="2800" dirty="0">
                <a:latin typeface="Times New Roman" panose="02020503050405090304" pitchFamily="18" charset="0"/>
              </a:rPr>
              <a:t>.</a:t>
            </a:r>
            <a:endParaRPr lang="en-US" altLang="zh-CN" sz="2800" dirty="0">
              <a:latin typeface="Times New Roman" panose="02020503050405090304" pitchFamily="18" charset="0"/>
            </a:endParaRPr>
          </a:p>
          <a:p>
            <a:pPr eaLnBrk="1" hangingPunct="1">
              <a:lnSpc>
                <a:spcPct val="80000"/>
              </a:lnSpc>
            </a:pPr>
            <a:r>
              <a:rPr lang="en-US" altLang="zh-CN" sz="2800" dirty="0">
                <a:latin typeface="Times New Roman" panose="02020503050405090304" pitchFamily="18" charset="0"/>
              </a:rPr>
              <a:t>Hence (</a:t>
            </a:r>
            <a:r>
              <a:rPr lang="en-US" altLang="zh-CN" sz="2800" i="1" dirty="0">
                <a:latin typeface="Times New Roman" panose="02020503050405090304" pitchFamily="18" charset="0"/>
              </a:rPr>
              <a:t>a</a:t>
            </a:r>
            <a:r>
              <a:rPr lang="en-US" altLang="zh-CN" sz="2800" dirty="0">
                <a:latin typeface="Symbol" panose="05050102010706020507" pitchFamily="18" charset="2"/>
              </a:rPr>
              <a:t>Ä</a:t>
            </a:r>
            <a:r>
              <a:rPr lang="en-US" altLang="zh-CN" sz="2800" i="1" dirty="0">
                <a:latin typeface="Times New Roman" panose="02020503050405090304" pitchFamily="18" charset="0"/>
              </a:rPr>
              <a:t>b</a:t>
            </a:r>
            <a:r>
              <a:rPr lang="en-US" altLang="zh-CN" sz="2800" dirty="0">
                <a:latin typeface="Times New Roman" panose="02020503050405090304" pitchFamily="18" charset="0"/>
              </a:rPr>
              <a:t>)</a:t>
            </a:r>
            <a:r>
              <a:rPr lang="en-US" altLang="zh-CN" sz="2800" dirty="0">
                <a:latin typeface="Symbol" panose="05050102010706020507" pitchFamily="18" charset="2"/>
              </a:rPr>
              <a:t>Ä</a:t>
            </a:r>
            <a:r>
              <a:rPr lang="en-US" altLang="zh-CN" sz="2800" i="1" dirty="0">
                <a:latin typeface="Times New Roman" panose="02020503050405090304" pitchFamily="18" charset="0"/>
              </a:rPr>
              <a:t>c</a:t>
            </a:r>
            <a:r>
              <a:rPr lang="en-US" altLang="zh-CN" sz="2800" dirty="0">
                <a:latin typeface="Times New Roman" panose="02020503050405090304" pitchFamily="18" charset="0"/>
              </a:rPr>
              <a:t> = </a:t>
            </a:r>
            <a:r>
              <a:rPr lang="en-US" altLang="zh-CN" sz="2800" i="1" dirty="0">
                <a:latin typeface="Times New Roman" panose="02020503050405090304" pitchFamily="18" charset="0"/>
              </a:rPr>
              <a:t>a</a:t>
            </a:r>
            <a:r>
              <a:rPr lang="en-US" altLang="zh-CN" sz="2800" dirty="0">
                <a:latin typeface="Times New Roman" panose="02020503050405090304" pitchFamily="18" charset="0"/>
              </a:rPr>
              <a:t> = </a:t>
            </a:r>
            <a:r>
              <a:rPr lang="en-US" altLang="zh-CN" sz="2800" i="1" dirty="0">
                <a:latin typeface="Times New Roman" panose="02020503050405090304" pitchFamily="18" charset="0"/>
              </a:rPr>
              <a:t>a</a:t>
            </a:r>
            <a:r>
              <a:rPr lang="en-US" altLang="zh-CN" sz="2800" dirty="0">
                <a:latin typeface="Symbol" panose="05050102010706020507" pitchFamily="18" charset="2"/>
              </a:rPr>
              <a:t>Ä</a:t>
            </a:r>
            <a:r>
              <a:rPr lang="en-US" altLang="zh-CN" sz="2800" dirty="0">
                <a:latin typeface="Times New Roman" panose="02020503050405090304" pitchFamily="18" charset="0"/>
              </a:rPr>
              <a:t>(</a:t>
            </a:r>
            <a:r>
              <a:rPr lang="en-US" altLang="zh-CN" sz="2800" i="1" dirty="0">
                <a:latin typeface="Times New Roman" panose="02020503050405090304" pitchFamily="18" charset="0"/>
              </a:rPr>
              <a:t>b</a:t>
            </a:r>
            <a:r>
              <a:rPr lang="en-US" altLang="zh-CN" sz="2800" dirty="0">
                <a:latin typeface="Symbol" panose="05050102010706020507" pitchFamily="18" charset="2"/>
              </a:rPr>
              <a:t>Ä</a:t>
            </a:r>
            <a:r>
              <a:rPr lang="en-US" altLang="zh-CN" sz="2800" i="1" dirty="0">
                <a:latin typeface="Times New Roman" panose="02020503050405090304" pitchFamily="18" charset="0"/>
              </a:rPr>
              <a:t>c</a:t>
            </a:r>
            <a:r>
              <a:rPr lang="en-US" altLang="zh-CN" sz="2800" dirty="0">
                <a:latin typeface="Times New Roman" panose="02020503050405090304" pitchFamily="18" charset="0"/>
              </a:rPr>
              <a:t>).</a:t>
            </a:r>
            <a:endParaRPr lang="en-US" altLang="zh-CN" sz="2800" dirty="0">
              <a:latin typeface="Times New Roman" panose="02020503050405090304" pitchFamily="18" charset="0"/>
            </a:endParaRPr>
          </a:p>
          <a:p>
            <a:pPr eaLnBrk="1" hangingPunct="1">
              <a:lnSpc>
                <a:spcPct val="80000"/>
              </a:lnSpc>
            </a:pPr>
            <a:r>
              <a:rPr lang="en-US" altLang="zh-CN" sz="2800" dirty="0">
                <a:latin typeface="Times New Roman" panose="02020503050405090304" pitchFamily="18" charset="0"/>
              </a:rPr>
              <a:t>Therefore the equality holds for the first case. …</a:t>
            </a:r>
            <a:endParaRPr lang="en-US" altLang="zh-CN" sz="2800" dirty="0">
              <a:latin typeface="Times New Roman" panose="0202050305040509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355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355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23557" name="Rectangle 2"/>
          <p:cNvSpPr>
            <a:spLocks noGrp="1"/>
          </p:cNvSpPr>
          <p:nvPr>
            <p:ph type="title"/>
          </p:nvPr>
        </p:nvSpPr>
        <p:spPr/>
        <p:txBody>
          <a:bodyPr vert="horz" wrap="square" lIns="91440" tIns="45720" rIns="91440" bIns="45720" anchor="b" anchorCtr="0"/>
          <a:p>
            <a:pPr eaLnBrk="1" hangingPunct="1"/>
            <a:r>
              <a:rPr lang="en-US" altLang="zh-CN" dirty="0"/>
              <a:t>Proof by Cases Example</a:t>
            </a:r>
            <a:endParaRPr lang="en-US" altLang="zh-CN" dirty="0"/>
          </a:p>
        </p:txBody>
      </p:sp>
      <p:sp>
        <p:nvSpPr>
          <p:cNvPr id="23558" name="Rectangle 3"/>
          <p:cNvSpPr>
            <a:spLocks noGrp="1"/>
          </p:cNvSpPr>
          <p:nvPr>
            <p:ph idx="1"/>
          </p:nvPr>
        </p:nvSpPr>
        <p:spPr>
          <a:xfrm>
            <a:off x="251778" y="1340168"/>
            <a:ext cx="8763000" cy="4495800"/>
          </a:xfrm>
        </p:spPr>
        <p:txBody>
          <a:bodyPr vert="horz" wrap="square" lIns="91440" tIns="45720" rIns="91440" bIns="45720" anchor="t" anchorCtr="0"/>
          <a:p>
            <a:pPr eaLnBrk="1" hangingPunct="1"/>
            <a:r>
              <a:rPr lang="en-US" altLang="zh-CN" b="1" dirty="0"/>
              <a:t>Theorem:</a:t>
            </a:r>
            <a:r>
              <a:rPr lang="en-US" altLang="zh-CN" dirty="0"/>
              <a:t>  </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n</a:t>
            </a:r>
            <a:r>
              <a:rPr lang="en-US" altLang="zh-CN" dirty="0">
                <a:solidFill>
                  <a:srgbClr val="FF0000"/>
                </a:solidFill>
                <a:sym typeface="Symbol" panose="05050102010706020507" pitchFamily="18" charset="2"/>
              </a:rPr>
              <a:t></a:t>
            </a:r>
            <a:r>
              <a:rPr lang="en-US" altLang="zh-CN" b="1" dirty="0">
                <a:solidFill>
                  <a:srgbClr val="FF0000"/>
                </a:solidFill>
                <a:sym typeface="Symbol" panose="05050102010706020507" pitchFamily="18" charset="2"/>
              </a:rPr>
              <a:t>Z</a:t>
            </a:r>
            <a:r>
              <a:rPr lang="en-US" altLang="zh-CN" dirty="0">
                <a:solidFill>
                  <a:srgbClr val="FF0000"/>
                </a:solidFill>
              </a:rPr>
              <a:t> </a:t>
            </a:r>
            <a:r>
              <a:rPr lang="en-US" altLang="zh-CN" dirty="0">
                <a:solidFill>
                  <a:srgbClr val="FF0000"/>
                </a:solidFill>
                <a:latin typeface="Times New Roman" panose="02020503050405090304" pitchFamily="18" charset="0"/>
              </a:rPr>
              <a:t>¬</a:t>
            </a:r>
            <a:r>
              <a:rPr lang="en-US" altLang="zh-CN" dirty="0">
                <a:solidFill>
                  <a:srgbClr val="FF0000"/>
                </a:solidFill>
              </a:rPr>
              <a:t>(2|</a:t>
            </a:r>
            <a:r>
              <a:rPr lang="en-US" altLang="zh-CN" i="1" dirty="0">
                <a:solidFill>
                  <a:srgbClr val="FF0000"/>
                </a:solidFill>
              </a:rPr>
              <a:t>n</a:t>
            </a:r>
            <a:r>
              <a:rPr lang="en-US" altLang="zh-CN" dirty="0">
                <a:solidFill>
                  <a:srgbClr val="FF0000"/>
                </a:solidFill>
              </a:rPr>
              <a:t> </a:t>
            </a:r>
            <a:r>
              <a:rPr lang="en-US" altLang="zh-CN" dirty="0">
                <a:solidFill>
                  <a:srgbClr val="FF0000"/>
                </a:solidFill>
                <a:sym typeface="Symbol" panose="05050102010706020507" pitchFamily="18" charset="2"/>
              </a:rPr>
              <a:t> 3|</a:t>
            </a:r>
            <a:r>
              <a:rPr lang="en-US" altLang="zh-CN" i="1" dirty="0">
                <a:solidFill>
                  <a:srgbClr val="FF0000"/>
                </a:solidFill>
                <a:sym typeface="Symbol" panose="05050102010706020507" pitchFamily="18" charset="2"/>
              </a:rPr>
              <a:t>n</a:t>
            </a:r>
            <a:r>
              <a:rPr lang="en-US" altLang="zh-CN" dirty="0">
                <a:solidFill>
                  <a:srgbClr val="FF0000"/>
                </a:solidFill>
                <a:sym typeface="Symbol" panose="05050102010706020507" pitchFamily="18" charset="2"/>
              </a:rPr>
              <a:t>) → 24|(</a:t>
            </a:r>
            <a:r>
              <a:rPr lang="en-US" altLang="zh-CN" i="1" dirty="0">
                <a:solidFill>
                  <a:srgbClr val="FF0000"/>
                </a:solidFill>
                <a:sym typeface="Symbol" panose="05050102010706020507" pitchFamily="18" charset="2"/>
              </a:rPr>
              <a:t>n</a:t>
            </a:r>
            <a:r>
              <a:rPr lang="en-US" altLang="zh-CN" baseline="30000" dirty="0">
                <a:solidFill>
                  <a:srgbClr val="FF0000"/>
                </a:solidFill>
                <a:sym typeface="Symbol" panose="05050102010706020507" pitchFamily="18" charset="2"/>
              </a:rPr>
              <a:t>2</a:t>
            </a:r>
            <a:r>
              <a:rPr lang="en-US" altLang="zh-CN" dirty="0">
                <a:solidFill>
                  <a:srgbClr val="FF0000"/>
                </a:solidFill>
                <a:sym typeface="Symbol" panose="05050102010706020507" pitchFamily="18" charset="2"/>
              </a:rPr>
              <a:t>−1)</a:t>
            </a:r>
            <a:endParaRPr lang="en-US" altLang="zh-CN" dirty="0">
              <a:solidFill>
                <a:srgbClr val="FF0000"/>
              </a:solidFill>
              <a:sym typeface="Symbol" panose="05050102010706020507" pitchFamily="18" charset="2"/>
            </a:endParaRPr>
          </a:p>
          <a:p>
            <a:pPr lvl="1" eaLnBrk="1" hangingPunct="1"/>
            <a:r>
              <a:rPr lang="en-US" altLang="zh-CN" b="1" dirty="0">
                <a:sym typeface="Symbol" panose="05050102010706020507" pitchFamily="18" charset="2"/>
              </a:rPr>
              <a:t>Proof:</a:t>
            </a:r>
            <a:r>
              <a:rPr lang="en-US" altLang="zh-CN" dirty="0">
                <a:sym typeface="Symbol" panose="05050102010706020507" pitchFamily="18" charset="2"/>
              </a:rPr>
              <a:t> Since </a:t>
            </a:r>
            <a:r>
              <a:rPr lang="en-US" altLang="zh-CN" dirty="0">
                <a:solidFill>
                  <a:srgbClr val="FF0000"/>
                </a:solidFill>
                <a:sym typeface="Symbol" panose="05050102010706020507" pitchFamily="18" charset="2"/>
              </a:rPr>
              <a:t>2</a:t>
            </a:r>
            <a:r>
              <a:rPr lang="en-US" altLang="zh-CN" dirty="0">
                <a:solidFill>
                  <a:srgbClr val="FF0000"/>
                </a:solidFill>
                <a:latin typeface="Times New Roman" panose="02020503050405090304" pitchFamily="18" charset="0"/>
                <a:sym typeface="Symbol" panose="05050102010706020507" pitchFamily="18" charset="2"/>
              </a:rPr>
              <a:t>·</a:t>
            </a:r>
            <a:r>
              <a:rPr lang="en-US" altLang="zh-CN" dirty="0">
                <a:solidFill>
                  <a:srgbClr val="FF0000"/>
                </a:solidFill>
                <a:sym typeface="Symbol" panose="05050102010706020507" pitchFamily="18" charset="2"/>
              </a:rPr>
              <a:t>3=6</a:t>
            </a:r>
            <a:r>
              <a:rPr lang="en-US" altLang="zh-CN" dirty="0">
                <a:sym typeface="Symbol" panose="05050102010706020507" pitchFamily="18" charset="2"/>
              </a:rPr>
              <a:t>, the value of </a:t>
            </a:r>
            <a:r>
              <a:rPr lang="en-US" altLang="zh-CN" i="1" dirty="0">
                <a:solidFill>
                  <a:srgbClr val="FF0000"/>
                </a:solidFill>
                <a:sym typeface="Symbol" panose="05050102010706020507" pitchFamily="18" charset="2"/>
              </a:rPr>
              <a:t>n</a:t>
            </a:r>
            <a:r>
              <a:rPr lang="en-US" altLang="zh-CN" dirty="0">
                <a:solidFill>
                  <a:srgbClr val="FF0000"/>
                </a:solidFill>
                <a:sym typeface="Symbol" panose="05050102010706020507" pitchFamily="18" charset="2"/>
              </a:rPr>
              <a:t> mod 6</a:t>
            </a:r>
            <a:r>
              <a:rPr lang="en-US" altLang="zh-CN" dirty="0">
                <a:sym typeface="Symbol" panose="05050102010706020507" pitchFamily="18" charset="2"/>
              </a:rPr>
              <a:t> is sufficient to tell us whether </a:t>
            </a:r>
            <a:r>
              <a:rPr lang="en-US" altLang="zh-CN" dirty="0">
                <a:solidFill>
                  <a:srgbClr val="FF0000"/>
                </a:solidFill>
                <a:sym typeface="Symbol" panose="05050102010706020507" pitchFamily="18" charset="2"/>
              </a:rPr>
              <a:t>2|</a:t>
            </a:r>
            <a:r>
              <a:rPr lang="en-US" altLang="zh-CN" i="1" dirty="0">
                <a:solidFill>
                  <a:srgbClr val="FF0000"/>
                </a:solidFill>
                <a:sym typeface="Symbol" panose="05050102010706020507" pitchFamily="18" charset="2"/>
              </a:rPr>
              <a:t>n</a:t>
            </a:r>
            <a:r>
              <a:rPr lang="en-US" altLang="zh-CN" dirty="0">
                <a:sym typeface="Symbol" panose="05050102010706020507" pitchFamily="18" charset="2"/>
              </a:rPr>
              <a:t> or </a:t>
            </a:r>
            <a:r>
              <a:rPr lang="en-US" altLang="zh-CN" dirty="0">
                <a:solidFill>
                  <a:srgbClr val="FF0000"/>
                </a:solidFill>
                <a:sym typeface="Symbol" panose="05050102010706020507" pitchFamily="18" charset="2"/>
              </a:rPr>
              <a:t>3|</a:t>
            </a:r>
            <a:r>
              <a:rPr lang="en-US" altLang="zh-CN" i="1" dirty="0">
                <a:solidFill>
                  <a:srgbClr val="FF0000"/>
                </a:solidFill>
                <a:sym typeface="Symbol" panose="05050102010706020507" pitchFamily="18" charset="2"/>
              </a:rPr>
              <a:t>n</a:t>
            </a:r>
            <a:r>
              <a:rPr lang="en-US" altLang="zh-CN" dirty="0">
                <a:sym typeface="Symbol" panose="05050102010706020507" pitchFamily="18" charset="2"/>
              </a:rPr>
              <a:t>.  If </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n</a:t>
            </a:r>
            <a:r>
              <a:rPr lang="en-US" altLang="zh-CN" dirty="0">
                <a:solidFill>
                  <a:srgbClr val="FF0000"/>
                </a:solidFill>
                <a:sym typeface="Symbol" panose="05050102010706020507" pitchFamily="18" charset="2"/>
              </a:rPr>
              <a:t> mod 6){0,3}</a:t>
            </a:r>
            <a:r>
              <a:rPr lang="en-US" altLang="zh-CN" dirty="0">
                <a:sym typeface="Symbol" panose="05050102010706020507" pitchFamily="18" charset="2"/>
              </a:rPr>
              <a:t> then </a:t>
            </a:r>
            <a:r>
              <a:rPr lang="en-US" altLang="zh-CN" dirty="0">
                <a:solidFill>
                  <a:srgbClr val="FF0000"/>
                </a:solidFill>
                <a:sym typeface="Symbol" panose="05050102010706020507" pitchFamily="18" charset="2"/>
              </a:rPr>
              <a:t>3|</a:t>
            </a:r>
            <a:r>
              <a:rPr lang="en-US" altLang="zh-CN" i="1" dirty="0">
                <a:solidFill>
                  <a:srgbClr val="FF0000"/>
                </a:solidFill>
                <a:sym typeface="Symbol" panose="05050102010706020507" pitchFamily="18" charset="2"/>
              </a:rPr>
              <a:t>n</a:t>
            </a:r>
            <a:r>
              <a:rPr lang="en-US" altLang="zh-CN" dirty="0">
                <a:sym typeface="Symbol" panose="05050102010706020507" pitchFamily="18" charset="2"/>
              </a:rPr>
              <a:t>; if it is in </a:t>
            </a:r>
            <a:r>
              <a:rPr lang="en-US" altLang="zh-CN" dirty="0">
                <a:solidFill>
                  <a:srgbClr val="FF0000"/>
                </a:solidFill>
                <a:sym typeface="Symbol" panose="05050102010706020507" pitchFamily="18" charset="2"/>
              </a:rPr>
              <a:t>{0,2,4}</a:t>
            </a:r>
            <a:r>
              <a:rPr lang="en-US" altLang="zh-CN" dirty="0">
                <a:sym typeface="Symbol" panose="05050102010706020507" pitchFamily="18" charset="2"/>
              </a:rPr>
              <a:t> then </a:t>
            </a:r>
            <a:r>
              <a:rPr lang="en-US" altLang="zh-CN" dirty="0">
                <a:solidFill>
                  <a:srgbClr val="FF0000"/>
                </a:solidFill>
                <a:sym typeface="Symbol" panose="05050102010706020507" pitchFamily="18" charset="2"/>
              </a:rPr>
              <a:t>2|</a:t>
            </a:r>
            <a:r>
              <a:rPr lang="en-US" altLang="zh-CN" i="1" dirty="0">
                <a:solidFill>
                  <a:srgbClr val="FF0000"/>
                </a:solidFill>
                <a:sym typeface="Symbol" panose="05050102010706020507" pitchFamily="18" charset="2"/>
              </a:rPr>
              <a:t>n</a:t>
            </a:r>
            <a:r>
              <a:rPr lang="en-US" altLang="zh-CN" dirty="0">
                <a:sym typeface="Symbol" panose="05050102010706020507" pitchFamily="18" charset="2"/>
              </a:rPr>
              <a:t>.  Thus </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n</a:t>
            </a:r>
            <a:r>
              <a:rPr lang="en-US" altLang="zh-CN" dirty="0">
                <a:solidFill>
                  <a:srgbClr val="FF0000"/>
                </a:solidFill>
                <a:sym typeface="Symbol" panose="05050102010706020507" pitchFamily="18" charset="2"/>
              </a:rPr>
              <a:t> mod 6){1,5}</a:t>
            </a:r>
            <a:r>
              <a:rPr lang="en-US" altLang="zh-CN" dirty="0">
                <a:sym typeface="Symbol" panose="05050102010706020507" pitchFamily="18" charset="2"/>
              </a:rPr>
              <a:t>.</a:t>
            </a:r>
            <a:endParaRPr lang="en-US" altLang="zh-CN" dirty="0">
              <a:sym typeface="Symbol" panose="05050102010706020507" pitchFamily="18" charset="2"/>
            </a:endParaRPr>
          </a:p>
          <a:p>
            <a:pPr lvl="2" eaLnBrk="1" hangingPunct="1"/>
            <a:r>
              <a:rPr lang="en-US" altLang="zh-CN" b="1" dirty="0">
                <a:sym typeface="Symbol" panose="05050102010706020507" pitchFamily="18" charset="2"/>
              </a:rPr>
              <a:t>Case #1: </a:t>
            </a:r>
            <a:r>
              <a:rPr lang="en-US" altLang="zh-CN" dirty="0">
                <a:sym typeface="Symbol" panose="05050102010706020507" pitchFamily="18" charset="2"/>
              </a:rPr>
              <a:t>If </a:t>
            </a:r>
            <a:r>
              <a:rPr lang="en-US" altLang="zh-CN" i="1" dirty="0">
                <a:solidFill>
                  <a:srgbClr val="FF0000"/>
                </a:solidFill>
                <a:sym typeface="Symbol" panose="05050102010706020507" pitchFamily="18" charset="2"/>
              </a:rPr>
              <a:t>n</a:t>
            </a:r>
            <a:r>
              <a:rPr lang="en-US" altLang="zh-CN" dirty="0">
                <a:solidFill>
                  <a:srgbClr val="FF0000"/>
                </a:solidFill>
                <a:sym typeface="Symbol" panose="05050102010706020507" pitchFamily="18" charset="2"/>
              </a:rPr>
              <a:t> mod 6 = 1</a:t>
            </a:r>
            <a:r>
              <a:rPr lang="en-US" altLang="zh-CN" dirty="0">
                <a:sym typeface="Symbol" panose="05050102010706020507" pitchFamily="18" charset="2"/>
              </a:rPr>
              <a:t>, then </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k</a:t>
            </a:r>
            <a:r>
              <a:rPr lang="en-US" altLang="zh-CN" dirty="0">
                <a:solidFill>
                  <a:srgbClr val="FF0000"/>
                </a:solidFill>
                <a:sym typeface="Symbol" panose="05050102010706020507" pitchFamily="18" charset="2"/>
              </a:rPr>
              <a:t>) </a:t>
            </a:r>
            <a:r>
              <a:rPr lang="en-US" altLang="zh-CN" i="1" dirty="0">
                <a:solidFill>
                  <a:srgbClr val="FF0000"/>
                </a:solidFill>
                <a:sym typeface="Symbol" panose="05050102010706020507" pitchFamily="18" charset="2"/>
              </a:rPr>
              <a:t>n</a:t>
            </a:r>
            <a:r>
              <a:rPr lang="en-US" altLang="zh-CN" dirty="0">
                <a:solidFill>
                  <a:srgbClr val="FF0000"/>
                </a:solidFill>
                <a:sym typeface="Symbol" panose="05050102010706020507" pitchFamily="18" charset="2"/>
              </a:rPr>
              <a:t>=6</a:t>
            </a:r>
            <a:r>
              <a:rPr lang="en-US" altLang="zh-CN" i="1" dirty="0">
                <a:solidFill>
                  <a:srgbClr val="FF0000"/>
                </a:solidFill>
                <a:sym typeface="Symbol" panose="05050102010706020507" pitchFamily="18" charset="2"/>
              </a:rPr>
              <a:t>k</a:t>
            </a:r>
            <a:r>
              <a:rPr lang="en-US" altLang="zh-CN" dirty="0">
                <a:solidFill>
                  <a:srgbClr val="FF0000"/>
                </a:solidFill>
                <a:sym typeface="Symbol" panose="05050102010706020507" pitchFamily="18" charset="2"/>
              </a:rPr>
              <a:t>+1</a:t>
            </a:r>
            <a:r>
              <a:rPr lang="en-US" altLang="zh-CN" dirty="0">
                <a:sym typeface="Symbol" panose="05050102010706020507" pitchFamily="18" charset="2"/>
              </a:rPr>
              <a:t>.  </a:t>
            </a:r>
            <a:r>
              <a:rPr lang="en-US" altLang="zh-CN" i="1" dirty="0">
                <a:solidFill>
                  <a:srgbClr val="FF0000"/>
                </a:solidFill>
                <a:sym typeface="Symbol" panose="05050102010706020507" pitchFamily="18" charset="2"/>
              </a:rPr>
              <a:t>n</a:t>
            </a:r>
            <a:r>
              <a:rPr lang="en-US" altLang="zh-CN" baseline="30000" dirty="0">
                <a:solidFill>
                  <a:srgbClr val="FF0000"/>
                </a:solidFill>
                <a:sym typeface="Symbol" panose="05050102010706020507" pitchFamily="18" charset="2"/>
              </a:rPr>
              <a:t>2</a:t>
            </a:r>
            <a:r>
              <a:rPr lang="en-US" altLang="zh-CN" dirty="0">
                <a:solidFill>
                  <a:srgbClr val="FF0000"/>
                </a:solidFill>
                <a:sym typeface="Symbol" panose="05050102010706020507" pitchFamily="18" charset="2"/>
              </a:rPr>
              <a:t>=36</a:t>
            </a:r>
            <a:r>
              <a:rPr lang="en-US" altLang="zh-CN" i="1" dirty="0">
                <a:solidFill>
                  <a:srgbClr val="FF0000"/>
                </a:solidFill>
                <a:sym typeface="Symbol" panose="05050102010706020507" pitchFamily="18" charset="2"/>
              </a:rPr>
              <a:t>k</a:t>
            </a:r>
            <a:r>
              <a:rPr lang="en-US" altLang="zh-CN" baseline="30000" dirty="0">
                <a:solidFill>
                  <a:srgbClr val="FF0000"/>
                </a:solidFill>
                <a:sym typeface="Symbol" panose="05050102010706020507" pitchFamily="18" charset="2"/>
              </a:rPr>
              <a:t>2</a:t>
            </a:r>
            <a:r>
              <a:rPr lang="en-US" altLang="zh-CN" dirty="0">
                <a:solidFill>
                  <a:srgbClr val="FF0000"/>
                </a:solidFill>
                <a:sym typeface="Symbol" panose="05050102010706020507" pitchFamily="18" charset="2"/>
              </a:rPr>
              <a:t>+12</a:t>
            </a:r>
            <a:r>
              <a:rPr lang="en-US" altLang="zh-CN" i="1" dirty="0">
                <a:solidFill>
                  <a:srgbClr val="FF0000"/>
                </a:solidFill>
                <a:sym typeface="Symbol" panose="05050102010706020507" pitchFamily="18" charset="2"/>
              </a:rPr>
              <a:t>k</a:t>
            </a:r>
            <a:r>
              <a:rPr lang="en-US" altLang="zh-CN" dirty="0">
                <a:solidFill>
                  <a:srgbClr val="FF0000"/>
                </a:solidFill>
                <a:sym typeface="Symbol" panose="05050102010706020507" pitchFamily="18" charset="2"/>
              </a:rPr>
              <a:t>+1</a:t>
            </a:r>
            <a:r>
              <a:rPr lang="en-US" altLang="zh-CN" dirty="0">
                <a:sym typeface="Symbol" panose="05050102010706020507" pitchFamily="18" charset="2"/>
              </a:rPr>
              <a:t>, so </a:t>
            </a:r>
            <a:r>
              <a:rPr lang="en-US" altLang="zh-CN" i="1" dirty="0">
                <a:solidFill>
                  <a:srgbClr val="FF0000"/>
                </a:solidFill>
                <a:sym typeface="Symbol" panose="05050102010706020507" pitchFamily="18" charset="2"/>
              </a:rPr>
              <a:t>n</a:t>
            </a:r>
            <a:r>
              <a:rPr lang="en-US" altLang="zh-CN" baseline="30000" dirty="0">
                <a:solidFill>
                  <a:srgbClr val="FF0000"/>
                </a:solidFill>
                <a:sym typeface="Symbol" panose="05050102010706020507" pitchFamily="18" charset="2"/>
              </a:rPr>
              <a:t>2</a:t>
            </a:r>
            <a:r>
              <a:rPr lang="en-US" altLang="zh-CN" dirty="0">
                <a:solidFill>
                  <a:srgbClr val="FF0000"/>
                </a:solidFill>
                <a:sym typeface="Symbol" panose="05050102010706020507" pitchFamily="18" charset="2"/>
              </a:rPr>
              <a:t>−1=36</a:t>
            </a:r>
            <a:r>
              <a:rPr lang="en-US" altLang="zh-CN" i="1" dirty="0">
                <a:solidFill>
                  <a:srgbClr val="FF0000"/>
                </a:solidFill>
                <a:sym typeface="Symbol" panose="05050102010706020507" pitchFamily="18" charset="2"/>
              </a:rPr>
              <a:t>k</a:t>
            </a:r>
            <a:r>
              <a:rPr lang="en-US" altLang="zh-CN" baseline="30000" dirty="0">
                <a:solidFill>
                  <a:srgbClr val="FF0000"/>
                </a:solidFill>
                <a:sym typeface="Symbol" panose="05050102010706020507" pitchFamily="18" charset="2"/>
              </a:rPr>
              <a:t>2</a:t>
            </a:r>
            <a:r>
              <a:rPr lang="en-US" altLang="zh-CN" dirty="0">
                <a:solidFill>
                  <a:srgbClr val="FF0000"/>
                </a:solidFill>
                <a:sym typeface="Symbol" panose="05050102010706020507" pitchFamily="18" charset="2"/>
              </a:rPr>
              <a:t>+12</a:t>
            </a:r>
            <a:r>
              <a:rPr lang="en-US" altLang="zh-CN" i="1" dirty="0">
                <a:solidFill>
                  <a:srgbClr val="FF0000"/>
                </a:solidFill>
                <a:sym typeface="Symbol" panose="05050102010706020507" pitchFamily="18" charset="2"/>
              </a:rPr>
              <a:t>k</a:t>
            </a:r>
            <a:r>
              <a:rPr lang="en-US" altLang="zh-CN" dirty="0">
                <a:solidFill>
                  <a:srgbClr val="FF0000"/>
                </a:solidFill>
                <a:sym typeface="Symbol" panose="05050102010706020507" pitchFamily="18" charset="2"/>
              </a:rPr>
              <a:t> = 12(3</a:t>
            </a:r>
            <a:r>
              <a:rPr lang="en-US" altLang="zh-CN" i="1" dirty="0">
                <a:solidFill>
                  <a:srgbClr val="FF0000"/>
                </a:solidFill>
                <a:sym typeface="Symbol" panose="05050102010706020507" pitchFamily="18" charset="2"/>
              </a:rPr>
              <a:t>k</a:t>
            </a:r>
            <a:r>
              <a:rPr lang="en-US" altLang="zh-CN" dirty="0">
                <a:solidFill>
                  <a:srgbClr val="FF0000"/>
                </a:solidFill>
                <a:sym typeface="Symbol" panose="05050102010706020507" pitchFamily="18" charset="2"/>
              </a:rPr>
              <a:t>+1)</a:t>
            </a:r>
            <a:r>
              <a:rPr lang="en-US" altLang="zh-CN" i="1" dirty="0">
                <a:solidFill>
                  <a:srgbClr val="FF0000"/>
                </a:solidFill>
                <a:sym typeface="Symbol" panose="05050102010706020507" pitchFamily="18" charset="2"/>
              </a:rPr>
              <a:t>k</a:t>
            </a:r>
            <a:r>
              <a:rPr lang="en-US" altLang="zh-CN" dirty="0">
                <a:sym typeface="Symbol" panose="05050102010706020507" pitchFamily="18" charset="2"/>
              </a:rPr>
              <a:t>.  Note </a:t>
            </a:r>
            <a:r>
              <a:rPr lang="en-US" altLang="zh-CN" dirty="0">
                <a:solidFill>
                  <a:srgbClr val="FF0000"/>
                </a:solidFill>
                <a:sym typeface="Symbol" panose="05050102010706020507" pitchFamily="18" charset="2"/>
              </a:rPr>
              <a:t>2|(3</a:t>
            </a:r>
            <a:r>
              <a:rPr lang="en-US" altLang="zh-CN" i="1" dirty="0">
                <a:solidFill>
                  <a:srgbClr val="FF0000"/>
                </a:solidFill>
                <a:sym typeface="Symbol" panose="05050102010706020507" pitchFamily="18" charset="2"/>
              </a:rPr>
              <a:t>k</a:t>
            </a:r>
            <a:r>
              <a:rPr lang="en-US" altLang="zh-CN" dirty="0">
                <a:solidFill>
                  <a:srgbClr val="FF0000"/>
                </a:solidFill>
                <a:sym typeface="Symbol" panose="05050102010706020507" pitchFamily="18" charset="2"/>
              </a:rPr>
              <a:t>+1)</a:t>
            </a:r>
            <a:r>
              <a:rPr lang="en-US" altLang="zh-CN" i="1" dirty="0">
                <a:solidFill>
                  <a:srgbClr val="FF0000"/>
                </a:solidFill>
                <a:sym typeface="Symbol" panose="05050102010706020507" pitchFamily="18" charset="2"/>
              </a:rPr>
              <a:t>k</a:t>
            </a:r>
            <a:r>
              <a:rPr lang="en-US" altLang="zh-CN" dirty="0">
                <a:sym typeface="Symbol" panose="05050102010706020507" pitchFamily="18" charset="2"/>
              </a:rPr>
              <a:t> since either </a:t>
            </a:r>
            <a:r>
              <a:rPr lang="en-US" altLang="zh-CN" i="1" dirty="0">
                <a:solidFill>
                  <a:srgbClr val="FF0000"/>
                </a:solidFill>
                <a:sym typeface="Symbol" panose="05050102010706020507" pitchFamily="18" charset="2"/>
              </a:rPr>
              <a:t>k</a:t>
            </a:r>
            <a:r>
              <a:rPr lang="en-US" altLang="zh-CN" dirty="0">
                <a:sym typeface="Symbol" panose="05050102010706020507" pitchFamily="18" charset="2"/>
              </a:rPr>
              <a:t> or </a:t>
            </a:r>
            <a:r>
              <a:rPr lang="en-US" altLang="zh-CN" dirty="0">
                <a:solidFill>
                  <a:srgbClr val="FF0000"/>
                </a:solidFill>
                <a:sym typeface="Symbol" panose="05050102010706020507" pitchFamily="18" charset="2"/>
              </a:rPr>
              <a:t>3</a:t>
            </a:r>
            <a:r>
              <a:rPr lang="en-US" altLang="zh-CN" i="1" dirty="0">
                <a:solidFill>
                  <a:srgbClr val="FF0000"/>
                </a:solidFill>
                <a:sym typeface="Symbol" panose="05050102010706020507" pitchFamily="18" charset="2"/>
              </a:rPr>
              <a:t>k</a:t>
            </a:r>
            <a:r>
              <a:rPr lang="en-US" altLang="zh-CN" dirty="0">
                <a:solidFill>
                  <a:srgbClr val="FF0000"/>
                </a:solidFill>
                <a:sym typeface="Symbol" panose="05050102010706020507" pitchFamily="18" charset="2"/>
              </a:rPr>
              <a:t>+1</a:t>
            </a:r>
            <a:r>
              <a:rPr lang="en-US" altLang="zh-CN" dirty="0">
                <a:sym typeface="Symbol" panose="05050102010706020507" pitchFamily="18" charset="2"/>
              </a:rPr>
              <a:t> is even.  Thus </a:t>
            </a:r>
            <a:r>
              <a:rPr lang="en-US" altLang="zh-CN" dirty="0">
                <a:solidFill>
                  <a:srgbClr val="FF0000"/>
                </a:solidFill>
                <a:sym typeface="Symbol" panose="05050102010706020507" pitchFamily="18" charset="2"/>
              </a:rPr>
              <a:t>24|(</a:t>
            </a:r>
            <a:r>
              <a:rPr lang="en-US" altLang="zh-CN" i="1" dirty="0">
                <a:solidFill>
                  <a:srgbClr val="FF0000"/>
                </a:solidFill>
                <a:sym typeface="Symbol" panose="05050102010706020507" pitchFamily="18" charset="2"/>
              </a:rPr>
              <a:t>n</a:t>
            </a:r>
            <a:r>
              <a:rPr lang="en-US" altLang="zh-CN" baseline="30000" dirty="0">
                <a:solidFill>
                  <a:srgbClr val="FF0000"/>
                </a:solidFill>
                <a:sym typeface="Symbol" panose="05050102010706020507" pitchFamily="18" charset="2"/>
              </a:rPr>
              <a:t>2</a:t>
            </a:r>
            <a:r>
              <a:rPr lang="en-US" altLang="zh-CN" dirty="0">
                <a:solidFill>
                  <a:srgbClr val="FF0000"/>
                </a:solidFill>
                <a:sym typeface="Symbol" panose="05050102010706020507" pitchFamily="18" charset="2"/>
              </a:rPr>
              <a:t>−1)</a:t>
            </a:r>
            <a:r>
              <a:rPr lang="en-US" altLang="zh-CN" dirty="0">
                <a:sym typeface="Symbol" panose="05050102010706020507" pitchFamily="18" charset="2"/>
              </a:rPr>
              <a:t>.</a:t>
            </a:r>
            <a:endParaRPr lang="en-US" altLang="zh-CN" dirty="0">
              <a:sym typeface="Symbol" panose="05050102010706020507" pitchFamily="18" charset="2"/>
            </a:endParaRPr>
          </a:p>
          <a:p>
            <a:pPr lvl="2" eaLnBrk="1" hangingPunct="1"/>
            <a:r>
              <a:rPr lang="en-US" altLang="zh-CN" b="1" dirty="0">
                <a:sym typeface="Symbol" panose="05050102010706020507" pitchFamily="18" charset="2"/>
              </a:rPr>
              <a:t>Case #2:</a:t>
            </a:r>
            <a:r>
              <a:rPr lang="en-US" altLang="zh-CN" dirty="0">
                <a:sym typeface="Symbol" panose="05050102010706020507" pitchFamily="18" charset="2"/>
              </a:rPr>
              <a:t> If </a:t>
            </a:r>
            <a:r>
              <a:rPr lang="en-US" altLang="zh-CN" i="1" dirty="0">
                <a:solidFill>
                  <a:srgbClr val="FF0000"/>
                </a:solidFill>
                <a:sym typeface="Symbol" panose="05050102010706020507" pitchFamily="18" charset="2"/>
              </a:rPr>
              <a:t>n</a:t>
            </a:r>
            <a:r>
              <a:rPr lang="en-US" altLang="zh-CN" dirty="0">
                <a:solidFill>
                  <a:srgbClr val="FF0000"/>
                </a:solidFill>
                <a:sym typeface="Symbol" panose="05050102010706020507" pitchFamily="18" charset="2"/>
              </a:rPr>
              <a:t> mod 6 = 5</a:t>
            </a:r>
            <a:r>
              <a:rPr lang="en-US" altLang="zh-CN" dirty="0">
                <a:sym typeface="Symbol" panose="05050102010706020507" pitchFamily="18" charset="2"/>
              </a:rPr>
              <a:t>, then </a:t>
            </a:r>
            <a:r>
              <a:rPr lang="en-US" altLang="zh-CN" i="1" dirty="0">
                <a:solidFill>
                  <a:srgbClr val="FF0000"/>
                </a:solidFill>
                <a:sym typeface="Symbol" panose="05050102010706020507" pitchFamily="18" charset="2"/>
              </a:rPr>
              <a:t>n</a:t>
            </a:r>
            <a:r>
              <a:rPr lang="en-US" altLang="zh-CN" dirty="0">
                <a:solidFill>
                  <a:srgbClr val="FF0000"/>
                </a:solidFill>
                <a:sym typeface="Symbol" panose="05050102010706020507" pitchFamily="18" charset="2"/>
              </a:rPr>
              <a:t>=6</a:t>
            </a:r>
            <a:r>
              <a:rPr lang="en-US" altLang="zh-CN" i="1" dirty="0">
                <a:solidFill>
                  <a:srgbClr val="FF0000"/>
                </a:solidFill>
                <a:sym typeface="Symbol" panose="05050102010706020507" pitchFamily="18" charset="2"/>
              </a:rPr>
              <a:t>k</a:t>
            </a:r>
            <a:r>
              <a:rPr lang="en-US" altLang="zh-CN" dirty="0">
                <a:solidFill>
                  <a:srgbClr val="FF0000"/>
                </a:solidFill>
                <a:sym typeface="Symbol" panose="05050102010706020507" pitchFamily="18" charset="2"/>
              </a:rPr>
              <a:t>+5</a:t>
            </a:r>
            <a:r>
              <a:rPr lang="en-US" altLang="zh-CN" dirty="0">
                <a:sym typeface="Symbol" panose="05050102010706020507" pitchFamily="18" charset="2"/>
              </a:rPr>
              <a:t>. </a:t>
            </a:r>
            <a:r>
              <a:rPr lang="en-US" altLang="zh-CN" i="1" dirty="0">
                <a:solidFill>
                  <a:srgbClr val="FF0000"/>
                </a:solidFill>
                <a:sym typeface="Symbol" panose="05050102010706020507" pitchFamily="18" charset="2"/>
              </a:rPr>
              <a:t>n</a:t>
            </a:r>
            <a:r>
              <a:rPr lang="en-US" altLang="zh-CN" baseline="30000" dirty="0">
                <a:solidFill>
                  <a:srgbClr val="FF0000"/>
                </a:solidFill>
                <a:sym typeface="Symbol" panose="05050102010706020507" pitchFamily="18" charset="2"/>
              </a:rPr>
              <a:t>2</a:t>
            </a:r>
            <a:r>
              <a:rPr lang="en-US" altLang="zh-CN" dirty="0">
                <a:solidFill>
                  <a:srgbClr val="FF0000"/>
                </a:solidFill>
                <a:sym typeface="Symbol" panose="05050102010706020507" pitchFamily="18" charset="2"/>
              </a:rPr>
              <a:t>−1 = (</a:t>
            </a:r>
            <a:r>
              <a:rPr lang="en-US" altLang="zh-CN" i="1" dirty="0">
                <a:solidFill>
                  <a:srgbClr val="FF0000"/>
                </a:solidFill>
                <a:sym typeface="Symbol" panose="05050102010706020507" pitchFamily="18" charset="2"/>
              </a:rPr>
              <a:t>n</a:t>
            </a:r>
            <a:r>
              <a:rPr lang="en-US" altLang="zh-CN" dirty="0">
                <a:solidFill>
                  <a:srgbClr val="FF0000"/>
                </a:solidFill>
                <a:sym typeface="Symbol" panose="05050102010706020507" pitchFamily="18" charset="2"/>
              </a:rPr>
              <a:t>−1)</a:t>
            </a:r>
            <a:r>
              <a:rPr lang="en-US" altLang="zh-CN" dirty="0">
                <a:solidFill>
                  <a:srgbClr val="FF0000"/>
                </a:solidFill>
                <a:latin typeface="Times New Roman" panose="02020503050405090304" pitchFamily="18" charset="0"/>
                <a:sym typeface="Symbol" panose="05050102010706020507" pitchFamily="18" charset="2"/>
              </a:rPr>
              <a:t>·</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n</a:t>
            </a:r>
            <a:r>
              <a:rPr lang="en-US" altLang="zh-CN" dirty="0">
                <a:solidFill>
                  <a:srgbClr val="FF0000"/>
                </a:solidFill>
                <a:sym typeface="Symbol" panose="05050102010706020507" pitchFamily="18" charset="2"/>
              </a:rPr>
              <a:t>+1) = (6</a:t>
            </a:r>
            <a:r>
              <a:rPr lang="en-US" altLang="zh-CN" i="1" dirty="0">
                <a:solidFill>
                  <a:srgbClr val="FF0000"/>
                </a:solidFill>
                <a:sym typeface="Symbol" panose="05050102010706020507" pitchFamily="18" charset="2"/>
              </a:rPr>
              <a:t>k</a:t>
            </a:r>
            <a:r>
              <a:rPr lang="en-US" altLang="zh-CN" dirty="0">
                <a:solidFill>
                  <a:srgbClr val="FF0000"/>
                </a:solidFill>
                <a:sym typeface="Symbol" panose="05050102010706020507" pitchFamily="18" charset="2"/>
              </a:rPr>
              <a:t>+4)</a:t>
            </a:r>
            <a:r>
              <a:rPr lang="en-US" altLang="zh-CN" dirty="0">
                <a:solidFill>
                  <a:srgbClr val="FF0000"/>
                </a:solidFill>
                <a:latin typeface="Times New Roman" panose="02020503050405090304" pitchFamily="18" charset="0"/>
                <a:sym typeface="Symbol" panose="05050102010706020507" pitchFamily="18" charset="2"/>
              </a:rPr>
              <a:t>·</a:t>
            </a:r>
            <a:r>
              <a:rPr lang="en-US" altLang="zh-CN" dirty="0">
                <a:solidFill>
                  <a:srgbClr val="FF0000"/>
                </a:solidFill>
                <a:sym typeface="Symbol" panose="05050102010706020507" pitchFamily="18" charset="2"/>
              </a:rPr>
              <a:t>(6</a:t>
            </a:r>
            <a:r>
              <a:rPr lang="en-US" altLang="zh-CN" i="1" dirty="0">
                <a:solidFill>
                  <a:srgbClr val="FF0000"/>
                </a:solidFill>
                <a:sym typeface="Symbol" panose="05050102010706020507" pitchFamily="18" charset="2"/>
              </a:rPr>
              <a:t>k</a:t>
            </a:r>
            <a:r>
              <a:rPr lang="en-US" altLang="zh-CN" dirty="0">
                <a:solidFill>
                  <a:srgbClr val="FF0000"/>
                </a:solidFill>
                <a:sym typeface="Symbol" panose="05050102010706020507" pitchFamily="18" charset="2"/>
              </a:rPr>
              <a:t>+6) = 12</a:t>
            </a:r>
            <a:r>
              <a:rPr lang="en-US" altLang="zh-CN" dirty="0">
                <a:solidFill>
                  <a:srgbClr val="FF0000"/>
                </a:solidFill>
                <a:latin typeface="Times New Roman" panose="02020503050405090304" pitchFamily="18" charset="0"/>
                <a:sym typeface="Symbol" panose="05050102010706020507" pitchFamily="18" charset="2"/>
              </a:rPr>
              <a:t>·</a:t>
            </a:r>
            <a:r>
              <a:rPr lang="en-US" altLang="zh-CN" dirty="0">
                <a:solidFill>
                  <a:srgbClr val="FF0000"/>
                </a:solidFill>
                <a:sym typeface="Symbol" panose="05050102010706020507" pitchFamily="18" charset="2"/>
              </a:rPr>
              <a:t>(3</a:t>
            </a:r>
            <a:r>
              <a:rPr lang="en-US" altLang="zh-CN" i="1" dirty="0">
                <a:solidFill>
                  <a:srgbClr val="FF0000"/>
                </a:solidFill>
                <a:sym typeface="Symbol" panose="05050102010706020507" pitchFamily="18" charset="2"/>
              </a:rPr>
              <a:t>k</a:t>
            </a:r>
            <a:r>
              <a:rPr lang="en-US" altLang="zh-CN" dirty="0">
                <a:solidFill>
                  <a:srgbClr val="FF0000"/>
                </a:solidFill>
                <a:sym typeface="Symbol" panose="05050102010706020507" pitchFamily="18" charset="2"/>
              </a:rPr>
              <a:t>+2)</a:t>
            </a:r>
            <a:r>
              <a:rPr lang="en-US" altLang="zh-CN" dirty="0">
                <a:solidFill>
                  <a:srgbClr val="FF0000"/>
                </a:solidFill>
                <a:latin typeface="Times New Roman" panose="02020503050405090304" pitchFamily="18" charset="0"/>
                <a:sym typeface="Symbol" panose="05050102010706020507" pitchFamily="18" charset="2"/>
              </a:rPr>
              <a:t>·</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k</a:t>
            </a:r>
            <a:r>
              <a:rPr lang="en-US" altLang="zh-CN" dirty="0">
                <a:solidFill>
                  <a:srgbClr val="FF0000"/>
                </a:solidFill>
                <a:sym typeface="Symbol" panose="05050102010706020507" pitchFamily="18" charset="2"/>
              </a:rPr>
              <a:t>+1)</a:t>
            </a:r>
            <a:r>
              <a:rPr lang="en-US" altLang="zh-CN" dirty="0">
                <a:sym typeface="Symbol" panose="05050102010706020507" pitchFamily="18" charset="2"/>
              </a:rPr>
              <a:t>.  Either </a:t>
            </a:r>
            <a:r>
              <a:rPr lang="en-US" altLang="zh-CN" i="1" dirty="0">
                <a:solidFill>
                  <a:srgbClr val="FF0000"/>
                </a:solidFill>
                <a:sym typeface="Symbol" panose="05050102010706020507" pitchFamily="18" charset="2"/>
              </a:rPr>
              <a:t>k</a:t>
            </a:r>
            <a:r>
              <a:rPr lang="en-US" altLang="zh-CN" dirty="0">
                <a:solidFill>
                  <a:srgbClr val="FF0000"/>
                </a:solidFill>
                <a:sym typeface="Symbol" panose="05050102010706020507" pitchFamily="18" charset="2"/>
              </a:rPr>
              <a:t>+1</a:t>
            </a:r>
            <a:r>
              <a:rPr lang="en-US" altLang="zh-CN" dirty="0">
                <a:sym typeface="Symbol" panose="05050102010706020507" pitchFamily="18" charset="2"/>
              </a:rPr>
              <a:t> or </a:t>
            </a:r>
            <a:r>
              <a:rPr lang="en-US" altLang="zh-CN" dirty="0">
                <a:solidFill>
                  <a:srgbClr val="FF0000"/>
                </a:solidFill>
                <a:sym typeface="Symbol" panose="05050102010706020507" pitchFamily="18" charset="2"/>
              </a:rPr>
              <a:t>3</a:t>
            </a:r>
            <a:r>
              <a:rPr lang="en-US" altLang="zh-CN" i="1" dirty="0">
                <a:solidFill>
                  <a:srgbClr val="FF0000"/>
                </a:solidFill>
                <a:sym typeface="Symbol" panose="05050102010706020507" pitchFamily="18" charset="2"/>
              </a:rPr>
              <a:t>k</a:t>
            </a:r>
            <a:r>
              <a:rPr lang="en-US" altLang="zh-CN" dirty="0">
                <a:solidFill>
                  <a:srgbClr val="FF0000"/>
                </a:solidFill>
                <a:sym typeface="Symbol" panose="05050102010706020507" pitchFamily="18" charset="2"/>
              </a:rPr>
              <a:t>+2</a:t>
            </a:r>
            <a:r>
              <a:rPr lang="en-US" altLang="zh-CN" dirty="0">
                <a:sym typeface="Symbol" panose="05050102010706020507" pitchFamily="18" charset="2"/>
              </a:rPr>
              <a:t> is even.  Thus, </a:t>
            </a:r>
            <a:r>
              <a:rPr lang="en-US" altLang="zh-CN" dirty="0">
                <a:solidFill>
                  <a:srgbClr val="FF0000"/>
                </a:solidFill>
                <a:sym typeface="Symbol" panose="05050102010706020507" pitchFamily="18" charset="2"/>
              </a:rPr>
              <a:t>24|(</a:t>
            </a:r>
            <a:r>
              <a:rPr lang="en-US" altLang="zh-CN" i="1" dirty="0">
                <a:solidFill>
                  <a:srgbClr val="FF0000"/>
                </a:solidFill>
                <a:sym typeface="Symbol" panose="05050102010706020507" pitchFamily="18" charset="2"/>
              </a:rPr>
              <a:t>n</a:t>
            </a:r>
            <a:r>
              <a:rPr lang="en-US" altLang="zh-CN" baseline="30000" dirty="0">
                <a:solidFill>
                  <a:srgbClr val="FF0000"/>
                </a:solidFill>
                <a:sym typeface="Symbol" panose="05050102010706020507" pitchFamily="18" charset="2"/>
              </a:rPr>
              <a:t>2</a:t>
            </a:r>
            <a:r>
              <a:rPr lang="en-US" altLang="zh-CN" dirty="0">
                <a:solidFill>
                  <a:srgbClr val="FF0000"/>
                </a:solidFill>
                <a:sym typeface="Symbol" panose="05050102010706020507" pitchFamily="18" charset="2"/>
              </a:rPr>
              <a:t>−1)</a:t>
            </a:r>
            <a:r>
              <a:rPr lang="en-US" altLang="zh-CN" dirty="0">
                <a:sym typeface="Symbol" panose="05050102010706020507" pitchFamily="18" charset="2"/>
              </a:rPr>
              <a:t>.</a:t>
            </a:r>
            <a:endParaRPr lang="en-US" altLang="zh-CN" b="1" dirty="0">
              <a:sym typeface="Symbol" panose="05050102010706020507" pitchFamily="18" charset="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457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458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24581" name="Rectangle 2"/>
          <p:cNvSpPr>
            <a:spLocks noGrp="1"/>
          </p:cNvSpPr>
          <p:nvPr>
            <p:ph type="title"/>
          </p:nvPr>
        </p:nvSpPr>
        <p:spPr/>
        <p:txBody>
          <a:bodyPr vert="horz" wrap="square" lIns="91440" tIns="45720" rIns="91440" bIns="45720" anchor="b" anchorCtr="0"/>
          <a:p>
            <a:pPr eaLnBrk="1" hangingPunct="1"/>
            <a:r>
              <a:rPr lang="en-US" altLang="zh-CN" dirty="0"/>
              <a:t>Exhaustive Proof </a:t>
            </a:r>
            <a:endParaRPr lang="zh-CN" altLang="en-US" dirty="0"/>
          </a:p>
        </p:txBody>
      </p:sp>
      <p:sp>
        <p:nvSpPr>
          <p:cNvPr id="24582"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cs typeface="Times New Roman" panose="02020503050405090304" pitchFamily="18" charset="0"/>
              </a:rPr>
              <a:t>Example 2    </a:t>
            </a:r>
            <a:endParaRPr lang="en-US" altLang="zh-CN" dirty="0">
              <a:latin typeface="Times New Roman" panose="02020503050405090304" pitchFamily="18" charset="0"/>
              <a:cs typeface="Times New Roman" panose="02020503050405090304" pitchFamily="18" charset="0"/>
            </a:endParaRPr>
          </a:p>
          <a:p>
            <a:pPr eaLnBrk="1" hangingPunct="1"/>
            <a:r>
              <a:rPr lang="en-US" altLang="zh-CN" dirty="0">
                <a:latin typeface="Times New Roman" panose="02020503050405090304" pitchFamily="18" charset="0"/>
                <a:cs typeface="Times New Roman" panose="02020503050405090304" pitchFamily="18" charset="0"/>
              </a:rPr>
              <a:t>Prove that the only consecutive positive integers not exceeding 100 that are perfect powers are 8 and 9. </a:t>
            </a:r>
            <a:endParaRPr lang="en-US" altLang="zh-CN" dirty="0">
              <a:latin typeface="Times New Roman" panose="02020503050405090304" pitchFamily="18" charset="0"/>
              <a:cs typeface="Times New Roman" panose="02020503050405090304" pitchFamily="18" charset="0"/>
            </a:endParaRPr>
          </a:p>
          <a:p>
            <a:pPr lvl="1"/>
            <a:r>
              <a:rPr lang="en-US" altLang="zh-CN" dirty="0">
                <a:latin typeface="Times New Roman" panose="02020503050405090304" pitchFamily="18" charset="0"/>
                <a:cs typeface="Times New Roman" panose="02020503050405090304" pitchFamily="18" charset="0"/>
              </a:rPr>
              <a:t>An integer is a perfect power if it equals </a:t>
            </a:r>
            <a:r>
              <a:rPr lang="en-US" altLang="zh-CN" i="1" dirty="0">
                <a:latin typeface="Times New Roman" panose="02020503050405090304" pitchFamily="18" charset="0"/>
                <a:cs typeface="Times New Roman" panose="02020503050405090304" pitchFamily="18" charset="0"/>
              </a:rPr>
              <a:t>n</a:t>
            </a:r>
            <a:r>
              <a:rPr lang="en-US" altLang="zh-CN" i="1" baseline="30000" dirty="0">
                <a:latin typeface="Times New Roman" panose="02020503050405090304" pitchFamily="18" charset="0"/>
                <a:cs typeface="Times New Roman" panose="02020503050405090304" pitchFamily="18" charset="0"/>
              </a:rPr>
              <a:t>a</a:t>
            </a:r>
            <a:r>
              <a:rPr lang="en-US" altLang="zh-CN" dirty="0">
                <a:latin typeface="Times New Roman" panose="02020503050405090304" pitchFamily="18" charset="0"/>
                <a:cs typeface="Times New Roman" panose="02020503050405090304" pitchFamily="18" charset="0"/>
              </a:rPr>
              <a:t>, where </a:t>
            </a:r>
            <a:r>
              <a:rPr lang="en-US" altLang="zh-CN" i="1" dirty="0">
                <a:latin typeface="Times New Roman" panose="02020503050405090304" pitchFamily="18" charset="0"/>
                <a:cs typeface="Times New Roman" panose="02020503050405090304" pitchFamily="18" charset="0"/>
              </a:rPr>
              <a:t>a</a:t>
            </a:r>
            <a:r>
              <a:rPr lang="en-US" altLang="zh-CN" dirty="0">
                <a:latin typeface="Times New Roman" panose="02020503050405090304" pitchFamily="18" charset="0"/>
                <a:cs typeface="Times New Roman" panose="02020503050405090304" pitchFamily="18" charset="0"/>
              </a:rPr>
              <a:t> is an integer greater than 1.)</a:t>
            </a:r>
            <a:endParaRPr lang="en-US" altLang="zh-CN"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
          <p:cNvSpPr>
            <a:spLocks noGrp="1"/>
          </p:cNvSpPr>
          <p:nvPr>
            <p:ph type="title"/>
          </p:nvPr>
        </p:nvSpPr>
        <p:spPr/>
        <p:txBody>
          <a:bodyPr vert="horz" wrap="square" lIns="91440" tIns="45720" rIns="91440" bIns="45720" anchor="b" anchorCtr="0"/>
          <a:p>
            <a:r>
              <a:rPr lang="en-US" altLang="zh-CN" dirty="0"/>
              <a:t>Solution</a:t>
            </a:r>
            <a:endParaRPr lang="zh-CN" altLang="en-US" dirty="0"/>
          </a:p>
        </p:txBody>
      </p:sp>
      <p:sp>
        <p:nvSpPr>
          <p:cNvPr id="26627" name="内容占位符 2"/>
          <p:cNvSpPr>
            <a:spLocks noGrp="1"/>
          </p:cNvSpPr>
          <p:nvPr>
            <p:ph idx="1"/>
          </p:nvPr>
        </p:nvSpPr>
        <p:spPr>
          <a:xfrm>
            <a:off x="179705" y="1484630"/>
            <a:ext cx="9144000" cy="4114800"/>
          </a:xfrm>
        </p:spPr>
        <p:txBody>
          <a:bodyPr vert="horz" wrap="square" lIns="91440" tIns="45720" rIns="91440" bIns="45720" anchor="t" anchorCtr="0"/>
          <a:p>
            <a:r>
              <a:rPr lang="en-US" altLang="zh-CN" dirty="0"/>
              <a:t>We use a proof by exhaustion. </a:t>
            </a:r>
            <a:endParaRPr lang="en-US" altLang="zh-CN" dirty="0"/>
          </a:p>
          <a:p>
            <a:pPr lvl="1"/>
            <a:r>
              <a:rPr lang="en-US" altLang="zh-CN" sz="2000" dirty="0">
                <a:latin typeface="Times New Roman" panose="02020503050405090304" pitchFamily="18" charset="0"/>
              </a:rPr>
              <a:t>look at all perfect powers not exceeding 100 and checking whether the next largest integer is also a perfect power.</a:t>
            </a:r>
            <a:endParaRPr lang="en-US" altLang="zh-CN" sz="2000" dirty="0">
              <a:latin typeface="Times New Roman" panose="02020503050405090304" pitchFamily="18" charset="0"/>
            </a:endParaRPr>
          </a:p>
          <a:p>
            <a:pPr lvl="1"/>
            <a:r>
              <a:rPr lang="en-US" altLang="zh-CN" sz="2000" dirty="0">
                <a:latin typeface="Times New Roman" panose="02020503050405090304" pitchFamily="18" charset="0"/>
              </a:rPr>
              <a:t> The squares of positive integers: 1, 4, 9, 16, 25, 36, 49, 64, 81, and 100. </a:t>
            </a:r>
            <a:endParaRPr lang="en-US" altLang="zh-CN" sz="2000" dirty="0">
              <a:latin typeface="Times New Roman" panose="02020503050405090304" pitchFamily="18" charset="0"/>
            </a:endParaRPr>
          </a:p>
          <a:p>
            <a:pPr lvl="1"/>
            <a:r>
              <a:rPr lang="en-US" altLang="zh-CN" sz="2000" dirty="0">
                <a:latin typeface="Times New Roman" panose="02020503050405090304" pitchFamily="18" charset="0"/>
              </a:rPr>
              <a:t>The cubes of positive integers: 1, 8, 27, and 64.</a:t>
            </a:r>
            <a:endParaRPr lang="en-US" altLang="zh-CN" sz="2000" dirty="0">
              <a:latin typeface="Times New Roman" panose="02020503050405090304" pitchFamily="18" charset="0"/>
            </a:endParaRPr>
          </a:p>
          <a:p>
            <a:pPr lvl="1"/>
            <a:r>
              <a:rPr lang="en-US" altLang="zh-CN" sz="2000" dirty="0">
                <a:latin typeface="Times New Roman" panose="02020503050405090304" pitchFamily="18" charset="0"/>
              </a:rPr>
              <a:t> The fourth powers of positive integers: 1, 16, and 81. </a:t>
            </a:r>
            <a:endParaRPr lang="en-US" altLang="zh-CN" sz="2000" dirty="0">
              <a:latin typeface="Times New Roman" panose="02020503050405090304" pitchFamily="18" charset="0"/>
            </a:endParaRPr>
          </a:p>
          <a:p>
            <a:pPr lvl="1"/>
            <a:r>
              <a:rPr lang="en-US" altLang="zh-CN" sz="2000" dirty="0">
                <a:latin typeface="Times New Roman" panose="02020503050405090304" pitchFamily="18" charset="0"/>
              </a:rPr>
              <a:t>The fifth powers of positive integers : 1 and 32. </a:t>
            </a:r>
            <a:endParaRPr lang="en-US" altLang="zh-CN" sz="2000" dirty="0">
              <a:latin typeface="Times New Roman" panose="02020503050405090304" pitchFamily="18" charset="0"/>
            </a:endParaRPr>
          </a:p>
          <a:p>
            <a:pPr lvl="1"/>
            <a:r>
              <a:rPr lang="en-US" altLang="zh-CN" sz="2000" dirty="0">
                <a:latin typeface="Times New Roman" panose="02020503050405090304" pitchFamily="18" charset="0"/>
              </a:rPr>
              <a:t>The sixth powers of positive integers: 1 and 64. </a:t>
            </a:r>
            <a:endParaRPr lang="en-US" altLang="zh-CN" sz="2000" dirty="0">
              <a:latin typeface="Times New Roman" panose="02020503050405090304" pitchFamily="18" charset="0"/>
            </a:endParaRPr>
          </a:p>
          <a:p>
            <a:pPr lvl="1"/>
            <a:r>
              <a:rPr lang="en-US" altLang="zh-CN" sz="2000" dirty="0">
                <a:latin typeface="Times New Roman" panose="02020503050405090304" pitchFamily="18" charset="0"/>
              </a:rPr>
              <a:t>There are no powers of positive integers higher than the sixth power not exceeding 100, other than 1. </a:t>
            </a:r>
            <a:endParaRPr lang="en-US" altLang="zh-CN" sz="2000" dirty="0">
              <a:latin typeface="Times New Roman" panose="02020503050405090304" pitchFamily="18" charset="0"/>
            </a:endParaRPr>
          </a:p>
          <a:p>
            <a:pPr lvl="1"/>
            <a:r>
              <a:rPr lang="en-US" altLang="zh-CN" sz="2000" dirty="0">
                <a:latin typeface="Times New Roman" panose="02020503050405090304" pitchFamily="18" charset="0"/>
              </a:rPr>
              <a:t>Looking at this list of perfect powers not exceeding 100, we see that n = 8 is the only perfect power n for which n + 1 is also a perfect power. That is, 2</a:t>
            </a:r>
            <a:r>
              <a:rPr lang="en-US" altLang="zh-CN" sz="2000" baseline="30000" dirty="0">
                <a:latin typeface="Times New Roman" panose="02020503050405090304" pitchFamily="18" charset="0"/>
              </a:rPr>
              <a:t>3</a:t>
            </a:r>
            <a:r>
              <a:rPr lang="en-US" altLang="zh-CN" sz="2000" dirty="0">
                <a:latin typeface="Times New Roman" panose="02020503050405090304" pitchFamily="18" charset="0"/>
              </a:rPr>
              <a:t> = 8 and 3</a:t>
            </a:r>
            <a:r>
              <a:rPr lang="en-US" altLang="zh-CN" sz="2000" baseline="30000" dirty="0">
                <a:latin typeface="Times New Roman" panose="02020503050405090304" pitchFamily="18" charset="0"/>
              </a:rPr>
              <a:t>2</a:t>
            </a:r>
            <a:r>
              <a:rPr lang="en-US" altLang="zh-CN" sz="2000" dirty="0">
                <a:latin typeface="Times New Roman" panose="02020503050405090304" pitchFamily="18" charset="0"/>
              </a:rPr>
              <a:t> = 9 are the only two consecutive perfect powers not exceeding 100.</a:t>
            </a:r>
            <a:endParaRPr lang="en-US" altLang="zh-CN" sz="2000" dirty="0">
              <a:latin typeface="Times New Roman" panose="02020503050405090304" pitchFamily="18" charset="0"/>
            </a:endParaRPr>
          </a:p>
        </p:txBody>
      </p:sp>
      <p:sp>
        <p:nvSpPr>
          <p:cNvPr id="2662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662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663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765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765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27653" name="Rectangle 2"/>
          <p:cNvSpPr>
            <a:spLocks noGrp="1"/>
          </p:cNvSpPr>
          <p:nvPr>
            <p:ph type="title"/>
          </p:nvPr>
        </p:nvSpPr>
        <p:spPr/>
        <p:txBody>
          <a:bodyPr vert="horz" wrap="square" lIns="91440" tIns="45720" rIns="91440" bIns="45720" anchor="b" anchorCtr="0"/>
          <a:p>
            <a:pPr eaLnBrk="1" hangingPunct="1"/>
            <a:r>
              <a:rPr lang="en-US" altLang="zh-CN" dirty="0"/>
              <a:t>Proof by Examples?</a:t>
            </a:r>
            <a:endParaRPr lang="en-US" altLang="zh-CN" dirty="0"/>
          </a:p>
        </p:txBody>
      </p:sp>
      <p:sp>
        <p:nvSpPr>
          <p:cNvPr id="27654" name="Rectangle 3"/>
          <p:cNvSpPr>
            <a:spLocks noGrp="1"/>
          </p:cNvSpPr>
          <p:nvPr>
            <p:ph idx="1"/>
          </p:nvPr>
        </p:nvSpPr>
        <p:spPr>
          <a:xfrm>
            <a:off x="828040" y="1340168"/>
            <a:ext cx="7772400" cy="4114800"/>
          </a:xfrm>
        </p:spPr>
        <p:txBody>
          <a:bodyPr vert="horz" wrap="square" lIns="91440" tIns="45720" rIns="91440" bIns="45720" anchor="t" anchorCtr="0"/>
          <a:p>
            <a:pPr eaLnBrk="1" hangingPunct="1">
              <a:lnSpc>
                <a:spcPct val="90000"/>
              </a:lnSpc>
            </a:pPr>
            <a:r>
              <a:rPr lang="en-US" altLang="zh-CN" dirty="0">
                <a:latin typeface="Times New Roman" panose="02020503050405090304" pitchFamily="18" charset="0"/>
                <a:cs typeface="Times New Roman" panose="02020503050405090304" pitchFamily="18" charset="0"/>
              </a:rPr>
              <a:t>A universal statement can </a:t>
            </a:r>
            <a:r>
              <a:rPr lang="en-US" altLang="zh-CN" u="sng" dirty="0">
                <a:latin typeface="Times New Roman" panose="02020503050405090304" pitchFamily="18" charset="0"/>
                <a:cs typeface="Times New Roman" panose="02020503050405090304" pitchFamily="18" charset="0"/>
              </a:rPr>
              <a:t>never</a:t>
            </a:r>
            <a:r>
              <a:rPr lang="en-US" altLang="zh-CN" dirty="0">
                <a:latin typeface="Times New Roman" panose="02020503050405090304" pitchFamily="18" charset="0"/>
                <a:cs typeface="Times New Roman" panose="02020503050405090304" pitchFamily="18" charset="0"/>
              </a:rPr>
              <a:t> be proven by using examples, </a:t>
            </a:r>
            <a:r>
              <a:rPr lang="en-US" altLang="zh-CN" u="sng" dirty="0">
                <a:latin typeface="Times New Roman" panose="02020503050405090304" pitchFamily="18" charset="0"/>
                <a:cs typeface="Times New Roman" panose="02020503050405090304" pitchFamily="18" charset="0"/>
              </a:rPr>
              <a:t>unless</a:t>
            </a:r>
            <a:r>
              <a:rPr lang="en-US" altLang="zh-CN" dirty="0">
                <a:latin typeface="Times New Roman" panose="02020503050405090304" pitchFamily="18" charset="0"/>
                <a:cs typeface="Times New Roman" panose="02020503050405090304" pitchFamily="18" charset="0"/>
              </a:rPr>
              <a:t> the universe can be validly reduced to only </a:t>
            </a:r>
            <a:r>
              <a:rPr lang="en-US" altLang="zh-CN" u="sng" dirty="0">
                <a:latin typeface="Times New Roman" panose="02020503050405090304" pitchFamily="18" charset="0"/>
                <a:cs typeface="Times New Roman" panose="02020503050405090304" pitchFamily="18" charset="0"/>
              </a:rPr>
              <a:t>finitely</a:t>
            </a:r>
            <a:r>
              <a:rPr lang="en-US" altLang="zh-CN" dirty="0">
                <a:latin typeface="Times New Roman" panose="02020503050405090304" pitchFamily="18" charset="0"/>
                <a:cs typeface="Times New Roman" panose="02020503050405090304" pitchFamily="18" charset="0"/>
              </a:rPr>
              <a:t> many examples, and your proof covers </a:t>
            </a:r>
            <a:r>
              <a:rPr lang="en-US" altLang="zh-CN" u="sng" dirty="0">
                <a:latin typeface="Times New Roman" panose="02020503050405090304" pitchFamily="18" charset="0"/>
                <a:cs typeface="Times New Roman" panose="02020503050405090304" pitchFamily="18" charset="0"/>
              </a:rPr>
              <a:t>all</a:t>
            </a:r>
            <a:r>
              <a:rPr lang="en-US" altLang="zh-CN" dirty="0">
                <a:latin typeface="Times New Roman" panose="02020503050405090304" pitchFamily="18" charset="0"/>
                <a:cs typeface="Times New Roman" panose="02020503050405090304" pitchFamily="18" charset="0"/>
              </a:rPr>
              <a:t> of them!</a:t>
            </a:r>
            <a:endParaRPr lang="en-US" altLang="zh-CN" dirty="0">
              <a:latin typeface="Times New Roman" panose="02020503050405090304" pitchFamily="18" charset="0"/>
              <a:cs typeface="Times New Roman" panose="02020503050405090304" pitchFamily="18" charset="0"/>
            </a:endParaRPr>
          </a:p>
          <a:p>
            <a:pPr eaLnBrk="1" hangingPunct="1">
              <a:lnSpc>
                <a:spcPct val="90000"/>
              </a:lnSpc>
            </a:pPr>
            <a:r>
              <a:rPr lang="en-US" altLang="zh-CN" b="1" dirty="0">
                <a:latin typeface="Times New Roman" panose="02020503050405090304" pitchFamily="18" charset="0"/>
                <a:cs typeface="Times New Roman" panose="02020503050405090304" pitchFamily="18" charset="0"/>
              </a:rPr>
              <a:t>Theorem:</a:t>
            </a:r>
            <a:r>
              <a:rPr lang="en-US" altLang="zh-CN" dirty="0">
                <a:latin typeface="Times New Roman" panose="02020503050405090304" pitchFamily="18" charset="0"/>
                <a:cs typeface="Times New Roman" panose="02020503050405090304" pitchFamily="18" charset="0"/>
              </a:rPr>
              <a:t> </a:t>
            </a:r>
            <a:r>
              <a:rPr lang="en-US" altLang="zh-CN" dirty="0">
                <a:solidFill>
                  <a:srgbClr val="FF0000"/>
                </a:solidFill>
                <a:latin typeface="Times New Roman" panose="02020503050405090304" pitchFamily="18" charset="0"/>
                <a:cs typeface="Times New Roman" panose="02020503050405090304" pitchFamily="18" charset="0"/>
              </a:rPr>
              <a:t>¬</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x,y</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b="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Z</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x</a:t>
            </a:r>
            <a:r>
              <a:rPr lang="en-US" altLang="zh-CN" baseline="300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2</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+3</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y</a:t>
            </a:r>
            <a:r>
              <a:rPr lang="en-US" altLang="zh-CN" baseline="300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2</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 8</a:t>
            </a:r>
            <a:r>
              <a:rPr lang="en-US" altLang="zh-CN" dirty="0">
                <a:latin typeface="Times New Roman" panose="02020503050405090304" pitchFamily="18" charset="0"/>
                <a:cs typeface="Times New Roman" panose="02020503050405090304" pitchFamily="18" charset="0"/>
                <a:sym typeface="Symbol" panose="05050102010706020507" pitchFamily="18" charset="2"/>
              </a:rPr>
              <a:t>.</a:t>
            </a:r>
            <a:endParaRPr lang="en-US" altLang="zh-CN" dirty="0">
              <a:latin typeface="Times New Roman" panose="02020503050405090304" pitchFamily="18" charset="0"/>
              <a:cs typeface="Times New Roman" panose="02020503050405090304" pitchFamily="18" charset="0"/>
              <a:sym typeface="Symbol" panose="05050102010706020507" pitchFamily="18" charset="2"/>
            </a:endParaRPr>
          </a:p>
          <a:p>
            <a:pPr lvl="1" eaLnBrk="1" hangingPunct="1">
              <a:lnSpc>
                <a:spcPct val="90000"/>
              </a:lnSpc>
            </a:pPr>
            <a:r>
              <a:rPr lang="en-US" altLang="zh-CN" b="1" dirty="0">
                <a:latin typeface="Times New Roman" panose="02020503050405090304" pitchFamily="18" charset="0"/>
                <a:cs typeface="Times New Roman" panose="02020503050405090304" pitchFamily="18" charset="0"/>
                <a:sym typeface="Symbol" panose="05050102010706020507" pitchFamily="18" charset="2"/>
              </a:rPr>
              <a:t>Proof:</a:t>
            </a:r>
            <a:r>
              <a:rPr lang="en-US" altLang="zh-CN" dirty="0">
                <a:latin typeface="Times New Roman" panose="02020503050405090304" pitchFamily="18" charset="0"/>
                <a:cs typeface="Times New Roman" panose="02020503050405090304" pitchFamily="18" charset="0"/>
                <a:sym typeface="Symbol" panose="05050102010706020507" pitchFamily="18" charset="2"/>
              </a:rPr>
              <a:t> </a:t>
            </a:r>
            <a:endParaRPr lang="en-US" altLang="zh-CN" dirty="0">
              <a:latin typeface="Times New Roman" panose="02020503050405090304" pitchFamily="18" charset="0"/>
              <a:cs typeface="Times New Roman" panose="02020503050405090304" pitchFamily="18" charset="0"/>
              <a:sym typeface="Symbol" panose="05050102010706020507" pitchFamily="18" charset="2"/>
            </a:endParaRPr>
          </a:p>
          <a:p>
            <a:pPr lvl="1" eaLnBrk="1" hangingPunct="1">
              <a:lnSpc>
                <a:spcPct val="90000"/>
              </a:lnSpc>
            </a:pPr>
            <a:r>
              <a:rPr lang="en-US" altLang="zh-CN" dirty="0">
                <a:latin typeface="Times New Roman" panose="02020503050405090304" pitchFamily="18" charset="0"/>
                <a:cs typeface="Times New Roman" panose="02020503050405090304" pitchFamily="18" charset="0"/>
                <a:sym typeface="Symbol" panose="05050102010706020507" pitchFamily="18" charset="2"/>
              </a:rPr>
              <a:t>If </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x</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|≥3</a:t>
            </a:r>
            <a:r>
              <a:rPr lang="en-US" altLang="zh-CN" dirty="0">
                <a:latin typeface="Times New Roman" panose="02020503050405090304" pitchFamily="18" charset="0"/>
                <a:cs typeface="Times New Roman" panose="02020503050405090304" pitchFamily="18" charset="0"/>
                <a:sym typeface="Symbol" panose="05050102010706020507" pitchFamily="18" charset="2"/>
              </a:rPr>
              <a:t> or </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y</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|≥2</a:t>
            </a:r>
            <a:r>
              <a:rPr lang="en-US" altLang="zh-CN" dirty="0">
                <a:latin typeface="Times New Roman" panose="02020503050405090304" pitchFamily="18" charset="0"/>
                <a:cs typeface="Times New Roman" panose="02020503050405090304" pitchFamily="18" charset="0"/>
                <a:sym typeface="Symbol" panose="05050102010706020507" pitchFamily="18" charset="2"/>
              </a:rPr>
              <a:t> then </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x</a:t>
            </a:r>
            <a:r>
              <a:rPr lang="en-US" altLang="zh-CN" baseline="300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2</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+3</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y</a:t>
            </a:r>
            <a:r>
              <a:rPr lang="en-US" altLang="zh-CN" baseline="300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2</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&gt;8</a:t>
            </a:r>
            <a:r>
              <a:rPr lang="en-US" altLang="zh-CN" dirty="0">
                <a:latin typeface="Times New Roman" panose="02020503050405090304" pitchFamily="18" charset="0"/>
                <a:cs typeface="Times New Roman" panose="02020503050405090304" pitchFamily="18" charset="0"/>
                <a:sym typeface="Symbol" panose="05050102010706020507" pitchFamily="18" charset="2"/>
              </a:rPr>
              <a:t>. </a:t>
            </a:r>
            <a:endParaRPr lang="en-US" altLang="zh-CN" dirty="0">
              <a:latin typeface="Times New Roman" panose="02020503050405090304" pitchFamily="18" charset="0"/>
              <a:cs typeface="Times New Roman" panose="02020503050405090304" pitchFamily="18" charset="0"/>
              <a:sym typeface="Symbol" panose="05050102010706020507" pitchFamily="18" charset="2"/>
            </a:endParaRPr>
          </a:p>
          <a:p>
            <a:pPr lvl="1" eaLnBrk="1" hangingPunct="1">
              <a:lnSpc>
                <a:spcPct val="90000"/>
              </a:lnSpc>
            </a:pPr>
            <a:r>
              <a:rPr lang="en-US" altLang="zh-CN" dirty="0">
                <a:latin typeface="Times New Roman" panose="02020503050405090304" pitchFamily="18" charset="0"/>
                <a:cs typeface="Times New Roman" panose="02020503050405090304" pitchFamily="18" charset="0"/>
                <a:sym typeface="Symbol" panose="05050102010706020507" pitchFamily="18" charset="2"/>
              </a:rPr>
              <a:t>This leaves </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x</a:t>
            </a:r>
            <a:r>
              <a:rPr lang="en-US" altLang="zh-CN" baseline="300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2</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{0,1,4}</a:t>
            </a:r>
            <a:r>
              <a:rPr lang="en-US" altLang="zh-CN" dirty="0">
                <a:latin typeface="Times New Roman" panose="02020503050405090304" pitchFamily="18" charset="0"/>
                <a:cs typeface="Times New Roman" panose="02020503050405090304" pitchFamily="18" charset="0"/>
                <a:sym typeface="Symbol" panose="05050102010706020507" pitchFamily="18" charset="2"/>
              </a:rPr>
              <a:t> and </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3</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y</a:t>
            </a:r>
            <a:r>
              <a:rPr lang="en-US" altLang="zh-CN" baseline="300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2</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{0,3}</a:t>
            </a:r>
            <a:r>
              <a:rPr lang="en-US" altLang="zh-CN" dirty="0">
                <a:latin typeface="Times New Roman" panose="02020503050405090304" pitchFamily="18" charset="0"/>
                <a:cs typeface="Times New Roman" panose="02020503050405090304" pitchFamily="18" charset="0"/>
                <a:sym typeface="Symbol" panose="05050102010706020507" pitchFamily="18" charset="2"/>
              </a:rPr>
              <a:t>.</a:t>
            </a:r>
            <a:endParaRPr lang="en-US" altLang="zh-CN" dirty="0">
              <a:latin typeface="Times New Roman" panose="02020503050405090304" pitchFamily="18" charset="0"/>
              <a:cs typeface="Times New Roman" panose="02020503050405090304" pitchFamily="18" charset="0"/>
              <a:sym typeface="Symbol" panose="05050102010706020507" pitchFamily="18" charset="2"/>
            </a:endParaRPr>
          </a:p>
          <a:p>
            <a:pPr lvl="1" eaLnBrk="1" hangingPunct="1">
              <a:lnSpc>
                <a:spcPct val="90000"/>
              </a:lnSpc>
            </a:pPr>
            <a:r>
              <a:rPr lang="en-US" altLang="zh-CN" dirty="0">
                <a:latin typeface="Times New Roman" panose="02020503050405090304" pitchFamily="18" charset="0"/>
                <a:cs typeface="Times New Roman" panose="02020503050405090304" pitchFamily="18" charset="0"/>
                <a:sym typeface="Symbol" panose="05050102010706020507" pitchFamily="18" charset="2"/>
              </a:rPr>
              <a:t>The largest pair sum to </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4+3 = 7 &lt; 8</a:t>
            </a:r>
            <a:r>
              <a:rPr lang="en-US" altLang="zh-CN" dirty="0">
                <a:latin typeface="Times New Roman" panose="02020503050405090304" pitchFamily="18" charset="0"/>
                <a:cs typeface="Times New Roman" panose="02020503050405090304" pitchFamily="18" charset="0"/>
                <a:sym typeface="Symbol" panose="05050102010706020507" pitchFamily="18" charset="2"/>
              </a:rPr>
              <a:t>.</a:t>
            </a:r>
            <a:endParaRPr lang="en-US" altLang="zh-CN" dirty="0">
              <a:latin typeface="Times New Roman" panose="02020503050405090304" pitchFamily="18" charset="0"/>
              <a:cs typeface="Times New Roman" panose="02020503050405090304" pitchFamily="18" charset="0"/>
              <a:sym typeface="Symbol" panose="05050102010706020507" pitchFamily="18" charset="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867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867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28677" name="Rectangle 2"/>
          <p:cNvSpPr>
            <a:spLocks noGrp="1"/>
          </p:cNvSpPr>
          <p:nvPr>
            <p:ph type="title"/>
          </p:nvPr>
        </p:nvSpPr>
        <p:spPr/>
        <p:txBody>
          <a:bodyPr vert="horz" wrap="square" lIns="91440" tIns="45720" rIns="91440" bIns="45720" anchor="b" anchorCtr="0"/>
          <a:p>
            <a:pPr eaLnBrk="1" hangingPunct="1"/>
            <a:r>
              <a:rPr lang="en-US" altLang="zh-CN" dirty="0"/>
              <a:t>Without Loss of generality</a:t>
            </a:r>
            <a:endParaRPr lang="en-US" altLang="zh-CN" dirty="0"/>
          </a:p>
        </p:txBody>
      </p:sp>
      <p:sp>
        <p:nvSpPr>
          <p:cNvPr id="26630" name="Rectangle 3"/>
          <p:cNvSpPr>
            <a:spLocks noGrp="1" noChangeArrowheads="1"/>
          </p:cNvSpPr>
          <p:nvPr>
            <p:ph idx="1"/>
          </p:nvPr>
        </p:nvSpPr>
        <p:spPr>
          <a:xfrm>
            <a:off x="252095" y="1412875"/>
            <a:ext cx="9144000" cy="4114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Example 7   </a:t>
            </a:r>
            <a:endPar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Show that if </a:t>
            </a:r>
            <a:r>
              <a:rPr kumimoji="1" lang="en-US" altLang="zh-CN" sz="28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x</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and </a:t>
            </a:r>
            <a:r>
              <a:rPr kumimoji="1" lang="en-US" altLang="zh-CN" sz="28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y</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are integers and both </a:t>
            </a:r>
            <a:r>
              <a:rPr kumimoji="1" lang="en-US" altLang="zh-CN" sz="28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xy</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and </a:t>
            </a:r>
            <a:r>
              <a:rPr kumimoji="1" lang="en-US" altLang="zh-CN" sz="28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x</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 </a:t>
            </a:r>
            <a:r>
              <a:rPr kumimoji="1" lang="en-US" altLang="zh-CN" sz="28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y</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are even, then both </a:t>
            </a:r>
            <a:r>
              <a:rPr kumimoji="1" lang="en-US" altLang="zh-CN" sz="28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x</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and </a:t>
            </a:r>
            <a:r>
              <a:rPr kumimoji="1" lang="en-US" altLang="zh-CN" sz="28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y</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are even.</a:t>
            </a:r>
            <a:endPar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proof by contraposition, the notion of without loss of generality, and proof</a:t>
            </a:r>
            <a:r>
              <a:rPr kumimoji="1" lang="zh-CN" altLang="en-US"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by cases. </a:t>
            </a:r>
            <a:endPar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1143000" marR="0" lvl="2" indent="-228600" algn="l" defTabSz="914400" rtl="0" eaLnBrk="0" fontAlgn="base" latinLnBrk="0" hangingPunct="0">
              <a:lnSpc>
                <a:spcPct val="100000"/>
              </a:lnSpc>
              <a:spcBef>
                <a:spcPct val="20000"/>
              </a:spcBef>
              <a:spcAft>
                <a:spcPct val="0"/>
              </a:spcAft>
              <a:buClr>
                <a:schemeClr val="folHlink"/>
              </a:buClr>
              <a:buSzPct val="50000"/>
              <a:buFont typeface="Wingdings" panose="05000000000000000000" pitchFamily="2" charset="2"/>
              <a:buChar char="n"/>
              <a:defRPr/>
            </a:pP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suppose that </a:t>
            </a:r>
            <a:r>
              <a:rPr kumimoji="1" lang="en-US" altLang="zh-CN" sz="24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x</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and </a:t>
            </a:r>
            <a:r>
              <a:rPr kumimoji="1" lang="en-US" altLang="zh-CN" sz="24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y</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are not both even. That is, assume that </a:t>
            </a:r>
            <a:r>
              <a:rPr kumimoji="1" lang="en-US" altLang="zh-CN" sz="24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x</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is odd or that </a:t>
            </a:r>
            <a:r>
              <a:rPr kumimoji="1" lang="en-US" altLang="zh-CN" sz="24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y</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is</a:t>
            </a:r>
            <a:r>
              <a:rPr kumimoji="1" lang="zh-CN" altLang="en-US"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odd (or both).</a:t>
            </a:r>
            <a:endPar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1143000" marR="0" lvl="2" indent="-228600" algn="l" defTabSz="914400" rtl="0" eaLnBrk="0" fontAlgn="base" latinLnBrk="0" hangingPunct="0">
              <a:lnSpc>
                <a:spcPct val="100000"/>
              </a:lnSpc>
              <a:spcBef>
                <a:spcPct val="20000"/>
              </a:spcBef>
              <a:spcAft>
                <a:spcPct val="0"/>
              </a:spcAft>
              <a:buClr>
                <a:schemeClr val="folHlink"/>
              </a:buClr>
              <a:buSzPct val="50000"/>
              <a:buFont typeface="Wingdings" panose="05000000000000000000" pitchFamily="2" charset="2"/>
              <a:buChar char="n"/>
              <a:defRPr/>
            </a:pP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Without loss of generality, we assume that </a:t>
            </a:r>
            <a:r>
              <a:rPr kumimoji="1" lang="en-US" altLang="zh-CN" sz="24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x</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is odd, so that </a:t>
            </a:r>
            <a:endPar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914400" marR="0" lvl="2" indent="0" algn="l" defTabSz="914400" rtl="0" eaLnBrk="0" fontAlgn="base" latinLnBrk="0" hangingPunct="0">
              <a:lnSpc>
                <a:spcPct val="100000"/>
              </a:lnSpc>
              <a:spcBef>
                <a:spcPct val="20000"/>
              </a:spcBef>
              <a:spcAft>
                <a:spcPct val="0"/>
              </a:spcAft>
              <a:buClr>
                <a:schemeClr val="folHlink"/>
              </a:buClr>
              <a:buSzPct val="50000"/>
              <a:buFont typeface="Wingdings" panose="05000000000000000000" pitchFamily="2" charset="2"/>
              <a:buNone/>
              <a:defRPr/>
            </a:pPr>
            <a:r>
              <a:rPr kumimoji="1" lang="en-US" altLang="zh-CN" sz="24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x</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 2</a:t>
            </a:r>
            <a:r>
              <a:rPr kumimoji="1" lang="en-US" altLang="zh-CN" sz="24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m</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+ 1 for some</a:t>
            </a:r>
            <a:r>
              <a:rPr kumimoji="1" lang="zh-CN" altLang="en-US"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integer </a:t>
            </a:r>
            <a:r>
              <a:rPr kumimoji="1" lang="en-US" altLang="zh-CN" sz="24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m</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a:t>
            </a:r>
            <a:endPar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1143000" marR="0" lvl="2" indent="-228600" algn="l" defTabSz="914400" rtl="0" eaLnBrk="0" fontAlgn="base" latinLnBrk="0" hangingPunct="0">
              <a:lnSpc>
                <a:spcPct val="100000"/>
              </a:lnSpc>
              <a:spcBef>
                <a:spcPct val="20000"/>
              </a:spcBef>
              <a:spcAft>
                <a:spcPct val="0"/>
              </a:spcAft>
              <a:buClr>
                <a:schemeClr val="folHlink"/>
              </a:buClr>
              <a:buSzPct val="50000"/>
              <a:buFont typeface="Wingdings" panose="05000000000000000000" pitchFamily="2" charset="2"/>
              <a:buChar char="n"/>
              <a:defRPr/>
            </a:pP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To complete the proof, to show that </a:t>
            </a:r>
            <a:r>
              <a:rPr kumimoji="1" lang="en-US" altLang="zh-CN" sz="24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xy</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is odd or </a:t>
            </a:r>
            <a:r>
              <a:rPr kumimoji="1" lang="en-US" altLang="zh-CN" sz="24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x</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 </a:t>
            </a:r>
            <a:r>
              <a:rPr kumimoji="1" lang="en-US" altLang="zh-CN" sz="24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y</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is odd.</a:t>
            </a:r>
            <a:endPar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标题 1"/>
          <p:cNvSpPr>
            <a:spLocks noGrp="1"/>
          </p:cNvSpPr>
          <p:nvPr>
            <p:ph type="title"/>
          </p:nvPr>
        </p:nvSpPr>
        <p:spPr/>
        <p:txBody>
          <a:bodyPr vert="horz" wrap="square" lIns="91440" tIns="45720" rIns="91440" bIns="45720" anchor="b" anchorCtr="0"/>
          <a:p>
            <a:endParaRPr lang="zh-CN" altLang="en-US" dirty="0"/>
          </a:p>
        </p:txBody>
      </p:sp>
      <p:sp>
        <p:nvSpPr>
          <p:cNvPr id="29699" name="内容占位符 2"/>
          <p:cNvSpPr>
            <a:spLocks noGrp="1"/>
          </p:cNvSpPr>
          <p:nvPr>
            <p:ph idx="1"/>
          </p:nvPr>
        </p:nvSpPr>
        <p:spPr>
          <a:xfrm>
            <a:off x="288290" y="1299845"/>
            <a:ext cx="8698865" cy="4114800"/>
          </a:xfrm>
        </p:spPr>
        <p:txBody>
          <a:bodyPr vert="horz" wrap="square" lIns="91440" tIns="45720" rIns="91440" bIns="45720" anchor="t" anchorCtr="0"/>
          <a:p>
            <a:pPr lvl="1"/>
            <a:r>
              <a:rPr lang="en-US" altLang="zh-CN" sz="3600" dirty="0"/>
              <a:t> </a:t>
            </a:r>
            <a:r>
              <a:rPr lang="en-US" altLang="zh-CN" sz="3200" i="1" dirty="0">
                <a:latin typeface="Times New Roman" panose="02020503050405090304" pitchFamily="18" charset="0"/>
              </a:rPr>
              <a:t>Case 1</a:t>
            </a:r>
            <a:r>
              <a:rPr lang="en-US" altLang="zh-CN" sz="3200" dirty="0">
                <a:latin typeface="Times New Roman" panose="02020503050405090304" pitchFamily="18" charset="0"/>
              </a:rPr>
              <a:t>: </a:t>
            </a:r>
            <a:r>
              <a:rPr lang="en-US" altLang="zh-CN" sz="3200" i="1" dirty="0">
                <a:latin typeface="Times New Roman" panose="02020503050405090304" pitchFamily="18" charset="0"/>
              </a:rPr>
              <a:t>y</a:t>
            </a:r>
            <a:r>
              <a:rPr lang="en-US" altLang="zh-CN" sz="3200" dirty="0">
                <a:latin typeface="Times New Roman" panose="02020503050405090304" pitchFamily="18" charset="0"/>
              </a:rPr>
              <a:t> is even. </a:t>
            </a:r>
            <a:endParaRPr lang="en-US" altLang="zh-CN" sz="3200" dirty="0">
              <a:latin typeface="Times New Roman" panose="02020503050405090304" pitchFamily="18" charset="0"/>
            </a:endParaRPr>
          </a:p>
          <a:p>
            <a:pPr lvl="2"/>
            <a:r>
              <a:rPr lang="en-US" altLang="zh-CN" sz="2800" i="1" dirty="0">
                <a:latin typeface="Times New Roman" panose="02020503050405090304" pitchFamily="18" charset="0"/>
              </a:rPr>
              <a:t>y</a:t>
            </a:r>
            <a:r>
              <a:rPr lang="en-US" altLang="zh-CN" sz="2800" dirty="0">
                <a:latin typeface="Times New Roman" panose="02020503050405090304" pitchFamily="18" charset="0"/>
              </a:rPr>
              <a:t> = 2</a:t>
            </a:r>
            <a:r>
              <a:rPr lang="en-US" altLang="zh-CN" sz="2800" i="1" dirty="0">
                <a:latin typeface="Times New Roman" panose="02020503050405090304" pitchFamily="18" charset="0"/>
              </a:rPr>
              <a:t>n</a:t>
            </a:r>
            <a:r>
              <a:rPr lang="en-US" altLang="zh-CN" sz="2800" dirty="0">
                <a:latin typeface="Times New Roman" panose="02020503050405090304" pitchFamily="18" charset="0"/>
              </a:rPr>
              <a:t> for some integer </a:t>
            </a:r>
            <a:r>
              <a:rPr lang="en-US" altLang="zh-CN" sz="2800" i="1" dirty="0">
                <a:latin typeface="Times New Roman" panose="02020503050405090304" pitchFamily="18" charset="0"/>
              </a:rPr>
              <a:t>n</a:t>
            </a:r>
            <a:endParaRPr lang="en-US" altLang="zh-CN" sz="2800" i="1" dirty="0">
              <a:latin typeface="Times New Roman" panose="02020503050405090304" pitchFamily="18" charset="0"/>
            </a:endParaRPr>
          </a:p>
          <a:p>
            <a:pPr lvl="2"/>
            <a:r>
              <a:rPr lang="en-US" altLang="zh-CN" sz="2800" dirty="0">
                <a:latin typeface="Times New Roman" panose="02020503050405090304" pitchFamily="18" charset="0"/>
              </a:rPr>
              <a:t> </a:t>
            </a:r>
            <a:r>
              <a:rPr lang="en-US" altLang="zh-CN" sz="2800" i="1" dirty="0">
                <a:latin typeface="Times New Roman" panose="02020503050405090304" pitchFamily="18" charset="0"/>
              </a:rPr>
              <a:t>x</a:t>
            </a:r>
            <a:r>
              <a:rPr lang="en-US" altLang="zh-CN" sz="2800" dirty="0">
                <a:latin typeface="Times New Roman" panose="02020503050405090304" pitchFamily="18" charset="0"/>
              </a:rPr>
              <a:t> +</a:t>
            </a:r>
            <a:r>
              <a:rPr lang="en-US" altLang="zh-CN" sz="2800" i="1" dirty="0">
                <a:latin typeface="Times New Roman" panose="02020503050405090304" pitchFamily="18" charset="0"/>
              </a:rPr>
              <a:t> y</a:t>
            </a:r>
            <a:r>
              <a:rPr lang="en-US" altLang="zh-CN" sz="2800" dirty="0">
                <a:latin typeface="Times New Roman" panose="02020503050405090304" pitchFamily="18" charset="0"/>
              </a:rPr>
              <a:t> = (2</a:t>
            </a:r>
            <a:r>
              <a:rPr lang="en-US" altLang="zh-CN" sz="2800" i="1" dirty="0">
                <a:latin typeface="Times New Roman" panose="02020503050405090304" pitchFamily="18" charset="0"/>
              </a:rPr>
              <a:t>m</a:t>
            </a:r>
            <a:r>
              <a:rPr lang="en-US" altLang="zh-CN" sz="2800" dirty="0">
                <a:latin typeface="Times New Roman" panose="02020503050405090304" pitchFamily="18" charset="0"/>
              </a:rPr>
              <a:t> + 1) + 2</a:t>
            </a:r>
            <a:r>
              <a:rPr lang="en-US" altLang="zh-CN" sz="2800" i="1" dirty="0">
                <a:latin typeface="Times New Roman" panose="02020503050405090304" pitchFamily="18" charset="0"/>
              </a:rPr>
              <a:t>n</a:t>
            </a:r>
            <a:r>
              <a:rPr lang="en-US" altLang="zh-CN" sz="2800" dirty="0">
                <a:latin typeface="Times New Roman" panose="02020503050405090304" pitchFamily="18" charset="0"/>
              </a:rPr>
              <a:t> = 2(</a:t>
            </a:r>
            <a:r>
              <a:rPr lang="en-US" altLang="zh-CN" sz="2800" i="1" dirty="0">
                <a:latin typeface="Times New Roman" panose="02020503050405090304" pitchFamily="18" charset="0"/>
              </a:rPr>
              <a:t>m</a:t>
            </a:r>
            <a:r>
              <a:rPr lang="en-US" altLang="zh-CN" sz="2800" dirty="0">
                <a:latin typeface="Times New Roman" panose="02020503050405090304" pitchFamily="18" charset="0"/>
              </a:rPr>
              <a:t> + </a:t>
            </a:r>
            <a:r>
              <a:rPr lang="en-US" altLang="zh-CN" sz="2800" i="1" dirty="0">
                <a:latin typeface="Times New Roman" panose="02020503050405090304" pitchFamily="18" charset="0"/>
              </a:rPr>
              <a:t>n</a:t>
            </a:r>
            <a:r>
              <a:rPr lang="en-US" altLang="zh-CN" sz="2800" dirty="0">
                <a:latin typeface="Times New Roman" panose="02020503050405090304" pitchFamily="18" charset="0"/>
              </a:rPr>
              <a:t>) + 1 is odd.</a:t>
            </a:r>
            <a:endParaRPr lang="en-US" altLang="zh-CN" sz="2800" dirty="0">
              <a:latin typeface="Times New Roman" panose="02020503050405090304" pitchFamily="18" charset="0"/>
            </a:endParaRPr>
          </a:p>
          <a:p>
            <a:pPr lvl="1"/>
            <a:r>
              <a:rPr lang="en-US" altLang="zh-CN" sz="3200" dirty="0">
                <a:latin typeface="Times New Roman" panose="02020503050405090304" pitchFamily="18" charset="0"/>
              </a:rPr>
              <a:t>  </a:t>
            </a:r>
            <a:r>
              <a:rPr lang="en-US" altLang="zh-CN" sz="3200" i="1" dirty="0">
                <a:latin typeface="Times New Roman" panose="02020503050405090304" pitchFamily="18" charset="0"/>
              </a:rPr>
              <a:t>Case 2</a:t>
            </a:r>
            <a:r>
              <a:rPr lang="en-US" altLang="zh-CN" sz="3200" dirty="0">
                <a:latin typeface="Times New Roman" panose="02020503050405090304" pitchFamily="18" charset="0"/>
              </a:rPr>
              <a:t>:</a:t>
            </a:r>
            <a:r>
              <a:rPr lang="en-US" altLang="zh-CN" sz="3200" i="1" dirty="0">
                <a:latin typeface="Times New Roman" panose="02020503050405090304" pitchFamily="18" charset="0"/>
              </a:rPr>
              <a:t> y</a:t>
            </a:r>
            <a:r>
              <a:rPr lang="en-US" altLang="zh-CN" sz="3200" dirty="0">
                <a:latin typeface="Times New Roman" panose="02020503050405090304" pitchFamily="18" charset="0"/>
              </a:rPr>
              <a:t> is odd. </a:t>
            </a:r>
            <a:endParaRPr lang="en-US" altLang="zh-CN" sz="3200" dirty="0">
              <a:latin typeface="Times New Roman" panose="02020503050405090304" pitchFamily="18" charset="0"/>
            </a:endParaRPr>
          </a:p>
          <a:p>
            <a:pPr lvl="2"/>
            <a:r>
              <a:rPr lang="en-US" altLang="zh-CN" sz="2800" i="1" dirty="0">
                <a:latin typeface="Times New Roman" panose="02020503050405090304" pitchFamily="18" charset="0"/>
              </a:rPr>
              <a:t>y</a:t>
            </a:r>
            <a:r>
              <a:rPr lang="en-US" altLang="zh-CN" sz="2800" dirty="0">
                <a:latin typeface="Times New Roman" panose="02020503050405090304" pitchFamily="18" charset="0"/>
              </a:rPr>
              <a:t> = 2</a:t>
            </a:r>
            <a:r>
              <a:rPr lang="en-US" altLang="zh-CN" sz="2800" i="1" dirty="0">
                <a:latin typeface="Times New Roman" panose="02020503050405090304" pitchFamily="18" charset="0"/>
              </a:rPr>
              <a:t>n + </a:t>
            </a:r>
            <a:r>
              <a:rPr lang="en-US" altLang="zh-CN" sz="2800" dirty="0">
                <a:latin typeface="Times New Roman" panose="02020503050405090304" pitchFamily="18" charset="0"/>
              </a:rPr>
              <a:t>1 for some integer </a:t>
            </a:r>
            <a:r>
              <a:rPr lang="en-US" altLang="zh-CN" sz="2800" i="1" dirty="0">
                <a:latin typeface="Times New Roman" panose="02020503050405090304" pitchFamily="18" charset="0"/>
              </a:rPr>
              <a:t>n</a:t>
            </a:r>
            <a:endParaRPr lang="en-US" altLang="zh-CN" sz="2800" i="1" dirty="0">
              <a:latin typeface="Times New Roman" panose="02020503050405090304" pitchFamily="18" charset="0"/>
            </a:endParaRPr>
          </a:p>
          <a:p>
            <a:pPr lvl="2"/>
            <a:r>
              <a:rPr lang="en-US" altLang="zh-CN" sz="2800" i="1" dirty="0">
                <a:latin typeface="Times New Roman" panose="02020503050405090304" pitchFamily="18" charset="0"/>
              </a:rPr>
              <a:t>x</a:t>
            </a:r>
            <a:r>
              <a:rPr lang="en-US" altLang="zh-CN" sz="2800" dirty="0">
                <a:latin typeface="Times New Roman" panose="02020503050405090304" pitchFamily="18" charset="0"/>
              </a:rPr>
              <a:t> ∙ </a:t>
            </a:r>
            <a:r>
              <a:rPr lang="en-US" altLang="zh-CN" sz="2800" i="1" dirty="0">
                <a:latin typeface="Times New Roman" panose="02020503050405090304" pitchFamily="18" charset="0"/>
              </a:rPr>
              <a:t>y</a:t>
            </a:r>
            <a:r>
              <a:rPr lang="en-US" altLang="zh-CN" sz="2800" dirty="0">
                <a:latin typeface="Times New Roman" panose="02020503050405090304" pitchFamily="18" charset="0"/>
              </a:rPr>
              <a:t> = (2</a:t>
            </a:r>
            <a:r>
              <a:rPr lang="en-US" altLang="zh-CN" sz="2800" i="1" dirty="0">
                <a:latin typeface="Times New Roman" panose="02020503050405090304" pitchFamily="18" charset="0"/>
              </a:rPr>
              <a:t>m</a:t>
            </a:r>
            <a:r>
              <a:rPr lang="en-US" altLang="zh-CN" sz="2800" dirty="0">
                <a:latin typeface="Times New Roman" panose="02020503050405090304" pitchFamily="18" charset="0"/>
              </a:rPr>
              <a:t> + 1) (2</a:t>
            </a:r>
            <a:r>
              <a:rPr lang="en-US" altLang="zh-CN" sz="2800" i="1" dirty="0">
                <a:latin typeface="Times New Roman" panose="02020503050405090304" pitchFamily="18" charset="0"/>
              </a:rPr>
              <a:t>n</a:t>
            </a:r>
            <a:r>
              <a:rPr lang="en-US" altLang="zh-CN" sz="2800" dirty="0">
                <a:latin typeface="Times New Roman" panose="02020503050405090304" pitchFamily="18" charset="0"/>
              </a:rPr>
              <a:t> + 1) = 2(2</a:t>
            </a:r>
            <a:r>
              <a:rPr lang="en-US" altLang="zh-CN" sz="2800" i="1" dirty="0">
                <a:latin typeface="Times New Roman" panose="02020503050405090304" pitchFamily="18" charset="0"/>
              </a:rPr>
              <a:t>m</a:t>
            </a:r>
            <a:r>
              <a:rPr lang="en-US" altLang="zh-CN" sz="2800" dirty="0">
                <a:latin typeface="Times New Roman" panose="02020503050405090304" pitchFamily="18" charset="0"/>
              </a:rPr>
              <a:t> ∙</a:t>
            </a:r>
            <a:r>
              <a:rPr lang="en-US" altLang="zh-CN" sz="2800" i="1" dirty="0">
                <a:latin typeface="Times New Roman" panose="02020503050405090304" pitchFamily="18" charset="0"/>
              </a:rPr>
              <a:t> n</a:t>
            </a:r>
            <a:r>
              <a:rPr lang="en-US" altLang="zh-CN" sz="2800" dirty="0">
                <a:latin typeface="Times New Roman" panose="02020503050405090304" pitchFamily="18" charset="0"/>
              </a:rPr>
              <a:t> +</a:t>
            </a:r>
            <a:r>
              <a:rPr lang="en-US" altLang="zh-CN" sz="2800" i="1" dirty="0">
                <a:latin typeface="Times New Roman" panose="02020503050405090304" pitchFamily="18" charset="0"/>
              </a:rPr>
              <a:t>m</a:t>
            </a:r>
            <a:r>
              <a:rPr lang="en-US" altLang="zh-CN" sz="2800" dirty="0">
                <a:latin typeface="Times New Roman" panose="02020503050405090304" pitchFamily="18" charset="0"/>
              </a:rPr>
              <a:t> + </a:t>
            </a:r>
            <a:r>
              <a:rPr lang="en-US" altLang="zh-CN" sz="2800" i="1" dirty="0">
                <a:latin typeface="Times New Roman" panose="02020503050405090304" pitchFamily="18" charset="0"/>
              </a:rPr>
              <a:t>n</a:t>
            </a:r>
            <a:r>
              <a:rPr lang="en-US" altLang="zh-CN" sz="2800" dirty="0">
                <a:latin typeface="Times New Roman" panose="02020503050405090304" pitchFamily="18" charset="0"/>
              </a:rPr>
              <a:t>) + 1 is odd.</a:t>
            </a:r>
            <a:endParaRPr lang="en-US" altLang="zh-CN" sz="2800" dirty="0">
              <a:latin typeface="Times New Roman" panose="02020503050405090304" pitchFamily="18" charset="0"/>
            </a:endParaRPr>
          </a:p>
          <a:p>
            <a:r>
              <a:rPr lang="en-US" altLang="zh-CN" dirty="0">
                <a:latin typeface="Times New Roman" panose="02020503050405090304" pitchFamily="18" charset="0"/>
              </a:rPr>
              <a:t>We only cover the case where </a:t>
            </a:r>
            <a:r>
              <a:rPr lang="en-US" altLang="zh-CN" i="1" dirty="0">
                <a:latin typeface="Times New Roman" panose="02020503050405090304" pitchFamily="18" charset="0"/>
              </a:rPr>
              <a:t>x</a:t>
            </a:r>
            <a:r>
              <a:rPr lang="en-US" altLang="zh-CN" dirty="0">
                <a:latin typeface="Times New Roman" panose="02020503050405090304" pitchFamily="18" charset="0"/>
              </a:rPr>
              <a:t> is odd because the case where </a:t>
            </a:r>
            <a:r>
              <a:rPr lang="en-US" altLang="zh-CN" i="1" dirty="0">
                <a:latin typeface="Times New Roman" panose="02020503050405090304" pitchFamily="18" charset="0"/>
              </a:rPr>
              <a:t>y</a:t>
            </a:r>
            <a:r>
              <a:rPr lang="en-US" altLang="zh-CN" dirty="0">
                <a:latin typeface="Times New Roman" panose="02020503050405090304" pitchFamily="18" charset="0"/>
              </a:rPr>
              <a:t> is odd is  similar. The use phrase </a:t>
            </a:r>
            <a:r>
              <a:rPr lang="en-US" altLang="zh-CN" i="1" dirty="0">
                <a:solidFill>
                  <a:srgbClr val="FF0000"/>
                </a:solidFill>
                <a:latin typeface="Times New Roman" panose="02020503050405090304" pitchFamily="18" charset="0"/>
              </a:rPr>
              <a:t>without  loss of generality</a:t>
            </a:r>
            <a:r>
              <a:rPr lang="en-US" altLang="zh-CN" b="1" dirty="0">
                <a:solidFill>
                  <a:srgbClr val="FF0000"/>
                </a:solidFill>
                <a:latin typeface="Times New Roman" panose="02020503050405090304" pitchFamily="18" charset="0"/>
              </a:rPr>
              <a:t> </a:t>
            </a:r>
            <a:r>
              <a:rPr lang="en-US" altLang="zh-CN" dirty="0">
                <a:latin typeface="Times New Roman" panose="02020503050405090304" pitchFamily="18" charset="0"/>
              </a:rPr>
              <a:t>(WLOG) indicates this. </a:t>
            </a:r>
            <a:endParaRPr lang="en-US" altLang="zh-CN" dirty="0">
              <a:latin typeface="Times New Roman" panose="02020503050405090304" pitchFamily="18" charset="0"/>
            </a:endParaRPr>
          </a:p>
          <a:p>
            <a:endParaRPr lang="en-US" altLang="zh-CN" sz="2800" dirty="0">
              <a:latin typeface="Times New Roman" panose="02020503050405090304" pitchFamily="18" charset="0"/>
            </a:endParaRPr>
          </a:p>
          <a:p>
            <a:pPr>
              <a:buNone/>
            </a:pPr>
            <a:r>
              <a:rPr lang="en-US" altLang="zh-CN" sz="2800" dirty="0">
                <a:latin typeface="Times New Roman" panose="02020503050405090304" pitchFamily="18" charset="0"/>
              </a:rPr>
              <a:t>     </a:t>
            </a:r>
            <a:endParaRPr lang="zh-CN" altLang="en-US" sz="2800" dirty="0">
              <a:latin typeface="Times New Roman" panose="02020503050405090304" pitchFamily="18" charset="0"/>
            </a:endParaRPr>
          </a:p>
        </p:txBody>
      </p:sp>
      <p:sp>
        <p:nvSpPr>
          <p:cNvPr id="2970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970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970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072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072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30725" name="Rectangle 2"/>
          <p:cNvSpPr>
            <a:spLocks noGrp="1"/>
          </p:cNvSpPr>
          <p:nvPr>
            <p:ph type="title"/>
          </p:nvPr>
        </p:nvSpPr>
        <p:spPr/>
        <p:txBody>
          <a:bodyPr vert="horz" wrap="square" lIns="91440" tIns="45720" rIns="91440" bIns="45720" anchor="b" anchorCtr="0"/>
          <a:p>
            <a:pPr eaLnBrk="1" hangingPunct="1"/>
            <a:r>
              <a:rPr lang="en-US" altLang="zh-CN" dirty="0"/>
              <a:t>Common errors</a:t>
            </a:r>
            <a:endParaRPr lang="en-US" altLang="zh-CN" dirty="0"/>
          </a:p>
        </p:txBody>
      </p:sp>
      <p:sp>
        <p:nvSpPr>
          <p:cNvPr id="27654" name="Rectangle 3"/>
          <p:cNvSpPr>
            <a:spLocks noGrp="1"/>
          </p:cNvSpPr>
          <p:nvPr>
            <p:ph idx="1"/>
          </p:nvPr>
        </p:nvSpPr>
        <p:spPr>
          <a:xfrm>
            <a:off x="-53975" y="1340485"/>
            <a:ext cx="9251950" cy="4114800"/>
          </a:xfrm>
        </p:spPr>
        <p:txBody>
          <a:bodyPr vert="horz" wrap="square" lIns="91440" tIns="45720" rIns="91440" bIns="45720" anchor="t" anchorCtr="0"/>
          <a:p>
            <a:pPr eaLnBrk="1" hangingPunct="1"/>
            <a:r>
              <a:rPr lang="en-US" altLang="zh-CN" sz="2400" dirty="0"/>
              <a:t>Example 9  </a:t>
            </a:r>
            <a:r>
              <a:rPr lang="en-US" altLang="zh-CN" sz="2800" dirty="0">
                <a:latin typeface="Times New Roman" panose="02020503050405090304" pitchFamily="18" charset="0"/>
              </a:rPr>
              <a:t>What is wrong with this “proof?” </a:t>
            </a:r>
            <a:endParaRPr lang="en-US" altLang="zh-CN" sz="2800" dirty="0">
              <a:latin typeface="Times New Roman" panose="02020503050405090304" pitchFamily="18" charset="0"/>
            </a:endParaRPr>
          </a:p>
          <a:p>
            <a:pPr lvl="1" eaLnBrk="1" hangingPunct="1"/>
            <a:r>
              <a:rPr lang="en-US" altLang="zh-CN" sz="2450" dirty="0">
                <a:latin typeface="Times New Roman" panose="02020503050405090304" pitchFamily="18" charset="0"/>
              </a:rPr>
              <a:t>“Theorem:” If x is a real number, then x</a:t>
            </a:r>
            <a:r>
              <a:rPr lang="en-US" altLang="zh-CN" sz="2450" baseline="30000" dirty="0">
                <a:latin typeface="Times New Roman" panose="02020503050405090304" pitchFamily="18" charset="0"/>
              </a:rPr>
              <a:t>2</a:t>
            </a:r>
            <a:r>
              <a:rPr lang="en-US" altLang="zh-CN" sz="2450" dirty="0">
                <a:latin typeface="Times New Roman" panose="02020503050405090304" pitchFamily="18" charset="0"/>
              </a:rPr>
              <a:t> is a positive real number.</a:t>
            </a:r>
            <a:endParaRPr lang="en-US" altLang="zh-CN" sz="2450" dirty="0">
              <a:latin typeface="Times New Roman" panose="02020503050405090304" pitchFamily="18" charset="0"/>
            </a:endParaRPr>
          </a:p>
          <a:p>
            <a:pPr lvl="1" eaLnBrk="1" hangingPunct="1"/>
            <a:r>
              <a:rPr lang="en-US" altLang="zh-CN" sz="2400" dirty="0">
                <a:latin typeface="Times New Roman" panose="02020503050405090304" pitchFamily="18" charset="0"/>
              </a:rPr>
              <a:t> </a:t>
            </a:r>
            <a:r>
              <a:rPr lang="en-US" altLang="zh-CN" sz="1800" dirty="0">
                <a:latin typeface="Times New Roman" panose="02020503050405090304" pitchFamily="18" charset="0"/>
              </a:rPr>
              <a:t>“Proof:" Let p1 be “x is positive,” let p2 be “x is negative,” and let q be “x</a:t>
            </a:r>
            <a:r>
              <a:rPr lang="en-US" altLang="zh-CN" sz="1800" baseline="30000" dirty="0">
                <a:latin typeface="Times New Roman" panose="02020503050405090304" pitchFamily="18" charset="0"/>
              </a:rPr>
              <a:t>2</a:t>
            </a:r>
            <a:r>
              <a:rPr lang="en-US" altLang="zh-CN" sz="1800" dirty="0">
                <a:latin typeface="Times New Roman" panose="02020503050405090304" pitchFamily="18" charset="0"/>
              </a:rPr>
              <a:t> is positive.” </a:t>
            </a:r>
            <a:endParaRPr lang="en-US" altLang="zh-CN" sz="1800" dirty="0">
              <a:latin typeface="Times New Roman" panose="02020503050405090304" pitchFamily="18" charset="0"/>
            </a:endParaRPr>
          </a:p>
          <a:p>
            <a:pPr lvl="1" eaLnBrk="1" hangingPunct="1"/>
            <a:r>
              <a:rPr lang="en-US" altLang="zh-CN" sz="1800" dirty="0">
                <a:latin typeface="Times New Roman" panose="02020503050405090304" pitchFamily="18" charset="0"/>
              </a:rPr>
              <a:t>To show that p1 → q is true, note that when x is positive, x</a:t>
            </a:r>
            <a:r>
              <a:rPr lang="en-US" altLang="zh-CN" sz="1800" baseline="30000" dirty="0">
                <a:latin typeface="Times New Roman" panose="02020503050405090304" pitchFamily="18" charset="0"/>
              </a:rPr>
              <a:t>2</a:t>
            </a:r>
            <a:r>
              <a:rPr lang="en-US" altLang="zh-CN" sz="1800" dirty="0">
                <a:latin typeface="Times New Roman" panose="02020503050405090304" pitchFamily="18" charset="0"/>
              </a:rPr>
              <a:t> is positive because it is the product of two positive numbers, x and x.</a:t>
            </a:r>
            <a:endParaRPr lang="en-US" altLang="zh-CN" sz="1800" dirty="0">
              <a:latin typeface="Times New Roman" panose="02020503050405090304" pitchFamily="18" charset="0"/>
            </a:endParaRPr>
          </a:p>
          <a:p>
            <a:pPr lvl="1" eaLnBrk="1" hangingPunct="1"/>
            <a:r>
              <a:rPr lang="en-US" altLang="zh-CN" sz="1800" dirty="0">
                <a:latin typeface="Times New Roman" panose="02020503050405090304" pitchFamily="18" charset="0"/>
              </a:rPr>
              <a:t> To show that p2 → q, note that when x is negative, x</a:t>
            </a:r>
            <a:r>
              <a:rPr lang="en-US" altLang="zh-CN" sz="1800" baseline="30000" dirty="0">
                <a:latin typeface="Times New Roman" panose="02020503050405090304" pitchFamily="18" charset="0"/>
              </a:rPr>
              <a:t>2</a:t>
            </a:r>
            <a:r>
              <a:rPr lang="en-US" altLang="zh-CN" sz="1800" dirty="0">
                <a:latin typeface="Times New Roman" panose="02020503050405090304" pitchFamily="18" charset="0"/>
              </a:rPr>
              <a:t> is positive because it is the product of two negative numbers, x and x. </a:t>
            </a:r>
            <a:endParaRPr lang="en-US" altLang="zh-CN" sz="1800" dirty="0">
              <a:latin typeface="Times New Roman" panose="02020503050405090304" pitchFamily="18" charset="0"/>
            </a:endParaRPr>
          </a:p>
          <a:p>
            <a:pPr lvl="1" eaLnBrk="1" hangingPunct="1"/>
            <a:r>
              <a:rPr lang="en-US" altLang="zh-CN" sz="1800" dirty="0">
                <a:latin typeface="Times New Roman" panose="02020503050405090304" pitchFamily="18" charset="0"/>
              </a:rPr>
              <a:t>This completes the proof. </a:t>
            </a:r>
            <a:endParaRPr lang="en-US" altLang="zh-CN" sz="1800" dirty="0">
              <a:latin typeface="Times New Roman" panose="02020503050405090304" pitchFamily="18" charset="0"/>
            </a:endParaRPr>
          </a:p>
          <a:p>
            <a:pPr eaLnBrk="1" hangingPunct="1"/>
            <a:r>
              <a:rPr lang="en-US" altLang="zh-CN" sz="2000" dirty="0">
                <a:latin typeface="Times New Roman" panose="02020503050405090304" pitchFamily="18" charset="0"/>
              </a:rPr>
              <a:t>Solution: </a:t>
            </a:r>
            <a:endParaRPr lang="en-US" altLang="zh-CN" sz="2000" dirty="0">
              <a:latin typeface="Times New Roman" panose="02020503050405090304" pitchFamily="18" charset="0"/>
            </a:endParaRPr>
          </a:p>
          <a:p>
            <a:pPr eaLnBrk="1" hangingPunct="1"/>
            <a:r>
              <a:rPr lang="en-US" altLang="zh-CN" sz="2000" dirty="0">
                <a:latin typeface="Times New Roman" panose="02020503050405090304" pitchFamily="18" charset="0"/>
              </a:rPr>
              <a:t>The problem with this “proof” is that </a:t>
            </a:r>
            <a:r>
              <a:rPr lang="en-US" altLang="zh-CN" sz="2000" dirty="0">
                <a:solidFill>
                  <a:srgbClr val="FF0000"/>
                </a:solidFill>
                <a:latin typeface="Times New Roman" panose="02020503050405090304" pitchFamily="18" charset="0"/>
              </a:rPr>
              <a:t>we missed the case of x = 0</a:t>
            </a:r>
            <a:r>
              <a:rPr lang="en-US" altLang="zh-CN" sz="2000" dirty="0">
                <a:latin typeface="Times New Roman" panose="02020503050405090304" pitchFamily="18" charset="0"/>
              </a:rPr>
              <a:t>. When x = 0, x</a:t>
            </a:r>
            <a:r>
              <a:rPr lang="en-US" altLang="zh-CN" sz="2000" baseline="30000" dirty="0">
                <a:latin typeface="Times New Roman" panose="02020503050405090304" pitchFamily="18" charset="0"/>
              </a:rPr>
              <a:t>2</a:t>
            </a:r>
            <a:r>
              <a:rPr lang="en-US" altLang="zh-CN" sz="2000" dirty="0">
                <a:latin typeface="Times New Roman" panose="02020503050405090304" pitchFamily="18" charset="0"/>
              </a:rPr>
              <a:t> = 0 is not positive, so the supposed theorem is false. </a:t>
            </a:r>
            <a:endParaRPr lang="en-US" altLang="zh-CN" sz="2000" dirty="0">
              <a:latin typeface="Times New Roman" panose="02020503050405090304" pitchFamily="18" charset="0"/>
            </a:endParaRPr>
          </a:p>
          <a:p>
            <a:pPr eaLnBrk="1" hangingPunct="1"/>
            <a:r>
              <a:rPr lang="en-US" altLang="zh-CN" sz="2000" dirty="0">
                <a:latin typeface="Times New Roman" panose="02020503050405090304" pitchFamily="18" charset="0"/>
              </a:rPr>
              <a:t>If p is “x is a real number,” then we can prove results where p is the hypothesis with three cases, p1, p2, and p3, where p1 is “x is positive,” p2 is “x is negative,” and p3 is “x = 0” because of the equivalence p ↔ p1 ∨ p2 ∨ p3.</a:t>
            </a:r>
            <a:endParaRPr lang="en-US" altLang="zh-CN" sz="2000" dirty="0">
              <a:latin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4">
                                            <p:txEl>
                                              <p:charRg st="503" end="65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54">
                                            <p:txEl>
                                              <p:char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654">
                                            <p:txEl>
                                              <p:charRg st="651" end="88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174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174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31749" name="Rectangle 2"/>
          <p:cNvSpPr>
            <a:spLocks noGrp="1"/>
          </p:cNvSpPr>
          <p:nvPr>
            <p:ph type="title"/>
          </p:nvPr>
        </p:nvSpPr>
        <p:spPr>
          <a:xfrm>
            <a:off x="894080" y="258445"/>
            <a:ext cx="8049895" cy="928370"/>
          </a:xfrm>
        </p:spPr>
        <p:txBody>
          <a:bodyPr vert="horz" wrap="square" lIns="91440" tIns="45720" rIns="91440" bIns="45720" anchor="b" anchorCtr="0"/>
          <a:p>
            <a:pPr eaLnBrk="1" hangingPunct="1"/>
            <a:r>
              <a:rPr lang="en-US" altLang="zh-CN" sz="3600" kern="1200" dirty="0">
                <a:latin typeface="Copperplate Gothic Bold" panose="020E0705020206020404" pitchFamily="34" charset="0"/>
                <a:ea typeface="宋体" pitchFamily="2" charset="-122"/>
                <a:sym typeface="+mn-ea"/>
              </a:rPr>
              <a:t>Proof Methods for </a:t>
            </a:r>
            <a:r>
              <a:rPr lang="en-US" altLang="zh-CN" sz="3600" kern="1200" dirty="0">
                <a:solidFill>
                  <a:srgbClr val="FF0000"/>
                </a:solidFill>
                <a:latin typeface="Copperplate Gothic Bold" panose="020E0705020206020404" pitchFamily="34" charset="0"/>
                <a:ea typeface="宋体" pitchFamily="2" charset="-122"/>
                <a:sym typeface="+mn-ea"/>
              </a:rPr>
              <a:t>Existence</a:t>
            </a:r>
            <a:endParaRPr lang="en-US" altLang="zh-CN" sz="3600" kern="1200" dirty="0">
              <a:solidFill>
                <a:srgbClr val="FF0000"/>
              </a:solidFill>
              <a:latin typeface="Copperplate Gothic Bold" panose="020E0705020206020404" pitchFamily="34" charset="0"/>
              <a:ea typeface="宋体" pitchFamily="2" charset="-122"/>
              <a:sym typeface="+mn-ea"/>
            </a:endParaRPr>
          </a:p>
        </p:txBody>
      </p:sp>
      <p:sp>
        <p:nvSpPr>
          <p:cNvPr id="31750" name="Rectangle 3"/>
          <p:cNvSpPr>
            <a:spLocks noGrp="1"/>
          </p:cNvSpPr>
          <p:nvPr>
            <p:ph idx="1"/>
          </p:nvPr>
        </p:nvSpPr>
        <p:spPr>
          <a:xfrm>
            <a:off x="1115695" y="1557020"/>
            <a:ext cx="7772400" cy="4114800"/>
          </a:xfrm>
        </p:spPr>
        <p:txBody>
          <a:bodyPr vert="horz" wrap="square" lIns="91440" tIns="45720" rIns="91440" bIns="45720" anchor="t" anchorCtr="0"/>
          <a:p>
            <a:pPr eaLnBrk="1" hangingPunct="1"/>
            <a:r>
              <a:rPr lang="en-US" altLang="zh-CN" dirty="0">
                <a:latin typeface="Times New Roman" panose="02020503050405090304" pitchFamily="18" charset="0"/>
              </a:rPr>
              <a:t>We wish to establish the truth of</a:t>
            </a:r>
            <a:endParaRPr lang="en-US" altLang="zh-CN" dirty="0">
              <a:latin typeface="Times New Roman" panose="02020503050405090304" pitchFamily="18" charset="0"/>
            </a:endParaRPr>
          </a:p>
          <a:p>
            <a:pPr eaLnBrk="1" hangingPunct="1">
              <a:buNone/>
            </a:pPr>
            <a:r>
              <a:rPr lang="en-US" altLang="zh-CN" dirty="0">
                <a:latin typeface="Symbol" panose="05050102010706020507" pitchFamily="18" charset="2"/>
              </a:rPr>
              <a:t>			$</a:t>
            </a:r>
            <a:r>
              <a:rPr lang="en-US" altLang="zh-CN" i="1" dirty="0">
                <a:latin typeface="Times New Roman" panose="02020503050405090304" pitchFamily="18" charset="0"/>
              </a:rPr>
              <a:t>xP</a:t>
            </a:r>
            <a:r>
              <a:rPr lang="en-US" altLang="zh-CN" dirty="0">
                <a:latin typeface="Times New Roman" panose="02020503050405090304" pitchFamily="18" charset="0"/>
              </a:rPr>
              <a:t>(</a:t>
            </a:r>
            <a:r>
              <a:rPr lang="en-US" altLang="zh-CN" i="1" dirty="0">
                <a:latin typeface="Times New Roman" panose="02020503050405090304" pitchFamily="18" charset="0"/>
              </a:rPr>
              <a:t>x</a:t>
            </a:r>
            <a:r>
              <a:rPr lang="en-US" altLang="zh-CN" dirty="0">
                <a:latin typeface="Times New Roman" panose="02020503050405090304" pitchFamily="18" charset="0"/>
              </a:rPr>
              <a:t>)</a:t>
            </a:r>
            <a:r>
              <a:rPr lang="en-US" altLang="zh-CN" b="1" dirty="0">
                <a:latin typeface="Times New Roman" panose="02020503050405090304" pitchFamily="18" charset="0"/>
              </a:rPr>
              <a:t>.</a:t>
            </a:r>
            <a:endParaRPr lang="en-US" altLang="zh-CN" b="1" dirty="0">
              <a:latin typeface="Times New Roman" panose="02020503050405090304" pitchFamily="18" charset="0"/>
            </a:endParaRPr>
          </a:p>
          <a:p>
            <a:pPr eaLnBrk="1" hangingPunct="1"/>
            <a:r>
              <a:rPr lang="en-US" altLang="zh-CN" b="1" i="1" dirty="0">
                <a:solidFill>
                  <a:schemeClr val="hlink"/>
                </a:solidFill>
                <a:latin typeface="Times New Roman" panose="02020503050405090304" pitchFamily="18" charset="0"/>
              </a:rPr>
              <a:t>Constructive</a:t>
            </a:r>
            <a:r>
              <a:rPr lang="en-US" altLang="zh-CN" b="1" i="1" dirty="0">
                <a:latin typeface="Times New Roman" panose="02020503050405090304" pitchFamily="18" charset="0"/>
              </a:rPr>
              <a:t> </a:t>
            </a:r>
            <a:r>
              <a:rPr lang="en-US" altLang="zh-CN" dirty="0">
                <a:latin typeface="Times New Roman" panose="02020503050405090304" pitchFamily="18" charset="0"/>
              </a:rPr>
              <a:t>existence proof:</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Establish </a:t>
            </a:r>
            <a:r>
              <a:rPr lang="en-US" altLang="zh-CN" i="1" dirty="0">
                <a:latin typeface="Times New Roman" panose="02020503050405090304" pitchFamily="18" charset="0"/>
              </a:rPr>
              <a:t>P</a:t>
            </a:r>
            <a:r>
              <a:rPr lang="en-US" altLang="zh-CN" dirty="0">
                <a:latin typeface="Times New Roman" panose="02020503050405090304" pitchFamily="18" charset="0"/>
              </a:rPr>
              <a:t>(</a:t>
            </a:r>
            <a:r>
              <a:rPr lang="en-US" altLang="zh-CN" i="1" dirty="0">
                <a:latin typeface="Times New Roman" panose="02020503050405090304" pitchFamily="18" charset="0"/>
              </a:rPr>
              <a:t>c</a:t>
            </a:r>
            <a:r>
              <a:rPr lang="en-US" altLang="zh-CN" dirty="0">
                <a:latin typeface="Times New Roman" panose="02020503050405090304" pitchFamily="18" charset="0"/>
              </a:rPr>
              <a:t>) is true for some </a:t>
            </a:r>
            <a:r>
              <a:rPr lang="en-US" altLang="zh-CN" i="1" dirty="0">
                <a:latin typeface="Times New Roman" panose="02020503050405090304" pitchFamily="18" charset="0"/>
              </a:rPr>
              <a:t>c</a:t>
            </a:r>
            <a:r>
              <a:rPr lang="en-US" altLang="zh-CN" dirty="0">
                <a:latin typeface="Times New Roman" panose="02020503050405090304" pitchFamily="18" charset="0"/>
              </a:rPr>
              <a:t> in the universe.</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Then </a:t>
            </a:r>
            <a:r>
              <a:rPr lang="en-US" altLang="zh-CN" dirty="0">
                <a:latin typeface="Symbol" panose="05050102010706020507" pitchFamily="18" charset="2"/>
              </a:rPr>
              <a:t>$</a:t>
            </a:r>
            <a:r>
              <a:rPr lang="en-US" altLang="zh-CN" i="1" dirty="0">
                <a:latin typeface="Times New Roman" panose="02020503050405090304" pitchFamily="18" charset="0"/>
              </a:rPr>
              <a:t>xP</a:t>
            </a:r>
            <a:r>
              <a:rPr lang="en-US" altLang="zh-CN" dirty="0">
                <a:latin typeface="Times New Roman" panose="02020503050405090304" pitchFamily="18" charset="0"/>
              </a:rPr>
              <a:t>(</a:t>
            </a:r>
            <a:r>
              <a:rPr lang="en-US" altLang="zh-CN" i="1" dirty="0">
                <a:latin typeface="Times New Roman" panose="02020503050405090304" pitchFamily="18" charset="0"/>
              </a:rPr>
              <a:t>x</a:t>
            </a:r>
            <a:r>
              <a:rPr lang="en-US" altLang="zh-CN" dirty="0">
                <a:latin typeface="Times New Roman" panose="02020503050405090304" pitchFamily="18" charset="0"/>
              </a:rPr>
              <a:t>) is true by Existential Generalization (EG).</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277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277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32773"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Existence Proofs</a:t>
            </a:r>
            <a:endParaRPr lang="en-US" altLang="zh-CN" dirty="0">
              <a:latin typeface="Times New Roman" panose="02020503050405090304" pitchFamily="18" charset="0"/>
            </a:endParaRPr>
          </a:p>
        </p:txBody>
      </p:sp>
      <p:sp>
        <p:nvSpPr>
          <p:cNvPr id="32774" name="Rectangle 3"/>
          <p:cNvSpPr>
            <a:spLocks noGrp="1"/>
          </p:cNvSpPr>
          <p:nvPr>
            <p:ph idx="1"/>
          </p:nvPr>
        </p:nvSpPr>
        <p:spPr>
          <a:xfrm>
            <a:off x="899478" y="1371600"/>
            <a:ext cx="7772400" cy="4114800"/>
          </a:xfrm>
        </p:spPr>
        <p:txBody>
          <a:bodyPr vert="horz" wrap="square" lIns="91440" tIns="45720" rIns="91440" bIns="45720" anchor="t" anchorCtr="0"/>
          <a:p>
            <a:pPr eaLnBrk="1" hangingPunct="1"/>
            <a:r>
              <a:rPr lang="en-US" altLang="zh-CN" dirty="0">
                <a:latin typeface="Times New Roman" panose="02020503050405090304" pitchFamily="18" charset="0"/>
              </a:rPr>
              <a:t>Theorem: </a:t>
            </a:r>
            <a:endParaRPr lang="en-US" altLang="zh-CN" dirty="0">
              <a:latin typeface="Times New Roman" panose="02020503050405090304" pitchFamily="18" charset="0"/>
            </a:endParaRPr>
          </a:p>
          <a:p>
            <a:pPr lvl="1" eaLnBrk="1" hangingPunct="1"/>
            <a:r>
              <a:rPr lang="en-US" altLang="zh-CN" i="1" dirty="0">
                <a:latin typeface="Times New Roman" panose="02020503050405090304" pitchFamily="18" charset="0"/>
              </a:rPr>
              <a:t>There exists an integer solution to the equation</a:t>
            </a:r>
            <a:endParaRPr lang="en-US" altLang="zh-CN" i="1" dirty="0">
              <a:latin typeface="Times New Roman" panose="02020503050405090304" pitchFamily="18" charset="0"/>
            </a:endParaRPr>
          </a:p>
          <a:p>
            <a:pPr lvl="2" eaLnBrk="1" hangingPunct="1"/>
            <a:r>
              <a:rPr lang="en-US" altLang="zh-CN" i="1" dirty="0">
                <a:latin typeface="Times New Roman" panose="02020503050405090304" pitchFamily="18" charset="0"/>
              </a:rPr>
              <a:t>x</a:t>
            </a:r>
            <a:r>
              <a:rPr lang="en-US" altLang="zh-CN" i="1" baseline="30000" dirty="0">
                <a:latin typeface="Times New Roman" panose="02020503050405090304" pitchFamily="18" charset="0"/>
              </a:rPr>
              <a:t>2</a:t>
            </a:r>
            <a:r>
              <a:rPr lang="en-US" altLang="zh-CN" i="1" dirty="0">
                <a:latin typeface="Times New Roman" panose="02020503050405090304" pitchFamily="18" charset="0"/>
              </a:rPr>
              <a:t> + y</a:t>
            </a:r>
            <a:r>
              <a:rPr lang="en-US" altLang="zh-CN" i="1" baseline="30000" dirty="0">
                <a:latin typeface="Times New Roman" panose="02020503050405090304" pitchFamily="18" charset="0"/>
              </a:rPr>
              <a:t>2</a:t>
            </a:r>
            <a:r>
              <a:rPr lang="en-US" altLang="zh-CN" i="1" dirty="0">
                <a:latin typeface="Times New Roman" panose="02020503050405090304" pitchFamily="18" charset="0"/>
              </a:rPr>
              <a:t> = z</a:t>
            </a:r>
            <a:r>
              <a:rPr lang="en-US" altLang="zh-CN" i="1" baseline="30000" dirty="0">
                <a:latin typeface="Times New Roman" panose="02020503050405090304" pitchFamily="18" charset="0"/>
              </a:rPr>
              <a:t>2</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Proof:</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Choose </a:t>
            </a:r>
            <a:r>
              <a:rPr lang="en-US" altLang="zh-CN" i="1" dirty="0">
                <a:latin typeface="Times New Roman" panose="02020503050405090304" pitchFamily="18" charset="0"/>
              </a:rPr>
              <a:t>x</a:t>
            </a:r>
            <a:r>
              <a:rPr lang="en-US" altLang="zh-CN" dirty="0">
                <a:latin typeface="Times New Roman" panose="02020503050405090304" pitchFamily="18" charset="0"/>
              </a:rPr>
              <a:t> = 3, </a:t>
            </a:r>
            <a:r>
              <a:rPr lang="en-US" altLang="zh-CN" i="1" dirty="0">
                <a:latin typeface="Times New Roman" panose="02020503050405090304" pitchFamily="18" charset="0"/>
              </a:rPr>
              <a:t>y</a:t>
            </a:r>
            <a:r>
              <a:rPr lang="en-US" altLang="zh-CN" dirty="0">
                <a:latin typeface="Times New Roman" panose="02020503050405090304" pitchFamily="18" charset="0"/>
              </a:rPr>
              <a:t> = 4, </a:t>
            </a:r>
            <a:r>
              <a:rPr lang="en-US" altLang="zh-CN" i="1" dirty="0">
                <a:latin typeface="Times New Roman" panose="02020503050405090304" pitchFamily="18" charset="0"/>
              </a:rPr>
              <a:t>z</a:t>
            </a:r>
            <a:r>
              <a:rPr lang="en-US" altLang="zh-CN" dirty="0">
                <a:latin typeface="Times New Roman" panose="02020503050405090304" pitchFamily="18" charset="0"/>
              </a:rPr>
              <a:t> = 5.</a:t>
            </a:r>
            <a:endParaRPr lang="en-US" altLang="zh-CN" dirty="0">
              <a:latin typeface="Times New Roman" panose="0202050305040509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标题 1"/>
          <p:cNvSpPr>
            <a:spLocks noGrp="1"/>
          </p:cNvSpPr>
          <p:nvPr>
            <p:ph type="title"/>
          </p:nvPr>
        </p:nvSpPr>
        <p:spPr>
          <a:xfrm>
            <a:off x="922655" y="258445"/>
            <a:ext cx="8154035" cy="928370"/>
          </a:xfrm>
        </p:spPr>
        <p:txBody>
          <a:bodyPr vert="horz" wrap="square" lIns="91440" tIns="45720" rIns="91440" bIns="45720" anchor="b" anchorCtr="0"/>
          <a:p>
            <a:r>
              <a:rPr lang="en-US" altLang="zh-CN" sz="4000" dirty="0"/>
              <a:t>A Constructive </a:t>
            </a:r>
            <a:br>
              <a:rPr lang="en-US" altLang="zh-CN" sz="4000" dirty="0"/>
            </a:br>
            <a:r>
              <a:rPr lang="en-US" altLang="zh-CN" sz="4000" dirty="0"/>
              <a:t>Existence Proof</a:t>
            </a:r>
            <a:endParaRPr lang="en-US" altLang="zh-CN" sz="4000" dirty="0"/>
          </a:p>
        </p:txBody>
      </p:sp>
      <p:sp>
        <p:nvSpPr>
          <p:cNvPr id="33795" name="内容占位符 2"/>
          <p:cNvSpPr>
            <a:spLocks noGrp="1"/>
          </p:cNvSpPr>
          <p:nvPr>
            <p:ph idx="1"/>
          </p:nvPr>
        </p:nvSpPr>
        <p:spPr>
          <a:xfrm>
            <a:off x="755333" y="1556703"/>
            <a:ext cx="8208962" cy="4114800"/>
          </a:xfrm>
        </p:spPr>
        <p:txBody>
          <a:bodyPr vert="horz" wrap="square" lIns="91440" tIns="45720" rIns="91440" bIns="45720" anchor="t" anchorCtr="0"/>
          <a:p>
            <a:pPr>
              <a:buNone/>
            </a:pPr>
            <a:r>
              <a:rPr lang="en-US" altLang="zh-CN" b="1" dirty="0"/>
              <a:t> </a:t>
            </a:r>
            <a:r>
              <a:rPr lang="en-US" altLang="zh-CN" b="1" dirty="0">
                <a:latin typeface="Times New Roman" panose="02020503050405090304" pitchFamily="18" charset="0"/>
              </a:rPr>
              <a:t>Example 10</a:t>
            </a:r>
            <a:r>
              <a:rPr lang="en-US" altLang="zh-CN" dirty="0">
                <a:latin typeface="Times New Roman" panose="02020503050405090304" pitchFamily="18" charset="0"/>
              </a:rPr>
              <a:t>: Show that there is a positive integer that can be  written as the sum of cubes of positive integers in two different ways:</a:t>
            </a:r>
            <a:endParaRPr lang="en-US" altLang="zh-CN" dirty="0">
              <a:latin typeface="Times New Roman" panose="02020503050405090304" pitchFamily="18" charset="0"/>
            </a:endParaRPr>
          </a:p>
          <a:p>
            <a:pPr>
              <a:buNone/>
            </a:pPr>
            <a:r>
              <a:rPr lang="en-US" altLang="zh-CN" dirty="0">
                <a:latin typeface="Times New Roman" panose="02020503050405090304" pitchFamily="18" charset="0"/>
              </a:rPr>
              <a:t>  </a:t>
            </a:r>
            <a:r>
              <a:rPr lang="en-US" altLang="zh-CN" b="1" dirty="0">
                <a:latin typeface="Times New Roman" panose="02020503050405090304" pitchFamily="18" charset="0"/>
              </a:rPr>
              <a:t>Proof</a:t>
            </a:r>
            <a:r>
              <a:rPr lang="en-US" altLang="zh-CN" dirty="0">
                <a:latin typeface="Times New Roman" panose="02020503050405090304" pitchFamily="18" charset="0"/>
              </a:rPr>
              <a:t>:    </a:t>
            </a:r>
            <a:endParaRPr lang="en-US" altLang="zh-CN" dirty="0">
              <a:latin typeface="Times New Roman" panose="02020503050405090304" pitchFamily="18" charset="0"/>
            </a:endParaRPr>
          </a:p>
          <a:p>
            <a:pPr>
              <a:buNone/>
            </a:pPr>
            <a:r>
              <a:rPr lang="en-US" altLang="zh-CN" dirty="0">
                <a:latin typeface="Times New Roman" panose="02020503050405090304" pitchFamily="18" charset="0"/>
              </a:rPr>
              <a:t>         1729 = 10</a:t>
            </a:r>
            <a:r>
              <a:rPr lang="en-US" altLang="zh-CN" baseline="30000" dirty="0">
                <a:latin typeface="Times New Roman" panose="02020503050405090304" pitchFamily="18" charset="0"/>
              </a:rPr>
              <a:t>3</a:t>
            </a:r>
            <a:r>
              <a:rPr lang="en-US" altLang="zh-CN" dirty="0">
                <a:latin typeface="Times New Roman" panose="02020503050405090304" pitchFamily="18" charset="0"/>
              </a:rPr>
              <a:t>  + 9</a:t>
            </a:r>
            <a:r>
              <a:rPr lang="en-US" altLang="zh-CN" baseline="30000" dirty="0">
                <a:latin typeface="Times New Roman" panose="02020503050405090304" pitchFamily="18" charset="0"/>
              </a:rPr>
              <a:t>3</a:t>
            </a:r>
            <a:r>
              <a:rPr lang="en-US" altLang="zh-CN" dirty="0">
                <a:latin typeface="Times New Roman" panose="02020503050405090304" pitchFamily="18" charset="0"/>
              </a:rPr>
              <a:t>  = 12</a:t>
            </a:r>
            <a:r>
              <a:rPr lang="en-US" altLang="zh-CN" baseline="30000" dirty="0">
                <a:latin typeface="Times New Roman" panose="02020503050405090304" pitchFamily="18" charset="0"/>
              </a:rPr>
              <a:t>3</a:t>
            </a:r>
            <a:r>
              <a:rPr lang="en-US" altLang="zh-CN" dirty="0">
                <a:latin typeface="Times New Roman" panose="02020503050405090304" pitchFamily="18" charset="0"/>
              </a:rPr>
              <a:t>  + 1</a:t>
            </a:r>
            <a:r>
              <a:rPr lang="en-US" altLang="zh-CN" baseline="30000" dirty="0">
                <a:latin typeface="Times New Roman" panose="02020503050405090304" pitchFamily="18" charset="0"/>
              </a:rPr>
              <a:t>3</a:t>
            </a:r>
            <a:endParaRPr lang="zh-CN" altLang="en-US" dirty="0">
              <a:latin typeface="Times New Roman" panose="02020503050405090304" pitchFamily="18" charset="0"/>
            </a:endParaRPr>
          </a:p>
        </p:txBody>
      </p:sp>
      <p:sp>
        <p:nvSpPr>
          <p:cNvPr id="3379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379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379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481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482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34821" name="Rectangle 2"/>
          <p:cNvSpPr>
            <a:spLocks noGrp="1"/>
          </p:cNvSpPr>
          <p:nvPr>
            <p:ph type="title"/>
          </p:nvPr>
        </p:nvSpPr>
        <p:spPr/>
        <p:txBody>
          <a:bodyPr vert="horz" wrap="square" lIns="91440" tIns="45720" rIns="91440" bIns="45720" anchor="b" anchorCtr="0"/>
          <a:p>
            <a:pPr eaLnBrk="1" hangingPunct="1"/>
            <a:r>
              <a:rPr lang="en-US" altLang="zh-CN" sz="4000" dirty="0"/>
              <a:t>A Constructive </a:t>
            </a:r>
            <a:br>
              <a:rPr lang="en-US" altLang="zh-CN" sz="4000" dirty="0"/>
            </a:br>
            <a:r>
              <a:rPr lang="en-US" altLang="zh-CN" sz="4000" dirty="0"/>
              <a:t>Existence Proof</a:t>
            </a:r>
            <a:endParaRPr lang="en-US" altLang="zh-CN" sz="4000" dirty="0"/>
          </a:p>
        </p:txBody>
      </p:sp>
      <p:sp>
        <p:nvSpPr>
          <p:cNvPr id="34822" name="Rectangle 3"/>
          <p:cNvSpPr>
            <a:spLocks noGrp="1"/>
          </p:cNvSpPr>
          <p:nvPr>
            <p:ph idx="1"/>
          </p:nvPr>
        </p:nvSpPr>
        <p:spPr/>
        <p:txBody>
          <a:bodyPr vert="horz" wrap="square" lIns="91440" tIns="45720" rIns="91440" bIns="45720" anchor="t" anchorCtr="0"/>
          <a:p>
            <a:pPr eaLnBrk="1" hangingPunct="1"/>
            <a:r>
              <a:rPr lang="en-US" altLang="zh-CN" b="1" dirty="0">
                <a:latin typeface="Times New Roman" panose="02020503050405090304" pitchFamily="18" charset="0"/>
                <a:cs typeface="Times New Roman" panose="02020503050405090304" pitchFamily="18" charset="0"/>
              </a:rPr>
              <a:t>Theorem:  </a:t>
            </a:r>
            <a:r>
              <a:rPr lang="en-US" altLang="zh-CN" dirty="0">
                <a:latin typeface="Times New Roman" panose="02020503050405090304" pitchFamily="18" charset="0"/>
                <a:cs typeface="Times New Roman" panose="02020503050405090304" pitchFamily="18" charset="0"/>
              </a:rPr>
              <a:t>For any integer </a:t>
            </a:r>
            <a:r>
              <a:rPr lang="en-US" altLang="zh-CN" i="1" dirty="0">
                <a:latin typeface="Times New Roman" panose="02020503050405090304" pitchFamily="18" charset="0"/>
                <a:cs typeface="Times New Roman" panose="02020503050405090304" pitchFamily="18" charset="0"/>
              </a:rPr>
              <a:t>n</a:t>
            </a:r>
            <a:r>
              <a:rPr lang="en-US" altLang="zh-CN" dirty="0">
                <a:latin typeface="Times New Roman" panose="02020503050405090304" pitchFamily="18" charset="0"/>
                <a:cs typeface="Times New Roman" panose="02020503050405090304" pitchFamily="18" charset="0"/>
              </a:rPr>
              <a:t>&gt;0, there exists a sequence of </a:t>
            </a:r>
            <a:r>
              <a:rPr lang="en-US" altLang="zh-CN" i="1" dirty="0">
                <a:latin typeface="Times New Roman" panose="02020503050405090304" pitchFamily="18" charset="0"/>
                <a:cs typeface="Times New Roman" panose="02020503050405090304" pitchFamily="18" charset="0"/>
              </a:rPr>
              <a:t>n</a:t>
            </a:r>
            <a:r>
              <a:rPr lang="en-US" altLang="zh-CN" dirty="0">
                <a:latin typeface="Times New Roman" panose="02020503050405090304" pitchFamily="18" charset="0"/>
                <a:cs typeface="Times New Roman" panose="02020503050405090304" pitchFamily="18" charset="0"/>
              </a:rPr>
              <a:t> consecutive composite integers.</a:t>
            </a:r>
            <a:endParaRPr lang="en-US" altLang="zh-CN" dirty="0">
              <a:latin typeface="Times New Roman" panose="02020503050405090304" pitchFamily="18" charset="0"/>
              <a:cs typeface="Times New Roman" panose="02020503050405090304" pitchFamily="18" charset="0"/>
            </a:endParaRPr>
          </a:p>
          <a:p>
            <a:pPr eaLnBrk="1" hangingPunct="1"/>
            <a:r>
              <a:rPr lang="en-US" altLang="zh-CN" dirty="0">
                <a:latin typeface="Times New Roman" panose="02020503050405090304" pitchFamily="18" charset="0"/>
                <a:cs typeface="Times New Roman" panose="02020503050405090304" pitchFamily="18" charset="0"/>
                <a:sym typeface="Symbol" panose="05050102010706020507" pitchFamily="18" charset="2"/>
              </a:rPr>
              <a:t>Same statement in predicate logic:</a:t>
            </a:r>
            <a:br>
              <a:rPr lang="en-US" altLang="zh-CN" dirty="0">
                <a:latin typeface="Times New Roman" panose="02020503050405090304" pitchFamily="18" charset="0"/>
                <a:cs typeface="Times New Roman" panose="02020503050405090304" pitchFamily="18" charset="0"/>
                <a:sym typeface="Symbol" panose="05050102010706020507" pitchFamily="18" charset="2"/>
              </a:rPr>
            </a:b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n</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&gt;0 </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x </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i</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(1</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i</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n</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x</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i</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is composite)</a:t>
            </a:r>
            <a:endPar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endParaRPr>
          </a:p>
          <a:p>
            <a:pPr eaLnBrk="1" hangingPunct="1"/>
            <a:r>
              <a:rPr lang="en-US" altLang="zh-CN" dirty="0">
                <a:latin typeface="Times New Roman" panose="02020503050405090304" pitchFamily="18" charset="0"/>
                <a:cs typeface="Times New Roman" panose="02020503050405090304" pitchFamily="18" charset="0"/>
                <a:sym typeface="Symbol" panose="05050102010706020507" pitchFamily="18" charset="2"/>
              </a:rPr>
              <a:t>Proof follows on next slide</a:t>
            </a:r>
            <a:r>
              <a:rPr lang="en-US" altLang="zh-CN" dirty="0">
                <a:latin typeface="Times New Roman" panose="02020503050405090304" pitchFamily="18" charset="0"/>
                <a:cs typeface="Times New Roman" panose="02020503050405090304" pitchFamily="18" charset="0"/>
                <a:sym typeface="Symbol" panose="05050102010706020507" pitchFamily="18" charset="2"/>
              </a:rPr>
              <a:t>…</a:t>
            </a:r>
            <a:endParaRPr lang="en-US" altLang="zh-CN" dirty="0">
              <a:latin typeface="Times New Roman" panose="02020503050405090304" pitchFamily="18" charset="0"/>
              <a:cs typeface="Times New Roman" panose="02020503050405090304" pitchFamily="18" charset="0"/>
              <a:sym typeface="Symbol" panose="05050102010706020507" pitchFamily="18" charset="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584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584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35845" name="Rectangle 2"/>
          <p:cNvSpPr>
            <a:spLocks noGrp="1"/>
          </p:cNvSpPr>
          <p:nvPr>
            <p:ph type="title"/>
          </p:nvPr>
        </p:nvSpPr>
        <p:spPr/>
        <p:txBody>
          <a:bodyPr vert="horz" wrap="square" lIns="91440" tIns="45720" rIns="91440" bIns="45720" anchor="b" anchorCtr="0"/>
          <a:p>
            <a:pPr eaLnBrk="1" hangingPunct="1"/>
            <a:r>
              <a:rPr lang="en-US" altLang="zh-CN" dirty="0"/>
              <a:t>The proof...</a:t>
            </a:r>
            <a:endParaRPr lang="en-US" altLang="zh-CN" dirty="0"/>
          </a:p>
        </p:txBody>
      </p:sp>
      <p:sp>
        <p:nvSpPr>
          <p:cNvPr id="35846" name="Rectangle 3"/>
          <p:cNvSpPr>
            <a:spLocks noGrp="1"/>
          </p:cNvSpPr>
          <p:nvPr>
            <p:ph idx="1"/>
          </p:nvPr>
        </p:nvSpPr>
        <p:spPr/>
        <p:txBody>
          <a:bodyPr vert="horz" wrap="square" lIns="91440" tIns="45720" rIns="91440" bIns="45720" anchor="t" anchorCtr="0"/>
          <a:p>
            <a:pPr eaLnBrk="1" hangingPunct="1"/>
            <a:r>
              <a:rPr lang="en-US" altLang="zh-CN" sz="2800" dirty="0">
                <a:latin typeface="Times New Roman" panose="02020503050405090304" pitchFamily="18" charset="0"/>
                <a:cs typeface="Times New Roman" panose="02020503050405090304" pitchFamily="18" charset="0"/>
              </a:rPr>
              <a:t>Given </a:t>
            </a:r>
            <a:r>
              <a:rPr lang="en-US" altLang="zh-CN" sz="2800" i="1" dirty="0">
                <a:solidFill>
                  <a:srgbClr val="FF0000"/>
                </a:solidFill>
                <a:latin typeface="Times New Roman" panose="02020503050405090304" pitchFamily="18" charset="0"/>
                <a:cs typeface="Times New Roman" panose="02020503050405090304" pitchFamily="18" charset="0"/>
              </a:rPr>
              <a:t>n</a:t>
            </a:r>
            <a:r>
              <a:rPr lang="en-US" altLang="zh-CN" sz="2800" dirty="0">
                <a:solidFill>
                  <a:srgbClr val="FF0000"/>
                </a:solidFill>
                <a:latin typeface="Times New Roman" panose="02020503050405090304" pitchFamily="18" charset="0"/>
                <a:cs typeface="Times New Roman" panose="02020503050405090304" pitchFamily="18" charset="0"/>
              </a:rPr>
              <a:t>&gt;0</a:t>
            </a:r>
            <a:r>
              <a:rPr lang="en-US" altLang="zh-CN" sz="2800" dirty="0">
                <a:latin typeface="Times New Roman" panose="02020503050405090304" pitchFamily="18" charset="0"/>
                <a:cs typeface="Times New Roman" panose="02020503050405090304" pitchFamily="18" charset="0"/>
              </a:rPr>
              <a:t>, let </a:t>
            </a:r>
            <a:r>
              <a:rPr lang="en-US" altLang="zh-CN" sz="2800" i="1" dirty="0">
                <a:solidFill>
                  <a:srgbClr val="FF0000"/>
                </a:solidFill>
                <a:latin typeface="Times New Roman" panose="02020503050405090304" pitchFamily="18" charset="0"/>
                <a:cs typeface="Times New Roman" panose="02020503050405090304" pitchFamily="18" charset="0"/>
              </a:rPr>
              <a:t>x</a:t>
            </a:r>
            <a:r>
              <a:rPr lang="en-US" altLang="zh-CN" sz="2800" dirty="0">
                <a:solidFill>
                  <a:srgbClr val="FF0000"/>
                </a:solidFill>
                <a:latin typeface="Times New Roman" panose="02020503050405090304" pitchFamily="18" charset="0"/>
                <a:cs typeface="Times New Roman" panose="02020503050405090304" pitchFamily="18" charset="0"/>
              </a:rPr>
              <a:t> = (</a:t>
            </a:r>
            <a:r>
              <a:rPr lang="en-US" altLang="zh-CN" sz="2800" i="1" dirty="0">
                <a:solidFill>
                  <a:srgbClr val="FF0000"/>
                </a:solidFill>
                <a:latin typeface="Times New Roman" panose="02020503050405090304" pitchFamily="18" charset="0"/>
                <a:cs typeface="Times New Roman" panose="02020503050405090304" pitchFamily="18" charset="0"/>
              </a:rPr>
              <a:t>n</a:t>
            </a:r>
            <a:r>
              <a:rPr lang="en-US" altLang="zh-CN" sz="2800" dirty="0">
                <a:solidFill>
                  <a:srgbClr val="FF0000"/>
                </a:solidFill>
                <a:latin typeface="Times New Roman" panose="02020503050405090304" pitchFamily="18" charset="0"/>
                <a:cs typeface="Times New Roman" panose="02020503050405090304" pitchFamily="18" charset="0"/>
              </a:rPr>
              <a:t> + 1)! + 1</a:t>
            </a:r>
            <a:r>
              <a:rPr lang="en-US" altLang="zh-CN" sz="2800" dirty="0">
                <a:latin typeface="Times New Roman" panose="02020503050405090304" pitchFamily="18" charset="0"/>
                <a:cs typeface="Times New Roman" panose="02020503050405090304" pitchFamily="18" charset="0"/>
              </a:rPr>
              <a:t>.</a:t>
            </a:r>
            <a:endParaRPr lang="en-US" altLang="zh-CN" sz="2800" dirty="0">
              <a:latin typeface="Times New Roman" panose="02020503050405090304" pitchFamily="18" charset="0"/>
              <a:cs typeface="Times New Roman" panose="02020503050405090304" pitchFamily="18" charset="0"/>
            </a:endParaRPr>
          </a:p>
          <a:p>
            <a:pPr eaLnBrk="1" hangingPunct="1"/>
            <a:r>
              <a:rPr lang="en-US" altLang="zh-CN" sz="2800" dirty="0">
                <a:latin typeface="Times New Roman" panose="02020503050405090304" pitchFamily="18" charset="0"/>
                <a:cs typeface="Times New Roman" panose="02020503050405090304" pitchFamily="18" charset="0"/>
              </a:rPr>
              <a:t>Let </a:t>
            </a:r>
            <a:r>
              <a:rPr lang="en-US" altLang="zh-CN" sz="2800" i="1" dirty="0">
                <a:solidFill>
                  <a:srgbClr val="FF0000"/>
                </a:solidFill>
                <a:latin typeface="Times New Roman" panose="02020503050405090304" pitchFamily="18" charset="0"/>
                <a:cs typeface="Times New Roman" panose="02020503050405090304" pitchFamily="18" charset="0"/>
              </a:rPr>
              <a:t>i </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1</a:t>
            </a:r>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 and </a:t>
            </a:r>
            <a:r>
              <a:rPr lang="en-US" altLang="zh-CN" sz="2800" i="1" dirty="0">
                <a:solidFill>
                  <a:srgbClr val="FF0000"/>
                </a:solidFill>
                <a:latin typeface="Times New Roman" panose="02020503050405090304" pitchFamily="18" charset="0"/>
                <a:cs typeface="Times New Roman" panose="02020503050405090304" pitchFamily="18" charset="0"/>
              </a:rPr>
              <a:t>i </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n</a:t>
            </a:r>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 and consider </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x</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i</a:t>
            </a:r>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a:t>
            </a:r>
            <a:endParaRPr lang="en-US" altLang="zh-CN" sz="2800" dirty="0">
              <a:latin typeface="Times New Roman" panose="02020503050405090304" pitchFamily="18" charset="0"/>
              <a:cs typeface="Times New Roman" panose="02020503050405090304" pitchFamily="18" charset="0"/>
              <a:sym typeface="Symbol" panose="05050102010706020507" pitchFamily="18" charset="2"/>
            </a:endParaRPr>
          </a:p>
          <a:p>
            <a:pPr eaLnBrk="1" hangingPunct="1"/>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Note </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x</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i</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 (</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n</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+ 1)! + (</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i</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+ 1)</a:t>
            </a:r>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a:t>
            </a:r>
            <a:endParaRPr lang="en-US" altLang="zh-CN" sz="2800" dirty="0">
              <a:latin typeface="Times New Roman" panose="02020503050405090304" pitchFamily="18" charset="0"/>
              <a:cs typeface="Times New Roman" panose="02020503050405090304" pitchFamily="18" charset="0"/>
              <a:sym typeface="Symbol" panose="05050102010706020507" pitchFamily="18" charset="2"/>
            </a:endParaRPr>
          </a:p>
          <a:p>
            <a:pPr eaLnBrk="1" hangingPunct="1"/>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Note </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i</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+1)|(</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n</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+1)!</a:t>
            </a:r>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 since </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2   </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i</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+1  </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n</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+1</a:t>
            </a:r>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a:t>
            </a:r>
            <a:endParaRPr lang="en-US" altLang="zh-CN" sz="2800" dirty="0">
              <a:latin typeface="Times New Roman" panose="02020503050405090304" pitchFamily="18" charset="0"/>
              <a:cs typeface="Times New Roman" panose="02020503050405090304" pitchFamily="18" charset="0"/>
              <a:sym typeface="Symbol" panose="05050102010706020507" pitchFamily="18" charset="2"/>
            </a:endParaRPr>
          </a:p>
          <a:p>
            <a:pPr eaLnBrk="1" hangingPunct="1"/>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Also </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i</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+1)|(</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i</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+1)</a:t>
            </a:r>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  So, </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i</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+1)|(</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x+i</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  </a:t>
            </a:r>
            <a:endParaRPr lang="en-US" altLang="zh-CN" sz="2800" dirty="0">
              <a:latin typeface="Times New Roman" panose="02020503050405090304" pitchFamily="18" charset="0"/>
              <a:cs typeface="Times New Roman" panose="02020503050405090304" pitchFamily="18" charset="0"/>
              <a:sym typeface="Symbol" panose="05050102010706020507" pitchFamily="18" charset="2"/>
            </a:endParaRPr>
          </a:p>
          <a:p>
            <a:pPr eaLnBrk="1" hangingPunct="1"/>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 </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x+i</a:t>
            </a:r>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 is composite.  </a:t>
            </a:r>
            <a:endParaRPr lang="en-US" altLang="zh-CN" sz="2800" dirty="0">
              <a:latin typeface="Times New Roman" panose="02020503050405090304" pitchFamily="18" charset="0"/>
              <a:cs typeface="Times New Roman" panose="02020503050405090304" pitchFamily="18" charset="0"/>
              <a:sym typeface="Symbol" panose="05050102010706020507" pitchFamily="18" charset="2"/>
            </a:endParaRPr>
          </a:p>
          <a:p>
            <a:pPr eaLnBrk="1" hangingPunct="1"/>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 </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n</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x </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1</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i</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n </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x</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i</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is composite</a:t>
            </a:r>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 Q.E.D.</a:t>
            </a:r>
            <a:endParaRPr lang="en-US" altLang="zh-CN" sz="2800" dirty="0">
              <a:latin typeface="Times New Roman" panose="02020503050405090304" pitchFamily="18" charset="0"/>
              <a:cs typeface="Times New Roman" panose="02020503050405090304" pitchFamily="18" charset="0"/>
              <a:sym typeface="Symbol" panose="05050102010706020507" pitchFamily="18" charset="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789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789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37893" name="Rectangle 2"/>
          <p:cNvSpPr>
            <a:spLocks noGrp="1"/>
          </p:cNvSpPr>
          <p:nvPr>
            <p:ph type="title"/>
          </p:nvPr>
        </p:nvSpPr>
        <p:spPr/>
        <p:txBody>
          <a:bodyPr vert="horz" wrap="square" lIns="91440" tIns="45720" rIns="91440" bIns="45720" anchor="b" anchorCtr="0"/>
          <a:p>
            <a:pPr eaLnBrk="1" hangingPunct="1"/>
            <a:r>
              <a:rPr lang="en-US" altLang="zh-CN" i="1" dirty="0">
                <a:solidFill>
                  <a:schemeClr val="hlink"/>
                </a:solidFill>
                <a:latin typeface="Times New Roman" panose="02020503050405090304" pitchFamily="18" charset="0"/>
              </a:rPr>
              <a:t>Nonconstructive</a:t>
            </a:r>
            <a:r>
              <a:rPr lang="en-US" altLang="zh-CN" b="1" i="1" dirty="0">
                <a:latin typeface="Times New Roman" panose="02020503050405090304" pitchFamily="18" charset="0"/>
              </a:rPr>
              <a:t> </a:t>
            </a:r>
            <a:r>
              <a:rPr lang="en-US" altLang="zh-CN" dirty="0">
                <a:latin typeface="Times New Roman" panose="02020503050405090304" pitchFamily="18" charset="0"/>
              </a:rPr>
              <a:t>existence proof</a:t>
            </a:r>
            <a:endParaRPr lang="en-US" altLang="zh-CN" dirty="0">
              <a:latin typeface="Times New Roman" panose="02020503050405090304" pitchFamily="18" charset="0"/>
            </a:endParaRPr>
          </a:p>
        </p:txBody>
      </p:sp>
      <p:sp>
        <p:nvSpPr>
          <p:cNvPr id="37894" name="Rectangle 3"/>
          <p:cNvSpPr>
            <a:spLocks noGrp="1"/>
          </p:cNvSpPr>
          <p:nvPr>
            <p:ph idx="1"/>
          </p:nvPr>
        </p:nvSpPr>
        <p:spPr>
          <a:xfrm>
            <a:off x="972185" y="1557020"/>
            <a:ext cx="7772400" cy="4114800"/>
          </a:xfrm>
        </p:spPr>
        <p:txBody>
          <a:bodyPr vert="horz" wrap="square" lIns="91440" tIns="45720" rIns="91440" bIns="45720" anchor="t" anchorCtr="0"/>
          <a:p>
            <a:pPr eaLnBrk="1" hangingPunct="1"/>
            <a:r>
              <a:rPr lang="en-US" altLang="zh-CN" dirty="0">
                <a:latin typeface="Times New Roman" panose="02020503050405090304" pitchFamily="18" charset="0"/>
              </a:rPr>
              <a:t>Assume no </a:t>
            </a:r>
            <a:r>
              <a:rPr lang="en-US" altLang="zh-CN" i="1" dirty="0">
                <a:latin typeface="Times New Roman" panose="02020503050405090304" pitchFamily="18" charset="0"/>
              </a:rPr>
              <a:t>c</a:t>
            </a:r>
            <a:r>
              <a:rPr lang="en-US" altLang="zh-CN" dirty="0">
                <a:latin typeface="Times New Roman" panose="02020503050405090304" pitchFamily="18" charset="0"/>
              </a:rPr>
              <a:t> exists which makes </a:t>
            </a:r>
            <a:r>
              <a:rPr lang="en-US" altLang="zh-CN" i="1" dirty="0">
                <a:latin typeface="Times New Roman" panose="02020503050405090304" pitchFamily="18" charset="0"/>
              </a:rPr>
              <a:t>P</a:t>
            </a:r>
            <a:r>
              <a:rPr lang="en-US" altLang="zh-CN" dirty="0">
                <a:latin typeface="Times New Roman" panose="02020503050405090304" pitchFamily="18" charset="0"/>
              </a:rPr>
              <a:t>(</a:t>
            </a:r>
            <a:r>
              <a:rPr lang="en-US" altLang="zh-CN" i="1" dirty="0">
                <a:latin typeface="Times New Roman" panose="02020503050405090304" pitchFamily="18" charset="0"/>
              </a:rPr>
              <a:t>c</a:t>
            </a:r>
            <a:r>
              <a:rPr lang="en-US" altLang="zh-CN" dirty="0">
                <a:latin typeface="Times New Roman" panose="02020503050405090304" pitchFamily="18" charset="0"/>
              </a:rPr>
              <a:t>) true and derive a contradiction.</a:t>
            </a:r>
            <a:endParaRPr lang="en-US" altLang="zh-CN" dirty="0">
              <a:latin typeface="Times New Roman" panose="0202050305040509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891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891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38917" name="Rectangle 2"/>
          <p:cNvSpPr>
            <a:spLocks noGrp="1"/>
          </p:cNvSpPr>
          <p:nvPr>
            <p:ph type="title"/>
          </p:nvPr>
        </p:nvSpPr>
        <p:spPr/>
        <p:txBody>
          <a:bodyPr vert="horz" wrap="square" lIns="91440" tIns="45720" rIns="91440" bIns="45720" anchor="b" anchorCtr="0"/>
          <a:p>
            <a:pPr eaLnBrk="1" hangingPunct="1"/>
            <a:r>
              <a:rPr lang="en-US" altLang="zh-CN" sz="4000" dirty="0"/>
              <a:t>Nonconstructive Existence Proof</a:t>
            </a:r>
            <a:endParaRPr lang="en-US" altLang="zh-CN" sz="4000" dirty="0"/>
          </a:p>
        </p:txBody>
      </p:sp>
      <p:sp>
        <p:nvSpPr>
          <p:cNvPr id="38918" name="Rectangle 3"/>
          <p:cNvSpPr>
            <a:spLocks noGrp="1"/>
          </p:cNvSpPr>
          <p:nvPr>
            <p:ph idx="1"/>
          </p:nvPr>
        </p:nvSpPr>
        <p:spPr>
          <a:xfrm>
            <a:off x="755650" y="1484630"/>
            <a:ext cx="8214360" cy="4419600"/>
          </a:xfrm>
        </p:spPr>
        <p:txBody>
          <a:bodyPr vert="horz" wrap="square" lIns="91440" tIns="45720" rIns="91440" bIns="45720" anchor="t" anchorCtr="0"/>
          <a:p>
            <a:pPr eaLnBrk="1" hangingPunct="1"/>
            <a:r>
              <a:rPr lang="en-US" altLang="zh-CN" b="1" dirty="0">
                <a:latin typeface="Times New Roman" panose="02020503050405090304" pitchFamily="18" charset="0"/>
                <a:cs typeface="Times New Roman" panose="02020503050405090304" pitchFamily="18" charset="0"/>
              </a:rPr>
              <a:t>Theorem:</a:t>
            </a:r>
            <a:r>
              <a:rPr lang="en-US" altLang="zh-CN" dirty="0">
                <a:latin typeface="Times New Roman" panose="02020503050405090304" pitchFamily="18" charset="0"/>
                <a:cs typeface="Times New Roman" panose="02020503050405090304" pitchFamily="18" charset="0"/>
              </a:rPr>
              <a:t> There are infinitely many prime numbers.</a:t>
            </a:r>
            <a:endParaRPr lang="en-US" altLang="zh-CN" dirty="0">
              <a:latin typeface="Times New Roman" panose="02020503050405090304" pitchFamily="18" charset="0"/>
              <a:cs typeface="Times New Roman" panose="02020503050405090304" pitchFamily="18" charset="0"/>
            </a:endParaRPr>
          </a:p>
          <a:p>
            <a:pPr lvl="1" eaLnBrk="1" hangingPunct="1"/>
            <a:r>
              <a:rPr lang="en-US" altLang="zh-CN" dirty="0">
                <a:latin typeface="Times New Roman" panose="02020503050405090304" pitchFamily="18" charset="0"/>
                <a:cs typeface="Times New Roman" panose="02020503050405090304" pitchFamily="18" charset="0"/>
              </a:rPr>
              <a:t>Any finite set of numbers must contain a maximal element, so we can prove the theorem  if we can just show that there is no </a:t>
            </a:r>
            <a:r>
              <a:rPr lang="en-US" altLang="zh-CN" i="1" dirty="0">
                <a:latin typeface="Times New Roman" panose="02020503050405090304" pitchFamily="18" charset="0"/>
                <a:cs typeface="Times New Roman" panose="02020503050405090304" pitchFamily="18" charset="0"/>
              </a:rPr>
              <a:t>largest</a:t>
            </a:r>
            <a:r>
              <a:rPr lang="en-US" altLang="zh-CN" dirty="0">
                <a:latin typeface="Times New Roman" panose="02020503050405090304" pitchFamily="18" charset="0"/>
                <a:cs typeface="Times New Roman" panose="02020503050405090304" pitchFamily="18" charset="0"/>
              </a:rPr>
              <a:t> prime number.</a:t>
            </a:r>
            <a:endParaRPr lang="en-US" altLang="zh-CN" dirty="0">
              <a:latin typeface="Times New Roman" panose="02020503050405090304" pitchFamily="18" charset="0"/>
              <a:cs typeface="Times New Roman" panose="02020503050405090304" pitchFamily="18" charset="0"/>
            </a:endParaRPr>
          </a:p>
          <a:p>
            <a:pPr lvl="1" eaLnBrk="1" hangingPunct="1"/>
            <a:r>
              <a:rPr lang="en-US" altLang="zh-CN" i="1" dirty="0">
                <a:latin typeface="Times New Roman" panose="02020503050405090304" pitchFamily="18" charset="0"/>
                <a:cs typeface="Times New Roman" panose="02020503050405090304" pitchFamily="18" charset="0"/>
              </a:rPr>
              <a:t>I.e.</a:t>
            </a:r>
            <a:r>
              <a:rPr lang="en-US" altLang="zh-CN" dirty="0">
                <a:latin typeface="Times New Roman" panose="02020503050405090304" pitchFamily="18" charset="0"/>
                <a:cs typeface="Times New Roman" panose="02020503050405090304" pitchFamily="18" charset="0"/>
              </a:rPr>
              <a:t>, show that for any prime number, there is a larger number that is </a:t>
            </a:r>
            <a:r>
              <a:rPr lang="en-US" altLang="zh-CN" i="1" dirty="0">
                <a:latin typeface="Times New Roman" panose="02020503050405090304" pitchFamily="18" charset="0"/>
                <a:cs typeface="Times New Roman" panose="02020503050405090304" pitchFamily="18" charset="0"/>
              </a:rPr>
              <a:t>also</a:t>
            </a:r>
            <a:r>
              <a:rPr lang="en-US" altLang="zh-CN" dirty="0">
                <a:latin typeface="Times New Roman" panose="02020503050405090304" pitchFamily="18" charset="0"/>
                <a:cs typeface="Times New Roman" panose="02020503050405090304" pitchFamily="18" charset="0"/>
              </a:rPr>
              <a:t> prime.</a:t>
            </a:r>
            <a:endParaRPr lang="en-US" altLang="zh-CN" dirty="0">
              <a:latin typeface="Times New Roman" panose="02020503050405090304" pitchFamily="18" charset="0"/>
              <a:cs typeface="Times New Roman" panose="02020503050405090304" pitchFamily="18" charset="0"/>
            </a:endParaRPr>
          </a:p>
          <a:p>
            <a:pPr lvl="1" eaLnBrk="1" hangingPunct="1"/>
            <a:r>
              <a:rPr lang="en-US" altLang="zh-CN" dirty="0">
                <a:latin typeface="Times New Roman" panose="02020503050405090304" pitchFamily="18" charset="0"/>
                <a:cs typeface="Times New Roman" panose="02020503050405090304" pitchFamily="18" charset="0"/>
              </a:rPr>
              <a:t>More generally: For </a:t>
            </a:r>
            <a:r>
              <a:rPr lang="en-US" altLang="zh-CN" i="1" dirty="0">
                <a:latin typeface="Times New Roman" panose="02020503050405090304" pitchFamily="18" charset="0"/>
                <a:cs typeface="Times New Roman" panose="02020503050405090304" pitchFamily="18" charset="0"/>
              </a:rPr>
              <a:t>any</a:t>
            </a:r>
            <a:r>
              <a:rPr lang="en-US" altLang="zh-CN" dirty="0">
                <a:latin typeface="Times New Roman" panose="02020503050405090304" pitchFamily="18" charset="0"/>
                <a:cs typeface="Times New Roman" panose="02020503050405090304" pitchFamily="18" charset="0"/>
              </a:rPr>
              <a:t> number, </a:t>
            </a:r>
            <a:r>
              <a:rPr lang="en-US" altLang="zh-CN" dirty="0">
                <a:latin typeface="Times New Roman" panose="02020503050405090304" pitchFamily="18" charset="0"/>
                <a:cs typeface="Times New Roman" panose="02020503050405090304" pitchFamily="18" charset="0"/>
                <a:sym typeface="Symbol" panose="05050102010706020507" pitchFamily="18" charset="2"/>
              </a:rPr>
              <a:t> </a:t>
            </a:r>
            <a:r>
              <a:rPr lang="en-US" altLang="zh-CN" dirty="0">
                <a:latin typeface="Times New Roman" panose="02020503050405090304" pitchFamily="18" charset="0"/>
                <a:cs typeface="Times New Roman" panose="02020503050405090304" pitchFamily="18" charset="0"/>
              </a:rPr>
              <a:t>a larger prime.</a:t>
            </a:r>
            <a:endParaRPr lang="en-US" altLang="zh-CN" dirty="0">
              <a:latin typeface="Times New Roman" panose="02020503050405090304" pitchFamily="18" charset="0"/>
              <a:cs typeface="Times New Roman" panose="02020503050405090304" pitchFamily="18" charset="0"/>
            </a:endParaRPr>
          </a:p>
          <a:p>
            <a:pPr lvl="1" eaLnBrk="1" hangingPunct="1"/>
            <a:r>
              <a:rPr lang="en-US" altLang="zh-CN" dirty="0">
                <a:latin typeface="Times New Roman" panose="02020503050405090304" pitchFamily="18" charset="0"/>
                <a:cs typeface="Times New Roman" panose="02020503050405090304" pitchFamily="18" charset="0"/>
              </a:rPr>
              <a:t>Formally: Show </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n</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p&gt;n </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a:t>
            </a:r>
            <a:r>
              <a:rPr lang="en-US" altLang="zh-CN"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p</a:t>
            </a:r>
            <a:r>
              <a:rPr lang="en-US" altLang="zh-CN"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is prime</a:t>
            </a:r>
            <a:r>
              <a:rPr lang="en-US" altLang="zh-CN" dirty="0">
                <a:latin typeface="Times New Roman" panose="02020503050405090304" pitchFamily="18" charset="0"/>
                <a:cs typeface="Times New Roman" panose="02020503050405090304" pitchFamily="18" charset="0"/>
                <a:sym typeface="Symbol" panose="05050102010706020507" pitchFamily="18" charset="2"/>
              </a:rPr>
              <a:t>.</a:t>
            </a:r>
            <a:r>
              <a:rPr lang="en-US" altLang="zh-CN" i="1" dirty="0">
                <a:latin typeface="Times New Roman" panose="02020503050405090304" pitchFamily="18" charset="0"/>
                <a:cs typeface="Times New Roman" panose="02020503050405090304" pitchFamily="18" charset="0"/>
                <a:sym typeface="Symbol" panose="05050102010706020507" pitchFamily="18" charset="2"/>
              </a:rPr>
              <a:t> </a:t>
            </a:r>
            <a:endParaRPr lang="en-US" altLang="zh-CN" i="1" dirty="0">
              <a:latin typeface="Times New Roman" panose="02020503050405090304" pitchFamily="18" charset="0"/>
              <a:cs typeface="Times New Roman" panose="02020503050405090304" pitchFamily="18" charset="0"/>
              <a:sym typeface="Symbol" panose="05050102010706020507" pitchFamily="18" charset="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993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994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39941" name="Rectangle 2"/>
          <p:cNvSpPr>
            <a:spLocks noGrp="1"/>
          </p:cNvSpPr>
          <p:nvPr>
            <p:ph type="title"/>
          </p:nvPr>
        </p:nvSpPr>
        <p:spPr/>
        <p:txBody>
          <a:bodyPr vert="horz" wrap="square" lIns="91440" tIns="45720" rIns="91440" bIns="45720" anchor="b" anchorCtr="0"/>
          <a:p>
            <a:pPr eaLnBrk="1" hangingPunct="1"/>
            <a:r>
              <a:rPr lang="en-US" altLang="zh-CN" sz="4000" dirty="0"/>
              <a:t>The proof, using </a:t>
            </a:r>
            <a:r>
              <a:rPr lang="en-US" altLang="zh-CN" sz="4000" i="1" dirty="0"/>
              <a:t>proof by cases</a:t>
            </a:r>
            <a:r>
              <a:rPr lang="en-US" altLang="zh-CN" sz="4000" dirty="0"/>
              <a:t>...</a:t>
            </a:r>
            <a:endParaRPr lang="en-US" altLang="zh-CN" sz="4000" dirty="0"/>
          </a:p>
        </p:txBody>
      </p:sp>
      <p:sp>
        <p:nvSpPr>
          <p:cNvPr id="39942" name="Rectangle 3"/>
          <p:cNvSpPr>
            <a:spLocks noGrp="1"/>
          </p:cNvSpPr>
          <p:nvPr>
            <p:ph idx="1"/>
          </p:nvPr>
        </p:nvSpPr>
        <p:spPr/>
        <p:txBody>
          <a:bodyPr vert="horz" wrap="square" lIns="91440" tIns="45720" rIns="91440" bIns="45720" anchor="t" anchorCtr="0"/>
          <a:p>
            <a:pPr eaLnBrk="1" hangingPunct="1"/>
            <a:r>
              <a:rPr lang="en-US" altLang="zh-CN" sz="2800" dirty="0">
                <a:latin typeface="Times New Roman" panose="02020503050405090304" pitchFamily="18" charset="0"/>
                <a:cs typeface="Times New Roman" panose="02020503050405090304" pitchFamily="18" charset="0"/>
              </a:rPr>
              <a:t>Given </a:t>
            </a:r>
            <a:r>
              <a:rPr lang="en-US" altLang="zh-CN" sz="2800" i="1" dirty="0">
                <a:solidFill>
                  <a:srgbClr val="FF0000"/>
                </a:solidFill>
                <a:latin typeface="Times New Roman" panose="02020503050405090304" pitchFamily="18" charset="0"/>
                <a:cs typeface="Times New Roman" panose="02020503050405090304" pitchFamily="18" charset="0"/>
              </a:rPr>
              <a:t>n</a:t>
            </a:r>
            <a:r>
              <a:rPr lang="en-US" altLang="zh-CN" sz="2800" dirty="0">
                <a:solidFill>
                  <a:srgbClr val="FF0000"/>
                </a:solidFill>
                <a:latin typeface="Times New Roman" panose="02020503050405090304" pitchFamily="18" charset="0"/>
                <a:cs typeface="Times New Roman" panose="02020503050405090304" pitchFamily="18" charset="0"/>
              </a:rPr>
              <a:t>&gt;0</a:t>
            </a:r>
            <a:r>
              <a:rPr lang="en-US" altLang="zh-CN" sz="2800" dirty="0">
                <a:latin typeface="Times New Roman" panose="02020503050405090304" pitchFamily="18" charset="0"/>
                <a:cs typeface="Times New Roman" panose="02020503050405090304" pitchFamily="18" charset="0"/>
              </a:rPr>
              <a:t>, prove there is a prime </a:t>
            </a:r>
            <a:r>
              <a:rPr lang="en-US" altLang="zh-CN" sz="2800" i="1" dirty="0">
                <a:solidFill>
                  <a:srgbClr val="FF0000"/>
                </a:solidFill>
                <a:latin typeface="Times New Roman" panose="02020503050405090304" pitchFamily="18" charset="0"/>
                <a:cs typeface="Times New Roman" panose="02020503050405090304" pitchFamily="18" charset="0"/>
              </a:rPr>
              <a:t>p</a:t>
            </a:r>
            <a:r>
              <a:rPr lang="en-US" altLang="zh-CN" sz="2800" dirty="0">
                <a:solidFill>
                  <a:srgbClr val="FF0000"/>
                </a:solidFill>
                <a:latin typeface="Times New Roman" panose="02020503050405090304" pitchFamily="18" charset="0"/>
                <a:cs typeface="Times New Roman" panose="02020503050405090304" pitchFamily="18" charset="0"/>
              </a:rPr>
              <a:t>&gt;</a:t>
            </a:r>
            <a:r>
              <a:rPr lang="en-US" altLang="zh-CN" sz="2800" i="1" dirty="0">
                <a:solidFill>
                  <a:srgbClr val="FF0000"/>
                </a:solidFill>
                <a:latin typeface="Times New Roman" panose="02020503050405090304" pitchFamily="18" charset="0"/>
                <a:cs typeface="Times New Roman" panose="02020503050405090304" pitchFamily="18" charset="0"/>
              </a:rPr>
              <a:t>n</a:t>
            </a:r>
            <a:r>
              <a:rPr lang="en-US" altLang="zh-CN" sz="2800" dirty="0">
                <a:latin typeface="Times New Roman" panose="02020503050405090304" pitchFamily="18" charset="0"/>
                <a:cs typeface="Times New Roman" panose="02020503050405090304" pitchFamily="18" charset="0"/>
              </a:rPr>
              <a:t>. </a:t>
            </a:r>
            <a:endParaRPr lang="en-US" altLang="zh-CN" sz="2800" dirty="0">
              <a:latin typeface="Times New Roman" panose="02020503050405090304" pitchFamily="18" charset="0"/>
              <a:cs typeface="Times New Roman" panose="02020503050405090304" pitchFamily="18" charset="0"/>
            </a:endParaRPr>
          </a:p>
          <a:p>
            <a:pPr eaLnBrk="1" hangingPunct="1"/>
            <a:r>
              <a:rPr lang="en-US" altLang="zh-CN" sz="2800" dirty="0">
                <a:latin typeface="Times New Roman" panose="02020503050405090304" pitchFamily="18" charset="0"/>
                <a:cs typeface="Times New Roman" panose="02020503050405090304" pitchFamily="18" charset="0"/>
              </a:rPr>
              <a:t>Consider </a:t>
            </a:r>
            <a:r>
              <a:rPr lang="en-US" altLang="zh-CN" sz="2800" i="1" dirty="0">
                <a:solidFill>
                  <a:srgbClr val="FF0000"/>
                </a:solidFill>
                <a:latin typeface="Times New Roman" panose="02020503050405090304" pitchFamily="18" charset="0"/>
                <a:cs typeface="Times New Roman" panose="02020503050405090304" pitchFamily="18" charset="0"/>
              </a:rPr>
              <a:t>x </a:t>
            </a:r>
            <a:r>
              <a:rPr lang="en-US" altLang="zh-CN" sz="2800" dirty="0">
                <a:solidFill>
                  <a:srgbClr val="FF0000"/>
                </a:solidFill>
                <a:latin typeface="Times New Roman" panose="02020503050405090304" pitchFamily="18" charset="0"/>
                <a:cs typeface="Times New Roman" panose="02020503050405090304" pitchFamily="18" charset="0"/>
              </a:rPr>
              <a:t>= </a:t>
            </a:r>
            <a:r>
              <a:rPr lang="en-US" altLang="zh-CN" sz="2800" i="1" dirty="0">
                <a:solidFill>
                  <a:srgbClr val="FF0000"/>
                </a:solidFill>
                <a:latin typeface="Times New Roman" panose="02020503050405090304" pitchFamily="18" charset="0"/>
                <a:cs typeface="Times New Roman" panose="02020503050405090304" pitchFamily="18" charset="0"/>
              </a:rPr>
              <a:t>n</a:t>
            </a:r>
            <a:r>
              <a:rPr lang="en-US" altLang="zh-CN" sz="2800" dirty="0">
                <a:solidFill>
                  <a:srgbClr val="FF0000"/>
                </a:solidFill>
                <a:latin typeface="Times New Roman" panose="02020503050405090304" pitchFamily="18" charset="0"/>
                <a:cs typeface="Times New Roman" panose="02020503050405090304" pitchFamily="18" charset="0"/>
              </a:rPr>
              <a:t>!+1</a:t>
            </a:r>
            <a:r>
              <a:rPr lang="en-US" altLang="zh-CN" sz="2800" dirty="0">
                <a:latin typeface="Times New Roman" panose="02020503050405090304" pitchFamily="18" charset="0"/>
                <a:cs typeface="Times New Roman" panose="02020503050405090304" pitchFamily="18" charset="0"/>
              </a:rPr>
              <a:t>.  Since </a:t>
            </a:r>
            <a:r>
              <a:rPr lang="en-US" altLang="zh-CN" sz="2800" i="1" dirty="0">
                <a:solidFill>
                  <a:srgbClr val="FF0000"/>
                </a:solidFill>
                <a:latin typeface="Times New Roman" panose="02020503050405090304" pitchFamily="18" charset="0"/>
                <a:cs typeface="Times New Roman" panose="02020503050405090304" pitchFamily="18" charset="0"/>
              </a:rPr>
              <a:t>x</a:t>
            </a:r>
            <a:r>
              <a:rPr lang="en-US" altLang="zh-CN" sz="2800" dirty="0">
                <a:solidFill>
                  <a:srgbClr val="FF0000"/>
                </a:solidFill>
                <a:latin typeface="Times New Roman" panose="02020503050405090304" pitchFamily="18" charset="0"/>
                <a:cs typeface="Times New Roman" panose="02020503050405090304" pitchFamily="18" charset="0"/>
              </a:rPr>
              <a:t>&gt;1</a:t>
            </a:r>
            <a:r>
              <a:rPr lang="en-US" altLang="zh-CN" sz="2800" dirty="0">
                <a:latin typeface="Times New Roman" panose="02020503050405090304" pitchFamily="18" charset="0"/>
                <a:cs typeface="Times New Roman" panose="02020503050405090304" pitchFamily="18" charset="0"/>
              </a:rPr>
              <a:t>, we know </a:t>
            </a:r>
            <a:br>
              <a:rPr lang="en-US" altLang="zh-CN" sz="2800" dirty="0">
                <a:latin typeface="Times New Roman" panose="02020503050405090304" pitchFamily="18" charset="0"/>
                <a:cs typeface="Times New Roman" panose="02020503050405090304" pitchFamily="18" charset="0"/>
              </a:rPr>
            </a:br>
            <a:r>
              <a:rPr lang="en-US" altLang="zh-CN" sz="2800" dirty="0">
                <a:latin typeface="Times New Roman" panose="02020503050405090304" pitchFamily="18" charset="0"/>
                <a:cs typeface="Times New Roman" panose="02020503050405090304" pitchFamily="18" charset="0"/>
              </a:rPr>
              <a:t>that </a:t>
            </a:r>
            <a:r>
              <a:rPr lang="en-US" altLang="zh-CN" sz="2800" dirty="0">
                <a:solidFill>
                  <a:srgbClr val="FF0000"/>
                </a:solidFill>
                <a:latin typeface="Times New Roman" panose="02020503050405090304" pitchFamily="18" charset="0"/>
                <a:cs typeface="Times New Roman" panose="02020503050405090304" pitchFamily="18" charset="0"/>
              </a:rPr>
              <a:t>(</a:t>
            </a:r>
            <a:r>
              <a:rPr lang="en-US" altLang="zh-CN" sz="2800" i="1" dirty="0">
                <a:solidFill>
                  <a:srgbClr val="FF0000"/>
                </a:solidFill>
                <a:latin typeface="Times New Roman" panose="02020503050405090304" pitchFamily="18" charset="0"/>
                <a:cs typeface="Times New Roman" panose="02020503050405090304" pitchFamily="18" charset="0"/>
              </a:rPr>
              <a:t>x</a:t>
            </a:r>
            <a:r>
              <a:rPr lang="en-US" altLang="zh-CN" sz="2800" dirty="0">
                <a:solidFill>
                  <a:srgbClr val="FF0000"/>
                </a:solidFill>
                <a:latin typeface="Times New Roman" panose="02020503050405090304" pitchFamily="18" charset="0"/>
                <a:cs typeface="Times New Roman" panose="02020503050405090304" pitchFamily="18" charset="0"/>
              </a:rPr>
              <a:t> is prime)</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x </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is composite)</a:t>
            </a:r>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a:t>
            </a:r>
            <a:endParaRPr lang="en-US" altLang="zh-CN" sz="2800" dirty="0">
              <a:latin typeface="Times New Roman" panose="02020503050405090304" pitchFamily="18" charset="0"/>
              <a:cs typeface="Times New Roman" panose="02020503050405090304" pitchFamily="18" charset="0"/>
            </a:endParaRPr>
          </a:p>
          <a:p>
            <a:pPr eaLnBrk="1" hangingPunct="1"/>
            <a:r>
              <a:rPr lang="en-US" altLang="zh-CN" sz="2800" b="1" u="sng" dirty="0">
                <a:latin typeface="Times New Roman" panose="02020503050405090304" pitchFamily="18" charset="0"/>
                <a:cs typeface="Times New Roman" panose="02020503050405090304" pitchFamily="18" charset="0"/>
              </a:rPr>
              <a:t>Case 1:</a:t>
            </a:r>
            <a:r>
              <a:rPr lang="en-US" altLang="zh-CN" sz="2800" dirty="0">
                <a:latin typeface="Times New Roman" panose="02020503050405090304" pitchFamily="18" charset="0"/>
                <a:cs typeface="Times New Roman" panose="02020503050405090304" pitchFamily="18" charset="0"/>
              </a:rPr>
              <a:t> Suppose </a:t>
            </a:r>
            <a:r>
              <a:rPr lang="en-US" altLang="zh-CN" sz="2800" i="1" dirty="0">
                <a:latin typeface="Times New Roman" panose="02020503050405090304" pitchFamily="18" charset="0"/>
                <a:cs typeface="Times New Roman" panose="02020503050405090304" pitchFamily="18" charset="0"/>
              </a:rPr>
              <a:t>x</a:t>
            </a:r>
            <a:r>
              <a:rPr lang="en-US" altLang="zh-CN" sz="2800" dirty="0">
                <a:latin typeface="Times New Roman" panose="02020503050405090304" pitchFamily="18" charset="0"/>
                <a:cs typeface="Times New Roman" panose="02020503050405090304" pitchFamily="18" charset="0"/>
              </a:rPr>
              <a:t> is prime.  Obviously </a:t>
            </a:r>
            <a:r>
              <a:rPr lang="en-US" altLang="zh-CN" sz="2800" i="1" dirty="0">
                <a:solidFill>
                  <a:srgbClr val="FF0000"/>
                </a:solidFill>
                <a:latin typeface="Times New Roman" panose="02020503050405090304" pitchFamily="18" charset="0"/>
                <a:cs typeface="Times New Roman" panose="02020503050405090304" pitchFamily="18" charset="0"/>
              </a:rPr>
              <a:t>x</a:t>
            </a:r>
            <a:r>
              <a:rPr lang="en-US" altLang="zh-CN" sz="2800" dirty="0">
                <a:solidFill>
                  <a:srgbClr val="FF0000"/>
                </a:solidFill>
                <a:latin typeface="Times New Roman" panose="02020503050405090304" pitchFamily="18" charset="0"/>
                <a:cs typeface="Times New Roman" panose="02020503050405090304" pitchFamily="18" charset="0"/>
              </a:rPr>
              <a:t>&gt;</a:t>
            </a:r>
            <a:r>
              <a:rPr lang="en-US" altLang="zh-CN" sz="2800" i="1" dirty="0">
                <a:solidFill>
                  <a:srgbClr val="FF0000"/>
                </a:solidFill>
                <a:latin typeface="Times New Roman" panose="02020503050405090304" pitchFamily="18" charset="0"/>
                <a:cs typeface="Times New Roman" panose="02020503050405090304" pitchFamily="18" charset="0"/>
              </a:rPr>
              <a:t>n</a:t>
            </a:r>
            <a:r>
              <a:rPr lang="en-US" altLang="zh-CN" sz="2800" dirty="0">
                <a:latin typeface="Times New Roman" panose="02020503050405090304" pitchFamily="18" charset="0"/>
                <a:cs typeface="Times New Roman" panose="02020503050405090304" pitchFamily="18" charset="0"/>
              </a:rPr>
              <a:t>, so let </a:t>
            </a:r>
            <a:r>
              <a:rPr lang="en-US" altLang="zh-CN" sz="2800" i="1" dirty="0">
                <a:solidFill>
                  <a:srgbClr val="FF0000"/>
                </a:solidFill>
                <a:latin typeface="Times New Roman" panose="02020503050405090304" pitchFamily="18" charset="0"/>
                <a:cs typeface="Times New Roman" panose="02020503050405090304" pitchFamily="18" charset="0"/>
              </a:rPr>
              <a:t>p</a:t>
            </a:r>
            <a:r>
              <a:rPr lang="en-US" altLang="zh-CN" sz="2800" dirty="0">
                <a:solidFill>
                  <a:srgbClr val="FF0000"/>
                </a:solidFill>
                <a:latin typeface="Times New Roman" panose="02020503050405090304" pitchFamily="18" charset="0"/>
                <a:cs typeface="Times New Roman" panose="02020503050405090304" pitchFamily="18" charset="0"/>
              </a:rPr>
              <a:t>=</a:t>
            </a:r>
            <a:r>
              <a:rPr lang="en-US" altLang="zh-CN" sz="2800" i="1" dirty="0">
                <a:solidFill>
                  <a:srgbClr val="FF0000"/>
                </a:solidFill>
                <a:latin typeface="Times New Roman" panose="02020503050405090304" pitchFamily="18" charset="0"/>
                <a:cs typeface="Times New Roman" panose="02020503050405090304" pitchFamily="18" charset="0"/>
              </a:rPr>
              <a:t>x</a:t>
            </a:r>
            <a:r>
              <a:rPr lang="en-US" altLang="zh-CN" sz="2800" dirty="0">
                <a:latin typeface="Times New Roman" panose="02020503050405090304" pitchFamily="18" charset="0"/>
                <a:cs typeface="Times New Roman" panose="02020503050405090304" pitchFamily="18" charset="0"/>
              </a:rPr>
              <a:t> and we</a:t>
            </a:r>
            <a:r>
              <a:rPr lang="en-US" altLang="zh-CN" sz="2800" dirty="0">
                <a:latin typeface="Times New Roman" panose="02020503050405090304" pitchFamily="18" charset="0"/>
                <a:cs typeface="Times New Roman" panose="02020503050405090304" pitchFamily="18" charset="0"/>
              </a:rPr>
              <a:t>’re done.</a:t>
            </a:r>
            <a:endParaRPr lang="en-US" altLang="zh-CN" sz="2800" dirty="0">
              <a:latin typeface="Times New Roman" panose="02020503050405090304" pitchFamily="18" charset="0"/>
              <a:cs typeface="Times New Roman" panose="02020503050405090304" pitchFamily="18" charset="0"/>
            </a:endParaRPr>
          </a:p>
          <a:p>
            <a:pPr eaLnBrk="1" hangingPunct="1"/>
            <a:r>
              <a:rPr lang="en-US" altLang="zh-CN" sz="2800" b="1" u="sng" dirty="0">
                <a:latin typeface="Times New Roman" panose="02020503050405090304" pitchFamily="18" charset="0"/>
                <a:cs typeface="Times New Roman" panose="02020503050405090304" pitchFamily="18" charset="0"/>
              </a:rPr>
              <a:t>Case 2:</a:t>
            </a:r>
            <a:r>
              <a:rPr lang="en-US" altLang="zh-CN" sz="2800" dirty="0">
                <a:latin typeface="Times New Roman" panose="02020503050405090304" pitchFamily="18" charset="0"/>
                <a:cs typeface="Times New Roman" panose="02020503050405090304" pitchFamily="18" charset="0"/>
              </a:rPr>
              <a:t> </a:t>
            </a:r>
            <a:r>
              <a:rPr lang="en-US" altLang="zh-CN" sz="2800" i="1" dirty="0">
                <a:latin typeface="Times New Roman" panose="02020503050405090304" pitchFamily="18" charset="0"/>
                <a:cs typeface="Times New Roman" panose="02020503050405090304" pitchFamily="18" charset="0"/>
              </a:rPr>
              <a:t>x</a:t>
            </a:r>
            <a:r>
              <a:rPr lang="en-US" altLang="zh-CN" sz="2800" dirty="0">
                <a:latin typeface="Times New Roman" panose="02020503050405090304" pitchFamily="18" charset="0"/>
                <a:cs typeface="Times New Roman" panose="02020503050405090304" pitchFamily="18" charset="0"/>
              </a:rPr>
              <a:t> has a prime factor </a:t>
            </a:r>
            <a:r>
              <a:rPr lang="en-US" altLang="zh-CN" sz="2800" i="1" dirty="0">
                <a:latin typeface="Times New Roman" panose="02020503050405090304" pitchFamily="18" charset="0"/>
                <a:cs typeface="Times New Roman" panose="02020503050405090304" pitchFamily="18" charset="0"/>
              </a:rPr>
              <a:t>p</a:t>
            </a:r>
            <a:r>
              <a:rPr lang="en-US" altLang="zh-CN" sz="2800" dirty="0">
                <a:latin typeface="Times New Roman" panose="02020503050405090304" pitchFamily="18" charset="0"/>
                <a:cs typeface="Times New Roman" panose="02020503050405090304" pitchFamily="18" charset="0"/>
              </a:rPr>
              <a:t>.  But if </a:t>
            </a:r>
            <a:r>
              <a:rPr lang="en-US" altLang="zh-CN" sz="2800" i="1" dirty="0">
                <a:solidFill>
                  <a:srgbClr val="FF0000"/>
                </a:solidFill>
                <a:latin typeface="Times New Roman" panose="02020503050405090304" pitchFamily="18" charset="0"/>
                <a:cs typeface="Times New Roman" panose="02020503050405090304" pitchFamily="18" charset="0"/>
              </a:rPr>
              <a:t>p</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n</a:t>
            </a:r>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 then </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x</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mod </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p</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 = 1</a:t>
            </a:r>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  So </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p</a:t>
            </a:r>
            <a:r>
              <a:rPr lang="en-US" altLang="zh-CN" sz="280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&gt;</a:t>
            </a:r>
            <a:r>
              <a:rPr lang="en-US" altLang="zh-CN" sz="2800" i="1"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n</a:t>
            </a:r>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 and we</a:t>
            </a:r>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’re done.</a:t>
            </a:r>
            <a:endParaRPr lang="en-US" altLang="zh-CN" sz="28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1"/>
          <p:cNvSpPr>
            <a:spLocks noGrp="1"/>
          </p:cNvSpPr>
          <p:nvPr>
            <p:ph type="title"/>
          </p:nvPr>
        </p:nvSpPr>
        <p:spPr/>
        <p:txBody>
          <a:bodyPr vert="horz" wrap="square" lIns="91440" tIns="45720" rIns="91440" bIns="45720" anchor="b" anchorCtr="0"/>
          <a:p>
            <a:r>
              <a:rPr lang="en-US" altLang="zh-CN" sz="4000" dirty="0"/>
              <a:t>Nonconstructive Existence Proof</a:t>
            </a:r>
            <a:endParaRPr lang="en-US" altLang="zh-CN" sz="4000" dirty="0"/>
          </a:p>
        </p:txBody>
      </p:sp>
      <p:sp>
        <p:nvSpPr>
          <p:cNvPr id="3" name="内容占位符 2"/>
          <p:cNvSpPr>
            <a:spLocks noGrp="1"/>
          </p:cNvSpPr>
          <p:nvPr>
            <p:ph idx="1"/>
          </p:nvPr>
        </p:nvSpPr>
        <p:spPr>
          <a:xfrm>
            <a:off x="487363" y="1916113"/>
            <a:ext cx="8488363"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3200" b="1"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Example 11</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Show that there exist irrational numbers </a:t>
            </a:r>
            <a:r>
              <a:rPr kumimoji="1" lang="en-US" altLang="zh-CN" sz="32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x</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and </a:t>
            </a:r>
            <a:r>
              <a:rPr kumimoji="1" lang="en-US" altLang="zh-CN" sz="32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y</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such that </a:t>
            </a:r>
            <a:r>
              <a:rPr kumimoji="1" lang="en-US" altLang="zh-CN" sz="32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x</a:t>
            </a:r>
            <a:r>
              <a:rPr kumimoji="1" lang="en-US" altLang="zh-CN" sz="3200" b="0" i="1" u="none" strike="noStrike" kern="0" cap="none" spc="0" normalizeH="0" baseline="30000" noProof="1">
                <a:ln>
                  <a:noFill/>
                </a:ln>
                <a:solidFill>
                  <a:schemeClr val="tx1"/>
                </a:solidFill>
                <a:effectLst/>
                <a:uLnTx/>
                <a:uFillTx/>
                <a:latin typeface="Times New Roman" panose="02020503050405090304" pitchFamily="18" charset="0"/>
                <a:ea typeface="+mn-ea"/>
                <a:cs typeface="Times New Roman" panose="02020503050405090304" pitchFamily="18" charset="0"/>
              </a:rPr>
              <a:t>y</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is rational.</a:t>
            </a:r>
            <a:endPar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1"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Proof:</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endPar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We know that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rPr>
              <a:t> irrational. </a:t>
            </a:r>
            <a:endPar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endParaRPr>
          </a:p>
          <a:p>
            <a:pPr marL="742950" marR="0" lvl="1" indent="-2857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rPr>
              <a:t>Consider the number          . </a:t>
            </a:r>
            <a:endPar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endParaRPr>
          </a:p>
          <a:p>
            <a:pPr marL="742950" marR="0" lvl="1" indent="-2857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rPr>
              <a:t> If it is rational, </a:t>
            </a:r>
            <a:r>
              <a:rPr kumimoji="1" lang="en-US" altLang="zh-CN" sz="28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x</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1"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rPr>
              <a:t>and </a:t>
            </a:r>
            <a:r>
              <a:rPr kumimoji="1" lang="en-US" altLang="zh-CN" sz="2800" b="0" i="1"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rPr>
              <a:t> y</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rPr>
              <a:t> = </a:t>
            </a:r>
            <a:endPar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endParaRPr>
          </a:p>
          <a:p>
            <a:pPr marL="742950" marR="0" lvl="1" indent="-2857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If  it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rPr>
              <a:t>is irrational,   </a:t>
            </a:r>
            <a:r>
              <a:rPr kumimoji="1" lang="en-US" altLang="zh-CN" sz="2800" b="0" i="1"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rPr>
              <a:t>x</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rPr>
              <a:t> =     </a:t>
            </a:r>
            <a:r>
              <a:rPr kumimoji="1" lang="en-US" altLang="zh-CN" sz="2800" b="0" i="0" u="none" strike="noStrike" kern="0" cap="none" spc="0" normalizeH="0" baseline="3000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rPr>
              <a:t>  and </a:t>
            </a:r>
            <a:r>
              <a:rPr kumimoji="1" lang="en-US" altLang="zh-CN" sz="2800" b="0" i="1"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rPr>
              <a:t>y</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rPr>
              <a:t> =     , </a:t>
            </a:r>
            <a:endPar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endParaRPr>
          </a:p>
          <a:p>
            <a:pPr marL="457200" marR="0" lvl="1" indent="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None/>
              <a:defRPr/>
            </a:pPr>
            <a:r>
              <a:rPr kumimoji="1" lang="en-US" altLang="zh-CN" sz="2800" b="0" i="1"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a:cs typeface="Times New Roman" panose="02020503050405090304" pitchFamily="18" charset="0"/>
              </a:rPr>
              <a:t>    </a:t>
            </a:r>
            <a:r>
              <a:rPr kumimoji="1" lang="en-US" altLang="zh-CN" sz="28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x</a:t>
            </a:r>
            <a:r>
              <a:rPr kumimoji="1" lang="en-US" altLang="zh-CN" sz="2800" b="0" i="1" u="none" strike="noStrike" kern="0" cap="none" spc="0" normalizeH="0" baseline="30000" noProof="1">
                <a:ln>
                  <a:noFill/>
                </a:ln>
                <a:solidFill>
                  <a:schemeClr val="tx1"/>
                </a:solidFill>
                <a:effectLst/>
                <a:uLnTx/>
                <a:uFillTx/>
                <a:latin typeface="Times New Roman" panose="02020503050405090304" pitchFamily="18" charset="0"/>
                <a:ea typeface="+mn-ea"/>
                <a:cs typeface="Times New Roman" panose="02020503050405090304" pitchFamily="18" charset="0"/>
              </a:rPr>
              <a:t>y </a:t>
            </a:r>
            <a:r>
              <a:rPr kumimoji="1" lang="en-US" altLang="zh-CN" sz="2800" b="0" i="0" u="none" strike="noStrike" kern="0" cap="none" spc="0" normalizeH="0" baseline="3000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endParaRPr kumimoji="1" lang="zh-CN" altLang="en-US" sz="2800" b="0" i="0" u="none" strike="noStrike" kern="0" cap="none" spc="0" normalizeH="0" baseline="0" noProof="1">
              <a:ln>
                <a:noFill/>
              </a:ln>
              <a:solidFill>
                <a:schemeClr val="tx1"/>
              </a:solidFill>
              <a:effectLst/>
              <a:uLnTx/>
              <a:uFillTx/>
              <a:latin typeface="+mn-lt"/>
              <a:ea typeface="+mn-ea"/>
              <a:cs typeface="+mn-ea"/>
            </a:endParaRPr>
          </a:p>
        </p:txBody>
      </p:sp>
      <p:sp>
        <p:nvSpPr>
          <p:cNvPr id="4096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096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096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graphicFrame>
        <p:nvGraphicFramePr>
          <p:cNvPr id="40967" name="对象 6"/>
          <p:cNvGraphicFramePr>
            <a:graphicFrameLocks noChangeAspect="1"/>
          </p:cNvGraphicFramePr>
          <p:nvPr/>
        </p:nvGraphicFramePr>
        <p:xfrm>
          <a:off x="3276600" y="3608388"/>
          <a:ext cx="479425" cy="430212"/>
        </p:xfrm>
        <a:graphic>
          <a:graphicData uri="http://schemas.openxmlformats.org/presentationml/2006/ole">
            <mc:AlternateContent xmlns:mc="http://schemas.openxmlformats.org/markup-compatibility/2006">
              <mc:Choice xmlns:v="urn:schemas-microsoft-com:vml" Requires="v">
                <p:oleObj spid="_x0000_s3081" name="" r:id="rId1" imgW="5791200" imgH="5181600" progId="Equation.DSMT4">
                  <p:embed/>
                </p:oleObj>
              </mc:Choice>
              <mc:Fallback>
                <p:oleObj name="" r:id="rId1" imgW="5791200" imgH="5181600" progId="Equation.DSMT4">
                  <p:embed/>
                  <p:pic>
                    <p:nvPicPr>
                      <p:cNvPr id="0" name="图片 3080"/>
                      <p:cNvPicPr/>
                      <p:nvPr/>
                    </p:nvPicPr>
                    <p:blipFill>
                      <a:blip r:embed="rId2"/>
                      <a:stretch>
                        <a:fillRect/>
                      </a:stretch>
                    </p:blipFill>
                    <p:spPr>
                      <a:xfrm>
                        <a:off x="3276600" y="3608388"/>
                        <a:ext cx="479425" cy="430212"/>
                      </a:xfrm>
                      <a:prstGeom prst="rect">
                        <a:avLst/>
                      </a:prstGeom>
                      <a:noFill/>
                      <a:ln w="38100">
                        <a:noFill/>
                        <a:miter/>
                      </a:ln>
                    </p:spPr>
                  </p:pic>
                </p:oleObj>
              </mc:Fallback>
            </mc:AlternateContent>
          </a:graphicData>
        </a:graphic>
      </p:graphicFrame>
      <p:graphicFrame>
        <p:nvGraphicFramePr>
          <p:cNvPr id="40968" name="对象 7"/>
          <p:cNvGraphicFramePr>
            <a:graphicFrameLocks noChangeAspect="1"/>
          </p:cNvGraphicFramePr>
          <p:nvPr/>
        </p:nvGraphicFramePr>
        <p:xfrm>
          <a:off x="4233863" y="4038600"/>
          <a:ext cx="720725" cy="541338"/>
        </p:xfrm>
        <a:graphic>
          <a:graphicData uri="http://schemas.openxmlformats.org/presentationml/2006/ole">
            <mc:AlternateContent xmlns:mc="http://schemas.openxmlformats.org/markup-compatibility/2006">
              <mc:Choice xmlns:v="urn:schemas-microsoft-com:vml" Requires="v">
                <p:oleObj spid="_x0000_s3078" name="" r:id="rId3" imgW="8534400" imgH="6400800" progId="Equation.DSMT4">
                  <p:embed/>
                </p:oleObj>
              </mc:Choice>
              <mc:Fallback>
                <p:oleObj name="" r:id="rId3" imgW="8534400" imgH="6400800" progId="Equation.DSMT4">
                  <p:embed/>
                  <p:pic>
                    <p:nvPicPr>
                      <p:cNvPr id="0" name="图片 3077"/>
                      <p:cNvPicPr/>
                      <p:nvPr/>
                    </p:nvPicPr>
                    <p:blipFill>
                      <a:blip r:embed="rId4"/>
                      <a:stretch>
                        <a:fillRect/>
                      </a:stretch>
                    </p:blipFill>
                    <p:spPr>
                      <a:xfrm>
                        <a:off x="4233863" y="4038600"/>
                        <a:ext cx="720725" cy="541338"/>
                      </a:xfrm>
                      <a:prstGeom prst="rect">
                        <a:avLst/>
                      </a:prstGeom>
                      <a:noFill/>
                      <a:ln w="38100">
                        <a:noFill/>
                        <a:miter/>
                      </a:ln>
                    </p:spPr>
                  </p:pic>
                </p:oleObj>
              </mc:Fallback>
            </mc:AlternateContent>
          </a:graphicData>
        </a:graphic>
      </p:graphicFrame>
      <p:graphicFrame>
        <p:nvGraphicFramePr>
          <p:cNvPr id="40969" name="对象 8"/>
          <p:cNvGraphicFramePr>
            <a:graphicFrameLocks noChangeAspect="1"/>
          </p:cNvGraphicFramePr>
          <p:nvPr/>
        </p:nvGraphicFramePr>
        <p:xfrm>
          <a:off x="4070350" y="4660900"/>
          <a:ext cx="481013" cy="430213"/>
        </p:xfrm>
        <a:graphic>
          <a:graphicData uri="http://schemas.openxmlformats.org/presentationml/2006/ole">
            <mc:AlternateContent xmlns:mc="http://schemas.openxmlformats.org/markup-compatibility/2006">
              <mc:Choice xmlns:v="urn:schemas-microsoft-com:vml" Requires="v">
                <p:oleObj spid="_x0000_s3077" name="" r:id="rId5" imgW="5791200" imgH="5181600" progId="Equation.DSMT4">
                  <p:embed/>
                </p:oleObj>
              </mc:Choice>
              <mc:Fallback>
                <p:oleObj name="" r:id="rId5" imgW="5791200" imgH="5181600" progId="Equation.DSMT4">
                  <p:embed/>
                  <p:pic>
                    <p:nvPicPr>
                      <p:cNvPr id="0" name="图片 3076"/>
                      <p:cNvPicPr/>
                      <p:nvPr/>
                    </p:nvPicPr>
                    <p:blipFill>
                      <a:blip r:embed="rId6"/>
                      <a:stretch>
                        <a:fillRect/>
                      </a:stretch>
                    </p:blipFill>
                    <p:spPr>
                      <a:xfrm>
                        <a:off x="4070350" y="4660900"/>
                        <a:ext cx="481013" cy="430213"/>
                      </a:xfrm>
                      <a:prstGeom prst="rect">
                        <a:avLst/>
                      </a:prstGeom>
                      <a:noFill/>
                      <a:ln w="38100">
                        <a:noFill/>
                        <a:miter/>
                      </a:ln>
                    </p:spPr>
                  </p:pic>
                </p:oleObj>
              </mc:Fallback>
            </mc:AlternateContent>
          </a:graphicData>
        </a:graphic>
      </p:graphicFrame>
      <p:graphicFrame>
        <p:nvGraphicFramePr>
          <p:cNvPr id="40970" name="对象 9"/>
          <p:cNvGraphicFramePr>
            <a:graphicFrameLocks noChangeAspect="1"/>
          </p:cNvGraphicFramePr>
          <p:nvPr/>
        </p:nvGraphicFramePr>
        <p:xfrm>
          <a:off x="5724525" y="4660900"/>
          <a:ext cx="481013" cy="430213"/>
        </p:xfrm>
        <a:graphic>
          <a:graphicData uri="http://schemas.openxmlformats.org/presentationml/2006/ole">
            <mc:AlternateContent xmlns:mc="http://schemas.openxmlformats.org/markup-compatibility/2006">
              <mc:Choice xmlns:v="urn:schemas-microsoft-com:vml" Requires="v">
                <p:oleObj spid="_x0000_s3076" name="" r:id="rId7" imgW="5791200" imgH="5181600" progId="Equation.DSMT4">
                  <p:embed/>
                </p:oleObj>
              </mc:Choice>
              <mc:Fallback>
                <p:oleObj name="" r:id="rId7" imgW="5791200" imgH="5181600" progId="Equation.DSMT4">
                  <p:embed/>
                  <p:pic>
                    <p:nvPicPr>
                      <p:cNvPr id="0" name="图片 3075"/>
                      <p:cNvPicPr/>
                      <p:nvPr/>
                    </p:nvPicPr>
                    <p:blipFill>
                      <a:blip r:embed="rId6"/>
                      <a:stretch>
                        <a:fillRect/>
                      </a:stretch>
                    </p:blipFill>
                    <p:spPr>
                      <a:xfrm>
                        <a:off x="5724525" y="4660900"/>
                        <a:ext cx="481013" cy="430213"/>
                      </a:xfrm>
                      <a:prstGeom prst="rect">
                        <a:avLst/>
                      </a:prstGeom>
                      <a:noFill/>
                      <a:ln w="38100">
                        <a:noFill/>
                        <a:miter/>
                      </a:ln>
                    </p:spPr>
                  </p:pic>
                </p:oleObj>
              </mc:Fallback>
            </mc:AlternateContent>
          </a:graphicData>
        </a:graphic>
      </p:graphicFrame>
      <p:graphicFrame>
        <p:nvGraphicFramePr>
          <p:cNvPr id="40971" name="对象 10"/>
          <p:cNvGraphicFramePr>
            <a:graphicFrameLocks noChangeAspect="1"/>
          </p:cNvGraphicFramePr>
          <p:nvPr/>
        </p:nvGraphicFramePr>
        <p:xfrm>
          <a:off x="6205538" y="5153025"/>
          <a:ext cx="479425" cy="430213"/>
        </p:xfrm>
        <a:graphic>
          <a:graphicData uri="http://schemas.openxmlformats.org/presentationml/2006/ole">
            <mc:AlternateContent xmlns:mc="http://schemas.openxmlformats.org/markup-compatibility/2006">
              <mc:Choice xmlns:v="urn:schemas-microsoft-com:vml" Requires="v">
                <p:oleObj spid="_x0000_s3080" name="" r:id="rId8" imgW="5791200" imgH="5181600" progId="Equation.DSMT4">
                  <p:embed/>
                </p:oleObj>
              </mc:Choice>
              <mc:Fallback>
                <p:oleObj name="" r:id="rId8" imgW="5791200" imgH="5181600" progId="Equation.DSMT4">
                  <p:embed/>
                  <p:pic>
                    <p:nvPicPr>
                      <p:cNvPr id="0" name="图片 3079"/>
                      <p:cNvPicPr/>
                      <p:nvPr/>
                    </p:nvPicPr>
                    <p:blipFill>
                      <a:blip r:embed="rId6"/>
                      <a:stretch>
                        <a:fillRect/>
                      </a:stretch>
                    </p:blipFill>
                    <p:spPr>
                      <a:xfrm>
                        <a:off x="6205538" y="5153025"/>
                        <a:ext cx="479425" cy="430213"/>
                      </a:xfrm>
                      <a:prstGeom prst="rect">
                        <a:avLst/>
                      </a:prstGeom>
                      <a:noFill/>
                      <a:ln w="38100">
                        <a:noFill/>
                        <a:miter/>
                      </a:ln>
                    </p:spPr>
                  </p:pic>
                </p:oleObj>
              </mc:Fallback>
            </mc:AlternateContent>
          </a:graphicData>
        </a:graphic>
      </p:graphicFrame>
      <p:graphicFrame>
        <p:nvGraphicFramePr>
          <p:cNvPr id="40972" name="对象 11"/>
          <p:cNvGraphicFramePr>
            <a:graphicFrameLocks noChangeAspect="1"/>
          </p:cNvGraphicFramePr>
          <p:nvPr/>
        </p:nvGraphicFramePr>
        <p:xfrm>
          <a:off x="4438650" y="5043488"/>
          <a:ext cx="719138" cy="539750"/>
        </p:xfrm>
        <a:graphic>
          <a:graphicData uri="http://schemas.openxmlformats.org/presentationml/2006/ole">
            <mc:AlternateContent xmlns:mc="http://schemas.openxmlformats.org/markup-compatibility/2006">
              <mc:Choice xmlns:v="urn:schemas-microsoft-com:vml" Requires="v">
                <p:oleObj spid="_x0000_s3079" name="" r:id="rId9" imgW="8534400" imgH="6400800" progId="Equation.DSMT4">
                  <p:embed/>
                </p:oleObj>
              </mc:Choice>
              <mc:Fallback>
                <p:oleObj name="" r:id="rId9" imgW="8534400" imgH="6400800" progId="Equation.DSMT4">
                  <p:embed/>
                  <p:pic>
                    <p:nvPicPr>
                      <p:cNvPr id="0" name="图片 3078"/>
                      <p:cNvPicPr/>
                      <p:nvPr/>
                    </p:nvPicPr>
                    <p:blipFill>
                      <a:blip r:embed="rId10"/>
                      <a:stretch>
                        <a:fillRect/>
                      </a:stretch>
                    </p:blipFill>
                    <p:spPr>
                      <a:xfrm>
                        <a:off x="4438650" y="5043488"/>
                        <a:ext cx="719138" cy="539750"/>
                      </a:xfrm>
                      <a:prstGeom prst="rect">
                        <a:avLst/>
                      </a:prstGeom>
                      <a:noFill/>
                      <a:ln w="38100">
                        <a:noFill/>
                        <a:miter/>
                      </a:ln>
                    </p:spPr>
                  </p:pic>
                </p:oleObj>
              </mc:Fallback>
            </mc:AlternateContent>
          </a:graphicData>
        </a:graphic>
      </p:graphicFrame>
      <p:graphicFrame>
        <p:nvGraphicFramePr>
          <p:cNvPr id="40973" name="对象 12"/>
          <p:cNvGraphicFramePr>
            <a:graphicFrameLocks noChangeAspect="1"/>
          </p:cNvGraphicFramePr>
          <p:nvPr/>
        </p:nvGraphicFramePr>
        <p:xfrm>
          <a:off x="2089150" y="5572125"/>
          <a:ext cx="4291013" cy="541338"/>
        </p:xfrm>
        <a:graphic>
          <a:graphicData uri="http://schemas.openxmlformats.org/presentationml/2006/ole">
            <mc:AlternateContent xmlns:mc="http://schemas.openxmlformats.org/markup-compatibility/2006">
              <mc:Choice xmlns:v="urn:schemas-microsoft-com:vml" Requires="v">
                <p:oleObj spid="_x0000_s3082" name="" r:id="rId11" imgW="45720000" imgH="7010400" progId="Equation.DSMT4">
                  <p:embed/>
                </p:oleObj>
              </mc:Choice>
              <mc:Fallback>
                <p:oleObj name="" r:id="rId11" imgW="45720000" imgH="7010400" progId="Equation.DSMT4">
                  <p:embed/>
                  <p:pic>
                    <p:nvPicPr>
                      <p:cNvPr id="0" name="图片 3081"/>
                      <p:cNvPicPr/>
                      <p:nvPr/>
                    </p:nvPicPr>
                    <p:blipFill>
                      <a:blip r:embed="rId12"/>
                      <a:stretch>
                        <a:fillRect/>
                      </a:stretch>
                    </p:blipFill>
                    <p:spPr>
                      <a:xfrm>
                        <a:off x="2089150" y="5572125"/>
                        <a:ext cx="4291013" cy="541338"/>
                      </a:xfrm>
                      <a:prstGeom prst="rect">
                        <a:avLst/>
                      </a:prstGeom>
                      <a:noFill/>
                      <a:ln w="38100">
                        <a:noFill/>
                        <a:miter/>
                      </a:ln>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内容占位符 2"/>
          <p:cNvSpPr>
            <a:spLocks noGrp="1"/>
          </p:cNvSpPr>
          <p:nvPr>
            <p:ph idx="1"/>
          </p:nvPr>
        </p:nvSpPr>
        <p:spPr>
          <a:xfrm>
            <a:off x="323533" y="1772603"/>
            <a:ext cx="8847137" cy="4114800"/>
          </a:xfrm>
        </p:spPr>
        <p:txBody>
          <a:bodyPr vert="horz" wrap="square" lIns="91440" tIns="45720" rIns="91440" bIns="45720" anchor="t" anchorCtr="0"/>
          <a:p>
            <a:r>
              <a:rPr lang="en-US" altLang="zh-CN" sz="2400" dirty="0">
                <a:latin typeface="Times New Roman" panose="02020503050405090304" pitchFamily="18" charset="0"/>
              </a:rPr>
              <a:t>EXAMPLE 12 Chomp is a game played by two players. </a:t>
            </a:r>
            <a:endParaRPr lang="en-US" altLang="zh-CN" sz="2400" dirty="0">
              <a:latin typeface="Times New Roman" panose="02020503050405090304" pitchFamily="18" charset="0"/>
            </a:endParaRPr>
          </a:p>
          <a:p>
            <a:pPr lvl="1"/>
            <a:r>
              <a:rPr lang="en-US" altLang="zh-CN" sz="2400" dirty="0">
                <a:latin typeface="Times New Roman" panose="02020503050405090304" pitchFamily="18" charset="0"/>
              </a:rPr>
              <a:t>In this game, cookies are laid out on a rectangular grid. The cookie in the top left position is poisoned. </a:t>
            </a:r>
            <a:endParaRPr lang="en-US" altLang="zh-CN" sz="2400" dirty="0">
              <a:latin typeface="Times New Roman" panose="02020503050405090304" pitchFamily="18" charset="0"/>
            </a:endParaRPr>
          </a:p>
          <a:p>
            <a:pPr lvl="1"/>
            <a:r>
              <a:rPr lang="en-US" altLang="zh-CN" sz="2400" dirty="0">
                <a:latin typeface="Times New Roman" panose="02020503050405090304" pitchFamily="18" charset="0"/>
              </a:rPr>
              <a:t>The two players take turns making moves; at each move, a player is required to eat a remaining cookie, together with all cookies to the right and/or below it.</a:t>
            </a:r>
            <a:endParaRPr lang="en-US" altLang="zh-CN" sz="2400" dirty="0">
              <a:latin typeface="Times New Roman" panose="02020503050405090304" pitchFamily="18" charset="0"/>
            </a:endParaRPr>
          </a:p>
          <a:p>
            <a:pPr lvl="1"/>
            <a:r>
              <a:rPr lang="en-US" altLang="zh-CN" sz="2400" dirty="0">
                <a:latin typeface="Times New Roman" panose="02020503050405090304" pitchFamily="18" charset="0"/>
              </a:rPr>
              <a:t> The loser is the player who has no choice but to eat the poisoned cookie. </a:t>
            </a:r>
            <a:endParaRPr lang="en-US" altLang="zh-CN" sz="2400" dirty="0">
              <a:latin typeface="Times New Roman" panose="02020503050405090304" pitchFamily="18" charset="0"/>
            </a:endParaRPr>
          </a:p>
          <a:p>
            <a:pPr lvl="1"/>
            <a:r>
              <a:rPr lang="en-US" altLang="zh-CN" sz="2400" dirty="0">
                <a:latin typeface="Times New Roman" panose="02020503050405090304" pitchFamily="18" charset="0"/>
              </a:rPr>
              <a:t>We ask whether one of the two players has a winning strategy. That is, can one of the players always make moves that are guaranteed to lead to a win?</a:t>
            </a:r>
            <a:endParaRPr lang="zh-CN" altLang="en-US" sz="2400" dirty="0">
              <a:latin typeface="Times New Roman" panose="02020503050405090304" pitchFamily="18" charset="0"/>
            </a:endParaRPr>
          </a:p>
        </p:txBody>
      </p:sp>
      <p:sp>
        <p:nvSpPr>
          <p:cNvPr id="41987"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1988"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1989"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pic>
        <p:nvPicPr>
          <p:cNvPr id="41990" name="内容占位符 6"/>
          <p:cNvPicPr>
            <a:picLocks noChangeAspect="1"/>
          </p:cNvPicPr>
          <p:nvPr/>
        </p:nvPicPr>
        <p:blipFill>
          <a:blip r:embed="rId1"/>
          <a:stretch>
            <a:fillRect/>
          </a:stretch>
        </p:blipFill>
        <p:spPr>
          <a:xfrm>
            <a:off x="4803775" y="-11112"/>
            <a:ext cx="4198938" cy="1758950"/>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标题 1"/>
          <p:cNvSpPr>
            <a:spLocks noGrp="1"/>
          </p:cNvSpPr>
          <p:nvPr>
            <p:ph type="title"/>
          </p:nvPr>
        </p:nvSpPr>
        <p:spPr/>
        <p:txBody>
          <a:bodyPr vert="horz" wrap="square" lIns="91440" tIns="45720" rIns="91440" bIns="45720" anchor="b" anchorCtr="0"/>
          <a:p>
            <a:r>
              <a:rPr lang="en-US" altLang="zh-CN" dirty="0">
                <a:latin typeface="Times New Roman" panose="02020503050405090304" pitchFamily="18" charset="0"/>
              </a:rPr>
              <a:t>Solution</a:t>
            </a:r>
            <a:endParaRPr lang="zh-CN" altLang="en-US" dirty="0"/>
          </a:p>
        </p:txBody>
      </p:sp>
      <p:sp>
        <p:nvSpPr>
          <p:cNvPr id="44035"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4036"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4037"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44038" name="内容占位符 7"/>
          <p:cNvSpPr>
            <a:spLocks noGrp="1"/>
          </p:cNvSpPr>
          <p:nvPr>
            <p:ph idx="1"/>
          </p:nvPr>
        </p:nvSpPr>
        <p:spPr>
          <a:xfrm>
            <a:off x="461963" y="1849438"/>
            <a:ext cx="8550275" cy="4464050"/>
          </a:xfrm>
        </p:spPr>
        <p:txBody>
          <a:bodyPr vert="horz" wrap="square" lIns="91440" tIns="45720" rIns="91440" bIns="45720" anchor="t" anchorCtr="0"/>
          <a:p>
            <a:r>
              <a:rPr lang="en-US" altLang="zh-CN" sz="2800" dirty="0">
                <a:latin typeface="Times New Roman" panose="02020503050405090304" pitchFamily="18" charset="0"/>
              </a:rPr>
              <a:t>We will give a nonconstructive existence proof of a winning strategy for the first player.(That is, we will show that the first player always has a winning strategy without explicitly describing the moves this player must follow)</a:t>
            </a:r>
            <a:endParaRPr lang="en-US" altLang="zh-CN" sz="2800" dirty="0">
              <a:latin typeface="Times New Roman" panose="02020503050405090304" pitchFamily="18" charset="0"/>
            </a:endParaRPr>
          </a:p>
          <a:p>
            <a:r>
              <a:rPr lang="en-US" altLang="zh-CN" sz="2800" dirty="0">
                <a:latin typeface="Times New Roman" panose="02020503050405090304" pitchFamily="18" charset="0"/>
              </a:rPr>
              <a:t>First, note that the </a:t>
            </a:r>
            <a:r>
              <a:rPr lang="en-US" altLang="zh-CN" sz="2800" dirty="0">
                <a:solidFill>
                  <a:srgbClr val="FF0000"/>
                </a:solidFill>
                <a:latin typeface="Times New Roman" panose="02020503050405090304" pitchFamily="18" charset="0"/>
              </a:rPr>
              <a:t>game ends </a:t>
            </a:r>
            <a:r>
              <a:rPr lang="en-US" altLang="zh-CN" sz="2800" dirty="0">
                <a:latin typeface="Times New Roman" panose="02020503050405090304" pitchFamily="18" charset="0"/>
              </a:rPr>
              <a:t>and </a:t>
            </a:r>
            <a:r>
              <a:rPr lang="en-US" altLang="zh-CN" sz="2800" dirty="0">
                <a:solidFill>
                  <a:srgbClr val="FF0000"/>
                </a:solidFill>
                <a:latin typeface="Times New Roman" panose="02020503050405090304" pitchFamily="18" charset="0"/>
              </a:rPr>
              <a:t>cannot finish in a draw </a:t>
            </a:r>
            <a:r>
              <a:rPr lang="en-US" altLang="zh-CN" sz="2800" dirty="0">
                <a:latin typeface="Times New Roman" panose="02020503050405090304" pitchFamily="18" charset="0"/>
              </a:rPr>
              <a:t>because with each move at least one cookie is eaten, so after no more than m </a:t>
            </a:r>
            <a:r>
              <a:rPr lang="en-US" altLang="zh-CN" sz="2800" dirty="0">
                <a:latin typeface="Times New Roman" panose="02020503050405090304" pitchFamily="18" charset="0"/>
                <a:sym typeface="Symbol" panose="05050102010706020507" pitchFamily="18" charset="2"/>
              </a:rPr>
              <a:t></a:t>
            </a:r>
            <a:r>
              <a:rPr lang="en-US" altLang="zh-CN" sz="2800" dirty="0">
                <a:latin typeface="Times New Roman" panose="02020503050405090304" pitchFamily="18" charset="0"/>
              </a:rPr>
              <a:t> n moves the game ends, where the initial grid is m </a:t>
            </a:r>
            <a:r>
              <a:rPr lang="en-US" altLang="zh-CN" sz="2800" dirty="0">
                <a:latin typeface="Times New Roman" panose="02020503050405090304" pitchFamily="18" charset="0"/>
                <a:sym typeface="Symbol" panose="05050102010706020507" pitchFamily="18" charset="2"/>
              </a:rPr>
              <a:t> </a:t>
            </a:r>
            <a:r>
              <a:rPr lang="en-US" altLang="zh-CN" sz="2800" dirty="0">
                <a:latin typeface="Times New Roman" panose="02020503050405090304" pitchFamily="18" charset="0"/>
              </a:rPr>
              <a:t> n. </a:t>
            </a:r>
            <a:endParaRPr lang="en-US" altLang="zh-CN" sz="2800" dirty="0">
              <a:latin typeface="Times New Roman" panose="02020503050405090304" pitchFamily="18" charset="0"/>
            </a:endParaRPr>
          </a:p>
        </p:txBody>
      </p:sp>
      <p:pic>
        <p:nvPicPr>
          <p:cNvPr id="44039" name="内容占位符 6"/>
          <p:cNvPicPr>
            <a:picLocks noChangeAspect="1"/>
          </p:cNvPicPr>
          <p:nvPr/>
        </p:nvPicPr>
        <p:blipFill>
          <a:blip r:embed="rId1"/>
          <a:stretch>
            <a:fillRect/>
          </a:stretch>
        </p:blipFill>
        <p:spPr>
          <a:xfrm>
            <a:off x="4737100" y="22225"/>
            <a:ext cx="4198938" cy="1758950"/>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p:cNvSpPr>
          <p:nvPr>
            <p:ph type="title"/>
          </p:nvPr>
        </p:nvSpPr>
        <p:spPr/>
        <p:txBody>
          <a:bodyPr vert="horz" wrap="square" lIns="91440" tIns="45720" rIns="91440" bIns="45720" anchor="b" anchorCtr="0"/>
          <a:p>
            <a:r>
              <a:rPr lang="en-US" altLang="zh-CN" dirty="0">
                <a:latin typeface="Times New Roman" panose="02020503050405090304" pitchFamily="18" charset="0"/>
              </a:rPr>
              <a:t>Solution</a:t>
            </a:r>
            <a:endParaRPr lang="zh-CN" altLang="en-US" dirty="0"/>
          </a:p>
        </p:txBody>
      </p:sp>
      <p:sp>
        <p:nvSpPr>
          <p:cNvPr id="45059"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5060"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5061"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45062" name="内容占位符 7"/>
          <p:cNvSpPr>
            <a:spLocks noGrp="1"/>
          </p:cNvSpPr>
          <p:nvPr>
            <p:ph idx="1"/>
          </p:nvPr>
        </p:nvSpPr>
        <p:spPr>
          <a:xfrm>
            <a:off x="463550" y="1793875"/>
            <a:ext cx="8548688" cy="4464050"/>
          </a:xfrm>
        </p:spPr>
        <p:txBody>
          <a:bodyPr vert="horz" wrap="square" lIns="91440" tIns="45720" rIns="91440" bIns="45720" anchor="t" anchorCtr="0"/>
          <a:p>
            <a:r>
              <a:rPr lang="en-US" altLang="zh-CN" sz="2800" dirty="0">
                <a:latin typeface="Times New Roman" panose="02020503050405090304" pitchFamily="18" charset="0"/>
              </a:rPr>
              <a:t>Now, suppose that the first player begins the game by eating just the cookie in the bottom right corner. There are two possibilities</a:t>
            </a:r>
            <a:endParaRPr lang="en-US" altLang="zh-CN" sz="2800" dirty="0">
              <a:latin typeface="Times New Roman" panose="02020503050405090304" pitchFamily="18" charset="0"/>
            </a:endParaRPr>
          </a:p>
          <a:p>
            <a:pPr lvl="1"/>
            <a:r>
              <a:rPr lang="en-US" altLang="zh-CN" sz="2400" dirty="0">
                <a:latin typeface="Times New Roman" panose="02020503050405090304" pitchFamily="18" charset="0"/>
              </a:rPr>
              <a:t>this is the first move of a winning strategy for the first player</a:t>
            </a:r>
            <a:endParaRPr lang="en-US" altLang="zh-CN" sz="2400" dirty="0">
              <a:latin typeface="Times New Roman" panose="02020503050405090304" pitchFamily="18" charset="0"/>
            </a:endParaRPr>
          </a:p>
          <a:p>
            <a:pPr lvl="1"/>
            <a:r>
              <a:rPr lang="en-US" altLang="zh-CN" sz="2400" dirty="0">
                <a:latin typeface="Times New Roman" panose="02020503050405090304" pitchFamily="18" charset="0"/>
              </a:rPr>
              <a:t>or the second player can make a move that is the first move of a winning strategy for the second player. </a:t>
            </a:r>
            <a:endParaRPr lang="en-US" altLang="zh-CN" sz="2400" dirty="0">
              <a:latin typeface="Times New Roman" panose="02020503050405090304" pitchFamily="18" charset="0"/>
            </a:endParaRPr>
          </a:p>
          <a:p>
            <a:pPr lvl="2"/>
            <a:r>
              <a:rPr lang="en-US" altLang="zh-CN" dirty="0">
                <a:latin typeface="Times New Roman" panose="02020503050405090304" pitchFamily="18" charset="0"/>
              </a:rPr>
              <a:t>In this second case, instead of eating just the cookie in the bottom right corner, the first player could have made the same move that the second player made as the first move of a winning strategy (and then continued to follow that winning strategy). This would guarantee a win for the first player</a:t>
            </a:r>
            <a:endParaRPr lang="zh-CN" altLang="en-US" sz="3600" dirty="0">
              <a:latin typeface="Times New Roman" panose="02020503050405090304" pitchFamily="18" charset="0"/>
            </a:endParaRPr>
          </a:p>
        </p:txBody>
      </p:sp>
      <p:pic>
        <p:nvPicPr>
          <p:cNvPr id="45063" name="内容占位符 6"/>
          <p:cNvPicPr>
            <a:picLocks noChangeAspect="1"/>
          </p:cNvPicPr>
          <p:nvPr/>
        </p:nvPicPr>
        <p:blipFill>
          <a:blip r:embed="rId1"/>
          <a:stretch>
            <a:fillRect/>
          </a:stretch>
        </p:blipFill>
        <p:spPr>
          <a:xfrm>
            <a:off x="4737100" y="22225"/>
            <a:ext cx="4198938" cy="1758950"/>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标题 1"/>
          <p:cNvSpPr>
            <a:spLocks noGrp="1"/>
          </p:cNvSpPr>
          <p:nvPr>
            <p:ph type="title"/>
          </p:nvPr>
        </p:nvSpPr>
        <p:spPr/>
        <p:txBody>
          <a:bodyPr vert="horz" wrap="square" lIns="91440" tIns="45720" rIns="91440" bIns="45720" anchor="b" anchorCtr="0"/>
          <a:p>
            <a:r>
              <a:rPr lang="en-US" altLang="zh-CN" sz="3200" kern="1200" dirty="0">
                <a:latin typeface="Copperplate Gothic Bold" panose="020E0705020206020404" pitchFamily="34" charset="0"/>
                <a:ea typeface="宋体" pitchFamily="2" charset="-122"/>
                <a:sym typeface="+mn-ea"/>
              </a:rPr>
              <a:t>Proof Methods for </a:t>
            </a:r>
            <a:r>
              <a:rPr lang="en-US" altLang="zh-CN" sz="3200" kern="1200" dirty="0">
                <a:solidFill>
                  <a:srgbClr val="FF0000"/>
                </a:solidFill>
                <a:latin typeface="Copperplate Gothic Bold" panose="020E0705020206020404" pitchFamily="34" charset="0"/>
                <a:ea typeface="宋体" pitchFamily="2" charset="-122"/>
                <a:sym typeface="+mn-ea"/>
              </a:rPr>
              <a:t>Uniqueness</a:t>
            </a:r>
            <a:endParaRPr lang="en-US" altLang="zh-CN" sz="3200" kern="1200" dirty="0">
              <a:solidFill>
                <a:srgbClr val="FF0000"/>
              </a:solidFill>
              <a:latin typeface="Copperplate Gothic Bold" panose="020E0705020206020404" pitchFamily="34" charset="0"/>
              <a:ea typeface="宋体" pitchFamily="2" charset="-122"/>
              <a:sym typeface="+mn-ea"/>
            </a:endParaRPr>
          </a:p>
        </p:txBody>
      </p:sp>
      <p:sp>
        <p:nvSpPr>
          <p:cNvPr id="46083"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6084"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6085"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graphicFrame>
        <p:nvGraphicFramePr>
          <p:cNvPr id="46086" name="内容占位符 6"/>
          <p:cNvGraphicFramePr>
            <a:graphicFrameLocks noGrp="1" noChangeAspect="1"/>
          </p:cNvGraphicFramePr>
          <p:nvPr>
            <p:ph idx="1"/>
          </p:nvPr>
        </p:nvGraphicFramePr>
        <p:xfrm>
          <a:off x="1619885" y="1268730"/>
          <a:ext cx="5624195" cy="584835"/>
        </p:xfrm>
        <a:graphic>
          <a:graphicData uri="http://schemas.openxmlformats.org/presentationml/2006/ole">
            <mc:AlternateContent xmlns:mc="http://schemas.openxmlformats.org/markup-compatibility/2006">
              <mc:Choice xmlns:v="urn:schemas-microsoft-com:vml" Requires="v">
                <p:oleObj spid="_x0000_s3083" name="" r:id="rId1" imgW="1955800" imgH="203200" progId="Equation.3">
                  <p:embed/>
                </p:oleObj>
              </mc:Choice>
              <mc:Fallback>
                <p:oleObj name="" r:id="rId1" imgW="1955800" imgH="203200" progId="Equation.3">
                  <p:embed/>
                  <p:pic>
                    <p:nvPicPr>
                      <p:cNvPr id="0" name="图片 3082"/>
                      <p:cNvPicPr/>
                      <p:nvPr/>
                    </p:nvPicPr>
                    <p:blipFill>
                      <a:blip r:embed="rId2"/>
                      <a:srcRect/>
                      <a:stretch>
                        <a:fillRect/>
                      </a:stretch>
                    </p:blipFill>
                    <p:spPr>
                      <a:xfrm>
                        <a:off x="1619885" y="1268730"/>
                        <a:ext cx="5624195" cy="584835"/>
                      </a:xfrm>
                      <a:prstGeom prst="rect">
                        <a:avLst/>
                      </a:prstGeom>
                      <a:noFill/>
                      <a:ln w="38100">
                        <a:miter/>
                      </a:ln>
                    </p:spPr>
                  </p:pic>
                </p:oleObj>
              </mc:Fallback>
            </mc:AlternateContent>
          </a:graphicData>
        </a:graphic>
      </p:graphicFrame>
      <p:sp>
        <p:nvSpPr>
          <p:cNvPr id="46087" name="矩形 1"/>
          <p:cNvSpPr/>
          <p:nvPr/>
        </p:nvSpPr>
        <p:spPr>
          <a:xfrm>
            <a:off x="467678" y="2348548"/>
            <a:ext cx="8332787" cy="41541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2400" u="none" dirty="0">
                <a:latin typeface="Times New Roman" panose="02020503050405090304" pitchFamily="18" charset="0"/>
                <a:sym typeface="Symbol" panose="05050102010706020507" pitchFamily="18" charset="2"/>
              </a:rPr>
              <a:t>Example13: Show that if a and b are real numbers and  a ≠0, then there is a unique real number r  such that  ar + b = 0.</a:t>
            </a:r>
            <a:endParaRPr lang="en-US" altLang="zh-CN" sz="2400" u="none" dirty="0">
              <a:latin typeface="Times New Roman" panose="02020503050405090304" pitchFamily="18" charset="0"/>
              <a:sym typeface="Symbol" panose="05050102010706020507" pitchFamily="18" charset="2"/>
            </a:endParaRPr>
          </a:p>
          <a:p>
            <a:pPr marL="0" lvl="0" indent="0">
              <a:spcBef>
                <a:spcPct val="0"/>
              </a:spcBef>
              <a:buClr>
                <a:srgbClr val="FF0000"/>
              </a:buClr>
              <a:buSzTx/>
              <a:buFontTx/>
              <a:buNone/>
            </a:pPr>
            <a:r>
              <a:rPr lang="en-US" altLang="zh-CN" sz="2400" u="none" dirty="0">
                <a:latin typeface="Times New Roman" panose="02020503050405090304" pitchFamily="18" charset="0"/>
                <a:sym typeface="Symbol" panose="05050102010706020507" pitchFamily="18" charset="2"/>
              </a:rPr>
              <a:t> Solution:</a:t>
            </a:r>
            <a:endParaRPr lang="en-US" altLang="zh-CN" sz="2400" u="none" dirty="0">
              <a:latin typeface="Times New Roman" panose="02020503050405090304" pitchFamily="18" charset="0"/>
              <a:sym typeface="Symbol" panose="05050102010706020507" pitchFamily="18" charset="2"/>
            </a:endParaRPr>
          </a:p>
          <a:p>
            <a:pPr marL="800100" lvl="1" indent="-342900">
              <a:spcBef>
                <a:spcPct val="0"/>
              </a:spcBef>
              <a:buClr>
                <a:srgbClr val="FF0000"/>
              </a:buClr>
              <a:buSzTx/>
            </a:pPr>
            <a:r>
              <a:rPr lang="en-US" altLang="zh-CN" sz="2400" u="none" dirty="0">
                <a:latin typeface="Times New Roman" panose="02020503050405090304" pitchFamily="18" charset="0"/>
                <a:sym typeface="Symbol" panose="05050102010706020507" pitchFamily="18" charset="2"/>
              </a:rPr>
              <a:t>Existence</a:t>
            </a:r>
            <a:r>
              <a:rPr lang="en-US" altLang="zh-CN" sz="2400" b="0" u="none" dirty="0">
                <a:latin typeface="Times New Roman" panose="02020503050405090304" pitchFamily="18" charset="0"/>
                <a:sym typeface="Symbol" panose="05050102010706020507" pitchFamily="18" charset="2"/>
              </a:rPr>
              <a:t>: </a:t>
            </a:r>
            <a:endParaRPr lang="en-US" altLang="zh-CN" sz="2400" b="0" u="none" dirty="0">
              <a:latin typeface="Times New Roman" panose="02020503050405090304" pitchFamily="18" charset="0"/>
              <a:sym typeface="Symbol" panose="05050102010706020507" pitchFamily="18" charset="2"/>
            </a:endParaRPr>
          </a:p>
          <a:p>
            <a:pPr marL="800100" lvl="1" indent="-342900">
              <a:spcBef>
                <a:spcPct val="0"/>
              </a:spcBef>
              <a:buClr>
                <a:srgbClr val="FF0000"/>
              </a:buClr>
              <a:buSzTx/>
              <a:buFontTx/>
              <a:buNone/>
            </a:pPr>
            <a:r>
              <a:rPr lang="en-US" altLang="zh-CN" sz="2400" b="0" u="none" dirty="0">
                <a:latin typeface="Times New Roman" panose="02020503050405090304" pitchFamily="18" charset="0"/>
                <a:sym typeface="Symbol" panose="05050102010706020507" pitchFamily="18" charset="2"/>
              </a:rPr>
              <a:t>     The real number r = −b/a is a solution of ar + b = 0 </a:t>
            </a:r>
            <a:endParaRPr lang="en-US" altLang="zh-CN" sz="2400" b="0" u="none" dirty="0">
              <a:latin typeface="Times New Roman" panose="02020503050405090304" pitchFamily="18" charset="0"/>
              <a:sym typeface="Symbol" panose="05050102010706020507" pitchFamily="18" charset="2"/>
            </a:endParaRPr>
          </a:p>
          <a:p>
            <a:pPr marL="800100" lvl="1" indent="-342900">
              <a:spcBef>
                <a:spcPct val="0"/>
              </a:spcBef>
              <a:buClr>
                <a:srgbClr val="FF0000"/>
              </a:buClr>
              <a:buSzTx/>
              <a:buFontTx/>
              <a:buNone/>
            </a:pPr>
            <a:r>
              <a:rPr lang="en-US" altLang="zh-CN" sz="2400" b="0" u="none" dirty="0">
                <a:latin typeface="Times New Roman" panose="02020503050405090304" pitchFamily="18" charset="0"/>
                <a:sym typeface="Symbol" panose="05050102010706020507" pitchFamily="18" charset="2"/>
              </a:rPr>
              <a:t>     because a(−b/a) + b = −b + b =0.</a:t>
            </a:r>
            <a:endParaRPr lang="en-US" altLang="zh-CN" sz="2400" b="0" u="none" dirty="0">
              <a:latin typeface="Times New Roman" panose="02020503050405090304" pitchFamily="18" charset="0"/>
              <a:sym typeface="Symbol" panose="05050102010706020507" pitchFamily="18" charset="2"/>
            </a:endParaRPr>
          </a:p>
          <a:p>
            <a:pPr marL="800100" lvl="1" indent="-342900">
              <a:spcBef>
                <a:spcPct val="0"/>
              </a:spcBef>
              <a:buClr>
                <a:srgbClr val="FF0000"/>
              </a:buClr>
              <a:buSzTx/>
            </a:pPr>
            <a:r>
              <a:rPr lang="en-US" altLang="zh-CN" sz="2400" u="none" dirty="0">
                <a:latin typeface="Times New Roman" panose="02020503050405090304" pitchFamily="18" charset="0"/>
                <a:sym typeface="Symbol" panose="05050102010706020507" pitchFamily="18" charset="2"/>
              </a:rPr>
              <a:t>Uniqueness</a:t>
            </a:r>
            <a:r>
              <a:rPr lang="en-US" altLang="zh-CN" sz="2400" b="0" u="none" dirty="0">
                <a:latin typeface="Times New Roman" panose="02020503050405090304" pitchFamily="18" charset="0"/>
                <a:sym typeface="Symbol" panose="05050102010706020507" pitchFamily="18" charset="2"/>
              </a:rPr>
              <a:t>: </a:t>
            </a:r>
            <a:endParaRPr lang="en-US" altLang="zh-CN" sz="2400" b="0" u="none" dirty="0">
              <a:latin typeface="Times New Roman" panose="02020503050405090304" pitchFamily="18" charset="0"/>
              <a:sym typeface="Symbol" panose="05050102010706020507" pitchFamily="18" charset="2"/>
            </a:endParaRPr>
          </a:p>
          <a:p>
            <a:pPr marL="800100" lvl="1" indent="-342900">
              <a:spcBef>
                <a:spcPct val="0"/>
              </a:spcBef>
              <a:buClr>
                <a:srgbClr val="FF0000"/>
              </a:buClr>
              <a:buSzTx/>
              <a:buFontTx/>
              <a:buNone/>
            </a:pPr>
            <a:r>
              <a:rPr lang="en-US" altLang="zh-CN" sz="2400" b="0" u="none" dirty="0">
                <a:latin typeface="Times New Roman" panose="02020503050405090304" pitchFamily="18" charset="0"/>
                <a:sym typeface="Symbol" panose="05050102010706020507" pitchFamily="18" charset="2"/>
              </a:rPr>
              <a:t>	Suppose that s is a real number such that   as + b = 0. </a:t>
            </a:r>
            <a:endParaRPr lang="en-US" altLang="zh-CN" sz="2400" b="0" u="none" dirty="0">
              <a:latin typeface="Times New Roman" panose="02020503050405090304" pitchFamily="18" charset="0"/>
              <a:sym typeface="Symbol" panose="05050102010706020507" pitchFamily="18" charset="2"/>
            </a:endParaRPr>
          </a:p>
          <a:p>
            <a:pPr marL="800100" lvl="1" indent="-342900">
              <a:spcBef>
                <a:spcPct val="0"/>
              </a:spcBef>
              <a:buClr>
                <a:srgbClr val="FF0000"/>
              </a:buClr>
              <a:buSzTx/>
              <a:buFontTx/>
              <a:buNone/>
            </a:pPr>
            <a:r>
              <a:rPr lang="en-US" altLang="zh-CN" sz="2400" b="0" u="none" dirty="0">
                <a:latin typeface="Times New Roman" panose="02020503050405090304" pitchFamily="18" charset="0"/>
                <a:sym typeface="Symbol" panose="05050102010706020507" pitchFamily="18" charset="2"/>
              </a:rPr>
              <a:t>      Then ar + b = as + b, where r = −b/a.  </a:t>
            </a:r>
            <a:endParaRPr lang="en-US" altLang="zh-CN" sz="2400" b="0" u="none" dirty="0">
              <a:latin typeface="Times New Roman" panose="02020503050405090304" pitchFamily="18" charset="0"/>
              <a:sym typeface="Symbol" panose="05050102010706020507" pitchFamily="18" charset="2"/>
            </a:endParaRPr>
          </a:p>
          <a:p>
            <a:pPr marL="800100" lvl="1" indent="-342900">
              <a:spcBef>
                <a:spcPct val="0"/>
              </a:spcBef>
              <a:buClr>
                <a:srgbClr val="FF0000"/>
              </a:buClr>
              <a:buSzTx/>
              <a:buFontTx/>
              <a:buNone/>
            </a:pPr>
            <a:r>
              <a:rPr lang="en-US" altLang="zh-CN" sz="2400" b="0" u="none" dirty="0">
                <a:latin typeface="Times New Roman" panose="02020503050405090304" pitchFamily="18" charset="0"/>
                <a:sym typeface="Symbol" panose="05050102010706020507" pitchFamily="18" charset="2"/>
              </a:rPr>
              <a:t>      Subtracting b from both sides and dividing by a shows that</a:t>
            </a:r>
            <a:endParaRPr lang="en-US" altLang="zh-CN" sz="2400" b="0" u="none" dirty="0">
              <a:latin typeface="Times New Roman" panose="02020503050405090304" pitchFamily="18" charset="0"/>
              <a:sym typeface="Symbol" panose="05050102010706020507" pitchFamily="18" charset="2"/>
            </a:endParaRPr>
          </a:p>
          <a:p>
            <a:pPr marL="800100" lvl="1" indent="-342900">
              <a:spcBef>
                <a:spcPct val="0"/>
              </a:spcBef>
              <a:buClr>
                <a:srgbClr val="FF0000"/>
              </a:buClr>
              <a:buSzTx/>
              <a:buFontTx/>
              <a:buNone/>
            </a:pPr>
            <a:r>
              <a:rPr lang="en-US" altLang="zh-CN" sz="2400" b="0" u="none" dirty="0">
                <a:latin typeface="Times New Roman" panose="02020503050405090304" pitchFamily="18" charset="0"/>
                <a:sym typeface="Symbol" panose="05050102010706020507" pitchFamily="18" charset="2"/>
              </a:rPr>
              <a:t>       r = s.  </a:t>
            </a:r>
            <a:endParaRPr lang="en-US" altLang="zh-CN" sz="2400" b="0" u="none" dirty="0">
              <a:latin typeface="Times New Roman" panose="02020503050405090304" pitchFamily="18" charset="0"/>
            </a:endParaRPr>
          </a:p>
        </p:txBody>
      </p:sp>
      <mc:AlternateContent xmlns:mc="http://schemas.openxmlformats.org/markup-compatibility/2006">
        <mc:Choice xmlns:a14="http://schemas.microsoft.com/office/drawing/2010/main" Requires="a14">
          <p:sp>
            <p:nvSpPr>
              <p:cNvPr id="2" name="文本框 1"/>
              <p:cNvSpPr txBox="1"/>
              <p:nvPr/>
            </p:nvSpPr>
            <p:spPr>
              <a:xfrm>
                <a:off x="1548130" y="1844675"/>
                <a:ext cx="5568950" cy="583565"/>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r>
                        <a:rPr lang="zh-CN" altLang="en-US" sz="3200" i="1" u="none" smtClean="0">
                          <a:solidFill>
                            <a:srgbClr val="000000"/>
                          </a:solidFill>
                          <a:latin typeface="Cambria Math" panose="02040503050406030204" pitchFamily="18" charset="0"/>
                        </a:rPr>
                        <m:t>∃</m:t>
                      </m:r>
                      <m:r>
                        <a:rPr lang="zh-CN" altLang="en-US" sz="3200" i="1" u="none" smtClean="0">
                          <a:solidFill>
                            <a:srgbClr val="000000"/>
                          </a:solidFill>
                          <a:latin typeface="Cambria Math" panose="02040503050406030204" pitchFamily="18" charset="0"/>
                        </a:rPr>
                        <m:t>𝑥</m:t>
                      </m:r>
                      <m:r>
                        <a:rPr lang="zh-CN" altLang="en-US" sz="3200" i="1" u="none" smtClean="0">
                          <a:solidFill>
                            <a:srgbClr val="000000"/>
                          </a:solidFill>
                          <a:latin typeface="Cambria Math" panose="02040503050406030204" pitchFamily="18" charset="0"/>
                        </a:rPr>
                        <m:t>(</m:t>
                      </m:r>
                      <m:r>
                        <a:rPr lang="zh-CN" altLang="en-US" sz="3200" i="1" u="none" smtClean="0">
                          <a:solidFill>
                            <a:srgbClr val="000000"/>
                          </a:solidFill>
                          <a:latin typeface="Cambria Math" panose="02040503050406030204" pitchFamily="18" charset="0"/>
                        </a:rPr>
                        <m:t>𝑃</m:t>
                      </m:r>
                      <m:r>
                        <a:rPr lang="zh-CN" altLang="en-US" sz="3200" i="1" u="none" smtClean="0">
                          <a:solidFill>
                            <a:srgbClr val="000000"/>
                          </a:solidFill>
                          <a:latin typeface="Cambria Math" panose="02040503050406030204" pitchFamily="18" charset="0"/>
                        </a:rPr>
                        <m:t>(</m:t>
                      </m:r>
                      <m:r>
                        <a:rPr lang="zh-CN" altLang="en-US" sz="3200" i="1" u="none" smtClean="0">
                          <a:solidFill>
                            <a:srgbClr val="000000"/>
                          </a:solidFill>
                          <a:latin typeface="Cambria Math" panose="02040503050406030204" pitchFamily="18" charset="0"/>
                        </a:rPr>
                        <m:t>𝑥</m:t>
                      </m:r>
                      <m:r>
                        <a:rPr lang="zh-CN" altLang="en-US" sz="3200" i="1" u="none" smtClean="0">
                          <a:solidFill>
                            <a:srgbClr val="000000"/>
                          </a:solidFill>
                          <a:latin typeface="Cambria Math" panose="02040503050406030204" pitchFamily="18" charset="0"/>
                        </a:rPr>
                        <m:t>)∧∀</m:t>
                      </m:r>
                      <m:r>
                        <a:rPr lang="zh-CN" altLang="en-US" sz="3200" i="1" u="none" smtClean="0">
                          <a:solidFill>
                            <a:srgbClr val="000000"/>
                          </a:solidFill>
                          <a:latin typeface="Cambria Math" panose="02040503050406030204" pitchFamily="18" charset="0"/>
                        </a:rPr>
                        <m:t>𝑦</m:t>
                      </m:r>
                      <m:r>
                        <a:rPr lang="zh-CN" altLang="en-US" sz="3200" i="1" u="none" smtClean="0">
                          <a:solidFill>
                            <a:srgbClr val="000000"/>
                          </a:solidFill>
                          <a:latin typeface="Cambria Math" panose="02040503050406030204" pitchFamily="18" charset="0"/>
                        </a:rPr>
                        <m:t>(</m:t>
                      </m:r>
                      <m:r>
                        <a:rPr lang="zh-CN" altLang="en-US" sz="3200" i="1" u="none">
                          <a:solidFill>
                            <a:srgbClr val="000000"/>
                          </a:solidFill>
                          <a:latin typeface="Cambria Math" panose="02040503050406030204" pitchFamily="18" charset="0"/>
                        </a:rPr>
                        <m:t>𝑃</m:t>
                      </m:r>
                      <m:r>
                        <a:rPr lang="zh-CN" altLang="en-US" sz="3200" i="1" u="none">
                          <a:solidFill>
                            <a:srgbClr val="000000"/>
                          </a:solidFill>
                          <a:latin typeface="Cambria Math" panose="02040503050406030204" pitchFamily="18" charset="0"/>
                        </a:rPr>
                        <m:t>(</m:t>
                      </m:r>
                      <m:r>
                        <a:rPr lang="zh-CN" altLang="en-US" sz="3200" i="1" u="none">
                          <a:solidFill>
                            <a:srgbClr val="000000"/>
                          </a:solidFill>
                          <a:latin typeface="Cambria Math" panose="02040503050406030204" pitchFamily="18" charset="0"/>
                        </a:rPr>
                        <m:t>𝑦</m:t>
                      </m:r>
                      <m:r>
                        <a:rPr lang="zh-CN" altLang="en-US" sz="3200" i="1" u="none">
                          <a:solidFill>
                            <a:srgbClr val="000000"/>
                          </a:solidFill>
                          <a:latin typeface="Cambria Math" panose="02040503050406030204" pitchFamily="18" charset="0"/>
                        </a:rPr>
                        <m:t>)→</m:t>
                      </m:r>
                      <m:r>
                        <a:rPr lang="zh-CN" altLang="en-US" sz="3200" i="1" u="none">
                          <a:solidFill>
                            <a:srgbClr val="000000"/>
                          </a:solidFill>
                          <a:latin typeface="Cambria Math" panose="02040503050406030204" pitchFamily="18" charset="0"/>
                        </a:rPr>
                        <m:t>𝑦</m:t>
                      </m:r>
                      <m:r>
                        <a:rPr lang="en-US" altLang="zh-CN" sz="3200" b="1" i="1" u="none" smtClean="0">
                          <a:solidFill>
                            <a:srgbClr val="000000"/>
                          </a:solidFill>
                          <a:latin typeface="Cambria Math" panose="02040503050406030204" pitchFamily="18" charset="0"/>
                        </a:rPr>
                        <m:t>=</m:t>
                      </m:r>
                      <m:r>
                        <a:rPr lang="zh-CN" altLang="en-US" sz="3200" i="1" u="none">
                          <a:solidFill>
                            <a:srgbClr val="000000"/>
                          </a:solidFill>
                          <a:latin typeface="Cambria Math" panose="02040503050406030204" pitchFamily="18" charset="0"/>
                        </a:rPr>
                        <m:t>𝑥</m:t>
                      </m:r>
                      <m:r>
                        <a:rPr lang="zh-CN" altLang="en-US" sz="3200" i="1" u="none">
                          <a:solidFill>
                            <a:srgbClr val="000000"/>
                          </a:solidFill>
                          <a:latin typeface="Cambria Math" panose="02040503050406030204" pitchFamily="18" charset="0"/>
                        </a:rPr>
                        <m:t>))</m:t>
                      </m:r>
                    </m:oMath>
                  </m:oMathPara>
                </a14:m>
                <a:endParaRPr lang="zh-CN" altLang="en-US" sz="3200" i="1" u="none">
                  <a:solidFill>
                    <a:srgbClr val="000000"/>
                  </a:solidFill>
                  <a:latin typeface="Cambria Math" panose="020405030504060302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1548130" y="1844675"/>
                <a:ext cx="5568950" cy="583565"/>
              </a:xfrm>
              <a:prstGeom prst="rect">
                <a:avLst/>
              </a:prstGeom>
              <a:blipFill rotWithShape="1">
                <a:blip r:embed="rId3"/>
                <a:stretch>
                  <a:fillRect b="-5767"/>
                </a:stretch>
              </a:blipFill>
            </p:spPr>
            <p:txBody>
              <a:bodyPr/>
              <a:lstStyle/>
              <a:p>
                <a:r>
                  <a:rPr lang="zh-CN" altLang="en-US">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710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710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47109" name="Rectangle 2"/>
          <p:cNvSpPr>
            <a:spLocks noGrp="1"/>
          </p:cNvSpPr>
          <p:nvPr>
            <p:ph type="title"/>
          </p:nvPr>
        </p:nvSpPr>
        <p:spPr/>
        <p:txBody>
          <a:bodyPr vert="horz" wrap="square" lIns="91440" tIns="45720" rIns="91440" bIns="45720" anchor="b" anchorCtr="0"/>
          <a:p>
            <a:pPr eaLnBrk="1" hangingPunct="1"/>
            <a:r>
              <a:rPr lang="en-US" altLang="zh-CN" sz="4000" dirty="0">
                <a:latin typeface="Times New Roman" panose="02020503050405090304" pitchFamily="18" charset="0"/>
              </a:rPr>
              <a:t>Disproof by </a:t>
            </a:r>
            <a:r>
              <a:rPr lang="en-US" altLang="zh-CN" sz="4000" b="1" i="1" dirty="0">
                <a:latin typeface="Times New Roman" panose="02020503050405090304" pitchFamily="18" charset="0"/>
              </a:rPr>
              <a:t>Counterexample</a:t>
            </a:r>
            <a:r>
              <a:rPr lang="en-US" altLang="zh-CN" sz="4000" i="1" dirty="0">
                <a:latin typeface="Times New Roman" panose="02020503050405090304" pitchFamily="18" charset="0"/>
              </a:rPr>
              <a:t> </a:t>
            </a:r>
            <a:r>
              <a:rPr lang="en-US" altLang="zh-CN" sz="4000" dirty="0">
                <a:latin typeface="Times New Roman" panose="02020503050405090304" pitchFamily="18" charset="0"/>
              </a:rPr>
              <a:t>(</a:t>
            </a:r>
            <a:r>
              <a:rPr lang="zh-CN" altLang="en-US" sz="4000" dirty="0">
                <a:latin typeface="Times New Roman" panose="02020503050405090304" pitchFamily="18" charset="0"/>
              </a:rPr>
              <a:t>反例</a:t>
            </a:r>
            <a:r>
              <a:rPr lang="en-US" altLang="zh-CN" sz="4000" dirty="0">
                <a:latin typeface="Times New Roman" panose="02020503050405090304" pitchFamily="18" charset="0"/>
              </a:rPr>
              <a:t>)</a:t>
            </a:r>
            <a:endParaRPr lang="en-US" altLang="zh-CN" sz="4000" dirty="0">
              <a:latin typeface="Times New Roman" panose="02020503050405090304" pitchFamily="18" charset="0"/>
            </a:endParaRPr>
          </a:p>
        </p:txBody>
      </p:sp>
      <p:sp>
        <p:nvSpPr>
          <p:cNvPr id="47110" name="Rectangle 3"/>
          <p:cNvSpPr>
            <a:spLocks noGrp="1"/>
          </p:cNvSpPr>
          <p:nvPr>
            <p:ph idx="1"/>
          </p:nvPr>
        </p:nvSpPr>
        <p:spPr>
          <a:xfrm>
            <a:off x="899478" y="1484630"/>
            <a:ext cx="7894637" cy="4114800"/>
          </a:xfrm>
        </p:spPr>
        <p:txBody>
          <a:bodyPr vert="horz" wrap="square" lIns="91440" tIns="45720" rIns="91440" bIns="45720" anchor="t" anchorCtr="0"/>
          <a:p>
            <a:pPr eaLnBrk="1" hangingPunct="1"/>
            <a:r>
              <a:rPr lang="en-US" altLang="zh-CN" dirty="0">
                <a:latin typeface="Times New Roman" panose="02020503050405090304" pitchFamily="18" charset="0"/>
              </a:rPr>
              <a:t>Recall that </a:t>
            </a:r>
            <a:r>
              <a:rPr lang="en-US" altLang="zh-CN" dirty="0">
                <a:latin typeface="Symbol" panose="05050102010706020507" pitchFamily="18" charset="2"/>
              </a:rPr>
              <a:t>$</a:t>
            </a:r>
            <a:r>
              <a:rPr lang="en-US" altLang="zh-CN" i="1" dirty="0">
                <a:latin typeface="Times New Roman" panose="02020503050405090304" pitchFamily="18" charset="0"/>
              </a:rPr>
              <a:t>x</a:t>
            </a:r>
            <a:r>
              <a:rPr lang="en-US" altLang="zh-CN" dirty="0">
                <a:latin typeface="Times New Roman" panose="02020503050405090304" pitchFamily="18" charset="0"/>
                <a:sym typeface="Symbol" panose="05050102010706020507" pitchFamily="18" charset="2"/>
              </a:rPr>
              <a:t>  </a:t>
            </a:r>
            <a:r>
              <a:rPr lang="en-US" altLang="zh-CN" i="1" dirty="0">
                <a:latin typeface="Times New Roman" panose="02020503050405090304" pitchFamily="18" charset="0"/>
              </a:rPr>
              <a:t>P</a:t>
            </a:r>
            <a:r>
              <a:rPr lang="en-US" altLang="zh-CN" dirty="0">
                <a:latin typeface="Times New Roman" panose="02020503050405090304" pitchFamily="18" charset="0"/>
              </a:rPr>
              <a:t>(</a:t>
            </a:r>
            <a:r>
              <a:rPr lang="en-US" altLang="zh-CN" i="1" dirty="0">
                <a:latin typeface="Times New Roman" panose="02020503050405090304" pitchFamily="18" charset="0"/>
              </a:rPr>
              <a:t>x</a:t>
            </a:r>
            <a:r>
              <a:rPr lang="en-US" altLang="zh-CN" dirty="0">
                <a:latin typeface="Times New Roman" panose="02020503050405090304" pitchFamily="18" charset="0"/>
              </a:rPr>
              <a:t>)</a:t>
            </a:r>
            <a:r>
              <a:rPr lang="en-US" altLang="zh-CN" dirty="0">
                <a:latin typeface="Symbol" panose="05050102010706020507" pitchFamily="18" charset="2"/>
              </a:rPr>
              <a:t></a:t>
            </a:r>
            <a:r>
              <a:rPr lang="en-US" altLang="zh-CN" dirty="0">
                <a:latin typeface="Times New Roman" panose="02020503050405090304" pitchFamily="18" charset="0"/>
                <a:sym typeface="Symbol" panose="05050102010706020507" pitchFamily="18" charset="2"/>
              </a:rPr>
              <a:t>  </a:t>
            </a:r>
            <a:r>
              <a:rPr lang="en-US" altLang="zh-CN" dirty="0">
                <a:latin typeface="Symbol" panose="05050102010706020507" pitchFamily="18" charset="2"/>
              </a:rPr>
              <a:t>"</a:t>
            </a:r>
            <a:r>
              <a:rPr lang="en-US" altLang="zh-CN" i="1" dirty="0">
                <a:latin typeface="Times New Roman" panose="02020503050405090304" pitchFamily="18" charset="0"/>
              </a:rPr>
              <a:t>xP</a:t>
            </a:r>
            <a:r>
              <a:rPr lang="en-US" altLang="zh-CN" dirty="0">
                <a:latin typeface="Times New Roman" panose="02020503050405090304" pitchFamily="18" charset="0"/>
              </a:rPr>
              <a:t>(</a:t>
            </a:r>
            <a:r>
              <a:rPr lang="en-US" altLang="zh-CN" i="1" dirty="0">
                <a:latin typeface="Times New Roman" panose="02020503050405090304" pitchFamily="18" charset="0"/>
              </a:rPr>
              <a:t>x </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To establish that </a:t>
            </a:r>
            <a:r>
              <a:rPr lang="en-US" altLang="zh-CN" dirty="0">
                <a:latin typeface="Times New Roman" panose="02020503050405090304" pitchFamily="18" charset="0"/>
                <a:sym typeface="Symbol" panose="05050102010706020507" pitchFamily="18" charset="2"/>
              </a:rPr>
              <a:t> </a:t>
            </a:r>
            <a:r>
              <a:rPr lang="en-US" altLang="zh-CN" dirty="0">
                <a:latin typeface="Symbol" panose="05050102010706020507" pitchFamily="18" charset="2"/>
              </a:rPr>
              <a:t>"</a:t>
            </a:r>
            <a:r>
              <a:rPr lang="en-US" altLang="zh-CN" i="1" dirty="0">
                <a:latin typeface="Times New Roman" panose="02020503050405090304" pitchFamily="18" charset="0"/>
              </a:rPr>
              <a:t>xP</a:t>
            </a:r>
            <a:r>
              <a:rPr lang="en-US" altLang="zh-CN" dirty="0">
                <a:latin typeface="Times New Roman" panose="02020503050405090304" pitchFamily="18" charset="0"/>
              </a:rPr>
              <a:t>(</a:t>
            </a:r>
            <a:r>
              <a:rPr lang="en-US" altLang="zh-CN" i="1" dirty="0">
                <a:latin typeface="Times New Roman" panose="02020503050405090304" pitchFamily="18" charset="0"/>
              </a:rPr>
              <a:t>x </a:t>
            </a:r>
            <a:r>
              <a:rPr lang="en-US" altLang="zh-CN" dirty="0">
                <a:latin typeface="Times New Roman" panose="02020503050405090304" pitchFamily="18" charset="0"/>
              </a:rPr>
              <a:t>) is true (or </a:t>
            </a:r>
            <a:r>
              <a:rPr lang="en-US" altLang="zh-CN" dirty="0">
                <a:latin typeface="Symbol" panose="05050102010706020507" pitchFamily="18" charset="2"/>
              </a:rPr>
              <a:t>"</a:t>
            </a:r>
            <a:r>
              <a:rPr lang="en-US" altLang="zh-CN" i="1" dirty="0">
                <a:latin typeface="Times New Roman" panose="02020503050405090304" pitchFamily="18" charset="0"/>
              </a:rPr>
              <a:t>xP</a:t>
            </a:r>
            <a:r>
              <a:rPr lang="en-US" altLang="zh-CN" dirty="0">
                <a:latin typeface="Times New Roman" panose="02020503050405090304" pitchFamily="18" charset="0"/>
              </a:rPr>
              <a:t>(</a:t>
            </a:r>
            <a:r>
              <a:rPr lang="en-US" altLang="zh-CN" i="1" dirty="0">
                <a:latin typeface="Times New Roman" panose="02020503050405090304" pitchFamily="18" charset="0"/>
              </a:rPr>
              <a:t>x</a:t>
            </a:r>
            <a:r>
              <a:rPr lang="en-US" altLang="zh-CN" dirty="0">
                <a:latin typeface="Times New Roman" panose="02020503050405090304" pitchFamily="18" charset="0"/>
              </a:rPr>
              <a:t>) is false) construct a </a:t>
            </a:r>
            <a:r>
              <a:rPr lang="en-US" altLang="zh-CN" i="1" dirty="0">
                <a:latin typeface="Times New Roman" panose="02020503050405090304" pitchFamily="18" charset="0"/>
              </a:rPr>
              <a:t>c</a:t>
            </a:r>
            <a:r>
              <a:rPr lang="en-US" altLang="zh-CN" dirty="0">
                <a:latin typeface="Times New Roman" panose="02020503050405090304" pitchFamily="18" charset="0"/>
              </a:rPr>
              <a:t> such that </a:t>
            </a:r>
            <a:r>
              <a:rPr lang="en-US" altLang="zh-CN" dirty="0">
                <a:latin typeface="Times New Roman" panose="02020503050405090304" pitchFamily="18" charset="0"/>
                <a:sym typeface="Symbol" panose="05050102010706020507" pitchFamily="18" charset="2"/>
              </a:rPr>
              <a:t> </a:t>
            </a:r>
            <a:r>
              <a:rPr lang="en-US" altLang="zh-CN" i="1" dirty="0">
                <a:latin typeface="Times New Roman" panose="02020503050405090304" pitchFamily="18" charset="0"/>
              </a:rPr>
              <a:t>P</a:t>
            </a:r>
            <a:r>
              <a:rPr lang="en-US" altLang="zh-CN" dirty="0">
                <a:latin typeface="Times New Roman" panose="02020503050405090304" pitchFamily="18" charset="0"/>
              </a:rPr>
              <a:t>(</a:t>
            </a:r>
            <a:r>
              <a:rPr lang="en-US" altLang="zh-CN" i="1" dirty="0">
                <a:latin typeface="Times New Roman" panose="02020503050405090304" pitchFamily="18" charset="0"/>
              </a:rPr>
              <a:t>c</a:t>
            </a:r>
            <a:r>
              <a:rPr lang="en-US" altLang="zh-CN" dirty="0">
                <a:latin typeface="Times New Roman" panose="02020503050405090304" pitchFamily="18" charset="0"/>
              </a:rPr>
              <a:t>) is true or </a:t>
            </a:r>
            <a:r>
              <a:rPr lang="en-US" altLang="zh-CN" i="1" dirty="0">
                <a:latin typeface="Times New Roman" panose="02020503050405090304" pitchFamily="18" charset="0"/>
              </a:rPr>
              <a:t>P</a:t>
            </a:r>
            <a:r>
              <a:rPr lang="en-US" altLang="zh-CN" dirty="0">
                <a:latin typeface="Times New Roman" panose="02020503050405090304" pitchFamily="18" charset="0"/>
              </a:rPr>
              <a:t>(</a:t>
            </a:r>
            <a:r>
              <a:rPr lang="en-US" altLang="zh-CN" i="1" dirty="0">
                <a:latin typeface="Times New Roman" panose="02020503050405090304" pitchFamily="18" charset="0"/>
              </a:rPr>
              <a:t>c</a:t>
            </a:r>
            <a:r>
              <a:rPr lang="en-US" altLang="zh-CN" dirty="0">
                <a:latin typeface="Times New Roman" panose="02020503050405090304" pitchFamily="18" charset="0"/>
              </a:rPr>
              <a:t>) is false.</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In this case </a:t>
            </a:r>
            <a:r>
              <a:rPr lang="en-US" altLang="zh-CN" i="1" dirty="0">
                <a:latin typeface="Times New Roman" panose="02020503050405090304" pitchFamily="18" charset="0"/>
              </a:rPr>
              <a:t>c</a:t>
            </a:r>
            <a:r>
              <a:rPr lang="en-US" altLang="zh-CN" dirty="0">
                <a:latin typeface="Times New Roman" panose="02020503050405090304" pitchFamily="18" charset="0"/>
              </a:rPr>
              <a:t> is called a </a:t>
            </a:r>
            <a:r>
              <a:rPr lang="en-US" altLang="zh-CN" i="1" dirty="0">
                <a:solidFill>
                  <a:schemeClr val="hlink"/>
                </a:solidFill>
                <a:latin typeface="Times New Roman" panose="02020503050405090304" pitchFamily="18" charset="0"/>
              </a:rPr>
              <a:t>counterexample</a:t>
            </a:r>
            <a:r>
              <a:rPr lang="en-US" altLang="zh-CN" i="1" dirty="0">
                <a:latin typeface="Times New Roman" panose="02020503050405090304" pitchFamily="18" charset="0"/>
              </a:rPr>
              <a:t> </a:t>
            </a:r>
            <a:r>
              <a:rPr lang="en-US" altLang="zh-CN" dirty="0">
                <a:latin typeface="Times New Roman" panose="02020503050405090304" pitchFamily="18" charset="0"/>
              </a:rPr>
              <a:t>to the assertion </a:t>
            </a:r>
            <a:r>
              <a:rPr lang="en-US" altLang="zh-CN" dirty="0">
                <a:latin typeface="Symbol" panose="05050102010706020507" pitchFamily="18" charset="2"/>
              </a:rPr>
              <a:t>"</a:t>
            </a:r>
            <a:r>
              <a:rPr lang="en-US" altLang="zh-CN" i="1" dirty="0">
                <a:latin typeface="Times New Roman" panose="02020503050405090304" pitchFamily="18" charset="0"/>
              </a:rPr>
              <a:t>xP</a:t>
            </a:r>
            <a:r>
              <a:rPr lang="en-US" altLang="zh-CN" dirty="0">
                <a:latin typeface="Times New Roman" panose="02020503050405090304" pitchFamily="18" charset="0"/>
              </a:rPr>
              <a:t>(</a:t>
            </a:r>
            <a:r>
              <a:rPr lang="en-US" altLang="zh-CN" i="1" dirty="0">
                <a:latin typeface="Times New Roman" panose="02020503050405090304" pitchFamily="18" charset="0"/>
              </a:rPr>
              <a:t>x</a:t>
            </a:r>
            <a:r>
              <a:rPr lang="en-US" altLang="zh-CN" dirty="0">
                <a:latin typeface="Times New Roman" panose="02020503050405090304" pitchFamily="18" charset="0"/>
              </a:rPr>
              <a:t>)</a:t>
            </a:r>
            <a:endParaRPr lang="en-US" altLang="zh-C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813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813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48133"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Nonexistence Proofs</a:t>
            </a:r>
            <a:endParaRPr lang="en-US" altLang="zh-CN" dirty="0">
              <a:latin typeface="Times New Roman" panose="02020503050405090304" pitchFamily="18" charset="0"/>
            </a:endParaRPr>
          </a:p>
        </p:txBody>
      </p:sp>
      <p:sp>
        <p:nvSpPr>
          <p:cNvPr id="48134"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We wish to establish the truth of</a:t>
            </a:r>
            <a:endParaRPr lang="en-US" altLang="zh-CN" dirty="0">
              <a:latin typeface="Times New Roman" panose="02020503050405090304" pitchFamily="18" charset="0"/>
            </a:endParaRPr>
          </a:p>
          <a:p>
            <a:pPr lvl="1" eaLnBrk="1" hangingPunct="1">
              <a:buNone/>
            </a:pPr>
            <a:r>
              <a:rPr lang="en-US" altLang="zh-CN" dirty="0">
                <a:latin typeface="Times New Roman" panose="02020503050405090304" pitchFamily="18" charset="0"/>
                <a:sym typeface="Symbol" panose="05050102010706020507" pitchFamily="18" charset="2"/>
              </a:rPr>
              <a:t> </a:t>
            </a:r>
            <a:r>
              <a:rPr lang="en-US" altLang="zh-CN" dirty="0">
                <a:latin typeface="Symbol" panose="05050102010706020507" pitchFamily="18" charset="2"/>
              </a:rPr>
              <a:t>$</a:t>
            </a:r>
            <a:r>
              <a:rPr lang="en-US" altLang="zh-CN" i="1" dirty="0">
                <a:latin typeface="Times New Roman" panose="02020503050405090304" pitchFamily="18" charset="0"/>
              </a:rPr>
              <a:t>xP</a:t>
            </a:r>
            <a:r>
              <a:rPr lang="en-US" altLang="zh-CN" dirty="0">
                <a:latin typeface="Times New Roman" panose="02020503050405090304" pitchFamily="18" charset="0"/>
              </a:rPr>
              <a:t>( </a:t>
            </a:r>
            <a:r>
              <a:rPr lang="en-US" altLang="zh-CN" i="1" dirty="0">
                <a:latin typeface="Times New Roman" panose="02020503050405090304" pitchFamily="18" charset="0"/>
              </a:rPr>
              <a:t>x</a:t>
            </a:r>
            <a:r>
              <a:rPr lang="en-US" altLang="zh-CN" dirty="0">
                <a:latin typeface="Times New Roman" panose="02020503050405090304" pitchFamily="18" charset="0"/>
              </a:rPr>
              <a:t>) (which is equivalent to </a:t>
            </a:r>
            <a:r>
              <a:rPr lang="en-US" altLang="zh-CN" dirty="0">
                <a:latin typeface="Symbol" panose="05050102010706020507" pitchFamily="18" charset="2"/>
              </a:rPr>
              <a:t>"</a:t>
            </a:r>
            <a:r>
              <a:rPr lang="en-US" altLang="zh-CN" i="1" dirty="0">
                <a:latin typeface="Times New Roman" panose="02020503050405090304" pitchFamily="18" charset="0"/>
              </a:rPr>
              <a:t>x</a:t>
            </a:r>
            <a:r>
              <a:rPr lang="en-US" altLang="zh-CN" dirty="0">
                <a:latin typeface="Times New Roman" panose="02020503050405090304" pitchFamily="18" charset="0"/>
                <a:sym typeface="Symbol" panose="05050102010706020507" pitchFamily="18" charset="2"/>
              </a:rPr>
              <a:t>  </a:t>
            </a:r>
            <a:r>
              <a:rPr lang="en-US" altLang="zh-CN" i="1" dirty="0">
                <a:latin typeface="Times New Roman" panose="02020503050405090304" pitchFamily="18" charset="0"/>
              </a:rPr>
              <a:t>P</a:t>
            </a:r>
            <a:r>
              <a:rPr lang="en-US" altLang="zh-CN" dirty="0">
                <a:latin typeface="Times New Roman" panose="02020503050405090304" pitchFamily="18" charset="0"/>
              </a:rPr>
              <a:t>(</a:t>
            </a:r>
            <a:r>
              <a:rPr lang="en-US" altLang="zh-CN" i="1" dirty="0">
                <a:latin typeface="Times New Roman" panose="02020503050405090304" pitchFamily="18" charset="0"/>
              </a:rPr>
              <a:t>x</a:t>
            </a:r>
            <a:r>
              <a:rPr lang="en-US" altLang="zh-CN" dirty="0">
                <a:latin typeface="Times New Roman" panose="02020503050405090304" pitchFamily="18" charset="0"/>
              </a:rPr>
              <a:t>))</a:t>
            </a:r>
            <a:r>
              <a:rPr lang="en-US" altLang="zh-CN" b="1" dirty="0">
                <a:latin typeface="Times New Roman" panose="02020503050405090304" pitchFamily="18" charset="0"/>
              </a:rPr>
              <a:t>.</a:t>
            </a:r>
            <a:endParaRPr lang="en-US" altLang="zh-CN" b="1" dirty="0">
              <a:latin typeface="Times New Roman" panose="02020503050405090304" pitchFamily="18" charset="0"/>
            </a:endParaRPr>
          </a:p>
          <a:p>
            <a:pPr eaLnBrk="1" hangingPunct="1"/>
            <a:r>
              <a:rPr lang="en-US" altLang="zh-CN" dirty="0">
                <a:latin typeface="Times New Roman" panose="02020503050405090304" pitchFamily="18" charset="0"/>
              </a:rPr>
              <a:t>Use a proof by contradiction by assuming there is a </a:t>
            </a:r>
            <a:r>
              <a:rPr lang="en-US" altLang="zh-CN" i="1" dirty="0">
                <a:latin typeface="Times New Roman" panose="02020503050405090304" pitchFamily="18" charset="0"/>
              </a:rPr>
              <a:t>c</a:t>
            </a:r>
            <a:r>
              <a:rPr lang="en-US" altLang="zh-CN" dirty="0">
                <a:latin typeface="Times New Roman" panose="02020503050405090304" pitchFamily="18" charset="0"/>
              </a:rPr>
              <a:t> which makes </a:t>
            </a:r>
            <a:r>
              <a:rPr lang="en-US" altLang="zh-CN" i="1" dirty="0">
                <a:latin typeface="Times New Roman" panose="02020503050405090304" pitchFamily="18" charset="0"/>
              </a:rPr>
              <a:t>P</a:t>
            </a:r>
            <a:r>
              <a:rPr lang="en-US" altLang="zh-CN" dirty="0">
                <a:latin typeface="Times New Roman" panose="02020503050405090304" pitchFamily="18" charset="0"/>
              </a:rPr>
              <a:t>(</a:t>
            </a:r>
            <a:r>
              <a:rPr lang="en-US" altLang="zh-CN" i="1" dirty="0">
                <a:latin typeface="Times New Roman" panose="02020503050405090304" pitchFamily="18" charset="0"/>
              </a:rPr>
              <a:t>c</a:t>
            </a:r>
            <a:r>
              <a:rPr lang="en-US" altLang="zh-CN" dirty="0">
                <a:latin typeface="Times New Roman" panose="02020503050405090304" pitchFamily="18" charset="0"/>
              </a:rPr>
              <a:t>) true.</a:t>
            </a:r>
            <a:endParaRPr lang="en-US" altLang="zh-CN" dirty="0">
              <a:latin typeface="Times New Roman" panose="0202050305040509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915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915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49157" name="Rectangle 2"/>
          <p:cNvSpPr>
            <a:spLocks noGrp="1"/>
          </p:cNvSpPr>
          <p:nvPr>
            <p:ph type="title"/>
          </p:nvPr>
        </p:nvSpPr>
        <p:spPr/>
        <p:txBody>
          <a:bodyPr vert="horz" wrap="square" lIns="91440" tIns="45720" rIns="91440" bIns="45720" anchor="b" anchorCtr="0"/>
          <a:p>
            <a:pPr eaLnBrk="1" hangingPunct="1"/>
            <a:r>
              <a:rPr lang="en-US" altLang="zh-CN" sz="4000" dirty="0">
                <a:latin typeface="Times New Roman" panose="02020503050405090304" pitchFamily="18" charset="0"/>
              </a:rPr>
              <a:t>Universally Quantified Assertions</a:t>
            </a:r>
            <a:endParaRPr lang="en-US" altLang="zh-CN" sz="4000" dirty="0">
              <a:latin typeface="Times New Roman" panose="02020503050405090304" pitchFamily="18" charset="0"/>
            </a:endParaRPr>
          </a:p>
        </p:txBody>
      </p:sp>
      <p:sp>
        <p:nvSpPr>
          <p:cNvPr id="49158"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We wish to establish the truth of</a:t>
            </a:r>
            <a:endParaRPr lang="en-US" altLang="zh-CN" dirty="0">
              <a:latin typeface="Times New Roman" panose="02020503050405090304" pitchFamily="18" charset="0"/>
            </a:endParaRPr>
          </a:p>
          <a:p>
            <a:pPr eaLnBrk="1" hangingPunct="1">
              <a:buNone/>
            </a:pPr>
            <a:r>
              <a:rPr lang="en-US" altLang="zh-CN" dirty="0">
                <a:latin typeface="Symbol" panose="05050102010706020507" pitchFamily="18" charset="2"/>
              </a:rPr>
              <a:t>		"</a:t>
            </a:r>
            <a:r>
              <a:rPr lang="en-US" altLang="zh-CN" i="1" dirty="0">
                <a:latin typeface="Times New Roman" panose="02020503050405090304" pitchFamily="18" charset="0"/>
              </a:rPr>
              <a:t>xP</a:t>
            </a:r>
            <a:r>
              <a:rPr lang="en-US" altLang="zh-CN" dirty="0">
                <a:latin typeface="Times New Roman" panose="02020503050405090304" pitchFamily="18" charset="0"/>
              </a:rPr>
              <a:t>(</a:t>
            </a:r>
            <a:r>
              <a:rPr lang="en-US" altLang="zh-CN" i="1" dirty="0">
                <a:latin typeface="Times New Roman" panose="02020503050405090304" pitchFamily="18" charset="0"/>
              </a:rPr>
              <a:t>x</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We assume that </a:t>
            </a:r>
            <a:r>
              <a:rPr lang="en-US" altLang="zh-CN" i="1" dirty="0">
                <a:latin typeface="Times New Roman" panose="02020503050405090304" pitchFamily="18" charset="0"/>
              </a:rPr>
              <a:t>x</a:t>
            </a:r>
            <a:r>
              <a:rPr lang="en-US" altLang="zh-CN" dirty="0">
                <a:latin typeface="Times New Roman" panose="02020503050405090304" pitchFamily="18" charset="0"/>
              </a:rPr>
              <a:t> is an arbitrary member of the universe and show </a:t>
            </a:r>
            <a:r>
              <a:rPr lang="en-US" altLang="zh-CN" i="1" dirty="0">
                <a:latin typeface="Times New Roman" panose="02020503050405090304" pitchFamily="18" charset="0"/>
              </a:rPr>
              <a:t>P</a:t>
            </a:r>
            <a:r>
              <a:rPr lang="en-US" altLang="zh-CN" dirty="0">
                <a:latin typeface="Times New Roman" panose="02020503050405090304" pitchFamily="18" charset="0"/>
              </a:rPr>
              <a:t>(</a:t>
            </a:r>
            <a:r>
              <a:rPr lang="en-US" altLang="zh-CN" i="1" dirty="0">
                <a:latin typeface="Times New Roman" panose="02020503050405090304" pitchFamily="18" charset="0"/>
              </a:rPr>
              <a:t>x</a:t>
            </a:r>
            <a:r>
              <a:rPr lang="en-US" altLang="zh-CN" dirty="0">
                <a:latin typeface="Times New Roman" panose="02020503050405090304" pitchFamily="18" charset="0"/>
              </a:rPr>
              <a:t>) must be true. Using UG it follows that </a:t>
            </a:r>
            <a:r>
              <a:rPr lang="en-US" altLang="zh-CN" dirty="0">
                <a:latin typeface="Symbol" panose="05050102010706020507" pitchFamily="18" charset="2"/>
              </a:rPr>
              <a:t>"</a:t>
            </a:r>
            <a:r>
              <a:rPr lang="en-US" altLang="zh-CN" i="1" dirty="0">
                <a:latin typeface="Times New Roman" panose="02020503050405090304" pitchFamily="18" charset="0"/>
              </a:rPr>
              <a:t>xP</a:t>
            </a:r>
            <a:r>
              <a:rPr lang="en-US" altLang="zh-CN" dirty="0">
                <a:latin typeface="Times New Roman" panose="02020503050405090304" pitchFamily="18" charset="0"/>
              </a:rPr>
              <a:t>(</a:t>
            </a:r>
            <a:r>
              <a:rPr lang="en-US" altLang="zh-CN" i="1" dirty="0">
                <a:latin typeface="Times New Roman" panose="02020503050405090304" pitchFamily="18" charset="0"/>
              </a:rPr>
              <a:t>x</a:t>
            </a:r>
            <a:r>
              <a:rPr lang="en-US" altLang="zh-CN" dirty="0">
                <a:latin typeface="Times New Roman" panose="02020503050405090304" pitchFamily="18" charset="0"/>
              </a:rPr>
              <a:t>)</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017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018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50181"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Example</a:t>
            </a:r>
            <a:endParaRPr lang="en-US" altLang="zh-CN" dirty="0">
              <a:latin typeface="Times New Roman" panose="02020503050405090304" pitchFamily="18" charset="0"/>
            </a:endParaRPr>
          </a:p>
        </p:txBody>
      </p:sp>
      <p:sp>
        <p:nvSpPr>
          <p:cNvPr id="50182" name="Rectangle 3"/>
          <p:cNvSpPr>
            <a:spLocks noGrp="1"/>
          </p:cNvSpPr>
          <p:nvPr>
            <p:ph idx="1"/>
          </p:nvPr>
        </p:nvSpPr>
        <p:spPr>
          <a:xfrm>
            <a:off x="899795" y="1268413"/>
            <a:ext cx="7772400" cy="4114800"/>
          </a:xfrm>
        </p:spPr>
        <p:txBody>
          <a:bodyPr vert="horz" wrap="square" lIns="91440" tIns="45720" rIns="91440" bIns="45720" anchor="t" anchorCtr="0"/>
          <a:p>
            <a:pPr eaLnBrk="1" hangingPunct="1"/>
            <a:r>
              <a:rPr lang="en-US" altLang="zh-CN" sz="3600" dirty="0">
                <a:latin typeface="Times New Roman" panose="02020503050405090304" pitchFamily="18" charset="0"/>
              </a:rPr>
              <a:t>Theorem: </a:t>
            </a:r>
            <a:r>
              <a:rPr lang="en-US" altLang="zh-CN" sz="3600" i="1" dirty="0">
                <a:latin typeface="Times New Roman" panose="02020503050405090304" pitchFamily="18" charset="0"/>
              </a:rPr>
              <a:t>For the universe of integers, x is even iff x</a:t>
            </a:r>
            <a:r>
              <a:rPr lang="en-US" altLang="zh-CN" sz="3600" i="1" baseline="30000" dirty="0">
                <a:latin typeface="Times New Roman" panose="02020503050405090304" pitchFamily="18" charset="0"/>
              </a:rPr>
              <a:t>2</a:t>
            </a:r>
            <a:r>
              <a:rPr lang="en-US" altLang="zh-CN" sz="3600" i="1" dirty="0">
                <a:latin typeface="Times New Roman" panose="02020503050405090304" pitchFamily="18" charset="0"/>
              </a:rPr>
              <a:t> is even.</a:t>
            </a:r>
            <a:endParaRPr lang="en-US" altLang="zh-CN" sz="3600" i="1" dirty="0">
              <a:latin typeface="Times New Roman" panose="02020503050405090304" pitchFamily="18" charset="0"/>
            </a:endParaRPr>
          </a:p>
          <a:p>
            <a:pPr eaLnBrk="1" hangingPunct="1"/>
            <a:r>
              <a:rPr lang="en-US" altLang="zh-CN" sz="3600" dirty="0">
                <a:latin typeface="Times New Roman" panose="02020503050405090304" pitchFamily="18" charset="0"/>
              </a:rPr>
              <a:t>Proof:</a:t>
            </a:r>
            <a:endParaRPr lang="en-US" altLang="zh-CN" sz="3600" dirty="0">
              <a:latin typeface="Times New Roman" panose="02020503050405090304" pitchFamily="18" charset="0"/>
            </a:endParaRPr>
          </a:p>
          <a:p>
            <a:pPr lvl="1" eaLnBrk="1" hangingPunct="1"/>
            <a:r>
              <a:rPr lang="en-US" altLang="zh-CN" sz="3200" dirty="0">
                <a:latin typeface="Times New Roman" panose="02020503050405090304" pitchFamily="18" charset="0"/>
              </a:rPr>
              <a:t>The quantified assertion is</a:t>
            </a:r>
            <a:endParaRPr lang="en-US" altLang="zh-CN" sz="3200" dirty="0">
              <a:latin typeface="Times New Roman" panose="02020503050405090304" pitchFamily="18" charset="0"/>
            </a:endParaRPr>
          </a:p>
          <a:p>
            <a:pPr lvl="2" eaLnBrk="1" hangingPunct="1"/>
            <a:r>
              <a:rPr lang="en-US" altLang="zh-CN" sz="2800" dirty="0">
                <a:latin typeface="Symbol" panose="05050102010706020507" pitchFamily="18" charset="2"/>
              </a:rPr>
              <a:t>"</a:t>
            </a:r>
            <a:r>
              <a:rPr lang="en-US" altLang="zh-CN" sz="2800" i="1" dirty="0">
                <a:latin typeface="Times New Roman" panose="02020503050405090304" pitchFamily="18" charset="0"/>
              </a:rPr>
              <a:t>x</a:t>
            </a:r>
            <a:r>
              <a:rPr lang="en-US" altLang="zh-CN" sz="2800" dirty="0">
                <a:latin typeface="Times New Roman" panose="02020503050405090304" pitchFamily="18" charset="0"/>
              </a:rPr>
              <a:t>[</a:t>
            </a:r>
            <a:r>
              <a:rPr lang="en-US" altLang="zh-CN" sz="2800" i="1" dirty="0">
                <a:latin typeface="Times New Roman" panose="02020503050405090304" pitchFamily="18" charset="0"/>
              </a:rPr>
              <a:t>x </a:t>
            </a:r>
            <a:r>
              <a:rPr lang="en-US" altLang="zh-CN" sz="2800" dirty="0">
                <a:latin typeface="Times New Roman" panose="02020503050405090304" pitchFamily="18" charset="0"/>
              </a:rPr>
              <a:t>is even </a:t>
            </a:r>
            <a:r>
              <a:rPr lang="en-US" altLang="zh-CN" sz="2800" dirty="0">
                <a:latin typeface="Euclid" panose="02020503060505020303" pitchFamily="18" charset="0"/>
                <a:sym typeface="Symbol" panose="05050102010706020507" pitchFamily="18" charset="2"/>
              </a:rPr>
              <a:t></a:t>
            </a:r>
            <a:r>
              <a:rPr lang="en-US" altLang="zh-CN" sz="2800" dirty="0">
                <a:latin typeface="Symbol" panose="05050102010706020507" pitchFamily="18" charset="2"/>
              </a:rPr>
              <a:t> </a:t>
            </a:r>
            <a:r>
              <a:rPr lang="en-US" altLang="zh-CN" sz="2800" i="1" dirty="0">
                <a:latin typeface="Times New Roman" panose="02020503050405090304" pitchFamily="18" charset="0"/>
              </a:rPr>
              <a:t>x</a:t>
            </a:r>
            <a:r>
              <a:rPr lang="en-US" altLang="zh-CN" sz="2800" baseline="30000" dirty="0">
                <a:latin typeface="Times New Roman" panose="02020503050405090304" pitchFamily="18" charset="0"/>
              </a:rPr>
              <a:t>2</a:t>
            </a:r>
            <a:r>
              <a:rPr lang="en-US" altLang="zh-CN" sz="2800" dirty="0">
                <a:latin typeface="Times New Roman" panose="02020503050405090304" pitchFamily="18" charset="0"/>
              </a:rPr>
              <a:t> is even]</a:t>
            </a:r>
            <a:endParaRPr lang="en-US" altLang="zh-CN" sz="2800" dirty="0">
              <a:latin typeface="Times New Roman" panose="02020503050405090304" pitchFamily="18" charset="0"/>
            </a:endParaRPr>
          </a:p>
          <a:p>
            <a:pPr lvl="1" eaLnBrk="1" hangingPunct="1"/>
            <a:r>
              <a:rPr lang="en-US" altLang="zh-CN" sz="3200" dirty="0">
                <a:latin typeface="Times New Roman" panose="02020503050405090304" pitchFamily="18" charset="0"/>
              </a:rPr>
              <a:t>Assume </a:t>
            </a:r>
            <a:r>
              <a:rPr lang="en-US" altLang="zh-CN" sz="3200" i="1" dirty="0">
                <a:latin typeface="Times New Roman" panose="02020503050405090304" pitchFamily="18" charset="0"/>
              </a:rPr>
              <a:t>x</a:t>
            </a:r>
            <a:r>
              <a:rPr lang="en-US" altLang="zh-CN" sz="3200" dirty="0">
                <a:latin typeface="Times New Roman" panose="02020503050405090304" pitchFamily="18" charset="0"/>
              </a:rPr>
              <a:t> is arbitrary.</a:t>
            </a:r>
            <a:endParaRPr lang="en-US" altLang="zh-CN" sz="3200" dirty="0">
              <a:latin typeface="Times New Roman" panose="02020503050405090304" pitchFamily="18" charset="0"/>
            </a:endParaRPr>
          </a:p>
          <a:p>
            <a:pPr lvl="1" eaLnBrk="1" hangingPunct="1"/>
            <a:r>
              <a:rPr lang="en-US" altLang="zh-CN" sz="3200" dirty="0">
                <a:latin typeface="Times New Roman" panose="02020503050405090304" pitchFamily="18" charset="0"/>
              </a:rPr>
              <a:t>Recall that </a:t>
            </a:r>
            <a:r>
              <a:rPr lang="en-US" altLang="zh-CN" sz="3200" i="1" dirty="0">
                <a:latin typeface="Times New Roman" panose="02020503050405090304" pitchFamily="18" charset="0"/>
              </a:rPr>
              <a:t>P </a:t>
            </a:r>
            <a:r>
              <a:rPr lang="en-US" altLang="zh-CN" sz="3200" dirty="0">
                <a:latin typeface="Euclid" panose="02020503060505020303" pitchFamily="18" charset="0"/>
                <a:sym typeface="Symbol" panose="05050102010706020507" pitchFamily="18" charset="2"/>
              </a:rPr>
              <a:t> </a:t>
            </a:r>
            <a:r>
              <a:rPr lang="en-US" altLang="zh-CN" sz="3200" i="1" dirty="0">
                <a:latin typeface="Times New Roman" panose="02020503050405090304" pitchFamily="18" charset="0"/>
              </a:rPr>
              <a:t>Q </a:t>
            </a:r>
            <a:r>
              <a:rPr lang="en-US" altLang="zh-CN" sz="3200" dirty="0">
                <a:latin typeface="Times New Roman" panose="02020503050405090304" pitchFamily="18" charset="0"/>
              </a:rPr>
              <a:t>is equivalent to (</a:t>
            </a:r>
            <a:r>
              <a:rPr lang="en-US" altLang="zh-CN" sz="3200" i="1" dirty="0">
                <a:latin typeface="Times New Roman" panose="02020503050405090304" pitchFamily="18" charset="0"/>
              </a:rPr>
              <a:t>P </a:t>
            </a:r>
            <a:r>
              <a:rPr lang="en-US" altLang="zh-CN" sz="3200" dirty="0">
                <a:latin typeface="Euclid" panose="02020503060505020303" pitchFamily="18" charset="0"/>
                <a:sym typeface="Symbol" panose="05050102010706020507" pitchFamily="18" charset="2"/>
              </a:rPr>
              <a:t> </a:t>
            </a:r>
            <a:r>
              <a:rPr lang="en-US" altLang="zh-CN" sz="3200" i="1" dirty="0">
                <a:latin typeface="Times New Roman" panose="02020503050405090304" pitchFamily="18" charset="0"/>
              </a:rPr>
              <a:t>Q</a:t>
            </a:r>
            <a:r>
              <a:rPr lang="en-US" altLang="zh-CN" sz="3200" dirty="0">
                <a:latin typeface="Times New Roman" panose="02020503050405090304" pitchFamily="18" charset="0"/>
              </a:rPr>
              <a:t>) </a:t>
            </a:r>
            <a:r>
              <a:rPr lang="en-US" altLang="zh-CN" sz="3200" dirty="0">
                <a:latin typeface="Symbol" panose="05050102010706020507" pitchFamily="18" charset="2"/>
              </a:rPr>
              <a:t>Ù </a:t>
            </a:r>
            <a:r>
              <a:rPr lang="en-US" altLang="zh-CN" sz="3200" dirty="0">
                <a:latin typeface="Times New Roman" panose="02020503050405090304" pitchFamily="18" charset="0"/>
              </a:rPr>
              <a:t>(</a:t>
            </a:r>
            <a:r>
              <a:rPr lang="en-US" altLang="zh-CN" sz="3200" i="1" dirty="0">
                <a:latin typeface="Times New Roman" panose="02020503050405090304" pitchFamily="18" charset="0"/>
              </a:rPr>
              <a:t>Q </a:t>
            </a:r>
            <a:r>
              <a:rPr lang="en-US" altLang="zh-CN" sz="3200" dirty="0">
                <a:latin typeface="Euclid" panose="02020503060505020303" pitchFamily="18" charset="0"/>
                <a:sym typeface="Symbol" panose="05050102010706020507" pitchFamily="18" charset="2"/>
              </a:rPr>
              <a:t></a:t>
            </a:r>
            <a:r>
              <a:rPr lang="en-US" altLang="zh-CN" sz="3200" dirty="0">
                <a:latin typeface="Symbol" panose="05050102010706020507" pitchFamily="18" charset="2"/>
              </a:rPr>
              <a:t> </a:t>
            </a:r>
            <a:r>
              <a:rPr lang="en-US" altLang="zh-CN" sz="3200" i="1" dirty="0">
                <a:latin typeface="Times New Roman" panose="02020503050405090304" pitchFamily="18" charset="0"/>
              </a:rPr>
              <a:t>P</a:t>
            </a:r>
            <a:r>
              <a:rPr lang="en-US" altLang="zh-CN" sz="3200" dirty="0">
                <a:latin typeface="Times New Roman" panose="02020503050405090304" pitchFamily="18" charset="0"/>
              </a:rPr>
              <a:t>).</a:t>
            </a:r>
            <a:endParaRPr lang="en-US" altLang="zh-CN" sz="3200" dirty="0">
              <a:latin typeface="Times New Roman" panose="0202050305040509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120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120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51205"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Example</a:t>
            </a:r>
            <a:endParaRPr lang="en-US" altLang="zh-CN" dirty="0">
              <a:latin typeface="Times New Roman" panose="02020503050405090304" pitchFamily="18" charset="0"/>
            </a:endParaRPr>
          </a:p>
        </p:txBody>
      </p:sp>
      <p:sp>
        <p:nvSpPr>
          <p:cNvPr id="51206" name="Rectangle 3"/>
          <p:cNvSpPr>
            <a:spLocks noGrp="1"/>
          </p:cNvSpPr>
          <p:nvPr>
            <p:ph idx="1"/>
          </p:nvPr>
        </p:nvSpPr>
        <p:spPr>
          <a:xfrm>
            <a:off x="972185" y="1340485"/>
            <a:ext cx="7772400" cy="4114800"/>
          </a:xfrm>
        </p:spPr>
        <p:txBody>
          <a:bodyPr vert="horz" wrap="square" lIns="91440" tIns="45720" rIns="91440" bIns="45720" anchor="t" anchorCtr="0"/>
          <a:p>
            <a:pPr eaLnBrk="1" hangingPunct="1"/>
            <a:r>
              <a:rPr lang="en-US" altLang="zh-CN" dirty="0">
                <a:latin typeface="Times New Roman" panose="02020503050405090304" pitchFamily="18" charset="0"/>
              </a:rPr>
              <a:t>Case 1. We show if </a:t>
            </a:r>
            <a:r>
              <a:rPr lang="en-US" altLang="zh-CN" i="1" dirty="0">
                <a:latin typeface="Times New Roman" panose="02020503050405090304" pitchFamily="18" charset="0"/>
              </a:rPr>
              <a:t>x</a:t>
            </a:r>
            <a:r>
              <a:rPr lang="en-US" altLang="zh-CN" dirty="0">
                <a:latin typeface="Times New Roman" panose="02020503050405090304" pitchFamily="18" charset="0"/>
              </a:rPr>
              <a:t> is even then </a:t>
            </a:r>
            <a:r>
              <a:rPr lang="en-US" altLang="zh-CN" i="1" dirty="0">
                <a:latin typeface="Times New Roman" panose="02020503050405090304" pitchFamily="18" charset="0"/>
              </a:rPr>
              <a:t>x</a:t>
            </a:r>
            <a:r>
              <a:rPr lang="en-US" altLang="zh-CN" baseline="30000" dirty="0">
                <a:latin typeface="Times New Roman" panose="02020503050405090304" pitchFamily="18" charset="0"/>
              </a:rPr>
              <a:t>2</a:t>
            </a:r>
            <a:r>
              <a:rPr lang="en-US" altLang="zh-CN" dirty="0">
                <a:latin typeface="Times New Roman" panose="02020503050405090304" pitchFamily="18" charset="0"/>
              </a:rPr>
              <a:t> is even using a direct proof (the </a:t>
            </a:r>
            <a:r>
              <a:rPr lang="en-US" altLang="zh-CN" i="1" dirty="0">
                <a:solidFill>
                  <a:schemeClr val="hlink"/>
                </a:solidFill>
                <a:latin typeface="Times New Roman" panose="02020503050405090304" pitchFamily="18" charset="0"/>
              </a:rPr>
              <a:t>only if</a:t>
            </a:r>
            <a:r>
              <a:rPr lang="en-US" altLang="zh-CN" i="1" dirty="0">
                <a:latin typeface="Times New Roman" panose="02020503050405090304" pitchFamily="18" charset="0"/>
              </a:rPr>
              <a:t> </a:t>
            </a:r>
            <a:r>
              <a:rPr lang="en-US" altLang="zh-CN" dirty="0">
                <a:latin typeface="Times New Roman" panose="02020503050405090304" pitchFamily="18" charset="0"/>
              </a:rPr>
              <a:t>part or </a:t>
            </a:r>
            <a:r>
              <a:rPr lang="en-US" altLang="zh-CN" i="1" dirty="0">
                <a:solidFill>
                  <a:schemeClr val="hlink"/>
                </a:solidFill>
                <a:latin typeface="Times New Roman" panose="02020503050405090304" pitchFamily="18" charset="0"/>
              </a:rPr>
              <a:t>necessity</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If </a:t>
            </a:r>
            <a:r>
              <a:rPr lang="en-US" altLang="zh-CN" i="1" dirty="0">
                <a:latin typeface="Times New Roman" panose="02020503050405090304" pitchFamily="18" charset="0"/>
              </a:rPr>
              <a:t>x</a:t>
            </a:r>
            <a:r>
              <a:rPr lang="en-US" altLang="zh-CN" dirty="0">
                <a:latin typeface="Times New Roman" panose="02020503050405090304" pitchFamily="18" charset="0"/>
              </a:rPr>
              <a:t> is even then </a:t>
            </a:r>
            <a:r>
              <a:rPr lang="en-US" altLang="zh-CN" i="1" dirty="0">
                <a:latin typeface="Times New Roman" panose="02020503050405090304" pitchFamily="18" charset="0"/>
              </a:rPr>
              <a:t>x</a:t>
            </a:r>
            <a:r>
              <a:rPr lang="en-US" altLang="zh-CN" dirty="0">
                <a:latin typeface="Times New Roman" panose="02020503050405090304" pitchFamily="18" charset="0"/>
              </a:rPr>
              <a:t> = 2</a:t>
            </a:r>
            <a:r>
              <a:rPr lang="en-US" altLang="zh-CN" i="1" dirty="0">
                <a:latin typeface="Times New Roman" panose="02020503050405090304" pitchFamily="18" charset="0"/>
              </a:rPr>
              <a:t>k</a:t>
            </a:r>
            <a:r>
              <a:rPr lang="en-US" altLang="zh-CN" dirty="0">
                <a:latin typeface="Times New Roman" panose="02020503050405090304" pitchFamily="18" charset="0"/>
              </a:rPr>
              <a:t> for some integer </a:t>
            </a:r>
            <a:r>
              <a:rPr lang="en-US" altLang="zh-CN" i="1" dirty="0">
                <a:latin typeface="Times New Roman" panose="02020503050405090304" pitchFamily="18" charset="0"/>
              </a:rPr>
              <a:t>k</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Hence, </a:t>
            </a:r>
            <a:r>
              <a:rPr lang="en-US" altLang="zh-CN" i="1" dirty="0">
                <a:latin typeface="Times New Roman" panose="02020503050405090304" pitchFamily="18" charset="0"/>
              </a:rPr>
              <a:t>x</a:t>
            </a:r>
            <a:r>
              <a:rPr lang="en-US" altLang="zh-CN" baseline="30000" dirty="0">
                <a:latin typeface="Times New Roman" panose="02020503050405090304" pitchFamily="18" charset="0"/>
              </a:rPr>
              <a:t>2</a:t>
            </a:r>
            <a:r>
              <a:rPr lang="en-US" altLang="zh-CN" dirty="0">
                <a:latin typeface="Times New Roman" panose="02020503050405090304" pitchFamily="18" charset="0"/>
              </a:rPr>
              <a:t> = 4</a:t>
            </a:r>
            <a:r>
              <a:rPr lang="en-US" altLang="zh-CN" i="1" dirty="0">
                <a:latin typeface="Times New Roman" panose="02020503050405090304" pitchFamily="18" charset="0"/>
              </a:rPr>
              <a:t>k</a:t>
            </a:r>
            <a:r>
              <a:rPr lang="en-US" altLang="zh-CN" baseline="30000" dirty="0">
                <a:latin typeface="Times New Roman" panose="02020503050405090304" pitchFamily="18" charset="0"/>
              </a:rPr>
              <a:t>2</a:t>
            </a:r>
            <a:r>
              <a:rPr lang="en-US" altLang="zh-CN" dirty="0">
                <a:latin typeface="Times New Roman" panose="02020503050405090304" pitchFamily="18" charset="0"/>
              </a:rPr>
              <a:t> = 2(2</a:t>
            </a:r>
            <a:r>
              <a:rPr lang="en-US" altLang="zh-CN" i="1" dirty="0">
                <a:latin typeface="Times New Roman" panose="02020503050405090304" pitchFamily="18" charset="0"/>
              </a:rPr>
              <a:t>k</a:t>
            </a:r>
            <a:r>
              <a:rPr lang="en-US" altLang="zh-CN" baseline="30000" dirty="0">
                <a:latin typeface="Times New Roman" panose="02020503050405090304" pitchFamily="18" charset="0"/>
              </a:rPr>
              <a:t>2</a:t>
            </a:r>
            <a:r>
              <a:rPr lang="en-US" altLang="zh-CN" dirty="0">
                <a:latin typeface="Times New Roman" panose="02020503050405090304" pitchFamily="18" charset="0"/>
              </a:rPr>
              <a:t>) which is even since it is an integer which is divisible by 2.</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This completes the proof of case 1.</a:t>
            </a:r>
            <a:endParaRPr lang="en-US" altLang="zh-CN" dirty="0">
              <a:latin typeface="Times New Roman" panose="0202050305040509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222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222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52229"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Example</a:t>
            </a:r>
            <a:endParaRPr lang="en-US" altLang="zh-CN" dirty="0">
              <a:latin typeface="Times New Roman" panose="02020503050405090304" pitchFamily="18" charset="0"/>
            </a:endParaRPr>
          </a:p>
        </p:txBody>
      </p:sp>
      <p:sp>
        <p:nvSpPr>
          <p:cNvPr id="52230" name="Rectangle 3"/>
          <p:cNvSpPr>
            <a:spLocks noGrp="1"/>
          </p:cNvSpPr>
          <p:nvPr>
            <p:ph idx="1"/>
          </p:nvPr>
        </p:nvSpPr>
        <p:spPr>
          <a:xfrm>
            <a:off x="1043940" y="1371283"/>
            <a:ext cx="7772400" cy="4114800"/>
          </a:xfrm>
        </p:spPr>
        <p:txBody>
          <a:bodyPr vert="horz" wrap="square" lIns="91440" tIns="45720" rIns="91440" bIns="45720" anchor="t" anchorCtr="0"/>
          <a:p>
            <a:pPr eaLnBrk="1" hangingPunct="1">
              <a:lnSpc>
                <a:spcPct val="90000"/>
              </a:lnSpc>
            </a:pPr>
            <a:r>
              <a:rPr lang="en-US" altLang="zh-CN" sz="2800" dirty="0">
                <a:latin typeface="Times New Roman" panose="02020503050405090304" pitchFamily="18" charset="0"/>
              </a:rPr>
              <a:t>Case 2. We show that if </a:t>
            </a:r>
            <a:r>
              <a:rPr lang="en-US" altLang="zh-CN" sz="2800" i="1" dirty="0">
                <a:latin typeface="Times New Roman" panose="02020503050405090304" pitchFamily="18" charset="0"/>
              </a:rPr>
              <a:t>x</a:t>
            </a:r>
            <a:r>
              <a:rPr lang="en-US" altLang="zh-CN" sz="2800" baseline="30000" dirty="0">
                <a:latin typeface="Times New Roman" panose="02020503050405090304" pitchFamily="18" charset="0"/>
              </a:rPr>
              <a:t>2</a:t>
            </a:r>
            <a:r>
              <a:rPr lang="en-US" altLang="zh-CN" sz="2800" dirty="0">
                <a:latin typeface="Times New Roman" panose="02020503050405090304" pitchFamily="18" charset="0"/>
              </a:rPr>
              <a:t> is even then </a:t>
            </a:r>
            <a:r>
              <a:rPr lang="en-US" altLang="zh-CN" sz="2800" i="1" dirty="0">
                <a:latin typeface="Times New Roman" panose="02020503050405090304" pitchFamily="18" charset="0"/>
              </a:rPr>
              <a:t>x</a:t>
            </a:r>
            <a:r>
              <a:rPr lang="en-US" altLang="zh-CN" sz="2800" dirty="0">
                <a:latin typeface="Times New Roman" panose="02020503050405090304" pitchFamily="18" charset="0"/>
              </a:rPr>
              <a:t> must be even (the </a:t>
            </a:r>
            <a:r>
              <a:rPr lang="en-US" altLang="zh-CN" sz="2800" i="1" dirty="0">
                <a:solidFill>
                  <a:schemeClr val="hlink"/>
                </a:solidFill>
                <a:latin typeface="Times New Roman" panose="02020503050405090304" pitchFamily="18" charset="0"/>
              </a:rPr>
              <a:t>if</a:t>
            </a:r>
            <a:r>
              <a:rPr lang="en-US" altLang="zh-CN" sz="2800" i="1" dirty="0">
                <a:latin typeface="Times New Roman" panose="02020503050405090304" pitchFamily="18" charset="0"/>
              </a:rPr>
              <a:t> </a:t>
            </a:r>
            <a:r>
              <a:rPr lang="en-US" altLang="zh-CN" sz="2800" dirty="0">
                <a:latin typeface="Times New Roman" panose="02020503050405090304" pitchFamily="18" charset="0"/>
              </a:rPr>
              <a:t>part or </a:t>
            </a:r>
            <a:r>
              <a:rPr lang="en-US" altLang="zh-CN" sz="2800" i="1" dirty="0">
                <a:solidFill>
                  <a:schemeClr val="hlink"/>
                </a:solidFill>
                <a:latin typeface="Times New Roman" panose="02020503050405090304" pitchFamily="18" charset="0"/>
              </a:rPr>
              <a:t>sufficiency</a:t>
            </a:r>
            <a:r>
              <a:rPr lang="en-US" altLang="zh-CN" sz="2800" dirty="0">
                <a:latin typeface="Times New Roman" panose="02020503050405090304" pitchFamily="18" charset="0"/>
              </a:rPr>
              <a:t>) .</a:t>
            </a:r>
            <a:endParaRPr lang="en-US" altLang="zh-CN" sz="28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We use an </a:t>
            </a:r>
            <a:r>
              <a:rPr lang="en-US" altLang="zh-CN" sz="2400" i="1" u="sng" dirty="0">
                <a:latin typeface="Times New Roman" panose="02020503050405090304" pitchFamily="18" charset="0"/>
              </a:rPr>
              <a:t>indirect proof</a:t>
            </a:r>
            <a:r>
              <a:rPr lang="en-US" altLang="zh-CN" sz="2400" dirty="0">
                <a:latin typeface="Times New Roman" panose="02020503050405090304" pitchFamily="18" charset="0"/>
              </a:rPr>
              <a:t>:</a:t>
            </a:r>
            <a:endParaRPr lang="en-US" altLang="zh-CN" sz="24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Assume </a:t>
            </a:r>
            <a:r>
              <a:rPr lang="en-US" altLang="zh-CN" sz="2400" i="1" dirty="0">
                <a:latin typeface="Times New Roman" panose="02020503050405090304" pitchFamily="18" charset="0"/>
              </a:rPr>
              <a:t>x</a:t>
            </a:r>
            <a:r>
              <a:rPr lang="en-US" altLang="zh-CN" sz="2400" dirty="0">
                <a:latin typeface="Times New Roman" panose="02020503050405090304" pitchFamily="18" charset="0"/>
              </a:rPr>
              <a:t> is not even and show </a:t>
            </a:r>
            <a:r>
              <a:rPr lang="en-US" altLang="zh-CN" sz="2400" i="1" dirty="0">
                <a:latin typeface="Times New Roman" panose="02020503050405090304" pitchFamily="18" charset="0"/>
              </a:rPr>
              <a:t>x</a:t>
            </a:r>
            <a:r>
              <a:rPr lang="en-US" altLang="zh-CN" sz="2400" baseline="30000" dirty="0">
                <a:latin typeface="Times New Roman" panose="02020503050405090304" pitchFamily="18" charset="0"/>
              </a:rPr>
              <a:t>2</a:t>
            </a:r>
            <a:r>
              <a:rPr lang="en-US" altLang="zh-CN" sz="2400" dirty="0">
                <a:latin typeface="Times New Roman" panose="02020503050405090304" pitchFamily="18" charset="0"/>
              </a:rPr>
              <a:t> is not even.</a:t>
            </a:r>
            <a:endParaRPr lang="en-US" altLang="zh-CN" sz="24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If </a:t>
            </a:r>
            <a:r>
              <a:rPr lang="en-US" altLang="zh-CN" sz="2400" i="1" dirty="0">
                <a:latin typeface="Times New Roman" panose="02020503050405090304" pitchFamily="18" charset="0"/>
              </a:rPr>
              <a:t>x</a:t>
            </a:r>
            <a:r>
              <a:rPr lang="en-US" altLang="zh-CN" sz="2400" dirty="0">
                <a:latin typeface="Times New Roman" panose="02020503050405090304" pitchFamily="18" charset="0"/>
              </a:rPr>
              <a:t> is not even then it must be odd.</a:t>
            </a:r>
            <a:endParaRPr lang="en-US" altLang="zh-CN" sz="24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So, </a:t>
            </a:r>
            <a:r>
              <a:rPr lang="en-US" altLang="zh-CN" sz="2400" i="1" dirty="0">
                <a:latin typeface="Times New Roman" panose="02020503050405090304" pitchFamily="18" charset="0"/>
              </a:rPr>
              <a:t>x</a:t>
            </a:r>
            <a:r>
              <a:rPr lang="en-US" altLang="zh-CN" sz="2400" dirty="0">
                <a:latin typeface="Times New Roman" panose="02020503050405090304" pitchFamily="18" charset="0"/>
              </a:rPr>
              <a:t> = 2</a:t>
            </a:r>
            <a:r>
              <a:rPr lang="en-US" altLang="zh-CN" sz="2400" i="1" dirty="0">
                <a:latin typeface="Times New Roman" panose="02020503050405090304" pitchFamily="18" charset="0"/>
              </a:rPr>
              <a:t>k</a:t>
            </a:r>
            <a:r>
              <a:rPr lang="en-US" altLang="zh-CN" sz="2400" dirty="0">
                <a:latin typeface="Times New Roman" panose="02020503050405090304" pitchFamily="18" charset="0"/>
              </a:rPr>
              <a:t> + 1 for some </a:t>
            </a:r>
            <a:r>
              <a:rPr lang="en-US" altLang="zh-CN" sz="2400" i="1" dirty="0">
                <a:latin typeface="Times New Roman" panose="02020503050405090304" pitchFamily="18" charset="0"/>
              </a:rPr>
              <a:t>k</a:t>
            </a:r>
            <a:r>
              <a:rPr lang="en-US" altLang="zh-CN" sz="2400" dirty="0">
                <a:latin typeface="Times New Roman" panose="02020503050405090304" pitchFamily="18" charset="0"/>
              </a:rPr>
              <a:t>.</a:t>
            </a:r>
            <a:endParaRPr lang="en-US" altLang="zh-CN" sz="24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Then </a:t>
            </a:r>
            <a:r>
              <a:rPr lang="en-US" altLang="zh-CN" sz="2400" i="1" dirty="0">
                <a:latin typeface="Times New Roman" panose="02020503050405090304" pitchFamily="18" charset="0"/>
              </a:rPr>
              <a:t>x</a:t>
            </a:r>
            <a:r>
              <a:rPr lang="en-US" altLang="zh-CN" sz="2400" baseline="30000" dirty="0">
                <a:latin typeface="Times New Roman" panose="02020503050405090304" pitchFamily="18" charset="0"/>
              </a:rPr>
              <a:t>2</a:t>
            </a:r>
            <a:r>
              <a:rPr lang="en-US" altLang="zh-CN" sz="2400" dirty="0">
                <a:latin typeface="Times New Roman" panose="02020503050405090304" pitchFamily="18" charset="0"/>
              </a:rPr>
              <a:t> = (2</a:t>
            </a:r>
            <a:r>
              <a:rPr lang="en-US" altLang="zh-CN" sz="2400" i="1" dirty="0">
                <a:latin typeface="Times New Roman" panose="02020503050405090304" pitchFamily="18" charset="0"/>
              </a:rPr>
              <a:t>k</a:t>
            </a:r>
            <a:r>
              <a:rPr lang="en-US" altLang="zh-CN" sz="2400" dirty="0">
                <a:latin typeface="Times New Roman" panose="02020503050405090304" pitchFamily="18" charset="0"/>
              </a:rPr>
              <a:t> + 1)</a:t>
            </a:r>
            <a:r>
              <a:rPr lang="en-US" altLang="zh-CN" sz="2400" baseline="30000" dirty="0">
                <a:latin typeface="Times New Roman" panose="02020503050405090304" pitchFamily="18" charset="0"/>
              </a:rPr>
              <a:t>2</a:t>
            </a:r>
            <a:r>
              <a:rPr lang="en-US" altLang="zh-CN" sz="2400" dirty="0">
                <a:latin typeface="Times New Roman" panose="02020503050405090304" pitchFamily="18" charset="0"/>
              </a:rPr>
              <a:t> = 4</a:t>
            </a:r>
            <a:r>
              <a:rPr lang="en-US" altLang="zh-CN" sz="2400" i="1" dirty="0">
                <a:latin typeface="Times New Roman" panose="02020503050405090304" pitchFamily="18" charset="0"/>
              </a:rPr>
              <a:t>k</a:t>
            </a:r>
            <a:r>
              <a:rPr lang="en-US" altLang="zh-CN" sz="2400" baseline="30000" dirty="0">
                <a:latin typeface="Times New Roman" panose="02020503050405090304" pitchFamily="18" charset="0"/>
              </a:rPr>
              <a:t>2</a:t>
            </a:r>
            <a:r>
              <a:rPr lang="en-US" altLang="zh-CN" sz="2400" dirty="0">
                <a:latin typeface="Times New Roman" panose="02020503050405090304" pitchFamily="18" charset="0"/>
              </a:rPr>
              <a:t> + 4</a:t>
            </a:r>
            <a:r>
              <a:rPr lang="en-US" altLang="zh-CN" sz="2400" i="1" dirty="0">
                <a:latin typeface="Times New Roman" panose="02020503050405090304" pitchFamily="18" charset="0"/>
              </a:rPr>
              <a:t>k</a:t>
            </a:r>
            <a:r>
              <a:rPr lang="en-US" altLang="zh-CN" sz="2400" dirty="0">
                <a:latin typeface="Times New Roman" panose="02020503050405090304" pitchFamily="18" charset="0"/>
              </a:rPr>
              <a:t> + 1 = 2(2</a:t>
            </a:r>
            <a:r>
              <a:rPr lang="en-US" altLang="zh-CN" sz="2400" i="1" dirty="0">
                <a:latin typeface="Times New Roman" panose="02020503050405090304" pitchFamily="18" charset="0"/>
              </a:rPr>
              <a:t>k</a:t>
            </a:r>
            <a:r>
              <a:rPr lang="en-US" altLang="zh-CN" sz="2400" baseline="30000" dirty="0">
                <a:latin typeface="Times New Roman" panose="02020503050405090304" pitchFamily="18" charset="0"/>
              </a:rPr>
              <a:t>2</a:t>
            </a:r>
            <a:r>
              <a:rPr lang="en-US" altLang="zh-CN" sz="2400" dirty="0">
                <a:latin typeface="Times New Roman" panose="02020503050405090304" pitchFamily="18" charset="0"/>
              </a:rPr>
              <a:t> + 2</a:t>
            </a:r>
            <a:r>
              <a:rPr lang="en-US" altLang="zh-CN" sz="2400" i="1" dirty="0">
                <a:latin typeface="Times New Roman" panose="02020503050405090304" pitchFamily="18" charset="0"/>
              </a:rPr>
              <a:t>k</a:t>
            </a:r>
            <a:r>
              <a:rPr lang="en-US" altLang="zh-CN" sz="2400" dirty="0">
                <a:latin typeface="Times New Roman" panose="02020503050405090304" pitchFamily="18" charset="0"/>
              </a:rPr>
              <a:t>) + 1</a:t>
            </a:r>
            <a:endParaRPr lang="en-US" altLang="zh-CN" sz="24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which is odd and hence not even.</a:t>
            </a:r>
            <a:endParaRPr lang="en-US" altLang="zh-CN" sz="24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This completes the proof of the second case.</a:t>
            </a:r>
            <a:endParaRPr lang="en-US" altLang="zh-CN" sz="2400" dirty="0">
              <a:latin typeface="Times New Roman" panose="0202050305040509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325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325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53253"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Example</a:t>
            </a:r>
            <a:endParaRPr lang="en-US" altLang="zh-CN" dirty="0">
              <a:latin typeface="Times New Roman" panose="02020503050405090304" pitchFamily="18" charset="0"/>
            </a:endParaRPr>
          </a:p>
        </p:txBody>
      </p:sp>
      <p:sp>
        <p:nvSpPr>
          <p:cNvPr id="53254"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Therefore we have shown </a:t>
            </a:r>
            <a:r>
              <a:rPr lang="en-US" altLang="zh-CN" i="1" dirty="0">
                <a:latin typeface="Times New Roman" panose="02020503050405090304" pitchFamily="18" charset="0"/>
              </a:rPr>
              <a:t>x</a:t>
            </a:r>
            <a:r>
              <a:rPr lang="en-US" altLang="zh-CN" dirty="0">
                <a:latin typeface="Times New Roman" panose="02020503050405090304" pitchFamily="18" charset="0"/>
              </a:rPr>
              <a:t> is even iff </a:t>
            </a:r>
            <a:r>
              <a:rPr lang="en-US" altLang="zh-CN" i="1" dirty="0">
                <a:latin typeface="Times New Roman" panose="02020503050405090304" pitchFamily="18" charset="0"/>
              </a:rPr>
              <a:t>x</a:t>
            </a:r>
            <a:r>
              <a:rPr lang="en-US" altLang="zh-CN" baseline="30000" dirty="0">
                <a:latin typeface="Times New Roman" panose="02020503050405090304" pitchFamily="18" charset="0"/>
              </a:rPr>
              <a:t>2</a:t>
            </a:r>
            <a:r>
              <a:rPr lang="en-US" altLang="zh-CN" dirty="0">
                <a:latin typeface="Times New Roman" panose="02020503050405090304" pitchFamily="18" charset="0"/>
              </a:rPr>
              <a:t> is even.</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Since </a:t>
            </a:r>
            <a:r>
              <a:rPr lang="en-US" altLang="zh-CN" i="1" dirty="0">
                <a:latin typeface="Times New Roman" panose="02020503050405090304" pitchFamily="18" charset="0"/>
              </a:rPr>
              <a:t>x</a:t>
            </a:r>
            <a:r>
              <a:rPr lang="en-US" altLang="zh-CN" dirty="0">
                <a:latin typeface="Times New Roman" panose="02020503050405090304" pitchFamily="18" charset="0"/>
              </a:rPr>
              <a:t> was arbitrary, the result follows by UG.</a:t>
            </a:r>
            <a:endParaRPr lang="en-US" altLang="zh-CN" dirty="0">
              <a:latin typeface="Times New Roman" panose="02020503050405090304" pitchFamily="18" charset="0"/>
            </a:endParaRPr>
          </a:p>
          <a:p>
            <a:pPr lvl="1" algn="r" eaLnBrk="1" hangingPunct="1"/>
            <a:r>
              <a:rPr lang="en-US" altLang="zh-CN" dirty="0">
                <a:latin typeface="Times New Roman" panose="02020503050405090304" pitchFamily="18" charset="0"/>
              </a:rPr>
              <a:t>Q.E.D.</a:t>
            </a:r>
            <a:endParaRPr lang="en-US" altLang="zh-CN" dirty="0">
              <a:latin typeface="Times New Roman" panose="0202050305040509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427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427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54277" name="Rectangle 2"/>
          <p:cNvSpPr>
            <a:spLocks noGrp="1"/>
          </p:cNvSpPr>
          <p:nvPr>
            <p:ph type="title"/>
          </p:nvPr>
        </p:nvSpPr>
        <p:spPr>
          <a:xfrm>
            <a:off x="908685" y="258445"/>
            <a:ext cx="8035290" cy="928370"/>
          </a:xfrm>
        </p:spPr>
        <p:txBody>
          <a:bodyPr vert="horz" wrap="square" lIns="91440" tIns="45720" rIns="91440" bIns="45720" anchor="b" anchorCtr="0"/>
          <a:p>
            <a:pPr eaLnBrk="1" hangingPunct="1"/>
            <a:r>
              <a:rPr lang="en-US" altLang="zh-CN" sz="4000" dirty="0">
                <a:latin typeface="Times New Roman" panose="02020503050405090304" pitchFamily="18" charset="0"/>
              </a:rPr>
              <a:t>Fallacies (</a:t>
            </a:r>
            <a:r>
              <a:rPr lang="zh-CN" altLang="en-US" sz="4000" dirty="0">
                <a:latin typeface="Times New Roman" panose="02020503050405090304" pitchFamily="18" charset="0"/>
              </a:rPr>
              <a:t>谬论</a:t>
            </a:r>
            <a:r>
              <a:rPr lang="en-US" altLang="zh-CN" sz="4000" dirty="0">
                <a:latin typeface="Times New Roman" panose="02020503050405090304" pitchFamily="18" charset="0"/>
              </a:rPr>
              <a:t>) - incorrect inferences</a:t>
            </a:r>
            <a:endParaRPr lang="en-US" altLang="zh-CN" sz="4000" dirty="0">
              <a:latin typeface="Times New Roman" panose="02020503050405090304" pitchFamily="18" charset="0"/>
            </a:endParaRPr>
          </a:p>
        </p:txBody>
      </p:sp>
      <p:sp>
        <p:nvSpPr>
          <p:cNvPr id="54278" name="Rectangle 3"/>
          <p:cNvSpPr>
            <a:spLocks noGrp="1"/>
          </p:cNvSpPr>
          <p:nvPr>
            <p:ph idx="1"/>
          </p:nvPr>
        </p:nvSpPr>
        <p:spPr>
          <a:xfrm>
            <a:off x="1115695" y="1412558"/>
            <a:ext cx="7772400" cy="4114800"/>
          </a:xfrm>
        </p:spPr>
        <p:txBody>
          <a:bodyPr vert="horz" wrap="square" lIns="91440" tIns="45720" rIns="91440" bIns="45720" anchor="t" anchorCtr="0"/>
          <a:p>
            <a:pPr eaLnBrk="1" hangingPunct="1">
              <a:lnSpc>
                <a:spcPct val="90000"/>
              </a:lnSpc>
            </a:pPr>
            <a:r>
              <a:rPr lang="en-US" altLang="zh-CN" sz="2800" b="1" i="1" dirty="0">
                <a:latin typeface="Times New Roman" panose="02020503050405090304" pitchFamily="18" charset="0"/>
              </a:rPr>
              <a:t>The Fallacy of Affirming the Consequent</a:t>
            </a:r>
            <a:endParaRPr lang="en-US" altLang="zh-CN" sz="2800" b="1" i="1" dirty="0">
              <a:latin typeface="Times New Roman" panose="02020503050405090304" pitchFamily="18" charset="0"/>
            </a:endParaRPr>
          </a:p>
          <a:p>
            <a:pPr lvl="1" eaLnBrk="1" hangingPunct="1">
              <a:lnSpc>
                <a:spcPct val="90000"/>
              </a:lnSpc>
              <a:buNone/>
            </a:pPr>
            <a:r>
              <a:rPr lang="en-US" altLang="zh-CN" sz="2400" i="1" dirty="0">
                <a:latin typeface="Times New Roman" panose="02020503050405090304" pitchFamily="18" charset="0"/>
              </a:rPr>
              <a:t>If the butler did it he has blood on his hands.</a:t>
            </a:r>
            <a:endParaRPr lang="en-US" altLang="zh-CN" sz="2400" i="1" dirty="0">
              <a:latin typeface="Times New Roman" panose="02020503050405090304" pitchFamily="18" charset="0"/>
            </a:endParaRPr>
          </a:p>
          <a:p>
            <a:pPr lvl="1" eaLnBrk="1" hangingPunct="1">
              <a:lnSpc>
                <a:spcPct val="90000"/>
              </a:lnSpc>
              <a:buNone/>
            </a:pPr>
            <a:r>
              <a:rPr lang="en-US" altLang="zh-CN" sz="2400" i="1" dirty="0">
                <a:latin typeface="Times New Roman" panose="02020503050405090304" pitchFamily="18" charset="0"/>
              </a:rPr>
              <a:t>The butler had blood on his hands.</a:t>
            </a:r>
            <a:endParaRPr lang="en-US" altLang="zh-CN" sz="2400" i="1" dirty="0">
              <a:latin typeface="Times New Roman" panose="02020503050405090304" pitchFamily="18" charset="0"/>
            </a:endParaRPr>
          </a:p>
          <a:p>
            <a:pPr lvl="1" eaLnBrk="1" hangingPunct="1">
              <a:lnSpc>
                <a:spcPct val="90000"/>
              </a:lnSpc>
              <a:buNone/>
            </a:pPr>
            <a:r>
              <a:rPr lang="en-US" altLang="zh-CN" sz="2400" i="1" dirty="0">
                <a:latin typeface="Times New Roman" panose="02020503050405090304" pitchFamily="18" charset="0"/>
              </a:rPr>
              <a:t>Therefore, the butler did it.</a:t>
            </a:r>
            <a:endParaRPr lang="en-US" altLang="zh-CN" sz="2400" i="1" dirty="0">
              <a:latin typeface="Times New Roman" panose="02020503050405090304" pitchFamily="18" charset="0"/>
            </a:endParaRPr>
          </a:p>
          <a:p>
            <a:pPr eaLnBrk="1" hangingPunct="1">
              <a:lnSpc>
                <a:spcPct val="90000"/>
              </a:lnSpc>
            </a:pPr>
            <a:r>
              <a:rPr lang="en-US" altLang="zh-CN" sz="2800" dirty="0">
                <a:latin typeface="Times New Roman" panose="02020503050405090304" pitchFamily="18" charset="0"/>
              </a:rPr>
              <a:t>This argument has the form</a:t>
            </a:r>
            <a:endParaRPr lang="en-US" altLang="zh-CN" sz="2800" dirty="0">
              <a:latin typeface="Times New Roman" panose="02020503050405090304" pitchFamily="18" charset="0"/>
            </a:endParaRPr>
          </a:p>
          <a:p>
            <a:pPr lvl="2" eaLnBrk="1" hangingPunct="1">
              <a:lnSpc>
                <a:spcPct val="90000"/>
              </a:lnSpc>
              <a:buNone/>
            </a:pPr>
            <a:r>
              <a:rPr lang="en-US" altLang="zh-CN" sz="2000" i="1" dirty="0">
                <a:latin typeface="Times New Roman" panose="02020503050405090304" pitchFamily="18" charset="0"/>
              </a:rPr>
              <a:t>P </a:t>
            </a:r>
            <a:r>
              <a:rPr lang="en-US" altLang="zh-CN" sz="2000" dirty="0">
                <a:latin typeface="Euclid" panose="02020503060505020303" pitchFamily="18" charset="0"/>
                <a:sym typeface="Symbol" panose="05050102010706020507" pitchFamily="18" charset="2"/>
              </a:rPr>
              <a:t> </a:t>
            </a:r>
            <a:r>
              <a:rPr lang="en-US" altLang="zh-CN" sz="2000" i="1" dirty="0">
                <a:latin typeface="Times New Roman" panose="02020503050405090304" pitchFamily="18" charset="0"/>
              </a:rPr>
              <a:t>Q</a:t>
            </a:r>
            <a:endParaRPr lang="en-US" altLang="zh-CN" sz="2000" i="1" dirty="0">
              <a:latin typeface="Times New Roman" panose="02020503050405090304" pitchFamily="18" charset="0"/>
            </a:endParaRPr>
          </a:p>
          <a:p>
            <a:pPr lvl="2" eaLnBrk="1" hangingPunct="1">
              <a:lnSpc>
                <a:spcPct val="90000"/>
              </a:lnSpc>
              <a:buNone/>
            </a:pPr>
            <a:r>
              <a:rPr lang="en-US" altLang="zh-CN" sz="2000" i="1" dirty="0">
                <a:latin typeface="Times New Roman" panose="02020503050405090304" pitchFamily="18" charset="0"/>
              </a:rPr>
              <a:t>Q</a:t>
            </a:r>
            <a:endParaRPr lang="en-US" altLang="zh-CN" sz="2000" i="1" dirty="0">
              <a:latin typeface="Times New Roman" panose="02020503050405090304" pitchFamily="18" charset="0"/>
            </a:endParaRPr>
          </a:p>
          <a:p>
            <a:pPr lvl="2" eaLnBrk="1" hangingPunct="1">
              <a:lnSpc>
                <a:spcPct val="90000"/>
              </a:lnSpc>
              <a:buNone/>
            </a:pPr>
            <a:r>
              <a:rPr lang="en-US" altLang="zh-CN" sz="2000" dirty="0">
                <a:latin typeface="Symbol" panose="05050102010706020507" pitchFamily="18" charset="2"/>
              </a:rPr>
              <a:t>\</a:t>
            </a:r>
            <a:r>
              <a:rPr lang="en-US" altLang="zh-CN" sz="2000" i="1" dirty="0">
                <a:latin typeface="Times New Roman" panose="02020503050405090304" pitchFamily="18" charset="0"/>
              </a:rPr>
              <a:t>P</a:t>
            </a:r>
            <a:endParaRPr lang="en-US" altLang="zh-CN" sz="2000" i="1"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or</a:t>
            </a:r>
            <a:endParaRPr lang="en-US" altLang="zh-CN" sz="2400" dirty="0">
              <a:latin typeface="Times New Roman" panose="02020503050405090304" pitchFamily="18" charset="0"/>
            </a:endParaRPr>
          </a:p>
          <a:p>
            <a:pPr lvl="2" eaLnBrk="1" hangingPunct="1">
              <a:lnSpc>
                <a:spcPct val="90000"/>
              </a:lnSpc>
              <a:buNone/>
            </a:pPr>
            <a:r>
              <a:rPr lang="en-US" altLang="zh-CN" sz="2000" dirty="0">
                <a:latin typeface="Times New Roman" panose="02020503050405090304" pitchFamily="18" charset="0"/>
              </a:rPr>
              <a:t>[(</a:t>
            </a:r>
            <a:r>
              <a:rPr lang="en-US" altLang="zh-CN" sz="2000" i="1" dirty="0">
                <a:latin typeface="Times New Roman" panose="02020503050405090304" pitchFamily="18" charset="0"/>
              </a:rPr>
              <a:t>P </a:t>
            </a:r>
            <a:r>
              <a:rPr lang="en-US" altLang="zh-CN" sz="2000" dirty="0">
                <a:latin typeface="Euclid" panose="02020503060505020303" pitchFamily="18" charset="0"/>
                <a:sym typeface="Symbol" panose="05050102010706020507" pitchFamily="18" charset="2"/>
              </a:rPr>
              <a:t> </a:t>
            </a:r>
            <a:r>
              <a:rPr lang="en-US" altLang="zh-CN" sz="2000" i="1" dirty="0">
                <a:latin typeface="Times New Roman" panose="02020503050405090304" pitchFamily="18" charset="0"/>
              </a:rPr>
              <a:t>Q</a:t>
            </a:r>
            <a:r>
              <a:rPr lang="en-US" altLang="zh-CN" sz="2000" dirty="0">
                <a:latin typeface="Times New Roman" panose="02020503050405090304" pitchFamily="18" charset="0"/>
              </a:rPr>
              <a:t>) </a:t>
            </a:r>
            <a:r>
              <a:rPr lang="en-US" altLang="zh-CN" sz="2000" dirty="0">
                <a:latin typeface="Symbol" panose="05050102010706020507" pitchFamily="18" charset="2"/>
              </a:rPr>
              <a:t>Ù </a:t>
            </a:r>
            <a:r>
              <a:rPr lang="en-US" altLang="zh-CN" sz="2000" i="1" dirty="0">
                <a:latin typeface="Times New Roman" panose="02020503050405090304" pitchFamily="18" charset="0"/>
              </a:rPr>
              <a:t>Q</a:t>
            </a:r>
            <a:r>
              <a:rPr lang="en-US" altLang="zh-CN" sz="2000" dirty="0">
                <a:latin typeface="Times New Roman" panose="02020503050405090304" pitchFamily="18" charset="0"/>
              </a:rPr>
              <a:t>] </a:t>
            </a:r>
            <a:r>
              <a:rPr lang="en-US" altLang="zh-CN" sz="2000" dirty="0">
                <a:latin typeface="Euclid" panose="02020503060505020303" pitchFamily="18" charset="0"/>
                <a:sym typeface="Symbol" panose="05050102010706020507" pitchFamily="18" charset="2"/>
              </a:rPr>
              <a:t> </a:t>
            </a:r>
            <a:r>
              <a:rPr lang="en-US" altLang="zh-CN" sz="2000" i="1" dirty="0">
                <a:latin typeface="Times New Roman" panose="02020503050405090304" pitchFamily="18" charset="0"/>
              </a:rPr>
              <a:t>P</a:t>
            </a:r>
            <a:endParaRPr lang="en-US" altLang="zh-CN" sz="2000" i="1" dirty="0">
              <a:latin typeface="Times New Roman" panose="0202050305040509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529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530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55301" name="Rectangle 2"/>
          <p:cNvSpPr>
            <a:spLocks noGrp="1"/>
          </p:cNvSpPr>
          <p:nvPr>
            <p:ph type="title"/>
          </p:nvPr>
        </p:nvSpPr>
        <p:spPr/>
        <p:txBody>
          <a:bodyPr vert="horz" wrap="square" lIns="91440" tIns="45720" rIns="91440" bIns="45720" anchor="b" anchorCtr="0"/>
          <a:p>
            <a:pPr eaLnBrk="1" hangingPunct="1"/>
            <a:r>
              <a:rPr lang="en-US" altLang="zh-CN" sz="4000" i="1" dirty="0">
                <a:latin typeface="Times New Roman" panose="02020503050405090304" pitchFamily="18" charset="0"/>
              </a:rPr>
              <a:t>The Fallacy of Denying the Antecedent</a:t>
            </a:r>
            <a:endParaRPr lang="en-US" altLang="zh-CN" sz="4000" dirty="0">
              <a:latin typeface="Times New Roman" panose="02020503050405090304" pitchFamily="18" charset="0"/>
            </a:endParaRPr>
          </a:p>
        </p:txBody>
      </p:sp>
      <p:sp>
        <p:nvSpPr>
          <p:cNvPr id="55302" name="Rectangle 3"/>
          <p:cNvSpPr>
            <a:spLocks noGrp="1"/>
          </p:cNvSpPr>
          <p:nvPr>
            <p:ph idx="1"/>
          </p:nvPr>
        </p:nvSpPr>
        <p:spPr>
          <a:xfrm>
            <a:off x="1043940" y="1412875"/>
            <a:ext cx="7772400" cy="4114800"/>
          </a:xfrm>
        </p:spPr>
        <p:txBody>
          <a:bodyPr vert="horz" wrap="square" lIns="91440" tIns="45720" rIns="91440" bIns="45720" anchor="t" anchorCtr="0"/>
          <a:p>
            <a:pPr lvl="1" eaLnBrk="1" hangingPunct="1">
              <a:buNone/>
            </a:pPr>
            <a:r>
              <a:rPr lang="en-US" altLang="zh-CN" i="1" dirty="0">
                <a:latin typeface="Times New Roman" panose="02020503050405090304" pitchFamily="18" charset="0"/>
              </a:rPr>
              <a:t>If the butler is nervous, he did it.</a:t>
            </a:r>
            <a:endParaRPr lang="en-US" altLang="zh-CN" i="1" dirty="0">
              <a:latin typeface="Times New Roman" panose="02020503050405090304" pitchFamily="18" charset="0"/>
            </a:endParaRPr>
          </a:p>
          <a:p>
            <a:pPr lvl="1" eaLnBrk="1" hangingPunct="1">
              <a:buNone/>
            </a:pPr>
            <a:r>
              <a:rPr lang="en-US" altLang="zh-CN" i="1" dirty="0">
                <a:latin typeface="Times New Roman" panose="02020503050405090304" pitchFamily="18" charset="0"/>
              </a:rPr>
              <a:t>The butler is really mellow.</a:t>
            </a:r>
            <a:endParaRPr lang="en-US" altLang="zh-CN" i="1" dirty="0">
              <a:latin typeface="Times New Roman" panose="02020503050405090304" pitchFamily="18" charset="0"/>
            </a:endParaRPr>
          </a:p>
          <a:p>
            <a:pPr lvl="1" eaLnBrk="1" hangingPunct="1">
              <a:buNone/>
            </a:pPr>
            <a:r>
              <a:rPr lang="en-US" altLang="zh-CN" i="1" dirty="0">
                <a:latin typeface="Times New Roman" panose="02020503050405090304" pitchFamily="18" charset="0"/>
              </a:rPr>
              <a:t>Therefore, the butler didn't do it.</a:t>
            </a:r>
            <a:endParaRPr lang="en-US" altLang="zh-CN" i="1" dirty="0">
              <a:latin typeface="Times New Roman" panose="02020503050405090304" pitchFamily="18" charset="0"/>
            </a:endParaRPr>
          </a:p>
          <a:p>
            <a:pPr eaLnBrk="1" hangingPunct="1"/>
            <a:r>
              <a:rPr lang="en-US" altLang="zh-CN" dirty="0">
                <a:latin typeface="Times New Roman" panose="02020503050405090304" pitchFamily="18" charset="0"/>
              </a:rPr>
              <a:t>This argument has the form</a:t>
            </a:r>
            <a:endParaRPr lang="en-US" altLang="zh-CN" dirty="0">
              <a:latin typeface="Times New Roman" panose="02020503050405090304" pitchFamily="18" charset="0"/>
            </a:endParaRPr>
          </a:p>
          <a:p>
            <a:pPr lvl="1" eaLnBrk="1" hangingPunct="1">
              <a:buNone/>
            </a:pPr>
            <a:r>
              <a:rPr lang="en-US" altLang="zh-CN" i="1" dirty="0">
                <a:latin typeface="Times New Roman" panose="02020503050405090304" pitchFamily="18" charset="0"/>
              </a:rPr>
              <a:t>	P</a:t>
            </a:r>
            <a:r>
              <a:rPr lang="en-US" altLang="zh-CN" dirty="0">
                <a:latin typeface="Euclid" panose="02020503060505020303" pitchFamily="18" charset="0"/>
                <a:sym typeface="Symbol" panose="05050102010706020507" pitchFamily="18" charset="2"/>
              </a:rPr>
              <a:t></a:t>
            </a:r>
            <a:r>
              <a:rPr lang="en-US" altLang="zh-CN" i="1" dirty="0">
                <a:latin typeface="Times New Roman" panose="02020503050405090304" pitchFamily="18" charset="0"/>
              </a:rPr>
              <a:t>Q</a:t>
            </a:r>
            <a:endParaRPr lang="en-US" altLang="zh-CN" i="1" dirty="0">
              <a:latin typeface="Times New Roman" panose="02020503050405090304" pitchFamily="18" charset="0"/>
            </a:endParaRPr>
          </a:p>
          <a:p>
            <a:pPr lvl="1" eaLnBrk="1" hangingPunct="1">
              <a:buNone/>
            </a:pPr>
            <a:r>
              <a:rPr lang="en-US" altLang="zh-CN" dirty="0">
                <a:latin typeface="Symbol" panose="05050102010706020507" pitchFamily="18" charset="2"/>
              </a:rPr>
              <a:t>	</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rPr>
              <a:t>P</a:t>
            </a:r>
            <a:endParaRPr lang="en-US" altLang="zh-CN" i="1" dirty="0">
              <a:latin typeface="Times New Roman" panose="02020503050405090304" pitchFamily="18" charset="0"/>
            </a:endParaRPr>
          </a:p>
          <a:p>
            <a:pPr lvl="1" eaLnBrk="1" hangingPunct="1">
              <a:buNone/>
            </a:pPr>
            <a:r>
              <a:rPr lang="en-US" altLang="zh-CN" dirty="0">
                <a:latin typeface="Symbol" panose="05050102010706020507" pitchFamily="18" charset="2"/>
              </a:rPr>
              <a:t>	\</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rPr>
              <a:t>Q</a:t>
            </a:r>
            <a:endParaRPr lang="en-US" altLang="zh-CN" i="1" dirty="0">
              <a:latin typeface="Times New Roman" panose="02020503050405090304" pitchFamily="18" charset="0"/>
            </a:endParaRPr>
          </a:p>
          <a:p>
            <a:pPr lvl="1" eaLnBrk="1" hangingPunct="1">
              <a:buNone/>
            </a:pPr>
            <a:r>
              <a:rPr lang="en-US" altLang="zh-CN" dirty="0">
                <a:latin typeface="Times New Roman" panose="02020503050405090304" pitchFamily="18" charset="0"/>
              </a:rPr>
              <a:t>or</a:t>
            </a:r>
            <a:endParaRPr lang="en-US" altLang="zh-CN" dirty="0">
              <a:latin typeface="Times New Roman" panose="02020503050405090304" pitchFamily="18" charset="0"/>
            </a:endParaRPr>
          </a:p>
          <a:p>
            <a:pPr lvl="1" eaLnBrk="1" hangingPunct="1">
              <a:buNone/>
            </a:pPr>
            <a:r>
              <a:rPr lang="en-US" altLang="zh-CN" dirty="0">
                <a:latin typeface="Times New Roman" panose="02020503050405090304" pitchFamily="18" charset="0"/>
              </a:rPr>
              <a:t>	[(</a:t>
            </a:r>
            <a:r>
              <a:rPr lang="en-US" altLang="zh-CN" i="1" dirty="0">
                <a:latin typeface="Times New Roman" panose="02020503050405090304" pitchFamily="18" charset="0"/>
              </a:rPr>
              <a:t>P </a:t>
            </a:r>
            <a:r>
              <a:rPr lang="en-US" altLang="zh-CN" dirty="0">
                <a:latin typeface="Euclid" panose="02020503060505020303" pitchFamily="18" charset="0"/>
                <a:sym typeface="Symbol" panose="05050102010706020507" pitchFamily="18" charset="2"/>
              </a:rPr>
              <a:t> </a:t>
            </a:r>
            <a:r>
              <a:rPr lang="en-US" altLang="zh-CN" i="1" dirty="0">
                <a:latin typeface="Times New Roman" panose="02020503050405090304" pitchFamily="18" charset="0"/>
              </a:rPr>
              <a:t>Q</a:t>
            </a:r>
            <a:r>
              <a:rPr lang="en-US" altLang="zh-CN" dirty="0">
                <a:latin typeface="Times New Roman" panose="02020503050405090304" pitchFamily="18" charset="0"/>
              </a:rPr>
              <a:t>) </a:t>
            </a:r>
            <a:r>
              <a:rPr lang="en-US" altLang="zh-CN" dirty="0">
                <a:latin typeface="Symbol" panose="05050102010706020507" pitchFamily="18" charset="2"/>
              </a:rPr>
              <a:t>Ù </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rPr>
              <a:t>P</a:t>
            </a:r>
            <a:r>
              <a:rPr lang="en-US" altLang="zh-CN" dirty="0">
                <a:latin typeface="Times New Roman" panose="02020503050405090304" pitchFamily="18" charset="0"/>
              </a:rPr>
              <a:t>] </a:t>
            </a:r>
            <a:r>
              <a:rPr lang="en-US" altLang="zh-CN" dirty="0">
                <a:latin typeface="Euclid" panose="02020503060505020303" pitchFamily="18" charset="0"/>
                <a:sym typeface="Symbol" panose="05050102010706020507" pitchFamily="18" charset="2"/>
              </a:rPr>
              <a:t> </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rPr>
              <a:t>Q</a:t>
            </a:r>
            <a:endParaRPr lang="en-US" altLang="zh-CN" i="1" dirty="0">
              <a:latin typeface="Times New Roman" panose="0202050305040509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632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632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56325" name="Rectangle 2"/>
          <p:cNvSpPr>
            <a:spLocks noGrp="1"/>
          </p:cNvSpPr>
          <p:nvPr>
            <p:ph type="title"/>
          </p:nvPr>
        </p:nvSpPr>
        <p:spPr/>
        <p:txBody>
          <a:bodyPr vert="horz" wrap="square" lIns="91440" tIns="45720" rIns="91440" bIns="45720" anchor="b" anchorCtr="0"/>
          <a:p>
            <a:pPr eaLnBrk="1" hangingPunct="1"/>
            <a:r>
              <a:rPr lang="en-US" altLang="zh-CN" dirty="0"/>
              <a:t>Mistakes in proofs</a:t>
            </a:r>
            <a:endParaRPr lang="en-US" altLang="zh-CN" dirty="0"/>
          </a:p>
        </p:txBody>
      </p:sp>
      <p:sp>
        <p:nvSpPr>
          <p:cNvPr id="56326" name="Rectangle 3"/>
          <p:cNvSpPr>
            <a:spLocks noGrp="1"/>
          </p:cNvSpPr>
          <p:nvPr>
            <p:ph idx="1"/>
          </p:nvPr>
        </p:nvSpPr>
        <p:spPr/>
        <p:txBody>
          <a:bodyPr vert="horz" wrap="square" lIns="91440" tIns="45720" rIns="91440" bIns="45720" anchor="t" anchorCtr="0"/>
          <a:p>
            <a:pPr eaLnBrk="1" hangingPunct="1"/>
            <a:r>
              <a:rPr lang="en-US" altLang="zh-CN" dirty="0"/>
              <a:t>Example 16  </a:t>
            </a:r>
            <a:endParaRPr lang="en-US" altLang="zh-CN" dirty="0"/>
          </a:p>
          <a:p>
            <a:pPr eaLnBrk="1" hangingPunct="1"/>
            <a:r>
              <a:rPr lang="en-US" altLang="zh-CN" dirty="0"/>
              <a:t>Example 17  </a:t>
            </a:r>
            <a:endParaRPr lang="en-US" altLang="zh-CN" dirty="0"/>
          </a:p>
          <a:p>
            <a:pPr eaLnBrk="1" hangingPunct="1"/>
            <a:r>
              <a:rPr lang="en-US" altLang="zh-CN" dirty="0"/>
              <a:t>Example 18  </a:t>
            </a:r>
            <a:endParaRPr lang="en-US" altLang="zh-CN" dirty="0"/>
          </a:p>
          <a:p>
            <a:pPr eaLnBrk="1" hangingPunct="1">
              <a:buNone/>
            </a:pPr>
            <a:endParaRPr lang="en-US" altLang="zh-C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Title 1"/>
          <p:cNvSpPr>
            <a:spLocks noGrp="1"/>
          </p:cNvSpPr>
          <p:nvPr>
            <p:ph type="title"/>
          </p:nvPr>
        </p:nvSpPr>
        <p:spPr/>
        <p:txBody>
          <a:bodyPr vert="horz" wrap="square" lIns="91440" tIns="45720" rIns="91440" bIns="45720" anchor="b" anchorCtr="0"/>
          <a:p>
            <a:r>
              <a:rPr lang="en-US" altLang="zh-CN" dirty="0"/>
              <a:t>What is wrong with this?</a:t>
            </a:r>
            <a:endParaRPr lang="en-US" altLang="zh-CN" dirty="0"/>
          </a:p>
        </p:txBody>
      </p:sp>
      <p:pic>
        <p:nvPicPr>
          <p:cNvPr id="57347" name="Picture 8" descr="addin_tmp.png"/>
          <p:cNvPicPr>
            <a:picLocks noChangeAspect="1"/>
          </p:cNvPicPr>
          <p:nvPr>
            <p:custDataLst>
              <p:tags r:id="rId1"/>
            </p:custDataLst>
          </p:nvPr>
        </p:nvPicPr>
        <p:blipFill>
          <a:blip r:embed="rId2"/>
          <a:stretch>
            <a:fillRect/>
          </a:stretch>
        </p:blipFill>
        <p:spPr>
          <a:xfrm>
            <a:off x="947738" y="2709863"/>
            <a:ext cx="7248525" cy="2368550"/>
          </a:xfrm>
          <a:prstGeom prst="rect">
            <a:avLst/>
          </a:prstGeom>
          <a:noFill/>
          <a:ln w="9525">
            <a:noFill/>
          </a:ln>
        </p:spPr>
      </p:pic>
      <p:sp>
        <p:nvSpPr>
          <p:cNvPr id="57348" name="TextBox 9"/>
          <p:cNvSpPr txBox="1"/>
          <p:nvPr/>
        </p:nvSpPr>
        <p:spPr>
          <a:xfrm>
            <a:off x="755650" y="1973263"/>
            <a:ext cx="8001000" cy="5219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2800" b="1" i="1" u="sng" dirty="0">
                <a:latin typeface="Times New Roman" panose="02020503050405090304" pitchFamily="18" charset="0"/>
              </a:rPr>
              <a:t>“Proof” that 1 = 2      </a:t>
            </a:r>
            <a:r>
              <a:rPr lang="en-US" altLang="zh-CN" sz="2800" b="1" u="sng" dirty="0">
                <a:latin typeface="Times New Roman" panose="02020503050405090304" pitchFamily="18" charset="0"/>
              </a:rPr>
              <a:t>(</a:t>
            </a:r>
            <a:r>
              <a:rPr lang="en-US" altLang="zh-CN" sz="2800" b="1" i="1" u="sng" dirty="0">
                <a:latin typeface="Times New Roman" panose="02020503050405090304" pitchFamily="18" charset="0"/>
              </a:rPr>
              <a:t>Example 16  </a:t>
            </a:r>
            <a:r>
              <a:rPr lang="en-US" altLang="zh-CN" sz="2800" b="1" u="sng" dirty="0">
                <a:latin typeface="Times New Roman" panose="02020503050405090304" pitchFamily="18" charset="0"/>
              </a:rPr>
              <a:t>)</a:t>
            </a:r>
            <a:endParaRPr lang="en-US" altLang="zh-CN" sz="2800" b="1" u="sng" dirty="0">
              <a:latin typeface="Times New Roman" panose="02020503050405090304" pitchFamily="18" charset="0"/>
            </a:endParaRPr>
          </a:p>
        </p:txBody>
      </p:sp>
      <p:sp>
        <p:nvSpPr>
          <p:cNvPr id="6" name="TextBox 5"/>
          <p:cNvSpPr txBox="1"/>
          <p:nvPr/>
        </p:nvSpPr>
        <p:spPr>
          <a:xfrm>
            <a:off x="947738" y="5291138"/>
            <a:ext cx="7080250" cy="82994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2400" b="1" i="1" u="none" dirty="0">
                <a:latin typeface="Times New Roman" panose="02020503050405090304" pitchFamily="18" charset="0"/>
              </a:rPr>
              <a:t>Solution: Step 5.  a - b = </a:t>
            </a:r>
            <a:r>
              <a:rPr lang="en-US" altLang="zh-CN" sz="2400" b="1" i="1" u="none" dirty="0">
                <a:latin typeface="Cambria Math" panose="02040503050406030204" pitchFamily="18" charset="0"/>
              </a:rPr>
              <a:t>0 by the premise and division by 0 is undefined. </a:t>
            </a:r>
            <a:endParaRPr lang="en-US" altLang="zh-CN" sz="2400" b="1" i="1" u="none" dirty="0">
              <a:latin typeface="Cambria Math" panose="020405030504060302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内容占位符 2"/>
          <p:cNvSpPr>
            <a:spLocks noGrp="1"/>
          </p:cNvSpPr>
          <p:nvPr>
            <p:ph idx="1"/>
          </p:nvPr>
        </p:nvSpPr>
        <p:spPr>
          <a:xfrm>
            <a:off x="332740" y="1484948"/>
            <a:ext cx="8928100" cy="4114800"/>
          </a:xfrm>
        </p:spPr>
        <p:txBody>
          <a:bodyPr vert="horz" wrap="square" lIns="91440" tIns="45720" rIns="91440" bIns="45720" anchor="t" anchorCtr="0"/>
          <a:p>
            <a:r>
              <a:rPr lang="en-US" altLang="zh-CN" sz="2400" dirty="0">
                <a:latin typeface="Times New Roman" panose="02020503050405090304" pitchFamily="18" charset="0"/>
              </a:rPr>
              <a:t>EXAMPLE 17 “Theorem:” If n</a:t>
            </a:r>
            <a:r>
              <a:rPr lang="en-US" altLang="zh-CN" sz="2400" baseline="30000" dirty="0">
                <a:latin typeface="Times New Roman" panose="02020503050405090304" pitchFamily="18" charset="0"/>
              </a:rPr>
              <a:t>2</a:t>
            </a:r>
            <a:r>
              <a:rPr lang="en-US" altLang="zh-CN" sz="2400" dirty="0">
                <a:latin typeface="Times New Roman" panose="02020503050405090304" pitchFamily="18" charset="0"/>
              </a:rPr>
              <a:t> is positive, then n is positive.</a:t>
            </a:r>
            <a:endParaRPr lang="en-US" altLang="zh-CN" sz="2400" dirty="0">
              <a:latin typeface="Times New Roman" panose="02020503050405090304" pitchFamily="18" charset="0"/>
            </a:endParaRPr>
          </a:p>
          <a:p>
            <a:r>
              <a:rPr lang="en-US" altLang="zh-CN" sz="2400" dirty="0">
                <a:latin typeface="Times New Roman" panose="02020503050405090304" pitchFamily="18" charset="0"/>
              </a:rPr>
              <a:t> “Proof:" </a:t>
            </a:r>
            <a:endParaRPr lang="en-US" altLang="zh-CN" sz="2400" dirty="0">
              <a:latin typeface="Times New Roman" panose="02020503050405090304" pitchFamily="18" charset="0"/>
            </a:endParaRPr>
          </a:p>
          <a:p>
            <a:pPr lvl="1"/>
            <a:r>
              <a:rPr lang="en-US" altLang="zh-CN" sz="2000" dirty="0">
                <a:latin typeface="Times New Roman" panose="02020503050405090304" pitchFamily="18" charset="0"/>
              </a:rPr>
              <a:t> Suppose that n</a:t>
            </a:r>
            <a:r>
              <a:rPr lang="en-US" altLang="zh-CN" sz="2000" baseline="30000" dirty="0">
                <a:latin typeface="Times New Roman" panose="02020503050405090304" pitchFamily="18" charset="0"/>
              </a:rPr>
              <a:t>2</a:t>
            </a:r>
            <a:r>
              <a:rPr lang="en-US" altLang="zh-CN" sz="2000" dirty="0">
                <a:latin typeface="Times New Roman" panose="02020503050405090304" pitchFamily="18" charset="0"/>
              </a:rPr>
              <a:t> is positive.</a:t>
            </a:r>
            <a:endParaRPr lang="en-US" altLang="zh-CN" sz="2000" dirty="0">
              <a:latin typeface="Times New Roman" panose="02020503050405090304" pitchFamily="18" charset="0"/>
            </a:endParaRPr>
          </a:p>
          <a:p>
            <a:pPr lvl="1"/>
            <a:r>
              <a:rPr lang="en-US" altLang="zh-CN" sz="2000" dirty="0">
                <a:latin typeface="Times New Roman" panose="02020503050405090304" pitchFamily="18" charset="0"/>
              </a:rPr>
              <a:t>Because the conditional statement “If n is positive, then n</a:t>
            </a:r>
            <a:r>
              <a:rPr lang="en-US" altLang="zh-CN" sz="2000" baseline="30000" dirty="0">
                <a:latin typeface="Times New Roman" panose="02020503050405090304" pitchFamily="18" charset="0"/>
              </a:rPr>
              <a:t>2</a:t>
            </a:r>
            <a:r>
              <a:rPr lang="en-US" altLang="zh-CN" sz="2000" dirty="0">
                <a:latin typeface="Times New Roman" panose="02020503050405090304" pitchFamily="18" charset="0"/>
              </a:rPr>
              <a:t> is positive” is true, we can conclude that n is positive. </a:t>
            </a:r>
            <a:endParaRPr lang="en-US" altLang="zh-CN" sz="2000" dirty="0">
              <a:latin typeface="Times New Roman" panose="02020503050405090304" pitchFamily="18" charset="0"/>
            </a:endParaRPr>
          </a:p>
          <a:p>
            <a:r>
              <a:rPr lang="en-US" altLang="zh-CN" sz="2400" dirty="0">
                <a:latin typeface="Times New Roman" panose="02020503050405090304" pitchFamily="18" charset="0"/>
              </a:rPr>
              <a:t>Solution: </a:t>
            </a:r>
            <a:endParaRPr lang="en-US" altLang="zh-CN" sz="2400" dirty="0">
              <a:latin typeface="Times New Roman" panose="02020503050405090304" pitchFamily="18" charset="0"/>
            </a:endParaRPr>
          </a:p>
          <a:p>
            <a:pPr lvl="1"/>
            <a:r>
              <a:rPr lang="en-US" altLang="zh-CN" sz="2000" dirty="0">
                <a:latin typeface="Times New Roman" panose="02020503050405090304" pitchFamily="18" charset="0"/>
              </a:rPr>
              <a:t>Let P (n) be “n is positive” and Q(n) be “n</a:t>
            </a:r>
            <a:r>
              <a:rPr lang="en-US" altLang="zh-CN" sz="2000" baseline="30000" dirty="0">
                <a:latin typeface="Times New Roman" panose="02020503050405090304" pitchFamily="18" charset="0"/>
              </a:rPr>
              <a:t>2 </a:t>
            </a:r>
            <a:r>
              <a:rPr lang="en-US" altLang="zh-CN" sz="2000" dirty="0">
                <a:latin typeface="Times New Roman" panose="02020503050405090304" pitchFamily="18" charset="0"/>
              </a:rPr>
              <a:t> is positive.” </a:t>
            </a:r>
            <a:endParaRPr lang="en-US" altLang="zh-CN" sz="2000" dirty="0">
              <a:latin typeface="Times New Roman" panose="02020503050405090304" pitchFamily="18" charset="0"/>
            </a:endParaRPr>
          </a:p>
          <a:p>
            <a:pPr lvl="1"/>
            <a:r>
              <a:rPr lang="en-US" altLang="zh-CN" sz="2000" dirty="0">
                <a:latin typeface="Times New Roman" panose="02020503050405090304" pitchFamily="18" charset="0"/>
              </a:rPr>
              <a:t>Then our hypothesis is Q(n). </a:t>
            </a:r>
            <a:endParaRPr lang="en-US" altLang="zh-CN" sz="2000" dirty="0">
              <a:latin typeface="Times New Roman" panose="02020503050405090304" pitchFamily="18" charset="0"/>
            </a:endParaRPr>
          </a:p>
          <a:p>
            <a:pPr lvl="1"/>
            <a:r>
              <a:rPr lang="en-US" altLang="zh-CN" sz="2000" dirty="0">
                <a:latin typeface="Times New Roman" panose="02020503050405090304" pitchFamily="18" charset="0"/>
              </a:rPr>
              <a:t>The statement “If n is positive, then n</a:t>
            </a:r>
            <a:r>
              <a:rPr lang="en-US" altLang="zh-CN" sz="2000" baseline="30000" dirty="0">
                <a:latin typeface="Times New Roman" panose="02020503050405090304" pitchFamily="18" charset="0"/>
              </a:rPr>
              <a:t>2 </a:t>
            </a:r>
            <a:r>
              <a:rPr lang="en-US" altLang="zh-CN" sz="2000" dirty="0">
                <a:latin typeface="Times New Roman" panose="02020503050405090304" pitchFamily="18" charset="0"/>
              </a:rPr>
              <a:t> is positive” is the statement ∀n(P (n) → Q(n)).</a:t>
            </a:r>
            <a:endParaRPr lang="en-US" altLang="zh-CN" sz="2000" dirty="0">
              <a:latin typeface="Times New Roman" panose="02020503050405090304" pitchFamily="18" charset="0"/>
            </a:endParaRPr>
          </a:p>
          <a:p>
            <a:pPr lvl="1"/>
            <a:r>
              <a:rPr lang="en-US" altLang="zh-CN" sz="2000" dirty="0">
                <a:latin typeface="Times New Roman" panose="02020503050405090304" pitchFamily="18" charset="0"/>
              </a:rPr>
              <a:t> From the hypothesis Q(n) and the statement ∀n(P (n) → Q(n)) we cannot conclude P (n), because we are not using a valid rule of inference.</a:t>
            </a:r>
            <a:endParaRPr lang="en-US" altLang="zh-CN" sz="2000" dirty="0">
              <a:latin typeface="Times New Roman" panose="02020503050405090304" pitchFamily="18" charset="0"/>
            </a:endParaRPr>
          </a:p>
          <a:p>
            <a:pPr lvl="1"/>
            <a:r>
              <a:rPr lang="en-US" altLang="zh-CN" sz="2000" dirty="0">
                <a:latin typeface="Times New Roman" panose="02020503050405090304" pitchFamily="18" charset="0"/>
              </a:rPr>
              <a:t>A counterexample : n = −1 for which n</a:t>
            </a:r>
            <a:r>
              <a:rPr lang="en-US" altLang="zh-CN" sz="2000" baseline="30000" dirty="0">
                <a:latin typeface="Times New Roman" panose="02020503050405090304" pitchFamily="18" charset="0"/>
              </a:rPr>
              <a:t>2</a:t>
            </a:r>
            <a:r>
              <a:rPr lang="en-US" altLang="zh-CN" sz="2000" dirty="0">
                <a:latin typeface="Times New Roman" panose="02020503050405090304" pitchFamily="18" charset="0"/>
              </a:rPr>
              <a:t> = 1 is positive, but n is negative.</a:t>
            </a:r>
            <a:endParaRPr lang="zh-CN" altLang="en-US" sz="2000" dirty="0">
              <a:latin typeface="Times New Roman" panose="02020503050405090304" pitchFamily="18" charset="0"/>
            </a:endParaRPr>
          </a:p>
          <a:p>
            <a:endParaRPr lang="zh-CN" altLang="en-US" dirty="0"/>
          </a:p>
        </p:txBody>
      </p:sp>
      <p:sp>
        <p:nvSpPr>
          <p:cNvPr id="58371"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8372"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8373"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58374" name="Title 1"/>
          <p:cNvSpPr txBox="1"/>
          <p:nvPr/>
        </p:nvSpPr>
        <p:spPr>
          <a:xfrm>
            <a:off x="1043940" y="116523"/>
            <a:ext cx="7793038" cy="11430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4400" u="none" dirty="0">
                <a:solidFill>
                  <a:schemeClr val="tx2"/>
                </a:solidFill>
                <a:latin typeface="Copperplate Gothic Light" panose="020E0507020206020404" pitchFamily="34" charset="0"/>
              </a:rPr>
              <a:t>What is wrong with this?</a:t>
            </a:r>
            <a:endParaRPr lang="en-US" altLang="zh-CN" sz="4400" u="none" dirty="0">
              <a:solidFill>
                <a:schemeClr val="tx2"/>
              </a:solidFill>
              <a:latin typeface="Copperplate Gothic Light" panose="020E05070202060204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内容占位符 2"/>
          <p:cNvSpPr>
            <a:spLocks noGrp="1"/>
          </p:cNvSpPr>
          <p:nvPr>
            <p:ph idx="1"/>
          </p:nvPr>
        </p:nvSpPr>
        <p:spPr>
          <a:xfrm>
            <a:off x="0" y="1484313"/>
            <a:ext cx="9144000" cy="4114800"/>
          </a:xfrm>
        </p:spPr>
        <p:txBody>
          <a:bodyPr vert="horz" wrap="square" lIns="91440" tIns="45720" rIns="91440" bIns="45720" anchor="t" anchorCtr="0"/>
          <a:p>
            <a:r>
              <a:rPr lang="en-US" altLang="zh-CN" sz="2400" dirty="0">
                <a:latin typeface="Times New Roman" panose="02020503050405090304" pitchFamily="18" charset="0"/>
              </a:rPr>
              <a:t>EXAMPLE 18  “Theorem:” If n is not positive, then n</a:t>
            </a:r>
            <a:r>
              <a:rPr lang="en-US" altLang="zh-CN" sz="2400" baseline="30000" dirty="0">
                <a:latin typeface="Times New Roman" panose="02020503050405090304" pitchFamily="18" charset="0"/>
              </a:rPr>
              <a:t>2</a:t>
            </a:r>
            <a:r>
              <a:rPr lang="en-US" altLang="zh-CN" sz="2400" dirty="0">
                <a:latin typeface="Times New Roman" panose="02020503050405090304" pitchFamily="18" charset="0"/>
              </a:rPr>
              <a:t> is not positive. (This is the contrapositive of the “theorem” in Example 17.)</a:t>
            </a:r>
            <a:endParaRPr lang="en-US" altLang="zh-CN" sz="2400" dirty="0">
              <a:latin typeface="Times New Roman" panose="02020503050405090304" pitchFamily="18" charset="0"/>
            </a:endParaRPr>
          </a:p>
          <a:p>
            <a:r>
              <a:rPr lang="en-US" altLang="zh-CN" sz="2400" dirty="0">
                <a:latin typeface="Times New Roman" panose="02020503050405090304" pitchFamily="18" charset="0"/>
              </a:rPr>
              <a:t>“Proof:" </a:t>
            </a:r>
            <a:endParaRPr lang="en-US" altLang="zh-CN" sz="2400" dirty="0">
              <a:latin typeface="Times New Roman" panose="02020503050405090304" pitchFamily="18" charset="0"/>
            </a:endParaRPr>
          </a:p>
          <a:p>
            <a:pPr lvl="1"/>
            <a:r>
              <a:rPr lang="en-US" altLang="zh-CN" sz="2000" dirty="0">
                <a:latin typeface="Times New Roman" panose="02020503050405090304" pitchFamily="18" charset="0"/>
              </a:rPr>
              <a:t>Suppose that n is not positive. Because the conditional statement “If n is positive, then n</a:t>
            </a:r>
            <a:r>
              <a:rPr lang="en-US" altLang="zh-CN" sz="2000" baseline="30000" dirty="0">
                <a:latin typeface="Times New Roman" panose="02020503050405090304" pitchFamily="18" charset="0"/>
              </a:rPr>
              <a:t>2 </a:t>
            </a:r>
            <a:r>
              <a:rPr lang="en-US" altLang="zh-CN" sz="2000" dirty="0">
                <a:latin typeface="Times New Roman" panose="02020503050405090304" pitchFamily="18" charset="0"/>
              </a:rPr>
              <a:t>is positive” is true, we can conclude that n</a:t>
            </a:r>
            <a:r>
              <a:rPr lang="en-US" altLang="zh-CN" sz="2000" baseline="30000" dirty="0">
                <a:latin typeface="Times New Roman" panose="02020503050405090304" pitchFamily="18" charset="0"/>
              </a:rPr>
              <a:t>2</a:t>
            </a:r>
            <a:r>
              <a:rPr lang="en-US" altLang="zh-CN" sz="2000" dirty="0">
                <a:latin typeface="Times New Roman" panose="02020503050405090304" pitchFamily="18" charset="0"/>
              </a:rPr>
              <a:t> is not positive.</a:t>
            </a:r>
            <a:endParaRPr lang="en-US" altLang="zh-CN" sz="2000" dirty="0">
              <a:latin typeface="Times New Roman" panose="02020503050405090304" pitchFamily="18" charset="0"/>
            </a:endParaRPr>
          </a:p>
          <a:p>
            <a:r>
              <a:rPr lang="en-US" altLang="zh-CN" sz="2400" dirty="0">
                <a:latin typeface="Times New Roman" panose="02020503050405090304" pitchFamily="18" charset="0"/>
              </a:rPr>
              <a:t>Solution: </a:t>
            </a:r>
            <a:endParaRPr lang="en-US" altLang="zh-CN" sz="2400" dirty="0">
              <a:latin typeface="Times New Roman" panose="02020503050405090304" pitchFamily="18" charset="0"/>
            </a:endParaRPr>
          </a:p>
          <a:p>
            <a:pPr lvl="1"/>
            <a:r>
              <a:rPr lang="en-US" altLang="zh-CN" sz="2000" dirty="0">
                <a:latin typeface="Times New Roman" panose="02020503050405090304" pitchFamily="18" charset="0"/>
              </a:rPr>
              <a:t>Let P (n) be “n is positive” and Q(n) be “n</a:t>
            </a:r>
            <a:r>
              <a:rPr lang="en-US" altLang="zh-CN" sz="2000" baseline="30000" dirty="0">
                <a:latin typeface="Times New Roman" panose="02020503050405090304" pitchFamily="18" charset="0"/>
              </a:rPr>
              <a:t>2 </a:t>
            </a:r>
            <a:r>
              <a:rPr lang="en-US" altLang="zh-CN" sz="2000" dirty="0">
                <a:latin typeface="Times New Roman" panose="02020503050405090304" pitchFamily="18" charset="0"/>
              </a:rPr>
              <a:t> is positive.” </a:t>
            </a:r>
            <a:endParaRPr lang="en-US" altLang="zh-CN" sz="2000" dirty="0">
              <a:latin typeface="Times New Roman" panose="02020503050405090304" pitchFamily="18" charset="0"/>
            </a:endParaRPr>
          </a:p>
          <a:p>
            <a:pPr lvl="1"/>
            <a:r>
              <a:rPr lang="en-US" altLang="zh-CN" sz="2000" dirty="0">
                <a:latin typeface="Times New Roman" panose="02020503050405090304" pitchFamily="18" charset="0"/>
              </a:rPr>
              <a:t>our hypothesis is ¬P (n)</a:t>
            </a:r>
            <a:endParaRPr lang="en-US" altLang="zh-CN" sz="2000" dirty="0">
              <a:latin typeface="Times New Roman" panose="02020503050405090304" pitchFamily="18" charset="0"/>
            </a:endParaRPr>
          </a:p>
          <a:p>
            <a:pPr lvl="1"/>
            <a:r>
              <a:rPr lang="en-US" altLang="zh-CN" sz="2000" dirty="0">
                <a:latin typeface="Times New Roman" panose="02020503050405090304" pitchFamily="18" charset="0"/>
              </a:rPr>
              <a:t>the statement “If n is positive, then n</a:t>
            </a:r>
            <a:r>
              <a:rPr lang="en-US" altLang="zh-CN" sz="2000" baseline="30000" dirty="0">
                <a:latin typeface="Times New Roman" panose="02020503050405090304" pitchFamily="18" charset="0"/>
              </a:rPr>
              <a:t>2</a:t>
            </a:r>
            <a:r>
              <a:rPr lang="en-US" altLang="zh-CN" sz="2000" dirty="0">
                <a:latin typeface="Times New Roman" panose="02020503050405090304" pitchFamily="18" charset="0"/>
              </a:rPr>
              <a:t> is positive” is the statement ∀n(P(n)→Q(n)).</a:t>
            </a:r>
            <a:endParaRPr lang="en-US" altLang="zh-CN" sz="2000" dirty="0">
              <a:latin typeface="Times New Roman" panose="02020503050405090304" pitchFamily="18" charset="0"/>
            </a:endParaRPr>
          </a:p>
          <a:p>
            <a:pPr lvl="1"/>
            <a:r>
              <a:rPr lang="en-US" altLang="zh-CN" sz="2000" dirty="0">
                <a:latin typeface="Times New Roman" panose="02020503050405090304" pitchFamily="18" charset="0"/>
              </a:rPr>
              <a:t>From the hypothesis ¬P (n) and the statement ∀n(P (n) → Q(n)) we cannot conclude ¬Q(n),because we are not using a valid rule of inference.</a:t>
            </a:r>
            <a:endParaRPr lang="en-US" altLang="zh-CN" sz="2000" dirty="0">
              <a:latin typeface="Times New Roman" panose="02020503050405090304" pitchFamily="18" charset="0"/>
            </a:endParaRPr>
          </a:p>
          <a:p>
            <a:pPr lvl="1"/>
            <a:r>
              <a:rPr lang="en-US" altLang="zh-CN" sz="2000" dirty="0">
                <a:latin typeface="Times New Roman" panose="02020503050405090304" pitchFamily="18" charset="0"/>
              </a:rPr>
              <a:t>A counterexample : n = −1 for which n</a:t>
            </a:r>
            <a:r>
              <a:rPr lang="en-US" altLang="zh-CN" sz="2000" baseline="30000" dirty="0">
                <a:latin typeface="Times New Roman" panose="02020503050405090304" pitchFamily="18" charset="0"/>
              </a:rPr>
              <a:t>2</a:t>
            </a:r>
            <a:r>
              <a:rPr lang="en-US" altLang="zh-CN" sz="2000" dirty="0">
                <a:latin typeface="Times New Roman" panose="02020503050405090304" pitchFamily="18" charset="0"/>
              </a:rPr>
              <a:t> = 1 is positive.</a:t>
            </a:r>
            <a:endParaRPr lang="zh-CN" altLang="en-US" sz="2000" dirty="0">
              <a:latin typeface="Times New Roman" panose="02020503050405090304" pitchFamily="18" charset="0"/>
            </a:endParaRPr>
          </a:p>
          <a:p>
            <a:endParaRPr lang="zh-CN" altLang="en-US" dirty="0"/>
          </a:p>
        </p:txBody>
      </p:sp>
      <p:sp>
        <p:nvSpPr>
          <p:cNvPr id="59395"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9396"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9397"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59398" name="Title 1"/>
          <p:cNvSpPr txBox="1"/>
          <p:nvPr/>
        </p:nvSpPr>
        <p:spPr>
          <a:xfrm>
            <a:off x="828040" y="188278"/>
            <a:ext cx="7793038" cy="11430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4400" dirty="0">
                <a:solidFill>
                  <a:schemeClr val="tx2"/>
                </a:solidFill>
                <a:latin typeface="Copperplate Gothic Light" panose="020E0507020206020404" pitchFamily="34" charset="0"/>
              </a:rPr>
              <a:t>What is wrong with this?</a:t>
            </a:r>
            <a:endParaRPr lang="en-US" altLang="zh-CN" sz="4400" dirty="0">
              <a:solidFill>
                <a:schemeClr val="tx2"/>
              </a:solidFill>
              <a:latin typeface="Copperplate Gothic Light" panose="020E05070202060204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041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042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60421"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Circular Reasoning</a:t>
            </a:r>
            <a:endParaRPr lang="en-US" altLang="zh-CN" dirty="0">
              <a:latin typeface="Times New Roman" panose="02020503050405090304" pitchFamily="18" charset="0"/>
            </a:endParaRPr>
          </a:p>
        </p:txBody>
      </p:sp>
      <p:sp>
        <p:nvSpPr>
          <p:cNvPr id="60422" name="Rectangle 3"/>
          <p:cNvSpPr>
            <a:spLocks noGrp="1"/>
          </p:cNvSpPr>
          <p:nvPr>
            <p:ph idx="1"/>
          </p:nvPr>
        </p:nvSpPr>
        <p:spPr>
          <a:xfrm>
            <a:off x="611505" y="1340485"/>
            <a:ext cx="7772400" cy="4191000"/>
          </a:xfrm>
        </p:spPr>
        <p:txBody>
          <a:bodyPr vert="horz" wrap="square" lIns="91440" tIns="45720" rIns="91440" bIns="45720" anchor="t" anchorCtr="0"/>
          <a:p>
            <a:pPr eaLnBrk="1" hangingPunct="1"/>
            <a:r>
              <a:rPr lang="en-US" altLang="zh-CN" sz="2800" dirty="0">
                <a:latin typeface="Times New Roman" panose="02020503050405090304" pitchFamily="18" charset="0"/>
              </a:rPr>
              <a:t>The fallacy of (explicitly or implicitly) assuming the very statement you are trying to prove in the course of its proof.  Example:</a:t>
            </a:r>
            <a:endParaRPr lang="en-US" altLang="zh-CN" sz="2800" dirty="0">
              <a:latin typeface="Times New Roman" panose="02020503050405090304" pitchFamily="18" charset="0"/>
            </a:endParaRPr>
          </a:p>
          <a:p>
            <a:pPr eaLnBrk="1" hangingPunct="1"/>
            <a:r>
              <a:rPr lang="en-US" altLang="zh-CN" sz="2800" dirty="0">
                <a:solidFill>
                  <a:schemeClr val="tx2"/>
                </a:solidFill>
                <a:latin typeface="Times New Roman" panose="02020503050405090304" pitchFamily="18" charset="0"/>
              </a:rPr>
              <a:t>Prove that an integer </a:t>
            </a:r>
            <a:r>
              <a:rPr lang="en-US" altLang="zh-CN" sz="2800" i="1" dirty="0">
                <a:solidFill>
                  <a:schemeClr val="tx2"/>
                </a:solidFill>
                <a:latin typeface="Times New Roman" panose="02020503050405090304" pitchFamily="18" charset="0"/>
              </a:rPr>
              <a:t>n</a:t>
            </a:r>
            <a:r>
              <a:rPr lang="en-US" altLang="zh-CN" sz="2800" dirty="0">
                <a:solidFill>
                  <a:schemeClr val="tx2"/>
                </a:solidFill>
                <a:latin typeface="Times New Roman" panose="02020503050405090304" pitchFamily="18" charset="0"/>
              </a:rPr>
              <a:t> is even, if </a:t>
            </a:r>
            <a:r>
              <a:rPr lang="en-US" altLang="zh-CN" sz="2800" i="1" dirty="0">
                <a:solidFill>
                  <a:schemeClr val="tx2"/>
                </a:solidFill>
                <a:latin typeface="Times New Roman" panose="02020503050405090304" pitchFamily="18" charset="0"/>
              </a:rPr>
              <a:t>n</a:t>
            </a:r>
            <a:r>
              <a:rPr lang="en-US" altLang="zh-CN" sz="2800" baseline="30000" dirty="0">
                <a:solidFill>
                  <a:schemeClr val="tx2"/>
                </a:solidFill>
                <a:latin typeface="Times New Roman" panose="02020503050405090304" pitchFamily="18" charset="0"/>
              </a:rPr>
              <a:t>2</a:t>
            </a:r>
            <a:r>
              <a:rPr lang="en-US" altLang="zh-CN" sz="2800" dirty="0">
                <a:solidFill>
                  <a:schemeClr val="tx2"/>
                </a:solidFill>
                <a:latin typeface="Times New Roman" panose="02020503050405090304" pitchFamily="18" charset="0"/>
              </a:rPr>
              <a:t> is even.</a:t>
            </a:r>
            <a:endParaRPr lang="en-US" altLang="zh-CN" sz="2800" dirty="0">
              <a:solidFill>
                <a:schemeClr val="tx2"/>
              </a:solidFill>
              <a:latin typeface="Times New Roman" panose="02020503050405090304" pitchFamily="18" charset="0"/>
            </a:endParaRPr>
          </a:p>
          <a:p>
            <a:pPr eaLnBrk="1" hangingPunct="1"/>
            <a:r>
              <a:rPr lang="en-US" altLang="zh-CN" sz="2800" b="1" dirty="0">
                <a:solidFill>
                  <a:schemeClr val="tx2"/>
                </a:solidFill>
                <a:latin typeface="Times New Roman" panose="02020503050405090304" pitchFamily="18" charset="0"/>
              </a:rPr>
              <a:t>Attempted proof:</a:t>
            </a:r>
            <a:r>
              <a:rPr lang="en-US" altLang="zh-CN" sz="2800" dirty="0">
                <a:solidFill>
                  <a:schemeClr val="tx2"/>
                </a:solidFill>
                <a:latin typeface="Times New Roman" panose="02020503050405090304" pitchFamily="18" charset="0"/>
              </a:rPr>
              <a:t>  “Assume </a:t>
            </a:r>
            <a:r>
              <a:rPr lang="en-US" altLang="zh-CN" sz="2800" i="1" dirty="0">
                <a:solidFill>
                  <a:schemeClr val="tx2"/>
                </a:solidFill>
                <a:latin typeface="Times New Roman" panose="02020503050405090304" pitchFamily="18" charset="0"/>
              </a:rPr>
              <a:t>n</a:t>
            </a:r>
            <a:r>
              <a:rPr lang="en-US" altLang="zh-CN" sz="2800" baseline="30000" dirty="0">
                <a:solidFill>
                  <a:schemeClr val="tx2"/>
                </a:solidFill>
                <a:latin typeface="Times New Roman" panose="02020503050405090304" pitchFamily="18" charset="0"/>
              </a:rPr>
              <a:t>2</a:t>
            </a:r>
            <a:r>
              <a:rPr lang="en-US" altLang="zh-CN" sz="2800" dirty="0">
                <a:solidFill>
                  <a:schemeClr val="tx2"/>
                </a:solidFill>
                <a:latin typeface="Times New Roman" panose="02020503050405090304" pitchFamily="18" charset="0"/>
              </a:rPr>
              <a:t> is even.  Then </a:t>
            </a:r>
            <a:r>
              <a:rPr lang="en-US" altLang="zh-CN" sz="2800" i="1" dirty="0">
                <a:solidFill>
                  <a:schemeClr val="tx2"/>
                </a:solidFill>
                <a:latin typeface="Times New Roman" panose="02020503050405090304" pitchFamily="18" charset="0"/>
              </a:rPr>
              <a:t>n</a:t>
            </a:r>
            <a:r>
              <a:rPr lang="en-US" altLang="zh-CN" sz="2800" baseline="30000" dirty="0">
                <a:solidFill>
                  <a:schemeClr val="tx2"/>
                </a:solidFill>
                <a:latin typeface="Times New Roman" panose="02020503050405090304" pitchFamily="18" charset="0"/>
              </a:rPr>
              <a:t>2</a:t>
            </a:r>
            <a:r>
              <a:rPr lang="en-US" altLang="zh-CN" sz="2800" dirty="0">
                <a:solidFill>
                  <a:schemeClr val="tx2"/>
                </a:solidFill>
                <a:latin typeface="Times New Roman" panose="02020503050405090304" pitchFamily="18" charset="0"/>
              </a:rPr>
              <a:t>=2</a:t>
            </a:r>
            <a:r>
              <a:rPr lang="en-US" altLang="zh-CN" sz="2800" i="1" dirty="0">
                <a:solidFill>
                  <a:schemeClr val="tx2"/>
                </a:solidFill>
                <a:latin typeface="Times New Roman" panose="02020503050405090304" pitchFamily="18" charset="0"/>
              </a:rPr>
              <a:t>k</a:t>
            </a:r>
            <a:r>
              <a:rPr lang="en-US" altLang="zh-CN" sz="2800" dirty="0">
                <a:solidFill>
                  <a:schemeClr val="tx2"/>
                </a:solidFill>
                <a:latin typeface="Times New Roman" panose="02020503050405090304" pitchFamily="18" charset="0"/>
              </a:rPr>
              <a:t> for some integer </a:t>
            </a:r>
            <a:r>
              <a:rPr lang="en-US" altLang="zh-CN" sz="2800" i="1" dirty="0">
                <a:solidFill>
                  <a:schemeClr val="tx2"/>
                </a:solidFill>
                <a:latin typeface="Times New Roman" panose="02020503050405090304" pitchFamily="18" charset="0"/>
              </a:rPr>
              <a:t>k</a:t>
            </a:r>
            <a:r>
              <a:rPr lang="en-US" altLang="zh-CN" sz="2800" dirty="0">
                <a:solidFill>
                  <a:schemeClr val="tx2"/>
                </a:solidFill>
                <a:latin typeface="Times New Roman" panose="02020503050405090304" pitchFamily="18" charset="0"/>
              </a:rPr>
              <a:t>. Dividing both sides by </a:t>
            </a:r>
            <a:r>
              <a:rPr lang="en-US" altLang="zh-CN" sz="2800" i="1" dirty="0">
                <a:solidFill>
                  <a:schemeClr val="tx2"/>
                </a:solidFill>
                <a:latin typeface="Times New Roman" panose="02020503050405090304" pitchFamily="18" charset="0"/>
              </a:rPr>
              <a:t>n</a:t>
            </a:r>
            <a:r>
              <a:rPr lang="en-US" altLang="zh-CN" sz="2800" dirty="0">
                <a:solidFill>
                  <a:schemeClr val="tx2"/>
                </a:solidFill>
                <a:latin typeface="Times New Roman" panose="02020503050405090304" pitchFamily="18" charset="0"/>
              </a:rPr>
              <a:t> gives </a:t>
            </a:r>
            <a:r>
              <a:rPr lang="en-US" altLang="zh-CN" sz="2800" i="1" dirty="0">
                <a:solidFill>
                  <a:schemeClr val="tx2"/>
                </a:solidFill>
                <a:latin typeface="Times New Roman" panose="02020503050405090304" pitchFamily="18" charset="0"/>
              </a:rPr>
              <a:t>n </a:t>
            </a:r>
            <a:r>
              <a:rPr lang="en-US" altLang="zh-CN" sz="2800" dirty="0">
                <a:solidFill>
                  <a:schemeClr val="tx2"/>
                </a:solidFill>
                <a:latin typeface="Times New Roman" panose="02020503050405090304" pitchFamily="18" charset="0"/>
              </a:rPr>
              <a:t>= (2</a:t>
            </a:r>
            <a:r>
              <a:rPr lang="en-US" altLang="zh-CN" sz="2800" i="1" dirty="0">
                <a:solidFill>
                  <a:schemeClr val="tx2"/>
                </a:solidFill>
                <a:latin typeface="Times New Roman" panose="02020503050405090304" pitchFamily="18" charset="0"/>
              </a:rPr>
              <a:t>k</a:t>
            </a:r>
            <a:r>
              <a:rPr lang="en-US" altLang="zh-CN" sz="2800" dirty="0">
                <a:solidFill>
                  <a:schemeClr val="tx2"/>
                </a:solidFill>
                <a:latin typeface="Times New Roman" panose="02020503050405090304" pitchFamily="18" charset="0"/>
              </a:rPr>
              <a:t>)/</a:t>
            </a:r>
            <a:r>
              <a:rPr lang="en-US" altLang="zh-CN" sz="2800" i="1" dirty="0">
                <a:solidFill>
                  <a:schemeClr val="tx2"/>
                </a:solidFill>
                <a:latin typeface="Times New Roman" panose="02020503050405090304" pitchFamily="18" charset="0"/>
              </a:rPr>
              <a:t>n </a:t>
            </a:r>
            <a:r>
              <a:rPr lang="en-US" altLang="zh-CN" sz="2800" dirty="0">
                <a:solidFill>
                  <a:schemeClr val="tx2"/>
                </a:solidFill>
                <a:latin typeface="Times New Roman" panose="02020503050405090304" pitchFamily="18" charset="0"/>
              </a:rPr>
              <a:t>= 2(</a:t>
            </a:r>
            <a:r>
              <a:rPr lang="en-US" altLang="zh-CN" sz="2800" i="1" dirty="0">
                <a:solidFill>
                  <a:schemeClr val="tx2"/>
                </a:solidFill>
                <a:latin typeface="Times New Roman" panose="02020503050405090304" pitchFamily="18" charset="0"/>
              </a:rPr>
              <a:t>k</a:t>
            </a:r>
            <a:r>
              <a:rPr lang="en-US" altLang="zh-CN" sz="2800" dirty="0">
                <a:solidFill>
                  <a:schemeClr val="tx2"/>
                </a:solidFill>
                <a:latin typeface="Times New Roman" panose="02020503050405090304" pitchFamily="18" charset="0"/>
              </a:rPr>
              <a:t>/</a:t>
            </a:r>
            <a:r>
              <a:rPr lang="en-US" altLang="zh-CN" sz="2800" i="1" dirty="0">
                <a:solidFill>
                  <a:schemeClr val="tx2"/>
                </a:solidFill>
                <a:latin typeface="Times New Roman" panose="02020503050405090304" pitchFamily="18" charset="0"/>
              </a:rPr>
              <a:t>n</a:t>
            </a:r>
            <a:r>
              <a:rPr lang="en-US" altLang="zh-CN" sz="2800" dirty="0">
                <a:solidFill>
                  <a:schemeClr val="tx2"/>
                </a:solidFill>
                <a:latin typeface="Times New Roman" panose="02020503050405090304" pitchFamily="18" charset="0"/>
              </a:rPr>
              <a:t>). So there is an integer </a:t>
            </a:r>
            <a:r>
              <a:rPr lang="en-US" altLang="zh-CN" sz="2800" i="1" dirty="0">
                <a:solidFill>
                  <a:schemeClr val="tx2"/>
                </a:solidFill>
                <a:latin typeface="Times New Roman" panose="02020503050405090304" pitchFamily="18" charset="0"/>
              </a:rPr>
              <a:t>j</a:t>
            </a:r>
            <a:r>
              <a:rPr lang="en-US" altLang="zh-CN" sz="2800" dirty="0">
                <a:solidFill>
                  <a:schemeClr val="tx2"/>
                </a:solidFill>
                <a:latin typeface="Times New Roman" panose="02020503050405090304" pitchFamily="18" charset="0"/>
              </a:rPr>
              <a:t> (namely </a:t>
            </a:r>
            <a:r>
              <a:rPr lang="en-US" altLang="zh-CN" sz="2800" i="1" dirty="0">
                <a:solidFill>
                  <a:schemeClr val="tx2"/>
                </a:solidFill>
                <a:latin typeface="Times New Roman" panose="02020503050405090304" pitchFamily="18" charset="0"/>
              </a:rPr>
              <a:t>k</a:t>
            </a:r>
            <a:r>
              <a:rPr lang="en-US" altLang="zh-CN" sz="2800" dirty="0">
                <a:solidFill>
                  <a:schemeClr val="tx2"/>
                </a:solidFill>
                <a:latin typeface="Times New Roman" panose="02020503050405090304" pitchFamily="18" charset="0"/>
              </a:rPr>
              <a:t>/</a:t>
            </a:r>
            <a:r>
              <a:rPr lang="en-US" altLang="zh-CN" sz="2800" i="1" dirty="0">
                <a:solidFill>
                  <a:schemeClr val="tx2"/>
                </a:solidFill>
                <a:latin typeface="Times New Roman" panose="02020503050405090304" pitchFamily="18" charset="0"/>
              </a:rPr>
              <a:t>n</a:t>
            </a:r>
            <a:r>
              <a:rPr lang="en-US" altLang="zh-CN" sz="2800" dirty="0">
                <a:solidFill>
                  <a:schemeClr val="tx2"/>
                </a:solidFill>
                <a:latin typeface="Times New Roman" panose="02020503050405090304" pitchFamily="18" charset="0"/>
              </a:rPr>
              <a:t>) such that </a:t>
            </a:r>
            <a:r>
              <a:rPr lang="en-US" altLang="zh-CN" sz="2800" i="1" dirty="0">
                <a:solidFill>
                  <a:schemeClr val="tx2"/>
                </a:solidFill>
                <a:latin typeface="Times New Roman" panose="02020503050405090304" pitchFamily="18" charset="0"/>
              </a:rPr>
              <a:t>n</a:t>
            </a:r>
            <a:r>
              <a:rPr lang="en-US" altLang="zh-CN" sz="2800" dirty="0">
                <a:solidFill>
                  <a:schemeClr val="tx2"/>
                </a:solidFill>
                <a:latin typeface="Times New Roman" panose="02020503050405090304" pitchFamily="18" charset="0"/>
              </a:rPr>
              <a:t>=2</a:t>
            </a:r>
            <a:r>
              <a:rPr lang="en-US" altLang="zh-CN" sz="2800" i="1" dirty="0">
                <a:solidFill>
                  <a:schemeClr val="tx2"/>
                </a:solidFill>
                <a:latin typeface="Times New Roman" panose="02020503050405090304" pitchFamily="18" charset="0"/>
              </a:rPr>
              <a:t>j</a:t>
            </a:r>
            <a:r>
              <a:rPr lang="en-US" altLang="zh-CN" sz="2800" dirty="0">
                <a:solidFill>
                  <a:schemeClr val="tx2"/>
                </a:solidFill>
                <a:latin typeface="Times New Roman" panose="02020503050405090304" pitchFamily="18" charset="0"/>
              </a:rPr>
              <a:t>.  Therefore </a:t>
            </a:r>
            <a:r>
              <a:rPr lang="en-US" altLang="zh-CN" sz="2800" i="1" dirty="0">
                <a:solidFill>
                  <a:schemeClr val="tx2"/>
                </a:solidFill>
                <a:latin typeface="Times New Roman" panose="02020503050405090304" pitchFamily="18" charset="0"/>
              </a:rPr>
              <a:t>n</a:t>
            </a:r>
            <a:r>
              <a:rPr lang="en-US" altLang="zh-CN" sz="2800" dirty="0">
                <a:solidFill>
                  <a:schemeClr val="tx2"/>
                </a:solidFill>
                <a:latin typeface="Times New Roman" panose="02020503050405090304" pitchFamily="18" charset="0"/>
              </a:rPr>
              <a:t> is even.”</a:t>
            </a:r>
            <a:endParaRPr lang="en-US" altLang="zh-CN" sz="2800" dirty="0">
              <a:solidFill>
                <a:schemeClr val="tx2"/>
              </a:solidFill>
              <a:latin typeface="Times New Roman" panose="02020503050405090304" pitchFamily="18" charset="0"/>
            </a:endParaRPr>
          </a:p>
          <a:p>
            <a:pPr lvl="1" eaLnBrk="1" hangingPunct="1"/>
            <a:r>
              <a:rPr lang="en-US" altLang="zh-CN" sz="2400" dirty="0">
                <a:solidFill>
                  <a:srgbClr val="006600"/>
                </a:solidFill>
                <a:latin typeface="Times New Roman" panose="02020503050405090304" pitchFamily="18" charset="0"/>
              </a:rPr>
              <a:t>Circular reasoning is used in this proof.  Where?</a:t>
            </a:r>
            <a:endParaRPr lang="en-US" altLang="zh-CN" sz="2400" dirty="0">
              <a:solidFill>
                <a:srgbClr val="006600"/>
              </a:solidFill>
              <a:latin typeface="Times New Roman" panose="02020503050405090304" pitchFamily="18" charset="0"/>
            </a:endParaRPr>
          </a:p>
        </p:txBody>
      </p:sp>
      <p:sp>
        <p:nvSpPr>
          <p:cNvPr id="1113092" name="Text Box 4"/>
          <p:cNvSpPr txBox="1"/>
          <p:nvPr/>
        </p:nvSpPr>
        <p:spPr>
          <a:xfrm>
            <a:off x="3419475" y="5589270"/>
            <a:ext cx="5715000" cy="1196975"/>
          </a:xfrm>
          <a:prstGeom prst="rect">
            <a:avLst/>
          </a:prstGeom>
          <a:solidFill>
            <a:srgbClr val="FFFFCC"/>
          </a:solidFill>
          <a:ln w="9525" cap="flat"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ctr">
              <a:spcBef>
                <a:spcPct val="50000"/>
              </a:spcBef>
              <a:buClrTx/>
              <a:buSzTx/>
              <a:buFontTx/>
              <a:buNone/>
            </a:pPr>
            <a:r>
              <a:rPr lang="en-US" altLang="zh-CN" sz="2400" i="1" dirty="0">
                <a:latin typeface="Times New Roman" panose="02020503050405090304" pitchFamily="18" charset="0"/>
              </a:rPr>
              <a:t>Begs the question: How do</a:t>
            </a:r>
            <a:br>
              <a:rPr lang="en-US" altLang="zh-CN" sz="2400" i="1" dirty="0">
                <a:latin typeface="Times New Roman" panose="02020503050405090304" pitchFamily="18" charset="0"/>
              </a:rPr>
            </a:br>
            <a:r>
              <a:rPr lang="en-US" altLang="zh-CN" sz="2400" i="1" dirty="0">
                <a:latin typeface="Times New Roman" panose="02020503050405090304" pitchFamily="18" charset="0"/>
              </a:rPr>
              <a:t>you show that </a:t>
            </a:r>
            <a:r>
              <a:rPr lang="en-US" altLang="zh-CN" sz="2400" i="1" dirty="0">
                <a:solidFill>
                  <a:srgbClr val="FF0000"/>
                </a:solidFill>
                <a:latin typeface="Times New Roman" panose="02020503050405090304" pitchFamily="18" charset="0"/>
              </a:rPr>
              <a:t>j</a:t>
            </a:r>
            <a:r>
              <a:rPr lang="en-US" altLang="zh-CN" sz="2400" dirty="0">
                <a:solidFill>
                  <a:srgbClr val="FF0000"/>
                </a:solidFill>
                <a:latin typeface="Times New Roman" panose="02020503050405090304" pitchFamily="18" charset="0"/>
              </a:rPr>
              <a:t>=</a:t>
            </a:r>
            <a:r>
              <a:rPr lang="en-US" altLang="zh-CN" sz="2400" i="1" dirty="0">
                <a:solidFill>
                  <a:srgbClr val="FF0000"/>
                </a:solidFill>
                <a:latin typeface="Times New Roman" panose="02020503050405090304" pitchFamily="18" charset="0"/>
              </a:rPr>
              <a:t>k</a:t>
            </a:r>
            <a:r>
              <a:rPr lang="en-US" altLang="zh-CN" sz="2400" dirty="0">
                <a:solidFill>
                  <a:srgbClr val="FF0000"/>
                </a:solidFill>
                <a:latin typeface="Times New Roman" panose="02020503050405090304" pitchFamily="18" charset="0"/>
              </a:rPr>
              <a:t>/</a:t>
            </a:r>
            <a:r>
              <a:rPr lang="en-US" altLang="zh-CN" sz="2400" i="1" dirty="0">
                <a:solidFill>
                  <a:srgbClr val="FF0000"/>
                </a:solidFill>
                <a:latin typeface="Times New Roman" panose="02020503050405090304" pitchFamily="18" charset="0"/>
              </a:rPr>
              <a:t>n</a:t>
            </a:r>
            <a:r>
              <a:rPr lang="en-US" altLang="zh-CN" sz="2400" dirty="0">
                <a:solidFill>
                  <a:srgbClr val="FF0000"/>
                </a:solidFill>
                <a:latin typeface="Times New Roman" panose="02020503050405090304" pitchFamily="18" charset="0"/>
              </a:rPr>
              <a:t>=</a:t>
            </a:r>
            <a:r>
              <a:rPr lang="en-US" altLang="zh-CN" sz="2400" i="1" dirty="0">
                <a:solidFill>
                  <a:srgbClr val="FF0000"/>
                </a:solidFill>
                <a:latin typeface="Times New Roman" panose="02020503050405090304" pitchFamily="18" charset="0"/>
              </a:rPr>
              <a:t>n</a:t>
            </a:r>
            <a:r>
              <a:rPr lang="en-US" altLang="zh-CN" sz="2400" dirty="0">
                <a:solidFill>
                  <a:srgbClr val="FF0000"/>
                </a:solidFill>
                <a:latin typeface="Times New Roman" panose="02020503050405090304" pitchFamily="18" charset="0"/>
              </a:rPr>
              <a:t>/2</a:t>
            </a:r>
            <a:r>
              <a:rPr lang="en-US" altLang="zh-CN" sz="2400" i="1" dirty="0">
                <a:latin typeface="Times New Roman" panose="02020503050405090304" pitchFamily="18" charset="0"/>
              </a:rPr>
              <a:t> is an integer, without </a:t>
            </a:r>
            <a:r>
              <a:rPr lang="en-US" altLang="zh-CN" sz="2400" b="1" i="1" dirty="0">
                <a:latin typeface="Times New Roman" panose="02020503050405090304" pitchFamily="18" charset="0"/>
              </a:rPr>
              <a:t>first</a:t>
            </a:r>
            <a:r>
              <a:rPr lang="en-US" altLang="zh-CN" sz="2400" i="1" dirty="0">
                <a:latin typeface="Times New Roman" panose="02020503050405090304" pitchFamily="18" charset="0"/>
              </a:rPr>
              <a:t> assuming that </a:t>
            </a:r>
            <a:r>
              <a:rPr lang="en-US" altLang="zh-CN" sz="2400" i="1" dirty="0">
                <a:solidFill>
                  <a:srgbClr val="FF0000"/>
                </a:solidFill>
                <a:latin typeface="Times New Roman" panose="02020503050405090304" pitchFamily="18" charset="0"/>
              </a:rPr>
              <a:t>n</a:t>
            </a:r>
            <a:r>
              <a:rPr lang="en-US" altLang="zh-CN" sz="2400" i="1" dirty="0">
                <a:latin typeface="Times New Roman" panose="02020503050405090304" pitchFamily="18" charset="0"/>
              </a:rPr>
              <a:t> is even?</a:t>
            </a:r>
            <a:endParaRPr lang="en-US" altLang="zh-CN" sz="2400" i="1" dirty="0">
              <a:latin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1113092"/>
                                        </p:tgtEl>
                                        <p:attrNameLst>
                                          <p:attrName>style.visibility</p:attrName>
                                        </p:attrNameLst>
                                      </p:cBhvr>
                                      <p:to>
                                        <p:strVal val="visible"/>
                                      </p:to>
                                    </p:set>
                                    <p:anim calcmode="lin" valueType="num">
                                      <p:cBhvr>
                                        <p:cTn id="7" dur="500" fill="hold"/>
                                        <p:tgtEl>
                                          <p:spTgt spid="1113092"/>
                                        </p:tgtEl>
                                        <p:attrNameLst>
                                          <p:attrName>ppt_x</p:attrName>
                                        </p:attrNameLst>
                                      </p:cBhvr>
                                      <p:tavLst>
                                        <p:tav tm="0">
                                          <p:val>
                                            <p:strVal val="1+#ppt_w/2"/>
                                          </p:val>
                                        </p:tav>
                                        <p:tav tm="100000">
                                          <p:val>
                                            <p:strVal val="#ppt_x"/>
                                          </p:val>
                                        </p:tav>
                                      </p:tavLst>
                                    </p:anim>
                                    <p:anim calcmode="lin" valueType="num">
                                      <p:cBhvr>
                                        <p:cTn id="8" dur="500" fill="hold"/>
                                        <p:tgtEl>
                                          <p:spTgt spid="111309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3092"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246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246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62469"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A Correct Proof</a:t>
            </a:r>
            <a:endParaRPr lang="en-US" altLang="zh-CN" dirty="0">
              <a:latin typeface="Times New Roman" panose="02020503050405090304" pitchFamily="18" charset="0"/>
            </a:endParaRPr>
          </a:p>
        </p:txBody>
      </p:sp>
      <p:sp>
        <p:nvSpPr>
          <p:cNvPr id="62470" name="Rectangle 3"/>
          <p:cNvSpPr>
            <a:spLocks noGrp="1"/>
          </p:cNvSpPr>
          <p:nvPr>
            <p:ph idx="1"/>
          </p:nvPr>
        </p:nvSpPr>
        <p:spPr>
          <a:xfrm>
            <a:off x="274955" y="1340485"/>
            <a:ext cx="8335645" cy="4114800"/>
          </a:xfrm>
        </p:spPr>
        <p:txBody>
          <a:bodyPr vert="horz" wrap="square" lIns="91440" tIns="45720" rIns="91440" bIns="45720" anchor="t" anchorCtr="0"/>
          <a:p>
            <a:pPr marL="0" indent="0" eaLnBrk="1" hangingPunct="1">
              <a:buNone/>
            </a:pPr>
            <a:r>
              <a:rPr lang="en-US" altLang="zh-CN" sz="2800" dirty="0">
                <a:latin typeface="Times New Roman" panose="02020503050405090304" pitchFamily="18" charset="0"/>
              </a:rPr>
              <a:t>We know that </a:t>
            </a:r>
            <a:r>
              <a:rPr lang="en-US" altLang="zh-CN" sz="2800" i="1" dirty="0">
                <a:latin typeface="Times New Roman" panose="02020503050405090304" pitchFamily="18" charset="0"/>
              </a:rPr>
              <a:t>n</a:t>
            </a:r>
            <a:r>
              <a:rPr lang="en-US" altLang="zh-CN" sz="2800" dirty="0">
                <a:latin typeface="Times New Roman" panose="02020503050405090304" pitchFamily="18" charset="0"/>
              </a:rPr>
              <a:t> must be either odd or even. </a:t>
            </a:r>
            <a:endParaRPr lang="en-US" altLang="zh-CN" sz="2800" dirty="0">
              <a:latin typeface="Times New Roman" panose="02020503050405090304" pitchFamily="18" charset="0"/>
            </a:endParaRPr>
          </a:p>
          <a:p>
            <a:pPr marL="0" indent="0" eaLnBrk="1" hangingPunct="1">
              <a:buNone/>
            </a:pPr>
            <a:r>
              <a:rPr lang="en-US" altLang="zh-CN" sz="2800" dirty="0">
                <a:latin typeface="Times New Roman" panose="02020503050405090304" pitchFamily="18" charset="0"/>
              </a:rPr>
              <a:t> If </a:t>
            </a:r>
            <a:r>
              <a:rPr lang="en-US" altLang="zh-CN" sz="2800" i="1" dirty="0">
                <a:latin typeface="Times New Roman" panose="02020503050405090304" pitchFamily="18" charset="0"/>
              </a:rPr>
              <a:t>n</a:t>
            </a:r>
            <a:r>
              <a:rPr lang="en-US" altLang="zh-CN" sz="2800" dirty="0">
                <a:latin typeface="Times New Roman" panose="02020503050405090304" pitchFamily="18" charset="0"/>
              </a:rPr>
              <a:t> were odd, then </a:t>
            </a:r>
            <a:r>
              <a:rPr lang="en-US" altLang="zh-CN" sz="2800" i="1" dirty="0">
                <a:latin typeface="Times New Roman" panose="02020503050405090304" pitchFamily="18" charset="0"/>
              </a:rPr>
              <a:t>n</a:t>
            </a:r>
            <a:r>
              <a:rPr lang="en-US" altLang="zh-CN" sz="2800" baseline="30000" dirty="0">
                <a:latin typeface="Times New Roman" panose="02020503050405090304" pitchFamily="18" charset="0"/>
              </a:rPr>
              <a:t>2</a:t>
            </a:r>
            <a:r>
              <a:rPr lang="en-US" altLang="zh-CN" sz="2800" dirty="0">
                <a:latin typeface="Times New Roman" panose="02020503050405090304" pitchFamily="18" charset="0"/>
              </a:rPr>
              <a:t> would be odd, since an odd number times an odd number is always an odd number. </a:t>
            </a:r>
            <a:endParaRPr lang="en-US" altLang="zh-CN" sz="2800" dirty="0">
              <a:latin typeface="Times New Roman" panose="02020503050405090304" pitchFamily="18" charset="0"/>
            </a:endParaRPr>
          </a:p>
          <a:p>
            <a:pPr marL="0" indent="0" eaLnBrk="1" hangingPunct="1">
              <a:buNone/>
            </a:pPr>
            <a:r>
              <a:rPr lang="en-US" altLang="zh-CN" sz="2800" dirty="0">
                <a:latin typeface="Times New Roman" panose="02020503050405090304" pitchFamily="18" charset="0"/>
              </a:rPr>
              <a:t> Since </a:t>
            </a:r>
            <a:r>
              <a:rPr lang="en-US" altLang="zh-CN" sz="2800" i="1" dirty="0">
                <a:latin typeface="Times New Roman" panose="02020503050405090304" pitchFamily="18" charset="0"/>
              </a:rPr>
              <a:t>n</a:t>
            </a:r>
            <a:r>
              <a:rPr lang="en-US" altLang="zh-CN" sz="2800" baseline="30000" dirty="0">
                <a:latin typeface="Times New Roman" panose="02020503050405090304" pitchFamily="18" charset="0"/>
              </a:rPr>
              <a:t>2</a:t>
            </a:r>
            <a:r>
              <a:rPr lang="en-US" altLang="zh-CN" sz="2800" dirty="0">
                <a:latin typeface="Times New Roman" panose="02020503050405090304" pitchFamily="18" charset="0"/>
              </a:rPr>
              <a:t> is even, it is not odd, since no even number is also an odd number.</a:t>
            </a:r>
            <a:endParaRPr lang="en-US" altLang="zh-CN" sz="2800" dirty="0">
              <a:latin typeface="Times New Roman" panose="02020503050405090304" pitchFamily="18" charset="0"/>
            </a:endParaRPr>
          </a:p>
          <a:p>
            <a:pPr marL="0" indent="0" eaLnBrk="1" hangingPunct="1">
              <a:buNone/>
            </a:pPr>
            <a:r>
              <a:rPr lang="en-US" altLang="zh-CN" sz="2800" dirty="0">
                <a:latin typeface="Times New Roman" panose="02020503050405090304" pitchFamily="18" charset="0"/>
              </a:rPr>
              <a:t>  Thus, by modus tollens, </a:t>
            </a:r>
            <a:r>
              <a:rPr lang="en-US" altLang="zh-CN" sz="2800" i="1" dirty="0">
                <a:latin typeface="Times New Roman" panose="02020503050405090304" pitchFamily="18" charset="0"/>
              </a:rPr>
              <a:t>n</a:t>
            </a:r>
            <a:r>
              <a:rPr lang="en-US" altLang="zh-CN" sz="2800" dirty="0">
                <a:latin typeface="Times New Roman" panose="02020503050405090304" pitchFamily="18" charset="0"/>
              </a:rPr>
              <a:t> is not odd either. </a:t>
            </a:r>
            <a:endParaRPr lang="en-US" altLang="zh-CN" sz="2800" dirty="0">
              <a:latin typeface="Times New Roman" panose="02020503050405090304" pitchFamily="18" charset="0"/>
            </a:endParaRPr>
          </a:p>
          <a:p>
            <a:pPr marL="0" indent="0" eaLnBrk="1" hangingPunct="1">
              <a:buNone/>
            </a:pPr>
            <a:r>
              <a:rPr lang="en-US" altLang="zh-CN" sz="2800" dirty="0">
                <a:latin typeface="Times New Roman" panose="02020503050405090304" pitchFamily="18" charset="0"/>
              </a:rPr>
              <a:t> Thus, by disjunctive syllogism, </a:t>
            </a:r>
            <a:r>
              <a:rPr lang="en-US" altLang="zh-CN" sz="2800" i="1" dirty="0">
                <a:latin typeface="Times New Roman" panose="02020503050405090304" pitchFamily="18" charset="0"/>
              </a:rPr>
              <a:t>n</a:t>
            </a:r>
            <a:r>
              <a:rPr lang="en-US" altLang="zh-CN" sz="2800" dirty="0">
                <a:latin typeface="Times New Roman" panose="02020503050405090304" pitchFamily="18" charset="0"/>
              </a:rPr>
              <a:t> must be even</a:t>
            </a:r>
            <a:r>
              <a:rPr lang="en-US" altLang="zh-CN" dirty="0">
                <a:latin typeface="Times New Roman" panose="02020503050405090304" pitchFamily="18" charset="0"/>
              </a:rPr>
              <a:t>. ■</a:t>
            </a:r>
            <a:endParaRPr lang="en-US" altLang="zh-CN" i="1" dirty="0">
              <a:latin typeface="Times New Roman" panose="02020503050405090304" pitchFamily="18" charset="0"/>
            </a:endParaRPr>
          </a:p>
        </p:txBody>
      </p:sp>
      <p:sp>
        <p:nvSpPr>
          <p:cNvPr id="62471" name="Text Box 4"/>
          <p:cNvSpPr txBox="1"/>
          <p:nvPr/>
        </p:nvSpPr>
        <p:spPr>
          <a:xfrm>
            <a:off x="3238500" y="5084763"/>
            <a:ext cx="5869940" cy="1198880"/>
          </a:xfrm>
          <a:prstGeom prst="rect">
            <a:avLst/>
          </a:prstGeom>
          <a:solidFill>
            <a:srgbClr val="FFFFCC"/>
          </a:solidFill>
          <a:ln w="38100" cap="flat" cmpd="sng">
            <a:solidFill>
              <a:srgbClr val="006600"/>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2400" u="none" dirty="0">
                <a:latin typeface="Times New Roman" panose="02020503050405090304" pitchFamily="18" charset="0"/>
              </a:rPr>
              <a:t>This proof is correct, but not quite complete,</a:t>
            </a:r>
            <a:br>
              <a:rPr lang="en-US" altLang="zh-CN" sz="2400" u="none" dirty="0">
                <a:latin typeface="Times New Roman" panose="02020503050405090304" pitchFamily="18" charset="0"/>
              </a:rPr>
            </a:br>
            <a:r>
              <a:rPr lang="en-US" altLang="zh-CN" sz="2400" u="none" dirty="0">
                <a:latin typeface="Times New Roman" panose="02020503050405090304" pitchFamily="18" charset="0"/>
              </a:rPr>
              <a:t>since we used several lemmas without proving</a:t>
            </a:r>
            <a:br>
              <a:rPr lang="en-US" altLang="zh-CN" sz="2400" u="none" dirty="0">
                <a:latin typeface="Times New Roman" panose="02020503050405090304" pitchFamily="18" charset="0"/>
              </a:rPr>
            </a:br>
            <a:r>
              <a:rPr lang="en-US" altLang="zh-CN" sz="2400" u="none" dirty="0">
                <a:latin typeface="Times New Roman" panose="02020503050405090304" pitchFamily="18" charset="0"/>
              </a:rPr>
              <a:t>them.  Can you identify what they are?</a:t>
            </a:r>
            <a:endParaRPr lang="en-US" altLang="zh-CN" sz="2400" u="none" dirty="0">
              <a:latin typeface="Times New Roman" panose="0202050305040509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349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349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63493"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A More Verbose Version</a:t>
            </a:r>
            <a:endParaRPr lang="en-US" altLang="zh-CN" dirty="0">
              <a:latin typeface="Times New Roman" panose="02020503050405090304" pitchFamily="18" charset="0"/>
            </a:endParaRPr>
          </a:p>
        </p:txBody>
      </p:sp>
      <p:sp>
        <p:nvSpPr>
          <p:cNvPr id="63494" name="Rectangle 3"/>
          <p:cNvSpPr>
            <a:spLocks noGrp="1"/>
          </p:cNvSpPr>
          <p:nvPr>
            <p:ph idx="1"/>
          </p:nvPr>
        </p:nvSpPr>
        <p:spPr>
          <a:xfrm>
            <a:off x="395605" y="1783080"/>
            <a:ext cx="8124825" cy="4419600"/>
          </a:xfrm>
        </p:spPr>
        <p:txBody>
          <a:bodyPr vert="horz" wrap="square" lIns="91440" tIns="45720" rIns="91440" bIns="45720" anchor="t" anchorCtr="0"/>
          <a:p>
            <a:pPr marL="0" indent="0" eaLnBrk="1" hangingPunct="1">
              <a:buNone/>
            </a:pPr>
            <a:r>
              <a:rPr lang="en-US" altLang="zh-CN" sz="2800" dirty="0">
                <a:latin typeface="Times New Roman" panose="02020503050405090304" pitchFamily="18" charset="0"/>
              </a:rPr>
              <a:t>Suppose </a:t>
            </a:r>
            <a:r>
              <a:rPr lang="en-US" altLang="zh-CN" sz="2800" i="1" dirty="0">
                <a:latin typeface="Times New Roman" panose="02020503050405090304" pitchFamily="18" charset="0"/>
              </a:rPr>
              <a:t>n</a:t>
            </a:r>
            <a:r>
              <a:rPr lang="en-US" altLang="zh-CN" sz="2800" baseline="30000" dirty="0">
                <a:latin typeface="Times New Roman" panose="02020503050405090304" pitchFamily="18" charset="0"/>
              </a:rPr>
              <a:t>2</a:t>
            </a:r>
            <a:r>
              <a:rPr lang="en-US" altLang="zh-CN" sz="2800" dirty="0">
                <a:latin typeface="Times New Roman" panose="02020503050405090304" pitchFamily="18" charset="0"/>
              </a:rPr>
              <a:t> is even </a:t>
            </a:r>
            <a:r>
              <a:rPr lang="en-US" altLang="zh-CN" sz="2800" dirty="0">
                <a:latin typeface="Times New Roman" panose="02020503050405090304" pitchFamily="18" charset="0"/>
                <a:sym typeface="Symbol" panose="05050102010706020507" pitchFamily="18" charset="2"/>
              </a:rPr>
              <a:t>2|</a:t>
            </a:r>
            <a:r>
              <a:rPr lang="en-US" altLang="zh-CN" sz="2800" i="1" dirty="0">
                <a:latin typeface="Times New Roman" panose="02020503050405090304" pitchFamily="18" charset="0"/>
                <a:sym typeface="Symbol" panose="05050102010706020507" pitchFamily="18" charset="2"/>
              </a:rPr>
              <a:t>n</a:t>
            </a:r>
            <a:r>
              <a:rPr lang="en-US" altLang="zh-CN" sz="2800" baseline="30000" dirty="0">
                <a:latin typeface="Times New Roman" panose="02020503050405090304" pitchFamily="18" charset="0"/>
              </a:rPr>
              <a:t>2</a:t>
            </a:r>
            <a:r>
              <a:rPr lang="en-US" altLang="zh-CN" sz="2800" i="1" dirty="0">
                <a:latin typeface="Times New Roman" panose="02020503050405090304" pitchFamily="18" charset="0"/>
                <a:sym typeface="Symbol" panose="05050102010706020507" pitchFamily="18" charset="2"/>
              </a:rPr>
              <a:t> </a:t>
            </a:r>
            <a:r>
              <a:rPr lang="en-US" altLang="zh-CN" sz="2800" dirty="0">
                <a:latin typeface="Times New Roman" panose="02020503050405090304" pitchFamily="18" charset="0"/>
                <a:sym typeface="Symbol" panose="05050102010706020507" pitchFamily="18" charset="2"/>
              </a:rPr>
              <a:t></a:t>
            </a:r>
            <a:r>
              <a:rPr lang="en-US" altLang="zh-CN" sz="2800" dirty="0">
                <a:latin typeface="Times New Roman" panose="02020503050405090304" pitchFamily="18" charset="0"/>
              </a:rPr>
              <a:t> </a:t>
            </a:r>
            <a:r>
              <a:rPr lang="en-US" altLang="zh-CN" sz="2800" i="1" dirty="0">
                <a:latin typeface="Times New Roman" panose="02020503050405090304" pitchFamily="18" charset="0"/>
              </a:rPr>
              <a:t>n</a:t>
            </a:r>
            <a:r>
              <a:rPr lang="en-US" altLang="zh-CN" sz="2800" baseline="30000" dirty="0">
                <a:latin typeface="Times New Roman" panose="02020503050405090304" pitchFamily="18" charset="0"/>
              </a:rPr>
              <a:t>2 </a:t>
            </a:r>
            <a:r>
              <a:rPr lang="en-US" altLang="zh-CN" sz="2800" dirty="0">
                <a:latin typeface="Times New Roman" panose="02020503050405090304" pitchFamily="18" charset="0"/>
                <a:sym typeface="Symbol" panose="05050102010706020507" pitchFamily="18" charset="2"/>
              </a:rPr>
              <a:t>mod 2 = 0.  </a:t>
            </a:r>
            <a:endParaRPr lang="en-US" altLang="zh-CN" sz="2800" dirty="0">
              <a:latin typeface="Times New Roman" panose="02020503050405090304" pitchFamily="18" charset="0"/>
              <a:sym typeface="Symbol" panose="05050102010706020507" pitchFamily="18" charset="2"/>
            </a:endParaRPr>
          </a:p>
          <a:p>
            <a:pPr marL="0" indent="0" eaLnBrk="1" hangingPunct="1">
              <a:buNone/>
            </a:pPr>
            <a:r>
              <a:rPr lang="en-US" altLang="zh-CN" sz="2800" dirty="0">
                <a:latin typeface="Times New Roman" panose="02020503050405090304" pitchFamily="18" charset="0"/>
                <a:sym typeface="Symbol" panose="05050102010706020507" pitchFamily="18" charset="2"/>
              </a:rPr>
              <a:t>Of course </a:t>
            </a:r>
            <a:r>
              <a:rPr lang="en-US" altLang="zh-CN" sz="2800" i="1" dirty="0">
                <a:latin typeface="Times New Roman" panose="02020503050405090304" pitchFamily="18" charset="0"/>
                <a:sym typeface="Symbol" panose="05050102010706020507" pitchFamily="18" charset="2"/>
              </a:rPr>
              <a:t>n</a:t>
            </a:r>
            <a:r>
              <a:rPr lang="en-US" altLang="zh-CN" sz="2800" dirty="0">
                <a:latin typeface="Times New Roman" panose="02020503050405090304" pitchFamily="18" charset="0"/>
                <a:sym typeface="Symbol" panose="05050102010706020507" pitchFamily="18" charset="2"/>
              </a:rPr>
              <a:t> mod 2 is either 0 or 1.</a:t>
            </a:r>
            <a:endParaRPr lang="en-US" altLang="zh-CN" sz="2800" dirty="0">
              <a:latin typeface="Times New Roman" panose="02020503050405090304" pitchFamily="18" charset="0"/>
              <a:sym typeface="Symbol" panose="05050102010706020507" pitchFamily="18" charset="2"/>
            </a:endParaRPr>
          </a:p>
          <a:p>
            <a:pPr marL="0" indent="0" eaLnBrk="1" hangingPunct="1">
              <a:buNone/>
            </a:pPr>
            <a:r>
              <a:rPr lang="en-US" altLang="zh-CN" sz="2800" dirty="0">
                <a:latin typeface="Times New Roman" panose="02020503050405090304" pitchFamily="18" charset="0"/>
                <a:sym typeface="Symbol" panose="05050102010706020507" pitchFamily="18" charset="2"/>
              </a:rPr>
              <a:t> If it’s 1, then </a:t>
            </a:r>
            <a:r>
              <a:rPr lang="en-US" altLang="zh-CN" sz="2800" i="1" dirty="0">
                <a:latin typeface="Times New Roman" panose="02020503050405090304" pitchFamily="18" charset="0"/>
                <a:sym typeface="Symbol" panose="05050102010706020507" pitchFamily="18" charset="2"/>
              </a:rPr>
              <a:t>n</a:t>
            </a:r>
            <a:r>
              <a:rPr lang="en-US" altLang="zh-CN" sz="2800" dirty="0">
                <a:latin typeface="Times New Roman" panose="02020503050405090304" pitchFamily="18" charset="0"/>
                <a:sym typeface="Symbol" panose="05050102010706020507" pitchFamily="18" charset="2"/>
              </a:rPr>
              <a:t>1 (mod 2), so </a:t>
            </a:r>
            <a:r>
              <a:rPr lang="en-US" altLang="zh-CN" sz="2800" i="1" dirty="0">
                <a:latin typeface="Times New Roman" panose="02020503050405090304" pitchFamily="18" charset="0"/>
                <a:sym typeface="Symbol" panose="05050102010706020507" pitchFamily="18" charset="2"/>
              </a:rPr>
              <a:t>n</a:t>
            </a:r>
            <a:r>
              <a:rPr lang="en-US" altLang="zh-CN" sz="2800" baseline="30000" dirty="0">
                <a:latin typeface="Times New Roman" panose="02020503050405090304" pitchFamily="18" charset="0"/>
              </a:rPr>
              <a:t>2</a:t>
            </a:r>
            <a:r>
              <a:rPr lang="en-US" altLang="zh-CN" sz="2800" dirty="0">
                <a:latin typeface="Times New Roman" panose="02020503050405090304" pitchFamily="18" charset="0"/>
                <a:sym typeface="Symbol" panose="05050102010706020507" pitchFamily="18" charset="2"/>
              </a:rPr>
              <a:t>1 (mod 2), </a:t>
            </a:r>
            <a:r>
              <a:rPr lang="en-US" altLang="zh-CN" sz="2800" dirty="0">
                <a:solidFill>
                  <a:srgbClr val="FF0000"/>
                </a:solidFill>
                <a:latin typeface="Times New Roman" panose="02020503050405090304" pitchFamily="18" charset="0"/>
                <a:sym typeface="Symbol" panose="05050102010706020507" pitchFamily="18" charset="2"/>
              </a:rPr>
              <a:t>using the theorem that if </a:t>
            </a:r>
            <a:r>
              <a:rPr lang="en-US" altLang="zh-CN" sz="2800" i="1" dirty="0">
                <a:solidFill>
                  <a:srgbClr val="FF0000"/>
                </a:solidFill>
                <a:latin typeface="Times New Roman" panose="02020503050405090304" pitchFamily="18" charset="0"/>
                <a:sym typeface="Symbol" panose="05050102010706020507" pitchFamily="18" charset="2"/>
              </a:rPr>
              <a:t>a</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b </a:t>
            </a:r>
            <a:r>
              <a:rPr lang="en-US" altLang="zh-CN" sz="2800" dirty="0">
                <a:solidFill>
                  <a:srgbClr val="FF0000"/>
                </a:solidFill>
                <a:latin typeface="Times New Roman" panose="02020503050405090304" pitchFamily="18" charset="0"/>
                <a:sym typeface="Symbol" panose="05050102010706020507" pitchFamily="18" charset="2"/>
              </a:rPr>
              <a:t>(mod</a:t>
            </a:r>
            <a:r>
              <a:rPr lang="en-US" altLang="zh-CN" sz="2800" i="1" dirty="0">
                <a:solidFill>
                  <a:srgbClr val="FF0000"/>
                </a:solidFill>
                <a:latin typeface="Times New Roman" panose="02020503050405090304" pitchFamily="18" charset="0"/>
                <a:sym typeface="Symbol" panose="05050102010706020507" pitchFamily="18" charset="2"/>
              </a:rPr>
              <a:t> m</a:t>
            </a:r>
            <a:r>
              <a:rPr lang="en-US" altLang="zh-CN" sz="2800" dirty="0">
                <a:solidFill>
                  <a:srgbClr val="FF0000"/>
                </a:solidFill>
                <a:latin typeface="Times New Roman" panose="02020503050405090304" pitchFamily="18" charset="0"/>
                <a:sym typeface="Symbol" panose="05050102010706020507" pitchFamily="18" charset="2"/>
              </a:rPr>
              <a:t>) and</a:t>
            </a:r>
            <a:r>
              <a:rPr lang="en-US" altLang="zh-CN" sz="2800" i="1" dirty="0">
                <a:solidFill>
                  <a:srgbClr val="FF0000"/>
                </a:solidFill>
                <a:latin typeface="Times New Roman" panose="02020503050405090304" pitchFamily="18" charset="0"/>
                <a:sym typeface="Symbol" panose="05050102010706020507" pitchFamily="18" charset="2"/>
              </a:rPr>
              <a:t> c</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d </a:t>
            </a:r>
            <a:r>
              <a:rPr lang="en-US" altLang="zh-CN" sz="2800" dirty="0">
                <a:solidFill>
                  <a:srgbClr val="FF0000"/>
                </a:solidFill>
                <a:latin typeface="Times New Roman" panose="02020503050405090304" pitchFamily="18" charset="0"/>
                <a:sym typeface="Symbol" panose="05050102010706020507" pitchFamily="18" charset="2"/>
              </a:rPr>
              <a:t>(mod</a:t>
            </a:r>
            <a:r>
              <a:rPr lang="en-US" altLang="zh-CN" sz="2800" i="1" dirty="0">
                <a:solidFill>
                  <a:srgbClr val="FF0000"/>
                </a:solidFill>
                <a:latin typeface="Times New Roman" panose="02020503050405090304" pitchFamily="18" charset="0"/>
                <a:sym typeface="Symbol" panose="05050102010706020507" pitchFamily="18" charset="2"/>
              </a:rPr>
              <a:t> m</a:t>
            </a:r>
            <a:r>
              <a:rPr lang="en-US" altLang="zh-CN" sz="2800" dirty="0">
                <a:solidFill>
                  <a:srgbClr val="FF0000"/>
                </a:solidFill>
                <a:latin typeface="Times New Roman" panose="02020503050405090304" pitchFamily="18" charset="0"/>
                <a:sym typeface="Symbol" panose="05050102010706020507" pitchFamily="18" charset="2"/>
              </a:rPr>
              <a:t>) then</a:t>
            </a:r>
            <a:r>
              <a:rPr lang="en-US" altLang="zh-CN" sz="2800" i="1" dirty="0">
                <a:solidFill>
                  <a:srgbClr val="FF0000"/>
                </a:solidFill>
                <a:latin typeface="Times New Roman" panose="02020503050405090304" pitchFamily="18" charset="0"/>
                <a:sym typeface="Symbol" panose="05050102010706020507" pitchFamily="18" charset="2"/>
              </a:rPr>
              <a:t> ac</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bd </a:t>
            </a:r>
            <a:r>
              <a:rPr lang="en-US" altLang="zh-CN" sz="2800" dirty="0">
                <a:solidFill>
                  <a:srgbClr val="FF0000"/>
                </a:solidFill>
                <a:latin typeface="Times New Roman" panose="02020503050405090304" pitchFamily="18" charset="0"/>
                <a:sym typeface="Symbol" panose="05050102010706020507" pitchFamily="18" charset="2"/>
              </a:rPr>
              <a:t>(mod m), with </a:t>
            </a:r>
            <a:r>
              <a:rPr lang="en-US" altLang="zh-CN" sz="2800" i="1" dirty="0">
                <a:solidFill>
                  <a:srgbClr val="FF0000"/>
                </a:solidFill>
                <a:latin typeface="Times New Roman" panose="02020503050405090304" pitchFamily="18" charset="0"/>
                <a:sym typeface="Symbol" panose="05050102010706020507" pitchFamily="18" charset="2"/>
              </a:rPr>
              <a:t>a</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c</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n </a:t>
            </a:r>
            <a:r>
              <a:rPr lang="en-US" altLang="zh-CN" sz="2800" dirty="0">
                <a:solidFill>
                  <a:srgbClr val="FF0000"/>
                </a:solidFill>
                <a:latin typeface="Times New Roman" panose="02020503050405090304" pitchFamily="18" charset="0"/>
                <a:sym typeface="Symbol" panose="05050102010706020507" pitchFamily="18" charset="2"/>
              </a:rPr>
              <a:t>and </a:t>
            </a:r>
            <a:r>
              <a:rPr lang="en-US" altLang="zh-CN" sz="2800" i="1" dirty="0">
                <a:solidFill>
                  <a:srgbClr val="FF0000"/>
                </a:solidFill>
                <a:latin typeface="Times New Roman" panose="02020503050405090304" pitchFamily="18" charset="0"/>
                <a:sym typeface="Symbol" panose="05050102010706020507" pitchFamily="18" charset="2"/>
              </a:rPr>
              <a:t>b</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d</a:t>
            </a:r>
            <a:r>
              <a:rPr lang="en-US" altLang="zh-CN" sz="2800" dirty="0">
                <a:solidFill>
                  <a:srgbClr val="FF0000"/>
                </a:solidFill>
                <a:latin typeface="Times New Roman" panose="02020503050405090304" pitchFamily="18" charset="0"/>
                <a:sym typeface="Symbol" panose="05050102010706020507" pitchFamily="18" charset="2"/>
              </a:rPr>
              <a:t>=1.</a:t>
            </a:r>
            <a:r>
              <a:rPr lang="en-US" altLang="zh-CN" sz="2800" dirty="0">
                <a:latin typeface="Times New Roman" panose="02020503050405090304" pitchFamily="18" charset="0"/>
                <a:sym typeface="Symbol" panose="05050102010706020507" pitchFamily="18" charset="2"/>
              </a:rPr>
              <a:t>  </a:t>
            </a:r>
            <a:endParaRPr lang="en-US" altLang="zh-CN" sz="2800" dirty="0">
              <a:latin typeface="Times New Roman" panose="02020503050405090304" pitchFamily="18" charset="0"/>
              <a:sym typeface="Symbol" panose="05050102010706020507" pitchFamily="18" charset="2"/>
            </a:endParaRPr>
          </a:p>
          <a:p>
            <a:pPr marL="0" indent="0" eaLnBrk="1" hangingPunct="1">
              <a:buNone/>
            </a:pPr>
            <a:r>
              <a:rPr lang="en-US" altLang="zh-CN" sz="2800" dirty="0">
                <a:latin typeface="Times New Roman" panose="02020503050405090304" pitchFamily="18" charset="0"/>
                <a:sym typeface="Symbol" panose="05050102010706020507" pitchFamily="18" charset="2"/>
              </a:rPr>
              <a:t>Now </a:t>
            </a:r>
            <a:r>
              <a:rPr lang="en-US" altLang="zh-CN" sz="2800" i="1" dirty="0">
                <a:latin typeface="Times New Roman" panose="02020503050405090304" pitchFamily="18" charset="0"/>
                <a:sym typeface="Symbol" panose="05050102010706020507" pitchFamily="18" charset="2"/>
              </a:rPr>
              <a:t>n</a:t>
            </a:r>
            <a:r>
              <a:rPr lang="en-US" altLang="zh-CN" sz="2800" baseline="30000" dirty="0">
                <a:latin typeface="Times New Roman" panose="02020503050405090304" pitchFamily="18" charset="0"/>
              </a:rPr>
              <a:t>2</a:t>
            </a:r>
            <a:r>
              <a:rPr lang="en-US" altLang="zh-CN" sz="2800" dirty="0">
                <a:latin typeface="Times New Roman" panose="02020503050405090304" pitchFamily="18" charset="0"/>
                <a:sym typeface="Symbol" panose="05050102010706020507" pitchFamily="18" charset="2"/>
              </a:rPr>
              <a:t>1 (mod 2) implies that </a:t>
            </a:r>
            <a:r>
              <a:rPr lang="en-US" altLang="zh-CN" sz="2800" i="1" dirty="0">
                <a:latin typeface="Times New Roman" panose="02020503050405090304" pitchFamily="18" charset="0"/>
                <a:sym typeface="Symbol" panose="05050102010706020507" pitchFamily="18" charset="2"/>
              </a:rPr>
              <a:t>n</a:t>
            </a:r>
            <a:r>
              <a:rPr lang="en-US" altLang="zh-CN" sz="2800" baseline="30000" dirty="0">
                <a:latin typeface="Times New Roman" panose="02020503050405090304" pitchFamily="18" charset="0"/>
              </a:rPr>
              <a:t>2</a:t>
            </a:r>
            <a:r>
              <a:rPr lang="en-US" altLang="zh-CN" sz="2800" dirty="0">
                <a:latin typeface="Times New Roman" panose="02020503050405090304" pitchFamily="18" charset="0"/>
                <a:sym typeface="Symbol" panose="05050102010706020507" pitchFamily="18" charset="2"/>
              </a:rPr>
              <a:t> mod 2 = 1.  </a:t>
            </a:r>
            <a:endParaRPr lang="en-US" altLang="zh-CN" sz="2800" dirty="0">
              <a:latin typeface="Times New Roman" panose="02020503050405090304" pitchFamily="18" charset="0"/>
              <a:sym typeface="Symbol" panose="05050102010706020507" pitchFamily="18" charset="2"/>
            </a:endParaRPr>
          </a:p>
          <a:p>
            <a:pPr marL="0" indent="0" eaLnBrk="1" hangingPunct="1">
              <a:buNone/>
            </a:pPr>
            <a:r>
              <a:rPr lang="en-US" altLang="zh-CN" sz="2800" dirty="0">
                <a:latin typeface="Times New Roman" panose="02020503050405090304" pitchFamily="18" charset="0"/>
                <a:sym typeface="Symbol" panose="05050102010706020507" pitchFamily="18" charset="2"/>
              </a:rPr>
              <a:t>So </a:t>
            </a:r>
            <a:r>
              <a:rPr lang="en-US" altLang="zh-CN" sz="2800" dirty="0">
                <a:solidFill>
                  <a:srgbClr val="FF0000"/>
                </a:solidFill>
                <a:latin typeface="Times New Roman" panose="02020503050405090304" pitchFamily="18" charset="0"/>
                <a:sym typeface="Symbol" panose="05050102010706020507" pitchFamily="18" charset="2"/>
              </a:rPr>
              <a:t>by the hypothetical syllogism rule</a:t>
            </a:r>
            <a:r>
              <a:rPr lang="en-US" altLang="zh-CN" sz="2800" dirty="0">
                <a:latin typeface="Times New Roman" panose="02020503050405090304" pitchFamily="18" charset="0"/>
                <a:sym typeface="Symbol" panose="05050102010706020507" pitchFamily="18" charset="2"/>
              </a:rPr>
              <a:t>, (</a:t>
            </a:r>
            <a:r>
              <a:rPr lang="en-US" altLang="zh-CN" sz="2800" i="1" dirty="0">
                <a:latin typeface="Times New Roman" panose="02020503050405090304" pitchFamily="18" charset="0"/>
                <a:sym typeface="Symbol" panose="05050102010706020507" pitchFamily="18" charset="2"/>
              </a:rPr>
              <a:t>n </a:t>
            </a:r>
            <a:r>
              <a:rPr lang="en-US" altLang="zh-CN" sz="2800" dirty="0">
                <a:latin typeface="Times New Roman" panose="02020503050405090304" pitchFamily="18" charset="0"/>
                <a:sym typeface="Symbol" panose="05050102010706020507" pitchFamily="18" charset="2"/>
              </a:rPr>
              <a:t>mod 2 = 1) implies (</a:t>
            </a:r>
            <a:r>
              <a:rPr lang="en-US" altLang="zh-CN" sz="2800" i="1" dirty="0">
                <a:latin typeface="Times New Roman" panose="02020503050405090304" pitchFamily="18" charset="0"/>
                <a:sym typeface="Symbol" panose="05050102010706020507" pitchFamily="18" charset="2"/>
              </a:rPr>
              <a:t>n</a:t>
            </a:r>
            <a:r>
              <a:rPr lang="en-US" altLang="zh-CN" sz="2800" baseline="30000" dirty="0">
                <a:latin typeface="Times New Roman" panose="02020503050405090304" pitchFamily="18" charset="0"/>
              </a:rPr>
              <a:t>2</a:t>
            </a:r>
            <a:r>
              <a:rPr lang="en-US" altLang="zh-CN" sz="2800" dirty="0">
                <a:latin typeface="Times New Roman" panose="02020503050405090304" pitchFamily="18" charset="0"/>
                <a:sym typeface="Symbol" panose="05050102010706020507" pitchFamily="18" charset="2"/>
              </a:rPr>
              <a:t> mod 2 = 1).  Since we know </a:t>
            </a:r>
            <a:r>
              <a:rPr lang="en-US" altLang="zh-CN" sz="2800" i="1" dirty="0">
                <a:latin typeface="Times New Roman" panose="02020503050405090304" pitchFamily="18" charset="0"/>
                <a:sym typeface="Symbol" panose="05050102010706020507" pitchFamily="18" charset="2"/>
              </a:rPr>
              <a:t>n</a:t>
            </a:r>
            <a:r>
              <a:rPr lang="en-US" altLang="zh-CN" sz="2800" baseline="30000" dirty="0">
                <a:latin typeface="Times New Roman" panose="02020503050405090304" pitchFamily="18" charset="0"/>
              </a:rPr>
              <a:t>2</a:t>
            </a:r>
            <a:r>
              <a:rPr lang="en-US" altLang="zh-CN" sz="2800" dirty="0">
                <a:latin typeface="Times New Roman" panose="02020503050405090304" pitchFamily="18" charset="0"/>
                <a:sym typeface="Symbol" panose="05050102010706020507" pitchFamily="18" charset="2"/>
              </a:rPr>
              <a:t> mod 2 = 0  1, </a:t>
            </a:r>
            <a:r>
              <a:rPr lang="en-US" altLang="zh-CN" sz="2800" dirty="0">
                <a:solidFill>
                  <a:srgbClr val="FF0000"/>
                </a:solidFill>
                <a:latin typeface="Times New Roman" panose="02020503050405090304" pitchFamily="18" charset="0"/>
                <a:sym typeface="Symbol" panose="05050102010706020507" pitchFamily="18" charset="2"/>
              </a:rPr>
              <a:t>by </a:t>
            </a:r>
            <a:r>
              <a:rPr lang="en-US" altLang="zh-CN" sz="2800" i="1" dirty="0">
                <a:solidFill>
                  <a:srgbClr val="FF0000"/>
                </a:solidFill>
                <a:latin typeface="Times New Roman" panose="02020503050405090304" pitchFamily="18" charset="0"/>
                <a:sym typeface="Symbol" panose="05050102010706020507" pitchFamily="18" charset="2"/>
              </a:rPr>
              <a:t>modus tollens</a:t>
            </a:r>
            <a:r>
              <a:rPr lang="en-US" altLang="zh-CN" sz="2800" dirty="0">
                <a:latin typeface="Times New Roman" panose="02020503050405090304" pitchFamily="18" charset="0"/>
                <a:sym typeface="Symbol" panose="05050102010706020507" pitchFamily="18" charset="2"/>
              </a:rPr>
              <a:t> we know that </a:t>
            </a:r>
            <a:r>
              <a:rPr lang="en-US" altLang="zh-CN" sz="2800" i="1" dirty="0">
                <a:latin typeface="Times New Roman" panose="02020503050405090304" pitchFamily="18" charset="0"/>
                <a:sym typeface="Symbol" panose="05050102010706020507" pitchFamily="18" charset="2"/>
              </a:rPr>
              <a:t>n</a:t>
            </a:r>
            <a:r>
              <a:rPr lang="en-US" altLang="zh-CN" sz="2800" dirty="0">
                <a:latin typeface="Times New Roman" panose="02020503050405090304" pitchFamily="18" charset="0"/>
                <a:sym typeface="Symbol" panose="05050102010706020507" pitchFamily="18" charset="2"/>
              </a:rPr>
              <a:t> mod 2  1.  So </a:t>
            </a:r>
            <a:r>
              <a:rPr lang="en-US" altLang="zh-CN" sz="2800" dirty="0">
                <a:solidFill>
                  <a:srgbClr val="FF0000"/>
                </a:solidFill>
                <a:latin typeface="Times New Roman" panose="02020503050405090304" pitchFamily="18" charset="0"/>
                <a:sym typeface="Symbol" panose="05050102010706020507" pitchFamily="18" charset="2"/>
              </a:rPr>
              <a:t>by disjunctive syllogism</a:t>
            </a:r>
            <a:r>
              <a:rPr lang="en-US" altLang="zh-CN" sz="2800" dirty="0">
                <a:latin typeface="Times New Roman" panose="02020503050405090304" pitchFamily="18" charset="0"/>
                <a:sym typeface="Symbol" panose="05050102010706020507" pitchFamily="18" charset="2"/>
              </a:rPr>
              <a:t> we have that </a:t>
            </a:r>
            <a:r>
              <a:rPr lang="en-US" altLang="zh-CN" sz="2800" i="1" dirty="0">
                <a:latin typeface="Times New Roman" panose="02020503050405090304" pitchFamily="18" charset="0"/>
                <a:sym typeface="Symbol" panose="05050102010706020507" pitchFamily="18" charset="2"/>
              </a:rPr>
              <a:t>n</a:t>
            </a:r>
            <a:r>
              <a:rPr lang="en-US" altLang="zh-CN" sz="2800" dirty="0">
                <a:latin typeface="Times New Roman" panose="02020503050405090304" pitchFamily="18" charset="0"/>
                <a:sym typeface="Symbol" panose="05050102010706020507" pitchFamily="18" charset="2"/>
              </a:rPr>
              <a:t> mod 2 = 0 2|</a:t>
            </a:r>
            <a:r>
              <a:rPr lang="en-US" altLang="zh-CN" sz="2800" i="1" dirty="0">
                <a:latin typeface="Times New Roman" panose="02020503050405090304" pitchFamily="18" charset="0"/>
                <a:sym typeface="Symbol" panose="05050102010706020507" pitchFamily="18" charset="2"/>
              </a:rPr>
              <a:t>n </a:t>
            </a:r>
            <a:r>
              <a:rPr lang="en-US" altLang="zh-CN" sz="2800" dirty="0">
                <a:latin typeface="Times New Roman" panose="02020503050405090304" pitchFamily="18" charset="0"/>
                <a:sym typeface="Symbol" panose="05050102010706020507" pitchFamily="18" charset="2"/>
              </a:rPr>
              <a:t> </a:t>
            </a:r>
            <a:r>
              <a:rPr lang="en-US" altLang="zh-CN" sz="2800" i="1" dirty="0">
                <a:latin typeface="Times New Roman" panose="02020503050405090304" pitchFamily="18" charset="0"/>
                <a:sym typeface="Symbol" panose="05050102010706020507" pitchFamily="18" charset="2"/>
              </a:rPr>
              <a:t>n</a:t>
            </a:r>
            <a:r>
              <a:rPr lang="en-US" altLang="zh-CN" sz="2800" dirty="0">
                <a:latin typeface="Times New Roman" panose="02020503050405090304" pitchFamily="18" charset="0"/>
                <a:sym typeface="Symbol" panose="05050102010706020507" pitchFamily="18" charset="2"/>
              </a:rPr>
              <a:t> is even.</a:t>
            </a:r>
            <a:endParaRPr lang="en-US" altLang="zh-CN" sz="2800" dirty="0">
              <a:latin typeface="Times New Roman" panose="02020503050405090304" pitchFamily="18" charset="0"/>
              <a:sym typeface="Symbol" panose="05050102010706020507" pitchFamily="18" charset="2"/>
            </a:endParaRPr>
          </a:p>
        </p:txBody>
      </p:sp>
      <p:sp>
        <p:nvSpPr>
          <p:cNvPr id="63495" name="Text Box 4"/>
          <p:cNvSpPr txBox="1"/>
          <p:nvPr/>
        </p:nvSpPr>
        <p:spPr>
          <a:xfrm>
            <a:off x="1619568" y="1268730"/>
            <a:ext cx="6319837" cy="485775"/>
          </a:xfrm>
          <a:prstGeom prst="rect">
            <a:avLst/>
          </a:prstGeom>
          <a:solidFill>
            <a:srgbClr val="FFFFCC"/>
          </a:solidFill>
          <a:ln w="28575" cap="flat" cmpd="sng">
            <a:solidFill>
              <a:srgbClr val="006600"/>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ctr">
              <a:spcBef>
                <a:spcPct val="0"/>
              </a:spcBef>
              <a:buClrTx/>
              <a:buSzTx/>
              <a:buFontTx/>
              <a:buNone/>
            </a:pPr>
            <a:r>
              <a:rPr lang="en-US" altLang="zh-CN" sz="2400" dirty="0">
                <a:latin typeface="Times New Roman" panose="02020503050405090304" pitchFamily="18" charset="0"/>
              </a:rPr>
              <a:t>Uses some number theory we haven’t defined yet.</a:t>
            </a:r>
            <a:endParaRPr lang="en-US" altLang="zh-CN" sz="2400" dirty="0">
              <a:latin typeface="Times New Roman" panose="0202050305040509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553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554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65541" name="Rectangle 2"/>
          <p:cNvSpPr>
            <a:spLocks noGrp="1"/>
          </p:cNvSpPr>
          <p:nvPr>
            <p:ph type="title"/>
          </p:nvPr>
        </p:nvSpPr>
        <p:spPr/>
        <p:txBody>
          <a:bodyPr vert="horz" wrap="square" lIns="91440" tIns="45720" rIns="91440" bIns="45720" anchor="b" anchorCtr="0"/>
          <a:p>
            <a:pPr eaLnBrk="1" hangingPunct="1"/>
            <a:r>
              <a:rPr lang="en-US" altLang="zh-CN" i="1" dirty="0">
                <a:latin typeface="Times New Roman" panose="02020503050405090304" pitchFamily="18" charset="0"/>
              </a:rPr>
              <a:t>Dear students</a:t>
            </a:r>
            <a:endParaRPr lang="zh-CN" altLang="en-US" dirty="0">
              <a:latin typeface="Times New Roman" panose="02020503050405090304" pitchFamily="18" charset="0"/>
            </a:endParaRPr>
          </a:p>
        </p:txBody>
      </p:sp>
      <p:sp>
        <p:nvSpPr>
          <p:cNvPr id="65542" name="Rectangle 3"/>
          <p:cNvSpPr>
            <a:spLocks noGrp="1"/>
          </p:cNvSpPr>
          <p:nvPr>
            <p:ph idx="1"/>
          </p:nvPr>
        </p:nvSpPr>
        <p:spPr/>
        <p:txBody>
          <a:bodyPr vert="horz" wrap="square" lIns="91440" tIns="45720" rIns="91440" bIns="45720" anchor="t" anchorCtr="0"/>
          <a:p>
            <a:pPr eaLnBrk="1" hangingPunct="1"/>
            <a:r>
              <a:rPr lang="en-US" altLang="zh-CN" i="1" dirty="0">
                <a:solidFill>
                  <a:srgbClr val="FF0000"/>
                </a:solidFill>
                <a:latin typeface="Times New Roman" panose="02020503050405090304" pitchFamily="18" charset="0"/>
              </a:rPr>
              <a:t>Learning how to construct proofs is probably one of the most difficult things you will face in life. Few of us are gifted enough to do it with ease. One only learns how to do it by practicing.</a:t>
            </a:r>
            <a:endParaRPr lang="en-US" altLang="zh-CN" i="1" dirty="0">
              <a:solidFill>
                <a:srgbClr val="FF0000"/>
              </a:solidFill>
              <a:latin typeface="Times New Roman" panose="0202050305040509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656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656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66565" name="Rectangle 2"/>
          <p:cNvSpPr>
            <a:spLocks noGrp="1"/>
          </p:cNvSpPr>
          <p:nvPr>
            <p:ph type="title"/>
          </p:nvPr>
        </p:nvSpPr>
        <p:spPr>
          <a:xfrm>
            <a:off x="1136650" y="258445"/>
            <a:ext cx="7941945" cy="928370"/>
          </a:xfrm>
        </p:spPr>
        <p:txBody>
          <a:bodyPr vert="horz" wrap="square" lIns="91440" tIns="45720" rIns="91440" bIns="45720" anchor="b" anchorCtr="0"/>
          <a:p>
            <a:pPr eaLnBrk="1" hangingPunct="1"/>
            <a:r>
              <a:rPr lang="en-US" altLang="zh-CN" dirty="0"/>
              <a:t>Proof strategy Overview</a:t>
            </a:r>
            <a:endParaRPr lang="en-US" altLang="zh-CN" dirty="0"/>
          </a:p>
        </p:txBody>
      </p:sp>
      <p:sp>
        <p:nvSpPr>
          <p:cNvPr id="66566" name="Rectangle 3"/>
          <p:cNvSpPr>
            <a:spLocks noGrp="1"/>
          </p:cNvSpPr>
          <p:nvPr>
            <p:ph idx="1"/>
          </p:nvPr>
        </p:nvSpPr>
        <p:spPr/>
        <p:txBody>
          <a:bodyPr vert="horz" wrap="square" lIns="91440" tIns="45720" rIns="91440" bIns="45720" anchor="t" anchorCtr="0"/>
          <a:p>
            <a:pPr eaLnBrk="1" hangingPunct="1">
              <a:lnSpc>
                <a:spcPct val="80000"/>
              </a:lnSpc>
            </a:pPr>
            <a:r>
              <a:rPr lang="en-US" altLang="zh-CN" dirty="0">
                <a:latin typeface="Times New Roman" panose="02020503050405090304" pitchFamily="18" charset="0"/>
              </a:rPr>
              <a:t>we already saw:</a:t>
            </a:r>
            <a:endParaRPr lang="en-US" altLang="zh-CN" dirty="0">
              <a:latin typeface="Times New Roman" panose="02020503050405090304" pitchFamily="18" charset="0"/>
            </a:endParaRPr>
          </a:p>
          <a:p>
            <a:pPr lvl="1" eaLnBrk="1" hangingPunct="1">
              <a:lnSpc>
                <a:spcPct val="80000"/>
              </a:lnSpc>
            </a:pPr>
            <a:r>
              <a:rPr lang="en-US" altLang="zh-CN" dirty="0">
                <a:latin typeface="Times New Roman" panose="02020503050405090304" pitchFamily="18" charset="0"/>
              </a:rPr>
              <a:t>Several types of proofs of implications </a:t>
            </a:r>
            <a:r>
              <a:rPr lang="en-US" altLang="zh-CN" i="1" dirty="0">
                <a:latin typeface="Times New Roman" panose="02020503050405090304" pitchFamily="18" charset="0"/>
              </a:rPr>
              <a:t>p</a:t>
            </a:r>
            <a:r>
              <a:rPr lang="en-US" altLang="zh-CN" dirty="0">
                <a:latin typeface="Times New Roman" panose="02020503050405090304" pitchFamily="18" charset="0"/>
              </a:rPr>
              <a:t>→</a:t>
            </a:r>
            <a:r>
              <a:rPr lang="en-US" altLang="zh-CN" i="1" dirty="0">
                <a:latin typeface="Times New Roman" panose="02020503050405090304" pitchFamily="18" charset="0"/>
              </a:rPr>
              <a:t>q</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lvl="2" eaLnBrk="1" hangingPunct="1">
              <a:lnSpc>
                <a:spcPct val="80000"/>
              </a:lnSpc>
            </a:pPr>
            <a:r>
              <a:rPr lang="en-US" altLang="zh-CN" dirty="0">
                <a:latin typeface="Times New Roman" panose="02020503050405090304" pitchFamily="18" charset="0"/>
              </a:rPr>
              <a:t>Vacuous, Trivial, Direct, Indirect</a:t>
            </a:r>
            <a:r>
              <a:rPr lang="zh-CN" altLang="en-US" dirty="0">
                <a:latin typeface="Times New Roman" panose="02020503050405090304" pitchFamily="18" charset="0"/>
              </a:rPr>
              <a:t>，</a:t>
            </a:r>
            <a:r>
              <a:rPr lang="en-US" altLang="zh-CN" dirty="0">
                <a:latin typeface="Times New Roman" panose="02020503050405090304" pitchFamily="18" charset="0"/>
              </a:rPr>
              <a:t>Proof by cases</a:t>
            </a:r>
            <a:endParaRPr lang="en-US" altLang="zh-CN" dirty="0">
              <a:latin typeface="Times New Roman" panose="02020503050405090304" pitchFamily="18" charset="0"/>
            </a:endParaRPr>
          </a:p>
          <a:p>
            <a:pPr lvl="2" eaLnBrk="1" hangingPunct="1">
              <a:lnSpc>
                <a:spcPct val="80000"/>
              </a:lnSpc>
            </a:pPr>
            <a:r>
              <a:rPr lang="en-US" altLang="zh-CN" sz="2800" dirty="0">
                <a:latin typeface="Times New Roman" panose="02020503050405090304" pitchFamily="18" charset="0"/>
              </a:rPr>
              <a:t>Types of existence proofs:</a:t>
            </a:r>
            <a:endParaRPr lang="en-US" altLang="zh-CN" sz="2800" dirty="0">
              <a:latin typeface="Times New Roman" panose="02020503050405090304" pitchFamily="18" charset="0"/>
            </a:endParaRPr>
          </a:p>
          <a:p>
            <a:pPr lvl="2" eaLnBrk="1" hangingPunct="1">
              <a:lnSpc>
                <a:spcPct val="80000"/>
              </a:lnSpc>
            </a:pPr>
            <a:r>
              <a:rPr lang="en-US" altLang="zh-CN" dirty="0">
                <a:latin typeface="Times New Roman" panose="02020503050405090304" pitchFamily="18" charset="0"/>
              </a:rPr>
              <a:t>Constructive vs. Nonconstructive.</a:t>
            </a:r>
            <a:endParaRPr lang="en-US" altLang="zh-CN" dirty="0">
              <a:latin typeface="Times New Roman" panose="02020503050405090304" pitchFamily="18" charset="0"/>
            </a:endParaRPr>
          </a:p>
          <a:p>
            <a:pPr lvl="1" eaLnBrk="1" hangingPunct="1">
              <a:lnSpc>
                <a:spcPct val="80000"/>
              </a:lnSpc>
            </a:pPr>
            <a:r>
              <a:rPr lang="en-US" altLang="zh-CN" dirty="0">
                <a:latin typeface="Times New Roman" panose="02020503050405090304" pitchFamily="18" charset="0"/>
              </a:rPr>
              <a:t>Some methods of proving general statements </a:t>
            </a:r>
            <a:r>
              <a:rPr lang="en-US" altLang="zh-CN" i="1" dirty="0">
                <a:latin typeface="Times New Roman" panose="02020503050405090304" pitchFamily="18" charset="0"/>
              </a:rPr>
              <a:t>p</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lvl="2" eaLnBrk="1" hangingPunct="1">
              <a:lnSpc>
                <a:spcPct val="80000"/>
              </a:lnSpc>
            </a:pPr>
            <a:r>
              <a:rPr lang="en-US" altLang="zh-CN" dirty="0">
                <a:latin typeface="Times New Roman" panose="02020503050405090304" pitchFamily="18" charset="0"/>
              </a:rPr>
              <a:t>proof by contradiction.</a:t>
            </a:r>
            <a:endParaRPr lang="en-US" altLang="zh-CN" dirty="0">
              <a:latin typeface="Times New Roman" panose="02020503050405090304" pitchFamily="18" charset="0"/>
            </a:endParaRPr>
          </a:p>
          <a:p>
            <a:pPr eaLnBrk="1" hangingPunct="1">
              <a:lnSpc>
                <a:spcPct val="80000"/>
              </a:lnSpc>
            </a:pPr>
            <a:r>
              <a:rPr lang="en-US" altLang="zh-CN" dirty="0">
                <a:latin typeface="Times New Roman" panose="02020503050405090304" pitchFamily="18" charset="0"/>
              </a:rPr>
              <a:t>In this section, we will see examples of:</a:t>
            </a:r>
            <a:endParaRPr lang="en-US" altLang="zh-CN" dirty="0">
              <a:latin typeface="Times New Roman" panose="02020503050405090304" pitchFamily="18" charset="0"/>
            </a:endParaRPr>
          </a:p>
          <a:p>
            <a:pPr lvl="1" eaLnBrk="1" hangingPunct="1">
              <a:lnSpc>
                <a:spcPct val="80000"/>
              </a:lnSpc>
            </a:pPr>
            <a:r>
              <a:rPr lang="en-US" altLang="zh-CN" dirty="0">
                <a:latin typeface="Times New Roman" panose="02020503050405090304" pitchFamily="18" charset="0"/>
              </a:rPr>
              <a:t>Forward vs. backward reasoning.</a:t>
            </a:r>
            <a:endParaRPr lang="en-US" altLang="zh-CN" dirty="0">
              <a:latin typeface="Times New Roman" panose="02020503050405090304" pitchFamily="18" charset="0"/>
            </a:endParaRPr>
          </a:p>
          <a:p>
            <a:pPr lvl="1" eaLnBrk="1" hangingPunct="1">
              <a:lnSpc>
                <a:spcPct val="80000"/>
              </a:lnSpc>
            </a:pPr>
            <a:r>
              <a:rPr lang="en-US" altLang="zh-CN" dirty="0">
                <a:latin typeface="Times New Roman" panose="02020503050405090304" pitchFamily="18" charset="0"/>
              </a:rPr>
              <a:t>Adapting existing proofs.</a:t>
            </a:r>
            <a:endParaRPr lang="en-US" altLang="zh-CN" dirty="0">
              <a:latin typeface="Times New Roman" panose="02020503050405090304" pitchFamily="18" charset="0"/>
            </a:endParaRPr>
          </a:p>
          <a:p>
            <a:pPr lvl="1" eaLnBrk="1" hangingPunct="1">
              <a:lnSpc>
                <a:spcPct val="80000"/>
              </a:lnSpc>
            </a:pPr>
            <a:r>
              <a:rPr lang="en-US" altLang="zh-CN" dirty="0">
                <a:latin typeface="Times New Roman" panose="02020503050405090304" pitchFamily="18" charset="0"/>
              </a:rPr>
              <a:t>Turning conjectures into proofs.</a:t>
            </a:r>
            <a:endParaRPr lang="en-US" altLang="zh-CN" dirty="0">
              <a:latin typeface="Times New Roman" panose="0202050305040509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758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758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67589" name="Rectangle 2"/>
          <p:cNvSpPr>
            <a:spLocks noGrp="1"/>
          </p:cNvSpPr>
          <p:nvPr>
            <p:ph type="title"/>
          </p:nvPr>
        </p:nvSpPr>
        <p:spPr/>
        <p:txBody>
          <a:bodyPr vert="horz" wrap="square" lIns="91440" tIns="45720" rIns="91440" bIns="45720" anchor="b" anchorCtr="0"/>
          <a:p>
            <a:pPr eaLnBrk="1" hangingPunct="1"/>
            <a:r>
              <a:rPr lang="en-US" altLang="zh-CN" dirty="0"/>
              <a:t>Forward Reasoning</a:t>
            </a:r>
            <a:endParaRPr lang="en-US" altLang="zh-CN" dirty="0"/>
          </a:p>
        </p:txBody>
      </p:sp>
      <p:sp>
        <p:nvSpPr>
          <p:cNvPr id="67590" name="Rectangle 3"/>
          <p:cNvSpPr>
            <a:spLocks noGrp="1"/>
          </p:cNvSpPr>
          <p:nvPr>
            <p:ph idx="1"/>
          </p:nvPr>
        </p:nvSpPr>
        <p:spPr>
          <a:xfrm>
            <a:off x="971233" y="1484630"/>
            <a:ext cx="7772400" cy="4114800"/>
          </a:xfrm>
        </p:spPr>
        <p:txBody>
          <a:bodyPr vert="horz" wrap="square" lIns="91440" tIns="45720" rIns="91440" bIns="45720" anchor="t" anchorCtr="0"/>
          <a:p>
            <a:pPr eaLnBrk="1" hangingPunct="1">
              <a:lnSpc>
                <a:spcPct val="90000"/>
              </a:lnSpc>
            </a:pPr>
            <a:r>
              <a:rPr lang="en-US" altLang="zh-CN" dirty="0">
                <a:latin typeface="Times New Roman" panose="02020503050405090304" pitchFamily="18" charset="0"/>
              </a:rPr>
              <a:t>Have premises </a:t>
            </a:r>
            <a:r>
              <a:rPr lang="en-US" altLang="zh-CN" i="1" dirty="0">
                <a:latin typeface="Times New Roman" panose="02020503050405090304" pitchFamily="18" charset="0"/>
              </a:rPr>
              <a:t>p</a:t>
            </a:r>
            <a:r>
              <a:rPr lang="en-US" altLang="zh-CN" dirty="0">
                <a:latin typeface="Times New Roman" panose="02020503050405090304" pitchFamily="18" charset="0"/>
              </a:rPr>
              <a:t>, and want to prove </a:t>
            </a:r>
            <a:r>
              <a:rPr lang="en-US" altLang="zh-CN" i="1" dirty="0">
                <a:latin typeface="Times New Roman" panose="02020503050405090304" pitchFamily="18" charset="0"/>
              </a:rPr>
              <a:t>q</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lvl="1" eaLnBrk="1" hangingPunct="1">
              <a:lnSpc>
                <a:spcPct val="90000"/>
              </a:lnSpc>
            </a:pPr>
            <a:r>
              <a:rPr lang="en-US" altLang="zh-CN" dirty="0">
                <a:latin typeface="Times New Roman" panose="02020503050405090304" pitchFamily="18" charset="0"/>
              </a:rPr>
              <a:t>Find a </a:t>
            </a:r>
            <a:r>
              <a:rPr lang="en-US" altLang="zh-CN" i="1" dirty="0">
                <a:solidFill>
                  <a:srgbClr val="FF0000"/>
                </a:solidFill>
                <a:latin typeface="Times New Roman" panose="02020503050405090304" pitchFamily="18" charset="0"/>
              </a:rPr>
              <a:t>s</a:t>
            </a:r>
            <a:r>
              <a:rPr lang="en-US" altLang="zh-CN" baseline="-25000" dirty="0">
                <a:solidFill>
                  <a:srgbClr val="FF0000"/>
                </a:solidFill>
                <a:latin typeface="Times New Roman" panose="02020503050405090304" pitchFamily="18" charset="0"/>
              </a:rPr>
              <a:t>1</a:t>
            </a:r>
            <a:r>
              <a:rPr lang="en-US" altLang="zh-CN" dirty="0">
                <a:latin typeface="Times New Roman" panose="02020503050405090304" pitchFamily="18" charset="0"/>
              </a:rPr>
              <a:t> such that </a:t>
            </a:r>
            <a:r>
              <a:rPr lang="en-US" altLang="zh-CN" i="1" dirty="0">
                <a:solidFill>
                  <a:srgbClr val="FF0000"/>
                </a:solidFill>
                <a:latin typeface="Times New Roman" panose="02020503050405090304" pitchFamily="18" charset="0"/>
              </a:rPr>
              <a:t>p</a:t>
            </a:r>
            <a:r>
              <a:rPr lang="en-US" altLang="zh-CN" dirty="0">
                <a:solidFill>
                  <a:srgbClr val="FF0000"/>
                </a:solidFill>
                <a:latin typeface="Times New Roman" panose="02020503050405090304" pitchFamily="18" charset="0"/>
              </a:rPr>
              <a:t>→</a:t>
            </a:r>
            <a:r>
              <a:rPr lang="en-US" altLang="zh-CN" i="1" dirty="0">
                <a:solidFill>
                  <a:srgbClr val="FF0000"/>
                </a:solidFill>
                <a:latin typeface="Times New Roman" panose="02020503050405090304" pitchFamily="18" charset="0"/>
              </a:rPr>
              <a:t>s</a:t>
            </a:r>
            <a:r>
              <a:rPr lang="en-US" altLang="zh-CN" baseline="-25000" dirty="0">
                <a:solidFill>
                  <a:srgbClr val="FF0000"/>
                </a:solidFill>
                <a:latin typeface="Times New Roman" panose="02020503050405090304" pitchFamily="18" charset="0"/>
              </a:rPr>
              <a:t>1</a:t>
            </a:r>
            <a:endParaRPr lang="en-US" altLang="zh-CN" dirty="0">
              <a:solidFill>
                <a:srgbClr val="FF0000"/>
              </a:solidFill>
              <a:latin typeface="Times New Roman" panose="02020503050405090304" pitchFamily="18" charset="0"/>
            </a:endParaRPr>
          </a:p>
          <a:p>
            <a:pPr lvl="2" eaLnBrk="1" hangingPunct="1">
              <a:lnSpc>
                <a:spcPct val="90000"/>
              </a:lnSpc>
            </a:pPr>
            <a:r>
              <a:rPr lang="en-US" altLang="zh-CN" dirty="0">
                <a:latin typeface="Times New Roman" panose="02020503050405090304" pitchFamily="18" charset="0"/>
              </a:rPr>
              <a:t>Then, modus ponens gives you </a:t>
            </a:r>
            <a:r>
              <a:rPr lang="en-US" altLang="zh-CN" i="1" dirty="0">
                <a:solidFill>
                  <a:srgbClr val="FF0000"/>
                </a:solidFill>
                <a:latin typeface="Times New Roman" panose="02020503050405090304" pitchFamily="18" charset="0"/>
              </a:rPr>
              <a:t>s</a:t>
            </a:r>
            <a:r>
              <a:rPr lang="en-US" altLang="zh-CN" baseline="-25000" dirty="0">
                <a:solidFill>
                  <a:srgbClr val="FF0000"/>
                </a:solidFill>
                <a:latin typeface="Times New Roman" panose="02020503050405090304" pitchFamily="18" charset="0"/>
              </a:rPr>
              <a:t>1</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lvl="1" eaLnBrk="1" hangingPunct="1">
              <a:lnSpc>
                <a:spcPct val="90000"/>
              </a:lnSpc>
            </a:pPr>
            <a:r>
              <a:rPr lang="en-US" altLang="zh-CN" dirty="0">
                <a:latin typeface="Times New Roman" panose="02020503050405090304" pitchFamily="18" charset="0"/>
              </a:rPr>
              <a:t>Then, find an </a:t>
            </a:r>
            <a:r>
              <a:rPr lang="en-US" altLang="zh-CN" i="1" dirty="0">
                <a:solidFill>
                  <a:srgbClr val="FF0000"/>
                </a:solidFill>
                <a:latin typeface="Times New Roman" panose="02020503050405090304" pitchFamily="18" charset="0"/>
              </a:rPr>
              <a:t>s</a:t>
            </a:r>
            <a:r>
              <a:rPr lang="en-US" altLang="zh-CN" baseline="-25000" dirty="0">
                <a:solidFill>
                  <a:srgbClr val="FF0000"/>
                </a:solidFill>
                <a:latin typeface="Times New Roman" panose="02020503050405090304" pitchFamily="18" charset="0"/>
              </a:rPr>
              <a:t>2</a:t>
            </a:r>
            <a:r>
              <a:rPr lang="en-US" altLang="zh-CN" dirty="0">
                <a:solidFill>
                  <a:srgbClr val="FF0000"/>
                </a:solidFill>
                <a:latin typeface="Times New Roman" panose="02020503050405090304" pitchFamily="18" charset="0"/>
              </a:rPr>
              <a:t> </a:t>
            </a:r>
            <a:r>
              <a:rPr lang="en-US" altLang="zh-CN" dirty="0">
                <a:solidFill>
                  <a:srgbClr val="FF0000"/>
                </a:solidFill>
                <a:latin typeface="Times New Roman" panose="02020503050405090304" pitchFamily="18" charset="0"/>
                <a:sym typeface="Symbol" panose="05050102010706020507" pitchFamily="18" charset="2"/>
              </a:rPr>
              <a:t> </a:t>
            </a:r>
            <a:r>
              <a:rPr lang="en-US" altLang="zh-CN" dirty="0">
                <a:latin typeface="Times New Roman" panose="02020503050405090304" pitchFamily="18" charset="0"/>
                <a:sym typeface="Symbol" panose="05050102010706020507" pitchFamily="18" charset="2"/>
              </a:rPr>
              <a:t>(such that)</a:t>
            </a:r>
            <a:r>
              <a:rPr lang="en-US" altLang="zh-CN" dirty="0">
                <a:latin typeface="Times New Roman" panose="02020503050405090304" pitchFamily="18" charset="0"/>
              </a:rPr>
              <a:t> </a:t>
            </a:r>
            <a:r>
              <a:rPr lang="en-US" altLang="zh-CN" i="1" dirty="0">
                <a:solidFill>
                  <a:srgbClr val="FF0000"/>
                </a:solidFill>
                <a:latin typeface="Times New Roman" panose="02020503050405090304" pitchFamily="18" charset="0"/>
              </a:rPr>
              <a:t>s</a:t>
            </a:r>
            <a:r>
              <a:rPr lang="en-US" altLang="zh-CN" baseline="-25000" dirty="0">
                <a:solidFill>
                  <a:srgbClr val="FF0000"/>
                </a:solidFill>
                <a:latin typeface="Times New Roman" panose="02020503050405090304" pitchFamily="18" charset="0"/>
              </a:rPr>
              <a:t>1</a:t>
            </a:r>
            <a:r>
              <a:rPr lang="en-US" altLang="zh-CN" dirty="0">
                <a:solidFill>
                  <a:srgbClr val="FF0000"/>
                </a:solidFill>
                <a:latin typeface="Times New Roman" panose="02020503050405090304" pitchFamily="18" charset="0"/>
              </a:rPr>
              <a:t>→</a:t>
            </a:r>
            <a:r>
              <a:rPr lang="en-US" altLang="zh-CN" i="1" dirty="0">
                <a:solidFill>
                  <a:srgbClr val="FF0000"/>
                </a:solidFill>
                <a:latin typeface="Times New Roman" panose="02020503050405090304" pitchFamily="18" charset="0"/>
              </a:rPr>
              <a:t>s</a:t>
            </a:r>
            <a:r>
              <a:rPr lang="en-US" altLang="zh-CN" baseline="-25000" dirty="0">
                <a:solidFill>
                  <a:srgbClr val="FF0000"/>
                </a:solidFill>
                <a:latin typeface="Times New Roman" panose="02020503050405090304" pitchFamily="18" charset="0"/>
              </a:rPr>
              <a:t>2</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lvl="2" eaLnBrk="1" hangingPunct="1">
              <a:lnSpc>
                <a:spcPct val="90000"/>
              </a:lnSpc>
            </a:pPr>
            <a:r>
              <a:rPr lang="en-US" altLang="zh-CN" dirty="0">
                <a:latin typeface="Times New Roman" panose="02020503050405090304" pitchFamily="18" charset="0"/>
              </a:rPr>
              <a:t>Then, modus ponens gives you </a:t>
            </a:r>
            <a:r>
              <a:rPr lang="en-US" altLang="zh-CN" i="1" dirty="0">
                <a:solidFill>
                  <a:srgbClr val="FF0000"/>
                </a:solidFill>
                <a:latin typeface="Times New Roman" panose="02020503050405090304" pitchFamily="18" charset="0"/>
              </a:rPr>
              <a:t>s</a:t>
            </a:r>
            <a:r>
              <a:rPr lang="en-US" altLang="zh-CN" baseline="-25000" dirty="0">
                <a:solidFill>
                  <a:srgbClr val="FF0000"/>
                </a:solidFill>
                <a:latin typeface="Times New Roman" panose="02020503050405090304" pitchFamily="18" charset="0"/>
              </a:rPr>
              <a:t>2</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lvl="1" eaLnBrk="1" hangingPunct="1">
              <a:lnSpc>
                <a:spcPct val="90000"/>
              </a:lnSpc>
            </a:pPr>
            <a:r>
              <a:rPr lang="en-US" altLang="zh-CN" dirty="0">
                <a:latin typeface="Times New Roman" panose="02020503050405090304" pitchFamily="18" charset="0"/>
              </a:rPr>
              <a:t>And hope to eventually get to an </a:t>
            </a:r>
            <a:r>
              <a:rPr lang="en-US" altLang="zh-CN" i="1" dirty="0">
                <a:solidFill>
                  <a:srgbClr val="FF0000"/>
                </a:solidFill>
                <a:latin typeface="Times New Roman" panose="02020503050405090304" pitchFamily="18" charset="0"/>
              </a:rPr>
              <a:t>s</a:t>
            </a:r>
            <a:r>
              <a:rPr lang="en-US" altLang="zh-CN" i="1" baseline="-25000" dirty="0">
                <a:solidFill>
                  <a:srgbClr val="FF0000"/>
                </a:solidFill>
                <a:latin typeface="Times New Roman" panose="02020503050405090304" pitchFamily="18" charset="0"/>
              </a:rPr>
              <a:t>n</a:t>
            </a:r>
            <a:r>
              <a:rPr lang="en-US" altLang="zh-CN" dirty="0">
                <a:solidFill>
                  <a:srgbClr val="FF0000"/>
                </a:solidFill>
                <a:latin typeface="Times New Roman" panose="02020503050405090304" pitchFamily="18" charset="0"/>
              </a:rPr>
              <a:t> ,</a:t>
            </a:r>
            <a:r>
              <a:rPr lang="en-US" altLang="zh-CN" dirty="0">
                <a:solidFill>
                  <a:srgbClr val="FF0000"/>
                </a:solidFill>
                <a:latin typeface="Times New Roman" panose="02020503050405090304" pitchFamily="18" charset="0"/>
                <a:sym typeface="Symbol" panose="05050102010706020507" pitchFamily="18" charset="2"/>
              </a:rPr>
              <a:t> </a:t>
            </a:r>
            <a:r>
              <a:rPr lang="en-US" altLang="zh-CN" i="1" dirty="0">
                <a:solidFill>
                  <a:srgbClr val="FF0000"/>
                </a:solidFill>
                <a:latin typeface="Times New Roman" panose="02020503050405090304" pitchFamily="18" charset="0"/>
                <a:sym typeface="Symbol" panose="05050102010706020507" pitchFamily="18" charset="2"/>
              </a:rPr>
              <a:t>s</a:t>
            </a:r>
            <a:r>
              <a:rPr lang="en-US" altLang="zh-CN" i="1" baseline="-25000" dirty="0">
                <a:solidFill>
                  <a:srgbClr val="FF0000"/>
                </a:solidFill>
                <a:latin typeface="Times New Roman" panose="02020503050405090304" pitchFamily="18" charset="0"/>
                <a:sym typeface="Symbol" panose="05050102010706020507" pitchFamily="18" charset="2"/>
              </a:rPr>
              <a:t>n</a:t>
            </a:r>
            <a:r>
              <a:rPr lang="en-US" altLang="zh-CN" dirty="0">
                <a:solidFill>
                  <a:srgbClr val="FF0000"/>
                </a:solidFill>
                <a:latin typeface="Times New Roman" panose="02020503050405090304" pitchFamily="18" charset="0"/>
                <a:sym typeface="Symbol" panose="05050102010706020507" pitchFamily="18" charset="2"/>
              </a:rPr>
              <a:t>→</a:t>
            </a:r>
            <a:r>
              <a:rPr lang="en-US" altLang="zh-CN" i="1" dirty="0">
                <a:solidFill>
                  <a:srgbClr val="FF0000"/>
                </a:solidFill>
                <a:latin typeface="Times New Roman" panose="02020503050405090304" pitchFamily="18" charset="0"/>
                <a:sym typeface="Symbol" panose="05050102010706020507" pitchFamily="18" charset="2"/>
              </a:rPr>
              <a:t>q</a:t>
            </a:r>
            <a:r>
              <a:rPr lang="en-US" altLang="zh-CN" dirty="0">
                <a:latin typeface="Times New Roman" panose="02020503050405090304" pitchFamily="18" charset="0"/>
                <a:sym typeface="Symbol" panose="05050102010706020507" pitchFamily="18" charset="2"/>
              </a:rPr>
              <a:t>.</a:t>
            </a:r>
            <a:endParaRPr lang="en-US" altLang="zh-CN" dirty="0">
              <a:latin typeface="Times New Roman" panose="02020503050405090304" pitchFamily="18" charset="0"/>
              <a:sym typeface="Symbol" panose="05050102010706020507" pitchFamily="18" charset="2"/>
            </a:endParaRPr>
          </a:p>
          <a:p>
            <a:pPr eaLnBrk="1" hangingPunct="1">
              <a:lnSpc>
                <a:spcPct val="90000"/>
              </a:lnSpc>
            </a:pPr>
            <a:r>
              <a:rPr lang="en-US" altLang="zh-CN" dirty="0">
                <a:latin typeface="Times New Roman" panose="02020503050405090304" pitchFamily="18" charset="0"/>
                <a:sym typeface="Symbol" panose="05050102010706020507" pitchFamily="18" charset="2"/>
              </a:rPr>
              <a:t>The problem with this method is…</a:t>
            </a:r>
            <a:endParaRPr lang="en-US" altLang="zh-CN" dirty="0">
              <a:latin typeface="Times New Roman" panose="02020503050405090304" pitchFamily="18" charset="0"/>
              <a:sym typeface="Symbol" panose="05050102010706020507" pitchFamily="18" charset="2"/>
            </a:endParaRPr>
          </a:p>
          <a:p>
            <a:pPr lvl="1" eaLnBrk="1" hangingPunct="1">
              <a:lnSpc>
                <a:spcPct val="90000"/>
              </a:lnSpc>
            </a:pPr>
            <a:r>
              <a:rPr lang="en-US" altLang="zh-CN" dirty="0">
                <a:latin typeface="Times New Roman" panose="02020503050405090304" pitchFamily="18" charset="0"/>
                <a:sym typeface="Symbol" panose="05050102010706020507" pitchFamily="18" charset="2"/>
              </a:rPr>
              <a:t>It can be tough to see the path looking from </a:t>
            </a:r>
            <a:r>
              <a:rPr lang="en-US" altLang="zh-CN" i="1" dirty="0">
                <a:latin typeface="Times New Roman" panose="02020503050405090304" pitchFamily="18" charset="0"/>
                <a:sym typeface="Symbol" panose="05050102010706020507" pitchFamily="18" charset="2"/>
              </a:rPr>
              <a:t>p</a:t>
            </a:r>
            <a:r>
              <a:rPr lang="en-US" altLang="zh-CN" dirty="0">
                <a:latin typeface="Times New Roman" panose="02020503050405090304" pitchFamily="18" charset="0"/>
                <a:sym typeface="Symbol" panose="05050102010706020507" pitchFamily="18" charset="2"/>
              </a:rPr>
              <a:t>.</a:t>
            </a:r>
            <a:endParaRPr lang="en-US" altLang="zh-CN" dirty="0">
              <a:latin typeface="Times New Roman" panose="02020503050405090304" pitchFamily="18" charset="0"/>
              <a:sym typeface="Symbol" panose="05050102010706020507" pitchFamily="18" charset="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861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861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68613" name="Rectangle 2"/>
          <p:cNvSpPr>
            <a:spLocks noGrp="1"/>
          </p:cNvSpPr>
          <p:nvPr>
            <p:ph type="title"/>
          </p:nvPr>
        </p:nvSpPr>
        <p:spPr/>
        <p:txBody>
          <a:bodyPr vert="horz" wrap="square" lIns="91440" tIns="45720" rIns="91440" bIns="45720" anchor="b" anchorCtr="0"/>
          <a:p>
            <a:pPr eaLnBrk="1" hangingPunct="1"/>
            <a:r>
              <a:rPr lang="en-US" altLang="zh-CN" dirty="0"/>
              <a:t>Backward Reasoning</a:t>
            </a:r>
            <a:endParaRPr lang="en-US" altLang="zh-CN" dirty="0"/>
          </a:p>
        </p:txBody>
      </p:sp>
      <p:sp>
        <p:nvSpPr>
          <p:cNvPr id="68614" name="Rectangle 3"/>
          <p:cNvSpPr>
            <a:spLocks noGrp="1"/>
          </p:cNvSpPr>
          <p:nvPr>
            <p:ph idx="1"/>
          </p:nvPr>
        </p:nvSpPr>
        <p:spPr>
          <a:xfrm>
            <a:off x="611505" y="1371600"/>
            <a:ext cx="8449310" cy="4114800"/>
          </a:xfrm>
        </p:spPr>
        <p:txBody>
          <a:bodyPr vert="horz" wrap="square" lIns="91440" tIns="45720" rIns="91440" bIns="45720" anchor="t" anchorCtr="0"/>
          <a:p>
            <a:pPr eaLnBrk="1" hangingPunct="1">
              <a:lnSpc>
                <a:spcPct val="90000"/>
              </a:lnSpc>
            </a:pPr>
            <a:r>
              <a:rPr lang="en-US" altLang="zh-CN" sz="2800" dirty="0">
                <a:latin typeface="Times New Roman" panose="02020503050405090304" pitchFamily="18" charset="0"/>
              </a:rPr>
              <a:t>It can often be easier to see the </a:t>
            </a:r>
            <a:r>
              <a:rPr lang="en-US" altLang="zh-CN" sz="2800" i="1" dirty="0">
                <a:latin typeface="Times New Roman" panose="02020503050405090304" pitchFamily="18" charset="0"/>
              </a:rPr>
              <a:t>very same path</a:t>
            </a:r>
            <a:r>
              <a:rPr lang="en-US" altLang="zh-CN" sz="2800" dirty="0">
                <a:latin typeface="Times New Roman" panose="02020503050405090304" pitchFamily="18" charset="0"/>
              </a:rPr>
              <a:t> if you just start looking from the conclusion </a:t>
            </a:r>
            <a:r>
              <a:rPr lang="en-US" altLang="zh-CN" sz="2800" i="1" dirty="0">
                <a:latin typeface="Times New Roman" panose="02020503050405090304" pitchFamily="18" charset="0"/>
              </a:rPr>
              <a:t>q</a:t>
            </a:r>
            <a:r>
              <a:rPr lang="en-US" altLang="zh-CN" sz="2800" dirty="0">
                <a:latin typeface="Times New Roman" panose="02020503050405090304" pitchFamily="18" charset="0"/>
              </a:rPr>
              <a:t> instead…</a:t>
            </a:r>
            <a:endParaRPr lang="en-US" altLang="zh-CN" sz="28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That is, </a:t>
            </a:r>
            <a:r>
              <a:rPr lang="en-US" altLang="zh-CN" sz="2400" i="1" dirty="0">
                <a:latin typeface="Times New Roman" panose="02020503050405090304" pitchFamily="18" charset="0"/>
              </a:rPr>
              <a:t>first</a:t>
            </a:r>
            <a:r>
              <a:rPr lang="en-US" altLang="zh-CN" sz="2400" dirty="0">
                <a:latin typeface="Times New Roman" panose="02020503050405090304" pitchFamily="18" charset="0"/>
              </a:rPr>
              <a:t> find an </a:t>
            </a:r>
            <a:r>
              <a:rPr lang="en-US" altLang="zh-CN" sz="2400" i="1" dirty="0">
                <a:solidFill>
                  <a:srgbClr val="FF0000"/>
                </a:solidFill>
                <a:latin typeface="Times New Roman" panose="02020503050405090304" pitchFamily="18" charset="0"/>
              </a:rPr>
              <a:t>s</a:t>
            </a:r>
            <a:r>
              <a:rPr lang="en-US" altLang="zh-CN" sz="2400" baseline="-25000" dirty="0">
                <a:solidFill>
                  <a:srgbClr val="FF0000"/>
                </a:solidFill>
                <a:latin typeface="Times New Roman" panose="02020503050405090304" pitchFamily="18" charset="0"/>
              </a:rPr>
              <a:t>−1</a:t>
            </a:r>
            <a:r>
              <a:rPr lang="en-US" altLang="zh-CN" sz="2400" dirty="0">
                <a:latin typeface="Times New Roman" panose="02020503050405090304" pitchFamily="18" charset="0"/>
              </a:rPr>
              <a:t> such that </a:t>
            </a:r>
            <a:r>
              <a:rPr lang="en-US" altLang="zh-CN" sz="2400" i="1" dirty="0">
                <a:solidFill>
                  <a:srgbClr val="FF0000"/>
                </a:solidFill>
                <a:latin typeface="Times New Roman" panose="02020503050405090304" pitchFamily="18" charset="0"/>
              </a:rPr>
              <a:t>s</a:t>
            </a:r>
            <a:r>
              <a:rPr lang="en-US" altLang="zh-CN" sz="2400" baseline="-25000" dirty="0">
                <a:solidFill>
                  <a:srgbClr val="FF0000"/>
                </a:solidFill>
                <a:latin typeface="Times New Roman" panose="02020503050405090304" pitchFamily="18" charset="0"/>
              </a:rPr>
              <a:t>−1</a:t>
            </a:r>
            <a:r>
              <a:rPr lang="en-US" altLang="zh-CN" sz="2400" dirty="0">
                <a:solidFill>
                  <a:srgbClr val="FF0000"/>
                </a:solidFill>
                <a:latin typeface="Times New Roman" panose="02020503050405090304" pitchFamily="18" charset="0"/>
              </a:rPr>
              <a:t>→</a:t>
            </a:r>
            <a:r>
              <a:rPr lang="en-US" altLang="zh-CN" sz="2400" i="1" dirty="0">
                <a:solidFill>
                  <a:srgbClr val="FF0000"/>
                </a:solidFill>
                <a:latin typeface="Times New Roman" panose="02020503050405090304" pitchFamily="18" charset="0"/>
              </a:rPr>
              <a:t>q</a:t>
            </a:r>
            <a:r>
              <a:rPr lang="en-US" altLang="zh-CN" sz="2400" dirty="0">
                <a:latin typeface="Times New Roman" panose="02020503050405090304" pitchFamily="18" charset="0"/>
              </a:rPr>
              <a:t>.</a:t>
            </a:r>
            <a:endParaRPr lang="en-US" altLang="zh-CN" sz="2400" dirty="0">
              <a:latin typeface="Times New Roman" panose="02020503050405090304" pitchFamily="18" charset="0"/>
            </a:endParaRPr>
          </a:p>
          <a:p>
            <a:pPr lvl="1" eaLnBrk="1" hangingPunct="1">
              <a:lnSpc>
                <a:spcPct val="90000"/>
              </a:lnSpc>
            </a:pPr>
            <a:r>
              <a:rPr lang="en-US" altLang="zh-CN" sz="2400" i="1" dirty="0">
                <a:latin typeface="Times New Roman" panose="02020503050405090304" pitchFamily="18" charset="0"/>
              </a:rPr>
              <a:t>Then</a:t>
            </a:r>
            <a:r>
              <a:rPr lang="en-US" altLang="zh-CN" sz="2400" dirty="0">
                <a:latin typeface="Times New Roman" panose="02020503050405090304" pitchFamily="18" charset="0"/>
              </a:rPr>
              <a:t>, find an </a:t>
            </a:r>
            <a:r>
              <a:rPr lang="en-US" altLang="zh-CN" sz="2400" i="1" dirty="0">
                <a:solidFill>
                  <a:srgbClr val="FF0000"/>
                </a:solidFill>
                <a:latin typeface="Times New Roman" panose="02020503050405090304" pitchFamily="18" charset="0"/>
              </a:rPr>
              <a:t>s</a:t>
            </a:r>
            <a:r>
              <a:rPr lang="en-US" altLang="zh-CN" sz="2400" baseline="-25000" dirty="0">
                <a:solidFill>
                  <a:srgbClr val="FF0000"/>
                </a:solidFill>
                <a:latin typeface="Times New Roman" panose="02020503050405090304" pitchFamily="18" charset="0"/>
              </a:rPr>
              <a:t>−2 </a:t>
            </a:r>
            <a:r>
              <a:rPr lang="en-US" altLang="zh-CN" sz="2400" dirty="0">
                <a:solidFill>
                  <a:srgbClr val="FF0000"/>
                </a:solidFill>
                <a:latin typeface="Times New Roman" panose="02020503050405090304" pitchFamily="18" charset="0"/>
                <a:sym typeface="Symbol" panose="05050102010706020507" pitchFamily="18" charset="2"/>
              </a:rPr>
              <a:t>, </a:t>
            </a:r>
            <a:r>
              <a:rPr lang="en-US" altLang="zh-CN" sz="2400" i="1" dirty="0">
                <a:solidFill>
                  <a:srgbClr val="FF0000"/>
                </a:solidFill>
                <a:latin typeface="Times New Roman" panose="02020503050405090304" pitchFamily="18" charset="0"/>
              </a:rPr>
              <a:t>s</a:t>
            </a:r>
            <a:r>
              <a:rPr lang="en-US" altLang="zh-CN" sz="2400" baseline="-25000" dirty="0">
                <a:solidFill>
                  <a:srgbClr val="FF0000"/>
                </a:solidFill>
                <a:latin typeface="Times New Roman" panose="02020503050405090304" pitchFamily="18" charset="0"/>
              </a:rPr>
              <a:t>−2</a:t>
            </a:r>
            <a:r>
              <a:rPr lang="en-US" altLang="zh-CN" sz="2400" dirty="0">
                <a:solidFill>
                  <a:srgbClr val="FF0000"/>
                </a:solidFill>
                <a:latin typeface="Times New Roman" panose="02020503050405090304" pitchFamily="18" charset="0"/>
              </a:rPr>
              <a:t>→</a:t>
            </a:r>
            <a:r>
              <a:rPr lang="en-US" altLang="zh-CN" sz="2400" i="1" dirty="0">
                <a:solidFill>
                  <a:srgbClr val="FF0000"/>
                </a:solidFill>
                <a:latin typeface="Times New Roman" panose="02020503050405090304" pitchFamily="18" charset="0"/>
              </a:rPr>
              <a:t>s</a:t>
            </a:r>
            <a:r>
              <a:rPr lang="en-US" altLang="zh-CN" sz="2400" baseline="-25000" dirty="0">
                <a:solidFill>
                  <a:srgbClr val="FF0000"/>
                </a:solidFill>
                <a:latin typeface="Times New Roman" panose="02020503050405090304" pitchFamily="18" charset="0"/>
              </a:rPr>
              <a:t>−1</a:t>
            </a:r>
            <a:r>
              <a:rPr lang="en-US" altLang="zh-CN" sz="2400" dirty="0">
                <a:latin typeface="Times New Roman" panose="02020503050405090304" pitchFamily="18" charset="0"/>
              </a:rPr>
              <a:t>, and so on…</a:t>
            </a:r>
            <a:endParaRPr lang="en-US" altLang="zh-CN" sz="24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Working back to an </a:t>
            </a:r>
            <a:r>
              <a:rPr lang="en-US" altLang="zh-CN" sz="2400" i="1" dirty="0">
                <a:solidFill>
                  <a:srgbClr val="FF0000"/>
                </a:solidFill>
                <a:latin typeface="Times New Roman" panose="02020503050405090304" pitchFamily="18" charset="0"/>
              </a:rPr>
              <a:t>s</a:t>
            </a:r>
            <a:r>
              <a:rPr lang="en-US" altLang="zh-CN" sz="2400" baseline="-25000" dirty="0">
                <a:solidFill>
                  <a:srgbClr val="FF0000"/>
                </a:solidFill>
                <a:latin typeface="Times New Roman" panose="02020503050405090304" pitchFamily="18" charset="0"/>
              </a:rPr>
              <a:t>−</a:t>
            </a:r>
            <a:r>
              <a:rPr lang="en-US" altLang="zh-CN" sz="2400" i="1" baseline="-25000" dirty="0">
                <a:solidFill>
                  <a:srgbClr val="FF0000"/>
                </a:solidFill>
                <a:latin typeface="Times New Roman" panose="02020503050405090304" pitchFamily="18" charset="0"/>
              </a:rPr>
              <a:t>n</a:t>
            </a:r>
            <a:r>
              <a:rPr lang="en-US" altLang="zh-CN" sz="2400" dirty="0">
                <a:solidFill>
                  <a:srgbClr val="FF0000"/>
                </a:solidFill>
                <a:latin typeface="Times New Roman" panose="02020503050405090304" pitchFamily="18" charset="0"/>
              </a:rPr>
              <a:t> ,</a:t>
            </a:r>
            <a:r>
              <a:rPr lang="en-US" altLang="zh-CN" sz="2400" dirty="0">
                <a:solidFill>
                  <a:srgbClr val="FF0000"/>
                </a:solidFill>
                <a:latin typeface="Times New Roman" panose="02020503050405090304" pitchFamily="18" charset="0"/>
                <a:sym typeface="Symbol" panose="05050102010706020507" pitchFamily="18" charset="2"/>
              </a:rPr>
              <a:t> </a:t>
            </a:r>
            <a:r>
              <a:rPr lang="en-US" altLang="zh-CN" sz="2400" i="1" dirty="0">
                <a:solidFill>
                  <a:srgbClr val="FF0000"/>
                </a:solidFill>
                <a:latin typeface="Times New Roman" panose="02020503050405090304" pitchFamily="18" charset="0"/>
                <a:sym typeface="Symbol" panose="05050102010706020507" pitchFamily="18" charset="2"/>
              </a:rPr>
              <a:t>p</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s</a:t>
            </a:r>
            <a:r>
              <a:rPr lang="en-US" altLang="zh-CN" sz="2400" baseline="-25000" dirty="0">
                <a:solidFill>
                  <a:srgbClr val="FF0000"/>
                </a:solidFill>
                <a:latin typeface="Times New Roman" panose="02020503050405090304" pitchFamily="18" charset="0"/>
                <a:sym typeface="Symbol" panose="05050102010706020507" pitchFamily="18" charset="2"/>
              </a:rPr>
              <a:t>−</a:t>
            </a:r>
            <a:r>
              <a:rPr lang="en-US" altLang="zh-CN" sz="2400" i="1" baseline="-25000" dirty="0">
                <a:solidFill>
                  <a:srgbClr val="FF0000"/>
                </a:solidFill>
                <a:latin typeface="Times New Roman" panose="02020503050405090304" pitchFamily="18" charset="0"/>
                <a:sym typeface="Symbol" panose="05050102010706020507" pitchFamily="18" charset="2"/>
              </a:rPr>
              <a:t>n</a:t>
            </a:r>
            <a:r>
              <a:rPr lang="en-US" altLang="zh-CN" sz="2400" baseline="-25000" dirty="0">
                <a:latin typeface="Times New Roman" panose="02020503050405090304" pitchFamily="18" charset="0"/>
                <a:sym typeface="Symbol" panose="05050102010706020507" pitchFamily="18" charset="2"/>
              </a:rPr>
              <a:t>.</a:t>
            </a:r>
            <a:endParaRPr lang="en-US" altLang="zh-CN" sz="2400" baseline="-25000" dirty="0">
              <a:latin typeface="Times New Roman" panose="02020503050405090304" pitchFamily="18" charset="0"/>
              <a:sym typeface="Symbol" panose="05050102010706020507" pitchFamily="18" charset="2"/>
            </a:endParaRPr>
          </a:p>
          <a:p>
            <a:pPr eaLnBrk="1" hangingPunct="1">
              <a:lnSpc>
                <a:spcPct val="90000"/>
              </a:lnSpc>
            </a:pPr>
            <a:r>
              <a:rPr lang="en-US" altLang="zh-CN" sz="2800" dirty="0">
                <a:latin typeface="Times New Roman" panose="02020503050405090304" pitchFamily="18" charset="0"/>
                <a:sym typeface="Symbol" panose="05050102010706020507" pitchFamily="18" charset="2"/>
              </a:rPr>
              <a:t>Note we </a:t>
            </a:r>
            <a:r>
              <a:rPr lang="en-US" altLang="zh-CN" sz="2800" i="1" dirty="0">
                <a:latin typeface="Times New Roman" panose="02020503050405090304" pitchFamily="18" charset="0"/>
                <a:sym typeface="Symbol" panose="05050102010706020507" pitchFamily="18" charset="2"/>
              </a:rPr>
              <a:t>still</a:t>
            </a:r>
            <a:r>
              <a:rPr lang="en-US" altLang="zh-CN" sz="2800" dirty="0">
                <a:latin typeface="Times New Roman" panose="02020503050405090304" pitchFamily="18" charset="0"/>
                <a:sym typeface="Symbol" panose="05050102010706020507" pitchFamily="18" charset="2"/>
              </a:rPr>
              <a:t> are using </a:t>
            </a:r>
            <a:r>
              <a:rPr lang="en-US" altLang="zh-CN" sz="2800" i="1" dirty="0">
                <a:latin typeface="Times New Roman" panose="02020503050405090304" pitchFamily="18" charset="0"/>
                <a:sym typeface="Symbol" panose="05050102010706020507" pitchFamily="18" charset="2"/>
              </a:rPr>
              <a:t>modus ponens</a:t>
            </a:r>
            <a:r>
              <a:rPr lang="en-US" altLang="zh-CN" sz="2800" dirty="0">
                <a:latin typeface="Times New Roman" panose="02020503050405090304" pitchFamily="18" charset="0"/>
                <a:sym typeface="Symbol" panose="05050102010706020507" pitchFamily="18" charset="2"/>
              </a:rPr>
              <a:t> to propagate truth </a:t>
            </a:r>
            <a:r>
              <a:rPr lang="en-US" altLang="zh-CN" sz="2800" i="1" dirty="0">
                <a:latin typeface="Times New Roman" panose="02020503050405090304" pitchFamily="18" charset="0"/>
                <a:sym typeface="Symbol" panose="05050102010706020507" pitchFamily="18" charset="2"/>
              </a:rPr>
              <a:t>forwards</a:t>
            </a:r>
            <a:r>
              <a:rPr lang="en-US" altLang="zh-CN" sz="2800" dirty="0">
                <a:latin typeface="Times New Roman" panose="02020503050405090304" pitchFamily="18" charset="0"/>
                <a:sym typeface="Symbol" panose="05050102010706020507" pitchFamily="18" charset="2"/>
              </a:rPr>
              <a:t> down the chain from </a:t>
            </a:r>
            <a:r>
              <a:rPr lang="en-US" altLang="zh-CN" sz="2800" i="1" dirty="0">
                <a:latin typeface="Times New Roman" panose="02020503050405090304" pitchFamily="18" charset="0"/>
                <a:sym typeface="Symbol" panose="05050102010706020507" pitchFamily="18" charset="2"/>
              </a:rPr>
              <a:t>p</a:t>
            </a:r>
            <a:r>
              <a:rPr lang="en-US" altLang="zh-CN" sz="2800" dirty="0">
                <a:latin typeface="Times New Roman" panose="02020503050405090304" pitchFamily="18" charset="0"/>
                <a:sym typeface="Symbol" panose="05050102010706020507" pitchFamily="18" charset="2"/>
              </a:rPr>
              <a:t> to </a:t>
            </a:r>
            <a:r>
              <a:rPr lang="en-US" altLang="zh-CN" sz="2800" i="1" dirty="0">
                <a:latin typeface="Times New Roman" panose="02020503050405090304" pitchFamily="18" charset="0"/>
                <a:sym typeface="Symbol" panose="05050102010706020507" pitchFamily="18" charset="2"/>
              </a:rPr>
              <a:t>s</a:t>
            </a:r>
            <a:r>
              <a:rPr lang="en-US" altLang="zh-CN" sz="2800" baseline="-25000" dirty="0">
                <a:latin typeface="Times New Roman" panose="02020503050405090304" pitchFamily="18" charset="0"/>
                <a:sym typeface="Symbol" panose="05050102010706020507" pitchFamily="18" charset="2"/>
              </a:rPr>
              <a:t>−</a:t>
            </a:r>
            <a:r>
              <a:rPr lang="en-US" altLang="zh-CN" sz="2800" i="1" baseline="-25000" dirty="0">
                <a:latin typeface="Times New Roman" panose="02020503050405090304" pitchFamily="18" charset="0"/>
                <a:sym typeface="Symbol" panose="05050102010706020507" pitchFamily="18" charset="2"/>
              </a:rPr>
              <a:t>n</a:t>
            </a:r>
            <a:r>
              <a:rPr lang="en-US" altLang="zh-CN" sz="2800" dirty="0">
                <a:latin typeface="Times New Roman" panose="02020503050405090304" pitchFamily="18" charset="0"/>
                <a:sym typeface="Symbol" panose="05050102010706020507" pitchFamily="18" charset="2"/>
              </a:rPr>
              <a:t> to … to </a:t>
            </a:r>
            <a:r>
              <a:rPr lang="en-US" altLang="zh-CN" sz="2800" i="1" dirty="0">
                <a:latin typeface="Times New Roman" panose="02020503050405090304" pitchFamily="18" charset="0"/>
                <a:sym typeface="Symbol" panose="05050102010706020507" pitchFamily="18" charset="2"/>
              </a:rPr>
              <a:t>s</a:t>
            </a:r>
            <a:r>
              <a:rPr lang="en-US" altLang="zh-CN" sz="2800" baseline="-25000" dirty="0">
                <a:latin typeface="Times New Roman" panose="02020503050405090304" pitchFamily="18" charset="0"/>
                <a:sym typeface="Symbol" panose="05050102010706020507" pitchFamily="18" charset="2"/>
              </a:rPr>
              <a:t> −1</a:t>
            </a:r>
            <a:r>
              <a:rPr lang="en-US" altLang="zh-CN" sz="2800" dirty="0">
                <a:latin typeface="Times New Roman" panose="02020503050405090304" pitchFamily="18" charset="0"/>
                <a:sym typeface="Symbol" panose="05050102010706020507" pitchFamily="18" charset="2"/>
              </a:rPr>
              <a:t> to  </a:t>
            </a:r>
            <a:r>
              <a:rPr lang="en-US" altLang="zh-CN" sz="2800" i="1" dirty="0">
                <a:latin typeface="Times New Roman" panose="02020503050405090304" pitchFamily="18" charset="0"/>
                <a:sym typeface="Symbol" panose="05050102010706020507" pitchFamily="18" charset="2"/>
              </a:rPr>
              <a:t>q</a:t>
            </a:r>
            <a:r>
              <a:rPr lang="en-US" altLang="zh-CN" sz="2800" dirty="0">
                <a:latin typeface="Times New Roman" panose="02020503050405090304" pitchFamily="18" charset="0"/>
                <a:sym typeface="Symbol" panose="05050102010706020507" pitchFamily="18" charset="2"/>
              </a:rPr>
              <a:t>!</a:t>
            </a:r>
            <a:endParaRPr lang="en-US" altLang="zh-CN" sz="2800" dirty="0">
              <a:latin typeface="Times New Roman" panose="02020503050405090304" pitchFamily="18" charset="0"/>
              <a:sym typeface="Symbol" panose="05050102010706020507" pitchFamily="18" charset="2"/>
            </a:endParaRPr>
          </a:p>
          <a:p>
            <a:pPr lvl="1" eaLnBrk="1" hangingPunct="1">
              <a:lnSpc>
                <a:spcPct val="90000"/>
              </a:lnSpc>
            </a:pPr>
            <a:r>
              <a:rPr lang="en-US" altLang="zh-CN" sz="2400" dirty="0">
                <a:latin typeface="Times New Roman" panose="02020503050405090304" pitchFamily="18" charset="0"/>
                <a:sym typeface="Symbol" panose="05050102010706020507" pitchFamily="18" charset="2"/>
              </a:rPr>
              <a:t>We are </a:t>
            </a:r>
            <a:r>
              <a:rPr lang="en-US" altLang="zh-CN" sz="2400" i="1" dirty="0">
                <a:latin typeface="Times New Roman" panose="02020503050405090304" pitchFamily="18" charset="0"/>
                <a:sym typeface="Symbol" panose="05050102010706020507" pitchFamily="18" charset="2"/>
              </a:rPr>
              <a:t>finding</a:t>
            </a:r>
            <a:r>
              <a:rPr lang="en-US" altLang="zh-CN" sz="2400" dirty="0">
                <a:latin typeface="Times New Roman" panose="02020503050405090304" pitchFamily="18" charset="0"/>
                <a:sym typeface="Symbol" panose="05050102010706020507" pitchFamily="18" charset="2"/>
              </a:rPr>
              <a:t> the chain </a:t>
            </a:r>
            <a:r>
              <a:rPr lang="en-US" altLang="zh-CN" sz="2400" i="1" dirty="0">
                <a:latin typeface="Times New Roman" panose="02020503050405090304" pitchFamily="18" charset="0"/>
                <a:sym typeface="Symbol" panose="05050102010706020507" pitchFamily="18" charset="2"/>
              </a:rPr>
              <a:t>backwards</a:t>
            </a:r>
            <a:r>
              <a:rPr lang="en-US" altLang="zh-CN" sz="2400" dirty="0">
                <a:latin typeface="Times New Roman" panose="02020503050405090304" pitchFamily="18" charset="0"/>
                <a:sym typeface="Symbol" panose="05050102010706020507" pitchFamily="18" charset="2"/>
              </a:rPr>
              <a:t>, but </a:t>
            </a:r>
            <a:r>
              <a:rPr lang="en-US" altLang="zh-CN" sz="2400" i="1" dirty="0">
                <a:latin typeface="Times New Roman" panose="02020503050405090304" pitchFamily="18" charset="0"/>
                <a:sym typeface="Symbol" panose="05050102010706020507" pitchFamily="18" charset="2"/>
              </a:rPr>
              <a:t>applying</a:t>
            </a:r>
            <a:r>
              <a:rPr lang="en-US" altLang="zh-CN" sz="2400" dirty="0">
                <a:latin typeface="Times New Roman" panose="02020503050405090304" pitchFamily="18" charset="0"/>
                <a:sym typeface="Symbol" panose="05050102010706020507" pitchFamily="18" charset="2"/>
              </a:rPr>
              <a:t> it </a:t>
            </a:r>
            <a:r>
              <a:rPr lang="en-US" altLang="zh-CN" sz="2400" i="1" dirty="0">
                <a:latin typeface="Times New Roman" panose="02020503050405090304" pitchFamily="18" charset="0"/>
                <a:sym typeface="Symbol" panose="05050102010706020507" pitchFamily="18" charset="2"/>
              </a:rPr>
              <a:t>forwards</a:t>
            </a:r>
            <a:r>
              <a:rPr lang="en-US" altLang="zh-CN" sz="2400" dirty="0">
                <a:latin typeface="Times New Roman" panose="02020503050405090304" pitchFamily="18" charset="0"/>
                <a:sym typeface="Symbol" panose="05050102010706020507" pitchFamily="18" charset="2"/>
              </a:rPr>
              <a:t>.</a:t>
            </a:r>
            <a:endParaRPr lang="en-US" altLang="zh-CN" sz="2400" dirty="0">
              <a:latin typeface="Times New Roman" panose="02020503050405090304" pitchFamily="18" charset="0"/>
              <a:sym typeface="Symbol" panose="05050102010706020507" pitchFamily="18" charset="2"/>
            </a:endParaRPr>
          </a:p>
          <a:p>
            <a:pPr lvl="1" eaLnBrk="1" hangingPunct="1">
              <a:lnSpc>
                <a:spcPct val="90000"/>
              </a:lnSpc>
            </a:pPr>
            <a:r>
              <a:rPr lang="en-US" altLang="zh-CN" sz="2400" dirty="0">
                <a:latin typeface="Times New Roman" panose="02020503050405090304" pitchFamily="18" charset="0"/>
                <a:sym typeface="Symbol" panose="05050102010706020507" pitchFamily="18" charset="2"/>
              </a:rPr>
              <a:t>This is not quite the same thing as an indirect proof…</a:t>
            </a:r>
            <a:endParaRPr lang="en-US" altLang="zh-CN" sz="2400" dirty="0">
              <a:latin typeface="Times New Roman" panose="02020503050405090304" pitchFamily="18" charset="0"/>
              <a:sym typeface="Symbol" panose="05050102010706020507" pitchFamily="18" charset="2"/>
            </a:endParaRPr>
          </a:p>
          <a:p>
            <a:pPr lvl="2" eaLnBrk="1" hangingPunct="1">
              <a:lnSpc>
                <a:spcPct val="90000"/>
              </a:lnSpc>
            </a:pPr>
            <a:r>
              <a:rPr lang="en-US" altLang="zh-CN" sz="2000" dirty="0">
                <a:latin typeface="Times New Roman" panose="02020503050405090304" pitchFamily="18" charset="0"/>
                <a:sym typeface="Symbol" panose="05050102010706020507" pitchFamily="18" charset="2"/>
              </a:rPr>
              <a:t>In that, we would use </a:t>
            </a:r>
            <a:r>
              <a:rPr lang="en-US" altLang="zh-CN" sz="2000" i="1" dirty="0">
                <a:latin typeface="Times New Roman" panose="02020503050405090304" pitchFamily="18" charset="0"/>
                <a:sym typeface="Symbol" panose="05050102010706020507" pitchFamily="18" charset="2"/>
              </a:rPr>
              <a:t>modus tollens</a:t>
            </a:r>
            <a:r>
              <a:rPr lang="en-US" altLang="zh-CN" sz="2000" dirty="0">
                <a:latin typeface="Times New Roman" panose="02020503050405090304" pitchFamily="18" charset="0"/>
                <a:sym typeface="Symbol" panose="05050102010706020507" pitchFamily="18" charset="2"/>
              </a:rPr>
              <a:t> and ¬</a:t>
            </a:r>
            <a:r>
              <a:rPr lang="en-US" altLang="zh-CN" sz="2000" i="1" dirty="0">
                <a:latin typeface="Times New Roman" panose="02020503050405090304" pitchFamily="18" charset="0"/>
                <a:sym typeface="Symbol" panose="05050102010706020507" pitchFamily="18" charset="2"/>
              </a:rPr>
              <a:t>q</a:t>
            </a:r>
            <a:r>
              <a:rPr lang="en-US" altLang="zh-CN" sz="2000" dirty="0">
                <a:latin typeface="Times New Roman" panose="02020503050405090304" pitchFamily="18" charset="0"/>
                <a:sym typeface="Symbol" panose="05050102010706020507" pitchFamily="18" charset="2"/>
              </a:rPr>
              <a:t> to prove ¬</a:t>
            </a:r>
            <a:r>
              <a:rPr lang="en-US" altLang="zh-CN" sz="2000" i="1" dirty="0">
                <a:latin typeface="Times New Roman" panose="02020503050405090304" pitchFamily="18" charset="0"/>
                <a:sym typeface="Symbol" panose="05050102010706020507" pitchFamily="18" charset="2"/>
              </a:rPr>
              <a:t>s</a:t>
            </a:r>
            <a:r>
              <a:rPr lang="en-US" altLang="zh-CN" sz="2000" i="1" baseline="-25000" dirty="0">
                <a:latin typeface="Times New Roman" panose="02020503050405090304" pitchFamily="18" charset="0"/>
                <a:sym typeface="Symbol" panose="05050102010706020507" pitchFamily="18" charset="2"/>
              </a:rPr>
              <a:t>−</a:t>
            </a:r>
            <a:r>
              <a:rPr lang="en-US" altLang="zh-CN" sz="2000" baseline="-25000" dirty="0">
                <a:latin typeface="Times New Roman" panose="02020503050405090304" pitchFamily="18" charset="0"/>
                <a:sym typeface="Symbol" panose="05050102010706020507" pitchFamily="18" charset="2"/>
              </a:rPr>
              <a:t>1</a:t>
            </a:r>
            <a:r>
              <a:rPr lang="en-US" altLang="zh-CN" sz="2000" dirty="0">
                <a:latin typeface="Times New Roman" panose="02020503050405090304" pitchFamily="18" charset="0"/>
                <a:sym typeface="Symbol" panose="05050102010706020507" pitchFamily="18" charset="2"/>
              </a:rPr>
              <a:t>, </a:t>
            </a:r>
            <a:r>
              <a:rPr lang="en-US" altLang="zh-CN" sz="2000" i="1" dirty="0">
                <a:latin typeface="Times New Roman" panose="02020503050405090304" pitchFamily="18" charset="0"/>
                <a:sym typeface="Symbol" panose="05050102010706020507" pitchFamily="18" charset="2"/>
              </a:rPr>
              <a:t>etc.</a:t>
            </a:r>
            <a:endParaRPr lang="en-US" altLang="zh-CN" sz="2000" i="1" dirty="0">
              <a:latin typeface="Times New Roman" panose="02020503050405090304" pitchFamily="18" charset="0"/>
              <a:sym typeface="Symbol" panose="05050102010706020507" pitchFamily="18" charset="2"/>
            </a:endParaRPr>
          </a:p>
          <a:p>
            <a:pPr lvl="1" eaLnBrk="1" hangingPunct="1">
              <a:lnSpc>
                <a:spcPct val="90000"/>
              </a:lnSpc>
            </a:pPr>
            <a:r>
              <a:rPr lang="en-US" altLang="zh-CN" sz="2400" dirty="0">
                <a:latin typeface="Times New Roman" panose="02020503050405090304" pitchFamily="18" charset="0"/>
                <a:sym typeface="Symbol" panose="05050102010706020507" pitchFamily="18" charset="2"/>
              </a:rPr>
              <a:t>However, it is similar.</a:t>
            </a:r>
            <a:endParaRPr lang="en-US" altLang="zh-CN" sz="2400" dirty="0">
              <a:latin typeface="Times New Roman" panose="02020503050405090304" pitchFamily="18" charset="0"/>
              <a:sym typeface="Symbol" panose="05050102010706020507" pitchFamily="18" charset="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963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963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69637" name="Rectangle 2"/>
          <p:cNvSpPr>
            <a:spLocks noGrp="1"/>
          </p:cNvSpPr>
          <p:nvPr>
            <p:ph type="title"/>
          </p:nvPr>
        </p:nvSpPr>
        <p:spPr/>
        <p:txBody>
          <a:bodyPr vert="horz" wrap="square" lIns="91440" tIns="45720" rIns="91440" bIns="45720" anchor="b" anchorCtr="0"/>
          <a:p>
            <a:pPr eaLnBrk="1" hangingPunct="1"/>
            <a:r>
              <a:rPr lang="en-US" altLang="zh-CN" dirty="0"/>
              <a:t>Backward Reasoning Example</a:t>
            </a:r>
            <a:endParaRPr lang="en-US" altLang="zh-CN" dirty="0"/>
          </a:p>
        </p:txBody>
      </p:sp>
      <p:sp>
        <p:nvSpPr>
          <p:cNvPr id="69638" name="Rectangle 3"/>
          <p:cNvSpPr>
            <a:spLocks noGrp="1"/>
          </p:cNvSpPr>
          <p:nvPr>
            <p:ph idx="1"/>
          </p:nvPr>
        </p:nvSpPr>
        <p:spPr>
          <a:xfrm>
            <a:off x="1214438" y="1928813"/>
            <a:ext cx="7772400" cy="4114800"/>
          </a:xfrm>
        </p:spPr>
        <p:txBody>
          <a:bodyPr vert="horz" wrap="square" lIns="91440" tIns="45720" rIns="91440" bIns="45720" anchor="t" anchorCtr="0"/>
          <a:p>
            <a:pPr eaLnBrk="1" hangingPunct="1"/>
            <a:r>
              <a:rPr lang="en-US" altLang="zh-CN" sz="2800" b="1" dirty="0">
                <a:latin typeface="Times New Roman" panose="02020503050405090304" pitchFamily="18" charset="0"/>
              </a:rPr>
              <a:t>Theorem:</a:t>
            </a:r>
            <a:r>
              <a:rPr lang="en-US" altLang="zh-CN" sz="2800" dirty="0">
                <a:latin typeface="Times New Roman" panose="02020503050405090304" pitchFamily="18" charset="0"/>
              </a:rPr>
              <a:t> </a:t>
            </a:r>
            <a:br>
              <a:rPr lang="en-US" altLang="zh-CN" sz="2800" dirty="0">
                <a:latin typeface="Times New Roman" panose="02020503050405090304" pitchFamily="18" charset="0"/>
              </a:rPr>
            </a:br>
            <a:r>
              <a:rPr lang="en-US" altLang="zh-CN" sz="2800" dirty="0">
                <a:latin typeface="Times New Roman" panose="02020503050405090304" pitchFamily="18" charset="0"/>
              </a:rPr>
              <a:t>	</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a</a:t>
            </a:r>
            <a:r>
              <a:rPr lang="en-US" altLang="zh-CN" sz="2800" dirty="0">
                <a:solidFill>
                  <a:srgbClr val="FF0000"/>
                </a:solidFill>
                <a:latin typeface="Times New Roman" panose="02020503050405090304" pitchFamily="18" charset="0"/>
                <a:sym typeface="Symbol" panose="05050102010706020507" pitchFamily="18" charset="2"/>
              </a:rPr>
              <a:t>&gt;0,</a:t>
            </a:r>
            <a:r>
              <a:rPr lang="en-US" altLang="zh-CN" sz="2800" i="1" dirty="0">
                <a:solidFill>
                  <a:srgbClr val="FF0000"/>
                </a:solidFill>
                <a:latin typeface="Times New Roman" panose="02020503050405090304" pitchFamily="18" charset="0"/>
                <a:sym typeface="Symbol" panose="05050102010706020507" pitchFamily="18" charset="2"/>
              </a:rPr>
              <a:t>b</a:t>
            </a:r>
            <a:r>
              <a:rPr lang="en-US" altLang="zh-CN" sz="2800" dirty="0">
                <a:solidFill>
                  <a:srgbClr val="FF0000"/>
                </a:solidFill>
                <a:latin typeface="Times New Roman" panose="02020503050405090304" pitchFamily="18" charset="0"/>
                <a:sym typeface="Symbol" panose="05050102010706020507" pitchFamily="18" charset="2"/>
              </a:rPr>
              <a:t>&gt;0,</a:t>
            </a:r>
            <a:r>
              <a:rPr lang="en-US" altLang="zh-CN" sz="2800" i="1" dirty="0">
                <a:solidFill>
                  <a:srgbClr val="FF0000"/>
                </a:solidFill>
                <a:latin typeface="Times New Roman" panose="02020503050405090304" pitchFamily="18" charset="0"/>
                <a:sym typeface="Symbol" panose="05050102010706020507" pitchFamily="18" charset="2"/>
              </a:rPr>
              <a:t>a</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b</a:t>
            </a:r>
            <a:r>
              <a:rPr lang="en-US" altLang="zh-CN" sz="2800" dirty="0">
                <a:solidFill>
                  <a:srgbClr val="FF0000"/>
                </a:solidFill>
                <a:latin typeface="Times New Roman" panose="02020503050405090304" pitchFamily="18" charset="0"/>
                <a:sym typeface="Symbol" panose="05050102010706020507" pitchFamily="18" charset="2"/>
              </a:rPr>
              <a:t>: (</a:t>
            </a:r>
            <a:r>
              <a:rPr lang="en-US" altLang="zh-CN" sz="2800" i="1" dirty="0">
                <a:solidFill>
                  <a:srgbClr val="FF0000"/>
                </a:solidFill>
                <a:latin typeface="Times New Roman" panose="02020503050405090304" pitchFamily="18" charset="0"/>
                <a:sym typeface="Symbol" panose="05050102010706020507" pitchFamily="18" charset="2"/>
              </a:rPr>
              <a:t>a</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b</a:t>
            </a:r>
            <a:r>
              <a:rPr lang="en-US" altLang="zh-CN" sz="2800" dirty="0">
                <a:solidFill>
                  <a:srgbClr val="FF0000"/>
                </a:solidFill>
                <a:latin typeface="Times New Roman" panose="02020503050405090304" pitchFamily="18" charset="0"/>
                <a:sym typeface="Symbol" panose="05050102010706020507" pitchFamily="18" charset="2"/>
              </a:rPr>
              <a:t>)/2 &gt; (</a:t>
            </a:r>
            <a:r>
              <a:rPr lang="en-US" altLang="zh-CN" sz="2800" i="1" dirty="0">
                <a:solidFill>
                  <a:srgbClr val="FF0000"/>
                </a:solidFill>
                <a:latin typeface="Times New Roman" panose="02020503050405090304" pitchFamily="18" charset="0"/>
                <a:sym typeface="Symbol" panose="05050102010706020507" pitchFamily="18" charset="2"/>
              </a:rPr>
              <a:t>ab</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baseline="30000" dirty="0">
                <a:solidFill>
                  <a:srgbClr val="FF0000"/>
                </a:solidFill>
                <a:latin typeface="Times New Roman" panose="02020503050405090304" pitchFamily="18" charset="0"/>
                <a:sym typeface="Symbol" panose="05050102010706020507" pitchFamily="18" charset="2"/>
              </a:rPr>
              <a:t>1/2</a:t>
            </a:r>
            <a:r>
              <a:rPr lang="en-US" altLang="zh-CN" sz="2800" dirty="0">
                <a:latin typeface="Times New Roman" panose="02020503050405090304" pitchFamily="18" charset="0"/>
                <a:sym typeface="Symbol" panose="05050102010706020507" pitchFamily="18" charset="2"/>
              </a:rPr>
              <a:t>.</a:t>
            </a:r>
            <a:endParaRPr lang="en-US" altLang="zh-CN" sz="2800" dirty="0">
              <a:latin typeface="Times New Roman" panose="02020503050405090304" pitchFamily="18" charset="0"/>
              <a:sym typeface="Symbol" panose="05050102010706020507" pitchFamily="18" charset="2"/>
            </a:endParaRPr>
          </a:p>
          <a:p>
            <a:pPr eaLnBrk="1" hangingPunct="1"/>
            <a:r>
              <a:rPr lang="en-US" altLang="zh-CN" sz="2800" b="1" dirty="0">
                <a:latin typeface="Times New Roman" panose="02020503050405090304" pitchFamily="18" charset="0"/>
                <a:sym typeface="Symbol" panose="05050102010706020507" pitchFamily="18" charset="2"/>
              </a:rPr>
              <a:t>Proof:</a:t>
            </a:r>
            <a:endParaRPr lang="en-US" altLang="zh-CN" sz="2800" b="1" dirty="0">
              <a:latin typeface="Times New Roman" panose="02020503050405090304" pitchFamily="18" charset="0"/>
              <a:sym typeface="Symbol" panose="05050102010706020507" pitchFamily="18" charset="2"/>
            </a:endParaRPr>
          </a:p>
          <a:p>
            <a:pPr lvl="1" eaLnBrk="1" hangingPunct="1"/>
            <a:r>
              <a:rPr lang="en-US" altLang="zh-CN" sz="2400" dirty="0">
                <a:latin typeface="Times New Roman" panose="02020503050405090304" pitchFamily="18" charset="0"/>
                <a:sym typeface="Symbol" panose="05050102010706020507" pitchFamily="18" charset="2"/>
              </a:rPr>
              <a:t>Notice it is not obvious how to go from the premises </a:t>
            </a:r>
            <a:r>
              <a:rPr lang="en-US" altLang="zh-CN" sz="2400" i="1" dirty="0">
                <a:solidFill>
                  <a:srgbClr val="FF0000"/>
                </a:solidFill>
                <a:latin typeface="Times New Roman" panose="02020503050405090304" pitchFamily="18" charset="0"/>
                <a:sym typeface="Symbol" panose="05050102010706020507" pitchFamily="18" charset="2"/>
              </a:rPr>
              <a:t>a</a:t>
            </a:r>
            <a:r>
              <a:rPr lang="en-US" altLang="zh-CN" sz="2400" dirty="0">
                <a:solidFill>
                  <a:srgbClr val="FF0000"/>
                </a:solidFill>
                <a:latin typeface="Times New Roman" panose="02020503050405090304" pitchFamily="18" charset="0"/>
                <a:sym typeface="Symbol" panose="05050102010706020507" pitchFamily="18" charset="2"/>
              </a:rPr>
              <a:t>&gt;0</a:t>
            </a:r>
            <a:r>
              <a:rPr lang="en-US" altLang="zh-CN" sz="2400" dirty="0">
                <a:latin typeface="Times New Roman" panose="02020503050405090304" pitchFamily="18" charset="0"/>
                <a:sym typeface="Symbol" panose="05050102010706020507" pitchFamily="18" charset="2"/>
              </a:rPr>
              <a:t>, </a:t>
            </a:r>
            <a:r>
              <a:rPr lang="en-US" altLang="zh-CN" sz="2400" i="1" dirty="0">
                <a:solidFill>
                  <a:srgbClr val="FF0000"/>
                </a:solidFill>
                <a:latin typeface="Times New Roman" panose="02020503050405090304" pitchFamily="18" charset="0"/>
                <a:sym typeface="Symbol" panose="05050102010706020507" pitchFamily="18" charset="2"/>
              </a:rPr>
              <a:t>b</a:t>
            </a:r>
            <a:r>
              <a:rPr lang="en-US" altLang="zh-CN" sz="2400" dirty="0">
                <a:solidFill>
                  <a:srgbClr val="FF0000"/>
                </a:solidFill>
                <a:latin typeface="Times New Roman" panose="02020503050405090304" pitchFamily="18" charset="0"/>
                <a:sym typeface="Symbol" panose="05050102010706020507" pitchFamily="18" charset="2"/>
              </a:rPr>
              <a:t>&gt;0</a:t>
            </a:r>
            <a:r>
              <a:rPr lang="en-US" altLang="zh-CN" sz="2400" dirty="0">
                <a:latin typeface="Times New Roman" panose="02020503050405090304" pitchFamily="18" charset="0"/>
                <a:sym typeface="Symbol" panose="05050102010706020507" pitchFamily="18" charset="2"/>
              </a:rPr>
              <a:t>, </a:t>
            </a:r>
            <a:r>
              <a:rPr lang="en-US" altLang="zh-CN" sz="2400" i="1" dirty="0">
                <a:solidFill>
                  <a:srgbClr val="FF0000"/>
                </a:solidFill>
                <a:latin typeface="Times New Roman" panose="02020503050405090304" pitchFamily="18" charset="0"/>
                <a:sym typeface="Symbol" panose="05050102010706020507" pitchFamily="18" charset="2"/>
              </a:rPr>
              <a:t>a</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b</a:t>
            </a:r>
            <a:r>
              <a:rPr lang="en-US" altLang="zh-CN" sz="2400" dirty="0">
                <a:latin typeface="Times New Roman" panose="02020503050405090304" pitchFamily="18" charset="0"/>
                <a:sym typeface="Symbol" panose="05050102010706020507" pitchFamily="18" charset="2"/>
              </a:rPr>
              <a:t> directly forward to the conclusion </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a</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b</a:t>
            </a:r>
            <a:r>
              <a:rPr lang="en-US" altLang="zh-CN" sz="2400" dirty="0">
                <a:solidFill>
                  <a:srgbClr val="FF0000"/>
                </a:solidFill>
                <a:latin typeface="Times New Roman" panose="02020503050405090304" pitchFamily="18" charset="0"/>
                <a:sym typeface="Symbol" panose="05050102010706020507" pitchFamily="18" charset="2"/>
              </a:rPr>
              <a:t>)/2 &gt; (</a:t>
            </a:r>
            <a:r>
              <a:rPr lang="en-US" altLang="zh-CN" sz="2400" i="1" dirty="0">
                <a:solidFill>
                  <a:srgbClr val="FF0000"/>
                </a:solidFill>
                <a:latin typeface="Times New Roman" panose="02020503050405090304" pitchFamily="18" charset="0"/>
                <a:sym typeface="Symbol" panose="05050102010706020507" pitchFamily="18" charset="2"/>
              </a:rPr>
              <a:t>ab</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baseline="30000" dirty="0">
                <a:solidFill>
                  <a:srgbClr val="FF0000"/>
                </a:solidFill>
                <a:latin typeface="Times New Roman" panose="02020503050405090304" pitchFamily="18" charset="0"/>
                <a:sym typeface="Symbol" panose="05050102010706020507" pitchFamily="18" charset="2"/>
              </a:rPr>
              <a:t>1/2</a:t>
            </a:r>
            <a:r>
              <a:rPr lang="en-US" altLang="zh-CN" sz="2400" dirty="0">
                <a:latin typeface="Times New Roman" panose="02020503050405090304" pitchFamily="18" charset="0"/>
                <a:sym typeface="Symbol" panose="05050102010706020507" pitchFamily="18" charset="2"/>
              </a:rPr>
              <a:t>.</a:t>
            </a:r>
            <a:endParaRPr lang="en-US" altLang="zh-CN" sz="2400" dirty="0">
              <a:latin typeface="Times New Roman" panose="02020503050405090304" pitchFamily="18" charset="0"/>
              <a:sym typeface="Symbol" panose="05050102010706020507" pitchFamily="18" charset="2"/>
            </a:endParaRPr>
          </a:p>
          <a:p>
            <a:pPr lvl="1" eaLnBrk="1" hangingPunct="1"/>
            <a:r>
              <a:rPr lang="en-US" altLang="zh-CN" sz="2400" dirty="0">
                <a:latin typeface="Times New Roman" panose="02020503050405090304" pitchFamily="18" charset="0"/>
                <a:sym typeface="Symbol" panose="05050102010706020507" pitchFamily="18" charset="2"/>
              </a:rPr>
              <a:t>So, let’s work </a:t>
            </a:r>
            <a:r>
              <a:rPr lang="en-US" altLang="zh-CN" sz="2400" i="1" dirty="0">
                <a:latin typeface="Times New Roman" panose="02020503050405090304" pitchFamily="18" charset="0"/>
                <a:sym typeface="Symbol" panose="05050102010706020507" pitchFamily="18" charset="2"/>
              </a:rPr>
              <a:t>backwards</a:t>
            </a:r>
            <a:r>
              <a:rPr lang="en-US" altLang="zh-CN" sz="2400" dirty="0">
                <a:latin typeface="Times New Roman" panose="02020503050405090304" pitchFamily="18" charset="0"/>
                <a:sym typeface="Symbol" panose="05050102010706020507" pitchFamily="18" charset="2"/>
              </a:rPr>
              <a:t> from the conclusion, </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a</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b</a:t>
            </a:r>
            <a:r>
              <a:rPr lang="en-US" altLang="zh-CN" sz="2400" dirty="0">
                <a:solidFill>
                  <a:srgbClr val="FF0000"/>
                </a:solidFill>
                <a:latin typeface="Times New Roman" panose="02020503050405090304" pitchFamily="18" charset="0"/>
                <a:sym typeface="Symbol" panose="05050102010706020507" pitchFamily="18" charset="2"/>
              </a:rPr>
              <a:t>)/2 &gt; (</a:t>
            </a:r>
            <a:r>
              <a:rPr lang="en-US" altLang="zh-CN" sz="2400" i="1" dirty="0">
                <a:solidFill>
                  <a:srgbClr val="FF0000"/>
                </a:solidFill>
                <a:latin typeface="Times New Roman" panose="02020503050405090304" pitchFamily="18" charset="0"/>
                <a:sym typeface="Symbol" panose="05050102010706020507" pitchFamily="18" charset="2"/>
              </a:rPr>
              <a:t>ab</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baseline="30000" dirty="0">
                <a:solidFill>
                  <a:srgbClr val="FF0000"/>
                </a:solidFill>
                <a:latin typeface="Times New Roman" panose="02020503050405090304" pitchFamily="18" charset="0"/>
                <a:sym typeface="Symbol" panose="05050102010706020507" pitchFamily="18" charset="2"/>
              </a:rPr>
              <a:t>1/2</a:t>
            </a:r>
            <a:r>
              <a:rPr lang="en-US" altLang="zh-CN" sz="2400" baseline="30000" dirty="0">
                <a:latin typeface="Times New Roman" panose="02020503050405090304" pitchFamily="18" charset="0"/>
                <a:sym typeface="Symbol" panose="05050102010706020507" pitchFamily="18" charset="2"/>
              </a:rPr>
              <a:t> </a:t>
            </a:r>
            <a:r>
              <a:rPr lang="en-US" altLang="zh-CN" sz="2400" dirty="0">
                <a:latin typeface="Times New Roman" panose="02020503050405090304" pitchFamily="18" charset="0"/>
                <a:sym typeface="Symbol" panose="05050102010706020507" pitchFamily="18" charset="2"/>
              </a:rPr>
              <a:t>!</a:t>
            </a:r>
            <a:endParaRPr lang="en-US" altLang="zh-CN" sz="2400" dirty="0">
              <a:latin typeface="Times New Roman" panose="02020503050405090304" pitchFamily="18" charset="0"/>
              <a:sym typeface="Symbol" panose="05050102010706020507" pitchFamily="18" charset="2"/>
            </a:endParaRPr>
          </a:p>
        </p:txBody>
      </p:sp>
      <p:sp>
        <p:nvSpPr>
          <p:cNvPr id="69639" name="Text Box 4"/>
          <p:cNvSpPr txBox="1"/>
          <p:nvPr/>
        </p:nvSpPr>
        <p:spPr>
          <a:xfrm>
            <a:off x="228600" y="1524000"/>
            <a:ext cx="1660525" cy="461963"/>
          </a:xfrm>
          <a:prstGeom prst="rect">
            <a:avLst/>
          </a:prstGeom>
          <a:solidFill>
            <a:srgbClr val="FFFFCC"/>
          </a:solidFill>
          <a:ln w="57150" cap="flat" cmpd="sng">
            <a:solidFill>
              <a:srgbClr val="006600"/>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2400" dirty="0">
                <a:latin typeface="Times New Roman" panose="02020503050405090304" pitchFamily="18" charset="0"/>
              </a:rPr>
              <a:t>Example 14</a:t>
            </a:r>
            <a:endParaRPr lang="en-US" altLang="zh-CN" sz="2400" dirty="0">
              <a:latin typeface="Times New Roman" panose="0202050305040509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065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066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70661" name="Rectangle 2"/>
          <p:cNvSpPr>
            <a:spLocks noGrp="1"/>
          </p:cNvSpPr>
          <p:nvPr>
            <p:ph type="title"/>
          </p:nvPr>
        </p:nvSpPr>
        <p:spPr/>
        <p:txBody>
          <a:bodyPr vert="horz" wrap="square" lIns="91440" tIns="45720" rIns="91440" bIns="45720" anchor="b" anchorCtr="0"/>
          <a:p>
            <a:pPr eaLnBrk="1" hangingPunct="1"/>
            <a:r>
              <a:rPr lang="en-US" altLang="zh-CN" dirty="0"/>
              <a:t>Steps of Example</a:t>
            </a:r>
            <a:endParaRPr lang="en-US" altLang="zh-CN" dirty="0"/>
          </a:p>
        </p:txBody>
      </p:sp>
      <p:sp>
        <p:nvSpPr>
          <p:cNvPr id="70662" name="Rectangle 3"/>
          <p:cNvSpPr>
            <a:spLocks noGrp="1"/>
          </p:cNvSpPr>
          <p:nvPr>
            <p:ph idx="1"/>
          </p:nvPr>
        </p:nvSpPr>
        <p:spPr>
          <a:xfrm>
            <a:off x="1143000" y="1785938"/>
            <a:ext cx="7772400" cy="4114800"/>
          </a:xfrm>
        </p:spPr>
        <p:txBody>
          <a:bodyPr vert="horz" wrap="square" lIns="91440" tIns="45720" rIns="91440" bIns="45720" anchor="t" anchorCtr="0"/>
          <a:p>
            <a:pPr eaLnBrk="1" hangingPunct="1">
              <a:lnSpc>
                <a:spcPct val="80000"/>
              </a:lnSpc>
            </a:pPr>
            <a:r>
              <a:rPr lang="en-US" altLang="zh-CN" sz="2800" dirty="0">
                <a:solidFill>
                  <a:srgbClr val="FF0000"/>
                </a:solidFill>
                <a:latin typeface="Times New Roman" panose="02020503050405090304" pitchFamily="18" charset="0"/>
              </a:rPr>
              <a:t>(</a:t>
            </a:r>
            <a:r>
              <a:rPr lang="en-US" altLang="zh-CN" sz="2800" i="1" dirty="0">
                <a:solidFill>
                  <a:srgbClr val="FF0000"/>
                </a:solidFill>
                <a:latin typeface="Times New Roman" panose="02020503050405090304" pitchFamily="18" charset="0"/>
              </a:rPr>
              <a:t>a</a:t>
            </a:r>
            <a:r>
              <a:rPr lang="en-US" altLang="zh-CN" sz="2800" dirty="0">
                <a:solidFill>
                  <a:srgbClr val="FF0000"/>
                </a:solidFill>
                <a:latin typeface="Times New Roman" panose="02020503050405090304" pitchFamily="18" charset="0"/>
              </a:rPr>
              <a:t>+</a:t>
            </a:r>
            <a:r>
              <a:rPr lang="en-US" altLang="zh-CN" sz="2800" i="1" dirty="0">
                <a:solidFill>
                  <a:srgbClr val="FF0000"/>
                </a:solidFill>
                <a:latin typeface="Times New Roman" panose="02020503050405090304" pitchFamily="18" charset="0"/>
              </a:rPr>
              <a:t>b</a:t>
            </a:r>
            <a:r>
              <a:rPr lang="en-US" altLang="zh-CN" sz="2800" dirty="0">
                <a:solidFill>
                  <a:srgbClr val="FF0000"/>
                </a:solidFill>
                <a:latin typeface="Times New Roman" panose="02020503050405090304" pitchFamily="18" charset="0"/>
              </a:rPr>
              <a:t>)/2 &gt; (</a:t>
            </a:r>
            <a:r>
              <a:rPr lang="en-US" altLang="zh-CN" sz="2800" i="1" dirty="0">
                <a:solidFill>
                  <a:srgbClr val="FF0000"/>
                </a:solidFill>
                <a:latin typeface="Times New Roman" panose="02020503050405090304" pitchFamily="18" charset="0"/>
              </a:rPr>
              <a:t>ab</a:t>
            </a:r>
            <a:r>
              <a:rPr lang="en-US" altLang="zh-CN" sz="2800" dirty="0">
                <a:solidFill>
                  <a:srgbClr val="FF0000"/>
                </a:solidFill>
                <a:latin typeface="Times New Roman" panose="02020503050405090304" pitchFamily="18" charset="0"/>
              </a:rPr>
              <a:t>)</a:t>
            </a:r>
            <a:r>
              <a:rPr lang="en-US" altLang="zh-CN" sz="2800" baseline="30000" dirty="0">
                <a:solidFill>
                  <a:srgbClr val="FF0000"/>
                </a:solidFill>
                <a:latin typeface="Times New Roman" panose="02020503050405090304" pitchFamily="18" charset="0"/>
              </a:rPr>
              <a:t>1/2</a:t>
            </a:r>
            <a:r>
              <a:rPr lang="en-US" altLang="zh-CN" sz="2800" dirty="0">
                <a:latin typeface="Times New Roman" panose="02020503050405090304" pitchFamily="18" charset="0"/>
              </a:rPr>
              <a:t>  </a:t>
            </a:r>
            <a:r>
              <a:rPr lang="en-US" altLang="zh-CN" sz="2800" dirty="0">
                <a:latin typeface="Times New Roman" panose="02020503050405090304" pitchFamily="18" charset="0"/>
                <a:sym typeface="Symbol" panose="05050102010706020507" pitchFamily="18" charset="2"/>
              </a:rPr>
              <a:t>    </a:t>
            </a:r>
            <a:r>
              <a:rPr lang="en-US" altLang="zh-CN" sz="2800" dirty="0">
                <a:solidFill>
                  <a:srgbClr val="006600"/>
                </a:solidFill>
                <a:latin typeface="Times New Roman" panose="02020503050405090304" pitchFamily="18" charset="0"/>
                <a:sym typeface="Symbol" panose="05050102010706020507" pitchFamily="18" charset="2"/>
              </a:rPr>
              <a:t>(squaring both sides)</a:t>
            </a:r>
            <a:endParaRPr lang="en-US" altLang="zh-CN" sz="2800" dirty="0">
              <a:solidFill>
                <a:srgbClr val="006600"/>
              </a:solidFill>
              <a:latin typeface="Times New Roman" panose="02020503050405090304" pitchFamily="18" charset="0"/>
              <a:sym typeface="Symbol" panose="05050102010706020507" pitchFamily="18" charset="2"/>
            </a:endParaRPr>
          </a:p>
          <a:p>
            <a:pPr lvl="1" eaLnBrk="1" hangingPunct="1">
              <a:lnSpc>
                <a:spcPct val="80000"/>
              </a:lnSpc>
            </a:pPr>
            <a:r>
              <a:rPr lang="en-US" altLang="zh-CN" sz="2400" dirty="0">
                <a:latin typeface="Times New Roman" panose="02020503050405090304" pitchFamily="18" charset="0"/>
                <a:sym typeface="Symbol" panose="05050102010706020507" pitchFamily="18" charset="2"/>
              </a:rPr>
              <a:t>This preserves the “&gt;” since both sides are positive.</a:t>
            </a:r>
            <a:endParaRPr lang="en-US" altLang="zh-CN" sz="2400" dirty="0">
              <a:latin typeface="Times New Roman" panose="02020503050405090304" pitchFamily="18" charset="0"/>
              <a:sym typeface="Symbol" panose="05050102010706020507" pitchFamily="18" charset="2"/>
            </a:endParaRPr>
          </a:p>
          <a:p>
            <a:pPr eaLnBrk="1" hangingPunct="1">
              <a:lnSpc>
                <a:spcPct val="80000"/>
              </a:lnSpc>
            </a:pP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a</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b</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baseline="30000" dirty="0">
                <a:solidFill>
                  <a:srgbClr val="FF0000"/>
                </a:solidFill>
                <a:latin typeface="Times New Roman" panose="02020503050405090304" pitchFamily="18" charset="0"/>
                <a:sym typeface="Symbol" panose="05050102010706020507" pitchFamily="18" charset="2"/>
              </a:rPr>
              <a:t>2</a:t>
            </a:r>
            <a:r>
              <a:rPr lang="en-US" altLang="zh-CN" sz="2800" dirty="0">
                <a:solidFill>
                  <a:srgbClr val="FF0000"/>
                </a:solidFill>
                <a:latin typeface="Times New Roman" panose="02020503050405090304" pitchFamily="18" charset="0"/>
                <a:sym typeface="Symbol" panose="05050102010706020507" pitchFamily="18" charset="2"/>
              </a:rPr>
              <a:t>/4 &gt; </a:t>
            </a:r>
            <a:r>
              <a:rPr lang="en-US" altLang="zh-CN" sz="2800" i="1" dirty="0">
                <a:solidFill>
                  <a:srgbClr val="FF0000"/>
                </a:solidFill>
                <a:latin typeface="Times New Roman" panose="02020503050405090304" pitchFamily="18" charset="0"/>
                <a:sym typeface="Symbol" panose="05050102010706020507" pitchFamily="18" charset="2"/>
              </a:rPr>
              <a:t>ab</a:t>
            </a:r>
            <a:r>
              <a:rPr lang="en-US" altLang="zh-CN" sz="2800" i="1" dirty="0">
                <a:latin typeface="Times New Roman" panose="02020503050405090304" pitchFamily="18" charset="0"/>
                <a:sym typeface="Symbol" panose="05050102010706020507" pitchFamily="18" charset="2"/>
              </a:rPr>
              <a:t> </a:t>
            </a:r>
            <a:r>
              <a:rPr lang="en-US" altLang="zh-CN" sz="2800" dirty="0">
                <a:latin typeface="Times New Roman" panose="02020503050405090304" pitchFamily="18" charset="0"/>
                <a:sym typeface="Symbol" panose="05050102010706020507" pitchFamily="18" charset="2"/>
              </a:rPr>
              <a:t> </a:t>
            </a:r>
            <a:r>
              <a:rPr lang="en-US" altLang="zh-CN" sz="2800" dirty="0">
                <a:solidFill>
                  <a:srgbClr val="006600"/>
                </a:solidFill>
                <a:latin typeface="Times New Roman" panose="02020503050405090304" pitchFamily="18" charset="0"/>
                <a:sym typeface="Symbol" panose="05050102010706020507" pitchFamily="18" charset="2"/>
              </a:rPr>
              <a:t>(multiplying through by 4)</a:t>
            </a:r>
            <a:endParaRPr lang="en-US" altLang="zh-CN" sz="2800" dirty="0">
              <a:solidFill>
                <a:srgbClr val="006600"/>
              </a:solidFill>
              <a:latin typeface="Times New Roman" panose="02020503050405090304" pitchFamily="18" charset="0"/>
              <a:sym typeface="Symbol" panose="05050102010706020507" pitchFamily="18" charset="2"/>
            </a:endParaRPr>
          </a:p>
          <a:p>
            <a:pPr eaLnBrk="1" hangingPunct="1">
              <a:lnSpc>
                <a:spcPct val="80000"/>
              </a:lnSpc>
            </a:pP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a</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b</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baseline="30000" dirty="0">
                <a:solidFill>
                  <a:srgbClr val="FF0000"/>
                </a:solidFill>
                <a:latin typeface="Times New Roman" panose="02020503050405090304" pitchFamily="18" charset="0"/>
                <a:sym typeface="Symbol" panose="05050102010706020507" pitchFamily="18" charset="2"/>
              </a:rPr>
              <a:t>2</a:t>
            </a:r>
            <a:r>
              <a:rPr lang="en-US" altLang="zh-CN" sz="2800" dirty="0">
                <a:solidFill>
                  <a:srgbClr val="FF0000"/>
                </a:solidFill>
                <a:latin typeface="Times New Roman" panose="02020503050405090304" pitchFamily="18" charset="0"/>
                <a:sym typeface="Symbol" panose="05050102010706020507" pitchFamily="18" charset="2"/>
              </a:rPr>
              <a:t> &gt; 4</a:t>
            </a:r>
            <a:r>
              <a:rPr lang="en-US" altLang="zh-CN" sz="2800" i="1" dirty="0">
                <a:solidFill>
                  <a:srgbClr val="FF0000"/>
                </a:solidFill>
                <a:latin typeface="Times New Roman" panose="02020503050405090304" pitchFamily="18" charset="0"/>
                <a:sym typeface="Symbol" panose="05050102010706020507" pitchFamily="18" charset="2"/>
              </a:rPr>
              <a:t>ab</a:t>
            </a:r>
            <a:r>
              <a:rPr lang="en-US" altLang="zh-CN" sz="2800" dirty="0">
                <a:latin typeface="Times New Roman" panose="02020503050405090304" pitchFamily="18" charset="0"/>
                <a:sym typeface="Symbol" panose="05050102010706020507" pitchFamily="18" charset="2"/>
              </a:rPr>
              <a:t>                     </a:t>
            </a:r>
            <a:r>
              <a:rPr lang="en-US" altLang="zh-CN" sz="2800" dirty="0">
                <a:solidFill>
                  <a:srgbClr val="006600"/>
                </a:solidFill>
                <a:latin typeface="Times New Roman" panose="02020503050405090304" pitchFamily="18" charset="0"/>
                <a:sym typeface="Symbol" panose="05050102010706020507" pitchFamily="18" charset="2"/>
              </a:rPr>
              <a:t>(squaring </a:t>
            </a:r>
            <a:r>
              <a:rPr lang="en-US" altLang="zh-CN" sz="2800" i="1" dirty="0">
                <a:solidFill>
                  <a:srgbClr val="006600"/>
                </a:solidFill>
                <a:latin typeface="Times New Roman" panose="02020503050405090304" pitchFamily="18" charset="0"/>
                <a:sym typeface="Symbol" panose="05050102010706020507" pitchFamily="18" charset="2"/>
              </a:rPr>
              <a:t>a</a:t>
            </a:r>
            <a:r>
              <a:rPr lang="en-US" altLang="zh-CN" sz="2800" dirty="0">
                <a:solidFill>
                  <a:srgbClr val="006600"/>
                </a:solidFill>
                <a:latin typeface="Times New Roman" panose="02020503050405090304" pitchFamily="18" charset="0"/>
                <a:sym typeface="Symbol" panose="05050102010706020507" pitchFamily="18" charset="2"/>
              </a:rPr>
              <a:t>+</a:t>
            </a:r>
            <a:r>
              <a:rPr lang="en-US" altLang="zh-CN" sz="2800" i="1" dirty="0">
                <a:solidFill>
                  <a:srgbClr val="006600"/>
                </a:solidFill>
                <a:latin typeface="Times New Roman" panose="02020503050405090304" pitchFamily="18" charset="0"/>
                <a:sym typeface="Symbol" panose="05050102010706020507" pitchFamily="18" charset="2"/>
              </a:rPr>
              <a:t>b</a:t>
            </a:r>
            <a:r>
              <a:rPr lang="en-US" altLang="zh-CN" sz="2800" dirty="0">
                <a:solidFill>
                  <a:srgbClr val="006600"/>
                </a:solidFill>
                <a:latin typeface="Times New Roman" panose="02020503050405090304" pitchFamily="18" charset="0"/>
                <a:sym typeface="Symbol" panose="05050102010706020507" pitchFamily="18" charset="2"/>
              </a:rPr>
              <a:t>)</a:t>
            </a:r>
            <a:endParaRPr lang="en-US" altLang="zh-CN" sz="2800" dirty="0">
              <a:solidFill>
                <a:srgbClr val="006600"/>
              </a:solidFill>
              <a:latin typeface="Times New Roman" panose="02020503050405090304" pitchFamily="18" charset="0"/>
              <a:sym typeface="Symbol" panose="05050102010706020507" pitchFamily="18" charset="2"/>
            </a:endParaRPr>
          </a:p>
          <a:p>
            <a:pPr eaLnBrk="1" hangingPunct="1">
              <a:lnSpc>
                <a:spcPct val="80000"/>
              </a:lnSpc>
            </a:pPr>
            <a:r>
              <a:rPr lang="en-US" altLang="zh-CN" sz="2800" i="1" dirty="0">
                <a:solidFill>
                  <a:srgbClr val="FF0000"/>
                </a:solidFill>
                <a:latin typeface="Times New Roman" panose="02020503050405090304" pitchFamily="18" charset="0"/>
                <a:sym typeface="Symbol" panose="05050102010706020507" pitchFamily="18" charset="2"/>
              </a:rPr>
              <a:t>a</a:t>
            </a:r>
            <a:r>
              <a:rPr lang="en-US" altLang="zh-CN" sz="2800" baseline="30000" dirty="0">
                <a:solidFill>
                  <a:srgbClr val="FF0000"/>
                </a:solidFill>
                <a:latin typeface="Times New Roman" panose="02020503050405090304" pitchFamily="18" charset="0"/>
                <a:sym typeface="Symbol" panose="05050102010706020507" pitchFamily="18" charset="2"/>
              </a:rPr>
              <a:t>2</a:t>
            </a:r>
            <a:r>
              <a:rPr lang="en-US" altLang="zh-CN" sz="2800" dirty="0">
                <a:solidFill>
                  <a:srgbClr val="FF0000"/>
                </a:solidFill>
                <a:latin typeface="Times New Roman" panose="02020503050405090304" pitchFamily="18" charset="0"/>
                <a:sym typeface="Symbol" panose="05050102010706020507" pitchFamily="18" charset="2"/>
              </a:rPr>
              <a:t>+2</a:t>
            </a:r>
            <a:r>
              <a:rPr lang="en-US" altLang="zh-CN" sz="2800" i="1" dirty="0">
                <a:solidFill>
                  <a:srgbClr val="FF0000"/>
                </a:solidFill>
                <a:latin typeface="Times New Roman" panose="02020503050405090304" pitchFamily="18" charset="0"/>
                <a:sym typeface="Symbol" panose="05050102010706020507" pitchFamily="18" charset="2"/>
              </a:rPr>
              <a:t>ab</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b</a:t>
            </a:r>
            <a:r>
              <a:rPr lang="en-US" altLang="zh-CN" sz="2800" baseline="30000" dirty="0">
                <a:solidFill>
                  <a:srgbClr val="FF0000"/>
                </a:solidFill>
                <a:latin typeface="Times New Roman" panose="02020503050405090304" pitchFamily="18" charset="0"/>
                <a:sym typeface="Symbol" panose="05050102010706020507" pitchFamily="18" charset="2"/>
              </a:rPr>
              <a:t>2</a:t>
            </a:r>
            <a:r>
              <a:rPr lang="en-US" altLang="zh-CN" sz="2800" dirty="0">
                <a:solidFill>
                  <a:srgbClr val="FF0000"/>
                </a:solidFill>
                <a:latin typeface="Times New Roman" panose="02020503050405090304" pitchFamily="18" charset="0"/>
                <a:sym typeface="Symbol" panose="05050102010706020507" pitchFamily="18" charset="2"/>
              </a:rPr>
              <a:t> &gt; 4</a:t>
            </a:r>
            <a:r>
              <a:rPr lang="en-US" altLang="zh-CN" sz="2800" i="1" dirty="0">
                <a:solidFill>
                  <a:srgbClr val="FF0000"/>
                </a:solidFill>
                <a:latin typeface="Times New Roman" panose="02020503050405090304" pitchFamily="18" charset="0"/>
                <a:sym typeface="Symbol" panose="05050102010706020507" pitchFamily="18" charset="2"/>
              </a:rPr>
              <a:t>ab</a:t>
            </a:r>
            <a:r>
              <a:rPr lang="en-US" altLang="zh-CN" sz="2800" dirty="0">
                <a:latin typeface="Times New Roman" panose="02020503050405090304" pitchFamily="18" charset="0"/>
                <a:sym typeface="Symbol" panose="05050102010706020507" pitchFamily="18" charset="2"/>
              </a:rPr>
              <a:t>     </a:t>
            </a:r>
            <a:r>
              <a:rPr lang="en-US" altLang="zh-CN" sz="2800" dirty="0">
                <a:solidFill>
                  <a:srgbClr val="006600"/>
                </a:solidFill>
                <a:latin typeface="Times New Roman" panose="02020503050405090304" pitchFamily="18" charset="0"/>
                <a:sym typeface="Symbol" panose="05050102010706020507" pitchFamily="18" charset="2"/>
              </a:rPr>
              <a:t>(subtracting out 4</a:t>
            </a:r>
            <a:r>
              <a:rPr lang="en-US" altLang="zh-CN" sz="2800" i="1" dirty="0">
                <a:solidFill>
                  <a:srgbClr val="006600"/>
                </a:solidFill>
                <a:latin typeface="Times New Roman" panose="02020503050405090304" pitchFamily="18" charset="0"/>
                <a:sym typeface="Symbol" panose="05050102010706020507" pitchFamily="18" charset="2"/>
              </a:rPr>
              <a:t>ab</a:t>
            </a:r>
            <a:r>
              <a:rPr lang="en-US" altLang="zh-CN" sz="2800" dirty="0">
                <a:solidFill>
                  <a:srgbClr val="006600"/>
                </a:solidFill>
                <a:latin typeface="Times New Roman" panose="02020503050405090304" pitchFamily="18" charset="0"/>
                <a:sym typeface="Symbol" panose="05050102010706020507" pitchFamily="18" charset="2"/>
              </a:rPr>
              <a:t>)</a:t>
            </a:r>
            <a:endParaRPr lang="en-US" altLang="zh-CN" sz="2800" dirty="0">
              <a:solidFill>
                <a:srgbClr val="006600"/>
              </a:solidFill>
              <a:latin typeface="Times New Roman" panose="02020503050405090304" pitchFamily="18" charset="0"/>
              <a:sym typeface="Symbol" panose="05050102010706020507" pitchFamily="18" charset="2"/>
            </a:endParaRPr>
          </a:p>
          <a:p>
            <a:pPr eaLnBrk="1" hangingPunct="1">
              <a:lnSpc>
                <a:spcPct val="80000"/>
              </a:lnSpc>
            </a:pPr>
            <a:r>
              <a:rPr lang="en-US" altLang="zh-CN" sz="2800" i="1" dirty="0">
                <a:solidFill>
                  <a:srgbClr val="FF0000"/>
                </a:solidFill>
                <a:latin typeface="Times New Roman" panose="02020503050405090304" pitchFamily="18" charset="0"/>
                <a:sym typeface="Symbol" panose="05050102010706020507" pitchFamily="18" charset="2"/>
              </a:rPr>
              <a:t>a</a:t>
            </a:r>
            <a:r>
              <a:rPr lang="en-US" altLang="zh-CN" sz="2800" baseline="30000" dirty="0">
                <a:solidFill>
                  <a:srgbClr val="FF0000"/>
                </a:solidFill>
                <a:latin typeface="Times New Roman" panose="02020503050405090304" pitchFamily="18" charset="0"/>
                <a:sym typeface="Symbol" panose="05050102010706020507" pitchFamily="18" charset="2"/>
              </a:rPr>
              <a:t>2</a:t>
            </a:r>
            <a:r>
              <a:rPr lang="en-US" altLang="zh-CN" sz="2800" dirty="0">
                <a:solidFill>
                  <a:srgbClr val="FF0000"/>
                </a:solidFill>
                <a:latin typeface="Times New Roman" panose="02020503050405090304" pitchFamily="18" charset="0"/>
                <a:sym typeface="Symbol" panose="05050102010706020507" pitchFamily="18" charset="2"/>
              </a:rPr>
              <a:t>−2</a:t>
            </a:r>
            <a:r>
              <a:rPr lang="en-US" altLang="zh-CN" sz="2800" i="1" dirty="0">
                <a:solidFill>
                  <a:srgbClr val="FF0000"/>
                </a:solidFill>
                <a:latin typeface="Times New Roman" panose="02020503050405090304" pitchFamily="18" charset="0"/>
                <a:sym typeface="Symbol" panose="05050102010706020507" pitchFamily="18" charset="2"/>
              </a:rPr>
              <a:t>ab</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b</a:t>
            </a:r>
            <a:r>
              <a:rPr lang="en-US" altLang="zh-CN" sz="2800" baseline="30000" dirty="0">
                <a:solidFill>
                  <a:srgbClr val="FF0000"/>
                </a:solidFill>
                <a:latin typeface="Times New Roman" panose="02020503050405090304" pitchFamily="18" charset="0"/>
                <a:sym typeface="Symbol" panose="05050102010706020507" pitchFamily="18" charset="2"/>
              </a:rPr>
              <a:t>2</a:t>
            </a:r>
            <a:r>
              <a:rPr lang="en-US" altLang="zh-CN" sz="2800" dirty="0">
                <a:solidFill>
                  <a:srgbClr val="FF0000"/>
                </a:solidFill>
                <a:latin typeface="Times New Roman" panose="02020503050405090304" pitchFamily="18" charset="0"/>
                <a:sym typeface="Symbol" panose="05050102010706020507" pitchFamily="18" charset="2"/>
              </a:rPr>
              <a:t> &gt; 0</a:t>
            </a:r>
            <a:r>
              <a:rPr lang="en-US" altLang="zh-CN" sz="2800" dirty="0">
                <a:latin typeface="Times New Roman" panose="02020503050405090304" pitchFamily="18" charset="0"/>
                <a:sym typeface="Symbol" panose="05050102010706020507" pitchFamily="18" charset="2"/>
              </a:rPr>
              <a:t>            </a:t>
            </a:r>
            <a:r>
              <a:rPr lang="en-US" altLang="zh-CN" sz="2800" dirty="0">
                <a:solidFill>
                  <a:srgbClr val="006600"/>
                </a:solidFill>
                <a:latin typeface="Times New Roman" panose="02020503050405090304" pitchFamily="18" charset="0"/>
                <a:sym typeface="Symbol" panose="05050102010706020507" pitchFamily="18" charset="2"/>
              </a:rPr>
              <a:t>(factoring left side)</a:t>
            </a:r>
            <a:endParaRPr lang="en-US" altLang="zh-CN" sz="2800" dirty="0">
              <a:solidFill>
                <a:srgbClr val="006600"/>
              </a:solidFill>
              <a:latin typeface="Times New Roman" panose="02020503050405090304" pitchFamily="18" charset="0"/>
              <a:sym typeface="Symbol" panose="05050102010706020507" pitchFamily="18" charset="2"/>
            </a:endParaRPr>
          </a:p>
          <a:p>
            <a:pPr eaLnBrk="1" hangingPunct="1">
              <a:lnSpc>
                <a:spcPct val="80000"/>
              </a:lnSpc>
            </a:pP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a</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b</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baseline="30000" dirty="0">
                <a:solidFill>
                  <a:srgbClr val="FF0000"/>
                </a:solidFill>
                <a:latin typeface="Times New Roman" panose="02020503050405090304" pitchFamily="18" charset="0"/>
                <a:sym typeface="Symbol" panose="05050102010706020507" pitchFamily="18" charset="2"/>
              </a:rPr>
              <a:t>2</a:t>
            </a:r>
            <a:r>
              <a:rPr lang="en-US" altLang="zh-CN" sz="2800" dirty="0">
                <a:solidFill>
                  <a:srgbClr val="FF0000"/>
                </a:solidFill>
                <a:latin typeface="Times New Roman" panose="02020503050405090304" pitchFamily="18" charset="0"/>
                <a:sym typeface="Symbol" panose="05050102010706020507" pitchFamily="18" charset="2"/>
              </a:rPr>
              <a:t> &gt; 0</a:t>
            </a:r>
            <a:endParaRPr lang="en-US" altLang="zh-CN" sz="2800" dirty="0">
              <a:solidFill>
                <a:srgbClr val="FF0000"/>
              </a:solidFill>
              <a:latin typeface="Times New Roman" panose="02020503050405090304" pitchFamily="18" charset="0"/>
              <a:sym typeface="Symbol" panose="05050102010706020507" pitchFamily="18" charset="2"/>
            </a:endParaRPr>
          </a:p>
          <a:p>
            <a:pPr eaLnBrk="1" hangingPunct="1">
              <a:lnSpc>
                <a:spcPct val="80000"/>
              </a:lnSpc>
            </a:pPr>
            <a:r>
              <a:rPr lang="en-US" altLang="zh-CN" sz="2800" dirty="0">
                <a:latin typeface="Times New Roman" panose="02020503050405090304" pitchFamily="18" charset="0"/>
                <a:sym typeface="Symbol" panose="05050102010706020507" pitchFamily="18" charset="2"/>
              </a:rPr>
              <a:t>Now, since </a:t>
            </a:r>
            <a:r>
              <a:rPr lang="en-US" altLang="zh-CN" sz="2800" i="1" dirty="0">
                <a:solidFill>
                  <a:srgbClr val="FF0000"/>
                </a:solidFill>
                <a:latin typeface="Times New Roman" panose="02020503050405090304" pitchFamily="18" charset="0"/>
                <a:sym typeface="Symbol" panose="05050102010706020507" pitchFamily="18" charset="2"/>
              </a:rPr>
              <a:t>a</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b</a:t>
            </a:r>
            <a:r>
              <a:rPr lang="en-US" altLang="zh-CN" sz="2800" dirty="0">
                <a:latin typeface="Times New Roman" panose="02020503050405090304" pitchFamily="18" charset="0"/>
                <a:sym typeface="Symbol" panose="05050102010706020507" pitchFamily="18" charset="2"/>
              </a:rPr>
              <a:t>, </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a</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b</a:t>
            </a:r>
            <a:r>
              <a:rPr lang="en-US" altLang="zh-CN" sz="2800" dirty="0">
                <a:solidFill>
                  <a:srgbClr val="FF0000"/>
                </a:solidFill>
                <a:latin typeface="Times New Roman" panose="02020503050405090304" pitchFamily="18" charset="0"/>
                <a:sym typeface="Symbol" panose="05050102010706020507" pitchFamily="18" charset="2"/>
              </a:rPr>
              <a:t>)≠0</a:t>
            </a:r>
            <a:r>
              <a:rPr lang="en-US" altLang="zh-CN" sz="2800" dirty="0">
                <a:latin typeface="Times New Roman" panose="02020503050405090304" pitchFamily="18" charset="0"/>
                <a:sym typeface="Symbol" panose="05050102010706020507" pitchFamily="18" charset="2"/>
              </a:rPr>
              <a:t>, thus </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a</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b</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baseline="30000" dirty="0">
                <a:solidFill>
                  <a:srgbClr val="FF0000"/>
                </a:solidFill>
                <a:latin typeface="Times New Roman" panose="02020503050405090304" pitchFamily="18" charset="0"/>
                <a:sym typeface="Symbol" panose="05050102010706020507" pitchFamily="18" charset="2"/>
              </a:rPr>
              <a:t>2</a:t>
            </a:r>
            <a:r>
              <a:rPr lang="en-US" altLang="zh-CN" sz="2800" dirty="0">
                <a:solidFill>
                  <a:srgbClr val="FF0000"/>
                </a:solidFill>
                <a:latin typeface="Times New Roman" panose="02020503050405090304" pitchFamily="18" charset="0"/>
                <a:sym typeface="Symbol" panose="05050102010706020507" pitchFamily="18" charset="2"/>
              </a:rPr>
              <a:t>&gt;0</a:t>
            </a:r>
            <a:r>
              <a:rPr lang="en-US" altLang="zh-CN" sz="2800" dirty="0">
                <a:latin typeface="Times New Roman" panose="02020503050405090304" pitchFamily="18" charset="0"/>
                <a:sym typeface="Symbol" panose="05050102010706020507" pitchFamily="18" charset="2"/>
              </a:rPr>
              <a:t>, and we can work our way back along the chain of steps…</a:t>
            </a:r>
            <a:endParaRPr lang="en-US" altLang="zh-CN" sz="2800" dirty="0">
              <a:latin typeface="Times New Roman" panose="02020503050405090304" pitchFamily="18" charset="0"/>
              <a:sym typeface="Symbol" panose="05050102010706020507" pitchFamily="18" charset="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168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168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71685" name="Rectangle 2"/>
          <p:cNvSpPr>
            <a:spLocks noGrp="1"/>
          </p:cNvSpPr>
          <p:nvPr>
            <p:ph type="title"/>
          </p:nvPr>
        </p:nvSpPr>
        <p:spPr/>
        <p:txBody>
          <a:bodyPr vert="horz" wrap="square" lIns="91440" tIns="45720" rIns="91440" bIns="45720" anchor="b" anchorCtr="0"/>
          <a:p>
            <a:pPr eaLnBrk="1" hangingPunct="1"/>
            <a:r>
              <a:rPr lang="zh-CN" altLang="en-US" sz="4000" dirty="0">
                <a:latin typeface="Times New Roman" panose="02020503050405090304" pitchFamily="18" charset="0"/>
              </a:rPr>
              <a:t>“</a:t>
            </a:r>
            <a:r>
              <a:rPr lang="en-US" altLang="zh-CN" sz="4000" dirty="0"/>
              <a:t>Forwardized</a:t>
            </a:r>
            <a:r>
              <a:rPr lang="en-US" altLang="zh-CN" sz="4000" dirty="0">
                <a:latin typeface="Times New Roman" panose="02020503050405090304" pitchFamily="18" charset="0"/>
              </a:rPr>
              <a:t>”</a:t>
            </a:r>
            <a:r>
              <a:rPr lang="en-US" altLang="zh-CN" sz="4000" dirty="0"/>
              <a:t> version of Example</a:t>
            </a:r>
            <a:endParaRPr lang="en-US" altLang="zh-CN" sz="4000" dirty="0"/>
          </a:p>
        </p:txBody>
      </p:sp>
      <p:sp>
        <p:nvSpPr>
          <p:cNvPr id="71686" name="Rectangle 3"/>
          <p:cNvSpPr>
            <a:spLocks noGrp="1"/>
          </p:cNvSpPr>
          <p:nvPr>
            <p:ph idx="1"/>
          </p:nvPr>
        </p:nvSpPr>
        <p:spPr>
          <a:xfrm>
            <a:off x="971550" y="1484630"/>
            <a:ext cx="7772400" cy="4114800"/>
          </a:xfrm>
        </p:spPr>
        <p:txBody>
          <a:bodyPr vert="horz" wrap="square" lIns="91440" tIns="45720" rIns="91440" bIns="45720" anchor="t" anchorCtr="0"/>
          <a:p>
            <a:pPr eaLnBrk="1" hangingPunct="1">
              <a:lnSpc>
                <a:spcPct val="80000"/>
              </a:lnSpc>
            </a:pPr>
            <a:r>
              <a:rPr lang="en-US" altLang="zh-CN" sz="2800" b="1" dirty="0">
                <a:latin typeface="Times New Roman" panose="02020503050405090304" pitchFamily="18" charset="0"/>
              </a:rPr>
              <a:t>Theorem:</a:t>
            </a:r>
            <a:r>
              <a:rPr lang="en-US" altLang="zh-CN" sz="2800" dirty="0">
                <a:latin typeface="Times New Roman" panose="02020503050405090304" pitchFamily="18" charset="0"/>
              </a:rPr>
              <a:t> </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a</a:t>
            </a:r>
            <a:r>
              <a:rPr lang="en-US" altLang="zh-CN" sz="2800" dirty="0">
                <a:solidFill>
                  <a:srgbClr val="FF0000"/>
                </a:solidFill>
                <a:latin typeface="Times New Roman" panose="02020503050405090304" pitchFamily="18" charset="0"/>
                <a:sym typeface="Symbol" panose="05050102010706020507" pitchFamily="18" charset="2"/>
              </a:rPr>
              <a:t>&gt;0,</a:t>
            </a:r>
            <a:r>
              <a:rPr lang="en-US" altLang="zh-CN" sz="2800" i="1" dirty="0">
                <a:solidFill>
                  <a:srgbClr val="FF0000"/>
                </a:solidFill>
                <a:latin typeface="Times New Roman" panose="02020503050405090304" pitchFamily="18" charset="0"/>
                <a:sym typeface="Symbol" panose="05050102010706020507" pitchFamily="18" charset="2"/>
              </a:rPr>
              <a:t>b</a:t>
            </a:r>
            <a:r>
              <a:rPr lang="en-US" altLang="zh-CN" sz="2800" dirty="0">
                <a:solidFill>
                  <a:srgbClr val="FF0000"/>
                </a:solidFill>
                <a:latin typeface="Times New Roman" panose="02020503050405090304" pitchFamily="18" charset="0"/>
                <a:sym typeface="Symbol" panose="05050102010706020507" pitchFamily="18" charset="2"/>
              </a:rPr>
              <a:t>&gt;0,</a:t>
            </a:r>
            <a:r>
              <a:rPr lang="en-US" altLang="zh-CN" sz="2800" i="1" dirty="0">
                <a:solidFill>
                  <a:srgbClr val="FF0000"/>
                </a:solidFill>
                <a:latin typeface="Times New Roman" panose="02020503050405090304" pitchFamily="18" charset="0"/>
                <a:sym typeface="Symbol" panose="05050102010706020507" pitchFamily="18" charset="2"/>
              </a:rPr>
              <a:t>a</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b</a:t>
            </a:r>
            <a:r>
              <a:rPr lang="en-US" altLang="zh-CN" sz="2800" dirty="0">
                <a:solidFill>
                  <a:srgbClr val="FF0000"/>
                </a:solidFill>
                <a:latin typeface="Times New Roman" panose="02020503050405090304" pitchFamily="18" charset="0"/>
                <a:sym typeface="Symbol" panose="05050102010706020507" pitchFamily="18" charset="2"/>
              </a:rPr>
              <a:t>: (</a:t>
            </a:r>
            <a:r>
              <a:rPr lang="en-US" altLang="zh-CN" sz="2800" i="1" dirty="0">
                <a:solidFill>
                  <a:srgbClr val="FF0000"/>
                </a:solidFill>
                <a:latin typeface="Times New Roman" panose="02020503050405090304" pitchFamily="18" charset="0"/>
                <a:sym typeface="Symbol" panose="05050102010706020507" pitchFamily="18" charset="2"/>
              </a:rPr>
              <a:t>a</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i="1" dirty="0">
                <a:solidFill>
                  <a:srgbClr val="FF0000"/>
                </a:solidFill>
                <a:latin typeface="Times New Roman" panose="02020503050405090304" pitchFamily="18" charset="0"/>
                <a:sym typeface="Symbol" panose="05050102010706020507" pitchFamily="18" charset="2"/>
              </a:rPr>
              <a:t>b</a:t>
            </a:r>
            <a:r>
              <a:rPr lang="en-US" altLang="zh-CN" sz="2800" dirty="0">
                <a:solidFill>
                  <a:srgbClr val="FF0000"/>
                </a:solidFill>
                <a:latin typeface="Times New Roman" panose="02020503050405090304" pitchFamily="18" charset="0"/>
                <a:sym typeface="Symbol" panose="05050102010706020507" pitchFamily="18" charset="2"/>
              </a:rPr>
              <a:t>)/2 &gt; (</a:t>
            </a:r>
            <a:r>
              <a:rPr lang="en-US" altLang="zh-CN" sz="2800" i="1" dirty="0">
                <a:solidFill>
                  <a:srgbClr val="FF0000"/>
                </a:solidFill>
                <a:latin typeface="Times New Roman" panose="02020503050405090304" pitchFamily="18" charset="0"/>
                <a:sym typeface="Symbol" panose="05050102010706020507" pitchFamily="18" charset="2"/>
              </a:rPr>
              <a:t>ab</a:t>
            </a:r>
            <a:r>
              <a:rPr lang="en-US" altLang="zh-CN" sz="2800" dirty="0">
                <a:solidFill>
                  <a:srgbClr val="FF0000"/>
                </a:solidFill>
                <a:latin typeface="Times New Roman" panose="02020503050405090304" pitchFamily="18" charset="0"/>
                <a:sym typeface="Symbol" panose="05050102010706020507" pitchFamily="18" charset="2"/>
              </a:rPr>
              <a:t>)</a:t>
            </a:r>
            <a:r>
              <a:rPr lang="en-US" altLang="zh-CN" sz="2800" baseline="30000" dirty="0">
                <a:solidFill>
                  <a:srgbClr val="FF0000"/>
                </a:solidFill>
                <a:latin typeface="Times New Roman" panose="02020503050405090304" pitchFamily="18" charset="0"/>
                <a:sym typeface="Symbol" panose="05050102010706020507" pitchFamily="18" charset="2"/>
              </a:rPr>
              <a:t>1/2</a:t>
            </a:r>
            <a:r>
              <a:rPr lang="en-US" altLang="zh-CN" sz="2800" dirty="0">
                <a:latin typeface="Times New Roman" panose="02020503050405090304" pitchFamily="18" charset="0"/>
                <a:sym typeface="Symbol" panose="05050102010706020507" pitchFamily="18" charset="2"/>
              </a:rPr>
              <a:t>.</a:t>
            </a:r>
            <a:endParaRPr lang="en-US" altLang="zh-CN" sz="2800" dirty="0">
              <a:latin typeface="Times New Roman" panose="02020503050405090304" pitchFamily="18" charset="0"/>
              <a:sym typeface="Symbol" panose="05050102010706020507" pitchFamily="18" charset="2"/>
            </a:endParaRPr>
          </a:p>
          <a:p>
            <a:pPr lvl="1" eaLnBrk="1" hangingPunct="1">
              <a:lnSpc>
                <a:spcPct val="80000"/>
              </a:lnSpc>
            </a:pPr>
            <a:r>
              <a:rPr lang="en-US" altLang="zh-CN" sz="2400" b="1" dirty="0">
                <a:latin typeface="Times New Roman" panose="02020503050405090304" pitchFamily="18" charset="0"/>
                <a:sym typeface="Symbol" panose="05050102010706020507" pitchFamily="18" charset="2"/>
              </a:rPr>
              <a:t>Proof.</a:t>
            </a:r>
            <a:r>
              <a:rPr lang="en-US" altLang="zh-CN" sz="2400" dirty="0">
                <a:latin typeface="Times New Roman" panose="02020503050405090304" pitchFamily="18" charset="0"/>
                <a:sym typeface="Symbol" panose="05050102010706020507" pitchFamily="18" charset="2"/>
              </a:rPr>
              <a:t>  If Since </a:t>
            </a:r>
            <a:r>
              <a:rPr lang="en-US" altLang="zh-CN" sz="2400" i="1" dirty="0">
                <a:solidFill>
                  <a:srgbClr val="FF0000"/>
                </a:solidFill>
                <a:latin typeface="Times New Roman" panose="02020503050405090304" pitchFamily="18" charset="0"/>
                <a:sym typeface="Symbol" panose="05050102010706020507" pitchFamily="18" charset="2"/>
              </a:rPr>
              <a:t>a</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b</a:t>
            </a:r>
            <a:r>
              <a:rPr lang="en-US" altLang="zh-CN" sz="2400" dirty="0">
                <a:latin typeface="Times New Roman" panose="02020503050405090304" pitchFamily="18" charset="0"/>
                <a:sym typeface="Symbol" panose="05050102010706020507" pitchFamily="18" charset="2"/>
              </a:rPr>
              <a:t>, </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a</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b</a:t>
            </a:r>
            <a:r>
              <a:rPr lang="en-US" altLang="zh-CN" sz="2400" dirty="0">
                <a:solidFill>
                  <a:srgbClr val="FF0000"/>
                </a:solidFill>
                <a:latin typeface="Times New Roman" panose="02020503050405090304" pitchFamily="18" charset="0"/>
                <a:sym typeface="Symbol" panose="05050102010706020507" pitchFamily="18" charset="2"/>
              </a:rPr>
              <a:t>)≠0</a:t>
            </a:r>
            <a:r>
              <a:rPr lang="en-US" altLang="zh-CN" sz="2400" dirty="0">
                <a:latin typeface="Times New Roman" panose="02020503050405090304" pitchFamily="18" charset="0"/>
                <a:sym typeface="Symbol" panose="05050102010706020507" pitchFamily="18" charset="2"/>
              </a:rPr>
              <a:t>.  Thus, </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a</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b</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baseline="30000" dirty="0">
                <a:solidFill>
                  <a:srgbClr val="FF0000"/>
                </a:solidFill>
                <a:latin typeface="Times New Roman" panose="02020503050405090304" pitchFamily="18" charset="0"/>
                <a:sym typeface="Symbol" panose="05050102010706020507" pitchFamily="18" charset="2"/>
              </a:rPr>
              <a:t>2</a:t>
            </a:r>
            <a:r>
              <a:rPr lang="en-US" altLang="zh-CN" sz="2400" dirty="0">
                <a:solidFill>
                  <a:srgbClr val="FF0000"/>
                </a:solidFill>
                <a:latin typeface="Times New Roman" panose="02020503050405090304" pitchFamily="18" charset="0"/>
                <a:sym typeface="Symbol" panose="05050102010706020507" pitchFamily="18" charset="2"/>
              </a:rPr>
              <a:t>&gt;0</a:t>
            </a:r>
            <a:r>
              <a:rPr lang="en-US" altLang="zh-CN" sz="2400" dirty="0">
                <a:latin typeface="Times New Roman" panose="02020503050405090304" pitchFamily="18" charset="0"/>
                <a:sym typeface="Symbol" panose="05050102010706020507" pitchFamily="18" charset="2"/>
              </a:rPr>
              <a:t>,   </a:t>
            </a:r>
            <a:r>
              <a:rPr lang="en-US" altLang="zh-CN" sz="2400" i="1" dirty="0">
                <a:latin typeface="Times New Roman" panose="02020503050405090304" pitchFamily="18" charset="0"/>
                <a:sym typeface="Symbol" panose="05050102010706020507" pitchFamily="18" charset="2"/>
              </a:rPr>
              <a:t>i.e.</a:t>
            </a:r>
            <a:r>
              <a:rPr lang="en-US" altLang="zh-CN" sz="2400" dirty="0">
                <a:latin typeface="Times New Roman" panose="02020503050405090304" pitchFamily="18" charset="0"/>
                <a:sym typeface="Symbol" panose="05050102010706020507" pitchFamily="18" charset="2"/>
              </a:rPr>
              <a:t>, </a:t>
            </a:r>
            <a:r>
              <a:rPr lang="en-US" altLang="zh-CN" sz="2400" i="1" dirty="0">
                <a:solidFill>
                  <a:srgbClr val="FF0000"/>
                </a:solidFill>
                <a:latin typeface="Times New Roman" panose="02020503050405090304" pitchFamily="18" charset="0"/>
                <a:sym typeface="Symbol" panose="05050102010706020507" pitchFamily="18" charset="2"/>
              </a:rPr>
              <a:t>a</a:t>
            </a:r>
            <a:r>
              <a:rPr lang="en-US" altLang="zh-CN" sz="2400" baseline="30000" dirty="0">
                <a:solidFill>
                  <a:srgbClr val="FF0000"/>
                </a:solidFill>
                <a:latin typeface="Times New Roman" panose="02020503050405090304" pitchFamily="18" charset="0"/>
                <a:sym typeface="Symbol" panose="05050102010706020507" pitchFamily="18" charset="2"/>
              </a:rPr>
              <a:t>2</a:t>
            </a:r>
            <a:r>
              <a:rPr lang="en-US" altLang="zh-CN" sz="2400" dirty="0">
                <a:solidFill>
                  <a:srgbClr val="FF0000"/>
                </a:solidFill>
                <a:latin typeface="Times New Roman" panose="02020503050405090304" pitchFamily="18" charset="0"/>
                <a:sym typeface="Symbol" panose="05050102010706020507" pitchFamily="18" charset="2"/>
              </a:rPr>
              <a:t>−2</a:t>
            </a:r>
            <a:r>
              <a:rPr lang="en-US" altLang="zh-CN" sz="2400" i="1" dirty="0">
                <a:solidFill>
                  <a:srgbClr val="FF0000"/>
                </a:solidFill>
                <a:latin typeface="Times New Roman" panose="02020503050405090304" pitchFamily="18" charset="0"/>
                <a:sym typeface="Symbol" panose="05050102010706020507" pitchFamily="18" charset="2"/>
              </a:rPr>
              <a:t>ab</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b</a:t>
            </a:r>
            <a:r>
              <a:rPr lang="en-US" altLang="zh-CN" sz="2400" baseline="30000" dirty="0">
                <a:solidFill>
                  <a:srgbClr val="FF0000"/>
                </a:solidFill>
                <a:latin typeface="Times New Roman" panose="02020503050405090304" pitchFamily="18" charset="0"/>
                <a:sym typeface="Symbol" panose="05050102010706020507" pitchFamily="18" charset="2"/>
              </a:rPr>
              <a:t>2</a:t>
            </a:r>
            <a:r>
              <a:rPr lang="en-US" altLang="zh-CN" sz="2400" dirty="0">
                <a:solidFill>
                  <a:srgbClr val="FF0000"/>
                </a:solidFill>
                <a:latin typeface="Times New Roman" panose="02020503050405090304" pitchFamily="18" charset="0"/>
                <a:sym typeface="Symbol" panose="05050102010706020507" pitchFamily="18" charset="2"/>
              </a:rPr>
              <a:t> &gt; 0</a:t>
            </a:r>
            <a:r>
              <a:rPr lang="en-US" altLang="zh-CN" sz="2400" dirty="0">
                <a:latin typeface="Times New Roman" panose="02020503050405090304" pitchFamily="18" charset="0"/>
                <a:sym typeface="Symbol" panose="05050102010706020507" pitchFamily="18" charset="2"/>
              </a:rPr>
              <a:t>.  Adding </a:t>
            </a:r>
            <a:r>
              <a:rPr lang="en-US" altLang="zh-CN" sz="2400" dirty="0">
                <a:solidFill>
                  <a:srgbClr val="FF0000"/>
                </a:solidFill>
                <a:latin typeface="Times New Roman" panose="02020503050405090304" pitchFamily="18" charset="0"/>
                <a:sym typeface="Symbol" panose="05050102010706020507" pitchFamily="18" charset="2"/>
              </a:rPr>
              <a:t>4</a:t>
            </a:r>
            <a:r>
              <a:rPr lang="en-US" altLang="zh-CN" sz="2400" i="1" dirty="0">
                <a:solidFill>
                  <a:srgbClr val="FF0000"/>
                </a:solidFill>
                <a:latin typeface="Times New Roman" panose="02020503050405090304" pitchFamily="18" charset="0"/>
                <a:sym typeface="Symbol" panose="05050102010706020507" pitchFamily="18" charset="2"/>
              </a:rPr>
              <a:t>ab</a:t>
            </a:r>
            <a:r>
              <a:rPr lang="en-US" altLang="zh-CN" sz="2400" dirty="0">
                <a:latin typeface="Times New Roman" panose="02020503050405090304" pitchFamily="18" charset="0"/>
                <a:sym typeface="Symbol" panose="05050102010706020507" pitchFamily="18" charset="2"/>
              </a:rPr>
              <a:t> to both sides, </a:t>
            </a:r>
            <a:r>
              <a:rPr lang="en-US" altLang="zh-CN" sz="2400" i="1" dirty="0">
                <a:solidFill>
                  <a:srgbClr val="FF0000"/>
                </a:solidFill>
                <a:latin typeface="Times New Roman" panose="02020503050405090304" pitchFamily="18" charset="0"/>
                <a:sym typeface="Symbol" panose="05050102010706020507" pitchFamily="18" charset="2"/>
              </a:rPr>
              <a:t>a</a:t>
            </a:r>
            <a:r>
              <a:rPr lang="en-US" altLang="zh-CN" sz="2400" baseline="30000" dirty="0">
                <a:solidFill>
                  <a:srgbClr val="FF0000"/>
                </a:solidFill>
                <a:latin typeface="Times New Roman" panose="02020503050405090304" pitchFamily="18" charset="0"/>
                <a:sym typeface="Symbol" panose="05050102010706020507" pitchFamily="18" charset="2"/>
              </a:rPr>
              <a:t>2</a:t>
            </a:r>
            <a:r>
              <a:rPr lang="en-US" altLang="zh-CN" sz="2400" dirty="0">
                <a:solidFill>
                  <a:srgbClr val="FF0000"/>
                </a:solidFill>
                <a:latin typeface="Times New Roman" panose="02020503050405090304" pitchFamily="18" charset="0"/>
                <a:sym typeface="Symbol" panose="05050102010706020507" pitchFamily="18" charset="2"/>
              </a:rPr>
              <a:t>+2</a:t>
            </a:r>
            <a:r>
              <a:rPr lang="en-US" altLang="zh-CN" sz="2400" i="1" dirty="0">
                <a:solidFill>
                  <a:srgbClr val="FF0000"/>
                </a:solidFill>
                <a:latin typeface="Times New Roman" panose="02020503050405090304" pitchFamily="18" charset="0"/>
                <a:sym typeface="Symbol" panose="05050102010706020507" pitchFamily="18" charset="2"/>
              </a:rPr>
              <a:t>ab</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b</a:t>
            </a:r>
            <a:r>
              <a:rPr lang="en-US" altLang="zh-CN" sz="2400" baseline="30000" dirty="0">
                <a:solidFill>
                  <a:srgbClr val="FF0000"/>
                </a:solidFill>
                <a:latin typeface="Times New Roman" panose="02020503050405090304" pitchFamily="18" charset="0"/>
                <a:sym typeface="Symbol" panose="05050102010706020507" pitchFamily="18" charset="2"/>
              </a:rPr>
              <a:t>2</a:t>
            </a:r>
            <a:r>
              <a:rPr lang="en-US" altLang="zh-CN" sz="2400" dirty="0">
                <a:solidFill>
                  <a:srgbClr val="FF0000"/>
                </a:solidFill>
                <a:latin typeface="Times New Roman" panose="02020503050405090304" pitchFamily="18" charset="0"/>
                <a:sym typeface="Symbol" panose="05050102010706020507" pitchFamily="18" charset="2"/>
              </a:rPr>
              <a:t> &gt; 4</a:t>
            </a:r>
            <a:r>
              <a:rPr lang="en-US" altLang="zh-CN" sz="2400" i="1" dirty="0">
                <a:solidFill>
                  <a:srgbClr val="FF0000"/>
                </a:solidFill>
                <a:latin typeface="Times New Roman" panose="02020503050405090304" pitchFamily="18" charset="0"/>
                <a:sym typeface="Symbol" panose="05050102010706020507" pitchFamily="18" charset="2"/>
              </a:rPr>
              <a:t>ab</a:t>
            </a:r>
            <a:r>
              <a:rPr lang="en-US" altLang="zh-CN" sz="2400" dirty="0">
                <a:latin typeface="Times New Roman" panose="02020503050405090304" pitchFamily="18" charset="0"/>
                <a:sym typeface="Symbol" panose="05050102010706020507" pitchFamily="18" charset="2"/>
              </a:rPr>
              <a:t>.  Factoring the left side, we have </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a</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b</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baseline="30000" dirty="0">
                <a:solidFill>
                  <a:srgbClr val="FF0000"/>
                </a:solidFill>
                <a:latin typeface="Times New Roman" panose="02020503050405090304" pitchFamily="18" charset="0"/>
                <a:sym typeface="Symbol" panose="05050102010706020507" pitchFamily="18" charset="2"/>
              </a:rPr>
              <a:t>2</a:t>
            </a:r>
            <a:r>
              <a:rPr lang="en-US" altLang="zh-CN" sz="2400" dirty="0">
                <a:solidFill>
                  <a:srgbClr val="FF0000"/>
                </a:solidFill>
                <a:latin typeface="Times New Roman" panose="02020503050405090304" pitchFamily="18" charset="0"/>
                <a:sym typeface="Symbol" panose="05050102010706020507" pitchFamily="18" charset="2"/>
              </a:rPr>
              <a:t> &gt; 4</a:t>
            </a:r>
            <a:r>
              <a:rPr lang="en-US" altLang="zh-CN" sz="2400" i="1" dirty="0">
                <a:solidFill>
                  <a:srgbClr val="FF0000"/>
                </a:solidFill>
                <a:latin typeface="Times New Roman" panose="02020503050405090304" pitchFamily="18" charset="0"/>
                <a:sym typeface="Symbol" panose="05050102010706020507" pitchFamily="18" charset="2"/>
              </a:rPr>
              <a:t>ab</a:t>
            </a:r>
            <a:r>
              <a:rPr lang="en-US" altLang="zh-CN" sz="2400" dirty="0">
                <a:latin typeface="Times New Roman" panose="02020503050405090304" pitchFamily="18" charset="0"/>
                <a:sym typeface="Symbol" panose="05050102010706020507" pitchFamily="18" charset="2"/>
              </a:rPr>
              <a:t>, so </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a</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b</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baseline="30000" dirty="0">
                <a:solidFill>
                  <a:srgbClr val="FF0000"/>
                </a:solidFill>
                <a:latin typeface="Times New Roman" panose="02020503050405090304" pitchFamily="18" charset="0"/>
                <a:sym typeface="Symbol" panose="05050102010706020507" pitchFamily="18" charset="2"/>
              </a:rPr>
              <a:t>2</a:t>
            </a:r>
            <a:r>
              <a:rPr lang="en-US" altLang="zh-CN" sz="2400" dirty="0">
                <a:solidFill>
                  <a:srgbClr val="FF0000"/>
                </a:solidFill>
                <a:latin typeface="Times New Roman" panose="02020503050405090304" pitchFamily="18" charset="0"/>
                <a:sym typeface="Symbol" panose="05050102010706020507" pitchFamily="18" charset="2"/>
              </a:rPr>
              <a:t>/4 &gt; </a:t>
            </a:r>
            <a:r>
              <a:rPr lang="en-US" altLang="zh-CN" sz="2400" i="1" dirty="0">
                <a:solidFill>
                  <a:srgbClr val="FF0000"/>
                </a:solidFill>
                <a:latin typeface="Times New Roman" panose="02020503050405090304" pitchFamily="18" charset="0"/>
                <a:sym typeface="Symbol" panose="05050102010706020507" pitchFamily="18" charset="2"/>
              </a:rPr>
              <a:t>ab</a:t>
            </a:r>
            <a:r>
              <a:rPr lang="en-US" altLang="zh-CN" sz="2400" dirty="0">
                <a:latin typeface="Times New Roman" panose="02020503050405090304" pitchFamily="18" charset="0"/>
                <a:sym typeface="Symbol" panose="05050102010706020507" pitchFamily="18" charset="2"/>
              </a:rPr>
              <a:t>.  Since </a:t>
            </a:r>
            <a:r>
              <a:rPr lang="en-US" altLang="zh-CN" sz="2400" i="1" dirty="0">
                <a:solidFill>
                  <a:srgbClr val="FF0000"/>
                </a:solidFill>
                <a:latin typeface="Times New Roman" panose="02020503050405090304" pitchFamily="18" charset="0"/>
                <a:sym typeface="Symbol" panose="05050102010706020507" pitchFamily="18" charset="2"/>
              </a:rPr>
              <a:t>ab</a:t>
            </a:r>
            <a:r>
              <a:rPr lang="en-US" altLang="zh-CN" sz="2400" dirty="0">
                <a:latin typeface="Times New Roman" panose="02020503050405090304" pitchFamily="18" charset="0"/>
                <a:sym typeface="Symbol" panose="05050102010706020507" pitchFamily="18" charset="2"/>
              </a:rPr>
              <a:t> is positive, we can take the square root of both sides and get</a:t>
            </a:r>
            <a:r>
              <a:rPr lang="en-US" altLang="zh-CN" sz="2400" i="1" dirty="0">
                <a:latin typeface="Times New Roman" panose="02020503050405090304" pitchFamily="18" charset="0"/>
                <a:sym typeface="Symbol" panose="05050102010706020507" pitchFamily="18" charset="2"/>
              </a:rPr>
              <a:t> </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a</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b</a:t>
            </a:r>
            <a:r>
              <a:rPr lang="en-US" altLang="zh-CN" sz="2400" dirty="0">
                <a:solidFill>
                  <a:srgbClr val="FF0000"/>
                </a:solidFill>
                <a:latin typeface="Times New Roman" panose="02020503050405090304" pitchFamily="18" charset="0"/>
                <a:sym typeface="Symbol" panose="05050102010706020507" pitchFamily="18" charset="2"/>
              </a:rPr>
              <a:t>)/2 &gt; (</a:t>
            </a:r>
            <a:r>
              <a:rPr lang="en-US" altLang="zh-CN" sz="2400" i="1" dirty="0">
                <a:solidFill>
                  <a:srgbClr val="FF0000"/>
                </a:solidFill>
                <a:latin typeface="Times New Roman" panose="02020503050405090304" pitchFamily="18" charset="0"/>
                <a:sym typeface="Symbol" panose="05050102010706020507" pitchFamily="18" charset="2"/>
              </a:rPr>
              <a:t>ab</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baseline="30000" dirty="0">
                <a:solidFill>
                  <a:srgbClr val="FF0000"/>
                </a:solidFill>
                <a:latin typeface="Times New Roman" panose="02020503050405090304" pitchFamily="18" charset="0"/>
                <a:sym typeface="Symbol" panose="05050102010706020507" pitchFamily="18" charset="2"/>
              </a:rPr>
              <a:t>1/2</a:t>
            </a:r>
            <a:r>
              <a:rPr lang="en-US" altLang="zh-CN" sz="2400" dirty="0">
                <a:latin typeface="Times New Roman" panose="02020503050405090304" pitchFamily="18" charset="0"/>
                <a:sym typeface="Symbol" panose="05050102010706020507" pitchFamily="18" charset="2"/>
              </a:rPr>
              <a:t>. ■</a:t>
            </a:r>
            <a:endParaRPr lang="en-US" altLang="zh-CN" sz="2400" dirty="0">
              <a:latin typeface="Times New Roman" panose="02020503050405090304" pitchFamily="18" charset="0"/>
              <a:sym typeface="Symbol" panose="05050102010706020507" pitchFamily="18" charset="2"/>
            </a:endParaRPr>
          </a:p>
          <a:p>
            <a:pPr eaLnBrk="1" hangingPunct="1">
              <a:lnSpc>
                <a:spcPct val="80000"/>
              </a:lnSpc>
            </a:pPr>
            <a:r>
              <a:rPr lang="en-US" altLang="zh-CN" sz="2800" dirty="0">
                <a:latin typeface="Times New Roman" panose="02020503050405090304" pitchFamily="18" charset="0"/>
                <a:sym typeface="Symbol" panose="05050102010706020507" pitchFamily="18" charset="2"/>
              </a:rPr>
              <a:t>This is just a simple proof proceeding directly from premises to conclusion, but if you don’t realize how it was obtained, it looks “magical.”</a:t>
            </a:r>
            <a:endParaRPr lang="en-US" altLang="zh-CN" sz="2800" dirty="0">
              <a:latin typeface="Times New Roman" panose="02020503050405090304" pitchFamily="18" charset="0"/>
              <a:sym typeface="Symbol" panose="05050102010706020507" pitchFamily="18" charset="2"/>
            </a:endParaRPr>
          </a:p>
          <a:p>
            <a:pPr lvl="1" eaLnBrk="1" hangingPunct="1">
              <a:lnSpc>
                <a:spcPct val="80000"/>
              </a:lnSpc>
            </a:pPr>
            <a:r>
              <a:rPr lang="en-US" altLang="zh-CN" sz="2400" dirty="0">
                <a:latin typeface="Times New Roman" panose="02020503050405090304" pitchFamily="18" charset="0"/>
              </a:rPr>
              <a:t>A common student reaction:  “But how did you </a:t>
            </a:r>
            <a:r>
              <a:rPr lang="en-US" altLang="zh-CN" sz="2400" i="1" dirty="0">
                <a:latin typeface="Times New Roman" panose="02020503050405090304" pitchFamily="18" charset="0"/>
              </a:rPr>
              <a:t>know</a:t>
            </a:r>
            <a:r>
              <a:rPr lang="en-US" altLang="zh-CN" sz="2400" dirty="0">
                <a:latin typeface="Times New Roman" panose="02020503050405090304" pitchFamily="18" charset="0"/>
              </a:rPr>
              <a:t> to pick </a:t>
            </a:r>
            <a:r>
              <a:rPr lang="en-US" altLang="zh-CN" sz="2400" dirty="0">
                <a:solidFill>
                  <a:srgbClr val="FF0000"/>
                </a:solidFill>
                <a:latin typeface="Times New Roman" panose="02020503050405090304" pitchFamily="18" charset="0"/>
              </a:rPr>
              <a:t>4</a:t>
            </a:r>
            <a:r>
              <a:rPr lang="en-US" altLang="zh-CN" sz="2400" i="1" dirty="0">
                <a:solidFill>
                  <a:srgbClr val="FF0000"/>
                </a:solidFill>
                <a:latin typeface="Times New Roman" panose="02020503050405090304" pitchFamily="18" charset="0"/>
              </a:rPr>
              <a:t>ab</a:t>
            </a:r>
            <a:r>
              <a:rPr lang="en-US" altLang="zh-CN" sz="2400" dirty="0">
                <a:latin typeface="Times New Roman" panose="02020503050405090304" pitchFamily="18" charset="0"/>
              </a:rPr>
              <a:t> out of thin air, to add to both sides?”</a:t>
            </a:r>
            <a:endParaRPr lang="en-US" altLang="zh-CN" sz="2400" dirty="0">
              <a:latin typeface="Times New Roman" panose="02020503050405090304" pitchFamily="18" charset="0"/>
            </a:endParaRPr>
          </a:p>
          <a:p>
            <a:pPr lvl="2" eaLnBrk="1" hangingPunct="1">
              <a:lnSpc>
                <a:spcPct val="80000"/>
              </a:lnSpc>
            </a:pPr>
            <a:r>
              <a:rPr lang="en-US" altLang="zh-CN" sz="2000" dirty="0">
                <a:latin typeface="Times New Roman" panose="02020503050405090304" pitchFamily="18" charset="0"/>
              </a:rPr>
              <a:t>Answer: By working backwards from the conclusion!</a:t>
            </a:r>
            <a:endParaRPr lang="en-US" altLang="zh-CN" sz="2000" dirty="0">
              <a:latin typeface="Times New Roman" panose="0202050305040509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270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270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72709" name="Rectangle 2"/>
          <p:cNvSpPr>
            <a:spLocks noGrp="1"/>
          </p:cNvSpPr>
          <p:nvPr>
            <p:ph type="title"/>
          </p:nvPr>
        </p:nvSpPr>
        <p:spPr/>
        <p:txBody>
          <a:bodyPr vert="horz" wrap="square" lIns="91440" tIns="45720" rIns="91440" bIns="45720" anchor="b" anchorCtr="0"/>
          <a:p>
            <a:pPr eaLnBrk="1" hangingPunct="1"/>
            <a:r>
              <a:rPr lang="en-US" altLang="zh-CN" dirty="0"/>
              <a:t>Stone Game Example</a:t>
            </a:r>
            <a:endParaRPr lang="en-US" altLang="zh-CN" dirty="0"/>
          </a:p>
        </p:txBody>
      </p:sp>
      <p:sp>
        <p:nvSpPr>
          <p:cNvPr id="72710" name="Rectangle 3"/>
          <p:cNvSpPr>
            <a:spLocks noGrp="1"/>
          </p:cNvSpPr>
          <p:nvPr>
            <p:ph idx="1"/>
          </p:nvPr>
        </p:nvSpPr>
        <p:spPr>
          <a:xfrm>
            <a:off x="899795" y="1269048"/>
            <a:ext cx="7772400" cy="4114800"/>
          </a:xfrm>
        </p:spPr>
        <p:txBody>
          <a:bodyPr vert="horz" wrap="square" lIns="91440" tIns="45720" rIns="91440" bIns="45720" anchor="t" anchorCtr="0"/>
          <a:p>
            <a:pPr eaLnBrk="1" hangingPunct="1">
              <a:lnSpc>
                <a:spcPct val="90000"/>
              </a:lnSpc>
            </a:pPr>
            <a:r>
              <a:rPr lang="en-US" altLang="zh-CN" dirty="0">
                <a:latin typeface="Times New Roman" panose="02020503050405090304" pitchFamily="18" charset="0"/>
              </a:rPr>
              <a:t>Game rules: </a:t>
            </a:r>
            <a:endParaRPr lang="en-US" altLang="zh-CN" dirty="0">
              <a:latin typeface="Times New Roman" panose="02020503050405090304" pitchFamily="18" charset="0"/>
            </a:endParaRPr>
          </a:p>
          <a:p>
            <a:pPr lvl="1" eaLnBrk="1" hangingPunct="1">
              <a:lnSpc>
                <a:spcPct val="90000"/>
              </a:lnSpc>
            </a:pPr>
            <a:r>
              <a:rPr lang="en-US" altLang="zh-CN" dirty="0">
                <a:latin typeface="Times New Roman" panose="02020503050405090304" pitchFamily="18" charset="0"/>
              </a:rPr>
              <a:t>There are 15 stones in a pile.  Two players take turns removing either 1, 2, or 3 stones. Whoever takes the last stone wins.</a:t>
            </a:r>
            <a:endParaRPr lang="en-US" altLang="zh-CN" dirty="0">
              <a:latin typeface="Times New Roman" panose="02020503050405090304" pitchFamily="18" charset="0"/>
            </a:endParaRPr>
          </a:p>
          <a:p>
            <a:pPr eaLnBrk="1" hangingPunct="1">
              <a:lnSpc>
                <a:spcPct val="90000"/>
              </a:lnSpc>
            </a:pPr>
            <a:r>
              <a:rPr lang="en-US" altLang="zh-CN" b="1" dirty="0">
                <a:latin typeface="Times New Roman" panose="02020503050405090304" pitchFamily="18" charset="0"/>
              </a:rPr>
              <a:t>Theorem:</a:t>
            </a:r>
            <a:r>
              <a:rPr lang="en-US" altLang="zh-CN" dirty="0">
                <a:latin typeface="Times New Roman" panose="02020503050405090304" pitchFamily="18" charset="0"/>
              </a:rPr>
              <a:t> There is a strategy for the first player that guarantees him a win.</a:t>
            </a:r>
            <a:endParaRPr lang="en-US" altLang="zh-CN" dirty="0">
              <a:latin typeface="Times New Roman" panose="02020503050405090304" pitchFamily="18" charset="0"/>
            </a:endParaRPr>
          </a:p>
          <a:p>
            <a:pPr eaLnBrk="1" hangingPunct="1">
              <a:lnSpc>
                <a:spcPct val="90000"/>
              </a:lnSpc>
            </a:pPr>
            <a:r>
              <a:rPr lang="en-US" altLang="zh-CN" dirty="0">
                <a:latin typeface="Times New Roman" panose="02020503050405090304" pitchFamily="18" charset="0"/>
              </a:rPr>
              <a:t>How do we prove this?  Constructive proof…</a:t>
            </a:r>
            <a:endParaRPr lang="en-US" altLang="zh-CN" dirty="0">
              <a:latin typeface="Times New Roman" panose="02020503050405090304" pitchFamily="18" charset="0"/>
            </a:endParaRPr>
          </a:p>
          <a:p>
            <a:pPr lvl="1" eaLnBrk="1" hangingPunct="1">
              <a:lnSpc>
                <a:spcPct val="90000"/>
              </a:lnSpc>
            </a:pPr>
            <a:r>
              <a:rPr lang="en-US" altLang="zh-CN" dirty="0">
                <a:latin typeface="Times New Roman" panose="02020503050405090304" pitchFamily="18" charset="0"/>
              </a:rPr>
              <a:t>Looks complicated… How do we pick out the winning strategy from among all possible strategies?</a:t>
            </a:r>
            <a:endParaRPr lang="en-US" altLang="zh-CN" dirty="0">
              <a:latin typeface="Times New Roman" panose="02020503050405090304" pitchFamily="18" charset="0"/>
            </a:endParaRPr>
          </a:p>
          <a:p>
            <a:pPr lvl="2" eaLnBrk="1" hangingPunct="1">
              <a:lnSpc>
                <a:spcPct val="90000"/>
              </a:lnSpc>
            </a:pPr>
            <a:r>
              <a:rPr lang="en-US" altLang="zh-CN" dirty="0">
                <a:latin typeface="Times New Roman" panose="02020503050405090304" pitchFamily="18" charset="0"/>
              </a:rPr>
              <a:t>Work backwards from the endgame!</a:t>
            </a:r>
            <a:endParaRPr lang="en-US" altLang="zh-CN" dirty="0">
              <a:latin typeface="Times New Roman" panose="02020503050405090304" pitchFamily="18" charset="0"/>
            </a:endParaRPr>
          </a:p>
        </p:txBody>
      </p:sp>
      <p:sp>
        <p:nvSpPr>
          <p:cNvPr id="72711" name="Text Box 4"/>
          <p:cNvSpPr txBox="1"/>
          <p:nvPr/>
        </p:nvSpPr>
        <p:spPr>
          <a:xfrm>
            <a:off x="251460" y="-317"/>
            <a:ext cx="1703388" cy="514350"/>
          </a:xfrm>
          <a:prstGeom prst="rect">
            <a:avLst/>
          </a:prstGeom>
          <a:solidFill>
            <a:srgbClr val="FFFFCC"/>
          </a:solidFill>
          <a:ln w="57150" cap="flat" cmpd="sng">
            <a:solidFill>
              <a:srgbClr val="006600"/>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2400" dirty="0">
                <a:latin typeface="Times New Roman" panose="02020503050405090304" pitchFamily="18" charset="0"/>
              </a:rPr>
              <a:t>Example 15</a:t>
            </a:r>
            <a:endParaRPr lang="en-US" altLang="zh-CN" sz="2400" dirty="0">
              <a:latin typeface="Times New Roman" panose="0202050305040509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373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373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73733" name="Rectangle 2"/>
          <p:cNvSpPr>
            <a:spLocks noGrp="1"/>
          </p:cNvSpPr>
          <p:nvPr>
            <p:ph type="title"/>
          </p:nvPr>
        </p:nvSpPr>
        <p:spPr/>
        <p:txBody>
          <a:bodyPr vert="horz" wrap="square" lIns="91440" tIns="45720" rIns="91440" bIns="45720" anchor="b" anchorCtr="0"/>
          <a:p>
            <a:pPr eaLnBrk="1" hangingPunct="1"/>
            <a:r>
              <a:rPr lang="en-US" altLang="zh-CN" dirty="0"/>
              <a:t>Working Backwards in the Game</a:t>
            </a:r>
            <a:endParaRPr lang="en-US" altLang="zh-CN" dirty="0"/>
          </a:p>
        </p:txBody>
      </p:sp>
      <p:sp>
        <p:nvSpPr>
          <p:cNvPr id="73734" name="Rectangle 3"/>
          <p:cNvSpPr>
            <a:spLocks noGrp="1"/>
          </p:cNvSpPr>
          <p:nvPr>
            <p:ph idx="1"/>
          </p:nvPr>
        </p:nvSpPr>
        <p:spPr>
          <a:xfrm>
            <a:off x="971233" y="1557020"/>
            <a:ext cx="7772400" cy="4114800"/>
          </a:xfrm>
        </p:spPr>
        <p:txBody>
          <a:bodyPr vert="horz" wrap="square" lIns="91440" tIns="45720" rIns="91440" bIns="45720" anchor="t" anchorCtr="0"/>
          <a:p>
            <a:pPr eaLnBrk="1" hangingPunct="1">
              <a:lnSpc>
                <a:spcPct val="90000"/>
              </a:lnSpc>
            </a:pPr>
            <a:r>
              <a:rPr lang="en-US" altLang="zh-CN" sz="2800" dirty="0">
                <a:latin typeface="Times New Roman" panose="02020503050405090304" pitchFamily="18" charset="0"/>
                <a:cs typeface="Times New Roman" panose="02020503050405090304" pitchFamily="18" charset="0"/>
              </a:rPr>
              <a:t>Player 1 wins if it is player 2</a:t>
            </a:r>
            <a:r>
              <a:rPr lang="en-US" altLang="zh-CN" sz="2800" dirty="0">
                <a:latin typeface="Times New Roman" panose="02020503050405090304" pitchFamily="18" charset="0"/>
                <a:cs typeface="Times New Roman" panose="02020503050405090304" pitchFamily="18" charset="0"/>
              </a:rPr>
              <a:t>’</a:t>
            </a:r>
            <a:r>
              <a:rPr lang="en-US" altLang="zh-CN" sz="2800" dirty="0">
                <a:latin typeface="Times New Roman" panose="02020503050405090304" pitchFamily="18" charset="0"/>
                <a:cs typeface="Times New Roman" panose="02020503050405090304" pitchFamily="18" charset="0"/>
              </a:rPr>
              <a:t>s turn and there are no stones</a:t>
            </a:r>
            <a:r>
              <a:rPr lang="en-US" altLang="zh-CN" sz="2800" dirty="0">
                <a:latin typeface="Times New Roman" panose="02020503050405090304" pitchFamily="18" charset="0"/>
                <a:cs typeface="Times New Roman" panose="02020503050405090304" pitchFamily="18" charset="0"/>
              </a:rPr>
              <a:t>…</a:t>
            </a:r>
            <a:endParaRPr lang="en-US" altLang="zh-CN" sz="2800" dirty="0">
              <a:latin typeface="Times New Roman" panose="02020503050405090304" pitchFamily="18" charset="0"/>
              <a:cs typeface="Times New Roman" panose="02020503050405090304" pitchFamily="18" charset="0"/>
            </a:endParaRPr>
          </a:p>
          <a:p>
            <a:pPr eaLnBrk="1" hangingPunct="1">
              <a:lnSpc>
                <a:spcPct val="90000"/>
              </a:lnSpc>
            </a:pPr>
            <a:r>
              <a:rPr lang="en-US" altLang="zh-CN" sz="2800" dirty="0">
                <a:latin typeface="Times New Roman" panose="02020503050405090304" pitchFamily="18" charset="0"/>
                <a:cs typeface="Times New Roman" panose="02020503050405090304" pitchFamily="18" charset="0"/>
              </a:rPr>
              <a:t>P1 can arrange this if</a:t>
            </a:r>
            <a:br>
              <a:rPr lang="en-US" altLang="zh-CN" sz="2800" dirty="0">
                <a:latin typeface="Times New Roman" panose="02020503050405090304" pitchFamily="18" charset="0"/>
                <a:cs typeface="Times New Roman" panose="02020503050405090304" pitchFamily="18" charset="0"/>
              </a:rPr>
            </a:br>
            <a:r>
              <a:rPr lang="en-US" altLang="zh-CN" sz="2800" dirty="0">
                <a:latin typeface="Times New Roman" panose="02020503050405090304" pitchFamily="18" charset="0"/>
                <a:cs typeface="Times New Roman" panose="02020503050405090304" pitchFamily="18" charset="0"/>
              </a:rPr>
              <a:t>it is his turn, and there</a:t>
            </a:r>
            <a:br>
              <a:rPr lang="en-US" altLang="zh-CN" sz="2800" dirty="0">
                <a:latin typeface="Times New Roman" panose="02020503050405090304" pitchFamily="18" charset="0"/>
                <a:cs typeface="Times New Roman" panose="02020503050405090304" pitchFamily="18" charset="0"/>
              </a:rPr>
            </a:br>
            <a:r>
              <a:rPr lang="en-US" altLang="zh-CN" sz="2800" dirty="0">
                <a:latin typeface="Times New Roman" panose="02020503050405090304" pitchFamily="18" charset="0"/>
                <a:cs typeface="Times New Roman" panose="02020503050405090304" pitchFamily="18" charset="0"/>
              </a:rPr>
              <a:t>are 1, 2, or 3 stones</a:t>
            </a:r>
            <a:r>
              <a:rPr lang="en-US" altLang="zh-CN" sz="2800" dirty="0">
                <a:latin typeface="Times New Roman" panose="02020503050405090304" pitchFamily="18" charset="0"/>
                <a:cs typeface="Times New Roman" panose="02020503050405090304" pitchFamily="18" charset="0"/>
              </a:rPr>
              <a:t>…</a:t>
            </a:r>
            <a:endParaRPr lang="en-US" altLang="zh-CN" sz="2800" dirty="0">
              <a:latin typeface="Times New Roman" panose="02020503050405090304" pitchFamily="18" charset="0"/>
              <a:cs typeface="Times New Roman" panose="02020503050405090304" pitchFamily="18" charset="0"/>
            </a:endParaRPr>
          </a:p>
          <a:p>
            <a:pPr eaLnBrk="1" hangingPunct="1">
              <a:lnSpc>
                <a:spcPct val="90000"/>
              </a:lnSpc>
            </a:pPr>
            <a:r>
              <a:rPr lang="en-US" altLang="zh-CN" sz="2800" dirty="0">
                <a:latin typeface="Times New Roman" panose="02020503050405090304" pitchFamily="18" charset="0"/>
                <a:cs typeface="Times New Roman" panose="02020503050405090304" pitchFamily="18" charset="0"/>
              </a:rPr>
              <a:t>This will be true as</a:t>
            </a:r>
            <a:br>
              <a:rPr lang="en-US" altLang="zh-CN" sz="2800" dirty="0">
                <a:latin typeface="Times New Roman" panose="02020503050405090304" pitchFamily="18" charset="0"/>
                <a:cs typeface="Times New Roman" panose="02020503050405090304" pitchFamily="18" charset="0"/>
              </a:rPr>
            </a:br>
            <a:r>
              <a:rPr lang="en-US" altLang="zh-CN" sz="2800" dirty="0">
                <a:latin typeface="Times New Roman" panose="02020503050405090304" pitchFamily="18" charset="0"/>
                <a:cs typeface="Times New Roman" panose="02020503050405090304" pitchFamily="18" charset="0"/>
              </a:rPr>
              <a:t>long as player 2 had</a:t>
            </a:r>
            <a:br>
              <a:rPr lang="en-US" altLang="zh-CN" sz="2800" dirty="0">
                <a:latin typeface="Times New Roman" panose="02020503050405090304" pitchFamily="18" charset="0"/>
                <a:cs typeface="Times New Roman" panose="02020503050405090304" pitchFamily="18" charset="0"/>
              </a:rPr>
            </a:br>
            <a:r>
              <a:rPr lang="en-US" altLang="zh-CN" sz="2800" dirty="0">
                <a:latin typeface="Times New Roman" panose="02020503050405090304" pitchFamily="18" charset="0"/>
                <a:cs typeface="Times New Roman" panose="02020503050405090304" pitchFamily="18" charset="0"/>
              </a:rPr>
              <a:t>4 stones on his turn</a:t>
            </a:r>
            <a:r>
              <a:rPr lang="en-US" altLang="zh-CN" sz="2800" dirty="0">
                <a:latin typeface="Times New Roman" panose="02020503050405090304" pitchFamily="18" charset="0"/>
                <a:cs typeface="Times New Roman" panose="02020503050405090304" pitchFamily="18" charset="0"/>
              </a:rPr>
              <a:t>…</a:t>
            </a:r>
            <a:endParaRPr lang="en-US" altLang="zh-CN" sz="2800" dirty="0">
              <a:latin typeface="Times New Roman" panose="02020503050405090304" pitchFamily="18" charset="0"/>
              <a:cs typeface="Times New Roman" panose="02020503050405090304" pitchFamily="18" charset="0"/>
            </a:endParaRPr>
          </a:p>
          <a:p>
            <a:pPr eaLnBrk="1" hangingPunct="1">
              <a:lnSpc>
                <a:spcPct val="90000"/>
              </a:lnSpc>
            </a:pPr>
            <a:r>
              <a:rPr lang="en-US" altLang="zh-CN" sz="2800" dirty="0">
                <a:latin typeface="Times New Roman" panose="02020503050405090304" pitchFamily="18" charset="0"/>
                <a:cs typeface="Times New Roman" panose="02020503050405090304" pitchFamily="18" charset="0"/>
              </a:rPr>
              <a:t>And so on</a:t>
            </a:r>
            <a:r>
              <a:rPr lang="en-US" altLang="zh-CN" sz="2800" dirty="0">
                <a:latin typeface="Times New Roman" panose="02020503050405090304" pitchFamily="18" charset="0"/>
                <a:cs typeface="Times New Roman" panose="02020503050405090304" pitchFamily="18" charset="0"/>
              </a:rPr>
              <a:t>…</a:t>
            </a:r>
            <a:endParaRPr lang="en-US" altLang="zh-CN" sz="2800" dirty="0">
              <a:latin typeface="Times New Roman" panose="02020503050405090304" pitchFamily="18" charset="0"/>
              <a:cs typeface="Times New Roman" panose="02020503050405090304" pitchFamily="18" charset="0"/>
            </a:endParaRPr>
          </a:p>
        </p:txBody>
      </p:sp>
      <p:graphicFrame>
        <p:nvGraphicFramePr>
          <p:cNvPr id="1155076" name="Group 4"/>
          <p:cNvGraphicFramePr>
            <a:graphicFrameLocks noGrp="1"/>
          </p:cNvGraphicFramePr>
          <p:nvPr>
            <p:ph idx="4294967295"/>
          </p:nvPr>
        </p:nvGraphicFramePr>
        <p:xfrm>
          <a:off x="5357813" y="2786063"/>
          <a:ext cx="3786188" cy="3568703"/>
        </p:xfrm>
        <a:graphic>
          <a:graphicData uri="http://schemas.openxmlformats.org/drawingml/2006/table">
            <a:tbl>
              <a:tblPr/>
              <a:tblGrid>
                <a:gridCol w="1892300"/>
                <a:gridCol w="1893887"/>
              </a:tblGrid>
              <a:tr h="401638">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sng" strike="noStrike" cap="none" normalizeH="0" baseline="0">
                          <a:ln>
                            <a:noFill/>
                          </a:ln>
                          <a:solidFill>
                            <a:schemeClr val="tx1"/>
                          </a:solidFill>
                          <a:effectLst/>
                          <a:latin typeface="Tahoma" panose="020B0604030504040204" pitchFamily="34" charset="0"/>
                          <a:ea typeface="宋体" pitchFamily="2" charset="-122"/>
                        </a:rPr>
                        <a:t>Player 1</a:t>
                      </a:r>
                      <a:endParaRPr kumimoji="1" lang="en-US" altLang="zh-CN" sz="1800" b="1" i="0" u="sng"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sng" strike="noStrike" cap="none" normalizeH="0" baseline="0">
                          <a:ln>
                            <a:noFill/>
                          </a:ln>
                          <a:solidFill>
                            <a:schemeClr val="tx1"/>
                          </a:solidFill>
                          <a:effectLst/>
                          <a:latin typeface="Tahoma" panose="020B0604030504040204" pitchFamily="34" charset="0"/>
                          <a:ea typeface="宋体" pitchFamily="2" charset="-122"/>
                        </a:rPr>
                        <a:t>Player 2</a:t>
                      </a:r>
                      <a:endParaRPr kumimoji="1" lang="en-US" altLang="zh-CN" sz="1800" b="1" i="0" u="sng"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3225">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800" b="0" i="0" u="none"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itchFamily="2" charset="-122"/>
                        </a:rPr>
                        <a:t>0</a:t>
                      </a:r>
                      <a:endParaRPr kumimoji="1" lang="en-US" altLang="zh-CN" sz="1800" b="0" i="0" u="none"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1638">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itchFamily="2" charset="-122"/>
                        </a:rPr>
                        <a:t>1, 2, 3</a:t>
                      </a:r>
                      <a:endParaRPr kumimoji="1" lang="en-US" altLang="zh-CN" sz="1800" b="0" i="0" u="none"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800" b="0" i="0" u="none"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1638">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800" b="0" i="0" u="none"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itchFamily="2" charset="-122"/>
                        </a:rPr>
                        <a:t>4</a:t>
                      </a:r>
                      <a:endParaRPr kumimoji="1" lang="en-US" altLang="zh-CN" sz="1800" b="0" i="0" u="none"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3063">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itchFamily="2" charset="-122"/>
                        </a:rPr>
                        <a:t>5, 6, 7</a:t>
                      </a:r>
                      <a:endParaRPr kumimoji="1" lang="en-US" altLang="zh-CN" sz="1800" b="0" i="0" u="none"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800" b="0" i="0" u="none"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1000">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800" b="0" i="0" u="none"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itchFamily="2" charset="-122"/>
                        </a:rPr>
                        <a:t>8</a:t>
                      </a:r>
                      <a:endParaRPr kumimoji="1" lang="en-US" altLang="zh-CN" sz="1800" b="0" i="0" u="none"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1638">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itchFamily="2" charset="-122"/>
                        </a:rPr>
                        <a:t>9, 10, 11</a:t>
                      </a:r>
                      <a:endParaRPr kumimoji="1" lang="en-US" altLang="zh-CN" sz="1800" b="0" i="0" u="none"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800" b="0" i="0" u="none"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3225">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800" b="0" i="0" u="none"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itchFamily="2" charset="-122"/>
                        </a:rPr>
                        <a:t>12</a:t>
                      </a:r>
                      <a:endParaRPr kumimoji="1" lang="en-US" altLang="zh-CN" sz="1800" b="0" i="0" u="none"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1638">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itchFamily="2" charset="-122"/>
                        </a:rPr>
                        <a:t>13, 14, 15</a:t>
                      </a:r>
                      <a:endParaRPr kumimoji="1" lang="en-US" altLang="zh-CN" sz="1800" b="0" i="0" u="none"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itchFamily="2" charset="-122"/>
                        </a:defRPr>
                      </a:lvl1pPr>
                      <a:lvl2pPr marL="742950" indent="-285750"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itchFamily="2" charset="-122"/>
                        </a:defRPr>
                      </a:lvl2pPr>
                      <a:lvl3pPr marL="1143000" indent="-228600"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itchFamily="2" charset="-122"/>
                        </a:defRPr>
                      </a:lvl3pPr>
                      <a:lvl4pPr marL="1600200" indent="-228600"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itchFamily="2" charset="-122"/>
                        </a:defRPr>
                      </a:lvl4pPr>
                      <a:lvl5pPr marL="2057400" indent="-228600"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800" b="0" i="0" u="none" strike="noStrike" cap="none" normalizeH="0" baseline="0">
                        <a:ln>
                          <a:noFill/>
                        </a:ln>
                        <a:solidFill>
                          <a:schemeClr val="tx1"/>
                        </a:solidFill>
                        <a:effectLst/>
                        <a:latin typeface="Tahoma" panose="020B06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73767" name="Line 36"/>
          <p:cNvSpPr/>
          <p:nvPr/>
        </p:nvSpPr>
        <p:spPr>
          <a:xfrm flipV="1">
            <a:off x="6172200" y="3276600"/>
            <a:ext cx="1447800" cy="381000"/>
          </a:xfrm>
          <a:prstGeom prst="line">
            <a:avLst/>
          </a:prstGeom>
          <a:ln w="57150" cap="flat" cmpd="sng">
            <a:solidFill>
              <a:srgbClr val="FF0000"/>
            </a:solidFill>
            <a:prstDash val="solid"/>
            <a:headEnd type="none" w="med" len="med"/>
            <a:tailEnd type="triangle" w="med" len="med"/>
          </a:ln>
        </p:spPr>
      </p:sp>
      <p:sp>
        <p:nvSpPr>
          <p:cNvPr id="73768" name="Line 37"/>
          <p:cNvSpPr/>
          <p:nvPr/>
        </p:nvSpPr>
        <p:spPr>
          <a:xfrm flipH="1" flipV="1">
            <a:off x="6172200" y="3733800"/>
            <a:ext cx="1447800" cy="381000"/>
          </a:xfrm>
          <a:prstGeom prst="line">
            <a:avLst/>
          </a:prstGeom>
          <a:ln w="57150" cap="flat" cmpd="sng">
            <a:solidFill>
              <a:srgbClr val="FF0000"/>
            </a:solidFill>
            <a:prstDash val="solid"/>
            <a:headEnd type="none" w="med" len="med"/>
            <a:tailEnd type="triangle" w="med" len="med"/>
          </a:ln>
        </p:spPr>
      </p:sp>
      <p:sp>
        <p:nvSpPr>
          <p:cNvPr id="73769" name="Line 38"/>
          <p:cNvSpPr/>
          <p:nvPr/>
        </p:nvSpPr>
        <p:spPr>
          <a:xfrm flipV="1">
            <a:off x="6096000" y="4191000"/>
            <a:ext cx="1371600" cy="304800"/>
          </a:xfrm>
          <a:prstGeom prst="line">
            <a:avLst/>
          </a:prstGeom>
          <a:ln w="57150" cap="flat" cmpd="sng">
            <a:solidFill>
              <a:srgbClr val="FF0000"/>
            </a:solidFill>
            <a:prstDash val="solid"/>
            <a:headEnd type="none" w="med" len="med"/>
            <a:tailEnd type="triangle" w="med" len="med"/>
          </a:ln>
        </p:spPr>
      </p:sp>
      <p:sp>
        <p:nvSpPr>
          <p:cNvPr id="73770" name="Line 39"/>
          <p:cNvSpPr/>
          <p:nvPr/>
        </p:nvSpPr>
        <p:spPr>
          <a:xfrm flipH="1" flipV="1">
            <a:off x="6172200" y="4572000"/>
            <a:ext cx="1447800" cy="304800"/>
          </a:xfrm>
          <a:prstGeom prst="line">
            <a:avLst/>
          </a:prstGeom>
          <a:ln w="57150" cap="flat" cmpd="sng">
            <a:solidFill>
              <a:srgbClr val="FF0000"/>
            </a:solidFill>
            <a:prstDash val="solid"/>
            <a:headEnd type="none" w="med" len="med"/>
            <a:tailEnd type="triangle" w="med" len="med"/>
          </a:ln>
        </p:spPr>
      </p:sp>
      <p:sp>
        <p:nvSpPr>
          <p:cNvPr id="73771" name="Line 40"/>
          <p:cNvSpPr/>
          <p:nvPr/>
        </p:nvSpPr>
        <p:spPr>
          <a:xfrm flipV="1">
            <a:off x="6248400" y="4953000"/>
            <a:ext cx="1295400" cy="228600"/>
          </a:xfrm>
          <a:prstGeom prst="line">
            <a:avLst/>
          </a:prstGeom>
          <a:ln w="57150" cap="flat" cmpd="sng">
            <a:solidFill>
              <a:srgbClr val="FF0000"/>
            </a:solidFill>
            <a:prstDash val="solid"/>
            <a:headEnd type="none" w="med" len="med"/>
            <a:tailEnd type="triangle" w="med" len="med"/>
          </a:ln>
        </p:spPr>
      </p:sp>
      <p:sp>
        <p:nvSpPr>
          <p:cNvPr id="73772" name="Line 41"/>
          <p:cNvSpPr/>
          <p:nvPr/>
        </p:nvSpPr>
        <p:spPr>
          <a:xfrm flipH="1" flipV="1">
            <a:off x="6248400" y="5257800"/>
            <a:ext cx="1295400" cy="381000"/>
          </a:xfrm>
          <a:prstGeom prst="line">
            <a:avLst/>
          </a:prstGeom>
          <a:ln w="57150" cap="flat" cmpd="sng">
            <a:solidFill>
              <a:srgbClr val="FF0000"/>
            </a:solidFill>
            <a:prstDash val="solid"/>
            <a:headEnd type="none" w="med" len="med"/>
            <a:tailEnd type="triangle" w="med" len="med"/>
          </a:ln>
        </p:spPr>
      </p:sp>
      <p:sp>
        <p:nvSpPr>
          <p:cNvPr id="73773" name="Line 42"/>
          <p:cNvSpPr/>
          <p:nvPr/>
        </p:nvSpPr>
        <p:spPr>
          <a:xfrm flipV="1">
            <a:off x="6324600" y="5715000"/>
            <a:ext cx="1295400" cy="381000"/>
          </a:xfrm>
          <a:prstGeom prst="line">
            <a:avLst/>
          </a:prstGeom>
          <a:ln w="57150" cap="flat" cmpd="sng">
            <a:solidFill>
              <a:srgbClr val="FF0000"/>
            </a:solidFill>
            <a:prstDash val="solid"/>
            <a:headEnd type="none" w="med" len="med"/>
            <a:tailEnd type="triangle" w="med" len="med"/>
          </a:ln>
        </p:spPr>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577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578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75781" name="Rectangle 2"/>
          <p:cNvSpPr>
            <a:spLocks noGrp="1"/>
          </p:cNvSpPr>
          <p:nvPr>
            <p:ph type="title"/>
          </p:nvPr>
        </p:nvSpPr>
        <p:spPr/>
        <p:txBody>
          <a:bodyPr vert="horz" wrap="square" lIns="91440" tIns="45720" rIns="91440" bIns="45720" anchor="b" anchorCtr="0"/>
          <a:p>
            <a:pPr eaLnBrk="1" hangingPunct="1"/>
            <a:r>
              <a:rPr lang="zh-CN" altLang="en-US" dirty="0">
                <a:latin typeface="Times New Roman" panose="02020503050405090304" pitchFamily="18" charset="0"/>
              </a:rPr>
              <a:t>“</a:t>
            </a:r>
            <a:r>
              <a:rPr lang="en-US" altLang="zh-CN" dirty="0"/>
              <a:t>Forwardized</a:t>
            </a:r>
            <a:r>
              <a:rPr lang="en-US" altLang="zh-CN" dirty="0">
                <a:latin typeface="Times New Roman" panose="02020503050405090304" pitchFamily="18" charset="0"/>
              </a:rPr>
              <a:t>”</a:t>
            </a:r>
            <a:r>
              <a:rPr lang="en-US" altLang="zh-CN" dirty="0"/>
              <a:t> version</a:t>
            </a:r>
            <a:endParaRPr lang="en-US" altLang="zh-CN" dirty="0"/>
          </a:p>
        </p:txBody>
      </p:sp>
      <p:sp>
        <p:nvSpPr>
          <p:cNvPr id="75782" name="Rectangle 3"/>
          <p:cNvSpPr>
            <a:spLocks noGrp="1"/>
          </p:cNvSpPr>
          <p:nvPr>
            <p:ph idx="1"/>
          </p:nvPr>
        </p:nvSpPr>
        <p:spPr>
          <a:xfrm>
            <a:off x="899795" y="1340168"/>
            <a:ext cx="7772400" cy="4114800"/>
          </a:xfrm>
        </p:spPr>
        <p:txBody>
          <a:bodyPr vert="horz" wrap="square" lIns="91440" tIns="45720" rIns="91440" bIns="45720" anchor="t" anchorCtr="0"/>
          <a:p>
            <a:pPr eaLnBrk="1" hangingPunct="1"/>
            <a:r>
              <a:rPr lang="en-US" altLang="zh-CN" sz="2800" b="1" dirty="0">
                <a:latin typeface="Times New Roman" panose="02020503050405090304" pitchFamily="18" charset="0"/>
              </a:rPr>
              <a:t>Theorem.</a:t>
            </a:r>
            <a:r>
              <a:rPr lang="en-US" altLang="zh-CN" sz="2800" dirty="0">
                <a:latin typeface="Times New Roman" panose="02020503050405090304" pitchFamily="18" charset="0"/>
              </a:rPr>
              <a:t> Whoever moves first can always force a win.</a:t>
            </a:r>
            <a:endParaRPr lang="en-US" altLang="zh-CN" sz="2800" dirty="0">
              <a:latin typeface="Times New Roman" panose="02020503050405090304" pitchFamily="18" charset="0"/>
            </a:endParaRPr>
          </a:p>
          <a:p>
            <a:pPr lvl="1" eaLnBrk="1" hangingPunct="1"/>
            <a:r>
              <a:rPr lang="en-US" altLang="zh-CN" sz="2400" b="1" dirty="0">
                <a:latin typeface="Times New Roman" panose="02020503050405090304" pitchFamily="18" charset="0"/>
              </a:rPr>
              <a:t>Proof.</a:t>
            </a:r>
            <a:r>
              <a:rPr lang="en-US" altLang="zh-CN" sz="2400" dirty="0">
                <a:latin typeface="Times New Roman" panose="02020503050405090304" pitchFamily="18" charset="0"/>
              </a:rPr>
              <a:t>  </a:t>
            </a:r>
            <a:endParaRPr lang="en-US" altLang="zh-CN" sz="2400" dirty="0">
              <a:latin typeface="Times New Roman" panose="02020503050405090304" pitchFamily="18" charset="0"/>
            </a:endParaRPr>
          </a:p>
          <a:p>
            <a:pPr lvl="1" eaLnBrk="1" hangingPunct="1"/>
            <a:r>
              <a:rPr lang="en-US" altLang="zh-CN" sz="2400" dirty="0">
                <a:latin typeface="Times New Roman" panose="02020503050405090304" pitchFamily="18" charset="0"/>
              </a:rPr>
              <a:t>Player 1 can remove 3 stones, leaving 12.</a:t>
            </a:r>
            <a:endParaRPr lang="en-US" altLang="zh-CN" sz="2400" dirty="0">
              <a:latin typeface="Times New Roman" panose="02020503050405090304" pitchFamily="18" charset="0"/>
            </a:endParaRPr>
          </a:p>
          <a:p>
            <a:pPr lvl="1" eaLnBrk="1" hangingPunct="1"/>
            <a:r>
              <a:rPr lang="en-US" altLang="zh-CN" sz="2400" dirty="0">
                <a:latin typeface="Times New Roman" panose="02020503050405090304" pitchFamily="18" charset="0"/>
              </a:rPr>
              <a:t>After player 2 moves, there will then be either 11, 10, or 9 stones left.</a:t>
            </a:r>
            <a:endParaRPr lang="en-US" altLang="zh-CN" sz="2400" dirty="0">
              <a:latin typeface="Times New Roman" panose="02020503050405090304" pitchFamily="18" charset="0"/>
            </a:endParaRPr>
          </a:p>
          <a:p>
            <a:pPr lvl="1" eaLnBrk="1" hangingPunct="1"/>
            <a:r>
              <a:rPr lang="en-US" altLang="zh-CN" sz="2400" dirty="0">
                <a:latin typeface="Times New Roman" panose="02020503050405090304" pitchFamily="18" charset="0"/>
              </a:rPr>
              <a:t>In any of these cases, player 1 can then reduce the number of stones to 8.</a:t>
            </a:r>
            <a:endParaRPr lang="en-US" altLang="zh-CN" sz="2400" dirty="0">
              <a:latin typeface="Times New Roman" panose="02020503050405090304" pitchFamily="18" charset="0"/>
            </a:endParaRPr>
          </a:p>
          <a:p>
            <a:pPr lvl="1" eaLnBrk="1" hangingPunct="1"/>
            <a:r>
              <a:rPr lang="en-US" altLang="zh-CN" sz="2400" dirty="0">
                <a:latin typeface="Times New Roman" panose="02020503050405090304" pitchFamily="18" charset="0"/>
              </a:rPr>
              <a:t>Then, player 2 will reduce the number to 7, 6, or 5.</a:t>
            </a:r>
            <a:endParaRPr lang="en-US" altLang="zh-CN" sz="2400" dirty="0">
              <a:latin typeface="Times New Roman" panose="02020503050405090304" pitchFamily="18" charset="0"/>
            </a:endParaRPr>
          </a:p>
          <a:p>
            <a:pPr lvl="1" eaLnBrk="1" hangingPunct="1"/>
            <a:r>
              <a:rPr lang="en-US" altLang="zh-CN" sz="2400" dirty="0">
                <a:latin typeface="Times New Roman" panose="02020503050405090304" pitchFamily="18" charset="0"/>
              </a:rPr>
              <a:t>Then, player 1 can reduce the number to 4.  </a:t>
            </a:r>
            <a:endParaRPr lang="en-US" altLang="zh-CN" sz="2400" dirty="0">
              <a:latin typeface="Times New Roman" panose="02020503050405090304" pitchFamily="18" charset="0"/>
            </a:endParaRPr>
          </a:p>
          <a:p>
            <a:pPr lvl="1" eaLnBrk="1" hangingPunct="1"/>
            <a:r>
              <a:rPr lang="en-US" altLang="zh-CN" sz="2400" dirty="0">
                <a:latin typeface="Times New Roman" panose="02020503050405090304" pitchFamily="18" charset="0"/>
              </a:rPr>
              <a:t>Then, player 2 must reduce them to 3, 2, or 1.  </a:t>
            </a:r>
            <a:endParaRPr lang="en-US" altLang="zh-CN" sz="2400" dirty="0">
              <a:latin typeface="Times New Roman" panose="02020503050405090304" pitchFamily="18" charset="0"/>
            </a:endParaRPr>
          </a:p>
          <a:p>
            <a:pPr lvl="1" eaLnBrk="1" hangingPunct="1"/>
            <a:r>
              <a:rPr lang="en-US" altLang="zh-CN" sz="2400" dirty="0">
                <a:latin typeface="Times New Roman" panose="02020503050405090304" pitchFamily="18" charset="0"/>
              </a:rPr>
              <a:t>Player 1 then removes the remaining stones and wins.</a:t>
            </a:r>
            <a:endParaRPr lang="en-US" altLang="zh-CN" sz="2400" b="1" dirty="0">
              <a:latin typeface="Times New Roman" panose="0202050305040509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680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680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76805" name="Rectangle 2"/>
          <p:cNvSpPr>
            <a:spLocks noGrp="1"/>
          </p:cNvSpPr>
          <p:nvPr>
            <p:ph type="title"/>
          </p:nvPr>
        </p:nvSpPr>
        <p:spPr/>
        <p:txBody>
          <a:bodyPr vert="horz" wrap="square" lIns="91440" tIns="45720" rIns="91440" bIns="45720" anchor="b" anchorCtr="0"/>
          <a:p>
            <a:pPr eaLnBrk="1" hangingPunct="1"/>
            <a:r>
              <a:rPr lang="en-US" altLang="zh-CN" dirty="0"/>
              <a:t>Adapting Existing Proofs</a:t>
            </a:r>
            <a:endParaRPr lang="en-US" altLang="zh-CN" dirty="0"/>
          </a:p>
        </p:txBody>
      </p:sp>
      <p:sp>
        <p:nvSpPr>
          <p:cNvPr id="76806" name="Rectangle 3"/>
          <p:cNvSpPr>
            <a:spLocks noGrp="1"/>
          </p:cNvSpPr>
          <p:nvPr>
            <p:ph idx="1"/>
          </p:nvPr>
        </p:nvSpPr>
        <p:spPr>
          <a:xfrm>
            <a:off x="327025" y="1404938"/>
            <a:ext cx="8534400" cy="4724400"/>
          </a:xfrm>
        </p:spPr>
        <p:txBody>
          <a:bodyPr vert="horz" wrap="square" lIns="91440" tIns="45720" rIns="91440" bIns="45720" anchor="t" anchorCtr="0"/>
          <a:p>
            <a:pPr eaLnBrk="1" hangingPunct="1"/>
            <a:r>
              <a:rPr lang="en-US" altLang="zh-CN" sz="2800" b="1" dirty="0">
                <a:latin typeface="Times New Roman" panose="02020503050405090304" pitchFamily="18" charset="0"/>
              </a:rPr>
              <a:t>Theorem:</a:t>
            </a:r>
            <a:r>
              <a:rPr lang="en-US" altLang="zh-CN" sz="2800" dirty="0">
                <a:latin typeface="Times New Roman" panose="02020503050405090304" pitchFamily="18" charset="0"/>
              </a:rPr>
              <a:t> There are infinitely many primes of the form </a:t>
            </a:r>
            <a:r>
              <a:rPr lang="en-US" altLang="zh-CN" sz="2800" dirty="0">
                <a:solidFill>
                  <a:srgbClr val="FF0000"/>
                </a:solidFill>
                <a:latin typeface="Times New Roman" panose="02020503050405090304" pitchFamily="18" charset="0"/>
              </a:rPr>
              <a:t>4</a:t>
            </a:r>
            <a:r>
              <a:rPr lang="en-US" altLang="zh-CN" sz="2800" i="1" dirty="0">
                <a:solidFill>
                  <a:srgbClr val="FF0000"/>
                </a:solidFill>
                <a:latin typeface="Times New Roman" panose="02020503050405090304" pitchFamily="18" charset="0"/>
              </a:rPr>
              <a:t>k</a:t>
            </a:r>
            <a:r>
              <a:rPr lang="en-US" altLang="zh-CN" sz="2800" dirty="0">
                <a:solidFill>
                  <a:srgbClr val="FF0000"/>
                </a:solidFill>
                <a:latin typeface="Times New Roman" panose="02020503050405090304" pitchFamily="18" charset="0"/>
              </a:rPr>
              <a:t>+3</a:t>
            </a:r>
            <a:r>
              <a:rPr lang="en-US" altLang="zh-CN" sz="2800" dirty="0">
                <a:latin typeface="Times New Roman" panose="02020503050405090304" pitchFamily="18" charset="0"/>
              </a:rPr>
              <a:t>, where </a:t>
            </a:r>
            <a:r>
              <a:rPr lang="en-US" altLang="zh-CN" sz="2800" i="1" dirty="0">
                <a:latin typeface="Times New Roman" panose="02020503050405090304" pitchFamily="18" charset="0"/>
              </a:rPr>
              <a:t>k</a:t>
            </a:r>
            <a:r>
              <a:rPr lang="en-US" altLang="zh-CN" sz="2800" dirty="0">
                <a:latin typeface="Times New Roman" panose="02020503050405090304" pitchFamily="18" charset="0"/>
                <a:sym typeface="Symbol" panose="05050102010706020507" pitchFamily="18" charset="2"/>
              </a:rPr>
              <a:t></a:t>
            </a:r>
            <a:r>
              <a:rPr lang="en-US" altLang="zh-CN" sz="2800" b="1" dirty="0">
                <a:latin typeface="Times New Roman" panose="02020503050405090304" pitchFamily="18" charset="0"/>
                <a:sym typeface="Symbol" panose="05050102010706020507" pitchFamily="18" charset="2"/>
              </a:rPr>
              <a:t>N</a:t>
            </a:r>
            <a:r>
              <a:rPr lang="en-US" altLang="zh-CN" sz="2800" dirty="0">
                <a:latin typeface="Times New Roman" panose="02020503050405090304" pitchFamily="18" charset="0"/>
                <a:sym typeface="Symbol" panose="05050102010706020507" pitchFamily="18" charset="2"/>
              </a:rPr>
              <a:t>.</a:t>
            </a:r>
            <a:endParaRPr lang="en-US" altLang="zh-CN" sz="2800" dirty="0">
              <a:latin typeface="Times New Roman" panose="02020503050405090304" pitchFamily="18" charset="0"/>
              <a:sym typeface="Symbol" panose="05050102010706020507" pitchFamily="18" charset="2"/>
            </a:endParaRPr>
          </a:p>
          <a:p>
            <a:pPr lvl="1" eaLnBrk="1" hangingPunct="1"/>
            <a:r>
              <a:rPr lang="en-US" altLang="zh-CN" sz="2400" dirty="0">
                <a:latin typeface="Times New Roman" panose="02020503050405090304" pitchFamily="18" charset="0"/>
                <a:sym typeface="Symbol" panose="05050102010706020507" pitchFamily="18" charset="2"/>
              </a:rPr>
              <a:t>Recall we proved there are infinitely many primes because if </a:t>
            </a:r>
            <a:r>
              <a:rPr lang="en-US" altLang="zh-CN" sz="2400" i="1" dirty="0">
                <a:solidFill>
                  <a:srgbClr val="FF0000"/>
                </a:solidFill>
                <a:latin typeface="Times New Roman" panose="02020503050405090304" pitchFamily="18" charset="0"/>
                <a:sym typeface="Symbol" panose="05050102010706020507" pitchFamily="18" charset="2"/>
              </a:rPr>
              <a:t>p</a:t>
            </a:r>
            <a:r>
              <a:rPr lang="en-US" altLang="zh-CN" sz="2400" baseline="-25000" dirty="0">
                <a:solidFill>
                  <a:srgbClr val="FF0000"/>
                </a:solidFill>
                <a:latin typeface="Times New Roman" panose="02020503050405090304" pitchFamily="18" charset="0"/>
                <a:sym typeface="Symbol" panose="05050102010706020507" pitchFamily="18" charset="2"/>
              </a:rPr>
              <a:t>1</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p</a:t>
            </a:r>
            <a:r>
              <a:rPr lang="en-US" altLang="zh-CN" sz="2400" i="1" baseline="-25000" dirty="0">
                <a:solidFill>
                  <a:srgbClr val="FF0000"/>
                </a:solidFill>
                <a:latin typeface="Times New Roman" panose="02020503050405090304" pitchFamily="18" charset="0"/>
                <a:sym typeface="Symbol" panose="05050102010706020507" pitchFamily="18" charset="2"/>
              </a:rPr>
              <a:t>n</a:t>
            </a:r>
            <a:r>
              <a:rPr lang="en-US" altLang="zh-CN" sz="2400" dirty="0">
                <a:latin typeface="Times New Roman" panose="02020503050405090304" pitchFamily="18" charset="0"/>
                <a:sym typeface="Symbol" panose="05050102010706020507" pitchFamily="18" charset="2"/>
              </a:rPr>
              <a:t> were all the primes, then </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p</a:t>
            </a:r>
            <a:r>
              <a:rPr lang="en-US" altLang="zh-CN" sz="2400" i="1" baseline="-25000" dirty="0">
                <a:solidFill>
                  <a:srgbClr val="FF0000"/>
                </a:solidFill>
                <a:latin typeface="Times New Roman" panose="02020503050405090304" pitchFamily="18" charset="0"/>
                <a:sym typeface="Symbol" panose="05050102010706020507" pitchFamily="18" charset="2"/>
              </a:rPr>
              <a:t>i</a:t>
            </a:r>
            <a:r>
              <a:rPr lang="en-US" altLang="zh-CN" sz="2400" dirty="0">
                <a:solidFill>
                  <a:srgbClr val="FF0000"/>
                </a:solidFill>
                <a:latin typeface="Times New Roman" panose="02020503050405090304" pitchFamily="18" charset="0"/>
                <a:sym typeface="Symbol" panose="05050102010706020507" pitchFamily="18" charset="2"/>
              </a:rPr>
              <a:t>)+1</a:t>
            </a:r>
            <a:r>
              <a:rPr lang="en-US" altLang="zh-CN" sz="2400" dirty="0">
                <a:latin typeface="Times New Roman" panose="02020503050405090304" pitchFamily="18" charset="0"/>
                <a:sym typeface="Symbol" panose="05050102010706020507" pitchFamily="18" charset="2"/>
              </a:rPr>
              <a:t> must be prime or have a prime factor greater than </a:t>
            </a:r>
            <a:r>
              <a:rPr lang="en-US" altLang="zh-CN" sz="2400" i="1" dirty="0">
                <a:solidFill>
                  <a:srgbClr val="FF0000"/>
                </a:solidFill>
                <a:latin typeface="Times New Roman" panose="02020503050405090304" pitchFamily="18" charset="0"/>
                <a:sym typeface="Symbol" panose="05050102010706020507" pitchFamily="18" charset="2"/>
              </a:rPr>
              <a:t>p</a:t>
            </a:r>
            <a:r>
              <a:rPr lang="en-US" altLang="zh-CN" sz="2400" i="1" baseline="-25000" dirty="0">
                <a:solidFill>
                  <a:srgbClr val="FF0000"/>
                </a:solidFill>
                <a:latin typeface="Times New Roman" panose="02020503050405090304" pitchFamily="18" charset="0"/>
                <a:sym typeface="Symbol" panose="05050102010706020507" pitchFamily="18" charset="2"/>
              </a:rPr>
              <a:t>n</a:t>
            </a:r>
            <a:r>
              <a:rPr lang="en-US" altLang="zh-CN" sz="2400" dirty="0">
                <a:latin typeface="Times New Roman" panose="02020503050405090304" pitchFamily="18" charset="0"/>
                <a:sym typeface="Symbol" panose="05050102010706020507" pitchFamily="18" charset="2"/>
              </a:rPr>
              <a:t>,  contradiction!</a:t>
            </a:r>
            <a:endParaRPr lang="en-US" altLang="zh-CN" sz="2400" dirty="0">
              <a:latin typeface="Times New Roman" panose="02020503050405090304" pitchFamily="18" charset="0"/>
              <a:sym typeface="Symbol" panose="05050102010706020507" pitchFamily="18" charset="2"/>
            </a:endParaRPr>
          </a:p>
          <a:p>
            <a:pPr lvl="1" eaLnBrk="1" hangingPunct="1"/>
            <a:r>
              <a:rPr lang="en-US" altLang="zh-CN" sz="2400" b="1" dirty="0">
                <a:latin typeface="Times New Roman" panose="02020503050405090304" pitchFamily="18" charset="0"/>
                <a:sym typeface="Symbol" panose="05050102010706020507" pitchFamily="18" charset="2"/>
              </a:rPr>
              <a:t>Proof:</a:t>
            </a:r>
            <a:r>
              <a:rPr lang="en-US" altLang="zh-CN" sz="2400" dirty="0">
                <a:latin typeface="Times New Roman" panose="02020503050405090304" pitchFamily="18" charset="0"/>
                <a:sym typeface="Symbol" panose="05050102010706020507" pitchFamily="18" charset="2"/>
              </a:rPr>
              <a:t>  Similarly, suppose </a:t>
            </a:r>
            <a:r>
              <a:rPr lang="en-US" altLang="zh-CN" sz="2400" i="1" dirty="0">
                <a:solidFill>
                  <a:srgbClr val="FF0000"/>
                </a:solidFill>
                <a:latin typeface="Times New Roman" panose="02020503050405090304" pitchFamily="18" charset="0"/>
                <a:sym typeface="Symbol" panose="05050102010706020507" pitchFamily="18" charset="2"/>
              </a:rPr>
              <a:t>q</a:t>
            </a:r>
            <a:r>
              <a:rPr lang="en-US" altLang="zh-CN" sz="2400" baseline="-25000" dirty="0">
                <a:solidFill>
                  <a:srgbClr val="FF0000"/>
                </a:solidFill>
                <a:latin typeface="Times New Roman" panose="02020503050405090304" pitchFamily="18" charset="0"/>
                <a:sym typeface="Symbol" panose="05050102010706020507" pitchFamily="18" charset="2"/>
              </a:rPr>
              <a:t>1</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q</a:t>
            </a:r>
            <a:r>
              <a:rPr lang="en-US" altLang="zh-CN" sz="2400" i="1" baseline="-25000" dirty="0">
                <a:solidFill>
                  <a:srgbClr val="FF0000"/>
                </a:solidFill>
                <a:latin typeface="Times New Roman" panose="02020503050405090304" pitchFamily="18" charset="0"/>
                <a:sym typeface="Symbol" panose="05050102010706020507" pitchFamily="18" charset="2"/>
              </a:rPr>
              <a:t>n</a:t>
            </a:r>
            <a:r>
              <a:rPr lang="en-US" altLang="zh-CN" sz="2400" dirty="0">
                <a:latin typeface="Times New Roman" panose="02020503050405090304" pitchFamily="18" charset="0"/>
                <a:sym typeface="Symbol" panose="05050102010706020507" pitchFamily="18" charset="2"/>
              </a:rPr>
              <a:t> lists all primes of the form </a:t>
            </a:r>
            <a:r>
              <a:rPr lang="en-US" altLang="zh-CN" sz="2400" dirty="0">
                <a:solidFill>
                  <a:srgbClr val="FF0000"/>
                </a:solidFill>
                <a:latin typeface="Times New Roman" panose="02020503050405090304" pitchFamily="18" charset="0"/>
                <a:sym typeface="Symbol" panose="05050102010706020507" pitchFamily="18" charset="2"/>
              </a:rPr>
              <a:t>4</a:t>
            </a:r>
            <a:r>
              <a:rPr lang="en-US" altLang="zh-CN" sz="2400" i="1" dirty="0">
                <a:solidFill>
                  <a:srgbClr val="FF0000"/>
                </a:solidFill>
                <a:latin typeface="Times New Roman" panose="02020503050405090304" pitchFamily="18" charset="0"/>
                <a:sym typeface="Symbol" panose="05050102010706020507" pitchFamily="18" charset="2"/>
              </a:rPr>
              <a:t>k</a:t>
            </a:r>
            <a:r>
              <a:rPr lang="en-US" altLang="zh-CN" sz="2400" dirty="0">
                <a:solidFill>
                  <a:srgbClr val="FF0000"/>
                </a:solidFill>
                <a:latin typeface="Times New Roman" panose="02020503050405090304" pitchFamily="18" charset="0"/>
                <a:sym typeface="Symbol" panose="05050102010706020507" pitchFamily="18" charset="2"/>
              </a:rPr>
              <a:t>+3</a:t>
            </a:r>
            <a:r>
              <a:rPr lang="en-US" altLang="zh-CN" sz="2400" dirty="0">
                <a:latin typeface="Times New Roman" panose="02020503050405090304" pitchFamily="18" charset="0"/>
                <a:sym typeface="Symbol" panose="05050102010706020507" pitchFamily="18" charset="2"/>
              </a:rPr>
              <a:t>, </a:t>
            </a:r>
            <a:endParaRPr lang="en-US" altLang="zh-CN" sz="2400" dirty="0">
              <a:latin typeface="Times New Roman" panose="02020503050405090304" pitchFamily="18" charset="0"/>
              <a:sym typeface="Symbol" panose="05050102010706020507" pitchFamily="18" charset="2"/>
            </a:endParaRPr>
          </a:p>
          <a:p>
            <a:pPr lvl="2" eaLnBrk="1" hangingPunct="1"/>
            <a:r>
              <a:rPr lang="en-US" altLang="zh-CN" sz="2000" dirty="0">
                <a:latin typeface="Times New Roman" panose="02020503050405090304" pitchFamily="18" charset="0"/>
                <a:sym typeface="Symbol" panose="05050102010706020507" pitchFamily="18" charset="2"/>
              </a:rPr>
              <a:t>and analogously consider </a:t>
            </a:r>
            <a:r>
              <a:rPr lang="en-US" altLang="zh-CN" sz="2000" i="1" dirty="0">
                <a:solidFill>
                  <a:srgbClr val="FF0000"/>
                </a:solidFill>
                <a:latin typeface="Times New Roman" panose="02020503050405090304" pitchFamily="18" charset="0"/>
                <a:sym typeface="Symbol" panose="05050102010706020507" pitchFamily="18" charset="2"/>
              </a:rPr>
              <a:t>Q</a:t>
            </a:r>
            <a:r>
              <a:rPr lang="en-US" altLang="zh-CN" sz="2000" dirty="0">
                <a:solidFill>
                  <a:srgbClr val="FF0000"/>
                </a:solidFill>
                <a:latin typeface="Times New Roman" panose="02020503050405090304" pitchFamily="18" charset="0"/>
                <a:sym typeface="Symbol" panose="05050102010706020507" pitchFamily="18" charset="2"/>
              </a:rPr>
              <a:t> = 4(∏</a:t>
            </a:r>
            <a:r>
              <a:rPr lang="en-US" altLang="zh-CN" sz="2000" i="1" dirty="0">
                <a:solidFill>
                  <a:srgbClr val="FF0000"/>
                </a:solidFill>
                <a:latin typeface="Times New Roman" panose="02020503050405090304" pitchFamily="18" charset="0"/>
                <a:sym typeface="Symbol" panose="05050102010706020507" pitchFamily="18" charset="2"/>
              </a:rPr>
              <a:t>q</a:t>
            </a:r>
            <a:r>
              <a:rPr lang="en-US" altLang="zh-CN" sz="2000" i="1" baseline="-25000" dirty="0">
                <a:solidFill>
                  <a:srgbClr val="FF0000"/>
                </a:solidFill>
                <a:latin typeface="Times New Roman" panose="02020503050405090304" pitchFamily="18" charset="0"/>
                <a:sym typeface="Symbol" panose="05050102010706020507" pitchFamily="18" charset="2"/>
              </a:rPr>
              <a:t>i</a:t>
            </a:r>
            <a:r>
              <a:rPr lang="en-US" altLang="zh-CN" sz="2000" dirty="0">
                <a:solidFill>
                  <a:srgbClr val="FF0000"/>
                </a:solidFill>
                <a:latin typeface="Times New Roman" panose="02020503050405090304" pitchFamily="18" charset="0"/>
                <a:sym typeface="Symbol" panose="05050102010706020507" pitchFamily="18" charset="2"/>
              </a:rPr>
              <a:t>)+3</a:t>
            </a:r>
            <a:r>
              <a:rPr lang="en-US" altLang="zh-CN" sz="2000" dirty="0">
                <a:latin typeface="Times New Roman" panose="02020503050405090304" pitchFamily="18" charset="0"/>
                <a:sym typeface="Symbol" panose="05050102010706020507" pitchFamily="18" charset="2"/>
              </a:rPr>
              <a:t>.  </a:t>
            </a:r>
            <a:endParaRPr lang="en-US" altLang="zh-CN" sz="2000" dirty="0">
              <a:latin typeface="Times New Roman" panose="02020503050405090304" pitchFamily="18" charset="0"/>
              <a:sym typeface="Symbol" panose="05050102010706020507" pitchFamily="18" charset="2"/>
            </a:endParaRPr>
          </a:p>
          <a:p>
            <a:pPr lvl="3" eaLnBrk="1" hangingPunct="1"/>
            <a:r>
              <a:rPr lang="en-US" altLang="zh-CN" sz="1800" dirty="0">
                <a:solidFill>
                  <a:srgbClr val="800080"/>
                </a:solidFill>
                <a:latin typeface="Times New Roman" panose="02020503050405090304" pitchFamily="18" charset="0"/>
                <a:sym typeface="Symbol" panose="05050102010706020507" pitchFamily="18" charset="2"/>
              </a:rPr>
              <a:t>Unfortunately, since </a:t>
            </a:r>
            <a:r>
              <a:rPr lang="en-US" altLang="zh-CN" sz="1800" i="1" dirty="0">
                <a:latin typeface="Times New Roman" panose="02020503050405090304" pitchFamily="18" charset="0"/>
                <a:sym typeface="Symbol" panose="05050102010706020507" pitchFamily="18" charset="2"/>
              </a:rPr>
              <a:t>q</a:t>
            </a:r>
            <a:r>
              <a:rPr lang="en-US" altLang="zh-CN" sz="1800" baseline="-25000" dirty="0">
                <a:latin typeface="Times New Roman" panose="02020503050405090304" pitchFamily="18" charset="0"/>
                <a:sym typeface="Symbol" panose="05050102010706020507" pitchFamily="18" charset="2"/>
              </a:rPr>
              <a:t>1</a:t>
            </a:r>
            <a:r>
              <a:rPr lang="en-US" altLang="zh-CN" sz="1800" dirty="0">
                <a:latin typeface="Times New Roman" panose="02020503050405090304" pitchFamily="18" charset="0"/>
                <a:sym typeface="Symbol" panose="05050102010706020507" pitchFamily="18" charset="2"/>
              </a:rPr>
              <a:t> = 3</a:t>
            </a:r>
            <a:r>
              <a:rPr lang="en-US" altLang="zh-CN" sz="1800" dirty="0">
                <a:solidFill>
                  <a:srgbClr val="800080"/>
                </a:solidFill>
                <a:latin typeface="Times New Roman" panose="02020503050405090304" pitchFamily="18" charset="0"/>
                <a:sym typeface="Symbol" panose="05050102010706020507" pitchFamily="18" charset="2"/>
              </a:rPr>
              <a:t> is possible, </a:t>
            </a:r>
            <a:r>
              <a:rPr lang="en-US" altLang="zh-CN" sz="1800" dirty="0">
                <a:latin typeface="Times New Roman" panose="02020503050405090304" pitchFamily="18" charset="0"/>
                <a:sym typeface="Symbol" panose="05050102010706020507" pitchFamily="18" charset="2"/>
              </a:rPr>
              <a:t>3|</a:t>
            </a:r>
            <a:r>
              <a:rPr lang="en-US" altLang="zh-CN" sz="1800" i="1" dirty="0">
                <a:latin typeface="Times New Roman" panose="02020503050405090304" pitchFamily="18" charset="0"/>
                <a:sym typeface="Symbol" panose="05050102010706020507" pitchFamily="18" charset="2"/>
              </a:rPr>
              <a:t>Q</a:t>
            </a:r>
            <a:r>
              <a:rPr lang="en-US" altLang="zh-CN" sz="1800" dirty="0">
                <a:solidFill>
                  <a:srgbClr val="800080"/>
                </a:solidFill>
                <a:latin typeface="Times New Roman" panose="02020503050405090304" pitchFamily="18" charset="0"/>
                <a:sym typeface="Symbol" panose="05050102010706020507" pitchFamily="18" charset="2"/>
              </a:rPr>
              <a:t> and so </a:t>
            </a:r>
            <a:r>
              <a:rPr lang="en-US" altLang="zh-CN" sz="1800" i="1" dirty="0">
                <a:latin typeface="Times New Roman" panose="02020503050405090304" pitchFamily="18" charset="0"/>
                <a:sym typeface="Symbol" panose="05050102010706020507" pitchFamily="18" charset="2"/>
              </a:rPr>
              <a:t>Q</a:t>
            </a:r>
            <a:r>
              <a:rPr lang="en-US" altLang="zh-CN" sz="1800" dirty="0">
                <a:solidFill>
                  <a:srgbClr val="800080"/>
                </a:solidFill>
                <a:latin typeface="Times New Roman" panose="02020503050405090304" pitchFamily="18" charset="0"/>
                <a:sym typeface="Symbol" panose="05050102010706020507" pitchFamily="18" charset="2"/>
              </a:rPr>
              <a:t> does have a prime factor among the </a:t>
            </a:r>
            <a:r>
              <a:rPr lang="en-US" altLang="zh-CN" sz="1800" i="1" dirty="0">
                <a:latin typeface="Times New Roman" panose="02020503050405090304" pitchFamily="18" charset="0"/>
                <a:sym typeface="Symbol" panose="05050102010706020507" pitchFamily="18" charset="2"/>
              </a:rPr>
              <a:t>q</a:t>
            </a:r>
            <a:r>
              <a:rPr lang="en-US" altLang="zh-CN" sz="1800" i="1" baseline="-25000" dirty="0">
                <a:latin typeface="Times New Roman" panose="02020503050405090304" pitchFamily="18" charset="0"/>
                <a:sym typeface="Symbol" panose="05050102010706020507" pitchFamily="18" charset="2"/>
              </a:rPr>
              <a:t>i</a:t>
            </a:r>
            <a:r>
              <a:rPr lang="en-US" altLang="zh-CN" sz="1800" dirty="0">
                <a:solidFill>
                  <a:srgbClr val="800080"/>
                </a:solidFill>
                <a:latin typeface="Times New Roman" panose="02020503050405090304" pitchFamily="18" charset="0"/>
                <a:sym typeface="Symbol" panose="05050102010706020507" pitchFamily="18" charset="2"/>
              </a:rPr>
              <a:t>, so this doesn’t work!</a:t>
            </a:r>
            <a:endParaRPr lang="en-US" altLang="zh-CN" sz="1800" dirty="0">
              <a:solidFill>
                <a:srgbClr val="800080"/>
              </a:solidFill>
              <a:latin typeface="Times New Roman" panose="02020503050405090304" pitchFamily="18" charset="0"/>
              <a:sym typeface="Symbol" panose="05050102010706020507" pitchFamily="18" charset="2"/>
            </a:endParaRPr>
          </a:p>
          <a:p>
            <a:pPr lvl="2" eaLnBrk="1" hangingPunct="1"/>
            <a:r>
              <a:rPr lang="en-US" altLang="zh-CN" sz="2000" dirty="0">
                <a:latin typeface="Times New Roman" panose="02020503050405090304" pitchFamily="18" charset="0"/>
                <a:sym typeface="Symbol" panose="05050102010706020507" pitchFamily="18" charset="2"/>
              </a:rPr>
              <a:t>So instead, consider </a:t>
            </a:r>
            <a:r>
              <a:rPr lang="en-US" altLang="zh-CN" sz="2000" i="1" dirty="0">
                <a:solidFill>
                  <a:srgbClr val="FF0000"/>
                </a:solidFill>
                <a:latin typeface="Times New Roman" panose="02020503050405090304" pitchFamily="18" charset="0"/>
                <a:sym typeface="Symbol" panose="05050102010706020507" pitchFamily="18" charset="2"/>
              </a:rPr>
              <a:t>Q</a:t>
            </a:r>
            <a:r>
              <a:rPr lang="en-US" altLang="zh-CN" sz="2000" dirty="0">
                <a:solidFill>
                  <a:srgbClr val="FF0000"/>
                </a:solidFill>
                <a:latin typeface="Times New Roman" panose="02020503050405090304" pitchFamily="18" charset="0"/>
                <a:sym typeface="Symbol" panose="05050102010706020507" pitchFamily="18" charset="2"/>
              </a:rPr>
              <a:t> = 4(∏</a:t>
            </a:r>
            <a:r>
              <a:rPr lang="en-US" altLang="zh-CN" sz="2000" i="1" dirty="0">
                <a:solidFill>
                  <a:srgbClr val="FF0000"/>
                </a:solidFill>
                <a:latin typeface="Times New Roman" panose="02020503050405090304" pitchFamily="18" charset="0"/>
                <a:sym typeface="Symbol" panose="05050102010706020507" pitchFamily="18" charset="2"/>
              </a:rPr>
              <a:t>q</a:t>
            </a:r>
            <a:r>
              <a:rPr lang="en-US" altLang="zh-CN" sz="2000" i="1" baseline="-25000" dirty="0">
                <a:solidFill>
                  <a:srgbClr val="FF0000"/>
                </a:solidFill>
                <a:latin typeface="Times New Roman" panose="02020503050405090304" pitchFamily="18" charset="0"/>
                <a:sym typeface="Symbol" panose="05050102010706020507" pitchFamily="18" charset="2"/>
              </a:rPr>
              <a:t>i</a:t>
            </a:r>
            <a:r>
              <a:rPr lang="en-US" altLang="zh-CN" sz="2000" dirty="0">
                <a:solidFill>
                  <a:srgbClr val="FF0000"/>
                </a:solidFill>
                <a:latin typeface="Times New Roman" panose="02020503050405090304" pitchFamily="18" charset="0"/>
                <a:sym typeface="Symbol" panose="05050102010706020507" pitchFamily="18" charset="2"/>
              </a:rPr>
              <a:t>)−1 = 4(∏</a:t>
            </a:r>
            <a:r>
              <a:rPr lang="en-US" altLang="zh-CN" sz="2000" i="1" dirty="0">
                <a:solidFill>
                  <a:srgbClr val="FF0000"/>
                </a:solidFill>
                <a:latin typeface="Times New Roman" panose="02020503050405090304" pitchFamily="18" charset="0"/>
                <a:sym typeface="Symbol" panose="05050102010706020507" pitchFamily="18" charset="2"/>
              </a:rPr>
              <a:t>q</a:t>
            </a:r>
            <a:r>
              <a:rPr lang="en-US" altLang="zh-CN" sz="2000" i="1" baseline="-25000" dirty="0">
                <a:solidFill>
                  <a:srgbClr val="FF0000"/>
                </a:solidFill>
                <a:latin typeface="Times New Roman" panose="02020503050405090304" pitchFamily="18" charset="0"/>
                <a:sym typeface="Symbol" panose="05050102010706020507" pitchFamily="18" charset="2"/>
              </a:rPr>
              <a:t>i</a:t>
            </a:r>
            <a:r>
              <a:rPr lang="en-US" altLang="zh-CN" sz="2000" dirty="0">
                <a:solidFill>
                  <a:srgbClr val="FF0000"/>
                </a:solidFill>
                <a:latin typeface="Times New Roman" panose="02020503050405090304" pitchFamily="18" charset="0"/>
                <a:sym typeface="Symbol" panose="05050102010706020507" pitchFamily="18" charset="2"/>
              </a:rPr>
              <a:t>−1)+3</a:t>
            </a:r>
            <a:r>
              <a:rPr lang="en-US" altLang="zh-CN" sz="2000" dirty="0">
                <a:latin typeface="Times New Roman" panose="02020503050405090304" pitchFamily="18" charset="0"/>
                <a:sym typeface="Symbol" panose="05050102010706020507" pitchFamily="18" charset="2"/>
              </a:rPr>
              <a:t>.  This has the right form, and has no </a:t>
            </a:r>
            <a:r>
              <a:rPr lang="en-US" altLang="zh-CN" sz="2000" i="1" dirty="0">
                <a:latin typeface="Times New Roman" panose="02020503050405090304" pitchFamily="18" charset="0"/>
                <a:sym typeface="Symbol" panose="05050102010706020507" pitchFamily="18" charset="2"/>
              </a:rPr>
              <a:t>q</a:t>
            </a:r>
            <a:r>
              <a:rPr lang="en-US" altLang="zh-CN" sz="2000" i="1" baseline="-25000" dirty="0">
                <a:latin typeface="Times New Roman" panose="02020503050405090304" pitchFamily="18" charset="0"/>
                <a:sym typeface="Symbol" panose="05050102010706020507" pitchFamily="18" charset="2"/>
              </a:rPr>
              <a:t>i</a:t>
            </a:r>
            <a:r>
              <a:rPr lang="en-US" altLang="zh-CN" sz="2000" dirty="0">
                <a:latin typeface="Times New Roman" panose="02020503050405090304" pitchFamily="18" charset="0"/>
                <a:sym typeface="Symbol" panose="05050102010706020507" pitchFamily="18" charset="2"/>
              </a:rPr>
              <a:t> as a factor since </a:t>
            </a:r>
            <a:r>
              <a:rPr lang="en-US" altLang="zh-CN" sz="2000" dirty="0">
                <a:solidFill>
                  <a:srgbClr val="FF0000"/>
                </a:solidFill>
                <a:latin typeface="Times New Roman" panose="02020503050405090304" pitchFamily="18" charset="0"/>
                <a:sym typeface="Symbol" panose="05050102010706020507" pitchFamily="18" charset="2"/>
              </a:rPr>
              <a:t></a:t>
            </a:r>
            <a:r>
              <a:rPr lang="en-US" altLang="zh-CN" sz="2000" i="1" dirty="0">
                <a:solidFill>
                  <a:srgbClr val="FF0000"/>
                </a:solidFill>
                <a:latin typeface="Times New Roman" panose="02020503050405090304" pitchFamily="18" charset="0"/>
                <a:sym typeface="Symbol" panose="05050102010706020507" pitchFamily="18" charset="2"/>
              </a:rPr>
              <a:t>i</a:t>
            </a:r>
            <a:r>
              <a:rPr lang="en-US" altLang="zh-CN" sz="2000" dirty="0">
                <a:solidFill>
                  <a:srgbClr val="FF0000"/>
                </a:solidFill>
                <a:latin typeface="Times New Roman" panose="02020503050405090304" pitchFamily="18" charset="0"/>
                <a:sym typeface="Symbol" panose="05050102010706020507" pitchFamily="18" charset="2"/>
              </a:rPr>
              <a:t>: </a:t>
            </a:r>
            <a:r>
              <a:rPr lang="en-US" altLang="zh-CN" sz="2000" i="1" dirty="0">
                <a:solidFill>
                  <a:srgbClr val="FF0000"/>
                </a:solidFill>
                <a:latin typeface="Times New Roman" panose="02020503050405090304" pitchFamily="18" charset="0"/>
                <a:sym typeface="Symbol" panose="05050102010706020507" pitchFamily="18" charset="2"/>
              </a:rPr>
              <a:t>Q ≡ </a:t>
            </a:r>
            <a:r>
              <a:rPr lang="en-US" altLang="zh-CN" sz="2000" dirty="0">
                <a:solidFill>
                  <a:srgbClr val="FF0000"/>
                </a:solidFill>
                <a:latin typeface="Times New Roman" panose="02020503050405090304" pitchFamily="18" charset="0"/>
                <a:sym typeface="Symbol" panose="05050102010706020507" pitchFamily="18" charset="2"/>
              </a:rPr>
              <a:t>−1 (mod </a:t>
            </a:r>
            <a:r>
              <a:rPr lang="en-US" altLang="zh-CN" sz="2000" i="1" dirty="0">
                <a:solidFill>
                  <a:srgbClr val="FF0000"/>
                </a:solidFill>
                <a:latin typeface="Times New Roman" panose="02020503050405090304" pitchFamily="18" charset="0"/>
                <a:sym typeface="Symbol" panose="05050102010706020507" pitchFamily="18" charset="2"/>
              </a:rPr>
              <a:t>q</a:t>
            </a:r>
            <a:r>
              <a:rPr lang="en-US" altLang="zh-CN" sz="2000" i="1" baseline="-25000" dirty="0">
                <a:solidFill>
                  <a:srgbClr val="FF0000"/>
                </a:solidFill>
                <a:latin typeface="Times New Roman" panose="02020503050405090304" pitchFamily="18" charset="0"/>
                <a:sym typeface="Symbol" panose="05050102010706020507" pitchFamily="18" charset="2"/>
              </a:rPr>
              <a:t>i</a:t>
            </a:r>
            <a:r>
              <a:rPr lang="en-US" altLang="zh-CN" sz="2000" dirty="0">
                <a:solidFill>
                  <a:srgbClr val="FF0000"/>
                </a:solidFill>
                <a:latin typeface="Times New Roman" panose="02020503050405090304" pitchFamily="18" charset="0"/>
                <a:sym typeface="Symbol" panose="05050102010706020507" pitchFamily="18" charset="2"/>
              </a:rPr>
              <a:t>)</a:t>
            </a:r>
            <a:r>
              <a:rPr lang="en-US" altLang="zh-CN" sz="2000" dirty="0">
                <a:latin typeface="Times New Roman" panose="02020503050405090304" pitchFamily="18" charset="0"/>
                <a:sym typeface="Symbol" panose="05050102010706020507" pitchFamily="18" charset="2"/>
              </a:rPr>
              <a:t>.</a:t>
            </a:r>
            <a:endParaRPr lang="en-US" altLang="zh-CN" sz="2000" dirty="0">
              <a:latin typeface="Times New Roman" panose="02020503050405090304" pitchFamily="18" charset="0"/>
              <a:sym typeface="Symbol" panose="05050102010706020507" pitchFamily="18" charset="2"/>
            </a:endParaRPr>
          </a:p>
        </p:txBody>
      </p:sp>
      <p:sp>
        <p:nvSpPr>
          <p:cNvPr id="76807" name="Text Box 4"/>
          <p:cNvSpPr txBox="1"/>
          <p:nvPr/>
        </p:nvSpPr>
        <p:spPr>
          <a:xfrm>
            <a:off x="7545070" y="620395"/>
            <a:ext cx="1398588" cy="514350"/>
          </a:xfrm>
          <a:prstGeom prst="rect">
            <a:avLst/>
          </a:prstGeom>
          <a:solidFill>
            <a:srgbClr val="FFFFCC"/>
          </a:solidFill>
          <a:ln w="57150" cap="flat" cmpd="sng">
            <a:solidFill>
              <a:srgbClr val="006600"/>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2400" dirty="0">
                <a:latin typeface="Times New Roman" panose="02020503050405090304" pitchFamily="18" charset="0"/>
              </a:rPr>
              <a:t>Example </a:t>
            </a:r>
            <a:endParaRPr lang="en-US" altLang="zh-CN" sz="2400" dirty="0">
              <a:latin typeface="Times New Roman" panose="0202050305040509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Title 1"/>
          <p:cNvSpPr>
            <a:spLocks noGrp="1"/>
          </p:cNvSpPr>
          <p:nvPr>
            <p:ph type="title"/>
          </p:nvPr>
        </p:nvSpPr>
        <p:spPr>
          <a:xfrm>
            <a:off x="990600" y="260350"/>
            <a:ext cx="7807325" cy="928370"/>
          </a:xfrm>
        </p:spPr>
        <p:txBody>
          <a:bodyPr vert="horz" wrap="square" lIns="91440" tIns="45720" rIns="91440" bIns="45720" anchor="b" anchorCtr="0"/>
          <a:p>
            <a:r>
              <a:rPr lang="en-US" altLang="zh-CN" dirty="0"/>
              <a:t>Proof and Disproof: Tilings</a:t>
            </a:r>
            <a:endParaRPr lang="en-US" altLang="zh-CN" dirty="0"/>
          </a:p>
        </p:txBody>
      </p:sp>
      <p:sp>
        <p:nvSpPr>
          <p:cNvPr id="78851" name="Content Placeholder 2"/>
          <p:cNvSpPr>
            <a:spLocks noGrp="1"/>
          </p:cNvSpPr>
          <p:nvPr>
            <p:ph idx="1"/>
          </p:nvPr>
        </p:nvSpPr>
        <p:spPr>
          <a:xfrm>
            <a:off x="755650" y="1340485"/>
            <a:ext cx="8188325" cy="4114800"/>
          </a:xfrm>
        </p:spPr>
        <p:txBody>
          <a:bodyPr vert="horz" wrap="square" lIns="91440" tIns="45720" rIns="91440" bIns="45720" anchor="t" anchorCtr="0"/>
          <a:p>
            <a:pPr>
              <a:buNone/>
            </a:pPr>
            <a:r>
              <a:rPr lang="en-US" altLang="zh-CN" b="1" dirty="0">
                <a:latin typeface="Times New Roman" panose="02020503050405090304" pitchFamily="18" charset="0"/>
              </a:rPr>
              <a:t>Example 1</a:t>
            </a:r>
            <a:r>
              <a:rPr lang="en-US" altLang="zh-CN" dirty="0">
                <a:latin typeface="Times New Roman" panose="02020503050405090304" pitchFamily="18" charset="0"/>
              </a:rPr>
              <a:t>: Can we tile the standard checkerboard using dominos?</a:t>
            </a:r>
            <a:endParaRPr lang="en-US" altLang="zh-CN" dirty="0">
              <a:latin typeface="Times New Roman" panose="02020503050405090304" pitchFamily="18" charset="0"/>
            </a:endParaRPr>
          </a:p>
          <a:p>
            <a:pPr>
              <a:buNone/>
            </a:pPr>
            <a:r>
              <a:rPr lang="en-US" altLang="zh-CN" b="1" dirty="0">
                <a:latin typeface="Times New Roman" panose="02020503050405090304" pitchFamily="18" charset="0"/>
              </a:rPr>
              <a:t>Solution</a:t>
            </a:r>
            <a:r>
              <a:rPr lang="en-US" altLang="zh-CN" dirty="0">
                <a:latin typeface="Times New Roman" panose="02020503050405090304" pitchFamily="18" charset="0"/>
              </a:rPr>
              <a:t>: Yes! One example provides a constructive existence proof.</a:t>
            </a:r>
            <a:endParaRPr lang="en-US" altLang="zh-CN" dirty="0">
              <a:latin typeface="Times New Roman" panose="02020503050405090304" pitchFamily="18" charset="0"/>
            </a:endParaRPr>
          </a:p>
        </p:txBody>
      </p:sp>
      <p:pic>
        <p:nvPicPr>
          <p:cNvPr id="78852" name="Picture 3" descr="0114.jpg"/>
          <p:cNvPicPr>
            <a:picLocks noChangeAspect="1"/>
          </p:cNvPicPr>
          <p:nvPr/>
        </p:nvPicPr>
        <p:blipFill>
          <a:blip r:embed="rId1"/>
          <a:stretch>
            <a:fillRect/>
          </a:stretch>
        </p:blipFill>
        <p:spPr>
          <a:xfrm>
            <a:off x="990600" y="3810000"/>
            <a:ext cx="2057400" cy="2057400"/>
          </a:xfrm>
          <a:prstGeom prst="rect">
            <a:avLst/>
          </a:prstGeom>
          <a:noFill/>
          <a:ln w="9525">
            <a:noFill/>
          </a:ln>
        </p:spPr>
      </p:pic>
      <p:pic>
        <p:nvPicPr>
          <p:cNvPr id="78853" name="Picture 4" descr="0115.jpg"/>
          <p:cNvPicPr>
            <a:picLocks noChangeAspect="1"/>
          </p:cNvPicPr>
          <p:nvPr/>
        </p:nvPicPr>
        <p:blipFill>
          <a:blip r:embed="rId2"/>
          <a:stretch>
            <a:fillRect/>
          </a:stretch>
        </p:blipFill>
        <p:spPr>
          <a:xfrm>
            <a:off x="3657600" y="3810000"/>
            <a:ext cx="574675" cy="1011238"/>
          </a:xfrm>
          <a:prstGeom prst="rect">
            <a:avLst/>
          </a:prstGeom>
          <a:noFill/>
          <a:ln w="9525">
            <a:noFill/>
          </a:ln>
        </p:spPr>
      </p:pic>
      <p:pic>
        <p:nvPicPr>
          <p:cNvPr id="78854" name="Picture 5" descr="0116.jpg"/>
          <p:cNvPicPr>
            <a:picLocks noChangeAspect="1"/>
          </p:cNvPicPr>
          <p:nvPr/>
        </p:nvPicPr>
        <p:blipFill>
          <a:blip r:embed="rId3"/>
          <a:stretch>
            <a:fillRect/>
          </a:stretch>
        </p:blipFill>
        <p:spPr>
          <a:xfrm>
            <a:off x="5791200" y="3810000"/>
            <a:ext cx="1905000" cy="2011363"/>
          </a:xfrm>
          <a:prstGeom prst="rect">
            <a:avLst/>
          </a:prstGeom>
          <a:noFill/>
          <a:ln w="9525">
            <a:noFill/>
          </a:ln>
        </p:spPr>
      </p:pic>
      <p:sp>
        <p:nvSpPr>
          <p:cNvPr id="78855" name="TextBox 6"/>
          <p:cNvSpPr txBox="1"/>
          <p:nvPr/>
        </p:nvSpPr>
        <p:spPr>
          <a:xfrm>
            <a:off x="609600" y="5867400"/>
            <a:ext cx="32004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2400" b="1" i="1" u="sng" dirty="0">
                <a:latin typeface="Times New Roman" panose="02020503050405090304" pitchFamily="18" charset="0"/>
              </a:rPr>
              <a:t>The Standard Checkerboard</a:t>
            </a:r>
            <a:endParaRPr lang="en-US" altLang="zh-CN" sz="2400" b="1" i="1" u="sng" dirty="0">
              <a:latin typeface="Times New Roman" panose="02020503050405090304" pitchFamily="18" charset="0"/>
            </a:endParaRPr>
          </a:p>
        </p:txBody>
      </p:sp>
      <p:sp>
        <p:nvSpPr>
          <p:cNvPr id="78856" name="TextBox 7"/>
          <p:cNvSpPr txBox="1"/>
          <p:nvPr/>
        </p:nvSpPr>
        <p:spPr>
          <a:xfrm>
            <a:off x="3352800" y="4876800"/>
            <a:ext cx="17526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2400" b="1" i="1" u="sng" dirty="0">
                <a:latin typeface="Times New Roman" panose="02020503050405090304" pitchFamily="18" charset="0"/>
              </a:rPr>
              <a:t>Two Dominoes</a:t>
            </a:r>
            <a:endParaRPr lang="en-US" altLang="zh-CN" sz="2400" b="1" i="1" u="sng" dirty="0">
              <a:latin typeface="Times New Roman" panose="02020503050405090304" pitchFamily="18" charset="0"/>
            </a:endParaRPr>
          </a:p>
        </p:txBody>
      </p:sp>
      <p:sp>
        <p:nvSpPr>
          <p:cNvPr id="78857" name="TextBox 8"/>
          <p:cNvSpPr txBox="1"/>
          <p:nvPr/>
        </p:nvSpPr>
        <p:spPr>
          <a:xfrm>
            <a:off x="5715000" y="5943600"/>
            <a:ext cx="25146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2400" b="1" i="1" u="sng" dirty="0">
                <a:latin typeface="Times New Roman" panose="02020503050405090304" pitchFamily="18" charset="0"/>
              </a:rPr>
              <a:t>One Possible Solution</a:t>
            </a:r>
            <a:endParaRPr lang="en-US" altLang="zh-CN" sz="2400" b="1" i="1" u="sng" dirty="0">
              <a:latin typeface="Times New Roman" panose="0202050305040509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Title 1"/>
          <p:cNvSpPr>
            <a:spLocks noGrp="1"/>
          </p:cNvSpPr>
          <p:nvPr>
            <p:ph type="title"/>
          </p:nvPr>
        </p:nvSpPr>
        <p:spPr/>
        <p:txBody>
          <a:bodyPr vert="horz" wrap="square" lIns="91440" tIns="45720" rIns="91440" bIns="45720" anchor="b" anchorCtr="0"/>
          <a:p>
            <a:r>
              <a:rPr lang="en-US" altLang="zh-CN" dirty="0"/>
              <a:t>Tilings</a:t>
            </a:r>
            <a:endParaRPr lang="en-US" altLang="zh-CN" dirty="0"/>
          </a:p>
        </p:txBody>
      </p:sp>
      <p:sp>
        <p:nvSpPr>
          <p:cNvPr id="79875" name="Content Placeholder 2"/>
          <p:cNvSpPr>
            <a:spLocks noGrp="1"/>
          </p:cNvSpPr>
          <p:nvPr>
            <p:ph idx="1"/>
          </p:nvPr>
        </p:nvSpPr>
        <p:spPr>
          <a:xfrm>
            <a:off x="755650" y="1340485"/>
            <a:ext cx="8114665" cy="4699000"/>
          </a:xfrm>
        </p:spPr>
        <p:txBody>
          <a:bodyPr vert="horz" wrap="square" lIns="91440" tIns="45720" rIns="91440" bIns="45720" anchor="t" anchorCtr="0"/>
          <a:p>
            <a:pPr>
              <a:lnSpc>
                <a:spcPct val="90000"/>
              </a:lnSpc>
              <a:buNone/>
            </a:pPr>
            <a:r>
              <a:rPr lang="en-US" altLang="zh-CN" sz="2700" b="1" dirty="0"/>
              <a:t>   </a:t>
            </a:r>
            <a:r>
              <a:rPr lang="en-US" altLang="zh-CN" sz="2800" b="1" dirty="0">
                <a:latin typeface="Times New Roman" panose="02020503050405090304" pitchFamily="18" charset="0"/>
              </a:rPr>
              <a:t>Example 2</a:t>
            </a:r>
            <a:r>
              <a:rPr lang="en-US" altLang="zh-CN" sz="2800" dirty="0">
                <a:latin typeface="Times New Roman" panose="02020503050405090304" pitchFamily="18" charset="0"/>
              </a:rPr>
              <a:t>: Can we tile a checkerboard obtained by removing one of the four corner squares of a standard checkerboard?</a:t>
            </a:r>
            <a:endParaRPr lang="en-US" altLang="zh-CN" sz="2800" dirty="0">
              <a:latin typeface="Times New Roman" panose="02020503050405090304" pitchFamily="18" charset="0"/>
            </a:endParaRPr>
          </a:p>
          <a:p>
            <a:pPr>
              <a:lnSpc>
                <a:spcPct val="90000"/>
              </a:lnSpc>
              <a:buNone/>
            </a:pPr>
            <a:r>
              <a:rPr lang="en-US" altLang="zh-CN" sz="2800" dirty="0">
                <a:latin typeface="Times New Roman" panose="02020503050405090304" pitchFamily="18" charset="0"/>
              </a:rPr>
              <a:t>    </a:t>
            </a:r>
            <a:r>
              <a:rPr lang="en-US" altLang="zh-CN" sz="2800" b="1" dirty="0">
                <a:latin typeface="Times New Roman" panose="02020503050405090304" pitchFamily="18" charset="0"/>
              </a:rPr>
              <a:t>Solution</a:t>
            </a:r>
            <a:r>
              <a:rPr lang="en-US" altLang="zh-CN" sz="2800" dirty="0">
                <a:latin typeface="Times New Roman" panose="02020503050405090304" pitchFamily="18" charset="0"/>
              </a:rPr>
              <a:t>: </a:t>
            </a:r>
            <a:endParaRPr lang="en-US" altLang="zh-CN" sz="2800" dirty="0">
              <a:latin typeface="Times New Roman" panose="02020503050405090304" pitchFamily="18" charset="0"/>
            </a:endParaRPr>
          </a:p>
          <a:p>
            <a:pPr>
              <a:lnSpc>
                <a:spcPct val="90000"/>
              </a:lnSpc>
            </a:pPr>
            <a:r>
              <a:rPr lang="en-US" altLang="zh-CN" sz="2800" dirty="0">
                <a:latin typeface="Times New Roman" panose="02020503050405090304" pitchFamily="18" charset="0"/>
              </a:rPr>
              <a:t>Our checkerboard has 64 − 1 = 63 squares. </a:t>
            </a:r>
            <a:endParaRPr lang="en-US" altLang="zh-CN" sz="2800" dirty="0">
              <a:latin typeface="Times New Roman" panose="02020503050405090304" pitchFamily="18" charset="0"/>
            </a:endParaRPr>
          </a:p>
          <a:p>
            <a:pPr>
              <a:lnSpc>
                <a:spcPct val="90000"/>
              </a:lnSpc>
            </a:pPr>
            <a:r>
              <a:rPr lang="en-US" altLang="zh-CN" sz="2800" dirty="0">
                <a:latin typeface="Times New Roman" panose="02020503050405090304" pitchFamily="18" charset="0"/>
              </a:rPr>
              <a:t>Since each domino has two squares, a board with a tiling must have an even number of squares.</a:t>
            </a:r>
            <a:endParaRPr lang="en-US" altLang="zh-CN" sz="2800" dirty="0">
              <a:latin typeface="Times New Roman" panose="02020503050405090304" pitchFamily="18" charset="0"/>
            </a:endParaRPr>
          </a:p>
          <a:p>
            <a:pPr>
              <a:lnSpc>
                <a:spcPct val="90000"/>
              </a:lnSpc>
            </a:pPr>
            <a:r>
              <a:rPr lang="en-US" altLang="zh-CN" sz="2800" dirty="0">
                <a:latin typeface="Times New Roman" panose="02020503050405090304" pitchFamily="18" charset="0"/>
              </a:rPr>
              <a:t>The number  63 is not even. </a:t>
            </a:r>
            <a:endParaRPr lang="en-US" altLang="zh-CN" sz="2800" dirty="0">
              <a:latin typeface="Times New Roman" panose="02020503050405090304" pitchFamily="18" charset="0"/>
            </a:endParaRPr>
          </a:p>
          <a:p>
            <a:pPr>
              <a:lnSpc>
                <a:spcPct val="90000"/>
              </a:lnSpc>
            </a:pPr>
            <a:r>
              <a:rPr lang="en-US" altLang="zh-CN" sz="2800" dirty="0">
                <a:latin typeface="Times New Roman" panose="02020503050405090304" pitchFamily="18" charset="0"/>
              </a:rPr>
              <a:t>We have a contradiction.</a:t>
            </a:r>
            <a:endParaRPr lang="en-US" altLang="zh-CN" sz="2800" dirty="0">
              <a:latin typeface="Times New Roman" panose="02020503050405090304" pitchFamily="18" charset="0"/>
            </a:endParaRPr>
          </a:p>
          <a:p>
            <a:pPr>
              <a:lnSpc>
                <a:spcPct val="90000"/>
              </a:lnSpc>
            </a:pPr>
            <a:endParaRPr lang="en-US" altLang="zh-CN" sz="2800" dirty="0">
              <a:latin typeface="Times New Roman" panose="02020503050405090304" pitchFamily="18" charset="0"/>
            </a:endParaRPr>
          </a:p>
        </p:txBody>
      </p:sp>
      <p:sp>
        <p:nvSpPr>
          <p:cNvPr id="8" name="Isosceles Triangle 7"/>
          <p:cNvSpPr/>
          <p:nvPr/>
        </p:nvSpPr>
        <p:spPr>
          <a:xfrm rot="5400000" flipV="1">
            <a:off x="8153400" y="57150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1" i="1" u="sng" strike="noStrike" kern="1200" cap="none" spc="0" normalizeH="0" baseline="0" noProof="1">
              <a:ln>
                <a:noFill/>
              </a:ln>
              <a:solidFill>
                <a:schemeClr val="lt1"/>
              </a:solidFill>
              <a:effectLst/>
              <a:uLnTx/>
              <a:uFillTx/>
              <a:latin typeface="+mn-lt"/>
              <a:ea typeface="+mn-ea"/>
              <a:cs typeface="+mn-c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Title 1"/>
          <p:cNvSpPr>
            <a:spLocks noGrp="1"/>
          </p:cNvSpPr>
          <p:nvPr>
            <p:ph type="title"/>
          </p:nvPr>
        </p:nvSpPr>
        <p:spPr/>
        <p:txBody>
          <a:bodyPr vert="horz" wrap="square" lIns="91440" tIns="45720" rIns="91440" bIns="45720" anchor="b" anchorCtr="0"/>
          <a:p>
            <a:r>
              <a:rPr lang="en-US" altLang="zh-CN" dirty="0"/>
              <a:t>Tilings </a:t>
            </a:r>
            <a:endParaRPr lang="en-US" altLang="zh-CN" dirty="0"/>
          </a:p>
        </p:txBody>
      </p:sp>
      <p:sp>
        <p:nvSpPr>
          <p:cNvPr id="80899" name="Content Placeholder 2"/>
          <p:cNvSpPr>
            <a:spLocks noGrp="1"/>
          </p:cNvSpPr>
          <p:nvPr>
            <p:ph idx="1"/>
          </p:nvPr>
        </p:nvSpPr>
        <p:spPr>
          <a:xfrm>
            <a:off x="251460" y="1393190"/>
            <a:ext cx="8955088" cy="4114800"/>
          </a:xfrm>
        </p:spPr>
        <p:txBody>
          <a:bodyPr vert="horz" wrap="square" lIns="91440" tIns="45720" rIns="91440" bIns="45720" anchor="t" anchorCtr="0"/>
          <a:p>
            <a:pPr>
              <a:buNone/>
            </a:pPr>
            <a:r>
              <a:rPr lang="en-US" altLang="zh-CN" b="1" dirty="0"/>
              <a:t>   </a:t>
            </a:r>
            <a:r>
              <a:rPr lang="en-US" altLang="zh-CN" b="1" dirty="0">
                <a:latin typeface="Times New Roman" panose="02020503050405090304" pitchFamily="18" charset="0"/>
              </a:rPr>
              <a:t>Example 3</a:t>
            </a:r>
            <a:r>
              <a:rPr lang="en-US" altLang="zh-CN" dirty="0">
                <a:latin typeface="Times New Roman" panose="02020503050405090304" pitchFamily="18" charset="0"/>
              </a:rPr>
              <a:t>: Can we tile a board obtained by removing both the upper left and the lower right squares of a standard checkerboard? </a:t>
            </a:r>
            <a:endParaRPr lang="en-US" altLang="zh-CN" dirty="0">
              <a:latin typeface="Times New Roman" panose="02020503050405090304" pitchFamily="18" charset="0"/>
            </a:endParaRPr>
          </a:p>
        </p:txBody>
      </p:sp>
      <p:pic>
        <p:nvPicPr>
          <p:cNvPr id="80900" name="Picture 3" descr="0117.jpg"/>
          <p:cNvPicPr>
            <a:picLocks noChangeAspect="1"/>
          </p:cNvPicPr>
          <p:nvPr/>
        </p:nvPicPr>
        <p:blipFill>
          <a:blip r:embed="rId1"/>
          <a:stretch>
            <a:fillRect/>
          </a:stretch>
        </p:blipFill>
        <p:spPr>
          <a:xfrm>
            <a:off x="1752600" y="3352800"/>
            <a:ext cx="2179638" cy="2211388"/>
          </a:xfrm>
          <a:prstGeom prst="rect">
            <a:avLst/>
          </a:prstGeom>
          <a:noFill/>
          <a:ln w="9525">
            <a:noFill/>
          </a:ln>
        </p:spPr>
      </p:pic>
      <p:pic>
        <p:nvPicPr>
          <p:cNvPr id="80901" name="Picture 4" descr="0115.jpg"/>
          <p:cNvPicPr>
            <a:picLocks noChangeAspect="1"/>
          </p:cNvPicPr>
          <p:nvPr/>
        </p:nvPicPr>
        <p:blipFill>
          <a:blip r:embed="rId2"/>
          <a:stretch>
            <a:fillRect/>
          </a:stretch>
        </p:blipFill>
        <p:spPr>
          <a:xfrm>
            <a:off x="6362700" y="3644900"/>
            <a:ext cx="574675" cy="1012825"/>
          </a:xfrm>
          <a:prstGeom prst="rect">
            <a:avLst/>
          </a:prstGeom>
          <a:noFill/>
          <a:ln w="9525">
            <a:noFill/>
          </a:ln>
        </p:spPr>
      </p:pic>
      <p:sp>
        <p:nvSpPr>
          <p:cNvPr id="80902" name="TextBox 5"/>
          <p:cNvSpPr txBox="1"/>
          <p:nvPr/>
        </p:nvSpPr>
        <p:spPr>
          <a:xfrm>
            <a:off x="1524000" y="5715000"/>
            <a:ext cx="3276600" cy="381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2400" b="1" i="1" u="sng" dirty="0">
                <a:latin typeface="Times New Roman" panose="02020503050405090304" pitchFamily="18" charset="0"/>
              </a:rPr>
              <a:t>Nonstandard Checkerboard</a:t>
            </a:r>
            <a:endParaRPr lang="en-US" altLang="zh-CN" sz="2400" b="1" i="1" u="sng" dirty="0">
              <a:latin typeface="Times New Roman" panose="02020503050405090304" pitchFamily="18" charset="0"/>
            </a:endParaRPr>
          </a:p>
        </p:txBody>
      </p:sp>
      <p:sp>
        <p:nvSpPr>
          <p:cNvPr id="80903" name="TextBox 6"/>
          <p:cNvSpPr txBox="1"/>
          <p:nvPr/>
        </p:nvSpPr>
        <p:spPr>
          <a:xfrm>
            <a:off x="5854700" y="5237163"/>
            <a:ext cx="16002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2400" b="1" i="1" u="sng" dirty="0">
                <a:latin typeface="Times New Roman" panose="02020503050405090304" pitchFamily="18" charset="0"/>
              </a:rPr>
              <a:t>Dominoes</a:t>
            </a:r>
            <a:endParaRPr lang="en-US" altLang="zh-CN" sz="2400" b="1" i="1" u="sng" dirty="0">
              <a:latin typeface="Times New Roman" panose="02020503050405090304" pitchFamily="18" charset="0"/>
            </a:endParaRPr>
          </a:p>
        </p:txBody>
      </p:sp>
      <p:sp>
        <p:nvSpPr>
          <p:cNvPr id="80904" name="TextBox 7"/>
          <p:cNvSpPr txBox="1"/>
          <p:nvPr/>
        </p:nvSpPr>
        <p:spPr>
          <a:xfrm>
            <a:off x="4932363" y="5851525"/>
            <a:ext cx="3276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2400" b="1" i="1" u="sng" dirty="0">
                <a:latin typeface="Times New Roman" panose="02020503050405090304" pitchFamily="18" charset="0"/>
              </a:rPr>
              <a:t>Continued on next slide </a:t>
            </a:r>
            <a:r>
              <a:rPr lang="en-US" altLang="zh-CN" sz="2400" b="1" i="1" u="sng" dirty="0">
                <a:latin typeface="Times New Roman" panose="02020503050405090304" pitchFamily="18" charset="0"/>
                <a:sym typeface="Wingdings" panose="05000000000000000000" pitchFamily="2" charset="2"/>
              </a:rPr>
              <a:t></a:t>
            </a:r>
            <a:endParaRPr lang="en-US" altLang="zh-CN" sz="2400" b="1" i="1" u="sng" dirty="0">
              <a:latin typeface="Times New Roman" panose="0202050305040509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Title 1"/>
          <p:cNvSpPr>
            <a:spLocks noGrp="1"/>
          </p:cNvSpPr>
          <p:nvPr>
            <p:ph type="title"/>
          </p:nvPr>
        </p:nvSpPr>
        <p:spPr/>
        <p:txBody>
          <a:bodyPr vert="horz" wrap="square" lIns="91440" tIns="45720" rIns="91440" bIns="45720" anchor="b" anchorCtr="0"/>
          <a:p>
            <a:r>
              <a:rPr lang="en-US" altLang="zh-CN" dirty="0"/>
              <a:t>Tilings</a:t>
            </a:r>
            <a:endParaRPr lang="en-US" altLang="zh-CN" dirty="0"/>
          </a:p>
        </p:txBody>
      </p:sp>
      <p:sp>
        <p:nvSpPr>
          <p:cNvPr id="3" name="Content Placeholder 2"/>
          <p:cNvSpPr>
            <a:spLocks noGrp="1"/>
          </p:cNvSpPr>
          <p:nvPr>
            <p:ph idx="1"/>
          </p:nvPr>
        </p:nvSpPr>
        <p:spPr>
          <a:xfrm>
            <a:off x="755333" y="1340168"/>
            <a:ext cx="8054975" cy="4114800"/>
          </a:xfrm>
        </p:spPr>
        <p:txBody>
          <a:bodyPr vert="horz" wrap="square" lIns="91440" tIns="45720" rIns="91440" bIns="45720" numCol="1" anchor="t" anchorCtr="0" compatLnSpc="1">
            <a:normAutofit fontScale="85000" lnSpcReduction="20000"/>
          </a:bodyPr>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0" i="0" u="none" strike="noStrike" kern="0" cap="none" spc="0" normalizeH="0" baseline="0" noProof="1">
                <a:ln>
                  <a:noFill/>
                </a:ln>
                <a:solidFill>
                  <a:schemeClr val="tx1"/>
                </a:solidFill>
                <a:effectLst/>
                <a:uLnTx/>
                <a:uFillTx/>
                <a:latin typeface="+mn-lt"/>
                <a:ea typeface="+mn-ea"/>
                <a:cs typeface="+mn-cs"/>
              </a:rPr>
              <a:t>  </a:t>
            </a:r>
            <a:r>
              <a:rPr kumimoji="1" lang="en-US" sz="3300" b="1"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Solution</a:t>
            </a:r>
            <a:r>
              <a:rPr kumimoji="1" lang="en-US" sz="33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endParaRPr kumimoji="1" lang="en-US" sz="33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33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There are 62 squares in this board. </a:t>
            </a:r>
            <a:endParaRPr kumimoji="1" lang="en-US" sz="33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33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To tile it we need </a:t>
            </a:r>
            <a:r>
              <a:rPr kumimoji="1" lang="en-US" sz="3300" b="0" i="0" u="none" strike="noStrike" kern="0" cap="none" spc="0" normalizeH="0" baseline="0" noProof="1">
                <a:ln>
                  <a:noFill/>
                </a:ln>
                <a:solidFill>
                  <a:schemeClr val="tx1"/>
                </a:solidFill>
                <a:effectLst/>
                <a:uLnTx/>
                <a:uFillTx/>
                <a:latin typeface="Times New Roman" panose="02020503050405090304" pitchFamily="18" charset="0"/>
                <a:ea typeface="Cambria Math" panose="02040503050406030204" pitchFamily="18" charset="0"/>
                <a:cs typeface="Times New Roman" panose="02020503050405090304" pitchFamily="18" charset="0"/>
              </a:rPr>
              <a:t>31 </a:t>
            </a:r>
            <a:r>
              <a:rPr kumimoji="1" lang="en-US" sz="33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dominos. </a:t>
            </a:r>
            <a:endParaRPr kumimoji="1" lang="en-US" sz="33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3300" b="0" i="1"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Key fact</a:t>
            </a:r>
            <a:r>
              <a:rPr kumimoji="1" lang="en-US" sz="33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Each domino covers one black and one white square. </a:t>
            </a:r>
            <a:endParaRPr kumimoji="1" lang="en-US" sz="33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33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Therefore the tiling covers 31 black squares and 31 white squares.</a:t>
            </a:r>
            <a:endParaRPr kumimoji="1" lang="en-US" sz="33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33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Our board has either 30 black squares and 32 white squares or 32 black squares and 30 white squares.  </a:t>
            </a:r>
            <a:endParaRPr kumimoji="1" lang="en-US" sz="33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33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Contradiction!</a:t>
            </a:r>
            <a:endParaRPr kumimoji="1" lang="en-US" sz="33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
        <p:nvSpPr>
          <p:cNvPr id="4" name="Isosceles Triangle 3"/>
          <p:cNvSpPr/>
          <p:nvPr/>
        </p:nvSpPr>
        <p:spPr>
          <a:xfrm rot="5400000" flipV="1">
            <a:off x="8458200" y="58674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1" i="1" u="sng" strike="noStrike" kern="1200" cap="none" spc="0" normalizeH="0" baseline="0" noProof="1">
              <a:ln>
                <a:noFill/>
              </a:ln>
              <a:solidFill>
                <a:schemeClr val="lt1"/>
              </a:solidFill>
              <a:effectLst/>
              <a:uLnTx/>
              <a:uFillTx/>
              <a:latin typeface="+mn-lt"/>
              <a:ea typeface="+mn-ea"/>
              <a:cs typeface="+mn-c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8294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8294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82949" name="Rectangle 2"/>
          <p:cNvSpPr>
            <a:spLocks noGrp="1"/>
          </p:cNvSpPr>
          <p:nvPr>
            <p:ph type="title"/>
          </p:nvPr>
        </p:nvSpPr>
        <p:spPr>
          <a:xfrm>
            <a:off x="1038225" y="258445"/>
            <a:ext cx="8105775" cy="928370"/>
          </a:xfrm>
        </p:spPr>
        <p:txBody>
          <a:bodyPr vert="horz" wrap="square" lIns="91440" tIns="45720" rIns="91440" bIns="45720" anchor="b" anchorCtr="0"/>
          <a:p>
            <a:pPr eaLnBrk="1" hangingPunct="1"/>
            <a:r>
              <a:rPr lang="en-US" altLang="zh-CN" sz="3600" dirty="0"/>
              <a:t>Even Great Mathematicians Can Propose False Conjectures!</a:t>
            </a:r>
            <a:endParaRPr lang="en-US" altLang="zh-CN" sz="3600" dirty="0"/>
          </a:p>
        </p:txBody>
      </p:sp>
      <p:sp>
        <p:nvSpPr>
          <p:cNvPr id="82950" name="Rectangle 3"/>
          <p:cNvSpPr>
            <a:spLocks noGrp="1"/>
          </p:cNvSpPr>
          <p:nvPr>
            <p:ph idx="1"/>
          </p:nvPr>
        </p:nvSpPr>
        <p:spPr>
          <a:xfrm>
            <a:off x="1038225" y="1484630"/>
            <a:ext cx="7772400" cy="4114800"/>
          </a:xfrm>
        </p:spPr>
        <p:txBody>
          <a:bodyPr vert="horz" wrap="square" lIns="91440" tIns="45720" rIns="91440" bIns="45720" anchor="t" anchorCtr="0"/>
          <a:p>
            <a:pPr eaLnBrk="1" hangingPunct="1"/>
            <a:r>
              <a:rPr lang="en-US" altLang="zh-CN" sz="2800" dirty="0">
                <a:latin typeface="Times New Roman" panose="02020503050405090304" pitchFamily="18" charset="0"/>
              </a:rPr>
              <a:t>Euler conjectured that for </a:t>
            </a:r>
            <a:r>
              <a:rPr lang="en-US" altLang="zh-CN" sz="2800" i="1" dirty="0">
                <a:solidFill>
                  <a:srgbClr val="FF0000"/>
                </a:solidFill>
                <a:latin typeface="Times New Roman" panose="02020503050405090304" pitchFamily="18" charset="0"/>
              </a:rPr>
              <a:t>n</a:t>
            </a:r>
            <a:r>
              <a:rPr lang="en-US" altLang="zh-CN" sz="2800" dirty="0">
                <a:solidFill>
                  <a:srgbClr val="FF0000"/>
                </a:solidFill>
                <a:latin typeface="Times New Roman" panose="02020503050405090304" pitchFamily="18" charset="0"/>
              </a:rPr>
              <a:t>&gt;2</a:t>
            </a:r>
            <a:r>
              <a:rPr lang="en-US" altLang="zh-CN" sz="2800" dirty="0">
                <a:latin typeface="Times New Roman" panose="02020503050405090304" pitchFamily="18" charset="0"/>
              </a:rPr>
              <a:t>, the sum of </a:t>
            </a:r>
            <a:r>
              <a:rPr lang="en-US" altLang="zh-CN" sz="2800" i="1" dirty="0">
                <a:solidFill>
                  <a:srgbClr val="FF0000"/>
                </a:solidFill>
                <a:latin typeface="Times New Roman" panose="02020503050405090304" pitchFamily="18" charset="0"/>
              </a:rPr>
              <a:t>n</a:t>
            </a:r>
            <a:r>
              <a:rPr lang="en-US" altLang="zh-CN" sz="2800" dirty="0">
                <a:solidFill>
                  <a:srgbClr val="FF0000"/>
                </a:solidFill>
                <a:latin typeface="Times New Roman" panose="02020503050405090304" pitchFamily="18" charset="0"/>
              </a:rPr>
              <a:t>−1</a:t>
            </a:r>
            <a:r>
              <a:rPr lang="en-US" altLang="zh-CN" sz="2800" dirty="0">
                <a:latin typeface="Times New Roman" panose="02020503050405090304" pitchFamily="18" charset="0"/>
              </a:rPr>
              <a:t> </a:t>
            </a:r>
            <a:r>
              <a:rPr lang="en-US" altLang="zh-CN" sz="2800" i="1" dirty="0">
                <a:latin typeface="Times New Roman" panose="02020503050405090304" pitchFamily="18" charset="0"/>
              </a:rPr>
              <a:t>n</a:t>
            </a:r>
            <a:r>
              <a:rPr lang="en-US" altLang="zh-CN" sz="2800" baseline="30000" dirty="0">
                <a:latin typeface="Times New Roman" panose="02020503050405090304" pitchFamily="18" charset="0"/>
              </a:rPr>
              <a:t>th</a:t>
            </a:r>
            <a:r>
              <a:rPr lang="en-US" altLang="zh-CN" sz="2800" dirty="0">
                <a:latin typeface="Times New Roman" panose="02020503050405090304" pitchFamily="18" charset="0"/>
              </a:rPr>
              <a:t> powers of positive integers is not an </a:t>
            </a:r>
            <a:r>
              <a:rPr lang="en-US" altLang="zh-CN" sz="2800" i="1" dirty="0">
                <a:latin typeface="Times New Roman" panose="02020503050405090304" pitchFamily="18" charset="0"/>
              </a:rPr>
              <a:t>n</a:t>
            </a:r>
            <a:r>
              <a:rPr lang="en-US" altLang="zh-CN" sz="2800" dirty="0">
                <a:latin typeface="Times New Roman" panose="02020503050405090304" pitchFamily="18" charset="0"/>
              </a:rPr>
              <a:t>th power.</a:t>
            </a:r>
            <a:endParaRPr lang="en-US" altLang="zh-CN" sz="2800" dirty="0">
              <a:latin typeface="Times New Roman" panose="02020503050405090304" pitchFamily="18" charset="0"/>
            </a:endParaRPr>
          </a:p>
          <a:p>
            <a:pPr lvl="1" eaLnBrk="1" hangingPunct="1"/>
            <a:r>
              <a:rPr lang="en-US" altLang="zh-CN" sz="2400" dirty="0">
                <a:latin typeface="Times New Roman" panose="02020503050405090304" pitchFamily="18" charset="0"/>
              </a:rPr>
              <a:t>Remained true for all cases checked for 200 years, but no proof was found.</a:t>
            </a:r>
            <a:endParaRPr lang="en-US" altLang="zh-CN" sz="2400" dirty="0">
              <a:latin typeface="Times New Roman" panose="02020503050405090304" pitchFamily="18" charset="0"/>
            </a:endParaRPr>
          </a:p>
          <a:p>
            <a:pPr eaLnBrk="1" hangingPunct="1"/>
            <a:r>
              <a:rPr lang="en-US" altLang="zh-CN" sz="2800" dirty="0">
                <a:latin typeface="Times New Roman" panose="02020503050405090304" pitchFamily="18" charset="0"/>
              </a:rPr>
              <a:t>Finally, in 1966, someone noticed that</a:t>
            </a:r>
            <a:br>
              <a:rPr lang="en-US" altLang="zh-CN" sz="2800" dirty="0">
                <a:latin typeface="Times New Roman" panose="02020503050405090304" pitchFamily="18" charset="0"/>
              </a:rPr>
            </a:br>
            <a:r>
              <a:rPr lang="en-US" altLang="zh-CN" sz="2800" dirty="0">
                <a:latin typeface="Times New Roman" panose="02020503050405090304" pitchFamily="18" charset="0"/>
              </a:rPr>
              <a:t>	</a:t>
            </a:r>
            <a:r>
              <a:rPr lang="en-US" altLang="zh-CN" sz="2800" dirty="0">
                <a:solidFill>
                  <a:srgbClr val="FF0000"/>
                </a:solidFill>
                <a:latin typeface="Times New Roman" panose="02020503050405090304" pitchFamily="18" charset="0"/>
              </a:rPr>
              <a:t>27</a:t>
            </a:r>
            <a:r>
              <a:rPr lang="en-US" altLang="zh-CN" sz="2800" baseline="30000" dirty="0">
                <a:solidFill>
                  <a:srgbClr val="FF0000"/>
                </a:solidFill>
                <a:latin typeface="Times New Roman" panose="02020503050405090304" pitchFamily="18" charset="0"/>
              </a:rPr>
              <a:t>5</a:t>
            </a:r>
            <a:r>
              <a:rPr lang="en-US" altLang="zh-CN" sz="2800" dirty="0">
                <a:solidFill>
                  <a:srgbClr val="FF0000"/>
                </a:solidFill>
                <a:latin typeface="Times New Roman" panose="02020503050405090304" pitchFamily="18" charset="0"/>
              </a:rPr>
              <a:t> + 84</a:t>
            </a:r>
            <a:r>
              <a:rPr lang="en-US" altLang="zh-CN" sz="2800" baseline="30000" dirty="0">
                <a:solidFill>
                  <a:srgbClr val="FF0000"/>
                </a:solidFill>
                <a:latin typeface="Times New Roman" panose="02020503050405090304" pitchFamily="18" charset="0"/>
              </a:rPr>
              <a:t>5</a:t>
            </a:r>
            <a:r>
              <a:rPr lang="en-US" altLang="zh-CN" sz="2800" dirty="0">
                <a:solidFill>
                  <a:srgbClr val="FF0000"/>
                </a:solidFill>
                <a:latin typeface="Times New Roman" panose="02020503050405090304" pitchFamily="18" charset="0"/>
              </a:rPr>
              <a:t> + 110</a:t>
            </a:r>
            <a:r>
              <a:rPr lang="en-US" altLang="zh-CN" sz="2800" baseline="30000" dirty="0">
                <a:solidFill>
                  <a:srgbClr val="FF0000"/>
                </a:solidFill>
                <a:latin typeface="Times New Roman" panose="02020503050405090304" pitchFamily="18" charset="0"/>
              </a:rPr>
              <a:t>5</a:t>
            </a:r>
            <a:r>
              <a:rPr lang="en-US" altLang="zh-CN" sz="2800" dirty="0">
                <a:solidFill>
                  <a:srgbClr val="FF0000"/>
                </a:solidFill>
                <a:latin typeface="Times New Roman" panose="02020503050405090304" pitchFamily="18" charset="0"/>
              </a:rPr>
              <a:t> + 133</a:t>
            </a:r>
            <a:r>
              <a:rPr lang="en-US" altLang="zh-CN" sz="2800" baseline="30000" dirty="0">
                <a:solidFill>
                  <a:srgbClr val="FF0000"/>
                </a:solidFill>
                <a:latin typeface="Times New Roman" panose="02020503050405090304" pitchFamily="18" charset="0"/>
              </a:rPr>
              <a:t>5</a:t>
            </a:r>
            <a:r>
              <a:rPr lang="en-US" altLang="zh-CN" sz="2800" dirty="0">
                <a:solidFill>
                  <a:srgbClr val="FF0000"/>
                </a:solidFill>
                <a:latin typeface="Times New Roman" panose="02020503050405090304" pitchFamily="18" charset="0"/>
              </a:rPr>
              <a:t> = 144</a:t>
            </a:r>
            <a:r>
              <a:rPr lang="en-US" altLang="zh-CN" sz="2800" baseline="30000" dirty="0">
                <a:solidFill>
                  <a:srgbClr val="FF0000"/>
                </a:solidFill>
                <a:latin typeface="Times New Roman" panose="02020503050405090304" pitchFamily="18" charset="0"/>
              </a:rPr>
              <a:t>5</a:t>
            </a:r>
            <a:r>
              <a:rPr lang="en-US" altLang="zh-CN" sz="2800" dirty="0">
                <a:latin typeface="Times New Roman" panose="02020503050405090304" pitchFamily="18" charset="0"/>
              </a:rPr>
              <a:t>.</a:t>
            </a:r>
            <a:endParaRPr lang="en-US" altLang="zh-CN" sz="2800" dirty="0">
              <a:latin typeface="Times New Roman" panose="02020503050405090304" pitchFamily="18" charset="0"/>
            </a:endParaRPr>
          </a:p>
          <a:p>
            <a:pPr lvl="1" eaLnBrk="1" hangingPunct="1"/>
            <a:r>
              <a:rPr lang="en-US" altLang="zh-CN" sz="2400" dirty="0">
                <a:latin typeface="Times New Roman" panose="02020503050405090304" pitchFamily="18" charset="0"/>
              </a:rPr>
              <a:t>Larger counter-examples have also been found for </a:t>
            </a:r>
            <a:r>
              <a:rPr lang="en-US" altLang="zh-CN" sz="2400" i="1" dirty="0">
                <a:latin typeface="Times New Roman" panose="02020503050405090304" pitchFamily="18" charset="0"/>
              </a:rPr>
              <a:t>n</a:t>
            </a:r>
            <a:r>
              <a:rPr lang="en-US" altLang="zh-CN" sz="2400" dirty="0">
                <a:latin typeface="Times New Roman" panose="02020503050405090304" pitchFamily="18" charset="0"/>
              </a:rPr>
              <a:t>=4, but none for </a:t>
            </a:r>
            <a:r>
              <a:rPr lang="en-US" altLang="zh-CN" sz="2400" i="1" dirty="0">
                <a:latin typeface="Times New Roman" panose="02020503050405090304" pitchFamily="18" charset="0"/>
              </a:rPr>
              <a:t>n</a:t>
            </a:r>
            <a:r>
              <a:rPr lang="en-US" altLang="zh-CN" sz="2400" dirty="0">
                <a:latin typeface="Times New Roman" panose="02020503050405090304" pitchFamily="18" charset="0"/>
              </a:rPr>
              <a:t>&gt;5 yet.</a:t>
            </a:r>
            <a:endParaRPr lang="en-US" altLang="zh-CN" sz="2400" dirty="0">
              <a:latin typeface="Times New Roman" panose="02020503050405090304"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8397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8397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83973" name="Rectangle 2"/>
          <p:cNvSpPr>
            <a:spLocks noGrp="1"/>
          </p:cNvSpPr>
          <p:nvPr>
            <p:ph type="title"/>
          </p:nvPr>
        </p:nvSpPr>
        <p:spPr/>
        <p:txBody>
          <a:bodyPr vert="horz" wrap="square" lIns="91440" tIns="45720" rIns="91440" bIns="45720" anchor="b" anchorCtr="0"/>
          <a:p>
            <a:pPr eaLnBrk="1" hangingPunct="1"/>
            <a:r>
              <a:rPr lang="en-US" altLang="zh-CN" dirty="0"/>
              <a:t>Fermat</a:t>
            </a:r>
            <a:r>
              <a:rPr lang="en-US" altLang="zh-CN" dirty="0">
                <a:latin typeface="Times New Roman" panose="02020503050405090304" pitchFamily="18" charset="0"/>
              </a:rPr>
              <a:t>’</a:t>
            </a:r>
            <a:r>
              <a:rPr lang="en-US" altLang="zh-CN" dirty="0"/>
              <a:t>s </a:t>
            </a:r>
            <a:r>
              <a:rPr lang="en-US" altLang="zh-CN" dirty="0">
                <a:latin typeface="Times New Roman" panose="02020503050405090304" pitchFamily="18" charset="0"/>
              </a:rPr>
              <a:t>“</a:t>
            </a:r>
            <a:r>
              <a:rPr lang="en-US" altLang="zh-CN" dirty="0"/>
              <a:t>Last Theorem</a:t>
            </a:r>
            <a:r>
              <a:rPr lang="en-US" altLang="zh-CN" dirty="0">
                <a:latin typeface="Times New Roman" panose="02020503050405090304" pitchFamily="18" charset="0"/>
              </a:rPr>
              <a:t>”</a:t>
            </a:r>
            <a:endParaRPr lang="en-US" altLang="zh-CN" dirty="0"/>
          </a:p>
        </p:txBody>
      </p:sp>
      <p:sp>
        <p:nvSpPr>
          <p:cNvPr id="83974" name="Rectangle 3"/>
          <p:cNvSpPr>
            <a:spLocks noGrp="1"/>
          </p:cNvSpPr>
          <p:nvPr>
            <p:ph idx="1"/>
          </p:nvPr>
        </p:nvSpPr>
        <p:spPr>
          <a:xfrm>
            <a:off x="521018" y="1651000"/>
            <a:ext cx="8534400" cy="4724400"/>
          </a:xfrm>
        </p:spPr>
        <p:txBody>
          <a:bodyPr vert="horz" wrap="square" lIns="91440" tIns="45720" rIns="91440" bIns="45720" anchor="t" anchorCtr="0"/>
          <a:p>
            <a:pPr eaLnBrk="1" hangingPunct="1">
              <a:lnSpc>
                <a:spcPct val="90000"/>
              </a:lnSpc>
            </a:pPr>
            <a:r>
              <a:rPr lang="en-US" altLang="zh-CN" sz="2800" b="1" dirty="0">
                <a:latin typeface="Times New Roman" panose="02020503050405090304" pitchFamily="18" charset="0"/>
              </a:rPr>
              <a:t>Theorem:</a:t>
            </a:r>
            <a:r>
              <a:rPr lang="en-US" altLang="zh-CN" sz="2800" dirty="0">
                <a:latin typeface="Times New Roman" panose="02020503050405090304" pitchFamily="18" charset="0"/>
              </a:rPr>
              <a:t> </a:t>
            </a:r>
            <a:r>
              <a:rPr lang="en-US" altLang="zh-CN" sz="2800" i="1" dirty="0">
                <a:solidFill>
                  <a:srgbClr val="FF0000"/>
                </a:solidFill>
                <a:latin typeface="Times New Roman" panose="02020503050405090304" pitchFamily="18" charset="0"/>
              </a:rPr>
              <a:t>x</a:t>
            </a:r>
            <a:r>
              <a:rPr lang="en-US" altLang="zh-CN" sz="2800" i="1" baseline="30000" dirty="0">
                <a:solidFill>
                  <a:srgbClr val="FF0000"/>
                </a:solidFill>
                <a:latin typeface="Times New Roman" panose="02020503050405090304" pitchFamily="18" charset="0"/>
              </a:rPr>
              <a:t>n</a:t>
            </a:r>
            <a:r>
              <a:rPr lang="en-US" altLang="zh-CN" sz="2800" dirty="0">
                <a:solidFill>
                  <a:srgbClr val="FF0000"/>
                </a:solidFill>
                <a:latin typeface="Times New Roman" panose="02020503050405090304" pitchFamily="18" charset="0"/>
              </a:rPr>
              <a:t>+</a:t>
            </a:r>
            <a:r>
              <a:rPr lang="en-US" altLang="zh-CN" sz="2800" i="1" dirty="0">
                <a:solidFill>
                  <a:srgbClr val="FF0000"/>
                </a:solidFill>
                <a:latin typeface="Times New Roman" panose="02020503050405090304" pitchFamily="18" charset="0"/>
              </a:rPr>
              <a:t>y</a:t>
            </a:r>
            <a:r>
              <a:rPr lang="en-US" altLang="zh-CN" sz="2800" i="1" baseline="30000" dirty="0">
                <a:solidFill>
                  <a:srgbClr val="FF0000"/>
                </a:solidFill>
                <a:latin typeface="Times New Roman" panose="02020503050405090304" pitchFamily="18" charset="0"/>
              </a:rPr>
              <a:t>n</a:t>
            </a:r>
            <a:r>
              <a:rPr lang="en-US" altLang="zh-CN" sz="2800" dirty="0">
                <a:solidFill>
                  <a:srgbClr val="FF0000"/>
                </a:solidFill>
                <a:latin typeface="Times New Roman" panose="02020503050405090304" pitchFamily="18" charset="0"/>
              </a:rPr>
              <a:t>=</a:t>
            </a:r>
            <a:r>
              <a:rPr lang="en-US" altLang="zh-CN" sz="2800" i="1" dirty="0">
                <a:solidFill>
                  <a:srgbClr val="FF0000"/>
                </a:solidFill>
                <a:latin typeface="Times New Roman" panose="02020503050405090304" pitchFamily="18" charset="0"/>
              </a:rPr>
              <a:t>z</a:t>
            </a:r>
            <a:r>
              <a:rPr lang="en-US" altLang="zh-CN" sz="2800" i="1" baseline="30000" dirty="0">
                <a:solidFill>
                  <a:srgbClr val="FF0000"/>
                </a:solidFill>
                <a:latin typeface="Times New Roman" panose="02020503050405090304" pitchFamily="18" charset="0"/>
              </a:rPr>
              <a:t>n</a:t>
            </a:r>
            <a:r>
              <a:rPr lang="en-US" altLang="zh-CN" sz="2800" dirty="0">
                <a:latin typeface="Times New Roman" panose="02020503050405090304" pitchFamily="18" charset="0"/>
              </a:rPr>
              <a:t> has no solutions in integers </a:t>
            </a:r>
            <a:br>
              <a:rPr lang="en-US" altLang="zh-CN" sz="2800" dirty="0">
                <a:latin typeface="Times New Roman" panose="02020503050405090304" pitchFamily="18" charset="0"/>
              </a:rPr>
            </a:br>
            <a:r>
              <a:rPr lang="en-US" altLang="zh-CN" sz="2800" i="1" dirty="0">
                <a:solidFill>
                  <a:srgbClr val="FF0000"/>
                </a:solidFill>
                <a:latin typeface="Times New Roman" panose="02020503050405090304" pitchFamily="18" charset="0"/>
              </a:rPr>
              <a:t>xyz</a:t>
            </a:r>
            <a:r>
              <a:rPr lang="en-US" altLang="zh-CN" sz="2800" dirty="0">
                <a:solidFill>
                  <a:srgbClr val="FF0000"/>
                </a:solidFill>
                <a:latin typeface="Times New Roman" panose="02020503050405090304" pitchFamily="18" charset="0"/>
              </a:rPr>
              <a:t> ≠ 0</a:t>
            </a:r>
            <a:r>
              <a:rPr lang="en-US" altLang="zh-CN" sz="2800" dirty="0">
                <a:latin typeface="Times New Roman" panose="02020503050405090304" pitchFamily="18" charset="0"/>
              </a:rPr>
              <a:t> </a:t>
            </a:r>
            <a:r>
              <a:rPr lang="en-US" altLang="zh-CN" sz="2400" dirty="0">
                <a:latin typeface="Times New Roman" panose="02020503050405090304" pitchFamily="18" charset="0"/>
              </a:rPr>
              <a:t>with integer </a:t>
            </a:r>
            <a:r>
              <a:rPr lang="en-US" altLang="zh-CN" sz="2800" i="1" dirty="0">
                <a:solidFill>
                  <a:srgbClr val="FF0000"/>
                </a:solidFill>
                <a:latin typeface="Times New Roman" panose="02020503050405090304" pitchFamily="18" charset="0"/>
              </a:rPr>
              <a:t>n</a:t>
            </a:r>
            <a:r>
              <a:rPr lang="en-US" altLang="zh-CN" sz="2800" dirty="0">
                <a:solidFill>
                  <a:srgbClr val="FF0000"/>
                </a:solidFill>
                <a:latin typeface="Times New Roman" panose="02020503050405090304" pitchFamily="18" charset="0"/>
              </a:rPr>
              <a:t>&gt;2</a:t>
            </a:r>
            <a:r>
              <a:rPr lang="en-US" altLang="zh-CN" sz="2800" dirty="0">
                <a:latin typeface="Times New Roman" panose="02020503050405090304" pitchFamily="18" charset="0"/>
              </a:rPr>
              <a:t>.</a:t>
            </a:r>
            <a:endParaRPr lang="en-US" altLang="zh-CN" sz="28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In the 1600s, Fermat famously claimed in a marginal note that he had a “wondrous proof” of the theorem.</a:t>
            </a:r>
            <a:endParaRPr lang="en-US" altLang="zh-CN" sz="2400" dirty="0">
              <a:latin typeface="Times New Roman" panose="02020503050405090304" pitchFamily="18" charset="0"/>
            </a:endParaRPr>
          </a:p>
          <a:p>
            <a:pPr lvl="2" eaLnBrk="1" hangingPunct="1">
              <a:lnSpc>
                <a:spcPct val="90000"/>
              </a:lnSpc>
            </a:pPr>
            <a:r>
              <a:rPr lang="en-US" altLang="zh-CN" sz="2000" dirty="0">
                <a:latin typeface="Times New Roman" panose="02020503050405090304" pitchFamily="18" charset="0"/>
              </a:rPr>
              <a:t>But unfortunately, if he had one, he never published it!</a:t>
            </a:r>
            <a:endParaRPr lang="en-US" altLang="zh-CN" sz="20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The theorem remained a publicly unproven conjecture for the next ~400 years!</a:t>
            </a:r>
            <a:endParaRPr lang="en-US" altLang="zh-CN" sz="24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Finally, a proof that requires hundreds of pages of advanced mathematics was found by Wiles at Princeton in 1990.</a:t>
            </a:r>
            <a:endParaRPr lang="en-US" altLang="zh-CN" sz="2400" dirty="0">
              <a:latin typeface="Times New Roman" panose="02020503050405090304" pitchFamily="18" charset="0"/>
            </a:endParaRPr>
          </a:p>
          <a:p>
            <a:pPr lvl="2" eaLnBrk="1" hangingPunct="1">
              <a:lnSpc>
                <a:spcPct val="90000"/>
              </a:lnSpc>
            </a:pPr>
            <a:r>
              <a:rPr lang="en-US" altLang="zh-CN" sz="2000" dirty="0">
                <a:latin typeface="Times New Roman" panose="02020503050405090304" pitchFamily="18" charset="0"/>
              </a:rPr>
              <a:t>It took him 10 years of work to find it!</a:t>
            </a:r>
            <a:endParaRPr lang="en-US" altLang="zh-CN" sz="2000" dirty="0">
              <a:latin typeface="Times New Roman" panose="02020503050405090304" pitchFamily="18" charset="0"/>
            </a:endParaRPr>
          </a:p>
          <a:p>
            <a:pPr eaLnBrk="1" hangingPunct="1">
              <a:lnSpc>
                <a:spcPct val="90000"/>
              </a:lnSpc>
            </a:pPr>
            <a:r>
              <a:rPr lang="en-US" altLang="zh-CN" sz="2800" b="1" dirty="0">
                <a:latin typeface="Times New Roman" panose="02020503050405090304" pitchFamily="18" charset="0"/>
              </a:rPr>
              <a:t>Challenge:</a:t>
            </a:r>
            <a:r>
              <a:rPr lang="en-US" altLang="zh-CN" sz="2800" dirty="0">
                <a:latin typeface="Times New Roman" panose="02020503050405090304" pitchFamily="18" charset="0"/>
              </a:rPr>
              <a:t> Find a </a:t>
            </a:r>
            <a:r>
              <a:rPr lang="en-US" altLang="zh-CN" sz="2800" i="1" dirty="0">
                <a:latin typeface="Times New Roman" panose="02020503050405090304" pitchFamily="18" charset="0"/>
              </a:rPr>
              <a:t>short, simple</a:t>
            </a:r>
            <a:r>
              <a:rPr lang="en-US" altLang="zh-CN" sz="2800" dirty="0">
                <a:latin typeface="Times New Roman" panose="02020503050405090304" pitchFamily="18" charset="0"/>
              </a:rPr>
              <a:t> proof of Fermat’s last theorem, and you will become instantly famous!</a:t>
            </a:r>
            <a:endParaRPr lang="en-US" altLang="zh-CN" sz="2800" dirty="0">
              <a:latin typeface="Times New Roman" panose="02020503050405090304" pitchFamily="18" charset="0"/>
            </a:endParaRPr>
          </a:p>
        </p:txBody>
      </p:sp>
      <p:sp>
        <p:nvSpPr>
          <p:cNvPr id="83975" name="Text Box 4"/>
          <p:cNvSpPr txBox="1"/>
          <p:nvPr/>
        </p:nvSpPr>
        <p:spPr>
          <a:xfrm>
            <a:off x="7707630" y="1196975"/>
            <a:ext cx="1347788" cy="454025"/>
          </a:xfrm>
          <a:prstGeom prst="rect">
            <a:avLst/>
          </a:prstGeom>
          <a:solidFill>
            <a:srgbClr val="FFFFCC"/>
          </a:solidFill>
          <a:ln w="57150" cap="flat" cmpd="sng">
            <a:solidFill>
              <a:srgbClr val="006600"/>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2000" dirty="0">
                <a:latin typeface="Times New Roman" panose="02020503050405090304" pitchFamily="18" charset="0"/>
              </a:rPr>
              <a:t>Theorem 1</a:t>
            </a:r>
            <a:endParaRPr lang="en-US" altLang="zh-CN" sz="2000" dirty="0">
              <a:latin typeface="Times New Roman" panose="0202050305040509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8499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8499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84997" name="Rectangle 2"/>
          <p:cNvSpPr>
            <a:spLocks noGrp="1"/>
          </p:cNvSpPr>
          <p:nvPr>
            <p:ph type="title"/>
          </p:nvPr>
        </p:nvSpPr>
        <p:spPr/>
        <p:txBody>
          <a:bodyPr vert="horz" wrap="square" lIns="91440" tIns="45720" rIns="91440" bIns="45720" anchor="b" anchorCtr="0"/>
          <a:p>
            <a:pPr eaLnBrk="1" hangingPunct="1"/>
            <a:r>
              <a:rPr lang="en-US" altLang="zh-CN" dirty="0"/>
              <a:t>Some Open Conjectures</a:t>
            </a:r>
            <a:endParaRPr lang="en-US" altLang="zh-CN" dirty="0"/>
          </a:p>
        </p:txBody>
      </p:sp>
      <p:sp>
        <p:nvSpPr>
          <p:cNvPr id="84998" name="Rectangle 3"/>
          <p:cNvSpPr>
            <a:spLocks noGrp="1"/>
          </p:cNvSpPr>
          <p:nvPr>
            <p:ph idx="1"/>
          </p:nvPr>
        </p:nvSpPr>
        <p:spPr>
          <a:xfrm>
            <a:off x="714375" y="1628458"/>
            <a:ext cx="7961313" cy="4114800"/>
          </a:xfrm>
        </p:spPr>
        <p:txBody>
          <a:bodyPr vert="horz" wrap="square" lIns="91440" tIns="45720" rIns="91440" bIns="45720" anchor="t" anchorCtr="0"/>
          <a:p>
            <a:pPr eaLnBrk="1" hangingPunct="1"/>
            <a:r>
              <a:rPr lang="en-US" altLang="zh-CN" sz="2400" b="1" dirty="0">
                <a:latin typeface="Times New Roman" panose="02020503050405090304" pitchFamily="18" charset="0"/>
                <a:sym typeface="Symbol" panose="05050102010706020507" pitchFamily="18" charset="2"/>
              </a:rPr>
              <a:t>Conjecture:</a:t>
            </a:r>
            <a:r>
              <a:rPr lang="en-US" altLang="zh-CN" sz="2400" dirty="0">
                <a:latin typeface="Times New Roman" panose="02020503050405090304" pitchFamily="18" charset="0"/>
                <a:sym typeface="Symbol" panose="05050102010706020507" pitchFamily="18" charset="2"/>
              </a:rPr>
              <a:t> (The Hailstone Problem)  If </a:t>
            </a:r>
            <a:r>
              <a:rPr lang="en-US" altLang="zh-CN" sz="2400" i="1" dirty="0">
                <a:solidFill>
                  <a:srgbClr val="FF0000"/>
                </a:solidFill>
                <a:latin typeface="Times New Roman" panose="02020503050405090304" pitchFamily="18" charset="0"/>
                <a:sym typeface="Symbol" panose="05050102010706020507" pitchFamily="18" charset="2"/>
              </a:rPr>
              <a:t>h</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x</a:t>
            </a:r>
            <a:r>
              <a:rPr lang="en-US" altLang="zh-CN" sz="2400" dirty="0">
                <a:solidFill>
                  <a:srgbClr val="FF0000"/>
                </a:solidFill>
                <a:latin typeface="Times New Roman" panose="02020503050405090304" pitchFamily="18" charset="0"/>
                <a:sym typeface="Symbol" panose="05050102010706020507" pitchFamily="18" charset="2"/>
              </a:rPr>
              <a:t>) = </a:t>
            </a:r>
            <a:r>
              <a:rPr lang="en-US" altLang="zh-CN" sz="2400" i="1" dirty="0">
                <a:solidFill>
                  <a:srgbClr val="FF0000"/>
                </a:solidFill>
                <a:latin typeface="Times New Roman" panose="02020503050405090304" pitchFamily="18" charset="0"/>
                <a:sym typeface="Symbol" panose="05050102010706020507" pitchFamily="18" charset="2"/>
              </a:rPr>
              <a:t>x</a:t>
            </a:r>
            <a:r>
              <a:rPr lang="en-US" altLang="zh-CN" sz="2400" dirty="0">
                <a:solidFill>
                  <a:srgbClr val="FF0000"/>
                </a:solidFill>
                <a:latin typeface="Times New Roman" panose="02020503050405090304" pitchFamily="18" charset="0"/>
                <a:sym typeface="Symbol" panose="05050102010706020507" pitchFamily="18" charset="2"/>
              </a:rPr>
              <a:t>/2</a:t>
            </a:r>
            <a:r>
              <a:rPr lang="en-US" altLang="zh-CN" sz="2400" dirty="0">
                <a:latin typeface="Times New Roman" panose="02020503050405090304" pitchFamily="18" charset="0"/>
                <a:sym typeface="Symbol" panose="05050102010706020507" pitchFamily="18" charset="2"/>
              </a:rPr>
              <a:t> when </a:t>
            </a:r>
            <a:r>
              <a:rPr lang="en-US" altLang="zh-CN" sz="2400" i="1" dirty="0">
                <a:latin typeface="Times New Roman" panose="02020503050405090304" pitchFamily="18" charset="0"/>
                <a:sym typeface="Symbol" panose="05050102010706020507" pitchFamily="18" charset="2"/>
              </a:rPr>
              <a:t>x</a:t>
            </a:r>
            <a:r>
              <a:rPr lang="en-US" altLang="zh-CN" sz="2400" dirty="0">
                <a:latin typeface="Times New Roman" panose="02020503050405090304" pitchFamily="18" charset="0"/>
                <a:sym typeface="Symbol" panose="05050102010706020507" pitchFamily="18" charset="2"/>
              </a:rPr>
              <a:t> is even, and </a:t>
            </a:r>
            <a:r>
              <a:rPr lang="en-US" altLang="zh-CN" sz="2400" dirty="0">
                <a:solidFill>
                  <a:srgbClr val="FF0000"/>
                </a:solidFill>
                <a:latin typeface="Times New Roman" panose="02020503050405090304" pitchFamily="18" charset="0"/>
                <a:sym typeface="Symbol" panose="05050102010706020507" pitchFamily="18" charset="2"/>
              </a:rPr>
              <a:t>3</a:t>
            </a:r>
            <a:r>
              <a:rPr lang="en-US" altLang="zh-CN" sz="2400" i="1" dirty="0">
                <a:solidFill>
                  <a:srgbClr val="FF0000"/>
                </a:solidFill>
                <a:latin typeface="Times New Roman" panose="02020503050405090304" pitchFamily="18" charset="0"/>
                <a:sym typeface="Symbol" panose="05050102010706020507" pitchFamily="18" charset="2"/>
              </a:rPr>
              <a:t>x</a:t>
            </a:r>
            <a:r>
              <a:rPr lang="en-US" altLang="zh-CN" sz="2400" dirty="0">
                <a:solidFill>
                  <a:srgbClr val="FF0000"/>
                </a:solidFill>
                <a:latin typeface="Times New Roman" panose="02020503050405090304" pitchFamily="18" charset="0"/>
                <a:sym typeface="Symbol" panose="05050102010706020507" pitchFamily="18" charset="2"/>
              </a:rPr>
              <a:t>+1</a:t>
            </a:r>
            <a:r>
              <a:rPr lang="en-US" altLang="zh-CN" sz="2400" dirty="0">
                <a:latin typeface="Times New Roman" panose="02020503050405090304" pitchFamily="18" charset="0"/>
                <a:sym typeface="Symbol" panose="05050102010706020507" pitchFamily="18" charset="2"/>
              </a:rPr>
              <a:t> when </a:t>
            </a:r>
            <a:r>
              <a:rPr lang="en-US" altLang="zh-CN" sz="2400" i="1" dirty="0">
                <a:latin typeface="Times New Roman" panose="02020503050405090304" pitchFamily="18" charset="0"/>
                <a:sym typeface="Symbol" panose="05050102010706020507" pitchFamily="18" charset="2"/>
              </a:rPr>
              <a:t>x</a:t>
            </a:r>
            <a:r>
              <a:rPr lang="en-US" altLang="zh-CN" sz="2400" dirty="0">
                <a:latin typeface="Times New Roman" panose="02020503050405090304" pitchFamily="18" charset="0"/>
                <a:sym typeface="Symbol" panose="05050102010706020507" pitchFamily="18" charset="2"/>
              </a:rPr>
              <a:t> is odd, then </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x</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b="1" dirty="0">
                <a:solidFill>
                  <a:srgbClr val="FF0000"/>
                </a:solidFill>
                <a:latin typeface="Times New Roman" panose="02020503050405090304" pitchFamily="18" charset="0"/>
                <a:sym typeface="Symbol" panose="05050102010706020507" pitchFamily="18" charset="2"/>
              </a:rPr>
              <a:t>N</a:t>
            </a:r>
            <a:r>
              <a:rPr lang="en-US" altLang="zh-CN" sz="2400" dirty="0">
                <a:solidFill>
                  <a:srgbClr val="FF0000"/>
                </a:solidFill>
                <a:latin typeface="Times New Roman" panose="02020503050405090304" pitchFamily="18" charset="0"/>
                <a:sym typeface="Symbol" panose="05050102010706020507" pitchFamily="18" charset="2"/>
              </a:rPr>
              <a:t> </a:t>
            </a:r>
            <a:r>
              <a:rPr lang="en-US" altLang="zh-CN" sz="2400" i="1" dirty="0">
                <a:solidFill>
                  <a:srgbClr val="FF0000"/>
                </a:solidFill>
                <a:latin typeface="Times New Roman" panose="02020503050405090304" pitchFamily="18" charset="0"/>
                <a:sym typeface="Symbol" panose="05050102010706020507" pitchFamily="18" charset="2"/>
              </a:rPr>
              <a:t>n</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b="1" dirty="0">
                <a:solidFill>
                  <a:srgbClr val="FF0000"/>
                </a:solidFill>
                <a:latin typeface="Times New Roman" panose="02020503050405090304" pitchFamily="18" charset="0"/>
                <a:sym typeface="Symbol" panose="05050102010706020507" pitchFamily="18" charset="2"/>
              </a:rPr>
              <a:t>N</a:t>
            </a:r>
            <a:r>
              <a:rPr lang="en-US" altLang="zh-CN" sz="2400" dirty="0">
                <a:solidFill>
                  <a:srgbClr val="FF0000"/>
                </a:solidFill>
                <a:latin typeface="Times New Roman" panose="02020503050405090304" pitchFamily="18" charset="0"/>
                <a:sym typeface="Symbol" panose="05050102010706020507" pitchFamily="18" charset="2"/>
              </a:rPr>
              <a:t> </a:t>
            </a:r>
            <a:r>
              <a:rPr lang="en-US" altLang="zh-CN" sz="2400" i="1" dirty="0">
                <a:solidFill>
                  <a:srgbClr val="FF0000"/>
                </a:solidFill>
                <a:latin typeface="Times New Roman" panose="02020503050405090304" pitchFamily="18" charset="0"/>
                <a:sym typeface="Symbol" panose="05050102010706020507" pitchFamily="18" charset="2"/>
              </a:rPr>
              <a:t>h</a:t>
            </a:r>
            <a:r>
              <a:rPr lang="en-US" altLang="zh-CN" sz="2400" i="1" baseline="30000" dirty="0">
                <a:solidFill>
                  <a:srgbClr val="FF0000"/>
                </a:solidFill>
                <a:latin typeface="Times New Roman" panose="02020503050405090304" pitchFamily="18" charset="0"/>
                <a:sym typeface="Symbol" panose="05050102010706020507" pitchFamily="18" charset="2"/>
              </a:rPr>
              <a:t>n</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i="1" dirty="0">
                <a:solidFill>
                  <a:srgbClr val="FF0000"/>
                </a:solidFill>
                <a:latin typeface="Times New Roman" panose="02020503050405090304" pitchFamily="18" charset="0"/>
                <a:sym typeface="Symbol" panose="05050102010706020507" pitchFamily="18" charset="2"/>
              </a:rPr>
              <a:t>x</a:t>
            </a:r>
            <a:r>
              <a:rPr lang="en-US" altLang="zh-CN" sz="2400" dirty="0">
                <a:solidFill>
                  <a:srgbClr val="FF0000"/>
                </a:solidFill>
                <a:latin typeface="Times New Roman" panose="02020503050405090304" pitchFamily="18" charset="0"/>
                <a:sym typeface="Symbol" panose="05050102010706020507" pitchFamily="18" charset="2"/>
              </a:rPr>
              <a:t>) = 1</a:t>
            </a:r>
            <a:r>
              <a:rPr lang="en-US" altLang="zh-CN" sz="2400" dirty="0">
                <a:latin typeface="Times New Roman" panose="02020503050405090304" pitchFamily="18" charset="0"/>
                <a:sym typeface="Symbol" panose="05050102010706020507" pitchFamily="18" charset="2"/>
              </a:rPr>
              <a:t> (where the superscript denotes composition of </a:t>
            </a:r>
            <a:r>
              <a:rPr lang="en-US" altLang="zh-CN" sz="2400" i="1" dirty="0">
                <a:latin typeface="Times New Roman" panose="02020503050405090304" pitchFamily="18" charset="0"/>
                <a:sym typeface="Symbol" panose="05050102010706020507" pitchFamily="18" charset="2"/>
              </a:rPr>
              <a:t>h</a:t>
            </a:r>
            <a:r>
              <a:rPr lang="en-US" altLang="zh-CN" sz="2400" dirty="0">
                <a:latin typeface="Times New Roman" panose="02020503050405090304" pitchFamily="18" charset="0"/>
                <a:sym typeface="Symbol" panose="05050102010706020507" pitchFamily="18" charset="2"/>
              </a:rPr>
              <a:t> with itself </a:t>
            </a:r>
            <a:r>
              <a:rPr lang="en-US" altLang="zh-CN" sz="2400" i="1" dirty="0">
                <a:latin typeface="Times New Roman" panose="02020503050405090304" pitchFamily="18" charset="0"/>
                <a:sym typeface="Symbol" panose="05050102010706020507" pitchFamily="18" charset="2"/>
              </a:rPr>
              <a:t>n</a:t>
            </a:r>
            <a:r>
              <a:rPr lang="en-US" altLang="zh-CN" sz="2400" dirty="0">
                <a:latin typeface="Times New Roman" panose="02020503050405090304" pitchFamily="18" charset="0"/>
                <a:sym typeface="Symbol" panose="05050102010706020507" pitchFamily="18" charset="2"/>
              </a:rPr>
              <a:t> times).</a:t>
            </a:r>
            <a:endParaRPr lang="en-US" altLang="zh-CN" sz="2400" dirty="0">
              <a:latin typeface="Times New Roman" panose="02020503050405090304" pitchFamily="18" charset="0"/>
              <a:sym typeface="Symbol" panose="05050102010706020507" pitchFamily="18" charset="2"/>
            </a:endParaRPr>
          </a:p>
        </p:txBody>
      </p:sp>
      <p:sp>
        <p:nvSpPr>
          <p:cNvPr id="84999" name="Text Box 4"/>
          <p:cNvSpPr txBox="1"/>
          <p:nvPr/>
        </p:nvSpPr>
        <p:spPr>
          <a:xfrm>
            <a:off x="1112838" y="5473700"/>
            <a:ext cx="7165975" cy="879475"/>
          </a:xfrm>
          <a:prstGeom prst="rect">
            <a:avLst/>
          </a:prstGeom>
          <a:solidFill>
            <a:srgbClr val="FFFFCC"/>
          </a:solidFill>
          <a:ln w="57150"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2400" dirty="0">
                <a:latin typeface="Times New Roman" panose="02020503050405090304" pitchFamily="18" charset="0"/>
              </a:rPr>
              <a:t>Prove any of these, and you can probably have a lifetime</a:t>
            </a:r>
            <a:br>
              <a:rPr lang="en-US" altLang="zh-CN" sz="2400" dirty="0">
                <a:latin typeface="Times New Roman" panose="02020503050405090304" pitchFamily="18" charset="0"/>
              </a:rPr>
            </a:br>
            <a:r>
              <a:rPr lang="en-US" altLang="zh-CN" sz="2400" dirty="0">
                <a:latin typeface="Times New Roman" panose="02020503050405090304" pitchFamily="18" charset="0"/>
              </a:rPr>
              <a:t>career sitting around doing pure mathematics…</a:t>
            </a:r>
            <a:endParaRPr lang="en-US" altLang="zh-CN" sz="2400" dirty="0">
              <a:latin typeface="Times New Roman" panose="02020503050405090304" pitchFamily="18" charset="0"/>
            </a:endParaRPr>
          </a:p>
        </p:txBody>
      </p:sp>
      <p:sp>
        <p:nvSpPr>
          <p:cNvPr id="85000" name="Text Box 5"/>
          <p:cNvSpPr txBox="1"/>
          <p:nvPr/>
        </p:nvSpPr>
        <p:spPr>
          <a:xfrm>
            <a:off x="714375" y="1052513"/>
            <a:ext cx="1460500" cy="454025"/>
          </a:xfrm>
          <a:prstGeom prst="rect">
            <a:avLst/>
          </a:prstGeom>
          <a:solidFill>
            <a:srgbClr val="FFFFCC"/>
          </a:solidFill>
          <a:ln w="57150" cap="flat" cmpd="sng">
            <a:solidFill>
              <a:srgbClr val="006600"/>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2000" dirty="0">
                <a:latin typeface="Times New Roman" panose="02020503050405090304" pitchFamily="18" charset="0"/>
              </a:rPr>
              <a:t>Example 23</a:t>
            </a:r>
            <a:endParaRPr lang="en-US" altLang="zh-CN" sz="2000" dirty="0">
              <a:latin typeface="Times New Roman" panose="02020503050405090304" pitchFamily="18" charset="0"/>
            </a:endParaRPr>
          </a:p>
        </p:txBody>
      </p:sp>
      <p:sp>
        <p:nvSpPr>
          <p:cNvPr id="85001" name="矩形 1"/>
          <p:cNvSpPr/>
          <p:nvPr/>
        </p:nvSpPr>
        <p:spPr>
          <a:xfrm>
            <a:off x="571500" y="3276600"/>
            <a:ext cx="8675688" cy="23069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spcBef>
                <a:spcPct val="0"/>
              </a:spcBef>
              <a:buClrTx/>
              <a:buSzTx/>
              <a:buFontTx/>
              <a:buNone/>
            </a:pPr>
            <a:r>
              <a:rPr lang="en-US" altLang="zh-CN" sz="2400" dirty="0">
                <a:latin typeface="Times New Roman" panose="02020503050405090304" pitchFamily="18" charset="0"/>
              </a:rPr>
              <a:t>F</a:t>
            </a:r>
            <a:r>
              <a:rPr lang="en-US" altLang="zh-CN" sz="2400" u="none" dirty="0">
                <a:latin typeface="Times New Roman" panose="02020503050405090304" pitchFamily="18" charset="0"/>
              </a:rPr>
              <a:t>or example, starting with </a:t>
            </a:r>
            <a:r>
              <a:rPr lang="en-US" altLang="zh-CN" sz="2400" i="1" u="none" dirty="0">
                <a:latin typeface="Times New Roman" panose="02020503050405090304" pitchFamily="18" charset="0"/>
              </a:rPr>
              <a:t>x </a:t>
            </a:r>
            <a:r>
              <a:rPr lang="en-US" altLang="zh-CN" sz="2400" u="none" dirty="0">
                <a:latin typeface="Times New Roman" panose="02020503050405090304" pitchFamily="18" charset="0"/>
              </a:rPr>
              <a:t>= 13:</a:t>
            </a:r>
            <a:endParaRPr lang="en-US" altLang="zh-CN" sz="2400" u="none" dirty="0">
              <a:latin typeface="Times New Roman" panose="02020503050405090304" pitchFamily="18" charset="0"/>
            </a:endParaRPr>
          </a:p>
          <a:p>
            <a:pPr marL="0" lvl="0" indent="0">
              <a:spcBef>
                <a:spcPct val="0"/>
              </a:spcBef>
              <a:buClrTx/>
              <a:buSzTx/>
              <a:buFontTx/>
              <a:buNone/>
            </a:pPr>
            <a:r>
              <a:rPr lang="en-US" altLang="zh-CN" sz="2400" u="none" dirty="0">
                <a:latin typeface="Times New Roman" panose="02020503050405090304" pitchFamily="18" charset="0"/>
              </a:rPr>
              <a:t>   </a:t>
            </a:r>
            <a:r>
              <a:rPr lang="en-US" altLang="zh-CN" sz="2400" i="1" u="none" dirty="0">
                <a:latin typeface="Times New Roman" panose="02020503050405090304" pitchFamily="18" charset="0"/>
              </a:rPr>
              <a:t> h</a:t>
            </a:r>
            <a:r>
              <a:rPr lang="en-US" altLang="zh-CN" sz="2400" u="none" dirty="0">
                <a:latin typeface="Times New Roman" panose="02020503050405090304" pitchFamily="18" charset="0"/>
              </a:rPr>
              <a:t>(13) = 3∙13 + 1 = 40, </a:t>
            </a:r>
            <a:r>
              <a:rPr lang="en-US" altLang="zh-CN" sz="2400" i="1" u="none" dirty="0">
                <a:latin typeface="Times New Roman" panose="02020503050405090304" pitchFamily="18" charset="0"/>
              </a:rPr>
              <a:t>h</a:t>
            </a:r>
            <a:r>
              <a:rPr lang="en-US" altLang="zh-CN" sz="2400" u="none" dirty="0">
                <a:latin typeface="Times New Roman" panose="02020503050405090304" pitchFamily="18" charset="0"/>
              </a:rPr>
              <a:t>(40) = 40/2  = 20, </a:t>
            </a:r>
            <a:r>
              <a:rPr lang="en-US" altLang="zh-CN" sz="2400" i="1" u="none" dirty="0">
                <a:latin typeface="Times New Roman" panose="02020503050405090304" pitchFamily="18" charset="0"/>
              </a:rPr>
              <a:t>h</a:t>
            </a:r>
            <a:r>
              <a:rPr lang="en-US" altLang="zh-CN" sz="2400" u="none" dirty="0">
                <a:latin typeface="Times New Roman" panose="02020503050405090304" pitchFamily="18" charset="0"/>
              </a:rPr>
              <a:t>(20) = 20/2  = 10, </a:t>
            </a:r>
            <a:endParaRPr lang="en-US" altLang="zh-CN" sz="2400" u="none" dirty="0">
              <a:latin typeface="Times New Roman" panose="02020503050405090304" pitchFamily="18" charset="0"/>
            </a:endParaRPr>
          </a:p>
          <a:p>
            <a:pPr marL="0" lvl="0" indent="0">
              <a:spcBef>
                <a:spcPct val="0"/>
              </a:spcBef>
              <a:buClrTx/>
              <a:buSzTx/>
              <a:buFontTx/>
              <a:buNone/>
            </a:pPr>
            <a:r>
              <a:rPr lang="en-US" altLang="zh-CN" sz="2400" u="none" dirty="0">
                <a:latin typeface="Times New Roman" panose="02020503050405090304" pitchFamily="18" charset="0"/>
              </a:rPr>
              <a:t>      </a:t>
            </a:r>
            <a:r>
              <a:rPr lang="en-US" altLang="zh-CN" sz="2400" i="1" u="none" dirty="0">
                <a:latin typeface="Times New Roman" panose="02020503050405090304" pitchFamily="18" charset="0"/>
              </a:rPr>
              <a:t>h</a:t>
            </a:r>
            <a:r>
              <a:rPr lang="en-US" altLang="zh-CN" sz="2400" u="none" dirty="0">
                <a:latin typeface="Times New Roman" panose="02020503050405090304" pitchFamily="18" charset="0"/>
              </a:rPr>
              <a:t>(10) = 10/2  = 5, </a:t>
            </a:r>
            <a:r>
              <a:rPr lang="en-US" altLang="zh-CN" sz="2400" i="1" u="none" dirty="0">
                <a:latin typeface="Times New Roman" panose="02020503050405090304" pitchFamily="18" charset="0"/>
              </a:rPr>
              <a:t>h</a:t>
            </a:r>
            <a:r>
              <a:rPr lang="en-US" altLang="zh-CN" sz="2400" u="none" dirty="0">
                <a:latin typeface="Times New Roman" panose="02020503050405090304" pitchFamily="18" charset="0"/>
              </a:rPr>
              <a:t>(5) = 3∙5 + 1 = 16,</a:t>
            </a:r>
            <a:r>
              <a:rPr lang="en-US" altLang="zh-CN" sz="2400" i="1" u="none" dirty="0">
                <a:latin typeface="Times New Roman" panose="02020503050405090304" pitchFamily="18" charset="0"/>
              </a:rPr>
              <a:t>h</a:t>
            </a:r>
            <a:r>
              <a:rPr lang="en-US" altLang="zh-CN" sz="2400" u="none" dirty="0">
                <a:latin typeface="Times New Roman" panose="02020503050405090304" pitchFamily="18" charset="0"/>
              </a:rPr>
              <a:t>(16) = 16/2  = 8, </a:t>
            </a:r>
            <a:endParaRPr lang="en-US" altLang="zh-CN" sz="2400" u="none" dirty="0">
              <a:latin typeface="Times New Roman" panose="02020503050405090304" pitchFamily="18" charset="0"/>
            </a:endParaRPr>
          </a:p>
          <a:p>
            <a:pPr marL="0" lvl="0" indent="0">
              <a:spcBef>
                <a:spcPct val="0"/>
              </a:spcBef>
              <a:buClrTx/>
              <a:buSzTx/>
              <a:buFontTx/>
              <a:buNone/>
            </a:pPr>
            <a:r>
              <a:rPr lang="en-US" altLang="zh-CN" sz="2400" u="none" dirty="0">
                <a:latin typeface="Times New Roman" panose="02020503050405090304" pitchFamily="18" charset="0"/>
              </a:rPr>
              <a:t>      </a:t>
            </a:r>
            <a:r>
              <a:rPr lang="en-US" altLang="zh-CN" sz="2400" i="1" u="none" dirty="0">
                <a:latin typeface="Times New Roman" panose="02020503050405090304" pitchFamily="18" charset="0"/>
              </a:rPr>
              <a:t>h</a:t>
            </a:r>
            <a:r>
              <a:rPr lang="en-US" altLang="zh-CN" sz="2400" u="none" dirty="0">
                <a:latin typeface="Times New Roman" panose="02020503050405090304" pitchFamily="18" charset="0"/>
              </a:rPr>
              <a:t>(8) = 8/2  = 4, </a:t>
            </a:r>
            <a:r>
              <a:rPr lang="en-US" altLang="zh-CN" sz="2400" i="1" u="none" dirty="0">
                <a:latin typeface="Times New Roman" panose="02020503050405090304" pitchFamily="18" charset="0"/>
              </a:rPr>
              <a:t>h</a:t>
            </a:r>
            <a:r>
              <a:rPr lang="en-US" altLang="zh-CN" sz="2400" u="none" dirty="0">
                <a:latin typeface="Times New Roman" panose="02020503050405090304" pitchFamily="18" charset="0"/>
              </a:rPr>
              <a:t>(4) = 4/2  = 2, </a:t>
            </a:r>
            <a:r>
              <a:rPr lang="en-US" altLang="zh-CN" sz="2400" i="1" u="none" dirty="0">
                <a:latin typeface="Times New Roman" panose="02020503050405090304" pitchFamily="18" charset="0"/>
              </a:rPr>
              <a:t>h</a:t>
            </a:r>
            <a:r>
              <a:rPr lang="en-US" altLang="zh-CN" sz="2400" u="none" dirty="0">
                <a:latin typeface="Times New Roman" panose="02020503050405090304" pitchFamily="18" charset="0"/>
              </a:rPr>
              <a:t>(2) = 2/2  = 1</a:t>
            </a:r>
            <a:endParaRPr lang="en-US" altLang="zh-CN" sz="2400" u="none" dirty="0">
              <a:latin typeface="Times New Roman" panose="02020503050405090304" pitchFamily="18" charset="0"/>
            </a:endParaRPr>
          </a:p>
          <a:p>
            <a:pPr marL="0" lvl="0" indent="0">
              <a:spcBef>
                <a:spcPct val="0"/>
              </a:spcBef>
              <a:buClrTx/>
              <a:buSzTx/>
              <a:buFontTx/>
              <a:buNone/>
            </a:pPr>
            <a:r>
              <a:rPr lang="en-US" altLang="zh-CN" sz="2400" u="none" dirty="0">
                <a:latin typeface="Times New Roman" panose="02020503050405090304" pitchFamily="18" charset="0"/>
              </a:rPr>
              <a:t>    The conjecture has been verified using computers up to  5.6 ∙ 10</a:t>
            </a:r>
            <a:r>
              <a:rPr lang="en-US" altLang="zh-CN" sz="2400" u="none" baseline="30000" dirty="0">
                <a:latin typeface="Times New Roman" panose="02020503050405090304" pitchFamily="18" charset="0"/>
              </a:rPr>
              <a:t>13</a:t>
            </a:r>
            <a:r>
              <a:rPr lang="en-US" altLang="zh-CN" sz="2400" baseline="30000" dirty="0">
                <a:latin typeface="Times New Roman" panose="02020503050405090304" pitchFamily="18" charset="0"/>
              </a:rPr>
              <a:t> </a:t>
            </a:r>
            <a:r>
              <a:rPr lang="en-US" altLang="zh-CN" sz="2400" dirty="0">
                <a:latin typeface="Times New Roman" panose="02020503050405090304" pitchFamily="18" charset="0"/>
              </a:rPr>
              <a:t> .</a:t>
            </a:r>
            <a:endParaRPr lang="en-US" altLang="zh-CN" sz="2400" dirty="0">
              <a:latin typeface="Times New Roman" panose="0202050305040509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Title 1"/>
          <p:cNvSpPr>
            <a:spLocks noGrp="1"/>
          </p:cNvSpPr>
          <p:nvPr>
            <p:ph type="title"/>
          </p:nvPr>
        </p:nvSpPr>
        <p:spPr>
          <a:xfrm>
            <a:off x="1136650" y="258445"/>
            <a:ext cx="7899400" cy="928370"/>
          </a:xfrm>
        </p:spPr>
        <p:txBody>
          <a:bodyPr vert="horz" wrap="square" lIns="91440" tIns="45720" rIns="91440" bIns="45720" anchor="b" anchorCtr="0"/>
          <a:p>
            <a:r>
              <a:rPr lang="en-US" altLang="zh-CN" sz="4000" dirty="0"/>
              <a:t>Additional Proof Methods</a:t>
            </a:r>
            <a:endParaRPr lang="en-US" altLang="zh-CN" sz="4000" dirty="0"/>
          </a:p>
        </p:txBody>
      </p:sp>
      <p:sp>
        <p:nvSpPr>
          <p:cNvPr id="86019" name="Content Placeholder 2"/>
          <p:cNvSpPr>
            <a:spLocks noGrp="1"/>
          </p:cNvSpPr>
          <p:nvPr>
            <p:ph idx="1"/>
          </p:nvPr>
        </p:nvSpPr>
        <p:spPr>
          <a:xfrm>
            <a:off x="612140" y="1484313"/>
            <a:ext cx="8415338" cy="4114800"/>
          </a:xfrm>
        </p:spPr>
        <p:txBody>
          <a:bodyPr vert="horz" wrap="square" lIns="91440" tIns="45720" rIns="91440" bIns="45720" anchor="t" anchorCtr="0"/>
          <a:p>
            <a:r>
              <a:rPr lang="en-US" altLang="zh-CN" dirty="0">
                <a:latin typeface="Times New Roman" panose="02020503050405090304" pitchFamily="18" charset="0"/>
              </a:rPr>
              <a:t>Later we will see many other proof methods:</a:t>
            </a:r>
            <a:endParaRPr lang="en-US" altLang="zh-CN" dirty="0">
              <a:latin typeface="Times New Roman" panose="02020503050405090304" pitchFamily="18" charset="0"/>
            </a:endParaRPr>
          </a:p>
          <a:p>
            <a:pPr lvl="1"/>
            <a:r>
              <a:rPr lang="en-US" altLang="zh-CN" dirty="0">
                <a:solidFill>
                  <a:srgbClr val="FF0000"/>
                </a:solidFill>
                <a:latin typeface="Times New Roman" panose="02020503050405090304" pitchFamily="18" charset="0"/>
              </a:rPr>
              <a:t>Mathematical induction</a:t>
            </a:r>
            <a:r>
              <a:rPr lang="en-US" altLang="zh-CN" dirty="0">
                <a:latin typeface="Times New Roman" panose="02020503050405090304" pitchFamily="18" charset="0"/>
              </a:rPr>
              <a:t>, which is a useful method for proving statements of the form </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n P</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n</a:t>
            </a:r>
            <a:r>
              <a:rPr lang="en-US" altLang="zh-CN" dirty="0">
                <a:latin typeface="Times New Roman" panose="02020503050405090304" pitchFamily="18" charset="0"/>
                <a:sym typeface="Symbol" panose="05050102010706020507" pitchFamily="18" charset="2"/>
              </a:rPr>
              <a:t>), where the domain consists of all positive integers.</a:t>
            </a:r>
            <a:endParaRPr lang="en-US" altLang="zh-CN" dirty="0">
              <a:latin typeface="Times New Roman" panose="02020503050405090304" pitchFamily="18" charset="0"/>
              <a:sym typeface="Symbol" panose="05050102010706020507" pitchFamily="18" charset="2"/>
            </a:endParaRPr>
          </a:p>
          <a:p>
            <a:pPr lvl="1"/>
            <a:r>
              <a:rPr lang="en-US" altLang="zh-CN" dirty="0">
                <a:solidFill>
                  <a:srgbClr val="FF0000"/>
                </a:solidFill>
                <a:latin typeface="Times New Roman" panose="02020503050405090304" pitchFamily="18" charset="0"/>
                <a:sym typeface="Symbol" panose="05050102010706020507" pitchFamily="18" charset="2"/>
              </a:rPr>
              <a:t>Structural inductio</a:t>
            </a:r>
            <a:r>
              <a:rPr lang="en-US" altLang="zh-CN" dirty="0">
                <a:latin typeface="Times New Roman" panose="02020503050405090304" pitchFamily="18" charset="0"/>
                <a:sym typeface="Symbol" panose="05050102010706020507" pitchFamily="18" charset="2"/>
              </a:rPr>
              <a:t>n, which can be used to prove such results about recursively defined sets.</a:t>
            </a:r>
            <a:endParaRPr lang="en-US" altLang="zh-CN" dirty="0">
              <a:latin typeface="Times New Roman" panose="02020503050405090304" pitchFamily="18" charset="0"/>
              <a:sym typeface="Symbol" panose="05050102010706020507" pitchFamily="18" charset="2"/>
            </a:endParaRPr>
          </a:p>
          <a:p>
            <a:pPr lvl="1"/>
            <a:r>
              <a:rPr lang="en-US" altLang="zh-CN" dirty="0">
                <a:solidFill>
                  <a:srgbClr val="FF0000"/>
                </a:solidFill>
                <a:latin typeface="Times New Roman" panose="02020503050405090304" pitchFamily="18" charset="0"/>
                <a:sym typeface="Symbol" panose="05050102010706020507" pitchFamily="18" charset="2"/>
              </a:rPr>
              <a:t>Cantor diagonalization</a:t>
            </a:r>
            <a:r>
              <a:rPr lang="en-US" altLang="zh-CN" dirty="0">
                <a:latin typeface="Times New Roman" panose="02020503050405090304" pitchFamily="18" charset="0"/>
                <a:sym typeface="Symbol" panose="05050102010706020507" pitchFamily="18" charset="2"/>
              </a:rPr>
              <a:t> is used to prove results about the size of infinite sets.</a:t>
            </a:r>
            <a:endParaRPr lang="en-US" altLang="zh-CN" dirty="0">
              <a:latin typeface="Times New Roman" panose="02020503050405090304" pitchFamily="18" charset="0"/>
              <a:sym typeface="Symbol" panose="05050102010706020507" pitchFamily="18" charset="2"/>
            </a:endParaRPr>
          </a:p>
          <a:p>
            <a:pPr lvl="1"/>
            <a:r>
              <a:rPr lang="en-US" altLang="zh-CN" dirty="0">
                <a:solidFill>
                  <a:srgbClr val="FF0000"/>
                </a:solidFill>
                <a:latin typeface="Times New Roman" panose="02020503050405090304" pitchFamily="18" charset="0"/>
                <a:sym typeface="Symbol" panose="05050102010706020507" pitchFamily="18" charset="2"/>
              </a:rPr>
              <a:t>Combinatorial proofs</a:t>
            </a:r>
            <a:r>
              <a:rPr lang="en-US" altLang="zh-CN" dirty="0">
                <a:latin typeface="Times New Roman" panose="02020503050405090304" pitchFamily="18" charset="0"/>
                <a:sym typeface="Symbol" panose="05050102010706020507" pitchFamily="18" charset="2"/>
              </a:rPr>
              <a:t> use counting arguments. </a:t>
            </a:r>
            <a:endParaRPr lang="en-US" altLang="zh-CN" dirty="0">
              <a:latin typeface="Times New Roman" panose="020205030504050903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8704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8704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87045" name="Rectangle 2"/>
          <p:cNvSpPr>
            <a:spLocks noGrp="1"/>
          </p:cNvSpPr>
          <p:nvPr>
            <p:ph type="title"/>
          </p:nvPr>
        </p:nvSpPr>
        <p:spPr/>
        <p:txBody>
          <a:bodyPr vert="horz" wrap="square" lIns="91440" tIns="45720" rIns="91440" bIns="45720" anchor="b" anchorCtr="0"/>
          <a:p>
            <a:pPr eaLnBrk="1" hangingPunct="1"/>
            <a:r>
              <a:rPr lang="en-US" altLang="zh-CN" dirty="0"/>
              <a:t>Homework</a:t>
            </a:r>
            <a:endParaRPr lang="en-US" altLang="zh-CN" dirty="0"/>
          </a:p>
        </p:txBody>
      </p:sp>
      <p:sp>
        <p:nvSpPr>
          <p:cNvPr id="87046" name="Rectangle 3"/>
          <p:cNvSpPr>
            <a:spLocks noGrp="1"/>
          </p:cNvSpPr>
          <p:nvPr>
            <p:ph idx="1"/>
          </p:nvPr>
        </p:nvSpPr>
        <p:spPr>
          <a:xfrm>
            <a:off x="1064578" y="1484948"/>
            <a:ext cx="7772400" cy="4114800"/>
          </a:xfrm>
        </p:spPr>
        <p:txBody>
          <a:bodyPr vert="horz" wrap="square" lIns="91440" tIns="45720" rIns="91440" bIns="45720" anchor="t" anchorCtr="0"/>
          <a:p>
            <a:pPr eaLnBrk="1" hangingPunct="1"/>
            <a:r>
              <a:rPr lang="en-US" altLang="zh-CN" dirty="0">
                <a:latin typeface="Times New Roman" panose="02020503050405090304" pitchFamily="18" charset="0"/>
              </a:rPr>
              <a:t>§1.7 </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 </a:t>
            </a:r>
            <a:r>
              <a:rPr lang="en-US" altLang="zh-CN" dirty="0"/>
              <a:t>8, 20, 30</a:t>
            </a:r>
            <a:endParaRPr lang="en-US" altLang="zh-CN" dirty="0">
              <a:latin typeface="Times New Roman" panose="02020503050405090304" pitchFamily="18" charset="0"/>
            </a:endParaRPr>
          </a:p>
          <a:p>
            <a:pPr eaLnBrk="1" hangingPunct="1"/>
            <a:r>
              <a:rPr lang="en-US" altLang="zh-CN" dirty="0"/>
              <a:t>§1.8 </a:t>
            </a:r>
            <a:endParaRPr lang="en-US" altLang="zh-CN" dirty="0"/>
          </a:p>
          <a:p>
            <a:pPr lvl="1" eaLnBrk="1" hangingPunct="1"/>
            <a:r>
              <a:rPr lang="en-US" altLang="zh-CN" dirty="0"/>
              <a:t> 14, 16, 32, 40</a:t>
            </a:r>
            <a:endParaRPr lang="en-US" altLang="zh-CN" dirty="0"/>
          </a:p>
          <a:p>
            <a:pPr lvl="1" eaLnBrk="1" hangingPunct="1"/>
            <a:endParaRPr lang="en-US" altLang="zh-CN" dirty="0">
              <a:latin typeface="Times New Roman" panose="02020503050405090304" pitchFamily="18" charset="0"/>
            </a:endParaRPr>
          </a:p>
        </p:txBody>
      </p:sp>
    </p:spTree>
  </p:cSld>
  <p:clrMapOvr>
    <a:masterClrMapping/>
  </p:clrMapOvr>
</p:sld>
</file>

<file path=ppt/tags/tag1.xml><?xml version="1.0" encoding="utf-8"?>
<p:tagLst xmlns:p="http://schemas.openxmlformats.org/presentationml/2006/main">
  <p:tag name="LATEXADDIN" val="\documentclass{article}&#10;\usepackage{amsmath}&#10;\usepackage {amssymb}&#10;\pagestyle{empty}&#10;\begin{document}&#10;\begin{tabular}{ll}&#10;{\bf Step} &amp; {\bf Reason}\\&#10;1.  $a = b$ &amp; Premise\\&#10;2. $a^{2} = a\times b$ &amp; Multiply both sides of (1) by a\\&#10;3. $a^{2} - b^{2} = a\times b -b^{2}$ &amp;  Subtract $b^{2}$ from both sides of (2)\\&#10;4. $(a - b)(a + b) = b(a - b)$ &amp; Algebra on (3)\\&#10;5. $ a + b = b$&amp; Divide both sides by $a - b$\\&#10;6. $2b = b$ &amp; Replace a by b in (5) because $a = b$\\&#10;7. $2 = 1$&amp; Divide both sides of (6) by b\\&#10;&#10;\end{tabular}&#10;&#10;&#10;\end{document}"/>
  <p:tag name="IGUANATEXSIZE" val="20"/>
</p:tagLst>
</file>

<file path=ppt/tags/tag2.xml><?xml version="1.0" encoding="utf-8"?>
<p:tagLst xmlns:p="http://schemas.openxmlformats.org/presentationml/2006/main">
  <p:tag name="KSO_WPP_MARK_KEY" val="95a7753a-cb13-4fb8-87fb-c5fcd67082ef"/>
  <p:tag name="COMMONDATA" val="eyJoZGlkIjoiYjZhMmY1NGQwZjE0MWY4MTkzZjM4YzBiNDA1ZmM3ZDEifQ=="/>
  <p:tag name="commondata" val="eyJoZGlkIjoiYmVhZjkwODNmYWU4ZjEyODhhY2JmMGIzNjQ3MTYzNDIifQ=="/>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pperplate Gothic Light"/>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1" lang="en-US" sz="2400" b="1" i="1" u="sng" strike="noStrike" cap="none" normalizeH="0" baseline="0" smtClean="0">
            <a:ln>
              <a:noFill/>
            </a:ln>
            <a:solidFill>
              <a:schemeClr val="tx1"/>
            </a:solidFill>
            <a:effectLst/>
            <a:latin typeface="Times New Roman" panose="02020503050405090304" pitchFamily="18" charset="0"/>
            <a:ea typeface="宋体"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1" lang="en-US" sz="2400" b="1" i="1" u="sng" strike="noStrike" cap="none" normalizeH="0" baseline="0" smtClean="0">
            <a:ln>
              <a:noFill/>
            </a:ln>
            <a:solidFill>
              <a:schemeClr val="tx1"/>
            </a:solidFill>
            <a:effectLst/>
            <a:latin typeface="Times New Roman" panose="02020503050405090304" pitchFamily="18"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0</TotalTime>
  <Words>28360</Words>
  <Application>WPS 演示</Application>
  <PresentationFormat>全屏显示(4:3)</PresentationFormat>
  <Paragraphs>1128</Paragraphs>
  <Slides>76</Slides>
  <Notes>7</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8</vt:i4>
      </vt:variant>
      <vt:variant>
        <vt:lpstr>幻灯片标题</vt:lpstr>
      </vt:variant>
      <vt:variant>
        <vt:i4>76</vt:i4>
      </vt:variant>
    </vt:vector>
  </HeadingPairs>
  <TitlesOfParts>
    <vt:vector size="107" baseType="lpstr">
      <vt:lpstr>Arial</vt:lpstr>
      <vt:lpstr>宋体</vt:lpstr>
      <vt:lpstr>Wingdings</vt:lpstr>
      <vt:lpstr>Times New Roman</vt:lpstr>
      <vt:lpstr>汉仪书宋二KW</vt:lpstr>
      <vt:lpstr>Arial Narrow</vt:lpstr>
      <vt:lpstr>Tahoma</vt:lpstr>
      <vt:lpstr>Copperplate Gothic Light</vt:lpstr>
      <vt:lpstr>苹方-简</vt:lpstr>
      <vt:lpstr>Copperplate Gothic Bold</vt:lpstr>
      <vt:lpstr>Euclid</vt:lpstr>
      <vt:lpstr>Symbol</vt:lpstr>
      <vt:lpstr>Symbol</vt:lpstr>
      <vt:lpstr>Kingsoft Sign</vt:lpstr>
      <vt:lpstr>微软雅黑</vt:lpstr>
      <vt:lpstr>汉仪旗黑</vt:lpstr>
      <vt:lpstr>宋体</vt:lpstr>
      <vt:lpstr>Arial Unicode MS</vt:lpstr>
      <vt:lpstr>Cambria Math</vt:lpstr>
      <vt:lpstr>Kingsoft Math</vt:lpstr>
      <vt:lpstr>Cambria Math</vt:lpstr>
      <vt:lpstr>宋体-简</vt:lpstr>
      <vt:lpstr>Blends</vt:lpstr>
      <vt:lpstr>Equation.DSMT4</vt:lpstr>
      <vt:lpstr>Equation.DSMT4</vt:lpstr>
      <vt:lpstr>Equation.DSMT4</vt:lpstr>
      <vt:lpstr>Equation.DSMT4</vt:lpstr>
      <vt:lpstr>Equation.DSMT4</vt:lpstr>
      <vt:lpstr>Equation.DSMT4</vt:lpstr>
      <vt:lpstr>Equation.DSMT4</vt:lpstr>
      <vt:lpstr>Equation.3</vt:lpstr>
      <vt:lpstr>Discrete Mathematical Structures</vt:lpstr>
      <vt:lpstr>Outline</vt:lpstr>
      <vt:lpstr>Methods of Proof</vt:lpstr>
      <vt:lpstr>Form of theorems</vt:lpstr>
      <vt:lpstr>Methods of Proof</vt:lpstr>
      <vt:lpstr>Proof Methods for Implications</vt:lpstr>
      <vt:lpstr>Direct proof</vt:lpstr>
      <vt:lpstr>Example</vt:lpstr>
      <vt:lpstr>Indirect proof</vt:lpstr>
      <vt:lpstr>Example</vt:lpstr>
      <vt:lpstr>Trivial proof (平凡证明)</vt:lpstr>
      <vt:lpstr>Trivial Proof Example</vt:lpstr>
      <vt:lpstr>Vacuous proof (空证明)</vt:lpstr>
      <vt:lpstr>Vacuous Proof Example</vt:lpstr>
      <vt:lpstr>Proof by contradiction(矛盾)</vt:lpstr>
      <vt:lpstr>Example</vt:lpstr>
      <vt:lpstr>Proof by contradiction </vt:lpstr>
      <vt:lpstr>Proof by Cases</vt:lpstr>
      <vt:lpstr>Example</vt:lpstr>
      <vt:lpstr>Example - Proof:</vt:lpstr>
      <vt:lpstr>Proof by Cases Example</vt:lpstr>
      <vt:lpstr>Exhaustive Proof </vt:lpstr>
      <vt:lpstr>Solution</vt:lpstr>
      <vt:lpstr>Proof by Examples?</vt:lpstr>
      <vt:lpstr>Without Loss of generality</vt:lpstr>
      <vt:lpstr>PowerPoint 演示文稿</vt:lpstr>
      <vt:lpstr>Common errors</vt:lpstr>
      <vt:lpstr>Proof Methods for Existence</vt:lpstr>
      <vt:lpstr>Existence Proofs</vt:lpstr>
      <vt:lpstr>A Constructive  Existence Proof</vt:lpstr>
      <vt:lpstr>A Constructive  Existence Proof</vt:lpstr>
      <vt:lpstr>The proof...</vt:lpstr>
      <vt:lpstr>Nonconstructive existence proof</vt:lpstr>
      <vt:lpstr>Nonconstructive Existence Proof</vt:lpstr>
      <vt:lpstr>The proof, using proof by cases...</vt:lpstr>
      <vt:lpstr>Nonconstructive Existence Proof</vt:lpstr>
      <vt:lpstr>PowerPoint 演示文稿</vt:lpstr>
      <vt:lpstr>Solution</vt:lpstr>
      <vt:lpstr>Solution</vt:lpstr>
      <vt:lpstr>Proof Methods for Uniqueness</vt:lpstr>
      <vt:lpstr>Disproof by Counterexample (反例)</vt:lpstr>
      <vt:lpstr>Nonexistence Proofs</vt:lpstr>
      <vt:lpstr>Universally Quantified Assertions</vt:lpstr>
      <vt:lpstr>Example</vt:lpstr>
      <vt:lpstr>Example</vt:lpstr>
      <vt:lpstr>Example</vt:lpstr>
      <vt:lpstr>Example</vt:lpstr>
      <vt:lpstr>Fallacies (谬论) - incorrect inferences</vt:lpstr>
      <vt:lpstr>The Fallacy of Denying the Antecedent</vt:lpstr>
      <vt:lpstr>Mistakes in proofs</vt:lpstr>
      <vt:lpstr>What is wrong with this?</vt:lpstr>
      <vt:lpstr>PowerPoint 演示文稿</vt:lpstr>
      <vt:lpstr>PowerPoint 演示文稿</vt:lpstr>
      <vt:lpstr>Circular Reasoning</vt:lpstr>
      <vt:lpstr>A Correct Proof</vt:lpstr>
      <vt:lpstr>A More Verbose Version</vt:lpstr>
      <vt:lpstr>Dear students</vt:lpstr>
      <vt:lpstr>Proof strategy Overview</vt:lpstr>
      <vt:lpstr>Forward Reasoning</vt:lpstr>
      <vt:lpstr>Backward Reasoning</vt:lpstr>
      <vt:lpstr>Backward Reasoning Example</vt:lpstr>
      <vt:lpstr>Steps of Example</vt:lpstr>
      <vt:lpstr>“Forwardized” version of Example</vt:lpstr>
      <vt:lpstr>Stone Game Example</vt:lpstr>
      <vt:lpstr>Working Backwards in the Game</vt:lpstr>
      <vt:lpstr>“Forwardized” version</vt:lpstr>
      <vt:lpstr>Adapting Existing Proofs</vt:lpstr>
      <vt:lpstr>Proof and Disproof: Tilings</vt:lpstr>
      <vt:lpstr>Tilings</vt:lpstr>
      <vt:lpstr>Tilings </vt:lpstr>
      <vt:lpstr>Tilings</vt:lpstr>
      <vt:lpstr>Even Great Mathematicians Can Propose False Conjectures!</vt:lpstr>
      <vt:lpstr>Fermat’s “Last Theorem”</vt:lpstr>
      <vt:lpstr>Some Open Conjectures</vt:lpstr>
      <vt:lpstr>Additional Proof Methods</vt:lpstr>
      <vt:lpstr>Homework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lvsiyao</dc:creator>
  <cp:lastModifiedBy>杨娟</cp:lastModifiedBy>
  <cp:revision>519</cp:revision>
  <cp:lastPrinted>2025-03-31T08:09:14Z</cp:lastPrinted>
  <dcterms:created xsi:type="dcterms:W3CDTF">2025-03-31T08:09:14Z</dcterms:created>
  <dcterms:modified xsi:type="dcterms:W3CDTF">2025-03-31T08:09:14Z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30D5016DC9BC4FABA6255ECEFDCBEA87</vt:lpwstr>
  </property>
  <property fmtid="{D5CDD505-2E9C-101B-9397-08002B2CF9AE}" pid="3" name="KSOProductBuildVer">
    <vt:lpwstr>2052-6.9.0.8865</vt:lpwstr>
  </property>
</Properties>
</file>