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46"/>
  </p:handoutMasterIdLst>
  <p:sldIdLst>
    <p:sldId id="938" r:id="rId3"/>
    <p:sldId id="939" r:id="rId4"/>
    <p:sldId id="896" r:id="rId5"/>
    <p:sldId id="897" r:id="rId6"/>
    <p:sldId id="898" r:id="rId7"/>
    <p:sldId id="811" r:id="rId8"/>
    <p:sldId id="812" r:id="rId9"/>
    <p:sldId id="813" r:id="rId10"/>
    <p:sldId id="814" r:id="rId11"/>
    <p:sldId id="815" r:id="rId12"/>
    <p:sldId id="816" r:id="rId13"/>
    <p:sldId id="817" r:id="rId14"/>
    <p:sldId id="868" r:id="rId15"/>
    <p:sldId id="818" r:id="rId16"/>
    <p:sldId id="439" r:id="rId17"/>
    <p:sldId id="819" r:id="rId18"/>
    <p:sldId id="821" r:id="rId19"/>
    <p:sldId id="822" r:id="rId20"/>
    <p:sldId id="869" r:id="rId21"/>
    <p:sldId id="871" r:id="rId22"/>
    <p:sldId id="870" r:id="rId23"/>
    <p:sldId id="872" r:id="rId24"/>
    <p:sldId id="890" r:id="rId25"/>
    <p:sldId id="891" r:id="rId27"/>
    <p:sldId id="892" r:id="rId28"/>
    <p:sldId id="893" r:id="rId29"/>
    <p:sldId id="894" r:id="rId30"/>
    <p:sldId id="895" r:id="rId31"/>
    <p:sldId id="882" r:id="rId32"/>
    <p:sldId id="883" r:id="rId33"/>
    <p:sldId id="884" r:id="rId34"/>
    <p:sldId id="885" r:id="rId35"/>
    <p:sldId id="886" r:id="rId36"/>
    <p:sldId id="887" r:id="rId37"/>
    <p:sldId id="888" r:id="rId38"/>
    <p:sldId id="889" r:id="rId39"/>
    <p:sldId id="825" r:id="rId40"/>
    <p:sldId id="826" r:id="rId41"/>
    <p:sldId id="391" r:id="rId42"/>
    <p:sldId id="393" r:id="rId43"/>
    <p:sldId id="394" r:id="rId44"/>
    <p:sldId id="867" r:id="rId45"/>
  </p:sldIdLst>
  <p:sldSz cx="9144000" cy="6858000" type="screen4x3"/>
  <p:notesSz cx="6669405" cy="9926955"/>
  <p:custDataLst>
    <p:tags r:id="rId50"/>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9pPr>
  </p:defaultTextStyle>
  <p:extLst>
    <p:ext uri="{EFAFB233-063F-42B5-8137-9DF3F51BA10A}">
      <p15:sldGuideLst xmlns:p15="http://schemas.microsoft.com/office/powerpoint/2012/main">
        <p15:guide id="1" orient="horz" pos="1434" userDrawn="1">
          <p15:clr>
            <a:srgbClr val="A4A3A4"/>
          </p15:clr>
        </p15:guide>
        <p15:guide id="2" pos="4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7B7D79"/>
    <a:srgbClr val="FF3300"/>
    <a:srgbClr val="003399"/>
    <a:srgbClr val="336699"/>
    <a:srgbClr val="008080"/>
    <a:srgbClr val="0099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p:restoredTop sz="94660"/>
  </p:normalViewPr>
  <p:slideViewPr>
    <p:cSldViewPr showGuides="1">
      <p:cViewPr varScale="1">
        <p:scale>
          <a:sx n="95" d="100"/>
          <a:sy n="95" d="100"/>
        </p:scale>
        <p:origin x="1056" y="18"/>
      </p:cViewPr>
      <p:guideLst>
        <p:guide orient="horz" pos="1434"/>
        <p:guide pos="4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4800"/>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gs" Target="tags/tag10.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algn="l">
              <a:defRPr kumimoji="0" sz="1200" b="0" i="0" u="none" noProof="1">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1" name="Rectangle 3"/>
          <p:cNvSpPr>
            <a:spLocks noGrp="1" noChangeArrowheads="1"/>
          </p:cNvSpPr>
          <p:nvPr>
            <p:ph type="dt" sz="quarter"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a:defRPr kumimoji="0" sz="1200" b="0" i="0" u="none" noProof="1">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2" name="Rectangle 4"/>
          <p:cNvSpPr>
            <a:spLocks noGrp="1" noChangeArrowheads="1"/>
          </p:cNvSpPr>
          <p:nvPr>
            <p:ph type="ftr" sz="quarter" idx="2"/>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algn="l">
              <a:defRPr kumimoji="0" sz="1200" b="0" i="0" u="none" noProof="1">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7413" name="Rectangle 5"/>
          <p:cNvSpPr>
            <a:spLocks noGrp="1" noChangeArrowheads="1"/>
          </p:cNvSpPr>
          <p:nvPr>
            <p:ph type="sldNum" sz="quarter" idx="3"/>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32C3FA67-A0CE-4CF0-B9C5-A1F124FE7058}"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algn="l">
              <a:defRPr kumimoji="0" sz="1200" b="0" i="0" u="none" noProof="1">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3" name="Rectangle 3"/>
          <p:cNvSpPr>
            <a:spLocks noGrp="1" noChangeArrowheads="1"/>
          </p:cNvSpPr>
          <p:nvPr>
            <p:ph type="dt"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a:defRPr kumimoji="0" sz="1200" b="0" i="0" u="none" noProof="1">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3076" name="Rectangle 4"/>
          <p:cNvSpPr>
            <a:spLocks noGrp="1" noRot="1" noChangeAspect="1" noTextEdit="1"/>
          </p:cNvSpPr>
          <p:nvPr>
            <p:ph type="sldImg"/>
          </p:nvPr>
        </p:nvSpPr>
        <p:spPr>
          <a:xfrm>
            <a:off x="852488" y="744538"/>
            <a:ext cx="4964112" cy="3722687"/>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4294967295"/>
          </p:nvPr>
        </p:nvSpPr>
        <p:spPr bwMode="auto">
          <a:xfrm>
            <a:off x="889000" y="4714875"/>
            <a:ext cx="4891088"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366" name="Rectangle 6"/>
          <p:cNvSpPr>
            <a:spLocks noGrp="1" noChangeArrowheads="1"/>
          </p:cNvSpPr>
          <p:nvPr>
            <p:ph type="ftr" sz="quarter" idx="4"/>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algn="l">
              <a:defRPr kumimoji="0" sz="1200" b="0" i="0" u="none" noProof="1">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
        <p:nvSpPr>
          <p:cNvPr id="15367" name="Rectangle 7"/>
          <p:cNvSpPr>
            <a:spLocks noGrp="1" noChangeArrowheads="1"/>
          </p:cNvSpPr>
          <p:nvPr>
            <p:ph type="sldNum" sz="quarter" idx="5"/>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kumimoji="0" sz="1200" b="0" i="0" u="none"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C88E5F11-FC71-4B03-A548-6EBCB9E8A178}" type="slidenum">
              <a:rPr kumimoji="0" lang="zh-CN" altLang="en-US"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779838" y="9429750"/>
            <a:ext cx="2889250" cy="496888"/>
          </a:xfrm>
          <a:prstGeom prst="rect">
            <a:avLst/>
          </a:prstGeom>
          <a:noFill/>
          <a:ln w="9525">
            <a:noFill/>
          </a:ln>
        </p:spPr>
        <p:txBody>
          <a:bodyPr anchor="b" anchorCtr="0"/>
          <a:p>
            <a:pPr lvl="0" algn="r"/>
            <a:fld id="{9A0DB2DC-4C9A-4742-B13C-FB6460FD3503}" type="slidenum">
              <a:rPr lang="en-US" altLang="en-US" sz="1200" b="0" i="0" u="none" dirty="0"/>
            </a:fld>
            <a:endParaRPr lang="en-US" altLang="en-US" sz="1200" b="0" i="0" u="none" dirty="0"/>
          </a:p>
        </p:txBody>
      </p:sp>
      <p:sp>
        <p:nvSpPr>
          <p:cNvPr id="27651" name="Rectangle 2"/>
          <p:cNvSpPr>
            <a:spLocks noGrp="1" noRot="1" noChangeAspect="1" noTextEdit="1"/>
          </p:cNvSpPr>
          <p:nvPr>
            <p:ph type="sldImg"/>
          </p:nvPr>
        </p:nvSpPr>
        <p:spPr>
          <a:xfrm>
            <a:off x="854075" y="744538"/>
            <a:ext cx="4962525" cy="3722687"/>
          </a:xfrm>
        </p:spPr>
      </p:sp>
      <p:sp>
        <p:nvSpPr>
          <p:cNvPr id="27652" name="Rectangle 3"/>
          <p:cNvSpPr>
            <a:spLocks noGrp="1"/>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8" name="Group 3"/>
            <p:cNvGrpSpPr/>
            <p:nvPr/>
          </p:nvGrpSpPr>
          <p:grpSpPr>
            <a:xfrm>
              <a:off x="185" y="1604"/>
              <a:ext cx="449" cy="299"/>
              <a:chOff x="720" y="336"/>
              <a:chExt cx="624" cy="432"/>
            </a:xfrm>
          </p:grpSpPr>
          <p:sp>
            <p:nvSpPr>
              <p:cNvPr id="2065" name="Rectangle 4"/>
              <p:cNvSpPr/>
              <p:nvPr/>
            </p:nvSpPr>
            <p:spPr>
              <a:xfrm>
                <a:off x="720" y="336"/>
                <a:ext cx="384" cy="432"/>
              </a:xfrm>
              <a:prstGeom prst="rect">
                <a:avLst/>
              </a:prstGeom>
              <a:solidFill>
                <a:schemeClr val="folHlink"/>
              </a:solidFill>
              <a:ln w="9525">
                <a:noFill/>
              </a:ln>
            </p:spPr>
            <p:txBody>
              <a:bodyPr wrap="none" anchor="ctr" anchorCtr="0"/>
              <a:p>
                <a:pPr lvl="0" algn="ctr"/>
                <a:endParaRPr lang="zh-CN" altLang="en-US" dirty="0">
                  <a:latin typeface="Times New Roman" panose="02020503050405090304" pitchFamily="18" charset="0"/>
                </a:endParaRPr>
              </a:p>
            </p:txBody>
          </p:sp>
          <p:sp>
            <p:nvSpPr>
              <p:cNvPr id="2066" name="Rectangle 5"/>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a:endParaRPr lang="zh-CN" altLang="en-US" dirty="0">
                  <a:latin typeface="Times New Roman" panose="02020503050405090304" pitchFamily="18" charset="0"/>
                </a:endParaRPr>
              </a:p>
            </p:txBody>
          </p:sp>
        </p:grpSp>
        <p:grpSp>
          <p:nvGrpSpPr>
            <p:cNvPr id="2059" name="Group 6"/>
            <p:cNvGrpSpPr/>
            <p:nvPr/>
          </p:nvGrpSpPr>
          <p:grpSpPr>
            <a:xfrm>
              <a:off x="263" y="1870"/>
              <a:ext cx="466" cy="299"/>
              <a:chOff x="912" y="2640"/>
              <a:chExt cx="672" cy="432"/>
            </a:xfrm>
          </p:grpSpPr>
          <p:sp>
            <p:nvSpPr>
              <p:cNvPr id="2063" name="Rectangle 7"/>
              <p:cNvSpPr/>
              <p:nvPr/>
            </p:nvSpPr>
            <p:spPr>
              <a:xfrm>
                <a:off x="912" y="2640"/>
                <a:ext cx="384" cy="432"/>
              </a:xfrm>
              <a:prstGeom prst="rect">
                <a:avLst/>
              </a:prstGeom>
              <a:solidFill>
                <a:schemeClr val="accent2"/>
              </a:solidFill>
              <a:ln w="9525">
                <a:noFill/>
              </a:ln>
            </p:spPr>
            <p:txBody>
              <a:bodyPr wrap="none" anchor="ctr" anchorCtr="0"/>
              <a:p>
                <a:pPr lvl="0" algn="ctr"/>
                <a:endParaRPr lang="zh-CN" altLang="en-US" dirty="0">
                  <a:latin typeface="Times New Roman" panose="02020503050405090304" pitchFamily="18" charset="0"/>
                </a:endParaRPr>
              </a:p>
            </p:txBody>
          </p:sp>
          <p:sp>
            <p:nvSpPr>
              <p:cNvPr id="2064" name="Rectangle 8"/>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a:endParaRPr lang="zh-CN" altLang="en-US" dirty="0">
                  <a:latin typeface="Times New Roman" panose="02020503050405090304" pitchFamily="18" charset="0"/>
                </a:endParaRPr>
              </a:p>
            </p:txBody>
          </p:sp>
        </p:grpSp>
        <p:sp>
          <p:nvSpPr>
            <p:cNvPr id="2060" name="Rectangle 9"/>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a:endParaRPr lang="zh-CN" altLang="en-US" dirty="0">
                <a:latin typeface="Times New Roman" panose="02020503050405090304" pitchFamily="18" charset="0"/>
              </a:endParaRPr>
            </a:p>
          </p:txBody>
        </p:sp>
        <p:sp>
          <p:nvSpPr>
            <p:cNvPr id="2061" name="Rectangle 10"/>
            <p:cNvSpPr/>
            <p:nvPr/>
          </p:nvSpPr>
          <p:spPr>
            <a:xfrm>
              <a:off x="400" y="1536"/>
              <a:ext cx="20" cy="663"/>
            </a:xfrm>
            <a:prstGeom prst="rect">
              <a:avLst/>
            </a:prstGeom>
            <a:solidFill>
              <a:schemeClr val="bg2"/>
            </a:solidFill>
            <a:ln w="9525">
              <a:noFill/>
            </a:ln>
          </p:spPr>
          <p:txBody>
            <a:bodyPr wrap="none" anchor="ctr" anchorCtr="0"/>
            <a:p>
              <a:pPr lvl="0" algn="ctr"/>
              <a:endParaRPr lang="zh-CN" altLang="en-US" dirty="0">
                <a:latin typeface="Times New Roman" panose="02020503050405090304" pitchFamily="18" charset="0"/>
              </a:endParaRPr>
            </a:p>
          </p:txBody>
        </p:sp>
        <p:sp>
          <p:nvSpPr>
            <p:cNvPr id="2062" name="Rectangle 11"/>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a:endParaRPr lang="zh-CN" altLang="en-US" dirty="0">
                <a:latin typeface="Times New Roman" panose="02020503050405090304" pitchFamily="18" charset="0"/>
              </a:endParaRPr>
            </a:p>
          </p:txBody>
        </p:sp>
      </p:grpSp>
      <p:sp>
        <p:nvSpPr>
          <p:cNvPr id="2052" name="Text Box 18"/>
          <p:cNvSpPr txBox="1"/>
          <p:nvPr userDrawn="1"/>
        </p:nvSpPr>
        <p:spPr>
          <a:xfrm>
            <a:off x="2509520" y="4581525"/>
            <a:ext cx="5694680" cy="1640205"/>
          </a:xfrm>
          <a:prstGeom prst="rect">
            <a:avLst/>
          </a:prstGeom>
          <a:noFill/>
          <a:ln w="9525">
            <a:noFill/>
          </a:ln>
        </p:spPr>
        <p:txBody>
          <a:bodyPr wrap="none">
            <a:spAutoFit/>
          </a:bodyPr>
          <a:p>
            <a:pPr lvl="0" algn="r" eaLnBrk="1" hangingPunct="1">
              <a:spcBef>
                <a:spcPct val="20000"/>
              </a:spcBef>
              <a:buClr>
                <a:schemeClr val="folHlink"/>
              </a:buClr>
              <a:buSzPct val="60000"/>
              <a:buFont typeface="Wingdings" panose="05000000000000000000" pitchFamily="2" charset="2"/>
            </a:pPr>
            <a:r>
              <a:rPr lang="en-US" altLang="zh-CN" b="0" i="0" u="none" dirty="0">
                <a:solidFill>
                  <a:schemeClr val="folHlink"/>
                </a:solidFill>
                <a:latin typeface="Copperplate Gothic Light" panose="020E0507020206020404" pitchFamily="34" charset="0"/>
              </a:rPr>
              <a:t>Yang Juan</a:t>
            </a:r>
            <a:endParaRPr lang="en-US" altLang="zh-CN" b="0" i="0" u="none" dirty="0">
              <a:solidFill>
                <a:schemeClr val="folHlink"/>
              </a:solidFill>
              <a:latin typeface="Copperplate Gothic Light" panose="020E0507020206020404" pitchFamily="34" charset="0"/>
            </a:endParaRPr>
          </a:p>
          <a:p>
            <a:pPr lvl="0" algn="r" eaLnBrk="1" hangingPunct="1">
              <a:spcBef>
                <a:spcPct val="20000"/>
              </a:spcBef>
              <a:buClr>
                <a:schemeClr val="folHlink"/>
              </a:buClr>
              <a:buSzPct val="60000"/>
              <a:buFont typeface="Wingdings" panose="05000000000000000000" pitchFamily="2" charset="2"/>
            </a:pPr>
            <a:r>
              <a:rPr lang="en-US" altLang="zh-CN" sz="1600" b="0" i="0" u="none" dirty="0">
                <a:solidFill>
                  <a:srgbClr val="009999"/>
                </a:solidFill>
                <a:latin typeface="Times New Roman" panose="02020503050405090304" pitchFamily="18" charset="0"/>
              </a:rPr>
              <a:t>yangjuan@bupt.edu.cn</a:t>
            </a:r>
            <a:endParaRPr lang="en-US" altLang="zh-CN" sz="1600" b="0" i="0" u="none" dirty="0">
              <a:solidFill>
                <a:srgbClr val="009999"/>
              </a:solidFill>
              <a:latin typeface="Times New Roman" panose="02020503050405090304" pitchFamily="18" charset="0"/>
            </a:endParaRPr>
          </a:p>
          <a:p>
            <a:pPr lvl="0" algn="r" eaLnBrk="1" hangingPunct="1">
              <a:spcBef>
                <a:spcPct val="20000"/>
              </a:spcBef>
              <a:buClr>
                <a:schemeClr val="folHlink"/>
              </a:buClr>
              <a:buSzPct val="60000"/>
              <a:buFont typeface="Wingdings" panose="05000000000000000000" pitchFamily="2" charset="2"/>
            </a:pPr>
            <a:endParaRPr lang="en-US" altLang="zh-CN" sz="1600" b="0" i="0" u="none" dirty="0">
              <a:solidFill>
                <a:srgbClr val="009999"/>
              </a:solidFill>
              <a:latin typeface="Tahoma" panose="020B0604030504040204" pitchFamily="34" charset="0"/>
            </a:endParaRPr>
          </a:p>
          <a:p>
            <a:pPr lvl="0" algn="r" eaLnBrk="1" hangingPunct="1">
              <a:spcBef>
                <a:spcPct val="20000"/>
              </a:spcBef>
              <a:buClr>
                <a:schemeClr val="folHlink"/>
              </a:buClr>
              <a:buSzPct val="60000"/>
              <a:buFont typeface="Wingdings" panose="05000000000000000000" pitchFamily="2" charset="2"/>
            </a:pPr>
            <a:r>
              <a:rPr lang="en-US" altLang="zh-CN" sz="1600" b="0" i="0" u="none" dirty="0">
                <a:solidFill>
                  <a:srgbClr val="009999"/>
                </a:solidFill>
                <a:latin typeface="Copperplate Gothic Light" panose="020E0507020206020404" pitchFamily="34" charset="0"/>
              </a:rPr>
              <a:t>School of Computer Science</a:t>
            </a:r>
            <a:endParaRPr lang="en-US" altLang="zh-CN" sz="1600" b="0" i="0" u="none" dirty="0">
              <a:solidFill>
                <a:srgbClr val="009999"/>
              </a:solidFill>
              <a:latin typeface="Copperplate Gothic Light" panose="020E0507020206020404" pitchFamily="34" charset="0"/>
            </a:endParaRPr>
          </a:p>
          <a:p>
            <a:pPr lvl="0" algn="r" eaLnBrk="1" hangingPunct="1">
              <a:spcBef>
                <a:spcPct val="20000"/>
              </a:spcBef>
              <a:buClr>
                <a:schemeClr val="folHlink"/>
              </a:buClr>
              <a:buSzPct val="60000"/>
              <a:buFont typeface="Wingdings" panose="05000000000000000000" pitchFamily="2" charset="2"/>
            </a:pPr>
            <a:r>
              <a:rPr lang="en-US" altLang="zh-CN" sz="1600" b="0" i="0" u="none" dirty="0">
                <a:solidFill>
                  <a:srgbClr val="009999"/>
                </a:solidFill>
                <a:latin typeface="Copperplate Gothic Light" panose="020E0507020206020404" pitchFamily="34" charset="0"/>
              </a:rPr>
              <a:t>Beijing University of Posts &amp; Telecommunications</a:t>
            </a:r>
            <a:endParaRPr lang="zh-CN" altLang="en-US" sz="1600" b="0" i="0" u="none" dirty="0">
              <a:latin typeface="Times New Roman" panose="02020503050405090304" pitchFamily="18" charset="0"/>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endParaRPr lang="zh-CN" altLang="en-US" noProof="1"/>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4D95B50-CB27-4BF4-A207-5A5D4C2E89D6}" type="datetime1">
              <a:rPr kumimoji="0" lang="zh-CN" altLang="en-US" sz="1400" b="0" i="0" u="none" strike="noStrike" kern="1200" cap="none" spc="0" normalizeH="0" baseline="0" noProof="1">
                <a:ln>
                  <a:noFill/>
                </a:ln>
                <a:solidFill>
                  <a:schemeClr val="bg2"/>
                </a:solidFill>
                <a:effectLst/>
                <a:uLnTx/>
                <a:uFillTx/>
                <a:latin typeface="+mn-lt"/>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mn-lt"/>
              <a:ea typeface="宋体" pitchFamily="2" charset="-122"/>
              <a:cs typeface="+mn-cs"/>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1">
              <a:ln>
                <a:noFill/>
              </a:ln>
              <a:solidFill>
                <a:schemeClr val="bg2"/>
              </a:solidFill>
              <a:effectLst/>
              <a:uLnTx/>
              <a:uFillTx/>
              <a:latin typeface="+mn-lt"/>
              <a:ea typeface="宋体" pitchFamily="2" charset="-122"/>
              <a:cs typeface="+mn-cs"/>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E5CAF8D-7D2B-4935-8F72-A26527D1FE88}" type="slidenum">
              <a:rPr kumimoji="0" lang="zh-CN" altLang="en-US"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Tahoma" panose="020B060403050404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9" name="页脚占位符 8"/>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页脚占位符 4"/>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4" name="页脚占位符 3"/>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7" name="页脚占位符 6"/>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6" name="页脚占位符 5"/>
          <p:cNvSpPr>
            <a:spLocks noGrp="1"/>
          </p:cNvSpPr>
          <p:nvPr>
            <p:ph type="ftr" sz="quarter" idx="12"/>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8" descr="attach"/>
          <p:cNvPicPr>
            <a:picLocks noChangeAspect="1"/>
          </p:cNvPicPr>
          <p:nvPr userDrawn="1"/>
        </p:nvPicPr>
        <p:blipFill>
          <a:blip r:embed="rId12"/>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u="none" noProof="1">
                <a:solidFill>
                  <a:srgbClr val="009999"/>
                </a:solidFill>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723FC9E-730A-477B-A901-F802780B7719}" type="slidenum">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028" name="Rectangle 2"/>
          <p:cNvSpPr/>
          <p:nvPr/>
        </p:nvSpPr>
        <p:spPr>
          <a:xfrm>
            <a:off x="417513" y="452755"/>
            <a:ext cx="438150" cy="474663"/>
          </a:xfrm>
          <a:prstGeom prst="rect">
            <a:avLst/>
          </a:prstGeom>
          <a:solidFill>
            <a:schemeClr val="accent2"/>
          </a:soli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29" name="Rectangle 3"/>
          <p:cNvSpPr/>
          <p:nvPr/>
        </p:nvSpPr>
        <p:spPr>
          <a:xfrm>
            <a:off x="800100" y="452755"/>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0" name="Rectangle 4"/>
          <p:cNvSpPr/>
          <p:nvPr/>
        </p:nvSpPr>
        <p:spPr>
          <a:xfrm>
            <a:off x="541338" y="875030"/>
            <a:ext cx="422275" cy="474663"/>
          </a:xfrm>
          <a:prstGeom prst="rect">
            <a:avLst/>
          </a:prstGeom>
          <a:solidFill>
            <a:schemeClr val="folHlink"/>
          </a:soli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1" name="Rectangle 5"/>
          <p:cNvSpPr/>
          <p:nvPr/>
        </p:nvSpPr>
        <p:spPr>
          <a:xfrm>
            <a:off x="911225" y="875030"/>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2" name="Rectangle 6"/>
          <p:cNvSpPr/>
          <p:nvPr/>
        </p:nvSpPr>
        <p:spPr>
          <a:xfrm>
            <a:off x="127000" y="802005"/>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3" name="Rectangle 7"/>
          <p:cNvSpPr/>
          <p:nvPr/>
        </p:nvSpPr>
        <p:spPr>
          <a:xfrm>
            <a:off x="762000" y="344805"/>
            <a:ext cx="31750" cy="1052513"/>
          </a:xfrm>
          <a:prstGeom prst="rect">
            <a:avLst/>
          </a:prstGeom>
          <a:solidFill>
            <a:schemeClr val="bg2"/>
          </a:soli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4" name="Rectangle 8"/>
          <p:cNvSpPr/>
          <p:nvPr/>
        </p:nvSpPr>
        <p:spPr>
          <a:xfrm>
            <a:off x="442913" y="113538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1" hangingPunct="1"/>
            <a:endParaRPr lang="zh-CN" altLang="en-US" b="0" i="0" u="none" dirty="0">
              <a:latin typeface="Tahoma" panose="020B0604030504040204" pitchFamily="34" charset="0"/>
            </a:endParaRPr>
          </a:p>
        </p:txBody>
      </p:sp>
      <p:sp>
        <p:nvSpPr>
          <p:cNvPr id="1035" name="Rectangle 9"/>
          <p:cNvSpPr>
            <a:spLocks noGrp="1"/>
          </p:cNvSpPr>
          <p:nvPr>
            <p:ph type="title"/>
          </p:nvPr>
        </p:nvSpPr>
        <p:spPr>
          <a:xfrm>
            <a:off x="1241425" y="266700"/>
            <a:ext cx="7702550" cy="84836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6" name="Rectangle 10"/>
          <p:cNvSpPr>
            <a:spLocks noGrp="1"/>
          </p:cNvSpPr>
          <p:nvPr>
            <p:ph type="body"/>
          </p:nvPr>
        </p:nvSpPr>
        <p:spPr>
          <a:xfrm>
            <a:off x="868045" y="1224280"/>
            <a:ext cx="8063865" cy="510032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000" u="none" noProof="1">
                <a:solidFill>
                  <a:srgbClr val="009999"/>
                </a:solidFill>
                <a:latin typeface="Arial Narrow" panose="020B0606020202030204" pitchFamily="34"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066783E-6801-4FC9-8C14-57749DD63E91}" type="datetime1">
              <a:rPr kumimoji="0" lang="zh-CN" altLang="en-US"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fld>
            <a:endParaRPr kumimoji="0" lang="en-US" altLang="zh-CN" sz="10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
        <p:nvSpPr>
          <p:cNvPr id="152591" name="Rectangle 15"/>
          <p:cNvSpPr>
            <a:spLocks noGrp="1" noChangeArrowheads="1"/>
          </p:cNvSpPr>
          <p:nvPr>
            <p:ph type="ftr" sz="quarter" idx="3"/>
          </p:nvPr>
        </p:nvSpPr>
        <p:spPr bwMode="auto">
          <a:xfrm>
            <a:off x="1447800" y="6400800"/>
            <a:ext cx="629285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defRPr sz="1200" u="none" noProof="1" dirty="0">
                <a:solidFill>
                  <a:srgbClr val="009999"/>
                </a:solidFill>
                <a:latin typeface="Arial Narrow" panose="020B0606020202030204" pitchFamily="34" charset="0"/>
                <a:ea typeface="宋体" pitchFamily="2" charset="-122"/>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5.xml"/><Relationship Id="rId2" Type="http://schemas.openxmlformats.org/officeDocument/2006/relationships/image" Target="../media/image5.png"/><Relationship Id="rId1" Type="http://schemas.openxmlformats.org/officeDocument/2006/relationships/tags" Target="../tags/tag4.xml"/></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png"/><Relationship Id="rId7" Type="http://schemas.openxmlformats.org/officeDocument/2006/relationships/tags" Target="../tags/tag9.xml"/><Relationship Id="rId6" Type="http://schemas.openxmlformats.org/officeDocument/2006/relationships/image" Target="../media/image8.png"/><Relationship Id="rId5" Type="http://schemas.openxmlformats.org/officeDocument/2006/relationships/tags" Target="../tags/tag8.xml"/><Relationship Id="rId4" Type="http://schemas.openxmlformats.org/officeDocument/2006/relationships/image" Target="../media/image7.png"/><Relationship Id="rId3" Type="http://schemas.openxmlformats.org/officeDocument/2006/relationships/tags" Target="../tags/tag7.xml"/><Relationship Id="rId2" Type="http://schemas.openxmlformats.org/officeDocument/2006/relationships/image" Target="../media/image6.png"/><Relationship Id="rId1" Type="http://schemas.openxmlformats.org/officeDocument/2006/relationships/tags" Target="../tags/tag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noChangeArrowheads="1"/>
          </p:cNvSpPr>
          <p:nvPr>
            <p:ph type="ctrTitle"/>
          </p:nvPr>
        </p:nvSpPr>
        <p:spPr/>
        <p:txBody>
          <a:bodyPr/>
          <a:p>
            <a:r>
              <a:rPr lang="en-US" altLang="zh-CN" dirty="0">
                <a:sym typeface="+mn-ea"/>
              </a:rPr>
              <a:t>Rules of Inference</a:t>
            </a:r>
            <a:endParaRPr lang="zh-CN" altLang="en-US"/>
          </a:p>
        </p:txBody>
      </p:sp>
      <p:sp>
        <p:nvSpPr>
          <p:cNvPr id="3" name="副标题 2"/>
          <p:cNvSpPr>
            <a:spLocks noGrp="1" noChangeArrowheads="1"/>
          </p:cNvSpPr>
          <p:nvPr>
            <p:ph type="subTitle" idx="1"/>
          </p:nvPr>
        </p:nvSpPr>
        <p:spPr/>
        <p:txBody>
          <a:bodyPr/>
          <a:p>
            <a:endParaRPr lang="zh-CN" altLang="en-US"/>
          </a:p>
        </p:txBody>
      </p:sp>
      <p:sp>
        <p:nvSpPr>
          <p:cNvPr id="4" name="日期占位符 3"/>
          <p:cNvSpPr>
            <a:spLocks noGrp="1"/>
          </p:cNvSpPr>
          <p:nvPr>
            <p:ph type="dt" sz="half" idx="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4D95B50-CB27-4BF4-A207-5A5D4C2E89D6}" type="datetime1">
              <a:rPr kumimoji="0" lang="zh-CN" altLang="en-US" sz="1400" b="0" i="0" u="none" strike="noStrike" kern="1200" cap="none" spc="0" normalizeH="0" baseline="0" noProof="1">
                <a:ln>
                  <a:noFill/>
                </a:ln>
                <a:solidFill>
                  <a:schemeClr val="bg2"/>
                </a:solidFill>
                <a:effectLst/>
                <a:uLnTx/>
                <a:uFillTx/>
                <a:latin typeface="+mn-lt"/>
                <a:ea typeface="宋体" pitchFamily="2" charset="-122"/>
                <a:cs typeface="+mn-cs"/>
              </a:rPr>
            </a:fld>
            <a:endParaRPr kumimoji="0" lang="en-US" altLang="zh-CN" sz="1400" b="0" i="0" u="none" strike="noStrike" kern="1200" cap="none" spc="0" normalizeH="0" baseline="0" noProof="1">
              <a:ln>
                <a:noFill/>
              </a:ln>
              <a:solidFill>
                <a:schemeClr val="bg2"/>
              </a:solidFill>
              <a:effectLst/>
              <a:uLnTx/>
              <a:uFillTx/>
              <a:latin typeface="+mn-lt"/>
              <a:ea typeface="宋体"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3"/>
          <p:cNvSpPr txBox="1">
            <a:spLocks noGrp="1"/>
          </p:cNvSpPr>
          <p:nvPr>
            <p:ph type="sldNum" sz="quarter" idx="10"/>
          </p:nvPr>
        </p:nvSpPr>
        <p:spPr/>
        <p:txBody>
          <a:bodyPr anchor="b" anchorCtr="0"/>
          <a:p>
            <a:pPr marL="0" indent="0" algn="r" eaLnBrk="1" hangingPunct="1">
              <a:spcBef>
                <a:spcPct val="0"/>
              </a:spcBef>
              <a:buClrTx/>
              <a:buSzTx/>
              <a:buFontTx/>
              <a:buNone/>
            </a:pPr>
            <a:fld id="{9A0DB2DC-4C9A-4742-B13C-FB6460FD3503}" type="slidenum">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147" name="日期占位符 4"/>
          <p:cNvSpPr txBox="1">
            <a:spLocks noGrp="1"/>
          </p:cNvSpPr>
          <p:nvPr>
            <p:ph type="dt" sz="half" idx="11"/>
          </p:nvPr>
        </p:nvSpPr>
        <p:spPr/>
        <p:txBody>
          <a:bodyPr anchor="b" anchorCtr="0"/>
          <a:p>
            <a:pPr marL="0" indent="0" eaLnBrk="1" hangingPunct="1">
              <a:spcBef>
                <a:spcPct val="0"/>
              </a:spcBef>
              <a:buClrTx/>
              <a:buSzTx/>
              <a:buFontTx/>
              <a:buNone/>
            </a:pPr>
            <a:fld id="{BB962C8B-B14F-4D97-AF65-F5344CB8AC3E}" type="datetime1">
              <a:rPr lang="en-US" altLang="en-US" sz="1000" b="1" i="1" dirty="0">
                <a:solidFill>
                  <a:srgbClr val="009999"/>
                </a:solidFill>
                <a:latin typeface="Arial Narrow" panose="020B0606020202030204" pitchFamily="34" charset="0"/>
              </a:rPr>
            </a:fld>
            <a:endParaRPr lang="en-US" altLang="en-US" sz="1000" b="1" i="1" dirty="0">
              <a:solidFill>
                <a:srgbClr val="009999"/>
              </a:solidFill>
              <a:latin typeface="Arial Narrow" panose="020B0606020202030204" pitchFamily="34" charset="0"/>
            </a:endParaRPr>
          </a:p>
        </p:txBody>
      </p:sp>
      <p:sp>
        <p:nvSpPr>
          <p:cNvPr id="6148" name="页脚占位符 5"/>
          <p:cNvSpPr txBox="1">
            <a:spLocks noGrp="1"/>
          </p:cNvSpPr>
          <p:nvPr>
            <p:ph type="ftr" sz="quarter" idx="12"/>
          </p:nvPr>
        </p:nvSpPr>
        <p:spPr/>
        <p:txBody>
          <a:bodyPr anchor="b" anchorCtr="0"/>
          <a:p>
            <a:pPr marL="0" indent="0" algn="ctr" eaLnBrk="1" hangingPunct="1">
              <a:lnSpc>
                <a:spcPct val="110000"/>
              </a:lnSpc>
              <a:spcBef>
                <a:spcPct val="0"/>
              </a:spcBef>
              <a:buClrTx/>
              <a:buSzTx/>
              <a:buFontTx/>
              <a:buNone/>
            </a:pPr>
            <a:r>
              <a:rPr lang="en-US" altLang="zh-CN" sz="1200" b="1" i="1" dirty="0">
                <a:solidFill>
                  <a:srgbClr val="009999"/>
                </a:solidFill>
                <a:latin typeface="Arial Narrow" panose="020B0606020202030204" pitchFamily="34" charset="0"/>
              </a:rPr>
              <a:t>School of Computer Science, BUPT</a:t>
            </a:r>
            <a:endParaRPr lang="en-US" altLang="en-US" sz="1200" b="1" i="1" dirty="0">
              <a:solidFill>
                <a:srgbClr val="009999"/>
              </a:solidFill>
              <a:latin typeface="Arial Narrow" panose="020B0606020202030204" pitchFamily="34" charset="0"/>
            </a:endParaRPr>
          </a:p>
        </p:txBody>
      </p:sp>
      <p:sp>
        <p:nvSpPr>
          <p:cNvPr id="6149" name="Rectangle 2"/>
          <p:cNvSpPr>
            <a:spLocks noGrp="1"/>
          </p:cNvSpPr>
          <p:nvPr>
            <p:ph type="title"/>
          </p:nvPr>
        </p:nvSpPr>
        <p:spPr>
          <a:xfrm>
            <a:off x="1043623" y="476885"/>
            <a:ext cx="7793037" cy="638175"/>
          </a:xfrm>
        </p:spPr>
        <p:txBody>
          <a:bodyPr vert="horz" wrap="square" lIns="91440" tIns="45720" rIns="91440" bIns="45720" anchor="b" anchorCtr="0"/>
          <a:p>
            <a:pPr eaLnBrk="1" hangingPunct="1"/>
            <a:r>
              <a:rPr lang="en-US" altLang="zh-CN" dirty="0">
                <a:latin typeface="Copperplate Gothic Bold" panose="020E0705020206020404" pitchFamily="34" charset="0"/>
              </a:rPr>
              <a:t>Outline</a:t>
            </a:r>
            <a:endParaRPr lang="zh-CN" altLang="en-US" dirty="0">
              <a:latin typeface="Copperplate Gothic Bold" panose="020E0705020206020404" pitchFamily="34" charset="0"/>
            </a:endParaRPr>
          </a:p>
        </p:txBody>
      </p:sp>
      <p:sp>
        <p:nvSpPr>
          <p:cNvPr id="6150" name="Rectangle 3"/>
          <p:cNvSpPr>
            <a:spLocks noGrp="1"/>
          </p:cNvSpPr>
          <p:nvPr>
            <p:ph idx="1"/>
          </p:nvPr>
        </p:nvSpPr>
        <p:spPr>
          <a:xfrm>
            <a:off x="611823" y="1340803"/>
            <a:ext cx="8304212" cy="4773612"/>
          </a:xfrm>
        </p:spPr>
        <p:txBody>
          <a:bodyPr vert="horz" wrap="square" lIns="91440" tIns="45720" rIns="91440" bIns="45720" anchor="t" anchorCtr="0"/>
          <a:p>
            <a:pPr algn="just" eaLnBrk="1" hangingPunct="1">
              <a:spcAft>
                <a:spcPts val="600"/>
              </a:spcAft>
            </a:pPr>
            <a:r>
              <a:rPr lang="en-US" altLang="zh-CN" sz="2800" dirty="0">
                <a:latin typeface="Times New Roman" panose="02020503050405090304" pitchFamily="18" charset="0"/>
                <a:cs typeface="Times New Roman" panose="02020503050405090304" pitchFamily="18" charset="0"/>
              </a:rPr>
              <a:t>What is rule of inference</a:t>
            </a:r>
            <a:endParaRPr lang="en-US" altLang="zh-CN" sz="2800" dirty="0">
              <a:latin typeface="Times New Roman" panose="02020503050405090304" pitchFamily="18" charset="0"/>
              <a:cs typeface="Times New Roman" panose="02020503050405090304" pitchFamily="18" charset="0"/>
            </a:endParaRPr>
          </a:p>
          <a:p>
            <a:pPr algn="just" eaLnBrk="1" hangingPunct="1">
              <a:spcAft>
                <a:spcPts val="600"/>
              </a:spcAft>
            </a:pPr>
            <a:r>
              <a:rPr lang="en-US" altLang="zh-CN" sz="2800" dirty="0">
                <a:latin typeface="Times New Roman" panose="02020503050405090304" pitchFamily="18" charset="0"/>
                <a:cs typeface="Times New Roman" panose="02020503050405090304" pitchFamily="18" charset="0"/>
              </a:rPr>
              <a:t>Rules of inference for Propositional Logic</a:t>
            </a:r>
            <a:endParaRPr lang="en-US" altLang="zh-CN" sz="2800" dirty="0">
              <a:latin typeface="Times New Roman" panose="02020503050405090304" pitchFamily="18" charset="0"/>
              <a:cs typeface="Times New Roman" panose="02020503050405090304" pitchFamily="18" charset="0"/>
            </a:endParaRPr>
          </a:p>
          <a:p>
            <a:pPr algn="just" eaLnBrk="1" hangingPunct="1">
              <a:spcAft>
                <a:spcPts val="600"/>
              </a:spcAft>
            </a:pPr>
            <a:r>
              <a:rPr lang="en-US" altLang="zh-CN" sz="2800" dirty="0">
                <a:latin typeface="Times New Roman" panose="02020503050405090304" pitchFamily="18" charset="0"/>
                <a:cs typeface="Times New Roman" panose="02020503050405090304" pitchFamily="18" charset="0"/>
              </a:rPr>
              <a:t>Rules of inference for First-order Predicate Logic</a:t>
            </a:r>
            <a:endParaRPr lang="en-US" altLang="zh-CN" sz="2800" dirty="0">
              <a:latin typeface="Times New Roman" panose="02020503050405090304" pitchFamily="18" charset="0"/>
              <a:cs typeface="Times New Roman" panose="02020503050405090304" pitchFamily="18" charset="0"/>
            </a:endParaRPr>
          </a:p>
          <a:p>
            <a:pPr algn="just" eaLnBrk="1" hangingPunct="1">
              <a:spcAft>
                <a:spcPts val="600"/>
              </a:spcAft>
            </a:pPr>
            <a:r>
              <a:rPr lang="en-US" altLang="zh-CN" sz="2800" dirty="0">
                <a:latin typeface="Times New Roman" panose="02020503050405090304" pitchFamily="18" charset="0"/>
                <a:cs typeface="Times New Roman" panose="02020503050405090304" pitchFamily="18" charset="0"/>
              </a:rPr>
              <a:t>Using Rules of Inference</a:t>
            </a:r>
            <a:endParaRPr lang="zh-CN" altLang="en-US" sz="2800"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512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512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5125" name="Rectangle 2"/>
          <p:cNvSpPr>
            <a:spLocks noGrp="1"/>
          </p:cNvSpPr>
          <p:nvPr>
            <p:ph type="title"/>
          </p:nvPr>
        </p:nvSpPr>
        <p:spPr>
          <a:xfrm>
            <a:off x="899478" y="43498"/>
            <a:ext cx="7793037" cy="1143000"/>
          </a:xfrm>
        </p:spPr>
        <p:txBody>
          <a:bodyPr vert="horz" wrap="square" lIns="91440" tIns="45720" rIns="91440" bIns="45720" anchor="b" anchorCtr="0"/>
          <a:p>
            <a:pPr eaLnBrk="1" hangingPunct="1"/>
            <a:r>
              <a:rPr lang="zh-CN" altLang="en-US" dirty="0"/>
              <a:t>命题逻辑的推理</a:t>
            </a:r>
            <a:endParaRPr lang="zh-CN" altLang="en-US" dirty="0"/>
          </a:p>
        </p:txBody>
      </p:sp>
      <p:sp>
        <p:nvSpPr>
          <p:cNvPr id="5126" name="Rectangle 3"/>
          <p:cNvSpPr>
            <a:spLocks noGrp="1"/>
          </p:cNvSpPr>
          <p:nvPr>
            <p:ph idx="1"/>
          </p:nvPr>
        </p:nvSpPr>
        <p:spPr>
          <a:xfrm>
            <a:off x="755650" y="1412875"/>
            <a:ext cx="8016875" cy="4114800"/>
          </a:xfrm>
        </p:spPr>
        <p:txBody>
          <a:bodyPr vert="horz" wrap="square" lIns="91440" tIns="45720" rIns="91440" bIns="45720" anchor="t" anchorCtr="0"/>
          <a:p>
            <a:pPr algn="just" eaLnBrk="1" hangingPunct="1"/>
            <a:r>
              <a:rPr lang="zh-CN" altLang="en-US" dirty="0"/>
              <a:t>数理逻辑的主要任务是提供一套推理规则。从给定的前提出发，推导出一个结论来。</a:t>
            </a:r>
            <a:endParaRPr lang="zh-CN" altLang="en-US" dirty="0"/>
          </a:p>
          <a:p>
            <a:pPr algn="just" eaLnBrk="1" hangingPunct="1"/>
            <a:r>
              <a:rPr lang="zh-CN" altLang="en-US" dirty="0"/>
              <a:t>前提是一些已知的命题公式</a:t>
            </a:r>
            <a:endParaRPr lang="zh-CN" altLang="en-US" dirty="0"/>
          </a:p>
          <a:p>
            <a:pPr algn="just" eaLnBrk="1" hangingPunct="1"/>
            <a:r>
              <a:rPr lang="zh-CN" altLang="en-US" dirty="0"/>
              <a:t>结论是从前提出发，应用推理规则推出的命题公式。</a:t>
            </a:r>
            <a:endParaRPr lang="zh-CN" altLang="en-US" dirty="0"/>
          </a:p>
          <a:p>
            <a:pPr eaLnBrk="1" hangingPunct="1"/>
            <a:r>
              <a:rPr lang="zh-CN" altLang="en-US" dirty="0">
                <a:latin typeface="宋体" pitchFamily="2" charset="-122"/>
              </a:rPr>
              <a:t>而这推理过程称为演绎或形式证明。</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614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614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6149" name="Rectangle 2"/>
          <p:cNvSpPr>
            <a:spLocks noGrp="1"/>
          </p:cNvSpPr>
          <p:nvPr>
            <p:ph type="title"/>
          </p:nvPr>
        </p:nvSpPr>
        <p:spPr/>
        <p:txBody>
          <a:bodyPr vert="horz" wrap="square" lIns="91440" tIns="45720" rIns="91440" bIns="45720" anchor="b" anchorCtr="0"/>
          <a:p>
            <a:pPr eaLnBrk="1" hangingPunct="1"/>
            <a:r>
              <a:rPr lang="zh-CN" altLang="en-US" dirty="0">
                <a:latin typeface="宋体" pitchFamily="2" charset="-122"/>
              </a:rPr>
              <a:t>关于重言蕴含</a:t>
            </a:r>
            <a:r>
              <a:rPr lang="en-US" altLang="zh-CN" sz="3200" dirty="0">
                <a:solidFill>
                  <a:schemeClr val="tx1"/>
                </a:solidFill>
                <a:latin typeface="Tahoma" panose="020B0604030504040204" pitchFamily="34" charset="0"/>
                <a:sym typeface="Symbol" panose="05050102010706020507" pitchFamily="18" charset="2"/>
              </a:rPr>
              <a:t></a:t>
            </a:r>
            <a:r>
              <a:rPr lang="zh-CN" altLang="en-US" dirty="0"/>
              <a:t> </a:t>
            </a:r>
            <a:endParaRPr lang="zh-CN" altLang="en-US" dirty="0"/>
          </a:p>
        </p:txBody>
      </p:sp>
      <p:sp>
        <p:nvSpPr>
          <p:cNvPr id="6150" name="Rectangle 3"/>
          <p:cNvSpPr>
            <a:spLocks noGrp="1"/>
          </p:cNvSpPr>
          <p:nvPr>
            <p:ph idx="1"/>
          </p:nvPr>
        </p:nvSpPr>
        <p:spPr>
          <a:xfrm>
            <a:off x="888683" y="1340168"/>
            <a:ext cx="8054975" cy="4114800"/>
          </a:xfrm>
        </p:spPr>
        <p:txBody>
          <a:bodyPr vert="horz" wrap="square" lIns="91440" tIns="45720" rIns="91440" bIns="45720" anchor="t" anchorCtr="0"/>
          <a:p>
            <a:pPr algn="just" eaLnBrk="1" hangingPunct="1">
              <a:lnSpc>
                <a:spcPct val="90000"/>
              </a:lnSpc>
            </a:pPr>
            <a:r>
              <a:rPr lang="zh-CN" altLang="en-US" sz="2800" b="1" dirty="0"/>
              <a:t>定义</a:t>
            </a:r>
            <a:r>
              <a:rPr lang="zh-CN" altLang="en-US" sz="2800" dirty="0"/>
              <a:t>：</a:t>
            </a:r>
            <a:endParaRPr lang="zh-CN" altLang="en-US" sz="2800" dirty="0"/>
          </a:p>
          <a:p>
            <a:pPr lvl="1" algn="just" eaLnBrk="1" hangingPunct="1">
              <a:lnSpc>
                <a:spcPct val="90000"/>
              </a:lnSpc>
            </a:pPr>
            <a:r>
              <a:rPr lang="en-US" altLang="zh-CN" sz="2400" dirty="0"/>
              <a:t>A、C</a:t>
            </a:r>
            <a:r>
              <a:rPr lang="zh-CN" altLang="en-US" sz="2400" dirty="0"/>
              <a:t>是两个公式，如果</a:t>
            </a:r>
            <a:r>
              <a:rPr lang="en-US" altLang="zh-CN" sz="2400" dirty="0"/>
              <a:t>A→C</a:t>
            </a:r>
            <a:r>
              <a:rPr lang="zh-CN" altLang="en-US" sz="2400" dirty="0"/>
              <a:t>是</a:t>
            </a:r>
            <a:r>
              <a:rPr lang="zh-CN" altLang="en-US" sz="2400" dirty="0">
                <a:solidFill>
                  <a:srgbClr val="FF0000"/>
                </a:solidFill>
              </a:rPr>
              <a:t>重言式</a:t>
            </a:r>
            <a:r>
              <a:rPr lang="zh-CN" altLang="en-US" sz="2400" dirty="0"/>
              <a:t>则称</a:t>
            </a:r>
            <a:r>
              <a:rPr lang="en-US" altLang="zh-CN" sz="2400" dirty="0"/>
              <a:t>A</a:t>
            </a:r>
            <a:r>
              <a:rPr lang="zh-CN" altLang="en-US" sz="2400" dirty="0"/>
              <a:t>重言蕴含</a:t>
            </a:r>
            <a:r>
              <a:rPr lang="en-US" altLang="zh-CN" sz="2400" dirty="0"/>
              <a:t>C，</a:t>
            </a:r>
            <a:r>
              <a:rPr lang="zh-CN" altLang="en-US" sz="2400" dirty="0"/>
              <a:t>或称</a:t>
            </a:r>
            <a:r>
              <a:rPr lang="en-US" altLang="zh-CN" sz="2400" dirty="0"/>
              <a:t>A</a:t>
            </a:r>
            <a:r>
              <a:rPr lang="zh-CN" altLang="en-US" sz="2400" dirty="0"/>
              <a:t>能逻辑地推出 </a:t>
            </a:r>
            <a:r>
              <a:rPr lang="en-US" altLang="zh-CN" sz="2400" dirty="0"/>
              <a:t>C </a:t>
            </a:r>
            <a:r>
              <a:rPr lang="zh-CN" altLang="en-US" sz="2400" dirty="0">
                <a:latin typeface="Times New Roman" panose="02020503050405090304" pitchFamily="18" charset="0"/>
              </a:rPr>
              <a:t>记作</a:t>
            </a:r>
            <a:r>
              <a:rPr lang="en-US" altLang="zh-CN" sz="2400" dirty="0"/>
              <a:t>A </a:t>
            </a:r>
            <a:r>
              <a:rPr lang="en-US" altLang="zh-CN" sz="1600" dirty="0">
                <a:sym typeface="Symbol" panose="05050102010706020507" pitchFamily="18" charset="2"/>
              </a:rPr>
              <a:t></a:t>
            </a:r>
            <a:r>
              <a:rPr lang="en-US" altLang="zh-CN" sz="2400" dirty="0"/>
              <a:t> C</a:t>
            </a:r>
            <a:endParaRPr lang="en-US" altLang="zh-CN" sz="2400" dirty="0"/>
          </a:p>
          <a:p>
            <a:pPr algn="just" eaLnBrk="1" hangingPunct="1">
              <a:lnSpc>
                <a:spcPct val="90000"/>
              </a:lnSpc>
            </a:pPr>
            <a:r>
              <a:rPr lang="zh-CN" altLang="en-US" sz="2800" b="1" dirty="0"/>
              <a:t>说明</a:t>
            </a:r>
            <a:r>
              <a:rPr lang="zh-CN" altLang="en-US" sz="2800" dirty="0"/>
              <a:t>：</a:t>
            </a:r>
            <a:endParaRPr lang="zh-CN" altLang="en-US" sz="2800" dirty="0"/>
          </a:p>
          <a:p>
            <a:pPr lvl="1" algn="just" eaLnBrk="1" hangingPunct="1">
              <a:lnSpc>
                <a:spcPct val="90000"/>
              </a:lnSpc>
            </a:pPr>
            <a:r>
              <a:rPr lang="zh-CN" altLang="en-US" sz="2400" dirty="0"/>
              <a:t>→与</a:t>
            </a:r>
            <a:r>
              <a:rPr lang="en-US" altLang="zh-CN" sz="1600" dirty="0">
                <a:sym typeface="Symbol" panose="05050102010706020507" pitchFamily="18" charset="2"/>
              </a:rPr>
              <a:t></a:t>
            </a:r>
            <a:r>
              <a:rPr lang="zh-CN" altLang="en-US" sz="2400" dirty="0"/>
              <a:t>是有区别的，→是联结词，</a:t>
            </a:r>
            <a:r>
              <a:rPr lang="en-US" altLang="zh-CN" sz="2400" dirty="0"/>
              <a:t>A→C</a:t>
            </a:r>
            <a:r>
              <a:rPr lang="zh-CN" altLang="en-US" sz="2400" dirty="0"/>
              <a:t>仍然是公式，而</a:t>
            </a:r>
            <a:r>
              <a:rPr lang="en-US" altLang="zh-CN" sz="1600" dirty="0">
                <a:sym typeface="Symbol" panose="05050102010706020507" pitchFamily="18" charset="2"/>
              </a:rPr>
              <a:t></a:t>
            </a:r>
            <a:r>
              <a:rPr lang="zh-CN" altLang="en-US" sz="2400" dirty="0"/>
              <a:t>是公式关系符。</a:t>
            </a:r>
            <a:endParaRPr lang="zh-CN" altLang="en-US" sz="2400" dirty="0"/>
          </a:p>
          <a:p>
            <a:pPr lvl="1" algn="just" eaLnBrk="1" hangingPunct="1">
              <a:lnSpc>
                <a:spcPct val="90000"/>
              </a:lnSpc>
            </a:pPr>
            <a:r>
              <a:rPr lang="en-US" altLang="zh-CN" sz="1600" dirty="0">
                <a:sym typeface="Symbol" panose="05050102010706020507" pitchFamily="18" charset="2"/>
              </a:rPr>
              <a:t> </a:t>
            </a:r>
            <a:r>
              <a:rPr lang="zh-CN" altLang="en-US" sz="2400" dirty="0"/>
              <a:t>描述了两个公式的关系，只能说</a:t>
            </a:r>
            <a:r>
              <a:rPr lang="en-US" altLang="zh-CN" sz="2400" dirty="0"/>
              <a:t>A </a:t>
            </a:r>
            <a:r>
              <a:rPr lang="en-US" altLang="zh-CN" sz="1600" dirty="0">
                <a:sym typeface="Symbol" panose="05050102010706020507" pitchFamily="18" charset="2"/>
              </a:rPr>
              <a:t></a:t>
            </a:r>
            <a:r>
              <a:rPr lang="en-US" altLang="zh-CN" sz="2400" dirty="0"/>
              <a:t> C</a:t>
            </a:r>
            <a:r>
              <a:rPr lang="zh-CN" altLang="en-US" sz="2400" dirty="0"/>
              <a:t>式成立或不成立。</a:t>
            </a:r>
            <a:endParaRPr lang="zh-CN" altLang="en-US" sz="2400" dirty="0"/>
          </a:p>
          <a:p>
            <a:pPr lvl="1" algn="just" eaLnBrk="1" hangingPunct="1">
              <a:lnSpc>
                <a:spcPct val="90000"/>
              </a:lnSpc>
            </a:pPr>
            <a:r>
              <a:rPr lang="zh-CN" altLang="en-US" sz="2400" dirty="0"/>
              <a:t>公式</a:t>
            </a:r>
            <a:r>
              <a:rPr lang="en-US" altLang="zh-CN" sz="2400" dirty="0"/>
              <a:t>A→C，</a:t>
            </a:r>
            <a:r>
              <a:rPr lang="zh-CN" altLang="en-US" sz="2400" dirty="0"/>
              <a:t>当且仅当</a:t>
            </a:r>
            <a:r>
              <a:rPr lang="en-US" altLang="zh-CN" sz="2400" dirty="0"/>
              <a:t>A</a:t>
            </a:r>
            <a:r>
              <a:rPr lang="zh-CN" altLang="en-US" sz="2400" dirty="0"/>
              <a:t>真</a:t>
            </a:r>
            <a:r>
              <a:rPr lang="en-US" altLang="zh-CN" sz="2400" dirty="0"/>
              <a:t>C</a:t>
            </a:r>
            <a:r>
              <a:rPr lang="zh-CN" altLang="en-US" sz="2400" dirty="0"/>
              <a:t>假时才为假，因此</a:t>
            </a:r>
            <a:r>
              <a:rPr lang="en-US" altLang="zh-CN" sz="2400" dirty="0"/>
              <a:t>A </a:t>
            </a:r>
            <a:r>
              <a:rPr lang="en-US" altLang="zh-CN" sz="1600" dirty="0">
                <a:sym typeface="Symbol" panose="05050102010706020507" pitchFamily="18" charset="2"/>
              </a:rPr>
              <a:t></a:t>
            </a:r>
            <a:r>
              <a:rPr lang="en-US" altLang="zh-CN" sz="2400" dirty="0"/>
              <a:t> C</a:t>
            </a:r>
            <a:r>
              <a:rPr lang="zh-CN" altLang="en-US" sz="2400" dirty="0"/>
              <a:t>要成立的充要条件是对一切赋值如果使</a:t>
            </a:r>
            <a:r>
              <a:rPr lang="en-US" altLang="zh-CN" sz="2400" dirty="0"/>
              <a:t>A</a:t>
            </a:r>
            <a:r>
              <a:rPr lang="zh-CN" altLang="en-US" sz="2400" dirty="0"/>
              <a:t>为真，必须使</a:t>
            </a:r>
            <a:r>
              <a:rPr lang="en-US" altLang="zh-CN" sz="2400" dirty="0"/>
              <a:t>C</a:t>
            </a:r>
            <a:r>
              <a:rPr lang="zh-CN" altLang="en-US" sz="2400" dirty="0"/>
              <a:t>也为真。</a:t>
            </a:r>
            <a:r>
              <a:rPr lang="zh-CN" altLang="en-US" sz="2400" dirty="0">
                <a:latin typeface="宋体" pitchFamily="2" charset="-122"/>
              </a:rPr>
              <a:t>       </a:t>
            </a:r>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717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717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7173" name="Rectangle 2"/>
          <p:cNvSpPr>
            <a:spLocks noGrp="1"/>
          </p:cNvSpPr>
          <p:nvPr>
            <p:ph type="title"/>
          </p:nvPr>
        </p:nvSpPr>
        <p:spPr/>
        <p:txBody>
          <a:bodyPr vert="horz" wrap="square" lIns="91440" tIns="45720" rIns="91440" bIns="45720" anchor="b" anchorCtr="0"/>
          <a:p>
            <a:pPr eaLnBrk="1" hangingPunct="1"/>
            <a:r>
              <a:rPr lang="zh-CN" altLang="en-US" dirty="0">
                <a:latin typeface="宋体" pitchFamily="2" charset="-122"/>
              </a:rPr>
              <a:t>重言蕴含</a:t>
            </a:r>
            <a:r>
              <a:rPr lang="en-US" altLang="zh-CN" sz="3200" dirty="0">
                <a:solidFill>
                  <a:schemeClr val="tx1"/>
                </a:solidFill>
                <a:latin typeface="Tahoma" panose="020B0604030504040204" pitchFamily="34" charset="0"/>
                <a:sym typeface="Symbol" panose="05050102010706020507" pitchFamily="18" charset="2"/>
              </a:rPr>
              <a:t></a:t>
            </a:r>
            <a:endParaRPr lang="zh-CN" altLang="en-US" sz="3200" dirty="0">
              <a:solidFill>
                <a:schemeClr val="tx1"/>
              </a:solidFill>
              <a:latin typeface="Tahoma" panose="020B0604030504040204" pitchFamily="34" charset="0"/>
              <a:sym typeface="Symbol" panose="05050102010706020507" pitchFamily="18" charset="2"/>
            </a:endParaRPr>
          </a:p>
        </p:txBody>
      </p:sp>
      <p:sp>
        <p:nvSpPr>
          <p:cNvPr id="5126" name="Rectangle 3"/>
          <p:cNvSpPr>
            <a:spLocks noGrp="1" noChangeArrowheads="1"/>
          </p:cNvSpPr>
          <p:nvPr>
            <p:ph idx="1"/>
          </p:nvPr>
        </p:nvSpPr>
        <p:spPr>
          <a:xfrm>
            <a:off x="313055" y="1412240"/>
            <a:ext cx="8651875" cy="42926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1">
                <a:ln>
                  <a:noFill/>
                </a:ln>
                <a:solidFill>
                  <a:schemeClr val="tx1"/>
                </a:solidFill>
                <a:effectLst/>
                <a:uLnTx/>
                <a:uFillTx/>
                <a:latin typeface="+mn-lt"/>
                <a:ea typeface="+mn-ea"/>
                <a:cs typeface="+mn-cs"/>
              </a:rPr>
              <a:t>定义</a:t>
            </a:r>
            <a:r>
              <a:rPr kumimoji="1" lang="zh-CN" altLang="en-US" sz="2800" b="0" i="0" u="none" strike="noStrike" kern="0" cap="none" spc="0" normalizeH="0" baseline="0" noProof="1">
                <a:ln>
                  <a:noFill/>
                </a:ln>
                <a:solidFill>
                  <a:schemeClr val="tx1"/>
                </a:solidFill>
                <a:effectLst/>
                <a:uLnTx/>
                <a:uFillTx/>
                <a:latin typeface="+mn-lt"/>
                <a:ea typeface="+mn-ea"/>
                <a:cs typeface="+mn-cs"/>
              </a:rPr>
              <a:t>：设</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1</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2</a:t>
            </a:r>
            <a:r>
              <a:rPr kumimoji="1" lang="en-US" altLang="zh-CN" sz="2800" b="0" i="0" u="none" strike="noStrike" kern="0" cap="none" spc="0" normalizeH="0" baseline="0" noProof="1">
                <a:ln>
                  <a:noFill/>
                </a:ln>
                <a:solidFill>
                  <a:schemeClr val="tx1"/>
                </a:solidFill>
                <a:effectLst/>
                <a:uLnTx/>
                <a:uFillTx/>
                <a:latin typeface="+mn-lt"/>
                <a:ea typeface="+mn-ea"/>
                <a:cs typeface="+mn-cs"/>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30000" noProof="1">
                <a:ln>
                  <a:noFill/>
                </a:ln>
                <a:solidFill>
                  <a:schemeClr val="tx1"/>
                </a:solidFill>
                <a:effectLst/>
                <a:uLnTx/>
                <a:uFillTx/>
                <a:latin typeface="+mn-lt"/>
                <a:ea typeface="+mn-ea"/>
                <a:cs typeface="+mn-cs"/>
              </a:rPr>
              <a:t>m</a:t>
            </a:r>
            <a:r>
              <a:rPr kumimoji="1" lang="en-US" altLang="zh-CN" sz="2800">
                <a:ln>
                  <a:noFill/>
                </a:ln>
                <a:effectLst/>
                <a:uLnTx/>
                <a:uFillTx/>
                <a:sym typeface="+mn-ea"/>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C</a:t>
            </a:r>
            <a:r>
              <a:rPr kumimoji="1" lang="zh-CN" altLang="en-US" sz="2800" b="0" i="0" u="none" strike="noStrike" kern="0" cap="none" spc="0" normalizeH="0" baseline="0" noProof="1">
                <a:ln>
                  <a:noFill/>
                </a:ln>
                <a:solidFill>
                  <a:schemeClr val="tx1"/>
                </a:solidFill>
                <a:effectLst/>
                <a:uLnTx/>
                <a:uFillTx/>
                <a:latin typeface="+mn-lt"/>
                <a:ea typeface="+mn-ea"/>
                <a:cs typeface="+mn-cs"/>
              </a:rPr>
              <a:t>是命题公式，如果</a:t>
            </a:r>
            <a:endParaRPr kumimoji="1" lang="en-US" altLang="zh-CN" sz="2800" b="0" i="0" u="none" strike="noStrike" kern="0" cap="none" spc="0" normalizeH="0" baseline="0" noProof="1">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800" b="0" i="0" u="none" strike="noStrike" kern="0" cap="none" spc="0" normalizeH="0" baseline="0" noProof="1">
                <a:ln>
                  <a:noFill/>
                </a:ln>
                <a:solidFill>
                  <a:schemeClr val="tx1"/>
                </a:solidFill>
                <a:effectLst/>
                <a:uLnTx/>
                <a:uFillTx/>
                <a:latin typeface="+mn-lt"/>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 A</a:t>
            </a:r>
            <a:r>
              <a:rPr kumimoji="1" lang="en-US" altLang="zh-CN" sz="2800" b="0" i="0" u="none" strike="noStrike" kern="0" cap="none" spc="0" normalizeH="0" baseline="-25000" noProof="1">
                <a:ln>
                  <a:noFill/>
                </a:ln>
                <a:solidFill>
                  <a:schemeClr val="tx1"/>
                </a:solidFill>
                <a:effectLst/>
                <a:uLnTx/>
                <a:uFillTx/>
                <a:latin typeface="+mn-lt"/>
                <a:ea typeface="+mn-ea"/>
                <a:cs typeface="+mn-cs"/>
              </a:rPr>
              <a:t>1</a:t>
            </a:r>
            <a:r>
              <a:rPr kumimoji="1" lang="en-US" altLang="zh-CN" sz="2800">
                <a:ln>
                  <a:noFill/>
                </a:ln>
                <a:solidFill>
                  <a:schemeClr val="tx1"/>
                </a:solidFill>
                <a:effectLst/>
                <a:uLnTx/>
                <a:uFillTx/>
                <a:latin typeface="PingFang SC" panose="020B0400000000000000" charset="-122"/>
                <a:ea typeface="PingFang SC" panose="020B0400000000000000" charset="-122"/>
                <a:sym typeface="+mn-ea"/>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2</a:t>
            </a:r>
            <a:r>
              <a:rPr kumimoji="1" lang="en-US" altLang="zh-CN" sz="2800" b="0" i="0" u="none" strike="noStrike" kern="0" cap="none" spc="0" normalizeH="0" baseline="0" noProof="1">
                <a:ln>
                  <a:noFill/>
                </a:ln>
                <a:solidFill>
                  <a:schemeClr val="tx1"/>
                </a:solidFill>
                <a:effectLst/>
                <a:uLnTx/>
                <a:uFillTx/>
                <a:latin typeface="+mn-lt"/>
                <a:ea typeface="+mn-ea"/>
                <a:cs typeface="+mn-cs"/>
                <a:sym typeface="Euclid Symbol" panose="05050102010706020507" pitchFamily="18" charset="2"/>
              </a:rPr>
              <a:t> </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sym typeface="Euclid Symbol" panose="05050102010706020507" pitchFamily="18" charset="2"/>
              </a:rPr>
              <a:t> </a:t>
            </a:r>
            <a:r>
              <a:rPr kumimoji="1" lang="en-US" altLang="zh-CN" sz="2800">
                <a:ln>
                  <a:noFill/>
                </a:ln>
                <a:effectLst/>
                <a:uLnTx/>
                <a:uFillTx/>
                <a:latin typeface="PingFang SC" panose="020B0400000000000000" charset="-122"/>
                <a:ea typeface="PingFang SC" panose="020B0400000000000000" charset="-122"/>
                <a:sym typeface="+mn-ea"/>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30000" noProof="1">
                <a:ln>
                  <a:noFill/>
                </a:ln>
                <a:solidFill>
                  <a:schemeClr val="tx1"/>
                </a:solidFill>
                <a:effectLst/>
                <a:uLnTx/>
                <a:uFillTx/>
                <a:latin typeface="+mn-lt"/>
                <a:ea typeface="+mn-ea"/>
                <a:cs typeface="+mn-cs"/>
              </a:rPr>
              <a:t>m</a:t>
            </a:r>
            <a:r>
              <a:rPr kumimoji="1" lang="en-US" altLang="zh-CN" sz="2800" b="0" i="0" u="none" strike="noStrike" kern="0" cap="none" spc="0" normalizeH="0" baseline="0" noProof="1">
                <a:ln>
                  <a:noFill/>
                </a:ln>
                <a:solidFill>
                  <a:schemeClr val="tx1"/>
                </a:solidFill>
                <a:effectLst/>
                <a:uLnTx/>
                <a:uFillTx/>
                <a:latin typeface="+mn-lt"/>
                <a:ea typeface="+mn-ea"/>
                <a:cs typeface="+mn-cs"/>
              </a:rPr>
              <a:t>）→C</a:t>
            </a:r>
            <a:r>
              <a:rPr kumimoji="1" lang="zh-CN" altLang="en-US" sz="2800" b="0" i="0" u="none" strike="noStrike" kern="0" cap="none" spc="0" normalizeH="0" baseline="0" noProof="1">
                <a:ln>
                  <a:noFill/>
                </a:ln>
                <a:solidFill>
                  <a:schemeClr val="tx1"/>
                </a:solidFill>
                <a:effectLst/>
                <a:uLnTx/>
                <a:uFillTx/>
                <a:latin typeface="+mn-lt"/>
                <a:ea typeface="+mn-ea"/>
                <a:cs typeface="+mn-cs"/>
              </a:rPr>
              <a:t>是重言式，则称</a:t>
            </a:r>
            <a:r>
              <a:rPr kumimoji="1" lang="en-US" altLang="zh-CN" sz="2800" b="0" i="0" u="none" strike="noStrike" kern="0" cap="none" spc="0" normalizeH="0" baseline="0" noProof="1">
                <a:ln>
                  <a:noFill/>
                </a:ln>
                <a:solidFill>
                  <a:schemeClr val="tx1"/>
                </a:solidFill>
                <a:effectLst/>
                <a:uLnTx/>
                <a:uFillTx/>
                <a:latin typeface="+mn-lt"/>
                <a:ea typeface="+mn-ea"/>
                <a:cs typeface="+mn-cs"/>
              </a:rPr>
              <a:t>C</a:t>
            </a:r>
            <a:r>
              <a:rPr kumimoji="1" lang="zh-CN" altLang="en-US" sz="2800" b="0" i="0" u="none" strike="noStrike" kern="0" cap="none" spc="0" normalizeH="0" baseline="0" noProof="1">
                <a:ln>
                  <a:noFill/>
                </a:ln>
                <a:solidFill>
                  <a:schemeClr val="tx1"/>
                </a:solidFill>
                <a:effectLst/>
                <a:uLnTx/>
                <a:uFillTx/>
                <a:latin typeface="+mn-lt"/>
                <a:ea typeface="+mn-ea"/>
                <a:cs typeface="+mn-cs"/>
              </a:rPr>
              <a:t>是前提集合{ </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1</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2</a:t>
            </a:r>
            <a:r>
              <a:rPr kumimoji="1" lang="en-US" altLang="zh-CN" sz="2800" b="0" i="0" u="none" strike="noStrike" kern="0" cap="none" spc="0" normalizeH="0" baseline="0" noProof="1">
                <a:ln>
                  <a:noFill/>
                </a:ln>
                <a:solidFill>
                  <a:schemeClr val="tx1"/>
                </a:solidFill>
                <a:effectLst/>
                <a:uLnTx/>
                <a:uFillTx/>
                <a:latin typeface="+mn-lt"/>
                <a:ea typeface="+mn-ea"/>
                <a:cs typeface="+mn-cs"/>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30000" noProof="1">
                <a:ln>
                  <a:noFill/>
                </a:ln>
                <a:solidFill>
                  <a:schemeClr val="tx1"/>
                </a:solidFill>
                <a:effectLst/>
                <a:uLnTx/>
                <a:uFillTx/>
                <a:latin typeface="+mn-lt"/>
                <a:ea typeface="+mn-ea"/>
                <a:cs typeface="+mn-cs"/>
              </a:rPr>
              <a:t>m</a:t>
            </a:r>
            <a:r>
              <a:rPr kumimoji="1" lang="en-US" altLang="zh-CN" sz="2800" b="0" i="0" u="none" strike="noStrike" kern="0" cap="none" spc="0" normalizeH="0" baseline="0" noProof="1">
                <a:ln>
                  <a:noFill/>
                </a:ln>
                <a:solidFill>
                  <a:schemeClr val="tx1"/>
                </a:solidFill>
                <a:effectLst/>
                <a:uLnTx/>
                <a:uFillTx/>
                <a:latin typeface="+mn-lt"/>
                <a:ea typeface="+mn-ea"/>
                <a:cs typeface="+mn-cs"/>
              </a:rPr>
              <a:t> }</a:t>
            </a:r>
            <a:r>
              <a:rPr kumimoji="1" lang="zh-CN" altLang="en-US" sz="2800" b="0" i="0" u="none" strike="noStrike" kern="0" cap="none" spc="0" normalizeH="0" baseline="0" noProof="1">
                <a:ln>
                  <a:noFill/>
                </a:ln>
                <a:solidFill>
                  <a:schemeClr val="tx1"/>
                </a:solidFill>
                <a:effectLst/>
                <a:uLnTx/>
                <a:uFillTx/>
                <a:latin typeface="+mn-lt"/>
                <a:ea typeface="+mn-ea"/>
                <a:cs typeface="+mn-cs"/>
              </a:rPr>
              <a:t>的有效结论，或称由{</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1</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25000" noProof="1">
                <a:ln>
                  <a:noFill/>
                </a:ln>
                <a:solidFill>
                  <a:schemeClr val="tx1"/>
                </a:solidFill>
                <a:effectLst/>
                <a:uLnTx/>
                <a:uFillTx/>
                <a:latin typeface="+mn-lt"/>
                <a:ea typeface="+mn-ea"/>
                <a:cs typeface="+mn-cs"/>
              </a:rPr>
              <a:t>2 </a:t>
            </a:r>
            <a:r>
              <a:rPr kumimoji="1" lang="en-US" altLang="zh-CN" sz="2800" b="0" i="0" u="none" strike="noStrike" kern="0" cap="none" spc="0" normalizeH="0" baseline="0" noProof="1">
                <a:ln>
                  <a:noFill/>
                </a:ln>
                <a:solidFill>
                  <a:schemeClr val="tx1"/>
                </a:solidFill>
                <a:effectLst/>
                <a:uLnTx/>
                <a:uFillTx/>
                <a:latin typeface="+mn-lt"/>
                <a:ea typeface="+mn-ea"/>
                <a:cs typeface="+mn-cs"/>
              </a:rPr>
              <a:t>、</a:t>
            </a:r>
            <a:r>
              <a:rPr kumimoji="1" lang="en-US" altLang="zh-CN" sz="2800" b="0" i="0" u="none" strike="noStrike" kern="0" cap="none" spc="0" normalizeH="0" baseline="0" noProof="1">
                <a:ln>
                  <a:noFill/>
                </a:ln>
                <a:solidFill>
                  <a:schemeClr val="tx1"/>
                </a:solidFill>
                <a:effectLst/>
                <a:uLnTx/>
                <a:uFillTx/>
                <a:latin typeface="Times New Roman" panose="02020503050405090304" pitchFamily="18" charset="0"/>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、A</a:t>
            </a:r>
            <a:r>
              <a:rPr kumimoji="1" lang="en-US" altLang="zh-CN" sz="2800" b="0" i="0" u="none" strike="noStrike" kern="0" cap="none" spc="0" normalizeH="0" baseline="-30000" noProof="1">
                <a:ln>
                  <a:noFill/>
                </a:ln>
                <a:solidFill>
                  <a:schemeClr val="tx1"/>
                </a:solidFill>
                <a:effectLst/>
                <a:uLnTx/>
                <a:uFillTx/>
                <a:latin typeface="+mn-lt"/>
                <a:ea typeface="+mn-ea"/>
                <a:cs typeface="+mn-cs"/>
              </a:rPr>
              <a:t>m</a:t>
            </a:r>
            <a:r>
              <a:rPr kumimoji="1" lang="en-US" altLang="zh-CN" sz="2800" b="0" i="0" u="none" strike="noStrike" kern="0" cap="none" spc="0" normalizeH="0" baseline="0" noProof="1">
                <a:ln>
                  <a:noFill/>
                </a:ln>
                <a:solidFill>
                  <a:schemeClr val="tx1"/>
                </a:solidFill>
                <a:effectLst/>
                <a:uLnTx/>
                <a:uFillTx/>
                <a:latin typeface="+mn-lt"/>
                <a:ea typeface="+mn-ea"/>
                <a:cs typeface="+mn-cs"/>
              </a:rPr>
              <a:t> }</a:t>
            </a:r>
            <a:r>
              <a:rPr kumimoji="1" lang="zh-CN" altLang="en-US" sz="2800" b="0" i="0" u="none" strike="noStrike" kern="0" cap="none" spc="0" normalizeH="0" baseline="0" noProof="1">
                <a:ln>
                  <a:noFill/>
                </a:ln>
                <a:solidFill>
                  <a:schemeClr val="tx1"/>
                </a:solidFill>
                <a:effectLst/>
                <a:uLnTx/>
                <a:uFillTx/>
                <a:latin typeface="+mn-lt"/>
                <a:ea typeface="+mn-ea"/>
                <a:cs typeface="+mn-cs"/>
              </a:rPr>
              <a:t>逻辑地推论出</a:t>
            </a:r>
            <a:r>
              <a:rPr kumimoji="1" lang="en-US" altLang="zh-CN" sz="2800" b="0" i="0" u="none" strike="noStrike" kern="0" cap="none" spc="0" normalizeH="0" baseline="0" noProof="1">
                <a:ln>
                  <a:noFill/>
                </a:ln>
                <a:solidFill>
                  <a:schemeClr val="tx1"/>
                </a:solidFill>
                <a:effectLst/>
                <a:uLnTx/>
                <a:uFillTx/>
                <a:latin typeface="+mn-lt"/>
                <a:ea typeface="+mn-ea"/>
                <a:cs typeface="+mn-cs"/>
              </a:rPr>
              <a:t>C。</a:t>
            </a:r>
            <a:endParaRPr kumimoji="1" lang="en-US" altLang="zh-CN" sz="2800" b="0" i="0" u="none" strike="noStrike" kern="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1">
                <a:ln>
                  <a:noFill/>
                </a:ln>
                <a:solidFill>
                  <a:schemeClr val="tx1"/>
                </a:solidFill>
                <a:effectLst/>
                <a:uLnTx/>
                <a:uFillTx/>
                <a:latin typeface="宋体" pitchFamily="2" charset="-122"/>
                <a:ea typeface="+mn-ea"/>
                <a:cs typeface="+mn-cs"/>
              </a:rPr>
              <a:t>由</a:t>
            </a:r>
            <a:r>
              <a:rPr kumimoji="1" lang="en-US" altLang="zh-CN" sz="2800" b="0" i="0" u="none" strike="noStrike" kern="0" cap="none" spc="0" normalizeH="0" baseline="0" noProof="1">
                <a:ln>
                  <a:noFill/>
                </a:ln>
                <a:solidFill>
                  <a:schemeClr val="tx1"/>
                </a:solidFill>
                <a:effectLst/>
                <a:uLnTx/>
                <a:uFillTx/>
                <a:latin typeface="+mn-lt"/>
                <a:ea typeface="+mn-ea"/>
                <a:cs typeface="+mn-cs"/>
                <a:sym typeface="Symbol" panose="05050102010706020507" pitchFamily="18" charset="2"/>
              </a:rPr>
              <a:t></a:t>
            </a:r>
            <a:r>
              <a:rPr kumimoji="1" lang="zh-CN" altLang="en-US" sz="2800" b="0" i="0" u="none" strike="noStrike" kern="0" cap="none" spc="0" normalizeH="0" baseline="0" noProof="1">
                <a:ln>
                  <a:noFill/>
                </a:ln>
                <a:solidFill>
                  <a:schemeClr val="tx1"/>
                </a:solidFill>
                <a:effectLst/>
                <a:uLnTx/>
                <a:uFillTx/>
                <a:latin typeface="宋体" pitchFamily="2" charset="-122"/>
                <a:ea typeface="+mn-ea"/>
                <a:cs typeface="+mn-cs"/>
              </a:rPr>
              <a:t>的定义，可以记作</a:t>
            </a:r>
            <a:r>
              <a:rPr kumimoji="1" lang="zh-CN" altLang="en-US" sz="2800" b="0" i="0" u="none" strike="noStrike" kern="0" cap="none" spc="0" normalizeH="0" baseline="0" noProof="1">
                <a:ln>
                  <a:noFill/>
                </a:ln>
                <a:solidFill>
                  <a:srgbClr val="FF0000"/>
                </a:solidFill>
                <a:effectLst/>
                <a:uLnTx/>
                <a:uFillTx/>
                <a:latin typeface="+mn-lt"/>
                <a:ea typeface="+mn-ea"/>
                <a:cs typeface="+mn-cs"/>
              </a:rPr>
              <a:t>（</a:t>
            </a:r>
            <a:r>
              <a:rPr kumimoji="1" lang="en-US" altLang="zh-CN" sz="2800" b="0" i="0" u="none" strike="noStrike" kern="0" cap="none" spc="0" normalizeH="0" baseline="0" noProof="1">
                <a:ln>
                  <a:noFill/>
                </a:ln>
                <a:solidFill>
                  <a:srgbClr val="FF0000"/>
                </a:solidFill>
                <a:effectLst/>
                <a:uLnTx/>
                <a:uFillTx/>
                <a:latin typeface="+mn-lt"/>
                <a:ea typeface="+mn-ea"/>
                <a:cs typeface="+mn-cs"/>
              </a:rPr>
              <a:t> A</a:t>
            </a:r>
            <a:r>
              <a:rPr kumimoji="1" lang="en-US" altLang="zh-CN" sz="2800" b="0" i="0" u="none" strike="noStrike" kern="0" cap="none" spc="0" normalizeH="0" baseline="-25000" noProof="1">
                <a:ln>
                  <a:noFill/>
                </a:ln>
                <a:solidFill>
                  <a:srgbClr val="FF0000"/>
                </a:solidFill>
                <a:effectLst/>
                <a:uLnTx/>
                <a:uFillTx/>
                <a:latin typeface="+mn-lt"/>
                <a:ea typeface="+mn-ea"/>
                <a:cs typeface="+mn-cs"/>
              </a:rPr>
              <a:t>1</a:t>
            </a:r>
            <a:r>
              <a:rPr kumimoji="1" lang="en-US" altLang="zh-CN" sz="2800" b="0" i="0" noProof="1">
                <a:ln>
                  <a:noFill/>
                </a:ln>
                <a:solidFill>
                  <a:srgbClr val="FF0000"/>
                </a:solidFill>
                <a:effectLst/>
                <a:uLnTx/>
                <a:uFillTx/>
                <a:latin typeface="PingFang SC" panose="020B0400000000000000" charset="-122"/>
                <a:ea typeface="PingFang SC" panose="020B0400000000000000" charset="-122"/>
                <a:cs typeface="+mn-cs"/>
              </a:rPr>
              <a:t>∧</a:t>
            </a:r>
            <a:r>
              <a:rPr kumimoji="1" lang="en-US" altLang="zh-CN" sz="2800" b="0" i="0" u="none" strike="noStrike" kern="0" cap="none" spc="0" normalizeH="0" baseline="0" noProof="1">
                <a:ln>
                  <a:noFill/>
                </a:ln>
                <a:solidFill>
                  <a:srgbClr val="FF0000"/>
                </a:solidFill>
                <a:effectLst/>
                <a:uLnTx/>
                <a:uFillTx/>
                <a:latin typeface="+mn-lt"/>
                <a:ea typeface="+mn-ea"/>
                <a:cs typeface="+mn-cs"/>
              </a:rPr>
              <a:t>A</a:t>
            </a:r>
            <a:r>
              <a:rPr kumimoji="1" lang="en-US" altLang="zh-CN" sz="2800" b="0" i="0" u="none" strike="noStrike" kern="0" cap="none" spc="0" normalizeH="0" baseline="-25000" noProof="1">
                <a:ln>
                  <a:noFill/>
                </a:ln>
                <a:solidFill>
                  <a:srgbClr val="FF0000"/>
                </a:solidFill>
                <a:effectLst/>
                <a:uLnTx/>
                <a:uFillTx/>
                <a:latin typeface="+mn-lt"/>
                <a:ea typeface="+mn-ea"/>
                <a:cs typeface="+mn-cs"/>
              </a:rPr>
              <a:t>2</a:t>
            </a:r>
            <a:r>
              <a:rPr kumimoji="1" lang="en-US" altLang="zh-CN" sz="2800" b="0" i="0" u="none" strike="noStrike" kern="0" cap="none" spc="0" normalizeH="0" baseline="0" noProof="1">
                <a:ln>
                  <a:noFill/>
                </a:ln>
                <a:solidFill>
                  <a:srgbClr val="FF0000"/>
                </a:solidFill>
                <a:effectLst/>
                <a:uLnTx/>
                <a:uFillTx/>
                <a:latin typeface="+mn-lt"/>
                <a:ea typeface="+mn-ea"/>
                <a:cs typeface="+mn-cs"/>
                <a:sym typeface="Euclid Symbol" panose="05050102010706020507" pitchFamily="18" charset="2"/>
              </a:rPr>
              <a:t> </a:t>
            </a:r>
            <a:r>
              <a:rPr kumimoji="1" lang="en-US" altLang="zh-CN" sz="2800" b="0" i="0" u="none" strike="noStrike" kern="0" cap="none" spc="0" normalizeH="0" baseline="0" noProof="1">
                <a:ln>
                  <a:noFill/>
                </a:ln>
                <a:solidFill>
                  <a:srgbClr val="FF0000"/>
                </a:solidFill>
                <a:effectLst/>
                <a:uLnTx/>
                <a:uFillTx/>
                <a:latin typeface="Times New Roman" panose="02020503050405090304" pitchFamily="18" charset="0"/>
                <a:ea typeface="+mn-ea"/>
                <a:cs typeface="+mn-cs"/>
              </a:rPr>
              <a:t>…</a:t>
            </a:r>
            <a:r>
              <a:rPr kumimoji="1" lang="en-US" altLang="zh-CN" sz="2800" b="0" i="0" u="none" strike="noStrike" kern="0" cap="none" spc="0" normalizeH="0" baseline="0" noProof="1">
                <a:ln>
                  <a:noFill/>
                </a:ln>
                <a:solidFill>
                  <a:srgbClr val="FF0000"/>
                </a:solidFill>
                <a:effectLst/>
                <a:uLnTx/>
                <a:uFillTx/>
                <a:latin typeface="+mn-lt"/>
                <a:ea typeface="+mn-ea"/>
                <a:cs typeface="+mn-cs"/>
                <a:sym typeface="Euclid Symbol" panose="05050102010706020507" pitchFamily="18" charset="2"/>
              </a:rPr>
              <a:t> </a:t>
            </a:r>
            <a:r>
              <a:rPr kumimoji="1" lang="en-US" altLang="zh-CN" sz="2800">
                <a:ln>
                  <a:noFill/>
                </a:ln>
                <a:solidFill>
                  <a:srgbClr val="FF0000"/>
                </a:solidFill>
                <a:effectLst/>
                <a:uLnTx/>
                <a:uFillTx/>
                <a:latin typeface="PingFang SC" panose="020B0400000000000000" charset="-122"/>
                <a:ea typeface="PingFang SC" panose="020B0400000000000000" charset="-122"/>
                <a:sym typeface="+mn-ea"/>
              </a:rPr>
              <a:t>∧</a:t>
            </a:r>
            <a:r>
              <a:rPr kumimoji="1" lang="en-US" altLang="zh-CN" sz="2800" b="0" i="0" u="none" strike="noStrike" kern="0" cap="none" spc="0" normalizeH="0" baseline="0" noProof="1">
                <a:ln>
                  <a:noFill/>
                </a:ln>
                <a:solidFill>
                  <a:srgbClr val="FF0000"/>
                </a:solidFill>
                <a:effectLst/>
                <a:uLnTx/>
                <a:uFillTx/>
                <a:latin typeface="+mn-lt"/>
                <a:ea typeface="+mn-ea"/>
                <a:cs typeface="+mn-cs"/>
              </a:rPr>
              <a:t>A</a:t>
            </a:r>
            <a:r>
              <a:rPr kumimoji="1" lang="en-US" altLang="zh-CN" sz="2800" b="0" i="0" u="none" strike="noStrike" kern="0" cap="none" spc="0" normalizeH="0" baseline="-30000" noProof="1">
                <a:ln>
                  <a:noFill/>
                </a:ln>
                <a:solidFill>
                  <a:srgbClr val="FF0000"/>
                </a:solidFill>
                <a:effectLst/>
                <a:uLnTx/>
                <a:uFillTx/>
                <a:latin typeface="+mn-lt"/>
                <a:ea typeface="+mn-ea"/>
                <a:cs typeface="+mn-cs"/>
              </a:rPr>
              <a:t>m</a:t>
            </a:r>
            <a:r>
              <a:rPr kumimoji="1" lang="en-US" altLang="zh-CN" sz="2800" b="0" i="0" u="none" strike="noStrike" kern="0" cap="none" spc="0" normalizeH="0" baseline="0" noProof="1">
                <a:ln>
                  <a:noFill/>
                </a:ln>
                <a:solidFill>
                  <a:srgbClr val="FF0000"/>
                </a:solidFill>
                <a:effectLst/>
                <a:uLnTx/>
                <a:uFillTx/>
                <a:latin typeface="+mn-lt"/>
                <a:ea typeface="+mn-ea"/>
                <a:cs typeface="+mn-cs"/>
              </a:rPr>
              <a:t>）</a:t>
            </a:r>
            <a:r>
              <a:rPr kumimoji="1" lang="en-US" altLang="zh-CN" sz="2800" b="0" i="0" u="none" strike="noStrike" kern="0" cap="none" spc="0" normalizeH="0" baseline="0" noProof="1">
                <a:ln>
                  <a:noFill/>
                </a:ln>
                <a:solidFill>
                  <a:srgbClr val="FF0000"/>
                </a:solidFill>
                <a:effectLst/>
                <a:uLnTx/>
                <a:uFillTx/>
                <a:latin typeface="+mn-lt"/>
                <a:ea typeface="+mn-ea"/>
                <a:cs typeface="+mn-cs"/>
                <a:sym typeface="Symbol" panose="05050102010706020507" pitchFamily="18" charset="2"/>
              </a:rPr>
              <a:t></a:t>
            </a:r>
            <a:r>
              <a:rPr kumimoji="1" lang="en-US" altLang="zh-CN" sz="2800" b="0" i="0" u="none" strike="noStrike" kern="0" cap="none" spc="0" normalizeH="0" baseline="0" noProof="1">
                <a:ln>
                  <a:noFill/>
                </a:ln>
                <a:solidFill>
                  <a:srgbClr val="FF0000"/>
                </a:solidFill>
                <a:effectLst/>
                <a:uLnTx/>
                <a:uFillTx/>
                <a:latin typeface="宋体" pitchFamily="2" charset="-122"/>
                <a:ea typeface="+mn-ea"/>
                <a:cs typeface="+mn-cs"/>
              </a:rPr>
              <a:t> C</a:t>
            </a:r>
            <a:r>
              <a:rPr kumimoji="1" lang="en-US" altLang="zh-CN" sz="2800" b="0" i="0" u="none" strike="noStrike" kern="0" cap="none" spc="0" normalizeH="0" baseline="0" noProof="1">
                <a:ln>
                  <a:noFill/>
                </a:ln>
                <a:solidFill>
                  <a:schemeClr val="tx1"/>
                </a:solidFill>
                <a:effectLst/>
                <a:uLnTx/>
                <a:uFillTx/>
                <a:latin typeface="宋体" pitchFamily="2" charset="-122"/>
                <a:ea typeface="+mn-ea"/>
                <a:cs typeface="+mn-cs"/>
              </a:rPr>
              <a:t>。</a:t>
            </a:r>
            <a:r>
              <a:rPr kumimoji="1" lang="en-US" altLang="zh-CN" sz="2800" b="0" i="0" u="none" strike="noStrike" kern="0" cap="none" spc="0" normalizeH="0" baseline="0" noProof="1">
                <a:ln>
                  <a:noFill/>
                </a:ln>
                <a:solidFill>
                  <a:schemeClr val="tx1"/>
                </a:solidFill>
                <a:effectLst/>
                <a:uLnTx/>
                <a:uFillTx/>
                <a:latin typeface="+mn-lt"/>
                <a:ea typeface="+mn-ea"/>
                <a:cs typeface="+mn-cs"/>
              </a:rPr>
              <a:t> </a:t>
            </a:r>
            <a:endParaRPr kumimoji="1" lang="zh-CN" altLang="en-US" sz="2800" b="0" i="0" u="none" strike="noStrike" kern="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819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Rules of Inference</a:t>
            </a:r>
            <a:endParaRPr lang="en-US" altLang="zh-CN" dirty="0">
              <a:latin typeface="Times New Roman" panose="02020503050405090304" pitchFamily="18" charset="0"/>
            </a:endParaRPr>
          </a:p>
        </p:txBody>
      </p:sp>
      <p:sp>
        <p:nvSpPr>
          <p:cNvPr id="8198" name="Rectangle 3"/>
          <p:cNvSpPr>
            <a:spLocks noGrp="1"/>
          </p:cNvSpPr>
          <p:nvPr>
            <p:ph idx="1"/>
          </p:nvPr>
        </p:nvSpPr>
        <p:spPr>
          <a:xfrm>
            <a:off x="971550" y="1340485"/>
            <a:ext cx="7772400" cy="411480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Many of the tautologies are rules of inference. They have the form</a:t>
            </a:r>
            <a:endParaRPr lang="en-US" altLang="zh-CN" sz="2800" dirty="0">
              <a:latin typeface="Times New Roman" panose="02020503050405090304" pitchFamily="18" charset="0"/>
            </a:endParaRPr>
          </a:p>
          <a:p>
            <a:pPr lvl="1" eaLnBrk="1" hangingPunct="1">
              <a:lnSpc>
                <a:spcPct val="90000"/>
              </a:lnSpc>
            </a:pPr>
            <a:r>
              <a:rPr lang="en-US" altLang="zh-CN" sz="2400" i="1" dirty="0">
                <a:latin typeface="Times New Roman" panose="02020503050405090304" pitchFamily="18" charset="0"/>
              </a:rPr>
              <a:t>P</a:t>
            </a:r>
            <a:r>
              <a:rPr lang="en-US" altLang="zh-CN" sz="2400" baseline="-25000" dirty="0">
                <a:latin typeface="Times New Roman" panose="02020503050405090304" pitchFamily="18" charset="0"/>
              </a:rPr>
              <a:t>1</a:t>
            </a:r>
            <a:r>
              <a:rPr lang="en-US" altLang="zh-CN" sz="2400" dirty="0">
                <a:latin typeface="Times New Roman" panose="02020503050405090304" pitchFamily="18" charset="0"/>
              </a:rPr>
              <a:t> </a:t>
            </a:r>
            <a:r>
              <a:rPr lang="en-US" altLang="zh-CN" sz="2400" dirty="0">
                <a:latin typeface="Symbol" panose="05050102010706020507" pitchFamily="18" charset="2"/>
              </a:rPr>
              <a:t>Ù </a:t>
            </a:r>
            <a:r>
              <a:rPr lang="en-US" altLang="zh-CN" sz="2400" i="1" dirty="0">
                <a:latin typeface="Times New Roman" panose="02020503050405090304" pitchFamily="18" charset="0"/>
              </a:rPr>
              <a:t>P</a:t>
            </a:r>
            <a:r>
              <a:rPr lang="en-US" altLang="zh-CN" sz="2400" baseline="-25000" dirty="0">
                <a:latin typeface="Times New Roman" panose="02020503050405090304" pitchFamily="18" charset="0"/>
              </a:rPr>
              <a:t>2</a:t>
            </a:r>
            <a:r>
              <a:rPr lang="en-US" altLang="zh-CN" sz="2400" dirty="0">
                <a:latin typeface="Symbol" panose="05050102010706020507" pitchFamily="18" charset="2"/>
              </a:rPr>
              <a:t>Ù</a:t>
            </a:r>
            <a:r>
              <a:rPr lang="en-US" altLang="zh-CN" sz="2400" dirty="0">
                <a:latin typeface="Times New Roman" panose="02020503050405090304" pitchFamily="18" charset="0"/>
              </a:rPr>
              <a:t>.....</a:t>
            </a:r>
            <a:r>
              <a:rPr lang="en-US" altLang="zh-CN" sz="2400" dirty="0">
                <a:latin typeface="Symbol" panose="05050102010706020507" pitchFamily="18" charset="2"/>
              </a:rPr>
              <a:t>Ù</a:t>
            </a:r>
            <a:r>
              <a:rPr lang="en-US" altLang="zh-CN" sz="2400" i="1" dirty="0">
                <a:latin typeface="Times New Roman" panose="02020503050405090304" pitchFamily="18" charset="0"/>
              </a:rPr>
              <a:t>P</a:t>
            </a:r>
            <a:r>
              <a:rPr lang="en-US" altLang="zh-CN" sz="2400" i="1" baseline="-25000" dirty="0">
                <a:latin typeface="Times New Roman" panose="02020503050405090304" pitchFamily="18" charset="0"/>
              </a:rPr>
              <a:t>n</a:t>
            </a:r>
            <a:r>
              <a:rPr lang="en-US" altLang="zh-CN" sz="2400" i="1" dirty="0">
                <a:latin typeface="Times New Roman" panose="02020503050405090304" pitchFamily="18" charset="0"/>
              </a:rPr>
              <a:t> </a:t>
            </a:r>
            <a:r>
              <a:rPr lang="en-US" altLang="zh-CN" sz="2400" dirty="0">
                <a:latin typeface="Symbol" panose="05050102010706020507" pitchFamily="18" charset="2"/>
              </a:rPr>
              <a:t></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where</a:t>
            </a:r>
            <a:endParaRPr lang="en-US" altLang="zh-CN" sz="2800" dirty="0">
              <a:latin typeface="Times New Roman" panose="02020503050405090304" pitchFamily="18" charset="0"/>
            </a:endParaRPr>
          </a:p>
          <a:p>
            <a:pPr lvl="1" eaLnBrk="1" hangingPunct="1">
              <a:lnSpc>
                <a:spcPct val="90000"/>
              </a:lnSpc>
            </a:pPr>
            <a:r>
              <a:rPr lang="en-US" altLang="zh-CN" sz="2400" i="1" dirty="0">
                <a:latin typeface="Times New Roman" panose="02020503050405090304" pitchFamily="18" charset="0"/>
              </a:rPr>
              <a:t>P</a:t>
            </a:r>
            <a:r>
              <a:rPr lang="en-US" altLang="zh-CN" sz="2400" baseline="-25000" dirty="0">
                <a:latin typeface="Times New Roman" panose="02020503050405090304" pitchFamily="18" charset="0"/>
              </a:rPr>
              <a:t>i</a:t>
            </a:r>
            <a:r>
              <a:rPr lang="en-US" altLang="zh-CN" sz="2400" dirty="0">
                <a:latin typeface="Times New Roman" panose="02020503050405090304" pitchFamily="18" charset="0"/>
              </a:rPr>
              <a:t> are called the </a:t>
            </a:r>
            <a:r>
              <a:rPr lang="en-US" altLang="zh-CN" sz="2400" i="1" dirty="0">
                <a:solidFill>
                  <a:schemeClr val="hlink"/>
                </a:solidFill>
                <a:latin typeface="Times New Roman" panose="02020503050405090304" pitchFamily="18" charset="0"/>
              </a:rPr>
              <a:t>hypotheses</a:t>
            </a:r>
            <a:r>
              <a:rPr lang="en-US" altLang="zh-CN" sz="2400" dirty="0">
                <a:solidFill>
                  <a:schemeClr val="hlink"/>
                </a:solidFill>
                <a:latin typeface="Times New Roman" panose="02020503050405090304" pitchFamily="18" charset="0"/>
              </a:rPr>
              <a:t>（</a:t>
            </a:r>
            <a:r>
              <a:rPr lang="zh-CN" altLang="en-US" sz="2400" dirty="0">
                <a:solidFill>
                  <a:schemeClr val="hlink"/>
                </a:solidFill>
                <a:latin typeface="Times New Roman" panose="02020503050405090304" pitchFamily="18" charset="0"/>
              </a:rPr>
              <a:t>前提）</a:t>
            </a:r>
            <a:endParaRPr lang="zh-CN" altLang="en-US" sz="2400" dirty="0">
              <a:solidFill>
                <a:schemeClr val="hlink"/>
              </a:solidFill>
              <a:latin typeface="Times New Roman" panose="02020503050405090304" pitchFamily="18" charset="0"/>
            </a:endParaRPr>
          </a:p>
          <a:p>
            <a:pPr eaLnBrk="1" hangingPunct="1">
              <a:lnSpc>
                <a:spcPct val="90000"/>
              </a:lnSpc>
            </a:pPr>
            <a:r>
              <a:rPr lang="en-US" altLang="zh-CN" sz="2800" dirty="0">
                <a:latin typeface="Times New Roman" panose="02020503050405090304" pitchFamily="18" charset="0"/>
              </a:rPr>
              <a:t>and</a:t>
            </a:r>
            <a:endParaRPr lang="en-US" altLang="zh-CN" sz="2800" dirty="0">
              <a:latin typeface="Times New Roman" panose="02020503050405090304" pitchFamily="18" charset="0"/>
            </a:endParaRPr>
          </a:p>
          <a:p>
            <a:pPr lvl="1" eaLnBrk="1" hangingPunct="1">
              <a:lnSpc>
                <a:spcPct val="90000"/>
              </a:lnSpc>
            </a:pPr>
            <a:r>
              <a:rPr lang="en-US" altLang="zh-CN" sz="2400" i="1" dirty="0">
                <a:latin typeface="Times New Roman" panose="02020503050405090304" pitchFamily="18" charset="0"/>
              </a:rPr>
              <a:t>Q </a:t>
            </a:r>
            <a:r>
              <a:rPr lang="en-US" altLang="zh-CN" sz="2400" dirty="0">
                <a:latin typeface="Times New Roman" panose="02020503050405090304" pitchFamily="18" charset="0"/>
              </a:rPr>
              <a:t>is the </a:t>
            </a:r>
            <a:r>
              <a:rPr lang="en-US" altLang="zh-CN" sz="2400" i="1" dirty="0">
                <a:solidFill>
                  <a:schemeClr val="hlink"/>
                </a:solidFill>
                <a:latin typeface="Times New Roman" panose="02020503050405090304" pitchFamily="18" charset="0"/>
              </a:rPr>
              <a:t>conclusion</a:t>
            </a:r>
            <a:r>
              <a:rPr lang="en-US" altLang="zh-CN" sz="2400" dirty="0">
                <a:solidFill>
                  <a:schemeClr val="hlink"/>
                </a:solidFill>
                <a:latin typeface="Times New Roman" panose="02020503050405090304" pitchFamily="18" charset="0"/>
              </a:rPr>
              <a:t>（</a:t>
            </a:r>
            <a:r>
              <a:rPr lang="zh-CN" altLang="en-US" sz="2400" dirty="0">
                <a:solidFill>
                  <a:schemeClr val="hlink"/>
                </a:solidFill>
                <a:latin typeface="Times New Roman" panose="02020503050405090304" pitchFamily="18" charset="0"/>
              </a:rPr>
              <a:t>结论）</a:t>
            </a:r>
            <a:r>
              <a:rPr lang="zh-CN" altLang="en-US" sz="2400" dirty="0">
                <a:latin typeface="Times New Roman" panose="02020503050405090304" pitchFamily="18" charset="0"/>
              </a:rPr>
              <a:t>.</a:t>
            </a:r>
            <a:endParaRPr lang="en-US" altLang="zh-CN" sz="2400" dirty="0">
              <a:latin typeface="Times New Roman" panose="02020503050405090304" pitchFamily="18" charset="0"/>
            </a:endParaRPr>
          </a:p>
          <a:p>
            <a:pPr eaLnBrk="1" hangingPunct="1">
              <a:lnSpc>
                <a:spcPct val="90000"/>
              </a:lnSpc>
            </a:pPr>
            <a:r>
              <a:rPr lang="en-US" altLang="zh-CN" sz="2800" i="1" dirty="0">
                <a:latin typeface="Times New Roman" panose="02020503050405090304" pitchFamily="18" charset="0"/>
              </a:rPr>
              <a:t>Q</a:t>
            </a:r>
            <a:r>
              <a:rPr lang="en-US" altLang="zh-CN" sz="2800" dirty="0">
                <a:latin typeface="Times New Roman" panose="02020503050405090304" pitchFamily="18" charset="0"/>
              </a:rPr>
              <a:t> </a:t>
            </a:r>
            <a:r>
              <a:rPr lang="en-US" altLang="zh-CN" sz="2800" i="1" dirty="0">
                <a:solidFill>
                  <a:srgbClr val="FF3300"/>
                </a:solidFill>
                <a:latin typeface="Times New Roman" panose="02020503050405090304" pitchFamily="18" charset="0"/>
              </a:rPr>
              <a:t>logically follows</a:t>
            </a:r>
            <a:r>
              <a:rPr lang="en-US" altLang="zh-CN" sz="2800" dirty="0">
                <a:latin typeface="Times New Roman" panose="02020503050405090304" pitchFamily="18" charset="0"/>
              </a:rPr>
              <a:t> from </a:t>
            </a:r>
            <a:r>
              <a:rPr lang="en-US" altLang="zh-CN" sz="2800" i="1" dirty="0">
                <a:latin typeface="Times New Roman" panose="02020503050405090304" pitchFamily="18" charset="0"/>
              </a:rPr>
              <a:t>P</a:t>
            </a:r>
            <a:r>
              <a:rPr lang="en-US" altLang="zh-CN" sz="2800" baseline="-25000" dirty="0">
                <a:latin typeface="Times New Roman" panose="02020503050405090304" pitchFamily="18" charset="0"/>
              </a:rPr>
              <a:t>1</a:t>
            </a:r>
            <a:r>
              <a:rPr lang="en-US" altLang="zh-CN" sz="2800" dirty="0">
                <a:latin typeface="Times New Roman" panose="02020503050405090304" pitchFamily="18" charset="0"/>
              </a:rPr>
              <a:t> </a:t>
            </a:r>
            <a:r>
              <a:rPr lang="en-US" altLang="zh-CN" sz="2800" dirty="0">
                <a:latin typeface="Symbol" panose="05050102010706020507" pitchFamily="18" charset="2"/>
              </a:rPr>
              <a:t>, </a:t>
            </a:r>
            <a:r>
              <a:rPr lang="en-US" altLang="zh-CN" sz="2800" i="1" dirty="0">
                <a:latin typeface="Times New Roman" panose="02020503050405090304" pitchFamily="18" charset="0"/>
              </a:rPr>
              <a:t>P</a:t>
            </a:r>
            <a:r>
              <a:rPr lang="en-US" altLang="zh-CN" sz="2800" baseline="-25000" dirty="0">
                <a:latin typeface="Times New Roman" panose="02020503050405090304" pitchFamily="18" charset="0"/>
              </a:rPr>
              <a:t>2</a:t>
            </a:r>
            <a:r>
              <a:rPr lang="en-US" altLang="zh-CN" sz="2800" dirty="0">
                <a:latin typeface="Symbol" panose="05050102010706020507" pitchFamily="18" charset="2"/>
              </a:rPr>
              <a:t>, </a:t>
            </a:r>
            <a:r>
              <a:rPr lang="en-US" altLang="zh-CN" sz="2800" dirty="0">
                <a:latin typeface="Times New Roman" panose="02020503050405090304" pitchFamily="18" charset="0"/>
              </a:rPr>
              <a:t>…</a:t>
            </a:r>
            <a:r>
              <a:rPr lang="en-US" altLang="zh-CN" sz="2800" dirty="0">
                <a:latin typeface="Symbol" panose="05050102010706020507" pitchFamily="18" charset="2"/>
              </a:rPr>
              <a:t>,</a:t>
            </a:r>
            <a:r>
              <a:rPr lang="en-US" altLang="zh-CN" sz="2800" i="1" dirty="0">
                <a:latin typeface="Times New Roman" panose="02020503050405090304" pitchFamily="18" charset="0"/>
              </a:rPr>
              <a:t>P</a:t>
            </a:r>
            <a:r>
              <a:rPr lang="en-US" altLang="zh-CN" sz="2800" i="1" baseline="-25000" dirty="0">
                <a:latin typeface="Times New Roman" panose="02020503050405090304" pitchFamily="18" charset="0"/>
              </a:rPr>
              <a:t>n</a:t>
            </a:r>
            <a:endParaRPr lang="en-US" altLang="zh-CN" sz="2800" dirty="0">
              <a:latin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921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922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922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Rules of Inference -</a:t>
            </a:r>
            <a:r>
              <a:rPr lang="zh-CN" altLang="en-US" dirty="0">
                <a:latin typeface="Times New Roman" panose="02020503050405090304" pitchFamily="18" charset="0"/>
              </a:rPr>
              <a:t>推理规则</a:t>
            </a:r>
            <a:endParaRPr lang="en-US" altLang="zh-CN" dirty="0">
              <a:latin typeface="Times New Roman" panose="02020503050405090304" pitchFamily="18" charset="0"/>
            </a:endParaRPr>
          </a:p>
        </p:txBody>
      </p:sp>
      <p:sp>
        <p:nvSpPr>
          <p:cNvPr id="9222" name="Rectangle 3"/>
          <p:cNvSpPr>
            <a:spLocks noGrp="1"/>
          </p:cNvSpPr>
          <p:nvPr>
            <p:ph idx="1"/>
          </p:nvPr>
        </p:nvSpPr>
        <p:spPr>
          <a:xfrm>
            <a:off x="1187450" y="1844675"/>
            <a:ext cx="7772400" cy="4114800"/>
          </a:xfrm>
        </p:spPr>
        <p:txBody>
          <a:bodyPr vert="horz" wrap="square" lIns="91440" tIns="45720" rIns="91440" bIns="45720" anchor="t" anchorCtr="0"/>
          <a:p>
            <a:pPr eaLnBrk="1" hangingPunct="1"/>
            <a:r>
              <a:rPr lang="en-US" altLang="zh-CN" sz="2800" dirty="0">
                <a:latin typeface="Times New Roman" panose="02020503050405090304" pitchFamily="18" charset="0"/>
              </a:rPr>
              <a:t>As a rule of inference they take the symbolic form:</a:t>
            </a:r>
            <a:endParaRPr lang="en-US" altLang="zh-CN" sz="2800" dirty="0">
              <a:latin typeface="Times New Roman" panose="02020503050405090304" pitchFamily="18" charset="0"/>
            </a:endParaRPr>
          </a:p>
          <a:p>
            <a:pPr lvl="1" eaLnBrk="1" hangingPunct="1">
              <a:buNone/>
            </a:pPr>
            <a:r>
              <a:rPr lang="en-US" altLang="zh-CN" sz="2400" i="1" dirty="0">
                <a:latin typeface="Times New Roman" panose="02020503050405090304" pitchFamily="18" charset="0"/>
              </a:rPr>
              <a:t>			</a:t>
            </a:r>
            <a:r>
              <a:rPr lang="en-US" altLang="zh-CN" sz="2400" b="1" i="1" dirty="0">
                <a:latin typeface="Times New Roman" panose="02020503050405090304" pitchFamily="18" charset="0"/>
              </a:rPr>
              <a:t>P</a:t>
            </a:r>
            <a:r>
              <a:rPr lang="en-US" altLang="zh-CN" sz="2400" b="1" baseline="-25000" dirty="0">
                <a:latin typeface="Times New Roman" panose="02020503050405090304" pitchFamily="18" charset="0"/>
              </a:rPr>
              <a:t>1</a:t>
            </a:r>
            <a:endParaRPr lang="en-US" altLang="zh-CN" sz="2400" b="1" baseline="-25000" dirty="0">
              <a:latin typeface="Times New Roman" panose="02020503050405090304" pitchFamily="18" charset="0"/>
            </a:endParaRPr>
          </a:p>
          <a:p>
            <a:pPr lvl="1" eaLnBrk="1" hangingPunct="1">
              <a:buNone/>
            </a:pPr>
            <a:r>
              <a:rPr lang="en-US" altLang="zh-CN" sz="2400" b="1" i="1" dirty="0">
                <a:latin typeface="Times New Roman" panose="02020503050405090304" pitchFamily="18" charset="0"/>
              </a:rPr>
              <a:t>			P</a:t>
            </a:r>
            <a:r>
              <a:rPr lang="en-US" altLang="zh-CN" sz="2400" b="1" baseline="-25000" dirty="0">
                <a:latin typeface="Times New Roman" panose="02020503050405090304" pitchFamily="18" charset="0"/>
              </a:rPr>
              <a:t>2</a:t>
            </a:r>
            <a:endParaRPr lang="en-US" altLang="zh-CN" sz="2400" b="1" baseline="-25000"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a:t>
            </a:r>
            <a:endParaRPr lang="en-US" altLang="zh-CN"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a:t>
            </a:r>
            <a:endParaRPr lang="en-US" altLang="zh-CN" sz="2400" b="1" dirty="0">
              <a:latin typeface="Times New Roman" panose="02020503050405090304" pitchFamily="18" charset="0"/>
            </a:endParaRPr>
          </a:p>
          <a:p>
            <a:pPr lvl="1" eaLnBrk="1" hangingPunct="1">
              <a:buNone/>
            </a:pPr>
            <a:r>
              <a:rPr lang="en-US" altLang="zh-CN" sz="2400" b="1" i="1" dirty="0">
                <a:latin typeface="Times New Roman" panose="02020503050405090304" pitchFamily="18" charset="0"/>
              </a:rPr>
              <a:t>			P</a:t>
            </a:r>
            <a:r>
              <a:rPr lang="en-US" altLang="zh-CN" sz="2400" b="1" i="1" baseline="-25000" dirty="0">
                <a:latin typeface="Times New Roman" panose="02020503050405090304" pitchFamily="18" charset="0"/>
              </a:rPr>
              <a:t>n</a:t>
            </a:r>
            <a:endParaRPr lang="en-US" altLang="zh-CN" sz="2400" b="1" i="1" baseline="-25000" dirty="0">
              <a:latin typeface="Times New Roman" panose="02020503050405090304" pitchFamily="18" charset="0"/>
            </a:endParaRPr>
          </a:p>
          <a:p>
            <a:pPr lvl="1" eaLnBrk="1" hangingPunct="1">
              <a:buNone/>
            </a:pPr>
            <a:r>
              <a:rPr lang="en-US" altLang="zh-CN" sz="2400" b="1" dirty="0">
                <a:latin typeface="Symbol" panose="05050102010706020507" pitchFamily="18" charset="2"/>
              </a:rPr>
              <a:t>			\</a:t>
            </a:r>
            <a:r>
              <a:rPr lang="en-US" altLang="zh-CN" sz="2400" b="1" i="1" dirty="0">
                <a:latin typeface="Times New Roman" panose="02020503050405090304" pitchFamily="18" charset="0"/>
              </a:rPr>
              <a:t>Q</a:t>
            </a:r>
            <a:endParaRPr lang="en-US" altLang="zh-CN" sz="2400" b="1" i="1" dirty="0">
              <a:latin typeface="Times New Roman" panose="02020503050405090304" pitchFamily="18" charset="0"/>
            </a:endParaRPr>
          </a:p>
          <a:p>
            <a:pPr eaLnBrk="1" hangingPunct="1"/>
            <a:r>
              <a:rPr lang="en-US" altLang="zh-CN" sz="2800" dirty="0">
                <a:latin typeface="Times New Roman" panose="02020503050405090304" pitchFamily="18" charset="0"/>
              </a:rPr>
              <a:t>where </a:t>
            </a:r>
            <a:r>
              <a:rPr lang="en-US" altLang="zh-CN" sz="2800" dirty="0">
                <a:latin typeface="Symbol" panose="05050102010706020507" pitchFamily="18" charset="2"/>
              </a:rPr>
              <a:t>\ </a:t>
            </a:r>
            <a:r>
              <a:rPr lang="en-US" altLang="zh-CN" sz="2800" dirty="0">
                <a:latin typeface="Times New Roman" panose="02020503050405090304" pitchFamily="18" charset="0"/>
              </a:rPr>
              <a:t>means 'therefore' or 'it follows that.'</a:t>
            </a:r>
            <a:endParaRPr lang="en-US" altLang="zh-CN" sz="2800" dirty="0">
              <a:latin typeface="Times New Roman" panose="02020503050405090304"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024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024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0245" name="Rectangle 2"/>
          <p:cNvSpPr>
            <a:spLocks noGrp="1"/>
          </p:cNvSpPr>
          <p:nvPr>
            <p:ph type="title"/>
          </p:nvPr>
        </p:nvSpPr>
        <p:spPr/>
        <p:txBody>
          <a:bodyPr vert="horz" wrap="square" lIns="91440" tIns="45720" rIns="91440" bIns="45720" anchor="b" anchorCtr="0"/>
          <a:p>
            <a:pPr eaLnBrk="1" hangingPunct="1"/>
            <a:r>
              <a:rPr lang="en-US" altLang="zh-CN" dirty="0"/>
              <a:t>Note</a:t>
            </a:r>
            <a:endParaRPr lang="en-US" altLang="zh-CN" dirty="0"/>
          </a:p>
        </p:txBody>
      </p:sp>
      <p:sp>
        <p:nvSpPr>
          <p:cNvPr id="10246" name="Rectangle 3"/>
          <p:cNvSpPr>
            <a:spLocks noGrp="1"/>
          </p:cNvSpPr>
          <p:nvPr>
            <p:ph idx="1"/>
          </p:nvPr>
        </p:nvSpPr>
        <p:spPr>
          <a:xfrm>
            <a:off x="318770" y="1340485"/>
            <a:ext cx="8425180" cy="4114800"/>
          </a:xfrm>
        </p:spPr>
        <p:txBody>
          <a:bodyPr vert="horz" wrap="square" lIns="91440" tIns="45720" rIns="91440" bIns="45720" anchor="t" anchorCtr="0"/>
          <a:p>
            <a:pPr eaLnBrk="1" hangingPunct="1"/>
            <a:r>
              <a:rPr lang="zh-CN" altLang="en-US" sz="2800" dirty="0"/>
              <a:t> </a:t>
            </a:r>
            <a:r>
              <a:rPr lang="en-US" altLang="zh-CN" dirty="0">
                <a:latin typeface="Times New Roman" panose="02020503050405090304" pitchFamily="18" charset="0"/>
              </a:rPr>
              <a:t>To "</a:t>
            </a:r>
            <a:r>
              <a:rPr lang="en-US" altLang="zh-CN" dirty="0">
                <a:solidFill>
                  <a:srgbClr val="FF3300"/>
                </a:solidFill>
                <a:latin typeface="Times New Roman" panose="02020503050405090304" pitchFamily="18" charset="0"/>
              </a:rPr>
              <a:t>prove the theorem</a:t>
            </a:r>
            <a:r>
              <a:rPr lang="en-US" altLang="zh-CN" dirty="0">
                <a:latin typeface="Times New Roman" panose="02020503050405090304" pitchFamily="18" charset="0"/>
              </a:rPr>
              <a:t>" means to show that the </a:t>
            </a:r>
            <a:r>
              <a:rPr lang="en-US" altLang="zh-CN" dirty="0">
                <a:solidFill>
                  <a:srgbClr val="FF3300"/>
                </a:solidFill>
                <a:latin typeface="Times New Roman" panose="02020503050405090304" pitchFamily="18" charset="0"/>
              </a:rPr>
              <a:t>implication</a:t>
            </a:r>
            <a:r>
              <a:rPr lang="en-US" altLang="zh-CN" dirty="0">
                <a:latin typeface="Times New Roman" panose="02020503050405090304" pitchFamily="18" charset="0"/>
              </a:rPr>
              <a:t> is a tautology.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not trying to show that </a:t>
            </a:r>
            <a:r>
              <a:rPr lang="en-US" altLang="zh-CN" i="1" dirty="0">
                <a:latin typeface="Times New Roman" panose="02020503050405090304" pitchFamily="18" charset="0"/>
              </a:rPr>
              <a:t>Q</a:t>
            </a:r>
            <a:r>
              <a:rPr lang="en-US" altLang="zh-CN" dirty="0">
                <a:latin typeface="Times New Roman" panose="02020503050405090304" pitchFamily="18" charset="0"/>
              </a:rPr>
              <a:t> (the conclusion) is true, but only that </a:t>
            </a:r>
            <a:r>
              <a:rPr lang="en-US" altLang="zh-CN" i="1" dirty="0">
                <a:latin typeface="Times New Roman" panose="02020503050405090304" pitchFamily="18" charset="0"/>
              </a:rPr>
              <a:t>Q</a:t>
            </a:r>
            <a:r>
              <a:rPr lang="en-US" altLang="zh-CN" dirty="0">
                <a:latin typeface="Times New Roman" panose="02020503050405090304" pitchFamily="18" charset="0"/>
              </a:rPr>
              <a:t> will be true if all the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i</a:t>
            </a:r>
            <a:r>
              <a:rPr lang="en-US" altLang="zh-CN" i="1" dirty="0">
                <a:latin typeface="Times New Roman" panose="02020503050405090304" pitchFamily="18" charset="0"/>
              </a:rPr>
              <a:t> </a:t>
            </a:r>
            <a:r>
              <a:rPr lang="en-US" altLang="zh-CN" dirty="0">
                <a:latin typeface="Times New Roman" panose="02020503050405090304" pitchFamily="18" charset="0"/>
              </a:rPr>
              <a:t>are true.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mathematical proofs often begin with the statement "suppose that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1</a:t>
            </a:r>
            <a:r>
              <a:rPr lang="en-US" altLang="zh-CN" dirty="0">
                <a:latin typeface="Times New Roman" panose="02020503050405090304" pitchFamily="18" charset="0"/>
              </a:rPr>
              <a:t> ,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2</a:t>
            </a:r>
            <a:r>
              <a:rPr lang="en-US" altLang="zh-CN" dirty="0">
                <a:latin typeface="Times New Roman" panose="02020503050405090304" pitchFamily="18" charset="0"/>
              </a:rPr>
              <a:t>, . . . , and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n</a:t>
            </a:r>
            <a:r>
              <a:rPr lang="en-US" altLang="zh-CN" dirty="0">
                <a:latin typeface="Times New Roman" panose="02020503050405090304" pitchFamily="18" charset="0"/>
              </a:rPr>
              <a:t> are true" and conclude with the statement "therefore, </a:t>
            </a:r>
            <a:r>
              <a:rPr lang="en-US" altLang="zh-CN" i="1" dirty="0">
                <a:latin typeface="Times New Roman" panose="02020503050405090304" pitchFamily="18" charset="0"/>
              </a:rPr>
              <a:t>Q</a:t>
            </a:r>
            <a:r>
              <a:rPr lang="en-US" altLang="zh-CN" dirty="0">
                <a:latin typeface="Times New Roman" panose="02020503050405090304" pitchFamily="18" charset="0"/>
              </a:rPr>
              <a:t> is true‘.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 proof does not show that </a:t>
            </a:r>
            <a:r>
              <a:rPr lang="en-US" altLang="zh-CN" i="1" dirty="0">
                <a:latin typeface="Times New Roman" panose="02020503050405090304" pitchFamily="18" charset="0"/>
              </a:rPr>
              <a:t>Q</a:t>
            </a:r>
            <a:r>
              <a:rPr lang="en-US" altLang="zh-CN" dirty="0">
                <a:latin typeface="Times New Roman" panose="02020503050405090304" pitchFamily="18" charset="0"/>
              </a:rPr>
              <a:t> is true, but simply shows that </a:t>
            </a:r>
            <a:r>
              <a:rPr lang="en-US" altLang="zh-CN" i="1" dirty="0">
                <a:latin typeface="Times New Roman" panose="02020503050405090304" pitchFamily="18" charset="0"/>
              </a:rPr>
              <a:t>Q</a:t>
            </a:r>
            <a:r>
              <a:rPr lang="en-US" altLang="zh-CN" dirty="0">
                <a:latin typeface="Times New Roman" panose="02020503050405090304" pitchFamily="18" charset="0"/>
              </a:rPr>
              <a:t> has to be true if the </a:t>
            </a:r>
            <a:r>
              <a:rPr lang="en-US" altLang="zh-CN" i="1" dirty="0">
                <a:latin typeface="Times New Roman" panose="02020503050405090304" pitchFamily="18" charset="0"/>
              </a:rPr>
              <a:t>P</a:t>
            </a:r>
            <a:r>
              <a:rPr lang="en-US" altLang="zh-CN" i="1" baseline="-25000" dirty="0">
                <a:latin typeface="Times New Roman" panose="02020503050405090304" pitchFamily="18" charset="0"/>
              </a:rPr>
              <a:t>i</a:t>
            </a:r>
            <a:r>
              <a:rPr lang="en-US" altLang="zh-CN" dirty="0">
                <a:latin typeface="Times New Roman" panose="02020503050405090304" pitchFamily="18" charset="0"/>
              </a:rPr>
              <a:t> are all true.</a:t>
            </a:r>
            <a:endParaRPr lang="en-US" altLang="zh-CN" dirty="0">
              <a:latin typeface="Times New Roman" panose="02020503050405090304"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126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126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126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Rules of Inference</a:t>
            </a:r>
            <a:endParaRPr lang="zh-CN" altLang="en-US" dirty="0">
              <a:latin typeface="Times New Roman" panose="02020503050405090304" pitchFamily="18" charset="0"/>
            </a:endParaRPr>
          </a:p>
        </p:txBody>
      </p:sp>
      <p:sp>
        <p:nvSpPr>
          <p:cNvPr id="11270" name="Rectangle 3"/>
          <p:cNvSpPr>
            <a:spLocks noGrp="1"/>
          </p:cNvSpPr>
          <p:nvPr>
            <p:ph idx="1"/>
          </p:nvPr>
        </p:nvSpPr>
        <p:spPr>
          <a:xfrm>
            <a:off x="971550" y="148463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Arguments based on tautologies represent universally correct methods of reasoning. </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Their </a:t>
            </a:r>
            <a:r>
              <a:rPr lang="en-US" altLang="zh-CN" i="1" dirty="0">
                <a:solidFill>
                  <a:srgbClr val="FF3300"/>
                </a:solidFill>
                <a:latin typeface="Times New Roman" panose="02020503050405090304" pitchFamily="18" charset="0"/>
              </a:rPr>
              <a:t>validity</a:t>
            </a:r>
            <a:r>
              <a:rPr lang="en-US" altLang="zh-CN" dirty="0">
                <a:latin typeface="Times New Roman" panose="02020503050405090304" pitchFamily="18" charset="0"/>
              </a:rPr>
              <a:t> depends only on the form of the statements involved and not on the truth values of the variables they contain. Such arguments are called </a:t>
            </a:r>
            <a:r>
              <a:rPr lang="en-US" altLang="zh-CN" i="1" dirty="0">
                <a:solidFill>
                  <a:srgbClr val="FF3300"/>
                </a:solidFill>
                <a:latin typeface="Times New Roman" panose="02020503050405090304" pitchFamily="18" charset="0"/>
              </a:rPr>
              <a:t>rules of inference</a:t>
            </a:r>
            <a:r>
              <a:rPr lang="en-US" altLang="zh-CN" i="1" dirty="0">
                <a:latin typeface="Times New Roman" panose="02020503050405090304" pitchFamily="18" charset="0"/>
              </a:rPr>
              <a:t>.</a:t>
            </a:r>
            <a:endParaRPr lang="en-US" altLang="zh-CN" i="1" dirty="0">
              <a:latin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229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229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229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Rules of Inference</a:t>
            </a:r>
            <a:endParaRPr lang="zh-CN" altLang="en-US" dirty="0">
              <a:latin typeface="Times New Roman" panose="02020503050405090304" pitchFamily="18" charset="0"/>
            </a:endParaRPr>
          </a:p>
        </p:txBody>
      </p:sp>
      <p:sp>
        <p:nvSpPr>
          <p:cNvPr id="12294" name="Rectangle 3"/>
          <p:cNvSpPr>
            <a:spLocks noGrp="1"/>
          </p:cNvSpPr>
          <p:nvPr>
            <p:ph idx="1"/>
          </p:nvPr>
        </p:nvSpPr>
        <p:spPr>
          <a:xfrm>
            <a:off x="971550" y="137160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The various steps in a mathematical proof of a theorem must follow from the use of various rules of inference.</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A mathematical proof of a theorem must begin with the </a:t>
            </a:r>
            <a:r>
              <a:rPr lang="en-US" altLang="zh-CN" dirty="0">
                <a:solidFill>
                  <a:srgbClr val="FF3300"/>
                </a:solidFill>
                <a:latin typeface="Times New Roman" panose="02020503050405090304" pitchFamily="18" charset="0"/>
              </a:rPr>
              <a:t>hypotheses</a:t>
            </a:r>
            <a:r>
              <a:rPr lang="en-US" altLang="zh-CN" dirty="0">
                <a:latin typeface="Times New Roman" panose="02020503050405090304" pitchFamily="18" charset="0"/>
              </a:rPr>
              <a:t>, proceed through various steps, each justified by some </a:t>
            </a:r>
            <a:r>
              <a:rPr lang="en-US" altLang="zh-CN" dirty="0">
                <a:solidFill>
                  <a:srgbClr val="FF3300"/>
                </a:solidFill>
                <a:latin typeface="Times New Roman" panose="02020503050405090304" pitchFamily="18" charset="0"/>
              </a:rPr>
              <a:t>rule of inference</a:t>
            </a:r>
            <a:r>
              <a:rPr lang="en-US" altLang="zh-CN" dirty="0">
                <a:latin typeface="Times New Roman" panose="02020503050405090304" pitchFamily="18" charset="0"/>
              </a:rPr>
              <a:t>, and arrive at the </a:t>
            </a:r>
            <a:r>
              <a:rPr lang="en-US" altLang="zh-CN" dirty="0">
                <a:solidFill>
                  <a:srgbClr val="FF3300"/>
                </a:solidFill>
                <a:latin typeface="Times New Roman" panose="02020503050405090304" pitchFamily="18" charset="0"/>
              </a:rPr>
              <a:t>conclusion</a:t>
            </a:r>
            <a:r>
              <a:rPr lang="en-US" altLang="zh-CN" dirty="0">
                <a:latin typeface="Times New Roman" panose="02020503050405090304" pitchFamily="18" charset="0"/>
              </a:rPr>
              <a:t>.</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331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331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3317" name="Rectangle 2"/>
          <p:cNvSpPr>
            <a:spLocks noGrp="1"/>
          </p:cNvSpPr>
          <p:nvPr>
            <p:ph type="title"/>
          </p:nvPr>
        </p:nvSpPr>
        <p:spPr/>
        <p:txBody>
          <a:bodyPr vert="horz" wrap="square" lIns="91440" tIns="45720" rIns="91440" bIns="45720" anchor="b" anchorCtr="0"/>
          <a:p>
            <a:pPr eaLnBrk="1" hangingPunct="1"/>
            <a:r>
              <a:rPr lang="en-US" altLang="zh-CN" i="1" dirty="0">
                <a:latin typeface="Times New Roman" panose="02020503050405090304" pitchFamily="18" charset="0"/>
              </a:rPr>
              <a:t>modus ponens</a:t>
            </a:r>
            <a:r>
              <a:rPr lang="en-US" altLang="zh-CN" dirty="0">
                <a:latin typeface="Times New Roman" panose="02020503050405090304" pitchFamily="18" charset="0"/>
              </a:rPr>
              <a:t>(</a:t>
            </a:r>
            <a:r>
              <a:rPr lang="zh-CN" altLang="en-US" dirty="0">
                <a:latin typeface="Times New Roman" panose="02020503050405090304" pitchFamily="18" charset="0"/>
              </a:rPr>
              <a:t>假言推理规则）</a:t>
            </a:r>
            <a:endParaRPr lang="zh-CN" altLang="en-US" dirty="0">
              <a:latin typeface="Times New Roman" panose="02020503050405090304" pitchFamily="18" charset="0"/>
            </a:endParaRPr>
          </a:p>
        </p:txBody>
      </p:sp>
      <p:sp>
        <p:nvSpPr>
          <p:cNvPr id="13318" name="Rectangle 3"/>
          <p:cNvSpPr>
            <a:spLocks noGrp="1"/>
          </p:cNvSpPr>
          <p:nvPr>
            <p:ph idx="1"/>
          </p:nvPr>
        </p:nvSpPr>
        <p:spPr>
          <a:xfrm>
            <a:off x="1115695" y="1484630"/>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The tautology </a:t>
            </a:r>
            <a:r>
              <a:rPr lang="en-US" altLang="zh-CN" i="1" dirty="0">
                <a:latin typeface="Times New Roman" panose="02020503050405090304" pitchFamily="18" charset="0"/>
              </a:rPr>
              <a:t>P </a:t>
            </a:r>
            <a:r>
              <a:rPr lang="en-US" altLang="zh-CN" dirty="0">
                <a:latin typeface="Symbol" panose="05050102010706020507" pitchFamily="18" charset="2"/>
              </a:rPr>
              <a:t>Ù </a:t>
            </a:r>
            <a:r>
              <a:rPr lang="en-US" altLang="zh-CN" dirty="0">
                <a:latin typeface="Times New Roman" panose="02020503050405090304" pitchFamily="18" charset="0"/>
              </a:rPr>
              <a:t>(</a:t>
            </a:r>
            <a:r>
              <a:rPr lang="en-US" altLang="zh-CN" i="1" dirty="0">
                <a:latin typeface="Times New Roman" panose="02020503050405090304" pitchFamily="18" charset="0"/>
              </a:rPr>
              <a:t>P</a:t>
            </a:r>
            <a:r>
              <a:rPr lang="en-US" altLang="zh-CN" dirty="0">
                <a:latin typeface="Euclid" panose="02020503060505020303" pitchFamily="18" charset="0"/>
                <a:sym typeface="Symbol" panose="05050102010706020507" pitchFamily="18" charset="2"/>
              </a:rPr>
              <a:t></a:t>
            </a:r>
            <a:r>
              <a:rPr lang="en-US" altLang="zh-CN" i="1" dirty="0">
                <a:latin typeface="Times New Roman" panose="02020503050405090304" pitchFamily="18" charset="0"/>
              </a:rPr>
              <a:t>Q</a:t>
            </a:r>
            <a:r>
              <a:rPr lang="en-US" altLang="zh-CN" dirty="0">
                <a:latin typeface="Times New Roman" panose="02020503050405090304" pitchFamily="18" charset="0"/>
              </a:rPr>
              <a:t>) </a:t>
            </a:r>
            <a:r>
              <a:rPr lang="en-US" altLang="zh-CN" dirty="0">
                <a:latin typeface="Euclid" panose="02020503060505020303" pitchFamily="18" charset="0"/>
                <a:sym typeface="Symbol" panose="05050102010706020507" pitchFamily="18" charset="2"/>
              </a:rPr>
              <a:t> </a:t>
            </a:r>
            <a:r>
              <a:rPr lang="en-US" altLang="zh-CN" i="1" dirty="0">
                <a:latin typeface="Times New Roman" panose="02020503050405090304" pitchFamily="18" charset="0"/>
              </a:rPr>
              <a:t>Q </a:t>
            </a:r>
            <a:r>
              <a:rPr lang="en-US" altLang="zh-CN" dirty="0">
                <a:latin typeface="Times New Roman" panose="02020503050405090304" pitchFamily="18" charset="0"/>
              </a:rPr>
              <a:t>becomes</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		</a:t>
            </a:r>
            <a:r>
              <a:rPr lang="en-US" altLang="zh-CN" b="1" i="1" dirty="0">
                <a:latin typeface="Times New Roman" panose="02020503050405090304" pitchFamily="18" charset="0"/>
              </a:rPr>
              <a:t>P</a:t>
            </a:r>
            <a:endParaRPr lang="en-US" altLang="zh-CN" b="1" i="1" dirty="0">
              <a:latin typeface="Times New Roman" panose="02020503050405090304" pitchFamily="18" charset="0"/>
            </a:endParaRPr>
          </a:p>
          <a:p>
            <a:pPr lvl="1" eaLnBrk="1" hangingPunct="1">
              <a:buNone/>
            </a:pPr>
            <a:r>
              <a:rPr lang="en-US" altLang="zh-CN" b="1" i="1" dirty="0">
                <a:latin typeface="Times New Roman" panose="02020503050405090304" pitchFamily="18" charset="0"/>
              </a:rPr>
              <a:t>		P</a:t>
            </a:r>
            <a:r>
              <a:rPr lang="en-US" altLang="zh-CN" dirty="0">
                <a:latin typeface="Euclid" panose="02020503060505020303" pitchFamily="18" charset="0"/>
                <a:sym typeface="Symbol" panose="05050102010706020507" pitchFamily="18" charset="2"/>
              </a:rPr>
              <a:t></a:t>
            </a:r>
            <a:r>
              <a:rPr lang="en-US" altLang="zh-CN" b="1" i="1" dirty="0">
                <a:latin typeface="Times New Roman" panose="02020503050405090304" pitchFamily="18" charset="0"/>
              </a:rPr>
              <a:t>Q</a:t>
            </a:r>
            <a:endParaRPr lang="en-US" altLang="zh-CN" b="1" i="1" dirty="0">
              <a:latin typeface="Times New Roman" panose="02020503050405090304" pitchFamily="18" charset="0"/>
            </a:endParaRPr>
          </a:p>
          <a:p>
            <a:pPr lvl="1" eaLnBrk="1" hangingPunct="1">
              <a:buNone/>
            </a:pPr>
            <a:r>
              <a:rPr lang="en-US" altLang="zh-CN" b="1" dirty="0">
                <a:latin typeface="Symbol" panose="05050102010706020507" pitchFamily="18" charset="2"/>
              </a:rPr>
              <a:t>		\</a:t>
            </a:r>
            <a:r>
              <a:rPr lang="en-US" altLang="zh-CN" b="1" i="1" dirty="0">
                <a:latin typeface="Times New Roman" panose="02020503050405090304" pitchFamily="18" charset="0"/>
              </a:rPr>
              <a:t>Q</a:t>
            </a:r>
            <a:endParaRPr lang="en-US" altLang="zh-CN" b="1" i="1" dirty="0">
              <a:latin typeface="Times New Roman" panose="02020503050405090304" pitchFamily="18" charset="0"/>
            </a:endParaRPr>
          </a:p>
          <a:p>
            <a:pPr eaLnBrk="1" hangingPunct="1"/>
            <a:r>
              <a:rPr lang="en-US" altLang="zh-CN" dirty="0">
                <a:latin typeface="Times New Roman" panose="02020503050405090304" pitchFamily="18" charset="0"/>
              </a:rPr>
              <a:t>This means that whenever </a:t>
            </a:r>
            <a:r>
              <a:rPr lang="en-US" altLang="zh-CN" i="1" dirty="0">
                <a:latin typeface="Times New Roman" panose="02020503050405090304" pitchFamily="18" charset="0"/>
              </a:rPr>
              <a:t>P </a:t>
            </a:r>
            <a:r>
              <a:rPr lang="en-US" altLang="zh-CN" dirty="0">
                <a:latin typeface="Times New Roman" panose="02020503050405090304" pitchFamily="18" charset="0"/>
              </a:rPr>
              <a:t>is true and </a:t>
            </a:r>
            <a:r>
              <a:rPr lang="en-US" altLang="zh-CN" i="1" dirty="0">
                <a:latin typeface="Times New Roman" panose="02020503050405090304" pitchFamily="18" charset="0"/>
              </a:rPr>
              <a:t>P</a:t>
            </a:r>
            <a:r>
              <a:rPr lang="en-US" altLang="zh-CN" dirty="0">
                <a:latin typeface="Euclid" panose="02020503060505020303" pitchFamily="18" charset="0"/>
                <a:sym typeface="Symbol" panose="05050102010706020507" pitchFamily="18" charset="2"/>
              </a:rPr>
              <a:t></a:t>
            </a:r>
            <a:r>
              <a:rPr lang="en-US" altLang="zh-CN" i="1" dirty="0">
                <a:latin typeface="Times New Roman" panose="02020503050405090304" pitchFamily="18" charset="0"/>
              </a:rPr>
              <a:t>Q </a:t>
            </a:r>
            <a:r>
              <a:rPr lang="en-US" altLang="zh-CN" dirty="0">
                <a:latin typeface="Times New Roman" panose="02020503050405090304" pitchFamily="18" charset="0"/>
              </a:rPr>
              <a:t>is true we can conclude logically that </a:t>
            </a:r>
            <a:r>
              <a:rPr lang="en-US" altLang="zh-CN" i="1" dirty="0">
                <a:latin typeface="Times New Roman" panose="02020503050405090304" pitchFamily="18" charset="0"/>
              </a:rPr>
              <a:t>Q </a:t>
            </a:r>
            <a:r>
              <a:rPr lang="en-US" altLang="zh-CN" dirty="0">
                <a:latin typeface="Times New Roman" panose="02020503050405090304" pitchFamily="18" charset="0"/>
              </a:rPr>
              <a:t>is true.</a:t>
            </a:r>
            <a:endParaRPr lang="en-US" altLang="zh-CN" dirty="0">
              <a:latin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433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434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434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Famous rules of inference</a:t>
            </a:r>
            <a:endParaRPr lang="en-US" altLang="zh-CN" dirty="0">
              <a:latin typeface="Times New Roman" panose="02020503050405090304" pitchFamily="18" charset="0"/>
            </a:endParaRPr>
          </a:p>
        </p:txBody>
      </p:sp>
      <p:sp>
        <p:nvSpPr>
          <p:cNvPr id="14342" name="Rectangle 3"/>
          <p:cNvSpPr>
            <a:spLocks noGrp="1"/>
          </p:cNvSpPr>
          <p:nvPr>
            <p:ph idx="1"/>
          </p:nvPr>
        </p:nvSpPr>
        <p:spPr>
          <a:xfrm>
            <a:off x="971550" y="1268730"/>
            <a:ext cx="7846060" cy="5047615"/>
          </a:xfrm>
        </p:spPr>
        <p:txBody>
          <a:bodyPr vert="horz" wrap="square" lIns="91440" tIns="45720" rIns="91440" bIns="45720" anchor="t" anchorCtr="0"/>
          <a:p>
            <a:pPr eaLnBrk="1" hangingPunct="1">
              <a:lnSpc>
                <a:spcPct val="80000"/>
              </a:lnSpc>
            </a:pP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Symbol" panose="05050102010706020507" pitchFamily="18" charset="2"/>
              </a:rPr>
              <a:t>Ú </a:t>
            </a:r>
            <a:r>
              <a:rPr lang="en-US" altLang="zh-CN" sz="2400" i="1" dirty="0">
                <a:latin typeface="Times New Roman" panose="02020503050405090304" pitchFamily="18" charset="0"/>
              </a:rPr>
              <a:t>Q 	</a:t>
            </a:r>
            <a:r>
              <a:rPr lang="en-US" altLang="zh-CN" sz="2400" b="1" dirty="0">
                <a:latin typeface="Times New Roman" panose="02020503050405090304" pitchFamily="18" charset="0"/>
              </a:rPr>
              <a:t>Addition（</a:t>
            </a:r>
            <a:r>
              <a:rPr lang="zh-CN" altLang="en-US" sz="2400" b="1" dirty="0">
                <a:latin typeface="Times New Roman" panose="02020503050405090304" pitchFamily="18" charset="0"/>
              </a:rPr>
              <a:t>析取引入规则）</a:t>
            </a:r>
            <a:endParaRPr lang="zh-CN" altLang="en-US" sz="2400" dirty="0">
              <a:latin typeface="Times New Roman" panose="02020503050405090304" pitchFamily="18" charset="0"/>
            </a:endParaRPr>
          </a:p>
          <a:p>
            <a:pPr eaLnBrk="1" hangingPunct="1">
              <a:lnSpc>
                <a:spcPct val="80000"/>
              </a:lnSpc>
            </a:pPr>
            <a:endParaRPr lang="en-US" altLang="zh-CN" sz="2400" i="1" dirty="0">
              <a:latin typeface="Times New Roman" panose="02020503050405090304" pitchFamily="18" charset="0"/>
            </a:endParaRPr>
          </a:p>
          <a:p>
            <a:pPr eaLnBrk="1" hangingPunct="1">
              <a:lnSpc>
                <a:spcPct val="8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b="1" dirty="0">
                <a:latin typeface="Times New Roman" panose="02020503050405090304" pitchFamily="18" charset="0"/>
              </a:rPr>
              <a:t>Simplification（</a:t>
            </a:r>
            <a:r>
              <a:rPr lang="zh-CN" altLang="en-US" sz="2400" b="1" dirty="0">
                <a:latin typeface="Times New Roman" panose="02020503050405090304" pitchFamily="18" charset="0"/>
              </a:rPr>
              <a:t>合取消去规则）</a:t>
            </a:r>
            <a:endParaRPr lang="zh-CN" altLang="en-US" sz="2400" dirty="0">
              <a:latin typeface="Times New Roman" panose="02020503050405090304" pitchFamily="18" charset="0"/>
            </a:endParaRPr>
          </a:p>
          <a:p>
            <a:pPr eaLnBrk="1" hangingPunct="1">
              <a:lnSpc>
                <a:spcPct val="80000"/>
              </a:lnSpc>
            </a:pPr>
            <a:endParaRPr lang="en-US" altLang="zh-CN" sz="2400" dirty="0">
              <a:latin typeface="Symbol" panose="05050102010706020507" pitchFamily="18" charset="2"/>
              <a:sym typeface="Symbol" panose="05050102010706020507" pitchFamily="18" charset="2"/>
            </a:endParaRPr>
          </a:p>
          <a:p>
            <a:pPr eaLnBrk="1" hangingPunct="1">
              <a:lnSpc>
                <a:spcPct val="80000"/>
              </a:lnSpc>
            </a:pPr>
            <a:r>
              <a:rPr lang="en-US" altLang="zh-CN" sz="2400" dirty="0">
                <a:latin typeface="Symbol" panose="05050102010706020507" pitchFamily="18" charset="2"/>
                <a:sym typeface="Symbol" panose="05050102010706020507" pitchFamily="18" charset="2"/>
              </a:rPr>
              <a:t></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en-US" altLang="zh-CN" sz="2400" i="1" dirty="0">
                <a:latin typeface="Times New Roman" panose="02020503050405090304" pitchFamily="18" charset="0"/>
              </a:rPr>
              <a:t>	P </a:t>
            </a:r>
            <a:r>
              <a:rPr lang="en-US" altLang="zh-CN" sz="2400" dirty="0">
                <a:latin typeface="Euclid" panose="02020503060505020303" pitchFamily="18" charset="0"/>
                <a:sym typeface="Symbol" panose="05050102010706020507" pitchFamily="18" charset="2"/>
              </a:rPr>
              <a:t> </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b="1" dirty="0">
                <a:latin typeface="Times New Roman" panose="02020503050405090304" pitchFamily="18" charset="0"/>
              </a:rPr>
              <a:t>Modus Tollens （拒取式）</a:t>
            </a:r>
            <a:endParaRPr lang="zh-CN" altLang="en-US" sz="2400" dirty="0">
              <a:latin typeface="Times New Roman" panose="02020503050405090304" pitchFamily="18" charset="0"/>
            </a:endParaRPr>
          </a:p>
          <a:p>
            <a:pPr eaLnBrk="1" hangingPunct="1">
              <a:lnSpc>
                <a:spcPct val="80000"/>
              </a:lnSpc>
            </a:pPr>
            <a:endParaRPr lang="en-US" altLang="zh-CN" sz="2400" i="1" dirty="0">
              <a:latin typeface="Times New Roman" panose="02020503050405090304" pitchFamily="18" charset="0"/>
            </a:endParaRPr>
          </a:p>
          <a:p>
            <a:pPr eaLnBrk="1" hangingPunct="1">
              <a:lnSpc>
                <a:spcPct val="80000"/>
              </a:lnSpc>
            </a:pPr>
            <a:r>
              <a:rPr lang="en-US" altLang="zh-CN" sz="2400" i="1" dirty="0">
                <a:latin typeface="Times New Roman" panose="02020503050405090304" pitchFamily="18" charset="0"/>
              </a:rPr>
              <a:t>P </a:t>
            </a:r>
            <a:r>
              <a:rPr lang="en-US" altLang="zh-CN" sz="2400" dirty="0">
                <a:latin typeface="Euclid" panose="02020503060505020303" pitchFamily="18" charset="0"/>
                <a:sym typeface="Symbol" panose="05050102010706020507" pitchFamily="18" charset="2"/>
              </a:rPr>
              <a:t> </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en-US" altLang="zh-CN" sz="2400" i="1" dirty="0">
                <a:latin typeface="Times New Roman" panose="02020503050405090304" pitchFamily="18" charset="0"/>
              </a:rPr>
              <a:t>	Q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R</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R	</a:t>
            </a:r>
            <a:r>
              <a:rPr lang="en-US" altLang="zh-CN" sz="2400" b="1" dirty="0">
                <a:latin typeface="Times New Roman" panose="02020503050405090304" pitchFamily="18" charset="0"/>
              </a:rPr>
              <a:t>Hypothetical syllogism（假言三段论）</a:t>
            </a:r>
            <a:endParaRPr lang="zh-CN" altLang="en-US" sz="2400" dirty="0">
              <a:latin typeface="Times New Roman" panose="02020503050405090304" pitchFamily="18" charset="0"/>
            </a:endParaRPr>
          </a:p>
          <a:p>
            <a:pPr eaLnBrk="1" hangingPunct="1">
              <a:lnSpc>
                <a:spcPct val="80000"/>
              </a:lnSpc>
              <a:buNone/>
            </a:pPr>
            <a:endParaRPr lang="zh-CN" altLang="en-US" sz="2400" dirty="0">
              <a:latin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536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536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536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Famous rules of inference</a:t>
            </a:r>
            <a:endParaRPr lang="zh-CN" altLang="en-US" dirty="0">
              <a:latin typeface="Times New Roman" panose="02020503050405090304" pitchFamily="18" charset="0"/>
            </a:endParaRPr>
          </a:p>
        </p:txBody>
      </p:sp>
      <p:sp>
        <p:nvSpPr>
          <p:cNvPr id="15366" name="Rectangle 3"/>
          <p:cNvSpPr>
            <a:spLocks noGrp="1"/>
          </p:cNvSpPr>
          <p:nvPr>
            <p:ph idx="1"/>
          </p:nvPr>
        </p:nvSpPr>
        <p:spPr>
          <a:xfrm>
            <a:off x="971550" y="1124585"/>
            <a:ext cx="7772400" cy="4114800"/>
          </a:xfrm>
        </p:spPr>
        <p:txBody>
          <a:bodyPr vert="horz" wrap="square" lIns="91440" tIns="45720" rIns="91440" bIns="45720" anchor="t" anchorCtr="0"/>
          <a:p>
            <a:pPr eaLnBrk="1" hangingPunct="1">
              <a:lnSpc>
                <a:spcPct val="8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Q		</a:t>
            </a:r>
            <a:r>
              <a:rPr lang="en-US" altLang="zh-CN" sz="2400" b="1" dirty="0">
                <a:latin typeface="Times New Roman" panose="02020503050405090304" pitchFamily="18" charset="0"/>
              </a:rPr>
              <a:t>Disjunctive syllogism （</a:t>
            </a:r>
            <a:r>
              <a:rPr lang="zh-CN" altLang="en-US" sz="2400" b="1" dirty="0">
                <a:latin typeface="Times New Roman" panose="02020503050405090304" pitchFamily="18" charset="0"/>
              </a:rPr>
              <a:t>析取三段论）</a:t>
            </a:r>
            <a:endParaRPr lang="zh-CN" altLang="en-US" sz="2400" dirty="0">
              <a:latin typeface="Times New Roman" panose="02020503050405090304" pitchFamily="18" charset="0"/>
            </a:endParaRPr>
          </a:p>
          <a:p>
            <a:pPr eaLnBrk="1" hangingPunct="1">
              <a:lnSpc>
                <a:spcPct val="80000"/>
              </a:lnSpc>
            </a:pPr>
            <a:endParaRPr lang="en-US" altLang="zh-CN" sz="2400" i="1" dirty="0">
              <a:latin typeface="Times New Roman" panose="02020503050405090304" pitchFamily="18" charset="0"/>
            </a:endParaRPr>
          </a:p>
          <a:p>
            <a:pPr eaLnBrk="1" hangingPunct="1">
              <a:lnSpc>
                <a:spcPct val="80000"/>
              </a:lnSpc>
            </a:pP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eaLnBrk="1" hangingPunct="1">
              <a:lnSpc>
                <a:spcPct val="80000"/>
              </a:lnSpc>
              <a:buNone/>
            </a:pPr>
            <a:r>
              <a:rPr lang="en-US" altLang="zh-CN" sz="2400" i="1" dirty="0">
                <a:latin typeface="Times New Roman" panose="02020503050405090304" pitchFamily="18" charset="0"/>
              </a:rPr>
              <a:t>	Q</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Symbol" panose="05050102010706020507" pitchFamily="18" charset="2"/>
              </a:rPr>
              <a:t>Ù </a:t>
            </a:r>
            <a:r>
              <a:rPr lang="en-US" altLang="zh-CN" sz="2400" i="1" dirty="0">
                <a:latin typeface="Times New Roman" panose="02020503050405090304" pitchFamily="18" charset="0"/>
              </a:rPr>
              <a:t>Q	</a:t>
            </a:r>
            <a:r>
              <a:rPr lang="en-US" altLang="zh-CN" sz="2400" b="1" dirty="0">
                <a:latin typeface="Times New Roman" panose="02020503050405090304" pitchFamily="18" charset="0"/>
              </a:rPr>
              <a:t>Conjunction （合取引入规则）</a:t>
            </a:r>
            <a:endParaRPr lang="zh-CN" altLang="en-US" sz="2400" dirty="0">
              <a:latin typeface="Times New Roman" panose="02020503050405090304" pitchFamily="18" charset="0"/>
            </a:endParaRPr>
          </a:p>
          <a:p>
            <a:pPr eaLnBrk="1" hangingPunct="1">
              <a:lnSpc>
                <a:spcPct val="80000"/>
              </a:lnSpc>
            </a:pPr>
            <a:endParaRPr lang="en-US" altLang="zh-CN" sz="2400" i="1" dirty="0">
              <a:latin typeface="Times New Roman" panose="02020503050405090304" pitchFamily="18" charset="0"/>
            </a:endParaRPr>
          </a:p>
          <a:p>
            <a:pPr eaLnBrk="1" hangingPunct="1">
              <a:lnSpc>
                <a:spcPct val="80000"/>
              </a:lnSpc>
            </a:pPr>
            <a:r>
              <a:rPr lang="en-US" altLang="zh-CN" sz="2400" i="1" dirty="0">
                <a:latin typeface="Times New Roman" panose="02020503050405090304" pitchFamily="18" charset="0"/>
              </a:rPr>
              <a:t>P </a:t>
            </a:r>
            <a:r>
              <a:rPr lang="en-US" altLang="zh-CN" sz="2400" dirty="0">
                <a:latin typeface="Symbol" panose="05050102010706020507" pitchFamily="18" charset="2"/>
              </a:rPr>
              <a:t>Ú</a:t>
            </a:r>
            <a:r>
              <a:rPr lang="en-US" altLang="zh-CN" sz="2400" i="1" dirty="0">
                <a:latin typeface="Times New Roman" panose="02020503050405090304" pitchFamily="18" charset="0"/>
              </a:rPr>
              <a:t>Q</a:t>
            </a:r>
            <a:endParaRPr lang="en-US" altLang="zh-CN" sz="2400" i="1" dirty="0">
              <a:latin typeface="Times New Roman" panose="02020503050405090304" pitchFamily="18" charset="0"/>
            </a:endParaRPr>
          </a:p>
          <a:p>
            <a:pPr eaLnBrk="1" hangingPunct="1">
              <a:lnSpc>
                <a:spcPct val="80000"/>
              </a:lnSpc>
              <a:buNone/>
            </a:pPr>
            <a:r>
              <a:rPr lang="zh-CN" altLang="en-US" sz="2400" dirty="0">
                <a:latin typeface="Times New Roman" panose="02020503050405090304" pitchFamily="18" charset="0"/>
              </a:rPr>
              <a:t>	</a:t>
            </a:r>
            <a:r>
              <a:rPr lang="en-US" altLang="zh-CN" sz="2400" dirty="0">
                <a:latin typeface="Symbol" panose="05050102010706020507" pitchFamily="18" charset="2"/>
              </a:rPr>
              <a:t>  </a:t>
            </a:r>
            <a:r>
              <a:rPr lang="en-US" altLang="zh-CN" sz="2400" i="1" dirty="0">
                <a:latin typeface="Times New Roman" panose="02020503050405090304" pitchFamily="18" charset="0"/>
              </a:rPr>
              <a:t>P </a:t>
            </a:r>
            <a:r>
              <a:rPr lang="en-US" altLang="zh-CN" sz="2400" dirty="0">
                <a:latin typeface="Symbol" panose="05050102010706020507" pitchFamily="18" charset="2"/>
              </a:rPr>
              <a:t>Ú </a:t>
            </a:r>
            <a:r>
              <a:rPr lang="en-US" altLang="zh-CN" sz="2400" i="1" dirty="0">
                <a:latin typeface="Times New Roman" panose="02020503050405090304" pitchFamily="18" charset="0"/>
              </a:rPr>
              <a:t>R</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Q </a:t>
            </a:r>
            <a:r>
              <a:rPr lang="en-US" altLang="zh-CN" sz="2400" dirty="0">
                <a:latin typeface="Symbol" panose="05050102010706020507" pitchFamily="18" charset="2"/>
              </a:rPr>
              <a:t>Ú </a:t>
            </a:r>
            <a:r>
              <a:rPr lang="en-US" altLang="zh-CN" sz="2400" i="1" dirty="0">
                <a:latin typeface="Times New Roman" panose="02020503050405090304" pitchFamily="18" charset="0"/>
              </a:rPr>
              <a:t>R           </a:t>
            </a:r>
            <a:r>
              <a:rPr lang="en-US" altLang="zh-CN" sz="2400" b="1" dirty="0">
                <a:latin typeface="Times New Roman" panose="02020503050405090304" pitchFamily="18" charset="0"/>
              </a:rPr>
              <a:t>Resolution（消解规则）</a:t>
            </a:r>
            <a:endParaRPr lang="zh-CN" altLang="en-US" sz="2400" dirty="0">
              <a:latin typeface="Times New Roman" panose="02020503050405090304" pitchFamily="18" charset="0"/>
            </a:endParaRPr>
          </a:p>
          <a:p>
            <a:pPr eaLnBrk="1" hangingPunct="1">
              <a:lnSpc>
                <a:spcPct val="80000"/>
              </a:lnSpc>
            </a:pPr>
            <a:endParaRPr lang="zh-CN" altLang="en-US" sz="2400" dirty="0">
              <a:latin typeface="Times New Roman" panose="02020503050405090304" pitchFamily="18" charset="0"/>
            </a:endParaRPr>
          </a:p>
          <a:p>
            <a:pPr eaLnBrk="1" hangingPunct="1">
              <a:lnSpc>
                <a:spcPct val="80000"/>
              </a:lnSpc>
            </a:pPr>
            <a:r>
              <a:rPr lang="zh-CN" altLang="en-US" sz="2400" dirty="0">
                <a:latin typeface="Times New Roman" panose="02020503050405090304" pitchFamily="18" charset="0"/>
              </a:rPr>
              <a:t>(</a:t>
            </a:r>
            <a:r>
              <a:rPr lang="en-US" altLang="zh-CN" sz="2400" i="1" dirty="0">
                <a:latin typeface="Times New Roman" panose="02020503050405090304" pitchFamily="18" charset="0"/>
              </a:rPr>
              <a:t>P</a:t>
            </a:r>
            <a:r>
              <a:rPr lang="en-US" altLang="zh-CN" sz="2400" dirty="0">
                <a:latin typeface="Euclid" panose="02020503060505020303" pitchFamily="18" charset="0"/>
                <a:sym typeface="Symbol" panose="05050102010706020507" pitchFamily="18" charset="2"/>
              </a:rPr>
              <a:t></a:t>
            </a:r>
            <a:r>
              <a:rPr lang="en-US" altLang="zh-CN" sz="2400" i="1" dirty="0">
                <a:latin typeface="Times New Roman" panose="02020503050405090304" pitchFamily="18" charset="0"/>
              </a:rPr>
              <a:t>Q</a:t>
            </a:r>
            <a:r>
              <a:rPr lang="en-US" altLang="zh-CN" sz="2400" dirty="0">
                <a:latin typeface="Times New Roman" panose="02020503050405090304" pitchFamily="18" charset="0"/>
              </a:rPr>
              <a:t>) </a:t>
            </a:r>
            <a:r>
              <a:rPr lang="en-US" altLang="zh-CN" sz="2400" dirty="0">
                <a:latin typeface="Symbol" panose="05050102010706020507" pitchFamily="18" charset="2"/>
              </a:rPr>
              <a:t>Ù </a:t>
            </a:r>
            <a:r>
              <a:rPr lang="en-US" altLang="zh-CN" sz="2400" dirty="0">
                <a:latin typeface="Times New Roman" panose="02020503050405090304" pitchFamily="18" charset="0"/>
              </a:rPr>
              <a:t>(</a:t>
            </a:r>
            <a:r>
              <a:rPr lang="en-US" altLang="zh-CN" sz="2400" i="1" dirty="0">
                <a:latin typeface="Times New Roman" panose="02020503050405090304" pitchFamily="18" charset="0"/>
              </a:rPr>
              <a:t>R</a:t>
            </a:r>
            <a:r>
              <a:rPr lang="en-US" altLang="zh-CN" sz="2400" dirty="0">
                <a:latin typeface="Euclid" panose="02020503060505020303" pitchFamily="18" charset="0"/>
                <a:sym typeface="Symbol" panose="05050102010706020507" pitchFamily="18" charset="2"/>
              </a:rPr>
              <a:t></a:t>
            </a:r>
            <a:r>
              <a:rPr lang="en-US" altLang="zh-CN" sz="2400" i="1" dirty="0">
                <a:latin typeface="Times New Roman" panose="02020503050405090304" pitchFamily="18" charset="0"/>
              </a:rPr>
              <a:t>S</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eaLnBrk="1" hangingPunct="1">
              <a:lnSpc>
                <a:spcPct val="80000"/>
              </a:lnSpc>
              <a:buNone/>
            </a:pPr>
            <a:r>
              <a:rPr lang="en-US" altLang="zh-CN" sz="2400" i="1" dirty="0">
                <a:latin typeface="Times New Roman" panose="02020503050405090304" pitchFamily="18" charset="0"/>
              </a:rPr>
              <a:t>	P </a:t>
            </a:r>
            <a:r>
              <a:rPr lang="en-US" altLang="zh-CN" sz="2400" dirty="0">
                <a:latin typeface="Symbol" panose="05050102010706020507" pitchFamily="18" charset="2"/>
              </a:rPr>
              <a:t>Ú </a:t>
            </a:r>
            <a:r>
              <a:rPr lang="en-US" altLang="zh-CN" sz="2400" i="1" dirty="0">
                <a:latin typeface="Times New Roman" panose="02020503050405090304" pitchFamily="18" charset="0"/>
              </a:rPr>
              <a:t>R</a:t>
            </a:r>
            <a:endParaRPr lang="en-US" altLang="zh-CN" sz="2400" i="1" dirty="0">
              <a:latin typeface="Times New Roman" panose="02020503050405090304" pitchFamily="18" charset="0"/>
            </a:endParaRPr>
          </a:p>
          <a:p>
            <a:pPr eaLnBrk="1" hangingPunct="1">
              <a:lnSpc>
                <a:spcPct val="80000"/>
              </a:lnSpc>
              <a:buNone/>
            </a:pPr>
            <a:r>
              <a:rPr lang="en-US" altLang="zh-CN" sz="2400" dirty="0">
                <a:latin typeface="Symbol" panose="05050102010706020507" pitchFamily="18" charset="2"/>
              </a:rPr>
              <a:t>	\</a:t>
            </a:r>
            <a:r>
              <a:rPr lang="en-US" altLang="zh-CN" sz="2400" i="1" dirty="0">
                <a:latin typeface="Times New Roman" panose="02020503050405090304" pitchFamily="18" charset="0"/>
              </a:rPr>
              <a:t>Q</a:t>
            </a:r>
            <a:r>
              <a:rPr lang="en-US" altLang="zh-CN" sz="2400" dirty="0">
                <a:latin typeface="Symbol" panose="05050102010706020507" pitchFamily="18" charset="2"/>
              </a:rPr>
              <a:t>Ú </a:t>
            </a:r>
            <a:r>
              <a:rPr lang="en-US" altLang="zh-CN" sz="2400" i="1" dirty="0">
                <a:latin typeface="Times New Roman" panose="02020503050405090304" pitchFamily="18" charset="0"/>
              </a:rPr>
              <a:t>S  </a:t>
            </a:r>
            <a:r>
              <a:rPr lang="en-US" altLang="zh-CN" sz="2400" b="1" dirty="0">
                <a:latin typeface="Times New Roman" panose="02020503050405090304" pitchFamily="18" charset="0"/>
              </a:rPr>
              <a:t>Constructive dilemma (二难推论)</a:t>
            </a:r>
            <a:endParaRPr lang="en-US" altLang="zh-CN" sz="2400" dirty="0">
              <a:latin typeface="Times New Roman" panose="02020503050405090304" pitchFamily="18" charset="0"/>
            </a:endParaRPr>
          </a:p>
          <a:p>
            <a:pPr eaLnBrk="1" hangingPunct="1">
              <a:lnSpc>
                <a:spcPct val="80000"/>
              </a:lnSpc>
              <a:buNone/>
            </a:pPr>
            <a:endParaRPr lang="en-US" altLang="zh-CN" sz="2400" dirty="0">
              <a:latin typeface="Times New Roman" panose="02020503050405090304" pitchFamily="18" charset="0"/>
            </a:endParaRPr>
          </a:p>
          <a:p>
            <a:pPr eaLnBrk="1" hangingPunct="1">
              <a:lnSpc>
                <a:spcPct val="80000"/>
              </a:lnSpc>
            </a:pPr>
            <a:endParaRPr lang="en-US" altLang="zh-CN" sz="2400" dirty="0">
              <a:latin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638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638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638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Formal Proofs</a:t>
            </a:r>
            <a:endParaRPr lang="en-US" altLang="zh-CN" dirty="0">
              <a:latin typeface="Times New Roman" panose="02020503050405090304" pitchFamily="18" charset="0"/>
            </a:endParaRPr>
          </a:p>
        </p:txBody>
      </p:sp>
      <p:sp>
        <p:nvSpPr>
          <p:cNvPr id="16390" name="Rectangle 3"/>
          <p:cNvSpPr>
            <a:spLocks noGrp="1"/>
          </p:cNvSpPr>
          <p:nvPr>
            <p:ph idx="1"/>
          </p:nvPr>
        </p:nvSpPr>
        <p:spPr>
          <a:xfrm>
            <a:off x="971550" y="141287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To prove an argument is valid or the conclusion follows </a:t>
            </a:r>
            <a:r>
              <a:rPr lang="en-US" altLang="zh-CN" i="1" dirty="0">
                <a:solidFill>
                  <a:schemeClr val="hlink"/>
                </a:solidFill>
                <a:latin typeface="Times New Roman" panose="02020503050405090304" pitchFamily="18" charset="0"/>
              </a:rPr>
              <a:t>logically</a:t>
            </a:r>
            <a:r>
              <a:rPr lang="en-US" altLang="zh-CN" i="1" dirty="0">
                <a:latin typeface="Times New Roman" panose="02020503050405090304" pitchFamily="18" charset="0"/>
              </a:rPr>
              <a:t> </a:t>
            </a:r>
            <a:r>
              <a:rPr lang="en-US" altLang="zh-CN" dirty="0">
                <a:latin typeface="Times New Roman" panose="02020503050405090304" pitchFamily="18" charset="0"/>
              </a:rPr>
              <a:t>from the hypotheses:</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Assume the hypotheses are true</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Use the rules of inference and logical equivalences to determine that the conclusion is true.</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p:txBody>
          <a:bodyPr vert="horz" wrap="square" lIns="91440" tIns="45720" rIns="91440" bIns="45720" anchor="b" anchorCtr="0"/>
          <a:p>
            <a:r>
              <a:rPr lang="en-US" altLang="zh-CN" dirty="0"/>
              <a:t>Valid Arguments</a:t>
            </a:r>
            <a:endParaRPr lang="en-US" altLang="zh-CN" dirty="0"/>
          </a:p>
        </p:txBody>
      </p:sp>
      <p:pic>
        <p:nvPicPr>
          <p:cNvPr id="17411" name="Picture 6" descr="addin_tmp.png"/>
          <p:cNvPicPr>
            <a:picLocks noChangeAspect="1"/>
          </p:cNvPicPr>
          <p:nvPr>
            <p:custDataLst>
              <p:tags r:id="rId1"/>
            </p:custDataLst>
          </p:nvPr>
        </p:nvPicPr>
        <p:blipFill>
          <a:blip r:embed="rId2"/>
          <a:stretch>
            <a:fillRect/>
          </a:stretch>
        </p:blipFill>
        <p:spPr>
          <a:xfrm>
            <a:off x="803275" y="3546475"/>
            <a:ext cx="8128000" cy="2185988"/>
          </a:xfrm>
          <a:prstGeom prst="rect">
            <a:avLst/>
          </a:prstGeom>
          <a:noFill/>
          <a:ln w="9525">
            <a:noFill/>
          </a:ln>
        </p:spPr>
      </p:pic>
      <p:sp>
        <p:nvSpPr>
          <p:cNvPr id="17412" name="Rectangle 3"/>
          <p:cNvSpPr/>
          <p:nvPr/>
        </p:nvSpPr>
        <p:spPr>
          <a:xfrm>
            <a:off x="898843" y="1412875"/>
            <a:ext cx="7705725" cy="1077913"/>
          </a:xfrm>
          <a:prstGeom prst="rect">
            <a:avLst/>
          </a:prstGeom>
          <a:noFill/>
          <a:ln w="9525">
            <a:noFill/>
          </a:ln>
        </p:spPr>
        <p:txBody>
          <a:bodyPr>
            <a:spAutoFit/>
          </a:bodyPr>
          <a:p>
            <a:r>
              <a:rPr lang="en-US" altLang="zh-CN" sz="3200" b="0" i="0" u="none" dirty="0">
                <a:latin typeface="Times New Roman" panose="02020503050405090304" pitchFamily="18" charset="0"/>
              </a:rPr>
              <a:t>From the single proposition </a:t>
            </a:r>
            <a:endParaRPr lang="en-US" altLang="zh-CN" sz="3200" b="0" i="0" u="none" dirty="0">
              <a:latin typeface="Times New Roman" panose="02020503050405090304" pitchFamily="18" charset="0"/>
            </a:endParaRPr>
          </a:p>
          <a:p>
            <a:r>
              <a:rPr lang="en-US" altLang="zh-CN" sz="3200" b="0" i="0" u="none" dirty="0">
                <a:latin typeface="Times New Roman" panose="02020503050405090304" pitchFamily="18" charset="0"/>
              </a:rPr>
              <a:t>Show that </a:t>
            </a:r>
            <a:r>
              <a:rPr lang="en-US" altLang="zh-CN" sz="3200" b="0" u="none" dirty="0">
                <a:latin typeface="Times New Roman" panose="02020503050405090304" pitchFamily="18" charset="0"/>
              </a:rPr>
              <a:t>q</a:t>
            </a:r>
            <a:r>
              <a:rPr lang="en-US" altLang="zh-CN" sz="3200" b="0" i="0" u="none" dirty="0">
                <a:latin typeface="Times New Roman" panose="02020503050405090304" pitchFamily="18" charset="0"/>
              </a:rPr>
              <a:t> is a conclusion.</a:t>
            </a:r>
            <a:endParaRPr lang="en-US" altLang="zh-CN" sz="3200" b="0" i="0" u="none" dirty="0">
              <a:latin typeface="Times New Roman" panose="02020503050405090304" pitchFamily="18" charset="0"/>
            </a:endParaRPr>
          </a:p>
        </p:txBody>
      </p:sp>
      <p:pic>
        <p:nvPicPr>
          <p:cNvPr id="17413" name="Picture 4" descr="addin_tmp.png"/>
          <p:cNvPicPr>
            <a:picLocks noChangeAspect="1"/>
          </p:cNvPicPr>
          <p:nvPr>
            <p:custDataLst>
              <p:tags r:id="rId3"/>
            </p:custDataLst>
          </p:nvPr>
        </p:nvPicPr>
        <p:blipFill>
          <a:blip r:embed="rId4"/>
          <a:stretch>
            <a:fillRect/>
          </a:stretch>
        </p:blipFill>
        <p:spPr>
          <a:xfrm>
            <a:off x="5651500" y="1520508"/>
            <a:ext cx="1849438" cy="382587"/>
          </a:xfrm>
          <a:prstGeom prst="rect">
            <a:avLst/>
          </a:prstGeom>
          <a:noFill/>
          <a:ln w="9525">
            <a:noFill/>
          </a:ln>
        </p:spPr>
      </p:pic>
      <p:sp>
        <p:nvSpPr>
          <p:cNvPr id="17414" name="TextBox 5"/>
          <p:cNvSpPr txBox="1"/>
          <p:nvPr/>
        </p:nvSpPr>
        <p:spPr>
          <a:xfrm>
            <a:off x="650875" y="2895600"/>
            <a:ext cx="1905000" cy="461963"/>
          </a:xfrm>
          <a:prstGeom prst="rect">
            <a:avLst/>
          </a:prstGeom>
          <a:noFill/>
          <a:ln w="9525">
            <a:noFill/>
          </a:ln>
        </p:spPr>
        <p:txBody>
          <a:bodyPr>
            <a:spAutoFit/>
          </a:bodyPr>
          <a:p>
            <a:r>
              <a:rPr lang="en-US" altLang="zh-CN" u="none" dirty="0">
                <a:solidFill>
                  <a:srgbClr val="002060"/>
                </a:solidFill>
                <a:latin typeface="Times New Roman" panose="02020503050405090304" pitchFamily="18" charset="0"/>
              </a:rPr>
              <a:t>Solution:</a:t>
            </a:r>
            <a:endParaRPr lang="en-US" altLang="zh-CN" u="none" dirty="0">
              <a:solidFill>
                <a:srgbClr val="002060"/>
              </a:solidFill>
              <a:latin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843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1843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1843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18438" name="Rectangle 3"/>
          <p:cNvSpPr>
            <a:spLocks noGrp="1"/>
          </p:cNvSpPr>
          <p:nvPr>
            <p:ph idx="1"/>
          </p:nvPr>
        </p:nvSpPr>
        <p:spPr>
          <a:xfrm>
            <a:off x="794385" y="112458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Consider the following logical argument:</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If horses fly or cows eat artichokes, then the mosquito is the national bird. If the mosquito is the national bird then peanut butter takes good on hot dogs. But peanut butter tastes terrible on hot dogs. Therefore, cows don't eat artichokes.</a:t>
            </a:r>
            <a:endParaRPr lang="en-US" altLang="zh-CN" i="1" dirty="0">
              <a:latin typeface="Times New Roman" panose="02020503050405090304" pitchFamily="18" charset="0"/>
            </a:endParaRPr>
          </a:p>
        </p:txBody>
      </p:sp>
      <p:sp>
        <p:nvSpPr>
          <p:cNvPr id="19462" name="Rectangle 3"/>
          <p:cNvSpPr>
            <a:spLocks noGrp="1"/>
          </p:cNvSpPr>
          <p:nvPr/>
        </p:nvSpPr>
        <p:spPr>
          <a:xfrm>
            <a:off x="971550" y="3933190"/>
            <a:ext cx="7689215" cy="27057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eaLnBrk="1" hangingPunct="1"/>
            <a:r>
              <a:rPr lang="en-US" altLang="zh-CN" sz="2800" b="0" i="0" u="none" dirty="0">
                <a:latin typeface="Times New Roman" panose="02020503050405090304" pitchFamily="18" charset="0"/>
              </a:rPr>
              <a:t>Assign propositional variables to the component propositions in the argument:</a:t>
            </a:r>
            <a:endParaRPr lang="en-US" altLang="zh-CN" sz="2800" b="0" i="0" u="none" dirty="0">
              <a:latin typeface="Times New Roman" panose="02020503050405090304" pitchFamily="18" charset="0"/>
            </a:endParaRPr>
          </a:p>
          <a:p>
            <a:pPr lvl="1" eaLnBrk="1" hangingPunct="1"/>
            <a:r>
              <a:rPr lang="en-US" altLang="zh-CN" sz="2400" b="0" i="0" u="none" dirty="0">
                <a:latin typeface="Times New Roman" panose="02020503050405090304" pitchFamily="18" charset="0"/>
              </a:rPr>
              <a:t>F 	Horses fly</a:t>
            </a:r>
            <a:endParaRPr lang="en-US" altLang="zh-CN" sz="2400" b="0" i="0" u="none" dirty="0">
              <a:latin typeface="Times New Roman" panose="02020503050405090304" pitchFamily="18" charset="0"/>
            </a:endParaRPr>
          </a:p>
          <a:p>
            <a:pPr lvl="1" eaLnBrk="1" hangingPunct="1"/>
            <a:r>
              <a:rPr lang="en-US" altLang="zh-CN" sz="2400" b="0" i="0" u="none" dirty="0">
                <a:latin typeface="Times New Roman" panose="02020503050405090304" pitchFamily="18" charset="0"/>
              </a:rPr>
              <a:t>A 	Cows eat artichokes</a:t>
            </a:r>
            <a:endParaRPr lang="en-US" altLang="zh-CN" sz="2400" b="0" i="0" u="none" dirty="0">
              <a:latin typeface="Times New Roman" panose="02020503050405090304" pitchFamily="18" charset="0"/>
            </a:endParaRPr>
          </a:p>
          <a:p>
            <a:pPr lvl="1" eaLnBrk="1" hangingPunct="1"/>
            <a:r>
              <a:rPr lang="en-US" altLang="zh-CN" sz="2400" b="0" i="0" u="none" dirty="0">
                <a:latin typeface="Times New Roman" panose="02020503050405090304" pitchFamily="18" charset="0"/>
              </a:rPr>
              <a:t>M 	The mosquito is the national bird</a:t>
            </a:r>
            <a:endParaRPr lang="en-US" altLang="zh-CN" sz="2400" b="0" i="0" u="none" dirty="0">
              <a:latin typeface="Times New Roman" panose="02020503050405090304" pitchFamily="18" charset="0"/>
            </a:endParaRPr>
          </a:p>
          <a:p>
            <a:pPr lvl="1" eaLnBrk="1" hangingPunct="1"/>
            <a:r>
              <a:rPr lang="en-US" altLang="zh-CN" sz="2400" b="0" i="0" u="none" dirty="0">
                <a:latin typeface="Times New Roman" panose="02020503050405090304" pitchFamily="18" charset="0"/>
              </a:rPr>
              <a:t>P 	Peanut butter tastes good on hot </a:t>
            </a:r>
            <a:r>
              <a:rPr lang="en-US" altLang="zh-CN" b="0" i="0" u="none" dirty="0">
                <a:latin typeface="Times New Roman" panose="02020503050405090304" pitchFamily="18" charset="0"/>
              </a:rPr>
              <a:t>dogs</a:t>
            </a:r>
            <a:endParaRPr lang="en-US" altLang="zh-CN" b="0" i="0" u="none" dirty="0">
              <a:latin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p:bldP spid="1946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048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048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048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20486" name="Rectangle 3"/>
          <p:cNvSpPr>
            <a:spLocks noGrp="1"/>
          </p:cNvSpPr>
          <p:nvPr>
            <p:ph idx="1"/>
          </p:nvPr>
        </p:nvSpPr>
        <p:spPr>
          <a:xfrm>
            <a:off x="1043940" y="1340485"/>
            <a:ext cx="7772400" cy="4114800"/>
          </a:xfrm>
        </p:spPr>
        <p:txBody>
          <a:bodyPr vert="horz" wrap="square" lIns="91440" tIns="45720" rIns="91440" bIns="45720" anchor="t" anchorCtr="0"/>
          <a:p>
            <a:pPr eaLnBrk="1" hangingPunct="1"/>
            <a:r>
              <a:rPr lang="en-US" altLang="zh-CN" sz="2800" dirty="0">
                <a:latin typeface="Times New Roman" panose="02020503050405090304" pitchFamily="18" charset="0"/>
              </a:rPr>
              <a:t>Represent the formal argument using the variables</a:t>
            </a:r>
            <a:endParaRPr lang="en-US" altLang="zh-CN" sz="2800" dirty="0">
              <a:latin typeface="Times New Roman" panose="02020503050405090304" pitchFamily="18" charset="0"/>
            </a:endParaRPr>
          </a:p>
          <a:p>
            <a:pPr lvl="1" eaLnBrk="1" hangingPunct="1">
              <a:buNone/>
            </a:pPr>
            <a:r>
              <a:rPr lang="en-US" altLang="zh-CN" sz="2400" dirty="0">
                <a:latin typeface="Times New Roman" panose="02020503050405090304" pitchFamily="18" charset="0"/>
              </a:rPr>
              <a:t>1.(</a:t>
            </a:r>
            <a:r>
              <a:rPr lang="en-US" altLang="zh-CN" sz="2400" i="1" dirty="0">
                <a:latin typeface="Times New Roman" panose="02020503050405090304" pitchFamily="18" charset="0"/>
              </a:rPr>
              <a:t>F </a:t>
            </a:r>
            <a:r>
              <a:rPr lang="en-US" altLang="zh-CN" sz="2400" dirty="0">
                <a:latin typeface="Symbol" panose="05050102010706020507" pitchFamily="18" charset="2"/>
              </a:rPr>
              <a:t>Ú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M</a:t>
            </a:r>
            <a:endParaRPr lang="en-US" altLang="zh-CN" sz="2400" i="1" dirty="0">
              <a:latin typeface="Times New Roman" panose="02020503050405090304" pitchFamily="18" charset="0"/>
            </a:endParaRPr>
          </a:p>
          <a:p>
            <a:pPr lvl="1" eaLnBrk="1" hangingPunct="1">
              <a:buNone/>
            </a:pPr>
            <a:r>
              <a:rPr lang="en-US" altLang="zh-CN" sz="2400" dirty="0">
                <a:latin typeface="Times New Roman" panose="02020503050405090304" pitchFamily="18" charset="0"/>
              </a:rPr>
              <a:t>2.</a:t>
            </a:r>
            <a:r>
              <a:rPr lang="en-US" altLang="zh-CN" sz="2400" i="1" dirty="0">
                <a:latin typeface="Times New Roman" panose="02020503050405090304" pitchFamily="18" charset="0"/>
              </a:rPr>
              <a:t>M </a:t>
            </a:r>
            <a:r>
              <a:rPr lang="en-US" altLang="zh-CN" sz="2400" dirty="0">
                <a:latin typeface="Euclid" panose="02020503060505020303" pitchFamily="18" charset="0"/>
                <a:sym typeface="Symbol" panose="05050102010706020507" pitchFamily="18" charset="2"/>
              </a:rPr>
              <a:t> </a:t>
            </a: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lvl="1" eaLnBrk="1" hangingPunct="1">
              <a:buNone/>
            </a:pPr>
            <a:r>
              <a:rPr lang="en-US" altLang="zh-CN" sz="2400" dirty="0">
                <a:latin typeface="Times New Roman" panose="02020503050405090304" pitchFamily="18" charset="0"/>
              </a:rPr>
              <a:t>3.</a:t>
            </a:r>
            <a:r>
              <a:rPr lang="en-US" altLang="zh-CN" sz="2400" dirty="0">
                <a:latin typeface="Symbol" panose="05050102010706020507" pitchFamily="18" charset="2"/>
              </a:rPr>
              <a:t></a:t>
            </a:r>
            <a:r>
              <a:rPr lang="en-US" altLang="zh-CN" sz="2400" i="1" dirty="0">
                <a:latin typeface="Times New Roman" panose="02020503050405090304" pitchFamily="18" charset="0"/>
              </a:rPr>
              <a:t>P</a:t>
            </a:r>
            <a:endParaRPr lang="en-US" altLang="zh-CN" sz="2400" i="1" dirty="0">
              <a:latin typeface="Times New Roman" panose="02020503050405090304" pitchFamily="18" charset="0"/>
            </a:endParaRPr>
          </a:p>
          <a:p>
            <a:pPr lvl="1" eaLnBrk="1" hangingPunct="1">
              <a:buNone/>
            </a:pPr>
            <a:r>
              <a:rPr lang="en-US" altLang="zh-CN" sz="2400" dirty="0">
                <a:latin typeface="Symbol" panose="05050102010706020507" pitchFamily="18" charset="2"/>
              </a:rPr>
              <a:t>\</a:t>
            </a:r>
            <a:r>
              <a:rPr lang="en-US" altLang="zh-CN" sz="2400" i="1" dirty="0">
                <a:latin typeface="Times New Roman" panose="02020503050405090304" pitchFamily="18" charset="0"/>
              </a:rPr>
              <a:t>A</a:t>
            </a:r>
            <a:endParaRPr lang="en-US" altLang="zh-CN" sz="2400" i="1" dirty="0">
              <a:latin typeface="Times New Roman" panose="02020503050405090304" pitchFamily="18" charset="0"/>
            </a:endParaRPr>
          </a:p>
          <a:p>
            <a:pPr eaLnBrk="1" hangingPunct="1"/>
            <a:r>
              <a:rPr lang="en-US" altLang="zh-CN" sz="2800" dirty="0">
                <a:latin typeface="Times New Roman" panose="02020503050405090304" pitchFamily="18" charset="0"/>
              </a:rPr>
              <a:t>Use the hypotheses 1., 2., and 3. and the above rules of inference and any logical equivalences to construct the proof.</a:t>
            </a:r>
            <a:endParaRPr lang="en-US" altLang="zh-CN" sz="2800" dirty="0">
              <a:latin typeface="Times New Roman" panose="02020503050405090304" pitchFamily="18"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150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150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150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cs typeface="Times New Roman" panose="02020503050405090304" pitchFamily="18" charset="0"/>
              </a:rPr>
              <a:t>Example-</a:t>
            </a:r>
            <a:r>
              <a:rPr kumimoji="1" lang="en-US" altLang="zh-CN" kern="1200" noProof="0" dirty="0">
                <a:ln>
                  <a:noFill/>
                </a:ln>
                <a:effectLst/>
                <a:uLnTx/>
                <a:uFillTx/>
                <a:latin typeface="Times New Roman" panose="02020503050405090304" pitchFamily="18" charset="0"/>
                <a:cs typeface="Times New Roman" panose="02020503050405090304" pitchFamily="18" charset="0"/>
                <a:sym typeface="+mn-ea"/>
              </a:rPr>
              <a:t>Formal Proofs</a:t>
            </a:r>
            <a:endParaRPr lang="en-US" altLang="zh-CN" dirty="0">
              <a:latin typeface="Times New Roman" panose="02020503050405090304" pitchFamily="18" charset="0"/>
              <a:cs typeface="Times New Roman" panose="02020503050405090304" pitchFamily="18" charset="0"/>
            </a:endParaRPr>
          </a:p>
        </p:txBody>
      </p:sp>
      <p:sp>
        <p:nvSpPr>
          <p:cNvPr id="21510" name="Rectangle 3"/>
          <p:cNvSpPr>
            <a:spLocks noGrp="1"/>
          </p:cNvSpPr>
          <p:nvPr>
            <p:ph idx="1"/>
          </p:nvPr>
        </p:nvSpPr>
        <p:spPr>
          <a:xfrm>
            <a:off x="1043940" y="1557020"/>
            <a:ext cx="7772400" cy="4114800"/>
          </a:xfrm>
        </p:spPr>
        <p:txBody>
          <a:bodyPr vert="horz" wrap="square" lIns="91440" tIns="45720" rIns="91440" bIns="45720" anchor="t" anchorCtr="0"/>
          <a:p>
            <a:pPr eaLnBrk="1" hangingPunct="1">
              <a:lnSpc>
                <a:spcPct val="90000"/>
              </a:lnSpc>
            </a:pPr>
            <a:r>
              <a:rPr lang="en-US" altLang="zh-CN" sz="2800" dirty="0">
                <a:latin typeface="Times New Roman" panose="02020503050405090304" pitchFamily="18" charset="0"/>
              </a:rPr>
              <a:t>Assertion 		Reasons</a:t>
            </a:r>
            <a:endParaRPr lang="en-US" altLang="zh-CN" sz="28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1.(</a:t>
            </a:r>
            <a:r>
              <a:rPr lang="en-US" altLang="zh-CN" sz="2400" i="1" dirty="0">
                <a:latin typeface="Times New Roman" panose="02020503050405090304" pitchFamily="18" charset="0"/>
              </a:rPr>
              <a:t>F </a:t>
            </a:r>
            <a:r>
              <a:rPr lang="en-US" altLang="zh-CN" sz="2400" dirty="0">
                <a:latin typeface="Symbol" panose="05050102010706020507" pitchFamily="18" charset="2"/>
              </a:rPr>
              <a:t>Ú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M 	</a:t>
            </a:r>
            <a:r>
              <a:rPr lang="en-US" altLang="zh-CN" sz="2400" dirty="0">
                <a:latin typeface="Times New Roman" panose="02020503050405090304" pitchFamily="18" charset="0"/>
              </a:rPr>
              <a:t>Hypothesis 1.</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2.</a:t>
            </a:r>
            <a:r>
              <a:rPr lang="en-US" altLang="zh-CN" sz="2400" i="1" dirty="0">
                <a:latin typeface="Times New Roman" panose="02020503050405090304" pitchFamily="18" charset="0"/>
              </a:rPr>
              <a:t>M </a:t>
            </a:r>
            <a:r>
              <a:rPr lang="en-US" altLang="zh-CN" sz="2400" dirty="0">
                <a:latin typeface="Euclid" panose="02020503060505020303" pitchFamily="18" charset="0"/>
                <a:sym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Hypothesis 2.</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3.(</a:t>
            </a:r>
            <a:r>
              <a:rPr lang="en-US" altLang="zh-CN" sz="2400" i="1" dirty="0">
                <a:latin typeface="Times New Roman" panose="02020503050405090304" pitchFamily="18" charset="0"/>
              </a:rPr>
              <a:t>F </a:t>
            </a:r>
            <a:r>
              <a:rPr lang="en-US" altLang="zh-CN" sz="2400" dirty="0">
                <a:latin typeface="Symbol" panose="05050102010706020507" pitchFamily="18" charset="2"/>
              </a:rPr>
              <a:t>Ú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P	</a:t>
            </a:r>
            <a:r>
              <a:rPr lang="en-US" altLang="zh-CN" sz="2400" dirty="0">
                <a:latin typeface="Times New Roman" panose="02020503050405090304" pitchFamily="18" charset="0"/>
              </a:rPr>
              <a:t>steps 1 and 2 and </a:t>
            </a:r>
            <a:r>
              <a:rPr lang="en-US" altLang="zh-CN" sz="2400" i="1" dirty="0">
                <a:latin typeface="Times New Roman" panose="02020503050405090304" pitchFamily="18" charset="0"/>
              </a:rPr>
              <a:t>hypothetical syll</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4.</a:t>
            </a:r>
            <a:r>
              <a:rPr lang="en-US" altLang="zh-CN" sz="2400" dirty="0">
                <a:latin typeface="Symbol" panose="05050102010706020507" pitchFamily="18" charset="2"/>
              </a:rPr>
              <a:t></a:t>
            </a:r>
            <a:r>
              <a:rPr lang="en-US" altLang="zh-CN" sz="2400" i="1" dirty="0">
                <a:latin typeface="Times New Roman" panose="02020503050405090304" pitchFamily="18" charset="0"/>
              </a:rPr>
              <a:t>P 		</a:t>
            </a:r>
            <a:r>
              <a:rPr lang="en-US" altLang="zh-CN" sz="2400" dirty="0">
                <a:latin typeface="Times New Roman" panose="02020503050405090304" pitchFamily="18" charset="0"/>
              </a:rPr>
              <a:t>Hypothesis 3.</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5.</a:t>
            </a:r>
            <a:r>
              <a:rPr lang="en-US" altLang="zh-CN" sz="2400" dirty="0">
                <a:latin typeface="Symbol" panose="05050102010706020507" pitchFamily="18" charset="2"/>
              </a:rPr>
              <a:t></a:t>
            </a:r>
            <a:r>
              <a:rPr lang="en-US" altLang="zh-CN" sz="2400" dirty="0">
                <a:latin typeface="Times New Roman" panose="02020503050405090304" pitchFamily="18" charset="0"/>
              </a:rPr>
              <a:t>(</a:t>
            </a:r>
            <a:r>
              <a:rPr lang="en-US" altLang="zh-CN" sz="2400" i="1" dirty="0">
                <a:latin typeface="Times New Roman" panose="02020503050405090304" pitchFamily="18" charset="0"/>
              </a:rPr>
              <a:t>F </a:t>
            </a:r>
            <a:r>
              <a:rPr lang="en-US" altLang="zh-CN" sz="2400" dirty="0">
                <a:latin typeface="Symbol" panose="05050102010706020507" pitchFamily="18" charset="2"/>
              </a:rPr>
              <a:t>Ú </a:t>
            </a:r>
            <a:r>
              <a:rPr lang="en-US" altLang="zh-CN" sz="2400" i="1" dirty="0">
                <a:latin typeface="Times New Roman" panose="02020503050405090304" pitchFamily="18" charset="0"/>
              </a:rPr>
              <a:t>A</a:t>
            </a:r>
            <a:r>
              <a:rPr lang="en-US" altLang="zh-CN" sz="2400" dirty="0">
                <a:latin typeface="Times New Roman" panose="02020503050405090304" pitchFamily="18" charset="0"/>
              </a:rPr>
              <a:t>) 	steps 3 and 4 and </a:t>
            </a:r>
            <a:r>
              <a:rPr lang="en-US" altLang="zh-CN" sz="2400" i="1" dirty="0">
                <a:latin typeface="Times New Roman" panose="02020503050405090304" pitchFamily="18" charset="0"/>
              </a:rPr>
              <a:t>modus tollens</a:t>
            </a:r>
            <a:endParaRPr lang="en-US" altLang="zh-CN" sz="2400" i="1"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6.</a:t>
            </a:r>
            <a:r>
              <a:rPr lang="en-US" altLang="zh-CN" sz="2400" dirty="0">
                <a:latin typeface="Symbol" panose="05050102010706020507" pitchFamily="18" charset="2"/>
              </a:rPr>
              <a:t></a:t>
            </a:r>
            <a:r>
              <a:rPr lang="en-US" altLang="zh-CN" sz="2400" i="1" dirty="0">
                <a:latin typeface="Times New Roman" panose="02020503050405090304" pitchFamily="18" charset="0"/>
              </a:rPr>
              <a:t>F </a:t>
            </a:r>
            <a:r>
              <a:rPr lang="en-US" altLang="zh-CN" sz="2400" dirty="0">
                <a:latin typeface="Symbol" panose="05050102010706020507" pitchFamily="18" charset="2"/>
              </a:rPr>
              <a:t>Ù</a:t>
            </a:r>
            <a:r>
              <a:rPr lang="en-US" altLang="zh-CN" sz="2400" i="1" dirty="0">
                <a:latin typeface="Times New Roman" panose="02020503050405090304" pitchFamily="18" charset="0"/>
              </a:rPr>
              <a:t>A    	</a:t>
            </a:r>
            <a:r>
              <a:rPr lang="en-US" altLang="zh-CN" sz="2400" dirty="0">
                <a:latin typeface="Times New Roman" panose="02020503050405090304" pitchFamily="18" charset="0"/>
              </a:rPr>
              <a:t>step 5 and DeMorgan</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7.</a:t>
            </a:r>
            <a:r>
              <a:rPr lang="en-US" altLang="zh-CN" sz="2400" dirty="0">
                <a:latin typeface="Symbol" panose="05050102010706020507" pitchFamily="18" charset="2"/>
              </a:rPr>
              <a:t></a:t>
            </a:r>
            <a:r>
              <a:rPr lang="en-US" altLang="zh-CN" sz="2400" i="1" dirty="0">
                <a:latin typeface="Times New Roman" panose="02020503050405090304" pitchFamily="18" charset="0"/>
              </a:rPr>
              <a:t>A </a:t>
            </a:r>
            <a:r>
              <a:rPr lang="en-US" altLang="zh-CN" sz="2400" dirty="0">
                <a:latin typeface="Symbol" panose="05050102010706020507" pitchFamily="18" charset="2"/>
              </a:rPr>
              <a:t>Ù</a:t>
            </a:r>
            <a:r>
              <a:rPr lang="en-US" altLang="zh-CN" sz="2400" i="1" dirty="0">
                <a:latin typeface="Times New Roman" panose="02020503050405090304" pitchFamily="18" charset="0"/>
              </a:rPr>
              <a:t>F  	</a:t>
            </a:r>
            <a:r>
              <a:rPr lang="en-US" altLang="zh-CN" sz="2400" dirty="0">
                <a:latin typeface="Times New Roman" panose="02020503050405090304" pitchFamily="18" charset="0"/>
              </a:rPr>
              <a:t>step 6 and commutativity of 'and'</a:t>
            </a:r>
            <a:endParaRPr lang="en-US" altLang="zh-CN" sz="2400" dirty="0">
              <a:latin typeface="Times New Roman" panose="02020503050405090304" pitchFamily="18" charset="0"/>
            </a:endParaRPr>
          </a:p>
          <a:p>
            <a:pPr lvl="1" eaLnBrk="1" hangingPunct="1">
              <a:lnSpc>
                <a:spcPct val="90000"/>
              </a:lnSpc>
              <a:buNone/>
            </a:pPr>
            <a:r>
              <a:rPr lang="en-US" altLang="zh-CN" sz="2400" dirty="0">
                <a:latin typeface="Times New Roman" panose="02020503050405090304" pitchFamily="18" charset="0"/>
              </a:rPr>
              <a:t>8.</a:t>
            </a:r>
            <a:r>
              <a:rPr lang="en-US" altLang="zh-CN" sz="2400" dirty="0">
                <a:latin typeface="Symbol" panose="05050102010706020507" pitchFamily="18" charset="2"/>
              </a:rPr>
              <a:t></a:t>
            </a:r>
            <a:r>
              <a:rPr lang="en-US" altLang="zh-CN" sz="2400" i="1" dirty="0">
                <a:latin typeface="Times New Roman" panose="02020503050405090304" pitchFamily="18" charset="0"/>
              </a:rPr>
              <a:t>A 		</a:t>
            </a:r>
            <a:r>
              <a:rPr lang="en-US" altLang="zh-CN" sz="2400" dirty="0">
                <a:latin typeface="Times New Roman" panose="02020503050405090304" pitchFamily="18" charset="0"/>
              </a:rPr>
              <a:t>step 7 and simplification</a:t>
            </a:r>
            <a:endParaRPr lang="en-US" altLang="zh-CN" sz="2400" dirty="0">
              <a:latin typeface="Times New Roman" panose="02020503050405090304" pitchFamily="18" charset="0"/>
            </a:endParaRPr>
          </a:p>
          <a:p>
            <a:pPr lvl="1" algn="r" eaLnBrk="1" hangingPunct="1">
              <a:lnSpc>
                <a:spcPct val="90000"/>
              </a:lnSpc>
            </a:pPr>
            <a:r>
              <a:rPr lang="en-US" altLang="zh-CN" sz="2400" dirty="0">
                <a:latin typeface="Times New Roman" panose="02020503050405090304" pitchFamily="18" charset="0"/>
              </a:rPr>
              <a:t>Q. E. D.</a:t>
            </a:r>
            <a:endParaRPr lang="en-US" altLang="zh-CN" sz="2400" dirty="0">
              <a:latin typeface="Times New Roman" panose="02020503050405090304" pitchFamily="18" charset="0"/>
            </a:endParaRPr>
          </a:p>
        </p:txBody>
      </p:sp>
      <p:sp>
        <p:nvSpPr>
          <p:cNvPr id="3" name="文本框 2"/>
          <p:cNvSpPr txBox="1"/>
          <p:nvPr/>
        </p:nvSpPr>
        <p:spPr>
          <a:xfrm>
            <a:off x="6660515" y="476885"/>
            <a:ext cx="2566035" cy="1513205"/>
          </a:xfrm>
          <a:prstGeom prst="rect">
            <a:avLst/>
          </a:prstGeom>
          <a:noFill/>
        </p:spPr>
        <p:txBody>
          <a:bodyPr wrap="square" rtlCol="0" anchor="t">
            <a:noAutofit/>
          </a:bodyPr>
          <a:p>
            <a:pPr lvl="1" eaLnBrk="1" hangingPunct="1">
              <a:buNone/>
            </a:pPr>
            <a:r>
              <a:rPr lang="en-US" altLang="zh-CN" sz="2000" b="0" i="0" u="none" dirty="0">
                <a:sym typeface="+mn-ea"/>
              </a:rPr>
              <a:t>1.(F </a:t>
            </a:r>
            <a:r>
              <a:rPr lang="en-US" altLang="zh-CN" sz="2000" b="0" i="0" u="none" dirty="0">
                <a:latin typeface="Symbol" panose="05050102010706020507" pitchFamily="18" charset="2"/>
                <a:sym typeface="+mn-ea"/>
              </a:rPr>
              <a:t>Ú </a:t>
            </a:r>
            <a:r>
              <a:rPr lang="en-US" altLang="zh-CN" sz="2000" b="0" i="0" u="none" dirty="0">
                <a:sym typeface="+mn-ea"/>
              </a:rPr>
              <a:t>A) </a:t>
            </a:r>
            <a:r>
              <a:rPr lang="en-US" altLang="zh-CN" sz="2000" b="0" i="0" u="none" dirty="0">
                <a:latin typeface="Euclid" panose="02020503060505020303" pitchFamily="18" charset="0"/>
                <a:sym typeface="Symbol" panose="05050102010706020507" pitchFamily="18" charset="2"/>
              </a:rPr>
              <a:t></a:t>
            </a:r>
            <a:r>
              <a:rPr lang="en-US" altLang="zh-CN" sz="2000" b="0" i="0" u="none" dirty="0">
                <a:latin typeface="Symbol" panose="05050102010706020507" pitchFamily="18" charset="2"/>
                <a:sym typeface="+mn-ea"/>
              </a:rPr>
              <a:t> </a:t>
            </a:r>
            <a:r>
              <a:rPr lang="en-US" altLang="zh-CN" sz="2000" b="0" i="0" u="none" dirty="0">
                <a:sym typeface="+mn-ea"/>
              </a:rPr>
              <a:t>M</a:t>
            </a:r>
            <a:endParaRPr lang="en-US" altLang="zh-CN" sz="2000" b="0" i="0" u="none" dirty="0">
              <a:latin typeface="Times New Roman" panose="02020503050405090304" pitchFamily="18" charset="0"/>
            </a:endParaRPr>
          </a:p>
          <a:p>
            <a:pPr lvl="1" eaLnBrk="1" hangingPunct="1">
              <a:buNone/>
            </a:pPr>
            <a:r>
              <a:rPr lang="en-US" altLang="zh-CN" sz="2000" b="0" i="0" u="none" dirty="0">
                <a:sym typeface="+mn-ea"/>
              </a:rPr>
              <a:t>2.M </a:t>
            </a:r>
            <a:r>
              <a:rPr lang="en-US" altLang="zh-CN" sz="2000" b="0" i="0" u="none" dirty="0">
                <a:latin typeface="Euclid" panose="02020503060505020303" pitchFamily="18" charset="0"/>
                <a:sym typeface="Symbol" panose="05050102010706020507" pitchFamily="18" charset="2"/>
              </a:rPr>
              <a:t> </a:t>
            </a:r>
            <a:r>
              <a:rPr lang="en-US" altLang="zh-CN" sz="2000" b="0" i="0" u="none" dirty="0">
                <a:sym typeface="+mn-ea"/>
              </a:rPr>
              <a:t>P</a:t>
            </a:r>
            <a:endParaRPr lang="en-US" altLang="zh-CN" sz="2000" b="0" i="0" u="none" dirty="0">
              <a:latin typeface="Times New Roman" panose="02020503050405090304" pitchFamily="18" charset="0"/>
            </a:endParaRPr>
          </a:p>
          <a:p>
            <a:pPr lvl="1" eaLnBrk="1" hangingPunct="1">
              <a:buNone/>
            </a:pPr>
            <a:r>
              <a:rPr lang="en-US" altLang="zh-CN" sz="2000" b="0" i="0" u="none" dirty="0">
                <a:sym typeface="+mn-ea"/>
              </a:rPr>
              <a:t>3.</a:t>
            </a:r>
            <a:r>
              <a:rPr lang="en-US" altLang="zh-CN" sz="2000" b="0" i="0" u="none" dirty="0">
                <a:latin typeface="Symbol" panose="05050102010706020507" pitchFamily="18" charset="2"/>
                <a:sym typeface="+mn-ea"/>
              </a:rPr>
              <a:t></a:t>
            </a:r>
            <a:r>
              <a:rPr lang="en-US" altLang="zh-CN" sz="2000" b="0" i="0" u="none" dirty="0">
                <a:sym typeface="+mn-ea"/>
              </a:rPr>
              <a:t>P</a:t>
            </a:r>
            <a:endParaRPr lang="en-US" altLang="zh-CN" sz="2000" b="0" i="0" u="none" dirty="0">
              <a:latin typeface="Times New Roman" panose="02020503050405090304" pitchFamily="18" charset="0"/>
            </a:endParaRPr>
          </a:p>
          <a:p>
            <a:pPr lvl="1" eaLnBrk="1" hangingPunct="1">
              <a:buNone/>
            </a:pPr>
            <a:r>
              <a:rPr lang="en-US" altLang="zh-CN" sz="2000" b="0" i="0" u="none" dirty="0">
                <a:latin typeface="Symbol" panose="05050102010706020507" pitchFamily="18" charset="2"/>
                <a:sym typeface="+mn-ea"/>
              </a:rPr>
              <a:t>\</a:t>
            </a:r>
            <a:r>
              <a:rPr lang="en-US" altLang="zh-CN" sz="2000" b="0" i="0" u="none" dirty="0">
                <a:sym typeface="+mn-ea"/>
              </a:rPr>
              <a:t>A</a:t>
            </a:r>
            <a:endParaRPr lang="en-US" altLang="zh-CN" sz="2000" b="0" i="0" u="none" dirty="0">
              <a:sym typeface="+mn-ea"/>
            </a:endParaRPr>
          </a:p>
        </p:txBody>
      </p:sp>
      <p:sp>
        <p:nvSpPr>
          <p:cNvPr id="5" name="矩形 4"/>
          <p:cNvSpPr/>
          <p:nvPr/>
        </p:nvSpPr>
        <p:spPr>
          <a:xfrm>
            <a:off x="971233" y="5588953"/>
            <a:ext cx="6408737" cy="830262"/>
          </a:xfrm>
          <a:prstGeom prst="rect">
            <a:avLst/>
          </a:prstGeom>
          <a:solidFill>
            <a:schemeClr val="accent2"/>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zh-CN" altLang="zh-CN" sz="2400" b="1" dirty="0">
                <a:latin typeface="Times New Roman" panose="02020503050405090304" pitchFamily="18" charset="0"/>
                <a:cs typeface="Times New Roman" panose="02020503050405090304" pitchFamily="18" charset="0"/>
              </a:rPr>
              <a:t>逻辑推理只关注推理过程的正确性</a:t>
            </a:r>
            <a:endParaRPr lang="en-US" altLang="zh-CN" sz="2400" b="1" dirty="0">
              <a:latin typeface="Times New Roman" panose="02020503050405090304" pitchFamily="18" charset="0"/>
              <a:cs typeface="Times New Roman" panose="02020503050405090304" pitchFamily="18" charset="0"/>
            </a:endParaRPr>
          </a:p>
          <a:p>
            <a:pPr marL="0" lvl="0" indent="0" algn="ctr">
              <a:spcBef>
                <a:spcPct val="0"/>
              </a:spcBef>
              <a:buClrTx/>
              <a:buSzTx/>
              <a:buFontTx/>
              <a:buNone/>
            </a:pPr>
            <a:r>
              <a:rPr lang="zh-CN" altLang="zh-CN" sz="2400" b="1" dirty="0">
                <a:latin typeface="Times New Roman" panose="02020503050405090304" pitchFamily="18" charset="0"/>
                <a:cs typeface="Times New Roman" panose="02020503050405090304" pitchFamily="18" charset="0"/>
              </a:rPr>
              <a:t>并不关注句子本身的含义是否正确</a:t>
            </a:r>
            <a:endParaRPr lang="zh-CN" altLang="en-US" sz="2400" b="1" dirty="0">
              <a:latin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5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1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1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510">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510">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510">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510">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build="p"/>
      <p:bldP spid="21510" grpId="1" build="p"/>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253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253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253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 6 </a:t>
            </a:r>
            <a:endParaRPr lang="en-US" altLang="zh-CN" dirty="0">
              <a:latin typeface="Times New Roman" panose="02020503050405090304" pitchFamily="18" charset="0"/>
            </a:endParaRPr>
          </a:p>
        </p:txBody>
      </p:sp>
      <p:sp>
        <p:nvSpPr>
          <p:cNvPr id="22534" name="Rectangle 3"/>
          <p:cNvSpPr>
            <a:spLocks noGrp="1"/>
          </p:cNvSpPr>
          <p:nvPr>
            <p:ph idx="1"/>
          </p:nvPr>
        </p:nvSpPr>
        <p:spPr>
          <a:xfrm>
            <a:off x="1043623" y="1268413"/>
            <a:ext cx="7772400" cy="4114800"/>
          </a:xfrm>
        </p:spPr>
        <p:txBody>
          <a:bodyPr vert="horz" wrap="square" lIns="91440" tIns="45720" rIns="91440" bIns="45720" anchor="t" anchorCtr="0"/>
          <a:p>
            <a:pPr eaLnBrk="1" hangingPunct="1"/>
            <a:r>
              <a:rPr lang="en-US" altLang="zh-CN" sz="2800" dirty="0">
                <a:latin typeface="Times New Roman" panose="02020503050405090304" pitchFamily="18" charset="0"/>
              </a:rPr>
              <a:t>Suppose we have the following premises:</a:t>
            </a:r>
            <a:endParaRPr lang="en-US" altLang="zh-CN" sz="2800" dirty="0">
              <a:latin typeface="Times New Roman" panose="02020503050405090304" pitchFamily="18" charset="0"/>
            </a:endParaRPr>
          </a:p>
          <a:p>
            <a:pPr eaLnBrk="1" hangingPunct="1">
              <a:buNone/>
            </a:pPr>
            <a:r>
              <a:rPr lang="en-US" altLang="zh-CN" sz="2800" b="1" dirty="0">
                <a:solidFill>
                  <a:schemeClr val="tx2"/>
                </a:solidFill>
                <a:latin typeface="Times New Roman" panose="02020503050405090304" pitchFamily="18" charset="0"/>
              </a:rPr>
              <a:t>    “It is not sunny and it is cold.”</a:t>
            </a:r>
            <a:endParaRPr lang="en-US" altLang="zh-CN" sz="2800" b="1" dirty="0">
              <a:solidFill>
                <a:schemeClr val="tx2"/>
              </a:solidFill>
              <a:latin typeface="Times New Roman" panose="02020503050405090304" pitchFamily="18" charset="0"/>
            </a:endParaRPr>
          </a:p>
          <a:p>
            <a:pPr eaLnBrk="1" hangingPunct="1">
              <a:buNone/>
            </a:pPr>
            <a:r>
              <a:rPr lang="en-US" altLang="zh-CN" sz="2800" b="1" dirty="0">
                <a:solidFill>
                  <a:schemeClr val="tx2"/>
                </a:solidFill>
                <a:latin typeface="Times New Roman" panose="02020503050405090304" pitchFamily="18" charset="0"/>
              </a:rPr>
              <a:t>    “We will swim only if it is sunny.”</a:t>
            </a:r>
            <a:br>
              <a:rPr lang="en-US" altLang="zh-CN" sz="2800" b="1" dirty="0">
                <a:solidFill>
                  <a:schemeClr val="tx2"/>
                </a:solidFill>
                <a:latin typeface="Times New Roman" panose="02020503050405090304" pitchFamily="18" charset="0"/>
              </a:rPr>
            </a:br>
            <a:r>
              <a:rPr lang="en-US" altLang="zh-CN" sz="2800" b="1" dirty="0">
                <a:solidFill>
                  <a:schemeClr val="tx2"/>
                </a:solidFill>
                <a:latin typeface="Times New Roman" panose="02020503050405090304" pitchFamily="18" charset="0"/>
              </a:rPr>
              <a:t>    “If we do not swim, then we will canoe.”</a:t>
            </a:r>
            <a:br>
              <a:rPr lang="en-US" altLang="zh-CN" sz="2800" b="1" dirty="0">
                <a:solidFill>
                  <a:schemeClr val="tx2"/>
                </a:solidFill>
                <a:latin typeface="Times New Roman" panose="02020503050405090304" pitchFamily="18" charset="0"/>
              </a:rPr>
            </a:br>
            <a:r>
              <a:rPr lang="en-US" altLang="zh-CN" sz="2800" b="1" dirty="0">
                <a:solidFill>
                  <a:schemeClr val="tx2"/>
                </a:solidFill>
                <a:latin typeface="Times New Roman" panose="02020503050405090304" pitchFamily="18" charset="0"/>
              </a:rPr>
              <a:t>    “If we canoe, then we will be home early.”</a:t>
            </a:r>
            <a:endParaRPr lang="en-US" altLang="zh-CN" sz="2800" b="1" dirty="0">
              <a:solidFill>
                <a:schemeClr val="tx2"/>
              </a:solidFill>
              <a:latin typeface="Times New Roman" panose="02020503050405090304" pitchFamily="18" charset="0"/>
            </a:endParaRPr>
          </a:p>
          <a:p>
            <a:pPr eaLnBrk="1" hangingPunct="1"/>
            <a:r>
              <a:rPr lang="en-US" altLang="zh-CN" sz="2800" dirty="0">
                <a:latin typeface="Times New Roman" panose="02020503050405090304" pitchFamily="18" charset="0"/>
              </a:rPr>
              <a:t>Given these premises, prove the theorem</a:t>
            </a:r>
            <a:br>
              <a:rPr lang="en-US" altLang="zh-CN" sz="2800" dirty="0">
                <a:latin typeface="Times New Roman" panose="02020503050405090304" pitchFamily="18" charset="0"/>
              </a:rPr>
            </a:br>
            <a:r>
              <a:rPr lang="en-US" altLang="zh-CN" sz="2800" b="1" dirty="0">
                <a:solidFill>
                  <a:schemeClr val="tx2"/>
                </a:solidFill>
                <a:latin typeface="Times New Roman" panose="02020503050405090304" pitchFamily="18" charset="0"/>
              </a:rPr>
              <a:t>“We will be home early”</a:t>
            </a:r>
            <a:r>
              <a:rPr lang="en-US" altLang="zh-CN" sz="2800" dirty="0">
                <a:latin typeface="Times New Roman" panose="02020503050405090304" pitchFamily="18" charset="0"/>
              </a:rPr>
              <a:t> using inference rules.</a:t>
            </a:r>
            <a:endParaRPr lang="en-US" altLang="zh-CN" sz="2800" dirty="0">
              <a:latin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355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355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3557"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  6 </a:t>
            </a:r>
            <a:r>
              <a:rPr lang="en-US" altLang="zh-CN" i="1" dirty="0">
                <a:latin typeface="Times New Roman" panose="02020503050405090304" pitchFamily="18" charset="0"/>
              </a:rPr>
              <a:t>cont.</a:t>
            </a:r>
            <a:endParaRPr lang="en-US" altLang="zh-CN" dirty="0">
              <a:latin typeface="Times New Roman" panose="02020503050405090304" pitchFamily="18" charset="0"/>
            </a:endParaRPr>
          </a:p>
        </p:txBody>
      </p:sp>
      <p:sp>
        <p:nvSpPr>
          <p:cNvPr id="23558" name="Rectangle 3"/>
          <p:cNvSpPr>
            <a:spLocks noGrp="1"/>
          </p:cNvSpPr>
          <p:nvPr>
            <p:ph idx="1"/>
          </p:nvPr>
        </p:nvSpPr>
        <p:spPr>
          <a:xfrm>
            <a:off x="1042988" y="1371283"/>
            <a:ext cx="7900987" cy="4114800"/>
          </a:xfrm>
        </p:spPr>
        <p:txBody>
          <a:bodyPr vert="horz" wrap="square" lIns="91440" tIns="45720" rIns="91440" bIns="45720" anchor="t" anchorCtr="0"/>
          <a:p>
            <a:pPr eaLnBrk="1" hangingPunct="1"/>
            <a:r>
              <a:rPr lang="en-US" altLang="zh-CN" dirty="0">
                <a:latin typeface="Times New Roman" panose="02020503050405090304" pitchFamily="18" charset="0"/>
              </a:rPr>
              <a:t> Choose propositional variables:</a:t>
            </a:r>
            <a:endParaRPr lang="en-US" altLang="zh-CN" dirty="0">
              <a:latin typeface="Times New Roman" panose="02020503050405090304" pitchFamily="18" charset="0"/>
            </a:endParaRPr>
          </a:p>
          <a:p>
            <a:pPr lvl="1" eaLnBrk="1" hangingPunct="1"/>
            <a:r>
              <a:rPr lang="en-US" altLang="zh-CN" i="1" dirty="0">
                <a:latin typeface="Times New Roman" panose="02020503050405090304" pitchFamily="18" charset="0"/>
              </a:rPr>
              <a:t>p</a:t>
            </a:r>
            <a:r>
              <a:rPr lang="en-US" altLang="zh-CN" dirty="0">
                <a:latin typeface="Times New Roman" panose="02020503050405090304" pitchFamily="18" charset="0"/>
              </a:rPr>
              <a:t> : “It is sunny.”    </a:t>
            </a:r>
            <a:r>
              <a:rPr lang="en-US" altLang="zh-CN" i="1" dirty="0">
                <a:latin typeface="Times New Roman" panose="02020503050405090304" pitchFamily="18" charset="0"/>
              </a:rPr>
              <a:t>q</a:t>
            </a:r>
            <a:r>
              <a:rPr lang="en-US" altLang="zh-CN" dirty="0">
                <a:latin typeface="Times New Roman" panose="02020503050405090304" pitchFamily="18" charset="0"/>
              </a:rPr>
              <a:t>  : “It is cold.” </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r </a:t>
            </a:r>
            <a:r>
              <a:rPr lang="en-US" altLang="zh-CN" dirty="0">
                <a:latin typeface="Times New Roman" panose="02020503050405090304" pitchFamily="18" charset="0"/>
              </a:rPr>
              <a:t>: “We will swim.”  s : “We will canoe.” </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t </a:t>
            </a:r>
            <a:r>
              <a:rPr lang="en-US" altLang="zh-CN" dirty="0">
                <a:latin typeface="Times New Roman" panose="02020503050405090304" pitchFamily="18" charset="0"/>
              </a:rPr>
              <a:t>: “We will be home early.”</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Translation into propositional logic:</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Then, the premises can be written as:</a:t>
            </a:r>
            <a:br>
              <a:rPr lang="en-US" altLang="zh-CN" dirty="0">
                <a:latin typeface="Times New Roman" panose="02020503050405090304" pitchFamily="18" charset="0"/>
              </a:rPr>
            </a:br>
            <a:r>
              <a:rPr lang="en-US" altLang="zh-CN" dirty="0">
                <a:solidFill>
                  <a:schemeClr val="tx2"/>
                </a:solidFill>
                <a:latin typeface="Times New Roman" panose="02020503050405090304" pitchFamily="18" charset="0"/>
              </a:rPr>
              <a:t>(1) </a:t>
            </a:r>
            <a:r>
              <a:rPr lang="en-US" altLang="zh-CN" dirty="0">
                <a:solidFill>
                  <a:schemeClr val="tx2"/>
                </a:solidFill>
                <a:latin typeface="Times New Roman" panose="02020503050405090304" pitchFamily="18" charset="0"/>
                <a:sym typeface="Symbol" panose="05050102010706020507" pitchFamily="18" charset="2"/>
              </a:rPr>
              <a:t></a:t>
            </a:r>
            <a:r>
              <a:rPr lang="en-US" altLang="zh-CN" i="1" dirty="0">
                <a:solidFill>
                  <a:schemeClr val="tx2"/>
                </a:solidFill>
                <a:latin typeface="Times New Roman" panose="02020503050405090304" pitchFamily="18" charset="0"/>
                <a:sym typeface="Symbol" panose="05050102010706020507" pitchFamily="18" charset="2"/>
              </a:rPr>
              <a:t>p</a:t>
            </a:r>
            <a:r>
              <a:rPr lang="en-US" altLang="zh-CN" dirty="0">
                <a:solidFill>
                  <a:schemeClr val="tx2"/>
                </a:solidFill>
                <a:latin typeface="Times New Roman" panose="02020503050405090304" pitchFamily="18" charset="0"/>
                <a:sym typeface="Symbol" panose="05050102010706020507" pitchFamily="18" charset="2"/>
              </a:rPr>
              <a:t>  </a:t>
            </a:r>
            <a:r>
              <a:rPr lang="en-US" altLang="zh-CN" i="1" dirty="0">
                <a:solidFill>
                  <a:schemeClr val="tx2"/>
                </a:solidFill>
                <a:latin typeface="Times New Roman" panose="02020503050405090304" pitchFamily="18" charset="0"/>
                <a:sym typeface="Symbol" panose="05050102010706020507" pitchFamily="18" charset="2"/>
              </a:rPr>
              <a:t>q  </a:t>
            </a:r>
            <a:r>
              <a:rPr lang="en-US" altLang="zh-CN" dirty="0">
                <a:solidFill>
                  <a:schemeClr val="tx2"/>
                </a:solidFill>
                <a:latin typeface="Times New Roman" panose="02020503050405090304" pitchFamily="18" charset="0"/>
                <a:sym typeface="Symbol" panose="05050102010706020507" pitchFamily="18" charset="2"/>
              </a:rPr>
              <a:t> (2) </a:t>
            </a:r>
            <a:r>
              <a:rPr lang="en-US" altLang="zh-CN" i="1" dirty="0">
                <a:solidFill>
                  <a:schemeClr val="tx2"/>
                </a:solidFill>
                <a:latin typeface="Times New Roman" panose="02020503050405090304" pitchFamily="18" charset="0"/>
                <a:sym typeface="Symbol" panose="05050102010706020507" pitchFamily="18" charset="2"/>
              </a:rPr>
              <a:t>r </a:t>
            </a:r>
            <a:r>
              <a:rPr lang="en-US" altLang="zh-CN" dirty="0">
                <a:solidFill>
                  <a:schemeClr val="tx2"/>
                </a:solidFill>
                <a:latin typeface="Times New Roman" panose="02020503050405090304" pitchFamily="18" charset="0"/>
                <a:sym typeface="Symbol" panose="05050102010706020507" pitchFamily="18" charset="2"/>
              </a:rPr>
              <a:t> </a:t>
            </a:r>
            <a:r>
              <a:rPr lang="en-US" altLang="zh-CN" i="1" dirty="0">
                <a:solidFill>
                  <a:schemeClr val="tx2"/>
                </a:solidFill>
                <a:latin typeface="Times New Roman" panose="02020503050405090304" pitchFamily="18" charset="0"/>
                <a:sym typeface="Symbol" panose="05050102010706020507" pitchFamily="18" charset="2"/>
              </a:rPr>
              <a:t>p  </a:t>
            </a:r>
            <a:r>
              <a:rPr lang="en-US" altLang="zh-CN" dirty="0">
                <a:solidFill>
                  <a:schemeClr val="tx2"/>
                </a:solidFill>
                <a:latin typeface="Times New Roman" panose="02020503050405090304" pitchFamily="18" charset="0"/>
                <a:sym typeface="Symbol" panose="05050102010706020507" pitchFamily="18" charset="2"/>
              </a:rPr>
              <a:t>(3) </a:t>
            </a:r>
            <a:r>
              <a:rPr lang="en-US" altLang="zh-CN" i="1" dirty="0">
                <a:solidFill>
                  <a:schemeClr val="tx2"/>
                </a:solidFill>
                <a:latin typeface="Times New Roman" panose="02020503050405090304" pitchFamily="18" charset="0"/>
                <a:sym typeface="Symbol" panose="05050102010706020507" pitchFamily="18" charset="2"/>
              </a:rPr>
              <a:t>r </a:t>
            </a:r>
            <a:r>
              <a:rPr lang="en-US" altLang="zh-CN" dirty="0">
                <a:solidFill>
                  <a:schemeClr val="tx2"/>
                </a:solidFill>
                <a:latin typeface="Times New Roman" panose="02020503050405090304" pitchFamily="18" charset="0"/>
                <a:sym typeface="Symbol" panose="05050102010706020507" pitchFamily="18" charset="2"/>
              </a:rPr>
              <a:t> </a:t>
            </a:r>
            <a:r>
              <a:rPr lang="en-US" altLang="zh-CN" i="1" dirty="0">
                <a:solidFill>
                  <a:schemeClr val="tx2"/>
                </a:solidFill>
                <a:latin typeface="Times New Roman" panose="02020503050405090304" pitchFamily="18" charset="0"/>
                <a:sym typeface="Symbol" panose="05050102010706020507" pitchFamily="18" charset="2"/>
              </a:rPr>
              <a:t>s</a:t>
            </a:r>
            <a:r>
              <a:rPr lang="en-US" altLang="zh-CN" dirty="0">
                <a:solidFill>
                  <a:schemeClr val="tx2"/>
                </a:solidFill>
                <a:latin typeface="Times New Roman" panose="02020503050405090304" pitchFamily="18" charset="0"/>
                <a:sym typeface="Symbol" panose="05050102010706020507" pitchFamily="18" charset="2"/>
              </a:rPr>
              <a:t>   (4) </a:t>
            </a:r>
            <a:r>
              <a:rPr lang="en-US" altLang="zh-CN" i="1" dirty="0">
                <a:solidFill>
                  <a:schemeClr val="tx2"/>
                </a:solidFill>
                <a:latin typeface="Times New Roman" panose="02020503050405090304" pitchFamily="18" charset="0"/>
                <a:sym typeface="Symbol" panose="05050102010706020507" pitchFamily="18" charset="2"/>
              </a:rPr>
              <a:t>s </a:t>
            </a:r>
            <a:r>
              <a:rPr lang="en-US" altLang="zh-CN" dirty="0">
                <a:solidFill>
                  <a:schemeClr val="tx2"/>
                </a:solidFill>
                <a:latin typeface="Times New Roman" panose="02020503050405090304" pitchFamily="18" charset="0"/>
                <a:sym typeface="Symbol" panose="05050102010706020507" pitchFamily="18" charset="2"/>
              </a:rPr>
              <a:t> </a:t>
            </a:r>
            <a:r>
              <a:rPr lang="en-US" altLang="zh-CN" i="1" dirty="0">
                <a:solidFill>
                  <a:schemeClr val="tx2"/>
                </a:solidFill>
                <a:latin typeface="Times New Roman" panose="02020503050405090304" pitchFamily="18" charset="0"/>
                <a:sym typeface="Symbol" panose="05050102010706020507" pitchFamily="18" charset="2"/>
              </a:rPr>
              <a:t>t</a:t>
            </a:r>
            <a:endParaRPr lang="en-US" altLang="zh-CN" i="1" dirty="0">
              <a:solidFill>
                <a:schemeClr val="tx2"/>
              </a:solidFill>
              <a:latin typeface="Times New Roman" panose="02020503050405090304" pitchFamily="18" charset="0"/>
              <a:sym typeface="Symbol" panose="05050102010706020507" pitchFamily="18" charset="2"/>
            </a:endParaRPr>
          </a:p>
          <a:p>
            <a:pPr lvl="1" eaLnBrk="1" hangingPunct="1"/>
            <a:r>
              <a:rPr lang="en-US" altLang="zh-CN" dirty="0">
                <a:latin typeface="Times New Roman" panose="02020503050405090304" pitchFamily="18" charset="0"/>
                <a:sym typeface="Symbol" panose="05050102010706020507" pitchFamily="18" charset="2"/>
              </a:rPr>
              <a:t>Conclusion</a:t>
            </a:r>
            <a:r>
              <a:rPr lang="en-US" altLang="zh-CN" i="1" dirty="0">
                <a:solidFill>
                  <a:schemeClr val="tx2"/>
                </a:solidFill>
                <a:latin typeface="Times New Roman" panose="02020503050405090304" pitchFamily="18" charset="0"/>
                <a:sym typeface="Symbol" panose="05050102010706020507" pitchFamily="18" charset="2"/>
              </a:rPr>
              <a:t>   t</a:t>
            </a:r>
            <a:endParaRPr lang="en-US" altLang="zh-CN" dirty="0">
              <a:solidFill>
                <a:schemeClr val="tx2"/>
              </a:solidFill>
              <a:latin typeface="Times New Roman" panose="02020503050405090304" pitchFamily="18" charset="0"/>
              <a:sym typeface="Symbol" panose="05050102010706020507" pitchFamily="18" charset="2"/>
            </a:endParaRPr>
          </a:p>
          <a:p>
            <a:pPr eaLnBrk="1" hangingPunct="1"/>
            <a:endParaRPr lang="en-US" altLang="zh-CN" dirty="0">
              <a:latin typeface="Times New Roman" panose="02020503050405090304" pitchFamily="18" charset="0"/>
            </a:endParaRPr>
          </a:p>
          <a:p>
            <a:pPr eaLnBrk="1" hangingPunct="1"/>
            <a:endParaRPr lang="en-US" altLang="zh-CN" dirty="0">
              <a:latin typeface="Times New Roman" panose="02020503050405090304" pitchFamily="18" charset="0"/>
            </a:endParaRPr>
          </a:p>
          <a:p>
            <a:pPr eaLnBrk="1" hangingPunct="1"/>
            <a:endParaRPr lang="en-US" altLang="zh-CN" dirty="0">
              <a:latin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457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458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4581"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 </a:t>
            </a:r>
            <a:r>
              <a:rPr lang="en-US" altLang="zh-CN" i="1" dirty="0">
                <a:latin typeface="Times New Roman" panose="02020503050405090304" pitchFamily="18" charset="0"/>
              </a:rPr>
              <a:t>cont</a:t>
            </a:r>
            <a:r>
              <a:rPr lang="en-US" altLang="zh-CN" dirty="0">
                <a:latin typeface="Times New Roman" panose="02020503050405090304" pitchFamily="18" charset="0"/>
              </a:rPr>
              <a:t>.</a:t>
            </a:r>
            <a:endParaRPr lang="en-US" altLang="zh-CN" dirty="0">
              <a:latin typeface="Times New Roman" panose="02020503050405090304" pitchFamily="18" charset="0"/>
            </a:endParaRPr>
          </a:p>
        </p:txBody>
      </p:sp>
      <p:sp>
        <p:nvSpPr>
          <p:cNvPr id="24582" name="Rectangle 3"/>
          <p:cNvSpPr>
            <a:spLocks noGrp="1"/>
          </p:cNvSpPr>
          <p:nvPr>
            <p:ph idx="1"/>
          </p:nvPr>
        </p:nvSpPr>
        <p:spPr>
          <a:xfrm>
            <a:off x="1187450" y="1844675"/>
            <a:ext cx="7772400" cy="4114800"/>
          </a:xfrm>
        </p:spPr>
        <p:txBody>
          <a:bodyPr vert="horz" wrap="square" lIns="91440" tIns="45720" rIns="91440" bIns="45720" anchor="t" anchorCtr="0"/>
          <a:p>
            <a:pPr marL="0" indent="0" defTabSz="914400" eaLnBrk="1" hangingPunct="1">
              <a:buNone/>
              <a:tabLst>
                <a:tab pos="3660775" algn="l"/>
              </a:tabLst>
            </a:pPr>
            <a:r>
              <a:rPr lang="en-US" altLang="zh-CN" sz="2800" u="sng" dirty="0">
                <a:latin typeface="Times New Roman" panose="02020503050405090304" pitchFamily="18" charset="0"/>
              </a:rPr>
              <a:t>Step</a:t>
            </a:r>
            <a:r>
              <a:rPr lang="en-US" altLang="zh-CN" sz="2800" dirty="0">
                <a:latin typeface="Times New Roman" panose="02020503050405090304" pitchFamily="18" charset="0"/>
              </a:rPr>
              <a:t>	</a:t>
            </a:r>
            <a:r>
              <a:rPr lang="en-US" altLang="zh-CN" sz="2800" u="sng" dirty="0">
                <a:latin typeface="Times New Roman" panose="02020503050405090304" pitchFamily="18" charset="0"/>
              </a:rPr>
              <a:t>Reason</a:t>
            </a:r>
            <a:br>
              <a:rPr lang="en-US" altLang="zh-CN" sz="2800" dirty="0">
                <a:latin typeface="Times New Roman" panose="02020503050405090304" pitchFamily="18" charset="0"/>
              </a:rPr>
            </a:br>
            <a:r>
              <a:rPr lang="en-US" altLang="zh-CN" sz="2800" dirty="0">
                <a:latin typeface="Times New Roman" panose="02020503050405090304" pitchFamily="18" charset="0"/>
              </a:rPr>
              <a:t>1. </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p</a:t>
            </a:r>
            <a:r>
              <a:rPr lang="en-US" altLang="zh-CN" sz="2800" dirty="0">
                <a:solidFill>
                  <a:schemeClr val="tx2"/>
                </a:solidFill>
                <a:latin typeface="Times New Roman" panose="02020503050405090304" pitchFamily="18" charset="0"/>
                <a:sym typeface="Symbol" panose="05050102010706020507" pitchFamily="18" charset="2"/>
              </a:rPr>
              <a:t>  </a:t>
            </a:r>
            <a:r>
              <a:rPr lang="en-US" altLang="zh-CN" sz="2800" i="1" dirty="0">
                <a:solidFill>
                  <a:schemeClr val="tx2"/>
                </a:solidFill>
                <a:latin typeface="Times New Roman" panose="02020503050405090304" pitchFamily="18" charset="0"/>
                <a:sym typeface="Symbol" panose="05050102010706020507" pitchFamily="18" charset="2"/>
              </a:rPr>
              <a:t>q</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Premise #1.</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2. </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p</a:t>
            </a:r>
            <a:r>
              <a:rPr lang="en-US" altLang="zh-CN" sz="2800" i="1"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Simplification of 1.</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3. </a:t>
            </a:r>
            <a:r>
              <a:rPr lang="en-US" altLang="zh-CN" sz="2800" i="1" dirty="0">
                <a:solidFill>
                  <a:schemeClr val="tx2"/>
                </a:solidFill>
                <a:latin typeface="Times New Roman" panose="02020503050405090304" pitchFamily="18" charset="0"/>
                <a:sym typeface="Symbol" panose="05050102010706020507" pitchFamily="18" charset="2"/>
              </a:rPr>
              <a:t>r</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p</a:t>
            </a:r>
            <a:r>
              <a:rPr lang="en-US" altLang="zh-CN" sz="2800" i="1"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Premise #2.</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4. </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r</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Modus tollens on 2,3.</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5. </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r</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s</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Premise #3.</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6. </a:t>
            </a:r>
            <a:r>
              <a:rPr lang="en-US" altLang="zh-CN" sz="2800" i="1" dirty="0">
                <a:solidFill>
                  <a:schemeClr val="tx2"/>
                </a:solidFill>
                <a:latin typeface="Times New Roman" panose="02020503050405090304" pitchFamily="18" charset="0"/>
                <a:sym typeface="Symbol" panose="05050102010706020507" pitchFamily="18" charset="2"/>
              </a:rPr>
              <a:t>s</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Modus ponens on 4,5.</a:t>
            </a:r>
            <a:br>
              <a:rPr lang="en-US" altLang="zh-CN" sz="2800" dirty="0">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7. </a:t>
            </a:r>
            <a:r>
              <a:rPr lang="en-US" altLang="zh-CN" sz="2800" i="1" dirty="0">
                <a:solidFill>
                  <a:schemeClr val="tx2"/>
                </a:solidFill>
                <a:latin typeface="Times New Roman" panose="02020503050405090304" pitchFamily="18" charset="0"/>
                <a:sym typeface="Symbol" panose="05050102010706020507" pitchFamily="18" charset="2"/>
              </a:rPr>
              <a:t>s</a:t>
            </a:r>
            <a:r>
              <a:rPr lang="en-US" altLang="zh-CN" sz="2800" dirty="0">
                <a:solidFill>
                  <a:schemeClr val="tx2"/>
                </a:solidFill>
                <a:latin typeface="Times New Roman" panose="02020503050405090304" pitchFamily="18" charset="0"/>
                <a:sym typeface="Symbol" panose="05050102010706020507" pitchFamily="18" charset="2"/>
              </a:rPr>
              <a:t></a:t>
            </a:r>
            <a:r>
              <a:rPr lang="en-US" altLang="zh-CN" sz="2800" i="1" dirty="0">
                <a:solidFill>
                  <a:schemeClr val="tx2"/>
                </a:solidFill>
                <a:latin typeface="Times New Roman" panose="02020503050405090304" pitchFamily="18" charset="0"/>
                <a:sym typeface="Symbol" panose="05050102010706020507" pitchFamily="18" charset="2"/>
              </a:rPr>
              <a:t>t</a:t>
            </a:r>
            <a:r>
              <a:rPr lang="en-US" altLang="zh-CN" sz="2800" i="1"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Premise #4.</a:t>
            </a:r>
            <a:br>
              <a:rPr lang="en-US" altLang="zh-CN" sz="2800" dirty="0">
                <a:solidFill>
                  <a:srgbClr val="006600"/>
                </a:solidFill>
                <a:latin typeface="Times New Roman" panose="02020503050405090304" pitchFamily="18" charset="0"/>
                <a:sym typeface="Symbol" panose="05050102010706020507" pitchFamily="18" charset="2"/>
              </a:rPr>
            </a:br>
            <a:r>
              <a:rPr lang="en-US" altLang="zh-CN" sz="2800" dirty="0">
                <a:latin typeface="Times New Roman" panose="02020503050405090304" pitchFamily="18" charset="0"/>
                <a:sym typeface="Symbol" panose="05050102010706020507" pitchFamily="18" charset="2"/>
              </a:rPr>
              <a:t>8. </a:t>
            </a:r>
            <a:r>
              <a:rPr lang="en-US" altLang="zh-CN" sz="2800" i="1" dirty="0">
                <a:solidFill>
                  <a:schemeClr val="tx2"/>
                </a:solidFill>
                <a:latin typeface="Times New Roman" panose="02020503050405090304" pitchFamily="18" charset="0"/>
                <a:sym typeface="Symbol" panose="05050102010706020507" pitchFamily="18" charset="2"/>
              </a:rPr>
              <a:t>t</a:t>
            </a:r>
            <a:r>
              <a:rPr lang="en-US" altLang="zh-CN" sz="2800" dirty="0">
                <a:latin typeface="Times New Roman" panose="02020503050405090304" pitchFamily="18" charset="0"/>
                <a:sym typeface="Symbol" panose="05050102010706020507" pitchFamily="18" charset="2"/>
              </a:rPr>
              <a:t>	</a:t>
            </a:r>
            <a:r>
              <a:rPr lang="en-US" altLang="zh-CN" sz="2800" dirty="0">
                <a:solidFill>
                  <a:srgbClr val="006600"/>
                </a:solidFill>
                <a:latin typeface="Times New Roman" panose="02020503050405090304" pitchFamily="18" charset="0"/>
                <a:sym typeface="Symbol" panose="05050102010706020507" pitchFamily="18" charset="2"/>
              </a:rPr>
              <a:t>Modus ponens on 6,7.</a:t>
            </a:r>
            <a:endParaRPr lang="en-US" altLang="zh-CN" sz="2800" dirty="0">
              <a:solidFill>
                <a:srgbClr val="006600"/>
              </a:solidFill>
              <a:latin typeface="Times New Roman" panose="02020503050405090304" pitchFamily="18" charset="0"/>
              <a:sym typeface="Symbol" panose="05050102010706020507" pitchFamily="18" charset="2"/>
            </a:endParaRPr>
          </a:p>
        </p:txBody>
      </p:sp>
      <p:sp>
        <p:nvSpPr>
          <p:cNvPr id="2" name="文本框 1"/>
          <p:cNvSpPr txBox="1"/>
          <p:nvPr/>
        </p:nvSpPr>
        <p:spPr>
          <a:xfrm>
            <a:off x="4860290" y="44450"/>
            <a:ext cx="4026535" cy="1568450"/>
          </a:xfrm>
          <a:prstGeom prst="rect">
            <a:avLst/>
          </a:prstGeom>
          <a:noFill/>
        </p:spPr>
        <p:txBody>
          <a:bodyPr wrap="square" rtlCol="0" anchor="t">
            <a:spAutoFit/>
          </a:bodyPr>
          <a:p>
            <a:pPr lvl="1" eaLnBrk="1" hangingPunct="1"/>
            <a:r>
              <a:rPr lang="en-US" altLang="zh-CN" b="0" i="0" u="none" dirty="0">
                <a:sym typeface="+mn-ea"/>
              </a:rPr>
              <a:t> premises:</a:t>
            </a:r>
            <a:br>
              <a:rPr lang="en-US" altLang="zh-CN" b="0" i="0" u="none" dirty="0">
                <a:sym typeface="+mn-ea"/>
              </a:rPr>
            </a:br>
            <a:r>
              <a:rPr lang="en-US" altLang="zh-CN" b="0" i="0" u="none" dirty="0">
                <a:solidFill>
                  <a:schemeClr val="tx2"/>
                </a:solidFill>
                <a:sym typeface="+mn-ea"/>
              </a:rPr>
              <a:t>(1) </a:t>
            </a:r>
            <a:r>
              <a:rPr lang="en-US" altLang="zh-CN" b="0" i="0" u="none" dirty="0">
                <a:solidFill>
                  <a:schemeClr val="tx2"/>
                </a:solidFill>
                <a:sym typeface="Symbol" panose="05050102010706020507" pitchFamily="18" charset="2"/>
              </a:rPr>
              <a:t>p  q   (2) r  p  </a:t>
            </a:r>
            <a:endParaRPr lang="en-US" altLang="zh-CN" b="0" i="0" u="none" dirty="0">
              <a:solidFill>
                <a:schemeClr val="tx2"/>
              </a:solidFill>
              <a:sym typeface="Symbol" panose="05050102010706020507" pitchFamily="18" charset="2"/>
            </a:endParaRPr>
          </a:p>
          <a:p>
            <a:pPr lvl="1" eaLnBrk="1" hangingPunct="1"/>
            <a:r>
              <a:rPr lang="en-US" altLang="zh-CN" b="0" i="0" u="none" dirty="0">
                <a:solidFill>
                  <a:schemeClr val="tx2"/>
                </a:solidFill>
                <a:sym typeface="Symbol" panose="05050102010706020507" pitchFamily="18" charset="2"/>
              </a:rPr>
              <a:t>(3) r  s   (4) s  t</a:t>
            </a:r>
            <a:endParaRPr lang="en-US" altLang="zh-CN" b="0" i="0" u="none" dirty="0">
              <a:solidFill>
                <a:schemeClr val="tx2"/>
              </a:solidFill>
              <a:latin typeface="Times New Roman" panose="02020503050405090304" pitchFamily="18" charset="0"/>
              <a:sym typeface="Symbol" panose="05050102010706020507" pitchFamily="18" charset="2"/>
            </a:endParaRPr>
          </a:p>
          <a:p>
            <a:pPr lvl="1" eaLnBrk="1" hangingPunct="1"/>
            <a:r>
              <a:rPr lang="en-US" altLang="zh-CN" b="0" i="0" u="none" dirty="0">
                <a:sym typeface="Symbol" panose="05050102010706020507" pitchFamily="18" charset="2"/>
              </a:rPr>
              <a:t>Conclusion</a:t>
            </a:r>
            <a:r>
              <a:rPr lang="en-US" altLang="zh-CN" b="0" i="0" u="none" dirty="0">
                <a:solidFill>
                  <a:schemeClr val="tx2"/>
                </a:solidFill>
                <a:sym typeface="Symbol" panose="05050102010706020507" pitchFamily="18" charset="2"/>
              </a:rPr>
              <a:t>   t</a:t>
            </a:r>
            <a:endParaRPr lang="en-US" altLang="zh-CN" b="0" i="0" u="none" dirty="0">
              <a:solidFill>
                <a:schemeClr val="tx2"/>
              </a:solidFill>
              <a:sym typeface="Symbol" panose="05050102010706020507"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560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560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5605"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Resolution</a:t>
            </a:r>
            <a:endParaRPr lang="en-US" altLang="zh-CN" dirty="0">
              <a:latin typeface="Times New Roman" panose="02020503050405090304" pitchFamily="18" charset="0"/>
            </a:endParaRPr>
          </a:p>
        </p:txBody>
      </p:sp>
      <p:sp>
        <p:nvSpPr>
          <p:cNvPr id="25606" name="Rectangle 3"/>
          <p:cNvSpPr>
            <a:spLocks noGrp="1"/>
          </p:cNvSpPr>
          <p:nvPr>
            <p:ph idx="1"/>
          </p:nvPr>
        </p:nvSpPr>
        <p:spPr>
          <a:xfrm>
            <a:off x="971550" y="1340485"/>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Example 9</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Show that the hypotheses (</a:t>
            </a:r>
            <a:r>
              <a:rPr lang="en-US" altLang="zh-CN" i="1" dirty="0">
                <a:latin typeface="Times New Roman" panose="02020503050405090304" pitchFamily="18" charset="0"/>
              </a:rPr>
              <a:t>p</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q</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r</a:t>
            </a:r>
            <a:r>
              <a:rPr lang="en-US" altLang="zh-CN" dirty="0">
                <a:latin typeface="Times New Roman" panose="02020503050405090304" pitchFamily="18" charset="0"/>
                <a:sym typeface="Symbol" panose="05050102010706020507" pitchFamily="18" charset="2"/>
              </a:rPr>
              <a:t> and</a:t>
            </a:r>
            <a:r>
              <a:rPr lang="en-US" altLang="zh-CN" i="1" dirty="0">
                <a:latin typeface="Times New Roman" panose="02020503050405090304" pitchFamily="18" charset="0"/>
                <a:sym typeface="Symbol" panose="05050102010706020507" pitchFamily="18" charset="2"/>
              </a:rPr>
              <a:t> r</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s </a:t>
            </a:r>
            <a:r>
              <a:rPr lang="en-US" altLang="zh-CN" dirty="0">
                <a:latin typeface="Times New Roman" panose="02020503050405090304" pitchFamily="18" charset="0"/>
                <a:sym typeface="Symbol" panose="05050102010706020507" pitchFamily="18" charset="2"/>
              </a:rPr>
              <a:t>imply the conclusion </a:t>
            </a:r>
            <a:r>
              <a:rPr lang="en-US" altLang="zh-CN" i="1" dirty="0">
                <a:latin typeface="Times New Roman" panose="02020503050405090304" pitchFamily="18" charset="0"/>
                <a:sym typeface="Symbol" panose="05050102010706020507" pitchFamily="18" charset="2"/>
              </a:rPr>
              <a:t>p</a:t>
            </a:r>
            <a:r>
              <a:rPr lang="en-US" altLang="zh-CN" dirty="0">
                <a:latin typeface="Times New Roman" panose="02020503050405090304" pitchFamily="18" charset="0"/>
                <a:sym typeface="Symbol" panose="05050102010706020507" pitchFamily="18" charset="2"/>
              </a:rPr>
              <a:t></a:t>
            </a:r>
            <a:r>
              <a:rPr lang="en-US" altLang="zh-CN" i="1" dirty="0">
                <a:latin typeface="Times New Roman" panose="02020503050405090304" pitchFamily="18" charset="0"/>
                <a:sym typeface="Symbol" panose="05050102010706020507" pitchFamily="18" charset="2"/>
              </a:rPr>
              <a:t>s.</a:t>
            </a:r>
            <a:endParaRPr lang="en-US" altLang="zh-CN" i="1" dirty="0">
              <a:latin typeface="Times New Roman" panose="02020503050405090304" pitchFamily="18" charset="0"/>
              <a:sym typeface="Symbol" panose="05050102010706020507" pitchFamily="18" charset="2"/>
            </a:endParaRPr>
          </a:p>
        </p:txBody>
      </p:sp>
      <p:sp>
        <p:nvSpPr>
          <p:cNvPr id="25607" name="Rectangle 3"/>
          <p:cNvSpPr txBox="1"/>
          <p:nvPr/>
        </p:nvSpPr>
        <p:spPr>
          <a:xfrm>
            <a:off x="1331278" y="3068955"/>
            <a:ext cx="7488237" cy="2811463"/>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defTabSz="914400" eaLnBrk="1" hangingPunct="1">
              <a:buNone/>
              <a:tabLst>
                <a:tab pos="3660775" algn="l"/>
              </a:tabLst>
            </a:pPr>
            <a:r>
              <a:rPr lang="en-US" altLang="zh-CN" sz="2800" u="none" dirty="0">
                <a:latin typeface="Times New Roman" panose="02020503050405090304" pitchFamily="18" charset="0"/>
              </a:rPr>
              <a:t>Step	</a:t>
            </a:r>
            <a:r>
              <a:rPr lang="en-US" altLang="zh-CN" sz="2800" u="none" dirty="0">
                <a:latin typeface="Times New Roman" panose="02020503050405090304" pitchFamily="18" charset="0"/>
              </a:rPr>
              <a:t>Reason</a:t>
            </a:r>
            <a:br>
              <a:rPr lang="en-US" altLang="zh-CN" sz="2800" u="none" dirty="0">
                <a:latin typeface="Times New Roman" panose="02020503050405090304" pitchFamily="18" charset="0"/>
              </a:rPr>
            </a:br>
            <a:r>
              <a:rPr lang="en-US" altLang="zh-CN" sz="2800" u="none" dirty="0">
                <a:latin typeface="Times New Roman" panose="02020503050405090304" pitchFamily="18" charset="0"/>
              </a:rPr>
              <a:t>1. </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p</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q</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r</a:t>
            </a:r>
            <a:r>
              <a:rPr lang="en-US" altLang="zh-CN" sz="2800" u="none" dirty="0">
                <a:latin typeface="Times New Roman" panose="02020503050405090304" pitchFamily="18" charset="0"/>
                <a:sym typeface="Symbol" panose="05050102010706020507" pitchFamily="18" charset="2"/>
              </a:rPr>
              <a:t>	</a:t>
            </a:r>
            <a:r>
              <a:rPr lang="en-US" altLang="zh-CN" sz="2800" u="none" dirty="0">
                <a:solidFill>
                  <a:srgbClr val="006600"/>
                </a:solidFill>
                <a:latin typeface="Times New Roman" panose="02020503050405090304" pitchFamily="18" charset="0"/>
                <a:sym typeface="Symbol" panose="05050102010706020507" pitchFamily="18" charset="2"/>
              </a:rPr>
              <a:t>Premise #1.</a:t>
            </a:r>
            <a:br>
              <a:rPr lang="en-US" altLang="zh-CN" sz="2800" u="none" dirty="0">
                <a:latin typeface="Times New Roman" panose="02020503050405090304" pitchFamily="18" charset="0"/>
                <a:sym typeface="Symbol" panose="05050102010706020507" pitchFamily="18" charset="2"/>
              </a:rPr>
            </a:br>
            <a:r>
              <a:rPr lang="en-US" altLang="zh-CN" sz="2800" u="none" dirty="0">
                <a:latin typeface="Times New Roman" panose="02020503050405090304" pitchFamily="18" charset="0"/>
                <a:sym typeface="Symbol" panose="05050102010706020507" pitchFamily="18" charset="2"/>
              </a:rPr>
              <a:t>2. </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p</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r</a:t>
            </a:r>
            <a:r>
              <a:rPr lang="en-US" altLang="zh-CN" sz="2800" u="none" dirty="0">
                <a:solidFill>
                  <a:schemeClr val="tx2"/>
                </a:solidFill>
                <a:latin typeface="Times New Roman" panose="02020503050405090304" pitchFamily="18" charset="0"/>
                <a:sym typeface="Symbol" panose="05050102010706020507" pitchFamily="18" charset="2"/>
              </a:rPr>
              <a:t>)</a:t>
            </a:r>
            <a:r>
              <a:rPr lang="zh-CN" altLang="en-US" sz="2800" u="none" dirty="0">
                <a:solidFill>
                  <a:schemeClr val="tx2"/>
                </a:solidFill>
                <a:latin typeface="Times New Roman" panose="02020503050405090304" pitchFamily="18" charset="0"/>
                <a:sym typeface="Symbol" panose="05050102010706020507" pitchFamily="18" charset="2"/>
              </a:rPr>
              <a:t> </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q</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r</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latin typeface="Times New Roman" panose="02020503050405090304" pitchFamily="18" charset="0"/>
                <a:sym typeface="Symbol" panose="05050102010706020507" pitchFamily="18" charset="2"/>
              </a:rPr>
              <a:t>	</a:t>
            </a:r>
            <a:r>
              <a:rPr lang="en-US" altLang="zh-CN" sz="2800" u="none" dirty="0">
                <a:solidFill>
                  <a:srgbClr val="006600"/>
                </a:solidFill>
                <a:latin typeface="Times New Roman" panose="02020503050405090304" pitchFamily="18" charset="0"/>
                <a:sym typeface="Symbol" panose="05050102010706020507" pitchFamily="18" charset="2"/>
              </a:rPr>
              <a:t>Distributive of 1.</a:t>
            </a:r>
            <a:br>
              <a:rPr lang="en-US" altLang="zh-CN" sz="2800" u="none" dirty="0">
                <a:latin typeface="Times New Roman" panose="02020503050405090304" pitchFamily="18" charset="0"/>
                <a:sym typeface="Symbol" panose="05050102010706020507" pitchFamily="18" charset="2"/>
              </a:rPr>
            </a:br>
            <a:r>
              <a:rPr lang="en-US" altLang="zh-CN" sz="2800" u="none" dirty="0">
                <a:latin typeface="Times New Roman" panose="02020503050405090304" pitchFamily="18" charset="0"/>
                <a:sym typeface="Symbol" panose="05050102010706020507" pitchFamily="18" charset="2"/>
              </a:rPr>
              <a:t>3. </a:t>
            </a:r>
            <a:r>
              <a:rPr lang="en-US" altLang="zh-CN" sz="2800" i="1" u="none" dirty="0">
                <a:solidFill>
                  <a:schemeClr val="tx2"/>
                </a:solidFill>
                <a:latin typeface="Times New Roman" panose="02020503050405090304" pitchFamily="18" charset="0"/>
                <a:sym typeface="Symbol" panose="05050102010706020507" pitchFamily="18" charset="2"/>
              </a:rPr>
              <a:t>p</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r </a:t>
            </a:r>
            <a:r>
              <a:rPr lang="en-US" altLang="zh-CN" sz="2800" i="1" u="none" dirty="0">
                <a:latin typeface="Times New Roman" panose="02020503050405090304" pitchFamily="18" charset="0"/>
                <a:sym typeface="Symbol" panose="05050102010706020507" pitchFamily="18" charset="2"/>
              </a:rPr>
              <a:t>	</a:t>
            </a:r>
            <a:r>
              <a:rPr lang="en-US" altLang="zh-CN" sz="2800" u="none" dirty="0">
                <a:solidFill>
                  <a:srgbClr val="006600"/>
                </a:solidFill>
                <a:latin typeface="Times New Roman" panose="02020503050405090304" pitchFamily="18" charset="0"/>
                <a:sym typeface="Symbol" panose="05050102010706020507" pitchFamily="18" charset="2"/>
              </a:rPr>
              <a:t>  - of 2.</a:t>
            </a:r>
            <a:br>
              <a:rPr lang="en-US" altLang="zh-CN" sz="2800" u="none" dirty="0">
                <a:latin typeface="Times New Roman" panose="02020503050405090304" pitchFamily="18" charset="0"/>
                <a:sym typeface="Symbol" panose="05050102010706020507" pitchFamily="18" charset="2"/>
              </a:rPr>
            </a:br>
            <a:r>
              <a:rPr lang="en-US" altLang="zh-CN" sz="2800" u="none" dirty="0">
                <a:latin typeface="Times New Roman" panose="02020503050405090304" pitchFamily="18" charset="0"/>
                <a:sym typeface="Symbol" panose="05050102010706020507" pitchFamily="18" charset="2"/>
              </a:rPr>
              <a:t>4. </a:t>
            </a:r>
            <a:r>
              <a:rPr lang="en-US" altLang="zh-CN" sz="2800" i="1" u="none" dirty="0">
                <a:solidFill>
                  <a:schemeClr val="tx2"/>
                </a:solidFill>
                <a:latin typeface="Times New Roman" panose="02020503050405090304" pitchFamily="18" charset="0"/>
                <a:sym typeface="Symbol" panose="05050102010706020507" pitchFamily="18" charset="2"/>
              </a:rPr>
              <a:t>r</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s</a:t>
            </a:r>
            <a:r>
              <a:rPr lang="en-US" altLang="zh-CN" sz="2800" u="none" dirty="0">
                <a:latin typeface="Times New Roman" panose="02020503050405090304" pitchFamily="18" charset="0"/>
                <a:sym typeface="Symbol" panose="05050102010706020507" pitchFamily="18" charset="2"/>
              </a:rPr>
              <a:t> 	</a:t>
            </a:r>
            <a:r>
              <a:rPr lang="en-US" altLang="zh-CN" sz="2800" u="none" dirty="0">
                <a:solidFill>
                  <a:srgbClr val="006600"/>
                </a:solidFill>
                <a:latin typeface="Times New Roman" panose="02020503050405090304" pitchFamily="18" charset="0"/>
                <a:sym typeface="Symbol" panose="05050102010706020507" pitchFamily="18" charset="2"/>
              </a:rPr>
              <a:t>Premise #2. </a:t>
            </a:r>
            <a:endParaRPr lang="en-US" altLang="zh-CN" sz="2800" u="none" dirty="0">
              <a:solidFill>
                <a:srgbClr val="006600"/>
              </a:solidFill>
              <a:latin typeface="Times New Roman" panose="02020503050405090304" pitchFamily="18" charset="0"/>
              <a:sym typeface="Symbol" panose="05050102010706020507" pitchFamily="18" charset="2"/>
            </a:endParaRPr>
          </a:p>
          <a:p>
            <a:pPr marL="0" lvl="0" indent="0" defTabSz="914400" eaLnBrk="1" hangingPunct="1">
              <a:buNone/>
              <a:tabLst>
                <a:tab pos="3660775" algn="l"/>
              </a:tabLst>
            </a:pPr>
            <a:r>
              <a:rPr lang="en-US" altLang="zh-CN" sz="2800" u="none" dirty="0">
                <a:latin typeface="Times New Roman" panose="02020503050405090304" pitchFamily="18" charset="0"/>
                <a:sym typeface="Symbol" panose="05050102010706020507" pitchFamily="18" charset="2"/>
              </a:rPr>
              <a:t>5. </a:t>
            </a:r>
            <a:r>
              <a:rPr lang="en-US" altLang="zh-CN" sz="2800" u="none" dirty="0">
                <a:solidFill>
                  <a:srgbClr val="002060"/>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r</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s </a:t>
            </a:r>
            <a:r>
              <a:rPr lang="en-US" altLang="zh-CN" sz="2800" u="none" dirty="0">
                <a:latin typeface="Times New Roman" panose="02020503050405090304" pitchFamily="18" charset="0"/>
                <a:sym typeface="Symbol" panose="05050102010706020507" pitchFamily="18" charset="2"/>
              </a:rPr>
              <a:t>	</a:t>
            </a:r>
            <a:r>
              <a:rPr lang="en-US" altLang="zh-CN" sz="2800" u="none" dirty="0">
                <a:solidFill>
                  <a:srgbClr val="006600"/>
                </a:solidFill>
                <a:latin typeface="Times New Roman" panose="02020503050405090304" pitchFamily="18" charset="0"/>
                <a:sym typeface="Symbol" panose="05050102010706020507" pitchFamily="18" charset="2"/>
              </a:rPr>
              <a:t>Implication of 4.</a:t>
            </a:r>
            <a:endParaRPr lang="en-US" altLang="zh-CN" sz="2800" u="none" dirty="0">
              <a:solidFill>
                <a:srgbClr val="006600"/>
              </a:solidFill>
              <a:latin typeface="Times New Roman" panose="02020503050405090304" pitchFamily="18" charset="0"/>
              <a:sym typeface="Symbol" panose="05050102010706020507" pitchFamily="18" charset="2"/>
            </a:endParaRPr>
          </a:p>
          <a:p>
            <a:pPr marL="0" lvl="0" indent="0" defTabSz="914400" eaLnBrk="1" hangingPunct="1">
              <a:buNone/>
              <a:tabLst>
                <a:tab pos="3660775" algn="l"/>
              </a:tabLst>
            </a:pPr>
            <a:r>
              <a:rPr lang="en-US" altLang="zh-CN" sz="2800" u="none" dirty="0">
                <a:latin typeface="Times New Roman" panose="02020503050405090304" pitchFamily="18" charset="0"/>
                <a:sym typeface="Symbol" panose="05050102010706020507" pitchFamily="18" charset="2"/>
              </a:rPr>
              <a:t>6.</a:t>
            </a:r>
            <a:r>
              <a:rPr lang="en-US" altLang="zh-CN" sz="2800" u="none" dirty="0">
                <a:solidFill>
                  <a:srgbClr val="006600"/>
                </a:solidFill>
                <a:latin typeface="Times New Roman" panose="02020503050405090304" pitchFamily="18" charset="0"/>
                <a:sym typeface="Symbol" panose="05050102010706020507" pitchFamily="18" charset="2"/>
              </a:rPr>
              <a:t> </a:t>
            </a:r>
            <a:r>
              <a:rPr lang="en-US" altLang="zh-CN" sz="2800" i="1" u="none" dirty="0">
                <a:solidFill>
                  <a:schemeClr val="tx2"/>
                </a:solidFill>
                <a:latin typeface="Times New Roman" panose="02020503050405090304" pitchFamily="18" charset="0"/>
                <a:sym typeface="Symbol" panose="05050102010706020507" pitchFamily="18" charset="2"/>
              </a:rPr>
              <a:t>p</a:t>
            </a:r>
            <a:r>
              <a:rPr lang="en-US" altLang="zh-CN" sz="2800" u="none" dirty="0">
                <a:solidFill>
                  <a:schemeClr val="tx2"/>
                </a:solidFill>
                <a:latin typeface="Times New Roman" panose="02020503050405090304" pitchFamily="18" charset="0"/>
                <a:sym typeface="Symbol" panose="05050102010706020507" pitchFamily="18" charset="2"/>
              </a:rPr>
              <a:t></a:t>
            </a:r>
            <a:r>
              <a:rPr lang="en-US" altLang="zh-CN" sz="2800" i="1" u="none" dirty="0">
                <a:solidFill>
                  <a:schemeClr val="tx2"/>
                </a:solidFill>
                <a:latin typeface="Times New Roman" panose="02020503050405090304" pitchFamily="18" charset="0"/>
                <a:sym typeface="Symbol" panose="05050102010706020507" pitchFamily="18" charset="2"/>
              </a:rPr>
              <a:t>s                               </a:t>
            </a:r>
            <a:r>
              <a:rPr lang="en-US" altLang="zh-CN" sz="2800" u="none" dirty="0">
                <a:solidFill>
                  <a:srgbClr val="006600"/>
                </a:solidFill>
                <a:latin typeface="Times New Roman" panose="02020503050405090304" pitchFamily="18" charset="0"/>
              </a:rPr>
              <a:t>Resolution on 3,5.</a:t>
            </a:r>
            <a:endParaRPr lang="en-US" altLang="zh-CN" sz="2800" u="none" dirty="0">
              <a:solidFill>
                <a:srgbClr val="006600"/>
              </a:solidFill>
              <a:latin typeface="Times New Roman" panose="02020503050405090304" pitchFamily="18" charset="0"/>
              <a:sym typeface="Symbol" panose="05050102010706020507" pitchFamily="18" charset="2"/>
            </a:endParaRPr>
          </a:p>
          <a:p>
            <a:pPr marL="0" lvl="0" indent="0" defTabSz="914400" eaLnBrk="1" hangingPunct="1">
              <a:buNone/>
              <a:tabLst>
                <a:tab pos="3660775" algn="l"/>
              </a:tabLst>
            </a:pPr>
            <a:endParaRPr lang="en-US" altLang="zh-CN" sz="2800" dirty="0">
              <a:solidFill>
                <a:srgbClr val="006600"/>
              </a:solidFill>
              <a:latin typeface="Times New Roman" panose="02020503050405090304" pitchFamily="18" charset="0"/>
              <a:sym typeface="Symbol" panose="05050102010706020507" pitchFamily="18" charset="2"/>
            </a:endParaRPr>
          </a:p>
          <a:p>
            <a:pPr marL="0" lvl="0" indent="0" defTabSz="914400" eaLnBrk="1" hangingPunct="1">
              <a:buNone/>
              <a:tabLst>
                <a:tab pos="3660775" algn="l"/>
              </a:tabLst>
            </a:pPr>
            <a:endParaRPr lang="en-US" altLang="zh-CN" sz="2800" dirty="0">
              <a:solidFill>
                <a:srgbClr val="006600"/>
              </a:solidFill>
              <a:latin typeface="Times New Roman" panose="0202050305040509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662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662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6629" name="Rectangle 2"/>
          <p:cNvSpPr/>
          <p:nvPr/>
        </p:nvSpPr>
        <p:spPr>
          <a:xfrm>
            <a:off x="2916238" y="4294505"/>
            <a:ext cx="2743200" cy="1752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6630" name="Rectangle 3"/>
          <p:cNvSpPr>
            <a:spLocks noGrp="1"/>
          </p:cNvSpPr>
          <p:nvPr>
            <p:ph type="title"/>
          </p:nvPr>
        </p:nvSpPr>
        <p:spPr/>
        <p:txBody>
          <a:bodyPr vert="horz" wrap="square" lIns="91440" tIns="45720" rIns="91440" bIns="45720" anchor="b" anchorCtr="0"/>
          <a:p>
            <a:pPr eaLnBrk="1" hangingPunct="1"/>
            <a:r>
              <a:rPr lang="zh-CN" altLang="en-US" dirty="0"/>
              <a:t>一阶逻辑推理定律(定义</a:t>
            </a:r>
            <a:r>
              <a:rPr lang="en-US" altLang="zh-CN" dirty="0"/>
              <a:t>)</a:t>
            </a:r>
            <a:endParaRPr lang="en-US" altLang="zh-CN" dirty="0"/>
          </a:p>
        </p:txBody>
      </p:sp>
      <p:sp>
        <p:nvSpPr>
          <p:cNvPr id="26631" name="Rectangle 4"/>
          <p:cNvSpPr>
            <a:spLocks noGrp="1"/>
          </p:cNvSpPr>
          <p:nvPr>
            <p:ph idx="1"/>
          </p:nvPr>
        </p:nvSpPr>
        <p:spPr>
          <a:xfrm>
            <a:off x="1115695" y="1340485"/>
            <a:ext cx="7772400" cy="4114800"/>
          </a:xfrm>
        </p:spPr>
        <p:txBody>
          <a:bodyPr vert="horz" wrap="square" lIns="91440" tIns="45720" rIns="91440" bIns="45720" anchor="t" anchorCtr="0"/>
          <a:p>
            <a:pPr eaLnBrk="1" hangingPunct="1"/>
            <a:r>
              <a:rPr lang="zh-CN" altLang="en-US" dirty="0"/>
              <a:t>推出：  </a:t>
            </a:r>
            <a:r>
              <a:rPr lang="en-US" altLang="zh-CN" dirty="0"/>
              <a:t>A</a:t>
            </a:r>
            <a:r>
              <a:rPr lang="en-US" altLang="zh-CN" dirty="0">
                <a:sym typeface="Symbol" panose="05050102010706020507" pitchFamily="18" charset="2"/>
              </a:rPr>
              <a:t></a:t>
            </a:r>
            <a:r>
              <a:rPr lang="en-US" altLang="zh-CN" dirty="0"/>
              <a:t>B</a:t>
            </a:r>
            <a:r>
              <a:rPr lang="en-US" altLang="zh-CN" i="1" dirty="0"/>
              <a:t> </a:t>
            </a:r>
            <a:endParaRPr lang="en-US" altLang="zh-CN" dirty="0"/>
          </a:p>
          <a:p>
            <a:pPr lvl="1" eaLnBrk="1" hangingPunct="1"/>
            <a:r>
              <a:rPr lang="zh-CN" altLang="en-US" dirty="0"/>
              <a:t>读作：</a:t>
            </a:r>
            <a:r>
              <a:rPr lang="en-US" altLang="zh-CN" dirty="0"/>
              <a:t>A</a:t>
            </a:r>
            <a:r>
              <a:rPr lang="zh-CN" altLang="en-US" dirty="0"/>
              <a:t>推出</a:t>
            </a:r>
            <a:r>
              <a:rPr lang="en-US" altLang="zh-CN" dirty="0"/>
              <a:t>B</a:t>
            </a:r>
            <a:endParaRPr lang="en-US" altLang="zh-CN" dirty="0"/>
          </a:p>
          <a:p>
            <a:pPr lvl="1" eaLnBrk="1" hangingPunct="1"/>
            <a:r>
              <a:rPr lang="zh-CN" altLang="en-US" dirty="0"/>
              <a:t>含义：</a:t>
            </a:r>
            <a:r>
              <a:rPr lang="en-US" altLang="zh-CN" dirty="0"/>
              <a:t>A</a:t>
            </a:r>
            <a:r>
              <a:rPr lang="zh-CN" altLang="en-US" dirty="0"/>
              <a:t>为真时, </a:t>
            </a:r>
            <a:r>
              <a:rPr lang="en-US" altLang="zh-CN" dirty="0"/>
              <a:t>B</a:t>
            </a:r>
            <a:r>
              <a:rPr lang="zh-CN" altLang="en-US" dirty="0"/>
              <a:t>也为真</a:t>
            </a:r>
            <a:endParaRPr lang="zh-CN" altLang="en-US" dirty="0"/>
          </a:p>
          <a:p>
            <a:pPr eaLnBrk="1" hangingPunct="1"/>
            <a:r>
              <a:rPr lang="en-US" altLang="zh-CN" dirty="0"/>
              <a:t>A</a:t>
            </a:r>
            <a:r>
              <a:rPr lang="en-US" altLang="zh-CN" dirty="0">
                <a:sym typeface="Symbol" panose="05050102010706020507" pitchFamily="18" charset="2"/>
              </a:rPr>
              <a:t></a:t>
            </a:r>
            <a:r>
              <a:rPr lang="en-US" altLang="zh-CN" dirty="0"/>
              <a:t>B</a:t>
            </a:r>
            <a:r>
              <a:rPr lang="en-US" altLang="zh-CN" i="1" dirty="0"/>
              <a:t> </a:t>
            </a:r>
            <a:r>
              <a:rPr lang="zh-CN" altLang="en-US" dirty="0"/>
              <a:t>当且仅当 </a:t>
            </a:r>
            <a:r>
              <a:rPr lang="en-US" altLang="zh-CN" dirty="0"/>
              <a:t>A</a:t>
            </a:r>
            <a:r>
              <a:rPr lang="en-US" altLang="zh-CN" dirty="0">
                <a:sym typeface="Symbol" panose="05050102010706020507" pitchFamily="18" charset="2"/>
              </a:rPr>
              <a:t>B</a:t>
            </a:r>
            <a:r>
              <a:rPr lang="zh-CN" altLang="en-US" dirty="0"/>
              <a:t>是永真式</a:t>
            </a:r>
            <a:endParaRPr lang="zh-CN" altLang="en-US" dirty="0"/>
          </a:p>
          <a:p>
            <a:pPr eaLnBrk="1" hangingPunct="1"/>
            <a:r>
              <a:rPr lang="zh-CN" altLang="en-US" dirty="0"/>
              <a:t>例如： </a:t>
            </a:r>
            <a:r>
              <a:rPr lang="en-US" altLang="zh-CN" dirty="0">
                <a:sym typeface="Symbol" panose="05050102010706020507" pitchFamily="18" charset="2"/>
              </a:rPr>
              <a:t>xF(x)  </a:t>
            </a:r>
            <a:r>
              <a:rPr lang="zh-CN" altLang="en-US" dirty="0">
                <a:sym typeface="Symbol" panose="05050102010706020507" pitchFamily="18" charset="2"/>
              </a:rPr>
              <a:t></a:t>
            </a:r>
            <a:r>
              <a:rPr lang="en-US" altLang="zh-CN" dirty="0">
                <a:sym typeface="Symbol" panose="05050102010706020507" pitchFamily="18" charset="2"/>
              </a:rPr>
              <a:t>xF(x)</a:t>
            </a:r>
            <a:endParaRPr lang="en-US" altLang="zh-CN" dirty="0">
              <a:sym typeface="Symbol" panose="05050102010706020507" pitchFamily="18" charset="2"/>
            </a:endParaRPr>
          </a:p>
        </p:txBody>
      </p:sp>
      <p:sp>
        <p:nvSpPr>
          <p:cNvPr id="26632" name="Oval 5"/>
          <p:cNvSpPr/>
          <p:nvPr/>
        </p:nvSpPr>
        <p:spPr>
          <a:xfrm>
            <a:off x="4191000" y="5199380"/>
            <a:ext cx="152400" cy="152400"/>
          </a:xfrm>
          <a:prstGeom prst="ellipse">
            <a:avLst/>
          </a:prstGeom>
          <a:solidFill>
            <a:srgbClr val="CC0000"/>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Times New Roman" panose="02020503050405090304" pitchFamily="18" charset="0"/>
            </a:endParaRPr>
          </a:p>
        </p:txBody>
      </p:sp>
      <p:sp>
        <p:nvSpPr>
          <p:cNvPr id="26633" name="Text Box 6"/>
          <p:cNvSpPr txBox="1"/>
          <p:nvPr/>
        </p:nvSpPr>
        <p:spPr>
          <a:xfrm>
            <a:off x="3048000" y="4724400"/>
            <a:ext cx="381000" cy="457200"/>
          </a:xfrm>
          <a:prstGeom prst="rect">
            <a:avLst/>
          </a:prstGeom>
          <a:noFill/>
          <a:ln w="9525">
            <a:noFill/>
          </a:ln>
        </p:spPr>
        <p:txBody>
          <a:bodyPr>
            <a:spAutoFit/>
          </a:bodyPr>
          <a:p>
            <a:pPr eaLnBrk="1" hangingPunct="1">
              <a:spcBef>
                <a:spcPct val="50000"/>
              </a:spcBef>
            </a:pPr>
            <a:r>
              <a:rPr lang="en-US" altLang="zh-CN" b="0" i="0" u="none" dirty="0">
                <a:latin typeface="Arial Narrow" panose="020B0606020202030204" pitchFamily="34" charset="0"/>
              </a:rPr>
              <a:t>F</a:t>
            </a:r>
            <a:endParaRPr lang="en-US" altLang="zh-CN" b="0" i="0" u="none" dirty="0">
              <a:latin typeface="Arial Narrow" panose="020B0606020202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867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867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8677" name="Rectangle 2"/>
          <p:cNvSpPr>
            <a:spLocks noGrp="1"/>
          </p:cNvSpPr>
          <p:nvPr>
            <p:ph type="title"/>
          </p:nvPr>
        </p:nvSpPr>
        <p:spPr/>
        <p:txBody>
          <a:bodyPr vert="horz" wrap="square" lIns="91440" tIns="45720" rIns="91440" bIns="45720" anchor="b" anchorCtr="0"/>
          <a:p>
            <a:pPr eaLnBrk="1" hangingPunct="1"/>
            <a:r>
              <a:rPr lang="zh-CN" altLang="en-US" dirty="0"/>
              <a:t>一阶逻辑推理定律(来源)</a:t>
            </a:r>
            <a:endParaRPr lang="zh-CN" altLang="en-US" dirty="0"/>
          </a:p>
        </p:txBody>
      </p:sp>
      <p:sp>
        <p:nvSpPr>
          <p:cNvPr id="28678" name="Rectangle 3"/>
          <p:cNvSpPr>
            <a:spLocks noGrp="1"/>
          </p:cNvSpPr>
          <p:nvPr>
            <p:ph idx="1"/>
          </p:nvPr>
        </p:nvSpPr>
        <p:spPr/>
        <p:txBody>
          <a:bodyPr vert="horz" wrap="square" lIns="91440" tIns="45720" rIns="91440" bIns="45720" anchor="t" anchorCtr="0"/>
          <a:p>
            <a:pPr eaLnBrk="1" hangingPunct="1"/>
            <a:r>
              <a:rPr lang="zh-CN" altLang="en-US" sz="2800" dirty="0"/>
              <a:t>命题逻辑推理定律的代换实例</a:t>
            </a:r>
            <a:endParaRPr lang="zh-CN" altLang="en-US" sz="2800" dirty="0"/>
          </a:p>
          <a:p>
            <a:pPr eaLnBrk="1" hangingPunct="1"/>
            <a:r>
              <a:rPr lang="zh-CN" altLang="en-US" sz="2800" dirty="0"/>
              <a:t>基本等值式生成的推理定律</a:t>
            </a:r>
            <a:endParaRPr lang="zh-CN" altLang="en-US" sz="2800" dirty="0"/>
          </a:p>
          <a:p>
            <a:pPr eaLnBrk="1" hangingPunct="1"/>
            <a:r>
              <a:rPr lang="zh-CN" altLang="en-US" sz="2800" dirty="0">
                <a:sym typeface="Symbol" panose="05050102010706020507" pitchFamily="18" charset="2"/>
              </a:rPr>
              <a:t>其他的一阶逻辑</a:t>
            </a:r>
            <a:r>
              <a:rPr lang="zh-CN" altLang="en-US" sz="2800" dirty="0"/>
              <a:t>推理定律</a:t>
            </a:r>
            <a:endParaRPr lang="zh-CN" altLang="en-US" sz="2800" dirty="0">
              <a:sym typeface="Symbol" panose="05050102010706020507" pitchFamily="18" charset="2"/>
            </a:endParaRPr>
          </a:p>
          <a:p>
            <a:pPr eaLnBrk="1" hangingPunct="1">
              <a:buNone/>
            </a:pPr>
            <a:r>
              <a:rPr lang="zh-CN" altLang="en-US" sz="2800" dirty="0">
                <a:sym typeface="Symbol" panose="05050102010706020507" pitchFamily="18" charset="2"/>
              </a:rPr>
              <a:t>   </a:t>
            </a:r>
            <a:r>
              <a:rPr lang="en-US" altLang="zh-CN" sz="2800" dirty="0">
                <a:sym typeface="Symbol" panose="05050102010706020507" pitchFamily="18" charset="2"/>
              </a:rPr>
              <a:t>xA(x)</a:t>
            </a:r>
            <a:r>
              <a:rPr lang="zh-CN" altLang="en-US" sz="2800" dirty="0"/>
              <a:t>∨</a:t>
            </a:r>
            <a:r>
              <a:rPr lang="zh-CN" altLang="en-US" sz="2800" dirty="0">
                <a:sym typeface="Symbol" panose="05050102010706020507" pitchFamily="18" charset="2"/>
              </a:rPr>
              <a:t></a:t>
            </a:r>
            <a:r>
              <a:rPr lang="en-US" altLang="zh-CN" sz="2800" dirty="0">
                <a:sym typeface="Symbol" panose="05050102010706020507" pitchFamily="18" charset="2"/>
              </a:rPr>
              <a:t>xB(x)  </a:t>
            </a:r>
            <a:r>
              <a:rPr lang="zh-CN" altLang="en-US" sz="2800" dirty="0">
                <a:sym typeface="Symbol" panose="05050102010706020507" pitchFamily="18" charset="2"/>
              </a:rPr>
              <a:t></a:t>
            </a:r>
            <a:r>
              <a:rPr lang="en-US" altLang="zh-CN" sz="2800" dirty="0">
                <a:sym typeface="Symbol" panose="05050102010706020507" pitchFamily="18" charset="2"/>
              </a:rPr>
              <a:t>x(A(x)</a:t>
            </a:r>
            <a:r>
              <a:rPr lang="zh-CN" altLang="en-US" sz="2800" dirty="0"/>
              <a:t>∨</a:t>
            </a:r>
            <a:r>
              <a:rPr lang="en-US" altLang="zh-CN" sz="2800" dirty="0">
                <a:sym typeface="Symbol" panose="05050102010706020507" pitchFamily="18" charset="2"/>
              </a:rPr>
              <a:t>B(x)) </a:t>
            </a:r>
            <a:endParaRPr lang="en-US" altLang="zh-CN" sz="2800" dirty="0">
              <a:sym typeface="Symbol" panose="05050102010706020507" pitchFamily="18" charset="2"/>
            </a:endParaRPr>
          </a:p>
          <a:p>
            <a:pPr eaLnBrk="1" hangingPunct="1">
              <a:buFont typeface="Symbol" panose="05050102010706020507" pitchFamily="18" charset="2"/>
              <a:buNone/>
            </a:pPr>
            <a:r>
              <a:rPr lang="zh-CN" altLang="en-US" sz="2800" dirty="0">
                <a:sym typeface="Symbol" panose="05050102010706020507" pitchFamily="18" charset="2"/>
              </a:rPr>
              <a:t>   </a:t>
            </a:r>
            <a:r>
              <a:rPr lang="en-US" altLang="zh-CN" sz="2800" dirty="0">
                <a:sym typeface="Symbol" panose="05050102010706020507" pitchFamily="18" charset="2"/>
              </a:rPr>
              <a:t>x(A(x)</a:t>
            </a:r>
            <a:r>
              <a:rPr lang="zh-CN" altLang="en-US" sz="2800" dirty="0"/>
              <a:t>∧</a:t>
            </a:r>
            <a:r>
              <a:rPr lang="en-US" altLang="zh-CN" sz="2800" dirty="0">
                <a:sym typeface="Symbol" panose="05050102010706020507" pitchFamily="18" charset="2"/>
              </a:rPr>
              <a:t>B(x))   </a:t>
            </a:r>
            <a:r>
              <a:rPr lang="zh-CN" altLang="en-US" sz="2800" dirty="0">
                <a:sym typeface="Symbol" panose="05050102010706020507" pitchFamily="18" charset="2"/>
              </a:rPr>
              <a:t></a:t>
            </a:r>
            <a:r>
              <a:rPr lang="en-US" altLang="zh-CN" sz="2800" dirty="0">
                <a:sym typeface="Symbol" panose="05050102010706020507" pitchFamily="18" charset="2"/>
              </a:rPr>
              <a:t>xA(x)</a:t>
            </a:r>
            <a:r>
              <a:rPr lang="zh-CN" altLang="en-US" sz="2800" dirty="0"/>
              <a:t>∧</a:t>
            </a:r>
            <a:r>
              <a:rPr lang="zh-CN" altLang="en-US" sz="2800" dirty="0">
                <a:sym typeface="Symbol" panose="05050102010706020507" pitchFamily="18" charset="2"/>
              </a:rPr>
              <a:t></a:t>
            </a:r>
            <a:r>
              <a:rPr lang="en-US" altLang="zh-CN" sz="2800" dirty="0">
                <a:sym typeface="Symbol" panose="05050102010706020507" pitchFamily="18" charset="2"/>
              </a:rPr>
              <a:t>xB(x)</a:t>
            </a:r>
            <a:endParaRPr lang="en-US" altLang="zh-CN" sz="2800" dirty="0">
              <a:sym typeface="Symbol" panose="05050102010706020507" pitchFamily="18" charset="2"/>
            </a:endParaRPr>
          </a:p>
          <a:p>
            <a:pPr eaLnBrk="1" hangingPunct="1">
              <a:buNone/>
            </a:pPr>
            <a:r>
              <a:rPr lang="zh-CN" altLang="en-US" sz="2800" dirty="0">
                <a:sym typeface="Symbol" panose="05050102010706020507" pitchFamily="18" charset="2"/>
              </a:rPr>
              <a:t>   </a:t>
            </a:r>
            <a:r>
              <a:rPr lang="en-US" altLang="zh-CN" sz="2800" dirty="0">
                <a:sym typeface="Symbol" panose="05050102010706020507" pitchFamily="18" charset="2"/>
              </a:rPr>
              <a:t>x(A(x)</a:t>
            </a:r>
            <a:r>
              <a:rPr lang="zh-CN" altLang="en-US" sz="2800" dirty="0"/>
              <a:t>→</a:t>
            </a:r>
            <a:r>
              <a:rPr lang="en-US" altLang="zh-CN" sz="2800" dirty="0">
                <a:sym typeface="Symbol" panose="05050102010706020507" pitchFamily="18" charset="2"/>
              </a:rPr>
              <a:t>B(x))  </a:t>
            </a:r>
            <a:r>
              <a:rPr lang="zh-CN" altLang="en-US" sz="2800" dirty="0">
                <a:sym typeface="Symbol" panose="05050102010706020507" pitchFamily="18" charset="2"/>
              </a:rPr>
              <a:t></a:t>
            </a:r>
            <a:r>
              <a:rPr lang="en-US" altLang="zh-CN" sz="2800" dirty="0">
                <a:sym typeface="Symbol" panose="05050102010706020507" pitchFamily="18" charset="2"/>
              </a:rPr>
              <a:t>xA(x)</a:t>
            </a:r>
            <a:r>
              <a:rPr lang="zh-CN" altLang="en-US" sz="2800" dirty="0"/>
              <a:t>→</a:t>
            </a:r>
            <a:r>
              <a:rPr lang="zh-CN" altLang="en-US" sz="2800" dirty="0">
                <a:sym typeface="Symbol" panose="05050102010706020507" pitchFamily="18" charset="2"/>
              </a:rPr>
              <a:t></a:t>
            </a:r>
            <a:r>
              <a:rPr lang="en-US" altLang="zh-CN" sz="2800" dirty="0">
                <a:sym typeface="Symbol" panose="05050102010706020507" pitchFamily="18" charset="2"/>
              </a:rPr>
              <a:t>xB(x) </a:t>
            </a:r>
            <a:endParaRPr lang="en-US" altLang="zh-CN" sz="2800" dirty="0">
              <a:sym typeface="Symbol" panose="05050102010706020507" pitchFamily="18" charset="2"/>
            </a:endParaRPr>
          </a:p>
          <a:p>
            <a:pPr eaLnBrk="1" hangingPunct="1">
              <a:buFont typeface="Symbol" panose="05050102010706020507" pitchFamily="18" charset="2"/>
              <a:buNone/>
            </a:pPr>
            <a:r>
              <a:rPr lang="zh-CN" altLang="en-US" sz="2800" dirty="0">
                <a:sym typeface="Symbol" panose="05050102010706020507" pitchFamily="18" charset="2"/>
              </a:rPr>
              <a:t>   </a:t>
            </a:r>
            <a:r>
              <a:rPr lang="zh-CN" altLang="en-US" sz="2800" dirty="0">
                <a:sym typeface="Symbol" panose="05050102010706020507" pitchFamily="18" charset="2"/>
              </a:rPr>
              <a:t></a:t>
            </a:r>
            <a:r>
              <a:rPr lang="en-US" altLang="zh-CN" sz="2800" dirty="0">
                <a:sym typeface="Symbol" panose="05050102010706020507" pitchFamily="18" charset="2"/>
              </a:rPr>
              <a:t>x(A(x)</a:t>
            </a:r>
            <a:r>
              <a:rPr lang="zh-CN" altLang="en-US" sz="2800" dirty="0"/>
              <a:t>→</a:t>
            </a:r>
            <a:r>
              <a:rPr lang="en-US" altLang="zh-CN" sz="2800" dirty="0">
                <a:sym typeface="Symbol" panose="05050102010706020507" pitchFamily="18" charset="2"/>
              </a:rPr>
              <a:t>B(x))   </a:t>
            </a:r>
            <a:r>
              <a:rPr lang="zh-CN" altLang="en-US" sz="2800" dirty="0">
                <a:sym typeface="Symbol" panose="05050102010706020507" pitchFamily="18" charset="2"/>
              </a:rPr>
              <a:t></a:t>
            </a:r>
            <a:r>
              <a:rPr lang="en-US" altLang="zh-CN" sz="2800" dirty="0">
                <a:sym typeface="Symbol" panose="05050102010706020507" pitchFamily="18" charset="2"/>
              </a:rPr>
              <a:t>xA(x)</a:t>
            </a:r>
            <a:r>
              <a:rPr lang="zh-CN" altLang="en-US" sz="2800" dirty="0"/>
              <a:t>→</a:t>
            </a:r>
            <a:r>
              <a:rPr lang="zh-CN" altLang="en-US" sz="2800" dirty="0">
                <a:sym typeface="Symbol" panose="05050102010706020507" pitchFamily="18" charset="2"/>
              </a:rPr>
              <a:t></a:t>
            </a:r>
            <a:r>
              <a:rPr lang="en-US" altLang="zh-CN" sz="2800" dirty="0">
                <a:sym typeface="Symbol" panose="05050102010706020507" pitchFamily="18" charset="2"/>
              </a:rPr>
              <a:t>xB(x) </a:t>
            </a:r>
            <a:endParaRPr lang="en-US" altLang="zh-CN" sz="2800" dirty="0">
              <a:sym typeface="Symbol" panose="05050102010706020507" pitchFamily="18" charset="2"/>
            </a:endParaRPr>
          </a:p>
          <a:p>
            <a:pPr eaLnBrk="1" hangingPunct="1">
              <a:buFont typeface="Symbol" panose="05050102010706020507" pitchFamily="18" charset="2"/>
              <a:buNone/>
            </a:pPr>
            <a:r>
              <a:rPr lang="zh-CN" altLang="en-US" sz="2800" dirty="0">
                <a:sym typeface="MT Extra" panose="05050102010205020202" pitchFamily="18" charset="2"/>
              </a:rPr>
              <a:t>                            </a:t>
            </a:r>
            <a:r>
              <a:rPr lang="zh-CN" altLang="en-US" sz="2800" dirty="0">
                <a:sym typeface="Symbol" panose="05050102010706020507" pitchFamily="18" charset="2"/>
              </a:rPr>
              <a:t> </a:t>
            </a:r>
            <a:endParaRPr lang="zh-CN" altLang="en-US" sz="2800" dirty="0">
              <a:sym typeface="Symbol" panose="05050102010706020507" pitchFamily="18" charset="2"/>
            </a:endParaRPr>
          </a:p>
          <a:p>
            <a:pPr marL="342900" lvl="1" indent="-342900" algn="l" eaLnBrk="1" hangingPunct="1"/>
            <a:r>
              <a:rPr lang="zh-CN" altLang="en-US" dirty="0">
                <a:cs typeface="+mn-cs"/>
                <a:sym typeface="Symbol" panose="05050102010706020507" pitchFamily="18" charset="2"/>
              </a:rPr>
              <a:t>一阶逻辑量词相关的推理规则</a:t>
            </a:r>
            <a:endParaRPr lang="zh-CN" altLang="en-US" dirty="0">
              <a:cs typeface="+mn-cs"/>
              <a:sym typeface="Symbol" panose="05050102010706020507" pitchFamily="18" charset="2"/>
            </a:endParaRPr>
          </a:p>
          <a:p>
            <a:pPr eaLnBrk="1" hangingPunct="1">
              <a:buFont typeface="Symbol" panose="05050102010706020507" pitchFamily="18" charset="2"/>
              <a:buNone/>
            </a:pPr>
            <a:endParaRPr lang="zh-CN" altLang="en-US" sz="2800" dirty="0">
              <a:sym typeface="Symbol" panose="05050102010706020507"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969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2970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29701" name="Rectangle 2"/>
          <p:cNvSpPr>
            <a:spLocks noGrp="1"/>
          </p:cNvSpPr>
          <p:nvPr>
            <p:ph type="title"/>
          </p:nvPr>
        </p:nvSpPr>
        <p:spPr/>
        <p:txBody>
          <a:bodyPr vert="horz" wrap="square" lIns="91440" tIns="45720" rIns="91440" bIns="45720" anchor="b" anchorCtr="0"/>
          <a:p>
            <a:pPr eaLnBrk="1" hangingPunct="1"/>
            <a:r>
              <a:rPr lang="zh-CN" altLang="en-US" dirty="0"/>
              <a:t>一阶逻辑推理定律(举例)</a:t>
            </a:r>
            <a:endParaRPr lang="zh-CN" altLang="en-US" dirty="0"/>
          </a:p>
        </p:txBody>
      </p:sp>
      <p:sp>
        <p:nvSpPr>
          <p:cNvPr id="29702" name="Rectangle 3"/>
          <p:cNvSpPr>
            <a:spLocks noGrp="1"/>
          </p:cNvSpPr>
          <p:nvPr>
            <p:ph idx="1"/>
          </p:nvPr>
        </p:nvSpPr>
        <p:spPr>
          <a:xfrm>
            <a:off x="971550" y="1371600"/>
            <a:ext cx="7772400" cy="4114800"/>
          </a:xfrm>
        </p:spPr>
        <p:txBody>
          <a:bodyPr vert="horz" wrap="square" lIns="91440" tIns="45720" rIns="91440" bIns="45720" anchor="t" anchorCtr="0"/>
          <a:p>
            <a:pPr eaLnBrk="1" hangingPunct="1"/>
            <a:r>
              <a:rPr lang="zh-CN" altLang="en-US" dirty="0"/>
              <a:t>命题逻辑推理定律的代换实例</a:t>
            </a:r>
            <a:endParaRPr lang="zh-CN" altLang="en-US" dirty="0"/>
          </a:p>
          <a:p>
            <a:pPr eaLnBrk="1" hangingPunct="1">
              <a:buNone/>
            </a:pPr>
            <a:r>
              <a:rPr lang="zh-CN" altLang="en-US" dirty="0"/>
              <a:t>   例如: 假言推理规则: </a:t>
            </a:r>
            <a:endParaRPr lang="zh-CN" altLang="en-US" dirty="0"/>
          </a:p>
          <a:p>
            <a:pPr algn="ctr" eaLnBrk="1" hangingPunct="1">
              <a:buNone/>
            </a:pPr>
            <a:r>
              <a:rPr lang="en-US" altLang="zh-CN" sz="2800" dirty="0">
                <a:sym typeface="Symbol" panose="05050102010706020507" pitchFamily="18" charset="2"/>
              </a:rPr>
              <a:t>(</a:t>
            </a:r>
            <a:r>
              <a:rPr lang="en-US" altLang="zh-CN" sz="2800" dirty="0">
                <a:sym typeface="Wingdings" panose="05000000000000000000" pitchFamily="2" charset="2"/>
              </a:rPr>
              <a:t>A</a:t>
            </a:r>
            <a:r>
              <a:rPr lang="zh-CN" altLang="en-US" dirty="0"/>
              <a:t>→</a:t>
            </a:r>
            <a:r>
              <a:rPr lang="en-US" altLang="zh-CN" sz="2800" dirty="0">
                <a:sym typeface="Wingdings" panose="05000000000000000000" pitchFamily="2" charset="2"/>
              </a:rPr>
              <a:t>B )</a:t>
            </a:r>
            <a:r>
              <a:rPr lang="zh-CN" altLang="en-US" dirty="0"/>
              <a:t>∧</a:t>
            </a:r>
            <a:r>
              <a:rPr lang="en-US" altLang="zh-CN" sz="2800" dirty="0">
                <a:sym typeface="Wingdings" panose="05000000000000000000" pitchFamily="2" charset="2"/>
              </a:rPr>
              <a:t>A</a:t>
            </a:r>
            <a:r>
              <a:rPr lang="en-US" altLang="zh-CN" dirty="0">
                <a:sym typeface="Symbol" panose="05050102010706020507" pitchFamily="18" charset="2"/>
              </a:rPr>
              <a:t>B</a:t>
            </a:r>
            <a:endParaRPr lang="en-US" altLang="zh-CN" dirty="0">
              <a:sym typeface="Symbol" panose="05050102010706020507" pitchFamily="18" charset="2"/>
            </a:endParaRPr>
          </a:p>
          <a:p>
            <a:pPr eaLnBrk="1" hangingPunct="1">
              <a:buNone/>
            </a:pPr>
            <a:r>
              <a:rPr lang="en-US" altLang="zh-CN" i="1" dirty="0">
                <a:sym typeface="Symbol" panose="05050102010706020507" pitchFamily="18" charset="2"/>
              </a:rPr>
              <a:t>   </a:t>
            </a:r>
            <a:r>
              <a:rPr lang="zh-CN" altLang="en-US" dirty="0">
                <a:sym typeface="Symbol" panose="05050102010706020507" pitchFamily="18" charset="2"/>
              </a:rPr>
              <a:t>代入 </a:t>
            </a:r>
            <a:r>
              <a:rPr lang="en-US" altLang="zh-CN" dirty="0">
                <a:sym typeface="Symbol" panose="05050102010706020507" pitchFamily="18" charset="2"/>
              </a:rPr>
              <a:t>A=F(a),  B=G(a),  </a:t>
            </a:r>
            <a:r>
              <a:rPr lang="zh-CN" altLang="en-US" dirty="0">
                <a:sym typeface="Symbol" panose="05050102010706020507" pitchFamily="18" charset="2"/>
              </a:rPr>
              <a:t>得到</a:t>
            </a:r>
            <a:endParaRPr lang="zh-CN" altLang="en-US" dirty="0">
              <a:sym typeface="Symbol" panose="05050102010706020507" pitchFamily="18" charset="2"/>
            </a:endParaRPr>
          </a:p>
          <a:p>
            <a:pPr algn="ctr" eaLnBrk="1" hangingPunct="1">
              <a:buNone/>
            </a:pPr>
            <a:r>
              <a:rPr lang="en-US" altLang="zh-CN" sz="2800" dirty="0">
                <a:sym typeface="Symbol" panose="05050102010706020507" pitchFamily="18" charset="2"/>
              </a:rPr>
              <a:t>(F(a)</a:t>
            </a:r>
            <a:r>
              <a:rPr lang="zh-CN" altLang="en-US" dirty="0"/>
              <a:t>→</a:t>
            </a:r>
            <a:r>
              <a:rPr lang="en-US" altLang="zh-CN" dirty="0"/>
              <a:t>G(a))</a:t>
            </a:r>
            <a:r>
              <a:rPr lang="zh-CN" altLang="en-US" dirty="0"/>
              <a:t>∧</a:t>
            </a:r>
            <a:r>
              <a:rPr lang="en-US" altLang="zh-CN" dirty="0"/>
              <a:t>F(a)</a:t>
            </a:r>
            <a:r>
              <a:rPr lang="en-US" altLang="zh-CN" dirty="0">
                <a:sym typeface="Symbol" panose="05050102010706020507" pitchFamily="18" charset="2"/>
              </a:rPr>
              <a:t>G(a)</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072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072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0725" name="Rectangle 2"/>
          <p:cNvSpPr>
            <a:spLocks noGrp="1"/>
          </p:cNvSpPr>
          <p:nvPr>
            <p:ph type="title"/>
          </p:nvPr>
        </p:nvSpPr>
        <p:spPr/>
        <p:txBody>
          <a:bodyPr vert="horz" wrap="square" lIns="91440" tIns="45720" rIns="91440" bIns="45720" anchor="b" anchorCtr="0"/>
          <a:p>
            <a:pPr eaLnBrk="1" hangingPunct="1"/>
            <a:r>
              <a:rPr lang="zh-CN" altLang="en-US" dirty="0"/>
              <a:t>一阶逻辑推理定律(举例、续)</a:t>
            </a:r>
            <a:endParaRPr lang="zh-CN" altLang="en-US" dirty="0">
              <a:solidFill>
                <a:srgbClr val="FFFF00"/>
              </a:solidFill>
            </a:endParaRPr>
          </a:p>
        </p:txBody>
      </p:sp>
      <p:sp>
        <p:nvSpPr>
          <p:cNvPr id="30726" name="Rectangle 3"/>
          <p:cNvSpPr>
            <a:spLocks noGrp="1"/>
          </p:cNvSpPr>
          <p:nvPr>
            <p:ph idx="1"/>
          </p:nvPr>
        </p:nvSpPr>
        <p:spPr>
          <a:xfrm>
            <a:off x="971233" y="1412875"/>
            <a:ext cx="7772400" cy="4114800"/>
          </a:xfrm>
        </p:spPr>
        <p:txBody>
          <a:bodyPr vert="horz" wrap="square" lIns="91440" tIns="45720" rIns="91440" bIns="45720" anchor="t" anchorCtr="0"/>
          <a:p>
            <a:pPr eaLnBrk="1" hangingPunct="1"/>
            <a:r>
              <a:rPr lang="zh-CN" altLang="en-US" dirty="0"/>
              <a:t>基本等值式生成的推理定律</a:t>
            </a:r>
            <a:endParaRPr lang="zh-CN" altLang="en-US" dirty="0"/>
          </a:p>
          <a:p>
            <a:pPr eaLnBrk="1" hangingPunct="1">
              <a:buNone/>
            </a:pPr>
            <a:r>
              <a:rPr lang="en-US" altLang="zh-CN" dirty="0">
                <a:sym typeface="Symbol" panose="05050102010706020507" pitchFamily="18" charset="2"/>
              </a:rPr>
              <a:t>   </a:t>
            </a:r>
            <a:r>
              <a:rPr lang="zh-CN" altLang="en-US" dirty="0">
                <a:sym typeface="Symbol" panose="05050102010706020507" pitchFamily="18" charset="2"/>
              </a:rPr>
              <a:t>即由 </a:t>
            </a:r>
            <a:r>
              <a:rPr lang="en-US" altLang="zh-CN" dirty="0">
                <a:sym typeface="Symbol" panose="05050102010706020507" pitchFamily="18" charset="2"/>
              </a:rPr>
              <a:t>AB  </a:t>
            </a:r>
            <a:r>
              <a:rPr lang="zh-CN" altLang="en-US" dirty="0">
                <a:sym typeface="Symbol" panose="05050102010706020507" pitchFamily="18" charset="2"/>
              </a:rPr>
              <a:t>可得 </a:t>
            </a:r>
            <a:r>
              <a:rPr lang="en-US" altLang="zh-CN" dirty="0">
                <a:sym typeface="Symbol" panose="05050102010706020507" pitchFamily="18" charset="2"/>
              </a:rPr>
              <a:t>AB </a:t>
            </a:r>
            <a:r>
              <a:rPr lang="zh-CN" altLang="en-US" dirty="0">
                <a:sym typeface="Symbol" panose="05050102010706020507" pitchFamily="18" charset="2"/>
              </a:rPr>
              <a:t>和 </a:t>
            </a:r>
            <a:r>
              <a:rPr lang="en-US" altLang="zh-CN" dirty="0">
                <a:sym typeface="Symbol" panose="05050102010706020507" pitchFamily="18" charset="2"/>
              </a:rPr>
              <a:t>BA </a:t>
            </a:r>
            <a:endParaRPr lang="en-US" altLang="zh-CN" dirty="0">
              <a:sym typeface="Symbol" panose="05050102010706020507" pitchFamily="18" charset="2"/>
            </a:endParaRPr>
          </a:p>
          <a:p>
            <a:pPr eaLnBrk="1" hangingPunct="1">
              <a:buNone/>
            </a:pPr>
            <a:r>
              <a:rPr lang="en-US" altLang="zh-CN" dirty="0">
                <a:sym typeface="Symbol" panose="05050102010706020507" pitchFamily="18" charset="2"/>
              </a:rPr>
              <a:t>   </a:t>
            </a:r>
            <a:r>
              <a:rPr lang="zh-CN" altLang="en-US" dirty="0">
                <a:sym typeface="Symbol" panose="05050102010706020507" pitchFamily="18" charset="2"/>
              </a:rPr>
              <a:t>例如:   量词分配等值式: </a:t>
            </a:r>
            <a:endParaRPr lang="zh-CN" altLang="en-US" dirty="0">
              <a:sym typeface="Symbol" panose="05050102010706020507" pitchFamily="18" charset="2"/>
            </a:endParaRPr>
          </a:p>
          <a:p>
            <a:pPr eaLnBrk="1" hangingPunct="1">
              <a:buNone/>
            </a:pPr>
            <a:r>
              <a:rPr lang="zh-CN" altLang="en-US" dirty="0">
                <a:sym typeface="Symbol" panose="05050102010706020507" pitchFamily="18" charset="2"/>
              </a:rPr>
              <a:t>    </a:t>
            </a:r>
            <a:r>
              <a:rPr lang="en-US" altLang="zh-CN" dirty="0">
                <a:sym typeface="Symbol" panose="05050102010706020507" pitchFamily="18" charset="2"/>
              </a:rPr>
              <a:t>x(A(x)</a:t>
            </a:r>
            <a:r>
              <a:rPr lang="zh-CN" altLang="en-US" dirty="0"/>
              <a:t>∧</a:t>
            </a:r>
            <a:r>
              <a:rPr lang="en-US" altLang="zh-CN" dirty="0">
                <a:sym typeface="Symbol" panose="05050102010706020507" pitchFamily="18" charset="2"/>
              </a:rPr>
              <a:t>B(x))  </a:t>
            </a:r>
            <a:r>
              <a:rPr lang="zh-CN" altLang="en-US" dirty="0">
                <a:sym typeface="Symbol" panose="05050102010706020507" pitchFamily="18" charset="2"/>
              </a:rPr>
              <a:t></a:t>
            </a:r>
            <a:r>
              <a:rPr lang="en-US" altLang="zh-CN" dirty="0">
                <a:sym typeface="Symbol" panose="05050102010706020507" pitchFamily="18" charset="2"/>
              </a:rPr>
              <a:t>xA(x)</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xB(x)</a:t>
            </a:r>
            <a:endParaRPr lang="en-US" altLang="zh-CN" dirty="0">
              <a:sym typeface="Symbol" panose="05050102010706020507" pitchFamily="18" charset="2"/>
            </a:endParaRPr>
          </a:p>
          <a:p>
            <a:pPr eaLnBrk="1" hangingPunct="1">
              <a:buNone/>
            </a:pPr>
            <a:r>
              <a:rPr lang="zh-CN" altLang="en-US" dirty="0">
                <a:sym typeface="Symbol" panose="05050102010706020507" pitchFamily="18" charset="2"/>
              </a:rPr>
              <a:t>   可得</a:t>
            </a:r>
            <a:endParaRPr lang="zh-CN" altLang="en-US" dirty="0">
              <a:sym typeface="Symbol" panose="05050102010706020507" pitchFamily="18" charset="2"/>
            </a:endParaRPr>
          </a:p>
          <a:p>
            <a:pPr eaLnBrk="1" hangingPunct="1">
              <a:buNone/>
            </a:pPr>
            <a:r>
              <a:rPr lang="zh-CN" altLang="en-US" dirty="0">
                <a:sym typeface="Symbol" panose="05050102010706020507" pitchFamily="18" charset="2"/>
              </a:rPr>
              <a:t>    </a:t>
            </a:r>
            <a:r>
              <a:rPr lang="en-US" altLang="zh-CN" dirty="0">
                <a:sym typeface="Symbol" panose="05050102010706020507" pitchFamily="18" charset="2"/>
              </a:rPr>
              <a:t>x(A(x)</a:t>
            </a:r>
            <a:r>
              <a:rPr lang="zh-CN" altLang="en-US" dirty="0"/>
              <a:t>∧</a:t>
            </a:r>
            <a:r>
              <a:rPr lang="en-US" altLang="zh-CN" dirty="0">
                <a:sym typeface="Symbol" panose="05050102010706020507" pitchFamily="18" charset="2"/>
              </a:rPr>
              <a:t>B(x))   </a:t>
            </a:r>
            <a:r>
              <a:rPr lang="zh-CN" altLang="en-US" dirty="0">
                <a:sym typeface="Symbol" panose="05050102010706020507" pitchFamily="18" charset="2"/>
              </a:rPr>
              <a:t></a:t>
            </a:r>
            <a:r>
              <a:rPr lang="en-US" altLang="zh-CN" dirty="0">
                <a:sym typeface="Symbol" panose="05050102010706020507" pitchFamily="18" charset="2"/>
              </a:rPr>
              <a:t>xA(x)</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xB(x)</a:t>
            </a:r>
            <a:endParaRPr lang="en-US" altLang="zh-CN" dirty="0">
              <a:sym typeface="Symbol" panose="05050102010706020507" pitchFamily="18" charset="2"/>
            </a:endParaRPr>
          </a:p>
          <a:p>
            <a:pPr eaLnBrk="1" hangingPunct="1">
              <a:buNone/>
            </a:pPr>
            <a:r>
              <a:rPr lang="zh-CN" altLang="en-US" dirty="0">
                <a:sym typeface="Symbol" panose="05050102010706020507" pitchFamily="18" charset="2"/>
              </a:rPr>
              <a:t>    </a:t>
            </a:r>
            <a:r>
              <a:rPr lang="en-US" altLang="zh-CN" dirty="0">
                <a:sym typeface="Symbol" panose="05050102010706020507" pitchFamily="18" charset="2"/>
              </a:rPr>
              <a:t>xA(x)</a:t>
            </a:r>
            <a:r>
              <a:rPr lang="zh-CN" altLang="en-US" dirty="0"/>
              <a:t>∧</a:t>
            </a:r>
            <a:r>
              <a:rPr lang="zh-CN" altLang="en-US" dirty="0">
                <a:sym typeface="Symbol" panose="05050102010706020507" pitchFamily="18" charset="2"/>
              </a:rPr>
              <a:t></a:t>
            </a:r>
            <a:r>
              <a:rPr lang="en-US" altLang="zh-CN" dirty="0">
                <a:sym typeface="Symbol" panose="05050102010706020507" pitchFamily="18" charset="2"/>
              </a:rPr>
              <a:t>xB(x)  </a:t>
            </a:r>
            <a:r>
              <a:rPr lang="zh-CN" altLang="en-US" dirty="0">
                <a:sym typeface="Symbol" panose="05050102010706020507" pitchFamily="18" charset="2"/>
              </a:rPr>
              <a:t></a:t>
            </a:r>
            <a:r>
              <a:rPr lang="en-US" altLang="zh-CN" dirty="0">
                <a:sym typeface="Symbol" panose="05050102010706020507" pitchFamily="18" charset="2"/>
              </a:rPr>
              <a:t>x(A(x)</a:t>
            </a:r>
            <a:r>
              <a:rPr lang="zh-CN" altLang="en-US" dirty="0"/>
              <a:t>∧</a:t>
            </a:r>
            <a:r>
              <a:rPr lang="en-US" altLang="zh-CN" dirty="0">
                <a:sym typeface="Symbol" panose="05050102010706020507" pitchFamily="18" charset="2"/>
              </a:rPr>
              <a:t>B(x))</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174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174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1749" name="Rectangle 2"/>
          <p:cNvSpPr>
            <a:spLocks noGrp="1"/>
          </p:cNvSpPr>
          <p:nvPr>
            <p:ph type="title"/>
          </p:nvPr>
        </p:nvSpPr>
        <p:spPr/>
        <p:txBody>
          <a:bodyPr vert="horz" wrap="square" lIns="91440" tIns="45720" rIns="91440" bIns="45720" anchor="b" anchorCtr="0"/>
          <a:p>
            <a:pPr eaLnBrk="1" hangingPunct="1"/>
            <a:r>
              <a:rPr lang="zh-CN" altLang="en-US" dirty="0"/>
              <a:t>推理定律与推理规则</a:t>
            </a:r>
            <a:endParaRPr lang="zh-CN" altLang="en-US" dirty="0"/>
          </a:p>
        </p:txBody>
      </p:sp>
      <p:sp>
        <p:nvSpPr>
          <p:cNvPr id="31750" name="Rectangle 3"/>
          <p:cNvSpPr>
            <a:spLocks noGrp="1"/>
          </p:cNvSpPr>
          <p:nvPr>
            <p:ph idx="1"/>
          </p:nvPr>
        </p:nvSpPr>
        <p:spPr/>
        <p:txBody>
          <a:bodyPr vert="horz" wrap="square" lIns="91440" tIns="45720" rIns="91440" bIns="45720" anchor="t" anchorCtr="0"/>
          <a:p>
            <a:pPr eaLnBrk="1" hangingPunct="1"/>
            <a:r>
              <a:rPr lang="zh-CN" altLang="en-US" dirty="0"/>
              <a:t>推理定律</a:t>
            </a:r>
            <a:r>
              <a:rPr lang="en-US" altLang="zh-CN" sz="2800" dirty="0">
                <a:sym typeface="Wingdings" panose="05000000000000000000" pitchFamily="2" charset="2"/>
              </a:rPr>
              <a:t>A</a:t>
            </a:r>
            <a:r>
              <a:rPr lang="en-US" altLang="zh-CN" dirty="0">
                <a:sym typeface="Symbol" panose="05050102010706020507" pitchFamily="18" charset="2"/>
              </a:rPr>
              <a:t>B</a:t>
            </a:r>
            <a:r>
              <a:rPr lang="zh-CN" altLang="en-US" dirty="0">
                <a:sym typeface="Symbol" panose="05050102010706020507" pitchFamily="18" charset="2"/>
              </a:rPr>
              <a:t>表示</a:t>
            </a:r>
            <a:r>
              <a:rPr lang="en-US" altLang="zh-CN" sz="2800" dirty="0">
                <a:sym typeface="Wingdings" panose="05000000000000000000" pitchFamily="2" charset="2"/>
              </a:rPr>
              <a:t>A</a:t>
            </a:r>
            <a:r>
              <a:rPr lang="zh-CN" altLang="en-US" dirty="0"/>
              <a:t>→</a:t>
            </a:r>
            <a:r>
              <a:rPr lang="en-US" altLang="zh-CN" sz="2800" dirty="0">
                <a:sym typeface="Wingdings" panose="05000000000000000000" pitchFamily="2" charset="2"/>
              </a:rPr>
              <a:t>B</a:t>
            </a:r>
            <a:r>
              <a:rPr lang="zh-CN" altLang="en-US" sz="2800" dirty="0">
                <a:sym typeface="Wingdings" panose="05000000000000000000" pitchFamily="2" charset="2"/>
              </a:rPr>
              <a:t>是永真式</a:t>
            </a:r>
            <a:endParaRPr lang="zh-CN" altLang="en-US" dirty="0">
              <a:sym typeface="Symbol" panose="05050102010706020507" pitchFamily="18" charset="2"/>
            </a:endParaRPr>
          </a:p>
          <a:p>
            <a:pPr eaLnBrk="1" hangingPunct="1"/>
            <a:r>
              <a:rPr lang="zh-CN" altLang="en-US" dirty="0"/>
              <a:t>推理规则是在证明过程中使用的规则</a:t>
            </a:r>
            <a:endParaRPr lang="zh-CN" altLang="en-US" dirty="0"/>
          </a:p>
          <a:p>
            <a:pPr eaLnBrk="1" hangingPunct="1"/>
            <a:r>
              <a:rPr lang="zh-CN" altLang="en-US" dirty="0"/>
              <a:t>每一条推理定律都可以作为推理规则</a:t>
            </a:r>
            <a:endParaRPr lang="zh-CN" altLang="en-US" dirty="0"/>
          </a:p>
          <a:p>
            <a:pPr eaLnBrk="1" hangingPunct="1"/>
            <a:r>
              <a:rPr lang="zh-CN" altLang="en-US" dirty="0"/>
              <a:t>有些推理规则不是推理定律</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277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277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2773" name="Rectangle 2"/>
          <p:cNvSpPr>
            <a:spLocks noGrp="1"/>
          </p:cNvSpPr>
          <p:nvPr>
            <p:ph type="title"/>
          </p:nvPr>
        </p:nvSpPr>
        <p:spPr/>
        <p:txBody>
          <a:bodyPr vert="horz" wrap="square" lIns="91440" tIns="45720" rIns="91440" bIns="45720" anchor="b" anchorCtr="0"/>
          <a:p>
            <a:pPr eaLnBrk="1" hangingPunct="1"/>
            <a:r>
              <a:rPr lang="zh-CN" altLang="en-US" dirty="0"/>
              <a:t>一阶逻辑的常用推理规则</a:t>
            </a:r>
            <a:endParaRPr lang="zh-CN" altLang="en-US" dirty="0"/>
          </a:p>
        </p:txBody>
      </p:sp>
      <p:sp>
        <p:nvSpPr>
          <p:cNvPr id="32774" name="Rectangle 3"/>
          <p:cNvSpPr>
            <a:spLocks noGrp="1"/>
          </p:cNvSpPr>
          <p:nvPr>
            <p:ph idx="1"/>
          </p:nvPr>
        </p:nvSpPr>
        <p:spPr>
          <a:xfrm>
            <a:off x="899478" y="1340485"/>
            <a:ext cx="7772400" cy="4114800"/>
          </a:xfrm>
        </p:spPr>
        <p:txBody>
          <a:bodyPr vert="horz" wrap="square" lIns="91440" tIns="45720" rIns="91440" bIns="45720" anchor="t" anchorCtr="0"/>
          <a:p>
            <a:pPr eaLnBrk="1" hangingPunct="1"/>
            <a:r>
              <a:rPr lang="zh-CN" altLang="en-US" dirty="0"/>
              <a:t>前提引入、结论引入、置换规则</a:t>
            </a:r>
            <a:endParaRPr lang="zh-CN" altLang="en-US" dirty="0"/>
          </a:p>
          <a:p>
            <a:pPr eaLnBrk="1" hangingPunct="1"/>
            <a:r>
              <a:rPr lang="zh-CN" altLang="en-US" dirty="0"/>
              <a:t>假言推理、析取引入、合取消去、拒取式、合取引入、假言三段论、析取三段论、消解</a:t>
            </a:r>
            <a:r>
              <a:rPr lang="zh-CN" altLang="en-US" dirty="0"/>
              <a:t>规则、构造性两难</a:t>
            </a:r>
            <a:endParaRPr lang="zh-CN" altLang="en-US" dirty="0"/>
          </a:p>
          <a:p>
            <a:pPr eaLnBrk="1" hangingPunct="1"/>
            <a:r>
              <a:rPr lang="zh-CN" altLang="en-US" dirty="0">
                <a:sym typeface="Symbol" panose="05050102010706020507" pitchFamily="18" charset="2"/>
              </a:rPr>
              <a:t>一阶逻辑量词相关的推理规则</a:t>
            </a:r>
            <a:endParaRPr lang="zh-CN" altLang="en-US" sz="3200" dirty="0">
              <a:cs typeface="+mn-cs"/>
              <a:sym typeface="Symbol" panose="05050102010706020507" pitchFamily="18" charset="2"/>
            </a:endParaRPr>
          </a:p>
          <a:p>
            <a:pPr lvl="1" eaLnBrk="1" hangingPunct="1"/>
            <a:r>
              <a:rPr lang="en-US" altLang="zh-CN" i="1" dirty="0">
                <a:solidFill>
                  <a:schemeClr val="hlink"/>
                </a:solidFill>
              </a:rPr>
              <a:t>UI、UG、EI、EG</a:t>
            </a:r>
            <a:endParaRPr lang="en-US" altLang="zh-CN" i="1" dirty="0">
              <a:solidFill>
                <a:schemeClr val="hlink"/>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379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379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3797" name="Rectangle 2"/>
          <p:cNvSpPr>
            <a:spLocks noGrp="1"/>
          </p:cNvSpPr>
          <p:nvPr>
            <p:ph type="title"/>
          </p:nvPr>
        </p:nvSpPr>
        <p:spPr>
          <a:xfrm>
            <a:off x="1012825" y="266700"/>
            <a:ext cx="8093710" cy="848360"/>
          </a:xfrm>
        </p:spPr>
        <p:txBody>
          <a:bodyPr vert="horz" wrap="square" lIns="91440" tIns="45720" rIns="91440" bIns="45720" anchor="b" anchorCtr="0"/>
          <a:p>
            <a:pPr eaLnBrk="1" hangingPunct="1"/>
            <a:r>
              <a:rPr lang="en-US" altLang="zh-CN" sz="3600" dirty="0"/>
              <a:t>UI</a:t>
            </a:r>
            <a:r>
              <a:rPr lang="zh-CN" altLang="en-US" sz="3600" dirty="0"/>
              <a:t>规则(</a:t>
            </a:r>
            <a:r>
              <a:rPr lang="en-US" altLang="zh-CN" sz="3600" dirty="0"/>
              <a:t>universal instantiation)</a:t>
            </a:r>
            <a:endParaRPr lang="en-US" altLang="zh-CN" sz="3600" dirty="0"/>
          </a:p>
        </p:txBody>
      </p:sp>
      <p:sp>
        <p:nvSpPr>
          <p:cNvPr id="33798" name="Rectangle 3"/>
          <p:cNvSpPr>
            <a:spLocks noGrp="1"/>
          </p:cNvSpPr>
          <p:nvPr>
            <p:ph idx="1"/>
          </p:nvPr>
        </p:nvSpPr>
        <p:spPr>
          <a:xfrm>
            <a:off x="1115695" y="1371600"/>
            <a:ext cx="7772400" cy="4114800"/>
          </a:xfrm>
        </p:spPr>
        <p:txBody>
          <a:bodyPr vert="horz" wrap="square" lIns="91440" tIns="45720" rIns="91440" bIns="45720" anchor="t" anchorCtr="0"/>
          <a:p>
            <a:pPr eaLnBrk="1" hangingPunct="1">
              <a:lnSpc>
                <a:spcPct val="90000"/>
              </a:lnSpc>
            </a:pPr>
            <a:r>
              <a:rPr lang="zh-CN" altLang="en-US" dirty="0"/>
              <a:t> 表示为   </a:t>
            </a:r>
            <a:r>
              <a:rPr lang="zh-CN" altLang="en-US" dirty="0">
                <a:sym typeface="Symbol" panose="05050102010706020507" pitchFamily="18" charset="2"/>
              </a:rPr>
              <a:t></a:t>
            </a:r>
            <a:r>
              <a:rPr lang="en-US" altLang="zh-CN" dirty="0">
                <a:sym typeface="Symbol" panose="05050102010706020507" pitchFamily="18" charset="2"/>
              </a:rPr>
              <a:t>xA(x)        </a:t>
            </a:r>
            <a:r>
              <a:rPr lang="zh-CN" altLang="en-US" dirty="0">
                <a:sym typeface="Symbol" panose="05050102010706020507" pitchFamily="18" charset="2"/>
              </a:rPr>
              <a:t></a:t>
            </a:r>
            <a:r>
              <a:rPr lang="en-US" altLang="zh-CN" dirty="0">
                <a:sym typeface="Symbol" panose="05050102010706020507" pitchFamily="18" charset="2"/>
              </a:rPr>
              <a:t>xA(x)</a:t>
            </a:r>
            <a:endParaRPr lang="en-US" altLang="zh-CN" dirty="0">
              <a:sym typeface="Symbol" panose="05050102010706020507" pitchFamily="18" charset="2"/>
            </a:endParaRPr>
          </a:p>
          <a:p>
            <a:pPr algn="ctr" eaLnBrk="1" hangingPunct="1">
              <a:lnSpc>
                <a:spcPct val="90000"/>
              </a:lnSpc>
              <a:buNone/>
            </a:pPr>
            <a:r>
              <a:rPr lang="en-US" altLang="zh-CN" sz="2800" i="1" dirty="0">
                <a:sym typeface="Wingdings" panose="05000000000000000000" pitchFamily="2" charset="2"/>
              </a:rPr>
              <a:t> </a:t>
            </a:r>
            <a:r>
              <a:rPr lang="en-US" altLang="zh-CN" sz="2800" dirty="0">
                <a:latin typeface="Arial" panose="020B0604020202090204" pitchFamily="34" charset="0"/>
                <a:sym typeface="Wingdings" panose="05000000000000000000" pitchFamily="2" charset="2"/>
              </a:rPr>
              <a:t>————</a:t>
            </a:r>
            <a:r>
              <a:rPr lang="en-US" altLang="zh-CN" sz="2800" dirty="0">
                <a:sym typeface="Wingdings" panose="05000000000000000000" pitchFamily="2" charset="2"/>
              </a:rPr>
              <a:t>  </a:t>
            </a:r>
            <a:r>
              <a:rPr lang="zh-CN" altLang="en-US" sz="2800" dirty="0">
                <a:sym typeface="Wingdings" panose="05000000000000000000" pitchFamily="2" charset="2"/>
              </a:rPr>
              <a:t>或   </a:t>
            </a:r>
            <a:r>
              <a:rPr lang="en-US" altLang="zh-CN" sz="2800" dirty="0">
                <a:latin typeface="Arial" panose="020B0604020202090204" pitchFamily="34" charset="0"/>
                <a:sym typeface="Wingdings" panose="05000000000000000000" pitchFamily="2" charset="2"/>
              </a:rPr>
              <a:t>————</a:t>
            </a:r>
            <a:endParaRPr lang="zh-CN" altLang="en-US" sz="2800" dirty="0">
              <a:sym typeface="Wingdings" panose="05000000000000000000" pitchFamily="2" charset="2"/>
            </a:endParaRPr>
          </a:p>
          <a:p>
            <a:pPr algn="ctr" eaLnBrk="1" hangingPunct="1">
              <a:lnSpc>
                <a:spcPct val="90000"/>
              </a:lnSpc>
              <a:buNone/>
            </a:pPr>
            <a:r>
              <a:rPr lang="en-US" altLang="zh-CN" sz="2800" dirty="0">
                <a:sym typeface="Symbol" panose="05050102010706020507" pitchFamily="18" charset="2"/>
              </a:rPr>
              <a:t></a:t>
            </a:r>
            <a:r>
              <a:rPr lang="en-US" altLang="zh-CN" i="1" dirty="0">
                <a:sym typeface="Symbol" panose="05050102010706020507" pitchFamily="18" charset="2"/>
              </a:rPr>
              <a:t> </a:t>
            </a:r>
            <a:r>
              <a:rPr lang="en-US" altLang="zh-CN" dirty="0">
                <a:sym typeface="Symbol" panose="05050102010706020507" pitchFamily="18" charset="2"/>
              </a:rPr>
              <a:t>A(y)           </a:t>
            </a:r>
            <a:r>
              <a:rPr lang="en-US" altLang="zh-CN" sz="2800" dirty="0">
                <a:sym typeface="Symbol" panose="05050102010706020507" pitchFamily="18" charset="2"/>
              </a:rPr>
              <a:t></a:t>
            </a:r>
            <a:r>
              <a:rPr lang="en-US" altLang="zh-CN" i="1" dirty="0">
                <a:sym typeface="Symbol" panose="05050102010706020507" pitchFamily="18" charset="2"/>
              </a:rPr>
              <a:t> </a:t>
            </a:r>
            <a:r>
              <a:rPr lang="en-US" altLang="zh-CN" dirty="0">
                <a:sym typeface="Symbol" panose="05050102010706020507" pitchFamily="18" charset="2"/>
              </a:rPr>
              <a:t>A(c)</a:t>
            </a:r>
            <a:endParaRPr lang="zh-CN" altLang="en-US" dirty="0"/>
          </a:p>
          <a:p>
            <a:pPr lvl="1" eaLnBrk="1" hangingPunct="1">
              <a:lnSpc>
                <a:spcPct val="90000"/>
              </a:lnSpc>
            </a:pPr>
            <a:r>
              <a:rPr lang="zh-CN" altLang="en-US" dirty="0"/>
              <a:t>注意1:  </a:t>
            </a:r>
            <a:r>
              <a:rPr lang="en-US" altLang="zh-CN" dirty="0">
                <a:sym typeface="Symbol" panose="05050102010706020507" pitchFamily="18" charset="2"/>
              </a:rPr>
              <a:t>y</a:t>
            </a:r>
            <a:r>
              <a:rPr lang="zh-CN" altLang="en-US" dirty="0">
                <a:sym typeface="Symbol" panose="05050102010706020507" pitchFamily="18" charset="2"/>
              </a:rPr>
              <a:t>是自由变项； </a:t>
            </a:r>
            <a:r>
              <a:rPr lang="en-US" altLang="zh-CN" dirty="0">
                <a:sym typeface="Symbol" panose="05050102010706020507" pitchFamily="18" charset="2"/>
              </a:rPr>
              <a:t>c</a:t>
            </a:r>
            <a:r>
              <a:rPr lang="zh-CN" altLang="en-US" dirty="0">
                <a:sym typeface="Symbol" panose="05050102010706020507" pitchFamily="18" charset="2"/>
              </a:rPr>
              <a:t>是个体常项</a:t>
            </a:r>
            <a:endParaRPr lang="zh-CN" altLang="en-US" dirty="0"/>
          </a:p>
          <a:p>
            <a:pPr lvl="1" eaLnBrk="1" hangingPunct="1">
              <a:lnSpc>
                <a:spcPct val="90000"/>
              </a:lnSpc>
            </a:pPr>
            <a:r>
              <a:rPr lang="zh-CN" altLang="en-US" dirty="0"/>
              <a:t>注意2:  被消去量词的辖域是整个公式</a:t>
            </a:r>
            <a:endParaRPr lang="zh-CN" altLang="en-US" dirty="0"/>
          </a:p>
          <a:p>
            <a:pPr eaLnBrk="1" hangingPunct="1">
              <a:lnSpc>
                <a:spcPct val="90000"/>
              </a:lnSpc>
            </a:pPr>
            <a:r>
              <a:rPr lang="zh-CN" altLang="en-US" dirty="0"/>
              <a:t>例如</a:t>
            </a:r>
            <a:endParaRPr lang="zh-CN" altLang="en-US" dirty="0"/>
          </a:p>
          <a:p>
            <a:pPr eaLnBrk="1" hangingPunct="1">
              <a:lnSpc>
                <a:spcPct val="90000"/>
              </a:lnSpc>
              <a:buNone/>
            </a:pPr>
            <a:r>
              <a:rPr lang="zh-CN" altLang="en-US" dirty="0">
                <a:sym typeface="Symbol" panose="05050102010706020507" pitchFamily="18" charset="2"/>
              </a:rPr>
              <a:t>    (1)  </a:t>
            </a:r>
            <a:r>
              <a:rPr lang="en-US" altLang="zh-CN" dirty="0">
                <a:sym typeface="Symbol" panose="05050102010706020507" pitchFamily="18" charset="2"/>
              </a:rPr>
              <a:t>x(F(x)</a:t>
            </a:r>
            <a:r>
              <a:rPr lang="zh-CN" altLang="en-US" dirty="0"/>
              <a:t>→</a:t>
            </a:r>
            <a:r>
              <a:rPr lang="en-US" altLang="zh-CN" dirty="0"/>
              <a:t>G(x))        </a:t>
            </a:r>
            <a:r>
              <a:rPr lang="zh-CN" altLang="en-US" dirty="0"/>
              <a:t>前提引入</a:t>
            </a:r>
            <a:endParaRPr lang="zh-CN" altLang="en-US" dirty="0"/>
          </a:p>
          <a:p>
            <a:pPr eaLnBrk="1" hangingPunct="1">
              <a:lnSpc>
                <a:spcPct val="90000"/>
              </a:lnSpc>
              <a:buNone/>
            </a:pPr>
            <a:r>
              <a:rPr lang="en-US" altLang="zh-CN" sz="2800" dirty="0">
                <a:sym typeface="Symbol" panose="05050102010706020507" pitchFamily="18" charset="2"/>
              </a:rPr>
              <a:t>     (2)  </a:t>
            </a:r>
            <a:r>
              <a:rPr lang="en-US" altLang="zh-CN" i="1" dirty="0">
                <a:sym typeface="Symbol" panose="05050102010706020507" pitchFamily="18" charset="2"/>
              </a:rPr>
              <a:t> </a:t>
            </a:r>
            <a:r>
              <a:rPr lang="en-US" altLang="zh-CN" dirty="0">
                <a:sym typeface="Symbol" panose="05050102010706020507" pitchFamily="18" charset="2"/>
              </a:rPr>
              <a:t>F(a)</a:t>
            </a:r>
            <a:r>
              <a:rPr lang="zh-CN" altLang="en-US" dirty="0"/>
              <a:t>→</a:t>
            </a:r>
            <a:r>
              <a:rPr lang="en-US" altLang="zh-CN" dirty="0"/>
              <a:t>G(a)               (1)UI</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481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482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4821" name="Rectangle 2"/>
          <p:cNvSpPr>
            <a:spLocks noGrp="1"/>
          </p:cNvSpPr>
          <p:nvPr>
            <p:ph type="title"/>
          </p:nvPr>
        </p:nvSpPr>
        <p:spPr/>
        <p:txBody>
          <a:bodyPr vert="horz" wrap="square" lIns="91440" tIns="45720" rIns="91440" bIns="45720" anchor="b" anchorCtr="0"/>
          <a:p>
            <a:pPr eaLnBrk="1" hangingPunct="1"/>
            <a:r>
              <a:rPr lang="en-US" altLang="zh-CN" sz="3600" dirty="0"/>
              <a:t>UG</a:t>
            </a:r>
            <a:r>
              <a:rPr lang="zh-CN" altLang="en-US" sz="3600" dirty="0"/>
              <a:t>规则(</a:t>
            </a:r>
            <a:r>
              <a:rPr lang="en-US" altLang="zh-CN" sz="3200" dirty="0"/>
              <a:t>universal generalization</a:t>
            </a:r>
            <a:r>
              <a:rPr lang="en-US" altLang="zh-CN" sz="3600" dirty="0"/>
              <a:t>)</a:t>
            </a:r>
            <a:endParaRPr lang="en-US" altLang="zh-CN" sz="3600" dirty="0"/>
          </a:p>
        </p:txBody>
      </p:sp>
      <p:sp>
        <p:nvSpPr>
          <p:cNvPr id="34822" name="Rectangle 3"/>
          <p:cNvSpPr>
            <a:spLocks noGrp="1"/>
          </p:cNvSpPr>
          <p:nvPr>
            <p:ph idx="1"/>
          </p:nvPr>
        </p:nvSpPr>
        <p:spPr>
          <a:xfrm>
            <a:off x="1043623" y="1412875"/>
            <a:ext cx="7772400" cy="4114800"/>
          </a:xfrm>
        </p:spPr>
        <p:txBody>
          <a:bodyPr vert="horz" wrap="square" lIns="91440" tIns="45720" rIns="91440" bIns="45720" anchor="t" anchorCtr="0"/>
          <a:p>
            <a:pPr eaLnBrk="1" hangingPunct="1">
              <a:lnSpc>
                <a:spcPct val="90000"/>
              </a:lnSpc>
            </a:pPr>
            <a:r>
              <a:rPr lang="zh-CN" altLang="en-US" dirty="0"/>
              <a:t> 表示为              </a:t>
            </a:r>
            <a:r>
              <a:rPr lang="en-US" altLang="zh-CN" dirty="0">
                <a:sym typeface="Symbol" panose="05050102010706020507" pitchFamily="18" charset="2"/>
              </a:rPr>
              <a:t> A(y)    </a:t>
            </a:r>
            <a:endParaRPr lang="en-US" altLang="zh-CN" dirty="0">
              <a:sym typeface="Symbol" panose="05050102010706020507" pitchFamily="18" charset="2"/>
            </a:endParaRPr>
          </a:p>
          <a:p>
            <a:pPr algn="ctr" eaLnBrk="1" hangingPunct="1">
              <a:lnSpc>
                <a:spcPct val="90000"/>
              </a:lnSpc>
              <a:buNone/>
            </a:pPr>
            <a:r>
              <a:rPr lang="en-US" altLang="zh-CN" sz="2800" i="1" dirty="0">
                <a:sym typeface="Wingdings" panose="05000000000000000000" pitchFamily="2" charset="2"/>
              </a:rPr>
              <a:t> </a:t>
            </a:r>
            <a:r>
              <a:rPr lang="en-US" altLang="zh-CN" sz="2800" dirty="0">
                <a:latin typeface="Arial" panose="020B0604020202090204" pitchFamily="34" charset="0"/>
                <a:sym typeface="Wingdings" panose="05000000000000000000" pitchFamily="2" charset="2"/>
              </a:rPr>
              <a:t>————</a:t>
            </a:r>
            <a:r>
              <a:rPr lang="en-US" altLang="zh-CN" sz="2800" dirty="0">
                <a:sym typeface="Wingdings" panose="05000000000000000000" pitchFamily="2" charset="2"/>
              </a:rPr>
              <a:t> </a:t>
            </a:r>
            <a:endParaRPr lang="en-US" altLang="zh-CN" sz="2800" dirty="0">
              <a:sym typeface="Wingdings" panose="05000000000000000000" pitchFamily="2" charset="2"/>
            </a:endParaRPr>
          </a:p>
          <a:p>
            <a:pPr algn="ctr" eaLnBrk="1" hangingPunct="1">
              <a:lnSpc>
                <a:spcPct val="90000"/>
              </a:lnSpc>
              <a:buNone/>
            </a:pPr>
            <a:r>
              <a:rPr lang="en-US" altLang="zh-CN" sz="2800" dirty="0">
                <a:sym typeface="Symbol" panose="05050102010706020507" pitchFamily="18" charset="2"/>
              </a:rPr>
              <a:t></a:t>
            </a:r>
            <a:r>
              <a:rPr lang="en-US" altLang="zh-CN" i="1" dirty="0">
                <a:sym typeface="Symbol" panose="05050102010706020507" pitchFamily="18" charset="2"/>
              </a:rPr>
              <a:t> </a:t>
            </a:r>
            <a:r>
              <a:rPr lang="zh-CN" altLang="en-US" dirty="0">
                <a:sym typeface="Symbol" panose="05050102010706020507" pitchFamily="18" charset="2"/>
              </a:rPr>
              <a:t></a:t>
            </a:r>
            <a:r>
              <a:rPr lang="en-US" altLang="zh-CN" dirty="0">
                <a:sym typeface="Symbol" panose="05050102010706020507" pitchFamily="18" charset="2"/>
              </a:rPr>
              <a:t>xA(x)</a:t>
            </a:r>
            <a:endParaRPr lang="zh-CN" altLang="en-US" dirty="0"/>
          </a:p>
          <a:p>
            <a:pPr lvl="1" eaLnBrk="1" hangingPunct="1">
              <a:lnSpc>
                <a:spcPct val="90000"/>
              </a:lnSpc>
            </a:pPr>
            <a:r>
              <a:rPr lang="zh-CN" altLang="en-US" dirty="0"/>
              <a:t>注意1:  </a:t>
            </a:r>
            <a:r>
              <a:rPr lang="en-US" altLang="zh-CN" dirty="0"/>
              <a:t>y</a:t>
            </a:r>
            <a:r>
              <a:rPr lang="zh-CN" altLang="en-US" dirty="0"/>
              <a:t>是自由变项</a:t>
            </a:r>
            <a:endParaRPr lang="zh-CN" altLang="en-US" dirty="0"/>
          </a:p>
          <a:p>
            <a:pPr lvl="1" eaLnBrk="1" hangingPunct="1">
              <a:lnSpc>
                <a:spcPct val="90000"/>
              </a:lnSpc>
            </a:pPr>
            <a:r>
              <a:rPr lang="zh-CN" altLang="en-US" dirty="0"/>
              <a:t>注意2:  量词加在整个公式前面</a:t>
            </a:r>
            <a:endParaRPr lang="zh-CN" altLang="en-US" dirty="0"/>
          </a:p>
          <a:p>
            <a:pPr eaLnBrk="1" hangingPunct="1">
              <a:lnSpc>
                <a:spcPct val="90000"/>
              </a:lnSpc>
            </a:pPr>
            <a:r>
              <a:rPr lang="zh-CN" altLang="en-US" dirty="0"/>
              <a:t> 例如</a:t>
            </a:r>
            <a:br>
              <a:rPr lang="zh-CN" altLang="en-US" dirty="0"/>
            </a:br>
            <a:r>
              <a:rPr lang="zh-CN" altLang="en-US" dirty="0">
                <a:sym typeface="Symbol" panose="05050102010706020507" pitchFamily="18" charset="2"/>
              </a:rPr>
              <a:t>    (1)  </a:t>
            </a:r>
            <a:r>
              <a:rPr lang="en-US" altLang="zh-CN" dirty="0">
                <a:sym typeface="Symbol" panose="05050102010706020507" pitchFamily="18" charset="2"/>
              </a:rPr>
              <a:t>F(y)</a:t>
            </a:r>
            <a:r>
              <a:rPr lang="zh-CN" altLang="en-US" dirty="0"/>
              <a:t>→</a:t>
            </a:r>
            <a:r>
              <a:rPr lang="en-US" altLang="zh-CN" dirty="0"/>
              <a:t>G(y)            </a:t>
            </a:r>
            <a:r>
              <a:rPr lang="zh-CN" altLang="en-US" dirty="0"/>
              <a:t>前提引入</a:t>
            </a:r>
            <a:br>
              <a:rPr lang="zh-CN" altLang="en-US" dirty="0"/>
            </a:br>
            <a:r>
              <a:rPr lang="en-US" altLang="zh-CN" sz="2800" dirty="0">
                <a:sym typeface="Symbol" panose="05050102010706020507" pitchFamily="18" charset="2"/>
              </a:rPr>
              <a:t>     (2)  </a:t>
            </a:r>
            <a:r>
              <a:rPr lang="zh-CN" altLang="en-US" dirty="0">
                <a:sym typeface="Symbol" panose="05050102010706020507" pitchFamily="18" charset="2"/>
              </a:rPr>
              <a:t></a:t>
            </a:r>
            <a:r>
              <a:rPr lang="en-US" altLang="zh-CN" dirty="0">
                <a:sym typeface="Symbol" panose="05050102010706020507" pitchFamily="18" charset="2"/>
              </a:rPr>
              <a:t>x(F(x)</a:t>
            </a:r>
            <a:r>
              <a:rPr lang="zh-CN" altLang="en-US" dirty="0"/>
              <a:t>→</a:t>
            </a:r>
            <a:r>
              <a:rPr lang="en-US" altLang="zh-CN" dirty="0"/>
              <a:t>G(x))        (1)UG</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584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584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5845" name="Rectangle 2"/>
          <p:cNvSpPr>
            <a:spLocks noGrp="1"/>
          </p:cNvSpPr>
          <p:nvPr>
            <p:ph type="title"/>
          </p:nvPr>
        </p:nvSpPr>
        <p:spPr>
          <a:xfrm>
            <a:off x="1014095" y="266700"/>
            <a:ext cx="8192135" cy="848360"/>
          </a:xfrm>
        </p:spPr>
        <p:txBody>
          <a:bodyPr vert="horz" wrap="square" lIns="91440" tIns="45720" rIns="91440" bIns="45720" anchor="b" anchorCtr="0"/>
          <a:p>
            <a:pPr eaLnBrk="1" hangingPunct="1"/>
            <a:r>
              <a:rPr lang="en-US" altLang="zh-CN" sz="3600" dirty="0"/>
              <a:t>EI</a:t>
            </a:r>
            <a:r>
              <a:rPr lang="zh-CN" altLang="en-US" sz="3600" dirty="0"/>
              <a:t>规则(</a:t>
            </a:r>
            <a:r>
              <a:rPr lang="en-US" altLang="zh-CN" sz="3600" dirty="0"/>
              <a:t>existential instantiation)</a:t>
            </a:r>
            <a:endParaRPr lang="en-US" altLang="zh-CN" sz="3600" dirty="0"/>
          </a:p>
        </p:txBody>
      </p:sp>
      <p:sp>
        <p:nvSpPr>
          <p:cNvPr id="35846" name="Rectangle 3"/>
          <p:cNvSpPr>
            <a:spLocks noGrp="1"/>
          </p:cNvSpPr>
          <p:nvPr>
            <p:ph idx="1"/>
          </p:nvPr>
        </p:nvSpPr>
        <p:spPr>
          <a:xfrm>
            <a:off x="1043623" y="1484630"/>
            <a:ext cx="7772400" cy="4114800"/>
          </a:xfrm>
        </p:spPr>
        <p:txBody>
          <a:bodyPr vert="horz" wrap="square" lIns="91440" tIns="45720" rIns="91440" bIns="45720" anchor="t" anchorCtr="0"/>
          <a:p>
            <a:pPr eaLnBrk="1" hangingPunct="1"/>
            <a:r>
              <a:rPr lang="zh-CN" altLang="en-US" dirty="0"/>
              <a:t> </a:t>
            </a:r>
            <a:r>
              <a:rPr lang="zh-CN" altLang="en-US" sz="2800" dirty="0"/>
              <a:t>表示为                </a:t>
            </a:r>
            <a:r>
              <a:rPr lang="zh-CN" altLang="en-US" sz="2800" dirty="0">
                <a:sym typeface="Symbol" panose="05050102010706020507" pitchFamily="18" charset="2"/>
              </a:rPr>
              <a:t></a:t>
            </a:r>
            <a:r>
              <a:rPr lang="en-US" altLang="zh-CN" sz="2800" dirty="0">
                <a:sym typeface="Symbol" panose="05050102010706020507" pitchFamily="18" charset="2"/>
              </a:rPr>
              <a:t>xA(x)</a:t>
            </a:r>
            <a:endParaRPr lang="en-US" altLang="zh-CN" sz="2800" dirty="0">
              <a:sym typeface="Symbol" panose="05050102010706020507" pitchFamily="18" charset="2"/>
            </a:endParaRPr>
          </a:p>
          <a:p>
            <a:pPr algn="ctr" eaLnBrk="1" hangingPunct="1">
              <a:buNone/>
            </a:pPr>
            <a:r>
              <a:rPr lang="en-US" altLang="zh-CN" sz="2800" i="1" dirty="0">
                <a:sym typeface="Wingdings" panose="05000000000000000000" pitchFamily="2" charset="2"/>
              </a:rPr>
              <a:t> </a:t>
            </a:r>
            <a:r>
              <a:rPr lang="en-US" altLang="zh-CN" sz="2800" dirty="0">
                <a:latin typeface="Arial" panose="020B0604020202090204" pitchFamily="34" charset="0"/>
                <a:sym typeface="Wingdings" panose="05000000000000000000" pitchFamily="2" charset="2"/>
              </a:rPr>
              <a:t>————</a:t>
            </a:r>
            <a:endParaRPr lang="en-US" altLang="zh-CN" sz="2800" dirty="0">
              <a:sym typeface="Wingdings" panose="05000000000000000000" pitchFamily="2" charset="2"/>
            </a:endParaRPr>
          </a:p>
          <a:p>
            <a:pPr algn="ctr" eaLnBrk="1" hangingPunct="1">
              <a:buNone/>
            </a:pPr>
            <a:r>
              <a:rPr lang="en-US" altLang="zh-CN" sz="2800" dirty="0">
                <a:sym typeface="Symbol" panose="05050102010706020507" pitchFamily="18" charset="2"/>
              </a:rPr>
              <a:t></a:t>
            </a:r>
            <a:r>
              <a:rPr lang="en-US" altLang="zh-CN" sz="2800" i="1" dirty="0">
                <a:sym typeface="Symbol" panose="05050102010706020507" pitchFamily="18" charset="2"/>
              </a:rPr>
              <a:t> </a:t>
            </a:r>
            <a:r>
              <a:rPr lang="en-US" altLang="zh-CN" sz="2800" dirty="0">
                <a:sym typeface="Symbol" panose="05050102010706020507" pitchFamily="18" charset="2"/>
              </a:rPr>
              <a:t>A(c)</a:t>
            </a:r>
            <a:endParaRPr lang="zh-CN" altLang="en-US" sz="2800" dirty="0"/>
          </a:p>
          <a:p>
            <a:pPr lvl="1" eaLnBrk="1" hangingPunct="1"/>
            <a:r>
              <a:rPr lang="zh-CN" altLang="en-US" sz="2400" dirty="0"/>
              <a:t>注意1:  </a:t>
            </a:r>
            <a:r>
              <a:rPr lang="en-US" altLang="zh-CN" sz="2400" dirty="0"/>
              <a:t>c</a:t>
            </a:r>
            <a:r>
              <a:rPr lang="zh-CN" altLang="en-US" sz="2400" dirty="0"/>
              <a:t>是特定的满足</a:t>
            </a:r>
            <a:r>
              <a:rPr lang="en-US" altLang="zh-CN" sz="2400" dirty="0"/>
              <a:t>A</a:t>
            </a:r>
            <a:r>
              <a:rPr lang="zh-CN" altLang="en-US" sz="2400" dirty="0"/>
              <a:t>的个体常项</a:t>
            </a:r>
            <a:endParaRPr lang="zh-CN" altLang="en-US" sz="2400" dirty="0"/>
          </a:p>
          <a:p>
            <a:pPr lvl="1" eaLnBrk="1" hangingPunct="1"/>
            <a:r>
              <a:rPr lang="zh-CN" altLang="en-US" sz="2400" dirty="0"/>
              <a:t>注意2:  被消去量词的辖域是整个公式</a:t>
            </a:r>
            <a:endParaRPr lang="zh-CN" altLang="en-US" sz="2400" dirty="0"/>
          </a:p>
          <a:p>
            <a:pPr eaLnBrk="1" hangingPunct="1"/>
            <a:r>
              <a:rPr lang="zh-CN" altLang="en-US" sz="2800" dirty="0"/>
              <a:t> 例如</a:t>
            </a:r>
            <a:endParaRPr lang="zh-CN" altLang="en-US" sz="2800" dirty="0"/>
          </a:p>
          <a:p>
            <a:pPr eaLnBrk="1" hangingPunct="1">
              <a:buNone/>
            </a:pPr>
            <a:r>
              <a:rPr lang="zh-CN" altLang="en-US" sz="2800" dirty="0">
                <a:sym typeface="Symbol" panose="05050102010706020507" pitchFamily="18" charset="2"/>
              </a:rPr>
              <a:t>     (1)   </a:t>
            </a:r>
            <a:r>
              <a:rPr lang="en-US" altLang="zh-CN" sz="2800" dirty="0">
                <a:sym typeface="Symbol" panose="05050102010706020507" pitchFamily="18" charset="2"/>
              </a:rPr>
              <a:t>x(F(x)</a:t>
            </a:r>
            <a:r>
              <a:rPr lang="zh-CN" altLang="en-US" sz="2800" dirty="0"/>
              <a:t>∧</a:t>
            </a:r>
            <a:r>
              <a:rPr lang="en-US" altLang="zh-CN" sz="2800" dirty="0"/>
              <a:t>G(x))        </a:t>
            </a:r>
            <a:r>
              <a:rPr lang="zh-CN" altLang="en-US" sz="2800" dirty="0"/>
              <a:t>前提引入</a:t>
            </a:r>
            <a:endParaRPr lang="zh-CN" altLang="en-US" sz="2800" dirty="0"/>
          </a:p>
          <a:p>
            <a:pPr eaLnBrk="1" hangingPunct="1">
              <a:buNone/>
            </a:pPr>
            <a:r>
              <a:rPr lang="en-US" altLang="zh-CN" sz="2800" dirty="0">
                <a:sym typeface="Symbol" panose="05050102010706020507" pitchFamily="18" charset="2"/>
              </a:rPr>
              <a:t>     (2)  </a:t>
            </a:r>
            <a:r>
              <a:rPr lang="en-US" altLang="zh-CN" sz="2800" i="1" dirty="0">
                <a:sym typeface="Symbol" panose="05050102010706020507" pitchFamily="18" charset="2"/>
              </a:rPr>
              <a:t> </a:t>
            </a:r>
            <a:r>
              <a:rPr lang="en-US" altLang="zh-CN" sz="2800" dirty="0">
                <a:sym typeface="Symbol" panose="05050102010706020507" pitchFamily="18" charset="2"/>
              </a:rPr>
              <a:t>F(a)</a:t>
            </a:r>
            <a:r>
              <a:rPr lang="zh-CN" altLang="en-US" sz="2800" dirty="0"/>
              <a:t>∧</a:t>
            </a:r>
            <a:r>
              <a:rPr lang="en-US" altLang="zh-CN" sz="2800" dirty="0"/>
              <a:t>G(a)               (1)EI</a:t>
            </a:r>
            <a:endParaRPr lang="zh-C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686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686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6869" name="Rectangle 2"/>
          <p:cNvSpPr>
            <a:spLocks noGrp="1"/>
          </p:cNvSpPr>
          <p:nvPr>
            <p:ph type="title"/>
          </p:nvPr>
        </p:nvSpPr>
        <p:spPr/>
        <p:txBody>
          <a:bodyPr vert="horz" wrap="square" lIns="91440" tIns="45720" rIns="91440" bIns="45720" anchor="b" anchorCtr="0"/>
          <a:p>
            <a:pPr eaLnBrk="1" hangingPunct="1"/>
            <a:r>
              <a:rPr lang="en-US" altLang="zh-CN" sz="3600" dirty="0"/>
              <a:t>EG</a:t>
            </a:r>
            <a:r>
              <a:rPr lang="zh-CN" altLang="en-US" sz="3600" dirty="0"/>
              <a:t>规则(</a:t>
            </a:r>
            <a:r>
              <a:rPr lang="en-US" altLang="zh-CN" sz="2800" dirty="0"/>
              <a:t>existential generalization</a:t>
            </a:r>
            <a:r>
              <a:rPr lang="en-US" altLang="zh-CN" sz="3600" dirty="0"/>
              <a:t>)</a:t>
            </a:r>
            <a:endParaRPr lang="en-US" altLang="zh-CN" sz="3600" dirty="0"/>
          </a:p>
        </p:txBody>
      </p:sp>
      <p:sp>
        <p:nvSpPr>
          <p:cNvPr id="36870" name="Rectangle 3"/>
          <p:cNvSpPr>
            <a:spLocks noGrp="1"/>
          </p:cNvSpPr>
          <p:nvPr>
            <p:ph idx="1"/>
          </p:nvPr>
        </p:nvSpPr>
        <p:spPr>
          <a:xfrm>
            <a:off x="1047750" y="1525270"/>
            <a:ext cx="7840980" cy="4363085"/>
          </a:xfrm>
        </p:spPr>
        <p:txBody>
          <a:bodyPr vert="horz" wrap="square" lIns="91440" tIns="45720" rIns="91440" bIns="45720" anchor="t" anchorCtr="0"/>
          <a:p>
            <a:pPr eaLnBrk="1" hangingPunct="1">
              <a:lnSpc>
                <a:spcPct val="90000"/>
              </a:lnSpc>
            </a:pPr>
            <a:r>
              <a:rPr lang="zh-CN" altLang="en-US" dirty="0"/>
              <a:t> 表示为             </a:t>
            </a:r>
            <a:r>
              <a:rPr lang="en-US" altLang="zh-CN" dirty="0">
                <a:sym typeface="Symbol" panose="05050102010706020507" pitchFamily="18" charset="2"/>
              </a:rPr>
              <a:t> A(c)    </a:t>
            </a:r>
            <a:endParaRPr lang="en-US" altLang="zh-CN" dirty="0">
              <a:sym typeface="Symbol" panose="05050102010706020507" pitchFamily="18" charset="2"/>
            </a:endParaRPr>
          </a:p>
          <a:p>
            <a:pPr algn="ctr" eaLnBrk="1" hangingPunct="1">
              <a:lnSpc>
                <a:spcPct val="90000"/>
              </a:lnSpc>
              <a:buNone/>
            </a:pPr>
            <a:r>
              <a:rPr lang="en-US" altLang="zh-CN" sz="2800" i="1" dirty="0">
                <a:sym typeface="Wingdings" panose="05000000000000000000" pitchFamily="2" charset="2"/>
              </a:rPr>
              <a:t> </a:t>
            </a:r>
            <a:r>
              <a:rPr lang="en-US" altLang="zh-CN" sz="2800" dirty="0">
                <a:latin typeface="Arial" panose="020B0604020202090204" pitchFamily="34" charset="0"/>
                <a:sym typeface="Wingdings" panose="05000000000000000000" pitchFamily="2" charset="2"/>
              </a:rPr>
              <a:t>————</a:t>
            </a:r>
            <a:r>
              <a:rPr lang="en-US" altLang="zh-CN" sz="2800" dirty="0">
                <a:sym typeface="Wingdings" panose="05000000000000000000" pitchFamily="2" charset="2"/>
              </a:rPr>
              <a:t> </a:t>
            </a:r>
            <a:endParaRPr lang="en-US" altLang="zh-CN" sz="2800" dirty="0">
              <a:sym typeface="Wingdings" panose="05000000000000000000" pitchFamily="2" charset="2"/>
            </a:endParaRPr>
          </a:p>
          <a:p>
            <a:pPr algn="ctr" eaLnBrk="1" hangingPunct="1">
              <a:lnSpc>
                <a:spcPct val="90000"/>
              </a:lnSpc>
              <a:buNone/>
            </a:pPr>
            <a:r>
              <a:rPr lang="en-US" altLang="zh-CN" sz="2800" dirty="0">
                <a:sym typeface="Symbol" panose="05050102010706020507" pitchFamily="18" charset="2"/>
              </a:rPr>
              <a:t></a:t>
            </a:r>
            <a:r>
              <a:rPr lang="en-US" altLang="zh-CN" i="1" dirty="0">
                <a:sym typeface="Symbol" panose="05050102010706020507" pitchFamily="18" charset="2"/>
              </a:rPr>
              <a:t> </a:t>
            </a:r>
            <a:r>
              <a:rPr lang="zh-CN" altLang="en-US" dirty="0">
                <a:sym typeface="Symbol" panose="05050102010706020507" pitchFamily="18" charset="2"/>
              </a:rPr>
              <a:t></a:t>
            </a:r>
            <a:r>
              <a:rPr lang="en-US" altLang="zh-CN" dirty="0">
                <a:sym typeface="Symbol" panose="05050102010706020507" pitchFamily="18" charset="2"/>
              </a:rPr>
              <a:t>xA(x)</a:t>
            </a:r>
            <a:endParaRPr lang="zh-CN" altLang="en-US" dirty="0"/>
          </a:p>
          <a:p>
            <a:pPr lvl="1" eaLnBrk="1" hangingPunct="1">
              <a:lnSpc>
                <a:spcPct val="90000"/>
              </a:lnSpc>
            </a:pPr>
            <a:r>
              <a:rPr lang="zh-CN" altLang="en-US" dirty="0"/>
              <a:t>注意1:  </a:t>
            </a:r>
            <a:r>
              <a:rPr lang="en-US" altLang="zh-CN" dirty="0"/>
              <a:t>c</a:t>
            </a:r>
            <a:r>
              <a:rPr lang="zh-CN" altLang="en-US" dirty="0"/>
              <a:t>是个体常项</a:t>
            </a:r>
            <a:endParaRPr lang="zh-CN" altLang="en-US" dirty="0"/>
          </a:p>
          <a:p>
            <a:pPr lvl="1" eaLnBrk="1" hangingPunct="1">
              <a:lnSpc>
                <a:spcPct val="90000"/>
              </a:lnSpc>
            </a:pPr>
            <a:r>
              <a:rPr lang="zh-CN" altLang="en-US" dirty="0"/>
              <a:t>注意2:  量词加在整个公式前面</a:t>
            </a:r>
            <a:endParaRPr lang="zh-CN" altLang="en-US" dirty="0"/>
          </a:p>
          <a:p>
            <a:pPr eaLnBrk="1" hangingPunct="1">
              <a:lnSpc>
                <a:spcPct val="90000"/>
              </a:lnSpc>
            </a:pPr>
            <a:r>
              <a:rPr lang="zh-CN" altLang="en-US" dirty="0"/>
              <a:t> 例如</a:t>
            </a:r>
            <a:endParaRPr lang="zh-CN" altLang="en-US" dirty="0"/>
          </a:p>
          <a:p>
            <a:pPr eaLnBrk="1" hangingPunct="1">
              <a:lnSpc>
                <a:spcPct val="90000"/>
              </a:lnSpc>
              <a:buNone/>
            </a:pPr>
            <a:r>
              <a:rPr lang="zh-CN" altLang="en-US" dirty="0">
                <a:sym typeface="Symbol" panose="05050102010706020507" pitchFamily="18" charset="2"/>
              </a:rPr>
              <a:t>      (1)   </a:t>
            </a:r>
            <a:r>
              <a:rPr lang="en-US" altLang="zh-CN" dirty="0">
                <a:sym typeface="Symbol" panose="05050102010706020507" pitchFamily="18" charset="2"/>
              </a:rPr>
              <a:t>F(c)</a:t>
            </a:r>
            <a:r>
              <a:rPr lang="zh-CN" altLang="en-US" dirty="0"/>
              <a:t>∧</a:t>
            </a:r>
            <a:r>
              <a:rPr lang="en-US" altLang="zh-CN" dirty="0"/>
              <a:t>G(c)             </a:t>
            </a:r>
            <a:r>
              <a:rPr lang="zh-CN" altLang="en-US" dirty="0"/>
              <a:t>前提引入</a:t>
            </a:r>
            <a:endParaRPr lang="zh-CN" altLang="en-US" dirty="0"/>
          </a:p>
          <a:p>
            <a:pPr eaLnBrk="1" hangingPunct="1">
              <a:lnSpc>
                <a:spcPct val="90000"/>
              </a:lnSpc>
              <a:buNone/>
            </a:pPr>
            <a:r>
              <a:rPr lang="en-US" altLang="zh-CN" dirty="0">
                <a:sym typeface="Symbol" panose="05050102010706020507" pitchFamily="18" charset="2"/>
              </a:rPr>
              <a:t>      (2)</a:t>
            </a:r>
            <a:r>
              <a:rPr lang="en-US" altLang="zh-CN" sz="2800" dirty="0">
                <a:sym typeface="Symbol" panose="05050102010706020507" pitchFamily="18" charset="2"/>
              </a:rPr>
              <a:t>   </a:t>
            </a:r>
            <a:r>
              <a:rPr lang="zh-CN" altLang="en-US" dirty="0">
                <a:sym typeface="Symbol" panose="05050102010706020507" pitchFamily="18" charset="2"/>
              </a:rPr>
              <a:t></a:t>
            </a:r>
            <a:r>
              <a:rPr lang="en-US" altLang="zh-CN" dirty="0">
                <a:sym typeface="Symbol" panose="05050102010706020507" pitchFamily="18" charset="2"/>
              </a:rPr>
              <a:t>x(F(x)</a:t>
            </a:r>
            <a:r>
              <a:rPr lang="zh-CN" altLang="en-US" dirty="0"/>
              <a:t>∧</a:t>
            </a:r>
            <a:r>
              <a:rPr lang="en-US" altLang="zh-CN" dirty="0"/>
              <a:t>G(x))        (1)EG</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789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789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7893" name="Rectangle 2"/>
          <p:cNvSpPr>
            <a:spLocks noGrp="1"/>
          </p:cNvSpPr>
          <p:nvPr>
            <p:ph type="title"/>
          </p:nvPr>
        </p:nvSpPr>
        <p:spPr/>
        <p:txBody>
          <a:bodyPr vert="horz" wrap="square" lIns="91440" tIns="45720" rIns="91440" bIns="45720" anchor="b" anchorCtr="0"/>
          <a:p>
            <a:pPr eaLnBrk="1" hangingPunct="1"/>
            <a:r>
              <a:rPr lang="zh-CN" altLang="en-US" dirty="0"/>
              <a:t>构造推理的证明(举例</a:t>
            </a:r>
            <a:r>
              <a:rPr lang="en-US" altLang="zh-CN" dirty="0"/>
              <a:t>)</a:t>
            </a:r>
            <a:endParaRPr lang="en-US" altLang="zh-CN" dirty="0"/>
          </a:p>
        </p:txBody>
      </p:sp>
      <p:sp>
        <p:nvSpPr>
          <p:cNvPr id="37894" name="Rectangle 3"/>
          <p:cNvSpPr>
            <a:spLocks noGrp="1"/>
          </p:cNvSpPr>
          <p:nvPr>
            <p:ph idx="1"/>
          </p:nvPr>
        </p:nvSpPr>
        <p:spPr>
          <a:xfrm>
            <a:off x="1115695" y="1371600"/>
            <a:ext cx="7772400" cy="4114800"/>
          </a:xfrm>
        </p:spPr>
        <p:txBody>
          <a:bodyPr vert="horz" wrap="square" lIns="91440" tIns="45720" rIns="91440" bIns="45720" anchor="t" anchorCtr="0"/>
          <a:p>
            <a:pPr eaLnBrk="1" hangingPunct="1"/>
            <a:r>
              <a:rPr lang="zh-CN" altLang="en-US" dirty="0"/>
              <a:t>前提:  </a:t>
            </a:r>
            <a:r>
              <a:rPr lang="en-US" altLang="zh-CN" dirty="0">
                <a:sym typeface="Symbol" panose="05050102010706020507" pitchFamily="18" charset="2"/>
              </a:rPr>
              <a:t>x(F(x)G(x))</a:t>
            </a:r>
            <a:r>
              <a:rPr lang="en-US" altLang="zh-CN" dirty="0"/>
              <a:t>，F(a)</a:t>
            </a:r>
            <a:r>
              <a:rPr lang="zh-CN" altLang="en-US" dirty="0"/>
              <a:t>   </a:t>
            </a:r>
            <a:endParaRPr lang="zh-CN" altLang="en-US" dirty="0"/>
          </a:p>
          <a:p>
            <a:pPr eaLnBrk="1" hangingPunct="1">
              <a:buNone/>
            </a:pPr>
            <a:r>
              <a:rPr lang="zh-CN" altLang="en-US" dirty="0"/>
              <a:t>   结论:  </a:t>
            </a:r>
            <a:r>
              <a:rPr lang="en-US" altLang="zh-CN" dirty="0"/>
              <a:t>G(a)</a:t>
            </a:r>
            <a:endParaRPr lang="en-US" altLang="zh-CN" dirty="0"/>
          </a:p>
          <a:p>
            <a:pPr eaLnBrk="1" hangingPunct="1">
              <a:buNone/>
            </a:pPr>
            <a:r>
              <a:rPr lang="zh-CN" altLang="en-US" dirty="0"/>
              <a:t>   证明:  (1)  </a:t>
            </a:r>
            <a:r>
              <a:rPr lang="en-US" altLang="zh-CN" dirty="0"/>
              <a:t>F(a)                  </a:t>
            </a:r>
            <a:r>
              <a:rPr lang="zh-CN" altLang="en-US" dirty="0">
                <a:sym typeface="Symbol" panose="05050102010706020507" pitchFamily="18" charset="2"/>
              </a:rPr>
              <a:t>前提引入</a:t>
            </a:r>
            <a:endParaRPr lang="en-US" altLang="zh-CN" dirty="0"/>
          </a:p>
          <a:p>
            <a:pPr eaLnBrk="1" hangingPunct="1">
              <a:buNone/>
            </a:pPr>
            <a:r>
              <a:rPr lang="en-US" altLang="zh-CN" dirty="0"/>
              <a:t>             (2) </a:t>
            </a:r>
            <a:r>
              <a:rPr lang="en-US" altLang="zh-CN" dirty="0">
                <a:sym typeface="Symbol" panose="05050102010706020507" pitchFamily="18" charset="2"/>
              </a:rPr>
              <a:t>x(F(x)G(x))   </a:t>
            </a:r>
            <a:r>
              <a:rPr lang="zh-CN" altLang="en-US" dirty="0">
                <a:sym typeface="Symbol" panose="05050102010706020507" pitchFamily="18" charset="2"/>
              </a:rPr>
              <a:t>前提引入</a:t>
            </a:r>
            <a:endParaRPr lang="zh-CN" altLang="en-US" dirty="0">
              <a:sym typeface="Symbol" panose="05050102010706020507" pitchFamily="18" charset="2"/>
            </a:endParaRPr>
          </a:p>
          <a:p>
            <a:pPr eaLnBrk="1" hangingPunct="1">
              <a:buNone/>
            </a:pPr>
            <a:r>
              <a:rPr lang="zh-CN" altLang="en-US" dirty="0">
                <a:sym typeface="Symbol" panose="05050102010706020507" pitchFamily="18" charset="2"/>
              </a:rPr>
              <a:t>             (3) </a:t>
            </a:r>
            <a:r>
              <a:rPr lang="en-US" altLang="zh-CN" dirty="0">
                <a:sym typeface="Symbol" panose="05050102010706020507" pitchFamily="18" charset="2"/>
              </a:rPr>
              <a:t>F(a)G(a)         (2)UI</a:t>
            </a:r>
            <a:endParaRPr lang="en-US" altLang="zh-CN" dirty="0"/>
          </a:p>
          <a:p>
            <a:pPr eaLnBrk="1" hangingPunct="1">
              <a:buNone/>
            </a:pPr>
            <a:r>
              <a:rPr lang="zh-CN" altLang="en-US" dirty="0"/>
              <a:t>             (4) </a:t>
            </a:r>
            <a:r>
              <a:rPr lang="en-US" altLang="zh-CN" dirty="0"/>
              <a:t>G(a)              (1)(3)</a:t>
            </a:r>
            <a:r>
              <a:rPr lang="zh-CN" altLang="en-US" dirty="0"/>
              <a:t>假言推理 </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891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891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8917" name="Rectangle 2"/>
          <p:cNvSpPr>
            <a:spLocks noGrp="1"/>
          </p:cNvSpPr>
          <p:nvPr>
            <p:ph type="title"/>
          </p:nvPr>
        </p:nvSpPr>
        <p:spPr/>
        <p:txBody>
          <a:bodyPr vert="horz" wrap="square" lIns="91440" tIns="45720" rIns="91440" bIns="45720" anchor="b" anchorCtr="0"/>
          <a:p>
            <a:pPr eaLnBrk="1" hangingPunct="1"/>
            <a:r>
              <a:rPr lang="zh-CN" altLang="en-US" dirty="0"/>
              <a:t>构造推理的证明(举例、续</a:t>
            </a:r>
            <a:r>
              <a:rPr lang="en-US" altLang="zh-CN" dirty="0"/>
              <a:t>)</a:t>
            </a:r>
            <a:endParaRPr lang="en-US" altLang="zh-CN" dirty="0"/>
          </a:p>
        </p:txBody>
      </p:sp>
      <p:sp>
        <p:nvSpPr>
          <p:cNvPr id="38918" name="Rectangle 3"/>
          <p:cNvSpPr>
            <a:spLocks noGrp="1"/>
          </p:cNvSpPr>
          <p:nvPr>
            <p:ph idx="1"/>
          </p:nvPr>
        </p:nvSpPr>
        <p:spPr>
          <a:xfrm>
            <a:off x="971233" y="1484630"/>
            <a:ext cx="7772400" cy="4114800"/>
          </a:xfrm>
        </p:spPr>
        <p:txBody>
          <a:bodyPr vert="horz" wrap="square" lIns="91440" tIns="45720" rIns="91440" bIns="45720" anchor="t" anchorCtr="0"/>
          <a:p>
            <a:pPr eaLnBrk="1" hangingPunct="1"/>
            <a:r>
              <a:rPr lang="zh-CN" altLang="en-US" sz="2800" dirty="0"/>
              <a:t>前提:  </a:t>
            </a:r>
            <a:r>
              <a:rPr lang="en-US" altLang="zh-CN" sz="2800" dirty="0">
                <a:sym typeface="Symbol" panose="05050102010706020507" pitchFamily="18" charset="2"/>
              </a:rPr>
              <a:t>x(F(x)G(x))</a:t>
            </a:r>
            <a:r>
              <a:rPr lang="en-US" altLang="zh-CN" sz="2800" dirty="0"/>
              <a:t>，</a:t>
            </a:r>
            <a:r>
              <a:rPr lang="en-US" altLang="zh-CN" sz="2800" dirty="0">
                <a:sym typeface="Symbol" panose="05050102010706020507" pitchFamily="18" charset="2"/>
              </a:rPr>
              <a:t>xF</a:t>
            </a:r>
            <a:r>
              <a:rPr lang="en-US" altLang="zh-CN" sz="2800" dirty="0"/>
              <a:t>(x)</a:t>
            </a:r>
            <a:endParaRPr lang="zh-CN" altLang="en-US" sz="2800" dirty="0"/>
          </a:p>
          <a:p>
            <a:pPr eaLnBrk="1" hangingPunct="1">
              <a:buNone/>
            </a:pPr>
            <a:r>
              <a:rPr lang="zh-CN" altLang="en-US" sz="2800" dirty="0"/>
              <a:t>   结论:  </a:t>
            </a:r>
            <a:r>
              <a:rPr lang="en-US" altLang="zh-CN" sz="2800" dirty="0">
                <a:sym typeface="Symbol" panose="05050102010706020507" pitchFamily="18" charset="2"/>
              </a:rPr>
              <a:t>xG</a:t>
            </a:r>
            <a:r>
              <a:rPr lang="en-US" altLang="zh-CN" sz="2800" dirty="0"/>
              <a:t>(x)</a:t>
            </a:r>
            <a:endParaRPr lang="en-US" altLang="zh-CN" sz="2800" dirty="0"/>
          </a:p>
          <a:p>
            <a:pPr eaLnBrk="1" hangingPunct="1">
              <a:buNone/>
            </a:pPr>
            <a:r>
              <a:rPr lang="zh-CN" altLang="en-US" sz="2800" dirty="0"/>
              <a:t>   证明:  (1) </a:t>
            </a:r>
            <a:r>
              <a:rPr lang="en-US" altLang="zh-CN" sz="2800" dirty="0">
                <a:sym typeface="Symbol" panose="05050102010706020507" pitchFamily="18" charset="2"/>
              </a:rPr>
              <a:t>xF</a:t>
            </a:r>
            <a:r>
              <a:rPr lang="en-US" altLang="zh-CN" sz="2800" dirty="0"/>
              <a:t>(x)</a:t>
            </a:r>
            <a:r>
              <a:rPr lang="zh-CN" altLang="en-US" sz="2800" dirty="0"/>
              <a:t> </a:t>
            </a:r>
            <a:r>
              <a:rPr lang="en-US" altLang="zh-CN" sz="2800" dirty="0"/>
              <a:t>               </a:t>
            </a:r>
            <a:r>
              <a:rPr lang="zh-CN" altLang="en-US" sz="2800" dirty="0">
                <a:sym typeface="Symbol" panose="05050102010706020507" pitchFamily="18" charset="2"/>
              </a:rPr>
              <a:t>前提引入</a:t>
            </a:r>
            <a:endParaRPr lang="zh-CN" altLang="en-US" sz="2800" dirty="0">
              <a:sym typeface="Symbol" panose="05050102010706020507" pitchFamily="18" charset="2"/>
            </a:endParaRPr>
          </a:p>
          <a:p>
            <a:pPr eaLnBrk="1" hangingPunct="1">
              <a:buNone/>
            </a:pPr>
            <a:r>
              <a:rPr lang="en-US" altLang="zh-CN" sz="2800" dirty="0">
                <a:sym typeface="Symbol" panose="05050102010706020507" pitchFamily="18" charset="2"/>
              </a:rPr>
              <a:t>             (2)  F(c)                  (1) EI</a:t>
            </a:r>
            <a:endParaRPr lang="en-US" altLang="zh-CN" sz="2800" dirty="0"/>
          </a:p>
          <a:p>
            <a:pPr eaLnBrk="1" hangingPunct="1">
              <a:buNone/>
            </a:pPr>
            <a:r>
              <a:rPr lang="en-US" altLang="zh-CN" sz="2800" dirty="0"/>
              <a:t>             (3) </a:t>
            </a:r>
            <a:r>
              <a:rPr lang="en-US" altLang="zh-CN" sz="2800" dirty="0">
                <a:sym typeface="Symbol" panose="05050102010706020507" pitchFamily="18" charset="2"/>
              </a:rPr>
              <a:t>x(F(x)G(x))   </a:t>
            </a:r>
            <a:r>
              <a:rPr lang="zh-CN" altLang="en-US" sz="2800" dirty="0">
                <a:sym typeface="Symbol" panose="05050102010706020507" pitchFamily="18" charset="2"/>
              </a:rPr>
              <a:t>前提引入</a:t>
            </a:r>
            <a:endParaRPr lang="zh-CN" altLang="en-US" sz="2800" dirty="0">
              <a:sym typeface="Symbol" panose="05050102010706020507" pitchFamily="18" charset="2"/>
            </a:endParaRPr>
          </a:p>
          <a:p>
            <a:pPr eaLnBrk="1" hangingPunct="1">
              <a:buNone/>
            </a:pPr>
            <a:r>
              <a:rPr lang="zh-CN" altLang="en-US" sz="2800" dirty="0">
                <a:sym typeface="Symbol" panose="05050102010706020507" pitchFamily="18" charset="2"/>
              </a:rPr>
              <a:t>             (4) </a:t>
            </a:r>
            <a:r>
              <a:rPr lang="en-US" altLang="zh-CN" sz="2800" dirty="0">
                <a:sym typeface="Symbol" panose="05050102010706020507" pitchFamily="18" charset="2"/>
              </a:rPr>
              <a:t>F(c)G(c)         (3) UI</a:t>
            </a:r>
            <a:endParaRPr lang="en-US" altLang="zh-CN" sz="2800" dirty="0"/>
          </a:p>
          <a:p>
            <a:pPr eaLnBrk="1" hangingPunct="1">
              <a:buNone/>
            </a:pPr>
            <a:r>
              <a:rPr lang="zh-CN" altLang="en-US" sz="2800" dirty="0"/>
              <a:t>             (5) </a:t>
            </a:r>
            <a:r>
              <a:rPr lang="en-US" altLang="zh-CN" sz="2800" dirty="0"/>
              <a:t>G(c)                  (2)(4)</a:t>
            </a:r>
            <a:r>
              <a:rPr lang="zh-CN" altLang="en-US" sz="2800" dirty="0"/>
              <a:t>假言推理 </a:t>
            </a:r>
            <a:endParaRPr lang="zh-CN" altLang="en-US" sz="2800" dirty="0"/>
          </a:p>
          <a:p>
            <a:pPr eaLnBrk="1" hangingPunct="1">
              <a:buNone/>
            </a:pPr>
            <a:r>
              <a:rPr lang="zh-CN" altLang="en-US" sz="2800" dirty="0"/>
              <a:t>             (6) </a:t>
            </a:r>
            <a:r>
              <a:rPr lang="en-US" altLang="zh-CN" sz="2800" dirty="0">
                <a:sym typeface="Symbol" panose="05050102010706020507" pitchFamily="18" charset="2"/>
              </a:rPr>
              <a:t>xG</a:t>
            </a:r>
            <a:r>
              <a:rPr lang="en-US" altLang="zh-CN" sz="2800" dirty="0"/>
              <a:t>(x)               (5) EG</a:t>
            </a:r>
            <a:endParaRPr lang="zh-CN"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993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3994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39941" name="Rectangle 2"/>
          <p:cNvSpPr>
            <a:spLocks noGrp="1"/>
          </p:cNvSpPr>
          <p:nvPr>
            <p:ph type="title"/>
          </p:nvPr>
        </p:nvSpPr>
        <p:spPr/>
        <p:txBody>
          <a:bodyPr vert="horz" wrap="square" lIns="91440" tIns="45720" rIns="91440" bIns="45720" anchor="b" anchorCtr="0"/>
          <a:p>
            <a:pPr eaLnBrk="1" hangingPunct="1"/>
            <a:r>
              <a:rPr lang="zh-CN" altLang="en-US" dirty="0"/>
              <a:t>构造推理的证明(举例、续</a:t>
            </a:r>
            <a:r>
              <a:rPr lang="en-US" altLang="zh-CN" dirty="0"/>
              <a:t>)</a:t>
            </a:r>
            <a:endParaRPr lang="en-US" altLang="zh-CN" dirty="0"/>
          </a:p>
        </p:txBody>
      </p:sp>
      <p:sp>
        <p:nvSpPr>
          <p:cNvPr id="39942" name="Rectangle 3"/>
          <p:cNvSpPr>
            <a:spLocks noGrp="1"/>
          </p:cNvSpPr>
          <p:nvPr>
            <p:ph idx="1"/>
          </p:nvPr>
        </p:nvSpPr>
        <p:spPr>
          <a:xfrm>
            <a:off x="971550" y="1340485"/>
            <a:ext cx="7772400" cy="4114800"/>
          </a:xfrm>
        </p:spPr>
        <p:txBody>
          <a:bodyPr vert="horz" wrap="square" lIns="91440" tIns="45720" rIns="91440" bIns="45720" anchor="t" anchorCtr="0"/>
          <a:p>
            <a:pPr eaLnBrk="1" hangingPunct="1"/>
            <a:r>
              <a:rPr lang="zh-CN" altLang="en-US" sz="2800" dirty="0">
                <a:latin typeface="Arial" panose="020B0604020202090204" pitchFamily="34" charset="0"/>
              </a:rPr>
              <a:t>“</a:t>
            </a:r>
            <a:r>
              <a:rPr lang="zh-CN" altLang="en-US" sz="2800" dirty="0">
                <a:solidFill>
                  <a:srgbClr val="FF0000"/>
                </a:solidFill>
              </a:rPr>
              <a:t>先</a:t>
            </a:r>
            <a:r>
              <a:rPr lang="en-US" altLang="zh-CN" sz="2800" dirty="0">
                <a:solidFill>
                  <a:srgbClr val="FF0000"/>
                </a:solidFill>
              </a:rPr>
              <a:t>EI，</a:t>
            </a:r>
            <a:r>
              <a:rPr lang="zh-CN" altLang="en-US" sz="2800" dirty="0">
                <a:solidFill>
                  <a:srgbClr val="FF0000"/>
                </a:solidFill>
              </a:rPr>
              <a:t>后</a:t>
            </a:r>
            <a:r>
              <a:rPr lang="en-US" altLang="zh-CN" sz="2800" dirty="0">
                <a:solidFill>
                  <a:srgbClr val="FF0000"/>
                </a:solidFill>
              </a:rPr>
              <a:t>UI</a:t>
            </a:r>
            <a:r>
              <a:rPr lang="en-US" altLang="zh-CN" sz="2800" dirty="0">
                <a:latin typeface="Arial" panose="020B0604020202090204" pitchFamily="34" charset="0"/>
              </a:rPr>
              <a:t>”</a:t>
            </a:r>
            <a:endParaRPr lang="en-US" altLang="zh-CN" sz="2800" dirty="0"/>
          </a:p>
          <a:p>
            <a:pPr eaLnBrk="1" hangingPunct="1"/>
            <a:r>
              <a:rPr lang="zh-CN" altLang="en-US" sz="2800" dirty="0"/>
              <a:t>证明:  </a:t>
            </a:r>
            <a:r>
              <a:rPr lang="en-US" altLang="zh-CN" sz="2800" dirty="0"/>
              <a:t>(1) </a:t>
            </a:r>
            <a:r>
              <a:rPr lang="en-US" altLang="zh-CN" sz="2800" dirty="0">
                <a:sym typeface="Symbol" panose="05050102010706020507" pitchFamily="18" charset="2"/>
              </a:rPr>
              <a:t>x(F(x)G(x))   </a:t>
            </a:r>
            <a:r>
              <a:rPr lang="zh-CN" altLang="en-US" sz="2800" dirty="0">
                <a:sym typeface="Symbol" panose="05050102010706020507" pitchFamily="18" charset="2"/>
              </a:rPr>
              <a:t>前提引入</a:t>
            </a:r>
            <a:endParaRPr lang="zh-CN" altLang="en-US" sz="2800" dirty="0">
              <a:sym typeface="Symbol" panose="05050102010706020507" pitchFamily="18" charset="2"/>
            </a:endParaRPr>
          </a:p>
          <a:p>
            <a:pPr eaLnBrk="1" hangingPunct="1">
              <a:buNone/>
            </a:pPr>
            <a:r>
              <a:rPr lang="zh-CN" altLang="en-US" sz="2800" dirty="0">
                <a:sym typeface="Symbol" panose="05050102010706020507" pitchFamily="18" charset="2"/>
              </a:rPr>
              <a:t>             (2) </a:t>
            </a:r>
            <a:r>
              <a:rPr lang="en-US" altLang="zh-CN" sz="2800" dirty="0">
                <a:sym typeface="Symbol" panose="05050102010706020507" pitchFamily="18" charset="2"/>
              </a:rPr>
              <a:t>F(c)G(c)         (2) UI</a:t>
            </a:r>
            <a:endParaRPr lang="en-US" altLang="zh-CN" sz="2800" dirty="0">
              <a:sym typeface="Symbol" panose="05050102010706020507" pitchFamily="18" charset="2"/>
            </a:endParaRPr>
          </a:p>
          <a:p>
            <a:pPr eaLnBrk="1" hangingPunct="1">
              <a:buNone/>
            </a:pPr>
            <a:r>
              <a:rPr lang="zh-CN" altLang="en-US" sz="2800" dirty="0">
                <a:sym typeface="Symbol" panose="05050102010706020507" pitchFamily="18" charset="2"/>
              </a:rPr>
              <a:t>             </a:t>
            </a:r>
            <a:r>
              <a:rPr lang="zh-CN" altLang="en-US" sz="2800" dirty="0"/>
              <a:t>(3) </a:t>
            </a:r>
            <a:r>
              <a:rPr lang="en-US" altLang="zh-CN" sz="2800" dirty="0">
                <a:sym typeface="Symbol" panose="05050102010706020507" pitchFamily="18" charset="2"/>
              </a:rPr>
              <a:t>xF</a:t>
            </a:r>
            <a:r>
              <a:rPr lang="en-US" altLang="zh-CN" sz="2800" dirty="0"/>
              <a:t>(x)</a:t>
            </a:r>
            <a:r>
              <a:rPr lang="zh-CN" altLang="en-US" sz="2800" dirty="0"/>
              <a:t> </a:t>
            </a:r>
            <a:r>
              <a:rPr lang="en-US" altLang="zh-CN" sz="2800" dirty="0"/>
              <a:t>               </a:t>
            </a:r>
            <a:r>
              <a:rPr lang="zh-CN" altLang="en-US" sz="2800" dirty="0">
                <a:sym typeface="Symbol" panose="05050102010706020507" pitchFamily="18" charset="2"/>
              </a:rPr>
              <a:t>前提引入</a:t>
            </a:r>
            <a:endParaRPr lang="zh-CN" altLang="en-US" sz="2800" dirty="0">
              <a:sym typeface="Symbol" panose="05050102010706020507" pitchFamily="18" charset="2"/>
            </a:endParaRPr>
          </a:p>
          <a:p>
            <a:pPr eaLnBrk="1" hangingPunct="1">
              <a:buNone/>
            </a:pPr>
            <a:r>
              <a:rPr lang="en-US" altLang="zh-CN" sz="2800" dirty="0">
                <a:sym typeface="Symbol" panose="05050102010706020507" pitchFamily="18" charset="2"/>
              </a:rPr>
              <a:t>             (4)  F(c)                  (3) EI</a:t>
            </a:r>
            <a:endParaRPr lang="en-US" altLang="zh-CN" sz="2800" dirty="0"/>
          </a:p>
          <a:p>
            <a:pPr eaLnBrk="1" hangingPunct="1">
              <a:buNone/>
            </a:pPr>
            <a:r>
              <a:rPr lang="zh-CN" altLang="en-US" sz="2800" dirty="0">
                <a:sym typeface="MT Extra" panose="05050102010205020202" pitchFamily="18" charset="2"/>
              </a:rPr>
              <a:t>               </a:t>
            </a:r>
            <a:r>
              <a:rPr lang="zh-CN" altLang="en-US" sz="2800" dirty="0">
                <a:sym typeface="Symbol" panose="05050102010706020507" pitchFamily="18" charset="2"/>
              </a:rPr>
              <a:t> </a:t>
            </a:r>
            <a:r>
              <a:rPr lang="zh-CN" altLang="en-US" sz="2800" dirty="0">
                <a:sym typeface="MT Extra" panose="05050102010205020202" pitchFamily="18" charset="2"/>
              </a:rPr>
              <a:t>     </a:t>
            </a:r>
            <a:r>
              <a:rPr lang="zh-CN" altLang="en-US" sz="2800" dirty="0">
                <a:sym typeface="Symbol" panose="05050102010706020507" pitchFamily="18" charset="2"/>
              </a:rPr>
              <a:t>                      </a:t>
            </a:r>
            <a:r>
              <a:rPr lang="zh-CN" altLang="en-US" sz="2800" dirty="0">
                <a:sym typeface="MT Extra" panose="05050102010205020202" pitchFamily="18" charset="2"/>
              </a:rPr>
              <a:t> </a:t>
            </a:r>
            <a:r>
              <a:rPr lang="zh-CN" altLang="en-US" sz="2800" dirty="0">
                <a:sym typeface="Symbol" panose="05050102010706020507" pitchFamily="18" charset="2"/>
              </a:rPr>
              <a:t> </a:t>
            </a:r>
            <a:endParaRPr lang="zh-CN" altLang="en-US" sz="2800" dirty="0"/>
          </a:p>
          <a:p>
            <a:pPr eaLnBrk="1" hangingPunct="1"/>
            <a:r>
              <a:rPr lang="zh-CN" altLang="en-US" sz="2800" dirty="0"/>
              <a:t>说明：</a:t>
            </a:r>
            <a:r>
              <a:rPr lang="zh-CN" altLang="en-US" sz="2800" dirty="0">
                <a:solidFill>
                  <a:srgbClr val="FF0000"/>
                </a:solidFill>
              </a:rPr>
              <a:t>这个证明是错的</a:t>
            </a:r>
            <a:r>
              <a:rPr lang="zh-CN" altLang="en-US" sz="2800" dirty="0"/>
              <a:t>.  </a:t>
            </a:r>
            <a:r>
              <a:rPr lang="en-US" altLang="zh-CN" sz="2800" dirty="0"/>
              <a:t>(3)</a:t>
            </a:r>
            <a:r>
              <a:rPr lang="zh-CN" altLang="en-US" sz="2800" dirty="0">
                <a:sym typeface="Symbol" panose="05050102010706020507" pitchFamily="18" charset="2"/>
              </a:rPr>
              <a:t>(4)应当在</a:t>
            </a:r>
            <a:r>
              <a:rPr lang="en-US" altLang="zh-CN" sz="2800" dirty="0">
                <a:sym typeface="Symbol" panose="05050102010706020507" pitchFamily="18" charset="2"/>
              </a:rPr>
              <a:t>(1)</a:t>
            </a:r>
            <a:r>
              <a:rPr lang="zh-CN" altLang="en-US" sz="2800" dirty="0"/>
              <a:t>(2)前，(4)中的</a:t>
            </a:r>
            <a:r>
              <a:rPr lang="en-US" altLang="zh-CN" sz="2800" dirty="0">
                <a:sym typeface="Symbol" panose="05050102010706020507" pitchFamily="18" charset="2"/>
              </a:rPr>
              <a:t>c</a:t>
            </a:r>
            <a:r>
              <a:rPr lang="zh-CN" altLang="en-US" sz="2800" dirty="0">
                <a:sym typeface="Symbol" panose="05050102010706020507" pitchFamily="18" charset="2"/>
              </a:rPr>
              <a:t>是特定的， (2)中的</a:t>
            </a:r>
            <a:r>
              <a:rPr lang="en-US" altLang="zh-CN" sz="2800" dirty="0">
                <a:sym typeface="Symbol" panose="05050102010706020507" pitchFamily="18" charset="2"/>
              </a:rPr>
              <a:t>c</a:t>
            </a:r>
            <a:r>
              <a:rPr lang="zh-CN" altLang="en-US" sz="2800" dirty="0">
                <a:sym typeface="Symbol" panose="05050102010706020507" pitchFamily="18" charset="2"/>
              </a:rPr>
              <a:t>是任意的</a:t>
            </a:r>
            <a:endParaRPr lang="zh-CN"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096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096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40965" name="Rectangle 2"/>
          <p:cNvSpPr>
            <a:spLocks noGrp="1"/>
          </p:cNvSpPr>
          <p:nvPr>
            <p:ph type="title"/>
          </p:nvPr>
        </p:nvSpPr>
        <p:spPr/>
        <p:txBody>
          <a:bodyPr vert="horz" wrap="square" lIns="91440" tIns="45720" rIns="91440" bIns="45720" anchor="b" anchorCtr="0"/>
          <a:p>
            <a:pPr eaLnBrk="1" hangingPunct="1"/>
            <a:r>
              <a:rPr lang="zh-CN" altLang="en-US" dirty="0"/>
              <a:t>构造推理的证明(举例、续</a:t>
            </a:r>
            <a:r>
              <a:rPr lang="en-US" altLang="zh-CN" dirty="0"/>
              <a:t>)</a:t>
            </a:r>
            <a:endParaRPr lang="zh-CN" altLang="en-US" dirty="0"/>
          </a:p>
        </p:txBody>
      </p:sp>
      <p:sp>
        <p:nvSpPr>
          <p:cNvPr id="40966" name="Rectangle 3"/>
          <p:cNvSpPr>
            <a:spLocks noGrp="1"/>
          </p:cNvSpPr>
          <p:nvPr>
            <p:ph idx="1"/>
          </p:nvPr>
        </p:nvSpPr>
        <p:spPr>
          <a:xfrm>
            <a:off x="899795" y="1340485"/>
            <a:ext cx="7871460" cy="4617720"/>
          </a:xfrm>
        </p:spPr>
        <p:txBody>
          <a:bodyPr vert="horz" wrap="square" lIns="91440" tIns="45720" rIns="91440" bIns="45720" anchor="t" anchorCtr="0"/>
          <a:p>
            <a:pPr eaLnBrk="1" hangingPunct="1">
              <a:lnSpc>
                <a:spcPct val="90000"/>
              </a:lnSpc>
            </a:pPr>
            <a:r>
              <a:rPr lang="zh-CN" altLang="en-US" sz="2400" dirty="0"/>
              <a:t>前提: </a:t>
            </a:r>
            <a:r>
              <a:rPr lang="en-US" altLang="zh-CN" sz="2400" dirty="0">
                <a:latin typeface="Symbol" panose="05050102010706020507" pitchFamily="18" charset="2"/>
              </a:rPr>
              <a:t> </a:t>
            </a:r>
            <a:r>
              <a:rPr lang="en-US" altLang="zh-CN" sz="2400" dirty="0">
                <a:sym typeface="Symbol" panose="05050102010706020507" pitchFamily="18" charset="2"/>
              </a:rPr>
              <a:t>x(F(x)</a:t>
            </a:r>
            <a:r>
              <a:rPr lang="zh-CN" altLang="en-US" sz="2400" dirty="0"/>
              <a:t>∧</a:t>
            </a:r>
            <a:r>
              <a:rPr lang="en-US" altLang="zh-CN" sz="2400" dirty="0">
                <a:sym typeface="Symbol" panose="05050102010706020507" pitchFamily="18" charset="2"/>
              </a:rPr>
              <a:t>H(x)),</a:t>
            </a:r>
            <a:r>
              <a:rPr lang="zh-CN" altLang="en-US" sz="2400" dirty="0"/>
              <a:t>  </a:t>
            </a:r>
            <a:r>
              <a:rPr lang="en-US" altLang="zh-CN" sz="2400" dirty="0">
                <a:sym typeface="Symbol" panose="05050102010706020507" pitchFamily="18" charset="2"/>
              </a:rPr>
              <a:t>x(G(x)H(x)),</a:t>
            </a:r>
            <a:endParaRPr lang="zh-CN" altLang="en-US" sz="2400" dirty="0"/>
          </a:p>
          <a:p>
            <a:pPr eaLnBrk="1" hangingPunct="1">
              <a:lnSpc>
                <a:spcPct val="90000"/>
              </a:lnSpc>
              <a:buNone/>
            </a:pPr>
            <a:r>
              <a:rPr lang="zh-CN" altLang="en-US" sz="2400" dirty="0"/>
              <a:t>   结论: </a:t>
            </a:r>
            <a:r>
              <a:rPr lang="en-US" altLang="zh-CN" sz="2400" dirty="0">
                <a:sym typeface="Symbol" panose="05050102010706020507" pitchFamily="18" charset="2"/>
              </a:rPr>
              <a:t>x(G(x)</a:t>
            </a:r>
            <a:r>
              <a:rPr lang="en-US" altLang="zh-CN" sz="2400" dirty="0">
                <a:latin typeface="Symbol" panose="05050102010706020507" pitchFamily="18" charset="2"/>
              </a:rPr>
              <a:t>  </a:t>
            </a:r>
            <a:r>
              <a:rPr lang="en-US" altLang="zh-CN" sz="2400" dirty="0"/>
              <a:t>F</a:t>
            </a:r>
            <a:r>
              <a:rPr lang="en-US" altLang="zh-CN" sz="2400" dirty="0">
                <a:sym typeface="Symbol" panose="05050102010706020507" pitchFamily="18" charset="2"/>
              </a:rPr>
              <a:t>(x))</a:t>
            </a:r>
            <a:endParaRPr lang="en-US" altLang="zh-CN" sz="2400" dirty="0"/>
          </a:p>
          <a:p>
            <a:pPr eaLnBrk="1" hangingPunct="1">
              <a:lnSpc>
                <a:spcPct val="90000"/>
              </a:lnSpc>
              <a:buNone/>
            </a:pPr>
            <a:r>
              <a:rPr lang="zh-CN" altLang="en-US" sz="2400" dirty="0"/>
              <a:t>   证明:  (1) </a:t>
            </a:r>
            <a:r>
              <a:rPr lang="en-US" altLang="zh-CN" sz="2400" dirty="0">
                <a:latin typeface="Symbol" panose="05050102010706020507" pitchFamily="18" charset="2"/>
              </a:rPr>
              <a:t> </a:t>
            </a:r>
            <a:r>
              <a:rPr lang="en-US" altLang="zh-CN" sz="2400" dirty="0">
                <a:sym typeface="Symbol" panose="05050102010706020507" pitchFamily="18" charset="2"/>
              </a:rPr>
              <a:t>x(F(x)</a:t>
            </a:r>
            <a:r>
              <a:rPr lang="zh-CN" altLang="en-US" sz="2400" dirty="0"/>
              <a:t>∧</a:t>
            </a:r>
            <a:r>
              <a:rPr lang="en-US" altLang="zh-CN" sz="2400" dirty="0">
                <a:sym typeface="Symbol" panose="05050102010706020507" pitchFamily="18" charset="2"/>
              </a:rPr>
              <a:t>H(x))    </a:t>
            </a:r>
            <a:r>
              <a:rPr lang="en-US" altLang="zh-CN" sz="2400" dirty="0"/>
              <a:t> </a:t>
            </a:r>
            <a:r>
              <a:rPr lang="zh-CN" altLang="en-US" sz="2400" dirty="0">
                <a:sym typeface="Symbol" panose="05050102010706020507" pitchFamily="18" charset="2"/>
              </a:rPr>
              <a:t>前提引入</a:t>
            </a:r>
            <a:endParaRPr lang="zh-CN" altLang="en-US" sz="2400" dirty="0">
              <a:sym typeface="Symbol" panose="05050102010706020507" pitchFamily="18" charset="2"/>
            </a:endParaRPr>
          </a:p>
          <a:p>
            <a:pPr eaLnBrk="1" hangingPunct="1">
              <a:lnSpc>
                <a:spcPct val="90000"/>
              </a:lnSpc>
              <a:buNone/>
            </a:pPr>
            <a:r>
              <a:rPr lang="zh-CN" altLang="en-US" sz="2400" dirty="0">
                <a:sym typeface="Symbol" panose="05050102010706020507" pitchFamily="18" charset="2"/>
              </a:rPr>
              <a:t>             (2) </a:t>
            </a:r>
            <a:r>
              <a:rPr lang="en-US" altLang="zh-CN" sz="2400" dirty="0">
                <a:sym typeface="Symbol" panose="05050102010706020507" pitchFamily="18" charset="2"/>
              </a:rPr>
              <a:t>x(</a:t>
            </a:r>
            <a:r>
              <a:rPr lang="en-US" altLang="zh-CN" sz="2400" dirty="0">
                <a:latin typeface="Symbol" panose="05050102010706020507" pitchFamily="18" charset="2"/>
              </a:rPr>
              <a:t> </a:t>
            </a:r>
            <a:r>
              <a:rPr lang="en-US" altLang="zh-CN" sz="2400" dirty="0">
                <a:sym typeface="Symbol" panose="05050102010706020507" pitchFamily="18" charset="2"/>
              </a:rPr>
              <a:t>F(x)</a:t>
            </a:r>
            <a:r>
              <a:rPr lang="zh-CN" altLang="en-US" sz="2400" dirty="0"/>
              <a:t>∨</a:t>
            </a:r>
            <a:r>
              <a:rPr lang="en-US" altLang="zh-CN" sz="2400" dirty="0">
                <a:latin typeface="Symbol" panose="05050102010706020507" pitchFamily="18" charset="2"/>
              </a:rPr>
              <a:t>  </a:t>
            </a:r>
            <a:r>
              <a:rPr lang="en-US" altLang="zh-CN" sz="2400" dirty="0">
                <a:sym typeface="Symbol" panose="05050102010706020507" pitchFamily="18" charset="2"/>
              </a:rPr>
              <a:t>H(x))    (1)</a:t>
            </a:r>
            <a:r>
              <a:rPr lang="zh-CN" altLang="en-US" sz="2400" dirty="0">
                <a:sym typeface="Symbol" panose="05050102010706020507" pitchFamily="18" charset="2"/>
              </a:rPr>
              <a:t>置换</a:t>
            </a:r>
            <a:endParaRPr lang="zh-CN" altLang="en-US" sz="2400" dirty="0">
              <a:sym typeface="Symbol" panose="05050102010706020507" pitchFamily="18" charset="2"/>
            </a:endParaRPr>
          </a:p>
          <a:p>
            <a:pPr eaLnBrk="1" hangingPunct="1">
              <a:lnSpc>
                <a:spcPct val="90000"/>
              </a:lnSpc>
              <a:buNone/>
            </a:pPr>
            <a:r>
              <a:rPr lang="en-US" altLang="zh-CN" sz="2400" dirty="0">
                <a:sym typeface="Symbol" panose="05050102010706020507" pitchFamily="18" charset="2"/>
              </a:rPr>
              <a:t>             (3) x(H(x)</a:t>
            </a:r>
            <a:r>
              <a:rPr lang="en-US" altLang="zh-CN" sz="2400" dirty="0">
                <a:latin typeface="Symbol" panose="05050102010706020507" pitchFamily="18" charset="2"/>
              </a:rPr>
              <a:t>  </a:t>
            </a:r>
            <a:r>
              <a:rPr lang="en-US" altLang="zh-CN" sz="2400" dirty="0"/>
              <a:t>F</a:t>
            </a:r>
            <a:r>
              <a:rPr lang="en-US" altLang="zh-CN" sz="2400" dirty="0">
                <a:sym typeface="Symbol" panose="05050102010706020507" pitchFamily="18" charset="2"/>
              </a:rPr>
              <a:t>(x))      (2)</a:t>
            </a:r>
            <a:r>
              <a:rPr lang="zh-CN" altLang="en-US" sz="2400" dirty="0">
                <a:sym typeface="Symbol" panose="05050102010706020507" pitchFamily="18" charset="2"/>
              </a:rPr>
              <a:t>置换</a:t>
            </a:r>
            <a:endParaRPr lang="en-US" altLang="zh-CN" sz="2400" dirty="0"/>
          </a:p>
          <a:p>
            <a:pPr eaLnBrk="1" hangingPunct="1">
              <a:lnSpc>
                <a:spcPct val="90000"/>
              </a:lnSpc>
              <a:buNone/>
            </a:pPr>
            <a:r>
              <a:rPr lang="en-US" altLang="zh-CN" sz="2400" dirty="0"/>
              <a:t>             (4) H</a:t>
            </a:r>
            <a:r>
              <a:rPr lang="en-US" altLang="zh-CN" sz="2400" dirty="0">
                <a:sym typeface="Symbol" panose="05050102010706020507" pitchFamily="18" charset="2"/>
              </a:rPr>
              <a:t>(y)</a:t>
            </a:r>
            <a:r>
              <a:rPr lang="en-US" altLang="zh-CN" sz="2400" dirty="0">
                <a:latin typeface="Symbol" panose="05050102010706020507" pitchFamily="18" charset="2"/>
              </a:rPr>
              <a:t>  </a:t>
            </a:r>
            <a:r>
              <a:rPr lang="en-US" altLang="zh-CN" sz="2400" dirty="0"/>
              <a:t>F</a:t>
            </a:r>
            <a:r>
              <a:rPr lang="en-US" altLang="zh-CN" sz="2400" dirty="0">
                <a:sym typeface="Symbol" panose="05050102010706020507" pitchFamily="18" charset="2"/>
              </a:rPr>
              <a:t>(y)            (3) UI</a:t>
            </a:r>
            <a:endParaRPr lang="zh-CN" altLang="en-US" sz="2400" dirty="0">
              <a:sym typeface="Symbol" panose="05050102010706020507" pitchFamily="18" charset="2"/>
            </a:endParaRPr>
          </a:p>
          <a:p>
            <a:pPr eaLnBrk="1" hangingPunct="1">
              <a:lnSpc>
                <a:spcPct val="90000"/>
              </a:lnSpc>
              <a:buNone/>
            </a:pPr>
            <a:r>
              <a:rPr lang="zh-CN" altLang="en-US" sz="2400" dirty="0">
                <a:sym typeface="Symbol" panose="05050102010706020507" pitchFamily="18" charset="2"/>
              </a:rPr>
              <a:t>             (5) </a:t>
            </a:r>
            <a:r>
              <a:rPr lang="en-US" altLang="zh-CN" sz="2400" dirty="0">
                <a:sym typeface="Symbol" panose="05050102010706020507" pitchFamily="18" charset="2"/>
              </a:rPr>
              <a:t>x(G(x)H(x))        </a:t>
            </a:r>
            <a:r>
              <a:rPr lang="zh-CN" altLang="en-US" sz="2400" dirty="0">
                <a:sym typeface="Symbol" panose="05050102010706020507" pitchFamily="18" charset="2"/>
              </a:rPr>
              <a:t>前提引入</a:t>
            </a:r>
            <a:endParaRPr lang="en-US" altLang="zh-CN" sz="2400" dirty="0"/>
          </a:p>
          <a:p>
            <a:pPr eaLnBrk="1" hangingPunct="1">
              <a:lnSpc>
                <a:spcPct val="90000"/>
              </a:lnSpc>
              <a:buNone/>
            </a:pPr>
            <a:r>
              <a:rPr lang="zh-CN" altLang="en-US" sz="2400" dirty="0"/>
              <a:t>             (6) </a:t>
            </a:r>
            <a:r>
              <a:rPr lang="en-US" altLang="zh-CN" sz="2400" dirty="0">
                <a:sym typeface="Symbol" panose="05050102010706020507" pitchFamily="18" charset="2"/>
              </a:rPr>
              <a:t>G(y)H(y)</a:t>
            </a:r>
            <a:r>
              <a:rPr lang="zh-CN" altLang="en-US" sz="2400" dirty="0"/>
              <a:t> </a:t>
            </a:r>
            <a:r>
              <a:rPr lang="en-US" altLang="zh-CN" sz="2400" dirty="0"/>
              <a:t>             (5) UI</a:t>
            </a:r>
            <a:r>
              <a:rPr lang="zh-CN" altLang="en-US" sz="2400" dirty="0"/>
              <a:t> </a:t>
            </a:r>
            <a:endParaRPr lang="zh-CN" altLang="en-US" sz="2400" dirty="0"/>
          </a:p>
          <a:p>
            <a:pPr eaLnBrk="1" hangingPunct="1">
              <a:lnSpc>
                <a:spcPct val="90000"/>
              </a:lnSpc>
              <a:buNone/>
            </a:pPr>
            <a:r>
              <a:rPr lang="zh-CN" altLang="en-US" sz="2400" dirty="0"/>
              <a:t>             (7) </a:t>
            </a:r>
            <a:r>
              <a:rPr lang="en-US" altLang="zh-CN" sz="2400" dirty="0">
                <a:sym typeface="Symbol" panose="05050102010706020507" pitchFamily="18" charset="2"/>
              </a:rPr>
              <a:t>G(y)</a:t>
            </a:r>
            <a:r>
              <a:rPr lang="en-US" altLang="zh-CN" sz="2400" dirty="0">
                <a:latin typeface="Symbol" panose="05050102010706020507" pitchFamily="18" charset="2"/>
              </a:rPr>
              <a:t>  </a:t>
            </a:r>
            <a:r>
              <a:rPr lang="en-US" altLang="zh-CN" sz="2400" dirty="0"/>
              <a:t>F</a:t>
            </a:r>
            <a:r>
              <a:rPr lang="en-US" altLang="zh-CN" sz="2400" dirty="0">
                <a:sym typeface="Symbol" panose="05050102010706020507" pitchFamily="18" charset="2"/>
              </a:rPr>
              <a:t>(y)</a:t>
            </a:r>
            <a:r>
              <a:rPr lang="en-US" altLang="zh-CN" sz="2400" dirty="0"/>
              <a:t>            (4)(6)</a:t>
            </a:r>
            <a:r>
              <a:rPr lang="zh-CN" altLang="en-US" sz="2400" dirty="0"/>
              <a:t>假言三段论</a:t>
            </a:r>
            <a:endParaRPr lang="zh-CN" altLang="en-US" sz="2400" dirty="0"/>
          </a:p>
          <a:p>
            <a:pPr eaLnBrk="1" hangingPunct="1">
              <a:lnSpc>
                <a:spcPct val="90000"/>
              </a:lnSpc>
              <a:buNone/>
            </a:pPr>
            <a:r>
              <a:rPr lang="en-US" altLang="zh-CN" sz="2400" dirty="0"/>
              <a:t>             (8) </a:t>
            </a:r>
            <a:r>
              <a:rPr lang="en-US" altLang="zh-CN" sz="2400" dirty="0">
                <a:sym typeface="Symbol" panose="05050102010706020507" pitchFamily="18" charset="2"/>
              </a:rPr>
              <a:t>x(G(x)</a:t>
            </a:r>
            <a:r>
              <a:rPr lang="en-US" altLang="zh-CN" sz="2400" dirty="0">
                <a:latin typeface="Symbol" panose="05050102010706020507" pitchFamily="18" charset="2"/>
              </a:rPr>
              <a:t>  </a:t>
            </a:r>
            <a:r>
              <a:rPr lang="en-US" altLang="zh-CN" sz="2400" dirty="0"/>
              <a:t>F</a:t>
            </a:r>
            <a:r>
              <a:rPr lang="en-US" altLang="zh-CN" sz="2400" dirty="0">
                <a:sym typeface="Symbol" panose="05050102010706020507" pitchFamily="18" charset="2"/>
              </a:rPr>
              <a:t>(x))      (7) UG</a:t>
            </a:r>
            <a:endParaRPr lang="en-US" altLang="zh-CN"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198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198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41989"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41990" name="Rectangle 3"/>
          <p:cNvSpPr>
            <a:spLocks noGrp="1"/>
          </p:cNvSpPr>
          <p:nvPr>
            <p:ph idx="1"/>
          </p:nvPr>
        </p:nvSpPr>
        <p:spPr>
          <a:xfrm>
            <a:off x="971233" y="1268730"/>
            <a:ext cx="7772400" cy="4114800"/>
          </a:xfrm>
        </p:spPr>
        <p:txBody>
          <a:bodyPr vert="horz" wrap="square" lIns="91440" tIns="45720" rIns="91440" bIns="45720" anchor="t" anchorCtr="0"/>
          <a:p>
            <a:pPr eaLnBrk="1" hangingPunct="1"/>
            <a:r>
              <a:rPr lang="en-US" altLang="zh-CN" i="1" dirty="0">
                <a:latin typeface="Times New Roman" panose="02020503050405090304" pitchFamily="18" charset="0"/>
              </a:rPr>
              <a:t>Every man has two legs. John Smith is a man. Therefore, John Smith has two legs.</a:t>
            </a:r>
            <a:endParaRPr lang="en-US" altLang="zh-CN" i="1" dirty="0">
              <a:latin typeface="Times New Roman" panose="02020503050405090304" pitchFamily="18" charset="0"/>
            </a:endParaRPr>
          </a:p>
          <a:p>
            <a:pPr eaLnBrk="1" hangingPunct="1"/>
            <a:r>
              <a:rPr lang="en-US" altLang="zh-CN" dirty="0">
                <a:latin typeface="Times New Roman" panose="02020503050405090304" pitchFamily="18" charset="0"/>
              </a:rPr>
              <a:t>Define the predicates:</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M</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a:t>
            </a:r>
            <a:r>
              <a:rPr lang="en-US" altLang="zh-CN" i="1" dirty="0">
                <a:latin typeface="Times New Roman" panose="02020503050405090304" pitchFamily="18" charset="0"/>
              </a:rPr>
              <a:t>x</a:t>
            </a:r>
            <a:r>
              <a:rPr lang="en-US" altLang="zh-CN" dirty="0">
                <a:latin typeface="Times New Roman" panose="02020503050405090304" pitchFamily="18" charset="0"/>
              </a:rPr>
              <a:t> is a man</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L</a:t>
            </a:r>
            <a:r>
              <a:rPr lang="en-US" altLang="zh-CN" dirty="0">
                <a:latin typeface="Times New Roman" panose="02020503050405090304" pitchFamily="18" charset="0"/>
              </a:rPr>
              <a:t>(</a:t>
            </a:r>
            <a:r>
              <a:rPr lang="en-US" altLang="zh-CN" i="1" dirty="0">
                <a:latin typeface="Times New Roman" panose="02020503050405090304" pitchFamily="18" charset="0"/>
              </a:rPr>
              <a:t>x</a:t>
            </a:r>
            <a:r>
              <a:rPr lang="en-US" altLang="zh-CN" dirty="0">
                <a:latin typeface="Times New Roman" panose="02020503050405090304" pitchFamily="18" charset="0"/>
              </a:rPr>
              <a:t>): </a:t>
            </a:r>
            <a:r>
              <a:rPr lang="en-US" altLang="zh-CN" i="1" dirty="0">
                <a:latin typeface="Times New Roman" panose="02020503050405090304" pitchFamily="18" charset="0"/>
              </a:rPr>
              <a:t>x</a:t>
            </a:r>
            <a:r>
              <a:rPr lang="en-US" altLang="zh-CN" dirty="0">
                <a:latin typeface="Times New Roman" panose="02020503050405090304" pitchFamily="18" charset="0"/>
              </a:rPr>
              <a:t> has two legs</a:t>
            </a:r>
            <a:endParaRPr lang="en-US" altLang="zh-CN" dirty="0">
              <a:latin typeface="Times New Roman" panose="02020503050405090304" pitchFamily="18" charset="0"/>
            </a:endParaRPr>
          </a:p>
          <a:p>
            <a:pPr lvl="1" eaLnBrk="1" hangingPunct="1">
              <a:buNone/>
            </a:pPr>
            <a:r>
              <a:rPr lang="en-US" altLang="zh-CN" i="1" dirty="0">
                <a:latin typeface="Times New Roman" panose="02020503050405090304" pitchFamily="18" charset="0"/>
              </a:rPr>
              <a:t>J</a:t>
            </a:r>
            <a:r>
              <a:rPr lang="en-US" altLang="zh-CN" dirty="0">
                <a:latin typeface="Times New Roman" panose="02020503050405090304" pitchFamily="18" charset="0"/>
              </a:rPr>
              <a:t>: John Smith, a member of the universe</a:t>
            </a:r>
            <a:endParaRPr lang="en-US" altLang="zh-CN"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301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301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43013" name="Rectangle 2"/>
          <p:cNvSpPr>
            <a:spLocks noGrp="1"/>
          </p:cNvSpPr>
          <p:nvPr>
            <p:ph type="title"/>
          </p:nvPr>
        </p:nvSpPr>
        <p:spPr/>
        <p:txBody>
          <a:bodyPr vert="horz" wrap="square" lIns="91440" tIns="45720" rIns="91440" bIns="45720" anchor="b" anchorCtr="0"/>
          <a:p>
            <a:pPr eaLnBrk="1" hangingPunct="1"/>
            <a:r>
              <a:rPr lang="en-US" altLang="zh-CN" dirty="0">
                <a:latin typeface="Times New Roman" panose="02020503050405090304" pitchFamily="18" charset="0"/>
              </a:rPr>
              <a:t>Example</a:t>
            </a:r>
            <a:endParaRPr lang="en-US" altLang="zh-CN" dirty="0">
              <a:latin typeface="Times New Roman" panose="02020503050405090304" pitchFamily="18" charset="0"/>
            </a:endParaRPr>
          </a:p>
        </p:txBody>
      </p:sp>
      <p:sp>
        <p:nvSpPr>
          <p:cNvPr id="43014" name="Rectangle 3"/>
          <p:cNvSpPr>
            <a:spLocks noGrp="1"/>
          </p:cNvSpPr>
          <p:nvPr>
            <p:ph idx="1"/>
          </p:nvPr>
        </p:nvSpPr>
        <p:spPr>
          <a:xfrm>
            <a:off x="828040" y="1268730"/>
            <a:ext cx="7772400" cy="4114800"/>
          </a:xfrm>
        </p:spPr>
        <p:txBody>
          <a:bodyPr vert="horz" wrap="square" lIns="91440" tIns="45720" rIns="91440" bIns="45720" anchor="t" anchorCtr="0"/>
          <a:p>
            <a:pPr eaLnBrk="1" hangingPunct="1">
              <a:lnSpc>
                <a:spcPct val="80000"/>
              </a:lnSpc>
            </a:pPr>
            <a:r>
              <a:rPr lang="en-US" altLang="zh-CN" sz="2800" b="1" dirty="0">
                <a:latin typeface="Times New Roman" panose="02020503050405090304" pitchFamily="18" charset="0"/>
              </a:rPr>
              <a:t>The argument becomes</a:t>
            </a:r>
            <a:endParaRPr lang="en-US" altLang="zh-CN" sz="2800" b="1"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1.</a:t>
            </a:r>
            <a:r>
              <a:rPr lang="en-US" altLang="zh-CN" sz="2400" dirty="0">
                <a:latin typeface="Symbol" panose="05050102010706020507" pitchFamily="18" charset="2"/>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a:t>
            </a:r>
            <a:r>
              <a:rPr lang="en-US" altLang="zh-CN" sz="2400" i="1" dirty="0">
                <a:latin typeface="Times New Roman" panose="02020503050405090304" pitchFamily="18" charset="0"/>
              </a:rPr>
              <a:t>M</a:t>
            </a:r>
            <a:r>
              <a:rPr lang="en-US" altLang="zh-CN" sz="2400" dirty="0">
                <a:latin typeface="Times New Roman" panose="02020503050405090304" pitchFamily="18" charset="0"/>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L</a:t>
            </a:r>
            <a:r>
              <a:rPr lang="en-US" altLang="zh-CN" sz="2400" dirty="0">
                <a:latin typeface="Times New Roman" panose="02020503050405090304" pitchFamily="18" charset="0"/>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80000"/>
              </a:lnSpc>
            </a:pPr>
            <a:r>
              <a:rPr lang="en-US" altLang="zh-CN" sz="2400" dirty="0">
                <a:latin typeface="Times New Roman" panose="02020503050405090304" pitchFamily="18" charset="0"/>
              </a:rPr>
              <a:t>2.</a:t>
            </a:r>
            <a:r>
              <a:rPr lang="en-US" altLang="zh-CN" sz="2400" i="1" dirty="0">
                <a:latin typeface="Times New Roman" panose="02020503050405090304" pitchFamily="18" charset="0"/>
              </a:rPr>
              <a:t>M</a:t>
            </a:r>
            <a:r>
              <a:rPr lang="en-US" altLang="zh-CN" sz="2400" dirty="0">
                <a:latin typeface="Times New Roman" panose="02020503050405090304" pitchFamily="18" charset="0"/>
              </a:rPr>
              <a:t>( </a:t>
            </a:r>
            <a:r>
              <a:rPr lang="en-US" altLang="zh-CN" sz="2400" i="1" dirty="0">
                <a:latin typeface="Times New Roman" panose="02020503050405090304" pitchFamily="18" charset="0"/>
              </a:rPr>
              <a:t>J </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lvl="1" eaLnBrk="1" hangingPunct="1">
              <a:lnSpc>
                <a:spcPct val="80000"/>
              </a:lnSpc>
            </a:pPr>
            <a:r>
              <a:rPr lang="en-US" altLang="zh-CN" sz="2400" dirty="0">
                <a:latin typeface="Symbol" panose="05050102010706020507" pitchFamily="18" charset="2"/>
              </a:rPr>
              <a:t>\</a:t>
            </a:r>
            <a:r>
              <a:rPr lang="en-US" altLang="zh-CN" sz="2400" i="1" dirty="0">
                <a:latin typeface="Times New Roman" panose="02020503050405090304" pitchFamily="18" charset="0"/>
              </a:rPr>
              <a:t>L</a:t>
            </a:r>
            <a:r>
              <a:rPr lang="en-US" altLang="zh-CN" sz="2400" dirty="0">
                <a:latin typeface="Times New Roman" panose="02020503050405090304" pitchFamily="18" charset="0"/>
              </a:rPr>
              <a:t>( </a:t>
            </a:r>
            <a:r>
              <a:rPr lang="en-US" altLang="zh-CN" sz="2400" i="1" dirty="0">
                <a:latin typeface="Times New Roman" panose="02020503050405090304" pitchFamily="18" charset="0"/>
              </a:rPr>
              <a:t>J</a:t>
            </a:r>
            <a:r>
              <a:rPr lang="en-US" altLang="zh-CN" sz="2400" dirty="0">
                <a:latin typeface="Times New Roman" panose="02020503050405090304" pitchFamily="18" charset="0"/>
              </a:rPr>
              <a:t>)</a:t>
            </a:r>
            <a:endParaRPr lang="en-US" altLang="zh-CN" sz="2400" dirty="0">
              <a:latin typeface="Times New Roman" panose="02020503050405090304" pitchFamily="18" charset="0"/>
            </a:endParaRPr>
          </a:p>
          <a:p>
            <a:pPr eaLnBrk="1" hangingPunct="1">
              <a:lnSpc>
                <a:spcPct val="80000"/>
              </a:lnSpc>
            </a:pPr>
            <a:endParaRPr lang="en-US" altLang="zh-CN" sz="2800" b="1" dirty="0">
              <a:latin typeface="Times New Roman" panose="02020503050405090304" pitchFamily="18" charset="0"/>
            </a:endParaRPr>
          </a:p>
          <a:p>
            <a:pPr eaLnBrk="1" hangingPunct="1">
              <a:lnSpc>
                <a:spcPct val="80000"/>
              </a:lnSpc>
            </a:pPr>
            <a:r>
              <a:rPr lang="en-US" altLang="zh-CN" sz="2800" b="1" dirty="0">
                <a:latin typeface="Times New Roman" panose="02020503050405090304" pitchFamily="18" charset="0"/>
              </a:rPr>
              <a:t>The proof is</a:t>
            </a:r>
            <a:endParaRPr lang="en-US" altLang="zh-CN" sz="2800" b="1"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1.</a:t>
            </a:r>
            <a:r>
              <a:rPr lang="en-US" altLang="zh-CN" sz="2400" dirty="0">
                <a:latin typeface="Symbol" panose="05050102010706020507" pitchFamily="18" charset="2"/>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a:t>
            </a:r>
            <a:r>
              <a:rPr lang="en-US" altLang="zh-CN" sz="2400" i="1" dirty="0">
                <a:latin typeface="Times New Roman" panose="02020503050405090304" pitchFamily="18" charset="0"/>
              </a:rPr>
              <a:t>M</a:t>
            </a:r>
            <a:r>
              <a:rPr lang="en-US" altLang="zh-CN" sz="2400" dirty="0">
                <a:latin typeface="Times New Roman" panose="02020503050405090304" pitchFamily="18" charset="0"/>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L</a:t>
            </a:r>
            <a:r>
              <a:rPr lang="en-US" altLang="zh-CN" sz="2400" dirty="0">
                <a:latin typeface="Times New Roman" panose="02020503050405090304" pitchFamily="18" charset="0"/>
              </a:rPr>
              <a:t>(</a:t>
            </a:r>
            <a:r>
              <a:rPr lang="en-US" altLang="zh-CN" sz="2400" i="1" dirty="0">
                <a:latin typeface="Times New Roman" panose="02020503050405090304" pitchFamily="18" charset="0"/>
              </a:rPr>
              <a:t>x</a:t>
            </a:r>
            <a:r>
              <a:rPr lang="en-US" altLang="zh-CN" sz="2400" dirty="0">
                <a:latin typeface="Times New Roman" panose="02020503050405090304" pitchFamily="18" charset="0"/>
              </a:rPr>
              <a:t>)] 	Hypothesis 1</a:t>
            </a:r>
            <a:endParaRPr lang="en-US" altLang="zh-CN" sz="2400"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2.</a:t>
            </a:r>
            <a:r>
              <a:rPr lang="en-US" altLang="zh-CN" sz="2400" i="1" dirty="0">
                <a:latin typeface="Times New Roman" panose="02020503050405090304" pitchFamily="18" charset="0"/>
              </a:rPr>
              <a:t>M</a:t>
            </a:r>
            <a:r>
              <a:rPr lang="en-US" altLang="zh-CN" sz="2400" dirty="0">
                <a:latin typeface="Times New Roman" panose="02020503050405090304" pitchFamily="18" charset="0"/>
              </a:rPr>
              <a:t>( </a:t>
            </a:r>
            <a:r>
              <a:rPr lang="en-US" altLang="zh-CN" sz="2400" i="1" dirty="0">
                <a:latin typeface="Times New Roman" panose="02020503050405090304" pitchFamily="18" charset="0"/>
              </a:rPr>
              <a:t>J </a:t>
            </a:r>
            <a:r>
              <a:rPr lang="en-US" altLang="zh-CN" sz="2400" dirty="0">
                <a:latin typeface="Times New Roman" panose="02020503050405090304" pitchFamily="18" charset="0"/>
              </a:rPr>
              <a:t>) </a:t>
            </a:r>
            <a:r>
              <a:rPr lang="en-US" altLang="zh-CN" sz="2400" dirty="0">
                <a:latin typeface="Euclid" panose="02020503060505020303" pitchFamily="18" charset="0"/>
                <a:sym typeface="Symbol" panose="05050102010706020507" pitchFamily="18" charset="2"/>
              </a:rPr>
              <a:t></a:t>
            </a:r>
            <a:r>
              <a:rPr lang="en-US" altLang="zh-CN" sz="2400" dirty="0">
                <a:latin typeface="Symbol" panose="05050102010706020507" pitchFamily="18" charset="2"/>
              </a:rPr>
              <a:t> </a:t>
            </a:r>
            <a:r>
              <a:rPr lang="en-US" altLang="zh-CN" sz="2400" i="1" dirty="0">
                <a:latin typeface="Times New Roman" panose="02020503050405090304" pitchFamily="18" charset="0"/>
              </a:rPr>
              <a:t>L</a:t>
            </a:r>
            <a:r>
              <a:rPr lang="en-US" altLang="zh-CN" sz="2400" dirty="0">
                <a:latin typeface="Times New Roman" panose="02020503050405090304" pitchFamily="18" charset="0"/>
              </a:rPr>
              <a:t>(</a:t>
            </a:r>
            <a:r>
              <a:rPr lang="en-US" altLang="zh-CN" sz="2400" i="1" dirty="0">
                <a:latin typeface="Times New Roman" panose="02020503050405090304" pitchFamily="18" charset="0"/>
              </a:rPr>
              <a:t>J </a:t>
            </a:r>
            <a:r>
              <a:rPr lang="en-US" altLang="zh-CN" sz="2400" dirty="0">
                <a:latin typeface="Times New Roman" panose="02020503050405090304" pitchFamily="18" charset="0"/>
              </a:rPr>
              <a:t>) 		step 1 and UI</a:t>
            </a:r>
            <a:endParaRPr lang="en-US" altLang="zh-CN" sz="2400"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3.</a:t>
            </a:r>
            <a:r>
              <a:rPr lang="en-US" altLang="zh-CN" sz="2400" i="1" dirty="0">
                <a:latin typeface="Times New Roman" panose="02020503050405090304" pitchFamily="18" charset="0"/>
              </a:rPr>
              <a:t>M</a:t>
            </a:r>
            <a:r>
              <a:rPr lang="en-US" altLang="zh-CN" sz="2400" dirty="0">
                <a:latin typeface="Times New Roman" panose="02020503050405090304" pitchFamily="18" charset="0"/>
              </a:rPr>
              <a:t>( </a:t>
            </a:r>
            <a:r>
              <a:rPr lang="en-US" altLang="zh-CN" sz="2400" i="1" dirty="0">
                <a:latin typeface="Times New Roman" panose="02020503050405090304" pitchFamily="18" charset="0"/>
              </a:rPr>
              <a:t>J </a:t>
            </a:r>
            <a:r>
              <a:rPr lang="en-US" altLang="zh-CN" sz="2400" dirty="0">
                <a:latin typeface="Times New Roman" panose="02020503050405090304" pitchFamily="18" charset="0"/>
              </a:rPr>
              <a:t>) 			Hypothesis 2</a:t>
            </a:r>
            <a:endParaRPr lang="en-US" altLang="zh-CN" sz="2400" dirty="0">
              <a:latin typeface="Times New Roman" panose="02020503050405090304" pitchFamily="18" charset="0"/>
            </a:endParaRPr>
          </a:p>
          <a:p>
            <a:pPr lvl="1" eaLnBrk="1" hangingPunct="1">
              <a:lnSpc>
                <a:spcPct val="80000"/>
              </a:lnSpc>
              <a:buNone/>
            </a:pPr>
            <a:r>
              <a:rPr lang="en-US" altLang="zh-CN" sz="2400" dirty="0">
                <a:latin typeface="Times New Roman" panose="02020503050405090304" pitchFamily="18" charset="0"/>
              </a:rPr>
              <a:t>4.</a:t>
            </a:r>
            <a:r>
              <a:rPr lang="en-US" altLang="zh-CN" sz="2400" i="1" dirty="0">
                <a:latin typeface="Times New Roman" panose="02020503050405090304" pitchFamily="18" charset="0"/>
              </a:rPr>
              <a:t>L</a:t>
            </a:r>
            <a:r>
              <a:rPr lang="en-US" altLang="zh-CN" sz="2400" dirty="0">
                <a:latin typeface="Times New Roman" panose="02020503050405090304" pitchFamily="18" charset="0"/>
              </a:rPr>
              <a:t>( </a:t>
            </a:r>
            <a:r>
              <a:rPr lang="en-US" altLang="zh-CN" sz="2400" i="1" dirty="0">
                <a:latin typeface="Times New Roman" panose="02020503050405090304" pitchFamily="18" charset="0"/>
              </a:rPr>
              <a:t>J</a:t>
            </a:r>
            <a:r>
              <a:rPr lang="en-US" altLang="zh-CN" sz="2400" dirty="0">
                <a:latin typeface="Times New Roman" panose="02020503050405090304" pitchFamily="18" charset="0"/>
              </a:rPr>
              <a:t>) 			steps 2 and 3 and </a:t>
            </a:r>
            <a:r>
              <a:rPr lang="en-US" altLang="zh-CN" sz="2400" i="1" dirty="0">
                <a:latin typeface="Times New Roman" panose="02020503050405090304" pitchFamily="18" charset="0"/>
              </a:rPr>
              <a:t>modus ponens</a:t>
            </a:r>
            <a:endParaRPr lang="en-US" altLang="zh-CN" sz="2400" i="1" dirty="0">
              <a:latin typeface="Times New Roman" panose="02020503050405090304" pitchFamily="18" charset="0"/>
            </a:endParaRPr>
          </a:p>
          <a:p>
            <a:pPr lvl="1" algn="r" eaLnBrk="1" hangingPunct="1">
              <a:lnSpc>
                <a:spcPct val="80000"/>
              </a:lnSpc>
            </a:pPr>
            <a:r>
              <a:rPr lang="en-US" altLang="zh-CN" sz="2400" dirty="0">
                <a:latin typeface="Times New Roman" panose="02020503050405090304" pitchFamily="18" charset="0"/>
              </a:rPr>
              <a:t>	Q. E. D.</a:t>
            </a:r>
            <a:endParaRPr lang="en-US" altLang="zh-CN" sz="2400" dirty="0">
              <a:latin typeface="Times New Roman" panose="0202050305040509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9160" y="259715"/>
            <a:ext cx="7793355" cy="855980"/>
          </a:xfrm>
        </p:spPr>
        <p:txBody>
          <a:bodyPr vert="horz" wrap="square" lIns="91440" tIns="45720" rIns="91440" bIns="45720" numCol="1" anchor="b"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4400" b="0" i="0" u="none" strike="noStrike" kern="0" cap="none" spc="0" normalizeH="0" baseline="0" noProof="1">
                <a:ln>
                  <a:noFill/>
                </a:ln>
                <a:solidFill>
                  <a:schemeClr val="tx2"/>
                </a:solidFill>
                <a:effectLst/>
                <a:uLnTx/>
                <a:uFillTx/>
                <a:latin typeface="+mj-lt"/>
                <a:ea typeface="+mj-ea"/>
                <a:cs typeface="+mj-cs"/>
              </a:rPr>
              <a:t>Using Rules of Inference</a:t>
            </a:r>
            <a:endParaRPr kumimoji="1" lang="en-US" sz="4400" b="0" i="0" u="none" strike="noStrike" kern="0" cap="none" spc="0" normalizeH="0" baseline="0" noProof="1">
              <a:ln>
                <a:noFill/>
              </a:ln>
              <a:solidFill>
                <a:schemeClr val="tx2"/>
              </a:solidFill>
              <a:effectLst/>
              <a:uLnTx/>
              <a:uFillTx/>
              <a:latin typeface="+mj-lt"/>
              <a:ea typeface="+mj-ea"/>
              <a:cs typeface="+mj-cs"/>
            </a:endParaRPr>
          </a:p>
        </p:txBody>
      </p:sp>
      <p:sp>
        <p:nvSpPr>
          <p:cNvPr id="44035" name="Content Placeholder 2"/>
          <p:cNvSpPr>
            <a:spLocks noGrp="1"/>
          </p:cNvSpPr>
          <p:nvPr>
            <p:ph idx="1"/>
          </p:nvPr>
        </p:nvSpPr>
        <p:spPr>
          <a:xfrm>
            <a:off x="323215" y="1268413"/>
            <a:ext cx="9074150" cy="4114800"/>
          </a:xfrm>
        </p:spPr>
        <p:txBody>
          <a:bodyPr vert="horz" wrap="square" lIns="91440" tIns="45720" rIns="91440" bIns="45720" anchor="t" anchorCtr="0"/>
          <a:p>
            <a:pPr>
              <a:buNone/>
            </a:pPr>
            <a:r>
              <a:rPr lang="en-US" altLang="zh-CN" sz="3000" b="1" dirty="0"/>
              <a:t>   </a:t>
            </a:r>
            <a:r>
              <a:rPr lang="en-US" altLang="zh-CN" sz="3000" b="1" dirty="0">
                <a:latin typeface="Times New Roman" panose="02020503050405090304" pitchFamily="18" charset="0"/>
              </a:rPr>
              <a:t>Example 2</a:t>
            </a:r>
            <a:r>
              <a:rPr lang="en-US" altLang="zh-CN" sz="3000" dirty="0">
                <a:latin typeface="Times New Roman" panose="02020503050405090304" pitchFamily="18" charset="0"/>
              </a:rPr>
              <a:t>: Use the rules of inference to construct a valid argument showing that the conclusion</a:t>
            </a:r>
            <a:endParaRPr lang="en-US" altLang="zh-CN" sz="3000" dirty="0">
              <a:latin typeface="Times New Roman" panose="02020503050405090304" pitchFamily="18" charset="0"/>
            </a:endParaRPr>
          </a:p>
          <a:p>
            <a:pPr lvl="1">
              <a:buNone/>
            </a:pPr>
            <a:r>
              <a:rPr lang="en-US" altLang="zh-CN" sz="2600" dirty="0">
                <a:latin typeface="Times New Roman" panose="02020503050405090304" pitchFamily="18" charset="0"/>
              </a:rPr>
              <a:t>“Someone who passed the first exam has not read the book.”</a:t>
            </a:r>
            <a:endParaRPr lang="en-US" altLang="zh-CN" sz="2600" dirty="0">
              <a:latin typeface="Times New Roman" panose="02020503050405090304" pitchFamily="18" charset="0"/>
            </a:endParaRPr>
          </a:p>
          <a:p>
            <a:pPr>
              <a:buNone/>
            </a:pPr>
            <a:r>
              <a:rPr lang="en-US" altLang="zh-CN" sz="3000" dirty="0">
                <a:latin typeface="Times New Roman" panose="02020503050405090304" pitchFamily="18" charset="0"/>
              </a:rPr>
              <a:t>    follows from the premises</a:t>
            </a:r>
            <a:endParaRPr lang="en-US" altLang="zh-CN" sz="3000" dirty="0">
              <a:latin typeface="Times New Roman" panose="02020503050405090304" pitchFamily="18" charset="0"/>
            </a:endParaRPr>
          </a:p>
          <a:p>
            <a:pPr lvl="1">
              <a:buNone/>
            </a:pPr>
            <a:r>
              <a:rPr lang="en-US" altLang="zh-CN" sz="2600" dirty="0">
                <a:latin typeface="Times New Roman" panose="02020503050405090304" pitchFamily="18" charset="0"/>
              </a:rPr>
              <a:t>“A student in this class has not read the book.”</a:t>
            </a:r>
            <a:endParaRPr lang="en-US" altLang="zh-CN" sz="2600" dirty="0">
              <a:latin typeface="Times New Roman" panose="02020503050405090304" pitchFamily="18" charset="0"/>
            </a:endParaRPr>
          </a:p>
          <a:p>
            <a:pPr lvl="1">
              <a:buNone/>
            </a:pPr>
            <a:r>
              <a:rPr lang="en-US" altLang="zh-CN" sz="2600" dirty="0">
                <a:latin typeface="Times New Roman" panose="02020503050405090304" pitchFamily="18" charset="0"/>
              </a:rPr>
              <a:t>“Everyone in this class passed the first exam.”</a:t>
            </a:r>
            <a:endParaRPr lang="en-US" altLang="zh-CN" sz="2600" dirty="0">
              <a:latin typeface="Times New Roman" panose="02020503050405090304" pitchFamily="18" charset="0"/>
            </a:endParaRPr>
          </a:p>
          <a:p>
            <a:pPr lvl="1">
              <a:buNone/>
            </a:pPr>
            <a:r>
              <a:rPr lang="en-US" altLang="zh-CN" sz="2600" dirty="0">
                <a:latin typeface="Times New Roman" panose="02020503050405090304" pitchFamily="18" charset="0"/>
              </a:rPr>
              <a:t> </a:t>
            </a:r>
            <a:endParaRPr lang="en-US" altLang="zh-CN" sz="2600" dirty="0">
              <a:latin typeface="Times New Roman" panose="02020503050405090304" pitchFamily="18" charset="0"/>
            </a:endParaRPr>
          </a:p>
          <a:p>
            <a:pPr lvl="1">
              <a:buNone/>
            </a:pPr>
            <a:r>
              <a:rPr lang="en-US" altLang="zh-CN" sz="2600" dirty="0"/>
              <a:t>  </a:t>
            </a:r>
            <a:endParaRPr lang="en-US" altLang="zh-CN" sz="2600" dirty="0"/>
          </a:p>
          <a:p>
            <a:endParaRPr lang="en-US" altLang="zh-CN" sz="3000" dirty="0"/>
          </a:p>
          <a:p>
            <a:pPr lvl="1"/>
            <a:endParaRPr lang="en-US" altLang="zh-CN" sz="2600" dirty="0"/>
          </a:p>
        </p:txBody>
      </p:sp>
      <p:pic>
        <p:nvPicPr>
          <p:cNvPr id="8" name="Picture 6" descr="addin_tmp.png"/>
          <p:cNvPicPr>
            <a:picLocks noChangeAspect="1"/>
          </p:cNvPicPr>
          <p:nvPr>
            <p:custDataLst>
              <p:tags r:id="rId1"/>
            </p:custDataLst>
          </p:nvPr>
        </p:nvPicPr>
        <p:blipFill>
          <a:blip r:embed="rId2"/>
          <a:stretch>
            <a:fillRect/>
          </a:stretch>
        </p:blipFill>
        <p:spPr>
          <a:xfrm>
            <a:off x="5795328" y="4652328"/>
            <a:ext cx="3290887" cy="1090612"/>
          </a:xfrm>
          <a:prstGeom prst="rect">
            <a:avLst/>
          </a:prstGeom>
          <a:noFill/>
          <a:ln w="9525">
            <a:noFill/>
          </a:ln>
        </p:spPr>
      </p:pic>
      <p:sp>
        <p:nvSpPr>
          <p:cNvPr id="4" name="矩形 3"/>
          <p:cNvSpPr/>
          <p:nvPr/>
        </p:nvSpPr>
        <p:spPr>
          <a:xfrm>
            <a:off x="683260" y="4508818"/>
            <a:ext cx="4916488" cy="1384300"/>
          </a:xfrm>
          <a:prstGeom prst="rect">
            <a:avLst/>
          </a:prstGeom>
          <a:noFill/>
          <a:ln w="9525">
            <a:noFill/>
          </a:ln>
        </p:spPr>
        <p:txBody>
          <a:bodyPr>
            <a:spAutoFit/>
          </a:bodyPr>
          <a:p>
            <a:r>
              <a:rPr lang="en-US" altLang="zh-CN" sz="2800" b="0" i="0" u="none" dirty="0">
                <a:solidFill>
                  <a:srgbClr val="002060"/>
                </a:solidFill>
                <a:latin typeface="Times New Roman" panose="02020503050405090304" pitchFamily="18" charset="0"/>
              </a:rPr>
              <a:t>C(x)</a:t>
            </a:r>
            <a:r>
              <a:rPr lang="zh-CN" altLang="en-US" sz="2800" b="0" i="0" u="none" dirty="0">
                <a:solidFill>
                  <a:srgbClr val="002060"/>
                </a:solidFill>
                <a:latin typeface="Times New Roman" panose="02020503050405090304" pitchFamily="18" charset="0"/>
              </a:rPr>
              <a:t>：</a:t>
            </a:r>
            <a:r>
              <a:rPr lang="en-US" altLang="zh-CN" sz="2800" b="0" i="0" u="none" dirty="0">
                <a:solidFill>
                  <a:srgbClr val="002060"/>
                </a:solidFill>
                <a:latin typeface="Times New Roman" panose="02020503050405090304" pitchFamily="18" charset="0"/>
              </a:rPr>
              <a:t>“x is in this class,” </a:t>
            </a:r>
            <a:endParaRPr lang="en-US" altLang="zh-CN" sz="2800" b="0" i="0" u="none" dirty="0">
              <a:solidFill>
                <a:srgbClr val="002060"/>
              </a:solidFill>
              <a:latin typeface="Times New Roman" panose="02020503050405090304" pitchFamily="18" charset="0"/>
            </a:endParaRPr>
          </a:p>
          <a:p>
            <a:r>
              <a:rPr lang="en-US" altLang="zh-CN" sz="2800" b="0" i="0" u="none" dirty="0">
                <a:solidFill>
                  <a:srgbClr val="002060"/>
                </a:solidFill>
                <a:latin typeface="Times New Roman" panose="02020503050405090304" pitchFamily="18" charset="0"/>
              </a:rPr>
              <a:t>B(x)</a:t>
            </a:r>
            <a:r>
              <a:rPr lang="zh-CN" altLang="en-US" sz="2800" b="0" i="0" u="none" dirty="0">
                <a:solidFill>
                  <a:srgbClr val="002060"/>
                </a:solidFill>
                <a:latin typeface="Times New Roman" panose="02020503050405090304" pitchFamily="18" charset="0"/>
              </a:rPr>
              <a:t>：</a:t>
            </a:r>
            <a:r>
              <a:rPr lang="en-US" altLang="zh-CN" sz="2800" b="0" i="0" u="none" dirty="0">
                <a:solidFill>
                  <a:srgbClr val="002060"/>
                </a:solidFill>
                <a:latin typeface="Times New Roman" panose="02020503050405090304" pitchFamily="18" charset="0"/>
              </a:rPr>
              <a:t> “ x has read the book,” </a:t>
            </a:r>
            <a:endParaRPr lang="en-US" altLang="zh-CN" sz="2800" b="0" i="0" u="none" dirty="0">
              <a:solidFill>
                <a:srgbClr val="002060"/>
              </a:solidFill>
              <a:latin typeface="Times New Roman" panose="02020503050405090304" pitchFamily="18" charset="0"/>
            </a:endParaRPr>
          </a:p>
          <a:p>
            <a:r>
              <a:rPr lang="en-US" altLang="zh-CN" sz="2800" b="0" i="0" u="none" dirty="0">
                <a:solidFill>
                  <a:srgbClr val="002060"/>
                </a:solidFill>
                <a:latin typeface="Times New Roman" panose="02020503050405090304" pitchFamily="18" charset="0"/>
              </a:rPr>
              <a:t>P(x)</a:t>
            </a:r>
            <a:r>
              <a:rPr lang="zh-CN" altLang="en-US" sz="2800" b="0" i="0" u="none" dirty="0">
                <a:solidFill>
                  <a:srgbClr val="002060"/>
                </a:solidFill>
                <a:latin typeface="Times New Roman" panose="02020503050405090304" pitchFamily="18" charset="0"/>
              </a:rPr>
              <a:t>：</a:t>
            </a:r>
            <a:r>
              <a:rPr lang="en-US" altLang="zh-CN" sz="2800" b="0" i="0" u="none" dirty="0">
                <a:solidFill>
                  <a:srgbClr val="002060"/>
                </a:solidFill>
                <a:latin typeface="Times New Roman" panose="02020503050405090304" pitchFamily="18" charset="0"/>
              </a:rPr>
              <a:t> “x passed the first exam.”</a:t>
            </a:r>
            <a:endParaRPr lang="en-US" altLang="zh-CN" sz="2800" b="0" i="0" u="none" dirty="0">
              <a:solidFill>
                <a:srgbClr val="002060"/>
              </a:solidFill>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7405" y="262890"/>
            <a:ext cx="7793355" cy="924560"/>
          </a:xfrm>
        </p:spPr>
        <p:txBody>
          <a:bodyPr vert="horz" wrap="square" lIns="91440" tIns="45720" rIns="91440" bIns="45720" numCol="1" anchor="b"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4400" b="0" i="0" u="none" strike="noStrike" kern="0" cap="none" spc="0" normalizeH="0" baseline="0" noProof="1">
                <a:ln>
                  <a:noFill/>
                </a:ln>
                <a:solidFill>
                  <a:schemeClr val="tx2"/>
                </a:solidFill>
                <a:effectLst/>
                <a:uLnTx/>
                <a:uFillTx/>
                <a:latin typeface="+mj-lt"/>
                <a:ea typeface="+mj-ea"/>
                <a:cs typeface="+mj-cs"/>
              </a:rPr>
              <a:t> Using Rules of Inference</a:t>
            </a:r>
            <a:endParaRPr kumimoji="1" lang="en-US" sz="4400" b="0" i="0" u="none" strike="noStrike" kern="0" cap="none" spc="0" normalizeH="0" baseline="0" noProof="1">
              <a:ln>
                <a:noFill/>
              </a:ln>
              <a:solidFill>
                <a:schemeClr val="tx2"/>
              </a:solidFill>
              <a:effectLst/>
              <a:uLnTx/>
              <a:uFillTx/>
              <a:latin typeface="+mj-lt"/>
              <a:ea typeface="+mj-ea"/>
              <a:cs typeface="+mj-cs"/>
            </a:endParaRPr>
          </a:p>
        </p:txBody>
      </p:sp>
      <p:pic>
        <p:nvPicPr>
          <p:cNvPr id="45059" name="Picture 3" descr="addin_tmp.png"/>
          <p:cNvPicPr>
            <a:picLocks noChangeAspect="1"/>
          </p:cNvPicPr>
          <p:nvPr>
            <p:custDataLst>
              <p:tags r:id="rId1"/>
            </p:custDataLst>
          </p:nvPr>
        </p:nvPicPr>
        <p:blipFill>
          <a:blip r:embed="rId2"/>
          <a:stretch>
            <a:fillRect/>
          </a:stretch>
        </p:blipFill>
        <p:spPr>
          <a:xfrm>
            <a:off x="1187450" y="2060575"/>
            <a:ext cx="6408738" cy="3714750"/>
          </a:xfrm>
          <a:prstGeom prst="rect">
            <a:avLst/>
          </a:prstGeom>
          <a:noFill/>
          <a:ln w="9525">
            <a:noFill/>
          </a:ln>
        </p:spPr>
      </p:pic>
      <p:sp>
        <p:nvSpPr>
          <p:cNvPr id="45060" name="Rectangle 4"/>
          <p:cNvSpPr/>
          <p:nvPr/>
        </p:nvSpPr>
        <p:spPr>
          <a:xfrm>
            <a:off x="539750" y="1268730"/>
            <a:ext cx="30956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i="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457200" lvl="1" indent="0">
              <a:spcBef>
                <a:spcPct val="0"/>
              </a:spcBef>
              <a:buClrTx/>
              <a:buSzTx/>
              <a:buFontTx/>
              <a:buNone/>
            </a:pPr>
            <a:r>
              <a:rPr lang="en-US" altLang="zh-CN" b="1" i="1" u="sng" dirty="0">
                <a:solidFill>
                  <a:srgbClr val="002060"/>
                </a:solidFill>
                <a:latin typeface="Times New Roman" panose="02020503050405090304" pitchFamily="18" charset="0"/>
              </a:rPr>
              <a:t>Valid Argument:</a:t>
            </a:r>
            <a:endParaRPr lang="en-US" altLang="zh-CN" b="1" i="1" u="sng" dirty="0">
              <a:solidFill>
                <a:srgbClr val="002060"/>
              </a:solidFill>
              <a:latin typeface="Times New Roman" panose="02020503050405090304" pitchFamily="18" charset="0"/>
            </a:endParaRPr>
          </a:p>
        </p:txBody>
      </p:sp>
      <p:pic>
        <p:nvPicPr>
          <p:cNvPr id="8" name="Picture 6" descr="addin_tmp.png"/>
          <p:cNvPicPr>
            <a:picLocks noChangeAspect="1"/>
          </p:cNvPicPr>
          <p:nvPr>
            <p:custDataLst>
              <p:tags r:id="rId3"/>
            </p:custDataLst>
          </p:nvPr>
        </p:nvPicPr>
        <p:blipFill>
          <a:blip r:embed="rId4"/>
          <a:stretch>
            <a:fillRect/>
          </a:stretch>
        </p:blipFill>
        <p:spPr>
          <a:xfrm>
            <a:off x="5943600" y="1196975"/>
            <a:ext cx="2999105" cy="993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8843" y="124143"/>
            <a:ext cx="7793038" cy="1143000"/>
          </a:xfrm>
        </p:spPr>
        <p:txBody>
          <a:bodyPr vert="horz" wrap="square" lIns="91440" tIns="45720" rIns="91440" bIns="45720" numCol="1" anchor="b"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sz="4400" b="0" i="0" u="none" strike="noStrike" kern="0" cap="none" spc="0" normalizeH="0" baseline="0" noProof="1">
                <a:ln>
                  <a:noFill/>
                </a:ln>
                <a:solidFill>
                  <a:schemeClr val="tx2"/>
                </a:solidFill>
                <a:effectLst/>
                <a:uLnTx/>
                <a:uFillTx/>
                <a:latin typeface="+mj-lt"/>
                <a:ea typeface="+mj-ea"/>
                <a:cs typeface="+mj-cs"/>
              </a:rPr>
              <a:t>Returning to  the Socrates Example</a:t>
            </a:r>
            <a:endParaRPr kumimoji="1" lang="en-US" sz="4400" b="0" i="0" u="none" strike="noStrike" kern="0" cap="none" spc="0" normalizeH="0" baseline="0" noProof="1">
              <a:ln>
                <a:noFill/>
              </a:ln>
              <a:solidFill>
                <a:schemeClr val="tx2"/>
              </a:solidFill>
              <a:effectLst/>
              <a:uLnTx/>
              <a:uFillTx/>
              <a:latin typeface="+mj-lt"/>
              <a:ea typeface="+mj-ea"/>
              <a:cs typeface="+mj-cs"/>
            </a:endParaRPr>
          </a:p>
        </p:txBody>
      </p:sp>
      <p:pic>
        <p:nvPicPr>
          <p:cNvPr id="46083" name="Picture 7" descr="addin_tmp.png"/>
          <p:cNvPicPr>
            <a:picLocks noChangeAspect="1"/>
          </p:cNvPicPr>
          <p:nvPr>
            <p:custDataLst>
              <p:tags r:id="rId1"/>
            </p:custDataLst>
          </p:nvPr>
        </p:nvPicPr>
        <p:blipFill>
          <a:blip r:embed="rId2"/>
          <a:stretch>
            <a:fillRect/>
          </a:stretch>
        </p:blipFill>
        <p:spPr>
          <a:xfrm>
            <a:off x="4559935" y="1197610"/>
            <a:ext cx="4378325" cy="382588"/>
          </a:xfrm>
          <a:prstGeom prst="rect">
            <a:avLst/>
          </a:prstGeom>
          <a:noFill/>
          <a:ln w="9525">
            <a:noFill/>
          </a:ln>
        </p:spPr>
      </p:pic>
      <p:pic>
        <p:nvPicPr>
          <p:cNvPr id="46084" name="Content Placeholder 10" descr="addin_tmp.png"/>
          <p:cNvPicPr>
            <a:picLocks noGrp="1" noChangeAspect="1"/>
          </p:cNvPicPr>
          <p:nvPr>
            <p:ph idx="1"/>
            <p:custDataLst>
              <p:tags r:id="rId3"/>
            </p:custDataLst>
          </p:nvPr>
        </p:nvPicPr>
        <p:blipFill>
          <a:blip r:embed="rId4"/>
          <a:srcRect/>
          <a:stretch>
            <a:fillRect/>
          </a:stretch>
        </p:blipFill>
        <p:spPr>
          <a:xfrm>
            <a:off x="4559935" y="1701165"/>
            <a:ext cx="2560638" cy="382588"/>
          </a:xfrm>
        </p:spPr>
      </p:pic>
      <p:cxnSp>
        <p:nvCxnSpPr>
          <p:cNvPr id="9" name="Straight Connector 8"/>
          <p:cNvCxnSpPr/>
          <p:nvPr/>
        </p:nvCxnSpPr>
        <p:spPr>
          <a:xfrm>
            <a:off x="4462780" y="2204720"/>
            <a:ext cx="4572000" cy="0"/>
          </a:xfrm>
          <a:prstGeom prst="line">
            <a:avLst/>
          </a:prstGeom>
        </p:spPr>
        <p:style>
          <a:lnRef idx="2">
            <a:schemeClr val="dk1"/>
          </a:lnRef>
          <a:fillRef idx="0">
            <a:schemeClr val="dk1"/>
          </a:fillRef>
          <a:effectRef idx="1">
            <a:schemeClr val="dk1"/>
          </a:effectRef>
          <a:fontRef idx="minor">
            <a:schemeClr val="tx1"/>
          </a:fontRef>
        </p:style>
      </p:cxnSp>
      <p:pic>
        <p:nvPicPr>
          <p:cNvPr id="46086" name="Picture 6" descr="addin_tmp.png"/>
          <p:cNvPicPr>
            <a:picLocks noChangeAspect="1"/>
          </p:cNvPicPr>
          <p:nvPr>
            <p:custDataLst>
              <p:tags r:id="rId5"/>
            </p:custDataLst>
          </p:nvPr>
        </p:nvPicPr>
        <p:blipFill>
          <a:blip r:embed="rId6"/>
          <a:stretch>
            <a:fillRect/>
          </a:stretch>
        </p:blipFill>
        <p:spPr>
          <a:xfrm>
            <a:off x="4487545" y="2277110"/>
            <a:ext cx="3743325" cy="382588"/>
          </a:xfrm>
          <a:prstGeom prst="rect">
            <a:avLst/>
          </a:prstGeom>
          <a:noFill/>
          <a:ln w="9525">
            <a:noFill/>
          </a:ln>
        </p:spPr>
      </p:pic>
      <p:pic>
        <p:nvPicPr>
          <p:cNvPr id="47107" name="Picture 10" descr="addin_tmp.png"/>
          <p:cNvPicPr>
            <a:picLocks noChangeAspect="1"/>
          </p:cNvPicPr>
          <p:nvPr>
            <p:custDataLst>
              <p:tags r:id="rId7"/>
            </p:custDataLst>
          </p:nvPr>
        </p:nvPicPr>
        <p:blipFill>
          <a:blip r:embed="rId8"/>
          <a:stretch>
            <a:fillRect/>
          </a:stretch>
        </p:blipFill>
        <p:spPr>
          <a:xfrm>
            <a:off x="539115" y="3213100"/>
            <a:ext cx="8278813" cy="2376488"/>
          </a:xfrm>
          <a:prstGeom prst="rect">
            <a:avLst/>
          </a:prstGeom>
          <a:noFill/>
          <a:ln w="9525">
            <a:noFill/>
          </a:ln>
        </p:spPr>
      </p:pic>
      <p:sp>
        <p:nvSpPr>
          <p:cNvPr id="47108" name="TextBox 3"/>
          <p:cNvSpPr txBox="1"/>
          <p:nvPr/>
        </p:nvSpPr>
        <p:spPr>
          <a:xfrm>
            <a:off x="395605" y="1988820"/>
            <a:ext cx="2971800" cy="461963"/>
          </a:xfrm>
          <a:prstGeom prst="rect">
            <a:avLst/>
          </a:prstGeom>
          <a:noFill/>
          <a:ln w="9525">
            <a:noFill/>
          </a:ln>
        </p:spPr>
        <p:txBody>
          <a:bodyPr>
            <a:spAutoFit/>
          </a:bodyPr>
          <a:p>
            <a:r>
              <a:rPr lang="en-US" altLang="zh-CN" dirty="0">
                <a:latin typeface="Times New Roman" panose="02020503050405090304" pitchFamily="18" charset="0"/>
              </a:rPr>
              <a:t>Valid Argument</a:t>
            </a:r>
            <a:endParaRPr lang="en-US" altLang="zh-CN" dirty="0">
              <a:latin typeface="Times New Roman" panose="0202050305040509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r" eaLnBrk="1" hangingPunct="1"/>
            <a:fld id="{9A0DB2DC-4C9A-4742-B13C-FB6460FD3503}" type="slidenum">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813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eaLnBrk="1" hangingPunct="1"/>
            <a:fld id="{BB962C8B-B14F-4D97-AF65-F5344CB8AC3E}" type="datetime1">
              <a:rPr lang="en-US" altLang="en-US" sz="1000" u="none" dirty="0">
                <a:solidFill>
                  <a:srgbClr val="009999"/>
                </a:solidFill>
                <a:latin typeface="Arial Narrow" panose="020B0606020202030204" pitchFamily="34" charset="0"/>
              </a:rPr>
            </a:fld>
            <a:endParaRPr lang="en-US" altLang="en-US" sz="1000" u="none" dirty="0">
              <a:solidFill>
                <a:srgbClr val="009999"/>
              </a:solidFill>
              <a:latin typeface="Arial Narrow" panose="020B0606020202030204" pitchFamily="34" charset="0"/>
            </a:endParaRPr>
          </a:p>
        </p:txBody>
      </p:sp>
      <p:sp>
        <p:nvSpPr>
          <p:cNvPr id="4813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defRPr>
            </a:lvl1pPr>
            <a:lvl2pPr marL="457200" lvl="1"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1" u="sng" kern="1200" baseline="0">
                <a:solidFill>
                  <a:schemeClr val="tx1"/>
                </a:solidFill>
                <a:latin typeface="Times New Roman" panose="02020503050405090304" pitchFamily="18" charset="0"/>
                <a:ea typeface="宋体" pitchFamily="2" charset="-122"/>
                <a:cs typeface="+mn-cs"/>
              </a:defRPr>
            </a:lvl5pPr>
          </a:lstStyle>
          <a:p>
            <a:pPr lvl="0" algn="ctr" eaLnBrk="1" hangingPunct="1">
              <a:lnSpc>
                <a:spcPct val="110000"/>
              </a:lnSpc>
            </a:pPr>
            <a:r>
              <a:rPr lang="en-US" altLang="zh-CN" sz="1200" u="none" dirty="0">
                <a:solidFill>
                  <a:srgbClr val="009999"/>
                </a:solidFill>
                <a:latin typeface="Arial Narrow" panose="020B0606020202030204" pitchFamily="34" charset="0"/>
              </a:rPr>
              <a:t>School of Computer Science, BUPT</a:t>
            </a:r>
            <a:endParaRPr lang="en-US" altLang="en-US" sz="1200" u="none" dirty="0">
              <a:solidFill>
                <a:srgbClr val="009999"/>
              </a:solidFill>
              <a:latin typeface="Arial Narrow" panose="020B0606020202030204" pitchFamily="34" charset="0"/>
            </a:endParaRPr>
          </a:p>
        </p:txBody>
      </p:sp>
      <p:sp>
        <p:nvSpPr>
          <p:cNvPr id="48133" name="Rectangle 2"/>
          <p:cNvSpPr>
            <a:spLocks noGrp="1"/>
          </p:cNvSpPr>
          <p:nvPr>
            <p:ph type="title"/>
          </p:nvPr>
        </p:nvSpPr>
        <p:spPr/>
        <p:txBody>
          <a:bodyPr vert="horz" wrap="square" lIns="91440" tIns="45720" rIns="91440" bIns="45720" anchor="b" anchorCtr="0"/>
          <a:p>
            <a:pPr eaLnBrk="1" hangingPunct="1"/>
            <a:r>
              <a:rPr lang="en-US" altLang="zh-CN" dirty="0"/>
              <a:t>Homework</a:t>
            </a:r>
            <a:endParaRPr lang="en-US" altLang="zh-CN" dirty="0"/>
          </a:p>
        </p:txBody>
      </p:sp>
      <p:sp>
        <p:nvSpPr>
          <p:cNvPr id="48134" name="Rectangle 3"/>
          <p:cNvSpPr>
            <a:spLocks noGrp="1"/>
          </p:cNvSpPr>
          <p:nvPr>
            <p:ph idx="1"/>
          </p:nvPr>
        </p:nvSpPr>
        <p:spPr>
          <a:xfrm>
            <a:off x="971550" y="1268413"/>
            <a:ext cx="7772400" cy="4114800"/>
          </a:xfrm>
        </p:spPr>
        <p:txBody>
          <a:bodyPr vert="horz" wrap="square" lIns="91440" tIns="45720" rIns="91440" bIns="45720" anchor="t" anchorCtr="0"/>
          <a:p>
            <a:pPr eaLnBrk="1" hangingPunct="1"/>
            <a:r>
              <a:rPr lang="en-US" altLang="zh-CN" dirty="0">
                <a:latin typeface="Times New Roman" panose="02020503050405090304" pitchFamily="18" charset="0"/>
              </a:rPr>
              <a:t>§1.6 </a:t>
            </a:r>
            <a:endParaRPr lang="en-US" altLang="zh-CN" dirty="0">
              <a:latin typeface="Times New Roman" panose="02020503050405090304" pitchFamily="18" charset="0"/>
            </a:endParaRPr>
          </a:p>
          <a:p>
            <a:pPr lvl="1" eaLnBrk="1" hangingPunct="1"/>
            <a:r>
              <a:rPr lang="en-US" altLang="zh-CN" dirty="0">
                <a:latin typeface="Times New Roman" panose="02020503050405090304" pitchFamily="18" charset="0"/>
              </a:rPr>
              <a:t> </a:t>
            </a:r>
            <a:r>
              <a:rPr lang="en-US" altLang="zh-CN" dirty="0"/>
              <a:t>4, 6, 12, 16, 20, 24</a:t>
            </a:r>
            <a:endParaRPr lang="en-US" altLang="zh-CN" dirty="0"/>
          </a:p>
          <a:p>
            <a:pPr lvl="1" eaLnBrk="1" hangingPunct="1"/>
            <a:endParaRPr lang="en-US" altLang="zh-CN" dirty="0">
              <a:latin typeface="Times New Roman" panose="02020503050405090304" pitchFamily="18" charset="0"/>
            </a:endParaRPr>
          </a:p>
        </p:txBody>
      </p:sp>
      <p:sp>
        <p:nvSpPr>
          <p:cNvPr id="4" name="文本框 3"/>
          <p:cNvSpPr txBox="1"/>
          <p:nvPr/>
        </p:nvSpPr>
        <p:spPr>
          <a:xfrm>
            <a:off x="2771775" y="2924810"/>
            <a:ext cx="4572000" cy="2306320"/>
          </a:xfrm>
          <a:prstGeom prst="rect">
            <a:avLst/>
          </a:prstGeom>
          <a:solidFill>
            <a:schemeClr val="accent2"/>
          </a:solidFill>
        </p:spPr>
        <p:txBody>
          <a:bodyPr wrap="square" rtlCol="0" anchor="t">
            <a:spAutoFit/>
          </a:bodyPr>
          <a:p>
            <a:pPr marL="179705" lvl="1" indent="0" algn="just">
              <a:lnSpc>
                <a:spcPct val="120000"/>
              </a:lnSpc>
              <a:spcBef>
                <a:spcPct val="0"/>
              </a:spcBef>
              <a:buClrTx/>
              <a:buSzTx/>
              <a:buFontTx/>
              <a:buNone/>
            </a:pPr>
            <a:r>
              <a:rPr lang="zh-CN" altLang="en-US" i="0" u="none" dirty="0">
                <a:cs typeface="Times New Roman" panose="02020503050405090304" pitchFamily="18" charset="0"/>
                <a:sym typeface="Symbol" panose="05050102010706020507" pitchFamily="18" charset="2"/>
              </a:rPr>
              <a:t>推理的形式化证明</a:t>
            </a:r>
            <a:r>
              <a:rPr lang="zh-CN" altLang="en-US" i="0" u="none" dirty="0">
                <a:cs typeface="Times New Roman" panose="02020503050405090304" pitchFamily="18" charset="0"/>
                <a:sym typeface="Symbol" panose="05050102010706020507" pitchFamily="18" charset="2"/>
              </a:rPr>
              <a:t>方法：</a:t>
            </a:r>
            <a:endParaRPr lang="en-US" altLang="en-US" i="0" u="none" dirty="0">
              <a:cs typeface="Times New Roman" panose="02020503050405090304" pitchFamily="18" charset="0"/>
              <a:sym typeface="Symbol" panose="05050102010706020507" pitchFamily="18" charset="2"/>
            </a:endParaRPr>
          </a:p>
          <a:p>
            <a:pPr marL="179705" lvl="1" indent="0" algn="just">
              <a:lnSpc>
                <a:spcPct val="120000"/>
              </a:lnSpc>
              <a:spcBef>
                <a:spcPct val="0"/>
              </a:spcBef>
              <a:buClrTx/>
              <a:buSzTx/>
              <a:buFontTx/>
              <a:buNone/>
            </a:pPr>
            <a:r>
              <a:rPr lang="en-US" altLang="en-US" i="0" u="none" dirty="0">
                <a:cs typeface="Times New Roman" panose="02020503050405090304" pitchFamily="18" charset="0"/>
                <a:sym typeface="Symbol" panose="05050102010706020507" pitchFamily="18" charset="2"/>
              </a:rPr>
              <a:t>设计命题或谓词</a:t>
            </a:r>
            <a:endParaRPr lang="en-US" altLang="zh-CN" i="0" u="none" dirty="0">
              <a:latin typeface="Times New Roman" panose="02020503050405090304" pitchFamily="18" charset="0"/>
              <a:cs typeface="Times New Roman" panose="02020503050405090304" pitchFamily="18" charset="0"/>
              <a:sym typeface="Symbol" panose="05050102010706020507" pitchFamily="18" charset="2"/>
            </a:endParaRPr>
          </a:p>
          <a:p>
            <a:pPr marL="179705" lvl="1" indent="0" algn="just">
              <a:lnSpc>
                <a:spcPct val="120000"/>
              </a:lnSpc>
              <a:spcBef>
                <a:spcPct val="0"/>
              </a:spcBef>
              <a:buClrTx/>
              <a:buSzTx/>
              <a:buFontTx/>
              <a:buNone/>
            </a:pPr>
            <a:r>
              <a:rPr lang="en-US" altLang="en-US" i="0" u="none" dirty="0">
                <a:cs typeface="Times New Roman" panose="02020503050405090304" pitchFamily="18" charset="0"/>
                <a:sym typeface="Symbol" panose="05050102010706020507" pitchFamily="18" charset="2"/>
              </a:rPr>
              <a:t>给出前提和结论的形式化表示</a:t>
            </a:r>
            <a:endParaRPr lang="en-US" altLang="zh-CN" i="0" u="none" dirty="0">
              <a:latin typeface="Times New Roman" panose="02020503050405090304" pitchFamily="18" charset="0"/>
              <a:cs typeface="Times New Roman" panose="02020503050405090304" pitchFamily="18" charset="0"/>
              <a:sym typeface="Symbol" panose="05050102010706020507" pitchFamily="18" charset="2"/>
            </a:endParaRPr>
          </a:p>
          <a:p>
            <a:pPr marL="179705" lvl="1" indent="0" algn="just">
              <a:lnSpc>
                <a:spcPct val="120000"/>
              </a:lnSpc>
              <a:spcBef>
                <a:spcPct val="0"/>
              </a:spcBef>
              <a:buClrTx/>
              <a:buSzTx/>
              <a:buNone/>
            </a:pPr>
            <a:r>
              <a:rPr lang="en-US" altLang="en-US" i="0" u="none" dirty="0">
                <a:cs typeface="Times New Roman" panose="02020503050405090304" pitchFamily="18" charset="0"/>
                <a:sym typeface="Symbol" panose="05050102010706020507" pitchFamily="18" charset="2"/>
              </a:rPr>
              <a:t>推理过程要完整</a:t>
            </a:r>
            <a:endParaRPr lang="en-US" altLang="zh-CN" i="0" u="none" dirty="0">
              <a:latin typeface="Times New Roman" panose="02020503050405090304" pitchFamily="18" charset="0"/>
              <a:cs typeface="Times New Roman" panose="02020503050405090304" pitchFamily="18" charset="0"/>
              <a:sym typeface="Symbol" panose="05050102010706020507" pitchFamily="18" charset="2"/>
            </a:endParaRPr>
          </a:p>
          <a:p>
            <a:pPr marL="179705" lvl="1" indent="0" algn="just">
              <a:lnSpc>
                <a:spcPct val="120000"/>
              </a:lnSpc>
              <a:spcBef>
                <a:spcPct val="0"/>
              </a:spcBef>
              <a:buClrTx/>
              <a:buSzTx/>
              <a:buNone/>
            </a:pPr>
            <a:r>
              <a:rPr lang="en-US" altLang="en-US" i="0" u="none" dirty="0">
                <a:cs typeface="Times New Roman" panose="02020503050405090304" pitchFamily="18" charset="0"/>
                <a:sym typeface="Symbol" panose="05050102010706020507" pitchFamily="18" charset="2"/>
              </a:rPr>
              <a:t>给出规范的三列形式</a:t>
            </a:r>
            <a:endParaRPr lang="en-US" altLang="en-US" i="0" u="none" dirty="0">
              <a:cs typeface="Times New Roman" panose="02020503050405090304" pitchFamily="18" charset="0"/>
              <a:sym typeface="Symbol" panose="05050102010706020507" pitchFamily="18" charset="2"/>
            </a:endParaRPr>
          </a:p>
        </p:txBody>
      </p:sp>
    </p:spTree>
  </p:cSld>
  <p:clrMapOvr>
    <a:masterClrMapping/>
  </p:clrMapOvr>
</p:sld>
</file>

<file path=ppt/tags/tag1.xml><?xml version="1.0" encoding="utf-8"?>
<p:tagLst xmlns:p="http://schemas.openxmlformats.org/presentationml/2006/main">
  <p:tag name="LATEXADDIN" val="\documentclass{article}&#10;\usepackage{amsmath}&#10;\usepackage {amssymb}&#10;\pagestyle{empty}&#10;\begin{document}&#10;\begin{tabular}{ll}&#10;{\bf Step} &amp; {\bf Reason}\\&#10;1.  $p \wedge (p \rightarrow q)$ &amp; Premise\\&#10;2. $p$ &amp; Conjunction  using (1)\\&#10;3. $p \rightarrow q$ &amp;  Conjunction using (1)\\&#10;4. $q$ &amp; Modus Ponens using (2) and (3)\\&#10;\end{tabular}&#10;&#10;&#10;\end{document}"/>
  <p:tag name="IGUANATEXSIZE" val="30"/>
</p:tagLst>
</file>

<file path=ppt/tags/tag2.xml><?xml version="1.0" encoding="utf-8"?>
<p:tagLst xmlns:p="http://schemas.openxmlformats.org/presentationml/2006/main">
  <p:tag name="LATEXADDIN" val="\documentclass{article}&#10;\usepackage{amsmath}&#10;\usepackage {amssymb}&#10;\pagestyle{empty}&#10;\begin{document}&#10;$p \wedge (p \rightarrow q)$ &#10;&#10;\end{document}"/>
  <p:tag name="IGUANATEXSIZE" val="30"/>
</p:tagLst>
</file>

<file path=ppt/tags/tag3.xml><?xml version="1.0" encoding="utf-8"?>
<p:tagLst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4.xml><?xml version="1.0" encoding="utf-8"?>
<p:tagLst xmlns:p="http://schemas.openxmlformats.org/presentationml/2006/main">
  <p:tag name="LATEXADDIN" val="\documentclass{article}&#10;\usepackage{amsmath}&#10;\usepackage {amssymb}&#10;\pagestyle{empty}&#10;\begin{document}&#10;\begin{tabular}{ll}&#10;{\bf Step} &amp; {\bf Reason}\\&#10;1.  $\exists x(C(x) \wedge \neg B(x))$ &amp; Premise\\&#10;2. $C(a) \wedge \neg B(a)$ &amp; EI from (1)\\&#10;3. $C(a)$ &amp;  Simplification from (2)\\&#10;4. $\forall x (C(x) \rightarrow P(x))$ &amp; Premise \\&#10;5. $C(a) \rightarrow P(a)$&amp; UI from (4)\\&#10;6. $P(a)$ &amp; MP from (3) and (5)\\&#10;7. $\neg B(a)$ &amp; Simplification from (2)\\&#10;8. $P(a) \wedge \neg B(a)$ &amp; Conj from (6) and (7)\\&#10;9. $\exists x (P(x) \wedge \neg B(x))$ &amp; EG from (8)&#10;\end{tabular}&#10;&#10;&#10;\end{document}"/>
  <p:tag name="IGUANATEXSIZE" val="25"/>
</p:tagLst>
</file>

<file path=ppt/tags/tag5.xml><?xml version="1.0" encoding="utf-8"?>
<p:tagLst xmlns:p="http://schemas.openxmlformats.org/presentationml/2006/main">
  <p:tag name="LATEXADDIN" val="\documentclass{article}&#10;\usepackage{amsmath}&#10;\usepackage {amssymb}&#10;\pagestyle{empty}&#10;\begin{document}&#10;\begin{tabular}{l}&#10;$\exists x (C(x) \wedge \neg B(x))$\\&#10;$\forall x (C(x) \rightarrow P(x))$\\\hline&#10;$\therefore \;\exists x ( P(x) \wedge \neg B(x))$&#10;\end{tabular}&#10;&#10;&#10;\end{document}"/>
  <p:tag name="IGUANATEXSIZE" val="25"/>
</p:tagLst>
</file>

<file path=ppt/tags/tag6.xml><?xml version="1.0" encoding="utf-8"?>
<p:tagLst xmlns:p="http://schemas.openxmlformats.org/presentationml/2006/main">
  <p:tag name="LATEXADDIN" val="\documentclass{article}&#10;\usepackage{amsmath}&#10;\pagestyle{empty}&#10;\begin{document}&#10;&#10;$\forall x (Man(x) \rightarrow Mortal(x))$&#10;&#10;&#10;\end{document}"/>
  <p:tag name="IGUANATEXSIZE" val="30"/>
</p:tagLst>
</file>

<file path=ppt/tags/tag7.xml><?xml version="1.0" encoding="utf-8"?>
<p:tagLst xmlns:p="http://schemas.openxmlformats.org/presentationml/2006/main">
  <p:tag name="LATEXADDIN" val="\documentclass{article}&#10;\usepackage{amsmath}&#10;\pagestyle{empty}&#10;\begin{document}&#10;&#10;$Man(Socrates)$&#10;&#10;&#10;\end{document}"/>
  <p:tag name="IGUANATEXSIZE" val="30"/>
</p:tagLst>
</file>

<file path=ppt/tags/tag8.xml><?xml version="1.0" encoding="utf-8"?>
<p:tagLst xmlns:p="http://schemas.openxmlformats.org/presentationml/2006/main">
  <p:tag name="LATEXADDIN" val="\documentclass{article}&#10;\usepackage{amsmath}&#10;\usepackage{amssymb}&#10;\pagestyle{empty}&#10;\begin{document}&#10;&#10;$\therefore \;\;\;\; Mortal(Socrates)$&#10;&#10;&#10;\end{document}"/>
  <p:tag name="IGUANATEXSIZE" val="30"/>
</p:tagLst>
</file>

<file path=ppt/tags/tag9.xml><?xml version="1.0" encoding="utf-8"?>
<p:tagLst xmlns:p="http://schemas.openxmlformats.org/presentationml/2006/main">
  <p:tag name="LATEXADDIN" val="\documentclass{article}&#10;\usepackage{amsmath}&#10;\usepackage {amssymb}&#10;\pagestyle{empty}&#10;\begin{document}&#10;\begin{tabular}{ll}&#10;{\bf Step} &amp; {\bf Reason}\\&#10;1. $\forall x (Man(x) \rightarrow Mortal(x))$ &amp; Premise \\&#10;2. $Man(Socrates) \rightarrow Mortal(Socrates)$&amp; UI from (4)\\&#10;3. $Man(Socrates)$ &amp; Premise\\&#10;4. $Mortal(Socrates)$ &amp; MP from (2)\\&#10;&amp; and (3)\\&#10;\end{tabular}&#10;&#10;&#10;\end{document}"/>
  <p:tag name="IGUANATEXSIZE" val="27"/>
</p:tagLst>
</file>

<file path=ppt/tags/tag10.xml><?xml version="1.0" encoding="utf-8"?>
<p:tagLst xmlns:p="http://schemas.openxmlformats.org/presentationml/2006/main">
  <p:tag name="KSO_WPP_MARK_KEY" val="45c54568-4110-4c5f-8564-a3de41d47116"/>
  <p:tag name="COMMONDATA" val="eyJoZGlkIjoiYjZhMmY1NGQwZjE0MWY4MTkzZjM4YzBiNDA1ZmM3ZDEifQ=="/>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1" lang="en-US" sz="2400" b="1" i="1" u="sng"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0</TotalTime>
  <Words>9902</Words>
  <Application>WPS 文字</Application>
  <PresentationFormat/>
  <Paragraphs>629</Paragraphs>
  <Slides>42</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42</vt:i4>
      </vt:variant>
    </vt:vector>
  </HeadingPairs>
  <TitlesOfParts>
    <vt:vector size="64" baseType="lpstr">
      <vt:lpstr>Arial</vt:lpstr>
      <vt:lpstr>宋体</vt:lpstr>
      <vt:lpstr>Wingdings</vt:lpstr>
      <vt:lpstr>Times New Roman</vt:lpstr>
      <vt:lpstr>汉仪书宋二KW</vt:lpstr>
      <vt:lpstr>Arial Narrow</vt:lpstr>
      <vt:lpstr>Tahoma</vt:lpstr>
      <vt:lpstr>Copperplate Gothic Light</vt:lpstr>
      <vt:lpstr>苹方-简</vt:lpstr>
      <vt:lpstr>Copperplate Gothic Bold</vt:lpstr>
      <vt:lpstr>Symbol</vt:lpstr>
      <vt:lpstr>Euclid Symbol</vt:lpstr>
      <vt:lpstr>Kingsoft Sign</vt:lpstr>
      <vt:lpstr>微软雅黑</vt:lpstr>
      <vt:lpstr>汉仪旗黑</vt:lpstr>
      <vt:lpstr>宋体</vt:lpstr>
      <vt:lpstr>Arial Unicode MS</vt:lpstr>
      <vt:lpstr>Euclid</vt:lpstr>
      <vt:lpstr>MT Extra</vt:lpstr>
      <vt:lpstr>PingFang SC</vt:lpstr>
      <vt:lpstr>Kingsoft Extra</vt:lpstr>
      <vt:lpstr>Blends</vt:lpstr>
      <vt:lpstr>Rules of Inference</vt:lpstr>
      <vt:lpstr>Outline</vt:lpstr>
      <vt:lpstr>命题逻辑的推理</vt:lpstr>
      <vt:lpstr>关于重言蕴含 </vt:lpstr>
      <vt:lpstr>重言蕴含</vt:lpstr>
      <vt:lpstr>Rules of Inference</vt:lpstr>
      <vt:lpstr>Rules of Inference -推理规则</vt:lpstr>
      <vt:lpstr>Note</vt:lpstr>
      <vt:lpstr>Rules of Inference</vt:lpstr>
      <vt:lpstr>Rules of Inference</vt:lpstr>
      <vt:lpstr>modus ponens(假言推理规则）</vt:lpstr>
      <vt:lpstr>Famous rules of inference</vt:lpstr>
      <vt:lpstr>Famous rules of inference</vt:lpstr>
      <vt:lpstr>Formal Proofs</vt:lpstr>
      <vt:lpstr>Valid Arguments</vt:lpstr>
      <vt:lpstr>Example</vt:lpstr>
      <vt:lpstr>Example</vt:lpstr>
      <vt:lpstr>Example-Formal Proofs</vt:lpstr>
      <vt:lpstr>Example 6 </vt:lpstr>
      <vt:lpstr>Example  6 cont.</vt:lpstr>
      <vt:lpstr>Example cont.</vt:lpstr>
      <vt:lpstr>Resolution</vt:lpstr>
      <vt:lpstr>一阶逻辑推理定律(定义)</vt:lpstr>
      <vt:lpstr>一阶逻辑推理定律(来源)</vt:lpstr>
      <vt:lpstr>一阶逻辑推理定律(举例)</vt:lpstr>
      <vt:lpstr>一阶逻辑推理定律(举例、续)</vt:lpstr>
      <vt:lpstr>推理定律与推理规则</vt:lpstr>
      <vt:lpstr>一阶逻辑的常用推理规则</vt:lpstr>
      <vt:lpstr>UI规则(universal instantiation)</vt:lpstr>
      <vt:lpstr>UG规则(universal generalization)</vt:lpstr>
      <vt:lpstr>EI规则(existential instantiation)</vt:lpstr>
      <vt:lpstr>EG规则(existential generalization)</vt:lpstr>
      <vt:lpstr>构造推理的证明(举例)</vt:lpstr>
      <vt:lpstr>构造推理的证明(举例、续)</vt:lpstr>
      <vt:lpstr>构造推理的证明(举例、续)</vt:lpstr>
      <vt:lpstr>构造推理的证明(举例、续)</vt:lpstr>
      <vt:lpstr>Example</vt:lpstr>
      <vt:lpstr>Example</vt:lpstr>
      <vt:lpstr>Using Rules of Inference</vt:lpstr>
      <vt:lpstr> Using Rules of Inference</vt:lpstr>
      <vt:lpstr>Returning to  the Socrates Example</vt:lpstr>
      <vt:lpstr>Homework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lvsiyao</dc:creator>
  <cp:lastModifiedBy>杨娟</cp:lastModifiedBy>
  <cp:revision>439</cp:revision>
  <cp:lastPrinted>2025-03-17T06:33:54Z</cp:lastPrinted>
  <dcterms:created xsi:type="dcterms:W3CDTF">2025-03-17T06:33:54Z</dcterms:created>
  <dcterms:modified xsi:type="dcterms:W3CDTF">2025-03-17T06:33:54Z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76BAA41AF1934235A7B2B41BD8283240</vt:lpwstr>
  </property>
  <property fmtid="{D5CDD505-2E9C-101B-9397-08002B2CF9AE}" pid="3" name="KSOProductBuildVer">
    <vt:lpwstr>2052-6.9.0.8865</vt:lpwstr>
  </property>
</Properties>
</file>