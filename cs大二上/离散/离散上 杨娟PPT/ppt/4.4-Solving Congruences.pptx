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handoutMasterIdLst>
    <p:handoutMasterId r:id="rId31"/>
  </p:handoutMasterIdLst>
  <p:sldIdLst>
    <p:sldId id="686" r:id="rId3"/>
    <p:sldId id="687" r:id="rId4"/>
    <p:sldId id="774" r:id="rId5"/>
    <p:sldId id="352" r:id="rId6"/>
    <p:sldId id="781" r:id="rId7"/>
    <p:sldId id="353" r:id="rId8"/>
    <p:sldId id="354" r:id="rId9"/>
    <p:sldId id="355" r:id="rId10"/>
    <p:sldId id="775" r:id="rId11"/>
    <p:sldId id="358" r:id="rId12"/>
    <p:sldId id="359" r:id="rId13"/>
    <p:sldId id="360" r:id="rId14"/>
    <p:sldId id="361" r:id="rId15"/>
    <p:sldId id="362" r:id="rId16"/>
    <p:sldId id="777" r:id="rId17"/>
    <p:sldId id="405" r:id="rId18"/>
    <p:sldId id="779" r:id="rId19"/>
    <p:sldId id="758" r:id="rId21"/>
    <p:sldId id="363" r:id="rId22"/>
    <p:sldId id="778" r:id="rId23"/>
    <p:sldId id="364" r:id="rId24"/>
    <p:sldId id="356" r:id="rId25"/>
    <p:sldId id="780" r:id="rId26"/>
    <p:sldId id="759" r:id="rId27"/>
    <p:sldId id="760" r:id="rId28"/>
    <p:sldId id="773" r:id="rId29"/>
    <p:sldId id="750" r:id="rId30"/>
  </p:sldIdLst>
  <p:sldSz cx="9144000" cy="6858000" type="screen4x3"/>
  <p:notesSz cx="6858000" cy="9144000"/>
  <p:custDataLst>
    <p:tags r:id="rId35"/>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9pPr>
  </p:defaultTextStyle>
  <p:extLst>
    <p:ext uri="{EFAFB233-063F-42B5-8137-9DF3F51BA10A}">
      <p15:sldGuideLst xmlns:p15="http://schemas.microsoft.com/office/powerpoint/2012/main">
        <p15:guide id="1" orient="horz" pos="1440" userDrawn="1">
          <p15:clr>
            <a:srgbClr val="A4A3A4"/>
          </p15:clr>
        </p15:guide>
        <p15:guide id="2" pos="48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chemeClr val="tx1"/>
    </p:penClr>
    <p:extLst>
      <p:ext uri="{2FDB2607-1784-4EEB-B798-7EB5836EED8A}">
        <p14:showMediaCtrls xmlns:p14="http://schemas.microsoft.com/office/powerpoint/2010/main" val="1"/>
      </p:ext>
    </p:extLst>
  </p:showPr>
  <p:clrMru>
    <a:srgbClr val="003399"/>
    <a:srgbClr val="CCFF33"/>
    <a:srgbClr val="FF3300"/>
    <a:srgbClr val="336699"/>
    <a:srgbClr val="008080"/>
    <a:srgbClr val="009999"/>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3306"/>
  </p:normalViewPr>
  <p:slideViewPr>
    <p:cSldViewPr showGuides="1">
      <p:cViewPr varScale="1">
        <p:scale>
          <a:sx n="69" d="100"/>
          <a:sy n="69" d="100"/>
        </p:scale>
        <p:origin x="336" y="48"/>
      </p:cViewPr>
      <p:guideLst>
        <p:guide orient="horz" pos="1440"/>
        <p:guide pos="487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75" d="100"/>
        <a:sy n="75" d="100"/>
      </p:scale>
      <p:origin x="0" y="-728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gs" Target="tags/tag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4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0" hangingPunct="0">
              <a:defRPr kumimoji="0" sz="1200" b="0" i="0" u="none"/>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741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kumimoji="0" sz="1200" b="0" i="0" u="none"/>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741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kumimoji="0" sz="1200" b="0" i="0" u="none"/>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741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0" hangingPunct="0">
              <a:defRPr kumimoji="0" sz="1200" b="0" i="0" u="none"/>
            </a:lvl1pPr>
          </a:lstStyle>
          <a:p>
            <a:pPr marL="0" marR="0" lvl="0" indent="0" algn="r" defTabSz="914400" rtl="0" eaLnBrk="0" fontAlgn="base" latinLnBrk="0" hangingPunct="0">
              <a:lnSpc>
                <a:spcPct val="100000"/>
              </a:lnSpc>
              <a:spcBef>
                <a:spcPct val="0"/>
              </a:spcBef>
              <a:spcAft>
                <a:spcPct val="0"/>
              </a:spcAft>
              <a:buClrTx/>
              <a:buSzTx/>
              <a:buFontTx/>
              <a:buNone/>
              <a:defRPr/>
            </a:pPr>
            <a:fld id="{627196C7-19FE-478D-933B-AACBEDEDED32}" type="slidenum">
              <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0" hangingPunct="0">
              <a:defRPr kumimoji="0" sz="1200" b="0" i="0" u="none"/>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5363"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kumimoji="0" sz="1200" b="0" i="0" u="none"/>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3076" name="Rectangle 4"/>
          <p:cNvSpPr>
            <a:spLocks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Second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Third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Fourth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Fifth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5366"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kumimoji="0" sz="1200" b="0" i="0" u="none"/>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0" hangingPunct="0">
              <a:defRPr kumimoji="0" sz="1200" b="0" i="0" u="none"/>
            </a:lvl1pPr>
          </a:lstStyle>
          <a:p>
            <a:pPr marL="0" marR="0" lvl="0" indent="0" algn="r" defTabSz="914400" rtl="0" eaLnBrk="0" fontAlgn="base" latinLnBrk="0" hangingPunct="0">
              <a:lnSpc>
                <a:spcPct val="100000"/>
              </a:lnSpc>
              <a:spcBef>
                <a:spcPct val="0"/>
              </a:spcBef>
              <a:spcAft>
                <a:spcPct val="0"/>
              </a:spcAft>
              <a:buClrTx/>
              <a:buSzTx/>
              <a:buFontTx/>
              <a:buNone/>
              <a:defRPr/>
            </a:pPr>
            <a:fld id="{D9BD8830-3149-477D-A0E5-152A482D5B3B}" type="slidenum">
              <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p:txBody>
          <a:bodyPr wrap="square" lIns="91440" tIns="45720" rIns="91440" bIns="45720" anchor="t" anchorCtr="0"/>
          <a:p>
            <a:pPr lvl="0"/>
            <a:r>
              <a:rPr lang="zh-CN" altLang="zh-CN" dirty="0"/>
              <a:t>将一个大的数变为</a:t>
            </a:r>
            <a:r>
              <a:rPr lang="en-US" altLang="zh-CN" dirty="0"/>
              <a:t>n</a:t>
            </a:r>
            <a:r>
              <a:rPr lang="zh-CN" altLang="zh-CN" dirty="0"/>
              <a:t>元两两互质的小的数</a:t>
            </a:r>
            <a:endParaRPr lang="zh-CN" altLang="en-US" dirty="0"/>
          </a:p>
        </p:txBody>
      </p:sp>
      <p:sp>
        <p:nvSpPr>
          <p:cNvPr id="2355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b="0" i="0" u="none" dirty="0"/>
            </a:fld>
            <a:endParaRPr lang="zh-CN" altLang="en-US" sz="1200" b="0" i="0" u="none"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幻灯片图像占位符 1"/>
          <p:cNvSpPr>
            <a:spLocks noGrp="1" noRot="1" noChangeAspect="1" noTextEdit="1"/>
          </p:cNvSpPr>
          <p:nvPr>
            <p:ph type="sldImg"/>
          </p:nvPr>
        </p:nvSpPr>
        <p:spPr/>
      </p:sp>
      <p:sp>
        <p:nvSpPr>
          <p:cNvPr id="31747" name="备注占位符 2"/>
          <p:cNvSpPr>
            <a:spLocks noGrp="1"/>
          </p:cNvSpPr>
          <p:nvPr>
            <p:ph type="body" idx="1"/>
          </p:nvPr>
        </p:nvSpPr>
        <p:spPr/>
        <p:txBody>
          <a:bodyPr wrap="square" lIns="91440" tIns="45720" rIns="91440" bIns="45720" anchor="t" anchorCtr="0"/>
          <a:p>
            <a:pPr lvl="0"/>
            <a:endParaRPr lang="zh-CN" altLang="en-US" dirty="0"/>
          </a:p>
        </p:txBody>
      </p:sp>
      <p:sp>
        <p:nvSpPr>
          <p:cNvPr id="3174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b="0" i="0" u="none" dirty="0"/>
            </a:fld>
            <a:endParaRPr lang="zh-CN" altLang="en-US" sz="1200" b="0" i="0" u="none"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050" name="Picture 17" descr="attach"/>
          <p:cNvPicPr>
            <a:picLocks noChangeAspect="1"/>
          </p:cNvPicPr>
          <p:nvPr userDrawn="1"/>
        </p:nvPicPr>
        <p:blipFill>
          <a:blip r:embed="rId2"/>
          <a:stretch>
            <a:fillRect/>
          </a:stretch>
        </p:blipFill>
        <p:spPr>
          <a:xfrm>
            <a:off x="1752600" y="533400"/>
            <a:ext cx="5905500" cy="5905500"/>
          </a:xfrm>
          <a:prstGeom prst="rect">
            <a:avLst/>
          </a:prstGeom>
          <a:noFill/>
          <a:ln w="9525">
            <a:noFill/>
          </a:ln>
        </p:spPr>
      </p:pic>
      <p:grpSp>
        <p:nvGrpSpPr>
          <p:cNvPr id="2051" name="Group 2"/>
          <p:cNvGrpSpPr/>
          <p:nvPr/>
        </p:nvGrpSpPr>
        <p:grpSpPr>
          <a:xfrm>
            <a:off x="0" y="2438400"/>
            <a:ext cx="9009063" cy="1052513"/>
            <a:chOff x="0" y="1536"/>
            <a:chExt cx="5675" cy="663"/>
          </a:xfrm>
        </p:grpSpPr>
        <p:grpSp>
          <p:nvGrpSpPr>
            <p:cNvPr id="2057" name="Group 3"/>
            <p:cNvGrpSpPr/>
            <p:nvPr/>
          </p:nvGrpSpPr>
          <p:grpSpPr>
            <a:xfrm>
              <a:off x="185" y="1604"/>
              <a:ext cx="449" cy="299"/>
              <a:chOff x="720" y="336"/>
              <a:chExt cx="624" cy="432"/>
            </a:xfrm>
          </p:grpSpPr>
          <p:sp>
            <p:nvSpPr>
              <p:cNvPr id="24"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1" u="sng"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5"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1" u="sng"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grpSp>
        <p:grpSp>
          <p:nvGrpSpPr>
            <p:cNvPr id="2058" name="Group 6"/>
            <p:cNvGrpSpPr/>
            <p:nvPr/>
          </p:nvGrpSpPr>
          <p:grpSpPr>
            <a:xfrm>
              <a:off x="263" y="1870"/>
              <a:ext cx="466" cy="299"/>
              <a:chOff x="912" y="2640"/>
              <a:chExt cx="672" cy="432"/>
            </a:xfrm>
          </p:grpSpPr>
          <p:sp>
            <p:nvSpPr>
              <p:cNvPr id="22"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1" u="sng"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3"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1" u="sng"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grpSp>
        <p:sp>
          <p:nvSpPr>
            <p:cNvPr id="19"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1" u="sng"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0"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1" u="sng"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1"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1" u="sng"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grpSp>
      <p:sp>
        <p:nvSpPr>
          <p:cNvPr id="153612" name="Rectangle 12"/>
          <p:cNvSpPr>
            <a:spLocks noGrp="1" noChangeArrowheads="1"/>
          </p:cNvSpPr>
          <p:nvPr>
            <p:ph type="ctrTitle"/>
          </p:nvPr>
        </p:nvSpPr>
        <p:spPr>
          <a:xfrm>
            <a:off x="990600" y="2069976"/>
            <a:ext cx="7772400" cy="1143000"/>
          </a:xfrm>
        </p:spPr>
        <p:txBody>
          <a:bodyPr/>
          <a:lstStyle>
            <a:lvl1pPr>
              <a:defRPr sz="4000">
                <a:latin typeface="Copperplate Gothic Bold" panose="020E0705020206020404" pitchFamily="34" charset="0"/>
              </a:defRPr>
            </a:lvl1pPr>
          </a:lstStyle>
          <a:p>
            <a:r>
              <a:rPr lang="zh-CN" altLang="en-US"/>
              <a:t>单击此处编辑母版标题样式</a:t>
            </a:r>
            <a:endParaRPr lang="zh-CN" altLang="en-US"/>
          </a:p>
        </p:txBody>
      </p:sp>
      <p:sp>
        <p:nvSpPr>
          <p:cNvPr id="153613"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26"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sz="1400" b="0" i="0">
                <a:solidFill>
                  <a:schemeClr val="bg2"/>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CF41912-D613-4DDE-8FD6-946B72929E61}" type="datetime1">
              <a:rPr kumimoji="0" lang="zh-CN" altLang="en-US" sz="1400" b="0" i="0" u="none" strike="noStrike" kern="1200" cap="none" spc="0" normalizeH="0" baseline="0" noProof="0">
                <a:ln>
                  <a:noFill/>
                </a:ln>
                <a:solidFill>
                  <a:schemeClr val="bg2"/>
                </a:solidFill>
                <a:effectLst/>
                <a:uLnTx/>
                <a:uFillTx/>
                <a:latin typeface="+mn-lt"/>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mn-lt"/>
              <a:ea typeface="宋体" pitchFamily="2" charset="-122"/>
              <a:cs typeface="+mn-cs"/>
            </a:endParaRPr>
          </a:p>
        </p:txBody>
      </p:sp>
      <p:sp>
        <p:nvSpPr>
          <p:cNvPr id="27"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lnSpc>
                <a:spcPct val="100000"/>
              </a:lnSpc>
              <a:defRPr kumimoji="0" sz="1400" b="0" i="0">
                <a:solidFill>
                  <a:schemeClr val="bg2"/>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mn-lt"/>
              <a:ea typeface="宋体" pitchFamily="2" charset="-122"/>
              <a:cs typeface="+mn-cs"/>
            </a:endParaRPr>
          </a:p>
        </p:txBody>
      </p:sp>
      <p:sp>
        <p:nvSpPr>
          <p:cNvPr id="28"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lvl1pPr>
              <a:defRPr sz="1400" b="0" i="0">
                <a:solidFill>
                  <a:schemeClr val="bg2"/>
                </a:solidFill>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FBC20A5-C1B6-466B-8A62-21A8840D9F6F}"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itchFamily="2" charset="-122"/>
              <a:cs typeface="+mn-cs"/>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721E123-6863-46AE-9E2E-D376FD601B43}"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55B0EB3-C4AF-4F10-B588-779A5C379179}"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721E123-6863-46AE-9E2E-D376FD601B43}"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55B0EB3-C4AF-4F10-B588-779A5C379179}"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721E123-6863-46AE-9E2E-D376FD601B43}"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55B0EB3-C4AF-4F10-B588-779A5C379179}"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721E123-6863-46AE-9E2E-D376FD601B43}"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8" name="日期占位符 7"/>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55B0EB3-C4AF-4F10-B588-779A5C379179}"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9" name="页脚占位符 8"/>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721E123-6863-46AE-9E2E-D376FD601B43}"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4" name="日期占位符 3"/>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55B0EB3-C4AF-4F10-B588-779A5C379179}"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页脚占位符 4"/>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721E123-6863-46AE-9E2E-D376FD601B43}"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3" name="日期占位符 2"/>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55B0EB3-C4AF-4F10-B588-779A5C379179}"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4" name="页脚占位符 3"/>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721E123-6863-46AE-9E2E-D376FD601B43}"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55B0EB3-C4AF-4F10-B588-779A5C379179}"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721E123-6863-46AE-9E2E-D376FD601B43}"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55B0EB3-C4AF-4F10-B588-779A5C379179}"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721E123-6863-46AE-9E2E-D376FD601B43}"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55B0EB3-C4AF-4F10-B588-779A5C379179}"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721E123-6863-46AE-9E2E-D376FD601B43}"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55B0EB3-C4AF-4F10-B588-779A5C379179}"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023938" y="116632"/>
            <a:ext cx="7793037" cy="72008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84213" y="1268413"/>
            <a:ext cx="4059237" cy="48641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895850" y="1268413"/>
            <a:ext cx="4059238" cy="48641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721E123-6863-46AE-9E2E-D376FD601B43}"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55B0EB3-C4AF-4F10-B588-779A5C379179}"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023938" y="0"/>
            <a:ext cx="7793037"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84213" y="1268413"/>
            <a:ext cx="4059237" cy="48641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895850" y="1268413"/>
            <a:ext cx="4059238" cy="2355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895850" y="3776663"/>
            <a:ext cx="4059238" cy="2355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721E123-6863-46AE-9E2E-D376FD601B43}"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日期占位符 6"/>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55B0EB3-C4AF-4F10-B588-779A5C379179}"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8" name="页脚占位符 7"/>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6" name="Picture 18" descr="attach"/>
          <p:cNvPicPr>
            <a:picLocks noChangeAspect="1"/>
          </p:cNvPicPr>
          <p:nvPr userDrawn="1"/>
        </p:nvPicPr>
        <p:blipFill>
          <a:blip r:embed="rId14"/>
          <a:stretch>
            <a:fillRect/>
          </a:stretch>
        </p:blipFill>
        <p:spPr>
          <a:xfrm>
            <a:off x="1908175" y="955675"/>
            <a:ext cx="5616575" cy="5394325"/>
          </a:xfrm>
          <a:prstGeom prst="rect">
            <a:avLst/>
          </a:prstGeom>
          <a:noFill/>
          <a:ln w="9525">
            <a:noFill/>
          </a:ln>
        </p:spPr>
      </p:pic>
      <p:sp>
        <p:nvSpPr>
          <p:cNvPr id="152592" name="Rectangle 16"/>
          <p:cNvSpPr>
            <a:spLocks noGrp="1" noChangeArrowheads="1"/>
          </p:cNvSpPr>
          <p:nvPr>
            <p:ph type="sldNum" sz="quarter" idx="4"/>
          </p:nvPr>
        </p:nvSpPr>
        <p:spPr bwMode="auto">
          <a:xfrm>
            <a:off x="7620000" y="6400800"/>
            <a:ext cx="1524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000" u="none">
                <a:solidFill>
                  <a:srgbClr val="009999"/>
                </a:solidFill>
                <a:latin typeface="Arial Narrow" panose="020B0606020202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721E123-6863-46AE-9E2E-D376FD601B43}"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1028" name="Rectangle 2"/>
          <p:cNvSpPr>
            <a:spLocks noChangeArrowheads="1"/>
          </p:cNvSpPr>
          <p:nvPr/>
        </p:nvSpPr>
        <p:spPr bwMode="ltGray">
          <a:xfrm>
            <a:off x="417513" y="15240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29" name="Rectangle 3"/>
          <p:cNvSpPr>
            <a:spLocks noChangeArrowheads="1"/>
          </p:cNvSpPr>
          <p:nvPr/>
        </p:nvSpPr>
        <p:spPr bwMode="ltGray">
          <a:xfrm>
            <a:off x="800100" y="15240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0" name="Rectangle 4"/>
          <p:cNvSpPr>
            <a:spLocks noChangeArrowheads="1"/>
          </p:cNvSpPr>
          <p:nvPr/>
        </p:nvSpPr>
        <p:spPr bwMode="ltGray">
          <a:xfrm>
            <a:off x="541338" y="404813"/>
            <a:ext cx="422275" cy="522288"/>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1" name="Rectangle 5"/>
          <p:cNvSpPr>
            <a:spLocks noChangeArrowheads="1"/>
          </p:cNvSpPr>
          <p:nvPr/>
        </p:nvSpPr>
        <p:spPr bwMode="ltGray">
          <a:xfrm>
            <a:off x="911225" y="404813"/>
            <a:ext cx="368300" cy="522288"/>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2" name="Rectangle 6"/>
          <p:cNvSpPr>
            <a:spLocks noChangeArrowheads="1"/>
          </p:cNvSpPr>
          <p:nvPr/>
        </p:nvSpPr>
        <p:spPr bwMode="ltGray">
          <a:xfrm>
            <a:off x="127000" y="50165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3" name="Rectangle 7"/>
          <p:cNvSpPr>
            <a:spLocks noChangeArrowheads="1"/>
          </p:cNvSpPr>
          <p:nvPr/>
        </p:nvSpPr>
        <p:spPr bwMode="gray">
          <a:xfrm>
            <a:off x="762000" y="44450"/>
            <a:ext cx="66675" cy="87947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4" name="Rectangle 8"/>
          <p:cNvSpPr>
            <a:spLocks noChangeArrowheads="1"/>
          </p:cNvSpPr>
          <p:nvPr/>
        </p:nvSpPr>
        <p:spPr bwMode="gray">
          <a:xfrm>
            <a:off x="442913" y="83502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i="1" u="sng">
                <a:solidFill>
                  <a:schemeClr val="tx1"/>
                </a:solidFill>
                <a:latin typeface="Times New Roman" panose="02020503050405090304" pitchFamily="18" charset="0"/>
                <a:ea typeface="宋体" pitchFamily="2" charset="-122"/>
              </a:defRPr>
            </a:lvl1pPr>
            <a:lvl2pPr marL="742950" indent="-285750">
              <a:defRPr kumimoji="1" sz="2400" b="1" i="1" u="sng">
                <a:solidFill>
                  <a:schemeClr val="tx1"/>
                </a:solidFill>
                <a:latin typeface="Times New Roman" panose="02020503050405090304" pitchFamily="18" charset="0"/>
                <a:ea typeface="宋体" pitchFamily="2" charset="-122"/>
              </a:defRPr>
            </a:lvl2pPr>
            <a:lvl3pPr marL="1143000" indent="-228600">
              <a:defRPr kumimoji="1" sz="2400" b="1" i="1" u="sng">
                <a:solidFill>
                  <a:schemeClr val="tx1"/>
                </a:solidFill>
                <a:latin typeface="Times New Roman" panose="02020503050405090304" pitchFamily="18" charset="0"/>
                <a:ea typeface="宋体" pitchFamily="2" charset="-122"/>
              </a:defRPr>
            </a:lvl3pPr>
            <a:lvl4pPr marL="1600200" indent="-228600">
              <a:defRPr kumimoji="1" sz="2400" b="1" i="1" u="sng">
                <a:solidFill>
                  <a:schemeClr val="tx1"/>
                </a:solidFill>
                <a:latin typeface="Times New Roman" panose="02020503050405090304" pitchFamily="18" charset="0"/>
                <a:ea typeface="宋体" pitchFamily="2" charset="-122"/>
              </a:defRPr>
            </a:lvl4pPr>
            <a:lvl5pPr marL="2057400" indent="-228600">
              <a:defRPr kumimoji="1" sz="2400" b="1" i="1" u="sng">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i="1" u="sng">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5" name="Rectangle 9"/>
          <p:cNvSpPr>
            <a:spLocks noGrp="1"/>
          </p:cNvSpPr>
          <p:nvPr>
            <p:ph type="title"/>
          </p:nvPr>
        </p:nvSpPr>
        <p:spPr>
          <a:xfrm>
            <a:off x="1150938" y="76200"/>
            <a:ext cx="7793037" cy="738188"/>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36" name="Rectangle 10"/>
          <p:cNvSpPr>
            <a:spLocks noGrp="1"/>
          </p:cNvSpPr>
          <p:nvPr>
            <p:ph type="body" idx="1"/>
          </p:nvPr>
        </p:nvSpPr>
        <p:spPr>
          <a:xfrm>
            <a:off x="417513" y="974725"/>
            <a:ext cx="8537575" cy="540702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52590" name="Rectangle 14"/>
          <p:cNvSpPr>
            <a:spLocks noGrp="1" noChangeArrowheads="1"/>
          </p:cNvSpPr>
          <p:nvPr>
            <p:ph type="dt" sz="half" idx="2"/>
          </p:nvPr>
        </p:nvSpPr>
        <p:spPr bwMode="auto">
          <a:xfrm>
            <a:off x="0" y="6400800"/>
            <a:ext cx="1447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kumimoji="0" sz="1000" u="none">
                <a:solidFill>
                  <a:srgbClr val="009999"/>
                </a:solidFill>
                <a:latin typeface="Arial Narrow" panose="020B060602020203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55B0EB3-C4AF-4F10-B588-779A5C379179}"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152591" name="Rectangle 15"/>
          <p:cNvSpPr>
            <a:spLocks noGrp="1" noChangeArrowheads="1"/>
          </p:cNvSpPr>
          <p:nvPr>
            <p:ph type="ftr" sz="quarter" idx="3"/>
          </p:nvPr>
        </p:nvSpPr>
        <p:spPr bwMode="auto">
          <a:xfrm>
            <a:off x="1447800" y="6400800"/>
            <a:ext cx="629285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lnSpc>
                <a:spcPct val="110000"/>
              </a:lnSpc>
              <a:defRPr sz="1200" u="none">
                <a:solidFill>
                  <a:srgbClr val="009999"/>
                </a:solidFill>
                <a:latin typeface="Arial Narrow" panose="020B0606020202030204" pitchFamily="34" charset="0"/>
              </a:defRPr>
            </a:lvl1pPr>
          </a:lstStyle>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par>
    </p:tnLst>
  </p:timing>
  <p:hf sldNum="0" hdr="0" ftr="0"/>
  <p:txStyles>
    <p:titleStyle>
      <a:lvl1pPr algn="l" rtl="0" eaLnBrk="0" fontAlgn="base" hangingPunct="0">
        <a:spcBef>
          <a:spcPct val="0"/>
        </a:spcBef>
        <a:spcAft>
          <a:spcPct val="0"/>
        </a:spcAft>
        <a:defRPr kumimoji="1" sz="3600" b="1">
          <a:solidFill>
            <a:schemeClr val="tx2"/>
          </a:solidFill>
          <a:latin typeface="+mj-lt"/>
          <a:ea typeface="+mj-ea"/>
          <a:cs typeface="+mj-cs"/>
        </a:defRPr>
      </a:lvl1pPr>
      <a:lvl2pPr algn="l" rtl="0" eaLnBrk="0" fontAlgn="base" hangingPunct="0">
        <a:spcBef>
          <a:spcPct val="0"/>
        </a:spcBef>
        <a:spcAft>
          <a:spcPct val="0"/>
        </a:spcAft>
        <a:defRPr kumimoji="1" sz="3600" b="1">
          <a:solidFill>
            <a:schemeClr val="tx2"/>
          </a:solidFill>
          <a:latin typeface="Copperplate Gothic Light" panose="020E0507020206020404" pitchFamily="34" charset="0"/>
          <a:ea typeface="宋体" pitchFamily="2" charset="-122"/>
        </a:defRPr>
      </a:lvl2pPr>
      <a:lvl3pPr algn="l" rtl="0" eaLnBrk="0" fontAlgn="base" hangingPunct="0">
        <a:spcBef>
          <a:spcPct val="0"/>
        </a:spcBef>
        <a:spcAft>
          <a:spcPct val="0"/>
        </a:spcAft>
        <a:defRPr kumimoji="1" sz="3600" b="1">
          <a:solidFill>
            <a:schemeClr val="tx2"/>
          </a:solidFill>
          <a:latin typeface="Copperplate Gothic Light" panose="020E0507020206020404" pitchFamily="34" charset="0"/>
          <a:ea typeface="宋体" pitchFamily="2" charset="-122"/>
        </a:defRPr>
      </a:lvl3pPr>
      <a:lvl4pPr algn="l" rtl="0" eaLnBrk="0" fontAlgn="base" hangingPunct="0">
        <a:spcBef>
          <a:spcPct val="0"/>
        </a:spcBef>
        <a:spcAft>
          <a:spcPct val="0"/>
        </a:spcAft>
        <a:defRPr kumimoji="1" sz="3600" b="1">
          <a:solidFill>
            <a:schemeClr val="tx2"/>
          </a:solidFill>
          <a:latin typeface="Copperplate Gothic Light" panose="020E0507020206020404" pitchFamily="34" charset="0"/>
          <a:ea typeface="宋体" pitchFamily="2" charset="-122"/>
        </a:defRPr>
      </a:lvl4pPr>
      <a:lvl5pPr algn="l" rtl="0" eaLnBrk="0" fontAlgn="base" hangingPunct="0">
        <a:spcBef>
          <a:spcPct val="0"/>
        </a:spcBef>
        <a:spcAft>
          <a:spcPct val="0"/>
        </a:spcAft>
        <a:defRPr kumimoji="1" sz="3600" b="1">
          <a:solidFill>
            <a:schemeClr val="tx2"/>
          </a:solidFill>
          <a:latin typeface="Copperplate Gothic Light" panose="020E0507020206020404" pitchFamily="34" charset="0"/>
          <a:ea typeface="宋体" pitchFamily="2" charset="-122"/>
        </a:defRPr>
      </a:lvl5pPr>
      <a:lvl6pPr marL="4572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6pPr>
      <a:lvl7pPr marL="9144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7pPr>
      <a:lvl8pPr marL="13716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8pPr>
      <a:lvl9pPr marL="18288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1042988" y="144463"/>
            <a:ext cx="7577137" cy="692150"/>
          </a:xfrm>
        </p:spPr>
        <p:txBody>
          <a:bodyPr vert="horz" wrap="square" lIns="91440" tIns="45720" rIns="91440" bIns="45720" anchor="b" anchorCtr="0"/>
          <a:p>
            <a:pPr eaLnBrk="1" hangingPunct="1"/>
            <a:r>
              <a:rPr lang="en-US" altLang="zh-CN" b="0" dirty="0">
                <a:latin typeface="Copperplate Gothic Bold" panose="020E0705020206020404" pitchFamily="34" charset="0"/>
              </a:rPr>
              <a:t>Solving Congruences</a:t>
            </a:r>
            <a:endParaRPr lang="en-US" altLang="zh-CN" b="0" dirty="0">
              <a:latin typeface="Copperplate Gothic Bold" panose="020E0705020206020404" pitchFamily="34" charset="0"/>
            </a:endParaRPr>
          </a:p>
        </p:txBody>
      </p:sp>
      <p:sp>
        <p:nvSpPr>
          <p:cNvPr id="6147" name="Rectangle 3"/>
          <p:cNvSpPr>
            <a:spLocks noGrp="1"/>
          </p:cNvSpPr>
          <p:nvPr>
            <p:ph idx="1"/>
          </p:nvPr>
        </p:nvSpPr>
        <p:spPr>
          <a:xfrm>
            <a:off x="468313" y="981075"/>
            <a:ext cx="8059737" cy="2735263"/>
          </a:xfrm>
        </p:spPr>
        <p:txBody>
          <a:bodyPr vert="horz" wrap="square" lIns="91440" tIns="45720" rIns="91440" bIns="45720" anchor="t" anchorCtr="0"/>
          <a:p>
            <a:pPr eaLnBrk="1" hangingPunct="1"/>
            <a:r>
              <a:rPr lang="en-US" altLang="zh-CN" b="1" dirty="0">
                <a:latin typeface="Times New Roman" panose="02020503050405090304" pitchFamily="18" charset="0"/>
              </a:rPr>
              <a:t>Definition:</a:t>
            </a:r>
            <a:endParaRPr lang="en-US" altLang="zh-CN" b="1" dirty="0">
              <a:latin typeface="Times New Roman" panose="02020503050405090304" pitchFamily="18" charset="0"/>
            </a:endParaRPr>
          </a:p>
          <a:p>
            <a:pPr lvl="1" eaLnBrk="1" hangingPunct="1"/>
            <a:r>
              <a:rPr lang="en-US" altLang="zh-CN" dirty="0">
                <a:latin typeface="Times New Roman" panose="02020503050405090304" pitchFamily="18" charset="0"/>
              </a:rPr>
              <a:t>A congruence of the form </a:t>
            </a:r>
            <a:r>
              <a:rPr lang="en-US" altLang="zh-CN" i="1" dirty="0">
                <a:latin typeface="Times New Roman" panose="02020503050405090304" pitchFamily="18" charset="0"/>
              </a:rPr>
              <a:t>ax</a:t>
            </a:r>
            <a:r>
              <a:rPr lang="en-US" altLang="zh-CN" dirty="0">
                <a:latin typeface="Times New Roman" panose="02020503050405090304" pitchFamily="18" charset="0"/>
              </a:rPr>
              <a:t> ≡ </a:t>
            </a:r>
            <a:r>
              <a:rPr lang="en-US" altLang="zh-CN" i="1" dirty="0">
                <a:latin typeface="Times New Roman" panose="02020503050405090304" pitchFamily="18" charset="0"/>
              </a:rPr>
              <a:t>b</a:t>
            </a:r>
            <a:r>
              <a:rPr lang="en-US" altLang="zh-CN" dirty="0">
                <a:latin typeface="Times New Roman" panose="02020503050405090304" pitchFamily="18" charset="0"/>
              </a:rPr>
              <a:t> (mod </a:t>
            </a:r>
            <a:r>
              <a:rPr lang="en-US" altLang="zh-CN" i="1" dirty="0">
                <a:latin typeface="Times New Roman" panose="02020503050405090304" pitchFamily="18" charset="0"/>
              </a:rPr>
              <a:t>m</a:t>
            </a:r>
            <a:r>
              <a:rPr lang="en-US" altLang="zh-CN" dirty="0">
                <a:latin typeface="Times New Roman" panose="02020503050405090304" pitchFamily="18" charset="0"/>
              </a:rPr>
              <a:t>), where </a:t>
            </a:r>
            <a:r>
              <a:rPr lang="en-US" altLang="zh-CN" i="1" dirty="0">
                <a:latin typeface="Times New Roman" panose="02020503050405090304" pitchFamily="18" charset="0"/>
              </a:rPr>
              <a:t>m</a:t>
            </a:r>
            <a:r>
              <a:rPr lang="en-US" altLang="zh-CN" dirty="0">
                <a:latin typeface="Times New Roman" panose="02020503050405090304" pitchFamily="18" charset="0"/>
              </a:rPr>
              <a:t> is a positive integer, </a:t>
            </a:r>
            <a:r>
              <a:rPr lang="en-US" altLang="zh-CN" i="1" dirty="0">
                <a:latin typeface="Times New Roman" panose="02020503050405090304" pitchFamily="18" charset="0"/>
              </a:rPr>
              <a:t>a</a:t>
            </a:r>
            <a:r>
              <a:rPr lang="en-US" altLang="zh-CN" dirty="0">
                <a:latin typeface="Times New Roman" panose="02020503050405090304" pitchFamily="18" charset="0"/>
              </a:rPr>
              <a:t> and </a:t>
            </a:r>
            <a:r>
              <a:rPr lang="en-US" altLang="zh-CN" i="1" dirty="0">
                <a:latin typeface="Times New Roman" panose="02020503050405090304" pitchFamily="18" charset="0"/>
              </a:rPr>
              <a:t>b</a:t>
            </a:r>
            <a:r>
              <a:rPr lang="en-US" altLang="zh-CN" dirty="0">
                <a:latin typeface="Times New Roman" panose="02020503050405090304" pitchFamily="18" charset="0"/>
              </a:rPr>
              <a:t> are integers, and </a:t>
            </a:r>
            <a:r>
              <a:rPr lang="en-US" altLang="zh-CN" i="1" dirty="0">
                <a:latin typeface="Times New Roman" panose="02020503050405090304" pitchFamily="18" charset="0"/>
              </a:rPr>
              <a:t>x</a:t>
            </a:r>
            <a:r>
              <a:rPr lang="en-US" altLang="zh-CN" dirty="0">
                <a:latin typeface="Times New Roman" panose="02020503050405090304" pitchFamily="18" charset="0"/>
              </a:rPr>
              <a:t> is a variable, is called a </a:t>
            </a:r>
            <a:r>
              <a:rPr lang="en-US" altLang="zh-CN" b="1" i="1" dirty="0">
                <a:solidFill>
                  <a:srgbClr val="FF0000"/>
                </a:solidFill>
                <a:latin typeface="Times New Roman" panose="02020503050405090304" pitchFamily="18" charset="0"/>
              </a:rPr>
              <a:t>linear congruence</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Such congruences arise throughout number theory and its applications. </a:t>
            </a:r>
            <a:endParaRPr lang="en-US" altLang="zh-CN" dirty="0">
              <a:latin typeface="Times New Roman" panose="02020503050405090304" pitchFamily="18" charset="0"/>
            </a:endParaRPr>
          </a:p>
        </p:txBody>
      </p:sp>
      <p:sp>
        <p:nvSpPr>
          <p:cNvPr id="614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14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15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 </a:t>
            </a:r>
            <a:endParaRPr lang="en-US" altLang="zh-CN" dirty="0">
              <a:latin typeface="Times New Roman" panose="02020503050405090304" pitchFamily="18" charset="0"/>
            </a:endParaRPr>
          </a:p>
        </p:txBody>
      </p:sp>
      <p:sp>
        <p:nvSpPr>
          <p:cNvPr id="1033" name="Rectangle 3"/>
          <p:cNvSpPr>
            <a:spLocks noGrp="1" noChangeArrowheads="1"/>
          </p:cNvSpPr>
          <p:nvPr>
            <p:ph idx="1"/>
          </p:nvPr>
        </p:nvSpPr>
        <p:spPr>
          <a:xfrm>
            <a:off x="417513" y="974725"/>
            <a:ext cx="8537575" cy="497522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sym typeface="Symbol" panose="05050102010706020507" pitchFamily="18" charset="2"/>
              </a:rPr>
              <a:t>How can we solve the linear congruence</a:t>
            </a:r>
            <a:endPar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sym typeface="Symbol" panose="05050102010706020507" pitchFamily="18" charset="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800" b="1" i="0" u="none" strike="noStrike" kern="0" cap="none" spc="0" normalizeH="0" baseline="0" noProof="0" dirty="0">
                <a:ln>
                  <a:noFill/>
                </a:ln>
                <a:solidFill>
                  <a:srgbClr val="FF0000"/>
                </a:solidFill>
                <a:effectLst/>
                <a:uLnTx/>
                <a:uFillTx/>
                <a:latin typeface="Times New Roman" panose="02020503050405090304" pitchFamily="18" charset="0"/>
                <a:ea typeface="+mn-ea"/>
                <a:cs typeface="+mn-cs"/>
                <a:sym typeface="Symbol" panose="05050102010706020507" pitchFamily="18" charset="2"/>
              </a:rPr>
              <a:t>	 	</a:t>
            </a:r>
            <a:r>
              <a:rPr kumimoji="1" lang="en-US" altLang="zh-CN" sz="2800" b="1" i="1" u="none" strike="noStrike" kern="0" cap="none" spc="0" normalizeH="0" baseline="0" noProof="0" dirty="0">
                <a:ln>
                  <a:noFill/>
                </a:ln>
                <a:solidFill>
                  <a:srgbClr val="FF0000"/>
                </a:solidFill>
                <a:effectLst/>
                <a:uLnTx/>
                <a:uFillTx/>
                <a:latin typeface="Times New Roman" panose="02020503050405090304" pitchFamily="18" charset="0"/>
                <a:ea typeface="+mn-ea"/>
                <a:cs typeface="+mn-cs"/>
              </a:rPr>
              <a:t>ax</a:t>
            </a:r>
            <a:r>
              <a:rPr kumimoji="1" lang="en-US" altLang="zh-CN" sz="2800" b="1" i="0" u="none" strike="noStrike" kern="0" cap="none" spc="0" normalizeH="0" baseline="0" noProof="0" dirty="0">
                <a:ln>
                  <a:noFill/>
                </a:ln>
                <a:solidFill>
                  <a:srgbClr val="FF0000"/>
                </a:solidFill>
                <a:effectLst/>
                <a:uLnTx/>
                <a:uFillTx/>
                <a:latin typeface="Times New Roman" panose="02020503050405090304" pitchFamily="18" charset="0"/>
                <a:ea typeface="+mn-ea"/>
                <a:cs typeface="+mn-cs"/>
              </a:rPr>
              <a:t> ≡ </a:t>
            </a:r>
            <a:r>
              <a:rPr kumimoji="1" lang="en-US" altLang="zh-CN" sz="2800" b="1" i="1" u="none" strike="noStrike" kern="0" cap="none" spc="0" normalizeH="0" baseline="0" noProof="0" dirty="0">
                <a:ln>
                  <a:noFill/>
                </a:ln>
                <a:solidFill>
                  <a:srgbClr val="FF0000"/>
                </a:solidFill>
                <a:effectLst/>
                <a:uLnTx/>
                <a:uFillTx/>
                <a:latin typeface="Times New Roman" panose="02020503050405090304" pitchFamily="18" charset="0"/>
                <a:ea typeface="+mn-ea"/>
                <a:cs typeface="+mn-cs"/>
              </a:rPr>
              <a:t>b</a:t>
            </a:r>
            <a:r>
              <a:rPr kumimoji="1" lang="en-US" altLang="zh-CN" sz="2800" b="1" i="0" u="none" strike="noStrike" kern="0" cap="none" spc="0" normalizeH="0" baseline="0" noProof="0" dirty="0">
                <a:ln>
                  <a:noFill/>
                </a:ln>
                <a:solidFill>
                  <a:srgbClr val="FF0000"/>
                </a:solidFill>
                <a:effectLst/>
                <a:uLnTx/>
                <a:uFillTx/>
                <a:latin typeface="Times New Roman" panose="02020503050405090304" pitchFamily="18" charset="0"/>
                <a:ea typeface="+mn-ea"/>
                <a:cs typeface="+mn-cs"/>
              </a:rPr>
              <a:t> (mod </a:t>
            </a:r>
            <a:r>
              <a:rPr kumimoji="1" lang="en-US" altLang="zh-CN" sz="2800" b="1" i="1" u="none" strike="noStrike" kern="0" cap="none" spc="0" normalizeH="0" baseline="0" noProof="0" dirty="0">
                <a:ln>
                  <a:noFill/>
                </a:ln>
                <a:solidFill>
                  <a:srgbClr val="FF0000"/>
                </a:solidFill>
                <a:effectLst/>
                <a:uLnTx/>
                <a:uFillTx/>
                <a:latin typeface="Times New Roman" panose="02020503050405090304" pitchFamily="18" charset="0"/>
                <a:ea typeface="+mn-ea"/>
                <a:cs typeface="+mn-cs"/>
              </a:rPr>
              <a:t>m</a:t>
            </a:r>
            <a:r>
              <a:rPr kumimoji="1" lang="en-US" altLang="zh-CN" sz="2800" b="1" i="0" u="none" strike="noStrike" kern="0" cap="none" spc="0" normalizeH="0" baseline="0" noProof="0" dirty="0">
                <a:ln>
                  <a:noFill/>
                </a:ln>
                <a:solidFill>
                  <a:srgbClr val="FF0000"/>
                </a:solidFill>
                <a:effectLst/>
                <a:uLnTx/>
                <a:uFillTx/>
                <a:latin typeface="Times New Roman" panose="02020503050405090304" pitchFamily="18" charset="0"/>
                <a:ea typeface="+mn-ea"/>
                <a:cs typeface="+mn-cs"/>
              </a:rPr>
              <a:t>)</a:t>
            </a:r>
            <a:r>
              <a:rPr kumimoji="1" lang="en-US" altLang="zh-CN" sz="2800" b="1" i="0" u="none" strike="noStrike" kern="0" cap="none" spc="0" normalizeH="0" baseline="0" noProof="0" dirty="0">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endParaRPr kumimoji="1" lang="en-US" altLang="zh-CN" sz="2800" b="1" i="0" u="none" strike="noStrike" kern="0" cap="none" spc="0" normalizeH="0" baseline="0" noProof="0" dirty="0">
              <a:ln>
                <a:noFill/>
              </a:ln>
              <a:solidFill>
                <a:srgbClr val="FF0000"/>
              </a:solidFill>
              <a:effectLst/>
              <a:uLnTx/>
              <a:uFillTx/>
              <a:latin typeface="Times New Roman" panose="02020503050405090304" pitchFamily="18" charset="0"/>
              <a:ea typeface="+mn-ea"/>
              <a:cs typeface="+mn-cs"/>
              <a:sym typeface="Symbol" panose="05050102010706020507" pitchFamily="18" charset="2"/>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sym typeface="Symbol" panose="05050102010706020507" pitchFamily="18" charset="2"/>
              </a:rPr>
              <a:t>Method:</a:t>
            </a:r>
            <a:endPar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sym typeface="Symbol" panose="05050102010706020507" pitchFamily="18" charset="2"/>
            </a:endParaRPr>
          </a:p>
          <a:p>
            <a:pPr marL="742950" marR="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sym typeface="Symbol" panose="05050102010706020507" pitchFamily="18" charset="2"/>
              </a:rPr>
              <a:t>One method that we will describe uses an integer if such an integer exists. Such an integer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ā</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sym typeface="Symbol" panose="05050102010706020507" pitchFamily="18" charset="2"/>
              </a:rPr>
              <a:t> is said to be an </a:t>
            </a:r>
            <a:r>
              <a:rPr kumimoji="1" lang="en-US" altLang="zh-CN" sz="2400" b="1" i="0" u="none" strike="noStrike" kern="0" cap="none" spc="0" normalizeH="0" baseline="0" noProof="0" dirty="0">
                <a:ln>
                  <a:noFill/>
                </a:ln>
                <a:solidFill>
                  <a:schemeClr val="tx1"/>
                </a:solidFill>
                <a:effectLst/>
                <a:uLnTx/>
                <a:uFillTx/>
                <a:latin typeface="Times New Roman" panose="02020503050405090304" pitchFamily="18" charset="0"/>
                <a:ea typeface="+mn-ea"/>
                <a:sym typeface="Symbol" panose="05050102010706020507" pitchFamily="18" charset="2"/>
              </a:rPr>
              <a:t>inverse of </a:t>
            </a:r>
            <a:r>
              <a:rPr kumimoji="1" lang="en-US" altLang="zh-CN" sz="2400" b="1" i="1" u="none" strike="noStrike" kern="0" cap="none" spc="0" normalizeH="0" baseline="0" noProof="0" dirty="0">
                <a:ln>
                  <a:noFill/>
                </a:ln>
                <a:solidFill>
                  <a:schemeClr val="tx1"/>
                </a:solidFill>
                <a:effectLst/>
                <a:uLnTx/>
                <a:uFillTx/>
                <a:latin typeface="Times New Roman" panose="02020503050405090304" pitchFamily="18" charset="0"/>
                <a:ea typeface="+mn-ea"/>
                <a:sym typeface="Symbol" panose="05050102010706020507" pitchFamily="18" charset="2"/>
              </a:rPr>
              <a:t>a</a:t>
            </a:r>
            <a:r>
              <a:rPr kumimoji="1" lang="en-US" altLang="zh-CN" sz="2400" b="1" i="0" u="none" strike="noStrike" kern="0" cap="none" spc="0" normalizeH="0" baseline="0" noProof="0" dirty="0">
                <a:ln>
                  <a:noFill/>
                </a:ln>
                <a:solidFill>
                  <a:schemeClr val="tx1"/>
                </a:solidFill>
                <a:effectLst/>
                <a:uLnTx/>
                <a:uFillTx/>
                <a:latin typeface="Times New Roman" panose="02020503050405090304" pitchFamily="18" charset="0"/>
                <a:ea typeface="+mn-ea"/>
                <a:sym typeface="Symbol" panose="05050102010706020507" pitchFamily="18" charset="2"/>
              </a:rPr>
              <a:t> modulo </a:t>
            </a:r>
            <a:r>
              <a:rPr kumimoji="1" lang="en-US" altLang="zh-CN" sz="2400" b="1" i="1" u="none" strike="noStrike" kern="0" cap="none" spc="0" normalizeH="0" baseline="0" noProof="0" dirty="0">
                <a:ln>
                  <a:noFill/>
                </a:ln>
                <a:solidFill>
                  <a:schemeClr val="tx1"/>
                </a:solidFill>
                <a:effectLst/>
                <a:uLnTx/>
                <a:uFillTx/>
                <a:latin typeface="Times New Roman" panose="02020503050405090304" pitchFamily="18" charset="0"/>
                <a:ea typeface="+mn-ea"/>
                <a:sym typeface="Symbol" panose="05050102010706020507" pitchFamily="18" charset="2"/>
              </a:rPr>
              <a:t>m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sym typeface="Symbol" panose="05050102010706020507" pitchFamily="18" charset="2"/>
              </a:rPr>
              <a:t>(</a:t>
            </a:r>
            <a:r>
              <a:rPr kumimoji="1" lang="en-US" altLang="zh-CN" sz="2200" b="0" i="1" u="none" strike="noStrike" kern="0" cap="none" spc="0" normalizeH="0" baseline="0" noProof="0" dirty="0">
                <a:ln>
                  <a:noFill/>
                </a:ln>
                <a:solidFill>
                  <a:schemeClr val="tx1"/>
                </a:solidFill>
                <a:effectLst/>
                <a:uLnTx/>
                <a:uFillTx/>
                <a:latin typeface="Times New Roman" panose="02020503050405090304" pitchFamily="18" charset="0"/>
                <a:ea typeface="+mn-ea"/>
                <a:sym typeface="Symbol" panose="05050102010706020507" pitchFamily="18" charset="2"/>
              </a:rPr>
              <a:t>a</a:t>
            </a:r>
            <a:r>
              <a:rPr kumimoji="1" lang="zh-CN" altLang="en-US" sz="2200" b="0" i="1" u="none" strike="noStrike" kern="0" cap="none" spc="0" normalizeH="0" baseline="0" noProof="0" dirty="0">
                <a:ln>
                  <a:noFill/>
                </a:ln>
                <a:solidFill>
                  <a:schemeClr val="tx1"/>
                </a:solidFill>
                <a:effectLst/>
                <a:uLnTx/>
                <a:uFillTx/>
                <a:latin typeface="Times New Roman" panose="02020503050405090304" pitchFamily="18" charset="0"/>
                <a:ea typeface="+mn-ea"/>
                <a:sym typeface="Symbol" panose="05050102010706020507" pitchFamily="18" charset="2"/>
              </a:rPr>
              <a:t>模</a:t>
            </a:r>
            <a:r>
              <a:rPr kumimoji="1" lang="en-US" altLang="zh-CN" sz="2200" b="0" i="1" u="none" strike="noStrike" kern="0" cap="none" spc="0" normalizeH="0" baseline="0" noProof="0" dirty="0">
                <a:ln>
                  <a:noFill/>
                </a:ln>
                <a:solidFill>
                  <a:schemeClr val="tx1"/>
                </a:solidFill>
                <a:effectLst/>
                <a:uLnTx/>
                <a:uFillTx/>
                <a:latin typeface="Times New Roman" panose="02020503050405090304" pitchFamily="18" charset="0"/>
                <a:ea typeface="+mn-ea"/>
                <a:sym typeface="Symbol" panose="05050102010706020507" pitchFamily="18" charset="2"/>
              </a:rPr>
              <a:t>m</a:t>
            </a:r>
            <a:r>
              <a:rPr kumimoji="1" lang="zh-CN" altLang="en-US" sz="2200" b="0" i="1" u="none" strike="noStrike" kern="0" cap="none" spc="0" normalizeH="0" baseline="0" noProof="0" dirty="0">
                <a:ln>
                  <a:noFill/>
                </a:ln>
                <a:solidFill>
                  <a:schemeClr val="tx1"/>
                </a:solidFill>
                <a:effectLst/>
                <a:uLnTx/>
                <a:uFillTx/>
                <a:latin typeface="Times New Roman" panose="02020503050405090304" pitchFamily="18" charset="0"/>
                <a:ea typeface="+mn-ea"/>
                <a:sym typeface="Symbol" panose="05050102010706020507" pitchFamily="18" charset="2"/>
              </a:rPr>
              <a:t>的逆元</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sym typeface="Symbol" panose="05050102010706020507" pitchFamily="18" charset="2"/>
              </a:rPr>
              <a:t>)</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sym typeface="Symbol" panose="05050102010706020507" pitchFamily="18" charset="2"/>
              </a:rPr>
              <a:t>.</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sym typeface="Symbol" panose="05050102010706020507" pitchFamily="18" charset="2"/>
            </a:endParaRPr>
          </a:p>
          <a:p>
            <a:pPr marL="457200" marR="0" lvl="1" indent="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None/>
              <a:defRPr/>
            </a:pPr>
            <a:r>
              <a:rPr kumimoji="0" lang="en-US" altLang="zh-CN" sz="2400" b="1" i="1" u="none" strike="noStrike" kern="0" cap="none" spc="0" normalizeH="0" baseline="0" noProof="0" dirty="0">
                <a:ln>
                  <a:noFill/>
                </a:ln>
                <a:solidFill>
                  <a:srgbClr val="FF0000"/>
                </a:solidFill>
                <a:effectLst/>
                <a:uLnTx/>
                <a:uFillTx/>
                <a:latin typeface="Times New Roman" panose="02020503050405090304" pitchFamily="18" charset="0"/>
                <a:ea typeface="+mn-ea"/>
                <a:sym typeface="Symbol" panose="05050102010706020507" pitchFamily="18" charset="2"/>
              </a:rPr>
              <a:t>		</a:t>
            </a:r>
            <a:r>
              <a:rPr kumimoji="0" lang="en-US" altLang="zh-CN" sz="2800" b="1" i="1" u="none" strike="noStrike" kern="0" cap="none" spc="0" normalizeH="0" baseline="0" noProof="0" dirty="0" err="1">
                <a:ln>
                  <a:noFill/>
                </a:ln>
                <a:solidFill>
                  <a:srgbClr val="FF0000"/>
                </a:solidFill>
                <a:effectLst/>
                <a:uLnTx/>
                <a:uFillTx/>
                <a:latin typeface="Times New Roman" panose="02020503050405090304" pitchFamily="18" charset="0"/>
                <a:ea typeface="+mn-ea"/>
              </a:rPr>
              <a:t>ā</a:t>
            </a:r>
            <a:r>
              <a:rPr kumimoji="1" lang="en-US" altLang="zh-CN" sz="2800" b="1" i="1" u="none" strike="noStrike" kern="0" cap="none" spc="0" normalizeH="0" baseline="0" noProof="0" dirty="0" err="1">
                <a:ln>
                  <a:noFill/>
                </a:ln>
                <a:solidFill>
                  <a:srgbClr val="FF0000"/>
                </a:solidFill>
                <a:effectLst/>
                <a:uLnTx/>
                <a:uFillTx/>
                <a:latin typeface="Times New Roman" panose="02020503050405090304" pitchFamily="18" charset="0"/>
                <a:ea typeface="+mn-ea"/>
                <a:sym typeface="Symbol" panose="05050102010706020507" pitchFamily="18" charset="2"/>
              </a:rPr>
              <a:t>a</a:t>
            </a:r>
            <a:r>
              <a:rPr kumimoji="1" lang="en-US" altLang="zh-CN" sz="2800" b="1" i="1" u="none" strike="noStrike" kern="0" cap="none" spc="0" normalizeH="0" baseline="0" noProof="0" dirty="0">
                <a:ln>
                  <a:noFill/>
                </a:ln>
                <a:solidFill>
                  <a:srgbClr val="FF0000"/>
                </a:solidFill>
                <a:effectLst/>
                <a:uLnTx/>
                <a:uFillTx/>
                <a:latin typeface="Times New Roman" panose="02020503050405090304" pitchFamily="18" charset="0"/>
                <a:ea typeface="+mn-ea"/>
                <a:sym typeface="Symbol" panose="05050102010706020507" pitchFamily="18" charset="2"/>
              </a:rPr>
              <a:t> </a:t>
            </a:r>
            <a:r>
              <a:rPr kumimoji="1" lang="en-US" altLang="zh-CN" sz="2800" b="1" i="0" u="none" strike="noStrike" kern="0" cap="none" spc="0" normalizeH="0" baseline="0" noProof="0" dirty="0">
                <a:ln>
                  <a:noFill/>
                </a:ln>
                <a:solidFill>
                  <a:srgbClr val="FF0000"/>
                </a:solidFill>
                <a:effectLst/>
                <a:uLnTx/>
                <a:uFillTx/>
                <a:latin typeface="Times New Roman" panose="02020503050405090304" pitchFamily="18" charset="0"/>
                <a:ea typeface="+mn-ea"/>
              </a:rPr>
              <a:t>≡ </a:t>
            </a:r>
            <a:r>
              <a:rPr kumimoji="1" lang="en-US" altLang="zh-CN" sz="2800" b="1" i="1" u="none" strike="noStrike" kern="0" cap="none" spc="0" normalizeH="0" baseline="0" noProof="0" dirty="0">
                <a:ln>
                  <a:noFill/>
                </a:ln>
                <a:solidFill>
                  <a:srgbClr val="FF0000"/>
                </a:solidFill>
                <a:effectLst/>
                <a:uLnTx/>
                <a:uFillTx/>
                <a:latin typeface="Times New Roman" panose="02020503050405090304" pitchFamily="18" charset="0"/>
                <a:ea typeface="+mn-ea"/>
                <a:sym typeface="Symbol" panose="05050102010706020507" pitchFamily="18" charset="2"/>
              </a:rPr>
              <a:t>1 (mod m)</a:t>
            </a:r>
            <a:endParaRPr kumimoji="1" lang="en-US" altLang="zh-CN" sz="2800" b="1" i="1" u="none" strike="noStrike" kern="0" cap="none" spc="0" normalizeH="0" baseline="0" noProof="0" dirty="0">
              <a:ln>
                <a:noFill/>
              </a:ln>
              <a:solidFill>
                <a:srgbClr val="FF0000"/>
              </a:solidFill>
              <a:effectLst/>
              <a:uLnTx/>
              <a:uFillTx/>
              <a:latin typeface="Times New Roman" panose="02020503050405090304" pitchFamily="18" charset="0"/>
              <a:ea typeface="+mn-ea"/>
              <a:sym typeface="Symbol" panose="05050102010706020507" pitchFamily="18" charset="2"/>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sym typeface="Symbol" panose="05050102010706020507" pitchFamily="18" charset="2"/>
              </a:rPr>
              <a:t>Example: </a:t>
            </a:r>
            <a:endPar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sym typeface="Symbol" panose="05050102010706020507" pitchFamily="18" charset="2"/>
            </a:endParaRPr>
          </a:p>
          <a:p>
            <a:pPr marL="742950" marR="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ea"/>
                <a:sym typeface="Symbol" panose="05050102010706020507" pitchFamily="18" charset="2"/>
              </a:rPr>
              <a:t>find  an inverse of 3 modulo 7.</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ea"/>
              <a:sym typeface="Symbol" panose="05050102010706020507" pitchFamily="18" charset="2"/>
            </a:endParaRPr>
          </a:p>
          <a:p>
            <a:pPr marL="742950" marR="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ea"/>
                <a:sym typeface="Symbol" panose="05050102010706020507" pitchFamily="18" charset="2"/>
              </a:rPr>
              <a:t>since 5∙3 = 15 ≡ 1 (mod 7),</a:t>
            </a:r>
            <a:r>
              <a:rPr kumimoji="1" lang="zh-CN" altLang="en-US"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ea"/>
                <a:sym typeface="Symbol" panose="05050102010706020507" pitchFamily="18" charset="2"/>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ea"/>
                <a:sym typeface="Symbol" panose="05050102010706020507" pitchFamily="18" charset="2"/>
              </a:rPr>
              <a:t>5</a:t>
            </a:r>
            <a:r>
              <a:rPr kumimoji="1" lang="zh-CN" altLang="en-US"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ea"/>
                <a:sym typeface="Symbol" panose="05050102010706020507" pitchFamily="18" charset="2"/>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ea"/>
                <a:sym typeface="Symbol" panose="05050102010706020507" pitchFamily="18" charset="2"/>
              </a:rPr>
              <a:t>is</a:t>
            </a:r>
            <a:r>
              <a:rPr kumimoji="1" lang="zh-CN" altLang="en-US"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ea"/>
                <a:sym typeface="Symbol" panose="05050102010706020507" pitchFamily="18" charset="2"/>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ea"/>
                <a:sym typeface="Symbol" panose="05050102010706020507" pitchFamily="18" charset="2"/>
              </a:rPr>
              <a:t>solution.</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ea"/>
              <a:sym typeface="Symbol" panose="05050102010706020507" pitchFamily="18" charset="2"/>
            </a:endParaRPr>
          </a:p>
        </p:txBody>
      </p:sp>
      <p:sp>
        <p:nvSpPr>
          <p:cNvPr id="717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17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17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10" name="Rectangle 2"/>
          <p:cNvSpPr txBox="1">
            <a:spLocks noChangeArrowheads="1"/>
          </p:cNvSpPr>
          <p:nvPr/>
        </p:nvSpPr>
        <p:spPr bwMode="auto">
          <a:xfrm>
            <a:off x="1042988" y="144463"/>
            <a:ext cx="7577138"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3600" b="1">
                <a:solidFill>
                  <a:schemeClr val="tx2"/>
                </a:solidFill>
                <a:latin typeface="+mj-lt"/>
                <a:ea typeface="+mj-ea"/>
                <a:cs typeface="+mj-cs"/>
              </a:defRPr>
            </a:lvl1pPr>
            <a:lvl2pPr algn="l" rtl="0" eaLnBrk="0" fontAlgn="base" hangingPunct="0">
              <a:spcBef>
                <a:spcPct val="0"/>
              </a:spcBef>
              <a:spcAft>
                <a:spcPct val="0"/>
              </a:spcAft>
              <a:defRPr kumimoji="1" sz="3600" b="1">
                <a:solidFill>
                  <a:schemeClr val="tx2"/>
                </a:solidFill>
                <a:latin typeface="Copperplate Gothic Light" panose="020E0507020206020404" pitchFamily="34" charset="0"/>
                <a:ea typeface="宋体" pitchFamily="2" charset="-122"/>
              </a:defRPr>
            </a:lvl2pPr>
            <a:lvl3pPr algn="l" rtl="0" eaLnBrk="0" fontAlgn="base" hangingPunct="0">
              <a:spcBef>
                <a:spcPct val="0"/>
              </a:spcBef>
              <a:spcAft>
                <a:spcPct val="0"/>
              </a:spcAft>
              <a:defRPr kumimoji="1" sz="3600" b="1">
                <a:solidFill>
                  <a:schemeClr val="tx2"/>
                </a:solidFill>
                <a:latin typeface="Copperplate Gothic Light" panose="020E0507020206020404" pitchFamily="34" charset="0"/>
                <a:ea typeface="宋体" pitchFamily="2" charset="-122"/>
              </a:defRPr>
            </a:lvl3pPr>
            <a:lvl4pPr algn="l" rtl="0" eaLnBrk="0" fontAlgn="base" hangingPunct="0">
              <a:spcBef>
                <a:spcPct val="0"/>
              </a:spcBef>
              <a:spcAft>
                <a:spcPct val="0"/>
              </a:spcAft>
              <a:defRPr kumimoji="1" sz="3600" b="1">
                <a:solidFill>
                  <a:schemeClr val="tx2"/>
                </a:solidFill>
                <a:latin typeface="Copperplate Gothic Light" panose="020E0507020206020404" pitchFamily="34" charset="0"/>
                <a:ea typeface="宋体" pitchFamily="2" charset="-122"/>
              </a:defRPr>
            </a:lvl4pPr>
            <a:lvl5pPr algn="l" rtl="0" eaLnBrk="0" fontAlgn="base" hangingPunct="0">
              <a:spcBef>
                <a:spcPct val="0"/>
              </a:spcBef>
              <a:spcAft>
                <a:spcPct val="0"/>
              </a:spcAft>
              <a:defRPr kumimoji="1" sz="3600" b="1">
                <a:solidFill>
                  <a:schemeClr val="tx2"/>
                </a:solidFill>
                <a:latin typeface="Copperplate Gothic Light" panose="020E0507020206020404" pitchFamily="34" charset="0"/>
                <a:ea typeface="宋体" pitchFamily="2" charset="-122"/>
              </a:defRPr>
            </a:lvl5pPr>
            <a:lvl6pPr marL="4572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6pPr>
            <a:lvl7pPr marL="9144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7pPr>
            <a:lvl8pPr marL="13716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8pPr>
            <a:lvl9pPr marL="18288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dirty="0">
                <a:ln>
                  <a:noFill/>
                </a:ln>
                <a:solidFill>
                  <a:schemeClr val="tx2"/>
                </a:solidFill>
                <a:effectLst/>
                <a:uLnTx/>
                <a:uFillTx/>
                <a:latin typeface="Copperplate Gothic Bold" panose="020E0705020206020404" pitchFamily="34" charset="0"/>
                <a:ea typeface="+mj-ea"/>
                <a:cs typeface="+mj-cs"/>
              </a:rPr>
              <a:t>Solving Congruences</a:t>
            </a:r>
            <a:endParaRPr kumimoji="1" lang="en-US" altLang="zh-CN" sz="3600" b="0" i="0" u="none" strike="noStrike" kern="0" cap="none" spc="0" normalizeH="0" baseline="0" noProof="0" dirty="0">
              <a:ln>
                <a:noFill/>
              </a:ln>
              <a:solidFill>
                <a:schemeClr val="tx2"/>
              </a:solidFill>
              <a:effectLst/>
              <a:uLnTx/>
              <a:uFillTx/>
              <a:latin typeface="Copperplate Gothic Bold" panose="020E0705020206020404" pitchFamily="34" charset="0"/>
              <a:ea typeface="+mj-ea"/>
              <a:cs typeface="+mj-cs"/>
            </a:endParaRPr>
          </a:p>
        </p:txBody>
      </p:sp>
      <p:sp>
        <p:nvSpPr>
          <p:cNvPr id="2" name="矩形 1"/>
          <p:cNvSpPr/>
          <p:nvPr/>
        </p:nvSpPr>
        <p:spPr>
          <a:xfrm>
            <a:off x="6372225" y="5084763"/>
            <a:ext cx="1584325" cy="461963"/>
          </a:xfrm>
          <a:prstGeom prst="rect">
            <a:avLst/>
          </a:prstGeom>
          <a:solidFill>
            <a:schemeClr val="accent2"/>
          </a:solidFill>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ea"/>
                <a:sym typeface="Symbol" panose="05050102010706020507" pitchFamily="18" charset="2"/>
              </a:rPr>
              <a:t>7 | (3x-1)</a:t>
            </a:r>
            <a:endParaRPr kumimoji="0" lang="zh-CN" altLang="en-US" sz="2400" b="1" i="1"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cs"/>
            </a:endParaRPr>
          </a:p>
        </p:txBody>
      </p:sp>
      <p:sp>
        <p:nvSpPr>
          <p:cNvPr id="11" name="矩形 10"/>
          <p:cNvSpPr/>
          <p:nvPr/>
        </p:nvSpPr>
        <p:spPr>
          <a:xfrm>
            <a:off x="5435600" y="3789363"/>
            <a:ext cx="1490663" cy="461963"/>
          </a:xfrm>
          <a:prstGeom prst="rect">
            <a:avLst/>
          </a:prstGeom>
          <a:solidFill>
            <a:schemeClr val="accent2"/>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ea"/>
                <a:sym typeface="Symbol" panose="05050102010706020507" pitchFamily="18" charset="2"/>
              </a:rPr>
              <a:t>m | (</a:t>
            </a:r>
            <a:r>
              <a:rPr kumimoji="0" lang="en-US" altLang="zh-CN" sz="2400" b="1" i="1"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cs"/>
              </a:rPr>
              <a:t>ā</a:t>
            </a:r>
            <a:r>
              <a:rPr kumimoji="0" lang="en-US" altLang="zh-CN" sz="2400" b="1" i="1"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ea"/>
                <a:sym typeface="Symbol" panose="05050102010706020507" pitchFamily="18" charset="2"/>
              </a:rPr>
              <a:t>a-1) </a:t>
            </a:r>
            <a:endParaRPr kumimoji="0" lang="zh-CN" altLang="en-US" sz="2400" b="1" i="1"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itle 1"/>
          <p:cNvSpPr>
            <a:spLocks noGrp="1"/>
          </p:cNvSpPr>
          <p:nvPr>
            <p:ph type="title"/>
          </p:nvPr>
        </p:nvSpPr>
        <p:spPr/>
        <p:txBody>
          <a:bodyPr vert="horz" wrap="square" lIns="91440" tIns="45720" rIns="91440" bIns="45720" anchor="b" anchorCtr="0"/>
          <a:p>
            <a:pPr eaLnBrk="1" hangingPunct="1"/>
            <a:r>
              <a:rPr lang="en-US" altLang="zh-CN" b="0" dirty="0">
                <a:latin typeface="Copperplate Gothic Bold" panose="020E0705020206020404" pitchFamily="34" charset="0"/>
              </a:rPr>
              <a:t>Inverse of a modulo m</a:t>
            </a:r>
            <a:endParaRPr lang="en-US" altLang="zh-CN" b="0" dirty="0">
              <a:latin typeface="Copperplate Gothic Bold" panose="020E0705020206020404" pitchFamily="34" charset="0"/>
            </a:endParaRPr>
          </a:p>
        </p:txBody>
      </p:sp>
      <p:sp>
        <p:nvSpPr>
          <p:cNvPr id="8195" name="Content Placeholder 2"/>
          <p:cNvSpPr>
            <a:spLocks noGrp="1" noChangeArrowheads="1"/>
          </p:cNvSpPr>
          <p:nvPr>
            <p:ph idx="1"/>
          </p:nvPr>
        </p:nvSpPr>
        <p:spPr>
          <a:xfrm>
            <a:off x="468313" y="981075"/>
            <a:ext cx="8218488" cy="5354638"/>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ts val="6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Theorem 1:</a:t>
            </a:r>
            <a:endPar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742950" marR="0" lvl="1" indent="-285750" algn="just"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If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a</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and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m</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are relatively prime integers and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m</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&gt; 1, then an inverse of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a</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modulo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m</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exists. </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742950" marR="0" lvl="1" indent="-285750" algn="just"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200" b="0" i="0" u="none" strike="noStrike" kern="0" cap="none" spc="0" normalizeH="0" baseline="0" noProof="0" dirty="0">
                <a:ln>
                  <a:noFill/>
                </a:ln>
                <a:solidFill>
                  <a:schemeClr val="tx1"/>
                </a:solidFill>
                <a:effectLst/>
                <a:uLnTx/>
                <a:uFillTx/>
                <a:latin typeface="Times New Roman" panose="02020503050405090304" pitchFamily="18" charset="0"/>
                <a:ea typeface="+mn-ea"/>
              </a:rPr>
              <a:t>Two integers </a:t>
            </a:r>
            <a:r>
              <a:rPr kumimoji="1" lang="en-US" altLang="zh-CN" sz="2200" b="0" i="1" u="none" strike="noStrike" kern="0" cap="none" spc="0" normalizeH="0" baseline="0" noProof="0" dirty="0">
                <a:ln>
                  <a:noFill/>
                </a:ln>
                <a:solidFill>
                  <a:schemeClr val="tx1"/>
                </a:solidFill>
                <a:effectLst/>
                <a:uLnTx/>
                <a:uFillTx/>
                <a:latin typeface="Times New Roman" panose="02020503050405090304" pitchFamily="18" charset="0"/>
                <a:ea typeface="+mn-ea"/>
              </a:rPr>
              <a:t>a</a:t>
            </a:r>
            <a:r>
              <a:rPr kumimoji="1" lang="en-US" altLang="zh-CN" sz="2200" b="0" i="0" u="none" strike="noStrike" kern="0" cap="none" spc="0" normalizeH="0" baseline="0" noProof="0" dirty="0">
                <a:ln>
                  <a:noFill/>
                </a:ln>
                <a:solidFill>
                  <a:schemeClr val="tx1"/>
                </a:solidFill>
                <a:effectLst/>
                <a:uLnTx/>
                <a:uFillTx/>
                <a:latin typeface="Times New Roman" panose="02020503050405090304" pitchFamily="18" charset="0"/>
                <a:ea typeface="+mn-ea"/>
              </a:rPr>
              <a:t> and </a:t>
            </a:r>
            <a:r>
              <a:rPr kumimoji="1" lang="en-US" altLang="zh-CN" sz="2200" b="0" i="1" u="none" strike="noStrike" kern="0" cap="none" spc="0" normalizeH="0" baseline="0" noProof="0" dirty="0">
                <a:ln>
                  <a:noFill/>
                </a:ln>
                <a:solidFill>
                  <a:schemeClr val="tx1"/>
                </a:solidFill>
                <a:effectLst/>
                <a:uLnTx/>
                <a:uFillTx/>
                <a:latin typeface="Times New Roman" panose="02020503050405090304" pitchFamily="18" charset="0"/>
                <a:ea typeface="+mn-ea"/>
              </a:rPr>
              <a:t>m</a:t>
            </a:r>
            <a:r>
              <a:rPr kumimoji="1" lang="zh-CN" altLang="en-US" sz="2200" b="0" i="1"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200" b="0" i="0" u="none" strike="noStrike" kern="0" cap="none" spc="0" normalizeH="0" baseline="0" noProof="0" dirty="0">
                <a:ln>
                  <a:noFill/>
                </a:ln>
                <a:solidFill>
                  <a:schemeClr val="tx1"/>
                </a:solidFill>
                <a:effectLst/>
                <a:uLnTx/>
                <a:uFillTx/>
                <a:latin typeface="Times New Roman" panose="02020503050405090304" pitchFamily="18" charset="0"/>
                <a:ea typeface="+mn-ea"/>
              </a:rPr>
              <a:t>are relatively prime when</a:t>
            </a:r>
            <a:endParaRPr kumimoji="1" lang="en-US" altLang="zh-CN" sz="22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0" marR="0" lvl="0" indent="0" algn="ctr" defTabSz="914400" rtl="0" eaLnBrk="0" fontAlgn="base" latinLnBrk="0" hangingPunct="0">
              <a:lnSpc>
                <a:spcPct val="100000"/>
              </a:lnSpc>
              <a:spcBef>
                <a:spcPts val="600"/>
              </a:spcBef>
              <a:spcAft>
                <a:spcPct val="0"/>
              </a:spcAft>
              <a:buClr>
                <a:schemeClr val="folHlink"/>
              </a:buClr>
              <a:buSzPct val="60000"/>
              <a:buFont typeface="Wingdings" panose="05000000000000000000" pitchFamily="2" charset="2"/>
              <a:buNone/>
              <a:defRPr/>
            </a:pPr>
            <a:r>
              <a:rPr kumimoji="1" lang="en-US" altLang="zh-CN" sz="2800" b="1" i="1" u="none" strike="noStrike" kern="0" cap="none" spc="0" normalizeH="0" baseline="0" noProof="0" dirty="0" err="1">
                <a:ln>
                  <a:noFill/>
                </a:ln>
                <a:solidFill>
                  <a:srgbClr val="FF0000"/>
                </a:solidFill>
                <a:effectLst/>
                <a:uLnTx/>
                <a:uFillTx/>
                <a:latin typeface="Times New Roman" panose="02020503050405090304" pitchFamily="18" charset="0"/>
                <a:ea typeface="+mn-ea"/>
                <a:cs typeface="+mn-cs"/>
              </a:rPr>
              <a:t>gcd</a:t>
            </a:r>
            <a:r>
              <a:rPr kumimoji="1" lang="en-US" altLang="zh-CN" sz="2800" b="1" i="1" u="none" strike="noStrike" kern="0" cap="none" spc="0" normalizeH="0" baseline="0" noProof="0" dirty="0">
                <a:ln>
                  <a:noFill/>
                </a:ln>
                <a:solidFill>
                  <a:srgbClr val="FF0000"/>
                </a:solidFill>
                <a:effectLst/>
                <a:uLnTx/>
                <a:uFillTx/>
                <a:latin typeface="Times New Roman" panose="02020503050405090304" pitchFamily="18" charset="0"/>
                <a:ea typeface="+mn-ea"/>
                <a:cs typeface="+mn-cs"/>
              </a:rPr>
              <a:t>(</a:t>
            </a:r>
            <a:r>
              <a:rPr kumimoji="1" lang="en-US" altLang="zh-CN" sz="2800" b="1" i="1" u="none" strike="noStrike" kern="0" cap="none" spc="0" normalizeH="0" baseline="0" noProof="0" dirty="0" err="1">
                <a:ln>
                  <a:noFill/>
                </a:ln>
                <a:solidFill>
                  <a:srgbClr val="FF0000"/>
                </a:solidFill>
                <a:effectLst/>
                <a:uLnTx/>
                <a:uFillTx/>
                <a:latin typeface="Times New Roman" panose="02020503050405090304" pitchFamily="18" charset="0"/>
                <a:ea typeface="+mn-ea"/>
                <a:cs typeface="+mn-cs"/>
              </a:rPr>
              <a:t>a,m</a:t>
            </a:r>
            <a:r>
              <a:rPr kumimoji="1" lang="en-US" altLang="zh-CN" sz="2800" b="1" i="1" u="none" strike="noStrike" kern="0" cap="none" spc="0" normalizeH="0" baseline="0" noProof="0" dirty="0">
                <a:ln>
                  <a:noFill/>
                </a:ln>
                <a:solidFill>
                  <a:srgbClr val="FF0000"/>
                </a:solidFill>
                <a:effectLst/>
                <a:uLnTx/>
                <a:uFillTx/>
                <a:latin typeface="Times New Roman" panose="02020503050405090304" pitchFamily="18" charset="0"/>
                <a:ea typeface="+mn-ea"/>
                <a:cs typeface="+mn-cs"/>
              </a:rPr>
              <a:t>) = 1</a:t>
            </a:r>
            <a:endParaRPr kumimoji="1" lang="en-US" altLang="zh-CN" sz="2800" b="1" i="1" u="none" strike="noStrike" kern="0" cap="none" spc="0" normalizeH="0" baseline="0" noProof="0" dirty="0">
              <a:ln>
                <a:noFill/>
              </a:ln>
              <a:solidFill>
                <a:srgbClr val="FF0000"/>
              </a:solidFill>
              <a:effectLst/>
              <a:uLnTx/>
              <a:uFillTx/>
              <a:latin typeface="Times New Roman" panose="02020503050405090304" pitchFamily="18" charset="0"/>
              <a:ea typeface="+mn-ea"/>
              <a:cs typeface="+mn-cs"/>
            </a:endParaRPr>
          </a:p>
          <a:p>
            <a:pPr marL="742950" marR="0" lvl="1" indent="-285750" algn="just"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This theorem guarantees that an inverse of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a</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modulo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m</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exists </a:t>
            </a:r>
            <a:r>
              <a:rPr kumimoji="1" lang="en-US" altLang="zh-CN" sz="2400" b="1" i="1" u="none" strike="noStrike" kern="0" cap="none" spc="0" normalizeH="0" baseline="0" noProof="0" dirty="0">
                <a:ln>
                  <a:noFill/>
                </a:ln>
                <a:solidFill>
                  <a:srgbClr val="FF0000"/>
                </a:solidFill>
                <a:effectLst/>
                <a:uLnTx/>
                <a:uFillTx/>
                <a:latin typeface="Times New Roman" panose="02020503050405090304" pitchFamily="18" charset="0"/>
                <a:ea typeface="+mn-ea"/>
              </a:rPr>
              <a:t>whenever a and m are relatively prime</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742950" marR="0" lvl="1" indent="-285750" algn="just"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Furthermore, this inverse is </a:t>
            </a:r>
            <a:r>
              <a:rPr kumimoji="1" lang="en-US" altLang="zh-CN" sz="2400" b="1" i="1" u="none" strike="noStrike" kern="0" cap="none" spc="0" normalizeH="0" baseline="0" noProof="0" dirty="0">
                <a:ln>
                  <a:noFill/>
                </a:ln>
                <a:solidFill>
                  <a:srgbClr val="FF0000"/>
                </a:solidFill>
                <a:effectLst/>
                <a:uLnTx/>
                <a:uFillTx/>
                <a:latin typeface="Times New Roman" panose="02020503050405090304" pitchFamily="18" charset="0"/>
                <a:ea typeface="+mn-ea"/>
              </a:rPr>
              <a:t>unique modulo m</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(This means that there is </a:t>
            </a:r>
            <a:r>
              <a:rPr kumimoji="1" lang="en-US" altLang="zh-CN" sz="2400" b="0" i="0" u="none" strike="noStrike" kern="0" cap="none" spc="0" normalizeH="0" baseline="0" noProof="0" dirty="0">
                <a:ln>
                  <a:noFill/>
                </a:ln>
                <a:solidFill>
                  <a:srgbClr val="FF0000"/>
                </a:solidFill>
                <a:effectLst/>
                <a:uLnTx/>
                <a:uFillTx/>
                <a:latin typeface="Times New Roman" panose="02020503050405090304" pitchFamily="18" charset="0"/>
                <a:ea typeface="+mn-ea"/>
              </a:rPr>
              <a:t>a unique positive integer </a:t>
            </a:r>
            <a:r>
              <a:rPr kumimoji="1" lang="en-US" altLang="zh-CN" sz="2400" b="0" i="1" u="none" strike="noStrike" kern="0" cap="none" spc="0" normalizeH="0" baseline="0" noProof="0" dirty="0">
                <a:ln>
                  <a:noFill/>
                </a:ln>
                <a:solidFill>
                  <a:srgbClr val="FF0000"/>
                </a:solidFill>
                <a:effectLst/>
                <a:uLnTx/>
                <a:uFillTx/>
                <a:latin typeface="Times New Roman" panose="02020503050405090304" pitchFamily="18" charset="0"/>
                <a:ea typeface="+mn-ea"/>
              </a:rPr>
              <a:t>ā </a:t>
            </a:r>
            <a:r>
              <a:rPr kumimoji="1" lang="en-US" altLang="zh-CN" sz="2400" b="0" i="0" u="none" strike="noStrike" kern="0" cap="none" spc="0" normalizeH="0" baseline="0" noProof="0" dirty="0">
                <a:ln>
                  <a:noFill/>
                </a:ln>
                <a:solidFill>
                  <a:srgbClr val="FF0000"/>
                </a:solidFill>
                <a:effectLst/>
                <a:uLnTx/>
                <a:uFillTx/>
                <a:latin typeface="Times New Roman" panose="02020503050405090304" pitchFamily="18" charset="0"/>
                <a:ea typeface="+mn-ea"/>
              </a:rPr>
              <a:t>less than </a:t>
            </a:r>
            <a:r>
              <a:rPr kumimoji="1" lang="en-US" altLang="zh-CN" sz="2400" b="0" i="1" u="none" strike="noStrike" kern="0" cap="none" spc="0" normalizeH="0" baseline="0" noProof="0" dirty="0">
                <a:ln>
                  <a:noFill/>
                </a:ln>
                <a:solidFill>
                  <a:srgbClr val="FF0000"/>
                </a:solidFill>
                <a:effectLst/>
                <a:uLnTx/>
                <a:uFillTx/>
                <a:latin typeface="Times New Roman" panose="02020503050405090304" pitchFamily="18" charset="0"/>
                <a:ea typeface="+mn-ea"/>
              </a:rPr>
              <a:t>m</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that is an inverse of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a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modulo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m</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and every other inverse of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a</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modulo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m</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is congruent to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ā</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modulo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m</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a</a:t>
            </a:r>
            <a:r>
              <a:rPr kumimoji="1" lang="zh-CN"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模</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m</a:t>
            </a:r>
            <a:r>
              <a:rPr kumimoji="1" lang="zh-CN"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的任何其他逆与该逆为模</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m</a:t>
            </a:r>
            <a:r>
              <a:rPr kumimoji="1" lang="zh-CN"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的同余</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r>
              <a:rPr kumimoji="1" lang="en-US" altLang="zh-CN" sz="1400" b="0" i="0" u="none" strike="noStrike" kern="0" cap="none" spc="0" normalizeH="0" baseline="0" noProof="0" dirty="0">
                <a:ln>
                  <a:noFill/>
                </a:ln>
                <a:solidFill>
                  <a:schemeClr val="tx1"/>
                </a:solidFill>
                <a:effectLst/>
                <a:uLnTx/>
                <a:uFillTx/>
                <a:latin typeface="+mn-lt"/>
                <a:ea typeface="+mn-ea"/>
              </a:rPr>
              <a:t> </a:t>
            </a:r>
            <a:endParaRPr kumimoji="1" lang="en-US" altLang="zh-CN" sz="1400" b="0" i="0" u="none" strike="noStrike" kern="0" cap="none" spc="0" normalizeH="0" baseline="0" noProof="0" dirty="0">
              <a:ln>
                <a:noFill/>
              </a:ln>
              <a:solidFill>
                <a:schemeClr val="tx1"/>
              </a:solidFill>
              <a:effectLst/>
              <a:uLnTx/>
              <a:uFillTx/>
              <a:latin typeface="+mn-lt"/>
              <a:ea typeface="+mn-ea"/>
            </a:endParaRPr>
          </a:p>
        </p:txBody>
      </p:sp>
      <p:sp>
        <p:nvSpPr>
          <p:cNvPr id="819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819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819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itle 1"/>
          <p:cNvSpPr>
            <a:spLocks noGrp="1"/>
          </p:cNvSpPr>
          <p:nvPr>
            <p:ph type="title"/>
          </p:nvPr>
        </p:nvSpPr>
        <p:spPr/>
        <p:txBody>
          <a:bodyPr vert="horz" wrap="square" lIns="91440" tIns="45720" rIns="91440" bIns="45720" anchor="b" anchorCtr="0"/>
          <a:p>
            <a:pPr eaLnBrk="1" hangingPunct="1"/>
            <a:r>
              <a:rPr lang="en-US" altLang="zh-CN" b="0" dirty="0">
                <a:latin typeface="Copperplate Gothic Bold" panose="020E0705020206020404" pitchFamily="34" charset="0"/>
              </a:rPr>
              <a:t>Inverse of a modulo m</a:t>
            </a:r>
            <a:endParaRPr lang="en-US" altLang="zh-CN" b="0" dirty="0">
              <a:latin typeface="Copperplate Gothic Bold" panose="020E0705020206020404" pitchFamily="34" charset="0"/>
            </a:endParaRPr>
          </a:p>
        </p:txBody>
      </p:sp>
      <p:sp>
        <p:nvSpPr>
          <p:cNvPr id="9219" name="Content Placeholder 2"/>
          <p:cNvSpPr>
            <a:spLocks noGrp="1"/>
          </p:cNvSpPr>
          <p:nvPr>
            <p:ph idx="1"/>
          </p:nvPr>
        </p:nvSpPr>
        <p:spPr>
          <a:xfrm>
            <a:off x="468313" y="981075"/>
            <a:ext cx="8218487" cy="5354638"/>
          </a:xfrm>
        </p:spPr>
        <p:txBody>
          <a:bodyPr vert="horz" wrap="square" lIns="91440" tIns="45720" rIns="91440" bIns="45720" anchor="t" anchorCtr="0"/>
          <a:p>
            <a:pPr>
              <a:spcBef>
                <a:spcPts val="600"/>
              </a:spcBef>
            </a:pPr>
            <a:r>
              <a:rPr lang="en-US" altLang="zh-CN" b="1" dirty="0">
                <a:latin typeface="Times New Roman" panose="02020503050405090304" pitchFamily="18" charset="0"/>
              </a:rPr>
              <a:t>Proof:</a:t>
            </a:r>
            <a:endParaRPr lang="en-US" altLang="zh-CN" dirty="0">
              <a:latin typeface="Times New Roman" panose="02020503050405090304" pitchFamily="18" charset="0"/>
            </a:endParaRPr>
          </a:p>
          <a:p>
            <a:pPr lvl="1">
              <a:spcBef>
                <a:spcPts val="600"/>
              </a:spcBef>
            </a:pPr>
            <a:r>
              <a:rPr lang="en-US" altLang="zh-CN" b="1" dirty="0">
                <a:latin typeface="Times New Roman" panose="02020503050405090304" pitchFamily="18" charset="0"/>
              </a:rPr>
              <a:t>Existence:</a:t>
            </a:r>
            <a:endParaRPr lang="en-US" altLang="zh-CN" b="1" dirty="0">
              <a:latin typeface="Times New Roman" panose="02020503050405090304" pitchFamily="18" charset="0"/>
            </a:endParaRPr>
          </a:p>
          <a:p>
            <a:pPr lvl="2">
              <a:spcBef>
                <a:spcPts val="600"/>
              </a:spcBef>
            </a:pPr>
            <a:r>
              <a:rPr lang="en-US" altLang="zh-CN" dirty="0">
                <a:latin typeface="Times New Roman" panose="02020503050405090304" pitchFamily="18" charset="0"/>
              </a:rPr>
              <a:t>Since gcd(</a:t>
            </a:r>
            <a:r>
              <a:rPr lang="en-US" altLang="zh-CN" i="1" dirty="0">
                <a:latin typeface="Times New Roman" panose="02020503050405090304" pitchFamily="18" charset="0"/>
              </a:rPr>
              <a:t>a</a:t>
            </a:r>
            <a:r>
              <a:rPr lang="en-US" altLang="zh-CN" dirty="0">
                <a:latin typeface="Times New Roman" panose="02020503050405090304" pitchFamily="18" charset="0"/>
              </a:rPr>
              <a:t>, </a:t>
            </a:r>
            <a:r>
              <a:rPr lang="en-US" altLang="zh-CN" i="1" dirty="0">
                <a:latin typeface="Times New Roman" panose="02020503050405090304" pitchFamily="18" charset="0"/>
              </a:rPr>
              <a:t>m</a:t>
            </a:r>
            <a:r>
              <a:rPr lang="en-US" altLang="zh-CN" dirty="0">
                <a:latin typeface="Times New Roman" panose="02020503050405090304" pitchFamily="18" charset="0"/>
              </a:rPr>
              <a:t>) = 1, by Theorem 6 of Section 4.3 (</a:t>
            </a:r>
            <a:r>
              <a:rPr lang="en-US" altLang="zh-CN" b="1" dirty="0">
                <a:latin typeface="Times New Roman" panose="02020503050405090304" pitchFamily="18" charset="0"/>
              </a:rPr>
              <a:t>Bézout’s Theorem</a:t>
            </a:r>
            <a:r>
              <a:rPr lang="en-US" altLang="zh-CN" dirty="0">
                <a:latin typeface="Times New Roman" panose="02020503050405090304" pitchFamily="18" charset="0"/>
              </a:rPr>
              <a:t>), there are integers </a:t>
            </a:r>
            <a:r>
              <a:rPr lang="en-US" altLang="zh-CN" i="1" dirty="0">
                <a:latin typeface="Times New Roman" panose="02020503050405090304" pitchFamily="18" charset="0"/>
              </a:rPr>
              <a:t>s</a:t>
            </a:r>
            <a:r>
              <a:rPr lang="en-US" altLang="zh-CN" dirty="0">
                <a:latin typeface="Times New Roman" panose="02020503050405090304" pitchFamily="18" charset="0"/>
              </a:rPr>
              <a:t> and </a:t>
            </a:r>
            <a:r>
              <a:rPr lang="en-US" altLang="zh-CN" i="1" dirty="0">
                <a:latin typeface="Times New Roman" panose="02020503050405090304" pitchFamily="18" charset="0"/>
              </a:rPr>
              <a:t>t</a:t>
            </a:r>
            <a:r>
              <a:rPr lang="en-US" altLang="zh-CN" dirty="0">
                <a:latin typeface="Times New Roman" panose="02020503050405090304" pitchFamily="18" charset="0"/>
              </a:rPr>
              <a:t> such that </a:t>
            </a:r>
            <a:r>
              <a:rPr lang="en-US" altLang="zh-CN" i="1" dirty="0">
                <a:latin typeface="Times New Roman" panose="02020503050405090304" pitchFamily="18" charset="0"/>
              </a:rPr>
              <a:t>sa</a:t>
            </a:r>
            <a:r>
              <a:rPr lang="en-US" altLang="zh-CN" dirty="0">
                <a:latin typeface="Times New Roman" panose="02020503050405090304" pitchFamily="18" charset="0"/>
              </a:rPr>
              <a:t> + </a:t>
            </a:r>
            <a:r>
              <a:rPr lang="en-US" altLang="zh-CN" i="1" dirty="0">
                <a:latin typeface="Times New Roman" panose="02020503050405090304" pitchFamily="18" charset="0"/>
              </a:rPr>
              <a:t>tm</a:t>
            </a:r>
            <a:r>
              <a:rPr lang="en-US" altLang="zh-CN" dirty="0">
                <a:latin typeface="Times New Roman" panose="02020503050405090304" pitchFamily="18" charset="0"/>
              </a:rPr>
              <a:t> = 1. </a:t>
            </a:r>
            <a:endParaRPr lang="en-US" altLang="zh-CN" dirty="0">
              <a:latin typeface="Times New Roman" panose="02020503050405090304" pitchFamily="18" charset="0"/>
            </a:endParaRPr>
          </a:p>
          <a:p>
            <a:pPr lvl="2">
              <a:spcBef>
                <a:spcPts val="600"/>
              </a:spcBef>
            </a:pPr>
            <a:r>
              <a:rPr lang="en-US" altLang="zh-CN" dirty="0">
                <a:latin typeface="Times New Roman" panose="02020503050405090304" pitchFamily="18" charset="0"/>
              </a:rPr>
              <a:t>Hence, </a:t>
            </a:r>
            <a:r>
              <a:rPr lang="en-US" altLang="zh-CN" i="1" dirty="0">
                <a:latin typeface="Times New Roman" panose="02020503050405090304" pitchFamily="18" charset="0"/>
              </a:rPr>
              <a:t>sa + tm </a:t>
            </a:r>
            <a:r>
              <a:rPr lang="en-US" altLang="zh-CN" dirty="0">
                <a:latin typeface="Times New Roman" panose="02020503050405090304" pitchFamily="18" charset="0"/>
              </a:rPr>
              <a:t>≡ 1 ( mod </a:t>
            </a:r>
            <a:r>
              <a:rPr lang="en-US" altLang="zh-CN" i="1" dirty="0">
                <a:latin typeface="Times New Roman" panose="02020503050405090304" pitchFamily="18" charset="0"/>
              </a:rPr>
              <a:t>m</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lvl="2">
              <a:spcBef>
                <a:spcPts val="600"/>
              </a:spcBef>
            </a:pPr>
            <a:r>
              <a:rPr lang="en-US" altLang="zh-CN" dirty="0">
                <a:latin typeface="Times New Roman" panose="02020503050405090304" pitchFamily="18" charset="0"/>
              </a:rPr>
              <a:t>Since </a:t>
            </a:r>
            <a:r>
              <a:rPr lang="en-US" altLang="zh-CN" i="1" dirty="0">
                <a:latin typeface="Times New Roman" panose="02020503050405090304" pitchFamily="18" charset="0"/>
              </a:rPr>
              <a:t>tm </a:t>
            </a:r>
            <a:r>
              <a:rPr lang="en-US" altLang="zh-CN" dirty="0">
                <a:latin typeface="Times New Roman" panose="02020503050405090304" pitchFamily="18" charset="0"/>
              </a:rPr>
              <a:t>≡ 0 ( mod </a:t>
            </a:r>
            <a:r>
              <a:rPr lang="en-US" altLang="zh-CN" i="1" dirty="0">
                <a:latin typeface="Times New Roman" panose="02020503050405090304" pitchFamily="18" charset="0"/>
              </a:rPr>
              <a:t>m</a:t>
            </a:r>
            <a:r>
              <a:rPr lang="en-US" altLang="zh-CN" dirty="0">
                <a:latin typeface="Times New Roman" panose="02020503050405090304" pitchFamily="18" charset="0"/>
              </a:rPr>
              <a:t>), it follows that </a:t>
            </a:r>
            <a:r>
              <a:rPr lang="en-US" altLang="zh-CN" sz="2800" b="1" i="1" dirty="0">
                <a:solidFill>
                  <a:srgbClr val="FF0000"/>
                </a:solidFill>
                <a:latin typeface="Times New Roman" panose="02020503050405090304" pitchFamily="18" charset="0"/>
              </a:rPr>
              <a:t>s</a:t>
            </a:r>
            <a:r>
              <a:rPr lang="en-US" altLang="zh-CN" i="1" dirty="0">
                <a:solidFill>
                  <a:srgbClr val="FF0000"/>
                </a:solidFill>
                <a:latin typeface="Times New Roman" panose="02020503050405090304" pitchFamily="18" charset="0"/>
              </a:rPr>
              <a:t>a </a:t>
            </a:r>
            <a:r>
              <a:rPr lang="en-US" altLang="zh-CN" dirty="0">
                <a:solidFill>
                  <a:srgbClr val="FF0000"/>
                </a:solidFill>
                <a:latin typeface="Times New Roman" panose="02020503050405090304" pitchFamily="18" charset="0"/>
              </a:rPr>
              <a:t>≡ 1 ( mod </a:t>
            </a:r>
            <a:r>
              <a:rPr lang="en-US" altLang="zh-CN" i="1" dirty="0">
                <a:solidFill>
                  <a:srgbClr val="FF0000"/>
                </a:solidFill>
                <a:latin typeface="Times New Roman" panose="02020503050405090304" pitchFamily="18" charset="0"/>
              </a:rPr>
              <a:t>m</a:t>
            </a:r>
            <a:r>
              <a:rPr lang="en-US" altLang="zh-CN" dirty="0">
                <a:solidFill>
                  <a:srgbClr val="FF0000"/>
                </a:solidFill>
                <a:latin typeface="Times New Roman" panose="02020503050405090304" pitchFamily="18" charset="0"/>
              </a:rPr>
              <a:t>)</a:t>
            </a:r>
            <a:endParaRPr lang="en-US" altLang="zh-CN" dirty="0">
              <a:solidFill>
                <a:srgbClr val="FF0000"/>
              </a:solidFill>
              <a:latin typeface="Times New Roman" panose="02020503050405090304" pitchFamily="18" charset="0"/>
            </a:endParaRPr>
          </a:p>
          <a:p>
            <a:pPr lvl="2">
              <a:spcBef>
                <a:spcPts val="600"/>
              </a:spcBef>
            </a:pPr>
            <a:r>
              <a:rPr lang="en-US" altLang="zh-CN" dirty="0">
                <a:latin typeface="Times New Roman" panose="02020503050405090304" pitchFamily="18" charset="0"/>
              </a:rPr>
              <a:t>Consequently, </a:t>
            </a:r>
            <a:r>
              <a:rPr lang="en-US" altLang="zh-CN" b="1" i="1" dirty="0">
                <a:latin typeface="Times New Roman" panose="02020503050405090304" pitchFamily="18" charset="0"/>
              </a:rPr>
              <a:t>s</a:t>
            </a:r>
            <a:r>
              <a:rPr lang="en-US" altLang="zh-CN" dirty="0">
                <a:latin typeface="Times New Roman" panose="02020503050405090304" pitchFamily="18" charset="0"/>
              </a:rPr>
              <a:t> is an inverse of </a:t>
            </a:r>
            <a:r>
              <a:rPr lang="en-US" altLang="zh-CN" b="1" i="1" dirty="0">
                <a:latin typeface="Times New Roman" panose="02020503050405090304" pitchFamily="18" charset="0"/>
              </a:rPr>
              <a:t>a</a:t>
            </a:r>
            <a:r>
              <a:rPr lang="en-US" altLang="zh-CN" dirty="0">
                <a:latin typeface="Times New Roman" panose="02020503050405090304" pitchFamily="18" charset="0"/>
              </a:rPr>
              <a:t> modulo </a:t>
            </a:r>
            <a:r>
              <a:rPr lang="en-US" altLang="zh-CN" b="1" i="1" dirty="0">
                <a:latin typeface="Times New Roman" panose="02020503050405090304" pitchFamily="18" charset="0"/>
              </a:rPr>
              <a:t>m</a:t>
            </a:r>
            <a:r>
              <a:rPr lang="en-US" altLang="zh-CN" dirty="0">
                <a:latin typeface="Times New Roman" panose="02020503050405090304" pitchFamily="18" charset="0"/>
              </a:rPr>
              <a:t>.</a:t>
            </a:r>
            <a:endParaRPr lang="en-US" altLang="zh-CN" dirty="0">
              <a:latin typeface="Times New Roman" panose="02020503050405090304" pitchFamily="18" charset="0"/>
            </a:endParaRPr>
          </a:p>
        </p:txBody>
      </p:sp>
      <p:sp>
        <p:nvSpPr>
          <p:cNvPr id="9220" name="矩形 1"/>
          <p:cNvSpPr/>
          <p:nvPr/>
        </p:nvSpPr>
        <p:spPr>
          <a:xfrm>
            <a:off x="1476375" y="5155565"/>
            <a:ext cx="6119813" cy="460375"/>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lgn="ctr">
              <a:spcBef>
                <a:spcPct val="0"/>
              </a:spcBef>
              <a:buClrTx/>
              <a:buSzTx/>
              <a:buFontTx/>
              <a:buNone/>
            </a:pPr>
            <a:r>
              <a:rPr lang="zh-CN" altLang="en-US" sz="2400" b="1" dirty="0">
                <a:latin typeface="Times New Roman" panose="02020503050405090304" pitchFamily="18" charset="0"/>
              </a:rPr>
              <a:t>使用贝祖系数法可以求</a:t>
            </a:r>
            <a:r>
              <a:rPr lang="en-US" altLang="zh-CN" sz="2400" b="1" dirty="0">
                <a:latin typeface="Times New Roman" panose="02020503050405090304" pitchFamily="18" charset="0"/>
                <a:sym typeface="Symbol" panose="05050102010706020507" pitchFamily="18" charset="2"/>
              </a:rPr>
              <a:t>a</a:t>
            </a:r>
            <a:r>
              <a:rPr lang="zh-CN" altLang="en-US" sz="2400" b="1" dirty="0">
                <a:latin typeface="Times New Roman" panose="02020503050405090304" pitchFamily="18" charset="0"/>
                <a:sym typeface="Symbol" panose="05050102010706020507" pitchFamily="18" charset="2"/>
              </a:rPr>
              <a:t>模</a:t>
            </a:r>
            <a:r>
              <a:rPr lang="en-US" altLang="zh-CN" sz="2400" b="1" dirty="0">
                <a:latin typeface="Times New Roman" panose="02020503050405090304" pitchFamily="18" charset="0"/>
                <a:sym typeface="Symbol" panose="05050102010706020507" pitchFamily="18" charset="2"/>
              </a:rPr>
              <a:t>m</a:t>
            </a:r>
            <a:r>
              <a:rPr lang="zh-CN" altLang="en-US" sz="2400" b="1" dirty="0">
                <a:latin typeface="Times New Roman" panose="02020503050405090304" pitchFamily="18" charset="0"/>
                <a:sym typeface="Symbol" panose="05050102010706020507" pitchFamily="18" charset="2"/>
              </a:rPr>
              <a:t>的逆</a:t>
            </a:r>
            <a:endParaRPr lang="zh-CN" altLang="en-US" sz="2400" b="1" dirty="0">
              <a:latin typeface="Times New Roman" panose="02020503050405090304" pitchFamily="18" charset="0"/>
            </a:endParaRPr>
          </a:p>
        </p:txBody>
      </p:sp>
      <p:sp>
        <p:nvSpPr>
          <p:cNvPr id="9221"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9222"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9223"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itle 1"/>
          <p:cNvSpPr>
            <a:spLocks noGrp="1"/>
          </p:cNvSpPr>
          <p:nvPr>
            <p:ph type="title"/>
          </p:nvPr>
        </p:nvSpPr>
        <p:spPr/>
        <p:txBody>
          <a:bodyPr vert="horz" wrap="square" lIns="91440" tIns="45720" rIns="91440" bIns="45720" anchor="b" anchorCtr="0"/>
          <a:p>
            <a:pPr eaLnBrk="1" hangingPunct="1"/>
            <a:r>
              <a:rPr lang="en-US" altLang="zh-CN" b="0" dirty="0">
                <a:latin typeface="Copperplate Gothic Bold" panose="020E0705020206020404" pitchFamily="34" charset="0"/>
              </a:rPr>
              <a:t>Inverse of a modulo m</a:t>
            </a:r>
            <a:endParaRPr lang="en-US" altLang="zh-CN" b="0" dirty="0">
              <a:latin typeface="Copperplate Gothic Bold" panose="020E0705020206020404" pitchFamily="34" charset="0"/>
            </a:endParaRPr>
          </a:p>
        </p:txBody>
      </p:sp>
      <p:sp>
        <p:nvSpPr>
          <p:cNvPr id="10243" name="Content Placeholder 2"/>
          <p:cNvSpPr>
            <a:spLocks noGrp="1"/>
          </p:cNvSpPr>
          <p:nvPr>
            <p:ph idx="1"/>
          </p:nvPr>
        </p:nvSpPr>
        <p:spPr>
          <a:xfrm>
            <a:off x="468313" y="981075"/>
            <a:ext cx="8218487" cy="5354638"/>
          </a:xfrm>
        </p:spPr>
        <p:txBody>
          <a:bodyPr vert="horz" wrap="square" lIns="91440" tIns="45720" rIns="91440" bIns="45720" anchor="t" anchorCtr="0"/>
          <a:p>
            <a:pPr>
              <a:spcBef>
                <a:spcPts val="600"/>
              </a:spcBef>
            </a:pPr>
            <a:r>
              <a:rPr lang="en-US" altLang="zh-CN" sz="3000" b="1" dirty="0">
                <a:latin typeface="Times New Roman" panose="02020503050405090304" pitchFamily="18" charset="0"/>
              </a:rPr>
              <a:t>Proof </a:t>
            </a:r>
            <a:r>
              <a:rPr lang="zh-CN" altLang="en-US" sz="3000" b="1" dirty="0">
                <a:latin typeface="Times New Roman" panose="02020503050405090304" pitchFamily="18" charset="0"/>
              </a:rPr>
              <a:t> </a:t>
            </a:r>
            <a:r>
              <a:rPr lang="en-US" altLang="zh-CN" sz="3000" b="1" dirty="0">
                <a:latin typeface="Times New Roman" panose="02020503050405090304" pitchFamily="18" charset="0"/>
              </a:rPr>
              <a:t>(cont):</a:t>
            </a:r>
            <a:r>
              <a:rPr lang="en-US" altLang="zh-CN" sz="3000" dirty="0">
                <a:latin typeface="Times New Roman" panose="02020503050405090304" pitchFamily="18" charset="0"/>
              </a:rPr>
              <a:t>  </a:t>
            </a:r>
            <a:endParaRPr lang="en-US" altLang="zh-CN" sz="3000" dirty="0">
              <a:latin typeface="Times New Roman" panose="02020503050405090304" pitchFamily="18" charset="0"/>
            </a:endParaRPr>
          </a:p>
          <a:p>
            <a:pPr lvl="1">
              <a:spcBef>
                <a:spcPts val="1200"/>
              </a:spcBef>
            </a:pPr>
            <a:r>
              <a:rPr lang="en-US" altLang="zh-CN" b="1" dirty="0">
                <a:latin typeface="Times New Roman" panose="02020503050405090304" pitchFamily="18" charset="0"/>
              </a:rPr>
              <a:t>Uniqueness (contradiction)</a:t>
            </a:r>
            <a:endParaRPr lang="en-US" altLang="zh-CN" b="1" dirty="0">
              <a:latin typeface="Times New Roman" panose="02020503050405090304" pitchFamily="18" charset="0"/>
            </a:endParaRPr>
          </a:p>
          <a:p>
            <a:pPr lvl="2">
              <a:spcBef>
                <a:spcPts val="600"/>
              </a:spcBef>
            </a:pPr>
            <a:r>
              <a:rPr lang="en-US" altLang="zh-CN" dirty="0">
                <a:latin typeface="Times New Roman" panose="02020503050405090304" pitchFamily="18" charset="0"/>
              </a:rPr>
              <a:t>Assume that there are two inverses of </a:t>
            </a:r>
            <a:r>
              <a:rPr lang="en-US" altLang="zh-CN" i="1" dirty="0">
                <a:latin typeface="Times New Roman" panose="02020503050405090304" pitchFamily="18" charset="0"/>
              </a:rPr>
              <a:t>a modulo m: b</a:t>
            </a:r>
            <a:r>
              <a:rPr lang="en-US" altLang="zh-CN" dirty="0">
                <a:latin typeface="Times New Roman" panose="02020503050405090304" pitchFamily="18" charset="0"/>
              </a:rPr>
              <a:t> and </a:t>
            </a:r>
            <a:r>
              <a:rPr lang="en-US" altLang="zh-CN" i="1" dirty="0">
                <a:latin typeface="Times New Roman" panose="02020503050405090304" pitchFamily="18" charset="0"/>
              </a:rPr>
              <a:t>c</a:t>
            </a:r>
            <a:endParaRPr lang="en-US" altLang="zh-CN" i="1" dirty="0">
              <a:latin typeface="Times New Roman" panose="02020503050405090304" pitchFamily="18" charset="0"/>
            </a:endParaRPr>
          </a:p>
          <a:p>
            <a:pPr lvl="2">
              <a:spcBef>
                <a:spcPts val="600"/>
              </a:spcBef>
            </a:pPr>
            <a:r>
              <a:rPr lang="en-US" altLang="zh-CN" dirty="0">
                <a:latin typeface="Times New Roman" panose="02020503050405090304" pitchFamily="18" charset="0"/>
              </a:rPr>
              <a:t>That is </a:t>
            </a:r>
            <a:r>
              <a:rPr lang="en-US" altLang="zh-CN" i="1" dirty="0">
                <a:latin typeface="Times New Roman" panose="02020503050405090304" pitchFamily="18" charset="0"/>
              </a:rPr>
              <a:t>b</a:t>
            </a:r>
            <a:r>
              <a:rPr lang="en-US" altLang="zh-CN" dirty="0">
                <a:latin typeface="Times New Roman" panose="02020503050405090304" pitchFamily="18" charset="0"/>
              </a:rPr>
              <a:t> and </a:t>
            </a:r>
            <a:r>
              <a:rPr lang="en-US" altLang="zh-CN" i="1" dirty="0">
                <a:latin typeface="Times New Roman" panose="02020503050405090304" pitchFamily="18" charset="0"/>
              </a:rPr>
              <a:t>c</a:t>
            </a:r>
            <a:r>
              <a:rPr lang="en-US" altLang="zh-CN" dirty="0">
                <a:latin typeface="Times New Roman" panose="02020503050405090304" pitchFamily="18" charset="0"/>
              </a:rPr>
              <a:t> satisfy the congruence </a:t>
            </a:r>
            <a:r>
              <a:rPr lang="en-US" altLang="zh-CN" i="1" dirty="0">
                <a:latin typeface="Times New Roman" panose="02020503050405090304" pitchFamily="18" charset="0"/>
              </a:rPr>
              <a:t>ax ≡ 1 (mod m)</a:t>
            </a:r>
            <a:r>
              <a:rPr lang="en-US" altLang="zh-CN" dirty="0">
                <a:latin typeface="Times New Roman" panose="02020503050405090304" pitchFamily="18" charset="0"/>
              </a:rPr>
              <a:t>. </a:t>
            </a:r>
            <a:endParaRPr lang="en-US" altLang="zh-CN" dirty="0">
              <a:latin typeface="Times New Roman" panose="02020503050405090304" pitchFamily="18" charset="0"/>
            </a:endParaRPr>
          </a:p>
          <a:p>
            <a:pPr lvl="2">
              <a:spcBef>
                <a:spcPts val="600"/>
              </a:spcBef>
            </a:pPr>
            <a:r>
              <a:rPr lang="en-US" altLang="zh-CN" dirty="0">
                <a:latin typeface="Times New Roman" panose="02020503050405090304" pitchFamily="18" charset="0"/>
              </a:rPr>
              <a:t>i.e. </a:t>
            </a:r>
            <a:r>
              <a:rPr lang="en-US" altLang="zh-CN" i="1" dirty="0">
                <a:latin typeface="Times New Roman" panose="02020503050405090304" pitchFamily="18" charset="0"/>
              </a:rPr>
              <a:t>ab ≡ 1 (mod m)  and ac ≡ 1 (mod m)</a:t>
            </a:r>
            <a:endParaRPr lang="en-US" altLang="zh-CN" i="1" dirty="0">
              <a:latin typeface="Times New Roman" panose="02020503050405090304" pitchFamily="18" charset="0"/>
            </a:endParaRPr>
          </a:p>
          <a:p>
            <a:pPr lvl="2">
              <a:spcBef>
                <a:spcPts val="600"/>
              </a:spcBef>
            </a:pPr>
            <a:r>
              <a:rPr lang="en-US" altLang="zh-CN" i="1" dirty="0">
                <a:latin typeface="Times New Roman" panose="02020503050405090304" pitchFamily="18" charset="0"/>
              </a:rPr>
              <a:t>∴ ab ≡ ac (mod m)</a:t>
            </a:r>
            <a:endParaRPr lang="en-US" altLang="zh-CN" i="1" dirty="0">
              <a:latin typeface="Times New Roman" panose="02020503050405090304" pitchFamily="18" charset="0"/>
            </a:endParaRPr>
          </a:p>
          <a:p>
            <a:pPr lvl="2">
              <a:spcBef>
                <a:spcPts val="600"/>
              </a:spcBef>
            </a:pPr>
            <a:r>
              <a:rPr lang="en-US" altLang="zh-CN" i="1" dirty="0">
                <a:latin typeface="Times New Roman" panose="02020503050405090304" pitchFamily="18" charset="0"/>
              </a:rPr>
              <a:t>and gcd(a,m)=1 (premise)</a:t>
            </a:r>
            <a:endParaRPr lang="en-US" altLang="zh-CN" i="1" dirty="0">
              <a:latin typeface="Times New Roman" panose="02020503050405090304" pitchFamily="18" charset="0"/>
            </a:endParaRPr>
          </a:p>
          <a:p>
            <a:pPr lvl="2">
              <a:spcBef>
                <a:spcPts val="600"/>
              </a:spcBef>
            </a:pPr>
            <a:r>
              <a:rPr lang="en-US" altLang="zh-CN" i="1" dirty="0">
                <a:latin typeface="Times New Roman" panose="02020503050405090304" pitchFamily="18" charset="0"/>
              </a:rPr>
              <a:t> </a:t>
            </a:r>
            <a:r>
              <a:rPr lang="en-US" altLang="zh-CN" dirty="0">
                <a:latin typeface="Times New Roman" panose="02020503050405090304" pitchFamily="18" charset="0"/>
              </a:rPr>
              <a:t>Use Theorem 7 of Section 4.3,  </a:t>
            </a:r>
            <a:r>
              <a:rPr lang="en-US" altLang="zh-CN" i="1" dirty="0">
                <a:latin typeface="Times New Roman" panose="02020503050405090304" pitchFamily="18" charset="0"/>
              </a:rPr>
              <a:t>b ≡ c (mod m).</a:t>
            </a:r>
            <a:endParaRPr lang="en-US" altLang="zh-CN" i="1" dirty="0">
              <a:latin typeface="Times New Roman" panose="02020503050405090304" pitchFamily="18" charset="0"/>
            </a:endParaRPr>
          </a:p>
        </p:txBody>
      </p:sp>
      <p:sp>
        <p:nvSpPr>
          <p:cNvPr id="10244" name="矩形 1"/>
          <p:cNvSpPr/>
          <p:nvPr/>
        </p:nvSpPr>
        <p:spPr>
          <a:xfrm>
            <a:off x="1331278" y="5517198"/>
            <a:ext cx="6119812" cy="460375"/>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lgn="ctr">
              <a:spcBef>
                <a:spcPct val="0"/>
              </a:spcBef>
              <a:buClrTx/>
              <a:buSzTx/>
              <a:buFontTx/>
              <a:buNone/>
            </a:pPr>
            <a:r>
              <a:rPr lang="en-US" altLang="zh-CN" sz="2400" b="1" dirty="0">
                <a:latin typeface="Times New Roman" panose="02020503050405090304" pitchFamily="18" charset="0"/>
              </a:rPr>
              <a:t>a</a:t>
            </a:r>
            <a:r>
              <a:rPr lang="zh-CN" altLang="en-US" sz="2400" b="1" dirty="0">
                <a:latin typeface="Times New Roman" panose="02020503050405090304" pitchFamily="18" charset="0"/>
              </a:rPr>
              <a:t>模</a:t>
            </a:r>
            <a:r>
              <a:rPr lang="en-US" altLang="zh-CN" sz="2400" b="1" dirty="0">
                <a:latin typeface="Times New Roman" panose="02020503050405090304" pitchFamily="18" charset="0"/>
              </a:rPr>
              <a:t>m</a:t>
            </a:r>
            <a:r>
              <a:rPr lang="zh-CN" altLang="en-US" sz="2400" b="1" dirty="0">
                <a:latin typeface="Times New Roman" panose="02020503050405090304" pitchFamily="18" charset="0"/>
              </a:rPr>
              <a:t>的任何逆都是模</a:t>
            </a:r>
            <a:r>
              <a:rPr lang="en-US" altLang="zh-CN" sz="2400" b="1" dirty="0">
                <a:latin typeface="Times New Roman" panose="02020503050405090304" pitchFamily="18" charset="0"/>
              </a:rPr>
              <a:t>m</a:t>
            </a:r>
            <a:r>
              <a:rPr lang="zh-CN" altLang="en-US" sz="2400" b="1" dirty="0">
                <a:latin typeface="Times New Roman" panose="02020503050405090304" pitchFamily="18" charset="0"/>
              </a:rPr>
              <a:t>同余的</a:t>
            </a:r>
            <a:endParaRPr lang="zh-CN" altLang="en-US" sz="2400" b="1" dirty="0">
              <a:latin typeface="Times New Roman" panose="02020503050405090304" pitchFamily="18" charset="0"/>
            </a:endParaRPr>
          </a:p>
        </p:txBody>
      </p:sp>
      <p:sp>
        <p:nvSpPr>
          <p:cNvPr id="10245"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0246"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0247"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itle 1"/>
          <p:cNvSpPr>
            <a:spLocks noGrp="1"/>
          </p:cNvSpPr>
          <p:nvPr>
            <p:ph type="title"/>
          </p:nvPr>
        </p:nvSpPr>
        <p:spPr/>
        <p:txBody>
          <a:bodyPr vert="horz" wrap="square" lIns="91440" tIns="45720" rIns="91440" bIns="45720" anchor="b" anchorCtr="0"/>
          <a:p>
            <a:r>
              <a:rPr lang="en-US" altLang="zh-CN" b="0" dirty="0">
                <a:latin typeface="Copperplate Gothic Bold" panose="020E0705020206020404" pitchFamily="34" charset="0"/>
              </a:rPr>
              <a:t>Finding Inverses</a:t>
            </a:r>
            <a:endParaRPr lang="en-US" altLang="zh-CN" b="0" dirty="0">
              <a:latin typeface="Copperplate Gothic Bold" panose="020E0705020206020404" pitchFamily="34" charset="0"/>
            </a:endParaRPr>
          </a:p>
        </p:txBody>
      </p:sp>
      <p:sp>
        <p:nvSpPr>
          <p:cNvPr id="11267" name="Content Placeholder 2"/>
          <p:cNvSpPr>
            <a:spLocks noGrp="1"/>
          </p:cNvSpPr>
          <p:nvPr>
            <p:ph idx="1"/>
          </p:nvPr>
        </p:nvSpPr>
        <p:spPr>
          <a:xfrm>
            <a:off x="417513" y="974725"/>
            <a:ext cx="8537575" cy="5046663"/>
          </a:xfrm>
        </p:spPr>
        <p:txBody>
          <a:bodyPr vert="horz" wrap="square" lIns="91440" tIns="45720" rIns="91440" bIns="45720" anchor="t" anchorCtr="0"/>
          <a:p>
            <a:pPr>
              <a:spcBef>
                <a:spcPts val="600"/>
              </a:spcBef>
            </a:pPr>
            <a:r>
              <a:rPr lang="en-US" altLang="zh-CN" sz="2800" dirty="0">
                <a:latin typeface="Times New Roman" panose="02020503050405090304" pitchFamily="18" charset="0"/>
                <a:cs typeface="Times New Roman" panose="02020503050405090304" pitchFamily="18" charset="0"/>
              </a:rPr>
              <a:t>The </a:t>
            </a:r>
            <a:r>
              <a:rPr lang="en-US" altLang="zh-CN" sz="2800" b="1" i="1" dirty="0">
                <a:solidFill>
                  <a:srgbClr val="FF0000"/>
                </a:solidFill>
                <a:latin typeface="Times New Roman" panose="02020503050405090304" pitchFamily="18" charset="0"/>
                <a:cs typeface="Times New Roman" panose="02020503050405090304" pitchFamily="18" charset="0"/>
              </a:rPr>
              <a:t>Euclidean algorithm and Bézout coefficients </a:t>
            </a:r>
            <a:r>
              <a:rPr lang="en-US" altLang="zh-CN" sz="2800" dirty="0">
                <a:latin typeface="Times New Roman" panose="02020503050405090304" pitchFamily="18" charset="0"/>
                <a:cs typeface="Times New Roman" panose="02020503050405090304" pitchFamily="18" charset="0"/>
              </a:rPr>
              <a:t>gives us a systematic approaches to finding inverses. </a:t>
            </a:r>
            <a:endParaRPr lang="en-US" altLang="zh-CN" sz="2800" dirty="0">
              <a:latin typeface="Times New Roman" panose="02020503050405090304" pitchFamily="18" charset="0"/>
              <a:cs typeface="Times New Roman" panose="02020503050405090304" pitchFamily="18" charset="0"/>
            </a:endParaRPr>
          </a:p>
          <a:p>
            <a:pPr>
              <a:spcBef>
                <a:spcPts val="600"/>
              </a:spcBef>
            </a:pPr>
            <a:r>
              <a:rPr lang="en-US" altLang="zh-CN" sz="2800" b="1" dirty="0">
                <a:latin typeface="Times New Roman" panose="02020503050405090304" pitchFamily="18" charset="0"/>
                <a:cs typeface="Times New Roman" panose="02020503050405090304" pitchFamily="18" charset="0"/>
              </a:rPr>
              <a:t>Example 1</a:t>
            </a:r>
            <a:r>
              <a:rPr lang="en-US" altLang="zh-CN" sz="2800" dirty="0">
                <a:latin typeface="Times New Roman" panose="02020503050405090304" pitchFamily="18" charset="0"/>
                <a:cs typeface="Times New Roman" panose="02020503050405090304" pitchFamily="18" charset="0"/>
              </a:rPr>
              <a:t>: Find an inverse of 3 modulo 7. </a:t>
            </a:r>
            <a:endParaRPr lang="en-US" altLang="zh-CN" sz="2800" dirty="0">
              <a:latin typeface="Times New Roman" panose="02020503050405090304" pitchFamily="18" charset="0"/>
              <a:cs typeface="Times New Roman" panose="02020503050405090304" pitchFamily="18" charset="0"/>
            </a:endParaRPr>
          </a:p>
          <a:p>
            <a:pPr>
              <a:spcBef>
                <a:spcPts val="600"/>
              </a:spcBef>
            </a:pPr>
            <a:r>
              <a:rPr lang="en-US" altLang="zh-CN" sz="2800" b="1" dirty="0">
                <a:latin typeface="Times New Roman" panose="02020503050405090304" pitchFamily="18" charset="0"/>
                <a:cs typeface="Times New Roman" panose="02020503050405090304" pitchFamily="18" charset="0"/>
              </a:rPr>
              <a:t>Solution</a:t>
            </a:r>
            <a:r>
              <a:rPr lang="en-US" altLang="zh-CN" sz="2800" dirty="0">
                <a:latin typeface="Times New Roman" panose="02020503050405090304" pitchFamily="18" charset="0"/>
                <a:cs typeface="Times New Roman" panose="02020503050405090304" pitchFamily="18" charset="0"/>
              </a:rPr>
              <a:t>: </a:t>
            </a:r>
            <a:endParaRPr lang="en-US" altLang="zh-CN" sz="2800" dirty="0">
              <a:latin typeface="Times New Roman" panose="02020503050405090304" pitchFamily="18" charset="0"/>
              <a:cs typeface="Times New Roman" panose="02020503050405090304" pitchFamily="18" charset="0"/>
            </a:endParaRPr>
          </a:p>
          <a:p>
            <a:pPr lvl="1">
              <a:spcBef>
                <a:spcPts val="600"/>
              </a:spcBef>
            </a:pPr>
            <a:r>
              <a:rPr lang="en-US" altLang="zh-CN" sz="2400" dirty="0">
                <a:latin typeface="Times New Roman" panose="02020503050405090304" pitchFamily="18" charset="0"/>
                <a:cs typeface="Times New Roman" panose="02020503050405090304" pitchFamily="18" charset="0"/>
              </a:rPr>
              <a:t>Because gcd(7, 3) = 1, by Theorem 1, an inverse of 3 modulo 7 exists. </a:t>
            </a:r>
            <a:endParaRPr lang="en-US" altLang="zh-CN" sz="2400" dirty="0">
              <a:latin typeface="Times New Roman" panose="02020503050405090304" pitchFamily="18" charset="0"/>
              <a:cs typeface="Times New Roman" panose="02020503050405090304" pitchFamily="18" charset="0"/>
            </a:endParaRPr>
          </a:p>
          <a:p>
            <a:pPr lvl="1">
              <a:spcBef>
                <a:spcPts val="600"/>
              </a:spcBef>
            </a:pPr>
            <a:r>
              <a:rPr lang="en-US" altLang="zh-CN" sz="2400" dirty="0">
                <a:latin typeface="Times New Roman" panose="02020503050405090304" pitchFamily="18" charset="0"/>
                <a:cs typeface="Times New Roman" panose="02020503050405090304" pitchFamily="18" charset="0"/>
              </a:rPr>
              <a:t>Using the Euclidian algorithm:  7 = 2∙3 + 1.</a:t>
            </a:r>
            <a:endParaRPr lang="en-US" altLang="zh-CN" sz="2400" dirty="0">
              <a:latin typeface="Times New Roman" panose="02020503050405090304" pitchFamily="18" charset="0"/>
              <a:cs typeface="Times New Roman" panose="02020503050405090304" pitchFamily="18" charset="0"/>
            </a:endParaRPr>
          </a:p>
          <a:p>
            <a:pPr lvl="1">
              <a:spcBef>
                <a:spcPts val="600"/>
              </a:spcBef>
            </a:pPr>
            <a:r>
              <a:rPr lang="en-US" altLang="zh-CN" sz="2400" dirty="0">
                <a:latin typeface="Times New Roman" panose="02020503050405090304" pitchFamily="18" charset="0"/>
                <a:cs typeface="Times New Roman" panose="02020503050405090304" pitchFamily="18" charset="0"/>
              </a:rPr>
              <a:t>From this equation, we get  1= 1∙7−2∙3, and see that 1 and −2 are Bézout coefficients of 7 and 3.</a:t>
            </a:r>
            <a:endParaRPr lang="en-US" altLang="zh-CN" sz="2400" dirty="0">
              <a:latin typeface="Times New Roman" panose="02020503050405090304" pitchFamily="18" charset="0"/>
              <a:cs typeface="Times New Roman" panose="02020503050405090304" pitchFamily="18" charset="0"/>
            </a:endParaRPr>
          </a:p>
          <a:p>
            <a:pPr lvl="1">
              <a:spcBef>
                <a:spcPts val="600"/>
              </a:spcBef>
            </a:pPr>
            <a:r>
              <a:rPr lang="en-US" altLang="zh-CN" sz="2400" dirty="0">
                <a:latin typeface="Times New Roman" panose="02020503050405090304" pitchFamily="18" charset="0"/>
                <a:cs typeface="Times New Roman" panose="02020503050405090304" pitchFamily="18" charset="0"/>
              </a:rPr>
              <a:t>Hence,  −2 is an inverse of 3 modulo 7. </a:t>
            </a:r>
            <a:endParaRPr lang="en-US" altLang="zh-CN" sz="2400" dirty="0">
              <a:latin typeface="Times New Roman" panose="02020503050405090304" pitchFamily="18" charset="0"/>
              <a:cs typeface="Times New Roman" panose="02020503050405090304" pitchFamily="18" charset="0"/>
            </a:endParaRPr>
          </a:p>
          <a:p>
            <a:pPr lvl="1">
              <a:spcBef>
                <a:spcPts val="600"/>
              </a:spcBef>
            </a:pPr>
            <a:r>
              <a:rPr lang="en-US" altLang="zh-CN" sz="2400" dirty="0">
                <a:latin typeface="Times New Roman" panose="02020503050405090304" pitchFamily="18" charset="0"/>
                <a:cs typeface="Times New Roman" panose="02020503050405090304" pitchFamily="18" charset="0"/>
              </a:rPr>
              <a:t>Also every integer congruent to −2 modulo 7 is an inverse of 3 modulo 7, i.e., -9, 5, 12, etc.</a:t>
            </a:r>
            <a:endParaRPr lang="en-US" altLang="zh-CN" sz="2400" dirty="0">
              <a:latin typeface="Times New Roman" panose="02020503050405090304" pitchFamily="18" charset="0"/>
              <a:ea typeface="Times New Roman" panose="02020503050405090304" pitchFamily="18" charset="0"/>
              <a:cs typeface="Times New Roman" panose="02020503050405090304" pitchFamily="18" charset="0"/>
            </a:endParaRPr>
          </a:p>
        </p:txBody>
      </p:sp>
      <p:sp>
        <p:nvSpPr>
          <p:cNvPr id="11268" name="矩形 1"/>
          <p:cNvSpPr/>
          <p:nvPr/>
        </p:nvSpPr>
        <p:spPr>
          <a:xfrm>
            <a:off x="6372225" y="2419668"/>
            <a:ext cx="2232025" cy="461962"/>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71755" lvl="1" indent="0" algn="ctr">
              <a:spcBef>
                <a:spcPts val="600"/>
              </a:spcBef>
              <a:buClrTx/>
              <a:buSzTx/>
              <a:buFontTx/>
              <a:buNone/>
            </a:pPr>
            <a:r>
              <a:rPr lang="en-US" altLang="zh-CN" sz="2400" b="1" i="1" dirty="0">
                <a:latin typeface="Times New Roman" panose="02020503050405090304" pitchFamily="18" charset="0"/>
              </a:rPr>
              <a:t>3x ≡ 1 ( mod 7)</a:t>
            </a:r>
            <a:endParaRPr lang="en-US" altLang="zh-CN" sz="2400" b="1" i="1" dirty="0">
              <a:latin typeface="Times New Roman" panose="02020503050405090304" pitchFamily="18" charset="0"/>
            </a:endParaRPr>
          </a:p>
        </p:txBody>
      </p:sp>
      <p:sp>
        <p:nvSpPr>
          <p:cNvPr id="11269"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1270"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1271"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itle 1"/>
          <p:cNvSpPr>
            <a:spLocks noGrp="1"/>
          </p:cNvSpPr>
          <p:nvPr>
            <p:ph type="title"/>
          </p:nvPr>
        </p:nvSpPr>
        <p:spPr/>
        <p:txBody>
          <a:bodyPr vert="horz" wrap="square" lIns="91440" tIns="45720" rIns="91440" bIns="45720" anchor="b" anchorCtr="0"/>
          <a:p>
            <a:r>
              <a:rPr lang="en-US" altLang="zh-CN" b="0" dirty="0">
                <a:latin typeface="Copperplate Gothic Bold" panose="020E0705020206020404" pitchFamily="34" charset="0"/>
              </a:rPr>
              <a:t>Finding Inverses</a:t>
            </a:r>
            <a:endParaRPr lang="en-US" altLang="zh-CN" b="0" dirty="0">
              <a:latin typeface="Copperplate Gothic Bold" panose="020E0705020206020404" pitchFamily="34" charset="0"/>
            </a:endParaRPr>
          </a:p>
        </p:txBody>
      </p:sp>
      <p:sp>
        <p:nvSpPr>
          <p:cNvPr id="12291" name="Content Placeholder 2"/>
          <p:cNvSpPr>
            <a:spLocks noGrp="1"/>
          </p:cNvSpPr>
          <p:nvPr>
            <p:ph idx="1"/>
          </p:nvPr>
        </p:nvSpPr>
        <p:spPr>
          <a:xfrm>
            <a:off x="420688" y="908050"/>
            <a:ext cx="8537575" cy="5610225"/>
          </a:xfrm>
        </p:spPr>
        <p:txBody>
          <a:bodyPr vert="horz" wrap="square" lIns="91440" tIns="45720" rIns="91440" bIns="45720" anchor="t" anchorCtr="0"/>
          <a:p>
            <a:pPr eaLnBrk="1" hangingPunct="1"/>
            <a:r>
              <a:rPr lang="en-US" altLang="zh-CN" sz="2800" b="1" dirty="0">
                <a:latin typeface="Times New Roman" panose="02020503050405090304" pitchFamily="18" charset="0"/>
              </a:rPr>
              <a:t>Example 2: </a:t>
            </a:r>
            <a:r>
              <a:rPr lang="en-US" altLang="zh-CN" sz="2800" dirty="0">
                <a:latin typeface="Times New Roman" panose="02020503050405090304" pitchFamily="18" charset="0"/>
              </a:rPr>
              <a:t>Find an inverse of 101 modulo 4620.</a:t>
            </a:r>
            <a:endParaRPr lang="en-US" altLang="zh-CN" sz="2800" dirty="0">
              <a:latin typeface="Times New Roman" panose="02020503050405090304" pitchFamily="18" charset="0"/>
            </a:endParaRPr>
          </a:p>
          <a:p>
            <a:pPr eaLnBrk="1" hangingPunct="1"/>
            <a:r>
              <a:rPr lang="en-US" altLang="zh-CN" sz="2800" b="1" dirty="0">
                <a:latin typeface="Times New Roman" panose="02020503050405090304" pitchFamily="18" charset="0"/>
              </a:rPr>
              <a:t>Solution: </a:t>
            </a:r>
            <a:endParaRPr lang="en-US" altLang="zh-CN" sz="2800" b="1" dirty="0">
              <a:latin typeface="Times New Roman" panose="02020503050405090304" pitchFamily="18" charset="0"/>
            </a:endParaRPr>
          </a:p>
          <a:p>
            <a:pPr lvl="1" eaLnBrk="1" hangingPunct="1">
              <a:spcBef>
                <a:spcPct val="0"/>
              </a:spcBef>
            </a:pPr>
            <a:r>
              <a:rPr lang="en-US" altLang="zh-CN" sz="2400" dirty="0">
                <a:latin typeface="Times New Roman" panose="02020503050405090304" pitchFamily="18" charset="0"/>
              </a:rPr>
              <a:t>First use the Euclidian algorithm to show that  </a:t>
            </a:r>
            <a:r>
              <a:rPr lang="en-US" altLang="zh-CN" sz="2000" dirty="0">
                <a:latin typeface="Times New Roman" panose="02020503050405090304" pitchFamily="18" charset="0"/>
                <a:cs typeface="Times New Roman" panose="02020503050405090304" pitchFamily="18" charset="0"/>
              </a:rPr>
              <a:t>gcd(4620,101) = 1. </a:t>
            </a:r>
            <a:endParaRPr lang="en-US" altLang="zh-CN" sz="2000" dirty="0">
              <a:latin typeface="Times New Roman" panose="02020503050405090304" pitchFamily="18" charset="0"/>
              <a:cs typeface="Times New Roman" panose="02020503050405090304" pitchFamily="18" charset="0"/>
            </a:endParaRPr>
          </a:p>
          <a:p>
            <a:pPr lvl="1" eaLnBrk="1" hangingPunct="1">
              <a:spcBef>
                <a:spcPct val="0"/>
              </a:spcBef>
            </a:pPr>
            <a:r>
              <a:rPr lang="en-US" altLang="zh-CN" sz="2400" dirty="0">
                <a:latin typeface="Times New Roman" panose="02020503050405090304" pitchFamily="18" charset="0"/>
              </a:rPr>
              <a:t>Then work backwards to get Bézout coefficients.</a:t>
            </a:r>
            <a:endParaRPr lang="en-US" altLang="zh-CN" sz="2400" dirty="0">
              <a:latin typeface="Times New Roman" panose="02020503050405090304" pitchFamily="18" charset="0"/>
            </a:endParaRPr>
          </a:p>
          <a:p>
            <a:pPr lvl="1">
              <a:spcBef>
                <a:spcPct val="0"/>
              </a:spcBef>
            </a:pPr>
            <a:endParaRPr lang="en-US" altLang="zh-CN" sz="2200" dirty="0">
              <a:latin typeface="Times New Roman" panose="02020503050405090304" pitchFamily="18" charset="0"/>
              <a:cs typeface="Times New Roman" panose="02020503050405090304" pitchFamily="18" charset="0"/>
            </a:endParaRPr>
          </a:p>
          <a:p>
            <a:pPr lvl="1">
              <a:buNone/>
            </a:pPr>
            <a:endParaRPr lang="en-US" altLang="zh-CN" sz="2200" dirty="0">
              <a:latin typeface="Times New Roman" panose="02020503050405090304" pitchFamily="18" charset="0"/>
              <a:ea typeface="Times New Roman" panose="02020503050405090304" pitchFamily="18" charset="0"/>
            </a:endParaRPr>
          </a:p>
        </p:txBody>
      </p:sp>
      <p:sp>
        <p:nvSpPr>
          <p:cNvPr id="12292" name="TextBox 3"/>
          <p:cNvSpPr txBox="1"/>
          <p:nvPr/>
        </p:nvSpPr>
        <p:spPr>
          <a:xfrm>
            <a:off x="533400" y="2636838"/>
            <a:ext cx="3276600" cy="29241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457200" lvl="1" indent="0">
              <a:spcBef>
                <a:spcPts val="600"/>
              </a:spcBef>
              <a:buClrTx/>
              <a:buSzTx/>
              <a:buFontTx/>
              <a:buNone/>
            </a:pPr>
            <a:r>
              <a:rPr lang="en-US" altLang="zh-CN" sz="2200" b="1" i="1" u="sng" dirty="0">
                <a:latin typeface="Times New Roman" panose="02020503050405090304" pitchFamily="18" charset="0"/>
              </a:rPr>
              <a:t>4620 = 45∙101 + 75</a:t>
            </a:r>
            <a:endParaRPr lang="en-US" altLang="zh-CN" sz="2200" b="1" i="1" u="sng" dirty="0">
              <a:latin typeface="Times New Roman" panose="02020503050405090304" pitchFamily="18" charset="0"/>
            </a:endParaRPr>
          </a:p>
          <a:p>
            <a:pPr marL="457200" lvl="1" indent="0">
              <a:spcBef>
                <a:spcPts val="600"/>
              </a:spcBef>
              <a:buClrTx/>
              <a:buSzTx/>
              <a:buFontTx/>
              <a:buNone/>
            </a:pPr>
            <a:r>
              <a:rPr lang="en-US" altLang="zh-CN" sz="2200" b="1" i="1" u="sng" dirty="0">
                <a:latin typeface="Times New Roman" panose="02020503050405090304" pitchFamily="18" charset="0"/>
              </a:rPr>
              <a:t>101 = 1∙75 + 26</a:t>
            </a:r>
            <a:endParaRPr lang="en-US" altLang="zh-CN" sz="2200" b="1" i="1" u="sng" dirty="0">
              <a:latin typeface="Times New Roman" panose="02020503050405090304" pitchFamily="18" charset="0"/>
            </a:endParaRPr>
          </a:p>
          <a:p>
            <a:pPr marL="457200" lvl="1" indent="0">
              <a:spcBef>
                <a:spcPts val="600"/>
              </a:spcBef>
              <a:buClrTx/>
              <a:buSzTx/>
              <a:buFontTx/>
              <a:buNone/>
            </a:pPr>
            <a:r>
              <a:rPr lang="en-US" altLang="zh-CN" sz="2200" b="1" i="1" u="sng" dirty="0">
                <a:latin typeface="Times New Roman" panose="02020503050405090304" pitchFamily="18" charset="0"/>
              </a:rPr>
              <a:t>75 = 2∙26 + 23</a:t>
            </a:r>
            <a:endParaRPr lang="en-US" altLang="zh-CN" sz="2200" b="1" i="1" u="sng" dirty="0">
              <a:latin typeface="Times New Roman" panose="02020503050405090304" pitchFamily="18" charset="0"/>
            </a:endParaRPr>
          </a:p>
          <a:p>
            <a:pPr marL="457200" lvl="1" indent="0">
              <a:spcBef>
                <a:spcPts val="600"/>
              </a:spcBef>
              <a:buClrTx/>
              <a:buSzTx/>
              <a:buFontTx/>
              <a:buNone/>
            </a:pPr>
            <a:r>
              <a:rPr lang="en-US" altLang="zh-CN" sz="2200" b="1" i="1" u="sng" dirty="0">
                <a:latin typeface="Times New Roman" panose="02020503050405090304" pitchFamily="18" charset="0"/>
              </a:rPr>
              <a:t>26 = 1∙23 + 3</a:t>
            </a:r>
            <a:endParaRPr lang="en-US" altLang="zh-CN" sz="2200" b="1" i="1" u="sng" dirty="0">
              <a:latin typeface="Times New Roman" panose="02020503050405090304" pitchFamily="18" charset="0"/>
            </a:endParaRPr>
          </a:p>
          <a:p>
            <a:pPr marL="457200" lvl="1" indent="0">
              <a:spcBef>
                <a:spcPts val="600"/>
              </a:spcBef>
              <a:buClrTx/>
              <a:buSzTx/>
              <a:buFontTx/>
              <a:buNone/>
            </a:pPr>
            <a:r>
              <a:rPr lang="en-US" altLang="zh-CN" sz="2200" b="1" i="1" u="sng" dirty="0">
                <a:latin typeface="Times New Roman" panose="02020503050405090304" pitchFamily="18" charset="0"/>
              </a:rPr>
              <a:t>23 = 7∙3 + 2</a:t>
            </a:r>
            <a:endParaRPr lang="en-US" altLang="zh-CN" sz="2200" b="1" i="1" u="sng" dirty="0">
              <a:latin typeface="Times New Roman" panose="02020503050405090304" pitchFamily="18" charset="0"/>
            </a:endParaRPr>
          </a:p>
          <a:p>
            <a:pPr marL="457200" lvl="1" indent="0">
              <a:spcBef>
                <a:spcPts val="600"/>
              </a:spcBef>
              <a:buClrTx/>
              <a:buSzTx/>
              <a:buFontTx/>
              <a:buNone/>
            </a:pPr>
            <a:r>
              <a:rPr lang="en-US" altLang="zh-CN" sz="2200" b="1" i="1" u="sng" dirty="0">
                <a:latin typeface="Times New Roman" panose="02020503050405090304" pitchFamily="18" charset="0"/>
              </a:rPr>
              <a:t>3 = 1∙2 + 1</a:t>
            </a:r>
            <a:endParaRPr lang="en-US" altLang="zh-CN" sz="2200" b="1" i="1" u="sng" dirty="0">
              <a:latin typeface="Times New Roman" panose="02020503050405090304" pitchFamily="18" charset="0"/>
            </a:endParaRPr>
          </a:p>
          <a:p>
            <a:pPr marL="457200" lvl="1" indent="0">
              <a:spcBef>
                <a:spcPts val="600"/>
              </a:spcBef>
              <a:buClrTx/>
              <a:buSzTx/>
              <a:buFontTx/>
              <a:buNone/>
            </a:pPr>
            <a:r>
              <a:rPr lang="en-US" altLang="zh-CN" sz="2200" b="1" i="1" u="sng" dirty="0">
                <a:latin typeface="Times New Roman" panose="02020503050405090304" pitchFamily="18" charset="0"/>
              </a:rPr>
              <a:t>2 = 2∙1</a:t>
            </a:r>
            <a:endParaRPr lang="en-US" altLang="zh-CN" sz="2200" b="1" i="1" u="sng" dirty="0">
              <a:latin typeface="Times New Roman" panose="02020503050405090304" pitchFamily="18" charset="0"/>
            </a:endParaRPr>
          </a:p>
        </p:txBody>
      </p:sp>
      <p:sp>
        <p:nvSpPr>
          <p:cNvPr id="11269" name="TextBox 4"/>
          <p:cNvSpPr txBox="1"/>
          <p:nvPr/>
        </p:nvSpPr>
        <p:spPr>
          <a:xfrm>
            <a:off x="420688" y="5741988"/>
            <a:ext cx="3178175" cy="708025"/>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en-US" altLang="zh-CN" sz="2000" b="1" i="1" dirty="0">
                <a:latin typeface="Times New Roman" panose="02020503050405090304" pitchFamily="18" charset="0"/>
              </a:rPr>
              <a:t>The last nonzero remainder is 1,  gcd(4620,101) = 1</a:t>
            </a:r>
            <a:endParaRPr lang="en-US" altLang="zh-CN" sz="2000" b="1" i="1" dirty="0">
              <a:latin typeface="Times New Roman" panose="02020503050405090304" pitchFamily="18" charset="0"/>
            </a:endParaRPr>
          </a:p>
        </p:txBody>
      </p:sp>
      <p:sp>
        <p:nvSpPr>
          <p:cNvPr id="12294" name="TextBox 5"/>
          <p:cNvSpPr txBox="1"/>
          <p:nvPr/>
        </p:nvSpPr>
        <p:spPr>
          <a:xfrm>
            <a:off x="3924300" y="2636838"/>
            <a:ext cx="4895850" cy="3092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1" indent="0">
              <a:spcBef>
                <a:spcPts val="600"/>
              </a:spcBef>
              <a:buClrTx/>
              <a:buSzTx/>
              <a:buFontTx/>
              <a:buNone/>
            </a:pPr>
            <a:r>
              <a:rPr lang="en-US" altLang="zh-CN" sz="2000" b="1" i="1" u="sng" dirty="0">
                <a:latin typeface="Times New Roman" panose="02020503050405090304" pitchFamily="18" charset="0"/>
              </a:rPr>
              <a:t>1 = 3 − 1∙2</a:t>
            </a:r>
            <a:endParaRPr lang="en-US" altLang="zh-CN" sz="2000" b="1" i="1" u="sng" dirty="0">
              <a:latin typeface="Times New Roman" panose="02020503050405090304" pitchFamily="18" charset="0"/>
            </a:endParaRPr>
          </a:p>
          <a:p>
            <a:pPr marL="0" lvl="1" indent="0">
              <a:spcBef>
                <a:spcPts val="600"/>
              </a:spcBef>
              <a:buClrTx/>
              <a:buSzTx/>
              <a:buFontTx/>
              <a:buNone/>
            </a:pPr>
            <a:r>
              <a:rPr lang="en-US" altLang="zh-CN" sz="2000" b="1" i="1" u="sng" dirty="0">
                <a:latin typeface="Times New Roman" panose="02020503050405090304" pitchFamily="18" charset="0"/>
              </a:rPr>
              <a:t>1 = 3 − 1∙(23 −  7∙3) = − 1 ∙23 + 8∙3</a:t>
            </a:r>
            <a:endParaRPr lang="en-US" altLang="zh-CN" sz="2000" b="1" i="1" u="sng" dirty="0">
              <a:latin typeface="Times New Roman" panose="02020503050405090304" pitchFamily="18" charset="0"/>
            </a:endParaRPr>
          </a:p>
          <a:p>
            <a:pPr marL="0" lvl="1" indent="0">
              <a:spcBef>
                <a:spcPts val="600"/>
              </a:spcBef>
              <a:buClrTx/>
              <a:buSzTx/>
              <a:buFontTx/>
              <a:buNone/>
            </a:pPr>
            <a:r>
              <a:rPr lang="en-US" altLang="zh-CN" sz="2000" b="1" i="1" u="sng" dirty="0">
                <a:latin typeface="Times New Roman" panose="02020503050405090304" pitchFamily="18" charset="0"/>
              </a:rPr>
              <a:t>1 = −1∙23 + 8∙(26 − 1∙23) = 8∙26 − 9 ∙23</a:t>
            </a:r>
            <a:endParaRPr lang="en-US" altLang="zh-CN" sz="2000" b="1" i="1" u="sng" dirty="0">
              <a:latin typeface="Times New Roman" panose="02020503050405090304" pitchFamily="18" charset="0"/>
            </a:endParaRPr>
          </a:p>
          <a:p>
            <a:pPr marL="0" lvl="1" indent="0">
              <a:spcBef>
                <a:spcPts val="600"/>
              </a:spcBef>
              <a:buClrTx/>
              <a:buSzTx/>
              <a:buFontTx/>
              <a:buNone/>
            </a:pPr>
            <a:r>
              <a:rPr lang="en-US" altLang="zh-CN" sz="2000" b="1" i="1" u="sng" dirty="0">
                <a:latin typeface="Times New Roman" panose="02020503050405090304" pitchFamily="18" charset="0"/>
              </a:rPr>
              <a:t>1 = 8∙26 − 9 ∙(75 − 2∙26 )= 26∙26 − 9 ∙75</a:t>
            </a:r>
            <a:endParaRPr lang="en-US" altLang="zh-CN" sz="2000" b="1" i="1" u="sng" dirty="0">
              <a:latin typeface="Times New Roman" panose="02020503050405090304" pitchFamily="18" charset="0"/>
            </a:endParaRPr>
          </a:p>
          <a:p>
            <a:pPr marL="0" lvl="1" indent="0">
              <a:spcBef>
                <a:spcPts val="600"/>
              </a:spcBef>
              <a:buClrTx/>
              <a:buSzTx/>
              <a:buFontTx/>
              <a:buNone/>
            </a:pPr>
            <a:r>
              <a:rPr lang="en-US" altLang="zh-CN" sz="2000" b="1" i="1" u="sng" dirty="0">
                <a:latin typeface="Times New Roman" panose="02020503050405090304" pitchFamily="18" charset="0"/>
              </a:rPr>
              <a:t>1 = 26∙(101 − 1∙75) − 9 ∙75 </a:t>
            </a:r>
            <a:endParaRPr lang="en-US" altLang="zh-CN" sz="2000" b="1" i="1" u="sng" dirty="0">
              <a:latin typeface="Times New Roman" panose="02020503050405090304" pitchFamily="18" charset="0"/>
            </a:endParaRPr>
          </a:p>
          <a:p>
            <a:pPr marL="0" lvl="1" indent="0">
              <a:spcBef>
                <a:spcPts val="600"/>
              </a:spcBef>
              <a:buClrTx/>
              <a:buSzTx/>
              <a:buFontTx/>
              <a:buNone/>
            </a:pPr>
            <a:r>
              <a:rPr lang="en-US" altLang="zh-CN" sz="2000" b="1" i="1" u="sng" dirty="0">
                <a:latin typeface="Times New Roman" panose="02020503050405090304" pitchFamily="18" charset="0"/>
              </a:rPr>
              <a:t>           = 26∙101 − 35 ∙75</a:t>
            </a:r>
            <a:endParaRPr lang="en-US" altLang="zh-CN" sz="2000" b="1" i="1" u="sng" dirty="0">
              <a:latin typeface="Times New Roman" panose="02020503050405090304" pitchFamily="18" charset="0"/>
            </a:endParaRPr>
          </a:p>
          <a:p>
            <a:pPr marL="0" lvl="1" indent="0">
              <a:spcBef>
                <a:spcPts val="600"/>
              </a:spcBef>
              <a:buClrTx/>
              <a:buSzTx/>
              <a:buFontTx/>
              <a:buNone/>
            </a:pPr>
            <a:r>
              <a:rPr lang="en-US" altLang="zh-CN" sz="2000" b="1" i="1" u="sng" dirty="0">
                <a:latin typeface="Times New Roman" panose="02020503050405090304" pitchFamily="18" charset="0"/>
              </a:rPr>
              <a:t>1 = 26∙101 − 35 ∙(4620 − 45∙101) </a:t>
            </a:r>
            <a:endParaRPr lang="en-US" altLang="zh-CN" sz="2000" b="1" i="1" u="sng" dirty="0">
              <a:latin typeface="Times New Roman" panose="02020503050405090304" pitchFamily="18" charset="0"/>
            </a:endParaRPr>
          </a:p>
          <a:p>
            <a:pPr marL="0" lvl="1" indent="0">
              <a:spcBef>
                <a:spcPts val="600"/>
              </a:spcBef>
              <a:buClrTx/>
              <a:buSzTx/>
              <a:buFontTx/>
              <a:buNone/>
            </a:pPr>
            <a:r>
              <a:rPr lang="en-US" altLang="zh-CN" sz="2000" b="1" i="1" u="sng" dirty="0">
                <a:latin typeface="Times New Roman" panose="02020503050405090304" pitchFamily="18" charset="0"/>
              </a:rPr>
              <a:t>       = − 35 ∙4620 + 1601∙101</a:t>
            </a:r>
            <a:endParaRPr lang="en-US" altLang="zh-CN" sz="2000" b="1" i="1" u="sng" dirty="0">
              <a:latin typeface="Times New Roman" panose="02020503050405090304" pitchFamily="18" charset="0"/>
            </a:endParaRPr>
          </a:p>
        </p:txBody>
      </p:sp>
      <p:sp>
        <p:nvSpPr>
          <p:cNvPr id="11271" name="TextBox 7"/>
          <p:cNvSpPr txBox="1"/>
          <p:nvPr/>
        </p:nvSpPr>
        <p:spPr>
          <a:xfrm>
            <a:off x="3717925" y="5732463"/>
            <a:ext cx="2509838" cy="708025"/>
          </a:xfrm>
          <a:prstGeom prst="rect">
            <a:avLst/>
          </a:prstGeom>
          <a:solidFill>
            <a:schemeClr val="accent2"/>
          </a:solidFill>
          <a:ln w="9525" cap="flat" cmpd="sng">
            <a:solidFill>
              <a:schemeClr val="accent2"/>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en-US" altLang="zh-CN" sz="2000" b="1" i="1" dirty="0">
                <a:latin typeface="Times New Roman" panose="02020503050405090304" pitchFamily="18" charset="0"/>
              </a:rPr>
              <a:t>B</a:t>
            </a:r>
            <a:r>
              <a:rPr lang="en-US" altLang="zh-CN" sz="2000" b="1" i="1" dirty="0">
                <a:latin typeface="Cambria Math" panose="02040503050406030204" pitchFamily="18" charset="0"/>
              </a:rPr>
              <a:t>é</a:t>
            </a:r>
            <a:r>
              <a:rPr lang="en-US" altLang="zh-CN" sz="2000" b="1" i="1" dirty="0">
                <a:latin typeface="Times New Roman" panose="02020503050405090304" pitchFamily="18" charset="0"/>
              </a:rPr>
              <a:t>zout coefficients :</a:t>
            </a:r>
            <a:r>
              <a:rPr lang="en-US" altLang="zh-CN" sz="2000" b="1" i="1" dirty="0">
                <a:latin typeface="Cambria Math" panose="02040503050406030204" pitchFamily="18" charset="0"/>
              </a:rPr>
              <a:t> − 35  </a:t>
            </a:r>
            <a:r>
              <a:rPr lang="en-US" altLang="zh-CN" sz="2000" b="1" i="1" dirty="0">
                <a:latin typeface="Times New Roman" panose="02020503050405090304" pitchFamily="18" charset="0"/>
              </a:rPr>
              <a:t>and</a:t>
            </a:r>
            <a:r>
              <a:rPr lang="en-US" altLang="zh-CN" sz="2000" b="1" i="1" dirty="0">
                <a:latin typeface="Cambria Math" panose="02040503050406030204" pitchFamily="18" charset="0"/>
              </a:rPr>
              <a:t> </a:t>
            </a:r>
            <a:r>
              <a:rPr lang="en-US" altLang="zh-CN" sz="2000" b="1" i="1" dirty="0">
                <a:latin typeface="Times New Roman" panose="02020503050405090304" pitchFamily="18" charset="0"/>
              </a:rPr>
              <a:t> </a:t>
            </a:r>
            <a:r>
              <a:rPr lang="en-US" altLang="zh-CN" sz="2000" b="1" i="1" dirty="0">
                <a:latin typeface="Cambria Math" panose="02040503050406030204" pitchFamily="18" charset="0"/>
              </a:rPr>
              <a:t>1601</a:t>
            </a:r>
            <a:r>
              <a:rPr lang="en-US" altLang="zh-CN" sz="2000" b="1" i="1" dirty="0">
                <a:latin typeface="Times New Roman" panose="02020503050405090304" pitchFamily="18" charset="0"/>
              </a:rPr>
              <a:t>  </a:t>
            </a:r>
            <a:endParaRPr lang="en-US" altLang="zh-CN" sz="2000" b="1" i="1" dirty="0">
              <a:latin typeface="Times New Roman" panose="02020503050405090304" pitchFamily="18" charset="0"/>
            </a:endParaRPr>
          </a:p>
        </p:txBody>
      </p:sp>
      <p:sp>
        <p:nvSpPr>
          <p:cNvPr id="11272" name="TextBox 8"/>
          <p:cNvSpPr txBox="1"/>
          <p:nvPr/>
        </p:nvSpPr>
        <p:spPr>
          <a:xfrm>
            <a:off x="6353175" y="5738813"/>
            <a:ext cx="2509838" cy="708025"/>
          </a:xfrm>
          <a:prstGeom prst="rect">
            <a:avLst/>
          </a:prstGeom>
          <a:solidFill>
            <a:schemeClr val="accent2"/>
          </a:solidFill>
          <a:ln w="9525" cap="flat" cmpd="sng">
            <a:solidFill>
              <a:schemeClr val="accent2"/>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en-US" altLang="zh-CN" sz="2000" b="1" i="1" dirty="0">
                <a:latin typeface="Cambria Math" panose="02040503050406030204" pitchFamily="18" charset="0"/>
              </a:rPr>
              <a:t>1601 is an inverse of 101 modulo 4620</a:t>
            </a:r>
            <a:endParaRPr lang="en-US" altLang="zh-CN" sz="2000" b="1" i="1" dirty="0">
              <a:latin typeface="Times New Roman" panose="02020503050405090304" pitchFamily="18" charset="0"/>
            </a:endParaRPr>
          </a:p>
        </p:txBody>
      </p:sp>
      <p:cxnSp>
        <p:nvCxnSpPr>
          <p:cNvPr id="11" name="Straight Arrow Connector 10"/>
          <p:cNvCxnSpPr/>
          <p:nvPr/>
        </p:nvCxnSpPr>
        <p:spPr>
          <a:xfrm flipV="1">
            <a:off x="2411413" y="2997200"/>
            <a:ext cx="1512888" cy="1943100"/>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animBg="1"/>
      <p:bldP spid="11271" grpId="0" animBg="1"/>
      <p:bldP spid="1127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itle 1"/>
          <p:cNvSpPr>
            <a:spLocks noGrp="1"/>
          </p:cNvSpPr>
          <p:nvPr>
            <p:ph type="title"/>
          </p:nvPr>
        </p:nvSpPr>
        <p:spPr>
          <a:xfrm>
            <a:off x="1042988" y="215900"/>
            <a:ext cx="7993062" cy="620713"/>
          </a:xfrm>
        </p:spPr>
        <p:txBody>
          <a:bodyPr vert="horz" wrap="square" lIns="91440" tIns="45720" rIns="91440" bIns="45720" anchor="b" anchorCtr="0"/>
          <a:p>
            <a:r>
              <a:rPr lang="en-US" altLang="zh-CN" sz="2800" b="0" dirty="0">
                <a:latin typeface="Copperplate Gothic Bold" panose="020E0705020206020404" pitchFamily="34" charset="0"/>
              </a:rPr>
              <a:t>Using Inverses to Solve Congruences</a:t>
            </a:r>
            <a:endParaRPr lang="en-US" altLang="zh-CN" sz="2800" b="0" dirty="0">
              <a:latin typeface="Copperplate Gothic Bold" panose="020E0705020206020404" pitchFamily="34" charset="0"/>
            </a:endParaRPr>
          </a:p>
        </p:txBody>
      </p:sp>
      <p:sp>
        <p:nvSpPr>
          <p:cNvPr id="13315" name="Content Placeholder 2"/>
          <p:cNvSpPr>
            <a:spLocks noGrp="1"/>
          </p:cNvSpPr>
          <p:nvPr>
            <p:ph idx="1"/>
          </p:nvPr>
        </p:nvSpPr>
        <p:spPr>
          <a:xfrm>
            <a:off x="323850" y="981075"/>
            <a:ext cx="8712200" cy="5472113"/>
          </a:xfrm>
        </p:spPr>
        <p:txBody>
          <a:bodyPr vert="horz" wrap="square" lIns="91440" tIns="45720" rIns="91440" bIns="45720" anchor="t" anchorCtr="0"/>
          <a:p>
            <a:pPr>
              <a:spcBef>
                <a:spcPts val="600"/>
              </a:spcBef>
            </a:pPr>
            <a:r>
              <a:rPr lang="en-US" altLang="zh-CN" sz="2800" b="1" dirty="0">
                <a:latin typeface="Times New Roman" panose="02020503050405090304" pitchFamily="18" charset="0"/>
              </a:rPr>
              <a:t>Definition</a:t>
            </a:r>
            <a:r>
              <a:rPr lang="zh-CN" altLang="en-US" sz="2800" b="1" dirty="0">
                <a:latin typeface="Times New Roman" panose="02020503050405090304" pitchFamily="18" charset="0"/>
              </a:rPr>
              <a:t>：</a:t>
            </a:r>
            <a:endParaRPr lang="en-US" altLang="zh-CN" sz="2800" b="1" dirty="0">
              <a:latin typeface="Times New Roman" panose="02020503050405090304" pitchFamily="18" charset="0"/>
            </a:endParaRPr>
          </a:p>
          <a:p>
            <a:pPr lvl="1">
              <a:spcBef>
                <a:spcPts val="600"/>
              </a:spcBef>
            </a:pPr>
            <a:r>
              <a:rPr lang="en-US" altLang="zh-CN" sz="2400" dirty="0">
                <a:latin typeface="Times New Roman" panose="02020503050405090304" pitchFamily="18" charset="0"/>
              </a:rPr>
              <a:t>We can solve the congruence  </a:t>
            </a:r>
            <a:r>
              <a:rPr lang="en-US" altLang="zh-CN" sz="2400" i="1" dirty="0">
                <a:latin typeface="Times New Roman" panose="02020503050405090304" pitchFamily="18" charset="0"/>
              </a:rPr>
              <a:t>ax </a:t>
            </a:r>
            <a:r>
              <a:rPr lang="en-US" altLang="zh-CN" sz="2400" dirty="0">
                <a:latin typeface="Times New Roman" panose="02020503050405090304" pitchFamily="18" charset="0"/>
              </a:rPr>
              <a:t>≡ </a:t>
            </a:r>
            <a:r>
              <a:rPr lang="en-US" altLang="zh-CN" sz="2400" i="1" dirty="0">
                <a:latin typeface="Times New Roman" panose="02020503050405090304" pitchFamily="18" charset="0"/>
              </a:rPr>
              <a:t>b </a:t>
            </a:r>
            <a:r>
              <a:rPr lang="en-US" altLang="zh-CN" sz="2400" dirty="0">
                <a:latin typeface="Times New Roman" panose="02020503050405090304" pitchFamily="18" charset="0"/>
              </a:rPr>
              <a:t>(mod </a:t>
            </a:r>
            <a:r>
              <a:rPr lang="en-US" altLang="zh-CN" sz="2400" i="1" dirty="0">
                <a:latin typeface="Times New Roman" panose="02020503050405090304" pitchFamily="18" charset="0"/>
              </a:rPr>
              <a:t>m</a:t>
            </a:r>
            <a:r>
              <a:rPr lang="en-US" altLang="zh-CN" sz="2400" dirty="0">
                <a:latin typeface="Times New Roman" panose="02020503050405090304" pitchFamily="18" charset="0"/>
              </a:rPr>
              <a:t>) by multiplying both sides by </a:t>
            </a:r>
            <a:r>
              <a:rPr lang="en-US" altLang="zh-CN" sz="2400" i="1" dirty="0">
                <a:latin typeface="Times New Roman" panose="02020503050405090304" pitchFamily="18" charset="0"/>
              </a:rPr>
              <a:t>ā.              x </a:t>
            </a:r>
            <a:r>
              <a:rPr lang="en-US" altLang="zh-CN" sz="2400" dirty="0">
                <a:latin typeface="Times New Roman" panose="02020503050405090304" pitchFamily="18" charset="0"/>
              </a:rPr>
              <a:t>≡ </a:t>
            </a:r>
            <a:r>
              <a:rPr lang="en-US" altLang="zh-CN" sz="2400" i="1" dirty="0">
                <a:latin typeface="Times New Roman" panose="02020503050405090304" pitchFamily="18" charset="0"/>
              </a:rPr>
              <a:t>ā </a:t>
            </a:r>
            <a:r>
              <a:rPr lang="en-US" altLang="zh-CN" sz="2400" dirty="0">
                <a:latin typeface="Times New Roman" panose="02020503050405090304" pitchFamily="18" charset="0"/>
              </a:rPr>
              <a:t>∙ </a:t>
            </a:r>
            <a:r>
              <a:rPr lang="en-US" altLang="zh-CN" sz="2400" i="1" dirty="0">
                <a:latin typeface="Times New Roman" panose="02020503050405090304" pitchFamily="18" charset="0"/>
              </a:rPr>
              <a:t>b </a:t>
            </a:r>
            <a:r>
              <a:rPr lang="en-US" altLang="zh-CN" sz="2400" dirty="0">
                <a:latin typeface="Times New Roman" panose="02020503050405090304" pitchFamily="18" charset="0"/>
              </a:rPr>
              <a:t>(mod </a:t>
            </a:r>
            <a:r>
              <a:rPr lang="en-US" altLang="zh-CN" sz="2400" i="1" dirty="0">
                <a:latin typeface="Times New Roman" panose="02020503050405090304" pitchFamily="18" charset="0"/>
              </a:rPr>
              <a:t>m</a:t>
            </a:r>
            <a:r>
              <a:rPr lang="en-US" altLang="zh-CN" sz="2400" dirty="0">
                <a:latin typeface="Times New Roman" panose="02020503050405090304" pitchFamily="18" charset="0"/>
              </a:rPr>
              <a:t>) </a:t>
            </a:r>
            <a:endParaRPr lang="en-US" altLang="zh-CN" sz="2400" i="1" dirty="0">
              <a:latin typeface="Times New Roman" panose="02020503050405090304" pitchFamily="18" charset="0"/>
            </a:endParaRPr>
          </a:p>
          <a:p>
            <a:pPr>
              <a:spcBef>
                <a:spcPts val="600"/>
              </a:spcBef>
            </a:pPr>
            <a:r>
              <a:rPr lang="en-US" altLang="zh-CN" sz="2800" b="1" dirty="0">
                <a:latin typeface="Times New Roman" panose="02020503050405090304" pitchFamily="18" charset="0"/>
              </a:rPr>
              <a:t>Example 3:  </a:t>
            </a:r>
            <a:endParaRPr lang="en-US" altLang="zh-CN" sz="2800" b="1" dirty="0">
              <a:latin typeface="Times New Roman" panose="02020503050405090304" pitchFamily="18" charset="0"/>
            </a:endParaRPr>
          </a:p>
          <a:p>
            <a:pPr lvl="1">
              <a:spcBef>
                <a:spcPts val="600"/>
              </a:spcBef>
            </a:pPr>
            <a:r>
              <a:rPr lang="en-US" altLang="zh-CN" sz="2400" dirty="0">
                <a:latin typeface="Times New Roman" panose="02020503050405090304" pitchFamily="18" charset="0"/>
              </a:rPr>
              <a:t>What are the solutions of the  congruence 3</a:t>
            </a:r>
            <a:r>
              <a:rPr lang="en-US" altLang="zh-CN" sz="2400" i="1" dirty="0">
                <a:latin typeface="Times New Roman" panose="02020503050405090304" pitchFamily="18" charset="0"/>
              </a:rPr>
              <a:t>x </a:t>
            </a:r>
            <a:r>
              <a:rPr lang="en-US" altLang="zh-CN" sz="2400" dirty="0">
                <a:latin typeface="Times New Roman" panose="02020503050405090304" pitchFamily="18" charset="0"/>
              </a:rPr>
              <a:t>≡ 4 (mod 7). </a:t>
            </a:r>
            <a:endParaRPr lang="en-US" altLang="zh-CN" sz="2400" dirty="0">
              <a:latin typeface="Times New Roman" panose="02020503050405090304" pitchFamily="18" charset="0"/>
            </a:endParaRPr>
          </a:p>
          <a:p>
            <a:pPr>
              <a:spcBef>
                <a:spcPts val="600"/>
              </a:spcBef>
            </a:pPr>
            <a:r>
              <a:rPr lang="en-US" altLang="zh-CN" sz="2800" b="1" dirty="0">
                <a:latin typeface="Times New Roman" panose="02020503050405090304" pitchFamily="18" charset="0"/>
              </a:rPr>
              <a:t>Solution:  </a:t>
            </a:r>
            <a:endParaRPr lang="en-US" altLang="zh-CN" sz="2800" b="1" dirty="0">
              <a:latin typeface="Times New Roman" panose="02020503050405090304" pitchFamily="18" charset="0"/>
            </a:endParaRPr>
          </a:p>
          <a:p>
            <a:pPr lvl="1">
              <a:spcBef>
                <a:spcPts val="600"/>
              </a:spcBef>
            </a:pPr>
            <a:r>
              <a:rPr lang="en-US" altLang="zh-CN" sz="2400" dirty="0">
                <a:latin typeface="Times New Roman" panose="02020503050405090304" pitchFamily="18" charset="0"/>
              </a:rPr>
              <a:t>We found that −2 is an inverse of 3 modulo 7. </a:t>
            </a:r>
            <a:endParaRPr lang="en-US" altLang="zh-CN" sz="2400" dirty="0">
              <a:latin typeface="Times New Roman" panose="02020503050405090304" pitchFamily="18" charset="0"/>
            </a:endParaRPr>
          </a:p>
          <a:p>
            <a:pPr lvl="1">
              <a:spcBef>
                <a:spcPts val="600"/>
              </a:spcBef>
            </a:pPr>
            <a:r>
              <a:rPr lang="en-US" altLang="zh-CN" sz="2400" dirty="0">
                <a:latin typeface="Times New Roman" panose="02020503050405090304" pitchFamily="18" charset="0"/>
              </a:rPr>
              <a:t>We multiply both sides of the congruence by −2 giving </a:t>
            </a:r>
            <a:endParaRPr lang="en-US" altLang="zh-CN" sz="2400" dirty="0">
              <a:latin typeface="Times New Roman" panose="02020503050405090304" pitchFamily="18" charset="0"/>
            </a:endParaRPr>
          </a:p>
          <a:p>
            <a:pPr>
              <a:spcBef>
                <a:spcPts val="600"/>
              </a:spcBef>
              <a:buNone/>
            </a:pPr>
            <a:r>
              <a:rPr lang="en-US" altLang="zh-CN" sz="2400" dirty="0">
                <a:latin typeface="Times New Roman" panose="02020503050405090304" pitchFamily="18" charset="0"/>
              </a:rPr>
              <a:t>                −2 ∙ 3</a:t>
            </a:r>
            <a:r>
              <a:rPr lang="en-US" altLang="zh-CN" sz="2400" i="1" dirty="0">
                <a:latin typeface="Times New Roman" panose="02020503050405090304" pitchFamily="18" charset="0"/>
              </a:rPr>
              <a:t>x </a:t>
            </a:r>
            <a:r>
              <a:rPr lang="en-US" altLang="zh-CN" sz="2400" dirty="0">
                <a:latin typeface="Times New Roman" panose="02020503050405090304" pitchFamily="18" charset="0"/>
              </a:rPr>
              <a:t>≡ −2 ∙ 4(mod 7).  </a:t>
            </a:r>
            <a:r>
              <a:rPr lang="en-US" altLang="zh-CN" sz="2400" b="1" dirty="0">
                <a:solidFill>
                  <a:srgbClr val="FF0000"/>
                </a:solidFill>
                <a:latin typeface="Times New Roman" panose="02020503050405090304" pitchFamily="18" charset="0"/>
              </a:rPr>
              <a:t>(why?)</a:t>
            </a:r>
            <a:endParaRPr lang="en-US" altLang="zh-CN" sz="2400" b="1" dirty="0">
              <a:solidFill>
                <a:srgbClr val="FF0000"/>
              </a:solidFill>
              <a:latin typeface="Times New Roman" panose="02020503050405090304" pitchFamily="18" charset="0"/>
            </a:endParaRPr>
          </a:p>
          <a:p>
            <a:pPr lvl="1">
              <a:spcBef>
                <a:spcPts val="600"/>
              </a:spcBef>
            </a:pPr>
            <a:r>
              <a:rPr lang="en-US" altLang="zh-CN" sz="2400" dirty="0">
                <a:latin typeface="Times New Roman" panose="02020503050405090304" pitchFamily="18" charset="0"/>
              </a:rPr>
              <a:t>Because  −6 ≡ 1 (mod 7)  and −8 ≡ 6 (mod 7)</a:t>
            </a:r>
            <a:endParaRPr lang="en-US" altLang="zh-CN" sz="2400" dirty="0">
              <a:latin typeface="Times New Roman" panose="02020503050405090304" pitchFamily="18" charset="0"/>
            </a:endParaRPr>
          </a:p>
          <a:p>
            <a:pPr lvl="1">
              <a:spcBef>
                <a:spcPts val="600"/>
              </a:spcBef>
            </a:pPr>
            <a:r>
              <a:rPr lang="en-US" altLang="zh-CN" sz="2400" dirty="0">
                <a:latin typeface="Times New Roman" panose="02020503050405090304" pitchFamily="18" charset="0"/>
              </a:rPr>
              <a:t>it follows that if </a:t>
            </a:r>
            <a:r>
              <a:rPr lang="en-US" altLang="zh-CN" sz="2400" i="1" dirty="0">
                <a:latin typeface="Times New Roman" panose="02020503050405090304" pitchFamily="18" charset="0"/>
              </a:rPr>
              <a:t>x</a:t>
            </a:r>
            <a:r>
              <a:rPr lang="en-US" altLang="zh-CN" sz="2400" dirty="0">
                <a:latin typeface="Times New Roman" panose="02020503050405090304" pitchFamily="18" charset="0"/>
              </a:rPr>
              <a:t> is a solution, then </a:t>
            </a:r>
            <a:r>
              <a:rPr lang="en-US" altLang="zh-CN" sz="2400" i="1" dirty="0">
                <a:latin typeface="Times New Roman" panose="02020503050405090304" pitchFamily="18" charset="0"/>
              </a:rPr>
              <a:t>x</a:t>
            </a:r>
            <a:r>
              <a:rPr lang="en-US" altLang="zh-CN" sz="2400" dirty="0">
                <a:latin typeface="Times New Roman" panose="02020503050405090304" pitchFamily="18" charset="0"/>
              </a:rPr>
              <a:t>≡ −8 (mod 7) ≡ 6 (mod 7)</a:t>
            </a:r>
            <a:endParaRPr lang="en-US" altLang="zh-CN" sz="2400" dirty="0">
              <a:latin typeface="Times New Roman" panose="02020503050405090304" pitchFamily="18" charset="0"/>
            </a:endParaRPr>
          </a:p>
        </p:txBody>
      </p:sp>
      <p:sp>
        <p:nvSpPr>
          <p:cNvPr id="1331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331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331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13319" name="箭头: 右 1"/>
          <p:cNvSpPr/>
          <p:nvPr/>
        </p:nvSpPr>
        <p:spPr>
          <a:xfrm>
            <a:off x="3419475" y="1989138"/>
            <a:ext cx="360363" cy="215900"/>
          </a:xfrm>
          <a:prstGeom prst="rightArrow">
            <a:avLst>
              <a:gd name="adj1" fmla="val 50000"/>
              <a:gd name="adj2" fmla="val 50073"/>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lgn="ctr">
              <a:spcBef>
                <a:spcPct val="0"/>
              </a:spcBef>
              <a:buClrTx/>
              <a:buSzTx/>
              <a:buFontTx/>
              <a:buNone/>
            </a:pPr>
            <a:endParaRPr lang="zh-CN" altLang="en-US" sz="2400" b="1" i="1" u="sng" dirty="0">
              <a:latin typeface="Times New Roman" panose="0202050305040509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itle 1"/>
          <p:cNvSpPr>
            <a:spLocks noGrp="1"/>
          </p:cNvSpPr>
          <p:nvPr>
            <p:ph type="title"/>
          </p:nvPr>
        </p:nvSpPr>
        <p:spPr>
          <a:xfrm>
            <a:off x="1042988" y="215900"/>
            <a:ext cx="7993062" cy="620713"/>
          </a:xfrm>
        </p:spPr>
        <p:txBody>
          <a:bodyPr vert="horz" wrap="square" lIns="91440" tIns="45720" rIns="91440" bIns="45720" anchor="b" anchorCtr="0"/>
          <a:p>
            <a:r>
              <a:rPr lang="en-US" altLang="zh-CN" sz="2800" b="0" dirty="0">
                <a:latin typeface="Copperplate Gothic Bold" panose="020E0705020206020404" pitchFamily="34" charset="0"/>
              </a:rPr>
              <a:t>Using Inverses to Solve Congruences</a:t>
            </a:r>
            <a:endParaRPr lang="en-US" altLang="zh-CN" sz="2800" b="0" dirty="0">
              <a:latin typeface="Copperplate Gothic Bold" panose="020E0705020206020404" pitchFamily="34" charset="0"/>
            </a:endParaRPr>
          </a:p>
        </p:txBody>
      </p:sp>
      <p:sp>
        <p:nvSpPr>
          <p:cNvPr id="14339" name="Content Placeholder 2"/>
          <p:cNvSpPr>
            <a:spLocks noGrp="1"/>
          </p:cNvSpPr>
          <p:nvPr>
            <p:ph idx="1"/>
          </p:nvPr>
        </p:nvSpPr>
        <p:spPr>
          <a:xfrm>
            <a:off x="395288" y="981075"/>
            <a:ext cx="8424862" cy="4535488"/>
          </a:xfrm>
        </p:spPr>
        <p:txBody>
          <a:bodyPr vert="horz" wrap="square" lIns="91440" tIns="45720" rIns="91440" bIns="45720" anchor="t" anchorCtr="0"/>
          <a:p>
            <a:pPr>
              <a:spcBef>
                <a:spcPts val="600"/>
              </a:spcBef>
            </a:pPr>
            <a:r>
              <a:rPr lang="en-US" altLang="zh-CN" sz="2800" b="1" dirty="0">
                <a:latin typeface="Times New Roman" panose="02020503050405090304" pitchFamily="18" charset="0"/>
              </a:rPr>
              <a:t>Further more</a:t>
            </a:r>
            <a:r>
              <a:rPr lang="zh-CN" altLang="en-US" sz="2800" b="1" dirty="0">
                <a:latin typeface="Times New Roman" panose="02020503050405090304" pitchFamily="18" charset="0"/>
              </a:rPr>
              <a:t>：</a:t>
            </a:r>
            <a:endParaRPr lang="en-US" altLang="zh-CN" sz="2800" b="1" dirty="0">
              <a:latin typeface="Times New Roman" panose="02020503050405090304" pitchFamily="18" charset="0"/>
            </a:endParaRPr>
          </a:p>
          <a:p>
            <a:pPr lvl="1">
              <a:spcBef>
                <a:spcPts val="600"/>
              </a:spcBef>
            </a:pPr>
            <a:r>
              <a:rPr lang="en-US" altLang="zh-CN" sz="2400" dirty="0">
                <a:latin typeface="Times New Roman" panose="02020503050405090304" pitchFamily="18" charset="0"/>
              </a:rPr>
              <a:t>We need to determine if every </a:t>
            </a:r>
            <a:r>
              <a:rPr lang="en-US" altLang="zh-CN" sz="2400" i="1" dirty="0">
                <a:latin typeface="Times New Roman" panose="02020503050405090304" pitchFamily="18" charset="0"/>
              </a:rPr>
              <a:t>x</a:t>
            </a:r>
            <a:r>
              <a:rPr lang="en-US" altLang="zh-CN" sz="2400" dirty="0">
                <a:latin typeface="Times New Roman" panose="02020503050405090304" pitchFamily="18" charset="0"/>
              </a:rPr>
              <a:t> with</a:t>
            </a:r>
            <a:r>
              <a:rPr lang="en-US" altLang="zh-CN" sz="2400" i="1" dirty="0">
                <a:latin typeface="Times New Roman" panose="02020503050405090304" pitchFamily="18" charset="0"/>
              </a:rPr>
              <a:t> </a:t>
            </a:r>
            <a:r>
              <a:rPr lang="en-US" altLang="zh-CN" sz="2400" i="1" dirty="0">
                <a:solidFill>
                  <a:srgbClr val="FF0000"/>
                </a:solidFill>
                <a:latin typeface="Times New Roman" panose="02020503050405090304" pitchFamily="18" charset="0"/>
              </a:rPr>
              <a:t>x</a:t>
            </a:r>
            <a:r>
              <a:rPr lang="en-US" altLang="zh-CN" sz="2400" dirty="0">
                <a:solidFill>
                  <a:srgbClr val="FF0000"/>
                </a:solidFill>
                <a:latin typeface="Times New Roman" panose="02020503050405090304" pitchFamily="18" charset="0"/>
              </a:rPr>
              <a:t>  ≡ 6 (mod 7) </a:t>
            </a:r>
            <a:r>
              <a:rPr lang="en-US" altLang="zh-CN" sz="2400" dirty="0">
                <a:latin typeface="Times New Roman" panose="02020503050405090304" pitchFamily="18" charset="0"/>
              </a:rPr>
              <a:t>is a solution of 3</a:t>
            </a:r>
            <a:r>
              <a:rPr lang="en-US" altLang="zh-CN" sz="2400" i="1" dirty="0">
                <a:latin typeface="Times New Roman" panose="02020503050405090304" pitchFamily="18" charset="0"/>
              </a:rPr>
              <a:t>x </a:t>
            </a:r>
            <a:r>
              <a:rPr lang="en-US" altLang="zh-CN" sz="2400" dirty="0">
                <a:latin typeface="Times New Roman" panose="02020503050405090304" pitchFamily="18" charset="0"/>
              </a:rPr>
              <a:t>≡ 4 (mod 7).</a:t>
            </a:r>
            <a:endParaRPr lang="en-US" altLang="zh-CN" sz="2400" dirty="0">
              <a:latin typeface="Times New Roman" panose="02020503050405090304" pitchFamily="18" charset="0"/>
            </a:endParaRPr>
          </a:p>
          <a:p>
            <a:pPr lvl="1">
              <a:spcBef>
                <a:spcPts val="600"/>
              </a:spcBef>
            </a:pPr>
            <a:r>
              <a:rPr lang="en-US" altLang="zh-CN" sz="2400" dirty="0">
                <a:latin typeface="Times New Roman" panose="02020503050405090304" pitchFamily="18" charset="0"/>
              </a:rPr>
              <a:t>By Theorem 5 of Section 4.1 (</a:t>
            </a:r>
            <a:r>
              <a:rPr lang="zh-CN" altLang="en-US" sz="2400" dirty="0">
                <a:latin typeface="Times New Roman" panose="02020503050405090304" pitchFamily="18" charset="0"/>
              </a:rPr>
              <a:t>积同余定理</a:t>
            </a:r>
            <a:r>
              <a:rPr lang="en-US" altLang="zh-CN" sz="2400" dirty="0">
                <a:latin typeface="Times New Roman" panose="02020503050405090304" pitchFamily="18" charset="0"/>
              </a:rPr>
              <a:t>), it follows that   </a:t>
            </a:r>
            <a:r>
              <a:rPr lang="en-US" altLang="zh-CN" sz="2400" dirty="0">
                <a:solidFill>
                  <a:srgbClr val="FF0000"/>
                </a:solidFill>
                <a:latin typeface="Times New Roman" panose="02020503050405090304" pitchFamily="18" charset="0"/>
              </a:rPr>
              <a:t>3</a:t>
            </a:r>
            <a:r>
              <a:rPr lang="en-US" altLang="zh-CN" sz="2400" i="1" dirty="0">
                <a:solidFill>
                  <a:srgbClr val="FF0000"/>
                </a:solidFill>
                <a:latin typeface="Times New Roman" panose="02020503050405090304" pitchFamily="18" charset="0"/>
              </a:rPr>
              <a:t>x </a:t>
            </a:r>
            <a:r>
              <a:rPr lang="en-US" altLang="zh-CN" sz="2400" dirty="0">
                <a:solidFill>
                  <a:srgbClr val="FF0000"/>
                </a:solidFill>
                <a:latin typeface="Times New Roman" panose="02020503050405090304" pitchFamily="18" charset="0"/>
              </a:rPr>
              <a:t>≡ 3 ∙ 6</a:t>
            </a:r>
            <a:r>
              <a:rPr lang="en-US" altLang="zh-CN" sz="2400" i="1" dirty="0">
                <a:solidFill>
                  <a:srgbClr val="FF0000"/>
                </a:solidFill>
                <a:latin typeface="Times New Roman" panose="02020503050405090304" pitchFamily="18" charset="0"/>
              </a:rPr>
              <a:t> = </a:t>
            </a:r>
            <a:r>
              <a:rPr lang="en-US" altLang="zh-CN" sz="2400" dirty="0">
                <a:solidFill>
                  <a:srgbClr val="FF0000"/>
                </a:solidFill>
                <a:latin typeface="Times New Roman" panose="02020503050405090304" pitchFamily="18" charset="0"/>
              </a:rPr>
              <a:t>18</a:t>
            </a:r>
            <a:r>
              <a:rPr lang="en-US" altLang="zh-CN" sz="2400" i="1" dirty="0">
                <a:solidFill>
                  <a:srgbClr val="FF0000"/>
                </a:solidFill>
                <a:latin typeface="Times New Roman" panose="02020503050405090304" pitchFamily="18" charset="0"/>
              </a:rPr>
              <a:t> </a:t>
            </a:r>
            <a:r>
              <a:rPr lang="en-US" altLang="zh-CN" sz="2400" dirty="0">
                <a:solidFill>
                  <a:srgbClr val="FF0000"/>
                </a:solidFill>
                <a:latin typeface="Times New Roman" panose="02020503050405090304" pitchFamily="18" charset="0"/>
              </a:rPr>
              <a:t>≡ 4 ( mod 7)</a:t>
            </a:r>
            <a:r>
              <a:rPr lang="en-US" altLang="zh-CN" sz="2400" dirty="0">
                <a:latin typeface="Times New Roman" panose="02020503050405090304" pitchFamily="18" charset="0"/>
              </a:rPr>
              <a:t> which shows that all such </a:t>
            </a:r>
            <a:r>
              <a:rPr lang="en-US" altLang="zh-CN" sz="2400" i="1" dirty="0">
                <a:latin typeface="Times New Roman" panose="02020503050405090304" pitchFamily="18" charset="0"/>
              </a:rPr>
              <a:t>x</a:t>
            </a:r>
            <a:r>
              <a:rPr lang="en-US" altLang="zh-CN" sz="2400" dirty="0">
                <a:latin typeface="Times New Roman" panose="02020503050405090304" pitchFamily="18" charset="0"/>
              </a:rPr>
              <a:t> satisfy the congruence. </a:t>
            </a:r>
            <a:endParaRPr lang="en-US" altLang="zh-CN" sz="2400" dirty="0">
              <a:latin typeface="Times New Roman" panose="02020503050405090304" pitchFamily="18" charset="0"/>
            </a:endParaRPr>
          </a:p>
          <a:p>
            <a:pPr lvl="1">
              <a:spcBef>
                <a:spcPts val="600"/>
              </a:spcBef>
            </a:pPr>
            <a:r>
              <a:rPr lang="en-US" altLang="zh-CN" sz="2400" dirty="0">
                <a:latin typeface="Times New Roman" panose="02020503050405090304" pitchFamily="18" charset="0"/>
              </a:rPr>
              <a:t>The solutions are the integers </a:t>
            </a:r>
            <a:r>
              <a:rPr lang="en-US" altLang="zh-CN" sz="2400" i="1" dirty="0">
                <a:latin typeface="Times New Roman" panose="02020503050405090304" pitchFamily="18" charset="0"/>
              </a:rPr>
              <a:t>x</a:t>
            </a:r>
            <a:r>
              <a:rPr lang="en-US" altLang="zh-CN" sz="2400" dirty="0">
                <a:latin typeface="Times New Roman" panose="02020503050405090304" pitchFamily="18" charset="0"/>
              </a:rPr>
              <a:t> such that </a:t>
            </a:r>
            <a:r>
              <a:rPr lang="en-US" altLang="zh-CN" sz="2400" i="1" dirty="0">
                <a:latin typeface="Times New Roman" panose="02020503050405090304" pitchFamily="18" charset="0"/>
              </a:rPr>
              <a:t>x</a:t>
            </a:r>
            <a:r>
              <a:rPr lang="en-US" altLang="zh-CN" sz="2400" dirty="0">
                <a:latin typeface="Times New Roman" panose="02020503050405090304" pitchFamily="18" charset="0"/>
              </a:rPr>
              <a:t>  ≡ 6 (mod 7), namely,  6, 13, 20 </a:t>
            </a:r>
            <a:r>
              <a:rPr lang="en-US" altLang="zh-CN" sz="2400" dirty="0">
                <a:latin typeface="Times New Roman" panose="02020503050405090304" pitchFamily="18" charset="0"/>
                <a:ea typeface="Times New Roman" panose="02020503050405090304" pitchFamily="18" charset="0"/>
              </a:rPr>
              <a:t>…</a:t>
            </a:r>
            <a:r>
              <a:rPr lang="en-US" altLang="zh-CN" sz="2400" dirty="0">
                <a:latin typeface="Times New Roman" panose="02020503050405090304" pitchFamily="18" charset="0"/>
              </a:rPr>
              <a:t> and   −1, − 8, − 15,</a:t>
            </a:r>
            <a:r>
              <a:rPr lang="en-US" altLang="zh-CN" sz="2400" dirty="0">
                <a:latin typeface="Times New Roman" panose="02020503050405090304" pitchFamily="18" charset="0"/>
                <a:ea typeface="Times New Roman" panose="02020503050405090304" pitchFamily="18" charset="0"/>
              </a:rPr>
              <a:t>…</a:t>
            </a:r>
            <a:endParaRPr lang="en-US" altLang="zh-CN" sz="2400" dirty="0">
              <a:latin typeface="Times New Roman" panose="02020503050405090304" pitchFamily="18" charset="0"/>
              <a:cs typeface="Times New Roman" panose="02020503050405090304" pitchFamily="18" charset="0"/>
            </a:endParaRPr>
          </a:p>
          <a:p>
            <a:pPr>
              <a:spcBef>
                <a:spcPts val="1800"/>
              </a:spcBef>
            </a:pPr>
            <a:r>
              <a:rPr lang="en-US" altLang="zh-CN" sz="2800" b="1" dirty="0">
                <a:latin typeface="Times New Roman" panose="02020503050405090304" pitchFamily="18" charset="0"/>
              </a:rPr>
              <a:t>Exercise</a:t>
            </a:r>
            <a:r>
              <a:rPr lang="zh-CN" altLang="en-US" sz="2800" b="1" dirty="0">
                <a:latin typeface="Times New Roman" panose="02020503050405090304" pitchFamily="18" charset="0"/>
              </a:rPr>
              <a:t>：</a:t>
            </a:r>
            <a:r>
              <a:rPr lang="en-US" altLang="zh-CN" sz="2400" dirty="0">
                <a:latin typeface="Times New Roman" panose="02020503050405090304" pitchFamily="18" charset="0"/>
                <a:cs typeface="Times New Roman" panose="02020503050405090304" pitchFamily="18" charset="0"/>
              </a:rPr>
              <a:t>Solve the congruence using inverse of </a:t>
            </a:r>
            <a:r>
              <a:rPr lang="en-US" altLang="zh-CN" sz="2400" i="1" dirty="0">
                <a:latin typeface="Times New Roman" panose="02020503050405090304" pitchFamily="18" charset="0"/>
                <a:cs typeface="Times New Roman" panose="02020503050405090304" pitchFamily="18" charset="0"/>
              </a:rPr>
              <a:t>a mod m</a:t>
            </a:r>
            <a:endParaRPr lang="en-US" altLang="zh-CN" sz="2400" i="1" dirty="0">
              <a:latin typeface="Times New Roman" panose="02020503050405090304" pitchFamily="18" charset="0"/>
              <a:cs typeface="Times New Roman" panose="02020503050405090304" pitchFamily="18" charset="0"/>
            </a:endParaRPr>
          </a:p>
          <a:p>
            <a:pPr lvl="1">
              <a:spcBef>
                <a:spcPts val="600"/>
              </a:spcBef>
            </a:pPr>
            <a:r>
              <a:rPr lang="en-US" altLang="zh-CN" sz="2400" i="1" dirty="0">
                <a:latin typeface="Times New Roman" panose="02020503050405090304" pitchFamily="18" charset="0"/>
                <a:cs typeface="Times New Roman" panose="02020503050405090304" pitchFamily="18" charset="0"/>
              </a:rPr>
              <a:t>19x ≡ 4 (mod 141)</a:t>
            </a:r>
            <a:endParaRPr lang="en-US" altLang="zh-CN" sz="2400" i="1" dirty="0">
              <a:latin typeface="Times New Roman" panose="02020503050405090304" pitchFamily="18" charset="0"/>
              <a:ea typeface="Times New Roman" panose="02020503050405090304" pitchFamily="18" charset="0"/>
            </a:endParaRPr>
          </a:p>
        </p:txBody>
      </p:sp>
      <p:sp>
        <p:nvSpPr>
          <p:cNvPr id="1434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434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434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2" name="矩形 1"/>
          <p:cNvSpPr/>
          <p:nvPr/>
        </p:nvSpPr>
        <p:spPr>
          <a:xfrm>
            <a:off x="3132138" y="5484813"/>
            <a:ext cx="4759325" cy="784225"/>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71755" lvl="2" indent="0" algn="ctr">
              <a:spcBef>
                <a:spcPts val="600"/>
              </a:spcBef>
              <a:buClrTx/>
              <a:buSzTx/>
              <a:buFontTx/>
              <a:buNone/>
            </a:pPr>
            <a:r>
              <a:rPr lang="en-US" altLang="zh-CN" sz="2000" b="1" i="1" dirty="0">
                <a:latin typeface="Times New Roman" panose="02020503050405090304" pitchFamily="18" charset="0"/>
                <a:cs typeface="Times New Roman" panose="02020503050405090304" pitchFamily="18" charset="0"/>
              </a:rPr>
              <a:t>gcd(141,19)=1,</a:t>
            </a:r>
            <a:r>
              <a:rPr lang="zh-CN" altLang="en-US" sz="2000" b="1" i="1" dirty="0">
                <a:latin typeface="Times New Roman" panose="02020503050405090304" pitchFamily="18" charset="0"/>
                <a:cs typeface="Times New Roman" panose="02020503050405090304" pitchFamily="18" charset="0"/>
              </a:rPr>
              <a:t>  </a:t>
            </a:r>
            <a:r>
              <a:rPr lang="en-US" altLang="zh-CN" sz="2000" b="1" i="1" dirty="0">
                <a:latin typeface="Times New Roman" panose="02020503050405090304" pitchFamily="18" charset="0"/>
                <a:cs typeface="Times New Roman" panose="02020503050405090304" pitchFamily="18" charset="0"/>
              </a:rPr>
              <a:t>1=-7*141+</a:t>
            </a:r>
            <a:r>
              <a:rPr lang="en-US" altLang="zh-CN" sz="2000" b="1" i="1" dirty="0">
                <a:solidFill>
                  <a:srgbClr val="FF0000"/>
                </a:solidFill>
                <a:latin typeface="Times New Roman" panose="02020503050405090304" pitchFamily="18" charset="0"/>
                <a:cs typeface="Times New Roman" panose="02020503050405090304" pitchFamily="18" charset="0"/>
              </a:rPr>
              <a:t>52</a:t>
            </a:r>
            <a:r>
              <a:rPr lang="en-US" altLang="zh-CN" sz="2000" b="1" i="1" dirty="0">
                <a:latin typeface="Times New Roman" panose="02020503050405090304" pitchFamily="18" charset="0"/>
                <a:cs typeface="Times New Roman" panose="02020503050405090304" pitchFamily="18" charset="0"/>
              </a:rPr>
              <a:t>*19</a:t>
            </a:r>
            <a:endParaRPr lang="en-US" altLang="zh-CN" sz="2000" b="1" i="1" dirty="0">
              <a:latin typeface="Times New Roman" panose="02020503050405090304" pitchFamily="18" charset="0"/>
              <a:cs typeface="Times New Roman" panose="02020503050405090304" pitchFamily="18" charset="0"/>
            </a:endParaRPr>
          </a:p>
          <a:p>
            <a:pPr marL="71755" lvl="2" indent="0" algn="ctr">
              <a:spcBef>
                <a:spcPts val="600"/>
              </a:spcBef>
              <a:buClrTx/>
              <a:buSzTx/>
              <a:buFontTx/>
              <a:buNone/>
            </a:pPr>
            <a:r>
              <a:rPr lang="en-US" altLang="zh-CN" sz="2000" b="1" i="1" dirty="0">
                <a:latin typeface="Times New Roman" panose="02020503050405090304" pitchFamily="18" charset="0"/>
                <a:cs typeface="Times New Roman" panose="02020503050405090304" pitchFamily="18" charset="0"/>
              </a:rPr>
              <a:t>x=</a:t>
            </a:r>
            <a:r>
              <a:rPr lang="da-DK" altLang="zh-CN" sz="2000" b="1" i="1" dirty="0">
                <a:latin typeface="Times New Roman" panose="02020503050405090304" pitchFamily="18" charset="0"/>
                <a:cs typeface="Times New Roman" panose="02020503050405090304" pitchFamily="18" charset="0"/>
              </a:rPr>
              <a:t>52*4 (mod 141)= 67 (mod 141)</a:t>
            </a:r>
            <a:endParaRPr lang="en-US" altLang="zh-CN" sz="2000" b="1" i="1" dirty="0">
              <a:latin typeface="Times New Roman" panose="02020503050405090304" pitchFamily="18" charset="0"/>
              <a:ea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itle 1"/>
          <p:cNvSpPr>
            <a:spLocks noGrp="1"/>
          </p:cNvSpPr>
          <p:nvPr>
            <p:ph type="title"/>
          </p:nvPr>
        </p:nvSpPr>
        <p:spPr>
          <a:xfrm>
            <a:off x="1023938" y="115888"/>
            <a:ext cx="8012112" cy="720725"/>
          </a:xfrm>
        </p:spPr>
        <p:txBody>
          <a:bodyPr vert="horz" wrap="square" lIns="91440" tIns="45720" rIns="91440" bIns="45720" anchor="b" anchorCtr="0"/>
          <a:p>
            <a:r>
              <a:rPr lang="en-US" altLang="zh-CN" sz="3200" b="0" dirty="0">
                <a:latin typeface="Copperplate Gothic Bold" panose="020E0705020206020404" pitchFamily="34" charset="0"/>
              </a:rPr>
              <a:t>The Chinese Remainder Theorem</a:t>
            </a:r>
            <a:endParaRPr lang="en-US" altLang="zh-CN" sz="3200" b="0" dirty="0">
              <a:latin typeface="Copperplate Gothic Bold" panose="020E0705020206020404" pitchFamily="34" charset="0"/>
            </a:endParaRPr>
          </a:p>
        </p:txBody>
      </p:sp>
      <p:sp>
        <p:nvSpPr>
          <p:cNvPr id="3" name="Content Placeholder 2"/>
          <p:cNvSpPr>
            <a:spLocks noGrp="1"/>
          </p:cNvSpPr>
          <p:nvPr>
            <p:ph idx="1"/>
          </p:nvPr>
        </p:nvSpPr>
        <p:spPr>
          <a:xfrm>
            <a:off x="468313" y="981075"/>
            <a:ext cx="8424863" cy="5327650"/>
          </a:xfrm>
        </p:spPr>
        <p:txBody>
          <a:bodyPr vert="horz" wrap="square" lIns="91440" tIns="45720" rIns="91440" bIns="45720" numCol="1" anchor="t" anchorCtr="0" compatLnSpc="1">
            <a:normAutofit fontScale="92500" lnSpcReduction="10000"/>
          </a:bodyPr>
          <a:lstStyle/>
          <a:p>
            <a:pPr marL="342900" marR="0" lvl="0" indent="-342900" algn="just" defTabSz="914400" rtl="0" eaLnBrk="0" fontAlgn="base" latinLnBrk="0" hangingPunct="0">
              <a:lnSpc>
                <a:spcPct val="100000"/>
              </a:lnSpc>
              <a:spcBef>
                <a:spcPts val="600"/>
              </a:spcBef>
              <a:spcAft>
                <a:spcPct val="0"/>
              </a:spcAft>
              <a:buClr>
                <a:schemeClr val="folHlink"/>
              </a:buClr>
              <a:buSzPct val="60000"/>
              <a:buFont typeface="Wingdings" panose="05000000000000000000" pitchFamily="2" charset="2"/>
              <a:buChar char="n"/>
              <a:defRPr/>
            </a:pPr>
            <a:r>
              <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In the forth century, the Chinese mathematician Sun-</a:t>
            </a:r>
            <a:r>
              <a:rPr kumimoji="1" lang="en-US" altLang="zh-CN" sz="2800" b="0" i="0" u="none" strike="noStrike" kern="0" cap="none" spc="0" normalizeH="0" baseline="0" noProof="0" dirty="0" err="1">
                <a:ln>
                  <a:noFill/>
                </a:ln>
                <a:solidFill>
                  <a:schemeClr val="tx1"/>
                </a:solidFill>
                <a:effectLst/>
                <a:uLnTx/>
                <a:uFillTx/>
                <a:latin typeface="Times New Roman" panose="02020503050405090304" pitchFamily="18" charset="0"/>
                <a:ea typeface="+mn-ea"/>
                <a:cs typeface="Times New Roman" panose="02020503050405090304" pitchFamily="18" charset="0"/>
              </a:rPr>
              <a:t>Tsu</a:t>
            </a:r>
            <a:r>
              <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asked:</a:t>
            </a:r>
            <a:endPar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742950" marR="0" lvl="1" indent="-285750" algn="just"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l"/>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There are certain things whose number is unknown. When divided by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Cambria Math" panose="02040503050406030204" pitchFamily="18" charset="0"/>
                <a:cs typeface="Times New Roman" panose="02020503050405090304" pitchFamily="18" charset="0"/>
              </a:rPr>
              <a:t>3, the remainder is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ea"/>
              </a:rPr>
              <a:t>2</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when divided by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ea"/>
              </a:rPr>
              <a:t>5</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the remainder is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ea"/>
              </a:rPr>
              <a:t>3</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when divided by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ea"/>
              </a:rPr>
              <a:t>7</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the remainder is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ea"/>
              </a:rPr>
              <a:t>2</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What will be the number of things?</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342900" marR="0" lvl="0" indent="-342900" algn="just" defTabSz="914400" rtl="0" eaLnBrk="0" fontAlgn="base" latinLnBrk="0" hangingPunct="0">
              <a:lnSpc>
                <a:spcPct val="100000"/>
              </a:lnSpc>
              <a:spcBef>
                <a:spcPts val="600"/>
              </a:spcBef>
              <a:spcAft>
                <a:spcPct val="0"/>
              </a:spcAft>
              <a:buClr>
                <a:schemeClr val="folHlink"/>
              </a:buClr>
              <a:buSzPct val="60000"/>
              <a:buFont typeface="Wingdings" panose="05000000000000000000" pitchFamily="2" charset="2"/>
              <a:buChar char="n"/>
              <a:defRPr/>
            </a:pPr>
            <a:r>
              <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This puzzle can be translated into the solution of the system of congruences:</a:t>
            </a:r>
            <a:endPar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742950" marR="0" lvl="1" indent="-285750" algn="just"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l"/>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x ≡ 2 ( mod 3),</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742950" marR="0" lvl="1" indent="-285750" algn="just"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l"/>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x ≡ 3 ( mod 5),</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742950" marR="0" lvl="1" indent="-285750" algn="just"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l"/>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x ≡ 2 ( mod 7)?</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342900" marR="0" lvl="0" indent="-342900" algn="just" defTabSz="914400" rtl="0" eaLnBrk="0" fontAlgn="base" latinLnBrk="0" hangingPunct="0">
              <a:lnSpc>
                <a:spcPct val="100000"/>
              </a:lnSpc>
              <a:spcBef>
                <a:spcPts val="600"/>
              </a:spcBef>
              <a:spcAft>
                <a:spcPct val="0"/>
              </a:spcAft>
              <a:buClr>
                <a:schemeClr val="folHlink"/>
              </a:buClr>
              <a:buSzPct val="60000"/>
              <a:buFont typeface="Wingdings" panose="05000000000000000000" pitchFamily="2" charset="2"/>
              <a:buChar char="n"/>
              <a:defRPr/>
            </a:pPr>
            <a:r>
              <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We’ll see how the theorem that is known as the </a:t>
            </a:r>
            <a:r>
              <a:rPr kumimoji="1" lang="en-US" altLang="zh-CN" sz="2800" b="1" i="1" u="none" strike="noStrike" kern="0" cap="none" spc="0" normalizeH="0" baseline="0" noProof="0" dirty="0">
                <a:ln>
                  <a:noFill/>
                </a:ln>
                <a:solidFill>
                  <a:srgbClr val="FF0000"/>
                </a:solidFill>
                <a:effectLst/>
                <a:uLnTx/>
                <a:uFillTx/>
                <a:latin typeface="Times New Roman" panose="02020503050405090304" pitchFamily="18" charset="0"/>
                <a:ea typeface="+mn-ea"/>
                <a:cs typeface="Times New Roman" panose="02020503050405090304" pitchFamily="18" charset="0"/>
              </a:rPr>
              <a:t>Chinese Remainder Theorem </a:t>
            </a:r>
            <a:r>
              <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can be used to solve Sun-</a:t>
            </a:r>
            <a:r>
              <a:rPr kumimoji="1" lang="en-US" altLang="zh-CN" sz="2800" b="0" i="0" u="none" strike="noStrike" kern="0" cap="none" spc="0" normalizeH="0" baseline="0" noProof="0" dirty="0" err="1">
                <a:ln>
                  <a:noFill/>
                </a:ln>
                <a:solidFill>
                  <a:schemeClr val="tx1"/>
                </a:solidFill>
                <a:effectLst/>
                <a:uLnTx/>
                <a:uFillTx/>
                <a:latin typeface="Times New Roman" panose="02020503050405090304" pitchFamily="18" charset="0"/>
                <a:ea typeface="+mn-ea"/>
                <a:cs typeface="Times New Roman" panose="02020503050405090304" pitchFamily="18" charset="0"/>
              </a:rPr>
              <a:t>Tsu’s</a:t>
            </a:r>
            <a:r>
              <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problem.</a:t>
            </a:r>
            <a:endPar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
        <p:nvSpPr>
          <p:cNvPr id="14340" name="矩形 1"/>
          <p:cNvSpPr/>
          <p:nvPr/>
        </p:nvSpPr>
        <p:spPr>
          <a:xfrm>
            <a:off x="4518025" y="3500438"/>
            <a:ext cx="4354513" cy="1447800"/>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zh-CN" altLang="en-US" sz="2200" b="1" dirty="0">
                <a:solidFill>
                  <a:srgbClr val="333333"/>
                </a:solidFill>
                <a:latin typeface="Helvetica Neue" panose="02000503000000020004"/>
              </a:rPr>
              <a:t>南北朝时期</a:t>
            </a:r>
            <a:r>
              <a:rPr lang="en-US" altLang="zh-CN" sz="2200" b="1" dirty="0">
                <a:solidFill>
                  <a:srgbClr val="333333"/>
                </a:solidFill>
                <a:latin typeface="Helvetica Neue" panose="02000503000000020004"/>
              </a:rPr>
              <a:t>《</a:t>
            </a:r>
            <a:r>
              <a:rPr lang="zh-CN" altLang="en-US" sz="2200" b="1" dirty="0">
                <a:solidFill>
                  <a:srgbClr val="333333"/>
                </a:solidFill>
                <a:latin typeface="Helvetica Neue" panose="02000503000000020004"/>
              </a:rPr>
              <a:t>孙子算经</a:t>
            </a:r>
            <a:r>
              <a:rPr lang="en-US" altLang="zh-CN" sz="2200" b="1" dirty="0">
                <a:solidFill>
                  <a:srgbClr val="333333"/>
                </a:solidFill>
                <a:latin typeface="Helvetica Neue" panose="02000503000000020004"/>
              </a:rPr>
              <a:t>》</a:t>
            </a:r>
            <a:r>
              <a:rPr lang="zh-CN" altLang="en-US" sz="2200" b="1" dirty="0">
                <a:solidFill>
                  <a:srgbClr val="333333"/>
                </a:solidFill>
                <a:latin typeface="Helvetica Neue" panose="02000503000000020004"/>
              </a:rPr>
              <a:t>：</a:t>
            </a:r>
            <a:endParaRPr lang="en-US" altLang="zh-CN" sz="2200" b="1" dirty="0">
              <a:solidFill>
                <a:srgbClr val="333333"/>
              </a:solidFill>
              <a:latin typeface="Helvetica Neue" panose="02000503000000020004"/>
            </a:endParaRPr>
          </a:p>
          <a:p>
            <a:pPr marL="0" lvl="0" indent="0">
              <a:spcBef>
                <a:spcPct val="0"/>
              </a:spcBef>
              <a:buClrTx/>
              <a:buSzTx/>
              <a:buFontTx/>
              <a:buNone/>
            </a:pPr>
            <a:r>
              <a:rPr lang="zh-CN" altLang="en-US" sz="2200" b="1" dirty="0">
                <a:solidFill>
                  <a:srgbClr val="333333"/>
                </a:solidFill>
                <a:latin typeface="Helvetica Neue" panose="02000503000000020004"/>
              </a:rPr>
              <a:t>有物不知其数，三三数之剩二，五五数之剩三，七七数之剩二。问物几何？</a:t>
            </a:r>
            <a:endParaRPr lang="zh-CN" altLang="en-US" sz="2200" b="1" i="1" dirty="0">
              <a:latin typeface="Times New Roman" panose="02020503050405090304" pitchFamily="18" charset="0"/>
            </a:endParaRPr>
          </a:p>
        </p:txBody>
      </p:sp>
      <p:sp>
        <p:nvSpPr>
          <p:cNvPr id="15365"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5366"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5367"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itle 1"/>
          <p:cNvSpPr>
            <a:spLocks noGrp="1"/>
          </p:cNvSpPr>
          <p:nvPr>
            <p:ph type="title"/>
          </p:nvPr>
        </p:nvSpPr>
        <p:spPr>
          <a:xfrm>
            <a:off x="1023938" y="92075"/>
            <a:ext cx="7931150" cy="744538"/>
          </a:xfrm>
        </p:spPr>
        <p:txBody>
          <a:bodyPr vert="horz" wrap="square" lIns="91440" tIns="45720" rIns="91440" bIns="45720" anchor="b" anchorCtr="0"/>
          <a:p>
            <a:r>
              <a:rPr lang="en-US" altLang="zh-CN" sz="3200" b="0" dirty="0">
                <a:latin typeface="Copperplate Gothic Bold" panose="020E0705020206020404" pitchFamily="34" charset="0"/>
              </a:rPr>
              <a:t>The Chinese Remainder Theorem</a:t>
            </a:r>
            <a:endParaRPr lang="en-US" altLang="zh-CN" sz="3200" b="0" dirty="0">
              <a:latin typeface="Copperplate Gothic Bold" panose="020E0705020206020404" pitchFamily="34" charset="0"/>
            </a:endParaRPr>
          </a:p>
        </p:txBody>
      </p:sp>
      <p:sp>
        <p:nvSpPr>
          <p:cNvPr id="16387" name="Content Placeholder 2"/>
          <p:cNvSpPr>
            <a:spLocks noGrp="1"/>
          </p:cNvSpPr>
          <p:nvPr>
            <p:ph idx="1"/>
          </p:nvPr>
        </p:nvSpPr>
        <p:spPr/>
        <p:txBody>
          <a:bodyPr vert="horz" wrap="square" lIns="91440" tIns="45720" rIns="91440" bIns="45720" anchor="t" anchorCtr="0"/>
          <a:p>
            <a:pPr algn="just">
              <a:spcBef>
                <a:spcPct val="0"/>
              </a:spcBef>
            </a:pPr>
            <a:r>
              <a:rPr lang="en-US" altLang="zh-CN" sz="2800" b="1" dirty="0">
                <a:latin typeface="Times New Roman" panose="02020503050405090304" pitchFamily="18" charset="0"/>
              </a:rPr>
              <a:t>Theorem 2: (</a:t>
            </a:r>
            <a:r>
              <a:rPr lang="en-US" altLang="zh-CN" sz="2800" b="1" i="1" dirty="0">
                <a:solidFill>
                  <a:srgbClr val="FF0000"/>
                </a:solidFill>
                <a:latin typeface="Times New Roman" panose="02020503050405090304" pitchFamily="18" charset="0"/>
              </a:rPr>
              <a:t>The Chinese Remainder Theorem:CRT</a:t>
            </a:r>
            <a:r>
              <a:rPr lang="en-US" altLang="zh-CN" sz="2800" b="1" dirty="0">
                <a:latin typeface="Times New Roman" panose="02020503050405090304" pitchFamily="18" charset="0"/>
              </a:rPr>
              <a:t>) </a:t>
            </a:r>
            <a:endParaRPr lang="en-US" altLang="zh-CN" sz="2800" b="1" dirty="0">
              <a:latin typeface="Times New Roman" panose="02020503050405090304" pitchFamily="18" charset="0"/>
            </a:endParaRPr>
          </a:p>
          <a:p>
            <a:pPr lvl="1" algn="just">
              <a:spcBef>
                <a:spcPts val="300"/>
              </a:spcBef>
            </a:pPr>
            <a:r>
              <a:rPr lang="en-US" altLang="zh-CN" sz="2200" dirty="0">
                <a:latin typeface="Times New Roman" panose="02020503050405090304" pitchFamily="18" charset="0"/>
              </a:rPr>
              <a:t>Let </a:t>
            </a:r>
            <a:r>
              <a:rPr lang="en-US" altLang="zh-CN" sz="2200" i="1" dirty="0">
                <a:latin typeface="Times New Roman" panose="02020503050405090304" pitchFamily="18" charset="0"/>
              </a:rPr>
              <a:t>m</a:t>
            </a:r>
            <a:r>
              <a:rPr lang="en-US" altLang="zh-CN" sz="2200" baseline="-25000" dirty="0">
                <a:latin typeface="Times New Roman" panose="02020503050405090304" pitchFamily="18" charset="0"/>
              </a:rPr>
              <a:t>1</a:t>
            </a:r>
            <a:r>
              <a:rPr lang="en-US" altLang="zh-CN" sz="2200" dirty="0">
                <a:latin typeface="Times New Roman" panose="02020503050405090304" pitchFamily="18" charset="0"/>
              </a:rPr>
              <a:t>,</a:t>
            </a:r>
            <a:r>
              <a:rPr lang="en-US" altLang="zh-CN" sz="2200" i="1" dirty="0">
                <a:latin typeface="Times New Roman" panose="02020503050405090304" pitchFamily="18" charset="0"/>
              </a:rPr>
              <a:t>m</a:t>
            </a:r>
            <a:r>
              <a:rPr lang="en-US" altLang="zh-CN" sz="2200" baseline="-25000" dirty="0">
                <a:latin typeface="Times New Roman" panose="02020503050405090304" pitchFamily="18" charset="0"/>
              </a:rPr>
              <a:t>2</a:t>
            </a:r>
            <a:r>
              <a:rPr lang="en-US" altLang="zh-CN" sz="2200" dirty="0">
                <a:latin typeface="Times New Roman" panose="02020503050405090304" pitchFamily="18" charset="0"/>
              </a:rPr>
              <a:t>,</a:t>
            </a:r>
            <a:r>
              <a:rPr lang="en-US" altLang="zh-CN" sz="2200" dirty="0">
                <a:latin typeface="Times New Roman" panose="02020503050405090304" pitchFamily="18" charset="0"/>
                <a:ea typeface="Times New Roman" panose="02020503050405090304" pitchFamily="18" charset="0"/>
              </a:rPr>
              <a:t>…</a:t>
            </a:r>
            <a:r>
              <a:rPr lang="en-US" altLang="zh-CN" sz="2200" dirty="0">
                <a:latin typeface="Times New Roman" panose="02020503050405090304" pitchFamily="18" charset="0"/>
              </a:rPr>
              <a:t>,</a:t>
            </a:r>
            <a:r>
              <a:rPr lang="en-US" altLang="zh-CN" sz="2200" i="1" dirty="0">
                <a:latin typeface="Times New Roman" panose="02020503050405090304" pitchFamily="18" charset="0"/>
              </a:rPr>
              <a:t>m</a:t>
            </a:r>
            <a:r>
              <a:rPr lang="en-US" altLang="zh-CN" sz="2200" i="1" baseline="-25000" dirty="0">
                <a:latin typeface="Times New Roman" panose="02020503050405090304" pitchFamily="18" charset="0"/>
              </a:rPr>
              <a:t>n</a:t>
            </a:r>
            <a:r>
              <a:rPr lang="en-US" altLang="zh-CN" sz="2200" dirty="0">
                <a:latin typeface="Times New Roman" panose="02020503050405090304" pitchFamily="18" charset="0"/>
              </a:rPr>
              <a:t> be </a:t>
            </a:r>
            <a:r>
              <a:rPr lang="en-US" altLang="zh-CN" sz="2200" b="1" i="1" dirty="0">
                <a:latin typeface="Times New Roman" panose="02020503050405090304" pitchFamily="18" charset="0"/>
              </a:rPr>
              <a:t>pairwise relatively prime</a:t>
            </a:r>
            <a:r>
              <a:rPr lang="en-US" altLang="zh-CN" sz="2200" dirty="0">
                <a:latin typeface="Times New Roman" panose="02020503050405090304" pitchFamily="18" charset="0"/>
              </a:rPr>
              <a:t> positive integers greater than 1 and </a:t>
            </a:r>
            <a:r>
              <a:rPr lang="en-US" altLang="zh-CN" sz="2200" i="1" dirty="0">
                <a:latin typeface="Times New Roman" panose="02020503050405090304" pitchFamily="18" charset="0"/>
              </a:rPr>
              <a:t>a</a:t>
            </a:r>
            <a:r>
              <a:rPr lang="en-US" altLang="zh-CN" sz="2200" baseline="-25000" dirty="0">
                <a:latin typeface="Times New Roman" panose="02020503050405090304" pitchFamily="18" charset="0"/>
              </a:rPr>
              <a:t>1</a:t>
            </a:r>
            <a:r>
              <a:rPr lang="en-US" altLang="zh-CN" sz="2200" dirty="0">
                <a:latin typeface="Times New Roman" panose="02020503050405090304" pitchFamily="18" charset="0"/>
              </a:rPr>
              <a:t>,</a:t>
            </a:r>
            <a:r>
              <a:rPr lang="en-US" altLang="zh-CN" sz="2200" i="1" dirty="0">
                <a:latin typeface="Times New Roman" panose="02020503050405090304" pitchFamily="18" charset="0"/>
              </a:rPr>
              <a:t>a</a:t>
            </a:r>
            <a:r>
              <a:rPr lang="en-US" altLang="zh-CN" sz="2200" baseline="-25000" dirty="0">
                <a:latin typeface="Times New Roman" panose="02020503050405090304" pitchFamily="18" charset="0"/>
              </a:rPr>
              <a:t>2</a:t>
            </a:r>
            <a:r>
              <a:rPr lang="en-US" altLang="zh-CN" sz="2200" dirty="0">
                <a:latin typeface="Times New Roman" panose="02020503050405090304" pitchFamily="18" charset="0"/>
              </a:rPr>
              <a:t>,</a:t>
            </a:r>
            <a:r>
              <a:rPr lang="en-US" altLang="zh-CN" sz="2200" dirty="0">
                <a:latin typeface="Times New Roman" panose="02020503050405090304" pitchFamily="18" charset="0"/>
                <a:ea typeface="Times New Roman" panose="02020503050405090304" pitchFamily="18" charset="0"/>
              </a:rPr>
              <a:t>…</a:t>
            </a:r>
            <a:r>
              <a:rPr lang="en-US" altLang="zh-CN" sz="2200" dirty="0">
                <a:latin typeface="Times New Roman" panose="02020503050405090304" pitchFamily="18" charset="0"/>
              </a:rPr>
              <a:t>,</a:t>
            </a:r>
            <a:r>
              <a:rPr lang="en-US" altLang="zh-CN" sz="2200" i="1" dirty="0">
                <a:latin typeface="Times New Roman" panose="02020503050405090304" pitchFamily="18" charset="0"/>
              </a:rPr>
              <a:t>a</a:t>
            </a:r>
            <a:r>
              <a:rPr lang="en-US" altLang="zh-CN" sz="2200" i="1" baseline="-25000" dirty="0">
                <a:latin typeface="Times New Roman" panose="02020503050405090304" pitchFamily="18" charset="0"/>
              </a:rPr>
              <a:t>n</a:t>
            </a:r>
            <a:r>
              <a:rPr lang="en-US" altLang="zh-CN" sz="2200" dirty="0">
                <a:latin typeface="Times New Roman" panose="02020503050405090304" pitchFamily="18" charset="0"/>
              </a:rPr>
              <a:t> be arbitrary integers. Then the system</a:t>
            </a:r>
            <a:endParaRPr lang="en-US" altLang="zh-CN" sz="2200" dirty="0">
              <a:latin typeface="Times New Roman" panose="02020503050405090304" pitchFamily="18" charset="0"/>
            </a:endParaRPr>
          </a:p>
          <a:p>
            <a:pPr lvl="1" algn="just">
              <a:spcBef>
                <a:spcPts val="300"/>
              </a:spcBef>
              <a:buNone/>
            </a:pPr>
            <a:r>
              <a:rPr lang="en-US" altLang="zh-CN" sz="2200" i="1" dirty="0">
                <a:latin typeface="Times New Roman" panose="02020503050405090304" pitchFamily="18" charset="0"/>
              </a:rPr>
              <a:t>	x </a:t>
            </a:r>
            <a:r>
              <a:rPr lang="en-US" altLang="zh-CN" sz="2200" dirty="0">
                <a:latin typeface="Times New Roman" panose="02020503050405090304" pitchFamily="18" charset="0"/>
              </a:rPr>
              <a:t>≡ </a:t>
            </a:r>
            <a:r>
              <a:rPr lang="en-US" altLang="zh-CN" sz="2200" i="1" dirty="0">
                <a:latin typeface="Times New Roman" panose="02020503050405090304" pitchFamily="18" charset="0"/>
              </a:rPr>
              <a:t>a</a:t>
            </a:r>
            <a:r>
              <a:rPr lang="en-US" altLang="zh-CN" sz="2200" baseline="-25000" dirty="0">
                <a:latin typeface="Times New Roman" panose="02020503050405090304" pitchFamily="18" charset="0"/>
              </a:rPr>
              <a:t>1</a:t>
            </a:r>
            <a:r>
              <a:rPr lang="en-US" altLang="zh-CN" sz="2200" dirty="0">
                <a:latin typeface="Times New Roman" panose="02020503050405090304" pitchFamily="18" charset="0"/>
              </a:rPr>
              <a:t> ( mod </a:t>
            </a:r>
            <a:r>
              <a:rPr lang="en-US" altLang="zh-CN" sz="2200" i="1" dirty="0">
                <a:latin typeface="Times New Roman" panose="02020503050405090304" pitchFamily="18" charset="0"/>
              </a:rPr>
              <a:t>m</a:t>
            </a:r>
            <a:r>
              <a:rPr lang="en-US" altLang="zh-CN" sz="2200" baseline="-25000" dirty="0">
                <a:latin typeface="Times New Roman" panose="02020503050405090304" pitchFamily="18" charset="0"/>
              </a:rPr>
              <a:t>1</a:t>
            </a:r>
            <a:r>
              <a:rPr lang="en-US" altLang="zh-CN" sz="2200" dirty="0">
                <a:latin typeface="Times New Roman" panose="02020503050405090304" pitchFamily="18" charset="0"/>
              </a:rPr>
              <a:t>)</a:t>
            </a:r>
            <a:endParaRPr lang="en-US" altLang="zh-CN" sz="2200" dirty="0">
              <a:latin typeface="Times New Roman" panose="02020503050405090304" pitchFamily="18" charset="0"/>
            </a:endParaRPr>
          </a:p>
          <a:p>
            <a:pPr lvl="1" algn="just">
              <a:spcBef>
                <a:spcPts val="300"/>
              </a:spcBef>
              <a:buNone/>
            </a:pPr>
            <a:r>
              <a:rPr lang="en-US" altLang="zh-CN" sz="2200" i="1" dirty="0">
                <a:latin typeface="Times New Roman" panose="02020503050405090304" pitchFamily="18" charset="0"/>
              </a:rPr>
              <a:t>	x </a:t>
            </a:r>
            <a:r>
              <a:rPr lang="en-US" altLang="zh-CN" sz="2200" dirty="0">
                <a:latin typeface="Times New Roman" panose="02020503050405090304" pitchFamily="18" charset="0"/>
              </a:rPr>
              <a:t>≡ </a:t>
            </a:r>
            <a:r>
              <a:rPr lang="en-US" altLang="zh-CN" sz="2200" i="1" dirty="0">
                <a:latin typeface="Times New Roman" panose="02020503050405090304" pitchFamily="18" charset="0"/>
              </a:rPr>
              <a:t>a</a:t>
            </a:r>
            <a:r>
              <a:rPr lang="en-US" altLang="zh-CN" sz="2200" baseline="-25000" dirty="0">
                <a:latin typeface="Times New Roman" panose="02020503050405090304" pitchFamily="18" charset="0"/>
              </a:rPr>
              <a:t>2</a:t>
            </a:r>
            <a:r>
              <a:rPr lang="en-US" altLang="zh-CN" sz="2200" dirty="0">
                <a:latin typeface="Times New Roman" panose="02020503050405090304" pitchFamily="18" charset="0"/>
              </a:rPr>
              <a:t> ( mod </a:t>
            </a:r>
            <a:r>
              <a:rPr lang="en-US" altLang="zh-CN" sz="2200" i="1" dirty="0">
                <a:latin typeface="Times New Roman" panose="02020503050405090304" pitchFamily="18" charset="0"/>
              </a:rPr>
              <a:t>m</a:t>
            </a:r>
            <a:r>
              <a:rPr lang="en-US" altLang="zh-CN" sz="2200" baseline="-25000" dirty="0">
                <a:latin typeface="Times New Roman" panose="02020503050405090304" pitchFamily="18" charset="0"/>
              </a:rPr>
              <a:t>2</a:t>
            </a:r>
            <a:r>
              <a:rPr lang="en-US" altLang="zh-CN" sz="2200" dirty="0">
                <a:latin typeface="Times New Roman" panose="02020503050405090304" pitchFamily="18" charset="0"/>
              </a:rPr>
              <a:t>)</a:t>
            </a:r>
            <a:endParaRPr lang="en-US" altLang="zh-CN" sz="2200" dirty="0">
              <a:latin typeface="Times New Roman" panose="02020503050405090304" pitchFamily="18" charset="0"/>
            </a:endParaRPr>
          </a:p>
          <a:p>
            <a:pPr lvl="1" algn="just">
              <a:spcBef>
                <a:spcPts val="300"/>
              </a:spcBef>
              <a:buNone/>
            </a:pPr>
            <a:r>
              <a:rPr lang="en-US" altLang="zh-CN" sz="2200" dirty="0">
                <a:latin typeface="Times New Roman" panose="02020503050405090304" pitchFamily="18" charset="0"/>
              </a:rPr>
              <a:t>    ….</a:t>
            </a:r>
            <a:endParaRPr lang="en-US" altLang="zh-CN" sz="2200" dirty="0">
              <a:latin typeface="Times New Roman" panose="02020503050405090304" pitchFamily="18" charset="0"/>
            </a:endParaRPr>
          </a:p>
          <a:p>
            <a:pPr lvl="1" algn="just">
              <a:spcBef>
                <a:spcPts val="300"/>
              </a:spcBef>
              <a:buNone/>
            </a:pPr>
            <a:r>
              <a:rPr lang="en-US" altLang="zh-CN" sz="2000" dirty="0">
                <a:latin typeface="Times New Roman" panose="02020503050405090304" pitchFamily="18" charset="0"/>
              </a:rPr>
              <a:t>    </a:t>
            </a:r>
            <a:r>
              <a:rPr lang="en-US" altLang="zh-CN" sz="2000" i="1" dirty="0">
                <a:latin typeface="Times New Roman" panose="02020503050405090304" pitchFamily="18" charset="0"/>
              </a:rPr>
              <a:t>	</a:t>
            </a:r>
            <a:r>
              <a:rPr lang="en-US" altLang="zh-CN" sz="2200" i="1" dirty="0">
                <a:latin typeface="Times New Roman" panose="02020503050405090304" pitchFamily="18" charset="0"/>
              </a:rPr>
              <a:t>x </a:t>
            </a:r>
            <a:r>
              <a:rPr lang="en-US" altLang="zh-CN" sz="2200" dirty="0">
                <a:latin typeface="Times New Roman" panose="02020503050405090304" pitchFamily="18" charset="0"/>
              </a:rPr>
              <a:t>≡ </a:t>
            </a:r>
            <a:r>
              <a:rPr lang="en-US" altLang="zh-CN" sz="2200" i="1" dirty="0">
                <a:latin typeface="Times New Roman" panose="02020503050405090304" pitchFamily="18" charset="0"/>
              </a:rPr>
              <a:t>a</a:t>
            </a:r>
            <a:r>
              <a:rPr lang="en-US" altLang="zh-CN" sz="2200" i="1" baseline="-25000" dirty="0">
                <a:latin typeface="Times New Roman" panose="02020503050405090304" pitchFamily="18" charset="0"/>
              </a:rPr>
              <a:t>n</a:t>
            </a:r>
            <a:r>
              <a:rPr lang="en-US" altLang="zh-CN" sz="2200" dirty="0">
                <a:latin typeface="Times New Roman" panose="02020503050405090304" pitchFamily="18" charset="0"/>
              </a:rPr>
              <a:t> ( mod </a:t>
            </a:r>
            <a:r>
              <a:rPr lang="en-US" altLang="zh-CN" sz="2200" i="1" dirty="0">
                <a:latin typeface="Times New Roman" panose="02020503050405090304" pitchFamily="18" charset="0"/>
              </a:rPr>
              <a:t>m</a:t>
            </a:r>
            <a:r>
              <a:rPr lang="en-US" altLang="zh-CN" sz="2200" i="1" baseline="-25000" dirty="0">
                <a:latin typeface="Times New Roman" panose="02020503050405090304" pitchFamily="18" charset="0"/>
              </a:rPr>
              <a:t>n</a:t>
            </a:r>
            <a:r>
              <a:rPr lang="en-US" altLang="zh-CN" sz="2200" dirty="0">
                <a:latin typeface="Times New Roman" panose="02020503050405090304" pitchFamily="18" charset="0"/>
              </a:rPr>
              <a:t>)</a:t>
            </a:r>
            <a:endParaRPr lang="en-US" altLang="zh-CN" sz="2200" dirty="0">
              <a:latin typeface="Times New Roman" panose="02020503050405090304" pitchFamily="18" charset="0"/>
            </a:endParaRPr>
          </a:p>
          <a:p>
            <a:pPr algn="just">
              <a:spcBef>
                <a:spcPts val="300"/>
              </a:spcBef>
              <a:buNone/>
            </a:pPr>
            <a:r>
              <a:rPr lang="en-US" altLang="zh-CN" sz="2200" dirty="0">
                <a:latin typeface="Times New Roman" panose="02020503050405090304" pitchFamily="18" charset="0"/>
              </a:rPr>
              <a:t>           has a unique solution modulo </a:t>
            </a:r>
            <a:r>
              <a:rPr lang="en-US" altLang="zh-CN" sz="2200" i="1" dirty="0">
                <a:latin typeface="Times New Roman" panose="02020503050405090304" pitchFamily="18" charset="0"/>
              </a:rPr>
              <a:t>m </a:t>
            </a:r>
            <a:r>
              <a:rPr lang="en-US" altLang="zh-CN" sz="2200" dirty="0">
                <a:latin typeface="Times New Roman" panose="02020503050405090304" pitchFamily="18" charset="0"/>
              </a:rPr>
              <a:t>while</a:t>
            </a:r>
            <a:r>
              <a:rPr lang="en-US" altLang="zh-CN" sz="2200" i="1" dirty="0">
                <a:latin typeface="Times New Roman" panose="02020503050405090304" pitchFamily="18" charset="0"/>
              </a:rPr>
              <a:t> </a:t>
            </a:r>
            <a:r>
              <a:rPr lang="en-US" altLang="zh-CN" sz="2200" b="1" i="1" dirty="0">
                <a:solidFill>
                  <a:srgbClr val="FF0000"/>
                </a:solidFill>
                <a:latin typeface="Times New Roman" panose="02020503050405090304" pitchFamily="18" charset="0"/>
              </a:rPr>
              <a:t>m</a:t>
            </a:r>
            <a:r>
              <a:rPr lang="en-US" altLang="zh-CN" sz="2200" b="1" dirty="0">
                <a:solidFill>
                  <a:srgbClr val="FF0000"/>
                </a:solidFill>
                <a:latin typeface="Times New Roman" panose="02020503050405090304" pitchFamily="18" charset="0"/>
              </a:rPr>
              <a:t> = </a:t>
            </a:r>
            <a:r>
              <a:rPr lang="en-US" altLang="zh-CN" sz="2200" b="1" i="1" dirty="0">
                <a:solidFill>
                  <a:srgbClr val="FF0000"/>
                </a:solidFill>
                <a:latin typeface="Times New Roman" panose="02020503050405090304" pitchFamily="18" charset="0"/>
              </a:rPr>
              <a:t>m</a:t>
            </a:r>
            <a:r>
              <a:rPr lang="en-US" altLang="zh-CN" sz="2200" b="1" baseline="-25000" dirty="0">
                <a:solidFill>
                  <a:srgbClr val="FF0000"/>
                </a:solidFill>
                <a:latin typeface="Times New Roman" panose="02020503050405090304" pitchFamily="18" charset="0"/>
              </a:rPr>
              <a:t>1</a:t>
            </a:r>
            <a:r>
              <a:rPr lang="en-US" altLang="zh-CN" sz="2200" b="1" i="1" dirty="0">
                <a:solidFill>
                  <a:srgbClr val="FF0000"/>
                </a:solidFill>
                <a:latin typeface="Times New Roman" panose="02020503050405090304" pitchFamily="18" charset="0"/>
              </a:rPr>
              <a:t>m</a:t>
            </a:r>
            <a:r>
              <a:rPr lang="en-US" altLang="zh-CN" sz="2200" b="1" baseline="-25000" dirty="0">
                <a:solidFill>
                  <a:srgbClr val="FF0000"/>
                </a:solidFill>
                <a:latin typeface="Times New Roman" panose="02020503050405090304" pitchFamily="18" charset="0"/>
              </a:rPr>
              <a:t>2</a:t>
            </a:r>
            <a:r>
              <a:rPr lang="en-US" altLang="zh-CN" sz="2200" b="1" dirty="0">
                <a:solidFill>
                  <a:srgbClr val="FF0000"/>
                </a:solidFill>
                <a:latin typeface="Times New Roman" panose="02020503050405090304" pitchFamily="18" charset="0"/>
              </a:rPr>
              <a:t> ∙ ∙ ∙ </a:t>
            </a:r>
            <a:r>
              <a:rPr lang="en-US" altLang="zh-CN" sz="2200" b="1" i="1" dirty="0">
                <a:solidFill>
                  <a:srgbClr val="FF0000"/>
                </a:solidFill>
                <a:latin typeface="Times New Roman" panose="02020503050405090304" pitchFamily="18" charset="0"/>
              </a:rPr>
              <a:t>m</a:t>
            </a:r>
            <a:r>
              <a:rPr lang="en-US" altLang="zh-CN" sz="2200" b="1" i="1" baseline="-25000" dirty="0">
                <a:solidFill>
                  <a:srgbClr val="FF0000"/>
                </a:solidFill>
                <a:latin typeface="Times New Roman" panose="02020503050405090304" pitchFamily="18" charset="0"/>
              </a:rPr>
              <a:t>n</a:t>
            </a:r>
            <a:r>
              <a:rPr lang="en-US" altLang="zh-CN" sz="2200" dirty="0">
                <a:latin typeface="Times New Roman" panose="02020503050405090304" pitchFamily="18" charset="0"/>
              </a:rPr>
              <a:t>.   </a:t>
            </a:r>
            <a:endParaRPr lang="en-US" altLang="zh-CN" sz="2200" dirty="0">
              <a:latin typeface="Times New Roman" panose="02020503050405090304" pitchFamily="18" charset="0"/>
            </a:endParaRPr>
          </a:p>
          <a:p>
            <a:pPr lvl="1" algn="just">
              <a:spcBef>
                <a:spcPts val="300"/>
              </a:spcBef>
            </a:pPr>
            <a:r>
              <a:rPr lang="en-US" altLang="zh-CN" sz="2200" dirty="0">
                <a:latin typeface="Times New Roman" panose="02020503050405090304" pitchFamily="18" charset="0"/>
              </a:rPr>
              <a:t>That is, there is a solution </a:t>
            </a:r>
            <a:r>
              <a:rPr lang="en-US" altLang="zh-CN" sz="2200" i="1" dirty="0">
                <a:latin typeface="Times New Roman" panose="02020503050405090304" pitchFamily="18" charset="0"/>
              </a:rPr>
              <a:t>x </a:t>
            </a:r>
            <a:r>
              <a:rPr lang="en-US" altLang="zh-CN" sz="2200" dirty="0">
                <a:latin typeface="Times New Roman" panose="02020503050405090304" pitchFamily="18" charset="0"/>
              </a:rPr>
              <a:t>with  </a:t>
            </a:r>
            <a:r>
              <a:rPr lang="en-US" altLang="zh-CN" sz="2200" i="1" dirty="0">
                <a:latin typeface="Times New Roman" panose="02020503050405090304" pitchFamily="18" charset="0"/>
              </a:rPr>
              <a:t>0 ≤ x &lt;m </a:t>
            </a:r>
            <a:r>
              <a:rPr lang="en-US" altLang="zh-CN" sz="2200" dirty="0">
                <a:latin typeface="Times New Roman" panose="02020503050405090304" pitchFamily="18" charset="0"/>
              </a:rPr>
              <a:t>and all other solutions are congruent modulo m to this solution.</a:t>
            </a:r>
            <a:endParaRPr lang="en-US" altLang="zh-CN" sz="2200" dirty="0">
              <a:latin typeface="Times New Roman" panose="02020503050405090304" pitchFamily="18" charset="0"/>
            </a:endParaRPr>
          </a:p>
          <a:p>
            <a:pPr algn="just">
              <a:spcBef>
                <a:spcPts val="1200"/>
              </a:spcBef>
            </a:pPr>
            <a:r>
              <a:rPr lang="en-US" altLang="zh-CN" sz="2800" b="1" dirty="0">
                <a:latin typeface="Times New Roman" panose="02020503050405090304" pitchFamily="18" charset="0"/>
              </a:rPr>
              <a:t>Proof</a:t>
            </a:r>
            <a:r>
              <a:rPr lang="en-US" altLang="zh-CN" sz="2800" dirty="0">
                <a:latin typeface="Times New Roman" panose="02020503050405090304" pitchFamily="18" charset="0"/>
              </a:rPr>
              <a:t>: </a:t>
            </a:r>
            <a:endParaRPr lang="en-US" altLang="zh-CN" sz="2800" dirty="0">
              <a:latin typeface="Times New Roman" panose="02020503050405090304" pitchFamily="18" charset="0"/>
            </a:endParaRPr>
          </a:p>
          <a:p>
            <a:pPr lvl="1" algn="just">
              <a:spcBef>
                <a:spcPct val="0"/>
              </a:spcBef>
            </a:pPr>
            <a:r>
              <a:rPr lang="en-US" altLang="zh-CN" sz="2200" dirty="0">
                <a:latin typeface="Times New Roman" panose="02020503050405090304" pitchFamily="18" charset="0"/>
              </a:rPr>
              <a:t>We’ll  show that a solution exists by describing a way to construct the solution. Showing that the solution is unique modulo </a:t>
            </a:r>
            <a:r>
              <a:rPr lang="en-US" altLang="zh-CN" sz="2200" i="1" dirty="0">
                <a:latin typeface="Times New Roman" panose="02020503050405090304" pitchFamily="18" charset="0"/>
              </a:rPr>
              <a:t>m</a:t>
            </a:r>
            <a:r>
              <a:rPr lang="en-US" altLang="zh-CN" sz="2200" dirty="0">
                <a:latin typeface="Times New Roman" panose="02020503050405090304" pitchFamily="18" charset="0"/>
              </a:rPr>
              <a:t> is Exercise 30.</a:t>
            </a:r>
            <a:endParaRPr lang="en-US" altLang="zh-CN" sz="2200" dirty="0">
              <a:latin typeface="Times New Roman" panose="02020503050405090304" pitchFamily="18" charset="0"/>
            </a:endParaRPr>
          </a:p>
          <a:p>
            <a:pPr algn="just">
              <a:spcBef>
                <a:spcPct val="0"/>
              </a:spcBef>
            </a:pPr>
            <a:endParaRPr lang="en-US" altLang="zh-CN" sz="2200" dirty="0"/>
          </a:p>
        </p:txBody>
      </p:sp>
      <p:sp>
        <p:nvSpPr>
          <p:cNvPr id="1638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638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639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itle 1"/>
          <p:cNvSpPr>
            <a:spLocks noGrp="1"/>
          </p:cNvSpPr>
          <p:nvPr>
            <p:ph type="title"/>
          </p:nvPr>
        </p:nvSpPr>
        <p:spPr>
          <a:xfrm>
            <a:off x="1042988" y="188913"/>
            <a:ext cx="7924800" cy="666750"/>
          </a:xfrm>
        </p:spPr>
        <p:txBody>
          <a:bodyPr vert="horz" wrap="square" lIns="91440" tIns="45720" rIns="91440" bIns="45720" anchor="b" anchorCtr="0"/>
          <a:p>
            <a:r>
              <a:rPr lang="en-US" altLang="zh-CN" sz="3200" b="0" dirty="0">
                <a:latin typeface="Copperplate Gothic Bold" panose="020E0705020206020404" pitchFamily="34" charset="0"/>
              </a:rPr>
              <a:t>The Chinese Remainder Theorem</a:t>
            </a:r>
            <a:endParaRPr lang="en-US" altLang="zh-CN" sz="3200" b="0" dirty="0">
              <a:latin typeface="Copperplate Gothic Bold" panose="020E0705020206020404" pitchFamily="34" charset="0"/>
            </a:endParaRPr>
          </a:p>
        </p:txBody>
      </p:sp>
      <p:sp>
        <p:nvSpPr>
          <p:cNvPr id="13314" name="Content Placeholder 2"/>
          <p:cNvSpPr>
            <a:spLocks noGrp="1" noChangeArrowheads="1"/>
          </p:cNvSpPr>
          <p:nvPr>
            <p:ph idx="1"/>
          </p:nvPr>
        </p:nvSpPr>
        <p:spPr>
          <a:xfrm>
            <a:off x="319088" y="908050"/>
            <a:ext cx="8505825" cy="554513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ts val="6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Proof</a:t>
            </a:r>
            <a:r>
              <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a:t>
            </a:r>
            <a:r>
              <a:rPr kumimoji="1" lang="en-US" altLang="zh-CN" sz="26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To construct a solution.</a:t>
            </a:r>
            <a:endParaRPr kumimoji="1" lang="en-US" altLang="zh-CN" sz="26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742950" marR="0" lvl="1" indent="-28575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First let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a:ln>
                  <a:noFill/>
                </a:ln>
                <a:solidFill>
                  <a:schemeClr val="tx1"/>
                </a:solidFill>
                <a:effectLst/>
                <a:uLnTx/>
                <a:uFillTx/>
                <a:latin typeface="Times New Roman" panose="02020503050405090304" pitchFamily="18" charset="0"/>
                <a:ea typeface="+mn-ea"/>
              </a:rPr>
              <a:t>k</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=m/</a:t>
            </a:r>
            <a:r>
              <a:rPr kumimoji="1" lang="en-US" altLang="zh-CN" sz="24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err="1">
                <a:ln>
                  <a:noFill/>
                </a:ln>
                <a:solidFill>
                  <a:schemeClr val="tx1"/>
                </a:solidFill>
                <a:effectLst/>
                <a:uLnTx/>
                <a:uFillTx/>
                <a:latin typeface="Times New Roman" panose="02020503050405090304" pitchFamily="18" charset="0"/>
                <a:ea typeface="+mn-ea"/>
              </a:rPr>
              <a:t>k</a:t>
            </a:r>
            <a:r>
              <a:rPr kumimoji="1" lang="en-US" altLang="zh-CN" sz="2400" b="0" i="1" u="none" strike="noStrike" kern="0" cap="none" spc="0" normalizeH="0" baseline="-25000" noProof="0" dirty="0">
                <a:ln>
                  <a:noFill/>
                </a:ln>
                <a:solidFill>
                  <a:schemeClr val="tx1"/>
                </a:solidFill>
                <a:effectLst/>
                <a:uLnTx/>
                <a:uFillTx/>
                <a:latin typeface="Times New Roman" panose="02020503050405090304" pitchFamily="18" charset="0"/>
                <a:ea typeface="+mn-ea"/>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for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 1,2,…,</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n</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and</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400" b="1" i="1" u="none" strike="noStrike" kern="0" cap="none" spc="0" normalizeH="0" baseline="0" noProof="0" dirty="0">
                <a:ln>
                  <a:noFill/>
                </a:ln>
                <a:solidFill>
                  <a:srgbClr val="FF0000"/>
                </a:solidFill>
                <a:effectLst/>
                <a:uLnTx/>
                <a:uFillTx/>
                <a:latin typeface="Times New Roman" panose="02020503050405090304" pitchFamily="18" charset="0"/>
                <a:ea typeface="+mn-ea"/>
              </a:rPr>
              <a:t>m</a:t>
            </a:r>
            <a:r>
              <a:rPr kumimoji="1" lang="en-US" altLang="zh-CN" sz="2400" b="1" i="0" u="none" strike="noStrike" kern="0" cap="none" spc="0" normalizeH="0" baseline="0" noProof="0" dirty="0">
                <a:ln>
                  <a:noFill/>
                </a:ln>
                <a:solidFill>
                  <a:srgbClr val="FF0000"/>
                </a:solidFill>
                <a:effectLst/>
                <a:uLnTx/>
                <a:uFillTx/>
                <a:latin typeface="Times New Roman" panose="02020503050405090304" pitchFamily="18" charset="0"/>
                <a:ea typeface="+mn-ea"/>
              </a:rPr>
              <a:t> = </a:t>
            </a:r>
            <a:r>
              <a:rPr kumimoji="1" lang="en-US" altLang="zh-CN" sz="2400" b="1" i="1" u="none" strike="noStrike" kern="0" cap="none" spc="0" normalizeH="0" baseline="0" noProof="0" dirty="0">
                <a:ln>
                  <a:noFill/>
                </a:ln>
                <a:solidFill>
                  <a:srgbClr val="FF0000"/>
                </a:solidFill>
                <a:effectLst/>
                <a:uLnTx/>
                <a:uFillTx/>
                <a:latin typeface="Times New Roman" panose="02020503050405090304" pitchFamily="18" charset="0"/>
                <a:ea typeface="+mn-ea"/>
              </a:rPr>
              <a:t>m</a:t>
            </a:r>
            <a:r>
              <a:rPr kumimoji="1" lang="en-US" altLang="zh-CN" sz="2400" b="1" i="0" u="none" strike="noStrike" kern="0" cap="none" spc="0" normalizeH="0" baseline="-25000" noProof="0" dirty="0">
                <a:ln>
                  <a:noFill/>
                </a:ln>
                <a:solidFill>
                  <a:srgbClr val="FF0000"/>
                </a:solidFill>
                <a:effectLst/>
                <a:uLnTx/>
                <a:uFillTx/>
                <a:latin typeface="Times New Roman" panose="02020503050405090304" pitchFamily="18" charset="0"/>
                <a:ea typeface="+mn-ea"/>
              </a:rPr>
              <a:t>1</a:t>
            </a:r>
            <a:r>
              <a:rPr kumimoji="1" lang="en-US" altLang="zh-CN" sz="2400" b="1" i="1" u="none" strike="noStrike" kern="0" cap="none" spc="0" normalizeH="0" baseline="0" noProof="0" dirty="0">
                <a:ln>
                  <a:noFill/>
                </a:ln>
                <a:solidFill>
                  <a:srgbClr val="FF0000"/>
                </a:solidFill>
                <a:effectLst/>
                <a:uLnTx/>
                <a:uFillTx/>
                <a:latin typeface="Times New Roman" panose="02020503050405090304" pitchFamily="18" charset="0"/>
                <a:ea typeface="+mn-ea"/>
              </a:rPr>
              <a:t>m</a:t>
            </a:r>
            <a:r>
              <a:rPr kumimoji="1" lang="en-US" altLang="zh-CN" sz="2400" b="1" i="0" u="none" strike="noStrike" kern="0" cap="none" spc="0" normalizeH="0" baseline="-25000" noProof="0" dirty="0">
                <a:ln>
                  <a:noFill/>
                </a:ln>
                <a:solidFill>
                  <a:srgbClr val="FF0000"/>
                </a:solidFill>
                <a:effectLst/>
                <a:uLnTx/>
                <a:uFillTx/>
                <a:latin typeface="Times New Roman" panose="02020503050405090304" pitchFamily="18" charset="0"/>
                <a:ea typeface="+mn-ea"/>
              </a:rPr>
              <a:t>2</a:t>
            </a:r>
            <a:r>
              <a:rPr kumimoji="1" lang="en-US" altLang="zh-CN" sz="2400" b="1" i="0" u="none" strike="noStrike" kern="0" cap="none" spc="0" normalizeH="0" baseline="0" noProof="0" dirty="0">
                <a:ln>
                  <a:noFill/>
                </a:ln>
                <a:solidFill>
                  <a:srgbClr val="FF0000"/>
                </a:solidFill>
                <a:effectLst/>
                <a:uLnTx/>
                <a:uFillTx/>
                <a:latin typeface="Times New Roman" panose="02020503050405090304" pitchFamily="18" charset="0"/>
                <a:ea typeface="+mn-ea"/>
              </a:rPr>
              <a:t> ∙ ∙ ∙ </a:t>
            </a:r>
            <a:r>
              <a:rPr kumimoji="1" lang="en-US" altLang="zh-CN" sz="2400" b="1" i="1" u="none" strike="noStrike" kern="0" cap="none" spc="0" normalizeH="0" baseline="0" noProof="0" dirty="0" err="1">
                <a:ln>
                  <a:noFill/>
                </a:ln>
                <a:solidFill>
                  <a:srgbClr val="FF0000"/>
                </a:solidFill>
                <a:effectLst/>
                <a:uLnTx/>
                <a:uFillTx/>
                <a:latin typeface="Times New Roman" panose="02020503050405090304" pitchFamily="18" charset="0"/>
                <a:ea typeface="+mn-ea"/>
              </a:rPr>
              <a:t>m</a:t>
            </a:r>
            <a:r>
              <a:rPr kumimoji="1" lang="en-US" altLang="zh-CN" sz="2400" b="1" i="1" u="none" strike="noStrike" kern="0" cap="none" spc="0" normalizeH="0" baseline="-25000" noProof="0" dirty="0" err="1">
                <a:ln>
                  <a:noFill/>
                </a:ln>
                <a:solidFill>
                  <a:srgbClr val="FF0000"/>
                </a:solidFill>
                <a:effectLst/>
                <a:uLnTx/>
                <a:uFillTx/>
                <a:latin typeface="Times New Roman" panose="02020503050405090304" pitchFamily="18" charset="0"/>
                <a:ea typeface="+mn-ea"/>
              </a:rPr>
              <a:t>n</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742950" marR="0" lvl="1" indent="-28575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Since </a:t>
            </a:r>
            <a:r>
              <a:rPr kumimoji="1" lang="en-US" altLang="zh-CN" sz="2400" b="0" i="0" u="none" strike="noStrike" kern="0" cap="none" spc="0" normalizeH="0" baseline="0" noProof="0" dirty="0" err="1">
                <a:ln>
                  <a:noFill/>
                </a:ln>
                <a:solidFill>
                  <a:schemeClr val="tx1"/>
                </a:solidFill>
                <a:effectLst/>
                <a:uLnTx/>
                <a:uFillTx/>
                <a:latin typeface="Times New Roman" panose="02020503050405090304" pitchFamily="18" charset="0"/>
                <a:ea typeface="+mn-ea"/>
              </a:rPr>
              <a:t>gcd</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r>
              <a:rPr kumimoji="1" lang="en-US" altLang="zh-CN" sz="24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err="1">
                <a:ln>
                  <a:noFill/>
                </a:ln>
                <a:solidFill>
                  <a:schemeClr val="tx1"/>
                </a:solidFill>
                <a:effectLst/>
                <a:uLnTx/>
                <a:uFillTx/>
                <a:latin typeface="Times New Roman" panose="02020503050405090304" pitchFamily="18" charset="0"/>
                <a:ea typeface="+mn-ea"/>
              </a:rPr>
              <a:t>k</a:t>
            </a:r>
            <a:r>
              <a:rPr kumimoji="1" lang="en-US" altLang="zh-CN" sz="2400" b="0" i="1" u="none" strike="noStrike" kern="0" cap="none" spc="0" normalizeH="0" baseline="-25000" noProof="0" dirty="0">
                <a:ln>
                  <a:noFill/>
                </a:ln>
                <a:solidFill>
                  <a:schemeClr val="tx1"/>
                </a:solidFill>
                <a:effectLst/>
                <a:uLnTx/>
                <a:uFillTx/>
                <a:latin typeface="Times New Roman" panose="02020503050405090304" pitchFamily="18" charset="0"/>
                <a:ea typeface="+mn-ea"/>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a:ln>
                  <a:noFill/>
                </a:ln>
                <a:solidFill>
                  <a:schemeClr val="tx1"/>
                </a:solidFill>
                <a:effectLst/>
                <a:uLnTx/>
                <a:uFillTx/>
                <a:latin typeface="Times New Roman" panose="02020503050405090304" pitchFamily="18" charset="0"/>
                <a:ea typeface="+mn-ea"/>
              </a:rPr>
              <a:t>k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 1, by Theorem 1,  there is an integer  </a:t>
            </a:r>
            <a:r>
              <a:rPr kumimoji="1" lang="en-US" altLang="zh-CN" sz="24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y</a:t>
            </a:r>
            <a:r>
              <a:rPr kumimoji="1" lang="en-US" altLang="zh-CN" sz="2400" b="0" i="1" u="none" strike="noStrike" kern="0" cap="none" spc="0" normalizeH="0" baseline="-25000" noProof="0" dirty="0" err="1">
                <a:ln>
                  <a:noFill/>
                </a:ln>
                <a:solidFill>
                  <a:schemeClr val="tx1"/>
                </a:solidFill>
                <a:effectLst/>
                <a:uLnTx/>
                <a:uFillTx/>
                <a:latin typeface="Times New Roman" panose="02020503050405090304" pitchFamily="18" charset="0"/>
                <a:ea typeface="+mn-ea"/>
              </a:rPr>
              <a:t>k</a:t>
            </a:r>
            <a:r>
              <a:rPr kumimoji="1" lang="en-US" altLang="zh-CN" sz="2400" b="0" i="1" u="none" strike="noStrike" kern="0" cap="none" spc="0" normalizeH="0" baseline="-25000" noProof="0" dirty="0">
                <a:ln>
                  <a:noFill/>
                </a:ln>
                <a:solidFill>
                  <a:schemeClr val="tx1"/>
                </a:solidFill>
                <a:effectLst/>
                <a:uLnTx/>
                <a:uFillTx/>
                <a:latin typeface="Times New Roman" panose="02020503050405090304" pitchFamily="18" charset="0"/>
                <a:ea typeface="+mn-ea"/>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an inverse of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a:ln>
                  <a:noFill/>
                </a:ln>
                <a:solidFill>
                  <a:schemeClr val="tx1"/>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modulo </a:t>
            </a:r>
            <a:r>
              <a:rPr kumimoji="1" lang="en-US" altLang="zh-CN" sz="24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err="1">
                <a:ln>
                  <a:noFill/>
                </a:ln>
                <a:solidFill>
                  <a:schemeClr val="tx1"/>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such that</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273050" marR="0" lvl="1" indent="-273050" algn="l" defTabSz="914400" rtl="0" eaLnBrk="0" fontAlgn="base" latinLnBrk="0" hangingPunct="0">
              <a:lnSpc>
                <a:spcPct val="100000"/>
              </a:lnSpc>
              <a:spcBef>
                <a:spcPts val="600"/>
              </a:spcBef>
              <a:spcAft>
                <a:spcPct val="0"/>
              </a:spcAft>
              <a:buClr>
                <a:srgbClr val="FFFFFF"/>
              </a:buClr>
              <a:buSzPct val="9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a:ln>
                  <a:noFill/>
                </a:ln>
                <a:solidFill>
                  <a:schemeClr val="tx1"/>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4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y</a:t>
            </a:r>
            <a:r>
              <a:rPr kumimoji="1" lang="en-US" altLang="zh-CN" sz="2400" b="0" i="1" u="none" strike="noStrike" kern="0" cap="none" spc="0" normalizeH="0" baseline="-25000" noProof="0" dirty="0" err="1">
                <a:ln>
                  <a:noFill/>
                </a:ln>
                <a:solidFill>
                  <a:schemeClr val="tx1"/>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 1</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mod </a:t>
            </a:r>
            <a:r>
              <a:rPr kumimoji="1" lang="en-US" altLang="zh-CN" sz="24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err="1">
                <a:ln>
                  <a:noFill/>
                </a:ln>
                <a:solidFill>
                  <a:schemeClr val="tx1"/>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742950" marR="0" lvl="1" indent="-28575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Form the sum</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457200" marR="0" lvl="1" indent="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None/>
              <a:defRPr/>
            </a:pPr>
            <a:r>
              <a:rPr kumimoji="1" lang="en-US" altLang="zh-CN" sz="2400" b="0" i="1" u="none" strike="noStrike" kern="0" cap="none" spc="0" normalizeH="0" baseline="0" noProof="0" dirty="0">
                <a:ln>
                  <a:noFill/>
                </a:ln>
                <a:solidFill>
                  <a:srgbClr val="FF0000"/>
                </a:solidFill>
                <a:effectLst/>
                <a:uLnTx/>
                <a:uFillTx/>
                <a:latin typeface="Times New Roman" panose="02020503050405090304" pitchFamily="18" charset="0"/>
                <a:ea typeface="+mn-ea"/>
              </a:rPr>
              <a:t>		x</a:t>
            </a:r>
            <a:r>
              <a:rPr kumimoji="1" lang="en-US" altLang="zh-CN" sz="2400" b="0" i="0" u="none" strike="noStrike" kern="0" cap="none" spc="0" normalizeH="0" baseline="0" noProof="0" dirty="0">
                <a:ln>
                  <a:noFill/>
                </a:ln>
                <a:solidFill>
                  <a:srgbClr val="FF0000"/>
                </a:solidFill>
                <a:effectLst/>
                <a:uLnTx/>
                <a:uFillTx/>
                <a:latin typeface="Times New Roman" panose="02020503050405090304" pitchFamily="18" charset="0"/>
                <a:ea typeface="+mn-ea"/>
              </a:rPr>
              <a:t> = </a:t>
            </a:r>
            <a:r>
              <a:rPr kumimoji="1" lang="en-US" altLang="zh-CN" sz="2400" b="0" i="1" u="none" strike="noStrike" kern="0" cap="none" spc="0" normalizeH="0" baseline="0" noProof="0" dirty="0">
                <a:ln>
                  <a:noFill/>
                </a:ln>
                <a:solidFill>
                  <a:srgbClr val="FF0000"/>
                </a:solidFill>
                <a:effectLst/>
                <a:uLnTx/>
                <a:uFillTx/>
                <a:latin typeface="Times New Roman" panose="02020503050405090304" pitchFamily="18" charset="0"/>
                <a:ea typeface="+mn-ea"/>
              </a:rPr>
              <a:t>a</a:t>
            </a:r>
            <a:r>
              <a:rPr kumimoji="1" lang="en-US" altLang="zh-CN" sz="2400" b="0" i="0" u="none" strike="noStrike" kern="0" cap="none" spc="0" normalizeH="0" baseline="-25000" noProof="0" dirty="0">
                <a:ln>
                  <a:noFill/>
                </a:ln>
                <a:solidFill>
                  <a:srgbClr val="FF0000"/>
                </a:solidFill>
                <a:effectLst/>
                <a:uLnTx/>
                <a:uFillTx/>
                <a:latin typeface="Times New Roman" panose="02020503050405090304" pitchFamily="18" charset="0"/>
                <a:ea typeface="+mn-ea"/>
              </a:rPr>
              <a:t>1</a:t>
            </a:r>
            <a:r>
              <a:rPr kumimoji="1" lang="en-US" altLang="zh-CN" sz="2400" b="0" i="0" u="none" strike="noStrike" kern="0" cap="none" spc="0" normalizeH="0" baseline="0" noProof="0" dirty="0">
                <a:ln>
                  <a:noFill/>
                </a:ln>
                <a:solidFill>
                  <a:srgbClr val="FF0000"/>
                </a:solidFill>
                <a:effectLst/>
                <a:uLnTx/>
                <a:uFillTx/>
                <a:latin typeface="Times New Roman" panose="02020503050405090304" pitchFamily="18" charset="0"/>
                <a:ea typeface="+mn-ea"/>
              </a:rPr>
              <a:t> </a:t>
            </a:r>
            <a:r>
              <a:rPr kumimoji="1" lang="en-US" altLang="zh-CN" sz="2400" b="0" i="1" u="none" strike="noStrike" kern="0" cap="none" spc="0" normalizeH="0" baseline="0" noProof="0" dirty="0">
                <a:ln>
                  <a:noFill/>
                </a:ln>
                <a:solidFill>
                  <a:srgbClr val="FF0000"/>
                </a:solidFill>
                <a:effectLst/>
                <a:uLnTx/>
                <a:uFillTx/>
                <a:latin typeface="Times New Roman" panose="02020503050405090304" pitchFamily="18" charset="0"/>
                <a:ea typeface="+mn-ea"/>
              </a:rPr>
              <a:t>M</a:t>
            </a:r>
            <a:r>
              <a:rPr kumimoji="1" lang="en-US" altLang="zh-CN" sz="2400" b="0" i="0" u="none" strike="noStrike" kern="0" cap="none" spc="0" normalizeH="0" baseline="-25000" noProof="0" dirty="0">
                <a:ln>
                  <a:noFill/>
                </a:ln>
                <a:solidFill>
                  <a:srgbClr val="FF0000"/>
                </a:solidFill>
                <a:effectLst/>
                <a:uLnTx/>
                <a:uFillTx/>
                <a:latin typeface="Times New Roman" panose="02020503050405090304" pitchFamily="18" charset="0"/>
                <a:ea typeface="+mn-ea"/>
              </a:rPr>
              <a:t>1</a:t>
            </a:r>
            <a:r>
              <a:rPr kumimoji="1" lang="en-US" altLang="zh-CN" sz="2400" b="0" i="1" u="none" strike="noStrike" kern="0" cap="none" spc="0" normalizeH="0" baseline="0" noProof="0" dirty="0">
                <a:ln>
                  <a:noFill/>
                </a:ln>
                <a:solidFill>
                  <a:srgbClr val="FF0000"/>
                </a:solidFill>
                <a:effectLst/>
                <a:uLnTx/>
                <a:uFillTx/>
                <a:latin typeface="Times New Roman" panose="02020503050405090304" pitchFamily="18" charset="0"/>
                <a:ea typeface="+mn-ea"/>
              </a:rPr>
              <a:t> y</a:t>
            </a:r>
            <a:r>
              <a:rPr kumimoji="1" lang="en-US" altLang="zh-CN" sz="2400" b="0" i="0" u="none" strike="noStrike" kern="0" cap="none" spc="0" normalizeH="0" baseline="-25000" noProof="0" dirty="0">
                <a:ln>
                  <a:noFill/>
                </a:ln>
                <a:solidFill>
                  <a:srgbClr val="FF0000"/>
                </a:solidFill>
                <a:effectLst/>
                <a:uLnTx/>
                <a:uFillTx/>
                <a:latin typeface="Times New Roman" panose="02020503050405090304" pitchFamily="18" charset="0"/>
                <a:ea typeface="+mn-ea"/>
              </a:rPr>
              <a:t>1  </a:t>
            </a:r>
            <a:r>
              <a:rPr kumimoji="1" lang="en-US" altLang="zh-CN" sz="2400" b="0" i="0" u="none" strike="noStrike" kern="0" cap="none" spc="0" normalizeH="0" baseline="0" noProof="0" dirty="0">
                <a:ln>
                  <a:noFill/>
                </a:ln>
                <a:solidFill>
                  <a:srgbClr val="FF0000"/>
                </a:solidFill>
                <a:effectLst/>
                <a:uLnTx/>
                <a:uFillTx/>
                <a:latin typeface="Times New Roman" panose="02020503050405090304" pitchFamily="18" charset="0"/>
                <a:ea typeface="+mn-ea"/>
              </a:rPr>
              <a:t> + </a:t>
            </a:r>
            <a:r>
              <a:rPr kumimoji="1" lang="en-US" altLang="zh-CN" sz="2400" b="0" i="1" u="none" strike="noStrike" kern="0" cap="none" spc="0" normalizeH="0" baseline="0" noProof="0" dirty="0">
                <a:ln>
                  <a:noFill/>
                </a:ln>
                <a:solidFill>
                  <a:srgbClr val="FF0000"/>
                </a:solidFill>
                <a:effectLst/>
                <a:uLnTx/>
                <a:uFillTx/>
                <a:latin typeface="Times New Roman" panose="02020503050405090304" pitchFamily="18" charset="0"/>
                <a:ea typeface="+mn-ea"/>
              </a:rPr>
              <a:t>a</a:t>
            </a:r>
            <a:r>
              <a:rPr kumimoji="1" lang="en-US" altLang="zh-CN" sz="2400" b="0" i="0" u="none" strike="noStrike" kern="0" cap="none" spc="0" normalizeH="0" baseline="-25000" noProof="0" dirty="0">
                <a:ln>
                  <a:noFill/>
                </a:ln>
                <a:solidFill>
                  <a:srgbClr val="FF0000"/>
                </a:solidFill>
                <a:effectLst/>
                <a:uLnTx/>
                <a:uFillTx/>
                <a:latin typeface="Times New Roman" panose="02020503050405090304" pitchFamily="18" charset="0"/>
                <a:ea typeface="+mn-ea"/>
              </a:rPr>
              <a:t>2</a:t>
            </a:r>
            <a:r>
              <a:rPr kumimoji="1" lang="en-US" altLang="zh-CN" sz="2400" b="0" i="0" u="none" strike="noStrike" kern="0" cap="none" spc="0" normalizeH="0" baseline="0" noProof="0" dirty="0">
                <a:ln>
                  <a:noFill/>
                </a:ln>
                <a:solidFill>
                  <a:srgbClr val="FF0000"/>
                </a:solidFill>
                <a:effectLst/>
                <a:uLnTx/>
                <a:uFillTx/>
                <a:latin typeface="Times New Roman" panose="02020503050405090304" pitchFamily="18" charset="0"/>
                <a:ea typeface="+mn-ea"/>
              </a:rPr>
              <a:t> </a:t>
            </a:r>
            <a:r>
              <a:rPr kumimoji="1" lang="en-US" altLang="zh-CN" sz="2400" b="0" i="1" u="none" strike="noStrike" kern="0" cap="none" spc="0" normalizeH="0" baseline="0" noProof="0" dirty="0">
                <a:ln>
                  <a:noFill/>
                </a:ln>
                <a:solidFill>
                  <a:srgbClr val="FF0000"/>
                </a:solidFill>
                <a:effectLst/>
                <a:uLnTx/>
                <a:uFillTx/>
                <a:latin typeface="Times New Roman" panose="02020503050405090304" pitchFamily="18" charset="0"/>
                <a:ea typeface="+mn-ea"/>
              </a:rPr>
              <a:t>M</a:t>
            </a:r>
            <a:r>
              <a:rPr kumimoji="1" lang="en-US" altLang="zh-CN" sz="2400" b="0" i="0" u="none" strike="noStrike" kern="0" cap="none" spc="0" normalizeH="0" baseline="-25000" noProof="0" dirty="0">
                <a:ln>
                  <a:noFill/>
                </a:ln>
                <a:solidFill>
                  <a:srgbClr val="FF0000"/>
                </a:solidFill>
                <a:effectLst/>
                <a:uLnTx/>
                <a:uFillTx/>
                <a:latin typeface="Times New Roman" panose="02020503050405090304" pitchFamily="18" charset="0"/>
                <a:ea typeface="+mn-ea"/>
              </a:rPr>
              <a:t>2</a:t>
            </a:r>
            <a:r>
              <a:rPr kumimoji="1" lang="en-US" altLang="zh-CN" sz="2400" b="0" i="1" u="none" strike="noStrike" kern="0" cap="none" spc="0" normalizeH="0" baseline="0" noProof="0" dirty="0">
                <a:ln>
                  <a:noFill/>
                </a:ln>
                <a:solidFill>
                  <a:srgbClr val="FF0000"/>
                </a:solidFill>
                <a:effectLst/>
                <a:uLnTx/>
                <a:uFillTx/>
                <a:latin typeface="Times New Roman" panose="02020503050405090304" pitchFamily="18" charset="0"/>
                <a:ea typeface="+mn-ea"/>
              </a:rPr>
              <a:t> y</a:t>
            </a:r>
            <a:r>
              <a:rPr kumimoji="1" lang="en-US" altLang="zh-CN" sz="2400" b="0" i="0" u="none" strike="noStrike" kern="0" cap="none" spc="0" normalizeH="0" baseline="-25000" noProof="0" dirty="0">
                <a:ln>
                  <a:noFill/>
                </a:ln>
                <a:solidFill>
                  <a:srgbClr val="FF0000"/>
                </a:solidFill>
                <a:effectLst/>
                <a:uLnTx/>
                <a:uFillTx/>
                <a:latin typeface="Times New Roman" panose="02020503050405090304" pitchFamily="18" charset="0"/>
                <a:ea typeface="+mn-ea"/>
              </a:rPr>
              <a:t>2</a:t>
            </a:r>
            <a:r>
              <a:rPr kumimoji="1" lang="en-US" altLang="zh-CN" sz="2400" b="0" i="0" u="none" strike="noStrike" kern="0" cap="none" spc="0" normalizeH="0" baseline="0" noProof="0" dirty="0">
                <a:ln>
                  <a:noFill/>
                </a:ln>
                <a:solidFill>
                  <a:srgbClr val="FF0000"/>
                </a:solidFill>
                <a:effectLst/>
                <a:uLnTx/>
                <a:uFillTx/>
                <a:latin typeface="Times New Roman" panose="02020503050405090304" pitchFamily="18" charset="0"/>
                <a:ea typeface="+mn-ea"/>
              </a:rPr>
              <a:t>   +</a:t>
            </a:r>
            <a:r>
              <a:rPr kumimoji="1" lang="en-US" altLang="zh-CN" sz="2400" b="0" i="0" u="none" strike="noStrike" kern="0" cap="none" spc="0" normalizeH="0" baseline="-25000" noProof="0" dirty="0">
                <a:ln>
                  <a:noFill/>
                </a:ln>
                <a:solidFill>
                  <a:srgbClr val="FF0000"/>
                </a:solidFill>
                <a:effectLst/>
                <a:uLnTx/>
                <a:uFillTx/>
                <a:latin typeface="Times New Roman" panose="02020503050405090304" pitchFamily="18" charset="0"/>
                <a:ea typeface="+mn-ea"/>
              </a:rPr>
              <a:t> </a:t>
            </a:r>
            <a:r>
              <a:rPr kumimoji="1" lang="en-US" altLang="zh-CN" sz="2400" b="0" i="0" u="none" strike="noStrike" kern="0" cap="none" spc="0" normalizeH="0" baseline="0" noProof="0" dirty="0">
                <a:ln>
                  <a:noFill/>
                </a:ln>
                <a:solidFill>
                  <a:srgbClr val="FF0000"/>
                </a:solidFill>
                <a:effectLst/>
                <a:uLnTx/>
                <a:uFillTx/>
                <a:latin typeface="Times New Roman" panose="02020503050405090304" pitchFamily="18" charset="0"/>
                <a:ea typeface="+mn-ea"/>
              </a:rPr>
              <a:t>∙ ∙ ∙ + </a:t>
            </a:r>
            <a:r>
              <a:rPr kumimoji="1" lang="en-US" altLang="zh-CN" sz="2400" b="0" i="1" u="none" strike="noStrike" kern="0" cap="none" spc="0" normalizeH="0" baseline="0" noProof="0" dirty="0">
                <a:ln>
                  <a:noFill/>
                </a:ln>
                <a:solidFill>
                  <a:srgbClr val="FF0000"/>
                </a:solidFill>
                <a:effectLst/>
                <a:uLnTx/>
                <a:uFillTx/>
                <a:latin typeface="Times New Roman" panose="02020503050405090304" pitchFamily="18" charset="0"/>
                <a:ea typeface="+mn-ea"/>
              </a:rPr>
              <a:t>a</a:t>
            </a:r>
            <a:r>
              <a:rPr kumimoji="1" lang="en-US" altLang="zh-CN" sz="2400" b="0" i="1" u="none" strike="noStrike" kern="0" cap="none" spc="0" normalizeH="0" baseline="-25000" noProof="0" dirty="0">
                <a:ln>
                  <a:noFill/>
                </a:ln>
                <a:solidFill>
                  <a:srgbClr val="FF0000"/>
                </a:solidFill>
                <a:effectLst/>
                <a:uLnTx/>
                <a:uFillTx/>
                <a:latin typeface="Times New Roman" panose="02020503050405090304" pitchFamily="18" charset="0"/>
                <a:ea typeface="+mn-ea"/>
              </a:rPr>
              <a:t>n</a:t>
            </a:r>
            <a:r>
              <a:rPr kumimoji="1" lang="en-US" altLang="zh-CN" sz="2400" b="0" i="0" u="none" strike="noStrike" kern="0" cap="none" spc="0" normalizeH="0" baseline="0" noProof="0" dirty="0">
                <a:ln>
                  <a:noFill/>
                </a:ln>
                <a:solidFill>
                  <a:srgbClr val="FF0000"/>
                </a:solidFill>
                <a:effectLst/>
                <a:uLnTx/>
                <a:uFillTx/>
                <a:latin typeface="Times New Roman" panose="02020503050405090304" pitchFamily="18" charset="0"/>
                <a:ea typeface="+mn-ea"/>
              </a:rPr>
              <a:t> </a:t>
            </a:r>
            <a:r>
              <a:rPr kumimoji="1" lang="en-US" altLang="zh-CN" sz="2400" b="0" i="1" u="none" strike="noStrike" kern="0" cap="none" spc="0" normalizeH="0" baseline="0" noProof="0" dirty="0">
                <a:ln>
                  <a:noFill/>
                </a:ln>
                <a:solidFill>
                  <a:srgbClr val="FF0000"/>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a:ln>
                  <a:noFill/>
                </a:ln>
                <a:solidFill>
                  <a:srgbClr val="FF0000"/>
                </a:solidFill>
                <a:effectLst/>
                <a:uLnTx/>
                <a:uFillTx/>
                <a:latin typeface="Times New Roman" panose="02020503050405090304" pitchFamily="18" charset="0"/>
                <a:ea typeface="+mn-ea"/>
              </a:rPr>
              <a:t>n</a:t>
            </a:r>
            <a:r>
              <a:rPr kumimoji="1" lang="en-US" altLang="zh-CN" sz="2400" b="0" i="1" u="none" strike="noStrike" kern="0" cap="none" spc="0" normalizeH="0" baseline="0" noProof="0" dirty="0">
                <a:ln>
                  <a:noFill/>
                </a:ln>
                <a:solidFill>
                  <a:srgbClr val="FF0000"/>
                </a:solidFill>
                <a:effectLst/>
                <a:uLnTx/>
                <a:uFillTx/>
                <a:latin typeface="Times New Roman" panose="02020503050405090304" pitchFamily="18" charset="0"/>
                <a:ea typeface="+mn-ea"/>
              </a:rPr>
              <a:t> </a:t>
            </a:r>
            <a:r>
              <a:rPr kumimoji="1" lang="en-US" altLang="zh-CN" sz="2400" b="0" i="1" u="none" strike="noStrike" kern="0" cap="none" spc="0" normalizeH="0" baseline="0" noProof="0" dirty="0" err="1">
                <a:ln>
                  <a:noFill/>
                </a:ln>
                <a:solidFill>
                  <a:srgbClr val="FF0000"/>
                </a:solidFill>
                <a:effectLst/>
                <a:uLnTx/>
                <a:uFillTx/>
                <a:latin typeface="Times New Roman" panose="02020503050405090304" pitchFamily="18" charset="0"/>
                <a:ea typeface="+mn-ea"/>
              </a:rPr>
              <a:t>y</a:t>
            </a:r>
            <a:r>
              <a:rPr kumimoji="1" lang="en-US" altLang="zh-CN" sz="2400" b="0" i="1" u="none" strike="noStrike" kern="0" cap="none" spc="0" normalizeH="0" baseline="-25000" noProof="0" dirty="0" err="1">
                <a:ln>
                  <a:noFill/>
                </a:ln>
                <a:solidFill>
                  <a:srgbClr val="FF0000"/>
                </a:solidFill>
                <a:effectLst/>
                <a:uLnTx/>
                <a:uFillTx/>
                <a:latin typeface="Times New Roman" panose="02020503050405090304" pitchFamily="18" charset="0"/>
                <a:ea typeface="+mn-ea"/>
              </a:rPr>
              <a:t>n</a:t>
            </a:r>
            <a:r>
              <a:rPr kumimoji="1" lang="en-US" altLang="zh-CN" sz="2400" b="0" i="0" u="none" strike="noStrike" kern="0" cap="none" spc="0" normalizeH="0" baseline="0" noProof="0" dirty="0">
                <a:ln>
                  <a:noFill/>
                </a:ln>
                <a:solidFill>
                  <a:srgbClr val="FF0000"/>
                </a:solidFill>
                <a:effectLst/>
                <a:uLnTx/>
                <a:uFillTx/>
                <a:latin typeface="Times New Roman" panose="02020503050405090304" pitchFamily="18" charset="0"/>
                <a:ea typeface="+mn-ea"/>
              </a:rPr>
              <a:t> .</a:t>
            </a:r>
            <a:endParaRPr kumimoji="1" lang="en-US" altLang="zh-CN" sz="2400" b="0" i="0" u="none" strike="noStrike" kern="0" cap="none" spc="0" normalizeH="0" baseline="0" noProof="0" dirty="0">
              <a:ln>
                <a:noFill/>
              </a:ln>
              <a:solidFill>
                <a:srgbClr val="FF0000"/>
              </a:solidFill>
              <a:effectLst/>
              <a:uLnTx/>
              <a:uFillTx/>
              <a:latin typeface="Times New Roman" panose="02020503050405090304" pitchFamily="18" charset="0"/>
              <a:ea typeface="+mn-ea"/>
            </a:endParaRPr>
          </a:p>
          <a:p>
            <a:pPr marL="742950" marR="0" lvl="1" indent="-28575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Let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x</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mod </a:t>
            </a:r>
            <a:r>
              <a:rPr kumimoji="1" lang="en-US" altLang="zh-CN" sz="24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err="1">
                <a:ln>
                  <a:noFill/>
                </a:ln>
                <a:solidFill>
                  <a:schemeClr val="tx1"/>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note that because </a:t>
            </a:r>
            <a:r>
              <a:rPr kumimoji="1" lang="en-US" altLang="zh-CN" sz="2400" b="0" i="0" u="none" strike="noStrike" kern="0" cap="none" spc="0" normalizeH="0" baseline="0" noProof="0" dirty="0" err="1">
                <a:ln>
                  <a:noFill/>
                </a:ln>
                <a:solidFill>
                  <a:schemeClr val="tx1"/>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err="1">
                <a:ln>
                  <a:noFill/>
                </a:ln>
                <a:solidFill>
                  <a:schemeClr val="tx1"/>
                </a:solidFill>
                <a:effectLst/>
                <a:uLnTx/>
                <a:uFillTx/>
                <a:latin typeface="Times New Roman" panose="02020503050405090304" pitchFamily="18" charset="0"/>
                <a:ea typeface="+mn-ea"/>
              </a:rPr>
              <a:t>j</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 0 ( mod </a:t>
            </a:r>
            <a:r>
              <a:rPr kumimoji="1" lang="en-US" altLang="zh-CN" sz="24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m</a:t>
            </a:r>
            <a:r>
              <a:rPr kumimoji="1" lang="en-US" altLang="zh-CN" sz="2400" b="0" i="0" u="none" strike="noStrike" kern="0" cap="none" spc="0" normalizeH="0" baseline="-25000" noProof="0" dirty="0" err="1">
                <a:ln>
                  <a:noFill/>
                </a:ln>
                <a:solidFill>
                  <a:schemeClr val="tx1"/>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whenever </a:t>
            </a:r>
            <a:r>
              <a:rPr kumimoji="1" lang="en-US" altLang="zh-CN" sz="24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j</a:t>
            </a:r>
            <a:r>
              <a:rPr kumimoji="1" lang="en-US" altLang="zh-CN" sz="2400" b="0" i="0" u="none" strike="noStrike" kern="0" cap="none" spc="0" normalizeH="0" baseline="0" noProof="0" dirty="0" err="1">
                <a:ln>
                  <a:noFill/>
                </a:ln>
                <a:solidFill>
                  <a:schemeClr val="tx1"/>
                </a:solidFill>
                <a:effectLst/>
                <a:uLnTx/>
                <a:uFillTx/>
                <a:latin typeface="Times New Roman" panose="02020503050405090304" pitchFamily="18" charset="0"/>
                <a:ea typeface="+mn-ea"/>
              </a:rPr>
              <a:t>≠</a:t>
            </a:r>
            <a:r>
              <a:rPr kumimoji="1" lang="en-US" altLang="zh-CN" sz="24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k</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all terms except the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k</a:t>
            </a:r>
            <a:r>
              <a:rPr kumimoji="1" lang="en-US" altLang="zh-CN" sz="2400" b="0" i="0" u="none" strike="noStrike" kern="0" cap="none" spc="0" normalizeH="0" baseline="30000" noProof="0" dirty="0">
                <a:ln>
                  <a:noFill/>
                </a:ln>
                <a:solidFill>
                  <a:schemeClr val="tx1"/>
                </a:solidFill>
                <a:effectLst/>
                <a:uLnTx/>
                <a:uFillTx/>
                <a:latin typeface="Times New Roman" panose="02020503050405090304" pitchFamily="18" charset="0"/>
                <a:ea typeface="+mn-ea"/>
              </a:rPr>
              <a:t>th</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term in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x</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are ≡ 0 (mod </a:t>
            </a:r>
            <a:r>
              <a:rPr kumimoji="1" lang="en-US" altLang="zh-CN" sz="24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err="1">
                <a:ln>
                  <a:noFill/>
                </a:ln>
                <a:solidFill>
                  <a:schemeClr val="tx1"/>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742950" marR="0" lvl="1" indent="-28575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Because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a:ln>
                  <a:noFill/>
                </a:ln>
                <a:solidFill>
                  <a:schemeClr val="tx1"/>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4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y</a:t>
            </a:r>
            <a:r>
              <a:rPr kumimoji="1" lang="en-US" altLang="zh-CN" sz="2400" b="0" i="1" u="none" strike="noStrike" kern="0" cap="none" spc="0" normalizeH="0" baseline="-25000" noProof="0" dirty="0" err="1">
                <a:ln>
                  <a:noFill/>
                </a:ln>
                <a:solidFill>
                  <a:schemeClr val="tx1"/>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 1</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mod </a:t>
            </a:r>
            <a:r>
              <a:rPr kumimoji="1" lang="en-US" altLang="zh-CN" sz="24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err="1">
                <a:ln>
                  <a:noFill/>
                </a:ln>
                <a:solidFill>
                  <a:schemeClr val="tx1"/>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 we see that</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457200" marR="0" lvl="1" indent="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None/>
              <a:defRPr/>
            </a:pPr>
            <a:r>
              <a:rPr kumimoji="1" lang="en-US" altLang="zh-CN" sz="2400" b="0" i="1" u="none" strike="noStrike" kern="0" cap="none" spc="0" normalizeH="0" baseline="0" noProof="0" dirty="0">
                <a:ln>
                  <a:noFill/>
                </a:ln>
                <a:solidFill>
                  <a:srgbClr val="003399"/>
                </a:solidFill>
                <a:effectLst/>
                <a:uLnTx/>
                <a:uFillTx/>
                <a:latin typeface="Times New Roman" panose="02020503050405090304" pitchFamily="18" charset="0"/>
                <a:ea typeface="+mn-ea"/>
              </a:rPr>
              <a:t>	x </a:t>
            </a:r>
            <a:r>
              <a:rPr kumimoji="1" lang="en-US" altLang="zh-CN" sz="2400" b="0" i="0" u="none" strike="noStrike" kern="0" cap="none" spc="0" normalizeH="0" baseline="0" noProof="0" dirty="0">
                <a:ln>
                  <a:noFill/>
                </a:ln>
                <a:solidFill>
                  <a:srgbClr val="003399"/>
                </a:solidFill>
                <a:effectLst/>
                <a:uLnTx/>
                <a:uFillTx/>
                <a:latin typeface="Times New Roman" panose="02020503050405090304" pitchFamily="18" charset="0"/>
                <a:ea typeface="+mn-ea"/>
              </a:rPr>
              <a:t>≡ </a:t>
            </a:r>
            <a:r>
              <a:rPr kumimoji="1" lang="en-US" altLang="zh-CN" sz="2400" b="0" i="1" u="none" strike="noStrike" kern="0" cap="none" spc="0" normalizeH="0" baseline="0" noProof="0" dirty="0" err="1">
                <a:ln>
                  <a:noFill/>
                </a:ln>
                <a:solidFill>
                  <a:srgbClr val="003399"/>
                </a:solidFill>
                <a:effectLst/>
                <a:uLnTx/>
                <a:uFillTx/>
                <a:latin typeface="Times New Roman" panose="02020503050405090304" pitchFamily="18" charset="0"/>
                <a:ea typeface="+mn-ea"/>
              </a:rPr>
              <a:t>a</a:t>
            </a:r>
            <a:r>
              <a:rPr kumimoji="1" lang="en-US" altLang="zh-CN" sz="2400" b="0" i="1" u="none" strike="noStrike" kern="0" cap="none" spc="0" normalizeH="0" baseline="-25000" noProof="0" dirty="0" err="1">
                <a:ln>
                  <a:noFill/>
                </a:ln>
                <a:solidFill>
                  <a:srgbClr val="003399"/>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rgbClr val="003399"/>
                </a:solidFill>
                <a:effectLst/>
                <a:uLnTx/>
                <a:uFillTx/>
                <a:latin typeface="Times New Roman" panose="02020503050405090304" pitchFamily="18" charset="0"/>
                <a:ea typeface="+mn-ea"/>
              </a:rPr>
              <a:t> </a:t>
            </a:r>
            <a:r>
              <a:rPr kumimoji="1" lang="en-US" altLang="zh-CN" sz="2400" b="0" i="1" u="none" strike="noStrike" kern="0" cap="none" spc="0" normalizeH="0" baseline="0" noProof="0" dirty="0">
                <a:ln>
                  <a:noFill/>
                </a:ln>
                <a:solidFill>
                  <a:srgbClr val="003399"/>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a:ln>
                  <a:noFill/>
                </a:ln>
                <a:solidFill>
                  <a:srgbClr val="003399"/>
                </a:solidFill>
                <a:effectLst/>
                <a:uLnTx/>
                <a:uFillTx/>
                <a:latin typeface="Times New Roman" panose="02020503050405090304" pitchFamily="18" charset="0"/>
                <a:ea typeface="+mn-ea"/>
              </a:rPr>
              <a:t>k</a:t>
            </a:r>
            <a:r>
              <a:rPr kumimoji="1" lang="en-US" altLang="zh-CN" sz="2400" b="0" i="1" u="none" strike="noStrike" kern="0" cap="none" spc="0" normalizeH="0" baseline="0" noProof="0" dirty="0">
                <a:ln>
                  <a:noFill/>
                </a:ln>
                <a:solidFill>
                  <a:srgbClr val="003399"/>
                </a:solidFill>
                <a:effectLst/>
                <a:uLnTx/>
                <a:uFillTx/>
                <a:latin typeface="Times New Roman" panose="02020503050405090304" pitchFamily="18" charset="0"/>
                <a:ea typeface="+mn-ea"/>
              </a:rPr>
              <a:t> </a:t>
            </a:r>
            <a:r>
              <a:rPr kumimoji="1" lang="en-US" altLang="zh-CN" sz="2400" b="0" i="1" u="none" strike="noStrike" kern="0" cap="none" spc="0" normalizeH="0" baseline="0" noProof="0" dirty="0" err="1">
                <a:ln>
                  <a:noFill/>
                </a:ln>
                <a:solidFill>
                  <a:srgbClr val="003399"/>
                </a:solidFill>
                <a:effectLst/>
                <a:uLnTx/>
                <a:uFillTx/>
                <a:latin typeface="Times New Roman" panose="02020503050405090304" pitchFamily="18" charset="0"/>
                <a:ea typeface="+mn-ea"/>
              </a:rPr>
              <a:t>y</a:t>
            </a:r>
            <a:r>
              <a:rPr kumimoji="1" lang="en-US" altLang="zh-CN" sz="2400" b="0" i="1" u="none" strike="noStrike" kern="0" cap="none" spc="0" normalizeH="0" baseline="-25000" noProof="0" dirty="0" err="1">
                <a:ln>
                  <a:noFill/>
                </a:ln>
                <a:solidFill>
                  <a:srgbClr val="003399"/>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rgbClr val="003399"/>
                </a:solidFill>
                <a:effectLst/>
                <a:uLnTx/>
                <a:uFillTx/>
                <a:latin typeface="Times New Roman" panose="02020503050405090304" pitchFamily="18" charset="0"/>
                <a:ea typeface="+mn-ea"/>
              </a:rPr>
              <a:t> (mod </a:t>
            </a:r>
            <a:r>
              <a:rPr kumimoji="1" lang="en-US" altLang="zh-CN" sz="2400" b="0" i="1" u="none" strike="noStrike" kern="0" cap="none" spc="0" normalizeH="0" baseline="0" noProof="0" dirty="0" err="1">
                <a:ln>
                  <a:noFill/>
                </a:ln>
                <a:solidFill>
                  <a:srgbClr val="003399"/>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err="1">
                <a:ln>
                  <a:noFill/>
                </a:ln>
                <a:solidFill>
                  <a:srgbClr val="003399"/>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rgbClr val="003399"/>
                </a:solidFill>
                <a:effectLst/>
                <a:uLnTx/>
                <a:uFillTx/>
                <a:latin typeface="Times New Roman" panose="02020503050405090304" pitchFamily="18" charset="0"/>
                <a:ea typeface="+mn-ea"/>
              </a:rPr>
              <a:t> )≡</a:t>
            </a:r>
            <a:r>
              <a:rPr kumimoji="1" lang="en-US" altLang="zh-CN" sz="2400" b="0" i="1" u="none" strike="noStrike" kern="0" cap="none" spc="0" normalizeH="0" baseline="0" noProof="0" dirty="0">
                <a:ln>
                  <a:noFill/>
                </a:ln>
                <a:solidFill>
                  <a:srgbClr val="003399"/>
                </a:solidFill>
                <a:effectLst/>
                <a:uLnTx/>
                <a:uFillTx/>
                <a:latin typeface="Times New Roman" panose="02020503050405090304" pitchFamily="18" charset="0"/>
                <a:ea typeface="+mn-ea"/>
              </a:rPr>
              <a:t> </a:t>
            </a:r>
            <a:r>
              <a:rPr kumimoji="1" lang="en-US" altLang="zh-CN" sz="2400" b="0" i="1" u="none" strike="noStrike" kern="0" cap="none" spc="0" normalizeH="0" baseline="0" noProof="0" dirty="0" err="1">
                <a:ln>
                  <a:noFill/>
                </a:ln>
                <a:solidFill>
                  <a:srgbClr val="003399"/>
                </a:solidFill>
                <a:effectLst/>
                <a:uLnTx/>
                <a:uFillTx/>
                <a:latin typeface="Times New Roman" panose="02020503050405090304" pitchFamily="18" charset="0"/>
                <a:ea typeface="+mn-ea"/>
              </a:rPr>
              <a:t>a</a:t>
            </a:r>
            <a:r>
              <a:rPr kumimoji="1" lang="en-US" altLang="zh-CN" sz="2400" b="0" i="1" u="none" strike="noStrike" kern="0" cap="none" spc="0" normalizeH="0" baseline="-25000" noProof="0" dirty="0" err="1">
                <a:ln>
                  <a:noFill/>
                </a:ln>
                <a:solidFill>
                  <a:srgbClr val="003399"/>
                </a:solidFill>
                <a:effectLst/>
                <a:uLnTx/>
                <a:uFillTx/>
                <a:latin typeface="Times New Roman" panose="02020503050405090304" pitchFamily="18" charset="0"/>
                <a:ea typeface="+mn-ea"/>
              </a:rPr>
              <a:t>k</a:t>
            </a:r>
            <a:r>
              <a:rPr kumimoji="1" lang="en-US" altLang="zh-CN" sz="2400" b="0" i="1" u="none" strike="noStrike" kern="0" cap="none" spc="0" normalizeH="0" baseline="-25000" noProof="0" dirty="0">
                <a:ln>
                  <a:noFill/>
                </a:ln>
                <a:solidFill>
                  <a:srgbClr val="003399"/>
                </a:solidFill>
                <a:effectLst/>
                <a:uLnTx/>
                <a:uFillTx/>
                <a:latin typeface="Times New Roman" panose="02020503050405090304" pitchFamily="18" charset="0"/>
                <a:ea typeface="+mn-ea"/>
              </a:rPr>
              <a:t> </a:t>
            </a:r>
            <a:r>
              <a:rPr kumimoji="1" lang="en-US" altLang="zh-CN" sz="2400" b="0" i="0" u="none" strike="noStrike" kern="0" cap="none" spc="0" normalizeH="0" baseline="0" noProof="0" dirty="0">
                <a:ln>
                  <a:noFill/>
                </a:ln>
                <a:solidFill>
                  <a:srgbClr val="003399"/>
                </a:solidFill>
                <a:effectLst/>
                <a:uLnTx/>
                <a:uFillTx/>
                <a:latin typeface="Times New Roman" panose="02020503050405090304" pitchFamily="18" charset="0"/>
                <a:ea typeface="+mn-ea"/>
              </a:rPr>
              <a:t>( mod </a:t>
            </a:r>
            <a:r>
              <a:rPr kumimoji="1" lang="en-US" altLang="zh-CN" sz="2400" b="0" i="1" u="none" strike="noStrike" kern="0" cap="none" spc="0" normalizeH="0" baseline="0" noProof="0" dirty="0" err="1">
                <a:ln>
                  <a:noFill/>
                </a:ln>
                <a:solidFill>
                  <a:srgbClr val="003399"/>
                </a:solidFill>
                <a:effectLst/>
                <a:uLnTx/>
                <a:uFillTx/>
                <a:latin typeface="Times New Roman" panose="02020503050405090304" pitchFamily="18" charset="0"/>
                <a:ea typeface="+mn-ea"/>
              </a:rPr>
              <a:t>m</a:t>
            </a:r>
            <a:r>
              <a:rPr kumimoji="1" lang="en-US" altLang="zh-CN" sz="2400" b="0" i="1" u="none" strike="noStrike" kern="0" cap="none" spc="0" normalizeH="0" baseline="-25000" noProof="0" dirty="0" err="1">
                <a:ln>
                  <a:noFill/>
                </a:ln>
                <a:solidFill>
                  <a:srgbClr val="003399"/>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rgbClr val="003399"/>
                </a:solidFill>
                <a:effectLst/>
                <a:uLnTx/>
                <a:uFillTx/>
                <a:latin typeface="Times New Roman" panose="02020503050405090304" pitchFamily="18" charset="0"/>
                <a:ea typeface="+mn-ea"/>
              </a:rPr>
              <a:t>),  for </a:t>
            </a:r>
            <a:r>
              <a:rPr kumimoji="1" lang="en-US" altLang="zh-CN" sz="2400" b="0" i="1" u="none" strike="noStrike" kern="0" cap="none" spc="0" normalizeH="0" baseline="0" noProof="0" dirty="0">
                <a:ln>
                  <a:noFill/>
                </a:ln>
                <a:solidFill>
                  <a:srgbClr val="003399"/>
                </a:solidFill>
                <a:effectLst/>
                <a:uLnTx/>
                <a:uFillTx/>
                <a:latin typeface="Times New Roman" panose="02020503050405090304" pitchFamily="18" charset="0"/>
                <a:ea typeface="+mn-ea"/>
              </a:rPr>
              <a:t>k</a:t>
            </a:r>
            <a:r>
              <a:rPr kumimoji="1" lang="en-US" altLang="zh-CN" sz="2400" b="0" i="0" u="none" strike="noStrike" kern="0" cap="none" spc="0" normalizeH="0" baseline="0" noProof="0" dirty="0">
                <a:ln>
                  <a:noFill/>
                </a:ln>
                <a:solidFill>
                  <a:srgbClr val="003399"/>
                </a:solidFill>
                <a:effectLst/>
                <a:uLnTx/>
                <a:uFillTx/>
                <a:latin typeface="Times New Roman" panose="02020503050405090304" pitchFamily="18" charset="0"/>
                <a:ea typeface="+mn-ea"/>
              </a:rPr>
              <a:t> = 1,2,…,</a:t>
            </a:r>
            <a:r>
              <a:rPr kumimoji="1" lang="en-US" altLang="zh-CN" sz="2400" b="0" i="1" u="none" strike="noStrike" kern="0" cap="none" spc="0" normalizeH="0" baseline="0" noProof="0" dirty="0">
                <a:ln>
                  <a:noFill/>
                </a:ln>
                <a:solidFill>
                  <a:srgbClr val="003399"/>
                </a:solidFill>
                <a:effectLst/>
                <a:uLnTx/>
                <a:uFillTx/>
                <a:latin typeface="Times New Roman" panose="02020503050405090304" pitchFamily="18" charset="0"/>
                <a:ea typeface="+mn-ea"/>
              </a:rPr>
              <a:t>n</a:t>
            </a:r>
            <a:r>
              <a:rPr kumimoji="1" lang="en-US" altLang="zh-CN" sz="2400" b="0" i="0" u="none" strike="noStrike" kern="0" cap="none" spc="0" normalizeH="0" baseline="0" noProof="0" dirty="0">
                <a:ln>
                  <a:noFill/>
                </a:ln>
                <a:solidFill>
                  <a:srgbClr val="003399"/>
                </a:solidFill>
                <a:effectLst/>
                <a:uLnTx/>
                <a:uFillTx/>
                <a:latin typeface="Times New Roman" panose="02020503050405090304" pitchFamily="18" charset="0"/>
                <a:ea typeface="+mn-ea"/>
              </a:rPr>
              <a:t>.</a:t>
            </a:r>
            <a:endParaRPr kumimoji="1" lang="en-US" altLang="zh-CN" sz="2400" b="0" i="0" u="none" strike="noStrike" kern="0" cap="none" spc="0" normalizeH="0" baseline="0" noProof="0" dirty="0">
              <a:ln>
                <a:noFill/>
              </a:ln>
              <a:solidFill>
                <a:srgbClr val="003399"/>
              </a:solidFill>
              <a:effectLst/>
              <a:uLnTx/>
              <a:uFillTx/>
              <a:latin typeface="Times New Roman" panose="02020503050405090304" pitchFamily="18" charset="0"/>
              <a:ea typeface="+mn-ea"/>
            </a:endParaRPr>
          </a:p>
          <a:p>
            <a:pPr marL="742950" marR="0" lvl="1" indent="-28575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Hence,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x</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is a simultaneous solution to the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n</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congruences.</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1143000" marR="0" lvl="2" indent="-228600" algn="l" defTabSz="914400" rtl="0" eaLnBrk="0" fontAlgn="base" latinLnBrk="0" hangingPunct="0">
              <a:lnSpc>
                <a:spcPct val="100000"/>
              </a:lnSpc>
              <a:spcBef>
                <a:spcPts val="0"/>
              </a:spcBef>
              <a:spcAft>
                <a:spcPct val="0"/>
              </a:spcAft>
              <a:buClr>
                <a:schemeClr val="folHlink"/>
              </a:buClr>
              <a:buSzPct val="50000"/>
              <a:buFont typeface="Wingdings" panose="05000000000000000000" pitchFamily="2" charset="2"/>
              <a:buChar char="n"/>
              <a:defRPr/>
            </a:pPr>
            <a:r>
              <a:rPr kumimoji="1" lang="en-US" altLang="zh-CN" sz="2200" b="0" i="1" u="none" strike="noStrike" kern="0" cap="none" spc="0" normalizeH="0" baseline="0" noProof="0" dirty="0">
                <a:ln>
                  <a:noFill/>
                </a:ln>
                <a:solidFill>
                  <a:schemeClr val="tx1"/>
                </a:solidFill>
                <a:effectLst/>
                <a:uLnTx/>
                <a:uFillTx/>
                <a:latin typeface="Times New Roman" panose="02020503050405090304" pitchFamily="18" charset="0"/>
                <a:ea typeface="+mn-ea"/>
              </a:rPr>
              <a:t>x ≡a</a:t>
            </a:r>
            <a:r>
              <a:rPr kumimoji="1" lang="en-US" altLang="zh-CN" sz="2200" b="0" i="1" u="none" strike="noStrike" kern="0" cap="none" spc="0" normalizeH="0" baseline="-25000" noProof="0" dirty="0">
                <a:ln>
                  <a:noFill/>
                </a:ln>
                <a:solidFill>
                  <a:schemeClr val="tx1"/>
                </a:solidFill>
                <a:effectLst/>
                <a:uLnTx/>
                <a:uFillTx/>
                <a:latin typeface="Times New Roman" panose="02020503050405090304" pitchFamily="18" charset="0"/>
                <a:ea typeface="+mn-ea"/>
              </a:rPr>
              <a:t>1</a:t>
            </a:r>
            <a:r>
              <a:rPr kumimoji="1" lang="en-US" altLang="zh-CN" sz="2200" b="0" i="1" u="none" strike="noStrike" kern="0" cap="none" spc="0" normalizeH="0" baseline="0" noProof="0" dirty="0">
                <a:ln>
                  <a:noFill/>
                </a:ln>
                <a:solidFill>
                  <a:schemeClr val="tx1"/>
                </a:solidFill>
                <a:effectLst/>
                <a:uLnTx/>
                <a:uFillTx/>
                <a:latin typeface="Times New Roman" panose="02020503050405090304" pitchFamily="18" charset="0"/>
                <a:ea typeface="+mn-ea"/>
              </a:rPr>
              <a:t> (mod m</a:t>
            </a:r>
            <a:r>
              <a:rPr kumimoji="1" lang="en-US" altLang="zh-CN" sz="2200" b="0" i="1" u="none" strike="noStrike" kern="0" cap="none" spc="0" normalizeH="0" baseline="-25000" noProof="0" dirty="0">
                <a:ln>
                  <a:noFill/>
                </a:ln>
                <a:solidFill>
                  <a:schemeClr val="tx1"/>
                </a:solidFill>
                <a:effectLst/>
                <a:uLnTx/>
                <a:uFillTx/>
                <a:latin typeface="Times New Roman" panose="02020503050405090304" pitchFamily="18" charset="0"/>
                <a:ea typeface="+mn-ea"/>
              </a:rPr>
              <a:t>1</a:t>
            </a:r>
            <a:r>
              <a:rPr kumimoji="1" lang="en-US" altLang="zh-CN" sz="2200" b="0" i="1" u="none" strike="noStrike" kern="0" cap="none" spc="0" normalizeH="0" baseline="0" noProof="0" dirty="0">
                <a:ln>
                  <a:noFill/>
                </a:ln>
                <a:solidFill>
                  <a:schemeClr val="tx1"/>
                </a:solidFill>
                <a:effectLst/>
                <a:uLnTx/>
                <a:uFillTx/>
                <a:latin typeface="Times New Roman" panose="02020503050405090304" pitchFamily="18" charset="0"/>
                <a:ea typeface="+mn-ea"/>
              </a:rPr>
              <a:t>),  x ≡a</a:t>
            </a:r>
            <a:r>
              <a:rPr kumimoji="1" lang="en-US" altLang="zh-CN" sz="2200" b="0" i="1" u="none" strike="noStrike" kern="0" cap="none" spc="0" normalizeH="0" baseline="-25000" noProof="0" dirty="0">
                <a:ln>
                  <a:noFill/>
                </a:ln>
                <a:solidFill>
                  <a:schemeClr val="tx1"/>
                </a:solidFill>
                <a:effectLst/>
                <a:uLnTx/>
                <a:uFillTx/>
                <a:latin typeface="Times New Roman" panose="02020503050405090304" pitchFamily="18" charset="0"/>
                <a:ea typeface="+mn-ea"/>
              </a:rPr>
              <a:t>2</a:t>
            </a:r>
            <a:r>
              <a:rPr kumimoji="1" lang="en-US" altLang="zh-CN" sz="2200" b="0" i="1" u="none" strike="noStrike" kern="0" cap="none" spc="0" normalizeH="0" baseline="0" noProof="0" dirty="0">
                <a:ln>
                  <a:noFill/>
                </a:ln>
                <a:solidFill>
                  <a:schemeClr val="tx1"/>
                </a:solidFill>
                <a:effectLst/>
                <a:uLnTx/>
                <a:uFillTx/>
                <a:latin typeface="Times New Roman" panose="02020503050405090304" pitchFamily="18" charset="0"/>
                <a:ea typeface="+mn-ea"/>
              </a:rPr>
              <a:t> (mod m</a:t>
            </a:r>
            <a:r>
              <a:rPr kumimoji="1" lang="en-US" altLang="zh-CN" sz="2200" b="0" i="1" u="none" strike="noStrike" kern="0" cap="none" spc="0" normalizeH="0" baseline="-25000" noProof="0" dirty="0">
                <a:ln>
                  <a:noFill/>
                </a:ln>
                <a:solidFill>
                  <a:schemeClr val="tx1"/>
                </a:solidFill>
                <a:effectLst/>
                <a:uLnTx/>
                <a:uFillTx/>
                <a:latin typeface="Times New Roman" panose="02020503050405090304" pitchFamily="18" charset="0"/>
                <a:ea typeface="+mn-ea"/>
              </a:rPr>
              <a:t>2</a:t>
            </a:r>
            <a:r>
              <a:rPr kumimoji="1" lang="en-US" altLang="zh-CN" sz="2200" b="0" i="1" u="none" strike="noStrike" kern="0" cap="none" spc="0" normalizeH="0" baseline="0" noProof="0" dirty="0">
                <a:ln>
                  <a:noFill/>
                </a:ln>
                <a:solidFill>
                  <a:schemeClr val="tx1"/>
                </a:solidFill>
                <a:effectLst/>
                <a:uLnTx/>
                <a:uFillTx/>
                <a:latin typeface="Times New Roman" panose="02020503050405090304" pitchFamily="18" charset="0"/>
                <a:ea typeface="+mn-ea"/>
              </a:rPr>
              <a:t>), …. ,  x ≡a</a:t>
            </a:r>
            <a:r>
              <a:rPr kumimoji="1" lang="en-US" altLang="zh-CN" sz="2200" b="0" i="1" u="none" strike="noStrike" kern="0" cap="none" spc="0" normalizeH="0" baseline="-25000" noProof="0" dirty="0">
                <a:ln>
                  <a:noFill/>
                </a:ln>
                <a:solidFill>
                  <a:schemeClr val="tx1"/>
                </a:solidFill>
                <a:effectLst/>
                <a:uLnTx/>
                <a:uFillTx/>
                <a:latin typeface="Times New Roman" panose="02020503050405090304" pitchFamily="18" charset="0"/>
                <a:ea typeface="+mn-ea"/>
              </a:rPr>
              <a:t>n</a:t>
            </a:r>
            <a:r>
              <a:rPr kumimoji="1" lang="en-US" altLang="zh-CN" sz="2200" b="0" i="1" u="none" strike="noStrike" kern="0" cap="none" spc="0" normalizeH="0" baseline="0" noProof="0" dirty="0">
                <a:ln>
                  <a:noFill/>
                </a:ln>
                <a:solidFill>
                  <a:schemeClr val="tx1"/>
                </a:solidFill>
                <a:effectLst/>
                <a:uLnTx/>
                <a:uFillTx/>
                <a:latin typeface="Times New Roman" panose="02020503050405090304" pitchFamily="18" charset="0"/>
                <a:ea typeface="+mn-ea"/>
              </a:rPr>
              <a:t> (mod </a:t>
            </a:r>
            <a:r>
              <a:rPr kumimoji="1" lang="en-US" altLang="zh-CN" sz="22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m</a:t>
            </a:r>
            <a:r>
              <a:rPr kumimoji="1" lang="en-US" altLang="zh-CN" sz="2200" b="0" i="1" u="none" strike="noStrike" kern="0" cap="none" spc="0" normalizeH="0" baseline="-25000" noProof="0" dirty="0" err="1">
                <a:ln>
                  <a:noFill/>
                </a:ln>
                <a:solidFill>
                  <a:schemeClr val="tx1"/>
                </a:solidFill>
                <a:effectLst/>
                <a:uLnTx/>
                <a:uFillTx/>
                <a:latin typeface="Times New Roman" panose="02020503050405090304" pitchFamily="18" charset="0"/>
                <a:ea typeface="+mn-ea"/>
              </a:rPr>
              <a:t>n</a:t>
            </a:r>
            <a:r>
              <a:rPr kumimoji="1" lang="en-US" altLang="zh-CN" sz="2200" b="0" i="1" u="none" strike="noStrike" kern="0" cap="none" spc="0" normalizeH="0" baseline="0" noProof="0" dirty="0">
                <a:ln>
                  <a:noFill/>
                </a:ln>
                <a:solidFill>
                  <a:schemeClr val="tx1"/>
                </a:solidFill>
                <a:effectLst/>
                <a:uLnTx/>
                <a:uFillTx/>
                <a:latin typeface="Times New Roman" panose="02020503050405090304" pitchFamily="18" charset="0"/>
                <a:ea typeface="+mn-ea"/>
              </a:rPr>
              <a:t>)</a:t>
            </a:r>
            <a:endParaRPr kumimoji="1" lang="en-US" altLang="zh-CN" sz="2200" b="0" i="1" u="none" strike="noStrike" kern="0" cap="none" spc="0" normalizeH="0" baseline="0" noProof="0" dirty="0">
              <a:ln>
                <a:noFill/>
              </a:ln>
              <a:solidFill>
                <a:schemeClr val="tx1"/>
              </a:solidFill>
              <a:effectLst/>
              <a:uLnTx/>
              <a:uFillTx/>
              <a:latin typeface="Times New Roman" panose="02020503050405090304" pitchFamily="18" charset="0"/>
              <a:ea typeface="+mn-ea"/>
            </a:endParaRPr>
          </a:p>
        </p:txBody>
      </p:sp>
      <p:pic>
        <p:nvPicPr>
          <p:cNvPr id="2" name="图片 1"/>
          <p:cNvPicPr>
            <a:picLocks noChangeAspect="1"/>
          </p:cNvPicPr>
          <p:nvPr/>
        </p:nvPicPr>
        <p:blipFill>
          <a:blip r:embed="rId1"/>
          <a:stretch>
            <a:fillRect/>
          </a:stretch>
        </p:blipFill>
        <p:spPr>
          <a:xfrm>
            <a:off x="5156200" y="2627313"/>
            <a:ext cx="3679825" cy="1017587"/>
          </a:xfrm>
          <a:prstGeom prst="rect">
            <a:avLst/>
          </a:prstGeom>
          <a:noFill/>
          <a:ln w="9525">
            <a:noFill/>
          </a:ln>
        </p:spPr>
      </p:pic>
      <p:sp>
        <p:nvSpPr>
          <p:cNvPr id="17413"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7414"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7415"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Content Placeholder 2"/>
          <p:cNvSpPr>
            <a:spLocks noGrp="1"/>
          </p:cNvSpPr>
          <p:nvPr>
            <p:ph idx="1"/>
          </p:nvPr>
        </p:nvSpPr>
        <p:spPr>
          <a:xfrm>
            <a:off x="323850" y="981075"/>
            <a:ext cx="8712200" cy="5616575"/>
          </a:xfrm>
        </p:spPr>
        <p:txBody>
          <a:bodyPr vert="horz" wrap="square" lIns="91440" tIns="45720" rIns="91440" bIns="45720" anchor="t" anchorCtr="0"/>
          <a:p>
            <a:r>
              <a:rPr lang="en-US" altLang="zh-CN" sz="2500" b="1" dirty="0">
                <a:latin typeface="Times New Roman" panose="02020503050405090304" pitchFamily="18" charset="0"/>
                <a:cs typeface="Times New Roman" panose="02020503050405090304" pitchFamily="18" charset="0"/>
              </a:rPr>
              <a:t>Example 5</a:t>
            </a:r>
            <a:r>
              <a:rPr lang="en-US" altLang="zh-CN" sz="2500" dirty="0">
                <a:latin typeface="Times New Roman" panose="02020503050405090304" pitchFamily="18" charset="0"/>
                <a:cs typeface="Times New Roman" panose="02020503050405090304" pitchFamily="18" charset="0"/>
              </a:rPr>
              <a:t>: </a:t>
            </a:r>
            <a:endParaRPr lang="en-US" altLang="zh-CN" sz="25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Consider the 3 congruences from Sun-Tsu’s problem: </a:t>
            </a:r>
            <a:endParaRPr lang="en-US" altLang="zh-CN" sz="2200" dirty="0">
              <a:latin typeface="Times New Roman" panose="02020503050405090304" pitchFamily="18" charset="0"/>
              <a:cs typeface="Times New Roman" panose="02020503050405090304" pitchFamily="18" charset="0"/>
            </a:endParaRPr>
          </a:p>
          <a:p>
            <a:pPr>
              <a:buNone/>
            </a:pPr>
            <a:r>
              <a:rPr lang="en-US" altLang="zh-CN" sz="2200" i="1" dirty="0">
                <a:solidFill>
                  <a:srgbClr val="003399"/>
                </a:solidFill>
                <a:latin typeface="Times New Roman" panose="02020503050405090304" pitchFamily="18" charset="0"/>
                <a:cs typeface="Times New Roman" panose="02020503050405090304" pitchFamily="18" charset="0"/>
              </a:rPr>
              <a:t>     	 x </a:t>
            </a:r>
            <a:r>
              <a:rPr lang="en-US" altLang="zh-CN" sz="2200" dirty="0">
                <a:solidFill>
                  <a:srgbClr val="003399"/>
                </a:solidFill>
                <a:latin typeface="Times New Roman" panose="02020503050405090304" pitchFamily="18" charset="0"/>
                <a:cs typeface="Times New Roman" panose="02020503050405090304" pitchFamily="18" charset="0"/>
              </a:rPr>
              <a:t>≡ 2 ( mod 3),  </a:t>
            </a:r>
            <a:r>
              <a:rPr lang="en-US" altLang="zh-CN" sz="2200" i="1" dirty="0">
                <a:solidFill>
                  <a:srgbClr val="003399"/>
                </a:solidFill>
                <a:latin typeface="Times New Roman" panose="02020503050405090304" pitchFamily="18" charset="0"/>
                <a:cs typeface="Times New Roman" panose="02020503050405090304" pitchFamily="18" charset="0"/>
              </a:rPr>
              <a:t>x </a:t>
            </a:r>
            <a:r>
              <a:rPr lang="en-US" altLang="zh-CN" sz="2200" dirty="0">
                <a:solidFill>
                  <a:srgbClr val="003399"/>
                </a:solidFill>
                <a:latin typeface="Times New Roman" panose="02020503050405090304" pitchFamily="18" charset="0"/>
                <a:cs typeface="Times New Roman" panose="02020503050405090304" pitchFamily="18" charset="0"/>
              </a:rPr>
              <a:t>≡ 3 ( mod 5),  </a:t>
            </a:r>
            <a:r>
              <a:rPr lang="en-US" altLang="zh-CN" sz="2200" i="1" dirty="0">
                <a:solidFill>
                  <a:srgbClr val="003399"/>
                </a:solidFill>
                <a:latin typeface="Times New Roman" panose="02020503050405090304" pitchFamily="18" charset="0"/>
                <a:cs typeface="Times New Roman" panose="02020503050405090304" pitchFamily="18" charset="0"/>
              </a:rPr>
              <a:t>x </a:t>
            </a:r>
            <a:r>
              <a:rPr lang="en-US" altLang="zh-CN" sz="2200" dirty="0">
                <a:solidFill>
                  <a:srgbClr val="003399"/>
                </a:solidFill>
                <a:latin typeface="Times New Roman" panose="02020503050405090304" pitchFamily="18" charset="0"/>
                <a:cs typeface="Times New Roman" panose="02020503050405090304" pitchFamily="18" charset="0"/>
              </a:rPr>
              <a:t>≡ 2 ( mod 7).</a:t>
            </a:r>
            <a:endParaRPr lang="en-US" altLang="zh-CN" sz="2200" dirty="0">
              <a:solidFill>
                <a:srgbClr val="003399"/>
              </a:solidFill>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Let </a:t>
            </a:r>
            <a:r>
              <a:rPr lang="en-US" altLang="zh-CN" sz="2200" i="1" dirty="0">
                <a:latin typeface="Times New Roman" panose="02020503050405090304" pitchFamily="18" charset="0"/>
                <a:cs typeface="Times New Roman" panose="02020503050405090304" pitchFamily="18" charset="0"/>
              </a:rPr>
              <a:t>m</a:t>
            </a:r>
            <a:r>
              <a:rPr lang="en-US" altLang="zh-CN" sz="2200" dirty="0">
                <a:latin typeface="Times New Roman" panose="02020503050405090304" pitchFamily="18" charset="0"/>
                <a:cs typeface="Times New Roman" panose="02020503050405090304" pitchFamily="18" charset="0"/>
              </a:rPr>
              <a:t> = 3∙ 5 ∙ 7  = 105, </a:t>
            </a:r>
            <a:endParaRPr lang="en-US" altLang="zh-CN" sz="22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Let </a:t>
            </a:r>
            <a:r>
              <a:rPr lang="en-US" altLang="zh-CN" sz="2200" i="1" dirty="0">
                <a:latin typeface="Times New Roman" panose="02020503050405090304" pitchFamily="18" charset="0"/>
                <a:cs typeface="Times New Roman" panose="02020503050405090304" pitchFamily="18" charset="0"/>
              </a:rPr>
              <a:t>M</a:t>
            </a:r>
            <a:r>
              <a:rPr lang="en-US" altLang="zh-CN" sz="2200" baseline="-25000" dirty="0">
                <a:latin typeface="Times New Roman" panose="02020503050405090304" pitchFamily="18" charset="0"/>
                <a:cs typeface="Times New Roman" panose="02020503050405090304" pitchFamily="18" charset="0"/>
              </a:rPr>
              <a:t>1  </a:t>
            </a:r>
            <a:r>
              <a:rPr lang="en-US" altLang="zh-CN" sz="2200" dirty="0">
                <a:latin typeface="Times New Roman" panose="02020503050405090304" pitchFamily="18" charset="0"/>
                <a:cs typeface="Times New Roman" panose="02020503050405090304" pitchFamily="18" charset="0"/>
              </a:rPr>
              <a:t>= </a:t>
            </a:r>
            <a:r>
              <a:rPr lang="en-US" altLang="zh-CN" sz="2200" i="1" dirty="0">
                <a:latin typeface="Times New Roman" panose="02020503050405090304" pitchFamily="18" charset="0"/>
                <a:cs typeface="Times New Roman" panose="02020503050405090304" pitchFamily="18" charset="0"/>
              </a:rPr>
              <a:t>m</a:t>
            </a:r>
            <a:r>
              <a:rPr lang="en-US" altLang="zh-CN" sz="2200" dirty="0">
                <a:latin typeface="Times New Roman" panose="02020503050405090304" pitchFamily="18" charset="0"/>
                <a:cs typeface="Times New Roman" panose="02020503050405090304" pitchFamily="18" charset="0"/>
              </a:rPr>
              <a:t>/3 = 35,  </a:t>
            </a:r>
            <a:r>
              <a:rPr lang="en-US" altLang="zh-CN" sz="2200" i="1" dirty="0">
                <a:latin typeface="Times New Roman" panose="02020503050405090304" pitchFamily="18" charset="0"/>
                <a:cs typeface="Times New Roman" panose="02020503050405090304" pitchFamily="18" charset="0"/>
              </a:rPr>
              <a:t>M</a:t>
            </a:r>
            <a:r>
              <a:rPr lang="en-US" altLang="zh-CN" sz="2200" baseline="-25000" dirty="0">
                <a:latin typeface="Times New Roman" panose="02020503050405090304" pitchFamily="18" charset="0"/>
                <a:cs typeface="Times New Roman" panose="02020503050405090304" pitchFamily="18" charset="0"/>
              </a:rPr>
              <a:t>2 </a:t>
            </a:r>
            <a:r>
              <a:rPr lang="en-US" altLang="zh-CN" sz="2200" dirty="0">
                <a:latin typeface="Times New Roman" panose="02020503050405090304" pitchFamily="18" charset="0"/>
                <a:cs typeface="Times New Roman" panose="02020503050405090304" pitchFamily="18" charset="0"/>
              </a:rPr>
              <a:t> = </a:t>
            </a:r>
            <a:r>
              <a:rPr lang="en-US" altLang="zh-CN" sz="2200" i="1" dirty="0">
                <a:latin typeface="Times New Roman" panose="02020503050405090304" pitchFamily="18" charset="0"/>
                <a:cs typeface="Times New Roman" panose="02020503050405090304" pitchFamily="18" charset="0"/>
              </a:rPr>
              <a:t>m</a:t>
            </a:r>
            <a:r>
              <a:rPr lang="en-US" altLang="zh-CN" sz="2200" dirty="0">
                <a:latin typeface="Times New Roman" panose="02020503050405090304" pitchFamily="18" charset="0"/>
                <a:cs typeface="Times New Roman" panose="02020503050405090304" pitchFamily="18" charset="0"/>
              </a:rPr>
              <a:t>/5 = 21,   </a:t>
            </a:r>
            <a:r>
              <a:rPr lang="en-US" altLang="zh-CN" sz="2200" i="1" dirty="0">
                <a:latin typeface="Times New Roman" panose="02020503050405090304" pitchFamily="18" charset="0"/>
                <a:cs typeface="Times New Roman" panose="02020503050405090304" pitchFamily="18" charset="0"/>
              </a:rPr>
              <a:t>M</a:t>
            </a:r>
            <a:r>
              <a:rPr lang="en-US" altLang="zh-CN" sz="2200" baseline="-25000" dirty="0">
                <a:latin typeface="Times New Roman" panose="02020503050405090304" pitchFamily="18" charset="0"/>
                <a:cs typeface="Times New Roman" panose="02020503050405090304" pitchFamily="18" charset="0"/>
              </a:rPr>
              <a:t>3 </a:t>
            </a:r>
            <a:r>
              <a:rPr lang="en-US" altLang="zh-CN" sz="2200" dirty="0">
                <a:latin typeface="Times New Roman" panose="02020503050405090304" pitchFamily="18" charset="0"/>
                <a:cs typeface="Times New Roman" panose="02020503050405090304" pitchFamily="18" charset="0"/>
              </a:rPr>
              <a:t> = </a:t>
            </a:r>
            <a:r>
              <a:rPr lang="en-US" altLang="zh-CN" sz="2200" i="1" dirty="0">
                <a:latin typeface="Times New Roman" panose="02020503050405090304" pitchFamily="18" charset="0"/>
                <a:cs typeface="Times New Roman" panose="02020503050405090304" pitchFamily="18" charset="0"/>
              </a:rPr>
              <a:t>m</a:t>
            </a:r>
            <a:r>
              <a:rPr lang="en-US" altLang="zh-CN" sz="2200" dirty="0">
                <a:latin typeface="Times New Roman" panose="02020503050405090304" pitchFamily="18" charset="0"/>
                <a:cs typeface="Times New Roman" panose="02020503050405090304" pitchFamily="18" charset="0"/>
              </a:rPr>
              <a:t>/7 = 15.</a:t>
            </a:r>
            <a:endParaRPr lang="en-US" altLang="zh-CN" sz="22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We see that</a:t>
            </a:r>
            <a:endParaRPr lang="en-US" altLang="zh-CN" sz="2200" dirty="0">
              <a:latin typeface="Times New Roman" panose="02020503050405090304" pitchFamily="18" charset="0"/>
              <a:cs typeface="Times New Roman" panose="02020503050405090304" pitchFamily="18" charset="0"/>
            </a:endParaRPr>
          </a:p>
          <a:p>
            <a:pPr lvl="2"/>
            <a:r>
              <a:rPr lang="en-US" altLang="zh-CN" sz="2000" dirty="0">
                <a:latin typeface="Times New Roman" panose="02020503050405090304" pitchFamily="18" charset="0"/>
                <a:cs typeface="Times New Roman" panose="02020503050405090304" pitchFamily="18" charset="0"/>
              </a:rPr>
              <a:t>y</a:t>
            </a:r>
            <a:r>
              <a:rPr lang="en-US" altLang="zh-CN" sz="2000" baseline="-25000" dirty="0">
                <a:latin typeface="Times New Roman" panose="02020503050405090304" pitchFamily="18" charset="0"/>
                <a:cs typeface="Times New Roman" panose="02020503050405090304" pitchFamily="18" charset="0"/>
              </a:rPr>
              <a:t>1</a:t>
            </a:r>
            <a:r>
              <a:rPr lang="en-US" altLang="zh-CN" sz="2000" dirty="0">
                <a:latin typeface="Times New Roman" panose="02020503050405090304" pitchFamily="18" charset="0"/>
                <a:cs typeface="Times New Roman" panose="02020503050405090304" pitchFamily="18" charset="0"/>
              </a:rPr>
              <a:t>=2 is an inverse of </a:t>
            </a:r>
            <a:r>
              <a:rPr lang="en-US" altLang="zh-CN" sz="2000" i="1" dirty="0">
                <a:latin typeface="Times New Roman" panose="02020503050405090304" pitchFamily="18" charset="0"/>
                <a:cs typeface="Times New Roman" panose="02020503050405090304" pitchFamily="18" charset="0"/>
              </a:rPr>
              <a:t>M</a:t>
            </a:r>
            <a:r>
              <a:rPr lang="en-US" altLang="zh-CN" sz="2000" baseline="-25000" dirty="0">
                <a:latin typeface="Times New Roman" panose="02020503050405090304" pitchFamily="18" charset="0"/>
                <a:cs typeface="Times New Roman" panose="02020503050405090304" pitchFamily="18" charset="0"/>
              </a:rPr>
              <a:t>1  </a:t>
            </a:r>
            <a:r>
              <a:rPr lang="en-US" altLang="zh-CN" sz="2000" dirty="0">
                <a:latin typeface="Times New Roman" panose="02020503050405090304" pitchFamily="18" charset="0"/>
                <a:cs typeface="Times New Roman" panose="02020503050405090304" pitchFamily="18" charset="0"/>
              </a:rPr>
              <a:t> = 35 modulo 3 since 35 ∙ 2 ≡ 2 ∙ 2 ≡ 1 (mod 3)</a:t>
            </a:r>
            <a:endParaRPr lang="en-US" altLang="zh-CN" sz="2000" dirty="0">
              <a:latin typeface="Times New Roman" panose="02020503050405090304" pitchFamily="18" charset="0"/>
              <a:cs typeface="Times New Roman" panose="02020503050405090304" pitchFamily="18" charset="0"/>
            </a:endParaRPr>
          </a:p>
          <a:p>
            <a:pPr lvl="2"/>
            <a:r>
              <a:rPr lang="en-US" altLang="zh-CN" sz="2000" dirty="0">
                <a:latin typeface="Times New Roman" panose="02020503050405090304" pitchFamily="18" charset="0"/>
                <a:cs typeface="Times New Roman" panose="02020503050405090304" pitchFamily="18" charset="0"/>
              </a:rPr>
              <a:t>y</a:t>
            </a:r>
            <a:r>
              <a:rPr lang="en-US" altLang="zh-CN" sz="2000" baseline="-25000" dirty="0">
                <a:latin typeface="Times New Roman" panose="02020503050405090304" pitchFamily="18" charset="0"/>
                <a:cs typeface="Times New Roman" panose="02020503050405090304" pitchFamily="18" charset="0"/>
              </a:rPr>
              <a:t>2</a:t>
            </a:r>
            <a:r>
              <a:rPr lang="en-US" altLang="zh-CN" sz="2000" dirty="0">
                <a:latin typeface="Times New Roman" panose="02020503050405090304" pitchFamily="18" charset="0"/>
                <a:cs typeface="Times New Roman" panose="02020503050405090304" pitchFamily="18" charset="0"/>
              </a:rPr>
              <a:t>=1 is an inverse of </a:t>
            </a:r>
            <a:r>
              <a:rPr lang="en-US" altLang="zh-CN" sz="2000" i="1" dirty="0">
                <a:latin typeface="Times New Roman" panose="02020503050405090304" pitchFamily="18" charset="0"/>
                <a:cs typeface="Times New Roman" panose="02020503050405090304" pitchFamily="18" charset="0"/>
              </a:rPr>
              <a:t>M</a:t>
            </a:r>
            <a:r>
              <a:rPr lang="en-US" altLang="zh-CN" sz="2000" baseline="-25000" dirty="0">
                <a:latin typeface="Times New Roman" panose="02020503050405090304" pitchFamily="18" charset="0"/>
                <a:cs typeface="Times New Roman" panose="02020503050405090304" pitchFamily="18" charset="0"/>
              </a:rPr>
              <a:t>2  </a:t>
            </a:r>
            <a:r>
              <a:rPr lang="en-US" altLang="zh-CN" sz="2000" dirty="0">
                <a:latin typeface="Times New Roman" panose="02020503050405090304" pitchFamily="18" charset="0"/>
                <a:cs typeface="Times New Roman" panose="02020503050405090304" pitchFamily="18" charset="0"/>
              </a:rPr>
              <a:t> = 21 modulo 5 since 21 ≡  1 (mod 5)</a:t>
            </a:r>
            <a:endParaRPr lang="en-US" altLang="zh-CN" sz="2000" dirty="0">
              <a:latin typeface="Times New Roman" panose="02020503050405090304" pitchFamily="18" charset="0"/>
              <a:cs typeface="Times New Roman" panose="02020503050405090304" pitchFamily="18" charset="0"/>
            </a:endParaRPr>
          </a:p>
          <a:p>
            <a:pPr lvl="2"/>
            <a:r>
              <a:rPr lang="en-US" altLang="zh-CN" sz="2000" dirty="0">
                <a:latin typeface="Times New Roman" panose="02020503050405090304" pitchFamily="18" charset="0"/>
                <a:cs typeface="Times New Roman" panose="02020503050405090304" pitchFamily="18" charset="0"/>
              </a:rPr>
              <a:t>y</a:t>
            </a:r>
            <a:r>
              <a:rPr lang="en-US" altLang="zh-CN" sz="2000" baseline="-25000" dirty="0">
                <a:latin typeface="Times New Roman" panose="02020503050405090304" pitchFamily="18" charset="0"/>
                <a:cs typeface="Times New Roman" panose="02020503050405090304" pitchFamily="18" charset="0"/>
              </a:rPr>
              <a:t>3</a:t>
            </a:r>
            <a:r>
              <a:rPr lang="en-US" altLang="zh-CN" sz="2000" dirty="0">
                <a:latin typeface="Times New Roman" panose="02020503050405090304" pitchFamily="18" charset="0"/>
                <a:cs typeface="Times New Roman" panose="02020503050405090304" pitchFamily="18" charset="0"/>
              </a:rPr>
              <a:t>=1 is an inverse of </a:t>
            </a:r>
            <a:r>
              <a:rPr lang="en-US" altLang="zh-CN" sz="2000" i="1" dirty="0">
                <a:latin typeface="Times New Roman" panose="02020503050405090304" pitchFamily="18" charset="0"/>
                <a:cs typeface="Times New Roman" panose="02020503050405090304" pitchFamily="18" charset="0"/>
              </a:rPr>
              <a:t>M</a:t>
            </a:r>
            <a:r>
              <a:rPr lang="en-US" altLang="zh-CN" sz="2000" baseline="-25000" dirty="0">
                <a:latin typeface="Times New Roman" panose="02020503050405090304" pitchFamily="18" charset="0"/>
                <a:cs typeface="Times New Roman" panose="02020503050405090304" pitchFamily="18" charset="0"/>
              </a:rPr>
              <a:t>3  </a:t>
            </a:r>
            <a:r>
              <a:rPr lang="en-US" altLang="zh-CN" sz="2000" dirty="0">
                <a:latin typeface="Times New Roman" panose="02020503050405090304" pitchFamily="18" charset="0"/>
                <a:cs typeface="Times New Roman" panose="02020503050405090304" pitchFamily="18" charset="0"/>
              </a:rPr>
              <a:t> = 15 modulo 7 since 15 ≡ 1 (mod 7)</a:t>
            </a:r>
            <a:endParaRPr lang="en-US" altLang="zh-CN" sz="20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Hence, </a:t>
            </a:r>
            <a:endParaRPr lang="en-US" altLang="zh-CN" sz="2200" dirty="0">
              <a:latin typeface="Times New Roman" panose="02020503050405090304" pitchFamily="18" charset="0"/>
              <a:cs typeface="Times New Roman" panose="02020503050405090304" pitchFamily="18" charset="0"/>
            </a:endParaRPr>
          </a:p>
          <a:p>
            <a:pPr lvl="1">
              <a:buNone/>
            </a:pPr>
            <a:r>
              <a:rPr lang="en-US" altLang="zh-CN" sz="2200" i="1" dirty="0">
                <a:latin typeface="Times New Roman" panose="02020503050405090304" pitchFamily="18" charset="0"/>
                <a:cs typeface="Times New Roman" panose="02020503050405090304" pitchFamily="18" charset="0"/>
              </a:rPr>
              <a:t>         x</a:t>
            </a:r>
            <a:r>
              <a:rPr lang="en-US" altLang="zh-CN" sz="2200" dirty="0">
                <a:latin typeface="Times New Roman" panose="02020503050405090304" pitchFamily="18" charset="0"/>
                <a:cs typeface="Times New Roman" panose="02020503050405090304" pitchFamily="18" charset="0"/>
              </a:rPr>
              <a:t> = </a:t>
            </a:r>
            <a:r>
              <a:rPr lang="en-US" altLang="zh-CN" sz="2200" i="1" dirty="0">
                <a:latin typeface="Times New Roman" panose="02020503050405090304" pitchFamily="18" charset="0"/>
                <a:cs typeface="Times New Roman" panose="02020503050405090304" pitchFamily="18" charset="0"/>
              </a:rPr>
              <a:t>a</a:t>
            </a:r>
            <a:r>
              <a:rPr lang="en-US" altLang="zh-CN" sz="2200" baseline="-25000" dirty="0">
                <a:latin typeface="Times New Roman" panose="02020503050405090304" pitchFamily="18" charset="0"/>
                <a:cs typeface="Times New Roman" panose="02020503050405090304" pitchFamily="18" charset="0"/>
              </a:rPr>
              <a:t>1</a:t>
            </a:r>
            <a:r>
              <a:rPr lang="en-US" altLang="zh-CN" sz="2200" i="1" dirty="0">
                <a:latin typeface="Times New Roman" panose="02020503050405090304" pitchFamily="18" charset="0"/>
                <a:cs typeface="Times New Roman" panose="02020503050405090304" pitchFamily="18" charset="0"/>
              </a:rPr>
              <a:t>M</a:t>
            </a:r>
            <a:r>
              <a:rPr lang="en-US" altLang="zh-CN" sz="2200" baseline="-25000" dirty="0">
                <a:latin typeface="Times New Roman" panose="02020503050405090304" pitchFamily="18" charset="0"/>
                <a:cs typeface="Times New Roman" panose="02020503050405090304" pitchFamily="18" charset="0"/>
              </a:rPr>
              <a:t>1</a:t>
            </a:r>
            <a:r>
              <a:rPr lang="en-US" altLang="zh-CN" sz="2200" i="1" dirty="0">
                <a:latin typeface="Times New Roman" panose="02020503050405090304" pitchFamily="18" charset="0"/>
                <a:cs typeface="Times New Roman" panose="02020503050405090304" pitchFamily="18" charset="0"/>
              </a:rPr>
              <a:t>y</a:t>
            </a:r>
            <a:r>
              <a:rPr lang="en-US" altLang="zh-CN" sz="2200" baseline="-25000" dirty="0">
                <a:latin typeface="Times New Roman" panose="02020503050405090304" pitchFamily="18" charset="0"/>
                <a:cs typeface="Times New Roman" panose="02020503050405090304" pitchFamily="18" charset="0"/>
              </a:rPr>
              <a:t>1  </a:t>
            </a:r>
            <a:r>
              <a:rPr lang="en-US" altLang="zh-CN" sz="2200" dirty="0">
                <a:latin typeface="Times New Roman" panose="02020503050405090304" pitchFamily="18" charset="0"/>
                <a:cs typeface="Times New Roman" panose="02020503050405090304" pitchFamily="18" charset="0"/>
              </a:rPr>
              <a:t>+ </a:t>
            </a:r>
            <a:r>
              <a:rPr lang="en-US" altLang="zh-CN" sz="2200" i="1" dirty="0">
                <a:latin typeface="Times New Roman" panose="02020503050405090304" pitchFamily="18" charset="0"/>
                <a:cs typeface="Times New Roman" panose="02020503050405090304" pitchFamily="18" charset="0"/>
              </a:rPr>
              <a:t>a</a:t>
            </a:r>
            <a:r>
              <a:rPr lang="en-US" altLang="zh-CN" sz="2200" baseline="-25000" dirty="0">
                <a:latin typeface="Times New Roman" panose="02020503050405090304" pitchFamily="18" charset="0"/>
                <a:cs typeface="Times New Roman" panose="02020503050405090304" pitchFamily="18" charset="0"/>
              </a:rPr>
              <a:t>2</a:t>
            </a:r>
            <a:r>
              <a:rPr lang="en-US" altLang="zh-CN" sz="2200" i="1" dirty="0">
                <a:latin typeface="Times New Roman" panose="02020503050405090304" pitchFamily="18" charset="0"/>
                <a:cs typeface="Times New Roman" panose="02020503050405090304" pitchFamily="18" charset="0"/>
              </a:rPr>
              <a:t>M</a:t>
            </a:r>
            <a:r>
              <a:rPr lang="en-US" altLang="zh-CN" sz="2200" baseline="-25000" dirty="0">
                <a:latin typeface="Times New Roman" panose="02020503050405090304" pitchFamily="18" charset="0"/>
                <a:cs typeface="Times New Roman" panose="02020503050405090304" pitchFamily="18" charset="0"/>
              </a:rPr>
              <a:t>2</a:t>
            </a:r>
            <a:r>
              <a:rPr lang="en-US" altLang="zh-CN" sz="2200" i="1" dirty="0">
                <a:latin typeface="Times New Roman" panose="02020503050405090304" pitchFamily="18" charset="0"/>
                <a:cs typeface="Times New Roman" panose="02020503050405090304" pitchFamily="18" charset="0"/>
              </a:rPr>
              <a:t>y</a:t>
            </a:r>
            <a:r>
              <a:rPr lang="en-US" altLang="zh-CN" sz="2200" baseline="-25000" dirty="0">
                <a:latin typeface="Times New Roman" panose="02020503050405090304" pitchFamily="18" charset="0"/>
                <a:cs typeface="Times New Roman" panose="02020503050405090304" pitchFamily="18" charset="0"/>
              </a:rPr>
              <a:t>2</a:t>
            </a:r>
            <a:r>
              <a:rPr lang="en-US" altLang="zh-CN" sz="2200" dirty="0">
                <a:latin typeface="Times New Roman" panose="02020503050405090304" pitchFamily="18" charset="0"/>
                <a:cs typeface="Times New Roman" panose="02020503050405090304" pitchFamily="18" charset="0"/>
              </a:rPr>
              <a:t>  +</a:t>
            </a:r>
            <a:r>
              <a:rPr lang="en-US" altLang="zh-CN" sz="2200" i="1" dirty="0">
                <a:latin typeface="Times New Roman" panose="02020503050405090304" pitchFamily="18" charset="0"/>
                <a:cs typeface="Times New Roman" panose="02020503050405090304" pitchFamily="18" charset="0"/>
              </a:rPr>
              <a:t> a</a:t>
            </a:r>
            <a:r>
              <a:rPr lang="en-US" altLang="zh-CN" sz="2200" baseline="-25000" dirty="0">
                <a:latin typeface="Times New Roman" panose="02020503050405090304" pitchFamily="18" charset="0"/>
                <a:cs typeface="Times New Roman" panose="02020503050405090304" pitchFamily="18" charset="0"/>
              </a:rPr>
              <a:t>3</a:t>
            </a:r>
            <a:r>
              <a:rPr lang="en-US" altLang="zh-CN" sz="2200" i="1" dirty="0">
                <a:latin typeface="Times New Roman" panose="02020503050405090304" pitchFamily="18" charset="0"/>
                <a:cs typeface="Times New Roman" panose="02020503050405090304" pitchFamily="18" charset="0"/>
              </a:rPr>
              <a:t>M</a:t>
            </a:r>
            <a:r>
              <a:rPr lang="en-US" altLang="zh-CN" sz="2200" baseline="-25000" dirty="0">
                <a:latin typeface="Times New Roman" panose="02020503050405090304" pitchFamily="18" charset="0"/>
                <a:cs typeface="Times New Roman" panose="02020503050405090304" pitchFamily="18" charset="0"/>
              </a:rPr>
              <a:t>3</a:t>
            </a:r>
            <a:r>
              <a:rPr lang="en-US" altLang="zh-CN" sz="2200" i="1" dirty="0">
                <a:latin typeface="Times New Roman" panose="02020503050405090304" pitchFamily="18" charset="0"/>
                <a:cs typeface="Times New Roman" panose="02020503050405090304" pitchFamily="18" charset="0"/>
              </a:rPr>
              <a:t>y</a:t>
            </a:r>
            <a:r>
              <a:rPr lang="en-US" altLang="zh-CN" sz="2200" baseline="-25000" dirty="0">
                <a:latin typeface="Times New Roman" panose="02020503050405090304" pitchFamily="18" charset="0"/>
                <a:cs typeface="Times New Roman" panose="02020503050405090304" pitchFamily="18" charset="0"/>
              </a:rPr>
              <a:t>3 </a:t>
            </a:r>
            <a:r>
              <a:rPr lang="en-US" altLang="zh-CN" sz="2200" i="1" dirty="0">
                <a:latin typeface="Times New Roman" panose="02020503050405090304" pitchFamily="18" charset="0"/>
                <a:cs typeface="Times New Roman" panose="02020503050405090304" pitchFamily="18" charset="0"/>
              </a:rPr>
              <a:t>(mod 105)</a:t>
            </a:r>
            <a:endParaRPr lang="en-US" altLang="zh-CN" sz="2200" i="1" dirty="0">
              <a:latin typeface="Times New Roman" panose="02020503050405090304" pitchFamily="18" charset="0"/>
              <a:cs typeface="Times New Roman" panose="02020503050405090304" pitchFamily="18" charset="0"/>
            </a:endParaRPr>
          </a:p>
          <a:p>
            <a:pPr lvl="1">
              <a:buNone/>
            </a:pPr>
            <a:r>
              <a:rPr lang="en-US" altLang="zh-CN" sz="2200" dirty="0">
                <a:latin typeface="Times New Roman" panose="02020503050405090304" pitchFamily="18" charset="0"/>
                <a:cs typeface="Times New Roman" panose="02020503050405090304" pitchFamily="18" charset="0"/>
              </a:rPr>
              <a:t>           = 2∙35∙2 + 3∙21∙1  + 2∙15∙1  </a:t>
            </a:r>
            <a:r>
              <a:rPr lang="en-US" altLang="zh-CN" sz="2200" i="1" dirty="0">
                <a:latin typeface="Times New Roman" panose="02020503050405090304" pitchFamily="18" charset="0"/>
                <a:cs typeface="Times New Roman" panose="02020503050405090304" pitchFamily="18" charset="0"/>
              </a:rPr>
              <a:t>(mod 105)</a:t>
            </a:r>
            <a:r>
              <a:rPr lang="en-US" altLang="zh-CN" sz="2200" dirty="0">
                <a:latin typeface="Times New Roman" panose="02020503050405090304" pitchFamily="18" charset="0"/>
                <a:cs typeface="Times New Roman" panose="02020503050405090304" pitchFamily="18" charset="0"/>
              </a:rPr>
              <a:t>= 233 ≡ 23 (mod 105)</a:t>
            </a:r>
            <a:endParaRPr lang="en-US" altLang="zh-CN" sz="22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We have shown that 23 is the smallest positive integer that is a simultaneous solution. Check it! </a:t>
            </a:r>
            <a:r>
              <a:rPr lang="zh-CN" altLang="en-US" sz="2200" dirty="0">
                <a:latin typeface="Times New Roman" panose="02020503050405090304" pitchFamily="18" charset="0"/>
                <a:cs typeface="Times New Roman" panose="02020503050405090304" pitchFamily="18" charset="0"/>
              </a:rPr>
              <a:t>（</a:t>
            </a:r>
            <a:r>
              <a:rPr lang="en-US" altLang="zh-CN" sz="2200" dirty="0">
                <a:latin typeface="Times New Roman" panose="02020503050405090304" pitchFamily="18" charset="0"/>
                <a:cs typeface="Times New Roman" panose="02020503050405090304" pitchFamily="18" charset="0"/>
              </a:rPr>
              <a:t>can be used in privacy calculus)</a:t>
            </a:r>
            <a:endParaRPr lang="en-US" altLang="zh-CN" sz="2200" dirty="0">
              <a:latin typeface="Times New Roman" panose="02020503050405090304" pitchFamily="18" charset="0"/>
              <a:ea typeface="Times New Roman" panose="02020503050405090304" pitchFamily="18" charset="0"/>
            </a:endParaRPr>
          </a:p>
        </p:txBody>
      </p:sp>
      <p:sp>
        <p:nvSpPr>
          <p:cNvPr id="18435" name="Title 1"/>
          <p:cNvSpPr>
            <a:spLocks noGrp="1"/>
          </p:cNvSpPr>
          <p:nvPr>
            <p:ph type="title"/>
          </p:nvPr>
        </p:nvSpPr>
        <p:spPr>
          <a:xfrm>
            <a:off x="1042988" y="188913"/>
            <a:ext cx="7924800" cy="666750"/>
          </a:xfrm>
        </p:spPr>
        <p:txBody>
          <a:bodyPr vert="horz" wrap="square" lIns="91440" tIns="45720" rIns="91440" bIns="45720" anchor="b" anchorCtr="0"/>
          <a:p>
            <a:r>
              <a:rPr lang="en-US" altLang="zh-CN" sz="3200" b="0" dirty="0">
                <a:latin typeface="Copperplate Gothic Bold" panose="020E0705020206020404" pitchFamily="34" charset="0"/>
              </a:rPr>
              <a:t>The Chinese Remainder Theorem</a:t>
            </a:r>
            <a:endParaRPr lang="en-US" altLang="zh-CN" sz="3200" b="0" dirty="0">
              <a:latin typeface="Copperplate Gothic Bold" panose="020E0705020206020404" pitchFamily="34" charset="0"/>
            </a:endParaRPr>
          </a:p>
        </p:txBody>
      </p:sp>
      <p:sp>
        <p:nvSpPr>
          <p:cNvPr id="2" name="矩形 1"/>
          <p:cNvSpPr/>
          <p:nvPr/>
        </p:nvSpPr>
        <p:spPr>
          <a:xfrm>
            <a:off x="7812088" y="2997200"/>
            <a:ext cx="947737" cy="431800"/>
          </a:xfrm>
          <a:prstGeom prst="rect">
            <a:avLst/>
          </a:prstGeom>
          <a:solidFill>
            <a:schemeClr val="accent2"/>
          </a:solid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en-US" altLang="zh-CN" sz="2200" i="1" dirty="0">
                <a:latin typeface="Times New Roman" panose="02020503050405090304" pitchFamily="18" charset="0"/>
                <a:cs typeface="Times New Roman" panose="02020503050405090304" pitchFamily="18" charset="0"/>
              </a:rPr>
              <a:t>y</a:t>
            </a:r>
            <a:r>
              <a:rPr lang="en-US" altLang="zh-CN" sz="2200" i="1" baseline="-25000" dirty="0">
                <a:latin typeface="Times New Roman" panose="02020503050405090304" pitchFamily="18" charset="0"/>
                <a:cs typeface="Times New Roman" panose="02020503050405090304" pitchFamily="18" charset="0"/>
              </a:rPr>
              <a:t>1 </a:t>
            </a:r>
            <a:r>
              <a:rPr lang="en-US" altLang="zh-CN" sz="2200" i="1" dirty="0">
                <a:latin typeface="Times New Roman" panose="02020503050405090304" pitchFamily="18" charset="0"/>
                <a:cs typeface="Times New Roman" panose="02020503050405090304" pitchFamily="18" charset="0"/>
              </a:rPr>
              <a:t>= -1</a:t>
            </a:r>
            <a:endParaRPr lang="zh-CN" altLang="en-US" sz="2200" i="1" dirty="0">
              <a:latin typeface="Times New Roman" panose="02020503050405090304" pitchFamily="18" charset="0"/>
            </a:endParaRPr>
          </a:p>
        </p:txBody>
      </p:sp>
      <p:sp>
        <p:nvSpPr>
          <p:cNvPr id="18437"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8438"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8439"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pic>
        <p:nvPicPr>
          <p:cNvPr id="18440" name="图片 7"/>
          <p:cNvPicPr>
            <a:picLocks noChangeAspect="1"/>
          </p:cNvPicPr>
          <p:nvPr/>
        </p:nvPicPr>
        <p:blipFill>
          <a:blip r:embed="rId1"/>
          <a:stretch>
            <a:fillRect/>
          </a:stretch>
        </p:blipFill>
        <p:spPr>
          <a:xfrm>
            <a:off x="6475413" y="765175"/>
            <a:ext cx="2560637" cy="755650"/>
          </a:xfrm>
          <a:prstGeom prst="rect">
            <a:avLst/>
          </a:prstGeom>
          <a:noFill/>
          <a:ln w="9525">
            <a:noFill/>
          </a:ln>
        </p:spPr>
      </p:pic>
      <p:sp>
        <p:nvSpPr>
          <p:cNvPr id="9" name="矩形 8"/>
          <p:cNvSpPr/>
          <p:nvPr/>
        </p:nvSpPr>
        <p:spPr>
          <a:xfrm>
            <a:off x="4021138" y="3068638"/>
            <a:ext cx="2243137" cy="431800"/>
          </a:xfrm>
          <a:prstGeom prst="rect">
            <a:avLst/>
          </a:prstGeom>
          <a:solidFill>
            <a:schemeClr val="accent2"/>
          </a:solid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en-US" altLang="zh-CN" sz="2200" i="1" dirty="0">
                <a:latin typeface="Times New Roman" panose="02020503050405090304" pitchFamily="18" charset="0"/>
                <a:cs typeface="Times New Roman" panose="02020503050405090304" pitchFamily="18" charset="0"/>
              </a:rPr>
              <a:t>35</a:t>
            </a:r>
            <a:r>
              <a:rPr lang="en-US" altLang="zh-CN" sz="2200" i="1" dirty="0">
                <a:latin typeface="Times New Roman" panose="02020503050405090304" pitchFamily="18" charset="0"/>
                <a:cs typeface="Times New Roman" panose="02020503050405090304" pitchFamily="18" charset="0"/>
              </a:rPr>
              <a:t> ∙ </a:t>
            </a:r>
            <a:r>
              <a:rPr lang="en-US" altLang="zh-CN" sz="2200" i="1" dirty="0">
                <a:latin typeface="Times New Roman" panose="02020503050405090304" pitchFamily="18" charset="0"/>
                <a:cs typeface="Times New Roman" panose="02020503050405090304" pitchFamily="18" charset="0"/>
              </a:rPr>
              <a:t>y</a:t>
            </a:r>
            <a:r>
              <a:rPr lang="en-US" altLang="zh-CN" sz="2200" i="1" baseline="-25000" dirty="0">
                <a:latin typeface="Times New Roman" panose="02020503050405090304" pitchFamily="18" charset="0"/>
                <a:cs typeface="Times New Roman" panose="02020503050405090304" pitchFamily="18" charset="0"/>
              </a:rPr>
              <a:t>1</a:t>
            </a:r>
            <a:r>
              <a:rPr lang="en-US" altLang="zh-CN" sz="2200" i="1" dirty="0">
                <a:latin typeface="Times New Roman" panose="02020503050405090304" pitchFamily="18" charset="0"/>
                <a:cs typeface="Times New Roman" panose="02020503050405090304" pitchFamily="18" charset="0"/>
              </a:rPr>
              <a:t> ≡1 (mod 3)</a:t>
            </a:r>
            <a:endParaRPr lang="zh-CN" altLang="en-US" sz="2200" i="1" dirty="0">
              <a:latin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itle 1"/>
          <p:cNvSpPr>
            <a:spLocks noGrp="1"/>
          </p:cNvSpPr>
          <p:nvPr>
            <p:ph type="title"/>
          </p:nvPr>
        </p:nvSpPr>
        <p:spPr/>
        <p:txBody>
          <a:bodyPr vert="horz" wrap="square" lIns="91440" tIns="45720" rIns="91440" bIns="45720" anchor="b" anchorCtr="0"/>
          <a:p>
            <a:r>
              <a:rPr lang="en-US" altLang="zh-CN" sz="3200" b="0" dirty="0">
                <a:latin typeface="Copperplate Gothic Bold" panose="020E0705020206020404" pitchFamily="34" charset="0"/>
              </a:rPr>
              <a:t>Back Substitution</a:t>
            </a:r>
            <a:endParaRPr lang="en-US" altLang="zh-CN" sz="3200" b="0" dirty="0">
              <a:latin typeface="Copperplate Gothic Bold" panose="020E0705020206020404" pitchFamily="34" charset="0"/>
            </a:endParaRPr>
          </a:p>
        </p:txBody>
      </p:sp>
      <p:sp>
        <p:nvSpPr>
          <p:cNvPr id="19459" name="Content Placeholder 2"/>
          <p:cNvSpPr>
            <a:spLocks noGrp="1"/>
          </p:cNvSpPr>
          <p:nvPr>
            <p:ph idx="1"/>
          </p:nvPr>
        </p:nvSpPr>
        <p:spPr>
          <a:xfrm>
            <a:off x="307975" y="981075"/>
            <a:ext cx="8585200" cy="5327650"/>
          </a:xfrm>
        </p:spPr>
        <p:txBody>
          <a:bodyPr vert="horz" wrap="square" lIns="91440" tIns="45720" rIns="91440" bIns="45720" anchor="t" anchorCtr="0"/>
          <a:p>
            <a:pPr algn="just">
              <a:spcBef>
                <a:spcPts val="600"/>
              </a:spcBef>
            </a:pPr>
            <a:r>
              <a:rPr lang="en-US" altLang="zh-CN" sz="2800" b="1" dirty="0">
                <a:latin typeface="Times New Roman" panose="02020503050405090304" pitchFamily="18" charset="0"/>
              </a:rPr>
              <a:t>Definition:</a:t>
            </a:r>
            <a:endParaRPr lang="en-US" altLang="zh-CN" sz="2800" b="1" dirty="0">
              <a:latin typeface="Times New Roman" panose="02020503050405090304" pitchFamily="18" charset="0"/>
            </a:endParaRPr>
          </a:p>
          <a:p>
            <a:pPr lvl="1" algn="just">
              <a:spcBef>
                <a:spcPts val="600"/>
              </a:spcBef>
            </a:pPr>
            <a:r>
              <a:rPr lang="en-US" altLang="zh-CN" sz="2400" dirty="0">
                <a:latin typeface="Times New Roman" panose="02020503050405090304" pitchFamily="18" charset="0"/>
              </a:rPr>
              <a:t>We can also solve systems of linear congruences with pairwise relatively prime moduli by rewriting a congruences as an equality using </a:t>
            </a:r>
            <a:r>
              <a:rPr lang="en-US" altLang="zh-CN" sz="2400" dirty="0">
                <a:solidFill>
                  <a:srgbClr val="FF0000"/>
                </a:solidFill>
                <a:latin typeface="Times New Roman" panose="02020503050405090304" pitchFamily="18" charset="0"/>
              </a:rPr>
              <a:t>Theorem 4 in Section 4.1</a:t>
            </a:r>
            <a:r>
              <a:rPr lang="en-US" altLang="zh-CN" sz="2400" dirty="0">
                <a:latin typeface="Times New Roman" panose="02020503050405090304" pitchFamily="18" charset="0"/>
              </a:rPr>
              <a:t>, substituting the value for the variable into another congruence, and continuing the process until we have worked through all the congruences. </a:t>
            </a:r>
            <a:endParaRPr lang="en-US" altLang="zh-CN" sz="2400" dirty="0">
              <a:latin typeface="Times New Roman" panose="02020503050405090304" pitchFamily="18" charset="0"/>
            </a:endParaRPr>
          </a:p>
          <a:p>
            <a:pPr lvl="1" algn="just">
              <a:spcBef>
                <a:spcPts val="600"/>
              </a:spcBef>
            </a:pPr>
            <a:r>
              <a:rPr lang="en-US" altLang="zh-CN" sz="2400" dirty="0">
                <a:latin typeface="Times New Roman" panose="02020503050405090304" pitchFamily="18" charset="0"/>
              </a:rPr>
              <a:t>This method is known as </a:t>
            </a:r>
            <a:r>
              <a:rPr lang="en-US" altLang="zh-CN" sz="2400" b="1" i="1" dirty="0">
                <a:solidFill>
                  <a:srgbClr val="FF0000"/>
                </a:solidFill>
                <a:latin typeface="Times New Roman" panose="02020503050405090304" pitchFamily="18" charset="0"/>
              </a:rPr>
              <a:t>back substitution </a:t>
            </a:r>
            <a:r>
              <a:rPr lang="en-US" altLang="zh-CN" sz="2400" b="1" i="1" dirty="0">
                <a:latin typeface="Times New Roman" panose="02020503050405090304" pitchFamily="18" charset="0"/>
              </a:rPr>
              <a:t>(</a:t>
            </a:r>
            <a:r>
              <a:rPr lang="zh-CN" altLang="zh-CN" sz="2400" i="1" dirty="0"/>
              <a:t>反向替代</a:t>
            </a:r>
            <a:r>
              <a:rPr lang="en-US" altLang="zh-CN" sz="2400" i="1" dirty="0"/>
              <a:t>/</a:t>
            </a:r>
            <a:r>
              <a:rPr lang="zh-CN" altLang="en-US" sz="2400" i="1" dirty="0"/>
              <a:t>后向代入法</a:t>
            </a:r>
            <a:r>
              <a:rPr lang="en-US" altLang="zh-CN" sz="2400" b="1" i="1" dirty="0">
                <a:latin typeface="Times New Roman" panose="02020503050405090304" pitchFamily="18" charset="0"/>
              </a:rPr>
              <a:t>)</a:t>
            </a:r>
            <a:r>
              <a:rPr lang="en-US" altLang="zh-CN" sz="2400" dirty="0">
                <a:latin typeface="Times New Roman" panose="02020503050405090304" pitchFamily="18" charset="0"/>
              </a:rPr>
              <a:t>.</a:t>
            </a:r>
            <a:endParaRPr lang="en-US" altLang="zh-CN" sz="2400" dirty="0">
              <a:latin typeface="Times New Roman" panose="02020503050405090304" pitchFamily="18" charset="0"/>
            </a:endParaRPr>
          </a:p>
          <a:p>
            <a:pPr algn="just">
              <a:spcBef>
                <a:spcPts val="1800"/>
              </a:spcBef>
            </a:pPr>
            <a:r>
              <a:rPr lang="en-US" altLang="zh-CN" sz="2800" b="1" dirty="0">
                <a:latin typeface="Times New Roman" panose="02020503050405090304" pitchFamily="18" charset="0"/>
              </a:rPr>
              <a:t>Example 6</a:t>
            </a:r>
            <a:r>
              <a:rPr lang="en-US" altLang="zh-CN" sz="2800" dirty="0">
                <a:latin typeface="Times New Roman" panose="02020503050405090304" pitchFamily="18" charset="0"/>
              </a:rPr>
              <a:t>: </a:t>
            </a:r>
            <a:endParaRPr lang="en-US" altLang="zh-CN" sz="2800" dirty="0">
              <a:latin typeface="Times New Roman" panose="02020503050405090304" pitchFamily="18" charset="0"/>
            </a:endParaRPr>
          </a:p>
          <a:p>
            <a:pPr lvl="1" algn="just">
              <a:spcBef>
                <a:spcPts val="600"/>
              </a:spcBef>
            </a:pPr>
            <a:r>
              <a:rPr lang="en-US" altLang="zh-CN" sz="2400" dirty="0">
                <a:latin typeface="Times New Roman" panose="02020503050405090304" pitchFamily="18" charset="0"/>
              </a:rPr>
              <a:t>Use the method of back substitution to find all integers </a:t>
            </a:r>
            <a:r>
              <a:rPr lang="en-US" altLang="zh-CN" sz="2400" i="1" dirty="0">
                <a:latin typeface="Times New Roman" panose="02020503050405090304" pitchFamily="18" charset="0"/>
              </a:rPr>
              <a:t>x</a:t>
            </a:r>
            <a:r>
              <a:rPr lang="en-US" altLang="zh-CN" sz="2400" dirty="0">
                <a:latin typeface="Times New Roman" panose="02020503050405090304" pitchFamily="18" charset="0"/>
              </a:rPr>
              <a:t> such that</a:t>
            </a:r>
            <a:endParaRPr lang="en-US" altLang="zh-CN" sz="2400" dirty="0">
              <a:latin typeface="Times New Roman" panose="02020503050405090304" pitchFamily="18" charset="0"/>
            </a:endParaRPr>
          </a:p>
          <a:p>
            <a:pPr algn="just">
              <a:spcBef>
                <a:spcPts val="600"/>
              </a:spcBef>
              <a:buNone/>
            </a:pPr>
            <a:r>
              <a:rPr lang="en-US" altLang="zh-CN" sz="2800" dirty="0">
                <a:latin typeface="Times New Roman" panose="02020503050405090304" pitchFamily="18" charset="0"/>
              </a:rPr>
              <a:t>          </a:t>
            </a:r>
            <a:r>
              <a:rPr lang="en-US" altLang="zh-CN" sz="2400" i="1" dirty="0">
                <a:latin typeface="Times New Roman" panose="02020503050405090304" pitchFamily="18" charset="0"/>
              </a:rPr>
              <a:t>x </a:t>
            </a:r>
            <a:r>
              <a:rPr lang="en-US" altLang="zh-CN" sz="2400" dirty="0">
                <a:latin typeface="Times New Roman" panose="02020503050405090304" pitchFamily="18" charset="0"/>
              </a:rPr>
              <a:t>≡ 1 (mod 5),</a:t>
            </a:r>
            <a:r>
              <a:rPr lang="en-US" altLang="zh-CN" sz="2400" i="1" dirty="0">
                <a:latin typeface="Times New Roman" panose="02020503050405090304" pitchFamily="18" charset="0"/>
              </a:rPr>
              <a:t>   x </a:t>
            </a:r>
            <a:r>
              <a:rPr lang="en-US" altLang="zh-CN" sz="2400" dirty="0">
                <a:latin typeface="Times New Roman" panose="02020503050405090304" pitchFamily="18" charset="0"/>
              </a:rPr>
              <a:t>≡ 2 (mod 6),   </a:t>
            </a:r>
            <a:r>
              <a:rPr lang="en-US" altLang="zh-CN" sz="2400" i="1" dirty="0">
                <a:latin typeface="Times New Roman" panose="02020503050405090304" pitchFamily="18" charset="0"/>
              </a:rPr>
              <a:t>x </a:t>
            </a:r>
            <a:r>
              <a:rPr lang="en-US" altLang="zh-CN" sz="2400" dirty="0">
                <a:latin typeface="Times New Roman" panose="02020503050405090304" pitchFamily="18" charset="0"/>
              </a:rPr>
              <a:t>≡ 3 (mod 7).</a:t>
            </a:r>
            <a:endParaRPr lang="en-US" altLang="zh-CN" sz="2800" dirty="0">
              <a:latin typeface="Times New Roman" panose="02020503050405090304" pitchFamily="18" charset="0"/>
            </a:endParaRPr>
          </a:p>
        </p:txBody>
      </p:sp>
      <p:sp>
        <p:nvSpPr>
          <p:cNvPr id="19460" name="矩形 1"/>
          <p:cNvSpPr/>
          <p:nvPr/>
        </p:nvSpPr>
        <p:spPr>
          <a:xfrm>
            <a:off x="4067175" y="3933825"/>
            <a:ext cx="4572000" cy="830263"/>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None/>
            </a:pPr>
            <a:r>
              <a:rPr lang="en-US" altLang="zh-CN" sz="2400" b="1" i="1" dirty="0">
                <a:latin typeface="Times New Roman" panose="02020503050405090304" pitchFamily="18" charset="0"/>
                <a:sym typeface="Symbol" panose="05050102010706020507" pitchFamily="18" charset="2"/>
              </a:rPr>
              <a:t>Let a,bZ, m</a:t>
            </a:r>
            <a:r>
              <a:rPr lang="en-US" altLang="zh-CN" sz="2400" b="1" i="1" dirty="0">
                <a:latin typeface="Times New Roman" panose="02020503050405090304" pitchFamily="18" charset="0"/>
              </a:rPr>
              <a:t>Z</a:t>
            </a:r>
            <a:r>
              <a:rPr lang="en-US" altLang="zh-CN" sz="2400" b="1" i="1" baseline="30000" dirty="0">
                <a:latin typeface="Times New Roman" panose="02020503050405090304" pitchFamily="18" charset="0"/>
              </a:rPr>
              <a:t>+</a:t>
            </a:r>
            <a:r>
              <a:rPr lang="en-US" altLang="zh-CN" sz="2400" b="1" i="1" dirty="0">
                <a:latin typeface="Times New Roman" panose="02020503050405090304" pitchFamily="18" charset="0"/>
              </a:rPr>
              <a:t>.  Then:</a:t>
            </a:r>
            <a:br>
              <a:rPr lang="en-US" altLang="zh-CN" sz="2400" b="1" i="1" dirty="0">
                <a:latin typeface="Times New Roman" panose="02020503050405090304" pitchFamily="18" charset="0"/>
              </a:rPr>
            </a:br>
            <a:r>
              <a:rPr lang="en-US" altLang="zh-CN" sz="2400" b="1" i="1" dirty="0">
                <a:latin typeface="Times New Roman" panose="02020503050405090304" pitchFamily="18" charset="0"/>
              </a:rPr>
              <a:t>a</a:t>
            </a:r>
            <a:r>
              <a:rPr lang="en-US" altLang="zh-CN" sz="2400" b="1" i="1" dirty="0">
                <a:latin typeface="Times New Roman" panose="02020503050405090304" pitchFamily="18" charset="0"/>
                <a:sym typeface="Symbol" panose="05050102010706020507" pitchFamily="18" charset="2"/>
              </a:rPr>
              <a:t> b (mod m)   kZ  a=b+km.</a:t>
            </a:r>
            <a:endParaRPr lang="en-US" altLang="zh-CN" sz="2400" b="1" i="1" dirty="0">
              <a:latin typeface="Times New Roman" panose="02020503050405090304" pitchFamily="18" charset="0"/>
              <a:sym typeface="Symbol" panose="05050102010706020507" pitchFamily="18" charset="2"/>
            </a:endParaRPr>
          </a:p>
        </p:txBody>
      </p:sp>
      <p:sp>
        <p:nvSpPr>
          <p:cNvPr id="19461"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9462"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9463"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itle 1"/>
          <p:cNvSpPr>
            <a:spLocks noGrp="1"/>
          </p:cNvSpPr>
          <p:nvPr>
            <p:ph type="title"/>
          </p:nvPr>
        </p:nvSpPr>
        <p:spPr/>
        <p:txBody>
          <a:bodyPr vert="horz" wrap="square" lIns="91440" tIns="45720" rIns="91440" bIns="45720" anchor="b" anchorCtr="0"/>
          <a:p>
            <a:r>
              <a:rPr lang="en-US" altLang="zh-CN" sz="3200" b="0" dirty="0">
                <a:latin typeface="Copperplate Gothic Bold" panose="020E0705020206020404" pitchFamily="34" charset="0"/>
              </a:rPr>
              <a:t>Back Substitution</a:t>
            </a:r>
            <a:endParaRPr lang="en-US" altLang="zh-CN" sz="3200" b="0" dirty="0">
              <a:latin typeface="Copperplate Gothic Bold" panose="020E0705020206020404" pitchFamily="34" charset="0"/>
            </a:endParaRPr>
          </a:p>
        </p:txBody>
      </p:sp>
      <p:sp>
        <p:nvSpPr>
          <p:cNvPr id="20483" name="Content Placeholder 2"/>
          <p:cNvSpPr>
            <a:spLocks noGrp="1"/>
          </p:cNvSpPr>
          <p:nvPr>
            <p:ph idx="1"/>
          </p:nvPr>
        </p:nvSpPr>
        <p:spPr>
          <a:xfrm>
            <a:off x="307975" y="908050"/>
            <a:ext cx="8728075" cy="5616575"/>
          </a:xfrm>
        </p:spPr>
        <p:txBody>
          <a:bodyPr vert="horz" wrap="square" lIns="91440" tIns="45720" rIns="91440" bIns="45720" anchor="t" anchorCtr="0"/>
          <a:p>
            <a:pPr>
              <a:spcBef>
                <a:spcPts val="600"/>
              </a:spcBef>
            </a:pPr>
            <a:r>
              <a:rPr lang="en-US" altLang="zh-CN" sz="2800" b="1" dirty="0">
                <a:latin typeface="Times New Roman" panose="02020503050405090304" pitchFamily="18" charset="0"/>
              </a:rPr>
              <a:t>Solution</a:t>
            </a:r>
            <a:r>
              <a:rPr lang="en-US" altLang="zh-CN" sz="2800" dirty="0">
                <a:latin typeface="Times New Roman" panose="02020503050405090304" pitchFamily="18" charset="0"/>
              </a:rPr>
              <a:t>: </a:t>
            </a:r>
            <a:endParaRPr lang="en-US" altLang="zh-CN" sz="2800" dirty="0">
              <a:latin typeface="Times New Roman" panose="02020503050405090304" pitchFamily="18" charset="0"/>
            </a:endParaRPr>
          </a:p>
          <a:p>
            <a:pPr marL="914400" lvl="1" indent="-457200">
              <a:spcBef>
                <a:spcPts val="300"/>
              </a:spcBef>
              <a:buClr>
                <a:srgbClr val="FF0000"/>
              </a:buClr>
              <a:buSzPct val="95000"/>
              <a:buFont typeface="Copperplate Gothic Light" panose="020E0507020206020404" pitchFamily="34" charset="0"/>
              <a:buAutoNum type="arabicPeriod"/>
            </a:pPr>
            <a:r>
              <a:rPr lang="en-US" altLang="zh-CN" sz="2200" dirty="0">
                <a:latin typeface="Times New Roman" panose="02020503050405090304" pitchFamily="18" charset="0"/>
              </a:rPr>
              <a:t>By </a:t>
            </a:r>
            <a:r>
              <a:rPr lang="en-US" altLang="zh-CN" sz="2200" dirty="0">
                <a:solidFill>
                  <a:srgbClr val="FF0000"/>
                </a:solidFill>
                <a:latin typeface="Times New Roman" panose="02020503050405090304" pitchFamily="18" charset="0"/>
              </a:rPr>
              <a:t>Theorem 4</a:t>
            </a:r>
            <a:r>
              <a:rPr lang="en-US" altLang="zh-CN" sz="2200" dirty="0">
                <a:latin typeface="Times New Roman" panose="02020503050405090304" pitchFamily="18" charset="0"/>
              </a:rPr>
              <a:t> in Section 4.1, the congruence </a:t>
            </a:r>
            <a:r>
              <a:rPr lang="zh-CN" altLang="zh-CN" sz="2000" dirty="0">
                <a:latin typeface="Times New Roman" panose="02020503050405090304" pitchFamily="18" charset="0"/>
              </a:rPr>
              <a:t>①</a:t>
            </a:r>
            <a:r>
              <a:rPr lang="en-US" altLang="zh-CN" sz="2400" dirty="0">
                <a:latin typeface="Times New Roman" panose="02020503050405090304" pitchFamily="18" charset="0"/>
              </a:rPr>
              <a:t> </a:t>
            </a:r>
            <a:r>
              <a:rPr lang="en-US" altLang="zh-CN" sz="2200" dirty="0">
                <a:latin typeface="Times New Roman" panose="02020503050405090304" pitchFamily="18" charset="0"/>
              </a:rPr>
              <a:t>can be rewritten as </a:t>
            </a:r>
            <a:r>
              <a:rPr lang="en-US" altLang="zh-CN" sz="2200" i="1" dirty="0">
                <a:latin typeface="Times New Roman" panose="02020503050405090304" pitchFamily="18" charset="0"/>
              </a:rPr>
              <a:t>x </a:t>
            </a:r>
            <a:r>
              <a:rPr lang="en-US" altLang="zh-CN" sz="2200" dirty="0">
                <a:latin typeface="Times New Roman" panose="02020503050405090304" pitchFamily="18" charset="0"/>
              </a:rPr>
              <a:t>= 5</a:t>
            </a:r>
            <a:r>
              <a:rPr lang="en-US" altLang="zh-CN" sz="2200" i="1" dirty="0">
                <a:latin typeface="Times New Roman" panose="02020503050405090304" pitchFamily="18" charset="0"/>
              </a:rPr>
              <a:t>t</a:t>
            </a:r>
            <a:r>
              <a:rPr lang="en-US" altLang="zh-CN" sz="2200" dirty="0">
                <a:latin typeface="Times New Roman" panose="02020503050405090304" pitchFamily="18" charset="0"/>
              </a:rPr>
              <a:t> +1, where </a:t>
            </a:r>
            <a:r>
              <a:rPr lang="en-US" altLang="zh-CN" sz="2200" i="1" dirty="0">
                <a:latin typeface="Times New Roman" panose="02020503050405090304" pitchFamily="18" charset="0"/>
              </a:rPr>
              <a:t>t</a:t>
            </a:r>
            <a:r>
              <a:rPr lang="en-US" altLang="zh-CN" sz="2200" dirty="0">
                <a:latin typeface="Times New Roman" panose="02020503050405090304" pitchFamily="18" charset="0"/>
              </a:rPr>
              <a:t> is an integer. </a:t>
            </a:r>
            <a:endParaRPr lang="en-US" altLang="zh-CN" sz="2200" dirty="0">
              <a:latin typeface="Times New Roman" panose="02020503050405090304" pitchFamily="18" charset="0"/>
            </a:endParaRPr>
          </a:p>
          <a:p>
            <a:pPr marL="914400" lvl="1" indent="-457200">
              <a:spcBef>
                <a:spcPts val="300"/>
              </a:spcBef>
              <a:buClr>
                <a:srgbClr val="FF0000"/>
              </a:buClr>
              <a:buSzPct val="95000"/>
              <a:buFont typeface="Copperplate Gothic Light" panose="020E0507020206020404" pitchFamily="34" charset="0"/>
              <a:buAutoNum type="arabicPeriod"/>
            </a:pPr>
            <a:r>
              <a:rPr lang="en-US" altLang="zh-CN" sz="2200" dirty="0">
                <a:latin typeface="Times New Roman" panose="02020503050405090304" pitchFamily="18" charset="0"/>
              </a:rPr>
              <a:t>Substituting into the congruence </a:t>
            </a:r>
            <a:r>
              <a:rPr lang="zh-CN" altLang="zh-CN" sz="2000" dirty="0">
                <a:latin typeface="Times New Roman" panose="02020503050405090304" pitchFamily="18" charset="0"/>
              </a:rPr>
              <a:t>②</a:t>
            </a:r>
            <a:r>
              <a:rPr lang="en-US" altLang="zh-CN" sz="2200" dirty="0">
                <a:latin typeface="Times New Roman" panose="02020503050405090304" pitchFamily="18" charset="0"/>
              </a:rPr>
              <a:t> yields  5</a:t>
            </a:r>
            <a:r>
              <a:rPr lang="en-US" altLang="zh-CN" sz="2200" i="1" dirty="0">
                <a:latin typeface="Times New Roman" panose="02020503050405090304" pitchFamily="18" charset="0"/>
              </a:rPr>
              <a:t>t</a:t>
            </a:r>
            <a:r>
              <a:rPr lang="en-US" altLang="zh-CN" sz="2200" dirty="0">
                <a:latin typeface="Times New Roman" panose="02020503050405090304" pitchFamily="18" charset="0"/>
              </a:rPr>
              <a:t> +1 ≡ 2 (mod 6). </a:t>
            </a:r>
            <a:endParaRPr lang="en-US" altLang="zh-CN" sz="2200" dirty="0">
              <a:latin typeface="Times New Roman" panose="02020503050405090304" pitchFamily="18" charset="0"/>
            </a:endParaRPr>
          </a:p>
          <a:p>
            <a:pPr marL="914400" lvl="1" indent="-457200">
              <a:spcBef>
                <a:spcPts val="300"/>
              </a:spcBef>
              <a:buClr>
                <a:srgbClr val="FF0000"/>
              </a:buClr>
              <a:buSzPct val="95000"/>
              <a:buFont typeface="Copperplate Gothic Light" panose="020E0507020206020404" pitchFamily="34" charset="0"/>
              <a:buAutoNum type="arabicPeriod"/>
            </a:pPr>
            <a:r>
              <a:rPr lang="en-US" altLang="zh-CN" sz="2200" dirty="0">
                <a:latin typeface="Times New Roman" panose="02020503050405090304" pitchFamily="18" charset="0"/>
              </a:rPr>
              <a:t>Solving this tells us that  </a:t>
            </a:r>
            <a:r>
              <a:rPr lang="en-US" altLang="zh-CN" sz="2200" i="1" dirty="0">
                <a:latin typeface="Times New Roman" panose="02020503050405090304" pitchFamily="18" charset="0"/>
              </a:rPr>
              <a:t>t </a:t>
            </a:r>
            <a:r>
              <a:rPr lang="en-US" altLang="zh-CN" sz="2200" dirty="0">
                <a:latin typeface="Times New Roman" panose="02020503050405090304" pitchFamily="18" charset="0"/>
              </a:rPr>
              <a:t>≡ 5 (mod 6). </a:t>
            </a:r>
            <a:endParaRPr lang="en-US" altLang="zh-CN" sz="2200" dirty="0">
              <a:latin typeface="Times New Roman" panose="02020503050405090304" pitchFamily="18" charset="0"/>
            </a:endParaRPr>
          </a:p>
          <a:p>
            <a:pPr marL="914400" lvl="1" indent="-457200">
              <a:spcBef>
                <a:spcPts val="300"/>
              </a:spcBef>
              <a:buClr>
                <a:srgbClr val="FF0000"/>
              </a:buClr>
              <a:buSzPct val="95000"/>
              <a:buFont typeface="Copperplate Gothic Light" panose="020E0507020206020404" pitchFamily="34" charset="0"/>
              <a:buAutoNum type="arabicPeriod"/>
            </a:pPr>
            <a:r>
              <a:rPr lang="en-US" altLang="zh-CN" sz="2200" dirty="0">
                <a:latin typeface="Times New Roman" panose="02020503050405090304" pitchFamily="18" charset="0"/>
              </a:rPr>
              <a:t>Using Theorem 4 again gives </a:t>
            </a:r>
            <a:r>
              <a:rPr lang="en-US" altLang="zh-CN" sz="2200" i="1" dirty="0">
                <a:latin typeface="Times New Roman" panose="02020503050405090304" pitchFamily="18" charset="0"/>
              </a:rPr>
              <a:t>t</a:t>
            </a:r>
            <a:r>
              <a:rPr lang="en-US" altLang="zh-CN" sz="2200" dirty="0">
                <a:latin typeface="Times New Roman" panose="02020503050405090304" pitchFamily="18" charset="0"/>
              </a:rPr>
              <a:t> = 6</a:t>
            </a:r>
            <a:r>
              <a:rPr lang="en-US" altLang="zh-CN" sz="2200" i="1" dirty="0">
                <a:latin typeface="Times New Roman" panose="02020503050405090304" pitchFamily="18" charset="0"/>
              </a:rPr>
              <a:t>u</a:t>
            </a:r>
            <a:r>
              <a:rPr lang="en-US" altLang="zh-CN" sz="2200" dirty="0">
                <a:latin typeface="Times New Roman" panose="02020503050405090304" pitchFamily="18" charset="0"/>
              </a:rPr>
              <a:t> + 5 where </a:t>
            </a:r>
            <a:r>
              <a:rPr lang="en-US" altLang="zh-CN" sz="2200" i="1" dirty="0">
                <a:latin typeface="Times New Roman" panose="02020503050405090304" pitchFamily="18" charset="0"/>
              </a:rPr>
              <a:t>u</a:t>
            </a:r>
            <a:r>
              <a:rPr lang="en-US" altLang="zh-CN" sz="2200" dirty="0">
                <a:latin typeface="Times New Roman" panose="02020503050405090304" pitchFamily="18" charset="0"/>
              </a:rPr>
              <a:t> is an integer. </a:t>
            </a:r>
            <a:endParaRPr lang="en-US" altLang="zh-CN" sz="2200" dirty="0">
              <a:latin typeface="Times New Roman" panose="02020503050405090304" pitchFamily="18" charset="0"/>
            </a:endParaRPr>
          </a:p>
          <a:p>
            <a:pPr marL="914400" lvl="1" indent="-457200">
              <a:spcBef>
                <a:spcPts val="300"/>
              </a:spcBef>
              <a:buClr>
                <a:srgbClr val="FF0000"/>
              </a:buClr>
              <a:buSzPct val="95000"/>
              <a:buFont typeface="Copperplate Gothic Light" panose="020E0507020206020404" pitchFamily="34" charset="0"/>
              <a:buAutoNum type="arabicPeriod"/>
            </a:pPr>
            <a:r>
              <a:rPr lang="en-US" altLang="zh-CN" sz="2200" dirty="0">
                <a:latin typeface="Times New Roman" panose="02020503050405090304" pitchFamily="18" charset="0"/>
              </a:rPr>
              <a:t>Substituting this back into </a:t>
            </a:r>
            <a:r>
              <a:rPr lang="en-US" altLang="zh-CN" sz="2200" i="1" dirty="0">
                <a:latin typeface="Times New Roman" panose="02020503050405090304" pitchFamily="18" charset="0"/>
              </a:rPr>
              <a:t>x </a:t>
            </a:r>
            <a:r>
              <a:rPr lang="en-US" altLang="zh-CN" sz="2200" dirty="0">
                <a:latin typeface="Times New Roman" panose="02020503050405090304" pitchFamily="18" charset="0"/>
              </a:rPr>
              <a:t>= 5</a:t>
            </a:r>
            <a:r>
              <a:rPr lang="en-US" altLang="zh-CN" sz="2200" i="1" dirty="0">
                <a:latin typeface="Times New Roman" panose="02020503050405090304" pitchFamily="18" charset="0"/>
              </a:rPr>
              <a:t>t</a:t>
            </a:r>
            <a:r>
              <a:rPr lang="en-US" altLang="zh-CN" sz="2200" dirty="0">
                <a:latin typeface="Times New Roman" panose="02020503050405090304" pitchFamily="18" charset="0"/>
              </a:rPr>
              <a:t> +1,  gives </a:t>
            </a:r>
            <a:r>
              <a:rPr lang="en-US" altLang="zh-CN" sz="2200" i="1" dirty="0">
                <a:latin typeface="Times New Roman" panose="02020503050405090304" pitchFamily="18" charset="0"/>
              </a:rPr>
              <a:t>x </a:t>
            </a:r>
            <a:r>
              <a:rPr lang="en-US" altLang="zh-CN" sz="2200" dirty="0">
                <a:latin typeface="Times New Roman" panose="02020503050405090304" pitchFamily="18" charset="0"/>
              </a:rPr>
              <a:t>= 5(6</a:t>
            </a:r>
            <a:r>
              <a:rPr lang="en-US" altLang="zh-CN" sz="2200" i="1" dirty="0">
                <a:latin typeface="Times New Roman" panose="02020503050405090304" pitchFamily="18" charset="0"/>
              </a:rPr>
              <a:t>u</a:t>
            </a:r>
            <a:r>
              <a:rPr lang="en-US" altLang="zh-CN" sz="2200" dirty="0">
                <a:latin typeface="Times New Roman" panose="02020503050405090304" pitchFamily="18" charset="0"/>
              </a:rPr>
              <a:t> + 5) +1 = 30</a:t>
            </a:r>
            <a:r>
              <a:rPr lang="en-US" altLang="zh-CN" sz="2200" i="1" dirty="0">
                <a:latin typeface="Times New Roman" panose="02020503050405090304" pitchFamily="18" charset="0"/>
              </a:rPr>
              <a:t>u</a:t>
            </a:r>
            <a:r>
              <a:rPr lang="en-US" altLang="zh-CN" sz="2200" dirty="0">
                <a:latin typeface="Times New Roman" panose="02020503050405090304" pitchFamily="18" charset="0"/>
              </a:rPr>
              <a:t> + 26.</a:t>
            </a:r>
            <a:endParaRPr lang="en-US" altLang="zh-CN" sz="2200" dirty="0">
              <a:latin typeface="Times New Roman" panose="02020503050405090304" pitchFamily="18" charset="0"/>
            </a:endParaRPr>
          </a:p>
          <a:p>
            <a:pPr marL="914400" lvl="1" indent="-457200">
              <a:spcBef>
                <a:spcPts val="300"/>
              </a:spcBef>
              <a:buClr>
                <a:srgbClr val="FF0000"/>
              </a:buClr>
              <a:buSzPct val="95000"/>
              <a:buFont typeface="Copperplate Gothic Light" panose="020E0507020206020404" pitchFamily="34" charset="0"/>
              <a:buAutoNum type="arabicPeriod"/>
            </a:pPr>
            <a:r>
              <a:rPr lang="en-US" altLang="zh-CN" sz="2200" dirty="0">
                <a:latin typeface="Times New Roman" panose="02020503050405090304" pitchFamily="18" charset="0"/>
              </a:rPr>
              <a:t>Inserting this into the equation </a:t>
            </a:r>
            <a:r>
              <a:rPr lang="zh-CN" altLang="zh-CN" sz="2000" dirty="0">
                <a:latin typeface="Times New Roman" panose="02020503050405090304" pitchFamily="18" charset="0"/>
              </a:rPr>
              <a:t>③</a:t>
            </a:r>
            <a:r>
              <a:rPr lang="en-US" altLang="zh-CN" sz="2400" dirty="0">
                <a:latin typeface="Times New Roman" panose="02020503050405090304" pitchFamily="18" charset="0"/>
              </a:rPr>
              <a:t>,</a:t>
            </a:r>
            <a:r>
              <a:rPr lang="zh-CN" altLang="zh-CN" sz="2400" dirty="0">
                <a:latin typeface="Times New Roman" panose="02020503050405090304" pitchFamily="18" charset="0"/>
              </a:rPr>
              <a:t> </a:t>
            </a:r>
            <a:r>
              <a:rPr lang="en-US" altLang="zh-CN" sz="2200" dirty="0">
                <a:latin typeface="Times New Roman" panose="02020503050405090304" pitchFamily="18" charset="0"/>
              </a:rPr>
              <a:t>gives 30</a:t>
            </a:r>
            <a:r>
              <a:rPr lang="en-US" altLang="zh-CN" sz="2200" i="1" dirty="0">
                <a:latin typeface="Times New Roman" panose="02020503050405090304" pitchFamily="18" charset="0"/>
              </a:rPr>
              <a:t>u</a:t>
            </a:r>
            <a:r>
              <a:rPr lang="en-US" altLang="zh-CN" sz="2200" dirty="0">
                <a:latin typeface="Times New Roman" panose="02020503050405090304" pitchFamily="18" charset="0"/>
              </a:rPr>
              <a:t> + 26 ≡ 3 (mod 7).</a:t>
            </a:r>
            <a:endParaRPr lang="en-US" altLang="zh-CN" sz="2200" dirty="0">
              <a:latin typeface="Times New Roman" panose="02020503050405090304" pitchFamily="18" charset="0"/>
            </a:endParaRPr>
          </a:p>
          <a:p>
            <a:pPr marL="914400" lvl="1" indent="-457200">
              <a:spcBef>
                <a:spcPts val="300"/>
              </a:spcBef>
              <a:buClr>
                <a:srgbClr val="FF0000"/>
              </a:buClr>
              <a:buSzPct val="95000"/>
              <a:buFont typeface="Copperplate Gothic Light" panose="020E0507020206020404" pitchFamily="34" charset="0"/>
              <a:buAutoNum type="arabicPeriod"/>
            </a:pPr>
            <a:r>
              <a:rPr lang="en-US" altLang="zh-CN" sz="2200" dirty="0">
                <a:latin typeface="Times New Roman" panose="02020503050405090304" pitchFamily="18" charset="0"/>
              </a:rPr>
              <a:t>Solving this congruence tells us that </a:t>
            </a:r>
            <a:r>
              <a:rPr lang="en-US" altLang="zh-CN" sz="2200" i="1" dirty="0">
                <a:latin typeface="Times New Roman" panose="02020503050405090304" pitchFamily="18" charset="0"/>
              </a:rPr>
              <a:t>u</a:t>
            </a:r>
            <a:r>
              <a:rPr lang="en-US" altLang="zh-CN" sz="2200" dirty="0">
                <a:latin typeface="Times New Roman" panose="02020503050405090304" pitchFamily="18" charset="0"/>
              </a:rPr>
              <a:t> ≡ 6 (mod 7).</a:t>
            </a:r>
            <a:endParaRPr lang="en-US" altLang="zh-CN" sz="2200" dirty="0">
              <a:latin typeface="Times New Roman" panose="02020503050405090304" pitchFamily="18" charset="0"/>
            </a:endParaRPr>
          </a:p>
          <a:p>
            <a:pPr marL="914400" lvl="1" indent="-457200">
              <a:spcBef>
                <a:spcPts val="300"/>
              </a:spcBef>
              <a:buClr>
                <a:srgbClr val="FF0000"/>
              </a:buClr>
              <a:buSzPct val="95000"/>
              <a:buFont typeface="Copperplate Gothic Light" panose="020E0507020206020404" pitchFamily="34" charset="0"/>
              <a:buAutoNum type="arabicPeriod"/>
            </a:pPr>
            <a:r>
              <a:rPr lang="en-US" altLang="zh-CN" sz="2200" dirty="0">
                <a:latin typeface="Times New Roman" panose="02020503050405090304" pitchFamily="18" charset="0"/>
              </a:rPr>
              <a:t>By Theorem 4, </a:t>
            </a:r>
            <a:r>
              <a:rPr lang="en-US" altLang="zh-CN" sz="2200" i="1" dirty="0">
                <a:latin typeface="Times New Roman" panose="02020503050405090304" pitchFamily="18" charset="0"/>
              </a:rPr>
              <a:t>u</a:t>
            </a:r>
            <a:r>
              <a:rPr lang="en-US" altLang="zh-CN" sz="2200" dirty="0">
                <a:latin typeface="Times New Roman" panose="02020503050405090304" pitchFamily="18" charset="0"/>
              </a:rPr>
              <a:t> = 7</a:t>
            </a:r>
            <a:r>
              <a:rPr lang="en-US" altLang="zh-CN" sz="2200" i="1" dirty="0">
                <a:latin typeface="Times New Roman" panose="02020503050405090304" pitchFamily="18" charset="0"/>
              </a:rPr>
              <a:t>v</a:t>
            </a:r>
            <a:r>
              <a:rPr lang="en-US" altLang="zh-CN" sz="2200" dirty="0">
                <a:latin typeface="Times New Roman" panose="02020503050405090304" pitchFamily="18" charset="0"/>
              </a:rPr>
              <a:t> + 6, where </a:t>
            </a:r>
            <a:r>
              <a:rPr lang="en-US" altLang="zh-CN" sz="2200" i="1" dirty="0">
                <a:latin typeface="Times New Roman" panose="02020503050405090304" pitchFamily="18" charset="0"/>
              </a:rPr>
              <a:t>v</a:t>
            </a:r>
            <a:r>
              <a:rPr lang="en-US" altLang="zh-CN" sz="2200" dirty="0">
                <a:latin typeface="Times New Roman" panose="02020503050405090304" pitchFamily="18" charset="0"/>
              </a:rPr>
              <a:t> is an integer.</a:t>
            </a:r>
            <a:endParaRPr lang="en-US" altLang="zh-CN" sz="2200" dirty="0">
              <a:latin typeface="Times New Roman" panose="02020503050405090304" pitchFamily="18" charset="0"/>
            </a:endParaRPr>
          </a:p>
          <a:p>
            <a:pPr marL="914400" lvl="1" indent="-457200">
              <a:spcBef>
                <a:spcPts val="300"/>
              </a:spcBef>
              <a:buClr>
                <a:srgbClr val="FF0000"/>
              </a:buClr>
              <a:buSzPct val="95000"/>
              <a:buFont typeface="Copperplate Gothic Light" panose="020E0507020206020404" pitchFamily="34" charset="0"/>
              <a:buAutoNum type="arabicPeriod"/>
            </a:pPr>
            <a:r>
              <a:rPr lang="en-US" altLang="zh-CN" sz="2200" dirty="0">
                <a:latin typeface="Times New Roman" panose="02020503050405090304" pitchFamily="18" charset="0"/>
              </a:rPr>
              <a:t>Substituting this expression for </a:t>
            </a:r>
            <a:r>
              <a:rPr lang="en-US" altLang="zh-CN" sz="2200" i="1" dirty="0">
                <a:latin typeface="Times New Roman" panose="02020503050405090304" pitchFamily="18" charset="0"/>
              </a:rPr>
              <a:t>u</a:t>
            </a:r>
            <a:r>
              <a:rPr lang="en-US" altLang="zh-CN" sz="2200" dirty="0">
                <a:latin typeface="Times New Roman" panose="02020503050405090304" pitchFamily="18" charset="0"/>
              </a:rPr>
              <a:t> into </a:t>
            </a:r>
            <a:r>
              <a:rPr lang="en-US" altLang="zh-CN" sz="2200" i="1" dirty="0">
                <a:latin typeface="Times New Roman" panose="02020503050405090304" pitchFamily="18" charset="0"/>
              </a:rPr>
              <a:t>x  </a:t>
            </a:r>
            <a:r>
              <a:rPr lang="en-US" altLang="zh-CN" sz="2200" dirty="0">
                <a:latin typeface="Times New Roman" panose="02020503050405090304" pitchFamily="18" charset="0"/>
              </a:rPr>
              <a:t>=  30</a:t>
            </a:r>
            <a:r>
              <a:rPr lang="en-US" altLang="zh-CN" sz="2200" i="1" dirty="0">
                <a:latin typeface="Times New Roman" panose="02020503050405090304" pitchFamily="18" charset="0"/>
              </a:rPr>
              <a:t>u</a:t>
            </a:r>
            <a:r>
              <a:rPr lang="en-US" altLang="zh-CN" sz="2200" dirty="0">
                <a:latin typeface="Times New Roman" panose="02020503050405090304" pitchFamily="18" charset="0"/>
              </a:rPr>
              <a:t> + 26, tells us that    </a:t>
            </a:r>
            <a:r>
              <a:rPr lang="en-US" altLang="zh-CN" sz="2200" i="1" dirty="0">
                <a:latin typeface="Times New Roman" panose="02020503050405090304" pitchFamily="18" charset="0"/>
              </a:rPr>
              <a:t>x  </a:t>
            </a:r>
            <a:r>
              <a:rPr lang="en-US" altLang="zh-CN" sz="2200" dirty="0">
                <a:latin typeface="Times New Roman" panose="02020503050405090304" pitchFamily="18" charset="0"/>
              </a:rPr>
              <a:t>=  30(7</a:t>
            </a:r>
            <a:r>
              <a:rPr lang="en-US" altLang="zh-CN" sz="2200" i="1" dirty="0">
                <a:latin typeface="Times New Roman" panose="02020503050405090304" pitchFamily="18" charset="0"/>
              </a:rPr>
              <a:t>v</a:t>
            </a:r>
            <a:r>
              <a:rPr lang="en-US" altLang="zh-CN" sz="2200" dirty="0">
                <a:latin typeface="Times New Roman" panose="02020503050405090304" pitchFamily="18" charset="0"/>
              </a:rPr>
              <a:t> + 6) + 26 = 210</a:t>
            </a:r>
            <a:r>
              <a:rPr lang="en-US" altLang="zh-CN" sz="2200" i="1" dirty="0">
                <a:latin typeface="Times New Roman" panose="02020503050405090304" pitchFamily="18" charset="0"/>
              </a:rPr>
              <a:t>v</a:t>
            </a:r>
            <a:r>
              <a:rPr lang="en-US" altLang="zh-CN" sz="2200" dirty="0">
                <a:latin typeface="Times New Roman" panose="02020503050405090304" pitchFamily="18" charset="0"/>
              </a:rPr>
              <a:t> + 206.</a:t>
            </a:r>
            <a:endParaRPr lang="en-US" altLang="zh-CN" sz="2200" dirty="0">
              <a:latin typeface="Times New Roman" panose="02020503050405090304" pitchFamily="18" charset="0"/>
            </a:endParaRPr>
          </a:p>
          <a:p>
            <a:pPr marL="914400" lvl="1" indent="-457200">
              <a:spcBef>
                <a:spcPts val="300"/>
              </a:spcBef>
              <a:buClr>
                <a:srgbClr val="FF0000"/>
              </a:buClr>
              <a:buSzPct val="95000"/>
              <a:buFont typeface="Copperplate Gothic Light" panose="020E0507020206020404" pitchFamily="34" charset="0"/>
              <a:buAutoNum type="arabicPeriod"/>
            </a:pPr>
            <a:r>
              <a:rPr lang="en-US" altLang="zh-CN" sz="2200" dirty="0">
                <a:latin typeface="Times New Roman" panose="02020503050405090304" pitchFamily="18" charset="0"/>
              </a:rPr>
              <a:t>Translating this back into a congruence we find the solution </a:t>
            </a:r>
            <a:r>
              <a:rPr lang="en-US" altLang="zh-CN" sz="2200" i="1" dirty="0">
                <a:latin typeface="Times New Roman" panose="02020503050405090304" pitchFamily="18" charset="0"/>
              </a:rPr>
              <a:t>x</a:t>
            </a:r>
            <a:r>
              <a:rPr lang="en-US" altLang="zh-CN" sz="2200" dirty="0">
                <a:latin typeface="Times New Roman" panose="02020503050405090304" pitchFamily="18" charset="0"/>
              </a:rPr>
              <a:t> ≡ 206 (mod 210). </a:t>
            </a:r>
            <a:endParaRPr lang="en-US" altLang="zh-CN" sz="2200" dirty="0">
              <a:latin typeface="Times New Roman" panose="02020503050405090304" pitchFamily="18" charset="0"/>
            </a:endParaRPr>
          </a:p>
        </p:txBody>
      </p:sp>
      <p:sp>
        <p:nvSpPr>
          <p:cNvPr id="20484" name="矩形 1"/>
          <p:cNvSpPr/>
          <p:nvPr/>
        </p:nvSpPr>
        <p:spPr>
          <a:xfrm>
            <a:off x="2627313" y="981075"/>
            <a:ext cx="6208712" cy="400050"/>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zh-CN" altLang="zh-CN" sz="2000" b="1" i="1" dirty="0">
                <a:latin typeface="Times New Roman" panose="02020503050405090304" pitchFamily="18" charset="0"/>
              </a:rPr>
              <a:t>① </a:t>
            </a:r>
            <a:r>
              <a:rPr lang="en-US" altLang="zh-CN" sz="2000" b="1" i="1" dirty="0">
                <a:latin typeface="Times New Roman" panose="02020503050405090304" pitchFamily="18" charset="0"/>
              </a:rPr>
              <a:t> x ≡ 1 (mod 5),  </a:t>
            </a:r>
            <a:r>
              <a:rPr lang="zh-CN" altLang="zh-CN" sz="2000" b="1" i="1" dirty="0">
                <a:latin typeface="Times New Roman" panose="02020503050405090304" pitchFamily="18" charset="0"/>
              </a:rPr>
              <a:t>② </a:t>
            </a:r>
            <a:r>
              <a:rPr lang="en-US" altLang="zh-CN" sz="2000" b="1" i="1" dirty="0">
                <a:latin typeface="Times New Roman" panose="02020503050405090304" pitchFamily="18" charset="0"/>
              </a:rPr>
              <a:t>x ≡ 2 (mod 6),  </a:t>
            </a:r>
            <a:r>
              <a:rPr lang="zh-CN" altLang="zh-CN" sz="2000" b="1" i="1" dirty="0">
                <a:latin typeface="Times New Roman" panose="02020503050405090304" pitchFamily="18" charset="0"/>
              </a:rPr>
              <a:t>③ </a:t>
            </a:r>
            <a:r>
              <a:rPr lang="en-US" altLang="zh-CN" sz="2000" b="1" i="1" dirty="0">
                <a:latin typeface="Times New Roman" panose="02020503050405090304" pitchFamily="18" charset="0"/>
              </a:rPr>
              <a:t>x ≡ 3 (mod 7)</a:t>
            </a:r>
            <a:endParaRPr lang="zh-CN" altLang="en-US" sz="2000" b="1" i="1" dirty="0">
              <a:latin typeface="Times New Roman" panose="02020503050405090304" pitchFamily="18" charset="0"/>
            </a:endParaRPr>
          </a:p>
        </p:txBody>
      </p:sp>
      <p:sp>
        <p:nvSpPr>
          <p:cNvPr id="20485"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0486"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0487"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1"/>
          <p:cNvSpPr>
            <a:spLocks noGrp="1"/>
          </p:cNvSpPr>
          <p:nvPr>
            <p:ph type="title"/>
          </p:nvPr>
        </p:nvSpPr>
        <p:spPr>
          <a:xfrm>
            <a:off x="1023938" y="188913"/>
            <a:ext cx="8056562" cy="649287"/>
          </a:xfrm>
        </p:spPr>
        <p:txBody>
          <a:bodyPr vert="horz" wrap="square" lIns="91440" tIns="45720" rIns="91440" bIns="45720" anchor="b" anchorCtr="0"/>
          <a:p>
            <a:r>
              <a:rPr lang="en-US" altLang="zh-CN" sz="2600" b="0" dirty="0">
                <a:latin typeface="Copperplate Gothic Bold" panose="020E0705020206020404" pitchFamily="34" charset="0"/>
              </a:rPr>
              <a:t>Computer Arithmetic with large Integers</a:t>
            </a:r>
            <a:endParaRPr lang="zh-CN" altLang="en-US" sz="2600" b="0" dirty="0">
              <a:latin typeface="Copperplate Gothic Bold" panose="020E0705020206020404" pitchFamily="34" charset="0"/>
            </a:endParaRPr>
          </a:p>
        </p:txBody>
      </p:sp>
      <p:sp>
        <p:nvSpPr>
          <p:cNvPr id="4" name="Content Placeholder 2"/>
          <p:cNvSpPr txBox="1">
            <a:spLocks noChangeArrowheads="1"/>
          </p:cNvSpPr>
          <p:nvPr/>
        </p:nvSpPr>
        <p:spPr bwMode="auto">
          <a:xfrm>
            <a:off x="307975" y="981075"/>
            <a:ext cx="8728075"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just" defTabSz="914400" rtl="0" eaLnBrk="0" fontAlgn="base" latinLnBrk="0" hangingPunct="0">
              <a:lnSpc>
                <a:spcPct val="100000"/>
              </a:lnSpc>
              <a:spcBef>
                <a:spcPts val="6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Definition:</a:t>
            </a:r>
            <a:endPar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742950" marR="0" lvl="1" indent="-285750" algn="just"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Suppose that </a:t>
            </a:r>
            <a:r>
              <a:rPr kumimoji="1" lang="en-US" altLang="zh-CN" sz="2400" b="0" i="1"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m</a:t>
            </a:r>
            <a:r>
              <a:rPr kumimoji="1" lang="en-US" altLang="zh-CN" sz="2400" b="0" i="1" u="none" strike="noStrike" kern="1200" cap="none" spc="0" normalizeH="0" baseline="-25000" noProof="0" dirty="0">
                <a:ln>
                  <a:noFill/>
                </a:ln>
                <a:solidFill>
                  <a:schemeClr val="tx1"/>
                </a:solidFill>
                <a:effectLst/>
                <a:uLnTx/>
                <a:uFillTx/>
                <a:latin typeface="Times New Roman" panose="02020503050405090304" pitchFamily="18" charset="0"/>
                <a:ea typeface="+mn-ea"/>
                <a:cs typeface="+mn-cs"/>
              </a:rPr>
              <a:t>1</a:t>
            </a:r>
            <a:r>
              <a:rPr kumimoji="1" lang="en-US" altLang="zh-CN" sz="2400" b="0" i="1"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,m</a:t>
            </a:r>
            <a:r>
              <a:rPr kumimoji="1" lang="en-US" altLang="zh-CN" sz="2400" b="0" i="1" u="none" strike="noStrike" kern="1200" cap="none" spc="0" normalizeH="0" baseline="-25000" noProof="0" dirty="0">
                <a:ln>
                  <a:noFill/>
                </a:ln>
                <a:solidFill>
                  <a:schemeClr val="tx1"/>
                </a:solidFill>
                <a:effectLst/>
                <a:uLnTx/>
                <a:uFillTx/>
                <a:latin typeface="Times New Roman" panose="02020503050405090304" pitchFamily="18" charset="0"/>
                <a:ea typeface="+mn-ea"/>
                <a:cs typeface="+mn-cs"/>
              </a:rPr>
              <a:t>2</a:t>
            </a:r>
            <a:r>
              <a:rPr kumimoji="1" lang="en-US" altLang="zh-CN" sz="2400" b="0" i="1"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a:t>
            </a:r>
            <a:r>
              <a:rPr kumimoji="1" lang="en-US" altLang="zh-CN" sz="2400" b="0" i="1"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a:t>
            </a:r>
            <a:r>
              <a:rPr kumimoji="1" lang="en-US" altLang="zh-CN" sz="2400" b="0" i="1"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a:t>
            </a:r>
            <a:r>
              <a:rPr kumimoji="1" lang="en-US" altLang="zh-CN" sz="2400" b="0" i="1" u="none" strike="noStrike" kern="1200" cap="none" spc="0" normalizeH="0" baseline="0" noProof="0" dirty="0" err="1">
                <a:ln>
                  <a:noFill/>
                </a:ln>
                <a:solidFill>
                  <a:schemeClr val="tx1"/>
                </a:solidFill>
                <a:effectLst/>
                <a:uLnTx/>
                <a:uFillTx/>
                <a:latin typeface="Times New Roman" panose="02020503050405090304" pitchFamily="18" charset="0"/>
                <a:ea typeface="+mn-ea"/>
                <a:cs typeface="+mn-cs"/>
              </a:rPr>
              <a:t>m</a:t>
            </a:r>
            <a:r>
              <a:rPr kumimoji="1" lang="en-US" altLang="zh-CN" sz="2400" b="0" i="1" u="none" strike="noStrike" kern="1200" cap="none" spc="0" normalizeH="0" baseline="-25000" noProof="0" dirty="0" err="1">
                <a:ln>
                  <a:noFill/>
                </a:ln>
                <a:solidFill>
                  <a:schemeClr val="tx1"/>
                </a:solidFill>
                <a:effectLst/>
                <a:uLnTx/>
                <a:uFillTx/>
                <a:latin typeface="Times New Roman" panose="02020503050405090304" pitchFamily="18" charset="0"/>
                <a:ea typeface="+mn-ea"/>
                <a:cs typeface="+mn-cs"/>
              </a:rPr>
              <a:t>n</a:t>
            </a:r>
            <a:r>
              <a:rPr kumimoji="1" lang="en-US" altLang="zh-CN" sz="2400" b="0" i="1"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 </a:t>
            </a:r>
            <a:r>
              <a:rPr kumimoji="1"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are pairwise relatively prime moduli and let </a:t>
            </a:r>
            <a:r>
              <a:rPr kumimoji="1" lang="en-US" altLang="zh-CN" sz="2400" b="0" i="1"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m</a:t>
            </a:r>
            <a:r>
              <a:rPr kumimoji="1"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 be their product. </a:t>
            </a:r>
            <a:endParaRPr kumimoji="1"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endParaRPr>
          </a:p>
          <a:p>
            <a:pPr marL="742950" marR="0" lvl="1" indent="-285750" algn="just"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By the Chinese remainder theorem, we can show that an integer </a:t>
            </a:r>
            <a:r>
              <a:rPr kumimoji="1" lang="en-US" altLang="zh-CN" sz="2400" b="0" i="1"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a</a:t>
            </a:r>
            <a:r>
              <a:rPr kumimoji="1"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 with </a:t>
            </a:r>
            <a:r>
              <a:rPr kumimoji="1" lang="en-US" altLang="zh-CN" sz="2400" b="0" i="1"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0 ≤ a &lt;m </a:t>
            </a:r>
            <a:r>
              <a:rPr kumimoji="1"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can be uniquely represented by the n-tuple consisting of its remainders upon division by </a:t>
            </a:r>
            <a:r>
              <a:rPr kumimoji="1" lang="en-US" altLang="zh-CN" sz="2400" b="0" i="1" u="none" strike="noStrike" kern="1200" cap="none" spc="0" normalizeH="0" baseline="0" noProof="0" dirty="0" err="1">
                <a:ln>
                  <a:noFill/>
                </a:ln>
                <a:solidFill>
                  <a:schemeClr val="tx1"/>
                </a:solidFill>
                <a:effectLst/>
                <a:uLnTx/>
                <a:uFillTx/>
                <a:latin typeface="Times New Roman" panose="02020503050405090304" pitchFamily="18" charset="0"/>
                <a:ea typeface="+mn-ea"/>
                <a:cs typeface="+mn-cs"/>
              </a:rPr>
              <a:t>m</a:t>
            </a:r>
            <a:r>
              <a:rPr kumimoji="1" lang="en-US" altLang="zh-CN" sz="2400" b="0" i="1" u="none" strike="noStrike" kern="1200" cap="none" spc="0" normalizeH="0" baseline="-25000" noProof="0" dirty="0" err="1">
                <a:ln>
                  <a:noFill/>
                </a:ln>
                <a:solidFill>
                  <a:schemeClr val="tx1"/>
                </a:solidFill>
                <a:effectLst/>
                <a:uLnTx/>
                <a:uFillTx/>
                <a:latin typeface="Times New Roman" panose="02020503050405090304" pitchFamily="18" charset="0"/>
                <a:ea typeface="+mn-ea"/>
                <a:cs typeface="+mn-cs"/>
              </a:rPr>
              <a:t>k</a:t>
            </a:r>
            <a:r>
              <a:rPr kumimoji="1" lang="en-US" altLang="zh-CN" sz="2400" b="0" i="1"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 k=1,2,…,n. </a:t>
            </a:r>
            <a:endParaRPr kumimoji="1" lang="en-US" altLang="zh-CN" sz="2400" b="0" i="1"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endParaRPr>
          </a:p>
          <a:p>
            <a:pPr marL="457200" marR="0" lvl="1" indent="0" algn="just"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None/>
              <a:defRPr/>
            </a:pPr>
            <a:r>
              <a:rPr kumimoji="1" lang="en-US" altLang="zh-CN" sz="2400" b="0" i="1"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(a</a:t>
            </a:r>
            <a:r>
              <a:rPr kumimoji="1" lang="zh-CN"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可以</a:t>
            </a:r>
            <a:r>
              <a:rPr kumimoji="1" lang="zh-CN" altLang="en-US"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唯一表示为一个</a:t>
            </a:r>
            <a:r>
              <a:rPr kumimoji="1"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n</a:t>
            </a:r>
            <a:r>
              <a:rPr kumimoji="1" lang="zh-CN" altLang="en-US"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元组，每个数分别是</a:t>
            </a:r>
            <a:r>
              <a:rPr kumimoji="1" lang="zh-CN"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模</a:t>
            </a:r>
            <a:r>
              <a:rPr kumimoji="1" lang="en-US" altLang="zh-CN" sz="2400" b="0" i="1" u="none" strike="noStrike" kern="1200" cap="none" spc="0" normalizeH="0" baseline="0" noProof="0" dirty="0" err="1">
                <a:ln>
                  <a:noFill/>
                </a:ln>
                <a:solidFill>
                  <a:schemeClr val="tx1"/>
                </a:solidFill>
                <a:effectLst/>
                <a:uLnTx/>
                <a:uFillTx/>
                <a:latin typeface="Times New Roman" panose="02020503050405090304" pitchFamily="18" charset="0"/>
                <a:ea typeface="+mn-ea"/>
                <a:cs typeface="+mn-cs"/>
              </a:rPr>
              <a:t>m</a:t>
            </a:r>
            <a:r>
              <a:rPr kumimoji="1" lang="en-US" altLang="zh-CN" sz="2400" b="0" i="1" u="none" strike="noStrike" kern="1200" cap="none" spc="0" normalizeH="0" baseline="-25000" noProof="0" dirty="0" err="1">
                <a:ln>
                  <a:noFill/>
                </a:ln>
                <a:solidFill>
                  <a:schemeClr val="tx1"/>
                </a:solidFill>
                <a:effectLst/>
                <a:uLnTx/>
                <a:uFillTx/>
                <a:latin typeface="Times New Roman" panose="02020503050405090304" pitchFamily="18" charset="0"/>
                <a:ea typeface="+mn-ea"/>
                <a:cs typeface="+mn-cs"/>
              </a:rPr>
              <a:t>k</a:t>
            </a:r>
            <a:r>
              <a:rPr kumimoji="1" lang="zh-CN"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的余数</a:t>
            </a:r>
            <a:r>
              <a:rPr kumimoji="1"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a:t>
            </a:r>
            <a:endParaRPr kumimoji="1"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742950" marR="0" lvl="1" indent="-285750" algn="just" defTabSz="914400" rtl="0" eaLnBrk="0" fontAlgn="base" latinLnBrk="0" hangingPunct="0">
              <a:lnSpc>
                <a:spcPct val="100000"/>
              </a:lnSpc>
              <a:spcBef>
                <a:spcPts val="1800"/>
              </a:spcBef>
              <a:spcAft>
                <a:spcPct val="0"/>
              </a:spcAft>
              <a:buClr>
                <a:schemeClr val="hlink"/>
              </a:buClr>
              <a:buSzPct val="55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That is, we can uniquely represent </a:t>
            </a:r>
            <a:r>
              <a:rPr kumimoji="1" lang="en-US" altLang="zh-CN" sz="2400" b="0" i="1"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a</a:t>
            </a:r>
            <a:r>
              <a:rPr kumimoji="1"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 by</a:t>
            </a:r>
            <a:endParaRPr kumimoji="1"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endParaRPr>
          </a:p>
          <a:p>
            <a:pPr marL="457200" marR="0" lvl="1" indent="0" algn="just" defTabSz="914400" rtl="0" eaLnBrk="0" fontAlgn="base" latinLnBrk="0" hangingPunct="0">
              <a:lnSpc>
                <a:spcPct val="100000"/>
              </a:lnSpc>
              <a:spcBef>
                <a:spcPts val="1800"/>
              </a:spcBef>
              <a:spcAft>
                <a:spcPct val="0"/>
              </a:spcAft>
              <a:buClr>
                <a:schemeClr val="hlink"/>
              </a:buClr>
              <a:buSzPct val="55000"/>
              <a:buFont typeface="Wingdings" panose="05000000000000000000" pitchFamily="2" charset="2"/>
              <a:buNone/>
              <a:defRPr/>
            </a:pPr>
            <a:r>
              <a:rPr kumimoji="1" lang="en-US" altLang="zh-CN" sz="2400" b="0" i="0" u="none" strike="noStrike" kern="1200" cap="none" spc="0" normalizeH="0" baseline="0" noProof="0">
                <a:ln>
                  <a:noFill/>
                </a:ln>
                <a:solidFill>
                  <a:srgbClr val="FF0000"/>
                </a:solidFill>
                <a:effectLst/>
                <a:uLnTx/>
                <a:uFillTx/>
                <a:latin typeface="Times New Roman" panose="02020503050405090304" pitchFamily="18" charset="0"/>
                <a:ea typeface="+mn-ea"/>
                <a:cs typeface="+mn-cs"/>
              </a:rPr>
              <a:t>               </a:t>
            </a:r>
            <a:r>
              <a:rPr kumimoji="1" lang="en-US" altLang="zh-CN" sz="2800" b="1" i="1" u="none" strike="noStrike" kern="1200" cap="none" spc="0" normalizeH="0" baseline="0" noProof="0">
                <a:ln>
                  <a:noFill/>
                </a:ln>
                <a:solidFill>
                  <a:srgbClr val="FF0000"/>
                </a:solidFill>
                <a:effectLst/>
                <a:uLnTx/>
                <a:uFillTx/>
                <a:latin typeface="Times New Roman" panose="02020503050405090304" pitchFamily="18" charset="0"/>
                <a:ea typeface="+mn-ea"/>
                <a:cs typeface="+mn-cs"/>
              </a:rPr>
              <a:t>(</a:t>
            </a:r>
            <a:r>
              <a:rPr kumimoji="1" lang="en-US" altLang="zh-CN" sz="2800" b="1" i="1" u="none" strike="noStrike" kern="1200" cap="none" spc="0" normalizeH="0" baseline="0" noProof="0" dirty="0">
                <a:ln>
                  <a:noFill/>
                </a:ln>
                <a:solidFill>
                  <a:srgbClr val="FF0000"/>
                </a:solidFill>
                <a:effectLst/>
                <a:uLnTx/>
                <a:uFillTx/>
                <a:latin typeface="Times New Roman" panose="02020503050405090304" pitchFamily="18" charset="0"/>
                <a:ea typeface="+mn-ea"/>
                <a:cs typeface="+mn-cs"/>
              </a:rPr>
              <a:t>a mod m</a:t>
            </a:r>
            <a:r>
              <a:rPr kumimoji="1" lang="en-US" altLang="zh-CN" sz="2800" b="1" i="1" u="none" strike="noStrike" kern="1200" cap="none" spc="0" normalizeH="0" baseline="-25000" noProof="0" dirty="0">
                <a:ln>
                  <a:noFill/>
                </a:ln>
                <a:solidFill>
                  <a:srgbClr val="FF0000"/>
                </a:solidFill>
                <a:effectLst/>
                <a:uLnTx/>
                <a:uFillTx/>
                <a:latin typeface="Times New Roman" panose="02020503050405090304" pitchFamily="18" charset="0"/>
                <a:ea typeface="+mn-ea"/>
                <a:cs typeface="+mn-cs"/>
              </a:rPr>
              <a:t>1</a:t>
            </a:r>
            <a:r>
              <a:rPr kumimoji="1" lang="en-US" altLang="zh-CN" sz="2800" b="1" i="1" u="none" strike="noStrike" kern="1200" cap="none" spc="0" normalizeH="0" baseline="0" noProof="0" dirty="0">
                <a:ln>
                  <a:noFill/>
                </a:ln>
                <a:solidFill>
                  <a:srgbClr val="FF0000"/>
                </a:solidFill>
                <a:effectLst/>
                <a:uLnTx/>
                <a:uFillTx/>
                <a:latin typeface="Times New Roman" panose="02020503050405090304" pitchFamily="18" charset="0"/>
                <a:ea typeface="+mn-ea"/>
                <a:cs typeface="+mn-cs"/>
              </a:rPr>
              <a:t>, a mod m</a:t>
            </a:r>
            <a:r>
              <a:rPr kumimoji="1" lang="en-US" altLang="zh-CN" sz="2800" b="1" i="1" u="none" strike="noStrike" kern="1200" cap="none" spc="0" normalizeH="0" baseline="-25000" noProof="0" dirty="0">
                <a:ln>
                  <a:noFill/>
                </a:ln>
                <a:solidFill>
                  <a:srgbClr val="FF0000"/>
                </a:solidFill>
                <a:effectLst/>
                <a:uLnTx/>
                <a:uFillTx/>
                <a:latin typeface="Times New Roman" panose="02020503050405090304" pitchFamily="18" charset="0"/>
                <a:ea typeface="+mn-ea"/>
                <a:cs typeface="+mn-cs"/>
              </a:rPr>
              <a:t>2</a:t>
            </a:r>
            <a:r>
              <a:rPr kumimoji="1" lang="en-US" altLang="zh-CN" sz="2800" b="1" i="1" u="none" strike="noStrike" kern="1200" cap="none" spc="0" normalizeH="0" baseline="0" noProof="0" dirty="0">
                <a:ln>
                  <a:noFill/>
                </a:ln>
                <a:solidFill>
                  <a:srgbClr val="FF0000"/>
                </a:solidFill>
                <a:effectLst/>
                <a:uLnTx/>
                <a:uFillTx/>
                <a:latin typeface="Times New Roman" panose="02020503050405090304" pitchFamily="18" charset="0"/>
                <a:ea typeface="+mn-ea"/>
                <a:cs typeface="+mn-cs"/>
              </a:rPr>
              <a:t>, …, a mod </a:t>
            </a:r>
            <a:r>
              <a:rPr kumimoji="1" lang="en-US" altLang="zh-CN" sz="2800" b="1" i="1" u="none" strike="noStrike" kern="1200" cap="none" spc="0" normalizeH="0" baseline="0" noProof="0" dirty="0" err="1">
                <a:ln>
                  <a:noFill/>
                </a:ln>
                <a:solidFill>
                  <a:srgbClr val="FF0000"/>
                </a:solidFill>
                <a:effectLst/>
                <a:uLnTx/>
                <a:uFillTx/>
                <a:latin typeface="Times New Roman" panose="02020503050405090304" pitchFamily="18" charset="0"/>
                <a:ea typeface="+mn-ea"/>
                <a:cs typeface="+mn-cs"/>
              </a:rPr>
              <a:t>m</a:t>
            </a:r>
            <a:r>
              <a:rPr kumimoji="1" lang="en-US" altLang="zh-CN" sz="2800" b="1" i="1" u="none" strike="noStrike" kern="1200" cap="none" spc="0" normalizeH="0" baseline="-25000" noProof="0" dirty="0" err="1">
                <a:ln>
                  <a:noFill/>
                </a:ln>
                <a:solidFill>
                  <a:srgbClr val="FF0000"/>
                </a:solidFill>
                <a:effectLst/>
                <a:uLnTx/>
                <a:uFillTx/>
                <a:latin typeface="Times New Roman" panose="02020503050405090304" pitchFamily="18" charset="0"/>
                <a:ea typeface="+mn-ea"/>
                <a:cs typeface="+mn-cs"/>
              </a:rPr>
              <a:t>n</a:t>
            </a:r>
            <a:r>
              <a:rPr kumimoji="1" lang="en-US" altLang="zh-CN" sz="2800" b="1" i="1" u="none" strike="noStrike" kern="1200" cap="none" spc="0" normalizeH="0" baseline="0" noProof="0" dirty="0">
                <a:ln>
                  <a:noFill/>
                </a:ln>
                <a:solidFill>
                  <a:srgbClr val="FF0000"/>
                </a:solidFill>
                <a:effectLst/>
                <a:uLnTx/>
                <a:uFillTx/>
                <a:latin typeface="Times New Roman" panose="02020503050405090304" pitchFamily="18" charset="0"/>
                <a:ea typeface="+mn-ea"/>
                <a:cs typeface="+mn-cs"/>
              </a:rPr>
              <a:t>). </a:t>
            </a:r>
            <a:endParaRPr kumimoji="1" lang="en-US" altLang="zh-CN" sz="2800" b="1" i="1" u="none" strike="noStrike" kern="1200" cap="none" spc="0" normalizeH="0" baseline="0" noProof="0" dirty="0">
              <a:ln>
                <a:noFill/>
              </a:ln>
              <a:solidFill>
                <a:srgbClr val="FF0000"/>
              </a:solidFill>
              <a:effectLst/>
              <a:uLnTx/>
              <a:uFillTx/>
              <a:latin typeface="Times New Roman" panose="02020503050405090304" pitchFamily="18" charset="0"/>
              <a:ea typeface="+mn-ea"/>
              <a:cs typeface="+mn-cs"/>
            </a:endParaRPr>
          </a:p>
        </p:txBody>
      </p:sp>
      <p:sp>
        <p:nvSpPr>
          <p:cNvPr id="2150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150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151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a:xfrm>
            <a:off x="1023938" y="188913"/>
            <a:ext cx="8056562" cy="649287"/>
          </a:xfrm>
        </p:spPr>
        <p:txBody>
          <a:bodyPr vert="horz" wrap="square" lIns="91440" tIns="45720" rIns="91440" bIns="45720" anchor="b" anchorCtr="0"/>
          <a:p>
            <a:r>
              <a:rPr lang="en-US" altLang="zh-CN" sz="2600" b="0" dirty="0">
                <a:latin typeface="Copperplate Gothic Bold" panose="020E0705020206020404" pitchFamily="34" charset="0"/>
              </a:rPr>
              <a:t>Computer Arithmetic with large Integers</a:t>
            </a:r>
            <a:endParaRPr lang="zh-CN" altLang="en-US" sz="2600" b="0" dirty="0">
              <a:latin typeface="Copperplate Gothic Bold" panose="020E0705020206020404" pitchFamily="34" charset="0"/>
            </a:endParaRPr>
          </a:p>
        </p:txBody>
      </p:sp>
      <p:sp>
        <p:nvSpPr>
          <p:cNvPr id="5" name="Content Placeholder 2"/>
          <p:cNvSpPr txBox="1">
            <a:spLocks noChangeArrowheads="1"/>
          </p:cNvSpPr>
          <p:nvPr/>
        </p:nvSpPr>
        <p:spPr bwMode="auto">
          <a:xfrm>
            <a:off x="352425" y="908050"/>
            <a:ext cx="8540750" cy="561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just" defTabSz="914400" rtl="0" eaLnBrk="0" fontAlgn="base" latinLnBrk="0" hangingPunct="0">
              <a:lnSpc>
                <a:spcPct val="100000"/>
              </a:lnSpc>
              <a:spcBef>
                <a:spcPts val="6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Example 7:</a:t>
            </a:r>
            <a:endPar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742950" marR="0" lvl="1" indent="-285750" algn="just"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What are the pairs used to represent the nonnegative integers less than 12 when they are represented by the ordered pair where the first component is the remainder of the integer upon division by 3 and the second component is the remainder of the integer upon division by 4? (</a:t>
            </a:r>
            <a:r>
              <a:rPr kumimoji="1" lang="zh-CN" altLang="zh-CN" sz="2400" b="0" i="0" u="none" strike="noStrike" kern="1200" cap="none" spc="0" normalizeH="0" baseline="0" noProof="0" dirty="0">
                <a:ln>
                  <a:noFill/>
                </a:ln>
                <a:solidFill>
                  <a:schemeClr val="tx1"/>
                </a:solidFill>
                <a:effectLst/>
                <a:uLnTx/>
                <a:uFillTx/>
                <a:latin typeface="+mn-lt"/>
                <a:ea typeface="+mn-ea"/>
                <a:cs typeface="+mn-cs"/>
              </a:rPr>
              <a:t>分别用模</a:t>
            </a:r>
            <a:r>
              <a:rPr kumimoji="1" lang="en-US" altLang="zh-CN" sz="2400" b="0" i="0" u="none" strike="noStrike" kern="1200" cap="none" spc="0" normalizeH="0" baseline="0" noProof="0" dirty="0">
                <a:ln>
                  <a:noFill/>
                </a:ln>
                <a:solidFill>
                  <a:schemeClr val="tx1"/>
                </a:solidFill>
                <a:effectLst/>
                <a:uLnTx/>
                <a:uFillTx/>
                <a:latin typeface="+mn-lt"/>
                <a:ea typeface="+mn-ea"/>
                <a:cs typeface="+mn-cs"/>
              </a:rPr>
              <a:t>3</a:t>
            </a:r>
            <a:r>
              <a:rPr kumimoji="1" lang="zh-CN" altLang="zh-CN" sz="2400" b="0" i="0" u="none" strike="noStrike" kern="1200" cap="none" spc="0" normalizeH="0" baseline="0" noProof="0" dirty="0">
                <a:ln>
                  <a:noFill/>
                </a:ln>
                <a:solidFill>
                  <a:schemeClr val="tx1"/>
                </a:solidFill>
                <a:effectLst/>
                <a:uLnTx/>
                <a:uFillTx/>
                <a:latin typeface="+mn-lt"/>
                <a:ea typeface="+mn-ea"/>
                <a:cs typeface="+mn-cs"/>
              </a:rPr>
              <a:t>和模</a:t>
            </a:r>
            <a:r>
              <a:rPr kumimoji="1" lang="en-US" altLang="zh-CN" sz="2400" b="0" i="0" u="none" strike="noStrike" kern="1200" cap="none" spc="0" normalizeH="0" baseline="0" noProof="0" dirty="0">
                <a:ln>
                  <a:noFill/>
                </a:ln>
                <a:solidFill>
                  <a:schemeClr val="tx1"/>
                </a:solidFill>
                <a:effectLst/>
                <a:uLnTx/>
                <a:uFillTx/>
                <a:latin typeface="+mn-lt"/>
                <a:ea typeface="+mn-ea"/>
                <a:cs typeface="+mn-cs"/>
              </a:rPr>
              <a:t>4</a:t>
            </a:r>
            <a:r>
              <a:rPr kumimoji="1" lang="zh-CN" altLang="zh-CN" sz="2400" b="0" i="0" u="none" strike="noStrike" kern="1200" cap="none" spc="0" normalizeH="0" baseline="0" noProof="0" dirty="0">
                <a:ln>
                  <a:noFill/>
                </a:ln>
                <a:solidFill>
                  <a:schemeClr val="tx1"/>
                </a:solidFill>
                <a:effectLst/>
                <a:uLnTx/>
                <a:uFillTx/>
                <a:latin typeface="+mn-lt"/>
                <a:ea typeface="+mn-ea"/>
                <a:cs typeface="+mn-cs"/>
              </a:rPr>
              <a:t>的余数表示出小于</a:t>
            </a:r>
            <a:r>
              <a:rPr kumimoji="1" lang="en-US" altLang="zh-CN" sz="2400" b="0" i="0" u="none" strike="noStrike" kern="1200" cap="none" spc="0" normalizeH="0" baseline="0" noProof="0" dirty="0">
                <a:ln>
                  <a:noFill/>
                </a:ln>
                <a:solidFill>
                  <a:schemeClr val="tx1"/>
                </a:solidFill>
                <a:effectLst/>
                <a:uLnTx/>
                <a:uFillTx/>
                <a:latin typeface="+mn-lt"/>
                <a:ea typeface="+mn-ea"/>
                <a:cs typeface="+mn-cs"/>
              </a:rPr>
              <a:t>12</a:t>
            </a:r>
            <a:r>
              <a:rPr kumimoji="1" lang="zh-CN" altLang="zh-CN" sz="2400" b="0" i="0" u="none" strike="noStrike" kern="1200" cap="none" spc="0" normalizeH="0" baseline="0" noProof="0" dirty="0">
                <a:ln>
                  <a:noFill/>
                </a:ln>
                <a:solidFill>
                  <a:schemeClr val="tx1"/>
                </a:solidFill>
                <a:effectLst/>
                <a:uLnTx/>
                <a:uFillTx/>
                <a:latin typeface="+mn-lt"/>
                <a:ea typeface="+mn-ea"/>
                <a:cs typeface="+mn-cs"/>
              </a:rPr>
              <a:t>的整数</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342900" marR="0" lvl="0" indent="-342900" algn="just" defTabSz="914400" rtl="0" eaLnBrk="0" fontAlgn="base" latinLnBrk="0" hangingPunct="0">
              <a:lnSpc>
                <a:spcPct val="100000"/>
              </a:lnSpc>
              <a:spcBef>
                <a:spcPts val="6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Solution:</a:t>
            </a:r>
            <a:endPar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742950" marR="0" lvl="1" indent="-285750" algn="just"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2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We have the following representations, obtained by finding the remainder of each integer when it is divided by 3 and by 4:</a:t>
            </a:r>
            <a:endParaRPr kumimoji="1" lang="en-US" altLang="zh-CN" sz="22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457200" marR="0" lvl="1" indent="0" algn="just" defTabSz="914400" rtl="0" eaLnBrk="0" fontAlgn="base" latinLnBrk="0" hangingPunct="0">
              <a:lnSpc>
                <a:spcPct val="120000"/>
              </a:lnSpc>
              <a:spcBef>
                <a:spcPts val="600"/>
              </a:spcBef>
              <a:spcAft>
                <a:spcPct val="0"/>
              </a:spcAft>
              <a:buClr>
                <a:schemeClr val="hlink"/>
              </a:buClr>
              <a:buSzPct val="5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a:t>
            </a:r>
            <a:r>
              <a:rPr kumimoji="1" lang="en-US" altLang="zh-CN" sz="22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0=(0,0)		3=(0,3)		6=(0,2)	        	9  =(0,1)</a:t>
            </a:r>
            <a:endParaRPr kumimoji="1" lang="en-US" altLang="zh-CN" sz="22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457200" marR="0" lvl="1" indent="0" algn="just" defTabSz="914400" rtl="0" eaLnBrk="0" fontAlgn="base" latinLnBrk="0" hangingPunct="0">
              <a:lnSpc>
                <a:spcPct val="120000"/>
              </a:lnSpc>
              <a:spcBef>
                <a:spcPts val="600"/>
              </a:spcBef>
              <a:spcAft>
                <a:spcPct val="0"/>
              </a:spcAft>
              <a:buClr>
                <a:schemeClr val="hlink"/>
              </a:buClr>
              <a:buSzPct val="55000"/>
              <a:buFont typeface="Wingdings" panose="05000000000000000000" pitchFamily="2" charset="2"/>
              <a:buNone/>
              <a:defRPr/>
            </a:pPr>
            <a:r>
              <a:rPr kumimoji="1" lang="en-US" altLang="zh-CN" sz="22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1=(1,1)		4=(1,0) 		7=(1,3)		10=(1,2)</a:t>
            </a:r>
            <a:endParaRPr kumimoji="1" lang="en-US" altLang="zh-CN" sz="22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457200" marR="0" lvl="1" indent="0" algn="just" defTabSz="914400" rtl="0" eaLnBrk="0" fontAlgn="base" latinLnBrk="0" hangingPunct="0">
              <a:lnSpc>
                <a:spcPct val="120000"/>
              </a:lnSpc>
              <a:spcBef>
                <a:spcPts val="600"/>
              </a:spcBef>
              <a:spcAft>
                <a:spcPct val="0"/>
              </a:spcAft>
              <a:buClr>
                <a:schemeClr val="hlink"/>
              </a:buClr>
              <a:buSzPct val="55000"/>
              <a:buFont typeface="Wingdings" panose="05000000000000000000" pitchFamily="2" charset="2"/>
              <a:buNone/>
              <a:defRPr/>
            </a:pPr>
            <a:r>
              <a:rPr kumimoji="1" lang="en-US" altLang="zh-CN" sz="22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2=(2,2)		5=(2,1) 		8=(2,0) 	 	11=(2,3) </a:t>
            </a:r>
            <a:endParaRPr kumimoji="1" lang="en-US" altLang="zh-CN" sz="22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p:txBody>
      </p:sp>
      <p:sp>
        <p:nvSpPr>
          <p:cNvPr id="4" name="矩形 3"/>
          <p:cNvSpPr/>
          <p:nvPr/>
        </p:nvSpPr>
        <p:spPr>
          <a:xfrm>
            <a:off x="4830763" y="3486150"/>
            <a:ext cx="3960812" cy="460375"/>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i="1" dirty="0">
                <a:latin typeface="Times New Roman" panose="02020503050405090304" pitchFamily="18" charset="0"/>
                <a:cs typeface="Times New Roman" panose="02020503050405090304" pitchFamily="18" charset="0"/>
              </a:rPr>
              <a:t>What are the benefits?</a:t>
            </a:r>
            <a:endParaRPr lang="en-US" altLang="zh-CN" sz="2400" b="1" i="1" dirty="0">
              <a:latin typeface="Times New Roman" panose="02020503050405090304" pitchFamily="18" charset="0"/>
              <a:ea typeface="Times New Roman" panose="02020503050405090304" pitchFamily="18" charset="0"/>
            </a:endParaRPr>
          </a:p>
        </p:txBody>
      </p:sp>
      <p:sp>
        <p:nvSpPr>
          <p:cNvPr id="22533"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2534"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2535"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p:cNvSpPr>
          <p:nvPr>
            <p:ph type="title"/>
          </p:nvPr>
        </p:nvSpPr>
        <p:spPr>
          <a:xfrm>
            <a:off x="1116013" y="206375"/>
            <a:ext cx="7462837" cy="601663"/>
          </a:xfrm>
        </p:spPr>
        <p:txBody>
          <a:bodyPr vert="horz" wrap="square" lIns="91440" tIns="45720" rIns="91440" bIns="45720" anchor="b" anchorCtr="0"/>
          <a:p>
            <a:r>
              <a:rPr lang="en-US" altLang="zh-CN" sz="3200" b="0" dirty="0">
                <a:latin typeface="Copperplate Gothic Bold" panose="020E0705020206020404" pitchFamily="34" charset="0"/>
              </a:rPr>
              <a:t>Fermat’s Little Theorem</a:t>
            </a:r>
            <a:endParaRPr lang="zh-CN" altLang="en-US" sz="3200" b="0" dirty="0">
              <a:latin typeface="Copperplate Gothic Bold" panose="020E0705020206020404" pitchFamily="34" charset="0"/>
            </a:endParaRPr>
          </a:p>
        </p:txBody>
      </p:sp>
      <p:sp>
        <p:nvSpPr>
          <p:cNvPr id="24579"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4580"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4581"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College of Computer Science &amp; Technology, BUPT</a:t>
            </a:r>
            <a:endParaRPr lang="zh-CN" altLang="en-US" sz="1200" b="1" i="1" dirty="0">
              <a:solidFill>
                <a:srgbClr val="009999"/>
              </a:solidFill>
              <a:latin typeface="Arial Narrow" panose="020B0606020202030204" pitchFamily="34" charset="0"/>
            </a:endParaRPr>
          </a:p>
        </p:txBody>
      </p:sp>
      <p:sp>
        <p:nvSpPr>
          <p:cNvPr id="9" name="Content Placeholder 2"/>
          <p:cNvSpPr txBox="1">
            <a:spLocks noChangeArrowheads="1"/>
          </p:cNvSpPr>
          <p:nvPr/>
        </p:nvSpPr>
        <p:spPr bwMode="auto">
          <a:xfrm>
            <a:off x="323850" y="981075"/>
            <a:ext cx="8634413"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just" defTabSz="914400" rtl="0" eaLnBrk="0" fontAlgn="base" latinLnBrk="0" hangingPunct="0">
              <a:lnSpc>
                <a:spcPct val="100000"/>
              </a:lnSpc>
              <a:spcBef>
                <a:spcPts val="6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Theorem 3:</a:t>
            </a:r>
            <a:endPar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742950" marR="0" lvl="1" indent="-285750" algn="just"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If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p</a:t>
            </a:r>
            <a:r>
              <a:rPr kumimoji="1" lang="zh-CN" altLang="en-US"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is</a:t>
            </a:r>
            <a:r>
              <a:rPr kumimoji="1" lang="zh-CN" altLang="en-US"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a:t>
            </a:r>
            <a:r>
              <a:rPr kumimoji="1" lang="en-US" altLang="zh-CN" sz="2400" b="0" i="0" u="none" strike="noStrike" kern="0" cap="none" spc="0" normalizeH="0" baseline="0" noProof="0" dirty="0">
                <a:ln>
                  <a:noFill/>
                </a:ln>
                <a:solidFill>
                  <a:srgbClr val="FF0000"/>
                </a:solidFill>
                <a:effectLst/>
                <a:uLnTx/>
                <a:uFillTx/>
                <a:latin typeface="Times New Roman" panose="02020503050405090304" pitchFamily="18" charset="0"/>
                <a:ea typeface="+mn-ea"/>
                <a:cs typeface="+mn-cs"/>
              </a:rPr>
              <a:t>prime</a:t>
            </a:r>
            <a:r>
              <a:rPr kumimoji="1" lang="zh-CN" altLang="en-US"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and</a:t>
            </a:r>
            <a:r>
              <a:rPr kumimoji="1" lang="zh-CN" altLang="en-US"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a</a:t>
            </a:r>
            <a:r>
              <a:rPr kumimoji="1" lang="zh-CN" altLang="en-US"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is</a:t>
            </a:r>
            <a:r>
              <a:rPr kumimoji="1" lang="zh-CN" altLang="en-US"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an</a:t>
            </a:r>
            <a:r>
              <a:rPr kumimoji="1" lang="zh-CN" altLang="en-US"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integer</a:t>
            </a:r>
            <a:r>
              <a:rPr kumimoji="1" lang="zh-CN" altLang="en-US"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not divisible by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p</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then</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457200" marR="0" lvl="1" indent="0" algn="ctr"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None/>
              <a:defRPr/>
            </a:pPr>
            <a:r>
              <a:rPr kumimoji="1" lang="en-US" altLang="zh-CN" sz="2800" b="1" i="1" u="none" strike="noStrike" kern="0" cap="none" spc="0" normalizeH="0" baseline="0" noProof="0" dirty="0">
                <a:ln>
                  <a:noFill/>
                </a:ln>
                <a:solidFill>
                  <a:srgbClr val="FF0000"/>
                </a:solidFill>
                <a:effectLst/>
                <a:uLnTx/>
                <a:uFillTx/>
                <a:latin typeface="Times New Roman" panose="02020503050405090304" pitchFamily="18" charset="0"/>
                <a:ea typeface="+mn-ea"/>
                <a:cs typeface="+mn-cs"/>
              </a:rPr>
              <a:t>a</a:t>
            </a:r>
            <a:r>
              <a:rPr kumimoji="1" lang="en-US" altLang="zh-CN" sz="2800" b="1" i="1" u="none" strike="noStrike" kern="0" cap="none" spc="0" normalizeH="0" baseline="30000" noProof="0" dirty="0">
                <a:ln>
                  <a:noFill/>
                </a:ln>
                <a:solidFill>
                  <a:srgbClr val="FF0000"/>
                </a:solidFill>
                <a:effectLst/>
                <a:uLnTx/>
                <a:uFillTx/>
                <a:latin typeface="Times New Roman" panose="02020503050405090304" pitchFamily="18" charset="0"/>
                <a:ea typeface="+mn-ea"/>
                <a:cs typeface="+mn-cs"/>
              </a:rPr>
              <a:t>p-1</a:t>
            </a:r>
            <a:r>
              <a:rPr kumimoji="1" lang="en-US" altLang="zh-CN" sz="2800" b="1" i="1" u="none" strike="noStrike" kern="1200" cap="none" spc="0" normalizeH="0" baseline="0" noProof="0" dirty="0">
                <a:ln>
                  <a:noFill/>
                </a:ln>
                <a:solidFill>
                  <a:srgbClr val="FF0000"/>
                </a:solidFill>
                <a:effectLst/>
                <a:uLnTx/>
                <a:uFillTx/>
                <a:latin typeface="Times New Roman" panose="02020503050405090304" pitchFamily="18" charset="0"/>
                <a:ea typeface="+mn-ea"/>
                <a:cs typeface="+mn-cs"/>
              </a:rPr>
              <a:t> </a:t>
            </a:r>
            <a:r>
              <a:rPr kumimoji="1" lang="en-US" altLang="zh-CN" sz="2400" b="1" i="1" u="none" strike="noStrike" kern="1200" cap="none" spc="0" normalizeH="0" baseline="0" noProof="0" dirty="0">
                <a:ln>
                  <a:noFill/>
                </a:ln>
                <a:solidFill>
                  <a:srgbClr val="FF0000"/>
                </a:solidFill>
                <a:effectLst/>
                <a:uLnTx/>
                <a:uFillTx/>
                <a:latin typeface="Times New Roman" panose="02020503050405090304" pitchFamily="18" charset="0"/>
                <a:ea typeface="+mn-ea"/>
                <a:cs typeface="+mn-cs"/>
              </a:rPr>
              <a:t>≡</a:t>
            </a:r>
            <a:r>
              <a:rPr kumimoji="1" lang="en-US" altLang="zh-CN" sz="2400" b="1" i="1" u="none" strike="noStrike" kern="0" cap="none" spc="0" normalizeH="0" baseline="0" noProof="0" dirty="0">
                <a:ln>
                  <a:noFill/>
                </a:ln>
                <a:solidFill>
                  <a:srgbClr val="FF0000"/>
                </a:solidFill>
                <a:effectLst/>
                <a:uLnTx/>
                <a:uFillTx/>
                <a:latin typeface="Times New Roman" panose="02020503050405090304" pitchFamily="18" charset="0"/>
                <a:ea typeface="+mn-ea"/>
                <a:cs typeface="+mn-cs"/>
              </a:rPr>
              <a:t> 1 (mod p)</a:t>
            </a:r>
            <a:endParaRPr kumimoji="1" lang="en-US" altLang="zh-CN" sz="2400" b="1" i="1" u="none" strike="noStrike" kern="0" cap="none" spc="0" normalizeH="0" baseline="0" noProof="0" dirty="0">
              <a:ln>
                <a:noFill/>
              </a:ln>
              <a:solidFill>
                <a:srgbClr val="FF0000"/>
              </a:solidFill>
              <a:effectLst/>
              <a:uLnTx/>
              <a:uFillTx/>
              <a:latin typeface="Times New Roman" panose="02020503050405090304" pitchFamily="18" charset="0"/>
              <a:ea typeface="+mn-ea"/>
              <a:cs typeface="+mn-cs"/>
            </a:endParaRPr>
          </a:p>
          <a:p>
            <a:pPr marL="742950" marR="0" lvl="1" indent="-285750" algn="just"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Furthermore, for every integer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a</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we have</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457200" marR="0" lvl="1" indent="0" algn="ctr"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None/>
              <a:defRPr/>
            </a:pPr>
            <a:r>
              <a:rPr kumimoji="1" lang="en-US" altLang="zh-CN" sz="2800" b="1" i="1" u="none" strike="noStrike" kern="0" cap="none" spc="0" normalizeH="0" baseline="0" noProof="0" dirty="0">
                <a:ln>
                  <a:noFill/>
                </a:ln>
                <a:solidFill>
                  <a:srgbClr val="FF0000"/>
                </a:solidFill>
                <a:effectLst/>
                <a:uLnTx/>
                <a:uFillTx/>
                <a:latin typeface="Times New Roman" panose="02020503050405090304" pitchFamily="18" charset="0"/>
                <a:ea typeface="+mn-ea"/>
                <a:cs typeface="+mn-cs"/>
              </a:rPr>
              <a:t>a</a:t>
            </a:r>
            <a:r>
              <a:rPr kumimoji="1" lang="en-US" altLang="zh-CN" sz="2800" b="1" i="1" u="none" strike="noStrike" kern="0" cap="none" spc="0" normalizeH="0" baseline="30000" noProof="0" dirty="0">
                <a:ln>
                  <a:noFill/>
                </a:ln>
                <a:solidFill>
                  <a:srgbClr val="FF0000"/>
                </a:solidFill>
                <a:effectLst/>
                <a:uLnTx/>
                <a:uFillTx/>
                <a:latin typeface="Times New Roman" panose="02020503050405090304" pitchFamily="18" charset="0"/>
                <a:ea typeface="+mn-ea"/>
                <a:cs typeface="+mn-cs"/>
              </a:rPr>
              <a:t>p</a:t>
            </a:r>
            <a:r>
              <a:rPr kumimoji="1" lang="en-US" altLang="zh-CN" sz="2800" b="1" i="1" u="none" strike="noStrike" kern="1200" cap="none" spc="0" normalizeH="0" baseline="0" noProof="0" dirty="0">
                <a:ln>
                  <a:noFill/>
                </a:ln>
                <a:solidFill>
                  <a:srgbClr val="FF0000"/>
                </a:solidFill>
                <a:effectLst/>
                <a:uLnTx/>
                <a:uFillTx/>
                <a:latin typeface="Times New Roman" panose="02020503050405090304" pitchFamily="18" charset="0"/>
                <a:ea typeface="+mn-ea"/>
                <a:cs typeface="+mn-cs"/>
              </a:rPr>
              <a:t> </a:t>
            </a:r>
            <a:r>
              <a:rPr kumimoji="1" lang="en-US" altLang="zh-CN" sz="2400" b="1" i="1" u="none" strike="noStrike" kern="1200" cap="none" spc="0" normalizeH="0" baseline="0" noProof="0" dirty="0">
                <a:ln>
                  <a:noFill/>
                </a:ln>
                <a:solidFill>
                  <a:srgbClr val="FF0000"/>
                </a:solidFill>
                <a:effectLst/>
                <a:uLnTx/>
                <a:uFillTx/>
                <a:latin typeface="Times New Roman" panose="02020503050405090304" pitchFamily="18" charset="0"/>
                <a:ea typeface="+mn-ea"/>
                <a:cs typeface="+mn-cs"/>
              </a:rPr>
              <a:t>≡</a:t>
            </a:r>
            <a:r>
              <a:rPr kumimoji="1" lang="en-US" altLang="zh-CN" sz="2400" b="1" i="1" u="none" strike="noStrike" kern="0" cap="none" spc="0" normalizeH="0" baseline="0" noProof="0" dirty="0">
                <a:ln>
                  <a:noFill/>
                </a:ln>
                <a:solidFill>
                  <a:srgbClr val="FF0000"/>
                </a:solidFill>
                <a:effectLst/>
                <a:uLnTx/>
                <a:uFillTx/>
                <a:latin typeface="Times New Roman" panose="02020503050405090304" pitchFamily="18" charset="0"/>
                <a:ea typeface="+mn-ea"/>
                <a:cs typeface="+mn-cs"/>
              </a:rPr>
              <a:t> a (mod p)</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342900" marR="0" lvl="0" indent="-342900" algn="just" defTabSz="914400" rtl="0" eaLnBrk="0" fontAlgn="base" latinLnBrk="0" hangingPunct="0">
              <a:lnSpc>
                <a:spcPct val="100000"/>
              </a:lnSpc>
              <a:spcBef>
                <a:spcPts val="12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Example 9</a:t>
            </a:r>
            <a:r>
              <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a:t>
            </a:r>
            <a:r>
              <a:rPr kumimoji="1" lang="en-US" altLang="zh-CN" sz="28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Find 7</a:t>
            </a:r>
            <a:r>
              <a:rPr kumimoji="1" lang="en-US" altLang="zh-CN" sz="2800" b="0" i="0" u="none" strike="noStrike" kern="1200" cap="none" spc="0" normalizeH="0" baseline="3000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222</a:t>
            </a:r>
            <a:r>
              <a:rPr kumimoji="1" lang="en-US" altLang="zh-CN" sz="28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mod 11</a:t>
            </a:r>
            <a:endParaRPr kumimoji="1" lang="en-US" altLang="zh-CN" sz="28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100000"/>
              </a:lnSpc>
              <a:spcBef>
                <a:spcPts val="600"/>
              </a:spcBef>
              <a:spcAft>
                <a:spcPts val="600"/>
              </a:spcAft>
              <a:buClr>
                <a:srgbClr val="FF0000"/>
              </a:buClr>
              <a:buSzPct val="80000"/>
              <a:buFont typeface="Wingdings" panose="05000000000000000000" pitchFamily="2" charset="2"/>
              <a:buChar char="n"/>
              <a:defRPr/>
            </a:pP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By </a:t>
            </a:r>
            <a:r>
              <a:rPr kumimoji="0" lang="en-US" altLang="zh-CN" sz="2400" b="0" i="1"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Fermat’s little theorem</a:t>
            </a: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 7</a:t>
            </a:r>
            <a:r>
              <a:rPr kumimoji="0" lang="en-US" altLang="zh-CN" sz="2400" b="0" i="0" u="none" strike="noStrike" kern="1200" cap="none" spc="0" normalizeH="0" baseline="30000" noProof="0" dirty="0">
                <a:ln>
                  <a:noFill/>
                </a:ln>
                <a:solidFill>
                  <a:schemeClr val="tx1"/>
                </a:solidFill>
                <a:effectLst/>
                <a:uLnTx/>
                <a:uFillTx/>
                <a:latin typeface="Times New Roman" panose="02020503050405090304" pitchFamily="18" charset="0"/>
                <a:ea typeface="+mn-ea"/>
                <a:cs typeface="+mn-cs"/>
              </a:rPr>
              <a:t>10 </a:t>
            </a: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 1 (mod 11)</a:t>
            </a:r>
            <a:endPar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endParaRPr>
          </a:p>
          <a:p>
            <a:pPr marL="742950" marR="0" lvl="1" indent="-285750" algn="l" defTabSz="914400" rtl="0" eaLnBrk="0" fontAlgn="base" latinLnBrk="0" hangingPunct="0">
              <a:lnSpc>
                <a:spcPct val="100000"/>
              </a:lnSpc>
              <a:spcBef>
                <a:spcPts val="600"/>
              </a:spcBef>
              <a:spcAft>
                <a:spcPts val="600"/>
              </a:spcAft>
              <a:buClr>
                <a:srgbClr val="FF0000"/>
              </a:buClr>
              <a:buSzPct val="80000"/>
              <a:buFont typeface="Wingdings" panose="05000000000000000000" pitchFamily="2" charset="2"/>
              <a:buChar char="n"/>
              <a:defRPr/>
            </a:pP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 (7</a:t>
            </a:r>
            <a:r>
              <a:rPr kumimoji="0" lang="en-US" altLang="zh-CN" sz="2400" b="0" i="0" u="none" strike="noStrike" kern="1200" cap="none" spc="0" normalizeH="0" baseline="30000" noProof="0" dirty="0">
                <a:ln>
                  <a:noFill/>
                </a:ln>
                <a:solidFill>
                  <a:schemeClr val="tx1"/>
                </a:solidFill>
                <a:effectLst/>
                <a:uLnTx/>
                <a:uFillTx/>
                <a:latin typeface="Times New Roman" panose="02020503050405090304" pitchFamily="18" charset="0"/>
                <a:ea typeface="+mn-ea"/>
                <a:cs typeface="+mn-cs"/>
              </a:rPr>
              <a:t>10 </a:t>
            </a: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a:t>
            </a:r>
            <a:r>
              <a:rPr kumimoji="0" lang="en-US" altLang="zh-CN" sz="2400" b="0" i="0" u="none" strike="noStrike" kern="1200" cap="none" spc="0" normalizeH="0" baseline="30000" noProof="0" dirty="0">
                <a:ln>
                  <a:noFill/>
                </a:ln>
                <a:solidFill>
                  <a:schemeClr val="tx1"/>
                </a:solidFill>
                <a:effectLst/>
                <a:uLnTx/>
                <a:uFillTx/>
                <a:latin typeface="Times New Roman" panose="02020503050405090304" pitchFamily="18" charset="0"/>
                <a:ea typeface="+mn-ea"/>
                <a:cs typeface="+mn-cs"/>
              </a:rPr>
              <a:t>k </a:t>
            </a: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 1 (mod 11), for every positive integer k.   </a:t>
            </a:r>
            <a:r>
              <a:rPr kumimoji="0" lang="en-US" altLang="zh-CN" sz="2400" b="1" i="0" u="none" strike="noStrike" kern="1200" cap="none" spc="0" normalizeH="0" baseline="0" noProof="0" dirty="0">
                <a:ln>
                  <a:noFill/>
                </a:ln>
                <a:solidFill>
                  <a:srgbClr val="FF0000"/>
                </a:solidFill>
                <a:effectLst/>
                <a:uLnTx/>
                <a:uFillTx/>
                <a:latin typeface="Times New Roman" panose="02020503050405090304" pitchFamily="18" charset="0"/>
                <a:ea typeface="+mn-ea"/>
                <a:cs typeface="+mn-cs"/>
              </a:rPr>
              <a:t>(why?)</a:t>
            </a:r>
            <a:endParaRPr kumimoji="0" lang="en-US" altLang="zh-CN" sz="2400" b="1" i="0" u="none" strike="noStrike" kern="1200" cap="none" spc="0" normalizeH="0" baseline="0" noProof="0" dirty="0">
              <a:ln>
                <a:noFill/>
              </a:ln>
              <a:solidFill>
                <a:srgbClr val="FF0000"/>
              </a:solidFill>
              <a:effectLst/>
              <a:uLnTx/>
              <a:uFillTx/>
              <a:latin typeface="Times New Roman" panose="02020503050405090304" pitchFamily="18" charset="0"/>
              <a:ea typeface="+mn-ea"/>
              <a:cs typeface="+mn-cs"/>
            </a:endParaRPr>
          </a:p>
          <a:p>
            <a:pPr marL="742950" marR="0" lvl="1" indent="-285750" algn="l" defTabSz="914400" rtl="0" eaLnBrk="0" fontAlgn="base" latinLnBrk="0" hangingPunct="0">
              <a:lnSpc>
                <a:spcPct val="100000"/>
              </a:lnSpc>
              <a:spcBef>
                <a:spcPts val="600"/>
              </a:spcBef>
              <a:spcAft>
                <a:spcPts val="600"/>
              </a:spcAft>
              <a:buClr>
                <a:srgbClr val="FF0000"/>
              </a:buClr>
              <a:buSzPct val="80000"/>
              <a:buFont typeface="Wingdings" panose="05000000000000000000" pitchFamily="2" charset="2"/>
              <a:buChar char="n"/>
              <a:defRPr/>
            </a:pP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7</a:t>
            </a:r>
            <a:r>
              <a:rPr kumimoji="0" lang="en-US" altLang="zh-CN" sz="2400" b="0" i="0" u="none" strike="noStrike" kern="1200" cap="none" spc="0" normalizeH="0" baseline="30000" noProof="0" dirty="0">
                <a:ln>
                  <a:noFill/>
                </a:ln>
                <a:solidFill>
                  <a:schemeClr val="tx1"/>
                </a:solidFill>
                <a:effectLst/>
                <a:uLnTx/>
                <a:uFillTx/>
                <a:latin typeface="Times New Roman" panose="02020503050405090304" pitchFamily="18" charset="0"/>
                <a:ea typeface="+mn-ea"/>
                <a:cs typeface="+mn-cs"/>
              </a:rPr>
              <a:t>222 </a:t>
            </a: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 7</a:t>
            </a:r>
            <a:r>
              <a:rPr kumimoji="0" lang="en-US" altLang="zh-CN" sz="2400" b="0" i="0" u="none" strike="noStrike" kern="1200" cap="none" spc="0" normalizeH="0" baseline="30000" noProof="0" dirty="0">
                <a:ln>
                  <a:noFill/>
                </a:ln>
                <a:solidFill>
                  <a:schemeClr val="tx1"/>
                </a:solidFill>
                <a:effectLst/>
                <a:uLnTx/>
                <a:uFillTx/>
                <a:latin typeface="Times New Roman" panose="02020503050405090304" pitchFamily="18" charset="0"/>
                <a:ea typeface="+mn-ea"/>
                <a:cs typeface="+mn-cs"/>
              </a:rPr>
              <a:t>22∙10 + 2</a:t>
            </a: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 = (7</a:t>
            </a:r>
            <a:r>
              <a:rPr kumimoji="0" lang="en-US" altLang="zh-CN" sz="2400" b="0" i="0" u="none" strike="noStrike" kern="1200" cap="none" spc="0" normalizeH="0" baseline="30000" noProof="0" dirty="0">
                <a:ln>
                  <a:noFill/>
                </a:ln>
                <a:solidFill>
                  <a:schemeClr val="tx1"/>
                </a:solidFill>
                <a:effectLst/>
                <a:uLnTx/>
                <a:uFillTx/>
                <a:latin typeface="Times New Roman" panose="02020503050405090304" pitchFamily="18" charset="0"/>
                <a:ea typeface="+mn-ea"/>
                <a:cs typeface="+mn-cs"/>
              </a:rPr>
              <a:t>10</a:t>
            </a: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a:t>
            </a:r>
            <a:r>
              <a:rPr kumimoji="0" lang="en-US" altLang="zh-CN" sz="2400" b="0" i="0" u="none" strike="noStrike" kern="1200" cap="none" spc="0" normalizeH="0" baseline="30000" noProof="0" dirty="0">
                <a:ln>
                  <a:noFill/>
                </a:ln>
                <a:solidFill>
                  <a:schemeClr val="tx1"/>
                </a:solidFill>
                <a:effectLst/>
                <a:uLnTx/>
                <a:uFillTx/>
                <a:latin typeface="Times New Roman" panose="02020503050405090304" pitchFamily="18" charset="0"/>
                <a:ea typeface="+mn-ea"/>
                <a:cs typeface="+mn-cs"/>
              </a:rPr>
              <a:t>22</a:t>
            </a: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7</a:t>
            </a:r>
            <a:r>
              <a:rPr kumimoji="0" lang="en-US" altLang="zh-CN" sz="2400" b="0" i="0" u="none" strike="noStrike" kern="1200" cap="none" spc="0" normalizeH="0" baseline="30000" noProof="0" dirty="0">
                <a:ln>
                  <a:noFill/>
                </a:ln>
                <a:solidFill>
                  <a:schemeClr val="tx1"/>
                </a:solidFill>
                <a:effectLst/>
                <a:uLnTx/>
                <a:uFillTx/>
                <a:latin typeface="Times New Roman" panose="02020503050405090304" pitchFamily="18" charset="0"/>
                <a:ea typeface="+mn-ea"/>
                <a:cs typeface="+mn-cs"/>
              </a:rPr>
              <a:t>2</a:t>
            </a: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 ≡  (1)</a:t>
            </a:r>
            <a:r>
              <a:rPr kumimoji="0" lang="en-US" altLang="zh-CN" sz="2400" b="0" i="0" u="none" strike="noStrike" kern="1200" cap="none" spc="0" normalizeH="0" baseline="30000" noProof="0" dirty="0">
                <a:ln>
                  <a:noFill/>
                </a:ln>
                <a:solidFill>
                  <a:schemeClr val="tx1"/>
                </a:solidFill>
                <a:effectLst/>
                <a:uLnTx/>
                <a:uFillTx/>
                <a:latin typeface="Times New Roman" panose="02020503050405090304" pitchFamily="18" charset="0"/>
                <a:ea typeface="+mn-ea"/>
                <a:cs typeface="+mn-cs"/>
              </a:rPr>
              <a:t>22</a:t>
            </a: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 ∙49 ≡ 5 (mod 11).</a:t>
            </a:r>
            <a:endPar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endParaRPr>
          </a:p>
          <a:p>
            <a:pPr marL="742950" marR="0" lvl="1" indent="-285750" algn="l" defTabSz="914400" rtl="0" eaLnBrk="0" fontAlgn="base" latinLnBrk="0" hangingPunct="0">
              <a:lnSpc>
                <a:spcPct val="100000"/>
              </a:lnSpc>
              <a:spcBef>
                <a:spcPts val="600"/>
              </a:spcBef>
              <a:spcAft>
                <a:spcPts val="600"/>
              </a:spcAft>
              <a:buClr>
                <a:srgbClr val="FF0000"/>
              </a:buClr>
              <a:buSzPct val="80000"/>
              <a:buFont typeface="Wingdings" panose="05000000000000000000" pitchFamily="2" charset="2"/>
              <a:buChar char="n"/>
              <a:defRPr/>
            </a:pP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7</a:t>
            </a:r>
            <a:r>
              <a:rPr kumimoji="0" lang="en-US" altLang="zh-CN" sz="2400" b="0" i="0" u="none" strike="noStrike" kern="1200" cap="none" spc="0" normalizeH="0" baseline="30000" noProof="0" dirty="0">
                <a:ln>
                  <a:noFill/>
                </a:ln>
                <a:solidFill>
                  <a:schemeClr val="tx1"/>
                </a:solidFill>
                <a:effectLst/>
                <a:uLnTx/>
                <a:uFillTx/>
                <a:latin typeface="Times New Roman" panose="02020503050405090304" pitchFamily="18" charset="0"/>
                <a:ea typeface="+mn-ea"/>
                <a:cs typeface="+mn-cs"/>
              </a:rPr>
              <a:t>222 </a:t>
            </a: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mn-cs"/>
              </a:rPr>
              <a:t>mod 11 = 5.</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p:txBody>
      </p:sp>
      <p:sp>
        <p:nvSpPr>
          <p:cNvPr id="2" name="矩形 1"/>
          <p:cNvSpPr/>
          <p:nvPr/>
        </p:nvSpPr>
        <p:spPr>
          <a:xfrm>
            <a:off x="3779838" y="5707063"/>
            <a:ext cx="4718050" cy="430212"/>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lgn="ctr">
              <a:spcBef>
                <a:spcPct val="0"/>
              </a:spcBef>
              <a:buClrTx/>
              <a:buSzTx/>
              <a:buFontTx/>
              <a:buNone/>
            </a:pPr>
            <a:r>
              <a:rPr lang="zh-CN" altLang="zh-CN" sz="2200" b="1" dirty="0">
                <a:latin typeface="Times New Roman" panose="02020503050405090304" pitchFamily="18" charset="0"/>
                <a:cs typeface="Times New Roman" panose="02020503050405090304" pitchFamily="18" charset="0"/>
              </a:rPr>
              <a:t>一种特定的</a:t>
            </a:r>
            <a:r>
              <a:rPr lang="zh-CN" altLang="en-US" sz="2200" b="1" dirty="0">
                <a:latin typeface="Times New Roman" panose="02020503050405090304" pitchFamily="18" charset="0"/>
                <a:cs typeface="Times New Roman" panose="02020503050405090304" pitchFamily="18" charset="0"/>
              </a:rPr>
              <a:t>快速</a:t>
            </a:r>
            <a:r>
              <a:rPr lang="zh-CN" altLang="zh-CN" sz="2200" b="1" dirty="0">
                <a:latin typeface="Times New Roman" panose="02020503050405090304" pitchFamily="18" charset="0"/>
                <a:cs typeface="Times New Roman" panose="02020503050405090304" pitchFamily="18" charset="0"/>
              </a:rPr>
              <a:t>模指数</a:t>
            </a:r>
            <a:r>
              <a:rPr lang="zh-CN" altLang="en-US" sz="2200" b="1" dirty="0">
                <a:latin typeface="Times New Roman" panose="02020503050405090304" pitchFamily="18" charset="0"/>
                <a:cs typeface="Times New Roman" panose="02020503050405090304" pitchFamily="18" charset="0"/>
              </a:rPr>
              <a:t>计算方法</a:t>
            </a:r>
            <a:endParaRPr lang="zh-CN" altLang="en-US" sz="2200" b="1" dirty="0">
              <a:latin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itle 1"/>
          <p:cNvSpPr>
            <a:spLocks noGrp="1"/>
          </p:cNvSpPr>
          <p:nvPr>
            <p:ph type="title"/>
          </p:nvPr>
        </p:nvSpPr>
        <p:spPr/>
        <p:txBody>
          <a:bodyPr vert="horz" wrap="square" lIns="91440" tIns="45720" rIns="91440" bIns="45720" anchor="b" anchorCtr="0"/>
          <a:p>
            <a:r>
              <a:rPr lang="en-US" altLang="zh-CN" sz="3200" b="0" dirty="0">
                <a:latin typeface="Copperplate Gothic Bold" panose="020E0705020206020404" pitchFamily="34" charset="0"/>
              </a:rPr>
              <a:t>Pseudoprimes</a:t>
            </a:r>
            <a:endParaRPr lang="en-US" altLang="zh-CN" sz="3200" b="0" dirty="0">
              <a:latin typeface="Copperplate Gothic Bold" panose="020E0705020206020404" pitchFamily="34" charset="0"/>
            </a:endParaRPr>
          </a:p>
        </p:txBody>
      </p:sp>
      <p:sp>
        <p:nvSpPr>
          <p:cNvPr id="25603" name="Content Placeholder 2"/>
          <p:cNvSpPr>
            <a:spLocks noGrp="1"/>
          </p:cNvSpPr>
          <p:nvPr>
            <p:ph idx="1"/>
          </p:nvPr>
        </p:nvSpPr>
        <p:spPr>
          <a:xfrm>
            <a:off x="468313" y="981075"/>
            <a:ext cx="8486775" cy="5151438"/>
          </a:xfrm>
        </p:spPr>
        <p:txBody>
          <a:bodyPr vert="horz" wrap="square" lIns="91440" tIns="45720" rIns="91440" bIns="45720" anchor="t" anchorCtr="0"/>
          <a:p>
            <a:pPr>
              <a:spcBef>
                <a:spcPts val="600"/>
              </a:spcBef>
            </a:pPr>
            <a:r>
              <a:rPr lang="en-US" altLang="zh-CN" sz="2800" b="1" dirty="0">
                <a:latin typeface="Times New Roman" panose="02020503050405090304" pitchFamily="18" charset="0"/>
              </a:rPr>
              <a:t>Definition:</a:t>
            </a:r>
            <a:endParaRPr lang="en-US" altLang="zh-CN" sz="2800" b="1" dirty="0">
              <a:latin typeface="Times New Roman" panose="02020503050405090304" pitchFamily="18" charset="0"/>
            </a:endParaRPr>
          </a:p>
          <a:p>
            <a:pPr lvl="1">
              <a:spcBef>
                <a:spcPts val="600"/>
              </a:spcBef>
            </a:pPr>
            <a:r>
              <a:rPr lang="en-US" altLang="zh-CN" sz="2400" dirty="0">
                <a:latin typeface="Times New Roman" panose="02020503050405090304" pitchFamily="18" charset="0"/>
              </a:rPr>
              <a:t>By </a:t>
            </a:r>
            <a:r>
              <a:rPr lang="en-US" altLang="zh-CN" sz="2400" i="1" dirty="0">
                <a:latin typeface="Times New Roman" panose="02020503050405090304" pitchFamily="18" charset="0"/>
              </a:rPr>
              <a:t>Fermat’s little theorem</a:t>
            </a:r>
            <a:r>
              <a:rPr lang="en-US" altLang="zh-CN" sz="2400" dirty="0">
                <a:latin typeface="Times New Roman" panose="02020503050405090304" pitchFamily="18" charset="0"/>
              </a:rPr>
              <a:t>, </a:t>
            </a:r>
            <a:r>
              <a:rPr lang="en-US" altLang="zh-CN" sz="2400" i="1" dirty="0">
                <a:latin typeface="Times New Roman" panose="02020503050405090304" pitchFamily="18" charset="0"/>
              </a:rPr>
              <a:t>n</a:t>
            </a:r>
            <a:r>
              <a:rPr lang="en-US" altLang="zh-CN" sz="2400" dirty="0">
                <a:latin typeface="Times New Roman" panose="02020503050405090304" pitchFamily="18" charset="0"/>
              </a:rPr>
              <a:t> &gt; 2 is prime, where</a:t>
            </a:r>
            <a:endParaRPr lang="en-US" altLang="zh-CN" sz="2400" dirty="0">
              <a:latin typeface="Times New Roman" panose="02020503050405090304" pitchFamily="18" charset="0"/>
            </a:endParaRPr>
          </a:p>
          <a:p>
            <a:pPr>
              <a:spcBef>
                <a:spcPts val="600"/>
              </a:spcBef>
              <a:buNone/>
            </a:pPr>
            <a:r>
              <a:rPr lang="en-US" altLang="zh-CN" sz="2400" i="1" dirty="0">
                <a:latin typeface="Times New Roman" panose="02020503050405090304" pitchFamily="18" charset="0"/>
              </a:rPr>
              <a:t>                     		</a:t>
            </a:r>
            <a:r>
              <a:rPr lang="en-US" altLang="zh-CN" sz="2400" dirty="0">
                <a:latin typeface="Times New Roman" panose="02020503050405090304" pitchFamily="18" charset="0"/>
              </a:rPr>
              <a:t>2</a:t>
            </a:r>
            <a:r>
              <a:rPr lang="en-US" altLang="zh-CN" sz="2400" i="1" baseline="30000" dirty="0">
                <a:latin typeface="Times New Roman" panose="02020503050405090304" pitchFamily="18" charset="0"/>
              </a:rPr>
              <a:t>n</a:t>
            </a:r>
            <a:r>
              <a:rPr lang="en-US" altLang="zh-CN" sz="2400" baseline="30000" dirty="0">
                <a:latin typeface="Times New Roman" panose="02020503050405090304" pitchFamily="18" charset="0"/>
              </a:rPr>
              <a:t>-1</a:t>
            </a:r>
            <a:r>
              <a:rPr lang="en-US" altLang="zh-CN" sz="2400" dirty="0">
                <a:latin typeface="Times New Roman" panose="02020503050405090304" pitchFamily="18" charset="0"/>
              </a:rPr>
              <a:t> ≡ 1 (mod </a:t>
            </a:r>
            <a:r>
              <a:rPr lang="en-US" altLang="zh-CN" sz="2400" i="1" dirty="0">
                <a:latin typeface="Times New Roman" panose="02020503050405090304" pitchFamily="18" charset="0"/>
              </a:rPr>
              <a:t>n</a:t>
            </a:r>
            <a:r>
              <a:rPr lang="en-US" altLang="zh-CN" sz="2400" dirty="0">
                <a:latin typeface="Times New Roman" panose="02020503050405090304" pitchFamily="18" charset="0"/>
              </a:rPr>
              <a:t>).</a:t>
            </a:r>
            <a:endParaRPr lang="en-US" altLang="zh-CN" sz="2400" dirty="0">
              <a:latin typeface="Times New Roman" panose="02020503050405090304" pitchFamily="18" charset="0"/>
            </a:endParaRPr>
          </a:p>
          <a:p>
            <a:pPr lvl="1">
              <a:spcBef>
                <a:spcPts val="600"/>
              </a:spcBef>
            </a:pPr>
            <a:r>
              <a:rPr lang="en-US" altLang="zh-CN" sz="2400" dirty="0">
                <a:latin typeface="Times New Roman" panose="02020503050405090304" pitchFamily="18" charset="0"/>
              </a:rPr>
              <a:t>But if this congruence holds, </a:t>
            </a:r>
            <a:r>
              <a:rPr lang="en-US" altLang="zh-CN" sz="2400" i="1" dirty="0">
                <a:latin typeface="Times New Roman" panose="02020503050405090304" pitchFamily="18" charset="0"/>
              </a:rPr>
              <a:t>n</a:t>
            </a:r>
            <a:r>
              <a:rPr lang="en-US" altLang="zh-CN" sz="2400" dirty="0">
                <a:latin typeface="Times New Roman" panose="02020503050405090304" pitchFamily="18" charset="0"/>
              </a:rPr>
              <a:t> may not be prime. </a:t>
            </a:r>
            <a:r>
              <a:rPr lang="en-US" altLang="zh-CN" sz="2400" dirty="0">
                <a:solidFill>
                  <a:srgbClr val="FF0000"/>
                </a:solidFill>
                <a:latin typeface="Times New Roman" panose="02020503050405090304" pitchFamily="18" charset="0"/>
              </a:rPr>
              <a:t>Composite integers </a:t>
            </a:r>
            <a:r>
              <a:rPr lang="en-US" altLang="zh-CN" sz="2400" i="1" dirty="0">
                <a:solidFill>
                  <a:srgbClr val="FF0000"/>
                </a:solidFill>
                <a:latin typeface="Times New Roman" panose="02020503050405090304" pitchFamily="18" charset="0"/>
              </a:rPr>
              <a:t>n</a:t>
            </a:r>
            <a:r>
              <a:rPr lang="en-US" altLang="zh-CN" sz="2400" dirty="0">
                <a:latin typeface="Times New Roman" panose="02020503050405090304" pitchFamily="18" charset="0"/>
              </a:rPr>
              <a:t> such that 2</a:t>
            </a:r>
            <a:r>
              <a:rPr lang="en-US" altLang="zh-CN" sz="2400" i="1" baseline="30000" dirty="0">
                <a:latin typeface="Times New Roman" panose="02020503050405090304" pitchFamily="18" charset="0"/>
              </a:rPr>
              <a:t>n</a:t>
            </a:r>
            <a:r>
              <a:rPr lang="en-US" altLang="zh-CN" sz="2400" baseline="30000" dirty="0">
                <a:latin typeface="Times New Roman" panose="02020503050405090304" pitchFamily="18" charset="0"/>
              </a:rPr>
              <a:t>-1</a:t>
            </a:r>
            <a:r>
              <a:rPr lang="en-US" altLang="zh-CN" sz="2400" dirty="0">
                <a:latin typeface="Times New Roman" panose="02020503050405090304" pitchFamily="18" charset="0"/>
              </a:rPr>
              <a:t> ≡ 1 (mod </a:t>
            </a:r>
            <a:r>
              <a:rPr lang="en-US" altLang="zh-CN" sz="2400" i="1" dirty="0">
                <a:latin typeface="Times New Roman" panose="02020503050405090304" pitchFamily="18" charset="0"/>
              </a:rPr>
              <a:t>n</a:t>
            </a:r>
            <a:r>
              <a:rPr lang="en-US" altLang="zh-CN" sz="2400" dirty="0">
                <a:latin typeface="Times New Roman" panose="02020503050405090304" pitchFamily="18" charset="0"/>
              </a:rPr>
              <a:t>) are called </a:t>
            </a:r>
            <a:r>
              <a:rPr lang="en-US" altLang="zh-CN" sz="2400" b="1" i="1" dirty="0">
                <a:solidFill>
                  <a:srgbClr val="FF0000"/>
                </a:solidFill>
                <a:latin typeface="Times New Roman" panose="02020503050405090304" pitchFamily="18" charset="0"/>
              </a:rPr>
              <a:t>pseudoprimes</a:t>
            </a:r>
            <a:r>
              <a:rPr lang="en-US" altLang="zh-CN" sz="2400" dirty="0">
                <a:latin typeface="Times New Roman" panose="02020503050405090304" pitchFamily="18" charset="0"/>
              </a:rPr>
              <a:t> </a:t>
            </a:r>
            <a:r>
              <a:rPr lang="en-US" altLang="zh-CN" sz="2400" b="1" i="1" dirty="0">
                <a:solidFill>
                  <a:srgbClr val="FF0000"/>
                </a:solidFill>
                <a:latin typeface="Times New Roman" panose="02020503050405090304" pitchFamily="18" charset="0"/>
              </a:rPr>
              <a:t>to the base 2</a:t>
            </a:r>
            <a:r>
              <a:rPr lang="zh-CN" altLang="en-US" sz="2400" dirty="0">
                <a:latin typeface="Times New Roman" panose="02020503050405090304" pitchFamily="18" charset="0"/>
              </a:rPr>
              <a:t>（</a:t>
            </a:r>
            <a:r>
              <a:rPr lang="zh-CN" altLang="en-US" sz="2200" dirty="0">
                <a:latin typeface="Times New Roman" panose="02020503050405090304" pitchFamily="18" charset="0"/>
              </a:rPr>
              <a:t>基数</a:t>
            </a:r>
            <a:r>
              <a:rPr lang="en-US" altLang="zh-CN" sz="2200" dirty="0">
                <a:latin typeface="Times New Roman" panose="02020503050405090304" pitchFamily="18" charset="0"/>
              </a:rPr>
              <a:t>2</a:t>
            </a:r>
            <a:r>
              <a:rPr lang="zh-CN" altLang="en-US" sz="2200" dirty="0">
                <a:latin typeface="Times New Roman" panose="02020503050405090304" pitchFamily="18" charset="0"/>
              </a:rPr>
              <a:t>的伪素数</a:t>
            </a:r>
            <a:r>
              <a:rPr lang="en-US" altLang="zh-CN" sz="2200" dirty="0">
                <a:latin typeface="Times New Roman" panose="02020503050405090304" pitchFamily="18" charset="0"/>
              </a:rPr>
              <a:t>/2</a:t>
            </a:r>
            <a:r>
              <a:rPr lang="zh-CN" altLang="en-US" sz="2200" dirty="0">
                <a:latin typeface="Times New Roman" panose="02020503050405090304" pitchFamily="18" charset="0"/>
              </a:rPr>
              <a:t>为底的伪素数</a:t>
            </a:r>
            <a:r>
              <a:rPr lang="zh-CN" altLang="en-US" sz="2400" dirty="0">
                <a:latin typeface="Times New Roman" panose="02020503050405090304" pitchFamily="18" charset="0"/>
              </a:rPr>
              <a:t>）</a:t>
            </a:r>
            <a:r>
              <a:rPr lang="en-US" altLang="zh-CN" sz="2000" dirty="0">
                <a:latin typeface="Times New Roman" panose="02020503050405090304" pitchFamily="18" charset="0"/>
              </a:rPr>
              <a:t>. </a:t>
            </a:r>
            <a:endParaRPr lang="en-US" altLang="zh-CN" sz="2000" dirty="0">
              <a:latin typeface="Times New Roman" panose="02020503050405090304" pitchFamily="18" charset="0"/>
            </a:endParaRPr>
          </a:p>
          <a:p>
            <a:pPr>
              <a:spcBef>
                <a:spcPts val="600"/>
              </a:spcBef>
            </a:pPr>
            <a:r>
              <a:rPr lang="en-US" altLang="zh-CN" sz="2800" b="1" dirty="0">
                <a:latin typeface="Times New Roman" panose="02020503050405090304" pitchFamily="18" charset="0"/>
              </a:rPr>
              <a:t>Example 10: </a:t>
            </a:r>
            <a:endParaRPr lang="en-US" altLang="zh-CN" sz="2800" b="1" dirty="0">
              <a:latin typeface="Times New Roman" panose="02020503050405090304" pitchFamily="18" charset="0"/>
            </a:endParaRPr>
          </a:p>
          <a:p>
            <a:pPr lvl="1">
              <a:spcBef>
                <a:spcPts val="600"/>
              </a:spcBef>
            </a:pPr>
            <a:r>
              <a:rPr lang="en-US" altLang="zh-CN" sz="2400" dirty="0">
                <a:latin typeface="Times New Roman" panose="02020503050405090304" pitchFamily="18" charset="0"/>
              </a:rPr>
              <a:t>The integer 341 is a pseudoprime to the base 2.</a:t>
            </a:r>
            <a:endParaRPr lang="en-US" altLang="zh-CN" sz="2400" dirty="0">
              <a:latin typeface="Times New Roman" panose="02020503050405090304" pitchFamily="18" charset="0"/>
            </a:endParaRPr>
          </a:p>
          <a:p>
            <a:pPr lvl="2">
              <a:spcBef>
                <a:spcPts val="600"/>
              </a:spcBef>
            </a:pPr>
            <a:r>
              <a:rPr lang="en-US" altLang="zh-CN" sz="2200" dirty="0">
                <a:latin typeface="Times New Roman" panose="02020503050405090304" pitchFamily="18" charset="0"/>
              </a:rPr>
              <a:t>341 = 11 ∙ 31</a:t>
            </a:r>
            <a:endParaRPr lang="en-US" altLang="zh-CN" sz="2200" dirty="0">
              <a:latin typeface="Times New Roman" panose="02020503050405090304" pitchFamily="18" charset="0"/>
            </a:endParaRPr>
          </a:p>
          <a:p>
            <a:pPr lvl="2">
              <a:spcBef>
                <a:spcPts val="600"/>
              </a:spcBef>
            </a:pPr>
            <a:r>
              <a:rPr lang="en-US" altLang="zh-CN" sz="2200" dirty="0">
                <a:latin typeface="Times New Roman" panose="02020503050405090304" pitchFamily="18" charset="0"/>
              </a:rPr>
              <a:t>2</a:t>
            </a:r>
            <a:r>
              <a:rPr lang="en-US" altLang="zh-CN" sz="2200" baseline="30000" dirty="0">
                <a:latin typeface="Times New Roman" panose="02020503050405090304" pitchFamily="18" charset="0"/>
              </a:rPr>
              <a:t>340</a:t>
            </a:r>
            <a:r>
              <a:rPr lang="en-US" altLang="zh-CN" sz="2200" dirty="0">
                <a:latin typeface="Times New Roman" panose="02020503050405090304" pitchFamily="18" charset="0"/>
              </a:rPr>
              <a:t> ≡ 1 (mod 341) (</a:t>
            </a:r>
            <a:r>
              <a:rPr lang="en-US" altLang="zh-CN" sz="2200" i="1" dirty="0">
                <a:latin typeface="Times New Roman" panose="02020503050405090304" pitchFamily="18" charset="0"/>
              </a:rPr>
              <a:t>see in Exercise </a:t>
            </a:r>
            <a:r>
              <a:rPr lang="en-US" altLang="zh-CN" sz="2200" dirty="0">
                <a:latin typeface="Times New Roman" panose="02020503050405090304" pitchFamily="18" charset="0"/>
              </a:rPr>
              <a:t>37)</a:t>
            </a:r>
            <a:endParaRPr lang="en-US" altLang="zh-CN" sz="2200" dirty="0">
              <a:latin typeface="Times New Roman" panose="02020503050405090304" pitchFamily="18" charset="0"/>
            </a:endParaRPr>
          </a:p>
          <a:p>
            <a:pPr lvl="1">
              <a:spcBef>
                <a:spcPts val="600"/>
              </a:spcBef>
            </a:pPr>
            <a:r>
              <a:rPr lang="en-US" altLang="zh-CN" sz="2400" dirty="0">
                <a:latin typeface="Times New Roman" panose="02020503050405090304" pitchFamily="18" charset="0"/>
              </a:rPr>
              <a:t>Other pseudoprimes: 561, 645, 1105, 1387, 1729……</a:t>
            </a:r>
            <a:endParaRPr lang="en-US" altLang="zh-CN" sz="2400" dirty="0">
              <a:latin typeface="Times New Roman" panose="02020503050405090304" pitchFamily="18" charset="0"/>
            </a:endParaRPr>
          </a:p>
        </p:txBody>
      </p:sp>
      <p:sp>
        <p:nvSpPr>
          <p:cNvPr id="2560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560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560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itle 1"/>
          <p:cNvSpPr>
            <a:spLocks noGrp="1"/>
          </p:cNvSpPr>
          <p:nvPr>
            <p:ph type="title"/>
          </p:nvPr>
        </p:nvSpPr>
        <p:spPr/>
        <p:txBody>
          <a:bodyPr vert="horz" wrap="square" lIns="91440" tIns="45720" rIns="91440" bIns="45720" anchor="b" anchorCtr="0"/>
          <a:p>
            <a:r>
              <a:rPr lang="en-US" altLang="zh-CN" sz="3200" b="0" dirty="0">
                <a:latin typeface="Copperplate Gothic Bold" panose="020E0705020206020404" pitchFamily="34" charset="0"/>
              </a:rPr>
              <a:t>Pseudoprimes</a:t>
            </a:r>
            <a:endParaRPr lang="en-US" altLang="zh-CN" sz="3200" b="0" dirty="0">
              <a:latin typeface="Copperplate Gothic Bold" panose="020E0705020206020404" pitchFamily="34" charset="0"/>
            </a:endParaRPr>
          </a:p>
        </p:txBody>
      </p:sp>
      <p:sp>
        <p:nvSpPr>
          <p:cNvPr id="26627" name="Content Placeholder 2"/>
          <p:cNvSpPr>
            <a:spLocks noGrp="1"/>
          </p:cNvSpPr>
          <p:nvPr>
            <p:ph idx="1"/>
          </p:nvPr>
        </p:nvSpPr>
        <p:spPr>
          <a:xfrm>
            <a:off x="468313" y="981075"/>
            <a:ext cx="8351837" cy="5151438"/>
          </a:xfrm>
        </p:spPr>
        <p:txBody>
          <a:bodyPr vert="horz" wrap="square" lIns="91440" tIns="45720" rIns="91440" bIns="45720" anchor="t" anchorCtr="0"/>
          <a:p>
            <a:pPr>
              <a:lnSpc>
                <a:spcPct val="130000"/>
              </a:lnSpc>
              <a:spcBef>
                <a:spcPts val="600"/>
              </a:spcBef>
            </a:pPr>
            <a:r>
              <a:rPr lang="en-US" altLang="zh-CN" sz="2800" b="1" dirty="0">
                <a:latin typeface="Times New Roman" panose="02020503050405090304" pitchFamily="18" charset="0"/>
              </a:rPr>
              <a:t>Definition 1:</a:t>
            </a:r>
            <a:endParaRPr lang="en-US" altLang="zh-CN" sz="2800" b="1" dirty="0">
              <a:latin typeface="Times New Roman" panose="02020503050405090304" pitchFamily="18" charset="0"/>
            </a:endParaRPr>
          </a:p>
          <a:p>
            <a:pPr lvl="1">
              <a:lnSpc>
                <a:spcPct val="130000"/>
              </a:lnSpc>
              <a:spcBef>
                <a:spcPts val="600"/>
              </a:spcBef>
            </a:pPr>
            <a:r>
              <a:rPr lang="en-US" altLang="zh-CN" sz="2400" dirty="0">
                <a:latin typeface="Times New Roman" panose="02020503050405090304" pitchFamily="18" charset="0"/>
              </a:rPr>
              <a:t>We can replace 2 by any integer </a:t>
            </a:r>
            <a:r>
              <a:rPr lang="en-US" altLang="zh-CN" sz="2400" i="1" dirty="0">
                <a:latin typeface="Times New Roman" panose="02020503050405090304" pitchFamily="18" charset="0"/>
              </a:rPr>
              <a:t>b</a:t>
            </a:r>
            <a:r>
              <a:rPr lang="en-US" altLang="zh-CN" sz="2400" dirty="0">
                <a:latin typeface="Times New Roman" panose="02020503050405090304" pitchFamily="18" charset="0"/>
              </a:rPr>
              <a:t> ≥ 2.</a:t>
            </a:r>
            <a:endParaRPr lang="en-US" altLang="zh-CN" sz="2400" dirty="0">
              <a:latin typeface="Times New Roman" panose="02020503050405090304" pitchFamily="18" charset="0"/>
            </a:endParaRPr>
          </a:p>
          <a:p>
            <a:pPr lvl="1">
              <a:lnSpc>
                <a:spcPct val="130000"/>
              </a:lnSpc>
              <a:spcBef>
                <a:spcPts val="600"/>
              </a:spcBef>
            </a:pPr>
            <a:r>
              <a:rPr lang="en-US" altLang="zh-CN" sz="2400" dirty="0">
                <a:latin typeface="Times New Roman" panose="02020503050405090304" pitchFamily="18" charset="0"/>
              </a:rPr>
              <a:t>Let </a:t>
            </a:r>
            <a:r>
              <a:rPr lang="en-US" altLang="zh-CN" sz="2400" i="1" dirty="0">
                <a:latin typeface="Times New Roman" panose="02020503050405090304" pitchFamily="18" charset="0"/>
              </a:rPr>
              <a:t>b</a:t>
            </a:r>
            <a:r>
              <a:rPr lang="en-US" altLang="zh-CN" sz="2400" dirty="0">
                <a:latin typeface="Times New Roman" panose="02020503050405090304" pitchFamily="18" charset="0"/>
              </a:rPr>
              <a:t> be a positive integer. </a:t>
            </a:r>
            <a:endParaRPr lang="en-US" altLang="zh-CN" sz="2400" dirty="0">
              <a:latin typeface="Times New Roman" panose="02020503050405090304" pitchFamily="18" charset="0"/>
            </a:endParaRPr>
          </a:p>
          <a:p>
            <a:pPr lvl="1">
              <a:lnSpc>
                <a:spcPct val="130000"/>
              </a:lnSpc>
              <a:spcBef>
                <a:spcPts val="600"/>
              </a:spcBef>
            </a:pPr>
            <a:r>
              <a:rPr lang="en-US" altLang="zh-CN" sz="2400" dirty="0">
                <a:latin typeface="Times New Roman" panose="02020503050405090304" pitchFamily="18" charset="0"/>
              </a:rPr>
              <a:t>If </a:t>
            </a:r>
            <a:r>
              <a:rPr lang="en-US" altLang="zh-CN" sz="2400" i="1" dirty="0">
                <a:latin typeface="Times New Roman" panose="02020503050405090304" pitchFamily="18" charset="0"/>
              </a:rPr>
              <a:t>n</a:t>
            </a:r>
            <a:r>
              <a:rPr lang="en-US" altLang="zh-CN" sz="2400" dirty="0">
                <a:latin typeface="Times New Roman" panose="02020503050405090304" pitchFamily="18" charset="0"/>
              </a:rPr>
              <a:t> is a composite integer, and </a:t>
            </a:r>
            <a:r>
              <a:rPr lang="en-US" altLang="zh-CN" sz="2400" b="1" i="1" dirty="0">
                <a:solidFill>
                  <a:srgbClr val="FF0000"/>
                </a:solidFill>
                <a:latin typeface="Times New Roman" panose="02020503050405090304" pitchFamily="18" charset="0"/>
              </a:rPr>
              <a:t>b</a:t>
            </a:r>
            <a:r>
              <a:rPr lang="en-US" altLang="zh-CN" sz="2400" b="1" i="1" baseline="30000" dirty="0">
                <a:solidFill>
                  <a:srgbClr val="FF0000"/>
                </a:solidFill>
                <a:latin typeface="Times New Roman" panose="02020503050405090304" pitchFamily="18" charset="0"/>
              </a:rPr>
              <a:t>n</a:t>
            </a:r>
            <a:r>
              <a:rPr lang="en-US" altLang="zh-CN" sz="2400" b="1" baseline="30000" dirty="0">
                <a:solidFill>
                  <a:srgbClr val="FF0000"/>
                </a:solidFill>
                <a:latin typeface="Times New Roman" panose="02020503050405090304" pitchFamily="18" charset="0"/>
              </a:rPr>
              <a:t>-1</a:t>
            </a:r>
            <a:r>
              <a:rPr lang="en-US" altLang="zh-CN" sz="2400" b="1" dirty="0">
                <a:solidFill>
                  <a:srgbClr val="FF0000"/>
                </a:solidFill>
                <a:latin typeface="Times New Roman" panose="02020503050405090304" pitchFamily="18" charset="0"/>
              </a:rPr>
              <a:t> ≡ 1 (mod </a:t>
            </a:r>
            <a:r>
              <a:rPr lang="en-US" altLang="zh-CN" sz="2400" b="1" i="1" dirty="0">
                <a:solidFill>
                  <a:srgbClr val="FF0000"/>
                </a:solidFill>
                <a:latin typeface="Times New Roman" panose="02020503050405090304" pitchFamily="18" charset="0"/>
              </a:rPr>
              <a:t>n</a:t>
            </a:r>
            <a:r>
              <a:rPr lang="en-US" altLang="zh-CN" sz="2400" b="1" dirty="0">
                <a:solidFill>
                  <a:srgbClr val="FF0000"/>
                </a:solidFill>
                <a:latin typeface="Times New Roman" panose="02020503050405090304" pitchFamily="18" charset="0"/>
              </a:rPr>
              <a:t>)</a:t>
            </a:r>
            <a:r>
              <a:rPr lang="en-US" altLang="zh-CN" sz="2400" dirty="0">
                <a:latin typeface="Times New Roman" panose="02020503050405090304" pitchFamily="18" charset="0"/>
              </a:rPr>
              <a:t>, then </a:t>
            </a:r>
            <a:r>
              <a:rPr lang="en-US" altLang="zh-CN" sz="2400" i="1" dirty="0">
                <a:latin typeface="Times New Roman" panose="02020503050405090304" pitchFamily="18" charset="0"/>
              </a:rPr>
              <a:t>n </a:t>
            </a:r>
            <a:r>
              <a:rPr lang="en-US" altLang="zh-CN" sz="2400" dirty="0">
                <a:latin typeface="Times New Roman" panose="02020503050405090304" pitchFamily="18" charset="0"/>
              </a:rPr>
              <a:t>is called a </a:t>
            </a:r>
            <a:r>
              <a:rPr lang="en-US" altLang="zh-CN" sz="2400" b="1" i="1" dirty="0">
                <a:solidFill>
                  <a:srgbClr val="FF0000"/>
                </a:solidFill>
                <a:latin typeface="Times New Roman" panose="02020503050405090304" pitchFamily="18" charset="0"/>
              </a:rPr>
              <a:t>pseudoprime to the base b</a:t>
            </a:r>
            <a:r>
              <a:rPr lang="en-US" altLang="zh-CN" sz="2400" dirty="0">
                <a:latin typeface="Times New Roman" panose="02020503050405090304" pitchFamily="18" charset="0"/>
              </a:rPr>
              <a:t>. </a:t>
            </a:r>
            <a:r>
              <a:rPr lang="zh-CN" altLang="en-US" dirty="0">
                <a:latin typeface="Times New Roman" panose="02020503050405090304" pitchFamily="18" charset="0"/>
              </a:rPr>
              <a:t>（</a:t>
            </a:r>
            <a:r>
              <a:rPr lang="zh-CN" altLang="en-US" sz="2400" dirty="0">
                <a:latin typeface="Times New Roman" panose="02020503050405090304" pitchFamily="18" charset="0"/>
              </a:rPr>
              <a:t>基数</a:t>
            </a:r>
            <a:r>
              <a:rPr lang="en-US" altLang="zh-CN" sz="2400" dirty="0">
                <a:latin typeface="Times New Roman" panose="02020503050405090304" pitchFamily="18" charset="0"/>
              </a:rPr>
              <a:t>b</a:t>
            </a:r>
            <a:r>
              <a:rPr lang="zh-CN" altLang="en-US" sz="2400" dirty="0">
                <a:latin typeface="Times New Roman" panose="02020503050405090304" pitchFamily="18" charset="0"/>
              </a:rPr>
              <a:t>的伪素数</a:t>
            </a:r>
            <a:r>
              <a:rPr lang="zh-CN" altLang="en-US" dirty="0">
                <a:latin typeface="Times New Roman" panose="02020503050405090304" pitchFamily="18" charset="0"/>
              </a:rPr>
              <a:t>）</a:t>
            </a:r>
            <a:endParaRPr lang="en-US" altLang="zh-CN" sz="2400" dirty="0">
              <a:latin typeface="Times New Roman" panose="02020503050405090304" pitchFamily="18" charset="0"/>
              <a:ea typeface="Times New Roman" panose="02020503050405090304" pitchFamily="18" charset="0"/>
            </a:endParaRPr>
          </a:p>
        </p:txBody>
      </p:sp>
      <p:sp>
        <p:nvSpPr>
          <p:cNvPr id="2662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662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663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itle 1"/>
          <p:cNvSpPr>
            <a:spLocks noGrp="1"/>
          </p:cNvSpPr>
          <p:nvPr>
            <p:ph type="title"/>
          </p:nvPr>
        </p:nvSpPr>
        <p:spPr/>
        <p:txBody>
          <a:bodyPr vert="horz" wrap="square" lIns="91440" tIns="45720" rIns="91440" bIns="45720" anchor="b" anchorCtr="0"/>
          <a:p>
            <a:r>
              <a:rPr lang="en-US" altLang="zh-CN" sz="3200" b="0" dirty="0">
                <a:latin typeface="Copperplate Gothic Bold" panose="020E0705020206020404" pitchFamily="34" charset="0"/>
              </a:rPr>
              <a:t>Pseudoprimes</a:t>
            </a:r>
            <a:endParaRPr lang="en-US" altLang="zh-CN" sz="3200" b="0" dirty="0">
              <a:latin typeface="Copperplate Gothic Bold" panose="020E0705020206020404" pitchFamily="34" charset="0"/>
            </a:endParaRPr>
          </a:p>
        </p:txBody>
      </p:sp>
      <p:sp>
        <p:nvSpPr>
          <p:cNvPr id="27651" name="Content Placeholder 2"/>
          <p:cNvSpPr>
            <a:spLocks noGrp="1"/>
          </p:cNvSpPr>
          <p:nvPr>
            <p:ph idx="1"/>
          </p:nvPr>
        </p:nvSpPr>
        <p:spPr/>
        <p:txBody>
          <a:bodyPr vert="horz" wrap="square" lIns="91440" tIns="45720" rIns="91440" bIns="45720" anchor="t" anchorCtr="0"/>
          <a:p>
            <a:pPr>
              <a:spcBef>
                <a:spcPts val="600"/>
              </a:spcBef>
            </a:pPr>
            <a:r>
              <a:rPr lang="en-US" altLang="zh-CN" sz="2700" dirty="0">
                <a:latin typeface="Times New Roman" panose="02020503050405090304" pitchFamily="18" charset="0"/>
              </a:rPr>
              <a:t>Given a positive integer </a:t>
            </a:r>
            <a:r>
              <a:rPr lang="en-US" altLang="zh-CN" sz="2700" i="1" dirty="0">
                <a:latin typeface="Times New Roman" panose="02020503050405090304" pitchFamily="18" charset="0"/>
              </a:rPr>
              <a:t>n</a:t>
            </a:r>
            <a:r>
              <a:rPr lang="en-US" altLang="zh-CN" sz="2700" dirty="0">
                <a:latin typeface="Times New Roman" panose="02020503050405090304" pitchFamily="18" charset="0"/>
              </a:rPr>
              <a:t>, such that  </a:t>
            </a:r>
            <a:r>
              <a:rPr lang="en-US" altLang="zh-CN" sz="2700" dirty="0">
                <a:solidFill>
                  <a:srgbClr val="FF0000"/>
                </a:solidFill>
                <a:latin typeface="Times New Roman" panose="02020503050405090304" pitchFamily="18" charset="0"/>
              </a:rPr>
              <a:t>2</a:t>
            </a:r>
            <a:r>
              <a:rPr lang="en-US" altLang="zh-CN" sz="2700" i="1" baseline="30000" dirty="0">
                <a:solidFill>
                  <a:srgbClr val="FF0000"/>
                </a:solidFill>
                <a:latin typeface="Times New Roman" panose="02020503050405090304" pitchFamily="18" charset="0"/>
              </a:rPr>
              <a:t>n</a:t>
            </a:r>
            <a:r>
              <a:rPr lang="en-US" altLang="zh-CN" sz="2700" baseline="30000" dirty="0">
                <a:solidFill>
                  <a:srgbClr val="FF0000"/>
                </a:solidFill>
                <a:latin typeface="Times New Roman" panose="02020503050405090304" pitchFamily="18" charset="0"/>
              </a:rPr>
              <a:t>-1</a:t>
            </a:r>
            <a:r>
              <a:rPr lang="en-US" altLang="zh-CN" sz="2700" dirty="0">
                <a:solidFill>
                  <a:srgbClr val="FF0000"/>
                </a:solidFill>
                <a:latin typeface="Times New Roman" panose="02020503050405090304" pitchFamily="18" charset="0"/>
              </a:rPr>
              <a:t> ≡ 1 (mod </a:t>
            </a:r>
            <a:r>
              <a:rPr lang="en-US" altLang="zh-CN" sz="2700" i="1" dirty="0">
                <a:solidFill>
                  <a:srgbClr val="FF0000"/>
                </a:solidFill>
                <a:latin typeface="Times New Roman" panose="02020503050405090304" pitchFamily="18" charset="0"/>
              </a:rPr>
              <a:t>n</a:t>
            </a:r>
            <a:r>
              <a:rPr lang="en-US" altLang="zh-CN" sz="2700" dirty="0">
                <a:solidFill>
                  <a:srgbClr val="FF0000"/>
                </a:solidFill>
                <a:latin typeface="Times New Roman" panose="02020503050405090304" pitchFamily="18" charset="0"/>
              </a:rPr>
              <a:t>)</a:t>
            </a:r>
            <a:r>
              <a:rPr lang="en-US" altLang="zh-CN" sz="2700" dirty="0">
                <a:latin typeface="Times New Roman" panose="02020503050405090304" pitchFamily="18" charset="0"/>
              </a:rPr>
              <a:t>:</a:t>
            </a:r>
            <a:endParaRPr lang="en-US" altLang="zh-CN" sz="2700" dirty="0">
              <a:latin typeface="Times New Roman" panose="02020503050405090304" pitchFamily="18" charset="0"/>
            </a:endParaRPr>
          </a:p>
          <a:p>
            <a:pPr lvl="1">
              <a:spcBef>
                <a:spcPts val="600"/>
              </a:spcBef>
            </a:pPr>
            <a:r>
              <a:rPr lang="en-US" altLang="zh-CN" sz="2400" dirty="0">
                <a:latin typeface="Times New Roman" panose="02020503050405090304" pitchFamily="18" charset="0"/>
              </a:rPr>
              <a:t>If </a:t>
            </a:r>
            <a:r>
              <a:rPr lang="en-US" altLang="zh-CN" sz="2400" i="1" dirty="0">
                <a:latin typeface="Times New Roman" panose="02020503050405090304" pitchFamily="18" charset="0"/>
              </a:rPr>
              <a:t>n</a:t>
            </a:r>
            <a:r>
              <a:rPr lang="en-US" altLang="zh-CN" sz="2400" dirty="0">
                <a:latin typeface="Times New Roman" panose="02020503050405090304" pitchFamily="18" charset="0"/>
              </a:rPr>
              <a:t> does not satisfy the congruence, it is composite.</a:t>
            </a:r>
            <a:endParaRPr lang="en-US" altLang="zh-CN" sz="2400" dirty="0">
              <a:latin typeface="Times New Roman" panose="02020503050405090304" pitchFamily="18" charset="0"/>
            </a:endParaRPr>
          </a:p>
          <a:p>
            <a:pPr lvl="1">
              <a:spcBef>
                <a:spcPts val="600"/>
              </a:spcBef>
            </a:pPr>
            <a:r>
              <a:rPr lang="en-US" altLang="zh-CN" sz="2400" dirty="0">
                <a:latin typeface="Times New Roman" panose="02020503050405090304" pitchFamily="18" charset="0"/>
              </a:rPr>
              <a:t>If </a:t>
            </a:r>
            <a:r>
              <a:rPr lang="en-US" altLang="zh-CN" sz="2400" i="1" dirty="0">
                <a:latin typeface="Times New Roman" panose="02020503050405090304" pitchFamily="18" charset="0"/>
              </a:rPr>
              <a:t>n</a:t>
            </a:r>
            <a:r>
              <a:rPr lang="en-US" altLang="zh-CN" sz="2400" dirty="0">
                <a:latin typeface="Times New Roman" panose="02020503050405090304" pitchFamily="18" charset="0"/>
              </a:rPr>
              <a:t> does satisfy the congruence, it is either prime or a pseudoprime to the base 2.</a:t>
            </a:r>
            <a:endParaRPr lang="en-US" altLang="zh-CN" sz="2400" dirty="0">
              <a:latin typeface="Times New Roman" panose="02020503050405090304" pitchFamily="18" charset="0"/>
            </a:endParaRPr>
          </a:p>
          <a:p>
            <a:pPr>
              <a:spcBef>
                <a:spcPts val="600"/>
              </a:spcBef>
            </a:pPr>
            <a:r>
              <a:rPr lang="en-US" altLang="zh-CN" sz="2700" dirty="0">
                <a:latin typeface="Times New Roman" panose="02020503050405090304" pitchFamily="18" charset="0"/>
              </a:rPr>
              <a:t>Doing similar tests with additional bases </a:t>
            </a:r>
            <a:r>
              <a:rPr lang="en-US" altLang="zh-CN" sz="2700" i="1" dirty="0">
                <a:latin typeface="Times New Roman" panose="02020503050405090304" pitchFamily="18" charset="0"/>
              </a:rPr>
              <a:t>b</a:t>
            </a:r>
            <a:r>
              <a:rPr lang="en-US" altLang="zh-CN" sz="2700" dirty="0">
                <a:latin typeface="Times New Roman" panose="02020503050405090304" pitchFamily="18" charset="0"/>
              </a:rPr>
              <a:t>, provides more evidence as to whether </a:t>
            </a:r>
            <a:r>
              <a:rPr lang="en-US" altLang="zh-CN" sz="2700" i="1" dirty="0">
                <a:latin typeface="Times New Roman" panose="02020503050405090304" pitchFamily="18" charset="0"/>
              </a:rPr>
              <a:t>n</a:t>
            </a:r>
            <a:r>
              <a:rPr lang="en-US" altLang="zh-CN" sz="2700" dirty="0">
                <a:latin typeface="Times New Roman" panose="02020503050405090304" pitchFamily="18" charset="0"/>
              </a:rPr>
              <a:t> is prime.</a:t>
            </a:r>
            <a:endParaRPr lang="en-US" altLang="zh-CN" sz="2700" dirty="0">
              <a:latin typeface="Times New Roman" panose="02020503050405090304" pitchFamily="18" charset="0"/>
            </a:endParaRPr>
          </a:p>
          <a:p>
            <a:pPr>
              <a:spcBef>
                <a:spcPts val="600"/>
              </a:spcBef>
            </a:pPr>
            <a:r>
              <a:rPr lang="en-US" altLang="zh-CN" sz="2700" dirty="0">
                <a:latin typeface="Times New Roman" panose="02020503050405090304" pitchFamily="18" charset="0"/>
              </a:rPr>
              <a:t>Among the positive integers not exceeding a positive real number </a:t>
            </a:r>
            <a:r>
              <a:rPr lang="en-US" altLang="zh-CN" sz="2700" i="1" dirty="0">
                <a:latin typeface="Times New Roman" panose="02020503050405090304" pitchFamily="18" charset="0"/>
              </a:rPr>
              <a:t>x</a:t>
            </a:r>
            <a:r>
              <a:rPr lang="en-US" altLang="zh-CN" sz="2700" dirty="0">
                <a:latin typeface="Times New Roman" panose="02020503050405090304" pitchFamily="18" charset="0"/>
              </a:rPr>
              <a:t>, compared to primes, there are relatively few pseudoprimes to the base </a:t>
            </a:r>
            <a:r>
              <a:rPr lang="en-US" altLang="zh-CN" sz="2700" i="1" dirty="0">
                <a:latin typeface="Times New Roman" panose="02020503050405090304" pitchFamily="18" charset="0"/>
              </a:rPr>
              <a:t>b</a:t>
            </a:r>
            <a:r>
              <a:rPr lang="en-US" altLang="zh-CN" sz="2700" dirty="0">
                <a:latin typeface="Times New Roman" panose="02020503050405090304" pitchFamily="18" charset="0"/>
              </a:rPr>
              <a:t>.</a:t>
            </a:r>
            <a:endParaRPr lang="en-US" altLang="zh-CN" sz="2700" dirty="0">
              <a:latin typeface="Times New Roman" panose="02020503050405090304" pitchFamily="18" charset="0"/>
            </a:endParaRPr>
          </a:p>
          <a:p>
            <a:pPr lvl="1">
              <a:spcBef>
                <a:spcPts val="600"/>
              </a:spcBef>
            </a:pPr>
            <a:r>
              <a:rPr lang="en-US" altLang="zh-CN" sz="2400" dirty="0">
                <a:latin typeface="Times New Roman" panose="02020503050405090304" pitchFamily="18" charset="0"/>
              </a:rPr>
              <a:t>For example, among the positive integers less than 10</a:t>
            </a:r>
            <a:r>
              <a:rPr lang="en-US" altLang="zh-CN" sz="2400" baseline="30000" dirty="0">
                <a:latin typeface="Times New Roman" panose="02020503050405090304" pitchFamily="18" charset="0"/>
              </a:rPr>
              <a:t>10</a:t>
            </a:r>
            <a:r>
              <a:rPr lang="en-US" altLang="zh-CN" sz="2400" dirty="0">
                <a:latin typeface="Times New Roman" panose="02020503050405090304" pitchFamily="18" charset="0"/>
              </a:rPr>
              <a:t> there are 455,052,512 primes, but only 14,884 pseudoprimes to the base 2. </a:t>
            </a:r>
            <a:endParaRPr lang="en-US" altLang="zh-CN" sz="2400" dirty="0">
              <a:latin typeface="Times New Roman" panose="02020503050405090304" pitchFamily="18" charset="0"/>
            </a:endParaRPr>
          </a:p>
        </p:txBody>
      </p:sp>
      <p:sp>
        <p:nvSpPr>
          <p:cNvPr id="2765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765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765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itle 1"/>
          <p:cNvSpPr>
            <a:spLocks noGrp="1"/>
          </p:cNvSpPr>
          <p:nvPr>
            <p:ph type="title"/>
          </p:nvPr>
        </p:nvSpPr>
        <p:spPr>
          <a:xfrm>
            <a:off x="1187450" y="152400"/>
            <a:ext cx="7145338" cy="708025"/>
          </a:xfrm>
        </p:spPr>
        <p:txBody>
          <a:bodyPr vert="horz" wrap="square" lIns="91440" tIns="45720" rIns="91440" bIns="45720" anchor="b" anchorCtr="0"/>
          <a:p>
            <a:r>
              <a:rPr lang="en-US" altLang="zh-CN" sz="2800" b="0" dirty="0">
                <a:latin typeface="Copperplate Gothic Bold" panose="020E0705020206020404" pitchFamily="34" charset="0"/>
              </a:rPr>
              <a:t>Carmichael Numbers (optional)</a:t>
            </a:r>
            <a:endParaRPr lang="en-US" altLang="zh-CN" sz="2800" b="0" dirty="0">
              <a:latin typeface="Copperplate Gothic Bold" panose="020E0705020206020404" pitchFamily="34" charset="0"/>
            </a:endParaRPr>
          </a:p>
        </p:txBody>
      </p:sp>
      <p:sp>
        <p:nvSpPr>
          <p:cNvPr id="27651" name="Content Placeholder 2"/>
          <p:cNvSpPr>
            <a:spLocks noGrp="1" noChangeArrowheads="1"/>
          </p:cNvSpPr>
          <p:nvPr>
            <p:ph idx="1"/>
          </p:nvPr>
        </p:nvSpPr>
        <p:spPr>
          <a:xfrm>
            <a:off x="395288" y="941388"/>
            <a:ext cx="8640763" cy="270351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ts val="6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Definition 2</a:t>
            </a:r>
            <a:r>
              <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a:t>
            </a:r>
            <a:endPar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742950" marR="0" lvl="1" indent="-28575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There are </a:t>
            </a:r>
            <a:r>
              <a:rPr kumimoji="1" lang="en-US" altLang="zh-CN" sz="2400" b="1" i="0" u="none" strike="noStrike" kern="0" cap="none" spc="0" normalizeH="0" baseline="0" noProof="0" dirty="0">
                <a:ln>
                  <a:noFill/>
                </a:ln>
                <a:solidFill>
                  <a:schemeClr val="tx1"/>
                </a:solidFill>
                <a:effectLst/>
                <a:uLnTx/>
                <a:uFillTx/>
                <a:latin typeface="Times New Roman" panose="02020503050405090304" pitchFamily="18" charset="0"/>
                <a:ea typeface="+mn-ea"/>
              </a:rPr>
              <a:t>composite integers </a:t>
            </a:r>
            <a:r>
              <a:rPr kumimoji="1" lang="en-US" altLang="zh-CN" sz="2400" b="1" i="1" u="none" strike="noStrike" kern="0" cap="none" spc="0" normalizeH="0" baseline="0" noProof="0" dirty="0">
                <a:ln>
                  <a:noFill/>
                </a:ln>
                <a:solidFill>
                  <a:schemeClr val="tx1"/>
                </a:solidFill>
                <a:effectLst/>
                <a:uLnTx/>
                <a:uFillTx/>
                <a:latin typeface="Times New Roman" panose="02020503050405090304" pitchFamily="18" charset="0"/>
                <a:ea typeface="+mn-ea"/>
              </a:rPr>
              <a:t>n</a:t>
            </a:r>
            <a:r>
              <a:rPr kumimoji="1" lang="en-US" altLang="zh-CN" sz="2400" b="1" i="0"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that pass all tests with bases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b</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such that </a:t>
            </a:r>
            <a:r>
              <a:rPr kumimoji="1" lang="en-US" altLang="zh-CN" sz="2400" b="0" i="0" u="none" strike="noStrike" kern="0" cap="none" spc="0" normalizeH="0" baseline="0" noProof="0" dirty="0" err="1">
                <a:ln>
                  <a:noFill/>
                </a:ln>
                <a:solidFill>
                  <a:schemeClr val="tx1"/>
                </a:solidFill>
                <a:effectLst/>
                <a:uLnTx/>
                <a:uFillTx/>
                <a:latin typeface="Times New Roman" panose="02020503050405090304" pitchFamily="18" charset="0"/>
                <a:ea typeface="+mn-ea"/>
              </a:rPr>
              <a:t>gcd</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r>
              <a:rPr kumimoji="1" lang="en-US" altLang="zh-CN" sz="24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b,n</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 1.</a:t>
            </a:r>
            <a:endParaRPr kumimoji="1" lang="en-US" altLang="zh-CN" sz="2000" b="0"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A composite integer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n</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that satisfies the congruence </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457200" marR="0" lvl="1" indent="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None/>
              <a:defRPr/>
            </a:pP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400" b="1" i="1" u="none" strike="noStrike" kern="0" cap="none" spc="0" normalizeH="0" baseline="0" noProof="0" dirty="0">
                <a:ln>
                  <a:noFill/>
                </a:ln>
                <a:solidFill>
                  <a:schemeClr val="tx1"/>
                </a:solidFill>
                <a:effectLst/>
                <a:uLnTx/>
                <a:uFillTx/>
                <a:latin typeface="Times New Roman" panose="02020503050405090304" pitchFamily="18" charset="0"/>
                <a:ea typeface="+mn-ea"/>
              </a:rPr>
              <a:t>b</a:t>
            </a:r>
            <a:r>
              <a:rPr kumimoji="1" lang="en-US" altLang="zh-CN" sz="2400" b="1" i="1" u="none" strike="noStrike" kern="0" cap="none" spc="0" normalizeH="0" baseline="30000" noProof="0" dirty="0">
                <a:ln>
                  <a:noFill/>
                </a:ln>
                <a:solidFill>
                  <a:schemeClr val="tx1"/>
                </a:solidFill>
                <a:effectLst/>
                <a:uLnTx/>
                <a:uFillTx/>
                <a:latin typeface="Times New Roman" panose="02020503050405090304" pitchFamily="18" charset="0"/>
                <a:ea typeface="+mn-ea"/>
              </a:rPr>
              <a:t>n</a:t>
            </a:r>
            <a:r>
              <a:rPr kumimoji="1" lang="en-US" altLang="zh-CN" sz="2400" b="1" i="0" u="none" strike="noStrike" kern="0" cap="none" spc="0" normalizeH="0" baseline="30000" noProof="0" dirty="0">
                <a:ln>
                  <a:noFill/>
                </a:ln>
                <a:solidFill>
                  <a:schemeClr val="tx1"/>
                </a:solidFill>
                <a:effectLst/>
                <a:uLnTx/>
                <a:uFillTx/>
                <a:latin typeface="Times New Roman" panose="02020503050405090304" pitchFamily="18" charset="0"/>
                <a:ea typeface="+mn-ea"/>
              </a:rPr>
              <a:t>-1</a:t>
            </a:r>
            <a:r>
              <a:rPr kumimoji="1" lang="en-US" altLang="zh-CN" sz="2400" b="1" i="0" u="none" strike="noStrike" kern="0" cap="none" spc="0" normalizeH="0" baseline="0" noProof="0" dirty="0">
                <a:ln>
                  <a:noFill/>
                </a:ln>
                <a:solidFill>
                  <a:schemeClr val="tx1"/>
                </a:solidFill>
                <a:effectLst/>
                <a:uLnTx/>
                <a:uFillTx/>
                <a:latin typeface="Times New Roman" panose="02020503050405090304" pitchFamily="18" charset="0"/>
                <a:ea typeface="+mn-ea"/>
              </a:rPr>
              <a:t> ≡ 1 (mod </a:t>
            </a:r>
            <a:r>
              <a:rPr kumimoji="1" lang="en-US" altLang="zh-CN" sz="2400" b="1" i="1" u="none" strike="noStrike" kern="0" cap="none" spc="0" normalizeH="0" baseline="0" noProof="0" dirty="0">
                <a:ln>
                  <a:noFill/>
                </a:ln>
                <a:solidFill>
                  <a:schemeClr val="tx1"/>
                </a:solidFill>
                <a:effectLst/>
                <a:uLnTx/>
                <a:uFillTx/>
                <a:latin typeface="Times New Roman" panose="02020503050405090304" pitchFamily="18" charset="0"/>
                <a:ea typeface="+mn-ea"/>
              </a:rPr>
              <a:t>n</a:t>
            </a:r>
            <a:r>
              <a:rPr kumimoji="1" lang="en-US" altLang="zh-CN" sz="2400" b="1" i="0"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for all positive integers </a:t>
            </a:r>
            <a:r>
              <a:rPr kumimoji="1" lang="en-US" altLang="zh-CN" sz="2400" b="0" i="1" u="none" strike="noStrike" kern="0" cap="none" spc="0" normalizeH="0" baseline="0" noProof="0" dirty="0">
                <a:ln>
                  <a:noFill/>
                </a:ln>
                <a:solidFill>
                  <a:schemeClr val="tx1"/>
                </a:solidFill>
                <a:effectLst/>
                <a:uLnTx/>
                <a:uFillTx/>
                <a:latin typeface="Times New Roman" panose="02020503050405090304" pitchFamily="18" charset="0"/>
                <a:ea typeface="+mn-ea"/>
              </a:rPr>
              <a:t>b</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with </a:t>
            </a:r>
            <a:r>
              <a:rPr kumimoji="1" lang="en-US" altLang="zh-CN" sz="2400" b="0" i="0" u="none" strike="noStrike" kern="0" cap="none" spc="0" normalizeH="0" baseline="0" noProof="0" dirty="0" err="1">
                <a:ln>
                  <a:noFill/>
                </a:ln>
                <a:solidFill>
                  <a:schemeClr val="tx1"/>
                </a:solidFill>
                <a:effectLst/>
                <a:uLnTx/>
                <a:uFillTx/>
                <a:latin typeface="Times New Roman" panose="02020503050405090304" pitchFamily="18" charset="0"/>
                <a:ea typeface="+mn-ea"/>
              </a:rPr>
              <a:t>gcd</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r>
              <a:rPr kumimoji="1" lang="en-US" altLang="zh-CN" sz="24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b</a:t>
            </a:r>
            <a:r>
              <a:rPr kumimoji="1" lang="en-US" altLang="zh-CN" sz="2400" b="0" i="0" u="none" strike="noStrike" kern="0" cap="none" spc="0" normalizeH="0" baseline="0" noProof="0" dirty="0" err="1">
                <a:ln>
                  <a:noFill/>
                </a:ln>
                <a:solidFill>
                  <a:schemeClr val="tx1"/>
                </a:solidFill>
                <a:effectLst/>
                <a:uLnTx/>
                <a:uFillTx/>
                <a:latin typeface="Times New Roman" panose="02020503050405090304" pitchFamily="18" charset="0"/>
                <a:ea typeface="+mn-ea"/>
              </a:rPr>
              <a:t>,</a:t>
            </a:r>
            <a:r>
              <a:rPr kumimoji="1" lang="en-US" altLang="zh-CN" sz="2400" b="0" i="1" u="none" strike="noStrike" kern="0" cap="none" spc="0" normalizeH="0" baseline="0" noProof="0" dirty="0" err="1">
                <a:ln>
                  <a:noFill/>
                </a:ln>
                <a:solidFill>
                  <a:schemeClr val="tx1"/>
                </a:solidFill>
                <a:effectLst/>
                <a:uLnTx/>
                <a:uFillTx/>
                <a:latin typeface="Times New Roman" panose="02020503050405090304" pitchFamily="18" charset="0"/>
                <a:ea typeface="+mn-ea"/>
              </a:rPr>
              <a:t>n</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 1 </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457200" marR="0" lvl="1" indent="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    is called a </a:t>
            </a:r>
            <a:r>
              <a:rPr kumimoji="1" lang="en-US" altLang="zh-CN" sz="2400" b="1" i="1" u="none" strike="noStrike" kern="0" cap="none" spc="0" normalizeH="0" baseline="0" noProof="0" dirty="0">
                <a:ln>
                  <a:noFill/>
                </a:ln>
                <a:solidFill>
                  <a:srgbClr val="FF0000"/>
                </a:solidFill>
                <a:effectLst/>
                <a:uLnTx/>
                <a:uFillTx/>
                <a:latin typeface="Times New Roman" panose="02020503050405090304" pitchFamily="18" charset="0"/>
                <a:ea typeface="+mn-ea"/>
              </a:rPr>
              <a:t>Carmichael number</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endPar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p:txBody>
      </p:sp>
      <p:pic>
        <p:nvPicPr>
          <p:cNvPr id="28676" name="Picture 3" descr="carmichael.jpg"/>
          <p:cNvPicPr>
            <a:picLocks noChangeAspect="1"/>
          </p:cNvPicPr>
          <p:nvPr/>
        </p:nvPicPr>
        <p:blipFill>
          <a:blip r:embed="rId1"/>
          <a:srcRect b="21939"/>
          <a:stretch>
            <a:fillRect/>
          </a:stretch>
        </p:blipFill>
        <p:spPr>
          <a:xfrm>
            <a:off x="6408738" y="3392488"/>
            <a:ext cx="2159000" cy="2389187"/>
          </a:xfrm>
          <a:prstGeom prst="rect">
            <a:avLst/>
          </a:prstGeom>
          <a:noFill/>
          <a:ln w="9525">
            <a:noFill/>
          </a:ln>
        </p:spPr>
      </p:pic>
      <p:sp>
        <p:nvSpPr>
          <p:cNvPr id="28677" name="TextBox 4"/>
          <p:cNvSpPr txBox="1"/>
          <p:nvPr/>
        </p:nvSpPr>
        <p:spPr>
          <a:xfrm>
            <a:off x="5508625" y="5895975"/>
            <a:ext cx="3744913"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en-US" altLang="zh-CN" sz="2000" dirty="0">
                <a:latin typeface="Times New Roman" panose="02020503050405090304" pitchFamily="18" charset="0"/>
              </a:rPr>
              <a:t>Robert Carmichael(</a:t>
            </a:r>
            <a:r>
              <a:rPr lang="en-US" altLang="zh-CN" sz="2000" dirty="0">
                <a:latin typeface="Cambria Math" panose="02040503050406030204" pitchFamily="18" charset="0"/>
              </a:rPr>
              <a:t>1879-1967</a:t>
            </a:r>
            <a:r>
              <a:rPr lang="en-US" altLang="zh-CN" sz="2000" dirty="0">
                <a:latin typeface="Times New Roman" panose="02020503050405090304" pitchFamily="18" charset="0"/>
              </a:rPr>
              <a:t>)</a:t>
            </a:r>
            <a:endParaRPr lang="en-US" altLang="zh-CN" sz="2000" dirty="0">
              <a:latin typeface="Times New Roman" panose="02020503050405090304" pitchFamily="18" charset="0"/>
            </a:endParaRPr>
          </a:p>
        </p:txBody>
      </p:sp>
      <p:sp>
        <p:nvSpPr>
          <p:cNvPr id="27654" name="矩形 1"/>
          <p:cNvSpPr/>
          <p:nvPr/>
        </p:nvSpPr>
        <p:spPr>
          <a:xfrm>
            <a:off x="827088" y="3759200"/>
            <a:ext cx="5005387" cy="1262063"/>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spcBef>
                <a:spcPct val="0"/>
              </a:spcBef>
              <a:spcAft>
                <a:spcPts val="1200"/>
              </a:spcAft>
              <a:buClrTx/>
              <a:buSzTx/>
              <a:buFontTx/>
              <a:buNone/>
            </a:pPr>
            <a:r>
              <a:rPr lang="en-US" altLang="zh-CN" sz="2200" b="1" dirty="0">
                <a:latin typeface="Times New Roman" panose="02020503050405090304" pitchFamily="18" charset="0"/>
                <a:cs typeface="Times New Roman" panose="02020503050405090304" pitchFamily="18" charset="0"/>
              </a:rPr>
              <a:t>1. n</a:t>
            </a:r>
            <a:r>
              <a:rPr lang="zh-CN" altLang="en-US" sz="2200" b="1" dirty="0">
                <a:latin typeface="Times New Roman" panose="02020503050405090304" pitchFamily="18" charset="0"/>
                <a:cs typeface="Times New Roman" panose="02020503050405090304" pitchFamily="18" charset="0"/>
              </a:rPr>
              <a:t>是</a:t>
            </a:r>
            <a:r>
              <a:rPr lang="zh-CN" altLang="zh-CN" sz="2200" b="1" dirty="0">
                <a:latin typeface="Times New Roman" panose="02020503050405090304" pitchFamily="18" charset="0"/>
                <a:cs typeface="Times New Roman" panose="02020503050405090304" pitchFamily="18" charset="0"/>
              </a:rPr>
              <a:t>合数</a:t>
            </a:r>
            <a:endParaRPr lang="en-US" altLang="zh-CN" sz="2200" b="1" dirty="0">
              <a:latin typeface="Times New Roman" panose="02020503050405090304" pitchFamily="18" charset="0"/>
              <a:cs typeface="Times New Roman" panose="02020503050405090304" pitchFamily="18" charset="0"/>
            </a:endParaRPr>
          </a:p>
          <a:p>
            <a:pPr marL="0" lvl="0" indent="0">
              <a:spcBef>
                <a:spcPct val="0"/>
              </a:spcBef>
              <a:spcAft>
                <a:spcPts val="1200"/>
              </a:spcAft>
              <a:buClrTx/>
              <a:buSzTx/>
              <a:buFontTx/>
              <a:buNone/>
            </a:pPr>
            <a:r>
              <a:rPr lang="en-US" altLang="zh-CN" sz="2200" b="1" dirty="0">
                <a:latin typeface="Times New Roman" panose="02020503050405090304" pitchFamily="18" charset="0"/>
                <a:cs typeface="Times New Roman" panose="02020503050405090304" pitchFamily="18" charset="0"/>
              </a:rPr>
              <a:t>2. </a:t>
            </a:r>
            <a:r>
              <a:rPr lang="zh-CN" altLang="zh-CN" sz="2200" b="1" dirty="0">
                <a:latin typeface="Times New Roman" panose="02020503050405090304" pitchFamily="18" charset="0"/>
                <a:cs typeface="Times New Roman" panose="02020503050405090304" pitchFamily="18" charset="0"/>
              </a:rPr>
              <a:t>对于所有与</a:t>
            </a:r>
            <a:r>
              <a:rPr lang="en-US" altLang="zh-CN" sz="2200" b="1" dirty="0">
                <a:latin typeface="Times New Roman" panose="02020503050405090304" pitchFamily="18" charset="0"/>
                <a:cs typeface="Times New Roman" panose="02020503050405090304" pitchFamily="18" charset="0"/>
              </a:rPr>
              <a:t>n</a:t>
            </a:r>
            <a:r>
              <a:rPr lang="zh-CN" altLang="zh-CN" sz="2200" b="1" dirty="0">
                <a:latin typeface="Times New Roman" panose="02020503050405090304" pitchFamily="18" charset="0"/>
                <a:cs typeface="Times New Roman" panose="02020503050405090304" pitchFamily="18" charset="0"/>
              </a:rPr>
              <a:t>互质的数</a:t>
            </a:r>
            <a:r>
              <a:rPr lang="en-US" altLang="zh-CN" sz="2200" b="1" dirty="0">
                <a:latin typeface="Times New Roman" panose="02020503050405090304" pitchFamily="18" charset="0"/>
              </a:rPr>
              <a:t>b</a:t>
            </a:r>
            <a:r>
              <a:rPr lang="zh-CN" altLang="zh-CN" sz="2200" b="1" dirty="0">
                <a:latin typeface="Times New Roman" panose="02020503050405090304" pitchFamily="18" charset="0"/>
                <a:cs typeface="Times New Roman" panose="02020503050405090304" pitchFamily="18" charset="0"/>
              </a:rPr>
              <a:t>而言，</a:t>
            </a:r>
            <a:r>
              <a:rPr lang="en-US" altLang="zh-CN" sz="2200" b="1" dirty="0">
                <a:latin typeface="Times New Roman" panose="02020503050405090304" pitchFamily="18" charset="0"/>
                <a:cs typeface="Times New Roman" panose="02020503050405090304" pitchFamily="18" charset="0"/>
              </a:rPr>
              <a:t>n</a:t>
            </a:r>
            <a:r>
              <a:rPr lang="zh-CN" altLang="zh-CN" sz="2200" b="1" dirty="0">
                <a:latin typeface="Times New Roman" panose="02020503050405090304" pitchFamily="18" charset="0"/>
                <a:cs typeface="Times New Roman" panose="02020503050405090304" pitchFamily="18" charset="0"/>
              </a:rPr>
              <a:t>都是伪素数</a:t>
            </a:r>
            <a:endParaRPr lang="zh-CN" altLang="en-US" sz="2200" b="1" dirty="0">
              <a:latin typeface="Times New Roman" panose="02020503050405090304" pitchFamily="18" charset="0"/>
            </a:endParaRPr>
          </a:p>
        </p:txBody>
      </p:sp>
      <p:sp>
        <p:nvSpPr>
          <p:cNvPr id="28679"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8680"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8681"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Title 1"/>
          <p:cNvSpPr>
            <a:spLocks noGrp="1"/>
          </p:cNvSpPr>
          <p:nvPr>
            <p:ph type="title"/>
          </p:nvPr>
        </p:nvSpPr>
        <p:spPr>
          <a:xfrm>
            <a:off x="1187450" y="152400"/>
            <a:ext cx="7145338" cy="708025"/>
          </a:xfrm>
        </p:spPr>
        <p:txBody>
          <a:bodyPr vert="horz" wrap="square" lIns="91440" tIns="45720" rIns="91440" bIns="45720" anchor="b" anchorCtr="0"/>
          <a:p>
            <a:r>
              <a:rPr lang="en-US" altLang="zh-CN" sz="2800" b="0" dirty="0">
                <a:latin typeface="Copperplate Gothic Bold" panose="020E0705020206020404" pitchFamily="34" charset="0"/>
              </a:rPr>
              <a:t>Carmichael Numbers (optional)</a:t>
            </a:r>
            <a:endParaRPr lang="en-US" altLang="zh-CN" sz="2800" b="0" dirty="0">
              <a:latin typeface="Copperplate Gothic Bold" panose="020E0705020206020404" pitchFamily="34" charset="0"/>
            </a:endParaRPr>
          </a:p>
        </p:txBody>
      </p:sp>
      <p:sp>
        <p:nvSpPr>
          <p:cNvPr id="21507" name="Content Placeholder 2"/>
          <p:cNvSpPr>
            <a:spLocks noGrp="1" noChangeArrowheads="1"/>
          </p:cNvSpPr>
          <p:nvPr>
            <p:ph idx="1"/>
          </p:nvPr>
        </p:nvSpPr>
        <p:spPr>
          <a:xfrm>
            <a:off x="395288" y="941388"/>
            <a:ext cx="8569325" cy="57594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ts val="6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Example 11</a:t>
            </a:r>
            <a:r>
              <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 </a:t>
            </a:r>
            <a:r>
              <a:rPr kumimoji="1"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The integer 561 is a Carmichael number. </a:t>
            </a:r>
            <a:endParaRPr kumimoji="1" lang="en-US" altLang="zh-CN" sz="28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742950" marR="0" lvl="1" indent="-28575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561 is composite, since 561 = 3 ∙ 11 ∙ 17.</a:t>
            </a:r>
            <a:endPar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742950" marR="0" lvl="1" indent="-28575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If </a:t>
            </a:r>
            <a:r>
              <a:rPr kumimoji="1" lang="en-US" altLang="zh-CN" sz="2000" b="0" i="0" u="none" strike="noStrike" kern="0" cap="none" spc="0" normalizeH="0" baseline="0" noProof="0" dirty="0" err="1">
                <a:ln>
                  <a:noFill/>
                </a:ln>
                <a:solidFill>
                  <a:schemeClr val="tx1"/>
                </a:solidFill>
                <a:effectLst/>
                <a:uLnTx/>
                <a:uFillTx/>
                <a:latin typeface="Times New Roman" panose="02020503050405090304" pitchFamily="18" charset="0"/>
                <a:ea typeface="+mn-ea"/>
              </a:rPr>
              <a:t>gcd</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b</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 561) = 1, then </a:t>
            </a:r>
            <a:r>
              <a:rPr kumimoji="1" lang="en-US" altLang="zh-CN" sz="2000" b="0" i="0" u="none" strike="noStrike" kern="0" cap="none" spc="0" normalizeH="0" baseline="0" noProof="0" dirty="0" err="1">
                <a:ln>
                  <a:noFill/>
                </a:ln>
                <a:solidFill>
                  <a:schemeClr val="tx1"/>
                </a:solidFill>
                <a:effectLst/>
                <a:uLnTx/>
                <a:uFillTx/>
                <a:latin typeface="Times New Roman" panose="02020503050405090304" pitchFamily="18" charset="0"/>
                <a:ea typeface="+mn-ea"/>
              </a:rPr>
              <a:t>gcd</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b</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 3) = 1,  </a:t>
            </a:r>
            <a:r>
              <a:rPr kumimoji="1" lang="en-US" altLang="zh-CN" sz="2000" b="0" i="0" u="none" strike="noStrike" kern="0" cap="none" spc="0" normalizeH="0" baseline="0" noProof="0" dirty="0" err="1">
                <a:ln>
                  <a:noFill/>
                </a:ln>
                <a:solidFill>
                  <a:schemeClr val="tx1"/>
                </a:solidFill>
                <a:effectLst/>
                <a:uLnTx/>
                <a:uFillTx/>
                <a:latin typeface="Times New Roman" panose="02020503050405090304" pitchFamily="18" charset="0"/>
                <a:ea typeface="+mn-ea"/>
              </a:rPr>
              <a:t>gcd</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b</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 11) = 1, </a:t>
            </a:r>
            <a:r>
              <a:rPr kumimoji="1" lang="en-US" altLang="zh-CN" sz="2000" b="0" i="0" u="none" strike="noStrike" kern="0" cap="none" spc="0" normalizeH="0" baseline="0" noProof="0" dirty="0" err="1">
                <a:ln>
                  <a:noFill/>
                </a:ln>
                <a:solidFill>
                  <a:schemeClr val="tx1"/>
                </a:solidFill>
                <a:effectLst/>
                <a:uLnTx/>
                <a:uFillTx/>
                <a:latin typeface="Times New Roman" panose="02020503050405090304" pitchFamily="18" charset="0"/>
                <a:ea typeface="+mn-ea"/>
              </a:rPr>
              <a:t>gcd</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b</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 17) =1.</a:t>
            </a:r>
            <a:endPar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742950" marR="0" lvl="1" indent="-28575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Using Fermat’s Little Theorem: </a:t>
            </a:r>
            <a:endPar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457200" marR="0" lvl="1" indent="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None/>
              <a:defRPr/>
            </a:pP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	b</a:t>
            </a:r>
            <a:r>
              <a:rPr kumimoji="1" lang="en-US" altLang="zh-CN" sz="2000" b="0" i="0" u="none" strike="noStrike" kern="0" cap="none" spc="0" normalizeH="0" baseline="30000" noProof="0" dirty="0">
                <a:ln>
                  <a:noFill/>
                </a:ln>
                <a:solidFill>
                  <a:schemeClr val="tx1"/>
                </a:solidFill>
                <a:effectLst/>
                <a:uLnTx/>
                <a:uFillTx/>
                <a:latin typeface="Times New Roman" panose="02020503050405090304" pitchFamily="18" charset="0"/>
                <a:ea typeface="+mn-ea"/>
              </a:rPr>
              <a:t>2 </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 ≡  1 (mod 3),</a:t>
            </a: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  b</a:t>
            </a:r>
            <a:r>
              <a:rPr kumimoji="1" lang="en-US" altLang="zh-CN" sz="2000" b="0" i="0" u="none" strike="noStrike" kern="0" cap="none" spc="0" normalizeH="0" baseline="30000" noProof="0" dirty="0">
                <a:ln>
                  <a:noFill/>
                </a:ln>
                <a:solidFill>
                  <a:schemeClr val="tx1"/>
                </a:solidFill>
                <a:effectLst/>
                <a:uLnTx/>
                <a:uFillTx/>
                <a:latin typeface="Times New Roman" panose="02020503050405090304" pitchFamily="18" charset="0"/>
                <a:ea typeface="+mn-ea"/>
              </a:rPr>
              <a:t>10 </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 ≡  1 (mod 11),</a:t>
            </a: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  b</a:t>
            </a:r>
            <a:r>
              <a:rPr kumimoji="1" lang="en-US" altLang="zh-CN" sz="2000" b="0" i="0" u="none" strike="noStrike" kern="0" cap="none" spc="0" normalizeH="0" baseline="30000" noProof="0" dirty="0">
                <a:ln>
                  <a:noFill/>
                </a:ln>
                <a:solidFill>
                  <a:schemeClr val="tx1"/>
                </a:solidFill>
                <a:effectLst/>
                <a:uLnTx/>
                <a:uFillTx/>
                <a:latin typeface="Times New Roman" panose="02020503050405090304" pitchFamily="18" charset="0"/>
                <a:ea typeface="+mn-ea"/>
              </a:rPr>
              <a:t>16 </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 ≡  1 (mod 17).</a:t>
            </a:r>
            <a:endPar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742950" marR="0" lvl="1" indent="-28575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Then</a:t>
            </a:r>
            <a:endPar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1143000" marR="0" lvl="2" indent="-228600" algn="l" defTabSz="914400" rtl="0" eaLnBrk="0" fontAlgn="base" latinLnBrk="0" hangingPunct="0">
              <a:lnSpc>
                <a:spcPct val="100000"/>
              </a:lnSpc>
              <a:spcBef>
                <a:spcPts val="600"/>
              </a:spcBef>
              <a:spcAft>
                <a:spcPct val="0"/>
              </a:spcAft>
              <a:buClr>
                <a:schemeClr val="folHlink"/>
              </a:buClr>
              <a:buSzPct val="50000"/>
              <a:buFont typeface="Wingdings" panose="05000000000000000000" pitchFamily="2" charset="2"/>
              <a:buNone/>
              <a:defRPr/>
            </a:pP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b</a:t>
            </a:r>
            <a:r>
              <a:rPr kumimoji="1" lang="en-US" altLang="zh-CN" sz="2000" b="0" i="0" u="none" strike="noStrike" kern="0" cap="none" spc="0" normalizeH="0" baseline="30000" noProof="0" dirty="0">
                <a:ln>
                  <a:noFill/>
                </a:ln>
                <a:solidFill>
                  <a:schemeClr val="tx1"/>
                </a:solidFill>
                <a:effectLst/>
                <a:uLnTx/>
                <a:uFillTx/>
                <a:latin typeface="Times New Roman" panose="02020503050405090304" pitchFamily="18" charset="0"/>
                <a:ea typeface="+mn-ea"/>
              </a:rPr>
              <a:t>560 </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 (b</a:t>
            </a:r>
            <a:r>
              <a:rPr kumimoji="1" lang="en-US" altLang="zh-CN" sz="2000" b="0" i="0" u="none" strike="noStrike" kern="0" cap="none" spc="0" normalizeH="0" baseline="30000" noProof="0" dirty="0">
                <a:ln>
                  <a:noFill/>
                </a:ln>
                <a:solidFill>
                  <a:schemeClr val="tx1"/>
                </a:solidFill>
                <a:effectLst/>
                <a:uLnTx/>
                <a:uFillTx/>
                <a:latin typeface="Times New Roman" panose="02020503050405090304" pitchFamily="18" charset="0"/>
                <a:ea typeface="+mn-ea"/>
              </a:rPr>
              <a:t>2</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r>
              <a:rPr kumimoji="1" lang="en-US" altLang="zh-CN" sz="2000" b="0" i="0" u="none" strike="noStrike" kern="0" cap="none" spc="0" normalizeH="0" baseline="30000" noProof="0" dirty="0">
                <a:ln>
                  <a:noFill/>
                </a:ln>
                <a:solidFill>
                  <a:schemeClr val="tx1"/>
                </a:solidFill>
                <a:effectLst/>
                <a:uLnTx/>
                <a:uFillTx/>
                <a:latin typeface="Times New Roman" panose="02020503050405090304" pitchFamily="18" charset="0"/>
                <a:ea typeface="+mn-ea"/>
              </a:rPr>
              <a:t> 280 </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 ≡  1 (mod 3),</a:t>
            </a:r>
            <a:endPar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1143000" marR="0" lvl="2" indent="-228600" algn="l" defTabSz="914400" rtl="0" eaLnBrk="0" fontAlgn="base" latinLnBrk="0" hangingPunct="0">
              <a:lnSpc>
                <a:spcPct val="100000"/>
              </a:lnSpc>
              <a:spcBef>
                <a:spcPts val="600"/>
              </a:spcBef>
              <a:spcAft>
                <a:spcPct val="0"/>
              </a:spcAft>
              <a:buClr>
                <a:schemeClr val="folHlink"/>
              </a:buClr>
              <a:buSzPct val="50000"/>
              <a:buFont typeface="Wingdings" panose="05000000000000000000" pitchFamily="2" charset="2"/>
              <a:buNone/>
              <a:defRPr/>
            </a:pP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b</a:t>
            </a:r>
            <a:r>
              <a:rPr kumimoji="1" lang="en-US" altLang="zh-CN" sz="2000" b="0" i="0" u="none" strike="noStrike" kern="0" cap="none" spc="0" normalizeH="0" baseline="30000" noProof="0" dirty="0">
                <a:ln>
                  <a:noFill/>
                </a:ln>
                <a:solidFill>
                  <a:schemeClr val="tx1"/>
                </a:solidFill>
                <a:effectLst/>
                <a:uLnTx/>
                <a:uFillTx/>
                <a:latin typeface="Times New Roman" panose="02020503050405090304" pitchFamily="18" charset="0"/>
                <a:ea typeface="+mn-ea"/>
              </a:rPr>
              <a:t>560 </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 (b</a:t>
            </a:r>
            <a:r>
              <a:rPr kumimoji="1" lang="en-US" altLang="zh-CN" sz="2000" b="0" i="0" u="none" strike="noStrike" kern="0" cap="none" spc="0" normalizeH="0" baseline="30000" noProof="0" dirty="0">
                <a:ln>
                  <a:noFill/>
                </a:ln>
                <a:solidFill>
                  <a:schemeClr val="tx1"/>
                </a:solidFill>
                <a:effectLst/>
                <a:uLnTx/>
                <a:uFillTx/>
                <a:latin typeface="Times New Roman" panose="02020503050405090304" pitchFamily="18" charset="0"/>
                <a:ea typeface="+mn-ea"/>
              </a:rPr>
              <a:t>10</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r>
              <a:rPr kumimoji="1" lang="en-US" altLang="zh-CN" sz="2000" b="0" i="0" u="none" strike="noStrike" kern="0" cap="none" spc="0" normalizeH="0" baseline="30000" noProof="0" dirty="0">
                <a:ln>
                  <a:noFill/>
                </a:ln>
                <a:solidFill>
                  <a:schemeClr val="tx1"/>
                </a:solidFill>
                <a:effectLst/>
                <a:uLnTx/>
                <a:uFillTx/>
                <a:latin typeface="Times New Roman" panose="02020503050405090304" pitchFamily="18" charset="0"/>
                <a:ea typeface="+mn-ea"/>
              </a:rPr>
              <a:t> 56 </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 ≡  1 (mod 11),</a:t>
            </a: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 </a:t>
            </a:r>
            <a:endPar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1143000" marR="0" lvl="2" indent="-228600" algn="l" defTabSz="914400" rtl="0" eaLnBrk="0" fontAlgn="base" latinLnBrk="0" hangingPunct="0">
              <a:lnSpc>
                <a:spcPct val="100000"/>
              </a:lnSpc>
              <a:spcBef>
                <a:spcPts val="600"/>
              </a:spcBef>
              <a:spcAft>
                <a:spcPct val="0"/>
              </a:spcAft>
              <a:buClr>
                <a:schemeClr val="folHlink"/>
              </a:buClr>
              <a:buSzPct val="50000"/>
              <a:buFont typeface="Wingdings" panose="05000000000000000000" pitchFamily="2" charset="2"/>
              <a:buNone/>
              <a:defRPr/>
            </a:pP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b</a:t>
            </a:r>
            <a:r>
              <a:rPr kumimoji="1" lang="en-US" altLang="zh-CN" sz="2000" b="0" i="0" u="none" strike="noStrike" kern="0" cap="none" spc="0" normalizeH="0" baseline="30000" noProof="0" dirty="0">
                <a:ln>
                  <a:noFill/>
                </a:ln>
                <a:solidFill>
                  <a:schemeClr val="tx1"/>
                </a:solidFill>
                <a:effectLst/>
                <a:uLnTx/>
                <a:uFillTx/>
                <a:latin typeface="Times New Roman" panose="02020503050405090304" pitchFamily="18" charset="0"/>
                <a:ea typeface="+mn-ea"/>
              </a:rPr>
              <a:t>560 </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 (b</a:t>
            </a:r>
            <a:r>
              <a:rPr kumimoji="1" lang="en-US" altLang="zh-CN" sz="2000" b="0" i="0" u="none" strike="noStrike" kern="0" cap="none" spc="0" normalizeH="0" baseline="30000" noProof="0" dirty="0">
                <a:ln>
                  <a:noFill/>
                </a:ln>
                <a:solidFill>
                  <a:schemeClr val="tx1"/>
                </a:solidFill>
                <a:effectLst/>
                <a:uLnTx/>
                <a:uFillTx/>
                <a:latin typeface="Times New Roman" panose="02020503050405090304" pitchFamily="18" charset="0"/>
                <a:ea typeface="+mn-ea"/>
              </a:rPr>
              <a:t>16</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r>
              <a:rPr kumimoji="1" lang="en-US" altLang="zh-CN" sz="2000" b="0" i="0" u="none" strike="noStrike" kern="0" cap="none" spc="0" normalizeH="0" baseline="30000" noProof="0" dirty="0">
                <a:ln>
                  <a:noFill/>
                </a:ln>
                <a:solidFill>
                  <a:schemeClr val="tx1"/>
                </a:solidFill>
                <a:effectLst/>
                <a:uLnTx/>
                <a:uFillTx/>
                <a:latin typeface="Times New Roman" panose="02020503050405090304" pitchFamily="18" charset="0"/>
                <a:ea typeface="+mn-ea"/>
              </a:rPr>
              <a:t> 35 </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 ≡  1 (mod 17).</a:t>
            </a:r>
            <a:endPar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742950" marR="0" lvl="1" indent="-28575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It follows (</a:t>
            </a: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see Exercise </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29)</a:t>
            </a: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 </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that </a:t>
            </a:r>
            <a:r>
              <a:rPr kumimoji="1" lang="en-US" altLang="zh-CN" sz="2000" b="1" i="1" u="none" strike="noStrike" kern="0" cap="none" spc="0" normalizeH="0" baseline="0" noProof="0" dirty="0">
                <a:ln>
                  <a:noFill/>
                </a:ln>
                <a:solidFill>
                  <a:srgbClr val="FF0000"/>
                </a:solidFill>
                <a:effectLst/>
                <a:uLnTx/>
                <a:uFillTx/>
                <a:latin typeface="Times New Roman" panose="02020503050405090304" pitchFamily="18" charset="0"/>
                <a:ea typeface="+mn-ea"/>
              </a:rPr>
              <a:t>b</a:t>
            </a:r>
            <a:r>
              <a:rPr kumimoji="1" lang="en-US" altLang="zh-CN" sz="2000" b="1" i="0" u="none" strike="noStrike" kern="0" cap="none" spc="0" normalizeH="0" baseline="30000" noProof="0" dirty="0">
                <a:ln>
                  <a:noFill/>
                </a:ln>
                <a:solidFill>
                  <a:srgbClr val="FF0000"/>
                </a:solidFill>
                <a:effectLst/>
                <a:uLnTx/>
                <a:uFillTx/>
                <a:latin typeface="Times New Roman" panose="02020503050405090304" pitchFamily="18" charset="0"/>
                <a:ea typeface="+mn-ea"/>
              </a:rPr>
              <a:t>560 </a:t>
            </a:r>
            <a:r>
              <a:rPr kumimoji="1" lang="en-US" altLang="zh-CN" sz="2000" b="1" i="0" u="none" strike="noStrike" kern="0" cap="none" spc="0" normalizeH="0" baseline="0" noProof="0" dirty="0">
                <a:ln>
                  <a:noFill/>
                </a:ln>
                <a:solidFill>
                  <a:srgbClr val="FF0000"/>
                </a:solidFill>
                <a:effectLst/>
                <a:uLnTx/>
                <a:uFillTx/>
                <a:latin typeface="Times New Roman" panose="02020503050405090304" pitchFamily="18" charset="0"/>
                <a:ea typeface="+mn-ea"/>
              </a:rPr>
              <a:t> ≡ 1 (mod 561) </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for all positive integers </a:t>
            </a: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b</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 with </a:t>
            </a:r>
            <a:r>
              <a:rPr kumimoji="1" lang="en-US" altLang="zh-CN" sz="2000" b="0" i="0" u="none" strike="noStrike" kern="0" cap="none" spc="0" normalizeH="0" baseline="0" noProof="0" dirty="0" err="1">
                <a:ln>
                  <a:noFill/>
                </a:ln>
                <a:solidFill>
                  <a:schemeClr val="tx1"/>
                </a:solidFill>
                <a:effectLst/>
                <a:uLnTx/>
                <a:uFillTx/>
                <a:latin typeface="Times New Roman" panose="02020503050405090304" pitchFamily="18" charset="0"/>
                <a:ea typeface="+mn-ea"/>
              </a:rPr>
              <a:t>gcd</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a:t>
            </a: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rPr>
              <a:t>b</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rPr>
              <a:t>,561) = 1. Hence, 561 is a Carmichael number.</a:t>
            </a:r>
            <a:endPar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endParaRPr>
          </a:p>
          <a:p>
            <a:pPr marL="342900" marR="0" lvl="0" indent="-342900" algn="l" defTabSz="914400" rtl="0" eaLnBrk="0" fontAlgn="base" latinLnBrk="0" hangingPunct="0">
              <a:lnSpc>
                <a:spcPct val="100000"/>
              </a:lnSpc>
              <a:spcBef>
                <a:spcPts val="600"/>
              </a:spcBef>
              <a:spcAft>
                <a:spcPct val="0"/>
              </a:spcAft>
              <a:buClr>
                <a:schemeClr val="folHlink"/>
              </a:buClr>
              <a:buSzPct val="60000"/>
              <a:buFont typeface="Wingdings" panose="05000000000000000000" pitchFamily="2" charset="2"/>
              <a:buChar char="n"/>
              <a:defRPr/>
            </a:pP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Even though there are infinitely many Carmichael numbers, there are other tests (described in the exercises) that form the basis for efficient probabilistic primality testing. (</a:t>
            </a:r>
            <a:r>
              <a:rPr kumimoji="1" lang="en-US" altLang="zh-CN" sz="2000" b="0" i="1"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see Chapter </a:t>
            </a:r>
            <a:r>
              <a:rPr kumimoji="1" lang="en-US" altLang="zh-CN" sz="20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7) </a:t>
            </a:r>
            <a:endParaRPr kumimoji="1" lang="en-US" altLang="zh-CN" sz="1800" b="0" i="0" u="none" strike="noStrike" kern="0" cap="none" spc="0" normalizeH="0" baseline="0" noProof="0" dirty="0">
              <a:ln>
                <a:noFill/>
              </a:ln>
              <a:solidFill>
                <a:schemeClr val="tx1"/>
              </a:solidFill>
              <a:effectLst/>
              <a:uLnTx/>
              <a:uFillTx/>
              <a:latin typeface="Cambria Math" panose="02040503050406030204" pitchFamily="18" charset="0"/>
              <a:ea typeface="+mn-ea"/>
              <a:cs typeface="+mn-cs"/>
            </a:endParaRPr>
          </a:p>
          <a:p>
            <a:pPr marL="742950" marR="0" lvl="1" indent="-28575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endParaRPr kumimoji="1" lang="en-US" altLang="zh-CN" sz="1800" b="0" i="0" u="none" strike="noStrike" kern="0" cap="none" spc="0" normalizeH="0" baseline="0" noProof="0" dirty="0">
              <a:ln>
                <a:noFill/>
              </a:ln>
              <a:solidFill>
                <a:schemeClr val="tx1"/>
              </a:solidFill>
              <a:effectLst/>
              <a:uLnTx/>
              <a:uFillTx/>
              <a:latin typeface="Cambria Math" panose="02040503050406030204" pitchFamily="18" charset="0"/>
              <a:ea typeface="+mn-ea"/>
            </a:endParaRPr>
          </a:p>
          <a:p>
            <a:pPr marL="742950" marR="0" lvl="1" indent="-28575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endParaRPr kumimoji="1" lang="en-US" altLang="zh-CN" sz="1800" b="0" i="0" u="none" strike="noStrike" kern="0" cap="none" spc="0" normalizeH="0" baseline="0" noProof="0" dirty="0">
              <a:ln>
                <a:noFill/>
              </a:ln>
              <a:solidFill>
                <a:schemeClr val="tx1"/>
              </a:solidFill>
              <a:effectLst/>
              <a:uLnTx/>
              <a:uFillTx/>
              <a:latin typeface="Cambria Math" panose="02040503050406030204" pitchFamily="18" charset="0"/>
              <a:ea typeface="+mn-ea"/>
            </a:endParaRPr>
          </a:p>
          <a:p>
            <a:pPr marL="742950" marR="0" lvl="1" indent="-285750" algn="l" defTabSz="914400" rtl="0" eaLnBrk="0" fontAlgn="base" latinLnBrk="0" hangingPunct="0">
              <a:lnSpc>
                <a:spcPct val="100000"/>
              </a:lnSpc>
              <a:spcBef>
                <a:spcPts val="600"/>
              </a:spcBef>
              <a:spcAft>
                <a:spcPct val="0"/>
              </a:spcAft>
              <a:buClr>
                <a:schemeClr val="hlink"/>
              </a:buClr>
              <a:buSzPct val="55000"/>
              <a:buFont typeface="Wingdings" panose="05000000000000000000" pitchFamily="2" charset="2"/>
              <a:buChar char="n"/>
              <a:defRPr/>
            </a:pPr>
            <a:endParaRPr kumimoji="1" lang="en-US" altLang="zh-CN" sz="1800" b="0" i="0" u="none" strike="noStrike" kern="0" cap="none" spc="0" normalizeH="0" baseline="0" noProof="0" dirty="0">
              <a:ln>
                <a:noFill/>
              </a:ln>
              <a:solidFill>
                <a:schemeClr val="tx1"/>
              </a:solidFill>
              <a:effectLst/>
              <a:uLnTx/>
              <a:uFillTx/>
              <a:latin typeface="+mn-lt"/>
              <a:ea typeface="+mn-ea"/>
            </a:endParaRPr>
          </a:p>
        </p:txBody>
      </p:sp>
      <p:sp>
        <p:nvSpPr>
          <p:cNvPr id="2970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970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970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29703" name="矩形 1"/>
          <p:cNvSpPr/>
          <p:nvPr/>
        </p:nvSpPr>
        <p:spPr>
          <a:xfrm>
            <a:off x="5435600" y="1474788"/>
            <a:ext cx="3600450" cy="369887"/>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lgn="ctr">
              <a:spcBef>
                <a:spcPct val="0"/>
              </a:spcBef>
              <a:buClrTx/>
              <a:buSzTx/>
              <a:buFontTx/>
              <a:buNone/>
            </a:pPr>
            <a:r>
              <a:rPr lang="en-US" altLang="zh-CN" sz="1800" b="1" i="1" dirty="0">
                <a:latin typeface="Times New Roman" panose="02020503050405090304" pitchFamily="18" charset="0"/>
              </a:rPr>
              <a:t>b</a:t>
            </a:r>
            <a:r>
              <a:rPr lang="en-US" altLang="zh-CN" sz="1800" b="1" i="1" baseline="30000" dirty="0">
                <a:latin typeface="Times New Roman" panose="02020503050405090304" pitchFamily="18" charset="0"/>
              </a:rPr>
              <a:t>n-1</a:t>
            </a:r>
            <a:r>
              <a:rPr lang="en-US" altLang="zh-CN" sz="1800" b="1" i="1" dirty="0">
                <a:latin typeface="Times New Roman" panose="02020503050405090304" pitchFamily="18" charset="0"/>
              </a:rPr>
              <a:t> ≡ 1 (mod n),  b</a:t>
            </a:r>
            <a:r>
              <a:rPr lang="en-US" altLang="zh-CN" sz="1800" b="1" i="1" baseline="30000" dirty="0">
                <a:latin typeface="Times New Roman" panose="02020503050405090304" pitchFamily="18" charset="0"/>
              </a:rPr>
              <a:t>560</a:t>
            </a:r>
            <a:r>
              <a:rPr lang="en-US" altLang="zh-CN" sz="1800" b="1" i="1" dirty="0">
                <a:latin typeface="Times New Roman" panose="02020503050405090304" pitchFamily="18" charset="0"/>
              </a:rPr>
              <a:t> ≡ 1 (mod 561)</a:t>
            </a:r>
            <a:endParaRPr lang="zh-CN" altLang="en-US" sz="1800" b="1" i="1" dirty="0">
              <a:latin typeface="Times New Roman" panose="0202050305040509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a:xfrm>
            <a:off x="1023938" y="115888"/>
            <a:ext cx="7793037" cy="649287"/>
          </a:xfrm>
        </p:spPr>
        <p:txBody>
          <a:bodyPr vert="horz" wrap="square" lIns="91440" tIns="45720" rIns="91440" bIns="45720" anchor="b" anchorCtr="0"/>
          <a:p>
            <a:r>
              <a:rPr lang="en-US" altLang="zh-CN" sz="3200" b="0" dirty="0">
                <a:latin typeface="Copperplate Gothic Bold" panose="020E0705020206020404" pitchFamily="34" charset="0"/>
              </a:rPr>
              <a:t>Primitive Roots  (</a:t>
            </a:r>
            <a:r>
              <a:rPr lang="zh-CN" altLang="en-US" sz="3200" b="0" dirty="0">
                <a:latin typeface="Copperplate Gothic Bold" panose="020E0705020206020404" pitchFamily="34" charset="0"/>
              </a:rPr>
              <a:t>原根</a:t>
            </a:r>
            <a:r>
              <a:rPr lang="en-US" altLang="zh-CN" sz="3200" b="0" dirty="0">
                <a:latin typeface="Copperplate Gothic Bold" panose="020E0705020206020404" pitchFamily="34" charset="0"/>
              </a:rPr>
              <a:t>)</a:t>
            </a:r>
            <a:endParaRPr lang="zh-CN" altLang="en-US" sz="3200" b="0" dirty="0">
              <a:latin typeface="Copperplate Gothic Bold" panose="020E0705020206020404" pitchFamily="34" charset="0"/>
            </a:endParaRPr>
          </a:p>
        </p:txBody>
      </p:sp>
      <p:sp>
        <p:nvSpPr>
          <p:cNvPr id="30723" name="内容占位符 2"/>
          <p:cNvSpPr>
            <a:spLocks noGrp="1"/>
          </p:cNvSpPr>
          <p:nvPr>
            <p:ph idx="1"/>
          </p:nvPr>
        </p:nvSpPr>
        <p:spPr>
          <a:xfrm>
            <a:off x="536575" y="938213"/>
            <a:ext cx="8280400" cy="2419350"/>
          </a:xfrm>
        </p:spPr>
        <p:txBody>
          <a:bodyPr vert="horz" wrap="square" lIns="91440" tIns="45720" rIns="91440" bIns="45720" anchor="t" anchorCtr="0"/>
          <a:p>
            <a:r>
              <a:rPr lang="en-US" altLang="zh-CN" sz="2800" b="1" dirty="0">
                <a:latin typeface="Times New Roman" panose="02020503050405090304" pitchFamily="18" charset="0"/>
              </a:rPr>
              <a:t>Definition 3</a:t>
            </a:r>
            <a:r>
              <a:rPr lang="en-US" altLang="zh-CN" b="1" dirty="0">
                <a:latin typeface="Times New Roman" panose="02020503050405090304" pitchFamily="18" charset="0"/>
              </a:rPr>
              <a:t> </a:t>
            </a:r>
            <a:endParaRPr lang="en-US" altLang="zh-CN" b="1" dirty="0">
              <a:latin typeface="Times New Roman" panose="02020503050405090304" pitchFamily="18" charset="0"/>
            </a:endParaRPr>
          </a:p>
          <a:p>
            <a:pPr lvl="1"/>
            <a:r>
              <a:rPr lang="en-US" altLang="zh-CN" sz="2400" dirty="0">
                <a:latin typeface="Times New Roman" panose="02020503050405090304" pitchFamily="18" charset="0"/>
              </a:rPr>
              <a:t>A </a:t>
            </a:r>
            <a:r>
              <a:rPr lang="en-US" altLang="zh-CN" sz="2400" b="1" dirty="0">
                <a:latin typeface="Times New Roman" panose="02020503050405090304" pitchFamily="18" charset="0"/>
              </a:rPr>
              <a:t>primitive root</a:t>
            </a:r>
            <a:r>
              <a:rPr lang="en-US" altLang="zh-CN" sz="2400" dirty="0">
                <a:latin typeface="Times New Roman" panose="02020503050405090304" pitchFamily="18" charset="0"/>
              </a:rPr>
              <a:t> modulo a prime </a:t>
            </a:r>
            <a:r>
              <a:rPr lang="en-US" altLang="zh-CN" sz="2400" i="1" dirty="0">
                <a:solidFill>
                  <a:srgbClr val="FF0000"/>
                </a:solidFill>
                <a:latin typeface="Times New Roman" panose="02020503050405090304" pitchFamily="18" charset="0"/>
              </a:rPr>
              <a:t>p</a:t>
            </a:r>
            <a:r>
              <a:rPr lang="en-US" altLang="zh-CN" sz="2400" dirty="0">
                <a:latin typeface="Times New Roman" panose="02020503050405090304" pitchFamily="18" charset="0"/>
              </a:rPr>
              <a:t> is an integer </a:t>
            </a:r>
            <a:r>
              <a:rPr lang="en-US" altLang="zh-CN" sz="2400" i="1" dirty="0">
                <a:solidFill>
                  <a:srgbClr val="FF0000"/>
                </a:solidFill>
                <a:latin typeface="Times New Roman" panose="02020503050405090304" pitchFamily="18" charset="0"/>
              </a:rPr>
              <a:t>r</a:t>
            </a:r>
            <a:r>
              <a:rPr lang="en-US" altLang="zh-CN" sz="2400" dirty="0">
                <a:latin typeface="Times New Roman" panose="02020503050405090304" pitchFamily="18" charset="0"/>
              </a:rPr>
              <a:t> in </a:t>
            </a:r>
            <a:r>
              <a:rPr lang="en-US" altLang="zh-CN" sz="2400" dirty="0">
                <a:solidFill>
                  <a:srgbClr val="FF0000"/>
                </a:solidFill>
                <a:latin typeface="Times New Roman" panose="02020503050405090304" pitchFamily="18" charset="0"/>
              </a:rPr>
              <a:t>Zp</a:t>
            </a:r>
            <a:r>
              <a:rPr lang="en-US" altLang="zh-CN" sz="2400" dirty="0">
                <a:latin typeface="Times New Roman" panose="02020503050405090304" pitchFamily="18" charset="0"/>
              </a:rPr>
              <a:t>, such that every nonzero element of Zp is a power of </a:t>
            </a:r>
            <a:r>
              <a:rPr lang="en-US" altLang="zh-CN" sz="2400" i="1" dirty="0">
                <a:latin typeface="Times New Roman" panose="02020503050405090304" pitchFamily="18" charset="0"/>
              </a:rPr>
              <a:t>r</a:t>
            </a:r>
            <a:r>
              <a:rPr lang="en-US" altLang="zh-CN" sz="2400" dirty="0">
                <a:latin typeface="Times New Roman" panose="02020503050405090304" pitchFamily="18" charset="0"/>
              </a:rPr>
              <a:t>.</a:t>
            </a:r>
            <a:endParaRPr lang="en-US" altLang="zh-CN" sz="2400" dirty="0">
              <a:latin typeface="Times New Roman" panose="02020503050405090304" pitchFamily="18" charset="0"/>
            </a:endParaRPr>
          </a:p>
          <a:p>
            <a:r>
              <a:rPr lang="en-US" altLang="zh-CN" sz="2800" b="1" dirty="0">
                <a:latin typeface="Times New Roman" panose="02020503050405090304" pitchFamily="18" charset="0"/>
              </a:rPr>
              <a:t>Example 12 </a:t>
            </a:r>
            <a:endParaRPr lang="en-US" altLang="zh-CN" sz="2800" b="1" dirty="0">
              <a:latin typeface="Times New Roman" panose="02020503050405090304" pitchFamily="18" charset="0"/>
            </a:endParaRPr>
          </a:p>
          <a:p>
            <a:pPr lvl="1"/>
            <a:r>
              <a:rPr lang="en-US" altLang="zh-CN" sz="2400" dirty="0">
                <a:latin typeface="Times New Roman" panose="02020503050405090304" pitchFamily="18" charset="0"/>
              </a:rPr>
              <a:t>Determine whether 2 and 3 are primitive roots modulo 11. </a:t>
            </a:r>
            <a:endParaRPr lang="zh-CN" altLang="en-US" sz="2400" dirty="0">
              <a:latin typeface="Times New Roman" panose="02020503050405090304" pitchFamily="18" charset="0"/>
              <a:ea typeface="Times New Roman" panose="02020503050405090304" pitchFamily="18" charset="0"/>
            </a:endParaRPr>
          </a:p>
        </p:txBody>
      </p:sp>
      <p:sp>
        <p:nvSpPr>
          <p:cNvPr id="3072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072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072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30727" name="矩形 1"/>
          <p:cNvSpPr/>
          <p:nvPr/>
        </p:nvSpPr>
        <p:spPr>
          <a:xfrm>
            <a:off x="971550" y="3284538"/>
            <a:ext cx="7508875" cy="21542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342900" lvl="0" indent="-342900">
              <a:spcBef>
                <a:spcPct val="0"/>
              </a:spcBef>
              <a:buClr>
                <a:schemeClr val="tx2"/>
              </a:buClr>
            </a:pPr>
            <a:r>
              <a:rPr lang="en-US" altLang="zh-CN" sz="2400" dirty="0">
                <a:latin typeface="Times New Roman" panose="02020503050405090304" pitchFamily="18" charset="0"/>
                <a:cs typeface="Times New Roman" panose="02020503050405090304" pitchFamily="18" charset="0"/>
              </a:rPr>
              <a:t>Since every element of Z</a:t>
            </a:r>
            <a:r>
              <a:rPr lang="en-US" altLang="zh-CN" sz="2400" baseline="-25000" dirty="0">
                <a:latin typeface="Times New Roman" panose="02020503050405090304" pitchFamily="18" charset="0"/>
                <a:cs typeface="Cambria Math" panose="02040503050406030204" pitchFamily="18" charset="0"/>
              </a:rPr>
              <a:t>11</a:t>
            </a:r>
            <a:r>
              <a:rPr lang="en-US" altLang="zh-CN" sz="2400" dirty="0">
                <a:latin typeface="Times New Roman" panose="02020503050405090304" pitchFamily="18" charset="0"/>
                <a:cs typeface="Times New Roman" panose="02020503050405090304" pitchFamily="18" charset="0"/>
              </a:rPr>
              <a:t> is a power of </a:t>
            </a:r>
            <a:r>
              <a:rPr lang="en-US" altLang="zh-CN" sz="2400" dirty="0">
                <a:latin typeface="Times New Roman" panose="02020503050405090304" pitchFamily="18" charset="0"/>
              </a:rPr>
              <a:t>2 mod 11, 2 is a primitive root of 11.</a:t>
            </a:r>
            <a:r>
              <a:rPr lang="en-US" altLang="zh-CN" sz="2400" dirty="0">
                <a:latin typeface="Times New Roman" panose="02020503050405090304" pitchFamily="18" charset="0"/>
                <a:cs typeface="Times New Roman" panose="02020503050405090304" pitchFamily="18" charset="0"/>
              </a:rPr>
              <a:t>  </a:t>
            </a:r>
            <a:r>
              <a:rPr lang="en-US" altLang="zh-CN" sz="1900" dirty="0">
                <a:latin typeface="Times New Roman" panose="02020503050405090304" pitchFamily="18" charset="0"/>
                <a:cs typeface="Times New Roman" panose="02020503050405090304" pitchFamily="18" charset="0"/>
              </a:rPr>
              <a:t> Powers of </a:t>
            </a:r>
            <a:r>
              <a:rPr lang="en-US" altLang="zh-CN" sz="1900" dirty="0">
                <a:latin typeface="Times New Roman" panose="02020503050405090304" pitchFamily="18" charset="0"/>
              </a:rPr>
              <a:t>2 (modulo 11): 2</a:t>
            </a:r>
            <a:r>
              <a:rPr lang="en-US" altLang="zh-CN" sz="1900" baseline="30000" dirty="0">
                <a:latin typeface="Times New Roman" panose="02020503050405090304" pitchFamily="18" charset="0"/>
              </a:rPr>
              <a:t>1</a:t>
            </a:r>
            <a:r>
              <a:rPr lang="en-US" altLang="zh-CN" sz="1900" dirty="0">
                <a:latin typeface="Times New Roman" panose="02020503050405090304" pitchFamily="18" charset="0"/>
              </a:rPr>
              <a:t> = 2, 2</a:t>
            </a:r>
            <a:r>
              <a:rPr lang="en-US" altLang="zh-CN" sz="1900" baseline="30000" dirty="0">
                <a:latin typeface="Times New Roman" panose="02020503050405090304" pitchFamily="18" charset="0"/>
              </a:rPr>
              <a:t>2</a:t>
            </a:r>
            <a:r>
              <a:rPr lang="en-US" altLang="zh-CN" sz="1900" dirty="0">
                <a:latin typeface="Times New Roman" panose="02020503050405090304" pitchFamily="18" charset="0"/>
              </a:rPr>
              <a:t> = 4, 2</a:t>
            </a:r>
            <a:r>
              <a:rPr lang="en-US" altLang="zh-CN" sz="1900" baseline="30000" dirty="0">
                <a:latin typeface="Times New Roman" panose="02020503050405090304" pitchFamily="18" charset="0"/>
              </a:rPr>
              <a:t>3</a:t>
            </a:r>
            <a:r>
              <a:rPr lang="en-US" altLang="zh-CN" sz="1900" dirty="0">
                <a:latin typeface="Times New Roman" panose="02020503050405090304" pitchFamily="18" charset="0"/>
              </a:rPr>
              <a:t> = 8, 2</a:t>
            </a:r>
            <a:r>
              <a:rPr lang="en-US" altLang="zh-CN" sz="1900" baseline="30000" dirty="0">
                <a:latin typeface="Times New Roman" panose="02020503050405090304" pitchFamily="18" charset="0"/>
              </a:rPr>
              <a:t>4</a:t>
            </a:r>
            <a:r>
              <a:rPr lang="en-US" altLang="zh-CN" sz="1900" dirty="0">
                <a:latin typeface="Times New Roman" panose="02020503050405090304" pitchFamily="18" charset="0"/>
              </a:rPr>
              <a:t> = 5, 2</a:t>
            </a:r>
            <a:r>
              <a:rPr lang="en-US" altLang="zh-CN" sz="1900" baseline="30000" dirty="0">
                <a:latin typeface="Times New Roman" panose="02020503050405090304" pitchFamily="18" charset="0"/>
              </a:rPr>
              <a:t>5</a:t>
            </a:r>
            <a:r>
              <a:rPr lang="en-US" altLang="zh-CN" sz="1900" dirty="0">
                <a:latin typeface="Times New Roman" panose="02020503050405090304" pitchFamily="18" charset="0"/>
              </a:rPr>
              <a:t> = 10, 2</a:t>
            </a:r>
            <a:r>
              <a:rPr lang="en-US" altLang="zh-CN" sz="1900" baseline="30000" dirty="0">
                <a:latin typeface="Times New Roman" panose="02020503050405090304" pitchFamily="18" charset="0"/>
              </a:rPr>
              <a:t>6</a:t>
            </a:r>
            <a:r>
              <a:rPr lang="en-US" altLang="zh-CN" sz="1900" dirty="0">
                <a:latin typeface="Times New Roman" panose="02020503050405090304" pitchFamily="18" charset="0"/>
              </a:rPr>
              <a:t> = 9, 2</a:t>
            </a:r>
            <a:r>
              <a:rPr lang="en-US" altLang="zh-CN" sz="1900" baseline="30000" dirty="0">
                <a:latin typeface="Times New Roman" panose="02020503050405090304" pitchFamily="18" charset="0"/>
              </a:rPr>
              <a:t>7</a:t>
            </a:r>
            <a:r>
              <a:rPr lang="en-US" altLang="zh-CN" sz="1900" dirty="0">
                <a:latin typeface="Times New Roman" panose="02020503050405090304" pitchFamily="18" charset="0"/>
              </a:rPr>
              <a:t> = 7, 2</a:t>
            </a:r>
            <a:r>
              <a:rPr lang="en-US" altLang="zh-CN" sz="1900" baseline="30000" dirty="0">
                <a:latin typeface="Times New Roman" panose="02020503050405090304" pitchFamily="18" charset="0"/>
              </a:rPr>
              <a:t>8</a:t>
            </a:r>
            <a:r>
              <a:rPr lang="en-US" altLang="zh-CN" sz="1900" dirty="0">
                <a:latin typeface="Times New Roman" panose="02020503050405090304" pitchFamily="18" charset="0"/>
              </a:rPr>
              <a:t> = 3, 2</a:t>
            </a:r>
            <a:r>
              <a:rPr lang="en-US" altLang="zh-CN" sz="1900" baseline="30000" dirty="0">
                <a:latin typeface="Times New Roman" panose="02020503050405090304" pitchFamily="18" charset="0"/>
              </a:rPr>
              <a:t>9</a:t>
            </a:r>
            <a:r>
              <a:rPr lang="en-US" altLang="zh-CN" sz="1900" dirty="0">
                <a:latin typeface="Times New Roman" panose="02020503050405090304" pitchFamily="18" charset="0"/>
              </a:rPr>
              <a:t> = 6, 2</a:t>
            </a:r>
            <a:r>
              <a:rPr lang="en-US" altLang="zh-CN" sz="1900" baseline="30000" dirty="0">
                <a:latin typeface="Times New Roman" panose="02020503050405090304" pitchFamily="18" charset="0"/>
              </a:rPr>
              <a:t>10</a:t>
            </a:r>
            <a:r>
              <a:rPr lang="en-US" altLang="zh-CN" sz="1900" dirty="0">
                <a:latin typeface="Times New Roman" panose="02020503050405090304" pitchFamily="18" charset="0"/>
              </a:rPr>
              <a:t> = 1.</a:t>
            </a:r>
            <a:endParaRPr lang="en-US" altLang="zh-CN" sz="1900" dirty="0">
              <a:latin typeface="Times New Roman" panose="02020503050405090304" pitchFamily="18" charset="0"/>
            </a:endParaRPr>
          </a:p>
          <a:p>
            <a:pPr marL="342900" lvl="0" indent="-342900">
              <a:spcBef>
                <a:spcPct val="0"/>
              </a:spcBef>
              <a:buClr>
                <a:schemeClr val="tx2"/>
              </a:buClr>
            </a:pPr>
            <a:r>
              <a:rPr lang="en-US" altLang="zh-CN" sz="2400" dirty="0">
                <a:latin typeface="Times New Roman" panose="02020503050405090304" pitchFamily="18" charset="0"/>
                <a:cs typeface="Times New Roman" panose="02020503050405090304" pitchFamily="18" charset="0"/>
              </a:rPr>
              <a:t>Since not all elements of Z</a:t>
            </a:r>
            <a:r>
              <a:rPr lang="en-US" altLang="zh-CN" sz="2400" baseline="-25000" dirty="0">
                <a:latin typeface="Times New Roman" panose="02020503050405090304" pitchFamily="18" charset="0"/>
              </a:rPr>
              <a:t>11</a:t>
            </a:r>
            <a:r>
              <a:rPr lang="en-US" altLang="zh-CN" sz="2400" dirty="0">
                <a:latin typeface="Times New Roman" panose="02020503050405090304" pitchFamily="18" charset="0"/>
                <a:cs typeface="Times New Roman" panose="02020503050405090304" pitchFamily="18" charset="0"/>
              </a:rPr>
              <a:t> are powers of </a:t>
            </a:r>
            <a:r>
              <a:rPr lang="en-US" altLang="zh-CN" sz="2400" dirty="0">
                <a:latin typeface="Times New Roman" panose="02020503050405090304" pitchFamily="18" charset="0"/>
              </a:rPr>
              <a:t>3, 3 is not a primitive root of 11.</a:t>
            </a:r>
            <a:r>
              <a:rPr lang="en-US" altLang="zh-CN" sz="2400" dirty="0">
                <a:latin typeface="Times New Roman" panose="02020503050405090304" pitchFamily="18" charset="0"/>
                <a:cs typeface="Times New Roman" panose="02020503050405090304" pitchFamily="18" charset="0"/>
              </a:rPr>
              <a:t>  </a:t>
            </a:r>
            <a:r>
              <a:rPr lang="en-US" altLang="zh-CN" sz="1900" dirty="0">
                <a:latin typeface="Times New Roman" panose="02020503050405090304" pitchFamily="18" charset="0"/>
                <a:cs typeface="Times New Roman" panose="02020503050405090304" pitchFamily="18" charset="0"/>
              </a:rPr>
              <a:t>Powers of </a:t>
            </a:r>
            <a:r>
              <a:rPr lang="en-US" altLang="zh-CN" sz="1900" dirty="0">
                <a:latin typeface="Times New Roman" panose="02020503050405090304" pitchFamily="18" charset="0"/>
              </a:rPr>
              <a:t> 3 (modulo 11): 3</a:t>
            </a:r>
            <a:r>
              <a:rPr lang="en-US" altLang="zh-CN" sz="1900" baseline="30000" dirty="0">
                <a:latin typeface="Times New Roman" panose="02020503050405090304" pitchFamily="18" charset="0"/>
              </a:rPr>
              <a:t>1</a:t>
            </a:r>
            <a:r>
              <a:rPr lang="en-US" altLang="zh-CN" sz="1900" dirty="0">
                <a:latin typeface="Times New Roman" panose="02020503050405090304" pitchFamily="18" charset="0"/>
              </a:rPr>
              <a:t> = 3, 3</a:t>
            </a:r>
            <a:r>
              <a:rPr lang="en-US" altLang="zh-CN" sz="1900" baseline="30000" dirty="0">
                <a:latin typeface="Times New Roman" panose="02020503050405090304" pitchFamily="18" charset="0"/>
              </a:rPr>
              <a:t>2</a:t>
            </a:r>
            <a:r>
              <a:rPr lang="en-US" altLang="zh-CN" sz="1900" dirty="0">
                <a:latin typeface="Times New Roman" panose="02020503050405090304" pitchFamily="18" charset="0"/>
              </a:rPr>
              <a:t> = 9, 3</a:t>
            </a:r>
            <a:r>
              <a:rPr lang="en-US" altLang="zh-CN" sz="1900" baseline="30000" dirty="0">
                <a:latin typeface="Times New Roman" panose="02020503050405090304" pitchFamily="18" charset="0"/>
              </a:rPr>
              <a:t>3</a:t>
            </a:r>
            <a:r>
              <a:rPr lang="en-US" altLang="zh-CN" sz="1900" dirty="0">
                <a:latin typeface="Times New Roman" panose="02020503050405090304" pitchFamily="18" charset="0"/>
              </a:rPr>
              <a:t> = 5, 3</a:t>
            </a:r>
            <a:r>
              <a:rPr lang="en-US" altLang="zh-CN" sz="1900" baseline="30000" dirty="0">
                <a:latin typeface="Times New Roman" panose="02020503050405090304" pitchFamily="18" charset="0"/>
              </a:rPr>
              <a:t>4</a:t>
            </a:r>
            <a:r>
              <a:rPr lang="en-US" altLang="zh-CN" sz="1900" dirty="0">
                <a:latin typeface="Times New Roman" panose="02020503050405090304" pitchFamily="18" charset="0"/>
              </a:rPr>
              <a:t> = 4, 3</a:t>
            </a:r>
            <a:r>
              <a:rPr lang="en-US" altLang="zh-CN" sz="1900" baseline="30000" dirty="0">
                <a:latin typeface="Times New Roman" panose="02020503050405090304" pitchFamily="18" charset="0"/>
              </a:rPr>
              <a:t>5</a:t>
            </a:r>
            <a:r>
              <a:rPr lang="en-US" altLang="zh-CN" sz="1900" dirty="0">
                <a:latin typeface="Times New Roman" panose="02020503050405090304" pitchFamily="18" charset="0"/>
              </a:rPr>
              <a:t> = 1, 3</a:t>
            </a:r>
            <a:r>
              <a:rPr lang="en-US" altLang="zh-CN" sz="1900" baseline="30000" dirty="0">
                <a:latin typeface="Times New Roman" panose="02020503050405090304" pitchFamily="18" charset="0"/>
              </a:rPr>
              <a:t>6</a:t>
            </a:r>
            <a:r>
              <a:rPr lang="en-US" altLang="zh-CN" sz="1900" dirty="0">
                <a:latin typeface="Times New Roman" panose="02020503050405090304" pitchFamily="18" charset="0"/>
              </a:rPr>
              <a:t>=3,</a:t>
            </a:r>
            <a:r>
              <a:rPr lang="zh-CN" altLang="en-US" sz="1900" dirty="0">
                <a:latin typeface="Times New Roman" panose="02020503050405090304" pitchFamily="18" charset="0"/>
              </a:rPr>
              <a:t> </a:t>
            </a:r>
            <a:r>
              <a:rPr lang="en-US" altLang="zh-CN" sz="1900" dirty="0">
                <a:latin typeface="Times New Roman" panose="02020503050405090304" pitchFamily="18" charset="0"/>
              </a:rPr>
              <a:t>and the pattern repeats for higher powers.</a:t>
            </a:r>
            <a:endParaRPr lang="en-US" altLang="zh-CN" sz="1900" dirty="0">
              <a:latin typeface="Times New Roman" panose="02020503050405090304" pitchFamily="18" charset="0"/>
            </a:endParaRPr>
          </a:p>
        </p:txBody>
      </p:sp>
      <p:sp>
        <p:nvSpPr>
          <p:cNvPr id="30728" name="矩形 2"/>
          <p:cNvSpPr/>
          <p:nvPr/>
        </p:nvSpPr>
        <p:spPr>
          <a:xfrm>
            <a:off x="5589588" y="5510213"/>
            <a:ext cx="3227387" cy="1014412"/>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lgn="ctr">
              <a:spcBef>
                <a:spcPct val="0"/>
              </a:spcBef>
              <a:buClrTx/>
              <a:buSzTx/>
              <a:buFontTx/>
              <a:buNone/>
            </a:pPr>
            <a:r>
              <a:rPr lang="en-US" altLang="zh-CN" sz="2000" b="1" dirty="0">
                <a:latin typeface="Times New Roman" panose="02020503050405090304" pitchFamily="18" charset="0"/>
              </a:rPr>
              <a:t>There is a primitive root modulo </a:t>
            </a:r>
            <a:r>
              <a:rPr lang="en-US" altLang="zh-CN" sz="2000" b="1" i="1" dirty="0">
                <a:latin typeface="Times New Roman" panose="02020503050405090304" pitchFamily="18" charset="0"/>
              </a:rPr>
              <a:t>p</a:t>
            </a:r>
            <a:r>
              <a:rPr lang="en-US" altLang="zh-CN" sz="2000" b="1" dirty="0">
                <a:latin typeface="Times New Roman" panose="02020503050405090304" pitchFamily="18" charset="0"/>
              </a:rPr>
              <a:t> for every prime number </a:t>
            </a:r>
            <a:r>
              <a:rPr lang="en-US" altLang="zh-CN" sz="2000" b="1" i="1" dirty="0">
                <a:latin typeface="Times New Roman" panose="02020503050405090304" pitchFamily="18" charset="0"/>
              </a:rPr>
              <a:t>p</a:t>
            </a:r>
            <a:r>
              <a:rPr lang="en-US" altLang="zh-CN" sz="2000" b="1" dirty="0">
                <a:latin typeface="Times New Roman" panose="02020503050405090304" pitchFamily="18" charset="0"/>
              </a:rPr>
              <a:t>. </a:t>
            </a:r>
            <a:endParaRPr lang="zh-CN" altLang="en-US" sz="2000" b="1" i="1" u="sng" dirty="0">
              <a:latin typeface="Times New Roman" panose="02020503050405090304" pitchFamily="18" charset="0"/>
            </a:endParaRPr>
          </a:p>
        </p:txBody>
      </p:sp>
      <p:sp>
        <p:nvSpPr>
          <p:cNvPr id="2" name="矩形 1"/>
          <p:cNvSpPr/>
          <p:nvPr/>
        </p:nvSpPr>
        <p:spPr>
          <a:xfrm>
            <a:off x="461963" y="5507038"/>
            <a:ext cx="4767262" cy="1016000"/>
          </a:xfrm>
          <a:prstGeom prst="rect">
            <a:avLst/>
          </a:prstGeom>
          <a:solidFill>
            <a:schemeClr val="accent2"/>
          </a:solidFill>
          <a:ln w="9525">
            <a:noFill/>
          </a:ln>
        </p:spPr>
        <p:txBody>
          <a:bodyPr>
            <a:spAutoFit/>
          </a:bodyPr>
          <a:p>
            <a:pPr algn="ctr"/>
            <a:r>
              <a:rPr lang="zh-CN" altLang="en-US" sz="2000" u="none" dirty="0">
                <a:latin typeface="Times New Roman" panose="02020503050405090304" pitchFamily="18" charset="0"/>
              </a:rPr>
              <a:t>p</a:t>
            </a:r>
            <a:r>
              <a:rPr lang="zh-CN" altLang="en-US" sz="2000" i="0" u="none" dirty="0">
                <a:latin typeface="Times New Roman" panose="02020503050405090304" pitchFamily="18" charset="0"/>
              </a:rPr>
              <a:t>为素数，若存在一个正整数</a:t>
            </a:r>
            <a:r>
              <a:rPr lang="en-US" altLang="zh-CN" sz="2000" u="none" dirty="0">
                <a:latin typeface="Times New Roman" panose="02020503050405090304" pitchFamily="18" charset="0"/>
              </a:rPr>
              <a:t>r</a:t>
            </a:r>
            <a:r>
              <a:rPr lang="zh-CN" altLang="en-US" sz="2000" i="0" u="none" dirty="0">
                <a:latin typeface="Times New Roman" panose="02020503050405090304" pitchFamily="18" charset="0"/>
              </a:rPr>
              <a:t>，使得 </a:t>
            </a:r>
            <a:r>
              <a:rPr lang="en-US" altLang="zh-CN" sz="2000" u="none" dirty="0">
                <a:latin typeface="Times New Roman" panose="02020503050405090304" pitchFamily="18" charset="0"/>
              </a:rPr>
              <a:t>r</a:t>
            </a:r>
            <a:r>
              <a:rPr lang="zh-CN" altLang="en-US" sz="2000" u="none" dirty="0">
                <a:latin typeface="Times New Roman" panose="02020503050405090304" pitchFamily="18" charset="0"/>
              </a:rPr>
              <a:t>, </a:t>
            </a:r>
            <a:r>
              <a:rPr lang="en-US" altLang="zh-CN" sz="2000" u="none" dirty="0">
                <a:latin typeface="Times New Roman" panose="02020503050405090304" pitchFamily="18" charset="0"/>
              </a:rPr>
              <a:t>r</a:t>
            </a:r>
            <a:r>
              <a:rPr lang="zh-CN" altLang="en-US" sz="2000" u="none" baseline="30000" dirty="0">
                <a:latin typeface="Times New Roman" panose="02020503050405090304" pitchFamily="18" charset="0"/>
              </a:rPr>
              <a:t>2</a:t>
            </a:r>
            <a:r>
              <a:rPr lang="zh-CN" altLang="en-US" sz="2000" u="none" dirty="0">
                <a:latin typeface="Times New Roman" panose="02020503050405090304" pitchFamily="18" charset="0"/>
              </a:rPr>
              <a:t>, </a:t>
            </a:r>
            <a:r>
              <a:rPr lang="en-US" altLang="zh-CN" sz="2000" u="none" dirty="0">
                <a:latin typeface="Times New Roman" panose="02020503050405090304" pitchFamily="18" charset="0"/>
              </a:rPr>
              <a:t>r</a:t>
            </a:r>
            <a:r>
              <a:rPr lang="zh-CN" altLang="en-US" sz="2000" u="none" baseline="30000" dirty="0">
                <a:latin typeface="Times New Roman" panose="02020503050405090304" pitchFamily="18" charset="0"/>
              </a:rPr>
              <a:t>3</a:t>
            </a:r>
            <a:r>
              <a:rPr lang="zh-CN" altLang="en-US" sz="2000" u="none" dirty="0">
                <a:latin typeface="Times New Roman" panose="02020503050405090304" pitchFamily="18" charset="0"/>
              </a:rPr>
              <a:t>, … , </a:t>
            </a:r>
            <a:r>
              <a:rPr lang="en-US" altLang="zh-CN" sz="2000" u="none" dirty="0">
                <a:latin typeface="Times New Roman" panose="02020503050405090304" pitchFamily="18" charset="0"/>
              </a:rPr>
              <a:t>r</a:t>
            </a:r>
            <a:r>
              <a:rPr lang="zh-CN" altLang="en-US" sz="2000" u="none" baseline="30000" dirty="0">
                <a:latin typeface="Times New Roman" panose="02020503050405090304" pitchFamily="18" charset="0"/>
              </a:rPr>
              <a:t>p−1</a:t>
            </a:r>
            <a:r>
              <a:rPr lang="zh-CN" altLang="en-US" sz="2000" u="none" dirty="0">
                <a:latin typeface="Times New Roman" panose="02020503050405090304" pitchFamily="18" charset="0"/>
              </a:rPr>
              <a:t> </a:t>
            </a:r>
            <a:r>
              <a:rPr lang="zh-CN" altLang="en-US" sz="2000" i="0" u="none" dirty="0">
                <a:latin typeface="Times New Roman" panose="02020503050405090304" pitchFamily="18" charset="0"/>
              </a:rPr>
              <a:t>模</a:t>
            </a:r>
            <a:r>
              <a:rPr lang="zh-CN" altLang="en-US" sz="2000" u="none" dirty="0">
                <a:latin typeface="Times New Roman" panose="02020503050405090304" pitchFamily="18" charset="0"/>
              </a:rPr>
              <a:t>p</a:t>
            </a:r>
            <a:r>
              <a:rPr lang="zh-CN" altLang="en-US" sz="2000" i="0" u="none" dirty="0">
                <a:latin typeface="Times New Roman" panose="02020503050405090304" pitchFamily="18" charset="0"/>
              </a:rPr>
              <a:t>互不同余，则称</a:t>
            </a:r>
            <a:r>
              <a:rPr lang="en-US" altLang="zh-CN" sz="2000" u="none" dirty="0">
                <a:latin typeface="Times New Roman" panose="02020503050405090304" pitchFamily="18" charset="0"/>
              </a:rPr>
              <a:t>r</a:t>
            </a:r>
            <a:r>
              <a:rPr lang="zh-CN" altLang="en-US" sz="2000" i="0" u="none" dirty="0">
                <a:latin typeface="Times New Roman" panose="02020503050405090304" pitchFamily="18" charset="0"/>
              </a:rPr>
              <a:t>为模</a:t>
            </a:r>
            <a:r>
              <a:rPr lang="zh-CN" altLang="en-US" sz="2000" u="none" dirty="0">
                <a:latin typeface="Times New Roman" panose="02020503050405090304" pitchFamily="18" charset="0"/>
              </a:rPr>
              <a:t>p</a:t>
            </a:r>
            <a:r>
              <a:rPr lang="zh-CN" altLang="en-US" sz="2000" i="0" u="none" dirty="0">
                <a:latin typeface="Times New Roman" panose="02020503050405090304" pitchFamily="18" charset="0"/>
              </a:rPr>
              <a:t>的一个原根</a:t>
            </a:r>
            <a:endParaRPr lang="zh-CN" altLang="en-US" sz="2000" i="0" u="none" dirty="0">
              <a:latin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8" grpId="0" animBg="1"/>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1"/>
          <p:cNvSpPr>
            <a:spLocks noGrp="1"/>
          </p:cNvSpPr>
          <p:nvPr>
            <p:ph type="title"/>
          </p:nvPr>
        </p:nvSpPr>
        <p:spPr>
          <a:xfrm>
            <a:off x="1042988" y="115888"/>
            <a:ext cx="7672387" cy="647700"/>
          </a:xfrm>
        </p:spPr>
        <p:txBody>
          <a:bodyPr vert="horz" wrap="square" lIns="91440" tIns="45720" rIns="91440" bIns="45720" anchor="b" anchorCtr="0"/>
          <a:p>
            <a:r>
              <a:rPr lang="en-US" altLang="zh-CN" sz="3200" b="0" dirty="0">
                <a:latin typeface="Copperplate Gothic Bold" panose="020E0705020206020404" pitchFamily="34" charset="0"/>
              </a:rPr>
              <a:t>Discrete Logarithms (</a:t>
            </a:r>
            <a:r>
              <a:rPr lang="zh-CN" altLang="en-US" sz="3200" b="0" dirty="0">
                <a:latin typeface="Copperplate Gothic Bold" panose="020E0705020206020404" pitchFamily="34" charset="0"/>
              </a:rPr>
              <a:t>离散对数</a:t>
            </a:r>
            <a:r>
              <a:rPr lang="en-US" altLang="zh-CN" sz="3200" b="0" dirty="0">
                <a:latin typeface="Copperplate Gothic Bold" panose="020E0705020206020404" pitchFamily="34" charset="0"/>
              </a:rPr>
              <a:t>)</a:t>
            </a:r>
            <a:endParaRPr lang="zh-CN" altLang="en-US" sz="3200" b="0" dirty="0">
              <a:latin typeface="Copperplate Gothic Bold" panose="020E0705020206020404" pitchFamily="34" charset="0"/>
            </a:endParaRPr>
          </a:p>
        </p:txBody>
      </p:sp>
      <p:sp>
        <p:nvSpPr>
          <p:cNvPr id="32771" name="内容占位符 2"/>
          <p:cNvSpPr>
            <a:spLocks noGrp="1"/>
          </p:cNvSpPr>
          <p:nvPr>
            <p:ph idx="1"/>
          </p:nvPr>
        </p:nvSpPr>
        <p:spPr>
          <a:xfrm>
            <a:off x="395288" y="981075"/>
            <a:ext cx="8555037" cy="2952750"/>
          </a:xfrm>
        </p:spPr>
        <p:txBody>
          <a:bodyPr vert="horz" wrap="square" lIns="91440" tIns="45720" rIns="91440" bIns="45720" anchor="t" anchorCtr="0"/>
          <a:p>
            <a:r>
              <a:rPr lang="en-US" altLang="zh-CN" sz="2800" b="1" dirty="0">
                <a:latin typeface="Times New Roman" panose="02020503050405090304" pitchFamily="18" charset="0"/>
              </a:rPr>
              <a:t>Definition 4 </a:t>
            </a:r>
            <a:endParaRPr lang="en-US" altLang="zh-CN" sz="2800" b="1" dirty="0">
              <a:latin typeface="Times New Roman" panose="02020503050405090304" pitchFamily="18" charset="0"/>
            </a:endParaRPr>
          </a:p>
          <a:p>
            <a:pPr lvl="1">
              <a:lnSpc>
                <a:spcPct val="110000"/>
              </a:lnSpc>
              <a:spcBef>
                <a:spcPts val="1200"/>
              </a:spcBef>
              <a:spcAft>
                <a:spcPts val="600"/>
              </a:spcAft>
            </a:pPr>
            <a:r>
              <a:rPr lang="en-US" altLang="zh-CN" sz="2400" dirty="0">
                <a:latin typeface="Times New Roman" panose="02020503050405090304" pitchFamily="18" charset="0"/>
              </a:rPr>
              <a:t>Suppose that </a:t>
            </a:r>
            <a:r>
              <a:rPr lang="en-US" altLang="zh-CN" sz="2400" i="1" dirty="0">
                <a:latin typeface="Times New Roman" panose="02020503050405090304" pitchFamily="18" charset="0"/>
              </a:rPr>
              <a:t>p</a:t>
            </a:r>
            <a:r>
              <a:rPr lang="en-US" altLang="zh-CN" sz="2400" dirty="0">
                <a:latin typeface="Times New Roman" panose="02020503050405090304" pitchFamily="18" charset="0"/>
              </a:rPr>
              <a:t> is a prime, </a:t>
            </a:r>
            <a:r>
              <a:rPr lang="en-US" altLang="zh-CN" sz="2400" i="1" dirty="0">
                <a:latin typeface="Times New Roman" panose="02020503050405090304" pitchFamily="18" charset="0"/>
              </a:rPr>
              <a:t>r</a:t>
            </a:r>
            <a:r>
              <a:rPr lang="en-US" altLang="zh-CN" sz="2400" dirty="0">
                <a:latin typeface="Times New Roman" panose="02020503050405090304" pitchFamily="18" charset="0"/>
              </a:rPr>
              <a:t> is a primitive root modulo </a:t>
            </a:r>
            <a:r>
              <a:rPr lang="en-US" altLang="zh-CN" sz="2400" i="1" dirty="0">
                <a:latin typeface="Times New Roman" panose="02020503050405090304" pitchFamily="18" charset="0"/>
              </a:rPr>
              <a:t>p</a:t>
            </a:r>
            <a:r>
              <a:rPr lang="en-US" altLang="zh-CN" sz="2400" dirty="0">
                <a:latin typeface="Times New Roman" panose="02020503050405090304" pitchFamily="18" charset="0"/>
              </a:rPr>
              <a:t>, and </a:t>
            </a:r>
            <a:r>
              <a:rPr lang="en-US" altLang="zh-CN" sz="2400" i="1" dirty="0">
                <a:latin typeface="Times New Roman" panose="02020503050405090304" pitchFamily="18" charset="0"/>
              </a:rPr>
              <a:t>a</a:t>
            </a:r>
            <a:r>
              <a:rPr lang="en-US" altLang="zh-CN" sz="2400" dirty="0">
                <a:latin typeface="Times New Roman" panose="02020503050405090304" pitchFamily="18" charset="0"/>
              </a:rPr>
              <a:t> is an integer between 1 and </a:t>
            </a:r>
            <a:r>
              <a:rPr lang="en-US" altLang="zh-CN" sz="2400" i="1" dirty="0">
                <a:latin typeface="Times New Roman" panose="02020503050405090304" pitchFamily="18" charset="0"/>
              </a:rPr>
              <a:t>p</a:t>
            </a:r>
            <a:r>
              <a:rPr lang="en-US" altLang="zh-CN" sz="2400" dirty="0">
                <a:latin typeface="Times New Roman" panose="02020503050405090304" pitchFamily="18" charset="0"/>
              </a:rPr>
              <a:t>−1 inclusive (</a:t>
            </a:r>
            <a:r>
              <a:rPr lang="en-US" altLang="zh-CN" sz="2400" dirty="0">
                <a:solidFill>
                  <a:srgbClr val="FF0000"/>
                </a:solidFill>
                <a:latin typeface="Times New Roman" panose="02020503050405090304" pitchFamily="18" charset="0"/>
              </a:rPr>
              <a:t>Zp</a:t>
            </a:r>
            <a:r>
              <a:rPr lang="en-US" altLang="zh-CN" sz="2400" dirty="0">
                <a:latin typeface="Times New Roman" panose="02020503050405090304" pitchFamily="18" charset="0"/>
              </a:rPr>
              <a:t>). </a:t>
            </a:r>
            <a:endParaRPr lang="en-US" altLang="zh-CN" sz="2400" dirty="0">
              <a:latin typeface="Times New Roman" panose="02020503050405090304" pitchFamily="18" charset="0"/>
            </a:endParaRPr>
          </a:p>
          <a:p>
            <a:pPr lvl="1">
              <a:lnSpc>
                <a:spcPct val="110000"/>
              </a:lnSpc>
              <a:spcBef>
                <a:spcPts val="1200"/>
              </a:spcBef>
              <a:spcAft>
                <a:spcPts val="600"/>
              </a:spcAft>
            </a:pPr>
            <a:r>
              <a:rPr lang="en-US" altLang="zh-CN" sz="2400" dirty="0">
                <a:latin typeface="Times New Roman" panose="02020503050405090304" pitchFamily="18" charset="0"/>
              </a:rPr>
              <a:t>If </a:t>
            </a:r>
            <a:r>
              <a:rPr lang="en-US" altLang="zh-CN" sz="2400" i="1" dirty="0">
                <a:latin typeface="Times New Roman" panose="02020503050405090304" pitchFamily="18" charset="0"/>
              </a:rPr>
              <a:t>r</a:t>
            </a:r>
            <a:r>
              <a:rPr lang="en-US" altLang="zh-CN" sz="2400" baseline="30000" dirty="0">
                <a:latin typeface="Times New Roman" panose="02020503050405090304" pitchFamily="18" charset="0"/>
              </a:rPr>
              <a:t>e</a:t>
            </a:r>
            <a:r>
              <a:rPr lang="en-US" altLang="zh-CN" sz="2400" dirty="0">
                <a:latin typeface="Times New Roman" panose="02020503050405090304" pitchFamily="18" charset="0"/>
              </a:rPr>
              <a:t> </a:t>
            </a:r>
            <a:r>
              <a:rPr lang="en-US" altLang="zh-CN" sz="2400" i="1" dirty="0">
                <a:latin typeface="Times New Roman" panose="02020503050405090304" pitchFamily="18" charset="0"/>
                <a:cs typeface="Times New Roman" panose="02020503050405090304" pitchFamily="18" charset="0"/>
              </a:rPr>
              <a:t>≡ a (mod p) </a:t>
            </a:r>
            <a:r>
              <a:rPr lang="en-US" altLang="zh-CN" sz="2400" dirty="0">
                <a:latin typeface="Times New Roman" panose="02020503050405090304" pitchFamily="18" charset="0"/>
              </a:rPr>
              <a:t>and </a:t>
            </a:r>
            <a:r>
              <a:rPr lang="en-US" altLang="zh-CN" sz="2400" i="1" dirty="0">
                <a:latin typeface="Times New Roman" panose="02020503050405090304" pitchFamily="18" charset="0"/>
              </a:rPr>
              <a:t>0</a:t>
            </a:r>
            <a:r>
              <a:rPr lang="en-US" altLang="zh-CN" sz="2400" dirty="0">
                <a:latin typeface="Times New Roman" panose="02020503050405090304" pitchFamily="18" charset="0"/>
              </a:rPr>
              <a:t> ≤</a:t>
            </a:r>
            <a:r>
              <a:rPr lang="en-US" altLang="zh-CN" sz="2400" i="1" dirty="0">
                <a:latin typeface="Times New Roman" panose="02020503050405090304" pitchFamily="18" charset="0"/>
              </a:rPr>
              <a:t>e</a:t>
            </a:r>
            <a:r>
              <a:rPr lang="en-US" altLang="zh-CN" sz="2400" dirty="0">
                <a:latin typeface="Times New Roman" panose="02020503050405090304" pitchFamily="18" charset="0"/>
              </a:rPr>
              <a:t>≤</a:t>
            </a:r>
            <a:r>
              <a:rPr lang="en-US" altLang="zh-CN" sz="2400" i="1" dirty="0">
                <a:latin typeface="Times New Roman" panose="02020503050405090304" pitchFamily="18" charset="0"/>
              </a:rPr>
              <a:t>p</a:t>
            </a:r>
            <a:r>
              <a:rPr lang="en-US" altLang="zh-CN" sz="2400" dirty="0">
                <a:latin typeface="Times New Roman" panose="02020503050405090304" pitchFamily="18" charset="0"/>
              </a:rPr>
              <a:t>−1, we say that </a:t>
            </a:r>
            <a:r>
              <a:rPr lang="en-US" altLang="zh-CN" sz="2400" i="1" dirty="0">
                <a:latin typeface="Times New Roman" panose="02020503050405090304" pitchFamily="18" charset="0"/>
              </a:rPr>
              <a:t>e</a:t>
            </a:r>
            <a:r>
              <a:rPr lang="en-US" altLang="zh-CN" sz="2400" dirty="0">
                <a:latin typeface="Times New Roman" panose="02020503050405090304" pitchFamily="18" charset="0"/>
              </a:rPr>
              <a:t> is the </a:t>
            </a:r>
            <a:r>
              <a:rPr lang="en-US" altLang="zh-CN" sz="2400" b="1" dirty="0">
                <a:latin typeface="Times New Roman" panose="02020503050405090304" pitchFamily="18" charset="0"/>
              </a:rPr>
              <a:t>discrete logarithm</a:t>
            </a:r>
            <a:r>
              <a:rPr lang="en-US" altLang="zh-CN" sz="2400" dirty="0">
                <a:latin typeface="Times New Roman" panose="02020503050405090304" pitchFamily="18" charset="0"/>
              </a:rPr>
              <a:t> of </a:t>
            </a:r>
            <a:r>
              <a:rPr lang="en-US" altLang="zh-CN" sz="2400" i="1" dirty="0">
                <a:latin typeface="Times New Roman" panose="02020503050405090304" pitchFamily="18" charset="0"/>
              </a:rPr>
              <a:t>a </a:t>
            </a:r>
            <a:r>
              <a:rPr lang="en-US" altLang="zh-CN" sz="2400" dirty="0">
                <a:latin typeface="Times New Roman" panose="02020503050405090304" pitchFamily="18" charset="0"/>
              </a:rPr>
              <a:t>modulo </a:t>
            </a:r>
            <a:r>
              <a:rPr lang="en-US" altLang="zh-CN" sz="2400" i="1" dirty="0">
                <a:latin typeface="Times New Roman" panose="02020503050405090304" pitchFamily="18" charset="0"/>
              </a:rPr>
              <a:t>p</a:t>
            </a:r>
            <a:r>
              <a:rPr lang="en-US" altLang="zh-CN" sz="2400" dirty="0">
                <a:latin typeface="Times New Roman" panose="02020503050405090304" pitchFamily="18" charset="0"/>
              </a:rPr>
              <a:t> to the base </a:t>
            </a:r>
            <a:r>
              <a:rPr lang="en-US" altLang="zh-CN" sz="2400" i="1" dirty="0">
                <a:latin typeface="Times New Roman" panose="02020503050405090304" pitchFamily="18" charset="0"/>
              </a:rPr>
              <a:t>r</a:t>
            </a:r>
            <a:r>
              <a:rPr lang="en-US" altLang="zh-CN" sz="2400" dirty="0">
                <a:latin typeface="Times New Roman" panose="02020503050405090304" pitchFamily="18" charset="0"/>
              </a:rPr>
              <a:t> and we write </a:t>
            </a:r>
            <a:r>
              <a:rPr lang="en-US" altLang="zh-CN" sz="2400" b="1" i="1" dirty="0">
                <a:solidFill>
                  <a:srgbClr val="FF0000"/>
                </a:solidFill>
                <a:latin typeface="Times New Roman" panose="02020503050405090304" pitchFamily="18" charset="0"/>
              </a:rPr>
              <a:t>log</a:t>
            </a:r>
            <a:r>
              <a:rPr lang="en-US" altLang="zh-CN" sz="2400" b="1" i="1" baseline="-25000" dirty="0">
                <a:solidFill>
                  <a:srgbClr val="FF0000"/>
                </a:solidFill>
                <a:latin typeface="Times New Roman" panose="02020503050405090304" pitchFamily="18" charset="0"/>
              </a:rPr>
              <a:t>r</a:t>
            </a:r>
            <a:r>
              <a:rPr lang="en-US" altLang="zh-CN" sz="2400" b="1" i="1" dirty="0">
                <a:solidFill>
                  <a:srgbClr val="FF0000"/>
                </a:solidFill>
                <a:latin typeface="Times New Roman" panose="02020503050405090304" pitchFamily="18" charset="0"/>
              </a:rPr>
              <a:t> a = e </a:t>
            </a:r>
            <a:r>
              <a:rPr lang="en-US" altLang="zh-CN" sz="2400" dirty="0">
                <a:latin typeface="Times New Roman" panose="02020503050405090304" pitchFamily="18" charset="0"/>
              </a:rPr>
              <a:t>(where the prime </a:t>
            </a:r>
            <a:r>
              <a:rPr lang="en-US" altLang="zh-CN" sz="2400" i="1" dirty="0">
                <a:latin typeface="Times New Roman" panose="02020503050405090304" pitchFamily="18" charset="0"/>
              </a:rPr>
              <a:t>p</a:t>
            </a:r>
            <a:r>
              <a:rPr lang="en-US" altLang="zh-CN" sz="2400" dirty="0">
                <a:latin typeface="Times New Roman" panose="02020503050405090304" pitchFamily="18" charset="0"/>
              </a:rPr>
              <a:t> is understood).</a:t>
            </a:r>
            <a:endParaRPr lang="en-US" altLang="zh-CN" sz="2400" dirty="0">
              <a:latin typeface="Times New Roman" panose="02020503050405090304" pitchFamily="18" charset="0"/>
              <a:ea typeface="Times New Roman" panose="02020503050405090304" pitchFamily="18" charset="0"/>
            </a:endParaRPr>
          </a:p>
        </p:txBody>
      </p:sp>
      <p:sp>
        <p:nvSpPr>
          <p:cNvPr id="3277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277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277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内容占位符 2"/>
          <p:cNvSpPr>
            <a:spLocks noGrp="1"/>
          </p:cNvSpPr>
          <p:nvPr>
            <p:ph idx="1"/>
          </p:nvPr>
        </p:nvSpPr>
        <p:spPr>
          <a:xfrm>
            <a:off x="539750" y="981075"/>
            <a:ext cx="8415338" cy="2735263"/>
          </a:xfrm>
        </p:spPr>
        <p:txBody>
          <a:bodyPr vert="horz" wrap="square" lIns="91440" tIns="45720" rIns="91440" bIns="45720" anchor="t" anchorCtr="0"/>
          <a:p>
            <a:r>
              <a:rPr lang="en-US" altLang="zh-CN" sz="2800" b="1" dirty="0">
                <a:latin typeface="Times New Roman" panose="02020503050405090304" pitchFamily="18" charset="0"/>
              </a:rPr>
              <a:t>Example 13:</a:t>
            </a:r>
            <a:endParaRPr lang="en-US" altLang="zh-CN" sz="2800" b="1" dirty="0">
              <a:latin typeface="Times New Roman" panose="02020503050405090304" pitchFamily="18" charset="0"/>
            </a:endParaRPr>
          </a:p>
          <a:p>
            <a:pPr lvl="1"/>
            <a:r>
              <a:rPr lang="en-US" altLang="zh-CN" sz="2200" dirty="0">
                <a:latin typeface="Times New Roman" panose="02020503050405090304" pitchFamily="18" charset="0"/>
              </a:rPr>
              <a:t>Find the discrete logarithms of 3 and 5 modulo 11 to the base 2.</a:t>
            </a:r>
            <a:endParaRPr lang="zh-CN" altLang="en-US" sz="2200" dirty="0">
              <a:latin typeface="Times New Roman" panose="02020503050405090304" pitchFamily="18" charset="0"/>
            </a:endParaRPr>
          </a:p>
          <a:p>
            <a:pPr lvl="2"/>
            <a:r>
              <a:rPr lang="en-US" altLang="zh-CN" sz="2000" b="1" dirty="0">
                <a:latin typeface="Times New Roman" panose="02020503050405090304" pitchFamily="18" charset="0"/>
              </a:rPr>
              <a:t>2</a:t>
            </a:r>
            <a:r>
              <a:rPr lang="en-US" altLang="zh-CN" sz="2000" b="1" baseline="30000" dirty="0">
                <a:latin typeface="Times New Roman" panose="02020503050405090304" pitchFamily="18" charset="0"/>
              </a:rPr>
              <a:t>8</a:t>
            </a:r>
            <a:r>
              <a:rPr lang="en-US" altLang="zh-CN" sz="2000" b="1" dirty="0">
                <a:latin typeface="Times New Roman" panose="02020503050405090304" pitchFamily="18" charset="0"/>
              </a:rPr>
              <a:t> = 3 modulo 11. </a:t>
            </a:r>
            <a:endParaRPr lang="en-US" altLang="zh-CN" sz="2000" b="1" dirty="0">
              <a:latin typeface="Times New Roman" panose="02020503050405090304" pitchFamily="18" charset="0"/>
            </a:endParaRPr>
          </a:p>
          <a:p>
            <a:pPr lvl="2"/>
            <a:r>
              <a:rPr lang="en-US" altLang="zh-CN" sz="2000" dirty="0">
                <a:latin typeface="Times New Roman" panose="02020503050405090304" pitchFamily="18" charset="0"/>
              </a:rPr>
              <a:t>log</a:t>
            </a:r>
            <a:r>
              <a:rPr lang="en-US" altLang="zh-CN" sz="2000" baseline="-25000" dirty="0">
                <a:latin typeface="Times New Roman" panose="02020503050405090304" pitchFamily="18" charset="0"/>
              </a:rPr>
              <a:t>2</a:t>
            </a:r>
            <a:r>
              <a:rPr lang="en-US" altLang="zh-CN" sz="2000" dirty="0">
                <a:latin typeface="Times New Roman" panose="02020503050405090304" pitchFamily="18" charset="0"/>
              </a:rPr>
              <a:t> 3 = 8 the discrete logarithm of 3 modulo 11 to the base 2 is 8 </a:t>
            </a:r>
            <a:endParaRPr lang="en-US" altLang="zh-CN" sz="2000" b="1" dirty="0">
              <a:latin typeface="Times New Roman" panose="02020503050405090304" pitchFamily="18" charset="0"/>
            </a:endParaRPr>
          </a:p>
          <a:p>
            <a:pPr lvl="2"/>
            <a:r>
              <a:rPr lang="en-US" altLang="zh-CN" sz="2000" b="1" dirty="0">
                <a:latin typeface="Times New Roman" panose="02020503050405090304" pitchFamily="18" charset="0"/>
              </a:rPr>
              <a:t>2</a:t>
            </a:r>
            <a:r>
              <a:rPr lang="en-US" altLang="zh-CN" sz="2000" b="1" baseline="30000" dirty="0">
                <a:latin typeface="Times New Roman" panose="02020503050405090304" pitchFamily="18" charset="0"/>
              </a:rPr>
              <a:t>4</a:t>
            </a:r>
            <a:r>
              <a:rPr lang="en-US" altLang="zh-CN" sz="2000" b="1" dirty="0">
                <a:latin typeface="Times New Roman" panose="02020503050405090304" pitchFamily="18" charset="0"/>
              </a:rPr>
              <a:t> = 5 modulo 11.  </a:t>
            </a:r>
            <a:endParaRPr lang="en-US" altLang="zh-CN" sz="2000" b="1" dirty="0">
              <a:latin typeface="Times New Roman" panose="02020503050405090304" pitchFamily="18" charset="0"/>
            </a:endParaRPr>
          </a:p>
          <a:p>
            <a:pPr lvl="2"/>
            <a:r>
              <a:rPr lang="en-US" altLang="zh-CN" sz="2000" dirty="0">
                <a:latin typeface="Times New Roman" panose="02020503050405090304" pitchFamily="18" charset="0"/>
              </a:rPr>
              <a:t>log</a:t>
            </a:r>
            <a:r>
              <a:rPr lang="en-US" altLang="zh-CN" sz="2000" baseline="-25000" dirty="0">
                <a:latin typeface="Times New Roman" panose="02020503050405090304" pitchFamily="18" charset="0"/>
              </a:rPr>
              <a:t>2</a:t>
            </a:r>
            <a:r>
              <a:rPr lang="en-US" altLang="zh-CN" sz="2000" dirty="0">
                <a:latin typeface="Times New Roman" panose="02020503050405090304" pitchFamily="18" charset="0"/>
              </a:rPr>
              <a:t> 5 = 4 the discrete logarithm of 5 modulo 11 to the base 2 is 4</a:t>
            </a:r>
            <a:endParaRPr lang="zh-CN" altLang="en-US" sz="2000" dirty="0">
              <a:latin typeface="Times New Roman" panose="02020503050405090304" pitchFamily="18" charset="0"/>
              <a:ea typeface="Times New Roman" panose="02020503050405090304" pitchFamily="18" charset="0"/>
            </a:endParaRPr>
          </a:p>
        </p:txBody>
      </p:sp>
      <p:sp>
        <p:nvSpPr>
          <p:cNvPr id="33795"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3796"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3797"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33798" name="矩形 6"/>
          <p:cNvSpPr/>
          <p:nvPr/>
        </p:nvSpPr>
        <p:spPr>
          <a:xfrm>
            <a:off x="673100" y="3860800"/>
            <a:ext cx="8281988" cy="23764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342900" lvl="0" indent="-342900">
              <a:lnSpc>
                <a:spcPct val="110000"/>
              </a:lnSpc>
              <a:spcBef>
                <a:spcPts val="600"/>
              </a:spcBef>
              <a:buClr>
                <a:srgbClr val="FF3300"/>
              </a:buClr>
              <a:buSzPct val="80000"/>
            </a:pPr>
            <a:r>
              <a:rPr lang="en-US" altLang="zh-CN" sz="2200" dirty="0">
                <a:latin typeface="Times New Roman" panose="02020503050405090304" pitchFamily="18" charset="0"/>
              </a:rPr>
              <a:t>There is no known polynomial time algorithm for computing the discrete logarithm of a modulo </a:t>
            </a:r>
            <a:r>
              <a:rPr lang="en-US" altLang="zh-CN" sz="2200" i="1" dirty="0">
                <a:latin typeface="Times New Roman" panose="02020503050405090304" pitchFamily="18" charset="0"/>
              </a:rPr>
              <a:t>p</a:t>
            </a:r>
            <a:r>
              <a:rPr lang="en-US" altLang="zh-CN" sz="2200" dirty="0">
                <a:latin typeface="Times New Roman" panose="02020503050405090304" pitchFamily="18" charset="0"/>
              </a:rPr>
              <a:t> to the base </a:t>
            </a:r>
            <a:r>
              <a:rPr lang="en-US" altLang="zh-CN" sz="2200" i="1" dirty="0">
                <a:latin typeface="Times New Roman" panose="02020503050405090304" pitchFamily="18" charset="0"/>
              </a:rPr>
              <a:t>r</a:t>
            </a:r>
            <a:r>
              <a:rPr lang="en-US" altLang="zh-CN" sz="2200" dirty="0">
                <a:latin typeface="Times New Roman" panose="02020503050405090304" pitchFamily="18" charset="0"/>
              </a:rPr>
              <a:t> (when given the prime </a:t>
            </a:r>
            <a:r>
              <a:rPr lang="en-US" altLang="zh-CN" sz="2200" i="1" dirty="0">
                <a:latin typeface="Times New Roman" panose="02020503050405090304" pitchFamily="18" charset="0"/>
              </a:rPr>
              <a:t>p</a:t>
            </a:r>
            <a:r>
              <a:rPr lang="en-US" altLang="zh-CN" sz="2200" dirty="0">
                <a:latin typeface="Times New Roman" panose="02020503050405090304" pitchFamily="18" charset="0"/>
              </a:rPr>
              <a:t>, a root </a:t>
            </a:r>
            <a:r>
              <a:rPr lang="en-US" altLang="zh-CN" sz="2200" i="1" dirty="0">
                <a:latin typeface="Times New Roman" panose="02020503050405090304" pitchFamily="18" charset="0"/>
              </a:rPr>
              <a:t>r </a:t>
            </a:r>
            <a:r>
              <a:rPr lang="en-US" altLang="zh-CN" sz="2200" dirty="0">
                <a:latin typeface="Times New Roman" panose="02020503050405090304" pitchFamily="18" charset="0"/>
              </a:rPr>
              <a:t>modulo </a:t>
            </a:r>
            <a:r>
              <a:rPr lang="en-US" altLang="zh-CN" sz="2200" i="1" dirty="0">
                <a:latin typeface="Times New Roman" panose="02020503050405090304" pitchFamily="18" charset="0"/>
              </a:rPr>
              <a:t>p</a:t>
            </a:r>
            <a:r>
              <a:rPr lang="en-US" altLang="zh-CN" sz="2200" dirty="0">
                <a:latin typeface="Times New Roman" panose="02020503050405090304" pitchFamily="18" charset="0"/>
              </a:rPr>
              <a:t>, and a positive integer </a:t>
            </a:r>
            <a:r>
              <a:rPr lang="en-US" altLang="zh-CN" sz="2200" i="1" dirty="0">
                <a:latin typeface="Times New Roman" panose="02020503050405090304" pitchFamily="18" charset="0"/>
              </a:rPr>
              <a:t>a∊Z</a:t>
            </a:r>
            <a:r>
              <a:rPr lang="en-US" altLang="zh-CN" sz="2200" i="1" baseline="-25000" dirty="0">
                <a:latin typeface="Times New Roman" panose="02020503050405090304" pitchFamily="18" charset="0"/>
              </a:rPr>
              <a:t>p</a:t>
            </a:r>
            <a:r>
              <a:rPr lang="en-US" altLang="zh-CN" sz="2200" dirty="0">
                <a:latin typeface="Times New Roman" panose="02020503050405090304" pitchFamily="18" charset="0"/>
              </a:rPr>
              <a:t>). </a:t>
            </a:r>
            <a:endParaRPr lang="en-US" altLang="zh-CN" sz="2200" dirty="0">
              <a:latin typeface="Times New Roman" panose="02020503050405090304" pitchFamily="18" charset="0"/>
            </a:endParaRPr>
          </a:p>
          <a:p>
            <a:pPr marL="342900" lvl="0" indent="-342900">
              <a:lnSpc>
                <a:spcPct val="110000"/>
              </a:lnSpc>
              <a:spcBef>
                <a:spcPts val="600"/>
              </a:spcBef>
              <a:buClr>
                <a:srgbClr val="FF3300"/>
              </a:buClr>
              <a:buSzPct val="80000"/>
            </a:pPr>
            <a:r>
              <a:rPr lang="en-US" altLang="zh-CN" sz="2200" dirty="0">
                <a:latin typeface="Times New Roman" panose="02020503050405090304" pitchFamily="18" charset="0"/>
              </a:rPr>
              <a:t>Finding discrete logarithms turns out to be </a:t>
            </a:r>
            <a:r>
              <a:rPr lang="en-US" altLang="zh-CN" sz="2200" b="1" dirty="0">
                <a:latin typeface="Times New Roman" panose="02020503050405090304" pitchFamily="18" charset="0"/>
              </a:rPr>
              <a:t>an extremely difficult </a:t>
            </a:r>
            <a:r>
              <a:rPr lang="en-US" altLang="zh-CN" sz="2200" dirty="0">
                <a:latin typeface="Times New Roman" panose="02020503050405090304" pitchFamily="18" charset="0"/>
              </a:rPr>
              <a:t>problem. The problem </a:t>
            </a:r>
            <a:r>
              <a:rPr lang="en-US" altLang="zh-CN" sz="2200" b="1" dirty="0">
                <a:latin typeface="Times New Roman" panose="02020503050405090304" pitchFamily="18" charset="0"/>
              </a:rPr>
              <a:t>plays a role in cryptography </a:t>
            </a:r>
            <a:r>
              <a:rPr lang="en-US" altLang="zh-CN" sz="2200" dirty="0">
                <a:latin typeface="Times New Roman" panose="02020503050405090304" pitchFamily="18" charset="0"/>
              </a:rPr>
              <a:t>as will be discussed in Section 4.6.</a:t>
            </a:r>
            <a:endParaRPr lang="zh-CN" altLang="en-US" sz="2200" dirty="0">
              <a:latin typeface="Times New Roman" panose="02020503050405090304" pitchFamily="18" charset="0"/>
            </a:endParaRPr>
          </a:p>
        </p:txBody>
      </p:sp>
      <p:sp>
        <p:nvSpPr>
          <p:cNvPr id="33799" name="标题 1"/>
          <p:cNvSpPr>
            <a:spLocks noGrp="1"/>
          </p:cNvSpPr>
          <p:nvPr>
            <p:ph type="title"/>
          </p:nvPr>
        </p:nvSpPr>
        <p:spPr>
          <a:xfrm>
            <a:off x="1042988" y="188913"/>
            <a:ext cx="7672387" cy="647700"/>
          </a:xfrm>
        </p:spPr>
        <p:txBody>
          <a:bodyPr vert="horz" wrap="square" lIns="91440" tIns="45720" rIns="91440" bIns="45720" anchor="b" anchorCtr="0"/>
          <a:p>
            <a:r>
              <a:rPr lang="en-US" altLang="zh-CN" sz="3200" b="0" dirty="0">
                <a:latin typeface="Copperplate Gothic Bold" panose="020E0705020206020404" pitchFamily="34" charset="0"/>
              </a:rPr>
              <a:t>Discrete Logarithms</a:t>
            </a:r>
            <a:endParaRPr lang="zh-CN" altLang="en-US" sz="3200" b="0" dirty="0">
              <a:latin typeface="Copperplate Gothic Bold" panose="020E0705020206020404" pitchFamily="34" charset="0"/>
            </a:endParaRPr>
          </a:p>
        </p:txBody>
      </p:sp>
      <p:sp>
        <p:nvSpPr>
          <p:cNvPr id="2" name="矩形 1"/>
          <p:cNvSpPr/>
          <p:nvPr/>
        </p:nvSpPr>
        <p:spPr>
          <a:xfrm>
            <a:off x="5508625" y="981075"/>
            <a:ext cx="2224088" cy="460375"/>
          </a:xfrm>
          <a:prstGeom prst="rect">
            <a:avLst/>
          </a:prstGeom>
          <a:solidFill>
            <a:schemeClr val="accent2"/>
          </a:solid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en-US" altLang="zh-CN" sz="2400" b="1" i="1" dirty="0">
                <a:latin typeface="Times New Roman" panose="02020503050405090304" pitchFamily="18" charset="0"/>
              </a:rPr>
              <a:t>2</a:t>
            </a:r>
            <a:r>
              <a:rPr lang="zh-CN" altLang="en-US" sz="2400" b="1" i="1" baseline="30000" dirty="0">
                <a:latin typeface="Times New Roman" panose="02020503050405090304" pitchFamily="18" charset="0"/>
              </a:rPr>
              <a:t>？</a:t>
            </a:r>
            <a:r>
              <a:rPr lang="en-US" altLang="zh-CN" sz="2400" b="1" i="1" dirty="0">
                <a:latin typeface="Times New Roman" panose="02020503050405090304" pitchFamily="18" charset="0"/>
              </a:rPr>
              <a:t> = 3 (mod 11)</a:t>
            </a:r>
            <a:endParaRPr lang="zh-CN" altLang="en-US" sz="2400" b="1" i="1" dirty="0">
              <a:latin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title"/>
          </p:nvPr>
        </p:nvSpPr>
        <p:spPr/>
        <p:txBody>
          <a:bodyPr vert="horz" wrap="square" lIns="91440" tIns="45720" rIns="91440" bIns="45720" anchor="b" anchorCtr="0"/>
          <a:p>
            <a:pPr eaLnBrk="1" hangingPunct="1"/>
            <a:r>
              <a:rPr lang="en-US" altLang="zh-CN" sz="3200" b="0" dirty="0">
                <a:latin typeface="Copperplate Gothic Bold" panose="020E0705020206020404" pitchFamily="34" charset="0"/>
              </a:rPr>
              <a:t>Homework</a:t>
            </a:r>
            <a:endParaRPr lang="en-US" altLang="zh-CN" sz="3200" b="0" dirty="0">
              <a:latin typeface="Copperplate Gothic Bold" panose="020E0705020206020404" pitchFamily="34" charset="0"/>
            </a:endParaRPr>
          </a:p>
        </p:txBody>
      </p:sp>
      <p:sp>
        <p:nvSpPr>
          <p:cNvPr id="34819" name="Rectangle 3"/>
          <p:cNvSpPr>
            <a:spLocks noGrp="1"/>
          </p:cNvSpPr>
          <p:nvPr>
            <p:ph idx="1"/>
          </p:nvPr>
        </p:nvSpPr>
        <p:spPr>
          <a:xfrm>
            <a:off x="417513" y="902970"/>
            <a:ext cx="8537575" cy="5407025"/>
          </a:xfrm>
        </p:spPr>
        <p:txBody>
          <a:bodyPr vert="horz" wrap="square" lIns="91440" tIns="45720" rIns="91440" bIns="45720" anchor="t" anchorCtr="0"/>
          <a:p>
            <a:pPr eaLnBrk="1" hangingPunct="1"/>
            <a:r>
              <a:rPr lang="en-US" altLang="zh-CN" b="1" dirty="0">
                <a:latin typeface="Times New Roman" panose="02020503050405090304" pitchFamily="18" charset="0"/>
              </a:rPr>
              <a:t>§4.4</a:t>
            </a:r>
            <a:endParaRPr lang="en-US" altLang="zh-CN" b="1" dirty="0">
              <a:latin typeface="Times New Roman" panose="02020503050405090304" pitchFamily="18" charset="0"/>
            </a:endParaRPr>
          </a:p>
          <a:p>
            <a:pPr lvl="1" eaLnBrk="1" hangingPunct="1"/>
            <a:r>
              <a:rPr lang="en-US" altLang="zh-CN" dirty="0">
                <a:latin typeface="Times New Roman" panose="02020503050405090304" pitchFamily="18" charset="0"/>
              </a:rPr>
              <a:t> 6,  9,  12,  34.</a:t>
            </a:r>
            <a:endParaRPr lang="zh-CN" altLang="en-US" dirty="0">
              <a:latin typeface="Times New Roman" panose="02020503050405090304" pitchFamily="18" charset="0"/>
            </a:endParaRPr>
          </a:p>
        </p:txBody>
      </p:sp>
      <p:sp>
        <p:nvSpPr>
          <p:cNvPr id="3482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482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482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tags/tag1.xml><?xml version="1.0" encoding="utf-8"?>
<p:tagLst xmlns:p="http://schemas.openxmlformats.org/presentationml/2006/main">
  <p:tag name="KSO_WPP_MARK_KEY" val="4cd9dfb3-8cf9-44ef-b074-927fc5af77f7"/>
  <p:tag name="COMMONDATA" val="eyJoZGlkIjoiYjZhMmY1NGQwZjE0MWY4MTkzZjM4YzBiNDA1ZmM3ZDEifQ=="/>
</p:tagLst>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pperplate Gothic Light"/>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1" lang="en-US" sz="2400" b="1" i="1" u="sng" strike="noStrike" cap="none" normalizeH="0" baseline="0" smtClean="0">
            <a:ln>
              <a:noFill/>
            </a:ln>
            <a:solidFill>
              <a:schemeClr val="tx1"/>
            </a:solidFill>
            <a:effectLst/>
            <a:latin typeface="Times New Roman" panose="02020503050405090304" pitchFamily="18" charset="0"/>
            <a:ea typeface="宋体" pitchFamily="2" charset="-122"/>
          </a:defRPr>
        </a:defPPr>
      </a:lstStyle>
    </a:spDef>
    <a:ln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1" lang="en-US" sz="2400" b="1" i="1" u="sng" strike="noStrike" cap="none" normalizeH="0" baseline="0" smtClean="0">
            <a:ln>
              <a:noFill/>
            </a:ln>
            <a:solidFill>
              <a:schemeClr val="tx1"/>
            </a:solidFill>
            <a:effectLst/>
            <a:latin typeface="Times New Roman" panose="02020503050405090304" pitchFamily="18"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14063</Words>
  <Application>WPS 文字</Application>
  <PresentationFormat>全屏显示(4:3)</PresentationFormat>
  <Paragraphs>505</Paragraphs>
  <Slides>27</Slides>
  <Notes>2</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27</vt:i4>
      </vt:variant>
    </vt:vector>
  </HeadingPairs>
  <TitlesOfParts>
    <vt:vector size="48" baseType="lpstr">
      <vt:lpstr>Arial</vt:lpstr>
      <vt:lpstr>宋体</vt:lpstr>
      <vt:lpstr>Wingdings</vt:lpstr>
      <vt:lpstr>Times New Roman</vt:lpstr>
      <vt:lpstr>汉仪书宋二KW</vt:lpstr>
      <vt:lpstr>Arial Narrow</vt:lpstr>
      <vt:lpstr>Tahoma</vt:lpstr>
      <vt:lpstr>Copperplate Gothic Light</vt:lpstr>
      <vt:lpstr>Copperplate Gothic Bold</vt:lpstr>
      <vt:lpstr>苹方-简</vt:lpstr>
      <vt:lpstr>Symbol</vt:lpstr>
      <vt:lpstr>Kingsoft Sign</vt:lpstr>
      <vt:lpstr>Cambria Math</vt:lpstr>
      <vt:lpstr>Helvetica Neue</vt:lpstr>
      <vt:lpstr>微软雅黑</vt:lpstr>
      <vt:lpstr>汉仪旗黑</vt:lpstr>
      <vt:lpstr>宋体</vt:lpstr>
      <vt:lpstr>Arial Unicode MS</vt:lpstr>
      <vt:lpstr>宋体-简</vt:lpstr>
      <vt:lpstr>Kingsoft Math</vt:lpstr>
      <vt:lpstr>1_Blends</vt:lpstr>
      <vt:lpstr>Solving Congruences</vt:lpstr>
      <vt:lpstr> </vt:lpstr>
      <vt:lpstr>Inverse of a modulo m</vt:lpstr>
      <vt:lpstr>Inverse of a modulo m</vt:lpstr>
      <vt:lpstr>Inverse of a modulo m</vt:lpstr>
      <vt:lpstr>Finding Inverses</vt:lpstr>
      <vt:lpstr>Finding Inverses</vt:lpstr>
      <vt:lpstr>Using Inverses to Solve Congruences</vt:lpstr>
      <vt:lpstr>Using Inverses to Solve Congruences</vt:lpstr>
      <vt:lpstr>The Chinese Remainder Theorem</vt:lpstr>
      <vt:lpstr>The Chinese Remainder Theorem</vt:lpstr>
      <vt:lpstr>The Chinese Remainder Theorem</vt:lpstr>
      <vt:lpstr>The Chinese Remainder Theorem</vt:lpstr>
      <vt:lpstr>Back Substitution</vt:lpstr>
      <vt:lpstr>Back Substitution</vt:lpstr>
      <vt:lpstr>Computer Arithmetic with large Integers</vt:lpstr>
      <vt:lpstr>Computer Arithmetic with large Integers</vt:lpstr>
      <vt:lpstr>Fermat’s Little Theorem</vt:lpstr>
      <vt:lpstr>Pseudoprimes</vt:lpstr>
      <vt:lpstr>Pseudoprimes</vt:lpstr>
      <vt:lpstr>Pseudoprimes</vt:lpstr>
      <vt:lpstr>Carmichael Numbers (optional)</vt:lpstr>
      <vt:lpstr>Carmichael Numbers (optional)</vt:lpstr>
      <vt:lpstr>Primitive Roots  (原根)</vt:lpstr>
      <vt:lpstr>Discrete Logarithms (离散对数)</vt:lpstr>
      <vt:lpstr>Discrete Logarithms</vt:lpstr>
      <vt:lpstr>Homework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yangjuan</dc:creator>
  <cp:lastModifiedBy>杨娟</cp:lastModifiedBy>
  <cp:revision>491</cp:revision>
  <dcterms:created xsi:type="dcterms:W3CDTF">2025-05-05T13:48:21Z</dcterms:created>
  <dcterms:modified xsi:type="dcterms:W3CDTF">2025-05-05T13:48:21Z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5102D5FC17EA4D268CC6D1A028B0B79C</vt:lpwstr>
  </property>
  <property fmtid="{D5CDD505-2E9C-101B-9397-08002B2CF9AE}" pid="3" name="KSOProductBuildVer">
    <vt:lpwstr>2052-6.9.0.8865</vt:lpwstr>
  </property>
</Properties>
</file>