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69"/>
  </p:handoutMasterIdLst>
  <p:sldIdLst>
    <p:sldId id="257" r:id="rId3"/>
    <p:sldId id="307" r:id="rId5"/>
    <p:sldId id="308" r:id="rId6"/>
    <p:sldId id="314" r:id="rId7"/>
    <p:sldId id="261" r:id="rId8"/>
    <p:sldId id="262" r:id="rId9"/>
    <p:sldId id="263" r:id="rId10"/>
    <p:sldId id="264" r:id="rId11"/>
    <p:sldId id="265" r:id="rId12"/>
    <p:sldId id="266" r:id="rId13"/>
    <p:sldId id="267" r:id="rId14"/>
    <p:sldId id="284" r:id="rId15"/>
    <p:sldId id="309" r:id="rId16"/>
    <p:sldId id="310" r:id="rId17"/>
    <p:sldId id="311" r:id="rId18"/>
    <p:sldId id="312" r:id="rId19"/>
    <p:sldId id="313" r:id="rId20"/>
    <p:sldId id="293" r:id="rId21"/>
    <p:sldId id="335" r:id="rId22"/>
    <p:sldId id="336" r:id="rId23"/>
    <p:sldId id="334" r:id="rId24"/>
    <p:sldId id="337" r:id="rId25"/>
    <p:sldId id="350" r:id="rId26"/>
    <p:sldId id="315" r:id="rId27"/>
    <p:sldId id="316" r:id="rId28"/>
    <p:sldId id="317" r:id="rId29"/>
    <p:sldId id="318" r:id="rId30"/>
    <p:sldId id="319" r:id="rId31"/>
    <p:sldId id="320" r:id="rId32"/>
    <p:sldId id="321" r:id="rId33"/>
    <p:sldId id="322" r:id="rId34"/>
    <p:sldId id="323" r:id="rId35"/>
    <p:sldId id="324" r:id="rId36"/>
    <p:sldId id="325" r:id="rId37"/>
    <p:sldId id="367" r:id="rId38"/>
    <p:sldId id="326" r:id="rId39"/>
    <p:sldId id="327" r:id="rId40"/>
    <p:sldId id="399" r:id="rId41"/>
    <p:sldId id="351" r:id="rId42"/>
    <p:sldId id="329" r:id="rId43"/>
    <p:sldId id="330" r:id="rId44"/>
    <p:sldId id="269" r:id="rId45"/>
    <p:sldId id="353" r:id="rId46"/>
    <p:sldId id="354" r:id="rId47"/>
    <p:sldId id="331" r:id="rId48"/>
    <p:sldId id="332" r:id="rId49"/>
    <p:sldId id="333" r:id="rId50"/>
    <p:sldId id="338" r:id="rId51"/>
    <p:sldId id="339" r:id="rId52"/>
    <p:sldId id="306" r:id="rId53"/>
    <p:sldId id="356" r:id="rId54"/>
    <p:sldId id="357" r:id="rId55"/>
    <p:sldId id="358" r:id="rId56"/>
    <p:sldId id="359" r:id="rId57"/>
    <p:sldId id="360" r:id="rId58"/>
    <p:sldId id="361" r:id="rId59"/>
    <p:sldId id="345" r:id="rId60"/>
    <p:sldId id="362" r:id="rId61"/>
    <p:sldId id="343" r:id="rId62"/>
    <p:sldId id="363" r:id="rId63"/>
    <p:sldId id="347" r:id="rId64"/>
    <p:sldId id="346" r:id="rId65"/>
    <p:sldId id="366" r:id="rId66"/>
    <p:sldId id="348" r:id="rId67"/>
    <p:sldId id="349" r:id="rId68"/>
  </p:sldIdLst>
  <p:sldSz cx="9144000" cy="6858000" type="screen4x3"/>
  <p:notesSz cx="6669405" cy="9926955"/>
  <p:custDataLst>
    <p:tags r:id="rId74"/>
  </p:custDataLst>
  <p:defaultTextStyle>
    <a:defPPr>
      <a:defRPr lang="en-US"/>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宋体"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宋体"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宋体"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宋体"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宋体"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宋体" pitchFamily="2" charset="-122"/>
        <a:cs typeface="+mn-cs"/>
      </a:defRPr>
    </a:lvl9pPr>
  </p:defaultTextStyle>
  <p:extLst>
    <p:ext uri="{EFAFB233-063F-42B5-8137-9DF3F51BA10A}">
      <p15:sldGuideLst xmlns:p15="http://schemas.microsoft.com/office/powerpoint/2012/main">
        <p15:guide id="1" orient="horz" pos="1434" userDrawn="1">
          <p15:clr>
            <a:srgbClr val="A4A3A4"/>
          </p15:clr>
        </p15:guide>
        <p15:guide id="2" pos="489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CTC" initials="N"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2FDB2607-1784-4EEB-B798-7EB5836EED8A}">
        <p14:showMediaCtrls xmlns:p14="http://schemas.microsoft.com/office/powerpoint/2010/main" val="1"/>
      </p:ext>
    </p:extLst>
  </p:showPr>
  <p:clrMru>
    <a:srgbClr val="FF3300"/>
    <a:srgbClr val="003399"/>
    <a:srgbClr val="336699"/>
    <a:srgbClr val="008080"/>
    <a:srgbClr val="009999"/>
    <a:srgbClr val="FF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35"/>
  </p:normalViewPr>
  <p:slideViewPr>
    <p:cSldViewPr showGuides="1">
      <p:cViewPr varScale="1">
        <p:scale>
          <a:sx n="90" d="100"/>
          <a:sy n="90" d="100"/>
        </p:scale>
        <p:origin x="825" y="42"/>
      </p:cViewPr>
      <p:guideLst>
        <p:guide orient="horz" pos="1434"/>
        <p:guide pos="489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980"/>
    </p:cViewPr>
  </p:sorterViewPr>
  <p:gridSpacing cx="72006" cy="72006"/>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4" Type="http://schemas.openxmlformats.org/officeDocument/2006/relationships/tags" Target="tags/tag7.xml"/><Relationship Id="rId73" Type="http://schemas.openxmlformats.org/officeDocument/2006/relationships/commentAuthors" Target="commentAuthors.xml"/><Relationship Id="rId72" Type="http://schemas.openxmlformats.org/officeDocument/2006/relationships/tableStyles" Target="tableStyles.xml"/><Relationship Id="rId71" Type="http://schemas.openxmlformats.org/officeDocument/2006/relationships/viewProps" Target="viewProps.xml"/><Relationship Id="rId70" Type="http://schemas.openxmlformats.org/officeDocument/2006/relationships/presProps" Target="presProps.xml"/><Relationship Id="rId7" Type="http://schemas.openxmlformats.org/officeDocument/2006/relationships/slide" Target="slides/slide4.xml"/><Relationship Id="rId69" Type="http://schemas.openxmlformats.org/officeDocument/2006/relationships/handoutMaster" Target="handoutMasters/handoutMaster1.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7410" name="Rectangle 2"/>
          <p:cNvSpPr>
            <a:spLocks noGrp="1" noChangeArrowheads="1"/>
          </p:cNvSpPr>
          <p:nvPr>
            <p:ph type="hdr" sz="quarter"/>
          </p:nvPr>
        </p:nvSpPr>
        <p:spPr bwMode="auto">
          <a:xfrm>
            <a:off x="0" y="0"/>
            <a:ext cx="2889250" cy="496888"/>
          </a:xfrm>
          <a:prstGeom prst="rect">
            <a:avLst/>
          </a:prstGeom>
          <a:noFill/>
          <a:ln w="9525">
            <a:noFill/>
            <a:miter lim="800000"/>
          </a:ln>
          <a:effectLst/>
        </p:spPr>
        <p:txBody>
          <a:bodyPr vert="horz" wrap="square" lIns="91440" tIns="45720" rIns="91440" bIns="45720" numCol="1" anchor="t" anchorCtr="0" compatLnSpc="1"/>
          <a:lstStyle>
            <a:lvl1pPr eaLnBrk="1" hangingPunct="1">
              <a:defRPr kumimoji="0" sz="1200" noProof="1"/>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503050405090304" pitchFamily="18" charset="0"/>
              <a:ea typeface="宋体" pitchFamily="2" charset="-122"/>
              <a:cs typeface="+mn-cs"/>
            </a:endParaRPr>
          </a:p>
        </p:txBody>
      </p:sp>
      <p:sp>
        <p:nvSpPr>
          <p:cNvPr id="17411" name="Rectangle 3"/>
          <p:cNvSpPr>
            <a:spLocks noGrp="1" noChangeArrowheads="1"/>
          </p:cNvSpPr>
          <p:nvPr>
            <p:ph type="dt" sz="quarter" idx="1"/>
          </p:nvPr>
        </p:nvSpPr>
        <p:spPr bwMode="auto">
          <a:xfrm>
            <a:off x="3779838" y="0"/>
            <a:ext cx="288925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kumimoji="0" sz="1200" noProof="1"/>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1">
              <a:ln>
                <a:noFill/>
              </a:ln>
              <a:solidFill>
                <a:schemeClr val="tx1"/>
              </a:solidFill>
              <a:effectLst/>
              <a:uLnTx/>
              <a:uFillTx/>
              <a:latin typeface="Times New Roman" panose="02020503050405090304" pitchFamily="18" charset="0"/>
              <a:ea typeface="宋体" pitchFamily="2" charset="-122"/>
              <a:cs typeface="+mn-cs"/>
            </a:endParaRPr>
          </a:p>
        </p:txBody>
      </p:sp>
      <p:sp>
        <p:nvSpPr>
          <p:cNvPr id="17412" name="Rectangle 4"/>
          <p:cNvSpPr>
            <a:spLocks noGrp="1" noChangeArrowheads="1"/>
          </p:cNvSpPr>
          <p:nvPr>
            <p:ph type="ftr" sz="quarter" idx="2"/>
          </p:nvPr>
        </p:nvSpPr>
        <p:spPr bwMode="auto">
          <a:xfrm>
            <a:off x="0" y="9429750"/>
            <a:ext cx="2889250" cy="496888"/>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200" noProof="1"/>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503050405090304" pitchFamily="18" charset="0"/>
              <a:ea typeface="宋体" pitchFamily="2" charset="-122"/>
              <a:cs typeface="+mn-cs"/>
            </a:endParaRPr>
          </a:p>
        </p:txBody>
      </p:sp>
      <p:sp>
        <p:nvSpPr>
          <p:cNvPr id="17413" name="Rectangle 5"/>
          <p:cNvSpPr>
            <a:spLocks noGrp="1" noChangeArrowheads="1"/>
          </p:cNvSpPr>
          <p:nvPr>
            <p:ph type="sldNum" sz="quarter" idx="3"/>
          </p:nvPr>
        </p:nvSpPr>
        <p:spPr bwMode="auto">
          <a:xfrm>
            <a:off x="3779838" y="9429750"/>
            <a:ext cx="2889250" cy="496888"/>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0" sz="1200" noProof="1"/>
            </a:lvl1pPr>
          </a:lstStyle>
          <a:p>
            <a:pPr marL="0" marR="0" lvl="0" indent="0" algn="r" defTabSz="914400" rtl="0" eaLnBrk="1" fontAlgn="base" latinLnBrk="0" hangingPunct="1">
              <a:lnSpc>
                <a:spcPct val="100000"/>
              </a:lnSpc>
              <a:spcBef>
                <a:spcPct val="0"/>
              </a:spcBef>
              <a:spcAft>
                <a:spcPct val="0"/>
              </a:spcAft>
              <a:buClrTx/>
              <a:buSzTx/>
              <a:buFontTx/>
              <a:buNone/>
              <a:defRPr/>
            </a:pPr>
            <a:fld id="{9EA003EA-580B-4D6A-AE77-0420C526C6C7}" type="slidenum">
              <a:rPr kumimoji="0" lang="zh-CN" altLang="en-US" sz="1200" b="0" i="0" u="none" strike="noStrike" kern="1200" cap="none" spc="0" normalizeH="0" baseline="0" noProof="1">
                <a:ln>
                  <a:noFill/>
                </a:ln>
                <a:solidFill>
                  <a:schemeClr val="tx1"/>
                </a:solidFill>
                <a:effectLst/>
                <a:uLnTx/>
                <a:uFillTx/>
                <a:latin typeface="Times New Roman" panose="02020503050405090304" pitchFamily="18" charset="0"/>
                <a:ea typeface="宋体" pitchFamily="2" charset="-122"/>
                <a:cs typeface="+mn-cs"/>
              </a:rPr>
            </a:fld>
            <a:endParaRPr kumimoji="0" lang="en-US" altLang="zh-CN" sz="1200" b="0" i="0" u="none" strike="noStrike" kern="1200" cap="none" spc="0" normalizeH="0" baseline="0" noProof="1">
              <a:ln>
                <a:noFill/>
              </a:ln>
              <a:solidFill>
                <a:schemeClr val="tx1"/>
              </a:solidFill>
              <a:effectLst/>
              <a:uLnTx/>
              <a:uFillTx/>
              <a:latin typeface="Times New Roman" panose="02020503050405090304" pitchFamily="18" charset="0"/>
              <a:ea typeface="宋体"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5362" name="Rectangle 2"/>
          <p:cNvSpPr>
            <a:spLocks noGrp="1" noChangeArrowheads="1"/>
          </p:cNvSpPr>
          <p:nvPr>
            <p:ph type="hdr" sz="quarter"/>
          </p:nvPr>
        </p:nvSpPr>
        <p:spPr bwMode="auto">
          <a:xfrm>
            <a:off x="0" y="0"/>
            <a:ext cx="2889250" cy="496888"/>
          </a:xfrm>
          <a:prstGeom prst="rect">
            <a:avLst/>
          </a:prstGeom>
          <a:noFill/>
          <a:ln w="9525">
            <a:noFill/>
            <a:miter lim="800000"/>
          </a:ln>
          <a:effectLst/>
        </p:spPr>
        <p:txBody>
          <a:bodyPr vert="horz" wrap="square" lIns="91440" tIns="45720" rIns="91440" bIns="45720" numCol="1" anchor="t" anchorCtr="0" compatLnSpc="1"/>
          <a:lstStyle>
            <a:lvl1pPr eaLnBrk="1" hangingPunct="1">
              <a:defRPr kumimoji="0" sz="1200" noProof="1"/>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503050405090304" pitchFamily="18" charset="0"/>
              <a:ea typeface="宋体" pitchFamily="2" charset="-122"/>
              <a:cs typeface="+mn-cs"/>
            </a:endParaRPr>
          </a:p>
        </p:txBody>
      </p:sp>
      <p:sp>
        <p:nvSpPr>
          <p:cNvPr id="15363" name="Rectangle 3"/>
          <p:cNvSpPr>
            <a:spLocks noGrp="1" noChangeArrowheads="1"/>
          </p:cNvSpPr>
          <p:nvPr>
            <p:ph type="dt" idx="1"/>
          </p:nvPr>
        </p:nvSpPr>
        <p:spPr bwMode="auto">
          <a:xfrm>
            <a:off x="3779838" y="0"/>
            <a:ext cx="288925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kumimoji="0" sz="1200" noProof="1"/>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1">
              <a:ln>
                <a:noFill/>
              </a:ln>
              <a:solidFill>
                <a:schemeClr val="tx1"/>
              </a:solidFill>
              <a:effectLst/>
              <a:uLnTx/>
              <a:uFillTx/>
              <a:latin typeface="Times New Roman" panose="02020503050405090304" pitchFamily="18" charset="0"/>
              <a:ea typeface="宋体" pitchFamily="2" charset="-122"/>
              <a:cs typeface="+mn-cs"/>
            </a:endParaRPr>
          </a:p>
        </p:txBody>
      </p:sp>
      <p:sp>
        <p:nvSpPr>
          <p:cNvPr id="3076" name="Rectangle 4"/>
          <p:cNvSpPr>
            <a:spLocks noGrp="1" noRot="1" noChangeAspect="1" noTextEdit="1"/>
          </p:cNvSpPr>
          <p:nvPr>
            <p:ph type="sldImg"/>
          </p:nvPr>
        </p:nvSpPr>
        <p:spPr>
          <a:xfrm>
            <a:off x="852488" y="744538"/>
            <a:ext cx="4964112" cy="3722687"/>
          </a:xfrm>
          <a:prstGeom prst="rect">
            <a:avLst/>
          </a:prstGeom>
          <a:noFill/>
          <a:ln w="9525" cap="flat" cmpd="sng">
            <a:solidFill>
              <a:srgbClr val="000000"/>
            </a:solidFill>
            <a:prstDash val="solid"/>
            <a:miter/>
            <a:headEnd type="none" w="med" len="med"/>
            <a:tailEnd type="none" w="med" len="med"/>
          </a:ln>
        </p:spPr>
      </p:sp>
      <p:sp>
        <p:nvSpPr>
          <p:cNvPr id="4101" name="Rectangle 5"/>
          <p:cNvSpPr>
            <a:spLocks noGrp="1" noChangeArrowheads="1"/>
          </p:cNvSpPr>
          <p:nvPr>
            <p:ph type="body" sz="quarter" idx="4294967295"/>
          </p:nvPr>
        </p:nvSpPr>
        <p:spPr bwMode="auto">
          <a:xfrm>
            <a:off x="889000" y="4714875"/>
            <a:ext cx="4891088" cy="446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Click to edit Master text styles</a:t>
            </a: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Second level</a:t>
            </a: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Third level</a:t>
            </a: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Fourth level</a:t>
            </a: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Fifth level</a:t>
            </a: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5366" name="Rectangle 6"/>
          <p:cNvSpPr>
            <a:spLocks noGrp="1" noChangeArrowheads="1"/>
          </p:cNvSpPr>
          <p:nvPr>
            <p:ph type="ftr" sz="quarter" idx="4"/>
          </p:nvPr>
        </p:nvSpPr>
        <p:spPr bwMode="auto">
          <a:xfrm>
            <a:off x="0" y="9429750"/>
            <a:ext cx="2889250" cy="496888"/>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200" noProof="1"/>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1">
              <a:ln>
                <a:noFill/>
              </a:ln>
              <a:solidFill>
                <a:schemeClr val="tx1"/>
              </a:solidFill>
              <a:effectLst/>
              <a:uLnTx/>
              <a:uFillTx/>
              <a:latin typeface="Times New Roman" panose="02020503050405090304" pitchFamily="18" charset="0"/>
              <a:ea typeface="宋体" pitchFamily="2" charset="-122"/>
              <a:cs typeface="+mn-cs"/>
            </a:endParaRPr>
          </a:p>
        </p:txBody>
      </p:sp>
      <p:sp>
        <p:nvSpPr>
          <p:cNvPr id="15367" name="Rectangle 7"/>
          <p:cNvSpPr>
            <a:spLocks noGrp="1" noChangeArrowheads="1"/>
          </p:cNvSpPr>
          <p:nvPr>
            <p:ph type="sldNum" sz="quarter" idx="5"/>
          </p:nvPr>
        </p:nvSpPr>
        <p:spPr bwMode="auto">
          <a:xfrm>
            <a:off x="3779838" y="9429750"/>
            <a:ext cx="2889250" cy="496888"/>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0" sz="1200" noProof="1"/>
            </a:lvl1pPr>
          </a:lstStyle>
          <a:p>
            <a:pPr marL="0" marR="0" lvl="0" indent="0" algn="r" defTabSz="914400" rtl="0" eaLnBrk="1" fontAlgn="base" latinLnBrk="0" hangingPunct="1">
              <a:lnSpc>
                <a:spcPct val="100000"/>
              </a:lnSpc>
              <a:spcBef>
                <a:spcPct val="0"/>
              </a:spcBef>
              <a:spcAft>
                <a:spcPct val="0"/>
              </a:spcAft>
              <a:buClrTx/>
              <a:buSzTx/>
              <a:buFontTx/>
              <a:buNone/>
              <a:defRPr/>
            </a:pPr>
            <a:fld id="{2D8362AB-AE77-42A3-A57A-4D079F8881CD}" type="slidenum">
              <a:rPr kumimoji="0" lang="zh-CN" altLang="en-US" sz="1200" b="0" i="0" u="none" strike="noStrike" kern="1200" cap="none" spc="0" normalizeH="0" baseline="0" noProof="1">
                <a:ln>
                  <a:noFill/>
                </a:ln>
                <a:solidFill>
                  <a:schemeClr val="tx1"/>
                </a:solidFill>
                <a:effectLst/>
                <a:uLnTx/>
                <a:uFillTx/>
                <a:latin typeface="Times New Roman" panose="02020503050405090304" pitchFamily="18" charset="0"/>
                <a:ea typeface="宋体" pitchFamily="2" charset="-122"/>
                <a:cs typeface="+mn-cs"/>
              </a:rPr>
            </a:fld>
            <a:endParaRPr kumimoji="0" lang="en-US" altLang="zh-CN" sz="1200" b="0" i="0" u="none" strike="noStrike" kern="1200" cap="none" spc="0" normalizeH="0" baseline="0" noProof="1">
              <a:ln>
                <a:noFill/>
              </a:ln>
              <a:solidFill>
                <a:schemeClr val="tx1"/>
              </a:solidFill>
              <a:effectLst/>
              <a:uLnTx/>
              <a:uFillTx/>
              <a:latin typeface="Times New Roman" panose="02020503050405090304" pitchFamily="18" charset="0"/>
              <a:ea typeface="宋体"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幻灯片图像占位符 1"/>
          <p:cNvSpPr>
            <a:spLocks noGrp="1" noRot="1" noChangeAspect="1" noTextEdit="1"/>
          </p:cNvSpPr>
          <p:nvPr>
            <p:ph type="sldImg"/>
          </p:nvPr>
        </p:nvSpPr>
        <p:spPr/>
      </p:sp>
      <p:sp>
        <p:nvSpPr>
          <p:cNvPr id="6147" name="备注占位符 2"/>
          <p:cNvSpPr>
            <a:spLocks noGrp="1"/>
          </p:cNvSpPr>
          <p:nvPr>
            <p:ph type="body"/>
          </p:nvPr>
        </p:nvSpPr>
        <p:spPr/>
        <p:txBody>
          <a:bodyPr wrap="square" lIns="91440" tIns="45720" rIns="91440" bIns="45720" anchor="t" anchorCtr="0"/>
          <a:p>
            <a:pPr lvl="0"/>
            <a:endParaRPr lang="zh-CN" altLang="en-US" dirty="0"/>
          </a:p>
        </p:txBody>
      </p:sp>
      <p:sp>
        <p:nvSpPr>
          <p:cNvPr id="6148" name="灯片编号占位符 3"/>
          <p:cNvSpPr txBox="1">
            <a:spLocks noGrp="1"/>
          </p:cNvSpPr>
          <p:nvPr>
            <p:ph type="sldNum" sz="quarter"/>
          </p:nvPr>
        </p:nvSpPr>
        <p:spPr>
          <a:xfrm>
            <a:off x="3779838" y="9429750"/>
            <a:ext cx="2889250" cy="496888"/>
          </a:xfrm>
          <a:prstGeom prst="rect">
            <a:avLst/>
          </a:prstGeom>
          <a:noFill/>
          <a:ln w="9525">
            <a:noFill/>
          </a:ln>
        </p:spPr>
        <p:txBody>
          <a:bodyPr anchor="b" anchorCtr="0"/>
          <a:p>
            <a:pPr lvl="0" algn="r"/>
            <a:fld id="{9A0DB2DC-4C9A-4742-B13C-FB6460FD3503}" type="slidenum">
              <a:rPr lang="en-US" altLang="en-US" sz="1200" dirty="0"/>
            </a:fld>
            <a:endParaRPr lang="en-US" altLang="en-US"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幻灯片图像占位符 1"/>
          <p:cNvSpPr>
            <a:spLocks noGrp="1" noRot="1" noChangeAspect="1" noTextEdit="1"/>
          </p:cNvSpPr>
          <p:nvPr>
            <p:ph type="sldImg"/>
          </p:nvPr>
        </p:nvSpPr>
        <p:spPr/>
      </p:sp>
      <p:sp>
        <p:nvSpPr>
          <p:cNvPr id="40963" name="备注占位符 2"/>
          <p:cNvSpPr>
            <a:spLocks noGrp="1"/>
          </p:cNvSpPr>
          <p:nvPr>
            <p:ph type="body" idx="1"/>
          </p:nvPr>
        </p:nvSpPr>
        <p:spPr/>
        <p:txBody>
          <a:bodyPr wrap="square" lIns="91440" tIns="45720" rIns="91440" bIns="45720" anchor="t" anchorCtr="0"/>
          <a:p>
            <a:pPr lvl="0"/>
            <a:r>
              <a:rPr lang="zh-CN" altLang="en-US" dirty="0"/>
              <a:t>拉姆齐理论（英国数学家）</a:t>
            </a:r>
            <a:endParaRPr lang="zh-CN" altLang="en-US" dirty="0"/>
          </a:p>
        </p:txBody>
      </p:sp>
      <p:sp>
        <p:nvSpPr>
          <p:cNvPr id="40964" name="灯片编号占位符 3"/>
          <p:cNvSpPr txBox="1">
            <a:spLocks noGrp="1"/>
          </p:cNvSpPr>
          <p:nvPr>
            <p:ph type="sldNum" sz="quarter"/>
          </p:nvPr>
        </p:nvSpPr>
        <p:spPr>
          <a:xfrm>
            <a:off x="3779838" y="9429750"/>
            <a:ext cx="2889250" cy="496888"/>
          </a:xfrm>
          <a:prstGeom prst="rect">
            <a:avLst/>
          </a:prstGeom>
          <a:noFill/>
          <a:ln w="9525">
            <a:noFill/>
          </a:ln>
        </p:spPr>
        <p:txBody>
          <a:bodyPr anchor="b" anchorCtr="0"/>
          <a:p>
            <a:pPr lvl="0" algn="r" eaLnBrk="1" hangingPunct="1"/>
            <a:fld id="{9A0DB2DC-4C9A-4742-B13C-FB6460FD3503}" type="slidenum">
              <a:rPr lang="en-US" altLang="en-US" sz="1200" dirty="0"/>
            </a:fld>
            <a:endParaRPr lang="en-US" altLang="en-US" sz="1200"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2050" name="Picture 17" descr="attach"/>
          <p:cNvPicPr>
            <a:picLocks noChangeAspect="1"/>
          </p:cNvPicPr>
          <p:nvPr userDrawn="1"/>
        </p:nvPicPr>
        <p:blipFill>
          <a:blip r:embed="rId2"/>
          <a:stretch>
            <a:fillRect/>
          </a:stretch>
        </p:blipFill>
        <p:spPr>
          <a:xfrm>
            <a:off x="1752600" y="533400"/>
            <a:ext cx="5905500" cy="5905500"/>
          </a:xfrm>
          <a:prstGeom prst="rect">
            <a:avLst/>
          </a:prstGeom>
          <a:noFill/>
          <a:ln w="9525">
            <a:noFill/>
          </a:ln>
        </p:spPr>
      </p:pic>
      <p:grpSp>
        <p:nvGrpSpPr>
          <p:cNvPr id="2051" name="Group 2"/>
          <p:cNvGrpSpPr/>
          <p:nvPr/>
        </p:nvGrpSpPr>
        <p:grpSpPr>
          <a:xfrm>
            <a:off x="0" y="2438400"/>
            <a:ext cx="9009063" cy="1052513"/>
            <a:chOff x="0" y="1536"/>
            <a:chExt cx="5675" cy="663"/>
          </a:xfrm>
        </p:grpSpPr>
        <p:grpSp>
          <p:nvGrpSpPr>
            <p:cNvPr id="2058" name="Group 3"/>
            <p:cNvGrpSpPr/>
            <p:nvPr/>
          </p:nvGrpSpPr>
          <p:grpSpPr>
            <a:xfrm>
              <a:off x="185" y="1604"/>
              <a:ext cx="449" cy="299"/>
              <a:chOff x="720" y="336"/>
              <a:chExt cx="624" cy="432"/>
            </a:xfrm>
          </p:grpSpPr>
          <p:sp>
            <p:nvSpPr>
              <p:cNvPr id="24" name="Rectangle 4"/>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503050405090304" pitchFamily="18" charset="0"/>
                    <a:ea typeface="宋体" pitchFamily="2" charset="-122"/>
                  </a:defRPr>
                </a:lvl1pPr>
                <a:lvl2pPr marL="742950" indent="-285750">
                  <a:defRPr sz="2400">
                    <a:solidFill>
                      <a:schemeClr val="tx1"/>
                    </a:solidFill>
                    <a:latin typeface="Times New Roman" panose="02020503050405090304" pitchFamily="18" charset="0"/>
                    <a:ea typeface="宋体" pitchFamily="2" charset="-122"/>
                  </a:defRPr>
                </a:lvl2pPr>
                <a:lvl3pPr marL="1143000" indent="-228600">
                  <a:defRPr sz="2400">
                    <a:solidFill>
                      <a:schemeClr val="tx1"/>
                    </a:solidFill>
                    <a:latin typeface="Times New Roman" panose="02020503050405090304" pitchFamily="18" charset="0"/>
                    <a:ea typeface="宋体" pitchFamily="2" charset="-122"/>
                  </a:defRPr>
                </a:lvl3pPr>
                <a:lvl4pPr marL="1600200" indent="-228600">
                  <a:defRPr sz="2400">
                    <a:solidFill>
                      <a:schemeClr val="tx1"/>
                    </a:solidFill>
                    <a:latin typeface="Times New Roman" panose="02020503050405090304" pitchFamily="18" charset="0"/>
                    <a:ea typeface="宋体" pitchFamily="2" charset="-122"/>
                  </a:defRPr>
                </a:lvl4pPr>
                <a:lvl5pPr marL="2057400" indent="-228600">
                  <a:defRPr sz="2400">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25"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503050405090304" pitchFamily="18" charset="0"/>
                    <a:ea typeface="宋体" pitchFamily="2" charset="-122"/>
                  </a:defRPr>
                </a:lvl1pPr>
                <a:lvl2pPr marL="742950" indent="-285750">
                  <a:defRPr sz="2400">
                    <a:solidFill>
                      <a:schemeClr val="tx1"/>
                    </a:solidFill>
                    <a:latin typeface="Times New Roman" panose="02020503050405090304" pitchFamily="18" charset="0"/>
                    <a:ea typeface="宋体" pitchFamily="2" charset="-122"/>
                  </a:defRPr>
                </a:lvl2pPr>
                <a:lvl3pPr marL="1143000" indent="-228600">
                  <a:defRPr sz="2400">
                    <a:solidFill>
                      <a:schemeClr val="tx1"/>
                    </a:solidFill>
                    <a:latin typeface="Times New Roman" panose="02020503050405090304" pitchFamily="18" charset="0"/>
                    <a:ea typeface="宋体" pitchFamily="2" charset="-122"/>
                  </a:defRPr>
                </a:lvl3pPr>
                <a:lvl4pPr marL="1600200" indent="-228600">
                  <a:defRPr sz="2400">
                    <a:solidFill>
                      <a:schemeClr val="tx1"/>
                    </a:solidFill>
                    <a:latin typeface="Times New Roman" panose="02020503050405090304" pitchFamily="18" charset="0"/>
                    <a:ea typeface="宋体" pitchFamily="2" charset="-122"/>
                  </a:defRPr>
                </a:lvl4pPr>
                <a:lvl5pPr marL="2057400" indent="-228600">
                  <a:defRPr sz="2400">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grpSp>
        <p:grpSp>
          <p:nvGrpSpPr>
            <p:cNvPr id="2059" name="Group 6"/>
            <p:cNvGrpSpPr/>
            <p:nvPr/>
          </p:nvGrpSpPr>
          <p:grpSpPr>
            <a:xfrm>
              <a:off x="263" y="1870"/>
              <a:ext cx="466" cy="299"/>
              <a:chOff x="912" y="2640"/>
              <a:chExt cx="672" cy="432"/>
            </a:xfrm>
          </p:grpSpPr>
          <p:sp>
            <p:nvSpPr>
              <p:cNvPr id="22" name="Rectangle 7"/>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503050405090304" pitchFamily="18" charset="0"/>
                    <a:ea typeface="宋体" pitchFamily="2" charset="-122"/>
                  </a:defRPr>
                </a:lvl1pPr>
                <a:lvl2pPr marL="742950" indent="-285750">
                  <a:defRPr sz="2400">
                    <a:solidFill>
                      <a:schemeClr val="tx1"/>
                    </a:solidFill>
                    <a:latin typeface="Times New Roman" panose="02020503050405090304" pitchFamily="18" charset="0"/>
                    <a:ea typeface="宋体" pitchFamily="2" charset="-122"/>
                  </a:defRPr>
                </a:lvl2pPr>
                <a:lvl3pPr marL="1143000" indent="-228600">
                  <a:defRPr sz="2400">
                    <a:solidFill>
                      <a:schemeClr val="tx1"/>
                    </a:solidFill>
                    <a:latin typeface="Times New Roman" panose="02020503050405090304" pitchFamily="18" charset="0"/>
                    <a:ea typeface="宋体" pitchFamily="2" charset="-122"/>
                  </a:defRPr>
                </a:lvl3pPr>
                <a:lvl4pPr marL="1600200" indent="-228600">
                  <a:defRPr sz="2400">
                    <a:solidFill>
                      <a:schemeClr val="tx1"/>
                    </a:solidFill>
                    <a:latin typeface="Times New Roman" panose="02020503050405090304" pitchFamily="18" charset="0"/>
                    <a:ea typeface="宋体" pitchFamily="2" charset="-122"/>
                  </a:defRPr>
                </a:lvl4pPr>
                <a:lvl5pPr marL="2057400" indent="-228600">
                  <a:defRPr sz="2400">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23"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503050405090304" pitchFamily="18" charset="0"/>
                    <a:ea typeface="宋体" pitchFamily="2" charset="-122"/>
                  </a:defRPr>
                </a:lvl1pPr>
                <a:lvl2pPr marL="742950" indent="-285750">
                  <a:defRPr sz="2400">
                    <a:solidFill>
                      <a:schemeClr val="tx1"/>
                    </a:solidFill>
                    <a:latin typeface="Times New Roman" panose="02020503050405090304" pitchFamily="18" charset="0"/>
                    <a:ea typeface="宋体" pitchFamily="2" charset="-122"/>
                  </a:defRPr>
                </a:lvl2pPr>
                <a:lvl3pPr marL="1143000" indent="-228600">
                  <a:defRPr sz="2400">
                    <a:solidFill>
                      <a:schemeClr val="tx1"/>
                    </a:solidFill>
                    <a:latin typeface="Times New Roman" panose="02020503050405090304" pitchFamily="18" charset="0"/>
                    <a:ea typeface="宋体" pitchFamily="2" charset="-122"/>
                  </a:defRPr>
                </a:lvl3pPr>
                <a:lvl4pPr marL="1600200" indent="-228600">
                  <a:defRPr sz="2400">
                    <a:solidFill>
                      <a:schemeClr val="tx1"/>
                    </a:solidFill>
                    <a:latin typeface="Times New Roman" panose="02020503050405090304" pitchFamily="18" charset="0"/>
                    <a:ea typeface="宋体" pitchFamily="2" charset="-122"/>
                  </a:defRPr>
                </a:lvl4pPr>
                <a:lvl5pPr marL="2057400" indent="-228600">
                  <a:defRPr sz="2400">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grpSp>
        <p:sp>
          <p:nvSpPr>
            <p:cNvPr id="19"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503050405090304" pitchFamily="18" charset="0"/>
                  <a:ea typeface="宋体" pitchFamily="2" charset="-122"/>
                </a:defRPr>
              </a:lvl1pPr>
              <a:lvl2pPr marL="742950" indent="-285750">
                <a:defRPr sz="2400">
                  <a:solidFill>
                    <a:schemeClr val="tx1"/>
                  </a:solidFill>
                  <a:latin typeface="Times New Roman" panose="02020503050405090304" pitchFamily="18" charset="0"/>
                  <a:ea typeface="宋体" pitchFamily="2" charset="-122"/>
                </a:defRPr>
              </a:lvl2pPr>
              <a:lvl3pPr marL="1143000" indent="-228600">
                <a:defRPr sz="2400">
                  <a:solidFill>
                    <a:schemeClr val="tx1"/>
                  </a:solidFill>
                  <a:latin typeface="Times New Roman" panose="02020503050405090304" pitchFamily="18" charset="0"/>
                  <a:ea typeface="宋体" pitchFamily="2" charset="-122"/>
                </a:defRPr>
              </a:lvl3pPr>
              <a:lvl4pPr marL="1600200" indent="-228600">
                <a:defRPr sz="2400">
                  <a:solidFill>
                    <a:schemeClr val="tx1"/>
                  </a:solidFill>
                  <a:latin typeface="Times New Roman" panose="02020503050405090304" pitchFamily="18" charset="0"/>
                  <a:ea typeface="宋体" pitchFamily="2" charset="-122"/>
                </a:defRPr>
              </a:lvl4pPr>
              <a:lvl5pPr marL="2057400" indent="-228600">
                <a:defRPr sz="2400">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20" name="Rectangle 10"/>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503050405090304" pitchFamily="18" charset="0"/>
                  <a:ea typeface="宋体" pitchFamily="2" charset="-122"/>
                </a:defRPr>
              </a:lvl1pPr>
              <a:lvl2pPr marL="742950" indent="-285750">
                <a:defRPr sz="2400">
                  <a:solidFill>
                    <a:schemeClr val="tx1"/>
                  </a:solidFill>
                  <a:latin typeface="Times New Roman" panose="02020503050405090304" pitchFamily="18" charset="0"/>
                  <a:ea typeface="宋体" pitchFamily="2" charset="-122"/>
                </a:defRPr>
              </a:lvl2pPr>
              <a:lvl3pPr marL="1143000" indent="-228600">
                <a:defRPr sz="2400">
                  <a:solidFill>
                    <a:schemeClr val="tx1"/>
                  </a:solidFill>
                  <a:latin typeface="Times New Roman" panose="02020503050405090304" pitchFamily="18" charset="0"/>
                  <a:ea typeface="宋体" pitchFamily="2" charset="-122"/>
                </a:defRPr>
              </a:lvl3pPr>
              <a:lvl4pPr marL="1600200" indent="-228600">
                <a:defRPr sz="2400">
                  <a:solidFill>
                    <a:schemeClr val="tx1"/>
                  </a:solidFill>
                  <a:latin typeface="Times New Roman" panose="02020503050405090304" pitchFamily="18" charset="0"/>
                  <a:ea typeface="宋体" pitchFamily="2" charset="-122"/>
                </a:defRPr>
              </a:lvl4pPr>
              <a:lvl5pPr marL="2057400" indent="-228600">
                <a:defRPr sz="2400">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21"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503050405090304" pitchFamily="18" charset="0"/>
                  <a:ea typeface="宋体" pitchFamily="2" charset="-122"/>
                </a:defRPr>
              </a:lvl1pPr>
              <a:lvl2pPr marL="742950" indent="-285750">
                <a:defRPr sz="2400">
                  <a:solidFill>
                    <a:schemeClr val="tx1"/>
                  </a:solidFill>
                  <a:latin typeface="Times New Roman" panose="02020503050405090304" pitchFamily="18" charset="0"/>
                  <a:ea typeface="宋体" pitchFamily="2" charset="-122"/>
                </a:defRPr>
              </a:lvl2pPr>
              <a:lvl3pPr marL="1143000" indent="-228600">
                <a:defRPr sz="2400">
                  <a:solidFill>
                    <a:schemeClr val="tx1"/>
                  </a:solidFill>
                  <a:latin typeface="Times New Roman" panose="02020503050405090304" pitchFamily="18" charset="0"/>
                  <a:ea typeface="宋体" pitchFamily="2" charset="-122"/>
                </a:defRPr>
              </a:lvl3pPr>
              <a:lvl4pPr marL="1600200" indent="-228600">
                <a:defRPr sz="2400">
                  <a:solidFill>
                    <a:schemeClr val="tx1"/>
                  </a:solidFill>
                  <a:latin typeface="Times New Roman" panose="02020503050405090304" pitchFamily="18" charset="0"/>
                  <a:ea typeface="宋体" pitchFamily="2" charset="-122"/>
                </a:defRPr>
              </a:lvl4pPr>
              <a:lvl5pPr marL="2057400" indent="-228600">
                <a:defRPr sz="2400">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grpSp>
      <p:sp>
        <p:nvSpPr>
          <p:cNvPr id="26" name="Rectangle 18"/>
          <p:cNvSpPr>
            <a:spLocks noChangeArrowheads="1"/>
          </p:cNvSpPr>
          <p:nvPr/>
        </p:nvSpPr>
        <p:spPr bwMode="auto">
          <a:xfrm>
            <a:off x="4419600" y="4114800"/>
            <a:ext cx="4724400" cy="181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503050405090304" pitchFamily="18" charset="0"/>
                <a:ea typeface="宋体" pitchFamily="2" charset="-122"/>
              </a:defRPr>
            </a:lvl1pPr>
            <a:lvl2pPr marL="742950" indent="-285750">
              <a:defRPr sz="2400">
                <a:solidFill>
                  <a:schemeClr val="tx1"/>
                </a:solidFill>
                <a:latin typeface="Times New Roman" panose="02020503050405090304" pitchFamily="18" charset="0"/>
                <a:ea typeface="宋体" pitchFamily="2" charset="-122"/>
              </a:defRPr>
            </a:lvl2pPr>
            <a:lvl3pPr marL="1143000" indent="-228600">
              <a:defRPr sz="2400">
                <a:solidFill>
                  <a:schemeClr val="tx1"/>
                </a:solidFill>
                <a:latin typeface="Times New Roman" panose="02020503050405090304" pitchFamily="18" charset="0"/>
                <a:ea typeface="宋体" pitchFamily="2" charset="-122"/>
              </a:defRPr>
            </a:lvl3pPr>
            <a:lvl4pPr marL="1600200" indent="-228600">
              <a:defRPr sz="2400">
                <a:solidFill>
                  <a:schemeClr val="tx1"/>
                </a:solidFill>
                <a:latin typeface="Times New Roman" panose="02020503050405090304" pitchFamily="18" charset="0"/>
                <a:ea typeface="宋体" pitchFamily="2" charset="-122"/>
              </a:defRPr>
            </a:lvl4pPr>
            <a:lvl5pPr marL="2057400" indent="-228600">
              <a:defRPr sz="2400">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9pPr>
          </a:lstStyle>
          <a:p>
            <a:pPr marL="0" marR="0" lvl="0" indent="0" algn="l" defTabSz="914400" rtl="0" eaLnBrk="1" fontAlgn="base" latinLnBrk="0" hangingPunct="1">
              <a:lnSpc>
                <a:spcPct val="100000"/>
              </a:lnSpc>
              <a:spcBef>
                <a:spcPct val="50000"/>
              </a:spcBef>
              <a:spcAft>
                <a:spcPct val="0"/>
              </a:spcAft>
              <a:buClr>
                <a:schemeClr val="folHlink"/>
              </a:buClr>
              <a:buSzPct val="60000"/>
              <a:buFont typeface="Wingdings" panose="05000000000000000000" pitchFamily="2" charset="2"/>
              <a:buNone/>
              <a:defRPr/>
            </a:pPr>
            <a:r>
              <a:rPr kumimoji="0" lang="en-US" altLang="zh-CN" sz="2400" b="0" i="0" u="none" strike="noStrike" kern="1200" cap="none" spc="0" normalizeH="0" baseline="0" noProof="0">
                <a:ln>
                  <a:noFill/>
                </a:ln>
                <a:solidFill>
                  <a:schemeClr val="folHlink"/>
                </a:solidFill>
                <a:effectLst/>
                <a:uLnTx/>
                <a:uFillTx/>
                <a:latin typeface="Copperplate Gothic Light" panose="020E0507020206020404" pitchFamily="34" charset="0"/>
                <a:ea typeface="宋体" pitchFamily="2" charset="-122"/>
                <a:cs typeface="+mn-cs"/>
              </a:rPr>
              <a:t>Yang Juan</a:t>
            </a:r>
            <a:endParaRPr kumimoji="0" lang="en-US" altLang="zh-CN" sz="2400" b="0" i="0" u="none" strike="noStrike" kern="1200" cap="none" spc="0" normalizeH="0" baseline="0" noProof="0">
              <a:ln>
                <a:noFill/>
              </a:ln>
              <a:solidFill>
                <a:schemeClr val="folHlink"/>
              </a:solidFill>
              <a:effectLst/>
              <a:uLnTx/>
              <a:uFillTx/>
              <a:latin typeface="Copperplate Gothic Light" panose="020E0507020206020404" pitchFamily="34" charset="0"/>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
                <a:schemeClr val="folHlink"/>
              </a:buClr>
              <a:buSzPct val="60000"/>
              <a:buFont typeface="Wingdings" panose="05000000000000000000" pitchFamily="2" charset="2"/>
              <a:buNone/>
              <a:defRPr/>
            </a:pPr>
            <a:r>
              <a:rPr kumimoji="0" lang="en-US" altLang="zh-CN" sz="1600" b="0" i="0" u="none" strike="noStrike" kern="1200" cap="none" spc="0" normalizeH="0" baseline="0" noProof="0">
                <a:ln>
                  <a:noFill/>
                </a:ln>
                <a:solidFill>
                  <a:srgbClr val="009999"/>
                </a:solidFill>
                <a:effectLst/>
                <a:uLnTx/>
                <a:uFillTx/>
                <a:latin typeface="Times New Roman" panose="02020503050405090304" pitchFamily="18" charset="0"/>
                <a:ea typeface="宋体" pitchFamily="2" charset="-122"/>
                <a:cs typeface="+mn-cs"/>
              </a:rPr>
              <a:t>yangjuan@bupt.edu.cn</a:t>
            </a:r>
            <a:endParaRPr kumimoji="0" lang="en-US" altLang="zh-CN" sz="1600" b="0" i="0" u="none" strike="noStrike" kern="1200" cap="none" spc="0" normalizeH="0" baseline="0" noProof="0">
              <a:ln>
                <a:noFill/>
              </a:ln>
              <a:solidFill>
                <a:srgbClr val="009999"/>
              </a:solidFill>
              <a:effectLst/>
              <a:uLnTx/>
              <a:uFillTx/>
              <a:latin typeface="Tahoma" panose="020B0604030504040204" pitchFamily="34" charset="0"/>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
                <a:schemeClr val="folHlink"/>
              </a:buClr>
              <a:buSzPct val="60000"/>
              <a:buFont typeface="Wingdings" panose="05000000000000000000" pitchFamily="2" charset="2"/>
              <a:buNone/>
              <a:defRPr/>
            </a:pPr>
            <a:r>
              <a:rPr kumimoji="0" lang="en-US" altLang="zh-CN" sz="1600" b="0" i="0" u="none" strike="noStrike" kern="1200" cap="none" spc="0" normalizeH="0" baseline="0" noProof="0">
                <a:ln>
                  <a:noFill/>
                </a:ln>
                <a:solidFill>
                  <a:srgbClr val="009999"/>
                </a:solidFill>
                <a:effectLst/>
                <a:uLnTx/>
                <a:uFillTx/>
                <a:latin typeface="Copperplate Gothic Light" panose="020E0507020206020404" pitchFamily="34" charset="0"/>
                <a:ea typeface="宋体" pitchFamily="2" charset="-122"/>
                <a:cs typeface="+mn-cs"/>
              </a:rPr>
              <a:t>School of Computer Science </a:t>
            </a:r>
            <a:endParaRPr kumimoji="0" lang="en-US" altLang="zh-CN" sz="1600" b="0" i="0" u="none" strike="noStrike" kern="1200" cap="none" spc="0" normalizeH="0" baseline="0" noProof="0">
              <a:ln>
                <a:noFill/>
              </a:ln>
              <a:solidFill>
                <a:srgbClr val="009999"/>
              </a:solidFill>
              <a:effectLst/>
              <a:uLnTx/>
              <a:uFillTx/>
              <a:latin typeface="Copperplate Gothic Light" panose="020E0507020206020404" pitchFamily="34" charset="0"/>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
                <a:schemeClr val="folHlink"/>
              </a:buClr>
              <a:buSzPct val="60000"/>
              <a:buFont typeface="Wingdings" panose="05000000000000000000" pitchFamily="2" charset="2"/>
              <a:buNone/>
              <a:defRPr/>
            </a:pPr>
            <a:r>
              <a:rPr kumimoji="0" lang="en-US" altLang="zh-CN" sz="1600" b="0" i="0" u="none" strike="noStrike" kern="1200" cap="none" spc="0" normalizeH="0" baseline="0" noProof="0">
                <a:ln>
                  <a:noFill/>
                </a:ln>
                <a:solidFill>
                  <a:srgbClr val="009999"/>
                </a:solidFill>
                <a:effectLst/>
                <a:uLnTx/>
                <a:uFillTx/>
                <a:latin typeface="Copperplate Gothic Light" panose="020E0507020206020404" pitchFamily="34" charset="0"/>
                <a:ea typeface="宋体" pitchFamily="2" charset="-122"/>
                <a:cs typeface="+mn-cs"/>
              </a:rPr>
              <a:t>Beijing University of Posts &amp; Telecommunications</a:t>
            </a:r>
            <a:endParaRPr kumimoji="0" lang="zh-CN" altLang="en-US" sz="1600" b="0" i="0" u="none" strike="noStrike" kern="1200" cap="none" spc="0" normalizeH="0" baseline="0" noProof="0">
              <a:ln>
                <a:noFill/>
              </a:ln>
              <a:solidFill>
                <a:srgbClr val="009999"/>
              </a:solidFill>
              <a:effectLst/>
              <a:uLnTx/>
              <a:uFillTx/>
              <a:latin typeface="Copperplate Gothic Light" panose="020E0507020206020404" pitchFamily="34" charset="0"/>
              <a:ea typeface="宋体" pitchFamily="2" charset="-122"/>
              <a:cs typeface="+mn-cs"/>
            </a:endParaRPr>
          </a:p>
        </p:txBody>
      </p:sp>
      <p:sp>
        <p:nvSpPr>
          <p:cNvPr id="153612" name="Rectangle 12"/>
          <p:cNvSpPr>
            <a:spLocks noGrp="1" noChangeArrowheads="1"/>
          </p:cNvSpPr>
          <p:nvPr>
            <p:ph type="ctrTitle"/>
          </p:nvPr>
        </p:nvSpPr>
        <p:spPr>
          <a:xfrm>
            <a:off x="990600" y="1828800"/>
            <a:ext cx="7772400" cy="1143000"/>
          </a:xfrm>
        </p:spPr>
        <p:txBody>
          <a:bodyPr/>
          <a:lstStyle>
            <a:lvl1pPr>
              <a:defRPr/>
            </a:lvl1pPr>
          </a:lstStyle>
          <a:p>
            <a:r>
              <a:rPr lang="zh-CN" altLang="en-US" noProof="1"/>
              <a:t>单击此处编辑母版标题样式</a:t>
            </a:r>
            <a:endParaRPr lang="zh-CN" altLang="en-US" noProof="1"/>
          </a:p>
        </p:txBody>
      </p:sp>
      <p:sp>
        <p:nvSpPr>
          <p:cNvPr id="153613"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noProof="1"/>
              <a:t>单击此处编辑母版副标题样式</a:t>
            </a:r>
            <a:endParaRPr lang="zh-CN" altLang="en-US" noProof="1"/>
          </a:p>
        </p:txBody>
      </p:sp>
      <p:sp>
        <p:nvSpPr>
          <p:cNvPr id="27" name="Rectangle 14"/>
          <p:cNvSpPr>
            <a:spLocks noGrp="1" noChangeArrowheads="1"/>
          </p:cNvSpPr>
          <p:nvPr>
            <p:ph type="dt" sz="half" idx="2"/>
          </p:nvPr>
        </p:nvSpPr>
        <p:spPr bwMode="auto">
          <a:xfrm>
            <a:off x="990600" y="6248400"/>
            <a:ext cx="1905000" cy="457200"/>
          </a:xfrm>
          <a:prstGeom prst="rect">
            <a:avLst/>
          </a:prstGeom>
          <a:ln>
            <a:miter lim="800000"/>
          </a:ln>
        </p:spPr>
        <p:txBody>
          <a:bodyPr vert="horz" wrap="square" lIns="91440" tIns="45720" rIns="91440" bIns="45720" numCol="1" anchor="b" anchorCtr="0" compatLnSpc="1"/>
          <a:lstStyle>
            <a:lvl1pPr>
              <a:defRPr sz="1400" b="0" i="0">
                <a:solidFill>
                  <a:schemeClr val="bg2"/>
                </a:solidFill>
                <a:latin typeface="Tahoma" panose="020B060403050404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5EB4846F-E8AD-46E3-96F6-70305444BF73}" type="datetime1">
              <a:rPr kumimoji="0" lang="zh-CN" altLang="en-US" sz="1400" b="0" i="0" u="none" strike="noStrike" kern="1200" cap="none" spc="0" normalizeH="0" baseline="0" noProof="1">
                <a:ln>
                  <a:noFill/>
                </a:ln>
                <a:solidFill>
                  <a:schemeClr val="bg2"/>
                </a:solidFill>
                <a:effectLst/>
                <a:uLnTx/>
                <a:uFillTx/>
                <a:latin typeface="Tahoma" panose="020B0604030504040204" pitchFamily="34" charset="0"/>
                <a:ea typeface="宋体" pitchFamily="2" charset="-122"/>
                <a:cs typeface="+mn-cs"/>
              </a:rPr>
            </a:fld>
            <a:endParaRPr kumimoji="0" lang="en-US" altLang="zh-CN" sz="1400" b="0" i="0" u="none" strike="noStrike" kern="1200" cap="none" spc="0" normalizeH="0" baseline="0" noProof="1">
              <a:ln>
                <a:noFill/>
              </a:ln>
              <a:solidFill>
                <a:schemeClr val="bg2"/>
              </a:solidFill>
              <a:effectLst/>
              <a:uLnTx/>
              <a:uFillTx/>
              <a:latin typeface="Tahoma" panose="020B0604030504040204" pitchFamily="34" charset="0"/>
              <a:ea typeface="宋体" pitchFamily="2" charset="-122"/>
              <a:cs typeface="+mn-cs"/>
            </a:endParaRPr>
          </a:p>
        </p:txBody>
      </p:sp>
      <p:sp>
        <p:nvSpPr>
          <p:cNvPr id="28" name="Rectangle 15"/>
          <p:cNvSpPr>
            <a:spLocks noGrp="1" noChangeArrowheads="1"/>
          </p:cNvSpPr>
          <p:nvPr>
            <p:ph type="ftr" sz="quarter" idx="3"/>
          </p:nvPr>
        </p:nvSpPr>
        <p:spPr bwMode="auto">
          <a:xfrm>
            <a:off x="3429000" y="6248400"/>
            <a:ext cx="2895600" cy="457200"/>
          </a:xfrm>
          <a:prstGeom prst="rect">
            <a:avLst/>
          </a:prstGeom>
          <a:ln>
            <a:miter lim="800000"/>
          </a:ln>
        </p:spPr>
        <p:txBody>
          <a:bodyPr vert="horz" wrap="square" lIns="91440" tIns="45720" rIns="91440" bIns="45720" numCol="1" anchor="b" anchorCtr="0" compatLnSpc="1"/>
          <a:lstStyle>
            <a:lvl1pPr>
              <a:lnSpc>
                <a:spcPct val="100000"/>
              </a:lnSpc>
              <a:defRPr kumimoji="0" sz="1400" b="0" i="0">
                <a:solidFill>
                  <a:schemeClr val="bg2"/>
                </a:solidFill>
                <a:latin typeface="Tahoma" panose="020B060403050404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1">
              <a:ln>
                <a:noFill/>
              </a:ln>
              <a:solidFill>
                <a:schemeClr val="bg2"/>
              </a:solidFill>
              <a:effectLst/>
              <a:uLnTx/>
              <a:uFillTx/>
              <a:latin typeface="Tahoma" panose="020B0604030504040204" pitchFamily="34" charset="0"/>
              <a:ea typeface="宋体" pitchFamily="2" charset="-122"/>
              <a:cs typeface="+mn-cs"/>
            </a:endParaRPr>
          </a:p>
        </p:txBody>
      </p:sp>
      <p:sp>
        <p:nvSpPr>
          <p:cNvPr id="29" name="Rectangle 16"/>
          <p:cNvSpPr>
            <a:spLocks noGrp="1" noChangeArrowheads="1"/>
          </p:cNvSpPr>
          <p:nvPr>
            <p:ph type="sldNum" sz="quarter" idx="4"/>
          </p:nvPr>
        </p:nvSpPr>
        <p:spPr bwMode="auto">
          <a:xfrm>
            <a:off x="6858000" y="6248400"/>
            <a:ext cx="1905000" cy="457200"/>
          </a:xfrm>
          <a:prstGeom prst="rect">
            <a:avLst/>
          </a:prstGeom>
          <a:ln>
            <a:miter lim="800000"/>
          </a:ln>
        </p:spPr>
        <p:txBody>
          <a:bodyPr vert="horz" wrap="square" lIns="91440" tIns="45720" rIns="91440" bIns="45720" numCol="1" anchor="b" anchorCtr="0" compatLnSpc="1"/>
          <a:lstStyle>
            <a:lvl1pPr>
              <a:defRPr sz="1400" b="0" i="0">
                <a:solidFill>
                  <a:schemeClr val="bg2"/>
                </a:solidFill>
                <a:latin typeface="Tahoma" panose="020B060403050404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05D6D47-6D19-489C-AB43-A29EDE0E12FB}" type="slidenum">
              <a:rPr kumimoji="0" lang="zh-CN" altLang="en-US" sz="1400" b="0" i="0" u="none" strike="noStrike" kern="1200" cap="none" spc="0" normalizeH="0" baseline="0" noProof="1">
                <a:ln>
                  <a:noFill/>
                </a:ln>
                <a:solidFill>
                  <a:schemeClr val="bg2"/>
                </a:solidFill>
                <a:effectLst/>
                <a:uLnTx/>
                <a:uFillTx/>
                <a:latin typeface="Tahoma" panose="020B0604030504040204" pitchFamily="34" charset="0"/>
                <a:ea typeface="宋体" pitchFamily="2" charset="-122"/>
                <a:cs typeface="+mn-cs"/>
              </a:rPr>
            </a:fld>
            <a:endParaRPr kumimoji="0" lang="en-US" altLang="zh-CN" sz="1400" b="0" i="0" u="none" strike="noStrike" kern="1200" cap="none" spc="0" normalizeH="0" baseline="0" noProof="1">
              <a:ln>
                <a:noFill/>
              </a:ln>
              <a:solidFill>
                <a:schemeClr val="bg2"/>
              </a:solidFill>
              <a:effectLst/>
              <a:uLnTx/>
              <a:uFillTx/>
              <a:latin typeface="Tahoma" panose="020B0604030504040204" pitchFamily="34" charset="0"/>
              <a:ea typeface="宋体"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AD87234-46D5-4CEF-8317-14CBFB1501C4}" type="slidenum">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C8A65A6A-87E2-455F-892B-65C20A4DB041}" type="datetime1">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6" name="页脚占位符 5"/>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AD87234-46D5-4CEF-8317-14CBFB1501C4}" type="slidenum">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C8A65A6A-87E2-455F-892B-65C20A4DB041}" type="datetime1">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6" name="页脚占位符 5"/>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AD87234-46D5-4CEF-8317-14CBFB1501C4}" type="slidenum">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6" name="日期占位符 5"/>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C8A65A6A-87E2-455F-892B-65C20A4DB041}" type="datetime1">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7" name="页脚占位符 6"/>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灯片编号占位符 6"/>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AD87234-46D5-4CEF-8317-14CBFB1501C4}" type="slidenum">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8" name="日期占位符 7"/>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C8A65A6A-87E2-455F-892B-65C20A4DB041}" type="datetime1">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9" name="页脚占位符 8"/>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灯片编号占位符 2"/>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AD87234-46D5-4CEF-8317-14CBFB1501C4}" type="slidenum">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4" name="日期占位符 3"/>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C8A65A6A-87E2-455F-892B-65C20A4DB041}" type="datetime1">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5" name="页脚占位符 4"/>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AD87234-46D5-4CEF-8317-14CBFB1501C4}" type="slidenum">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3" name="日期占位符 2"/>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C8A65A6A-87E2-455F-892B-65C20A4DB041}" type="datetime1">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4" name="页脚占位符 3"/>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AD87234-46D5-4CEF-8317-14CBFB1501C4}" type="slidenum">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6" name="日期占位符 5"/>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C8A65A6A-87E2-455F-892B-65C20A4DB041}" type="datetime1">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7" name="页脚占位符 6"/>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AD87234-46D5-4CEF-8317-14CBFB1501C4}" type="slidenum">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6" name="日期占位符 5"/>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C8A65A6A-87E2-455F-892B-65C20A4DB041}" type="datetime1">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7" name="页脚占位符 6"/>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AD87234-46D5-4CEF-8317-14CBFB1501C4}" type="slidenum">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C8A65A6A-87E2-455F-892B-65C20A4DB041}" type="datetime1">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6" name="页脚占位符 5"/>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617538"/>
            <a:ext cx="1951038" cy="5514975"/>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1150938" y="617538"/>
            <a:ext cx="5700712" cy="5514975"/>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AD87234-46D5-4CEF-8317-14CBFB1501C4}" type="slidenum">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C8A65A6A-87E2-455F-892B-65C20A4DB041}" type="datetime1">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6" name="页脚占位符 5"/>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617538"/>
            <a:ext cx="7793037" cy="1143000"/>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1182688" y="2017713"/>
            <a:ext cx="3810000" cy="41148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5145088" y="2017713"/>
            <a:ext cx="3810000" cy="41148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AD87234-46D5-4CEF-8317-14CBFB1501C4}" type="slidenum">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6" name="日期占位符 5"/>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C8A65A6A-87E2-455F-892B-65C20A4DB041}" type="datetime1">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7" name="页脚占位符 6"/>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18" descr="attach"/>
          <p:cNvPicPr>
            <a:picLocks noChangeAspect="1"/>
          </p:cNvPicPr>
          <p:nvPr userDrawn="1"/>
        </p:nvPicPr>
        <p:blipFill>
          <a:blip r:embed="rId13"/>
          <a:stretch>
            <a:fillRect/>
          </a:stretch>
        </p:blipFill>
        <p:spPr>
          <a:xfrm>
            <a:off x="1752600" y="533400"/>
            <a:ext cx="5905500" cy="5905500"/>
          </a:xfrm>
          <a:prstGeom prst="rect">
            <a:avLst/>
          </a:prstGeom>
          <a:noFill/>
          <a:ln w="9525">
            <a:noFill/>
          </a:ln>
        </p:spPr>
      </p:pic>
      <p:sp>
        <p:nvSpPr>
          <p:cNvPr id="152592" name="Rectangle 16"/>
          <p:cNvSpPr>
            <a:spLocks noGrp="1" noChangeArrowheads="1"/>
          </p:cNvSpPr>
          <p:nvPr>
            <p:ph type="sldNum" sz="quarter" idx="4"/>
          </p:nvPr>
        </p:nvSpPr>
        <p:spPr bwMode="auto">
          <a:xfrm>
            <a:off x="7620000" y="6400800"/>
            <a:ext cx="1524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0" sz="1000" b="1" i="1" noProof="1">
                <a:solidFill>
                  <a:srgbClr val="009999"/>
                </a:solidFill>
                <a:latin typeface="Arial Narrow" panose="020B060602020203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CAD87234-46D5-4CEF-8317-14CBFB1501C4}" type="slidenum">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1028" name="Rectangle 2"/>
          <p:cNvSpPr>
            <a:spLocks noChangeArrowheads="1"/>
          </p:cNvSpPr>
          <p:nvPr/>
        </p:nvSpPr>
        <p:spPr bwMode="auto">
          <a:xfrm>
            <a:off x="417513" y="52451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503050405090304" pitchFamily="18" charset="0"/>
                <a:ea typeface="宋体" pitchFamily="2" charset="-122"/>
              </a:defRPr>
            </a:lvl1pPr>
            <a:lvl2pPr marL="742950" indent="-285750">
              <a:defRPr sz="2400">
                <a:solidFill>
                  <a:schemeClr val="tx1"/>
                </a:solidFill>
                <a:latin typeface="Times New Roman" panose="02020503050405090304" pitchFamily="18" charset="0"/>
                <a:ea typeface="宋体" pitchFamily="2" charset="-122"/>
              </a:defRPr>
            </a:lvl2pPr>
            <a:lvl3pPr marL="1143000" indent="-228600">
              <a:defRPr sz="2400">
                <a:solidFill>
                  <a:schemeClr val="tx1"/>
                </a:solidFill>
                <a:latin typeface="Times New Roman" panose="02020503050405090304" pitchFamily="18" charset="0"/>
                <a:ea typeface="宋体" pitchFamily="2" charset="-122"/>
              </a:defRPr>
            </a:lvl3pPr>
            <a:lvl4pPr marL="1600200" indent="-228600">
              <a:defRPr sz="2400">
                <a:solidFill>
                  <a:schemeClr val="tx1"/>
                </a:solidFill>
                <a:latin typeface="Times New Roman" panose="02020503050405090304" pitchFamily="18" charset="0"/>
                <a:ea typeface="宋体" pitchFamily="2" charset="-122"/>
              </a:defRPr>
            </a:lvl4pPr>
            <a:lvl5pPr marL="2057400" indent="-228600">
              <a:defRPr sz="2400">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29" name="Rectangle 3"/>
          <p:cNvSpPr>
            <a:spLocks noChangeArrowheads="1"/>
          </p:cNvSpPr>
          <p:nvPr/>
        </p:nvSpPr>
        <p:spPr bwMode="auto">
          <a:xfrm>
            <a:off x="800100" y="52451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503050405090304" pitchFamily="18" charset="0"/>
                <a:ea typeface="宋体" pitchFamily="2" charset="-122"/>
              </a:defRPr>
            </a:lvl1pPr>
            <a:lvl2pPr marL="742950" indent="-285750">
              <a:defRPr sz="2400">
                <a:solidFill>
                  <a:schemeClr val="tx1"/>
                </a:solidFill>
                <a:latin typeface="Times New Roman" panose="02020503050405090304" pitchFamily="18" charset="0"/>
                <a:ea typeface="宋体" pitchFamily="2" charset="-122"/>
              </a:defRPr>
            </a:lvl2pPr>
            <a:lvl3pPr marL="1143000" indent="-228600">
              <a:defRPr sz="2400">
                <a:solidFill>
                  <a:schemeClr val="tx1"/>
                </a:solidFill>
                <a:latin typeface="Times New Roman" panose="02020503050405090304" pitchFamily="18" charset="0"/>
                <a:ea typeface="宋体" pitchFamily="2" charset="-122"/>
              </a:defRPr>
            </a:lvl3pPr>
            <a:lvl4pPr marL="1600200" indent="-228600">
              <a:defRPr sz="2400">
                <a:solidFill>
                  <a:schemeClr val="tx1"/>
                </a:solidFill>
                <a:latin typeface="Times New Roman" panose="02020503050405090304" pitchFamily="18" charset="0"/>
                <a:ea typeface="宋体" pitchFamily="2" charset="-122"/>
              </a:defRPr>
            </a:lvl4pPr>
            <a:lvl5pPr marL="2057400" indent="-228600">
              <a:defRPr sz="2400">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0" name="Rectangle 4"/>
          <p:cNvSpPr>
            <a:spLocks noChangeArrowheads="1"/>
          </p:cNvSpPr>
          <p:nvPr/>
        </p:nvSpPr>
        <p:spPr bwMode="auto">
          <a:xfrm>
            <a:off x="541338" y="94678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503050405090304" pitchFamily="18" charset="0"/>
                <a:ea typeface="宋体" pitchFamily="2" charset="-122"/>
              </a:defRPr>
            </a:lvl1pPr>
            <a:lvl2pPr marL="742950" indent="-285750">
              <a:defRPr sz="2400">
                <a:solidFill>
                  <a:schemeClr val="tx1"/>
                </a:solidFill>
                <a:latin typeface="Times New Roman" panose="02020503050405090304" pitchFamily="18" charset="0"/>
                <a:ea typeface="宋体" pitchFamily="2" charset="-122"/>
              </a:defRPr>
            </a:lvl2pPr>
            <a:lvl3pPr marL="1143000" indent="-228600">
              <a:defRPr sz="2400">
                <a:solidFill>
                  <a:schemeClr val="tx1"/>
                </a:solidFill>
                <a:latin typeface="Times New Roman" panose="02020503050405090304" pitchFamily="18" charset="0"/>
                <a:ea typeface="宋体" pitchFamily="2" charset="-122"/>
              </a:defRPr>
            </a:lvl3pPr>
            <a:lvl4pPr marL="1600200" indent="-228600">
              <a:defRPr sz="2400">
                <a:solidFill>
                  <a:schemeClr val="tx1"/>
                </a:solidFill>
                <a:latin typeface="Times New Roman" panose="02020503050405090304" pitchFamily="18" charset="0"/>
                <a:ea typeface="宋体" pitchFamily="2" charset="-122"/>
              </a:defRPr>
            </a:lvl4pPr>
            <a:lvl5pPr marL="2057400" indent="-228600">
              <a:defRPr sz="2400">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1" name="Rectangle 5"/>
          <p:cNvSpPr>
            <a:spLocks noChangeArrowheads="1"/>
          </p:cNvSpPr>
          <p:nvPr/>
        </p:nvSpPr>
        <p:spPr bwMode="auto">
          <a:xfrm>
            <a:off x="911225" y="94678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503050405090304" pitchFamily="18" charset="0"/>
                <a:ea typeface="宋体" pitchFamily="2" charset="-122"/>
              </a:defRPr>
            </a:lvl1pPr>
            <a:lvl2pPr marL="742950" indent="-285750">
              <a:defRPr sz="2400">
                <a:solidFill>
                  <a:schemeClr val="tx1"/>
                </a:solidFill>
                <a:latin typeface="Times New Roman" panose="02020503050405090304" pitchFamily="18" charset="0"/>
                <a:ea typeface="宋体" pitchFamily="2" charset="-122"/>
              </a:defRPr>
            </a:lvl2pPr>
            <a:lvl3pPr marL="1143000" indent="-228600">
              <a:defRPr sz="2400">
                <a:solidFill>
                  <a:schemeClr val="tx1"/>
                </a:solidFill>
                <a:latin typeface="Times New Roman" panose="02020503050405090304" pitchFamily="18" charset="0"/>
                <a:ea typeface="宋体" pitchFamily="2" charset="-122"/>
              </a:defRPr>
            </a:lvl3pPr>
            <a:lvl4pPr marL="1600200" indent="-228600">
              <a:defRPr sz="2400">
                <a:solidFill>
                  <a:schemeClr val="tx1"/>
                </a:solidFill>
                <a:latin typeface="Times New Roman" panose="02020503050405090304" pitchFamily="18" charset="0"/>
                <a:ea typeface="宋体" pitchFamily="2" charset="-122"/>
              </a:defRPr>
            </a:lvl4pPr>
            <a:lvl5pPr marL="2057400" indent="-228600">
              <a:defRPr sz="2400">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2" name="Rectangle 6"/>
          <p:cNvSpPr>
            <a:spLocks noChangeArrowheads="1"/>
          </p:cNvSpPr>
          <p:nvPr/>
        </p:nvSpPr>
        <p:spPr bwMode="auto">
          <a:xfrm>
            <a:off x="127000" y="87376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503050405090304" pitchFamily="18" charset="0"/>
                <a:ea typeface="宋体" pitchFamily="2" charset="-122"/>
              </a:defRPr>
            </a:lvl1pPr>
            <a:lvl2pPr marL="742950" indent="-285750">
              <a:defRPr sz="2400">
                <a:solidFill>
                  <a:schemeClr val="tx1"/>
                </a:solidFill>
                <a:latin typeface="Times New Roman" panose="02020503050405090304" pitchFamily="18" charset="0"/>
                <a:ea typeface="宋体" pitchFamily="2" charset="-122"/>
              </a:defRPr>
            </a:lvl2pPr>
            <a:lvl3pPr marL="1143000" indent="-228600">
              <a:defRPr sz="2400">
                <a:solidFill>
                  <a:schemeClr val="tx1"/>
                </a:solidFill>
                <a:latin typeface="Times New Roman" panose="02020503050405090304" pitchFamily="18" charset="0"/>
                <a:ea typeface="宋体" pitchFamily="2" charset="-122"/>
              </a:defRPr>
            </a:lvl3pPr>
            <a:lvl4pPr marL="1600200" indent="-228600">
              <a:defRPr sz="2400">
                <a:solidFill>
                  <a:schemeClr val="tx1"/>
                </a:solidFill>
                <a:latin typeface="Times New Roman" panose="02020503050405090304" pitchFamily="18" charset="0"/>
                <a:ea typeface="宋体" pitchFamily="2" charset="-122"/>
              </a:defRPr>
            </a:lvl4pPr>
            <a:lvl5pPr marL="2057400" indent="-228600">
              <a:defRPr sz="2400">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3" name="Rectangle 7"/>
          <p:cNvSpPr>
            <a:spLocks noChangeArrowheads="1"/>
          </p:cNvSpPr>
          <p:nvPr/>
        </p:nvSpPr>
        <p:spPr bwMode="auto">
          <a:xfrm>
            <a:off x="762000" y="41656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503050405090304" pitchFamily="18" charset="0"/>
                <a:ea typeface="宋体" pitchFamily="2" charset="-122"/>
              </a:defRPr>
            </a:lvl1pPr>
            <a:lvl2pPr marL="742950" indent="-285750">
              <a:defRPr sz="2400">
                <a:solidFill>
                  <a:schemeClr val="tx1"/>
                </a:solidFill>
                <a:latin typeface="Times New Roman" panose="02020503050405090304" pitchFamily="18" charset="0"/>
                <a:ea typeface="宋体" pitchFamily="2" charset="-122"/>
              </a:defRPr>
            </a:lvl2pPr>
            <a:lvl3pPr marL="1143000" indent="-228600">
              <a:defRPr sz="2400">
                <a:solidFill>
                  <a:schemeClr val="tx1"/>
                </a:solidFill>
                <a:latin typeface="Times New Roman" panose="02020503050405090304" pitchFamily="18" charset="0"/>
                <a:ea typeface="宋体" pitchFamily="2" charset="-122"/>
              </a:defRPr>
            </a:lvl3pPr>
            <a:lvl4pPr marL="1600200" indent="-228600">
              <a:defRPr sz="2400">
                <a:solidFill>
                  <a:schemeClr val="tx1"/>
                </a:solidFill>
                <a:latin typeface="Times New Roman" panose="02020503050405090304" pitchFamily="18" charset="0"/>
                <a:ea typeface="宋体" pitchFamily="2" charset="-122"/>
              </a:defRPr>
            </a:lvl4pPr>
            <a:lvl5pPr marL="2057400" indent="-228600">
              <a:defRPr sz="2400">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4" name="Rectangle 8"/>
          <p:cNvSpPr>
            <a:spLocks noChangeArrowheads="1"/>
          </p:cNvSpPr>
          <p:nvPr/>
        </p:nvSpPr>
        <p:spPr bwMode="auto">
          <a:xfrm>
            <a:off x="442913" y="1207135"/>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503050405090304" pitchFamily="18" charset="0"/>
                <a:ea typeface="宋体" pitchFamily="2" charset="-122"/>
              </a:defRPr>
            </a:lvl1pPr>
            <a:lvl2pPr marL="742950" indent="-285750">
              <a:defRPr sz="2400">
                <a:solidFill>
                  <a:schemeClr val="tx1"/>
                </a:solidFill>
                <a:latin typeface="Times New Roman" panose="02020503050405090304" pitchFamily="18" charset="0"/>
                <a:ea typeface="宋体" pitchFamily="2" charset="-122"/>
              </a:defRPr>
            </a:lvl2pPr>
            <a:lvl3pPr marL="1143000" indent="-228600">
              <a:defRPr sz="2400">
                <a:solidFill>
                  <a:schemeClr val="tx1"/>
                </a:solidFill>
                <a:latin typeface="Times New Roman" panose="02020503050405090304" pitchFamily="18" charset="0"/>
                <a:ea typeface="宋体" pitchFamily="2" charset="-122"/>
              </a:defRPr>
            </a:lvl3pPr>
            <a:lvl4pPr marL="1600200" indent="-228600">
              <a:defRPr sz="2400">
                <a:solidFill>
                  <a:schemeClr val="tx1"/>
                </a:solidFill>
                <a:latin typeface="Times New Roman" panose="02020503050405090304" pitchFamily="18" charset="0"/>
                <a:ea typeface="宋体" pitchFamily="2" charset="-122"/>
              </a:defRPr>
            </a:lvl4pPr>
            <a:lvl5pPr marL="2057400" indent="-228600">
              <a:defRPr sz="2400">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5" name="Rectangle 9"/>
          <p:cNvSpPr>
            <a:spLocks noGrp="1"/>
          </p:cNvSpPr>
          <p:nvPr>
            <p:ph type="title"/>
          </p:nvPr>
        </p:nvSpPr>
        <p:spPr>
          <a:xfrm>
            <a:off x="1150938" y="43498"/>
            <a:ext cx="7793037" cy="1143000"/>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1036" name="Rectangle 10"/>
          <p:cNvSpPr>
            <a:spLocks noGrp="1"/>
          </p:cNvSpPr>
          <p:nvPr>
            <p:ph type="body"/>
          </p:nvPr>
        </p:nvSpPr>
        <p:spPr>
          <a:xfrm>
            <a:off x="811530" y="1381125"/>
            <a:ext cx="8251825" cy="4689475"/>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52590" name="Rectangle 14"/>
          <p:cNvSpPr>
            <a:spLocks noGrp="1" noChangeArrowheads="1"/>
          </p:cNvSpPr>
          <p:nvPr>
            <p:ph type="dt" sz="half" idx="2"/>
          </p:nvPr>
        </p:nvSpPr>
        <p:spPr bwMode="auto">
          <a:xfrm>
            <a:off x="0" y="6400800"/>
            <a:ext cx="1447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000" b="1" i="1" noProof="1">
                <a:solidFill>
                  <a:srgbClr val="009999"/>
                </a:solidFill>
                <a:latin typeface="Arial Narrow" panose="020B060602020203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C8A65A6A-87E2-455F-892B-65C20A4DB041}" type="datetime1">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152591" name="Rectangle 15"/>
          <p:cNvSpPr>
            <a:spLocks noGrp="1" noChangeArrowheads="1"/>
          </p:cNvSpPr>
          <p:nvPr>
            <p:ph type="ftr" sz="quarter" idx="3"/>
          </p:nvPr>
        </p:nvSpPr>
        <p:spPr bwMode="auto">
          <a:xfrm>
            <a:off x="1447800" y="6400800"/>
            <a:ext cx="61722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lnSpc>
                <a:spcPct val="110000"/>
              </a:lnSpc>
              <a:defRPr sz="1200" b="1" i="1" noProof="1">
                <a:solidFill>
                  <a:srgbClr val="009999"/>
                </a:solidFill>
                <a:latin typeface="Arial Narrow" panose="020B0606020202030204" pitchFamily="34" charset="0"/>
              </a:defRPr>
            </a:lvl1pPr>
          </a:lstStyle>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p:txStyles>
    <p:titleStyle>
      <a:lvl1pPr algn="l" rtl="0" eaLnBrk="0" fontAlgn="base" hangingPunct="0">
        <a:spcBef>
          <a:spcPct val="0"/>
        </a:spcBef>
        <a:spcAft>
          <a:spcPct val="0"/>
        </a:spcAft>
        <a:defRPr sz="4400">
          <a:solidFill>
            <a:schemeClr val="tx2"/>
          </a:solidFill>
          <a:latin typeface="Times New Roman Regular" panose="02020503050405090304" charset="0"/>
          <a:ea typeface="+mj-ea"/>
          <a:cs typeface="+mj-cs"/>
        </a:defRPr>
      </a:lvl1pPr>
      <a:lvl2pPr algn="l" rtl="0" eaLnBrk="0" fontAlgn="base" hangingPunct="0">
        <a:spcBef>
          <a:spcPct val="0"/>
        </a:spcBef>
        <a:spcAft>
          <a:spcPct val="0"/>
        </a:spcAft>
        <a:defRPr sz="4400">
          <a:solidFill>
            <a:schemeClr val="tx2"/>
          </a:solidFill>
          <a:latin typeface="Copperplate Gothic Bold" panose="020E0705020206020404" pitchFamily="34" charset="0"/>
          <a:ea typeface="宋体" pitchFamily="2" charset="-122"/>
        </a:defRPr>
      </a:lvl2pPr>
      <a:lvl3pPr algn="l" rtl="0" eaLnBrk="0" fontAlgn="base" hangingPunct="0">
        <a:spcBef>
          <a:spcPct val="0"/>
        </a:spcBef>
        <a:spcAft>
          <a:spcPct val="0"/>
        </a:spcAft>
        <a:defRPr sz="4400">
          <a:solidFill>
            <a:schemeClr val="tx2"/>
          </a:solidFill>
          <a:latin typeface="Copperplate Gothic Bold" panose="020E0705020206020404" pitchFamily="34" charset="0"/>
          <a:ea typeface="宋体" pitchFamily="2" charset="-122"/>
        </a:defRPr>
      </a:lvl3pPr>
      <a:lvl4pPr algn="l" rtl="0" eaLnBrk="0" fontAlgn="base" hangingPunct="0">
        <a:spcBef>
          <a:spcPct val="0"/>
        </a:spcBef>
        <a:spcAft>
          <a:spcPct val="0"/>
        </a:spcAft>
        <a:defRPr sz="4400">
          <a:solidFill>
            <a:schemeClr val="tx2"/>
          </a:solidFill>
          <a:latin typeface="Copperplate Gothic Bold" panose="020E0705020206020404" pitchFamily="34" charset="0"/>
          <a:ea typeface="宋体" pitchFamily="2" charset="-122"/>
        </a:defRPr>
      </a:lvl4pPr>
      <a:lvl5pPr algn="l" rtl="0" eaLnBrk="0" fontAlgn="base" hangingPunct="0">
        <a:spcBef>
          <a:spcPct val="0"/>
        </a:spcBef>
        <a:spcAft>
          <a:spcPct val="0"/>
        </a:spcAft>
        <a:defRPr sz="4400">
          <a:solidFill>
            <a:schemeClr val="tx2"/>
          </a:solidFill>
          <a:latin typeface="Copperplate Gothic Bold" panose="020E0705020206020404" pitchFamily="34" charset="0"/>
          <a:ea typeface="宋体" pitchFamily="2" charset="-122"/>
        </a:defRPr>
      </a:lvl5pPr>
      <a:lvl6pPr marL="457200" algn="l" rtl="0" fontAlgn="base">
        <a:spcBef>
          <a:spcPct val="0"/>
        </a:spcBef>
        <a:spcAft>
          <a:spcPct val="0"/>
        </a:spcAft>
        <a:defRPr kumimoji="1" sz="4400">
          <a:solidFill>
            <a:schemeClr val="tx2"/>
          </a:solidFill>
          <a:latin typeface="Copperplate Gothic Bold" panose="020E0705020206020404" pitchFamily="34" charset="0"/>
          <a:ea typeface="宋体" pitchFamily="2" charset="-122"/>
        </a:defRPr>
      </a:lvl6pPr>
      <a:lvl7pPr marL="914400" algn="l" rtl="0" fontAlgn="base">
        <a:spcBef>
          <a:spcPct val="0"/>
        </a:spcBef>
        <a:spcAft>
          <a:spcPct val="0"/>
        </a:spcAft>
        <a:defRPr kumimoji="1" sz="4400">
          <a:solidFill>
            <a:schemeClr val="tx2"/>
          </a:solidFill>
          <a:latin typeface="Copperplate Gothic Bold" panose="020E0705020206020404" pitchFamily="34" charset="0"/>
          <a:ea typeface="宋体" pitchFamily="2" charset="-122"/>
        </a:defRPr>
      </a:lvl7pPr>
      <a:lvl8pPr marL="1371600" algn="l" rtl="0" fontAlgn="base">
        <a:spcBef>
          <a:spcPct val="0"/>
        </a:spcBef>
        <a:spcAft>
          <a:spcPct val="0"/>
        </a:spcAft>
        <a:defRPr kumimoji="1" sz="4400">
          <a:solidFill>
            <a:schemeClr val="tx2"/>
          </a:solidFill>
          <a:latin typeface="Copperplate Gothic Bold" panose="020E0705020206020404" pitchFamily="34" charset="0"/>
          <a:ea typeface="宋体" pitchFamily="2" charset="-122"/>
        </a:defRPr>
      </a:lvl8pPr>
      <a:lvl9pPr marL="1828800" algn="l" rtl="0" fontAlgn="base">
        <a:spcBef>
          <a:spcPct val="0"/>
        </a:spcBef>
        <a:spcAft>
          <a:spcPct val="0"/>
        </a:spcAft>
        <a:defRPr kumimoji="1" sz="4400">
          <a:solidFill>
            <a:schemeClr val="tx2"/>
          </a:solidFill>
          <a:latin typeface="Copperplate Gothic Bold" panose="020E0705020206020404" pitchFamily="34"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imes New Roman" panose="02020503050405090304" pitchFamily="18" charset="0"/>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imes New Roman" panose="02020503050405090304" pitchFamily="18" charset="0"/>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imes New Roman" panose="02020503050405090304" pitchFamily="18" charset="0"/>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imes New Roman" panose="02020503050405090304" pitchFamily="18" charset="0"/>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503050405090304" pitchFamily="18" charset="0"/>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emf"/><Relationship Id="rId1" Type="http://schemas.openxmlformats.org/officeDocument/2006/relationships/image" Target="../media/image6.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8.wmf"/><Relationship Id="rId1" Type="http://schemas.openxmlformats.org/officeDocument/2006/relationships/oleObject" Target="../embeddings/oleObject1.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image" Target="../media/image10.e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12.xml"/><Relationship Id="rId2" Type="http://schemas.openxmlformats.org/officeDocument/2006/relationships/image" Target="../media/image13.wmf"/><Relationship Id="rId1" Type="http://schemas.openxmlformats.org/officeDocument/2006/relationships/oleObject" Target="../embeddings/oleObject2.bin"/></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emf"/><Relationship Id="rId1" Type="http://schemas.openxmlformats.org/officeDocument/2006/relationships/image" Target="../media/image14.em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tags" Target="../tags/tag1.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jpeg"/></Relationships>
</file>

<file path=ppt/slides/_rels/slide5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9.png"/><Relationship Id="rId2" Type="http://schemas.openxmlformats.org/officeDocument/2006/relationships/tags" Target="../tags/tag2.xml"/><Relationship Id="rId1" Type="http://schemas.openxmlformats.org/officeDocument/2006/relationships/image" Target="../media/image18.jpe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tags" Target="../tags/tag3.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tags" Target="../tags/tag4.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jpeg"/></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tags" Target="../tags/tag5.xml"/></Relationships>
</file>

<file path=ppt/slides/_rels/slide57.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12.xml"/><Relationship Id="rId2" Type="http://schemas.openxmlformats.org/officeDocument/2006/relationships/image" Target="../media/image24.wmf"/><Relationship Id="rId1" Type="http://schemas.openxmlformats.org/officeDocument/2006/relationships/oleObject" Target="../embeddings/oleObject3.bin"/></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5.png"/><Relationship Id="rId1" Type="http://schemas.openxmlformats.org/officeDocument/2006/relationships/tags" Target="../tags/tag6.xml"/></Relationships>
</file>

<file path=ppt/slides/_rels/slide5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12.xml"/><Relationship Id="rId2" Type="http://schemas.openxmlformats.org/officeDocument/2006/relationships/image" Target="../media/image24.wmf"/><Relationship Id="rId1" Type="http://schemas.openxmlformats.org/officeDocument/2006/relationships/oleObject" Target="../embeddings/oleObject4.bin"/></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2.emf"/><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image" Target="../media/image29.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2"/>
          <p:cNvSpPr>
            <a:spLocks noGrp="1"/>
          </p:cNvSpPr>
          <p:nvPr>
            <p:ph type="ctrTitle"/>
          </p:nvPr>
        </p:nvSpPr>
        <p:spPr>
          <a:xfrm>
            <a:off x="900113" y="1925638"/>
            <a:ext cx="7772400" cy="1143000"/>
          </a:xfrm>
        </p:spPr>
        <p:txBody>
          <a:bodyPr vert="horz" wrap="square" lIns="91440" tIns="45720" rIns="91440" bIns="45720" anchor="b" anchorCtr="0"/>
          <a:p>
            <a:pPr eaLnBrk="1" hangingPunct="1">
              <a:buClrTx/>
              <a:buSzTx/>
              <a:buFontTx/>
            </a:pPr>
            <a:r>
              <a:rPr lang="en-US" altLang="zh-CN" dirty="0">
                <a:solidFill>
                  <a:schemeClr val="folHlink"/>
                </a:solidFill>
                <a:latin typeface="+mj-lt"/>
                <a:ea typeface="+mj-ea"/>
                <a:cs typeface="+mj-cs"/>
              </a:rPr>
              <a:t>Counting</a:t>
            </a:r>
            <a:endParaRPr lang="zh-CN" altLang="en-US" dirty="0">
              <a:solidFill>
                <a:schemeClr val="folHlink"/>
              </a:solidFill>
              <a:latin typeface="+mj-lt"/>
              <a:ea typeface="+mj-ea"/>
              <a:cs typeface="+mj-cs"/>
            </a:endParaRPr>
          </a:p>
        </p:txBody>
      </p:sp>
      <p:sp>
        <p:nvSpPr>
          <p:cNvPr id="5123" name="Rectangle 3"/>
          <p:cNvSpPr>
            <a:spLocks noGrp="1"/>
          </p:cNvSpPr>
          <p:nvPr>
            <p:ph type="subTitle" idx="1"/>
          </p:nvPr>
        </p:nvSpPr>
        <p:spPr/>
        <p:txBody>
          <a:bodyPr vert="horz" wrap="square" lIns="91440" tIns="45720" rIns="91440" bIns="45720" anchor="t" anchorCtr="0"/>
          <a:p>
            <a:pPr eaLnBrk="1" hangingPunct="1">
              <a:buSzPct val="60000"/>
            </a:pPr>
            <a:endParaRPr lang="en-US" altLang="en-US" dirty="0">
              <a:latin typeface="+mn-lt"/>
              <a:ea typeface="+mn-ea"/>
              <a:cs typeface="+mn-cs"/>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7171"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7172"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7173" name="Rectangle 2"/>
          <p:cNvSpPr>
            <a:spLocks noGrp="1"/>
          </p:cNvSpPr>
          <p:nvPr>
            <p:ph type="title"/>
          </p:nvPr>
        </p:nvSpPr>
        <p:spPr>
          <a:xfrm>
            <a:off x="828040" y="116840"/>
            <a:ext cx="8079740" cy="1143000"/>
          </a:xfrm>
        </p:spPr>
        <p:txBody>
          <a:bodyPr vert="horz" wrap="square" lIns="91440" tIns="45720" rIns="91440" bIns="45720" anchor="b" anchorCtr="0"/>
          <a:p>
            <a:pPr eaLnBrk="1" hangingPunct="1"/>
            <a:r>
              <a:rPr lang="en-US" altLang="zh-CN" dirty="0"/>
              <a:t>The basics of counting (§6.1)</a:t>
            </a:r>
            <a:endParaRPr lang="en-US" altLang="zh-CN" dirty="0"/>
          </a:p>
        </p:txBody>
      </p:sp>
      <p:sp>
        <p:nvSpPr>
          <p:cNvPr id="7174" name="Rectangle 3"/>
          <p:cNvSpPr>
            <a:spLocks noGrp="1"/>
          </p:cNvSpPr>
          <p:nvPr>
            <p:ph idx="1"/>
          </p:nvPr>
        </p:nvSpPr>
        <p:spPr>
          <a:xfrm>
            <a:off x="828040" y="1412875"/>
            <a:ext cx="7772400" cy="4267200"/>
          </a:xfrm>
        </p:spPr>
        <p:txBody>
          <a:bodyPr vert="horz" wrap="square" lIns="91440" tIns="45720" rIns="91440" bIns="45720" anchor="t" anchorCtr="0"/>
          <a:p>
            <a:pPr eaLnBrk="1" hangingPunct="1">
              <a:lnSpc>
                <a:spcPct val="80000"/>
              </a:lnSpc>
            </a:pPr>
            <a:r>
              <a:rPr lang="en-US" altLang="zh-CN" dirty="0"/>
              <a:t>Let </a:t>
            </a:r>
            <a:r>
              <a:rPr lang="en-US" altLang="zh-CN" i="1" dirty="0"/>
              <a:t>m</a:t>
            </a:r>
            <a:r>
              <a:rPr lang="en-US" altLang="zh-CN" dirty="0"/>
              <a:t> be the number of ways to do task 1 and </a:t>
            </a:r>
            <a:r>
              <a:rPr lang="en-US" altLang="zh-CN" i="1" dirty="0"/>
              <a:t>n</a:t>
            </a:r>
            <a:r>
              <a:rPr lang="en-US" altLang="zh-CN" dirty="0"/>
              <a:t> the number of ways to do task 2,</a:t>
            </a:r>
            <a:endParaRPr lang="en-US" altLang="zh-CN" dirty="0"/>
          </a:p>
          <a:p>
            <a:pPr lvl="1" eaLnBrk="1" hangingPunct="1">
              <a:lnSpc>
                <a:spcPct val="80000"/>
              </a:lnSpc>
            </a:pPr>
            <a:r>
              <a:rPr lang="en-US" altLang="zh-CN" dirty="0"/>
              <a:t>with each number independent of how the other task is done, </a:t>
            </a:r>
            <a:endParaRPr lang="en-US" altLang="zh-CN" dirty="0"/>
          </a:p>
          <a:p>
            <a:pPr lvl="1" eaLnBrk="1" hangingPunct="1">
              <a:lnSpc>
                <a:spcPct val="80000"/>
              </a:lnSpc>
            </a:pPr>
            <a:r>
              <a:rPr lang="en-US" altLang="zh-CN" dirty="0"/>
              <a:t>and also assume that no way to do task 1 simultaneously also accomplishes task 2.</a:t>
            </a:r>
            <a:endParaRPr lang="en-US" altLang="zh-CN" dirty="0"/>
          </a:p>
          <a:p>
            <a:pPr eaLnBrk="1" hangingPunct="1">
              <a:lnSpc>
                <a:spcPct val="80000"/>
              </a:lnSpc>
            </a:pPr>
            <a:r>
              <a:rPr lang="en-US" altLang="zh-CN" dirty="0"/>
              <a:t>Then, we have the following rules:</a:t>
            </a:r>
            <a:endParaRPr lang="en-US" altLang="zh-CN" dirty="0"/>
          </a:p>
          <a:p>
            <a:pPr lvl="1" eaLnBrk="1" hangingPunct="1">
              <a:lnSpc>
                <a:spcPct val="80000"/>
              </a:lnSpc>
            </a:pPr>
            <a:r>
              <a:rPr lang="en-US" altLang="zh-CN" dirty="0"/>
              <a:t>The </a:t>
            </a:r>
            <a:r>
              <a:rPr lang="en-US" altLang="zh-CN" i="1" dirty="0"/>
              <a:t>sum rule</a:t>
            </a:r>
            <a:r>
              <a:rPr lang="en-US" altLang="zh-CN" dirty="0"/>
              <a:t>: The task </a:t>
            </a:r>
            <a:r>
              <a:rPr lang="en-US" altLang="zh-CN" dirty="0">
                <a:latin typeface="Times New Roman" panose="02020503050405090304" pitchFamily="18" charset="0"/>
              </a:rPr>
              <a:t>“</a:t>
            </a:r>
            <a:r>
              <a:rPr lang="en-US" altLang="zh-CN" dirty="0"/>
              <a:t>do either task 1 or task 2, but not both</a:t>
            </a:r>
            <a:r>
              <a:rPr lang="en-US" altLang="zh-CN" dirty="0">
                <a:latin typeface="Times New Roman" panose="02020503050405090304" pitchFamily="18" charset="0"/>
              </a:rPr>
              <a:t>”</a:t>
            </a:r>
            <a:r>
              <a:rPr lang="en-US" altLang="zh-CN" dirty="0"/>
              <a:t> can be done in </a:t>
            </a:r>
            <a:r>
              <a:rPr lang="en-US" altLang="zh-CN" i="1" dirty="0">
                <a:solidFill>
                  <a:srgbClr val="FF0000"/>
                </a:solidFill>
              </a:rPr>
              <a:t>m</a:t>
            </a:r>
            <a:r>
              <a:rPr lang="en-US" altLang="zh-CN" dirty="0">
                <a:solidFill>
                  <a:srgbClr val="FF0000"/>
                </a:solidFill>
              </a:rPr>
              <a:t>+</a:t>
            </a:r>
            <a:r>
              <a:rPr lang="en-US" altLang="zh-CN" i="1" dirty="0">
                <a:solidFill>
                  <a:srgbClr val="FF0000"/>
                </a:solidFill>
              </a:rPr>
              <a:t>n</a:t>
            </a:r>
            <a:r>
              <a:rPr lang="en-US" altLang="zh-CN" dirty="0"/>
              <a:t> ways.</a:t>
            </a:r>
            <a:endParaRPr lang="en-US" altLang="zh-CN" dirty="0"/>
          </a:p>
          <a:p>
            <a:pPr lvl="1" eaLnBrk="1" hangingPunct="1">
              <a:lnSpc>
                <a:spcPct val="80000"/>
              </a:lnSpc>
            </a:pPr>
            <a:r>
              <a:rPr lang="en-US" altLang="zh-CN" dirty="0"/>
              <a:t>The </a:t>
            </a:r>
            <a:r>
              <a:rPr lang="en-US" altLang="zh-CN" i="1" dirty="0"/>
              <a:t>product rule</a:t>
            </a:r>
            <a:r>
              <a:rPr lang="en-US" altLang="zh-CN" dirty="0"/>
              <a:t>: The task </a:t>
            </a:r>
            <a:r>
              <a:rPr lang="en-US" altLang="zh-CN" dirty="0">
                <a:latin typeface="Times New Roman" panose="02020503050405090304" pitchFamily="18" charset="0"/>
              </a:rPr>
              <a:t>“</a:t>
            </a:r>
            <a:r>
              <a:rPr lang="en-US" altLang="zh-CN" dirty="0"/>
              <a:t>do both task 1 and task 2</a:t>
            </a:r>
            <a:r>
              <a:rPr lang="en-US" altLang="zh-CN" dirty="0">
                <a:latin typeface="Times New Roman" panose="02020503050405090304" pitchFamily="18" charset="0"/>
              </a:rPr>
              <a:t>”</a:t>
            </a:r>
            <a:r>
              <a:rPr lang="en-US" altLang="zh-CN" dirty="0"/>
              <a:t> can be done in </a:t>
            </a:r>
            <a:r>
              <a:rPr lang="en-US" altLang="zh-CN" i="1" dirty="0">
                <a:solidFill>
                  <a:srgbClr val="FF0000"/>
                </a:solidFill>
              </a:rPr>
              <a:t>mn</a:t>
            </a:r>
            <a:r>
              <a:rPr lang="en-US" altLang="zh-CN" dirty="0"/>
              <a:t> ways.</a:t>
            </a:r>
            <a:endParaRPr lang="en-US"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8195"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8196"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8197" name="Rectangle 2"/>
          <p:cNvSpPr>
            <a:spLocks noGrp="1"/>
          </p:cNvSpPr>
          <p:nvPr>
            <p:ph type="title"/>
          </p:nvPr>
        </p:nvSpPr>
        <p:spPr/>
        <p:txBody>
          <a:bodyPr vert="horz" wrap="square" lIns="91440" tIns="45720" rIns="91440" bIns="45720" anchor="b" anchorCtr="0"/>
          <a:p>
            <a:pPr eaLnBrk="1" hangingPunct="1"/>
            <a:r>
              <a:rPr lang="en-US" altLang="zh-CN" dirty="0"/>
              <a:t>Set Theoretic Version</a:t>
            </a:r>
            <a:endParaRPr lang="en-US" altLang="zh-CN" dirty="0"/>
          </a:p>
        </p:txBody>
      </p:sp>
      <p:sp>
        <p:nvSpPr>
          <p:cNvPr id="8198" name="Rectangle 3"/>
          <p:cNvSpPr>
            <a:spLocks noGrp="1"/>
          </p:cNvSpPr>
          <p:nvPr>
            <p:ph idx="1"/>
          </p:nvPr>
        </p:nvSpPr>
        <p:spPr/>
        <p:txBody>
          <a:bodyPr vert="horz" wrap="square" lIns="91440" tIns="45720" rIns="91440" bIns="45720" anchor="t" anchorCtr="0"/>
          <a:p>
            <a:pPr eaLnBrk="1" hangingPunct="1"/>
            <a:r>
              <a:rPr lang="en-US" altLang="zh-CN" dirty="0"/>
              <a:t>If </a:t>
            </a:r>
            <a:r>
              <a:rPr lang="en-US" altLang="zh-CN" i="1" dirty="0"/>
              <a:t>A</a:t>
            </a:r>
            <a:r>
              <a:rPr lang="en-US" altLang="zh-CN" dirty="0"/>
              <a:t> is the set of ways to do task 1, and </a:t>
            </a:r>
            <a:r>
              <a:rPr lang="en-US" altLang="zh-CN" i="1" dirty="0"/>
              <a:t>B</a:t>
            </a:r>
            <a:r>
              <a:rPr lang="en-US" altLang="zh-CN" dirty="0"/>
              <a:t> the set of ways to do task 2, and if </a:t>
            </a:r>
            <a:r>
              <a:rPr lang="en-US" altLang="zh-CN" i="1" dirty="0"/>
              <a:t>A</a:t>
            </a:r>
            <a:r>
              <a:rPr lang="en-US" altLang="zh-CN" dirty="0"/>
              <a:t> and </a:t>
            </a:r>
            <a:r>
              <a:rPr lang="en-US" altLang="zh-CN" i="1" dirty="0"/>
              <a:t>B</a:t>
            </a:r>
            <a:r>
              <a:rPr lang="en-US" altLang="zh-CN" dirty="0"/>
              <a:t> are disjoint, then:</a:t>
            </a:r>
            <a:endParaRPr lang="en-US" altLang="zh-CN" dirty="0"/>
          </a:p>
          <a:p>
            <a:pPr lvl="1" eaLnBrk="1" hangingPunct="1"/>
            <a:r>
              <a:rPr lang="en-US" altLang="zh-CN" dirty="0"/>
              <a:t>The ways to do either task 1 or 2 are </a:t>
            </a:r>
            <a:r>
              <a:rPr lang="en-US" altLang="zh-CN" i="1" dirty="0">
                <a:solidFill>
                  <a:srgbClr val="FF0000"/>
                </a:solidFill>
              </a:rPr>
              <a:t>A</a:t>
            </a:r>
            <a:r>
              <a:rPr lang="en-US" altLang="zh-CN" dirty="0">
                <a:solidFill>
                  <a:srgbClr val="FF0000"/>
                </a:solidFill>
                <a:sym typeface="Symbol" panose="05050102010706020507" pitchFamily="18" charset="2"/>
              </a:rPr>
              <a:t></a:t>
            </a:r>
            <a:r>
              <a:rPr lang="en-US" altLang="zh-CN" i="1" dirty="0">
                <a:solidFill>
                  <a:srgbClr val="FF0000"/>
                </a:solidFill>
                <a:sym typeface="Symbol" panose="05050102010706020507" pitchFamily="18" charset="2"/>
              </a:rPr>
              <a:t>B</a:t>
            </a:r>
            <a:r>
              <a:rPr lang="en-US" altLang="zh-CN" dirty="0">
                <a:sym typeface="Symbol" panose="05050102010706020507" pitchFamily="18" charset="2"/>
              </a:rPr>
              <a:t>, and</a:t>
            </a:r>
            <a:r>
              <a:rPr lang="en-US" altLang="zh-CN" dirty="0"/>
              <a:t> </a:t>
            </a:r>
            <a:r>
              <a:rPr lang="en-US" altLang="zh-CN" dirty="0">
                <a:solidFill>
                  <a:srgbClr val="FF0000"/>
                </a:solidFill>
              </a:rPr>
              <a:t>|</a:t>
            </a:r>
            <a:r>
              <a:rPr lang="en-US" altLang="zh-CN" i="1" dirty="0">
                <a:solidFill>
                  <a:srgbClr val="FF0000"/>
                </a:solidFill>
              </a:rPr>
              <a:t>A</a:t>
            </a:r>
            <a:r>
              <a:rPr lang="en-US" altLang="zh-CN" dirty="0">
                <a:solidFill>
                  <a:srgbClr val="FF0000"/>
                </a:solidFill>
                <a:sym typeface="Symbol" panose="05050102010706020507" pitchFamily="18" charset="2"/>
              </a:rPr>
              <a:t></a:t>
            </a:r>
            <a:r>
              <a:rPr lang="en-US" altLang="zh-CN" i="1" dirty="0">
                <a:solidFill>
                  <a:srgbClr val="FF0000"/>
                </a:solidFill>
                <a:sym typeface="Symbol" panose="05050102010706020507" pitchFamily="18" charset="2"/>
              </a:rPr>
              <a:t>B</a:t>
            </a:r>
            <a:r>
              <a:rPr lang="en-US" altLang="zh-CN" dirty="0">
                <a:solidFill>
                  <a:srgbClr val="FF0000"/>
                </a:solidFill>
                <a:sym typeface="Symbol" panose="05050102010706020507" pitchFamily="18" charset="2"/>
              </a:rPr>
              <a:t>|=|</a:t>
            </a:r>
            <a:r>
              <a:rPr lang="en-US" altLang="zh-CN" i="1" dirty="0">
                <a:solidFill>
                  <a:srgbClr val="FF0000"/>
                </a:solidFill>
                <a:sym typeface="Symbol" panose="05050102010706020507" pitchFamily="18" charset="2"/>
              </a:rPr>
              <a:t>A</a:t>
            </a:r>
            <a:r>
              <a:rPr lang="en-US" altLang="zh-CN" dirty="0">
                <a:solidFill>
                  <a:srgbClr val="FF0000"/>
                </a:solidFill>
                <a:sym typeface="Symbol" panose="05050102010706020507" pitchFamily="18" charset="2"/>
              </a:rPr>
              <a:t>|+|</a:t>
            </a:r>
            <a:r>
              <a:rPr lang="en-US" altLang="zh-CN" i="1" dirty="0">
                <a:solidFill>
                  <a:srgbClr val="FF0000"/>
                </a:solidFill>
                <a:sym typeface="Symbol" panose="05050102010706020507" pitchFamily="18" charset="2"/>
              </a:rPr>
              <a:t>B</a:t>
            </a:r>
            <a:r>
              <a:rPr lang="en-US" altLang="zh-CN" dirty="0">
                <a:solidFill>
                  <a:srgbClr val="FF0000"/>
                </a:solidFill>
                <a:sym typeface="Symbol" panose="05050102010706020507" pitchFamily="18" charset="2"/>
              </a:rPr>
              <a:t>|</a:t>
            </a:r>
            <a:endParaRPr lang="en-US" altLang="zh-CN" dirty="0">
              <a:solidFill>
                <a:srgbClr val="FF0000"/>
              </a:solidFill>
              <a:sym typeface="Symbol" panose="05050102010706020507" pitchFamily="18" charset="2"/>
            </a:endParaRPr>
          </a:p>
          <a:p>
            <a:pPr lvl="1" eaLnBrk="1" hangingPunct="1"/>
            <a:r>
              <a:rPr lang="en-US" altLang="zh-CN" dirty="0">
                <a:sym typeface="Symbol" panose="05050102010706020507" pitchFamily="18" charset="2"/>
              </a:rPr>
              <a:t>The ways to do both task 1 and 2 can be represented as </a:t>
            </a:r>
            <a:r>
              <a:rPr lang="en-US" altLang="zh-CN" i="1" dirty="0">
                <a:solidFill>
                  <a:srgbClr val="FF0000"/>
                </a:solidFill>
                <a:sym typeface="Symbol" panose="05050102010706020507" pitchFamily="18" charset="2"/>
              </a:rPr>
              <a:t>A</a:t>
            </a:r>
            <a:r>
              <a:rPr lang="en-US" altLang="zh-CN" dirty="0">
                <a:solidFill>
                  <a:srgbClr val="FF0000"/>
                </a:solidFill>
                <a:sym typeface="Symbol" panose="05050102010706020507" pitchFamily="18" charset="2"/>
              </a:rPr>
              <a:t></a:t>
            </a:r>
            <a:r>
              <a:rPr lang="en-US" altLang="zh-CN" i="1" dirty="0">
                <a:solidFill>
                  <a:srgbClr val="FF0000"/>
                </a:solidFill>
                <a:sym typeface="Symbol" panose="05050102010706020507" pitchFamily="18" charset="2"/>
              </a:rPr>
              <a:t>B</a:t>
            </a:r>
            <a:r>
              <a:rPr lang="en-US" altLang="zh-CN" dirty="0">
                <a:sym typeface="Symbol" panose="05050102010706020507" pitchFamily="18" charset="2"/>
              </a:rPr>
              <a:t>, and </a:t>
            </a:r>
            <a:r>
              <a:rPr lang="en-US" altLang="zh-CN" dirty="0">
                <a:solidFill>
                  <a:srgbClr val="FF0000"/>
                </a:solidFill>
                <a:sym typeface="Symbol" panose="05050102010706020507" pitchFamily="18" charset="2"/>
              </a:rPr>
              <a:t>|</a:t>
            </a:r>
            <a:r>
              <a:rPr lang="en-US" altLang="zh-CN" i="1" dirty="0">
                <a:solidFill>
                  <a:srgbClr val="FF0000"/>
                </a:solidFill>
                <a:sym typeface="Symbol" panose="05050102010706020507" pitchFamily="18" charset="2"/>
              </a:rPr>
              <a:t>A</a:t>
            </a:r>
            <a:r>
              <a:rPr lang="en-US" altLang="zh-CN" dirty="0">
                <a:solidFill>
                  <a:srgbClr val="FF0000"/>
                </a:solidFill>
                <a:sym typeface="Symbol" panose="05050102010706020507" pitchFamily="18" charset="2"/>
              </a:rPr>
              <a:t></a:t>
            </a:r>
            <a:r>
              <a:rPr lang="en-US" altLang="zh-CN" i="1" dirty="0">
                <a:solidFill>
                  <a:srgbClr val="FF0000"/>
                </a:solidFill>
                <a:sym typeface="Symbol" panose="05050102010706020507" pitchFamily="18" charset="2"/>
              </a:rPr>
              <a:t>B</a:t>
            </a:r>
            <a:r>
              <a:rPr lang="en-US" altLang="zh-CN" dirty="0">
                <a:solidFill>
                  <a:srgbClr val="FF0000"/>
                </a:solidFill>
                <a:sym typeface="Symbol" panose="05050102010706020507" pitchFamily="18" charset="2"/>
              </a:rPr>
              <a:t>|</a:t>
            </a:r>
            <a:r>
              <a:rPr lang="en-US" altLang="zh-CN" i="1" dirty="0">
                <a:solidFill>
                  <a:srgbClr val="FF0000"/>
                </a:solidFill>
                <a:sym typeface="Symbol" panose="05050102010706020507" pitchFamily="18" charset="2"/>
              </a:rPr>
              <a:t>=</a:t>
            </a:r>
            <a:r>
              <a:rPr lang="en-US" altLang="zh-CN" dirty="0">
                <a:solidFill>
                  <a:srgbClr val="FF0000"/>
                </a:solidFill>
                <a:sym typeface="Symbol" panose="05050102010706020507" pitchFamily="18" charset="2"/>
              </a:rPr>
              <a:t>|</a:t>
            </a:r>
            <a:r>
              <a:rPr lang="en-US" altLang="zh-CN" i="1" dirty="0">
                <a:solidFill>
                  <a:srgbClr val="FF0000"/>
                </a:solidFill>
                <a:sym typeface="Symbol" panose="05050102010706020507" pitchFamily="18" charset="2"/>
              </a:rPr>
              <a:t>A</a:t>
            </a:r>
            <a:r>
              <a:rPr lang="en-US" altLang="zh-CN" dirty="0">
                <a:solidFill>
                  <a:srgbClr val="FF0000"/>
                </a:solidFill>
                <a:sym typeface="Symbol" panose="05050102010706020507" pitchFamily="18" charset="2"/>
              </a:rPr>
              <a:t>|</a:t>
            </a:r>
            <a:r>
              <a:rPr lang="en-US" altLang="zh-CN" dirty="0">
                <a:solidFill>
                  <a:srgbClr val="FF0000"/>
                </a:solidFill>
                <a:latin typeface="Times New Roman" panose="02020503050405090304" pitchFamily="18" charset="0"/>
                <a:sym typeface="Symbol" panose="05050102010706020507" pitchFamily="18" charset="2"/>
              </a:rPr>
              <a:t>·</a:t>
            </a:r>
            <a:r>
              <a:rPr lang="en-US" altLang="zh-CN" dirty="0">
                <a:solidFill>
                  <a:srgbClr val="FF0000"/>
                </a:solidFill>
                <a:sym typeface="Symbol" panose="05050102010706020507" pitchFamily="18" charset="2"/>
              </a:rPr>
              <a:t>|</a:t>
            </a:r>
            <a:r>
              <a:rPr lang="en-US" altLang="zh-CN" i="1" dirty="0">
                <a:solidFill>
                  <a:srgbClr val="FF0000"/>
                </a:solidFill>
                <a:sym typeface="Symbol" panose="05050102010706020507" pitchFamily="18" charset="2"/>
              </a:rPr>
              <a:t>B</a:t>
            </a:r>
            <a:r>
              <a:rPr lang="en-US" altLang="zh-CN" dirty="0">
                <a:solidFill>
                  <a:srgbClr val="FF0000"/>
                </a:solidFill>
                <a:sym typeface="Symbol" panose="05050102010706020507" pitchFamily="18" charset="2"/>
              </a:rPr>
              <a:t>|</a:t>
            </a:r>
            <a:endParaRPr lang="en-US" altLang="zh-CN" dirty="0">
              <a:solidFill>
                <a:srgbClr val="FF0000"/>
              </a:solidFill>
              <a:sym typeface="Symbol" panose="05050102010706020507" pitchFamily="18" charset="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9219"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9220"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9221" name="Rectangle 2"/>
          <p:cNvSpPr>
            <a:spLocks noGrp="1"/>
          </p:cNvSpPr>
          <p:nvPr>
            <p:ph type="title"/>
          </p:nvPr>
        </p:nvSpPr>
        <p:spPr/>
        <p:txBody>
          <a:bodyPr vert="horz" wrap="square" lIns="91440" tIns="45720" rIns="91440" bIns="45720" anchor="b" anchorCtr="0"/>
          <a:p>
            <a:pPr eaLnBrk="1" hangingPunct="1"/>
            <a:r>
              <a:rPr lang="en-US" altLang="zh-CN" sz="4000" dirty="0"/>
              <a:t>Extended multiple rules</a:t>
            </a:r>
            <a:endParaRPr lang="en-US" altLang="zh-CN" sz="4000" dirty="0"/>
          </a:p>
        </p:txBody>
      </p:sp>
      <p:sp>
        <p:nvSpPr>
          <p:cNvPr id="9222" name="Rectangle 3"/>
          <p:cNvSpPr>
            <a:spLocks noGrp="1"/>
          </p:cNvSpPr>
          <p:nvPr>
            <p:ph idx="1"/>
          </p:nvPr>
        </p:nvSpPr>
        <p:spPr/>
        <p:txBody>
          <a:bodyPr vert="horz" wrap="square" lIns="91440" tIns="45720" rIns="91440" bIns="45720" anchor="t" anchorCtr="0"/>
          <a:p>
            <a:pPr eaLnBrk="1" hangingPunct="1"/>
            <a:r>
              <a:rPr lang="en-US" altLang="zh-CN" sz="3100" dirty="0"/>
              <a:t>Suppose that tasks </a:t>
            </a:r>
            <a:r>
              <a:rPr lang="en-US" altLang="zh-CN" sz="3100" i="1" dirty="0"/>
              <a:t>T</a:t>
            </a:r>
            <a:r>
              <a:rPr lang="en-US" altLang="zh-CN" sz="3100" baseline="-25000" dirty="0"/>
              <a:t>1</a:t>
            </a:r>
            <a:r>
              <a:rPr lang="en-US" altLang="zh-CN" sz="3100" dirty="0"/>
              <a:t>, </a:t>
            </a:r>
            <a:r>
              <a:rPr lang="en-US" altLang="zh-CN" sz="3100" i="1" dirty="0"/>
              <a:t>T</a:t>
            </a:r>
            <a:r>
              <a:rPr lang="en-US" altLang="zh-CN" sz="3100" baseline="-25000" dirty="0"/>
              <a:t>2</a:t>
            </a:r>
            <a:r>
              <a:rPr lang="en-US" altLang="zh-CN" sz="3100" dirty="0"/>
              <a:t>, . . . , </a:t>
            </a:r>
            <a:r>
              <a:rPr lang="en-US" altLang="zh-CN" sz="3100" i="1" dirty="0"/>
              <a:t>T</a:t>
            </a:r>
            <a:r>
              <a:rPr lang="en-US" altLang="zh-CN" sz="3100" baseline="-25000" dirty="0"/>
              <a:t>k</a:t>
            </a:r>
            <a:r>
              <a:rPr lang="en-US" altLang="zh-CN" sz="3100" dirty="0"/>
              <a:t> are to be performed in sequence. If </a:t>
            </a:r>
            <a:r>
              <a:rPr lang="en-US" altLang="zh-CN" sz="3100" i="1" dirty="0"/>
              <a:t>T</a:t>
            </a:r>
            <a:r>
              <a:rPr lang="en-US" altLang="zh-CN" sz="3100" baseline="-25000" dirty="0"/>
              <a:t>1</a:t>
            </a:r>
            <a:r>
              <a:rPr lang="en-US" altLang="zh-CN" sz="3100" dirty="0"/>
              <a:t> can be performed in </a:t>
            </a:r>
            <a:r>
              <a:rPr lang="en-US" altLang="zh-CN" sz="3100" i="1" dirty="0"/>
              <a:t>n</a:t>
            </a:r>
            <a:r>
              <a:rPr lang="en-US" altLang="zh-CN" sz="3100" baseline="-25000" dirty="0"/>
              <a:t>1</a:t>
            </a:r>
            <a:r>
              <a:rPr lang="en-US" altLang="zh-CN" sz="3100" dirty="0"/>
              <a:t> ways, and for each of these ways </a:t>
            </a:r>
            <a:r>
              <a:rPr lang="en-US" altLang="zh-CN" sz="3100" i="1" dirty="0"/>
              <a:t>T</a:t>
            </a:r>
            <a:r>
              <a:rPr lang="en-US" altLang="zh-CN" sz="3100" baseline="-25000" dirty="0"/>
              <a:t>2</a:t>
            </a:r>
            <a:r>
              <a:rPr lang="en-US" altLang="zh-CN" sz="3100" dirty="0"/>
              <a:t> can be performed in </a:t>
            </a:r>
            <a:r>
              <a:rPr lang="en-US" altLang="zh-CN" sz="3100" i="1" dirty="0"/>
              <a:t>n</a:t>
            </a:r>
            <a:r>
              <a:rPr lang="en-US" altLang="zh-CN" sz="3100" baseline="-25000" dirty="0"/>
              <a:t>2</a:t>
            </a:r>
            <a:r>
              <a:rPr lang="en-US" altLang="zh-CN" sz="3100" dirty="0"/>
              <a:t> ways, and for each of these </a:t>
            </a:r>
            <a:r>
              <a:rPr lang="en-US" altLang="zh-CN" sz="3100" i="1" dirty="0"/>
              <a:t>n</a:t>
            </a:r>
            <a:r>
              <a:rPr lang="en-US" altLang="zh-CN" sz="3100" baseline="-25000" dirty="0"/>
              <a:t>1</a:t>
            </a:r>
            <a:r>
              <a:rPr lang="en-US" altLang="zh-CN" sz="3100" i="1" dirty="0"/>
              <a:t>n</a:t>
            </a:r>
            <a:r>
              <a:rPr lang="en-US" altLang="zh-CN" sz="3100" baseline="-25000" dirty="0"/>
              <a:t>2</a:t>
            </a:r>
            <a:r>
              <a:rPr lang="en-US" altLang="zh-CN" sz="3100" dirty="0"/>
              <a:t> ways of performing </a:t>
            </a:r>
            <a:r>
              <a:rPr lang="en-US" altLang="zh-CN" sz="3100" i="1" dirty="0"/>
              <a:t>T</a:t>
            </a:r>
            <a:r>
              <a:rPr lang="en-US" altLang="zh-CN" sz="3100" baseline="-25000" dirty="0"/>
              <a:t>1</a:t>
            </a:r>
            <a:r>
              <a:rPr lang="en-US" altLang="zh-CN" sz="3100" i="1" dirty="0"/>
              <a:t>T</a:t>
            </a:r>
            <a:r>
              <a:rPr lang="en-US" altLang="zh-CN" sz="3100" baseline="-25000" dirty="0"/>
              <a:t>2</a:t>
            </a:r>
            <a:r>
              <a:rPr lang="en-US" altLang="zh-CN" sz="3100" dirty="0"/>
              <a:t> in sequence, </a:t>
            </a:r>
            <a:r>
              <a:rPr lang="en-US" altLang="zh-CN" sz="3100" i="1" dirty="0"/>
              <a:t>T</a:t>
            </a:r>
            <a:r>
              <a:rPr lang="en-US" altLang="zh-CN" sz="3100" baseline="-25000" dirty="0"/>
              <a:t>3</a:t>
            </a:r>
            <a:r>
              <a:rPr lang="en-US" altLang="zh-CN" sz="3100" dirty="0"/>
              <a:t> can be performed in </a:t>
            </a:r>
            <a:r>
              <a:rPr lang="en-US" altLang="zh-CN" sz="3100" i="1" dirty="0"/>
              <a:t>n</a:t>
            </a:r>
            <a:r>
              <a:rPr lang="en-US" altLang="zh-CN" sz="3100" baseline="-25000" dirty="0"/>
              <a:t>3</a:t>
            </a:r>
            <a:r>
              <a:rPr lang="en-US" altLang="zh-CN" sz="3100" dirty="0"/>
              <a:t> ways, and so on, then the sequence </a:t>
            </a:r>
            <a:r>
              <a:rPr lang="en-US" altLang="zh-CN" sz="3100" i="1" dirty="0"/>
              <a:t>T</a:t>
            </a:r>
            <a:r>
              <a:rPr lang="en-US" altLang="zh-CN" sz="3100" baseline="-25000" dirty="0"/>
              <a:t>1</a:t>
            </a:r>
            <a:r>
              <a:rPr lang="en-US" altLang="zh-CN" sz="3100" i="1" dirty="0"/>
              <a:t>T</a:t>
            </a:r>
            <a:r>
              <a:rPr lang="en-US" altLang="zh-CN" sz="3100" baseline="-25000" dirty="0"/>
              <a:t>2 </a:t>
            </a:r>
            <a:r>
              <a:rPr lang="en-US" altLang="zh-CN" sz="3100" dirty="0"/>
              <a:t>. . .</a:t>
            </a:r>
            <a:r>
              <a:rPr lang="en-US" altLang="zh-CN" sz="3100" i="1" dirty="0"/>
              <a:t>T</a:t>
            </a:r>
            <a:r>
              <a:rPr lang="en-US" altLang="zh-CN" sz="3100" baseline="-25000" dirty="0"/>
              <a:t>k</a:t>
            </a:r>
            <a:r>
              <a:rPr lang="en-US" altLang="zh-CN" sz="3100" dirty="0"/>
              <a:t> can be performed in exactly </a:t>
            </a:r>
            <a:r>
              <a:rPr lang="en-US" altLang="zh-CN" sz="3100" i="1" dirty="0"/>
              <a:t>n</a:t>
            </a:r>
            <a:r>
              <a:rPr lang="en-US" altLang="zh-CN" sz="3100" baseline="-25000" dirty="0"/>
              <a:t>1</a:t>
            </a:r>
            <a:r>
              <a:rPr lang="en-US" altLang="zh-CN" sz="3100" i="1" dirty="0"/>
              <a:t>n</a:t>
            </a:r>
            <a:r>
              <a:rPr lang="en-US" altLang="zh-CN" sz="3100" baseline="-25000" dirty="0"/>
              <a:t>2 </a:t>
            </a:r>
            <a:r>
              <a:rPr lang="en-US" altLang="zh-CN" sz="3100" dirty="0"/>
              <a:t>. . .</a:t>
            </a:r>
            <a:r>
              <a:rPr lang="en-US" altLang="zh-CN" sz="3100" i="1" dirty="0"/>
              <a:t>n</a:t>
            </a:r>
            <a:r>
              <a:rPr lang="en-US" altLang="zh-CN" sz="3100" baseline="-25000" dirty="0"/>
              <a:t>k</a:t>
            </a:r>
            <a:r>
              <a:rPr lang="en-US" altLang="zh-CN" sz="3100" dirty="0"/>
              <a:t> ways.</a:t>
            </a:r>
            <a:endParaRPr lang="zh-CN" altLang="en-US" sz="3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10243"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10244"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10245" name="Rectangle 2"/>
          <p:cNvSpPr>
            <a:spLocks noGrp="1"/>
          </p:cNvSpPr>
          <p:nvPr>
            <p:ph type="title"/>
          </p:nvPr>
        </p:nvSpPr>
        <p:spPr/>
        <p:txBody>
          <a:bodyPr vert="horz" wrap="square" lIns="91440" tIns="45720" rIns="91440" bIns="45720" anchor="b" anchorCtr="0"/>
          <a:p>
            <a:pPr eaLnBrk="1" hangingPunct="1"/>
            <a:r>
              <a:rPr lang="en-US" altLang="zh-CN" dirty="0"/>
              <a:t>Example</a:t>
            </a:r>
            <a:endParaRPr lang="zh-CN" altLang="en-US" dirty="0"/>
          </a:p>
        </p:txBody>
      </p:sp>
      <p:sp>
        <p:nvSpPr>
          <p:cNvPr id="11270" name="Rectangle 3"/>
          <p:cNvSpPr>
            <a:spLocks noGrp="1"/>
          </p:cNvSpPr>
          <p:nvPr>
            <p:ph idx="1"/>
          </p:nvPr>
        </p:nvSpPr>
        <p:spPr>
          <a:xfrm>
            <a:off x="284480" y="1412875"/>
            <a:ext cx="8859520" cy="4689475"/>
          </a:xfrm>
        </p:spPr>
        <p:txBody>
          <a:bodyPr vert="horz" wrap="square" lIns="91440" tIns="45720" rIns="91440" bIns="45720" anchor="t" anchorCtr="0"/>
          <a:p>
            <a:pPr eaLnBrk="1" hangingPunct="1"/>
            <a:r>
              <a:rPr lang="en-US" altLang="zh-CN" dirty="0"/>
              <a:t>A label identifier, for a computer system, consists of one letter followed by three digits. If repetitions are allowed, how many distinct label identifiers are possible?</a:t>
            </a:r>
            <a:endParaRPr lang="en-US" altLang="zh-CN" dirty="0"/>
          </a:p>
          <a:p>
            <a:pPr eaLnBrk="1" hangingPunct="1"/>
            <a:r>
              <a:rPr lang="en-US" altLang="zh-CN" dirty="0"/>
              <a:t>Solution</a:t>
            </a:r>
            <a:endParaRPr lang="en-US" altLang="zh-CN" dirty="0"/>
          </a:p>
          <a:p>
            <a:pPr lvl="1" eaLnBrk="1" hangingPunct="1"/>
            <a:r>
              <a:rPr lang="en-US" altLang="zh-CN" dirty="0">
                <a:latin typeface="Times New Roman" panose="02020503050405090304" pitchFamily="18" charset="0"/>
              </a:rPr>
              <a:t> There are 26 possibilities for the beginning letter and there are 10 possibilities for each of the three digits.</a:t>
            </a:r>
            <a:endParaRPr lang="en-US" altLang="zh-CN" dirty="0">
              <a:latin typeface="Times New Roman" panose="02020503050405090304" pitchFamily="18" charset="0"/>
            </a:endParaRPr>
          </a:p>
          <a:p>
            <a:pPr lvl="1" eaLnBrk="1" hangingPunct="1"/>
            <a:r>
              <a:rPr lang="en-US" altLang="zh-CN" dirty="0">
                <a:latin typeface="Times New Roman" panose="02020503050405090304" pitchFamily="18" charset="0"/>
              </a:rPr>
              <a:t> Thus, by the extended multiplication principle, there are 26</a:t>
            </a:r>
            <a:r>
              <a:rPr lang="en-US" altLang="zh-CN" dirty="0">
                <a:latin typeface="Times New Roman" panose="02020503050405090304" pitchFamily="18" charset="0"/>
                <a:sym typeface="Symbol" panose="05050102010706020507" pitchFamily="18" charset="2"/>
              </a:rPr>
              <a:t>10 10 10</a:t>
            </a:r>
            <a:r>
              <a:rPr lang="en-US" altLang="zh-CN" dirty="0">
                <a:latin typeface="Times New Roman" panose="02020503050405090304" pitchFamily="18" charset="0"/>
              </a:rPr>
              <a:t> or 26,000 possible label identifiers. </a:t>
            </a:r>
            <a:endParaRPr lang="en-US" altLang="zh-CN" dirty="0">
              <a:latin typeface="Times New Roman" panose="0202050305040509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70">
                                            <p:txEl>
                                              <p:charRg st="170" end="17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270">
                                            <p:txEl>
                                              <p:charRg st="179" end="29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270">
                                            <p:txEl>
                                              <p:charRg st="293" end="40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11267"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11268"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11269" name="Rectangle 2"/>
          <p:cNvSpPr>
            <a:spLocks noGrp="1"/>
          </p:cNvSpPr>
          <p:nvPr>
            <p:ph type="title"/>
          </p:nvPr>
        </p:nvSpPr>
        <p:spPr/>
        <p:txBody>
          <a:bodyPr vert="horz" wrap="square" lIns="91440" tIns="45720" rIns="91440" bIns="45720" anchor="b" anchorCtr="0"/>
          <a:p>
            <a:pPr eaLnBrk="1" hangingPunct="1"/>
            <a:r>
              <a:rPr lang="en-US" altLang="zh-CN" dirty="0"/>
              <a:t>Example</a:t>
            </a:r>
            <a:endParaRPr lang="zh-CN" altLang="en-US" dirty="0"/>
          </a:p>
        </p:txBody>
      </p:sp>
      <p:sp>
        <p:nvSpPr>
          <p:cNvPr id="11270" name="Rectangle 3"/>
          <p:cNvSpPr>
            <a:spLocks noGrp="1"/>
          </p:cNvSpPr>
          <p:nvPr>
            <p:ph idx="1"/>
          </p:nvPr>
        </p:nvSpPr>
        <p:spPr>
          <a:xfrm>
            <a:off x="828040" y="1268730"/>
            <a:ext cx="8001000" cy="4114800"/>
          </a:xfrm>
        </p:spPr>
        <p:txBody>
          <a:bodyPr vert="horz" wrap="square" lIns="91440" tIns="45720" rIns="91440" bIns="45720" anchor="t" anchorCtr="0"/>
          <a:p>
            <a:pPr eaLnBrk="1" hangingPunct="1">
              <a:lnSpc>
                <a:spcPct val="90000"/>
              </a:lnSpc>
            </a:pPr>
            <a:r>
              <a:rPr lang="en-US" altLang="zh-CN" dirty="0"/>
              <a:t>Let </a:t>
            </a:r>
            <a:r>
              <a:rPr lang="en-US" altLang="zh-CN" i="1" dirty="0"/>
              <a:t>A</a:t>
            </a:r>
            <a:r>
              <a:rPr lang="en-US" altLang="zh-CN" dirty="0"/>
              <a:t> be a set with </a:t>
            </a:r>
            <a:r>
              <a:rPr lang="en-US" altLang="zh-CN" i="1" dirty="0"/>
              <a:t>n</a:t>
            </a:r>
            <a:r>
              <a:rPr lang="en-US" altLang="zh-CN" dirty="0"/>
              <a:t> elements. How many subsets does </a:t>
            </a:r>
            <a:r>
              <a:rPr lang="en-US" altLang="zh-CN" i="1" dirty="0"/>
              <a:t>A</a:t>
            </a:r>
            <a:r>
              <a:rPr lang="en-US" altLang="zh-CN" dirty="0"/>
              <a:t> have?</a:t>
            </a:r>
            <a:endParaRPr lang="en-US" altLang="zh-CN" dirty="0"/>
          </a:p>
        </p:txBody>
      </p:sp>
      <p:sp>
        <p:nvSpPr>
          <p:cNvPr id="2" name="矩形 1"/>
          <p:cNvSpPr/>
          <p:nvPr/>
        </p:nvSpPr>
        <p:spPr>
          <a:xfrm>
            <a:off x="1043940" y="2348865"/>
            <a:ext cx="7399020" cy="3529965"/>
          </a:xfrm>
          <a:prstGeom prst="rect">
            <a:avLst/>
          </a:prstGeom>
          <a:noFill/>
          <a:ln w="9525">
            <a:noFill/>
          </a:ln>
        </p:spPr>
        <p:txBody>
          <a:bodyPr>
            <a:no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mn-ea"/>
              </a:defRPr>
            </a:lvl5pPr>
          </a:lstStyle>
          <a:p>
            <a:pPr marL="0" lvl="0" indent="0">
              <a:spcBef>
                <a:spcPct val="0"/>
              </a:spcBef>
              <a:buClrTx/>
              <a:buSzTx/>
              <a:buFontTx/>
              <a:buNone/>
            </a:pPr>
            <a:r>
              <a:rPr lang="en-US" altLang="zh-CN" sz="2800" b="1" dirty="0"/>
              <a:t>Solution</a:t>
            </a:r>
            <a:r>
              <a:rPr lang="en-US" altLang="zh-CN" sz="2800" dirty="0"/>
              <a:t>: </a:t>
            </a:r>
            <a:r>
              <a:rPr lang="en-US" altLang="zh-CN" sz="2800" dirty="0">
                <a:latin typeface="Cambria Math" panose="02040503050406030204" pitchFamily="18" charset="0"/>
              </a:rPr>
              <a:t>2</a:t>
            </a:r>
            <a:r>
              <a:rPr lang="en-US" altLang="zh-CN" sz="2800" baseline="30000" dirty="0"/>
              <a:t>n</a:t>
            </a:r>
            <a:endParaRPr lang="en-US" altLang="zh-CN" sz="2800" dirty="0"/>
          </a:p>
          <a:p>
            <a:pPr marL="0" lvl="0" indent="0">
              <a:spcBef>
                <a:spcPct val="0"/>
              </a:spcBef>
              <a:buClrTx/>
              <a:buSzTx/>
              <a:buFontTx/>
              <a:buNone/>
            </a:pPr>
            <a:r>
              <a:rPr lang="en-US" altLang="zh-CN" sz="2800" dirty="0"/>
              <a:t>When the elements of A are listed in an arbitrary order, there is a one-to-one correspondence between subsets of </a:t>
            </a:r>
            <a:r>
              <a:rPr lang="en-US" altLang="zh-CN" sz="2800" i="1" dirty="0"/>
              <a:t>A</a:t>
            </a:r>
            <a:r>
              <a:rPr lang="en-US" altLang="zh-CN" sz="2800" dirty="0"/>
              <a:t> and bit strings of length |</a:t>
            </a:r>
            <a:r>
              <a:rPr lang="en-US" altLang="zh-CN" sz="2800" i="1" dirty="0"/>
              <a:t>A</a:t>
            </a:r>
            <a:r>
              <a:rPr lang="en-US" altLang="zh-CN" sz="2800" dirty="0"/>
              <a:t>|.  When the </a:t>
            </a:r>
            <a:r>
              <a:rPr lang="en-US" altLang="zh-CN" sz="2800" i="1" dirty="0"/>
              <a:t>i</a:t>
            </a:r>
            <a:r>
              <a:rPr lang="en-US" altLang="zh-CN" sz="2800" dirty="0"/>
              <a:t>th element is in the subset, the bit string has a </a:t>
            </a:r>
            <a:r>
              <a:rPr lang="en-US" altLang="zh-CN" sz="2800" dirty="0">
                <a:latin typeface="Cambria Math" panose="02040503050406030204" pitchFamily="18" charset="0"/>
              </a:rPr>
              <a:t>1</a:t>
            </a:r>
            <a:r>
              <a:rPr lang="en-US" altLang="zh-CN" sz="2800" dirty="0"/>
              <a:t> in the </a:t>
            </a:r>
            <a:r>
              <a:rPr lang="en-US" altLang="zh-CN" sz="2800" i="1" dirty="0"/>
              <a:t>i</a:t>
            </a:r>
            <a:r>
              <a:rPr lang="en-US" altLang="zh-CN" sz="2800" dirty="0"/>
              <a:t>th position and a </a:t>
            </a:r>
            <a:r>
              <a:rPr lang="en-US" altLang="zh-CN" sz="2800" dirty="0">
                <a:latin typeface="Cambria Math" panose="02040503050406030204" pitchFamily="18" charset="0"/>
              </a:rPr>
              <a:t>0</a:t>
            </a:r>
            <a:r>
              <a:rPr lang="en-US" altLang="zh-CN" sz="2800" dirty="0"/>
              <a:t> otherwise.</a:t>
            </a:r>
            <a:endParaRPr lang="en-US" altLang="zh-CN" sz="2800" dirty="0"/>
          </a:p>
          <a:p>
            <a:pPr marL="0" lvl="0" indent="0">
              <a:spcBef>
                <a:spcPct val="0"/>
              </a:spcBef>
              <a:buClrTx/>
              <a:buSzTx/>
              <a:buFontTx/>
              <a:buNone/>
            </a:pPr>
            <a:r>
              <a:rPr lang="en-US" altLang="zh-CN" sz="2800" dirty="0"/>
              <a:t>    By the product rule, there are  </a:t>
            </a:r>
            <a:r>
              <a:rPr lang="en-US" altLang="zh-CN" sz="2800" dirty="0">
                <a:latin typeface="Cambria Math" panose="02040503050406030204" pitchFamily="18" charset="0"/>
              </a:rPr>
              <a:t>2</a:t>
            </a:r>
            <a:r>
              <a:rPr lang="en-US" altLang="zh-CN" sz="2800" baseline="30000" dirty="0"/>
              <a:t>|</a:t>
            </a:r>
            <a:r>
              <a:rPr lang="en-US" altLang="zh-CN" sz="2800" i="1" baseline="30000" dirty="0"/>
              <a:t>A</a:t>
            </a:r>
            <a:r>
              <a:rPr lang="en-US" altLang="zh-CN" sz="2800" baseline="30000" dirty="0"/>
              <a:t>|</a:t>
            </a:r>
            <a:r>
              <a:rPr lang="en-US" altLang="zh-CN" sz="2800" dirty="0"/>
              <a:t> such bit strings, and therefore </a:t>
            </a:r>
            <a:r>
              <a:rPr lang="en-US" altLang="zh-CN" sz="2800" dirty="0">
                <a:latin typeface="Cambria Math" panose="02040503050406030204" pitchFamily="18" charset="0"/>
              </a:rPr>
              <a:t>2</a:t>
            </a:r>
            <a:r>
              <a:rPr lang="en-US" altLang="zh-CN" sz="2800" baseline="30000" dirty="0"/>
              <a:t>|</a:t>
            </a:r>
            <a:r>
              <a:rPr lang="en-US" altLang="zh-CN" sz="2800" i="1" baseline="30000" dirty="0"/>
              <a:t>A</a:t>
            </a:r>
            <a:r>
              <a:rPr lang="en-US" altLang="zh-CN" sz="2800" baseline="30000" dirty="0"/>
              <a:t>|</a:t>
            </a:r>
            <a:r>
              <a:rPr lang="en-US" altLang="zh-CN" sz="2800" dirty="0"/>
              <a:t> subsets. </a:t>
            </a:r>
            <a:endParaRPr lang="en-US" altLang="zh-CN"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charRg st="0" end="1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charRg st="13" end="26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charRg st="261" end="34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12291"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12292"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12293" name="Rectangle 2"/>
          <p:cNvSpPr>
            <a:spLocks noGrp="1"/>
          </p:cNvSpPr>
          <p:nvPr>
            <p:ph type="title"/>
          </p:nvPr>
        </p:nvSpPr>
        <p:spPr/>
        <p:txBody>
          <a:bodyPr vert="horz" wrap="square" lIns="91440" tIns="45720" rIns="91440" bIns="45720" anchor="b" anchorCtr="0"/>
          <a:p>
            <a:pPr eaLnBrk="1" hangingPunct="1"/>
            <a:r>
              <a:rPr lang="en-US" altLang="zh-CN" dirty="0"/>
              <a:t>Example</a:t>
            </a:r>
            <a:endParaRPr lang="en-US" altLang="zh-CN" dirty="0"/>
          </a:p>
        </p:txBody>
      </p:sp>
      <p:sp>
        <p:nvSpPr>
          <p:cNvPr id="12294" name="Rectangle 3"/>
          <p:cNvSpPr>
            <a:spLocks noGrp="1"/>
          </p:cNvSpPr>
          <p:nvPr>
            <p:ph idx="1"/>
          </p:nvPr>
        </p:nvSpPr>
        <p:spPr>
          <a:xfrm>
            <a:off x="1043940" y="1371600"/>
            <a:ext cx="7772400" cy="4114800"/>
          </a:xfrm>
        </p:spPr>
        <p:txBody>
          <a:bodyPr vert="horz" wrap="square" lIns="91440" tIns="45720" rIns="91440" bIns="45720" anchor="t" anchorCtr="0"/>
          <a:p>
            <a:pPr eaLnBrk="1" hangingPunct="1"/>
            <a:r>
              <a:rPr lang="en-US" altLang="zh-CN" sz="2800" dirty="0"/>
              <a:t>Let </a:t>
            </a:r>
            <a:r>
              <a:rPr lang="en-US" altLang="zh-CN" sz="2800" i="1" dirty="0"/>
              <a:t>A</a:t>
            </a:r>
            <a:r>
              <a:rPr lang="en-US" altLang="zh-CN" sz="2800" dirty="0"/>
              <a:t> be any set with </a:t>
            </a:r>
            <a:r>
              <a:rPr lang="en-US" altLang="zh-CN" sz="2800" i="1" dirty="0"/>
              <a:t>n </a:t>
            </a:r>
            <a:r>
              <a:rPr lang="en-US" altLang="zh-CN" sz="2800" dirty="0"/>
              <a:t>elements, and suppose that l </a:t>
            </a:r>
            <a:r>
              <a:rPr lang="en-US" altLang="zh-CN" sz="2800" dirty="0">
                <a:sym typeface="Symbol" panose="05050102010706020507" pitchFamily="18" charset="2"/>
              </a:rPr>
              <a:t></a:t>
            </a:r>
            <a:r>
              <a:rPr lang="en-US" altLang="zh-CN" sz="2800" dirty="0"/>
              <a:t> </a:t>
            </a:r>
            <a:r>
              <a:rPr lang="en-US" altLang="zh-CN" sz="2800" i="1" dirty="0"/>
              <a:t>r</a:t>
            </a:r>
            <a:r>
              <a:rPr lang="en-US" altLang="zh-CN" sz="2800" dirty="0"/>
              <a:t> </a:t>
            </a:r>
            <a:r>
              <a:rPr lang="en-US" altLang="zh-CN" sz="2800" dirty="0">
                <a:sym typeface="Symbol" panose="05050102010706020507" pitchFamily="18" charset="2"/>
              </a:rPr>
              <a:t></a:t>
            </a:r>
            <a:r>
              <a:rPr lang="en-US" altLang="zh-CN" sz="2800" dirty="0"/>
              <a:t> </a:t>
            </a:r>
            <a:r>
              <a:rPr lang="en-US" altLang="zh-CN" sz="2800" i="1" dirty="0"/>
              <a:t>n</a:t>
            </a:r>
            <a:r>
              <a:rPr lang="en-US" altLang="zh-CN" sz="2800" dirty="0"/>
              <a:t>.</a:t>
            </a:r>
            <a:endParaRPr lang="en-US" altLang="zh-CN" sz="2800" dirty="0"/>
          </a:p>
          <a:p>
            <a:pPr eaLnBrk="1" hangingPunct="1"/>
            <a:r>
              <a:rPr lang="en-US" altLang="zh-CN" sz="2800" dirty="0"/>
              <a:t>Problem 1</a:t>
            </a:r>
            <a:endParaRPr lang="en-US" altLang="zh-CN" sz="2800" dirty="0"/>
          </a:p>
          <a:p>
            <a:pPr eaLnBrk="1" hangingPunct="1"/>
            <a:r>
              <a:rPr lang="en-US" altLang="zh-CN" sz="2800" dirty="0"/>
              <a:t>How many different sequences, each of length </a:t>
            </a:r>
            <a:r>
              <a:rPr lang="en-US" altLang="zh-CN" sz="2800" i="1" dirty="0"/>
              <a:t>r</a:t>
            </a:r>
            <a:r>
              <a:rPr lang="en-US" altLang="zh-CN" sz="2800" dirty="0"/>
              <a:t>, can be formed using elements from </a:t>
            </a:r>
            <a:r>
              <a:rPr lang="en-US" altLang="zh-CN" sz="2800" i="1" dirty="0"/>
              <a:t>A </a:t>
            </a:r>
            <a:r>
              <a:rPr lang="en-US" altLang="zh-CN" sz="2800" dirty="0"/>
              <a:t>if</a:t>
            </a:r>
            <a:endParaRPr lang="en-US" altLang="zh-CN" sz="2800" dirty="0"/>
          </a:p>
          <a:p>
            <a:pPr eaLnBrk="1" hangingPunct="1">
              <a:buNone/>
            </a:pPr>
            <a:r>
              <a:rPr lang="en-US" altLang="zh-CN" sz="2800" dirty="0"/>
              <a:t>       (a) elements in the sequence may be repeated?</a:t>
            </a:r>
            <a:endParaRPr lang="en-US" altLang="zh-CN" sz="2800" dirty="0"/>
          </a:p>
          <a:p>
            <a:pPr eaLnBrk="1" hangingPunct="1">
              <a:buNone/>
            </a:pPr>
            <a:r>
              <a:rPr lang="en-US" altLang="zh-CN" sz="2800" dirty="0"/>
              <a:t>       (b) all elements in the sequence must be distinct?</a:t>
            </a:r>
            <a:endParaRPr lang="zh-CN" altLang="en-US"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13315"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13316"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13317" name="Rectangle 2"/>
          <p:cNvSpPr>
            <a:spLocks noGrp="1"/>
          </p:cNvSpPr>
          <p:nvPr>
            <p:ph type="title"/>
          </p:nvPr>
        </p:nvSpPr>
        <p:spPr/>
        <p:txBody>
          <a:bodyPr vert="horz" wrap="square" lIns="91440" tIns="45720" rIns="91440" bIns="45720" anchor="b" anchorCtr="0"/>
          <a:p>
            <a:pPr eaLnBrk="1" hangingPunct="1"/>
            <a:endParaRPr lang="zh-CN" altLang="en-US" dirty="0">
              <a:latin typeface="Arial Rounded MT Bold" panose="020F0704030504030204" pitchFamily="34" charset="0"/>
            </a:endParaRPr>
          </a:p>
        </p:txBody>
      </p:sp>
      <p:sp>
        <p:nvSpPr>
          <p:cNvPr id="13318" name="Rectangle 3"/>
          <p:cNvSpPr>
            <a:spLocks noGrp="1"/>
          </p:cNvSpPr>
          <p:nvPr>
            <p:ph idx="1"/>
          </p:nvPr>
        </p:nvSpPr>
        <p:spPr/>
        <p:txBody>
          <a:bodyPr vert="horz" wrap="square" lIns="91440" tIns="45720" rIns="91440" bIns="45720" anchor="t" anchorCtr="0"/>
          <a:p>
            <a:pPr eaLnBrk="1" hangingPunct="1">
              <a:lnSpc>
                <a:spcPct val="90000"/>
              </a:lnSpc>
            </a:pPr>
            <a:r>
              <a:rPr lang="en-US" altLang="zh-CN" sz="2800" dirty="0"/>
              <a:t>First we note that any sequence of length </a:t>
            </a:r>
            <a:r>
              <a:rPr lang="en-US" altLang="zh-CN" sz="2800" i="1" dirty="0"/>
              <a:t>r</a:t>
            </a:r>
            <a:r>
              <a:rPr lang="en-US" altLang="zh-CN" sz="2800" dirty="0"/>
              <a:t> can be formed by filling </a:t>
            </a:r>
            <a:r>
              <a:rPr lang="en-US" altLang="zh-CN" sz="2800" i="1" dirty="0"/>
              <a:t>r</a:t>
            </a:r>
            <a:r>
              <a:rPr lang="en-US" altLang="zh-CN" sz="2800" dirty="0"/>
              <a:t> boxes in order from left to right with elements of </a:t>
            </a:r>
            <a:r>
              <a:rPr lang="en-US" altLang="zh-CN" sz="2800" i="1" dirty="0"/>
              <a:t>A</a:t>
            </a:r>
            <a:r>
              <a:rPr lang="en-US" altLang="zh-CN" sz="2800" dirty="0"/>
              <a:t>. </a:t>
            </a:r>
            <a:endParaRPr lang="en-US" altLang="zh-CN" sz="2800" dirty="0"/>
          </a:p>
          <a:p>
            <a:pPr eaLnBrk="1" hangingPunct="1">
              <a:lnSpc>
                <a:spcPct val="90000"/>
              </a:lnSpc>
            </a:pPr>
            <a:r>
              <a:rPr lang="en-US" altLang="zh-CN" sz="2800" dirty="0"/>
              <a:t>In case (a) we may use copies of elements of </a:t>
            </a:r>
            <a:r>
              <a:rPr lang="en-US" altLang="zh-CN" sz="2800" i="1" dirty="0"/>
              <a:t>A</a:t>
            </a:r>
            <a:r>
              <a:rPr lang="en-US" altLang="zh-CN" sz="2800" dirty="0"/>
              <a:t>.</a:t>
            </a:r>
            <a:endParaRPr lang="en-US" altLang="zh-CN" sz="2800" dirty="0"/>
          </a:p>
          <a:p>
            <a:pPr eaLnBrk="1" hangingPunct="1">
              <a:lnSpc>
                <a:spcPct val="90000"/>
              </a:lnSpc>
              <a:buNone/>
            </a:pPr>
            <a:endParaRPr lang="en-US" altLang="zh-CN" sz="2800" dirty="0"/>
          </a:p>
          <a:p>
            <a:pPr eaLnBrk="1" hangingPunct="1">
              <a:lnSpc>
                <a:spcPct val="90000"/>
              </a:lnSpc>
              <a:buNone/>
            </a:pPr>
            <a:endParaRPr lang="en-US" altLang="zh-CN" sz="2800" dirty="0"/>
          </a:p>
          <a:p>
            <a:pPr eaLnBrk="1" hangingPunct="1">
              <a:lnSpc>
                <a:spcPct val="90000"/>
              </a:lnSpc>
            </a:pPr>
            <a:r>
              <a:rPr lang="en-US" altLang="zh-CN" sz="2800" dirty="0"/>
              <a:t>Let </a:t>
            </a:r>
            <a:r>
              <a:rPr lang="en-US" altLang="zh-CN" sz="2800" i="1" dirty="0"/>
              <a:t>T</a:t>
            </a:r>
            <a:r>
              <a:rPr lang="en-US" altLang="zh-CN" sz="2800" baseline="-25000" dirty="0"/>
              <a:t>1 </a:t>
            </a:r>
            <a:r>
              <a:rPr lang="en-US" altLang="zh-CN" sz="2800" dirty="0"/>
              <a:t>be the task “fill box 1” let </a:t>
            </a:r>
            <a:r>
              <a:rPr lang="en-US" altLang="zh-CN" sz="2800" i="1" dirty="0"/>
              <a:t>T</a:t>
            </a:r>
            <a:r>
              <a:rPr lang="en-US" altLang="zh-CN" sz="2800" baseline="-25000" dirty="0"/>
              <a:t>2</a:t>
            </a:r>
            <a:r>
              <a:rPr lang="en-US" altLang="zh-CN" sz="2800" dirty="0"/>
              <a:t>be the task “fill box 2” and so on. </a:t>
            </a:r>
            <a:endParaRPr lang="en-US" altLang="zh-CN" sz="2800" dirty="0"/>
          </a:p>
          <a:p>
            <a:pPr eaLnBrk="1" hangingPunct="1">
              <a:lnSpc>
                <a:spcPct val="90000"/>
              </a:lnSpc>
            </a:pPr>
            <a:r>
              <a:rPr lang="en-US" altLang="zh-CN" sz="2800" dirty="0"/>
              <a:t>Then the combined task </a:t>
            </a:r>
            <a:r>
              <a:rPr lang="en-US" altLang="zh-CN" sz="2800" i="1" dirty="0"/>
              <a:t>T</a:t>
            </a:r>
            <a:r>
              <a:rPr lang="en-US" altLang="zh-CN" sz="2800" baseline="-25000" dirty="0"/>
              <a:t>1</a:t>
            </a:r>
            <a:r>
              <a:rPr lang="en-US" altLang="zh-CN" sz="2800" i="1" dirty="0"/>
              <a:t>T</a:t>
            </a:r>
            <a:r>
              <a:rPr lang="en-US" altLang="zh-CN" sz="2800" baseline="-25000" dirty="0"/>
              <a:t>2</a:t>
            </a:r>
            <a:r>
              <a:rPr lang="en-US" altLang="zh-CN" sz="2800" dirty="0"/>
              <a:t> . . . </a:t>
            </a:r>
            <a:r>
              <a:rPr lang="en-US" altLang="zh-CN" sz="2800" i="1" dirty="0"/>
              <a:t>T</a:t>
            </a:r>
            <a:r>
              <a:rPr lang="en-US" altLang="zh-CN" sz="2800" baseline="-25000" dirty="0"/>
              <a:t>r</a:t>
            </a:r>
            <a:r>
              <a:rPr lang="en-US" altLang="zh-CN" sz="2800" dirty="0"/>
              <a:t> represents the formation of the sequence.</a:t>
            </a:r>
            <a:endParaRPr lang="zh-CN" altLang="en-US" sz="2800" dirty="0"/>
          </a:p>
        </p:txBody>
      </p:sp>
      <p:pic>
        <p:nvPicPr>
          <p:cNvPr id="13319" name="Picture 4"/>
          <p:cNvPicPr>
            <a:picLocks noChangeAspect="1"/>
          </p:cNvPicPr>
          <p:nvPr/>
        </p:nvPicPr>
        <p:blipFill>
          <a:blip r:embed="rId1">
            <a:clrChange>
              <a:clrFrom>
                <a:srgbClr val="FFFFFF"/>
              </a:clrFrom>
              <a:clrTo>
                <a:srgbClr val="FFFFFF">
                  <a:alpha val="0"/>
                </a:srgbClr>
              </a:clrTo>
            </a:clrChange>
          </a:blip>
          <a:stretch>
            <a:fillRect/>
          </a:stretch>
        </p:blipFill>
        <p:spPr>
          <a:xfrm>
            <a:off x="1828800" y="3016250"/>
            <a:ext cx="6477000" cy="995363"/>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14339"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14340"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14341" name="Rectangle 2"/>
          <p:cNvSpPr>
            <a:spLocks noGrp="1"/>
          </p:cNvSpPr>
          <p:nvPr>
            <p:ph type="title"/>
          </p:nvPr>
        </p:nvSpPr>
        <p:spPr/>
        <p:txBody>
          <a:bodyPr vert="horz" wrap="square" lIns="91440" tIns="45720" rIns="91440" bIns="45720" anchor="b" anchorCtr="0"/>
          <a:p>
            <a:pPr eaLnBrk="1" hangingPunct="1"/>
            <a:endParaRPr lang="zh-CN" altLang="en-US" dirty="0">
              <a:latin typeface="Arial Rounded MT Bold" panose="020F0704030504030204" pitchFamily="34" charset="0"/>
            </a:endParaRPr>
          </a:p>
        </p:txBody>
      </p:sp>
      <p:sp>
        <p:nvSpPr>
          <p:cNvPr id="14342" name="Rectangle 3"/>
          <p:cNvSpPr>
            <a:spLocks noGrp="1"/>
          </p:cNvSpPr>
          <p:nvPr>
            <p:ph idx="1"/>
          </p:nvPr>
        </p:nvSpPr>
        <p:spPr/>
        <p:txBody>
          <a:bodyPr vert="horz" wrap="square" lIns="91440" tIns="45720" rIns="91440" bIns="45720" anchor="t" anchorCtr="0"/>
          <a:p>
            <a:pPr eaLnBrk="1" hangingPunct="1">
              <a:lnSpc>
                <a:spcPct val="90000"/>
              </a:lnSpc>
            </a:pPr>
            <a:r>
              <a:rPr lang="en-US" altLang="zh-CN" dirty="0"/>
              <a:t>Case (a). </a:t>
            </a:r>
            <a:r>
              <a:rPr lang="en-US" altLang="zh-CN" i="1" dirty="0"/>
              <a:t>T</a:t>
            </a:r>
            <a:r>
              <a:rPr lang="en-US" altLang="zh-CN" baseline="-25000" dirty="0"/>
              <a:t>1</a:t>
            </a:r>
            <a:r>
              <a:rPr lang="en-US" altLang="zh-CN" dirty="0"/>
              <a:t> can be accomplished in </a:t>
            </a:r>
            <a:r>
              <a:rPr lang="en-US" altLang="zh-CN" i="1" dirty="0"/>
              <a:t>n</a:t>
            </a:r>
            <a:r>
              <a:rPr lang="en-US" altLang="zh-CN" dirty="0"/>
              <a:t> ways, since we may copy any element of </a:t>
            </a:r>
            <a:r>
              <a:rPr lang="en-US" altLang="zh-CN" i="1" dirty="0"/>
              <a:t>A</a:t>
            </a:r>
            <a:r>
              <a:rPr lang="en-US" altLang="zh-CN" dirty="0"/>
              <a:t> for the first position of the sequence. </a:t>
            </a:r>
            <a:endParaRPr lang="en-US" altLang="zh-CN" dirty="0"/>
          </a:p>
          <a:p>
            <a:pPr eaLnBrk="1" hangingPunct="1">
              <a:lnSpc>
                <a:spcPct val="90000"/>
              </a:lnSpc>
            </a:pPr>
            <a:r>
              <a:rPr lang="en-US" altLang="zh-CN" dirty="0"/>
              <a:t>The same is true for each of the tasks </a:t>
            </a:r>
            <a:r>
              <a:rPr lang="en-US" altLang="zh-CN" i="1" dirty="0"/>
              <a:t>T</a:t>
            </a:r>
            <a:r>
              <a:rPr lang="en-US" altLang="zh-CN" baseline="-25000" dirty="0"/>
              <a:t>2 </a:t>
            </a:r>
            <a:r>
              <a:rPr lang="en-US" altLang="zh-CN" dirty="0"/>
              <a:t>,</a:t>
            </a:r>
            <a:r>
              <a:rPr lang="en-US" altLang="zh-CN" baseline="-25000" dirty="0"/>
              <a:t> </a:t>
            </a:r>
            <a:r>
              <a:rPr lang="en-US" altLang="zh-CN" i="1" dirty="0"/>
              <a:t>T</a:t>
            </a:r>
            <a:r>
              <a:rPr lang="en-US" altLang="zh-CN" baseline="-25000" dirty="0"/>
              <a:t>3</a:t>
            </a:r>
            <a:r>
              <a:rPr lang="en-US" altLang="zh-CN" dirty="0"/>
              <a:t> ,…,</a:t>
            </a:r>
            <a:r>
              <a:rPr lang="en-US" altLang="zh-CN" i="1" dirty="0"/>
              <a:t>T</a:t>
            </a:r>
            <a:r>
              <a:rPr lang="en-US" altLang="zh-CN" baseline="-25000" dirty="0"/>
              <a:t>r </a:t>
            </a:r>
            <a:r>
              <a:rPr lang="en-US" altLang="zh-CN" dirty="0"/>
              <a:t>. </a:t>
            </a:r>
            <a:endParaRPr lang="en-US" altLang="zh-CN" dirty="0"/>
          </a:p>
          <a:p>
            <a:pPr eaLnBrk="1" hangingPunct="1">
              <a:lnSpc>
                <a:spcPct val="90000"/>
              </a:lnSpc>
            </a:pPr>
            <a:r>
              <a:rPr lang="en-US" altLang="zh-CN" dirty="0"/>
              <a:t> Then by the extended multiplication principle, the number of sequences that can be formed is </a:t>
            </a:r>
            <a:r>
              <a:rPr lang="en-US" altLang="zh-CN" i="1" dirty="0"/>
              <a:t>n</a:t>
            </a:r>
            <a:r>
              <a:rPr lang="en-US" altLang="zh-CN" dirty="0"/>
              <a:t> </a:t>
            </a:r>
            <a:r>
              <a:rPr lang="en-US" altLang="zh-CN" dirty="0">
                <a:sym typeface="Symbol" panose="05050102010706020507" pitchFamily="18" charset="2"/>
              </a:rPr>
              <a:t></a:t>
            </a:r>
            <a:r>
              <a:rPr lang="en-US" altLang="zh-CN" dirty="0"/>
              <a:t> </a:t>
            </a:r>
            <a:r>
              <a:rPr lang="en-US" altLang="zh-CN" i="1" dirty="0"/>
              <a:t>n</a:t>
            </a:r>
            <a:r>
              <a:rPr lang="en-US" altLang="zh-CN" dirty="0"/>
              <a:t> </a:t>
            </a:r>
            <a:r>
              <a:rPr lang="en-US" altLang="zh-CN" dirty="0">
                <a:sym typeface="Symbol" panose="05050102010706020507" pitchFamily="18" charset="2"/>
              </a:rPr>
              <a:t></a:t>
            </a:r>
            <a:r>
              <a:rPr lang="en-US" altLang="zh-CN" dirty="0"/>
              <a:t>... </a:t>
            </a:r>
            <a:r>
              <a:rPr lang="en-US" altLang="zh-CN" dirty="0">
                <a:sym typeface="Symbol" panose="05050102010706020507" pitchFamily="18" charset="2"/>
              </a:rPr>
              <a:t></a:t>
            </a:r>
            <a:r>
              <a:rPr lang="en-US" altLang="zh-CN" dirty="0"/>
              <a:t> </a:t>
            </a:r>
            <a:r>
              <a:rPr lang="en-US" altLang="zh-CN" i="1" dirty="0"/>
              <a:t>n</a:t>
            </a:r>
            <a:r>
              <a:rPr lang="en-US" altLang="zh-CN" dirty="0"/>
              <a:t>=</a:t>
            </a:r>
            <a:r>
              <a:rPr lang="en-US" altLang="zh-CN" i="1" dirty="0"/>
              <a:t>n</a:t>
            </a:r>
            <a:r>
              <a:rPr lang="en-US" altLang="zh-CN" baseline="30000" dirty="0"/>
              <a:t>r</a:t>
            </a:r>
            <a:r>
              <a:rPr lang="en-US" altLang="zh-CN" dirty="0"/>
              <a:t> .</a:t>
            </a:r>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15363"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15364"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15365" name="Rectangle 2"/>
          <p:cNvSpPr>
            <a:spLocks noGrp="1"/>
          </p:cNvSpPr>
          <p:nvPr>
            <p:ph type="title"/>
          </p:nvPr>
        </p:nvSpPr>
        <p:spPr/>
        <p:txBody>
          <a:bodyPr vert="horz" wrap="square" lIns="91440" tIns="45720" rIns="91440" bIns="45720" anchor="b" anchorCtr="0"/>
          <a:p>
            <a:pPr eaLnBrk="1" hangingPunct="1"/>
            <a:r>
              <a:rPr lang="en-US" altLang="zh-CN" dirty="0">
                <a:latin typeface="Arial Rounded MT Bold" panose="020F0704030504030204" pitchFamily="34" charset="0"/>
              </a:rPr>
              <a:t>Theorem</a:t>
            </a:r>
            <a:endParaRPr lang="en-US" altLang="zh-CN" dirty="0">
              <a:latin typeface="Arial Rounded MT Bold" panose="020F0704030504030204" pitchFamily="34" charset="0"/>
            </a:endParaRPr>
          </a:p>
        </p:txBody>
      </p:sp>
      <p:sp>
        <p:nvSpPr>
          <p:cNvPr id="15366" name="Rectangle 3"/>
          <p:cNvSpPr>
            <a:spLocks noGrp="1"/>
          </p:cNvSpPr>
          <p:nvPr>
            <p:ph idx="1"/>
          </p:nvPr>
        </p:nvSpPr>
        <p:spPr/>
        <p:txBody>
          <a:bodyPr vert="horz" wrap="square" lIns="91440" tIns="45720" rIns="91440" bIns="45720" anchor="t" anchorCtr="0"/>
          <a:p>
            <a:pPr eaLnBrk="1" hangingPunct="1"/>
            <a:r>
              <a:rPr lang="en-US" altLang="zh-CN" sz="3600" dirty="0"/>
              <a:t>Let </a:t>
            </a:r>
            <a:r>
              <a:rPr lang="en-US" altLang="zh-CN" sz="3600" i="1" dirty="0"/>
              <a:t>A</a:t>
            </a:r>
            <a:r>
              <a:rPr lang="en-US" altLang="zh-CN" sz="3600" dirty="0"/>
              <a:t> be a set with </a:t>
            </a:r>
            <a:r>
              <a:rPr lang="en-US" altLang="zh-CN" sz="3600" i="1" dirty="0"/>
              <a:t>n</a:t>
            </a:r>
            <a:r>
              <a:rPr lang="en-US" altLang="zh-CN" sz="3600" dirty="0"/>
              <a:t> elements and l</a:t>
            </a:r>
            <a:r>
              <a:rPr lang="en-US" altLang="zh-CN" sz="3600" dirty="0">
                <a:sym typeface="Symbol" panose="05050102010706020507" pitchFamily="18" charset="2"/>
              </a:rPr>
              <a:t></a:t>
            </a:r>
            <a:r>
              <a:rPr lang="en-US" altLang="zh-CN" sz="3600" i="1" dirty="0">
                <a:sym typeface="Symbol" panose="05050102010706020507" pitchFamily="18" charset="2"/>
              </a:rPr>
              <a:t>r</a:t>
            </a:r>
            <a:r>
              <a:rPr lang="en-US" altLang="zh-CN" sz="3600" dirty="0">
                <a:sym typeface="Symbol" panose="05050102010706020507" pitchFamily="18" charset="2"/>
              </a:rPr>
              <a:t></a:t>
            </a:r>
            <a:r>
              <a:rPr lang="en-US" altLang="zh-CN" sz="3600" i="1" dirty="0">
                <a:sym typeface="Symbol" panose="05050102010706020507" pitchFamily="18" charset="2"/>
              </a:rPr>
              <a:t>n</a:t>
            </a:r>
            <a:r>
              <a:rPr lang="en-US" altLang="zh-CN" sz="3600" dirty="0"/>
              <a:t> . Then the number of sequences of length </a:t>
            </a:r>
            <a:r>
              <a:rPr lang="en-US" altLang="zh-CN" sz="3600" i="1" dirty="0"/>
              <a:t>r</a:t>
            </a:r>
            <a:r>
              <a:rPr lang="en-US" altLang="zh-CN" sz="3600" dirty="0"/>
              <a:t> that can be formed from elements of </a:t>
            </a:r>
            <a:r>
              <a:rPr lang="en-US" altLang="zh-CN" sz="3600" i="1" dirty="0"/>
              <a:t>A</a:t>
            </a:r>
            <a:r>
              <a:rPr lang="en-US" altLang="zh-CN" sz="3600" dirty="0"/>
              <a:t>, allowing repetitions, is </a:t>
            </a:r>
            <a:r>
              <a:rPr lang="en-US" altLang="zh-CN" sz="3600" i="1" dirty="0"/>
              <a:t>n</a:t>
            </a:r>
            <a:r>
              <a:rPr lang="en-US" altLang="zh-CN" sz="3600" baseline="30000" dirty="0"/>
              <a:t>r</a:t>
            </a:r>
            <a:r>
              <a:rPr lang="en-US" altLang="zh-CN" sz="3600" dirty="0"/>
              <a:t>.</a:t>
            </a:r>
            <a:endParaRPr lang="zh-CN" altLang="en-US" sz="3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16387"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16388"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16389" name="Rectangle 2"/>
          <p:cNvSpPr>
            <a:spLocks noGrp="1"/>
          </p:cNvSpPr>
          <p:nvPr>
            <p:ph type="title"/>
          </p:nvPr>
        </p:nvSpPr>
        <p:spPr/>
        <p:txBody>
          <a:bodyPr vert="horz" wrap="square" lIns="91440" tIns="45720" rIns="91440" bIns="45720" anchor="b" anchorCtr="0"/>
          <a:p>
            <a:pPr eaLnBrk="1" hangingPunct="1"/>
            <a:endParaRPr lang="zh-CN" altLang="en-US" dirty="0">
              <a:latin typeface="Arial Rounded MT Bold" panose="020F0704030504030204" pitchFamily="34" charset="0"/>
            </a:endParaRPr>
          </a:p>
        </p:txBody>
      </p:sp>
      <p:sp>
        <p:nvSpPr>
          <p:cNvPr id="16390" name="Rectangle 3"/>
          <p:cNvSpPr>
            <a:spLocks noGrp="1"/>
          </p:cNvSpPr>
          <p:nvPr>
            <p:ph idx="1"/>
          </p:nvPr>
        </p:nvSpPr>
        <p:spPr/>
        <p:txBody>
          <a:bodyPr vert="horz" wrap="square" lIns="91440" tIns="45720" rIns="91440" bIns="45720" anchor="t" anchorCtr="0"/>
          <a:p>
            <a:pPr eaLnBrk="1" hangingPunct="1"/>
            <a:r>
              <a:rPr lang="en-US" altLang="zh-CN" sz="2800" dirty="0"/>
              <a:t>Now we consider case (b) of Problem 1.</a:t>
            </a:r>
            <a:endParaRPr lang="en-US" altLang="zh-CN" sz="2800" dirty="0"/>
          </a:p>
          <a:p>
            <a:pPr lvl="1" eaLnBrk="1" hangingPunct="1"/>
            <a:r>
              <a:rPr lang="en-US" altLang="zh-CN" dirty="0">
                <a:latin typeface="Times New Roman" panose="02020503050405090304" pitchFamily="18" charset="0"/>
              </a:rPr>
              <a:t>T</a:t>
            </a:r>
            <a:r>
              <a:rPr lang="en-US" altLang="zh-CN" baseline="-25000" dirty="0">
                <a:latin typeface="Times New Roman" panose="02020503050405090304" pitchFamily="18" charset="0"/>
              </a:rPr>
              <a:t>1</a:t>
            </a:r>
            <a:r>
              <a:rPr lang="en-US" altLang="zh-CN" dirty="0">
                <a:latin typeface="Times New Roman" panose="02020503050405090304" pitchFamily="18" charset="0"/>
              </a:rPr>
              <a:t> can be performed in </a:t>
            </a:r>
            <a:r>
              <a:rPr lang="en-US" altLang="zh-CN" i="1" dirty="0">
                <a:latin typeface="Times New Roman" panose="02020503050405090304" pitchFamily="18" charset="0"/>
              </a:rPr>
              <a:t>n</a:t>
            </a:r>
            <a:r>
              <a:rPr lang="en-US" altLang="zh-CN" dirty="0">
                <a:latin typeface="Times New Roman" panose="02020503050405090304" pitchFamily="18" charset="0"/>
              </a:rPr>
              <a:t> ways, since any element of </a:t>
            </a:r>
            <a:r>
              <a:rPr lang="en-US" altLang="zh-CN" i="1" dirty="0">
                <a:latin typeface="Times New Roman" panose="02020503050405090304" pitchFamily="18" charset="0"/>
              </a:rPr>
              <a:t>A</a:t>
            </a:r>
            <a:r>
              <a:rPr lang="en-US" altLang="zh-CN" dirty="0">
                <a:latin typeface="Times New Roman" panose="02020503050405090304" pitchFamily="18" charset="0"/>
              </a:rPr>
              <a:t> can be chosen for the first position.</a:t>
            </a:r>
            <a:endParaRPr lang="en-US" altLang="zh-CN" dirty="0">
              <a:latin typeface="Times New Roman" panose="02020503050405090304" pitchFamily="18" charset="0"/>
            </a:endParaRPr>
          </a:p>
          <a:p>
            <a:pPr lvl="1" eaLnBrk="1" hangingPunct="1"/>
            <a:r>
              <a:rPr lang="en-US" altLang="zh-CN" dirty="0">
                <a:latin typeface="Times New Roman" panose="02020503050405090304" pitchFamily="18" charset="0"/>
              </a:rPr>
              <a:t>Whichever element is chosen, only (</a:t>
            </a:r>
            <a:r>
              <a:rPr lang="en-US" altLang="zh-CN" i="1" dirty="0">
                <a:latin typeface="Times New Roman" panose="02020503050405090304" pitchFamily="18" charset="0"/>
              </a:rPr>
              <a:t>n </a:t>
            </a:r>
            <a:r>
              <a:rPr lang="en-US" altLang="zh-CN" dirty="0">
                <a:latin typeface="Times New Roman" panose="02020503050405090304" pitchFamily="18" charset="0"/>
              </a:rPr>
              <a:t>- 1) elements remain, so that T</a:t>
            </a:r>
            <a:r>
              <a:rPr lang="en-US" altLang="zh-CN" baseline="-25000" dirty="0">
                <a:latin typeface="Times New Roman" panose="02020503050405090304" pitchFamily="18" charset="0"/>
              </a:rPr>
              <a:t>2</a:t>
            </a:r>
            <a:r>
              <a:rPr lang="en-US" altLang="zh-CN" dirty="0">
                <a:latin typeface="Times New Roman" panose="02020503050405090304" pitchFamily="18" charset="0"/>
              </a:rPr>
              <a:t> can be performed in(</a:t>
            </a:r>
            <a:r>
              <a:rPr lang="en-US" altLang="zh-CN" i="1" dirty="0">
                <a:latin typeface="Times New Roman" panose="02020503050405090304" pitchFamily="18" charset="0"/>
              </a:rPr>
              <a:t>n</a:t>
            </a:r>
            <a:r>
              <a:rPr lang="en-US" altLang="zh-CN" dirty="0">
                <a:latin typeface="Times New Roman" panose="02020503050405090304" pitchFamily="18" charset="0"/>
              </a:rPr>
              <a:t> - l) ways, and so on, until finally T</a:t>
            </a:r>
            <a:r>
              <a:rPr lang="en-US" altLang="zh-CN" baseline="-25000" dirty="0">
                <a:latin typeface="Times New Roman" panose="02020503050405090304" pitchFamily="18" charset="0"/>
              </a:rPr>
              <a:t>r</a:t>
            </a:r>
            <a:r>
              <a:rPr lang="en-US" altLang="zh-CN" dirty="0">
                <a:latin typeface="Times New Roman" panose="02020503050405090304" pitchFamily="18" charset="0"/>
              </a:rPr>
              <a:t> can be performed in </a:t>
            </a:r>
            <a:r>
              <a:rPr lang="en-US" altLang="zh-CN" i="1" dirty="0">
                <a:latin typeface="Times New Roman" panose="02020503050405090304" pitchFamily="18" charset="0"/>
              </a:rPr>
              <a:t>n</a:t>
            </a:r>
            <a:r>
              <a:rPr lang="en-US" altLang="zh-CN" dirty="0">
                <a:latin typeface="Times New Roman" panose="02020503050405090304" pitchFamily="18" charset="0"/>
              </a:rPr>
              <a:t> - (</a:t>
            </a:r>
            <a:r>
              <a:rPr lang="en-US" altLang="zh-CN" i="1" dirty="0">
                <a:latin typeface="Times New Roman" panose="02020503050405090304" pitchFamily="18" charset="0"/>
              </a:rPr>
              <a:t>r </a:t>
            </a:r>
            <a:r>
              <a:rPr lang="en-US" altLang="zh-CN" dirty="0">
                <a:latin typeface="Times New Roman" panose="02020503050405090304" pitchFamily="18" charset="0"/>
              </a:rPr>
              <a:t>- 1)) or (</a:t>
            </a:r>
            <a:r>
              <a:rPr lang="en-US" altLang="zh-CN" i="1" dirty="0">
                <a:latin typeface="Times New Roman" panose="02020503050405090304" pitchFamily="18" charset="0"/>
              </a:rPr>
              <a:t>n</a:t>
            </a:r>
            <a:r>
              <a:rPr lang="en-US" altLang="zh-CN" dirty="0">
                <a:latin typeface="Times New Roman" panose="02020503050405090304" pitchFamily="18" charset="0"/>
              </a:rPr>
              <a:t> - </a:t>
            </a:r>
            <a:r>
              <a:rPr lang="en-US" altLang="zh-CN" i="1" dirty="0">
                <a:latin typeface="Times New Roman" panose="02020503050405090304" pitchFamily="18" charset="0"/>
              </a:rPr>
              <a:t>r</a:t>
            </a:r>
            <a:r>
              <a:rPr lang="en-US" altLang="zh-CN" dirty="0">
                <a:latin typeface="Times New Roman" panose="02020503050405090304" pitchFamily="18" charset="0"/>
              </a:rPr>
              <a:t> + 1) ways.</a:t>
            </a:r>
            <a:endParaRPr lang="en-US" altLang="zh-CN" dirty="0">
              <a:latin typeface="Times New Roman" panose="02020503050405090304" pitchFamily="18" charset="0"/>
            </a:endParaRPr>
          </a:p>
          <a:p>
            <a:pPr lvl="1" eaLnBrk="1" hangingPunct="1"/>
            <a:r>
              <a:rPr lang="en-US" altLang="zh-CN" dirty="0">
                <a:latin typeface="Times New Roman" panose="02020503050405090304" pitchFamily="18" charset="0"/>
              </a:rPr>
              <a:t>Thus, by the extended principle of multiplication, a sequence of </a:t>
            </a:r>
            <a:r>
              <a:rPr lang="en-US" altLang="zh-CN" i="1" dirty="0">
                <a:latin typeface="Times New Roman" panose="02020503050405090304" pitchFamily="18" charset="0"/>
              </a:rPr>
              <a:t>r</a:t>
            </a:r>
            <a:r>
              <a:rPr lang="en-US" altLang="zh-CN" dirty="0">
                <a:latin typeface="Times New Roman" panose="02020503050405090304" pitchFamily="18" charset="0"/>
              </a:rPr>
              <a:t> distinct element from </a:t>
            </a:r>
            <a:r>
              <a:rPr lang="en-US" altLang="zh-CN" i="1" dirty="0">
                <a:latin typeface="Times New Roman" panose="02020503050405090304" pitchFamily="18" charset="0"/>
              </a:rPr>
              <a:t>A</a:t>
            </a:r>
            <a:r>
              <a:rPr lang="en-US" altLang="zh-CN" dirty="0">
                <a:latin typeface="Times New Roman" panose="02020503050405090304" pitchFamily="18" charset="0"/>
              </a:rPr>
              <a:t> can be formed in   </a:t>
            </a:r>
            <a:r>
              <a:rPr lang="en-US" altLang="zh-CN" i="1" dirty="0">
                <a:latin typeface="Times New Roman" panose="02020503050405090304" pitchFamily="18" charset="0"/>
              </a:rPr>
              <a:t>n</a:t>
            </a:r>
            <a:r>
              <a:rPr lang="en-US" altLang="zh-CN" dirty="0">
                <a:latin typeface="Times New Roman" panose="02020503050405090304" pitchFamily="18" charset="0"/>
              </a:rPr>
              <a:t>(</a:t>
            </a:r>
            <a:r>
              <a:rPr lang="en-US" altLang="zh-CN" i="1" dirty="0">
                <a:latin typeface="Times New Roman" panose="02020503050405090304" pitchFamily="18" charset="0"/>
              </a:rPr>
              <a:t>n</a:t>
            </a:r>
            <a:r>
              <a:rPr lang="en-US" altLang="zh-CN" dirty="0">
                <a:latin typeface="Times New Roman" panose="02020503050405090304" pitchFamily="18" charset="0"/>
              </a:rPr>
              <a:t> - l)(</a:t>
            </a:r>
            <a:r>
              <a:rPr lang="en-US" altLang="zh-CN" i="1" dirty="0">
                <a:latin typeface="Times New Roman" panose="02020503050405090304" pitchFamily="18" charset="0"/>
              </a:rPr>
              <a:t>n</a:t>
            </a:r>
            <a:r>
              <a:rPr lang="en-US" altLang="zh-CN" dirty="0">
                <a:latin typeface="Times New Roman" panose="02020503050405090304" pitchFamily="18" charset="0"/>
              </a:rPr>
              <a:t> - 2) … (</a:t>
            </a:r>
            <a:r>
              <a:rPr lang="en-US" altLang="zh-CN" i="1" dirty="0">
                <a:latin typeface="Times New Roman" panose="02020503050405090304" pitchFamily="18" charset="0"/>
              </a:rPr>
              <a:t>n</a:t>
            </a:r>
            <a:r>
              <a:rPr lang="en-US" altLang="zh-CN" dirty="0">
                <a:latin typeface="Times New Roman" panose="02020503050405090304" pitchFamily="18" charset="0"/>
              </a:rPr>
              <a:t> - </a:t>
            </a:r>
            <a:r>
              <a:rPr lang="en-US" altLang="zh-CN" i="1" dirty="0">
                <a:latin typeface="Times New Roman" panose="02020503050405090304" pitchFamily="18" charset="0"/>
              </a:rPr>
              <a:t>r</a:t>
            </a:r>
            <a:r>
              <a:rPr lang="en-US" altLang="zh-CN" dirty="0">
                <a:latin typeface="Times New Roman" panose="02020503050405090304" pitchFamily="18" charset="0"/>
              </a:rPr>
              <a:t> +1) ways.</a:t>
            </a:r>
            <a:endParaRPr lang="en-US" altLang="zh-CN" dirty="0">
              <a:latin typeface="Times New Roman" panose="0202050305040509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Title 1"/>
          <p:cNvSpPr>
            <a:spLocks noGrp="1"/>
          </p:cNvSpPr>
          <p:nvPr>
            <p:ph type="title"/>
          </p:nvPr>
        </p:nvSpPr>
        <p:spPr/>
        <p:txBody>
          <a:bodyPr vert="horz" wrap="square" lIns="91440" tIns="45720" rIns="91440" bIns="45720" anchor="b" anchorCtr="0"/>
          <a:p>
            <a:r>
              <a:rPr lang="en-US" altLang="zh-CN" dirty="0"/>
              <a:t>Counting Functions</a:t>
            </a:r>
            <a:endParaRPr lang="en-US" altLang="zh-CN" dirty="0"/>
          </a:p>
        </p:txBody>
      </p:sp>
      <p:sp>
        <p:nvSpPr>
          <p:cNvPr id="3" name="Content Placeholder 2"/>
          <p:cNvSpPr>
            <a:spLocks noGrp="1"/>
          </p:cNvSpPr>
          <p:nvPr>
            <p:ph idx="1"/>
          </p:nvPr>
        </p:nvSpPr>
        <p:spPr>
          <a:xfrm>
            <a:off x="827088" y="1268413"/>
            <a:ext cx="7772400" cy="4114800"/>
          </a:xfrm>
        </p:spPr>
        <p:txBody>
          <a:bodyPr vert="horz" wrap="square" lIns="91440" tIns="45720" rIns="91440" bIns="45720" anchor="t" anchorCtr="0"/>
          <a:p>
            <a:pPr>
              <a:lnSpc>
                <a:spcPct val="80000"/>
              </a:lnSpc>
              <a:buNone/>
            </a:pPr>
            <a:r>
              <a:rPr lang="en-US" altLang="zh-CN" sz="2200" b="1" dirty="0"/>
              <a:t>   </a:t>
            </a:r>
            <a:r>
              <a:rPr lang="en-US" altLang="zh-CN" sz="2400" b="1" dirty="0"/>
              <a:t> Counting Functions</a:t>
            </a:r>
            <a:r>
              <a:rPr lang="en-US" altLang="zh-CN" sz="2400" dirty="0"/>
              <a:t>: How many functions are there from a set with </a:t>
            </a:r>
            <a:r>
              <a:rPr lang="en-US" altLang="zh-CN" sz="2400" i="1" dirty="0"/>
              <a:t>m</a:t>
            </a:r>
            <a:r>
              <a:rPr lang="en-US" altLang="zh-CN" sz="2400" dirty="0"/>
              <a:t> elements to a set with </a:t>
            </a:r>
            <a:r>
              <a:rPr lang="en-US" altLang="zh-CN" sz="2400" i="1" dirty="0"/>
              <a:t>n</a:t>
            </a:r>
            <a:r>
              <a:rPr lang="en-US" altLang="zh-CN" sz="2400" dirty="0"/>
              <a:t> elements?</a:t>
            </a:r>
            <a:endParaRPr lang="en-US" altLang="zh-CN" sz="2400" dirty="0"/>
          </a:p>
          <a:p>
            <a:pPr>
              <a:lnSpc>
                <a:spcPct val="80000"/>
              </a:lnSpc>
              <a:buNone/>
            </a:pPr>
            <a:r>
              <a:rPr lang="en-US" altLang="zh-CN" sz="2400" b="1" dirty="0"/>
              <a:t>    Solution</a:t>
            </a:r>
            <a:r>
              <a:rPr lang="en-US" altLang="zh-CN" sz="2400" dirty="0"/>
              <a:t>:  Since a function represents a choice of one of the </a:t>
            </a:r>
            <a:r>
              <a:rPr lang="en-US" altLang="zh-CN" sz="2400" i="1" dirty="0"/>
              <a:t>n</a:t>
            </a:r>
            <a:r>
              <a:rPr lang="en-US" altLang="zh-CN" sz="2400" dirty="0"/>
              <a:t> elements of the codomain for each of the </a:t>
            </a:r>
            <a:r>
              <a:rPr lang="en-US" altLang="zh-CN" sz="2400" i="1" dirty="0"/>
              <a:t>m</a:t>
            </a:r>
            <a:r>
              <a:rPr lang="en-US" altLang="zh-CN" sz="2400" dirty="0"/>
              <a:t> elements in the domain, the product rule tells us that there are </a:t>
            </a:r>
            <a:r>
              <a:rPr lang="en-US" altLang="zh-CN" sz="2400" i="1" dirty="0"/>
              <a:t>n</a:t>
            </a:r>
            <a:r>
              <a:rPr lang="en-US" altLang="zh-CN" sz="2400" dirty="0"/>
              <a:t> </a:t>
            </a:r>
            <a:r>
              <a:rPr lang="en-US" altLang="zh-CN" sz="2400" dirty="0">
                <a:latin typeface="Cambria Math" panose="02040503050406030204" pitchFamily="18" charset="0"/>
              </a:rPr>
              <a:t>∙</a:t>
            </a:r>
            <a:r>
              <a:rPr lang="en-US" altLang="zh-CN" sz="2400" dirty="0"/>
              <a:t> </a:t>
            </a:r>
            <a:r>
              <a:rPr lang="en-US" altLang="zh-CN" sz="2400" i="1" dirty="0"/>
              <a:t>n</a:t>
            </a:r>
            <a:r>
              <a:rPr lang="en-US" altLang="zh-CN" sz="2400" dirty="0"/>
              <a:t> </a:t>
            </a:r>
            <a:r>
              <a:rPr lang="en-US" altLang="zh-CN" sz="2400" dirty="0">
                <a:latin typeface="Cambria Math" panose="02040503050406030204" pitchFamily="18" charset="0"/>
              </a:rPr>
              <a:t>∙ ∙ ∙ </a:t>
            </a:r>
            <a:r>
              <a:rPr lang="en-US" altLang="zh-CN" sz="2400" dirty="0"/>
              <a:t> </a:t>
            </a:r>
            <a:r>
              <a:rPr lang="en-US" altLang="zh-CN" sz="2400" i="1" dirty="0"/>
              <a:t>n</a:t>
            </a:r>
            <a:r>
              <a:rPr lang="en-US" altLang="zh-CN" sz="2400" dirty="0"/>
              <a:t> </a:t>
            </a:r>
            <a:r>
              <a:rPr lang="en-US" altLang="zh-CN" sz="2400" dirty="0">
                <a:latin typeface="Cambria Math" panose="02040503050406030204" pitchFamily="18" charset="0"/>
              </a:rPr>
              <a:t>=</a:t>
            </a:r>
            <a:r>
              <a:rPr lang="en-US" altLang="zh-CN" sz="2400" dirty="0"/>
              <a:t> </a:t>
            </a:r>
            <a:r>
              <a:rPr lang="en-US" altLang="zh-CN" sz="2400" i="1" dirty="0"/>
              <a:t>n</a:t>
            </a:r>
            <a:r>
              <a:rPr lang="en-US" altLang="zh-CN" sz="2400" i="1" baseline="30000" dirty="0"/>
              <a:t>m</a:t>
            </a:r>
            <a:r>
              <a:rPr lang="en-US" altLang="zh-CN" sz="2400" dirty="0"/>
              <a:t> such functions.</a:t>
            </a:r>
            <a:endParaRPr lang="en-US" altLang="zh-CN" sz="2400" dirty="0"/>
          </a:p>
          <a:p>
            <a:pPr>
              <a:lnSpc>
                <a:spcPct val="80000"/>
              </a:lnSpc>
              <a:buNone/>
            </a:pPr>
            <a:endParaRPr lang="en-US" altLang="zh-CN" sz="2400" dirty="0"/>
          </a:p>
          <a:p>
            <a:pPr>
              <a:lnSpc>
                <a:spcPct val="80000"/>
              </a:lnSpc>
              <a:buNone/>
            </a:pPr>
            <a:r>
              <a:rPr lang="en-US" altLang="zh-CN" sz="2400" b="1" dirty="0"/>
              <a:t>    Counting One-to-One Functions</a:t>
            </a:r>
            <a:r>
              <a:rPr lang="en-US" altLang="zh-CN" sz="2400" dirty="0"/>
              <a:t>: How many one-to-one functions are there from a set with </a:t>
            </a:r>
            <a:r>
              <a:rPr lang="en-US" altLang="zh-CN" sz="2400" i="1" dirty="0"/>
              <a:t>m</a:t>
            </a:r>
            <a:r>
              <a:rPr lang="en-US" altLang="zh-CN" sz="2400" dirty="0"/>
              <a:t> elements to one with </a:t>
            </a:r>
            <a:r>
              <a:rPr lang="en-US" altLang="zh-CN" sz="2400" i="1" dirty="0"/>
              <a:t>n</a:t>
            </a:r>
            <a:r>
              <a:rPr lang="en-US" altLang="zh-CN" sz="2400" dirty="0"/>
              <a:t> elements?</a:t>
            </a:r>
            <a:endParaRPr lang="en-US" altLang="zh-CN" sz="2400" dirty="0"/>
          </a:p>
          <a:p>
            <a:pPr>
              <a:lnSpc>
                <a:spcPct val="80000"/>
              </a:lnSpc>
              <a:buNone/>
            </a:pPr>
            <a:r>
              <a:rPr lang="en-US" altLang="zh-CN" sz="2400" b="1" dirty="0"/>
              <a:t>    Solution</a:t>
            </a:r>
            <a:r>
              <a:rPr lang="en-US" altLang="zh-CN" sz="2400" dirty="0"/>
              <a:t>: Suppose the elements in the domain are                      </a:t>
            </a:r>
            <a:r>
              <a:rPr lang="en-US" altLang="zh-CN" sz="2400" i="1" dirty="0"/>
              <a:t>a</a:t>
            </a:r>
            <a:r>
              <a:rPr lang="en-US" altLang="zh-CN" sz="2400" baseline="-25000" dirty="0">
                <a:latin typeface="Cambria Math" panose="02040503050406030204" pitchFamily="18" charset="0"/>
              </a:rPr>
              <a:t>1</a:t>
            </a:r>
            <a:r>
              <a:rPr lang="en-US" altLang="zh-CN" sz="2400" dirty="0"/>
              <a:t>, </a:t>
            </a:r>
            <a:r>
              <a:rPr lang="en-US" altLang="zh-CN" sz="2400" i="1" dirty="0"/>
              <a:t>a</a:t>
            </a:r>
            <a:r>
              <a:rPr lang="en-US" altLang="zh-CN" sz="2400" baseline="-25000" dirty="0">
                <a:latin typeface="Cambria Math" panose="02040503050406030204" pitchFamily="18" charset="0"/>
              </a:rPr>
              <a:t>2</a:t>
            </a:r>
            <a:r>
              <a:rPr lang="en-US" altLang="zh-CN" sz="2400" dirty="0"/>
              <a:t>,…, </a:t>
            </a:r>
            <a:r>
              <a:rPr lang="en-US" altLang="zh-CN" sz="2400" i="1" dirty="0"/>
              <a:t>a</a:t>
            </a:r>
            <a:r>
              <a:rPr lang="en-US" altLang="zh-CN" sz="2400" i="1" baseline="-25000" dirty="0"/>
              <a:t>m</a:t>
            </a:r>
            <a:r>
              <a:rPr lang="en-US" altLang="zh-CN" sz="2400" dirty="0"/>
              <a:t>. There are </a:t>
            </a:r>
            <a:r>
              <a:rPr lang="en-US" altLang="zh-CN" sz="2400" i="1" dirty="0"/>
              <a:t>n</a:t>
            </a:r>
            <a:r>
              <a:rPr lang="en-US" altLang="zh-CN" sz="2400" dirty="0"/>
              <a:t> ways to choose the value of </a:t>
            </a:r>
            <a:r>
              <a:rPr lang="en-US" altLang="zh-CN" sz="2400" i="1" dirty="0"/>
              <a:t>a</a:t>
            </a:r>
            <a:r>
              <a:rPr lang="en-US" altLang="zh-CN" sz="2400" baseline="-25000" dirty="0">
                <a:latin typeface="Cambria Math" panose="02040503050406030204" pitchFamily="18" charset="0"/>
              </a:rPr>
              <a:t>1 </a:t>
            </a:r>
            <a:r>
              <a:rPr lang="en-US" altLang="zh-CN" sz="2400" dirty="0"/>
              <a:t>and </a:t>
            </a:r>
            <a:r>
              <a:rPr lang="en-US" altLang="zh-CN" sz="2400" i="1" dirty="0"/>
              <a:t>n</a:t>
            </a:r>
            <a:r>
              <a:rPr lang="en-US" altLang="zh-CN" sz="2400" dirty="0">
                <a:latin typeface="Cambria Math" panose="02040503050406030204" pitchFamily="18" charset="0"/>
              </a:rPr>
              <a:t>−1 </a:t>
            </a:r>
            <a:r>
              <a:rPr lang="en-US" altLang="zh-CN" sz="2400" dirty="0"/>
              <a:t>ways to choose </a:t>
            </a:r>
            <a:r>
              <a:rPr lang="en-US" altLang="zh-CN" sz="2400" i="1" dirty="0"/>
              <a:t>a</a:t>
            </a:r>
            <a:r>
              <a:rPr lang="en-US" altLang="zh-CN" sz="2400" baseline="-25000" dirty="0">
                <a:latin typeface="Cambria Math" panose="02040503050406030204" pitchFamily="18" charset="0"/>
              </a:rPr>
              <a:t>2</a:t>
            </a:r>
            <a:r>
              <a:rPr lang="en-US" altLang="zh-CN" sz="2400" dirty="0"/>
              <a:t>, etc. The product rule tells us that there are  </a:t>
            </a:r>
            <a:r>
              <a:rPr lang="en-US" altLang="zh-CN" sz="2400" i="1" dirty="0"/>
              <a:t>n</a:t>
            </a:r>
            <a:r>
              <a:rPr lang="en-US" altLang="zh-CN" sz="2400" dirty="0"/>
              <a:t>(</a:t>
            </a:r>
            <a:r>
              <a:rPr lang="en-US" altLang="zh-CN" sz="2400" i="1" dirty="0"/>
              <a:t>n</a:t>
            </a:r>
            <a:r>
              <a:rPr lang="en-US" altLang="zh-CN" sz="2400" dirty="0">
                <a:latin typeface="Cambria Math" panose="02040503050406030204" pitchFamily="18" charset="0"/>
              </a:rPr>
              <a:t>−1)</a:t>
            </a:r>
            <a:r>
              <a:rPr lang="en-US" altLang="zh-CN" sz="2400" i="1" dirty="0"/>
              <a:t> </a:t>
            </a:r>
            <a:r>
              <a:rPr lang="en-US" altLang="zh-CN" sz="2400" dirty="0"/>
              <a:t>(</a:t>
            </a:r>
            <a:r>
              <a:rPr lang="en-US" altLang="zh-CN" sz="2400" i="1" dirty="0"/>
              <a:t>n</a:t>
            </a:r>
            <a:r>
              <a:rPr lang="en-US" altLang="zh-CN" sz="2400" dirty="0">
                <a:latin typeface="Cambria Math" panose="02040503050406030204" pitchFamily="18" charset="0"/>
              </a:rPr>
              <a:t>−2)∙∙∙(</a:t>
            </a:r>
            <a:r>
              <a:rPr lang="en-US" altLang="zh-CN" sz="2400" i="1" dirty="0"/>
              <a:t>n</a:t>
            </a:r>
            <a:r>
              <a:rPr lang="en-US" altLang="zh-CN" sz="2400" dirty="0">
                <a:latin typeface="Cambria Math" panose="02040503050406030204" pitchFamily="18" charset="0"/>
              </a:rPr>
              <a:t>−</a:t>
            </a:r>
            <a:r>
              <a:rPr lang="en-US" altLang="zh-CN" sz="2400" i="1" dirty="0"/>
              <a:t>m</a:t>
            </a:r>
            <a:r>
              <a:rPr lang="en-US" altLang="zh-CN" sz="2400" dirty="0">
                <a:latin typeface="Cambria Math" panose="02040503050406030204" pitchFamily="18" charset="0"/>
              </a:rPr>
              <a:t> +1) such functions.</a:t>
            </a:r>
            <a:endParaRPr lang="en-US" altLang="zh-CN" sz="2400" dirty="0">
              <a:latin typeface="Cambria Math" panose="020405030504060302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charRg st="106" end="31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charRg st="445" end="7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18435"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18436"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18437" name="Rectangle 2"/>
          <p:cNvSpPr>
            <a:spLocks noGrp="1"/>
          </p:cNvSpPr>
          <p:nvPr>
            <p:ph type="title"/>
          </p:nvPr>
        </p:nvSpPr>
        <p:spPr/>
        <p:txBody>
          <a:bodyPr vert="horz" wrap="square" lIns="91440" tIns="45720" rIns="91440" bIns="45720" anchor="b" anchorCtr="0"/>
          <a:p>
            <a:pPr eaLnBrk="1" hangingPunct="1"/>
            <a:r>
              <a:rPr lang="en-US" altLang="zh-CN" dirty="0"/>
              <a:t>IP Address Example</a:t>
            </a:r>
            <a:endParaRPr lang="en-US" altLang="zh-CN" dirty="0"/>
          </a:p>
        </p:txBody>
      </p:sp>
      <p:sp>
        <p:nvSpPr>
          <p:cNvPr id="18438" name="Rectangle 3"/>
          <p:cNvSpPr>
            <a:spLocks noGrp="1"/>
          </p:cNvSpPr>
          <p:nvPr>
            <p:ph idx="1"/>
          </p:nvPr>
        </p:nvSpPr>
        <p:spPr/>
        <p:txBody>
          <a:bodyPr vert="horz" wrap="square" lIns="91440" tIns="45720" rIns="91440" bIns="45720" anchor="t" anchorCtr="0"/>
          <a:p>
            <a:pPr eaLnBrk="1" hangingPunct="1"/>
            <a:r>
              <a:rPr lang="en-US" altLang="zh-CN" sz="2800" dirty="0"/>
              <a:t>Some facts about the Internet Protocol, version 4:</a:t>
            </a:r>
            <a:endParaRPr lang="en-US" altLang="zh-CN" sz="2800" dirty="0"/>
          </a:p>
          <a:p>
            <a:pPr lvl="1" eaLnBrk="1" hangingPunct="1"/>
            <a:r>
              <a:rPr lang="en-US" altLang="zh-CN" sz="2400" dirty="0"/>
              <a:t>Valid computer addresses are in one of 3 types:</a:t>
            </a:r>
            <a:endParaRPr lang="en-US" altLang="zh-CN" sz="2400" dirty="0"/>
          </a:p>
          <a:p>
            <a:pPr lvl="2" eaLnBrk="1" hangingPunct="1"/>
            <a:r>
              <a:rPr lang="en-US" altLang="zh-CN" sz="2000" dirty="0"/>
              <a:t>A </a:t>
            </a:r>
            <a:r>
              <a:rPr lang="en-US" altLang="zh-CN" sz="2000" i="1" dirty="0"/>
              <a:t>class A</a:t>
            </a:r>
            <a:r>
              <a:rPr lang="en-US" altLang="zh-CN" sz="2000" dirty="0"/>
              <a:t> IP address contains a 7-bit </a:t>
            </a:r>
            <a:r>
              <a:rPr lang="en-US" altLang="zh-CN" sz="2000" dirty="0">
                <a:latin typeface="Times New Roman" panose="02020503050405090304" pitchFamily="18" charset="0"/>
              </a:rPr>
              <a:t>“</a:t>
            </a:r>
            <a:r>
              <a:rPr lang="en-US" altLang="zh-CN" sz="2000" dirty="0"/>
              <a:t>netid</a:t>
            </a:r>
            <a:r>
              <a:rPr lang="en-US" altLang="zh-CN" sz="2000" dirty="0">
                <a:latin typeface="Times New Roman" panose="02020503050405090304" pitchFamily="18" charset="0"/>
              </a:rPr>
              <a:t>”</a:t>
            </a:r>
            <a:r>
              <a:rPr lang="en-US" altLang="zh-CN" sz="2000" dirty="0"/>
              <a:t> ≠ </a:t>
            </a:r>
            <a:r>
              <a:rPr lang="en-US" altLang="zh-CN" sz="2000" b="1" dirty="0"/>
              <a:t>1</a:t>
            </a:r>
            <a:r>
              <a:rPr lang="en-US" altLang="zh-CN" sz="2000" baseline="30000" dirty="0"/>
              <a:t>7</a:t>
            </a:r>
            <a:r>
              <a:rPr lang="en-US" altLang="zh-CN" sz="2000" dirty="0"/>
              <a:t>, </a:t>
            </a:r>
            <a:br>
              <a:rPr lang="en-US" altLang="zh-CN" sz="2000" dirty="0"/>
            </a:br>
            <a:r>
              <a:rPr lang="en-US" altLang="zh-CN" sz="2000" dirty="0"/>
              <a:t>and a 24-bit </a:t>
            </a:r>
            <a:r>
              <a:rPr lang="en-US" altLang="zh-CN" sz="2000" dirty="0">
                <a:latin typeface="Times New Roman" panose="02020503050405090304" pitchFamily="18" charset="0"/>
              </a:rPr>
              <a:t>“</a:t>
            </a:r>
            <a:r>
              <a:rPr lang="en-US" altLang="zh-CN" sz="2000" dirty="0"/>
              <a:t>hostid</a:t>
            </a:r>
            <a:r>
              <a:rPr lang="en-US" altLang="zh-CN" sz="2000" dirty="0">
                <a:latin typeface="Times New Roman" panose="02020503050405090304" pitchFamily="18" charset="0"/>
              </a:rPr>
              <a:t>”</a:t>
            </a:r>
            <a:endParaRPr lang="en-US" altLang="zh-CN" sz="2000" dirty="0"/>
          </a:p>
          <a:p>
            <a:pPr lvl="2" eaLnBrk="1" hangingPunct="1"/>
            <a:r>
              <a:rPr lang="en-US" altLang="zh-CN" sz="2000" dirty="0"/>
              <a:t>A </a:t>
            </a:r>
            <a:r>
              <a:rPr lang="en-US" altLang="zh-CN" sz="2000" i="1" dirty="0"/>
              <a:t>class B</a:t>
            </a:r>
            <a:r>
              <a:rPr lang="en-US" altLang="zh-CN" sz="2000" dirty="0"/>
              <a:t> address has a 14-bit netid and a 16-bit hostid.</a:t>
            </a:r>
            <a:endParaRPr lang="en-US" altLang="zh-CN" sz="2000" dirty="0"/>
          </a:p>
          <a:p>
            <a:pPr lvl="2" eaLnBrk="1" hangingPunct="1"/>
            <a:r>
              <a:rPr lang="en-US" altLang="zh-CN" sz="2000" dirty="0"/>
              <a:t>A </a:t>
            </a:r>
            <a:r>
              <a:rPr lang="en-US" altLang="zh-CN" sz="2000" i="1" dirty="0"/>
              <a:t>class C</a:t>
            </a:r>
            <a:r>
              <a:rPr lang="en-US" altLang="zh-CN" sz="2000" dirty="0"/>
              <a:t> addr. Has 21-bit netid and an 8-bit hostid.</a:t>
            </a:r>
            <a:endParaRPr lang="en-US" altLang="zh-CN" sz="2000" dirty="0"/>
          </a:p>
          <a:p>
            <a:pPr lvl="1" eaLnBrk="1" hangingPunct="1"/>
            <a:r>
              <a:rPr lang="en-US" altLang="zh-CN" sz="2400" dirty="0"/>
              <a:t>The 3 classes have distinct headers (0, 10, 110)</a:t>
            </a:r>
            <a:endParaRPr lang="en-US" altLang="zh-CN" sz="2400" dirty="0"/>
          </a:p>
          <a:p>
            <a:pPr lvl="1" eaLnBrk="1" hangingPunct="1"/>
            <a:r>
              <a:rPr lang="en-US" altLang="zh-CN" sz="2400" dirty="0"/>
              <a:t>Hostids that are all 0s or all 1s are not allowed.</a:t>
            </a:r>
            <a:endParaRPr lang="en-US" altLang="zh-CN" sz="2400" dirty="0"/>
          </a:p>
          <a:p>
            <a:pPr eaLnBrk="1" hangingPunct="1"/>
            <a:r>
              <a:rPr lang="en-US" altLang="zh-CN" sz="2800" dirty="0"/>
              <a:t>How many valid computer addresses are there?</a:t>
            </a:r>
            <a:endParaRPr lang="en-US" altLang="zh-CN" sz="2800" dirty="0"/>
          </a:p>
        </p:txBody>
      </p:sp>
      <p:sp>
        <p:nvSpPr>
          <p:cNvPr id="18439" name="Text Box 4"/>
          <p:cNvSpPr txBox="1"/>
          <p:nvPr/>
        </p:nvSpPr>
        <p:spPr>
          <a:xfrm>
            <a:off x="5076190" y="5300980"/>
            <a:ext cx="3776663" cy="495300"/>
          </a:xfrm>
          <a:prstGeom prst="rect">
            <a:avLst/>
          </a:prstGeom>
          <a:solidFill>
            <a:srgbClr val="FFFFCC"/>
          </a:solidFill>
          <a:ln w="38100"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mn-ea"/>
              </a:defRPr>
            </a:lvl5pPr>
          </a:lstStyle>
          <a:p>
            <a:pPr marL="0" lvl="0" indent="0">
              <a:spcBef>
                <a:spcPct val="0"/>
              </a:spcBef>
              <a:buClrTx/>
              <a:buSzTx/>
              <a:buFontTx/>
              <a:buNone/>
            </a:pPr>
            <a:r>
              <a:rPr lang="en-US" altLang="zh-CN" sz="2400" i="1" dirty="0"/>
              <a:t>e.g.</a:t>
            </a:r>
            <a:r>
              <a:rPr lang="en-US" altLang="zh-CN" sz="2400" dirty="0"/>
              <a:t>, ufl.edu is 128.227.74.58</a:t>
            </a:r>
            <a:endParaRPr lang="en-US" altLang="zh-CN" sz="2400" dirty="0"/>
          </a:p>
        </p:txBody>
      </p:sp>
      <p:sp>
        <p:nvSpPr>
          <p:cNvPr id="15366" name="Text Box 4"/>
          <p:cNvSpPr txBox="1"/>
          <p:nvPr/>
        </p:nvSpPr>
        <p:spPr>
          <a:xfrm>
            <a:off x="3776980" y="5948998"/>
            <a:ext cx="5059363" cy="461962"/>
          </a:xfrm>
          <a:prstGeom prst="rect">
            <a:avLst/>
          </a:prstGeom>
          <a:solidFill>
            <a:schemeClr val="accent2"/>
          </a:solidFill>
          <a:ln w="38100">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400">
                <a:solidFill>
                  <a:schemeClr val="tx1"/>
                </a:solidFill>
                <a:latin typeface="Tahoma" panose="020B0604030504040204" pitchFamily="34" charset="0"/>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000">
                <a:solidFill>
                  <a:schemeClr val="tx1"/>
                </a:solidFill>
                <a:latin typeface="Tahoma" panose="020B0604030504040204" pitchFamily="34" charset="0"/>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Tahoma" panose="020B0604030504040204" pitchFamily="34" charset="0"/>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ea typeface="+mn-ea"/>
              </a:defRPr>
            </a:lvl5pPr>
          </a:lstStyle>
          <a:p>
            <a:pPr marL="0" lvl="0" indent="0">
              <a:spcBef>
                <a:spcPct val="0"/>
              </a:spcBef>
              <a:buClrTx/>
              <a:buSzTx/>
              <a:buFontTx/>
              <a:buNone/>
            </a:pPr>
            <a:r>
              <a:rPr lang="en-US" altLang="zh-CN" sz="2400" i="1" dirty="0"/>
              <a:t>e.g.</a:t>
            </a:r>
            <a:r>
              <a:rPr lang="en-US" altLang="zh-CN" sz="2400" dirty="0"/>
              <a:t>, www.bupt.edu.cn is 211.68.69.240</a:t>
            </a:r>
            <a:endParaRPr lang="en-US" altLang="zh-CN"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19459"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19460"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19461" name="Rectangle 2"/>
          <p:cNvSpPr>
            <a:spLocks noGrp="1"/>
          </p:cNvSpPr>
          <p:nvPr>
            <p:ph type="title"/>
          </p:nvPr>
        </p:nvSpPr>
        <p:spPr/>
        <p:txBody>
          <a:bodyPr vert="horz" wrap="square" lIns="91440" tIns="45720" rIns="91440" bIns="45720" anchor="b" anchorCtr="0"/>
          <a:p>
            <a:pPr eaLnBrk="1" hangingPunct="1"/>
            <a:r>
              <a:rPr lang="en-US" altLang="zh-CN" dirty="0"/>
              <a:t>IP address solution</a:t>
            </a:r>
            <a:endParaRPr lang="en-US" altLang="zh-CN" dirty="0"/>
          </a:p>
        </p:txBody>
      </p:sp>
      <p:sp>
        <p:nvSpPr>
          <p:cNvPr id="19462" name="Rectangle 3"/>
          <p:cNvSpPr>
            <a:spLocks noGrp="1"/>
          </p:cNvSpPr>
          <p:nvPr>
            <p:ph idx="1"/>
          </p:nvPr>
        </p:nvSpPr>
        <p:spPr/>
        <p:txBody>
          <a:bodyPr vert="horz" wrap="square" lIns="91440" tIns="45720" rIns="91440" bIns="45720" anchor="t" anchorCtr="0"/>
          <a:p>
            <a:pPr eaLnBrk="1" hangingPunct="1">
              <a:lnSpc>
                <a:spcPct val="90000"/>
              </a:lnSpc>
            </a:pPr>
            <a:r>
              <a:rPr lang="en-US" altLang="zh-CN" sz="2800" dirty="0"/>
              <a:t>(# addrs) </a:t>
            </a:r>
            <a:br>
              <a:rPr lang="en-US" altLang="zh-CN" sz="2800" dirty="0"/>
            </a:br>
            <a:r>
              <a:rPr lang="en-US" altLang="zh-CN" sz="2800" dirty="0"/>
              <a:t>     = (# class A) + (# class B) + (# class C)</a:t>
            </a:r>
            <a:endParaRPr lang="en-US" altLang="zh-CN" sz="2800" dirty="0"/>
          </a:p>
          <a:p>
            <a:pPr lvl="1" eaLnBrk="1" hangingPunct="1">
              <a:lnSpc>
                <a:spcPct val="90000"/>
              </a:lnSpc>
              <a:buNone/>
            </a:pPr>
            <a:r>
              <a:rPr lang="en-US" altLang="zh-CN" sz="2400" dirty="0"/>
              <a:t>(by sum rule)</a:t>
            </a:r>
            <a:endParaRPr lang="en-US" altLang="zh-CN" sz="2400" dirty="0"/>
          </a:p>
          <a:p>
            <a:pPr eaLnBrk="1" hangingPunct="1">
              <a:lnSpc>
                <a:spcPct val="90000"/>
              </a:lnSpc>
            </a:pPr>
            <a:r>
              <a:rPr lang="en-US" altLang="zh-CN" sz="2800" dirty="0"/>
              <a:t># class A = (# valid netids)·(# valid hostids)</a:t>
            </a:r>
            <a:endParaRPr lang="en-US" altLang="zh-CN" sz="2800" dirty="0"/>
          </a:p>
          <a:p>
            <a:pPr lvl="1" eaLnBrk="1" hangingPunct="1">
              <a:lnSpc>
                <a:spcPct val="90000"/>
              </a:lnSpc>
              <a:buNone/>
            </a:pPr>
            <a:r>
              <a:rPr lang="en-US" altLang="zh-CN" sz="2400" dirty="0"/>
              <a:t>(by product rule)</a:t>
            </a:r>
            <a:endParaRPr lang="en-US" altLang="zh-CN" sz="2400" dirty="0"/>
          </a:p>
          <a:p>
            <a:pPr eaLnBrk="1" hangingPunct="1">
              <a:lnSpc>
                <a:spcPct val="90000"/>
              </a:lnSpc>
            </a:pPr>
            <a:r>
              <a:rPr lang="en-US" altLang="zh-CN" sz="2800" dirty="0"/>
              <a:t>(# valid class A netids) = 2</a:t>
            </a:r>
            <a:r>
              <a:rPr lang="en-US" altLang="zh-CN" sz="2800" baseline="30000" dirty="0"/>
              <a:t>7</a:t>
            </a:r>
            <a:r>
              <a:rPr lang="en-US" altLang="zh-CN" sz="2800" dirty="0"/>
              <a:t> − 1 = 127.</a:t>
            </a:r>
            <a:endParaRPr lang="en-US" altLang="zh-CN" sz="2800" dirty="0"/>
          </a:p>
          <a:p>
            <a:pPr eaLnBrk="1" hangingPunct="1">
              <a:lnSpc>
                <a:spcPct val="90000"/>
              </a:lnSpc>
            </a:pPr>
            <a:r>
              <a:rPr lang="en-US" altLang="zh-CN" sz="2800" dirty="0"/>
              <a:t>(# valid class A hostids) = 2</a:t>
            </a:r>
            <a:r>
              <a:rPr lang="en-US" altLang="zh-CN" sz="2800" baseline="30000" dirty="0"/>
              <a:t>24</a:t>
            </a:r>
            <a:r>
              <a:rPr lang="en-US" altLang="zh-CN" sz="2800" dirty="0"/>
              <a:t> − 2 = 16,777,214.</a:t>
            </a:r>
            <a:endParaRPr lang="en-US" altLang="zh-CN" sz="2800" dirty="0"/>
          </a:p>
          <a:p>
            <a:pPr eaLnBrk="1" hangingPunct="1">
              <a:lnSpc>
                <a:spcPct val="90000"/>
              </a:lnSpc>
            </a:pPr>
            <a:r>
              <a:rPr lang="en-US" altLang="zh-CN" sz="2800" dirty="0"/>
              <a:t>Continuing in this fashion we find the answer is:</a:t>
            </a:r>
            <a:br>
              <a:rPr lang="en-US" altLang="zh-CN" sz="2800" dirty="0"/>
            </a:br>
            <a:r>
              <a:rPr lang="en-US" altLang="zh-CN" sz="2800" dirty="0"/>
              <a:t>	3,737,091,842  (3.7 billion IP addresses)</a:t>
            </a:r>
            <a:endParaRPr lang="en-US" altLang="zh-CN"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20483"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20484"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20485" name="Rectangle 2"/>
          <p:cNvSpPr>
            <a:spLocks noGrp="1"/>
          </p:cNvSpPr>
          <p:nvPr>
            <p:ph type="title"/>
          </p:nvPr>
        </p:nvSpPr>
        <p:spPr>
          <a:xfrm>
            <a:off x="827723" y="404495"/>
            <a:ext cx="7793037" cy="836613"/>
          </a:xfrm>
        </p:spPr>
        <p:txBody>
          <a:bodyPr vert="horz" wrap="square" lIns="91440" tIns="45720" rIns="91440" bIns="45720" anchor="b" anchorCtr="0"/>
          <a:p>
            <a:pPr eaLnBrk="1" hangingPunct="1"/>
            <a:r>
              <a:rPr lang="en-US" altLang="zh-CN" sz="4000" dirty="0"/>
              <a:t>Subtraction Rule (Inclusion-Exclusion )</a:t>
            </a:r>
            <a:endParaRPr lang="en-US" altLang="zh-CN" sz="4000" dirty="0"/>
          </a:p>
        </p:txBody>
      </p:sp>
      <p:sp>
        <p:nvSpPr>
          <p:cNvPr id="20486" name="Rectangle 3"/>
          <p:cNvSpPr>
            <a:spLocks noGrp="1"/>
          </p:cNvSpPr>
          <p:nvPr>
            <p:ph idx="1"/>
          </p:nvPr>
        </p:nvSpPr>
        <p:spPr/>
        <p:txBody>
          <a:bodyPr vert="horz" wrap="square" lIns="91440" tIns="45720" rIns="91440" bIns="45720" anchor="t" anchorCtr="0"/>
          <a:p>
            <a:pPr eaLnBrk="1" hangingPunct="1">
              <a:lnSpc>
                <a:spcPct val="90000"/>
              </a:lnSpc>
            </a:pPr>
            <a:r>
              <a:rPr lang="en-US" altLang="zh-CN" dirty="0"/>
              <a:t>Suppose that </a:t>
            </a:r>
            <a:r>
              <a:rPr lang="en-US" altLang="zh-CN" i="1" dirty="0">
                <a:solidFill>
                  <a:srgbClr val="FF0000"/>
                </a:solidFill>
              </a:rPr>
              <a:t>k</a:t>
            </a:r>
            <a:r>
              <a:rPr lang="en-US" altLang="zh-CN" dirty="0">
                <a:solidFill>
                  <a:srgbClr val="FF0000"/>
                </a:solidFill>
                <a:sym typeface="Symbol" panose="05050102010706020507" pitchFamily="18" charset="2"/>
              </a:rPr>
              <a:t></a:t>
            </a:r>
            <a:r>
              <a:rPr lang="en-US" altLang="zh-CN" i="1" dirty="0">
                <a:solidFill>
                  <a:srgbClr val="FF0000"/>
                </a:solidFill>
                <a:sym typeface="Symbol" panose="05050102010706020507" pitchFamily="18" charset="2"/>
              </a:rPr>
              <a:t>m</a:t>
            </a:r>
            <a:r>
              <a:rPr lang="en-US" altLang="zh-CN" dirty="0">
                <a:sym typeface="Symbol" panose="05050102010706020507" pitchFamily="18" charset="2"/>
              </a:rPr>
              <a:t> of the w</a:t>
            </a:r>
            <a:r>
              <a:rPr lang="en-US" altLang="zh-CN" dirty="0"/>
              <a:t>ays of doing task 1 </a:t>
            </a:r>
            <a:r>
              <a:rPr lang="en-US" altLang="zh-CN" u="sng" dirty="0"/>
              <a:t>also</a:t>
            </a:r>
            <a:r>
              <a:rPr lang="en-US" altLang="zh-CN" dirty="0"/>
              <a:t> simultaneously accomplish task 2.</a:t>
            </a:r>
            <a:endParaRPr lang="en-US" altLang="zh-CN" dirty="0"/>
          </a:p>
          <a:p>
            <a:pPr lvl="1" eaLnBrk="1" hangingPunct="1">
              <a:lnSpc>
                <a:spcPct val="90000"/>
              </a:lnSpc>
            </a:pPr>
            <a:r>
              <a:rPr lang="en-US" altLang="zh-CN" dirty="0"/>
              <a:t>And thus are also ways of doing task 2.</a:t>
            </a:r>
            <a:endParaRPr lang="en-US" altLang="zh-CN" dirty="0"/>
          </a:p>
          <a:p>
            <a:pPr eaLnBrk="1" hangingPunct="1">
              <a:lnSpc>
                <a:spcPct val="90000"/>
              </a:lnSpc>
            </a:pPr>
            <a:r>
              <a:rPr lang="en-US" altLang="zh-CN" dirty="0"/>
              <a:t>Then, the number of ways to accomplish “Do either task 1 or task 2” is </a:t>
            </a:r>
            <a:r>
              <a:rPr lang="en-US" altLang="zh-CN" i="1" dirty="0">
                <a:solidFill>
                  <a:srgbClr val="FF0000"/>
                </a:solidFill>
              </a:rPr>
              <a:t>m</a:t>
            </a:r>
            <a:r>
              <a:rPr lang="en-US" altLang="zh-CN" dirty="0">
                <a:solidFill>
                  <a:srgbClr val="FF0000"/>
                </a:solidFill>
                <a:sym typeface="Symbol" panose="05050102010706020507" pitchFamily="18" charset="2"/>
              </a:rPr>
              <a:t></a:t>
            </a:r>
            <a:r>
              <a:rPr lang="en-US" altLang="zh-CN" i="1" dirty="0">
                <a:solidFill>
                  <a:srgbClr val="FF0000"/>
                </a:solidFill>
                <a:sym typeface="Symbol" panose="05050102010706020507" pitchFamily="18" charset="2"/>
              </a:rPr>
              <a:t>n</a:t>
            </a:r>
            <a:r>
              <a:rPr lang="en-US" altLang="zh-CN" dirty="0">
                <a:solidFill>
                  <a:srgbClr val="FF0000"/>
                </a:solidFill>
                <a:sym typeface="Symbol" panose="05050102010706020507" pitchFamily="18" charset="2"/>
              </a:rPr>
              <a:t></a:t>
            </a:r>
            <a:r>
              <a:rPr lang="en-US" altLang="zh-CN" i="1" dirty="0">
                <a:solidFill>
                  <a:srgbClr val="FF0000"/>
                </a:solidFill>
                <a:sym typeface="Symbol" panose="05050102010706020507" pitchFamily="18" charset="2"/>
              </a:rPr>
              <a:t>k</a:t>
            </a:r>
            <a:r>
              <a:rPr lang="en-US" altLang="zh-CN" dirty="0">
                <a:sym typeface="Symbol" panose="05050102010706020507" pitchFamily="18" charset="2"/>
              </a:rPr>
              <a:t>.</a:t>
            </a:r>
            <a:endParaRPr lang="en-US" altLang="zh-CN" dirty="0">
              <a:sym typeface="Symbol" panose="05050102010706020507" pitchFamily="18" charset="2"/>
            </a:endParaRPr>
          </a:p>
          <a:p>
            <a:pPr eaLnBrk="1" hangingPunct="1">
              <a:lnSpc>
                <a:spcPct val="90000"/>
              </a:lnSpc>
            </a:pPr>
            <a:r>
              <a:rPr lang="en-US" altLang="zh-CN" dirty="0">
                <a:sym typeface="Symbol" panose="05050102010706020507" pitchFamily="18" charset="2"/>
              </a:rPr>
              <a:t>Set theory: If </a:t>
            </a:r>
            <a:r>
              <a:rPr lang="en-US" altLang="zh-CN" i="1" dirty="0">
                <a:sym typeface="Symbol" panose="05050102010706020507" pitchFamily="18" charset="2"/>
              </a:rPr>
              <a:t>A</a:t>
            </a:r>
            <a:r>
              <a:rPr lang="en-US" altLang="zh-CN" dirty="0">
                <a:sym typeface="Symbol" panose="05050102010706020507" pitchFamily="18" charset="2"/>
              </a:rPr>
              <a:t> and </a:t>
            </a:r>
            <a:r>
              <a:rPr lang="en-US" altLang="zh-CN" i="1" dirty="0">
                <a:sym typeface="Symbol" panose="05050102010706020507" pitchFamily="18" charset="2"/>
              </a:rPr>
              <a:t>B</a:t>
            </a:r>
            <a:r>
              <a:rPr lang="en-US" altLang="zh-CN" dirty="0">
                <a:sym typeface="Symbol" panose="05050102010706020507" pitchFamily="18" charset="2"/>
              </a:rPr>
              <a:t> are not disjoint, then </a:t>
            </a:r>
            <a:r>
              <a:rPr lang="en-US" altLang="zh-CN" dirty="0">
                <a:solidFill>
                  <a:srgbClr val="FF0000"/>
                </a:solidFill>
                <a:sym typeface="Symbol" panose="05050102010706020507" pitchFamily="18" charset="2"/>
              </a:rPr>
              <a:t>|</a:t>
            </a:r>
            <a:r>
              <a:rPr lang="en-US" altLang="zh-CN" i="1" dirty="0">
                <a:solidFill>
                  <a:srgbClr val="FF0000"/>
                </a:solidFill>
                <a:sym typeface="Symbol" panose="05050102010706020507" pitchFamily="18" charset="2"/>
              </a:rPr>
              <a:t>A</a:t>
            </a:r>
            <a:r>
              <a:rPr lang="en-US" altLang="zh-CN" dirty="0">
                <a:solidFill>
                  <a:srgbClr val="FF0000"/>
                </a:solidFill>
                <a:sym typeface="Symbol" panose="05050102010706020507" pitchFamily="18" charset="2"/>
              </a:rPr>
              <a:t></a:t>
            </a:r>
            <a:r>
              <a:rPr lang="en-US" altLang="zh-CN" i="1" dirty="0">
                <a:solidFill>
                  <a:srgbClr val="FF0000"/>
                </a:solidFill>
                <a:sym typeface="Symbol" panose="05050102010706020507" pitchFamily="18" charset="2"/>
              </a:rPr>
              <a:t>B</a:t>
            </a:r>
            <a:r>
              <a:rPr lang="en-US" altLang="zh-CN" dirty="0">
                <a:solidFill>
                  <a:srgbClr val="FF0000"/>
                </a:solidFill>
                <a:sym typeface="Symbol" panose="05050102010706020507" pitchFamily="18" charset="2"/>
              </a:rPr>
              <a:t>|=|</a:t>
            </a:r>
            <a:r>
              <a:rPr lang="en-US" altLang="zh-CN" i="1" dirty="0">
                <a:solidFill>
                  <a:srgbClr val="FF0000"/>
                </a:solidFill>
                <a:sym typeface="Symbol" panose="05050102010706020507" pitchFamily="18" charset="2"/>
              </a:rPr>
              <a:t>A</a:t>
            </a:r>
            <a:r>
              <a:rPr lang="en-US" altLang="zh-CN" dirty="0">
                <a:solidFill>
                  <a:srgbClr val="FF0000"/>
                </a:solidFill>
                <a:sym typeface="Symbol" panose="05050102010706020507" pitchFamily="18" charset="2"/>
              </a:rPr>
              <a:t>||</a:t>
            </a:r>
            <a:r>
              <a:rPr lang="en-US" altLang="zh-CN" i="1" dirty="0">
                <a:solidFill>
                  <a:srgbClr val="FF0000"/>
                </a:solidFill>
                <a:sym typeface="Symbol" panose="05050102010706020507" pitchFamily="18" charset="2"/>
              </a:rPr>
              <a:t>B</a:t>
            </a:r>
            <a:r>
              <a:rPr lang="en-US" altLang="zh-CN" dirty="0">
                <a:solidFill>
                  <a:srgbClr val="FF0000"/>
                </a:solidFill>
                <a:sym typeface="Symbol" panose="05050102010706020507" pitchFamily="18" charset="2"/>
              </a:rPr>
              <a:t>||</a:t>
            </a:r>
            <a:r>
              <a:rPr lang="en-US" altLang="zh-CN" i="1" dirty="0">
                <a:solidFill>
                  <a:srgbClr val="FF0000"/>
                </a:solidFill>
                <a:sym typeface="Symbol" panose="05050102010706020507" pitchFamily="18" charset="2"/>
              </a:rPr>
              <a:t>A</a:t>
            </a:r>
            <a:r>
              <a:rPr lang="en-US" altLang="zh-CN" dirty="0">
                <a:solidFill>
                  <a:srgbClr val="FF0000"/>
                </a:solidFill>
                <a:sym typeface="Symbol" panose="05050102010706020507" pitchFamily="18" charset="2"/>
              </a:rPr>
              <a:t></a:t>
            </a:r>
            <a:r>
              <a:rPr lang="en-US" altLang="zh-CN" i="1" dirty="0">
                <a:solidFill>
                  <a:srgbClr val="FF0000"/>
                </a:solidFill>
                <a:sym typeface="Symbol" panose="05050102010706020507" pitchFamily="18" charset="2"/>
              </a:rPr>
              <a:t>B</a:t>
            </a:r>
            <a:r>
              <a:rPr lang="en-US" altLang="zh-CN" dirty="0">
                <a:solidFill>
                  <a:srgbClr val="FF0000"/>
                </a:solidFill>
                <a:sym typeface="Symbol" panose="05050102010706020507" pitchFamily="18" charset="2"/>
              </a:rPr>
              <a:t>|</a:t>
            </a:r>
            <a:r>
              <a:rPr lang="en-US" altLang="zh-CN" dirty="0">
                <a:sym typeface="Symbol" panose="05050102010706020507" pitchFamily="18" charset="2"/>
              </a:rPr>
              <a:t>.</a:t>
            </a:r>
            <a:endParaRPr lang="en-US" altLang="zh-CN" dirty="0">
              <a:sym typeface="Symbol" panose="05050102010706020507" pitchFamily="18" charset="2"/>
            </a:endParaRPr>
          </a:p>
          <a:p>
            <a:pPr lvl="1" eaLnBrk="1" hangingPunct="1">
              <a:lnSpc>
                <a:spcPct val="90000"/>
              </a:lnSpc>
            </a:pPr>
            <a:r>
              <a:rPr lang="en-US" altLang="zh-CN" dirty="0">
                <a:sym typeface="Symbol" panose="05050102010706020507" pitchFamily="18" charset="2"/>
              </a:rPr>
              <a:t>If they are disjoint, this simplifies to </a:t>
            </a:r>
            <a:r>
              <a:rPr lang="en-US" altLang="zh-CN" dirty="0">
                <a:solidFill>
                  <a:srgbClr val="FF0000"/>
                </a:solidFill>
                <a:sym typeface="Symbol" panose="05050102010706020507" pitchFamily="18" charset="2"/>
              </a:rPr>
              <a:t>|</a:t>
            </a:r>
            <a:r>
              <a:rPr lang="en-US" altLang="zh-CN" i="1" dirty="0">
                <a:solidFill>
                  <a:srgbClr val="FF0000"/>
                </a:solidFill>
                <a:sym typeface="Symbol" panose="05050102010706020507" pitchFamily="18" charset="2"/>
              </a:rPr>
              <a:t>A</a:t>
            </a:r>
            <a:r>
              <a:rPr lang="en-US" altLang="zh-CN" dirty="0">
                <a:solidFill>
                  <a:srgbClr val="FF0000"/>
                </a:solidFill>
                <a:sym typeface="Symbol" panose="05050102010706020507" pitchFamily="18" charset="2"/>
              </a:rPr>
              <a:t>|+|</a:t>
            </a:r>
            <a:r>
              <a:rPr lang="en-US" altLang="zh-CN" i="1" dirty="0">
                <a:solidFill>
                  <a:srgbClr val="FF0000"/>
                </a:solidFill>
                <a:sym typeface="Symbol" panose="05050102010706020507" pitchFamily="18" charset="2"/>
              </a:rPr>
              <a:t>B</a:t>
            </a:r>
            <a:r>
              <a:rPr lang="en-US" altLang="zh-CN" dirty="0">
                <a:solidFill>
                  <a:srgbClr val="FF0000"/>
                </a:solidFill>
                <a:sym typeface="Symbol" panose="05050102010706020507" pitchFamily="18" charset="2"/>
              </a:rPr>
              <a:t>|</a:t>
            </a:r>
            <a:r>
              <a:rPr lang="en-US" altLang="zh-CN" dirty="0">
                <a:sym typeface="Symbol" panose="05050102010706020507" pitchFamily="18" charset="2"/>
              </a:rPr>
              <a:t>.</a:t>
            </a:r>
            <a:endParaRPr lang="en-US" altLang="zh-CN" dirty="0">
              <a:sym typeface="Symbol" panose="05050102010706020507" pitchFamily="18" charset="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21507"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21508"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21509" name="Rectangle 2"/>
          <p:cNvSpPr>
            <a:spLocks noGrp="1"/>
          </p:cNvSpPr>
          <p:nvPr>
            <p:ph type="title"/>
          </p:nvPr>
        </p:nvSpPr>
        <p:spPr>
          <a:xfrm>
            <a:off x="812165" y="117475"/>
            <a:ext cx="8338185" cy="1143000"/>
          </a:xfrm>
        </p:spPr>
        <p:txBody>
          <a:bodyPr vert="horz" wrap="square" lIns="91440" tIns="45720" rIns="91440" bIns="45720" anchor="b" anchorCtr="0"/>
          <a:p>
            <a:pPr eaLnBrk="1" hangingPunct="1"/>
            <a:r>
              <a:rPr lang="en-US" altLang="zh-CN" sz="4000" dirty="0"/>
              <a:t>Inclusion/Exclusion Example</a:t>
            </a:r>
            <a:endParaRPr lang="en-US" altLang="zh-CN" sz="4000" dirty="0"/>
          </a:p>
        </p:txBody>
      </p:sp>
      <p:sp>
        <p:nvSpPr>
          <p:cNvPr id="21510" name="Rectangle 3"/>
          <p:cNvSpPr>
            <a:spLocks noGrp="1"/>
          </p:cNvSpPr>
          <p:nvPr>
            <p:ph idx="1"/>
          </p:nvPr>
        </p:nvSpPr>
        <p:spPr/>
        <p:txBody>
          <a:bodyPr vert="horz" wrap="square" lIns="91440" tIns="45720" rIns="91440" bIns="45720" anchor="t" anchorCtr="0"/>
          <a:p>
            <a:pPr eaLnBrk="1" hangingPunct="1"/>
            <a:r>
              <a:rPr lang="en-US" altLang="zh-CN" dirty="0"/>
              <a:t>Some hypothetical rules for passwords:</a:t>
            </a:r>
            <a:endParaRPr lang="en-US" altLang="zh-CN" dirty="0"/>
          </a:p>
          <a:p>
            <a:pPr lvl="1" eaLnBrk="1" hangingPunct="1"/>
            <a:r>
              <a:rPr lang="en-US" altLang="zh-CN" dirty="0"/>
              <a:t>Passwords must be 2 characters long.</a:t>
            </a:r>
            <a:endParaRPr lang="en-US" altLang="zh-CN" dirty="0"/>
          </a:p>
          <a:p>
            <a:pPr lvl="1" eaLnBrk="1" hangingPunct="1"/>
            <a:r>
              <a:rPr lang="en-US" altLang="zh-CN" dirty="0"/>
              <a:t>Each character must be a letter a-z, a digit 0-9, or one of the 10 punctuation characters !@#$%^&amp;*().</a:t>
            </a:r>
            <a:endParaRPr lang="en-US" altLang="zh-CN" dirty="0"/>
          </a:p>
          <a:p>
            <a:pPr lvl="1" eaLnBrk="1" hangingPunct="1"/>
            <a:r>
              <a:rPr lang="en-US" altLang="zh-CN" dirty="0"/>
              <a:t>Each password must contain </a:t>
            </a:r>
            <a:r>
              <a:rPr lang="en-US" altLang="zh-CN" u="sng" dirty="0"/>
              <a:t>at least 1</a:t>
            </a:r>
            <a:r>
              <a:rPr lang="en-US" altLang="zh-CN" dirty="0"/>
              <a:t> digit or punctuation character.</a:t>
            </a:r>
            <a:endParaRPr lang="en-US" altLang="zh-C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22531"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22532"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22533" name="Rectangle 2"/>
          <p:cNvSpPr>
            <a:spLocks noGrp="1"/>
          </p:cNvSpPr>
          <p:nvPr>
            <p:ph type="title"/>
          </p:nvPr>
        </p:nvSpPr>
        <p:spPr/>
        <p:txBody>
          <a:bodyPr vert="horz" wrap="square" lIns="91440" tIns="45720" rIns="91440" bIns="45720" anchor="b" anchorCtr="0"/>
          <a:p>
            <a:pPr eaLnBrk="1" hangingPunct="1"/>
            <a:r>
              <a:rPr lang="en-US" altLang="zh-CN" dirty="0"/>
              <a:t>Setup of Problem</a:t>
            </a:r>
            <a:endParaRPr lang="en-US" altLang="zh-CN" dirty="0"/>
          </a:p>
        </p:txBody>
      </p:sp>
      <p:sp>
        <p:nvSpPr>
          <p:cNvPr id="22534" name="Rectangle 3"/>
          <p:cNvSpPr>
            <a:spLocks noGrp="1"/>
          </p:cNvSpPr>
          <p:nvPr>
            <p:ph idx="1"/>
          </p:nvPr>
        </p:nvSpPr>
        <p:spPr/>
        <p:txBody>
          <a:bodyPr vert="horz" wrap="square" lIns="91440" tIns="45720" rIns="91440" bIns="45720" anchor="t" anchorCtr="0"/>
          <a:p>
            <a:pPr eaLnBrk="1" hangingPunct="1">
              <a:lnSpc>
                <a:spcPct val="90000"/>
              </a:lnSpc>
            </a:pPr>
            <a:r>
              <a:rPr lang="en-US" altLang="zh-CN" dirty="0"/>
              <a:t>A legal password has a digit or puctuation character in position 1 </a:t>
            </a:r>
            <a:r>
              <a:rPr lang="en-US" altLang="zh-CN" b="1" dirty="0"/>
              <a:t>or</a:t>
            </a:r>
            <a:r>
              <a:rPr lang="en-US" altLang="zh-CN" dirty="0"/>
              <a:t> position 2.  </a:t>
            </a:r>
            <a:endParaRPr lang="en-US" altLang="zh-CN" dirty="0"/>
          </a:p>
          <a:p>
            <a:pPr lvl="1" eaLnBrk="1" hangingPunct="1">
              <a:lnSpc>
                <a:spcPct val="90000"/>
              </a:lnSpc>
            </a:pPr>
            <a:r>
              <a:rPr lang="en-US" altLang="zh-CN" dirty="0"/>
              <a:t>These cases overlap, so the principle applies.</a:t>
            </a:r>
            <a:endParaRPr lang="en-US" altLang="zh-CN" dirty="0"/>
          </a:p>
          <a:p>
            <a:pPr eaLnBrk="1" hangingPunct="1">
              <a:lnSpc>
                <a:spcPct val="90000"/>
              </a:lnSpc>
            </a:pPr>
            <a:r>
              <a:rPr lang="en-US" altLang="zh-CN" dirty="0"/>
              <a:t>(# of passwords w. OK symbol in </a:t>
            </a:r>
            <a:br>
              <a:rPr lang="en-US" altLang="zh-CN" dirty="0"/>
            </a:br>
            <a:r>
              <a:rPr lang="en-US" altLang="zh-CN" dirty="0"/>
              <a:t>position #1) = (10+10)·(10+10+26)</a:t>
            </a:r>
            <a:endParaRPr lang="en-US" altLang="zh-CN" dirty="0"/>
          </a:p>
          <a:p>
            <a:pPr eaLnBrk="1" hangingPunct="1">
              <a:lnSpc>
                <a:spcPct val="90000"/>
              </a:lnSpc>
            </a:pPr>
            <a:r>
              <a:rPr lang="en-US" altLang="zh-CN" dirty="0"/>
              <a:t>(# w. OK sym. in pos. #2): also 20·46</a:t>
            </a:r>
            <a:endParaRPr lang="en-US" altLang="zh-CN" dirty="0"/>
          </a:p>
          <a:p>
            <a:pPr eaLnBrk="1" hangingPunct="1">
              <a:lnSpc>
                <a:spcPct val="90000"/>
              </a:lnSpc>
            </a:pPr>
            <a:r>
              <a:rPr lang="en-US" altLang="zh-CN" dirty="0"/>
              <a:t>(# w. OK sym both places): 20·20</a:t>
            </a:r>
            <a:endParaRPr lang="en-US" altLang="zh-CN" dirty="0"/>
          </a:p>
          <a:p>
            <a:pPr eaLnBrk="1" hangingPunct="1">
              <a:lnSpc>
                <a:spcPct val="90000"/>
              </a:lnSpc>
            </a:pPr>
            <a:r>
              <a:rPr lang="en-US" altLang="zh-CN" dirty="0"/>
              <a:t>Answer: 920+920−400 = 1,440</a:t>
            </a:r>
            <a:endParaRPr lang="en-US" altLang="zh-C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Title 1"/>
          <p:cNvSpPr>
            <a:spLocks noGrp="1"/>
          </p:cNvSpPr>
          <p:nvPr>
            <p:ph type="title"/>
          </p:nvPr>
        </p:nvSpPr>
        <p:spPr/>
        <p:txBody>
          <a:bodyPr vert="horz" wrap="square" lIns="91440" tIns="45720" rIns="91440" bIns="45720" anchor="b" anchorCtr="0"/>
          <a:p>
            <a:r>
              <a:rPr lang="en-US" altLang="zh-CN" dirty="0"/>
              <a:t>Counting Bit Strings</a:t>
            </a:r>
            <a:endParaRPr lang="en-US" altLang="zh-CN" dirty="0"/>
          </a:p>
        </p:txBody>
      </p:sp>
      <p:sp>
        <p:nvSpPr>
          <p:cNvPr id="3" name="Content Placeholder 2"/>
          <p:cNvSpPr>
            <a:spLocks noGrp="1"/>
          </p:cNvSpPr>
          <p:nvPr>
            <p:ph idx="1"/>
          </p:nvPr>
        </p:nvSpPr>
        <p:spPr>
          <a:xfrm>
            <a:off x="683578" y="1341120"/>
            <a:ext cx="7772400" cy="4114800"/>
          </a:xfrm>
        </p:spPr>
        <p:txBody>
          <a:bodyPr vert="horz" wrap="square" lIns="91440" tIns="45720" rIns="91440" bIns="45720" anchor="t" anchorCtr="0"/>
          <a:p>
            <a:pPr>
              <a:lnSpc>
                <a:spcPct val="80000"/>
              </a:lnSpc>
              <a:buNone/>
            </a:pPr>
            <a:r>
              <a:rPr lang="en-US" altLang="zh-CN" sz="2700" b="1" dirty="0"/>
              <a:t>   Example</a:t>
            </a:r>
            <a:r>
              <a:rPr lang="en-US" altLang="zh-CN" sz="2700" dirty="0"/>
              <a:t>: How many bit strings of length eight either start with a </a:t>
            </a:r>
            <a:r>
              <a:rPr lang="en-US" altLang="zh-CN" sz="2700" dirty="0">
                <a:latin typeface="Cambria Math" panose="02040503050406030204" pitchFamily="18" charset="0"/>
              </a:rPr>
              <a:t>1</a:t>
            </a:r>
            <a:r>
              <a:rPr lang="en-US" altLang="zh-CN" sz="2700" dirty="0"/>
              <a:t> bit or end with the two bits </a:t>
            </a:r>
            <a:r>
              <a:rPr lang="en-US" altLang="zh-CN" sz="2700" dirty="0">
                <a:latin typeface="Cambria Math" panose="02040503050406030204" pitchFamily="18" charset="0"/>
              </a:rPr>
              <a:t>00</a:t>
            </a:r>
            <a:r>
              <a:rPr lang="en-US" altLang="zh-CN" sz="2700" dirty="0"/>
              <a:t>?</a:t>
            </a:r>
            <a:endParaRPr lang="en-US" altLang="zh-CN" sz="2700" dirty="0"/>
          </a:p>
          <a:p>
            <a:pPr>
              <a:lnSpc>
                <a:spcPct val="80000"/>
              </a:lnSpc>
              <a:buNone/>
            </a:pPr>
            <a:r>
              <a:rPr lang="en-US" altLang="zh-CN" sz="2700" b="1" dirty="0"/>
              <a:t>   Solution</a:t>
            </a:r>
            <a:r>
              <a:rPr lang="en-US" altLang="zh-CN" sz="2700" dirty="0"/>
              <a:t>:  Use the subtraction rule.</a:t>
            </a:r>
            <a:endParaRPr lang="en-US" altLang="zh-CN" sz="2700" dirty="0"/>
          </a:p>
          <a:p>
            <a:pPr lvl="1">
              <a:lnSpc>
                <a:spcPct val="80000"/>
              </a:lnSpc>
            </a:pPr>
            <a:r>
              <a:rPr lang="en-US" altLang="zh-CN" sz="2400" dirty="0"/>
              <a:t>Number of bit strings of length eight                                    that start with a </a:t>
            </a:r>
            <a:r>
              <a:rPr lang="en-US" altLang="zh-CN" sz="2400" dirty="0">
                <a:latin typeface="Cambria Math" panose="02040503050406030204" pitchFamily="18" charset="0"/>
              </a:rPr>
              <a:t>1</a:t>
            </a:r>
            <a:r>
              <a:rPr lang="en-US" altLang="zh-CN" sz="2400" dirty="0"/>
              <a:t> bit:  </a:t>
            </a:r>
            <a:r>
              <a:rPr lang="en-US" altLang="zh-CN" sz="2400" dirty="0">
                <a:latin typeface="Cambria Math" panose="02040503050406030204" pitchFamily="18" charset="0"/>
              </a:rPr>
              <a:t>2</a:t>
            </a:r>
            <a:r>
              <a:rPr lang="en-US" altLang="zh-CN" sz="2400" baseline="30000" dirty="0">
                <a:latin typeface="Cambria Math" panose="02040503050406030204" pitchFamily="18" charset="0"/>
              </a:rPr>
              <a:t>7</a:t>
            </a:r>
            <a:r>
              <a:rPr lang="en-US" altLang="zh-CN" sz="2400" dirty="0"/>
              <a:t> = </a:t>
            </a:r>
            <a:r>
              <a:rPr lang="en-US" altLang="zh-CN" sz="2400" dirty="0">
                <a:latin typeface="Cambria Math" panose="02040503050406030204" pitchFamily="18" charset="0"/>
              </a:rPr>
              <a:t>128</a:t>
            </a:r>
            <a:endParaRPr lang="en-US" altLang="zh-CN" sz="2400" dirty="0">
              <a:latin typeface="Cambria Math" panose="02040503050406030204" pitchFamily="18" charset="0"/>
            </a:endParaRPr>
          </a:p>
          <a:p>
            <a:pPr lvl="1">
              <a:lnSpc>
                <a:spcPct val="80000"/>
              </a:lnSpc>
            </a:pPr>
            <a:r>
              <a:rPr lang="en-US" altLang="zh-CN" sz="2400" dirty="0"/>
              <a:t>Number of bit strings of length eight                                    that start with bits </a:t>
            </a:r>
            <a:r>
              <a:rPr lang="en-US" altLang="zh-CN" sz="2400" dirty="0">
                <a:latin typeface="Cambria Math" panose="02040503050406030204" pitchFamily="18" charset="0"/>
              </a:rPr>
              <a:t>00</a:t>
            </a:r>
            <a:r>
              <a:rPr lang="en-US" altLang="zh-CN" sz="2400" dirty="0"/>
              <a:t>:  </a:t>
            </a:r>
            <a:r>
              <a:rPr lang="en-US" altLang="zh-CN" sz="2400" dirty="0">
                <a:latin typeface="Cambria Math" panose="02040503050406030204" pitchFamily="18" charset="0"/>
              </a:rPr>
              <a:t>2</a:t>
            </a:r>
            <a:r>
              <a:rPr lang="en-US" altLang="zh-CN" sz="2400" baseline="30000" dirty="0">
                <a:latin typeface="Cambria Math" panose="02040503050406030204" pitchFamily="18" charset="0"/>
              </a:rPr>
              <a:t>6</a:t>
            </a:r>
            <a:r>
              <a:rPr lang="en-US" altLang="zh-CN" sz="2400" dirty="0"/>
              <a:t> = </a:t>
            </a:r>
            <a:r>
              <a:rPr lang="en-US" altLang="zh-CN" sz="2400" dirty="0">
                <a:latin typeface="Cambria Math" panose="02040503050406030204" pitchFamily="18" charset="0"/>
              </a:rPr>
              <a:t>64</a:t>
            </a:r>
            <a:endParaRPr lang="en-US" altLang="zh-CN" sz="2400" dirty="0">
              <a:latin typeface="Cambria Math" panose="02040503050406030204" pitchFamily="18" charset="0"/>
            </a:endParaRPr>
          </a:p>
          <a:p>
            <a:pPr lvl="1">
              <a:lnSpc>
                <a:spcPct val="80000"/>
              </a:lnSpc>
            </a:pPr>
            <a:r>
              <a:rPr lang="en-US" altLang="zh-CN" sz="2400" dirty="0"/>
              <a:t>Number of bit strings of length eight                                that start with a </a:t>
            </a:r>
            <a:r>
              <a:rPr lang="en-US" altLang="zh-CN" sz="2400" dirty="0">
                <a:latin typeface="Cambria Math" panose="02040503050406030204" pitchFamily="18" charset="0"/>
              </a:rPr>
              <a:t>1</a:t>
            </a:r>
            <a:r>
              <a:rPr lang="en-US" altLang="zh-CN" sz="2400" dirty="0"/>
              <a:t> bit and end with bits </a:t>
            </a:r>
            <a:r>
              <a:rPr lang="en-US" altLang="zh-CN" sz="2400" dirty="0">
                <a:latin typeface="Cambria Math" panose="02040503050406030204" pitchFamily="18" charset="0"/>
              </a:rPr>
              <a:t>00 </a:t>
            </a:r>
            <a:r>
              <a:rPr lang="en-US" altLang="zh-CN" sz="2400" dirty="0"/>
              <a:t>:  </a:t>
            </a:r>
            <a:r>
              <a:rPr lang="en-US" altLang="zh-CN" sz="2400" dirty="0">
                <a:latin typeface="Cambria Math" panose="02040503050406030204" pitchFamily="18" charset="0"/>
              </a:rPr>
              <a:t>2</a:t>
            </a:r>
            <a:r>
              <a:rPr lang="en-US" altLang="zh-CN" sz="2400" baseline="30000" dirty="0">
                <a:latin typeface="Cambria Math" panose="02040503050406030204" pitchFamily="18" charset="0"/>
              </a:rPr>
              <a:t>5</a:t>
            </a:r>
            <a:r>
              <a:rPr lang="en-US" altLang="zh-CN" sz="2400" dirty="0"/>
              <a:t> = </a:t>
            </a:r>
            <a:r>
              <a:rPr lang="en-US" altLang="zh-CN" sz="2400" dirty="0">
                <a:latin typeface="Cambria Math" panose="02040503050406030204" pitchFamily="18" charset="0"/>
              </a:rPr>
              <a:t>32</a:t>
            </a:r>
            <a:endParaRPr lang="en-US" altLang="zh-CN" sz="2400" dirty="0">
              <a:latin typeface="Cambria Math" panose="02040503050406030204" pitchFamily="18" charset="0"/>
            </a:endParaRPr>
          </a:p>
          <a:p>
            <a:pPr>
              <a:lnSpc>
                <a:spcPct val="80000"/>
              </a:lnSpc>
              <a:buNone/>
            </a:pPr>
            <a:r>
              <a:rPr lang="en-US" altLang="zh-CN" sz="2700" dirty="0">
                <a:latin typeface="Cambria Math" panose="02040503050406030204" pitchFamily="18" charset="0"/>
              </a:rPr>
              <a:t>    Hence, the number is 128 + 64 − 32 = 160.</a:t>
            </a:r>
            <a:endParaRPr lang="en-US" altLang="zh-CN" sz="2700" dirty="0">
              <a:latin typeface="Cambria Math" panose="02040503050406030204" pitchFamily="18" charset="0"/>
            </a:endParaRPr>
          </a:p>
          <a:p>
            <a:pPr>
              <a:lnSpc>
                <a:spcPct val="80000"/>
              </a:lnSpc>
            </a:pPr>
            <a:endParaRPr lang="en-US" altLang="zh-CN" sz="2700" dirty="0">
              <a:latin typeface="Cambria Math" panose="02040503050406030204" pitchFamily="18" charset="0"/>
            </a:endParaRPr>
          </a:p>
          <a:p>
            <a:pPr>
              <a:lnSpc>
                <a:spcPct val="80000"/>
              </a:lnSpc>
            </a:pPr>
            <a:endParaRPr lang="en-US" altLang="zh-CN" sz="2700" dirty="0">
              <a:latin typeface="Cambria Math" panose="02040503050406030204" pitchFamily="18" charset="0"/>
            </a:endParaRPr>
          </a:p>
        </p:txBody>
      </p:sp>
      <p:pic>
        <p:nvPicPr>
          <p:cNvPr id="4" name="Picture 3" descr="0503.jpg"/>
          <p:cNvPicPr>
            <a:picLocks noChangeAspect="1"/>
          </p:cNvPicPr>
          <p:nvPr/>
        </p:nvPicPr>
        <p:blipFill>
          <a:blip r:embed="rId1"/>
          <a:stretch>
            <a:fillRect/>
          </a:stretch>
        </p:blipFill>
        <p:spPr>
          <a:xfrm>
            <a:off x="6517005" y="1990090"/>
            <a:ext cx="2056130" cy="213423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charRg st="104" end="14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charRg st="144" end="25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charRg st="252" end="35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charRg st="359" end="48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charRg st="484" end="53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标题 1"/>
          <p:cNvSpPr>
            <a:spLocks noGrp="1"/>
          </p:cNvSpPr>
          <p:nvPr>
            <p:ph type="title"/>
          </p:nvPr>
        </p:nvSpPr>
        <p:spPr/>
        <p:txBody>
          <a:bodyPr vert="horz" wrap="square" lIns="91440" tIns="45720" rIns="91440" bIns="45720" anchor="b" anchorCtr="0"/>
          <a:p>
            <a:r>
              <a:rPr lang="en-US" altLang="zh-CN" dirty="0"/>
              <a:t>Division Rule</a:t>
            </a:r>
            <a:endParaRPr lang="zh-CN" altLang="en-US" dirty="0"/>
          </a:p>
        </p:txBody>
      </p:sp>
      <p:sp>
        <p:nvSpPr>
          <p:cNvPr id="24579" name="内容占位符 2"/>
          <p:cNvSpPr>
            <a:spLocks noGrp="1"/>
          </p:cNvSpPr>
          <p:nvPr>
            <p:ph idx="1"/>
          </p:nvPr>
        </p:nvSpPr>
        <p:spPr>
          <a:xfrm>
            <a:off x="755968" y="1340803"/>
            <a:ext cx="8128000" cy="4114800"/>
          </a:xfrm>
        </p:spPr>
        <p:txBody>
          <a:bodyPr vert="horz" wrap="square" lIns="91440" tIns="45720" rIns="91440" bIns="45720" anchor="t" anchorCtr="0"/>
          <a:p>
            <a:r>
              <a:rPr lang="en-US" altLang="zh-CN" sz="2800" dirty="0"/>
              <a:t>There are </a:t>
            </a:r>
            <a:r>
              <a:rPr lang="en-US" altLang="zh-CN" sz="2800" i="1" dirty="0"/>
              <a:t>n/d </a:t>
            </a:r>
            <a:r>
              <a:rPr lang="en-US" altLang="zh-CN" sz="2800" dirty="0"/>
              <a:t>ways to do a task if it can be done using a procedure that can be carried out in </a:t>
            </a:r>
            <a:r>
              <a:rPr lang="en-US" altLang="zh-CN" sz="2800" i="1" dirty="0"/>
              <a:t>n </a:t>
            </a:r>
            <a:r>
              <a:rPr lang="en-US" altLang="zh-CN" sz="2800" dirty="0"/>
              <a:t>ways, and for every way</a:t>
            </a:r>
            <a:r>
              <a:rPr lang="en-US" altLang="zh-CN" sz="2800" i="1" dirty="0"/>
              <a:t> w, </a:t>
            </a:r>
            <a:r>
              <a:rPr lang="en-US" altLang="zh-CN" sz="2800" dirty="0"/>
              <a:t>exactly</a:t>
            </a:r>
            <a:r>
              <a:rPr lang="en-US" altLang="zh-CN" sz="2800" i="1" dirty="0"/>
              <a:t> d </a:t>
            </a:r>
            <a:r>
              <a:rPr lang="en-US" altLang="zh-CN" sz="2800" dirty="0"/>
              <a:t>of the </a:t>
            </a:r>
            <a:r>
              <a:rPr lang="en-US" altLang="zh-CN" sz="2800" i="1" dirty="0"/>
              <a:t>n </a:t>
            </a:r>
            <a:r>
              <a:rPr lang="en-US" altLang="zh-CN" sz="2800" dirty="0"/>
              <a:t>ways correspond to way </a:t>
            </a:r>
            <a:r>
              <a:rPr lang="en-US" altLang="zh-CN" sz="2800" i="1" dirty="0"/>
              <a:t>w.</a:t>
            </a:r>
            <a:endParaRPr lang="en-US" altLang="zh-CN" sz="2800" i="1" dirty="0"/>
          </a:p>
          <a:p>
            <a:r>
              <a:rPr lang="en-US" altLang="zh-CN" sz="2800" dirty="0"/>
              <a:t>If the finite set </a:t>
            </a:r>
            <a:r>
              <a:rPr lang="en-US" altLang="zh-CN" sz="2800" i="1" dirty="0"/>
              <a:t>A </a:t>
            </a:r>
            <a:r>
              <a:rPr lang="en-US" altLang="zh-CN" sz="2800" dirty="0"/>
              <a:t>is the union of </a:t>
            </a:r>
            <a:r>
              <a:rPr lang="en-US" altLang="zh-CN" sz="2800" i="1" dirty="0"/>
              <a:t>n </a:t>
            </a:r>
            <a:r>
              <a:rPr lang="en-US" altLang="zh-CN" sz="2800" dirty="0"/>
              <a:t>pairwise disjoint subsets each with </a:t>
            </a:r>
            <a:r>
              <a:rPr lang="en-US" altLang="zh-CN" sz="2800" i="1" dirty="0"/>
              <a:t>d</a:t>
            </a:r>
            <a:r>
              <a:rPr lang="en-US" altLang="zh-CN" sz="2800" dirty="0"/>
              <a:t> elements, then</a:t>
            </a:r>
            <a:r>
              <a:rPr lang="en-US" altLang="zh-CN" sz="2800" i="1" dirty="0"/>
              <a:t> n = |A|/d.</a:t>
            </a:r>
            <a:endParaRPr lang="en-US" altLang="zh-CN" sz="2800" i="1" dirty="0"/>
          </a:p>
          <a:p>
            <a:r>
              <a:rPr lang="en-US" altLang="zh-CN" sz="2800" dirty="0"/>
              <a:t>If </a:t>
            </a:r>
            <a:r>
              <a:rPr lang="en-US" altLang="zh-CN" sz="2800" i="1" dirty="0"/>
              <a:t>f </a:t>
            </a:r>
            <a:r>
              <a:rPr lang="en-US" altLang="zh-CN" sz="2800" dirty="0"/>
              <a:t>is a function from </a:t>
            </a:r>
            <a:r>
              <a:rPr lang="en-US" altLang="zh-CN" sz="2800" i="1" dirty="0"/>
              <a:t>A </a:t>
            </a:r>
            <a:r>
              <a:rPr lang="en-US" altLang="zh-CN" sz="2800" dirty="0"/>
              <a:t>to </a:t>
            </a:r>
            <a:r>
              <a:rPr lang="en-US" altLang="zh-CN" sz="2800" i="1" dirty="0"/>
              <a:t>B </a:t>
            </a:r>
            <a:r>
              <a:rPr lang="en-US" altLang="zh-CN" sz="2800" dirty="0"/>
              <a:t>where</a:t>
            </a:r>
            <a:r>
              <a:rPr lang="en-US" altLang="zh-CN" sz="2800" i="1" dirty="0"/>
              <a:t> A </a:t>
            </a:r>
            <a:r>
              <a:rPr lang="en-US" altLang="zh-CN" sz="2800" dirty="0"/>
              <a:t>and</a:t>
            </a:r>
            <a:r>
              <a:rPr lang="en-US" altLang="zh-CN" sz="2800" i="1" dirty="0"/>
              <a:t> B </a:t>
            </a:r>
            <a:r>
              <a:rPr lang="en-US" altLang="zh-CN" sz="2800" dirty="0"/>
              <a:t>are finite sets, and that for every value </a:t>
            </a:r>
            <a:r>
              <a:rPr lang="en-US" altLang="zh-CN" sz="2800" i="1" dirty="0"/>
              <a:t>y ∈ B </a:t>
            </a:r>
            <a:r>
              <a:rPr lang="en-US" altLang="zh-CN" sz="2800" dirty="0"/>
              <a:t>there are exactly</a:t>
            </a:r>
            <a:r>
              <a:rPr lang="en-US" altLang="zh-CN" sz="2800" i="1" dirty="0"/>
              <a:t> d </a:t>
            </a:r>
            <a:r>
              <a:rPr lang="en-US" altLang="zh-CN" sz="2800" dirty="0"/>
              <a:t>values</a:t>
            </a:r>
            <a:r>
              <a:rPr lang="en-US" altLang="zh-CN" sz="2800" i="1" dirty="0"/>
              <a:t> x ∈ A </a:t>
            </a:r>
            <a:r>
              <a:rPr lang="en-US" altLang="zh-CN" sz="2800" dirty="0"/>
              <a:t>such that </a:t>
            </a:r>
            <a:r>
              <a:rPr lang="en-US" altLang="zh-CN" sz="2800" i="1" dirty="0"/>
              <a:t>f (x) = y, </a:t>
            </a:r>
            <a:r>
              <a:rPr lang="en-US" altLang="zh-CN" sz="2800" dirty="0"/>
              <a:t>then</a:t>
            </a:r>
            <a:r>
              <a:rPr lang="en-US" altLang="zh-CN" sz="2800" i="1" dirty="0"/>
              <a:t> |B| = |A|/d</a:t>
            </a:r>
            <a:endParaRPr lang="en-US" altLang="zh-CN" sz="2800" i="1" dirty="0"/>
          </a:p>
          <a:p>
            <a:endParaRPr lang="en-US" altLang="zh-CN" i="1" dirty="0"/>
          </a:p>
          <a:p>
            <a:endParaRPr lang="zh-CN" altLang="en-US" dirty="0"/>
          </a:p>
        </p:txBody>
      </p:sp>
      <p:sp>
        <p:nvSpPr>
          <p:cNvPr id="24580"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24581"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24582"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标题 1"/>
          <p:cNvSpPr>
            <a:spLocks noGrp="1"/>
          </p:cNvSpPr>
          <p:nvPr>
            <p:ph type="title"/>
          </p:nvPr>
        </p:nvSpPr>
        <p:spPr/>
        <p:txBody>
          <a:bodyPr vert="horz" wrap="square" lIns="91440" tIns="45720" rIns="91440" bIns="45720" anchor="b" anchorCtr="0"/>
          <a:p>
            <a:r>
              <a:rPr lang="en-US" altLang="zh-CN" dirty="0"/>
              <a:t>Example </a:t>
            </a:r>
            <a:endParaRPr lang="zh-CN" altLang="en-US" dirty="0"/>
          </a:p>
        </p:txBody>
      </p:sp>
      <p:sp>
        <p:nvSpPr>
          <p:cNvPr id="25603" name="内容占位符 2"/>
          <p:cNvSpPr>
            <a:spLocks noGrp="1"/>
          </p:cNvSpPr>
          <p:nvPr>
            <p:ph idx="1"/>
          </p:nvPr>
        </p:nvSpPr>
        <p:spPr>
          <a:xfrm>
            <a:off x="745490" y="1341120"/>
            <a:ext cx="8604250" cy="4114800"/>
          </a:xfrm>
        </p:spPr>
        <p:txBody>
          <a:bodyPr vert="horz" wrap="square" lIns="91440" tIns="45720" rIns="91440" bIns="45720" anchor="t" anchorCtr="0"/>
          <a:p>
            <a:r>
              <a:rPr lang="en-US" altLang="zh-CN" sz="2800" dirty="0"/>
              <a:t>How many different ways are there to seat four people around a circular table, where two seatings are considered the same when each person has the same left neighbor and the same right neighbor?</a:t>
            </a:r>
            <a:endParaRPr lang="zh-CN" altLang="en-US" sz="2800" dirty="0"/>
          </a:p>
        </p:txBody>
      </p:sp>
      <p:sp>
        <p:nvSpPr>
          <p:cNvPr id="25604"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25605"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25606"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2" name="矩形 1"/>
          <p:cNvSpPr/>
          <p:nvPr/>
        </p:nvSpPr>
        <p:spPr>
          <a:xfrm>
            <a:off x="539433" y="3352800"/>
            <a:ext cx="8424862" cy="30480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mn-ea"/>
              </a:defRPr>
            </a:lvl5pPr>
          </a:lstStyle>
          <a:p>
            <a:pPr marL="0" lvl="0" indent="0">
              <a:spcBef>
                <a:spcPct val="0"/>
              </a:spcBef>
              <a:buClrTx/>
              <a:buSzTx/>
              <a:buFontTx/>
              <a:buNone/>
            </a:pPr>
            <a:r>
              <a:rPr lang="en-US" altLang="zh-CN" sz="2400" b="1" dirty="0"/>
              <a:t>Solution</a:t>
            </a:r>
            <a:r>
              <a:rPr lang="en-US" altLang="zh-CN" sz="2400" dirty="0"/>
              <a:t>: Number the seats around the table from </a:t>
            </a:r>
            <a:r>
              <a:rPr lang="en-US" altLang="zh-CN" sz="2400" dirty="0">
                <a:latin typeface="Cambria Math" panose="02040503050406030204" pitchFamily="18" charset="0"/>
              </a:rPr>
              <a:t>1</a:t>
            </a:r>
            <a:r>
              <a:rPr lang="en-US" altLang="zh-CN" sz="2400" dirty="0"/>
              <a:t> to </a:t>
            </a:r>
            <a:r>
              <a:rPr lang="en-US" altLang="zh-CN" sz="2400" dirty="0">
                <a:latin typeface="Cambria Math" panose="02040503050406030204" pitchFamily="18" charset="0"/>
              </a:rPr>
              <a:t>4</a:t>
            </a:r>
            <a:r>
              <a:rPr lang="en-US" altLang="zh-CN" sz="2400" dirty="0"/>
              <a:t> proceeding clockwise. There are four ways to select the person for seat </a:t>
            </a:r>
            <a:r>
              <a:rPr lang="en-US" altLang="zh-CN" sz="2400" dirty="0">
                <a:latin typeface="Cambria Math" panose="02040503050406030204" pitchFamily="18" charset="0"/>
              </a:rPr>
              <a:t>1</a:t>
            </a:r>
            <a:r>
              <a:rPr lang="en-US" altLang="zh-CN" sz="2400" dirty="0"/>
              <a:t>, </a:t>
            </a:r>
            <a:r>
              <a:rPr lang="en-US" altLang="zh-CN" sz="2400" dirty="0">
                <a:latin typeface="Cambria Math" panose="02040503050406030204" pitchFamily="18" charset="0"/>
              </a:rPr>
              <a:t>3</a:t>
            </a:r>
            <a:r>
              <a:rPr lang="en-US" altLang="zh-CN" sz="2400" dirty="0"/>
              <a:t> for seat </a:t>
            </a:r>
            <a:r>
              <a:rPr lang="en-US" altLang="zh-CN" sz="2400" dirty="0">
                <a:latin typeface="Cambria Math" panose="02040503050406030204" pitchFamily="18" charset="0"/>
              </a:rPr>
              <a:t>2</a:t>
            </a:r>
            <a:r>
              <a:rPr lang="en-US" altLang="zh-CN" sz="2400" dirty="0"/>
              <a:t>, </a:t>
            </a:r>
            <a:r>
              <a:rPr lang="en-US" altLang="zh-CN" sz="2400" dirty="0">
                <a:latin typeface="Cambria Math" panose="02040503050406030204" pitchFamily="18" charset="0"/>
              </a:rPr>
              <a:t>2</a:t>
            </a:r>
            <a:r>
              <a:rPr lang="en-US" altLang="zh-CN" sz="2400" dirty="0"/>
              <a:t>, for seat </a:t>
            </a:r>
            <a:r>
              <a:rPr lang="en-US" altLang="zh-CN" sz="2400" dirty="0">
                <a:latin typeface="Cambria Math" panose="02040503050406030204" pitchFamily="18" charset="0"/>
              </a:rPr>
              <a:t>3</a:t>
            </a:r>
            <a:r>
              <a:rPr lang="en-US" altLang="zh-CN" sz="2400" dirty="0"/>
              <a:t>, and one way for seat </a:t>
            </a:r>
            <a:r>
              <a:rPr lang="en-US" altLang="zh-CN" sz="2400" dirty="0">
                <a:latin typeface="Cambria Math" panose="02040503050406030204" pitchFamily="18" charset="0"/>
              </a:rPr>
              <a:t>4</a:t>
            </a:r>
            <a:r>
              <a:rPr lang="en-US" altLang="zh-CN" sz="2400" dirty="0"/>
              <a:t>. Thus there are </a:t>
            </a:r>
            <a:r>
              <a:rPr lang="en-US" altLang="zh-CN" sz="2400" dirty="0">
                <a:latin typeface="Cambria Math" panose="02040503050406030204" pitchFamily="18" charset="0"/>
              </a:rPr>
              <a:t>4</a:t>
            </a:r>
            <a:r>
              <a:rPr lang="en-US" altLang="zh-CN" sz="2400" dirty="0"/>
              <a:t>! = </a:t>
            </a:r>
            <a:r>
              <a:rPr lang="en-US" altLang="zh-CN" sz="2400" dirty="0">
                <a:latin typeface="Cambria Math" panose="02040503050406030204" pitchFamily="18" charset="0"/>
              </a:rPr>
              <a:t>24</a:t>
            </a:r>
            <a:r>
              <a:rPr lang="en-US" altLang="zh-CN" sz="2400" dirty="0"/>
              <a:t> ways to order the four people. But since two seatings are the same when each person has the same left and right neighbor, for every choice for seat </a:t>
            </a:r>
            <a:r>
              <a:rPr lang="en-US" altLang="zh-CN" sz="2400" dirty="0">
                <a:latin typeface="Cambria Math" panose="02040503050406030204" pitchFamily="18" charset="0"/>
              </a:rPr>
              <a:t>1</a:t>
            </a:r>
            <a:r>
              <a:rPr lang="en-US" altLang="zh-CN" sz="2400" dirty="0"/>
              <a:t>, we get the same seating. </a:t>
            </a:r>
            <a:endParaRPr lang="en-US" altLang="zh-CN" sz="2400" dirty="0"/>
          </a:p>
          <a:p>
            <a:pPr marL="0" lvl="0" indent="0">
              <a:spcBef>
                <a:spcPct val="0"/>
              </a:spcBef>
              <a:buClrTx/>
              <a:buSzTx/>
              <a:buFontTx/>
              <a:buNone/>
            </a:pPr>
            <a:r>
              <a:rPr lang="en-US" altLang="zh-CN" sz="2400" dirty="0"/>
              <a:t>       Therefore, by the division rule, there are </a:t>
            </a:r>
            <a:r>
              <a:rPr lang="en-US" altLang="zh-CN" sz="2400" dirty="0">
                <a:latin typeface="Cambria Math" panose="02040503050406030204" pitchFamily="18" charset="0"/>
              </a:rPr>
              <a:t>24</a:t>
            </a:r>
            <a:r>
              <a:rPr lang="en-US" altLang="zh-CN" sz="2400" dirty="0"/>
              <a:t>/</a:t>
            </a:r>
            <a:r>
              <a:rPr lang="en-US" altLang="zh-CN" sz="2400" dirty="0">
                <a:latin typeface="Cambria Math" panose="02040503050406030204" pitchFamily="18" charset="0"/>
              </a:rPr>
              <a:t>4</a:t>
            </a:r>
            <a:r>
              <a:rPr lang="en-US" altLang="zh-CN" sz="2400" dirty="0"/>
              <a:t> = </a:t>
            </a:r>
            <a:r>
              <a:rPr lang="en-US" altLang="zh-CN" sz="2400" dirty="0">
                <a:latin typeface="Cambria Math" panose="02040503050406030204" pitchFamily="18" charset="0"/>
              </a:rPr>
              <a:t>6</a:t>
            </a:r>
            <a:r>
              <a:rPr lang="en-US" altLang="zh-CN" sz="2400" dirty="0"/>
              <a:t> different seating arrangements. </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26627"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26628"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26629" name="Rectangle 2"/>
          <p:cNvSpPr>
            <a:spLocks noGrp="1"/>
          </p:cNvSpPr>
          <p:nvPr>
            <p:ph type="title"/>
          </p:nvPr>
        </p:nvSpPr>
        <p:spPr/>
        <p:txBody>
          <a:bodyPr vert="horz" wrap="square" lIns="91440" tIns="45720" rIns="91440" bIns="45720" anchor="b" anchorCtr="0"/>
          <a:p>
            <a:pPr eaLnBrk="1" hangingPunct="1"/>
            <a:r>
              <a:rPr lang="en-US" altLang="zh-CN" dirty="0"/>
              <a:t>Tree Diagrams</a:t>
            </a:r>
            <a:endParaRPr lang="en-US" altLang="zh-CN" dirty="0"/>
          </a:p>
        </p:txBody>
      </p:sp>
      <p:sp>
        <p:nvSpPr>
          <p:cNvPr id="26630" name="Rectangle 3"/>
          <p:cNvSpPr>
            <a:spLocks noGrp="1"/>
          </p:cNvSpPr>
          <p:nvPr>
            <p:ph idx="1"/>
          </p:nvPr>
        </p:nvSpPr>
        <p:spPr>
          <a:xfrm>
            <a:off x="971868" y="1412558"/>
            <a:ext cx="4037012" cy="4114800"/>
          </a:xfrm>
        </p:spPr>
        <p:txBody>
          <a:bodyPr vert="horz" wrap="square" lIns="91440" tIns="45720" rIns="91440" bIns="45720" anchor="t" anchorCtr="0"/>
          <a:p>
            <a:pPr eaLnBrk="1" hangingPunct="1"/>
            <a:r>
              <a:rPr lang="en-US" altLang="zh-CN" dirty="0"/>
              <a:t>Example </a:t>
            </a:r>
            <a:endParaRPr lang="en-US" altLang="zh-CN" dirty="0"/>
          </a:p>
          <a:p>
            <a:pPr lvl="1" eaLnBrk="1" hangingPunct="1"/>
            <a:r>
              <a:rPr lang="en-US" altLang="zh-CN" dirty="0"/>
              <a:t>How many bit strings of length four do not have two consecutive 1s?</a:t>
            </a:r>
            <a:endParaRPr lang="en-US" altLang="zh-CN" dirty="0"/>
          </a:p>
          <a:p>
            <a:pPr eaLnBrk="1" hangingPunct="1"/>
            <a:endParaRPr lang="en-US" altLang="zh-CN" dirty="0"/>
          </a:p>
        </p:txBody>
      </p:sp>
      <p:pic>
        <p:nvPicPr>
          <p:cNvPr id="26631" name="Picture 7"/>
          <p:cNvPicPr>
            <a:picLocks noChangeAspect="1"/>
          </p:cNvPicPr>
          <p:nvPr/>
        </p:nvPicPr>
        <p:blipFill>
          <a:blip r:embed="rId1"/>
          <a:stretch>
            <a:fillRect/>
          </a:stretch>
        </p:blipFill>
        <p:spPr>
          <a:xfrm>
            <a:off x="5580380" y="1556703"/>
            <a:ext cx="2773363" cy="4435475"/>
          </a:xfrm>
          <a:prstGeom prst="rect">
            <a:avLst/>
          </a:prstGeom>
          <a:noFill/>
          <a:ln w="9525">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标题 1"/>
          <p:cNvSpPr>
            <a:spLocks noGrp="1"/>
          </p:cNvSpPr>
          <p:nvPr>
            <p:ph type="title"/>
          </p:nvPr>
        </p:nvSpPr>
        <p:spPr/>
        <p:txBody>
          <a:bodyPr vert="horz" wrap="square" lIns="91440" tIns="45720" rIns="91440" bIns="45720" anchor="b" anchorCtr="0"/>
          <a:p>
            <a:r>
              <a:rPr lang="en-US" altLang="zh-CN" dirty="0"/>
              <a:t>Example </a:t>
            </a:r>
            <a:endParaRPr lang="zh-CN" altLang="en-US" dirty="0"/>
          </a:p>
        </p:txBody>
      </p:sp>
      <p:sp>
        <p:nvSpPr>
          <p:cNvPr id="27651" name="内容占位符 2"/>
          <p:cNvSpPr>
            <a:spLocks noGrp="1"/>
          </p:cNvSpPr>
          <p:nvPr>
            <p:ph idx="1"/>
          </p:nvPr>
        </p:nvSpPr>
        <p:spPr>
          <a:xfrm>
            <a:off x="251778" y="1340803"/>
            <a:ext cx="8964612" cy="3743325"/>
          </a:xfrm>
        </p:spPr>
        <p:txBody>
          <a:bodyPr vert="horz" wrap="square" lIns="91440" tIns="45720" rIns="91440" bIns="45720" anchor="t" anchorCtr="0"/>
          <a:p>
            <a:r>
              <a:rPr lang="en-US" altLang="zh-CN" sz="2800" dirty="0"/>
              <a:t>Suppose that T-shirts come in five different sizes: S, M, L, XL, and XXL.</a:t>
            </a:r>
            <a:endParaRPr lang="en-US" altLang="zh-CN" sz="2800" dirty="0"/>
          </a:p>
          <a:p>
            <a:pPr lvl="1"/>
            <a:r>
              <a:rPr lang="en-US" altLang="zh-CN" sz="2400" dirty="0">
                <a:latin typeface="Times New Roman" panose="02020503050405090304" pitchFamily="18" charset="0"/>
              </a:rPr>
              <a:t> Further suppose that each size comes in four colors, white, red, green, and black, except for XL,which comes only in red, green, and black, and XXL, which comes only in green and black.	</a:t>
            </a:r>
            <a:endParaRPr lang="en-US" altLang="zh-CN" sz="2400" dirty="0">
              <a:latin typeface="Times New Roman" panose="02020503050405090304" pitchFamily="18" charset="0"/>
            </a:endParaRPr>
          </a:p>
          <a:p>
            <a:pPr lvl="1"/>
            <a:r>
              <a:rPr lang="en-US" altLang="zh-CN" sz="2400" dirty="0">
                <a:latin typeface="Times New Roman" panose="02020503050405090304" pitchFamily="18" charset="0"/>
              </a:rPr>
              <a:t> How many different shirts does a souvenir shop have to stock to have at least one of each available size and color of the T-shirt?</a:t>
            </a:r>
            <a:endParaRPr lang="en-US" altLang="zh-CN" sz="2400" dirty="0">
              <a:latin typeface="Times New Roman" panose="02020503050405090304" pitchFamily="18" charset="0"/>
            </a:endParaRPr>
          </a:p>
          <a:p>
            <a:endParaRPr lang="zh-CN" altLang="en-US" sz="2400" dirty="0"/>
          </a:p>
        </p:txBody>
      </p:sp>
      <p:sp>
        <p:nvSpPr>
          <p:cNvPr id="27652"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27653"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27654"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pic>
        <p:nvPicPr>
          <p:cNvPr id="27655" name="Picture 2"/>
          <p:cNvPicPr>
            <a:picLocks noChangeAspect="1"/>
          </p:cNvPicPr>
          <p:nvPr/>
        </p:nvPicPr>
        <p:blipFill>
          <a:blip r:embed="rId1"/>
          <a:stretch>
            <a:fillRect/>
          </a:stretch>
        </p:blipFill>
        <p:spPr>
          <a:xfrm>
            <a:off x="2988310" y="4293235"/>
            <a:ext cx="4337050" cy="2108200"/>
          </a:xfrm>
          <a:prstGeom prst="rect">
            <a:avLst/>
          </a:prstGeom>
          <a:noFill/>
          <a:ln w="9525">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28675"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28676"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28677" name="Rectangle 2"/>
          <p:cNvSpPr>
            <a:spLocks noGrp="1"/>
          </p:cNvSpPr>
          <p:nvPr>
            <p:ph type="title"/>
          </p:nvPr>
        </p:nvSpPr>
        <p:spPr/>
        <p:txBody>
          <a:bodyPr vert="horz" wrap="square" lIns="91440" tIns="45720" rIns="91440" bIns="45720" anchor="b" anchorCtr="0"/>
          <a:p>
            <a:pPr eaLnBrk="1" hangingPunct="1"/>
            <a:r>
              <a:rPr lang="en-US" altLang="zh-CN" dirty="0"/>
              <a:t>Homework</a:t>
            </a:r>
            <a:endParaRPr lang="en-US" altLang="zh-CN" dirty="0"/>
          </a:p>
        </p:txBody>
      </p:sp>
      <p:sp>
        <p:nvSpPr>
          <p:cNvPr id="28678" name="Rectangle 3"/>
          <p:cNvSpPr>
            <a:spLocks noGrp="1"/>
          </p:cNvSpPr>
          <p:nvPr>
            <p:ph idx="1"/>
          </p:nvPr>
        </p:nvSpPr>
        <p:spPr/>
        <p:txBody>
          <a:bodyPr vert="horz" wrap="square" lIns="91440" tIns="45720" rIns="91440" bIns="45720" anchor="t" anchorCtr="0"/>
          <a:p>
            <a:pPr eaLnBrk="1" hangingPunct="1"/>
            <a:r>
              <a:rPr lang="en-US" altLang="zh-CN" dirty="0"/>
              <a:t>§6.1 </a:t>
            </a:r>
            <a:endParaRPr lang="en-US" altLang="zh-CN" dirty="0"/>
          </a:p>
          <a:p>
            <a:pPr lvl="1" eaLnBrk="1" hangingPunct="1"/>
            <a:r>
              <a:rPr lang="en-US" altLang="zh-CN" dirty="0"/>
              <a:t> 48, 52</a:t>
            </a:r>
            <a:endParaRPr lang="en-US" altLang="zh-CN" dirty="0"/>
          </a:p>
        </p:txBody>
      </p:sp>
      <p:pic>
        <p:nvPicPr>
          <p:cNvPr id="28679" name="图片 2"/>
          <p:cNvPicPr>
            <a:picLocks noChangeAspect="1"/>
          </p:cNvPicPr>
          <p:nvPr/>
        </p:nvPicPr>
        <p:blipFill>
          <a:blip r:embed="rId1"/>
          <a:stretch>
            <a:fillRect/>
          </a:stretch>
        </p:blipFill>
        <p:spPr>
          <a:xfrm>
            <a:off x="763270" y="2998470"/>
            <a:ext cx="7685088" cy="1450975"/>
          </a:xfrm>
          <a:prstGeom prst="rect">
            <a:avLst/>
          </a:prstGeom>
          <a:noFill/>
          <a:ln w="9525">
            <a:noFill/>
          </a:ln>
        </p:spPr>
      </p:pic>
      <p:pic>
        <p:nvPicPr>
          <p:cNvPr id="28680" name="图片 3"/>
          <p:cNvPicPr>
            <a:picLocks noChangeAspect="1"/>
          </p:cNvPicPr>
          <p:nvPr/>
        </p:nvPicPr>
        <p:blipFill>
          <a:blip r:embed="rId2"/>
          <a:stretch>
            <a:fillRect/>
          </a:stretch>
        </p:blipFill>
        <p:spPr>
          <a:xfrm>
            <a:off x="795338" y="4940618"/>
            <a:ext cx="7621587" cy="574675"/>
          </a:xfrm>
          <a:prstGeom prst="rect">
            <a:avLst/>
          </a:prstGeom>
          <a:noFill/>
          <a:ln w="9525">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29699"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29700"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29701" name="Rectangle 2"/>
          <p:cNvSpPr>
            <a:spLocks noGrp="1"/>
          </p:cNvSpPr>
          <p:nvPr>
            <p:ph type="title"/>
          </p:nvPr>
        </p:nvSpPr>
        <p:spPr>
          <a:xfrm>
            <a:off x="922020" y="43815"/>
            <a:ext cx="8134350" cy="1143000"/>
          </a:xfrm>
        </p:spPr>
        <p:txBody>
          <a:bodyPr vert="horz" wrap="square" lIns="91440" tIns="45720" rIns="91440" bIns="45720" anchor="b" anchorCtr="0"/>
          <a:p>
            <a:pPr eaLnBrk="1" hangingPunct="1"/>
            <a:r>
              <a:rPr lang="en-US" altLang="zh-CN" sz="4000" dirty="0"/>
              <a:t>Pigeonhole Principle (§6.2)</a:t>
            </a:r>
            <a:endParaRPr lang="en-US" altLang="zh-CN" sz="4000" dirty="0"/>
          </a:p>
        </p:txBody>
      </p:sp>
      <p:sp>
        <p:nvSpPr>
          <p:cNvPr id="29702" name="Rectangle 3"/>
          <p:cNvSpPr>
            <a:spLocks noGrp="1"/>
          </p:cNvSpPr>
          <p:nvPr>
            <p:ph idx="1"/>
          </p:nvPr>
        </p:nvSpPr>
        <p:spPr/>
        <p:txBody>
          <a:bodyPr vert="horz" wrap="square" lIns="91440" tIns="45720" rIns="91440" bIns="45720" anchor="t" anchorCtr="0"/>
          <a:p>
            <a:pPr eaLnBrk="1" hangingPunct="1">
              <a:lnSpc>
                <a:spcPct val="90000"/>
              </a:lnSpc>
            </a:pPr>
            <a:r>
              <a:rPr lang="en-US" altLang="zh-CN" dirty="0"/>
              <a:t>A.k.a. the “Dirichlet drawer principle”</a:t>
            </a:r>
            <a:endParaRPr lang="en-US" altLang="zh-CN" dirty="0"/>
          </a:p>
          <a:p>
            <a:pPr eaLnBrk="1" hangingPunct="1">
              <a:lnSpc>
                <a:spcPct val="90000"/>
              </a:lnSpc>
            </a:pPr>
            <a:r>
              <a:rPr lang="en-US" altLang="zh-CN" dirty="0"/>
              <a:t>If ≥</a:t>
            </a:r>
            <a:r>
              <a:rPr lang="en-US" altLang="zh-CN" i="1" dirty="0"/>
              <a:t>k</a:t>
            </a:r>
            <a:r>
              <a:rPr lang="en-US" altLang="zh-CN" dirty="0"/>
              <a:t>+1 objects are assigned to </a:t>
            </a:r>
            <a:r>
              <a:rPr lang="en-US" altLang="zh-CN" i="1" dirty="0"/>
              <a:t>k</a:t>
            </a:r>
            <a:r>
              <a:rPr lang="en-US" altLang="zh-CN" dirty="0"/>
              <a:t> places, then at least 1 place must be assigned ≥2 objects. </a:t>
            </a:r>
            <a:endParaRPr lang="en-US" altLang="zh-CN" dirty="0"/>
          </a:p>
          <a:p>
            <a:pPr eaLnBrk="1" hangingPunct="1">
              <a:lnSpc>
                <a:spcPct val="90000"/>
              </a:lnSpc>
            </a:pPr>
            <a:r>
              <a:rPr lang="en-US" altLang="zh-CN" dirty="0"/>
              <a:t>In terms of the assignment function: </a:t>
            </a:r>
            <a:endParaRPr lang="en-US" altLang="zh-CN" dirty="0"/>
          </a:p>
          <a:p>
            <a:pPr lvl="1" eaLnBrk="1" hangingPunct="1">
              <a:lnSpc>
                <a:spcPct val="90000"/>
              </a:lnSpc>
            </a:pPr>
            <a:r>
              <a:rPr lang="en-US" altLang="zh-CN" dirty="0">
                <a:cs typeface="Tahoma" panose="020B0604030504040204" pitchFamily="34" charset="0"/>
              </a:rPr>
              <a:t>If </a:t>
            </a:r>
            <a:r>
              <a:rPr lang="en-US" altLang="zh-CN" i="1" dirty="0">
                <a:cs typeface="Tahoma" panose="020B0604030504040204" pitchFamily="34" charset="0"/>
              </a:rPr>
              <a:t>f</a:t>
            </a:r>
            <a:r>
              <a:rPr lang="en-US" altLang="zh-CN" dirty="0">
                <a:cs typeface="Tahoma" panose="020B0604030504040204" pitchFamily="34" charset="0"/>
              </a:rPr>
              <a:t>:</a:t>
            </a:r>
            <a:r>
              <a:rPr lang="en-US" altLang="zh-CN" i="1" dirty="0">
                <a:cs typeface="Tahoma" panose="020B0604030504040204" pitchFamily="34" charset="0"/>
              </a:rPr>
              <a:t>A</a:t>
            </a:r>
            <a:r>
              <a:rPr lang="en-US" altLang="zh-CN" dirty="0">
                <a:cs typeface="Tahoma" panose="020B0604030504040204" pitchFamily="34" charset="0"/>
              </a:rPr>
              <a:t>→</a:t>
            </a:r>
            <a:r>
              <a:rPr lang="en-US" altLang="zh-CN" i="1" dirty="0">
                <a:cs typeface="Tahoma" panose="020B0604030504040204" pitchFamily="34" charset="0"/>
              </a:rPr>
              <a:t>B</a:t>
            </a:r>
            <a:r>
              <a:rPr lang="en-US" altLang="zh-CN" dirty="0">
                <a:cs typeface="Tahoma" panose="020B0604030504040204" pitchFamily="34" charset="0"/>
              </a:rPr>
              <a:t> and |</a:t>
            </a:r>
            <a:r>
              <a:rPr lang="en-US" altLang="zh-CN" i="1" dirty="0">
                <a:cs typeface="Tahoma" panose="020B0604030504040204" pitchFamily="34" charset="0"/>
              </a:rPr>
              <a:t>A</a:t>
            </a:r>
            <a:r>
              <a:rPr lang="en-US" altLang="zh-CN" dirty="0">
                <a:cs typeface="Tahoma" panose="020B0604030504040204" pitchFamily="34" charset="0"/>
              </a:rPr>
              <a:t>|≥|</a:t>
            </a:r>
            <a:r>
              <a:rPr lang="en-US" altLang="zh-CN" i="1" dirty="0">
                <a:cs typeface="Tahoma" panose="020B0604030504040204" pitchFamily="34" charset="0"/>
              </a:rPr>
              <a:t>B</a:t>
            </a:r>
            <a:r>
              <a:rPr lang="en-US" altLang="zh-CN" dirty="0">
                <a:cs typeface="Tahoma" panose="020B0604030504040204" pitchFamily="34" charset="0"/>
              </a:rPr>
              <a:t>|+1, then some element of </a:t>
            </a:r>
            <a:r>
              <a:rPr lang="en-US" altLang="zh-CN" i="1" dirty="0">
                <a:cs typeface="Tahoma" panose="020B0604030504040204" pitchFamily="34" charset="0"/>
              </a:rPr>
              <a:t>B</a:t>
            </a:r>
            <a:r>
              <a:rPr lang="en-US" altLang="zh-CN" dirty="0">
                <a:cs typeface="Tahoma" panose="020B0604030504040204" pitchFamily="34" charset="0"/>
              </a:rPr>
              <a:t> has ≥2 preimages under </a:t>
            </a:r>
            <a:r>
              <a:rPr lang="en-US" altLang="zh-CN" i="1" dirty="0">
                <a:cs typeface="Tahoma" panose="020B0604030504040204" pitchFamily="34" charset="0"/>
              </a:rPr>
              <a:t>f</a:t>
            </a:r>
            <a:r>
              <a:rPr lang="en-US" altLang="zh-CN" dirty="0">
                <a:cs typeface="Tahoma" panose="020B0604030504040204" pitchFamily="34" charset="0"/>
              </a:rPr>
              <a:t>.</a:t>
            </a:r>
            <a:endParaRPr lang="en-US" altLang="zh-CN" dirty="0">
              <a:cs typeface="Tahoma" panose="020B0604030504040204" pitchFamily="34" charset="0"/>
            </a:endParaRPr>
          </a:p>
          <a:p>
            <a:pPr lvl="2" eaLnBrk="1" hangingPunct="1">
              <a:lnSpc>
                <a:spcPct val="90000"/>
              </a:lnSpc>
            </a:pPr>
            <a:r>
              <a:rPr lang="en-US" altLang="zh-CN" dirty="0">
                <a:cs typeface="Tahoma" panose="020B0604030504040204" pitchFamily="34" charset="0"/>
              </a:rPr>
              <a:t>I.e., </a:t>
            </a:r>
            <a:r>
              <a:rPr lang="en-US" altLang="zh-CN" i="1" dirty="0">
                <a:cs typeface="Tahoma" panose="020B0604030504040204" pitchFamily="34" charset="0"/>
              </a:rPr>
              <a:t>f</a:t>
            </a:r>
            <a:r>
              <a:rPr lang="en-US" altLang="zh-CN" dirty="0">
                <a:cs typeface="Tahoma" panose="020B0604030504040204" pitchFamily="34" charset="0"/>
              </a:rPr>
              <a:t> is not one-to-one.</a:t>
            </a:r>
            <a:endParaRPr lang="en-US" altLang="zh-CN" dirty="0">
              <a:ea typeface="Tahoma" panose="020B060403050404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30723"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30724"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30725" name="Rectangle 2"/>
          <p:cNvSpPr>
            <a:spLocks noGrp="1"/>
          </p:cNvSpPr>
          <p:nvPr>
            <p:ph type="title"/>
          </p:nvPr>
        </p:nvSpPr>
        <p:spPr>
          <a:xfrm>
            <a:off x="1151255" y="43815"/>
            <a:ext cx="7993380" cy="1168400"/>
          </a:xfrm>
        </p:spPr>
        <p:txBody>
          <a:bodyPr vert="horz" wrap="square" lIns="91440" tIns="45720" rIns="91440" bIns="45720" anchor="b" anchorCtr="0"/>
          <a:p>
            <a:pPr eaLnBrk="1" hangingPunct="1"/>
            <a:r>
              <a:rPr lang="en-US" altLang="zh-CN" sz="4000" dirty="0"/>
              <a:t>Example of Pigeonhole Principle</a:t>
            </a:r>
            <a:endParaRPr lang="en-US" altLang="zh-CN" sz="4000" dirty="0"/>
          </a:p>
        </p:txBody>
      </p:sp>
      <p:sp>
        <p:nvSpPr>
          <p:cNvPr id="30726" name="Rectangle 3"/>
          <p:cNvSpPr>
            <a:spLocks noGrp="1"/>
          </p:cNvSpPr>
          <p:nvPr>
            <p:ph idx="1"/>
          </p:nvPr>
        </p:nvSpPr>
        <p:spPr/>
        <p:txBody>
          <a:bodyPr vert="horz" wrap="square" lIns="91440" tIns="45720" rIns="91440" bIns="45720" anchor="t" anchorCtr="0"/>
          <a:p>
            <a:pPr eaLnBrk="1" hangingPunct="1">
              <a:lnSpc>
                <a:spcPct val="90000"/>
              </a:lnSpc>
            </a:pPr>
            <a:r>
              <a:rPr lang="en-US" altLang="zh-CN" dirty="0"/>
              <a:t>There are 101 possible numeric grades (0%-100%) rounded to the nearest integer.</a:t>
            </a:r>
            <a:endParaRPr lang="en-US" altLang="zh-CN" dirty="0"/>
          </a:p>
          <a:p>
            <a:pPr lvl="1" eaLnBrk="1" hangingPunct="1">
              <a:lnSpc>
                <a:spcPct val="90000"/>
              </a:lnSpc>
            </a:pPr>
            <a:r>
              <a:rPr lang="en-US" altLang="zh-CN" dirty="0"/>
              <a:t>Also, there are &gt;101 students in this class.</a:t>
            </a:r>
            <a:endParaRPr lang="en-US" altLang="zh-CN" dirty="0"/>
          </a:p>
          <a:p>
            <a:pPr eaLnBrk="1" hangingPunct="1">
              <a:lnSpc>
                <a:spcPct val="90000"/>
              </a:lnSpc>
            </a:pPr>
            <a:r>
              <a:rPr lang="en-US" altLang="zh-CN" dirty="0"/>
              <a:t>Therefore, there must be at least one (rounded) grade that will be shared by at least 2 students at the end of the semester.</a:t>
            </a:r>
            <a:endParaRPr lang="en-US" altLang="zh-CN" dirty="0"/>
          </a:p>
          <a:p>
            <a:pPr lvl="1" eaLnBrk="1" hangingPunct="1">
              <a:lnSpc>
                <a:spcPct val="90000"/>
              </a:lnSpc>
            </a:pPr>
            <a:r>
              <a:rPr lang="en-US" altLang="zh-CN" dirty="0"/>
              <a:t>I.e., the function from students to rounded grades is </a:t>
            </a:r>
            <a:r>
              <a:rPr lang="en-US" altLang="zh-CN" i="1" dirty="0"/>
              <a:t>not</a:t>
            </a:r>
            <a:r>
              <a:rPr lang="en-US" altLang="zh-CN" dirty="0"/>
              <a:t> a one-to-one function.</a:t>
            </a:r>
            <a:endParaRPr lang="en-US" altLang="zh-C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31747"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31748"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31749" name="Rectangle 2"/>
          <p:cNvSpPr>
            <a:spLocks noGrp="1"/>
          </p:cNvSpPr>
          <p:nvPr>
            <p:ph type="title"/>
          </p:nvPr>
        </p:nvSpPr>
        <p:spPr/>
        <p:txBody>
          <a:bodyPr vert="horz" wrap="square" lIns="91440" tIns="45720" rIns="91440" bIns="45720" anchor="b" anchorCtr="0"/>
          <a:p>
            <a:pPr eaLnBrk="1" hangingPunct="1"/>
            <a:r>
              <a:rPr lang="en-US" altLang="zh-CN" sz="4000" dirty="0"/>
              <a:t>Fun Pigeonhole Proof </a:t>
            </a:r>
            <a:endParaRPr lang="en-US" altLang="zh-CN" sz="4000" dirty="0"/>
          </a:p>
        </p:txBody>
      </p:sp>
      <p:sp>
        <p:nvSpPr>
          <p:cNvPr id="31750" name="Rectangle 3"/>
          <p:cNvSpPr>
            <a:spLocks noGrp="1"/>
          </p:cNvSpPr>
          <p:nvPr>
            <p:ph idx="1"/>
          </p:nvPr>
        </p:nvSpPr>
        <p:spPr/>
        <p:txBody>
          <a:bodyPr vert="horz" wrap="square" lIns="91440" tIns="45720" rIns="91440" bIns="45720" anchor="t" anchorCtr="0"/>
          <a:p>
            <a:pPr eaLnBrk="1" hangingPunct="1">
              <a:lnSpc>
                <a:spcPct val="90000"/>
              </a:lnSpc>
            </a:pPr>
            <a:r>
              <a:rPr lang="en-US" altLang="zh-CN" b="1" dirty="0"/>
              <a:t>Theorem:</a:t>
            </a:r>
            <a:r>
              <a:rPr lang="en-US" altLang="zh-CN" dirty="0"/>
              <a:t> </a:t>
            </a:r>
            <a:r>
              <a:rPr lang="en-US" altLang="zh-CN" dirty="0">
                <a:sym typeface="Symbol" panose="05050102010706020507" pitchFamily="18" charset="2"/>
              </a:rPr>
              <a:t></a:t>
            </a:r>
            <a:r>
              <a:rPr lang="en-US" altLang="zh-CN" i="1" dirty="0">
                <a:sym typeface="Symbol" panose="05050102010706020507" pitchFamily="18" charset="2"/>
              </a:rPr>
              <a:t>n</a:t>
            </a:r>
            <a:r>
              <a:rPr lang="en-US" altLang="zh-CN" dirty="0">
                <a:sym typeface="Symbol" panose="05050102010706020507" pitchFamily="18" charset="2"/>
              </a:rPr>
              <a:t></a:t>
            </a:r>
            <a:r>
              <a:rPr lang="en-US" altLang="zh-CN" b="1" dirty="0">
                <a:sym typeface="Symbol" panose="05050102010706020507" pitchFamily="18" charset="2"/>
              </a:rPr>
              <a:t>N</a:t>
            </a:r>
            <a:r>
              <a:rPr lang="en-US" altLang="zh-CN" dirty="0">
                <a:sym typeface="Symbol" panose="05050102010706020507" pitchFamily="18" charset="2"/>
              </a:rPr>
              <a:t>,  a multiple </a:t>
            </a:r>
            <a:r>
              <a:rPr lang="en-US" altLang="zh-CN" i="1" dirty="0">
                <a:sym typeface="Symbol" panose="05050102010706020507" pitchFamily="18" charset="2"/>
              </a:rPr>
              <a:t>m</a:t>
            </a:r>
            <a:r>
              <a:rPr lang="en-US" altLang="zh-CN" dirty="0">
                <a:sym typeface="Symbol" panose="05050102010706020507" pitchFamily="18" charset="2"/>
              </a:rPr>
              <a:t>&gt;0 of </a:t>
            </a:r>
            <a:r>
              <a:rPr lang="en-US" altLang="zh-CN" i="1" dirty="0">
                <a:sym typeface="Symbol" panose="05050102010706020507" pitchFamily="18" charset="2"/>
              </a:rPr>
              <a:t>n, </a:t>
            </a:r>
            <a:r>
              <a:rPr lang="en-US" altLang="zh-CN" dirty="0">
                <a:sym typeface="Symbol" panose="05050102010706020507" pitchFamily="18" charset="2"/>
              </a:rPr>
              <a:t>  </a:t>
            </a:r>
            <a:br>
              <a:rPr lang="en-US" altLang="zh-CN" dirty="0">
                <a:sym typeface="Symbol" panose="05050102010706020507" pitchFamily="18" charset="2"/>
              </a:rPr>
            </a:br>
            <a:r>
              <a:rPr lang="en-US" altLang="zh-CN" i="1" dirty="0">
                <a:sym typeface="Symbol" panose="05050102010706020507" pitchFamily="18" charset="2"/>
              </a:rPr>
              <a:t>m</a:t>
            </a:r>
            <a:r>
              <a:rPr lang="en-US" altLang="zh-CN" dirty="0">
                <a:sym typeface="Symbol" panose="05050102010706020507" pitchFamily="18" charset="2"/>
              </a:rPr>
              <a:t> has only 0’s and 1’s in its decimal</a:t>
            </a:r>
            <a:br>
              <a:rPr lang="en-US" altLang="zh-CN" dirty="0">
                <a:sym typeface="Symbol" panose="05050102010706020507" pitchFamily="18" charset="2"/>
              </a:rPr>
            </a:br>
            <a:r>
              <a:rPr lang="en-US" altLang="zh-CN" dirty="0">
                <a:sym typeface="Symbol" panose="05050102010706020507" pitchFamily="18" charset="2"/>
              </a:rPr>
              <a:t>expansion!</a:t>
            </a:r>
            <a:endParaRPr lang="en-US" altLang="zh-CN" dirty="0">
              <a:sym typeface="Symbol" panose="05050102010706020507" pitchFamily="18" charset="2"/>
            </a:endParaRPr>
          </a:p>
          <a:p>
            <a:pPr eaLnBrk="1" hangingPunct="1">
              <a:lnSpc>
                <a:spcPct val="90000"/>
              </a:lnSpc>
            </a:pPr>
            <a:r>
              <a:rPr lang="en-US" altLang="zh-CN" b="1" dirty="0">
                <a:sym typeface="Symbol" panose="05050102010706020507" pitchFamily="18" charset="2"/>
              </a:rPr>
              <a:t>Proof:</a:t>
            </a:r>
            <a:r>
              <a:rPr lang="en-US" altLang="zh-CN" dirty="0">
                <a:sym typeface="Symbol" panose="05050102010706020507" pitchFamily="18" charset="2"/>
              </a:rPr>
              <a:t> Consider the </a:t>
            </a:r>
            <a:r>
              <a:rPr lang="en-US" altLang="zh-CN" i="1" dirty="0">
                <a:sym typeface="Symbol" panose="05050102010706020507" pitchFamily="18" charset="2"/>
              </a:rPr>
              <a:t>n</a:t>
            </a:r>
            <a:r>
              <a:rPr lang="en-US" altLang="zh-CN" dirty="0">
                <a:sym typeface="Symbol" panose="05050102010706020507" pitchFamily="18" charset="2"/>
              </a:rPr>
              <a:t>+1 decimal integers 1, 11, 111, …, 1</a:t>
            </a:r>
            <a:r>
              <a:rPr lang="en-US" altLang="zh-CN" dirty="0">
                <a:sym typeface="MT Extra" panose="05050102010205020202" pitchFamily="18" charset="2"/>
              </a:rPr>
              <a:t>1.  They have only </a:t>
            </a:r>
            <a:r>
              <a:rPr lang="en-US" altLang="zh-CN" i="1" dirty="0">
                <a:sym typeface="MT Extra" panose="05050102010205020202" pitchFamily="18" charset="2"/>
              </a:rPr>
              <a:t>n</a:t>
            </a:r>
            <a:r>
              <a:rPr lang="en-US" altLang="zh-CN" dirty="0">
                <a:sym typeface="MT Extra" panose="05050102010205020202" pitchFamily="18" charset="2"/>
              </a:rPr>
              <a:t> possible</a:t>
            </a:r>
            <a:endParaRPr lang="en-US" altLang="zh-CN" dirty="0">
              <a:sym typeface="MT Extra" panose="05050102010205020202" pitchFamily="18" charset="2"/>
            </a:endParaRPr>
          </a:p>
          <a:p>
            <a:pPr marL="0" indent="0" eaLnBrk="1" hangingPunct="1">
              <a:lnSpc>
                <a:spcPct val="90000"/>
              </a:lnSpc>
              <a:buNone/>
            </a:pPr>
            <a:r>
              <a:rPr lang="en-US" altLang="zh-CN" dirty="0">
                <a:sym typeface="MT Extra" panose="05050102010205020202" pitchFamily="18" charset="2"/>
              </a:rPr>
              <a:t>                           </a:t>
            </a:r>
            <a:endParaRPr lang="en-US" altLang="zh-CN" dirty="0">
              <a:sym typeface="MT Extra" panose="05050102010205020202" pitchFamily="18" charset="2"/>
            </a:endParaRPr>
          </a:p>
          <a:p>
            <a:pPr marL="0" indent="0" eaLnBrk="1" hangingPunct="1">
              <a:lnSpc>
                <a:spcPct val="90000"/>
              </a:lnSpc>
              <a:buNone/>
            </a:pPr>
            <a:r>
              <a:rPr lang="en-US" altLang="zh-CN" dirty="0">
                <a:sym typeface="MT Extra" panose="05050102010205020202" pitchFamily="18" charset="2"/>
              </a:rPr>
              <a:t>    residues mod </a:t>
            </a:r>
            <a:r>
              <a:rPr lang="en-US" altLang="zh-CN" i="1" dirty="0">
                <a:sym typeface="MT Extra" panose="05050102010205020202" pitchFamily="18" charset="2"/>
              </a:rPr>
              <a:t>n</a:t>
            </a:r>
            <a:r>
              <a:rPr lang="en-US" altLang="zh-CN" dirty="0">
                <a:sym typeface="MT Extra" panose="05050102010205020202" pitchFamily="18" charset="2"/>
              </a:rPr>
              <a:t>.</a:t>
            </a:r>
            <a:br>
              <a:rPr lang="en-US" altLang="zh-CN" dirty="0">
                <a:sym typeface="MT Extra" panose="05050102010205020202" pitchFamily="18" charset="2"/>
              </a:rPr>
            </a:br>
            <a:r>
              <a:rPr lang="en-US" altLang="zh-CN" dirty="0">
                <a:sym typeface="MT Extra" panose="05050102010205020202" pitchFamily="18" charset="2"/>
              </a:rPr>
              <a:t>So, take the difference of two that have the same residue.  The result is the answer!  </a:t>
            </a:r>
            <a:endParaRPr lang="en-US" altLang="zh-CN" b="1" dirty="0">
              <a:sym typeface="MT Extra" panose="05050102010205020202" pitchFamily="18" charset="2"/>
            </a:endParaRPr>
          </a:p>
        </p:txBody>
      </p:sp>
      <p:grpSp>
        <p:nvGrpSpPr>
          <p:cNvPr id="2" name="组合 1"/>
          <p:cNvGrpSpPr/>
          <p:nvPr/>
        </p:nvGrpSpPr>
        <p:grpSpPr>
          <a:xfrm>
            <a:off x="2648585" y="3737610"/>
            <a:ext cx="838200" cy="565150"/>
            <a:chOff x="5640" y="6790"/>
            <a:chExt cx="1320" cy="890"/>
          </a:xfrm>
        </p:grpSpPr>
        <p:sp>
          <p:nvSpPr>
            <p:cNvPr id="31751" name="AutoShape 4"/>
            <p:cNvSpPr/>
            <p:nvPr/>
          </p:nvSpPr>
          <p:spPr>
            <a:xfrm rot="-5400000">
              <a:off x="6120" y="6310"/>
              <a:ext cx="360" cy="1320"/>
            </a:xfrm>
            <a:prstGeom prst="leftBrace">
              <a:avLst>
                <a:gd name="adj1" fmla="val 30555"/>
                <a:gd name="adj2" fmla="val 50000"/>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mn-ea"/>
                </a:defRPr>
              </a:lvl5pPr>
            </a:lstStyle>
            <a:p>
              <a:pPr marL="0" lvl="0" indent="0">
                <a:spcBef>
                  <a:spcPct val="0"/>
                </a:spcBef>
                <a:buClrTx/>
                <a:buSzTx/>
                <a:buFontTx/>
                <a:buNone/>
              </a:pPr>
              <a:endParaRPr lang="zh-CN" altLang="en-US" sz="2400" dirty="0"/>
            </a:p>
          </p:txBody>
        </p:sp>
        <p:sp>
          <p:nvSpPr>
            <p:cNvPr id="31752" name="Text Box 5"/>
            <p:cNvSpPr txBox="1"/>
            <p:nvPr/>
          </p:nvSpPr>
          <p:spPr>
            <a:xfrm>
              <a:off x="5790" y="6960"/>
              <a:ext cx="1040" cy="72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mn-ea"/>
                </a:defRPr>
              </a:lvl5pPr>
            </a:lstStyle>
            <a:p>
              <a:pPr marL="0" lvl="0" indent="0">
                <a:spcBef>
                  <a:spcPct val="0"/>
                </a:spcBef>
                <a:buClrTx/>
                <a:buSzTx/>
                <a:buFontTx/>
                <a:buNone/>
              </a:pPr>
              <a:r>
                <a:rPr lang="en-US" altLang="zh-CN" sz="2400" i="1" dirty="0"/>
                <a:t>n</a:t>
              </a:r>
              <a:r>
                <a:rPr lang="en-US" altLang="zh-CN" sz="2400" dirty="0"/>
                <a:t>+1</a:t>
              </a:r>
              <a:endParaRPr lang="en-US" altLang="zh-CN" sz="2400" i="1" dirty="0"/>
            </a:p>
          </p:txBody>
        </p:sp>
      </p:grpSp>
      <p:sp>
        <p:nvSpPr>
          <p:cNvPr id="29704" name="矩形 2"/>
          <p:cNvSpPr/>
          <p:nvPr/>
        </p:nvSpPr>
        <p:spPr>
          <a:xfrm>
            <a:off x="5868035" y="5938838"/>
            <a:ext cx="3003550" cy="461962"/>
          </a:xfrm>
          <a:prstGeom prst="rect">
            <a:avLst/>
          </a:prstGeom>
          <a:solidFill>
            <a:schemeClr val="accent2"/>
          </a:solid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400">
                <a:solidFill>
                  <a:schemeClr val="tx1"/>
                </a:solidFill>
                <a:latin typeface="Tahoma" panose="020B0604030504040204" pitchFamily="34" charset="0"/>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000">
                <a:solidFill>
                  <a:schemeClr val="tx1"/>
                </a:solidFill>
                <a:latin typeface="Tahoma" panose="020B0604030504040204" pitchFamily="34" charset="0"/>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Tahoma" panose="020B0604030504040204" pitchFamily="34" charset="0"/>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ea typeface="+mn-ea"/>
              </a:defRPr>
            </a:lvl5pPr>
          </a:lstStyle>
          <a:p>
            <a:pPr marL="0" lvl="0" indent="0">
              <a:spcBef>
                <a:spcPct val="0"/>
              </a:spcBef>
              <a:buClrTx/>
              <a:buSzTx/>
              <a:buFontTx/>
              <a:buNone/>
            </a:pPr>
            <a:r>
              <a:rPr lang="en-US" altLang="zh-CN" sz="2400" i="1" dirty="0"/>
              <a:t>a</a:t>
            </a:r>
            <a:r>
              <a:rPr lang="en-US" altLang="zh-CN" sz="2400" dirty="0">
                <a:sym typeface="Symbol" panose="05050102010706020507" pitchFamily="18" charset="2"/>
              </a:rPr>
              <a:t></a:t>
            </a:r>
            <a:r>
              <a:rPr lang="en-US" altLang="zh-CN" sz="2400" i="1" dirty="0">
                <a:sym typeface="Symbol" panose="05050102010706020507" pitchFamily="18" charset="2"/>
              </a:rPr>
              <a:t>b</a:t>
            </a:r>
            <a:r>
              <a:rPr lang="en-US" altLang="zh-CN" sz="2400" dirty="0">
                <a:sym typeface="Symbol" panose="05050102010706020507" pitchFamily="18" charset="2"/>
              </a:rPr>
              <a:t> (mod </a:t>
            </a:r>
            <a:r>
              <a:rPr lang="en-US" altLang="zh-CN" sz="2400" i="1" dirty="0">
                <a:sym typeface="Symbol" panose="05050102010706020507" pitchFamily="18" charset="2"/>
              </a:rPr>
              <a:t>n</a:t>
            </a:r>
            <a:r>
              <a:rPr lang="en-US" altLang="zh-CN" sz="2400" dirty="0">
                <a:sym typeface="Symbol" panose="05050102010706020507" pitchFamily="18" charset="2"/>
              </a:rPr>
              <a:t>) </a:t>
            </a:r>
            <a:r>
              <a:rPr lang="en-US" altLang="zh-CN" sz="2400" dirty="0"/>
              <a:t>iff  </a:t>
            </a:r>
            <a:r>
              <a:rPr lang="en-US" altLang="zh-CN" sz="2400" i="1" dirty="0"/>
              <a:t>n</a:t>
            </a:r>
            <a:r>
              <a:rPr lang="en-US" altLang="zh-CN" sz="2400" dirty="0"/>
              <a:t>|</a:t>
            </a:r>
            <a:r>
              <a:rPr lang="en-US" altLang="zh-CN" sz="2400" i="1" dirty="0"/>
              <a:t>a</a:t>
            </a:r>
            <a:r>
              <a:rPr lang="en-US" altLang="zh-CN" sz="2400" dirty="0">
                <a:sym typeface="Symbol" panose="05050102010706020507" pitchFamily="18" charset="2"/>
              </a:rPr>
              <a:t></a:t>
            </a:r>
            <a:r>
              <a:rPr lang="en-US" altLang="zh-CN" sz="2400" i="1" dirty="0">
                <a:sym typeface="Symbol" panose="05050102010706020507" pitchFamily="18" charset="2"/>
              </a:rPr>
              <a:t>b </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7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4" grpId="0" animBg="1"/>
      <p:bldP spid="29704"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32771"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32772"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32773" name="Rectangle 2"/>
          <p:cNvSpPr>
            <a:spLocks noGrp="1"/>
          </p:cNvSpPr>
          <p:nvPr>
            <p:ph type="title"/>
          </p:nvPr>
        </p:nvSpPr>
        <p:spPr/>
        <p:txBody>
          <a:bodyPr vert="horz" wrap="square" lIns="91440" tIns="45720" rIns="91440" bIns="45720" anchor="b" anchorCtr="0"/>
          <a:p>
            <a:pPr eaLnBrk="1" hangingPunct="1"/>
            <a:r>
              <a:rPr lang="en-US" altLang="zh-CN" dirty="0"/>
              <a:t>A Specific Case</a:t>
            </a:r>
            <a:endParaRPr lang="en-US" altLang="zh-CN" dirty="0"/>
          </a:p>
        </p:txBody>
      </p:sp>
      <p:sp>
        <p:nvSpPr>
          <p:cNvPr id="32774" name="Rectangle 3"/>
          <p:cNvSpPr>
            <a:spLocks noGrp="1"/>
          </p:cNvSpPr>
          <p:nvPr>
            <p:ph idx="1"/>
          </p:nvPr>
        </p:nvSpPr>
        <p:spPr/>
        <p:txBody>
          <a:bodyPr vert="horz" wrap="square" lIns="91440" tIns="45720" rIns="91440" bIns="45720" anchor="t" anchorCtr="0"/>
          <a:p>
            <a:pPr eaLnBrk="1" hangingPunct="1">
              <a:lnSpc>
                <a:spcPct val="90000"/>
              </a:lnSpc>
            </a:pPr>
            <a:r>
              <a:rPr lang="en-US" altLang="zh-CN" dirty="0"/>
              <a:t>Let </a:t>
            </a:r>
            <a:r>
              <a:rPr lang="en-US" altLang="zh-CN" i="1" dirty="0"/>
              <a:t>n</a:t>
            </a:r>
            <a:r>
              <a:rPr lang="en-US" altLang="zh-CN" dirty="0"/>
              <a:t>=3.  Consider 1, 11, 111, 1111.</a:t>
            </a:r>
            <a:endParaRPr lang="en-US" altLang="zh-CN" dirty="0"/>
          </a:p>
          <a:p>
            <a:pPr lvl="1" eaLnBrk="1" hangingPunct="1">
              <a:lnSpc>
                <a:spcPct val="90000"/>
              </a:lnSpc>
            </a:pPr>
            <a:r>
              <a:rPr lang="en-US" altLang="zh-CN" dirty="0"/>
              <a:t>1 mod 3 = 1</a:t>
            </a:r>
            <a:endParaRPr lang="en-US" altLang="zh-CN" dirty="0"/>
          </a:p>
          <a:p>
            <a:pPr lvl="1" eaLnBrk="1" hangingPunct="1">
              <a:lnSpc>
                <a:spcPct val="90000"/>
              </a:lnSpc>
            </a:pPr>
            <a:r>
              <a:rPr lang="en-US" altLang="zh-CN" dirty="0"/>
              <a:t>11 mod 3 = 2</a:t>
            </a:r>
            <a:endParaRPr lang="en-US" altLang="zh-CN" dirty="0"/>
          </a:p>
          <a:p>
            <a:pPr lvl="1" eaLnBrk="1" hangingPunct="1">
              <a:lnSpc>
                <a:spcPct val="90000"/>
              </a:lnSpc>
            </a:pPr>
            <a:r>
              <a:rPr lang="en-US" altLang="zh-CN" dirty="0"/>
              <a:t>111 mod 3 = 0  </a:t>
            </a:r>
            <a:r>
              <a:rPr lang="en-US" altLang="zh-CN" sz="1800" dirty="0">
                <a:sym typeface="Wingdings" panose="05000000000000000000" pitchFamily="2" charset="2"/>
              </a:rPr>
              <a:t> Lucky extra solution.</a:t>
            </a:r>
            <a:endParaRPr lang="en-US" altLang="zh-CN" sz="1800" dirty="0"/>
          </a:p>
          <a:p>
            <a:pPr lvl="1" eaLnBrk="1" hangingPunct="1">
              <a:lnSpc>
                <a:spcPct val="90000"/>
              </a:lnSpc>
            </a:pPr>
            <a:r>
              <a:rPr lang="en-US" altLang="zh-CN" dirty="0"/>
              <a:t>1,111 mod 3 = 1</a:t>
            </a:r>
            <a:endParaRPr lang="en-US" altLang="zh-CN" dirty="0"/>
          </a:p>
          <a:p>
            <a:pPr eaLnBrk="1" hangingPunct="1">
              <a:lnSpc>
                <a:spcPct val="90000"/>
              </a:lnSpc>
            </a:pPr>
            <a:r>
              <a:rPr lang="en-US" altLang="zh-CN" dirty="0"/>
              <a:t>1,111 − 1 = 1,110 = 3·370.</a:t>
            </a:r>
            <a:endParaRPr lang="en-US" altLang="zh-CN" dirty="0"/>
          </a:p>
          <a:p>
            <a:pPr lvl="1" eaLnBrk="1" hangingPunct="1">
              <a:lnSpc>
                <a:spcPct val="90000"/>
              </a:lnSpc>
            </a:pPr>
            <a:r>
              <a:rPr lang="en-US" altLang="zh-CN" dirty="0"/>
              <a:t>It has only 0</a:t>
            </a:r>
            <a:r>
              <a:rPr lang="en-US" altLang="zh-CN" dirty="0">
                <a:latin typeface="Times New Roman" panose="02020503050405090304" pitchFamily="18" charset="0"/>
              </a:rPr>
              <a:t>’</a:t>
            </a:r>
            <a:r>
              <a:rPr lang="en-US" altLang="zh-CN" dirty="0"/>
              <a:t>s and 1</a:t>
            </a:r>
            <a:r>
              <a:rPr lang="en-US" altLang="zh-CN" dirty="0">
                <a:latin typeface="Times New Roman" panose="02020503050405090304" pitchFamily="18" charset="0"/>
              </a:rPr>
              <a:t>’</a:t>
            </a:r>
            <a:r>
              <a:rPr lang="en-US" altLang="zh-CN" dirty="0"/>
              <a:t>s in its expansion.</a:t>
            </a:r>
            <a:endParaRPr lang="en-US" altLang="zh-CN" dirty="0"/>
          </a:p>
          <a:p>
            <a:pPr lvl="1" eaLnBrk="1" hangingPunct="1">
              <a:lnSpc>
                <a:spcPct val="90000"/>
              </a:lnSpc>
            </a:pPr>
            <a:r>
              <a:rPr lang="en-US" altLang="zh-CN" dirty="0"/>
              <a:t>Its residue mod 3 = 0, so it</a:t>
            </a:r>
            <a:r>
              <a:rPr lang="en-US" altLang="zh-CN" dirty="0">
                <a:latin typeface="Times New Roman" panose="02020503050405090304" pitchFamily="18" charset="0"/>
              </a:rPr>
              <a:t>’</a:t>
            </a:r>
            <a:r>
              <a:rPr lang="en-US" altLang="zh-CN" dirty="0"/>
              <a:t>s a multiple of 3.</a:t>
            </a:r>
            <a:endParaRPr lang="en-US" altLang="zh-CN" dirty="0"/>
          </a:p>
        </p:txBody>
      </p:sp>
      <p:sp>
        <p:nvSpPr>
          <p:cNvPr id="32775" name="Line 4"/>
          <p:cNvSpPr/>
          <p:nvPr/>
        </p:nvSpPr>
        <p:spPr>
          <a:xfrm flipH="1">
            <a:off x="3962400" y="2971800"/>
            <a:ext cx="1143000" cy="1143000"/>
          </a:xfrm>
          <a:prstGeom prst="line">
            <a:avLst/>
          </a:prstGeom>
          <a:ln w="57150" cap="flat" cmpd="sng">
            <a:solidFill>
              <a:srgbClr val="FF0000"/>
            </a:solidFill>
            <a:prstDash val="solid"/>
            <a:headEnd type="none" w="med" len="med"/>
            <a:tailEnd type="triangle" w="med" len="med"/>
          </a:ln>
        </p:spPr>
      </p:sp>
      <p:sp>
        <p:nvSpPr>
          <p:cNvPr id="32776" name="Line 5"/>
          <p:cNvSpPr/>
          <p:nvPr/>
        </p:nvSpPr>
        <p:spPr>
          <a:xfrm flipH="1" flipV="1">
            <a:off x="3352800" y="2819400"/>
            <a:ext cx="1752600" cy="152400"/>
          </a:xfrm>
          <a:prstGeom prst="line">
            <a:avLst/>
          </a:prstGeom>
          <a:ln w="57150" cap="flat" cmpd="sng">
            <a:solidFill>
              <a:srgbClr val="FF0000"/>
            </a:solidFill>
            <a:prstDash val="solid"/>
            <a:headEnd type="none" w="med" len="med"/>
            <a:tailEnd type="triangle" w="med" len="med"/>
          </a:ln>
        </p:spPr>
      </p:sp>
      <p:sp>
        <p:nvSpPr>
          <p:cNvPr id="32777" name="Text Box 6"/>
          <p:cNvSpPr txBox="1"/>
          <p:nvPr/>
        </p:nvSpPr>
        <p:spPr>
          <a:xfrm>
            <a:off x="5089525" y="2708275"/>
            <a:ext cx="250983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mn-ea"/>
              </a:defRPr>
            </a:lvl5pPr>
          </a:lstStyle>
          <a:p>
            <a:pPr marL="0" lvl="0" indent="0">
              <a:spcBef>
                <a:spcPct val="0"/>
              </a:spcBef>
              <a:buClrTx/>
              <a:buSzTx/>
              <a:buFontTx/>
              <a:buNone/>
            </a:pPr>
            <a:r>
              <a:rPr lang="en-US" altLang="zh-CN" sz="2400" dirty="0"/>
              <a:t>Note same residue.</a:t>
            </a:r>
            <a:endParaRPr lang="en-US" altLang="zh-CN"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33795"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33796"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33797" name="Rectangle 2"/>
          <p:cNvSpPr>
            <a:spLocks noGrp="1"/>
          </p:cNvSpPr>
          <p:nvPr>
            <p:ph type="title"/>
          </p:nvPr>
        </p:nvSpPr>
        <p:spPr/>
        <p:txBody>
          <a:bodyPr vert="horz" wrap="square" lIns="91440" tIns="45720" rIns="91440" bIns="45720" anchor="b" anchorCtr="0"/>
          <a:p>
            <a:pPr eaLnBrk="1" hangingPunct="1"/>
            <a:r>
              <a:rPr lang="en-US" altLang="zh-CN" dirty="0"/>
              <a:t>Another Fun Example</a:t>
            </a:r>
            <a:endParaRPr lang="en-US" altLang="zh-CN" dirty="0"/>
          </a:p>
        </p:txBody>
      </p:sp>
      <p:sp>
        <p:nvSpPr>
          <p:cNvPr id="33798" name="Rectangle 3"/>
          <p:cNvSpPr>
            <a:spLocks noGrp="1"/>
          </p:cNvSpPr>
          <p:nvPr>
            <p:ph idx="1"/>
          </p:nvPr>
        </p:nvSpPr>
        <p:spPr>
          <a:xfrm>
            <a:off x="297815" y="1341120"/>
            <a:ext cx="8852535" cy="4648200"/>
          </a:xfrm>
        </p:spPr>
        <p:txBody>
          <a:bodyPr vert="horz" wrap="square" lIns="91440" tIns="45720" rIns="91440" bIns="45720" anchor="t" anchorCtr="0"/>
          <a:p>
            <a:pPr eaLnBrk="1" hangingPunct="1">
              <a:lnSpc>
                <a:spcPct val="90000"/>
              </a:lnSpc>
            </a:pPr>
            <a:r>
              <a:rPr lang="en-US" altLang="zh-CN" sz="2800" dirty="0"/>
              <a:t>Suppose that next June, the Marlins baseball team plays at least 1 game a day, but ≤45 games total.  Show there must be some sequence of consecutive days in June during which they play </a:t>
            </a:r>
            <a:r>
              <a:rPr lang="en-US" altLang="zh-CN" sz="2800" i="1" dirty="0"/>
              <a:t>exactly</a:t>
            </a:r>
            <a:r>
              <a:rPr lang="en-US" altLang="zh-CN" sz="2800" dirty="0"/>
              <a:t> 14 games.</a:t>
            </a:r>
            <a:endParaRPr lang="en-US" altLang="zh-CN" sz="2800" dirty="0"/>
          </a:p>
          <a:p>
            <a:pPr lvl="1" eaLnBrk="1" hangingPunct="1">
              <a:lnSpc>
                <a:spcPct val="90000"/>
              </a:lnSpc>
            </a:pPr>
            <a:r>
              <a:rPr lang="en-US" altLang="zh-CN" sz="2400" b="1" dirty="0"/>
              <a:t>Proof:</a:t>
            </a:r>
            <a:r>
              <a:rPr lang="en-US" altLang="zh-CN" sz="2400" dirty="0"/>
              <a:t>  Let </a:t>
            </a:r>
            <a:r>
              <a:rPr lang="en-US" altLang="zh-CN" sz="2400" i="1" dirty="0"/>
              <a:t>a</a:t>
            </a:r>
            <a:r>
              <a:rPr lang="en-US" altLang="zh-CN" sz="2400" i="1" baseline="-25000" dirty="0"/>
              <a:t>j</a:t>
            </a:r>
            <a:r>
              <a:rPr lang="en-US" altLang="zh-CN" sz="2400" dirty="0"/>
              <a:t> be the number of games played on or before day </a:t>
            </a:r>
            <a:r>
              <a:rPr lang="en-US" altLang="zh-CN" sz="2400" i="1" dirty="0"/>
              <a:t>j</a:t>
            </a:r>
            <a:r>
              <a:rPr lang="en-US" altLang="zh-CN" sz="2400" dirty="0"/>
              <a:t>.  </a:t>
            </a:r>
            <a:endParaRPr lang="en-US" altLang="zh-CN" sz="2400" dirty="0"/>
          </a:p>
          <a:p>
            <a:pPr lvl="1" eaLnBrk="1" hangingPunct="1">
              <a:lnSpc>
                <a:spcPct val="90000"/>
              </a:lnSpc>
            </a:pPr>
            <a:r>
              <a:rPr lang="en-US" altLang="zh-CN" sz="2400" dirty="0"/>
              <a:t>Then, </a:t>
            </a:r>
            <a:r>
              <a:rPr lang="en-US" altLang="zh-CN" sz="2400" i="1" dirty="0"/>
              <a:t>a</a:t>
            </a:r>
            <a:r>
              <a:rPr lang="en-US" altLang="zh-CN" sz="2400" baseline="-25000" dirty="0"/>
              <a:t>1</a:t>
            </a:r>
            <a:r>
              <a:rPr lang="en-US" altLang="zh-CN" sz="2400" dirty="0"/>
              <a:t>,</a:t>
            </a:r>
            <a:r>
              <a:rPr lang="en-US" altLang="zh-CN" sz="2400" dirty="0">
                <a:latin typeface="Times New Roman" panose="02020503050405090304" pitchFamily="18" charset="0"/>
              </a:rPr>
              <a:t>…</a:t>
            </a:r>
            <a:r>
              <a:rPr lang="en-US" altLang="zh-CN" sz="2400" dirty="0"/>
              <a:t>,</a:t>
            </a:r>
            <a:r>
              <a:rPr lang="en-US" altLang="zh-CN" sz="2400" i="1" dirty="0"/>
              <a:t>a</a:t>
            </a:r>
            <a:r>
              <a:rPr lang="en-US" altLang="zh-CN" sz="2400" baseline="-25000" dirty="0"/>
              <a:t>30</a:t>
            </a:r>
            <a:r>
              <a:rPr lang="en-US" altLang="zh-CN" sz="2400" dirty="0"/>
              <a:t> </a:t>
            </a:r>
            <a:r>
              <a:rPr lang="en-US" altLang="zh-CN" sz="2400" dirty="0">
                <a:sym typeface="Symbol" panose="05050102010706020507" pitchFamily="18" charset="2"/>
              </a:rPr>
              <a:t> </a:t>
            </a:r>
            <a:r>
              <a:rPr lang="en-US" altLang="zh-CN" sz="2400" b="1" dirty="0">
                <a:sym typeface="Symbol" panose="05050102010706020507" pitchFamily="18" charset="2"/>
              </a:rPr>
              <a:t>Z</a:t>
            </a:r>
            <a:r>
              <a:rPr lang="en-US" altLang="zh-CN" sz="2400" baseline="30000" dirty="0">
                <a:sym typeface="Symbol" panose="05050102010706020507" pitchFamily="18" charset="2"/>
              </a:rPr>
              <a:t>+</a:t>
            </a:r>
            <a:r>
              <a:rPr lang="en-US" altLang="zh-CN" sz="2400" dirty="0"/>
              <a:t> is a sequence of 30 distinct integers with 1 ≤ </a:t>
            </a:r>
            <a:r>
              <a:rPr lang="en-US" altLang="zh-CN" sz="2400" i="1" dirty="0"/>
              <a:t>a</a:t>
            </a:r>
            <a:r>
              <a:rPr lang="en-US" altLang="zh-CN" sz="2400" i="1" baseline="-25000" dirty="0"/>
              <a:t>j</a:t>
            </a:r>
            <a:r>
              <a:rPr lang="en-US" altLang="zh-CN" sz="2400" dirty="0"/>
              <a:t> ≤ 45. </a:t>
            </a:r>
            <a:endParaRPr lang="en-US" altLang="zh-CN" sz="2400" dirty="0"/>
          </a:p>
          <a:p>
            <a:pPr lvl="1" eaLnBrk="1" hangingPunct="1">
              <a:lnSpc>
                <a:spcPct val="90000"/>
              </a:lnSpc>
            </a:pPr>
            <a:r>
              <a:rPr lang="en-US" altLang="zh-CN" sz="2400" dirty="0"/>
              <a:t> Therefore </a:t>
            </a:r>
            <a:r>
              <a:rPr lang="en-US" altLang="zh-CN" sz="2400" i="1" dirty="0"/>
              <a:t>a</a:t>
            </a:r>
            <a:r>
              <a:rPr lang="en-US" altLang="zh-CN" sz="2400" baseline="-25000" dirty="0"/>
              <a:t>1</a:t>
            </a:r>
            <a:r>
              <a:rPr lang="en-US" altLang="zh-CN" sz="2400" dirty="0"/>
              <a:t>+14,</a:t>
            </a:r>
            <a:r>
              <a:rPr lang="en-US" altLang="zh-CN" sz="2400" dirty="0">
                <a:latin typeface="Times New Roman" panose="02020503050405090304" pitchFamily="18" charset="0"/>
              </a:rPr>
              <a:t>…</a:t>
            </a:r>
            <a:r>
              <a:rPr lang="en-US" altLang="zh-CN" sz="2400" dirty="0"/>
              <a:t>,</a:t>
            </a:r>
            <a:r>
              <a:rPr lang="en-US" altLang="zh-CN" sz="2400" i="1" dirty="0"/>
              <a:t>a</a:t>
            </a:r>
            <a:r>
              <a:rPr lang="en-US" altLang="zh-CN" sz="2400" baseline="-25000" dirty="0"/>
              <a:t>30</a:t>
            </a:r>
            <a:r>
              <a:rPr lang="en-US" altLang="zh-CN" sz="2400" dirty="0"/>
              <a:t>+14 is a sequence of 30 distinct integers with 15 ≤ </a:t>
            </a:r>
            <a:r>
              <a:rPr lang="en-US" altLang="zh-CN" sz="2400" i="1" dirty="0"/>
              <a:t>a</a:t>
            </a:r>
            <a:r>
              <a:rPr lang="en-US" altLang="zh-CN" sz="2400" i="1" baseline="-25000" dirty="0"/>
              <a:t>j</a:t>
            </a:r>
            <a:r>
              <a:rPr lang="en-US" altLang="zh-CN" sz="2400" dirty="0"/>
              <a:t>+14 ≤ 59.  </a:t>
            </a:r>
            <a:endParaRPr lang="en-US" altLang="zh-CN" sz="2400" dirty="0"/>
          </a:p>
          <a:p>
            <a:pPr lvl="1" eaLnBrk="1" hangingPunct="1">
              <a:lnSpc>
                <a:spcPct val="90000"/>
              </a:lnSpc>
            </a:pPr>
            <a:r>
              <a:rPr lang="en-US" altLang="zh-CN" sz="2400" dirty="0"/>
              <a:t>Thus, (</a:t>
            </a:r>
            <a:r>
              <a:rPr lang="en-US" altLang="zh-CN" sz="2400" i="1" dirty="0"/>
              <a:t>a</a:t>
            </a:r>
            <a:r>
              <a:rPr lang="en-US" altLang="zh-CN" sz="2400" baseline="-25000" dirty="0"/>
              <a:t>1</a:t>
            </a:r>
            <a:r>
              <a:rPr lang="en-US" altLang="zh-CN" sz="2400" dirty="0"/>
              <a:t>,</a:t>
            </a:r>
            <a:r>
              <a:rPr lang="en-US" altLang="zh-CN" sz="2400" dirty="0">
                <a:latin typeface="Times New Roman" panose="02020503050405090304" pitchFamily="18" charset="0"/>
              </a:rPr>
              <a:t>…</a:t>
            </a:r>
            <a:r>
              <a:rPr lang="en-US" altLang="zh-CN" sz="2400" dirty="0"/>
              <a:t>,</a:t>
            </a:r>
            <a:r>
              <a:rPr lang="en-US" altLang="zh-CN" sz="2400" i="1" dirty="0"/>
              <a:t>a</a:t>
            </a:r>
            <a:r>
              <a:rPr lang="en-US" altLang="zh-CN" sz="2400" baseline="-25000" dirty="0"/>
              <a:t>30</a:t>
            </a:r>
            <a:r>
              <a:rPr lang="en-US" altLang="zh-CN" sz="2400" dirty="0"/>
              <a:t>,</a:t>
            </a:r>
            <a:r>
              <a:rPr lang="en-US" altLang="zh-CN" sz="2400" i="1" dirty="0"/>
              <a:t>a</a:t>
            </a:r>
            <a:r>
              <a:rPr lang="en-US" altLang="zh-CN" sz="2400" baseline="-25000" dirty="0"/>
              <a:t>1</a:t>
            </a:r>
            <a:r>
              <a:rPr lang="en-US" altLang="zh-CN" sz="2400" dirty="0"/>
              <a:t>+14,</a:t>
            </a:r>
            <a:r>
              <a:rPr lang="en-US" altLang="zh-CN" sz="2400" dirty="0">
                <a:latin typeface="Times New Roman" panose="02020503050405090304" pitchFamily="18" charset="0"/>
              </a:rPr>
              <a:t>…</a:t>
            </a:r>
            <a:r>
              <a:rPr lang="en-US" altLang="zh-CN" sz="2400" dirty="0"/>
              <a:t>,</a:t>
            </a:r>
            <a:r>
              <a:rPr lang="en-US" altLang="zh-CN" sz="2400" i="1" dirty="0"/>
              <a:t>a</a:t>
            </a:r>
            <a:r>
              <a:rPr lang="en-US" altLang="zh-CN" sz="2400" baseline="-25000" dirty="0"/>
              <a:t>30</a:t>
            </a:r>
            <a:r>
              <a:rPr lang="en-US" altLang="zh-CN" sz="2400" dirty="0"/>
              <a:t>+14) is a sequence of 60 integers from the set {1,..,59}.  By the Pigeonhole Principle, two of them must be equal, but </a:t>
            </a:r>
            <a:r>
              <a:rPr lang="en-US" altLang="zh-CN" sz="2400" i="1" dirty="0"/>
              <a:t>a</a:t>
            </a:r>
            <a:r>
              <a:rPr lang="en-US" altLang="zh-CN" sz="2400" i="1" baseline="-25000" dirty="0"/>
              <a:t>i</a:t>
            </a:r>
            <a:r>
              <a:rPr lang="en-US" altLang="zh-CN" sz="2400" i="1" dirty="0"/>
              <a:t>≠a</a:t>
            </a:r>
            <a:r>
              <a:rPr lang="en-US" altLang="zh-CN" sz="2400" i="1" baseline="-25000" dirty="0"/>
              <a:t>j</a:t>
            </a:r>
            <a:r>
              <a:rPr lang="en-US" altLang="zh-CN" sz="2400" dirty="0"/>
              <a:t> for </a:t>
            </a:r>
            <a:r>
              <a:rPr lang="en-US" altLang="zh-CN" sz="2400" i="1" dirty="0"/>
              <a:t>i</a:t>
            </a:r>
            <a:r>
              <a:rPr lang="en-US" altLang="zh-CN" sz="2400" dirty="0"/>
              <a:t>≠</a:t>
            </a:r>
            <a:r>
              <a:rPr lang="en-US" altLang="zh-CN" sz="2400" i="1" dirty="0"/>
              <a:t>j</a:t>
            </a:r>
            <a:r>
              <a:rPr lang="en-US" altLang="zh-CN" sz="2400" dirty="0"/>
              <a:t>.  So, </a:t>
            </a:r>
            <a:r>
              <a:rPr lang="en-US" altLang="zh-CN" sz="2400" dirty="0">
                <a:sym typeface="Symbol" panose="05050102010706020507" pitchFamily="18" charset="2"/>
              </a:rPr>
              <a:t></a:t>
            </a:r>
            <a:r>
              <a:rPr lang="en-US" altLang="zh-CN" sz="2400" i="1" dirty="0">
                <a:sym typeface="Symbol" panose="05050102010706020507" pitchFamily="18" charset="2"/>
              </a:rPr>
              <a:t>ij</a:t>
            </a:r>
            <a:r>
              <a:rPr lang="en-US" altLang="zh-CN" sz="2400" dirty="0">
                <a:sym typeface="Symbol" panose="05050102010706020507" pitchFamily="18" charset="2"/>
              </a:rPr>
              <a:t>: </a:t>
            </a:r>
            <a:r>
              <a:rPr lang="en-US" altLang="zh-CN" sz="2400" i="1" dirty="0">
                <a:sym typeface="Symbol" panose="05050102010706020507" pitchFamily="18" charset="2"/>
              </a:rPr>
              <a:t>a</a:t>
            </a:r>
            <a:r>
              <a:rPr lang="en-US" altLang="zh-CN" sz="2400" i="1" baseline="-25000" dirty="0">
                <a:sym typeface="Symbol" panose="05050102010706020507" pitchFamily="18" charset="2"/>
              </a:rPr>
              <a:t>i</a:t>
            </a:r>
            <a:r>
              <a:rPr lang="en-US" altLang="zh-CN" sz="2400" dirty="0">
                <a:sym typeface="Symbol" panose="05050102010706020507" pitchFamily="18" charset="2"/>
              </a:rPr>
              <a:t> = </a:t>
            </a:r>
            <a:r>
              <a:rPr lang="en-US" altLang="zh-CN" sz="2400" i="1" dirty="0">
                <a:sym typeface="Symbol" panose="05050102010706020507" pitchFamily="18" charset="2"/>
              </a:rPr>
              <a:t>a</a:t>
            </a:r>
            <a:r>
              <a:rPr lang="en-US" altLang="zh-CN" sz="2400" i="1" baseline="-25000" dirty="0">
                <a:sym typeface="Symbol" panose="05050102010706020507" pitchFamily="18" charset="2"/>
              </a:rPr>
              <a:t>j</a:t>
            </a:r>
            <a:r>
              <a:rPr lang="en-US" altLang="zh-CN" sz="2400" dirty="0">
                <a:sym typeface="Symbol" panose="05050102010706020507" pitchFamily="18" charset="2"/>
              </a:rPr>
              <a:t>+14.  Thus, 14 games were played on days </a:t>
            </a:r>
            <a:r>
              <a:rPr lang="en-US" altLang="zh-CN" sz="2400" i="1" dirty="0">
                <a:sym typeface="Symbol" panose="05050102010706020507" pitchFamily="18" charset="2"/>
              </a:rPr>
              <a:t>a</a:t>
            </a:r>
            <a:r>
              <a:rPr lang="en-US" altLang="zh-CN" sz="2400" i="1" baseline="-25000" dirty="0">
                <a:sym typeface="Symbol" panose="05050102010706020507" pitchFamily="18" charset="2"/>
              </a:rPr>
              <a:t>j</a:t>
            </a:r>
            <a:r>
              <a:rPr lang="en-US" altLang="zh-CN" sz="2400" dirty="0">
                <a:sym typeface="Symbol" panose="05050102010706020507" pitchFamily="18" charset="2"/>
              </a:rPr>
              <a:t>+1, </a:t>
            </a:r>
            <a:r>
              <a:rPr lang="en-US" altLang="zh-CN" sz="2400" dirty="0">
                <a:latin typeface="Times New Roman" panose="02020503050405090304" pitchFamily="18" charset="0"/>
                <a:sym typeface="Symbol" panose="05050102010706020507" pitchFamily="18" charset="2"/>
              </a:rPr>
              <a:t>…</a:t>
            </a:r>
            <a:r>
              <a:rPr lang="en-US" altLang="zh-CN" sz="2400" dirty="0">
                <a:sym typeface="Symbol" panose="05050102010706020507" pitchFamily="18" charset="2"/>
              </a:rPr>
              <a:t>, </a:t>
            </a:r>
            <a:r>
              <a:rPr lang="en-US" altLang="zh-CN" sz="2400" i="1" dirty="0">
                <a:sym typeface="Symbol" panose="05050102010706020507" pitchFamily="18" charset="2"/>
              </a:rPr>
              <a:t>a</a:t>
            </a:r>
            <a:r>
              <a:rPr lang="en-US" altLang="zh-CN" sz="2400" i="1" baseline="-25000" dirty="0">
                <a:sym typeface="Symbol" panose="05050102010706020507" pitchFamily="18" charset="2"/>
              </a:rPr>
              <a:t>i</a:t>
            </a:r>
            <a:r>
              <a:rPr lang="en-US" altLang="zh-CN" sz="2400" dirty="0">
                <a:sym typeface="Symbol" panose="05050102010706020507" pitchFamily="18" charset="2"/>
              </a:rPr>
              <a:t>.</a:t>
            </a:r>
            <a:endParaRPr lang="en-US" altLang="zh-CN" sz="2400" b="1" baseline="-25000" dirty="0">
              <a:sym typeface="Symbol" panose="05050102010706020507" pitchFamily="18" charset="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34819"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34820"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34821" name="Rectangle 2"/>
          <p:cNvSpPr>
            <a:spLocks noGrp="1"/>
          </p:cNvSpPr>
          <p:nvPr>
            <p:ph type="title"/>
          </p:nvPr>
        </p:nvSpPr>
        <p:spPr/>
        <p:txBody>
          <a:bodyPr vert="horz" wrap="square" lIns="91440" tIns="45720" rIns="91440" bIns="45720" anchor="b" anchorCtr="0"/>
          <a:p>
            <a:pPr eaLnBrk="1" hangingPunct="1"/>
            <a:r>
              <a:rPr lang="en-US" altLang="zh-CN" dirty="0"/>
              <a:t>Baseball problem illustrated</a:t>
            </a:r>
            <a:endParaRPr lang="en-US" altLang="zh-CN" dirty="0"/>
          </a:p>
        </p:txBody>
      </p:sp>
      <p:sp>
        <p:nvSpPr>
          <p:cNvPr id="34822" name="Rectangle 3"/>
          <p:cNvSpPr>
            <a:spLocks noGrp="1"/>
          </p:cNvSpPr>
          <p:nvPr>
            <p:ph idx="1"/>
          </p:nvPr>
        </p:nvSpPr>
        <p:spPr>
          <a:xfrm>
            <a:off x="600710" y="1322070"/>
            <a:ext cx="8077200" cy="4800600"/>
          </a:xfrm>
        </p:spPr>
        <p:txBody>
          <a:bodyPr vert="horz" wrap="square" lIns="91440" tIns="45720" rIns="91440" bIns="45720" anchor="t" anchorCtr="0"/>
          <a:p>
            <a:pPr eaLnBrk="1" hangingPunct="1"/>
            <a:r>
              <a:rPr lang="en-US" altLang="zh-CN" sz="2800" dirty="0"/>
              <a:t>Example of {</a:t>
            </a:r>
            <a:r>
              <a:rPr lang="en-US" altLang="zh-CN" sz="2800" i="1" dirty="0"/>
              <a:t>a</a:t>
            </a:r>
            <a:r>
              <a:rPr lang="en-US" altLang="zh-CN" sz="2800" i="1" baseline="-25000" dirty="0"/>
              <a:t>i</a:t>
            </a:r>
            <a:r>
              <a:rPr lang="en-US" altLang="zh-CN" sz="2800" dirty="0"/>
              <a:t>}: Note all elements are distinct.</a:t>
            </a:r>
            <a:endParaRPr lang="en-US" altLang="zh-CN" sz="2800" dirty="0"/>
          </a:p>
          <a:p>
            <a:pPr lvl="1" eaLnBrk="1" hangingPunct="1"/>
            <a:r>
              <a:rPr lang="en-US" altLang="zh-CN" sz="2400" dirty="0"/>
              <a:t>1,   2,   4,   5,   7,   8,  10,  11, 13, 14,</a:t>
            </a:r>
            <a:br>
              <a:rPr lang="en-US" altLang="zh-CN" sz="2400" dirty="0"/>
            </a:br>
            <a:r>
              <a:rPr lang="en-US" altLang="zh-CN" sz="2400" dirty="0"/>
              <a:t>16, 17, 19, 21, 22, 23, 25, 27, 29, 30,</a:t>
            </a:r>
            <a:br>
              <a:rPr lang="en-US" altLang="zh-CN" sz="2400" dirty="0"/>
            </a:br>
            <a:r>
              <a:rPr lang="en-US" altLang="zh-CN" sz="2400" dirty="0"/>
              <a:t>31, 33, 34, 36, 37, 39, 40, 41, 43, 45</a:t>
            </a:r>
            <a:endParaRPr lang="en-US" altLang="zh-CN" sz="2400" dirty="0"/>
          </a:p>
          <a:p>
            <a:pPr lvl="1" eaLnBrk="1" hangingPunct="1"/>
            <a:r>
              <a:rPr lang="en-US" altLang="zh-CN" sz="2400" dirty="0"/>
              <a:t>Then {</a:t>
            </a:r>
            <a:r>
              <a:rPr lang="en-US" altLang="zh-CN" sz="2400" i="1" dirty="0"/>
              <a:t>a</a:t>
            </a:r>
            <a:r>
              <a:rPr lang="en-US" altLang="zh-CN" sz="2400" i="1" baseline="-25000" dirty="0"/>
              <a:t>i</a:t>
            </a:r>
            <a:r>
              <a:rPr lang="en-US" altLang="zh-CN" sz="2400" dirty="0"/>
              <a:t>+14} is the following sequence:</a:t>
            </a:r>
            <a:br>
              <a:rPr lang="en-US" altLang="zh-CN" sz="2400" dirty="0"/>
            </a:br>
            <a:r>
              <a:rPr lang="en-US" altLang="zh-CN" sz="2400" dirty="0"/>
              <a:t>15, 16, 18, 19, 21, 22, 24, 25, 27, 28,</a:t>
            </a:r>
            <a:br>
              <a:rPr lang="en-US" altLang="zh-CN" sz="2400" dirty="0"/>
            </a:br>
            <a:r>
              <a:rPr lang="en-US" altLang="zh-CN" sz="2400" dirty="0"/>
              <a:t>30, 32, 33, 35, 36, 37, 39, 41, 43, 44,</a:t>
            </a:r>
            <a:br>
              <a:rPr lang="en-US" altLang="zh-CN" sz="2400" dirty="0"/>
            </a:br>
            <a:r>
              <a:rPr lang="en-US" altLang="zh-CN" sz="2400" dirty="0"/>
              <a:t>45, 47, 48, 50, 51, 53, 54, 55, 57, 59</a:t>
            </a:r>
            <a:endParaRPr lang="en-US" altLang="zh-CN" sz="2400" dirty="0"/>
          </a:p>
          <a:p>
            <a:pPr eaLnBrk="1" hangingPunct="1"/>
            <a:r>
              <a:rPr lang="en-US" altLang="zh-CN" sz="2800" dirty="0"/>
              <a:t>In any 60 integers from 1-59 there must be some duplicates, indeed we find the following ones:</a:t>
            </a:r>
            <a:endParaRPr lang="en-US" altLang="zh-CN" sz="2800" dirty="0"/>
          </a:p>
          <a:p>
            <a:pPr lvl="1" eaLnBrk="1" hangingPunct="1"/>
            <a:r>
              <a:rPr lang="en-US" altLang="zh-CN" sz="2400" dirty="0"/>
              <a:t>16, 19, 21, 22, 25, 27, 30, 33, 36, 37, 39, 41, 43, 45</a:t>
            </a:r>
            <a:endParaRPr lang="en-US" altLang="zh-CN" sz="2400" dirty="0"/>
          </a:p>
        </p:txBody>
      </p:sp>
      <p:sp>
        <p:nvSpPr>
          <p:cNvPr id="34823" name="Oval 4"/>
          <p:cNvSpPr/>
          <p:nvPr/>
        </p:nvSpPr>
        <p:spPr>
          <a:xfrm>
            <a:off x="1381760" y="2293620"/>
            <a:ext cx="457200" cy="304800"/>
          </a:xfrm>
          <a:prstGeom prst="ellipse">
            <a:avLst/>
          </a:prstGeom>
          <a:noFill/>
          <a:ln w="57150" cap="flat" cmpd="sng">
            <a:solidFill>
              <a:srgbClr val="FF0000">
                <a:alpha val="50195"/>
              </a:srgbClr>
            </a:solidFill>
            <a:prstDash val="solid"/>
            <a:headEnd type="none" w="med" len="med"/>
            <a:tailEnd type="none" w="med" len="med"/>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mn-ea"/>
              </a:defRPr>
            </a:lvl5pPr>
          </a:lstStyle>
          <a:p>
            <a:pPr marL="0" lvl="0" indent="0">
              <a:spcBef>
                <a:spcPct val="0"/>
              </a:spcBef>
              <a:buClrTx/>
              <a:buSzTx/>
              <a:buFontTx/>
              <a:buNone/>
            </a:pPr>
            <a:endParaRPr lang="zh-CN" altLang="en-US" sz="2400" dirty="0"/>
          </a:p>
        </p:txBody>
      </p:sp>
      <p:sp>
        <p:nvSpPr>
          <p:cNvPr id="34824" name="Oval 5"/>
          <p:cNvSpPr/>
          <p:nvPr/>
        </p:nvSpPr>
        <p:spPr>
          <a:xfrm>
            <a:off x="1848485" y="3465195"/>
            <a:ext cx="457200" cy="304800"/>
          </a:xfrm>
          <a:prstGeom prst="ellipse">
            <a:avLst/>
          </a:prstGeom>
          <a:noFill/>
          <a:ln w="57150" cap="flat" cmpd="sng">
            <a:solidFill>
              <a:srgbClr val="FF0000">
                <a:alpha val="50195"/>
              </a:srgbClr>
            </a:solidFill>
            <a:prstDash val="solid"/>
            <a:headEnd type="none" w="med" len="med"/>
            <a:tailEnd type="none" w="med" len="med"/>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mn-ea"/>
              </a:defRPr>
            </a:lvl5pPr>
          </a:lstStyle>
          <a:p>
            <a:pPr marL="0" lvl="0" indent="0">
              <a:spcBef>
                <a:spcPct val="0"/>
              </a:spcBef>
              <a:buClrTx/>
              <a:buSzTx/>
              <a:buFontTx/>
              <a:buNone/>
            </a:pPr>
            <a:endParaRPr lang="zh-CN" altLang="en-US" sz="2400" dirty="0"/>
          </a:p>
        </p:txBody>
      </p:sp>
      <p:sp>
        <p:nvSpPr>
          <p:cNvPr id="34825" name="Line 6"/>
          <p:cNvSpPr/>
          <p:nvPr/>
        </p:nvSpPr>
        <p:spPr>
          <a:xfrm>
            <a:off x="1638935" y="2598420"/>
            <a:ext cx="381000" cy="838200"/>
          </a:xfrm>
          <a:prstGeom prst="line">
            <a:avLst/>
          </a:prstGeom>
          <a:ln w="57150" cap="flat" cmpd="sng">
            <a:solidFill>
              <a:srgbClr val="FF0000">
                <a:alpha val="50195"/>
              </a:srgbClr>
            </a:solidFill>
            <a:prstDash val="solid"/>
            <a:headEnd type="none" w="med" len="med"/>
            <a:tailEnd type="none" w="med" len="med"/>
          </a:ln>
        </p:spPr>
      </p:sp>
      <p:sp>
        <p:nvSpPr>
          <p:cNvPr id="34826" name="Text Box 7"/>
          <p:cNvSpPr txBox="1"/>
          <p:nvPr/>
        </p:nvSpPr>
        <p:spPr>
          <a:xfrm>
            <a:off x="6541135" y="2617470"/>
            <a:ext cx="2593975" cy="1644650"/>
          </a:xfrm>
          <a:prstGeom prst="rect">
            <a:avLst/>
          </a:prstGeom>
          <a:solidFill>
            <a:srgbClr val="FFFFCC"/>
          </a:solidFill>
          <a:ln w="28575" cap="flat" cmpd="sng">
            <a:solidFill>
              <a:srgbClr val="006600"/>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mn-ea"/>
              </a:defRPr>
            </a:lvl5pPr>
          </a:lstStyle>
          <a:p>
            <a:pPr marL="0" lvl="0" indent="0">
              <a:spcBef>
                <a:spcPct val="0"/>
              </a:spcBef>
              <a:buClrTx/>
              <a:buSzTx/>
              <a:buFontTx/>
              <a:buNone/>
            </a:pPr>
            <a:r>
              <a:rPr lang="en-US" altLang="zh-CN" sz="2000" dirty="0"/>
              <a:t>Thus, for example, </a:t>
            </a:r>
            <a:br>
              <a:rPr lang="en-US" altLang="zh-CN" sz="2000" dirty="0"/>
            </a:br>
            <a:r>
              <a:rPr lang="en-US" altLang="zh-CN" sz="2000" dirty="0"/>
              <a:t>exactly 14 games were </a:t>
            </a:r>
            <a:br>
              <a:rPr lang="en-US" altLang="zh-CN" sz="2000" dirty="0"/>
            </a:br>
            <a:r>
              <a:rPr lang="en-US" altLang="zh-CN" sz="2000" dirty="0"/>
              <a:t>played during days </a:t>
            </a:r>
            <a:br>
              <a:rPr lang="en-US" altLang="zh-CN" sz="2000" dirty="0"/>
            </a:br>
            <a:r>
              <a:rPr lang="en-US" altLang="zh-CN" sz="2000" dirty="0"/>
              <a:t>	3 to 11:</a:t>
            </a:r>
            <a:br>
              <a:rPr lang="en-US" altLang="zh-CN" sz="2000" dirty="0"/>
            </a:br>
            <a:r>
              <a:rPr lang="en-US" altLang="zh-CN" sz="2000" dirty="0"/>
              <a:t>2+1+2+1+2+1+2+1+2</a:t>
            </a:r>
            <a:endParaRPr lang="en-US" altLang="zh-CN"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35843"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35844"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35845" name="Rectangle 2"/>
          <p:cNvSpPr>
            <a:spLocks noGrp="1"/>
          </p:cNvSpPr>
          <p:nvPr>
            <p:ph type="title"/>
          </p:nvPr>
        </p:nvSpPr>
        <p:spPr>
          <a:xfrm>
            <a:off x="811530" y="43815"/>
            <a:ext cx="8251825" cy="1068070"/>
          </a:xfrm>
        </p:spPr>
        <p:txBody>
          <a:bodyPr vert="horz" wrap="square" lIns="91440" tIns="45720" rIns="91440" bIns="45720" anchor="b" anchorCtr="0"/>
          <a:p>
            <a:pPr eaLnBrk="1" hangingPunct="1"/>
            <a:r>
              <a:rPr lang="en-US" altLang="zh-CN" sz="4000" dirty="0"/>
              <a:t>Generalized Pigeonhole Principle</a:t>
            </a:r>
            <a:endParaRPr lang="en-US" altLang="zh-CN" sz="4000" dirty="0"/>
          </a:p>
        </p:txBody>
      </p:sp>
      <p:sp>
        <p:nvSpPr>
          <p:cNvPr id="35846" name="Rectangle 3"/>
          <p:cNvSpPr>
            <a:spLocks noGrp="1"/>
          </p:cNvSpPr>
          <p:nvPr>
            <p:ph idx="1"/>
          </p:nvPr>
        </p:nvSpPr>
        <p:spPr/>
        <p:txBody>
          <a:bodyPr vert="horz" wrap="square" lIns="91440" tIns="45720" rIns="91440" bIns="45720" anchor="t" anchorCtr="0"/>
          <a:p>
            <a:pPr eaLnBrk="1" hangingPunct="1"/>
            <a:r>
              <a:rPr lang="en-US" altLang="zh-CN" dirty="0"/>
              <a:t>If </a:t>
            </a:r>
            <a:r>
              <a:rPr lang="en-US" altLang="zh-CN" i="1" dirty="0"/>
              <a:t>N</a:t>
            </a:r>
            <a:r>
              <a:rPr lang="en-US" altLang="zh-CN" dirty="0"/>
              <a:t> objects are assigned to </a:t>
            </a:r>
            <a:r>
              <a:rPr lang="en-US" altLang="zh-CN" i="1" dirty="0"/>
              <a:t>k</a:t>
            </a:r>
            <a:r>
              <a:rPr lang="en-US" altLang="zh-CN" dirty="0"/>
              <a:t> places, then at least one place must be assigned at least </a:t>
            </a:r>
            <a:r>
              <a:rPr lang="en-US" altLang="zh-CN" dirty="0">
                <a:sym typeface="Symbol" panose="05050102010706020507" pitchFamily="18" charset="2"/>
              </a:rPr>
              <a:t></a:t>
            </a:r>
            <a:r>
              <a:rPr lang="en-US" altLang="zh-CN" i="1" dirty="0">
                <a:sym typeface="Symbol" panose="05050102010706020507" pitchFamily="18" charset="2"/>
              </a:rPr>
              <a:t>N</a:t>
            </a:r>
            <a:r>
              <a:rPr lang="en-US" altLang="zh-CN" dirty="0">
                <a:sym typeface="Symbol" panose="05050102010706020507" pitchFamily="18" charset="2"/>
              </a:rPr>
              <a:t>/</a:t>
            </a:r>
            <a:r>
              <a:rPr lang="en-US" altLang="zh-CN" i="1" dirty="0">
                <a:sym typeface="Symbol" panose="05050102010706020507" pitchFamily="18" charset="2"/>
              </a:rPr>
              <a:t>k</a:t>
            </a:r>
            <a:r>
              <a:rPr lang="en-US" altLang="zh-CN" dirty="0">
                <a:sym typeface="Symbol" panose="05050102010706020507" pitchFamily="18" charset="2"/>
              </a:rPr>
              <a:t> objects.</a:t>
            </a:r>
            <a:endParaRPr lang="en-US" altLang="zh-CN" dirty="0">
              <a:sym typeface="Symbol" panose="05050102010706020507" pitchFamily="18" charset="2"/>
            </a:endParaRPr>
          </a:p>
          <a:p>
            <a:pPr eaLnBrk="1" hangingPunct="1"/>
            <a:r>
              <a:rPr lang="en-US" altLang="zh-CN" i="1" dirty="0">
                <a:sym typeface="Symbol" panose="05050102010706020507" pitchFamily="18" charset="2"/>
              </a:rPr>
              <a:t>E.g.</a:t>
            </a:r>
            <a:r>
              <a:rPr lang="en-US" altLang="zh-CN" dirty="0">
                <a:sym typeface="Symbol" panose="05050102010706020507" pitchFamily="18" charset="2"/>
              </a:rPr>
              <a:t>, there are </a:t>
            </a:r>
            <a:r>
              <a:rPr lang="en-US" altLang="zh-CN" i="1" dirty="0">
                <a:sym typeface="Symbol" panose="05050102010706020507" pitchFamily="18" charset="2"/>
              </a:rPr>
              <a:t>N</a:t>
            </a:r>
            <a:r>
              <a:rPr lang="en-US" altLang="zh-CN" dirty="0">
                <a:sym typeface="Symbol" panose="05050102010706020507" pitchFamily="18" charset="2"/>
              </a:rPr>
              <a:t>=280 students in this class.  There are </a:t>
            </a:r>
            <a:r>
              <a:rPr lang="en-US" altLang="zh-CN" i="1" dirty="0">
                <a:sym typeface="Symbol" panose="05050102010706020507" pitchFamily="18" charset="2"/>
              </a:rPr>
              <a:t>k</a:t>
            </a:r>
            <a:r>
              <a:rPr lang="en-US" altLang="zh-CN" dirty="0">
                <a:sym typeface="Symbol" panose="05050102010706020507" pitchFamily="18" charset="2"/>
              </a:rPr>
              <a:t>=52 weeks in the year.</a:t>
            </a:r>
            <a:endParaRPr lang="en-US" altLang="zh-CN" dirty="0">
              <a:sym typeface="Symbol" panose="05050102010706020507" pitchFamily="18" charset="2"/>
            </a:endParaRPr>
          </a:p>
          <a:p>
            <a:pPr lvl="1" eaLnBrk="1" hangingPunct="1"/>
            <a:r>
              <a:rPr lang="en-US" altLang="zh-CN" dirty="0">
                <a:sym typeface="Symbol" panose="05050102010706020507" pitchFamily="18" charset="2"/>
              </a:rPr>
              <a:t>Therefore, there must be at least 1 week during which at least 280/52= 5.38=6 students in the class have a birthday.</a:t>
            </a:r>
            <a:endParaRPr lang="en-US" altLang="zh-CN" dirty="0">
              <a:sym typeface="Symbol" panose="05050102010706020507" pitchFamily="18" charset="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36867"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36868"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36869" name="Rectangle 2"/>
          <p:cNvSpPr>
            <a:spLocks noGrp="1"/>
          </p:cNvSpPr>
          <p:nvPr>
            <p:ph type="title"/>
          </p:nvPr>
        </p:nvSpPr>
        <p:spPr/>
        <p:txBody>
          <a:bodyPr vert="horz" wrap="square" lIns="91440" tIns="45720" rIns="91440" bIns="45720" anchor="b" anchorCtr="0"/>
          <a:p>
            <a:pPr eaLnBrk="1" hangingPunct="1"/>
            <a:r>
              <a:rPr lang="en-US" altLang="zh-CN" dirty="0"/>
              <a:t>Proof of G.P.P.</a:t>
            </a:r>
            <a:endParaRPr lang="en-US" altLang="zh-CN" dirty="0"/>
          </a:p>
        </p:txBody>
      </p:sp>
      <p:sp>
        <p:nvSpPr>
          <p:cNvPr id="36870" name="Rectangle 3"/>
          <p:cNvSpPr>
            <a:spLocks noGrp="1"/>
          </p:cNvSpPr>
          <p:nvPr>
            <p:ph idx="1"/>
          </p:nvPr>
        </p:nvSpPr>
        <p:spPr/>
        <p:txBody>
          <a:bodyPr vert="horz" wrap="square" lIns="91440" tIns="45720" rIns="91440" bIns="45720" anchor="t" anchorCtr="0"/>
          <a:p>
            <a:pPr eaLnBrk="1" hangingPunct="1"/>
            <a:r>
              <a:rPr lang="en-US" altLang="zh-CN" dirty="0"/>
              <a:t>By contradiction.  Suppose every place has &lt; </a:t>
            </a:r>
            <a:r>
              <a:rPr lang="en-US" altLang="zh-CN" dirty="0">
                <a:sym typeface="Symbol" panose="05050102010706020507" pitchFamily="18" charset="2"/>
              </a:rPr>
              <a:t></a:t>
            </a:r>
            <a:r>
              <a:rPr lang="en-US" altLang="zh-CN" i="1" dirty="0">
                <a:sym typeface="Symbol" panose="05050102010706020507" pitchFamily="18" charset="2"/>
              </a:rPr>
              <a:t>N</a:t>
            </a:r>
            <a:r>
              <a:rPr lang="en-US" altLang="zh-CN" dirty="0">
                <a:sym typeface="Symbol" panose="05050102010706020507" pitchFamily="18" charset="2"/>
              </a:rPr>
              <a:t>/</a:t>
            </a:r>
            <a:r>
              <a:rPr lang="en-US" altLang="zh-CN" i="1" dirty="0">
                <a:sym typeface="Symbol" panose="05050102010706020507" pitchFamily="18" charset="2"/>
              </a:rPr>
              <a:t>k</a:t>
            </a:r>
            <a:r>
              <a:rPr lang="en-US" altLang="zh-CN" dirty="0">
                <a:sym typeface="Symbol" panose="05050102010706020507" pitchFamily="18" charset="2"/>
              </a:rPr>
              <a:t> objects, thus ≤ </a:t>
            </a:r>
            <a:r>
              <a:rPr lang="en-US" altLang="zh-CN" i="1" dirty="0">
                <a:sym typeface="Symbol" panose="05050102010706020507" pitchFamily="18" charset="2"/>
              </a:rPr>
              <a:t>N</a:t>
            </a:r>
            <a:r>
              <a:rPr lang="en-US" altLang="zh-CN" dirty="0">
                <a:sym typeface="Symbol" panose="05050102010706020507" pitchFamily="18" charset="2"/>
              </a:rPr>
              <a:t>/</a:t>
            </a:r>
            <a:r>
              <a:rPr lang="en-US" altLang="zh-CN" i="1" dirty="0">
                <a:sym typeface="Symbol" panose="05050102010706020507" pitchFamily="18" charset="2"/>
              </a:rPr>
              <a:t>k</a:t>
            </a:r>
            <a:r>
              <a:rPr lang="en-US" altLang="zh-CN" dirty="0">
                <a:sym typeface="Symbol" panose="05050102010706020507" pitchFamily="18" charset="2"/>
              </a:rPr>
              <a:t>−1.</a:t>
            </a:r>
            <a:endParaRPr lang="en-US" altLang="zh-CN" dirty="0">
              <a:sym typeface="Symbol" panose="05050102010706020507" pitchFamily="18" charset="2"/>
            </a:endParaRPr>
          </a:p>
          <a:p>
            <a:pPr eaLnBrk="1" hangingPunct="1"/>
            <a:r>
              <a:rPr lang="en-US" altLang="zh-CN" dirty="0">
                <a:sym typeface="Symbol" panose="05050102010706020507" pitchFamily="18" charset="2"/>
              </a:rPr>
              <a:t>Then the total number of objects is at most</a:t>
            </a:r>
            <a:endParaRPr lang="en-US" altLang="zh-CN" dirty="0">
              <a:sym typeface="Symbol" panose="05050102010706020507" pitchFamily="18" charset="2"/>
            </a:endParaRPr>
          </a:p>
          <a:p>
            <a:pPr eaLnBrk="1" hangingPunct="1"/>
            <a:endParaRPr lang="en-US" altLang="zh-CN" dirty="0">
              <a:sym typeface="Symbol" panose="05050102010706020507" pitchFamily="18" charset="2"/>
            </a:endParaRPr>
          </a:p>
          <a:p>
            <a:pPr eaLnBrk="1" hangingPunct="1"/>
            <a:endParaRPr lang="en-US" altLang="zh-CN" dirty="0">
              <a:sym typeface="Symbol" panose="05050102010706020507" pitchFamily="18" charset="2"/>
            </a:endParaRPr>
          </a:p>
          <a:p>
            <a:pPr eaLnBrk="1" hangingPunct="1"/>
            <a:r>
              <a:rPr lang="en-US" altLang="zh-CN" dirty="0">
                <a:sym typeface="Symbol" panose="05050102010706020507" pitchFamily="18" charset="2"/>
              </a:rPr>
              <a:t>So, there are less than </a:t>
            </a:r>
            <a:r>
              <a:rPr lang="en-US" altLang="zh-CN" i="1" dirty="0">
                <a:sym typeface="Symbol" panose="05050102010706020507" pitchFamily="18" charset="2"/>
              </a:rPr>
              <a:t>N</a:t>
            </a:r>
            <a:r>
              <a:rPr lang="en-US" altLang="zh-CN" dirty="0">
                <a:sym typeface="Symbol" panose="05050102010706020507" pitchFamily="18" charset="2"/>
              </a:rPr>
              <a:t> objects, which contradicts our assumption of </a:t>
            </a:r>
            <a:r>
              <a:rPr lang="en-US" altLang="zh-CN" i="1" dirty="0">
                <a:sym typeface="Symbol" panose="05050102010706020507" pitchFamily="18" charset="2"/>
              </a:rPr>
              <a:t>N</a:t>
            </a:r>
            <a:r>
              <a:rPr lang="en-US" altLang="zh-CN" dirty="0">
                <a:sym typeface="Symbol" panose="05050102010706020507" pitchFamily="18" charset="2"/>
              </a:rPr>
              <a:t> objects!  </a:t>
            </a:r>
            <a:endParaRPr lang="en-US" altLang="zh-CN" dirty="0">
              <a:sym typeface="Symbol" panose="05050102010706020507" pitchFamily="18" charset="2"/>
            </a:endParaRPr>
          </a:p>
        </p:txBody>
      </p:sp>
      <p:graphicFrame>
        <p:nvGraphicFramePr>
          <p:cNvPr id="36871" name="Object 4"/>
          <p:cNvGraphicFramePr>
            <a:graphicFrameLocks noGrp="1" noChangeAspect="1"/>
          </p:cNvGraphicFramePr>
          <p:nvPr>
            <p:ph sz="half" idx="4294967295"/>
          </p:nvPr>
        </p:nvGraphicFramePr>
        <p:xfrm>
          <a:off x="2020888" y="3191828"/>
          <a:ext cx="6172200" cy="1095375"/>
        </p:xfrm>
        <a:graphic>
          <a:graphicData uri="http://schemas.openxmlformats.org/presentationml/2006/ole">
            <mc:AlternateContent xmlns:mc="http://schemas.openxmlformats.org/markup-compatibility/2006">
              <mc:Choice xmlns:v="urn:schemas-microsoft-com:vml" Requires="v">
                <p:oleObj spid="_x0000_s3079" name="" r:id="rId1" imgW="2578100" imgH="457200" progId="Equation.3">
                  <p:embed/>
                </p:oleObj>
              </mc:Choice>
              <mc:Fallback>
                <p:oleObj name="" r:id="rId1" imgW="2578100" imgH="457200" progId="Equation.3">
                  <p:embed/>
                  <p:pic>
                    <p:nvPicPr>
                      <p:cNvPr id="0" name="图片 3078"/>
                      <p:cNvPicPr/>
                      <p:nvPr/>
                    </p:nvPicPr>
                    <p:blipFill>
                      <a:blip r:embed="rId2"/>
                      <a:srcRect/>
                      <a:stretch>
                        <a:fillRect/>
                      </a:stretch>
                    </p:blipFill>
                    <p:spPr>
                      <a:xfrm>
                        <a:off x="2020888" y="3191828"/>
                        <a:ext cx="6172200" cy="1095375"/>
                      </a:xfrm>
                      <a:prstGeom prst="rect">
                        <a:avLst/>
                      </a:prstGeom>
                      <a:noFill/>
                      <a:ln w="38100">
                        <a:miter/>
                      </a:ln>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37891"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37892"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37893" name="Rectangle 2"/>
          <p:cNvSpPr>
            <a:spLocks noGrp="1"/>
          </p:cNvSpPr>
          <p:nvPr>
            <p:ph type="title"/>
          </p:nvPr>
        </p:nvSpPr>
        <p:spPr/>
        <p:txBody>
          <a:bodyPr vert="horz" wrap="square" lIns="91440" tIns="45720" rIns="91440" bIns="45720" anchor="b" anchorCtr="0"/>
          <a:p>
            <a:pPr eaLnBrk="1" hangingPunct="1"/>
            <a:r>
              <a:rPr lang="en-US" altLang="zh-CN" dirty="0"/>
              <a:t>G.P.P. Example</a:t>
            </a:r>
            <a:endParaRPr lang="en-US" altLang="zh-CN" dirty="0"/>
          </a:p>
        </p:txBody>
      </p:sp>
      <p:sp>
        <p:nvSpPr>
          <p:cNvPr id="37894" name="Rectangle 3"/>
          <p:cNvSpPr>
            <a:spLocks noGrp="1"/>
          </p:cNvSpPr>
          <p:nvPr>
            <p:ph idx="1"/>
          </p:nvPr>
        </p:nvSpPr>
        <p:spPr/>
        <p:txBody>
          <a:bodyPr vert="horz" wrap="square" lIns="91440" tIns="45720" rIns="91440" bIns="45720" anchor="t" anchorCtr="0"/>
          <a:p>
            <a:pPr eaLnBrk="1" hangingPunct="1"/>
            <a:r>
              <a:rPr lang="en-US" altLang="zh-CN" dirty="0"/>
              <a:t>Given: There are 280 students in the class.</a:t>
            </a:r>
            <a:endParaRPr lang="en-US" altLang="zh-CN" dirty="0"/>
          </a:p>
          <a:p>
            <a:pPr lvl="1" eaLnBrk="1" hangingPunct="1"/>
            <a:r>
              <a:rPr lang="en-US" altLang="zh-CN" dirty="0">
                <a:latin typeface="Times New Roman" panose="02020503050405090304" pitchFamily="18" charset="0"/>
              </a:rPr>
              <a:t>Without knowing anybody’s birthday, what is the largest value of </a:t>
            </a:r>
            <a:r>
              <a:rPr lang="en-US" altLang="zh-CN" i="1" dirty="0">
                <a:latin typeface="Times New Roman" panose="02020503050405090304" pitchFamily="18" charset="0"/>
              </a:rPr>
              <a:t>n</a:t>
            </a:r>
            <a:r>
              <a:rPr lang="en-US" altLang="zh-CN" dirty="0">
                <a:latin typeface="Times New Roman" panose="02020503050405090304" pitchFamily="18" charset="0"/>
              </a:rPr>
              <a:t> for which we can prove using the G.P.P. that at least </a:t>
            </a:r>
            <a:r>
              <a:rPr lang="en-US" altLang="zh-CN" i="1" dirty="0">
                <a:latin typeface="Times New Roman" panose="02020503050405090304" pitchFamily="18" charset="0"/>
              </a:rPr>
              <a:t>n</a:t>
            </a:r>
            <a:r>
              <a:rPr lang="en-US" altLang="zh-CN" dirty="0">
                <a:latin typeface="Times New Roman" panose="02020503050405090304" pitchFamily="18" charset="0"/>
              </a:rPr>
              <a:t> students must have been born in the same month?</a:t>
            </a:r>
            <a:endParaRPr lang="en-US" altLang="zh-CN" dirty="0">
              <a:latin typeface="Times New Roman" panose="02020503050405090304" pitchFamily="18" charset="0"/>
            </a:endParaRPr>
          </a:p>
          <a:p>
            <a:pPr eaLnBrk="1" hangingPunct="1"/>
            <a:r>
              <a:rPr lang="en-US" altLang="zh-CN" dirty="0"/>
              <a:t>Answer:</a:t>
            </a:r>
            <a:endParaRPr lang="en-US" altLang="zh-CN" dirty="0"/>
          </a:p>
        </p:txBody>
      </p:sp>
      <p:sp>
        <p:nvSpPr>
          <p:cNvPr id="751620" name="Text Box 4"/>
          <p:cNvSpPr txBox="1"/>
          <p:nvPr/>
        </p:nvSpPr>
        <p:spPr>
          <a:xfrm>
            <a:off x="1981200" y="4587240"/>
            <a:ext cx="4852988"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mn-ea"/>
              </a:defRPr>
            </a:lvl5pPr>
          </a:lstStyle>
          <a:p>
            <a:pPr marL="0" lvl="0" indent="0">
              <a:spcBef>
                <a:spcPct val="0"/>
              </a:spcBef>
              <a:buClrTx/>
              <a:buSzTx/>
              <a:buFontTx/>
              <a:buNone/>
            </a:pPr>
            <a:r>
              <a:rPr lang="zh-CN" altLang="en-US" sz="4000" dirty="0">
                <a:sym typeface="Symbol" panose="05050102010706020507" pitchFamily="18" charset="2"/>
              </a:rPr>
              <a:t></a:t>
            </a:r>
            <a:r>
              <a:rPr lang="en-US" altLang="zh-CN" sz="4000" dirty="0">
                <a:sym typeface="Symbol" panose="05050102010706020507" pitchFamily="18" charset="2"/>
              </a:rPr>
              <a:t>280/12 = 23.3 = 24</a:t>
            </a:r>
            <a:endParaRPr lang="en-US" altLang="zh-CN" sz="4000"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751620"/>
                                        </p:tgtEl>
                                        <p:attrNameLst>
                                          <p:attrName>style.visibility</p:attrName>
                                        </p:attrNameLst>
                                      </p:cBhvr>
                                      <p:to>
                                        <p:strVal val="visible"/>
                                      </p:to>
                                    </p:set>
                                    <p:anim to="" calcmode="lin" valueType="num">
                                      <p:cBhvr>
                                        <p:cTn id="7" dur="1" fill="hold"/>
                                        <p:tgtEl>
                                          <p:spTgt spid="751620"/>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162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38915"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38916"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38917" name="Rectangle 2"/>
          <p:cNvSpPr>
            <a:spLocks noGrp="1"/>
          </p:cNvSpPr>
          <p:nvPr>
            <p:ph type="title"/>
          </p:nvPr>
        </p:nvSpPr>
        <p:spPr/>
        <p:txBody>
          <a:bodyPr vert="horz" wrap="square" lIns="91440" tIns="45720" rIns="91440" bIns="45720" anchor="b" anchorCtr="0"/>
          <a:p>
            <a:pPr eaLnBrk="1" hangingPunct="1"/>
            <a:r>
              <a:rPr lang="en-US" altLang="zh-CN" dirty="0"/>
              <a:t>Example 7</a:t>
            </a:r>
            <a:endParaRPr lang="en-US" altLang="zh-CN" dirty="0"/>
          </a:p>
        </p:txBody>
      </p:sp>
      <p:sp>
        <p:nvSpPr>
          <p:cNvPr id="38918" name="Rectangle 3"/>
          <p:cNvSpPr>
            <a:spLocks noGrp="1"/>
          </p:cNvSpPr>
          <p:nvPr>
            <p:ph idx="1"/>
          </p:nvPr>
        </p:nvSpPr>
        <p:spPr>
          <a:xfrm>
            <a:off x="755650" y="1307465"/>
            <a:ext cx="8059738" cy="4114800"/>
          </a:xfrm>
        </p:spPr>
        <p:txBody>
          <a:bodyPr vert="horz" wrap="square" lIns="91440" tIns="45720" rIns="91440" bIns="45720" anchor="t" anchorCtr="0"/>
          <a:p>
            <a:pPr eaLnBrk="1" hangingPunct="1"/>
            <a:r>
              <a:rPr lang="en-US" altLang="zh-CN" dirty="0"/>
              <a:t>How many cards must be selected from a standard deck of 52 cards to guarantee that at least three cards of the same suit are chosen?</a:t>
            </a:r>
            <a:endParaRPr lang="en-US" altLang="zh-CN" dirty="0"/>
          </a:p>
          <a:p>
            <a:pPr eaLnBrk="1" hangingPunct="1"/>
            <a:endParaRPr lang="en-US" altLang="zh-CN" dirty="0"/>
          </a:p>
          <a:p>
            <a:pPr eaLnBrk="1" hangingPunct="1"/>
            <a:endParaRPr lang="en-US" altLang="zh-CN" dirty="0"/>
          </a:p>
          <a:p>
            <a:pPr eaLnBrk="1" hangingPunct="1"/>
            <a:r>
              <a:rPr lang="en-US" altLang="zh-CN" dirty="0"/>
              <a:t>How many must be selected to guarantee that at least three hearts are selected?</a:t>
            </a:r>
            <a:endParaRPr lang="en-US" altLang="zh-CN" dirty="0"/>
          </a:p>
          <a:p>
            <a:pPr eaLnBrk="1" hangingPunct="1"/>
            <a:endParaRPr lang="en-US" altLang="zh-CN" dirty="0"/>
          </a:p>
          <a:p>
            <a:pPr eaLnBrk="1" hangingPunct="1"/>
            <a:endParaRPr lang="en-US" altLang="zh-CN" dirty="0"/>
          </a:p>
        </p:txBody>
      </p:sp>
      <p:sp>
        <p:nvSpPr>
          <p:cNvPr id="38919" name="矩形 1"/>
          <p:cNvSpPr/>
          <p:nvPr/>
        </p:nvSpPr>
        <p:spPr>
          <a:xfrm>
            <a:off x="1387475" y="2926715"/>
            <a:ext cx="7000875" cy="1200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mn-ea"/>
              </a:defRPr>
            </a:lvl5pPr>
          </a:lstStyle>
          <a:p>
            <a:pPr marL="0" lvl="0" indent="0">
              <a:spcBef>
                <a:spcPct val="0"/>
              </a:spcBef>
              <a:buClrTx/>
              <a:buSzTx/>
              <a:buFontTx/>
              <a:buNone/>
            </a:pPr>
            <a:r>
              <a:rPr lang="en-US" altLang="zh-CN" sz="2400" b="1" dirty="0">
                <a:solidFill>
                  <a:srgbClr val="0070C0"/>
                </a:solidFill>
              </a:rPr>
              <a:t>Solution</a:t>
            </a:r>
            <a:r>
              <a:rPr lang="en-US" altLang="zh-CN" sz="2400" dirty="0">
                <a:solidFill>
                  <a:srgbClr val="0070C0"/>
                </a:solidFill>
              </a:rPr>
              <a:t>: At least three cards of one suit are selected if </a:t>
            </a:r>
            <a:r>
              <a:rPr lang="en-US" altLang="zh-CN" sz="2400" dirty="0">
                <a:solidFill>
                  <a:srgbClr val="0070C0"/>
                </a:solidFill>
                <a:latin typeface="Cambria Math" panose="02040503050406030204" pitchFamily="18" charset="0"/>
              </a:rPr>
              <a:t>⌈</a:t>
            </a:r>
            <a:r>
              <a:rPr lang="en-US" altLang="zh-CN" sz="2400" i="1" dirty="0">
                <a:solidFill>
                  <a:srgbClr val="0070C0"/>
                </a:solidFill>
              </a:rPr>
              <a:t>N</a:t>
            </a:r>
            <a:r>
              <a:rPr lang="en-US" altLang="zh-CN" sz="2400" dirty="0">
                <a:solidFill>
                  <a:srgbClr val="0070C0"/>
                </a:solidFill>
              </a:rPr>
              <a:t>/</a:t>
            </a:r>
            <a:r>
              <a:rPr lang="en-US" altLang="zh-CN" sz="2400" dirty="0">
                <a:solidFill>
                  <a:srgbClr val="0070C0"/>
                </a:solidFill>
                <a:latin typeface="Cambria Math" panose="02040503050406030204" pitchFamily="18" charset="0"/>
              </a:rPr>
              <a:t>4⌉</a:t>
            </a:r>
            <a:r>
              <a:rPr lang="en-US" altLang="zh-CN" sz="2400" dirty="0">
                <a:solidFill>
                  <a:srgbClr val="0070C0"/>
                </a:solidFill>
              </a:rPr>
              <a:t> </a:t>
            </a:r>
            <a:r>
              <a:rPr lang="en-US" altLang="zh-CN" sz="2400" dirty="0">
                <a:solidFill>
                  <a:srgbClr val="0070C0"/>
                </a:solidFill>
                <a:latin typeface="Cambria Math" panose="02040503050406030204" pitchFamily="18" charset="0"/>
              </a:rPr>
              <a:t>≥3</a:t>
            </a:r>
            <a:r>
              <a:rPr lang="en-US" altLang="zh-CN" sz="2400" dirty="0">
                <a:solidFill>
                  <a:srgbClr val="0070C0"/>
                </a:solidFill>
              </a:rPr>
              <a:t>. The smallest integer </a:t>
            </a:r>
            <a:r>
              <a:rPr lang="en-US" altLang="zh-CN" sz="2400" i="1" dirty="0">
                <a:solidFill>
                  <a:srgbClr val="0070C0"/>
                </a:solidFill>
              </a:rPr>
              <a:t>N</a:t>
            </a:r>
            <a:r>
              <a:rPr lang="en-US" altLang="zh-CN" sz="2400" dirty="0">
                <a:solidFill>
                  <a:srgbClr val="0070C0"/>
                </a:solidFill>
              </a:rPr>
              <a:t> such that </a:t>
            </a:r>
            <a:r>
              <a:rPr lang="en-US" altLang="zh-CN" sz="2400" dirty="0">
                <a:solidFill>
                  <a:srgbClr val="0070C0"/>
                </a:solidFill>
                <a:latin typeface="Cambria Math" panose="02040503050406030204" pitchFamily="18" charset="0"/>
              </a:rPr>
              <a:t>⌈</a:t>
            </a:r>
            <a:r>
              <a:rPr lang="en-US" altLang="zh-CN" sz="2400" i="1" dirty="0">
                <a:solidFill>
                  <a:srgbClr val="0070C0"/>
                </a:solidFill>
              </a:rPr>
              <a:t>N</a:t>
            </a:r>
            <a:r>
              <a:rPr lang="en-US" altLang="zh-CN" sz="2400" dirty="0">
                <a:solidFill>
                  <a:srgbClr val="0070C0"/>
                </a:solidFill>
              </a:rPr>
              <a:t>/</a:t>
            </a:r>
            <a:r>
              <a:rPr lang="en-US" altLang="zh-CN" sz="2400" dirty="0">
                <a:solidFill>
                  <a:srgbClr val="0070C0"/>
                </a:solidFill>
                <a:latin typeface="Cambria Math" panose="02040503050406030204" pitchFamily="18" charset="0"/>
              </a:rPr>
              <a:t>4⌉</a:t>
            </a:r>
            <a:r>
              <a:rPr lang="en-US" altLang="zh-CN" sz="2400" dirty="0">
                <a:solidFill>
                  <a:srgbClr val="0070C0"/>
                </a:solidFill>
              </a:rPr>
              <a:t> </a:t>
            </a:r>
            <a:r>
              <a:rPr lang="en-US" altLang="zh-CN" sz="2400" dirty="0">
                <a:solidFill>
                  <a:srgbClr val="0070C0"/>
                </a:solidFill>
                <a:latin typeface="Cambria Math" panose="02040503050406030204" pitchFamily="18" charset="0"/>
              </a:rPr>
              <a:t>≥3 </a:t>
            </a:r>
            <a:r>
              <a:rPr lang="en-US" altLang="zh-CN" sz="2400" dirty="0">
                <a:solidFill>
                  <a:srgbClr val="0070C0"/>
                </a:solidFill>
              </a:rPr>
              <a:t>is</a:t>
            </a:r>
            <a:r>
              <a:rPr lang="en-US" altLang="zh-CN" sz="2400" dirty="0">
                <a:solidFill>
                  <a:srgbClr val="0070C0"/>
                </a:solidFill>
                <a:latin typeface="Cambria Math" panose="02040503050406030204" pitchFamily="18" charset="0"/>
              </a:rPr>
              <a:t>                            </a:t>
            </a:r>
            <a:r>
              <a:rPr lang="en-US" altLang="zh-CN" sz="2400" i="1" dirty="0">
                <a:solidFill>
                  <a:srgbClr val="0070C0"/>
                </a:solidFill>
                <a:latin typeface="Cambria Math" panose="02040503050406030204" pitchFamily="18" charset="0"/>
              </a:rPr>
              <a:t>N</a:t>
            </a:r>
            <a:r>
              <a:rPr lang="en-US" altLang="zh-CN" sz="2400" dirty="0">
                <a:solidFill>
                  <a:srgbClr val="0070C0"/>
                </a:solidFill>
                <a:latin typeface="Cambria Math" panose="02040503050406030204" pitchFamily="18" charset="0"/>
              </a:rPr>
              <a:t> = 2 ∙ 4 + 1 = 9.</a:t>
            </a:r>
            <a:endParaRPr lang="en-US" altLang="zh-CN" sz="2400" dirty="0">
              <a:solidFill>
                <a:srgbClr val="0070C0"/>
              </a:solidFill>
              <a:latin typeface="Cambria Math" panose="02040503050406030204" pitchFamily="18" charset="0"/>
            </a:endParaRPr>
          </a:p>
        </p:txBody>
      </p:sp>
      <p:sp>
        <p:nvSpPr>
          <p:cNvPr id="38920" name="矩形 2"/>
          <p:cNvSpPr/>
          <p:nvPr/>
        </p:nvSpPr>
        <p:spPr>
          <a:xfrm>
            <a:off x="188595" y="5132070"/>
            <a:ext cx="8856663" cy="1200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mn-ea"/>
              </a:defRPr>
            </a:lvl5pPr>
          </a:lstStyle>
          <a:p>
            <a:pPr marL="0" lvl="0" indent="0">
              <a:spcBef>
                <a:spcPct val="0"/>
              </a:spcBef>
              <a:buClrTx/>
              <a:buSzTx/>
              <a:buFontTx/>
              <a:buNone/>
            </a:pPr>
            <a:r>
              <a:rPr lang="en-US" altLang="zh-CN" sz="2400" dirty="0">
                <a:solidFill>
                  <a:srgbClr val="0070C0"/>
                </a:solidFill>
                <a:latin typeface="Cambria Math" panose="02040503050406030204" pitchFamily="18" charset="0"/>
              </a:rPr>
              <a:t>A deck contains 13 hearts and 39 cards which are not hearts. when we select 42 cards, we must have at least three hearts. (Note that the generalized pigeonhole principle is not used here.)</a:t>
            </a:r>
            <a:endParaRPr lang="zh-CN" altLang="en-US" sz="2400" dirty="0">
              <a:solidFill>
                <a:srgbClr val="0070C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39939"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39940"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39941" name="Rectangle 2"/>
          <p:cNvSpPr>
            <a:spLocks noGrp="1"/>
          </p:cNvSpPr>
          <p:nvPr>
            <p:ph type="title"/>
          </p:nvPr>
        </p:nvSpPr>
        <p:spPr/>
        <p:txBody>
          <a:bodyPr vert="horz" wrap="square" lIns="91440" tIns="45720" rIns="91440" bIns="45720" anchor="b" anchorCtr="0"/>
          <a:p>
            <a:pPr eaLnBrk="1" hangingPunct="1"/>
            <a:r>
              <a:rPr lang="en-US" altLang="zh-CN" dirty="0"/>
              <a:t>Example 11</a:t>
            </a:r>
            <a:endParaRPr lang="en-US" altLang="zh-CN" dirty="0"/>
          </a:p>
        </p:txBody>
      </p:sp>
      <p:sp>
        <p:nvSpPr>
          <p:cNvPr id="39942" name="Rectangle 3"/>
          <p:cNvSpPr>
            <a:spLocks noGrp="1"/>
          </p:cNvSpPr>
          <p:nvPr>
            <p:ph idx="1"/>
          </p:nvPr>
        </p:nvSpPr>
        <p:spPr>
          <a:xfrm>
            <a:off x="488315" y="1198880"/>
            <a:ext cx="8695690" cy="4114800"/>
          </a:xfrm>
        </p:spPr>
        <p:txBody>
          <a:bodyPr vert="horz" wrap="square" lIns="91440" tIns="45720" rIns="91440" bIns="45720" anchor="t" anchorCtr="0"/>
          <a:p>
            <a:pPr eaLnBrk="1" hangingPunct="1"/>
            <a:r>
              <a:rPr lang="en-US" altLang="zh-CN" sz="2400" dirty="0"/>
              <a:t>Show that among any </a:t>
            </a:r>
            <a:r>
              <a:rPr lang="en-US" altLang="zh-CN" sz="2400" i="1" dirty="0"/>
              <a:t>n</a:t>
            </a:r>
            <a:r>
              <a:rPr lang="en-US" altLang="zh-CN" sz="2400" dirty="0"/>
              <a:t>+1 positive integers not exceeding 2</a:t>
            </a:r>
            <a:r>
              <a:rPr lang="en-US" altLang="zh-CN" sz="2400" i="1" dirty="0"/>
              <a:t>n</a:t>
            </a:r>
            <a:r>
              <a:rPr lang="en-US" altLang="zh-CN" sz="2400" dirty="0"/>
              <a:t> there must be an integer that divides one of the other integers.</a:t>
            </a:r>
            <a:endParaRPr lang="en-US" altLang="zh-CN" sz="2400" dirty="0"/>
          </a:p>
          <a:p>
            <a:pPr marL="342900" marR="0" lvl="0" indent="-342900" algn="l"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Char char="n"/>
              <a:defRPr/>
            </a:pPr>
            <a:r>
              <a:rPr lang="en-US" altLang="zh-CN" sz="2400" b="1" noProof="0" dirty="0">
                <a:ln>
                  <a:noFill/>
                </a:ln>
                <a:effectLst/>
                <a:uLnTx/>
                <a:uFillTx/>
                <a:latin typeface="+mn-lt"/>
                <a:sym typeface="+mn-ea"/>
              </a:rPr>
              <a:t>Proof:</a:t>
            </a:r>
            <a:endParaRPr kumimoji="0" lang="en-US" altLang="zh-CN" sz="2400" b="1" i="0" u="none" strike="noStrike" kern="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0" fontAlgn="base" latinLnBrk="0" hangingPunct="0">
              <a:lnSpc>
                <a:spcPct val="100000"/>
              </a:lnSpc>
              <a:spcBef>
                <a:spcPct val="20000"/>
              </a:spcBef>
              <a:spcAft>
                <a:spcPct val="0"/>
              </a:spcAft>
              <a:buClr>
                <a:schemeClr val="tx2"/>
              </a:buClr>
              <a:buSzPct val="55000"/>
              <a:buFont typeface="Wingdings" panose="05000000000000000000" pitchFamily="2" charset="2"/>
              <a:buChar char="n"/>
              <a:defRPr/>
            </a:pPr>
            <a:r>
              <a:rPr lang="en-US" altLang="zh-CN" sz="2400" noProof="0" dirty="0">
                <a:ln>
                  <a:noFill/>
                </a:ln>
                <a:effectLst/>
                <a:uLnTx/>
                <a:uFillTx/>
                <a:cs typeface="Times New Roman" panose="02020503050405090304" pitchFamily="18" charset="0"/>
                <a:sym typeface="+mn-ea"/>
              </a:rPr>
              <a:t>Each of the </a:t>
            </a:r>
            <a:r>
              <a:rPr lang="en-US" altLang="zh-CN" sz="2400" i="1" noProof="0" dirty="0">
                <a:ln>
                  <a:noFill/>
                </a:ln>
                <a:effectLst/>
                <a:uLnTx/>
                <a:uFillTx/>
                <a:cs typeface="Times New Roman" panose="02020503050405090304" pitchFamily="18" charset="0"/>
                <a:sym typeface="+mn-ea"/>
              </a:rPr>
              <a:t>n+</a:t>
            </a:r>
            <a:r>
              <a:rPr lang="en-US" altLang="zh-CN" sz="2400" noProof="0" dirty="0">
                <a:ln>
                  <a:noFill/>
                </a:ln>
                <a:effectLst/>
                <a:uLnTx/>
                <a:uFillTx/>
                <a:cs typeface="Times New Roman" panose="02020503050405090304" pitchFamily="18" charset="0"/>
                <a:sym typeface="+mn-ea"/>
              </a:rPr>
              <a:t>1 integers </a:t>
            </a:r>
            <a:r>
              <a:rPr lang="en-US" altLang="zh-CN" sz="2400" i="1" noProof="0" dirty="0">
                <a:ln>
                  <a:noFill/>
                </a:ln>
                <a:effectLst/>
                <a:uLnTx/>
                <a:uFillTx/>
                <a:cs typeface="Times New Roman" panose="02020503050405090304" pitchFamily="18" charset="0"/>
                <a:sym typeface="+mn-ea"/>
              </a:rPr>
              <a:t>a</a:t>
            </a:r>
            <a:r>
              <a:rPr lang="en-US" altLang="zh-CN" sz="2400" i="1" baseline="-25000" noProof="0" dirty="0">
                <a:ln>
                  <a:noFill/>
                </a:ln>
                <a:effectLst/>
                <a:uLnTx/>
                <a:uFillTx/>
                <a:cs typeface="Times New Roman" panose="02020503050405090304" pitchFamily="18" charset="0"/>
                <a:sym typeface="+mn-ea"/>
              </a:rPr>
              <a:t>1</a:t>
            </a:r>
            <a:r>
              <a:rPr lang="en-US" altLang="zh-CN" sz="2400" i="1" noProof="0" dirty="0">
                <a:ln>
                  <a:noFill/>
                </a:ln>
                <a:effectLst/>
                <a:uLnTx/>
                <a:uFillTx/>
                <a:cs typeface="Times New Roman" panose="02020503050405090304" pitchFamily="18" charset="0"/>
                <a:sym typeface="+mn-ea"/>
              </a:rPr>
              <a:t>, a</a:t>
            </a:r>
            <a:r>
              <a:rPr lang="en-US" altLang="zh-CN" sz="2400" i="1" baseline="-25000" noProof="0" dirty="0">
                <a:ln>
                  <a:noFill/>
                </a:ln>
                <a:effectLst/>
                <a:uLnTx/>
                <a:uFillTx/>
                <a:cs typeface="Times New Roman" panose="02020503050405090304" pitchFamily="18" charset="0"/>
                <a:sym typeface="+mn-ea"/>
              </a:rPr>
              <a:t>2</a:t>
            </a:r>
            <a:r>
              <a:rPr lang="en-US" altLang="zh-CN" sz="2400" i="1" noProof="0" dirty="0">
                <a:ln>
                  <a:noFill/>
                </a:ln>
                <a:effectLst/>
                <a:uLnTx/>
                <a:uFillTx/>
                <a:cs typeface="Times New Roman" panose="02020503050405090304" pitchFamily="18" charset="0"/>
                <a:sym typeface="+mn-ea"/>
              </a:rPr>
              <a:t>, … , a</a:t>
            </a:r>
            <a:r>
              <a:rPr lang="en-US" altLang="zh-CN" sz="2400" i="1" baseline="-25000" noProof="0" dirty="0">
                <a:ln>
                  <a:noFill/>
                </a:ln>
                <a:effectLst/>
                <a:uLnTx/>
                <a:uFillTx/>
                <a:cs typeface="Times New Roman" panose="02020503050405090304" pitchFamily="18" charset="0"/>
                <a:sym typeface="+mn-ea"/>
              </a:rPr>
              <a:t>n+1</a:t>
            </a:r>
            <a:r>
              <a:rPr lang="en-US" altLang="zh-CN" sz="2400" i="1" noProof="0" dirty="0">
                <a:ln>
                  <a:noFill/>
                </a:ln>
                <a:effectLst/>
                <a:uLnTx/>
                <a:uFillTx/>
                <a:cs typeface="Times New Roman" panose="02020503050405090304" pitchFamily="18" charset="0"/>
                <a:sym typeface="+mn-ea"/>
              </a:rPr>
              <a:t> </a:t>
            </a:r>
            <a:r>
              <a:rPr lang="en-US" altLang="zh-CN" sz="2400" noProof="0" dirty="0">
                <a:ln>
                  <a:noFill/>
                </a:ln>
                <a:effectLst/>
                <a:uLnTx/>
                <a:uFillTx/>
                <a:cs typeface="Times New Roman" panose="02020503050405090304" pitchFamily="18" charset="0"/>
                <a:sym typeface="+mn-ea"/>
              </a:rPr>
              <a:t>can be written as a power of 2 times an odd integer.  </a:t>
            </a:r>
            <a:r>
              <a:rPr lang="en-US" altLang="zh-CN" sz="2400" b="1" noProof="0" dirty="0">
                <a:ln>
                  <a:noFill/>
                </a:ln>
                <a:solidFill>
                  <a:srgbClr val="FF0000"/>
                </a:solidFill>
                <a:effectLst/>
                <a:uLnTx/>
                <a:uFillTx/>
                <a:cs typeface="Times New Roman" panose="02020503050405090304" pitchFamily="18" charset="0"/>
                <a:sym typeface="+mn-ea"/>
              </a:rPr>
              <a:t>(why?)</a:t>
            </a:r>
            <a:endParaRPr kumimoji="0" lang="en-US" altLang="zh-CN" sz="2400" b="1" i="0" u="none" strike="noStrike" kern="0" cap="none" spc="0" normalizeH="0" baseline="0" noProof="0" dirty="0">
              <a:ln>
                <a:noFill/>
              </a:ln>
              <a:solidFill>
                <a:srgbClr val="FF0000"/>
              </a:solidFill>
              <a:effectLst/>
              <a:uLnTx/>
              <a:uFillTx/>
              <a:latin typeface="Times New Roman" panose="02020503050405090304" pitchFamily="18" charset="0"/>
              <a:ea typeface="+mn-ea"/>
              <a:cs typeface="Times New Roman" panose="02020503050405090304" pitchFamily="18" charset="0"/>
            </a:endParaRPr>
          </a:p>
          <a:p>
            <a:pPr marL="742950" marR="0" lvl="1" indent="-285750" algn="l" defTabSz="914400" rtl="0" eaLnBrk="0" fontAlgn="base" latinLnBrk="0" hangingPunct="0">
              <a:lnSpc>
                <a:spcPct val="100000"/>
              </a:lnSpc>
              <a:spcBef>
                <a:spcPct val="20000"/>
              </a:spcBef>
              <a:spcAft>
                <a:spcPct val="0"/>
              </a:spcAft>
              <a:buClr>
                <a:schemeClr val="tx2"/>
              </a:buClr>
              <a:buSzPct val="55000"/>
              <a:buFont typeface="Wingdings" panose="05000000000000000000" pitchFamily="2" charset="2"/>
              <a:buChar char="n"/>
              <a:defRPr/>
            </a:pPr>
            <a:r>
              <a:rPr lang="en-US" altLang="zh-CN" sz="2400" noProof="0" dirty="0">
                <a:ln>
                  <a:noFill/>
                </a:ln>
                <a:effectLst/>
                <a:uLnTx/>
                <a:uFillTx/>
                <a:cs typeface="Times New Roman" panose="02020503050405090304" pitchFamily="18" charset="0"/>
                <a:sym typeface="+mn-ea"/>
              </a:rPr>
              <a:t>In other words, let </a:t>
            </a:r>
            <a:r>
              <a:rPr lang="en-US" altLang="zh-CN" sz="2400" i="1" noProof="0" dirty="0" err="1">
                <a:ln>
                  <a:noFill/>
                </a:ln>
                <a:effectLst/>
                <a:uLnTx/>
                <a:uFillTx/>
                <a:cs typeface="Times New Roman" panose="02020503050405090304" pitchFamily="18" charset="0"/>
                <a:sym typeface="+mn-ea"/>
              </a:rPr>
              <a:t>a</a:t>
            </a:r>
            <a:r>
              <a:rPr lang="en-US" altLang="zh-CN" sz="2400" i="1" baseline="-25000" noProof="0" dirty="0" err="1">
                <a:ln>
                  <a:noFill/>
                </a:ln>
                <a:effectLst/>
                <a:uLnTx/>
                <a:uFillTx/>
                <a:cs typeface="Times New Roman" panose="02020503050405090304" pitchFamily="18" charset="0"/>
                <a:sym typeface="+mn-ea"/>
              </a:rPr>
              <a:t>j</a:t>
            </a:r>
            <a:r>
              <a:rPr lang="en-US" altLang="zh-CN" sz="2400" i="1" noProof="0" dirty="0">
                <a:ln>
                  <a:noFill/>
                </a:ln>
                <a:effectLst/>
                <a:uLnTx/>
                <a:uFillTx/>
                <a:cs typeface="Times New Roman" panose="02020503050405090304" pitchFamily="18" charset="0"/>
                <a:sym typeface="+mn-ea"/>
              </a:rPr>
              <a:t> = 2</a:t>
            </a:r>
            <a:r>
              <a:rPr lang="en-US" altLang="zh-CN" sz="2400" i="1" baseline="30000" noProof="0" dirty="0">
                <a:ln>
                  <a:noFill/>
                </a:ln>
                <a:effectLst/>
                <a:uLnTx/>
                <a:uFillTx/>
                <a:cs typeface="Times New Roman" panose="02020503050405090304" pitchFamily="18" charset="0"/>
                <a:sym typeface="+mn-ea"/>
              </a:rPr>
              <a:t>kj</a:t>
            </a:r>
            <a:r>
              <a:rPr lang="en-US" altLang="zh-CN" sz="2400" i="1" noProof="0" dirty="0">
                <a:ln>
                  <a:noFill/>
                </a:ln>
                <a:effectLst/>
                <a:uLnTx/>
                <a:uFillTx/>
                <a:cs typeface="Times New Roman" panose="02020503050405090304" pitchFamily="18" charset="0"/>
                <a:sym typeface="+mn-ea"/>
              </a:rPr>
              <a:t>q</a:t>
            </a:r>
            <a:r>
              <a:rPr lang="en-US" altLang="zh-CN" sz="2400" i="1" baseline="-25000" noProof="0" dirty="0">
                <a:ln>
                  <a:noFill/>
                </a:ln>
                <a:effectLst/>
                <a:uLnTx/>
                <a:uFillTx/>
                <a:cs typeface="Times New Roman" panose="02020503050405090304" pitchFamily="18" charset="0"/>
                <a:sym typeface="+mn-ea"/>
              </a:rPr>
              <a:t>j</a:t>
            </a:r>
            <a:r>
              <a:rPr lang="en-US" altLang="zh-CN" sz="2400" noProof="0" dirty="0">
                <a:ln>
                  <a:noFill/>
                </a:ln>
                <a:effectLst/>
                <a:uLnTx/>
                <a:uFillTx/>
                <a:cs typeface="Times New Roman" panose="02020503050405090304" pitchFamily="18" charset="0"/>
                <a:sym typeface="+mn-ea"/>
              </a:rPr>
              <a:t> for </a:t>
            </a:r>
            <a:r>
              <a:rPr lang="en-US" altLang="zh-CN" sz="2400" i="1" noProof="0" dirty="0">
                <a:ln>
                  <a:noFill/>
                </a:ln>
                <a:effectLst/>
                <a:uLnTx/>
                <a:uFillTx/>
                <a:cs typeface="Times New Roman" panose="02020503050405090304" pitchFamily="18" charset="0"/>
                <a:sym typeface="+mn-ea"/>
              </a:rPr>
              <a:t>j = 1, 2,…, n+1</a:t>
            </a:r>
            <a:r>
              <a:rPr lang="en-US" altLang="zh-CN" sz="2400" noProof="0" dirty="0">
                <a:ln>
                  <a:noFill/>
                </a:ln>
                <a:effectLst/>
                <a:uLnTx/>
                <a:uFillTx/>
                <a:cs typeface="Times New Roman" panose="02020503050405090304" pitchFamily="18" charset="0"/>
                <a:sym typeface="+mn-ea"/>
              </a:rPr>
              <a:t>, where </a:t>
            </a:r>
            <a:r>
              <a:rPr lang="en-US" altLang="zh-CN" sz="2400" i="1" noProof="0" dirty="0" err="1">
                <a:ln>
                  <a:noFill/>
                </a:ln>
                <a:effectLst/>
                <a:uLnTx/>
                <a:uFillTx/>
                <a:cs typeface="Times New Roman" panose="02020503050405090304" pitchFamily="18" charset="0"/>
                <a:sym typeface="+mn-ea"/>
              </a:rPr>
              <a:t>k</a:t>
            </a:r>
            <a:r>
              <a:rPr lang="en-US" altLang="zh-CN" sz="2400" i="1" baseline="-25000" noProof="0" dirty="0" err="1">
                <a:ln>
                  <a:noFill/>
                </a:ln>
                <a:effectLst/>
                <a:uLnTx/>
                <a:uFillTx/>
                <a:cs typeface="Times New Roman" panose="02020503050405090304" pitchFamily="18" charset="0"/>
                <a:sym typeface="+mn-ea"/>
              </a:rPr>
              <a:t>j</a:t>
            </a:r>
            <a:r>
              <a:rPr lang="en-US" altLang="zh-CN" sz="2400" noProof="0" dirty="0">
                <a:ln>
                  <a:noFill/>
                </a:ln>
                <a:effectLst/>
                <a:uLnTx/>
                <a:uFillTx/>
                <a:cs typeface="Times New Roman" panose="02020503050405090304" pitchFamily="18" charset="0"/>
                <a:sym typeface="+mn-ea"/>
              </a:rPr>
              <a:t> is a nonnegative integer and all </a:t>
            </a:r>
            <a:r>
              <a:rPr lang="en-US" altLang="zh-CN" sz="2400" i="1" noProof="0" dirty="0" err="1">
                <a:ln>
                  <a:noFill/>
                </a:ln>
                <a:effectLst/>
                <a:uLnTx/>
                <a:uFillTx/>
                <a:cs typeface="Times New Roman" panose="02020503050405090304" pitchFamily="18" charset="0"/>
                <a:sym typeface="+mn-ea"/>
              </a:rPr>
              <a:t>q</a:t>
            </a:r>
            <a:r>
              <a:rPr lang="en-US" altLang="zh-CN" sz="2400" i="1" baseline="-25000" noProof="0" dirty="0" err="1">
                <a:ln>
                  <a:noFill/>
                </a:ln>
                <a:effectLst/>
                <a:uLnTx/>
                <a:uFillTx/>
                <a:cs typeface="Times New Roman" panose="02020503050405090304" pitchFamily="18" charset="0"/>
                <a:sym typeface="+mn-ea"/>
              </a:rPr>
              <a:t>j</a:t>
            </a:r>
            <a:r>
              <a:rPr lang="en-US" altLang="zh-CN" sz="2400" i="1" noProof="0" dirty="0">
                <a:ln>
                  <a:noFill/>
                </a:ln>
                <a:effectLst/>
                <a:uLnTx/>
                <a:uFillTx/>
                <a:cs typeface="Times New Roman" panose="02020503050405090304" pitchFamily="18" charset="0"/>
                <a:sym typeface="+mn-ea"/>
              </a:rPr>
              <a:t> </a:t>
            </a:r>
            <a:r>
              <a:rPr lang="en-US" altLang="zh-CN" sz="2400" noProof="0" dirty="0">
                <a:ln>
                  <a:noFill/>
                </a:ln>
                <a:effectLst/>
                <a:uLnTx/>
                <a:uFillTx/>
                <a:cs typeface="Times New Roman" panose="02020503050405090304" pitchFamily="18" charset="0"/>
                <a:sym typeface="+mn-ea"/>
              </a:rPr>
              <a:t>are odd positive integers less than </a:t>
            </a:r>
            <a:r>
              <a:rPr lang="en-US" altLang="zh-CN" sz="2400" i="1" noProof="0" dirty="0">
                <a:ln>
                  <a:noFill/>
                </a:ln>
                <a:effectLst/>
                <a:uLnTx/>
                <a:uFillTx/>
                <a:cs typeface="Times New Roman" panose="02020503050405090304" pitchFamily="18" charset="0"/>
                <a:sym typeface="+mn-ea"/>
              </a:rPr>
              <a:t>2n</a:t>
            </a:r>
            <a:r>
              <a:rPr lang="en-US" altLang="zh-CN" sz="2400" noProof="0" dirty="0">
                <a:ln>
                  <a:noFill/>
                </a:ln>
                <a:effectLst/>
                <a:uLnTx/>
                <a:uFillTx/>
                <a:cs typeface="Times New Roman" panose="02020503050405090304" pitchFamily="18" charset="0"/>
                <a:sym typeface="+mn-ea"/>
              </a:rPr>
              <a:t>.</a:t>
            </a:r>
            <a:endParaRPr kumimoji="0"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742950" marR="0" lvl="1" indent="-285750" algn="l" defTabSz="914400" rtl="0" eaLnBrk="0" fontAlgn="base" latinLnBrk="0" hangingPunct="0">
              <a:lnSpc>
                <a:spcPct val="100000"/>
              </a:lnSpc>
              <a:spcBef>
                <a:spcPct val="20000"/>
              </a:spcBef>
              <a:spcAft>
                <a:spcPct val="0"/>
              </a:spcAft>
              <a:buClr>
                <a:schemeClr val="tx2"/>
              </a:buClr>
              <a:buSzPct val="55000"/>
              <a:buFont typeface="Wingdings" panose="05000000000000000000" pitchFamily="2" charset="2"/>
              <a:buChar char="n"/>
              <a:defRPr/>
            </a:pPr>
            <a:r>
              <a:rPr lang="en-US" altLang="zh-CN" sz="2400" noProof="0" dirty="0">
                <a:ln>
                  <a:noFill/>
                </a:ln>
                <a:effectLst/>
                <a:uLnTx/>
                <a:uFillTx/>
                <a:cs typeface="Times New Roman" panose="02020503050405090304" pitchFamily="18" charset="0"/>
                <a:sym typeface="+mn-ea"/>
              </a:rPr>
              <a:t>Because there are only </a:t>
            </a:r>
            <a:r>
              <a:rPr lang="en-US" altLang="zh-CN" sz="2400" i="1" noProof="0" dirty="0">
                <a:ln>
                  <a:noFill/>
                </a:ln>
                <a:effectLst/>
                <a:uLnTx/>
                <a:uFillTx/>
                <a:cs typeface="Times New Roman" panose="02020503050405090304" pitchFamily="18" charset="0"/>
                <a:sym typeface="+mn-ea"/>
              </a:rPr>
              <a:t>n </a:t>
            </a:r>
            <a:r>
              <a:rPr lang="en-US" altLang="zh-CN" sz="2400" noProof="0" dirty="0">
                <a:ln>
                  <a:noFill/>
                </a:ln>
                <a:effectLst/>
                <a:uLnTx/>
                <a:uFillTx/>
                <a:cs typeface="Times New Roman" panose="02020503050405090304" pitchFamily="18" charset="0"/>
                <a:sym typeface="+mn-ea"/>
              </a:rPr>
              <a:t>odd positive integers less than </a:t>
            </a:r>
            <a:r>
              <a:rPr lang="en-US" altLang="zh-CN" sz="2400" i="1" noProof="0" dirty="0">
                <a:ln>
                  <a:noFill/>
                </a:ln>
                <a:effectLst/>
                <a:uLnTx/>
                <a:uFillTx/>
                <a:cs typeface="Times New Roman" panose="02020503050405090304" pitchFamily="18" charset="0"/>
                <a:sym typeface="+mn-ea"/>
              </a:rPr>
              <a:t>2n</a:t>
            </a:r>
            <a:r>
              <a:rPr lang="en-US" altLang="zh-CN" sz="2400" noProof="0" dirty="0">
                <a:ln>
                  <a:noFill/>
                </a:ln>
                <a:effectLst/>
                <a:uLnTx/>
                <a:uFillTx/>
                <a:cs typeface="Times New Roman" panose="02020503050405090304" pitchFamily="18" charset="0"/>
                <a:sym typeface="+mn-ea"/>
              </a:rPr>
              <a:t>, it follows from the pigeonhole principle that two of the integers </a:t>
            </a:r>
            <a:r>
              <a:rPr lang="en-US" altLang="zh-CN" sz="2400" i="1" noProof="0" dirty="0">
                <a:ln>
                  <a:noFill/>
                </a:ln>
                <a:effectLst/>
                <a:uLnTx/>
                <a:uFillTx/>
                <a:cs typeface="Times New Roman" panose="02020503050405090304" pitchFamily="18" charset="0"/>
                <a:sym typeface="+mn-ea"/>
              </a:rPr>
              <a:t>q</a:t>
            </a:r>
            <a:r>
              <a:rPr lang="en-US" altLang="zh-CN" sz="2400" i="1" baseline="-25000" noProof="0" dirty="0">
                <a:ln>
                  <a:noFill/>
                </a:ln>
                <a:effectLst/>
                <a:uLnTx/>
                <a:uFillTx/>
                <a:cs typeface="Times New Roman" panose="02020503050405090304" pitchFamily="18" charset="0"/>
                <a:sym typeface="+mn-ea"/>
              </a:rPr>
              <a:t>1</a:t>
            </a:r>
            <a:r>
              <a:rPr lang="en-US" altLang="zh-CN" sz="2400" i="1" noProof="0" dirty="0">
                <a:ln>
                  <a:noFill/>
                </a:ln>
                <a:effectLst/>
                <a:uLnTx/>
                <a:uFillTx/>
                <a:cs typeface="Times New Roman" panose="02020503050405090304" pitchFamily="18" charset="0"/>
                <a:sym typeface="+mn-ea"/>
              </a:rPr>
              <a:t>, q</a:t>
            </a:r>
            <a:r>
              <a:rPr lang="en-US" altLang="zh-CN" sz="2400" i="1" baseline="-25000" noProof="0" dirty="0">
                <a:ln>
                  <a:noFill/>
                </a:ln>
                <a:effectLst/>
                <a:uLnTx/>
                <a:uFillTx/>
                <a:cs typeface="Times New Roman" panose="02020503050405090304" pitchFamily="18" charset="0"/>
                <a:sym typeface="+mn-ea"/>
              </a:rPr>
              <a:t>2</a:t>
            </a:r>
            <a:r>
              <a:rPr lang="en-US" altLang="zh-CN" sz="2400" i="1" noProof="0" dirty="0">
                <a:ln>
                  <a:noFill/>
                </a:ln>
                <a:effectLst/>
                <a:uLnTx/>
                <a:uFillTx/>
                <a:cs typeface="Times New Roman" panose="02020503050405090304" pitchFamily="18" charset="0"/>
                <a:sym typeface="+mn-ea"/>
              </a:rPr>
              <a:t>, … , q</a:t>
            </a:r>
            <a:r>
              <a:rPr lang="en-US" altLang="zh-CN" sz="2400" i="1" baseline="-25000" noProof="0" dirty="0">
                <a:ln>
                  <a:noFill/>
                </a:ln>
                <a:effectLst/>
                <a:uLnTx/>
                <a:uFillTx/>
                <a:cs typeface="Times New Roman" panose="02020503050405090304" pitchFamily="18" charset="0"/>
                <a:sym typeface="+mn-ea"/>
              </a:rPr>
              <a:t>n+1 </a:t>
            </a:r>
            <a:r>
              <a:rPr lang="en-US" altLang="zh-CN" sz="2400" noProof="0" dirty="0">
                <a:ln>
                  <a:noFill/>
                </a:ln>
                <a:effectLst/>
                <a:uLnTx/>
                <a:uFillTx/>
                <a:cs typeface="Times New Roman" panose="02020503050405090304" pitchFamily="18" charset="0"/>
                <a:sym typeface="+mn-ea"/>
              </a:rPr>
              <a:t>must be equal.</a:t>
            </a:r>
            <a:endParaRPr kumimoji="0" lang="en-US" altLang="zh-CN"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742950" marR="0" lvl="1" indent="-285750" algn="l" defTabSz="914400" rtl="0" eaLnBrk="0" fontAlgn="base" latinLnBrk="0" hangingPunct="0">
              <a:lnSpc>
                <a:spcPct val="100000"/>
              </a:lnSpc>
              <a:spcBef>
                <a:spcPct val="20000"/>
              </a:spcBef>
              <a:spcAft>
                <a:spcPct val="0"/>
              </a:spcAft>
              <a:buClr>
                <a:schemeClr val="tx2"/>
              </a:buClr>
              <a:buSzPct val="55000"/>
              <a:buFont typeface="Wingdings" panose="05000000000000000000" pitchFamily="2" charset="2"/>
              <a:buChar char="n"/>
              <a:defRPr/>
            </a:pPr>
            <a:r>
              <a:rPr lang="en-US" altLang="zh-CN" sz="2400" noProof="0" dirty="0">
                <a:ln>
                  <a:noFill/>
                </a:ln>
                <a:effectLst/>
                <a:uLnTx/>
                <a:uFillTx/>
                <a:cs typeface="Times New Roman" panose="02020503050405090304" pitchFamily="18" charset="0"/>
                <a:sym typeface="+mn-ea"/>
              </a:rPr>
              <a:t>Therefore, there are distinct integers </a:t>
            </a:r>
            <a:r>
              <a:rPr lang="en-US" altLang="zh-CN" sz="2400" i="1" noProof="0" dirty="0" err="1">
                <a:ln>
                  <a:noFill/>
                </a:ln>
                <a:effectLst/>
                <a:uLnTx/>
                <a:uFillTx/>
                <a:cs typeface="Times New Roman" panose="02020503050405090304" pitchFamily="18" charset="0"/>
                <a:sym typeface="+mn-ea"/>
              </a:rPr>
              <a:t>i</a:t>
            </a:r>
            <a:r>
              <a:rPr lang="en-US" altLang="zh-CN" sz="2400" noProof="0" dirty="0">
                <a:ln>
                  <a:noFill/>
                </a:ln>
                <a:effectLst/>
                <a:uLnTx/>
                <a:uFillTx/>
                <a:cs typeface="Times New Roman" panose="02020503050405090304" pitchFamily="18" charset="0"/>
                <a:sym typeface="+mn-ea"/>
              </a:rPr>
              <a:t> and </a:t>
            </a:r>
            <a:r>
              <a:rPr lang="en-US" altLang="zh-CN" sz="2400" i="1" noProof="0" dirty="0">
                <a:ln>
                  <a:noFill/>
                </a:ln>
                <a:effectLst/>
                <a:uLnTx/>
                <a:uFillTx/>
                <a:cs typeface="Times New Roman" panose="02020503050405090304" pitchFamily="18" charset="0"/>
                <a:sym typeface="+mn-ea"/>
              </a:rPr>
              <a:t>j </a:t>
            </a:r>
            <a:r>
              <a:rPr lang="en-US" altLang="zh-CN" sz="2400" noProof="0" dirty="0">
                <a:ln>
                  <a:noFill/>
                </a:ln>
                <a:effectLst/>
                <a:uLnTx/>
                <a:uFillTx/>
                <a:cs typeface="Times New Roman" panose="02020503050405090304" pitchFamily="18" charset="0"/>
                <a:sym typeface="+mn-ea"/>
              </a:rPr>
              <a:t>such that </a:t>
            </a:r>
            <a:r>
              <a:rPr lang="en-US" altLang="zh-CN" sz="2400" i="1" noProof="0" dirty="0">
                <a:ln>
                  <a:noFill/>
                </a:ln>
                <a:effectLst/>
                <a:uLnTx/>
                <a:uFillTx/>
                <a:cs typeface="Times New Roman" panose="02020503050405090304" pitchFamily="18" charset="0"/>
                <a:sym typeface="+mn-ea"/>
              </a:rPr>
              <a:t>q</a:t>
            </a:r>
            <a:r>
              <a:rPr lang="en-US" altLang="zh-CN" sz="2400" i="1" baseline="-25000" noProof="0" dirty="0">
                <a:ln>
                  <a:noFill/>
                </a:ln>
                <a:effectLst/>
                <a:uLnTx/>
                <a:uFillTx/>
                <a:cs typeface="Times New Roman" panose="02020503050405090304" pitchFamily="18" charset="0"/>
                <a:sym typeface="+mn-ea"/>
              </a:rPr>
              <a:t>i</a:t>
            </a:r>
            <a:r>
              <a:rPr lang="en-US" altLang="zh-CN" sz="2400" i="1" noProof="0" dirty="0">
                <a:ln>
                  <a:noFill/>
                </a:ln>
                <a:effectLst/>
                <a:uLnTx/>
                <a:uFillTx/>
                <a:cs typeface="Times New Roman" panose="02020503050405090304" pitchFamily="18" charset="0"/>
                <a:sym typeface="+mn-ea"/>
              </a:rPr>
              <a:t> = </a:t>
            </a:r>
            <a:r>
              <a:rPr lang="en-US" altLang="zh-CN" sz="2400" i="1" noProof="0" dirty="0" err="1">
                <a:ln>
                  <a:noFill/>
                </a:ln>
                <a:effectLst/>
                <a:uLnTx/>
                <a:uFillTx/>
                <a:cs typeface="Times New Roman" panose="02020503050405090304" pitchFamily="18" charset="0"/>
                <a:sym typeface="+mn-ea"/>
              </a:rPr>
              <a:t>q</a:t>
            </a:r>
            <a:r>
              <a:rPr lang="en-US" altLang="zh-CN" sz="2400" i="1" baseline="-25000" noProof="0" dirty="0" err="1">
                <a:ln>
                  <a:noFill/>
                </a:ln>
                <a:effectLst/>
                <a:uLnTx/>
                <a:uFillTx/>
                <a:cs typeface="Times New Roman" panose="02020503050405090304" pitchFamily="18" charset="0"/>
                <a:sym typeface="+mn-ea"/>
              </a:rPr>
              <a:t>j</a:t>
            </a:r>
            <a:r>
              <a:rPr lang="en-US" altLang="zh-CN" sz="2400" i="1" baseline="-25000" noProof="0" dirty="0">
                <a:ln>
                  <a:noFill/>
                </a:ln>
                <a:effectLst/>
                <a:uLnTx/>
                <a:uFillTx/>
                <a:cs typeface="Times New Roman" panose="02020503050405090304" pitchFamily="18" charset="0"/>
                <a:sym typeface="+mn-ea"/>
              </a:rPr>
              <a:t> </a:t>
            </a:r>
            <a:r>
              <a:rPr lang="en-US" altLang="zh-CN" sz="2400" i="1" noProof="0" dirty="0">
                <a:ln>
                  <a:noFill/>
                </a:ln>
                <a:effectLst/>
                <a:uLnTx/>
                <a:uFillTx/>
                <a:cs typeface="Times New Roman" panose="02020503050405090304" pitchFamily="18" charset="0"/>
                <a:sym typeface="+mn-ea"/>
              </a:rPr>
              <a:t>= q</a:t>
            </a:r>
            <a:r>
              <a:rPr lang="en-US" altLang="zh-CN" sz="2400" noProof="0" dirty="0">
                <a:ln>
                  <a:noFill/>
                </a:ln>
                <a:effectLst/>
                <a:uLnTx/>
                <a:uFillTx/>
                <a:cs typeface="Times New Roman" panose="02020503050405090304" pitchFamily="18" charset="0"/>
                <a:sym typeface="+mn-ea"/>
              </a:rPr>
              <a:t>. Then, </a:t>
            </a:r>
            <a:r>
              <a:rPr lang="en-US" altLang="zh-CN" sz="2400" i="1" noProof="0" dirty="0">
                <a:ln>
                  <a:noFill/>
                </a:ln>
                <a:solidFill>
                  <a:srgbClr val="FF0000"/>
                </a:solidFill>
                <a:effectLst/>
                <a:uLnTx/>
                <a:uFillTx/>
                <a:cs typeface="Times New Roman" panose="02020503050405090304" pitchFamily="18" charset="0"/>
                <a:sym typeface="+mn-ea"/>
              </a:rPr>
              <a:t>a</a:t>
            </a:r>
            <a:r>
              <a:rPr lang="en-US" altLang="zh-CN" sz="2400" i="1" baseline="-25000" noProof="0" dirty="0">
                <a:ln>
                  <a:noFill/>
                </a:ln>
                <a:solidFill>
                  <a:srgbClr val="FF0000"/>
                </a:solidFill>
                <a:effectLst/>
                <a:uLnTx/>
                <a:uFillTx/>
                <a:cs typeface="Times New Roman" panose="02020503050405090304" pitchFamily="18" charset="0"/>
                <a:sym typeface="+mn-ea"/>
              </a:rPr>
              <a:t>i</a:t>
            </a:r>
            <a:r>
              <a:rPr lang="en-US" altLang="zh-CN" sz="2400" i="1" noProof="0" dirty="0">
                <a:ln>
                  <a:noFill/>
                </a:ln>
                <a:solidFill>
                  <a:srgbClr val="FF0000"/>
                </a:solidFill>
                <a:effectLst/>
                <a:uLnTx/>
                <a:uFillTx/>
                <a:cs typeface="Times New Roman" panose="02020503050405090304" pitchFamily="18" charset="0"/>
                <a:sym typeface="+mn-ea"/>
              </a:rPr>
              <a:t> = 2</a:t>
            </a:r>
            <a:r>
              <a:rPr lang="en-US" altLang="zh-CN" sz="2400" i="1" baseline="30000" noProof="0" dirty="0">
                <a:ln>
                  <a:noFill/>
                </a:ln>
                <a:solidFill>
                  <a:srgbClr val="FF0000"/>
                </a:solidFill>
                <a:effectLst/>
                <a:uLnTx/>
                <a:uFillTx/>
                <a:cs typeface="Times New Roman" panose="02020503050405090304" pitchFamily="18" charset="0"/>
                <a:sym typeface="+mn-ea"/>
              </a:rPr>
              <a:t>ki</a:t>
            </a:r>
            <a:r>
              <a:rPr lang="en-US" altLang="zh-CN" sz="2400" i="1" noProof="0" dirty="0">
                <a:ln>
                  <a:noFill/>
                </a:ln>
                <a:solidFill>
                  <a:srgbClr val="FF0000"/>
                </a:solidFill>
                <a:effectLst/>
                <a:uLnTx/>
                <a:uFillTx/>
                <a:cs typeface="Times New Roman" panose="02020503050405090304" pitchFamily="18" charset="0"/>
                <a:sym typeface="+mn-ea"/>
              </a:rPr>
              <a:t>q </a:t>
            </a:r>
            <a:r>
              <a:rPr lang="en-US" altLang="zh-CN" sz="2400" noProof="0" dirty="0">
                <a:ln>
                  <a:noFill/>
                </a:ln>
                <a:effectLst/>
                <a:uLnTx/>
                <a:uFillTx/>
                <a:cs typeface="Times New Roman" panose="02020503050405090304" pitchFamily="18" charset="0"/>
                <a:sym typeface="+mn-ea"/>
              </a:rPr>
              <a:t>and</a:t>
            </a:r>
            <a:r>
              <a:rPr lang="en-US" altLang="zh-CN" sz="2400" noProof="0" dirty="0">
                <a:ln>
                  <a:noFill/>
                </a:ln>
                <a:solidFill>
                  <a:srgbClr val="FF0000"/>
                </a:solidFill>
                <a:effectLst/>
                <a:uLnTx/>
                <a:uFillTx/>
                <a:cs typeface="Times New Roman" panose="02020503050405090304" pitchFamily="18" charset="0"/>
                <a:sym typeface="+mn-ea"/>
              </a:rPr>
              <a:t> </a:t>
            </a:r>
            <a:r>
              <a:rPr lang="en-US" altLang="zh-CN" sz="2400" i="1" noProof="0" dirty="0" err="1">
                <a:ln>
                  <a:noFill/>
                </a:ln>
                <a:solidFill>
                  <a:srgbClr val="FF0000"/>
                </a:solidFill>
                <a:effectLst/>
                <a:uLnTx/>
                <a:uFillTx/>
                <a:cs typeface="Times New Roman" panose="02020503050405090304" pitchFamily="18" charset="0"/>
                <a:sym typeface="+mn-ea"/>
              </a:rPr>
              <a:t>a</a:t>
            </a:r>
            <a:r>
              <a:rPr lang="en-US" altLang="zh-CN" sz="2400" i="1" baseline="-25000" noProof="0" dirty="0" err="1">
                <a:ln>
                  <a:noFill/>
                </a:ln>
                <a:solidFill>
                  <a:srgbClr val="FF0000"/>
                </a:solidFill>
                <a:effectLst/>
                <a:uLnTx/>
                <a:uFillTx/>
                <a:cs typeface="Times New Roman" panose="02020503050405090304" pitchFamily="18" charset="0"/>
                <a:sym typeface="+mn-ea"/>
              </a:rPr>
              <a:t>j</a:t>
            </a:r>
            <a:r>
              <a:rPr lang="en-US" altLang="zh-CN" sz="2400" i="1" noProof="0" dirty="0">
                <a:ln>
                  <a:noFill/>
                </a:ln>
                <a:solidFill>
                  <a:srgbClr val="FF0000"/>
                </a:solidFill>
                <a:effectLst/>
                <a:uLnTx/>
                <a:uFillTx/>
                <a:cs typeface="Times New Roman" panose="02020503050405090304" pitchFamily="18" charset="0"/>
                <a:sym typeface="+mn-ea"/>
              </a:rPr>
              <a:t> = 2</a:t>
            </a:r>
            <a:r>
              <a:rPr lang="en-US" altLang="zh-CN" sz="2400" i="1" baseline="30000" noProof="0" dirty="0">
                <a:ln>
                  <a:noFill/>
                </a:ln>
                <a:solidFill>
                  <a:srgbClr val="FF0000"/>
                </a:solidFill>
                <a:effectLst/>
                <a:uLnTx/>
                <a:uFillTx/>
                <a:cs typeface="Times New Roman" panose="02020503050405090304" pitchFamily="18" charset="0"/>
                <a:sym typeface="+mn-ea"/>
              </a:rPr>
              <a:t>kj</a:t>
            </a:r>
            <a:r>
              <a:rPr lang="en-US" altLang="zh-CN" sz="2400" i="1" noProof="0" dirty="0">
                <a:ln>
                  <a:noFill/>
                </a:ln>
                <a:solidFill>
                  <a:srgbClr val="FF0000"/>
                </a:solidFill>
                <a:effectLst/>
                <a:uLnTx/>
                <a:uFillTx/>
                <a:cs typeface="Times New Roman" panose="02020503050405090304" pitchFamily="18" charset="0"/>
                <a:sym typeface="+mn-ea"/>
              </a:rPr>
              <a:t>q</a:t>
            </a:r>
            <a:r>
              <a:rPr lang="en-US" altLang="zh-CN" sz="2400" noProof="0" dirty="0">
                <a:ln>
                  <a:noFill/>
                </a:ln>
                <a:effectLst/>
                <a:uLnTx/>
                <a:uFillTx/>
                <a:cs typeface="Times New Roman" panose="02020503050405090304" pitchFamily="18" charset="0"/>
                <a:sym typeface="+mn-ea"/>
              </a:rPr>
              <a:t>. It follows that if </a:t>
            </a:r>
            <a:r>
              <a:rPr lang="en-US" altLang="zh-CN" sz="2400" i="1" noProof="0" dirty="0" err="1">
                <a:ln>
                  <a:noFill/>
                </a:ln>
                <a:effectLst/>
                <a:uLnTx/>
                <a:uFillTx/>
                <a:cs typeface="Times New Roman" panose="02020503050405090304" pitchFamily="18" charset="0"/>
                <a:sym typeface="+mn-ea"/>
              </a:rPr>
              <a:t>k</a:t>
            </a:r>
            <a:r>
              <a:rPr lang="en-US" altLang="zh-CN" sz="2400" i="1" baseline="-25000" noProof="0" dirty="0" err="1">
                <a:ln>
                  <a:noFill/>
                </a:ln>
                <a:effectLst/>
                <a:uLnTx/>
                <a:uFillTx/>
                <a:cs typeface="Times New Roman" panose="02020503050405090304" pitchFamily="18" charset="0"/>
                <a:sym typeface="+mn-ea"/>
              </a:rPr>
              <a:t>i</a:t>
            </a:r>
            <a:r>
              <a:rPr lang="en-US" altLang="zh-CN" sz="2400" i="1" noProof="0" dirty="0">
                <a:ln>
                  <a:noFill/>
                </a:ln>
                <a:effectLst/>
                <a:uLnTx/>
                <a:uFillTx/>
                <a:cs typeface="Times New Roman" panose="02020503050405090304" pitchFamily="18" charset="0"/>
                <a:sym typeface="+mn-ea"/>
              </a:rPr>
              <a:t> &lt; </a:t>
            </a:r>
            <a:r>
              <a:rPr lang="en-US" altLang="zh-CN" sz="2400" i="1" noProof="0" dirty="0" err="1">
                <a:ln>
                  <a:noFill/>
                </a:ln>
                <a:effectLst/>
                <a:uLnTx/>
                <a:uFillTx/>
                <a:cs typeface="Times New Roman" panose="02020503050405090304" pitchFamily="18" charset="0"/>
                <a:sym typeface="+mn-ea"/>
              </a:rPr>
              <a:t>k</a:t>
            </a:r>
            <a:r>
              <a:rPr lang="en-US" altLang="zh-CN" sz="2400" i="1" baseline="-25000" noProof="0" dirty="0" err="1">
                <a:ln>
                  <a:noFill/>
                </a:ln>
                <a:effectLst/>
                <a:uLnTx/>
                <a:uFillTx/>
                <a:cs typeface="Times New Roman" panose="02020503050405090304" pitchFamily="18" charset="0"/>
                <a:sym typeface="+mn-ea"/>
              </a:rPr>
              <a:t>j</a:t>
            </a:r>
            <a:r>
              <a:rPr lang="en-US" altLang="zh-CN" sz="2400" i="1" noProof="0" dirty="0">
                <a:ln>
                  <a:noFill/>
                </a:ln>
                <a:effectLst/>
                <a:uLnTx/>
                <a:uFillTx/>
                <a:cs typeface="Times New Roman" panose="02020503050405090304" pitchFamily="18" charset="0"/>
                <a:sym typeface="+mn-ea"/>
              </a:rPr>
              <a:t> </a:t>
            </a:r>
            <a:r>
              <a:rPr lang="en-US" altLang="zh-CN" sz="2400" noProof="0" dirty="0">
                <a:ln>
                  <a:noFill/>
                </a:ln>
                <a:effectLst/>
                <a:uLnTx/>
                <a:uFillTx/>
                <a:cs typeface="Times New Roman" panose="02020503050405090304" pitchFamily="18" charset="0"/>
                <a:sym typeface="+mn-ea"/>
              </a:rPr>
              <a:t>, then </a:t>
            </a:r>
            <a:r>
              <a:rPr lang="en-US" altLang="zh-CN" sz="2400" i="1" noProof="0" dirty="0">
                <a:ln>
                  <a:noFill/>
                </a:ln>
                <a:effectLst/>
                <a:uLnTx/>
                <a:uFillTx/>
                <a:cs typeface="Times New Roman" panose="02020503050405090304" pitchFamily="18" charset="0"/>
                <a:sym typeface="+mn-ea"/>
              </a:rPr>
              <a:t>a</a:t>
            </a:r>
            <a:r>
              <a:rPr lang="en-US" altLang="zh-CN" sz="2400" i="1" baseline="-25000" noProof="0" dirty="0">
                <a:ln>
                  <a:noFill/>
                </a:ln>
                <a:effectLst/>
                <a:uLnTx/>
                <a:uFillTx/>
                <a:cs typeface="Times New Roman" panose="02020503050405090304" pitchFamily="18" charset="0"/>
                <a:sym typeface="+mn-ea"/>
              </a:rPr>
              <a:t>i</a:t>
            </a:r>
            <a:r>
              <a:rPr lang="en-US" altLang="zh-CN" sz="2400" noProof="0" dirty="0">
                <a:ln>
                  <a:noFill/>
                </a:ln>
                <a:effectLst/>
                <a:uLnTx/>
                <a:uFillTx/>
                <a:cs typeface="Times New Roman" panose="02020503050405090304" pitchFamily="18" charset="0"/>
                <a:sym typeface="+mn-ea"/>
              </a:rPr>
              <a:t> divides </a:t>
            </a:r>
            <a:r>
              <a:rPr lang="en-US" altLang="zh-CN" sz="2400" i="1" noProof="0" dirty="0" err="1">
                <a:ln>
                  <a:noFill/>
                </a:ln>
                <a:effectLst/>
                <a:uLnTx/>
                <a:uFillTx/>
                <a:cs typeface="Times New Roman" panose="02020503050405090304" pitchFamily="18" charset="0"/>
                <a:sym typeface="+mn-ea"/>
              </a:rPr>
              <a:t>a</a:t>
            </a:r>
            <a:r>
              <a:rPr lang="en-US" altLang="zh-CN" sz="2400" i="1" baseline="-25000" noProof="0" dirty="0" err="1">
                <a:ln>
                  <a:noFill/>
                </a:ln>
                <a:effectLst/>
                <a:uLnTx/>
                <a:uFillTx/>
                <a:cs typeface="Times New Roman" panose="02020503050405090304" pitchFamily="18" charset="0"/>
                <a:sym typeface="+mn-ea"/>
              </a:rPr>
              <a:t>j</a:t>
            </a:r>
            <a:r>
              <a:rPr lang="en-US" altLang="zh-CN" sz="2400" noProof="0" dirty="0">
                <a:ln>
                  <a:noFill/>
                </a:ln>
                <a:effectLst/>
                <a:uLnTx/>
                <a:uFillTx/>
                <a:cs typeface="Times New Roman" panose="02020503050405090304" pitchFamily="18" charset="0"/>
                <a:sym typeface="+mn-ea"/>
              </a:rPr>
              <a:t> ; while if </a:t>
            </a:r>
            <a:r>
              <a:rPr lang="en-US" altLang="zh-CN" sz="2400" i="1" noProof="0" dirty="0" err="1">
                <a:ln>
                  <a:noFill/>
                </a:ln>
                <a:effectLst/>
                <a:uLnTx/>
                <a:uFillTx/>
                <a:cs typeface="Times New Roman" panose="02020503050405090304" pitchFamily="18" charset="0"/>
                <a:sym typeface="+mn-ea"/>
              </a:rPr>
              <a:t>k</a:t>
            </a:r>
            <a:r>
              <a:rPr lang="en-US" altLang="zh-CN" sz="2400" i="1" baseline="-25000" noProof="0" dirty="0" err="1">
                <a:ln>
                  <a:noFill/>
                </a:ln>
                <a:effectLst/>
                <a:uLnTx/>
                <a:uFillTx/>
                <a:cs typeface="Times New Roman" panose="02020503050405090304" pitchFamily="18" charset="0"/>
                <a:sym typeface="+mn-ea"/>
              </a:rPr>
              <a:t>i</a:t>
            </a:r>
            <a:r>
              <a:rPr lang="en-US" altLang="zh-CN" sz="2400" i="1" noProof="0" dirty="0">
                <a:ln>
                  <a:noFill/>
                </a:ln>
                <a:effectLst/>
                <a:uLnTx/>
                <a:uFillTx/>
                <a:cs typeface="Times New Roman" panose="02020503050405090304" pitchFamily="18" charset="0"/>
                <a:sym typeface="+mn-ea"/>
              </a:rPr>
              <a:t> &gt; </a:t>
            </a:r>
            <a:r>
              <a:rPr lang="en-US" altLang="zh-CN" sz="2400" i="1" noProof="0" dirty="0" err="1">
                <a:ln>
                  <a:noFill/>
                </a:ln>
                <a:effectLst/>
                <a:uLnTx/>
                <a:uFillTx/>
                <a:cs typeface="Times New Roman" panose="02020503050405090304" pitchFamily="18" charset="0"/>
                <a:sym typeface="+mn-ea"/>
              </a:rPr>
              <a:t>k</a:t>
            </a:r>
            <a:r>
              <a:rPr lang="en-US" altLang="zh-CN" sz="2400" i="1" baseline="-25000" noProof="0" dirty="0" err="1">
                <a:ln>
                  <a:noFill/>
                </a:ln>
                <a:effectLst/>
                <a:uLnTx/>
                <a:uFillTx/>
                <a:cs typeface="Times New Roman" panose="02020503050405090304" pitchFamily="18" charset="0"/>
                <a:sym typeface="+mn-ea"/>
              </a:rPr>
              <a:t>j</a:t>
            </a:r>
            <a:r>
              <a:rPr lang="en-US" altLang="zh-CN" sz="2400" i="1" noProof="0" dirty="0">
                <a:ln>
                  <a:noFill/>
                </a:ln>
                <a:effectLst/>
                <a:uLnTx/>
                <a:uFillTx/>
                <a:cs typeface="Times New Roman" panose="02020503050405090304" pitchFamily="18" charset="0"/>
                <a:sym typeface="+mn-ea"/>
              </a:rPr>
              <a:t> </a:t>
            </a:r>
            <a:r>
              <a:rPr lang="en-US" altLang="zh-CN" sz="2400" noProof="0" dirty="0">
                <a:ln>
                  <a:noFill/>
                </a:ln>
                <a:effectLst/>
                <a:uLnTx/>
                <a:uFillTx/>
                <a:cs typeface="Times New Roman" panose="02020503050405090304" pitchFamily="18" charset="0"/>
                <a:sym typeface="+mn-ea"/>
              </a:rPr>
              <a:t>, then </a:t>
            </a:r>
            <a:r>
              <a:rPr lang="en-US" altLang="zh-CN" sz="2400" i="1" noProof="0" dirty="0" err="1">
                <a:ln>
                  <a:noFill/>
                </a:ln>
                <a:effectLst/>
                <a:uLnTx/>
                <a:uFillTx/>
                <a:cs typeface="Times New Roman" panose="02020503050405090304" pitchFamily="18" charset="0"/>
                <a:sym typeface="+mn-ea"/>
              </a:rPr>
              <a:t>a</a:t>
            </a:r>
            <a:r>
              <a:rPr lang="en-US" altLang="zh-CN" sz="2400" i="1" baseline="-25000" noProof="0" dirty="0" err="1">
                <a:ln>
                  <a:noFill/>
                </a:ln>
                <a:effectLst/>
                <a:uLnTx/>
                <a:uFillTx/>
                <a:cs typeface="Times New Roman" panose="02020503050405090304" pitchFamily="18" charset="0"/>
                <a:sym typeface="+mn-ea"/>
              </a:rPr>
              <a:t>j</a:t>
            </a:r>
            <a:r>
              <a:rPr lang="en-US" altLang="zh-CN" sz="2400" i="1" noProof="0" dirty="0">
                <a:ln>
                  <a:noFill/>
                </a:ln>
                <a:effectLst/>
                <a:uLnTx/>
                <a:uFillTx/>
                <a:cs typeface="Times New Roman" panose="02020503050405090304" pitchFamily="18" charset="0"/>
                <a:sym typeface="+mn-ea"/>
              </a:rPr>
              <a:t> </a:t>
            </a:r>
            <a:r>
              <a:rPr lang="en-US" altLang="zh-CN" sz="2400" noProof="0" dirty="0">
                <a:ln>
                  <a:noFill/>
                </a:ln>
                <a:effectLst/>
                <a:uLnTx/>
                <a:uFillTx/>
                <a:cs typeface="Times New Roman" panose="02020503050405090304" pitchFamily="18" charset="0"/>
                <a:sym typeface="+mn-ea"/>
              </a:rPr>
              <a:t>divides </a:t>
            </a:r>
            <a:r>
              <a:rPr lang="en-US" altLang="zh-CN" sz="2400" i="1" noProof="0" dirty="0">
                <a:ln>
                  <a:noFill/>
                </a:ln>
                <a:effectLst/>
                <a:uLnTx/>
                <a:uFillTx/>
                <a:cs typeface="Times New Roman" panose="02020503050405090304" pitchFamily="18" charset="0"/>
                <a:sym typeface="+mn-ea"/>
              </a:rPr>
              <a:t>a</a:t>
            </a:r>
            <a:r>
              <a:rPr lang="en-US" altLang="zh-CN" sz="2400" i="1" baseline="-25000" noProof="0" dirty="0">
                <a:ln>
                  <a:noFill/>
                </a:ln>
                <a:effectLst/>
                <a:uLnTx/>
                <a:uFillTx/>
                <a:cs typeface="Times New Roman" panose="02020503050405090304" pitchFamily="18" charset="0"/>
                <a:sym typeface="+mn-ea"/>
              </a:rPr>
              <a:t>i</a:t>
            </a:r>
            <a:r>
              <a:rPr lang="en-US" altLang="zh-CN" sz="2400" noProof="0" dirty="0">
                <a:ln>
                  <a:noFill/>
                </a:ln>
                <a:effectLst/>
                <a:uLnTx/>
                <a:uFillTx/>
                <a:cs typeface="Times New Roman" panose="02020503050405090304" pitchFamily="18" charset="0"/>
                <a:sym typeface="+mn-ea"/>
              </a:rPr>
              <a:t> .</a:t>
            </a:r>
            <a:endParaRPr kumimoji="0" lang="zh-CN" altLang="en-US"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eaLnBrk="1" hangingPunct="1"/>
            <a:endParaRPr kumimoji="0" lang="zh-CN" altLang="en-US" sz="24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标题 1"/>
          <p:cNvSpPr>
            <a:spLocks noGrp="1"/>
          </p:cNvSpPr>
          <p:nvPr>
            <p:ph type="title"/>
          </p:nvPr>
        </p:nvSpPr>
        <p:spPr>
          <a:xfrm>
            <a:off x="971550" y="116840"/>
            <a:ext cx="8129270" cy="1143000"/>
          </a:xfrm>
        </p:spPr>
        <p:txBody>
          <a:bodyPr vert="horz" wrap="square" lIns="91440" tIns="45720" rIns="91440" bIns="45720" anchor="b" anchorCtr="0"/>
          <a:p>
            <a:r>
              <a:rPr lang="en-US" altLang="zh-CN" dirty="0"/>
              <a:t>Mathematical induction</a:t>
            </a:r>
            <a:endParaRPr lang="zh-CN" altLang="en-US" dirty="0"/>
          </a:p>
        </p:txBody>
      </p:sp>
      <p:sp>
        <p:nvSpPr>
          <p:cNvPr id="40963"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40964"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40965"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40966" name="矩形 6"/>
          <p:cNvSpPr/>
          <p:nvPr/>
        </p:nvSpPr>
        <p:spPr>
          <a:xfrm>
            <a:off x="323533" y="1340803"/>
            <a:ext cx="8964612" cy="501586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mn-ea"/>
              </a:defRPr>
            </a:lvl5pPr>
          </a:lstStyle>
          <a:p>
            <a:pPr marL="342900" lvl="0" indent="-342900">
              <a:spcBef>
                <a:spcPct val="0"/>
              </a:spcBef>
              <a:buClr>
                <a:schemeClr val="tx2"/>
              </a:buClr>
              <a:buSzTx/>
            </a:pPr>
            <a:r>
              <a:rPr lang="en-US" altLang="zh-CN" sz="2000" dirty="0"/>
              <a:t>The base case is n = 1. a set of two elements from {1, 2}.</a:t>
            </a:r>
            <a:endParaRPr lang="en-US" altLang="zh-CN" sz="2000" dirty="0"/>
          </a:p>
          <a:p>
            <a:pPr marL="342900" lvl="0" indent="-342900">
              <a:spcBef>
                <a:spcPct val="0"/>
              </a:spcBef>
              <a:buClr>
                <a:schemeClr val="tx2"/>
              </a:buClr>
              <a:buSzTx/>
            </a:pPr>
            <a:r>
              <a:rPr lang="en-US" altLang="zh-CN" sz="2000" dirty="0"/>
              <a:t> Assume the inductive hypothesis p(n):among any </a:t>
            </a:r>
            <a:r>
              <a:rPr lang="en-US" altLang="zh-CN" sz="2000" i="1" dirty="0"/>
              <a:t>n</a:t>
            </a:r>
            <a:r>
              <a:rPr lang="en-US" altLang="zh-CN" sz="2000" dirty="0"/>
              <a:t>+1 positive integers not exceeding 2</a:t>
            </a:r>
            <a:r>
              <a:rPr lang="en-US" altLang="zh-CN" sz="2000" i="1" dirty="0"/>
              <a:t>n</a:t>
            </a:r>
            <a:r>
              <a:rPr lang="en-US" altLang="zh-CN" sz="2000" dirty="0"/>
              <a:t> there must be an integer that divides one of the other integers.</a:t>
            </a:r>
            <a:endParaRPr lang="en-US" altLang="zh-CN" sz="2000" dirty="0"/>
          </a:p>
          <a:p>
            <a:pPr marL="342900" lvl="0" indent="-342900">
              <a:spcBef>
                <a:spcPct val="0"/>
              </a:spcBef>
              <a:buClr>
                <a:schemeClr val="tx2"/>
              </a:buClr>
              <a:buSzTx/>
            </a:pPr>
            <a:r>
              <a:rPr lang="en-US" altLang="zh-CN" sz="2000" dirty="0"/>
              <a:t>consider a set </a:t>
            </a:r>
            <a:r>
              <a:rPr lang="en-US" altLang="zh-CN" sz="2000" i="1" dirty="0">
                <a:solidFill>
                  <a:srgbClr val="FF0000"/>
                </a:solidFill>
              </a:rPr>
              <a:t>A</a:t>
            </a:r>
            <a:r>
              <a:rPr lang="en-US" altLang="zh-CN" sz="2000" dirty="0"/>
              <a:t> of n + 2 elements from {1, 2, . . . , 2n, 2n + 1, 2n+2}. </a:t>
            </a:r>
            <a:endParaRPr lang="en-US" altLang="zh-CN" sz="2000" dirty="0"/>
          </a:p>
          <a:p>
            <a:pPr marL="800100" lvl="1" indent="-342900">
              <a:spcBef>
                <a:spcPct val="0"/>
              </a:spcBef>
              <a:buClr>
                <a:schemeClr val="tx2"/>
              </a:buClr>
              <a:buSzTx/>
            </a:pPr>
            <a:r>
              <a:rPr lang="en-US" altLang="zh-CN" sz="2000" dirty="0">
                <a:latin typeface="Times New Roman" panose="02020503050405090304" pitchFamily="18" charset="0"/>
              </a:rPr>
              <a:t>If  n+1 of the elements of A are less than 2n + 1,we get the conclusion. </a:t>
            </a:r>
            <a:endParaRPr lang="en-US" altLang="zh-CN" sz="2000" dirty="0">
              <a:latin typeface="Times New Roman" panose="02020503050405090304" pitchFamily="18" charset="0"/>
            </a:endParaRPr>
          </a:p>
          <a:p>
            <a:pPr marL="800100" lvl="1" indent="-342900">
              <a:spcBef>
                <a:spcPct val="0"/>
              </a:spcBef>
              <a:buClr>
                <a:schemeClr val="tx2"/>
              </a:buClr>
              <a:buSzTx/>
            </a:pPr>
            <a:r>
              <a:rPr lang="en-US" altLang="zh-CN" sz="2000" dirty="0">
                <a:latin typeface="Times New Roman" panose="02020503050405090304" pitchFamily="18" charset="0"/>
              </a:rPr>
              <a:t>assume that both 2n + 1 and 2n + 2 are in A, together with </a:t>
            </a:r>
            <a:r>
              <a:rPr lang="en-US" altLang="zh-CN" sz="2000" i="1" dirty="0">
                <a:latin typeface="Times New Roman" panose="02020503050405090304" pitchFamily="18" charset="0"/>
              </a:rPr>
              <a:t>n</a:t>
            </a:r>
            <a:r>
              <a:rPr lang="en-US" altLang="zh-CN" sz="2000" dirty="0">
                <a:latin typeface="Times New Roman" panose="02020503050405090304" pitchFamily="18" charset="0"/>
              </a:rPr>
              <a:t> smaller elements. </a:t>
            </a:r>
            <a:endParaRPr lang="en-US" altLang="zh-CN" sz="2000" dirty="0">
              <a:latin typeface="Times New Roman" panose="02020503050405090304" pitchFamily="18" charset="0"/>
            </a:endParaRPr>
          </a:p>
          <a:p>
            <a:pPr marL="1257300" lvl="2" indent="-342900">
              <a:spcBef>
                <a:spcPct val="0"/>
              </a:spcBef>
              <a:buClr>
                <a:schemeClr val="tx2"/>
              </a:buClr>
              <a:buSzTx/>
            </a:pPr>
            <a:r>
              <a:rPr lang="en-US" altLang="zh-CN" sz="2000" dirty="0">
                <a:latin typeface="Times New Roman" panose="02020503050405090304" pitchFamily="18" charset="0"/>
              </a:rPr>
              <a:t>If </a:t>
            </a:r>
            <a:r>
              <a:rPr lang="en-US" altLang="zh-CN" sz="2000" i="1" dirty="0">
                <a:latin typeface="Times New Roman" panose="02020503050405090304" pitchFamily="18" charset="0"/>
              </a:rPr>
              <a:t>n </a:t>
            </a:r>
            <a:r>
              <a:rPr lang="en-US" altLang="zh-CN" sz="2000" dirty="0">
                <a:latin typeface="Times New Roman" panose="02020503050405090304" pitchFamily="18" charset="0"/>
              </a:rPr>
              <a:t>+ 1</a:t>
            </a:r>
            <a:r>
              <a:rPr lang="en-US" altLang="zh-CN" sz="2000" dirty="0">
                <a:latin typeface="+mn-lt"/>
                <a:cs typeface="+mn-lt"/>
              </a:rPr>
              <a:t> </a:t>
            </a:r>
            <a:r>
              <a:rPr lang="en-US" altLang="zh-CN" sz="2000" dirty="0">
                <a:latin typeface="Symbol" panose="05050102010706020507" pitchFamily="18" charset="2"/>
                <a:sym typeface="+mn-ea"/>
              </a:rPr>
              <a:t>Î</a:t>
            </a:r>
            <a:r>
              <a:rPr lang="en-US" altLang="zh-CN" sz="2000" dirty="0">
                <a:latin typeface="Times New Roman" panose="02020503050405090304" pitchFamily="18" charset="0"/>
                <a:sym typeface="Euclid Symbol" panose="05050102010706020507" pitchFamily="18" charset="2"/>
              </a:rPr>
              <a:t>A</a:t>
            </a:r>
            <a:r>
              <a:rPr lang="en-US" altLang="zh-CN" sz="2000" dirty="0">
                <a:latin typeface="Times New Roman" panose="02020503050405090304" pitchFamily="18" charset="0"/>
              </a:rPr>
              <a:t>, then we are done, since n + 1 | 2n + 2.</a:t>
            </a:r>
            <a:endParaRPr lang="en-US" altLang="zh-CN" sz="2000" dirty="0">
              <a:latin typeface="Times New Roman" panose="02020503050405090304" pitchFamily="18" charset="0"/>
            </a:endParaRPr>
          </a:p>
          <a:p>
            <a:pPr marL="1257300" lvl="2" indent="-342900">
              <a:spcBef>
                <a:spcPct val="0"/>
              </a:spcBef>
              <a:buClr>
                <a:schemeClr val="tx2"/>
              </a:buClr>
              <a:buSzTx/>
            </a:pPr>
            <a:r>
              <a:rPr lang="en-US" altLang="zh-CN" sz="2000" dirty="0">
                <a:latin typeface="Times New Roman" panose="02020503050405090304" pitchFamily="18" charset="0"/>
              </a:rPr>
              <a:t>So we can assume that n + 1</a:t>
            </a:r>
            <a:r>
              <a:rPr lang="en-US" altLang="zh-CN" sz="2000" dirty="0">
                <a:latin typeface="Symbol" panose="05050102010706020507" pitchFamily="18" charset="2"/>
                <a:sym typeface="+mn-ea"/>
              </a:rPr>
              <a:t>Ï</a:t>
            </a:r>
            <a:r>
              <a:rPr lang="en-US" altLang="zh-CN" sz="2000" dirty="0">
                <a:latin typeface="Times New Roman" panose="02020503050405090304" pitchFamily="18" charset="0"/>
              </a:rPr>
              <a:t> A. </a:t>
            </a:r>
            <a:endParaRPr lang="en-US" altLang="zh-CN" sz="2000" dirty="0">
              <a:latin typeface="Times New Roman" panose="02020503050405090304" pitchFamily="18" charset="0"/>
            </a:endParaRPr>
          </a:p>
          <a:p>
            <a:pPr marL="1714500" lvl="3" indent="-342900">
              <a:spcBef>
                <a:spcPct val="0"/>
              </a:spcBef>
              <a:buClr>
                <a:schemeClr val="tx2"/>
              </a:buClr>
              <a:buSzTx/>
            </a:pPr>
            <a:r>
              <a:rPr lang="en-US" altLang="zh-CN" dirty="0">
                <a:latin typeface="Times New Roman" panose="02020503050405090304" pitchFamily="18" charset="0"/>
              </a:rPr>
              <a:t>B = A − {2n + 1, 2n + 2} ∪ {n + 1}.</a:t>
            </a:r>
            <a:endParaRPr lang="en-US" altLang="zh-CN" dirty="0">
              <a:latin typeface="Times New Roman" panose="02020503050405090304" pitchFamily="18" charset="0"/>
            </a:endParaRPr>
          </a:p>
          <a:p>
            <a:pPr marL="1714500" lvl="3" indent="-342900">
              <a:spcBef>
                <a:spcPct val="0"/>
              </a:spcBef>
              <a:buClr>
                <a:schemeClr val="tx2"/>
              </a:buClr>
              <a:buSzTx/>
            </a:pPr>
            <a:r>
              <a:rPr lang="en-US" altLang="zh-CN" dirty="0">
                <a:latin typeface="Times New Roman" panose="02020503050405090304" pitchFamily="18" charset="0"/>
              </a:rPr>
              <a:t>Since B is a collection of n + 1 numbers from {1, 2, . . . , 2n}, one element of B divides another. </a:t>
            </a:r>
            <a:endParaRPr lang="en-US" altLang="zh-CN" dirty="0">
              <a:latin typeface="Times New Roman" panose="02020503050405090304" pitchFamily="18" charset="0"/>
            </a:endParaRPr>
          </a:p>
          <a:p>
            <a:pPr marL="2171700" lvl="4" indent="-342900">
              <a:spcBef>
                <a:spcPct val="0"/>
              </a:spcBef>
              <a:buClr>
                <a:schemeClr val="tx2"/>
              </a:buClr>
              <a:buSzTx/>
            </a:pPr>
            <a:r>
              <a:rPr lang="en-US" altLang="zh-CN" dirty="0">
                <a:latin typeface="Times New Roman" panose="02020503050405090304" pitchFamily="18" charset="0"/>
              </a:rPr>
              <a:t>If n + 1 is not one of these two numbers, then we are done. </a:t>
            </a:r>
            <a:endParaRPr lang="en-US" altLang="zh-CN" dirty="0">
              <a:latin typeface="Times New Roman" panose="02020503050405090304" pitchFamily="18" charset="0"/>
            </a:endParaRPr>
          </a:p>
          <a:p>
            <a:pPr marL="2171700" lvl="4" indent="-342900">
              <a:spcBef>
                <a:spcPct val="0"/>
              </a:spcBef>
              <a:buClr>
                <a:schemeClr val="tx2"/>
              </a:buClr>
              <a:buSzTx/>
            </a:pPr>
            <a:r>
              <a:rPr lang="en-US" altLang="zh-CN" dirty="0">
                <a:latin typeface="Times New Roman" panose="02020503050405090304" pitchFamily="18" charset="0"/>
              </a:rPr>
              <a:t>assume n + 1 is one of these two numbers. Certainly n + 1 can’t be the divisor, since its smallest multiple is too big to be in B, so there is some k </a:t>
            </a:r>
            <a:r>
              <a:rPr lang="en-US" altLang="zh-CN" dirty="0">
                <a:latin typeface="Symbol" panose="05050102010706020507" pitchFamily="18" charset="2"/>
                <a:sym typeface="+mn-ea"/>
              </a:rPr>
              <a:t>Î</a:t>
            </a:r>
            <a:r>
              <a:rPr lang="en-US" altLang="zh-CN" dirty="0">
                <a:latin typeface="Times New Roman" panose="02020503050405090304" pitchFamily="18" charset="0"/>
              </a:rPr>
              <a:t> B that divides n + 1. But now k and 2n + 2 are numbers in A, with k dividing n + 2, and we are done. </a:t>
            </a:r>
            <a:endParaRPr lang="zh-CN" altLang="en-US" dirty="0">
              <a:latin typeface="Times New Roman" panose="0202050305040509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41987"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41988"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41989" name="Rectangle 2"/>
          <p:cNvSpPr>
            <a:spLocks noGrp="1"/>
          </p:cNvSpPr>
          <p:nvPr>
            <p:ph type="title"/>
          </p:nvPr>
        </p:nvSpPr>
        <p:spPr/>
        <p:txBody>
          <a:bodyPr vert="horz" wrap="square" lIns="91440" tIns="45720" rIns="91440" bIns="45720" anchor="b" anchorCtr="0"/>
          <a:p>
            <a:pPr eaLnBrk="1" hangingPunct="1"/>
            <a:endParaRPr lang="zh-CN" altLang="en-US" dirty="0"/>
          </a:p>
        </p:txBody>
      </p:sp>
      <p:sp>
        <p:nvSpPr>
          <p:cNvPr id="41990" name="Rectangle 3"/>
          <p:cNvSpPr>
            <a:spLocks noGrp="1"/>
          </p:cNvSpPr>
          <p:nvPr>
            <p:ph idx="1"/>
          </p:nvPr>
        </p:nvSpPr>
        <p:spPr/>
        <p:txBody>
          <a:bodyPr vert="horz" wrap="square" lIns="91440" tIns="45720" rIns="91440" bIns="45720" anchor="t" anchorCtr="0"/>
          <a:p>
            <a:pPr eaLnBrk="1" hangingPunct="1"/>
            <a:r>
              <a:rPr lang="en-US" altLang="zh-CN" sz="2800" dirty="0"/>
              <a:t>Suppose that </a:t>
            </a:r>
            <a:r>
              <a:rPr lang="en-US" altLang="zh-CN" sz="2800" i="1" dirty="0"/>
              <a:t>a</a:t>
            </a:r>
            <a:r>
              <a:rPr lang="en-US" altLang="zh-CN" sz="2800" i="1" baseline="-25000" dirty="0"/>
              <a:t>1</a:t>
            </a:r>
            <a:r>
              <a:rPr lang="en-US" altLang="zh-CN" sz="2800" i="1" dirty="0"/>
              <a:t>,a</a:t>
            </a:r>
            <a:r>
              <a:rPr lang="en-US" altLang="zh-CN" sz="2800" i="1" baseline="-25000" dirty="0"/>
              <a:t>2</a:t>
            </a:r>
            <a:r>
              <a:rPr lang="en-US" altLang="zh-CN" sz="2800" i="1" dirty="0"/>
              <a:t>,…a</a:t>
            </a:r>
            <a:r>
              <a:rPr lang="en-US" altLang="zh-CN" sz="2800" i="1" baseline="-25000" dirty="0"/>
              <a:t>n</a:t>
            </a:r>
            <a:r>
              <a:rPr lang="en-US" altLang="zh-CN" sz="2800" dirty="0"/>
              <a:t> is a sequence of real numbers. A </a:t>
            </a:r>
            <a:r>
              <a:rPr lang="en-US" altLang="zh-CN" sz="2800" dirty="0">
                <a:solidFill>
                  <a:schemeClr val="hlink"/>
                </a:solidFill>
              </a:rPr>
              <a:t>subsequence</a:t>
            </a:r>
            <a:r>
              <a:rPr lang="en-US" altLang="zh-CN" sz="2800" dirty="0"/>
              <a:t> of this sequence is a sequence of the form </a:t>
            </a:r>
            <a:r>
              <a:rPr lang="en-US" altLang="zh-CN" sz="2800" i="1" dirty="0"/>
              <a:t>a</a:t>
            </a:r>
            <a:r>
              <a:rPr lang="en-US" altLang="zh-CN" sz="2800" i="1" baseline="-25000" dirty="0"/>
              <a:t>i1</a:t>
            </a:r>
            <a:r>
              <a:rPr lang="en-US" altLang="zh-CN" sz="2800" i="1" dirty="0"/>
              <a:t>,a</a:t>
            </a:r>
            <a:r>
              <a:rPr lang="en-US" altLang="zh-CN" sz="2800" i="1" baseline="-25000" dirty="0"/>
              <a:t>i2</a:t>
            </a:r>
            <a:r>
              <a:rPr lang="en-US" altLang="zh-CN" sz="2800" i="1" dirty="0"/>
              <a:t>,…a</a:t>
            </a:r>
            <a:r>
              <a:rPr lang="en-US" altLang="zh-CN" sz="2800" i="1" baseline="-25000" dirty="0"/>
              <a:t>im</a:t>
            </a:r>
            <a:r>
              <a:rPr lang="en-US" altLang="zh-CN" sz="2800" dirty="0"/>
              <a:t> ,where 1</a:t>
            </a:r>
            <a:r>
              <a:rPr lang="en-US" altLang="zh-CN" sz="2800" dirty="0">
                <a:sym typeface="Symbol" panose="05050102010706020507" pitchFamily="18" charset="2"/>
              </a:rPr>
              <a:t> </a:t>
            </a:r>
            <a:r>
              <a:rPr lang="en-US" altLang="zh-CN" sz="2800" i="1" dirty="0"/>
              <a:t>i</a:t>
            </a:r>
            <a:r>
              <a:rPr lang="en-US" altLang="zh-CN" sz="2800" i="1" baseline="-25000" dirty="0"/>
              <a:t>1</a:t>
            </a:r>
            <a:r>
              <a:rPr lang="en-US" altLang="zh-CN" sz="2800" i="1" dirty="0"/>
              <a:t>&lt;i</a:t>
            </a:r>
            <a:r>
              <a:rPr lang="en-US" altLang="zh-CN" sz="2800" i="1" baseline="-25000" dirty="0"/>
              <a:t>2</a:t>
            </a:r>
            <a:r>
              <a:rPr lang="en-US" altLang="zh-CN" sz="2800" i="1" dirty="0"/>
              <a:t>&lt;…&lt;i</a:t>
            </a:r>
            <a:r>
              <a:rPr lang="en-US" altLang="zh-CN" sz="2800" i="1" baseline="-25000" dirty="0"/>
              <a:t>m </a:t>
            </a:r>
            <a:r>
              <a:rPr lang="en-US" altLang="zh-CN" sz="2800" dirty="0">
                <a:sym typeface="Symbol" panose="05050102010706020507" pitchFamily="18" charset="2"/>
              </a:rPr>
              <a:t></a:t>
            </a:r>
            <a:r>
              <a:rPr lang="en-US" altLang="zh-CN" sz="2800" i="1" dirty="0">
                <a:sym typeface="Symbol" panose="05050102010706020507" pitchFamily="18" charset="2"/>
              </a:rPr>
              <a:t>N.</a:t>
            </a:r>
            <a:endParaRPr lang="en-US" altLang="zh-CN" sz="2800" i="1" dirty="0">
              <a:sym typeface="Symbol" panose="05050102010706020507" pitchFamily="18" charset="2"/>
            </a:endParaRPr>
          </a:p>
          <a:p>
            <a:pPr eaLnBrk="1" hangingPunct="1"/>
            <a:r>
              <a:rPr lang="en-US" altLang="zh-CN" sz="2800" dirty="0">
                <a:sym typeface="Symbol" panose="05050102010706020507" pitchFamily="18" charset="2"/>
              </a:rPr>
              <a:t>A sequence</a:t>
            </a:r>
            <a:r>
              <a:rPr lang="en-US" altLang="zh-CN" sz="2800" i="1" dirty="0">
                <a:sym typeface="Symbol" panose="05050102010706020507" pitchFamily="18" charset="2"/>
              </a:rPr>
              <a:t> </a:t>
            </a:r>
            <a:r>
              <a:rPr lang="en-US" altLang="zh-CN" sz="2800" dirty="0">
                <a:sym typeface="Symbol" panose="05050102010706020507" pitchFamily="18" charset="2"/>
              </a:rPr>
              <a:t>is called </a:t>
            </a:r>
            <a:r>
              <a:rPr lang="en-US" altLang="zh-CN" sz="2800" dirty="0">
                <a:solidFill>
                  <a:schemeClr val="hlink"/>
                </a:solidFill>
                <a:sym typeface="Symbol" panose="05050102010706020507" pitchFamily="18" charset="2"/>
              </a:rPr>
              <a:t>strictly increasing</a:t>
            </a:r>
            <a:r>
              <a:rPr lang="en-US" altLang="zh-CN" sz="2800" dirty="0">
                <a:sym typeface="Symbol" panose="05050102010706020507" pitchFamily="18" charset="2"/>
              </a:rPr>
              <a:t> if each term is larger than the one that precedes it.</a:t>
            </a:r>
            <a:endParaRPr lang="en-US" altLang="zh-CN" sz="2800" dirty="0">
              <a:sym typeface="Symbol" panose="05050102010706020507" pitchFamily="18" charset="2"/>
            </a:endParaRPr>
          </a:p>
          <a:p>
            <a:pPr eaLnBrk="1" hangingPunct="1"/>
            <a:r>
              <a:rPr lang="en-US" altLang="zh-CN" sz="2800" dirty="0">
                <a:sym typeface="Symbol" panose="05050102010706020507" pitchFamily="18" charset="2"/>
              </a:rPr>
              <a:t>A sequence</a:t>
            </a:r>
            <a:r>
              <a:rPr lang="en-US" altLang="zh-CN" sz="2800" i="1" dirty="0">
                <a:sym typeface="Symbol" panose="05050102010706020507" pitchFamily="18" charset="2"/>
              </a:rPr>
              <a:t> </a:t>
            </a:r>
            <a:r>
              <a:rPr lang="en-US" altLang="zh-CN" sz="2800" dirty="0">
                <a:sym typeface="Symbol" panose="05050102010706020507" pitchFamily="18" charset="2"/>
              </a:rPr>
              <a:t>is called </a:t>
            </a:r>
            <a:r>
              <a:rPr lang="en-US" altLang="zh-CN" sz="2800" dirty="0">
                <a:solidFill>
                  <a:schemeClr val="hlink"/>
                </a:solidFill>
                <a:sym typeface="Symbol" panose="05050102010706020507" pitchFamily="18" charset="2"/>
              </a:rPr>
              <a:t>strictly decreasing</a:t>
            </a:r>
            <a:r>
              <a:rPr lang="en-US" altLang="zh-CN" sz="2800" dirty="0">
                <a:sym typeface="Symbol" panose="05050102010706020507" pitchFamily="18" charset="2"/>
              </a:rPr>
              <a:t> if each term is smaller than the one that precedes it.</a:t>
            </a:r>
            <a:endParaRPr lang="en-US" altLang="zh-CN" sz="2800" dirty="0">
              <a:sym typeface="Symbol" panose="05050102010706020507" pitchFamily="18" charset="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43011"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43012"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43013" name="Rectangle 2"/>
          <p:cNvSpPr>
            <a:spLocks noGrp="1"/>
          </p:cNvSpPr>
          <p:nvPr>
            <p:ph type="title"/>
          </p:nvPr>
        </p:nvSpPr>
        <p:spPr/>
        <p:txBody>
          <a:bodyPr vert="horz" wrap="square" lIns="91440" tIns="45720" rIns="91440" bIns="45720" anchor="b" anchorCtr="0"/>
          <a:p>
            <a:pPr eaLnBrk="1" hangingPunct="1"/>
            <a:r>
              <a:rPr lang="en-US" altLang="zh-CN" dirty="0"/>
              <a:t>Theorem 3</a:t>
            </a:r>
            <a:endParaRPr lang="en-US" altLang="zh-CN" dirty="0"/>
          </a:p>
        </p:txBody>
      </p:sp>
      <p:sp>
        <p:nvSpPr>
          <p:cNvPr id="43014" name="Rectangle 3"/>
          <p:cNvSpPr>
            <a:spLocks noGrp="1"/>
          </p:cNvSpPr>
          <p:nvPr>
            <p:ph idx="1"/>
          </p:nvPr>
        </p:nvSpPr>
        <p:spPr>
          <a:xfrm>
            <a:off x="683895" y="1268730"/>
            <a:ext cx="8381365" cy="1440180"/>
          </a:xfrm>
        </p:spPr>
        <p:txBody>
          <a:bodyPr vert="horz" wrap="square" lIns="91440" tIns="45720" rIns="91440" bIns="45720" anchor="t" anchorCtr="0"/>
          <a:p>
            <a:pPr eaLnBrk="1" hangingPunct="1"/>
            <a:r>
              <a:rPr lang="en-US" altLang="zh-CN" sz="2800" dirty="0"/>
              <a:t>Every sequence of </a:t>
            </a:r>
            <a:r>
              <a:rPr lang="en-US" altLang="zh-CN" sz="2800" i="1" dirty="0"/>
              <a:t>n</a:t>
            </a:r>
            <a:r>
              <a:rPr lang="en-US" altLang="zh-CN" sz="2800" baseline="30000" dirty="0"/>
              <a:t>2</a:t>
            </a:r>
            <a:r>
              <a:rPr lang="en-US" altLang="zh-CN" sz="2800" dirty="0"/>
              <a:t>+1 distinct real number contains a subsequence of length </a:t>
            </a:r>
            <a:r>
              <a:rPr lang="en-US" altLang="zh-CN" sz="2800" i="1" dirty="0"/>
              <a:t>n</a:t>
            </a:r>
            <a:r>
              <a:rPr lang="en-US" altLang="zh-CN" sz="2800" dirty="0"/>
              <a:t>+1 that is either strictly increasing or strictly decreasing</a:t>
            </a:r>
            <a:r>
              <a:rPr lang="en-US" altLang="zh-CN" dirty="0"/>
              <a:t>.</a:t>
            </a:r>
            <a:endParaRPr lang="en-US" altLang="zh-CN" dirty="0"/>
          </a:p>
        </p:txBody>
      </p:sp>
      <p:pic>
        <p:nvPicPr>
          <p:cNvPr id="2" name="图片 1"/>
          <p:cNvPicPr>
            <a:picLocks noChangeAspect="1"/>
          </p:cNvPicPr>
          <p:nvPr/>
        </p:nvPicPr>
        <p:blipFill>
          <a:blip r:embed="rId1"/>
          <a:stretch>
            <a:fillRect/>
          </a:stretch>
        </p:blipFill>
        <p:spPr>
          <a:xfrm>
            <a:off x="36195" y="2636838"/>
            <a:ext cx="9144000" cy="36893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39939"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39940" name="Rectangle 2"/>
          <p:cNvSpPr>
            <a:spLocks noGrp="1"/>
          </p:cNvSpPr>
          <p:nvPr>
            <p:ph type="title"/>
          </p:nvPr>
        </p:nvSpPr>
        <p:spPr>
          <a:xfrm>
            <a:off x="937895" y="43815"/>
            <a:ext cx="8006080" cy="1143000"/>
          </a:xfrm>
        </p:spPr>
        <p:txBody>
          <a:bodyPr vert="horz" wrap="square" lIns="91440" tIns="45720" rIns="91440" bIns="45720" anchor="b" anchorCtr="0"/>
          <a:p>
            <a:pPr eaLnBrk="1" hangingPunct="1"/>
            <a:r>
              <a:rPr lang="en-US" altLang="zh-CN" dirty="0"/>
              <a:t>Ramsey theory (</a:t>
            </a:r>
            <a:r>
              <a:rPr lang="zh-CN" altLang="en-US" dirty="0"/>
              <a:t>拉姆齐理论</a:t>
            </a:r>
            <a:r>
              <a:rPr lang="en-US" altLang="zh-CN" dirty="0"/>
              <a:t>)</a:t>
            </a:r>
            <a:endParaRPr lang="en-US" altLang="zh-CN" dirty="0"/>
          </a:p>
        </p:txBody>
      </p:sp>
      <p:sp>
        <p:nvSpPr>
          <p:cNvPr id="39941" name="Rectangle 3"/>
          <p:cNvSpPr>
            <a:spLocks noGrp="1"/>
          </p:cNvSpPr>
          <p:nvPr>
            <p:ph idx="1"/>
          </p:nvPr>
        </p:nvSpPr>
        <p:spPr>
          <a:xfrm>
            <a:off x="395288" y="1124585"/>
            <a:ext cx="8496300" cy="5472113"/>
          </a:xfrm>
        </p:spPr>
        <p:txBody>
          <a:bodyPr vert="horz" wrap="square" lIns="91440" tIns="45720" rIns="91440" bIns="45720" anchor="t" anchorCtr="0"/>
          <a:p>
            <a:pPr eaLnBrk="1" hangingPunct="1">
              <a:spcBef>
                <a:spcPts val="600"/>
              </a:spcBef>
            </a:pPr>
            <a:r>
              <a:rPr lang="en-US" altLang="zh-CN" sz="2600" b="1" dirty="0"/>
              <a:t>Example 13</a:t>
            </a:r>
            <a:endParaRPr lang="en-US" altLang="zh-CN" sz="2600" b="1" dirty="0"/>
          </a:p>
          <a:p>
            <a:pPr lvl="1" eaLnBrk="1" hangingPunct="1">
              <a:spcBef>
                <a:spcPts val="600"/>
              </a:spcBef>
            </a:pPr>
            <a:r>
              <a:rPr lang="en-US" altLang="zh-CN" sz="2000" dirty="0">
                <a:latin typeface="Times New Roman" panose="02020503050405090304" pitchFamily="18" charset="0"/>
              </a:rPr>
              <a:t>Assume that in a group of six people, each pair of individuals consists of two friends or two enemies. Show that there are either three mutual friends or three mutual enemies in the group.</a:t>
            </a:r>
            <a:endParaRPr lang="en-US" altLang="zh-CN" sz="2000" dirty="0">
              <a:latin typeface="Times New Roman" panose="02020503050405090304" pitchFamily="18" charset="0"/>
            </a:endParaRPr>
          </a:p>
          <a:p>
            <a:pPr eaLnBrk="1" hangingPunct="1">
              <a:spcBef>
                <a:spcPts val="600"/>
              </a:spcBef>
            </a:pPr>
            <a:r>
              <a:rPr lang="en-US" altLang="zh-CN" sz="2600" b="1" dirty="0"/>
              <a:t>Proof</a:t>
            </a:r>
            <a:endParaRPr lang="en-US" altLang="zh-CN" sz="2600" b="1" dirty="0"/>
          </a:p>
          <a:p>
            <a:pPr lvl="1" eaLnBrk="1" hangingPunct="1">
              <a:spcBef>
                <a:spcPts val="300"/>
              </a:spcBef>
            </a:pPr>
            <a:r>
              <a:rPr lang="en-US" altLang="zh-CN" sz="2000" dirty="0">
                <a:latin typeface="Times New Roman" panose="02020503050405090304" pitchFamily="18" charset="0"/>
              </a:rPr>
              <a:t>Let A be one of the six people. Of the five other people in the group, there are either three or more who are friends of A, or three or more who are enemies of A. This follows from the generalized pigeonhole principle, because when five objects are divided into two sets, one of the sets has at least ⌈5∕2⌉ = 3 elements. </a:t>
            </a:r>
            <a:endParaRPr lang="en-US" altLang="zh-CN" sz="2000" dirty="0">
              <a:latin typeface="Times New Roman" panose="02020503050405090304" pitchFamily="18" charset="0"/>
            </a:endParaRPr>
          </a:p>
          <a:p>
            <a:pPr lvl="1" eaLnBrk="1" hangingPunct="1">
              <a:spcBef>
                <a:spcPts val="600"/>
              </a:spcBef>
            </a:pPr>
            <a:r>
              <a:rPr lang="en-US" altLang="zh-CN" sz="2000" dirty="0">
                <a:latin typeface="Times New Roman" panose="02020503050405090304" pitchFamily="18" charset="0"/>
              </a:rPr>
              <a:t>In the former case, suppose that B, C, and D are friends of A. </a:t>
            </a:r>
            <a:r>
              <a:rPr lang="en-US" altLang="zh-CN" sz="1800" b="1" dirty="0">
                <a:latin typeface="宋体" pitchFamily="2" charset="-122"/>
              </a:rPr>
              <a:t>①</a:t>
            </a:r>
            <a:r>
              <a:rPr lang="en-US" altLang="zh-CN" sz="2000" dirty="0">
                <a:latin typeface="Times New Roman" panose="02020503050405090304" pitchFamily="18" charset="0"/>
              </a:rPr>
              <a:t>If any two of these three individuals are friends, then these two and A form a group of three mutual friends. </a:t>
            </a:r>
            <a:r>
              <a:rPr lang="en-US" altLang="zh-CN" sz="1800" b="1" dirty="0">
                <a:latin typeface="宋体" pitchFamily="2" charset="-122"/>
              </a:rPr>
              <a:t>②</a:t>
            </a:r>
            <a:r>
              <a:rPr lang="en-US" altLang="zh-CN" sz="2000" dirty="0">
                <a:latin typeface="Times New Roman" panose="02020503050405090304" pitchFamily="18" charset="0"/>
              </a:rPr>
              <a:t>Otherwise, B, C, and D form a set of three mutual enemies.  </a:t>
            </a:r>
            <a:endParaRPr lang="en-US" altLang="zh-CN" sz="2000" dirty="0">
              <a:latin typeface="Times New Roman" panose="02020503050405090304" pitchFamily="18" charset="0"/>
            </a:endParaRPr>
          </a:p>
          <a:p>
            <a:pPr lvl="1" eaLnBrk="1" hangingPunct="1">
              <a:spcBef>
                <a:spcPts val="600"/>
              </a:spcBef>
            </a:pPr>
            <a:r>
              <a:rPr lang="en-US" altLang="zh-CN" sz="2000" dirty="0">
                <a:latin typeface="Times New Roman" panose="02020503050405090304" pitchFamily="18" charset="0"/>
              </a:rPr>
              <a:t>The proof in the latter case, when there are three or more enemies of A, proceeds in a similar manner.</a:t>
            </a:r>
            <a:endParaRPr lang="en-US" altLang="zh-CN" sz="2000" dirty="0">
              <a:latin typeface="Times New Roman" panose="02020503050405090304" pitchFamily="18" charset="0"/>
            </a:endParaRPr>
          </a:p>
        </p:txBody>
      </p:sp>
      <p:sp>
        <p:nvSpPr>
          <p:cNvPr id="39942"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 School of Computer Science, BUPT</a:t>
            </a:r>
            <a:endParaRPr lang="en-US" altLang="en-US" sz="1200" b="1" i="1" dirty="0">
              <a:solidFill>
                <a:srgbClr val="009999"/>
              </a:solidFill>
              <a:latin typeface="Arial Narrow" panose="020B0606020202030204" pitchFamily="34" charset="0"/>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45059"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45060"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45061" name="Rectangle 2"/>
          <p:cNvSpPr>
            <a:spLocks noGrp="1"/>
          </p:cNvSpPr>
          <p:nvPr>
            <p:ph type="title"/>
          </p:nvPr>
        </p:nvSpPr>
        <p:spPr/>
        <p:txBody>
          <a:bodyPr vert="horz" wrap="square" lIns="91440" tIns="45720" rIns="91440" bIns="45720" anchor="b" anchorCtr="0"/>
          <a:p>
            <a:pPr eaLnBrk="1" hangingPunct="1"/>
            <a:r>
              <a:rPr lang="en-US" altLang="zh-CN" dirty="0"/>
              <a:t>Homework</a:t>
            </a:r>
            <a:endParaRPr lang="en-US" altLang="zh-CN" dirty="0"/>
          </a:p>
        </p:txBody>
      </p:sp>
      <p:sp>
        <p:nvSpPr>
          <p:cNvPr id="45062" name="Rectangle 3"/>
          <p:cNvSpPr>
            <a:spLocks noGrp="1"/>
          </p:cNvSpPr>
          <p:nvPr>
            <p:ph idx="1"/>
          </p:nvPr>
        </p:nvSpPr>
        <p:spPr/>
        <p:txBody>
          <a:bodyPr vert="horz" wrap="square" lIns="91440" tIns="45720" rIns="91440" bIns="45720" anchor="t" anchorCtr="0"/>
          <a:p>
            <a:pPr eaLnBrk="1" hangingPunct="1"/>
            <a:r>
              <a:rPr lang="en-US" altLang="zh-CN" dirty="0"/>
              <a:t>§6.2</a:t>
            </a:r>
            <a:endParaRPr lang="en-US" altLang="zh-CN" dirty="0"/>
          </a:p>
          <a:p>
            <a:pPr lvl="1" eaLnBrk="1" hangingPunct="1"/>
            <a:r>
              <a:rPr lang="en-US" altLang="zh-CN" dirty="0"/>
              <a:t> 14, 28, 48</a:t>
            </a:r>
            <a:endParaRPr lang="en-US" altLang="zh-CN" dirty="0"/>
          </a:p>
        </p:txBody>
      </p:sp>
      <p:pic>
        <p:nvPicPr>
          <p:cNvPr id="45063" name="图片 2"/>
          <p:cNvPicPr>
            <a:picLocks noChangeAspect="1"/>
          </p:cNvPicPr>
          <p:nvPr/>
        </p:nvPicPr>
        <p:blipFill>
          <a:blip r:embed="rId1"/>
          <a:stretch>
            <a:fillRect/>
          </a:stretch>
        </p:blipFill>
        <p:spPr>
          <a:xfrm>
            <a:off x="488950" y="2997200"/>
            <a:ext cx="7899400" cy="896938"/>
          </a:xfrm>
          <a:prstGeom prst="rect">
            <a:avLst/>
          </a:prstGeom>
          <a:noFill/>
          <a:ln w="9525">
            <a:noFill/>
          </a:ln>
        </p:spPr>
      </p:pic>
      <p:pic>
        <p:nvPicPr>
          <p:cNvPr id="45064" name="图片 4"/>
          <p:cNvPicPr>
            <a:picLocks noChangeAspect="1"/>
          </p:cNvPicPr>
          <p:nvPr/>
        </p:nvPicPr>
        <p:blipFill>
          <a:blip r:embed="rId2"/>
          <a:stretch>
            <a:fillRect/>
          </a:stretch>
        </p:blipFill>
        <p:spPr>
          <a:xfrm>
            <a:off x="488950" y="4079875"/>
            <a:ext cx="8418513" cy="955675"/>
          </a:xfrm>
          <a:prstGeom prst="rect">
            <a:avLst/>
          </a:prstGeom>
          <a:noFill/>
          <a:ln w="9525">
            <a:noFill/>
          </a:ln>
        </p:spPr>
      </p:pic>
      <p:pic>
        <p:nvPicPr>
          <p:cNvPr id="45065" name="图片 5"/>
          <p:cNvPicPr>
            <a:picLocks noChangeAspect="1"/>
          </p:cNvPicPr>
          <p:nvPr/>
        </p:nvPicPr>
        <p:blipFill>
          <a:blip r:embed="rId3"/>
          <a:stretch>
            <a:fillRect/>
          </a:stretch>
        </p:blipFill>
        <p:spPr>
          <a:xfrm>
            <a:off x="588963" y="5045075"/>
            <a:ext cx="8353425" cy="947738"/>
          </a:xfrm>
          <a:prstGeom prst="rect">
            <a:avLst/>
          </a:prstGeom>
          <a:noFill/>
          <a:ln w="9525">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46083"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46084"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46085" name="Rectangle 2"/>
          <p:cNvSpPr>
            <a:spLocks noGrp="1"/>
          </p:cNvSpPr>
          <p:nvPr>
            <p:ph type="title"/>
          </p:nvPr>
        </p:nvSpPr>
        <p:spPr/>
        <p:txBody>
          <a:bodyPr vert="horz" wrap="square" lIns="91440" tIns="45720" rIns="91440" bIns="45720" anchor="b" anchorCtr="0"/>
          <a:p>
            <a:pPr eaLnBrk="1" hangingPunct="1"/>
            <a:r>
              <a:rPr lang="en-US" altLang="zh-CN" dirty="0"/>
              <a:t>Permutations (§6.3)</a:t>
            </a:r>
            <a:endParaRPr lang="en-US" altLang="zh-CN" dirty="0"/>
          </a:p>
        </p:txBody>
      </p:sp>
      <p:sp>
        <p:nvSpPr>
          <p:cNvPr id="46086" name="Rectangle 3"/>
          <p:cNvSpPr>
            <a:spLocks noGrp="1"/>
          </p:cNvSpPr>
          <p:nvPr>
            <p:ph idx="1"/>
          </p:nvPr>
        </p:nvSpPr>
        <p:spPr>
          <a:xfrm>
            <a:off x="899478" y="1371283"/>
            <a:ext cx="8054975" cy="4114800"/>
          </a:xfrm>
        </p:spPr>
        <p:txBody>
          <a:bodyPr vert="horz" wrap="square" lIns="91440" tIns="45720" rIns="91440" bIns="45720" anchor="t" anchorCtr="0"/>
          <a:p>
            <a:pPr eaLnBrk="1" hangingPunct="1"/>
            <a:r>
              <a:rPr lang="en-US" altLang="zh-CN" dirty="0"/>
              <a:t>A </a:t>
            </a:r>
            <a:r>
              <a:rPr lang="en-US" altLang="zh-CN" i="1" dirty="0"/>
              <a:t>permutation</a:t>
            </a:r>
            <a:r>
              <a:rPr lang="en-US" altLang="zh-CN" dirty="0"/>
              <a:t> of a set </a:t>
            </a:r>
            <a:r>
              <a:rPr lang="en-US" altLang="zh-CN" i="1" dirty="0"/>
              <a:t>S</a:t>
            </a:r>
            <a:r>
              <a:rPr lang="en-US" altLang="zh-CN" dirty="0"/>
              <a:t> of objects is a sequence that contains each object in </a:t>
            </a:r>
            <a:r>
              <a:rPr lang="en-US" altLang="zh-CN" i="1" dirty="0"/>
              <a:t>S</a:t>
            </a:r>
            <a:r>
              <a:rPr lang="en-US" altLang="zh-CN" dirty="0"/>
              <a:t> exactly once.</a:t>
            </a:r>
            <a:endParaRPr lang="en-US" altLang="zh-CN" dirty="0"/>
          </a:p>
          <a:p>
            <a:pPr lvl="1" eaLnBrk="1" hangingPunct="1"/>
            <a:r>
              <a:rPr lang="en-US" altLang="zh-CN" dirty="0"/>
              <a:t>An ordered arrangement of </a:t>
            </a:r>
            <a:r>
              <a:rPr lang="en-US" altLang="zh-CN" i="1" dirty="0"/>
              <a:t>r</a:t>
            </a:r>
            <a:r>
              <a:rPr lang="en-US" altLang="zh-CN" dirty="0"/>
              <a:t> distinct elements of </a:t>
            </a:r>
            <a:r>
              <a:rPr lang="en-US" altLang="zh-CN" i="1" dirty="0"/>
              <a:t>S</a:t>
            </a:r>
            <a:r>
              <a:rPr lang="en-US" altLang="zh-CN" dirty="0"/>
              <a:t> is called an </a:t>
            </a:r>
            <a:r>
              <a:rPr lang="en-US" altLang="zh-CN" i="1" dirty="0"/>
              <a:t>r-permutation of S</a:t>
            </a:r>
            <a:r>
              <a:rPr lang="en-US" altLang="zh-CN" dirty="0"/>
              <a:t>.</a:t>
            </a:r>
            <a:endParaRPr lang="en-US" altLang="zh-CN" dirty="0"/>
          </a:p>
          <a:p>
            <a:pPr eaLnBrk="1" hangingPunct="1"/>
            <a:r>
              <a:rPr lang="en-US" altLang="zh-CN" dirty="0"/>
              <a:t>The number of </a:t>
            </a:r>
            <a:r>
              <a:rPr lang="en-US" altLang="zh-CN" i="1" dirty="0"/>
              <a:t>r</a:t>
            </a:r>
            <a:r>
              <a:rPr lang="en-US" altLang="zh-CN" dirty="0"/>
              <a:t>-permutations of a set with </a:t>
            </a:r>
            <a:r>
              <a:rPr lang="en-US" altLang="zh-CN" i="1" dirty="0"/>
              <a:t>n</a:t>
            </a:r>
            <a:r>
              <a:rPr lang="en-US" altLang="zh-CN" dirty="0"/>
              <a:t>=|</a:t>
            </a:r>
            <a:r>
              <a:rPr lang="en-US" altLang="zh-CN" i="1" dirty="0"/>
              <a:t>S|</a:t>
            </a:r>
            <a:r>
              <a:rPr lang="en-US" altLang="zh-CN" dirty="0"/>
              <a:t> elements is </a:t>
            </a:r>
            <a:br>
              <a:rPr lang="en-US" altLang="zh-CN" dirty="0"/>
            </a:br>
            <a:r>
              <a:rPr lang="en-US" altLang="zh-CN" dirty="0"/>
              <a:t>	</a:t>
            </a:r>
            <a:r>
              <a:rPr lang="en-US" altLang="zh-CN" i="1" dirty="0">
                <a:solidFill>
                  <a:srgbClr val="FF0000"/>
                </a:solidFill>
              </a:rPr>
              <a:t>P</a:t>
            </a:r>
            <a:r>
              <a:rPr lang="en-US" altLang="zh-CN" dirty="0">
                <a:solidFill>
                  <a:srgbClr val="FF0000"/>
                </a:solidFill>
              </a:rPr>
              <a:t>(</a:t>
            </a:r>
            <a:r>
              <a:rPr lang="en-US" altLang="zh-CN" i="1" dirty="0">
                <a:solidFill>
                  <a:srgbClr val="FF0000"/>
                </a:solidFill>
              </a:rPr>
              <a:t>n</a:t>
            </a:r>
            <a:r>
              <a:rPr lang="en-US" altLang="zh-CN" dirty="0">
                <a:solidFill>
                  <a:srgbClr val="FF0000"/>
                </a:solidFill>
              </a:rPr>
              <a:t>,</a:t>
            </a:r>
            <a:r>
              <a:rPr lang="en-US" altLang="zh-CN" i="1" dirty="0">
                <a:solidFill>
                  <a:srgbClr val="FF0000"/>
                </a:solidFill>
              </a:rPr>
              <a:t>r</a:t>
            </a:r>
            <a:r>
              <a:rPr lang="en-US" altLang="zh-CN" dirty="0">
                <a:solidFill>
                  <a:srgbClr val="FF0000"/>
                </a:solidFill>
              </a:rPr>
              <a:t>) = </a:t>
            </a:r>
            <a:r>
              <a:rPr lang="en-US" altLang="zh-CN" i="1" dirty="0">
                <a:solidFill>
                  <a:srgbClr val="FF0000"/>
                </a:solidFill>
              </a:rPr>
              <a:t>n</a:t>
            </a:r>
            <a:r>
              <a:rPr lang="en-US" altLang="zh-CN" dirty="0">
                <a:solidFill>
                  <a:srgbClr val="FF0000"/>
                </a:solidFill>
              </a:rPr>
              <a:t>(</a:t>
            </a:r>
            <a:r>
              <a:rPr lang="en-US" altLang="zh-CN" i="1" dirty="0">
                <a:solidFill>
                  <a:srgbClr val="FF0000"/>
                </a:solidFill>
              </a:rPr>
              <a:t>n</a:t>
            </a:r>
            <a:r>
              <a:rPr lang="en-US" altLang="zh-CN" dirty="0">
                <a:solidFill>
                  <a:srgbClr val="FF0000"/>
                </a:solidFill>
              </a:rPr>
              <a:t>−1)…(</a:t>
            </a:r>
            <a:r>
              <a:rPr lang="en-US" altLang="zh-CN" i="1" dirty="0">
                <a:solidFill>
                  <a:srgbClr val="FF0000"/>
                </a:solidFill>
              </a:rPr>
              <a:t>n</a:t>
            </a:r>
            <a:r>
              <a:rPr lang="en-US" altLang="zh-CN" dirty="0">
                <a:solidFill>
                  <a:srgbClr val="FF0000"/>
                </a:solidFill>
              </a:rPr>
              <a:t>−</a:t>
            </a:r>
            <a:r>
              <a:rPr lang="en-US" altLang="zh-CN" i="1" dirty="0">
                <a:solidFill>
                  <a:srgbClr val="FF0000"/>
                </a:solidFill>
              </a:rPr>
              <a:t>r</a:t>
            </a:r>
            <a:r>
              <a:rPr lang="en-US" altLang="zh-CN" dirty="0">
                <a:solidFill>
                  <a:srgbClr val="FF0000"/>
                </a:solidFill>
              </a:rPr>
              <a:t>+1) = </a:t>
            </a:r>
            <a:r>
              <a:rPr lang="en-US" altLang="zh-CN" i="1" dirty="0">
                <a:solidFill>
                  <a:srgbClr val="FF0000"/>
                </a:solidFill>
              </a:rPr>
              <a:t>n</a:t>
            </a:r>
            <a:r>
              <a:rPr lang="en-US" altLang="zh-CN" dirty="0">
                <a:solidFill>
                  <a:srgbClr val="FF0000"/>
                </a:solidFill>
              </a:rPr>
              <a:t>!/(</a:t>
            </a:r>
            <a:r>
              <a:rPr lang="en-US" altLang="zh-CN" i="1" dirty="0">
                <a:solidFill>
                  <a:srgbClr val="FF0000"/>
                </a:solidFill>
              </a:rPr>
              <a:t>n</a:t>
            </a:r>
            <a:r>
              <a:rPr lang="en-US" altLang="zh-CN" dirty="0">
                <a:solidFill>
                  <a:srgbClr val="FF0000"/>
                </a:solidFill>
              </a:rPr>
              <a:t>−</a:t>
            </a:r>
            <a:r>
              <a:rPr lang="en-US" altLang="zh-CN" i="1" dirty="0">
                <a:solidFill>
                  <a:srgbClr val="FF0000"/>
                </a:solidFill>
              </a:rPr>
              <a:t>r</a:t>
            </a:r>
            <a:r>
              <a:rPr lang="en-US" altLang="zh-CN" dirty="0">
                <a:solidFill>
                  <a:srgbClr val="FF0000"/>
                </a:solidFill>
              </a:rPr>
              <a:t>)!</a:t>
            </a:r>
            <a:endParaRPr lang="en-US" altLang="zh-CN" dirty="0">
              <a:solidFill>
                <a:srgbClr val="FF0000"/>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47107"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47108"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47109" name="Rectangle 2"/>
          <p:cNvSpPr>
            <a:spLocks noGrp="1"/>
          </p:cNvSpPr>
          <p:nvPr>
            <p:ph type="title"/>
          </p:nvPr>
        </p:nvSpPr>
        <p:spPr/>
        <p:txBody>
          <a:bodyPr vert="horz" wrap="square" lIns="91440" tIns="45720" rIns="91440" bIns="45720" anchor="b" anchorCtr="0"/>
          <a:p>
            <a:pPr eaLnBrk="1" hangingPunct="1"/>
            <a:r>
              <a:rPr lang="en-US" altLang="zh-CN" dirty="0"/>
              <a:t>Permutation Example</a:t>
            </a:r>
            <a:endParaRPr lang="en-US" altLang="zh-CN" dirty="0"/>
          </a:p>
        </p:txBody>
      </p:sp>
      <p:sp>
        <p:nvSpPr>
          <p:cNvPr id="47110" name="Rectangle 3"/>
          <p:cNvSpPr>
            <a:spLocks noGrp="1"/>
          </p:cNvSpPr>
          <p:nvPr>
            <p:ph idx="1"/>
          </p:nvPr>
        </p:nvSpPr>
        <p:spPr/>
        <p:txBody>
          <a:bodyPr vert="horz" wrap="square" lIns="91440" tIns="45720" rIns="91440" bIns="45720" anchor="t" anchorCtr="0"/>
          <a:p>
            <a:pPr eaLnBrk="1" hangingPunct="1">
              <a:lnSpc>
                <a:spcPct val="90000"/>
              </a:lnSpc>
            </a:pPr>
            <a:r>
              <a:rPr lang="en-US" altLang="zh-CN" dirty="0"/>
              <a:t>A terrorist has planted an armed nuclear bomb in your city, and it is your job to disable it by cutting wires to the trigger device.  There are 10 wires to the device.  If you cut exactly the right three wires, in exactly the right order, you will disable the bomb, otherwise it will explode!  If the wires all look the same, what are your chances of survival?</a:t>
            </a:r>
            <a:endParaRPr lang="en-US" altLang="zh-CN" dirty="0"/>
          </a:p>
        </p:txBody>
      </p:sp>
      <p:sp>
        <p:nvSpPr>
          <p:cNvPr id="759812" name="Text Box 4"/>
          <p:cNvSpPr txBox="1"/>
          <p:nvPr/>
        </p:nvSpPr>
        <p:spPr>
          <a:xfrm>
            <a:off x="5209858" y="5157470"/>
            <a:ext cx="3733800" cy="1225550"/>
          </a:xfrm>
          <a:prstGeom prst="rect">
            <a:avLst/>
          </a:prstGeom>
          <a:solidFill>
            <a:srgbClr val="FFFFCC"/>
          </a:solidFill>
          <a:ln w="38100"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mn-ea"/>
              </a:defRPr>
            </a:lvl5pPr>
          </a:lstStyle>
          <a:p>
            <a:pPr marL="0" lvl="0" indent="0">
              <a:spcBef>
                <a:spcPct val="0"/>
              </a:spcBef>
              <a:buClrTx/>
              <a:buSzTx/>
              <a:buFontTx/>
              <a:buNone/>
            </a:pPr>
            <a:r>
              <a:rPr lang="en-US" altLang="zh-CN" sz="2400" i="1" dirty="0"/>
              <a:t>P</a:t>
            </a:r>
            <a:r>
              <a:rPr lang="en-US" altLang="zh-CN" sz="2400" dirty="0"/>
              <a:t>(10,3) = 10·9·8 = 720, </a:t>
            </a:r>
            <a:br>
              <a:rPr lang="en-US" altLang="zh-CN" sz="2400" dirty="0"/>
            </a:br>
            <a:r>
              <a:rPr lang="en-US" altLang="zh-CN" sz="2400" dirty="0"/>
              <a:t>so there is a 1 in 720 chance that you’ll survive!</a:t>
            </a:r>
            <a:endParaRPr lang="en-US" altLang="zh-CN" sz="2400"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59812"/>
                                        </p:tgtEl>
                                        <p:attrNameLst>
                                          <p:attrName>style.visibility</p:attrName>
                                        </p:attrNameLst>
                                      </p:cBhvr>
                                      <p:to>
                                        <p:strVal val="visible"/>
                                      </p:to>
                                    </p:set>
                                    <p:anim calcmode="lin" valueType="num">
                                      <p:cBhvr>
                                        <p:cTn id="7" dur="500" fill="hold"/>
                                        <p:tgtEl>
                                          <p:spTgt spid="759812"/>
                                        </p:tgtEl>
                                        <p:attrNameLst>
                                          <p:attrName>ppt_x</p:attrName>
                                        </p:attrNameLst>
                                      </p:cBhvr>
                                      <p:tavLst>
                                        <p:tav tm="0">
                                          <p:val>
                                            <p:strVal val="#ppt_x"/>
                                          </p:val>
                                        </p:tav>
                                        <p:tav tm="100000">
                                          <p:val>
                                            <p:strVal val="#ppt_x"/>
                                          </p:val>
                                        </p:tav>
                                      </p:tavLst>
                                    </p:anim>
                                    <p:anim calcmode="lin" valueType="num">
                                      <p:cBhvr>
                                        <p:cTn id="8" dur="500" fill="hold"/>
                                        <p:tgtEl>
                                          <p:spTgt spid="7598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9812" grpId="0" bldLvl="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150938" y="187008"/>
            <a:ext cx="7793038" cy="1143000"/>
          </a:xfrm>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sz="3600" b="0" i="0" u="none" strike="noStrike" kern="0" cap="none" spc="0" normalizeH="0" baseline="0" noProof="1">
                <a:ln>
                  <a:noFill/>
                </a:ln>
                <a:solidFill>
                  <a:schemeClr val="tx2"/>
                </a:solidFill>
                <a:effectLst/>
                <a:uLnTx/>
                <a:uFillTx/>
                <a:latin typeface="+mj-lt"/>
                <a:ea typeface="+mj-ea"/>
                <a:cs typeface="+mj-cs"/>
              </a:rPr>
              <a:t>Solving Counting Problems by Counting Permutations</a:t>
            </a:r>
            <a:endParaRPr kumimoji="1" lang="en-US" sz="3600" b="0" i="0" u="none" strike="noStrike" kern="0" cap="none" spc="0" normalizeH="0" baseline="0" noProof="1">
              <a:ln>
                <a:noFill/>
              </a:ln>
              <a:solidFill>
                <a:schemeClr val="tx2"/>
              </a:solidFill>
              <a:effectLst/>
              <a:uLnTx/>
              <a:uFillTx/>
              <a:latin typeface="+mj-lt"/>
              <a:ea typeface="+mj-ea"/>
              <a:cs typeface="+mj-cs"/>
            </a:endParaRPr>
          </a:p>
        </p:txBody>
      </p:sp>
      <p:sp>
        <p:nvSpPr>
          <p:cNvPr id="3" name="Content Placeholder 2"/>
          <p:cNvSpPr>
            <a:spLocks noGrp="1"/>
          </p:cNvSpPr>
          <p:nvPr>
            <p:ph idx="1"/>
          </p:nvPr>
        </p:nvSpPr>
        <p:spPr/>
        <p:txBody>
          <a:bodyPr vert="horz" wrap="square" lIns="91440" tIns="45720" rIns="91440" bIns="45720" anchor="t" anchorCtr="0"/>
          <a:p>
            <a:pPr>
              <a:buNone/>
            </a:pPr>
            <a:r>
              <a:rPr lang="en-US" altLang="zh-CN" b="1" dirty="0"/>
              <a:t>   Example</a:t>
            </a:r>
            <a:r>
              <a:rPr lang="en-US" altLang="zh-CN" dirty="0"/>
              <a:t>: How many ways are there to select a first-prize winner, a second prize winner, and a third-prize winner from </a:t>
            </a:r>
            <a:r>
              <a:rPr lang="en-US" altLang="zh-CN" dirty="0">
                <a:latin typeface="Cambria Math" panose="02040503050406030204" pitchFamily="18" charset="0"/>
              </a:rPr>
              <a:t>100</a:t>
            </a:r>
            <a:r>
              <a:rPr lang="en-US" altLang="zh-CN" dirty="0"/>
              <a:t> different people who have entered a contest?</a:t>
            </a:r>
            <a:endParaRPr lang="en-US" altLang="zh-CN" dirty="0"/>
          </a:p>
          <a:p>
            <a:pPr>
              <a:buNone/>
            </a:pPr>
            <a:endParaRPr lang="en-US" altLang="zh-CN" dirty="0"/>
          </a:p>
          <a:p>
            <a:pPr>
              <a:buNone/>
            </a:pPr>
            <a:r>
              <a:rPr lang="en-US" altLang="zh-CN" b="1" dirty="0"/>
              <a:t>    Solution</a:t>
            </a:r>
            <a:r>
              <a:rPr lang="en-US" altLang="zh-CN" dirty="0"/>
              <a:t>: </a:t>
            </a:r>
            <a:endParaRPr lang="en-US" altLang="zh-CN" dirty="0"/>
          </a:p>
          <a:p>
            <a:pPr>
              <a:buNone/>
            </a:pPr>
            <a:r>
              <a:rPr lang="en-US" altLang="zh-CN" dirty="0"/>
              <a:t>            P(</a:t>
            </a:r>
            <a:r>
              <a:rPr lang="en-US" altLang="zh-CN" dirty="0">
                <a:latin typeface="Cambria Math" panose="02040503050406030204" pitchFamily="18" charset="0"/>
              </a:rPr>
              <a:t>100</a:t>
            </a:r>
            <a:r>
              <a:rPr lang="en-US" altLang="zh-CN" dirty="0"/>
              <a:t>,</a:t>
            </a:r>
            <a:r>
              <a:rPr lang="en-US" altLang="zh-CN" dirty="0">
                <a:latin typeface="Cambria Math" panose="02040503050406030204" pitchFamily="18" charset="0"/>
              </a:rPr>
              <a:t>3</a:t>
            </a:r>
            <a:r>
              <a:rPr lang="en-US" altLang="zh-CN" dirty="0"/>
              <a:t>) = </a:t>
            </a:r>
            <a:r>
              <a:rPr lang="en-US" altLang="zh-CN" dirty="0">
                <a:latin typeface="Cambria Math" panose="02040503050406030204" pitchFamily="18" charset="0"/>
              </a:rPr>
              <a:t>100</a:t>
            </a:r>
            <a:r>
              <a:rPr lang="en-US" altLang="zh-CN" dirty="0"/>
              <a:t> </a:t>
            </a:r>
            <a:r>
              <a:rPr lang="en-US" altLang="zh-CN" dirty="0">
                <a:latin typeface="Cambria Math" panose="02040503050406030204" pitchFamily="18" charset="0"/>
              </a:rPr>
              <a:t>∙</a:t>
            </a:r>
            <a:r>
              <a:rPr lang="en-US" altLang="zh-CN" dirty="0"/>
              <a:t> </a:t>
            </a:r>
            <a:r>
              <a:rPr lang="en-US" altLang="zh-CN" dirty="0">
                <a:latin typeface="Cambria Math" panose="02040503050406030204" pitchFamily="18" charset="0"/>
              </a:rPr>
              <a:t>99 ∙</a:t>
            </a:r>
            <a:r>
              <a:rPr lang="en-US" altLang="zh-CN" dirty="0"/>
              <a:t> </a:t>
            </a:r>
            <a:r>
              <a:rPr lang="en-US" altLang="zh-CN" dirty="0">
                <a:latin typeface="Cambria Math" panose="02040503050406030204" pitchFamily="18" charset="0"/>
              </a:rPr>
              <a:t>98</a:t>
            </a:r>
            <a:r>
              <a:rPr lang="en-US" altLang="zh-CN" dirty="0"/>
              <a:t> = </a:t>
            </a:r>
            <a:r>
              <a:rPr lang="en-US" altLang="zh-CN" dirty="0">
                <a:latin typeface="Cambria Math" panose="02040503050406030204" pitchFamily="18" charset="0"/>
              </a:rPr>
              <a:t>970,200</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charRg st="171" end="18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charRg st="186" end="23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19785" y="187325"/>
            <a:ext cx="8467090" cy="1143000"/>
          </a:xfrm>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sz="3200" b="0" i="0" u="none" strike="noStrike" kern="0" cap="none" spc="0" normalizeH="0" baseline="0" noProof="1">
                <a:ln>
                  <a:noFill/>
                </a:ln>
                <a:solidFill>
                  <a:schemeClr val="tx2"/>
                </a:solidFill>
                <a:effectLst/>
                <a:uLnTx/>
                <a:uFillTx/>
                <a:latin typeface="+mj-lt"/>
                <a:ea typeface="+mj-ea"/>
                <a:cs typeface="+mj-cs"/>
              </a:rPr>
              <a:t>Solving Counting Problems by Counting Permutations (</a:t>
            </a:r>
            <a:r>
              <a:rPr kumimoji="1" lang="en-US" sz="3200" b="0" i="1" u="none" strike="noStrike" kern="0" cap="none" spc="0" normalizeH="0" baseline="0" noProof="1">
                <a:ln>
                  <a:noFill/>
                </a:ln>
                <a:solidFill>
                  <a:schemeClr val="tx2"/>
                </a:solidFill>
                <a:effectLst/>
                <a:uLnTx/>
                <a:uFillTx/>
                <a:latin typeface="+mj-lt"/>
                <a:ea typeface="+mj-ea"/>
                <a:cs typeface="+mj-cs"/>
              </a:rPr>
              <a:t>continued</a:t>
            </a:r>
            <a:r>
              <a:rPr kumimoji="1" lang="en-US" sz="3200" b="0" i="0" u="none" strike="noStrike" kern="0" cap="none" spc="0" normalizeH="0" baseline="0" noProof="1">
                <a:ln>
                  <a:noFill/>
                </a:ln>
                <a:solidFill>
                  <a:schemeClr val="tx2"/>
                </a:solidFill>
                <a:effectLst/>
                <a:uLnTx/>
                <a:uFillTx/>
                <a:latin typeface="+mj-lt"/>
                <a:ea typeface="+mj-ea"/>
                <a:cs typeface="+mj-cs"/>
              </a:rPr>
              <a:t>)</a:t>
            </a:r>
            <a:endParaRPr kumimoji="1" lang="en-US" sz="3200" b="0" i="0" u="none" strike="noStrike" kern="0" cap="none" spc="0" normalizeH="0" baseline="0" noProof="1">
              <a:ln>
                <a:noFill/>
              </a:ln>
              <a:solidFill>
                <a:schemeClr val="tx2"/>
              </a:solidFill>
              <a:effectLst/>
              <a:uLnTx/>
              <a:uFillTx/>
              <a:latin typeface="+mj-lt"/>
              <a:ea typeface="+mj-ea"/>
              <a:cs typeface="+mj-cs"/>
            </a:endParaRPr>
          </a:p>
        </p:txBody>
      </p:sp>
      <p:sp>
        <p:nvSpPr>
          <p:cNvPr id="3" name="Content Placeholder 2"/>
          <p:cNvSpPr>
            <a:spLocks noGrp="1"/>
          </p:cNvSpPr>
          <p:nvPr>
            <p:ph idx="1"/>
          </p:nvPr>
        </p:nvSpPr>
        <p:spPr/>
        <p:txBody>
          <a:bodyPr vert="horz" wrap="square" lIns="91440" tIns="45720" rIns="91440" bIns="45720" anchor="t" anchorCtr="0"/>
          <a:p>
            <a:pPr>
              <a:lnSpc>
                <a:spcPct val="80000"/>
              </a:lnSpc>
              <a:buNone/>
            </a:pPr>
            <a:r>
              <a:rPr lang="en-US" altLang="zh-CN" sz="2500" b="1" dirty="0"/>
              <a:t>   Example</a:t>
            </a:r>
            <a:r>
              <a:rPr lang="en-US" altLang="zh-CN" sz="2500" dirty="0"/>
              <a:t>: Suppose that a saleswoman has to visit eight different cities. She must begin her trip in a specified city, but she can visit the other seven cities in any order she wishes. How many possible orders can the saleswoman use when visiting these cities?</a:t>
            </a:r>
            <a:endParaRPr lang="en-US" altLang="zh-CN" sz="2500" dirty="0"/>
          </a:p>
          <a:p>
            <a:pPr>
              <a:lnSpc>
                <a:spcPct val="80000"/>
              </a:lnSpc>
              <a:buNone/>
            </a:pPr>
            <a:endParaRPr lang="en-US" altLang="zh-CN" sz="2500" dirty="0"/>
          </a:p>
          <a:p>
            <a:pPr>
              <a:lnSpc>
                <a:spcPct val="80000"/>
              </a:lnSpc>
              <a:buNone/>
            </a:pPr>
            <a:r>
              <a:rPr lang="en-US" altLang="zh-CN" sz="2500" b="1" dirty="0"/>
              <a:t>    Solution</a:t>
            </a:r>
            <a:r>
              <a:rPr lang="en-US" altLang="zh-CN" sz="2500" dirty="0"/>
              <a:t>: The first city is chosen, and the rest are ordered arbitrarily. Hence the orders are:</a:t>
            </a:r>
            <a:endParaRPr lang="en-US" altLang="zh-CN" sz="2500" dirty="0"/>
          </a:p>
          <a:p>
            <a:pPr>
              <a:lnSpc>
                <a:spcPct val="80000"/>
              </a:lnSpc>
              <a:buNone/>
            </a:pPr>
            <a:r>
              <a:rPr lang="en-US" altLang="zh-CN" sz="2500" dirty="0"/>
              <a:t>            </a:t>
            </a:r>
            <a:r>
              <a:rPr lang="en-US" altLang="zh-CN" sz="2500" dirty="0">
                <a:latin typeface="Cambria Math" panose="02040503050406030204" pitchFamily="18" charset="0"/>
              </a:rPr>
              <a:t>7!</a:t>
            </a:r>
            <a:r>
              <a:rPr lang="en-US" altLang="zh-CN" sz="2500" dirty="0"/>
              <a:t> = </a:t>
            </a:r>
            <a:r>
              <a:rPr lang="en-US" altLang="zh-CN" sz="2500" dirty="0">
                <a:latin typeface="Cambria Math" panose="02040503050406030204" pitchFamily="18" charset="0"/>
              </a:rPr>
              <a:t>7</a:t>
            </a:r>
            <a:r>
              <a:rPr lang="en-US" altLang="zh-CN" sz="2500" dirty="0"/>
              <a:t> </a:t>
            </a:r>
            <a:r>
              <a:rPr lang="en-US" altLang="zh-CN" sz="2500" dirty="0">
                <a:latin typeface="Cambria Math" panose="02040503050406030204" pitchFamily="18" charset="0"/>
              </a:rPr>
              <a:t>∙</a:t>
            </a:r>
            <a:r>
              <a:rPr lang="en-US" altLang="zh-CN" sz="2500" dirty="0"/>
              <a:t> </a:t>
            </a:r>
            <a:r>
              <a:rPr lang="en-US" altLang="zh-CN" sz="2500" dirty="0">
                <a:latin typeface="Cambria Math" panose="02040503050406030204" pitchFamily="18" charset="0"/>
              </a:rPr>
              <a:t>6</a:t>
            </a:r>
            <a:r>
              <a:rPr lang="en-US" altLang="zh-CN" sz="2500" dirty="0"/>
              <a:t> </a:t>
            </a:r>
            <a:r>
              <a:rPr lang="en-US" altLang="zh-CN" sz="2500" dirty="0">
                <a:latin typeface="Cambria Math" panose="02040503050406030204" pitchFamily="18" charset="0"/>
              </a:rPr>
              <a:t>∙</a:t>
            </a:r>
            <a:r>
              <a:rPr lang="en-US" altLang="zh-CN" sz="2500" dirty="0"/>
              <a:t> </a:t>
            </a:r>
            <a:r>
              <a:rPr lang="en-US" altLang="zh-CN" sz="2500" dirty="0">
                <a:latin typeface="Cambria Math" panose="02040503050406030204" pitchFamily="18" charset="0"/>
              </a:rPr>
              <a:t>5 ∙</a:t>
            </a:r>
            <a:r>
              <a:rPr lang="en-US" altLang="zh-CN" sz="2500" dirty="0"/>
              <a:t> </a:t>
            </a:r>
            <a:r>
              <a:rPr lang="en-US" altLang="zh-CN" sz="2500" dirty="0">
                <a:latin typeface="Cambria Math" panose="02040503050406030204" pitchFamily="18" charset="0"/>
              </a:rPr>
              <a:t>4 ∙</a:t>
            </a:r>
            <a:r>
              <a:rPr lang="en-US" altLang="zh-CN" sz="2500" dirty="0"/>
              <a:t> </a:t>
            </a:r>
            <a:r>
              <a:rPr lang="en-US" altLang="zh-CN" sz="2500" dirty="0">
                <a:latin typeface="Cambria Math" panose="02040503050406030204" pitchFamily="18" charset="0"/>
              </a:rPr>
              <a:t>3 ∙</a:t>
            </a:r>
            <a:r>
              <a:rPr lang="en-US" altLang="zh-CN" sz="2500" dirty="0"/>
              <a:t> </a:t>
            </a:r>
            <a:r>
              <a:rPr lang="en-US" altLang="zh-CN" sz="2500" dirty="0">
                <a:latin typeface="Cambria Math" panose="02040503050406030204" pitchFamily="18" charset="0"/>
              </a:rPr>
              <a:t>2 ∙</a:t>
            </a:r>
            <a:r>
              <a:rPr lang="en-US" altLang="zh-CN" sz="2500" dirty="0"/>
              <a:t> </a:t>
            </a:r>
            <a:r>
              <a:rPr lang="en-US" altLang="zh-CN" sz="2500" dirty="0">
                <a:latin typeface="Cambria Math" panose="02040503050406030204" pitchFamily="18" charset="0"/>
              </a:rPr>
              <a:t>1 </a:t>
            </a:r>
            <a:r>
              <a:rPr lang="en-US" altLang="zh-CN" sz="2500" dirty="0"/>
              <a:t>= </a:t>
            </a:r>
            <a:r>
              <a:rPr lang="en-US" altLang="zh-CN" sz="2500" dirty="0">
                <a:latin typeface="Cambria Math" panose="02040503050406030204" pitchFamily="18" charset="0"/>
              </a:rPr>
              <a:t>5040</a:t>
            </a:r>
            <a:endParaRPr lang="en-US" altLang="zh-CN" sz="2500" dirty="0">
              <a:latin typeface="Cambria Math" panose="02040503050406030204" pitchFamily="18" charset="0"/>
            </a:endParaRPr>
          </a:p>
          <a:p>
            <a:pPr>
              <a:lnSpc>
                <a:spcPct val="80000"/>
              </a:lnSpc>
              <a:buNone/>
            </a:pPr>
            <a:r>
              <a:rPr lang="en-US" altLang="zh-CN" sz="2500" dirty="0">
                <a:latin typeface="Cambria Math" panose="02040503050406030204" pitchFamily="18" charset="0"/>
              </a:rPr>
              <a:t>    If she wants to find the tour with the shortest path that visits all the cities, she must consider 5040 paths!</a:t>
            </a:r>
            <a:endParaRPr lang="en-US" altLang="zh-CN" sz="25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charRg st="263" end="36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charRg st="363" end="41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charRg st="413" end="52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27405" y="116840"/>
            <a:ext cx="8564880" cy="1143000"/>
          </a:xfrm>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sz="3200" b="0" i="0" u="none" strike="noStrike" kern="0" cap="none" spc="0" normalizeH="0" baseline="0" noProof="1">
                <a:ln>
                  <a:noFill/>
                </a:ln>
                <a:solidFill>
                  <a:schemeClr val="tx2"/>
                </a:solidFill>
                <a:effectLst/>
                <a:uLnTx/>
                <a:uFillTx/>
                <a:latin typeface="+mj-lt"/>
                <a:ea typeface="+mj-ea"/>
                <a:cs typeface="+mj-cs"/>
              </a:rPr>
              <a:t>Solving Counting Problems by Counting Permutations (</a:t>
            </a:r>
            <a:r>
              <a:rPr kumimoji="1" lang="en-US" sz="3200" b="0" i="1" u="none" strike="noStrike" kern="0" cap="none" spc="0" normalizeH="0" baseline="0" noProof="1">
                <a:ln>
                  <a:noFill/>
                </a:ln>
                <a:solidFill>
                  <a:schemeClr val="tx2"/>
                </a:solidFill>
                <a:effectLst/>
                <a:uLnTx/>
                <a:uFillTx/>
                <a:latin typeface="+mj-lt"/>
                <a:ea typeface="+mj-ea"/>
                <a:cs typeface="+mj-cs"/>
              </a:rPr>
              <a:t>continued</a:t>
            </a:r>
            <a:r>
              <a:rPr kumimoji="1" lang="en-US" sz="3200" b="0" i="0" u="none" strike="noStrike" kern="0" cap="none" spc="0" normalizeH="0" baseline="0" noProof="1">
                <a:ln>
                  <a:noFill/>
                </a:ln>
                <a:solidFill>
                  <a:schemeClr val="tx2"/>
                </a:solidFill>
                <a:effectLst/>
                <a:uLnTx/>
                <a:uFillTx/>
                <a:latin typeface="+mj-lt"/>
                <a:ea typeface="+mj-ea"/>
                <a:cs typeface="+mj-cs"/>
              </a:rPr>
              <a:t>)</a:t>
            </a:r>
            <a:endParaRPr kumimoji="1" lang="en-US" sz="3200" b="0" i="0" u="none" strike="noStrike" kern="0" cap="none" spc="0" normalizeH="0" baseline="0" noProof="1">
              <a:ln>
                <a:noFill/>
              </a:ln>
              <a:solidFill>
                <a:schemeClr val="tx2"/>
              </a:solidFill>
              <a:effectLst/>
              <a:uLnTx/>
              <a:uFillTx/>
              <a:latin typeface="+mj-lt"/>
              <a:ea typeface="+mj-ea"/>
              <a:cs typeface="+mj-cs"/>
            </a:endParaRPr>
          </a:p>
        </p:txBody>
      </p:sp>
      <p:sp>
        <p:nvSpPr>
          <p:cNvPr id="3" name="Content Placeholder 2"/>
          <p:cNvSpPr>
            <a:spLocks noGrp="1"/>
          </p:cNvSpPr>
          <p:nvPr>
            <p:ph idx="1"/>
          </p:nvPr>
        </p:nvSpPr>
        <p:spPr>
          <a:xfrm>
            <a:off x="755650" y="1628458"/>
            <a:ext cx="8199438" cy="4114800"/>
          </a:xfrm>
        </p:spPr>
        <p:txBody>
          <a:bodyPr vert="horz" wrap="square" lIns="91440" tIns="45720" rIns="91440" bIns="45720" anchor="t" anchorCtr="0"/>
          <a:p>
            <a:pPr>
              <a:buNone/>
            </a:pPr>
            <a:r>
              <a:rPr lang="en-US" altLang="zh-CN" b="1" dirty="0"/>
              <a:t>   Example</a:t>
            </a:r>
            <a:r>
              <a:rPr lang="en-US" altLang="zh-CN" dirty="0"/>
              <a:t>: How many permutations of the letters </a:t>
            </a:r>
            <a:r>
              <a:rPr lang="en-US" altLang="zh-CN" i="1" dirty="0"/>
              <a:t>ABCDEFGH</a:t>
            </a:r>
            <a:r>
              <a:rPr lang="en-US" altLang="zh-CN" dirty="0"/>
              <a:t> contain the string </a:t>
            </a:r>
            <a:r>
              <a:rPr lang="en-US" altLang="zh-CN" i="1" dirty="0"/>
              <a:t>ABC</a:t>
            </a:r>
            <a:r>
              <a:rPr lang="en-US" altLang="zh-CN" dirty="0"/>
              <a:t> ?</a:t>
            </a:r>
            <a:endParaRPr lang="en-US" altLang="zh-CN" dirty="0"/>
          </a:p>
          <a:p>
            <a:pPr>
              <a:buNone/>
            </a:pPr>
            <a:endParaRPr lang="en-US" altLang="zh-CN" dirty="0"/>
          </a:p>
          <a:p>
            <a:pPr>
              <a:buNone/>
            </a:pPr>
            <a:r>
              <a:rPr lang="en-US" altLang="zh-CN" b="1" dirty="0"/>
              <a:t>    Solution</a:t>
            </a:r>
            <a:r>
              <a:rPr lang="en-US" altLang="zh-CN" dirty="0"/>
              <a:t>: We solve this problem by counting the permutations of six objects, </a:t>
            </a:r>
            <a:r>
              <a:rPr lang="en-US" altLang="zh-CN" i="1" dirty="0"/>
              <a:t>ABC</a:t>
            </a:r>
            <a:r>
              <a:rPr lang="en-US" altLang="zh-CN" dirty="0"/>
              <a:t>, </a:t>
            </a:r>
            <a:r>
              <a:rPr lang="en-US" altLang="zh-CN" i="1" dirty="0"/>
              <a:t>D</a:t>
            </a:r>
            <a:r>
              <a:rPr lang="en-US" altLang="zh-CN" dirty="0"/>
              <a:t>, </a:t>
            </a:r>
            <a:r>
              <a:rPr lang="en-US" altLang="zh-CN" i="1" dirty="0"/>
              <a:t>E</a:t>
            </a:r>
            <a:r>
              <a:rPr lang="en-US" altLang="zh-CN" dirty="0"/>
              <a:t>, </a:t>
            </a:r>
            <a:r>
              <a:rPr lang="en-US" altLang="zh-CN" i="1" dirty="0"/>
              <a:t>F</a:t>
            </a:r>
            <a:r>
              <a:rPr lang="en-US" altLang="zh-CN" dirty="0"/>
              <a:t>, </a:t>
            </a:r>
            <a:r>
              <a:rPr lang="en-US" altLang="zh-CN" i="1" dirty="0"/>
              <a:t>G</a:t>
            </a:r>
            <a:r>
              <a:rPr lang="en-US" altLang="zh-CN" dirty="0"/>
              <a:t>, and </a:t>
            </a:r>
            <a:r>
              <a:rPr lang="en-US" altLang="zh-CN" i="1" dirty="0"/>
              <a:t>H</a:t>
            </a:r>
            <a:r>
              <a:rPr lang="en-US" altLang="zh-CN" dirty="0"/>
              <a:t>.</a:t>
            </a:r>
            <a:endParaRPr lang="en-US" altLang="zh-CN" dirty="0"/>
          </a:p>
          <a:p>
            <a:pPr>
              <a:buNone/>
            </a:pPr>
            <a:endParaRPr lang="en-US" altLang="zh-CN" dirty="0"/>
          </a:p>
          <a:p>
            <a:pPr>
              <a:buNone/>
            </a:pPr>
            <a:r>
              <a:rPr lang="en-US" altLang="zh-CN" dirty="0"/>
              <a:t>             </a:t>
            </a:r>
            <a:r>
              <a:rPr lang="en-US" altLang="zh-CN" dirty="0">
                <a:latin typeface="Cambria Math" panose="02040503050406030204" pitchFamily="18" charset="0"/>
              </a:rPr>
              <a:t>6!</a:t>
            </a:r>
            <a:r>
              <a:rPr lang="en-US" altLang="zh-CN" dirty="0"/>
              <a:t> = </a:t>
            </a:r>
            <a:r>
              <a:rPr lang="en-US" altLang="zh-CN" dirty="0">
                <a:latin typeface="Cambria Math" panose="02040503050406030204" pitchFamily="18" charset="0"/>
              </a:rPr>
              <a:t>6</a:t>
            </a:r>
            <a:r>
              <a:rPr lang="en-US" altLang="zh-CN" dirty="0"/>
              <a:t> </a:t>
            </a:r>
            <a:r>
              <a:rPr lang="en-US" altLang="zh-CN" dirty="0">
                <a:latin typeface="Cambria Math" panose="02040503050406030204" pitchFamily="18" charset="0"/>
              </a:rPr>
              <a:t>∙</a:t>
            </a:r>
            <a:r>
              <a:rPr lang="en-US" altLang="zh-CN" dirty="0"/>
              <a:t> </a:t>
            </a:r>
            <a:r>
              <a:rPr lang="en-US" altLang="zh-CN" dirty="0">
                <a:latin typeface="Cambria Math" panose="02040503050406030204" pitchFamily="18" charset="0"/>
              </a:rPr>
              <a:t>5 ∙</a:t>
            </a:r>
            <a:r>
              <a:rPr lang="en-US" altLang="zh-CN" dirty="0"/>
              <a:t> </a:t>
            </a:r>
            <a:r>
              <a:rPr lang="en-US" altLang="zh-CN" dirty="0">
                <a:latin typeface="Cambria Math" panose="02040503050406030204" pitchFamily="18" charset="0"/>
              </a:rPr>
              <a:t>4 ∙</a:t>
            </a:r>
            <a:r>
              <a:rPr lang="en-US" altLang="zh-CN" dirty="0"/>
              <a:t> </a:t>
            </a:r>
            <a:r>
              <a:rPr lang="en-US" altLang="zh-CN" dirty="0">
                <a:latin typeface="Cambria Math" panose="02040503050406030204" pitchFamily="18" charset="0"/>
              </a:rPr>
              <a:t>3 ∙</a:t>
            </a:r>
            <a:r>
              <a:rPr lang="en-US" altLang="zh-CN" dirty="0"/>
              <a:t> </a:t>
            </a:r>
            <a:r>
              <a:rPr lang="en-US" altLang="zh-CN" dirty="0">
                <a:latin typeface="Cambria Math" panose="02040503050406030204" pitchFamily="18" charset="0"/>
              </a:rPr>
              <a:t>2 ∙</a:t>
            </a:r>
            <a:r>
              <a:rPr lang="en-US" altLang="zh-CN" dirty="0"/>
              <a:t> </a:t>
            </a:r>
            <a:r>
              <a:rPr lang="en-US" altLang="zh-CN" dirty="0">
                <a:latin typeface="Cambria Math" panose="02040503050406030204" pitchFamily="18" charset="0"/>
              </a:rPr>
              <a:t>1 </a:t>
            </a:r>
            <a:r>
              <a:rPr lang="en-US" altLang="zh-CN" dirty="0"/>
              <a:t>= </a:t>
            </a:r>
            <a:r>
              <a:rPr lang="en-US" altLang="zh-CN" dirty="0">
                <a:latin typeface="Cambria Math" panose="02040503050406030204" pitchFamily="18" charset="0"/>
              </a:rPr>
              <a:t>720</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charRg st="84" end="18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charRg st="190" end="23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灯片编号占位符 4"/>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51203" name="日期占位符 5"/>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51204" name="页脚占位符 6"/>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51205" name="Rectangle 2"/>
          <p:cNvSpPr>
            <a:spLocks noGrp="1"/>
          </p:cNvSpPr>
          <p:nvPr>
            <p:ph type="title"/>
          </p:nvPr>
        </p:nvSpPr>
        <p:spPr>
          <a:xfrm>
            <a:off x="1043623" y="44133"/>
            <a:ext cx="7793037" cy="1143000"/>
          </a:xfrm>
        </p:spPr>
        <p:txBody>
          <a:bodyPr vert="horz" wrap="square" lIns="91440" tIns="45720" rIns="91440" bIns="45720" anchor="b" anchorCtr="0"/>
          <a:p>
            <a:pPr eaLnBrk="1" hangingPunct="1"/>
            <a:r>
              <a:rPr lang="en-US" altLang="zh-CN" dirty="0"/>
              <a:t>Combinations (§6.3)</a:t>
            </a:r>
            <a:endParaRPr lang="en-US" altLang="zh-CN" dirty="0"/>
          </a:p>
        </p:txBody>
      </p:sp>
      <p:sp>
        <p:nvSpPr>
          <p:cNvPr id="51206" name="Rectangle 3"/>
          <p:cNvSpPr>
            <a:spLocks noGrp="1"/>
          </p:cNvSpPr>
          <p:nvPr>
            <p:ph type="body" sz="half" idx="1"/>
          </p:nvPr>
        </p:nvSpPr>
        <p:spPr>
          <a:xfrm>
            <a:off x="971868" y="1484313"/>
            <a:ext cx="7772400" cy="4114800"/>
          </a:xfrm>
        </p:spPr>
        <p:txBody>
          <a:bodyPr vert="horz" wrap="square" lIns="91440" tIns="45720" rIns="91440" bIns="45720" anchor="t" anchorCtr="0"/>
          <a:p>
            <a:pPr eaLnBrk="1" hangingPunct="1">
              <a:lnSpc>
                <a:spcPct val="90000"/>
              </a:lnSpc>
              <a:buClr>
                <a:schemeClr val="folHlink"/>
              </a:buClr>
              <a:buSzPct val="60000"/>
              <a:buFont typeface="Wingdings" panose="05000000000000000000" pitchFamily="2" charset="2"/>
            </a:pPr>
            <a:r>
              <a:rPr lang="en-US" altLang="zh-CN" sz="2800" dirty="0"/>
              <a:t>An </a:t>
            </a:r>
            <a:r>
              <a:rPr lang="en-US" altLang="zh-CN" sz="2800" i="1" dirty="0"/>
              <a:t>r</a:t>
            </a:r>
            <a:r>
              <a:rPr lang="en-US" altLang="zh-CN" sz="2800" dirty="0"/>
              <a:t>-combination of elements of a set </a:t>
            </a:r>
            <a:r>
              <a:rPr lang="en-US" altLang="zh-CN" sz="2800" i="1" dirty="0"/>
              <a:t>S</a:t>
            </a:r>
            <a:r>
              <a:rPr lang="en-US" altLang="zh-CN" sz="2800" dirty="0"/>
              <a:t> is simply a subset </a:t>
            </a:r>
            <a:r>
              <a:rPr lang="en-US" altLang="zh-CN" sz="2800" i="1" dirty="0">
                <a:solidFill>
                  <a:srgbClr val="FF0000"/>
                </a:solidFill>
              </a:rPr>
              <a:t>T</a:t>
            </a:r>
            <a:r>
              <a:rPr lang="en-US" altLang="zh-CN" sz="2800" dirty="0">
                <a:solidFill>
                  <a:srgbClr val="FF0000"/>
                </a:solidFill>
                <a:sym typeface="Symbol" panose="05050102010706020507" pitchFamily="18" charset="2"/>
              </a:rPr>
              <a:t></a:t>
            </a:r>
            <a:r>
              <a:rPr lang="en-US" altLang="zh-CN" sz="2800" i="1" dirty="0">
                <a:solidFill>
                  <a:srgbClr val="FF0000"/>
                </a:solidFill>
                <a:sym typeface="Symbol" panose="05050102010706020507" pitchFamily="18" charset="2"/>
              </a:rPr>
              <a:t>S</a:t>
            </a:r>
            <a:r>
              <a:rPr lang="en-US" altLang="zh-CN" sz="2800" dirty="0">
                <a:sym typeface="Symbol" panose="05050102010706020507" pitchFamily="18" charset="2"/>
              </a:rPr>
              <a:t> with </a:t>
            </a:r>
            <a:r>
              <a:rPr lang="en-US" altLang="zh-CN" sz="2800" i="1" dirty="0">
                <a:sym typeface="Symbol" panose="05050102010706020507" pitchFamily="18" charset="2"/>
              </a:rPr>
              <a:t>r</a:t>
            </a:r>
            <a:r>
              <a:rPr lang="en-US" altLang="zh-CN" sz="2800" dirty="0">
                <a:sym typeface="Symbol" panose="05050102010706020507" pitchFamily="18" charset="2"/>
              </a:rPr>
              <a:t> members, </a:t>
            </a:r>
            <a:r>
              <a:rPr lang="en-US" altLang="zh-CN" sz="2800" dirty="0">
                <a:solidFill>
                  <a:srgbClr val="FF0000"/>
                </a:solidFill>
                <a:sym typeface="Symbol" panose="05050102010706020507" pitchFamily="18" charset="2"/>
              </a:rPr>
              <a:t>|</a:t>
            </a:r>
            <a:r>
              <a:rPr lang="en-US" altLang="zh-CN" sz="2800" i="1" dirty="0">
                <a:solidFill>
                  <a:srgbClr val="FF0000"/>
                </a:solidFill>
                <a:sym typeface="Symbol" panose="05050102010706020507" pitchFamily="18" charset="2"/>
              </a:rPr>
              <a:t>T</a:t>
            </a:r>
            <a:r>
              <a:rPr lang="en-US" altLang="zh-CN" sz="2800" dirty="0">
                <a:solidFill>
                  <a:srgbClr val="FF0000"/>
                </a:solidFill>
                <a:sym typeface="Symbol" panose="05050102010706020507" pitchFamily="18" charset="2"/>
              </a:rPr>
              <a:t>|=</a:t>
            </a:r>
            <a:r>
              <a:rPr lang="en-US" altLang="zh-CN" sz="2800" i="1" dirty="0">
                <a:solidFill>
                  <a:srgbClr val="FF0000"/>
                </a:solidFill>
                <a:sym typeface="Symbol" panose="05050102010706020507" pitchFamily="18" charset="2"/>
              </a:rPr>
              <a:t>r</a:t>
            </a:r>
            <a:r>
              <a:rPr lang="en-US" altLang="zh-CN" sz="2800" dirty="0">
                <a:sym typeface="Symbol" panose="05050102010706020507" pitchFamily="18" charset="2"/>
              </a:rPr>
              <a:t>.</a:t>
            </a:r>
            <a:endParaRPr lang="en-US" altLang="zh-CN" sz="2800" dirty="0">
              <a:sym typeface="Symbol" panose="05050102010706020507" pitchFamily="18" charset="2"/>
            </a:endParaRPr>
          </a:p>
          <a:p>
            <a:pPr eaLnBrk="1" hangingPunct="1">
              <a:lnSpc>
                <a:spcPct val="90000"/>
              </a:lnSpc>
              <a:buClr>
                <a:schemeClr val="folHlink"/>
              </a:buClr>
              <a:buSzPct val="60000"/>
              <a:buFont typeface="Wingdings" panose="05000000000000000000" pitchFamily="2" charset="2"/>
            </a:pPr>
            <a:r>
              <a:rPr lang="en-US" altLang="zh-CN" sz="2800" dirty="0">
                <a:sym typeface="Symbol" panose="05050102010706020507" pitchFamily="18" charset="2"/>
              </a:rPr>
              <a:t>The number of </a:t>
            </a:r>
            <a:r>
              <a:rPr lang="en-US" altLang="zh-CN" sz="2800" i="1" dirty="0">
                <a:sym typeface="Symbol" panose="05050102010706020507" pitchFamily="18" charset="2"/>
              </a:rPr>
              <a:t>r-</a:t>
            </a:r>
            <a:r>
              <a:rPr lang="en-US" altLang="zh-CN" sz="2800" dirty="0">
                <a:sym typeface="Symbol" panose="05050102010706020507" pitchFamily="18" charset="2"/>
              </a:rPr>
              <a:t>combinations of a set with </a:t>
            </a:r>
            <a:r>
              <a:rPr lang="en-US" altLang="zh-CN" sz="2800" i="1" dirty="0">
                <a:solidFill>
                  <a:srgbClr val="FF0000"/>
                </a:solidFill>
                <a:sym typeface="Symbol" panose="05050102010706020507" pitchFamily="18" charset="2"/>
              </a:rPr>
              <a:t>n</a:t>
            </a:r>
            <a:r>
              <a:rPr lang="en-US" altLang="zh-CN" sz="2800" dirty="0">
                <a:solidFill>
                  <a:srgbClr val="FF0000"/>
                </a:solidFill>
                <a:sym typeface="Symbol" panose="05050102010706020507" pitchFamily="18" charset="2"/>
              </a:rPr>
              <a:t>=|</a:t>
            </a:r>
            <a:r>
              <a:rPr lang="en-US" altLang="zh-CN" sz="2800" i="1" dirty="0">
                <a:solidFill>
                  <a:srgbClr val="FF0000"/>
                </a:solidFill>
                <a:sym typeface="Symbol" panose="05050102010706020507" pitchFamily="18" charset="2"/>
              </a:rPr>
              <a:t>S</a:t>
            </a:r>
            <a:r>
              <a:rPr lang="en-US" altLang="zh-CN" sz="2800" dirty="0">
                <a:solidFill>
                  <a:srgbClr val="FF0000"/>
                </a:solidFill>
                <a:sym typeface="Symbol" panose="05050102010706020507" pitchFamily="18" charset="2"/>
              </a:rPr>
              <a:t>|</a:t>
            </a:r>
            <a:r>
              <a:rPr lang="en-US" altLang="zh-CN" sz="2800" dirty="0">
                <a:sym typeface="Symbol" panose="05050102010706020507" pitchFamily="18" charset="2"/>
              </a:rPr>
              <a:t> elements is </a:t>
            </a:r>
            <a:endParaRPr lang="en-US" altLang="zh-CN" sz="2800" dirty="0">
              <a:sym typeface="Symbol" panose="05050102010706020507" pitchFamily="18" charset="2"/>
            </a:endParaRPr>
          </a:p>
          <a:p>
            <a:pPr eaLnBrk="1" hangingPunct="1">
              <a:lnSpc>
                <a:spcPct val="90000"/>
              </a:lnSpc>
              <a:buClr>
                <a:schemeClr val="folHlink"/>
              </a:buClr>
              <a:buSzPct val="60000"/>
              <a:buFont typeface="Wingdings" panose="05000000000000000000" pitchFamily="2" charset="2"/>
            </a:pPr>
            <a:endParaRPr lang="en-US" altLang="zh-CN" sz="2800" dirty="0">
              <a:sym typeface="Symbol" panose="05050102010706020507" pitchFamily="18" charset="2"/>
            </a:endParaRPr>
          </a:p>
          <a:p>
            <a:pPr eaLnBrk="1" hangingPunct="1">
              <a:lnSpc>
                <a:spcPct val="90000"/>
              </a:lnSpc>
              <a:buClr>
                <a:schemeClr val="folHlink"/>
              </a:buClr>
              <a:buSzPct val="60000"/>
              <a:buFont typeface="Wingdings" panose="05000000000000000000" pitchFamily="2" charset="2"/>
            </a:pPr>
            <a:endParaRPr lang="en-US" altLang="zh-CN" sz="2800" dirty="0">
              <a:sym typeface="Symbol" panose="05050102010706020507" pitchFamily="18" charset="2"/>
            </a:endParaRPr>
          </a:p>
          <a:p>
            <a:pPr eaLnBrk="1" hangingPunct="1">
              <a:lnSpc>
                <a:spcPct val="90000"/>
              </a:lnSpc>
              <a:buClr>
                <a:schemeClr val="folHlink"/>
              </a:buClr>
              <a:buSzPct val="60000"/>
              <a:buFont typeface="Wingdings" panose="05000000000000000000" pitchFamily="2" charset="2"/>
            </a:pPr>
            <a:r>
              <a:rPr lang="en-US" altLang="zh-CN" sz="2800" dirty="0">
                <a:sym typeface="Symbol" panose="05050102010706020507" pitchFamily="18" charset="2"/>
              </a:rPr>
              <a:t>Note that </a:t>
            </a:r>
            <a:r>
              <a:rPr lang="en-US" altLang="zh-CN" sz="2800" i="1" dirty="0">
                <a:solidFill>
                  <a:srgbClr val="FF0000"/>
                </a:solidFill>
                <a:sym typeface="Symbol" panose="05050102010706020507" pitchFamily="18" charset="2"/>
              </a:rPr>
              <a:t>C</a:t>
            </a:r>
            <a:r>
              <a:rPr lang="en-US" altLang="zh-CN" sz="2800" dirty="0">
                <a:solidFill>
                  <a:srgbClr val="FF0000"/>
                </a:solidFill>
                <a:sym typeface="Symbol" panose="05050102010706020507" pitchFamily="18" charset="2"/>
              </a:rPr>
              <a:t>(</a:t>
            </a:r>
            <a:r>
              <a:rPr lang="en-US" altLang="zh-CN" sz="2800" i="1" dirty="0">
                <a:solidFill>
                  <a:srgbClr val="FF0000"/>
                </a:solidFill>
                <a:sym typeface="Symbol" panose="05050102010706020507" pitchFamily="18" charset="2"/>
              </a:rPr>
              <a:t>n</a:t>
            </a:r>
            <a:r>
              <a:rPr lang="en-US" altLang="zh-CN" sz="2800" dirty="0">
                <a:solidFill>
                  <a:srgbClr val="FF0000"/>
                </a:solidFill>
                <a:sym typeface="Symbol" panose="05050102010706020507" pitchFamily="18" charset="2"/>
              </a:rPr>
              <a:t>,</a:t>
            </a:r>
            <a:r>
              <a:rPr lang="en-US" altLang="zh-CN" sz="2800" i="1" dirty="0">
                <a:solidFill>
                  <a:srgbClr val="FF0000"/>
                </a:solidFill>
                <a:sym typeface="Symbol" panose="05050102010706020507" pitchFamily="18" charset="2"/>
              </a:rPr>
              <a:t>r</a:t>
            </a:r>
            <a:r>
              <a:rPr lang="en-US" altLang="zh-CN" sz="2800" dirty="0">
                <a:solidFill>
                  <a:srgbClr val="FF0000"/>
                </a:solidFill>
                <a:sym typeface="Symbol" panose="05050102010706020507" pitchFamily="18" charset="2"/>
              </a:rPr>
              <a:t>) = </a:t>
            </a:r>
            <a:r>
              <a:rPr lang="en-US" altLang="zh-CN" sz="2800" i="1" dirty="0">
                <a:solidFill>
                  <a:srgbClr val="FF0000"/>
                </a:solidFill>
                <a:sym typeface="Symbol" panose="05050102010706020507" pitchFamily="18" charset="2"/>
              </a:rPr>
              <a:t>C</a:t>
            </a:r>
            <a:r>
              <a:rPr lang="en-US" altLang="zh-CN" sz="2800" dirty="0">
                <a:solidFill>
                  <a:srgbClr val="FF0000"/>
                </a:solidFill>
                <a:sym typeface="Symbol" panose="05050102010706020507" pitchFamily="18" charset="2"/>
              </a:rPr>
              <a:t>(</a:t>
            </a:r>
            <a:r>
              <a:rPr lang="en-US" altLang="zh-CN" sz="2800" i="1" dirty="0">
                <a:solidFill>
                  <a:srgbClr val="FF0000"/>
                </a:solidFill>
                <a:sym typeface="Symbol" panose="05050102010706020507" pitchFamily="18" charset="2"/>
              </a:rPr>
              <a:t>n</a:t>
            </a:r>
            <a:r>
              <a:rPr lang="en-US" altLang="zh-CN" sz="2800" dirty="0">
                <a:solidFill>
                  <a:srgbClr val="FF0000"/>
                </a:solidFill>
                <a:sym typeface="Symbol" panose="05050102010706020507" pitchFamily="18" charset="2"/>
              </a:rPr>
              <a:t>, </a:t>
            </a:r>
            <a:r>
              <a:rPr lang="en-US" altLang="zh-CN" sz="2800" i="1" dirty="0">
                <a:solidFill>
                  <a:srgbClr val="FF0000"/>
                </a:solidFill>
                <a:sym typeface="Symbol" panose="05050102010706020507" pitchFamily="18" charset="2"/>
              </a:rPr>
              <a:t>n</a:t>
            </a:r>
            <a:r>
              <a:rPr lang="en-US" altLang="zh-CN" sz="2800" dirty="0">
                <a:solidFill>
                  <a:srgbClr val="FF0000"/>
                </a:solidFill>
                <a:sym typeface="Symbol" panose="05050102010706020507" pitchFamily="18" charset="2"/>
              </a:rPr>
              <a:t>−</a:t>
            </a:r>
            <a:r>
              <a:rPr lang="en-US" altLang="zh-CN" sz="2800" i="1" dirty="0">
                <a:solidFill>
                  <a:srgbClr val="FF0000"/>
                </a:solidFill>
                <a:sym typeface="Symbol" panose="05050102010706020507" pitchFamily="18" charset="2"/>
              </a:rPr>
              <a:t>r</a:t>
            </a:r>
            <a:r>
              <a:rPr lang="en-US" altLang="zh-CN" sz="2800" dirty="0">
                <a:solidFill>
                  <a:srgbClr val="FF0000"/>
                </a:solidFill>
                <a:sym typeface="Symbol" panose="05050102010706020507" pitchFamily="18" charset="2"/>
              </a:rPr>
              <a:t>)</a:t>
            </a:r>
            <a:endParaRPr lang="en-US" altLang="zh-CN" sz="2800" dirty="0">
              <a:solidFill>
                <a:srgbClr val="FF0000"/>
              </a:solidFill>
              <a:sym typeface="Symbol" panose="05050102010706020507" pitchFamily="18" charset="2"/>
            </a:endParaRPr>
          </a:p>
          <a:p>
            <a:pPr lvl="1" eaLnBrk="1" hangingPunct="1">
              <a:lnSpc>
                <a:spcPct val="90000"/>
              </a:lnSpc>
              <a:buClr>
                <a:schemeClr val="hlink"/>
              </a:buClr>
              <a:buSzPct val="55000"/>
              <a:buFont typeface="Wingdings" panose="05000000000000000000" pitchFamily="2" charset="2"/>
            </a:pPr>
            <a:r>
              <a:rPr lang="en-US" altLang="zh-CN" sz="2400" dirty="0">
                <a:sym typeface="Symbol" panose="05050102010706020507" pitchFamily="18" charset="2"/>
              </a:rPr>
              <a:t>Because choosing the </a:t>
            </a:r>
            <a:r>
              <a:rPr lang="en-US" altLang="zh-CN" sz="2400" i="1" dirty="0">
                <a:sym typeface="Symbol" panose="05050102010706020507" pitchFamily="18" charset="2"/>
              </a:rPr>
              <a:t>r</a:t>
            </a:r>
            <a:r>
              <a:rPr lang="en-US" altLang="zh-CN" sz="2400" dirty="0">
                <a:sym typeface="Symbol" panose="05050102010706020507" pitchFamily="18" charset="2"/>
              </a:rPr>
              <a:t> members of </a:t>
            </a:r>
            <a:r>
              <a:rPr lang="en-US" altLang="zh-CN" sz="2400" i="1" dirty="0">
                <a:sym typeface="Symbol" panose="05050102010706020507" pitchFamily="18" charset="2"/>
              </a:rPr>
              <a:t>T</a:t>
            </a:r>
            <a:r>
              <a:rPr lang="en-US" altLang="zh-CN" sz="2400" dirty="0">
                <a:sym typeface="Symbol" panose="05050102010706020507" pitchFamily="18" charset="2"/>
              </a:rPr>
              <a:t> is the same thing as choosing the </a:t>
            </a:r>
            <a:r>
              <a:rPr lang="en-US" altLang="zh-CN" sz="2400" i="1" dirty="0">
                <a:sym typeface="Symbol" panose="05050102010706020507" pitchFamily="18" charset="2"/>
              </a:rPr>
              <a:t>n</a:t>
            </a:r>
            <a:r>
              <a:rPr lang="en-US" altLang="zh-CN" sz="2400" dirty="0">
                <a:sym typeface="Symbol" panose="05050102010706020507" pitchFamily="18" charset="2"/>
              </a:rPr>
              <a:t>−</a:t>
            </a:r>
            <a:r>
              <a:rPr lang="en-US" altLang="zh-CN" sz="2400" i="1" dirty="0">
                <a:sym typeface="Symbol" panose="05050102010706020507" pitchFamily="18" charset="2"/>
              </a:rPr>
              <a:t>r</a:t>
            </a:r>
            <a:r>
              <a:rPr lang="en-US" altLang="zh-CN" sz="2400" dirty="0">
                <a:sym typeface="Symbol" panose="05050102010706020507" pitchFamily="18" charset="2"/>
              </a:rPr>
              <a:t> non-members of </a:t>
            </a:r>
            <a:r>
              <a:rPr lang="en-US" altLang="zh-CN" sz="2400" i="1" dirty="0">
                <a:sym typeface="Symbol" panose="05050102010706020507" pitchFamily="18" charset="2"/>
              </a:rPr>
              <a:t>T</a:t>
            </a:r>
            <a:r>
              <a:rPr lang="en-US" altLang="zh-CN" sz="2400" dirty="0">
                <a:sym typeface="Symbol" panose="05050102010706020507" pitchFamily="18" charset="2"/>
              </a:rPr>
              <a:t>.</a:t>
            </a:r>
            <a:endParaRPr lang="en-US" altLang="zh-CN" sz="2400" dirty="0">
              <a:sym typeface="Symbol" panose="05050102010706020507" pitchFamily="18" charset="2"/>
            </a:endParaRPr>
          </a:p>
        </p:txBody>
      </p:sp>
      <p:graphicFrame>
        <p:nvGraphicFramePr>
          <p:cNvPr id="51207" name="Object 4"/>
          <p:cNvGraphicFramePr>
            <a:graphicFrameLocks noGrp="1" noChangeAspect="1"/>
          </p:cNvGraphicFramePr>
          <p:nvPr>
            <p:ph sz="half" idx="2"/>
          </p:nvPr>
        </p:nvGraphicFramePr>
        <p:xfrm>
          <a:off x="1639888" y="3014980"/>
          <a:ext cx="7010400" cy="1100138"/>
        </p:xfrm>
        <a:graphic>
          <a:graphicData uri="http://schemas.openxmlformats.org/presentationml/2006/ole">
            <mc:AlternateContent xmlns:mc="http://schemas.openxmlformats.org/markup-compatibility/2006">
              <mc:Choice xmlns:v="urn:schemas-microsoft-com:vml" Requires="v">
                <p:oleObj spid="_x0000_s3078" name="" r:id="rId1" imgW="2908300" imgH="457200" progId="Equation.3">
                  <p:embed/>
                </p:oleObj>
              </mc:Choice>
              <mc:Fallback>
                <p:oleObj name="" r:id="rId1" imgW="2908300" imgH="457200" progId="Equation.3">
                  <p:embed/>
                  <p:pic>
                    <p:nvPicPr>
                      <p:cNvPr id="0" name="图片 3077"/>
                      <p:cNvPicPr/>
                      <p:nvPr/>
                    </p:nvPicPr>
                    <p:blipFill>
                      <a:blip r:embed="rId2"/>
                      <a:srcRect/>
                      <a:stretch>
                        <a:fillRect/>
                      </a:stretch>
                    </p:blipFill>
                    <p:spPr>
                      <a:xfrm>
                        <a:off x="1639888" y="3014980"/>
                        <a:ext cx="7010400" cy="1100138"/>
                      </a:xfrm>
                      <a:prstGeom prst="rect">
                        <a:avLst/>
                      </a:prstGeom>
                      <a:noFill/>
                      <a:ln w="38100">
                        <a:miter/>
                      </a:ln>
                    </p:spPr>
                  </p:pic>
                </p:oleObj>
              </mc:Fallback>
            </mc:AlternateContent>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52227"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52228"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52229" name="Rectangle 2"/>
          <p:cNvSpPr>
            <a:spLocks noGrp="1"/>
          </p:cNvSpPr>
          <p:nvPr>
            <p:ph type="title"/>
          </p:nvPr>
        </p:nvSpPr>
        <p:spPr/>
        <p:txBody>
          <a:bodyPr vert="horz" wrap="square" lIns="91440" tIns="45720" rIns="91440" bIns="45720" anchor="b" anchorCtr="0"/>
          <a:p>
            <a:pPr eaLnBrk="1" hangingPunct="1"/>
            <a:r>
              <a:rPr lang="en-US" altLang="zh-CN" dirty="0"/>
              <a:t>Combination Example</a:t>
            </a:r>
            <a:endParaRPr lang="en-US" altLang="zh-CN" dirty="0"/>
          </a:p>
        </p:txBody>
      </p:sp>
      <p:sp>
        <p:nvSpPr>
          <p:cNvPr id="52230" name="Rectangle 3"/>
          <p:cNvSpPr>
            <a:spLocks noGrp="1"/>
          </p:cNvSpPr>
          <p:nvPr>
            <p:ph idx="1"/>
          </p:nvPr>
        </p:nvSpPr>
        <p:spPr/>
        <p:txBody>
          <a:bodyPr vert="horz" wrap="square" lIns="91440" tIns="45720" rIns="91440" bIns="45720" anchor="t" anchorCtr="0"/>
          <a:p>
            <a:pPr eaLnBrk="1" hangingPunct="1"/>
            <a:r>
              <a:rPr lang="en-US" altLang="zh-CN" dirty="0"/>
              <a:t>How many distinct 7-card hands can be drawn from a standard 52-card deck?</a:t>
            </a:r>
            <a:endParaRPr lang="en-US" altLang="zh-CN" dirty="0"/>
          </a:p>
          <a:p>
            <a:pPr lvl="1" eaLnBrk="1" hangingPunct="1"/>
            <a:r>
              <a:rPr lang="en-US" altLang="zh-CN" dirty="0"/>
              <a:t>The order of cards in a hand doesn</a:t>
            </a:r>
            <a:r>
              <a:rPr lang="en-US" altLang="zh-CN" dirty="0">
                <a:latin typeface="Times New Roman" panose="02020503050405090304" pitchFamily="18" charset="0"/>
              </a:rPr>
              <a:t>’</a:t>
            </a:r>
            <a:r>
              <a:rPr lang="en-US" altLang="zh-CN" dirty="0"/>
              <a:t>t matter.</a:t>
            </a:r>
            <a:endParaRPr lang="en-US" altLang="zh-CN" dirty="0"/>
          </a:p>
          <a:p>
            <a:pPr eaLnBrk="1" hangingPunct="1"/>
            <a:r>
              <a:rPr lang="en-US" altLang="zh-CN" dirty="0"/>
              <a:t>Answer </a:t>
            </a:r>
            <a:r>
              <a:rPr lang="en-US" altLang="zh-CN" i="1" dirty="0"/>
              <a:t>C</a:t>
            </a:r>
            <a:r>
              <a:rPr lang="en-US" altLang="zh-CN" dirty="0"/>
              <a:t>(52,7) = </a:t>
            </a:r>
            <a:r>
              <a:rPr lang="en-US" altLang="zh-CN" i="1" dirty="0"/>
              <a:t>P</a:t>
            </a:r>
            <a:r>
              <a:rPr lang="en-US" altLang="zh-CN" dirty="0"/>
              <a:t>(52,7)/</a:t>
            </a:r>
            <a:r>
              <a:rPr lang="en-US" altLang="zh-CN" i="1" dirty="0"/>
              <a:t>P</a:t>
            </a:r>
            <a:r>
              <a:rPr lang="en-US" altLang="zh-CN" dirty="0"/>
              <a:t>(7,7)</a:t>
            </a:r>
            <a:br>
              <a:rPr lang="en-US" altLang="zh-CN" dirty="0"/>
            </a:br>
            <a:r>
              <a:rPr lang="en-US" altLang="zh-CN" dirty="0"/>
              <a:t>= 52·51·50·49·48·47·46 / 7·6·5·4·3·2·1</a:t>
            </a:r>
            <a:endParaRPr lang="en-US" altLang="zh-CN" dirty="0"/>
          </a:p>
        </p:txBody>
      </p:sp>
      <p:sp>
        <p:nvSpPr>
          <p:cNvPr id="761883" name="Text Box 27"/>
          <p:cNvSpPr txBox="1"/>
          <p:nvPr/>
        </p:nvSpPr>
        <p:spPr>
          <a:xfrm>
            <a:off x="1764030" y="4580890"/>
            <a:ext cx="5391150"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mn-ea"/>
              </a:defRPr>
            </a:lvl5pPr>
          </a:lstStyle>
          <a:p>
            <a:pPr marL="0" lvl="0" indent="0" algn="ctr">
              <a:spcBef>
                <a:spcPct val="0"/>
              </a:spcBef>
              <a:buClrTx/>
              <a:buSzTx/>
              <a:buFontTx/>
              <a:buNone/>
            </a:pPr>
            <a:r>
              <a:rPr lang="en-US" altLang="zh-CN" dirty="0">
                <a:solidFill>
                  <a:srgbClr val="FF0000"/>
                </a:solidFill>
              </a:rPr>
              <a:t>52·17·10·7·47·46 = 133,784,560</a:t>
            </a:r>
            <a:endParaRPr lang="en-US" altLang="zh-CN"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618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188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53251"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53252"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53253" name="Rectangle 2"/>
          <p:cNvSpPr>
            <a:spLocks noGrp="1"/>
          </p:cNvSpPr>
          <p:nvPr>
            <p:ph type="title"/>
          </p:nvPr>
        </p:nvSpPr>
        <p:spPr/>
        <p:txBody>
          <a:bodyPr vert="horz" wrap="square" lIns="91440" tIns="45720" rIns="91440" bIns="45720" anchor="b" anchorCtr="0"/>
          <a:p>
            <a:pPr eaLnBrk="1" hangingPunct="1"/>
            <a:r>
              <a:rPr lang="en-US" altLang="zh-CN" dirty="0"/>
              <a:t>Homework</a:t>
            </a:r>
            <a:endParaRPr lang="en-US" altLang="zh-CN" dirty="0"/>
          </a:p>
        </p:txBody>
      </p:sp>
      <p:sp>
        <p:nvSpPr>
          <p:cNvPr id="53254" name="Rectangle 3"/>
          <p:cNvSpPr>
            <a:spLocks noGrp="1"/>
          </p:cNvSpPr>
          <p:nvPr>
            <p:ph idx="1"/>
          </p:nvPr>
        </p:nvSpPr>
        <p:spPr/>
        <p:txBody>
          <a:bodyPr vert="horz" wrap="square" lIns="91440" tIns="45720" rIns="91440" bIns="45720" anchor="t" anchorCtr="0"/>
          <a:p>
            <a:pPr eaLnBrk="1" hangingPunct="1"/>
            <a:r>
              <a:rPr lang="en-US" altLang="zh-CN" dirty="0"/>
              <a:t>§6.3</a:t>
            </a:r>
            <a:endParaRPr lang="en-US" altLang="zh-CN" dirty="0"/>
          </a:p>
          <a:p>
            <a:pPr lvl="1" eaLnBrk="1" hangingPunct="1"/>
            <a:r>
              <a:rPr lang="en-US" altLang="zh-CN" dirty="0"/>
              <a:t> 30, 46</a:t>
            </a:r>
            <a:endParaRPr lang="zh-CN" altLang="en-US" dirty="0"/>
          </a:p>
        </p:txBody>
      </p:sp>
      <p:pic>
        <p:nvPicPr>
          <p:cNvPr id="53255" name="图片 2"/>
          <p:cNvPicPr>
            <a:picLocks noChangeAspect="1"/>
          </p:cNvPicPr>
          <p:nvPr/>
        </p:nvPicPr>
        <p:blipFill>
          <a:blip r:embed="rId1"/>
          <a:stretch>
            <a:fillRect/>
          </a:stretch>
        </p:blipFill>
        <p:spPr>
          <a:xfrm>
            <a:off x="652463" y="3181350"/>
            <a:ext cx="7705725" cy="874713"/>
          </a:xfrm>
          <a:prstGeom prst="rect">
            <a:avLst/>
          </a:prstGeom>
          <a:noFill/>
          <a:ln w="9525">
            <a:noFill/>
          </a:ln>
        </p:spPr>
      </p:pic>
      <p:pic>
        <p:nvPicPr>
          <p:cNvPr id="53256" name="图片 4"/>
          <p:cNvPicPr>
            <a:picLocks noChangeAspect="1"/>
          </p:cNvPicPr>
          <p:nvPr/>
        </p:nvPicPr>
        <p:blipFill>
          <a:blip r:embed="rId2"/>
          <a:stretch>
            <a:fillRect/>
          </a:stretch>
        </p:blipFill>
        <p:spPr>
          <a:xfrm>
            <a:off x="252413" y="4537075"/>
            <a:ext cx="8770937" cy="661988"/>
          </a:xfrm>
          <a:prstGeom prst="rect">
            <a:avLst/>
          </a:prstGeom>
          <a:noFill/>
          <a:ln w="9525">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54275"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54276"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54277" name="Rectangle 2"/>
          <p:cNvSpPr>
            <a:spLocks noGrp="1"/>
          </p:cNvSpPr>
          <p:nvPr>
            <p:ph type="title"/>
          </p:nvPr>
        </p:nvSpPr>
        <p:spPr>
          <a:xfrm>
            <a:off x="1043623" y="188278"/>
            <a:ext cx="7900987" cy="1143000"/>
          </a:xfrm>
        </p:spPr>
        <p:txBody>
          <a:bodyPr vert="horz" wrap="square" lIns="91440" tIns="45720" rIns="91440" bIns="45720" anchor="b" anchorCtr="0"/>
          <a:p>
            <a:pPr eaLnBrk="1" hangingPunct="1"/>
            <a:r>
              <a:rPr lang="en-US" altLang="zh-CN" sz="4000" dirty="0"/>
              <a:t>Generalized Permutations and Combinations</a:t>
            </a:r>
            <a:endParaRPr lang="en-US" altLang="zh-CN" sz="4000" dirty="0"/>
          </a:p>
        </p:txBody>
      </p:sp>
      <p:sp>
        <p:nvSpPr>
          <p:cNvPr id="54278" name="Rectangle 3"/>
          <p:cNvSpPr>
            <a:spLocks noGrp="1"/>
          </p:cNvSpPr>
          <p:nvPr>
            <p:ph idx="1"/>
          </p:nvPr>
        </p:nvSpPr>
        <p:spPr>
          <a:xfrm>
            <a:off x="971868" y="1371283"/>
            <a:ext cx="7772400" cy="4114800"/>
          </a:xfrm>
        </p:spPr>
        <p:txBody>
          <a:bodyPr vert="horz" wrap="square" lIns="91440" tIns="45720" rIns="91440" bIns="45720" anchor="t" anchorCtr="0"/>
          <a:p>
            <a:pPr eaLnBrk="1" hangingPunct="1"/>
            <a:r>
              <a:rPr lang="en-US" altLang="zh-CN" dirty="0"/>
              <a:t>Permutation with repetition</a:t>
            </a:r>
            <a:endParaRPr lang="en-US" altLang="zh-CN" dirty="0"/>
          </a:p>
          <a:p>
            <a:pPr eaLnBrk="1" hangingPunct="1"/>
            <a:r>
              <a:rPr lang="en-US" altLang="zh-CN" dirty="0"/>
              <a:t>Theorem 1</a:t>
            </a:r>
            <a:endParaRPr lang="en-US" altLang="zh-CN" dirty="0"/>
          </a:p>
          <a:p>
            <a:pPr lvl="1" eaLnBrk="1" hangingPunct="1"/>
            <a:r>
              <a:rPr lang="en-US" altLang="zh-CN" dirty="0"/>
              <a:t>The number of </a:t>
            </a:r>
            <a:r>
              <a:rPr lang="en-US" altLang="zh-CN" i="1" dirty="0"/>
              <a:t>r</a:t>
            </a:r>
            <a:r>
              <a:rPr lang="en-US" altLang="zh-CN" dirty="0"/>
              <a:t>-permutations of a set of </a:t>
            </a:r>
            <a:r>
              <a:rPr lang="en-US" altLang="zh-CN" i="1" dirty="0"/>
              <a:t>n</a:t>
            </a:r>
            <a:r>
              <a:rPr lang="en-US" altLang="zh-CN" dirty="0"/>
              <a:t> objects with repetition allowed is </a:t>
            </a:r>
            <a:r>
              <a:rPr lang="en-US" altLang="zh-CN" i="1" dirty="0"/>
              <a:t>n</a:t>
            </a:r>
            <a:r>
              <a:rPr lang="en-US" altLang="zh-CN" i="1" baseline="30000" dirty="0"/>
              <a:t>r</a:t>
            </a:r>
            <a:r>
              <a:rPr lang="en-US" altLang="zh-CN" dirty="0"/>
              <a:t>.</a:t>
            </a:r>
            <a:endParaRPr lang="en-US" altLang="zh-CN" dirty="0"/>
          </a:p>
          <a:p>
            <a:pPr lvl="1" eaLnBrk="1" hangingPunct="1"/>
            <a:r>
              <a:rPr lang="en-US" altLang="zh-CN" dirty="0"/>
              <a:t>How many strings of length </a:t>
            </a:r>
            <a:r>
              <a:rPr lang="en-US" altLang="zh-CN" i="1" dirty="0"/>
              <a:t>r </a:t>
            </a:r>
            <a:r>
              <a:rPr lang="en-US" altLang="zh-CN" dirty="0"/>
              <a:t>can be formed from the uppercase letters of the English alphabet?</a:t>
            </a:r>
            <a:endParaRPr lang="en-US" altLang="zh-CN"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55299"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55300"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55301" name="Rectangle 2"/>
          <p:cNvSpPr>
            <a:spLocks noGrp="1"/>
          </p:cNvSpPr>
          <p:nvPr>
            <p:ph type="title"/>
          </p:nvPr>
        </p:nvSpPr>
        <p:spPr/>
        <p:txBody>
          <a:bodyPr vert="horz" wrap="square" lIns="91440" tIns="45720" rIns="91440" bIns="45720" anchor="b" anchorCtr="0"/>
          <a:p>
            <a:pPr eaLnBrk="1" hangingPunct="1"/>
            <a:r>
              <a:rPr lang="en-US" altLang="zh-CN" sz="4000" dirty="0"/>
              <a:t>Combinations with repetition</a:t>
            </a:r>
            <a:endParaRPr lang="en-US" altLang="zh-CN" sz="4000" dirty="0"/>
          </a:p>
        </p:txBody>
      </p:sp>
      <p:sp>
        <p:nvSpPr>
          <p:cNvPr id="55302" name="Rectangle 3"/>
          <p:cNvSpPr>
            <a:spLocks noGrp="1"/>
          </p:cNvSpPr>
          <p:nvPr>
            <p:ph idx="1"/>
          </p:nvPr>
        </p:nvSpPr>
        <p:spPr>
          <a:xfrm>
            <a:off x="452755" y="1125220"/>
            <a:ext cx="8690610" cy="4689475"/>
          </a:xfrm>
        </p:spPr>
        <p:txBody>
          <a:bodyPr vert="horz" wrap="square" lIns="91440" tIns="45720" rIns="91440" bIns="45720" anchor="t" anchorCtr="0"/>
          <a:p>
            <a:pPr eaLnBrk="1" hangingPunct="1"/>
            <a:r>
              <a:rPr lang="en-US" altLang="zh-CN" dirty="0"/>
              <a:t>Example 2</a:t>
            </a:r>
            <a:endParaRPr lang="en-US" altLang="zh-CN" dirty="0"/>
          </a:p>
          <a:p>
            <a:pPr lvl="1" eaLnBrk="1" hangingPunct="1"/>
            <a:r>
              <a:rPr lang="en-US" altLang="zh-CN" sz="2400" dirty="0"/>
              <a:t>How many ways are there to select four pieces of fruit from a bowl containing apples ,oranges, and pears if the order in which the pieces are selected does not matter, only the type of fruit and not the individual piece matters, and there are at least four pieces of each type of fruit in the bowl?</a:t>
            </a:r>
            <a:endParaRPr lang="en-US" altLang="zh-CN" sz="2400" dirty="0"/>
          </a:p>
          <a:p>
            <a:pPr eaLnBrk="1" hangingPunct="1"/>
            <a:endParaRPr lang="en-US" altLang="zh-CN" dirty="0"/>
          </a:p>
          <a:p>
            <a:pPr eaLnBrk="1" hangingPunct="1"/>
            <a:endParaRPr lang="en-US" altLang="zh-CN" dirty="0"/>
          </a:p>
        </p:txBody>
      </p:sp>
      <p:pic>
        <p:nvPicPr>
          <p:cNvPr id="56323" name="内容占位符 6"/>
          <p:cNvPicPr>
            <a:picLocks noGrp="1" noChangeAspect="1"/>
          </p:cNvPicPr>
          <p:nvPr>
            <p:custDataLst>
              <p:tags r:id="rId1"/>
            </p:custDataLst>
          </p:nvPr>
        </p:nvPicPr>
        <p:blipFill>
          <a:blip r:embed="rId2"/>
          <a:srcRect/>
          <a:stretch>
            <a:fillRect/>
          </a:stretch>
        </p:blipFill>
        <p:spPr>
          <a:xfrm>
            <a:off x="323850" y="3789045"/>
            <a:ext cx="8864600" cy="2560638"/>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3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Title 1"/>
          <p:cNvSpPr>
            <a:spLocks noGrp="1"/>
          </p:cNvSpPr>
          <p:nvPr>
            <p:ph type="title"/>
          </p:nvPr>
        </p:nvSpPr>
        <p:spPr>
          <a:xfrm>
            <a:off x="1151255" y="43815"/>
            <a:ext cx="7935595" cy="1148080"/>
          </a:xfrm>
        </p:spPr>
        <p:txBody>
          <a:bodyPr vert="horz" wrap="square" lIns="91440" tIns="45720" rIns="91440" bIns="45720" anchor="b" anchorCtr="0"/>
          <a:p>
            <a:r>
              <a:rPr lang="en-US" altLang="zh-CN" dirty="0"/>
              <a:t>Combinations with Repetition</a:t>
            </a:r>
            <a:endParaRPr lang="en-US" altLang="zh-CN" dirty="0"/>
          </a:p>
        </p:txBody>
      </p:sp>
      <p:sp>
        <p:nvSpPr>
          <p:cNvPr id="57347" name="Content Placeholder 2"/>
          <p:cNvSpPr>
            <a:spLocks noGrp="1"/>
          </p:cNvSpPr>
          <p:nvPr>
            <p:ph idx="1"/>
          </p:nvPr>
        </p:nvSpPr>
        <p:spPr>
          <a:xfrm>
            <a:off x="755650" y="1443673"/>
            <a:ext cx="8199438" cy="4114800"/>
          </a:xfrm>
        </p:spPr>
        <p:txBody>
          <a:bodyPr vert="horz" wrap="square" lIns="91440" tIns="45720" rIns="91440" bIns="45720" anchor="t" anchorCtr="0"/>
          <a:p>
            <a:pPr>
              <a:buNone/>
            </a:pPr>
            <a:r>
              <a:rPr lang="en-US" altLang="zh-CN" b="1" dirty="0"/>
              <a:t>   Example</a:t>
            </a:r>
            <a:r>
              <a:rPr lang="en-US" altLang="zh-CN" dirty="0"/>
              <a:t>: How many ways are there to select five bills from a box containing  at least five of each of the following denominations: $</a:t>
            </a:r>
            <a:r>
              <a:rPr lang="en-US" altLang="zh-CN" dirty="0">
                <a:latin typeface="Cambria" panose="02040503050406030204" pitchFamily="18" charset="0"/>
              </a:rPr>
              <a:t>1</a:t>
            </a:r>
            <a:r>
              <a:rPr lang="en-US" altLang="zh-CN" dirty="0"/>
              <a:t>, $</a:t>
            </a:r>
            <a:r>
              <a:rPr lang="en-US" altLang="zh-CN" dirty="0">
                <a:latin typeface="Cambria" panose="02040503050406030204" pitchFamily="18" charset="0"/>
              </a:rPr>
              <a:t>2</a:t>
            </a:r>
            <a:r>
              <a:rPr lang="en-US" altLang="zh-CN" dirty="0"/>
              <a:t>, $</a:t>
            </a:r>
            <a:r>
              <a:rPr lang="en-US" altLang="zh-CN" dirty="0">
                <a:latin typeface="Cambria" panose="02040503050406030204" pitchFamily="18" charset="0"/>
              </a:rPr>
              <a:t>5</a:t>
            </a:r>
            <a:r>
              <a:rPr lang="en-US" altLang="zh-CN" dirty="0"/>
              <a:t>,  $</a:t>
            </a:r>
            <a:r>
              <a:rPr lang="en-US" altLang="zh-CN" dirty="0">
                <a:latin typeface="Cambria" panose="02040503050406030204" pitchFamily="18" charset="0"/>
              </a:rPr>
              <a:t>10</a:t>
            </a:r>
            <a:r>
              <a:rPr lang="en-US" altLang="zh-CN" dirty="0"/>
              <a:t>, $</a:t>
            </a:r>
            <a:r>
              <a:rPr lang="en-US" altLang="zh-CN" dirty="0">
                <a:latin typeface="Cambria" panose="02040503050406030204" pitchFamily="18" charset="0"/>
              </a:rPr>
              <a:t>20</a:t>
            </a:r>
            <a:r>
              <a:rPr lang="en-US" altLang="zh-CN" dirty="0"/>
              <a:t>, $</a:t>
            </a:r>
            <a:r>
              <a:rPr lang="en-US" altLang="zh-CN" dirty="0">
                <a:latin typeface="Cambria" panose="02040503050406030204" pitchFamily="18" charset="0"/>
              </a:rPr>
              <a:t>50</a:t>
            </a:r>
            <a:r>
              <a:rPr lang="en-US" altLang="zh-CN" dirty="0"/>
              <a:t>, and $</a:t>
            </a:r>
            <a:r>
              <a:rPr lang="en-US" altLang="zh-CN" dirty="0">
                <a:latin typeface="Cambria" panose="02040503050406030204" pitchFamily="18" charset="0"/>
              </a:rPr>
              <a:t>100</a:t>
            </a:r>
            <a:r>
              <a:rPr lang="en-US" altLang="zh-CN" dirty="0"/>
              <a:t>? </a:t>
            </a:r>
            <a:endParaRPr lang="en-US" altLang="zh-CN" dirty="0"/>
          </a:p>
          <a:p>
            <a:pPr>
              <a:buNone/>
            </a:pPr>
            <a:r>
              <a:rPr lang="en-US" altLang="zh-CN" b="1" dirty="0"/>
              <a:t>   Solution</a:t>
            </a:r>
            <a:r>
              <a:rPr lang="en-US" altLang="zh-CN" dirty="0"/>
              <a:t>: Place the selected bills in the appropriate position of a cash box illustrated below:</a:t>
            </a:r>
            <a:endParaRPr lang="en-US" altLang="zh-CN" dirty="0"/>
          </a:p>
        </p:txBody>
      </p:sp>
      <p:pic>
        <p:nvPicPr>
          <p:cNvPr id="57348" name="Picture 3" descr="0513.jpg"/>
          <p:cNvPicPr>
            <a:picLocks noChangeAspect="1"/>
          </p:cNvPicPr>
          <p:nvPr/>
        </p:nvPicPr>
        <p:blipFill>
          <a:blip r:embed="rId1"/>
          <a:stretch>
            <a:fillRect/>
          </a:stretch>
        </p:blipFill>
        <p:spPr>
          <a:xfrm>
            <a:off x="2843213" y="4669473"/>
            <a:ext cx="3244850" cy="1112837"/>
          </a:xfrm>
          <a:prstGeom prst="rect">
            <a:avLst/>
          </a:prstGeom>
          <a:noFill/>
          <a:ln w="9525">
            <a:noFill/>
          </a:ln>
        </p:spPr>
      </p:pic>
      <p:sp>
        <p:nvSpPr>
          <p:cNvPr id="57349" name="TextBox 4"/>
          <p:cNvSpPr txBox="1"/>
          <p:nvPr/>
        </p:nvSpPr>
        <p:spPr>
          <a:xfrm>
            <a:off x="5486400" y="6172200"/>
            <a:ext cx="1854835" cy="46037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mn-ea"/>
              </a:defRPr>
            </a:lvl5pPr>
          </a:lstStyle>
          <a:p>
            <a:pPr marL="0" lvl="0" indent="0">
              <a:spcBef>
                <a:spcPct val="0"/>
              </a:spcBef>
              <a:buClrTx/>
              <a:buSzTx/>
              <a:buFontTx/>
              <a:buNone/>
            </a:pPr>
            <a:r>
              <a:rPr lang="en-US" altLang="zh-CN" sz="2400" i="1" dirty="0"/>
              <a:t>continued </a:t>
            </a:r>
            <a:r>
              <a:rPr lang="en-US" altLang="zh-CN" sz="2400" dirty="0">
                <a:latin typeface="Cambria Math" panose="02040503050406030204" pitchFamily="18" charset="0"/>
              </a:rPr>
              <a:t>→</a:t>
            </a:r>
            <a:r>
              <a:rPr lang="en-US" altLang="zh-CN" sz="2400" i="1" dirty="0"/>
              <a:t>  </a:t>
            </a:r>
            <a:endParaRPr lang="en-US" altLang="zh-CN" sz="2400" i="1"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Title 1"/>
          <p:cNvSpPr>
            <a:spLocks noGrp="1"/>
          </p:cNvSpPr>
          <p:nvPr>
            <p:ph type="title"/>
          </p:nvPr>
        </p:nvSpPr>
        <p:spPr>
          <a:xfrm>
            <a:off x="1151255" y="43815"/>
            <a:ext cx="7912100" cy="1146175"/>
          </a:xfrm>
        </p:spPr>
        <p:txBody>
          <a:bodyPr vert="horz" wrap="square" lIns="91440" tIns="45720" rIns="91440" bIns="45720" anchor="b" anchorCtr="0"/>
          <a:p>
            <a:r>
              <a:rPr lang="en-US" altLang="zh-CN" dirty="0"/>
              <a:t>Combinations with Repetition</a:t>
            </a:r>
            <a:endParaRPr lang="en-US" altLang="zh-CN" dirty="0"/>
          </a:p>
        </p:txBody>
      </p:sp>
      <p:sp>
        <p:nvSpPr>
          <p:cNvPr id="3" name="Content Placeholder 2"/>
          <p:cNvSpPr>
            <a:spLocks noGrp="1"/>
          </p:cNvSpPr>
          <p:nvPr>
            <p:ph idx="1"/>
          </p:nvPr>
        </p:nvSpPr>
        <p:spPr/>
        <p:txBody>
          <a:bodyPr vert="horz" wrap="square" lIns="91440" tIns="45720" rIns="91440" bIns="45720" numCol="1" anchor="t" anchorCtr="0" compatLnSpc="1">
            <a:normAutofit fontScale="62500" lnSpcReduction="20000"/>
          </a:bodyPr>
          <a:lstStyle/>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en-US" sz="3800" b="0" i="0" u="none" strike="noStrike" kern="0" cap="none" spc="0" normalizeH="0" baseline="0" noProof="1">
                <a:ln>
                  <a:noFill/>
                </a:ln>
                <a:solidFill>
                  <a:schemeClr val="tx1"/>
                </a:solidFill>
                <a:effectLst/>
                <a:uLnTx/>
                <a:uFillTx/>
                <a:latin typeface="+mn-lt"/>
                <a:ea typeface="+mn-ea"/>
                <a:cs typeface="+mn-cs"/>
              </a:rPr>
              <a:t>Some possible ways of </a:t>
            </a:r>
            <a:endParaRPr kumimoji="1" lang="en-US" sz="3800" b="0" i="0" u="none" strike="noStrike" kern="0" cap="none" spc="0" normalizeH="0" baseline="0" noProof="1">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sz="3800" b="0" i="0" u="none" strike="noStrike" kern="0" cap="none" spc="0" normalizeH="0" baseline="0" noProof="1">
                <a:ln>
                  <a:noFill/>
                </a:ln>
                <a:solidFill>
                  <a:schemeClr val="tx1"/>
                </a:solidFill>
                <a:effectLst/>
                <a:uLnTx/>
                <a:uFillTx/>
                <a:latin typeface="+mn-lt"/>
                <a:ea typeface="+mn-ea"/>
                <a:cs typeface="+mn-cs"/>
              </a:rPr>
              <a:t>      placing the five bills:</a:t>
            </a:r>
            <a:endParaRPr kumimoji="1" lang="en-US" sz="3800" b="0" i="0" u="none" strike="noStrike" kern="0" cap="none" spc="0" normalizeH="0" baseline="0" noProof="1">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1" lang="en-US" sz="3800" b="0" i="0" u="none" strike="noStrike" kern="0" cap="none" spc="0" normalizeH="0" baseline="0" noProof="1">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1" lang="en-US" sz="3800" b="0" i="0" u="none" strike="noStrike" kern="0" cap="none" spc="0" normalizeH="0" baseline="0" noProof="1">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1" lang="en-US" sz="3800" b="0" i="0" u="none" strike="noStrike" kern="0" cap="none" spc="0" normalizeH="0" baseline="0" noProof="1">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en-US" sz="3800" b="0" i="0" u="none" strike="noStrike" kern="0" cap="none" spc="0" normalizeH="0" baseline="0" noProof="1">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en-US" sz="3800" b="0" i="0" u="none" strike="noStrike" kern="0" cap="none" spc="0" normalizeH="0" baseline="0" noProof="1">
                <a:ln>
                  <a:noFill/>
                </a:ln>
                <a:solidFill>
                  <a:schemeClr val="tx1"/>
                </a:solidFill>
                <a:effectLst/>
                <a:uLnTx/>
                <a:uFillTx/>
                <a:latin typeface="+mn-lt"/>
                <a:ea typeface="+mn-ea"/>
                <a:cs typeface="+mn-cs"/>
              </a:rPr>
              <a:t>The number of ways to select five bills corresponds to the number of ways to arrange six bars and five stars in a row. </a:t>
            </a:r>
            <a:endParaRPr kumimoji="1" lang="en-US" sz="3800" b="0" i="0" u="none" strike="noStrike" kern="0" cap="none" spc="0" normalizeH="0" baseline="0" noProof="1">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en-US" sz="3800" b="0" i="0" u="none" strike="noStrike" kern="0" cap="none" spc="0" normalizeH="0" baseline="0" noProof="1">
                <a:ln>
                  <a:noFill/>
                </a:ln>
                <a:solidFill>
                  <a:schemeClr val="tx1"/>
                </a:solidFill>
                <a:effectLst/>
                <a:uLnTx/>
                <a:uFillTx/>
                <a:latin typeface="+mn-lt"/>
                <a:ea typeface="+mn-ea"/>
                <a:cs typeface="+mn-cs"/>
              </a:rPr>
              <a:t>This is the number of unordered selections of </a:t>
            </a:r>
            <a:r>
              <a:rPr kumimoji="1" lang="en-US" sz="3800" b="0" i="0" u="none" strike="noStrike" kern="0" cap="none" spc="0" normalizeH="0" baseline="0" noProof="1">
                <a:ln>
                  <a:noFill/>
                </a:ln>
                <a:solidFill>
                  <a:schemeClr val="tx1"/>
                </a:solidFill>
                <a:effectLst/>
                <a:uLnTx/>
                <a:uFillTx/>
                <a:latin typeface="Cambria" panose="02040503050406030204" pitchFamily="18" charset="0"/>
                <a:ea typeface="+mn-ea"/>
                <a:cs typeface="+mn-cs"/>
              </a:rPr>
              <a:t>5</a:t>
            </a:r>
            <a:r>
              <a:rPr kumimoji="1" lang="en-US" sz="3800" b="0" i="0" u="none" strike="noStrike" kern="0" cap="none" spc="0" normalizeH="0" baseline="0" noProof="1">
                <a:ln>
                  <a:noFill/>
                </a:ln>
                <a:solidFill>
                  <a:schemeClr val="tx1"/>
                </a:solidFill>
                <a:effectLst/>
                <a:uLnTx/>
                <a:uFillTx/>
                <a:latin typeface="+mn-lt"/>
                <a:ea typeface="+mn-ea"/>
                <a:cs typeface="+mn-cs"/>
              </a:rPr>
              <a:t> objects from a set of </a:t>
            </a:r>
            <a:r>
              <a:rPr kumimoji="1" lang="en-US" sz="3800" b="0" i="0" u="none" strike="noStrike" kern="0" cap="none" spc="0" normalizeH="0" baseline="0" noProof="1">
                <a:ln>
                  <a:noFill/>
                </a:ln>
                <a:solidFill>
                  <a:schemeClr val="tx1"/>
                </a:solidFill>
                <a:effectLst/>
                <a:uLnTx/>
                <a:uFillTx/>
                <a:latin typeface="Cambria" panose="02040503050406030204" pitchFamily="18" charset="0"/>
                <a:ea typeface="+mn-ea"/>
                <a:cs typeface="+mn-cs"/>
              </a:rPr>
              <a:t>11</a:t>
            </a:r>
            <a:r>
              <a:rPr kumimoji="1" lang="en-US" sz="3800" b="0" i="0" u="none" strike="noStrike" kern="0" cap="none" spc="0" normalizeH="0" baseline="0" noProof="1">
                <a:ln>
                  <a:noFill/>
                </a:ln>
                <a:solidFill>
                  <a:schemeClr val="tx1"/>
                </a:solidFill>
                <a:effectLst/>
                <a:uLnTx/>
                <a:uFillTx/>
                <a:latin typeface="+mn-lt"/>
                <a:ea typeface="+mn-ea"/>
                <a:cs typeface="+mn-cs"/>
              </a:rPr>
              <a:t>. Hence, there are</a:t>
            </a:r>
            <a:endParaRPr kumimoji="1" lang="en-US" sz="3800" b="0" i="0" u="none" strike="noStrike" kern="0" cap="none" spc="0" normalizeH="0" baseline="0" noProof="1">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sz="3800" b="0" i="0" u="none" strike="noStrike" kern="0" cap="none" spc="0" normalizeH="0" baseline="0" noProof="1">
                <a:ln>
                  <a:noFill/>
                </a:ln>
                <a:solidFill>
                  <a:schemeClr val="tx1"/>
                </a:solidFill>
                <a:effectLst/>
                <a:uLnTx/>
                <a:uFillTx/>
                <a:latin typeface="+mn-lt"/>
                <a:ea typeface="+mn-ea"/>
                <a:cs typeface="+mn-cs"/>
              </a:rPr>
              <a:t>         </a:t>
            </a:r>
            <a:endParaRPr kumimoji="1" lang="en-US" sz="3800" b="0" i="0" u="none" strike="noStrike" kern="0" cap="none" spc="0" normalizeH="0" baseline="0" noProof="1">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en-US" sz="3800" b="0" i="0" u="none" strike="noStrike" kern="0" cap="none" spc="0" normalizeH="0" baseline="0" noProof="1">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sz="3800" b="0" i="0" u="none" strike="noStrike" kern="0" cap="none" spc="0" normalizeH="0" baseline="0" noProof="1">
                <a:ln>
                  <a:noFill/>
                </a:ln>
                <a:solidFill>
                  <a:schemeClr val="tx1"/>
                </a:solidFill>
                <a:effectLst/>
                <a:uLnTx/>
                <a:uFillTx/>
                <a:latin typeface="+mn-lt"/>
                <a:ea typeface="+mn-ea"/>
                <a:cs typeface="+mn-cs"/>
              </a:rPr>
              <a:t>    ways to choose five bills with seven types of bills.</a:t>
            </a:r>
            <a:endParaRPr kumimoji="1" lang="en-US" sz="3800" b="0" i="0" u="none" strike="noStrike" kern="0" cap="none" spc="0" normalizeH="0" baseline="0" noProof="1">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1" lang="en-US" sz="3200" b="0" i="0" u="none" strike="noStrike" kern="0" cap="none" spc="0" normalizeH="0" baseline="0" noProof="1">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1" lang="en-US" sz="3200" b="0" i="0" u="none" strike="noStrike" kern="0" cap="none" spc="0" normalizeH="0" baseline="0" noProof="1">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1" lang="en-US" sz="3200" b="0" i="0" u="none" strike="noStrike" kern="0" cap="none" spc="0" normalizeH="0" baseline="0" noProof="1">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1" lang="en-US" sz="3200" b="0" i="0" u="none" strike="noStrike" kern="0" cap="none" spc="0" normalizeH="0" baseline="0" noProof="1">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1" lang="en-US" sz="3200" b="0" i="0" u="none" strike="noStrike" kern="0" cap="none" spc="0" normalizeH="0" baseline="0" noProof="1">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1" lang="en-US" sz="3200" b="0" i="0" u="none" strike="noStrike" kern="0" cap="none" spc="0" normalizeH="0" baseline="0" noProof="1">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1" lang="en-US" sz="3200" b="0" i="0" u="none" strike="noStrike" kern="0" cap="none" spc="0" normalizeH="0" baseline="0" noProof="1">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1" lang="en-US" sz="3200" b="0" i="0" u="none" strike="noStrike" kern="0" cap="none" spc="0" normalizeH="0" baseline="0" noProof="1">
              <a:ln>
                <a:noFill/>
              </a:ln>
              <a:solidFill>
                <a:schemeClr val="tx1"/>
              </a:solidFill>
              <a:effectLst/>
              <a:uLnTx/>
              <a:uFillTx/>
              <a:latin typeface="+mn-lt"/>
              <a:ea typeface="+mn-ea"/>
              <a:cs typeface="+mn-cs"/>
            </a:endParaRPr>
          </a:p>
        </p:txBody>
      </p:sp>
      <p:pic>
        <p:nvPicPr>
          <p:cNvPr id="58372" name="Picture 3" descr="0514.jpg"/>
          <p:cNvPicPr>
            <a:picLocks noChangeAspect="1"/>
          </p:cNvPicPr>
          <p:nvPr/>
        </p:nvPicPr>
        <p:blipFill>
          <a:blip r:embed="rId1"/>
          <a:stretch>
            <a:fillRect/>
          </a:stretch>
        </p:blipFill>
        <p:spPr>
          <a:xfrm>
            <a:off x="4787583" y="1412558"/>
            <a:ext cx="3048000" cy="1919287"/>
          </a:xfrm>
          <a:prstGeom prst="rect">
            <a:avLst/>
          </a:prstGeom>
          <a:noFill/>
          <a:ln w="9525">
            <a:noFill/>
          </a:ln>
        </p:spPr>
      </p:pic>
      <p:pic>
        <p:nvPicPr>
          <p:cNvPr id="58373" name="Picture 4" descr="addin_tmp.png"/>
          <p:cNvPicPr>
            <a:picLocks noChangeAspect="1"/>
          </p:cNvPicPr>
          <p:nvPr>
            <p:custDataLst>
              <p:tags r:id="rId2"/>
            </p:custDataLst>
          </p:nvPr>
        </p:nvPicPr>
        <p:blipFill>
          <a:blip r:embed="rId3"/>
          <a:stretch>
            <a:fillRect/>
          </a:stretch>
        </p:blipFill>
        <p:spPr>
          <a:xfrm>
            <a:off x="2843213" y="5013325"/>
            <a:ext cx="2295525" cy="317500"/>
          </a:xfrm>
          <a:prstGeom prst="rect">
            <a:avLst/>
          </a:prstGeom>
          <a:noFill/>
          <a:ln w="9525">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Title 1"/>
          <p:cNvSpPr>
            <a:spLocks noGrp="1"/>
          </p:cNvSpPr>
          <p:nvPr>
            <p:ph type="title"/>
          </p:nvPr>
        </p:nvSpPr>
        <p:spPr>
          <a:xfrm>
            <a:off x="899795" y="116840"/>
            <a:ext cx="8164195" cy="1083945"/>
          </a:xfrm>
        </p:spPr>
        <p:txBody>
          <a:bodyPr vert="horz" wrap="square" lIns="91440" tIns="45720" rIns="91440" bIns="45720" anchor="b" anchorCtr="0"/>
          <a:p>
            <a:r>
              <a:rPr lang="en-US" altLang="zh-CN" dirty="0"/>
              <a:t>Combinations with Repetition</a:t>
            </a:r>
            <a:endParaRPr lang="en-US" altLang="zh-CN" dirty="0"/>
          </a:p>
        </p:txBody>
      </p:sp>
      <p:sp>
        <p:nvSpPr>
          <p:cNvPr id="3" name="Content Placeholder 2"/>
          <p:cNvSpPr>
            <a:spLocks noGrp="1"/>
          </p:cNvSpPr>
          <p:nvPr>
            <p:ph idx="1"/>
          </p:nvPr>
        </p:nvSpPr>
        <p:spPr/>
        <p:txBody>
          <a:bodyPr vert="horz" wrap="square" lIns="91440" tIns="45720" rIns="91440" bIns="45720" numCol="1" anchor="t" anchorCtr="0" compatLnSpc="1">
            <a:normAutofit fontScale="70000" lnSpcReduction="20000"/>
          </a:bodyPr>
          <a:lstStyle/>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sz="3200" b="1" i="0" u="none" strike="noStrike" kern="0" cap="none" spc="0" normalizeH="0" baseline="0" noProof="1">
                <a:ln>
                  <a:noFill/>
                </a:ln>
                <a:solidFill>
                  <a:schemeClr val="tx1"/>
                </a:solidFill>
                <a:effectLst/>
                <a:uLnTx/>
                <a:uFillTx/>
                <a:latin typeface="+mn-lt"/>
                <a:ea typeface="+mn-ea"/>
                <a:cs typeface="+mn-cs"/>
              </a:rPr>
              <a:t>    </a:t>
            </a:r>
            <a:r>
              <a:rPr kumimoji="1" lang="en-US" sz="3400" b="1" i="0" u="none" strike="noStrike" kern="0" cap="none" spc="0" normalizeH="0" baseline="0" noProof="1">
                <a:ln>
                  <a:noFill/>
                </a:ln>
                <a:solidFill>
                  <a:schemeClr val="tx1"/>
                </a:solidFill>
                <a:effectLst/>
                <a:uLnTx/>
                <a:uFillTx/>
                <a:latin typeface="+mn-lt"/>
                <a:ea typeface="+mn-ea"/>
                <a:cs typeface="+mn-cs"/>
              </a:rPr>
              <a:t>Theorem </a:t>
            </a:r>
            <a:r>
              <a:rPr kumimoji="1" lang="en-US" sz="3400" b="1" i="0" u="none" strike="noStrike" kern="0" cap="none" spc="0" normalizeH="0" baseline="0" noProof="1">
                <a:ln>
                  <a:noFill/>
                </a:ln>
                <a:solidFill>
                  <a:schemeClr val="tx1"/>
                </a:solidFill>
                <a:effectLst/>
                <a:uLnTx/>
                <a:uFillTx/>
                <a:latin typeface="Cambria" panose="02040503050406030204" pitchFamily="18" charset="0"/>
                <a:ea typeface="+mn-ea"/>
                <a:cs typeface="+mn-cs"/>
              </a:rPr>
              <a:t>2</a:t>
            </a:r>
            <a:r>
              <a:rPr kumimoji="1" lang="en-US" sz="3400" b="0" i="0" u="none" strike="noStrike" kern="0" cap="none" spc="0" normalizeH="0" baseline="0" noProof="1">
                <a:ln>
                  <a:noFill/>
                </a:ln>
                <a:solidFill>
                  <a:schemeClr val="tx1"/>
                </a:solidFill>
                <a:effectLst/>
                <a:uLnTx/>
                <a:uFillTx/>
                <a:latin typeface="+mn-lt"/>
                <a:ea typeface="+mn-ea"/>
                <a:cs typeface="+mn-cs"/>
              </a:rPr>
              <a:t>: The number of </a:t>
            </a:r>
            <a:r>
              <a:rPr kumimoji="1" lang="en-US" sz="3400" b="0" i="1" u="none" strike="noStrike" kern="0" cap="none" spc="0" normalizeH="0" baseline="0" noProof="1">
                <a:ln>
                  <a:noFill/>
                </a:ln>
                <a:solidFill>
                  <a:schemeClr val="tx1"/>
                </a:solidFill>
                <a:effectLst/>
                <a:uLnTx/>
                <a:uFillTx/>
                <a:latin typeface="+mn-lt"/>
                <a:ea typeface="+mn-ea"/>
                <a:cs typeface="+mn-cs"/>
              </a:rPr>
              <a:t>r</a:t>
            </a:r>
            <a:r>
              <a:rPr kumimoji="1" lang="en-US" sz="3400" b="0" i="0" u="none" strike="noStrike" kern="0" cap="none" spc="0" normalizeH="0" baseline="0" noProof="1">
                <a:ln>
                  <a:noFill/>
                </a:ln>
                <a:solidFill>
                  <a:schemeClr val="tx1"/>
                </a:solidFill>
                <a:effectLst/>
                <a:uLnTx/>
                <a:uFillTx/>
                <a:latin typeface="+mn-lt"/>
                <a:ea typeface="+mn-ea"/>
                <a:cs typeface="+mn-cs"/>
              </a:rPr>
              <a:t>-combinations from a set with </a:t>
            </a:r>
            <a:r>
              <a:rPr kumimoji="1" lang="en-US" sz="3400" b="0" i="1" u="none" strike="noStrike" kern="0" cap="none" spc="0" normalizeH="0" baseline="0" noProof="1">
                <a:ln>
                  <a:noFill/>
                </a:ln>
                <a:solidFill>
                  <a:schemeClr val="tx1"/>
                </a:solidFill>
                <a:effectLst/>
                <a:uLnTx/>
                <a:uFillTx/>
                <a:latin typeface="+mn-lt"/>
                <a:ea typeface="+mn-ea"/>
                <a:cs typeface="+mn-cs"/>
              </a:rPr>
              <a:t>n</a:t>
            </a:r>
            <a:r>
              <a:rPr kumimoji="1" lang="en-US" sz="3400" b="0" i="0" u="none" strike="noStrike" kern="0" cap="none" spc="0" normalizeH="0" baseline="0" noProof="1">
                <a:ln>
                  <a:noFill/>
                </a:ln>
                <a:solidFill>
                  <a:schemeClr val="tx1"/>
                </a:solidFill>
                <a:effectLst/>
                <a:uLnTx/>
                <a:uFillTx/>
                <a:latin typeface="+mn-lt"/>
                <a:ea typeface="+mn-ea"/>
                <a:cs typeface="+mn-cs"/>
              </a:rPr>
              <a:t> elements when repetition of elements is allowed is</a:t>
            </a:r>
            <a:endParaRPr kumimoji="1" lang="en-US" sz="3400" b="0" i="0" u="none" strike="noStrike" kern="0" cap="none" spc="0" normalizeH="0" baseline="0" noProof="1">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sz="3400" b="0" i="0" u="none" strike="noStrike" kern="0" cap="none" spc="0" normalizeH="0" baseline="0" noProof="1">
                <a:ln>
                  <a:noFill/>
                </a:ln>
                <a:solidFill>
                  <a:schemeClr val="tx1"/>
                </a:solidFill>
                <a:effectLst/>
                <a:uLnTx/>
                <a:uFillTx/>
                <a:latin typeface="+mn-lt"/>
                <a:ea typeface="+mn-ea"/>
                <a:cs typeface="+mn-cs"/>
              </a:rPr>
              <a:t>                       </a:t>
            </a:r>
            <a:r>
              <a:rPr kumimoji="1" lang="en-US" sz="3400" b="0" i="1" u="none" strike="noStrike" kern="0" cap="none" spc="0" normalizeH="0" baseline="0" noProof="1">
                <a:ln>
                  <a:noFill/>
                </a:ln>
                <a:solidFill>
                  <a:schemeClr val="tx1"/>
                </a:solidFill>
                <a:effectLst/>
                <a:uLnTx/>
                <a:uFillTx/>
                <a:latin typeface="+mn-lt"/>
                <a:ea typeface="+mn-ea"/>
                <a:cs typeface="+mn-cs"/>
              </a:rPr>
              <a:t>C</a:t>
            </a:r>
            <a:r>
              <a:rPr kumimoji="1" lang="en-US" sz="3400" b="0" i="0" u="none" strike="noStrike" kern="0" cap="none" spc="0" normalizeH="0" baseline="0" noProof="1">
                <a:ln>
                  <a:noFill/>
                </a:ln>
                <a:solidFill>
                  <a:schemeClr val="tx1"/>
                </a:solidFill>
                <a:effectLst/>
                <a:uLnTx/>
                <a:uFillTx/>
                <a:latin typeface="+mn-lt"/>
                <a:ea typeface="+mn-ea"/>
                <a:cs typeface="+mn-cs"/>
              </a:rPr>
              <a:t>(</a:t>
            </a:r>
            <a:r>
              <a:rPr kumimoji="1" lang="en-US" sz="3400" b="0" i="1" u="none" strike="noStrike" kern="0" cap="none" spc="0" normalizeH="0" baseline="0" noProof="1">
                <a:ln>
                  <a:noFill/>
                </a:ln>
                <a:solidFill>
                  <a:schemeClr val="tx1"/>
                </a:solidFill>
                <a:effectLst/>
                <a:uLnTx/>
                <a:uFillTx/>
                <a:latin typeface="+mn-lt"/>
                <a:ea typeface="+mn-ea"/>
                <a:cs typeface="+mn-cs"/>
              </a:rPr>
              <a:t>n + r – </a:t>
            </a:r>
            <a:r>
              <a:rPr kumimoji="1" lang="en-US" sz="3400" b="0" i="0" u="none" strike="noStrike" kern="0" cap="none" spc="0" normalizeH="0" baseline="0" noProof="1">
                <a:ln>
                  <a:noFill/>
                </a:ln>
                <a:solidFill>
                  <a:schemeClr val="tx1"/>
                </a:solidFill>
                <a:effectLst/>
                <a:uLnTx/>
                <a:uFillTx/>
                <a:latin typeface="Cambria" panose="02040503050406030204" pitchFamily="18" charset="0"/>
                <a:ea typeface="+mn-ea"/>
                <a:cs typeface="+mn-cs"/>
              </a:rPr>
              <a:t>1</a:t>
            </a:r>
            <a:r>
              <a:rPr kumimoji="1" lang="en-US" sz="3400" b="0" i="1" u="none" strike="noStrike" kern="0" cap="none" spc="0" normalizeH="0" baseline="0" noProof="1">
                <a:ln>
                  <a:noFill/>
                </a:ln>
                <a:solidFill>
                  <a:schemeClr val="tx1"/>
                </a:solidFill>
                <a:effectLst/>
                <a:uLnTx/>
                <a:uFillTx/>
                <a:latin typeface="+mn-lt"/>
                <a:ea typeface="+mn-ea"/>
                <a:cs typeface="+mn-cs"/>
              </a:rPr>
              <a:t>,r</a:t>
            </a:r>
            <a:r>
              <a:rPr kumimoji="1" lang="en-US" sz="3400" b="0" i="0" u="none" strike="noStrike" kern="0" cap="none" spc="0" normalizeH="0" baseline="0" noProof="1">
                <a:ln>
                  <a:noFill/>
                </a:ln>
                <a:solidFill>
                  <a:schemeClr val="tx1"/>
                </a:solidFill>
                <a:effectLst/>
                <a:uLnTx/>
                <a:uFillTx/>
                <a:latin typeface="+mn-lt"/>
                <a:ea typeface="+mn-ea"/>
                <a:cs typeface="+mn-cs"/>
              </a:rPr>
              <a:t>)</a:t>
            </a:r>
            <a:r>
              <a:rPr kumimoji="1" lang="en-US" sz="3400" b="0" i="1" u="none" strike="noStrike" kern="0" cap="none" spc="0" normalizeH="0" baseline="0" noProof="1">
                <a:ln>
                  <a:noFill/>
                </a:ln>
                <a:solidFill>
                  <a:schemeClr val="tx1"/>
                </a:solidFill>
                <a:effectLst/>
                <a:uLnTx/>
                <a:uFillTx/>
                <a:latin typeface="+mn-lt"/>
                <a:ea typeface="+mn-ea"/>
                <a:cs typeface="+mn-cs"/>
              </a:rPr>
              <a:t> = C</a:t>
            </a:r>
            <a:r>
              <a:rPr kumimoji="1" lang="en-US" sz="3400" b="0" i="0" u="none" strike="noStrike" kern="0" cap="none" spc="0" normalizeH="0" baseline="0" noProof="1">
                <a:ln>
                  <a:noFill/>
                </a:ln>
                <a:solidFill>
                  <a:schemeClr val="tx1"/>
                </a:solidFill>
                <a:effectLst/>
                <a:uLnTx/>
                <a:uFillTx/>
                <a:latin typeface="+mn-lt"/>
                <a:ea typeface="+mn-ea"/>
                <a:cs typeface="+mn-cs"/>
              </a:rPr>
              <a:t>(</a:t>
            </a:r>
            <a:r>
              <a:rPr kumimoji="1" lang="en-US" sz="3400" b="0" i="1" u="none" strike="noStrike" kern="0" cap="none" spc="0" normalizeH="0" baseline="0" noProof="1">
                <a:ln>
                  <a:noFill/>
                </a:ln>
                <a:solidFill>
                  <a:schemeClr val="tx1"/>
                </a:solidFill>
                <a:effectLst/>
                <a:uLnTx/>
                <a:uFillTx/>
                <a:latin typeface="+mn-lt"/>
                <a:ea typeface="+mn-ea"/>
                <a:cs typeface="+mn-cs"/>
              </a:rPr>
              <a:t>n + r – </a:t>
            </a:r>
            <a:r>
              <a:rPr kumimoji="1" lang="en-US" sz="3400" b="0" i="0" u="none" strike="noStrike" kern="0" cap="none" spc="0" normalizeH="0" baseline="0" noProof="1">
                <a:ln>
                  <a:noFill/>
                </a:ln>
                <a:solidFill>
                  <a:schemeClr val="tx1"/>
                </a:solidFill>
                <a:effectLst/>
                <a:uLnTx/>
                <a:uFillTx/>
                <a:latin typeface="Cambria" panose="02040503050406030204" pitchFamily="18" charset="0"/>
                <a:ea typeface="+mn-ea"/>
                <a:cs typeface="+mn-cs"/>
              </a:rPr>
              <a:t>1</a:t>
            </a:r>
            <a:r>
              <a:rPr kumimoji="1" lang="en-US" sz="3400" b="0" i="1" u="none" strike="noStrike" kern="0" cap="none" spc="0" normalizeH="0" baseline="0" noProof="1">
                <a:ln>
                  <a:noFill/>
                </a:ln>
                <a:solidFill>
                  <a:schemeClr val="tx1"/>
                </a:solidFill>
                <a:effectLst/>
                <a:uLnTx/>
                <a:uFillTx/>
                <a:latin typeface="+mn-lt"/>
                <a:ea typeface="+mn-ea"/>
                <a:cs typeface="+mn-cs"/>
              </a:rPr>
              <a:t>, n –</a:t>
            </a:r>
            <a:r>
              <a:rPr kumimoji="1" lang="en-US" sz="3400" b="0" i="0" u="none" strike="noStrike" kern="0" cap="none" spc="0" normalizeH="0" baseline="0" noProof="1">
                <a:ln>
                  <a:noFill/>
                </a:ln>
                <a:solidFill>
                  <a:schemeClr val="tx1"/>
                </a:solidFill>
                <a:effectLst/>
                <a:uLnTx/>
                <a:uFillTx/>
                <a:latin typeface="Cambria" panose="02040503050406030204" pitchFamily="18" charset="0"/>
                <a:ea typeface="+mn-ea"/>
                <a:cs typeface="+mn-cs"/>
              </a:rPr>
              <a:t>1</a:t>
            </a:r>
            <a:r>
              <a:rPr kumimoji="1" lang="en-US" sz="3400" b="0" i="0" u="none" strike="noStrike" kern="0" cap="none" spc="0" normalizeH="0" baseline="0" noProof="1">
                <a:ln>
                  <a:noFill/>
                </a:ln>
                <a:solidFill>
                  <a:schemeClr val="tx1"/>
                </a:solidFill>
                <a:effectLst/>
                <a:uLnTx/>
                <a:uFillTx/>
                <a:latin typeface="+mn-lt"/>
                <a:ea typeface="+mn-ea"/>
                <a:cs typeface="+mn-cs"/>
              </a:rPr>
              <a:t>).</a:t>
            </a:r>
            <a:endParaRPr kumimoji="1" lang="en-US" sz="3400" b="0" i="0" u="none" strike="noStrike" kern="0" cap="none" spc="0" normalizeH="0" baseline="0" noProof="1">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sz="3400" b="1" i="0" u="none" strike="noStrike" kern="0" cap="none" spc="0" normalizeH="0" baseline="0" noProof="1">
                <a:ln>
                  <a:noFill/>
                </a:ln>
                <a:solidFill>
                  <a:schemeClr val="tx1"/>
                </a:solidFill>
                <a:effectLst/>
                <a:uLnTx/>
                <a:uFillTx/>
                <a:latin typeface="+mn-lt"/>
                <a:ea typeface="+mn-ea"/>
                <a:cs typeface="+mn-cs"/>
              </a:rPr>
              <a:t>    Proof</a:t>
            </a:r>
            <a:r>
              <a:rPr kumimoji="1" lang="en-US" sz="3400" b="0" i="0" u="none" strike="noStrike" kern="0" cap="none" spc="0" normalizeH="0" baseline="0" noProof="1">
                <a:ln>
                  <a:noFill/>
                </a:ln>
                <a:solidFill>
                  <a:schemeClr val="tx1"/>
                </a:solidFill>
                <a:effectLst/>
                <a:uLnTx/>
                <a:uFillTx/>
                <a:latin typeface="+mn-lt"/>
                <a:ea typeface="+mn-ea"/>
                <a:cs typeface="+mn-cs"/>
              </a:rPr>
              <a:t>: Each </a:t>
            </a:r>
            <a:r>
              <a:rPr kumimoji="1" lang="en-US" sz="3400" b="0" i="1" u="none" strike="noStrike" kern="0" cap="none" spc="0" normalizeH="0" baseline="0" noProof="1">
                <a:ln>
                  <a:noFill/>
                </a:ln>
                <a:solidFill>
                  <a:schemeClr val="tx1"/>
                </a:solidFill>
                <a:effectLst/>
                <a:uLnTx/>
                <a:uFillTx/>
                <a:latin typeface="+mn-lt"/>
                <a:ea typeface="+mn-ea"/>
                <a:cs typeface="+mn-cs"/>
              </a:rPr>
              <a:t>r</a:t>
            </a:r>
            <a:r>
              <a:rPr kumimoji="1" lang="en-US" sz="3400" b="0" i="0" u="none" strike="noStrike" kern="0" cap="none" spc="0" normalizeH="0" baseline="0" noProof="1">
                <a:ln>
                  <a:noFill/>
                </a:ln>
                <a:solidFill>
                  <a:schemeClr val="tx1"/>
                </a:solidFill>
                <a:effectLst/>
                <a:uLnTx/>
                <a:uFillTx/>
                <a:latin typeface="+mn-lt"/>
                <a:ea typeface="+mn-ea"/>
                <a:cs typeface="+mn-cs"/>
              </a:rPr>
              <a:t>-combination of a set with </a:t>
            </a:r>
            <a:r>
              <a:rPr kumimoji="1" lang="en-US" sz="3400" b="0" i="1" u="none" strike="noStrike" kern="0" cap="none" spc="0" normalizeH="0" baseline="0" noProof="1">
                <a:ln>
                  <a:noFill/>
                </a:ln>
                <a:solidFill>
                  <a:schemeClr val="tx1"/>
                </a:solidFill>
                <a:effectLst/>
                <a:uLnTx/>
                <a:uFillTx/>
                <a:latin typeface="+mn-lt"/>
                <a:ea typeface="+mn-ea"/>
                <a:cs typeface="+mn-cs"/>
              </a:rPr>
              <a:t>n</a:t>
            </a:r>
            <a:r>
              <a:rPr kumimoji="1" lang="en-US" sz="3400" b="0" i="0" u="none" strike="noStrike" kern="0" cap="none" spc="0" normalizeH="0" baseline="0" noProof="1">
                <a:ln>
                  <a:noFill/>
                </a:ln>
                <a:solidFill>
                  <a:schemeClr val="tx1"/>
                </a:solidFill>
                <a:effectLst/>
                <a:uLnTx/>
                <a:uFillTx/>
                <a:latin typeface="+mn-lt"/>
                <a:ea typeface="+mn-ea"/>
                <a:cs typeface="+mn-cs"/>
              </a:rPr>
              <a:t> elements with repetition allowed can be represented by a list of </a:t>
            </a:r>
            <a:r>
              <a:rPr kumimoji="1" lang="en-US" sz="3400" b="0" i="1" u="none" strike="noStrike" kern="0" cap="none" spc="0" normalizeH="0" baseline="0" noProof="1">
                <a:ln>
                  <a:noFill/>
                </a:ln>
                <a:solidFill>
                  <a:schemeClr val="tx1"/>
                </a:solidFill>
                <a:effectLst/>
                <a:uLnTx/>
                <a:uFillTx/>
                <a:latin typeface="+mn-lt"/>
                <a:ea typeface="+mn-ea"/>
                <a:cs typeface="+mn-cs"/>
              </a:rPr>
              <a:t>n –</a:t>
            </a:r>
            <a:r>
              <a:rPr kumimoji="1" lang="en-US" sz="3400" b="0" i="0" u="none" strike="noStrike" kern="0" cap="none" spc="0" normalizeH="0" baseline="0" noProof="1">
                <a:ln>
                  <a:noFill/>
                </a:ln>
                <a:solidFill>
                  <a:schemeClr val="tx1"/>
                </a:solidFill>
                <a:effectLst/>
                <a:uLnTx/>
                <a:uFillTx/>
                <a:latin typeface="Cambria" panose="02040503050406030204" pitchFamily="18" charset="0"/>
                <a:ea typeface="+mn-ea"/>
                <a:cs typeface="+mn-cs"/>
              </a:rPr>
              <a:t>1 </a:t>
            </a:r>
            <a:r>
              <a:rPr kumimoji="1" lang="en-US" sz="3400" b="0" i="0" u="none" strike="noStrike" kern="0" cap="none" spc="0" normalizeH="0" baseline="0" noProof="1">
                <a:ln>
                  <a:noFill/>
                </a:ln>
                <a:solidFill>
                  <a:schemeClr val="tx1"/>
                </a:solidFill>
                <a:effectLst/>
                <a:uLnTx/>
                <a:uFillTx/>
                <a:latin typeface="+mn-lt"/>
                <a:ea typeface="+mn-ea"/>
                <a:cs typeface="+mn-cs"/>
              </a:rPr>
              <a:t>bars and </a:t>
            </a:r>
            <a:r>
              <a:rPr kumimoji="1" lang="en-US" sz="3400" b="0" i="1" u="none" strike="noStrike" kern="0" cap="none" spc="0" normalizeH="0" baseline="0" noProof="1">
                <a:ln>
                  <a:noFill/>
                </a:ln>
                <a:solidFill>
                  <a:schemeClr val="tx1"/>
                </a:solidFill>
                <a:effectLst/>
                <a:uLnTx/>
                <a:uFillTx/>
                <a:latin typeface="+mn-lt"/>
                <a:ea typeface="+mn-ea"/>
                <a:cs typeface="+mn-cs"/>
              </a:rPr>
              <a:t>r</a:t>
            </a:r>
            <a:r>
              <a:rPr kumimoji="1" lang="en-US" sz="3400" b="0" i="0" u="none" strike="noStrike" kern="0" cap="none" spc="0" normalizeH="0" baseline="0" noProof="1">
                <a:ln>
                  <a:noFill/>
                </a:ln>
                <a:solidFill>
                  <a:schemeClr val="tx1"/>
                </a:solidFill>
                <a:effectLst/>
                <a:uLnTx/>
                <a:uFillTx/>
                <a:latin typeface="+mn-lt"/>
                <a:ea typeface="+mn-ea"/>
                <a:cs typeface="+mn-cs"/>
              </a:rPr>
              <a:t> stars. The bars mark the </a:t>
            </a:r>
            <a:r>
              <a:rPr kumimoji="1" lang="en-US" sz="3400" b="0" i="1" u="none" strike="noStrike" kern="0" cap="none" spc="0" normalizeH="0" baseline="0" noProof="1">
                <a:ln>
                  <a:noFill/>
                </a:ln>
                <a:solidFill>
                  <a:schemeClr val="tx1"/>
                </a:solidFill>
                <a:effectLst/>
                <a:uLnTx/>
                <a:uFillTx/>
                <a:latin typeface="+mn-lt"/>
                <a:ea typeface="+mn-ea"/>
                <a:cs typeface="+mn-cs"/>
              </a:rPr>
              <a:t>n</a:t>
            </a:r>
            <a:r>
              <a:rPr kumimoji="1" lang="en-US" sz="3400" b="0" i="0" u="none" strike="noStrike" kern="0" cap="none" spc="0" normalizeH="0" baseline="0" noProof="1">
                <a:ln>
                  <a:noFill/>
                </a:ln>
                <a:solidFill>
                  <a:schemeClr val="tx1"/>
                </a:solidFill>
                <a:effectLst/>
                <a:uLnTx/>
                <a:uFillTx/>
                <a:latin typeface="+mn-lt"/>
                <a:ea typeface="+mn-ea"/>
                <a:cs typeface="+mn-cs"/>
              </a:rPr>
              <a:t> cells containing a star for each time the </a:t>
            </a:r>
            <a:r>
              <a:rPr kumimoji="1" lang="en-US" sz="3400" b="0" i="1" u="none" strike="noStrike" kern="0" cap="none" spc="0" normalizeH="0" baseline="0" noProof="1">
                <a:ln>
                  <a:noFill/>
                </a:ln>
                <a:solidFill>
                  <a:schemeClr val="tx1"/>
                </a:solidFill>
                <a:effectLst/>
                <a:uLnTx/>
                <a:uFillTx/>
                <a:latin typeface="+mn-lt"/>
                <a:ea typeface="+mn-ea"/>
                <a:cs typeface="+mn-cs"/>
              </a:rPr>
              <a:t>i</a:t>
            </a:r>
            <a:r>
              <a:rPr kumimoji="1" lang="en-US" sz="3400" b="0" i="0" u="none" strike="noStrike" kern="0" cap="none" spc="0" normalizeH="0" baseline="0" noProof="1">
                <a:ln>
                  <a:noFill/>
                </a:ln>
                <a:solidFill>
                  <a:schemeClr val="tx1"/>
                </a:solidFill>
                <a:effectLst/>
                <a:uLnTx/>
                <a:uFillTx/>
                <a:latin typeface="+mn-lt"/>
                <a:ea typeface="+mn-ea"/>
                <a:cs typeface="+mn-cs"/>
              </a:rPr>
              <a:t>th element of the set occurs in the combination.</a:t>
            </a:r>
            <a:endParaRPr kumimoji="1" lang="en-US" sz="3400" b="0" i="0" u="none" strike="noStrike" kern="0" cap="none" spc="0" normalizeH="0" baseline="0" noProof="1">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en-US" sz="3400" b="0" i="0" u="none" strike="noStrike" kern="0" cap="none" spc="0" normalizeH="0" baseline="0" noProof="1">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sz="3400" b="0" i="0" u="none" strike="noStrike" kern="0" cap="none" spc="0" normalizeH="0" baseline="0" noProof="1">
                <a:ln>
                  <a:noFill/>
                </a:ln>
                <a:solidFill>
                  <a:schemeClr val="tx1"/>
                </a:solidFill>
                <a:effectLst/>
                <a:uLnTx/>
                <a:uFillTx/>
                <a:latin typeface="+mn-lt"/>
                <a:ea typeface="+mn-ea"/>
                <a:cs typeface="+mn-cs"/>
              </a:rPr>
              <a:t>    The number of such lists is </a:t>
            </a:r>
            <a:r>
              <a:rPr kumimoji="1" lang="en-US" sz="3400" b="0" i="1" u="none" strike="noStrike" kern="0" cap="none" spc="0" normalizeH="0" baseline="0" noProof="1">
                <a:ln>
                  <a:noFill/>
                </a:ln>
                <a:solidFill>
                  <a:schemeClr val="tx1"/>
                </a:solidFill>
                <a:effectLst/>
                <a:uLnTx/>
                <a:uFillTx/>
                <a:latin typeface="+mn-lt"/>
                <a:ea typeface="+mn-ea"/>
                <a:cs typeface="+mn-cs"/>
              </a:rPr>
              <a:t>C</a:t>
            </a:r>
            <a:r>
              <a:rPr kumimoji="1" lang="en-US" sz="3400" b="0" i="0" u="none" strike="noStrike" kern="0" cap="none" spc="0" normalizeH="0" baseline="0" noProof="1">
                <a:ln>
                  <a:noFill/>
                </a:ln>
                <a:solidFill>
                  <a:schemeClr val="tx1"/>
                </a:solidFill>
                <a:effectLst/>
                <a:uLnTx/>
                <a:uFillTx/>
                <a:latin typeface="+mn-lt"/>
                <a:ea typeface="+mn-ea"/>
                <a:cs typeface="+mn-cs"/>
              </a:rPr>
              <a:t>(</a:t>
            </a:r>
            <a:r>
              <a:rPr kumimoji="1" lang="en-US" sz="3400" b="0" i="1" u="none" strike="noStrike" kern="0" cap="none" spc="0" normalizeH="0" baseline="0" noProof="1">
                <a:ln>
                  <a:noFill/>
                </a:ln>
                <a:solidFill>
                  <a:schemeClr val="tx1"/>
                </a:solidFill>
                <a:effectLst/>
                <a:uLnTx/>
                <a:uFillTx/>
                <a:latin typeface="+mn-lt"/>
                <a:ea typeface="+mn-ea"/>
                <a:cs typeface="+mn-cs"/>
              </a:rPr>
              <a:t>n + r – </a:t>
            </a:r>
            <a:r>
              <a:rPr kumimoji="1" lang="en-US" sz="3400" b="0" i="0" u="none" strike="noStrike" kern="0" cap="none" spc="0" normalizeH="0" baseline="0" noProof="1">
                <a:ln>
                  <a:noFill/>
                </a:ln>
                <a:solidFill>
                  <a:schemeClr val="tx1"/>
                </a:solidFill>
                <a:effectLst/>
                <a:uLnTx/>
                <a:uFillTx/>
                <a:latin typeface="Cambria" panose="02040503050406030204" pitchFamily="18" charset="0"/>
                <a:ea typeface="+mn-ea"/>
                <a:cs typeface="+mn-cs"/>
              </a:rPr>
              <a:t>1</a:t>
            </a:r>
            <a:r>
              <a:rPr kumimoji="1" lang="en-US" sz="3400" b="0" i="1" u="none" strike="noStrike" kern="0" cap="none" spc="0" normalizeH="0" baseline="0" noProof="1">
                <a:ln>
                  <a:noFill/>
                </a:ln>
                <a:solidFill>
                  <a:schemeClr val="tx1"/>
                </a:solidFill>
                <a:effectLst/>
                <a:uLnTx/>
                <a:uFillTx/>
                <a:latin typeface="+mn-lt"/>
                <a:ea typeface="+mn-ea"/>
                <a:cs typeface="+mn-cs"/>
              </a:rPr>
              <a:t>, r</a:t>
            </a:r>
            <a:r>
              <a:rPr kumimoji="1" lang="en-US" sz="3400" b="0" i="0" u="none" strike="noStrike" kern="0" cap="none" spc="0" normalizeH="0" baseline="0" noProof="1">
                <a:ln>
                  <a:noFill/>
                </a:ln>
                <a:solidFill>
                  <a:schemeClr val="tx1"/>
                </a:solidFill>
                <a:effectLst/>
                <a:uLnTx/>
                <a:uFillTx/>
                <a:latin typeface="+mn-lt"/>
                <a:ea typeface="+mn-ea"/>
                <a:cs typeface="+mn-cs"/>
              </a:rPr>
              <a:t>)</a:t>
            </a:r>
            <a:r>
              <a:rPr kumimoji="1" lang="en-US" sz="3400" b="0" i="1" u="none" strike="noStrike" kern="0" cap="none" spc="0" normalizeH="0" baseline="0" noProof="1">
                <a:ln>
                  <a:noFill/>
                </a:ln>
                <a:solidFill>
                  <a:schemeClr val="tx1"/>
                </a:solidFill>
                <a:effectLst/>
                <a:uLnTx/>
                <a:uFillTx/>
                <a:latin typeface="+mn-lt"/>
                <a:ea typeface="+mn-ea"/>
                <a:cs typeface="+mn-cs"/>
              </a:rPr>
              <a:t>, </a:t>
            </a:r>
            <a:r>
              <a:rPr kumimoji="1" lang="en-US" sz="3400" b="0" i="0" u="none" strike="noStrike" kern="0" cap="none" spc="0" normalizeH="0" baseline="0" noProof="1">
                <a:ln>
                  <a:noFill/>
                </a:ln>
                <a:solidFill>
                  <a:schemeClr val="tx1"/>
                </a:solidFill>
                <a:effectLst/>
                <a:uLnTx/>
                <a:uFillTx/>
                <a:latin typeface="+mn-lt"/>
                <a:ea typeface="+mn-ea"/>
                <a:cs typeface="+mn-cs"/>
              </a:rPr>
              <a:t>because each list is a choice of the </a:t>
            </a:r>
            <a:r>
              <a:rPr kumimoji="1" lang="en-US" sz="3400" b="0" i="1" u="none" strike="noStrike" kern="0" cap="none" spc="0" normalizeH="0" baseline="0" noProof="1">
                <a:ln>
                  <a:noFill/>
                </a:ln>
                <a:solidFill>
                  <a:schemeClr val="tx1"/>
                </a:solidFill>
                <a:effectLst/>
                <a:uLnTx/>
                <a:uFillTx/>
                <a:latin typeface="+mn-lt"/>
                <a:ea typeface="+mn-ea"/>
                <a:cs typeface="+mn-cs"/>
              </a:rPr>
              <a:t>r</a:t>
            </a:r>
            <a:r>
              <a:rPr kumimoji="1" lang="en-US" sz="3400" b="0" i="0" u="none" strike="noStrike" kern="0" cap="none" spc="0" normalizeH="0" baseline="0" noProof="1">
                <a:ln>
                  <a:noFill/>
                </a:ln>
                <a:solidFill>
                  <a:schemeClr val="tx1"/>
                </a:solidFill>
                <a:effectLst/>
                <a:uLnTx/>
                <a:uFillTx/>
                <a:latin typeface="+mn-lt"/>
                <a:ea typeface="+mn-ea"/>
                <a:cs typeface="+mn-cs"/>
              </a:rPr>
              <a:t> positions to place the stars, from the total of           </a:t>
            </a:r>
            <a:r>
              <a:rPr kumimoji="1" lang="en-US" sz="3400" b="0" i="1" u="none" strike="noStrike" kern="0" cap="none" spc="0" normalizeH="0" baseline="0" noProof="1">
                <a:ln>
                  <a:noFill/>
                </a:ln>
                <a:solidFill>
                  <a:schemeClr val="tx1"/>
                </a:solidFill>
                <a:effectLst/>
                <a:uLnTx/>
                <a:uFillTx/>
                <a:latin typeface="+mn-lt"/>
                <a:ea typeface="+mn-ea"/>
                <a:cs typeface="+mn-cs"/>
              </a:rPr>
              <a:t>n + r – </a:t>
            </a:r>
            <a:r>
              <a:rPr kumimoji="1" lang="en-US" sz="3400" b="0" i="0" u="none" strike="noStrike" kern="0" cap="none" spc="0" normalizeH="0" baseline="0" noProof="1">
                <a:ln>
                  <a:noFill/>
                </a:ln>
                <a:solidFill>
                  <a:schemeClr val="tx1"/>
                </a:solidFill>
                <a:effectLst/>
                <a:uLnTx/>
                <a:uFillTx/>
                <a:latin typeface="Cambria" panose="02040503050406030204" pitchFamily="18" charset="0"/>
                <a:ea typeface="+mn-ea"/>
                <a:cs typeface="+mn-cs"/>
              </a:rPr>
              <a:t>1</a:t>
            </a:r>
            <a:r>
              <a:rPr kumimoji="1" lang="en-US" sz="3400" b="0" i="1" u="none" strike="noStrike" kern="0" cap="none" spc="0" normalizeH="0" baseline="0" noProof="1">
                <a:ln>
                  <a:noFill/>
                </a:ln>
                <a:solidFill>
                  <a:schemeClr val="tx1"/>
                </a:solidFill>
                <a:effectLst/>
                <a:uLnTx/>
                <a:uFillTx/>
                <a:latin typeface="+mn-lt"/>
                <a:ea typeface="+mn-ea"/>
                <a:cs typeface="+mn-cs"/>
              </a:rPr>
              <a:t>  </a:t>
            </a:r>
            <a:r>
              <a:rPr kumimoji="1" lang="en-US" sz="3400" b="0" i="0" u="none" strike="noStrike" kern="0" cap="none" spc="0" normalizeH="0" baseline="0" noProof="1">
                <a:ln>
                  <a:noFill/>
                </a:ln>
                <a:solidFill>
                  <a:schemeClr val="tx1"/>
                </a:solidFill>
                <a:effectLst/>
                <a:uLnTx/>
                <a:uFillTx/>
                <a:latin typeface="+mn-lt"/>
                <a:ea typeface="+mn-ea"/>
                <a:cs typeface="+mn-cs"/>
              </a:rPr>
              <a:t>positions to place the stars and the bars. This is also equal to </a:t>
            </a:r>
            <a:r>
              <a:rPr kumimoji="1" lang="en-US" sz="3400" b="0" i="1" u="none" strike="noStrike" kern="0" cap="none" spc="0" normalizeH="0" baseline="0" noProof="1">
                <a:ln>
                  <a:noFill/>
                </a:ln>
                <a:solidFill>
                  <a:schemeClr val="tx1"/>
                </a:solidFill>
                <a:effectLst/>
                <a:uLnTx/>
                <a:uFillTx/>
                <a:latin typeface="+mn-lt"/>
                <a:ea typeface="+mn-ea"/>
                <a:cs typeface="+mn-cs"/>
              </a:rPr>
              <a:t>C</a:t>
            </a:r>
            <a:r>
              <a:rPr kumimoji="1" lang="en-US" sz="3400" b="0" i="0" u="none" strike="noStrike" kern="0" cap="none" spc="0" normalizeH="0" baseline="0" noProof="1">
                <a:ln>
                  <a:noFill/>
                </a:ln>
                <a:solidFill>
                  <a:schemeClr val="tx1"/>
                </a:solidFill>
                <a:effectLst/>
                <a:uLnTx/>
                <a:uFillTx/>
                <a:latin typeface="+mn-lt"/>
                <a:ea typeface="+mn-ea"/>
                <a:cs typeface="+mn-cs"/>
              </a:rPr>
              <a:t>(</a:t>
            </a:r>
            <a:r>
              <a:rPr kumimoji="1" lang="en-US" sz="3400" b="0" i="1" u="none" strike="noStrike" kern="0" cap="none" spc="0" normalizeH="0" baseline="0" noProof="1">
                <a:ln>
                  <a:noFill/>
                </a:ln>
                <a:solidFill>
                  <a:schemeClr val="tx1"/>
                </a:solidFill>
                <a:effectLst/>
                <a:uLnTx/>
                <a:uFillTx/>
                <a:latin typeface="+mn-lt"/>
                <a:ea typeface="+mn-ea"/>
                <a:cs typeface="+mn-cs"/>
              </a:rPr>
              <a:t>n + r – </a:t>
            </a:r>
            <a:r>
              <a:rPr kumimoji="1" lang="en-US" sz="3400" b="0" i="0" u="none" strike="noStrike" kern="0" cap="none" spc="0" normalizeH="0" baseline="0" noProof="1">
                <a:ln>
                  <a:noFill/>
                </a:ln>
                <a:solidFill>
                  <a:schemeClr val="tx1"/>
                </a:solidFill>
                <a:effectLst/>
                <a:uLnTx/>
                <a:uFillTx/>
                <a:latin typeface="Cambria" panose="02040503050406030204" pitchFamily="18" charset="0"/>
                <a:ea typeface="+mn-ea"/>
                <a:cs typeface="+mn-cs"/>
              </a:rPr>
              <a:t>1</a:t>
            </a:r>
            <a:r>
              <a:rPr kumimoji="1" lang="en-US" sz="3400" b="0" i="1" u="none" strike="noStrike" kern="0" cap="none" spc="0" normalizeH="0" baseline="0" noProof="1">
                <a:ln>
                  <a:noFill/>
                </a:ln>
                <a:solidFill>
                  <a:schemeClr val="tx1"/>
                </a:solidFill>
                <a:effectLst/>
                <a:uLnTx/>
                <a:uFillTx/>
                <a:latin typeface="+mn-lt"/>
                <a:ea typeface="+mn-ea"/>
                <a:cs typeface="+mn-cs"/>
              </a:rPr>
              <a:t>, n –</a:t>
            </a:r>
            <a:r>
              <a:rPr kumimoji="1" lang="en-US" sz="3400" b="0" i="0" u="none" strike="noStrike" kern="0" cap="none" spc="0" normalizeH="0" baseline="0" noProof="1">
                <a:ln>
                  <a:noFill/>
                </a:ln>
                <a:solidFill>
                  <a:schemeClr val="tx1"/>
                </a:solidFill>
                <a:effectLst/>
                <a:uLnTx/>
                <a:uFillTx/>
                <a:latin typeface="Cambria" panose="02040503050406030204" pitchFamily="18" charset="0"/>
                <a:ea typeface="+mn-ea"/>
                <a:cs typeface="+mn-cs"/>
              </a:rPr>
              <a:t>1</a:t>
            </a:r>
            <a:r>
              <a:rPr kumimoji="1" lang="en-US" sz="3400" b="0" i="0" u="none" strike="noStrike" kern="0" cap="none" spc="0" normalizeH="0" baseline="0" noProof="1">
                <a:ln>
                  <a:noFill/>
                </a:ln>
                <a:solidFill>
                  <a:schemeClr val="tx1"/>
                </a:solidFill>
                <a:effectLst/>
                <a:uLnTx/>
                <a:uFillTx/>
                <a:latin typeface="+mn-lt"/>
                <a:ea typeface="+mn-ea"/>
                <a:cs typeface="+mn-cs"/>
              </a:rPr>
              <a:t>), which is the number of ways to place the</a:t>
            </a:r>
            <a:r>
              <a:rPr kumimoji="1" lang="en-US" sz="3400" b="0" i="1" u="none" strike="noStrike" kern="0" cap="none" spc="0" normalizeH="0" baseline="0" noProof="1">
                <a:ln>
                  <a:noFill/>
                </a:ln>
                <a:solidFill>
                  <a:schemeClr val="tx1"/>
                </a:solidFill>
                <a:effectLst/>
                <a:uLnTx/>
                <a:uFillTx/>
                <a:latin typeface="+mn-lt"/>
                <a:ea typeface="+mn-ea"/>
                <a:cs typeface="+mn-cs"/>
              </a:rPr>
              <a:t> n –</a:t>
            </a:r>
            <a:r>
              <a:rPr kumimoji="1" lang="en-US" sz="3400" b="0" i="0" u="none" strike="noStrike" kern="0" cap="none" spc="0" normalizeH="0" baseline="0" noProof="1">
                <a:ln>
                  <a:noFill/>
                </a:ln>
                <a:solidFill>
                  <a:schemeClr val="tx1"/>
                </a:solidFill>
                <a:effectLst/>
                <a:uLnTx/>
                <a:uFillTx/>
                <a:latin typeface="Cambria" panose="02040503050406030204" pitchFamily="18" charset="0"/>
                <a:ea typeface="+mn-ea"/>
                <a:cs typeface="+mn-cs"/>
              </a:rPr>
              <a:t>1</a:t>
            </a:r>
            <a:r>
              <a:rPr kumimoji="1" lang="en-US" sz="3400" b="0" i="0" u="none" strike="noStrike" kern="0" cap="none" spc="0" normalizeH="0" baseline="0" noProof="1">
                <a:ln>
                  <a:noFill/>
                </a:ln>
                <a:solidFill>
                  <a:schemeClr val="tx1"/>
                </a:solidFill>
                <a:effectLst/>
                <a:uLnTx/>
                <a:uFillTx/>
                <a:latin typeface="+mn-lt"/>
                <a:ea typeface="+mn-ea"/>
                <a:cs typeface="+mn-cs"/>
              </a:rPr>
              <a:t> bars.</a:t>
            </a:r>
            <a:endParaRPr kumimoji="1" lang="en-US" sz="3400" b="0" i="0" u="none" strike="noStrike" kern="0" cap="none" spc="0" normalizeH="0" baseline="0" noProof="1">
              <a:ln>
                <a:noFill/>
              </a:ln>
              <a:solidFill>
                <a:schemeClr val="tx1"/>
              </a:solidFill>
              <a:effectLst/>
              <a:uLnTx/>
              <a:uFillTx/>
              <a:latin typeface="+mn-lt"/>
              <a:ea typeface="+mn-ea"/>
              <a:cs typeface="+mn-c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Title 1"/>
          <p:cNvSpPr>
            <a:spLocks noGrp="1"/>
          </p:cNvSpPr>
          <p:nvPr>
            <p:ph type="title"/>
          </p:nvPr>
        </p:nvSpPr>
        <p:spPr>
          <a:xfrm>
            <a:off x="1151255" y="43815"/>
            <a:ext cx="7992110" cy="1200150"/>
          </a:xfrm>
        </p:spPr>
        <p:txBody>
          <a:bodyPr vert="horz" wrap="square" lIns="91440" tIns="45720" rIns="91440" bIns="45720" anchor="b" anchorCtr="0"/>
          <a:p>
            <a:r>
              <a:rPr lang="en-US" altLang="zh-CN" dirty="0">
                <a:latin typeface="Times New Roman Regular" panose="02020503050405090304" charset="0"/>
                <a:cs typeface="Times New Roman Regular" panose="02020503050405090304" charset="0"/>
              </a:rPr>
              <a:t>Combinations with Repetition</a:t>
            </a:r>
            <a:endParaRPr lang="en-US" altLang="zh-CN" dirty="0">
              <a:latin typeface="Times New Roman Regular" panose="02020503050405090304" charset="0"/>
              <a:cs typeface="Times New Roman Regular" panose="02020503050405090304" charset="0"/>
            </a:endParaRPr>
          </a:p>
        </p:txBody>
      </p:sp>
      <p:sp>
        <p:nvSpPr>
          <p:cNvPr id="3" name="Content Placeholder 2"/>
          <p:cNvSpPr>
            <a:spLocks noGrp="1"/>
          </p:cNvSpPr>
          <p:nvPr>
            <p:ph idx="1"/>
          </p:nvPr>
        </p:nvSpPr>
        <p:spPr/>
        <p:txBody>
          <a:bodyPr vert="horz" wrap="square" lIns="91440" tIns="45720" rIns="91440" bIns="45720" numCol="1" anchor="t" anchorCtr="0" compatLnSpc="1">
            <a:normAutofit fontScale="77500" lnSpcReduction="20000"/>
          </a:bodyPr>
          <a:lstStyle/>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sz="3200" b="1" i="0" u="none" strike="noStrike" kern="0" cap="none" spc="0" normalizeH="0" baseline="0" noProof="1">
                <a:ln>
                  <a:noFill/>
                </a:ln>
                <a:solidFill>
                  <a:schemeClr val="tx1"/>
                </a:solidFill>
                <a:effectLst/>
                <a:uLnTx/>
                <a:uFillTx/>
                <a:latin typeface="+mn-lt"/>
                <a:ea typeface="+mn-ea"/>
                <a:cs typeface="+mn-cs"/>
              </a:rPr>
              <a:t>    Example</a:t>
            </a:r>
            <a:r>
              <a:rPr kumimoji="1" lang="en-US" sz="3200" b="0" i="0" u="none" strike="noStrike" kern="0" cap="none" spc="0" normalizeH="0" baseline="0" noProof="1">
                <a:ln>
                  <a:noFill/>
                </a:ln>
                <a:solidFill>
                  <a:schemeClr val="tx1"/>
                </a:solidFill>
                <a:effectLst/>
                <a:uLnTx/>
                <a:uFillTx/>
                <a:latin typeface="+mn-lt"/>
                <a:ea typeface="+mn-ea"/>
                <a:cs typeface="+mn-cs"/>
              </a:rPr>
              <a:t>: How many solutions does the equation</a:t>
            </a:r>
            <a:endParaRPr kumimoji="1" lang="en-US" sz="3200" b="0" i="0" u="none" strike="noStrike" kern="0" cap="none" spc="0" normalizeH="0" baseline="0" noProof="1">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sz="3200" b="0" i="0" u="none" strike="noStrike" kern="0" cap="none" spc="0" normalizeH="0" baseline="0" noProof="1">
                <a:ln>
                  <a:noFill/>
                </a:ln>
                <a:solidFill>
                  <a:schemeClr val="tx1"/>
                </a:solidFill>
                <a:effectLst/>
                <a:uLnTx/>
                <a:uFillTx/>
                <a:latin typeface="+mn-lt"/>
                <a:ea typeface="+mn-ea"/>
                <a:cs typeface="+mn-cs"/>
              </a:rPr>
              <a:t>         </a:t>
            </a:r>
            <a:r>
              <a:rPr kumimoji="1" lang="en-US" sz="3200" b="0" i="1" u="none" strike="noStrike" kern="0" cap="none" spc="0" normalizeH="0" baseline="0" noProof="1">
                <a:ln>
                  <a:noFill/>
                </a:ln>
                <a:solidFill>
                  <a:schemeClr val="tx1"/>
                </a:solidFill>
                <a:effectLst/>
                <a:uLnTx/>
                <a:uFillTx/>
                <a:latin typeface="+mn-lt"/>
                <a:ea typeface="+mn-ea"/>
                <a:cs typeface="+mn-cs"/>
              </a:rPr>
              <a:t>x</a:t>
            </a:r>
            <a:r>
              <a:rPr kumimoji="1" lang="en-US" sz="3200" b="0" i="0" u="none" strike="noStrike" kern="0" cap="none" spc="0" normalizeH="0" baseline="-25000" noProof="1">
                <a:ln>
                  <a:noFill/>
                </a:ln>
                <a:solidFill>
                  <a:schemeClr val="tx1"/>
                </a:solidFill>
                <a:effectLst/>
                <a:uLnTx/>
                <a:uFillTx/>
                <a:latin typeface="Cambria Math" panose="02040503050406030204" pitchFamily="18" charset="0"/>
                <a:ea typeface="Cambria Math" panose="02040503050406030204" pitchFamily="18" charset="0"/>
                <a:cs typeface="+mn-cs"/>
              </a:rPr>
              <a:t>1</a:t>
            </a:r>
            <a:r>
              <a:rPr kumimoji="1" lang="en-US" sz="3200" b="0" i="0" u="none" strike="noStrike" kern="0" cap="none" spc="0" normalizeH="0" baseline="0" noProof="1">
                <a:ln>
                  <a:noFill/>
                </a:ln>
                <a:solidFill>
                  <a:schemeClr val="tx1"/>
                </a:solidFill>
                <a:effectLst/>
                <a:uLnTx/>
                <a:uFillTx/>
                <a:latin typeface="+mn-lt"/>
                <a:ea typeface="+mn-ea"/>
                <a:cs typeface="+mn-cs"/>
              </a:rPr>
              <a:t> + </a:t>
            </a:r>
            <a:r>
              <a:rPr kumimoji="1" lang="en-US" sz="3200" b="0" i="1" u="none" strike="noStrike" kern="0" cap="none" spc="0" normalizeH="0" baseline="0" noProof="1">
                <a:ln>
                  <a:noFill/>
                </a:ln>
                <a:solidFill>
                  <a:schemeClr val="tx1"/>
                </a:solidFill>
                <a:effectLst/>
                <a:uLnTx/>
                <a:uFillTx/>
                <a:latin typeface="+mn-lt"/>
                <a:ea typeface="+mn-ea"/>
                <a:cs typeface="+mn-cs"/>
              </a:rPr>
              <a:t>x</a:t>
            </a:r>
            <a:r>
              <a:rPr kumimoji="1" lang="en-US" sz="3200" b="0" i="0" u="none" strike="noStrike" kern="0" cap="none" spc="0" normalizeH="0" baseline="-25000" noProof="1">
                <a:ln>
                  <a:noFill/>
                </a:ln>
                <a:solidFill>
                  <a:schemeClr val="tx1"/>
                </a:solidFill>
                <a:effectLst/>
                <a:uLnTx/>
                <a:uFillTx/>
                <a:latin typeface="Cambria Math" panose="02040503050406030204" pitchFamily="18" charset="0"/>
                <a:ea typeface="Cambria Math" panose="02040503050406030204" pitchFamily="18" charset="0"/>
                <a:cs typeface="+mn-cs"/>
              </a:rPr>
              <a:t>2</a:t>
            </a:r>
            <a:r>
              <a:rPr kumimoji="1" lang="en-US" sz="3200" b="0" i="0" u="none" strike="noStrike" kern="0" cap="none" spc="0" normalizeH="0" baseline="0" noProof="1">
                <a:ln>
                  <a:noFill/>
                </a:ln>
                <a:solidFill>
                  <a:schemeClr val="tx1"/>
                </a:solidFill>
                <a:effectLst/>
                <a:uLnTx/>
                <a:uFillTx/>
                <a:latin typeface="+mn-lt"/>
                <a:ea typeface="+mn-ea"/>
                <a:cs typeface="+mn-cs"/>
              </a:rPr>
              <a:t> + </a:t>
            </a:r>
            <a:r>
              <a:rPr kumimoji="1" lang="en-US" sz="3200" b="0" i="1" u="none" strike="noStrike" kern="0" cap="none" spc="0" normalizeH="0" baseline="0" noProof="1">
                <a:ln>
                  <a:noFill/>
                </a:ln>
                <a:solidFill>
                  <a:schemeClr val="tx1"/>
                </a:solidFill>
                <a:effectLst/>
                <a:uLnTx/>
                <a:uFillTx/>
                <a:latin typeface="+mn-lt"/>
                <a:ea typeface="+mn-ea"/>
                <a:cs typeface="+mn-cs"/>
              </a:rPr>
              <a:t>x</a:t>
            </a:r>
            <a:r>
              <a:rPr kumimoji="1" lang="en-US" sz="3200" b="0" i="0" u="none" strike="noStrike" kern="0" cap="none" spc="0" normalizeH="0" baseline="-25000" noProof="1">
                <a:ln>
                  <a:noFill/>
                </a:ln>
                <a:solidFill>
                  <a:schemeClr val="tx1"/>
                </a:solidFill>
                <a:effectLst/>
                <a:uLnTx/>
                <a:uFillTx/>
                <a:latin typeface="Cambria Math" panose="02040503050406030204" pitchFamily="18" charset="0"/>
                <a:ea typeface="Cambria Math" panose="02040503050406030204" pitchFamily="18" charset="0"/>
                <a:cs typeface="+mn-cs"/>
              </a:rPr>
              <a:t>3</a:t>
            </a:r>
            <a:r>
              <a:rPr kumimoji="1" lang="en-US" sz="3200" b="0" i="0" u="none" strike="noStrike" kern="0" cap="none" spc="0" normalizeH="0" baseline="0" noProof="1">
                <a:ln>
                  <a:noFill/>
                </a:ln>
                <a:solidFill>
                  <a:schemeClr val="tx1"/>
                </a:solidFill>
                <a:effectLst/>
                <a:uLnTx/>
                <a:uFillTx/>
                <a:latin typeface="+mn-lt"/>
                <a:ea typeface="+mn-ea"/>
                <a:cs typeface="+mn-cs"/>
              </a:rPr>
              <a:t> = </a:t>
            </a:r>
            <a:r>
              <a:rPr kumimoji="1" lang="en-US" sz="3200" b="0" i="0" u="none" strike="noStrike" kern="0" cap="none" spc="0" normalizeH="0" baseline="0" noProof="1">
                <a:ln>
                  <a:noFill/>
                </a:ln>
                <a:solidFill>
                  <a:schemeClr val="tx1"/>
                </a:solidFill>
                <a:effectLst/>
                <a:uLnTx/>
                <a:uFillTx/>
                <a:latin typeface="Cambria Math" panose="02040503050406030204" pitchFamily="18" charset="0"/>
                <a:ea typeface="Cambria Math" panose="02040503050406030204" pitchFamily="18" charset="0"/>
                <a:cs typeface="+mn-cs"/>
              </a:rPr>
              <a:t>11</a:t>
            </a:r>
            <a:endParaRPr kumimoji="1" lang="en-US" sz="3200" b="0" i="0" u="none" strike="noStrike" kern="0" cap="none" spc="0" normalizeH="0" baseline="0" noProof="1">
              <a:ln>
                <a:noFill/>
              </a:ln>
              <a:solidFill>
                <a:schemeClr val="tx1"/>
              </a:solidFill>
              <a:effectLst/>
              <a:uLnTx/>
              <a:uFillTx/>
              <a:latin typeface="Cambria Math" panose="02040503050406030204" pitchFamily="18" charset="0"/>
              <a:ea typeface="Cambria Math" panose="02040503050406030204" pitchFamily="18" charset="0"/>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sz="3200" b="0" i="0" u="none" strike="noStrike" kern="0" cap="none" spc="0" normalizeH="0" baseline="0" noProof="1">
                <a:ln>
                  <a:noFill/>
                </a:ln>
                <a:solidFill>
                  <a:schemeClr val="tx1"/>
                </a:solidFill>
                <a:effectLst/>
                <a:uLnTx/>
                <a:uFillTx/>
                <a:latin typeface="+mn-lt"/>
                <a:ea typeface="+mn-ea"/>
                <a:cs typeface="+mn-cs"/>
              </a:rPr>
              <a:t>    have, where </a:t>
            </a:r>
            <a:r>
              <a:rPr kumimoji="1" lang="en-US" sz="3200" b="0" i="1" u="none" strike="noStrike" kern="0" cap="none" spc="0" normalizeH="0" baseline="0" noProof="1">
                <a:ln>
                  <a:noFill/>
                </a:ln>
                <a:solidFill>
                  <a:schemeClr val="tx1"/>
                </a:solidFill>
                <a:effectLst/>
                <a:uLnTx/>
                <a:uFillTx/>
                <a:latin typeface="+mn-lt"/>
                <a:ea typeface="+mn-ea"/>
                <a:cs typeface="+mn-cs"/>
              </a:rPr>
              <a:t>x</a:t>
            </a:r>
            <a:r>
              <a:rPr kumimoji="1" lang="en-US" sz="3200" b="0" i="0" u="none" strike="noStrike" kern="0" cap="none" spc="0" normalizeH="0" baseline="-25000" noProof="1">
                <a:ln>
                  <a:noFill/>
                </a:ln>
                <a:solidFill>
                  <a:schemeClr val="tx1"/>
                </a:solidFill>
                <a:effectLst/>
                <a:uLnTx/>
                <a:uFillTx/>
                <a:latin typeface="Cambria Math" panose="02040503050406030204" pitchFamily="18" charset="0"/>
                <a:ea typeface="Cambria Math" panose="02040503050406030204" pitchFamily="18" charset="0"/>
                <a:cs typeface="+mn-cs"/>
              </a:rPr>
              <a:t>1</a:t>
            </a:r>
            <a:r>
              <a:rPr kumimoji="1" lang="en-US" sz="3200" b="0" i="0" u="none" strike="noStrike" kern="0" cap="none" spc="0" normalizeH="0" baseline="0" noProof="1">
                <a:ln>
                  <a:noFill/>
                </a:ln>
                <a:solidFill>
                  <a:schemeClr val="tx1"/>
                </a:solidFill>
                <a:effectLst/>
                <a:uLnTx/>
                <a:uFillTx/>
                <a:latin typeface="+mn-lt"/>
                <a:ea typeface="+mn-ea"/>
                <a:cs typeface="+mn-cs"/>
              </a:rPr>
              <a:t> , </a:t>
            </a:r>
            <a:r>
              <a:rPr kumimoji="1" lang="en-US" sz="3200" b="0" i="1" u="none" strike="noStrike" kern="0" cap="none" spc="0" normalizeH="0" baseline="0" noProof="1">
                <a:ln>
                  <a:noFill/>
                </a:ln>
                <a:solidFill>
                  <a:schemeClr val="tx1"/>
                </a:solidFill>
                <a:effectLst/>
                <a:uLnTx/>
                <a:uFillTx/>
                <a:latin typeface="+mn-lt"/>
                <a:ea typeface="+mn-ea"/>
                <a:cs typeface="+mn-cs"/>
              </a:rPr>
              <a:t>x</a:t>
            </a:r>
            <a:r>
              <a:rPr kumimoji="1" lang="en-US" sz="3200" b="0" i="0" u="none" strike="noStrike" kern="0" cap="none" spc="0" normalizeH="0" baseline="-25000" noProof="1">
                <a:ln>
                  <a:noFill/>
                </a:ln>
                <a:solidFill>
                  <a:schemeClr val="tx1"/>
                </a:solidFill>
                <a:effectLst/>
                <a:uLnTx/>
                <a:uFillTx/>
                <a:latin typeface="Cambria Math" panose="02040503050406030204" pitchFamily="18" charset="0"/>
                <a:ea typeface="Cambria Math" panose="02040503050406030204" pitchFamily="18" charset="0"/>
                <a:cs typeface="+mn-cs"/>
              </a:rPr>
              <a:t>2</a:t>
            </a:r>
            <a:r>
              <a:rPr kumimoji="1" lang="en-US" sz="3200" b="0" i="0" u="none" strike="noStrike" kern="0" cap="none" spc="0" normalizeH="0" baseline="0" noProof="1">
                <a:ln>
                  <a:noFill/>
                </a:ln>
                <a:solidFill>
                  <a:schemeClr val="tx1"/>
                </a:solidFill>
                <a:effectLst/>
                <a:uLnTx/>
                <a:uFillTx/>
                <a:latin typeface="+mn-lt"/>
                <a:ea typeface="+mn-ea"/>
                <a:cs typeface="+mn-cs"/>
              </a:rPr>
              <a:t>   and</a:t>
            </a:r>
            <a:r>
              <a:rPr kumimoji="1" lang="en-US" sz="3200" b="0" i="1" u="none" strike="noStrike" kern="0" cap="none" spc="0" normalizeH="0" baseline="0" noProof="1">
                <a:ln>
                  <a:noFill/>
                </a:ln>
                <a:solidFill>
                  <a:schemeClr val="tx1"/>
                </a:solidFill>
                <a:effectLst/>
                <a:uLnTx/>
                <a:uFillTx/>
                <a:latin typeface="+mn-lt"/>
                <a:ea typeface="+mn-ea"/>
                <a:cs typeface="+mn-cs"/>
              </a:rPr>
              <a:t> x</a:t>
            </a:r>
            <a:r>
              <a:rPr kumimoji="1" lang="en-US" sz="3200" b="0" i="0" u="none" strike="noStrike" kern="0" cap="none" spc="0" normalizeH="0" baseline="-25000" noProof="1">
                <a:ln>
                  <a:noFill/>
                </a:ln>
                <a:solidFill>
                  <a:schemeClr val="tx1"/>
                </a:solidFill>
                <a:effectLst/>
                <a:uLnTx/>
                <a:uFillTx/>
                <a:latin typeface="Cambria Math" panose="02040503050406030204" pitchFamily="18" charset="0"/>
                <a:ea typeface="Cambria Math" panose="02040503050406030204" pitchFamily="18" charset="0"/>
                <a:cs typeface="+mn-cs"/>
              </a:rPr>
              <a:t>3</a:t>
            </a:r>
            <a:r>
              <a:rPr kumimoji="1" lang="en-US" sz="3200" b="0" i="0" u="none" strike="noStrike" kern="0" cap="none" spc="0" normalizeH="0" baseline="0" noProof="1">
                <a:ln>
                  <a:noFill/>
                </a:ln>
                <a:solidFill>
                  <a:schemeClr val="tx1"/>
                </a:solidFill>
                <a:effectLst/>
                <a:uLnTx/>
                <a:uFillTx/>
                <a:latin typeface="+mn-lt"/>
                <a:ea typeface="+mn-ea"/>
                <a:cs typeface="+mn-cs"/>
              </a:rPr>
              <a:t> are nonnegative integers?</a:t>
            </a:r>
            <a:endParaRPr kumimoji="1" lang="en-US" sz="3200" b="0" i="0" u="none" strike="noStrike" kern="0" cap="none" spc="0" normalizeH="0" baseline="0" noProof="1">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3200" b="0" i="0" u="none" strike="noStrike" kern="0" cap="none" spc="0" normalizeH="0" baseline="0" noProof="1">
                <a:ln>
                  <a:noFill/>
                </a:ln>
                <a:solidFill>
                  <a:srgbClr val="FF0000"/>
                </a:solidFill>
                <a:effectLst/>
                <a:uLnTx/>
                <a:uFillTx/>
                <a:latin typeface="+mn-lt"/>
                <a:ea typeface="+mn-ea"/>
                <a:cs typeface="+mn-cs"/>
              </a:rPr>
              <a:t>     x1</a:t>
            </a:r>
            <a:r>
              <a:rPr kumimoji="1" lang="en-US" altLang="zh-CN" sz="3200" b="0" i="0" u="none" strike="noStrike" kern="0" cap="none" spc="0" normalizeH="0" baseline="0" noProof="1">
                <a:ln>
                  <a:noFill/>
                </a:ln>
                <a:solidFill>
                  <a:srgbClr val="FF0000"/>
                </a:solidFill>
                <a:effectLst/>
                <a:uLnTx/>
                <a:uFillTx/>
                <a:latin typeface="+mn-lt"/>
                <a:ea typeface="+mn-ea"/>
                <a:cs typeface="+mn-cs"/>
                <a:sym typeface="Symbol" panose="05050102010706020507" pitchFamily="18" charset="2"/>
              </a:rPr>
              <a:t>1, x22, x33.</a:t>
            </a:r>
            <a:endParaRPr kumimoji="1" lang="en-US" altLang="zh-CN" sz="3200" b="0" i="0" u="none" strike="noStrike" kern="0" cap="none" spc="0" normalizeH="0" baseline="0" noProof="1">
              <a:ln>
                <a:noFill/>
              </a:ln>
              <a:solidFill>
                <a:srgbClr val="FF0000"/>
              </a:solidFill>
              <a:effectLst/>
              <a:uLnTx/>
              <a:uFillTx/>
              <a:latin typeface="+mn-lt"/>
              <a:ea typeface="+mn-ea"/>
              <a:cs typeface="+mn-cs"/>
              <a:sym typeface="Symbol" panose="05050102010706020507" pitchFamily="18" charset="2"/>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en-US" sz="3200" b="0" i="0" u="none" strike="noStrike" kern="0" cap="none" spc="0" normalizeH="0" baseline="0" noProof="1">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sz="3200" b="1" i="0" u="none" strike="noStrike" kern="0" cap="none" spc="0" normalizeH="0" baseline="0" noProof="1">
                <a:ln>
                  <a:noFill/>
                </a:ln>
                <a:solidFill>
                  <a:schemeClr val="tx1"/>
                </a:solidFill>
                <a:effectLst/>
                <a:uLnTx/>
                <a:uFillTx/>
                <a:latin typeface="+mn-lt"/>
                <a:ea typeface="+mn-ea"/>
                <a:cs typeface="+mn-cs"/>
              </a:rPr>
              <a:t>    Solution</a:t>
            </a:r>
            <a:r>
              <a:rPr kumimoji="1" lang="en-US" sz="3200" b="0" i="0" u="none" strike="noStrike" kern="0" cap="none" spc="0" normalizeH="0" baseline="0" noProof="1">
                <a:ln>
                  <a:noFill/>
                </a:ln>
                <a:solidFill>
                  <a:schemeClr val="tx1"/>
                </a:solidFill>
                <a:effectLst/>
                <a:uLnTx/>
                <a:uFillTx/>
                <a:latin typeface="+mn-lt"/>
                <a:ea typeface="+mn-ea"/>
                <a:cs typeface="+mn-cs"/>
              </a:rPr>
              <a:t>: Each solution corresponds to a way to select </a:t>
            </a:r>
            <a:r>
              <a:rPr kumimoji="1" lang="en-US" sz="3200" b="0" i="0" u="none" strike="noStrike" kern="0" cap="none" spc="0" normalizeH="0" baseline="0" noProof="1">
                <a:ln>
                  <a:noFill/>
                </a:ln>
                <a:solidFill>
                  <a:schemeClr val="tx1"/>
                </a:solidFill>
                <a:effectLst/>
                <a:uLnTx/>
                <a:uFillTx/>
                <a:latin typeface="Cambria Math" panose="02040503050406030204" pitchFamily="18" charset="0"/>
                <a:ea typeface="Cambria Math" panose="02040503050406030204" pitchFamily="18" charset="0"/>
                <a:cs typeface="+mn-cs"/>
              </a:rPr>
              <a:t>11</a:t>
            </a:r>
            <a:r>
              <a:rPr kumimoji="1" lang="en-US" sz="3200" b="0" i="0" u="none" strike="noStrike" kern="0" cap="none" spc="0" normalizeH="0" baseline="0" noProof="1">
                <a:ln>
                  <a:noFill/>
                </a:ln>
                <a:solidFill>
                  <a:schemeClr val="tx1"/>
                </a:solidFill>
                <a:effectLst/>
                <a:uLnTx/>
                <a:uFillTx/>
                <a:latin typeface="+mn-lt"/>
                <a:ea typeface="+mn-ea"/>
                <a:cs typeface="+mn-cs"/>
              </a:rPr>
              <a:t> items from a set with three elements; </a:t>
            </a:r>
            <a:r>
              <a:rPr kumimoji="1" lang="en-US" sz="3200" b="0" i="1" u="none" strike="noStrike" kern="0" cap="none" spc="0" normalizeH="0" baseline="0" noProof="1">
                <a:ln>
                  <a:noFill/>
                </a:ln>
                <a:solidFill>
                  <a:schemeClr val="tx1"/>
                </a:solidFill>
                <a:effectLst/>
                <a:uLnTx/>
                <a:uFillTx/>
                <a:latin typeface="+mn-lt"/>
                <a:ea typeface="+mn-ea"/>
                <a:cs typeface="+mn-cs"/>
              </a:rPr>
              <a:t>x</a:t>
            </a:r>
            <a:r>
              <a:rPr kumimoji="1" lang="en-US" sz="3200" b="0" i="0" u="none" strike="noStrike" kern="0" cap="none" spc="0" normalizeH="0" baseline="-25000" noProof="1">
                <a:ln>
                  <a:noFill/>
                </a:ln>
                <a:solidFill>
                  <a:schemeClr val="tx1"/>
                </a:solidFill>
                <a:effectLst/>
                <a:uLnTx/>
                <a:uFillTx/>
                <a:latin typeface="Cambria Math" panose="02040503050406030204" pitchFamily="18" charset="0"/>
                <a:ea typeface="Cambria Math" panose="02040503050406030204" pitchFamily="18" charset="0"/>
                <a:cs typeface="+mn-cs"/>
              </a:rPr>
              <a:t>1</a:t>
            </a:r>
            <a:r>
              <a:rPr kumimoji="1" lang="en-US" sz="3200" b="0" i="0" u="none" strike="noStrike" kern="0" cap="none" spc="0" normalizeH="0" baseline="0" noProof="1">
                <a:ln>
                  <a:noFill/>
                </a:ln>
                <a:solidFill>
                  <a:schemeClr val="tx1"/>
                </a:solidFill>
                <a:effectLst/>
                <a:uLnTx/>
                <a:uFillTx/>
                <a:latin typeface="+mn-lt"/>
                <a:ea typeface="+mn-ea"/>
                <a:cs typeface="+mn-cs"/>
              </a:rPr>
              <a:t> elements of type one, </a:t>
            </a:r>
            <a:r>
              <a:rPr kumimoji="1" lang="en-US" sz="3200" b="0" i="1" u="none" strike="noStrike" kern="0" cap="none" spc="0" normalizeH="0" baseline="0" noProof="1">
                <a:ln>
                  <a:noFill/>
                </a:ln>
                <a:solidFill>
                  <a:schemeClr val="tx1"/>
                </a:solidFill>
                <a:effectLst/>
                <a:uLnTx/>
                <a:uFillTx/>
                <a:latin typeface="+mn-lt"/>
                <a:ea typeface="+mn-ea"/>
                <a:cs typeface="+mn-cs"/>
              </a:rPr>
              <a:t>x</a:t>
            </a:r>
            <a:r>
              <a:rPr kumimoji="1" lang="en-US" sz="3200" b="0" i="0" u="none" strike="noStrike" kern="0" cap="none" spc="0" normalizeH="0" baseline="-25000" noProof="1">
                <a:ln>
                  <a:noFill/>
                </a:ln>
                <a:solidFill>
                  <a:schemeClr val="tx1"/>
                </a:solidFill>
                <a:effectLst/>
                <a:uLnTx/>
                <a:uFillTx/>
                <a:latin typeface="Cambria Math" panose="02040503050406030204" pitchFamily="18" charset="0"/>
                <a:ea typeface="Cambria Math" panose="02040503050406030204" pitchFamily="18" charset="0"/>
                <a:cs typeface="+mn-cs"/>
              </a:rPr>
              <a:t>2</a:t>
            </a:r>
            <a:r>
              <a:rPr kumimoji="1" lang="en-US" sz="3200" b="0" i="0" u="none" strike="noStrike" kern="0" cap="none" spc="0" normalizeH="0" baseline="0" noProof="1">
                <a:ln>
                  <a:noFill/>
                </a:ln>
                <a:solidFill>
                  <a:schemeClr val="tx1"/>
                </a:solidFill>
                <a:effectLst/>
                <a:uLnTx/>
                <a:uFillTx/>
                <a:latin typeface="+mn-lt"/>
                <a:ea typeface="+mn-ea"/>
                <a:cs typeface="+mn-cs"/>
              </a:rPr>
              <a:t>  of type two, and </a:t>
            </a:r>
            <a:r>
              <a:rPr kumimoji="1" lang="en-US" sz="3200" b="0" i="1" u="none" strike="noStrike" kern="0" cap="none" spc="0" normalizeH="0" baseline="0" noProof="1">
                <a:ln>
                  <a:noFill/>
                </a:ln>
                <a:solidFill>
                  <a:schemeClr val="tx1"/>
                </a:solidFill>
                <a:effectLst/>
                <a:uLnTx/>
                <a:uFillTx/>
                <a:latin typeface="+mn-lt"/>
                <a:ea typeface="+mn-ea"/>
                <a:cs typeface="+mn-cs"/>
              </a:rPr>
              <a:t>x</a:t>
            </a:r>
            <a:r>
              <a:rPr kumimoji="1" lang="en-US" sz="3200" b="0" i="0" u="none" strike="noStrike" kern="0" cap="none" spc="0" normalizeH="0" baseline="-25000" noProof="1">
                <a:ln>
                  <a:noFill/>
                </a:ln>
                <a:solidFill>
                  <a:schemeClr val="tx1"/>
                </a:solidFill>
                <a:effectLst/>
                <a:uLnTx/>
                <a:uFillTx/>
                <a:latin typeface="Cambria Math" panose="02040503050406030204" pitchFamily="18" charset="0"/>
                <a:ea typeface="Cambria Math" panose="02040503050406030204" pitchFamily="18" charset="0"/>
                <a:cs typeface="+mn-cs"/>
              </a:rPr>
              <a:t>3</a:t>
            </a:r>
            <a:r>
              <a:rPr kumimoji="1" lang="en-US" sz="3200" b="0" i="0" u="none" strike="noStrike" kern="0" cap="none" spc="0" normalizeH="0" baseline="0" noProof="1">
                <a:ln>
                  <a:noFill/>
                </a:ln>
                <a:solidFill>
                  <a:schemeClr val="tx1"/>
                </a:solidFill>
                <a:effectLst/>
                <a:uLnTx/>
                <a:uFillTx/>
                <a:latin typeface="+mn-lt"/>
                <a:ea typeface="+mn-ea"/>
                <a:cs typeface="+mn-cs"/>
              </a:rPr>
              <a:t> of type three. </a:t>
            </a:r>
            <a:endParaRPr kumimoji="1" lang="en-US" sz="3200" b="0" i="0" u="none" strike="noStrike" kern="0" cap="none" spc="0" normalizeH="0" baseline="0" noProof="1">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sz="3200" b="0" i="0" u="none" strike="noStrike" kern="0" cap="none" spc="0" normalizeH="0" baseline="0" noProof="1">
                <a:ln>
                  <a:noFill/>
                </a:ln>
                <a:solidFill>
                  <a:schemeClr val="tx1"/>
                </a:solidFill>
                <a:effectLst/>
                <a:uLnTx/>
                <a:uFillTx/>
                <a:latin typeface="+mn-lt"/>
                <a:ea typeface="+mn-ea"/>
                <a:cs typeface="+mn-cs"/>
              </a:rPr>
              <a:t>   By Theorem </a:t>
            </a:r>
            <a:r>
              <a:rPr kumimoji="1" lang="en-US" sz="3200" b="0" i="0" u="none" strike="noStrike" kern="0" cap="none" spc="0" normalizeH="0" baseline="0" noProof="1">
                <a:ln>
                  <a:noFill/>
                </a:ln>
                <a:solidFill>
                  <a:schemeClr val="tx1"/>
                </a:solidFill>
                <a:effectLst/>
                <a:uLnTx/>
                <a:uFillTx/>
                <a:latin typeface="Cambria Math" panose="02040503050406030204" pitchFamily="18" charset="0"/>
                <a:ea typeface="Cambria Math" panose="02040503050406030204" pitchFamily="18" charset="0"/>
                <a:cs typeface="+mn-cs"/>
              </a:rPr>
              <a:t>2</a:t>
            </a:r>
            <a:r>
              <a:rPr kumimoji="1" lang="en-US" sz="3200" b="0" i="0" u="none" strike="noStrike" kern="0" cap="none" spc="0" normalizeH="0" baseline="0" noProof="1">
                <a:ln>
                  <a:noFill/>
                </a:ln>
                <a:solidFill>
                  <a:schemeClr val="tx1"/>
                </a:solidFill>
                <a:effectLst/>
                <a:uLnTx/>
                <a:uFillTx/>
                <a:latin typeface="+mn-lt"/>
                <a:ea typeface="+mn-ea"/>
                <a:cs typeface="+mn-cs"/>
              </a:rPr>
              <a:t> it follows that there are </a:t>
            </a:r>
            <a:endParaRPr kumimoji="1" lang="en-US" sz="3200" b="0" i="0" u="none" strike="noStrike" kern="0" cap="none" spc="0" normalizeH="0" baseline="0" noProof="1">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en-US" sz="3200" b="0" i="0" u="none" strike="noStrike" kern="0" cap="none" spc="0" normalizeH="0" baseline="0" noProof="1">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sz="3200" b="0" i="0" u="none" strike="noStrike" kern="0" cap="none" spc="0" normalizeH="0" baseline="0" noProof="1">
                <a:ln>
                  <a:noFill/>
                </a:ln>
                <a:solidFill>
                  <a:schemeClr val="tx1"/>
                </a:solidFill>
                <a:effectLst/>
                <a:uLnTx/>
                <a:uFillTx/>
                <a:latin typeface="+mn-lt"/>
                <a:ea typeface="+mn-ea"/>
                <a:cs typeface="+mn-cs"/>
              </a:rPr>
              <a:t>    solutions.</a:t>
            </a:r>
            <a:endParaRPr kumimoji="1" lang="en-US" sz="3200" b="0" i="0" u="none" strike="noStrike" kern="0" cap="none" spc="0" normalizeH="0" baseline="0" noProof="1">
              <a:ln>
                <a:noFill/>
              </a:ln>
              <a:solidFill>
                <a:schemeClr val="tx1"/>
              </a:solidFill>
              <a:effectLst/>
              <a:uLnTx/>
              <a:uFillTx/>
              <a:latin typeface="+mn-lt"/>
              <a:ea typeface="+mn-ea"/>
              <a:cs typeface="+mn-cs"/>
            </a:endParaRPr>
          </a:p>
        </p:txBody>
      </p:sp>
      <p:pic>
        <p:nvPicPr>
          <p:cNvPr id="60420" name="Picture 3" descr="addin_tmp.png"/>
          <p:cNvPicPr>
            <a:picLocks noChangeAspect="1"/>
          </p:cNvPicPr>
          <p:nvPr>
            <p:custDataLst>
              <p:tags r:id="rId1"/>
            </p:custDataLst>
          </p:nvPr>
        </p:nvPicPr>
        <p:blipFill>
          <a:blip r:embed="rId2"/>
          <a:stretch>
            <a:fillRect/>
          </a:stretch>
        </p:blipFill>
        <p:spPr>
          <a:xfrm>
            <a:off x="1828800" y="5373688"/>
            <a:ext cx="5894388" cy="306387"/>
          </a:xfrm>
          <a:prstGeom prst="rect">
            <a:avLst/>
          </a:prstGeom>
          <a:noFill/>
          <a:ln w="9525">
            <a:noFill/>
          </a:ln>
        </p:spPr>
      </p:pic>
      <p:sp>
        <p:nvSpPr>
          <p:cNvPr id="6" name="矩形 5"/>
          <p:cNvSpPr/>
          <p:nvPr/>
        </p:nvSpPr>
        <p:spPr>
          <a:xfrm>
            <a:off x="1692275" y="6010275"/>
            <a:ext cx="2608263"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mn-ea"/>
              </a:defRPr>
            </a:lvl5pPr>
          </a:lstStyle>
          <a:p>
            <a:pPr marL="0" lvl="0" indent="0">
              <a:spcBef>
                <a:spcPct val="0"/>
              </a:spcBef>
              <a:buClrTx/>
              <a:buSzTx/>
              <a:buFontTx/>
              <a:buNone/>
            </a:pPr>
            <a:r>
              <a:rPr lang="en-US" altLang="zh-CN" sz="2400" dirty="0">
                <a:solidFill>
                  <a:srgbClr val="FF0000"/>
                </a:solidFill>
              </a:rPr>
              <a:t>C(3+5-1,5)=C(7,2)</a:t>
            </a:r>
            <a:endParaRPr lang="en-US" altLang="zh-CN" sz="2400" dirty="0">
              <a:solidFill>
                <a:srgbClr val="FF0000"/>
              </a:solidFill>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charRg st="136" end="159"/>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Title 1"/>
          <p:cNvSpPr>
            <a:spLocks noGrp="1"/>
          </p:cNvSpPr>
          <p:nvPr>
            <p:ph type="title"/>
          </p:nvPr>
        </p:nvSpPr>
        <p:spPr>
          <a:xfrm>
            <a:off x="827405" y="43815"/>
            <a:ext cx="7981950" cy="1178560"/>
          </a:xfrm>
        </p:spPr>
        <p:txBody>
          <a:bodyPr vert="horz" wrap="square" lIns="91440" tIns="45720" rIns="91440" bIns="45720" anchor="b" anchorCtr="0"/>
          <a:p>
            <a:r>
              <a:rPr lang="en-US" altLang="zh-CN" dirty="0">
                <a:latin typeface="Times New Roman Regular" panose="02020503050405090304" charset="0"/>
                <a:cs typeface="Times New Roman Regular" panose="02020503050405090304" charset="0"/>
              </a:rPr>
              <a:t>Combinations with Repetition</a:t>
            </a:r>
            <a:endParaRPr lang="en-US" altLang="zh-CN" dirty="0">
              <a:latin typeface="Times New Roman Regular" panose="02020503050405090304" charset="0"/>
              <a:cs typeface="Times New Roman Regular" panose="02020503050405090304" charset="0"/>
            </a:endParaRPr>
          </a:p>
        </p:txBody>
      </p:sp>
      <p:sp>
        <p:nvSpPr>
          <p:cNvPr id="3" name="Content Placeholder 2"/>
          <p:cNvSpPr>
            <a:spLocks noGrp="1"/>
          </p:cNvSpPr>
          <p:nvPr>
            <p:ph idx="1"/>
          </p:nvPr>
        </p:nvSpPr>
        <p:spPr>
          <a:xfrm>
            <a:off x="388620" y="1397635"/>
            <a:ext cx="8566785" cy="4161155"/>
          </a:xfrm>
        </p:spPr>
        <p:txBody>
          <a:bodyPr vert="horz" wrap="square" lIns="91440" tIns="45720" rIns="91440" bIns="45720" anchor="t" anchorCtr="0"/>
          <a:p>
            <a:pPr>
              <a:buNone/>
            </a:pPr>
            <a:r>
              <a:rPr lang="en-US" altLang="zh-CN" dirty="0"/>
              <a:t>   </a:t>
            </a:r>
            <a:r>
              <a:rPr lang="en-US" altLang="zh-CN" b="1" dirty="0"/>
              <a:t>Example</a:t>
            </a:r>
            <a:r>
              <a:rPr lang="en-US" altLang="zh-CN" dirty="0"/>
              <a:t>: Suppose that a cookie shop has four different kinds of cookies. How many different ways can six cookies be chosen? </a:t>
            </a:r>
            <a:endParaRPr lang="en-US" altLang="zh-CN" dirty="0"/>
          </a:p>
          <a:p>
            <a:pPr>
              <a:buNone/>
            </a:pPr>
            <a:r>
              <a:rPr lang="en-US" altLang="zh-CN" b="1" dirty="0"/>
              <a:t>   Solution</a:t>
            </a:r>
            <a:r>
              <a:rPr lang="en-US" altLang="zh-CN" dirty="0"/>
              <a:t>: The number of ways to choose six cookies is the number of  </a:t>
            </a:r>
            <a:r>
              <a:rPr lang="en-US" altLang="zh-CN" dirty="0">
                <a:latin typeface="Cambria Math" panose="02040503050406030204" pitchFamily="18" charset="0"/>
              </a:rPr>
              <a:t>6</a:t>
            </a:r>
            <a:r>
              <a:rPr lang="en-US" altLang="zh-CN" dirty="0"/>
              <a:t>-combinations of a set with four elements. By Theorem </a:t>
            </a:r>
            <a:r>
              <a:rPr lang="en-US" altLang="zh-CN" dirty="0">
                <a:latin typeface="Cambria Math" panose="02040503050406030204" pitchFamily="18" charset="0"/>
              </a:rPr>
              <a:t>2 </a:t>
            </a:r>
            <a:endParaRPr lang="en-US" altLang="zh-CN" dirty="0">
              <a:latin typeface="Cambria Math" panose="02040503050406030204" pitchFamily="18" charset="0"/>
            </a:endParaRPr>
          </a:p>
          <a:p>
            <a:pPr>
              <a:buNone/>
            </a:pPr>
            <a:endParaRPr lang="en-US" altLang="zh-CN" dirty="0">
              <a:latin typeface="Cambria Math" panose="02040503050406030204" pitchFamily="18" charset="0"/>
            </a:endParaRPr>
          </a:p>
          <a:p>
            <a:pPr>
              <a:buNone/>
            </a:pPr>
            <a:r>
              <a:rPr lang="en-US" altLang="zh-CN" dirty="0">
                <a:latin typeface="Cambria Math" panose="02040503050406030204" pitchFamily="18" charset="0"/>
              </a:rPr>
              <a:t>    is the number of ways to choose six cookies from the four kinds. </a:t>
            </a:r>
            <a:endParaRPr lang="en-US" altLang="zh-CN" dirty="0">
              <a:latin typeface="Cambria Math" panose="02040503050406030204" pitchFamily="18" charset="0"/>
            </a:endParaRPr>
          </a:p>
          <a:p>
            <a:pPr>
              <a:buNone/>
            </a:pPr>
            <a:r>
              <a:rPr lang="en-US" altLang="zh-CN" dirty="0">
                <a:latin typeface="Cambria Math" panose="02040503050406030204" pitchFamily="18" charset="0"/>
              </a:rPr>
              <a:t>             </a:t>
            </a:r>
            <a:endParaRPr lang="en-US" altLang="zh-CN" dirty="0">
              <a:latin typeface="Cambria Math" panose="02040503050406030204" pitchFamily="18" charset="0"/>
            </a:endParaRPr>
          </a:p>
          <a:p>
            <a:pPr>
              <a:buNone/>
            </a:pPr>
            <a:endParaRPr lang="en-US" altLang="zh-CN" dirty="0"/>
          </a:p>
        </p:txBody>
      </p:sp>
      <p:pic>
        <p:nvPicPr>
          <p:cNvPr id="4" name="Picture 3" descr="addin_tmp.png"/>
          <p:cNvPicPr>
            <a:picLocks noChangeAspect="1"/>
          </p:cNvPicPr>
          <p:nvPr>
            <p:custDataLst>
              <p:tags r:id="rId1"/>
            </p:custDataLst>
          </p:nvPr>
        </p:nvPicPr>
        <p:blipFill>
          <a:blip r:embed="rId2"/>
          <a:stretch>
            <a:fillRect/>
          </a:stretch>
        </p:blipFill>
        <p:spPr>
          <a:xfrm>
            <a:off x="2627630" y="4655185"/>
            <a:ext cx="4032885" cy="38798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charRg st="128" end="25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charRg st="259" end="32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Title 1"/>
          <p:cNvSpPr>
            <a:spLocks noGrp="1"/>
          </p:cNvSpPr>
          <p:nvPr>
            <p:ph type="title"/>
          </p:nvPr>
        </p:nvSpPr>
        <p:spPr>
          <a:xfrm>
            <a:off x="899795" y="188595"/>
            <a:ext cx="8229600" cy="1047750"/>
          </a:xfrm>
        </p:spPr>
        <p:txBody>
          <a:bodyPr vert="horz" wrap="square" lIns="91440" tIns="45720" rIns="91440" bIns="45720" anchor="b" anchorCtr="0"/>
          <a:p>
            <a:r>
              <a:rPr lang="en-US" altLang="zh-CN" sz="2800" dirty="0">
                <a:latin typeface="Times New Roman Regular" panose="02020503050405090304" charset="0"/>
                <a:cs typeface="Times New Roman Regular" panose="02020503050405090304" charset="0"/>
              </a:rPr>
              <a:t>Summarizing the Formulas for Counting Permutations and Combinations with and without Repetition</a:t>
            </a:r>
            <a:endParaRPr lang="en-US" altLang="zh-CN" sz="2800" dirty="0">
              <a:latin typeface="Times New Roman Regular" panose="02020503050405090304" charset="0"/>
              <a:cs typeface="Times New Roman Regular" panose="02020503050405090304" charset="0"/>
            </a:endParaRPr>
          </a:p>
        </p:txBody>
      </p:sp>
      <p:pic>
        <p:nvPicPr>
          <p:cNvPr id="62467" name="Content Placeholder 3" descr="table34.jpg"/>
          <p:cNvPicPr>
            <a:picLocks noGrp="1" noChangeAspect="1"/>
          </p:cNvPicPr>
          <p:nvPr>
            <p:ph idx="1"/>
          </p:nvPr>
        </p:nvPicPr>
        <p:blipFill>
          <a:blip r:embed="rId1"/>
          <a:srcRect/>
          <a:stretch>
            <a:fillRect/>
          </a:stretch>
        </p:blipFill>
        <p:spPr>
          <a:xfrm>
            <a:off x="1342390" y="1936115"/>
            <a:ext cx="6756400" cy="4215130"/>
          </a:xfr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43940" y="116840"/>
            <a:ext cx="8002905" cy="1198245"/>
          </a:xfrm>
        </p:spPr>
        <p:txBody>
          <a:bodyPr vert="horz" wrap="square" lIns="91440" tIns="45720" rIns="91440" bIns="45720" numCol="1" anchor="b" anchorCtr="0" compatLnSpc="1">
            <a:normAutofit fontScale="90000"/>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sz="4400" b="0" i="0" u="none" strike="noStrike" kern="0" cap="none" spc="0" normalizeH="0" baseline="0" noProof="1">
                <a:ln>
                  <a:noFill/>
                </a:ln>
                <a:solidFill>
                  <a:schemeClr val="tx2"/>
                </a:solidFill>
                <a:effectLst/>
                <a:uLnTx/>
                <a:uFillTx/>
                <a:latin typeface="+mj-lt"/>
                <a:ea typeface="+mj-ea"/>
                <a:cs typeface="+mj-cs"/>
              </a:rPr>
              <a:t>Permutations with Indistinguishable Objects</a:t>
            </a:r>
            <a:endParaRPr kumimoji="1" lang="en-US" sz="4400" b="0" i="0" u="none" strike="noStrike" kern="0" cap="none" spc="0" normalizeH="0" baseline="0" noProof="1">
              <a:ln>
                <a:noFill/>
              </a:ln>
              <a:solidFill>
                <a:schemeClr val="tx2"/>
              </a:solidFill>
              <a:effectLst/>
              <a:uLnTx/>
              <a:uFillTx/>
              <a:latin typeface="+mj-lt"/>
              <a:ea typeface="+mj-ea"/>
              <a:cs typeface="+mj-cs"/>
            </a:endParaRPr>
          </a:p>
        </p:txBody>
      </p:sp>
      <p:sp>
        <p:nvSpPr>
          <p:cNvPr id="63491" name="Content Placeholder 2"/>
          <p:cNvSpPr>
            <a:spLocks noGrp="1"/>
          </p:cNvSpPr>
          <p:nvPr>
            <p:ph idx="1"/>
          </p:nvPr>
        </p:nvSpPr>
        <p:spPr>
          <a:xfrm>
            <a:off x="54610" y="1309370"/>
            <a:ext cx="9305290" cy="4135120"/>
          </a:xfrm>
        </p:spPr>
        <p:txBody>
          <a:bodyPr vert="horz" wrap="square" lIns="91440" tIns="45720" rIns="91440" bIns="45720" anchor="t" anchorCtr="0"/>
          <a:p>
            <a:pPr>
              <a:lnSpc>
                <a:spcPct val="80000"/>
              </a:lnSpc>
              <a:buNone/>
            </a:pPr>
            <a:r>
              <a:rPr lang="en-US" altLang="zh-CN" sz="2000" b="1" dirty="0"/>
              <a:t>    </a:t>
            </a:r>
            <a:r>
              <a:rPr lang="en-US" altLang="zh-CN" sz="2400" b="1" dirty="0"/>
              <a:t> </a:t>
            </a:r>
            <a:r>
              <a:rPr lang="en-US" altLang="zh-CN" sz="2800" b="1" dirty="0"/>
              <a:t>Example</a:t>
            </a:r>
            <a:r>
              <a:rPr lang="en-US" altLang="zh-CN" sz="2800" dirty="0"/>
              <a:t>: How many different strings can be made by reordering the letters of the word </a:t>
            </a:r>
            <a:r>
              <a:rPr lang="en-US" altLang="zh-CN" sz="2800" i="1" dirty="0"/>
              <a:t>SUCCESS</a:t>
            </a:r>
            <a:r>
              <a:rPr lang="en-US" altLang="zh-CN" sz="2800" dirty="0"/>
              <a:t>.</a:t>
            </a:r>
            <a:endParaRPr lang="en-US" altLang="zh-CN" sz="2800" dirty="0"/>
          </a:p>
          <a:p>
            <a:pPr>
              <a:lnSpc>
                <a:spcPct val="80000"/>
              </a:lnSpc>
              <a:buNone/>
            </a:pPr>
            <a:r>
              <a:rPr lang="en-US" altLang="zh-CN" sz="2800" b="1" dirty="0"/>
              <a:t>     Solution</a:t>
            </a:r>
            <a:r>
              <a:rPr lang="en-US" altLang="zh-CN" sz="2800" dirty="0"/>
              <a:t>: There are seven possible positions for the three Ss, two Cs, one U, and one E. </a:t>
            </a:r>
            <a:endParaRPr lang="en-US" altLang="zh-CN" sz="2800" dirty="0"/>
          </a:p>
          <a:p>
            <a:pPr lvl="1">
              <a:lnSpc>
                <a:spcPct val="80000"/>
              </a:lnSpc>
            </a:pPr>
            <a:r>
              <a:rPr lang="en-US" altLang="zh-CN" sz="2400" dirty="0"/>
              <a:t>The three  Ss can be placed in </a:t>
            </a:r>
            <a:r>
              <a:rPr lang="en-US" altLang="zh-CN" sz="2400" i="1" dirty="0"/>
              <a:t>C</a:t>
            </a:r>
            <a:r>
              <a:rPr lang="en-US" altLang="zh-CN" sz="2400" dirty="0"/>
              <a:t>(</a:t>
            </a:r>
            <a:r>
              <a:rPr lang="en-US" altLang="zh-CN" sz="2400" dirty="0">
                <a:latin typeface="Cambria Math" panose="02040503050406030204" pitchFamily="18" charset="0"/>
              </a:rPr>
              <a:t>7</a:t>
            </a:r>
            <a:r>
              <a:rPr lang="en-US" altLang="zh-CN" sz="2400" dirty="0"/>
              <a:t>,</a:t>
            </a:r>
            <a:r>
              <a:rPr lang="en-US" altLang="zh-CN" sz="2400" dirty="0">
                <a:latin typeface="Cambria Math" panose="02040503050406030204" pitchFamily="18" charset="0"/>
              </a:rPr>
              <a:t>3</a:t>
            </a:r>
            <a:r>
              <a:rPr lang="en-US" altLang="zh-CN" sz="2400" dirty="0"/>
              <a:t>) different ways, leaving four positions free.</a:t>
            </a:r>
            <a:endParaRPr lang="en-US" altLang="zh-CN" sz="2400" dirty="0"/>
          </a:p>
          <a:p>
            <a:pPr lvl="1">
              <a:lnSpc>
                <a:spcPct val="80000"/>
              </a:lnSpc>
            </a:pPr>
            <a:r>
              <a:rPr lang="en-US" altLang="zh-CN" sz="2400" dirty="0"/>
              <a:t>The two  Cs can be placed in </a:t>
            </a:r>
            <a:r>
              <a:rPr lang="en-US" altLang="zh-CN" sz="2400" i="1" dirty="0"/>
              <a:t>C</a:t>
            </a:r>
            <a:r>
              <a:rPr lang="en-US" altLang="zh-CN" sz="2400" dirty="0"/>
              <a:t>(</a:t>
            </a:r>
            <a:r>
              <a:rPr lang="en-US" altLang="zh-CN" sz="2400" dirty="0">
                <a:latin typeface="Cambria Math" panose="02040503050406030204" pitchFamily="18" charset="0"/>
              </a:rPr>
              <a:t>4</a:t>
            </a:r>
            <a:r>
              <a:rPr lang="en-US" altLang="zh-CN" sz="2400" dirty="0"/>
              <a:t>,</a:t>
            </a:r>
            <a:r>
              <a:rPr lang="en-US" altLang="zh-CN" sz="2400" dirty="0">
                <a:latin typeface="Cambria Math" panose="02040503050406030204" pitchFamily="18" charset="0"/>
              </a:rPr>
              <a:t>2</a:t>
            </a:r>
            <a:r>
              <a:rPr lang="en-US" altLang="zh-CN" sz="2400" dirty="0"/>
              <a:t>) different ways, leaving two positions free. </a:t>
            </a:r>
            <a:endParaRPr lang="en-US" altLang="zh-CN" sz="2400" dirty="0"/>
          </a:p>
          <a:p>
            <a:pPr lvl="1">
              <a:lnSpc>
                <a:spcPct val="80000"/>
              </a:lnSpc>
            </a:pPr>
            <a:r>
              <a:rPr lang="en-US" altLang="zh-CN" sz="2400" dirty="0"/>
              <a:t>The U can be placed in </a:t>
            </a:r>
            <a:r>
              <a:rPr lang="en-US" altLang="zh-CN" sz="2400" i="1" dirty="0"/>
              <a:t>C</a:t>
            </a:r>
            <a:r>
              <a:rPr lang="en-US" altLang="zh-CN" sz="2400" dirty="0"/>
              <a:t>(</a:t>
            </a:r>
            <a:r>
              <a:rPr lang="en-US" altLang="zh-CN" sz="2400" dirty="0">
                <a:latin typeface="Cambria Math" panose="02040503050406030204" pitchFamily="18" charset="0"/>
              </a:rPr>
              <a:t>2</a:t>
            </a:r>
            <a:r>
              <a:rPr lang="en-US" altLang="zh-CN" sz="2400" dirty="0"/>
              <a:t>,</a:t>
            </a:r>
            <a:r>
              <a:rPr lang="en-US" altLang="zh-CN" sz="2400" dirty="0">
                <a:latin typeface="Cambria Math" panose="02040503050406030204" pitchFamily="18" charset="0"/>
              </a:rPr>
              <a:t>1</a:t>
            </a:r>
            <a:r>
              <a:rPr lang="en-US" altLang="zh-CN" sz="2400" dirty="0"/>
              <a:t>) different ways, leaving one position free. </a:t>
            </a:r>
            <a:endParaRPr lang="en-US" altLang="zh-CN" sz="2400" dirty="0"/>
          </a:p>
          <a:p>
            <a:pPr lvl="1">
              <a:lnSpc>
                <a:spcPct val="80000"/>
              </a:lnSpc>
            </a:pPr>
            <a:r>
              <a:rPr lang="en-US" altLang="zh-CN" sz="2400" dirty="0"/>
              <a:t>The E can be placed in </a:t>
            </a:r>
            <a:r>
              <a:rPr lang="en-US" altLang="zh-CN" sz="2400" i="1" dirty="0"/>
              <a:t>C</a:t>
            </a:r>
            <a:r>
              <a:rPr lang="en-US" altLang="zh-CN" sz="2400" dirty="0"/>
              <a:t>(</a:t>
            </a:r>
            <a:r>
              <a:rPr lang="en-US" altLang="zh-CN" sz="2400" dirty="0">
                <a:latin typeface="Cambria Math" panose="02040503050406030204" pitchFamily="18" charset="0"/>
              </a:rPr>
              <a:t>1</a:t>
            </a:r>
            <a:r>
              <a:rPr lang="en-US" altLang="zh-CN" sz="2400" dirty="0"/>
              <a:t>,</a:t>
            </a:r>
            <a:r>
              <a:rPr lang="en-US" altLang="zh-CN" sz="2400" dirty="0">
                <a:latin typeface="Cambria Math" panose="02040503050406030204" pitchFamily="18" charset="0"/>
              </a:rPr>
              <a:t>1</a:t>
            </a:r>
            <a:r>
              <a:rPr lang="en-US" altLang="zh-CN" sz="2400" dirty="0"/>
              <a:t>) way.</a:t>
            </a:r>
            <a:endParaRPr lang="en-US" altLang="zh-CN" sz="2400" dirty="0"/>
          </a:p>
          <a:p>
            <a:pPr>
              <a:lnSpc>
                <a:spcPct val="80000"/>
              </a:lnSpc>
              <a:buNone/>
            </a:pPr>
            <a:r>
              <a:rPr lang="en-US" altLang="zh-CN" sz="2800" dirty="0"/>
              <a:t>     By the product rule, the number of different strings is:</a:t>
            </a:r>
            <a:endParaRPr lang="en-US" altLang="zh-CN" sz="2800" dirty="0"/>
          </a:p>
          <a:p>
            <a:pPr>
              <a:lnSpc>
                <a:spcPct val="80000"/>
              </a:lnSpc>
              <a:buNone/>
            </a:pPr>
            <a:endParaRPr lang="en-US" altLang="zh-CN" sz="2800" dirty="0"/>
          </a:p>
          <a:p>
            <a:pPr>
              <a:lnSpc>
                <a:spcPct val="80000"/>
              </a:lnSpc>
              <a:buNone/>
            </a:pPr>
            <a:endParaRPr lang="en-US" altLang="zh-CN" sz="2400" dirty="0"/>
          </a:p>
          <a:p>
            <a:pPr>
              <a:lnSpc>
                <a:spcPct val="80000"/>
              </a:lnSpc>
              <a:buNone/>
            </a:pPr>
            <a:r>
              <a:rPr lang="en-US" altLang="zh-CN" sz="2400" dirty="0"/>
              <a:t>    </a:t>
            </a:r>
            <a:r>
              <a:rPr lang="en-US" altLang="zh-CN" sz="2400" i="1" dirty="0"/>
              <a:t>The reasoning can be generalized to the following theorem. </a:t>
            </a:r>
            <a:r>
              <a:rPr lang="en-US" altLang="zh-CN" sz="2400" i="1" dirty="0">
                <a:latin typeface="Cambria Math" panose="02040503050406030204" pitchFamily="18" charset="0"/>
              </a:rPr>
              <a:t>→</a:t>
            </a:r>
            <a:endParaRPr lang="en-US" altLang="zh-CN" sz="2400" i="1" dirty="0">
              <a:latin typeface="Cambria Math" panose="02040503050406030204" pitchFamily="18" charset="0"/>
            </a:endParaRPr>
          </a:p>
        </p:txBody>
      </p:sp>
      <p:pic>
        <p:nvPicPr>
          <p:cNvPr id="63492" name="Picture 6" descr="addin_tmp.png"/>
          <p:cNvPicPr>
            <a:picLocks noChangeAspect="1"/>
          </p:cNvPicPr>
          <p:nvPr>
            <p:custDataLst>
              <p:tags r:id="rId1"/>
            </p:custDataLst>
          </p:nvPr>
        </p:nvPicPr>
        <p:blipFill>
          <a:blip r:embed="rId2"/>
          <a:stretch>
            <a:fillRect/>
          </a:stretch>
        </p:blipFill>
        <p:spPr>
          <a:xfrm>
            <a:off x="444500" y="5702935"/>
            <a:ext cx="8493125" cy="374650"/>
          </a:xfrm>
          <a:prstGeom prst="rect">
            <a:avLst/>
          </a:prstGeom>
          <a:noFill/>
          <a:ln w="9525">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灯片编号占位符 4"/>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64515" name="日期占位符 5"/>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64516" name="页脚占位符 6"/>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64517" name="Rectangle 5"/>
          <p:cNvSpPr>
            <a:spLocks noGrp="1"/>
          </p:cNvSpPr>
          <p:nvPr>
            <p:ph type="title"/>
          </p:nvPr>
        </p:nvSpPr>
        <p:spPr>
          <a:xfrm>
            <a:off x="827088" y="187008"/>
            <a:ext cx="8569325" cy="1143000"/>
          </a:xfrm>
        </p:spPr>
        <p:txBody>
          <a:bodyPr vert="horz" wrap="square" lIns="91440" tIns="45720" rIns="91440" bIns="45720" anchor="b" anchorCtr="0"/>
          <a:p>
            <a:pPr eaLnBrk="1" hangingPunct="1"/>
            <a:r>
              <a:rPr lang="en-US" altLang="zh-CN" sz="4000" dirty="0">
                <a:latin typeface="Times New Roman Regular" panose="02020503050405090304" charset="0"/>
                <a:cs typeface="Times New Roman Regular" panose="02020503050405090304" charset="0"/>
              </a:rPr>
              <a:t>Permutations with Indistinguishable Objects</a:t>
            </a:r>
            <a:endParaRPr lang="en-US" altLang="zh-CN" sz="4000" dirty="0">
              <a:latin typeface="Times New Roman Regular" panose="02020503050405090304" charset="0"/>
              <a:cs typeface="Times New Roman Regular" panose="02020503050405090304" charset="0"/>
            </a:endParaRPr>
          </a:p>
        </p:txBody>
      </p:sp>
      <p:sp>
        <p:nvSpPr>
          <p:cNvPr id="64518" name="Rectangle 3"/>
          <p:cNvSpPr>
            <a:spLocks noGrp="1"/>
          </p:cNvSpPr>
          <p:nvPr>
            <p:ph type="body" sz="half" idx="1"/>
          </p:nvPr>
        </p:nvSpPr>
        <p:spPr>
          <a:xfrm>
            <a:off x="971550" y="1371600"/>
            <a:ext cx="7790180" cy="4610100"/>
          </a:xfrm>
        </p:spPr>
        <p:txBody>
          <a:bodyPr vert="horz" wrap="square" lIns="91440" tIns="45720" rIns="91440" bIns="45720" anchor="t" anchorCtr="0"/>
          <a:p>
            <a:pPr eaLnBrk="1" hangingPunct="1">
              <a:buClr>
                <a:schemeClr val="folHlink"/>
              </a:buClr>
              <a:buSzPct val="60000"/>
              <a:buFont typeface="Wingdings" panose="05000000000000000000" pitchFamily="2" charset="2"/>
            </a:pPr>
            <a:r>
              <a:rPr lang="en-US" altLang="zh-CN" dirty="0"/>
              <a:t>Theorem 3</a:t>
            </a:r>
            <a:endParaRPr lang="en-US" altLang="zh-CN" dirty="0"/>
          </a:p>
          <a:p>
            <a:pPr lvl="1" eaLnBrk="1" hangingPunct="1">
              <a:buClr>
                <a:schemeClr val="hlink"/>
              </a:buClr>
              <a:buSzPct val="55000"/>
              <a:buFont typeface="Wingdings" panose="05000000000000000000" pitchFamily="2" charset="2"/>
            </a:pPr>
            <a:r>
              <a:rPr lang="en-US" altLang="zh-CN" sz="3200" dirty="0">
                <a:latin typeface="Times New Roman" panose="02020503050405090304" pitchFamily="18" charset="0"/>
              </a:rPr>
              <a:t>The number of different permutations of </a:t>
            </a:r>
            <a:r>
              <a:rPr lang="en-US" altLang="zh-CN" sz="3200" i="1" dirty="0">
                <a:latin typeface="Times New Roman" panose="02020503050405090304" pitchFamily="18" charset="0"/>
              </a:rPr>
              <a:t>n</a:t>
            </a:r>
            <a:r>
              <a:rPr lang="en-US" altLang="zh-CN" sz="3200" dirty="0">
                <a:latin typeface="Times New Roman" panose="02020503050405090304" pitchFamily="18" charset="0"/>
              </a:rPr>
              <a:t> objects, where there are </a:t>
            </a:r>
            <a:r>
              <a:rPr lang="en-US" altLang="zh-CN" sz="3200" i="1" dirty="0">
                <a:latin typeface="Times New Roman" panose="02020503050405090304" pitchFamily="18" charset="0"/>
              </a:rPr>
              <a:t>n</a:t>
            </a:r>
            <a:r>
              <a:rPr lang="en-US" altLang="zh-CN" sz="3200" baseline="-25000" dirty="0">
                <a:latin typeface="Times New Roman" panose="02020503050405090304" pitchFamily="18" charset="0"/>
              </a:rPr>
              <a:t>l</a:t>
            </a:r>
            <a:r>
              <a:rPr lang="en-US" altLang="zh-CN" sz="3200" dirty="0">
                <a:latin typeface="Times New Roman" panose="02020503050405090304" pitchFamily="18" charset="0"/>
              </a:rPr>
              <a:t> indistinguishable objects of type 1, </a:t>
            </a:r>
            <a:r>
              <a:rPr lang="en-US" altLang="zh-CN" sz="3200" i="1" dirty="0">
                <a:latin typeface="Times New Roman" panose="02020503050405090304" pitchFamily="18" charset="0"/>
              </a:rPr>
              <a:t>n</a:t>
            </a:r>
            <a:r>
              <a:rPr lang="en-US" altLang="zh-CN" sz="3200" baseline="-25000" dirty="0">
                <a:latin typeface="Times New Roman" panose="02020503050405090304" pitchFamily="18" charset="0"/>
              </a:rPr>
              <a:t>2</a:t>
            </a:r>
            <a:r>
              <a:rPr lang="en-US" altLang="zh-CN" sz="3200" dirty="0">
                <a:latin typeface="Times New Roman" panose="02020503050405090304" pitchFamily="18" charset="0"/>
              </a:rPr>
              <a:t> indistinguishable objects of type 2,…and </a:t>
            </a:r>
            <a:r>
              <a:rPr lang="en-US" altLang="zh-CN" sz="3200" i="1" dirty="0">
                <a:latin typeface="Times New Roman" panose="02020503050405090304" pitchFamily="18" charset="0"/>
              </a:rPr>
              <a:t>n</a:t>
            </a:r>
            <a:r>
              <a:rPr lang="en-US" altLang="zh-CN" sz="3200" i="1" baseline="-25000" dirty="0">
                <a:latin typeface="Times New Roman" panose="02020503050405090304" pitchFamily="18" charset="0"/>
              </a:rPr>
              <a:t>k</a:t>
            </a:r>
            <a:r>
              <a:rPr lang="en-US" altLang="zh-CN" sz="3200" dirty="0">
                <a:latin typeface="Times New Roman" panose="02020503050405090304" pitchFamily="18" charset="0"/>
              </a:rPr>
              <a:t> indistinguishable objects of type </a:t>
            </a:r>
            <a:r>
              <a:rPr lang="en-US" altLang="zh-CN" sz="3200" i="1" dirty="0">
                <a:latin typeface="Times New Roman" panose="02020503050405090304" pitchFamily="18" charset="0"/>
              </a:rPr>
              <a:t>k</a:t>
            </a:r>
            <a:r>
              <a:rPr lang="en-US" altLang="zh-CN" sz="3200" dirty="0">
                <a:latin typeface="Times New Roman" panose="02020503050405090304" pitchFamily="18" charset="0"/>
              </a:rPr>
              <a:t>, is </a:t>
            </a:r>
            <a:endParaRPr lang="zh-CN" altLang="en-US" sz="3200" dirty="0">
              <a:latin typeface="Times New Roman" panose="02020503050405090304" pitchFamily="18" charset="0"/>
            </a:endParaRPr>
          </a:p>
          <a:p>
            <a:pPr eaLnBrk="1" hangingPunct="1">
              <a:buClr>
                <a:schemeClr val="folHlink"/>
              </a:buClr>
              <a:buSzPct val="60000"/>
              <a:buFont typeface="Wingdings" panose="05000000000000000000" pitchFamily="2" charset="2"/>
            </a:pPr>
            <a:endParaRPr lang="zh-CN" altLang="en-US" sz="3200" dirty="0">
              <a:latin typeface="Times New Roman" panose="02020503050405090304" pitchFamily="18" charset="0"/>
            </a:endParaRPr>
          </a:p>
        </p:txBody>
      </p:sp>
      <p:graphicFrame>
        <p:nvGraphicFramePr>
          <p:cNvPr id="64519" name="Object 4"/>
          <p:cNvGraphicFramePr>
            <a:graphicFrameLocks noGrp="1" noChangeAspect="1"/>
          </p:cNvGraphicFramePr>
          <p:nvPr>
            <p:ph sz="half" idx="2"/>
          </p:nvPr>
        </p:nvGraphicFramePr>
        <p:xfrm>
          <a:off x="1907540" y="4653280"/>
          <a:ext cx="2084705" cy="1161415"/>
        </p:xfrm>
        <a:graphic>
          <a:graphicData uri="http://schemas.openxmlformats.org/presentationml/2006/ole">
            <mc:AlternateContent xmlns:mc="http://schemas.openxmlformats.org/markup-compatibility/2006">
              <mc:Choice xmlns:v="urn:schemas-microsoft-com:vml" Requires="v">
                <p:oleObj spid="_x0000_s3076" name="" r:id="rId1" imgW="774065" imgH="431800" progId="Equation.DSMT4">
                  <p:embed/>
                </p:oleObj>
              </mc:Choice>
              <mc:Fallback>
                <p:oleObj name="" r:id="rId1" imgW="774065" imgH="431800" progId="Equation.DSMT4">
                  <p:embed/>
                  <p:pic>
                    <p:nvPicPr>
                      <p:cNvPr id="0" name="图片 3075"/>
                      <p:cNvPicPr/>
                      <p:nvPr/>
                    </p:nvPicPr>
                    <p:blipFill>
                      <a:blip r:embed="rId2"/>
                      <a:srcRect/>
                      <a:stretch>
                        <a:fillRect/>
                      </a:stretch>
                    </p:blipFill>
                    <p:spPr>
                      <a:xfrm>
                        <a:off x="1907540" y="4653280"/>
                        <a:ext cx="2084705" cy="1161415"/>
                      </a:xfrm>
                      <a:prstGeom prst="rect">
                        <a:avLst/>
                      </a:prstGeom>
                      <a:noFill/>
                      <a:ln w="38100">
                        <a:miter/>
                      </a:ln>
                    </p:spPr>
                  </p:pic>
                </p:oleObj>
              </mc:Fallback>
            </mc:AlternateContent>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Title 1"/>
          <p:cNvSpPr>
            <a:spLocks noGrp="1"/>
          </p:cNvSpPr>
          <p:nvPr>
            <p:ph type="title"/>
          </p:nvPr>
        </p:nvSpPr>
        <p:spPr/>
        <p:txBody>
          <a:bodyPr vert="horz" wrap="square" lIns="91440" tIns="45720" rIns="91440" bIns="45720" anchor="b" anchorCtr="0"/>
          <a:p>
            <a:endParaRPr lang="en-US" altLang="zh-CN" dirty="0"/>
          </a:p>
        </p:txBody>
      </p:sp>
      <p:sp>
        <p:nvSpPr>
          <p:cNvPr id="65539" name="Content Placeholder 2"/>
          <p:cNvSpPr>
            <a:spLocks noGrp="1"/>
          </p:cNvSpPr>
          <p:nvPr>
            <p:ph idx="1"/>
          </p:nvPr>
        </p:nvSpPr>
        <p:spPr>
          <a:xfrm>
            <a:off x="180975" y="1320483"/>
            <a:ext cx="8928100" cy="4216400"/>
          </a:xfrm>
        </p:spPr>
        <p:txBody>
          <a:bodyPr vert="horz" wrap="square" lIns="91440" tIns="45720" rIns="91440" bIns="45720" anchor="t" anchorCtr="0"/>
          <a:p>
            <a:pPr>
              <a:lnSpc>
                <a:spcPct val="80000"/>
              </a:lnSpc>
            </a:pPr>
            <a:endParaRPr lang="en-US" altLang="zh-CN" sz="2200" dirty="0"/>
          </a:p>
          <a:p>
            <a:pPr>
              <a:lnSpc>
                <a:spcPct val="80000"/>
              </a:lnSpc>
              <a:buNone/>
            </a:pPr>
            <a:r>
              <a:rPr lang="en-US" altLang="zh-CN" sz="2200" b="1" dirty="0"/>
              <a:t>  </a:t>
            </a:r>
            <a:r>
              <a:rPr lang="en-US" altLang="zh-CN" sz="2400" b="1" dirty="0"/>
              <a:t>  Proof</a:t>
            </a:r>
            <a:r>
              <a:rPr lang="en-US" altLang="zh-CN" sz="2400" dirty="0"/>
              <a:t>: By the product rule the total number of permutations is: </a:t>
            </a:r>
            <a:endParaRPr lang="en-US" altLang="zh-CN" sz="2400" dirty="0"/>
          </a:p>
          <a:p>
            <a:pPr>
              <a:lnSpc>
                <a:spcPct val="80000"/>
              </a:lnSpc>
              <a:buNone/>
            </a:pPr>
            <a:r>
              <a:rPr lang="en-US" altLang="zh-CN" sz="2400" dirty="0"/>
              <a:t>       </a:t>
            </a:r>
            <a:r>
              <a:rPr lang="en-US" altLang="zh-CN" sz="2400" i="1" dirty="0"/>
              <a:t>C</a:t>
            </a:r>
            <a:r>
              <a:rPr lang="en-US" altLang="zh-CN" sz="2400" dirty="0"/>
              <a:t>(</a:t>
            </a:r>
            <a:r>
              <a:rPr lang="en-US" altLang="zh-CN" sz="2400" i="1" dirty="0"/>
              <a:t>n</a:t>
            </a:r>
            <a:r>
              <a:rPr lang="en-US" altLang="zh-CN" sz="2400" dirty="0"/>
              <a:t>, </a:t>
            </a:r>
            <a:r>
              <a:rPr lang="en-US" altLang="zh-CN" sz="2400" i="1" dirty="0"/>
              <a:t>n</a:t>
            </a:r>
            <a:r>
              <a:rPr lang="en-US" altLang="zh-CN" sz="2400" baseline="-25000" dirty="0">
                <a:latin typeface="Cambria Math" panose="02040503050406030204" pitchFamily="18" charset="0"/>
              </a:rPr>
              <a:t>1</a:t>
            </a:r>
            <a:r>
              <a:rPr lang="en-US" altLang="zh-CN" sz="2400" dirty="0"/>
              <a:t> )</a:t>
            </a:r>
            <a:r>
              <a:rPr lang="en-US" altLang="zh-CN" sz="2400" i="1" dirty="0"/>
              <a:t> C</a:t>
            </a:r>
            <a:r>
              <a:rPr lang="en-US" altLang="zh-CN" sz="2400" dirty="0"/>
              <a:t>(</a:t>
            </a:r>
            <a:r>
              <a:rPr lang="en-US" altLang="zh-CN" sz="2400" i="1" dirty="0"/>
              <a:t>n</a:t>
            </a:r>
            <a:r>
              <a:rPr lang="en-US" altLang="zh-CN" sz="2400" i="1" dirty="0">
                <a:latin typeface="Cambria Math" panose="02040503050406030204" pitchFamily="18" charset="0"/>
              </a:rPr>
              <a:t> −</a:t>
            </a:r>
            <a:r>
              <a:rPr lang="en-US" altLang="zh-CN" sz="2400" i="1" dirty="0"/>
              <a:t> n</a:t>
            </a:r>
            <a:r>
              <a:rPr lang="en-US" altLang="zh-CN" sz="2400" baseline="-25000" dirty="0">
                <a:latin typeface="Cambria Math" panose="02040503050406030204" pitchFamily="18" charset="0"/>
              </a:rPr>
              <a:t>1</a:t>
            </a:r>
            <a:r>
              <a:rPr lang="en-US" altLang="zh-CN" sz="2400" dirty="0"/>
              <a:t>, </a:t>
            </a:r>
            <a:r>
              <a:rPr lang="en-US" altLang="zh-CN" sz="2400" i="1" dirty="0"/>
              <a:t>n</a:t>
            </a:r>
            <a:r>
              <a:rPr lang="en-US" altLang="zh-CN" sz="2400" baseline="-25000" dirty="0">
                <a:latin typeface="Cambria Math" panose="02040503050406030204" pitchFamily="18" charset="0"/>
              </a:rPr>
              <a:t>2</a:t>
            </a:r>
            <a:r>
              <a:rPr lang="en-US" altLang="zh-CN" sz="2400" dirty="0"/>
              <a:t> ) </a:t>
            </a:r>
            <a:r>
              <a:rPr lang="en-US" altLang="zh-CN" sz="2400" i="1" dirty="0">
                <a:latin typeface="Cambria Math" panose="02040503050406030204" pitchFamily="18" charset="0"/>
              </a:rPr>
              <a:t>∙∙∙ </a:t>
            </a:r>
            <a:r>
              <a:rPr lang="en-US" altLang="zh-CN" sz="2400" i="1" dirty="0"/>
              <a:t>C</a:t>
            </a:r>
            <a:r>
              <a:rPr lang="en-US" altLang="zh-CN" sz="2400" dirty="0"/>
              <a:t>(</a:t>
            </a:r>
            <a:r>
              <a:rPr lang="en-US" altLang="zh-CN" sz="2400" i="1" dirty="0"/>
              <a:t>n </a:t>
            </a:r>
            <a:r>
              <a:rPr lang="en-US" altLang="zh-CN" sz="2400" i="1" dirty="0">
                <a:latin typeface="Cambria Math" panose="02040503050406030204" pitchFamily="18" charset="0"/>
              </a:rPr>
              <a:t>− </a:t>
            </a:r>
            <a:r>
              <a:rPr lang="en-US" altLang="zh-CN" sz="2400" i="1" dirty="0"/>
              <a:t>n</a:t>
            </a:r>
            <a:r>
              <a:rPr lang="en-US" altLang="zh-CN" sz="2400" baseline="-25000" dirty="0">
                <a:latin typeface="Cambria Math" panose="02040503050406030204" pitchFamily="18" charset="0"/>
              </a:rPr>
              <a:t>1</a:t>
            </a:r>
            <a:r>
              <a:rPr lang="en-US" altLang="zh-CN" sz="2400" i="1" dirty="0"/>
              <a:t> </a:t>
            </a:r>
            <a:r>
              <a:rPr lang="en-US" altLang="zh-CN" sz="2400" i="1" dirty="0">
                <a:latin typeface="Cambria Math" panose="02040503050406030204" pitchFamily="18" charset="0"/>
              </a:rPr>
              <a:t>−</a:t>
            </a:r>
            <a:r>
              <a:rPr lang="en-US" altLang="zh-CN" sz="2400" dirty="0"/>
              <a:t> </a:t>
            </a:r>
            <a:r>
              <a:rPr lang="en-US" altLang="zh-CN" sz="2400" i="1" dirty="0"/>
              <a:t>n</a:t>
            </a:r>
            <a:r>
              <a:rPr lang="en-US" altLang="zh-CN" sz="2400" baseline="-25000" dirty="0">
                <a:latin typeface="Cambria Math" panose="02040503050406030204" pitchFamily="18" charset="0"/>
              </a:rPr>
              <a:t>2</a:t>
            </a:r>
            <a:r>
              <a:rPr lang="en-US" altLang="zh-CN" sz="2400" i="1" dirty="0"/>
              <a:t> </a:t>
            </a:r>
            <a:r>
              <a:rPr lang="en-US" altLang="zh-CN" sz="2400" i="1" dirty="0">
                <a:latin typeface="Cambria Math" panose="02040503050406030204" pitchFamily="18" charset="0"/>
              </a:rPr>
              <a:t>− ∙∙∙ − </a:t>
            </a:r>
            <a:r>
              <a:rPr lang="en-US" altLang="zh-CN" sz="2400" i="1" dirty="0"/>
              <a:t>n</a:t>
            </a:r>
            <a:r>
              <a:rPr lang="en-US" altLang="zh-CN" sz="2400" i="1" baseline="-25000" dirty="0"/>
              <a:t>k</a:t>
            </a:r>
            <a:r>
              <a:rPr lang="en-US" altLang="zh-CN" sz="2400" dirty="0"/>
              <a:t>, </a:t>
            </a:r>
            <a:r>
              <a:rPr lang="en-US" altLang="zh-CN" sz="2400" i="1" dirty="0"/>
              <a:t>n</a:t>
            </a:r>
            <a:r>
              <a:rPr lang="en-US" altLang="zh-CN" sz="2400" i="1" baseline="-25000" dirty="0"/>
              <a:t>k</a:t>
            </a:r>
            <a:r>
              <a:rPr lang="en-US" altLang="zh-CN" sz="2400" dirty="0"/>
              <a:t>)   since:</a:t>
            </a:r>
            <a:endParaRPr lang="en-US" altLang="zh-CN" sz="2400" dirty="0"/>
          </a:p>
          <a:p>
            <a:pPr lvl="1">
              <a:lnSpc>
                <a:spcPct val="80000"/>
              </a:lnSpc>
            </a:pPr>
            <a:r>
              <a:rPr lang="en-US" altLang="zh-CN" sz="2400" dirty="0"/>
              <a:t>The </a:t>
            </a:r>
            <a:r>
              <a:rPr lang="en-US" altLang="zh-CN" sz="2400" i="1" dirty="0"/>
              <a:t>n</a:t>
            </a:r>
            <a:r>
              <a:rPr lang="en-US" altLang="zh-CN" sz="2400" baseline="-25000" dirty="0">
                <a:latin typeface="Cambria Math" panose="02040503050406030204" pitchFamily="18" charset="0"/>
              </a:rPr>
              <a:t>1 </a:t>
            </a:r>
            <a:r>
              <a:rPr lang="en-US" altLang="zh-CN" sz="2400" dirty="0"/>
              <a:t>objects of type one can be placed in the </a:t>
            </a:r>
            <a:r>
              <a:rPr lang="en-US" altLang="zh-CN" sz="2400" i="1" dirty="0"/>
              <a:t>n</a:t>
            </a:r>
            <a:r>
              <a:rPr lang="en-US" altLang="zh-CN" sz="2400" dirty="0"/>
              <a:t> positions in </a:t>
            </a:r>
            <a:r>
              <a:rPr lang="en-US" altLang="zh-CN" sz="2400" i="1" dirty="0"/>
              <a:t>C</a:t>
            </a:r>
            <a:r>
              <a:rPr lang="en-US" altLang="zh-CN" sz="2400" dirty="0"/>
              <a:t>(</a:t>
            </a:r>
            <a:r>
              <a:rPr lang="en-US" altLang="zh-CN" sz="2400" i="1" dirty="0"/>
              <a:t>n</a:t>
            </a:r>
            <a:r>
              <a:rPr lang="en-US" altLang="zh-CN" sz="2400" dirty="0"/>
              <a:t>, </a:t>
            </a:r>
            <a:r>
              <a:rPr lang="en-US" altLang="zh-CN" sz="2400" i="1" dirty="0"/>
              <a:t>n</a:t>
            </a:r>
            <a:r>
              <a:rPr lang="en-US" altLang="zh-CN" sz="2400" baseline="-25000" dirty="0">
                <a:latin typeface="Cambria Math" panose="02040503050406030204" pitchFamily="18" charset="0"/>
              </a:rPr>
              <a:t>1</a:t>
            </a:r>
            <a:r>
              <a:rPr lang="en-US" altLang="zh-CN" sz="2400" dirty="0"/>
              <a:t> ) ways, leaving  </a:t>
            </a:r>
            <a:r>
              <a:rPr lang="en-US" altLang="zh-CN" sz="2400" i="1" dirty="0"/>
              <a:t>n </a:t>
            </a:r>
            <a:r>
              <a:rPr lang="en-US" altLang="zh-CN" sz="2400" i="1" dirty="0">
                <a:latin typeface="Cambria Math" panose="02040503050406030204" pitchFamily="18" charset="0"/>
              </a:rPr>
              <a:t>− </a:t>
            </a:r>
            <a:r>
              <a:rPr lang="en-US" altLang="zh-CN" sz="2400" i="1" dirty="0"/>
              <a:t>n</a:t>
            </a:r>
            <a:r>
              <a:rPr lang="en-US" altLang="zh-CN" sz="2400" baseline="-25000" dirty="0">
                <a:latin typeface="Cambria Math" panose="02040503050406030204" pitchFamily="18" charset="0"/>
              </a:rPr>
              <a:t>1</a:t>
            </a:r>
            <a:r>
              <a:rPr lang="en-US" altLang="zh-CN" sz="2400" dirty="0">
                <a:latin typeface="Cambria" panose="02040503050406030204" pitchFamily="18" charset="0"/>
              </a:rPr>
              <a:t> </a:t>
            </a:r>
            <a:r>
              <a:rPr lang="en-US" altLang="zh-CN" sz="2400" dirty="0"/>
              <a:t>positions. </a:t>
            </a:r>
            <a:endParaRPr lang="en-US" altLang="zh-CN" sz="2400" dirty="0"/>
          </a:p>
          <a:p>
            <a:pPr lvl="1">
              <a:lnSpc>
                <a:spcPct val="80000"/>
              </a:lnSpc>
            </a:pPr>
            <a:r>
              <a:rPr lang="en-US" altLang="zh-CN" sz="2400" dirty="0"/>
              <a:t>Then the</a:t>
            </a:r>
            <a:r>
              <a:rPr lang="en-US" altLang="zh-CN" sz="2400" i="1" dirty="0"/>
              <a:t> n</a:t>
            </a:r>
            <a:r>
              <a:rPr lang="en-US" altLang="zh-CN" sz="2400" baseline="-25000" dirty="0">
                <a:latin typeface="Cambria Math" panose="02040503050406030204" pitchFamily="18" charset="0"/>
              </a:rPr>
              <a:t>2 </a:t>
            </a:r>
            <a:r>
              <a:rPr lang="en-US" altLang="zh-CN" sz="2400" dirty="0"/>
              <a:t>objects of type two can be placed in the </a:t>
            </a:r>
            <a:r>
              <a:rPr lang="en-US" altLang="zh-CN" sz="2400" i="1" dirty="0"/>
              <a:t>n </a:t>
            </a:r>
            <a:r>
              <a:rPr lang="en-US" altLang="zh-CN" sz="2400" i="1" dirty="0">
                <a:latin typeface="Cambria Math" panose="02040503050406030204" pitchFamily="18" charset="0"/>
              </a:rPr>
              <a:t>−</a:t>
            </a:r>
            <a:r>
              <a:rPr lang="en-US" altLang="zh-CN" sz="2400" dirty="0"/>
              <a:t> </a:t>
            </a:r>
            <a:r>
              <a:rPr lang="en-US" altLang="zh-CN" sz="2400" i="1" dirty="0"/>
              <a:t>n</a:t>
            </a:r>
            <a:r>
              <a:rPr lang="en-US" altLang="zh-CN" sz="2400" baseline="-25000" dirty="0">
                <a:latin typeface="Cambria Math" panose="02040503050406030204" pitchFamily="18" charset="0"/>
              </a:rPr>
              <a:t>1 </a:t>
            </a:r>
            <a:r>
              <a:rPr lang="en-US" altLang="zh-CN" sz="2400" dirty="0"/>
              <a:t>positions in  </a:t>
            </a:r>
            <a:r>
              <a:rPr lang="en-US" altLang="zh-CN" sz="2400" i="1" dirty="0"/>
              <a:t>C</a:t>
            </a:r>
            <a:r>
              <a:rPr lang="en-US" altLang="zh-CN" sz="2400" dirty="0"/>
              <a:t>(</a:t>
            </a:r>
            <a:r>
              <a:rPr lang="en-US" altLang="zh-CN" sz="2400" i="1" dirty="0"/>
              <a:t>n </a:t>
            </a:r>
            <a:r>
              <a:rPr lang="en-US" altLang="zh-CN" sz="2400" i="1" dirty="0">
                <a:latin typeface="Cambria Math" panose="02040503050406030204" pitchFamily="18" charset="0"/>
              </a:rPr>
              <a:t>− </a:t>
            </a:r>
            <a:r>
              <a:rPr lang="en-US" altLang="zh-CN" sz="2400" i="1" dirty="0"/>
              <a:t>n</a:t>
            </a:r>
            <a:r>
              <a:rPr lang="en-US" altLang="zh-CN" sz="2400" baseline="-25000" dirty="0">
                <a:latin typeface="Cambria Math" panose="02040503050406030204" pitchFamily="18" charset="0"/>
              </a:rPr>
              <a:t>1</a:t>
            </a:r>
            <a:r>
              <a:rPr lang="en-US" altLang="zh-CN" sz="2400" dirty="0"/>
              <a:t>, </a:t>
            </a:r>
            <a:r>
              <a:rPr lang="en-US" altLang="zh-CN" sz="2400" i="1" dirty="0"/>
              <a:t>n</a:t>
            </a:r>
            <a:r>
              <a:rPr lang="en-US" altLang="zh-CN" sz="2400" baseline="-25000" dirty="0">
                <a:latin typeface="Cambria Math" panose="02040503050406030204" pitchFamily="18" charset="0"/>
              </a:rPr>
              <a:t>2</a:t>
            </a:r>
            <a:r>
              <a:rPr lang="en-US" altLang="zh-CN" sz="2400" dirty="0"/>
              <a:t> ) ways, leaving </a:t>
            </a:r>
            <a:r>
              <a:rPr lang="en-US" altLang="zh-CN" sz="2400" i="1" dirty="0"/>
              <a:t>n</a:t>
            </a:r>
            <a:r>
              <a:rPr lang="en-US" altLang="zh-CN" sz="2400" i="1" dirty="0">
                <a:latin typeface="Cambria Math" panose="02040503050406030204" pitchFamily="18" charset="0"/>
              </a:rPr>
              <a:t> −</a:t>
            </a:r>
            <a:r>
              <a:rPr lang="en-US" altLang="zh-CN" sz="2400" i="1" dirty="0"/>
              <a:t> n</a:t>
            </a:r>
            <a:r>
              <a:rPr lang="en-US" altLang="zh-CN" sz="2400" baseline="-25000" dirty="0">
                <a:latin typeface="Cambria Math" panose="02040503050406030204" pitchFamily="18" charset="0"/>
              </a:rPr>
              <a:t>1</a:t>
            </a:r>
            <a:r>
              <a:rPr lang="en-US" altLang="zh-CN" sz="2400" i="1" dirty="0"/>
              <a:t> </a:t>
            </a:r>
            <a:r>
              <a:rPr lang="en-US" altLang="zh-CN" sz="2400" i="1" dirty="0">
                <a:latin typeface="Cambria Math" panose="02040503050406030204" pitchFamily="18" charset="0"/>
              </a:rPr>
              <a:t>−</a:t>
            </a:r>
            <a:r>
              <a:rPr lang="en-US" altLang="zh-CN" sz="2400" dirty="0"/>
              <a:t> </a:t>
            </a:r>
            <a:r>
              <a:rPr lang="en-US" altLang="zh-CN" sz="2400" i="1" dirty="0"/>
              <a:t>n</a:t>
            </a:r>
            <a:r>
              <a:rPr lang="en-US" altLang="zh-CN" sz="2400" baseline="-25000" dirty="0">
                <a:latin typeface="Cambria Math" panose="02040503050406030204" pitchFamily="18" charset="0"/>
              </a:rPr>
              <a:t>2</a:t>
            </a:r>
            <a:r>
              <a:rPr lang="en-US" altLang="zh-CN" sz="2400" dirty="0">
                <a:latin typeface="Cambria" panose="02040503050406030204" pitchFamily="18" charset="0"/>
              </a:rPr>
              <a:t> </a:t>
            </a:r>
            <a:r>
              <a:rPr lang="en-US" altLang="zh-CN" sz="2400" dirty="0"/>
              <a:t>positions. </a:t>
            </a:r>
            <a:endParaRPr lang="en-US" altLang="zh-CN" sz="2400" dirty="0"/>
          </a:p>
          <a:p>
            <a:pPr lvl="1">
              <a:lnSpc>
                <a:spcPct val="80000"/>
              </a:lnSpc>
            </a:pPr>
            <a:r>
              <a:rPr lang="en-US" altLang="zh-CN" sz="2400" dirty="0"/>
              <a:t>Continue in this fashion, until </a:t>
            </a:r>
            <a:r>
              <a:rPr lang="en-US" altLang="zh-CN" sz="2400" i="1" dirty="0"/>
              <a:t>n</a:t>
            </a:r>
            <a:r>
              <a:rPr lang="en-US" altLang="zh-CN" sz="2400" i="1" baseline="-25000" dirty="0"/>
              <a:t>k</a:t>
            </a:r>
            <a:r>
              <a:rPr lang="en-US" altLang="zh-CN" sz="2400" baseline="-25000" dirty="0"/>
              <a:t> </a:t>
            </a:r>
            <a:r>
              <a:rPr lang="en-US" altLang="zh-CN" sz="2400" dirty="0"/>
              <a:t>objects of type </a:t>
            </a:r>
            <a:r>
              <a:rPr lang="en-US" altLang="zh-CN" sz="2400" i="1" dirty="0"/>
              <a:t>k</a:t>
            </a:r>
            <a:r>
              <a:rPr lang="en-US" altLang="zh-CN" sz="2400" dirty="0"/>
              <a:t> are placed in </a:t>
            </a:r>
            <a:endParaRPr lang="en-US" altLang="zh-CN" sz="2400" dirty="0"/>
          </a:p>
          <a:p>
            <a:pPr lvl="1">
              <a:lnSpc>
                <a:spcPct val="80000"/>
              </a:lnSpc>
              <a:buNone/>
            </a:pPr>
            <a:r>
              <a:rPr lang="en-US" altLang="zh-CN" sz="2400" dirty="0"/>
              <a:t> </a:t>
            </a:r>
            <a:r>
              <a:rPr lang="en-US" altLang="zh-CN" sz="2400" i="1" dirty="0"/>
              <a:t>C</a:t>
            </a:r>
            <a:r>
              <a:rPr lang="en-US" altLang="zh-CN" sz="2400" dirty="0"/>
              <a:t>(</a:t>
            </a:r>
            <a:r>
              <a:rPr lang="en-US" altLang="zh-CN" sz="2400" i="1" dirty="0"/>
              <a:t>n </a:t>
            </a:r>
            <a:r>
              <a:rPr lang="en-US" altLang="zh-CN" sz="2400" i="1" dirty="0">
                <a:latin typeface="Cambria Math" panose="02040503050406030204" pitchFamily="18" charset="0"/>
              </a:rPr>
              <a:t>− </a:t>
            </a:r>
            <a:r>
              <a:rPr lang="en-US" altLang="zh-CN" sz="2400" i="1" dirty="0"/>
              <a:t>n</a:t>
            </a:r>
            <a:r>
              <a:rPr lang="en-US" altLang="zh-CN" sz="2400" baseline="-25000" dirty="0">
                <a:latin typeface="Cambria Math" panose="02040503050406030204" pitchFamily="18" charset="0"/>
              </a:rPr>
              <a:t>1</a:t>
            </a:r>
            <a:r>
              <a:rPr lang="en-US" altLang="zh-CN" sz="2400" i="1" dirty="0"/>
              <a:t> </a:t>
            </a:r>
            <a:r>
              <a:rPr lang="en-US" altLang="zh-CN" sz="2400" i="1" dirty="0">
                <a:latin typeface="Cambria Math" panose="02040503050406030204" pitchFamily="18" charset="0"/>
              </a:rPr>
              <a:t>−</a:t>
            </a:r>
            <a:r>
              <a:rPr lang="en-US" altLang="zh-CN" sz="2400" dirty="0"/>
              <a:t> </a:t>
            </a:r>
            <a:r>
              <a:rPr lang="en-US" altLang="zh-CN" sz="2400" i="1" dirty="0"/>
              <a:t>n</a:t>
            </a:r>
            <a:r>
              <a:rPr lang="en-US" altLang="zh-CN" sz="2400" baseline="-25000" dirty="0">
                <a:latin typeface="Cambria Math" panose="02040503050406030204" pitchFamily="18" charset="0"/>
              </a:rPr>
              <a:t>2</a:t>
            </a:r>
            <a:r>
              <a:rPr lang="en-US" altLang="zh-CN" sz="2400" i="1" dirty="0"/>
              <a:t> </a:t>
            </a:r>
            <a:r>
              <a:rPr lang="en-US" altLang="zh-CN" sz="2400" i="1" dirty="0">
                <a:latin typeface="Cambria Math" panose="02040503050406030204" pitchFamily="18" charset="0"/>
              </a:rPr>
              <a:t>− ∙∙∙ − </a:t>
            </a:r>
            <a:r>
              <a:rPr lang="en-US" altLang="zh-CN" sz="2400" i="1" dirty="0"/>
              <a:t>n</a:t>
            </a:r>
            <a:r>
              <a:rPr lang="en-US" altLang="zh-CN" sz="2400" i="1" baseline="-25000" dirty="0"/>
              <a:t>k</a:t>
            </a:r>
            <a:r>
              <a:rPr lang="en-US" altLang="zh-CN" sz="2400" dirty="0"/>
              <a:t>, </a:t>
            </a:r>
            <a:r>
              <a:rPr lang="en-US" altLang="zh-CN" sz="2400" i="1" dirty="0"/>
              <a:t>n</a:t>
            </a:r>
            <a:r>
              <a:rPr lang="en-US" altLang="zh-CN" sz="2400" i="1" baseline="-25000" dirty="0"/>
              <a:t>k</a:t>
            </a:r>
            <a:r>
              <a:rPr lang="en-US" altLang="zh-CN" sz="2400" dirty="0"/>
              <a:t>) ways. </a:t>
            </a:r>
            <a:endParaRPr lang="en-US" altLang="zh-CN" sz="2400" dirty="0"/>
          </a:p>
          <a:p>
            <a:pPr>
              <a:lnSpc>
                <a:spcPct val="80000"/>
              </a:lnSpc>
              <a:buNone/>
            </a:pPr>
            <a:r>
              <a:rPr lang="en-US" altLang="zh-CN" sz="2400" dirty="0"/>
              <a:t>    The product can be manipulated into the desired result as follows:</a:t>
            </a:r>
            <a:endParaRPr lang="en-US" altLang="zh-CN" sz="2400" dirty="0"/>
          </a:p>
          <a:p>
            <a:pPr>
              <a:lnSpc>
                <a:spcPct val="80000"/>
              </a:lnSpc>
              <a:buNone/>
            </a:pPr>
            <a:endParaRPr lang="en-US" altLang="zh-CN" sz="2000" dirty="0"/>
          </a:p>
          <a:p>
            <a:pPr>
              <a:lnSpc>
                <a:spcPct val="80000"/>
              </a:lnSpc>
              <a:buNone/>
            </a:pPr>
            <a:endParaRPr lang="en-US" altLang="zh-CN" sz="2200" dirty="0"/>
          </a:p>
          <a:p>
            <a:pPr>
              <a:lnSpc>
                <a:spcPct val="80000"/>
              </a:lnSpc>
              <a:buNone/>
            </a:pPr>
            <a:r>
              <a:rPr lang="en-US" altLang="zh-CN" sz="2200" dirty="0"/>
              <a:t>   </a:t>
            </a:r>
            <a:endParaRPr lang="en-US" altLang="zh-CN" sz="2200" dirty="0"/>
          </a:p>
          <a:p>
            <a:pPr>
              <a:lnSpc>
                <a:spcPct val="80000"/>
              </a:lnSpc>
            </a:pPr>
            <a:endParaRPr lang="en-US" altLang="zh-CN" sz="2200" dirty="0"/>
          </a:p>
          <a:p>
            <a:pPr>
              <a:lnSpc>
                <a:spcPct val="80000"/>
              </a:lnSpc>
            </a:pPr>
            <a:endParaRPr lang="en-US" altLang="zh-CN" sz="2200" dirty="0"/>
          </a:p>
          <a:p>
            <a:pPr>
              <a:lnSpc>
                <a:spcPct val="80000"/>
              </a:lnSpc>
            </a:pPr>
            <a:endParaRPr lang="en-US" altLang="zh-CN" sz="2200" dirty="0"/>
          </a:p>
          <a:p>
            <a:pPr>
              <a:lnSpc>
                <a:spcPct val="80000"/>
              </a:lnSpc>
              <a:buNone/>
            </a:pPr>
            <a:endParaRPr lang="en-US" altLang="zh-CN" sz="2200" dirty="0"/>
          </a:p>
          <a:p>
            <a:pPr>
              <a:lnSpc>
                <a:spcPct val="80000"/>
              </a:lnSpc>
              <a:buNone/>
            </a:pPr>
            <a:endParaRPr lang="en-US" altLang="zh-CN" sz="2200" dirty="0"/>
          </a:p>
        </p:txBody>
      </p:sp>
      <p:pic>
        <p:nvPicPr>
          <p:cNvPr id="65540" name="Picture 9" descr="addin_tmp.png"/>
          <p:cNvPicPr>
            <a:picLocks noChangeAspect="1"/>
          </p:cNvPicPr>
          <p:nvPr>
            <p:custDataLst>
              <p:tags r:id="rId1"/>
            </p:custDataLst>
          </p:nvPr>
        </p:nvPicPr>
        <p:blipFill>
          <a:blip r:embed="rId2"/>
          <a:stretch>
            <a:fillRect/>
          </a:stretch>
        </p:blipFill>
        <p:spPr>
          <a:xfrm>
            <a:off x="35560" y="5229225"/>
            <a:ext cx="9118600" cy="577215"/>
          </a:xfrm>
          <a:prstGeom prst="rect">
            <a:avLst/>
          </a:prstGeom>
          <a:noFill/>
          <a:ln w="9525">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66563"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66564"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66565" name="Rectangle 2"/>
          <p:cNvSpPr>
            <a:spLocks noGrp="1"/>
          </p:cNvSpPr>
          <p:nvPr>
            <p:ph type="title"/>
          </p:nvPr>
        </p:nvSpPr>
        <p:spPr/>
        <p:txBody>
          <a:bodyPr vert="horz" wrap="square" lIns="91440" tIns="45720" rIns="91440" bIns="45720" anchor="b" anchorCtr="0"/>
          <a:p>
            <a:pPr eaLnBrk="1" hangingPunct="1"/>
            <a:endParaRPr lang="zh-CN" altLang="en-US" dirty="0"/>
          </a:p>
        </p:txBody>
      </p:sp>
      <p:sp>
        <p:nvSpPr>
          <p:cNvPr id="66566" name="Rectangle 3"/>
          <p:cNvSpPr>
            <a:spLocks noGrp="1"/>
          </p:cNvSpPr>
          <p:nvPr>
            <p:ph idx="1"/>
          </p:nvPr>
        </p:nvSpPr>
        <p:spPr/>
        <p:txBody>
          <a:bodyPr vert="horz" wrap="square" lIns="91440" tIns="45720" rIns="91440" bIns="45720" anchor="t" anchorCtr="0"/>
          <a:p>
            <a:pPr eaLnBrk="1" hangingPunct="1"/>
            <a:r>
              <a:rPr lang="en-US" altLang="zh-CN" dirty="0"/>
              <a:t>Example 6</a:t>
            </a:r>
            <a:endParaRPr lang="en-US" altLang="zh-CN" dirty="0"/>
          </a:p>
          <a:p>
            <a:pPr eaLnBrk="1" hangingPunct="1"/>
            <a:r>
              <a:rPr lang="en-US" altLang="zh-CN" dirty="0"/>
              <a:t>What is the value of </a:t>
            </a:r>
            <a:r>
              <a:rPr lang="en-US" altLang="zh-CN" i="1" dirty="0"/>
              <a:t>k</a:t>
            </a:r>
            <a:r>
              <a:rPr lang="en-US" altLang="zh-CN" dirty="0"/>
              <a:t> after the followimg pseudocode has been executed?</a:t>
            </a:r>
            <a:endParaRPr lang="en-US" altLang="zh-CN" dirty="0"/>
          </a:p>
        </p:txBody>
      </p:sp>
      <p:pic>
        <p:nvPicPr>
          <p:cNvPr id="66567" name="图片 1"/>
          <p:cNvPicPr>
            <a:picLocks noChangeAspect="1"/>
          </p:cNvPicPr>
          <p:nvPr/>
        </p:nvPicPr>
        <p:blipFill>
          <a:blip r:embed="rId1"/>
          <a:stretch>
            <a:fillRect/>
          </a:stretch>
        </p:blipFill>
        <p:spPr>
          <a:xfrm>
            <a:off x="422275" y="3207385"/>
            <a:ext cx="3881755" cy="3061335"/>
          </a:xfrm>
          <a:prstGeom prst="rect">
            <a:avLst/>
          </a:prstGeom>
          <a:noFill/>
          <a:ln w="9525">
            <a:noFill/>
          </a:ln>
        </p:spPr>
      </p:pic>
      <p:pic>
        <p:nvPicPr>
          <p:cNvPr id="66568" name="图片 2"/>
          <p:cNvPicPr>
            <a:picLocks noChangeAspect="1"/>
          </p:cNvPicPr>
          <p:nvPr/>
        </p:nvPicPr>
        <p:blipFill>
          <a:blip r:embed="rId2"/>
          <a:stretch>
            <a:fillRect/>
          </a:stretch>
        </p:blipFill>
        <p:spPr>
          <a:xfrm>
            <a:off x="4304030" y="3716655"/>
            <a:ext cx="4142740" cy="535305"/>
          </a:xfrm>
          <a:prstGeom prst="rect">
            <a:avLst/>
          </a:prstGeom>
          <a:noFill/>
          <a:ln w="9525">
            <a:noFill/>
          </a:ln>
        </p:spPr>
      </p:pic>
      <p:pic>
        <p:nvPicPr>
          <p:cNvPr id="66569" name="图片 3"/>
          <p:cNvPicPr>
            <a:picLocks noChangeAspect="1"/>
          </p:cNvPicPr>
          <p:nvPr/>
        </p:nvPicPr>
        <p:blipFill>
          <a:blip r:embed="rId3"/>
          <a:stretch>
            <a:fillRect/>
          </a:stretch>
        </p:blipFill>
        <p:spPr>
          <a:xfrm>
            <a:off x="5046980" y="4690110"/>
            <a:ext cx="2741295" cy="498475"/>
          </a:xfrm>
          <a:prstGeom prst="rect">
            <a:avLst/>
          </a:prstGeom>
          <a:noFill/>
          <a:ln w="9525">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150938" y="115253"/>
            <a:ext cx="7793038" cy="1143000"/>
          </a:xfrm>
        </p:spPr>
        <p:txBody>
          <a:bodyPr vert="horz" wrap="square" lIns="91440" tIns="45720" rIns="91440" bIns="45720" numCol="1" anchor="b" anchorCtr="0" compatLnSpc="1">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sz="4400" b="0" i="0" u="none" strike="noStrike" kern="0" cap="none" spc="0" normalizeH="0" baseline="0" noProof="1">
                <a:ln>
                  <a:noFill/>
                </a:ln>
                <a:solidFill>
                  <a:schemeClr val="tx2"/>
                </a:solidFill>
                <a:effectLst/>
                <a:uLnTx/>
                <a:uFillTx/>
                <a:latin typeface="Times New Roman Regular" panose="02020503050405090304" charset="0"/>
                <a:ea typeface="+mj-ea"/>
                <a:cs typeface="Times New Roman Regular" panose="02020503050405090304" charset="0"/>
              </a:rPr>
              <a:t>Distributing Objects into Boxes</a:t>
            </a:r>
            <a:endParaRPr kumimoji="1" lang="en-US" sz="4400" b="0" i="0" u="none" strike="noStrike" kern="0" cap="none" spc="0" normalizeH="0" baseline="0" noProof="1">
              <a:ln>
                <a:noFill/>
              </a:ln>
              <a:solidFill>
                <a:schemeClr val="tx2"/>
              </a:solidFill>
              <a:effectLst/>
              <a:uLnTx/>
              <a:uFillTx/>
              <a:latin typeface="Times New Roman Regular" panose="02020503050405090304" charset="0"/>
              <a:ea typeface="+mj-ea"/>
              <a:cs typeface="Times New Roman Regular" panose="02020503050405090304" charset="0"/>
            </a:endParaRPr>
          </a:p>
        </p:txBody>
      </p:sp>
      <p:sp>
        <p:nvSpPr>
          <p:cNvPr id="67587" name="Content Placeholder 2"/>
          <p:cNvSpPr>
            <a:spLocks noGrp="1"/>
          </p:cNvSpPr>
          <p:nvPr>
            <p:ph idx="1"/>
          </p:nvPr>
        </p:nvSpPr>
        <p:spPr>
          <a:xfrm>
            <a:off x="827723" y="1340803"/>
            <a:ext cx="8343900" cy="4114800"/>
          </a:xfrm>
        </p:spPr>
        <p:txBody>
          <a:bodyPr vert="horz" wrap="square" lIns="91440" tIns="45720" rIns="91440" bIns="45720" anchor="t" anchorCtr="0"/>
          <a:p>
            <a:r>
              <a:rPr lang="en-US" altLang="zh-CN" dirty="0"/>
              <a:t>Many counting problems can be solved by counting the ways objects can be placed in boxes.</a:t>
            </a:r>
            <a:endParaRPr lang="en-US" altLang="zh-CN" dirty="0"/>
          </a:p>
          <a:p>
            <a:pPr lvl="1"/>
            <a:r>
              <a:rPr lang="en-US" altLang="zh-CN" dirty="0"/>
              <a:t>The objects may be either different from each other (</a:t>
            </a:r>
            <a:r>
              <a:rPr lang="en-US" altLang="zh-CN" i="1" dirty="0"/>
              <a:t>distinguishable</a:t>
            </a:r>
            <a:r>
              <a:rPr lang="en-US" altLang="zh-CN" dirty="0"/>
              <a:t>) or identical (</a:t>
            </a:r>
            <a:r>
              <a:rPr lang="en-US" altLang="zh-CN" i="1" dirty="0"/>
              <a:t>indistinguishable</a:t>
            </a:r>
            <a:r>
              <a:rPr lang="en-US" altLang="zh-CN" dirty="0"/>
              <a:t>).</a:t>
            </a:r>
            <a:endParaRPr lang="en-US" altLang="zh-CN" dirty="0"/>
          </a:p>
          <a:p>
            <a:pPr lvl="1"/>
            <a:r>
              <a:rPr lang="en-US" altLang="zh-CN" dirty="0"/>
              <a:t>The boxes may be labeled (</a:t>
            </a:r>
            <a:r>
              <a:rPr lang="en-US" altLang="zh-CN" i="1" dirty="0"/>
              <a:t>distinguishable</a:t>
            </a:r>
            <a:r>
              <a:rPr lang="en-US" altLang="zh-CN" dirty="0"/>
              <a:t>) or unlabeled (</a:t>
            </a:r>
            <a:r>
              <a:rPr lang="en-US" altLang="zh-CN" i="1" dirty="0"/>
              <a:t>indistinguishable</a:t>
            </a:r>
            <a:r>
              <a:rPr lang="en-US" altLang="zh-CN" dirty="0"/>
              <a:t>).</a:t>
            </a:r>
            <a:endParaRPr lang="en-US" altLang="zh-CN"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灯片编号占位符 4"/>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68611" name="日期占位符 5"/>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68612" name="页脚占位符 6"/>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68613" name="Rectangle 5"/>
          <p:cNvSpPr>
            <a:spLocks noGrp="1"/>
          </p:cNvSpPr>
          <p:nvPr>
            <p:ph type="title"/>
          </p:nvPr>
        </p:nvSpPr>
        <p:spPr>
          <a:xfrm>
            <a:off x="971868" y="116523"/>
            <a:ext cx="7793037" cy="1143000"/>
          </a:xfrm>
        </p:spPr>
        <p:txBody>
          <a:bodyPr vert="horz" wrap="square" lIns="91440" tIns="45720" rIns="91440" bIns="45720" anchor="b" anchorCtr="0"/>
          <a:p>
            <a:pPr eaLnBrk="1" hangingPunct="1"/>
            <a:r>
              <a:rPr lang="en-US" altLang="zh-CN" sz="4000" dirty="0">
                <a:latin typeface="Times New Roman Regular" panose="02020503050405090304" charset="0"/>
                <a:cs typeface="Times New Roman Regular" panose="02020503050405090304" charset="0"/>
              </a:rPr>
              <a:t>Distinguishable objects and distinguishable boxes</a:t>
            </a:r>
            <a:endParaRPr lang="zh-CN" altLang="en-US" sz="4000" dirty="0">
              <a:latin typeface="Times New Roman Regular" panose="02020503050405090304" charset="0"/>
              <a:cs typeface="Times New Roman Regular" panose="02020503050405090304" charset="0"/>
            </a:endParaRPr>
          </a:p>
        </p:txBody>
      </p:sp>
      <p:sp>
        <p:nvSpPr>
          <p:cNvPr id="68614" name="Rectangle 3"/>
          <p:cNvSpPr>
            <a:spLocks noGrp="1"/>
          </p:cNvSpPr>
          <p:nvPr>
            <p:ph type="body" sz="half" idx="1"/>
          </p:nvPr>
        </p:nvSpPr>
        <p:spPr>
          <a:xfrm>
            <a:off x="822960" y="1341120"/>
            <a:ext cx="7861935" cy="4355465"/>
          </a:xfrm>
        </p:spPr>
        <p:txBody>
          <a:bodyPr vert="horz" wrap="square" lIns="91440" tIns="45720" rIns="91440" bIns="45720" anchor="t" anchorCtr="0"/>
          <a:p>
            <a:pPr eaLnBrk="1" hangingPunct="1">
              <a:buClr>
                <a:schemeClr val="folHlink"/>
              </a:buClr>
              <a:buSzPct val="60000"/>
              <a:buFont typeface="Wingdings" panose="05000000000000000000" pitchFamily="2" charset="2"/>
            </a:pPr>
            <a:r>
              <a:rPr lang="en-US" altLang="zh-CN" dirty="0"/>
              <a:t>Theorem 4</a:t>
            </a:r>
            <a:endParaRPr lang="en-US" altLang="zh-CN" dirty="0"/>
          </a:p>
          <a:p>
            <a:pPr lvl="1" eaLnBrk="1" hangingPunct="1">
              <a:buClr>
                <a:schemeClr val="hlink"/>
              </a:buClr>
              <a:buSzPct val="55000"/>
              <a:buFont typeface="Wingdings" panose="05000000000000000000" pitchFamily="2" charset="2"/>
            </a:pPr>
            <a:r>
              <a:rPr lang="en-US" altLang="zh-CN" sz="3200" dirty="0"/>
              <a:t>The number of ways to distribute </a:t>
            </a:r>
            <a:r>
              <a:rPr lang="en-US" altLang="zh-CN" sz="3200" i="1" dirty="0"/>
              <a:t>n </a:t>
            </a:r>
            <a:r>
              <a:rPr lang="en-US" altLang="zh-CN" sz="3200" dirty="0"/>
              <a:t>distinguishable objects into </a:t>
            </a:r>
            <a:r>
              <a:rPr lang="en-US" altLang="zh-CN" sz="3200" i="1" dirty="0"/>
              <a:t>k</a:t>
            </a:r>
            <a:r>
              <a:rPr lang="en-US" altLang="zh-CN" sz="3200" dirty="0"/>
              <a:t> distinguishable boxes so that  </a:t>
            </a:r>
            <a:r>
              <a:rPr lang="en-US" altLang="zh-CN" sz="3200" i="1" dirty="0"/>
              <a:t>n</a:t>
            </a:r>
            <a:r>
              <a:rPr lang="en-US" altLang="zh-CN" sz="3200" i="1" baseline="-25000" dirty="0"/>
              <a:t>i</a:t>
            </a:r>
            <a:r>
              <a:rPr lang="en-US" altLang="zh-CN" sz="3200" baseline="-25000" dirty="0"/>
              <a:t>  </a:t>
            </a:r>
            <a:r>
              <a:rPr lang="en-US" altLang="zh-CN" sz="3200" dirty="0"/>
              <a:t>objects are placed into box </a:t>
            </a:r>
            <a:r>
              <a:rPr lang="en-US" altLang="zh-CN" sz="3200" i="1" dirty="0"/>
              <a:t>i</a:t>
            </a:r>
            <a:r>
              <a:rPr lang="en-US" altLang="zh-CN" sz="3200" dirty="0"/>
              <a:t>,</a:t>
            </a:r>
            <a:r>
              <a:rPr lang="en-US" altLang="zh-CN" sz="3200" i="1" dirty="0"/>
              <a:t>i</a:t>
            </a:r>
            <a:r>
              <a:rPr lang="en-US" altLang="zh-CN" sz="3200" dirty="0"/>
              <a:t>=1,2,</a:t>
            </a:r>
            <a:r>
              <a:rPr lang="en-US" altLang="zh-CN" sz="3200" dirty="0">
                <a:latin typeface="Times New Roman" panose="02020503050405090304" pitchFamily="18" charset="0"/>
              </a:rPr>
              <a:t>…</a:t>
            </a:r>
            <a:r>
              <a:rPr lang="en-US" altLang="zh-CN" sz="3200" dirty="0"/>
              <a:t>k, equals</a:t>
            </a:r>
            <a:endParaRPr lang="en-US" altLang="zh-CN" sz="3200" dirty="0"/>
          </a:p>
        </p:txBody>
      </p:sp>
      <p:graphicFrame>
        <p:nvGraphicFramePr>
          <p:cNvPr id="68615" name="Object 4"/>
          <p:cNvGraphicFramePr>
            <a:graphicFrameLocks noGrp="1" noChangeAspect="1"/>
          </p:cNvGraphicFramePr>
          <p:nvPr>
            <p:ph sz="half" idx="2"/>
          </p:nvPr>
        </p:nvGraphicFramePr>
        <p:xfrm>
          <a:off x="1619885" y="4077335"/>
          <a:ext cx="1768475" cy="985520"/>
        </p:xfrm>
        <a:graphic>
          <a:graphicData uri="http://schemas.openxmlformats.org/presentationml/2006/ole">
            <mc:AlternateContent xmlns:mc="http://schemas.openxmlformats.org/markup-compatibility/2006">
              <mc:Choice xmlns:v="urn:schemas-microsoft-com:vml" Requires="v">
                <p:oleObj spid="_x0000_s3077" name="" r:id="rId1" imgW="774065" imgH="431800" progId="Equation.DSMT4">
                  <p:embed/>
                </p:oleObj>
              </mc:Choice>
              <mc:Fallback>
                <p:oleObj name="" r:id="rId1" imgW="774065" imgH="431800" progId="Equation.DSMT4">
                  <p:embed/>
                  <p:pic>
                    <p:nvPicPr>
                      <p:cNvPr id="0" name="图片 3076"/>
                      <p:cNvPicPr/>
                      <p:nvPr/>
                    </p:nvPicPr>
                    <p:blipFill>
                      <a:blip r:embed="rId2"/>
                      <a:srcRect/>
                      <a:stretch>
                        <a:fillRect/>
                      </a:stretch>
                    </p:blipFill>
                    <p:spPr>
                      <a:xfrm>
                        <a:off x="1619885" y="4077335"/>
                        <a:ext cx="1768475" cy="985520"/>
                      </a:xfrm>
                      <a:prstGeom prst="rect">
                        <a:avLst/>
                      </a:prstGeom>
                      <a:noFill/>
                      <a:ln w="38100">
                        <a:miter/>
                      </a:ln>
                    </p:spPr>
                  </p:pic>
                </p:oleObj>
              </mc:Fallback>
            </mc:AlternateContent>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69635"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69636"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69637" name="Rectangle 3"/>
          <p:cNvSpPr>
            <a:spLocks noGrp="1"/>
          </p:cNvSpPr>
          <p:nvPr>
            <p:ph idx="1"/>
          </p:nvPr>
        </p:nvSpPr>
        <p:spPr>
          <a:xfrm>
            <a:off x="811530" y="1452880"/>
            <a:ext cx="8251825" cy="4689475"/>
          </a:xfrm>
        </p:spPr>
        <p:txBody>
          <a:bodyPr vert="horz" wrap="square" lIns="91440" tIns="45720" rIns="91440" bIns="45720" anchor="t" anchorCtr="0"/>
          <a:p>
            <a:pPr eaLnBrk="1" hangingPunct="1"/>
            <a:r>
              <a:rPr lang="en-US" altLang="zh-CN" dirty="0"/>
              <a:t>Example 8</a:t>
            </a:r>
            <a:endParaRPr lang="en-US" altLang="zh-CN" dirty="0"/>
          </a:p>
          <a:p>
            <a:pPr lvl="1" eaLnBrk="1" hangingPunct="1"/>
            <a:r>
              <a:rPr lang="en-US" altLang="zh-CN" sz="3200" dirty="0"/>
              <a:t>How many ways are there to distribute hands of 5 cards to each of four players from the standard deck of 52 cards?</a:t>
            </a:r>
            <a:endParaRPr lang="en-US" altLang="zh-CN" sz="3200" dirty="0"/>
          </a:p>
        </p:txBody>
      </p:sp>
      <p:sp>
        <p:nvSpPr>
          <p:cNvPr id="69638" name="矩形 1"/>
          <p:cNvSpPr/>
          <p:nvPr/>
        </p:nvSpPr>
        <p:spPr>
          <a:xfrm>
            <a:off x="1447800" y="4077335"/>
            <a:ext cx="7332980" cy="1341120"/>
          </a:xfrm>
          <a:prstGeom prst="rect">
            <a:avLst/>
          </a:prstGeom>
          <a:noFill/>
          <a:ln w="9525">
            <a:noFill/>
          </a:ln>
        </p:spPr>
        <p:txBody>
          <a:bodyPr>
            <a:no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mn-ea"/>
              </a:defRPr>
            </a:lvl5pPr>
          </a:lstStyle>
          <a:p>
            <a:pPr marL="457200" lvl="1" indent="0">
              <a:spcBef>
                <a:spcPct val="0"/>
              </a:spcBef>
              <a:buClrTx/>
              <a:buSzTx/>
              <a:buFontTx/>
              <a:buNone/>
            </a:pPr>
            <a:r>
              <a:rPr lang="en-US" altLang="zh-CN" dirty="0">
                <a:latin typeface="Times New Roman" panose="02020503050405090304" pitchFamily="18" charset="0"/>
              </a:rPr>
              <a:t>There are </a:t>
            </a:r>
            <a:r>
              <a:rPr lang="en-US" altLang="zh-CN" dirty="0">
                <a:latin typeface="Cambria Math" panose="02040503050406030204" pitchFamily="18" charset="0"/>
              </a:rPr>
              <a:t>52!</a:t>
            </a:r>
            <a:r>
              <a:rPr lang="en-US" altLang="zh-CN" dirty="0">
                <a:latin typeface="Times New Roman" panose="02020503050405090304" pitchFamily="18" charset="0"/>
              </a:rPr>
              <a:t>/(</a:t>
            </a:r>
            <a:r>
              <a:rPr lang="en-US" altLang="zh-CN" dirty="0">
                <a:latin typeface="Cambria Math" panose="02040503050406030204" pitchFamily="18" charset="0"/>
              </a:rPr>
              <a:t>5!5!5!5!32!</a:t>
            </a:r>
            <a:r>
              <a:rPr lang="en-US" altLang="zh-CN" dirty="0">
                <a:latin typeface="Times New Roman" panose="02020503050405090304" pitchFamily="18" charset="0"/>
              </a:rPr>
              <a:t>) ways to distribute hands of </a:t>
            </a:r>
            <a:r>
              <a:rPr lang="en-US" altLang="zh-CN" dirty="0">
                <a:latin typeface="Cambria Math" panose="02040503050406030204" pitchFamily="18" charset="0"/>
              </a:rPr>
              <a:t>5</a:t>
            </a:r>
            <a:r>
              <a:rPr lang="en-US" altLang="zh-CN" dirty="0">
                <a:latin typeface="Times New Roman" panose="02020503050405090304" pitchFamily="18" charset="0"/>
              </a:rPr>
              <a:t> cards each to four players.</a:t>
            </a:r>
            <a:endParaRPr lang="en-US" altLang="zh-CN" dirty="0">
              <a:latin typeface="Times New Roman" panose="02020503050405090304" pitchFamily="18" charset="0"/>
            </a:endParaRPr>
          </a:p>
        </p:txBody>
      </p:sp>
      <p:sp>
        <p:nvSpPr>
          <p:cNvPr id="69639" name="Rectangle 5"/>
          <p:cNvSpPr txBox="1"/>
          <p:nvPr/>
        </p:nvSpPr>
        <p:spPr>
          <a:xfrm>
            <a:off x="1162050" y="118110"/>
            <a:ext cx="7900670" cy="1184910"/>
          </a:xfrm>
          <a:prstGeom prst="rect">
            <a:avLst/>
          </a:prstGeom>
          <a:noFill/>
          <a:ln w="9525">
            <a:noFill/>
          </a:ln>
        </p:spPr>
        <p:txBody>
          <a:bodyPr anchor="b"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mn-ea"/>
              </a:defRPr>
            </a:lvl5pPr>
          </a:lstStyle>
          <a:p>
            <a:pPr marL="0" lvl="0" indent="0" eaLnBrk="1" hangingPunct="1">
              <a:spcBef>
                <a:spcPct val="0"/>
              </a:spcBef>
              <a:buClrTx/>
              <a:buSzTx/>
              <a:buFontTx/>
              <a:buNone/>
            </a:pPr>
            <a:r>
              <a:rPr lang="en-US" altLang="zh-CN" sz="4000" dirty="0">
                <a:solidFill>
                  <a:schemeClr val="tx2"/>
                </a:solidFill>
                <a:latin typeface="Times New Roman Regular" panose="02020503050405090304" charset="0"/>
                <a:cs typeface="Times New Roman Regular" panose="02020503050405090304" charset="0"/>
              </a:rPr>
              <a:t>Distinguishable objects and distinguishable boxes</a:t>
            </a:r>
            <a:endParaRPr lang="zh-CN" altLang="en-US" sz="4000" dirty="0">
              <a:solidFill>
                <a:schemeClr val="tx2"/>
              </a:solidFill>
              <a:latin typeface="Times New Roman Regular" panose="02020503050405090304" charset="0"/>
              <a:cs typeface="Times New Roman Regular" panose="02020503050405090304"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灯片编号占位符 4"/>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70659" name="日期占位符 5"/>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70660" name="页脚占位符 6"/>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70661" name="Rectangle 2"/>
          <p:cNvSpPr>
            <a:spLocks noGrp="1"/>
          </p:cNvSpPr>
          <p:nvPr>
            <p:ph type="title"/>
          </p:nvPr>
        </p:nvSpPr>
        <p:spPr>
          <a:xfrm>
            <a:off x="1150938" y="187008"/>
            <a:ext cx="7793037" cy="1143000"/>
          </a:xfrm>
        </p:spPr>
        <p:txBody>
          <a:bodyPr vert="horz" wrap="square" lIns="91440" tIns="45720" rIns="91440" bIns="45720" anchor="b" anchorCtr="0"/>
          <a:p>
            <a:pPr eaLnBrk="1" hangingPunct="1"/>
            <a:r>
              <a:rPr lang="en-US" altLang="zh-CN" sz="4000" dirty="0">
                <a:latin typeface="Times New Roman Regular" panose="02020503050405090304" charset="0"/>
                <a:cs typeface="Times New Roman Regular" panose="02020503050405090304" charset="0"/>
              </a:rPr>
              <a:t>Indistinguishable objects and distinguishable boxes</a:t>
            </a:r>
            <a:r>
              <a:rPr lang="en-US" altLang="zh-CN" dirty="0">
                <a:latin typeface="Times New Roman Regular" panose="02020503050405090304" charset="0"/>
                <a:cs typeface="Times New Roman Regular" panose="02020503050405090304" charset="0"/>
              </a:rPr>
              <a:t>.</a:t>
            </a:r>
            <a:endParaRPr lang="zh-CN" altLang="en-US" dirty="0">
              <a:latin typeface="Times New Roman Regular" panose="02020503050405090304" charset="0"/>
              <a:cs typeface="Times New Roman Regular" panose="02020503050405090304" charset="0"/>
            </a:endParaRPr>
          </a:p>
        </p:txBody>
      </p:sp>
      <p:sp>
        <p:nvSpPr>
          <p:cNvPr id="70662" name="矩形 8"/>
          <p:cNvSpPr/>
          <p:nvPr/>
        </p:nvSpPr>
        <p:spPr>
          <a:xfrm>
            <a:off x="756285" y="1412875"/>
            <a:ext cx="8367395" cy="3538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mn-ea"/>
              </a:defRPr>
            </a:lvl5pPr>
          </a:lstStyle>
          <a:p>
            <a:pPr marL="800100" lvl="1" indent="-342900">
              <a:spcBef>
                <a:spcPct val="0"/>
              </a:spcBef>
              <a:buClrTx/>
              <a:buSzTx/>
            </a:pPr>
            <a:r>
              <a:rPr lang="en-US" altLang="zh-CN" dirty="0">
                <a:latin typeface="Times New Roman" panose="02020503050405090304" pitchFamily="18" charset="0"/>
              </a:rPr>
              <a:t>There are </a:t>
            </a:r>
            <a:r>
              <a:rPr lang="en-US" altLang="zh-CN" i="1" dirty="0">
                <a:latin typeface="Times New Roman" panose="02020503050405090304" pitchFamily="18" charset="0"/>
              </a:rPr>
              <a:t>C</a:t>
            </a:r>
            <a:r>
              <a:rPr lang="en-US" altLang="zh-CN" dirty="0">
                <a:latin typeface="Times New Roman" panose="02020503050405090304" pitchFamily="18" charset="0"/>
              </a:rPr>
              <a:t>(</a:t>
            </a:r>
            <a:r>
              <a:rPr lang="en-US" altLang="zh-CN" i="1" dirty="0">
                <a:latin typeface="Times New Roman" panose="02020503050405090304" pitchFamily="18" charset="0"/>
              </a:rPr>
              <a:t>n</a:t>
            </a:r>
            <a:r>
              <a:rPr lang="en-US" altLang="zh-CN" dirty="0">
                <a:latin typeface="Times New Roman" panose="02020503050405090304" pitchFamily="18" charset="0"/>
              </a:rPr>
              <a:t> + </a:t>
            </a:r>
            <a:r>
              <a:rPr lang="en-US" altLang="zh-CN" i="1" dirty="0">
                <a:latin typeface="Times New Roman" panose="02020503050405090304" pitchFamily="18" charset="0"/>
              </a:rPr>
              <a:t>r </a:t>
            </a:r>
            <a:r>
              <a:rPr lang="en-US" altLang="zh-CN" dirty="0">
                <a:latin typeface="Cambria Math" panose="02040503050406030204" pitchFamily="18" charset="0"/>
              </a:rPr>
              <a:t>−</a:t>
            </a:r>
            <a:r>
              <a:rPr lang="en-US" altLang="zh-CN" dirty="0">
                <a:latin typeface="Times New Roman" panose="02020503050405090304" pitchFamily="18" charset="0"/>
              </a:rPr>
              <a:t> </a:t>
            </a:r>
            <a:r>
              <a:rPr lang="en-US" altLang="zh-CN" dirty="0">
                <a:latin typeface="Cambria Math" panose="02040503050406030204" pitchFamily="18" charset="0"/>
              </a:rPr>
              <a:t>1</a:t>
            </a:r>
            <a:r>
              <a:rPr lang="en-US" altLang="zh-CN" dirty="0">
                <a:latin typeface="Times New Roman" panose="02020503050405090304" pitchFamily="18" charset="0"/>
              </a:rPr>
              <a:t>, </a:t>
            </a:r>
            <a:r>
              <a:rPr lang="en-US" altLang="zh-CN" i="1" dirty="0">
                <a:latin typeface="Times New Roman" panose="02020503050405090304" pitchFamily="18" charset="0"/>
              </a:rPr>
              <a:t>n</a:t>
            </a:r>
            <a:r>
              <a:rPr lang="en-US" altLang="zh-CN" dirty="0">
                <a:latin typeface="Times New Roman" panose="02020503050405090304" pitchFamily="18" charset="0"/>
              </a:rPr>
              <a:t> </a:t>
            </a:r>
            <a:r>
              <a:rPr lang="en-US" altLang="zh-CN" dirty="0">
                <a:latin typeface="Cambria Math" panose="02040503050406030204" pitchFamily="18" charset="0"/>
              </a:rPr>
              <a:t>−</a:t>
            </a:r>
            <a:r>
              <a:rPr lang="en-US" altLang="zh-CN" dirty="0">
                <a:latin typeface="Times New Roman" panose="02020503050405090304" pitchFamily="18" charset="0"/>
              </a:rPr>
              <a:t> </a:t>
            </a:r>
            <a:r>
              <a:rPr lang="en-US" altLang="zh-CN" dirty="0">
                <a:latin typeface="Cambria Math" panose="02040503050406030204" pitchFamily="18" charset="0"/>
              </a:rPr>
              <a:t>1</a:t>
            </a:r>
            <a:r>
              <a:rPr lang="en-US" altLang="zh-CN" dirty="0">
                <a:latin typeface="Times New Roman" panose="02020503050405090304" pitchFamily="18" charset="0"/>
              </a:rPr>
              <a:t>) ways to place </a:t>
            </a:r>
            <a:r>
              <a:rPr lang="en-US" altLang="zh-CN" i="1" dirty="0">
                <a:latin typeface="Times New Roman" panose="02020503050405090304" pitchFamily="18" charset="0"/>
              </a:rPr>
              <a:t>r</a:t>
            </a:r>
            <a:r>
              <a:rPr lang="en-US" altLang="zh-CN" dirty="0">
                <a:latin typeface="Times New Roman" panose="02020503050405090304" pitchFamily="18" charset="0"/>
              </a:rPr>
              <a:t> indistinguishable objects into </a:t>
            </a:r>
            <a:r>
              <a:rPr lang="en-US" altLang="zh-CN" i="1" dirty="0">
                <a:latin typeface="Times New Roman" panose="02020503050405090304" pitchFamily="18" charset="0"/>
              </a:rPr>
              <a:t>n</a:t>
            </a:r>
            <a:r>
              <a:rPr lang="en-US" altLang="zh-CN" dirty="0">
                <a:latin typeface="Times New Roman" panose="02020503050405090304" pitchFamily="18" charset="0"/>
              </a:rPr>
              <a:t> distinguishable boxes.</a:t>
            </a:r>
            <a:endParaRPr lang="en-US" altLang="zh-CN" dirty="0">
              <a:latin typeface="Times New Roman" panose="02020503050405090304" pitchFamily="18" charset="0"/>
            </a:endParaRPr>
          </a:p>
          <a:p>
            <a:pPr marL="800100" lvl="1" indent="-342900">
              <a:spcBef>
                <a:spcPct val="0"/>
              </a:spcBef>
              <a:buClrTx/>
              <a:buSzTx/>
            </a:pPr>
            <a:r>
              <a:rPr lang="en-US" altLang="zh-CN" dirty="0">
                <a:latin typeface="Times New Roman" panose="02020503050405090304" pitchFamily="18" charset="0"/>
              </a:rPr>
              <a:t>Proof based on one-to-one correspondence between  </a:t>
            </a:r>
            <a:r>
              <a:rPr lang="en-US" altLang="zh-CN" i="1" dirty="0">
                <a:latin typeface="Times New Roman" panose="02020503050405090304" pitchFamily="18" charset="0"/>
              </a:rPr>
              <a:t>n</a:t>
            </a:r>
            <a:r>
              <a:rPr lang="en-US" altLang="zh-CN" dirty="0">
                <a:latin typeface="Times New Roman" panose="02020503050405090304" pitchFamily="18" charset="0"/>
              </a:rPr>
              <a:t>-combinations from a set with </a:t>
            </a:r>
            <a:r>
              <a:rPr lang="en-US" altLang="zh-CN" i="1" dirty="0">
                <a:latin typeface="Times New Roman" panose="02020503050405090304" pitchFamily="18" charset="0"/>
              </a:rPr>
              <a:t>k</a:t>
            </a:r>
            <a:r>
              <a:rPr lang="en-US" altLang="zh-CN" dirty="0">
                <a:latin typeface="Times New Roman" panose="02020503050405090304" pitchFamily="18" charset="0"/>
              </a:rPr>
              <a:t>-elements when repetition is allowed and the ways to place </a:t>
            </a:r>
            <a:r>
              <a:rPr lang="en-US" altLang="zh-CN" i="1" dirty="0">
                <a:latin typeface="Times New Roman" panose="02020503050405090304" pitchFamily="18" charset="0"/>
              </a:rPr>
              <a:t>n</a:t>
            </a:r>
            <a:r>
              <a:rPr lang="en-US" altLang="zh-CN" dirty="0">
                <a:latin typeface="Times New Roman" panose="02020503050405090304" pitchFamily="18" charset="0"/>
              </a:rPr>
              <a:t> indistinguishable objects into </a:t>
            </a:r>
            <a:r>
              <a:rPr lang="en-US" altLang="zh-CN" i="1" dirty="0">
                <a:latin typeface="Times New Roman" panose="02020503050405090304" pitchFamily="18" charset="0"/>
              </a:rPr>
              <a:t>k</a:t>
            </a:r>
            <a:r>
              <a:rPr lang="en-US" altLang="zh-CN" dirty="0">
                <a:latin typeface="Times New Roman" panose="02020503050405090304" pitchFamily="18" charset="0"/>
              </a:rPr>
              <a:t> distinguishable boxes.</a:t>
            </a:r>
            <a:endParaRPr lang="en-US" altLang="zh-CN" dirty="0">
              <a:latin typeface="Times New Roman" panose="02020503050405090304" pitchFamily="18"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71683"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71684"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71685" name="Rectangle 2"/>
          <p:cNvSpPr>
            <a:spLocks noGrp="1"/>
          </p:cNvSpPr>
          <p:nvPr>
            <p:ph type="title"/>
          </p:nvPr>
        </p:nvSpPr>
        <p:spPr>
          <a:xfrm>
            <a:off x="827405" y="116840"/>
            <a:ext cx="8261350" cy="1143000"/>
          </a:xfrm>
        </p:spPr>
        <p:txBody>
          <a:bodyPr vert="horz" wrap="square" lIns="91440" tIns="45720" rIns="91440" bIns="45720" anchor="b" anchorCtr="0"/>
          <a:p>
            <a:pPr eaLnBrk="1" hangingPunct="1"/>
            <a:r>
              <a:rPr lang="en-US" altLang="zh-CN" sz="4000" dirty="0">
                <a:latin typeface="Times New Roman" panose="02020503050405090304" pitchFamily="18" charset="0"/>
                <a:cs typeface="Times New Roman" panose="02020503050405090304" pitchFamily="18" charset="0"/>
              </a:rPr>
              <a:t>Indistinguishable objects and distinguishable boxes</a:t>
            </a:r>
            <a:r>
              <a:rPr lang="en-US" altLang="zh-CN" dirty="0">
                <a:latin typeface="Times New Roman" panose="02020503050405090304" pitchFamily="18" charset="0"/>
                <a:cs typeface="Times New Roman" panose="02020503050405090304" pitchFamily="18" charset="0"/>
              </a:rPr>
              <a:t>.</a:t>
            </a:r>
            <a:endParaRPr lang="zh-CN" altLang="en-US" dirty="0">
              <a:latin typeface="Times New Roman" panose="02020503050405090304" pitchFamily="18" charset="0"/>
              <a:cs typeface="Times New Roman" panose="02020503050405090304" pitchFamily="18" charset="0"/>
            </a:endParaRPr>
          </a:p>
        </p:txBody>
      </p:sp>
      <p:sp>
        <p:nvSpPr>
          <p:cNvPr id="71686" name="Rectangle 3"/>
          <p:cNvSpPr>
            <a:spLocks noGrp="1"/>
          </p:cNvSpPr>
          <p:nvPr>
            <p:ph idx="1"/>
          </p:nvPr>
        </p:nvSpPr>
        <p:spPr>
          <a:xfrm>
            <a:off x="827723" y="1412558"/>
            <a:ext cx="8128000" cy="4114800"/>
          </a:xfrm>
        </p:spPr>
        <p:txBody>
          <a:bodyPr vert="horz" wrap="square" lIns="91440" tIns="45720" rIns="91440" bIns="45720" anchor="t" anchorCtr="0"/>
          <a:p>
            <a:pPr eaLnBrk="1" hangingPunct="1"/>
            <a:r>
              <a:rPr lang="en-US" altLang="zh-CN" dirty="0"/>
              <a:t>Example 9  </a:t>
            </a:r>
            <a:endParaRPr lang="en-US" altLang="zh-CN" dirty="0"/>
          </a:p>
          <a:p>
            <a:pPr lvl="1" eaLnBrk="1" hangingPunct="1"/>
            <a:r>
              <a:rPr lang="en-US" altLang="zh-CN" dirty="0"/>
              <a:t>How many ways are there to place 10 indistinguishable balls into 8 distinguishable bins?</a:t>
            </a:r>
            <a:endParaRPr lang="en-US" altLang="zh-CN" dirty="0"/>
          </a:p>
        </p:txBody>
      </p:sp>
      <p:sp>
        <p:nvSpPr>
          <p:cNvPr id="71687" name="矩形 1"/>
          <p:cNvSpPr/>
          <p:nvPr/>
        </p:nvSpPr>
        <p:spPr>
          <a:xfrm>
            <a:off x="1447483" y="3789045"/>
            <a:ext cx="6983412" cy="1200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mn-ea"/>
              </a:defRPr>
            </a:lvl5pPr>
          </a:lstStyle>
          <a:p>
            <a:pPr marL="0" lvl="0" indent="0">
              <a:spcBef>
                <a:spcPct val="0"/>
              </a:spcBef>
              <a:buClrTx/>
              <a:buSzTx/>
              <a:buFontTx/>
              <a:buNone/>
            </a:pPr>
            <a:r>
              <a:rPr lang="en-US" altLang="zh-CN" sz="2400" dirty="0"/>
              <a:t>There are </a:t>
            </a:r>
            <a:r>
              <a:rPr lang="en-US" altLang="zh-CN" sz="2400" i="1" dirty="0"/>
              <a:t>C</a:t>
            </a:r>
            <a:r>
              <a:rPr lang="en-US" altLang="zh-CN" sz="2400" dirty="0"/>
              <a:t>(</a:t>
            </a:r>
            <a:r>
              <a:rPr lang="en-US" altLang="zh-CN" sz="2400" dirty="0">
                <a:latin typeface="Cambria Math" panose="02040503050406030204" pitchFamily="18" charset="0"/>
              </a:rPr>
              <a:t>8</a:t>
            </a:r>
            <a:r>
              <a:rPr lang="en-US" altLang="zh-CN" sz="2400" dirty="0"/>
              <a:t> + </a:t>
            </a:r>
            <a:r>
              <a:rPr lang="en-US" altLang="zh-CN" sz="2400" dirty="0">
                <a:latin typeface="Cambria Math" panose="02040503050406030204" pitchFamily="18" charset="0"/>
              </a:rPr>
              <a:t>10</a:t>
            </a:r>
            <a:r>
              <a:rPr lang="en-US" altLang="zh-CN" sz="2400" i="1" dirty="0"/>
              <a:t> </a:t>
            </a:r>
            <a:r>
              <a:rPr lang="en-US" altLang="zh-CN" sz="2400" dirty="0">
                <a:latin typeface="Cambria Math" panose="02040503050406030204" pitchFamily="18" charset="0"/>
              </a:rPr>
              <a:t>−</a:t>
            </a:r>
            <a:r>
              <a:rPr lang="en-US" altLang="zh-CN" sz="2400" dirty="0"/>
              <a:t> </a:t>
            </a:r>
            <a:r>
              <a:rPr lang="en-US" altLang="zh-CN" sz="2400" dirty="0">
                <a:latin typeface="Cambria Math" panose="02040503050406030204" pitchFamily="18" charset="0"/>
              </a:rPr>
              <a:t>1</a:t>
            </a:r>
            <a:r>
              <a:rPr lang="en-US" altLang="zh-CN" sz="2400" dirty="0"/>
              <a:t>, </a:t>
            </a:r>
            <a:r>
              <a:rPr lang="en-US" altLang="zh-CN" sz="2400" dirty="0">
                <a:latin typeface="Cambria Math" panose="02040503050406030204" pitchFamily="18" charset="0"/>
              </a:rPr>
              <a:t>10</a:t>
            </a:r>
            <a:r>
              <a:rPr lang="en-US" altLang="zh-CN" sz="2400" dirty="0"/>
              <a:t>) = C(</a:t>
            </a:r>
            <a:r>
              <a:rPr lang="en-US" altLang="zh-CN" sz="2400" dirty="0">
                <a:latin typeface="Cambria Math" panose="02040503050406030204" pitchFamily="18" charset="0"/>
              </a:rPr>
              <a:t>17,10</a:t>
            </a:r>
            <a:r>
              <a:rPr lang="en-US" altLang="zh-CN" sz="2400" dirty="0"/>
              <a:t>) = </a:t>
            </a:r>
            <a:r>
              <a:rPr lang="en-US" altLang="zh-CN" sz="2400" dirty="0">
                <a:latin typeface="Cambria Math" panose="02040503050406030204" pitchFamily="18" charset="0"/>
              </a:rPr>
              <a:t>19,448 </a:t>
            </a:r>
            <a:r>
              <a:rPr lang="en-US" altLang="zh-CN" sz="2400" dirty="0"/>
              <a:t> ways to place </a:t>
            </a:r>
            <a:r>
              <a:rPr lang="en-US" altLang="zh-CN" sz="2400" dirty="0">
                <a:latin typeface="Cambria Math" panose="02040503050406030204" pitchFamily="18" charset="0"/>
              </a:rPr>
              <a:t>10</a:t>
            </a:r>
            <a:r>
              <a:rPr lang="en-US" altLang="zh-CN" sz="2400" dirty="0"/>
              <a:t> indistinguishable objects into </a:t>
            </a:r>
            <a:r>
              <a:rPr lang="en-US" altLang="zh-CN" sz="2400" dirty="0">
                <a:latin typeface="Cambria Math" panose="02040503050406030204" pitchFamily="18" charset="0"/>
              </a:rPr>
              <a:t>8</a:t>
            </a:r>
            <a:r>
              <a:rPr lang="en-US" altLang="zh-CN" sz="2400" dirty="0"/>
              <a:t> distinguishable boxes.</a:t>
            </a:r>
            <a:endParaRPr lang="zh-CN" altLang="en-US" sz="24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72707"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72708"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 </a:t>
            </a:r>
            <a:endParaRPr lang="en-US" altLang="en-US" sz="1200" b="1" i="1" dirty="0">
              <a:solidFill>
                <a:srgbClr val="009999"/>
              </a:solidFill>
              <a:latin typeface="Arial Narrow" panose="020B0606020202030204" pitchFamily="34" charset="0"/>
            </a:endParaRPr>
          </a:p>
        </p:txBody>
      </p:sp>
      <p:sp>
        <p:nvSpPr>
          <p:cNvPr id="72709" name="Rectangle 2"/>
          <p:cNvSpPr>
            <a:spLocks noGrp="1"/>
          </p:cNvSpPr>
          <p:nvPr>
            <p:ph type="title"/>
          </p:nvPr>
        </p:nvSpPr>
        <p:spPr/>
        <p:txBody>
          <a:bodyPr vert="horz" wrap="square" lIns="91440" tIns="45720" rIns="91440" bIns="45720" anchor="b" anchorCtr="0"/>
          <a:p>
            <a:pPr eaLnBrk="1" hangingPunct="1"/>
            <a:r>
              <a:rPr lang="en-US" altLang="zh-CN" dirty="0"/>
              <a:t>Homework </a:t>
            </a:r>
            <a:endParaRPr lang="en-US" altLang="zh-CN" dirty="0"/>
          </a:p>
        </p:txBody>
      </p:sp>
      <p:sp>
        <p:nvSpPr>
          <p:cNvPr id="72710" name="Rectangle 3"/>
          <p:cNvSpPr>
            <a:spLocks noGrp="1"/>
          </p:cNvSpPr>
          <p:nvPr>
            <p:ph idx="1"/>
          </p:nvPr>
        </p:nvSpPr>
        <p:spPr>
          <a:xfrm>
            <a:off x="899795" y="1196658"/>
            <a:ext cx="7772400" cy="4114800"/>
          </a:xfrm>
        </p:spPr>
        <p:txBody>
          <a:bodyPr vert="horz" wrap="square" lIns="91440" tIns="45720" rIns="91440" bIns="45720" anchor="t" anchorCtr="0"/>
          <a:p>
            <a:pPr eaLnBrk="1" hangingPunct="1"/>
            <a:r>
              <a:rPr lang="en-US" altLang="zh-CN" dirty="0"/>
              <a:t>§6.5 </a:t>
            </a:r>
            <a:endParaRPr lang="en-US" altLang="zh-CN" dirty="0"/>
          </a:p>
          <a:p>
            <a:pPr lvl="1" eaLnBrk="1" hangingPunct="1"/>
            <a:r>
              <a:rPr lang="en-US" altLang="zh-CN" dirty="0"/>
              <a:t> 14, 20, 36, 48</a:t>
            </a:r>
            <a:endParaRPr lang="zh-CN" altLang="en-US" dirty="0"/>
          </a:p>
        </p:txBody>
      </p:sp>
      <p:pic>
        <p:nvPicPr>
          <p:cNvPr id="72711" name="图片 1"/>
          <p:cNvPicPr>
            <a:picLocks noChangeAspect="1"/>
          </p:cNvPicPr>
          <p:nvPr/>
        </p:nvPicPr>
        <p:blipFill>
          <a:blip r:embed="rId1"/>
          <a:stretch>
            <a:fillRect/>
          </a:stretch>
        </p:blipFill>
        <p:spPr>
          <a:xfrm>
            <a:off x="857250" y="2459038"/>
            <a:ext cx="7904163" cy="596900"/>
          </a:xfrm>
          <a:prstGeom prst="rect">
            <a:avLst/>
          </a:prstGeom>
          <a:noFill/>
          <a:ln w="9525">
            <a:noFill/>
          </a:ln>
        </p:spPr>
      </p:pic>
      <p:pic>
        <p:nvPicPr>
          <p:cNvPr id="72712" name="图片 2"/>
          <p:cNvPicPr>
            <a:picLocks noChangeAspect="1"/>
          </p:cNvPicPr>
          <p:nvPr/>
        </p:nvPicPr>
        <p:blipFill>
          <a:blip r:embed="rId2"/>
          <a:stretch>
            <a:fillRect/>
          </a:stretch>
        </p:blipFill>
        <p:spPr>
          <a:xfrm>
            <a:off x="950913" y="3259138"/>
            <a:ext cx="8099425" cy="919162"/>
          </a:xfrm>
          <a:prstGeom prst="rect">
            <a:avLst/>
          </a:prstGeom>
          <a:noFill/>
          <a:ln w="9525">
            <a:noFill/>
          </a:ln>
        </p:spPr>
      </p:pic>
      <p:pic>
        <p:nvPicPr>
          <p:cNvPr id="72713" name="图片 3"/>
          <p:cNvPicPr>
            <a:picLocks noChangeAspect="1"/>
          </p:cNvPicPr>
          <p:nvPr/>
        </p:nvPicPr>
        <p:blipFill>
          <a:blip r:embed="rId3"/>
          <a:stretch>
            <a:fillRect/>
          </a:stretch>
        </p:blipFill>
        <p:spPr>
          <a:xfrm>
            <a:off x="765175" y="4575175"/>
            <a:ext cx="8088313" cy="306388"/>
          </a:xfrm>
          <a:prstGeom prst="rect">
            <a:avLst/>
          </a:prstGeom>
          <a:noFill/>
          <a:ln w="9525">
            <a:noFill/>
          </a:ln>
        </p:spPr>
      </p:pic>
      <p:pic>
        <p:nvPicPr>
          <p:cNvPr id="72714" name="图片 5"/>
          <p:cNvPicPr>
            <a:picLocks noChangeAspect="1"/>
          </p:cNvPicPr>
          <p:nvPr/>
        </p:nvPicPr>
        <p:blipFill>
          <a:blip r:embed="rId4"/>
          <a:stretch>
            <a:fillRect/>
          </a:stretch>
        </p:blipFill>
        <p:spPr>
          <a:xfrm>
            <a:off x="765175" y="5130800"/>
            <a:ext cx="8099425" cy="1225550"/>
          </a:xfrm>
          <a:prstGeom prst="rect">
            <a:avLst/>
          </a:prstGeom>
          <a:noFill/>
          <a:ln w="9525">
            <a:noFill/>
          </a:ln>
        </p:spPr>
      </p:pic>
    </p:spTree>
  </p:cSld>
  <p:clrMapOvr>
    <a:masterClrMapping/>
  </p:clrMapOvr>
</p:sld>
</file>

<file path=ppt/tags/tag1.xml><?xml version="1.0" encoding="utf-8"?>
<p:tagLst xmlns:p="http://schemas.openxmlformats.org/presentationml/2006/main">
  <p:tag name="KSO_WM_UNIT_PLACING_PICTURE_USER_VIEWPORT" val="{&quot;height&quot;:4032.5007874015746,&quot;width&quot;:13960}"/>
</p:tagLst>
</file>

<file path=ppt/tags/tag2.xml><?xml version="1.0" encoding="utf-8"?>
<p:tagLst xmlns:p="http://schemas.openxmlformats.org/presentationml/2006/main">
  <p:tag name="LATEXADDIN" val="\documentclass{article}&#10;\usepackage{amsmath}&#10;\pagestyle{empty}&#10;\begin{document}&#10;&#10;$C(11,5) = \frac{11!}{5!6!} = 462$&#10;&#10;&#10;\end{document}"/>
  <p:tag name="IGUANATEXSIZE" val="20"/>
</p:tagLst>
</file>

<file path=ppt/tags/tag3.xml><?xml version="1.0" encoding="utf-8"?>
<p:tagLst xmlns:p="http://schemas.openxmlformats.org/presentationml/2006/main">
  <p:tag name="LATEXADDIN" val="\documentclass{article}&#10;\usepackage{amsmath}&#10;\pagestyle{empty}&#10;\begin{document}&#10;&#10;$C(3 + 11 -1,11) = C(13,11) = C(13,2) =  \frac{13 \cdot 12}{1 \cdot 2} = 78$&#10;&#10;&#10;\end{document}"/>
  <p:tag name="IGUANATEXSIZE" val="20"/>
</p:tagLst>
</file>

<file path=ppt/tags/tag4.xml><?xml version="1.0" encoding="utf-8"?>
<p:tagLst xmlns:p="http://schemas.openxmlformats.org/presentationml/2006/main">
  <p:tag name="LATEXADDIN" val="\documentclass{article}&#10;\usepackage{amsmath}&#10;\pagestyle{empty}&#10;\begin{document}&#10;&#10;$C(9,6) = C(9,3) = \frac{9 \cdot 8 \cdot 7}{1 \cdot 2 \cdot 3} = 84$&#10;&#10;&#10;\end{document}"/>
  <p:tag name="IGUANATEXSIZE" val="20"/>
</p:tagLst>
</file>

<file path=ppt/tags/tag5.xml><?xml version="1.0" encoding="utf-8"?>
<p:tagLst xmlns:p="http://schemas.openxmlformats.org/presentationml/2006/main">
  <p:tag name="LATEXADDIN" val="\documentclass{article}&#10;\usepackage{amsmath}&#10;\pagestyle{empty}&#10;\begin{document}&#10;&#10;$C(7,3)C(4,2)C(2,1)C(1,1) =\frac{7!}{3!4!}\cdot \frac{4!}{2!2!}\cdot \frac{2!}{1! 1!}\cdot \frac{1!}{1!0!}=\frac{7!}{3!2!1!1!} = 420.$&#10;&#10;\end{document}"/>
  <p:tag name="IGUANATEXSIZE" val="20"/>
</p:tagLst>
</file>

<file path=ppt/tags/tag6.xml><?xml version="1.0" encoding="utf-8"?>
<p:tagLst xmlns:p="http://schemas.openxmlformats.org/presentationml/2006/main">
  <p:tag name="LATEXADDIN" val="\documentclass{article}&#10;\usepackage{amsmath}&#10;\pagestyle{empty}&#10;\begin{document}&#10;&#10;$\frac{n!}{n_1!(n -  n_1)!}\frac{(n - n_1)!}{n_2!(n - n_1 - n_2!)}\cdot\cdot\cdot\frac{(n - n_1 - \cdot \cdot \cdot - n_{k-1})!}{n_k!0!} =\frac{n!}{n_1!n_2!\cdots n_k!}\; .$&#10;&#10;\end{document}"/>
  <p:tag name="IGUANATEXSIZE" val="20"/>
</p:tagLst>
</file>

<file path=ppt/tags/tag7.xml><?xml version="1.0" encoding="utf-8"?>
<p:tagLst xmlns:p="http://schemas.openxmlformats.org/presentationml/2006/main">
  <p:tag name="KSO_WPP_MARK_KEY" val="6b590c6c-c03e-42db-b661-d12ad18e512c"/>
  <p:tag name="COMMONDATA" val="eyJoZGlkIjoiYjZhMmY1NGQwZjE0MWY4MTkzZjM4YzBiNDA1ZmM3ZDEifQ=="/>
</p:tagLst>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Copperplate Gothic Bold"/>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en-US" sz="2400" b="0" i="0" u="none" strike="noStrike" cap="none" normalizeH="0" baseline="0" smtClean="0">
            <a:ln>
              <a:noFill/>
            </a:ln>
            <a:solidFill>
              <a:schemeClr val="tx1"/>
            </a:solidFill>
            <a:effectLst/>
            <a:latin typeface="Times New Roman" panose="02020503050405090304"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en-US" sz="2400" b="0" i="0" u="none" strike="noStrike" cap="none" normalizeH="0" baseline="0" smtClean="0">
            <a:ln>
              <a:noFill/>
            </a:ln>
            <a:solidFill>
              <a:schemeClr val="tx1"/>
            </a:solidFill>
            <a:effectLst/>
            <a:latin typeface="Times New Roman" panose="02020503050405090304" pitchFamily="18" charset="0"/>
            <a:ea typeface="宋体"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D:\Program Files\Microsoft Office\Templates\Presentation Designs\Blends.pot</Template>
  <TotalTime>0</TotalTime>
  <Words>25070</Words>
  <Application>WPS 文字</Application>
  <PresentationFormat>全屏显示(4:3)</PresentationFormat>
  <Paragraphs>809</Paragraphs>
  <Slides>65</Slides>
  <Notes>1</Notes>
  <HiddenSlides>0</HiddenSlides>
  <MMClips>0</MMClips>
  <ScaleCrop>false</ScaleCrop>
  <HeadingPairs>
    <vt:vector size="8" baseType="variant">
      <vt:variant>
        <vt:lpstr>已用的字体</vt:lpstr>
      </vt:variant>
      <vt:variant>
        <vt:i4>35</vt:i4>
      </vt:variant>
      <vt:variant>
        <vt:lpstr>主题</vt:lpstr>
      </vt:variant>
      <vt:variant>
        <vt:i4>1</vt:i4>
      </vt:variant>
      <vt:variant>
        <vt:lpstr>嵌入 OLE 服务器</vt:lpstr>
      </vt:variant>
      <vt:variant>
        <vt:i4>4</vt:i4>
      </vt:variant>
      <vt:variant>
        <vt:lpstr>幻灯片标题</vt:lpstr>
      </vt:variant>
      <vt:variant>
        <vt:i4>65</vt:i4>
      </vt:variant>
    </vt:vector>
  </HeadingPairs>
  <TitlesOfParts>
    <vt:vector size="105" baseType="lpstr">
      <vt:lpstr>Arial</vt:lpstr>
      <vt:lpstr>宋体</vt:lpstr>
      <vt:lpstr>Wingdings</vt:lpstr>
      <vt:lpstr>Times New Roman</vt:lpstr>
      <vt:lpstr>汉仪书宋二KW</vt:lpstr>
      <vt:lpstr>Arial Narrow</vt:lpstr>
      <vt:lpstr>Tahoma</vt:lpstr>
      <vt:lpstr>Copperplate Gothic Bold</vt:lpstr>
      <vt:lpstr>Copperplate Gothic Light</vt:lpstr>
      <vt:lpstr>苹方-简</vt:lpstr>
      <vt:lpstr>Symbol</vt:lpstr>
      <vt:lpstr>Kingsoft Sign</vt:lpstr>
      <vt:lpstr>Cambria Math</vt:lpstr>
      <vt:lpstr>Kingsoft Math</vt:lpstr>
      <vt:lpstr>Arial Rounded MT Bold</vt:lpstr>
      <vt:lpstr>微软雅黑</vt:lpstr>
      <vt:lpstr>汉仪旗黑</vt:lpstr>
      <vt:lpstr>宋体</vt:lpstr>
      <vt:lpstr>Arial Unicode MS</vt:lpstr>
      <vt:lpstr>MT Extra</vt:lpstr>
      <vt:lpstr>Euclid Symbol</vt:lpstr>
      <vt:lpstr>Cambria</vt:lpstr>
      <vt:lpstr>宋体-简</vt:lpstr>
      <vt:lpstr>Kingsoft Extra</vt:lpstr>
      <vt:lpstr>华文仿宋</vt:lpstr>
      <vt:lpstr>PingFang SC</vt:lpstr>
      <vt:lpstr>Euclid Symbol</vt:lpstr>
      <vt:lpstr>MT Extra</vt:lpstr>
      <vt:lpstr>Symbol</vt:lpstr>
      <vt:lpstr>Wingdings</vt:lpstr>
      <vt:lpstr>DejaVu Math TeX Gyre</vt:lpstr>
      <vt:lpstr>DIN Condensed</vt:lpstr>
      <vt:lpstr>PT Sans Caption Regular</vt:lpstr>
      <vt:lpstr>Times New Roman Regular</vt:lpstr>
      <vt:lpstr>Times New Roman Italic</vt:lpstr>
      <vt:lpstr>Blends</vt:lpstr>
      <vt:lpstr>Equation.3</vt:lpstr>
      <vt:lpstr>Equation.3</vt:lpstr>
      <vt:lpstr>Equation.DSMT4</vt:lpstr>
      <vt:lpstr>Equation.DSMT4</vt:lpstr>
      <vt:lpstr>Counting</vt:lpstr>
      <vt:lpstr>The basics of counting (§6.1)</vt:lpstr>
      <vt:lpstr>Set Theoretic Version</vt:lpstr>
      <vt:lpstr>Extended multiple rules</vt:lpstr>
      <vt:lpstr>Example</vt:lpstr>
      <vt:lpstr>Example</vt:lpstr>
      <vt:lpstr>Example</vt:lpstr>
      <vt:lpstr>PowerPoint 演示文稿</vt:lpstr>
      <vt:lpstr>PowerPoint 演示文稿</vt:lpstr>
      <vt:lpstr>Theorem</vt:lpstr>
      <vt:lpstr>PowerPoint 演示文稿</vt:lpstr>
      <vt:lpstr>Counting Functions</vt:lpstr>
      <vt:lpstr>IP Address Example</vt:lpstr>
      <vt:lpstr>IP address solution</vt:lpstr>
      <vt:lpstr>Subtraction Rule (Inclusion-Exclusion )</vt:lpstr>
      <vt:lpstr>Inclusion/Exclusion Example</vt:lpstr>
      <vt:lpstr>Setup of Problem</vt:lpstr>
      <vt:lpstr>Counting Bit Strings</vt:lpstr>
      <vt:lpstr>Division Rule</vt:lpstr>
      <vt:lpstr>Example </vt:lpstr>
      <vt:lpstr>Tree Diagrams</vt:lpstr>
      <vt:lpstr>Example </vt:lpstr>
      <vt:lpstr>Homework</vt:lpstr>
      <vt:lpstr>Pigeonhole Principle (§6.2)</vt:lpstr>
      <vt:lpstr>Example of Pigeonhole Principle</vt:lpstr>
      <vt:lpstr>Fun Pigeonhole Proof </vt:lpstr>
      <vt:lpstr>A Specific Case</vt:lpstr>
      <vt:lpstr>Another Fun Example</vt:lpstr>
      <vt:lpstr>Baseball problem illustrated</vt:lpstr>
      <vt:lpstr>Generalized Pigeonhole Principle</vt:lpstr>
      <vt:lpstr>Proof of G.P.P.</vt:lpstr>
      <vt:lpstr>G.P.P. Example</vt:lpstr>
      <vt:lpstr>Example 7</vt:lpstr>
      <vt:lpstr>Example 11</vt:lpstr>
      <vt:lpstr>Mathematical induction</vt:lpstr>
      <vt:lpstr>PowerPoint 演示文稿</vt:lpstr>
      <vt:lpstr>Theorem 3</vt:lpstr>
      <vt:lpstr>Ramsey theory (拉姆齐理论)</vt:lpstr>
      <vt:lpstr>Homework</vt:lpstr>
      <vt:lpstr>Permutations (§6.3)</vt:lpstr>
      <vt:lpstr>Permutation Example</vt:lpstr>
      <vt:lpstr>Solving Counting Problems by Counting Permutations</vt:lpstr>
      <vt:lpstr>Solving Counting Problems by Counting Permutations (continued)</vt:lpstr>
      <vt:lpstr>Solving Counting Problems by Counting Permutations (continued)</vt:lpstr>
      <vt:lpstr>Combinations (§6.3)</vt:lpstr>
      <vt:lpstr>Combination Example</vt:lpstr>
      <vt:lpstr>Homework</vt:lpstr>
      <vt:lpstr>Generalized Permutations and Combinations</vt:lpstr>
      <vt:lpstr>Combinations with repetition</vt:lpstr>
      <vt:lpstr>Combinations with Repetition</vt:lpstr>
      <vt:lpstr>Combinations with Repetition</vt:lpstr>
      <vt:lpstr>Combinations with Repetition</vt:lpstr>
      <vt:lpstr>Combinations with Repetition</vt:lpstr>
      <vt:lpstr>Combinations with Repetition</vt:lpstr>
      <vt:lpstr>Summarizing the Formulas for Counting Permutations and Combinations with and without Repetition</vt:lpstr>
      <vt:lpstr>Permutations with Indistinguishable Objects</vt:lpstr>
      <vt:lpstr>Permutations with Indistinguishable Objects</vt:lpstr>
      <vt:lpstr>PowerPoint 演示文稿</vt:lpstr>
      <vt:lpstr>PowerPoint 演示文稿</vt:lpstr>
      <vt:lpstr>Distributing Objects into Boxes</vt:lpstr>
      <vt:lpstr>Distinguishable objects and distinguishable boxes</vt:lpstr>
      <vt:lpstr>PowerPoint 演示文稿</vt:lpstr>
      <vt:lpstr>Indistinguishable objects and distinguishable boxes.</vt:lpstr>
      <vt:lpstr>Indistinguishable objects and distinguishable boxes.</vt:lpstr>
      <vt:lpstr>Homework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yangjuan</dc:creator>
  <cp:lastModifiedBy>杨娟</cp:lastModifiedBy>
  <cp:revision>387</cp:revision>
  <cp:lastPrinted>2025-05-26T10:24:16Z</cp:lastPrinted>
  <dcterms:created xsi:type="dcterms:W3CDTF">2025-05-26T10:24:16Z</dcterms:created>
  <dcterms:modified xsi:type="dcterms:W3CDTF">2025-05-26T10:24:16Z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680955AEBFB84BDFB707FBA89A77C91A</vt:lpwstr>
  </property>
  <property fmtid="{D5CDD505-2E9C-101B-9397-08002B2CF9AE}" pid="3" name="KSOProductBuildVer">
    <vt:lpwstr>2052-6.9.0.8865</vt:lpwstr>
  </property>
</Properties>
</file>