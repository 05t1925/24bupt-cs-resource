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443" r:id="rId3"/>
    <p:sldId id="447" r:id="rId4"/>
    <p:sldId id="448" r:id="rId5"/>
    <p:sldId id="449" r:id="rId6"/>
    <p:sldId id="456" r:id="rId7"/>
    <p:sldId id="450" r:id="rId8"/>
    <p:sldId id="454" r:id="rId9"/>
    <p:sldId id="458" r:id="rId10"/>
    <p:sldId id="417" r:id="rId11"/>
    <p:sldId id="452" r:id="rId12"/>
    <p:sldId id="419" r:id="rId13"/>
    <p:sldId id="466" r:id="rId14"/>
    <p:sldId id="467" r:id="rId15"/>
    <p:sldId id="446" r:id="rId16"/>
    <p:sldId id="420" r:id="rId17"/>
  </p:sldIdLst>
  <p:sldSz cx="9144000" cy="6858000" type="screen4x3"/>
  <p:notesSz cx="6755130" cy="9866630"/>
  <p:custDataLst>
    <p:tags r:id="rId23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6" userDrawn="1">
          <p15:clr>
            <a:srgbClr val="A4A3A4"/>
          </p15:clr>
        </p15:guide>
        <p15:guide id="2" pos="4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3300"/>
    <a:srgbClr val="003399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 horzBarState="maximized">
    <p:restoredLeft sz="15620"/>
    <p:restoredTop sz="94660"/>
  </p:normalViewPr>
  <p:slideViewPr>
    <p:cSldViewPr showGuides="1">
      <p:cViewPr varScale="1">
        <p:scale>
          <a:sx n="95" d="100"/>
          <a:sy n="95" d="100"/>
        </p:scale>
        <p:origin x="1104" y="18"/>
      </p:cViewPr>
      <p:guideLst>
        <p:guide orient="horz" pos="1416"/>
        <p:guide pos="48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576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9050" y="0"/>
            <a:ext cx="292576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2576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9050" y="9372600"/>
            <a:ext cx="292576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kumimoji="0" sz="1200">
                <a:cs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004A2F-30FF-4B12-915E-55041756B06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576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9050" y="0"/>
            <a:ext cx="292576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6" name="Rectangle 4"/>
          <p:cNvSpPr>
            <a:spLocks noTextEdit="1"/>
          </p:cNvSpPr>
          <p:nvPr>
            <p:ph type="sldImg"/>
          </p:nvPr>
        </p:nvSpPr>
        <p:spPr>
          <a:xfrm>
            <a:off x="909638" y="739775"/>
            <a:ext cx="4933950" cy="370046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113" y="4686300"/>
            <a:ext cx="4954588" cy="44402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2576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9050" y="9372600"/>
            <a:ext cx="292576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kumimoji="0" sz="1200">
                <a:cs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02DAAE-03D3-417E-B2E6-62B4103A421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7" descr="attach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8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3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9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1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8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5" name="Rectangle 18"/>
          <p:cNvSpPr>
            <a:spLocks noChangeArrowheads="1"/>
          </p:cNvSpPr>
          <p:nvPr/>
        </p:nvSpPr>
        <p:spPr bwMode="auto">
          <a:xfrm>
            <a:off x="4419600" y="4114800"/>
            <a:ext cx="4724400" cy="21859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Yang Juan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Copperplate Gothic Light" panose="020E05070202060204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yangjuan@bupt.edu.cn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School of Computer science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Beijing University of Posts &amp; Telecommunications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1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5361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26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78E7CC-423E-4C2C-94E4-2F7BDFE82C2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512052-1410-466B-A50D-4AB25D117BB5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487345-8B86-4C53-8F1B-40D8B19AC4B1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EB9915-F1AC-46C6-959A-811790A453D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487345-8B86-4C53-8F1B-40D8B19AC4B1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EB9915-F1AC-46C6-959A-811790A453D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487345-8B86-4C53-8F1B-40D8B19AC4B1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EB9915-F1AC-46C6-959A-811790A453D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487345-8B86-4C53-8F1B-40D8B19AC4B1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EB9915-F1AC-46C6-959A-811790A453D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487345-8B86-4C53-8F1B-40D8B19AC4B1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EB9915-F1AC-46C6-959A-811790A453D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487345-8B86-4C53-8F1B-40D8B19AC4B1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EB9915-F1AC-46C6-959A-811790A453D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487345-8B86-4C53-8F1B-40D8B19AC4B1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EB9915-F1AC-46C6-959A-811790A453D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487345-8B86-4C53-8F1B-40D8B19AC4B1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EB9915-F1AC-46C6-959A-811790A453D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487345-8B86-4C53-8F1B-40D8B19AC4B1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EB9915-F1AC-46C6-959A-811790A453D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487345-8B86-4C53-8F1B-40D8B19AC4B1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EB9915-F1AC-46C6-959A-811790A453D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487345-8B86-4C53-8F1B-40D8B19AC4B1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EB9915-F1AC-46C6-959A-811790A453D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8" descr="attach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487345-8B86-4C53-8F1B-40D8B19AC4B1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8" name="Rectangle 2"/>
          <p:cNvSpPr>
            <a:spLocks noChangeArrowheads="1"/>
          </p:cNvSpPr>
          <p:nvPr/>
        </p:nvSpPr>
        <p:spPr bwMode="ltGray">
          <a:xfrm>
            <a:off x="417513" y="404813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4"/>
          <p:cNvSpPr>
            <a:spLocks noChangeArrowheads="1"/>
          </p:cNvSpPr>
          <p:nvPr/>
        </p:nvSpPr>
        <p:spPr bwMode="ltGray">
          <a:xfrm>
            <a:off x="541338" y="827088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5"/>
          <p:cNvSpPr>
            <a:spLocks noChangeArrowheads="1"/>
          </p:cNvSpPr>
          <p:nvPr/>
        </p:nvSpPr>
        <p:spPr bwMode="ltGray">
          <a:xfrm>
            <a:off x="911225" y="827088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6"/>
          <p:cNvSpPr>
            <a:spLocks noChangeArrowheads="1"/>
          </p:cNvSpPr>
          <p:nvPr/>
        </p:nvSpPr>
        <p:spPr bwMode="ltGray">
          <a:xfrm>
            <a:off x="127000" y="7540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7"/>
          <p:cNvSpPr>
            <a:spLocks noChangeArrowheads="1"/>
          </p:cNvSpPr>
          <p:nvPr/>
        </p:nvSpPr>
        <p:spPr bwMode="gray">
          <a:xfrm>
            <a:off x="762000" y="33337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" name="Rectangle 8"/>
          <p:cNvSpPr>
            <a:spLocks noChangeArrowheads="1"/>
          </p:cNvSpPr>
          <p:nvPr/>
        </p:nvSpPr>
        <p:spPr bwMode="gray">
          <a:xfrm>
            <a:off x="520700" y="10525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9"/>
          <p:cNvSpPr>
            <a:spLocks noGrp="1"/>
          </p:cNvSpPr>
          <p:nvPr>
            <p:ph type="title"/>
          </p:nvPr>
        </p:nvSpPr>
        <p:spPr>
          <a:xfrm>
            <a:off x="1150938" y="115888"/>
            <a:ext cx="7793037" cy="9271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5" name="Rectangle 10"/>
          <p:cNvSpPr>
            <a:spLocks noGrp="1"/>
          </p:cNvSpPr>
          <p:nvPr>
            <p:ph type="body"/>
          </p:nvPr>
        </p:nvSpPr>
        <p:spPr>
          <a:xfrm>
            <a:off x="1095375" y="1335088"/>
            <a:ext cx="7848600" cy="4470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EB9915-F1AC-46C6-959A-811790A453D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 kumimoji="1" sz="1200" b="1" i="1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6"/>
          <p:cNvSpPr>
            <a:spLocks noGrp="1"/>
          </p:cNvSpPr>
          <p:nvPr>
            <p:ph type="ctrTitle"/>
          </p:nvPr>
        </p:nvSpPr>
        <p:spPr>
          <a:xfrm>
            <a:off x="990600" y="228600"/>
            <a:ext cx="7772400" cy="304800"/>
          </a:xfrm>
        </p:spPr>
        <p:txBody>
          <a:bodyPr vert="horz" wrap="square" lIns="91440" tIns="45720" rIns="91440" bIns="45720" anchor="b" anchorCtr="0"/>
          <a:p>
            <a:pPr algn="r" eaLnBrk="1" hangingPunct="1">
              <a:buClrTx/>
              <a:buSzTx/>
              <a:buFontTx/>
            </a:pPr>
            <a:r>
              <a:rPr lang="en-US" altLang="zh-CN" sz="2000" dirty="0">
                <a:solidFill>
                  <a:schemeClr val="hlink"/>
                </a:solidFill>
                <a:latin typeface="Copperplate Gothic Bold" panose="020E0705020206020404" pitchFamily="34" charset="0"/>
                <a:ea typeface="+mj-ea"/>
                <a:cs typeface="+mj-cs"/>
              </a:rPr>
              <a:t>Discrete Mathematical Structures</a:t>
            </a:r>
            <a:endParaRPr lang="en-US" altLang="zh-CN" sz="2000" dirty="0">
              <a:solidFill>
                <a:schemeClr val="hlink"/>
              </a:solidFill>
              <a:latin typeface="Copperplate Gothic Bold" panose="020E0705020206020404" pitchFamily="34" charset="0"/>
              <a:ea typeface="+mj-ea"/>
              <a:cs typeface="+mj-cs"/>
            </a:endParaRPr>
          </a:p>
        </p:txBody>
      </p:sp>
      <p:sp>
        <p:nvSpPr>
          <p:cNvPr id="5123" name="Rectangle 7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905000"/>
          </a:xfrm>
        </p:spPr>
        <p:txBody>
          <a:bodyPr vert="horz" wrap="square" lIns="91440" tIns="45720" rIns="91440" bIns="45720" anchor="t" anchorCtr="0"/>
          <a:p>
            <a:pPr algn="r" eaLnBrk="1" hangingPunct="1">
              <a:buSzPct val="60000"/>
            </a:pPr>
            <a:endParaRPr lang="en-US" altLang="zh-CN" sz="1800" dirty="0">
              <a:solidFill>
                <a:srgbClr val="009999"/>
              </a:solidFill>
              <a:latin typeface="+mn-lt"/>
              <a:ea typeface="+mn-ea"/>
              <a:cs typeface="+mn-cs"/>
            </a:endParaRPr>
          </a:p>
          <a:p>
            <a:pPr algn="r" eaLnBrk="1" hangingPunct="1">
              <a:buSzPct val="60000"/>
            </a:pPr>
            <a:endParaRPr lang="en-US" altLang="zh-CN" sz="1800" dirty="0">
              <a:solidFill>
                <a:srgbClr val="009999"/>
              </a:solidFill>
              <a:latin typeface="+mn-lt"/>
              <a:ea typeface="+mn-ea"/>
              <a:cs typeface="+mn-cs"/>
            </a:endParaRPr>
          </a:p>
          <a:p>
            <a:pPr algn="r" eaLnBrk="1" hangingPunct="1">
              <a:buSzPct val="60000"/>
            </a:pPr>
            <a:endParaRPr lang="en-US" altLang="zh-CN" sz="1800" dirty="0">
              <a:solidFill>
                <a:srgbClr val="009999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124" name="Rectangle 12"/>
          <p:cNvSpPr/>
          <p:nvPr/>
        </p:nvSpPr>
        <p:spPr>
          <a:xfrm>
            <a:off x="990600" y="18288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dirty="0">
                <a:solidFill>
                  <a:schemeClr val="tx2"/>
                </a:solidFill>
                <a:latin typeface="Copperplate Gothic Bold" panose="020E0705020206020404" pitchFamily="34" charset="0"/>
              </a:rPr>
              <a:t>Application of propositional logic</a:t>
            </a:r>
            <a:endParaRPr lang="en-US" altLang="zh-CN" sz="4400" dirty="0">
              <a:solidFill>
                <a:schemeClr val="tx2"/>
              </a:solidFill>
              <a:latin typeface="Copperplate Gothic Bold" panose="020E07050202060204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dirty="0">
                <a:solidFill>
                  <a:schemeClr val="tx2"/>
                </a:solidFill>
                <a:latin typeface="Copperplate Gothic Bold" panose="020E0705020206020404" pitchFamily="34" charset="0"/>
              </a:rPr>
              <a:t>(命题逻辑的应用）</a:t>
            </a:r>
            <a:endParaRPr lang="zh-CN" altLang="en-US" sz="4400" dirty="0">
              <a:solidFill>
                <a:schemeClr val="tx2"/>
              </a:solidFill>
              <a:latin typeface="Copperplate Gothic Bold" panose="020E0705020206020404" pitchFamily="34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sz="3200" dirty="0"/>
              <a:t>Applications of Propositional Logic: Summary</a:t>
            </a:r>
            <a:endParaRPr lang="en-US" altLang="zh-CN" sz="3200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815975" y="1371600"/>
            <a:ext cx="8128000" cy="411480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>
                <a:latin typeface="Times New Roman" panose="02020603050405020304" pitchFamily="18" charset="0"/>
              </a:rPr>
              <a:t>Translating English to Propositional Logic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System Specifications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Boolean Searching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Logic Puzzles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Logic Circuits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sz="3200" dirty="0"/>
              <a:t>Translating English Sentences</a:t>
            </a:r>
            <a:endParaRPr lang="en-US" altLang="zh-CN" sz="3200" dirty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</a:pPr>
            <a:r>
              <a:rPr lang="en-US" altLang="zh-CN" sz="3000" dirty="0">
                <a:latin typeface="Times New Roman" panose="02020603050405020304" pitchFamily="18" charset="0"/>
              </a:rPr>
              <a:t>Steps to convert an English sentence to a statement in propositional logic</a:t>
            </a:r>
            <a:endParaRPr lang="en-US" altLang="zh-CN" sz="3000" dirty="0">
              <a:latin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600" dirty="0">
                <a:latin typeface="Times New Roman" panose="02020603050405020304" pitchFamily="18" charset="0"/>
              </a:rPr>
              <a:t>Identify atomic propositions and represent using propositional variables.</a:t>
            </a:r>
            <a:endParaRPr lang="en-US" altLang="zh-CN" sz="2600" dirty="0">
              <a:latin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600" dirty="0">
                <a:latin typeface="Times New Roman" panose="02020603050405020304" pitchFamily="18" charset="0"/>
              </a:rPr>
              <a:t>Determine appropriate logical connectives</a:t>
            </a:r>
            <a:endParaRPr lang="en-US" altLang="zh-CN" sz="2600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3000" dirty="0">
                <a:latin typeface="Times New Roman" panose="02020603050405020304" pitchFamily="18" charset="0"/>
              </a:rPr>
              <a:t>“If I go to Harry’s or to the country, I will not go shopping.”</a:t>
            </a:r>
            <a:endParaRPr lang="en-US" altLang="zh-CN" sz="3000" dirty="0">
              <a:latin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600" i="1" dirty="0">
                <a:latin typeface="Times New Roman" panose="02020603050405020304" pitchFamily="18" charset="0"/>
              </a:rPr>
              <a:t>p</a:t>
            </a:r>
            <a:r>
              <a:rPr lang="en-US" altLang="zh-CN" sz="2600" dirty="0">
                <a:latin typeface="Times New Roman" panose="02020603050405020304" pitchFamily="18" charset="0"/>
              </a:rPr>
              <a:t>: I go to Harry’s</a:t>
            </a:r>
            <a:endParaRPr lang="en-US" altLang="zh-CN" sz="2600" dirty="0">
              <a:latin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600" dirty="0">
                <a:latin typeface="Times New Roman" panose="02020603050405020304" pitchFamily="18" charset="0"/>
              </a:rPr>
              <a:t>q: I go to the country.</a:t>
            </a:r>
            <a:endParaRPr lang="en-US" altLang="zh-CN" sz="2600" dirty="0">
              <a:latin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600" i="1" dirty="0">
                <a:latin typeface="Times New Roman" panose="02020603050405020304" pitchFamily="18" charset="0"/>
              </a:rPr>
              <a:t>r</a:t>
            </a:r>
            <a:r>
              <a:rPr lang="en-US" altLang="zh-CN" sz="2600" dirty="0">
                <a:latin typeface="Times New Roman" panose="02020603050405020304" pitchFamily="18" charset="0"/>
              </a:rPr>
              <a:t>:  I will go shopping.</a:t>
            </a:r>
            <a:endParaRPr lang="en-US" altLang="zh-CN" sz="2600" dirty="0">
              <a:latin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endParaRPr lang="en-US" altLang="zh-CN" sz="2600" b="1" dirty="0"/>
          </a:p>
          <a:p>
            <a:pPr lvl="1">
              <a:lnSpc>
                <a:spcPct val="90000"/>
              </a:lnSpc>
              <a:buNone/>
            </a:pPr>
            <a:endParaRPr lang="en-US" altLang="zh-CN" sz="2600" b="1" dirty="0"/>
          </a:p>
        </p:txBody>
      </p:sp>
      <p:pic>
        <p:nvPicPr>
          <p:cNvPr id="7172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56325" y="5141913"/>
            <a:ext cx="2066925" cy="3825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3" name="TextBox 6"/>
          <p:cNvSpPr txBox="1"/>
          <p:nvPr/>
        </p:nvSpPr>
        <p:spPr>
          <a:xfrm>
            <a:off x="4876800" y="4419600"/>
            <a:ext cx="1676400" cy="381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7174" name="TextBox 7"/>
          <p:cNvSpPr txBox="1"/>
          <p:nvPr/>
        </p:nvSpPr>
        <p:spPr>
          <a:xfrm>
            <a:off x="5867400" y="4516438"/>
            <a:ext cx="32004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If </a:t>
            </a:r>
            <a:r>
              <a:rPr lang="en-US" altLang="zh-CN" sz="2800" i="1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</a:rPr>
              <a:t> or </a:t>
            </a:r>
            <a:r>
              <a:rPr lang="en-US" altLang="zh-CN" sz="2800" i="1" dirty="0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 then not 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</a:rPr>
              <a:t>.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Example</a:t>
            </a:r>
            <a:endParaRPr lang="en-US" alt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763" y="1042988"/>
            <a:ext cx="8631237" cy="4114800"/>
          </a:xfrm>
        </p:spPr>
        <p:txBody>
          <a:bodyPr vert="horz" wrap="square" lIns="91440" tIns="45720" rIns="91440" bIns="45720" anchor="t" anchorCtr="0"/>
          <a:p>
            <a:r>
              <a:rPr lang="en-US" altLang="zh-CN" b="1" dirty="0"/>
              <a:t>  </a:t>
            </a:r>
            <a:r>
              <a:rPr lang="en-US" altLang="zh-CN" b="1" dirty="0">
                <a:latin typeface="Times New Roman" panose="02020603050405020304" pitchFamily="18" charset="0"/>
              </a:rPr>
              <a:t>Problem:</a:t>
            </a:r>
            <a:r>
              <a:rPr lang="en-US" altLang="zh-CN" dirty="0">
                <a:latin typeface="Times New Roman" panose="02020603050405020304" pitchFamily="18" charset="0"/>
              </a:rPr>
              <a:t> Translate the following sentence into propositional logic: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</a:rPr>
              <a:t>“You can access the Internet from campus only if you are a computer science major or you are not a freshman.”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</a:rPr>
              <a:t>One Solution</a:t>
            </a:r>
            <a:r>
              <a:rPr lang="en-US" altLang="zh-CN" dirty="0">
                <a:latin typeface="Times New Roman" panose="02020603050405020304" pitchFamily="18" charset="0"/>
              </a:rPr>
              <a:t>: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/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: “You can access the internet from campus,”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/>
            <a:r>
              <a:rPr lang="en-US" altLang="zh-CN" i="1" dirty="0">
                <a:latin typeface="Times New Roman" panose="02020603050405020304" pitchFamily="18" charset="0"/>
              </a:rPr>
              <a:t>c </a:t>
            </a:r>
            <a:r>
              <a:rPr lang="en-US" altLang="zh-CN" dirty="0">
                <a:latin typeface="Times New Roman" panose="02020603050405020304" pitchFamily="18" charset="0"/>
              </a:rPr>
              <a:t>: “You are a computer science major,”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/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: “You are a freshman.”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</a:rPr>
              <a:t>a only if (c ∨ ¬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)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</a:rPr>
              <a:t>a→ (c ∨ ¬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)                 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80" end="1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95" end="2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43" end="2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84" end="3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10" end="3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32" end="3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922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Translating English sentences</a:t>
            </a:r>
            <a:endParaRPr lang="en-US" altLang="zh-CN" sz="3200" dirty="0"/>
          </a:p>
        </p:txBody>
      </p:sp>
      <p:sp>
        <p:nvSpPr>
          <p:cNvPr id="9222" name="Rectangle 3"/>
          <p:cNvSpPr>
            <a:spLocks noGrp="1"/>
          </p:cNvSpPr>
          <p:nvPr>
            <p:ph idx="1"/>
          </p:nvPr>
        </p:nvSpPr>
        <p:spPr>
          <a:xfrm>
            <a:off x="1004888" y="1135063"/>
            <a:ext cx="7848600" cy="4468812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Example 2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You cannot ride the roller coaster if you are under 4 feet tall unless you are older than 16 years old.</a:t>
            </a:r>
            <a:endParaRPr lang="en-US" altLang="zh-C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4213" y="3284538"/>
            <a:ext cx="8356600" cy="34782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ts val="33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i="1" dirty="0">
                <a:solidFill>
                  <a:srgbClr val="231F2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231F20"/>
                </a:solidFill>
                <a:latin typeface="Times New Roman" panose="02020603050405020304" pitchFamily="18" charset="0"/>
              </a:rPr>
              <a:t>: “You can ride the roller coaster.” </a:t>
            </a:r>
            <a:endParaRPr lang="en-US" altLang="zh-CN" dirty="0">
              <a:solidFill>
                <a:srgbClr val="231F20"/>
              </a:solidFill>
              <a:latin typeface="Times New Roman" panose="02020603050405020304" pitchFamily="18" charset="0"/>
            </a:endParaRPr>
          </a:p>
          <a:p>
            <a:pPr marL="0" lvl="0" indent="0">
              <a:lnSpc>
                <a:spcPts val="33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i="1" dirty="0">
                <a:solidFill>
                  <a:srgbClr val="231F20"/>
                </a:solidFill>
                <a:latin typeface="Times New Roman" panose="02020603050405020304" pitchFamily="18" charset="0"/>
              </a:rPr>
              <a:t>r:  </a:t>
            </a:r>
            <a:r>
              <a:rPr lang="en-US" altLang="zh-CN" dirty="0">
                <a:solidFill>
                  <a:srgbClr val="231F20"/>
                </a:solidFill>
                <a:latin typeface="Times New Roman" panose="02020603050405020304" pitchFamily="18" charset="0"/>
              </a:rPr>
              <a:t>“You are under 4 feet tall.”</a:t>
            </a:r>
            <a:br>
              <a:rPr lang="en-US" altLang="zh-CN" dirty="0">
                <a:solidFill>
                  <a:srgbClr val="231F20"/>
                </a:solidFill>
                <a:latin typeface="Times New Roman" panose="02020603050405020304" pitchFamily="18" charset="0"/>
              </a:rPr>
            </a:br>
            <a:r>
              <a:rPr lang="en-US" altLang="zh-CN" i="1" dirty="0">
                <a:solidFill>
                  <a:srgbClr val="231F20"/>
                </a:solidFill>
                <a:latin typeface="Times New Roman" panose="02020603050405020304" pitchFamily="18" charset="0"/>
              </a:rPr>
              <a:t>s: </a:t>
            </a:r>
            <a:r>
              <a:rPr lang="en-US" altLang="zh-CN" dirty="0">
                <a:solidFill>
                  <a:srgbClr val="231F20"/>
                </a:solidFill>
                <a:latin typeface="Times New Roman" panose="02020603050405020304" pitchFamily="18" charset="0"/>
              </a:rPr>
              <a:t> “You are older than 16 years old.”</a:t>
            </a:r>
            <a:endParaRPr lang="en-US" altLang="zh-CN" dirty="0">
              <a:solidFill>
                <a:srgbClr val="231F20"/>
              </a:solidFill>
              <a:latin typeface="Times New Roman" panose="02020603050405020304" pitchFamily="18" charset="0"/>
            </a:endParaRPr>
          </a:p>
          <a:p>
            <a:pPr marL="0" lvl="0" indent="0">
              <a:lnSpc>
                <a:spcPts val="33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231F20"/>
                </a:solidFill>
                <a:latin typeface="Times New Roman" panose="02020603050405020304" pitchFamily="18" charset="0"/>
              </a:rPr>
              <a:t> </a:t>
            </a:r>
            <a:endParaRPr lang="en-US" altLang="zh-CN" dirty="0">
              <a:solidFill>
                <a:srgbClr val="231F20"/>
              </a:solidFill>
              <a:latin typeface="Times New Roman" panose="02020603050405020304" pitchFamily="18" charset="0"/>
            </a:endParaRPr>
          </a:p>
          <a:p>
            <a:pPr marL="0" lvl="0" indent="0">
              <a:lnSpc>
                <a:spcPts val="33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231F20"/>
                </a:solidFill>
                <a:latin typeface="Times New Roman" panose="02020603050405020304" pitchFamily="18" charset="0"/>
              </a:rPr>
              <a:t>¬</a:t>
            </a:r>
            <a:r>
              <a:rPr lang="en-US" altLang="zh-CN" i="1" dirty="0">
                <a:solidFill>
                  <a:srgbClr val="231F20"/>
                </a:solidFill>
                <a:latin typeface="Times New Roman" panose="02020603050405020304" pitchFamily="18" charset="0"/>
              </a:rPr>
              <a:t>q if  (r </a:t>
            </a:r>
            <a:r>
              <a:rPr lang="en-US" altLang="zh-CN" dirty="0">
                <a:solidFill>
                  <a:srgbClr val="231F20"/>
                </a:solidFill>
                <a:latin typeface="Times New Roman" panose="02020603050405020304" pitchFamily="18" charset="0"/>
              </a:rPr>
              <a:t>∧ ¬</a:t>
            </a:r>
            <a:r>
              <a:rPr lang="en-US" altLang="zh-CN" i="1" dirty="0">
                <a:solidFill>
                  <a:srgbClr val="231F20"/>
                </a:solidFill>
                <a:latin typeface="Times New Roman" panose="02020603050405020304" pitchFamily="18" charset="0"/>
              </a:rPr>
              <a:t>s) </a:t>
            </a:r>
            <a:endParaRPr lang="en-US" altLang="zh-CN" i="1" dirty="0">
              <a:solidFill>
                <a:srgbClr val="231F20"/>
              </a:solidFill>
              <a:latin typeface="Times New Roman" panose="02020603050405020304" pitchFamily="18" charset="0"/>
            </a:endParaRPr>
          </a:p>
          <a:p>
            <a:pPr marL="0" lvl="0" indent="0">
              <a:lnSpc>
                <a:spcPts val="33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dirty="0">
              <a:solidFill>
                <a:srgbClr val="231F20"/>
              </a:solidFill>
              <a:latin typeface="Times New Roman" panose="02020603050405020304" pitchFamily="18" charset="0"/>
            </a:endParaRPr>
          </a:p>
          <a:p>
            <a:pPr marL="0" lvl="0" indent="0">
              <a:lnSpc>
                <a:spcPts val="33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231F20"/>
                </a:solidFill>
                <a:latin typeface="Times New Roman" panose="02020603050405020304" pitchFamily="18" charset="0"/>
              </a:rPr>
              <a:t>The sentence can be translated to  </a:t>
            </a:r>
            <a:r>
              <a:rPr lang="en-US" altLang="zh-CN" i="1" dirty="0">
                <a:solidFill>
                  <a:srgbClr val="231F20"/>
                </a:solidFill>
                <a:latin typeface="Times New Roman" panose="02020603050405020304" pitchFamily="18" charset="0"/>
              </a:rPr>
              <a:t>(r </a:t>
            </a:r>
            <a:r>
              <a:rPr lang="en-US" altLang="zh-CN" dirty="0">
                <a:solidFill>
                  <a:srgbClr val="231F20"/>
                </a:solidFill>
                <a:latin typeface="Times New Roman" panose="02020603050405020304" pitchFamily="18" charset="0"/>
              </a:rPr>
              <a:t>∧ ¬</a:t>
            </a:r>
            <a:r>
              <a:rPr lang="en-US" altLang="zh-CN" i="1" dirty="0">
                <a:solidFill>
                  <a:srgbClr val="231F20"/>
                </a:solidFill>
                <a:latin typeface="Times New Roman" panose="02020603050405020304" pitchFamily="18" charset="0"/>
              </a:rPr>
              <a:t>s) </a:t>
            </a:r>
            <a:r>
              <a:rPr lang="en-US" altLang="zh-CN" dirty="0">
                <a:solidFill>
                  <a:srgbClr val="231F20"/>
                </a:solidFill>
                <a:latin typeface="Times New Roman" panose="02020603050405020304" pitchFamily="18" charset="0"/>
              </a:rPr>
              <a:t>→ ¬</a:t>
            </a:r>
            <a:r>
              <a:rPr lang="en-US" altLang="zh-CN" i="1" dirty="0">
                <a:solidFill>
                  <a:srgbClr val="231F20"/>
                </a:solidFill>
                <a:latin typeface="Times New Roman" panose="02020603050405020304" pitchFamily="18" charset="0"/>
              </a:rPr>
              <a:t>q.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br>
              <a:rPr lang="en-US" altLang="zh-CN" sz="2800" dirty="0">
                <a:latin typeface="Times New Roman" panose="02020603050405020304" pitchFamily="18" charset="0"/>
              </a:rPr>
            </a:br>
            <a:endParaRPr lang="zh-CN" altLang="en-US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System Specifications</a:t>
            </a:r>
            <a:endParaRPr lang="en-US" altLang="zh-CN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868363" y="1196975"/>
            <a:ext cx="8259762" cy="4114800"/>
          </a:xfrm>
        </p:spPr>
        <p:txBody>
          <a:bodyPr vert="horz" wrap="square" lIns="91440" tIns="45720" rIns="91440" bIns="45720" anchor="t" anchorCtr="0"/>
          <a:p>
            <a:r>
              <a:rPr lang="en-US" altLang="zh-CN" sz="2800" dirty="0">
                <a:latin typeface="Times New Roman" panose="02020603050405020304" pitchFamily="18" charset="0"/>
              </a:rPr>
              <a:t>System and Software engineers take requirements in English and express them in a precise specification language based on logic.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</a:rPr>
              <a:t>Example</a:t>
            </a:r>
            <a:r>
              <a:rPr lang="en-US" altLang="zh-CN" sz="2800" dirty="0">
                <a:latin typeface="Times New Roman" panose="02020603050405020304" pitchFamily="18" charset="0"/>
              </a:rPr>
              <a:t>: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</a:rPr>
              <a:t>Express in propositional logic: “The automated reply cannot be sent when the file system is full”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</a:rPr>
              <a:t>Solution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</a:rPr>
              <a:t> : “The automated reply can be sent”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/>
            <a:r>
              <a:rPr lang="en-US" altLang="zh-CN" sz="2400" i="1" dirty="0">
                <a:latin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</a:rPr>
              <a:t> : “The file system is full.”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</a:rPr>
              <a:t>¬ </a:t>
            </a:r>
            <a:r>
              <a:rPr lang="en-US" altLang="zh-CN" sz="2400" i="1" dirty="0">
                <a:latin typeface="Times New Roman" panose="02020603050405020304" pitchFamily="18" charset="0"/>
              </a:rPr>
              <a:t>p  </a:t>
            </a:r>
            <a:r>
              <a:rPr lang="en-US" altLang="zh-CN" sz="2400" dirty="0">
                <a:latin typeface="Times New Roman" panose="02020603050405020304" pitchFamily="18" charset="0"/>
              </a:rPr>
              <a:t>when</a:t>
            </a:r>
            <a:r>
              <a:rPr lang="en-US" altLang="zh-CN" sz="2400" i="1" dirty="0">
                <a:latin typeface="Times New Roman" panose="02020603050405020304" pitchFamily="18" charset="0"/>
              </a:rPr>
              <a:t> q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/>
            <a:r>
              <a:rPr lang="en-US" altLang="zh-CN" sz="2400" i="1" dirty="0">
                <a:latin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</a:rPr>
              <a:t>→ ¬ 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sz="3200" dirty="0"/>
              <a:t>Consistent System Specifications</a:t>
            </a:r>
            <a:endParaRPr lang="zh-CN" altLang="en-US" sz="3200" dirty="0"/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723900" y="1268413"/>
            <a:ext cx="8353425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latin typeface="Times New Roman" panose="02020603050405020304" pitchFamily="18" charset="0"/>
              </a:rPr>
              <a:t>Definition</a:t>
            </a:r>
            <a:r>
              <a:rPr lang="en-US" altLang="zh-CN" sz="2800" dirty="0">
                <a:latin typeface="Times New Roman" panose="02020603050405020304" pitchFamily="18" charset="0"/>
              </a:rPr>
              <a:t>: A list of propositions is </a:t>
            </a:r>
            <a:r>
              <a:rPr lang="en-US" altLang="zh-CN" sz="2800" i="1" dirty="0">
                <a:latin typeface="Times New Roman" panose="02020603050405020304" pitchFamily="18" charset="0"/>
              </a:rPr>
              <a:t>consistent</a:t>
            </a:r>
            <a:r>
              <a:rPr lang="en-US" altLang="zh-CN" sz="2800" dirty="0">
                <a:latin typeface="Times New Roman" panose="02020603050405020304" pitchFamily="18" charset="0"/>
              </a:rPr>
              <a:t> if it is possible to assign truth values to the proposition variables so that each proposition is true.</a:t>
            </a:r>
            <a:endParaRPr lang="en-US" altLang="zh-CN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7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863600" y="115888"/>
            <a:ext cx="7993063" cy="965200"/>
          </a:xfrm>
        </p:spPr>
        <p:txBody>
          <a:bodyPr vert="horz" wrap="square" lIns="91440" tIns="45720" rIns="91440" bIns="45720" anchor="b" anchorCtr="0"/>
          <a:p>
            <a:r>
              <a:rPr lang="en-US" altLang="zh-CN" sz="3200" dirty="0"/>
              <a:t>Consistent System Specifications</a:t>
            </a:r>
            <a:endParaRPr lang="zh-CN" altLang="en-US" sz="3200" dirty="0"/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215900" y="1076325"/>
            <a:ext cx="89281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Example 4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The diagnostic message is stored in the buffer or it is retrasmitted.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The diagnostic message is not stored in the buffer.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If the diagnostic message is stored in the buffer, then it is retransmitted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 Solution: 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</a:rPr>
              <a:t> “The diagnostic message is stored in the buffer.”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</a:rPr>
              <a:t> “The diagnostic message is retransmitted”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 p ∨ q,   ¬p</a:t>
            </a:r>
            <a:r>
              <a:rPr lang="en-US" altLang="zh-CN" sz="2400" dirty="0">
                <a:latin typeface="Times New Roman" panose="02020603050405020304" pitchFamily="18" charset="0"/>
                <a:sym typeface="宋体" panose="02010600030101010101" pitchFamily="2" charset="-122"/>
              </a:rPr>
              <a:t>,</a:t>
            </a:r>
            <a:r>
              <a:rPr lang="en-US" altLang="zh-CN" sz="2400" dirty="0">
                <a:latin typeface="Times New Roman" panose="02020603050405020304" pitchFamily="18" charset="0"/>
              </a:rPr>
              <a:t> p→ q.  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When p is false and q is true all three statements are true. So the specification is consistent.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</a:rPr>
              <a:t>What if “The diagnostic message is not retransmitted is added.” 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lvl="1"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</a:t>
            </a:r>
            <a:r>
              <a:rPr lang="en-US" altLang="zh-CN" sz="2000" b="1" dirty="0">
                <a:latin typeface="Times New Roman" panose="02020603050405020304" pitchFamily="18" charset="0"/>
              </a:rPr>
              <a:t>Solution</a:t>
            </a:r>
            <a:r>
              <a:rPr lang="en-US" altLang="zh-CN" sz="2000" dirty="0">
                <a:latin typeface="Times New Roman" panose="02020603050405020304" pitchFamily="18" charset="0"/>
              </a:rPr>
              <a:t>: Now we are adding ¬</a:t>
            </a:r>
            <a:r>
              <a:rPr lang="en-US" altLang="zh-CN" sz="2000" i="1" dirty="0">
                <a:latin typeface="Times New Roman" panose="02020603050405020304" pitchFamily="18" charset="0"/>
              </a:rPr>
              <a:t>q</a:t>
            </a:r>
            <a:r>
              <a:rPr lang="en-US" altLang="zh-CN" sz="2000" dirty="0">
                <a:latin typeface="Times New Roman" panose="02020603050405020304" pitchFamily="18" charset="0"/>
              </a:rPr>
              <a:t> and there is no satisfying assignment.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1"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			So the specification is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</a:t>
            </a:r>
            <a:r>
              <a:rPr lang="en-US" altLang="zh-CN" sz="2000" dirty="0"/>
              <a:t>. </a:t>
            </a:r>
            <a:endParaRPr lang="zh-CN" altLang="en-US" sz="2000" dirty="0"/>
          </a:p>
          <a:p>
            <a:pPr lvl="1" eaLnBrk="1" hangingPunct="1">
              <a:lnSpc>
                <a:spcPct val="90000"/>
              </a:lnSpc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229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536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Boolean searches</a:t>
            </a:r>
            <a:endParaRPr lang="en-US" altLang="zh-CN" dirty="0"/>
          </a:p>
        </p:txBody>
      </p:sp>
      <p:sp>
        <p:nvSpPr>
          <p:cNvPr id="15366" name="Rectangle 3"/>
          <p:cNvSpPr>
            <a:spLocks noGrp="1"/>
          </p:cNvSpPr>
          <p:nvPr>
            <p:ph idx="1"/>
          </p:nvPr>
        </p:nvSpPr>
        <p:spPr>
          <a:xfrm>
            <a:off x="1095375" y="1193800"/>
            <a:ext cx="7848600" cy="4470400"/>
          </a:xfrm>
        </p:spPr>
        <p:txBody>
          <a:bodyPr vert="horz" wrap="square" lIns="91440" tIns="45720" rIns="91440" bIns="45720" anchor="t" anchorCtr="0"/>
          <a:p>
            <a:pPr lvl="0" eaLnBrk="1" hangingPunct="1"/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Definition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：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sym typeface="+mn-ea"/>
              </a:rPr>
              <a:t>Logical connectives are used extensively in searches of large collections of information. Because these searches employ techniques from propositional logic, they are called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Boolean Searches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/>
            <a:r>
              <a:rPr lang="en-US" altLang="zh-CN" i="1" dirty="0">
                <a:latin typeface="Times New Roman" panose="02020603050405020304" pitchFamily="18" charset="0"/>
                <a:sym typeface="+mn-ea"/>
              </a:rPr>
              <a:t>Connectives: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AND, OR, NOT</a:t>
            </a:r>
            <a:endParaRPr lang="en-US" altLang="zh-CN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0" eaLnBrk="1" hangingPunct="1"/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Example: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  <a:sym typeface="+mn-ea"/>
              </a:rPr>
              <a:t>Web page searching.</a:t>
            </a:r>
            <a:endParaRPr lang="en-US" altLang="zh-C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eaLnBrk="1" hangingPunct="1"/>
            <a:endParaRPr lang="en-US" altLang="zh-C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Logic Puzzles</a:t>
            </a:r>
            <a:endParaRPr lang="en-US" alt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088" y="1289050"/>
            <a:ext cx="7848600" cy="4470400"/>
          </a:xfrm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island has two kinds of inhabitants,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knights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who always tell the truth, and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knaves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who always lie.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go to the island and meet A and B.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says “B is a knight.”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says “The two of us are of opposite types.”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Example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What are the types of A and B?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Solution: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p: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is a knight and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:B is a knight.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: A is a knave and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q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: B is a knave.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If A is a knight, then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is  true. Since knights tell the truth,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must also be true. Then (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∧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q)∨ 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 ∧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q)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 have to be true, but it is not. So, A is not a knight and therefore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p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must be true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If A is a knave, then B must not be a knight since knaves always lie. So, then both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p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and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q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hold since both are knaves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endParaRPr lang="en-US" altLang="zh-CN" sz="3000" dirty="0"/>
          </a:p>
        </p:txBody>
      </p:sp>
      <p:pic>
        <p:nvPicPr>
          <p:cNvPr id="13316" name="Picture 3" descr="010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038" y="23813"/>
            <a:ext cx="874712" cy="1028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7" name="TextBox 5"/>
          <p:cNvSpPr txBox="1"/>
          <p:nvPr/>
        </p:nvSpPr>
        <p:spPr>
          <a:xfrm>
            <a:off x="6948488" y="-3175"/>
            <a:ext cx="1871662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Raymond Smullyan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(Born 1919)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59" end="3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53" end="5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57" end="6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3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4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43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8</a:t>
            </a:r>
            <a:endParaRPr lang="en-US" altLang="zh-CN" dirty="0"/>
          </a:p>
        </p:txBody>
      </p:sp>
      <p:sp>
        <p:nvSpPr>
          <p:cNvPr id="14342" name="Rectangle 3"/>
          <p:cNvSpPr>
            <a:spLocks noGrp="1"/>
          </p:cNvSpPr>
          <p:nvPr>
            <p:ph idx="1"/>
          </p:nvPr>
        </p:nvSpPr>
        <p:spPr>
          <a:xfrm>
            <a:off x="425450" y="1052830"/>
            <a:ext cx="8466455" cy="44704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Muddy children puzzle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</a:rPr>
              <a:t>The father says “At least one of you has a muddy forehead,” and then asks the children to answer “Yes” or “No” to the question: “Do you know whether you have a muddy forehead?”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</a:rPr>
              <a:t>The father asks this question twice. What will the children answer each time this question is asked, assuming that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</a:rPr>
              <a:t> a child can see whether his or her sibling has a muddy forehead, but cannot see his or her own forehead?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</a:rPr>
              <a:t> Assume that both children are honest and that the children answer each question simultaneously.</a:t>
            </a:r>
            <a:endParaRPr lang="en-US" altLang="zh-C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6420" y="5013325"/>
            <a:ext cx="8325485" cy="15316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ea typeface="+mn-ea"/>
                <a:sym typeface="+mn-ea"/>
              </a:rPr>
              <a:t>Solution: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lang="en-US" altLang="zh-CN" sz="2000" i="1" noProof="0" dirty="0">
                <a:ln>
                  <a:noFill/>
                </a:ln>
                <a:effectLst/>
                <a:uLnTx/>
                <a:uFillTx/>
                <a:ea typeface="+mn-ea"/>
                <a:sym typeface="+mn-ea"/>
              </a:rPr>
              <a:t>s: Son has a muddy forehead. d: Daughter has a muddy forehead. </a:t>
            </a:r>
            <a:r>
              <a:rPr lang="en-US" altLang="zh-CN" sz="2000" b="1" i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sym typeface="+mn-ea"/>
              </a:rPr>
              <a:t>s∨ d</a:t>
            </a:r>
            <a:endParaRPr kumimoji="0" lang="en-US" altLang="zh-CN" sz="20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  <a:sym typeface="Symbol" panose="05050102010706020507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lang="en-US" altLang="zh-CN" sz="2000" i="1" noProof="0" dirty="0">
                <a:ln>
                  <a:noFill/>
                </a:ln>
                <a:effectLst/>
                <a:uLnTx/>
                <a:uFillTx/>
                <a:ea typeface="+mn-ea"/>
                <a:sym typeface="Symbol" panose="05050102010706020507" pitchFamily="18" charset="2"/>
              </a:rPr>
              <a:t>Both will answer </a:t>
            </a:r>
            <a:r>
              <a:rPr lang="en-US" altLang="zh-CN" sz="2000" i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sym typeface="Symbol" panose="05050102010706020507" pitchFamily="18" charset="2"/>
              </a:rPr>
              <a:t>‘no’ the first time </a:t>
            </a:r>
            <a:r>
              <a:rPr lang="en-US" altLang="zh-CN" sz="2000" i="1" noProof="0" dirty="0">
                <a:ln>
                  <a:noFill/>
                </a:ln>
                <a:effectLst/>
                <a:uLnTx/>
                <a:uFillTx/>
                <a:ea typeface="+mn-ea"/>
                <a:sym typeface="Symbol" panose="05050102010706020507" pitchFamily="18" charset="2"/>
              </a:rPr>
              <a:t>because each know other is true.</a:t>
            </a:r>
            <a:endParaRPr kumimoji="0" lang="en-US" altLang="zh-CN" sz="20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  <a:sym typeface="Symbol" panose="05050102010706020507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lang="en-US" altLang="zh-CN" sz="2000" i="1" noProof="0" dirty="0">
                <a:ln>
                  <a:noFill/>
                </a:ln>
                <a:effectLst/>
                <a:uLnTx/>
                <a:uFillTx/>
                <a:ea typeface="+mn-ea"/>
                <a:sym typeface="Symbol" panose="05050102010706020507" pitchFamily="18" charset="2"/>
              </a:rPr>
              <a:t>Both will answer </a:t>
            </a:r>
            <a:r>
              <a:rPr lang="en-US" altLang="zh-CN" sz="2000" i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sym typeface="Symbol" panose="05050102010706020507" pitchFamily="18" charset="2"/>
              </a:rPr>
              <a:t>‘yes’ the second time</a:t>
            </a:r>
            <a:r>
              <a:rPr lang="en-US" altLang="zh-CN" sz="2000" i="1" noProof="0" dirty="0">
                <a:ln>
                  <a:noFill/>
                </a:ln>
                <a:effectLst/>
                <a:uLnTx/>
                <a:uFillTx/>
                <a:ea typeface="+mn-ea"/>
                <a:sym typeface="Symbol" panose="05050102010706020507" pitchFamily="18" charset="2"/>
              </a:rPr>
              <a:t>.</a:t>
            </a:r>
            <a:endParaRPr lang="en-US" altLang="zh-CN" sz="2000" i="1" noProof="0" dirty="0">
              <a:ln>
                <a:noFill/>
              </a:ln>
              <a:effectLst/>
              <a:uLnTx/>
              <a:uFillTx/>
              <a:ea typeface="+mn-ea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标题 1"/>
          <p:cNvSpPr>
            <a:spLocks noGrp="1"/>
          </p:cNvSpPr>
          <p:nvPr>
            <p:ph type="title"/>
          </p:nvPr>
        </p:nvSpPr>
        <p:spPr>
          <a:xfrm>
            <a:off x="1200150" y="212725"/>
            <a:ext cx="7693025" cy="768350"/>
          </a:xfrm>
        </p:spPr>
        <p:txBody>
          <a:bodyPr vert="horz" wrap="square" lIns="91440" tIns="45720" rIns="91440" bIns="45720" anchor="b" anchorCtr="0"/>
          <a:p>
            <a:r>
              <a:rPr lang="en-US" altLang="zh-CN" sz="3200" dirty="0">
                <a:sym typeface="+mn-ea"/>
              </a:rPr>
              <a:t>Logic Circuits</a:t>
            </a:r>
            <a:endParaRPr lang="zh-CN" altLang="en-US" sz="3200" dirty="0">
              <a:latin typeface="Copperplate Gothic Bold" panose="020E0705020206020404" pitchFamily="34" charset="0"/>
            </a:endParaRPr>
          </a:p>
        </p:txBody>
      </p:sp>
      <p:sp>
        <p:nvSpPr>
          <p:cNvPr id="93187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188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189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93190" name="Picture 2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827088" y="2606675"/>
            <a:ext cx="7907337" cy="3629025"/>
          </a:xfrm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79730" y="1072515"/>
            <a:ext cx="8513445" cy="1084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z="2000" dirty="0">
                <a:sym typeface="+mn-ea"/>
              </a:rPr>
              <a:t>Electronic circuits; each input/output signal  can be viewed as a 0 or 1. </a:t>
            </a:r>
            <a:endParaRPr lang="en-US" sz="2000" dirty="0"/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sz="2000" dirty="0">
                <a:sym typeface="+mn-ea"/>
              </a:rPr>
              <a:t>0 represents </a:t>
            </a:r>
            <a:r>
              <a:rPr lang="en-US" sz="2000" b="1" dirty="0">
                <a:sym typeface="+mn-ea"/>
              </a:rPr>
              <a:t>False</a:t>
            </a:r>
            <a:endParaRPr lang="en-US" sz="2000" b="1" dirty="0"/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sz="2000" dirty="0">
                <a:sym typeface="+mn-ea"/>
              </a:rPr>
              <a:t>1 represents </a:t>
            </a:r>
            <a:r>
              <a:rPr lang="en-US" sz="2000" b="1" dirty="0">
                <a:sym typeface="+mn-ea"/>
              </a:rPr>
              <a:t>True</a:t>
            </a:r>
            <a:endParaRPr lang="en-US" sz="2000" b="1" dirty="0">
              <a:sym typeface="+mn-ea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sz="2285" dirty="0">
                <a:sym typeface="+mn-ea"/>
              </a:rPr>
              <a:t>Complicated circuits are constructed from three basic circuits called gates.</a:t>
            </a:r>
            <a:endParaRPr lang="en-US" sz="2285" b="1" dirty="0"/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20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内容占位符 2"/>
          <p:cNvSpPr>
            <a:spLocks noGrp="1" noChangeArrowheads="1"/>
          </p:cNvSpPr>
          <p:nvPr>
            <p:ph idx="1"/>
          </p:nvPr>
        </p:nvSpPr>
        <p:spPr>
          <a:xfrm>
            <a:off x="520700" y="1196975"/>
            <a:ext cx="8304213" cy="5314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Example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Build a digital circuit that produces the output </a:t>
            </a:r>
            <a:endParaRPr kumimoji="0" lang="en-US" altLang="zh-CN" sz="2400" b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(p</a:t>
            </a:r>
            <a:r>
              <a:rPr kumimoji="0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∨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sym typeface="Symbol" panose="05050102010706020507" pitchFamily="18" charset="2"/>
              </a:rPr>
              <a:t> 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r)</a:t>
            </a:r>
            <a:r>
              <a:rPr kumimoji="0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∧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 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sym typeface="Symbol" panose="05050102010706020507" pitchFamily="18" charset="2"/>
              </a:rPr>
              <a:t>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p</a:t>
            </a:r>
            <a:r>
              <a:rPr kumimoji="0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∨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 (q </a:t>
            </a:r>
            <a:r>
              <a:rPr kumimoji="0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∨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sym typeface="Symbol" panose="05050102010706020507" pitchFamily="18" charset="2"/>
              </a:rPr>
              <a:t> 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r)) </a:t>
            </a:r>
            <a:r>
              <a:rPr kumimoji="0" lang="en-US" altLang="zh-CN" sz="2400" b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when given input bits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p</a:t>
            </a:r>
            <a:r>
              <a:rPr kumimoji="0" lang="en-US" altLang="zh-CN" sz="2400" b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,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q</a:t>
            </a:r>
            <a:r>
              <a:rPr kumimoji="0" lang="en-US" altLang="zh-CN" sz="2400" b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, and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r.</a:t>
            </a:r>
            <a:endParaRPr kumimoji="0" lang="zh-CN" altLang="en-US" sz="24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4211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212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213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9421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413" y="2886075"/>
            <a:ext cx="7699375" cy="2630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4215" name="标题 1"/>
          <p:cNvSpPr>
            <a:spLocks noGrp="1"/>
          </p:cNvSpPr>
          <p:nvPr>
            <p:ph type="title"/>
          </p:nvPr>
        </p:nvSpPr>
        <p:spPr>
          <a:xfrm>
            <a:off x="1200150" y="212725"/>
            <a:ext cx="7693025" cy="768350"/>
          </a:xfrm>
        </p:spPr>
        <p:txBody>
          <a:bodyPr vert="horz" wrap="square" lIns="91440" tIns="45720" rIns="91440" bIns="45720" anchor="b" anchorCtr="0"/>
          <a:p>
            <a:r>
              <a:rPr lang="en-US" altLang="zh-CN" sz="3200" dirty="0">
                <a:sym typeface="+mn-ea"/>
              </a:rPr>
              <a:t>Logic Circuits</a:t>
            </a:r>
            <a:endParaRPr lang="zh-CN" altLang="en-US" sz="3200" dirty="0">
              <a:latin typeface="Copperplate Gothic Bold" panose="020E07050202060204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EXAMPLE 10 </a:t>
            </a:r>
            <a:endParaRPr lang="en-US" altLang="zh-CN" dirty="0"/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digital circuit that produces the output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 ∨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r) ∧ (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∨ (q ∨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r))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given input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p, q,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17415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438" y="3065463"/>
            <a:ext cx="7223125" cy="2457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843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Homework</a:t>
            </a:r>
            <a:endParaRPr lang="en-US" altLang="zh-CN" dirty="0"/>
          </a:p>
        </p:txBody>
      </p:sp>
      <p:sp>
        <p:nvSpPr>
          <p:cNvPr id="1843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1.2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4,22,36,44</a:t>
            </a:r>
            <a:endParaRPr lang="en-US" altLang="zh-C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LATEXADDIN" val="\documentclass{article}&#10;\usepackage{amsmath}&#10;\pagestyle{empty}&#10;\begin{document}&#10;&#10;&#10;$(p \vee q) \rightarrow \neg r$&#10;&#10;\end{document}"/>
  <p:tag name="IGUANATEXSIZE" val="30"/>
</p:tagLst>
</file>

<file path=ppt/tags/tag2.xml><?xml version="1.0" encoding="utf-8"?>
<p:tagLst xmlns:p="http://schemas.openxmlformats.org/presentationml/2006/main">
  <p:tag name="KSO_WPP_MARK_KEY" val="f4c407cf-2814-4d72-bd4d-6aeebb661ba1"/>
  <p:tag name="COMMONDATA" val="eyJoZGlkIjoiYjZhMmY1NGQwZjE0MWY4MTkzZjM4YzBiNDA1ZmM3ZDEifQ==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pperplate Gothic Light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742950" marR="0" indent="-28575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55000"/>
          <a:buFont typeface="Wingdings" panose="05000000000000000000" pitchFamily="2" charset="2"/>
          <a:buChar char="n"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  <a:cs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742950" marR="0" indent="-28575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55000"/>
          <a:buFont typeface="Wingdings" panose="05000000000000000000" pitchFamily="2" charset="2"/>
          <a:buChar char="n"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  <a:cs typeface="Times New Roman" panose="02020603050405020304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0</TotalTime>
  <Words>4912</Words>
  <Application>WPS 演示</Application>
  <PresentationFormat>全屏显示(4:3)</PresentationFormat>
  <Paragraphs>205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Times New Roman</vt:lpstr>
      <vt:lpstr>Arial Narrow</vt:lpstr>
      <vt:lpstr>Tahoma</vt:lpstr>
      <vt:lpstr>Copperplate Gothic Light</vt:lpstr>
      <vt:lpstr>Copperplate Gothic Bold</vt:lpstr>
      <vt:lpstr>Symbol</vt:lpstr>
      <vt:lpstr>微软雅黑</vt:lpstr>
      <vt:lpstr>Arial Unicode MS</vt:lpstr>
      <vt:lpstr>Blends</vt:lpstr>
      <vt:lpstr>Discrete Mathematical Structures</vt:lpstr>
      <vt:lpstr>Applications of Propositional Logic: Summary</vt:lpstr>
      <vt:lpstr>Translating English Sentences</vt:lpstr>
      <vt:lpstr>Example</vt:lpstr>
      <vt:lpstr>Translating English sentences</vt:lpstr>
      <vt:lpstr>System Specifications</vt:lpstr>
      <vt:lpstr>Consistent System Specifications</vt:lpstr>
      <vt:lpstr>Consistent System Specifications</vt:lpstr>
      <vt:lpstr>Boolean searches</vt:lpstr>
      <vt:lpstr>Logic Puzzles</vt:lpstr>
      <vt:lpstr>Example 8</vt:lpstr>
      <vt:lpstr>Logic Circuits</vt:lpstr>
      <vt:lpstr>Logic Circuits</vt:lpstr>
      <vt:lpstr>EXAMPLE 10 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yangjuan</dc:creator>
  <cp:lastModifiedBy>杨娟</cp:lastModifiedBy>
  <cp:revision>391</cp:revision>
  <dcterms:created xsi:type="dcterms:W3CDTF">2021-03-06T14:05:00Z</dcterms:created>
  <dcterms:modified xsi:type="dcterms:W3CDTF">2024-03-06T07:59:02Z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2052-11.1.0.15319</vt:lpwstr>
  </property>
  <property fmtid="{D5CDD505-2E9C-101B-9397-08002B2CF9AE}" pid="3" name="ICV">
    <vt:lpwstr>956A9A438256458CAE3C0A67BA83FAFC</vt:lpwstr>
  </property>
</Properties>
</file>