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647" r:id="rId3"/>
    <p:sldId id="648" r:id="rId4"/>
    <p:sldId id="649" r:id="rId5"/>
    <p:sldId id="650" r:id="rId6"/>
    <p:sldId id="651" r:id="rId7"/>
    <p:sldId id="652" r:id="rId8"/>
    <p:sldId id="653" r:id="rId9"/>
    <p:sldId id="654" r:id="rId10"/>
    <p:sldId id="655" r:id="rId11"/>
    <p:sldId id="656" r:id="rId12"/>
    <p:sldId id="657" r:id="rId13"/>
    <p:sldId id="658" r:id="rId14"/>
    <p:sldId id="659" r:id="rId15"/>
    <p:sldId id="660" r:id="rId16"/>
    <p:sldId id="661" r:id="rId17"/>
    <p:sldId id="662" r:id="rId18"/>
    <p:sldId id="663" r:id="rId19"/>
    <p:sldId id="664" r:id="rId20"/>
    <p:sldId id="665" r:id="rId21"/>
    <p:sldId id="666" r:id="rId22"/>
    <p:sldId id="667" r:id="rId23"/>
    <p:sldId id="668" r:id="rId24"/>
    <p:sldId id="669" r:id="rId25"/>
    <p:sldId id="670" r:id="rId26"/>
    <p:sldId id="671" r:id="rId27"/>
    <p:sldId id="672" r:id="rId28"/>
    <p:sldId id="673" r:id="rId29"/>
    <p:sldId id="674" r:id="rId30"/>
    <p:sldId id="675" r:id="rId31"/>
    <p:sldId id="676" r:id="rId32"/>
    <p:sldId id="677" r:id="rId33"/>
    <p:sldId id="678" r:id="rId34"/>
    <p:sldId id="680" r:id="rId35"/>
    <p:sldId id="682" r:id="rId36"/>
    <p:sldId id="683" r:id="rId37"/>
    <p:sldId id="679" r:id="rId38"/>
    <p:sldId id="681" r:id="rId39"/>
  </p:sldIdLst>
  <p:sldSz cx="9144000" cy="6858000" type="screen4x3"/>
  <p:notesSz cx="6858000" cy="9144000"/>
  <p:custDataLst>
    <p:tags r:id="rId45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4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CCFF33"/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82"/>
  </p:normalViewPr>
  <p:slideViewPr>
    <p:cSldViewPr showGuides="1">
      <p:cViewPr varScale="1">
        <p:scale>
          <a:sx n="90" d="100"/>
          <a:sy n="90" d="100"/>
        </p:scale>
        <p:origin x="825" y="33"/>
      </p:cViewPr>
      <p:guideLst>
        <p:guide orient="horz" pos="1440"/>
        <p:guide pos="4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gs" Target="tags/tag2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 b="0" i="0" u="none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 i="0" u="none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7D33519-51EF-4C67-92DD-8CCAE1CCBB88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 b="0" i="0" u="none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kumimoji="0" sz="1200" b="0" i="0" u="none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 b="0" i="0" u="none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383185-067C-4B47-AB09-9F54843608F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7" descr="attac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8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9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3563938" y="4581525"/>
            <a:ext cx="4640263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jyang@tseg.org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College of Computer Science &amp; Technology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7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06AF4C0-1CFB-4C35-9EB9-60902A7E53A9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D7627A-A180-49F4-9CC5-247636CBB803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8" descr="attach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3CB7C1-CDEE-4A24-9920-67D494C4AAA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2"/>
          <p:cNvSpPr>
            <a:spLocks noChangeArrowheads="1"/>
          </p:cNvSpPr>
          <p:nvPr/>
        </p:nvSpPr>
        <p:spPr bwMode="ltGray">
          <a:xfrm>
            <a:off x="417513" y="52451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3"/>
          <p:cNvSpPr>
            <a:spLocks noChangeArrowheads="1"/>
          </p:cNvSpPr>
          <p:nvPr/>
        </p:nvSpPr>
        <p:spPr bwMode="ltGray">
          <a:xfrm>
            <a:off x="800100" y="52451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541338" y="94678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911225" y="94678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ltGray">
          <a:xfrm>
            <a:off x="127000" y="87376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762000" y="41656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442913" y="120713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9"/>
          <p:cNvSpPr>
            <a:spLocks noGrp="1"/>
          </p:cNvSpPr>
          <p:nvPr>
            <p:ph type="title"/>
          </p:nvPr>
        </p:nvSpPr>
        <p:spPr>
          <a:xfrm>
            <a:off x="1018540" y="43815"/>
            <a:ext cx="7925435" cy="116332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0"/>
          <p:cNvSpPr>
            <a:spLocks noGrp="1"/>
          </p:cNvSpPr>
          <p:nvPr>
            <p:ph type="body" idx="1"/>
          </p:nvPr>
        </p:nvSpPr>
        <p:spPr>
          <a:xfrm>
            <a:off x="824865" y="1219835"/>
            <a:ext cx="8130540" cy="491299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000" u="none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63F8CF-16F0-44F2-90C4-2AF3DD8F4D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292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u="none" dirty="0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2.wav"/><Relationship Id="rId1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5.wav"/><Relationship Id="rId3" Type="http://schemas.openxmlformats.org/officeDocument/2006/relationships/audio" Target="../media/audio4.wav"/><Relationship Id="rId2" Type="http://schemas.openxmlformats.org/officeDocument/2006/relationships/audio" Target="../media/audio3.wav"/><Relationship Id="rId1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5" name="Rectangle 2"/>
          <p:cNvSpPr>
            <a:spLocks noGrp="1"/>
          </p:cNvSpPr>
          <p:nvPr>
            <p:ph type="title"/>
          </p:nvPr>
        </p:nvSpPr>
        <p:spPr>
          <a:xfrm>
            <a:off x="1042988" y="68898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§3.1: Algorithms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126" name="Rectangle 3"/>
          <p:cNvSpPr>
            <a:spLocks noGrp="1"/>
          </p:cNvSpPr>
          <p:nvPr>
            <p:ph idx="1"/>
          </p:nvPr>
        </p:nvSpPr>
        <p:spPr>
          <a:xfrm>
            <a:off x="899795" y="1340168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The foundation of computer programming.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Most generally, an 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just means a definite procedure for performing some sort of task.</a:t>
            </a:r>
            <a:endParaRPr lang="en-US" altLang="zh-CN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</a:rPr>
              <a:t>A computer </a:t>
            </a:r>
            <a:r>
              <a:rPr lang="en-US" altLang="zh-CN" sz="2800" i="1" dirty="0">
                <a:solidFill>
                  <a:srgbClr val="006600"/>
                </a:solidFill>
                <a:latin typeface="Times New Roman" panose="02020603050405020304" pitchFamily="18" charset="0"/>
              </a:rPr>
              <a:t>program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</a:rPr>
              <a:t> is simply a description of an algorithm, in a language precise enough for a computer to understand, requiring only operations that the computer already knows how to do.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We say that a program 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implements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(or “is an implementation of”) its algorithm.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Algorithms You Already Know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15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Grade-school arithmetic algorithms: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How to add any two natural numbers written in decimal on paper, using carries.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Similar: Subtraction using borrowing.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Multiplication &amp; long division.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Your favorite cooking recipe.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How to register for classes at UF.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71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Programming Languages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174" name="Rectangle 3"/>
          <p:cNvSpPr>
            <a:spLocks noGrp="1"/>
          </p:cNvSpPr>
          <p:nvPr>
            <p:ph idx="1"/>
          </p:nvPr>
        </p:nvSpPr>
        <p:spPr>
          <a:xfrm>
            <a:off x="828040" y="1295400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Some common programming languages: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b="1" dirty="0">
                <a:latin typeface="Times New Roman" panose="02020603050405020304" pitchFamily="18" charset="0"/>
              </a:rPr>
              <a:t>Newer:</a:t>
            </a:r>
            <a:r>
              <a:rPr lang="en-US" altLang="zh-CN" dirty="0">
                <a:latin typeface="Times New Roman" panose="02020603050405020304" pitchFamily="18" charset="0"/>
              </a:rPr>
              <a:t> Python,Java, C, C++, C#, Visual Basic, JavaScript, Perl, Tcl, Pascal, many others…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b="1" dirty="0">
                <a:latin typeface="Times New Roman" panose="02020603050405020304" pitchFamily="18" charset="0"/>
              </a:rPr>
              <a:t>Older:</a:t>
            </a:r>
            <a:r>
              <a:rPr lang="en-US" altLang="zh-CN" dirty="0">
                <a:latin typeface="Times New Roman" panose="02020603050405020304" pitchFamily="18" charset="0"/>
              </a:rPr>
              <a:t> Fortran, Cobol, Lisp, Basic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Assembly languages, for low-level coding.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In this class we will use an informal, Pascal-like “</a:t>
            </a:r>
            <a:r>
              <a:rPr lang="en-US" altLang="zh-CN" i="1" dirty="0">
                <a:latin typeface="Times New Roman" panose="02020603050405020304" pitchFamily="18" charset="0"/>
              </a:rPr>
              <a:t>pseudo-code</a:t>
            </a:r>
            <a:r>
              <a:rPr lang="en-US" altLang="zh-CN" dirty="0">
                <a:latin typeface="Times New Roman" panose="02020603050405020304" pitchFamily="18" charset="0"/>
              </a:rPr>
              <a:t>” language.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You should know at least 1 real language!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Algorithm Example (English)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8198" name="Rectangle 3"/>
          <p:cNvSpPr>
            <a:spLocks noGrp="1"/>
          </p:cNvSpPr>
          <p:nvPr>
            <p:ph idx="1"/>
          </p:nvPr>
        </p:nvSpPr>
        <p:spPr>
          <a:xfrm>
            <a:off x="828040" y="1268413"/>
            <a:ext cx="7772400" cy="440848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Task:</a:t>
            </a:r>
            <a:r>
              <a:rPr lang="en-US" altLang="zh-CN" dirty="0">
                <a:latin typeface="Times New Roman" panose="02020603050405020304" pitchFamily="18" charset="0"/>
              </a:rPr>
              <a:t> Given a sequence 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}=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,…,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dirty="0">
                <a:latin typeface="Times New Roman" panose="02020603050405020304" pitchFamily="18" charset="0"/>
              </a:rPr>
              <a:t> say what its largest element is.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One algorithm for doing this, in English: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Set the value of a </a:t>
            </a:r>
            <a:r>
              <a:rPr lang="en-US" altLang="zh-CN" i="1" dirty="0">
                <a:latin typeface="Times New Roman" panose="02020603050405020304" pitchFamily="18" charset="0"/>
              </a:rPr>
              <a:t>temporary variable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 (largest element seen so far) to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’s value.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Look at the next element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in the sequence.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If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, then re-assign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 to the number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Repeat then previous 2 steps until there are no more elements in the sequence, &amp; return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i="1" baseline="-25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1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92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Executing an Algorithm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222" name="Rectangle 3"/>
          <p:cNvSpPr>
            <a:spLocks noGrp="1"/>
          </p:cNvSpPr>
          <p:nvPr>
            <p:ph idx="1"/>
          </p:nvPr>
        </p:nvSpPr>
        <p:spPr>
          <a:xfrm>
            <a:off x="828040" y="1412875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When you start up a piece of software, we say the program or its algorithm are being </a:t>
            </a:r>
            <a:r>
              <a:rPr lang="en-US" altLang="zh-CN" i="1" dirty="0">
                <a:latin typeface="Times New Roman" panose="02020603050405020304" pitchFamily="18" charset="0"/>
              </a:rPr>
              <a:t>run </a:t>
            </a:r>
            <a:r>
              <a:rPr lang="en-US" altLang="zh-CN" dirty="0">
                <a:latin typeface="Times New Roman" panose="02020603050405020304" pitchFamily="18" charset="0"/>
              </a:rPr>
              <a:t>or </a:t>
            </a:r>
            <a:r>
              <a:rPr lang="en-US" altLang="zh-CN" i="1" dirty="0">
                <a:latin typeface="Times New Roman" panose="02020603050405020304" pitchFamily="18" charset="0"/>
              </a:rPr>
              <a:t>executed</a:t>
            </a:r>
            <a:r>
              <a:rPr lang="en-US" altLang="zh-CN" dirty="0">
                <a:latin typeface="Times New Roman" panose="02020603050405020304" pitchFamily="18" charset="0"/>
              </a:rPr>
              <a:t> by the computer.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Given a description of an algorithm, you can also execute it by hand, by working through all of its steps with pencil &amp; paper.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Before ~1940, “computer” meant a </a:t>
            </a:r>
            <a:r>
              <a:rPr lang="en-US" altLang="zh-CN" i="1" dirty="0">
                <a:latin typeface="Times New Roman" panose="02020603050405020304" pitchFamily="18" charset="0"/>
              </a:rPr>
              <a:t>person</a:t>
            </a:r>
            <a:r>
              <a:rPr lang="en-US" altLang="zh-CN" dirty="0">
                <a:latin typeface="Times New Roman" panose="02020603050405020304" pitchFamily="18" charset="0"/>
              </a:rPr>
              <a:t> whose job was to execute algorithms!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Executing the Max algorithm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246" name="Rectangle 3"/>
          <p:cNvSpPr>
            <a:spLocks noGrp="1"/>
          </p:cNvSpPr>
          <p:nvPr>
            <p:ph idx="1"/>
          </p:nvPr>
        </p:nvSpPr>
        <p:spPr>
          <a:xfrm>
            <a:off x="755650" y="1371600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Let {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}=7,12,3,15,8.   Find its maximum…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Set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 </a:t>
            </a:r>
            <a:r>
              <a:rPr lang="en-US" altLang="zh-CN" dirty="0">
                <a:latin typeface="Times New Roman" panose="02020603050405020304" pitchFamily="18" charset="0"/>
              </a:rPr>
              <a:t>= 7.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Look at next element: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= 12.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Is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&gt;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?  Yes, so change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 to 12.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Look at next element: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 = 3.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Is 3&gt;12?  No, leave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 alone….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Is 15&gt;12?  Yes,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=15…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12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Algorithm Characteristics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1270" name="Rectangle 3"/>
          <p:cNvSpPr>
            <a:spLocks noGrp="1"/>
          </p:cNvSpPr>
          <p:nvPr>
            <p:ph idx="1"/>
          </p:nvPr>
        </p:nvSpPr>
        <p:spPr>
          <a:xfrm>
            <a:off x="79375" y="1268730"/>
            <a:ext cx="9008110" cy="44196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Some important general features of algorithms: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Input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（输入）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</a:rPr>
              <a:t>Information or data that comes in.</a:t>
            </a:r>
            <a:endParaRPr lang="en-US" altLang="zh-CN" sz="2800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Output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（输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出）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</a:rPr>
              <a:t>Information or data that goes out.</a:t>
            </a:r>
            <a:endParaRPr lang="en-US" altLang="zh-CN" sz="2800" i="1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Definiteness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（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确定性）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</a:rPr>
              <a:t>Algorithm is precisely defined.</a:t>
            </a:r>
            <a:endParaRPr lang="en-US" altLang="zh-CN" sz="2800" i="1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Correctness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（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正确性）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</a:rPr>
              <a:t>Outputs correctly relate to inputs.</a:t>
            </a:r>
            <a:endParaRPr lang="en-US" altLang="zh-CN" sz="2800" i="1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Finiteness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（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有限性）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</a:rPr>
              <a:t>Won’t take forever to describe or run.</a:t>
            </a:r>
            <a:endParaRPr lang="en-US" altLang="zh-CN" sz="2800" i="1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Effectiveness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（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有效性）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</a:rPr>
              <a:t>Individual steps are all do-able.</a:t>
            </a:r>
            <a:endParaRPr lang="en-US" altLang="zh-CN" sz="2800" i="1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Generality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（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通用性）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</a:rPr>
              <a:t>Works for many possible inputs.</a:t>
            </a:r>
            <a:endParaRPr lang="en-US" altLang="zh-CN" sz="2800" i="1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Efficiency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（高效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sym typeface="+mn-ea"/>
              </a:rPr>
              <a:t>性）</a:t>
            </a: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006600"/>
                </a:solidFill>
                <a:latin typeface="Times New Roman" panose="02020603050405020304" pitchFamily="18" charset="0"/>
              </a:rPr>
              <a:t>Takes little time &amp; memory to run.</a:t>
            </a:r>
            <a:endParaRPr lang="en-US" altLang="zh-CN" dirty="0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4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1" name="日期占位符 5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2" name="页脚占位符 6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Our Pseudocode Language: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§A3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2294" name="Rectangle 3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343400"/>
          </a:xfrm>
        </p:spPr>
        <p:txBody>
          <a:bodyPr vert="horz" wrap="square" lIns="91440" tIns="45720" rIns="91440" bIns="45720" anchor="t" anchorCtr="0"/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+mn-ea"/>
                <a:cs typeface="+mn-cs"/>
              </a:rPr>
              <a:t>procedure</a:t>
            </a:r>
            <a:br>
              <a:rPr kumimoji="1" lang="en-US" altLang="zh-CN" b="1" dirty="0">
                <a:latin typeface="Times New Roman" panose="02020603050405020304" pitchFamily="18" charset="0"/>
                <a:ea typeface="+mn-ea"/>
                <a:cs typeface="+mn-cs"/>
              </a:rPr>
            </a:b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name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argument</a:t>
            </a:r>
            <a:r>
              <a:rPr kumimoji="1" lang="en-US" altLang="zh-CN" i="1" dirty="0">
                <a:latin typeface="Times New Roman" panose="02020603050405020304" pitchFamily="18" charset="0"/>
                <a:ea typeface="+mn-ea"/>
                <a:cs typeface="+mn-cs"/>
              </a:rPr>
              <a:t>: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type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endParaRPr kumimoji="1" lang="en-US" altLang="zh-CN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variable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:=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expression</a:t>
            </a:r>
            <a:endParaRPr kumimoji="1" lang="en-US" altLang="zh-CN" i="1" u="sng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informal statement</a:t>
            </a:r>
            <a:endParaRPr kumimoji="1" lang="en-US" altLang="zh-CN" i="1" u="sng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+mn-ea"/>
                <a:cs typeface="+mn-cs"/>
              </a:rPr>
              <a:t>begin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statements</a:t>
            </a:r>
            <a:r>
              <a:rPr kumimoji="1" lang="en-US" altLang="zh-CN" i="1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1" lang="en-US" altLang="zh-CN" b="1" dirty="0">
                <a:latin typeface="Times New Roman" panose="02020603050405020304" pitchFamily="18" charset="0"/>
                <a:ea typeface="+mn-ea"/>
                <a:cs typeface="+mn-cs"/>
              </a:rPr>
              <a:t>end</a:t>
            </a:r>
            <a:endParaRPr kumimoji="1" lang="en-US" altLang="zh-CN" b="1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+mn-ea"/>
                <a:cs typeface="+mn-cs"/>
              </a:rPr>
              <a:t>{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comment</a:t>
            </a:r>
            <a:r>
              <a:rPr kumimoji="1" lang="en-US" altLang="zh-CN" b="1" dirty="0">
                <a:latin typeface="Times New Roman" panose="02020603050405020304" pitchFamily="18" charset="0"/>
                <a:ea typeface="+mn-ea"/>
                <a:cs typeface="+mn-cs"/>
              </a:rPr>
              <a:t>}</a:t>
            </a:r>
            <a:endParaRPr kumimoji="1" lang="en-US" altLang="zh-CN" b="1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+mn-ea"/>
                <a:cs typeface="+mn-cs"/>
              </a:rPr>
              <a:t>if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condition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then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statement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[else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statement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]</a:t>
            </a:r>
            <a:endParaRPr kumimoji="1" lang="en-US" altLang="zh-CN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endParaRPr kumimoji="1" lang="zh-CN" altLang="en-US" b="1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295" name="Rectangle 4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343400"/>
          </a:xfrm>
        </p:spPr>
        <p:txBody>
          <a:bodyPr vert="horz" wrap="square" lIns="91440" tIns="45720" rIns="91440" bIns="45720" anchor="t" anchorCtr="0"/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+mn-ea"/>
                <a:cs typeface="+mn-cs"/>
              </a:rPr>
              <a:t>for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variable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:=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initial value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to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final value</a:t>
            </a:r>
            <a:b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  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statement</a:t>
            </a:r>
            <a:endParaRPr kumimoji="1" lang="en-US" altLang="zh-CN" i="1" u="sng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+mn-ea"/>
                <a:cs typeface="+mn-cs"/>
              </a:rPr>
              <a:t>while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condition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statement</a:t>
            </a:r>
            <a:endParaRPr kumimoji="1" lang="en-US" altLang="zh-CN" i="1" u="sng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procname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arguments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endParaRPr kumimoji="1" lang="en-US" altLang="zh-CN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  Not defined in book:</a:t>
            </a:r>
            <a:endParaRPr kumimoji="1" lang="en-US" altLang="zh-CN" b="1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Pct val="60000"/>
              <a:buFont typeface="Wingdings" panose="05000000000000000000" pitchFamily="2" charset="2"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+mn-ea"/>
                <a:cs typeface="+mn-cs"/>
              </a:rPr>
              <a:t>return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expression</a:t>
            </a:r>
            <a:endParaRPr kumimoji="1" lang="en-US" altLang="zh-CN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301625" y="1371600"/>
            <a:ext cx="4341813" cy="1754188"/>
            <a:chOff x="190" y="864"/>
            <a:chExt cx="2735" cy="1105"/>
          </a:xfrm>
        </p:grpSpPr>
        <p:sp>
          <p:nvSpPr>
            <p:cNvPr id="12307" name="Oval 6"/>
            <p:cNvSpPr/>
            <p:nvPr/>
          </p:nvSpPr>
          <p:spPr>
            <a:xfrm>
              <a:off x="190" y="1249"/>
              <a:ext cx="2735" cy="720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638983" name="WordArt 7"/>
            <p:cNvSpPr>
              <a:spLocks noChangeArrowheads="1" noChangeShapeType="1" noTextEdit="1"/>
            </p:cNvSpPr>
            <p:nvPr/>
          </p:nvSpPr>
          <p:spPr bwMode="auto">
            <a:xfrm rot="-813304">
              <a:off x="912" y="864"/>
              <a:ext cx="1680" cy="336"/>
            </a:xfrm>
            <a:prstGeom prst="rect">
              <a:avLst/>
            </a:prstGeom>
          </p:spPr>
          <p:txBody>
            <a:bodyPr wrap="none" numCol="1" fromWordArt="1">
              <a:prstTxWarp prst="textDeflateBottom">
                <a:avLst>
                  <a:gd name="adj" fmla="val 79755"/>
                </a:avLst>
              </a:prstTxWarp>
              <a:scene3d>
                <a:camera prst="legacyPerspectiveFront">
                  <a:rot lat="19799999" lon="19439998" rev="0"/>
                </a:camera>
                <a:lightRig rig="legacyNormal2" dir="t"/>
              </a:scene3d>
              <a:sp3d extrusionH="354000" prstMaterial="legacyMatte">
                <a:extrusionClr>
                  <a:srgbClr val="939676"/>
                </a:extrusionClr>
              </a:sp3d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600" b="1" i="1" u="sng" strike="noStrike" kern="10" cap="none" spc="0" normalizeH="0" baseline="0" noProof="0">
                  <a:ln w="38100">
                    <a:round/>
                    <a:tailEnd type="none" w="lg" len="med"/>
                  </a:ln>
                  <a:gradFill rotWithShape="0">
                    <a:gsLst>
                      <a:gs pos="0">
                        <a:srgbClr val="707070"/>
                      </a:gs>
                      <a:gs pos="50000">
                        <a:srgbClr val="FFFFFF"/>
                      </a:gs>
                      <a:gs pos="100000">
                        <a:srgbClr val="707070"/>
                      </a:gs>
                    </a:gsLst>
                    <a:lin ang="3513304" scaled="1"/>
                  </a:gradFill>
                  <a:effectLst/>
                  <a:uLnTx/>
                  <a:uFillTx/>
                  <a:latin typeface="Impact" panose="020B0806030902050204"/>
                  <a:ea typeface="宋体" panose="02010600030101010101" pitchFamily="2" charset="-122"/>
                  <a:cs typeface="+mn-cs"/>
                </a:rPr>
                <a:t>Declaration</a:t>
              </a:r>
              <a:endParaRPr kumimoji="1" lang="zh-CN" altLang="en-US" sz="3600" b="1" i="1" u="sng" strike="noStrike" kern="10" cap="none" spc="0" normalizeH="0" baseline="0" noProof="0">
                <a:ln w="38100">
                  <a:round/>
                  <a:tailEnd type="none" w="lg" len="med"/>
                </a:ln>
                <a:gradFill rotWithShape="0">
                  <a:gsLst>
                    <a:gs pos="0">
                      <a:srgbClr val="707070"/>
                    </a:gs>
                    <a:gs pos="50000">
                      <a:srgbClr val="FFFFFF"/>
                    </a:gs>
                    <a:gs pos="100000">
                      <a:srgbClr val="707070"/>
                    </a:gs>
                  </a:gsLst>
                  <a:lin ang="3513304" scaled="1"/>
                </a:gradFill>
                <a:effectLst/>
                <a:uLnTx/>
                <a:uFillTx/>
                <a:latin typeface="Impact" panose="020B080603090205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533400" y="1600200"/>
            <a:ext cx="8001000" cy="5029200"/>
            <a:chOff x="336" y="1008"/>
            <a:chExt cx="5040" cy="3168"/>
          </a:xfrm>
        </p:grpSpPr>
        <p:sp>
          <p:nvSpPr>
            <p:cNvPr id="12298" name="Oval 9"/>
            <p:cNvSpPr/>
            <p:nvPr/>
          </p:nvSpPr>
          <p:spPr>
            <a:xfrm>
              <a:off x="384" y="1872"/>
              <a:ext cx="2352" cy="336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12299" name="Oval 10"/>
            <p:cNvSpPr/>
            <p:nvPr/>
          </p:nvSpPr>
          <p:spPr>
            <a:xfrm>
              <a:off x="336" y="2208"/>
              <a:ext cx="2064" cy="336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12300" name="Oval 11"/>
            <p:cNvSpPr/>
            <p:nvPr/>
          </p:nvSpPr>
          <p:spPr>
            <a:xfrm>
              <a:off x="384" y="2496"/>
              <a:ext cx="2208" cy="336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12301" name="Oval 12"/>
            <p:cNvSpPr/>
            <p:nvPr/>
          </p:nvSpPr>
          <p:spPr>
            <a:xfrm>
              <a:off x="384" y="3120"/>
              <a:ext cx="2208" cy="960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12302" name="Oval 13"/>
            <p:cNvSpPr/>
            <p:nvPr/>
          </p:nvSpPr>
          <p:spPr>
            <a:xfrm>
              <a:off x="2880" y="1200"/>
              <a:ext cx="2496" cy="960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12303" name="Oval 14"/>
            <p:cNvSpPr/>
            <p:nvPr/>
          </p:nvSpPr>
          <p:spPr>
            <a:xfrm>
              <a:off x="2784" y="2112"/>
              <a:ext cx="1872" cy="624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12304" name="Oval 15"/>
            <p:cNvSpPr/>
            <p:nvPr/>
          </p:nvSpPr>
          <p:spPr>
            <a:xfrm>
              <a:off x="2928" y="2736"/>
              <a:ext cx="2160" cy="384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12305" name="Oval 16"/>
            <p:cNvSpPr/>
            <p:nvPr/>
          </p:nvSpPr>
          <p:spPr>
            <a:xfrm>
              <a:off x="2928" y="3360"/>
              <a:ext cx="1920" cy="384"/>
            </a:xfrm>
            <a:prstGeom prst="ellipse">
              <a:avLst/>
            </a:prstGeom>
            <a:noFill/>
            <a:ln w="635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638993" name="WordArt 17"/>
            <p:cNvSpPr>
              <a:spLocks noChangeArrowheads="1" noChangeShapeType="1" noTextEdit="1"/>
            </p:cNvSpPr>
            <p:nvPr/>
          </p:nvSpPr>
          <p:spPr bwMode="auto">
            <a:xfrm rot="5400000">
              <a:off x="1254" y="2394"/>
              <a:ext cx="3168" cy="396"/>
            </a:xfrm>
            <a:prstGeom prst="rect">
              <a:avLst/>
            </a:prstGeom>
          </p:spPr>
          <p:txBody>
            <a:bodyPr vert="wordArtVert" wrap="none" numCol="1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marL="0" marR="0" lvl="0" indent="0" algn="ctr" defTabSz="914400" rtl="0" eaLnBrk="0" fontAlgn="auto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600" b="1" i="1" u="sng" strike="noStrike" kern="10" cap="none" spc="-360" normalizeH="0" baseline="0" noProof="0">
                  <a:ln w="38100">
                    <a:solidFill>
                      <a:srgbClr val="800000"/>
                    </a:solidFill>
                    <a:round/>
                    <a:tailEnd type="none" w="lg" len="med"/>
                  </a:ln>
                  <a:solidFill>
                    <a:srgbClr val="FF9900"/>
                  </a:solidFill>
                  <a:effectLst>
                    <a:outerShdw dist="35921" dir="2700000" algn="ctr" rotWithShape="0">
                      <a:srgbClr val="C0C0C0"/>
                    </a:outerShdw>
                  </a:effectLst>
                  <a:uLnTx/>
                  <a:uFillTx/>
                  <a:latin typeface="Arial Black" panose="020B0A04020102020204"/>
                  <a:ea typeface="宋体" panose="02010600030101010101" pitchFamily="2" charset="-122"/>
                  <a:cs typeface="+mn-cs"/>
                </a:rPr>
                <a:t>STATEMENTS</a:t>
              </a:r>
              <a:endParaRPr kumimoji="1" lang="zh-CN" altLang="en-US" sz="3600" b="1" i="1" u="sng" strike="noStrike" kern="10" cap="none" spc="-360" normalizeH="0" baseline="0" noProof="0">
                <a:ln w="38100">
                  <a:solidFill>
                    <a:srgbClr val="800000"/>
                  </a:solidFill>
                  <a:round/>
                  <a:tailEnd type="none" w="lg" len="med"/>
                </a:ln>
                <a:solidFill>
                  <a:srgbClr val="FF99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Arial Black" panose="020B0A0402010202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33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procedure </a:t>
            </a:r>
            <a:r>
              <a:rPr lang="en-US" altLang="zh-CN" i="1" u="sng" dirty="0">
                <a:latin typeface="Times New Roman" panose="02020603050405020304" pitchFamily="18" charset="0"/>
              </a:rPr>
              <a:t>procname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u="sng" dirty="0">
                <a:latin typeface="Times New Roman" panose="02020603050405020304" pitchFamily="18" charset="0"/>
              </a:rPr>
              <a:t>arg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en-US" altLang="zh-CN" i="1" u="sng" dirty="0">
                <a:latin typeface="Times New Roman" panose="02020603050405020304" pitchFamily="18" charset="0"/>
              </a:rPr>
              <a:t>type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331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Declares that the following text defines a procedure named </a:t>
            </a:r>
            <a:r>
              <a:rPr lang="en-US" altLang="zh-CN" i="1" u="sng" dirty="0">
                <a:latin typeface="Times New Roman" panose="02020603050405020304" pitchFamily="18" charset="0"/>
              </a:rPr>
              <a:t>procname</a:t>
            </a:r>
            <a:r>
              <a:rPr lang="en-US" altLang="zh-CN" dirty="0">
                <a:latin typeface="Times New Roman" panose="02020603050405020304" pitchFamily="18" charset="0"/>
              </a:rPr>
              <a:t> that takes inputs (</a:t>
            </a:r>
            <a:r>
              <a:rPr lang="en-US" altLang="zh-CN" i="1" dirty="0">
                <a:latin typeface="Times New Roman" panose="02020603050405020304" pitchFamily="18" charset="0"/>
              </a:rPr>
              <a:t>arguments</a:t>
            </a:r>
            <a:r>
              <a:rPr lang="en-US" altLang="zh-CN" dirty="0">
                <a:latin typeface="Times New Roman" panose="02020603050405020304" pitchFamily="18" charset="0"/>
              </a:rPr>
              <a:t>) named </a:t>
            </a:r>
            <a:r>
              <a:rPr lang="en-US" altLang="zh-CN" i="1" u="sng" dirty="0">
                <a:latin typeface="Times New Roman" panose="02020603050405020304" pitchFamily="18" charset="0"/>
              </a:rPr>
              <a:t>arg</a:t>
            </a:r>
            <a:r>
              <a:rPr lang="en-US" altLang="zh-CN" dirty="0">
                <a:latin typeface="Times New Roman" panose="02020603050405020304" pitchFamily="18" charset="0"/>
              </a:rPr>
              <a:t> which are data objects of the type </a:t>
            </a:r>
            <a:r>
              <a:rPr lang="en-US" altLang="zh-CN" i="1" u="sng" dirty="0">
                <a:latin typeface="Times New Roman" panose="02020603050405020304" pitchFamily="18" charset="0"/>
              </a:rPr>
              <a:t>type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Example: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procedure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maximum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</a:rPr>
              <a:t>: list of integers)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	[statements defining </a:t>
            </a:r>
            <a:r>
              <a:rPr lang="en-US" altLang="zh-CN" i="1" dirty="0">
                <a:latin typeface="Times New Roman" panose="02020603050405020304" pitchFamily="18" charset="0"/>
              </a:rPr>
              <a:t>maximum</a:t>
            </a:r>
            <a:r>
              <a:rPr lang="en-US" altLang="zh-CN" dirty="0">
                <a:latin typeface="Times New Roman" panose="02020603050405020304" pitchFamily="18" charset="0"/>
              </a:rPr>
              <a:t>…]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3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i="1" u="sng" dirty="0">
                <a:latin typeface="Times New Roman" panose="02020603050405020304" pitchFamily="18" charset="0"/>
              </a:rPr>
              <a:t>variable</a:t>
            </a:r>
            <a:r>
              <a:rPr lang="en-US" altLang="zh-CN" dirty="0">
                <a:latin typeface="Times New Roman" panose="02020603050405020304" pitchFamily="18" charset="0"/>
              </a:rPr>
              <a:t> := </a:t>
            </a:r>
            <a:r>
              <a:rPr lang="en-US" altLang="zh-CN" i="1" u="sng" dirty="0">
                <a:latin typeface="Times New Roman" panose="02020603050405020304" pitchFamily="18" charset="0"/>
              </a:rPr>
              <a:t>expression</a:t>
            </a:r>
            <a:endParaRPr lang="en-US" altLang="zh-CN" i="1" u="sng" dirty="0">
              <a:latin typeface="Times New Roman" panose="02020603050405020304" pitchFamily="18" charset="0"/>
            </a:endParaRPr>
          </a:p>
        </p:txBody>
      </p:sp>
      <p:sp>
        <p:nvSpPr>
          <p:cNvPr id="1434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An </a:t>
            </a:r>
            <a:r>
              <a:rPr lang="en-US" altLang="zh-CN" i="1" dirty="0">
                <a:latin typeface="Times New Roman" panose="02020603050405020304" pitchFamily="18" charset="0"/>
              </a:rPr>
              <a:t>assignment </a:t>
            </a:r>
            <a:r>
              <a:rPr lang="en-US" altLang="zh-CN" dirty="0">
                <a:latin typeface="Times New Roman" panose="02020603050405020304" pitchFamily="18" charset="0"/>
              </a:rPr>
              <a:t>statement evaluates the expression </a:t>
            </a:r>
            <a:r>
              <a:rPr lang="en-US" altLang="zh-CN" i="1" u="sng" dirty="0">
                <a:latin typeface="Times New Roman" panose="02020603050405020304" pitchFamily="18" charset="0"/>
              </a:rPr>
              <a:t>expression</a:t>
            </a:r>
            <a:r>
              <a:rPr lang="en-US" altLang="zh-CN" dirty="0">
                <a:latin typeface="Times New Roman" panose="02020603050405020304" pitchFamily="18" charset="0"/>
              </a:rPr>
              <a:t>, then reassigns the variable </a:t>
            </a:r>
            <a:r>
              <a:rPr lang="en-US" altLang="zh-CN" i="1" u="sng" dirty="0">
                <a:latin typeface="Times New Roman" panose="02020603050405020304" pitchFamily="18" charset="0"/>
              </a:rPr>
              <a:t>variable</a:t>
            </a:r>
            <a:r>
              <a:rPr lang="en-US" altLang="zh-CN" dirty="0">
                <a:latin typeface="Times New Roman" panose="02020603050405020304" pitchFamily="18" charset="0"/>
              </a:rPr>
              <a:t> to the value that results.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Example assignment statement: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 := 3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+7         (If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is 2, changes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 to 13.)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In pseudocode (but not real code), the </a:t>
            </a:r>
            <a:r>
              <a:rPr lang="en-US" altLang="zh-CN" i="1" u="sng" dirty="0">
                <a:latin typeface="Times New Roman" panose="02020603050405020304" pitchFamily="18" charset="0"/>
              </a:rPr>
              <a:t>expression</a:t>
            </a:r>
            <a:r>
              <a:rPr lang="en-US" altLang="zh-CN" dirty="0">
                <a:latin typeface="Times New Roman" panose="02020603050405020304" pitchFamily="18" charset="0"/>
              </a:rPr>
              <a:t> might be informally stated: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:= the largest integer in the list </a:t>
            </a:r>
            <a:r>
              <a:rPr lang="en-US" altLang="zh-CN" i="1" dirty="0">
                <a:latin typeface="Times New Roman" panose="02020603050405020304" pitchFamily="18" charset="0"/>
              </a:rPr>
              <a:t>L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53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i="1" u="sng" dirty="0">
                <a:latin typeface="Times New Roman" panose="02020603050405020304" pitchFamily="18" charset="0"/>
              </a:rPr>
              <a:t>Informal statement</a:t>
            </a:r>
            <a:endParaRPr lang="en-US" altLang="zh-CN" i="1" u="sng" dirty="0">
              <a:latin typeface="Times New Roman" panose="02020603050405020304" pitchFamily="18" charset="0"/>
            </a:endParaRPr>
          </a:p>
        </p:txBody>
      </p:sp>
      <p:sp>
        <p:nvSpPr>
          <p:cNvPr id="15366" name="Rectangle 3"/>
          <p:cNvSpPr>
            <a:spLocks noGrp="1"/>
          </p:cNvSpPr>
          <p:nvPr>
            <p:ph idx="1"/>
          </p:nvPr>
        </p:nvSpPr>
        <p:spPr>
          <a:xfrm>
            <a:off x="828040" y="1295400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Sometimes we may write a statement as an informal English imperative, if the meaning is still clear and precise: </a:t>
            </a:r>
            <a:r>
              <a:rPr lang="en-US" altLang="zh-CN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e.g.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,“swap </a:t>
            </a:r>
            <a:r>
              <a:rPr lang="en-US" altLang="zh-CN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 and </a:t>
            </a:r>
            <a:r>
              <a:rPr lang="en-US" altLang="zh-CN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”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Keep in mind that real programming languages never allow this.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When we ask for an algorithm to do so-and-so, writing “Do so-and-so” isn’t enough!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Break down algorithm into detailed steps.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4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7" name="日期占位符 5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8" name="页脚占位符 6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begin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statements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end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6390" name="Rectangle 3"/>
          <p:cNvSpPr>
            <a:spLocks noGrp="1"/>
          </p:cNvSpPr>
          <p:nvPr>
            <p:ph sz="half" idx="1"/>
          </p:nvPr>
        </p:nvSpPr>
        <p:spPr>
          <a:xfrm>
            <a:off x="685800" y="1263650"/>
            <a:ext cx="3886200" cy="4267200"/>
          </a:xfrm>
        </p:spPr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Groups a sequence of statements together:</a:t>
            </a:r>
            <a:b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</a:br>
            <a:r>
              <a:rPr kumimoji="1" lang="en-US" altLang="zh-CN" b="1" dirty="0">
                <a:latin typeface="Times New Roman" panose="02020603050405020304" pitchFamily="18" charset="0"/>
                <a:ea typeface="+mn-ea"/>
                <a:cs typeface="+mn-cs"/>
              </a:rPr>
              <a:t>begin</a:t>
            </a:r>
            <a:b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</a:b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   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statement 1</a:t>
            </a:r>
            <a:br>
              <a:rPr kumimoji="1" lang="en-US" altLang="zh-CN" i="1" dirty="0">
                <a:latin typeface="Times New Roman" panose="02020603050405020304" pitchFamily="18" charset="0"/>
                <a:ea typeface="+mn-ea"/>
                <a:cs typeface="+mn-cs"/>
              </a:rPr>
            </a:br>
            <a:r>
              <a:rPr kumimoji="1" lang="en-US" altLang="zh-CN" i="1" dirty="0">
                <a:latin typeface="Times New Roman" panose="02020603050405020304" pitchFamily="18" charset="0"/>
                <a:ea typeface="+mn-ea"/>
                <a:cs typeface="+mn-cs"/>
              </a:rPr>
              <a:t>   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statement 2</a:t>
            </a:r>
            <a:br>
              <a:rPr kumimoji="1" lang="en-US" altLang="zh-CN" i="1" dirty="0">
                <a:latin typeface="Times New Roman" panose="02020603050405020304" pitchFamily="18" charset="0"/>
                <a:ea typeface="+mn-ea"/>
                <a:cs typeface="+mn-cs"/>
              </a:rPr>
            </a:br>
            <a:r>
              <a:rPr kumimoji="1" lang="en-US" altLang="zh-CN" i="1" dirty="0">
                <a:latin typeface="Times New Roman" panose="02020603050405020304" pitchFamily="18" charset="0"/>
                <a:ea typeface="+mn-ea"/>
                <a:cs typeface="+mn-cs"/>
              </a:rPr>
              <a:t>    …</a:t>
            </a:r>
            <a:br>
              <a:rPr kumimoji="1" lang="en-US" altLang="zh-CN" i="1" dirty="0">
                <a:latin typeface="Times New Roman" panose="02020603050405020304" pitchFamily="18" charset="0"/>
                <a:ea typeface="+mn-ea"/>
                <a:cs typeface="+mn-cs"/>
              </a:rPr>
            </a:br>
            <a:r>
              <a:rPr kumimoji="1" lang="en-US" altLang="zh-CN" i="1" dirty="0">
                <a:latin typeface="Times New Roman" panose="02020603050405020304" pitchFamily="18" charset="0"/>
                <a:ea typeface="+mn-ea"/>
                <a:cs typeface="+mn-cs"/>
              </a:rPr>
              <a:t>    </a:t>
            </a:r>
            <a:r>
              <a:rPr kumimoji="1" lang="en-US" altLang="zh-CN" i="1" u="sng" dirty="0">
                <a:latin typeface="Times New Roman" panose="02020603050405020304" pitchFamily="18" charset="0"/>
                <a:ea typeface="+mn-ea"/>
                <a:cs typeface="+mn-cs"/>
              </a:rPr>
              <a:t>statement n</a:t>
            </a:r>
            <a:r>
              <a:rPr kumimoji="1" lang="en-US" altLang="zh-CN" i="1" dirty="0">
                <a:latin typeface="Times New Roman" panose="02020603050405020304" pitchFamily="18" charset="0"/>
                <a:ea typeface="+mn-ea"/>
                <a:cs typeface="+mn-cs"/>
              </a:rPr>
              <a:t> </a:t>
            </a:r>
            <a:br>
              <a:rPr kumimoji="1" lang="en-US" altLang="zh-CN" i="1" dirty="0">
                <a:latin typeface="Times New Roman" panose="02020603050405020304" pitchFamily="18" charset="0"/>
                <a:ea typeface="+mn-ea"/>
                <a:cs typeface="+mn-cs"/>
              </a:rPr>
            </a:br>
            <a:r>
              <a:rPr kumimoji="1" lang="en-US" altLang="zh-CN" b="1" dirty="0">
                <a:latin typeface="Times New Roman" panose="02020603050405020304" pitchFamily="18" charset="0"/>
                <a:ea typeface="+mn-ea"/>
                <a:cs typeface="+mn-cs"/>
              </a:rPr>
              <a:t>end</a:t>
            </a:r>
            <a:endParaRPr kumimoji="1" lang="en-US" altLang="zh-CN" dirty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6391" name="Rectangle 4"/>
          <p:cNvSpPr>
            <a:spLocks noGrp="1"/>
          </p:cNvSpPr>
          <p:nvPr>
            <p:ph sz="half" idx="2"/>
          </p:nvPr>
        </p:nvSpPr>
        <p:spPr>
          <a:xfrm>
            <a:off x="4648200" y="1263650"/>
            <a:ext cx="3886200" cy="4267200"/>
          </a:xfrm>
        </p:spPr>
        <p:txBody>
          <a:bodyPr vert="horz" wrap="square" lIns="91440" tIns="45720" rIns="91440" bIns="45720" anchor="t" anchorCtr="0"/>
          <a:p>
            <a:pPr eaLnBrk="1" hangingPunct="1">
              <a:buSzPct val="60000"/>
            </a:pP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Allows the sequence to be used just like a single statement.</a:t>
            </a:r>
            <a:endParaRPr kumimoji="1" lang="en-US" altLang="zh-CN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eaLnBrk="1" hangingPunct="1">
              <a:buSzPct val="60000"/>
            </a:pPr>
            <a:r>
              <a:rPr kumimoji="1" lang="en-US" altLang="zh-CN" dirty="0">
                <a:latin typeface="Times New Roman" panose="02020603050405020304" pitchFamily="18" charset="0"/>
                <a:ea typeface="+mn-ea"/>
                <a:cs typeface="+mn-cs"/>
              </a:rPr>
              <a:t>Might be used:</a:t>
            </a:r>
            <a:endParaRPr kumimoji="1" lang="en-US" altLang="zh-CN" dirty="0">
              <a:latin typeface="Times New Roman" panose="02020603050405020304" pitchFamily="18" charset="0"/>
              <a:ea typeface="+mn-ea"/>
              <a:cs typeface="+mn-cs"/>
            </a:endParaRPr>
          </a:p>
          <a:p>
            <a:pPr lvl="1" eaLnBrk="1" hangingPunct="1">
              <a:buSzPct val="55000"/>
            </a:pPr>
            <a:r>
              <a:rPr kumimoji="1" lang="en-US" altLang="zh-CN" dirty="0">
                <a:latin typeface="Times New Roman" panose="02020603050405020304" pitchFamily="18" charset="0"/>
                <a:ea typeface="+mn-ea"/>
              </a:rPr>
              <a:t>After a </a:t>
            </a:r>
            <a:r>
              <a:rPr kumimoji="1" lang="en-US" altLang="zh-CN" b="1" dirty="0">
                <a:latin typeface="Times New Roman" panose="02020603050405020304" pitchFamily="18" charset="0"/>
                <a:ea typeface="+mn-ea"/>
              </a:rPr>
              <a:t>procedure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</a:rPr>
              <a:t> declaration.</a:t>
            </a:r>
            <a:endParaRPr kumimoji="1" lang="en-US" altLang="zh-CN" dirty="0">
              <a:latin typeface="Times New Roman" panose="02020603050405020304" pitchFamily="18" charset="0"/>
              <a:ea typeface="+mn-ea"/>
            </a:endParaRPr>
          </a:p>
          <a:p>
            <a:pPr lvl="1" eaLnBrk="1" hangingPunct="1">
              <a:buSzPct val="55000"/>
            </a:pPr>
            <a:r>
              <a:rPr kumimoji="1" lang="en-US" altLang="zh-CN" dirty="0">
                <a:latin typeface="Times New Roman" panose="02020603050405020304" pitchFamily="18" charset="0"/>
                <a:ea typeface="+mn-ea"/>
              </a:rPr>
              <a:t>In an </a:t>
            </a:r>
            <a:r>
              <a:rPr kumimoji="1" lang="en-US" altLang="zh-CN" b="1" dirty="0">
                <a:latin typeface="Times New Roman" panose="02020603050405020304" pitchFamily="18" charset="0"/>
                <a:ea typeface="+mn-ea"/>
              </a:rPr>
              <a:t>if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</a:rPr>
              <a:t> statement after </a:t>
            </a:r>
            <a:r>
              <a:rPr kumimoji="1" lang="en-US" altLang="zh-CN" b="1" dirty="0">
                <a:latin typeface="Times New Roman" panose="02020603050405020304" pitchFamily="18" charset="0"/>
                <a:ea typeface="+mn-ea"/>
              </a:rPr>
              <a:t>then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</a:rPr>
              <a:t> or </a:t>
            </a:r>
            <a:r>
              <a:rPr kumimoji="1" lang="en-US" altLang="zh-CN" b="1" dirty="0">
                <a:latin typeface="Times New Roman" panose="02020603050405020304" pitchFamily="18" charset="0"/>
                <a:ea typeface="+mn-ea"/>
              </a:rPr>
              <a:t>else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</a:rPr>
              <a:t>.</a:t>
            </a:r>
            <a:endParaRPr kumimoji="1" lang="en-US" altLang="zh-CN" dirty="0">
              <a:latin typeface="Times New Roman" panose="02020603050405020304" pitchFamily="18" charset="0"/>
              <a:ea typeface="+mn-ea"/>
            </a:endParaRPr>
          </a:p>
          <a:p>
            <a:pPr lvl="1" eaLnBrk="1" hangingPunct="1">
              <a:buSzPct val="55000"/>
            </a:pPr>
            <a:r>
              <a:rPr kumimoji="1" lang="en-US" altLang="zh-CN" dirty="0">
                <a:latin typeface="Times New Roman" panose="02020603050405020304" pitchFamily="18" charset="0"/>
                <a:ea typeface="+mn-ea"/>
              </a:rPr>
              <a:t>In the body of a </a:t>
            </a:r>
            <a:r>
              <a:rPr kumimoji="1" lang="en-US" altLang="zh-CN" b="1" dirty="0">
                <a:latin typeface="Times New Roman" panose="02020603050405020304" pitchFamily="18" charset="0"/>
                <a:ea typeface="+mn-ea"/>
              </a:rPr>
              <a:t>for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</a:rPr>
              <a:t> or </a:t>
            </a:r>
            <a:r>
              <a:rPr kumimoji="1" lang="en-US" altLang="zh-CN" b="1" dirty="0">
                <a:latin typeface="Times New Roman" panose="02020603050405020304" pitchFamily="18" charset="0"/>
                <a:ea typeface="+mn-ea"/>
              </a:rPr>
              <a:t>while</a:t>
            </a:r>
            <a:r>
              <a:rPr kumimoji="1" lang="en-US" altLang="zh-CN" dirty="0">
                <a:latin typeface="Times New Roman" panose="02020603050405020304" pitchFamily="18" charset="0"/>
                <a:ea typeface="+mn-ea"/>
              </a:rPr>
              <a:t> loop.</a:t>
            </a:r>
            <a:endParaRPr kumimoji="1" lang="en-US" altLang="zh-CN" dirty="0"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6392" name="Rectangle 5"/>
          <p:cNvSpPr/>
          <p:nvPr/>
        </p:nvSpPr>
        <p:spPr>
          <a:xfrm>
            <a:off x="1068388" y="2252663"/>
            <a:ext cx="2211387" cy="2514600"/>
          </a:xfrm>
          <a:prstGeom prst="rect">
            <a:avLst/>
          </a:prstGeom>
          <a:noFill/>
          <a:ln w="63500" cap="flat" cmpd="sng">
            <a:solidFill>
              <a:schemeClr val="tx1"/>
            </a:solidFill>
            <a:prstDash val="solid"/>
            <a:miter/>
            <a:headEnd type="none" w="med" len="med"/>
            <a:tailEnd type="none" w="lg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i="1" u="sng" dirty="0">
              <a:latin typeface="Times New Roman" panose="02020603050405020304" pitchFamily="18" charset="0"/>
            </a:endParaRPr>
          </a:p>
        </p:txBody>
      </p:sp>
      <p:sp>
        <p:nvSpPr>
          <p:cNvPr id="16393" name="Text Box 6"/>
          <p:cNvSpPr txBox="1"/>
          <p:nvPr/>
        </p:nvSpPr>
        <p:spPr>
          <a:xfrm>
            <a:off x="266700" y="4908550"/>
            <a:ext cx="4159250" cy="860425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Curly braces {} are used instead</a:t>
            </a:r>
            <a:br>
              <a:rPr lang="en-US" altLang="zh-CN" sz="2400" dirty="0">
                <a:latin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</a:rPr>
              <a:t>in many languages.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{</a:t>
            </a:r>
            <a:r>
              <a:rPr lang="en-US" altLang="zh-CN" i="1" u="sng" dirty="0">
                <a:latin typeface="Times New Roman" panose="02020603050405020304" pitchFamily="18" charset="0"/>
              </a:rPr>
              <a:t>comment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741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Not executed (does nothing).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Natural-language text explaining some aspect of the procedure to human readers.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Also called a </a:t>
            </a:r>
            <a:r>
              <a:rPr lang="en-US" altLang="zh-CN" i="1" dirty="0">
                <a:latin typeface="Times New Roman" panose="02020603050405020304" pitchFamily="18" charset="0"/>
              </a:rPr>
              <a:t>remark</a:t>
            </a:r>
            <a:r>
              <a:rPr lang="en-US" altLang="zh-CN" dirty="0">
                <a:latin typeface="Times New Roman" panose="02020603050405020304" pitchFamily="18" charset="0"/>
              </a:rPr>
              <a:t> in some real programming languages, </a:t>
            </a:r>
            <a:r>
              <a:rPr lang="en-US" altLang="zh-CN" i="1" dirty="0">
                <a:latin typeface="Times New Roman" panose="02020603050405020304" pitchFamily="18" charset="0"/>
              </a:rPr>
              <a:t>e.g.</a:t>
            </a:r>
            <a:r>
              <a:rPr lang="en-US" altLang="zh-CN" dirty="0">
                <a:latin typeface="Times New Roman" panose="02020603050405020304" pitchFamily="18" charset="0"/>
              </a:rPr>
              <a:t> BASIC.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Example, might appear in a </a:t>
            </a:r>
            <a:r>
              <a:rPr lang="en-US" altLang="zh-CN" i="1" dirty="0">
                <a:latin typeface="Times New Roman" panose="02020603050405020304" pitchFamily="18" charset="0"/>
              </a:rPr>
              <a:t>max</a:t>
            </a:r>
            <a:r>
              <a:rPr lang="en-US" altLang="zh-CN" dirty="0">
                <a:latin typeface="Times New Roman" panose="02020603050405020304" pitchFamily="18" charset="0"/>
              </a:rPr>
              <a:t> program: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{Note that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 is the largest integer seen so far.}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84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if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condition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then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statement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8438" name="Rectangle 3"/>
          <p:cNvSpPr>
            <a:spLocks noGrp="1"/>
          </p:cNvSpPr>
          <p:nvPr>
            <p:ph idx="1"/>
          </p:nvPr>
        </p:nvSpPr>
        <p:spPr>
          <a:xfrm>
            <a:off x="708025" y="1340485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Evaluate the propositional expression </a:t>
            </a:r>
            <a:r>
              <a:rPr lang="en-US" altLang="zh-CN" i="1" u="sng" dirty="0">
                <a:latin typeface="Times New Roman" panose="02020603050405020304" pitchFamily="18" charset="0"/>
              </a:rPr>
              <a:t>condition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If the resulting truth value is </a:t>
            </a:r>
            <a:r>
              <a:rPr lang="en-US" altLang="zh-CN" b="1" dirty="0">
                <a:latin typeface="Times New Roman" panose="02020603050405020304" pitchFamily="18" charset="0"/>
              </a:rPr>
              <a:t>True</a:t>
            </a:r>
            <a:r>
              <a:rPr lang="en-US" altLang="zh-CN" dirty="0">
                <a:latin typeface="Times New Roman" panose="02020603050405020304" pitchFamily="18" charset="0"/>
              </a:rPr>
              <a:t>, then execute the statement </a:t>
            </a:r>
            <a:r>
              <a:rPr lang="en-US" altLang="zh-CN" i="1" u="sng" dirty="0">
                <a:latin typeface="Times New Roman" panose="02020603050405020304" pitchFamily="18" charset="0"/>
              </a:rPr>
              <a:t>statement</a:t>
            </a:r>
            <a:r>
              <a:rPr lang="en-US" altLang="zh-CN" dirty="0">
                <a:latin typeface="Times New Roman" panose="02020603050405020304" pitchFamily="18" charset="0"/>
              </a:rPr>
              <a:t>;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otherwise, just skip on ahead to the next statement after the </a:t>
            </a:r>
            <a:r>
              <a:rPr lang="en-US" altLang="zh-CN" b="1" dirty="0">
                <a:latin typeface="Times New Roman" panose="02020603050405020304" pitchFamily="18" charset="0"/>
              </a:rPr>
              <a:t>if</a:t>
            </a:r>
            <a:r>
              <a:rPr lang="en-US" altLang="zh-CN" dirty="0">
                <a:latin typeface="Times New Roman" panose="02020603050405020304" pitchFamily="18" charset="0"/>
              </a:rPr>
              <a:t> statement.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Variant:  </a:t>
            </a:r>
            <a:r>
              <a:rPr lang="en-US" altLang="zh-CN" b="1" dirty="0">
                <a:latin typeface="Times New Roman" panose="02020603050405020304" pitchFamily="18" charset="0"/>
              </a:rPr>
              <a:t>if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cond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then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stmt1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else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stmt2</a:t>
            </a:r>
            <a:endParaRPr lang="en-US" altLang="zh-CN" i="1" u="sng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Like before, but iff truth value is </a:t>
            </a:r>
            <a:r>
              <a:rPr lang="en-US" altLang="zh-CN" b="1" dirty="0">
                <a:latin typeface="Times New Roman" panose="02020603050405020304" pitchFamily="18" charset="0"/>
              </a:rPr>
              <a:t>False</a:t>
            </a:r>
            <a:r>
              <a:rPr lang="en-US" altLang="zh-CN" dirty="0">
                <a:latin typeface="Times New Roman" panose="02020603050405020304" pitchFamily="18" charset="0"/>
              </a:rPr>
              <a:t>, executes </a:t>
            </a:r>
            <a:r>
              <a:rPr lang="en-US" altLang="zh-CN" i="1" u="sng" dirty="0">
                <a:latin typeface="Times New Roman" panose="02020603050405020304" pitchFamily="18" charset="0"/>
              </a:rPr>
              <a:t>stmt2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while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condition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statement</a:t>
            </a:r>
            <a:endParaRPr lang="en-US" altLang="zh-CN" i="1" u="sng" dirty="0">
              <a:latin typeface="Times New Roman" panose="02020603050405020304" pitchFamily="18" charset="0"/>
            </a:endParaRPr>
          </a:p>
        </p:txBody>
      </p:sp>
      <p:sp>
        <p:nvSpPr>
          <p:cNvPr id="19462" name="Rectangle 3"/>
          <p:cNvSpPr>
            <a:spLocks noGrp="1"/>
          </p:cNvSpPr>
          <p:nvPr>
            <p:ph idx="1"/>
          </p:nvPr>
        </p:nvSpPr>
        <p:spPr>
          <a:xfrm>
            <a:off x="828040" y="1412875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u="sng" dirty="0">
                <a:latin typeface="Times New Roman" panose="02020603050405020304" pitchFamily="18" charset="0"/>
              </a:rPr>
              <a:t>Evaluate</a:t>
            </a:r>
            <a:r>
              <a:rPr lang="en-US" altLang="zh-CN" dirty="0">
                <a:latin typeface="Times New Roman" panose="02020603050405020304" pitchFamily="18" charset="0"/>
              </a:rPr>
              <a:t> the propositional (Boolean) expression </a:t>
            </a:r>
            <a:r>
              <a:rPr lang="en-US" altLang="zh-CN" i="1" u="sng" dirty="0">
                <a:latin typeface="Times New Roman" panose="02020603050405020304" pitchFamily="18" charset="0"/>
              </a:rPr>
              <a:t>condition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If the resulting value is </a:t>
            </a:r>
            <a:r>
              <a:rPr lang="en-US" altLang="zh-CN" b="1" dirty="0">
                <a:latin typeface="Times New Roman" panose="02020603050405020304" pitchFamily="18" charset="0"/>
              </a:rPr>
              <a:t>True</a:t>
            </a:r>
            <a:r>
              <a:rPr lang="en-US" altLang="zh-CN" dirty="0">
                <a:latin typeface="Times New Roman" panose="02020603050405020304" pitchFamily="18" charset="0"/>
              </a:rPr>
              <a:t>, then execute </a:t>
            </a:r>
            <a:r>
              <a:rPr lang="en-US" altLang="zh-CN" i="1" u="sng" dirty="0">
                <a:latin typeface="Times New Roman" panose="02020603050405020304" pitchFamily="18" charset="0"/>
              </a:rPr>
              <a:t>statement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Continue repeating the above two actions over and over until finally the </a:t>
            </a:r>
            <a:r>
              <a:rPr lang="en-US" altLang="zh-CN" i="1" u="sng" dirty="0">
                <a:latin typeface="Times New Roman" panose="02020603050405020304" pitchFamily="18" charset="0"/>
              </a:rPr>
              <a:t>condition</a:t>
            </a:r>
            <a:r>
              <a:rPr lang="en-US" altLang="zh-CN" dirty="0">
                <a:latin typeface="Times New Roman" panose="02020603050405020304" pitchFamily="18" charset="0"/>
              </a:rPr>
              <a:t> evaluates to </a:t>
            </a:r>
            <a:r>
              <a:rPr lang="en-US" altLang="zh-CN" b="1" dirty="0">
                <a:latin typeface="Times New Roman" panose="02020603050405020304" pitchFamily="18" charset="0"/>
              </a:rPr>
              <a:t>False</a:t>
            </a:r>
            <a:r>
              <a:rPr lang="en-US" altLang="zh-CN" dirty="0">
                <a:latin typeface="Times New Roman" panose="02020603050405020304" pitchFamily="18" charset="0"/>
              </a:rPr>
              <a:t>; then proceed to the next statement.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04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while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condition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statement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0486" name="Rectangle 3"/>
          <p:cNvSpPr>
            <a:spLocks noGrp="1"/>
          </p:cNvSpPr>
          <p:nvPr>
            <p:ph idx="1"/>
          </p:nvPr>
        </p:nvSpPr>
        <p:spPr>
          <a:xfrm>
            <a:off x="971550" y="1412875"/>
            <a:ext cx="7772400" cy="4495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Also equivalent to infinite nested </a:t>
            </a:r>
            <a:r>
              <a:rPr lang="en-US" altLang="zh-CN" sz="2800" b="1" dirty="0">
                <a:latin typeface="Times New Roman" panose="02020603050405020304" pitchFamily="18" charset="0"/>
              </a:rPr>
              <a:t>if</a:t>
            </a:r>
            <a:r>
              <a:rPr lang="en-US" altLang="zh-CN" sz="2800" dirty="0">
                <a:latin typeface="Times New Roman" panose="02020603050405020304" pitchFamily="18" charset="0"/>
              </a:rPr>
              <a:t>s, like so: </a:t>
            </a:r>
            <a:br>
              <a:rPr lang="en-US" altLang="zh-CN" sz="2800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zh-CN" sz="2800" i="1" u="sng" dirty="0">
                <a:solidFill>
                  <a:schemeClr val="folHlink"/>
                </a:solidFill>
                <a:latin typeface="Times New Roman" panose="02020603050405020304" pitchFamily="18" charset="0"/>
              </a:rPr>
              <a:t>condition</a:t>
            </a:r>
            <a:b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begin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b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zh-CN" sz="2800" i="1" u="sng" dirty="0">
                <a:solidFill>
                  <a:schemeClr val="folHlink"/>
                </a:solidFill>
                <a:latin typeface="Times New Roman" panose="02020603050405020304" pitchFamily="18" charset="0"/>
              </a:rPr>
              <a:t>statement </a:t>
            </a:r>
            <a:br>
              <a:rPr lang="en-US" altLang="zh-CN" sz="2800" i="1" u="sng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if </a:t>
            </a:r>
            <a:r>
              <a:rPr lang="en-US" altLang="zh-CN" sz="2800" i="1" u="sng" dirty="0">
                <a:solidFill>
                  <a:schemeClr val="folHlink"/>
                </a:solidFill>
                <a:latin typeface="Times New Roman" panose="02020603050405020304" pitchFamily="18" charset="0"/>
              </a:rPr>
              <a:t>condition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b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begin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b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         </a:t>
            </a:r>
            <a:r>
              <a:rPr lang="en-US" altLang="zh-CN" sz="2800" i="1" u="sng" dirty="0">
                <a:solidFill>
                  <a:schemeClr val="folHlink"/>
                </a:solidFill>
                <a:latin typeface="Times New Roman" panose="02020603050405020304" pitchFamily="18" charset="0"/>
              </a:rPr>
              <a:t>statement </a:t>
            </a:r>
            <a:br>
              <a:rPr lang="en-US" altLang="zh-CN" sz="2800" i="1" u="sng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         …(continue infinite nested if’s)</a:t>
            </a:r>
            <a:b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    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end</a:t>
            </a:r>
            <a:b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sz="28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end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7" name="Rectangle 4"/>
          <p:cNvSpPr/>
          <p:nvPr/>
        </p:nvSpPr>
        <p:spPr>
          <a:xfrm>
            <a:off x="1330960" y="1917065"/>
            <a:ext cx="6096000" cy="3886200"/>
          </a:xfrm>
          <a:prstGeom prst="rect">
            <a:avLst/>
          </a:prstGeom>
          <a:noFill/>
          <a:ln w="63500" cap="flat" cmpd="sng">
            <a:solidFill>
              <a:srgbClr val="006600"/>
            </a:solidFill>
            <a:prstDash val="solid"/>
            <a:miter/>
            <a:headEnd type="none" w="med" len="med"/>
            <a:tailEnd type="none" w="lg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i="1" u="sng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15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for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var</a:t>
            </a:r>
            <a:r>
              <a:rPr lang="en-US" altLang="zh-CN" dirty="0">
                <a:latin typeface="Times New Roman" panose="02020603050405020304" pitchFamily="18" charset="0"/>
              </a:rPr>
              <a:t> := </a:t>
            </a:r>
            <a:r>
              <a:rPr lang="en-US" altLang="zh-CN" i="1" u="sng" dirty="0">
                <a:latin typeface="Times New Roman" panose="02020603050405020304" pitchFamily="18" charset="0"/>
              </a:rPr>
              <a:t>initial</a:t>
            </a:r>
            <a:r>
              <a:rPr lang="en-US" altLang="zh-CN" dirty="0">
                <a:latin typeface="Times New Roman" panose="02020603050405020304" pitchFamily="18" charset="0"/>
              </a:rPr>
              <a:t> to </a:t>
            </a:r>
            <a:r>
              <a:rPr lang="en-US" altLang="zh-CN" i="1" u="sng" dirty="0">
                <a:latin typeface="Times New Roman" panose="02020603050405020304" pitchFamily="18" charset="0"/>
              </a:rPr>
              <a:t>final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stmt</a:t>
            </a:r>
            <a:endParaRPr lang="en-US" altLang="zh-CN" i="1" u="sng" dirty="0">
              <a:latin typeface="Times New Roman" panose="02020603050405020304" pitchFamily="18" charset="0"/>
            </a:endParaRPr>
          </a:p>
        </p:txBody>
      </p:sp>
      <p:sp>
        <p:nvSpPr>
          <p:cNvPr id="21510" name="Rectangle 3"/>
          <p:cNvSpPr>
            <a:spLocks noGrp="1"/>
          </p:cNvSpPr>
          <p:nvPr>
            <p:ph idx="1"/>
          </p:nvPr>
        </p:nvSpPr>
        <p:spPr>
          <a:xfrm>
            <a:off x="685800" y="1478915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i="1" u="sng" dirty="0">
                <a:latin typeface="Times New Roman" panose="02020603050405020304" pitchFamily="18" charset="0"/>
              </a:rPr>
              <a:t>Initial</a:t>
            </a:r>
            <a:r>
              <a:rPr lang="en-US" altLang="zh-CN" sz="2800" dirty="0">
                <a:latin typeface="Times New Roman" panose="02020603050405020304" pitchFamily="18" charset="0"/>
              </a:rPr>
              <a:t> is an integer expression.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i="1" u="sng" dirty="0">
                <a:latin typeface="Times New Roman" panose="02020603050405020304" pitchFamily="18" charset="0"/>
              </a:rPr>
              <a:t>Final</a:t>
            </a:r>
            <a:r>
              <a:rPr lang="en-US" altLang="zh-CN" sz="2800" dirty="0">
                <a:latin typeface="Times New Roman" panose="02020603050405020304" pitchFamily="18" charset="0"/>
              </a:rPr>
              <a:t> is another integer expression.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Semantics:</a:t>
            </a:r>
            <a:r>
              <a:rPr lang="en-US" altLang="zh-CN" sz="2800" dirty="0">
                <a:latin typeface="Times New Roman" panose="02020603050405020304" pitchFamily="18" charset="0"/>
              </a:rPr>
              <a:t>  Repeatedly execute </a:t>
            </a:r>
            <a:r>
              <a:rPr lang="en-US" altLang="zh-CN" sz="2800" i="1" u="sng" dirty="0">
                <a:latin typeface="Times New Roman" panose="02020603050405020304" pitchFamily="18" charset="0"/>
              </a:rPr>
              <a:t>stmt</a:t>
            </a:r>
            <a:r>
              <a:rPr lang="en-US" altLang="zh-CN" sz="2800" dirty="0">
                <a:latin typeface="Times New Roman" panose="02020603050405020304" pitchFamily="18" charset="0"/>
              </a:rPr>
              <a:t>, first with variable </a:t>
            </a:r>
            <a:r>
              <a:rPr lang="en-US" altLang="zh-CN" sz="2800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var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:= </a:t>
            </a:r>
            <a:r>
              <a:rPr lang="en-US" altLang="zh-CN" sz="2800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initial</a:t>
            </a:r>
            <a:r>
              <a:rPr lang="en-US" altLang="zh-CN" sz="2800" dirty="0">
                <a:latin typeface="Times New Roman" panose="02020603050405020304" pitchFamily="18" charset="0"/>
              </a:rPr>
              <a:t>, then with </a:t>
            </a:r>
            <a:r>
              <a:rPr lang="en-US" altLang="zh-CN" sz="2800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var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:= </a:t>
            </a:r>
            <a:r>
              <a:rPr lang="en-US" altLang="zh-CN" sz="2800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initial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+1</a:t>
            </a:r>
            <a:r>
              <a:rPr lang="en-US" altLang="zh-CN" sz="2800" dirty="0">
                <a:latin typeface="Times New Roman" panose="02020603050405020304" pitchFamily="18" charset="0"/>
              </a:rPr>
              <a:t>, then with </a:t>
            </a:r>
            <a:r>
              <a:rPr lang="en-US" altLang="zh-CN" sz="2800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var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:= </a:t>
            </a:r>
            <a:r>
              <a:rPr lang="en-US" altLang="zh-CN" sz="2800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initial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+2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etc</a:t>
            </a:r>
            <a:r>
              <a:rPr lang="en-US" altLang="zh-CN" sz="2800" dirty="0">
                <a:latin typeface="Times New Roman" panose="02020603050405020304" pitchFamily="18" charset="0"/>
              </a:rPr>
              <a:t>., then finally with </a:t>
            </a:r>
            <a:r>
              <a:rPr lang="en-US" altLang="zh-CN" sz="2800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var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:= </a:t>
            </a:r>
            <a:r>
              <a:rPr lang="en-US" altLang="zh-CN" sz="2800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final</a:t>
            </a:r>
            <a:r>
              <a:rPr lang="en-US" altLang="zh-CN" sz="2800" dirty="0">
                <a:latin typeface="Times New Roman" panose="02020603050405020304" pitchFamily="18" charset="0"/>
              </a:rPr>
              <a:t>.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Question:</a:t>
            </a:r>
            <a:r>
              <a:rPr lang="en-US" altLang="zh-CN" sz="2800" dirty="0">
                <a:latin typeface="Times New Roman" panose="02020603050405020304" pitchFamily="18" charset="0"/>
              </a:rPr>
              <a:t> What happens if </a:t>
            </a:r>
            <a:r>
              <a:rPr lang="en-US" altLang="zh-CN" sz="2800" i="1" u="sng" dirty="0">
                <a:latin typeface="Times New Roman" panose="02020603050405020304" pitchFamily="18" charset="0"/>
              </a:rPr>
              <a:t>stmt</a:t>
            </a:r>
            <a:r>
              <a:rPr lang="en-US" altLang="zh-CN" sz="2800" dirty="0">
                <a:latin typeface="Times New Roman" panose="02020603050405020304" pitchFamily="18" charset="0"/>
              </a:rPr>
              <a:t> changes the value of var, or the value that </a:t>
            </a:r>
            <a:r>
              <a:rPr lang="en-US" altLang="zh-CN" sz="2800" i="1" u="sng" dirty="0">
                <a:latin typeface="Times New Roman" panose="02020603050405020304" pitchFamily="18" charset="0"/>
              </a:rPr>
              <a:t>initial</a:t>
            </a:r>
            <a:r>
              <a:rPr lang="en-US" altLang="zh-CN" sz="2800" dirty="0">
                <a:latin typeface="Times New Roman" panose="02020603050405020304" pitchFamily="18" charset="0"/>
              </a:rPr>
              <a:t> or </a:t>
            </a:r>
            <a:r>
              <a:rPr lang="en-US" altLang="zh-CN" sz="2800" i="1" u="sng" dirty="0">
                <a:latin typeface="Times New Roman" panose="02020603050405020304" pitchFamily="18" charset="0"/>
              </a:rPr>
              <a:t>final</a:t>
            </a:r>
            <a:r>
              <a:rPr lang="en-US" altLang="zh-CN" sz="2800" dirty="0">
                <a:latin typeface="Times New Roman" panose="02020603050405020304" pitchFamily="18" charset="0"/>
              </a:rPr>
              <a:t> evaluates to?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25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for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var</a:t>
            </a:r>
            <a:r>
              <a:rPr lang="en-US" altLang="zh-CN" dirty="0">
                <a:latin typeface="Times New Roman" panose="02020603050405020304" pitchFamily="18" charset="0"/>
              </a:rPr>
              <a:t> := </a:t>
            </a:r>
            <a:r>
              <a:rPr lang="en-US" altLang="zh-CN" i="1" u="sng" dirty="0">
                <a:latin typeface="Times New Roman" panose="02020603050405020304" pitchFamily="18" charset="0"/>
              </a:rPr>
              <a:t>initial</a:t>
            </a:r>
            <a:r>
              <a:rPr lang="en-US" altLang="zh-CN" dirty="0">
                <a:latin typeface="Times New Roman" panose="02020603050405020304" pitchFamily="18" charset="0"/>
              </a:rPr>
              <a:t> to </a:t>
            </a:r>
            <a:r>
              <a:rPr lang="en-US" altLang="zh-CN" i="1" u="sng" dirty="0">
                <a:latin typeface="Times New Roman" panose="02020603050405020304" pitchFamily="18" charset="0"/>
              </a:rPr>
              <a:t>final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latin typeface="Times New Roman" panose="02020603050405020304" pitchFamily="18" charset="0"/>
              </a:rPr>
              <a:t>stmt</a:t>
            </a:r>
            <a:endParaRPr lang="en-US" altLang="zh-CN" i="1" u="sng" dirty="0">
              <a:latin typeface="Times New Roman" panose="02020603050405020304" pitchFamily="18" charset="0"/>
            </a:endParaRPr>
          </a:p>
        </p:txBody>
      </p:sp>
      <p:sp>
        <p:nvSpPr>
          <p:cNvPr id="22534" name="Rectangle 3"/>
          <p:cNvSpPr>
            <a:spLocks noGrp="1"/>
          </p:cNvSpPr>
          <p:nvPr>
            <p:ph idx="1"/>
          </p:nvPr>
        </p:nvSpPr>
        <p:spPr>
          <a:xfrm>
            <a:off x="685800" y="1398270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For</a:t>
            </a:r>
            <a:r>
              <a:rPr lang="en-US" altLang="zh-CN" dirty="0">
                <a:latin typeface="Times New Roman" panose="02020603050405020304" pitchFamily="18" charset="0"/>
              </a:rPr>
              <a:t> can be exactly defined in terms of </a:t>
            </a:r>
            <a:r>
              <a:rPr lang="en-US" altLang="zh-CN" b="1" dirty="0">
                <a:latin typeface="Times New Roman" panose="02020603050405020304" pitchFamily="18" charset="0"/>
              </a:rPr>
              <a:t>while,</a:t>
            </a:r>
            <a:r>
              <a:rPr lang="en-US" altLang="zh-CN" dirty="0">
                <a:latin typeface="Times New Roman" panose="02020603050405020304" pitchFamily="18" charset="0"/>
              </a:rPr>
              <a:t> like so: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2535" name="Text Box 4"/>
          <p:cNvSpPr txBox="1"/>
          <p:nvPr/>
        </p:nvSpPr>
        <p:spPr>
          <a:xfrm>
            <a:off x="3657600" y="2084070"/>
            <a:ext cx="4267200" cy="4054475"/>
          </a:xfrm>
          <a:prstGeom prst="rect">
            <a:avLst/>
          </a:prstGeom>
          <a:solidFill>
            <a:schemeClr val="bg1"/>
          </a:solidFill>
          <a:ln w="63500" cap="flat" cmpd="sng">
            <a:solidFill>
              <a:srgbClr val="006600"/>
            </a:solidFill>
            <a:prstDash val="solid"/>
            <a:miter/>
            <a:headEnd type="none" w="med" len="med"/>
            <a:tailEnd type="none" w="lg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begin</a:t>
            </a:r>
            <a:b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</a:b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i="1" u="sng" dirty="0">
                <a:solidFill>
                  <a:schemeClr val="hlink"/>
                </a:solidFill>
                <a:latin typeface="Times New Roman" panose="02020603050405020304" pitchFamily="18" charset="0"/>
              </a:rPr>
              <a:t>var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 := </a:t>
            </a:r>
            <a:r>
              <a:rPr lang="en-US" altLang="zh-CN" i="1" u="sng" dirty="0">
                <a:solidFill>
                  <a:schemeClr val="hlink"/>
                </a:solidFill>
                <a:latin typeface="Times New Roman" panose="02020603050405020304" pitchFamily="18" charset="0"/>
              </a:rPr>
              <a:t>initial</a:t>
            </a:r>
            <a:b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</a:b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i="1" u="sng" dirty="0">
                <a:solidFill>
                  <a:schemeClr val="hlink"/>
                </a:solidFill>
                <a:latin typeface="Times New Roman" panose="02020603050405020304" pitchFamily="18" charset="0"/>
              </a:rPr>
              <a:t>var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i="1" u="sng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final</a:t>
            </a:r>
            <a:b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begin</a:t>
            </a:r>
            <a:b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i="1" u="sng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stmt</a:t>
            </a:r>
            <a:b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  </a:t>
            </a:r>
            <a:r>
              <a:rPr lang="en-US" altLang="zh-CN" i="1" u="sng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var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</a:rPr>
              <a:t>:=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u="sng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var</a:t>
            </a:r>
            <a:r>
              <a:rPr lang="en-US" altLang="zh-CN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+ 1</a:t>
            </a:r>
            <a:br>
              <a:rPr lang="en-US" altLang="zh-CN" i="1" u="sng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i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end</a:t>
            </a:r>
            <a:b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b="1" dirty="0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end</a:t>
            </a:r>
            <a:endParaRPr lang="en-US" altLang="zh-CN" b="1" dirty="0">
              <a:solidFill>
                <a:schemeClr val="hlink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i="1" u="sng" dirty="0">
                <a:latin typeface="Times New Roman" panose="02020603050405020304" pitchFamily="18" charset="0"/>
              </a:rPr>
              <a:t>procedure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u="sng" dirty="0">
                <a:latin typeface="Times New Roman" panose="02020603050405020304" pitchFamily="18" charset="0"/>
              </a:rPr>
              <a:t>argument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en-US" altLang="zh-CN" i="1" u="sng" dirty="0">
              <a:latin typeface="Times New Roman" panose="02020603050405020304" pitchFamily="18" charset="0"/>
            </a:endParaRPr>
          </a:p>
        </p:txBody>
      </p:sp>
      <p:sp>
        <p:nvSpPr>
          <p:cNvPr id="2355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 </a:t>
            </a:r>
            <a:r>
              <a:rPr lang="en-US" altLang="zh-CN" i="1" dirty="0">
                <a:latin typeface="Times New Roman" panose="02020603050405020304" pitchFamily="18" charset="0"/>
              </a:rPr>
              <a:t>procedure call</a:t>
            </a:r>
            <a:r>
              <a:rPr lang="en-US" altLang="zh-CN" dirty="0">
                <a:latin typeface="Times New Roman" panose="02020603050405020304" pitchFamily="18" charset="0"/>
              </a:rPr>
              <a:t> statement invokes the named </a:t>
            </a:r>
            <a:r>
              <a:rPr lang="en-US" altLang="zh-CN" i="1" u="sng" dirty="0">
                <a:latin typeface="Times New Roman" panose="02020603050405020304" pitchFamily="18" charset="0"/>
              </a:rPr>
              <a:t>procedure</a:t>
            </a:r>
            <a:r>
              <a:rPr lang="en-US" altLang="zh-CN" dirty="0">
                <a:latin typeface="Times New Roman" panose="02020603050405020304" pitchFamily="18" charset="0"/>
              </a:rPr>
              <a:t>, giving it as its input the value of the </a:t>
            </a:r>
            <a:r>
              <a:rPr lang="en-US" altLang="zh-CN" i="1" u="sng" dirty="0">
                <a:latin typeface="Times New Roman" panose="02020603050405020304" pitchFamily="18" charset="0"/>
              </a:rPr>
              <a:t>argument</a:t>
            </a:r>
            <a:r>
              <a:rPr lang="en-US" altLang="zh-CN" dirty="0">
                <a:latin typeface="Times New Roman" panose="02020603050405020304" pitchFamily="18" charset="0"/>
              </a:rPr>
              <a:t> expression.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Various real programming languages refer to procedures as </a:t>
            </a:r>
            <a:r>
              <a:rPr lang="en-US" altLang="zh-CN" i="1" dirty="0">
                <a:latin typeface="Times New Roman" panose="02020603050405020304" pitchFamily="18" charset="0"/>
              </a:rPr>
              <a:t>functions</a:t>
            </a:r>
            <a:r>
              <a:rPr lang="en-US" altLang="zh-CN" dirty="0">
                <a:latin typeface="Times New Roman" panose="02020603050405020304" pitchFamily="18" charset="0"/>
              </a:rPr>
              <a:t> (since the procedure call notation works similarly to function application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)), or as </a:t>
            </a:r>
            <a:r>
              <a:rPr lang="en-US" altLang="zh-CN" i="1" dirty="0">
                <a:latin typeface="Times New Roman" panose="02020603050405020304" pitchFamily="18" charset="0"/>
              </a:rPr>
              <a:t>subroutines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subprograms</a:t>
            </a:r>
            <a:r>
              <a:rPr lang="en-US" altLang="zh-CN" dirty="0">
                <a:latin typeface="Times New Roman" panose="02020603050405020304" pitchFamily="18" charset="0"/>
              </a:rPr>
              <a:t>, or </a:t>
            </a:r>
            <a:r>
              <a:rPr lang="en-US" altLang="zh-CN" i="1" dirty="0">
                <a:latin typeface="Times New Roman" panose="02020603050405020304" pitchFamily="18" charset="0"/>
              </a:rPr>
              <a:t>methods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7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Max procedure in pseudocode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58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procedure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max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: integers)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 :=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{largest element so far}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en-US" altLang="zh-CN" b="1" dirty="0">
                <a:latin typeface="Times New Roman" panose="02020603050405020304" pitchFamily="18" charset="0"/>
              </a:rPr>
              <a:t>for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:= 2 </a:t>
            </a:r>
            <a:r>
              <a:rPr lang="en-US" altLang="zh-CN" b="1" dirty="0">
                <a:latin typeface="Times New Roman" panose="02020603050405020304" pitchFamily="18" charset="0"/>
              </a:rPr>
              <a:t>to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n   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{go thru rest of elems}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</a:t>
            </a:r>
            <a:r>
              <a:rPr lang="en-US" altLang="zh-CN" b="1" dirty="0">
                <a:latin typeface="Times New Roman" panose="02020603050405020304" pitchFamily="18" charset="0"/>
              </a:rPr>
              <a:t>if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&gt;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then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latin typeface="Times New Roman" panose="02020603050405020304" pitchFamily="18" charset="0"/>
              </a:rPr>
              <a:t> :=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   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{found bigger?}</a:t>
            </a:r>
            <a:endParaRPr lang="en-US" altLang="zh-CN" i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i="1" dirty="0">
                <a:latin typeface="Times New Roman" panose="02020603050405020304" pitchFamily="18" charset="0"/>
              </a:rPr>
              <a:t>    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{at this point </a:t>
            </a:r>
            <a:r>
              <a:rPr lang="en-US" altLang="zh-CN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’s value is the same as</a:t>
            </a:r>
            <a:b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the largest integer in the list}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en-US" altLang="zh-CN" b="1" dirty="0">
                <a:latin typeface="Times New Roman" panose="02020603050405020304" pitchFamily="18" charset="0"/>
              </a:rPr>
              <a:t>return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v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Inventing an Algorithm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0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Requires a lot of creativity and intuition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Like writing proofs.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Unfortunately, we can’t give you an algorithm for inventing algorithms.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Just look at lots of examples…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And practice (preferably, on a computer)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And look at more examples…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And practice some more… etc., etc.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Algorithm-Inventing Example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663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Suppose we ask you to write an algorithm to compute the predicate: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i="1" dirty="0">
                <a:latin typeface="Times New Roman" panose="02020603050405020304" pitchFamily="18" charset="0"/>
              </a:rPr>
              <a:t>			IsPrime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r>
              <a:rPr lang="en-US" altLang="zh-CN" b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{T,F}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Computes whether a given natural number is a prime number.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First, start with a correct predicate-logic definition of the desired function: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IsPrime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sym typeface="Wingdings" panose="05000000000000000000" pitchFamily="2" charset="2"/>
              </a:rPr>
              <a:t> ¬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1&lt;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6631" name="AutoShape 4"/>
          <p:cNvSpPr/>
          <p:nvPr/>
        </p:nvSpPr>
        <p:spPr>
          <a:xfrm rot="5400000">
            <a:off x="5782310" y="4802505"/>
            <a:ext cx="152400" cy="533400"/>
          </a:xfrm>
          <a:prstGeom prst="rightBrace">
            <a:avLst>
              <a:gd name="adj1" fmla="val 87500"/>
              <a:gd name="adj2" fmla="val 50000"/>
            </a:avLst>
          </a:prstGeom>
          <a:noFill/>
          <a:ln w="28575" cap="flat" cmpd="sng">
            <a:solidFill>
              <a:srgbClr val="0066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i="1" u="sng" dirty="0">
              <a:latin typeface="Times New Roman" panose="02020603050405020304" pitchFamily="18" charset="0"/>
            </a:endParaRPr>
          </a:p>
        </p:txBody>
      </p:sp>
      <p:sp>
        <p:nvSpPr>
          <p:cNvPr id="26632" name="Text Box 5"/>
          <p:cNvSpPr txBox="1"/>
          <p:nvPr/>
        </p:nvSpPr>
        <p:spPr>
          <a:xfrm>
            <a:off x="5639435" y="5180330"/>
            <a:ext cx="2714625" cy="669925"/>
          </a:xfrm>
          <a:prstGeom prst="rect">
            <a:avLst/>
          </a:prstGeom>
          <a:solidFill>
            <a:srgbClr val="FFFFCC"/>
          </a:solidFill>
          <a:ln w="28575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Means </a:t>
            </a:r>
            <a:r>
              <a:rPr lang="en-US" altLang="zh-CN" sz="1800" i="1" dirty="0">
                <a:latin typeface="Times New Roman" panose="02020603050405020304" pitchFamily="18" charset="0"/>
              </a:rPr>
              <a:t>d</a:t>
            </a:r>
            <a:r>
              <a:rPr lang="en-US" altLang="zh-CN" sz="1800" dirty="0">
                <a:latin typeface="Times New Roman" panose="02020603050405020304" pitchFamily="18" charset="0"/>
              </a:rPr>
              <a:t> divides </a:t>
            </a:r>
            <a:r>
              <a:rPr lang="en-US" altLang="zh-CN" sz="1800" i="1" dirty="0">
                <a:latin typeface="Times New Roman" panose="02020603050405020304" pitchFamily="18" charset="0"/>
              </a:rPr>
              <a:t>n</a:t>
            </a:r>
            <a:br>
              <a:rPr lang="en-US" altLang="zh-CN" sz="1800" dirty="0">
                <a:latin typeface="Times New Roman" panose="02020603050405020304" pitchFamily="18" charset="0"/>
              </a:rPr>
            </a:br>
            <a:r>
              <a:rPr lang="en-US" altLang="zh-CN" sz="1800" dirty="0">
                <a:latin typeface="Times New Roman" panose="02020603050405020304" pitchFamily="18" charset="0"/>
              </a:rPr>
              <a:t>evenly (without remainder)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IsPrime</a:t>
            </a:r>
            <a:r>
              <a:rPr lang="en-US" altLang="zh-CN" dirty="0">
                <a:latin typeface="Times New Roman" panose="02020603050405020304" pitchFamily="18" charset="0"/>
              </a:rPr>
              <a:t> example, </a:t>
            </a:r>
            <a:r>
              <a:rPr lang="en-US" altLang="zh-CN" i="1" dirty="0">
                <a:latin typeface="Times New Roman" panose="02020603050405020304" pitchFamily="18" charset="0"/>
              </a:rPr>
              <a:t>cont.</a:t>
            </a:r>
            <a:endParaRPr lang="en-US" altLang="zh-CN" i="1" dirty="0">
              <a:latin typeface="Times New Roman" panose="02020603050405020304" pitchFamily="18" charset="0"/>
            </a:endParaRPr>
          </a:p>
        </p:txBody>
      </p:sp>
      <p:sp>
        <p:nvSpPr>
          <p:cNvPr id="2765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Notice that the negated exponential can be rewritten as a universal: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lvl="1" indent="0" eaLnBrk="1" hangingPunct="1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¬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1&lt;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     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    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1&lt;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b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		         </a:t>
            </a:r>
            <a:r>
              <a:rPr lang="en-US" altLang="zh-CN" sz="2400" dirty="0">
                <a:latin typeface="Times New Roman" panose="02020603050405020304" pitchFamily="18" charset="0"/>
                <a:sym typeface="Wingdings" panose="05000000000000000000" pitchFamily="2" charset="2"/>
              </a:rPr>
              <a:t>    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2≤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≤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−1: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endParaRPr lang="en-US" altLang="zh-CN" sz="2400" i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This universal can then be translated directly into a corresponding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for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loop:</a:t>
            </a:r>
            <a:endParaRPr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lvl="1" indent="0"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for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:= 2 to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−1   { Try all potential divisors &gt;1 &amp; &lt;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} </a:t>
            </a:r>
            <a:b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d|n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return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F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{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has divisor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; not prime }</a:t>
            </a:r>
            <a:b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return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{ no divisors were found;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must be prime}</a:t>
            </a:r>
            <a:endParaRPr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607" name="Line 4"/>
          <p:cNvSpPr>
            <a:spLocks noChangeShapeType="1"/>
          </p:cNvSpPr>
          <p:nvPr/>
        </p:nvSpPr>
        <p:spPr bwMode="auto">
          <a:xfrm flipH="1">
            <a:off x="5507990" y="2276793"/>
            <a:ext cx="152400" cy="228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1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6" name="Text Box 5"/>
          <p:cNvSpPr txBox="1"/>
          <p:nvPr/>
        </p:nvSpPr>
        <p:spPr>
          <a:xfrm>
            <a:off x="6808153" y="1790383"/>
            <a:ext cx="2247900" cy="954087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rgbClr val="00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Means </a:t>
            </a:r>
            <a:r>
              <a:rPr lang="en-US" altLang="zh-CN" sz="1800" i="1" dirty="0">
                <a:latin typeface="Times New Roman" panose="02020603050405020304" pitchFamily="18" charset="0"/>
              </a:rPr>
              <a:t>d</a:t>
            </a:r>
            <a:r>
              <a:rPr lang="en-US" altLang="zh-CN" sz="1800" dirty="0">
                <a:latin typeface="Times New Roman" panose="02020603050405020304" pitchFamily="18" charset="0"/>
              </a:rPr>
              <a:t> does </a:t>
            </a:r>
            <a:r>
              <a:rPr lang="en-US" altLang="zh-CN" sz="1800" i="1" dirty="0">
                <a:latin typeface="Times New Roman" panose="02020603050405020304" pitchFamily="18" charset="0"/>
              </a:rPr>
              <a:t>not</a:t>
            </a:r>
            <a:r>
              <a:rPr lang="en-US" altLang="zh-CN" sz="1800" dirty="0">
                <a:latin typeface="Times New Roman" panose="02020603050405020304" pitchFamily="18" charset="0"/>
              </a:rPr>
              <a:t> </a:t>
            </a:r>
            <a:br>
              <a:rPr lang="en-US" altLang="zh-CN" sz="1800" dirty="0">
                <a:latin typeface="Times New Roman" panose="02020603050405020304" pitchFamily="18" charset="0"/>
              </a:rPr>
            </a:br>
            <a:r>
              <a:rPr lang="en-US" altLang="zh-CN" sz="1800" dirty="0">
                <a:latin typeface="Times New Roman" panose="02020603050405020304" pitchFamily="18" charset="0"/>
              </a:rPr>
              <a:t>divide </a:t>
            </a:r>
            <a:r>
              <a:rPr lang="en-US" altLang="zh-CN" sz="1800" i="1" dirty="0">
                <a:latin typeface="Times New Roman" panose="02020603050405020304" pitchFamily="18" charset="0"/>
              </a:rPr>
              <a:t>n</a:t>
            </a:r>
            <a:r>
              <a:rPr lang="en-US" altLang="zh-CN" sz="1800" dirty="0">
                <a:latin typeface="Times New Roman" panose="02020603050405020304" pitchFamily="18" charset="0"/>
              </a:rPr>
              <a:t> evenly </a:t>
            </a:r>
            <a:br>
              <a:rPr lang="en-US" altLang="zh-CN" sz="1800" dirty="0">
                <a:latin typeface="Times New Roman" panose="02020603050405020304" pitchFamily="18" charset="0"/>
              </a:rPr>
            </a:br>
            <a:r>
              <a:rPr lang="en-US" altLang="zh-CN" sz="1800" dirty="0">
                <a:latin typeface="Times New Roman" panose="02020603050405020304" pitchFamily="18" charset="0"/>
              </a:rPr>
              <a:t>(the remainder is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≠0</a:t>
            </a:r>
            <a:r>
              <a:rPr lang="en-US" altLang="zh-CN" sz="1800" dirty="0">
                <a:latin typeface="Times New Roman" panose="02020603050405020304" pitchFamily="18" charset="0"/>
              </a:rPr>
              <a:t>)</a:t>
            </a:r>
            <a:endParaRPr lang="en-US" altLang="zh-CN" sz="1800" dirty="0">
              <a:latin typeface="Times New Roman" panose="02020603050405020304" pitchFamily="18" charset="0"/>
            </a:endParaRPr>
          </a:p>
        </p:txBody>
      </p:sp>
      <p:sp>
        <p:nvSpPr>
          <p:cNvPr id="27657" name="Line 6"/>
          <p:cNvSpPr/>
          <p:nvPr/>
        </p:nvSpPr>
        <p:spPr>
          <a:xfrm flipH="1">
            <a:off x="6011863" y="2676525"/>
            <a:ext cx="152400" cy="2286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8" name="Freeform 7"/>
          <p:cNvSpPr/>
          <p:nvPr/>
        </p:nvSpPr>
        <p:spPr>
          <a:xfrm>
            <a:off x="5233353" y="1801495"/>
            <a:ext cx="1573212" cy="400050"/>
          </a:xfrm>
          <a:custGeom>
            <a:avLst/>
            <a:gdLst>
              <a:gd name="txL" fmla="*/ 0 w 991"/>
              <a:gd name="txT" fmla="*/ 0 h 358"/>
              <a:gd name="txR" fmla="*/ 991 w 991"/>
              <a:gd name="txB" fmla="*/ 358 h 358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991" h="358">
                <a:moveTo>
                  <a:pt x="991" y="144"/>
                </a:moveTo>
                <a:cubicBezTo>
                  <a:pt x="968" y="142"/>
                  <a:pt x="944" y="143"/>
                  <a:pt x="921" y="139"/>
                </a:cubicBezTo>
                <a:cubicBezTo>
                  <a:pt x="880" y="132"/>
                  <a:pt x="843" y="103"/>
                  <a:pt x="806" y="87"/>
                </a:cubicBezTo>
                <a:cubicBezTo>
                  <a:pt x="765" y="69"/>
                  <a:pt x="725" y="55"/>
                  <a:pt x="685" y="35"/>
                </a:cubicBezTo>
                <a:cubicBezTo>
                  <a:pt x="634" y="10"/>
                  <a:pt x="568" y="4"/>
                  <a:pt x="513" y="0"/>
                </a:cubicBezTo>
                <a:cubicBezTo>
                  <a:pt x="459" y="2"/>
                  <a:pt x="405" y="3"/>
                  <a:pt x="351" y="6"/>
                </a:cubicBezTo>
                <a:cubicBezTo>
                  <a:pt x="274" y="11"/>
                  <a:pt x="209" y="54"/>
                  <a:pt x="138" y="75"/>
                </a:cubicBezTo>
                <a:cubicBezTo>
                  <a:pt x="116" y="91"/>
                  <a:pt x="91" y="100"/>
                  <a:pt x="69" y="116"/>
                </a:cubicBezTo>
                <a:cubicBezTo>
                  <a:pt x="57" y="133"/>
                  <a:pt x="52" y="150"/>
                  <a:pt x="40" y="167"/>
                </a:cubicBezTo>
                <a:cubicBezTo>
                  <a:pt x="33" y="187"/>
                  <a:pt x="29" y="201"/>
                  <a:pt x="17" y="219"/>
                </a:cubicBezTo>
                <a:cubicBezTo>
                  <a:pt x="9" y="242"/>
                  <a:pt x="8" y="265"/>
                  <a:pt x="0" y="288"/>
                </a:cubicBezTo>
                <a:cubicBezTo>
                  <a:pt x="2" y="305"/>
                  <a:pt x="3" y="323"/>
                  <a:pt x="6" y="340"/>
                </a:cubicBezTo>
                <a:cubicBezTo>
                  <a:pt x="7" y="346"/>
                  <a:pt x="11" y="358"/>
                  <a:pt x="11" y="358"/>
                </a:cubicBezTo>
              </a:path>
            </a:pathLst>
          </a:custGeom>
          <a:noFill/>
          <a:ln w="38100" cap="flat" cmpd="sng">
            <a:solidFill>
              <a:srgbClr val="006600">
                <a:alpha val="100000"/>
              </a:srgb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Optimizing </a:t>
            </a:r>
            <a:r>
              <a:rPr lang="en-US" altLang="zh-CN" i="1" dirty="0">
                <a:latin typeface="Times New Roman" panose="02020603050405020304" pitchFamily="18" charset="0"/>
              </a:rPr>
              <a:t>IsPrime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867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</a:rPr>
              <a:t>The </a:t>
            </a:r>
            <a:r>
              <a:rPr lang="en-US" altLang="zh-CN" sz="2800" i="1" dirty="0">
                <a:latin typeface="Times New Roman" panose="02020603050405020304" pitchFamily="18" charset="0"/>
              </a:rPr>
              <a:t>IsPrime</a:t>
            </a:r>
            <a:r>
              <a:rPr lang="en-US" altLang="zh-CN" sz="2800" dirty="0">
                <a:latin typeface="Times New Roman" panose="02020603050405020304" pitchFamily="18" charset="0"/>
              </a:rPr>
              <a:t> algorithm can be further optimized: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for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</a:rPr>
              <a:t> := 2 to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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1/2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</a:t>
            </a:r>
            <a:b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then return F</a:t>
            </a:r>
            <a:b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return T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This works because of this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theorem: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If 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has any (integer) divisors, it must have one less than 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1/2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Proof: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Suppose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’s smallest divisor &gt;1 is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, and let </a:t>
            </a:r>
            <a:b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≡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.  Then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ab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, but if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&gt;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1/2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then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&gt;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1/2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(since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is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’s smallest divisor) and so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ab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&gt; (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1/2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, an absurdity.</a:t>
            </a:r>
            <a:endParaRPr lang="en-US" altLang="zh-CN" sz="24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8679" name="Text Box 4"/>
          <p:cNvSpPr txBox="1"/>
          <p:nvPr/>
        </p:nvSpPr>
        <p:spPr>
          <a:xfrm>
            <a:off x="4138930" y="4727575"/>
            <a:ext cx="4429125" cy="119697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Further optimizations are possible: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- </a:t>
            </a:r>
            <a:r>
              <a:rPr lang="en-US" altLang="zh-CN" sz="2400" i="1" dirty="0">
                <a:latin typeface="Times New Roman" panose="02020603050405020304" pitchFamily="18" charset="0"/>
              </a:rPr>
              <a:t>E.g.</a:t>
            </a:r>
            <a:r>
              <a:rPr lang="en-US" altLang="zh-CN" sz="2400" dirty="0">
                <a:latin typeface="Times New Roman" panose="02020603050405020304" pitchFamily="18" charset="0"/>
              </a:rPr>
              <a:t>, only try divisors that </a:t>
            </a:r>
            <a:br>
              <a:rPr lang="en-US" altLang="zh-CN" sz="2400" dirty="0">
                <a:latin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</a:rPr>
              <a:t>     are </a:t>
            </a:r>
            <a:r>
              <a:rPr lang="en-US" altLang="zh-CN" sz="2400" i="1" dirty="0">
                <a:latin typeface="Times New Roman" panose="02020603050405020304" pitchFamily="18" charset="0"/>
              </a:rPr>
              <a:t>primes</a:t>
            </a:r>
            <a:r>
              <a:rPr lang="en-US" altLang="zh-CN" sz="2400" dirty="0">
                <a:latin typeface="Times New Roman" panose="02020603050405020304" pitchFamily="18" charset="0"/>
              </a:rPr>
              <a:t> less than </a:t>
            </a:r>
            <a:r>
              <a:rPr lang="en-US" altLang="zh-CN" sz="2400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aseline="30000" dirty="0">
                <a:latin typeface="Times New Roman" panose="02020603050405020304" pitchFamily="18" charset="0"/>
              </a:rPr>
              <a:t>1/2</a:t>
            </a:r>
            <a:r>
              <a:rPr lang="en-US" altLang="zh-CN" sz="2400" dirty="0">
                <a:latin typeface="Times New Roman" panose="02020603050405020304" pitchFamily="18" charset="0"/>
              </a:rPr>
              <a:t>.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8680" name="Line 5"/>
          <p:cNvSpPr/>
          <p:nvPr/>
        </p:nvSpPr>
        <p:spPr>
          <a:xfrm flipH="1">
            <a:off x="3852545" y="1776095"/>
            <a:ext cx="762000" cy="76200"/>
          </a:xfrm>
          <a:prstGeom prst="line">
            <a:avLst/>
          </a:prstGeom>
          <a:ln w="57150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681" name="Text Box 6"/>
          <p:cNvSpPr txBox="1"/>
          <p:nvPr/>
        </p:nvSpPr>
        <p:spPr>
          <a:xfrm>
            <a:off x="4244658" y="1649095"/>
            <a:ext cx="37607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Note smaller range of search.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69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70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97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Another example task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9702" name="Rectangle 3"/>
          <p:cNvSpPr>
            <a:spLocks noGrp="1"/>
          </p:cNvSpPr>
          <p:nvPr>
            <p:ph idx="1"/>
          </p:nvPr>
        </p:nvSpPr>
        <p:spPr>
          <a:xfrm>
            <a:off x="757555" y="1263650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Problem of </a:t>
            </a:r>
            <a:r>
              <a:rPr lang="en-US" altLang="zh-CN" i="1" dirty="0">
                <a:latin typeface="Times New Roman" panose="02020603050405020304" pitchFamily="18" charset="0"/>
              </a:rPr>
              <a:t>searching an ordered list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Given a list </a:t>
            </a:r>
            <a:r>
              <a:rPr lang="en-US" altLang="zh-CN" i="1" dirty="0">
                <a:latin typeface="Times New Roman" panose="02020603050405020304" pitchFamily="18" charset="0"/>
              </a:rPr>
              <a:t>L </a:t>
            </a:r>
            <a:r>
              <a:rPr lang="en-US" altLang="zh-CN" dirty="0">
                <a:latin typeface="Times New Roman" panose="02020603050405020304" pitchFamily="18" charset="0"/>
              </a:rPr>
              <a:t>of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elements that are sorted into a definite order (</a:t>
            </a:r>
            <a:r>
              <a:rPr lang="en-US" altLang="zh-CN" i="1" dirty="0">
                <a:latin typeface="Times New Roman" panose="02020603050405020304" pitchFamily="18" charset="0"/>
              </a:rPr>
              <a:t>e.g.</a:t>
            </a:r>
            <a:r>
              <a:rPr lang="en-US" altLang="zh-CN" dirty="0">
                <a:latin typeface="Times New Roman" panose="02020603050405020304" pitchFamily="18" charset="0"/>
              </a:rPr>
              <a:t>, numeric, alphabetical),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And given a particular element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Determine whether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appears in the list,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and if so, return its index (position) in the list.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Problem occurs often in many contexts.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Let’s find an </a:t>
            </a:r>
            <a:r>
              <a:rPr lang="en-US" altLang="zh-CN" i="1" dirty="0">
                <a:latin typeface="Times New Roman" panose="02020603050405020304" pitchFamily="18" charset="0"/>
              </a:rPr>
              <a:t>efficient</a:t>
            </a:r>
            <a:r>
              <a:rPr lang="en-US" altLang="zh-CN" dirty="0">
                <a:latin typeface="Times New Roman" panose="02020603050405020304" pitchFamily="18" charset="0"/>
              </a:rPr>
              <a:t> algorithm!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072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Search alg. #1: Linear Search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072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procedure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linear search</a:t>
            </a:r>
            <a:br>
              <a:rPr lang="en-US" altLang="zh-CN" i="1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: integer,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: distinct integers)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:= 1 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{start at beginning of list}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while</a:t>
            </a:r>
            <a:r>
              <a:rPr lang="en-US" altLang="zh-CN" dirty="0">
                <a:latin typeface="Times New Roman" panose="02020603050405020304" pitchFamily="18" charset="0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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{not done, not found}</a:t>
            </a:r>
            <a:b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:=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+ 1  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{go to the next position}</a:t>
            </a:r>
            <a:b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then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location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:=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{it was found}</a:t>
            </a:r>
            <a:br>
              <a:rPr lang="en-US" altLang="zh-CN" i="1" dirty="0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else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sym typeface="Symbol" panose="05050102010706020507" pitchFamily="18" charset="2"/>
              </a:rPr>
              <a:t>location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:= 0 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{it wasn’t found}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return </a:t>
            </a:r>
            <a:r>
              <a:rPr lang="en-US" altLang="zh-CN" i="1" dirty="0">
                <a:latin typeface="Times New Roman" panose="02020603050405020304" pitchFamily="18" charset="0"/>
              </a:rPr>
              <a:t>location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{index or 0 if not found}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17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Search alg. #2: Binary Search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175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Basic idea: On each step, look at the </a:t>
            </a:r>
            <a:r>
              <a:rPr lang="en-US" altLang="zh-CN" i="1" dirty="0">
                <a:latin typeface="Times New Roman" panose="02020603050405020304" pitchFamily="18" charset="0"/>
              </a:rPr>
              <a:t>middle</a:t>
            </a:r>
            <a:r>
              <a:rPr lang="en-US" altLang="zh-CN" dirty="0">
                <a:latin typeface="Times New Roman" panose="02020603050405020304" pitchFamily="18" charset="0"/>
              </a:rPr>
              <a:t> element of the remaining list to eliminate half of it, and quickly zero in on the desired element.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1751" name="Rectangle 4"/>
          <p:cNvSpPr/>
          <p:nvPr/>
        </p:nvSpPr>
        <p:spPr>
          <a:xfrm>
            <a:off x="990600" y="5181600"/>
            <a:ext cx="7162800" cy="3810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i="1" u="sng" dirty="0">
              <a:latin typeface="Times New Roman" panose="02020603050405020304" pitchFamily="18" charset="0"/>
            </a:endParaRPr>
          </a:p>
        </p:txBody>
      </p:sp>
      <p:sp>
        <p:nvSpPr>
          <p:cNvPr id="658437" name="Freeform 5"/>
          <p:cNvSpPr/>
          <p:nvPr/>
        </p:nvSpPr>
        <p:spPr>
          <a:xfrm>
            <a:off x="990600" y="3949700"/>
            <a:ext cx="3581400" cy="1231900"/>
          </a:xfrm>
          <a:custGeom>
            <a:avLst/>
            <a:gdLst>
              <a:gd name="txL" fmla="*/ 0 w 2256"/>
              <a:gd name="txT" fmla="*/ 0 h 776"/>
              <a:gd name="txR" fmla="*/ 2256 w 2256"/>
              <a:gd name="txB" fmla="*/ 776 h 776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256" h="776">
                <a:moveTo>
                  <a:pt x="0" y="56"/>
                </a:moveTo>
                <a:cubicBezTo>
                  <a:pt x="476" y="28"/>
                  <a:pt x="952" y="0"/>
                  <a:pt x="1296" y="56"/>
                </a:cubicBezTo>
                <a:cubicBezTo>
                  <a:pt x="1640" y="112"/>
                  <a:pt x="1904" y="272"/>
                  <a:pt x="2064" y="392"/>
                </a:cubicBezTo>
                <a:cubicBezTo>
                  <a:pt x="2224" y="512"/>
                  <a:pt x="2240" y="644"/>
                  <a:pt x="2256" y="776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med"/>
          </a:ln>
        </p:spPr>
        <p:txBody>
          <a:bodyPr/>
          <a:p>
            <a:endParaRPr lang="zh-CN" altLang="en-US"/>
          </a:p>
        </p:txBody>
      </p:sp>
      <p:sp>
        <p:nvSpPr>
          <p:cNvPr id="658438" name="Freeform 6"/>
          <p:cNvSpPr/>
          <p:nvPr/>
        </p:nvSpPr>
        <p:spPr>
          <a:xfrm>
            <a:off x="4572000" y="4305300"/>
            <a:ext cx="1752600" cy="876300"/>
          </a:xfrm>
          <a:custGeom>
            <a:avLst/>
            <a:gdLst>
              <a:gd name="txL" fmla="*/ 0 w 1216"/>
              <a:gd name="txT" fmla="*/ 0 h 552"/>
              <a:gd name="txR" fmla="*/ 1216 w 1216"/>
              <a:gd name="txB" fmla="*/ 552 h 552"/>
            </a:gdLst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16" h="552">
                <a:moveTo>
                  <a:pt x="0" y="552"/>
                </a:moveTo>
                <a:cubicBezTo>
                  <a:pt x="28" y="380"/>
                  <a:pt x="56" y="208"/>
                  <a:pt x="144" y="120"/>
                </a:cubicBezTo>
                <a:cubicBezTo>
                  <a:pt x="232" y="32"/>
                  <a:pt x="368" y="0"/>
                  <a:pt x="528" y="24"/>
                </a:cubicBezTo>
                <a:cubicBezTo>
                  <a:pt x="688" y="48"/>
                  <a:pt x="992" y="176"/>
                  <a:pt x="1104" y="264"/>
                </a:cubicBezTo>
                <a:cubicBezTo>
                  <a:pt x="1216" y="352"/>
                  <a:pt x="1208" y="452"/>
                  <a:pt x="1200" y="552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med"/>
          </a:ln>
        </p:spPr>
        <p:txBody>
          <a:bodyPr/>
          <a:p>
            <a:endParaRPr lang="zh-CN" altLang="en-US"/>
          </a:p>
        </p:txBody>
      </p:sp>
      <p:sp>
        <p:nvSpPr>
          <p:cNvPr id="658439" name="Freeform 7"/>
          <p:cNvSpPr/>
          <p:nvPr/>
        </p:nvSpPr>
        <p:spPr>
          <a:xfrm>
            <a:off x="5384800" y="4737100"/>
            <a:ext cx="863600" cy="444500"/>
          </a:xfrm>
          <a:custGeom>
            <a:avLst/>
            <a:gdLst>
              <a:gd name="txL" fmla="*/ 0 w 544"/>
              <a:gd name="txT" fmla="*/ 0 h 280"/>
              <a:gd name="txR" fmla="*/ 544 w 544"/>
              <a:gd name="txB" fmla="*/ 280 h 28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544" h="280">
                <a:moveTo>
                  <a:pt x="544" y="280"/>
                </a:moveTo>
                <a:cubicBezTo>
                  <a:pt x="512" y="180"/>
                  <a:pt x="480" y="80"/>
                  <a:pt x="400" y="40"/>
                </a:cubicBezTo>
                <a:cubicBezTo>
                  <a:pt x="320" y="0"/>
                  <a:pt x="128" y="0"/>
                  <a:pt x="64" y="40"/>
                </a:cubicBezTo>
                <a:cubicBezTo>
                  <a:pt x="0" y="80"/>
                  <a:pt x="8" y="180"/>
                  <a:pt x="16" y="280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med"/>
          </a:ln>
        </p:spPr>
        <p:txBody>
          <a:bodyPr/>
          <a:p>
            <a:endParaRPr lang="zh-CN" altLang="en-US"/>
          </a:p>
        </p:txBody>
      </p:sp>
      <p:sp>
        <p:nvSpPr>
          <p:cNvPr id="658440" name="Freeform 8"/>
          <p:cNvSpPr/>
          <p:nvPr/>
        </p:nvSpPr>
        <p:spPr>
          <a:xfrm>
            <a:off x="5410200" y="4876800"/>
            <a:ext cx="457200" cy="304800"/>
          </a:xfrm>
          <a:custGeom>
            <a:avLst/>
            <a:gdLst>
              <a:gd name="txL" fmla="*/ 0 w 288"/>
              <a:gd name="txT" fmla="*/ 0 h 192"/>
              <a:gd name="txR" fmla="*/ 288 w 288"/>
              <a:gd name="txB" fmla="*/ 192 h 192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rect l="txL" t="txT" r="txR" b="txB"/>
            <a:pathLst>
              <a:path w="288" h="192">
                <a:moveTo>
                  <a:pt x="0" y="192"/>
                </a:moveTo>
                <a:cubicBezTo>
                  <a:pt x="48" y="96"/>
                  <a:pt x="96" y="0"/>
                  <a:pt x="144" y="0"/>
                </a:cubicBezTo>
                <a:cubicBezTo>
                  <a:pt x="192" y="0"/>
                  <a:pt x="240" y="96"/>
                  <a:pt x="288" y="192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med"/>
          </a:ln>
        </p:spPr>
        <p:txBody>
          <a:bodyPr/>
          <a:p>
            <a:endParaRPr lang="zh-CN" altLang="en-US"/>
          </a:p>
        </p:txBody>
      </p:sp>
      <p:sp>
        <p:nvSpPr>
          <p:cNvPr id="658441" name="Freeform 9"/>
          <p:cNvSpPr/>
          <p:nvPr/>
        </p:nvSpPr>
        <p:spPr>
          <a:xfrm>
            <a:off x="5791200" y="4953000"/>
            <a:ext cx="228600" cy="228600"/>
          </a:xfrm>
          <a:custGeom>
            <a:avLst/>
            <a:gdLst>
              <a:gd name="txL" fmla="*/ 0 w 144"/>
              <a:gd name="txT" fmla="*/ 0 h 144"/>
              <a:gd name="txR" fmla="*/ 144 w 144"/>
              <a:gd name="txB" fmla="*/ 144 h 144"/>
            </a:gdLst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rect l="txL" t="txT" r="txR" b="txB"/>
            <a:pathLst>
              <a:path w="144" h="144">
                <a:moveTo>
                  <a:pt x="0" y="144"/>
                </a:moveTo>
                <a:cubicBezTo>
                  <a:pt x="36" y="72"/>
                  <a:pt x="72" y="0"/>
                  <a:pt x="96" y="0"/>
                </a:cubicBezTo>
                <a:cubicBezTo>
                  <a:pt x="120" y="0"/>
                  <a:pt x="132" y="72"/>
                  <a:pt x="144" y="144"/>
                </a:cubicBezTo>
              </a:path>
            </a:pathLst>
          </a:custGeom>
          <a:noFill/>
          <a:ln w="381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lg" len="med"/>
          </a:ln>
        </p:spPr>
        <p:txBody>
          <a:bodyPr/>
          <a:p>
            <a:endParaRPr lang="zh-CN" altLang="en-US"/>
          </a:p>
        </p:txBody>
      </p:sp>
      <p:sp>
        <p:nvSpPr>
          <p:cNvPr id="658442" name="Oval 10"/>
          <p:cNvSpPr/>
          <p:nvPr/>
        </p:nvSpPr>
        <p:spPr>
          <a:xfrm>
            <a:off x="5867400" y="5105400"/>
            <a:ext cx="228600" cy="609600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headEnd type="none" w="med" len="med"/>
            <a:tailEnd type="none" w="lg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i="1" u="sng" dirty="0">
              <a:latin typeface="Times New Roman" panose="02020603050405020304" pitchFamily="18" charset="0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990600" y="5181600"/>
            <a:ext cx="3581400" cy="381000"/>
            <a:chOff x="624" y="3264"/>
            <a:chExt cx="2256" cy="240"/>
          </a:xfrm>
        </p:grpSpPr>
        <p:sp>
          <p:nvSpPr>
            <p:cNvPr id="31779" name="Line 12"/>
            <p:cNvSpPr/>
            <p:nvPr/>
          </p:nvSpPr>
          <p:spPr>
            <a:xfrm>
              <a:off x="624" y="3264"/>
              <a:ext cx="2256" cy="2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</p:sp>
        <p:sp>
          <p:nvSpPr>
            <p:cNvPr id="31780" name="Line 13"/>
            <p:cNvSpPr/>
            <p:nvPr/>
          </p:nvSpPr>
          <p:spPr>
            <a:xfrm flipV="1">
              <a:off x="624" y="3264"/>
              <a:ext cx="2256" cy="2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</p:sp>
        <p:sp>
          <p:nvSpPr>
            <p:cNvPr id="31781" name="Rectangle 14"/>
            <p:cNvSpPr/>
            <p:nvPr/>
          </p:nvSpPr>
          <p:spPr>
            <a:xfrm>
              <a:off x="624" y="3264"/>
              <a:ext cx="2256" cy="24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lg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5"/>
          <p:cNvGrpSpPr/>
          <p:nvPr/>
        </p:nvGrpSpPr>
        <p:grpSpPr>
          <a:xfrm>
            <a:off x="6324600" y="5181600"/>
            <a:ext cx="1828800" cy="381000"/>
            <a:chOff x="624" y="3264"/>
            <a:chExt cx="2256" cy="240"/>
          </a:xfrm>
        </p:grpSpPr>
        <p:sp>
          <p:nvSpPr>
            <p:cNvPr id="31776" name="Line 16"/>
            <p:cNvSpPr/>
            <p:nvPr/>
          </p:nvSpPr>
          <p:spPr>
            <a:xfrm>
              <a:off x="624" y="3264"/>
              <a:ext cx="2256" cy="2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</p:sp>
        <p:sp>
          <p:nvSpPr>
            <p:cNvPr id="31777" name="Line 17"/>
            <p:cNvSpPr/>
            <p:nvPr/>
          </p:nvSpPr>
          <p:spPr>
            <a:xfrm flipV="1">
              <a:off x="624" y="3264"/>
              <a:ext cx="2256" cy="2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</p:sp>
        <p:sp>
          <p:nvSpPr>
            <p:cNvPr id="31778" name="Rectangle 18"/>
            <p:cNvSpPr/>
            <p:nvPr/>
          </p:nvSpPr>
          <p:spPr>
            <a:xfrm>
              <a:off x="624" y="3264"/>
              <a:ext cx="2256" cy="24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lg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9"/>
          <p:cNvGrpSpPr/>
          <p:nvPr/>
        </p:nvGrpSpPr>
        <p:grpSpPr>
          <a:xfrm>
            <a:off x="4572000" y="5181600"/>
            <a:ext cx="838200" cy="381000"/>
            <a:chOff x="624" y="3264"/>
            <a:chExt cx="2256" cy="240"/>
          </a:xfrm>
        </p:grpSpPr>
        <p:sp>
          <p:nvSpPr>
            <p:cNvPr id="31773" name="Line 20"/>
            <p:cNvSpPr/>
            <p:nvPr/>
          </p:nvSpPr>
          <p:spPr>
            <a:xfrm>
              <a:off x="624" y="3264"/>
              <a:ext cx="2256" cy="2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</p:sp>
        <p:sp>
          <p:nvSpPr>
            <p:cNvPr id="31774" name="Line 21"/>
            <p:cNvSpPr/>
            <p:nvPr/>
          </p:nvSpPr>
          <p:spPr>
            <a:xfrm flipV="1">
              <a:off x="624" y="3264"/>
              <a:ext cx="2256" cy="2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</p:sp>
        <p:sp>
          <p:nvSpPr>
            <p:cNvPr id="31775" name="Rectangle 22"/>
            <p:cNvSpPr/>
            <p:nvPr/>
          </p:nvSpPr>
          <p:spPr>
            <a:xfrm>
              <a:off x="624" y="3264"/>
              <a:ext cx="2256" cy="24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lg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23"/>
          <p:cNvGrpSpPr/>
          <p:nvPr/>
        </p:nvGrpSpPr>
        <p:grpSpPr>
          <a:xfrm>
            <a:off x="5410200" y="5181600"/>
            <a:ext cx="457200" cy="381000"/>
            <a:chOff x="624" y="3264"/>
            <a:chExt cx="2256" cy="240"/>
          </a:xfrm>
        </p:grpSpPr>
        <p:sp>
          <p:nvSpPr>
            <p:cNvPr id="31770" name="Line 24"/>
            <p:cNvSpPr/>
            <p:nvPr/>
          </p:nvSpPr>
          <p:spPr>
            <a:xfrm>
              <a:off x="624" y="3264"/>
              <a:ext cx="2256" cy="2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</p:sp>
        <p:sp>
          <p:nvSpPr>
            <p:cNvPr id="31771" name="Line 25"/>
            <p:cNvSpPr/>
            <p:nvPr/>
          </p:nvSpPr>
          <p:spPr>
            <a:xfrm flipV="1">
              <a:off x="624" y="3264"/>
              <a:ext cx="2256" cy="2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</p:sp>
        <p:sp>
          <p:nvSpPr>
            <p:cNvPr id="31772" name="Rectangle 26"/>
            <p:cNvSpPr/>
            <p:nvPr/>
          </p:nvSpPr>
          <p:spPr>
            <a:xfrm>
              <a:off x="624" y="3264"/>
              <a:ext cx="2256" cy="24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lg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27"/>
          <p:cNvGrpSpPr/>
          <p:nvPr/>
        </p:nvGrpSpPr>
        <p:grpSpPr>
          <a:xfrm>
            <a:off x="6096000" y="5181600"/>
            <a:ext cx="228600" cy="381000"/>
            <a:chOff x="624" y="3264"/>
            <a:chExt cx="2256" cy="240"/>
          </a:xfrm>
        </p:grpSpPr>
        <p:sp>
          <p:nvSpPr>
            <p:cNvPr id="31767" name="Line 28"/>
            <p:cNvSpPr/>
            <p:nvPr/>
          </p:nvSpPr>
          <p:spPr>
            <a:xfrm>
              <a:off x="624" y="3264"/>
              <a:ext cx="2256" cy="2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</p:sp>
        <p:sp>
          <p:nvSpPr>
            <p:cNvPr id="31768" name="Line 29"/>
            <p:cNvSpPr/>
            <p:nvPr/>
          </p:nvSpPr>
          <p:spPr>
            <a:xfrm flipV="1">
              <a:off x="624" y="3264"/>
              <a:ext cx="2256" cy="24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lg" len="med"/>
            </a:ln>
          </p:spPr>
        </p:sp>
        <p:sp>
          <p:nvSpPr>
            <p:cNvPr id="31769" name="Rectangle 30"/>
            <p:cNvSpPr/>
            <p:nvPr/>
          </p:nvSpPr>
          <p:spPr>
            <a:xfrm>
              <a:off x="624" y="3264"/>
              <a:ext cx="2256" cy="24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lg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58463" name="Text Box 31"/>
          <p:cNvSpPr txBox="1"/>
          <p:nvPr/>
        </p:nvSpPr>
        <p:spPr>
          <a:xfrm>
            <a:off x="4343400" y="5562600"/>
            <a:ext cx="49053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&lt;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8464" name="Text Box 32"/>
          <p:cNvSpPr txBox="1"/>
          <p:nvPr/>
        </p:nvSpPr>
        <p:spPr>
          <a:xfrm>
            <a:off x="6096000" y="5562600"/>
            <a:ext cx="49053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&gt;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8465" name="Text Box 33"/>
          <p:cNvSpPr txBox="1"/>
          <p:nvPr/>
        </p:nvSpPr>
        <p:spPr>
          <a:xfrm>
            <a:off x="5181600" y="5562600"/>
            <a:ext cx="49053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&lt;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8466" name="Text Box 34"/>
          <p:cNvSpPr txBox="1"/>
          <p:nvPr/>
        </p:nvSpPr>
        <p:spPr>
          <a:xfrm>
            <a:off x="5638800" y="5562600"/>
            <a:ext cx="490538" cy="457200"/>
          </a:xfrm>
          <a:prstGeom prst="rect">
            <a:avLst/>
          </a:prstGeom>
          <a:noFill/>
          <a:ln w="38100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&lt;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84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8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8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584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58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58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6584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58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58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584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58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58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584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EXPLOD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58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58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8442" grpId="0" animBg="1"/>
      <p:bldP spid="658463" grpId="0"/>
      <p:bldP spid="658464" grpId="0"/>
      <p:bldP spid="658465" grpId="0"/>
      <p:bldP spid="65846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27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Search alg. #2: Binary Search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2774" name="Rectangle 3"/>
          <p:cNvSpPr>
            <a:spLocks noGrp="1"/>
          </p:cNvSpPr>
          <p:nvPr>
            <p:ph idx="1"/>
          </p:nvPr>
        </p:nvSpPr>
        <p:spPr>
          <a:xfrm>
            <a:off x="757555" y="1407160"/>
            <a:ext cx="7772400" cy="43434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procedure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binary search</a:t>
            </a:r>
            <a:br>
              <a:rPr lang="en-US" altLang="zh-CN" sz="2800" i="1" dirty="0">
                <a:latin typeface="Times New Roman" panose="02020603050405020304" pitchFamily="18" charset="0"/>
              </a:rPr>
            </a:b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:integer</a:t>
            </a:r>
            <a:r>
              <a:rPr lang="en-US" altLang="zh-CN" sz="2800" i="1" dirty="0">
                <a:latin typeface="Times New Roman" panose="02020603050405020304" pitchFamily="18" charset="0"/>
              </a:rPr>
              <a:t>, 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, …,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</a:rPr>
              <a:t>: distinct integers)</a:t>
            </a:r>
            <a:r>
              <a:rPr lang="en-US" altLang="zh-CN" sz="2800" i="1" dirty="0">
                <a:latin typeface="Times New Roman" panose="02020603050405020304" pitchFamily="18" charset="0"/>
              </a:rPr>
              <a:t> </a:t>
            </a:r>
            <a:br>
              <a:rPr lang="en-US" altLang="zh-CN" sz="2800" i="1" dirty="0">
                <a:latin typeface="Times New Roman" panose="02020603050405020304" pitchFamily="18" charset="0"/>
              </a:rPr>
            </a:br>
            <a:r>
              <a:rPr lang="en-US" altLang="zh-CN" sz="2800" i="1" dirty="0">
                <a:latin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</a:rPr>
              <a:t> := 1 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{left endpoint of search interval}</a:t>
            </a:r>
            <a:b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sz="2800" i="1" dirty="0">
                <a:latin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</a:rPr>
              <a:t> := </a:t>
            </a:r>
            <a:r>
              <a:rPr lang="en-US" altLang="zh-CN" sz="2800" i="1" dirty="0">
                <a:latin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{right endpoint of search interval}</a:t>
            </a:r>
            <a:b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while</a:t>
            </a:r>
            <a:r>
              <a:rPr lang="en-US" altLang="zh-CN" sz="2800" i="1" dirty="0">
                <a:latin typeface="Times New Roman" panose="02020603050405020304" pitchFamily="18" charset="0"/>
              </a:rPr>
              <a:t> i</a:t>
            </a:r>
            <a:r>
              <a:rPr lang="en-US" altLang="zh-CN" sz="2800" dirty="0">
                <a:latin typeface="Times New Roman" panose="02020603050405020304" pitchFamily="18" charset="0"/>
              </a:rPr>
              <a:t>&lt;</a:t>
            </a:r>
            <a:r>
              <a:rPr lang="en-US" altLang="zh-CN" sz="2800" i="1" dirty="0">
                <a:latin typeface="Times New Roman" panose="02020603050405020304" pitchFamily="18" charset="0"/>
              </a:rPr>
              <a:t>j </a:t>
            </a:r>
            <a:r>
              <a:rPr lang="en-US" altLang="zh-CN" sz="2800" b="1" dirty="0">
                <a:latin typeface="Times New Roman" panose="02020603050405020304" pitchFamily="18" charset="0"/>
              </a:rPr>
              <a:t>begin</a:t>
            </a:r>
            <a:r>
              <a:rPr lang="en-US" altLang="zh-CN" sz="2800" dirty="0">
                <a:latin typeface="Times New Roman" panose="02020603050405020304" pitchFamily="18" charset="0"/>
              </a:rPr>
              <a:t>  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{while interval has &gt;1 item}</a:t>
            </a:r>
            <a:br>
              <a:rPr lang="en-US" altLang="zh-CN" sz="2800" b="1" dirty="0">
                <a:latin typeface="Times New Roman" panose="02020603050405020304" pitchFamily="18" charset="0"/>
              </a:rPr>
            </a:br>
            <a:r>
              <a:rPr lang="en-US" altLang="zh-CN" sz="2800" b="1" dirty="0">
                <a:latin typeface="Times New Roman" panose="02020603050405020304" pitchFamily="18" charset="0"/>
              </a:rPr>
              <a:t>	</a:t>
            </a:r>
            <a:r>
              <a:rPr lang="en-US" altLang="zh-CN" sz="2800" i="1" dirty="0">
                <a:latin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</a:rPr>
              <a:t> :=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(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)/2 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{midpoint}</a:t>
            </a:r>
            <a:b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800" dirty="0">
                <a:latin typeface="Times New Roman" panose="02020603050405020304" pitchFamily="18" charset="0"/>
              </a:rPr>
              <a:t>:=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 m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+1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else 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800" dirty="0">
                <a:latin typeface="Times New Roman" panose="02020603050405020304" pitchFamily="18" charset="0"/>
              </a:rPr>
              <a:t>:=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 m</a:t>
            </a:r>
            <a:b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end</a:t>
            </a:r>
            <a:b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if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then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location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:=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else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location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:=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0</a:t>
            </a:r>
            <a:b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return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sym typeface="Symbol" panose="05050102010706020507" pitchFamily="18" charset="2"/>
              </a:rPr>
              <a:t>location</a:t>
            </a:r>
            <a:endParaRPr lang="en-US" altLang="zh-CN" sz="28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37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Practice exercises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6048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Devise an algorithm that finds the sum of all the integers in a list.  [2 min]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procedure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sum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</a:rPr>
              <a:t>, …,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: integers)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	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:= 0    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{sum of elems so far}</a:t>
            </a:r>
            <a:b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	</a:t>
            </a:r>
            <a:r>
              <a:rPr lang="en-US" altLang="zh-CN" b="1" dirty="0">
                <a:latin typeface="Times New Roman" panose="02020603050405020304" pitchFamily="18" charset="0"/>
              </a:rPr>
              <a:t>for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 := 1 </a:t>
            </a:r>
            <a:r>
              <a:rPr lang="en-US" altLang="zh-CN" b="1" dirty="0">
                <a:latin typeface="Times New Roman" panose="02020603050405020304" pitchFamily="18" charset="0"/>
              </a:rPr>
              <a:t>to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n   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{go thru all elems}</a:t>
            </a:r>
            <a:br>
              <a:rPr lang="en-US" altLang="zh-CN" dirty="0"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		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:=  </a:t>
            </a:r>
            <a:r>
              <a:rPr lang="en-US" altLang="zh-CN" i="1" dirty="0"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latin typeface="Times New Roman" panose="02020603050405020304" pitchFamily="18" charset="0"/>
              </a:rPr>
              <a:t> +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i    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{add current item}</a:t>
            </a:r>
            <a:br>
              <a:rPr lang="en-US" altLang="zh-CN" i="1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i="1" dirty="0">
                <a:latin typeface="Times New Roman" panose="02020603050405020304" pitchFamily="18" charset="0"/>
              </a:rPr>
              <a:t>	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{at this point </a:t>
            </a:r>
            <a:r>
              <a:rPr lang="en-US" altLang="zh-CN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 is the sum of all items}</a:t>
            </a:r>
            <a:b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</a:rPr>
              <a:t>	</a:t>
            </a:r>
            <a:r>
              <a:rPr lang="en-US" altLang="zh-CN" b="1" dirty="0">
                <a:latin typeface="Times New Roman" panose="02020603050405020304" pitchFamily="18" charset="0"/>
              </a:rPr>
              <a:t>return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s            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charRg st="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0483">
                                            <p:txEl>
                                              <p:charRg st="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0483">
                                            <p:txEl>
                                              <p:charRg st="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charRg st="79" end="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0483">
                                            <p:txEl>
                                              <p:charRg st="79" end="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0483">
                                            <p:txEl>
                                              <p:charRg st="79" end="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1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2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48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Sorting Algorithms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82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Sorting is a common operation in many applications.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>
                <a:latin typeface="Times New Roman" panose="02020603050405020304" pitchFamily="18" charset="0"/>
              </a:rPr>
              <a:t>E.g.</a:t>
            </a:r>
            <a:r>
              <a:rPr lang="en-US" altLang="zh-CN" dirty="0">
                <a:latin typeface="Times New Roman" panose="02020603050405020304" pitchFamily="18" charset="0"/>
              </a:rPr>
              <a:t> spreadsheets and databases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It is also widely used as a subroutine in other data-processing algorithms.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Two sorting algorithms shown in textbook: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Bubble sort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Insertion sort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823" name="AutoShape 4"/>
          <p:cNvSpPr/>
          <p:nvPr/>
        </p:nvSpPr>
        <p:spPr>
          <a:xfrm>
            <a:off x="3810000" y="4239895"/>
            <a:ext cx="457200" cy="838200"/>
          </a:xfrm>
          <a:prstGeom prst="rightBrace">
            <a:avLst>
              <a:gd name="adj1" fmla="val 15277"/>
              <a:gd name="adj2" fmla="val 50000"/>
            </a:avLst>
          </a:prstGeom>
          <a:noFill/>
          <a:ln w="28575" cap="flat" cmpd="sng">
            <a:solidFill>
              <a:srgbClr val="0066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i="1" u="sng" dirty="0">
              <a:latin typeface="Times New Roman" panose="02020603050405020304" pitchFamily="18" charset="0"/>
            </a:endParaRPr>
          </a:p>
        </p:txBody>
      </p:sp>
      <p:sp>
        <p:nvSpPr>
          <p:cNvPr id="34824" name="Text Box 5"/>
          <p:cNvSpPr txBox="1"/>
          <p:nvPr/>
        </p:nvSpPr>
        <p:spPr>
          <a:xfrm>
            <a:off x="4435475" y="4052570"/>
            <a:ext cx="4022725" cy="1187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006600"/>
                </a:solidFill>
                <a:latin typeface="Times New Roman" panose="02020603050405020304" pitchFamily="18" charset="0"/>
              </a:rPr>
              <a:t>However, these are </a:t>
            </a:r>
            <a:r>
              <a:rPr lang="en-US" altLang="zh-CN" sz="2400" i="1" dirty="0">
                <a:solidFill>
                  <a:srgbClr val="006600"/>
                </a:solidFill>
                <a:latin typeface="Times New Roman" panose="02020603050405020304" pitchFamily="18" charset="0"/>
              </a:rPr>
              <a:t>not</a:t>
            </a:r>
            <a:br>
              <a:rPr lang="en-US" altLang="zh-CN" sz="2400" dirty="0">
                <a:solidFill>
                  <a:srgbClr val="006600"/>
                </a:solidFill>
                <a:latin typeface="Times New Roman" panose="02020603050405020304" pitchFamily="18" charset="0"/>
              </a:rPr>
            </a:br>
            <a:r>
              <a:rPr lang="en-US" altLang="zh-CN" sz="2400" dirty="0">
                <a:solidFill>
                  <a:srgbClr val="006600"/>
                </a:solidFill>
                <a:latin typeface="Times New Roman" panose="02020603050405020304" pitchFamily="18" charset="0"/>
              </a:rPr>
              <a:t>very efficient, and you should</a:t>
            </a:r>
            <a:br>
              <a:rPr lang="en-US" altLang="zh-CN" sz="2400" dirty="0">
                <a:solidFill>
                  <a:srgbClr val="006600"/>
                </a:solidFill>
                <a:latin typeface="Times New Roman" panose="02020603050405020304" pitchFamily="18" charset="0"/>
              </a:rPr>
            </a:br>
            <a:r>
              <a:rPr lang="en-US" altLang="zh-CN" sz="2400" dirty="0">
                <a:solidFill>
                  <a:srgbClr val="006600"/>
                </a:solidFill>
                <a:latin typeface="Times New Roman" panose="02020603050405020304" pitchFamily="18" charset="0"/>
              </a:rPr>
              <a:t>not use them on large data sets!</a:t>
            </a:r>
            <a:endParaRPr lang="en-US" altLang="zh-CN" sz="2400" dirty="0">
              <a:solidFill>
                <a:srgbClr val="00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5" name="Text Box 6"/>
          <p:cNvSpPr txBox="1"/>
          <p:nvPr/>
        </p:nvSpPr>
        <p:spPr>
          <a:xfrm>
            <a:off x="977265" y="5374005"/>
            <a:ext cx="7591425" cy="495300"/>
          </a:xfrm>
          <a:prstGeom prst="rect">
            <a:avLst/>
          </a:prstGeom>
          <a:solidFill>
            <a:srgbClr val="FF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We’ll see some more efficient algorithms later in the course.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5845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Smallest elements “float” up to the top of the list, like bubbles in a container of liquid.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5846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Bubble Sort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35847" name="Group 4"/>
          <p:cNvGrpSpPr/>
          <p:nvPr/>
        </p:nvGrpSpPr>
        <p:grpSpPr>
          <a:xfrm>
            <a:off x="1595755" y="2774315"/>
            <a:ext cx="565150" cy="3429000"/>
            <a:chOff x="892" y="2064"/>
            <a:chExt cx="356" cy="2160"/>
          </a:xfrm>
        </p:grpSpPr>
        <p:sp>
          <p:nvSpPr>
            <p:cNvPr id="35889" name="AutoShape 5"/>
            <p:cNvSpPr/>
            <p:nvPr/>
          </p:nvSpPr>
          <p:spPr>
            <a:xfrm rot="5400000">
              <a:off x="0" y="2976"/>
              <a:ext cx="2160" cy="336"/>
            </a:xfrm>
            <a:prstGeom prst="flowChartDelay">
              <a:avLst/>
            </a:prstGeom>
            <a:solidFill>
              <a:srgbClr val="CCE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90" name="Oval 6"/>
            <p:cNvSpPr/>
            <p:nvPr/>
          </p:nvSpPr>
          <p:spPr>
            <a:xfrm>
              <a:off x="966" y="2556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91" name="Oval 7"/>
            <p:cNvSpPr/>
            <p:nvPr/>
          </p:nvSpPr>
          <p:spPr>
            <a:xfrm>
              <a:off x="966" y="3246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92" name="Oval 8"/>
            <p:cNvSpPr/>
            <p:nvPr/>
          </p:nvSpPr>
          <p:spPr>
            <a:xfrm>
              <a:off x="972" y="3702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93" name="Text Box 9"/>
            <p:cNvSpPr txBox="1"/>
            <p:nvPr/>
          </p:nvSpPr>
          <p:spPr>
            <a:xfrm>
              <a:off x="892" y="2064"/>
              <a:ext cx="308" cy="18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30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31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32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33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34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848" name="Group 10"/>
          <p:cNvGrpSpPr/>
          <p:nvPr/>
        </p:nvGrpSpPr>
        <p:grpSpPr>
          <a:xfrm>
            <a:off x="2680018" y="2774315"/>
            <a:ext cx="542925" cy="3429000"/>
            <a:chOff x="1626" y="2064"/>
            <a:chExt cx="342" cy="2160"/>
          </a:xfrm>
        </p:grpSpPr>
        <p:sp>
          <p:nvSpPr>
            <p:cNvPr id="35884" name="AutoShape 11"/>
            <p:cNvSpPr/>
            <p:nvPr/>
          </p:nvSpPr>
          <p:spPr>
            <a:xfrm rot="5400000">
              <a:off x="720" y="2976"/>
              <a:ext cx="2160" cy="336"/>
            </a:xfrm>
            <a:prstGeom prst="flowChartDelay">
              <a:avLst/>
            </a:prstGeom>
            <a:solidFill>
              <a:srgbClr val="CCE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85" name="Oval 12"/>
            <p:cNvSpPr/>
            <p:nvPr/>
          </p:nvSpPr>
          <p:spPr>
            <a:xfrm>
              <a:off x="1700" y="2316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86" name="Oval 13"/>
            <p:cNvSpPr/>
            <p:nvPr/>
          </p:nvSpPr>
          <p:spPr>
            <a:xfrm>
              <a:off x="1700" y="3024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87" name="Oval 14"/>
            <p:cNvSpPr/>
            <p:nvPr/>
          </p:nvSpPr>
          <p:spPr>
            <a:xfrm>
              <a:off x="1706" y="3486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88" name="Text Box 15"/>
            <p:cNvSpPr txBox="1"/>
            <p:nvPr/>
          </p:nvSpPr>
          <p:spPr>
            <a:xfrm>
              <a:off x="1626" y="2064"/>
              <a:ext cx="308" cy="18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30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31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32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33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849" name="Group 16"/>
          <p:cNvGrpSpPr/>
          <p:nvPr/>
        </p:nvGrpSpPr>
        <p:grpSpPr>
          <a:xfrm>
            <a:off x="3743643" y="2774315"/>
            <a:ext cx="552450" cy="3429000"/>
            <a:chOff x="2340" y="2064"/>
            <a:chExt cx="348" cy="2160"/>
          </a:xfrm>
        </p:grpSpPr>
        <p:sp>
          <p:nvSpPr>
            <p:cNvPr id="35879" name="AutoShape 17"/>
            <p:cNvSpPr/>
            <p:nvPr/>
          </p:nvSpPr>
          <p:spPr>
            <a:xfrm rot="5400000">
              <a:off x="1440" y="2976"/>
              <a:ext cx="2160" cy="336"/>
            </a:xfrm>
            <a:prstGeom prst="flowChartDelay">
              <a:avLst/>
            </a:prstGeom>
            <a:solidFill>
              <a:srgbClr val="CCE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80" name="Oval 18"/>
            <p:cNvSpPr/>
            <p:nvPr/>
          </p:nvSpPr>
          <p:spPr>
            <a:xfrm>
              <a:off x="2414" y="2094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81" name="Oval 19"/>
            <p:cNvSpPr/>
            <p:nvPr/>
          </p:nvSpPr>
          <p:spPr>
            <a:xfrm>
              <a:off x="2414" y="2784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82" name="Oval 20"/>
            <p:cNvSpPr/>
            <p:nvPr/>
          </p:nvSpPr>
          <p:spPr>
            <a:xfrm>
              <a:off x="2420" y="3246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83" name="Text Box 21"/>
            <p:cNvSpPr txBox="1"/>
            <p:nvPr/>
          </p:nvSpPr>
          <p:spPr>
            <a:xfrm>
              <a:off x="2340" y="2064"/>
              <a:ext cx="308" cy="18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30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31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32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33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850" name="Group 22"/>
          <p:cNvGrpSpPr/>
          <p:nvPr/>
        </p:nvGrpSpPr>
        <p:grpSpPr>
          <a:xfrm>
            <a:off x="4815205" y="2774315"/>
            <a:ext cx="542925" cy="3429000"/>
            <a:chOff x="3018" y="2064"/>
            <a:chExt cx="342" cy="2160"/>
          </a:xfrm>
        </p:grpSpPr>
        <p:sp>
          <p:nvSpPr>
            <p:cNvPr id="35874" name="AutoShape 23"/>
            <p:cNvSpPr/>
            <p:nvPr/>
          </p:nvSpPr>
          <p:spPr>
            <a:xfrm rot="5400000">
              <a:off x="2112" y="2976"/>
              <a:ext cx="2160" cy="336"/>
            </a:xfrm>
            <a:prstGeom prst="flowChartDelay">
              <a:avLst/>
            </a:prstGeom>
            <a:solidFill>
              <a:srgbClr val="CCE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75" name="Oval 24"/>
            <p:cNvSpPr/>
            <p:nvPr/>
          </p:nvSpPr>
          <p:spPr>
            <a:xfrm>
              <a:off x="3092" y="2094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76" name="Oval 25"/>
            <p:cNvSpPr/>
            <p:nvPr/>
          </p:nvSpPr>
          <p:spPr>
            <a:xfrm>
              <a:off x="3092" y="2556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77" name="Oval 26"/>
            <p:cNvSpPr/>
            <p:nvPr/>
          </p:nvSpPr>
          <p:spPr>
            <a:xfrm>
              <a:off x="3098" y="3012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78" name="Text Box 27"/>
            <p:cNvSpPr txBox="1"/>
            <p:nvPr/>
          </p:nvSpPr>
          <p:spPr>
            <a:xfrm>
              <a:off x="3018" y="2064"/>
              <a:ext cx="308" cy="18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30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31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32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33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851" name="Group 28"/>
          <p:cNvGrpSpPr/>
          <p:nvPr/>
        </p:nvGrpSpPr>
        <p:grpSpPr>
          <a:xfrm>
            <a:off x="5878830" y="2764790"/>
            <a:ext cx="552450" cy="3429000"/>
            <a:chOff x="3684" y="2058"/>
            <a:chExt cx="348" cy="2160"/>
          </a:xfrm>
        </p:grpSpPr>
        <p:sp>
          <p:nvSpPr>
            <p:cNvPr id="35869" name="AutoShape 29"/>
            <p:cNvSpPr/>
            <p:nvPr/>
          </p:nvSpPr>
          <p:spPr>
            <a:xfrm rot="5400000">
              <a:off x="2784" y="2970"/>
              <a:ext cx="2160" cy="336"/>
            </a:xfrm>
            <a:prstGeom prst="flowChartDelay">
              <a:avLst/>
            </a:prstGeom>
            <a:solidFill>
              <a:srgbClr val="CCE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70" name="Oval 30"/>
            <p:cNvSpPr/>
            <p:nvPr/>
          </p:nvSpPr>
          <p:spPr>
            <a:xfrm>
              <a:off x="3758" y="2094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71" name="Oval 31"/>
            <p:cNvSpPr/>
            <p:nvPr/>
          </p:nvSpPr>
          <p:spPr>
            <a:xfrm>
              <a:off x="3758" y="2328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72" name="Oval 32"/>
            <p:cNvSpPr/>
            <p:nvPr/>
          </p:nvSpPr>
          <p:spPr>
            <a:xfrm>
              <a:off x="3764" y="2784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73" name="Text Box 33"/>
            <p:cNvSpPr txBox="1"/>
            <p:nvPr/>
          </p:nvSpPr>
          <p:spPr>
            <a:xfrm>
              <a:off x="3684" y="2064"/>
              <a:ext cx="308" cy="18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30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31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32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33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852" name="Group 34"/>
          <p:cNvGrpSpPr/>
          <p:nvPr/>
        </p:nvGrpSpPr>
        <p:grpSpPr>
          <a:xfrm>
            <a:off x="6951980" y="2774315"/>
            <a:ext cx="542925" cy="3429000"/>
            <a:chOff x="4266" y="2064"/>
            <a:chExt cx="342" cy="2160"/>
          </a:xfrm>
        </p:grpSpPr>
        <p:sp>
          <p:nvSpPr>
            <p:cNvPr id="35864" name="AutoShape 35"/>
            <p:cNvSpPr/>
            <p:nvPr/>
          </p:nvSpPr>
          <p:spPr>
            <a:xfrm rot="5400000">
              <a:off x="3360" y="2976"/>
              <a:ext cx="2160" cy="336"/>
            </a:xfrm>
            <a:prstGeom prst="flowChartDelay">
              <a:avLst/>
            </a:prstGeom>
            <a:solidFill>
              <a:srgbClr val="CCE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65" name="Oval 36"/>
            <p:cNvSpPr/>
            <p:nvPr/>
          </p:nvSpPr>
          <p:spPr>
            <a:xfrm>
              <a:off x="4340" y="2100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66" name="Oval 37"/>
            <p:cNvSpPr/>
            <p:nvPr/>
          </p:nvSpPr>
          <p:spPr>
            <a:xfrm>
              <a:off x="4340" y="2334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67" name="Oval 38"/>
            <p:cNvSpPr/>
            <p:nvPr/>
          </p:nvSpPr>
          <p:spPr>
            <a:xfrm>
              <a:off x="4346" y="2568"/>
              <a:ext cx="240" cy="240"/>
            </a:xfrm>
            <a:prstGeom prst="ellipse">
              <a:avLst/>
            </a:prstGeom>
            <a:solidFill>
              <a:schemeClr val="bg1"/>
            </a:solidFill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 b="1" i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35868" name="Text Box 39"/>
            <p:cNvSpPr txBox="1"/>
            <p:nvPr/>
          </p:nvSpPr>
          <p:spPr>
            <a:xfrm>
              <a:off x="4266" y="2070"/>
              <a:ext cx="308" cy="189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 b="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1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2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30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31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32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33</a:t>
              </a:r>
              <a:endParaRPr lang="en-US" altLang="zh-CN" sz="2400" dirty="0">
                <a:latin typeface="Times New Roman" panose="02020603050405020304" pitchFamily="18" charset="0"/>
              </a:endParaRPr>
            </a:p>
            <a:p>
              <a:pPr marL="0" lvl="0" indent="0" algn="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Times New Roman" panose="02020603050405020304" pitchFamily="18" charset="0"/>
                </a:rPr>
                <a:t>34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853" name="Line 40"/>
          <p:cNvSpPr/>
          <p:nvPr/>
        </p:nvSpPr>
        <p:spPr>
          <a:xfrm flipV="1">
            <a:off x="2205355" y="3460115"/>
            <a:ext cx="457200" cy="152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54" name="Line 41"/>
          <p:cNvSpPr/>
          <p:nvPr/>
        </p:nvSpPr>
        <p:spPr>
          <a:xfrm flipV="1">
            <a:off x="2205355" y="4603115"/>
            <a:ext cx="457200" cy="152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55" name="Line 42"/>
          <p:cNvSpPr/>
          <p:nvPr/>
        </p:nvSpPr>
        <p:spPr>
          <a:xfrm flipV="1">
            <a:off x="2205355" y="5365115"/>
            <a:ext cx="457200" cy="152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56" name="Line 43"/>
          <p:cNvSpPr/>
          <p:nvPr/>
        </p:nvSpPr>
        <p:spPr>
          <a:xfrm flipV="1">
            <a:off x="3272155" y="4984115"/>
            <a:ext cx="457200" cy="152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57" name="Line 44"/>
          <p:cNvSpPr/>
          <p:nvPr/>
        </p:nvSpPr>
        <p:spPr>
          <a:xfrm flipV="1">
            <a:off x="3272155" y="4222115"/>
            <a:ext cx="457200" cy="152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58" name="Line 45"/>
          <p:cNvSpPr/>
          <p:nvPr/>
        </p:nvSpPr>
        <p:spPr>
          <a:xfrm flipV="1">
            <a:off x="3272155" y="3079115"/>
            <a:ext cx="457200" cy="152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59" name="Line 46"/>
          <p:cNvSpPr/>
          <p:nvPr/>
        </p:nvSpPr>
        <p:spPr>
          <a:xfrm flipV="1">
            <a:off x="4338955" y="3841115"/>
            <a:ext cx="457200" cy="152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60" name="Line 47"/>
          <p:cNvSpPr/>
          <p:nvPr/>
        </p:nvSpPr>
        <p:spPr>
          <a:xfrm flipV="1">
            <a:off x="4338955" y="4603115"/>
            <a:ext cx="457200" cy="152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61" name="Line 48"/>
          <p:cNvSpPr/>
          <p:nvPr/>
        </p:nvSpPr>
        <p:spPr>
          <a:xfrm flipV="1">
            <a:off x="5405755" y="4222115"/>
            <a:ext cx="457200" cy="152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62" name="Line 49"/>
          <p:cNvSpPr/>
          <p:nvPr/>
        </p:nvSpPr>
        <p:spPr>
          <a:xfrm flipV="1">
            <a:off x="5405755" y="3460115"/>
            <a:ext cx="457200" cy="152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5863" name="Line 50"/>
          <p:cNvSpPr/>
          <p:nvPr/>
        </p:nvSpPr>
        <p:spPr>
          <a:xfrm flipV="1">
            <a:off x="6472555" y="3841115"/>
            <a:ext cx="457200" cy="1524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68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Insertion Sort Algorithm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687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3600" dirty="0">
                <a:latin typeface="Times New Roman" panose="02020603050405020304" pitchFamily="18" charset="0"/>
              </a:rPr>
              <a:t>English description of algorithm:</a:t>
            </a:r>
            <a:endParaRPr lang="en-US" altLang="zh-CN" sz="3600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3200" dirty="0">
                <a:latin typeface="Times New Roman" panose="02020603050405020304" pitchFamily="18" charset="0"/>
              </a:rPr>
              <a:t>For each item in the input list,</a:t>
            </a:r>
            <a:endParaRPr lang="en-US" altLang="zh-CN" sz="3200" dirty="0">
              <a:latin typeface="Times New Roman" panose="02020603050405020304" pitchFamily="18" charset="0"/>
            </a:endParaRPr>
          </a:p>
          <a:p>
            <a:pPr lvl="2" eaLnBrk="1" hangingPunct="1"/>
            <a:r>
              <a:rPr lang="en-US" altLang="zh-CN" sz="2800" dirty="0">
                <a:latin typeface="Times New Roman" panose="02020603050405020304" pitchFamily="18" charset="0"/>
              </a:rPr>
              <a:t>“Insert” it into the correct place in the sorted output list generated so far.  Like so: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lvl="3" eaLnBrk="1" hangingPunct="1"/>
            <a:r>
              <a:rPr lang="en-US" altLang="zh-CN" sz="2400" dirty="0">
                <a:latin typeface="Times New Roman" panose="02020603050405020304" pitchFamily="18" charset="0"/>
              </a:rPr>
              <a:t>Use linear or binary search to find the location where the new item should be inserted.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3" eaLnBrk="1" hangingPunct="1"/>
            <a:r>
              <a:rPr lang="en-US" altLang="zh-CN" sz="2400" dirty="0">
                <a:latin typeface="Times New Roman" panose="02020603050405020304" pitchFamily="18" charset="0"/>
              </a:rPr>
              <a:t>Then, shift the items from that position onwards down by one position. 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3" eaLnBrk="1" hangingPunct="1"/>
            <a:r>
              <a:rPr lang="en-US" altLang="zh-CN" sz="2400" dirty="0">
                <a:latin typeface="Times New Roman" panose="02020603050405020304" pitchFamily="18" charset="0"/>
              </a:rPr>
              <a:t>Put the new item in the hole remaining.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78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Greedy algorithm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7894" name="Rectangle 3"/>
          <p:cNvSpPr>
            <a:spLocks noGrp="1"/>
          </p:cNvSpPr>
          <p:nvPr>
            <p:ph idx="1"/>
          </p:nvPr>
        </p:nvSpPr>
        <p:spPr>
          <a:xfrm>
            <a:off x="35560" y="1268413"/>
            <a:ext cx="9432925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Example 7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dirty="0">
                <a:latin typeface="Times New Roman" panose="02020603050405020304" pitchFamily="18" charset="0"/>
              </a:rPr>
              <a:t>Consider the problem of making </a:t>
            </a:r>
            <a:r>
              <a:rPr lang="en-US" altLang="zh-CN" sz="2400" i="1" dirty="0">
                <a:latin typeface="Times New Roman" panose="02020603050405020304" pitchFamily="18" charset="0"/>
              </a:rPr>
              <a:t>n </a:t>
            </a:r>
            <a:r>
              <a:rPr lang="en-US" altLang="zh-CN" sz="2400" dirty="0">
                <a:latin typeface="Times New Roman" panose="02020603050405020304" pitchFamily="18" charset="0"/>
              </a:rPr>
              <a:t>cents change with quarters, dimes, nickels, and pennies, and using the least total number of coins.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sz="2400" dirty="0">
                <a:latin typeface="Times New Roman" panose="02020603050405020304" pitchFamily="18" charset="0"/>
              </a:rPr>
              <a:t>We can devise a greedy algorithm for making change for </a:t>
            </a:r>
            <a:r>
              <a:rPr lang="en-US" altLang="zh-CN" sz="2400" i="1" dirty="0"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</a:rPr>
              <a:t> cents by making a locally optimal choice at each step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6250" y="3594735"/>
            <a:ext cx="8510905" cy="296354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Lemma 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467043" y="1268730"/>
            <a:ext cx="8704262" cy="2746375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positive integer, then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cents in change using quarters, dimes, nickels, and pennies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fewest coins possible has at most two dimes, at most one nickel, at most four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pennies, and cannot have two dimes and a nickel. The amount of change in dimes, nickels,and pennies cannot exceed 24 cents.</a:t>
            </a:r>
            <a:endParaRPr lang="zh-CN" alt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891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08" y="4509135"/>
            <a:ext cx="9144000" cy="180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>
                <a:latin typeface="Times New Roman" panose="02020603050405020304" pitchFamily="18" charset="0"/>
              </a:rPr>
              <a:t>Theorem 1</a:t>
            </a:r>
            <a:endParaRPr lang="zh-CN" altLang="en-US" dirty="0"/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334010" y="1268730"/>
            <a:ext cx="8717280" cy="1224280"/>
          </a:xfrm>
        </p:spPr>
        <p:txBody>
          <a:bodyPr vert="horz" wrap="square" lIns="91440" tIns="45720" rIns="91440" bIns="45720" anchor="t" anchorCtr="0"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cashier’s algorithm (Algorithm 7) always makes changes using the fewest coins possible when change is made from quarters, dimes, nickels, and pennies.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4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994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6195" y="2637155"/>
            <a:ext cx="9179560" cy="4154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i="1" u="none" dirty="0">
                <a:latin typeface="Times New Roman" panose="02020603050405020304" pitchFamily="18" charset="0"/>
              </a:rPr>
              <a:t> </a:t>
            </a:r>
            <a:r>
              <a:rPr lang="en-US" altLang="zh-CN" sz="2400" u="none" dirty="0">
                <a:latin typeface="Times New Roman" panose="02020603050405020304" pitchFamily="18" charset="0"/>
              </a:rPr>
              <a:t>Proof: By contradiction.</a:t>
            </a:r>
            <a:endParaRPr lang="en-US" altLang="zh-CN" sz="2400" u="none" dirty="0"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Assume there is a positive integer </a:t>
            </a:r>
            <a:r>
              <a:rPr lang="en-US" altLang="zh-CN" sz="2400" i="1" u="none" dirty="0">
                <a:latin typeface="Times New Roman" panose="02020603050405020304" pitchFamily="18" charset="0"/>
              </a:rPr>
              <a:t>n</a:t>
            </a:r>
            <a:r>
              <a:rPr lang="en-US" altLang="zh-CN" sz="2400" u="none" dirty="0">
                <a:latin typeface="Times New Roman" panose="02020603050405020304" pitchFamily="18" charset="0"/>
              </a:rPr>
              <a:t> such that change can be made for  </a:t>
            </a:r>
            <a:r>
              <a:rPr lang="en-US" altLang="zh-CN" sz="2400" i="1" u="none" dirty="0">
                <a:latin typeface="Times New Roman" panose="02020603050405020304" pitchFamily="18" charset="0"/>
              </a:rPr>
              <a:t>n</a:t>
            </a:r>
            <a:r>
              <a:rPr lang="en-US" altLang="zh-CN" sz="2400" u="none" dirty="0">
                <a:latin typeface="Times New Roman" panose="02020603050405020304" pitchFamily="18" charset="0"/>
              </a:rPr>
              <a:t> cents using quarters, dimes, nickels, and pennies, with a fewer total number of coins than given by the algorithm.</a:t>
            </a:r>
            <a:endParaRPr lang="en-US" altLang="zh-CN" sz="2400" u="none" dirty="0"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We first note that q′, the number of quarters used in this optimal way to make change for n cents, must be the same as q, the number of quarters used by the greedy algorithm.Then, q̍  ≤ q  . </a:t>
            </a:r>
            <a:endParaRPr lang="en-US" altLang="zh-CN" sz="2400" u="none" dirty="0"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But this is not possible by Lemma 1, since the value of the coins other than quarters can not be greater than 24 cents.</a:t>
            </a:r>
            <a:endParaRPr lang="en-US" altLang="zh-CN" sz="2400" u="none" dirty="0">
              <a:latin typeface="Times New Roman" panose="02020603050405020304" pitchFamily="18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u="none" dirty="0">
                <a:latin typeface="Times New Roman" panose="02020603050405020304" pitchFamily="18" charset="0"/>
              </a:rPr>
              <a:t>Similarly, by Lemma 1, the two algorithms must have the same number of dimes, nickels, and quarters.</a:t>
            </a:r>
            <a:endParaRPr lang="en-US" altLang="zh-CN" sz="2400" u="none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09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Review §3.1: Algorithms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0966" name="Rectangle 3"/>
          <p:cNvSpPr>
            <a:spLocks noGrp="1"/>
          </p:cNvSpPr>
          <p:nvPr>
            <p:ph idx="1"/>
          </p:nvPr>
        </p:nvSpPr>
        <p:spPr>
          <a:xfrm>
            <a:off x="828040" y="1295400"/>
            <a:ext cx="7772400" cy="4267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Characteristics of algorithms.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Pseudocode.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Examples: Max algorithm, primality-testing, linear search &amp; binary search algorithms.  Sorting.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Intuitively we see that binary search is much faster than linear search, but how do we analyze the efficiency of algorithms formally?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Use methods of </a:t>
            </a:r>
            <a:r>
              <a:rPr lang="en-US" altLang="zh-CN" sz="2800" i="1" dirty="0">
                <a:latin typeface="Times New Roman" panose="02020603050405020304" pitchFamily="18" charset="0"/>
              </a:rPr>
              <a:t>algorithmic complexity</a:t>
            </a:r>
            <a:r>
              <a:rPr lang="en-US" altLang="zh-CN" sz="2800" dirty="0">
                <a:latin typeface="Times New Roman" panose="02020603050405020304" pitchFamily="18" charset="0"/>
              </a:rPr>
              <a:t>, which utilize the order-of-growth concepts from §3.2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419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4199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§3.1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dirty="0">
                <a:latin typeface="Times New Roman" panose="02020603050405020304" pitchFamily="18" charset="0"/>
              </a:rPr>
              <a:t>56(a)(c)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PP_MARK_KEY" val="5202b3e1-90bd-4b28-81e2-f2997fd9f9d3"/>
  <p:tag name="COMMONDATA" val="eyJoZGlkIjoiYjZhMmY1NGQwZjE0MWY4MTkzZjM4YzBiNDA1ZmM3ZDE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13562</Words>
  <Application>WPS 演示</Application>
  <PresentationFormat>全屏显示(4:3)</PresentationFormat>
  <Paragraphs>578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1" baseType="lpstr">
      <vt:lpstr>Arial</vt:lpstr>
      <vt:lpstr>宋体</vt:lpstr>
      <vt:lpstr>Wingdings</vt:lpstr>
      <vt:lpstr>Times New Roman</vt:lpstr>
      <vt:lpstr>Arial Narrow</vt:lpstr>
      <vt:lpstr>Tahoma</vt:lpstr>
      <vt:lpstr>Copperplate Gothic Light</vt:lpstr>
      <vt:lpstr>Copperplate Gothic Bold</vt:lpstr>
      <vt:lpstr>Symbol</vt:lpstr>
      <vt:lpstr>Impact</vt:lpstr>
      <vt:lpstr>Arial Black</vt:lpstr>
      <vt:lpstr>微软雅黑</vt:lpstr>
      <vt:lpstr>Arial Unicode MS</vt:lpstr>
      <vt:lpstr>Blends</vt:lpstr>
      <vt:lpstr>§3.1: Algorithms</vt:lpstr>
      <vt:lpstr>Algorithms You Already Know</vt:lpstr>
      <vt:lpstr>Programming Languages</vt:lpstr>
      <vt:lpstr>Algorithm Example (English)</vt:lpstr>
      <vt:lpstr>Executing an Algorithm</vt:lpstr>
      <vt:lpstr>Executing the Max algorithm</vt:lpstr>
      <vt:lpstr>Algorithm Characteristics</vt:lpstr>
      <vt:lpstr>Our Pseudocode Language: §A3</vt:lpstr>
      <vt:lpstr>procedure procname(arg: type)</vt:lpstr>
      <vt:lpstr>variable := expression</vt:lpstr>
      <vt:lpstr>Informal statement</vt:lpstr>
      <vt:lpstr>begin statements end</vt:lpstr>
      <vt:lpstr>{comment}</vt:lpstr>
      <vt:lpstr>if condition then statement</vt:lpstr>
      <vt:lpstr>while condition statement</vt:lpstr>
      <vt:lpstr>while condition statement</vt:lpstr>
      <vt:lpstr>for var := initial to final stmt</vt:lpstr>
      <vt:lpstr>for var := initial to final stmt</vt:lpstr>
      <vt:lpstr>procedure(argument)</vt:lpstr>
      <vt:lpstr>Max procedure in pseudocode</vt:lpstr>
      <vt:lpstr>Inventing an Algorithm</vt:lpstr>
      <vt:lpstr>Algorithm-Inventing Example</vt:lpstr>
      <vt:lpstr>IsPrime example, cont.</vt:lpstr>
      <vt:lpstr>Optimizing IsPrime</vt:lpstr>
      <vt:lpstr>Another example task</vt:lpstr>
      <vt:lpstr>Search alg. #1: Linear Search</vt:lpstr>
      <vt:lpstr>Search alg. #2: Binary Search</vt:lpstr>
      <vt:lpstr>Search alg. #2: Binary Search</vt:lpstr>
      <vt:lpstr>Practice exercises</vt:lpstr>
      <vt:lpstr>Sorting Algorithms</vt:lpstr>
      <vt:lpstr>Bubble Sort</vt:lpstr>
      <vt:lpstr>Insertion Sort Algorithm</vt:lpstr>
      <vt:lpstr>Greedy algorithm</vt:lpstr>
      <vt:lpstr>Lemma 1</vt:lpstr>
      <vt:lpstr>Theorem 1</vt:lpstr>
      <vt:lpstr>Review §3.1: Algorithms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lzm</dc:creator>
  <cp:lastModifiedBy>杨娟</cp:lastModifiedBy>
  <cp:revision>318</cp:revision>
  <dcterms:created xsi:type="dcterms:W3CDTF">2023-05-08T03:07:00Z</dcterms:created>
  <dcterms:modified xsi:type="dcterms:W3CDTF">2024-05-16T02:30:03Z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059E7C5BBFCF4E2FAC782DE79854357F</vt:lpwstr>
  </property>
  <property fmtid="{D5CDD505-2E9C-101B-9397-08002B2CF9AE}" pid="3" name="KSOProductBuildVer">
    <vt:lpwstr>2052-11.1.0.15319</vt:lpwstr>
  </property>
</Properties>
</file>