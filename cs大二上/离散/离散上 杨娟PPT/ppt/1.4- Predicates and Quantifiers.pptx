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53"/>
  </p:handoutMasterIdLst>
  <p:sldIdLst>
    <p:sldId id="744" r:id="rId3"/>
    <p:sldId id="745" r:id="rId4"/>
    <p:sldId id="746" r:id="rId5"/>
    <p:sldId id="747" r:id="rId6"/>
    <p:sldId id="842" r:id="rId7"/>
    <p:sldId id="843" r:id="rId9"/>
    <p:sldId id="748" r:id="rId10"/>
    <p:sldId id="749" r:id="rId11"/>
    <p:sldId id="834" r:id="rId12"/>
    <p:sldId id="954" r:id="rId13"/>
    <p:sldId id="835" r:id="rId14"/>
    <p:sldId id="750" r:id="rId15"/>
    <p:sldId id="751" r:id="rId16"/>
    <p:sldId id="956" r:id="rId17"/>
    <p:sldId id="957" r:id="rId18"/>
    <p:sldId id="752" r:id="rId19"/>
    <p:sldId id="838" r:id="rId20"/>
    <p:sldId id="839" r:id="rId21"/>
    <p:sldId id="753" r:id="rId22"/>
    <p:sldId id="958" r:id="rId23"/>
    <p:sldId id="754" r:id="rId24"/>
    <p:sldId id="755" r:id="rId25"/>
    <p:sldId id="286" r:id="rId26"/>
    <p:sldId id="398" r:id="rId27"/>
    <p:sldId id="369" r:id="rId28"/>
    <p:sldId id="402" r:id="rId29"/>
    <p:sldId id="756" r:id="rId30"/>
    <p:sldId id="844" r:id="rId31"/>
    <p:sldId id="845" r:id="rId32"/>
    <p:sldId id="853" r:id="rId33"/>
    <p:sldId id="854" r:id="rId34"/>
    <p:sldId id="855" r:id="rId35"/>
    <p:sldId id="856" r:id="rId36"/>
    <p:sldId id="861" r:id="rId37"/>
    <p:sldId id="878" r:id="rId38"/>
    <p:sldId id="879" r:id="rId39"/>
    <p:sldId id="880" r:id="rId40"/>
    <p:sldId id="400" r:id="rId41"/>
    <p:sldId id="409" r:id="rId42"/>
    <p:sldId id="885" r:id="rId43"/>
    <p:sldId id="371" r:id="rId44"/>
    <p:sldId id="887" r:id="rId45"/>
    <p:sldId id="888" r:id="rId46"/>
    <p:sldId id="372" r:id="rId47"/>
    <p:sldId id="373" r:id="rId48"/>
    <p:sldId id="374" r:id="rId49"/>
    <p:sldId id="375" r:id="rId50"/>
    <p:sldId id="377" r:id="rId51"/>
    <p:sldId id="908" r:id="rId52"/>
  </p:sldIdLst>
  <p:sldSz cx="9144000" cy="6858000" type="screen4x3"/>
  <p:notesSz cx="6814820" cy="9931400"/>
  <p:custDataLst>
    <p:tags r:id="rId5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b="1" i="1" u="sng" kern="1200">
        <a:solidFill>
          <a:schemeClr val="tx1"/>
        </a:solidFill>
        <a:latin typeface="Times New Roman" panose="0202050305040509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4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530" autoAdjust="0"/>
    <p:restoredTop sz="86340" autoAdjust="0"/>
  </p:normalViewPr>
  <p:slideViewPr>
    <p:cSldViewPr showGuides="1">
      <p:cViewPr varScale="1">
        <p:scale>
          <a:sx n="95" d="100"/>
          <a:sy n="95" d="100"/>
        </p:scale>
        <p:origin x="270" y="18"/>
      </p:cViewPr>
      <p:guideLst>
        <p:guide orient="horz" pos="1434"/>
        <p:guide pos="4876"/>
      </p:guideLst>
    </p:cSldViewPr>
  </p:slideViewPr>
  <p:outlineViewPr>
    <p:cViewPr>
      <p:scale>
        <a:sx n="33" d="100"/>
        <a:sy n="33" d="100"/>
      </p:scale>
      <p:origin x="24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99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gs" Target="tags/tag40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t" anchorCtr="0" compatLnSpc="1"/>
          <a:lstStyle>
            <a:lvl1pPr algn="l" defTabSz="922655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2388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t" anchorCtr="0" compatLnSpc="1"/>
          <a:lstStyle>
            <a:lvl1pPr algn="r" defTabSz="922655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527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b" anchorCtr="0" compatLnSpc="1"/>
          <a:lstStyle>
            <a:lvl1pPr algn="l" defTabSz="922655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2388" y="9434513"/>
            <a:ext cx="29527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b" anchorCtr="0" compatLnSpc="1"/>
          <a:lstStyle>
            <a:lvl1pPr algn="r" defTabSz="922655">
              <a:defRPr kumimoji="0" sz="1200" b="0" i="0" u="none"/>
            </a:lvl1pPr>
          </a:lstStyle>
          <a:p>
            <a:fld id="{1692A1E4-A3DD-4735-B4E7-6C83C3E2C7A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t" anchorCtr="0" compatLnSpc="1"/>
          <a:lstStyle>
            <a:lvl1pPr algn="l" defTabSz="922655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2388" y="0"/>
            <a:ext cx="29527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t" anchorCtr="0" compatLnSpc="1"/>
          <a:lstStyle>
            <a:lvl1pPr algn="r" defTabSz="922655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3925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16463"/>
            <a:ext cx="4999038" cy="4470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513"/>
            <a:ext cx="29527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b" anchorCtr="0" compatLnSpc="1"/>
          <a:lstStyle>
            <a:lvl1pPr algn="l" defTabSz="922655" eaLnBrk="0" hangingPunct="0">
              <a:defRPr kumimoji="0" sz="1200" b="0" i="0" u="none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2388" y="9434513"/>
            <a:ext cx="295275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263" tIns="46131" rIns="92263" bIns="46131" numCol="1" anchor="b" anchorCtr="0" compatLnSpc="1"/>
          <a:lstStyle>
            <a:lvl1pPr algn="r" defTabSz="922655">
              <a:defRPr kumimoji="0" sz="1200" b="0" i="0" u="none"/>
            </a:lvl1pPr>
          </a:lstStyle>
          <a:p>
            <a:fld id="{ABFA21AD-EEB3-4CC7-873D-51E09C5BA8D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CA359D57-F4CE-4B29-B685-C001D1DEC07E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00F61F02-DA72-450C-9DAA-91BB230126D8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zh-CN">
                <a:latin typeface="Arial" panose="020B0604020202090204" pitchFamily="34" charset="0"/>
              </a:rPr>
              <a:t>Explain the notion of a propositional form</a:t>
            </a:r>
            <a:endParaRPr lang="en-US" altLang="zh-CN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A4D23C55-275F-464C-8BCB-7822A6275870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42BB967A-B194-4BD0-BC95-991C6CF3CD71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D78644BB-EC6E-4554-A214-3C6DA7567C71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1D8FA386-94A2-4BC9-B716-75F562C31100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5F1CF4AC-1C5C-427C-91C8-CD21C4FE3E9B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B930EA65-3D7C-4417-9C2B-CA13DCE9D58D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A7B52BCC-0CB7-4478-BDBB-B98A173EA249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defTabSz="922655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defTabSz="922655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B4C8E2D4-4E44-4D47-A237-AA929E365AB8}" type="slidenum">
              <a:rPr kumimoji="0" lang="zh-CN" altLang="en-US" sz="1200" b="0" i="0" u="none"/>
            </a:fld>
            <a:endParaRPr kumimoji="0" lang="en-US" altLang="zh-CN" sz="1200" b="0" i="0" u="none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3925" y="762000"/>
            <a:ext cx="4973638" cy="3730625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48213"/>
            <a:ext cx="5002212" cy="4410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7" descr="attach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33400"/>
            <a:ext cx="59055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6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3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4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</p:grpSp>
        <p:grpSp>
          <p:nvGrpSpPr>
            <p:cNvPr id="7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1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503050405090304" pitchFamily="18" charset="0"/>
                  <a:ea typeface="宋体" pitchFamily="2" charset="-122"/>
                </a:defRPr>
              </a:lvl9pPr>
            </a:lstStyle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5" name="Text Box 18"/>
          <p:cNvSpPr txBox="1">
            <a:spLocks noChangeArrowheads="1"/>
          </p:cNvSpPr>
          <p:nvPr userDrawn="1"/>
        </p:nvSpPr>
        <p:spPr bwMode="auto">
          <a:xfrm>
            <a:off x="2447925" y="4581525"/>
            <a:ext cx="5756275" cy="1643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b="0" i="0" u="none" dirty="0">
                <a:solidFill>
                  <a:schemeClr val="folHlink"/>
                </a:solidFill>
                <a:latin typeface="Copperplate Gothic Light" panose="020E0507020206020404" pitchFamily="34" charset="0"/>
              </a:rPr>
              <a:t>Yang Juan</a:t>
            </a:r>
            <a:endParaRPr lang="en-US" altLang="zh-CN" b="0" i="0" u="none" dirty="0">
              <a:solidFill>
                <a:schemeClr val="folHlink"/>
              </a:solidFill>
              <a:latin typeface="Copperplate Gothic Light" panose="020E0507020206020404" pitchFamily="34" charset="0"/>
            </a:endParaRPr>
          </a:p>
          <a:p>
            <a:pPr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0" i="0" u="none" dirty="0">
                <a:solidFill>
                  <a:srgbClr val="009999"/>
                </a:solidFill>
              </a:rPr>
              <a:t>yangjuan@bupt.edu.cn</a:t>
            </a:r>
            <a:endParaRPr lang="en-US" altLang="zh-CN" sz="1600" b="0" i="0" u="none" dirty="0">
              <a:solidFill>
                <a:srgbClr val="009999"/>
              </a:solidFill>
            </a:endParaRPr>
          </a:p>
          <a:p>
            <a:pPr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en-US" altLang="zh-CN" sz="1600" b="0" i="0" u="none" dirty="0">
              <a:solidFill>
                <a:srgbClr val="009999"/>
              </a:solidFill>
              <a:latin typeface="Tahoma" panose="020B0604030504040204" pitchFamily="34" charset="0"/>
            </a:endParaRPr>
          </a:p>
          <a:p>
            <a:pPr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0" i="0" u="none" dirty="0">
                <a:solidFill>
                  <a:srgbClr val="009999"/>
                </a:solidFill>
                <a:latin typeface="Copperplate Gothic Light" panose="020E0507020206020404" pitchFamily="34" charset="0"/>
              </a:rPr>
              <a:t>School of Computer Science</a:t>
            </a:r>
            <a:endParaRPr lang="en-US" altLang="zh-CN" sz="1600" b="0" i="0" u="none" dirty="0">
              <a:solidFill>
                <a:srgbClr val="009999"/>
              </a:solidFill>
              <a:latin typeface="Copperplate Gothic Light" panose="020E0507020206020404" pitchFamily="34" charset="0"/>
            </a:endParaRPr>
          </a:p>
          <a:p>
            <a:pPr algn="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600" b="0" i="0" u="none" dirty="0">
                <a:solidFill>
                  <a:srgbClr val="009999"/>
                </a:solidFill>
                <a:latin typeface="Copperplate Gothic Light" panose="020E0507020206020404" pitchFamily="34" charset="0"/>
              </a:rPr>
              <a:t>Beijing University of Posts &amp; Telecommunications</a:t>
            </a:r>
            <a:endParaRPr lang="zh-CN" altLang="en-US" sz="1600" b="0" i="0" u="none" dirty="0"/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6C86A723-4B83-4377-9E19-0D67E66B57F9}" type="datetime1">
              <a:rPr lang="zh-CN" altLang="en-US"/>
            </a:fld>
            <a:endParaRPr lang="en-US" altLang="zh-CN"/>
          </a:p>
        </p:txBody>
      </p:sp>
      <p:sp>
        <p:nvSpPr>
          <p:cNvPr id="17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2DB700F8-37AC-4C48-AEA6-41ACE34599F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056F6F-734C-4F3D-B1FA-E8D7B5373C00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FD28EB-E295-44A8-8BCE-E37F4B70869F}" type="datetime1">
              <a:rPr lang="zh-CN" altLang="en-US"/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CAC651-9F98-43AB-AD72-8ACB9807AC2C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17199-6A4D-4296-ACE2-3F197AC0A13C}" type="datetime1">
              <a:rPr lang="zh-CN" altLang="en-US"/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9165" y="1244600"/>
            <a:ext cx="4053840" cy="488823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2385" y="1244600"/>
            <a:ext cx="3843020" cy="488823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A304C4-0EC4-4E41-96D1-791E3F6F618E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B6DFC-DB43-4F40-ACD3-573F329D446C}" type="datetime1">
              <a:rPr lang="zh-CN" altLang="en-US"/>
            </a:fld>
            <a:endParaRPr lang="en-US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7330"/>
            <a:ext cx="8229600" cy="91567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66190"/>
            <a:ext cx="4040505" cy="9086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916430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2684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50105" y="1962785"/>
            <a:ext cx="4036695" cy="41636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2A41D57-A9D3-4B23-B2D2-E64C2DD9BDA2}" type="slidenum">
              <a:rPr lang="zh-CN" altLang="en-US"/>
            </a:fld>
            <a:endParaRPr lang="en-US" altLang="zh-CN"/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B2428-678D-461A-B039-D6D0B6B5BD6A}" type="datetime1">
              <a:rPr lang="zh-CN" altLang="en-US"/>
            </a:fld>
            <a:endParaRPr lang="en-US" altLang="zh-CN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AACB70-48F1-4749-990B-BBEAEB860BDA}" type="slidenum">
              <a:rPr lang="zh-CN" altLang="en-US"/>
            </a:fld>
            <a:endParaRPr lang="en-US" altLang="zh-CN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F6C9E-B2EC-4896-8B1F-5537FF4C0513}" type="datetime1">
              <a:rPr lang="zh-CN" altLang="en-US"/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54CEE87-6ED9-42CC-A502-544F3586263C}" type="slidenum">
              <a:rPr lang="zh-CN" altLang="en-US"/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EFFF4-2FA5-44C8-B1B8-31A2868CDA59}" type="datetime1">
              <a:rPr lang="zh-CN" altLang="en-US"/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EDA94F-C4CC-4493-9C0F-80E5F964D81C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BE030-2724-4DD6-AF6C-4209A975DBD5}" type="datetime1">
              <a:rPr lang="zh-CN" altLang="en-US"/>
            </a:fld>
            <a:endParaRPr lang="en-US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B952941-4437-40EE-BBFF-5F55943637B4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D4456-786F-438B-9C72-82FCA2DE3593}" type="datetime1">
              <a:rPr lang="zh-CN" altLang="en-US"/>
            </a:fld>
            <a:endParaRPr lang="en-US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EE7211-7BC5-42AC-8CEE-7466817C4126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CAF31-0068-4405-AD3B-BE41CF1BA232}" type="datetime1">
              <a:rPr lang="zh-CN" altLang="en-US"/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969284-4BD6-4A46-8A85-5EC77B060671}" type="slidenum">
              <a:rPr lang="zh-CN" altLang="en-US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52EF2-3BC1-4C54-B797-F8F15175AD53}" type="datetime1">
              <a:rPr lang="zh-CN" altLang="en-US"/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728A8FE-6510-40E0-808D-1473D2B47A00}" type="slidenum">
              <a:rPr lang="zh-CN" altLang="en-US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65CA1F-7EE7-4316-815B-A92F01A62487}" type="datetime1">
              <a:rPr lang="zh-CN" altLang="en-US"/>
            </a:fld>
            <a:endParaRPr lang="en-US" altLang="zh-CN"/>
          </a:p>
        </p:txBody>
      </p:sp>
      <p:sp>
        <p:nvSpPr>
          <p:cNvPr id="7" name="Rectangle 1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8" descr="attach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33400"/>
            <a:ext cx="5905500" cy="590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fld id="{87549A5E-26F0-4A22-A603-620027F8D061}" type="slidenum">
              <a:rPr lang="zh-CN" altLang="en-US"/>
            </a:fld>
            <a:endParaRPr lang="en-US" altLang="zh-CN"/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45275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45275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87503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87503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80200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34480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13538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b="0" i="0" u="none">
              <a:latin typeface="Tahoma" panose="020B0604030504040204" pitchFamily="34" charset="0"/>
            </a:endParaRPr>
          </a:p>
        </p:txBody>
      </p:sp>
      <p:sp>
        <p:nvSpPr>
          <p:cNvPr id="103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43305" y="188595"/>
            <a:ext cx="7753985" cy="91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68045" y="1238885"/>
            <a:ext cx="8148320" cy="506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508D8AB-60B5-4C93-ABA4-A1643DEA5AEA}" type="datetime1">
              <a:rPr lang="zh-CN" altLang="en-US"/>
            </a:fld>
            <a:endParaRPr lang="en-US" altLang="zh-CN"/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 dirty="0"/>
              <a:t>School of Computer Science, BUPT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2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.xml"/><Relationship Id="rId13" Type="http://schemas.openxmlformats.org/officeDocument/2006/relationships/image" Target="../media/image2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9.xml"/><Relationship Id="rId13" Type="http://schemas.openxmlformats.org/officeDocument/2006/relationships/image" Target="../media/image2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4.wav"/><Relationship Id="rId1" Type="http://schemas.openxmlformats.org/officeDocument/2006/relationships/audio" Target="../media/audio3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learnprolognow.org/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71550" y="2133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Predicates and Quantifiers</a:t>
            </a:r>
            <a:endParaRPr lang="zh-CN" altLang="en-US">
              <a:latin typeface="Times New Roman" panose="02020503050405090304" pitchFamily="18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63B6ABE1-F93D-429A-A27C-189FBFBE845D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1444452-485B-47DF-B25F-598333DBC6BB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0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苏格拉底三段论</a:t>
            </a:r>
            <a:endParaRPr lang="zh-CN" altLang="en-US"/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340168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凡人都是要死的。苏格拉底是人。所以，苏格拉底是要死的。</a:t>
            </a:r>
            <a:endParaRPr lang="zh-CN" altLang="en-US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设：</a:t>
            </a:r>
            <a:r>
              <a:rPr lang="en-US" altLang="zh-CN" i="1"/>
              <a:t>p</a:t>
            </a:r>
            <a:r>
              <a:rPr lang="en-US" altLang="zh-CN"/>
              <a:t>:</a:t>
            </a:r>
            <a:r>
              <a:rPr lang="zh-CN" altLang="en-US"/>
              <a:t>凡人都是要死的; </a:t>
            </a:r>
            <a:r>
              <a:rPr lang="en-US" altLang="zh-CN" i="1"/>
              <a:t>q</a:t>
            </a:r>
            <a:r>
              <a:rPr lang="en-US" altLang="zh-CN"/>
              <a:t>:</a:t>
            </a:r>
            <a:r>
              <a:rPr lang="zh-CN" altLang="en-US"/>
              <a:t>苏格拉底是人; </a:t>
            </a:r>
            <a:r>
              <a:rPr lang="en-US" altLang="zh-CN" i="1"/>
              <a:t>r</a:t>
            </a:r>
            <a:r>
              <a:rPr lang="en-US" altLang="zh-CN"/>
              <a:t>: </a:t>
            </a:r>
            <a:r>
              <a:rPr lang="zh-CN" altLang="en-US"/>
              <a:t>苏格拉底是要死的。</a:t>
            </a:r>
            <a:endParaRPr lang="en-US" altLang="zh-CN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前提</a:t>
            </a:r>
            <a:r>
              <a:rPr lang="en-US" altLang="zh-CN"/>
              <a:t>：</a:t>
            </a:r>
            <a:r>
              <a:rPr lang="en-US" altLang="zh-CN" i="1"/>
              <a:t>p</a:t>
            </a:r>
            <a:r>
              <a:rPr lang="en-US" altLang="zh-CN"/>
              <a:t>，</a:t>
            </a:r>
            <a:r>
              <a:rPr lang="en-US" altLang="zh-CN" i="1"/>
              <a:t>q</a:t>
            </a:r>
            <a:endParaRPr lang="zh-CN" altLang="en-US"/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结论：</a:t>
            </a:r>
            <a:r>
              <a:rPr lang="en-US" altLang="zh-CN" i="1"/>
              <a:t>r</a:t>
            </a:r>
            <a:endParaRPr lang="en-US" altLang="zh-CN" i="1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推理的形式结构</a:t>
            </a:r>
            <a:r>
              <a:rPr lang="en-US" altLang="zh-CN"/>
              <a:t>：</a:t>
            </a:r>
            <a:endParaRPr lang="en-US" altLang="zh-CN"/>
          </a:p>
          <a:p>
            <a:pPr lvl="1" eaLnBrk="1" hangingPunct="1">
              <a:lnSpc>
                <a:spcPct val="90000"/>
              </a:lnSpc>
            </a:pPr>
            <a:r>
              <a:rPr lang="en-US" altLang="zh-CN" i="1"/>
              <a:t>p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>
                <a:sym typeface="Symbol" panose="05050102010706020507" pitchFamily="18" charset="2"/>
              </a:rPr>
              <a:t>q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r</a:t>
            </a:r>
            <a:r>
              <a:rPr lang="en-US" altLang="zh-CN">
                <a:sym typeface="Symbol" panose="05050102010706020507" pitchFamily="18" charset="2"/>
              </a:rPr>
              <a:t>   (</a:t>
            </a:r>
            <a:r>
              <a:rPr lang="zh-CN" altLang="en-US">
                <a:solidFill>
                  <a:schemeClr val="hlink"/>
                </a:solidFill>
                <a:sym typeface="Symbol" panose="05050102010706020507" pitchFamily="18" charset="2"/>
              </a:rPr>
              <a:t>非永真式！</a:t>
            </a:r>
            <a:r>
              <a:rPr lang="zh-CN" altLang="en-US">
                <a:sym typeface="Symbol" panose="05050102010706020507" pitchFamily="18" charset="2"/>
              </a:rPr>
              <a:t>)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95A90AB5-44E2-4F9A-AEEA-CF33B89CFEFB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3774B18B-322B-4C61-87DF-A9D532E22D3E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4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苏格拉底三段论(续)</a:t>
            </a:r>
            <a:endParaRPr lang="zh-CN" altLang="en-US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重新符号化：</a:t>
            </a:r>
            <a:r>
              <a:rPr lang="zh-CN" altLang="en-US" dirty="0">
                <a:sym typeface="Symbol" panose="05050102010706020507" pitchFamily="18" charset="2"/>
              </a:rPr>
              <a:t>, , 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( ), 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endParaRPr lang="en-US" altLang="zh-CN" i="1" dirty="0"/>
          </a:p>
          <a:p>
            <a:pPr eaLnBrk="1" hangingPunct="1"/>
            <a:r>
              <a:rPr lang="zh-CN" altLang="en-US" dirty="0"/>
              <a:t>设：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)：</a:t>
            </a:r>
            <a:r>
              <a:rPr lang="en-US" altLang="zh-CN" i="1" dirty="0"/>
              <a:t>x</a:t>
            </a:r>
            <a:r>
              <a:rPr lang="zh-CN" altLang="en-US" dirty="0"/>
              <a:t>是人。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)：</a:t>
            </a:r>
            <a:r>
              <a:rPr lang="en-US" altLang="zh-CN" i="1" dirty="0"/>
              <a:t>x</a:t>
            </a:r>
            <a:r>
              <a:rPr lang="zh-CN" altLang="en-US" dirty="0"/>
              <a:t>是要死的。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</a:t>
            </a:r>
            <a:r>
              <a:rPr lang="en-US" altLang="zh-CN" i="1" dirty="0"/>
              <a:t>a</a:t>
            </a:r>
            <a:r>
              <a:rPr lang="en-US" altLang="zh-CN" dirty="0"/>
              <a:t>：</a:t>
            </a:r>
            <a:r>
              <a:rPr lang="zh-CN" altLang="en-US" dirty="0"/>
              <a:t>苏格拉底。</a:t>
            </a:r>
            <a:endParaRPr lang="en-US" altLang="zh-CN" dirty="0"/>
          </a:p>
          <a:p>
            <a:pPr eaLnBrk="1" hangingPunct="1"/>
            <a:r>
              <a:rPr lang="zh-CN" altLang="en-US" dirty="0"/>
              <a:t>前提</a:t>
            </a:r>
            <a:r>
              <a:rPr lang="en-US" altLang="zh-CN" dirty="0"/>
              <a:t>：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)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))</a:t>
            </a:r>
            <a:r>
              <a:rPr lang="en-US" altLang="zh-CN" dirty="0"/>
              <a:t>，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zh-CN" altLang="en-US" dirty="0"/>
              <a:t>   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结论：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24520F5F-3698-4217-A654-5DF0A45B615D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F9CC9200-3F2A-42CE-9C7A-452BD5421BAB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Predicates and Quantifiers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340485"/>
            <a:ext cx="8667750" cy="41148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A generalization of propositions -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propositional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functions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zh-CN" altLang="en-US">
                <a:latin typeface="Times New Roman" panose="02020503050405090304" pitchFamily="18" charset="0"/>
              </a:rPr>
              <a:t>命题函数</a:t>
            </a:r>
            <a:r>
              <a:rPr lang="en-US" altLang="zh-CN">
                <a:latin typeface="Times New Roman" panose="02020503050405090304" pitchFamily="18" charset="0"/>
              </a:rPr>
              <a:t>) or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predicates 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</a:rPr>
              <a:t>(</a:t>
            </a:r>
            <a:r>
              <a:rPr lang="zh-CN" altLang="en-US">
                <a:solidFill>
                  <a:schemeClr val="hlink"/>
                </a:solidFill>
                <a:latin typeface="Times New Roman" panose="02020503050405090304" pitchFamily="18" charset="0"/>
              </a:rPr>
              <a:t>谓词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</a:rPr>
              <a:t>)</a:t>
            </a:r>
            <a:r>
              <a:rPr lang="en-US" altLang="zh-CN">
                <a:latin typeface="Times New Roman" panose="02020503050405090304" pitchFamily="18" charset="0"/>
              </a:rPr>
              <a:t>: propositions which contain variables 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Predicates become propositions once every variable is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bound</a:t>
            </a:r>
            <a:r>
              <a:rPr lang="en-US" altLang="zh-CN">
                <a:latin typeface="Times New Roman" panose="02020503050405090304" pitchFamily="18" charset="0"/>
              </a:rPr>
              <a:t> by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assigning it a value or an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object</a:t>
            </a:r>
            <a:r>
              <a:rPr lang="en-US" altLang="zh-CN">
                <a:latin typeface="Times New Roman" panose="02020503050405090304" pitchFamily="18" charset="0"/>
              </a:rPr>
              <a:t> (</a:t>
            </a:r>
            <a:r>
              <a:rPr lang="zh-CN" altLang="en-US">
                <a:latin typeface="Times New Roman" panose="02020503050405090304" pitchFamily="18" charset="0"/>
              </a:rPr>
              <a:t>个体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r>
              <a:rPr lang="zh-CN" altLang="en-US">
                <a:latin typeface="Times New Roman" panose="02020503050405090304" pitchFamily="18" charset="0"/>
              </a:rPr>
              <a:t> </a:t>
            </a:r>
            <a:r>
              <a:rPr lang="en-US" altLang="zh-CN">
                <a:latin typeface="Times New Roman" panose="02020503050405090304" pitchFamily="18" charset="0"/>
              </a:rPr>
              <a:t>from the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Universe of Discourse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zh-CN" altLang="en-US">
                <a:latin typeface="Times New Roman" panose="02020503050405090304" pitchFamily="18" charset="0"/>
              </a:rPr>
              <a:t>论域</a:t>
            </a:r>
            <a:r>
              <a:rPr lang="en-US" altLang="zh-CN">
                <a:latin typeface="Times New Roman" panose="02020503050405090304" pitchFamily="18" charset="0"/>
              </a:rPr>
              <a:t>) U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	or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quantifying it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F9DC4455-D85D-4E55-ADE0-33BFE75E9DFB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9D163A4F-086B-4381-9B72-777DAFF2B063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305" y="188595"/>
            <a:ext cx="8061325" cy="913765"/>
          </a:xfrm>
        </p:spPr>
        <p:txBody>
          <a:bodyPr/>
          <a:lstStyle/>
          <a:p>
            <a:pPr eaLnBrk="1" hangingPunct="1"/>
            <a:r>
              <a:rPr lang="en-GB" altLang="zh-CN" sz="4000">
                <a:latin typeface="Times New Roman" panose="02020503050405090304" pitchFamily="18" charset="0"/>
              </a:rPr>
              <a:t>Formulas of predicate logic (informal)</a:t>
            </a:r>
            <a:endParaRPr lang="en-US" altLang="zh-CN" sz="4000">
              <a:latin typeface="Times New Roman" panose="02020503050405090304" pitchFamily="18" charset="0"/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805" y="1238885"/>
            <a:ext cx="8608060" cy="5064760"/>
          </a:xfrm>
        </p:spPr>
        <p:txBody>
          <a:bodyPr/>
          <a:lstStyle/>
          <a:p>
            <a:pPr eaLnBrk="1" hangingPunct="1"/>
            <a:r>
              <a:rPr lang="en-GB" altLang="zh-CN">
                <a:latin typeface="Times New Roman" panose="02020503050405090304" pitchFamily="18" charset="0"/>
              </a:rPr>
              <a:t>We will use</a:t>
            </a:r>
            <a:r>
              <a:rPr lang="en-GB" altLang="zh-CN" i="1">
                <a:latin typeface="Times New Roman" panose="02020503050405090304" pitchFamily="18" charset="0"/>
              </a:rPr>
              <a:t> </a:t>
            </a:r>
            <a:r>
              <a:rPr lang="en-GB" altLang="zh-CN">
                <a:latin typeface="Times New Roman" panose="02020503050405090304" pitchFamily="18" charset="0"/>
              </a:rPr>
              <a:t>various kinds of individual </a:t>
            </a:r>
            <a:r>
              <a:rPr lang="en-GB" altLang="zh-CN" i="1">
                <a:latin typeface="Times New Roman" panose="02020503050405090304" pitchFamily="18" charset="0"/>
              </a:rPr>
              <a:t>constants</a:t>
            </a:r>
            <a:r>
              <a:rPr lang="en-GB" altLang="zh-CN">
                <a:latin typeface="Times New Roman" panose="02020503050405090304" pitchFamily="18" charset="0"/>
              </a:rPr>
              <a:t> that</a:t>
            </a:r>
            <a:r>
              <a:rPr lang="en-GB" altLang="zh-CN" i="1">
                <a:latin typeface="Times New Roman" panose="02020503050405090304" pitchFamily="18" charset="0"/>
              </a:rPr>
              <a:t> </a:t>
            </a:r>
            <a:r>
              <a:rPr lang="en-GB" altLang="zh-CN">
                <a:latin typeface="Times New Roman" panose="02020503050405090304" pitchFamily="18" charset="0"/>
              </a:rPr>
              <a:t>denote individuals/objects: </a:t>
            </a:r>
            <a:r>
              <a:rPr lang="en-GB" altLang="zh-CN" b="1" i="1">
                <a:latin typeface="Times New Roman" panose="02020503050405090304" pitchFamily="18" charset="0"/>
              </a:rPr>
              <a:t>a</a:t>
            </a:r>
            <a:r>
              <a:rPr lang="en-GB" altLang="zh-CN" b="1">
                <a:latin typeface="Times New Roman" panose="02020503050405090304" pitchFamily="18" charset="0"/>
              </a:rPr>
              <a:t>,</a:t>
            </a:r>
            <a:r>
              <a:rPr lang="en-GB" altLang="zh-CN" b="1" i="1">
                <a:latin typeface="Times New Roman" panose="02020503050405090304" pitchFamily="18" charset="0"/>
              </a:rPr>
              <a:t>b</a:t>
            </a:r>
            <a:r>
              <a:rPr lang="en-GB" altLang="zh-CN" b="1">
                <a:latin typeface="Times New Roman" panose="02020503050405090304" pitchFamily="18" charset="0"/>
              </a:rPr>
              <a:t>,</a:t>
            </a:r>
            <a:r>
              <a:rPr lang="en-GB" altLang="zh-CN" b="1" i="1">
                <a:latin typeface="Times New Roman" panose="02020503050405090304" pitchFamily="18" charset="0"/>
              </a:rPr>
              <a:t>c</a:t>
            </a:r>
            <a:r>
              <a:rPr lang="en-GB" altLang="zh-CN" b="1">
                <a:latin typeface="Times New Roman" panose="02020503050405090304" pitchFamily="18" charset="0"/>
              </a:rPr>
              <a:t>,…</a:t>
            </a:r>
            <a:endParaRPr lang="en-US" altLang="zh-CN" b="1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i="1">
                <a:latin typeface="Times New Roman" panose="02020503050405090304" pitchFamily="18" charset="0"/>
              </a:rPr>
              <a:t>Individual variables</a:t>
            </a:r>
            <a:r>
              <a:rPr lang="en-US" altLang="zh-CN">
                <a:latin typeface="Times New Roman" panose="02020503050405090304" pitchFamily="18" charset="0"/>
              </a:rPr>
              <a:t> over objects: </a:t>
            </a:r>
            <a:r>
              <a:rPr lang="en-US" altLang="zh-CN" b="1" i="1">
                <a:latin typeface="Times New Roman" panose="02020503050405090304" pitchFamily="18" charset="0"/>
              </a:rPr>
              <a:t>x</a:t>
            </a:r>
            <a:r>
              <a:rPr lang="en-US" altLang="zh-CN" b="1">
                <a:latin typeface="Times New Roman" panose="02020503050405090304" pitchFamily="18" charset="0"/>
              </a:rPr>
              <a:t>, </a:t>
            </a:r>
            <a:r>
              <a:rPr lang="en-US" altLang="zh-CN" b="1" i="1">
                <a:latin typeface="Times New Roman" panose="02020503050405090304" pitchFamily="18" charset="0"/>
              </a:rPr>
              <a:t>y</a:t>
            </a:r>
            <a:r>
              <a:rPr lang="en-US" altLang="zh-CN" b="1">
                <a:latin typeface="Times New Roman" panose="02020503050405090304" pitchFamily="18" charset="0"/>
              </a:rPr>
              <a:t>, </a:t>
            </a:r>
            <a:r>
              <a:rPr lang="en-US" altLang="zh-CN" b="1" i="1">
                <a:latin typeface="Times New Roman" panose="02020503050405090304" pitchFamily="18" charset="0"/>
              </a:rPr>
              <a:t>z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 b="1" i="1">
                <a:latin typeface="Times New Roman" panose="02020503050405090304" pitchFamily="18" charset="0"/>
              </a:rPr>
              <a:t>, …</a:t>
            </a:r>
            <a:endParaRPr lang="en-US" altLang="zh-CN" b="1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The </a:t>
            </a:r>
            <a:r>
              <a:rPr lang="en-US" altLang="zh-CN" i="1">
                <a:latin typeface="Times New Roman" panose="02020503050405090304" pitchFamily="18" charset="0"/>
              </a:rPr>
              <a:t>result of</a:t>
            </a:r>
            <a:r>
              <a:rPr lang="en-US" altLang="zh-CN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applying</a:t>
            </a:r>
            <a:r>
              <a:rPr lang="en-US" altLang="zh-CN">
                <a:latin typeface="Times New Roman" panose="02020503050405090304" pitchFamily="18" charset="0"/>
              </a:rPr>
              <a:t> a predicate </a:t>
            </a:r>
            <a:r>
              <a:rPr lang="en-US" altLang="zh-CN" b="1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 to a</a:t>
            </a:r>
            <a:br>
              <a:rPr lang="en-US" altLang="zh-CN">
                <a:latin typeface="Times New Roman" panose="02020503050405090304" pitchFamily="18" charset="0"/>
              </a:rPr>
            </a:br>
            <a:r>
              <a:rPr lang="en-US" altLang="zh-CN">
                <a:latin typeface="Times New Roman" panose="02020503050405090304" pitchFamily="18" charset="0"/>
              </a:rPr>
              <a:t>constant </a:t>
            </a:r>
            <a:r>
              <a:rPr lang="en-US" altLang="zh-CN" b="1" i="1">
                <a:latin typeface="Times New Roman" panose="02020503050405090304" pitchFamily="18" charset="0"/>
              </a:rPr>
              <a:t>a</a:t>
            </a:r>
            <a:r>
              <a:rPr lang="en-US" altLang="zh-CN">
                <a:latin typeface="Times New Roman" panose="02020503050405090304" pitchFamily="18" charset="0"/>
              </a:rPr>
              <a:t> is the proposition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 b="1" i="1">
                <a:latin typeface="Times New Roman" panose="02020503050405090304" pitchFamily="18" charset="0"/>
              </a:rPr>
              <a:t>P</a:t>
            </a:r>
            <a:r>
              <a:rPr lang="en-US" altLang="zh-CN" b="1">
                <a:latin typeface="Times New Roman" panose="02020503050405090304" pitchFamily="18" charset="0"/>
              </a:rPr>
              <a:t>(</a:t>
            </a:r>
            <a:r>
              <a:rPr lang="en-US" altLang="zh-CN" b="1" i="1">
                <a:latin typeface="Times New Roman" panose="02020503050405090304" pitchFamily="18" charset="0"/>
              </a:rPr>
              <a:t>a</a:t>
            </a:r>
            <a:r>
              <a:rPr lang="en-US" altLang="zh-CN" b="1">
                <a:latin typeface="Times New Roman" panose="02020503050405090304" pitchFamily="18" charset="0"/>
              </a:rPr>
              <a:t>)</a:t>
            </a:r>
            <a:br>
              <a:rPr lang="en-US" altLang="zh-CN">
                <a:latin typeface="Times New Roman" panose="02020503050405090304" pitchFamily="18" charset="0"/>
              </a:rPr>
            </a:br>
            <a:r>
              <a:rPr lang="en-US" altLang="zh-CN">
                <a:latin typeface="Times New Roman" panose="02020503050405090304" pitchFamily="18" charset="0"/>
              </a:rPr>
              <a:t>Meaning: the object denoted by </a:t>
            </a:r>
            <a:r>
              <a:rPr lang="en-US" altLang="zh-CN" b="1" i="1">
                <a:latin typeface="Times New Roman" panose="02020503050405090304" pitchFamily="18" charset="0"/>
              </a:rPr>
              <a:t>a</a:t>
            </a:r>
            <a:r>
              <a:rPr lang="en-US" altLang="zh-CN">
                <a:latin typeface="Times New Roman" panose="02020503050405090304" pitchFamily="18" charset="0"/>
              </a:rPr>
              <a:t> has the property denoted by </a:t>
            </a:r>
            <a:r>
              <a:rPr lang="en-US" altLang="zh-CN" b="1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.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BF122A2-116E-4E15-B89D-15A67388798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932EB724-B214-4BF2-A9BB-885A967A1402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305" y="188595"/>
            <a:ext cx="8078470" cy="913765"/>
          </a:xfrm>
        </p:spPr>
        <p:txBody>
          <a:bodyPr/>
          <a:lstStyle/>
          <a:p>
            <a:pPr eaLnBrk="1" hangingPunct="1"/>
            <a:r>
              <a:rPr lang="en-GB" altLang="zh-CN" sz="4000">
                <a:latin typeface="Times New Roman" panose="02020503050405090304" pitchFamily="18" charset="0"/>
              </a:rPr>
              <a:t>Formulas of predicate logic (informal)</a:t>
            </a:r>
            <a:endParaRPr lang="en-US" altLang="zh-CN" sz="4000">
              <a:latin typeface="Times New Roman" panose="02020503050405090304" pitchFamily="18" charset="0"/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The </a:t>
            </a:r>
            <a:r>
              <a:rPr lang="en-US" altLang="zh-CN" i="1" dirty="0">
                <a:latin typeface="Times New Roman" panose="02020503050405090304" pitchFamily="18" charset="0"/>
              </a:rPr>
              <a:t>result of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applying</a:t>
            </a:r>
            <a:r>
              <a:rPr lang="en-US" altLang="zh-CN" dirty="0">
                <a:latin typeface="Times New Roman" panose="02020503050405090304" pitchFamily="18" charset="0"/>
              </a:rPr>
              <a:t> a predicate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 to a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variable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 is the </a:t>
            </a:r>
            <a:r>
              <a:rPr lang="en-US" altLang="zh-CN" i="1" dirty="0">
                <a:latin typeface="Times New Roman" panose="02020503050405090304" pitchFamily="18" charset="0"/>
              </a:rPr>
              <a:t>propositional </a:t>
            </a:r>
            <a:r>
              <a:rPr lang="en-US" altLang="zh-CN" b="1" i="1" dirty="0">
                <a:latin typeface="Times New Roman" panose="02020503050405090304" pitchFamily="18" charset="0"/>
              </a:rPr>
              <a:t>form</a:t>
            </a:r>
            <a:r>
              <a:rPr lang="en-US" altLang="zh-CN" i="1" dirty="0">
                <a:latin typeface="Times New Roman" panose="02020503050405090304" pitchFamily="18" charset="0"/>
              </a:rPr>
              <a:t> 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E.g.</a:t>
            </a:r>
            <a:r>
              <a:rPr lang="en-US" altLang="zh-CN" dirty="0">
                <a:latin typeface="Times New Roman" panose="02020503050405090304" pitchFamily="18" charset="0"/>
              </a:rPr>
              <a:t> if </a:t>
            </a:r>
            <a:r>
              <a:rPr lang="en-US" altLang="zh-CN" i="1" dirty="0">
                <a:latin typeface="Times New Roman" panose="02020503050405090304" pitchFamily="18" charset="0"/>
              </a:rPr>
              <a:t>P </a:t>
            </a:r>
            <a:r>
              <a:rPr lang="en-US" altLang="zh-CN" dirty="0">
                <a:latin typeface="Times New Roman" panose="02020503050405090304" pitchFamily="18" charset="0"/>
              </a:rPr>
              <a:t>= “is a prime number”, then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 is the </a:t>
            </a:r>
            <a:r>
              <a:rPr lang="en-US" altLang="zh-CN" i="1" dirty="0">
                <a:latin typeface="Times New Roman" panose="02020503050405090304" pitchFamily="18" charset="0"/>
              </a:rPr>
              <a:t>propositional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r>
              <a:rPr lang="en-US" altLang="zh-CN" i="1" dirty="0">
                <a:latin typeface="Times New Roman" panose="02020503050405090304" pitchFamily="18" charset="0"/>
              </a:rPr>
              <a:t>form</a:t>
            </a:r>
            <a:r>
              <a:rPr lang="en-US" altLang="zh-CN" dirty="0">
                <a:latin typeface="Times New Roman" panose="02020503050405090304" pitchFamily="18" charset="0"/>
              </a:rPr>
              <a:t> </a:t>
            </a:r>
            <a:br>
              <a:rPr lang="en-US" altLang="zh-CN" dirty="0">
                <a:latin typeface="Times New Roman" panose="02020503050405090304" pitchFamily="18" charset="0"/>
              </a:rPr>
            </a:br>
            <a:r>
              <a:rPr lang="en-US" altLang="zh-CN" dirty="0">
                <a:latin typeface="Times New Roman" panose="02020503050405090304" pitchFamily="18" charset="0"/>
              </a:rPr>
              <a:t>“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 is a prime number”. 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14C6280E-8CBE-48BD-B5C0-BD4D427D73AD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B14E9829-CD0B-4ED6-BC42-6A08BFF9E4C2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Examples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503050405090304" pitchFamily="18" charset="0"/>
              </a:rPr>
              <a:t>Let </a:t>
            </a:r>
            <a:r>
              <a:rPr lang="en-US" altLang="zh-CN" sz="2800" i="1">
                <a:latin typeface="Times New Roman" panose="02020503050405090304" pitchFamily="18" charset="0"/>
              </a:rPr>
              <a:t>U</a:t>
            </a:r>
            <a:r>
              <a:rPr lang="en-US" altLang="zh-CN" sz="2800">
                <a:latin typeface="Times New Roman" panose="02020503050405090304" pitchFamily="18" charset="0"/>
              </a:rPr>
              <a:t> = </a:t>
            </a:r>
            <a:r>
              <a:rPr lang="en-US" altLang="zh-CN" sz="2800">
                <a:latin typeface="Euclid Math Two" panose="02050601010101010101" pitchFamily="18" charset="2"/>
              </a:rPr>
              <a:t>Z</a:t>
            </a:r>
            <a:r>
              <a:rPr lang="en-US" altLang="zh-CN" sz="2800">
                <a:latin typeface="Times New Roman" panose="02020503050405090304" pitchFamily="18" charset="0"/>
              </a:rPr>
              <a:t>, the integers = {. . . -2, -1, 0 , 1, 2, . . .}</a:t>
            </a:r>
            <a:endParaRPr lang="en-US" altLang="zh-CN" sz="280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(</a:t>
            </a:r>
            <a:r>
              <a:rPr lang="en-US" altLang="zh-CN" sz="2400" i="1">
                <a:latin typeface="Times New Roman" panose="02020503050405090304" pitchFamily="18" charset="0"/>
              </a:rPr>
              <a:t>x</a:t>
            </a:r>
            <a:r>
              <a:rPr lang="en-US" altLang="zh-CN" sz="2400">
                <a:latin typeface="Times New Roman" panose="02020503050405090304" pitchFamily="18" charset="0"/>
              </a:rPr>
              <a:t>): </a:t>
            </a:r>
            <a:r>
              <a:rPr lang="en-US" altLang="zh-CN" sz="2400" i="1">
                <a:latin typeface="Times New Roman" panose="02020503050405090304" pitchFamily="18" charset="0"/>
              </a:rPr>
              <a:t>x</a:t>
            </a:r>
            <a:r>
              <a:rPr lang="en-US" altLang="zh-CN" sz="2400">
                <a:latin typeface="Times New Roman" panose="02020503050405090304" pitchFamily="18" charset="0"/>
              </a:rPr>
              <a:t> &gt; 0</a:t>
            </a:r>
            <a:endParaRPr lang="en-US" altLang="zh-CN" sz="240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503050405090304" pitchFamily="18" charset="0"/>
              </a:rPr>
              <a:t>is the predicate. It has no truth value until the variable </a:t>
            </a:r>
            <a:r>
              <a:rPr lang="en-US" altLang="zh-CN" sz="2800" i="1">
                <a:latin typeface="Times New Roman" panose="02020503050405090304" pitchFamily="18" charset="0"/>
              </a:rPr>
              <a:t>x</a:t>
            </a:r>
            <a:r>
              <a:rPr lang="en-US" altLang="zh-CN" sz="2800">
                <a:latin typeface="Times New Roman" panose="02020503050405090304" pitchFamily="18" charset="0"/>
              </a:rPr>
              <a:t> is bound.</a:t>
            </a:r>
            <a:endParaRPr lang="en-US" altLang="zh-CN" sz="280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503050405090304" pitchFamily="18" charset="0"/>
              </a:rPr>
              <a:t>Examples of propositions where </a:t>
            </a:r>
            <a:r>
              <a:rPr lang="en-US" altLang="zh-CN" sz="2800" i="1">
                <a:latin typeface="Times New Roman" panose="02020503050405090304" pitchFamily="18" charset="0"/>
              </a:rPr>
              <a:t>x</a:t>
            </a:r>
            <a:r>
              <a:rPr lang="en-US" altLang="zh-CN" sz="2800">
                <a:latin typeface="Times New Roman" panose="02020503050405090304" pitchFamily="18" charset="0"/>
              </a:rPr>
              <a:t> is assigned a value:</a:t>
            </a:r>
            <a:endParaRPr lang="en-US" altLang="zh-CN" sz="280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(-3) is false,</a:t>
            </a:r>
            <a:endParaRPr lang="en-US" altLang="zh-CN" sz="240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(0) is false,</a:t>
            </a:r>
            <a:endParaRPr lang="en-US" altLang="zh-CN" sz="240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>
                <a:latin typeface="Times New Roman" panose="02020503050405090304" pitchFamily="18" charset="0"/>
              </a:rPr>
              <a:t>P</a:t>
            </a:r>
            <a:r>
              <a:rPr lang="en-US" altLang="zh-CN" sz="2400">
                <a:latin typeface="Times New Roman" panose="02020503050405090304" pitchFamily="18" charset="0"/>
              </a:rPr>
              <a:t>(3) is true.</a:t>
            </a:r>
            <a:endParaRPr lang="en-US" altLang="zh-CN" sz="240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503050405090304" pitchFamily="18" charset="0"/>
              </a:rPr>
              <a:t>The collection of integers for which </a:t>
            </a:r>
            <a:r>
              <a:rPr lang="en-US" altLang="zh-CN" sz="2800" i="1">
                <a:latin typeface="Times New Roman" panose="02020503050405090304" pitchFamily="18" charset="0"/>
              </a:rPr>
              <a:t>P</a:t>
            </a:r>
            <a:r>
              <a:rPr lang="en-US" altLang="zh-CN" sz="2800">
                <a:latin typeface="Times New Roman" panose="02020503050405090304" pitchFamily="18" charset="0"/>
              </a:rPr>
              <a:t>(</a:t>
            </a:r>
            <a:r>
              <a:rPr lang="en-US" altLang="zh-CN" sz="2800" i="1">
                <a:latin typeface="Times New Roman" panose="02020503050405090304" pitchFamily="18" charset="0"/>
              </a:rPr>
              <a:t>x</a:t>
            </a:r>
            <a:r>
              <a:rPr lang="en-US" altLang="zh-CN" sz="2800">
                <a:latin typeface="Times New Roman" panose="02020503050405090304" pitchFamily="18" charset="0"/>
              </a:rPr>
              <a:t>) is true are the positive integers.</a:t>
            </a:r>
            <a:endParaRPr lang="en-US" altLang="zh-CN" sz="280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12F2237C-6349-4E1F-8A13-D23AD774ADA7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03E8950C-9521-4025-B08E-9141E87233A4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Examples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r>
              <a:rPr lang="en-US" altLang="zh-CN">
                <a:latin typeface="Symbol" panose="05050102010706020507" pitchFamily="18" charset="2"/>
              </a:rPr>
              <a:t>Ú</a:t>
            </a:r>
            <a:r>
              <a:rPr lang="en-US" altLang="zh-CN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(0) is not a proposition. The variable 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 has not been bound. However,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(3)</a:t>
            </a:r>
            <a:r>
              <a:rPr lang="en-US" altLang="zh-CN">
                <a:latin typeface="Symbol" panose="05050102010706020507" pitchFamily="18" charset="2"/>
              </a:rPr>
              <a:t>Ú</a:t>
            </a:r>
            <a:r>
              <a:rPr lang="en-US" altLang="zh-CN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(0) is a proposition which is true.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5FACA99D-1452-4E5B-A1D1-C490C1102D46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BB4E5EC-2F33-41DE-B1C4-17F0B83BF94F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Propositional Functions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7260" y="1222375"/>
            <a:ext cx="8022590" cy="466598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Predicate logic </a:t>
            </a:r>
            <a:r>
              <a:rPr lang="en-US" altLang="zh-CN" i="1" dirty="0">
                <a:latin typeface="Times New Roman" panose="02020503050405090304" pitchFamily="18" charset="0"/>
              </a:rPr>
              <a:t>generalizes</a:t>
            </a:r>
            <a:r>
              <a:rPr lang="en-US" altLang="zh-CN" dirty="0">
                <a:latin typeface="Times New Roman" panose="02020503050405090304" pitchFamily="18" charset="0"/>
              </a:rPr>
              <a:t> the grammatical notion of a predicate to also include propositional functions of </a:t>
            </a:r>
            <a:r>
              <a:rPr lang="en-US" altLang="zh-CN" b="1" dirty="0">
                <a:latin typeface="Times New Roman" panose="02020503050405090304" pitchFamily="18" charset="0"/>
              </a:rPr>
              <a:t>any</a:t>
            </a:r>
            <a:r>
              <a:rPr lang="en-US" altLang="zh-CN" dirty="0">
                <a:latin typeface="Times New Roman" panose="02020503050405090304" pitchFamily="18" charset="0"/>
              </a:rPr>
              <a:t> number of arguments, each of which may take </a:t>
            </a:r>
            <a:r>
              <a:rPr lang="en-US" altLang="zh-CN" b="1" dirty="0">
                <a:latin typeface="Times New Roman" panose="02020503050405090304" pitchFamily="18" charset="0"/>
              </a:rPr>
              <a:t>any</a:t>
            </a:r>
            <a:r>
              <a:rPr lang="en-US" altLang="zh-CN" dirty="0">
                <a:latin typeface="Times New Roman" panose="02020503050405090304" pitchFamily="18" charset="0"/>
              </a:rPr>
              <a:t> grammatical role that a noun can take.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E.g.</a:t>
            </a:r>
            <a:r>
              <a:rPr lang="en-US" altLang="zh-CN" dirty="0">
                <a:latin typeface="Times New Roman" panose="02020503050405090304" pitchFamily="18" charset="0"/>
              </a:rPr>
              <a:t> let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 err="1">
                <a:latin typeface="Times New Roman" panose="02020503050405090304" pitchFamily="18" charset="0"/>
              </a:rPr>
              <a:t>x</a:t>
            </a:r>
            <a:r>
              <a:rPr lang="en-US" altLang="zh-CN" dirty="0" err="1">
                <a:latin typeface="Times New Roman" panose="02020503050405090304" pitchFamily="18" charset="0"/>
              </a:rPr>
              <a:t>,</a:t>
            </a:r>
            <a:r>
              <a:rPr lang="en-US" altLang="zh-CN" i="1" dirty="0" err="1">
                <a:latin typeface="Times New Roman" panose="02020503050405090304" pitchFamily="18" charset="0"/>
              </a:rPr>
              <a:t>y,z</a:t>
            </a:r>
            <a:r>
              <a:rPr lang="en-US" altLang="zh-CN" dirty="0">
                <a:latin typeface="Times New Roman" panose="02020503050405090304" pitchFamily="18" charset="0"/>
              </a:rPr>
              <a:t>) = “</a:t>
            </a:r>
            <a:r>
              <a:rPr lang="en-US" altLang="zh-CN" i="1" dirty="0">
                <a:latin typeface="Times New Roman" panose="02020503050405090304" pitchFamily="18" charset="0"/>
              </a:rPr>
              <a:t>x </a:t>
            </a:r>
            <a:r>
              <a:rPr lang="en-US" altLang="zh-CN" dirty="0">
                <a:latin typeface="Times New Roman" panose="02020503050405090304" pitchFamily="18" charset="0"/>
              </a:rPr>
              <a:t>gave</a:t>
            </a:r>
            <a:r>
              <a:rPr lang="en-US" altLang="zh-CN" i="1" dirty="0">
                <a:latin typeface="Times New Roman" panose="02020503050405090304" pitchFamily="18" charset="0"/>
              </a:rPr>
              <a:t> y </a:t>
            </a:r>
            <a:r>
              <a:rPr lang="en-US" altLang="zh-CN" dirty="0">
                <a:latin typeface="Times New Roman" panose="02020503050405090304" pitchFamily="18" charset="0"/>
              </a:rPr>
              <a:t>the grade</a:t>
            </a:r>
            <a:r>
              <a:rPr lang="en-US" altLang="zh-CN" i="1" dirty="0">
                <a:latin typeface="Times New Roman" panose="02020503050405090304" pitchFamily="18" charset="0"/>
              </a:rPr>
              <a:t> z</a:t>
            </a:r>
            <a:r>
              <a:rPr lang="en-US" altLang="zh-CN" dirty="0">
                <a:latin typeface="Times New Roman" panose="02020503050405090304" pitchFamily="18" charset="0"/>
              </a:rPr>
              <a:t>”, then if</a:t>
            </a:r>
            <a:br>
              <a:rPr lang="en-US" altLang="zh-CN" i="1" dirty="0">
                <a:latin typeface="Times New Roman" panose="02020503050405090304" pitchFamily="18" charset="0"/>
              </a:rPr>
            </a:br>
            <a:r>
              <a:rPr lang="en-US" altLang="zh-CN" i="1" dirty="0">
                <a:latin typeface="Times New Roman" panose="02020503050405090304" pitchFamily="18" charset="0"/>
              </a:rPr>
              <a:t>x=</a:t>
            </a:r>
            <a:r>
              <a:rPr lang="en-US" altLang="zh-CN" dirty="0">
                <a:latin typeface="Times New Roman" panose="02020503050405090304" pitchFamily="18" charset="0"/>
              </a:rPr>
              <a:t>“Mike”, </a:t>
            </a:r>
            <a:r>
              <a:rPr lang="en-US" altLang="zh-CN" i="1" dirty="0">
                <a:latin typeface="Times New Roman" panose="02020503050405090304" pitchFamily="18" charset="0"/>
              </a:rPr>
              <a:t>y</a:t>
            </a:r>
            <a:r>
              <a:rPr lang="en-US" altLang="zh-CN" dirty="0">
                <a:latin typeface="Times New Roman" panose="02020503050405090304" pitchFamily="18" charset="0"/>
              </a:rPr>
              <a:t>=“Mary”, </a:t>
            </a:r>
            <a:r>
              <a:rPr lang="en-US" altLang="zh-CN" i="1" dirty="0">
                <a:latin typeface="Times New Roman" panose="02020503050405090304" pitchFamily="18" charset="0"/>
              </a:rPr>
              <a:t>z</a:t>
            </a:r>
            <a:r>
              <a:rPr lang="en-US" altLang="zh-CN" dirty="0">
                <a:latin typeface="Times New Roman" panose="02020503050405090304" pitchFamily="18" charset="0"/>
              </a:rPr>
              <a:t>=“A”, then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 err="1">
                <a:latin typeface="Times New Roman" panose="02020503050405090304" pitchFamily="18" charset="0"/>
              </a:rPr>
              <a:t>x</a:t>
            </a:r>
            <a:r>
              <a:rPr lang="en-US" altLang="zh-CN" dirty="0" err="1">
                <a:latin typeface="Times New Roman" panose="02020503050405090304" pitchFamily="18" charset="0"/>
              </a:rPr>
              <a:t>,</a:t>
            </a:r>
            <a:r>
              <a:rPr lang="en-US" altLang="zh-CN" i="1" dirty="0" err="1">
                <a:latin typeface="Times New Roman" panose="02020503050405090304" pitchFamily="18" charset="0"/>
              </a:rPr>
              <a:t>y</a:t>
            </a:r>
            <a:r>
              <a:rPr lang="en-US" altLang="zh-CN" dirty="0" err="1">
                <a:latin typeface="Times New Roman" panose="02020503050405090304" pitchFamily="18" charset="0"/>
              </a:rPr>
              <a:t>,</a:t>
            </a:r>
            <a:r>
              <a:rPr lang="en-US" altLang="zh-CN" i="1" dirty="0" err="1">
                <a:latin typeface="Times New Roman" panose="02020503050405090304" pitchFamily="18" charset="0"/>
              </a:rPr>
              <a:t>z</a:t>
            </a:r>
            <a:r>
              <a:rPr lang="en-US" altLang="zh-CN" dirty="0">
                <a:latin typeface="Times New Roman" panose="02020503050405090304" pitchFamily="18" charset="0"/>
              </a:rPr>
              <a:t>) = “Mike gave Mary the grade A.”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11271" name="Text Box 4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949ADD42-AB5B-4411-8FDF-BE4FE0274A3B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6DB30D8-C1C7-4834-AEFE-6657F371ABCB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N-place predicate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8990" y="1292860"/>
            <a:ext cx="8150860" cy="459549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A statement involving the </a:t>
            </a:r>
            <a:r>
              <a:rPr lang="en-US" altLang="zh-CN" i="1">
                <a:latin typeface="Times New Roman" panose="02020503050405090304" pitchFamily="18" charset="0"/>
              </a:rPr>
              <a:t>n</a:t>
            </a:r>
            <a:r>
              <a:rPr lang="en-US" altLang="zh-CN">
                <a:latin typeface="Times New Roman" panose="02020503050405090304" pitchFamily="18" charset="0"/>
              </a:rPr>
              <a:t> variables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1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2</a:t>
            </a:r>
            <a:r>
              <a:rPr lang="en-US" altLang="zh-CN" i="1" baseline="30000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,…x</a:t>
            </a:r>
            <a:r>
              <a:rPr lang="en-US" altLang="zh-CN" i="1" baseline="-25000">
                <a:latin typeface="Times New Roman" panose="02020503050405090304" pitchFamily="18" charset="0"/>
              </a:rPr>
              <a:t>n</a:t>
            </a:r>
            <a:r>
              <a:rPr lang="en-US" altLang="zh-CN">
                <a:latin typeface="Times New Roman" panose="02020503050405090304" pitchFamily="18" charset="0"/>
              </a:rPr>
              <a:t> can be denoted by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1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2</a:t>
            </a:r>
            <a:r>
              <a:rPr lang="en-US" altLang="zh-CN" i="1" baseline="30000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,…x</a:t>
            </a:r>
            <a:r>
              <a:rPr lang="en-US" altLang="zh-CN" i="1" baseline="-25000">
                <a:latin typeface="Times New Roman" panose="02020503050405090304" pitchFamily="18" charset="0"/>
              </a:rPr>
              <a:t>n</a:t>
            </a:r>
            <a:r>
              <a:rPr lang="en-US" altLang="zh-CN">
                <a:latin typeface="Times New Roman" panose="02020503050405090304" pitchFamily="18" charset="0"/>
              </a:rPr>
              <a:t> ).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A statement of the form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1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2</a:t>
            </a:r>
            <a:r>
              <a:rPr lang="en-US" altLang="zh-CN" i="1" baseline="30000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,…x</a:t>
            </a:r>
            <a:r>
              <a:rPr lang="en-US" altLang="zh-CN" i="1" baseline="-25000">
                <a:latin typeface="Times New Roman" panose="02020503050405090304" pitchFamily="18" charset="0"/>
              </a:rPr>
              <a:t>n</a:t>
            </a:r>
            <a:r>
              <a:rPr lang="en-US" altLang="zh-CN">
                <a:latin typeface="Times New Roman" panose="02020503050405090304" pitchFamily="18" charset="0"/>
              </a:rPr>
              <a:t> ) is the value of the propositional function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 at the </a:t>
            </a:r>
            <a:r>
              <a:rPr lang="en-US" altLang="zh-CN" i="1">
                <a:latin typeface="Times New Roman" panose="02020503050405090304" pitchFamily="18" charset="0"/>
              </a:rPr>
              <a:t>n</a:t>
            </a:r>
            <a:r>
              <a:rPr lang="en-US" altLang="zh-CN">
                <a:latin typeface="Times New Roman" panose="02020503050405090304" pitchFamily="18" charset="0"/>
              </a:rPr>
              <a:t>-tuple 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1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 i="1" baseline="-25000">
                <a:latin typeface="Times New Roman" panose="02020503050405090304" pitchFamily="18" charset="0"/>
              </a:rPr>
              <a:t>2</a:t>
            </a:r>
            <a:r>
              <a:rPr lang="en-US" altLang="zh-CN" i="1" baseline="30000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,…x</a:t>
            </a:r>
            <a:r>
              <a:rPr lang="en-US" altLang="zh-CN" i="1" baseline="-25000">
                <a:latin typeface="Times New Roman" panose="02020503050405090304" pitchFamily="18" charset="0"/>
              </a:rPr>
              <a:t>n</a:t>
            </a:r>
            <a:r>
              <a:rPr lang="en-US" altLang="zh-CN">
                <a:latin typeface="Times New Roman" panose="02020503050405090304" pitchFamily="18" charset="0"/>
              </a:rPr>
              <a:t> ), and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 is also called a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n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</a:rPr>
              <a:t>-place predicate</a:t>
            </a:r>
            <a:r>
              <a:rPr lang="en-US" altLang="zh-CN">
                <a:latin typeface="Times New Roman" panose="02020503050405090304" pitchFamily="18" charset="0"/>
              </a:rPr>
              <a:t> or a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n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</a:rPr>
              <a:t>-ary predicate</a:t>
            </a:r>
            <a:r>
              <a:rPr lang="en-US" altLang="zh-CN">
                <a:latin typeface="Times New Roman" panose="02020503050405090304" pitchFamily="18" charset="0"/>
              </a:rPr>
              <a:t>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11F469AB-85A3-4C28-8129-7469D712377D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DD8A7AC-62A0-4D05-A433-96C18BD0B333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160" y="1371283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Let </a:t>
            </a:r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 be the three-variable predicate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, </a:t>
            </a:r>
            <a:r>
              <a:rPr lang="en-US" altLang="zh-CN" i="1" dirty="0">
                <a:latin typeface="Times New Roman" panose="02020503050405090304" pitchFamily="18" charset="0"/>
              </a:rPr>
              <a:t>y</a:t>
            </a:r>
            <a:r>
              <a:rPr lang="en-US" altLang="zh-CN" dirty="0">
                <a:latin typeface="Times New Roman" panose="02020503050405090304" pitchFamily="18" charset="0"/>
              </a:rPr>
              <a:t> ,</a:t>
            </a:r>
            <a:r>
              <a:rPr lang="en-US" altLang="zh-CN" i="1" dirty="0">
                <a:latin typeface="Times New Roman" panose="02020503050405090304" pitchFamily="18" charset="0"/>
              </a:rPr>
              <a:t>z</a:t>
            </a:r>
            <a:r>
              <a:rPr lang="en-US" altLang="zh-CN" dirty="0">
                <a:latin typeface="Times New Roman" panose="02020503050405090304" pitchFamily="18" charset="0"/>
              </a:rPr>
              <a:t>):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 + </a:t>
            </a:r>
            <a:r>
              <a:rPr lang="en-US" altLang="zh-CN" i="1" dirty="0">
                <a:latin typeface="Times New Roman" panose="02020503050405090304" pitchFamily="18" charset="0"/>
              </a:rPr>
              <a:t>y</a:t>
            </a:r>
            <a:r>
              <a:rPr lang="en-US" altLang="zh-CN" dirty="0">
                <a:latin typeface="Times New Roman" panose="02020503050405090304" pitchFamily="18" charset="0"/>
              </a:rPr>
              <a:t> = </a:t>
            </a:r>
            <a:r>
              <a:rPr lang="en-US" altLang="zh-CN" i="1" dirty="0">
                <a:latin typeface="Times New Roman" panose="02020503050405090304" pitchFamily="18" charset="0"/>
              </a:rPr>
              <a:t>z</a:t>
            </a:r>
            <a:endParaRPr lang="en-US" altLang="zh-CN" i="1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Find the truth value of  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(2, -1, 5)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(3, 4, 7)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503050405090304" pitchFamily="18" charset="0"/>
              </a:rPr>
              <a:t>R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, 3, </a:t>
            </a:r>
            <a:r>
              <a:rPr lang="en-US" altLang="zh-CN" i="1" dirty="0">
                <a:latin typeface="Times New Roman" panose="02020503050405090304" pitchFamily="18" charset="0"/>
              </a:rPr>
              <a:t>z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07B2C20C-509C-4EE9-97C3-FD4C242B7CD3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0D8CA285-5505-4B66-A5DF-F6CBFA343FCC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latin typeface="Times New Roman" panose="02020503050405090304" pitchFamily="18" charset="0"/>
              </a:rPr>
              <a:t>Quantifiers – Universal(</a:t>
            </a:r>
            <a:r>
              <a:rPr lang="zh-CN" altLang="en-US" sz="4000">
                <a:latin typeface="Times New Roman" panose="02020503050405090304" pitchFamily="18" charset="0"/>
              </a:rPr>
              <a:t>全称量词</a:t>
            </a:r>
            <a:r>
              <a:rPr lang="en-US" altLang="zh-CN" sz="4000">
                <a:latin typeface="Times New Roman" panose="02020503050405090304" pitchFamily="18" charset="0"/>
              </a:rPr>
              <a:t>)</a:t>
            </a:r>
            <a:endParaRPr lang="en-US" altLang="zh-CN" sz="4000">
              <a:latin typeface="Times New Roman" panose="02020503050405090304" pitchFamily="18" charset="0"/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160" y="1371283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 is true </a:t>
            </a:r>
            <a:r>
              <a:rPr lang="en-US" altLang="zh-CN" i="1" u="sng">
                <a:solidFill>
                  <a:schemeClr val="hlink"/>
                </a:solidFill>
                <a:latin typeface="Times New Roman" panose="02020503050405090304" pitchFamily="18" charset="0"/>
              </a:rPr>
              <a:t>for every x</a:t>
            </a:r>
            <a:r>
              <a:rPr lang="en-US" altLang="zh-CN">
                <a:latin typeface="Times New Roman" panose="02020503050405090304" pitchFamily="18" charset="0"/>
              </a:rPr>
              <a:t> in the universe of discourse.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Notation: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universal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quantifier</a:t>
            </a:r>
            <a:endParaRPr lang="en-US" altLang="zh-CN" i="1">
              <a:solidFill>
                <a:schemeClr val="hlink"/>
              </a:solidFill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Symbol" panose="05050102010706020507" pitchFamily="18" charset="2"/>
              </a:rPr>
              <a:t>			"</a:t>
            </a:r>
            <a:r>
              <a:rPr lang="en-US" altLang="zh-CN" i="1">
                <a:latin typeface="Times New Roman" panose="02020503050405090304" pitchFamily="18" charset="0"/>
              </a:rPr>
              <a:t>xP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‘For all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)’, ‘For every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)’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The variable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is bound by the universal quantifier producing a proposition.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E6A0717-BFF9-42EF-A9A5-E34EB686B16E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CAF0F74A-67A3-4BA2-9F4E-586C5C31A796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Quantifiers - Universal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412558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Example: 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		U={1, 2, 3}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Symbol" panose="05050102010706020507" pitchFamily="18" charset="2"/>
              </a:rPr>
              <a:t>		"</a:t>
            </a:r>
            <a:r>
              <a:rPr lang="en-US" altLang="zh-CN" i="1">
                <a:latin typeface="Times New Roman" panose="02020503050405090304" pitchFamily="18" charset="0"/>
              </a:rPr>
              <a:t>xP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r>
              <a:rPr lang="en-US" altLang="zh-CN">
                <a:latin typeface="Symbol" panose="05050102010706020507" pitchFamily="18" charset="2"/>
              </a:rPr>
              <a:t>Û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(1) </a:t>
            </a:r>
            <a:r>
              <a:rPr lang="en-US" altLang="zh-CN">
                <a:latin typeface="Symbol" panose="05050102010706020507" pitchFamily="18" charset="2"/>
              </a:rPr>
              <a:t>Ù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(2) </a:t>
            </a:r>
            <a:r>
              <a:rPr lang="en-US" altLang="zh-CN">
                <a:latin typeface="Symbol" panose="05050102010706020507" pitchFamily="18" charset="2"/>
              </a:rPr>
              <a:t>Ù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(3)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056F6F-734C-4F3D-B1FA-E8D7B5373C00}" type="slidenum">
              <a:rPr lang="zh-CN" altLang="en-US" smtClean="0"/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77FD28EB-E295-44A8-8BCE-E37F4B70869F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75621" y="110213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/>
            <a:r>
              <a:rPr lang="en-US" altLang="zh-CN" sz="2800" u="none" dirty="0"/>
              <a:t>Let P(x) be the statement “x+1&gt;x”. What is the truth value of the quantification </a:t>
            </a:r>
            <a:r>
              <a:rPr lang="en-US" altLang="zh-CN" sz="2800" u="none" dirty="0">
                <a:sym typeface="Symbol" panose="05050102010706020507" pitchFamily="18" charset="2"/>
              </a:rPr>
              <a:t></a:t>
            </a:r>
            <a:r>
              <a:rPr lang="en-US" altLang="zh-CN" sz="2800" u="none" dirty="0" err="1">
                <a:sym typeface="Symbol" panose="05050102010706020507" pitchFamily="18" charset="2"/>
              </a:rPr>
              <a:t>xP</a:t>
            </a:r>
            <a:r>
              <a:rPr lang="en-US" altLang="zh-CN" sz="2800" u="none" dirty="0">
                <a:sym typeface="Symbol" panose="05050102010706020507" pitchFamily="18" charset="2"/>
              </a:rPr>
              <a:t>(x), where the universe of discourse consists of all real numbers?</a:t>
            </a:r>
            <a:endParaRPr lang="en-US" altLang="zh-CN" sz="2800" u="none" dirty="0"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915095" y="408111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u="none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T</a:t>
            </a:r>
            <a:endParaRPr lang="zh-CN" altLang="en-US" sz="2600" u="none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828800" y="494630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u="none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F</a:t>
            </a:r>
            <a:endParaRPr lang="zh-CN" altLang="en-US" sz="2600" u="none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419205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kumimoji="1" lang="zh-CN" altLang="en-US" sz="1600" b="1" i="1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501059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6"/>
            </p:custDataLst>
          </p:nvPr>
        </p:nvSpPr>
        <p:spPr bwMode="auto">
          <a:xfrm>
            <a:off x="6168938" y="592582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kumimoji="1" lang="zh-CN" altLang="en-US" sz="1600" b="1" i="1" u="sng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20" name="ColorBlock"/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2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0431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8" name="图片 7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056F6F-734C-4F3D-B1FA-E8D7B5373C00}" type="slidenum">
              <a:rPr lang="zh-CN" altLang="en-US" smtClean="0"/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77FD28EB-E295-44A8-8BCE-E37F4B70869F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59757" y="97041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/>
            <a:r>
              <a:rPr lang="en-US" altLang="zh-CN" sz="2800" u="none" dirty="0"/>
              <a:t>Let P(x) be the statement “x</a:t>
            </a:r>
            <a:r>
              <a:rPr lang="en-US" altLang="zh-CN" sz="2800" u="none" baseline="30000" dirty="0"/>
              <a:t>2</a:t>
            </a:r>
            <a:r>
              <a:rPr lang="en-US" altLang="zh-CN" sz="2800" u="none" dirty="0"/>
              <a:t>&gt;0”. What is the truth value of the quantification </a:t>
            </a:r>
            <a:r>
              <a:rPr lang="en-US" altLang="zh-CN" sz="2800" u="none" dirty="0">
                <a:sym typeface="Symbol" panose="05050102010706020507" pitchFamily="18" charset="2"/>
              </a:rPr>
              <a:t></a:t>
            </a:r>
            <a:r>
              <a:rPr lang="en-US" altLang="zh-CN" sz="2800" u="none" dirty="0" err="1">
                <a:sym typeface="Symbol" panose="05050102010706020507" pitchFamily="18" charset="2"/>
              </a:rPr>
              <a:t>xP</a:t>
            </a:r>
            <a:r>
              <a:rPr lang="en-US" altLang="zh-CN" sz="2800" u="none" dirty="0">
                <a:sym typeface="Symbol" panose="05050102010706020507" pitchFamily="18" charset="2"/>
              </a:rPr>
              <a:t>(x), where the universe of discourse consists of all integers?</a:t>
            </a:r>
            <a:endParaRPr lang="en-US" altLang="zh-CN" sz="2800" u="none" dirty="0"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828800" y="37290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u="none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T</a:t>
            </a:r>
            <a:endParaRPr lang="zh-CN" altLang="en-US" sz="2600" u="none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828800" y="45862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u="none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F</a:t>
            </a:r>
            <a:endParaRPr lang="zh-CN" altLang="en-US" sz="2600" u="none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379330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kumimoji="1" lang="zh-CN" altLang="en-US" sz="1600" b="1" i="1" u="sng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465055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kumimoji="1" lang="zh-CN" altLang="en-US" sz="1600" b="1" i="1" u="sng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6"/>
            </p:custDataLst>
          </p:nvPr>
        </p:nvSpPr>
        <p:spPr bwMode="auto">
          <a:xfrm>
            <a:off x="6110232" y="592582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kumimoji="1" lang="zh-CN" altLang="en-US" sz="1600" b="1" i="1" u="sng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20" name="ColorBlock"/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2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0431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8" name="图片 7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6327066D-0285-46B1-A717-0890D3AC930F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43166946-9688-4FD9-9EB1-35C570289983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latin typeface="Times New Roman" panose="02020503050405090304" pitchFamily="18" charset="0"/>
              </a:rPr>
              <a:t>Quantifiers – Existential(</a:t>
            </a:r>
            <a:r>
              <a:rPr lang="zh-CN" altLang="en-US" sz="4000">
                <a:latin typeface="Times New Roman" panose="02020503050405090304" pitchFamily="18" charset="0"/>
              </a:rPr>
              <a:t>存在量词</a:t>
            </a:r>
            <a:r>
              <a:rPr lang="en-US" altLang="zh-CN" sz="4000">
                <a:latin typeface="Times New Roman" panose="02020503050405090304" pitchFamily="18" charset="0"/>
              </a:rPr>
              <a:t>)</a:t>
            </a:r>
            <a:endParaRPr lang="zh-CN" altLang="en-US" sz="4000">
              <a:latin typeface="Times New Roman" panose="02020503050405090304" pitchFamily="18" charset="0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4815" y="1236980"/>
            <a:ext cx="8719185" cy="4651375"/>
          </a:xfrm>
        </p:spPr>
        <p:txBody>
          <a:bodyPr/>
          <a:lstStyle/>
          <a:p>
            <a:pPr eaLnBrk="1" hangingPunct="1"/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 is true for </a:t>
            </a:r>
            <a:r>
              <a:rPr lang="en-US" altLang="zh-CN" i="1" u="sng">
                <a:solidFill>
                  <a:schemeClr val="hlink"/>
                </a:solidFill>
                <a:latin typeface="Times New Roman" panose="02020503050405090304" pitchFamily="18" charset="0"/>
              </a:rPr>
              <a:t>some</a:t>
            </a:r>
            <a:r>
              <a:rPr lang="en-US" altLang="zh-CN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in the universe of discourse.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Notation: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existential quantifier</a:t>
            </a:r>
            <a:r>
              <a:rPr lang="en-US" altLang="zh-CN">
                <a:latin typeface="Symbol" panose="05050102010706020507" pitchFamily="18" charset="2"/>
              </a:rPr>
              <a:t>	$</a:t>
            </a:r>
            <a:r>
              <a:rPr lang="en-US" altLang="zh-CN" i="1">
                <a:latin typeface="Times New Roman" panose="02020503050405090304" pitchFamily="18" charset="0"/>
              </a:rPr>
              <a:t>xP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‘There is an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such that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)’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‘For some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)’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 ‘For at least one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,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)’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 ‘I can find an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such that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).’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7DAAF95D-DBCC-4D2F-82FF-0FBFA4C17511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355B62F6-2EE3-4D70-B831-93A5F0C392BD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 14</a:t>
            </a:r>
            <a:endParaRPr lang="en-US" altLang="zh-CN"/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160" y="1412875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Let </a:t>
            </a:r>
            <a:r>
              <a:rPr lang="en-US" altLang="zh-CN" i="1">
                <a:latin typeface="Times New Roman" panose="02020503050405090304" pitchFamily="18" charset="0"/>
              </a:rPr>
              <a:t>P(x)</a:t>
            </a:r>
            <a:r>
              <a:rPr lang="en-US" altLang="zh-CN">
                <a:latin typeface="Times New Roman" panose="02020503050405090304" pitchFamily="18" charset="0"/>
              </a:rPr>
              <a:t> be the statement “</a:t>
            </a:r>
            <a:r>
              <a:rPr lang="en-US" altLang="zh-CN" i="1">
                <a:latin typeface="Times New Roman" panose="02020503050405090304" pitchFamily="18" charset="0"/>
              </a:rPr>
              <a:t>x&gt;3</a:t>
            </a:r>
            <a:r>
              <a:rPr lang="en-US" altLang="zh-CN">
                <a:latin typeface="Times New Roman" panose="02020503050405090304" pitchFamily="18" charset="0"/>
              </a:rPr>
              <a:t>”. What is the truth value of the quantification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xP(x)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, where the universe of discourse consists of all real numbers?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9F54B7E-F0C7-4210-87A3-4DA4B6077A7F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D38D1EC-85EC-468B-A3F1-D17C3E6E3187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 15</a:t>
            </a:r>
            <a:endParaRPr lang="en-US" altLang="zh-CN"/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196975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Let </a:t>
            </a:r>
            <a:r>
              <a:rPr lang="en-US" altLang="zh-CN" i="1">
                <a:latin typeface="Times New Roman" panose="02020503050405090304" pitchFamily="18" charset="0"/>
              </a:rPr>
              <a:t>Q(x)</a:t>
            </a:r>
            <a:r>
              <a:rPr lang="en-US" altLang="zh-CN">
                <a:latin typeface="Times New Roman" panose="02020503050405090304" pitchFamily="18" charset="0"/>
              </a:rPr>
              <a:t> denote  the statement “</a:t>
            </a:r>
            <a:r>
              <a:rPr lang="en-US" altLang="zh-CN" i="1">
                <a:latin typeface="Times New Roman" panose="02020503050405090304" pitchFamily="18" charset="0"/>
              </a:rPr>
              <a:t>x=x+</a:t>
            </a:r>
            <a:r>
              <a:rPr lang="en-US" altLang="zh-CN">
                <a:latin typeface="Times New Roman" panose="02020503050405090304" pitchFamily="18" charset="0"/>
              </a:rPr>
              <a:t>1”. What is the truth value of the quantification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xP(x)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, where the universe of discourse consists of all real numbers?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CB7EA54B-1387-46F0-B6CD-D81C9BC38048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B39D2B01-26DD-4FDF-BC78-C506857F6DA6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Quantifiers - Existential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Example: 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		U={1, 2, 3}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Symbol" panose="05050102010706020507" pitchFamily="18" charset="2"/>
              </a:rPr>
              <a:t>		$</a:t>
            </a:r>
            <a:r>
              <a:rPr lang="en-US" altLang="zh-CN" i="1">
                <a:latin typeface="Times New Roman" panose="02020503050405090304" pitchFamily="18" charset="0"/>
              </a:rPr>
              <a:t>xP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r>
              <a:rPr lang="en-US" altLang="zh-CN">
                <a:latin typeface="Symbol" panose="05050102010706020507" pitchFamily="18" charset="2"/>
              </a:rPr>
              <a:t>Û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(1) </a:t>
            </a:r>
            <a:r>
              <a:rPr lang="en-US" altLang="zh-CN">
                <a:latin typeface="Symbol" panose="05050102010706020507" pitchFamily="18" charset="2"/>
              </a:rPr>
              <a:t>Ú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(2) </a:t>
            </a:r>
            <a:r>
              <a:rPr lang="en-US" altLang="zh-CN">
                <a:latin typeface="Symbol" panose="05050102010706020507" pitchFamily="18" charset="2"/>
              </a:rPr>
              <a:t>Ú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(3)</a:t>
            </a:r>
            <a:endParaRPr lang="en-US" altLang="zh-CN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056F6F-734C-4F3D-B1FA-E8D7B5373C00}" type="slidenum">
              <a:rPr lang="zh-CN" altLang="en-US" smtClean="0"/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fld id="{77FD28EB-E295-44A8-8BCE-E37F4B70869F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Science, BUPT</a:t>
            </a:r>
            <a:endParaRPr lang="zh-CN" altLang="en-US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84015" y="1200125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eaLnBrk="1" hangingPunct="1"/>
            <a:r>
              <a:rPr lang="en-US" altLang="zh-CN" sz="2800" u="none" dirty="0"/>
              <a:t>What is the truth value of </a:t>
            </a:r>
            <a:r>
              <a:rPr lang="en-US" altLang="zh-CN" sz="2800" u="none" dirty="0">
                <a:sym typeface="Symbol" panose="05050102010706020507" pitchFamily="18" charset="2"/>
              </a:rPr>
              <a:t></a:t>
            </a:r>
            <a:r>
              <a:rPr lang="en-US" altLang="zh-CN" sz="2800" u="none" dirty="0" err="1">
                <a:sym typeface="Symbol" panose="05050102010706020507" pitchFamily="18" charset="2"/>
              </a:rPr>
              <a:t>xP</a:t>
            </a:r>
            <a:r>
              <a:rPr lang="en-US" altLang="zh-CN" sz="2800" u="none" dirty="0">
                <a:sym typeface="Symbol" panose="05050102010706020507" pitchFamily="18" charset="2"/>
              </a:rPr>
              <a:t>(x), where </a:t>
            </a:r>
            <a:r>
              <a:rPr lang="en-US" altLang="zh-CN" sz="2800" u="none" dirty="0"/>
              <a:t>P(x) is the statement “x</a:t>
            </a:r>
            <a:r>
              <a:rPr lang="en-US" altLang="zh-CN" sz="2800" u="none" baseline="30000" dirty="0"/>
              <a:t>2</a:t>
            </a:r>
            <a:r>
              <a:rPr lang="en-US" altLang="zh-CN" sz="2800" u="none" dirty="0"/>
              <a:t>&gt;10” and </a:t>
            </a:r>
            <a:r>
              <a:rPr lang="en-US" altLang="zh-CN" sz="2800" u="none" dirty="0">
                <a:sym typeface="Symbol" panose="05050102010706020507" pitchFamily="18" charset="2"/>
              </a:rPr>
              <a:t>the universe of discourse consists of the positive integers not exceeding 4?</a:t>
            </a:r>
            <a:endParaRPr lang="en-US" altLang="zh-CN" sz="2800" u="none" dirty="0">
              <a:sym typeface="Symbol" panose="05050102010706020507" pitchFamily="18" charset="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828800" y="372901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u="none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T</a:t>
            </a:r>
            <a:endParaRPr lang="zh-CN" altLang="en-US" sz="2600" u="none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828800" y="458626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u="none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F</a:t>
            </a:r>
            <a:endParaRPr lang="zh-CN" altLang="en-US" sz="2600" u="none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379330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465055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kumimoji="1" lang="zh-CN" altLang="en-US" sz="1600" b="1" i="1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6"/>
            </p:custDataLst>
          </p:nvPr>
        </p:nvSpPr>
        <p:spPr bwMode="auto">
          <a:xfrm>
            <a:off x="6156176" y="576580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1" compatLnSpc="1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1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kumimoji="1" lang="zh-CN" altLang="en-US" sz="1600" b="1" i="1" u="sng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9" name="TitleBackground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20" name="ColorBlock"/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1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</a:endParaRPr>
            </a:p>
          </p:txBody>
        </p:sp>
        <p:sp>
          <p:nvSpPr>
            <p:cNvPr id="21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2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0431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8" name="图片 7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637C47B6-45C6-4208-96ED-00325BD2B31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2E7D312-10FC-4CDF-A25C-183EAACC996A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Unique Existential</a:t>
            </a:r>
            <a:endParaRPr lang="zh-CN" altLang="en-US">
              <a:latin typeface="Times New Roman" panose="02020503050405090304" pitchFamily="18" charset="0"/>
            </a:endParaRPr>
          </a:p>
        </p:txBody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1335" y="1307465"/>
            <a:ext cx="8623300" cy="4580890"/>
          </a:xfrm>
        </p:spPr>
        <p:txBody>
          <a:bodyPr/>
          <a:lstStyle/>
          <a:p>
            <a:pPr eaLnBrk="1" hangingPunct="1"/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 is true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503050405090304" pitchFamily="18" charset="0"/>
              </a:rPr>
              <a:t>for one and only one x</a:t>
            </a:r>
            <a:r>
              <a:rPr lang="en-US" altLang="zh-CN" dirty="0">
                <a:latin typeface="Times New Roman" panose="02020503050405090304" pitchFamily="18" charset="0"/>
              </a:rPr>
              <a:t> in the universe of discourse.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Notation: </a:t>
            </a:r>
            <a:r>
              <a:rPr lang="en-US" altLang="zh-CN" i="1" dirty="0">
                <a:solidFill>
                  <a:schemeClr val="hlink"/>
                </a:solidFill>
                <a:latin typeface="Times New Roman" panose="02020503050405090304" pitchFamily="18" charset="0"/>
              </a:rPr>
              <a:t>unique existential quantifier  </a:t>
            </a:r>
            <a:r>
              <a:rPr lang="en-US" altLang="zh-CN" dirty="0">
                <a:latin typeface="Symbol" panose="05050102010706020507" pitchFamily="18" charset="2"/>
              </a:rPr>
              <a:t>$</a:t>
            </a:r>
            <a:r>
              <a:rPr lang="en-US" altLang="zh-CN" dirty="0">
                <a:latin typeface="Times New Roman" panose="02020503050405090304" pitchFamily="18" charset="0"/>
              </a:rPr>
              <a:t>!</a:t>
            </a:r>
            <a:r>
              <a:rPr lang="en-US" altLang="zh-CN" i="1" dirty="0" err="1">
                <a:latin typeface="Times New Roman" panose="02020503050405090304" pitchFamily="18" charset="0"/>
              </a:rPr>
              <a:t>xP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‘There is a unique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 such that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)’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 ‘There is one and only one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 such that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)’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503050405090304" pitchFamily="18" charset="0"/>
              </a:rPr>
              <a:t> ‘One can find only one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 such that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)’.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4C126E3B-3BB6-409F-B518-317116F9A701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9CD731E3-1AC3-48F9-AE26-1FB03A5D4068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Example U={1, 2, 3}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160" y="1340485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503050405090304" pitchFamily="18" charset="0"/>
              </a:rPr>
              <a:t>Truth Table:</a:t>
            </a:r>
            <a:endParaRPr lang="en-US" altLang="zh-CN" sz="2800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P(1)   P(2)     P(3)   </a:t>
            </a:r>
            <a:r>
              <a:rPr lang="en-US" altLang="zh-CN">
                <a:latin typeface="Symbol" panose="05050102010706020507" pitchFamily="18" charset="2"/>
              </a:rPr>
              <a:t>$</a:t>
            </a:r>
            <a:r>
              <a:rPr lang="en-US" altLang="zh-CN">
                <a:latin typeface="Times New Roman" panose="02020503050405090304" pitchFamily="18" charset="0"/>
              </a:rPr>
              <a:t>!</a:t>
            </a:r>
            <a:r>
              <a:rPr lang="en-US" altLang="zh-CN" i="1">
                <a:latin typeface="Times New Roman" panose="02020503050405090304" pitchFamily="18" charset="0"/>
              </a:rPr>
              <a:t>xP</a:t>
            </a:r>
            <a:r>
              <a:rPr lang="en-US" altLang="zh-CN">
                <a:latin typeface="Times New Roman" panose="02020503050405090304" pitchFamily="18" charset="0"/>
              </a:rPr>
              <a:t>(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0 	0 	0 	0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0 	0 	1 	1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0 	1 	0 	1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0 	1 	1 	0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1 	0 	0 	1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1 	0 	1 	0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1 	1 	0 	0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1 	1 	1 	0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503050405090304" pitchFamily="18" charset="0"/>
              </a:rPr>
              <a:t>How many minterms are in the DNF?</a:t>
            </a:r>
            <a:endParaRPr lang="en-US" altLang="zh-CN"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Uniqueness Quantifier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Examples: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P(x)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denotes  “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+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1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0”  and U is the integers, then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!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true.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But 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P(x)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denotes  “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&gt;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0,”  then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!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false.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uniqueness quantifier is not really needed as the restriction that there is a unique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such that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can be expressed as: 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                              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P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</a:t>
            </a:r>
            <a:r>
              <a:rPr lang="en-US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∧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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y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P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y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</a:t>
            </a:r>
            <a:r>
              <a:rPr lang="en-US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→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y </a:t>
            </a:r>
            <a:r>
              <a:rPr lang="en-US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=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))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410" y="188595"/>
            <a:ext cx="8310880" cy="913765"/>
          </a:xfrm>
        </p:spPr>
        <p:txBody>
          <a:bodyPr/>
          <a:lstStyle/>
          <a:p>
            <a:r>
              <a:rPr lang="en-US" sz="4000" dirty="0"/>
              <a:t>Thinking about Quantifiers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05" y="1268730"/>
            <a:ext cx="8961755" cy="5246370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When the  domain of discourse is finite, we can think of quantification as looping through the elements of the domain.</a:t>
            </a:r>
            <a:endParaRPr lang="en-US" sz="112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To evaluate </a:t>
            </a:r>
            <a:r>
              <a:rPr lang="en-US" sz="112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sz="112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loop through all </a:t>
            </a:r>
            <a:r>
              <a:rPr lang="en-US" sz="112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in the domain. </a:t>
            </a:r>
            <a:endParaRPr lang="en-US" sz="112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/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If at every step P(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true, then 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true. </a:t>
            </a:r>
            <a:endParaRPr lang="en-US" sz="96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/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If at a step P(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false, then 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false and the loop terminates. </a:t>
            </a:r>
            <a:endParaRPr lang="en-US" sz="96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To evaluate </a:t>
            </a:r>
            <a:r>
              <a:rPr lang="en-US" sz="112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sz="112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loop through all </a:t>
            </a:r>
            <a:r>
              <a:rPr lang="en-US" sz="112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in the domain. </a:t>
            </a:r>
            <a:endParaRPr lang="en-US" sz="112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/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If  at some step, P(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true, then 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true and the loop terminates. </a:t>
            </a:r>
            <a:endParaRPr lang="en-US" sz="96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/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If the loop ends without finding an 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for which P(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true, then 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 P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(</a:t>
            </a:r>
            <a:r>
              <a:rPr lang="en-US" sz="9600" i="1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x</a:t>
            </a:r>
            <a:r>
              <a:rPr lang="en-US" sz="96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) is false.</a:t>
            </a:r>
            <a:endParaRPr lang="en-US" sz="96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112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Even if the domains are infinite, we can still think of the quantifiers this fashion, but the loops will not terminate in some cases.</a:t>
            </a:r>
            <a:endParaRPr lang="en-US" sz="112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endParaRPr lang="en-US" sz="3600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Properties of Quantifiers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9085" y="1238885"/>
            <a:ext cx="8803005" cy="5064760"/>
          </a:xfrm>
        </p:spPr>
        <p:txBody>
          <a:bodyPr/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truth value of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x P(x)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and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 x P(x)  </a:t>
            </a:r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depend on both the propositional function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P(x) </a:t>
            </a:r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and on  the domain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U</a:t>
            </a:r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. </a:t>
            </a:r>
            <a:endParaRPr lang="en-US" sz="2800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2800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Examples</a:t>
            </a:r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:</a:t>
            </a:r>
            <a:endParaRPr lang="en-US" sz="2800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the  positive integers and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P(x)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the statement           “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&lt;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2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”, then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x P(x)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is true, but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 x P(x) 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is false. </a:t>
            </a:r>
            <a:endParaRPr lang="en-US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the negative integers and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P(x)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the statement           “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&lt;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2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”, then both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x P(x)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and 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 x P(x) 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are true. </a:t>
            </a:r>
            <a:endParaRPr lang="en-US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consists of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3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4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and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5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 and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P(x)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the statement           “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&gt;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2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”, then  both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x P(x)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and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 x P(x) 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are true. But 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P(x)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the statement “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&lt;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2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”, then  both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x P(x)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and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 x P(x)  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are false.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Precedence of Quantifiers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385" y="1398270"/>
            <a:ext cx="8476615" cy="4734560"/>
          </a:xfrm>
        </p:spPr>
        <p:txBody>
          <a:bodyPr/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quantifiers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 and   have higher precedence than all the logical operators.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For example,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x P(x)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 charset="0"/>
              </a:rPr>
              <a:t>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Q(x) 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means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(x P(x))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 charset="0"/>
              </a:rPr>
              <a:t>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Q(x)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 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x (P(x)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 charset="0"/>
              </a:rPr>
              <a:t>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Q(x)) </a:t>
            </a:r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means something different.</a:t>
            </a:r>
            <a:endParaRPr lang="en-US" sz="2800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Unfortunately, often people write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x P(x)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 charset="0"/>
              </a:rPr>
              <a:t>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Q(x)  </a:t>
            </a:r>
            <a:r>
              <a:rPr lang="en-US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when they mean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 x (P(x)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 charset="0"/>
              </a:rPr>
              <a:t>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</a:t>
            </a:r>
            <a:r>
              <a:rPr lang="en-US" sz="28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Q(x)).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D21AD557-FAEB-4262-A23A-78405FDB83B8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535DB58-F1A4-400F-AE12-1A12F8488DF1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REMEMBER!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A predicate is not a proposition until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</a:rPr>
              <a:t>all</a:t>
            </a:r>
            <a:r>
              <a:rPr lang="en-US" altLang="zh-CN" i="1">
                <a:latin typeface="Times New Roman" panose="02020503050405090304" pitchFamily="18" charset="0"/>
              </a:rPr>
              <a:t> </a:t>
            </a:r>
            <a:r>
              <a:rPr lang="en-US" altLang="zh-CN">
                <a:latin typeface="Times New Roman" panose="02020503050405090304" pitchFamily="18" charset="0"/>
              </a:rPr>
              <a:t>variables have been bound either by quantification or assignment of a value!</a:t>
            </a: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2CCEFB30-9AD5-4838-8CD3-DC67BFD2A2ED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A20479F8-ACEF-4881-9E6F-108FB8EC7E57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Free and Bound Variables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5330" y="1308100"/>
            <a:ext cx="8224520" cy="458025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An expression like </a:t>
            </a: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) is said to have a </a:t>
            </a:r>
            <a:r>
              <a:rPr lang="en-US" altLang="zh-CN" i="1">
                <a:latin typeface="Times New Roman" panose="02020503050405090304" pitchFamily="18" charset="0"/>
              </a:rPr>
              <a:t>free variable</a:t>
            </a:r>
            <a:r>
              <a:rPr lang="en-US" altLang="zh-CN">
                <a:latin typeface="Times New Roman" panose="02020503050405090304" pitchFamily="18" charset="0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x </a:t>
            </a:r>
            <a:r>
              <a:rPr lang="en-US" altLang="zh-CN">
                <a:latin typeface="Times New Roman" panose="02020503050405090304" pitchFamily="18" charset="0"/>
              </a:rPr>
              <a:t>(meaning,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is undefined).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</a:rPr>
              <a:t>A quantifier (either 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</a:rPr>
              <a:t> or 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) 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operates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on an expression having one or more free variables, and 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binds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one or more of those variables, to produce an expression having one or more 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bound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variables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solidFill>
                <a:schemeClr val="tx2"/>
              </a:solidFill>
              <a:latin typeface="Times New Roman" panose="02020503050405090304" pitchFamily="18" charset="0"/>
            </a:endParaRPr>
          </a:p>
        </p:txBody>
      </p:sp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C2CE5C9B-F09E-42F0-B5DC-CFF74CC49DC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DB907655-5D86-47E7-A414-AE25DEDFF72A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Example of Binding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2960" y="1322070"/>
            <a:ext cx="8136890" cy="463740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i="1">
                <a:latin typeface="Times New Roman" panose="02020503050405090304" pitchFamily="18" charset="0"/>
              </a:rPr>
              <a:t>P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 has 2 free variables,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and 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) has 1 free variable, and one bound variable.  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[Which is which?]</a:t>
            </a:r>
            <a:endParaRPr lang="en-US" altLang="zh-CN">
              <a:solidFill>
                <a:schemeClr val="hlink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An expression with </a:t>
            </a:r>
            <a:r>
              <a:rPr lang="en-US" altLang="zh-CN" u="sng">
                <a:latin typeface="Times New Roman" panose="02020503050405090304" pitchFamily="18" charset="0"/>
                <a:sym typeface="Symbol" panose="05050102010706020507" pitchFamily="18" charset="2"/>
              </a:rPr>
              <a:t>zero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free variables is a bona-fide (actual) proposition.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An expression with </a:t>
            </a:r>
            <a:r>
              <a:rPr lang="en-US" altLang="zh-CN" u="sng">
                <a:latin typeface="Times New Roman" panose="02020503050405090304" pitchFamily="18" charset="0"/>
                <a:sym typeface="Symbol" panose="05050102010706020507" pitchFamily="18" charset="2"/>
              </a:rPr>
              <a:t>one or more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free variables is similar to a predicate: </a:t>
            </a:r>
            <a:b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e.g.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let 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Q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 = 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Adore(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solidFill>
                  <a:schemeClr val="hlink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solidFill>
                <a:schemeClr val="hlink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  <p:sp>
        <p:nvSpPr>
          <p:cNvPr id="920580" name="WordArt 4"/>
          <p:cNvSpPr>
            <a:spLocks noChangeArrowheads="1" noChangeShapeType="1" noTextEdit="1"/>
          </p:cNvSpPr>
          <p:nvPr/>
        </p:nvSpPr>
        <p:spPr bwMode="auto">
          <a:xfrm>
            <a:off x="4571683" y="1772920"/>
            <a:ext cx="457200" cy="609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100000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>
              <a:defRPr/>
            </a:pPr>
            <a:r>
              <a:rPr lang="en-US" altLang="zh-CN" sz="3600" kern="10" dirty="0">
                <a:ln w="9525">
                  <a:rou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/>
              </a:rPr>
              <a:t>y</a:t>
            </a:r>
            <a:endParaRPr lang="zh-CN" altLang="en-US" sz="3600" kern="10" dirty="0">
              <a:ln w="9525">
                <a:round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Impact" panose="020B0806030902050204"/>
            </a:endParaRPr>
          </a:p>
        </p:txBody>
      </p:sp>
      <p:sp>
        <p:nvSpPr>
          <p:cNvPr id="920581" name="WordArt 5"/>
          <p:cNvSpPr>
            <a:spLocks noChangeArrowheads="1" noChangeShapeType="1" noTextEdit="1"/>
          </p:cNvSpPr>
          <p:nvPr/>
        </p:nvSpPr>
        <p:spPr bwMode="auto">
          <a:xfrm>
            <a:off x="7620000" y="1772920"/>
            <a:ext cx="457200" cy="609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100000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>
              <a:defRPr/>
            </a:pPr>
            <a:r>
              <a:rPr lang="en-US" altLang="zh-CN" sz="3600" kern="10" dirty="0">
                <a:ln w="9525">
                  <a:rou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 panose="020B0806030902050204"/>
              </a:rPr>
              <a:t>x</a:t>
            </a:r>
            <a:endParaRPr lang="zh-CN" altLang="en-US" sz="3600" kern="10" dirty="0">
              <a:ln w="9525">
                <a:round/>
              </a:ln>
              <a:gradFill rotWithShape="0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latin typeface="Impact" panose="020B0806030902050204"/>
            </a:endParaRPr>
          </a:p>
        </p:txBody>
      </p:sp>
      <p:sp>
        <p:nvSpPr>
          <p:cNvPr id="27657" name="Text Box 6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0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0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20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0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7E77376B-AFAB-4C81-8495-5716AE5F9C4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D373DC59-09AF-42AF-97FD-0239658B1EFC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Nesting of Quantifiers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1035" y="1265555"/>
            <a:ext cx="8467725" cy="4622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Example: Let the u.d. of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and 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 be people.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Let </a:t>
            </a:r>
            <a:r>
              <a:rPr lang="en-US" altLang="zh-CN" i="1">
                <a:latin typeface="Times New Roman" panose="02020503050405090304" pitchFamily="18" charset="0"/>
              </a:rPr>
              <a:t>L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,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)=“</a:t>
            </a:r>
            <a:r>
              <a:rPr lang="en-US" altLang="zh-CN" i="1">
                <a:latin typeface="Times New Roman" panose="02020503050405090304" pitchFamily="18" charset="0"/>
              </a:rPr>
              <a:t>x </a:t>
            </a:r>
            <a:r>
              <a:rPr lang="en-US" altLang="zh-CN">
                <a:latin typeface="Times New Roman" panose="02020503050405090304" pitchFamily="18" charset="0"/>
              </a:rPr>
              <a:t>likes 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”</a:t>
            </a:r>
            <a:endParaRPr lang="en-US" altLang="zh-CN">
              <a:solidFill>
                <a:schemeClr val="accent2"/>
              </a:solidFill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Then 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503050405090304" pitchFamily="18" charset="0"/>
              </a:rPr>
              <a:t>y L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 = “There is someone whom 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likes.”</a:t>
            </a:r>
            <a:endParaRPr lang="en-US" altLang="zh-CN">
              <a:solidFill>
                <a:schemeClr val="accent2"/>
              </a:solidFill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Then 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(</a:t>
            </a:r>
            <a:r>
              <a:rPr lang="en-US" altLang="zh-CN" i="1">
                <a:latin typeface="Times New Roman" panose="02020503050405090304" pitchFamily="18" charset="0"/>
              </a:rPr>
              <a:t>y L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)) =</a:t>
            </a:r>
            <a:br>
              <a:rPr lang="en-US" altLang="zh-CN">
                <a:latin typeface="Times New Roman" panose="02020503050405090304" pitchFamily="18" charset="0"/>
              </a:rPr>
            </a:br>
            <a:r>
              <a:rPr lang="en-US" altLang="zh-CN">
                <a:latin typeface="Times New Roman" panose="02020503050405090304" pitchFamily="18" charset="0"/>
              </a:rPr>
              <a:t> “Everyone has someone whom they like.”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zh-CN">
                <a:latin typeface="Times New Roman" panose="02020503050405090304" pitchFamily="18" charset="0"/>
              </a:rPr>
              <a:t>(a real proposition; no free variables left)</a:t>
            </a:r>
            <a:endParaRPr lang="en-US" altLang="zh-CN">
              <a:solidFill>
                <a:schemeClr val="accent2"/>
              </a:solidFill>
              <a:latin typeface="Times New Roman" panose="02020503050405090304" pitchFamily="18" charset="0"/>
            </a:endParaRPr>
          </a:p>
        </p:txBody>
      </p:sp>
      <p:sp>
        <p:nvSpPr>
          <p:cNvPr id="28679" name="Text Box 4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CDEBE395-01A6-4494-8C2C-F37D0F651E9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898690AB-9AED-4297-907B-4E4674908BB1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More to Know About Binding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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 P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-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is not a free variable in </a:t>
            </a:r>
            <a:b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 P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), therefore the 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binding </a:t>
            </a:r>
            <a:r>
              <a:rPr lang="en-US" altLang="zh-CN" u="sng">
                <a:latin typeface="Times New Roman" panose="02020503050405090304" pitchFamily="18" charset="0"/>
                <a:sym typeface="Symbol" panose="05050102010706020507" pitchFamily="18" charset="2"/>
              </a:rPr>
              <a:t>isn’t used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.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600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600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 Q(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- The variable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is outside of the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scope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of the 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 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quantifier, and is therefore free.  Not a complete proposition!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600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600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3600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 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Q(</a:t>
            </a:r>
            <a:r>
              <a:rPr lang="en-US" altLang="zh-CN" i="1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600">
                <a:solidFill>
                  <a:schemeClr val="tx2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3600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– A complete proposition, and no superfluous quantifiers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  <p:sp>
        <p:nvSpPr>
          <p:cNvPr id="935940" name="Freeform 4"/>
          <p:cNvSpPr/>
          <p:nvPr/>
        </p:nvSpPr>
        <p:spPr bwMode="auto">
          <a:xfrm>
            <a:off x="2123440" y="1052830"/>
            <a:ext cx="698500" cy="355600"/>
          </a:xfrm>
          <a:custGeom>
            <a:avLst/>
            <a:gdLst>
              <a:gd name="T0" fmla="*/ 0 w 440"/>
              <a:gd name="T1" fmla="*/ 2147483647 h 224"/>
              <a:gd name="T2" fmla="*/ 2147483647 w 440"/>
              <a:gd name="T3" fmla="*/ 2147483647 h 224"/>
              <a:gd name="T4" fmla="*/ 2147483647 w 440"/>
              <a:gd name="T5" fmla="*/ 2147483647 h 224"/>
              <a:gd name="T6" fmla="*/ 2147483647 w 440"/>
              <a:gd name="T7" fmla="*/ 2147483647 h 224"/>
              <a:gd name="T8" fmla="*/ 0 60000 65536"/>
              <a:gd name="T9" fmla="*/ 0 60000 65536"/>
              <a:gd name="T10" fmla="*/ 0 60000 65536"/>
              <a:gd name="T11" fmla="*/ 0 60000 65536"/>
              <a:gd name="T12" fmla="*/ 0 w 440"/>
              <a:gd name="T13" fmla="*/ 0 h 224"/>
              <a:gd name="T14" fmla="*/ 440 w 440"/>
              <a:gd name="T15" fmla="*/ 224 h 2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0" h="224">
                <a:moveTo>
                  <a:pt x="0" y="224"/>
                </a:moveTo>
                <a:cubicBezTo>
                  <a:pt x="16" y="144"/>
                  <a:pt x="32" y="64"/>
                  <a:pt x="96" y="32"/>
                </a:cubicBezTo>
                <a:cubicBezTo>
                  <a:pt x="160" y="0"/>
                  <a:pt x="328" y="0"/>
                  <a:pt x="384" y="32"/>
                </a:cubicBezTo>
                <a:cubicBezTo>
                  <a:pt x="440" y="64"/>
                  <a:pt x="436" y="144"/>
                  <a:pt x="432" y="224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5941" name="Freeform 5"/>
          <p:cNvSpPr/>
          <p:nvPr/>
        </p:nvSpPr>
        <p:spPr bwMode="auto">
          <a:xfrm>
            <a:off x="1763078" y="2204720"/>
            <a:ext cx="698500" cy="355600"/>
          </a:xfrm>
          <a:custGeom>
            <a:avLst/>
            <a:gdLst>
              <a:gd name="T0" fmla="*/ 0 w 440"/>
              <a:gd name="T1" fmla="*/ 2147483647 h 224"/>
              <a:gd name="T2" fmla="*/ 2147483647 w 440"/>
              <a:gd name="T3" fmla="*/ 2147483647 h 224"/>
              <a:gd name="T4" fmla="*/ 2147483647 w 440"/>
              <a:gd name="T5" fmla="*/ 2147483647 h 224"/>
              <a:gd name="T6" fmla="*/ 2147483647 w 440"/>
              <a:gd name="T7" fmla="*/ 2147483647 h 224"/>
              <a:gd name="T8" fmla="*/ 0 60000 65536"/>
              <a:gd name="T9" fmla="*/ 0 60000 65536"/>
              <a:gd name="T10" fmla="*/ 0 60000 65536"/>
              <a:gd name="T11" fmla="*/ 0 60000 65536"/>
              <a:gd name="T12" fmla="*/ 0 w 440"/>
              <a:gd name="T13" fmla="*/ 0 h 224"/>
              <a:gd name="T14" fmla="*/ 440 w 440"/>
              <a:gd name="T15" fmla="*/ 224 h 2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0" h="224">
                <a:moveTo>
                  <a:pt x="0" y="224"/>
                </a:moveTo>
                <a:cubicBezTo>
                  <a:pt x="16" y="144"/>
                  <a:pt x="32" y="64"/>
                  <a:pt x="96" y="32"/>
                </a:cubicBezTo>
                <a:cubicBezTo>
                  <a:pt x="160" y="0"/>
                  <a:pt x="328" y="0"/>
                  <a:pt x="384" y="32"/>
                </a:cubicBezTo>
                <a:cubicBezTo>
                  <a:pt x="440" y="64"/>
                  <a:pt x="436" y="144"/>
                  <a:pt x="432" y="224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5942" name="Freeform 6"/>
          <p:cNvSpPr/>
          <p:nvPr/>
        </p:nvSpPr>
        <p:spPr bwMode="auto">
          <a:xfrm>
            <a:off x="1763395" y="3789045"/>
            <a:ext cx="698500" cy="355600"/>
          </a:xfrm>
          <a:custGeom>
            <a:avLst/>
            <a:gdLst>
              <a:gd name="T0" fmla="*/ 0 w 440"/>
              <a:gd name="T1" fmla="*/ 2147483647 h 224"/>
              <a:gd name="T2" fmla="*/ 2147483647 w 440"/>
              <a:gd name="T3" fmla="*/ 2147483647 h 224"/>
              <a:gd name="T4" fmla="*/ 2147483647 w 440"/>
              <a:gd name="T5" fmla="*/ 2147483647 h 224"/>
              <a:gd name="T6" fmla="*/ 2147483647 w 440"/>
              <a:gd name="T7" fmla="*/ 2147483647 h 224"/>
              <a:gd name="T8" fmla="*/ 0 60000 65536"/>
              <a:gd name="T9" fmla="*/ 0 60000 65536"/>
              <a:gd name="T10" fmla="*/ 0 60000 65536"/>
              <a:gd name="T11" fmla="*/ 0 60000 65536"/>
              <a:gd name="T12" fmla="*/ 0 w 440"/>
              <a:gd name="T13" fmla="*/ 0 h 224"/>
              <a:gd name="T14" fmla="*/ 440 w 440"/>
              <a:gd name="T15" fmla="*/ 224 h 2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0" h="224">
                <a:moveTo>
                  <a:pt x="0" y="224"/>
                </a:moveTo>
                <a:cubicBezTo>
                  <a:pt x="16" y="144"/>
                  <a:pt x="32" y="64"/>
                  <a:pt x="96" y="32"/>
                </a:cubicBezTo>
                <a:cubicBezTo>
                  <a:pt x="160" y="0"/>
                  <a:pt x="328" y="0"/>
                  <a:pt x="384" y="32"/>
                </a:cubicBezTo>
                <a:cubicBezTo>
                  <a:pt x="440" y="64"/>
                  <a:pt x="436" y="144"/>
                  <a:pt x="432" y="224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5943" name="Freeform 7"/>
          <p:cNvSpPr/>
          <p:nvPr/>
        </p:nvSpPr>
        <p:spPr bwMode="auto">
          <a:xfrm>
            <a:off x="3779203" y="3789045"/>
            <a:ext cx="698500" cy="355600"/>
          </a:xfrm>
          <a:custGeom>
            <a:avLst/>
            <a:gdLst>
              <a:gd name="T0" fmla="*/ 0 w 440"/>
              <a:gd name="T1" fmla="*/ 2147483647 h 224"/>
              <a:gd name="T2" fmla="*/ 2147483647 w 440"/>
              <a:gd name="T3" fmla="*/ 2147483647 h 224"/>
              <a:gd name="T4" fmla="*/ 2147483647 w 440"/>
              <a:gd name="T5" fmla="*/ 2147483647 h 224"/>
              <a:gd name="T6" fmla="*/ 2147483647 w 440"/>
              <a:gd name="T7" fmla="*/ 2147483647 h 224"/>
              <a:gd name="T8" fmla="*/ 0 60000 65536"/>
              <a:gd name="T9" fmla="*/ 0 60000 65536"/>
              <a:gd name="T10" fmla="*/ 0 60000 65536"/>
              <a:gd name="T11" fmla="*/ 0 60000 65536"/>
              <a:gd name="T12" fmla="*/ 0 w 440"/>
              <a:gd name="T13" fmla="*/ 0 h 224"/>
              <a:gd name="T14" fmla="*/ 440 w 440"/>
              <a:gd name="T15" fmla="*/ 224 h 2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0" h="224">
                <a:moveTo>
                  <a:pt x="0" y="224"/>
                </a:moveTo>
                <a:cubicBezTo>
                  <a:pt x="16" y="144"/>
                  <a:pt x="32" y="64"/>
                  <a:pt x="96" y="32"/>
                </a:cubicBezTo>
                <a:cubicBezTo>
                  <a:pt x="160" y="0"/>
                  <a:pt x="328" y="0"/>
                  <a:pt x="384" y="32"/>
                </a:cubicBezTo>
                <a:cubicBezTo>
                  <a:pt x="440" y="64"/>
                  <a:pt x="436" y="144"/>
                  <a:pt x="432" y="224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7" name="Text Box 8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5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5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5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5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5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5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5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2277D9CB-CE44-4279-B509-EE64BE466000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096720F1-AAD4-4C69-BAD5-5ECFF4D39224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Review: Predicate Logic (§1.3)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40168"/>
            <a:ext cx="77724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solidFill>
                  <a:srgbClr val="006600"/>
                </a:solidFill>
                <a:latin typeface="Times New Roman" panose="02020503050405090304" pitchFamily="18" charset="0"/>
              </a:rPr>
              <a:t>Predicates or different arity (one-place, two place, etc.)</a:t>
            </a:r>
            <a:endParaRPr lang="en-US" altLang="zh-CN">
              <a:solidFill>
                <a:srgbClr val="006600"/>
              </a:solidFill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Quantifiers: [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)] :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 pitchFamily="18" charset="2"/>
              </a:rPr>
              <a:t>≡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“For all 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’s, 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).” </a:t>
            </a:r>
            <a:b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</a:b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[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 P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)] :≡ “There is an 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 such that 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).”</a:t>
            </a:r>
            <a:endParaRPr lang="en-US" altLang="zh-CN">
              <a:solidFill>
                <a:srgbClr val="FF0000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660066"/>
                </a:solidFill>
                <a:latin typeface="Times New Roman" panose="02020503050405090304" pitchFamily="18" charset="0"/>
                <a:sym typeface="Symbol" panose="05050102010706020507" pitchFamily="18" charset="2"/>
              </a:rPr>
              <a:t>Universes of discourse, bound &amp; free vars.</a:t>
            </a:r>
            <a:endParaRPr lang="en-US" altLang="zh-CN">
              <a:solidFill>
                <a:srgbClr val="660066"/>
              </a:solidFill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2858B684-DCEC-4EBB-BFA6-873A38D799B3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FF942EA8-F456-4310-8AAA-6A806CAD5FF1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Quantifier Exercise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</a:rPr>
              <a:t>If </a:t>
            </a:r>
            <a:r>
              <a:rPr lang="en-US" altLang="zh-CN" i="1">
                <a:latin typeface="Times New Roman" panose="02020503050405090304" pitchFamily="18" charset="0"/>
              </a:rPr>
              <a:t>R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,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)=“</a:t>
            </a:r>
            <a:r>
              <a:rPr lang="en-US" altLang="zh-CN" i="1">
                <a:latin typeface="Times New Roman" panose="02020503050405090304" pitchFamily="18" charset="0"/>
              </a:rPr>
              <a:t>x</a:t>
            </a:r>
            <a:r>
              <a:rPr lang="en-US" altLang="zh-CN">
                <a:latin typeface="Times New Roman" panose="02020503050405090304" pitchFamily="18" charset="0"/>
              </a:rPr>
              <a:t> relies upon 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</a:rPr>
              <a:t>,” express the following in unambiguous English: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(</a:t>
            </a:r>
            <a:r>
              <a:rPr lang="en-US" altLang="zh-CN" i="1">
                <a:latin typeface="Times New Roman" panose="02020503050405090304" pitchFamily="18" charset="0"/>
              </a:rPr>
              <a:t>y R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))=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503050405090304" pitchFamily="18" charset="0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latin typeface="Times New Roman" panose="02020503050405090304" pitchFamily="18" charset="0"/>
              </a:rPr>
              <a:t>R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))=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(</a:t>
            </a:r>
            <a:r>
              <a:rPr lang="en-US" altLang="zh-CN" i="1">
                <a:latin typeface="Times New Roman" panose="02020503050405090304" pitchFamily="18" charset="0"/>
              </a:rPr>
              <a:t>y R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))=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(</a:t>
            </a:r>
            <a:r>
              <a:rPr lang="en-US" altLang="zh-CN" i="1">
                <a:latin typeface="Times New Roman" panose="02020503050405090304" pitchFamily="18" charset="0"/>
              </a:rPr>
              <a:t>x R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))=</a:t>
            </a:r>
            <a:endParaRPr lang="en-US" altLang="zh-CN">
              <a:latin typeface="Times New Roman" panose="02020503050405090304" pitchFamily="18" charset="0"/>
            </a:endParaRPr>
          </a:p>
          <a:p>
            <a:pPr eaLnBrk="1" hangingPunct="1">
              <a:lnSpc>
                <a:spcPct val="135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 i="1">
                <a:latin typeface="Times New Roman" panose="02020503050405090304" pitchFamily="18" charset="0"/>
              </a:rPr>
              <a:t> R</a:t>
            </a:r>
            <a:r>
              <a:rPr lang="en-US" altLang="zh-CN">
                <a:latin typeface="Times New Roman" panose="02020503050405090304" pitchFamily="18" charset="0"/>
              </a:rPr>
              <a:t>(</a:t>
            </a:r>
            <a:r>
              <a:rPr lang="en-US" altLang="zh-CN" i="1">
                <a:latin typeface="Times New Roman" panose="02020503050405090304" pitchFamily="18" charset="0"/>
              </a:rPr>
              <a:t>x,y</a:t>
            </a:r>
            <a:r>
              <a:rPr lang="en-US" altLang="zh-CN">
                <a:latin typeface="Times New Roman" panose="02020503050405090304" pitchFamily="18" charset="0"/>
              </a:rPr>
              <a:t>))=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940036" name="Text Box 4"/>
          <p:cNvSpPr txBox="1">
            <a:spLocks noChangeArrowheads="1"/>
          </p:cNvSpPr>
          <p:nvPr/>
        </p:nvSpPr>
        <p:spPr bwMode="auto">
          <a:xfrm>
            <a:off x="3563811" y="2277427"/>
            <a:ext cx="4648200" cy="495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0" i="0" u="none" dirty="0">
                <a:solidFill>
                  <a:schemeClr val="hlink"/>
                </a:solidFill>
              </a:rPr>
              <a:t>Everyone has </a:t>
            </a:r>
            <a:r>
              <a:rPr kumimoji="0" lang="en-US" altLang="zh-CN" b="0" u="none" dirty="0">
                <a:solidFill>
                  <a:schemeClr val="hlink"/>
                </a:solidFill>
              </a:rPr>
              <a:t>someone</a:t>
            </a:r>
            <a:r>
              <a:rPr kumimoji="0" lang="en-US" altLang="zh-CN" b="0" i="0" u="none" dirty="0">
                <a:solidFill>
                  <a:schemeClr val="hlink"/>
                </a:solidFill>
              </a:rPr>
              <a:t> to rely on.</a:t>
            </a:r>
            <a:endParaRPr kumimoji="0" lang="en-US" altLang="zh-CN" b="0" i="0" u="none" dirty="0">
              <a:solidFill>
                <a:schemeClr val="hlink"/>
              </a:solidFill>
            </a:endParaRPr>
          </a:p>
        </p:txBody>
      </p:sp>
      <p:sp>
        <p:nvSpPr>
          <p:cNvPr id="940037" name="Text Box 5"/>
          <p:cNvSpPr txBox="1">
            <a:spLocks noChangeArrowheads="1"/>
          </p:cNvSpPr>
          <p:nvPr/>
        </p:nvSpPr>
        <p:spPr bwMode="auto">
          <a:xfrm>
            <a:off x="3563811" y="2839720"/>
            <a:ext cx="5298567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0" i="0" u="none">
                <a:solidFill>
                  <a:schemeClr val="hlink"/>
                </a:solidFill>
              </a:rPr>
              <a:t>There’s a poor overburdened soul whom </a:t>
            </a:r>
            <a:r>
              <a:rPr kumimoji="0" lang="en-US" altLang="zh-CN" b="0" u="none">
                <a:solidFill>
                  <a:schemeClr val="hlink"/>
                </a:solidFill>
              </a:rPr>
              <a:t>everyone</a:t>
            </a:r>
            <a:r>
              <a:rPr kumimoji="0" lang="en-US" altLang="zh-CN" b="0" i="0" u="none">
                <a:solidFill>
                  <a:schemeClr val="hlink"/>
                </a:solidFill>
              </a:rPr>
              <a:t> relies upon (including himself)!</a:t>
            </a:r>
            <a:endParaRPr kumimoji="0" lang="en-US" altLang="zh-CN" b="0" i="0" u="none">
              <a:solidFill>
                <a:schemeClr val="hlink"/>
              </a:solidFill>
            </a:endParaRPr>
          </a:p>
        </p:txBody>
      </p:sp>
      <p:sp>
        <p:nvSpPr>
          <p:cNvPr id="940038" name="Text Box 6"/>
          <p:cNvSpPr txBox="1">
            <a:spLocks noChangeArrowheads="1"/>
          </p:cNvSpPr>
          <p:nvPr/>
        </p:nvSpPr>
        <p:spPr bwMode="auto">
          <a:xfrm>
            <a:off x="3604851" y="3700233"/>
            <a:ext cx="5257800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0" i="0" u="none">
                <a:solidFill>
                  <a:schemeClr val="hlink"/>
                </a:solidFill>
              </a:rPr>
              <a:t>There’s some needy person who relies upon </a:t>
            </a:r>
            <a:r>
              <a:rPr kumimoji="0" lang="en-US" altLang="zh-CN" b="0" u="none">
                <a:solidFill>
                  <a:schemeClr val="hlink"/>
                </a:solidFill>
              </a:rPr>
              <a:t>everybody</a:t>
            </a:r>
            <a:r>
              <a:rPr kumimoji="0" lang="en-US" altLang="zh-CN" b="0" i="0" u="none">
                <a:solidFill>
                  <a:schemeClr val="hlink"/>
                </a:solidFill>
              </a:rPr>
              <a:t> (including himself).</a:t>
            </a:r>
            <a:endParaRPr kumimoji="0" lang="en-US" altLang="zh-CN" b="0" i="0" u="none">
              <a:solidFill>
                <a:schemeClr val="hlink"/>
              </a:solidFill>
            </a:endParaRPr>
          </a:p>
        </p:txBody>
      </p:sp>
      <p:sp>
        <p:nvSpPr>
          <p:cNvPr id="940039" name="Text Box 7"/>
          <p:cNvSpPr txBox="1">
            <a:spLocks noChangeArrowheads="1"/>
          </p:cNvSpPr>
          <p:nvPr/>
        </p:nvSpPr>
        <p:spPr bwMode="auto">
          <a:xfrm>
            <a:off x="3491880" y="4580860"/>
            <a:ext cx="5769966" cy="46166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0" i="0" u="none" dirty="0">
                <a:solidFill>
                  <a:schemeClr val="hlink"/>
                </a:solidFill>
              </a:rPr>
              <a:t>Everyone has </a:t>
            </a:r>
            <a:r>
              <a:rPr kumimoji="0" lang="en-US" altLang="zh-CN" b="0" u="none" dirty="0">
                <a:solidFill>
                  <a:schemeClr val="hlink"/>
                </a:solidFill>
              </a:rPr>
              <a:t>someone</a:t>
            </a:r>
            <a:r>
              <a:rPr kumimoji="0" lang="en-US" altLang="zh-CN" b="0" i="0" u="none" dirty="0">
                <a:solidFill>
                  <a:schemeClr val="hlink"/>
                </a:solidFill>
              </a:rPr>
              <a:t> who relies upon them.</a:t>
            </a:r>
            <a:endParaRPr kumimoji="0" lang="en-US" altLang="zh-CN" b="0" i="0" u="none" dirty="0">
              <a:solidFill>
                <a:schemeClr val="hlink"/>
              </a:solidFill>
            </a:endParaRPr>
          </a:p>
        </p:txBody>
      </p:sp>
      <p:sp>
        <p:nvSpPr>
          <p:cNvPr id="940040" name="Text Box 8"/>
          <p:cNvSpPr txBox="1">
            <a:spLocks noChangeArrowheads="1"/>
          </p:cNvSpPr>
          <p:nvPr/>
        </p:nvSpPr>
        <p:spPr bwMode="auto">
          <a:xfrm>
            <a:off x="3563303" y="5157152"/>
            <a:ext cx="5105400" cy="86042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miter lim="800000"/>
          </a:ln>
        </p:spPr>
        <p:txBody>
          <a:bodyPr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0" u="none">
                <a:solidFill>
                  <a:schemeClr val="hlink"/>
                </a:solidFill>
              </a:rPr>
              <a:t>Everyone</a:t>
            </a:r>
            <a:r>
              <a:rPr kumimoji="0" lang="en-US" altLang="zh-CN" b="0" i="0" u="none">
                <a:solidFill>
                  <a:schemeClr val="hlink"/>
                </a:solidFill>
              </a:rPr>
              <a:t> relies upon </a:t>
            </a:r>
            <a:r>
              <a:rPr kumimoji="0" lang="en-US" altLang="zh-CN" b="0" u="none">
                <a:solidFill>
                  <a:schemeClr val="hlink"/>
                </a:solidFill>
              </a:rPr>
              <a:t>everybody</a:t>
            </a:r>
            <a:r>
              <a:rPr kumimoji="0" lang="en-US" altLang="zh-CN" b="0" i="0" u="none">
                <a:solidFill>
                  <a:schemeClr val="hlink"/>
                </a:solidFill>
              </a:rPr>
              <a:t>, (including themselves)!</a:t>
            </a:r>
            <a:endParaRPr kumimoji="0" lang="en-US" altLang="zh-CN" b="0" i="0" u="none">
              <a:solidFill>
                <a:schemeClr val="hlink"/>
              </a:solidFill>
            </a:endParaRPr>
          </a:p>
        </p:txBody>
      </p:sp>
      <p:sp>
        <p:nvSpPr>
          <p:cNvPr id="31756" name="Text Box 9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0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0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0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0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0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0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36" grpId="0" bldLvl="0" animBg="1" autoUpdateAnimBg="0"/>
      <p:bldP spid="940037" grpId="0" bldLvl="0" animBg="1" autoUpdateAnimBg="0"/>
      <p:bldP spid="940038" grpId="0" bldLvl="0" animBg="1" autoUpdateAnimBg="0"/>
      <p:bldP spid="940039" grpId="0" bldLvl="0" animBg="1" autoUpdateAnimBg="0"/>
      <p:bldP spid="940040" grpId="0" bldLvl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4886FE4A-97D5-41E7-80D0-7A4F9C6DDB0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D97F05CD-9E6E-45D9-9A99-03650D8E5CB2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Natural language is ambiguous!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503050405090304" pitchFamily="18" charset="0"/>
              </a:rPr>
              <a:t>“</a:t>
            </a:r>
            <a:r>
              <a:rPr lang="en-US" altLang="zh-CN">
                <a:latin typeface="Times New Roman" panose="02020503050405090304" pitchFamily="18" charset="0"/>
              </a:rPr>
              <a:t>Everybody likes somebody.”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For everybody, there is somebody they like,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/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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Likes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or, there is somebody (a popular person) whom everyone likes?</a:t>
            </a:r>
            <a:endParaRPr lang="en-US" altLang="zh-CN">
              <a:latin typeface="Times New Roman" panose="02020503050405090304" pitchFamily="18" charset="0"/>
            </a:endParaRPr>
          </a:p>
          <a:p>
            <a:pPr lvl="2" eaLnBrk="1" hangingPunct="1"/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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Likes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,</a:t>
            </a:r>
            <a:r>
              <a:rPr lang="en-US" altLang="zh-CN" i="1">
                <a:latin typeface="Times New Roman" panose="02020503050405090304" pitchFamily="18" charset="0"/>
                <a:sym typeface="Symbol" panose="05050102010706020507" pitchFamily="18" charset="2"/>
              </a:rPr>
              <a:t>y</a:t>
            </a:r>
            <a:r>
              <a:rPr lang="en-US" altLang="zh-CN">
                <a:latin typeface="Times New Roman" panose="0202050305040509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50305040509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latin typeface="Times New Roman" panose="02020503050405090304" pitchFamily="18" charset="0"/>
              </a:rPr>
              <a:t>“Somebody likes everybody.”</a:t>
            </a:r>
            <a:endParaRPr lang="en-US" altLang="zh-CN">
              <a:latin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</a:rPr>
              <a:t>Same problem: Depends on context, emphasis.</a:t>
            </a:r>
            <a:endParaRPr lang="en-US" altLang="zh-CN">
              <a:latin typeface="Times New Roman" panose="02020503050405090304" pitchFamily="18" charset="0"/>
            </a:endParaRPr>
          </a:p>
        </p:txBody>
      </p:sp>
      <p:sp>
        <p:nvSpPr>
          <p:cNvPr id="949252" name="Oval 4"/>
          <p:cNvSpPr>
            <a:spLocks noChangeArrowheads="1"/>
          </p:cNvSpPr>
          <p:nvPr/>
        </p:nvSpPr>
        <p:spPr bwMode="auto">
          <a:xfrm>
            <a:off x="1979930" y="2348865"/>
            <a:ext cx="2438400" cy="4572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49253" name="Text Box 5"/>
          <p:cNvSpPr txBox="1">
            <a:spLocks noChangeArrowheads="1"/>
          </p:cNvSpPr>
          <p:nvPr/>
        </p:nvSpPr>
        <p:spPr bwMode="auto">
          <a:xfrm>
            <a:off x="4572000" y="2348865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en-US" altLang="zh-CN" b="0" i="0" u="none">
                <a:solidFill>
                  <a:srgbClr val="FF0000"/>
                </a:solidFill>
              </a:rPr>
              <a:t>[Probably more likely.]</a:t>
            </a:r>
            <a:endParaRPr kumimoji="0" lang="en-US" altLang="zh-CN" b="0" i="0" u="none"/>
          </a:p>
        </p:txBody>
      </p:sp>
      <p:sp>
        <p:nvSpPr>
          <p:cNvPr id="36873" name="Text Box 6"/>
          <p:cNvSpPr txBox="1">
            <a:spLocks noChangeArrowheads="1"/>
          </p:cNvSpPr>
          <p:nvPr/>
        </p:nvSpPr>
        <p:spPr bwMode="auto">
          <a:xfrm>
            <a:off x="6122988" y="76200"/>
            <a:ext cx="294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algn="r"/>
            <a:r>
              <a:rPr kumimoji="0" lang="en-US" altLang="zh-CN" sz="2000" b="0" i="0" u="none">
                <a:solidFill>
                  <a:schemeClr val="bg1"/>
                </a:solidFill>
              </a:rPr>
              <a:t>Topic #3 – Predicate Logic</a:t>
            </a:r>
            <a:endParaRPr kumimoji="0" lang="en-US" altLang="zh-CN" sz="2000" b="0" i="0" u="none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9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9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9252" grpId="0" bldLvl="0" animBg="1"/>
      <p:bldP spid="949253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3FEF7069-1E1D-49DD-B9F5-3DB3812E292B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6929B794-5D12-4C8B-A39B-7D2A171DE336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Negations</a:t>
            </a:r>
            <a:endParaRPr lang="en-US" altLang="zh-CN"/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735" y="1268497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Every student in the class has taken a course in Calculus.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¬ </a:t>
            </a:r>
            <a:r>
              <a:rPr lang="en-US" altLang="zh-CN" dirty="0">
                <a:latin typeface="Symbol" panose="05050102010706020507" pitchFamily="18" charset="2"/>
              </a:rPr>
              <a:t>"</a:t>
            </a:r>
            <a:r>
              <a:rPr lang="en-US" altLang="zh-CN" i="1" dirty="0" err="1">
                <a:latin typeface="Times New Roman" panose="02020503050405090304" pitchFamily="18" charset="0"/>
              </a:rPr>
              <a:t>xP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$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¬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There is a student in this class who has taken a course in calculus.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¬ </a:t>
            </a:r>
            <a:r>
              <a:rPr lang="en-US" altLang="zh-CN" dirty="0">
                <a:latin typeface="Symbol" panose="05050102010706020507" pitchFamily="18" charset="2"/>
              </a:rPr>
              <a:t>$</a:t>
            </a:r>
            <a:r>
              <a:rPr lang="en-US" altLang="zh-CN" i="1" dirty="0" err="1">
                <a:latin typeface="Times New Roman" panose="02020503050405090304" pitchFamily="18" charset="0"/>
              </a:rPr>
              <a:t>xP</a:t>
            </a:r>
            <a:r>
              <a:rPr lang="en-US" altLang="zh-CN" dirty="0">
                <a:latin typeface="Times New Roman" panose="02020503050405090304" pitchFamily="18" charset="0"/>
              </a:rPr>
              <a:t>( 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Symbol" panose="05050102010706020507" pitchFamily="18" charset="2"/>
              </a:rPr>
              <a:t> "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¬ </a:t>
            </a:r>
            <a:r>
              <a:rPr lang="en-US" altLang="zh-CN" i="1" dirty="0">
                <a:latin typeface="Times New Roman" panose="02020503050405090304" pitchFamily="18" charset="0"/>
              </a:rPr>
              <a:t>P</a:t>
            </a:r>
            <a:r>
              <a:rPr lang="en-US" altLang="zh-CN" dirty="0">
                <a:latin typeface="Times New Roman" panose="02020503050405090304" pitchFamily="18" charset="0"/>
              </a:rPr>
              <a:t>(</a:t>
            </a:r>
            <a:r>
              <a:rPr lang="en-US" altLang="zh-CN" i="1" dirty="0">
                <a:latin typeface="Times New Roman" panose="02020503050405090304" pitchFamily="18" charset="0"/>
              </a:rPr>
              <a:t>x</a:t>
            </a:r>
            <a:r>
              <a:rPr lang="en-US" altLang="zh-CN" dirty="0">
                <a:latin typeface="Times New Roman" panose="02020503050405090304" pitchFamily="18" charset="0"/>
              </a:rPr>
              <a:t>)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Distributing a negation operator across a quantifier changes a universal to an existential and vice versa.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503050405090304" pitchFamily="18" charset="0"/>
              </a:rPr>
              <a:t>Multiple Quantifiers: read left to right . . . 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2C647558-8C54-482A-8C59-A7E66C5BCF58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6EDC7E1D-891F-46EC-B368-C9DABACD98E6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 20</a:t>
            </a:r>
            <a:endParaRPr lang="en-US" altLang="zh-CN"/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425" y="1125220"/>
            <a:ext cx="8591550" cy="41148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What are the negation of the statements “there is an honest politician” and “All Americans eat cheeseburgers”?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H (x) : “x is honest.”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∃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xH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(x), where the domain consists of all politicians.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negation is ¬∃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xH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(x), which is equivalent to ∀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x¬H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(x).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“Every politician is dishonest.”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C(x)</a:t>
            </a:r>
            <a:r>
              <a:rPr lang="zh-CN" alt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“x eats cheeseburgers.”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∀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(x), where the domain consists of all Americans.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negation is ¬∀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(x), which is equivalent to ∃</a:t>
            </a:r>
            <a:r>
              <a:rPr lang="en-US" altLang="zh-CN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x¬C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(x).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“Some American does not eat cheeseburgers” and “There is an American who does not eat cheeseburgers.”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B10F7E26-53CA-4F3C-8852-D96F791AF222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3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DA24B7F-FB68-4437-ACDA-1EA2F36F6204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Example 21</a:t>
            </a:r>
            <a:endParaRPr lang="en-US" altLang="zh-CN"/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What are the negation of the statements </a:t>
            </a:r>
            <a:r>
              <a:rPr lang="zh-CN" altLang="en-US" dirty="0">
                <a:latin typeface="Times New Roman" panose="0202050305040509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x(x</a:t>
            </a:r>
            <a:r>
              <a:rPr lang="en-US" altLang="zh-CN" i="1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x)</a:t>
            </a:r>
            <a:r>
              <a:rPr lang="en-US" altLang="zh-CN" dirty="0">
                <a:latin typeface="Times New Roman" panose="02020503050405090304" pitchFamily="18" charset="0"/>
                <a:sym typeface="Symbol" panose="05050102010706020507" pitchFamily="18" charset="2"/>
              </a:rPr>
              <a:t> and 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x(x</a:t>
            </a:r>
            <a:r>
              <a:rPr lang="en-US" altLang="zh-CN" i="1" baseline="30000" dirty="0">
                <a:latin typeface="Times New Roman" panose="02020503050405090304" pitchFamily="18" charset="0"/>
                <a:sym typeface="Symbol" panose="05050102010706020507" pitchFamily="18" charset="2"/>
              </a:rPr>
              <a:t>2</a:t>
            </a:r>
            <a:r>
              <a:rPr lang="en-US" altLang="zh-CN" i="1" dirty="0">
                <a:latin typeface="Times New Roman" panose="02020503050405090304" pitchFamily="18" charset="0"/>
                <a:sym typeface="Symbol" panose="05050102010706020507" pitchFamily="18" charset="2"/>
              </a:rPr>
              <a:t>2)?</a:t>
            </a:r>
            <a:endParaRPr lang="en-US" altLang="zh-CN" i="1" dirty="0">
              <a:latin typeface="Times New Roman" panose="0202050305040509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0" y="188595"/>
            <a:ext cx="8127365" cy="913765"/>
          </a:xfrm>
        </p:spPr>
        <p:txBody>
          <a:bodyPr/>
          <a:lstStyle/>
          <a:p>
            <a:r>
              <a:rPr lang="en-US" sz="3200" dirty="0"/>
              <a:t>Translating from English to Logic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</a:t>
            </a:r>
            <a:r>
              <a:rPr lang="en-US" sz="2800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1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 Translate the following sentence into predicate logic: “Every student in this class has taken a course in Java.”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First decide on the domain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 </a:t>
            </a:r>
            <a:r>
              <a:rPr lang="en-US" sz="2400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1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If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all students in this class, 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J(x) denoting “x has taken a course in Java” 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                 x J(x). </a:t>
            </a:r>
            <a:endParaRPr lang="en-US" sz="2400" i="1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>
              <a:buNone/>
            </a:pPr>
            <a:r>
              <a:rPr lang="en-US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 </a:t>
            </a:r>
            <a:r>
              <a:rPr lang="en-US" sz="2400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2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r>
              <a:rPr lang="en-US" sz="2400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But if </a:t>
            </a:r>
            <a:r>
              <a:rPr lang="en-US" sz="24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all people, 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S(x) denoting “x is a student in this class” 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                </a:t>
            </a:r>
            <a:r>
              <a:rPr lang="en-US" sz="2400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x (S(x)</a:t>
            </a:r>
            <a:r>
              <a:rPr lang="en-US" sz="2400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→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J(x))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.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</a:t>
            </a:r>
            <a:endParaRPr lang="en-US" sz="2400" i="1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2">
              <a:buNone/>
            </a:pPr>
            <a:r>
              <a:rPr lang="en-US" sz="20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           </a:t>
            </a:r>
            <a:r>
              <a:rPr lang="en-US" sz="2000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</a:t>
            </a:r>
            <a:r>
              <a:rPr lang="en-US" sz="20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x (S(x) 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∧</a:t>
            </a:r>
            <a:r>
              <a:rPr lang="en-US" sz="20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J(x))</a:t>
            </a:r>
            <a:r>
              <a:rPr lang="en-US" sz="20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is </a:t>
            </a:r>
            <a:r>
              <a:rPr lang="en-US" sz="2000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not correct</a:t>
            </a:r>
            <a:r>
              <a:rPr lang="en-US" sz="20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.  What does it mean?</a:t>
            </a:r>
            <a:endParaRPr lang="en-US" sz="2000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/>
            <a:endParaRPr lang="en-US" sz="2000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305" y="188595"/>
            <a:ext cx="8023860" cy="913765"/>
          </a:xfrm>
        </p:spPr>
        <p:txBody>
          <a:bodyPr/>
          <a:lstStyle/>
          <a:p>
            <a:r>
              <a:rPr lang="en-US" sz="3200" dirty="0">
                <a:sym typeface="+mn-ea"/>
              </a:rPr>
              <a:t>Translating from English to Logic</a:t>
            </a:r>
            <a:endParaRPr lang="en-US" sz="3200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2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Translate the following sentence into predicate logic: “Some student in this class has taken a course in Java.”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First decide on the domain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 </a:t>
            </a:r>
            <a:r>
              <a:rPr lang="en-US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1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all students in this class,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                         x J(x)</a:t>
            </a:r>
            <a:endParaRPr lang="en-US" i="1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1">
              <a:buNone/>
            </a:pPr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Solution </a:t>
            </a:r>
            <a:r>
              <a:rPr lang="en-US" b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1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: But if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all people,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                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x (S(x)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∧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J(x)) </a:t>
            </a:r>
            <a:endParaRPr lang="en-US" i="1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lvl="2">
              <a:buNone/>
            </a:pP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       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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x (S(x)</a:t>
            </a:r>
            <a:r>
              <a:rPr lang="en-US" i="1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→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J(x))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 is </a:t>
            </a:r>
            <a:r>
              <a:rPr lang="en-US" dirty="0">
                <a:solidFill>
                  <a:srgbClr val="FF0000"/>
                </a:solidFill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not correct</a:t>
            </a:r>
            <a:r>
              <a:rPr lang="en-US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. What does it mean?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FEC37742-DC18-4B6E-A2AE-99AC6FA941F6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423CDF16-8525-4B45-B51D-9E376DEDC8A7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</a:rPr>
              <a:t>课堂练习</a:t>
            </a:r>
            <a:r>
              <a:rPr lang="en-US" altLang="zh-CN" dirty="0">
                <a:latin typeface="Times New Roman" panose="02020503050405090304" pitchFamily="18" charset="0"/>
              </a:rPr>
              <a:t>-Example 24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03" y="1340442"/>
            <a:ext cx="8142406" cy="41148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Some student in this class has visited Mexico.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503050405090304" pitchFamily="18" charset="0"/>
              </a:rPr>
              <a:t>every student in this class has visited either Canada or Mexico.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9845" y="3140464"/>
            <a:ext cx="771071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u="none" dirty="0"/>
              <a:t>M(x): “x has visited Mexico.” C(x):“x has visited Canada.” </a:t>
            </a:r>
            <a:endParaRPr lang="en-US" altLang="zh-CN" u="none" dirty="0"/>
          </a:p>
          <a:p>
            <a:r>
              <a:rPr lang="en-US" altLang="zh-CN" u="none" dirty="0"/>
              <a:t>the domain for x consists of the students in this class,  ∃</a:t>
            </a:r>
            <a:r>
              <a:rPr lang="en-US" altLang="zh-CN" u="none" dirty="0" err="1"/>
              <a:t>xM</a:t>
            </a:r>
            <a:r>
              <a:rPr lang="en-US" altLang="zh-CN" u="none" dirty="0"/>
              <a:t>(x).         </a:t>
            </a:r>
            <a:endParaRPr lang="en-US" altLang="zh-CN" u="none" dirty="0"/>
          </a:p>
          <a:p>
            <a:r>
              <a:rPr lang="en-US" altLang="zh-CN" u="none" dirty="0"/>
              <a:t>∀x(C(x) ∨ M(x)</a:t>
            </a:r>
            <a:endParaRPr lang="en-US" altLang="zh-CN" u="none" dirty="0"/>
          </a:p>
          <a:p>
            <a:r>
              <a:rPr lang="en-US" altLang="zh-CN" u="none" dirty="0"/>
              <a:t>the domain for the variable x consists of all people. </a:t>
            </a:r>
            <a:endParaRPr lang="en-US" altLang="zh-CN" u="none" dirty="0"/>
          </a:p>
          <a:p>
            <a:r>
              <a:rPr lang="en-US" altLang="zh-CN" u="none" dirty="0"/>
              <a:t>S(x): “x is a student in this class.” </a:t>
            </a:r>
            <a:endParaRPr lang="en-US" altLang="zh-CN" u="none" dirty="0"/>
          </a:p>
          <a:p>
            <a:r>
              <a:rPr lang="en-US" altLang="zh-CN" u="none" dirty="0"/>
              <a:t>∃x(S(x) ∧ M(x))</a:t>
            </a:r>
            <a:endParaRPr lang="en-US" altLang="zh-CN" u="none" dirty="0"/>
          </a:p>
          <a:p>
            <a:r>
              <a:rPr lang="en-US" altLang="zh-CN" u="none" dirty="0"/>
              <a:t>∀x(S(x) → (C(x) ∨ M(x)))</a:t>
            </a:r>
            <a:endParaRPr lang="zh-CN" altLang="en-US" u="non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19" y="188506"/>
            <a:ext cx="7793037" cy="1143000"/>
          </a:xfrm>
        </p:spPr>
        <p:txBody>
          <a:bodyPr/>
          <a:lstStyle/>
          <a:p>
            <a:r>
              <a:rPr lang="en-US" sz="4000" dirty="0"/>
              <a:t>Lewis Carroll</a:t>
            </a:r>
            <a:br>
              <a:rPr lang="en-US" sz="4000" dirty="0"/>
            </a:br>
            <a:r>
              <a:rPr lang="en-US" sz="4000" dirty="0"/>
              <a:t> Example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3025" y="1052830"/>
            <a:ext cx="9121140" cy="4114800"/>
          </a:xfrm>
        </p:spPr>
        <p:txBody>
          <a:bodyPr/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first two are called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premises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and the third is called the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“All lions are fierce.”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“Some lions do not drink coffee.”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“Some fierce creatures do not drink coffee.”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84505" indent="-457200"/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Let P(x):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“x is a lion,” ;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84505" indent="-457200"/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Q(x):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“x is fierce,”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84505" indent="-457200"/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R(x) :“x drinks coffee,”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x (P(x)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→ Q(x))</a:t>
            </a:r>
            <a:endParaRPr lang="en-US" sz="2400" i="1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  <a:sym typeface="Symbol" panose="05050102010706020507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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x (P(x)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∧ ¬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R(x))</a:t>
            </a:r>
            <a:endParaRPr lang="en-US" sz="2400" i="1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marL="850265" lvl="1" indent="-457200">
              <a:buFont typeface="+mj-lt"/>
              <a:buAutoNum type="arabicPeriod"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  <a:sym typeface="Symbol" panose="05050102010706020507"/>
              </a:rPr>
              <a:t>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x (Q(x) </a:t>
            </a:r>
            <a:r>
              <a:rPr lang="en-US" sz="2400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∧ ¬</a:t>
            </a:r>
            <a:r>
              <a:rPr lang="en-US" sz="2400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R(x))</a:t>
            </a:r>
            <a:endParaRPr lang="en-US" sz="2400" i="1" dirty="0">
              <a:latin typeface="Times New Roman" panose="02020503050405090304" pitchFamily="18" charset="0"/>
              <a:ea typeface="Cambria Math" panose="02040503050406030204" pitchFamily="18" charset="0"/>
              <a:cs typeface="Times New Roman" panose="02020503050405090304" pitchFamily="18" charset="0"/>
              <a:sym typeface="Symbol" panose="05050102010706020507"/>
            </a:endParaRPr>
          </a:p>
          <a:p>
            <a:pPr marL="484505" indent="-457200"/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Later we will see how to prove that the conclusion follows from the premises.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Font typeface="+mj-lt"/>
              <a:buAutoNum type="arabicPeriod"/>
            </a:pP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6" name="Content Placeholder 3" descr="0110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724743" y="116840"/>
            <a:ext cx="886968" cy="103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8125" y="188595"/>
            <a:ext cx="2574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Charles </a:t>
            </a:r>
            <a:r>
              <a:rPr lang="en-US" sz="1600" dirty="0" err="1"/>
              <a:t>Lutwidge</a:t>
            </a:r>
            <a:r>
              <a:rPr lang="en-US" sz="1600" dirty="0"/>
              <a:t> Dodgson</a:t>
            </a:r>
            <a:endParaRPr lang="en-US" sz="1600" dirty="0"/>
          </a:p>
          <a:p>
            <a:r>
              <a:rPr lang="en-US" sz="1600" dirty="0"/>
              <a:t>   (AKA Lewis </a:t>
            </a:r>
            <a:r>
              <a:rPr lang="en-US" sz="1600" dirty="0" err="1"/>
              <a:t>Caroll</a:t>
            </a:r>
            <a:r>
              <a:rPr lang="en-US" sz="1600" dirty="0"/>
              <a:t>)</a:t>
            </a:r>
            <a:endParaRPr lang="en-US" sz="1600" dirty="0"/>
          </a:p>
          <a:p>
            <a:r>
              <a:rPr lang="en-US" sz="1600" dirty="0"/>
              <a:t>        (1832-1898)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50087919-DA66-4838-84B6-2E1752C609C4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5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5E3E650A-D16A-40CB-A5A3-71D8B5DEFCCD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6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Times New Roman" panose="02020503050405090304" pitchFamily="18" charset="0"/>
              </a:rPr>
              <a:t>课堂练习</a:t>
            </a:r>
            <a:r>
              <a:rPr lang="en-US" altLang="zh-CN" dirty="0">
                <a:latin typeface="Times New Roman" panose="02020503050405090304" pitchFamily="18" charset="0"/>
              </a:rPr>
              <a:t>-Example 27</a:t>
            </a:r>
            <a:endParaRPr lang="en-US" altLang="zh-CN" dirty="0">
              <a:latin typeface="Times New Roman" panose="02020503050405090304" pitchFamily="18" charset="0"/>
            </a:endParaRP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934" y="1340168"/>
            <a:ext cx="8676456" cy="4114800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 (x) :“x is a hummingbird,” , Q(x): “x is large,” , R(x): “x lives on honey,” S(x) :“x is richly colored,”.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Assuming that the domain consists of all birds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</a:rPr>
              <a:t>All hummingbirds are richly colored.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∀x(P (x) → S(x))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</a:rPr>
              <a:t>No large birds live on honey.</a:t>
            </a: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¬∃x(Q(x) ∧ R(x))</a:t>
            </a:r>
            <a:endParaRPr lang="en-US" altLang="zh-C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</a:rPr>
              <a:t>Birds that do not live on honey are dull in color.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∀x(¬R(x) → ¬S(x))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/>
            <a:r>
              <a:rPr lang="en-US" altLang="zh-CN" sz="2400" dirty="0">
                <a:latin typeface="Times New Roman" panose="02020503050405090304" pitchFamily="18" charset="0"/>
              </a:rPr>
              <a:t>Hummingbirds are small. 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r>
              <a:rPr lang="en-US" altLang="zh-C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∀x(P (x) → ¬Q(x))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marL="0" indent="0" eaLnBrk="1" hangingPunct="1">
              <a:buNone/>
            </a:pP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C09CED3C-71A3-44F9-89E0-C03EF4E64F0A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59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F73F600-A996-419D-AB6E-0E8E481D34CA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60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>
                <a:latin typeface="Times New Roman" panose="02020503050405090304" pitchFamily="18" charset="0"/>
              </a:rPr>
              <a:t>Bonus Topic: Logic Programming</a:t>
            </a:r>
            <a:endParaRPr lang="en-US" altLang="zh-CN" sz="4000">
              <a:latin typeface="Times New Roman" panose="02020503050405090304" pitchFamily="18" charset="0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094" y="1268626"/>
            <a:ext cx="827152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There are some programming languages that are based entirely on predicate logic!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most famous one is called Prolog.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Prolog (from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gramming in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Log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ic) is a programming language developed in the </a:t>
            </a:r>
            <a:r>
              <a:rPr lang="en-US" altLang="zh-CN" sz="2800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</a:rPr>
              <a:t>1970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 by researchers in artificial intelligence (AI).</a:t>
            </a:r>
            <a:endParaRPr lang="en-US" altLang="zh-CN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A Prolog program is a set of propositions (“facts”) and (“rules”) in predicate logic.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input to the program is a “query” proposition.</a:t>
            </a:r>
            <a:endParaRPr lang="en-US" altLang="zh-CN" sz="2800" dirty="0">
              <a:latin typeface="Times New Roman" panose="02020503050405090304" pitchFamily="18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latin typeface="Times New Roman" panose="02020503050405090304" pitchFamily="18" charset="0"/>
              </a:rPr>
              <a:t>Want to know if it is true or false.</a:t>
            </a:r>
            <a:endParaRPr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latin typeface="Times New Roman" panose="02020503050405090304" pitchFamily="18" charset="0"/>
              </a:rPr>
              <a:t>The Prolog interpreter does some automated deduction to determine whether the query follows from the facts.</a:t>
            </a:r>
            <a:endParaRPr lang="en-US" altLang="zh-CN" sz="280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Logic Programming</a:t>
            </a:r>
            <a:r>
              <a:rPr lang="en-US" altLang="zh-CN" sz="4000" dirty="0"/>
              <a:t> (</a:t>
            </a:r>
            <a:r>
              <a:rPr lang="en-US" altLang="zh-CN" sz="4000" dirty="0" err="1"/>
              <a:t>cont</a:t>
            </a:r>
            <a:r>
              <a:rPr lang="en-US" altLang="zh-CN" sz="4000" dirty="0"/>
              <a:t>)</a:t>
            </a:r>
            <a:endParaRPr lang="en-US" altLang="zh-C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025" y="1196975"/>
            <a:ext cx="8446770" cy="4947920"/>
          </a:xfrm>
        </p:spPr>
        <p:txBody>
          <a:bodyPr/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example of a set of Prolog facts consider the following: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instructor(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chan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math273).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instructor(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patel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ee222).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instructor(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grossman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cs301).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enrolled(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kevin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math273).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enrolled(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juna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ee222).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enrolled(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juana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cs301).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enrolled(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kiko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math273).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enrolled(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kiko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cs301).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instructor(</a:t>
            </a:r>
            <a:r>
              <a:rPr lang="en-US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p,c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professor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 </a:t>
            </a:r>
            <a:r>
              <a:rPr lang="en-US" altLang="zh-CN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the instructor of course </a:t>
            </a:r>
            <a:r>
              <a:rPr lang="en-US" altLang="zh-CN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enrolled(</a:t>
            </a:r>
            <a:r>
              <a:rPr lang="en-US" sz="2800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s,c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：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student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enrolled in course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Logic Programming</a:t>
            </a:r>
            <a:r>
              <a:rPr lang="en-US" altLang="zh-CN" sz="4000" dirty="0"/>
              <a:t> (</a:t>
            </a:r>
            <a:r>
              <a:rPr lang="en-US" altLang="zh-CN" sz="4000" dirty="0" err="1"/>
              <a:t>cont</a:t>
            </a:r>
            <a:r>
              <a:rPr lang="en-US" altLang="zh-CN" sz="4000" dirty="0"/>
              <a:t>)</a:t>
            </a:r>
            <a:endParaRPr lang="en-US" altLang="zh-C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168"/>
            <a:ext cx="8703568" cy="41148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Prolog, names beginning with an uppercase letter are variables. 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we have a predicate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teaches(</a:t>
            </a:r>
            <a:r>
              <a:rPr lang="en-US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p,s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representing “professor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teaches student </a:t>
            </a:r>
            <a:r>
              <a:rPr lang="en-US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,” we can write the rule: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teaches(P,S)</a:t>
            </a:r>
            <a:r>
              <a:rPr lang="en-US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:- </a:t>
            </a: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instructor(P,C)</a:t>
            </a:r>
            <a:r>
              <a:rPr lang="en-US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26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enrolled(S,C)</a:t>
            </a:r>
            <a:r>
              <a:rPr lang="en-US" sz="2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Prolog rule can be viewed as equivalent to the following statement in logic (using our conventions for logical statements).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50265" lvl="1" indent="-457200">
              <a:buNone/>
            </a:pP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p c s((I(</a:t>
            </a:r>
            <a:r>
              <a:rPr lang="en-US" i="1" dirty="0" err="1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p,c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) </a:t>
            </a:r>
            <a:r>
              <a:rPr lang="en-US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∧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E(</a:t>
            </a:r>
            <a:r>
              <a:rPr lang="en-US" i="1" dirty="0" err="1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s,c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 pitchFamily="18" charset="0"/>
                <a:cs typeface="Times New Roman" panose="02020503050405090304" pitchFamily="18" charset="0"/>
                <a:sym typeface="Symbol" panose="05050102010706020507"/>
              </a:rPr>
              <a:t>)) 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→ T(</a:t>
            </a:r>
            <a:r>
              <a:rPr lang="en-US" i="1" dirty="0" err="1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p,s</a:t>
            </a:r>
            <a:r>
              <a:rPr lang="en-US" i="1" dirty="0">
                <a:latin typeface="Times New Roman" panose="02020503050405090304" pitchFamily="18" charset="0"/>
                <a:ea typeface="Cambria Math" panose="02040503050406030204"/>
                <a:cs typeface="Times New Roman" panose="02020503050405090304" pitchFamily="18" charset="0"/>
                <a:sym typeface="Symbol" panose="05050102010706020507"/>
              </a:rPr>
              <a:t>))</a:t>
            </a:r>
            <a:endParaRPr lang="en-US" i="1" dirty="0">
              <a:latin typeface="Times New Roman" panose="02020503050405090304" pitchFamily="18" charset="0"/>
              <a:ea typeface="Cambria Math" panose="02040503050406030204"/>
              <a:cs typeface="Times New Roman" panose="02020503050405090304" pitchFamily="18" charset="0"/>
              <a:sym typeface="Symbol" panose="05050102010706020507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Logic Programming (cont)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Prolog programs are loaded into a 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Prolog interpreter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The interpreter receives</a:t>
            </a:r>
            <a:r>
              <a:rPr lang="en-US" sz="2800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queries </a:t>
            </a: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returns answers using the Prolog program. 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example, using our program, the following query may be given: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?enrolled(kevin,math273).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Prolog produces the response: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yes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Note that the ? is the prompt given by the Prolog interpreter indicating that it is ready to receive a query.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Logic Programming (cont)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780" y="1102360"/>
            <a:ext cx="8341360" cy="5064760"/>
          </a:xfrm>
        </p:spPr>
        <p:txBody>
          <a:bodyPr/>
          <a:lstStyle/>
          <a:p>
            <a:pPr marL="198120" latinLnBrk="0">
              <a:spcBef>
                <a:spcPts val="0"/>
              </a:spcBef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query: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?enrolled(X,math273).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produces the response: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= </a:t>
            </a:r>
            <a:r>
              <a:rPr lang="en-US" sz="18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kevin</a:t>
            </a:r>
            <a:r>
              <a:rPr 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endParaRPr lang="en-US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= </a:t>
            </a:r>
            <a:r>
              <a:rPr 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kiko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no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query: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1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?teaches(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X,juana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sz="1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2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produces the response:</a:t>
            </a:r>
            <a:endParaRPr lang="en-US" sz="2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4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X = 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patel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X = </a:t>
            </a:r>
            <a:r>
              <a:rPr lang="en-US" sz="24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grossman</a:t>
            </a: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;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98120" latinLnBrk="0">
              <a:spcBef>
                <a:spcPts val="0"/>
              </a:spcBef>
              <a:buNone/>
            </a:pPr>
            <a:r>
              <a:rPr lang="en-US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no</a:t>
            </a:r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9700" y="2060575"/>
            <a:ext cx="3505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none" dirty="0">
                <a:cs typeface="Times New Roman" panose="02020503050405090304" pitchFamily="18" charset="0"/>
              </a:rPr>
              <a:t>The Prolog interpreter tries to find an instantiation for X. It does so and returns X = </a:t>
            </a:r>
            <a:r>
              <a:rPr lang="en-US" u="none" dirty="0" err="1">
                <a:cs typeface="Times New Roman" panose="02020503050405090304" pitchFamily="18" charset="0"/>
              </a:rPr>
              <a:t>kevin</a:t>
            </a:r>
            <a:r>
              <a:rPr lang="en-US" u="none" dirty="0">
                <a:cs typeface="Times New Roman" panose="02020503050405090304" pitchFamily="18" charset="0"/>
              </a:rPr>
              <a:t>. Then the user types the  ; indicating a request for another answer. When Prolog is unable to find another answer it returns no.</a:t>
            </a:r>
            <a:endParaRPr lang="en-US" u="none" dirty="0"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Logic Programming (cont)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endParaRPr lang="en-US" sz="1600" dirty="0">
              <a:latin typeface="Lucida Sans Typewriter" panose="020B0509030504030204" pitchFamily="49" charset="0"/>
            </a:endParaRPr>
          </a:p>
          <a:p>
            <a:r>
              <a:rPr lang="en-US" sz="4000" dirty="0"/>
              <a:t>The query:</a:t>
            </a:r>
            <a:endParaRPr lang="en-US" sz="4000" dirty="0"/>
          </a:p>
          <a:p>
            <a:pPr>
              <a:buNone/>
            </a:pPr>
            <a:r>
              <a:rPr lang="en-US" sz="2000" dirty="0">
                <a:latin typeface="Lucida Sans Typewriter" panose="020B0509030504030204" pitchFamily="49" charset="0"/>
              </a:rPr>
              <a:t>       </a:t>
            </a:r>
            <a:r>
              <a:rPr lang="en-US" sz="4000" dirty="0">
                <a:latin typeface="Lucida Sans Typewriter" panose="020B0509030504030204" pitchFamily="49" charset="0"/>
              </a:rPr>
              <a:t>?teaches(</a:t>
            </a:r>
            <a:r>
              <a:rPr lang="en-US" sz="4000" dirty="0" err="1">
                <a:latin typeface="Lucida Sans Typewriter" panose="020B0509030504030204" pitchFamily="49" charset="0"/>
              </a:rPr>
              <a:t>chan,X</a:t>
            </a:r>
            <a:r>
              <a:rPr lang="en-US" sz="4000" dirty="0">
                <a:latin typeface="Lucida Sans Typewriter" panose="020B0509030504030204" pitchFamily="49" charset="0"/>
              </a:rPr>
              <a:t>).</a:t>
            </a:r>
            <a:endParaRPr lang="en-US" sz="2000" dirty="0">
              <a:latin typeface="Lucida Sans Typewriter" panose="020B0509030504030204" pitchFamily="49" charset="0"/>
            </a:endParaRPr>
          </a:p>
          <a:p>
            <a:pPr>
              <a:buNone/>
            </a:pPr>
            <a:r>
              <a:rPr lang="en-US" sz="4000" dirty="0"/>
              <a:t>    produces the response:</a:t>
            </a:r>
            <a:endParaRPr lang="en-US" sz="4000" dirty="0"/>
          </a:p>
          <a:p>
            <a:pPr>
              <a:buNone/>
            </a:pPr>
            <a:r>
              <a:rPr lang="en-US" sz="5300" dirty="0"/>
              <a:t>       </a:t>
            </a:r>
            <a:r>
              <a:rPr lang="en-US" sz="3000" dirty="0">
                <a:latin typeface="Lucida Sans Typewriter" panose="020B0509030504030204" pitchFamily="49" charset="0"/>
              </a:rPr>
              <a:t>X = </a:t>
            </a:r>
            <a:r>
              <a:rPr lang="en-US" sz="3000" dirty="0" err="1">
                <a:latin typeface="Lucida Sans Typewriter" panose="020B0509030504030204" pitchFamily="49" charset="0"/>
              </a:rPr>
              <a:t>kevin</a:t>
            </a:r>
            <a:r>
              <a:rPr lang="en-US" sz="3000" dirty="0">
                <a:latin typeface="Lucida Sans Typewriter" panose="020B0509030504030204" pitchFamily="49" charset="0"/>
              </a:rPr>
              <a:t>;</a:t>
            </a:r>
            <a:endParaRPr lang="en-US" sz="3000" dirty="0">
              <a:latin typeface="Lucida Sans Typewriter" panose="020B0509030504030204" pitchFamily="49" charset="0"/>
            </a:endParaRPr>
          </a:p>
          <a:p>
            <a:pPr>
              <a:buNone/>
            </a:pPr>
            <a:r>
              <a:rPr lang="en-US" sz="3000" dirty="0">
                <a:latin typeface="Lucida Sans Typewriter" panose="020B0509030504030204" pitchFamily="49" charset="0"/>
              </a:rPr>
              <a:t>       X = </a:t>
            </a:r>
            <a:r>
              <a:rPr lang="en-US" sz="3000" dirty="0" err="1">
                <a:latin typeface="Lucida Sans Typewriter" panose="020B0509030504030204" pitchFamily="49" charset="0"/>
              </a:rPr>
              <a:t>kiko</a:t>
            </a:r>
            <a:r>
              <a:rPr lang="en-US" sz="3000" dirty="0">
                <a:latin typeface="Lucida Sans Typewriter" panose="020B0509030504030204" pitchFamily="49" charset="0"/>
              </a:rPr>
              <a:t>;</a:t>
            </a:r>
            <a:endParaRPr lang="en-US" sz="3000" dirty="0">
              <a:latin typeface="Lucida Sans Typewriter" panose="020B0509030504030204" pitchFamily="49" charset="0"/>
            </a:endParaRPr>
          </a:p>
          <a:p>
            <a:pPr>
              <a:buNone/>
            </a:pPr>
            <a:r>
              <a:rPr lang="en-US" sz="3000" dirty="0">
                <a:latin typeface="Lucida Sans Typewriter" panose="020B0509030504030204" pitchFamily="49" charset="0"/>
              </a:rPr>
              <a:t>       no</a:t>
            </a:r>
            <a:endParaRPr lang="en-US" sz="3000" dirty="0">
              <a:latin typeface="Lucida Sans Typewriter" panose="020B0509030504030204" pitchFamily="49" charset="0"/>
            </a:endParaRPr>
          </a:p>
          <a:p>
            <a:pPr>
              <a:buNone/>
            </a:pPr>
            <a:endParaRPr lang="en-US" sz="2000" dirty="0">
              <a:latin typeface="Lucida Sans Typewriter" panose="020B0509030504030204" pitchFamily="49" charset="0"/>
            </a:endParaRPr>
          </a:p>
          <a:p>
            <a:r>
              <a:rPr lang="en-US" sz="4000" dirty="0"/>
              <a:t>A number of very good Prolog texts are available.  </a:t>
            </a:r>
            <a:r>
              <a:rPr lang="en-US" sz="4000" i="1" dirty="0"/>
              <a:t>Learn Prolog Now! </a:t>
            </a:r>
            <a:r>
              <a:rPr lang="en-US" sz="4000" dirty="0"/>
              <a:t>is one such text with a free online version at  </a:t>
            </a:r>
            <a:r>
              <a:rPr lang="en-US" sz="4000" dirty="0">
                <a:hlinkClick r:id="rId1"/>
              </a:rPr>
              <a:t>http://www.learnprolognow.org/</a:t>
            </a:r>
            <a:endParaRPr lang="en-US" sz="4000" dirty="0"/>
          </a:p>
          <a:p>
            <a:r>
              <a:rPr lang="en-US" sz="4000" dirty="0"/>
              <a:t>There is much more to Prolog and to the entire field of logic programming.</a:t>
            </a:r>
            <a:endParaRPr lang="en-US" sz="4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E796C50C-1BFE-4133-8C44-52D74FAAC5C0}" type="slidenum">
              <a:rPr kumimoji="0" lang="zh-CN" altLang="en-US" sz="1000" u="none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1" name="日期占位符 4"/>
          <p:cNvSpPr>
            <a:spLocks noGrp="1"/>
          </p:cNvSpPr>
          <p:nvPr>
            <p:ph type="dt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fld id="{634D80CE-6E41-43B5-B8F5-B0D9401CF6CA}" type="datetime1">
              <a:rPr kumimoji="0" lang="zh-CN" altLang="en-US" sz="1000" u="none" smtClean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kumimoji="0" lang="en-US" altLang="zh-CN" sz="1000" u="none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2" name="页脚占位符 5"/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r>
              <a:rPr lang="en-US" altLang="zh-CN" sz="1200" u="none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u="none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Homework</a:t>
            </a:r>
            <a:endParaRPr lang="en-US" altLang="zh-CN"/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503050405090304" pitchFamily="18" charset="0"/>
                <a:cs typeface="Times New Roman" panose="02020503050405090304" pitchFamily="18" charset="0"/>
              </a:rPr>
              <a:t>§1.4</a:t>
            </a:r>
            <a:endParaRPr lang="en-US" altLang="zh-CN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 eaLnBrk="1" hangingPunct="1"/>
            <a:r>
              <a:rPr lang="en-US" altLang="zh-CN"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altLang="zh-CN" dirty="0">
                <a:latin typeface="Times New Roman" panose="02020503050405090304" pitchFamily="18" charset="0"/>
                <a:sym typeface="+mn-ea"/>
              </a:rPr>
              <a:t>0,18,38,42,64</a:t>
            </a:r>
            <a:endParaRPr lang="en-US" altLang="zh-CN" dirty="0">
              <a:latin typeface="Times New Roman" panose="02020503050405090304" pitchFamily="18" charset="0"/>
            </a:endParaRPr>
          </a:p>
          <a:p>
            <a:pPr lvl="1" eaLnBrk="1" hangingPunct="1"/>
            <a:endParaRPr lang="en-US" altLang="zh-CN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MultipleChoice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" val="ProblemSetting"/>
  <p:tag name="RAINPROBLEMTYPE" val="MultipleChoice"/>
</p:tagLst>
</file>

<file path=ppt/tags/tag13.xml><?xml version="1.0" encoding="utf-8"?>
<p:tagLst xmlns:p="http://schemas.openxmlformats.org/presentationml/2006/main">
  <p:tag name="RAINPROBLEM" val="MultipleChoice"/>
  <p:tag name="PROBLEMSCORE" val="1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p="http://schemas.openxmlformats.org/presentationml/2006/main">
  <p:tag name="RAINPROBLEM" val="ProblemSubmit"/>
  <p:tag name="RAINPROBLEMTYPE" val="MultipleChoice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" val="ProblemSetting"/>
  <p:tag name="RAINPROBLEMTYPE" val="MultipleChoice"/>
</p:tagLst>
</file>

<file path=ppt/tags/tag26.xml><?xml version="1.0" encoding="utf-8"?>
<p:tagLst xmlns:p="http://schemas.openxmlformats.org/presentationml/2006/main">
  <p:tag name="RAINPROBLEM" val="MultipleChoice"/>
  <p:tag name="PROBLEMSCORE" val="1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Item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2.xml><?xml version="1.0" encoding="utf-8"?>
<p:tagLst xmlns:p="http://schemas.openxmlformats.org/presentationml/2006/main">
  <p:tag name="RAINPROBLEM" val="ProblemSubmit"/>
  <p:tag name="RAINPROBLEMTYPE" val="MultipleChoice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" val="ProblemSetting"/>
  <p:tag name="RAINPROBLEMTYPE" val="MultipleChoice"/>
</p:tagLst>
</file>

<file path=ppt/tags/tag39.xml><?xml version="1.0" encoding="utf-8"?>
<p:tagLst xmlns:p="http://schemas.openxmlformats.org/presentationml/2006/main">
  <p:tag name="RAINPROBLEM" val="MultipleChoice"/>
  <p:tag name="PROBLEMSCORE" val="1.0"/>
</p:tagLst>
</file>

<file path=ppt/tags/tag40.xml><?xml version="1.0" encoding="utf-8"?>
<p:tagLst xmlns:p="http://schemas.openxmlformats.org/presentationml/2006/main">
  <p:tag name="KSO_WPP_MARK_KEY" val="cda24235-1b17-4460-895d-c106a2662691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15409</Words>
  <Application>WPS 表格</Application>
  <PresentationFormat>全屏显示(4:3)</PresentationFormat>
  <Paragraphs>695</Paragraphs>
  <Slides>49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6" baseType="lpstr">
      <vt:lpstr>Arial</vt:lpstr>
      <vt:lpstr>宋体</vt:lpstr>
      <vt:lpstr>Wingdings</vt:lpstr>
      <vt:lpstr>Times New Roman</vt:lpstr>
      <vt:lpstr>汉仪书宋二KW</vt:lpstr>
      <vt:lpstr>Arial Narrow</vt:lpstr>
      <vt:lpstr>Tahoma</vt:lpstr>
      <vt:lpstr>Copperplate Gothic Light</vt:lpstr>
      <vt:lpstr>苹方-简</vt:lpstr>
      <vt:lpstr>Copperplate Gothic Bold</vt:lpstr>
      <vt:lpstr>Symbol</vt:lpstr>
      <vt:lpstr>Kingsoft Sign</vt:lpstr>
      <vt:lpstr>Euclid Math Two</vt:lpstr>
      <vt:lpstr>华文宋体</vt:lpstr>
      <vt:lpstr>Symbol</vt:lpstr>
      <vt:lpstr>微软雅黑</vt:lpstr>
      <vt:lpstr>汉仪旗黑</vt:lpstr>
      <vt:lpstr>宋体</vt:lpstr>
      <vt:lpstr>Arial Unicode MS</vt:lpstr>
      <vt:lpstr>Cambria Math</vt:lpstr>
      <vt:lpstr>Kingsoft Math</vt:lpstr>
      <vt:lpstr>Symbol</vt:lpstr>
      <vt:lpstr>Cambria Math</vt:lpstr>
      <vt:lpstr>Impact</vt:lpstr>
      <vt:lpstr>Lucida Sans Typewriter</vt:lpstr>
      <vt:lpstr>宋体-简</vt:lpstr>
      <vt:lpstr>Blends</vt:lpstr>
      <vt:lpstr>Predicates and Quantifiers</vt:lpstr>
      <vt:lpstr>苏格拉底三段论</vt:lpstr>
      <vt:lpstr>苏格拉底三段论(续)</vt:lpstr>
      <vt:lpstr>Predicates and Quantifiers</vt:lpstr>
      <vt:lpstr>Formulas of predicate logic (informal)</vt:lpstr>
      <vt:lpstr>Formulas of predicate logic (informal)</vt:lpstr>
      <vt:lpstr>Examples</vt:lpstr>
      <vt:lpstr>Examples</vt:lpstr>
      <vt:lpstr>Propositional Functions</vt:lpstr>
      <vt:lpstr>N-place predicate</vt:lpstr>
      <vt:lpstr>PowerPoint 演示文稿</vt:lpstr>
      <vt:lpstr>Quantifiers – Universal(全称量词)</vt:lpstr>
      <vt:lpstr>Quantifiers - Universal</vt:lpstr>
      <vt:lpstr>PowerPoint 演示文稿</vt:lpstr>
      <vt:lpstr>PowerPoint 演示文稿</vt:lpstr>
      <vt:lpstr>Quantifiers – Existential(存在量词)</vt:lpstr>
      <vt:lpstr>Example 14</vt:lpstr>
      <vt:lpstr>Example 15</vt:lpstr>
      <vt:lpstr>Quantifiers - Existential</vt:lpstr>
      <vt:lpstr>PowerPoint 演示文稿</vt:lpstr>
      <vt:lpstr>Unique Existential</vt:lpstr>
      <vt:lpstr>Example U={1, 2, 3}</vt:lpstr>
      <vt:lpstr>Uniqueness Quantifier</vt:lpstr>
      <vt:lpstr>Thinking about Quantifiers</vt:lpstr>
      <vt:lpstr>Properties of Quantifiers</vt:lpstr>
      <vt:lpstr>Precedence of Quantifiers</vt:lpstr>
      <vt:lpstr>REMEMBER!</vt:lpstr>
      <vt:lpstr>Free and Bound Variables</vt:lpstr>
      <vt:lpstr>Example of Binding</vt:lpstr>
      <vt:lpstr>Nesting of Quantifiers</vt:lpstr>
      <vt:lpstr>More to Know About Binding</vt:lpstr>
      <vt:lpstr>Review: Predicate Logic (§1.3)</vt:lpstr>
      <vt:lpstr>Quantifier Exercise</vt:lpstr>
      <vt:lpstr>Natural language is ambiguous!</vt:lpstr>
      <vt:lpstr>Negations</vt:lpstr>
      <vt:lpstr>Example 20</vt:lpstr>
      <vt:lpstr>Example 21</vt:lpstr>
      <vt:lpstr>Translating from English to Logic</vt:lpstr>
      <vt:lpstr>Translating from English to Logic</vt:lpstr>
      <vt:lpstr>课堂练习-Example 24</vt:lpstr>
      <vt:lpstr>Lewis Carroll  Example</vt:lpstr>
      <vt:lpstr>课堂练习-Example 27</vt:lpstr>
      <vt:lpstr>Bonus Topic: Logic Programming</vt:lpstr>
      <vt:lpstr>Logic Programming (cont)</vt:lpstr>
      <vt:lpstr>Logic Programming (cont)</vt:lpstr>
      <vt:lpstr>Logic Programming (cont)</vt:lpstr>
      <vt:lpstr>Logic Programming (cont)</vt:lpstr>
      <vt:lpstr>Logic Programming (cont)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497</cp:revision>
  <cp:lastPrinted>2025-03-10T07:36:22Z</cp:lastPrinted>
  <dcterms:created xsi:type="dcterms:W3CDTF">2025-03-10T07:36:22Z</dcterms:created>
  <dcterms:modified xsi:type="dcterms:W3CDTF">2025-03-10T07:36:22Z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D441E91687DB4CCEAC0D50EA1C916643</vt:lpwstr>
  </property>
</Properties>
</file>