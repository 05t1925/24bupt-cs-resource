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3" r:id="rId9"/>
    <p:sldMasterId id="2147483747" r:id="rId10"/>
  </p:sldMasterIdLst>
  <p:notesMasterIdLst>
    <p:notesMasterId r:id="rId54"/>
  </p:notesMasterIdLst>
  <p:handoutMasterIdLst>
    <p:handoutMasterId r:id="rId67"/>
  </p:handoutMasterIdLst>
  <p:sldIdLst>
    <p:sldId id="394" r:id="rId11"/>
    <p:sldId id="303" r:id="rId12"/>
    <p:sldId id="304" r:id="rId13"/>
    <p:sldId id="259" r:id="rId14"/>
    <p:sldId id="305" r:id="rId15"/>
    <p:sldId id="260" r:id="rId16"/>
    <p:sldId id="261" r:id="rId17"/>
    <p:sldId id="311" r:id="rId18"/>
    <p:sldId id="312" r:id="rId19"/>
    <p:sldId id="313" r:id="rId20"/>
    <p:sldId id="314" r:id="rId21"/>
    <p:sldId id="315" r:id="rId22"/>
    <p:sldId id="273" r:id="rId23"/>
    <p:sldId id="316" r:id="rId24"/>
    <p:sldId id="317" r:id="rId25"/>
    <p:sldId id="318" r:id="rId26"/>
    <p:sldId id="319" r:id="rId27"/>
    <p:sldId id="320" r:id="rId28"/>
    <p:sldId id="321" r:id="rId29"/>
    <p:sldId id="277" r:id="rId30"/>
    <p:sldId id="278" r:id="rId31"/>
    <p:sldId id="361" r:id="rId32"/>
    <p:sldId id="362" r:id="rId33"/>
    <p:sldId id="363" r:id="rId34"/>
    <p:sldId id="279" r:id="rId35"/>
    <p:sldId id="322" r:id="rId36"/>
    <p:sldId id="323" r:id="rId37"/>
    <p:sldId id="286" r:id="rId38"/>
    <p:sldId id="287" r:id="rId39"/>
    <p:sldId id="288" r:id="rId40"/>
    <p:sldId id="268" r:id="rId41"/>
    <p:sldId id="269" r:id="rId42"/>
    <p:sldId id="270" r:id="rId43"/>
    <p:sldId id="271" r:id="rId44"/>
    <p:sldId id="272" r:id="rId45"/>
    <p:sldId id="289" r:id="rId46"/>
    <p:sldId id="290" r:id="rId47"/>
    <p:sldId id="324" r:id="rId48"/>
    <p:sldId id="325" r:id="rId49"/>
    <p:sldId id="267" r:id="rId50"/>
    <p:sldId id="326" r:id="rId51"/>
    <p:sldId id="327" r:id="rId52"/>
    <p:sldId id="328" r:id="rId53"/>
    <p:sldId id="330" r:id="rId55"/>
    <p:sldId id="395" r:id="rId56"/>
    <p:sldId id="396" r:id="rId57"/>
    <p:sldId id="332" r:id="rId58"/>
    <p:sldId id="333" r:id="rId59"/>
    <p:sldId id="334" r:id="rId60"/>
    <p:sldId id="360" r:id="rId61"/>
    <p:sldId id="347" r:id="rId62"/>
    <p:sldId id="348" r:id="rId63"/>
    <p:sldId id="329" r:id="rId64"/>
    <p:sldId id="302" r:id="rId65"/>
    <p:sldId id="346" r:id="rId66"/>
  </p:sldIdLst>
  <p:sldSz cx="9144000" cy="6858000" type="screen4x3"/>
  <p:notesSz cx="6858000" cy="9144000"/>
  <p:custDataLst>
    <p:tags r:id="rId71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49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6DE202"/>
    <a:srgbClr val="03E118"/>
    <a:srgbClr val="FF3300"/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34"/>
  </p:normalViewPr>
  <p:slideViewPr>
    <p:cSldViewPr showGuides="1">
      <p:cViewPr varScale="1">
        <p:scale>
          <a:sx n="90" d="100"/>
          <a:sy n="90" d="100"/>
        </p:scale>
        <p:origin x="825" y="27"/>
      </p:cViewPr>
      <p:guideLst>
        <p:guide orient="horz" pos="1440"/>
        <p:guide pos="49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1" Type="http://schemas.openxmlformats.org/officeDocument/2006/relationships/tags" Target="tags/tag52.xml"/><Relationship Id="rId70" Type="http://schemas.openxmlformats.org/officeDocument/2006/relationships/tableStyles" Target="tableStyles.xml"/><Relationship Id="rId7" Type="http://schemas.openxmlformats.org/officeDocument/2006/relationships/slideMaster" Target="slideMasters/slideMaster6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handoutMaster" Target="handoutMasters/handoutMaster1.xml"/><Relationship Id="rId66" Type="http://schemas.openxmlformats.org/officeDocument/2006/relationships/slide" Target="slides/slide55.xml"/><Relationship Id="rId65" Type="http://schemas.openxmlformats.org/officeDocument/2006/relationships/slide" Target="slides/slide54.xml"/><Relationship Id="rId64" Type="http://schemas.openxmlformats.org/officeDocument/2006/relationships/slide" Target="slides/slide53.xml"/><Relationship Id="rId63" Type="http://schemas.openxmlformats.org/officeDocument/2006/relationships/slide" Target="slides/slide52.xml"/><Relationship Id="rId62" Type="http://schemas.openxmlformats.org/officeDocument/2006/relationships/slide" Target="slides/slide51.xml"/><Relationship Id="rId61" Type="http://schemas.openxmlformats.org/officeDocument/2006/relationships/slide" Target="slides/slide50.xml"/><Relationship Id="rId60" Type="http://schemas.openxmlformats.org/officeDocument/2006/relationships/slide" Target="slides/slide49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8.xml"/><Relationship Id="rId58" Type="http://schemas.openxmlformats.org/officeDocument/2006/relationships/slide" Target="slides/slide47.xml"/><Relationship Id="rId57" Type="http://schemas.openxmlformats.org/officeDocument/2006/relationships/slide" Target="slides/slide46.xml"/><Relationship Id="rId56" Type="http://schemas.openxmlformats.org/officeDocument/2006/relationships/slide" Target="slides/slide45.xml"/><Relationship Id="rId55" Type="http://schemas.openxmlformats.org/officeDocument/2006/relationships/slide" Target="slides/slide44.xml"/><Relationship Id="rId54" Type="http://schemas.openxmlformats.org/officeDocument/2006/relationships/notesMaster" Target="notesMasters/notesMaster1.xml"/><Relationship Id="rId53" Type="http://schemas.openxmlformats.org/officeDocument/2006/relationships/slide" Target="slides/slide43.xml"/><Relationship Id="rId52" Type="http://schemas.openxmlformats.org/officeDocument/2006/relationships/slide" Target="slides/slide42.xml"/><Relationship Id="rId51" Type="http://schemas.openxmlformats.org/officeDocument/2006/relationships/slide" Target="slides/slide41.xml"/><Relationship Id="rId50" Type="http://schemas.openxmlformats.org/officeDocument/2006/relationships/slide" Target="slides/slide40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9.xml"/><Relationship Id="rId48" Type="http://schemas.openxmlformats.org/officeDocument/2006/relationships/slide" Target="slides/slide38.xml"/><Relationship Id="rId47" Type="http://schemas.openxmlformats.org/officeDocument/2006/relationships/slide" Target="slides/slide37.xml"/><Relationship Id="rId46" Type="http://schemas.openxmlformats.org/officeDocument/2006/relationships/slide" Target="slides/slide36.xml"/><Relationship Id="rId45" Type="http://schemas.openxmlformats.org/officeDocument/2006/relationships/slide" Target="slides/slide35.xml"/><Relationship Id="rId44" Type="http://schemas.openxmlformats.org/officeDocument/2006/relationships/slide" Target="slides/slide34.xml"/><Relationship Id="rId43" Type="http://schemas.openxmlformats.org/officeDocument/2006/relationships/slide" Target="slides/slide33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0" Type="http://schemas.openxmlformats.org/officeDocument/2006/relationships/slide" Target="slides/slide30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0" Type="http://schemas.openxmlformats.org/officeDocument/2006/relationships/slide" Target="slides/slide10.xml"/><Relationship Id="rId2" Type="http://schemas.openxmlformats.org/officeDocument/2006/relationships/theme" Target="theme/theme1.xml"/><Relationship Id="rId19" Type="http://schemas.openxmlformats.org/officeDocument/2006/relationships/slide" Target="slides/slide9.xml"/><Relationship Id="rId18" Type="http://schemas.openxmlformats.org/officeDocument/2006/relationships/slide" Target="slides/slide8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1" Type="http://schemas.openxmlformats.org/officeDocument/2006/relationships/slide" Target="slides/slide1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z="1200">
                <a:latin typeface="Times New Roman" panose="0202050305040509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kumimoji="0" sz="1200">
                <a:latin typeface="Times New Roman" panose="0202050305040509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kumimoji="0" sz="1200">
                <a:latin typeface="Times New Roman" panose="0202050305040509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latin typeface="Times New Roman" panose="0202050305040509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027756F-A82A-4D47-B116-D72095BA666D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z="1200">
                <a:latin typeface="Times New Roman" panose="0202050305040509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kumimoji="0" sz="1200">
                <a:latin typeface="Times New Roman" panose="0202050305040509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1268" name="Rectangle 4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kumimoji="0" sz="1200">
                <a:latin typeface="Times New Roman" panose="0202050305040509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latin typeface="Times New Roman" panose="0202050305040509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E92337-BCB1-4C28-AF88-FB7AEF971FA7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3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563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en-US" sz="1200" dirty="0">
                <a:latin typeface="Times New Roman" panose="02020503050405090304" pitchFamily="18" charset="0"/>
              </a:rPr>
            </a:fld>
            <a:endParaRPr lang="en-US" altLang="en-US" sz="1200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95C204-7272-45F0-9A21-96E02B74A53A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E46734-7B0D-4F16-98FE-17F7BF6BB97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95C204-7272-45F0-9A21-96E02B74A53A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E46734-7B0D-4F16-98FE-17F7BF6BB97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95C204-7272-45F0-9A21-96E02B74A53A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E46734-7B0D-4F16-98FE-17F7BF6BB97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95C204-7272-45F0-9A21-96E02B74A53A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E46734-7B0D-4F16-98FE-17F7BF6BB97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95C204-7272-45F0-9A21-96E02B74A53A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E46734-7B0D-4F16-98FE-17F7BF6BB97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95C204-7272-45F0-9A21-96E02B74A53A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E46734-7B0D-4F16-98FE-17F7BF6BB97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95C204-7272-45F0-9A21-96E02B74A53A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E46734-7B0D-4F16-98FE-17F7BF6BB97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95C204-7272-45F0-9A21-96E02B74A53A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E46734-7B0D-4F16-98FE-17F7BF6BB97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95C204-7272-45F0-9A21-96E02B74A53A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E46734-7B0D-4F16-98FE-17F7BF6BB97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95C204-7272-45F0-9A21-96E02B74A53A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E46734-7B0D-4F16-98FE-17F7BF6BB97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95C204-7272-45F0-9A21-96E02B74A53A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E46734-7B0D-4F16-98FE-17F7BF6BB97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ACF5DF-89ED-4DAE-98AB-1F5EE1F4AC38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6B8112-44C3-46BB-993D-43E16CCB1F1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ACF5DF-89ED-4DAE-98AB-1F5EE1F4AC38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6B8112-44C3-46BB-993D-43E16CCB1F1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ACF5DF-89ED-4DAE-98AB-1F5EE1F4AC38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6B8112-44C3-46BB-993D-43E16CCB1F1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ACF5DF-89ED-4DAE-98AB-1F5EE1F4AC38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6B8112-44C3-46BB-993D-43E16CCB1F1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ACF5DF-89ED-4DAE-98AB-1F5EE1F4AC38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6B8112-44C3-46BB-993D-43E16CCB1F1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ACF5DF-89ED-4DAE-98AB-1F5EE1F4AC38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6B8112-44C3-46BB-993D-43E16CCB1F1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ACF5DF-89ED-4DAE-98AB-1F5EE1F4AC38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6B8112-44C3-46BB-993D-43E16CCB1F1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ACF5DF-89ED-4DAE-98AB-1F5EE1F4AC38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6B8112-44C3-46BB-993D-43E16CCB1F1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ACF5DF-89ED-4DAE-98AB-1F5EE1F4AC38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6B8112-44C3-46BB-993D-43E16CCB1F1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ACF5DF-89ED-4DAE-98AB-1F5EE1F4AC38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6B8112-44C3-46BB-993D-43E16CCB1F1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ACF5DF-89ED-4DAE-98AB-1F5EE1F4AC38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6B8112-44C3-46BB-993D-43E16CCB1F1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F85A9F-E9DB-4B8B-A163-76AC0A2B2699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1AC1E-B66C-46CC-8D9A-40CE2C35729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F85A9F-E9DB-4B8B-A163-76AC0A2B2699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1AC1E-B66C-46CC-8D9A-40CE2C35729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F85A9F-E9DB-4B8B-A163-76AC0A2B2699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1AC1E-B66C-46CC-8D9A-40CE2C35729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F85A9F-E9DB-4B8B-A163-76AC0A2B2699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1AC1E-B66C-46CC-8D9A-40CE2C35729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F85A9F-E9DB-4B8B-A163-76AC0A2B2699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1AC1E-B66C-46CC-8D9A-40CE2C35729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F85A9F-E9DB-4B8B-A163-76AC0A2B2699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1AC1E-B66C-46CC-8D9A-40CE2C35729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F85A9F-E9DB-4B8B-A163-76AC0A2B2699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1AC1E-B66C-46CC-8D9A-40CE2C35729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F85A9F-E9DB-4B8B-A163-76AC0A2B2699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1AC1E-B66C-46CC-8D9A-40CE2C35729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F85A9F-E9DB-4B8B-A163-76AC0A2B2699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1AC1E-B66C-46CC-8D9A-40CE2C35729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F85A9F-E9DB-4B8B-A163-76AC0A2B2699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1AC1E-B66C-46CC-8D9A-40CE2C35729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F85A9F-E9DB-4B8B-A163-76AC0A2B2699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1AC1E-B66C-46CC-8D9A-40CE2C35729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138F8D-C764-41A3-94D0-94B92500ACB3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2AC80A-BB42-49B9-B3C0-7FD9C19B0606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138F8D-C764-41A3-94D0-94B92500ACB3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2AC80A-BB42-49B9-B3C0-7FD9C19B0606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138F8D-C764-41A3-94D0-94B92500ACB3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2AC80A-BB42-49B9-B3C0-7FD9C19B0606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138F8D-C764-41A3-94D0-94B92500ACB3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2AC80A-BB42-49B9-B3C0-7FD9C19B0606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138F8D-C764-41A3-94D0-94B92500ACB3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2AC80A-BB42-49B9-B3C0-7FD9C19B0606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138F8D-C764-41A3-94D0-94B92500ACB3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2AC80A-BB42-49B9-B3C0-7FD9C19B0606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138F8D-C764-41A3-94D0-94B92500ACB3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2AC80A-BB42-49B9-B3C0-7FD9C19B0606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138F8D-C764-41A3-94D0-94B92500ACB3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2AC80A-BB42-49B9-B3C0-7FD9C19B0606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138F8D-C764-41A3-94D0-94B92500ACB3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2AC80A-BB42-49B9-B3C0-7FD9C19B0606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138F8D-C764-41A3-94D0-94B92500ACB3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2AC80A-BB42-49B9-B3C0-7FD9C19B0606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138F8D-C764-41A3-94D0-94B92500ACB3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2AC80A-BB42-49B9-B3C0-7FD9C19B0606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243E72-637C-438E-8F85-49EDECB3986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3617FD-F8CA-4C2D-A77A-78B18379FB5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243E72-637C-438E-8F85-49EDECB3986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3617FD-F8CA-4C2D-A77A-78B18379FB5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243E72-637C-438E-8F85-49EDECB3986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3617FD-F8CA-4C2D-A77A-78B18379FB5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243E72-637C-438E-8F85-49EDECB3986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3617FD-F8CA-4C2D-A77A-78B18379FB5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243E72-637C-438E-8F85-49EDECB3986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3617FD-F8CA-4C2D-A77A-78B18379FB5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243E72-637C-438E-8F85-49EDECB3986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3617FD-F8CA-4C2D-A77A-78B18379FB5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243E72-637C-438E-8F85-49EDECB3986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3617FD-F8CA-4C2D-A77A-78B18379FB5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243E72-637C-438E-8F85-49EDECB3986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3617FD-F8CA-4C2D-A77A-78B18379FB5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243E72-637C-438E-8F85-49EDECB3986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3617FD-F8CA-4C2D-A77A-78B18379FB5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243E72-637C-438E-8F85-49EDECB3986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3617FD-F8CA-4C2D-A77A-78B18379FB5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243E72-637C-438E-8F85-49EDECB3986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3617FD-F8CA-4C2D-A77A-78B18379FB5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55EE98-3B6F-48D0-B955-19C51B34007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91CD1F-FE8E-4398-88C1-D22ABCF80AD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55EE98-3B6F-48D0-B955-19C51B34007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91CD1F-FE8E-4398-88C1-D22ABCF80AD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55EE98-3B6F-48D0-B955-19C51B34007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91CD1F-FE8E-4398-88C1-D22ABCF80AD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55EE98-3B6F-48D0-B955-19C51B34007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91CD1F-FE8E-4398-88C1-D22ABCF80AD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55EE98-3B6F-48D0-B955-19C51B34007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91CD1F-FE8E-4398-88C1-D22ABCF80AD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55EE98-3B6F-48D0-B955-19C51B34007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91CD1F-FE8E-4398-88C1-D22ABCF80AD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55EE98-3B6F-48D0-B955-19C51B34007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91CD1F-FE8E-4398-88C1-D22ABCF80AD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55EE98-3B6F-48D0-B955-19C51B34007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91CD1F-FE8E-4398-88C1-D22ABCF80AD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55EE98-3B6F-48D0-B955-19C51B34007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91CD1F-FE8E-4398-88C1-D22ABCF80AD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55EE98-3B6F-48D0-B955-19C51B34007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91CD1F-FE8E-4398-88C1-D22ABCF80AD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55EE98-3B6F-48D0-B955-19C51B34007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91CD1F-FE8E-4398-88C1-D22ABCF80AD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050105-8B8C-449E-AC15-8F9DC350F15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DA33B6-A70B-475A-906C-3DCC01115AA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050105-8B8C-449E-AC15-8F9DC350F15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DA33B6-A70B-475A-906C-3DCC01115AA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050105-8B8C-449E-AC15-8F9DC350F15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DA33B6-A70B-475A-906C-3DCC01115AA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050105-8B8C-449E-AC15-8F9DC350F15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DA33B6-A70B-475A-906C-3DCC01115AA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050105-8B8C-449E-AC15-8F9DC350F15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DA33B6-A70B-475A-906C-3DCC01115AA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050105-8B8C-449E-AC15-8F9DC350F15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DA33B6-A70B-475A-906C-3DCC01115AA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050105-8B8C-449E-AC15-8F9DC350F15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DA33B6-A70B-475A-906C-3DCC01115AA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050105-8B8C-449E-AC15-8F9DC350F15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DA33B6-A70B-475A-906C-3DCC01115AA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050105-8B8C-449E-AC15-8F9DC350F15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DA33B6-A70B-475A-906C-3DCC01115AA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050105-8B8C-449E-AC15-8F9DC350F15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DA33B6-A70B-475A-906C-3DCC01115AA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050105-8B8C-449E-AC15-8F9DC350F15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DA33B6-A70B-475A-906C-3DCC01115AA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050105-8B8C-449E-AC15-8F9DC350F15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DA33B6-A70B-475A-906C-3DCC01115AA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7" descr="att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243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0250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10251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2509520" y="4581525"/>
            <a:ext cx="5694680" cy="164020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Yang Juan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yangjuan@bupt.edu.cn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School of Computer Science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Beijing University of Posts &amp; Telecommunications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36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536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27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2F5202-0103-4303-BB94-5C8675AFFFC8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28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School of Computer Science, BUPT 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29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400" dirty="0">
                <a:solidFill>
                  <a:schemeClr val="bg2"/>
                </a:solidFill>
                <a:latin typeface="Tw Cen MT" panose="020B0602020104020603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BB1B0C-0FE7-4CED-AAF6-23D1FE13705D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w Cen MT" panose="020B0602020104020603" pitchFamily="34" charset="0"/>
                <a:ea typeface="宋体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w Cen MT" panose="020B0602020104020603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Times New Roman" panose="02020503050405090304" pitchFamily="18" charset="0"/>
                <a:ea typeface="宋体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503050405090304" pitchFamily="18" charset="0"/>
                <a:ea typeface="宋体" pitchFamily="2" charset="-122"/>
              </a:defRPr>
            </a:lvl1pPr>
            <a:lvl2pPr>
              <a:defRPr baseline="0">
                <a:latin typeface="Times New Roman" panose="02020503050405090304" pitchFamily="18" charset="0"/>
                <a:ea typeface="宋体" pitchFamily="2" charset="-122"/>
              </a:defRPr>
            </a:lvl2pPr>
            <a:lvl3pPr>
              <a:defRPr baseline="0">
                <a:latin typeface="Times New Roman" panose="02020503050405090304" pitchFamily="18" charset="0"/>
                <a:ea typeface="宋体" pitchFamily="2" charset="-122"/>
              </a:defRPr>
            </a:lvl3pPr>
            <a:lvl4pPr>
              <a:defRPr baseline="0">
                <a:latin typeface="Times New Roman" panose="02020503050405090304" pitchFamily="18" charset="0"/>
                <a:ea typeface="宋体" pitchFamily="2" charset="-122"/>
              </a:defRPr>
            </a:lvl4pPr>
            <a:lvl5pPr>
              <a:defRPr baseline="0">
                <a:latin typeface="Times New Roman" panose="02020503050405090304" pitchFamily="18" charset="0"/>
                <a:ea typeface="宋体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B2E9F-44E6-4C1C-A9AD-95342CCBBC04}" type="slidenum">
              <a:rPr kumimoji="0" lang="zh-CN" altLang="en-US" sz="1000" b="0" i="0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E5B47E-ED5B-4991-8F65-0E1EA75C46BD}" type="datetime1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B2E9F-44E6-4C1C-A9AD-95342CCBBC04}" type="slidenum">
              <a:rPr kumimoji="0" lang="zh-CN" altLang="en-US" sz="1000" b="0" i="0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E5B47E-ED5B-4991-8F65-0E1EA75C46BD}" type="datetime1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B2E9F-44E6-4C1C-A9AD-95342CCBBC04}" type="slidenum">
              <a:rPr kumimoji="0" lang="zh-CN" altLang="en-US" sz="1000" b="0" i="0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E5B47E-ED5B-4991-8F65-0E1EA75C46BD}" type="datetime1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B2E9F-44E6-4C1C-A9AD-95342CCBBC04}" type="slidenum">
              <a:rPr kumimoji="0" lang="zh-CN" altLang="en-US" sz="1000" b="0" i="0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E5B47E-ED5B-4991-8F65-0E1EA75C46BD}" type="datetime1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B2E9F-44E6-4C1C-A9AD-95342CCBBC04}" type="slidenum">
              <a:rPr kumimoji="0" lang="zh-CN" altLang="en-US" sz="1000" b="0" i="0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E5B47E-ED5B-4991-8F65-0E1EA75C46BD}" type="datetime1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B2E9F-44E6-4C1C-A9AD-95342CCBBC04}" type="slidenum">
              <a:rPr kumimoji="0" lang="zh-CN" altLang="en-US" sz="1000" b="0" i="0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E5B47E-ED5B-4991-8F65-0E1EA75C46BD}" type="datetime1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B2E9F-44E6-4C1C-A9AD-95342CCBBC04}" type="slidenum">
              <a:rPr kumimoji="0" lang="zh-CN" altLang="en-US" sz="1000" b="0" i="0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E5B47E-ED5B-4991-8F65-0E1EA75C46BD}" type="datetime1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B2E9F-44E6-4C1C-A9AD-95342CCBBC04}" type="slidenum">
              <a:rPr kumimoji="0" lang="zh-CN" altLang="en-US" sz="1000" b="0" i="0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E5B47E-ED5B-4991-8F65-0E1EA75C46BD}" type="datetime1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B2E9F-44E6-4C1C-A9AD-95342CCBBC04}" type="slidenum">
              <a:rPr kumimoji="0" lang="zh-CN" altLang="en-US" sz="1000" b="0" i="0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E5B47E-ED5B-4991-8F65-0E1EA75C46BD}" type="datetime1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B2E9F-44E6-4C1C-A9AD-95342CCBBC04}" type="slidenum">
              <a:rPr kumimoji="0" lang="zh-CN" altLang="en-US" sz="1000" b="0" i="0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E5B47E-ED5B-4991-8F65-0E1EA75C46BD}" type="datetime1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B2E9F-44E6-4C1C-A9AD-95342CCBBC04}" type="slidenum">
              <a:rPr kumimoji="0" lang="zh-CN" altLang="en-US" sz="1000" b="0" i="0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E5B47E-ED5B-4991-8F65-0E1EA75C46BD}" type="datetime1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B2E9F-44E6-4C1C-A9AD-95342CCBBC04}" type="slidenum">
              <a:rPr kumimoji="0" lang="zh-CN" altLang="en-US" sz="1000" b="0" i="0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E5B47E-ED5B-4991-8F65-0E1EA75C46BD}" type="datetime1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492E00-FE97-48AC-883B-75959916E22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74874B-19A8-48BD-9BE1-BA73DBE6043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492E00-FE97-48AC-883B-75959916E22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74874B-19A8-48BD-9BE1-BA73DBE6043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492E00-FE97-48AC-883B-75959916E22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74874B-19A8-48BD-9BE1-BA73DBE6043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492E00-FE97-48AC-883B-75959916E22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74874B-19A8-48BD-9BE1-BA73DBE6043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492E00-FE97-48AC-883B-75959916E22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74874B-19A8-48BD-9BE1-BA73DBE6043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492E00-FE97-48AC-883B-75959916E22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74874B-19A8-48BD-9BE1-BA73DBE6043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492E00-FE97-48AC-883B-75959916E22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74874B-19A8-48BD-9BE1-BA73DBE6043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492E00-FE97-48AC-883B-75959916E22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74874B-19A8-48BD-9BE1-BA73DBE6043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492E00-FE97-48AC-883B-75959916E22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74874B-19A8-48BD-9BE1-BA73DBE6043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492E00-FE97-48AC-883B-75959916E22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74874B-19A8-48BD-9BE1-BA73DBE6043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492E00-FE97-48AC-883B-75959916E22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74874B-19A8-48BD-9BE1-BA73DBE6043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3" Type="http://schemas.openxmlformats.org/officeDocument/2006/relationships/theme" Target="../theme/theme7.xml"/><Relationship Id="rId12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7.xml"/><Relationship Id="rId8" Type="http://schemas.openxmlformats.org/officeDocument/2006/relationships/slideLayout" Target="../slideLayouts/slideLayout86.xml"/><Relationship Id="rId7" Type="http://schemas.openxmlformats.org/officeDocument/2006/relationships/slideLayout" Target="../slideLayouts/slideLayout85.xml"/><Relationship Id="rId6" Type="http://schemas.openxmlformats.org/officeDocument/2006/relationships/slideLayout" Target="../slideLayouts/slideLayout84.xml"/><Relationship Id="rId5" Type="http://schemas.openxmlformats.org/officeDocument/2006/relationships/slideLayout" Target="../slideLayouts/slideLayout83.xml"/><Relationship Id="rId4" Type="http://schemas.openxmlformats.org/officeDocument/2006/relationships/slideLayout" Target="../slideLayouts/slideLayout82.xml"/><Relationship Id="rId3" Type="http://schemas.openxmlformats.org/officeDocument/2006/relationships/slideLayout" Target="../slideLayouts/slideLayout81.xml"/><Relationship Id="rId2" Type="http://schemas.openxmlformats.org/officeDocument/2006/relationships/slideLayout" Target="../slideLayouts/slideLayout80.xml"/><Relationship Id="rId15" Type="http://schemas.openxmlformats.org/officeDocument/2006/relationships/theme" Target="../theme/theme8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79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99.xml"/><Relationship Id="rId7" Type="http://schemas.openxmlformats.org/officeDocument/2006/relationships/slideLayout" Target="../slideLayouts/slideLayout98.xml"/><Relationship Id="rId6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5.xml"/><Relationship Id="rId3" Type="http://schemas.openxmlformats.org/officeDocument/2006/relationships/slideLayout" Target="../slideLayouts/slideLayout94.xml"/><Relationship Id="rId2" Type="http://schemas.openxmlformats.org/officeDocument/2006/relationships/slideLayout" Target="../slideLayouts/slideLayout93.xml"/><Relationship Id="rId12" Type="http://schemas.openxmlformats.org/officeDocument/2006/relationships/theme" Target="../theme/theme9.xml"/><Relationship Id="rId11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9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kumimoji="1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95C204-7272-45F0-9A21-96E02B74A53A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kumimoji="1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E46734-7B0D-4F16-98FE-17F7BF6BB97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kumimoji="1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ACF5DF-89ED-4DAE-98AB-1F5EE1F4AC38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kumimoji="1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6B8112-44C3-46BB-993D-43E16CCB1F1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75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kumimoji="1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F85A9F-E9DB-4B8B-A163-76AC0A2B2699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kumimoji="1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1AC1E-B66C-46CC-8D9A-40CE2C35729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099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kumimoji="1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138F8D-C764-41A3-94D0-94B92500ACB3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kumimoji="1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2AC80A-BB42-49B9-B3C0-7FD9C19B0606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123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kumimoji="1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243E72-637C-438E-8F85-49EDECB3986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kumimoji="1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3617FD-F8CA-4C2D-A77A-78B18379FB5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14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kumimoji="1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55EE98-3B6F-48D0-B955-19C51B34007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kumimoji="1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91CD1F-FE8E-4398-88C1-D22ABCF80AD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17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kumimoji="1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050105-8B8C-449E-AC15-8F9DC350F152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kumimoji="1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DA33B6-A70B-475A-906C-3DCC01115AA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194" name="Picture 18" descr="attach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 noProof="1" dirty="0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B2E9F-44E6-4C1C-A9AD-95342CCBBC04}" type="slidenum">
              <a:rPr kumimoji="0" lang="zh-CN" altLang="en-US" sz="1000" b="0" i="0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196" name="Rectangle 2"/>
          <p:cNvSpPr>
            <a:spLocks noChangeArrowheads="1"/>
          </p:cNvSpPr>
          <p:nvPr/>
        </p:nvSpPr>
        <p:spPr bwMode="ltGray">
          <a:xfrm>
            <a:off x="417513" y="52451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197" name="Rectangle 3"/>
          <p:cNvSpPr>
            <a:spLocks noChangeArrowheads="1"/>
          </p:cNvSpPr>
          <p:nvPr/>
        </p:nvSpPr>
        <p:spPr bwMode="ltGray">
          <a:xfrm>
            <a:off x="800100" y="52451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198" name="Rectangle 4"/>
          <p:cNvSpPr>
            <a:spLocks noChangeArrowheads="1"/>
          </p:cNvSpPr>
          <p:nvPr/>
        </p:nvSpPr>
        <p:spPr bwMode="ltGray">
          <a:xfrm>
            <a:off x="541338" y="94678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199" name="Rectangle 5"/>
          <p:cNvSpPr>
            <a:spLocks noChangeArrowheads="1"/>
          </p:cNvSpPr>
          <p:nvPr/>
        </p:nvSpPr>
        <p:spPr bwMode="ltGray">
          <a:xfrm>
            <a:off x="911225" y="94678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200" name="Rectangle 6"/>
          <p:cNvSpPr>
            <a:spLocks noChangeArrowheads="1"/>
          </p:cNvSpPr>
          <p:nvPr/>
        </p:nvSpPr>
        <p:spPr bwMode="ltGray">
          <a:xfrm>
            <a:off x="127000" y="87376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201" name="Rectangle 7"/>
          <p:cNvSpPr>
            <a:spLocks noChangeArrowheads="1"/>
          </p:cNvSpPr>
          <p:nvPr/>
        </p:nvSpPr>
        <p:spPr bwMode="gray">
          <a:xfrm>
            <a:off x="762000" y="41656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202" name="Rectangle 8"/>
          <p:cNvSpPr>
            <a:spLocks noChangeArrowheads="1"/>
          </p:cNvSpPr>
          <p:nvPr/>
        </p:nvSpPr>
        <p:spPr bwMode="gray">
          <a:xfrm>
            <a:off x="442913" y="120713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203" name="Rectangle 9"/>
          <p:cNvSpPr>
            <a:spLocks noGrp="1"/>
          </p:cNvSpPr>
          <p:nvPr>
            <p:ph type="title"/>
          </p:nvPr>
        </p:nvSpPr>
        <p:spPr>
          <a:xfrm>
            <a:off x="1150938" y="4349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204" name="Rectangle 10"/>
          <p:cNvSpPr>
            <a:spLocks noGrp="1"/>
          </p:cNvSpPr>
          <p:nvPr>
            <p:ph type="body"/>
          </p:nvPr>
        </p:nvSpPr>
        <p:spPr>
          <a:xfrm>
            <a:off x="1183005" y="1372235"/>
            <a:ext cx="7827645" cy="480123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000" u="none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E5B47E-ED5B-4991-8F65-0E1EA75C46BD}" type="datetime1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2928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10000"/>
              </a:lnSpc>
              <a:defRPr kumimoji="1" sz="1200" u="none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219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kumimoji="1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492E00-FE97-48AC-883B-75959916E22C}" type="datetime1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kumimoji="1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74874B-19A8-48BD-9BE1-BA73DBE6043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0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0.xml"/><Relationship Id="rId1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0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85.xml"/><Relationship Id="rId18" Type="http://schemas.openxmlformats.org/officeDocument/2006/relationships/tags" Target="../tags/tag17.xml"/><Relationship Id="rId17" Type="http://schemas.openxmlformats.org/officeDocument/2006/relationships/image" Target="../media/image6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9" Type="http://schemas.openxmlformats.org/officeDocument/2006/relationships/slideLayout" Target="../slideLayouts/slideLayout85.xml"/><Relationship Id="rId18" Type="http://schemas.openxmlformats.org/officeDocument/2006/relationships/tags" Target="../tags/tag34.xml"/><Relationship Id="rId17" Type="http://schemas.openxmlformats.org/officeDocument/2006/relationships/image" Target="../media/image6.png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9" Type="http://schemas.openxmlformats.org/officeDocument/2006/relationships/slideLayout" Target="../slideLayouts/slideLayout85.xml"/><Relationship Id="rId18" Type="http://schemas.openxmlformats.org/officeDocument/2006/relationships/tags" Target="../tags/tag51.xml"/><Relationship Id="rId17" Type="http://schemas.openxmlformats.org/officeDocument/2006/relationships/image" Target="../media/image6.png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0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0.xml"/><Relationship Id="rId1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0.xml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0.xml"/><Relationship Id="rId1" Type="http://schemas.openxmlformats.org/officeDocument/2006/relationships/image" Target="../media/image1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0.xml"/><Relationship Id="rId1" Type="http://schemas.openxmlformats.org/officeDocument/2006/relationships/image" Target="../media/image1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0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80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80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2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 noChangeArrowheads="1"/>
          </p:cNvSpPr>
          <p:nvPr>
            <p:ph type="ctrTitle"/>
          </p:nvPr>
        </p:nvSpPr>
        <p:spPr>
          <a:xfrm>
            <a:off x="990600" y="2044065"/>
            <a:ext cx="7772400" cy="1143000"/>
          </a:xfrm>
        </p:spPr>
        <p:txBody>
          <a:bodyPr/>
          <a:p>
            <a:r>
              <a:rPr lang="en-US" altLang="zh-CN" dirty="0">
                <a:sym typeface="+mn-ea"/>
              </a:rPr>
              <a:t>2.3 Functions</a:t>
            </a:r>
            <a:endParaRPr lang="zh-CN" altLang="en-US"/>
          </a:p>
        </p:txBody>
      </p:sp>
      <p:sp>
        <p:nvSpPr>
          <p:cNvPr id="3" name="副标题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On to section 2.3… Functions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1331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1331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" name="内容占位符 1"/>
          <p:cNvSpPr/>
          <p:nvPr>
            <p:ph idx="1"/>
          </p:nvPr>
        </p:nvSpPr>
        <p:spPr>
          <a:xfrm>
            <a:off x="1183005" y="1372235"/>
            <a:ext cx="7827645" cy="4801235"/>
          </a:xfrm>
        </p:spPr>
        <p:txBody>
          <a:bodyPr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ym typeface="+mn-ea"/>
              </a:rPr>
              <a:t>From calculus, you are familiar with the concept of a real-valued function </a:t>
            </a:r>
            <a:r>
              <a:rPr lang="en-US" altLang="zh-CN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, which assigns to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each number </a:t>
            </a:r>
            <a:r>
              <a:rPr lang="en-US" altLang="zh-CN" i="1" dirty="0" err="1">
                <a:sym typeface="+mn-ea"/>
              </a:rPr>
              <a:t>x</a:t>
            </a:r>
            <a:r>
              <a:rPr lang="en-US" altLang="zh-CN" dirty="0" err="1">
                <a:sym typeface="Symbol" panose="05050102010706020507" charset="0"/>
              </a:rPr>
              <a:t></a:t>
            </a:r>
            <a:r>
              <a:rPr lang="en-US" altLang="zh-CN" i="1" dirty="0" err="1">
                <a:latin typeface="Euclid Math Two" panose="02050601010101010101" charset="0"/>
                <a:cs typeface="Euclid Math Two" panose="02050601010101010101" charset="0"/>
                <a:sym typeface="+mn-ea"/>
              </a:rPr>
              <a:t>R</a:t>
            </a:r>
            <a:r>
              <a:rPr lang="en-US" altLang="zh-CN" dirty="0">
                <a:sym typeface="+mn-ea"/>
              </a:rPr>
              <a:t> a particular value </a:t>
            </a:r>
            <a:r>
              <a:rPr lang="en-US" altLang="zh-CN" i="1" dirty="0">
                <a:sym typeface="+mn-ea"/>
              </a:rPr>
              <a:t>y=f(x)</a:t>
            </a:r>
            <a:r>
              <a:rPr lang="en-US" altLang="zh-CN" dirty="0">
                <a:sym typeface="+mn-ea"/>
              </a:rPr>
              <a:t>, where </a:t>
            </a:r>
            <a:r>
              <a:rPr lang="en-US" altLang="zh-CN" i="1" dirty="0" err="1">
                <a:sym typeface="+mn-ea"/>
              </a:rPr>
              <a:t>y</a:t>
            </a:r>
            <a:r>
              <a:rPr lang="en-US" altLang="zh-CN" dirty="0" err="1">
                <a:latin typeface="Symbol" panose="05050102010706020507" pitchFamily="18" charset="2"/>
                <a:sym typeface="+mn-ea"/>
              </a:rPr>
              <a:t>Î</a:t>
            </a:r>
            <a:r>
              <a:rPr lang="en-US" altLang="zh-CN" i="1" dirty="0" err="1">
                <a:latin typeface="Euclid Math Two" panose="02050601010101010101" charset="0"/>
                <a:cs typeface="Euclid Math Two" panose="02050601010101010101" charset="0"/>
                <a:sym typeface="+mn-ea"/>
              </a:rPr>
              <a:t>R</a:t>
            </a:r>
            <a:r>
              <a:rPr lang="en-US" altLang="zh-CN" dirty="0">
                <a:sym typeface="+mn-ea"/>
              </a:rPr>
              <a:t> .</a:t>
            </a:r>
            <a:endParaRPr lang="en-US" altLang="zh-CN" dirty="0"/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ym typeface="+mn-ea"/>
              </a:rPr>
              <a:t>But, the notion of a function can also be naturally generalized to the concept of assigning elements of any set to elements of any set. (Also known as a </a:t>
            </a:r>
            <a:r>
              <a:rPr lang="en-US" altLang="zh-CN" i="1" dirty="0">
                <a:solidFill>
                  <a:srgbClr val="FF0000"/>
                </a:solidFill>
                <a:sym typeface="+mn-ea"/>
              </a:rPr>
              <a:t>map</a:t>
            </a:r>
            <a:r>
              <a:rPr lang="en-US" altLang="zh-CN" dirty="0">
                <a:sym typeface="+mn-ea"/>
              </a:rPr>
              <a:t>)</a:t>
            </a:r>
            <a:endParaRPr lang="en-US" altLang="zh-CN" i="1" dirty="0"/>
          </a:p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Function: Formal Definition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For any sets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we say that a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function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 from (or “mapping”) A to 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: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) is a particular assignment of exactly one element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)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to each element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A.</a:t>
            </a:r>
            <a:endParaRPr lang="en-US" altLang="zh-CN" i="1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</a:pP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Some further generalizations of this idea:</a:t>
            </a:r>
            <a:endParaRPr lang="en-US" altLang="zh-CN" dirty="0">
              <a:solidFill>
                <a:srgbClr val="006600"/>
              </a:solidFill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buSzPct val="55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A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partial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(non-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total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)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function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assigns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zero or one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elements of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to each element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buSzPct val="55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Functions of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n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arguments; relations (ch. 6).</a:t>
            </a:r>
            <a:endParaRPr lang="en-US" altLang="zh-CN" i="1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434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1434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1434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Functions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b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Definition: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Let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and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be </a:t>
            </a:r>
            <a:r>
              <a:rPr lang="en-US" altLang="zh-CN" i="1" dirty="0">
                <a:solidFill>
                  <a:srgbClr val="009999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nonempty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sets. A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function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(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mapping</a:t>
            </a:r>
            <a:r>
              <a:rPr lang="en-US" altLang="zh-CN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,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transformation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)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from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to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denoted 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 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: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  <a:cs typeface="+mn-cs"/>
              </a:rPr>
              <a:t>®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is a subset of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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such that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buSzPct val="55000"/>
              <a:buFont typeface="Wingdings" panose="05000000000000000000" pitchFamily="2" charset="2"/>
              <a:buNone/>
            </a:pPr>
            <a:r>
              <a:rPr lang="en-US" altLang="zh-CN" dirty="0">
                <a:latin typeface="Symbol" panose="05050102010706020507" pitchFamily="18" charset="2"/>
                <a:ea typeface="宋体" pitchFamily="2" charset="-122"/>
              </a:rPr>
              <a:t>"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[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x 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</a:rPr>
              <a:t>Î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</a:rPr>
              <a:t>®$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y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[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y 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</a:rPr>
              <a:t>Î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</a:rPr>
              <a:t>Ù &lt;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y 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</a:rPr>
              <a:t>&gt;Î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]]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and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buSzPct val="55000"/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[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</a:rPr>
              <a:t>&lt;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y</a:t>
            </a:r>
            <a:r>
              <a:rPr lang="en-US" altLang="zh-CN" baseline="-25000" dirty="0">
                <a:latin typeface="Times New Roman" panose="02020503050405090304" pitchFamily="18" charset="0"/>
                <a:ea typeface="宋体" pitchFamily="2" charset="-122"/>
              </a:rPr>
              <a:t>1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</a:rPr>
              <a:t>&gt;Î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 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</a:rPr>
              <a:t>Ù &lt;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y</a:t>
            </a:r>
            <a:r>
              <a:rPr lang="en-US" altLang="zh-CN" baseline="-25000" dirty="0">
                <a:latin typeface="Times New Roman" panose="02020503050405090304" pitchFamily="18" charset="0"/>
                <a:ea typeface="宋体" pitchFamily="2" charset="-122"/>
              </a:rPr>
              <a:t>2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</a:rPr>
              <a:t>&gt;Î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]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</a:rPr>
              <a:t>®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y</a:t>
            </a:r>
            <a:r>
              <a:rPr lang="en-US" altLang="zh-CN" baseline="-25000" dirty="0">
                <a:latin typeface="Times New Roman" panose="02020503050405090304" pitchFamily="18" charset="0"/>
                <a:ea typeface="宋体" pitchFamily="2" charset="-122"/>
              </a:rPr>
              <a:t>1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</a:rPr>
              <a:t>=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y</a:t>
            </a:r>
            <a:r>
              <a:rPr lang="en-US" altLang="zh-CN" baseline="-25000" dirty="0">
                <a:latin typeface="Times New Roman" panose="02020503050405090304" pitchFamily="18" charset="0"/>
                <a:ea typeface="宋体" pitchFamily="2" charset="-122"/>
              </a:rPr>
              <a:t>2</a:t>
            </a:r>
            <a:endParaRPr lang="en-US" altLang="zh-CN" baseline="-250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1536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1536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Graphical Representations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Functions can be represented graphically in several ways: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1638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1639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16391" name="Oval 4"/>
          <p:cNvSpPr/>
          <p:nvPr/>
        </p:nvSpPr>
        <p:spPr>
          <a:xfrm>
            <a:off x="914400" y="3581400"/>
            <a:ext cx="990600" cy="1524000"/>
          </a:xfrm>
          <a:prstGeom prst="ellipse">
            <a:avLst/>
          </a:prstGeom>
          <a:solidFill>
            <a:srgbClr val="33CCCC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16392" name="Oval 5"/>
          <p:cNvSpPr/>
          <p:nvPr/>
        </p:nvSpPr>
        <p:spPr>
          <a:xfrm>
            <a:off x="2209800" y="3657600"/>
            <a:ext cx="990600" cy="1600200"/>
          </a:xfrm>
          <a:prstGeom prst="ellipse">
            <a:avLst/>
          </a:prstGeom>
          <a:solidFill>
            <a:srgbClr val="33CCCC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16393" name="Text Box 6"/>
          <p:cNvSpPr txBox="1"/>
          <p:nvPr/>
        </p:nvSpPr>
        <p:spPr>
          <a:xfrm>
            <a:off x="1189038" y="3962400"/>
            <a:ext cx="2905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394" name="Text Box 7"/>
          <p:cNvSpPr txBox="1"/>
          <p:nvPr/>
        </p:nvSpPr>
        <p:spPr>
          <a:xfrm>
            <a:off x="2514600" y="39624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395" name="Freeform 8"/>
          <p:cNvSpPr/>
          <p:nvPr/>
        </p:nvSpPr>
        <p:spPr>
          <a:xfrm>
            <a:off x="1295400" y="3721100"/>
            <a:ext cx="1295400" cy="469900"/>
          </a:xfrm>
          <a:custGeom>
            <a:avLst/>
            <a:gdLst/>
            <a:ahLst/>
            <a:cxnLst>
              <a:cxn ang="0">
                <a:pos x="0" y="745966250"/>
              </a:cxn>
              <a:cxn ang="0">
                <a:pos x="1209675000" y="20161250"/>
              </a:cxn>
              <a:cxn ang="0">
                <a:pos x="2056447500" y="624998750"/>
              </a:cxn>
            </a:cxnLst>
            <a:pathLst>
              <a:path w="816" h="296">
                <a:moveTo>
                  <a:pt x="0" y="296"/>
                </a:moveTo>
                <a:cubicBezTo>
                  <a:pt x="172" y="156"/>
                  <a:pt x="344" y="16"/>
                  <a:pt x="480" y="8"/>
                </a:cubicBezTo>
                <a:cubicBezTo>
                  <a:pt x="616" y="0"/>
                  <a:pt x="716" y="124"/>
                  <a:pt x="816" y="248"/>
                </a:cubicBez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16396" name="Text Box 9"/>
          <p:cNvSpPr txBox="1"/>
          <p:nvPr/>
        </p:nvSpPr>
        <p:spPr>
          <a:xfrm>
            <a:off x="1143000" y="5105400"/>
            <a:ext cx="3698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397" name="Text Box 10"/>
          <p:cNvSpPr txBox="1"/>
          <p:nvPr/>
        </p:nvSpPr>
        <p:spPr>
          <a:xfrm>
            <a:off x="2519363" y="5295900"/>
            <a:ext cx="3698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398" name="Freeform 11"/>
          <p:cNvSpPr/>
          <p:nvPr/>
        </p:nvSpPr>
        <p:spPr>
          <a:xfrm>
            <a:off x="1447800" y="3127375"/>
            <a:ext cx="1190625" cy="528638"/>
          </a:xfrm>
          <a:custGeom>
            <a:avLst/>
            <a:gdLst/>
            <a:ahLst/>
            <a:cxnLst>
              <a:cxn ang="0">
                <a:pos x="0" y="740926638"/>
              </a:cxn>
              <a:cxn ang="0">
                <a:pos x="1209675000" y="15120952"/>
              </a:cxn>
              <a:cxn ang="0">
                <a:pos x="1890117188" y="839213619"/>
              </a:cxn>
            </a:cxnLst>
            <a:pathLst>
              <a:path w="750" h="333">
                <a:moveTo>
                  <a:pt x="0" y="294"/>
                </a:moveTo>
                <a:cubicBezTo>
                  <a:pt x="172" y="154"/>
                  <a:pt x="355" y="0"/>
                  <a:pt x="480" y="6"/>
                </a:cubicBezTo>
                <a:cubicBezTo>
                  <a:pt x="605" y="12"/>
                  <a:pt x="694" y="265"/>
                  <a:pt x="750" y="333"/>
                </a:cubicBez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16399" name="Text Box 12"/>
          <p:cNvSpPr txBox="1"/>
          <p:nvPr/>
        </p:nvSpPr>
        <p:spPr>
          <a:xfrm>
            <a:off x="1143000" y="4114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400" name="Text Box 13"/>
          <p:cNvSpPr txBox="1"/>
          <p:nvPr/>
        </p:nvSpPr>
        <p:spPr>
          <a:xfrm>
            <a:off x="2498725" y="4191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401" name="Text Box 14"/>
          <p:cNvSpPr txBox="1"/>
          <p:nvPr/>
        </p:nvSpPr>
        <p:spPr>
          <a:xfrm>
            <a:off x="1981200" y="3657600"/>
            <a:ext cx="2682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402" name="Text Box 15"/>
          <p:cNvSpPr txBox="1"/>
          <p:nvPr/>
        </p:nvSpPr>
        <p:spPr>
          <a:xfrm>
            <a:off x="2057400" y="3124200"/>
            <a:ext cx="2682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403" name="Text Box 16"/>
          <p:cNvSpPr txBox="1"/>
          <p:nvPr/>
        </p:nvSpPr>
        <p:spPr>
          <a:xfrm>
            <a:off x="3581400" y="44196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404" name="Text Box 17"/>
          <p:cNvSpPr txBox="1"/>
          <p:nvPr/>
        </p:nvSpPr>
        <p:spPr>
          <a:xfrm>
            <a:off x="3581400" y="40386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405" name="Text Box 18"/>
          <p:cNvSpPr txBox="1"/>
          <p:nvPr/>
        </p:nvSpPr>
        <p:spPr>
          <a:xfrm>
            <a:off x="3581400" y="37338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406" name="Text Box 19"/>
          <p:cNvSpPr txBox="1"/>
          <p:nvPr/>
        </p:nvSpPr>
        <p:spPr>
          <a:xfrm>
            <a:off x="3581400" y="34290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407" name="Text Box 20"/>
          <p:cNvSpPr txBox="1"/>
          <p:nvPr/>
        </p:nvSpPr>
        <p:spPr>
          <a:xfrm>
            <a:off x="4724400" y="41910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408" name="Text Box 21"/>
          <p:cNvSpPr txBox="1"/>
          <p:nvPr/>
        </p:nvSpPr>
        <p:spPr>
          <a:xfrm>
            <a:off x="4724400" y="46482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409" name="Text Box 22"/>
          <p:cNvSpPr txBox="1"/>
          <p:nvPr/>
        </p:nvSpPr>
        <p:spPr>
          <a:xfrm>
            <a:off x="4724400" y="38100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410" name="Text Box 23"/>
          <p:cNvSpPr txBox="1"/>
          <p:nvPr/>
        </p:nvSpPr>
        <p:spPr>
          <a:xfrm>
            <a:off x="4724400" y="34290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411" name="Line 24"/>
          <p:cNvSpPr/>
          <p:nvPr/>
        </p:nvSpPr>
        <p:spPr>
          <a:xfrm>
            <a:off x="3733800" y="3657600"/>
            <a:ext cx="11430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6412" name="Line 25"/>
          <p:cNvSpPr/>
          <p:nvPr/>
        </p:nvSpPr>
        <p:spPr>
          <a:xfrm flipV="1">
            <a:off x="3733800" y="4876800"/>
            <a:ext cx="11430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6413" name="Line 26"/>
          <p:cNvSpPr/>
          <p:nvPr/>
        </p:nvSpPr>
        <p:spPr>
          <a:xfrm flipV="1">
            <a:off x="3733800" y="3657600"/>
            <a:ext cx="11430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6414" name="Line 27"/>
          <p:cNvSpPr/>
          <p:nvPr/>
        </p:nvSpPr>
        <p:spPr>
          <a:xfrm>
            <a:off x="3733800" y="4267200"/>
            <a:ext cx="11430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6415" name="Line 28"/>
          <p:cNvSpPr/>
          <p:nvPr/>
        </p:nvSpPr>
        <p:spPr>
          <a:xfrm flipV="1">
            <a:off x="3733800" y="4419600"/>
            <a:ext cx="11430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6416" name="Text Box 29"/>
          <p:cNvSpPr txBox="1"/>
          <p:nvPr/>
        </p:nvSpPr>
        <p:spPr>
          <a:xfrm>
            <a:off x="3581400" y="48006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417" name="Line 30"/>
          <p:cNvSpPr/>
          <p:nvPr/>
        </p:nvSpPr>
        <p:spPr>
          <a:xfrm>
            <a:off x="5638800" y="4953000"/>
            <a:ext cx="2133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418" name="Line 31"/>
          <p:cNvSpPr/>
          <p:nvPr/>
        </p:nvSpPr>
        <p:spPr>
          <a:xfrm flipV="1">
            <a:off x="5638800" y="3048000"/>
            <a:ext cx="0" cy="1905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419" name="Freeform 32"/>
          <p:cNvSpPr/>
          <p:nvPr/>
        </p:nvSpPr>
        <p:spPr>
          <a:xfrm>
            <a:off x="5638800" y="3479800"/>
            <a:ext cx="2057400" cy="14732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725805000" y="1854835000"/>
              </a:cxn>
              <a:cxn ang="0">
                <a:pos x="1330642500" y="524192500"/>
              </a:cxn>
              <a:cxn ang="0">
                <a:pos x="2147483646" y="40322500"/>
              </a:cxn>
              <a:cxn ang="0">
                <a:pos x="2147483646" y="766127500"/>
              </a:cxn>
            </a:cxnLst>
            <a:pathLst>
              <a:path w="1296" h="928">
                <a:moveTo>
                  <a:pt x="0" y="928"/>
                </a:moveTo>
                <a:cubicBezTo>
                  <a:pt x="100" y="892"/>
                  <a:pt x="200" y="856"/>
                  <a:pt x="288" y="736"/>
                </a:cubicBezTo>
                <a:cubicBezTo>
                  <a:pt x="376" y="616"/>
                  <a:pt x="424" y="328"/>
                  <a:pt x="528" y="208"/>
                </a:cubicBezTo>
                <a:cubicBezTo>
                  <a:pt x="632" y="88"/>
                  <a:pt x="784" y="0"/>
                  <a:pt x="912" y="16"/>
                </a:cubicBezTo>
                <a:cubicBezTo>
                  <a:pt x="1040" y="32"/>
                  <a:pt x="1168" y="168"/>
                  <a:pt x="1296" y="304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6420" name="Text Box 33"/>
          <p:cNvSpPr txBox="1"/>
          <p:nvPr/>
        </p:nvSpPr>
        <p:spPr>
          <a:xfrm>
            <a:off x="6621463" y="4953000"/>
            <a:ext cx="3190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421" name="Text Box 34"/>
          <p:cNvSpPr txBox="1"/>
          <p:nvPr/>
        </p:nvSpPr>
        <p:spPr>
          <a:xfrm>
            <a:off x="5334000" y="3962400"/>
            <a:ext cx="319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y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422" name="Text Box 35"/>
          <p:cNvSpPr txBox="1"/>
          <p:nvPr/>
        </p:nvSpPr>
        <p:spPr>
          <a:xfrm>
            <a:off x="6484938" y="5410200"/>
            <a:ext cx="6746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Plot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423" name="Text Box 36"/>
          <p:cNvSpPr txBox="1"/>
          <p:nvPr/>
        </p:nvSpPr>
        <p:spPr>
          <a:xfrm>
            <a:off x="3476625" y="5257800"/>
            <a:ext cx="20859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Bipartite Graph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424" name="Text Box 37"/>
          <p:cNvSpPr txBox="1"/>
          <p:nvPr/>
        </p:nvSpPr>
        <p:spPr>
          <a:xfrm>
            <a:off x="682625" y="5600700"/>
            <a:ext cx="26701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Like Venn diagrams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425" name="Text Box 38"/>
          <p:cNvSpPr txBox="1"/>
          <p:nvPr/>
        </p:nvSpPr>
        <p:spPr>
          <a:xfrm>
            <a:off x="3581400" y="3048000"/>
            <a:ext cx="3698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endParaRPr lang="en-US" altLang="zh-CN" sz="2400" i="1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6426" name="Text Box 39"/>
          <p:cNvSpPr txBox="1"/>
          <p:nvPr/>
        </p:nvSpPr>
        <p:spPr>
          <a:xfrm>
            <a:off x="4659313" y="3048000"/>
            <a:ext cx="3698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endParaRPr lang="en-US" altLang="zh-CN" sz="2400" i="1" dirty="0"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Functions</a:t>
            </a:r>
            <a:r>
              <a:rPr lang="en-US" altLang="zh-CN" b="1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 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f 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: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A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  <a:cs typeface="+mj-cs"/>
              </a:rPr>
              <a:t>®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B</a:t>
            </a:r>
            <a:endParaRPr lang="en-US" altLang="zh-CN" i="1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SzPct val="60000"/>
            </a:pP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is called the </a:t>
            </a:r>
            <a:r>
              <a:rPr lang="en-US" altLang="zh-CN" sz="2800" i="1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domain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（定义域）</a:t>
            </a:r>
            <a:endParaRPr lang="zh-CN" altLang="en-US" sz="2800" dirty="0">
              <a:solidFill>
                <a:schemeClr val="hlink"/>
              </a:solidFill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lnSpc>
                <a:spcPct val="90000"/>
              </a:lnSpc>
              <a:buSzPct val="60000"/>
            </a:pP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is called the </a:t>
            </a:r>
            <a:r>
              <a:rPr lang="en-US" altLang="zh-CN" sz="2800" i="1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codomain 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（陪域）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.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lnSpc>
                <a:spcPct val="90000"/>
              </a:lnSpc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If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) =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y</a:t>
            </a:r>
            <a:endParaRPr lang="en-US" altLang="zh-CN" sz="2800" i="1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lnSpc>
                <a:spcPct val="90000"/>
              </a:lnSpc>
              <a:buSzPct val="55000"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y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 is called the </a:t>
            </a:r>
            <a:r>
              <a:rPr lang="en-US" altLang="zh-CN" sz="2400" i="1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</a:rPr>
              <a:t>image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</a:rPr>
              <a:t>像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</a:rPr>
              <a:t>value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</a:rPr>
              <a:t>值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</a:rPr>
              <a:t>)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of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 under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endParaRPr lang="en-US" altLang="zh-CN" sz="2400" i="1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lnSpc>
                <a:spcPct val="90000"/>
              </a:lnSpc>
              <a:buSzPct val="55000"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 is called a </a:t>
            </a:r>
            <a:r>
              <a:rPr lang="en-US" altLang="zh-CN" sz="2400" i="1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</a:rPr>
              <a:t>preimage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</a:rPr>
              <a:t>源像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</a:rPr>
              <a:t>argument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</a:rPr>
              <a:t>)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of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y</a:t>
            </a:r>
            <a:endParaRPr lang="en-US" altLang="zh-CN" sz="2400" i="1" dirty="0">
              <a:latin typeface="Times New Roman" panose="02020503050405090304" pitchFamily="18" charset="0"/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The </a:t>
            </a:r>
            <a:r>
              <a:rPr lang="en-US" altLang="zh-CN" sz="2800" i="1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range 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（值域）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of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is the set of all images of points in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under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. It is denoted by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).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lnSpc>
                <a:spcPct val="90000"/>
              </a:lnSpc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If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S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is a subset of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then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lnSpc>
                <a:spcPct val="90000"/>
              </a:lnSpc>
              <a:buSzPct val="55000"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S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 = {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s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 |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s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 in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S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}.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1741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1741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Example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18435" name="Rectangle 4"/>
          <p:cNvSpPr>
            <a:spLocks noGrp="1"/>
          </p:cNvSpPr>
          <p:nvPr>
            <p:ph idx="1"/>
          </p:nvPr>
        </p:nvSpPr>
        <p:spPr>
          <a:xfrm>
            <a:off x="3348038" y="2060575"/>
            <a:ext cx="5472112" cy="4114800"/>
          </a:xfrm>
        </p:spPr>
        <p:txBody>
          <a:bodyPr vert="horz" wrap="square" lIns="91440" tIns="45720" rIns="91440" bIns="45720" anchor="t" anchorCtr="0"/>
          <a:p>
            <a:pPr lvl="2" eaLnBrk="1" hangingPunct="1">
              <a:buSzPct val="50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) =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Z</a:t>
            </a:r>
            <a:endParaRPr lang="en-US" altLang="zh-CN" i="1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2" eaLnBrk="1" hangingPunct="1">
              <a:buSzPct val="5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the image of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d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is Z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2" eaLnBrk="1" hangingPunct="1">
              <a:buSzPct val="5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the domain of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is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= {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c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d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}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2" eaLnBrk="1" hangingPunct="1">
              <a:buSzPct val="5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the codomain is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= {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Y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Z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}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2" eaLnBrk="1" hangingPunct="1">
              <a:buSzPct val="50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) = {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Y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Z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}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2" eaLnBrk="1" hangingPunct="1">
              <a:buSzPct val="5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the preimage of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Y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is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endParaRPr lang="en-US" altLang="zh-CN" i="1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2" eaLnBrk="1" hangingPunct="1">
              <a:buSzPct val="5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the preimages of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Z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are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c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and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d</a:t>
            </a:r>
            <a:endParaRPr lang="en-US" altLang="zh-CN" i="1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2" eaLnBrk="1" hangingPunct="1">
              <a:buSzPct val="50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({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c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,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d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}) = {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Z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}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843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1843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1843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pic>
        <p:nvPicPr>
          <p:cNvPr id="18439" name="Picture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0825" y="2565400"/>
            <a:ext cx="3657600" cy="24685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Range versus Codomain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The range of a function might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not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be its whole codomain.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The codomain is the set that the function is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declared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to map all domain values into.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The range is the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particular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set of values in the codomain that the function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actually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maps elements of the domain to.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1946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1946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Range vs. Codomain – Example 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Suppose I declare to you that: “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is a function mapping students in this class to the set of grades {A,B,C,D,E}.”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At this point, you know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’s codomain is: __________, and its range is ________.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Suppose the grades turn out all As and Bs.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Then the range of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is _________, but its codomain is __________________.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2048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048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048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82660" name="Text Box 4"/>
          <p:cNvSpPr txBox="1"/>
          <p:nvPr/>
        </p:nvSpPr>
        <p:spPr>
          <a:xfrm>
            <a:off x="1421130" y="3375025"/>
            <a:ext cx="235902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{A,B,C,D,E}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82661" name="Text Box 5"/>
          <p:cNvSpPr txBox="1"/>
          <p:nvPr/>
        </p:nvSpPr>
        <p:spPr>
          <a:xfrm>
            <a:off x="6300788" y="3375025"/>
            <a:ext cx="183197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unknown!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82662" name="Text Box 6"/>
          <p:cNvSpPr txBox="1"/>
          <p:nvPr/>
        </p:nvSpPr>
        <p:spPr>
          <a:xfrm>
            <a:off x="5029200" y="4535805"/>
            <a:ext cx="124142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{A,B}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82663" name="Text Box 7"/>
          <p:cNvSpPr txBox="1"/>
          <p:nvPr/>
        </p:nvSpPr>
        <p:spPr>
          <a:xfrm>
            <a:off x="3635375" y="5069205"/>
            <a:ext cx="3205163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still {A,B,C,D,E}!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82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2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26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826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826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826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82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82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660" grpId="0"/>
      <p:bldP spid="582661" grpId="0"/>
      <p:bldP spid="582662" grpId="0"/>
      <p:bldP spid="58266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Operators (general definition)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An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n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-ary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operator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over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(or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on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) the set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S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is any function from the set of ordered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n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-tuples of elements of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S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to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S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itself.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E.g.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if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S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={</a:t>
            </a:r>
            <a:r>
              <a:rPr lang="en-US" altLang="zh-CN" b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T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</a:t>
            </a:r>
            <a:r>
              <a:rPr lang="en-US" altLang="zh-CN" b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},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 can be seen as a unary operator, and , are binary operators on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S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Another example:  and  are binary operators on the set of all sets.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150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151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Constructing Function Operators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If  (“dot”) is any operator over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, then we can extend  to also denote an operator over </a:t>
            </a:r>
            <a:r>
              <a:rPr lang="en-US" altLang="zh-CN" u="sng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functions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: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.</a:t>
            </a:r>
            <a:endParaRPr lang="en-US" altLang="zh-CN" i="1" dirty="0"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  <a:p>
            <a:pPr eaLnBrk="1" hangingPunct="1">
              <a:buSzPct val="60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E.g.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: Given any binary operator :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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, and functions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,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: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, we define</a:t>
            </a:r>
            <a:b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</a:b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f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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):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B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to be the function defined by:</a:t>
            </a:r>
            <a:br>
              <a:rPr lang="en-US" altLang="zh-CN" dirty="0">
                <a:solidFill>
                  <a:schemeClr val="accent2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</a:b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, 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f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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)(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) =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)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)</a:t>
            </a:r>
            <a:r>
              <a:rPr lang="en-US" altLang="zh-CN" dirty="0">
                <a:solidFill>
                  <a:schemeClr val="accent2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.</a:t>
            </a:r>
            <a:endParaRPr lang="en-US" altLang="zh-CN" dirty="0">
              <a:solidFill>
                <a:schemeClr val="accent2"/>
              </a:solidFill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253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253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Function Operator Example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2355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355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355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" name="内容占位符 1"/>
          <p:cNvSpPr/>
          <p:nvPr>
            <p:ph idx="1"/>
          </p:nvPr>
        </p:nvSpPr>
        <p:spPr>
          <a:xfrm>
            <a:off x="-132080" y="1196975"/>
            <a:ext cx="9310370" cy="5194300"/>
          </a:xfrm>
        </p:spPr>
        <p:txBody>
          <a:bodyPr/>
          <a:p>
            <a:pPr eaLnBrk="1" hangingPunct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3200" b="1" dirty="0">
                <a:sym typeface="Symbol" panose="05050102010706020507" pitchFamily="18" charset="2"/>
              </a:rPr>
              <a:t>Examples:</a:t>
            </a:r>
            <a:endParaRPr lang="en-US" altLang="zh-CN" sz="3200" b="1" kern="0" dirty="0">
              <a:sym typeface="Symbol" panose="05050102010706020507" pitchFamily="18" charset="2"/>
            </a:endParaRP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3200" dirty="0">
                <a:sym typeface="Symbol" panose="05050102010706020507" pitchFamily="18" charset="2"/>
              </a:rPr>
              <a:t>+(plus),</a:t>
            </a:r>
            <a:r>
              <a:rPr lang="en-US" altLang="zh-CN" sz="3200" i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sym typeface="Symbol" panose="05050102010706020507" pitchFamily="18" charset="2"/>
              </a:rPr>
              <a:t>(times) are binary operators.</a:t>
            </a:r>
            <a:endParaRPr lang="en-US" altLang="zh-CN" sz="3200" kern="0" dirty="0">
              <a:sym typeface="Symbol" panose="05050102010706020507" pitchFamily="18" charset="2"/>
            </a:endParaRP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3200" dirty="0">
                <a:sym typeface="Symbol" panose="05050102010706020507" pitchFamily="18" charset="2"/>
              </a:rPr>
              <a:t>We can also add and multiply functions </a:t>
            </a:r>
            <a:r>
              <a:rPr lang="en-US" altLang="zh-CN" sz="3200" dirty="0" err="1">
                <a:sym typeface="Symbol" panose="05050102010706020507" pitchFamily="18" charset="2"/>
              </a:rPr>
              <a:t>f,g</a:t>
            </a:r>
            <a:r>
              <a:rPr lang="en-US" altLang="zh-CN" sz="3200" dirty="0">
                <a:sym typeface="Symbol" panose="05050102010706020507" pitchFamily="18" charset="2"/>
              </a:rPr>
              <a:t>: R</a:t>
            </a:r>
            <a:r>
              <a:rPr lang="en-US" altLang="zh-CN" sz="3200" i="1" dirty="0">
                <a:sym typeface="Symbol" panose="05050102010706020507" pitchFamily="18" charset="2"/>
              </a:rPr>
              <a:t> </a:t>
            </a:r>
            <a:r>
              <a:rPr lang="en-US" altLang="zh-CN" sz="3200" dirty="0">
                <a:sym typeface="Symbol" panose="05050102010706020507" pitchFamily="18" charset="2"/>
              </a:rPr>
              <a:t>R:</a:t>
            </a:r>
            <a:endParaRPr lang="en-US" altLang="zh-CN" sz="3200" kern="0" dirty="0">
              <a:sym typeface="Symbol" panose="05050102010706020507" pitchFamily="18" charset="2"/>
            </a:endParaRPr>
          </a:p>
          <a:p>
            <a:pPr marL="914400" lvl="2" indent="0" eaLnBrk="1" hangingPunct="1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altLang="zh-CN" sz="3200" i="1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sz="3200" i="1" dirty="0" err="1">
                <a:solidFill>
                  <a:srgbClr val="FF0000"/>
                </a:solidFill>
                <a:sym typeface="Symbol" panose="05050102010706020507" pitchFamily="18" charset="2"/>
              </a:rPr>
              <a:t>f+g</a:t>
            </a:r>
            <a:r>
              <a:rPr lang="en-US" altLang="zh-CN" sz="3200" i="1" dirty="0">
                <a:solidFill>
                  <a:srgbClr val="FF0000"/>
                </a:solidFill>
                <a:sym typeface="Symbol" panose="05050102010706020507" pitchFamily="18" charset="2"/>
              </a:rPr>
              <a:t>):R  R, where (</a:t>
            </a:r>
            <a:r>
              <a:rPr lang="en-US" altLang="zh-CN" sz="3200" i="1" dirty="0" err="1">
                <a:solidFill>
                  <a:srgbClr val="FF0000"/>
                </a:solidFill>
                <a:sym typeface="Symbol" panose="05050102010706020507" pitchFamily="18" charset="2"/>
              </a:rPr>
              <a:t>f+g</a:t>
            </a:r>
            <a:r>
              <a:rPr lang="en-US" altLang="zh-CN" sz="3200" i="1" dirty="0">
                <a:solidFill>
                  <a:srgbClr val="FF0000"/>
                </a:solidFill>
                <a:sym typeface="Symbol" panose="05050102010706020507" pitchFamily="18" charset="2"/>
              </a:rPr>
              <a:t>)(x)= f(x)+g(x). </a:t>
            </a:r>
            <a:endParaRPr lang="en-US" altLang="zh-CN" sz="3200" i="1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marL="457200" lvl="1" indent="0" eaLnBrk="1" hangingPunct="1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altLang="zh-CN" sz="3200" i="1" dirty="0">
                <a:solidFill>
                  <a:srgbClr val="FF0000"/>
                </a:solidFill>
                <a:sym typeface="Symbol" panose="05050102010706020507" pitchFamily="18" charset="2"/>
              </a:rPr>
              <a:t>	(</a:t>
            </a:r>
            <a:r>
              <a:rPr lang="en-US" altLang="zh-CN" sz="3200" i="1" dirty="0" err="1">
                <a:solidFill>
                  <a:srgbClr val="FF0000"/>
                </a:solidFill>
                <a:sym typeface="Symbol" panose="05050102010706020507" pitchFamily="18" charset="2"/>
              </a:rPr>
              <a:t>fg</a:t>
            </a:r>
            <a:r>
              <a:rPr lang="en-US" altLang="zh-CN" sz="3200" i="1" dirty="0">
                <a:solidFill>
                  <a:srgbClr val="FF0000"/>
                </a:solidFill>
                <a:sym typeface="Symbol" panose="05050102010706020507" pitchFamily="18" charset="2"/>
              </a:rPr>
              <a:t>):R  R, where (</a:t>
            </a:r>
            <a:r>
              <a:rPr lang="en-US" altLang="zh-CN" sz="3200" i="1" dirty="0" err="1">
                <a:solidFill>
                  <a:srgbClr val="FF0000"/>
                </a:solidFill>
                <a:sym typeface="Symbol" panose="05050102010706020507" pitchFamily="18" charset="2"/>
              </a:rPr>
              <a:t>fg</a:t>
            </a:r>
            <a:r>
              <a:rPr lang="en-US" altLang="zh-CN" sz="3200" i="1" dirty="0">
                <a:solidFill>
                  <a:srgbClr val="FF0000"/>
                </a:solidFill>
                <a:sym typeface="Symbol" panose="05050102010706020507" pitchFamily="18" charset="2"/>
              </a:rPr>
              <a:t>)(x)= f(x) g(x). </a:t>
            </a:r>
            <a:endParaRPr lang="en-US" altLang="zh-CN" sz="3200" i="1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marL="457200" lvl="1" indent="0" eaLnBrk="1" hangingPunct="1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altLang="zh-CN" sz="3200" b="1" dirty="0">
                <a:sym typeface="Symbol" panose="05050102010706020507" pitchFamily="18" charset="2"/>
              </a:rPr>
              <a:t>Examples:</a:t>
            </a:r>
            <a:endParaRPr lang="en-US" altLang="zh-CN" sz="3200" b="1" kern="0" dirty="0">
              <a:sym typeface="Symbol" panose="05050102010706020507" pitchFamily="18" charset="2"/>
            </a:endParaRPr>
          </a:p>
          <a:p>
            <a:pPr marL="742950" lvl="2" indent="-34290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60000"/>
              <a:defRPr/>
            </a:pPr>
            <a:r>
              <a:rPr lang="en-US" altLang="zh-CN" sz="3200" i="1" dirty="0">
                <a:sym typeface="Symbol" panose="05050102010706020507" pitchFamily="18" charset="2"/>
              </a:rPr>
              <a:t>f(x)=x</a:t>
            </a:r>
            <a:r>
              <a:rPr lang="en-US" altLang="zh-CN" sz="3200" i="1" baseline="30000" dirty="0">
                <a:sym typeface="Symbol" panose="05050102010706020507" pitchFamily="18" charset="2"/>
              </a:rPr>
              <a:t>2</a:t>
            </a:r>
            <a:r>
              <a:rPr lang="en-US" altLang="zh-CN" sz="3200" i="1" dirty="0">
                <a:sym typeface="Symbol" panose="05050102010706020507" pitchFamily="18" charset="2"/>
              </a:rPr>
              <a:t>, g(x)=2x+1</a:t>
            </a:r>
            <a:endParaRPr lang="en-US" altLang="zh-CN" sz="3200" i="1" kern="0" dirty="0">
              <a:sym typeface="Symbol" panose="05050102010706020507" pitchFamily="18" charset="2"/>
            </a:endParaRPr>
          </a:p>
          <a:p>
            <a:pPr marL="742950" lvl="2" indent="-34290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60000"/>
              <a:defRPr/>
            </a:pPr>
            <a:r>
              <a:rPr lang="en-US" altLang="zh-CN" sz="3200" i="1" dirty="0">
                <a:sym typeface="Symbol" panose="05050102010706020507" pitchFamily="18" charset="2"/>
              </a:rPr>
              <a:t>(</a:t>
            </a:r>
            <a:r>
              <a:rPr lang="en-US" altLang="zh-CN" sz="3200" i="1" dirty="0" err="1">
                <a:sym typeface="Symbol" panose="05050102010706020507" pitchFamily="18" charset="2"/>
              </a:rPr>
              <a:t>f+g</a:t>
            </a:r>
            <a:r>
              <a:rPr lang="en-US" altLang="zh-CN" sz="3200" i="1" dirty="0">
                <a:sym typeface="Symbol" panose="05050102010706020507" pitchFamily="18" charset="2"/>
              </a:rPr>
              <a:t>)(x)=f(x)+ g(x)= x</a:t>
            </a:r>
            <a:r>
              <a:rPr lang="en-US" altLang="zh-CN" sz="3200" i="1" baseline="30000" dirty="0">
                <a:sym typeface="Symbol" panose="05050102010706020507" pitchFamily="18" charset="2"/>
              </a:rPr>
              <a:t>2</a:t>
            </a:r>
            <a:r>
              <a:rPr lang="en-US" altLang="zh-CN" sz="3200" i="1" dirty="0">
                <a:sym typeface="Symbol" panose="05050102010706020507" pitchFamily="18" charset="2"/>
              </a:rPr>
              <a:t>+2x+1</a:t>
            </a:r>
            <a:endParaRPr lang="en-US" altLang="zh-CN" sz="3200" i="1" kern="0" dirty="0">
              <a:sym typeface="Symbol" panose="05050102010706020507" pitchFamily="18" charset="2"/>
            </a:endParaRPr>
          </a:p>
          <a:p>
            <a:pPr marL="742950" lvl="2" indent="-34290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60000"/>
              <a:defRPr/>
            </a:pPr>
            <a:r>
              <a:rPr lang="en-US" altLang="zh-CN" sz="3200" i="1" dirty="0">
                <a:sym typeface="Symbol" panose="05050102010706020507" pitchFamily="18" charset="2"/>
              </a:rPr>
              <a:t>(</a:t>
            </a:r>
            <a:r>
              <a:rPr lang="en-US" altLang="zh-CN" sz="3200" i="1" dirty="0" err="1">
                <a:sym typeface="Symbol" panose="05050102010706020507" pitchFamily="18" charset="2"/>
              </a:rPr>
              <a:t>fg</a:t>
            </a:r>
            <a:r>
              <a:rPr lang="en-US" altLang="zh-CN" sz="3200" i="1" dirty="0">
                <a:sym typeface="Symbol" panose="05050102010706020507" pitchFamily="18" charset="2"/>
              </a:rPr>
              <a:t>)(x)=f(x)</a:t>
            </a:r>
            <a:r>
              <a:rPr lang="en-US" altLang="zh-CN" sz="3200" i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3200" i="1" dirty="0">
                <a:sym typeface="Symbol" panose="05050102010706020507" pitchFamily="18" charset="2"/>
              </a:rPr>
              <a:t>g(x)= x</a:t>
            </a:r>
            <a:r>
              <a:rPr lang="en-US" altLang="zh-CN" sz="3200" i="1" baseline="30000" dirty="0">
                <a:sym typeface="Symbol" panose="05050102010706020507" pitchFamily="18" charset="2"/>
              </a:rPr>
              <a:t>2</a:t>
            </a:r>
            <a:r>
              <a:rPr lang="en-US" altLang="zh-CN" sz="3200" i="1" dirty="0">
                <a:sym typeface="Symbol" panose="05050102010706020507" pitchFamily="18" charset="2"/>
              </a:rPr>
              <a:t> (2x+1)</a:t>
            </a:r>
            <a:endParaRPr lang="en-US" altLang="zh-CN" sz="3200" i="1" kern="0" dirty="0">
              <a:sym typeface="Symbol" panose="05050102010706020507" pitchFamily="18" charset="2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Special types of Functions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Injections</a:t>
            </a:r>
            <a:r>
              <a:rPr lang="zh-CN" altLang="en-US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（内射）</a:t>
            </a:r>
            <a:endParaRPr lang="zh-CN" altLang="en-US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buSzPct val="55000"/>
            </a:pPr>
            <a:r>
              <a:rPr lang="en-US" altLang="zh-CN" i="1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</a:rPr>
              <a:t>One-to-one </a:t>
            </a:r>
            <a:r>
              <a:rPr lang="zh-CN" altLang="en-US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</a:rPr>
              <a:t>（一对一）</a:t>
            </a:r>
            <a:endParaRPr lang="en-US" altLang="zh-CN" i="1" dirty="0">
              <a:solidFill>
                <a:schemeClr val="hlink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Surjections </a:t>
            </a:r>
            <a:r>
              <a:rPr lang="zh-CN" altLang="en-US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（满射）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buSzPct val="55000"/>
            </a:pPr>
            <a:r>
              <a:rPr lang="en-US" altLang="zh-CN" i="1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</a:rPr>
              <a:t>onto </a:t>
            </a:r>
            <a:r>
              <a:rPr lang="zh-CN" altLang="en-US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</a:rPr>
              <a:t>（上的）</a:t>
            </a:r>
            <a:endParaRPr lang="en-US" altLang="zh-CN" i="1" dirty="0">
              <a:solidFill>
                <a:schemeClr val="hlink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Bijections </a:t>
            </a:r>
            <a:r>
              <a:rPr lang="zh-CN" altLang="en-US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（双射）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buSzPct val="55000"/>
            </a:pPr>
            <a:r>
              <a:rPr lang="en-US" altLang="zh-CN" i="1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</a:rPr>
              <a:t>One-to-one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and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</a:rPr>
              <a:t>onto</a:t>
            </a:r>
            <a:endParaRPr lang="en-US" altLang="zh-CN" i="1" dirty="0">
              <a:solidFill>
                <a:schemeClr val="hlink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buSzPct val="55000"/>
            </a:pPr>
            <a:r>
              <a:rPr lang="en-US" altLang="zh-CN" i="1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</a:rPr>
              <a:t>One-to-one correspondence </a:t>
            </a:r>
            <a:r>
              <a:rPr lang="zh-CN" altLang="en-US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</a:rPr>
              <a:t>（一一对应）</a:t>
            </a:r>
            <a:endParaRPr lang="en-US" altLang="zh-CN" dirty="0">
              <a:solidFill>
                <a:schemeClr val="hlink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458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458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458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One-to-One Functions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>
          <a:xfrm>
            <a:off x="539115" y="1340485"/>
            <a:ext cx="8604885" cy="4801235"/>
          </a:xfrm>
        </p:spPr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 function is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one-to-one (1-1)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or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injective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or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an injection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iff every element of its range has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only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1 pre-image. 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buSzPct val="55000"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Formally: given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: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B,</a:t>
            </a:r>
            <a:b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</a:b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“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 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is injective” :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 (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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,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y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: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y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f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)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f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y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)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).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  <a:sym typeface="Symbol" panose="05050102010706020507" pitchFamily="18" charset="2"/>
            </a:endParaRPr>
          </a:p>
          <a:p>
            <a:pPr eaLnBrk="1" hangingPunct="1"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Only </a:t>
            </a:r>
            <a:r>
              <a:rPr lang="en-US" altLang="zh-CN" sz="2800" u="sng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one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element of the domain is mapped </a:t>
            </a:r>
            <a:r>
              <a:rPr lang="en-US" altLang="zh-CN" sz="2800" u="sng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to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any given </a:t>
            </a:r>
            <a:r>
              <a:rPr lang="en-US" altLang="zh-CN" sz="2800" u="sng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one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element of the range.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  <a:p>
            <a:pPr lvl="1" eaLnBrk="1" hangingPunct="1">
              <a:buSzPct val="55000"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Domain &amp; range have same cardinality. What about codomain?</a:t>
            </a:r>
            <a:endParaRPr lang="en-US" altLang="zh-CN" i="1" dirty="0">
              <a:latin typeface="Times New Roman" panose="02020503050405090304" pitchFamily="18" charset="0"/>
              <a:ea typeface="宋体" pitchFamily="2" charset="-122"/>
              <a:sym typeface="Symbol" panose="05050102010706020507" pitchFamily="18" charset="2"/>
            </a:endParaRPr>
          </a:p>
          <a:p>
            <a:pPr eaLnBrk="1" hangingPunct="1"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Memory jogger:  Each element of the domain is </a:t>
            </a:r>
            <a:r>
              <a:rPr lang="en-US" altLang="zh-CN" sz="2800" u="sng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injected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into a different element of the range.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  <a:p>
            <a:pPr lvl="1" eaLnBrk="1" hangingPunct="1">
              <a:buSzPct val="55000"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Compare “each dose of vaccine is injected into a different patient.”</a:t>
            </a:r>
            <a:endParaRPr lang="en-US" altLang="zh-CN" sz="2400" i="1" dirty="0">
              <a:latin typeface="Times New Roman" panose="02020503050405090304" pitchFamily="18" charset="0"/>
              <a:ea typeface="宋体" pitchFamily="2" charset="-122"/>
              <a:sym typeface="Symbol" panose="05050102010706020507" pitchFamily="18" charset="2"/>
            </a:endParaRPr>
          </a:p>
        </p:txBody>
      </p:sp>
      <p:sp>
        <p:nvSpPr>
          <p:cNvPr id="2560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560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560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5607" name="WordArt 4"/>
          <p:cNvSpPr>
            <a:spLocks noTextEdit="1"/>
          </p:cNvSpPr>
          <p:nvPr/>
        </p:nvSpPr>
        <p:spPr>
          <a:xfrm>
            <a:off x="7820978" y="3890645"/>
            <a:ext cx="1179512" cy="685800"/>
          </a:xfrm>
          <a:prstGeom prst="rect">
            <a:avLst/>
          </a:prstGeom>
        </p:spPr>
        <p:txBody>
          <a:bodyPr wrap="none" fromWordArt="1">
            <a:prstTxWarp prst="textTriangle">
              <a:avLst>
                <a:gd name="adj" fmla="val 50000"/>
              </a:avLst>
            </a:prstTxWarp>
            <a:normAutofit/>
            <a:scene3d>
              <a:camera prst="legacyObliqueTopLeft">
                <a:rot lat="0" lon="0" rev="0"/>
              </a:camera>
              <a:lightRig rig="legacyNormal3" dir="r"/>
            </a:scene3d>
            <a:sp3d extrusionH="201600" prstMaterial="legacyMatte">
              <a:extrusionClr>
                <a:srgbClr val="0066CC"/>
              </a:extrusionClr>
            </a:sp3d>
          </a:bodyPr>
          <a:p>
            <a:pPr algn="ctr"/>
            <a:r>
              <a:rPr lang="zh-CN" altLang="en-US" sz="3600">
                <a:gradFill rotWithShape="1">
                  <a:gsLst>
                    <a:gs pos="0">
                      <a:srgbClr val="FFFFCC"/>
                    </a:gs>
                    <a:gs pos="100000">
                      <a:srgbClr val="FF9999"/>
                    </a:gs>
                  </a:gsLst>
                  <a:lin ang="5400000" scaled="1"/>
                  <a:tileRect/>
                </a:gradFill>
                <a:latin typeface="Times New Roman" panose="02020503050405090304" pitchFamily="18" charset="0"/>
                <a:ea typeface="Times New Roman" panose="02020503050405090304" pitchFamily="18" charset="0"/>
              </a:rPr>
              <a:t>May Be</a:t>
            </a:r>
            <a:endParaRPr lang="zh-CN" altLang="en-US" sz="3600">
              <a:gradFill rotWithShape="1">
                <a:gsLst>
                  <a:gs pos="0">
                    <a:srgbClr val="FFFFCC"/>
                  </a:gs>
                  <a:gs pos="100000">
                    <a:srgbClr val="FF9999"/>
                  </a:gs>
                </a:gsLst>
                <a:lin ang="5400000" scaled="1"/>
                <a:tileRect/>
              </a:gradFill>
              <a:latin typeface="Times New Roman" panose="02020503050405090304" pitchFamily="18" charset="0"/>
              <a:ea typeface="Times New Roman" panose="02020503050405090304" pitchFamily="18" charset="0"/>
            </a:endParaRPr>
          </a:p>
          <a:p>
            <a:pPr algn="ctr"/>
            <a:r>
              <a:rPr lang="zh-CN" altLang="en-US" sz="3600">
                <a:gradFill rotWithShape="1">
                  <a:gsLst>
                    <a:gs pos="0">
                      <a:srgbClr val="FFFFCC"/>
                    </a:gs>
                    <a:gs pos="100000">
                      <a:srgbClr val="FF9999"/>
                    </a:gs>
                  </a:gsLst>
                  <a:lin ang="5400000" scaled="1"/>
                  <a:tileRect/>
                </a:gradFill>
                <a:latin typeface="Times New Roman" panose="02020503050405090304" pitchFamily="18" charset="0"/>
                <a:ea typeface="Times New Roman" panose="02020503050405090304" pitchFamily="18" charset="0"/>
              </a:rPr>
              <a:t>Larger</a:t>
            </a:r>
            <a:endParaRPr lang="zh-CN" altLang="en-US" sz="3600">
              <a:gradFill rotWithShape="1">
                <a:gsLst>
                  <a:gs pos="0">
                    <a:srgbClr val="FFFFCC"/>
                  </a:gs>
                  <a:gs pos="100000">
                    <a:srgbClr val="FF9999"/>
                  </a:gs>
                </a:gsLst>
                <a:lin ang="5400000" scaled="1"/>
                <a:tileRect/>
              </a:gradFill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One-to-One Illustration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Bipartite (2-part) graph representations of functions that are (or not) one-to-one: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662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663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6631" name="Text Box 4"/>
          <p:cNvSpPr txBox="1"/>
          <p:nvPr/>
        </p:nvSpPr>
        <p:spPr>
          <a:xfrm>
            <a:off x="1295400" y="41910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32" name="Text Box 5"/>
          <p:cNvSpPr txBox="1"/>
          <p:nvPr/>
        </p:nvSpPr>
        <p:spPr>
          <a:xfrm>
            <a:off x="1295400" y="38100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33" name="Text Box 6"/>
          <p:cNvSpPr txBox="1"/>
          <p:nvPr/>
        </p:nvSpPr>
        <p:spPr>
          <a:xfrm>
            <a:off x="1295400" y="35052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34" name="Text Box 7"/>
          <p:cNvSpPr txBox="1"/>
          <p:nvPr/>
        </p:nvSpPr>
        <p:spPr>
          <a:xfrm>
            <a:off x="1295400" y="32004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35" name="Text Box 8"/>
          <p:cNvSpPr txBox="1"/>
          <p:nvPr/>
        </p:nvSpPr>
        <p:spPr>
          <a:xfrm>
            <a:off x="2438400" y="39624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36" name="Text Box 9"/>
          <p:cNvSpPr txBox="1"/>
          <p:nvPr/>
        </p:nvSpPr>
        <p:spPr>
          <a:xfrm>
            <a:off x="2438400" y="44196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37" name="Text Box 10"/>
          <p:cNvSpPr txBox="1"/>
          <p:nvPr/>
        </p:nvSpPr>
        <p:spPr>
          <a:xfrm>
            <a:off x="2438400" y="35814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38" name="Text Box 11"/>
          <p:cNvSpPr txBox="1"/>
          <p:nvPr/>
        </p:nvSpPr>
        <p:spPr>
          <a:xfrm>
            <a:off x="2438400" y="32004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39" name="Line 12"/>
          <p:cNvSpPr/>
          <p:nvPr/>
        </p:nvSpPr>
        <p:spPr>
          <a:xfrm>
            <a:off x="1447800" y="3429000"/>
            <a:ext cx="11430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40" name="Line 13"/>
          <p:cNvSpPr/>
          <p:nvPr/>
        </p:nvSpPr>
        <p:spPr>
          <a:xfrm flipV="1">
            <a:off x="1447800" y="3429000"/>
            <a:ext cx="11430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41" name="Line 14"/>
          <p:cNvSpPr/>
          <p:nvPr/>
        </p:nvSpPr>
        <p:spPr>
          <a:xfrm>
            <a:off x="1447800" y="4038600"/>
            <a:ext cx="11430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42" name="Line 15"/>
          <p:cNvSpPr/>
          <p:nvPr/>
        </p:nvSpPr>
        <p:spPr>
          <a:xfrm>
            <a:off x="1447800" y="4419600"/>
            <a:ext cx="11430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43" name="Text Box 16"/>
          <p:cNvSpPr txBox="1"/>
          <p:nvPr/>
        </p:nvSpPr>
        <p:spPr>
          <a:xfrm>
            <a:off x="2438400" y="47244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44" name="Text Box 17"/>
          <p:cNvSpPr txBox="1"/>
          <p:nvPr/>
        </p:nvSpPr>
        <p:spPr>
          <a:xfrm>
            <a:off x="1236663" y="5334000"/>
            <a:ext cx="15716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One-to-one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45" name="Text Box 18"/>
          <p:cNvSpPr txBox="1"/>
          <p:nvPr/>
        </p:nvSpPr>
        <p:spPr>
          <a:xfrm>
            <a:off x="3657600" y="41910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46" name="Text Box 19"/>
          <p:cNvSpPr txBox="1"/>
          <p:nvPr/>
        </p:nvSpPr>
        <p:spPr>
          <a:xfrm>
            <a:off x="3657600" y="38862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47" name="Text Box 20"/>
          <p:cNvSpPr txBox="1"/>
          <p:nvPr/>
        </p:nvSpPr>
        <p:spPr>
          <a:xfrm>
            <a:off x="3657600" y="35814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48" name="Text Box 21"/>
          <p:cNvSpPr txBox="1"/>
          <p:nvPr/>
        </p:nvSpPr>
        <p:spPr>
          <a:xfrm>
            <a:off x="3657600" y="32766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49" name="Text Box 22"/>
          <p:cNvSpPr txBox="1"/>
          <p:nvPr/>
        </p:nvSpPr>
        <p:spPr>
          <a:xfrm>
            <a:off x="4800600" y="40386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50" name="Text Box 23"/>
          <p:cNvSpPr txBox="1"/>
          <p:nvPr/>
        </p:nvSpPr>
        <p:spPr>
          <a:xfrm>
            <a:off x="4800600" y="43434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51" name="Text Box 24"/>
          <p:cNvSpPr txBox="1"/>
          <p:nvPr/>
        </p:nvSpPr>
        <p:spPr>
          <a:xfrm>
            <a:off x="4800600" y="36576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52" name="Text Box 25"/>
          <p:cNvSpPr txBox="1"/>
          <p:nvPr/>
        </p:nvSpPr>
        <p:spPr>
          <a:xfrm>
            <a:off x="4800600" y="32766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53" name="Line 26"/>
          <p:cNvSpPr/>
          <p:nvPr/>
        </p:nvSpPr>
        <p:spPr>
          <a:xfrm>
            <a:off x="3810000" y="3505200"/>
            <a:ext cx="11430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54" name="Line 27"/>
          <p:cNvSpPr/>
          <p:nvPr/>
        </p:nvSpPr>
        <p:spPr>
          <a:xfrm flipV="1">
            <a:off x="3810000" y="3505200"/>
            <a:ext cx="11430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55" name="Line 28"/>
          <p:cNvSpPr/>
          <p:nvPr/>
        </p:nvSpPr>
        <p:spPr>
          <a:xfrm flipV="1">
            <a:off x="3810000" y="3505200"/>
            <a:ext cx="11430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56" name="Line 29"/>
          <p:cNvSpPr/>
          <p:nvPr/>
        </p:nvSpPr>
        <p:spPr>
          <a:xfrm>
            <a:off x="3810000" y="4419600"/>
            <a:ext cx="11430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57" name="Text Box 30"/>
          <p:cNvSpPr txBox="1"/>
          <p:nvPr/>
        </p:nvSpPr>
        <p:spPr>
          <a:xfrm>
            <a:off x="4800600" y="46482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58" name="Text Box 31"/>
          <p:cNvSpPr txBox="1"/>
          <p:nvPr/>
        </p:nvSpPr>
        <p:spPr>
          <a:xfrm>
            <a:off x="3429000" y="5029200"/>
            <a:ext cx="203676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Not one-to-one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59" name="Text Box 32"/>
          <p:cNvSpPr txBox="1"/>
          <p:nvPr/>
        </p:nvSpPr>
        <p:spPr>
          <a:xfrm>
            <a:off x="6324600" y="43434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60" name="Text Box 33"/>
          <p:cNvSpPr txBox="1"/>
          <p:nvPr/>
        </p:nvSpPr>
        <p:spPr>
          <a:xfrm>
            <a:off x="6324600" y="40386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61" name="Text Box 34"/>
          <p:cNvSpPr txBox="1"/>
          <p:nvPr/>
        </p:nvSpPr>
        <p:spPr>
          <a:xfrm>
            <a:off x="6324600" y="37338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62" name="Text Box 35"/>
          <p:cNvSpPr txBox="1"/>
          <p:nvPr/>
        </p:nvSpPr>
        <p:spPr>
          <a:xfrm>
            <a:off x="6324600" y="34290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63" name="Text Box 36"/>
          <p:cNvSpPr txBox="1"/>
          <p:nvPr/>
        </p:nvSpPr>
        <p:spPr>
          <a:xfrm>
            <a:off x="7467600" y="41910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64" name="Text Box 37"/>
          <p:cNvSpPr txBox="1"/>
          <p:nvPr/>
        </p:nvSpPr>
        <p:spPr>
          <a:xfrm>
            <a:off x="7467600" y="44958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65" name="Text Box 38"/>
          <p:cNvSpPr txBox="1"/>
          <p:nvPr/>
        </p:nvSpPr>
        <p:spPr>
          <a:xfrm>
            <a:off x="7467600" y="38100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66" name="Text Box 39"/>
          <p:cNvSpPr txBox="1"/>
          <p:nvPr/>
        </p:nvSpPr>
        <p:spPr>
          <a:xfrm>
            <a:off x="7467600" y="34290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67" name="Line 40"/>
          <p:cNvSpPr/>
          <p:nvPr/>
        </p:nvSpPr>
        <p:spPr>
          <a:xfrm>
            <a:off x="6477000" y="3657600"/>
            <a:ext cx="11430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68" name="Line 41"/>
          <p:cNvSpPr/>
          <p:nvPr/>
        </p:nvSpPr>
        <p:spPr>
          <a:xfrm flipV="1">
            <a:off x="6477000" y="3657600"/>
            <a:ext cx="11430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69" name="Line 42"/>
          <p:cNvSpPr/>
          <p:nvPr/>
        </p:nvSpPr>
        <p:spPr>
          <a:xfrm>
            <a:off x="6477000" y="4267200"/>
            <a:ext cx="11430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70" name="Line 43"/>
          <p:cNvSpPr/>
          <p:nvPr/>
        </p:nvSpPr>
        <p:spPr>
          <a:xfrm>
            <a:off x="6477000" y="4572000"/>
            <a:ext cx="11430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71" name="Text Box 44"/>
          <p:cNvSpPr txBox="1"/>
          <p:nvPr/>
        </p:nvSpPr>
        <p:spPr>
          <a:xfrm>
            <a:off x="7467600" y="4800600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72" name="Text Box 45"/>
          <p:cNvSpPr txBox="1"/>
          <p:nvPr/>
        </p:nvSpPr>
        <p:spPr>
          <a:xfrm>
            <a:off x="6327775" y="4999038"/>
            <a:ext cx="1579563" cy="8223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Not even a </a:t>
            </a:r>
            <a:b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</a:b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function!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73" name="Line 46"/>
          <p:cNvSpPr/>
          <p:nvPr/>
        </p:nvSpPr>
        <p:spPr>
          <a:xfrm>
            <a:off x="6477000" y="4267200"/>
            <a:ext cx="11430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Sufficient Conditions for 1-1ness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For functions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over numbers, we say: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buSzPct val="55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is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strictly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(or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monotonically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)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increasing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iff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x&gt;y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)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&gt;f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y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)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for all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x,y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in domain;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buSzPct val="55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is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strictly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(or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monotonically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)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decreasing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iff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x&gt;y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)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&lt;f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y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)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for all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x,y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in domain;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If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is either strictly increasing or strictly decreasing, then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is one-to-one. </a:t>
            </a:r>
            <a:r>
              <a:rPr lang="en-US" altLang="zh-CN" i="1" dirty="0">
                <a:solidFill>
                  <a:srgbClr val="006600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E.g.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 </a:t>
            </a:r>
            <a:r>
              <a:rPr lang="en-US" altLang="zh-CN" i="1" dirty="0">
                <a:solidFill>
                  <a:srgbClr val="006600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baseline="30000" dirty="0">
                <a:solidFill>
                  <a:srgbClr val="006600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3</a:t>
            </a:r>
            <a:endParaRPr lang="en-US" altLang="zh-CN" dirty="0">
              <a:solidFill>
                <a:srgbClr val="006600"/>
              </a:solidFill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buSzPct val="55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Converse is not necessarily true. E.g.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1/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endParaRPr lang="en-US" altLang="zh-CN" i="1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765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765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Onto (Surjective) Functions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 function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: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is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onto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or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surjective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or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 surjection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iff its range is equal to its codomain (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, 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: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)=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).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  <a:p>
            <a:pPr eaLnBrk="1" hangingPunct="1">
              <a:buSzPct val="60000"/>
            </a:pP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Think: An </a:t>
            </a:r>
            <a:r>
              <a:rPr lang="en-US" altLang="zh-CN" i="1" dirty="0">
                <a:solidFill>
                  <a:srgbClr val="0066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onto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function maps the set </a:t>
            </a:r>
            <a:r>
              <a:rPr lang="en-US" altLang="zh-CN" i="1" dirty="0">
                <a:solidFill>
                  <a:srgbClr val="0066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lang="en-US" altLang="zh-CN" u="sng" dirty="0">
                <a:solidFill>
                  <a:srgbClr val="0066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onto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(over, covering) the </a:t>
            </a:r>
            <a:r>
              <a:rPr lang="en-US" altLang="zh-CN" i="1" dirty="0">
                <a:solidFill>
                  <a:srgbClr val="0066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entirety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of the set </a:t>
            </a:r>
            <a:r>
              <a:rPr lang="en-US" altLang="zh-CN" i="1" dirty="0">
                <a:solidFill>
                  <a:srgbClr val="0066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lang="en-US" altLang="zh-CN" dirty="0">
                <a:solidFill>
                  <a:srgbClr val="0066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, not just over a piece of it.</a:t>
            </a:r>
            <a:endParaRPr lang="en-US" altLang="zh-CN" dirty="0">
              <a:solidFill>
                <a:srgbClr val="006600"/>
              </a:solidFill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  <a:p>
            <a:pPr eaLnBrk="1" hangingPunct="1">
              <a:buSzPct val="60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E.g.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, for domain &amp; codomain </a:t>
            </a:r>
            <a:r>
              <a:rPr lang="en-US" altLang="zh-CN" b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,</a:t>
            </a:r>
            <a:r>
              <a:rPr lang="en-US" altLang="zh-CN" b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lang="en-US" altLang="zh-CN" baseline="300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3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is onto, whereas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lang="en-US" altLang="zh-CN" baseline="300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2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isn’t.  (Why not?)</a:t>
            </a:r>
            <a:endParaRPr lang="en-US" altLang="zh-CN" i="1" dirty="0"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867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867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Illustration of Onto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Some functions that are, or are not,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onto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their codomains: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2970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970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970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9703" name="Text Box 4"/>
          <p:cNvSpPr txBox="1"/>
          <p:nvPr/>
        </p:nvSpPr>
        <p:spPr>
          <a:xfrm>
            <a:off x="1162050" y="4505643"/>
            <a:ext cx="1724025" cy="8223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Onto</a:t>
            </a:r>
            <a:b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</a:b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(but not 1-1)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04" name="Text Box 5"/>
          <p:cNvSpPr txBox="1"/>
          <p:nvPr/>
        </p:nvSpPr>
        <p:spPr>
          <a:xfrm>
            <a:off x="1219200" y="39262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05" name="Text Box 6"/>
          <p:cNvSpPr txBox="1"/>
          <p:nvPr/>
        </p:nvSpPr>
        <p:spPr>
          <a:xfrm>
            <a:off x="1219200" y="35452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06" name="Text Box 7"/>
          <p:cNvSpPr txBox="1"/>
          <p:nvPr/>
        </p:nvSpPr>
        <p:spPr>
          <a:xfrm>
            <a:off x="1219200" y="32404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07" name="Text Box 8"/>
          <p:cNvSpPr txBox="1"/>
          <p:nvPr/>
        </p:nvSpPr>
        <p:spPr>
          <a:xfrm>
            <a:off x="1219200" y="29356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08" name="Text Box 9"/>
          <p:cNvSpPr txBox="1"/>
          <p:nvPr/>
        </p:nvSpPr>
        <p:spPr>
          <a:xfrm>
            <a:off x="2362200" y="36976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09" name="Text Box 10"/>
          <p:cNvSpPr txBox="1"/>
          <p:nvPr/>
        </p:nvSpPr>
        <p:spPr>
          <a:xfrm>
            <a:off x="1219200" y="43072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10" name="Text Box 11"/>
          <p:cNvSpPr txBox="1"/>
          <p:nvPr/>
        </p:nvSpPr>
        <p:spPr>
          <a:xfrm>
            <a:off x="2362200" y="33166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11" name="Text Box 12"/>
          <p:cNvSpPr txBox="1"/>
          <p:nvPr/>
        </p:nvSpPr>
        <p:spPr>
          <a:xfrm>
            <a:off x="2362200" y="29356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12" name="Line 13"/>
          <p:cNvSpPr/>
          <p:nvPr/>
        </p:nvSpPr>
        <p:spPr>
          <a:xfrm>
            <a:off x="1371600" y="3164205"/>
            <a:ext cx="11430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9713" name="Line 14"/>
          <p:cNvSpPr/>
          <p:nvPr/>
        </p:nvSpPr>
        <p:spPr>
          <a:xfrm flipV="1">
            <a:off x="1371600" y="3164205"/>
            <a:ext cx="11430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9714" name="Line 15"/>
          <p:cNvSpPr/>
          <p:nvPr/>
        </p:nvSpPr>
        <p:spPr>
          <a:xfrm>
            <a:off x="1371600" y="3773805"/>
            <a:ext cx="11430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9715" name="Line 16"/>
          <p:cNvSpPr/>
          <p:nvPr/>
        </p:nvSpPr>
        <p:spPr>
          <a:xfrm>
            <a:off x="1371600" y="4154805"/>
            <a:ext cx="11430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9716" name="Text Box 17"/>
          <p:cNvSpPr txBox="1"/>
          <p:nvPr/>
        </p:nvSpPr>
        <p:spPr>
          <a:xfrm>
            <a:off x="2362200" y="40786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17" name="Line 18"/>
          <p:cNvSpPr/>
          <p:nvPr/>
        </p:nvSpPr>
        <p:spPr>
          <a:xfrm flipV="1">
            <a:off x="1371600" y="4307205"/>
            <a:ext cx="11430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9718" name="Text Box 19"/>
          <p:cNvSpPr txBox="1"/>
          <p:nvPr/>
        </p:nvSpPr>
        <p:spPr>
          <a:xfrm>
            <a:off x="3417888" y="4505643"/>
            <a:ext cx="1327150" cy="8223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Not Onto</a:t>
            </a:r>
            <a:b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</a:b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(or 1-1)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19" name="Text Box 20"/>
          <p:cNvSpPr txBox="1"/>
          <p:nvPr/>
        </p:nvSpPr>
        <p:spPr>
          <a:xfrm>
            <a:off x="3276600" y="39262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20" name="Text Box 21"/>
          <p:cNvSpPr txBox="1"/>
          <p:nvPr/>
        </p:nvSpPr>
        <p:spPr>
          <a:xfrm>
            <a:off x="3276600" y="35452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21" name="Text Box 22"/>
          <p:cNvSpPr txBox="1"/>
          <p:nvPr/>
        </p:nvSpPr>
        <p:spPr>
          <a:xfrm>
            <a:off x="3276600" y="32404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22" name="Text Box 23"/>
          <p:cNvSpPr txBox="1"/>
          <p:nvPr/>
        </p:nvSpPr>
        <p:spPr>
          <a:xfrm>
            <a:off x="3276600" y="29356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23" name="Text Box 24"/>
          <p:cNvSpPr txBox="1"/>
          <p:nvPr/>
        </p:nvSpPr>
        <p:spPr>
          <a:xfrm>
            <a:off x="4419600" y="36976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24" name="Text Box 25"/>
          <p:cNvSpPr txBox="1"/>
          <p:nvPr/>
        </p:nvSpPr>
        <p:spPr>
          <a:xfrm>
            <a:off x="3276600" y="43072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25" name="Text Box 26"/>
          <p:cNvSpPr txBox="1"/>
          <p:nvPr/>
        </p:nvSpPr>
        <p:spPr>
          <a:xfrm>
            <a:off x="4419600" y="33166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26" name="Text Box 27"/>
          <p:cNvSpPr txBox="1"/>
          <p:nvPr/>
        </p:nvSpPr>
        <p:spPr>
          <a:xfrm>
            <a:off x="4419600" y="29356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27" name="Line 28"/>
          <p:cNvSpPr/>
          <p:nvPr/>
        </p:nvSpPr>
        <p:spPr>
          <a:xfrm>
            <a:off x="3429000" y="3164205"/>
            <a:ext cx="11430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9728" name="Line 29"/>
          <p:cNvSpPr/>
          <p:nvPr/>
        </p:nvSpPr>
        <p:spPr>
          <a:xfrm flipV="1">
            <a:off x="3429000" y="3164205"/>
            <a:ext cx="11430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9729" name="Line 30"/>
          <p:cNvSpPr/>
          <p:nvPr/>
        </p:nvSpPr>
        <p:spPr>
          <a:xfrm flipV="1">
            <a:off x="3429000" y="3545205"/>
            <a:ext cx="11430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9730" name="Line 31"/>
          <p:cNvSpPr/>
          <p:nvPr/>
        </p:nvSpPr>
        <p:spPr>
          <a:xfrm>
            <a:off x="3429000" y="4154805"/>
            <a:ext cx="11430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9731" name="Text Box 32"/>
          <p:cNvSpPr txBox="1"/>
          <p:nvPr/>
        </p:nvSpPr>
        <p:spPr>
          <a:xfrm>
            <a:off x="4419600" y="40786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32" name="Line 33"/>
          <p:cNvSpPr/>
          <p:nvPr/>
        </p:nvSpPr>
        <p:spPr>
          <a:xfrm flipV="1">
            <a:off x="3429000" y="4307205"/>
            <a:ext cx="11430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9733" name="Text Box 34"/>
          <p:cNvSpPr txBox="1"/>
          <p:nvPr/>
        </p:nvSpPr>
        <p:spPr>
          <a:xfrm>
            <a:off x="5281613" y="4581843"/>
            <a:ext cx="1258887" cy="8223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Both 1-1</a:t>
            </a:r>
            <a:b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</a:b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and onto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34" name="Text Box 35"/>
          <p:cNvSpPr txBox="1"/>
          <p:nvPr/>
        </p:nvSpPr>
        <p:spPr>
          <a:xfrm>
            <a:off x="5105400" y="40024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35" name="Text Box 36"/>
          <p:cNvSpPr txBox="1"/>
          <p:nvPr/>
        </p:nvSpPr>
        <p:spPr>
          <a:xfrm>
            <a:off x="5105400" y="36214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36" name="Text Box 37"/>
          <p:cNvSpPr txBox="1"/>
          <p:nvPr/>
        </p:nvSpPr>
        <p:spPr>
          <a:xfrm>
            <a:off x="5105400" y="33166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37" name="Text Box 38"/>
          <p:cNvSpPr txBox="1"/>
          <p:nvPr/>
        </p:nvSpPr>
        <p:spPr>
          <a:xfrm>
            <a:off x="5105400" y="30118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38" name="Text Box 39"/>
          <p:cNvSpPr txBox="1"/>
          <p:nvPr/>
        </p:nvSpPr>
        <p:spPr>
          <a:xfrm>
            <a:off x="6248400" y="37738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39" name="Text Box 40"/>
          <p:cNvSpPr txBox="1"/>
          <p:nvPr/>
        </p:nvSpPr>
        <p:spPr>
          <a:xfrm>
            <a:off x="6248400" y="33928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40" name="Text Box 41"/>
          <p:cNvSpPr txBox="1"/>
          <p:nvPr/>
        </p:nvSpPr>
        <p:spPr>
          <a:xfrm>
            <a:off x="6248400" y="30118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41" name="Line 42"/>
          <p:cNvSpPr/>
          <p:nvPr/>
        </p:nvSpPr>
        <p:spPr>
          <a:xfrm flipV="1">
            <a:off x="5257800" y="3240405"/>
            <a:ext cx="11430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9742" name="Line 43"/>
          <p:cNvSpPr/>
          <p:nvPr/>
        </p:nvSpPr>
        <p:spPr>
          <a:xfrm flipV="1">
            <a:off x="5257800" y="3621405"/>
            <a:ext cx="11430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9743" name="Line 44"/>
          <p:cNvSpPr/>
          <p:nvPr/>
        </p:nvSpPr>
        <p:spPr>
          <a:xfrm>
            <a:off x="5257800" y="3240405"/>
            <a:ext cx="1143000" cy="1143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9744" name="Text Box 45"/>
          <p:cNvSpPr txBox="1"/>
          <p:nvPr/>
        </p:nvSpPr>
        <p:spPr>
          <a:xfrm>
            <a:off x="6248400" y="41548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45" name="Line 46"/>
          <p:cNvSpPr/>
          <p:nvPr/>
        </p:nvSpPr>
        <p:spPr>
          <a:xfrm flipV="1">
            <a:off x="5334000" y="4002405"/>
            <a:ext cx="11430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9746" name="Text Box 47"/>
          <p:cNvSpPr txBox="1"/>
          <p:nvPr/>
        </p:nvSpPr>
        <p:spPr>
          <a:xfrm>
            <a:off x="6991350" y="4581843"/>
            <a:ext cx="1190625" cy="8223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1-1 but</a:t>
            </a:r>
            <a:b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</a:b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not onto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47" name="Text Box 48"/>
          <p:cNvSpPr txBox="1"/>
          <p:nvPr/>
        </p:nvSpPr>
        <p:spPr>
          <a:xfrm>
            <a:off x="6781800" y="40024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48" name="Text Box 49"/>
          <p:cNvSpPr txBox="1"/>
          <p:nvPr/>
        </p:nvSpPr>
        <p:spPr>
          <a:xfrm>
            <a:off x="6781800" y="36214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49" name="Text Box 50"/>
          <p:cNvSpPr txBox="1"/>
          <p:nvPr/>
        </p:nvSpPr>
        <p:spPr>
          <a:xfrm>
            <a:off x="6781800" y="33166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50" name="Text Box 51"/>
          <p:cNvSpPr txBox="1"/>
          <p:nvPr/>
        </p:nvSpPr>
        <p:spPr>
          <a:xfrm>
            <a:off x="6781800" y="30118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51" name="Text Box 52"/>
          <p:cNvSpPr txBox="1"/>
          <p:nvPr/>
        </p:nvSpPr>
        <p:spPr>
          <a:xfrm>
            <a:off x="7924800" y="37738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52" name="Text Box 53"/>
          <p:cNvSpPr txBox="1"/>
          <p:nvPr/>
        </p:nvSpPr>
        <p:spPr>
          <a:xfrm>
            <a:off x="7924800" y="33928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53" name="Text Box 54"/>
          <p:cNvSpPr txBox="1"/>
          <p:nvPr/>
        </p:nvSpPr>
        <p:spPr>
          <a:xfrm>
            <a:off x="7924800" y="30118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54" name="Line 55"/>
          <p:cNvSpPr/>
          <p:nvPr/>
        </p:nvSpPr>
        <p:spPr>
          <a:xfrm flipV="1">
            <a:off x="6934200" y="3240405"/>
            <a:ext cx="11430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9755" name="Line 56"/>
          <p:cNvSpPr/>
          <p:nvPr/>
        </p:nvSpPr>
        <p:spPr>
          <a:xfrm flipV="1">
            <a:off x="6934200" y="3621405"/>
            <a:ext cx="11430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9756" name="Line 57"/>
          <p:cNvSpPr/>
          <p:nvPr/>
        </p:nvSpPr>
        <p:spPr>
          <a:xfrm>
            <a:off x="6934200" y="3240405"/>
            <a:ext cx="1143000" cy="1143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9757" name="Text Box 58"/>
          <p:cNvSpPr txBox="1"/>
          <p:nvPr/>
        </p:nvSpPr>
        <p:spPr>
          <a:xfrm>
            <a:off x="7924800" y="41548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758" name="Line 59"/>
          <p:cNvSpPr/>
          <p:nvPr/>
        </p:nvSpPr>
        <p:spPr>
          <a:xfrm flipV="1">
            <a:off x="7010400" y="4002405"/>
            <a:ext cx="11430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9759" name="Text Box 60"/>
          <p:cNvSpPr txBox="1"/>
          <p:nvPr/>
        </p:nvSpPr>
        <p:spPr>
          <a:xfrm>
            <a:off x="7924800" y="2630805"/>
            <a:ext cx="290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•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Bijections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3072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 function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is said to be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 one-to-one correspondence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or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 bijection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or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reversible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or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invertible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iff it is </a:t>
            </a:r>
            <a:b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</a:br>
            <a:r>
              <a:rPr lang="en-US" altLang="zh-CN" u="sng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both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one-to-one </a:t>
            </a:r>
            <a:r>
              <a:rPr lang="en-US" altLang="zh-CN" u="sng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and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onto.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</a:pPr>
            <a:endParaRPr lang="en-US" altLang="zh-CN" baseline="30000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072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072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072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Examples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31747" name="内容占位符 9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endParaRPr lang="zh-CN" altLang="en-US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174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174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175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pic>
        <p:nvPicPr>
          <p:cNvPr id="31751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95400" y="1828800"/>
            <a:ext cx="2857500" cy="1933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2" name="Picture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47800" y="3886200"/>
            <a:ext cx="2619375" cy="2571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3" name="Picture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24400" y="2514600"/>
            <a:ext cx="3990975" cy="2238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Examples: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32771" name="Rectangle 3"/>
          <p:cNvSpPr>
            <a:spLocks noGrp="1"/>
          </p:cNvSpPr>
          <p:nvPr>
            <p:ph idx="1"/>
          </p:nvPr>
        </p:nvSpPr>
        <p:spPr>
          <a:xfrm>
            <a:off x="1115378" y="1371600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Let 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buSzPct val="55000"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 =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 =R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  <a:p>
            <a:pPr eaLnBrk="1" hangingPunct="1"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Determine which are injections, surjections, bijections: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buSzPct val="55000"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 =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,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buSzPct val="55000"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 =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sz="2400" baseline="30000" dirty="0">
                <a:latin typeface="Times New Roman" panose="02020503050405090304" pitchFamily="18" charset="0"/>
                <a:ea typeface="宋体" pitchFamily="2" charset="-122"/>
              </a:rPr>
              <a:t>2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,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buSzPct val="55000"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 =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sz="2400" baseline="30000" dirty="0">
                <a:latin typeface="Times New Roman" panose="02020503050405090304" pitchFamily="18" charset="0"/>
                <a:ea typeface="宋体" pitchFamily="2" charset="-122"/>
              </a:rPr>
              <a:t>3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,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buSzPct val="55000"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 = |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 |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277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277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日期占位符 3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3795" name="文本框 6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ahoma" panose="020B0604030504040204" pitchFamily="34" charset="0"/>
                <a:ea typeface="宋体" pitchFamily="2" charset="-122"/>
              </a:rPr>
              <a:t>Let 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 = 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B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 =R</a:t>
            </a:r>
            <a:endParaRPr lang="en-US" altLang="zh-CN" sz="2400" dirty="0">
              <a:latin typeface="Tahoma" panose="020B060403050404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ahoma" panose="020B0604030504040204" pitchFamily="34" charset="0"/>
                <a:ea typeface="宋体" pitchFamily="2" charset="-122"/>
              </a:rPr>
              <a:t>Determine which are injections</a:t>
            </a:r>
            <a:r>
              <a:rPr lang="zh-CN" altLang="en-US" sz="2800" dirty="0">
                <a:latin typeface="Tahoma" panose="020B0604030504040204" pitchFamily="34" charset="0"/>
                <a:ea typeface="宋体" pitchFamily="2" charset="-122"/>
              </a:rPr>
              <a:t>？</a:t>
            </a:r>
            <a:endParaRPr lang="en-US" altLang="zh-CN" sz="28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3796" name="文本框 7"/>
          <p:cNvSpPr txBox="1"/>
          <p:nvPr>
            <p:custDataLst>
              <p:tags r:id="rId2"/>
            </p:custDataLst>
          </p:nvPr>
        </p:nvSpPr>
        <p:spPr>
          <a:xfrm>
            <a:off x="1828800" y="24923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) = 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endParaRPr lang="en-US" altLang="zh-CN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3797" name="文本框 8"/>
          <p:cNvSpPr txBox="1"/>
          <p:nvPr>
            <p:custDataLst>
              <p:tags r:id="rId3"/>
            </p:custDataLst>
          </p:nvPr>
        </p:nvSpPr>
        <p:spPr>
          <a:xfrm>
            <a:off x="1828800" y="31781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) = 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baseline="30000" dirty="0">
                <a:latin typeface="Tahoma" panose="020B0604030504040204" pitchFamily="34" charset="0"/>
                <a:ea typeface="宋体" pitchFamily="2" charset="-122"/>
              </a:rPr>
              <a:t>2</a:t>
            </a:r>
            <a:endParaRPr lang="en-US" altLang="zh-CN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3798" name="文本框 9"/>
          <p:cNvSpPr txBox="1"/>
          <p:nvPr>
            <p:custDataLst>
              <p:tags r:id="rId4"/>
            </p:custDataLst>
          </p:nvPr>
        </p:nvSpPr>
        <p:spPr>
          <a:xfrm>
            <a:off x="1828800" y="38639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) = 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baseline="30000" dirty="0">
                <a:latin typeface="Tahoma" panose="020B0604030504040204" pitchFamily="34" charset="0"/>
                <a:ea typeface="宋体" pitchFamily="2" charset="-122"/>
              </a:rPr>
              <a:t>3</a:t>
            </a:r>
            <a:endParaRPr lang="en-US" altLang="zh-CN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3799" name="文本框 10"/>
          <p:cNvSpPr txBox="1"/>
          <p:nvPr>
            <p:custDataLst>
              <p:tags r:id="rId5"/>
            </p:custDataLst>
          </p:nvPr>
        </p:nvSpPr>
        <p:spPr>
          <a:xfrm>
            <a:off x="1828800" y="45497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) = | 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 |</a:t>
            </a:r>
            <a:endParaRPr lang="zh-CN" altLang="en-US" sz="2600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33800" name="矩形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55746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u="sng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A</a:t>
            </a:r>
            <a:endParaRPr lang="zh-CN" altLang="en-US" sz="1600" b="1" i="1" u="sng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33801" name="矩形 12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243263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u="sng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B</a:t>
            </a:r>
            <a:endParaRPr lang="zh-CN" altLang="en-US" sz="1600" b="1" i="1" u="sng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33802" name="矩形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92906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u="sng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C</a:t>
            </a:r>
            <a:endParaRPr lang="zh-CN" altLang="en-US" sz="1600" b="1" i="1" u="sng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33803" name="矩形 14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614863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u="sng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D</a:t>
            </a:r>
            <a:endParaRPr lang="zh-CN" altLang="en-US" sz="1600" b="1" i="1" u="sng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33804" name="矩形: 圆角 15"/>
          <p:cNvSpPr/>
          <p:nvPr>
            <p:custDataLst>
              <p:tags r:id="rId10"/>
            </p:custDataLst>
          </p:nvPr>
        </p:nvSpPr>
        <p:spPr>
          <a:xfrm>
            <a:off x="6172200" y="5921375"/>
            <a:ext cx="1543050" cy="4127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i="1" u="sng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提交</a:t>
            </a:r>
            <a:endParaRPr lang="zh-CN" altLang="en-US" sz="1600" b="1" i="1" u="sng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33805" name="文本框 22"/>
          <p:cNvSpPr txBox="1"/>
          <p:nvPr>
            <p:custDataLst>
              <p:tags r:id="rId11"/>
            </p:custDataLst>
          </p:nvPr>
        </p:nvSpPr>
        <p:spPr>
          <a:xfrm>
            <a:off x="1828800" y="52355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600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grpSp>
        <p:nvGrpSpPr>
          <p:cNvPr id="33806" name="组合 20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33808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33809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33810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多选题</a:t>
              </a:r>
              <a:endParaRPr lang="zh-CN" altLang="en-US" sz="2600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33811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pic>
        <p:nvPicPr>
          <p:cNvPr id="33807" name="图片 5"/>
          <p:cNvPicPr/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8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日期占位符 3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4819" name="文本框 6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ahoma" panose="020B0604030504040204" pitchFamily="34" charset="0"/>
                <a:ea typeface="宋体" pitchFamily="2" charset="-122"/>
              </a:rPr>
              <a:t>Let 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 = 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B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 =R</a:t>
            </a:r>
            <a:endParaRPr lang="en-US" altLang="zh-CN" sz="2400" dirty="0">
              <a:latin typeface="Tahoma" panose="020B060403050404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ahoma" panose="020B0604030504040204" pitchFamily="34" charset="0"/>
                <a:ea typeface="宋体" pitchFamily="2" charset="-122"/>
              </a:rPr>
              <a:t>Determine which are surjections </a:t>
            </a:r>
            <a:r>
              <a:rPr lang="zh-CN" altLang="en-US" sz="2800" dirty="0">
                <a:latin typeface="Tahoma" panose="020B0604030504040204" pitchFamily="34" charset="0"/>
                <a:ea typeface="宋体" pitchFamily="2" charset="-122"/>
              </a:rPr>
              <a:t>？</a:t>
            </a:r>
            <a:endParaRPr lang="en-US" altLang="zh-CN" sz="28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4820" name="文本框 7"/>
          <p:cNvSpPr txBox="1"/>
          <p:nvPr>
            <p:custDataLst>
              <p:tags r:id="rId2"/>
            </p:custDataLst>
          </p:nvPr>
        </p:nvSpPr>
        <p:spPr>
          <a:xfrm>
            <a:off x="1828800" y="24923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) = 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endParaRPr lang="en-US" altLang="zh-CN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4821" name="文本框 8"/>
          <p:cNvSpPr txBox="1"/>
          <p:nvPr>
            <p:custDataLst>
              <p:tags r:id="rId3"/>
            </p:custDataLst>
          </p:nvPr>
        </p:nvSpPr>
        <p:spPr>
          <a:xfrm>
            <a:off x="1828800" y="31781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) = 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baseline="30000" dirty="0">
                <a:latin typeface="Tahoma" panose="020B0604030504040204" pitchFamily="34" charset="0"/>
                <a:ea typeface="宋体" pitchFamily="2" charset="-122"/>
              </a:rPr>
              <a:t>2</a:t>
            </a:r>
            <a:endParaRPr lang="en-US" altLang="zh-CN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4822" name="文本框 9"/>
          <p:cNvSpPr txBox="1"/>
          <p:nvPr>
            <p:custDataLst>
              <p:tags r:id="rId4"/>
            </p:custDataLst>
          </p:nvPr>
        </p:nvSpPr>
        <p:spPr>
          <a:xfrm>
            <a:off x="1828800" y="38639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) = 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baseline="30000" dirty="0">
                <a:latin typeface="Tahoma" panose="020B0604030504040204" pitchFamily="34" charset="0"/>
                <a:ea typeface="宋体" pitchFamily="2" charset="-122"/>
              </a:rPr>
              <a:t>3</a:t>
            </a:r>
            <a:endParaRPr lang="en-US" altLang="zh-CN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4823" name="文本框 10"/>
          <p:cNvSpPr txBox="1"/>
          <p:nvPr>
            <p:custDataLst>
              <p:tags r:id="rId5"/>
            </p:custDataLst>
          </p:nvPr>
        </p:nvSpPr>
        <p:spPr>
          <a:xfrm>
            <a:off x="1828800" y="45497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4824" name="矩形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55746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u="sng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A</a:t>
            </a:r>
            <a:endParaRPr lang="zh-CN" altLang="en-US" sz="1600" b="1" i="1" u="sng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34825" name="矩形 12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243263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u="sng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B</a:t>
            </a:r>
            <a:endParaRPr lang="zh-CN" altLang="en-US" sz="1600" b="1" i="1" u="sng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34826" name="矩形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92906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u="sng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C</a:t>
            </a:r>
            <a:endParaRPr lang="zh-CN" altLang="en-US" sz="1600" b="1" i="1" u="sng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34827" name="矩形: 圆角 15"/>
          <p:cNvSpPr/>
          <p:nvPr>
            <p:custDataLst>
              <p:tags r:id="rId9"/>
            </p:custDataLst>
          </p:nvPr>
        </p:nvSpPr>
        <p:spPr>
          <a:xfrm>
            <a:off x="6172200" y="5921375"/>
            <a:ext cx="1543050" cy="4127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i="1" u="sng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提交</a:t>
            </a:r>
            <a:endParaRPr lang="zh-CN" altLang="en-US" sz="1600" b="1" i="1" u="sng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34828" name="文本框 22"/>
          <p:cNvSpPr txBox="1"/>
          <p:nvPr>
            <p:custDataLst>
              <p:tags r:id="rId10"/>
            </p:custDataLst>
          </p:nvPr>
        </p:nvSpPr>
        <p:spPr>
          <a:xfrm>
            <a:off x="1828800" y="4724400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) = | 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 |</a:t>
            </a:r>
            <a:endParaRPr lang="zh-CN" altLang="en-US" sz="2600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34829" name="矩形 23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114425" y="4789488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u="sng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D</a:t>
            </a:r>
            <a:endParaRPr lang="zh-CN" altLang="en-US" sz="1600" b="1" i="1" u="sng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grpSp>
        <p:nvGrpSpPr>
          <p:cNvPr id="34830" name="组合 20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34832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34833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34834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多选题</a:t>
              </a:r>
              <a:endParaRPr lang="zh-CN" altLang="en-US" sz="2600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34835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pic>
        <p:nvPicPr>
          <p:cNvPr id="34831" name="图片 5"/>
          <p:cNvPicPr/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8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日期占位符 3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5843" name="文本框 6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ahoma" panose="020B0604030504040204" pitchFamily="34" charset="0"/>
                <a:ea typeface="宋体" pitchFamily="2" charset="-122"/>
              </a:rPr>
              <a:t>Let 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 = 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B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 =R</a:t>
            </a:r>
            <a:endParaRPr lang="en-US" altLang="zh-CN" sz="2400" dirty="0">
              <a:latin typeface="Tahoma" panose="020B060403050404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ahoma" panose="020B0604030504040204" pitchFamily="34" charset="0"/>
                <a:ea typeface="宋体" pitchFamily="2" charset="-122"/>
              </a:rPr>
              <a:t>Determine which are bijections </a:t>
            </a:r>
            <a:r>
              <a:rPr lang="zh-CN" altLang="en-US" sz="2800" dirty="0">
                <a:latin typeface="Tahoma" panose="020B0604030504040204" pitchFamily="34" charset="0"/>
                <a:ea typeface="宋体" pitchFamily="2" charset="-122"/>
              </a:rPr>
              <a:t>？</a:t>
            </a:r>
            <a:endParaRPr lang="en-US" altLang="zh-CN" sz="28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5844" name="文本框 7"/>
          <p:cNvSpPr txBox="1"/>
          <p:nvPr>
            <p:custDataLst>
              <p:tags r:id="rId2"/>
            </p:custDataLst>
          </p:nvPr>
        </p:nvSpPr>
        <p:spPr>
          <a:xfrm>
            <a:off x="1828800" y="24923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) = 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,</a:t>
            </a:r>
            <a:endParaRPr lang="en-US" altLang="zh-CN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5845" name="文本框 8"/>
          <p:cNvSpPr txBox="1"/>
          <p:nvPr>
            <p:custDataLst>
              <p:tags r:id="rId3"/>
            </p:custDataLst>
          </p:nvPr>
        </p:nvSpPr>
        <p:spPr>
          <a:xfrm>
            <a:off x="1828800" y="31781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) = 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baseline="30000" dirty="0">
                <a:latin typeface="Tahoma" panose="020B0604030504040204" pitchFamily="34" charset="0"/>
                <a:ea typeface="宋体" pitchFamily="2" charset="-122"/>
              </a:rPr>
              <a:t>2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,</a:t>
            </a:r>
            <a:endParaRPr lang="en-US" altLang="zh-CN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5846" name="文本框 9"/>
          <p:cNvSpPr txBox="1"/>
          <p:nvPr>
            <p:custDataLst>
              <p:tags r:id="rId4"/>
            </p:custDataLst>
          </p:nvPr>
        </p:nvSpPr>
        <p:spPr>
          <a:xfrm>
            <a:off x="1828800" y="38639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) = 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baseline="30000" dirty="0">
                <a:latin typeface="Tahoma" panose="020B0604030504040204" pitchFamily="34" charset="0"/>
                <a:ea typeface="宋体" pitchFamily="2" charset="-122"/>
              </a:rPr>
              <a:t>3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,</a:t>
            </a:r>
            <a:endParaRPr lang="en-US" altLang="zh-CN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5847" name="文本框 10"/>
          <p:cNvSpPr txBox="1"/>
          <p:nvPr>
            <p:custDataLst>
              <p:tags r:id="rId5"/>
            </p:custDataLst>
          </p:nvPr>
        </p:nvSpPr>
        <p:spPr>
          <a:xfrm>
            <a:off x="1828800" y="45497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) = | </a:t>
            </a:r>
            <a:r>
              <a:rPr lang="en-US" altLang="zh-CN" sz="2400" i="1" dirty="0">
                <a:latin typeface="Tahoma" panose="020B0604030504040204" pitchFamily="34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ahoma" panose="020B0604030504040204" pitchFamily="34" charset="0"/>
                <a:ea typeface="宋体" pitchFamily="2" charset="-122"/>
              </a:rPr>
              <a:t> |</a:t>
            </a:r>
            <a:endParaRPr lang="zh-CN" altLang="en-US" sz="2600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35848" name="矩形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55746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u="sng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A</a:t>
            </a:r>
            <a:endParaRPr lang="zh-CN" altLang="en-US" sz="1600" b="1" i="1" u="sng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35849" name="矩形 12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243263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u="sng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B</a:t>
            </a:r>
            <a:endParaRPr lang="zh-CN" altLang="en-US" sz="1600" b="1" i="1" u="sng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35850" name="矩形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92906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u="sng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C</a:t>
            </a:r>
            <a:endParaRPr lang="zh-CN" altLang="en-US" sz="1600" b="1" i="1" u="sng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35851" name="矩形 14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614863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u="sng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D</a:t>
            </a:r>
            <a:endParaRPr lang="zh-CN" altLang="en-US" sz="1600" b="1" i="1" u="sng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35852" name="矩形: 圆角 15"/>
          <p:cNvSpPr/>
          <p:nvPr>
            <p:custDataLst>
              <p:tags r:id="rId10"/>
            </p:custDataLst>
          </p:nvPr>
        </p:nvSpPr>
        <p:spPr>
          <a:xfrm>
            <a:off x="6172200" y="5921375"/>
            <a:ext cx="1543050" cy="4127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i="1" u="sng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提交</a:t>
            </a:r>
            <a:endParaRPr lang="zh-CN" altLang="en-US" sz="1600" b="1" i="1" u="sng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35853" name="文本框 22"/>
          <p:cNvSpPr txBox="1"/>
          <p:nvPr>
            <p:custDataLst>
              <p:tags r:id="rId11"/>
            </p:custDataLst>
          </p:nvPr>
        </p:nvSpPr>
        <p:spPr>
          <a:xfrm>
            <a:off x="1828800" y="52355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600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grpSp>
        <p:nvGrpSpPr>
          <p:cNvPr id="35854" name="组合 20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35856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35857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35858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多选题</a:t>
              </a:r>
              <a:endParaRPr lang="zh-CN" altLang="en-US" sz="2600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35859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pic>
        <p:nvPicPr>
          <p:cNvPr id="35855" name="图片 5"/>
          <p:cNvPicPr/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8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Correspondence Principle</a:t>
            </a:r>
            <a:endParaRPr lang="zh-CN" altLang="en-US" sz="4000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If two finite sets can be placed into 1-1 onto correspondence, then they have the same size.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</a:pPr>
            <a:endParaRPr lang="zh-CN" altLang="en-US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686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686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687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The Identity Function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For any domain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the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identity function I:A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(variously written,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I</a:t>
            </a:r>
            <a:r>
              <a:rPr lang="en-US" altLang="zh-CN" i="1" baseline="-250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</a:t>
            </a:r>
            <a:r>
              <a:rPr lang="en-US" altLang="zh-CN" b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1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</a:t>
            </a:r>
            <a:r>
              <a:rPr lang="en-US" altLang="zh-CN" b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1</a:t>
            </a:r>
            <a:r>
              <a:rPr lang="en-US" altLang="zh-CN" i="1" baseline="-250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) is the unique function such that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: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)=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Some identity functions you’ve seen: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  <a:p>
            <a:pPr lvl="1" eaLnBrk="1" hangingPunct="1">
              <a:buSzPct val="55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ing 0, ·ing by 1, ing with </a:t>
            </a:r>
            <a:r>
              <a:rPr lang="en-US" altLang="zh-CN" b="1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T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, ing with </a:t>
            </a:r>
            <a:r>
              <a:rPr lang="en-US" altLang="zh-CN" b="1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, ing with , ing with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U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sym typeface="Symbol" panose="05050102010706020507" pitchFamily="18" charset="2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Note that the identity function is always both one-to-one and onto (bijective).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789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789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Identity Function Illustrations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38915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The identity function: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891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891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891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8919" name="Oval 3"/>
          <p:cNvSpPr/>
          <p:nvPr/>
        </p:nvSpPr>
        <p:spPr>
          <a:xfrm>
            <a:off x="990600" y="2895600"/>
            <a:ext cx="2286000" cy="2590800"/>
          </a:xfrm>
          <a:prstGeom prst="ellipse">
            <a:avLst/>
          </a:prstGeom>
          <a:solidFill>
            <a:srgbClr val="33CCCC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grpSp>
        <p:nvGrpSpPr>
          <p:cNvPr id="38920" name="Group 5"/>
          <p:cNvGrpSpPr/>
          <p:nvPr/>
        </p:nvGrpSpPr>
        <p:grpSpPr>
          <a:xfrm>
            <a:off x="1520825" y="3546475"/>
            <a:ext cx="436563" cy="568325"/>
            <a:chOff x="958" y="2234"/>
            <a:chExt cx="275" cy="358"/>
          </a:xfrm>
        </p:grpSpPr>
        <p:sp>
          <p:nvSpPr>
            <p:cNvPr id="38952" name="Text Box 6"/>
            <p:cNvSpPr txBox="1"/>
            <p:nvPr/>
          </p:nvSpPr>
          <p:spPr>
            <a:xfrm>
              <a:off x="1008" y="2304"/>
              <a:ext cx="1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503050405090304" pitchFamily="18" charset="0"/>
                  <a:ea typeface="宋体" pitchFamily="2" charset="-122"/>
                </a:rPr>
                <a:t>•</a:t>
              </a:r>
              <a:endParaRPr lang="en-US" altLang="zh-CN" sz="2400" dirty="0"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38953" name="Freeform 7"/>
            <p:cNvSpPr/>
            <p:nvPr/>
          </p:nvSpPr>
          <p:spPr>
            <a:xfrm>
              <a:off x="958" y="2234"/>
              <a:ext cx="275" cy="214"/>
            </a:xfrm>
            <a:custGeom>
              <a:avLst/>
              <a:gdLst/>
              <a:ahLst/>
              <a:cxnLst>
                <a:cxn ang="0">
                  <a:pos x="193" y="206"/>
                </a:cxn>
                <a:cxn ang="0">
                  <a:pos x="266" y="93"/>
                </a:cxn>
                <a:cxn ang="0">
                  <a:pos x="137" y="4"/>
                </a:cxn>
                <a:cxn ang="0">
                  <a:pos x="7" y="69"/>
                </a:cxn>
                <a:cxn ang="0">
                  <a:pos x="96" y="214"/>
                </a:cxn>
              </a:cxnLst>
              <a:pathLst>
                <a:path w="275" h="214">
                  <a:moveTo>
                    <a:pt x="193" y="206"/>
                  </a:moveTo>
                  <a:cubicBezTo>
                    <a:pt x="205" y="187"/>
                    <a:pt x="275" y="127"/>
                    <a:pt x="266" y="93"/>
                  </a:cubicBezTo>
                  <a:cubicBezTo>
                    <a:pt x="257" y="59"/>
                    <a:pt x="180" y="8"/>
                    <a:pt x="137" y="4"/>
                  </a:cubicBezTo>
                  <a:cubicBezTo>
                    <a:pt x="94" y="0"/>
                    <a:pt x="14" y="34"/>
                    <a:pt x="7" y="69"/>
                  </a:cubicBezTo>
                  <a:cubicBezTo>
                    <a:pt x="0" y="104"/>
                    <a:pt x="78" y="184"/>
                    <a:pt x="96" y="214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8921" name="Group 8"/>
          <p:cNvGrpSpPr/>
          <p:nvPr/>
        </p:nvGrpSpPr>
        <p:grpSpPr>
          <a:xfrm>
            <a:off x="1905000" y="3886200"/>
            <a:ext cx="436563" cy="568325"/>
            <a:chOff x="958" y="2234"/>
            <a:chExt cx="275" cy="358"/>
          </a:xfrm>
        </p:grpSpPr>
        <p:sp>
          <p:nvSpPr>
            <p:cNvPr id="38950" name="Text Box 9"/>
            <p:cNvSpPr txBox="1"/>
            <p:nvPr/>
          </p:nvSpPr>
          <p:spPr>
            <a:xfrm>
              <a:off x="1008" y="2304"/>
              <a:ext cx="1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503050405090304" pitchFamily="18" charset="0"/>
                  <a:ea typeface="宋体" pitchFamily="2" charset="-122"/>
                </a:rPr>
                <a:t>•</a:t>
              </a:r>
              <a:endParaRPr lang="en-US" altLang="zh-CN" sz="2400" dirty="0"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38951" name="Freeform 10"/>
            <p:cNvSpPr/>
            <p:nvPr/>
          </p:nvSpPr>
          <p:spPr>
            <a:xfrm>
              <a:off x="958" y="2234"/>
              <a:ext cx="275" cy="214"/>
            </a:xfrm>
            <a:custGeom>
              <a:avLst/>
              <a:gdLst/>
              <a:ahLst/>
              <a:cxnLst>
                <a:cxn ang="0">
                  <a:pos x="193" y="206"/>
                </a:cxn>
                <a:cxn ang="0">
                  <a:pos x="266" y="93"/>
                </a:cxn>
                <a:cxn ang="0">
                  <a:pos x="137" y="4"/>
                </a:cxn>
                <a:cxn ang="0">
                  <a:pos x="7" y="69"/>
                </a:cxn>
                <a:cxn ang="0">
                  <a:pos x="96" y="214"/>
                </a:cxn>
              </a:cxnLst>
              <a:pathLst>
                <a:path w="275" h="214">
                  <a:moveTo>
                    <a:pt x="193" y="206"/>
                  </a:moveTo>
                  <a:cubicBezTo>
                    <a:pt x="205" y="187"/>
                    <a:pt x="275" y="127"/>
                    <a:pt x="266" y="93"/>
                  </a:cubicBezTo>
                  <a:cubicBezTo>
                    <a:pt x="257" y="59"/>
                    <a:pt x="180" y="8"/>
                    <a:pt x="137" y="4"/>
                  </a:cubicBezTo>
                  <a:cubicBezTo>
                    <a:pt x="94" y="0"/>
                    <a:pt x="14" y="34"/>
                    <a:pt x="7" y="69"/>
                  </a:cubicBezTo>
                  <a:cubicBezTo>
                    <a:pt x="0" y="104"/>
                    <a:pt x="78" y="184"/>
                    <a:pt x="96" y="214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8922" name="Group 11"/>
          <p:cNvGrpSpPr/>
          <p:nvPr/>
        </p:nvGrpSpPr>
        <p:grpSpPr>
          <a:xfrm>
            <a:off x="2438400" y="4724400"/>
            <a:ext cx="436563" cy="568325"/>
            <a:chOff x="958" y="2234"/>
            <a:chExt cx="275" cy="358"/>
          </a:xfrm>
        </p:grpSpPr>
        <p:sp>
          <p:nvSpPr>
            <p:cNvPr id="38948" name="Text Box 12"/>
            <p:cNvSpPr txBox="1"/>
            <p:nvPr/>
          </p:nvSpPr>
          <p:spPr>
            <a:xfrm>
              <a:off x="1008" y="2304"/>
              <a:ext cx="1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503050405090304" pitchFamily="18" charset="0"/>
                  <a:ea typeface="宋体" pitchFamily="2" charset="-122"/>
                </a:rPr>
                <a:t>•</a:t>
              </a:r>
              <a:endParaRPr lang="en-US" altLang="zh-CN" sz="2400" dirty="0"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38949" name="Freeform 13"/>
            <p:cNvSpPr/>
            <p:nvPr/>
          </p:nvSpPr>
          <p:spPr>
            <a:xfrm>
              <a:off x="958" y="2234"/>
              <a:ext cx="275" cy="214"/>
            </a:xfrm>
            <a:custGeom>
              <a:avLst/>
              <a:gdLst/>
              <a:ahLst/>
              <a:cxnLst>
                <a:cxn ang="0">
                  <a:pos x="193" y="206"/>
                </a:cxn>
                <a:cxn ang="0">
                  <a:pos x="266" y="93"/>
                </a:cxn>
                <a:cxn ang="0">
                  <a:pos x="137" y="4"/>
                </a:cxn>
                <a:cxn ang="0">
                  <a:pos x="7" y="69"/>
                </a:cxn>
                <a:cxn ang="0">
                  <a:pos x="96" y="214"/>
                </a:cxn>
              </a:cxnLst>
              <a:pathLst>
                <a:path w="275" h="214">
                  <a:moveTo>
                    <a:pt x="193" y="206"/>
                  </a:moveTo>
                  <a:cubicBezTo>
                    <a:pt x="205" y="187"/>
                    <a:pt x="275" y="127"/>
                    <a:pt x="266" y="93"/>
                  </a:cubicBezTo>
                  <a:cubicBezTo>
                    <a:pt x="257" y="59"/>
                    <a:pt x="180" y="8"/>
                    <a:pt x="137" y="4"/>
                  </a:cubicBezTo>
                  <a:cubicBezTo>
                    <a:pt x="94" y="0"/>
                    <a:pt x="14" y="34"/>
                    <a:pt x="7" y="69"/>
                  </a:cubicBezTo>
                  <a:cubicBezTo>
                    <a:pt x="0" y="104"/>
                    <a:pt x="78" y="184"/>
                    <a:pt x="96" y="214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8923" name="Group 14"/>
          <p:cNvGrpSpPr/>
          <p:nvPr/>
        </p:nvGrpSpPr>
        <p:grpSpPr>
          <a:xfrm>
            <a:off x="2514600" y="4343400"/>
            <a:ext cx="436563" cy="568325"/>
            <a:chOff x="958" y="2234"/>
            <a:chExt cx="275" cy="358"/>
          </a:xfrm>
        </p:grpSpPr>
        <p:sp>
          <p:nvSpPr>
            <p:cNvPr id="38946" name="Text Box 15"/>
            <p:cNvSpPr txBox="1"/>
            <p:nvPr/>
          </p:nvSpPr>
          <p:spPr>
            <a:xfrm>
              <a:off x="1008" y="2304"/>
              <a:ext cx="1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503050405090304" pitchFamily="18" charset="0"/>
                  <a:ea typeface="宋体" pitchFamily="2" charset="-122"/>
                </a:rPr>
                <a:t>•</a:t>
              </a:r>
              <a:endParaRPr lang="en-US" altLang="zh-CN" sz="2400" dirty="0"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38947" name="Freeform 16"/>
            <p:cNvSpPr/>
            <p:nvPr/>
          </p:nvSpPr>
          <p:spPr>
            <a:xfrm>
              <a:off x="958" y="2234"/>
              <a:ext cx="275" cy="214"/>
            </a:xfrm>
            <a:custGeom>
              <a:avLst/>
              <a:gdLst/>
              <a:ahLst/>
              <a:cxnLst>
                <a:cxn ang="0">
                  <a:pos x="193" y="206"/>
                </a:cxn>
                <a:cxn ang="0">
                  <a:pos x="266" y="93"/>
                </a:cxn>
                <a:cxn ang="0">
                  <a:pos x="137" y="4"/>
                </a:cxn>
                <a:cxn ang="0">
                  <a:pos x="7" y="69"/>
                </a:cxn>
                <a:cxn ang="0">
                  <a:pos x="96" y="214"/>
                </a:cxn>
              </a:cxnLst>
              <a:pathLst>
                <a:path w="275" h="214">
                  <a:moveTo>
                    <a:pt x="193" y="206"/>
                  </a:moveTo>
                  <a:cubicBezTo>
                    <a:pt x="205" y="187"/>
                    <a:pt x="275" y="127"/>
                    <a:pt x="266" y="93"/>
                  </a:cubicBezTo>
                  <a:cubicBezTo>
                    <a:pt x="257" y="59"/>
                    <a:pt x="180" y="8"/>
                    <a:pt x="137" y="4"/>
                  </a:cubicBezTo>
                  <a:cubicBezTo>
                    <a:pt x="94" y="0"/>
                    <a:pt x="14" y="34"/>
                    <a:pt x="7" y="69"/>
                  </a:cubicBezTo>
                  <a:cubicBezTo>
                    <a:pt x="0" y="104"/>
                    <a:pt x="78" y="184"/>
                    <a:pt x="96" y="214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8924" name="Group 17"/>
          <p:cNvGrpSpPr/>
          <p:nvPr/>
        </p:nvGrpSpPr>
        <p:grpSpPr>
          <a:xfrm>
            <a:off x="2362200" y="3657600"/>
            <a:ext cx="436563" cy="568325"/>
            <a:chOff x="958" y="2234"/>
            <a:chExt cx="275" cy="358"/>
          </a:xfrm>
        </p:grpSpPr>
        <p:sp>
          <p:nvSpPr>
            <p:cNvPr id="38944" name="Text Box 18"/>
            <p:cNvSpPr txBox="1"/>
            <p:nvPr/>
          </p:nvSpPr>
          <p:spPr>
            <a:xfrm>
              <a:off x="1008" y="2304"/>
              <a:ext cx="1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503050405090304" pitchFamily="18" charset="0"/>
                  <a:ea typeface="宋体" pitchFamily="2" charset="-122"/>
                </a:rPr>
                <a:t>•</a:t>
              </a:r>
              <a:endParaRPr lang="en-US" altLang="zh-CN" sz="2400" dirty="0"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38945" name="Freeform 19"/>
            <p:cNvSpPr/>
            <p:nvPr/>
          </p:nvSpPr>
          <p:spPr>
            <a:xfrm>
              <a:off x="958" y="2234"/>
              <a:ext cx="275" cy="214"/>
            </a:xfrm>
            <a:custGeom>
              <a:avLst/>
              <a:gdLst/>
              <a:ahLst/>
              <a:cxnLst>
                <a:cxn ang="0">
                  <a:pos x="193" y="206"/>
                </a:cxn>
                <a:cxn ang="0">
                  <a:pos x="266" y="93"/>
                </a:cxn>
                <a:cxn ang="0">
                  <a:pos x="137" y="4"/>
                </a:cxn>
                <a:cxn ang="0">
                  <a:pos x="7" y="69"/>
                </a:cxn>
                <a:cxn ang="0">
                  <a:pos x="96" y="214"/>
                </a:cxn>
              </a:cxnLst>
              <a:pathLst>
                <a:path w="275" h="214">
                  <a:moveTo>
                    <a:pt x="193" y="206"/>
                  </a:moveTo>
                  <a:cubicBezTo>
                    <a:pt x="205" y="187"/>
                    <a:pt x="275" y="127"/>
                    <a:pt x="266" y="93"/>
                  </a:cubicBezTo>
                  <a:cubicBezTo>
                    <a:pt x="257" y="59"/>
                    <a:pt x="180" y="8"/>
                    <a:pt x="137" y="4"/>
                  </a:cubicBezTo>
                  <a:cubicBezTo>
                    <a:pt x="94" y="0"/>
                    <a:pt x="14" y="34"/>
                    <a:pt x="7" y="69"/>
                  </a:cubicBezTo>
                  <a:cubicBezTo>
                    <a:pt x="0" y="104"/>
                    <a:pt x="78" y="184"/>
                    <a:pt x="96" y="214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8925" name="Group 20"/>
          <p:cNvGrpSpPr/>
          <p:nvPr/>
        </p:nvGrpSpPr>
        <p:grpSpPr>
          <a:xfrm>
            <a:off x="2133600" y="3276600"/>
            <a:ext cx="436563" cy="568325"/>
            <a:chOff x="958" y="2234"/>
            <a:chExt cx="275" cy="358"/>
          </a:xfrm>
        </p:grpSpPr>
        <p:sp>
          <p:nvSpPr>
            <p:cNvPr id="38942" name="Text Box 21"/>
            <p:cNvSpPr txBox="1"/>
            <p:nvPr/>
          </p:nvSpPr>
          <p:spPr>
            <a:xfrm>
              <a:off x="1008" y="2304"/>
              <a:ext cx="1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503050405090304" pitchFamily="18" charset="0"/>
                  <a:ea typeface="宋体" pitchFamily="2" charset="-122"/>
                </a:rPr>
                <a:t>•</a:t>
              </a:r>
              <a:endParaRPr lang="en-US" altLang="zh-CN" sz="2400" dirty="0"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38943" name="Freeform 22"/>
            <p:cNvSpPr/>
            <p:nvPr/>
          </p:nvSpPr>
          <p:spPr>
            <a:xfrm>
              <a:off x="958" y="2234"/>
              <a:ext cx="275" cy="214"/>
            </a:xfrm>
            <a:custGeom>
              <a:avLst/>
              <a:gdLst/>
              <a:ahLst/>
              <a:cxnLst>
                <a:cxn ang="0">
                  <a:pos x="193" y="206"/>
                </a:cxn>
                <a:cxn ang="0">
                  <a:pos x="266" y="93"/>
                </a:cxn>
                <a:cxn ang="0">
                  <a:pos x="137" y="4"/>
                </a:cxn>
                <a:cxn ang="0">
                  <a:pos x="7" y="69"/>
                </a:cxn>
                <a:cxn ang="0">
                  <a:pos x="96" y="214"/>
                </a:cxn>
              </a:cxnLst>
              <a:pathLst>
                <a:path w="275" h="214">
                  <a:moveTo>
                    <a:pt x="193" y="206"/>
                  </a:moveTo>
                  <a:cubicBezTo>
                    <a:pt x="205" y="187"/>
                    <a:pt x="275" y="127"/>
                    <a:pt x="266" y="93"/>
                  </a:cubicBezTo>
                  <a:cubicBezTo>
                    <a:pt x="257" y="59"/>
                    <a:pt x="180" y="8"/>
                    <a:pt x="137" y="4"/>
                  </a:cubicBezTo>
                  <a:cubicBezTo>
                    <a:pt x="94" y="0"/>
                    <a:pt x="14" y="34"/>
                    <a:pt x="7" y="69"/>
                  </a:cubicBezTo>
                  <a:cubicBezTo>
                    <a:pt x="0" y="104"/>
                    <a:pt x="78" y="184"/>
                    <a:pt x="96" y="214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8926" name="Group 23"/>
          <p:cNvGrpSpPr/>
          <p:nvPr/>
        </p:nvGrpSpPr>
        <p:grpSpPr>
          <a:xfrm>
            <a:off x="1752600" y="4648200"/>
            <a:ext cx="436563" cy="568325"/>
            <a:chOff x="958" y="2234"/>
            <a:chExt cx="275" cy="358"/>
          </a:xfrm>
        </p:grpSpPr>
        <p:sp>
          <p:nvSpPr>
            <p:cNvPr id="38940" name="Text Box 24"/>
            <p:cNvSpPr txBox="1"/>
            <p:nvPr/>
          </p:nvSpPr>
          <p:spPr>
            <a:xfrm>
              <a:off x="1008" y="2304"/>
              <a:ext cx="1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503050405090304" pitchFamily="18" charset="0"/>
                  <a:ea typeface="宋体" pitchFamily="2" charset="-122"/>
                </a:rPr>
                <a:t>•</a:t>
              </a:r>
              <a:endParaRPr lang="en-US" altLang="zh-CN" sz="2400" dirty="0"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38941" name="Freeform 25"/>
            <p:cNvSpPr/>
            <p:nvPr/>
          </p:nvSpPr>
          <p:spPr>
            <a:xfrm>
              <a:off x="958" y="2234"/>
              <a:ext cx="275" cy="214"/>
            </a:xfrm>
            <a:custGeom>
              <a:avLst/>
              <a:gdLst/>
              <a:ahLst/>
              <a:cxnLst>
                <a:cxn ang="0">
                  <a:pos x="193" y="206"/>
                </a:cxn>
                <a:cxn ang="0">
                  <a:pos x="266" y="93"/>
                </a:cxn>
                <a:cxn ang="0">
                  <a:pos x="137" y="4"/>
                </a:cxn>
                <a:cxn ang="0">
                  <a:pos x="7" y="69"/>
                </a:cxn>
                <a:cxn ang="0">
                  <a:pos x="96" y="214"/>
                </a:cxn>
              </a:cxnLst>
              <a:pathLst>
                <a:path w="275" h="214">
                  <a:moveTo>
                    <a:pt x="193" y="206"/>
                  </a:moveTo>
                  <a:cubicBezTo>
                    <a:pt x="205" y="187"/>
                    <a:pt x="275" y="127"/>
                    <a:pt x="266" y="93"/>
                  </a:cubicBezTo>
                  <a:cubicBezTo>
                    <a:pt x="257" y="59"/>
                    <a:pt x="180" y="8"/>
                    <a:pt x="137" y="4"/>
                  </a:cubicBezTo>
                  <a:cubicBezTo>
                    <a:pt x="94" y="0"/>
                    <a:pt x="14" y="34"/>
                    <a:pt x="7" y="69"/>
                  </a:cubicBezTo>
                  <a:cubicBezTo>
                    <a:pt x="0" y="104"/>
                    <a:pt x="78" y="184"/>
                    <a:pt x="96" y="214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8927" name="Group 26"/>
          <p:cNvGrpSpPr/>
          <p:nvPr/>
        </p:nvGrpSpPr>
        <p:grpSpPr>
          <a:xfrm>
            <a:off x="1371600" y="4343400"/>
            <a:ext cx="436563" cy="568325"/>
            <a:chOff x="958" y="2234"/>
            <a:chExt cx="275" cy="358"/>
          </a:xfrm>
        </p:grpSpPr>
        <p:sp>
          <p:nvSpPr>
            <p:cNvPr id="38938" name="Text Box 27"/>
            <p:cNvSpPr txBox="1"/>
            <p:nvPr/>
          </p:nvSpPr>
          <p:spPr>
            <a:xfrm>
              <a:off x="1008" y="2304"/>
              <a:ext cx="1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503050405090304" pitchFamily="18" charset="0"/>
                  <a:ea typeface="宋体" pitchFamily="2" charset="-122"/>
                </a:rPr>
                <a:t>•</a:t>
              </a:r>
              <a:endParaRPr lang="en-US" altLang="zh-CN" sz="2400" dirty="0"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38939" name="Freeform 28"/>
            <p:cNvSpPr/>
            <p:nvPr/>
          </p:nvSpPr>
          <p:spPr>
            <a:xfrm>
              <a:off x="958" y="2234"/>
              <a:ext cx="275" cy="214"/>
            </a:xfrm>
            <a:custGeom>
              <a:avLst/>
              <a:gdLst/>
              <a:ahLst/>
              <a:cxnLst>
                <a:cxn ang="0">
                  <a:pos x="193" y="206"/>
                </a:cxn>
                <a:cxn ang="0">
                  <a:pos x="266" y="93"/>
                </a:cxn>
                <a:cxn ang="0">
                  <a:pos x="137" y="4"/>
                </a:cxn>
                <a:cxn ang="0">
                  <a:pos x="7" y="69"/>
                </a:cxn>
                <a:cxn ang="0">
                  <a:pos x="96" y="214"/>
                </a:cxn>
              </a:cxnLst>
              <a:pathLst>
                <a:path w="275" h="214">
                  <a:moveTo>
                    <a:pt x="193" y="206"/>
                  </a:moveTo>
                  <a:cubicBezTo>
                    <a:pt x="205" y="187"/>
                    <a:pt x="275" y="127"/>
                    <a:pt x="266" y="93"/>
                  </a:cubicBezTo>
                  <a:cubicBezTo>
                    <a:pt x="257" y="59"/>
                    <a:pt x="180" y="8"/>
                    <a:pt x="137" y="4"/>
                  </a:cubicBezTo>
                  <a:cubicBezTo>
                    <a:pt x="94" y="0"/>
                    <a:pt x="14" y="34"/>
                    <a:pt x="7" y="69"/>
                  </a:cubicBezTo>
                  <a:cubicBezTo>
                    <a:pt x="0" y="104"/>
                    <a:pt x="78" y="184"/>
                    <a:pt x="96" y="214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8928" name="Group 29"/>
          <p:cNvGrpSpPr/>
          <p:nvPr/>
        </p:nvGrpSpPr>
        <p:grpSpPr>
          <a:xfrm>
            <a:off x="1143000" y="3886200"/>
            <a:ext cx="436563" cy="568325"/>
            <a:chOff x="958" y="2234"/>
            <a:chExt cx="275" cy="358"/>
          </a:xfrm>
        </p:grpSpPr>
        <p:sp>
          <p:nvSpPr>
            <p:cNvPr id="38936" name="Text Box 30"/>
            <p:cNvSpPr txBox="1"/>
            <p:nvPr/>
          </p:nvSpPr>
          <p:spPr>
            <a:xfrm>
              <a:off x="1008" y="2304"/>
              <a:ext cx="1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503050405090304" pitchFamily="18" charset="0"/>
                  <a:ea typeface="宋体" pitchFamily="2" charset="-122"/>
                </a:rPr>
                <a:t>•</a:t>
              </a:r>
              <a:endParaRPr lang="en-US" altLang="zh-CN" sz="2400" dirty="0"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38937" name="Freeform 31"/>
            <p:cNvSpPr/>
            <p:nvPr/>
          </p:nvSpPr>
          <p:spPr>
            <a:xfrm>
              <a:off x="958" y="2234"/>
              <a:ext cx="275" cy="214"/>
            </a:xfrm>
            <a:custGeom>
              <a:avLst/>
              <a:gdLst/>
              <a:ahLst/>
              <a:cxnLst>
                <a:cxn ang="0">
                  <a:pos x="193" y="206"/>
                </a:cxn>
                <a:cxn ang="0">
                  <a:pos x="266" y="93"/>
                </a:cxn>
                <a:cxn ang="0">
                  <a:pos x="137" y="4"/>
                </a:cxn>
                <a:cxn ang="0">
                  <a:pos x="7" y="69"/>
                </a:cxn>
                <a:cxn ang="0">
                  <a:pos x="96" y="214"/>
                </a:cxn>
              </a:cxnLst>
              <a:pathLst>
                <a:path w="275" h="214">
                  <a:moveTo>
                    <a:pt x="193" y="206"/>
                  </a:moveTo>
                  <a:cubicBezTo>
                    <a:pt x="205" y="187"/>
                    <a:pt x="275" y="127"/>
                    <a:pt x="266" y="93"/>
                  </a:cubicBezTo>
                  <a:cubicBezTo>
                    <a:pt x="257" y="59"/>
                    <a:pt x="180" y="8"/>
                    <a:pt x="137" y="4"/>
                  </a:cubicBezTo>
                  <a:cubicBezTo>
                    <a:pt x="94" y="0"/>
                    <a:pt x="14" y="34"/>
                    <a:pt x="7" y="69"/>
                  </a:cubicBezTo>
                  <a:cubicBezTo>
                    <a:pt x="0" y="104"/>
                    <a:pt x="78" y="184"/>
                    <a:pt x="96" y="214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8929" name="Text Box 32"/>
          <p:cNvSpPr txBox="1"/>
          <p:nvPr/>
        </p:nvSpPr>
        <p:spPr>
          <a:xfrm>
            <a:off x="922338" y="5524500"/>
            <a:ext cx="24336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Domain and range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8930" name="Line 33"/>
          <p:cNvSpPr/>
          <p:nvPr/>
        </p:nvSpPr>
        <p:spPr>
          <a:xfrm>
            <a:off x="5029200" y="2895600"/>
            <a:ext cx="0" cy="2362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1" name="Line 34"/>
          <p:cNvSpPr/>
          <p:nvPr/>
        </p:nvSpPr>
        <p:spPr>
          <a:xfrm>
            <a:off x="5029200" y="5257800"/>
            <a:ext cx="2362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2" name="Line 35"/>
          <p:cNvSpPr/>
          <p:nvPr/>
        </p:nvSpPr>
        <p:spPr>
          <a:xfrm flipV="1">
            <a:off x="5029200" y="3124200"/>
            <a:ext cx="2133600" cy="2133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3" name="Text Box 36"/>
          <p:cNvSpPr txBox="1"/>
          <p:nvPr/>
        </p:nvSpPr>
        <p:spPr>
          <a:xfrm>
            <a:off x="5745163" y="5410200"/>
            <a:ext cx="3190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8934" name="Text Box 37"/>
          <p:cNvSpPr txBox="1"/>
          <p:nvPr/>
        </p:nvSpPr>
        <p:spPr>
          <a:xfrm>
            <a:off x="4487863" y="3733800"/>
            <a:ext cx="3190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y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8935" name="Text Box 38"/>
          <p:cNvSpPr txBox="1"/>
          <p:nvPr/>
        </p:nvSpPr>
        <p:spPr>
          <a:xfrm>
            <a:off x="6400800" y="3810000"/>
            <a:ext cx="13144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latin typeface="Times New Roman" panose="02020503050405090304" pitchFamily="18" charset="0"/>
                <a:ea typeface="宋体" pitchFamily="2" charset="-122"/>
              </a:rPr>
              <a:t>y</a:t>
            </a:r>
            <a:r>
              <a:rPr lang="en-US" altLang="zh-CN" sz="2000" dirty="0">
                <a:latin typeface="Times New Roman" panose="02020503050405090304" pitchFamily="18" charset="0"/>
                <a:ea typeface="宋体" pitchFamily="2" charset="-122"/>
              </a:rPr>
              <a:t> = </a:t>
            </a:r>
            <a:r>
              <a:rPr lang="en-US" altLang="zh-CN" sz="2000" i="1" dirty="0">
                <a:latin typeface="Times New Roman" panose="02020503050405090304" pitchFamily="18" charset="0"/>
                <a:ea typeface="宋体" pitchFamily="2" charset="-122"/>
              </a:rPr>
              <a:t>I</a:t>
            </a:r>
            <a:r>
              <a:rPr lang="en-US" altLang="zh-CN" sz="20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000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sz="2000" dirty="0">
                <a:latin typeface="Times New Roman" panose="02020503050405090304" pitchFamily="18" charset="0"/>
                <a:ea typeface="宋体" pitchFamily="2" charset="-122"/>
              </a:rPr>
              <a:t>) = </a:t>
            </a:r>
            <a:r>
              <a:rPr lang="en-US" altLang="zh-CN" sz="2000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endParaRPr lang="en-US" altLang="zh-CN" sz="2000" i="1" dirty="0"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Inverse Functions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b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Definition: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Let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be a bijection from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to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. Then the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inverse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of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denoted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baseline="300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-1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is the function from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to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defined as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buSzPct val="55000"/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		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baseline="30000" dirty="0">
                <a:latin typeface="Times New Roman" panose="02020503050405090304" pitchFamily="18" charset="0"/>
                <a:ea typeface="宋体" pitchFamily="2" charset="-122"/>
              </a:rPr>
              <a:t>-1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y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) =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  </a:t>
            </a:r>
            <a:r>
              <a:rPr lang="en-US" altLang="zh-CN" b="1" i="1" dirty="0">
                <a:latin typeface="Times New Roman" panose="02020503050405090304" pitchFamily="18" charset="0"/>
                <a:ea typeface="宋体" pitchFamily="2" charset="-122"/>
              </a:rPr>
              <a:t>iff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 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) =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y</a:t>
            </a:r>
            <a:endParaRPr lang="en-US" altLang="zh-CN" i="1" dirty="0">
              <a:latin typeface="Times New Roman" panose="02020503050405090304" pitchFamily="18" charset="0"/>
              <a:ea typeface="宋体" pitchFamily="2" charset="-122"/>
            </a:endParaRPr>
          </a:p>
          <a:p>
            <a:pPr eaLnBrk="1" hangingPunct="1">
              <a:buSzPct val="60000"/>
            </a:pP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is said to be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invertible</a:t>
            </a:r>
            <a:r>
              <a:rPr lang="en-US" altLang="zh-CN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(</a:t>
            </a:r>
            <a:r>
              <a:rPr lang="zh-CN" altLang="en-US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可逆的</a:t>
            </a:r>
            <a:r>
              <a:rPr lang="en-US" altLang="zh-CN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)</a:t>
            </a:r>
            <a:endParaRPr lang="en-US" altLang="zh-CN" dirty="0">
              <a:solidFill>
                <a:schemeClr val="hlink"/>
              </a:solidFill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994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994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994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Inverse Functions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lvl="1" eaLnBrk="1" hangingPunct="1">
              <a:buSzPct val="55000"/>
            </a:pPr>
            <a:endParaRPr lang="zh-CN" altLang="en-US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buSzPct val="55000"/>
            </a:pPr>
            <a:endParaRPr lang="zh-CN" altLang="en-US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buSzPct val="55000"/>
            </a:pPr>
            <a:endParaRPr lang="zh-CN" altLang="en-US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buSzPct val="55000"/>
            </a:pPr>
            <a:endParaRPr lang="zh-CN" altLang="en-US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buSzPct val="55000"/>
            </a:pPr>
            <a:endParaRPr lang="zh-CN" altLang="en-US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buSzPct val="55000"/>
            </a:pPr>
            <a:endParaRPr lang="zh-CN" altLang="en-US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buSzPct val="55000"/>
            </a:pPr>
            <a:endParaRPr lang="zh-CN" altLang="en-US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buSzPct val="55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Note: No inverse exists unless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is a bijection.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096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096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pic>
        <p:nvPicPr>
          <p:cNvPr id="40967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3000" y="2286000"/>
            <a:ext cx="3276600" cy="2527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68" name="Picture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76800" y="1981200"/>
            <a:ext cx="3429000" cy="3000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Inverse Functions</a:t>
            </a:r>
            <a:endParaRPr lang="zh-CN" altLang="en-US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b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Definition: </a:t>
            </a:r>
            <a:endParaRPr lang="en-US" altLang="zh-CN" b="1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buSzPct val="55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Let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S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be a subset of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. 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buSzPct val="55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Then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		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baseline="300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-1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S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) = {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|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) 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  <a:cs typeface="+mn-cs"/>
              </a:rPr>
              <a:t>Î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S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}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198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199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06498" y="4076576"/>
            <a:ext cx="6576392" cy="169277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逆函数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的值域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sz="2800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-1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</a:t>
            </a:r>
            <a:r>
              <a:rPr lang="en-US" altLang="zh-CN" sz="2800" i="1" dirty="0">
                <a:latin typeface="Times New Roman" panose="02020503050405090304" pitchFamily="18" charset="0"/>
              </a:rPr>
              <a:t>x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的集合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满足条件为：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的像 </a:t>
            </a:r>
            <a:r>
              <a:rPr lang="en-US" altLang="zh-CN" sz="2800" i="1" dirty="0">
                <a:latin typeface="Times New Roman" panose="02020503050405090304" pitchFamily="18" charset="0"/>
              </a:rPr>
              <a:t>f(x)</a:t>
            </a:r>
            <a:r>
              <a:rPr lang="zh-CN" altLang="en-US" sz="2800" dirty="0">
                <a:latin typeface="Times New Roman" panose="02020503050405090304" pitchFamily="18" charset="0"/>
              </a:rPr>
              <a:t>属于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值域</a:t>
            </a:r>
            <a:r>
              <a:rPr lang="en-US" altLang="zh-CN" sz="2800" dirty="0">
                <a:latin typeface="Times New Roman" panose="02020503050405090304" pitchFamily="18" charset="0"/>
              </a:rPr>
              <a:t>S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sz="2800" b="1" baseline="30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-1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(f(x))=x</a:t>
            </a:r>
            <a:endParaRPr lang="zh-CN" altLang="en-US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Composition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4301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b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Definition: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Let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: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  <a:cs typeface="+mn-cs"/>
              </a:rPr>
              <a:t>®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C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g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: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  <a:cs typeface="+mn-cs"/>
              </a:rPr>
              <a:t>®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. The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composition of f with g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denoted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 </a:t>
            </a:r>
            <a:r>
              <a:rPr lang="en-US" altLang="zh-CN" i="1" dirty="0">
                <a:latin typeface="Tahoma" panose="020B0604030504040204" pitchFamily="34" charset="0"/>
                <a:ea typeface="宋体" pitchFamily="2" charset="-122"/>
                <a:cs typeface="+mn-cs"/>
              </a:rPr>
              <a:t>◦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g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is the function from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to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C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defined by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		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 </a:t>
            </a:r>
            <a:r>
              <a:rPr lang="en-US" altLang="zh-CN" i="1" dirty="0">
                <a:latin typeface="Tahoma" panose="020B0604030504040204" pitchFamily="34" charset="0"/>
                <a:sym typeface="+mn-ea"/>
              </a:rPr>
              <a:t>◦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g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) =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g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))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</a:pPr>
            <a:endParaRPr lang="zh-CN" altLang="en-US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301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301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301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Composition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44035" name="内容占位符 7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endParaRPr lang="zh-CN" altLang="en-US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403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403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403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pic>
        <p:nvPicPr>
          <p:cNvPr id="44039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33600" y="1828800"/>
            <a:ext cx="4953000" cy="38020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Composition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If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buSzPct val="55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) =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baseline="30000" dirty="0">
                <a:latin typeface="Times New Roman" panose="02020503050405090304" pitchFamily="18" charset="0"/>
                <a:ea typeface="宋体" pitchFamily="2" charset="-122"/>
              </a:rPr>
              <a:t>2</a:t>
            </a:r>
            <a:endParaRPr lang="en-US" altLang="zh-CN" baseline="30000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buSzPct val="55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g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) = 2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+ 1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Then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buSzPct val="55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g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)) = (2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+1)</a:t>
            </a:r>
            <a:r>
              <a:rPr lang="en-US" altLang="zh-CN" baseline="30000" dirty="0">
                <a:latin typeface="Times New Roman" panose="02020503050405090304" pitchFamily="18" charset="0"/>
                <a:ea typeface="宋体" pitchFamily="2" charset="-122"/>
              </a:rPr>
              <a:t>2</a:t>
            </a:r>
            <a:endParaRPr lang="en-US" altLang="zh-CN" baseline="30000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buSzPct val="55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g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)) = 2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baseline="30000" dirty="0">
                <a:latin typeface="Times New Roman" panose="02020503050405090304" pitchFamily="18" charset="0"/>
                <a:ea typeface="宋体" pitchFamily="2" charset="-122"/>
              </a:rPr>
              <a:t>2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+ 1</a:t>
            </a:r>
            <a:endParaRPr lang="zh-CN" altLang="en-US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506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506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506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59968" y="4940667"/>
            <a:ext cx="6552728" cy="95313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p>
            <a:pPr algn="ctr"/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commutative law does not hold for the composition of functions.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Composition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46083" name="Rectangle 3"/>
          <p:cNvSpPr>
            <a:spLocks noGrp="1"/>
          </p:cNvSpPr>
          <p:nvPr>
            <p:ph idx="1"/>
          </p:nvPr>
        </p:nvSpPr>
        <p:spPr>
          <a:xfrm>
            <a:off x="783590" y="1372235"/>
            <a:ext cx="8227060" cy="480123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Let 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lnSpc>
                <a:spcPct val="90000"/>
              </a:lnSpc>
              <a:buSzPct val="55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: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</a:rPr>
              <a:t>®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lnSpc>
                <a:spcPct val="90000"/>
              </a:lnSpc>
              <a:buSzPct val="55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g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: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</a:rPr>
              <a:t>®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C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lnSpc>
                <a:spcPct val="90000"/>
              </a:lnSpc>
              <a:buSzPct val="55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h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: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C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</a:rPr>
              <a:t>®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D</a:t>
            </a:r>
            <a:endParaRPr lang="en-US" altLang="zh-CN" i="1" dirty="0">
              <a:latin typeface="Times New Roman" panose="02020503050405090304" pitchFamily="18" charset="0"/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Then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lnSpc>
                <a:spcPct val="90000"/>
              </a:lnSpc>
              <a:buSzPct val="55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h </a:t>
            </a:r>
            <a:r>
              <a:rPr lang="en-US" altLang="zh-CN" i="1" dirty="0">
                <a:latin typeface="Tahoma" panose="020B0604030504040204" pitchFamily="34" charset="0"/>
                <a:ea typeface="宋体" pitchFamily="2" charset="-122"/>
              </a:rPr>
              <a:t>◦</a:t>
            </a:r>
            <a:r>
              <a:rPr lang="en-US" altLang="zh-CN" dirty="0">
                <a:latin typeface="Euclid" panose="02020503060505020303" pitchFamily="18" charset="0"/>
                <a:ea typeface="宋体" pitchFamily="2" charset="-122"/>
                <a:sym typeface="Euclid Extra" panose="02050502000505020303" pitchFamily="18" charset="2"/>
              </a:rPr>
              <a:t>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g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) </a:t>
            </a:r>
            <a:r>
              <a:rPr lang="en-US" altLang="zh-CN" dirty="0">
                <a:latin typeface="Tahoma" panose="020B0604030504040204" pitchFamily="34" charset="0"/>
                <a:ea typeface="宋体" pitchFamily="2" charset="-122"/>
                <a:sym typeface="Euclid Extra" panose="02050502000505020303" pitchFamily="18" charset="2"/>
              </a:rPr>
              <a:t>◦</a:t>
            </a:r>
            <a:r>
              <a:rPr lang="en-US" altLang="zh-CN" sz="1800" dirty="0">
                <a:latin typeface="MT-Extra" charset="0"/>
                <a:ea typeface="宋体" pitchFamily="2" charset="-122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=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h </a:t>
            </a:r>
            <a:r>
              <a:rPr lang="en-US" altLang="zh-CN" dirty="0">
                <a:latin typeface="Tahoma" panose="020B0604030504040204" pitchFamily="34" charset="0"/>
                <a:sym typeface="Euclid Extra" panose="02050502000505020303" pitchFamily="18" charset="2"/>
              </a:rPr>
              <a:t>◦</a:t>
            </a:r>
            <a:r>
              <a:rPr lang="en-US" altLang="zh-CN" dirty="0">
                <a:latin typeface="MT-Extra" charset="0"/>
                <a:sym typeface="+mn-ea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g </a:t>
            </a:r>
            <a:r>
              <a:rPr lang="en-US" altLang="zh-CN" dirty="0">
                <a:latin typeface="Tahoma" panose="020B0604030504040204" pitchFamily="34" charset="0"/>
                <a:sym typeface="Euclid Extra" panose="02050502000505020303" pitchFamily="18" charset="2"/>
              </a:rPr>
              <a:t>◦</a:t>
            </a:r>
            <a:r>
              <a:rPr lang="en-US" altLang="zh-CN" dirty="0">
                <a:latin typeface="MT-Extra" charset="0"/>
                <a:sym typeface="+mn-ea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)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The proof is same as in relation’s associativity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608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608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608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95872" y="5228962"/>
            <a:ext cx="6552728" cy="95410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p>
            <a:pPr algn="ctr"/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associative law holds for the composition of functions.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Exercise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4710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Let 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lnSpc>
                <a:spcPct val="80000"/>
              </a:lnSpc>
              <a:buSzPct val="55000"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A 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=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B 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=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C 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= </a:t>
            </a:r>
            <a:r>
              <a:rPr lang="en-US" altLang="zh-CN" sz="2400" dirty="0">
                <a:latin typeface="Euclid Math Two" panose="02050601010101010101" pitchFamily="18" charset="2"/>
                <a:ea typeface="宋体" pitchFamily="2" charset="-122"/>
              </a:rPr>
              <a:t>R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lnSpc>
                <a:spcPct val="80000"/>
              </a:lnSpc>
              <a:buSzPct val="55000"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 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: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,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g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: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C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lnSpc>
                <a:spcPct val="80000"/>
              </a:lnSpc>
              <a:buSzPct val="55000"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)=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-1 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lnSpc>
                <a:spcPct val="80000"/>
              </a:lnSpc>
              <a:buSzPct val="55000"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g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)=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sz="2400" i="1" baseline="30000" dirty="0">
                <a:latin typeface="Times New Roman" panose="02020503050405090304" pitchFamily="18" charset="0"/>
                <a:ea typeface="宋体" pitchFamily="2" charset="-122"/>
              </a:rPr>
              <a:t>2</a:t>
            </a:r>
            <a:r>
              <a:rPr lang="en-US" altLang="zh-CN" sz="2400" baseline="30000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.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Find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lnSpc>
                <a:spcPct val="80000"/>
              </a:lnSpc>
              <a:buSzPct val="55000"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(f</a:t>
            </a:r>
            <a:r>
              <a:rPr lang="en-US" altLang="zh-CN" sz="2400" dirty="0">
                <a:latin typeface="Euclid" panose="02020503060505020303" pitchFamily="18" charset="0"/>
                <a:ea typeface="宋体" pitchFamily="2" charset="-122"/>
                <a:sym typeface="Euclid Extra" panose="02050502000505020303" pitchFamily="18" charset="2"/>
              </a:rPr>
              <a:t></a:t>
            </a:r>
            <a:r>
              <a:rPr lang="en-US" altLang="zh-CN" sz="2400" dirty="0">
                <a:latin typeface="Tahoma" panose="020B0604030504040204" pitchFamily="34" charset="0"/>
                <a:sym typeface="Euclid Extra" panose="02050502000505020303" pitchFamily="18" charset="2"/>
              </a:rPr>
              <a:t>◦</a:t>
            </a:r>
            <a:r>
              <a:rPr lang="en-US" altLang="zh-CN" sz="2400" dirty="0">
                <a:latin typeface="MT-Extra" charset="0"/>
                <a:sym typeface="+mn-ea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g)(2)</a:t>
            </a:r>
            <a:endParaRPr lang="en-US" altLang="zh-CN" sz="2400" i="1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lnSpc>
                <a:spcPct val="80000"/>
              </a:lnSpc>
              <a:buSzPct val="55000"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(g </a:t>
            </a:r>
            <a:r>
              <a:rPr lang="en-US" altLang="zh-CN" sz="2400" dirty="0">
                <a:latin typeface="Tahoma" panose="020B0604030504040204" pitchFamily="34" charset="0"/>
                <a:sym typeface="Euclid Extra" panose="02050502000505020303" pitchFamily="18" charset="2"/>
              </a:rPr>
              <a:t>◦</a:t>
            </a:r>
            <a:r>
              <a:rPr lang="en-US" altLang="zh-CN" sz="2400" dirty="0">
                <a:latin typeface="MT-Extra" charset="0"/>
                <a:sym typeface="+mn-ea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f)(2)</a:t>
            </a:r>
            <a:endParaRPr lang="en-US" altLang="zh-CN" sz="2400" i="1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lnSpc>
                <a:spcPct val="80000"/>
              </a:lnSpc>
              <a:buSzPct val="55000"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(g </a:t>
            </a:r>
            <a:r>
              <a:rPr lang="en-US" altLang="zh-CN" sz="2400" dirty="0">
                <a:latin typeface="Tahoma" panose="020B0604030504040204" pitchFamily="34" charset="0"/>
                <a:sym typeface="Euclid Extra" panose="02050502000505020303" pitchFamily="18" charset="2"/>
              </a:rPr>
              <a:t>◦</a:t>
            </a:r>
            <a:r>
              <a:rPr lang="en-US" altLang="zh-CN" sz="2400" dirty="0">
                <a:latin typeface="MT-Extra" charset="0"/>
                <a:sym typeface="+mn-ea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f)(x)</a:t>
            </a:r>
            <a:endParaRPr lang="en-US" altLang="zh-CN" sz="2400" i="1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lnSpc>
                <a:spcPct val="80000"/>
              </a:lnSpc>
              <a:buSzPct val="55000"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(f </a:t>
            </a:r>
            <a:r>
              <a:rPr lang="en-US" altLang="zh-CN" sz="2400" dirty="0">
                <a:latin typeface="Tahoma" panose="020B0604030504040204" pitchFamily="34" charset="0"/>
                <a:sym typeface="Euclid Extra" panose="02050502000505020303" pitchFamily="18" charset="2"/>
              </a:rPr>
              <a:t>◦</a:t>
            </a:r>
            <a:r>
              <a:rPr lang="en-US" altLang="zh-CN" sz="2400" dirty="0">
                <a:latin typeface="MT-Extra" charset="0"/>
                <a:sym typeface="+mn-ea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g)(x)</a:t>
            </a:r>
            <a:endParaRPr lang="en-US" altLang="zh-CN" sz="2400" i="1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lnSpc>
                <a:spcPct val="80000"/>
              </a:lnSpc>
              <a:buSzPct val="55000"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(g </a:t>
            </a:r>
            <a:r>
              <a:rPr lang="en-US" altLang="zh-CN" sz="2400" dirty="0">
                <a:latin typeface="Tahoma" panose="020B0604030504040204" pitchFamily="34" charset="0"/>
                <a:sym typeface="Euclid Extra" panose="02050502000505020303" pitchFamily="18" charset="2"/>
              </a:rPr>
              <a:t>◦</a:t>
            </a:r>
            <a:r>
              <a:rPr lang="en-US" altLang="zh-CN" sz="2400" dirty="0">
                <a:latin typeface="MT-Extra" charset="0"/>
                <a:sym typeface="+mn-ea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g)(y)</a:t>
            </a:r>
            <a:endParaRPr lang="en-US" altLang="zh-CN" sz="2400" i="1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lnSpc>
                <a:spcPct val="80000"/>
              </a:lnSpc>
              <a:buSzPct val="55000"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(f</a:t>
            </a:r>
            <a:r>
              <a:rPr lang="en-US" altLang="zh-CN" sz="2400" dirty="0">
                <a:latin typeface="Euclid" panose="02020503060505020303" pitchFamily="18" charset="0"/>
                <a:ea typeface="宋体" pitchFamily="2" charset="-122"/>
                <a:sym typeface="Euclid Extra" panose="02050502000505020303" pitchFamily="18" charset="2"/>
              </a:rPr>
              <a:t></a:t>
            </a:r>
            <a:r>
              <a:rPr lang="en-US" altLang="zh-CN" sz="2400" dirty="0">
                <a:latin typeface="Tahoma" panose="020B0604030504040204" pitchFamily="34" charset="0"/>
                <a:sym typeface="Euclid Extra" panose="02050502000505020303" pitchFamily="18" charset="2"/>
              </a:rPr>
              <a:t>◦</a:t>
            </a:r>
            <a:r>
              <a:rPr lang="en-US" altLang="zh-CN" sz="2400" dirty="0">
                <a:latin typeface="MT-Extra" charset="0"/>
                <a:sym typeface="+mn-ea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f)(y)</a:t>
            </a:r>
            <a:endParaRPr lang="en-US" altLang="zh-CN" sz="2400" i="1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710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710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711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Theorem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4813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Let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: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be any function. Then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  <a:p>
            <a:pPr lvl="1" eaLnBrk="1" hangingPunct="1">
              <a:buSzPct val="55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1</a:t>
            </a:r>
            <a:r>
              <a:rPr lang="en-US" altLang="zh-CN" i="1" baseline="-25000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dirty="0">
                <a:latin typeface="Euclid" panose="02020503060505020303" pitchFamily="18" charset="0"/>
                <a:ea typeface="宋体" pitchFamily="2" charset="-122"/>
                <a:sym typeface="Euclid Extra" panose="02050502000505020303" pitchFamily="18" charset="2"/>
              </a:rPr>
              <a:t></a:t>
            </a:r>
            <a:r>
              <a:rPr lang="en-US" altLang="zh-CN" dirty="0">
                <a:latin typeface="Tahoma" panose="020B0604030504040204" pitchFamily="34" charset="0"/>
                <a:sym typeface="Euclid Extra" panose="02050502000505020303" pitchFamily="18" charset="2"/>
              </a:rPr>
              <a:t>◦</a:t>
            </a:r>
            <a:r>
              <a:rPr lang="en-US" altLang="zh-CN" dirty="0">
                <a:latin typeface="MT-Extra" charset="0"/>
                <a:sym typeface="+mn-ea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=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endParaRPr lang="en-US" altLang="zh-CN" i="1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buSzPct val="55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dirty="0">
                <a:latin typeface="Euclid" panose="02020503060505020303" pitchFamily="18" charset="0"/>
                <a:ea typeface="宋体" pitchFamily="2" charset="-122"/>
                <a:sym typeface="Euclid Extra" panose="02050502000505020303" pitchFamily="18" charset="2"/>
              </a:rPr>
              <a:t></a:t>
            </a:r>
            <a:r>
              <a:rPr lang="en-US" altLang="zh-CN" dirty="0">
                <a:latin typeface="Tahoma" panose="020B0604030504040204" pitchFamily="34" charset="0"/>
                <a:sym typeface="Euclid Extra" panose="02050502000505020303" pitchFamily="18" charset="2"/>
              </a:rPr>
              <a:t>◦</a:t>
            </a:r>
            <a:r>
              <a:rPr lang="en-US" altLang="zh-CN" dirty="0">
                <a:latin typeface="MT-Extra" charset="0"/>
                <a:sym typeface="+mn-ea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1</a:t>
            </a:r>
            <a:r>
              <a:rPr lang="en-US" altLang="zh-CN" i="1" baseline="-25000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=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endParaRPr lang="en-US" altLang="zh-CN" i="1" dirty="0">
              <a:latin typeface="Times New Roman" panose="02020503050405090304" pitchFamily="18" charset="0"/>
              <a:ea typeface="宋体" pitchFamily="2" charset="-122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If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is a one-to-one correspondence between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and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then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buSzPct val="55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baseline="30000" dirty="0">
                <a:latin typeface="Times New Roman" panose="02020503050405090304" pitchFamily="18" charset="0"/>
                <a:ea typeface="宋体" pitchFamily="2" charset="-122"/>
              </a:rPr>
              <a:t>-1 </a:t>
            </a:r>
            <a:r>
              <a:rPr lang="en-US" altLang="zh-CN" dirty="0">
                <a:latin typeface="Tahoma" panose="020B0604030504040204" pitchFamily="34" charset="0"/>
                <a:sym typeface="Euclid Extra" panose="02050502000505020303" pitchFamily="18" charset="2"/>
              </a:rPr>
              <a:t>◦</a:t>
            </a:r>
            <a:r>
              <a:rPr lang="en-US" altLang="zh-CN" dirty="0">
                <a:latin typeface="MT-Extra" charset="0"/>
                <a:sym typeface="+mn-ea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= 1</a:t>
            </a:r>
            <a:r>
              <a:rPr lang="en-US" altLang="zh-CN" i="1" baseline="-25000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endParaRPr lang="en-US" altLang="zh-CN" i="1" baseline="-25000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buSzPct val="55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dirty="0">
                <a:latin typeface="Euclid" panose="02020503060505020303" pitchFamily="18" charset="0"/>
                <a:ea typeface="宋体" pitchFamily="2" charset="-122"/>
                <a:sym typeface="Euclid Extra" panose="02050502000505020303" pitchFamily="18" charset="2"/>
              </a:rPr>
              <a:t></a:t>
            </a:r>
            <a:r>
              <a:rPr lang="en-US" altLang="zh-CN" dirty="0">
                <a:latin typeface="Tahoma" panose="020B0604030504040204" pitchFamily="34" charset="0"/>
                <a:sym typeface="Euclid Extra" panose="02050502000505020303" pitchFamily="18" charset="2"/>
              </a:rPr>
              <a:t>◦</a:t>
            </a:r>
            <a:r>
              <a:rPr lang="en-US" altLang="zh-CN" dirty="0">
                <a:latin typeface="MT-Extra" charset="0"/>
                <a:sym typeface="+mn-ea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baseline="30000" dirty="0">
                <a:latin typeface="Times New Roman" panose="02020503050405090304" pitchFamily="18" charset="0"/>
                <a:ea typeface="宋体" pitchFamily="2" charset="-122"/>
              </a:rPr>
              <a:t>-1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= 1</a:t>
            </a:r>
            <a:r>
              <a:rPr lang="en-US" altLang="zh-CN" i="1" baseline="-25000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endParaRPr lang="en-US" altLang="zh-CN" i="1" baseline="-250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813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813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813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Proof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55705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For all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in Dom(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)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lnSpc>
                <a:spcPct val="90000"/>
              </a:lnSpc>
              <a:buSzPct val="55000"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(1</a:t>
            </a:r>
            <a:r>
              <a:rPr lang="en-US" altLang="zh-CN" sz="2400" i="1" baseline="-25000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sz="2400" dirty="0">
                <a:latin typeface="Euclid" panose="02020503060505020303" pitchFamily="18" charset="0"/>
                <a:ea typeface="宋体" pitchFamily="2" charset="-122"/>
                <a:sym typeface="Euclid Extra" panose="02050502000505020303" pitchFamily="18" charset="2"/>
              </a:rPr>
              <a:t></a:t>
            </a:r>
            <a:r>
              <a:rPr lang="en-US" altLang="zh-CN" sz="2400" dirty="0">
                <a:latin typeface="Tahoma" panose="020B0604030504040204" pitchFamily="34" charset="0"/>
                <a:sym typeface="Euclid Extra" panose="02050502000505020303" pitchFamily="18" charset="2"/>
              </a:rPr>
              <a:t>◦</a:t>
            </a:r>
            <a:r>
              <a:rPr lang="en-US" altLang="zh-CN" sz="2400" dirty="0">
                <a:latin typeface="MT-Extra" charset="0"/>
                <a:sym typeface="+mn-ea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 = 1</a:t>
            </a:r>
            <a:r>
              <a:rPr lang="en-US" altLang="zh-CN" sz="2400" i="1" baseline="-25000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)) =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), Thus 1</a:t>
            </a:r>
            <a:r>
              <a:rPr lang="en-US" altLang="zh-CN" sz="2400" i="1" baseline="-25000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sz="2400" dirty="0">
                <a:latin typeface="Euclid" panose="02020503060505020303" pitchFamily="18" charset="0"/>
                <a:ea typeface="宋体" pitchFamily="2" charset="-122"/>
                <a:sym typeface="Euclid Extra" panose="02050502000505020303" pitchFamily="18" charset="2"/>
              </a:rPr>
              <a:t></a:t>
            </a:r>
            <a:r>
              <a:rPr lang="en-US" altLang="zh-CN" sz="2400" dirty="0">
                <a:latin typeface="Tahoma" panose="020B0604030504040204" pitchFamily="34" charset="0"/>
                <a:sym typeface="Euclid Extra" panose="02050502000505020303" pitchFamily="18" charset="2"/>
              </a:rPr>
              <a:t>◦</a:t>
            </a:r>
            <a:r>
              <a:rPr lang="en-US" altLang="zh-CN" sz="2400" dirty="0">
                <a:latin typeface="MT-Extra" charset="0"/>
                <a:sym typeface="+mn-ea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 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=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 f.</a:t>
            </a:r>
            <a:endParaRPr lang="en-US" altLang="zh-CN" sz="2400" i="1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lnSpc>
                <a:spcPct val="90000"/>
              </a:lnSpc>
              <a:buSzPct val="55000"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en-US" altLang="zh-CN" sz="2400" dirty="0">
                <a:latin typeface="Euclid" panose="02020503060505020303" pitchFamily="18" charset="0"/>
                <a:ea typeface="宋体" pitchFamily="2" charset="-122"/>
                <a:sym typeface="Euclid Extra" panose="02050502000505020303" pitchFamily="18" charset="2"/>
              </a:rPr>
              <a:t></a:t>
            </a:r>
            <a:r>
              <a:rPr lang="en-US" altLang="zh-CN" sz="2400" dirty="0">
                <a:latin typeface="Tahoma" panose="020B0604030504040204" pitchFamily="34" charset="0"/>
                <a:sym typeface="Euclid Extra" panose="02050502000505020303" pitchFamily="18" charset="2"/>
              </a:rPr>
              <a:t>◦</a:t>
            </a:r>
            <a:r>
              <a:rPr lang="en-US" altLang="zh-CN" sz="2400" dirty="0">
                <a:latin typeface="MT-Extra" charset="0"/>
                <a:sym typeface="+mn-ea"/>
              </a:rPr>
              <a:t> 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1</a:t>
            </a:r>
            <a:r>
              <a:rPr lang="en-US" altLang="zh-CN" sz="2400" i="1" baseline="-25000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)=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(1</a:t>
            </a:r>
            <a:r>
              <a:rPr lang="en-US" altLang="zh-CN" sz="2400" i="1" baseline="-25000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)) =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), so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en-US" altLang="zh-CN" sz="2400" dirty="0">
                <a:latin typeface="Euclid" panose="02020503060505020303" pitchFamily="18" charset="0"/>
                <a:ea typeface="宋体" pitchFamily="2" charset="-122"/>
                <a:sym typeface="Euclid Extra" panose="02050502000505020303" pitchFamily="18" charset="2"/>
              </a:rPr>
              <a:t></a:t>
            </a:r>
            <a:r>
              <a:rPr lang="en-US" altLang="zh-CN" sz="2400" dirty="0">
                <a:latin typeface="Tahoma" panose="020B0604030504040204" pitchFamily="34" charset="0"/>
                <a:sym typeface="Euclid Extra" panose="02050502000505020303" pitchFamily="18" charset="2"/>
              </a:rPr>
              <a:t>◦</a:t>
            </a:r>
            <a:r>
              <a:rPr lang="en-US" altLang="zh-CN" sz="2400" dirty="0">
                <a:latin typeface="MT-Extra" charset="0"/>
                <a:sym typeface="+mn-ea"/>
              </a:rPr>
              <a:t> 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1</a:t>
            </a:r>
            <a:r>
              <a:rPr lang="en-US" altLang="zh-CN" sz="2400" i="1" baseline="-25000" dirty="0">
                <a:latin typeface="Times New Roman" panose="02020503050405090304" pitchFamily="18" charset="0"/>
                <a:ea typeface="宋体" pitchFamily="2" charset="-122"/>
              </a:rPr>
              <a:t>A 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=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f.</a:t>
            </a:r>
            <a:endParaRPr lang="en-US" altLang="zh-CN" sz="2400" i="1" dirty="0">
              <a:latin typeface="Times New Roman" panose="02020503050405090304" pitchFamily="18" charset="0"/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For all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in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lnSpc>
                <a:spcPct val="90000"/>
              </a:lnSpc>
              <a:buSzPct val="55000"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1</a:t>
            </a:r>
            <a:r>
              <a:rPr lang="en-US" altLang="zh-CN" sz="2400" baseline="-25000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)=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=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baseline="30000" dirty="0">
                <a:latin typeface="Times New Roman" panose="02020503050405090304" pitchFamily="18" charset="0"/>
                <a:ea typeface="宋体" pitchFamily="2" charset="-122"/>
              </a:rPr>
              <a:t>-1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))=(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baseline="30000" dirty="0">
                <a:latin typeface="Times New Roman" panose="02020503050405090304" pitchFamily="18" charset="0"/>
                <a:ea typeface="宋体" pitchFamily="2" charset="-122"/>
              </a:rPr>
              <a:t>-1</a:t>
            </a:r>
            <a:r>
              <a:rPr lang="en-US" altLang="zh-CN" sz="2400" dirty="0">
                <a:latin typeface="Euclid" panose="02020503060505020303" pitchFamily="18" charset="0"/>
                <a:ea typeface="宋体" pitchFamily="2" charset="-122"/>
                <a:sym typeface="Euclid Extra" panose="02050502000505020303" pitchFamily="18" charset="2"/>
              </a:rPr>
              <a:t></a:t>
            </a:r>
            <a:r>
              <a:rPr lang="en-US" altLang="zh-CN" sz="2400" dirty="0">
                <a:latin typeface="Tahoma" panose="020B0604030504040204" pitchFamily="34" charset="0"/>
                <a:sym typeface="Euclid Extra" panose="02050502000505020303" pitchFamily="18" charset="2"/>
              </a:rPr>
              <a:t>◦</a:t>
            </a:r>
            <a:r>
              <a:rPr lang="en-US" altLang="zh-CN" sz="2400" dirty="0">
                <a:latin typeface="MT-Extra" charset="0"/>
                <a:sym typeface="+mn-ea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), Thus 1</a:t>
            </a:r>
            <a:r>
              <a:rPr lang="en-US" altLang="zh-CN" sz="2400" i="1" baseline="-25000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=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baseline="30000" dirty="0">
                <a:latin typeface="Times New Roman" panose="02020503050405090304" pitchFamily="18" charset="0"/>
                <a:ea typeface="宋体" pitchFamily="2" charset="-122"/>
              </a:rPr>
              <a:t>-1</a:t>
            </a:r>
            <a:r>
              <a:rPr lang="en-US" altLang="zh-CN" sz="2400" dirty="0">
                <a:latin typeface="Euclid" panose="02020503060505020303" pitchFamily="18" charset="0"/>
                <a:ea typeface="宋体" pitchFamily="2" charset="-122"/>
                <a:sym typeface="Euclid Extra" panose="02050502000505020303" pitchFamily="18" charset="2"/>
              </a:rPr>
              <a:t></a:t>
            </a:r>
            <a:r>
              <a:rPr lang="en-US" altLang="zh-CN" sz="2400" dirty="0">
                <a:latin typeface="Tahoma" panose="020B0604030504040204" pitchFamily="34" charset="0"/>
                <a:sym typeface="Euclid Extra" panose="02050502000505020303" pitchFamily="18" charset="2"/>
              </a:rPr>
              <a:t>◦</a:t>
            </a:r>
            <a:r>
              <a:rPr lang="en-US" altLang="zh-CN" sz="2400" dirty="0">
                <a:latin typeface="MT-Extra" charset="0"/>
                <a:sym typeface="+mn-ea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endParaRPr lang="en-US" altLang="zh-CN" sz="2400" i="1" dirty="0">
              <a:latin typeface="Times New Roman" panose="02020503050405090304" pitchFamily="18" charset="0"/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For all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in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lnSpc>
                <a:spcPct val="90000"/>
              </a:lnSpc>
              <a:buSzPct val="55000"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1</a:t>
            </a:r>
            <a:r>
              <a:rPr lang="en-US" altLang="zh-CN" sz="2400" baseline="-25000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(b)=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=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baseline="30000" dirty="0">
                <a:latin typeface="Times New Roman" panose="02020503050405090304" pitchFamily="18" charset="0"/>
                <a:ea typeface="宋体" pitchFamily="2" charset="-122"/>
              </a:rPr>
              <a:t>-1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))=(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 </a:t>
            </a:r>
            <a:r>
              <a:rPr lang="en-US" altLang="zh-CN" sz="2400" dirty="0">
                <a:latin typeface="Euclid" panose="02020503060505020303" pitchFamily="18" charset="0"/>
                <a:ea typeface="宋体" pitchFamily="2" charset="-122"/>
                <a:sym typeface="Euclid Extra" panose="02050502000505020303" pitchFamily="18" charset="2"/>
              </a:rPr>
              <a:t></a:t>
            </a:r>
            <a:r>
              <a:rPr lang="en-US" altLang="zh-CN" sz="2400" dirty="0">
                <a:latin typeface="Tahoma" panose="020B0604030504040204" pitchFamily="34" charset="0"/>
                <a:sym typeface="Euclid Extra" panose="02050502000505020303" pitchFamily="18" charset="2"/>
              </a:rPr>
              <a:t>◦</a:t>
            </a:r>
            <a:r>
              <a:rPr lang="en-US" altLang="zh-CN" sz="2400" dirty="0">
                <a:latin typeface="MT-Extra" charset="0"/>
                <a:sym typeface="+mn-ea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baseline="30000" dirty="0">
                <a:latin typeface="Times New Roman" panose="02020503050405090304" pitchFamily="18" charset="0"/>
                <a:ea typeface="宋体" pitchFamily="2" charset="-122"/>
              </a:rPr>
              <a:t>-1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), Thus 1</a:t>
            </a:r>
            <a:r>
              <a:rPr lang="en-US" altLang="zh-CN" sz="2400" i="1" baseline="-25000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=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en-US" altLang="zh-CN" sz="2400" dirty="0">
                <a:latin typeface="Euclid" panose="02020503060505020303" pitchFamily="18" charset="0"/>
                <a:ea typeface="宋体" pitchFamily="2" charset="-122"/>
                <a:sym typeface="Euclid Extra" panose="02050502000505020303" pitchFamily="18" charset="2"/>
              </a:rPr>
              <a:t></a:t>
            </a:r>
            <a:r>
              <a:rPr lang="en-US" altLang="zh-CN" sz="2400" dirty="0">
                <a:latin typeface="Tahoma" panose="020B0604030504040204" pitchFamily="34" charset="0"/>
                <a:sym typeface="Euclid Extra" panose="02050502000505020303" pitchFamily="18" charset="2"/>
              </a:rPr>
              <a:t>◦</a:t>
            </a:r>
            <a:r>
              <a:rPr lang="en-US" altLang="zh-CN" sz="2400" dirty="0">
                <a:latin typeface="MT-Extra" charset="0"/>
                <a:sym typeface="+mn-ea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baseline="30000" dirty="0">
                <a:latin typeface="Times New Roman" panose="02020503050405090304" pitchFamily="18" charset="0"/>
                <a:ea typeface="宋体" pitchFamily="2" charset="-122"/>
              </a:rPr>
              <a:t>-1</a:t>
            </a:r>
            <a:endParaRPr lang="en-US" altLang="zh-CN" sz="2400" baseline="30000" dirty="0">
              <a:latin typeface="Times New Roman" panose="02020503050405090304" pitchFamily="18" charset="0"/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SzPct val="60000"/>
            </a:pPr>
            <a:endParaRPr lang="en-US" altLang="zh-CN" sz="2800" i="1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lnSpc>
                <a:spcPct val="90000"/>
              </a:lnSpc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Note: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b=f(a)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is equivalent to the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a=f</a:t>
            </a:r>
            <a:r>
              <a:rPr lang="en-US" altLang="zh-CN" sz="2800" i="1" baseline="300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-1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(b)</a:t>
            </a:r>
            <a:endParaRPr lang="en-US" altLang="zh-CN" sz="2800" i="1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915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915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915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charRg st="20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charRg st="64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charRg st="107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charRg st="124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charRg st="168" end="1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charRg st="185" end="2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charRg st="232" end="2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7059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Graphs of Functions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50179" name="Rectangle 3"/>
          <p:cNvSpPr>
            <a:spLocks noGrp="1"/>
          </p:cNvSpPr>
          <p:nvPr>
            <p:ph idx="1"/>
          </p:nvPr>
        </p:nvSpPr>
        <p:spPr>
          <a:xfrm>
            <a:off x="972503" y="1342390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We can represent a function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: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as a set of ordered pairs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{(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,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)) |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}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Note that 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, there is only 1 pair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,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  <a:p>
            <a:pPr lvl="1" eaLnBrk="1" hangingPunct="1">
              <a:buSzPct val="55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Later (ch.6):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relations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 loosen this restriction.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sym typeface="Symbol" panose="05050102010706020507" pitchFamily="18" charset="2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For functions over numbers, we can represent an ordered pair 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,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) as a point on a plane.  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  <a:p>
            <a:pPr lvl="1" eaLnBrk="1" hangingPunct="1">
              <a:buSzPct val="55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A function is then drawn as a curve (set of points), with only one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 for each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. 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018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018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018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0183" name="Text Box 4"/>
          <p:cNvSpPr txBox="1"/>
          <p:nvPr/>
        </p:nvSpPr>
        <p:spPr>
          <a:xfrm>
            <a:off x="6300470" y="4580573"/>
            <a:ext cx="2498725" cy="395287"/>
          </a:xfrm>
          <a:prstGeom prst="rect">
            <a:avLst/>
          </a:prstGeom>
          <a:solidFill>
            <a:srgbClr val="FFFFCC"/>
          </a:solidFill>
          <a:ln w="28575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Times New Roman" panose="02020503050405090304" pitchFamily="18" charset="0"/>
                <a:ea typeface="宋体" pitchFamily="2" charset="-122"/>
              </a:rPr>
              <a:t>← </a:t>
            </a:r>
            <a:r>
              <a:rPr lang="en-US" altLang="zh-CN" sz="1800" dirty="0">
                <a:latin typeface="Times New Roman" panose="02020503050405090304" pitchFamily="18" charset="0"/>
                <a:ea typeface="宋体" pitchFamily="2" charset="-122"/>
              </a:rPr>
              <a:t>The function’s </a:t>
            </a:r>
            <a:r>
              <a:rPr lang="en-US" altLang="zh-CN" sz="1800" i="1" dirty="0">
                <a:latin typeface="Times New Roman" panose="02020503050405090304" pitchFamily="18" charset="0"/>
                <a:ea typeface="宋体" pitchFamily="2" charset="-122"/>
              </a:rPr>
              <a:t>graph</a:t>
            </a:r>
            <a:r>
              <a:rPr lang="en-US" altLang="zh-CN" sz="1800" dirty="0">
                <a:latin typeface="Times New Roman" panose="02020503050405090304" pitchFamily="18" charset="0"/>
                <a:ea typeface="宋体" pitchFamily="2" charset="-122"/>
              </a:rPr>
              <a:t>.</a:t>
            </a:r>
            <a:endParaRPr lang="en-US" altLang="zh-CN" sz="18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标题 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>
          <a:xfrm>
            <a:off x="1043940" y="1414145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Example 26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Example 27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0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120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120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pic>
        <p:nvPicPr>
          <p:cNvPr id="5120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335" y="2627630"/>
            <a:ext cx="7379970" cy="37547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Floor and ceiling function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5222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The </a:t>
            </a:r>
            <a:r>
              <a:rPr lang="en-US" altLang="zh-CN" sz="2800" i="1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floor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function, denoted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) </a:t>
            </a:r>
            <a:r>
              <a:rPr lang="en-US" altLang="zh-CN" sz="2800" dirty="0">
                <a:latin typeface="Symbol" panose="05050102010706020507" pitchFamily="18" charset="2"/>
                <a:ea typeface="宋体" pitchFamily="2" charset="-122"/>
                <a:cs typeface="+mn-cs"/>
              </a:rPr>
              <a:t>= ë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sz="2800" dirty="0">
                <a:latin typeface="Symbol" panose="05050102010706020507" pitchFamily="18" charset="2"/>
                <a:ea typeface="宋体" pitchFamily="2" charset="-122"/>
                <a:cs typeface="+mn-cs"/>
              </a:rPr>
              <a:t>û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or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) = floor(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), is the largest integer less than or equal to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.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The </a:t>
            </a:r>
            <a:r>
              <a:rPr lang="en-US" altLang="zh-CN" sz="2800" i="1" dirty="0">
                <a:solidFill>
                  <a:schemeClr val="hlink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rPr>
              <a:t>ceiling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function, denoted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) </a:t>
            </a:r>
            <a:r>
              <a:rPr lang="en-US" altLang="zh-CN" sz="2800" dirty="0">
                <a:latin typeface="Symbol" panose="05050102010706020507" pitchFamily="18" charset="2"/>
                <a:ea typeface="宋体" pitchFamily="2" charset="-122"/>
                <a:cs typeface="+mn-cs"/>
              </a:rPr>
              <a:t>= é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sz="2800" dirty="0">
                <a:latin typeface="Symbol" panose="05050102010706020507" pitchFamily="18" charset="2"/>
                <a:ea typeface="宋体" pitchFamily="2" charset="-122"/>
                <a:cs typeface="+mn-cs"/>
              </a:rPr>
              <a:t>ù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or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) = ceiling(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), is the smallest integer greater than or equal to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.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Examples: </a:t>
            </a:r>
            <a:r>
              <a:rPr lang="en-US" altLang="zh-CN" sz="2800" dirty="0">
                <a:latin typeface="Symbol" panose="05050102010706020507" pitchFamily="18" charset="2"/>
                <a:ea typeface="宋体" pitchFamily="2" charset="-122"/>
                <a:cs typeface="+mn-cs"/>
              </a:rPr>
              <a:t>ë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3.5</a:t>
            </a:r>
            <a:r>
              <a:rPr lang="en-US" altLang="zh-CN" sz="2800" dirty="0">
                <a:latin typeface="Symbol" panose="05050102010706020507" pitchFamily="18" charset="2"/>
                <a:ea typeface="宋体" pitchFamily="2" charset="-122"/>
                <a:cs typeface="+mn-cs"/>
              </a:rPr>
              <a:t>û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= 3, </a:t>
            </a:r>
            <a:r>
              <a:rPr lang="en-US" altLang="zh-CN" sz="2800" dirty="0">
                <a:latin typeface="Symbol" panose="05050102010706020507" pitchFamily="18" charset="2"/>
                <a:ea typeface="宋体" pitchFamily="2" charset="-122"/>
                <a:cs typeface="+mn-cs"/>
              </a:rPr>
              <a:t>é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3.5</a:t>
            </a:r>
            <a:r>
              <a:rPr lang="en-US" altLang="zh-CN" sz="2800" dirty="0">
                <a:latin typeface="Symbol" panose="05050102010706020507" pitchFamily="18" charset="2"/>
                <a:ea typeface="宋体" pitchFamily="2" charset="-122"/>
                <a:cs typeface="+mn-cs"/>
              </a:rPr>
              <a:t>ù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= 4.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buSzPct val="55000"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Note: the floor function is equivalent to truncation for positive numbers.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222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222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223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39919" y="5517113"/>
            <a:ext cx="8395632" cy="830997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Application: 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Truncation used in computer network and communication network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Visualizing Floor &amp; Ceiling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5325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Real numbers “fall to their floor” or “rise to their ceiling.”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Note that if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</a:t>
            </a:r>
            <a:r>
              <a:rPr lang="en-US" altLang="zh-CN" b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Z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,</a:t>
            </a:r>
            <a:b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</a:b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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   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 &amp;</a:t>
            </a:r>
            <a:b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</a:b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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   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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Note that if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Z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,</a:t>
            </a:r>
            <a:b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</a:b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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 = 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 =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325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325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325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3255" name="Line 4"/>
          <p:cNvSpPr/>
          <p:nvPr/>
        </p:nvSpPr>
        <p:spPr>
          <a:xfrm flipV="1">
            <a:off x="5410200" y="2590800"/>
            <a:ext cx="0" cy="3276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triangle" w="lg" len="lg"/>
          </a:ln>
        </p:spPr>
      </p:sp>
      <p:sp>
        <p:nvSpPr>
          <p:cNvPr id="53256" name="Line 5"/>
          <p:cNvSpPr/>
          <p:nvPr/>
        </p:nvSpPr>
        <p:spPr>
          <a:xfrm>
            <a:off x="5257800" y="2895600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57" name="Line 6"/>
          <p:cNvSpPr/>
          <p:nvPr/>
        </p:nvSpPr>
        <p:spPr>
          <a:xfrm>
            <a:off x="5257800" y="3276600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58" name="Line 7"/>
          <p:cNvSpPr/>
          <p:nvPr/>
        </p:nvSpPr>
        <p:spPr>
          <a:xfrm>
            <a:off x="5257800" y="3733800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59" name="Line 8"/>
          <p:cNvSpPr/>
          <p:nvPr/>
        </p:nvSpPr>
        <p:spPr>
          <a:xfrm>
            <a:off x="5257800" y="4191000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60" name="Line 9"/>
          <p:cNvSpPr/>
          <p:nvPr/>
        </p:nvSpPr>
        <p:spPr>
          <a:xfrm>
            <a:off x="5257800" y="4648200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61" name="Line 10"/>
          <p:cNvSpPr/>
          <p:nvPr/>
        </p:nvSpPr>
        <p:spPr>
          <a:xfrm>
            <a:off x="5257800" y="5105400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62" name="Line 11"/>
          <p:cNvSpPr/>
          <p:nvPr/>
        </p:nvSpPr>
        <p:spPr>
          <a:xfrm>
            <a:off x="5257800" y="5562600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63" name="Text Box 12"/>
          <p:cNvSpPr txBox="1"/>
          <p:nvPr/>
        </p:nvSpPr>
        <p:spPr>
          <a:xfrm>
            <a:off x="4953000" y="3962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0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64" name="Text Box 13"/>
          <p:cNvSpPr txBox="1"/>
          <p:nvPr/>
        </p:nvSpPr>
        <p:spPr>
          <a:xfrm>
            <a:off x="4800600" y="4419600"/>
            <a:ext cx="5032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1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65" name="Text Box 14"/>
          <p:cNvSpPr txBox="1"/>
          <p:nvPr/>
        </p:nvSpPr>
        <p:spPr>
          <a:xfrm>
            <a:off x="4953000" y="3505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1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66" name="Text Box 15"/>
          <p:cNvSpPr txBox="1"/>
          <p:nvPr/>
        </p:nvSpPr>
        <p:spPr>
          <a:xfrm>
            <a:off x="4953000" y="3048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2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67" name="Text Box 16"/>
          <p:cNvSpPr txBox="1"/>
          <p:nvPr/>
        </p:nvSpPr>
        <p:spPr>
          <a:xfrm>
            <a:off x="4953000" y="2667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3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68" name="Text Box 17"/>
          <p:cNvSpPr txBox="1"/>
          <p:nvPr/>
        </p:nvSpPr>
        <p:spPr>
          <a:xfrm>
            <a:off x="4800600" y="4876800"/>
            <a:ext cx="5032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2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69" name="Text Box 18"/>
          <p:cNvSpPr txBox="1"/>
          <p:nvPr/>
        </p:nvSpPr>
        <p:spPr>
          <a:xfrm>
            <a:off x="4800600" y="5334000"/>
            <a:ext cx="5032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3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70" name="Text Box 19"/>
          <p:cNvSpPr txBox="1"/>
          <p:nvPr/>
        </p:nvSpPr>
        <p:spPr>
          <a:xfrm>
            <a:off x="5638800" y="3124200"/>
            <a:ext cx="260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.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71" name="Text Box 20"/>
          <p:cNvSpPr txBox="1"/>
          <p:nvPr/>
        </p:nvSpPr>
        <p:spPr>
          <a:xfrm>
            <a:off x="5810250" y="3409950"/>
            <a:ext cx="260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.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72" name="Text Box 21"/>
          <p:cNvSpPr txBox="1"/>
          <p:nvPr/>
        </p:nvSpPr>
        <p:spPr>
          <a:xfrm>
            <a:off x="5943600" y="2952750"/>
            <a:ext cx="260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.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73" name="Text Box 22"/>
          <p:cNvSpPr txBox="1"/>
          <p:nvPr/>
        </p:nvSpPr>
        <p:spPr>
          <a:xfrm>
            <a:off x="5943600" y="4324350"/>
            <a:ext cx="260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.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74" name="Text Box 23"/>
          <p:cNvSpPr txBox="1"/>
          <p:nvPr/>
        </p:nvSpPr>
        <p:spPr>
          <a:xfrm>
            <a:off x="5715000" y="4495800"/>
            <a:ext cx="260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.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75" name="Text Box 24"/>
          <p:cNvSpPr txBox="1"/>
          <p:nvPr/>
        </p:nvSpPr>
        <p:spPr>
          <a:xfrm>
            <a:off x="6172200" y="4781550"/>
            <a:ext cx="260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.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76" name="Freeform 25"/>
          <p:cNvSpPr/>
          <p:nvPr/>
        </p:nvSpPr>
        <p:spPr>
          <a:xfrm>
            <a:off x="5792788" y="3462338"/>
            <a:ext cx="141287" cy="2571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3486425" y="123488450"/>
              </a:cxn>
              <a:cxn ang="0">
                <a:pos x="204131140" y="307459063"/>
              </a:cxn>
              <a:cxn ang="0">
                <a:pos x="224292319" y="408265313"/>
              </a:cxn>
            </a:cxnLst>
            <a:pathLst>
              <a:path w="89" h="162">
                <a:moveTo>
                  <a:pt x="0" y="0"/>
                </a:moveTo>
                <a:cubicBezTo>
                  <a:pt x="39" y="13"/>
                  <a:pt x="23" y="21"/>
                  <a:pt x="49" y="49"/>
                </a:cubicBezTo>
                <a:cubicBezTo>
                  <a:pt x="68" y="106"/>
                  <a:pt x="56" y="83"/>
                  <a:pt x="81" y="122"/>
                </a:cubicBezTo>
                <a:cubicBezTo>
                  <a:pt x="84" y="135"/>
                  <a:pt x="89" y="162"/>
                  <a:pt x="89" y="162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sp>
        <p:nvSpPr>
          <p:cNvPr id="53277" name="Freeform 26"/>
          <p:cNvSpPr/>
          <p:nvPr/>
        </p:nvSpPr>
        <p:spPr>
          <a:xfrm>
            <a:off x="5791200" y="3321050"/>
            <a:ext cx="266700" cy="127000"/>
          </a:xfrm>
          <a:custGeom>
            <a:avLst/>
            <a:gdLst/>
            <a:ahLst/>
            <a:cxnLst>
              <a:cxn ang="0">
                <a:pos x="0" y="201612500"/>
              </a:cxn>
              <a:cxn ang="0">
                <a:pos x="241935000" y="141128750"/>
              </a:cxn>
              <a:cxn ang="0">
                <a:pos x="302418750" y="120967500"/>
              </a:cxn>
              <a:cxn ang="0">
                <a:pos x="362902500" y="80645000"/>
              </a:cxn>
              <a:cxn ang="0">
                <a:pos x="423386250" y="0"/>
              </a:cxn>
            </a:cxnLst>
            <a:pathLst>
              <a:path w="168" h="80">
                <a:moveTo>
                  <a:pt x="0" y="80"/>
                </a:moveTo>
                <a:cubicBezTo>
                  <a:pt x="32" y="69"/>
                  <a:pt x="64" y="65"/>
                  <a:pt x="96" y="56"/>
                </a:cubicBezTo>
                <a:cubicBezTo>
                  <a:pt x="104" y="54"/>
                  <a:pt x="112" y="51"/>
                  <a:pt x="120" y="48"/>
                </a:cubicBezTo>
                <a:cubicBezTo>
                  <a:pt x="129" y="45"/>
                  <a:pt x="144" y="32"/>
                  <a:pt x="144" y="32"/>
                </a:cubicBezTo>
                <a:cubicBezTo>
                  <a:pt x="152" y="21"/>
                  <a:pt x="162" y="12"/>
                  <a:pt x="168" y="0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sp>
        <p:nvSpPr>
          <p:cNvPr id="53278" name="Text Box 27"/>
          <p:cNvSpPr txBox="1"/>
          <p:nvPr/>
        </p:nvSpPr>
        <p:spPr>
          <a:xfrm>
            <a:off x="5715000" y="5238750"/>
            <a:ext cx="260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.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79" name="Text Box 28"/>
          <p:cNvSpPr txBox="1"/>
          <p:nvPr/>
        </p:nvSpPr>
        <p:spPr>
          <a:xfrm>
            <a:off x="5867400" y="5238750"/>
            <a:ext cx="260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.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80" name="Text Box 29"/>
          <p:cNvSpPr txBox="1"/>
          <p:nvPr/>
        </p:nvSpPr>
        <p:spPr>
          <a:xfrm>
            <a:off x="6108700" y="5238750"/>
            <a:ext cx="260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.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81" name="Freeform 30"/>
          <p:cNvSpPr/>
          <p:nvPr/>
        </p:nvSpPr>
        <p:spPr>
          <a:xfrm>
            <a:off x="5861050" y="4826000"/>
            <a:ext cx="433388" cy="2730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52822282" y="90725625"/>
              </a:cxn>
              <a:cxn ang="0">
                <a:pos x="443548012" y="120967500"/>
              </a:cxn>
              <a:cxn ang="0">
                <a:pos x="504031832" y="141128750"/>
              </a:cxn>
              <a:cxn ang="0">
                <a:pos x="594757561" y="211693125"/>
              </a:cxn>
              <a:cxn ang="0">
                <a:pos x="604838198" y="241935000"/>
              </a:cxn>
              <a:cxn ang="0">
                <a:pos x="635080108" y="262096250"/>
              </a:cxn>
              <a:cxn ang="0">
                <a:pos x="655241381" y="322580000"/>
              </a:cxn>
              <a:cxn ang="0">
                <a:pos x="675402654" y="352821875"/>
              </a:cxn>
              <a:cxn ang="0">
                <a:pos x="685483291" y="433466875"/>
              </a:cxn>
            </a:cxnLst>
            <a:pathLst>
              <a:path w="273" h="172">
                <a:moveTo>
                  <a:pt x="0" y="0"/>
                </a:moveTo>
                <a:cubicBezTo>
                  <a:pt x="45" y="15"/>
                  <a:pt x="94" y="24"/>
                  <a:pt x="140" y="36"/>
                </a:cubicBezTo>
                <a:cubicBezTo>
                  <a:pt x="152" y="39"/>
                  <a:pt x="164" y="44"/>
                  <a:pt x="176" y="48"/>
                </a:cubicBezTo>
                <a:cubicBezTo>
                  <a:pt x="184" y="51"/>
                  <a:pt x="200" y="56"/>
                  <a:pt x="200" y="56"/>
                </a:cubicBezTo>
                <a:cubicBezTo>
                  <a:pt x="211" y="67"/>
                  <a:pt x="236" y="84"/>
                  <a:pt x="236" y="84"/>
                </a:cubicBezTo>
                <a:cubicBezTo>
                  <a:pt x="237" y="88"/>
                  <a:pt x="237" y="93"/>
                  <a:pt x="240" y="96"/>
                </a:cubicBezTo>
                <a:cubicBezTo>
                  <a:pt x="243" y="100"/>
                  <a:pt x="249" y="100"/>
                  <a:pt x="252" y="104"/>
                </a:cubicBezTo>
                <a:cubicBezTo>
                  <a:pt x="256" y="111"/>
                  <a:pt x="255" y="121"/>
                  <a:pt x="260" y="128"/>
                </a:cubicBezTo>
                <a:cubicBezTo>
                  <a:pt x="263" y="132"/>
                  <a:pt x="265" y="136"/>
                  <a:pt x="268" y="140"/>
                </a:cubicBezTo>
                <a:cubicBezTo>
                  <a:pt x="273" y="161"/>
                  <a:pt x="272" y="151"/>
                  <a:pt x="272" y="172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sp>
        <p:nvSpPr>
          <p:cNvPr id="53282" name="Freeform 31"/>
          <p:cNvSpPr/>
          <p:nvPr/>
        </p:nvSpPr>
        <p:spPr>
          <a:xfrm>
            <a:off x="5854700" y="4705350"/>
            <a:ext cx="190500" cy="114300"/>
          </a:xfrm>
          <a:custGeom>
            <a:avLst/>
            <a:gdLst/>
            <a:ahLst/>
            <a:cxnLst>
              <a:cxn ang="0">
                <a:pos x="0" y="181451250"/>
              </a:cxn>
              <a:cxn ang="0">
                <a:pos x="161290000" y="131048125"/>
              </a:cxn>
              <a:cxn ang="0">
                <a:pos x="252015625" y="60483750"/>
              </a:cxn>
              <a:cxn ang="0">
                <a:pos x="302418750" y="0"/>
              </a:cxn>
            </a:cxnLst>
            <a:pathLst>
              <a:path w="120" h="72">
                <a:moveTo>
                  <a:pt x="0" y="72"/>
                </a:moveTo>
                <a:cubicBezTo>
                  <a:pt x="21" y="65"/>
                  <a:pt x="43" y="59"/>
                  <a:pt x="64" y="52"/>
                </a:cubicBezTo>
                <a:cubicBezTo>
                  <a:pt x="77" y="48"/>
                  <a:pt x="88" y="32"/>
                  <a:pt x="100" y="24"/>
                </a:cubicBezTo>
                <a:cubicBezTo>
                  <a:pt x="104" y="18"/>
                  <a:pt x="120" y="6"/>
                  <a:pt x="120" y="0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sp>
        <p:nvSpPr>
          <p:cNvPr id="53283" name="Freeform 32"/>
          <p:cNvSpPr/>
          <p:nvPr/>
        </p:nvSpPr>
        <p:spPr>
          <a:xfrm>
            <a:off x="5842000" y="5365750"/>
            <a:ext cx="381000" cy="177800"/>
          </a:xfrm>
          <a:custGeom>
            <a:avLst/>
            <a:gdLst/>
            <a:ahLst/>
            <a:cxnLst>
              <a:cxn ang="0">
                <a:pos x="0" y="282257500"/>
              </a:cxn>
              <a:cxn ang="0">
                <a:pos x="219442393" y="60483750"/>
              </a:cxn>
              <a:cxn ang="0">
                <a:pos x="310876345" y="20161250"/>
              </a:cxn>
              <a:cxn ang="0">
                <a:pos x="365737321" y="0"/>
              </a:cxn>
              <a:cxn ang="0">
                <a:pos x="530318738" y="50403125"/>
              </a:cxn>
              <a:cxn ang="0">
                <a:pos x="576035714" y="201612500"/>
              </a:cxn>
              <a:cxn ang="0">
                <a:pos x="566891714" y="262096250"/>
              </a:cxn>
            </a:cxnLst>
            <a:pathLst>
              <a:path w="252" h="112">
                <a:moveTo>
                  <a:pt x="0" y="112"/>
                </a:moveTo>
                <a:cubicBezTo>
                  <a:pt x="25" y="74"/>
                  <a:pt x="56" y="44"/>
                  <a:pt x="96" y="24"/>
                </a:cubicBezTo>
                <a:cubicBezTo>
                  <a:pt x="109" y="17"/>
                  <a:pt x="122" y="12"/>
                  <a:pt x="136" y="8"/>
                </a:cubicBezTo>
                <a:cubicBezTo>
                  <a:pt x="144" y="6"/>
                  <a:pt x="160" y="0"/>
                  <a:pt x="160" y="0"/>
                </a:cubicBezTo>
                <a:cubicBezTo>
                  <a:pt x="188" y="3"/>
                  <a:pt x="209" y="5"/>
                  <a:pt x="232" y="20"/>
                </a:cubicBezTo>
                <a:cubicBezTo>
                  <a:pt x="239" y="42"/>
                  <a:pt x="248" y="56"/>
                  <a:pt x="252" y="80"/>
                </a:cubicBezTo>
                <a:cubicBezTo>
                  <a:pt x="251" y="88"/>
                  <a:pt x="248" y="104"/>
                  <a:pt x="248" y="104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sp>
        <p:nvSpPr>
          <p:cNvPr id="53284" name="Freeform 33"/>
          <p:cNvSpPr/>
          <p:nvPr/>
        </p:nvSpPr>
        <p:spPr>
          <a:xfrm>
            <a:off x="5822950" y="5581650"/>
            <a:ext cx="209550" cy="165100"/>
          </a:xfrm>
          <a:custGeom>
            <a:avLst/>
            <a:gdLst/>
            <a:ahLst/>
            <a:cxnLst>
              <a:cxn ang="0">
                <a:pos x="10080625" y="0"/>
              </a:cxn>
              <a:cxn ang="0">
                <a:pos x="50403125" y="211693125"/>
              </a:cxn>
              <a:cxn ang="0">
                <a:pos x="141128750" y="262096250"/>
              </a:cxn>
              <a:cxn ang="0">
                <a:pos x="312499375" y="231854375"/>
              </a:cxn>
              <a:cxn ang="0">
                <a:pos x="292338125" y="10080625"/>
              </a:cxn>
            </a:cxnLst>
            <a:pathLst>
              <a:path w="132" h="104">
                <a:moveTo>
                  <a:pt x="4" y="0"/>
                </a:moveTo>
                <a:cubicBezTo>
                  <a:pt x="0" y="13"/>
                  <a:pt x="11" y="75"/>
                  <a:pt x="20" y="84"/>
                </a:cubicBezTo>
                <a:cubicBezTo>
                  <a:pt x="30" y="94"/>
                  <a:pt x="56" y="104"/>
                  <a:pt x="56" y="104"/>
                </a:cubicBezTo>
                <a:cubicBezTo>
                  <a:pt x="80" y="101"/>
                  <a:pt x="101" y="100"/>
                  <a:pt x="124" y="92"/>
                </a:cubicBezTo>
                <a:cubicBezTo>
                  <a:pt x="132" y="59"/>
                  <a:pt x="131" y="34"/>
                  <a:pt x="116" y="4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sp>
        <p:nvSpPr>
          <p:cNvPr id="53285" name="Text Box 34"/>
          <p:cNvSpPr txBox="1"/>
          <p:nvPr/>
        </p:nvSpPr>
        <p:spPr>
          <a:xfrm>
            <a:off x="5438775" y="3316288"/>
            <a:ext cx="374650" cy="2746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Times New Roman" panose="02020503050405090304" pitchFamily="18" charset="0"/>
                <a:ea typeface="宋体" pitchFamily="2" charset="-122"/>
              </a:rPr>
              <a:t>1.6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86" name="Text Box 35"/>
          <p:cNvSpPr txBox="1"/>
          <p:nvPr/>
        </p:nvSpPr>
        <p:spPr>
          <a:xfrm>
            <a:off x="6019800" y="2971800"/>
            <a:ext cx="65405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</a:t>
            </a:r>
            <a:r>
              <a:rPr lang="en-US" altLang="zh-CN" sz="1200" dirty="0">
                <a:latin typeface="Times New Roman" panose="02020503050405090304" pitchFamily="18" charset="0"/>
                <a:ea typeface="宋体" pitchFamily="2" charset="-122"/>
              </a:rPr>
              <a:t>1.6</a:t>
            </a:r>
            <a:r>
              <a:rPr lang="en-US" altLang="zh-CN" sz="12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=2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87" name="Text Box 36"/>
          <p:cNvSpPr txBox="1"/>
          <p:nvPr/>
        </p:nvSpPr>
        <p:spPr>
          <a:xfrm>
            <a:off x="6248400" y="5105400"/>
            <a:ext cx="860425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</a:t>
            </a:r>
            <a:r>
              <a:rPr lang="en-US" altLang="zh-CN" sz="1200" dirty="0">
                <a:latin typeface="Times New Roman" panose="02020503050405090304" pitchFamily="18" charset="0"/>
                <a:ea typeface="宋体" pitchFamily="2" charset="-122"/>
              </a:rPr>
              <a:t>1.4</a:t>
            </a:r>
            <a:r>
              <a:rPr lang="en-US" altLang="zh-CN" sz="12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= 2</a:t>
            </a:r>
            <a:endParaRPr lang="en-US" altLang="zh-CN" sz="1200" dirty="0">
              <a:latin typeface="Times New Roman" panose="02020503050405090304" pitchFamily="18" charset="0"/>
              <a:ea typeface="宋体" pitchFamily="2" charset="-122"/>
              <a:sym typeface="Symbol" panose="05050102010706020507" pitchFamily="18" charset="2"/>
            </a:endParaRPr>
          </a:p>
        </p:txBody>
      </p:sp>
      <p:sp>
        <p:nvSpPr>
          <p:cNvPr id="53288" name="Text Box 37"/>
          <p:cNvSpPr txBox="1"/>
          <p:nvPr/>
        </p:nvSpPr>
        <p:spPr>
          <a:xfrm>
            <a:off x="5441950" y="4681538"/>
            <a:ext cx="458788" cy="2746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1200" dirty="0">
                <a:latin typeface="Times New Roman" panose="02020503050405090304" pitchFamily="18" charset="0"/>
                <a:ea typeface="宋体" pitchFamily="2" charset="-122"/>
              </a:rPr>
              <a:t>1.4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89" name="Text Box 38"/>
          <p:cNvSpPr txBox="1"/>
          <p:nvPr/>
        </p:nvSpPr>
        <p:spPr>
          <a:xfrm>
            <a:off x="5943600" y="4343400"/>
            <a:ext cx="860425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</a:t>
            </a:r>
            <a:r>
              <a:rPr lang="en-US" altLang="zh-CN" sz="1200" dirty="0">
                <a:latin typeface="Times New Roman" panose="02020503050405090304" pitchFamily="18" charset="0"/>
                <a:ea typeface="宋体" pitchFamily="2" charset="-122"/>
              </a:rPr>
              <a:t>1.4</a:t>
            </a:r>
            <a:r>
              <a:rPr lang="en-US" altLang="zh-CN" sz="12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= </a:t>
            </a:r>
            <a:r>
              <a:rPr lang="en-US" altLang="zh-CN" sz="1200" dirty="0">
                <a:latin typeface="Times New Roman" panose="02020503050405090304" pitchFamily="18" charset="0"/>
                <a:ea typeface="宋体" pitchFamily="2" charset="-122"/>
              </a:rPr>
              <a:t>1</a:t>
            </a:r>
            <a:endParaRPr lang="en-US" altLang="zh-CN" sz="12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90" name="Line 39"/>
          <p:cNvSpPr/>
          <p:nvPr/>
        </p:nvSpPr>
        <p:spPr>
          <a:xfrm>
            <a:off x="5638800" y="3276600"/>
            <a:ext cx="1295400" cy="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53291" name="Line 40"/>
          <p:cNvSpPr/>
          <p:nvPr/>
        </p:nvSpPr>
        <p:spPr>
          <a:xfrm>
            <a:off x="5638800" y="3733800"/>
            <a:ext cx="1295400" cy="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53292" name="Line 41"/>
          <p:cNvSpPr/>
          <p:nvPr/>
        </p:nvSpPr>
        <p:spPr>
          <a:xfrm>
            <a:off x="5638800" y="4648200"/>
            <a:ext cx="1295400" cy="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53293" name="Line 42"/>
          <p:cNvSpPr/>
          <p:nvPr/>
        </p:nvSpPr>
        <p:spPr>
          <a:xfrm>
            <a:off x="5638800" y="5105400"/>
            <a:ext cx="1295400" cy="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53294" name="Line 43"/>
          <p:cNvSpPr/>
          <p:nvPr/>
        </p:nvSpPr>
        <p:spPr>
          <a:xfrm>
            <a:off x="5638800" y="5562600"/>
            <a:ext cx="1295400" cy="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53295" name="Text Box 44"/>
          <p:cNvSpPr txBox="1"/>
          <p:nvPr/>
        </p:nvSpPr>
        <p:spPr>
          <a:xfrm>
            <a:off x="5867400" y="3733800"/>
            <a:ext cx="654050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</a:t>
            </a:r>
            <a:r>
              <a:rPr lang="en-US" altLang="zh-CN" sz="1200" dirty="0">
                <a:latin typeface="Times New Roman" panose="02020503050405090304" pitchFamily="18" charset="0"/>
                <a:ea typeface="宋体" pitchFamily="2" charset="-122"/>
              </a:rPr>
              <a:t>1.6</a:t>
            </a:r>
            <a:r>
              <a:rPr lang="en-US" altLang="zh-CN" sz="12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=1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96" name="Text Box 45"/>
          <p:cNvSpPr txBox="1"/>
          <p:nvPr/>
        </p:nvSpPr>
        <p:spPr>
          <a:xfrm>
            <a:off x="5578475" y="5334000"/>
            <a:ext cx="344488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1200" dirty="0">
                <a:latin typeface="Times New Roman" panose="02020503050405090304" pitchFamily="18" charset="0"/>
                <a:ea typeface="宋体" pitchFamily="2" charset="-122"/>
              </a:rPr>
              <a:t>3</a:t>
            </a:r>
            <a:endParaRPr lang="en-US" altLang="zh-CN" sz="12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297" name="Text Box 46"/>
          <p:cNvSpPr txBox="1"/>
          <p:nvPr/>
        </p:nvSpPr>
        <p:spPr>
          <a:xfrm>
            <a:off x="6019800" y="5562600"/>
            <a:ext cx="1109663" cy="2746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</a:t>
            </a:r>
            <a:r>
              <a:rPr lang="en-US" altLang="zh-CN" sz="1200" dirty="0">
                <a:latin typeface="Times New Roman" panose="02020503050405090304" pitchFamily="18" charset="0"/>
                <a:ea typeface="宋体" pitchFamily="2" charset="-122"/>
              </a:rPr>
              <a:t>3</a:t>
            </a:r>
            <a:r>
              <a:rPr lang="en-US" altLang="zh-CN" sz="12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=</a:t>
            </a:r>
            <a:r>
              <a:rPr lang="en-US" altLang="zh-CN" sz="1200" dirty="0">
                <a:latin typeface="Times New Roman" panose="02020503050405090304" pitchFamily="18" charset="0"/>
                <a:ea typeface="宋体" pitchFamily="2" charset="-122"/>
              </a:rPr>
              <a:t>3</a:t>
            </a:r>
            <a:r>
              <a:rPr lang="en-US" altLang="zh-CN" sz="12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= </a:t>
            </a:r>
            <a:r>
              <a:rPr lang="en-US" altLang="zh-CN" sz="1200" dirty="0">
                <a:latin typeface="Times New Roman" panose="02020503050405090304" pitchFamily="18" charset="0"/>
                <a:ea typeface="宋体" pitchFamily="2" charset="-122"/>
              </a:rPr>
              <a:t>3</a:t>
            </a:r>
            <a:endParaRPr lang="en-US" altLang="zh-CN" sz="12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Plots with floor/ceiling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Note that for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)=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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, the graph of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includes the point (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, 0) for all values of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such that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0 and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a&lt;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1, but not for the value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=1.  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  <a:p>
            <a:pPr eaLnBrk="1" hangingPunct="1"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We say that the set of points (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,0) that is in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does not include its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limit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or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boundary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 point (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,1).  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  <a:p>
            <a:pPr lvl="1" eaLnBrk="1" hangingPunct="1">
              <a:buSzPct val="55000"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Sets that do not include all of their limit points are generally called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open sets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.  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  <a:sym typeface="Symbol" panose="05050102010706020507" pitchFamily="18" charset="2"/>
            </a:endParaRPr>
          </a:p>
          <a:p>
            <a:pPr eaLnBrk="1" hangingPunct="1"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In a plot, we draw a limit point of a curve using an open dot (circle) if the limit point is not on the curve, and with a closed (solid) dot if it is on the curve.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427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427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427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Plots with floor/ceiling: Example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Plot of graph of function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) =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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/3: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530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530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530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5303" name="Line 4"/>
          <p:cNvSpPr/>
          <p:nvPr/>
        </p:nvSpPr>
        <p:spPr>
          <a:xfrm flipV="1">
            <a:off x="4572000" y="2590800"/>
            <a:ext cx="0" cy="3276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55304" name="Line 5"/>
          <p:cNvSpPr/>
          <p:nvPr/>
        </p:nvSpPr>
        <p:spPr>
          <a:xfrm>
            <a:off x="1143000" y="4191000"/>
            <a:ext cx="7162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55305" name="Line 6"/>
          <p:cNvSpPr/>
          <p:nvPr/>
        </p:nvSpPr>
        <p:spPr>
          <a:xfrm>
            <a:off x="5029200" y="40386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06" name="Line 7"/>
          <p:cNvSpPr/>
          <p:nvPr/>
        </p:nvSpPr>
        <p:spPr>
          <a:xfrm>
            <a:off x="5486400" y="40386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07" name="Line 8"/>
          <p:cNvSpPr/>
          <p:nvPr/>
        </p:nvSpPr>
        <p:spPr>
          <a:xfrm>
            <a:off x="5943600" y="40386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08" name="Line 9"/>
          <p:cNvSpPr/>
          <p:nvPr/>
        </p:nvSpPr>
        <p:spPr>
          <a:xfrm>
            <a:off x="6400800" y="40386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09" name="Line 10"/>
          <p:cNvSpPr/>
          <p:nvPr/>
        </p:nvSpPr>
        <p:spPr>
          <a:xfrm>
            <a:off x="6858000" y="40386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0" name="Line 11"/>
          <p:cNvSpPr/>
          <p:nvPr/>
        </p:nvSpPr>
        <p:spPr>
          <a:xfrm>
            <a:off x="7315200" y="40386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1" name="Line 12"/>
          <p:cNvSpPr/>
          <p:nvPr/>
        </p:nvSpPr>
        <p:spPr>
          <a:xfrm>
            <a:off x="7772400" y="40386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2" name="Line 13"/>
          <p:cNvSpPr/>
          <p:nvPr/>
        </p:nvSpPr>
        <p:spPr>
          <a:xfrm flipH="1">
            <a:off x="4419600" y="3733800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3" name="Line 14"/>
          <p:cNvSpPr/>
          <p:nvPr/>
        </p:nvSpPr>
        <p:spPr>
          <a:xfrm flipH="1">
            <a:off x="4419600" y="3352800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4" name="Line 15"/>
          <p:cNvSpPr/>
          <p:nvPr/>
        </p:nvSpPr>
        <p:spPr>
          <a:xfrm flipH="1">
            <a:off x="4419600" y="2971800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5" name="Line 16"/>
          <p:cNvSpPr/>
          <p:nvPr/>
        </p:nvSpPr>
        <p:spPr>
          <a:xfrm flipH="1">
            <a:off x="4419600" y="4572000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6" name="Line 17"/>
          <p:cNvSpPr/>
          <p:nvPr/>
        </p:nvSpPr>
        <p:spPr>
          <a:xfrm flipH="1">
            <a:off x="4419600" y="4953000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7" name="Line 18"/>
          <p:cNvSpPr/>
          <p:nvPr/>
        </p:nvSpPr>
        <p:spPr>
          <a:xfrm flipH="1">
            <a:off x="4419600" y="5334000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8" name="Line 19"/>
          <p:cNvSpPr/>
          <p:nvPr/>
        </p:nvSpPr>
        <p:spPr>
          <a:xfrm>
            <a:off x="4114800" y="40386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9" name="Line 20"/>
          <p:cNvSpPr/>
          <p:nvPr/>
        </p:nvSpPr>
        <p:spPr>
          <a:xfrm>
            <a:off x="3657600" y="40386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20" name="Line 21"/>
          <p:cNvSpPr/>
          <p:nvPr/>
        </p:nvSpPr>
        <p:spPr>
          <a:xfrm>
            <a:off x="3200400" y="40386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21" name="Line 22"/>
          <p:cNvSpPr/>
          <p:nvPr/>
        </p:nvSpPr>
        <p:spPr>
          <a:xfrm>
            <a:off x="2743200" y="40386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22" name="Line 23"/>
          <p:cNvSpPr/>
          <p:nvPr/>
        </p:nvSpPr>
        <p:spPr>
          <a:xfrm>
            <a:off x="2286000" y="40386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23" name="Line 24"/>
          <p:cNvSpPr/>
          <p:nvPr/>
        </p:nvSpPr>
        <p:spPr>
          <a:xfrm>
            <a:off x="1828800" y="40386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24" name="Oval 25"/>
          <p:cNvSpPr/>
          <p:nvPr/>
        </p:nvSpPr>
        <p:spPr>
          <a:xfrm>
            <a:off x="4495800" y="41148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55325" name="Oval 26"/>
          <p:cNvSpPr/>
          <p:nvPr/>
        </p:nvSpPr>
        <p:spPr>
          <a:xfrm>
            <a:off x="5867400" y="36576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55326" name="Oval 27"/>
          <p:cNvSpPr/>
          <p:nvPr/>
        </p:nvSpPr>
        <p:spPr>
          <a:xfrm>
            <a:off x="7239000" y="32766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55327" name="Oval 28"/>
          <p:cNvSpPr/>
          <p:nvPr/>
        </p:nvSpPr>
        <p:spPr>
          <a:xfrm>
            <a:off x="3124200" y="44958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55328" name="Oval 29"/>
          <p:cNvSpPr/>
          <p:nvPr/>
        </p:nvSpPr>
        <p:spPr>
          <a:xfrm>
            <a:off x="1752600" y="48768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55329" name="Oval 30"/>
          <p:cNvSpPr/>
          <p:nvPr/>
        </p:nvSpPr>
        <p:spPr>
          <a:xfrm>
            <a:off x="5867400" y="4114800"/>
            <a:ext cx="152400" cy="152400"/>
          </a:xfrm>
          <a:prstGeom prst="ellipse">
            <a:avLst/>
          </a:prstGeom>
          <a:noFill/>
          <a:ln w="254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55330" name="Line 31"/>
          <p:cNvSpPr/>
          <p:nvPr/>
        </p:nvSpPr>
        <p:spPr>
          <a:xfrm>
            <a:off x="4572000" y="4191000"/>
            <a:ext cx="1295400" cy="0"/>
          </a:xfrm>
          <a:prstGeom prst="line">
            <a:avLst/>
          </a:prstGeom>
          <a:ln w="635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31" name="Line 32"/>
          <p:cNvSpPr/>
          <p:nvPr/>
        </p:nvSpPr>
        <p:spPr>
          <a:xfrm>
            <a:off x="5943600" y="3733800"/>
            <a:ext cx="1295400" cy="0"/>
          </a:xfrm>
          <a:prstGeom prst="line">
            <a:avLst/>
          </a:prstGeom>
          <a:ln w="635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32" name="Line 33"/>
          <p:cNvSpPr/>
          <p:nvPr/>
        </p:nvSpPr>
        <p:spPr>
          <a:xfrm>
            <a:off x="7315200" y="3352800"/>
            <a:ext cx="1066800" cy="0"/>
          </a:xfrm>
          <a:prstGeom prst="line">
            <a:avLst/>
          </a:prstGeom>
          <a:ln w="635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33" name="Line 34"/>
          <p:cNvSpPr/>
          <p:nvPr/>
        </p:nvSpPr>
        <p:spPr>
          <a:xfrm>
            <a:off x="3200400" y="4572000"/>
            <a:ext cx="1295400" cy="0"/>
          </a:xfrm>
          <a:prstGeom prst="line">
            <a:avLst/>
          </a:prstGeom>
          <a:ln w="635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34" name="Line 35"/>
          <p:cNvSpPr/>
          <p:nvPr/>
        </p:nvSpPr>
        <p:spPr>
          <a:xfrm>
            <a:off x="1828800" y="4953000"/>
            <a:ext cx="1295400" cy="0"/>
          </a:xfrm>
          <a:prstGeom prst="line">
            <a:avLst/>
          </a:prstGeom>
          <a:ln w="635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35" name="Oval 36"/>
          <p:cNvSpPr/>
          <p:nvPr/>
        </p:nvSpPr>
        <p:spPr>
          <a:xfrm>
            <a:off x="7239000" y="3657600"/>
            <a:ext cx="152400" cy="152400"/>
          </a:xfrm>
          <a:prstGeom prst="ellipse">
            <a:avLst/>
          </a:prstGeom>
          <a:noFill/>
          <a:ln w="254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55336" name="Oval 37"/>
          <p:cNvSpPr/>
          <p:nvPr/>
        </p:nvSpPr>
        <p:spPr>
          <a:xfrm>
            <a:off x="4495800" y="4495800"/>
            <a:ext cx="152400" cy="152400"/>
          </a:xfrm>
          <a:prstGeom prst="ellipse">
            <a:avLst/>
          </a:prstGeom>
          <a:noFill/>
          <a:ln w="254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55337" name="Oval 38"/>
          <p:cNvSpPr/>
          <p:nvPr/>
        </p:nvSpPr>
        <p:spPr>
          <a:xfrm>
            <a:off x="3124200" y="4876800"/>
            <a:ext cx="152400" cy="152400"/>
          </a:xfrm>
          <a:prstGeom prst="ellipse">
            <a:avLst/>
          </a:prstGeom>
          <a:noFill/>
          <a:ln w="254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55338" name="Text Box 39"/>
          <p:cNvSpPr txBox="1"/>
          <p:nvPr/>
        </p:nvSpPr>
        <p:spPr>
          <a:xfrm>
            <a:off x="7924800" y="4114800"/>
            <a:ext cx="319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5339" name="Text Box 40"/>
          <p:cNvSpPr txBox="1"/>
          <p:nvPr/>
        </p:nvSpPr>
        <p:spPr>
          <a:xfrm>
            <a:off x="4648200" y="2362200"/>
            <a:ext cx="6064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f(x)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5340" name="Line 41"/>
          <p:cNvSpPr/>
          <p:nvPr/>
        </p:nvSpPr>
        <p:spPr>
          <a:xfrm>
            <a:off x="762000" y="5334000"/>
            <a:ext cx="990600" cy="0"/>
          </a:xfrm>
          <a:prstGeom prst="line">
            <a:avLst/>
          </a:prstGeom>
          <a:ln w="635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41" name="Oval 42"/>
          <p:cNvSpPr/>
          <p:nvPr/>
        </p:nvSpPr>
        <p:spPr>
          <a:xfrm>
            <a:off x="1752600" y="5257800"/>
            <a:ext cx="152400" cy="152400"/>
          </a:xfrm>
          <a:prstGeom prst="ellipse">
            <a:avLst/>
          </a:prstGeom>
          <a:noFill/>
          <a:ln w="254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55342" name="Text Box 43"/>
          <p:cNvSpPr txBox="1"/>
          <p:nvPr/>
        </p:nvSpPr>
        <p:spPr>
          <a:xfrm>
            <a:off x="1281113" y="3124200"/>
            <a:ext cx="27130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Set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of points 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,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x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))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5343" name="Text Box 44"/>
          <p:cNvSpPr txBox="1"/>
          <p:nvPr/>
        </p:nvSpPr>
        <p:spPr>
          <a:xfrm>
            <a:off x="5715000" y="4191000"/>
            <a:ext cx="508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+3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5344" name="Text Box 45"/>
          <p:cNvSpPr txBox="1"/>
          <p:nvPr/>
        </p:nvSpPr>
        <p:spPr>
          <a:xfrm>
            <a:off x="4727575" y="4724400"/>
            <a:ext cx="5032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2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5345" name="Text Box 46"/>
          <p:cNvSpPr txBox="1"/>
          <p:nvPr/>
        </p:nvSpPr>
        <p:spPr>
          <a:xfrm>
            <a:off x="4800600" y="3124200"/>
            <a:ext cx="508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+2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5346" name="Text Box 47"/>
          <p:cNvSpPr txBox="1"/>
          <p:nvPr/>
        </p:nvSpPr>
        <p:spPr>
          <a:xfrm>
            <a:off x="2971800" y="4114800"/>
            <a:ext cx="5032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3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Properties of the floor and ceiling functions</a:t>
            </a:r>
            <a:endParaRPr lang="en-US" altLang="zh-CN" sz="4000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57347" name="Rectangle 3"/>
          <p:cNvSpPr>
            <a:spLocks noGrp="1"/>
          </p:cNvSpPr>
          <p:nvPr>
            <p:ph idx="1"/>
          </p:nvPr>
        </p:nvSpPr>
        <p:spPr>
          <a:xfrm>
            <a:off x="683578" y="1366203"/>
            <a:ext cx="8270875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Table 1 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</a:pP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</a:pP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</a:pP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</a:pP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>
              <a:buSzPct val="60000"/>
              <a:buFont typeface="Wingdings" panose="05000000000000000000" pitchFamily="2" charset="2"/>
              <a:buNone/>
            </a:pP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734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735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pic>
        <p:nvPicPr>
          <p:cNvPr id="57351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4165" y="1268730"/>
            <a:ext cx="5219700" cy="5219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836612"/>
            <a:ext cx="8352159" cy="5564187"/>
          </a:xfrm>
        </p:spPr>
        <p:txBody>
          <a:bodyPr/>
          <a:lstStyle/>
          <a:p>
            <a:pPr eaLnBrk="1" hangingPunct="1"/>
            <a:endParaRPr lang="en-US" altLang="zh-CN" sz="2800" b="1" dirty="0"/>
          </a:p>
          <a:p>
            <a:pPr lvl="1"/>
            <a:r>
              <a:rPr lang="en-US" altLang="zh-CN" sz="2400" dirty="0"/>
              <a:t>Prove that if </a:t>
            </a:r>
            <a:r>
              <a:rPr lang="en-US" altLang="zh-CN" sz="2400" i="1" dirty="0"/>
              <a:t>x </a:t>
            </a:r>
            <a:r>
              <a:rPr lang="en-US" altLang="zh-CN" sz="2400" dirty="0"/>
              <a:t>is a real number, then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r>
              <a:rPr lang="en-US" altLang="zh-CN" sz="2800" b="1" dirty="0"/>
              <a:t>Proof:</a:t>
            </a:r>
            <a:r>
              <a:rPr lang="en-US" altLang="zh-CN" sz="2800" b="1" dirty="0">
                <a:solidFill>
                  <a:srgbClr val="FF0000"/>
                </a:solidFill>
              </a:rPr>
              <a:t> Let </a:t>
            </a:r>
            <a:r>
              <a:rPr lang="en-US" altLang="zh-CN" sz="2800" b="1" i="1" dirty="0">
                <a:solidFill>
                  <a:srgbClr val="FF0000"/>
                </a:solidFill>
              </a:rPr>
              <a:t>x=</a:t>
            </a:r>
            <a:r>
              <a:rPr lang="en-US" altLang="zh-CN" sz="2800" b="1" i="1" dirty="0" err="1">
                <a:solidFill>
                  <a:srgbClr val="FF0000"/>
                </a:solidFill>
              </a:rPr>
              <a:t>n+ε</a:t>
            </a:r>
            <a:r>
              <a:rPr lang="en-US" altLang="zh-CN" sz="2800" b="1" i="1" dirty="0">
                <a:solidFill>
                  <a:srgbClr val="FF0000"/>
                </a:solidFill>
              </a:rPr>
              <a:t> (0≤ ε&lt;1)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altLang="zh-CN" sz="2400" dirty="0"/>
              <a:t>1) Case 1: 0≤ ε&lt;1/2,  </a:t>
            </a:r>
            <a:r>
              <a:rPr lang="en-US" altLang="zh-CN" sz="2400" dirty="0">
                <a:sym typeface="Symbol" panose="05050102010706020507" pitchFamily="18" charset="2"/>
              </a:rPr>
              <a:t>2x= 2n+2</a:t>
            </a:r>
            <a:r>
              <a:rPr lang="en-US" altLang="zh-CN" sz="2400" dirty="0"/>
              <a:t>ε</a:t>
            </a:r>
            <a:r>
              <a:rPr lang="en-US" altLang="zh-CN" sz="2400" dirty="0">
                <a:sym typeface="Symbol" panose="05050102010706020507" pitchFamily="18" charset="2"/>
              </a:rPr>
              <a:t>=2n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marL="457200" lvl="1" indent="0">
              <a:buNone/>
            </a:pPr>
            <a:r>
              <a:rPr lang="en-US" altLang="zh-CN" sz="2400" dirty="0"/>
              <a:t>		</a:t>
            </a:r>
            <a:r>
              <a:rPr lang="en-US" altLang="zh-CN" sz="2400" dirty="0">
                <a:sym typeface="Symbol" panose="05050102010706020507" pitchFamily="18" charset="2"/>
              </a:rPr>
              <a:t> x= </a:t>
            </a:r>
            <a:r>
              <a:rPr lang="en-US" altLang="zh-CN" sz="2400" dirty="0" err="1">
                <a:sym typeface="Symbol" panose="05050102010706020507" pitchFamily="18" charset="2"/>
              </a:rPr>
              <a:t>n+</a:t>
            </a:r>
            <a:r>
              <a:rPr lang="en-US" altLang="zh-CN" sz="2400" dirty="0" err="1"/>
              <a:t>ε</a:t>
            </a:r>
            <a:r>
              <a:rPr lang="en-US" altLang="zh-CN" sz="2400" dirty="0">
                <a:sym typeface="Symbol" panose="05050102010706020507" pitchFamily="18" charset="2"/>
              </a:rPr>
              <a:t>=n, x+1/2= n+</a:t>
            </a:r>
            <a:r>
              <a:rPr lang="en-US" altLang="zh-CN" sz="2400" dirty="0"/>
              <a:t>ε+1/2</a:t>
            </a:r>
            <a:r>
              <a:rPr lang="en-US" altLang="zh-CN" sz="2400" dirty="0">
                <a:sym typeface="Symbol" panose="05050102010706020507" pitchFamily="18" charset="2"/>
              </a:rPr>
              <a:t>=n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marL="457200" lvl="1" indent="0"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	show 2x= x+ x+1/2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US" altLang="zh-CN" sz="2400" dirty="0">
              <a:sym typeface="Symbol" panose="05050102010706020507" pitchFamily="18" charset="2"/>
            </a:endParaRPr>
          </a:p>
          <a:p>
            <a:pPr marL="457200" lvl="1" indent="0"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2) Case 2: 1/2</a:t>
            </a:r>
            <a:r>
              <a:rPr lang="en-US" altLang="zh-CN" sz="2400" dirty="0"/>
              <a:t>≤ ε&lt;1,  </a:t>
            </a:r>
            <a:r>
              <a:rPr lang="en-US" altLang="zh-CN" sz="2400" dirty="0">
                <a:sym typeface="Symbol" panose="05050102010706020507" pitchFamily="18" charset="2"/>
              </a:rPr>
              <a:t>2x= 2n+2</a:t>
            </a:r>
            <a:r>
              <a:rPr lang="en-US" altLang="zh-CN" sz="2400" dirty="0"/>
              <a:t>ε</a:t>
            </a:r>
            <a:r>
              <a:rPr lang="en-US" altLang="zh-CN" sz="2400" dirty="0">
                <a:sym typeface="Symbol" panose="05050102010706020507" pitchFamily="18" charset="2"/>
              </a:rPr>
              <a:t>=2n+1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marL="457200" lvl="1" indent="0">
              <a:buNone/>
            </a:pPr>
            <a:r>
              <a:rPr lang="en-US" altLang="zh-CN" sz="2400" dirty="0"/>
              <a:t>		</a:t>
            </a:r>
            <a:r>
              <a:rPr lang="en-US" altLang="zh-CN" sz="2400" dirty="0">
                <a:sym typeface="Symbol" panose="05050102010706020507" pitchFamily="18" charset="2"/>
              </a:rPr>
              <a:t> x= </a:t>
            </a:r>
            <a:r>
              <a:rPr lang="en-US" altLang="zh-CN" sz="2400" dirty="0" err="1">
                <a:sym typeface="Symbol" panose="05050102010706020507" pitchFamily="18" charset="2"/>
              </a:rPr>
              <a:t>n+</a:t>
            </a:r>
            <a:r>
              <a:rPr lang="en-US" altLang="zh-CN" sz="2400" dirty="0" err="1"/>
              <a:t>ε</a:t>
            </a:r>
            <a:r>
              <a:rPr lang="en-US" altLang="zh-CN" sz="2400" dirty="0">
                <a:sym typeface="Symbol" panose="05050102010706020507" pitchFamily="18" charset="2"/>
              </a:rPr>
              <a:t>=n, x+1/2= n+</a:t>
            </a:r>
            <a:r>
              <a:rPr lang="en-US" altLang="zh-CN" sz="2400" dirty="0"/>
              <a:t>ε+1/2</a:t>
            </a:r>
            <a:r>
              <a:rPr lang="en-US" altLang="zh-CN" sz="2400" dirty="0">
                <a:sym typeface="Symbol" panose="05050102010706020507" pitchFamily="18" charset="2"/>
              </a:rPr>
              <a:t>=n+1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marL="457200" lvl="1" indent="0"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	show 2x= x+ x+1/2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None/>
            </a:pPr>
            <a:endParaRPr lang="en-US" altLang="zh-CN" sz="28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fld id="{95CEA532-B1F1-4404-9326-40298CBF1A2B}" type="slidenum">
              <a:rPr altLang="en-US" sz="1000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6085" name="日期占位符 4"/>
          <p:cNvSpPr>
            <a:spLocks noGrp="1" noChangeArrowheads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fld id="{44C411FB-4A91-41FE-AD9E-2B46E6985780}" type="datetime1">
              <a:rPr lang="zh-CN" altLang="en-US" sz="1000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6086" name="页脚占位符 5"/>
          <p:cNvSpPr>
            <a:spLocks noGrp="1" noChangeArrowheads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algn="ctr"/>
            <a:r>
              <a:rPr kumimoji="0"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kumimoji="0" lang="zh-CN" altLang="en-US" sz="1200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pic>
        <p:nvPicPr>
          <p:cNvPr id="46088" name="Picture 1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844824"/>
            <a:ext cx="3659407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en-US" altLang="zh-CN" b="1" dirty="0">
                <a:sym typeface="+mn-ea"/>
              </a:rPr>
              <a:t>Example </a:t>
            </a:r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ym typeface="+mn-ea"/>
              </a:rPr>
              <a:t>Factorial function</a:t>
            </a:r>
            <a:endParaRPr kumimoji="1" lang="en-US" altLang="zh-CN" b="0" kern="1200" dirty="0">
              <a:latin typeface="Copperplate Gothic Bold" panose="020E0705020206020404" pitchFamily="34" charset="0"/>
              <a:ea typeface="+mj-ea"/>
              <a:sym typeface="+mn-ea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431483" y="1268561"/>
            <a:ext cx="8512175" cy="5553075"/>
          </a:xfrm>
        </p:spPr>
        <p:txBody>
          <a:bodyPr/>
          <a:lstStyle/>
          <a:p>
            <a:pPr eaLnBrk="1" hangingPunct="1"/>
            <a:r>
              <a:rPr lang="en-US" altLang="zh-CN" sz="2800" b="1" dirty="0"/>
              <a:t>Definition</a:t>
            </a:r>
            <a:r>
              <a:rPr lang="zh-CN" altLang="en-US" sz="2800" b="1" dirty="0"/>
              <a:t>：</a:t>
            </a:r>
            <a:endParaRPr lang="en-US" altLang="zh-CN" sz="2800" b="1" dirty="0"/>
          </a:p>
          <a:p>
            <a:pPr marL="0" indent="0" eaLnBrk="1" hangingPunct="1">
              <a:buNone/>
            </a:pPr>
            <a:r>
              <a:rPr lang="en-US" altLang="zh-CN" sz="2800" i="1" dirty="0"/>
              <a:t>	</a:t>
            </a:r>
            <a:r>
              <a:rPr lang="en-US" altLang="zh-CN" sz="2800" i="1" dirty="0">
                <a:sym typeface="+mn-ea"/>
              </a:rPr>
              <a:t>f</a:t>
            </a:r>
            <a:r>
              <a:rPr lang="en-US" altLang="zh-CN" sz="2800" dirty="0">
                <a:sym typeface="+mn-ea"/>
              </a:rPr>
              <a:t>: </a:t>
            </a:r>
            <a:r>
              <a:rPr lang="en-US" altLang="zh-CN" sz="2800" dirty="0">
                <a:sym typeface="Euclid Math Two" panose="02050601010101010101" pitchFamily="18" charset="2"/>
              </a:rPr>
              <a:t></a:t>
            </a:r>
            <a:r>
              <a:rPr lang="en-US" altLang="zh-CN" sz="2800" dirty="0">
                <a:sym typeface="+mn-ea"/>
              </a:rPr>
              <a:t>-&gt;</a:t>
            </a:r>
            <a:r>
              <a:rPr lang="en-US" altLang="zh-CN" sz="2800" dirty="0">
                <a:sym typeface="Euclid Math Two" panose="02050601010101010101" pitchFamily="18" charset="2"/>
              </a:rPr>
              <a:t></a:t>
            </a:r>
            <a:r>
              <a:rPr lang="en-US" altLang="zh-CN" sz="2800" baseline="30000" dirty="0">
                <a:sym typeface="+mn-ea"/>
              </a:rPr>
              <a:t>+</a:t>
            </a:r>
            <a:r>
              <a:rPr lang="en-US" altLang="zh-CN" sz="2800" dirty="0">
                <a:sym typeface="+mn-ea"/>
              </a:rPr>
              <a:t>   </a:t>
            </a:r>
            <a:r>
              <a:rPr lang="en-US" altLang="zh-CN" sz="2800" i="1" dirty="0">
                <a:sym typeface="+mn-ea"/>
              </a:rPr>
              <a:t>f(n)</a:t>
            </a:r>
            <a:r>
              <a:rPr lang="en-US" altLang="zh-CN" sz="2800" dirty="0">
                <a:sym typeface="+mn-ea"/>
              </a:rPr>
              <a:t>=</a:t>
            </a:r>
            <a:r>
              <a:rPr lang="en-US" altLang="zh-CN" sz="2800" i="1" dirty="0">
                <a:sym typeface="+mn-ea"/>
              </a:rPr>
              <a:t>n!</a:t>
            </a:r>
            <a:endParaRPr lang="en-US" altLang="zh-CN" sz="2800" i="1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marL="0" indent="0" eaLnBrk="1" hangingPunct="1">
              <a:buNone/>
            </a:pPr>
            <a:r>
              <a:rPr lang="en-US" altLang="zh-CN" sz="2800" i="1" dirty="0"/>
              <a:t>        n! </a:t>
            </a:r>
            <a:r>
              <a:rPr lang="en-US" altLang="zh-CN" sz="2800" dirty="0"/>
              <a:t>grows extremely rapidly as n grows.</a:t>
            </a:r>
            <a:endParaRPr lang="en-US" altLang="zh-CN" sz="2800" i="1" dirty="0"/>
          </a:p>
        </p:txBody>
      </p:sp>
      <p:sp>
        <p:nvSpPr>
          <p:cNvPr id="47108" name="灯片编号占位符 3"/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fld id="{8452308D-2D5C-403E-9C61-8BD86107BDAA}" type="slidenum">
              <a:rPr altLang="en-US" sz="1000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7109" name="日期占位符 4"/>
          <p:cNvSpPr>
            <a:spLocks noGrp="1" noChangeArrowheads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fld id="{2833CF2D-953E-4339-A28C-525961B2627D}" type="datetime1">
              <a:rPr lang="zh-CN" altLang="en-US" sz="1000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7110" name="页脚占位符 5"/>
          <p:cNvSpPr>
            <a:spLocks noGrp="1" noChangeArrowheads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algn="ctr"/>
            <a:r>
              <a:rPr kumimoji="0" lang="en-US" altLang="zh-CN" sz="120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kumimoji="0" lang="zh-CN" altLang="en-US" sz="12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547664" y="2975545"/>
                <a:ext cx="5782930" cy="597471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>
                <a:spAutoFit/>
              </a:bodyPr>
              <a:lstStyle/>
              <a:p>
                <a:r>
                  <a:rPr lang="en-US" altLang="zh-CN" sz="30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Stirling’s formula: </a:t>
                </a:r>
                <a:r>
                  <a:rPr lang="pt-BR" altLang="zh-CN" sz="3000" b="1" i="1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n! ≈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pt-BR" altLang="zh-CN" sz="3000" b="1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3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m:rPr>
                            <m:nor/>
                          </m:rPr>
                          <a:rPr lang="zh-CN" altLang="pt-BR" sz="3000" b="1" i="1" dirty="0">
                            <a:latin typeface="Times New Roman" panose="02020503050405090304" pitchFamily="18" charset="0"/>
                            <a:cs typeface="Times New Roman" panose="02020503050405090304" pitchFamily="18" charset="0"/>
                          </a:rPr>
                          <m:t>𝜋</m:t>
                        </m:r>
                        <m:r>
                          <a:rPr lang="en-US" altLang="zh-CN" sz="3000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rad>
                  </m:oMath>
                </a14:m>
                <a:r>
                  <a:rPr lang="pt-BR" altLang="zh-CN" sz="3000" b="1" i="1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(n∕e) </a:t>
                </a:r>
                <a:r>
                  <a:rPr lang="pt-BR" altLang="zh-CN" sz="3000" b="1" i="1" baseline="300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n</a:t>
                </a:r>
                <a:endParaRPr lang="zh-CN" altLang="en-US" sz="3000" b="1" i="1" baseline="300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2975545"/>
                <a:ext cx="5782930" cy="597471"/>
              </a:xfrm>
              <a:prstGeom prst="rect">
                <a:avLst/>
              </a:prstGeom>
              <a:blipFill rotWithShape="1">
                <a:blip r:embed="rId1"/>
                <a:stretch>
                  <a:fillRect l="-3" t="-8279" r="-623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256" y="3573016"/>
            <a:ext cx="3767487" cy="12241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Characteristic Functions(</a:t>
            </a:r>
            <a:r>
              <a:rPr lang="zh-CN" altLang="en-US" sz="4000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特征函数</a:t>
            </a:r>
            <a:r>
              <a:rPr lang="en-US" altLang="zh-CN" sz="4000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)</a:t>
            </a:r>
            <a:endParaRPr lang="zh-CN" altLang="en-US" sz="4000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5939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Let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 be a subset of the universal set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U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={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u</a:t>
            </a:r>
            <a:r>
              <a:rPr lang="en-US" altLang="zh-CN" baseline="-250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1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u</a:t>
            </a:r>
            <a:r>
              <a:rPr lang="en-US" altLang="zh-CN" baseline="-250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2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</a:t>
            </a:r>
            <a:r>
              <a:rPr lang="en-US" altLang="zh-CN" baseline="-250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u</a:t>
            </a:r>
            <a:r>
              <a:rPr lang="en-US" altLang="zh-CN" baseline="-250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3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...,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u</a:t>
            </a:r>
            <a:r>
              <a:rPr lang="en-US" altLang="zh-CN" i="1" baseline="-250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n</a:t>
            </a:r>
            <a:r>
              <a:rPr lang="en-US" altLang="zh-CN" baseline="-250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}.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The characteristic function of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is defined as a function from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U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to {0,1} by the following: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939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939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939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graphicFrame>
        <p:nvGraphicFramePr>
          <p:cNvPr id="59399" name="Object 4"/>
          <p:cNvGraphicFramePr>
            <a:graphicFrameLocks noChangeAspect="1"/>
          </p:cNvGraphicFramePr>
          <p:nvPr/>
        </p:nvGraphicFramePr>
        <p:xfrm>
          <a:off x="2974023" y="4149090"/>
          <a:ext cx="3240087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371600" imgH="482600" progId="Equation.DSMT4">
                  <p:embed/>
                </p:oleObj>
              </mc:Choice>
              <mc:Fallback>
                <p:oleObj name="" r:id="rId1" imgW="1371600" imgH="4826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74023" y="4149090"/>
                        <a:ext cx="3240087" cy="1139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Characteristic Functions</a:t>
            </a:r>
            <a:endParaRPr lang="zh-CN" altLang="en-US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6041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Example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buSzPct val="55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if 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2" eaLnBrk="1" hangingPunct="1">
              <a:buSzPct val="50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={4, 7, 9}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2" eaLnBrk="1" hangingPunct="1">
              <a:buSzPct val="50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U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={1, 2, 3, …, 10},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buSzPct val="55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then 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2" eaLnBrk="1" hangingPunct="1">
              <a:buSzPct val="50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i="1" baseline="-25000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(2)=0, 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2" eaLnBrk="1" hangingPunct="1">
              <a:buSzPct val="50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i="1" baseline="-25000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(4)=1,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2" eaLnBrk="1" hangingPunct="1">
              <a:buSzPct val="50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i="1" baseline="-25000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(7)=1, 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2" eaLnBrk="1" hangingPunct="1">
              <a:buSzPct val="50000"/>
            </a:pP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i="1" baseline="-25000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(12) is undefined.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Note: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i="1" baseline="-250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is onto but not one to one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042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042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042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Mod-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n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 Functions(</a:t>
            </a:r>
            <a:r>
              <a:rPr lang="zh-CN" altLang="en-US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模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n</a:t>
            </a:r>
            <a:r>
              <a:rPr lang="zh-CN" altLang="en-US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函数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)</a:t>
            </a:r>
            <a:endParaRPr lang="zh-CN" altLang="en-US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6144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Let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sz="2800" i="1" baseline="-250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n</a:t>
            </a:r>
            <a:r>
              <a:rPr lang="en-US" altLang="zh-CN" sz="2800" baseline="-250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is a function from the nonnegative integers to the set {0, 1, 2, 3,…,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n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-1}.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eaLnBrk="1" hangingPunct="1">
              <a:lnSpc>
                <a:spcPct val="90000"/>
              </a:lnSpc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For a fixed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n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, any nonnegative integer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z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can be written as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lnSpc>
                <a:spcPct val="90000"/>
              </a:lnSpc>
              <a:buSzPct val="55000"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z=kn+r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 with 0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r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&lt;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n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 , 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Then</a:t>
            </a:r>
            <a:endParaRPr lang="en-US" altLang="zh-CN" sz="2800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lnSpc>
                <a:spcPct val="90000"/>
              </a:lnSpc>
              <a:buSzPct val="55000"/>
            </a:pP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i="1" baseline="-25000" dirty="0">
                <a:latin typeface="Times New Roman" panose="02020503050405090304" pitchFamily="18" charset="0"/>
                <a:ea typeface="宋体" pitchFamily="2" charset="-122"/>
              </a:rPr>
              <a:t>n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z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)=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r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 or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z 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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r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 (mod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  <a:sym typeface="Symbol" panose="05050102010706020507" pitchFamily="18" charset="2"/>
              </a:rPr>
              <a:t>)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.  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lnSpc>
                <a:spcPct val="90000"/>
              </a:lnSpc>
              <a:buSzPct val="55000"/>
            </a:pP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Note: </a:t>
            </a:r>
            <a:r>
              <a:rPr lang="en-US" altLang="zh-CN" sz="2400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en-US" altLang="zh-CN" sz="2400" i="1" baseline="-25000" dirty="0">
                <a:latin typeface="Times New Roman" panose="02020503050405090304" pitchFamily="18" charset="0"/>
                <a:ea typeface="宋体" pitchFamily="2" charset="-122"/>
              </a:rPr>
              <a:t>n</a:t>
            </a:r>
            <a:r>
              <a:rPr lang="en-US" altLang="zh-CN" sz="2400" dirty="0">
                <a:latin typeface="Times New Roman" panose="02020503050405090304" pitchFamily="18" charset="0"/>
                <a:ea typeface="宋体" pitchFamily="2" charset="-122"/>
              </a:rPr>
              <a:t> is onto but not one to one</a:t>
            </a:r>
            <a:endParaRPr lang="en-US" altLang="zh-CN" sz="2400" dirty="0">
              <a:latin typeface="Times New Roman" panose="02020503050405090304" pitchFamily="18" charset="0"/>
              <a:ea typeface="宋体" pitchFamily="2" charset="-122"/>
            </a:endParaRPr>
          </a:p>
          <a:p>
            <a:pPr marL="342900" lvl="1" indent="-342900" eaLnBrk="1" hangingPunct="1"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60000"/>
            </a:pPr>
            <a:r>
              <a:rPr lang="en-US" altLang="zh-CN" sz="2400" b="1" dirty="0">
                <a:cs typeface="+mn-cs"/>
                <a:sym typeface="+mn-ea"/>
              </a:rPr>
              <a:t>Example:</a:t>
            </a:r>
            <a:endParaRPr lang="en-US" altLang="zh-CN" sz="2400" b="1" dirty="0">
              <a:cs typeface="+mn-cs"/>
            </a:endParaRP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Let </a:t>
            </a:r>
            <a:r>
              <a:rPr lang="en-US" altLang="zh-CN" sz="2400" i="1" dirty="0">
                <a:solidFill>
                  <a:schemeClr val="tx1"/>
                </a:solidFill>
                <a:sym typeface="+mn-ea"/>
              </a:rPr>
              <a:t>f</a:t>
            </a:r>
            <a:r>
              <a:rPr lang="en-US" altLang="zh-CN" sz="2400" baseline="-25000" dirty="0">
                <a:solidFill>
                  <a:schemeClr val="tx1"/>
                </a:solidFill>
                <a:sym typeface="+mn-ea"/>
              </a:rPr>
              <a:t>5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cs typeface="+mn-ea"/>
                <a:sym typeface="+mn-ea"/>
              </a:rPr>
              <a:t>x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)=</a:t>
            </a:r>
            <a:r>
              <a:rPr lang="en-US" altLang="zh-CN" sz="2400" i="1" dirty="0">
                <a:solidFill>
                  <a:schemeClr val="tx1"/>
                </a:solidFill>
                <a:cs typeface="+mn-ea"/>
                <a:sym typeface="+mn-ea"/>
              </a:rPr>
              <a:t>y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  or  </a:t>
            </a:r>
            <a:r>
              <a:rPr lang="en-US" altLang="zh-CN" sz="2400" i="1" dirty="0">
                <a:solidFill>
                  <a:schemeClr val="tx1"/>
                </a:solidFill>
                <a:cs typeface="+mn-ea"/>
                <a:sym typeface="+mn-ea"/>
              </a:rPr>
              <a:t>y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=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solidFill>
                  <a:schemeClr val="tx1"/>
                </a:solidFill>
                <a:cs typeface="+mn-ea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 mod 5 , then 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f</a:t>
            </a:r>
            <a:r>
              <a:rPr lang="en-US" altLang="zh-CN" sz="2400" baseline="-25000" dirty="0">
                <a:solidFill>
                  <a:schemeClr val="tx1"/>
                </a:solidFill>
                <a:sym typeface="+mn-ea"/>
              </a:rPr>
              <a:t>5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(7)=? ,  f</a:t>
            </a:r>
            <a:r>
              <a:rPr lang="en-US" altLang="zh-CN" sz="2400" baseline="-25000" dirty="0">
                <a:solidFill>
                  <a:schemeClr val="tx1"/>
                </a:solidFill>
                <a:sym typeface="+mn-ea"/>
              </a:rPr>
              <a:t>5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(9)=? , f</a:t>
            </a:r>
            <a:r>
              <a:rPr lang="en-US" altLang="zh-CN" sz="2400" baseline="-25000" dirty="0">
                <a:solidFill>
                  <a:schemeClr val="tx1"/>
                </a:solidFill>
                <a:sym typeface="+mn-ea"/>
              </a:rPr>
              <a:t>5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(20)=? 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  <a:buSzPct val="55000"/>
            </a:pPr>
            <a:endParaRPr lang="en-US" altLang="zh-CN" sz="2400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6144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144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144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Examples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62467" name="AutoShape 3"/>
          <p:cNvSpPr>
            <a:spLocks noGrp="1" noChangeAspect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The sets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and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in the definition of a function need not be sets of numbers.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buSzPct val="55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Let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be a finite set and define l: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A</a:t>
            </a:r>
            <a:r>
              <a:rPr lang="en-US" altLang="zh-CN" baseline="30000" dirty="0">
                <a:latin typeface="Times New Roman" panose="02020503050405090304" pitchFamily="18" charset="0"/>
                <a:ea typeface="宋体" pitchFamily="2" charset="-122"/>
              </a:rPr>
              <a:t>*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</a:rPr>
              <a:t>®</a:t>
            </a:r>
            <a:r>
              <a:rPr lang="en-US" altLang="zh-CN" i="1" dirty="0">
                <a:latin typeface="Symbol" panose="05050102010706020507" pitchFamily="18" charset="2"/>
                <a:ea typeface="宋体" pitchFamily="2" charset="-122"/>
              </a:rPr>
              <a:t>Z</a:t>
            </a:r>
            <a:r>
              <a:rPr lang="en-US" altLang="zh-CN" dirty="0">
                <a:latin typeface="Symbol" panose="05050102010706020507" pitchFamily="18" charset="2"/>
                <a:ea typeface="宋体" pitchFamily="2" charset="-122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as l(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w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) is the length of the string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w</a:t>
            </a:r>
            <a:endParaRPr lang="en-US" altLang="zh-CN" i="1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 eaLnBrk="1" hangingPunct="1">
              <a:buSzPct val="55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Let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be a finite subset of the universal set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U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and define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pow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) to be the power set of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. Then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pow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is a function from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V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, the power set of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U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, to the power set of </a:t>
            </a:r>
            <a:r>
              <a:rPr lang="en-US" altLang="zh-CN" i="1" dirty="0">
                <a:latin typeface="Times New Roman" panose="02020503050405090304" pitchFamily="18" charset="0"/>
                <a:ea typeface="宋体" pitchFamily="2" charset="-122"/>
              </a:rPr>
              <a:t>V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.</a:t>
            </a:r>
            <a:endParaRPr lang="en-US" altLang="zh-CN" dirty="0">
              <a:latin typeface="Symbol" panose="05050102010706020507" pitchFamily="18" charset="2"/>
              <a:ea typeface="宋体" pitchFamily="2" charset="-122"/>
            </a:endParaRPr>
          </a:p>
        </p:txBody>
      </p:sp>
      <p:sp>
        <p:nvSpPr>
          <p:cNvPr id="6246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246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247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Partial Functions</a:t>
            </a:r>
            <a:endParaRPr lang="zh-CN" altLang="en-US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683578" y="1371600"/>
            <a:ext cx="8275637" cy="4114800"/>
          </a:xfrm>
        </p:spPr>
        <p:txBody>
          <a:bodyPr vert="horz" wrap="square" lIns="91440" tIns="45720" rIns="91440" bIns="45720" anchor="t" anchorCtr="0"/>
          <a:p>
            <a:pPr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partial function f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from a set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to a set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B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is an assignment to each element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a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in a subset of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A,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called the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domain of definition of f ,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of a unique element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b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in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B.</a:t>
            </a:r>
            <a:endParaRPr lang="en-US" altLang="zh-CN" sz="2800" i="1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>
              <a:buSzPct val="60000"/>
            </a:pP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The sets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and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B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are called the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domain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and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codomain of  f , respectively.</a:t>
            </a:r>
            <a:endParaRPr lang="en-US" altLang="zh-CN" sz="2800" i="1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We say that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is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undefined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for elements in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that are not in the domain of definition of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f . </a:t>
            </a:r>
            <a:endParaRPr lang="en-US" altLang="zh-CN" sz="2800" i="1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>
              <a:buSzPct val="60000"/>
            </a:pP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When the domain of definition of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f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equals 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A,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we say that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f </a:t>
            </a:r>
            <a:r>
              <a:rPr lang="en-US" altLang="zh-CN" sz="2800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is a</a:t>
            </a:r>
            <a:r>
              <a:rPr lang="en-US" altLang="zh-CN" sz="2800" i="1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 total function.</a:t>
            </a:r>
            <a:endParaRPr lang="zh-CN" altLang="en-US" sz="2800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3492" name="日期占位符 3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3493" name="灯片编号占位符 4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349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endParaRPr lang="zh-CN" altLang="en-US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64516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4517" name="灯片编号占位符 5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4518" name="页脚占位符 6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4519" name="内容占位符 2"/>
          <p:cNvSpPr/>
          <p:nvPr>
            <p:ph idx="1"/>
          </p:nvPr>
        </p:nvSpPr>
        <p:spPr>
          <a:xfrm>
            <a:off x="971233" y="1371283"/>
            <a:ext cx="7905750" cy="4114800"/>
          </a:xfrm>
        </p:spPr>
        <p:txBody>
          <a:bodyPr vert="horz" wrap="square" lIns="91440" tIns="45720" rIns="91440" bIns="45720" anchor="t" anchorCtr="0"/>
          <a:p>
            <a:pPr>
              <a:buSzPct val="60000"/>
            </a:pPr>
            <a:r>
              <a:rPr lang="zh-CN" altLang="en-US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EXAMPLE 34 </a:t>
            </a:r>
            <a:endParaRPr lang="zh-CN" altLang="en-US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>
              <a:buSzPct val="55000"/>
            </a:pPr>
            <a:r>
              <a:rPr lang="zh-CN" altLang="en-US" dirty="0">
                <a:latin typeface="Times New Roman" panose="02020503050405090304" pitchFamily="18" charset="0"/>
                <a:ea typeface="宋体" pitchFamily="2" charset="-122"/>
              </a:rPr>
              <a:t>The function </a:t>
            </a:r>
            <a:r>
              <a:rPr lang="zh-CN" altLang="en-US" i="1" dirty="0">
                <a:latin typeface="Times New Roman" panose="02020503050405090304" pitchFamily="18" charset="0"/>
                <a:ea typeface="宋体" pitchFamily="2" charset="-122"/>
              </a:rPr>
              <a:t>f</a:t>
            </a:r>
            <a:r>
              <a:rPr lang="zh-CN" altLang="en-US" dirty="0">
                <a:latin typeface="Times New Roman" panose="02020503050405090304" pitchFamily="18" charset="0"/>
                <a:ea typeface="宋体" pitchFamily="2" charset="-122"/>
              </a:rPr>
              <a:t> : Z → R where</a:t>
            </a:r>
            <a:r>
              <a:rPr lang="zh-CN" altLang="en-US" i="1" dirty="0">
                <a:latin typeface="Times New Roman" panose="02020503050405090304" pitchFamily="18" charset="0"/>
                <a:ea typeface="宋体" pitchFamily="2" charset="-122"/>
                <a:cs typeface="+mn-ea"/>
              </a:rPr>
              <a:t> f</a:t>
            </a:r>
            <a:r>
              <a:rPr lang="zh-CN" altLang="en-US" dirty="0">
                <a:latin typeface="Times New Roman" panose="02020503050405090304" pitchFamily="18" charset="0"/>
                <a:ea typeface="宋体" pitchFamily="2" charset="-122"/>
              </a:rPr>
              <a:t>(</a:t>
            </a:r>
            <a:r>
              <a:rPr lang="zh-CN" altLang="en-US" i="1" dirty="0">
                <a:latin typeface="Times New Roman" panose="02020503050405090304" pitchFamily="18" charset="0"/>
                <a:ea typeface="宋体" pitchFamily="2" charset="-122"/>
              </a:rPr>
              <a:t>n</a:t>
            </a:r>
            <a:r>
              <a:rPr lang="zh-CN" altLang="en-US" dirty="0">
                <a:latin typeface="Times New Roman" panose="02020503050405090304" pitchFamily="18" charset="0"/>
                <a:ea typeface="宋体" pitchFamily="2" charset="-122"/>
              </a:rPr>
              <a:t>) =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zh-CN" altLang="en-US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    </a:t>
            </a:r>
            <a:r>
              <a:rPr lang="zh-CN" altLang="en-US" dirty="0">
                <a:latin typeface="Times New Roman" panose="02020503050405090304" pitchFamily="18" charset="0"/>
                <a:ea typeface="宋体" pitchFamily="2" charset="-122"/>
              </a:rPr>
              <a:t>is a partial function from Z to R where the domain of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 </a:t>
            </a:r>
            <a:r>
              <a:rPr lang="zh-CN" altLang="en-US" dirty="0">
                <a:latin typeface="Times New Roman" panose="02020503050405090304" pitchFamily="18" charset="0"/>
                <a:ea typeface="宋体" pitchFamily="2" charset="-122"/>
              </a:rPr>
              <a:t>definition is the set of nonnegative integers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.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  <a:p>
            <a:pPr lvl="1">
              <a:buSzPct val="55000"/>
            </a:pPr>
            <a:r>
              <a:rPr lang="en-US" altLang="zh-CN" i="1" dirty="0">
                <a:sym typeface="+mn-ea"/>
              </a:rPr>
              <a:t> </a:t>
            </a:r>
            <a:r>
              <a:rPr lang="zh-CN" altLang="en-US" i="1" dirty="0">
                <a:sym typeface="+mn-ea"/>
              </a:rPr>
              <a:t>f</a:t>
            </a:r>
            <a:r>
              <a:rPr lang="en-US" altLang="zh-CN" dirty="0">
                <a:sym typeface="+mn-ea"/>
              </a:rPr>
              <a:t> is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undefined</a:t>
            </a:r>
            <a:r>
              <a:rPr lang="en-US" altLang="zh-CN" dirty="0">
                <a:sym typeface="+mn-ea"/>
              </a:rPr>
              <a:t> for negative integers.</a:t>
            </a:r>
            <a:endParaRPr lang="en-US" altLang="zh-CN" dirty="0"/>
          </a:p>
          <a:p>
            <a:pPr lvl="1">
              <a:buSzPct val="55000"/>
            </a:pP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6949123" y="1948498"/>
          <a:ext cx="57626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241300" imgH="228600" progId="Equation.DSMT4">
                  <p:embed/>
                </p:oleObj>
              </mc:Choice>
              <mc:Fallback>
                <p:oleObj name="" r:id="rId1" imgW="241300" imgH="2286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49123" y="1948498"/>
                        <a:ext cx="576262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Review of §2.3 (Functions)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6554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554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554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" name="内容占位符 1"/>
          <p:cNvSpPr/>
          <p:nvPr>
            <p:ph idx="1"/>
          </p:nvPr>
        </p:nvSpPr>
        <p:spPr>
          <a:xfrm>
            <a:off x="322580" y="1258570"/>
            <a:ext cx="8808085" cy="4801235"/>
          </a:xfrm>
        </p:spPr>
        <p:txBody>
          <a:bodyPr/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altLang="zh-CN" sz="2800" b="1" dirty="0">
                <a:sym typeface="+mn-ea"/>
              </a:rPr>
              <a:t>Function variables: </a:t>
            </a:r>
            <a:r>
              <a:rPr lang="en-US" altLang="zh-CN" sz="2800" i="1" dirty="0">
                <a:sym typeface="+mn-ea"/>
              </a:rPr>
              <a:t>f, g, h…</a:t>
            </a:r>
            <a:r>
              <a:rPr lang="zh-CN" altLang="en-US" sz="2800" i="1" dirty="0">
                <a:sym typeface="+mn-ea"/>
              </a:rPr>
              <a:t> </a:t>
            </a:r>
            <a:endParaRPr lang="en-US" altLang="zh-CN" sz="2800" i="1" dirty="0"/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altLang="zh-CN" sz="2800" b="1" dirty="0">
                <a:sym typeface="+mn-ea"/>
              </a:rPr>
              <a:t>Function Notation: </a:t>
            </a:r>
            <a:r>
              <a:rPr lang="en-US" altLang="zh-CN" sz="2800" i="1" dirty="0">
                <a:sym typeface="+mn-ea"/>
              </a:rPr>
              <a:t>f</a:t>
            </a:r>
            <a:r>
              <a:rPr lang="en-US" altLang="zh-CN" sz="2800" dirty="0">
                <a:sym typeface="+mn-ea"/>
              </a:rPr>
              <a:t>:</a:t>
            </a:r>
            <a:r>
              <a:rPr lang="en-US" altLang="zh-CN" sz="2800" i="1" dirty="0">
                <a:sym typeface="+mn-ea"/>
              </a:rPr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</a:t>
            </a:r>
            <a:r>
              <a:rPr lang="en-US" altLang="zh-CN" sz="2800" i="1" dirty="0">
                <a:sym typeface="Symbol" panose="05050102010706020507" pitchFamily="18" charset="2"/>
              </a:rPr>
              <a:t>B, f(a), f(A)</a:t>
            </a:r>
            <a:endParaRPr lang="en-US" altLang="zh-CN" sz="2800" i="1" dirty="0">
              <a:sym typeface="Symbol" panose="05050102010706020507" pitchFamily="18" charset="2"/>
            </a:endParaRP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altLang="zh-CN" sz="2800" b="1" dirty="0">
                <a:sym typeface="+mn-ea"/>
              </a:rPr>
              <a:t>Terms: </a:t>
            </a:r>
            <a:endParaRPr lang="en-US" altLang="zh-CN" sz="2800" b="1" dirty="0"/>
          </a:p>
          <a:p>
            <a:pPr lvl="1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i="1" dirty="0">
                <a:sym typeface="+mn-ea"/>
              </a:rPr>
              <a:t>domain, codomain, image, preimage, range,</a:t>
            </a:r>
            <a:endParaRPr lang="en-US" altLang="zh-CN" i="1" dirty="0">
              <a:sym typeface="+mn-ea"/>
            </a:endParaRPr>
          </a:p>
          <a:p>
            <a:pPr lvl="1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i="1" dirty="0">
                <a:sym typeface="+mn-ea"/>
              </a:rPr>
              <a:t> one-to-one (injection), onto (surjection), one-to-one correspondence (bijection),</a:t>
            </a:r>
            <a:endParaRPr lang="en-US" altLang="zh-CN" i="1" dirty="0">
              <a:sym typeface="+mn-ea"/>
            </a:endParaRPr>
          </a:p>
          <a:p>
            <a:pPr lvl="1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i="1" dirty="0">
                <a:sym typeface="+mn-ea"/>
              </a:rPr>
              <a:t> strictly (in/de)creasing, identity, inverse, composite </a:t>
            </a:r>
            <a:endParaRPr lang="en-US" altLang="zh-CN" i="1" dirty="0"/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altLang="zh-CN" sz="2800" b="1" dirty="0">
                <a:sym typeface="+mn-ea"/>
              </a:rPr>
              <a:t>Function operations: </a:t>
            </a:r>
            <a:r>
              <a:rPr lang="en-US" altLang="zh-CN" sz="2800" dirty="0">
                <a:sym typeface="+mn-ea"/>
              </a:rPr>
              <a:t>+, -,</a:t>
            </a:r>
            <a:r>
              <a:rPr lang="en-US" altLang="zh-CN" sz="2800" i="1" dirty="0">
                <a:sym typeface="+mn-ea"/>
              </a:rPr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</a:t>
            </a:r>
            <a:r>
              <a:rPr lang="en-US" altLang="zh-CN" sz="2800" i="1" dirty="0">
                <a:sym typeface="+mn-ea"/>
              </a:rPr>
              <a:t>, I</a:t>
            </a:r>
            <a:r>
              <a:rPr lang="en-US" altLang="zh-CN" sz="2800" i="1" baseline="-25000" dirty="0">
                <a:sym typeface="+mn-ea"/>
              </a:rPr>
              <a:t>A</a:t>
            </a:r>
            <a:r>
              <a:rPr lang="en-US" altLang="zh-CN" sz="2800" i="1" dirty="0">
                <a:sym typeface="+mn-ea"/>
              </a:rPr>
              <a:t>, f</a:t>
            </a:r>
            <a:r>
              <a:rPr lang="en-US" altLang="zh-CN" sz="2800" i="1" baseline="30000" dirty="0">
                <a:sym typeface="+mn-ea"/>
              </a:rPr>
              <a:t>-1</a:t>
            </a:r>
            <a:r>
              <a:rPr lang="en-US" altLang="zh-CN" sz="2800" i="1" dirty="0">
                <a:sym typeface="+mn-ea"/>
              </a:rPr>
              <a:t>, </a:t>
            </a:r>
            <a:r>
              <a:rPr lang="en-US" altLang="zh-CN" sz="2800" dirty="0">
                <a:latin typeface="Euclid" panose="02020503060505020303" pitchFamily="18" charset="0"/>
                <a:sym typeface="Euclid Extra" panose="02050502000505020303" pitchFamily="18" charset="2"/>
              </a:rPr>
              <a:t></a:t>
            </a:r>
            <a:endParaRPr lang="en-US" altLang="zh-CN" sz="2800" i="1" dirty="0"/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en-US" altLang="zh-CN" sz="2800" b="1" dirty="0">
                <a:sym typeface="+mn-ea"/>
              </a:rPr>
              <a:t>Special Functions: </a:t>
            </a:r>
            <a:endParaRPr lang="en-US" altLang="zh-CN" sz="2800" b="1" dirty="0"/>
          </a:p>
          <a:p>
            <a:pPr lvl="1">
              <a:spcBef>
                <a:spcPts val="300"/>
              </a:spcBef>
              <a:spcAft>
                <a:spcPts val="600"/>
              </a:spcAft>
            </a:pPr>
            <a:r>
              <a:rPr lang="en-US" altLang="zh-CN" i="1" dirty="0">
                <a:sym typeface="Symbol" panose="05050102010706020507" pitchFamily="18" charset="2"/>
              </a:rPr>
              <a:t>Floor and ceiling, Factorial function, Characteristic function, Mod-n function, Partial function…</a:t>
            </a:r>
            <a:endParaRPr lang="zh-CN" altLang="en-US" i="1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标题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66563" name="内容占位符 1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endParaRPr lang="zh-CN" altLang="en-US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656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656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656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grpSp>
        <p:nvGrpSpPr>
          <p:cNvPr id="66567" name="Group 4"/>
          <p:cNvGrpSpPr/>
          <p:nvPr/>
        </p:nvGrpSpPr>
        <p:grpSpPr>
          <a:xfrm>
            <a:off x="5410200" y="381000"/>
            <a:ext cx="3155950" cy="6232525"/>
            <a:chOff x="3408" y="240"/>
            <a:chExt cx="1988" cy="3926"/>
          </a:xfrm>
        </p:grpSpPr>
        <p:sp>
          <p:nvSpPr>
            <p:cNvPr id="66569" name="Text Box 5"/>
            <p:cNvSpPr txBox="1"/>
            <p:nvPr/>
          </p:nvSpPr>
          <p:spPr>
            <a:xfrm>
              <a:off x="4042" y="240"/>
              <a:ext cx="1354" cy="4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9276" tIns="49638" rIns="99276" bIns="49638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defTabSz="992505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600" b="1" dirty="0">
                  <a:solidFill>
                    <a:schemeClr val="hlink"/>
                  </a:solidFill>
                  <a:latin typeface="Arial Rounded MT Bold" panose="020F0704030504030204" pitchFamily="34" charset="0"/>
                  <a:ea typeface="宋体" pitchFamily="2" charset="-122"/>
                </a:rPr>
                <a:t> 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  <a:ea typeface="宋体" pitchFamily="2" charset="-122"/>
                </a:rPr>
                <a:t>(</a:t>
              </a:r>
              <a:r>
                <a:rPr lang="zh-CN" altLang="en-US" sz="4300" b="1" dirty="0">
                  <a:solidFill>
                    <a:schemeClr val="folHlink"/>
                  </a:solidFill>
                  <a:latin typeface="Arial Rounded MT Bold" panose="020F0704030504030204" pitchFamily="34" charset="0"/>
                  <a:ea typeface="宋体" pitchFamily="2" charset="-122"/>
                </a:rPr>
                <a:t>(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  <a:ea typeface="宋体" pitchFamily="2" charset="-122"/>
                </a:rPr>
                <a:t>(     )</a:t>
              </a:r>
              <a:r>
                <a:rPr lang="zh-CN" altLang="en-US" sz="4300" b="1" dirty="0">
                  <a:solidFill>
                    <a:schemeClr val="folHlink"/>
                  </a:solidFill>
                  <a:latin typeface="Arial Rounded MT Bold" panose="020F0704030504030204" pitchFamily="34" charset="0"/>
                  <a:ea typeface="宋体" pitchFamily="2" charset="-122"/>
                </a:rPr>
                <a:t>)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  <a:ea typeface="宋体" pitchFamily="2" charset="-122"/>
                </a:rPr>
                <a:t>)</a:t>
              </a:r>
              <a:endParaRPr lang="zh-CN" altLang="en-US" sz="2600" b="1" dirty="0">
                <a:solidFill>
                  <a:schemeClr val="hlink"/>
                </a:solidFill>
                <a:latin typeface="Arial Rounded MT Bold" panose="020F0704030504030204" pitchFamily="34" charset="0"/>
                <a:ea typeface="宋体" pitchFamily="2" charset="-122"/>
              </a:endParaRPr>
            </a:p>
          </p:txBody>
        </p:sp>
        <p:grpSp>
          <p:nvGrpSpPr>
            <p:cNvPr id="66570" name="Group 6"/>
            <p:cNvGrpSpPr/>
            <p:nvPr/>
          </p:nvGrpSpPr>
          <p:grpSpPr>
            <a:xfrm>
              <a:off x="3408" y="270"/>
              <a:ext cx="1573" cy="3896"/>
              <a:chOff x="3408" y="270"/>
              <a:chExt cx="1573" cy="3896"/>
            </a:xfrm>
          </p:grpSpPr>
          <p:sp>
            <p:nvSpPr>
              <p:cNvPr id="66571" name="Freeform 7"/>
              <p:cNvSpPr/>
              <p:nvPr/>
            </p:nvSpPr>
            <p:spPr>
              <a:xfrm>
                <a:off x="3948" y="2222"/>
                <a:ext cx="508" cy="941"/>
              </a:xfrm>
              <a:custGeom>
                <a:avLst/>
                <a:gdLst/>
                <a:ahLst/>
                <a:cxnLst>
                  <a:cxn ang="0">
                    <a:pos x="159" y="0"/>
                  </a:cxn>
                  <a:cxn ang="0">
                    <a:pos x="222" y="0"/>
                  </a:cxn>
                  <a:cxn ang="0">
                    <a:pos x="299" y="15"/>
                  </a:cxn>
                  <a:cxn ang="0">
                    <a:pos x="340" y="61"/>
                  </a:cxn>
                  <a:cxn ang="0">
                    <a:pos x="382" y="147"/>
                  </a:cxn>
                  <a:cxn ang="0">
                    <a:pos x="404" y="210"/>
                  </a:cxn>
                  <a:cxn ang="0">
                    <a:pos x="418" y="287"/>
                  </a:cxn>
                  <a:cxn ang="0">
                    <a:pos x="418" y="381"/>
                  </a:cxn>
                  <a:cxn ang="0">
                    <a:pos x="410" y="474"/>
                  </a:cxn>
                  <a:cxn ang="0">
                    <a:pos x="404" y="574"/>
                  </a:cxn>
                  <a:cxn ang="0">
                    <a:pos x="375" y="699"/>
                  </a:cxn>
                  <a:cxn ang="0">
                    <a:pos x="340" y="784"/>
                  </a:cxn>
                  <a:cxn ang="0">
                    <a:pos x="279" y="854"/>
                  </a:cxn>
                  <a:cxn ang="0">
                    <a:pos x="209" y="878"/>
                  </a:cxn>
                  <a:cxn ang="0">
                    <a:pos x="132" y="854"/>
                  </a:cxn>
                  <a:cxn ang="0">
                    <a:pos x="84" y="746"/>
                  </a:cxn>
                  <a:cxn ang="0">
                    <a:pos x="48" y="645"/>
                  </a:cxn>
                  <a:cxn ang="0">
                    <a:pos x="27" y="528"/>
                  </a:cxn>
                  <a:cxn ang="0">
                    <a:pos x="0" y="419"/>
                  </a:cxn>
                  <a:cxn ang="0">
                    <a:pos x="0" y="272"/>
                  </a:cxn>
                  <a:cxn ang="0">
                    <a:pos x="21" y="170"/>
                  </a:cxn>
                  <a:cxn ang="0">
                    <a:pos x="48" y="93"/>
                  </a:cxn>
                  <a:cxn ang="0">
                    <a:pos x="84" y="0"/>
                  </a:cxn>
                  <a:cxn ang="0">
                    <a:pos x="159" y="0"/>
                  </a:cxn>
                </a:cxnLst>
                <a:pathLst>
                  <a:path w="618" h="1008">
                    <a:moveTo>
                      <a:pt x="236" y="0"/>
                    </a:moveTo>
                    <a:lnTo>
                      <a:pt x="329" y="0"/>
                    </a:lnTo>
                    <a:lnTo>
                      <a:pt x="443" y="17"/>
                    </a:lnTo>
                    <a:lnTo>
                      <a:pt x="504" y="70"/>
                    </a:lnTo>
                    <a:lnTo>
                      <a:pt x="566" y="169"/>
                    </a:lnTo>
                    <a:lnTo>
                      <a:pt x="597" y="241"/>
                    </a:lnTo>
                    <a:lnTo>
                      <a:pt x="618" y="329"/>
                    </a:lnTo>
                    <a:lnTo>
                      <a:pt x="618" y="437"/>
                    </a:lnTo>
                    <a:lnTo>
                      <a:pt x="607" y="544"/>
                    </a:lnTo>
                    <a:lnTo>
                      <a:pt x="597" y="659"/>
                    </a:lnTo>
                    <a:lnTo>
                      <a:pt x="555" y="802"/>
                    </a:lnTo>
                    <a:lnTo>
                      <a:pt x="504" y="900"/>
                    </a:lnTo>
                    <a:lnTo>
                      <a:pt x="412" y="980"/>
                    </a:lnTo>
                    <a:lnTo>
                      <a:pt x="309" y="1008"/>
                    </a:lnTo>
                    <a:lnTo>
                      <a:pt x="195" y="980"/>
                    </a:lnTo>
                    <a:lnTo>
                      <a:pt x="124" y="856"/>
                    </a:lnTo>
                    <a:lnTo>
                      <a:pt x="71" y="740"/>
                    </a:lnTo>
                    <a:lnTo>
                      <a:pt x="40" y="606"/>
                    </a:lnTo>
                    <a:lnTo>
                      <a:pt x="0" y="481"/>
                    </a:lnTo>
                    <a:lnTo>
                      <a:pt x="0" y="312"/>
                    </a:lnTo>
                    <a:lnTo>
                      <a:pt x="31" y="195"/>
                    </a:lnTo>
                    <a:lnTo>
                      <a:pt x="71" y="107"/>
                    </a:lnTo>
                    <a:lnTo>
                      <a:pt x="124" y="0"/>
                    </a:lnTo>
                    <a:lnTo>
                      <a:pt x="236" y="0"/>
                    </a:lnTo>
                    <a:close/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66572" name="Group 8"/>
              <p:cNvGrpSpPr/>
              <p:nvPr/>
            </p:nvGrpSpPr>
            <p:grpSpPr>
              <a:xfrm>
                <a:off x="3408" y="270"/>
                <a:ext cx="1573" cy="3896"/>
                <a:chOff x="3314" y="144"/>
                <a:chExt cx="1913" cy="4175"/>
              </a:xfrm>
            </p:grpSpPr>
            <p:sp>
              <p:nvSpPr>
                <p:cNvPr id="66573" name="Freeform 9"/>
                <p:cNvSpPr/>
                <p:nvPr/>
              </p:nvSpPr>
              <p:spPr>
                <a:xfrm>
                  <a:off x="3930" y="1491"/>
                  <a:ext cx="571" cy="697"/>
                </a:xfrm>
                <a:custGeom>
                  <a:avLst/>
                  <a:gdLst/>
                  <a:ahLst/>
                  <a:cxnLst>
                    <a:cxn ang="0">
                      <a:pos x="331" y="0"/>
                    </a:cxn>
                    <a:cxn ang="0">
                      <a:pos x="405" y="9"/>
                    </a:cxn>
                    <a:cxn ang="0">
                      <a:pos x="479" y="45"/>
                    </a:cxn>
                    <a:cxn ang="0">
                      <a:pos x="525" y="99"/>
                    </a:cxn>
                    <a:cxn ang="0">
                      <a:pos x="562" y="178"/>
                    </a:cxn>
                    <a:cxn ang="0">
                      <a:pos x="571" y="314"/>
                    </a:cxn>
                    <a:cxn ang="0">
                      <a:pos x="544" y="448"/>
                    </a:cxn>
                    <a:cxn ang="0">
                      <a:pos x="497" y="545"/>
                    </a:cxn>
                    <a:cxn ang="0">
                      <a:pos x="433" y="626"/>
                    </a:cxn>
                    <a:cxn ang="0">
                      <a:pos x="368" y="679"/>
                    </a:cxn>
                    <a:cxn ang="0">
                      <a:pos x="294" y="697"/>
                    </a:cxn>
                    <a:cxn ang="0">
                      <a:pos x="220" y="688"/>
                    </a:cxn>
                    <a:cxn ang="0">
                      <a:pos x="183" y="644"/>
                    </a:cxn>
                    <a:cxn ang="0">
                      <a:pos x="128" y="572"/>
                    </a:cxn>
                    <a:cxn ang="0">
                      <a:pos x="109" y="438"/>
                    </a:cxn>
                    <a:cxn ang="0">
                      <a:pos x="114" y="393"/>
                    </a:cxn>
                    <a:cxn ang="0">
                      <a:pos x="0" y="371"/>
                    </a:cxn>
                    <a:cxn ang="0">
                      <a:pos x="3" y="327"/>
                    </a:cxn>
                    <a:cxn ang="0">
                      <a:pos x="114" y="331"/>
                    </a:cxn>
                    <a:cxn ang="0">
                      <a:pos x="123" y="281"/>
                    </a:cxn>
                    <a:cxn ang="0">
                      <a:pos x="151" y="210"/>
                    </a:cxn>
                    <a:cxn ang="0">
                      <a:pos x="183" y="143"/>
                    </a:cxn>
                    <a:cxn ang="0">
                      <a:pos x="239" y="54"/>
                    </a:cxn>
                    <a:cxn ang="0">
                      <a:pos x="294" y="19"/>
                    </a:cxn>
                    <a:cxn ang="0">
                      <a:pos x="331" y="0"/>
                    </a:cxn>
                  </a:cxnLst>
                  <a:pathLst>
                    <a:path w="571" h="697">
                      <a:moveTo>
                        <a:pt x="331" y="0"/>
                      </a:moveTo>
                      <a:lnTo>
                        <a:pt x="405" y="9"/>
                      </a:lnTo>
                      <a:lnTo>
                        <a:pt x="479" y="45"/>
                      </a:lnTo>
                      <a:lnTo>
                        <a:pt x="525" y="99"/>
                      </a:lnTo>
                      <a:lnTo>
                        <a:pt x="562" y="178"/>
                      </a:lnTo>
                      <a:lnTo>
                        <a:pt x="571" y="314"/>
                      </a:lnTo>
                      <a:lnTo>
                        <a:pt x="544" y="448"/>
                      </a:lnTo>
                      <a:lnTo>
                        <a:pt x="497" y="545"/>
                      </a:lnTo>
                      <a:lnTo>
                        <a:pt x="433" y="626"/>
                      </a:lnTo>
                      <a:lnTo>
                        <a:pt x="368" y="679"/>
                      </a:lnTo>
                      <a:lnTo>
                        <a:pt x="294" y="697"/>
                      </a:lnTo>
                      <a:lnTo>
                        <a:pt x="220" y="688"/>
                      </a:lnTo>
                      <a:lnTo>
                        <a:pt x="183" y="644"/>
                      </a:lnTo>
                      <a:lnTo>
                        <a:pt x="128" y="572"/>
                      </a:lnTo>
                      <a:lnTo>
                        <a:pt x="109" y="438"/>
                      </a:lnTo>
                      <a:lnTo>
                        <a:pt x="114" y="393"/>
                      </a:lnTo>
                      <a:lnTo>
                        <a:pt x="0" y="371"/>
                      </a:lnTo>
                      <a:lnTo>
                        <a:pt x="3" y="327"/>
                      </a:lnTo>
                      <a:lnTo>
                        <a:pt x="114" y="331"/>
                      </a:lnTo>
                      <a:lnTo>
                        <a:pt x="123" y="281"/>
                      </a:lnTo>
                      <a:lnTo>
                        <a:pt x="151" y="210"/>
                      </a:lnTo>
                      <a:lnTo>
                        <a:pt x="183" y="143"/>
                      </a:lnTo>
                      <a:lnTo>
                        <a:pt x="239" y="54"/>
                      </a:lnTo>
                      <a:lnTo>
                        <a:pt x="294" y="19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rgbClr val="3366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66574" name="Freeform 10"/>
                <p:cNvSpPr/>
                <p:nvPr/>
              </p:nvSpPr>
              <p:spPr>
                <a:xfrm>
                  <a:off x="4384" y="3101"/>
                  <a:ext cx="475" cy="1158"/>
                </a:xfrm>
                <a:custGeom>
                  <a:avLst/>
                  <a:gdLst/>
                  <a:ahLst/>
                  <a:cxnLst>
                    <a:cxn ang="0">
                      <a:pos x="88" y="134"/>
                    </a:cxn>
                    <a:cxn ang="0">
                      <a:pos x="26" y="57"/>
                    </a:cxn>
                    <a:cxn ang="0">
                      <a:pos x="46" y="0"/>
                    </a:cxn>
                    <a:cxn ang="0">
                      <a:pos x="108" y="0"/>
                    </a:cxn>
                    <a:cxn ang="0">
                      <a:pos x="181" y="62"/>
                    </a:cxn>
                    <a:cxn ang="0">
                      <a:pos x="273" y="191"/>
                    </a:cxn>
                    <a:cxn ang="0">
                      <a:pos x="325" y="314"/>
                    </a:cxn>
                    <a:cxn ang="0">
                      <a:pos x="372" y="433"/>
                    </a:cxn>
                    <a:cxn ang="0">
                      <a:pos x="387" y="542"/>
                    </a:cxn>
                    <a:cxn ang="0">
                      <a:pos x="382" y="599"/>
                    </a:cxn>
                    <a:cxn ang="0">
                      <a:pos x="336" y="669"/>
                    </a:cxn>
                    <a:cxn ang="0">
                      <a:pos x="258" y="859"/>
                    </a:cxn>
                    <a:cxn ang="0">
                      <a:pos x="170" y="968"/>
                    </a:cxn>
                    <a:cxn ang="0">
                      <a:pos x="150" y="1016"/>
                    </a:cxn>
                    <a:cxn ang="0">
                      <a:pos x="233" y="1025"/>
                    </a:cxn>
                    <a:cxn ang="0">
                      <a:pos x="341" y="1025"/>
                    </a:cxn>
                    <a:cxn ang="0">
                      <a:pos x="475" y="1068"/>
                    </a:cxn>
                    <a:cxn ang="0">
                      <a:pos x="464" y="1102"/>
                    </a:cxn>
                    <a:cxn ang="0">
                      <a:pos x="444" y="1140"/>
                    </a:cxn>
                    <a:cxn ang="0">
                      <a:pos x="402" y="1158"/>
                    </a:cxn>
                    <a:cxn ang="0">
                      <a:pos x="321" y="1131"/>
                    </a:cxn>
                    <a:cxn ang="0">
                      <a:pos x="233" y="1088"/>
                    </a:cxn>
                    <a:cxn ang="0">
                      <a:pos x="108" y="1083"/>
                    </a:cxn>
                    <a:cxn ang="0">
                      <a:pos x="31" y="1097"/>
                    </a:cxn>
                    <a:cxn ang="0">
                      <a:pos x="0" y="1073"/>
                    </a:cxn>
                    <a:cxn ang="0">
                      <a:pos x="0" y="1040"/>
                    </a:cxn>
                    <a:cxn ang="0">
                      <a:pos x="42" y="1002"/>
                    </a:cxn>
                    <a:cxn ang="0">
                      <a:pos x="108" y="941"/>
                    </a:cxn>
                    <a:cxn ang="0">
                      <a:pos x="227" y="784"/>
                    </a:cxn>
                    <a:cxn ang="0">
                      <a:pos x="279" y="646"/>
                    </a:cxn>
                    <a:cxn ang="0">
                      <a:pos x="295" y="513"/>
                    </a:cxn>
                    <a:cxn ang="0">
                      <a:pos x="288" y="442"/>
                    </a:cxn>
                    <a:cxn ang="0">
                      <a:pos x="248" y="314"/>
                    </a:cxn>
                    <a:cxn ang="0">
                      <a:pos x="139" y="176"/>
                    </a:cxn>
                    <a:cxn ang="0">
                      <a:pos x="62" y="105"/>
                    </a:cxn>
                    <a:cxn ang="0">
                      <a:pos x="88" y="134"/>
                    </a:cxn>
                  </a:cxnLst>
                  <a:pathLst>
                    <a:path w="475" h="1158">
                      <a:moveTo>
                        <a:pt x="88" y="134"/>
                      </a:moveTo>
                      <a:lnTo>
                        <a:pt x="26" y="57"/>
                      </a:lnTo>
                      <a:lnTo>
                        <a:pt x="46" y="0"/>
                      </a:lnTo>
                      <a:lnTo>
                        <a:pt x="108" y="0"/>
                      </a:lnTo>
                      <a:lnTo>
                        <a:pt x="181" y="62"/>
                      </a:lnTo>
                      <a:lnTo>
                        <a:pt x="273" y="191"/>
                      </a:lnTo>
                      <a:lnTo>
                        <a:pt x="325" y="314"/>
                      </a:lnTo>
                      <a:lnTo>
                        <a:pt x="372" y="433"/>
                      </a:lnTo>
                      <a:lnTo>
                        <a:pt x="387" y="542"/>
                      </a:lnTo>
                      <a:lnTo>
                        <a:pt x="382" y="599"/>
                      </a:lnTo>
                      <a:lnTo>
                        <a:pt x="336" y="669"/>
                      </a:lnTo>
                      <a:lnTo>
                        <a:pt x="258" y="859"/>
                      </a:lnTo>
                      <a:lnTo>
                        <a:pt x="170" y="968"/>
                      </a:lnTo>
                      <a:lnTo>
                        <a:pt x="150" y="1016"/>
                      </a:lnTo>
                      <a:lnTo>
                        <a:pt x="233" y="1025"/>
                      </a:lnTo>
                      <a:lnTo>
                        <a:pt x="341" y="1025"/>
                      </a:lnTo>
                      <a:lnTo>
                        <a:pt x="475" y="1068"/>
                      </a:lnTo>
                      <a:lnTo>
                        <a:pt x="464" y="1102"/>
                      </a:lnTo>
                      <a:lnTo>
                        <a:pt x="444" y="1140"/>
                      </a:lnTo>
                      <a:lnTo>
                        <a:pt x="402" y="1158"/>
                      </a:lnTo>
                      <a:lnTo>
                        <a:pt x="321" y="1131"/>
                      </a:lnTo>
                      <a:lnTo>
                        <a:pt x="233" y="1088"/>
                      </a:lnTo>
                      <a:lnTo>
                        <a:pt x="108" y="1083"/>
                      </a:lnTo>
                      <a:lnTo>
                        <a:pt x="31" y="1097"/>
                      </a:lnTo>
                      <a:lnTo>
                        <a:pt x="0" y="1073"/>
                      </a:lnTo>
                      <a:lnTo>
                        <a:pt x="0" y="1040"/>
                      </a:lnTo>
                      <a:lnTo>
                        <a:pt x="42" y="1002"/>
                      </a:lnTo>
                      <a:lnTo>
                        <a:pt x="108" y="941"/>
                      </a:lnTo>
                      <a:lnTo>
                        <a:pt x="227" y="784"/>
                      </a:lnTo>
                      <a:lnTo>
                        <a:pt x="279" y="646"/>
                      </a:lnTo>
                      <a:lnTo>
                        <a:pt x="295" y="513"/>
                      </a:lnTo>
                      <a:lnTo>
                        <a:pt x="288" y="442"/>
                      </a:lnTo>
                      <a:lnTo>
                        <a:pt x="248" y="314"/>
                      </a:lnTo>
                      <a:lnTo>
                        <a:pt x="139" y="176"/>
                      </a:lnTo>
                      <a:lnTo>
                        <a:pt x="62" y="105"/>
                      </a:lnTo>
                      <a:lnTo>
                        <a:pt x="88" y="134"/>
                      </a:lnTo>
                      <a:close/>
                    </a:path>
                  </a:pathLst>
                </a:custGeom>
                <a:solidFill>
                  <a:srgbClr val="3366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66575" name="Freeform 11"/>
                <p:cNvSpPr/>
                <p:nvPr/>
              </p:nvSpPr>
              <p:spPr>
                <a:xfrm>
                  <a:off x="3754" y="3084"/>
                  <a:ext cx="475" cy="1235"/>
                </a:xfrm>
                <a:custGeom>
                  <a:avLst/>
                  <a:gdLst/>
                  <a:ahLst/>
                  <a:cxnLst>
                    <a:cxn ang="0">
                      <a:pos x="247" y="222"/>
                    </a:cxn>
                    <a:cxn ang="0">
                      <a:pos x="319" y="97"/>
                    </a:cxn>
                    <a:cxn ang="0">
                      <a:pos x="388" y="0"/>
                    </a:cxn>
                    <a:cxn ang="0">
                      <a:pos x="439" y="0"/>
                    </a:cxn>
                    <a:cxn ang="0">
                      <a:pos x="470" y="40"/>
                    </a:cxn>
                    <a:cxn ang="0">
                      <a:pos x="475" y="106"/>
                    </a:cxn>
                    <a:cxn ang="0">
                      <a:pos x="432" y="156"/>
                    </a:cxn>
                    <a:cxn ang="0">
                      <a:pos x="358" y="217"/>
                    </a:cxn>
                    <a:cxn ang="0">
                      <a:pos x="298" y="288"/>
                    </a:cxn>
                    <a:cxn ang="0">
                      <a:pos x="237" y="386"/>
                    </a:cxn>
                    <a:cxn ang="0">
                      <a:pos x="211" y="453"/>
                    </a:cxn>
                    <a:cxn ang="0">
                      <a:pos x="187" y="537"/>
                    </a:cxn>
                    <a:cxn ang="0">
                      <a:pos x="182" y="645"/>
                    </a:cxn>
                    <a:cxn ang="0">
                      <a:pos x="190" y="742"/>
                    </a:cxn>
                    <a:cxn ang="0">
                      <a:pos x="220" y="862"/>
                    </a:cxn>
                    <a:cxn ang="0">
                      <a:pos x="276" y="968"/>
                    </a:cxn>
                    <a:cxn ang="0">
                      <a:pos x="324" y="1031"/>
                    </a:cxn>
                    <a:cxn ang="0">
                      <a:pos x="353" y="1075"/>
                    </a:cxn>
                    <a:cxn ang="0">
                      <a:pos x="358" y="1110"/>
                    </a:cxn>
                    <a:cxn ang="0">
                      <a:pos x="331" y="1124"/>
                    </a:cxn>
                    <a:cxn ang="0">
                      <a:pos x="271" y="1132"/>
                    </a:cxn>
                    <a:cxn ang="0">
                      <a:pos x="182" y="1159"/>
                    </a:cxn>
                    <a:cxn ang="0">
                      <a:pos x="113" y="1194"/>
                    </a:cxn>
                    <a:cxn ang="0">
                      <a:pos x="69" y="1235"/>
                    </a:cxn>
                    <a:cxn ang="0">
                      <a:pos x="31" y="1226"/>
                    </a:cxn>
                    <a:cxn ang="0">
                      <a:pos x="0" y="1178"/>
                    </a:cxn>
                    <a:cxn ang="0">
                      <a:pos x="0" y="1137"/>
                    </a:cxn>
                    <a:cxn ang="0">
                      <a:pos x="69" y="1101"/>
                    </a:cxn>
                    <a:cxn ang="0">
                      <a:pos x="187" y="1079"/>
                    </a:cxn>
                    <a:cxn ang="0">
                      <a:pos x="293" y="1066"/>
                    </a:cxn>
                    <a:cxn ang="0">
                      <a:pos x="247" y="1018"/>
                    </a:cxn>
                    <a:cxn ang="0">
                      <a:pos x="216" y="955"/>
                    </a:cxn>
                    <a:cxn ang="0">
                      <a:pos x="177" y="866"/>
                    </a:cxn>
                    <a:cxn ang="0">
                      <a:pos x="134" y="773"/>
                    </a:cxn>
                    <a:cxn ang="0">
                      <a:pos x="122" y="658"/>
                    </a:cxn>
                    <a:cxn ang="0">
                      <a:pos x="117" y="546"/>
                    </a:cxn>
                    <a:cxn ang="0">
                      <a:pos x="147" y="439"/>
                    </a:cxn>
                    <a:cxn ang="0">
                      <a:pos x="204" y="297"/>
                    </a:cxn>
                    <a:cxn ang="0">
                      <a:pos x="247" y="222"/>
                    </a:cxn>
                  </a:cxnLst>
                  <a:pathLst>
                    <a:path w="475" h="1235">
                      <a:moveTo>
                        <a:pt x="247" y="222"/>
                      </a:moveTo>
                      <a:lnTo>
                        <a:pt x="319" y="97"/>
                      </a:lnTo>
                      <a:lnTo>
                        <a:pt x="388" y="0"/>
                      </a:lnTo>
                      <a:lnTo>
                        <a:pt x="439" y="0"/>
                      </a:lnTo>
                      <a:lnTo>
                        <a:pt x="470" y="40"/>
                      </a:lnTo>
                      <a:lnTo>
                        <a:pt x="475" y="106"/>
                      </a:lnTo>
                      <a:lnTo>
                        <a:pt x="432" y="156"/>
                      </a:lnTo>
                      <a:lnTo>
                        <a:pt x="358" y="217"/>
                      </a:lnTo>
                      <a:lnTo>
                        <a:pt x="298" y="288"/>
                      </a:lnTo>
                      <a:lnTo>
                        <a:pt x="237" y="386"/>
                      </a:lnTo>
                      <a:lnTo>
                        <a:pt x="211" y="453"/>
                      </a:lnTo>
                      <a:lnTo>
                        <a:pt x="187" y="537"/>
                      </a:lnTo>
                      <a:lnTo>
                        <a:pt x="182" y="645"/>
                      </a:lnTo>
                      <a:lnTo>
                        <a:pt x="190" y="742"/>
                      </a:lnTo>
                      <a:lnTo>
                        <a:pt x="220" y="862"/>
                      </a:lnTo>
                      <a:lnTo>
                        <a:pt x="276" y="968"/>
                      </a:lnTo>
                      <a:lnTo>
                        <a:pt x="324" y="1031"/>
                      </a:lnTo>
                      <a:lnTo>
                        <a:pt x="353" y="1075"/>
                      </a:lnTo>
                      <a:lnTo>
                        <a:pt x="358" y="1110"/>
                      </a:lnTo>
                      <a:lnTo>
                        <a:pt x="331" y="1124"/>
                      </a:lnTo>
                      <a:lnTo>
                        <a:pt x="271" y="1132"/>
                      </a:lnTo>
                      <a:lnTo>
                        <a:pt x="182" y="1159"/>
                      </a:lnTo>
                      <a:lnTo>
                        <a:pt x="113" y="1194"/>
                      </a:lnTo>
                      <a:lnTo>
                        <a:pt x="69" y="1235"/>
                      </a:lnTo>
                      <a:lnTo>
                        <a:pt x="31" y="1226"/>
                      </a:lnTo>
                      <a:lnTo>
                        <a:pt x="0" y="1178"/>
                      </a:lnTo>
                      <a:lnTo>
                        <a:pt x="0" y="1137"/>
                      </a:lnTo>
                      <a:lnTo>
                        <a:pt x="69" y="1101"/>
                      </a:lnTo>
                      <a:lnTo>
                        <a:pt x="187" y="1079"/>
                      </a:lnTo>
                      <a:lnTo>
                        <a:pt x="293" y="1066"/>
                      </a:lnTo>
                      <a:lnTo>
                        <a:pt x="247" y="1018"/>
                      </a:lnTo>
                      <a:lnTo>
                        <a:pt x="216" y="955"/>
                      </a:lnTo>
                      <a:lnTo>
                        <a:pt x="177" y="866"/>
                      </a:lnTo>
                      <a:lnTo>
                        <a:pt x="134" y="773"/>
                      </a:lnTo>
                      <a:lnTo>
                        <a:pt x="122" y="658"/>
                      </a:lnTo>
                      <a:lnTo>
                        <a:pt x="117" y="546"/>
                      </a:lnTo>
                      <a:lnTo>
                        <a:pt x="147" y="439"/>
                      </a:lnTo>
                      <a:lnTo>
                        <a:pt x="204" y="297"/>
                      </a:lnTo>
                      <a:lnTo>
                        <a:pt x="247" y="222"/>
                      </a:lnTo>
                      <a:close/>
                    </a:path>
                  </a:pathLst>
                </a:custGeom>
                <a:solidFill>
                  <a:srgbClr val="3366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66576" name="Freeform 12"/>
                <p:cNvSpPr/>
                <p:nvPr/>
              </p:nvSpPr>
              <p:spPr>
                <a:xfrm>
                  <a:off x="4463" y="144"/>
                  <a:ext cx="764" cy="2360"/>
                </a:xfrm>
                <a:custGeom>
                  <a:avLst/>
                  <a:gdLst/>
                  <a:ahLst/>
                  <a:cxnLst>
                    <a:cxn ang="0">
                      <a:pos x="15" y="3813"/>
                    </a:cxn>
                    <a:cxn ang="0">
                      <a:pos x="0" y="3646"/>
                    </a:cxn>
                    <a:cxn ang="0">
                      <a:pos x="24" y="3518"/>
                    </a:cxn>
                    <a:cxn ang="0">
                      <a:pos x="88" y="3390"/>
                    </a:cxn>
                    <a:cxn ang="0">
                      <a:pos x="208" y="3149"/>
                    </a:cxn>
                    <a:cxn ang="0">
                      <a:pos x="353" y="2780"/>
                    </a:cxn>
                    <a:cxn ang="0">
                      <a:pos x="431" y="2446"/>
                    </a:cxn>
                    <a:cxn ang="0">
                      <a:pos x="467" y="2266"/>
                    </a:cxn>
                    <a:cxn ang="0">
                      <a:pos x="504" y="1777"/>
                    </a:cxn>
                    <a:cxn ang="0">
                      <a:pos x="497" y="1099"/>
                    </a:cxn>
                    <a:cxn ang="0">
                      <a:pos x="482" y="767"/>
                    </a:cxn>
                    <a:cxn ang="0">
                      <a:pos x="473" y="639"/>
                    </a:cxn>
                    <a:cxn ang="0">
                      <a:pos x="326" y="460"/>
                    </a:cxn>
                    <a:cxn ang="0">
                      <a:pos x="322" y="394"/>
                    </a:cxn>
                    <a:cxn ang="0">
                      <a:pos x="337" y="357"/>
                    </a:cxn>
                    <a:cxn ang="0">
                      <a:pos x="473" y="460"/>
                    </a:cxn>
                    <a:cxn ang="0">
                      <a:pos x="504" y="435"/>
                    </a:cxn>
                    <a:cxn ang="0">
                      <a:pos x="420" y="51"/>
                    </a:cxn>
                    <a:cxn ang="0">
                      <a:pos x="431" y="0"/>
                    </a:cxn>
                    <a:cxn ang="0">
                      <a:pos x="462" y="13"/>
                    </a:cxn>
                    <a:cxn ang="0">
                      <a:pos x="539" y="347"/>
                    </a:cxn>
                    <a:cxn ang="0">
                      <a:pos x="561" y="357"/>
                    </a:cxn>
                    <a:cxn ang="0">
                      <a:pos x="602" y="13"/>
                    </a:cxn>
                    <a:cxn ang="0">
                      <a:pos x="628" y="0"/>
                    </a:cxn>
                    <a:cxn ang="0">
                      <a:pos x="639" y="62"/>
                    </a:cxn>
                    <a:cxn ang="0">
                      <a:pos x="607" y="435"/>
                    </a:cxn>
                    <a:cxn ang="0">
                      <a:pos x="618" y="489"/>
                    </a:cxn>
                    <a:cxn ang="0">
                      <a:pos x="742" y="435"/>
                    </a:cxn>
                    <a:cxn ang="0">
                      <a:pos x="764" y="460"/>
                    </a:cxn>
                    <a:cxn ang="0">
                      <a:pos x="758" y="526"/>
                    </a:cxn>
                    <a:cxn ang="0">
                      <a:pos x="591" y="629"/>
                    </a:cxn>
                    <a:cxn ang="0">
                      <a:pos x="576" y="679"/>
                    </a:cxn>
                    <a:cxn ang="0">
                      <a:pos x="561" y="909"/>
                    </a:cxn>
                    <a:cxn ang="0">
                      <a:pos x="561" y="1242"/>
                    </a:cxn>
                    <a:cxn ang="0">
                      <a:pos x="565" y="1728"/>
                    </a:cxn>
                    <a:cxn ang="0">
                      <a:pos x="561" y="2176"/>
                    </a:cxn>
                    <a:cxn ang="0">
                      <a:pos x="550" y="2379"/>
                    </a:cxn>
                    <a:cxn ang="0">
                      <a:pos x="467" y="2699"/>
                    </a:cxn>
                    <a:cxn ang="0">
                      <a:pos x="374" y="3033"/>
                    </a:cxn>
                    <a:cxn ang="0">
                      <a:pos x="274" y="3390"/>
                    </a:cxn>
                    <a:cxn ang="0">
                      <a:pos x="191" y="3734"/>
                    </a:cxn>
                    <a:cxn ang="0">
                      <a:pos x="134" y="3928"/>
                    </a:cxn>
                    <a:cxn ang="0">
                      <a:pos x="51" y="3978"/>
                    </a:cxn>
                    <a:cxn ang="0">
                      <a:pos x="15" y="3813"/>
                    </a:cxn>
                  </a:cxnLst>
                  <a:pathLst>
                    <a:path w="764" h="1400">
                      <a:moveTo>
                        <a:pt x="15" y="1342"/>
                      </a:moveTo>
                      <a:lnTo>
                        <a:pt x="0" y="1283"/>
                      </a:lnTo>
                      <a:lnTo>
                        <a:pt x="24" y="1238"/>
                      </a:lnTo>
                      <a:lnTo>
                        <a:pt x="88" y="1193"/>
                      </a:lnTo>
                      <a:lnTo>
                        <a:pt x="208" y="1108"/>
                      </a:lnTo>
                      <a:lnTo>
                        <a:pt x="353" y="978"/>
                      </a:lnTo>
                      <a:lnTo>
                        <a:pt x="431" y="861"/>
                      </a:lnTo>
                      <a:lnTo>
                        <a:pt x="467" y="797"/>
                      </a:lnTo>
                      <a:lnTo>
                        <a:pt x="504" y="625"/>
                      </a:lnTo>
                      <a:lnTo>
                        <a:pt x="497" y="387"/>
                      </a:lnTo>
                      <a:lnTo>
                        <a:pt x="482" y="270"/>
                      </a:lnTo>
                      <a:lnTo>
                        <a:pt x="473" y="225"/>
                      </a:lnTo>
                      <a:lnTo>
                        <a:pt x="326" y="162"/>
                      </a:lnTo>
                      <a:lnTo>
                        <a:pt x="322" y="139"/>
                      </a:lnTo>
                      <a:lnTo>
                        <a:pt x="337" y="126"/>
                      </a:lnTo>
                      <a:lnTo>
                        <a:pt x="473" y="162"/>
                      </a:lnTo>
                      <a:lnTo>
                        <a:pt x="504" y="153"/>
                      </a:lnTo>
                      <a:lnTo>
                        <a:pt x="420" y="18"/>
                      </a:lnTo>
                      <a:lnTo>
                        <a:pt x="431" y="0"/>
                      </a:lnTo>
                      <a:lnTo>
                        <a:pt x="462" y="5"/>
                      </a:lnTo>
                      <a:lnTo>
                        <a:pt x="539" y="122"/>
                      </a:lnTo>
                      <a:lnTo>
                        <a:pt x="561" y="126"/>
                      </a:lnTo>
                      <a:lnTo>
                        <a:pt x="602" y="5"/>
                      </a:lnTo>
                      <a:lnTo>
                        <a:pt x="628" y="0"/>
                      </a:lnTo>
                      <a:lnTo>
                        <a:pt x="639" y="22"/>
                      </a:lnTo>
                      <a:lnTo>
                        <a:pt x="607" y="153"/>
                      </a:lnTo>
                      <a:lnTo>
                        <a:pt x="618" y="172"/>
                      </a:lnTo>
                      <a:lnTo>
                        <a:pt x="742" y="153"/>
                      </a:lnTo>
                      <a:lnTo>
                        <a:pt x="764" y="162"/>
                      </a:lnTo>
                      <a:lnTo>
                        <a:pt x="758" y="185"/>
                      </a:lnTo>
                      <a:lnTo>
                        <a:pt x="591" y="221"/>
                      </a:lnTo>
                      <a:lnTo>
                        <a:pt x="576" y="239"/>
                      </a:lnTo>
                      <a:lnTo>
                        <a:pt x="561" y="320"/>
                      </a:lnTo>
                      <a:lnTo>
                        <a:pt x="561" y="437"/>
                      </a:lnTo>
                      <a:lnTo>
                        <a:pt x="565" y="608"/>
                      </a:lnTo>
                      <a:lnTo>
                        <a:pt x="561" y="766"/>
                      </a:lnTo>
                      <a:lnTo>
                        <a:pt x="550" y="837"/>
                      </a:lnTo>
                      <a:lnTo>
                        <a:pt x="467" y="950"/>
                      </a:lnTo>
                      <a:lnTo>
                        <a:pt x="374" y="1067"/>
                      </a:lnTo>
                      <a:lnTo>
                        <a:pt x="274" y="1193"/>
                      </a:lnTo>
                      <a:lnTo>
                        <a:pt x="191" y="1314"/>
                      </a:lnTo>
                      <a:lnTo>
                        <a:pt x="134" y="1382"/>
                      </a:lnTo>
                      <a:lnTo>
                        <a:pt x="51" y="1400"/>
                      </a:lnTo>
                      <a:lnTo>
                        <a:pt x="15" y="1342"/>
                      </a:lnTo>
                      <a:close/>
                    </a:path>
                  </a:pathLst>
                </a:custGeom>
                <a:solidFill>
                  <a:srgbClr val="3366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66577" name="Freeform 13"/>
                <p:cNvSpPr/>
                <p:nvPr/>
              </p:nvSpPr>
              <p:spPr>
                <a:xfrm>
                  <a:off x="3314" y="2262"/>
                  <a:ext cx="795" cy="1147"/>
                </a:xfrm>
                <a:custGeom>
                  <a:avLst/>
                  <a:gdLst/>
                  <a:ahLst/>
                  <a:cxnLst>
                    <a:cxn ang="0">
                      <a:pos x="576" y="112"/>
                    </a:cxn>
                    <a:cxn ang="0">
                      <a:pos x="659" y="30"/>
                    </a:cxn>
                    <a:cxn ang="0">
                      <a:pos x="711" y="0"/>
                    </a:cxn>
                    <a:cxn ang="0">
                      <a:pos x="753" y="5"/>
                    </a:cxn>
                    <a:cxn ang="0">
                      <a:pos x="795" y="30"/>
                    </a:cxn>
                    <a:cxn ang="0">
                      <a:pos x="795" y="81"/>
                    </a:cxn>
                    <a:cxn ang="0">
                      <a:pos x="784" y="152"/>
                    </a:cxn>
                    <a:cxn ang="0">
                      <a:pos x="753" y="203"/>
                    </a:cxn>
                    <a:cxn ang="0">
                      <a:pos x="716" y="224"/>
                    </a:cxn>
                    <a:cxn ang="0">
                      <a:pos x="637" y="255"/>
                    </a:cxn>
                    <a:cxn ang="0">
                      <a:pos x="539" y="327"/>
                    </a:cxn>
                    <a:cxn ang="0">
                      <a:pos x="436" y="438"/>
                    </a:cxn>
                    <a:cxn ang="0">
                      <a:pos x="394" y="529"/>
                    </a:cxn>
                    <a:cxn ang="0">
                      <a:pos x="337" y="637"/>
                    </a:cxn>
                    <a:cxn ang="0">
                      <a:pos x="306" y="718"/>
                    </a:cxn>
                    <a:cxn ang="0">
                      <a:pos x="265" y="820"/>
                    </a:cxn>
                    <a:cxn ang="0">
                      <a:pos x="248" y="897"/>
                    </a:cxn>
                    <a:cxn ang="0">
                      <a:pos x="265" y="973"/>
                    </a:cxn>
                    <a:cxn ang="0">
                      <a:pos x="300" y="1034"/>
                    </a:cxn>
                    <a:cxn ang="0">
                      <a:pos x="315" y="1054"/>
                    </a:cxn>
                    <a:cxn ang="0">
                      <a:pos x="306" y="1075"/>
                    </a:cxn>
                    <a:cxn ang="0">
                      <a:pos x="289" y="1080"/>
                    </a:cxn>
                    <a:cxn ang="0">
                      <a:pos x="228" y="978"/>
                    </a:cxn>
                    <a:cxn ang="0">
                      <a:pos x="212" y="988"/>
                    </a:cxn>
                    <a:cxn ang="0">
                      <a:pos x="228" y="1116"/>
                    </a:cxn>
                    <a:cxn ang="0">
                      <a:pos x="206" y="1126"/>
                    </a:cxn>
                    <a:cxn ang="0">
                      <a:pos x="191" y="1110"/>
                    </a:cxn>
                    <a:cxn ang="0">
                      <a:pos x="181" y="988"/>
                    </a:cxn>
                    <a:cxn ang="0">
                      <a:pos x="160" y="988"/>
                    </a:cxn>
                    <a:cxn ang="0">
                      <a:pos x="160" y="1110"/>
                    </a:cxn>
                    <a:cxn ang="0">
                      <a:pos x="144" y="1147"/>
                    </a:cxn>
                    <a:cxn ang="0">
                      <a:pos x="118" y="1126"/>
                    </a:cxn>
                    <a:cxn ang="0">
                      <a:pos x="140" y="937"/>
                    </a:cxn>
                    <a:cxn ang="0">
                      <a:pos x="129" y="922"/>
                    </a:cxn>
                    <a:cxn ang="0">
                      <a:pos x="72" y="932"/>
                    </a:cxn>
                    <a:cxn ang="0">
                      <a:pos x="9" y="922"/>
                    </a:cxn>
                    <a:cxn ang="0">
                      <a:pos x="0" y="892"/>
                    </a:cxn>
                    <a:cxn ang="0">
                      <a:pos x="46" y="897"/>
                    </a:cxn>
                    <a:cxn ang="0">
                      <a:pos x="107" y="892"/>
                    </a:cxn>
                    <a:cxn ang="0">
                      <a:pos x="171" y="850"/>
                    </a:cxn>
                    <a:cxn ang="0">
                      <a:pos x="265" y="667"/>
                    </a:cxn>
                    <a:cxn ang="0">
                      <a:pos x="322" y="519"/>
                    </a:cxn>
                    <a:cxn ang="0">
                      <a:pos x="372" y="412"/>
                    </a:cxn>
                    <a:cxn ang="0">
                      <a:pos x="436" y="316"/>
                    </a:cxn>
                    <a:cxn ang="0">
                      <a:pos x="503" y="213"/>
                    </a:cxn>
                    <a:cxn ang="0">
                      <a:pos x="545" y="147"/>
                    </a:cxn>
                    <a:cxn ang="0">
                      <a:pos x="576" y="112"/>
                    </a:cxn>
                  </a:cxnLst>
                  <a:pathLst>
                    <a:path w="795" h="1147">
                      <a:moveTo>
                        <a:pt x="576" y="112"/>
                      </a:moveTo>
                      <a:lnTo>
                        <a:pt x="659" y="30"/>
                      </a:lnTo>
                      <a:lnTo>
                        <a:pt x="711" y="0"/>
                      </a:lnTo>
                      <a:lnTo>
                        <a:pt x="753" y="5"/>
                      </a:lnTo>
                      <a:lnTo>
                        <a:pt x="795" y="30"/>
                      </a:lnTo>
                      <a:lnTo>
                        <a:pt x="795" y="81"/>
                      </a:lnTo>
                      <a:lnTo>
                        <a:pt x="784" y="152"/>
                      </a:lnTo>
                      <a:lnTo>
                        <a:pt x="753" y="203"/>
                      </a:lnTo>
                      <a:lnTo>
                        <a:pt x="716" y="224"/>
                      </a:lnTo>
                      <a:lnTo>
                        <a:pt x="637" y="255"/>
                      </a:lnTo>
                      <a:lnTo>
                        <a:pt x="539" y="327"/>
                      </a:lnTo>
                      <a:lnTo>
                        <a:pt x="436" y="438"/>
                      </a:lnTo>
                      <a:lnTo>
                        <a:pt x="394" y="529"/>
                      </a:lnTo>
                      <a:lnTo>
                        <a:pt x="337" y="637"/>
                      </a:lnTo>
                      <a:lnTo>
                        <a:pt x="306" y="718"/>
                      </a:lnTo>
                      <a:lnTo>
                        <a:pt x="265" y="820"/>
                      </a:lnTo>
                      <a:lnTo>
                        <a:pt x="248" y="897"/>
                      </a:lnTo>
                      <a:lnTo>
                        <a:pt x="265" y="973"/>
                      </a:lnTo>
                      <a:lnTo>
                        <a:pt x="300" y="1034"/>
                      </a:lnTo>
                      <a:lnTo>
                        <a:pt x="315" y="1054"/>
                      </a:lnTo>
                      <a:lnTo>
                        <a:pt x="306" y="1075"/>
                      </a:lnTo>
                      <a:lnTo>
                        <a:pt x="289" y="1080"/>
                      </a:lnTo>
                      <a:lnTo>
                        <a:pt x="228" y="978"/>
                      </a:lnTo>
                      <a:lnTo>
                        <a:pt x="212" y="988"/>
                      </a:lnTo>
                      <a:lnTo>
                        <a:pt x="228" y="1116"/>
                      </a:lnTo>
                      <a:lnTo>
                        <a:pt x="206" y="1126"/>
                      </a:lnTo>
                      <a:lnTo>
                        <a:pt x="191" y="1110"/>
                      </a:lnTo>
                      <a:lnTo>
                        <a:pt x="181" y="988"/>
                      </a:lnTo>
                      <a:lnTo>
                        <a:pt x="160" y="988"/>
                      </a:lnTo>
                      <a:lnTo>
                        <a:pt x="160" y="1110"/>
                      </a:lnTo>
                      <a:lnTo>
                        <a:pt x="144" y="1147"/>
                      </a:lnTo>
                      <a:lnTo>
                        <a:pt x="118" y="1126"/>
                      </a:lnTo>
                      <a:lnTo>
                        <a:pt x="140" y="937"/>
                      </a:lnTo>
                      <a:lnTo>
                        <a:pt x="129" y="922"/>
                      </a:lnTo>
                      <a:lnTo>
                        <a:pt x="72" y="932"/>
                      </a:lnTo>
                      <a:lnTo>
                        <a:pt x="9" y="922"/>
                      </a:lnTo>
                      <a:lnTo>
                        <a:pt x="0" y="892"/>
                      </a:lnTo>
                      <a:lnTo>
                        <a:pt x="46" y="897"/>
                      </a:lnTo>
                      <a:lnTo>
                        <a:pt x="107" y="892"/>
                      </a:lnTo>
                      <a:lnTo>
                        <a:pt x="171" y="850"/>
                      </a:lnTo>
                      <a:lnTo>
                        <a:pt x="265" y="667"/>
                      </a:lnTo>
                      <a:lnTo>
                        <a:pt x="322" y="519"/>
                      </a:lnTo>
                      <a:lnTo>
                        <a:pt x="372" y="412"/>
                      </a:lnTo>
                      <a:lnTo>
                        <a:pt x="436" y="316"/>
                      </a:lnTo>
                      <a:lnTo>
                        <a:pt x="503" y="213"/>
                      </a:lnTo>
                      <a:lnTo>
                        <a:pt x="545" y="147"/>
                      </a:lnTo>
                      <a:lnTo>
                        <a:pt x="576" y="112"/>
                      </a:lnTo>
                      <a:close/>
                    </a:path>
                  </a:pathLst>
                </a:custGeom>
                <a:solidFill>
                  <a:srgbClr val="3366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sp>
        <p:nvSpPr>
          <p:cNvPr id="572430" name="AutoShape 14"/>
          <p:cNvSpPr/>
          <p:nvPr/>
        </p:nvSpPr>
        <p:spPr>
          <a:xfrm flipH="1">
            <a:off x="1524000" y="304800"/>
            <a:ext cx="4724400" cy="1323975"/>
          </a:xfrm>
          <a:prstGeom prst="wedgeRectCallout">
            <a:avLst>
              <a:gd name="adj1" fmla="val -50236"/>
              <a:gd name="adj2" fmla="val 126977"/>
            </a:avLst>
          </a:prstGeom>
          <a:noFill/>
          <a:ln w="381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9276" tIns="49638" rIns="99276" bIns="49638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defTabSz="992505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900" dirty="0">
                <a:solidFill>
                  <a:schemeClr val="tx2"/>
                </a:solidFill>
                <a:latin typeface="Comic Sans MS" panose="030F0902030302020204" pitchFamily="66" charset="0"/>
                <a:ea typeface="宋体" pitchFamily="2" charset="-122"/>
              </a:rPr>
              <a:t>Please feel free </a:t>
            </a:r>
            <a:endParaRPr lang="en-US" altLang="zh-CN" sz="3900" dirty="0">
              <a:solidFill>
                <a:schemeClr val="tx2"/>
              </a:solidFill>
              <a:latin typeface="Comic Sans MS" panose="030F0902030302020204" pitchFamily="66" charset="0"/>
              <a:ea typeface="宋体" pitchFamily="2" charset="-122"/>
            </a:endParaRPr>
          </a:p>
          <a:p>
            <a:pPr marL="0" lvl="0" indent="0" algn="ctr" defTabSz="992505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900" dirty="0">
                <a:solidFill>
                  <a:schemeClr val="tx2"/>
                </a:solidFill>
                <a:latin typeface="Comic Sans MS" panose="030F0902030302020204" pitchFamily="66" charset="0"/>
                <a:ea typeface="宋体" pitchFamily="2" charset="-122"/>
              </a:rPr>
              <a:t>to ask questions!</a:t>
            </a:r>
            <a:endParaRPr lang="en-US" altLang="zh-CN" sz="2600" dirty="0">
              <a:solidFill>
                <a:schemeClr val="tx2"/>
              </a:solidFill>
              <a:latin typeface="Comic Sans MS" panose="030F0902030302020204" pitchFamily="66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57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3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j-cs"/>
              </a:rPr>
              <a:t>Homework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j-cs"/>
            </a:endParaRPr>
          </a:p>
        </p:txBody>
      </p:sp>
      <p:sp>
        <p:nvSpPr>
          <p:cNvPr id="6758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  <a:cs typeface="+mn-cs"/>
              </a:rPr>
              <a:t>§2.3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lvl="1" eaLnBrk="1" hangingPunct="1">
              <a:buSzPct val="55000"/>
            </a:pPr>
            <a:r>
              <a:rPr lang="zh-CN" altLang="en-US" dirty="0">
                <a:latin typeface="Times New Roman" panose="02020503050405090304" pitchFamily="18" charset="0"/>
                <a:ea typeface="宋体" pitchFamily="2" charset="-122"/>
              </a:rPr>
              <a:t>20, 24, 33</a:t>
            </a:r>
            <a:r>
              <a:rPr lang="en-US" altLang="zh-CN" dirty="0">
                <a:latin typeface="Times New Roman" panose="02020503050405090304" pitchFamily="18" charset="0"/>
                <a:ea typeface="宋体" pitchFamily="2" charset="-122"/>
              </a:rPr>
              <a:t>, 66</a:t>
            </a:r>
            <a:endParaRPr lang="en-US" altLang="zh-CN" dirty="0"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6758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en-US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758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759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  <a:t>School of Computer Science, BUPT </a:t>
            </a:r>
            <a:endParaRPr lang="zh-CN" altLang="en-US" sz="1200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7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0.xml><?xml version="1.0" encoding="utf-8"?>
<p:tagLst xmlns:p="http://schemas.openxmlformats.org/presentationml/2006/main">
  <p:tag name="RAINPROBLEM" val="ProblemSubmit"/>
  <p:tag name="RAINPROBLEMTYPE" val="MultipleChoiceMA"/>
</p:tagLst>
</file>

<file path=ppt/tags/tag11.xml><?xml version="1.0" encoding="utf-8"?>
<p:tagLst xmlns:p="http://schemas.openxmlformats.org/presentationml/2006/main">
  <p:tag name="RAINPROBLEM" val="ProblemItem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" val="ProblemSetting"/>
  <p:tag name="RAINPROBLEMTYPE" val="MultipleChoiceMA"/>
</p:tagLst>
</file>

<file path=ppt/tags/tag17.xml><?xml version="1.0" encoding="utf-8"?>
<p:tagLst xmlns:p="http://schemas.openxmlformats.org/presentationml/2006/main">
  <p:tag name="RAINPROBLEM" val="MultipleChoiceMA"/>
  <p:tag name="PROBLEMSCORE" val="1.0"/>
  <p:tag name="PROBLEMSCORE_HALF" val="0.5"/>
</p:tagLst>
</file>

<file path=ppt/tags/tag18.xml><?xml version="1.0" encoding="utf-8"?>
<p:tagLst xmlns:p="http://schemas.openxmlformats.org/presentationml/2006/main">
  <p:tag name="RAINPROBLEM" val="ProblemBody"/>
</p:tagLst>
</file>

<file path=ppt/tags/tag19.xml><?xml version="1.0" encoding="utf-8"?>
<p:tagLst xmlns:p="http://schemas.openxmlformats.org/presentationml/2006/main">
  <p:tag name="RAINPROBLEM" val="ProblemItem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24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25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26.xml><?xml version="1.0" encoding="utf-8"?>
<p:tagLst xmlns:p="http://schemas.openxmlformats.org/presentationml/2006/main">
  <p:tag name="RAINPROBLEM" val="ProblemSubmit"/>
  <p:tag name="RAINPROBLEMTYPE" val="MultipleChoiceMA"/>
</p:tagLst>
</file>

<file path=ppt/tags/tag27.xml><?xml version="1.0" encoding="utf-8"?>
<p:tagLst xmlns:p="http://schemas.openxmlformats.org/presentationml/2006/main">
  <p:tag name="RAINPROBLEM" val="ProblemItem"/>
</p:tagLst>
</file>

<file path=ppt/tags/tag28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" val="ProblemSetting"/>
  <p:tag name="RAINPROBLEMTYPE" val="MultipleChoiceMA"/>
</p:tagLst>
</file>

<file path=ppt/tags/tag34.xml><?xml version="1.0" encoding="utf-8"?>
<p:tagLst xmlns:p="http://schemas.openxmlformats.org/presentationml/2006/main">
  <p:tag name="RAINPROBLEM" val="MultipleChoiceMA"/>
  <p:tag name="PROBLEMSCORE" val="1.0"/>
  <p:tag name="PROBLEMSCORE_HALF" val="0.5"/>
</p:tagLst>
</file>

<file path=ppt/tags/tag35.xml><?xml version="1.0" encoding="utf-8"?>
<p:tagLst xmlns:p="http://schemas.openxmlformats.org/presentationml/2006/main">
  <p:tag name="RAINPROBLEM" val="ProblemBody"/>
</p:tagLst>
</file>

<file path=ppt/tags/tag36.xml><?xml version="1.0" encoding="utf-8"?>
<p:tagLst xmlns:p="http://schemas.openxmlformats.org/presentationml/2006/main">
  <p:tag name="RAINPROBLEM" val="ProblemItem"/>
</p:tagLst>
</file>

<file path=ppt/tags/tag37.xml><?xml version="1.0" encoding="utf-8"?>
<p:tagLst xmlns:p="http://schemas.openxmlformats.org/presentationml/2006/main">
  <p:tag name="RAINPROBLEM" val="ProblemItem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1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42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3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44.xml><?xml version="1.0" encoding="utf-8"?>
<p:tagLst xmlns:p="http://schemas.openxmlformats.org/presentationml/2006/main">
  <p:tag name="RAINPROBLEM" val="ProblemSubmit"/>
  <p:tag name="RAINPROBLEMTYPE" val="MultipleChoiceMA"/>
</p:tagLst>
</file>

<file path=ppt/tags/tag45.xml><?xml version="1.0" encoding="utf-8"?>
<p:tagLst xmlns:p="http://schemas.openxmlformats.org/presentationml/2006/main">
  <p:tag name="RAINPROBLEM" val="ProblemItem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" val="ProblemSetting"/>
  <p:tag name="RAINPROBLEMTYPE" val="MultipleChoiceMA"/>
</p:tagLst>
</file>

<file path=ppt/tags/tag51.xml><?xml version="1.0" encoding="utf-8"?>
<p:tagLst xmlns:p="http://schemas.openxmlformats.org/presentationml/2006/main">
  <p:tag name="RAINPROBLEM" val="MultipleChoiceMA"/>
  <p:tag name="PROBLEMSCORE" val="1.0"/>
  <p:tag name="PROBLEMSCORE_HALF" val="0.5"/>
</p:tagLst>
</file>

<file path=ppt/tags/tag52.xml><?xml version="1.0" encoding="utf-8"?>
<p:tagLst xmlns:p="http://schemas.openxmlformats.org/presentationml/2006/main">
  <p:tag name="KSO_WPP_MARK_KEY" val="9cc646b8-c73e-4ba3-a80d-94df8002cb39"/>
  <p:tag name="COMMONDATA" val="eyJoZGlkIjoiYjZhMmY1NGQwZjE0MWY4MTkzZjM4YzBiNDA1ZmM3ZDEifQ=="/>
</p:tagLst>
</file>

<file path=ppt/theme/theme1.xml><?xml version="1.0" encoding="utf-8"?>
<a:theme xmlns:a="http://schemas.openxmlformats.org/drawingml/2006/main" name="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13364</Words>
  <Application>WPS 文字</Application>
  <PresentationFormat/>
  <Paragraphs>1068</Paragraphs>
  <Slides>55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34</vt:i4>
      </vt:variant>
      <vt:variant>
        <vt:lpstr>主题</vt:lpstr>
      </vt:variant>
      <vt:variant>
        <vt:i4>9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55</vt:i4>
      </vt:variant>
    </vt:vector>
  </HeadingPairs>
  <TitlesOfParts>
    <vt:vector size="100" baseType="lpstr">
      <vt:lpstr>Arial</vt:lpstr>
      <vt:lpstr>宋体</vt:lpstr>
      <vt:lpstr>Wingdings</vt:lpstr>
      <vt:lpstr>Tahoma</vt:lpstr>
      <vt:lpstr>汉仪书宋二KW</vt:lpstr>
      <vt:lpstr>Calibri</vt:lpstr>
      <vt:lpstr>Times New Roman</vt:lpstr>
      <vt:lpstr>Arial Narrow</vt:lpstr>
      <vt:lpstr>Tw Cen MT</vt:lpstr>
      <vt:lpstr>Copperplate Gothic Light</vt:lpstr>
      <vt:lpstr>苹方-简</vt:lpstr>
      <vt:lpstr>Copperplate Gothic Bold</vt:lpstr>
      <vt:lpstr>Symbol</vt:lpstr>
      <vt:lpstr>Euclid Math Two</vt:lpstr>
      <vt:lpstr>Symbol</vt:lpstr>
      <vt:lpstr>华文仿宋</vt:lpstr>
      <vt:lpstr>微软雅黑</vt:lpstr>
      <vt:lpstr>汉仪旗黑</vt:lpstr>
      <vt:lpstr>宋体</vt:lpstr>
      <vt:lpstr>Arial Unicode MS</vt:lpstr>
      <vt:lpstr>Euclid</vt:lpstr>
      <vt:lpstr>Euclid Extra</vt:lpstr>
      <vt:lpstr>MT-Extra</vt:lpstr>
      <vt:lpstr>Euclid Math Two</vt:lpstr>
      <vt:lpstr>Kingsoft Sign</vt:lpstr>
      <vt:lpstr>Cambria Math</vt:lpstr>
      <vt:lpstr>DejaVu Math TeX Gyre</vt:lpstr>
      <vt:lpstr>Arial Rounded MT Bold</vt:lpstr>
      <vt:lpstr>Comic Sans MS</vt:lpstr>
      <vt:lpstr>Helvetica Neue</vt:lpstr>
      <vt:lpstr>PingFang SC</vt:lpstr>
      <vt:lpstr>Kingsoft Math</vt:lpstr>
      <vt:lpstr>华文宋体</vt:lpstr>
      <vt:lpstr>宋体-简</vt:lpstr>
      <vt:lpstr>7_自定义设计方案</vt:lpstr>
      <vt:lpstr>5_自定义设计方案</vt:lpstr>
      <vt:lpstr>6_自定义设计方案</vt:lpstr>
      <vt:lpstr>3_自定义设计方案</vt:lpstr>
      <vt:lpstr>4_自定义设计方案</vt:lpstr>
      <vt:lpstr>1_自定义设计方案</vt:lpstr>
      <vt:lpstr>2_自定义设计方案</vt:lpstr>
      <vt:lpstr>Blends</vt:lpstr>
      <vt:lpstr>8_自定义设计方案</vt:lpstr>
      <vt:lpstr>Equation.DSMT4</vt:lpstr>
      <vt:lpstr>Equation.DSMT4</vt:lpstr>
      <vt:lpstr>2.3 Functions</vt:lpstr>
      <vt:lpstr>On to section 2.3… Functions</vt:lpstr>
      <vt:lpstr>Function: Formal Definition</vt:lpstr>
      <vt:lpstr>Functions</vt:lpstr>
      <vt:lpstr>Graphical Representations</vt:lpstr>
      <vt:lpstr>Functions  f  : A® B</vt:lpstr>
      <vt:lpstr>Example</vt:lpstr>
      <vt:lpstr>Range versus Codomain</vt:lpstr>
      <vt:lpstr>Range vs. Codomain – Example </vt:lpstr>
      <vt:lpstr>Operators (general definition)</vt:lpstr>
      <vt:lpstr>Constructing Function Operators</vt:lpstr>
      <vt:lpstr>Function Operator Example</vt:lpstr>
      <vt:lpstr>Special types of Functions</vt:lpstr>
      <vt:lpstr>One-to-One Functions</vt:lpstr>
      <vt:lpstr>One-to-One Illustration</vt:lpstr>
      <vt:lpstr>Sufficient Conditions for 1-1ness</vt:lpstr>
      <vt:lpstr>Onto (Surjective) Functions</vt:lpstr>
      <vt:lpstr>Illustration of Onto</vt:lpstr>
      <vt:lpstr>Bijections</vt:lpstr>
      <vt:lpstr>Examples</vt:lpstr>
      <vt:lpstr>Examples:</vt:lpstr>
      <vt:lpstr>PowerPoint 演示文稿</vt:lpstr>
      <vt:lpstr>PowerPoint 演示文稿</vt:lpstr>
      <vt:lpstr>PowerPoint 演示文稿</vt:lpstr>
      <vt:lpstr>Correspondence Principle</vt:lpstr>
      <vt:lpstr>The Identity Function</vt:lpstr>
      <vt:lpstr>Identity Function Illustrations</vt:lpstr>
      <vt:lpstr>Inverse Functions</vt:lpstr>
      <vt:lpstr>Inverse Functions</vt:lpstr>
      <vt:lpstr>Inverse Functions</vt:lpstr>
      <vt:lpstr>Composition</vt:lpstr>
      <vt:lpstr>Composition</vt:lpstr>
      <vt:lpstr>Composition</vt:lpstr>
      <vt:lpstr>Composition</vt:lpstr>
      <vt:lpstr>Exercise</vt:lpstr>
      <vt:lpstr>Theorem</vt:lpstr>
      <vt:lpstr>Proof</vt:lpstr>
      <vt:lpstr>Graphs of Functions</vt:lpstr>
      <vt:lpstr>PowerPoint 演示文稿</vt:lpstr>
      <vt:lpstr>Floor and ceiling function</vt:lpstr>
      <vt:lpstr>Visualizing Floor &amp; Ceiling</vt:lpstr>
      <vt:lpstr>Plots with floor/ceiling</vt:lpstr>
      <vt:lpstr>Plots with floor/ceiling: Example</vt:lpstr>
      <vt:lpstr>Properties of the floor and ceiling functions</vt:lpstr>
      <vt:lpstr>Example </vt:lpstr>
      <vt:lpstr>Factorial function</vt:lpstr>
      <vt:lpstr>Characteristic Functions(特征函数)</vt:lpstr>
      <vt:lpstr>Characteristic Functions</vt:lpstr>
      <vt:lpstr>Mod-n Functions(模n函数)</vt:lpstr>
      <vt:lpstr>Examples</vt:lpstr>
      <vt:lpstr>Partial Functions</vt:lpstr>
      <vt:lpstr>PowerPoint 演示文稿</vt:lpstr>
      <vt:lpstr>Review of §2.3 (Functions)</vt:lpstr>
      <vt:lpstr>PowerPoint 演示文稿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yangjuan</dc:creator>
  <cp:lastModifiedBy>杨娟</cp:lastModifiedBy>
  <cp:revision>343</cp:revision>
  <dcterms:created xsi:type="dcterms:W3CDTF">2025-04-02T08:20:37Z</dcterms:created>
  <dcterms:modified xsi:type="dcterms:W3CDTF">2025-04-02T08:20:37Z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7FCD134A44EA47FC93BD6151AC33125C</vt:lpwstr>
  </property>
  <property fmtid="{D5CDD505-2E9C-101B-9397-08002B2CF9AE}" pid="3" name="KSOProductBuildVer">
    <vt:lpwstr>2052-6.9.0.8865</vt:lpwstr>
  </property>
</Properties>
</file>