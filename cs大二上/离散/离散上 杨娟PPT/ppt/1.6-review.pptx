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handoutMasterIdLst>
    <p:handoutMasterId r:id="rId20"/>
  </p:handoutMasterIdLst>
  <p:sldIdLst>
    <p:sldId id="959" r:id="rId3"/>
    <p:sldId id="913" r:id="rId4"/>
    <p:sldId id="914" r:id="rId5"/>
    <p:sldId id="915" r:id="rId7"/>
    <p:sldId id="916" r:id="rId8"/>
    <p:sldId id="917" r:id="rId9"/>
    <p:sldId id="941" r:id="rId10"/>
    <p:sldId id="942" r:id="rId11"/>
    <p:sldId id="918" r:id="rId12"/>
    <p:sldId id="952" r:id="rId13"/>
    <p:sldId id="921" r:id="rId14"/>
    <p:sldId id="922" r:id="rId15"/>
    <p:sldId id="923" r:id="rId16"/>
    <p:sldId id="924" r:id="rId17"/>
    <p:sldId id="943" r:id="rId18"/>
    <p:sldId id="944" r:id="rId19"/>
  </p:sldIdLst>
  <p:sldSz cx="9144000" cy="6858000" type="screen4x3"/>
  <p:notesSz cx="6669405" cy="9926955"/>
  <p:custDataLst>
    <p:tags r:id="rId24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1" i="1" u="sng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02" userDrawn="1">
          <p15:clr>
            <a:srgbClr val="A4A3A4"/>
          </p15:clr>
        </p15:guide>
        <p15:guide id="2" pos="487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3300"/>
    <a:srgbClr val="003399"/>
    <a:srgbClr val="336699"/>
    <a:srgbClr val="008080"/>
    <a:srgbClr val="009999"/>
    <a:srgbClr val="FF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75261"/>
  </p:normalViewPr>
  <p:slideViewPr>
    <p:cSldViewPr showGuides="1">
      <p:cViewPr varScale="1">
        <p:scale>
          <a:sx n="71" d="100"/>
          <a:sy n="71" d="100"/>
        </p:scale>
        <p:origin x="1365" y="36"/>
      </p:cViewPr>
      <p:guideLst>
        <p:guide orient="horz" pos="1502"/>
        <p:guide pos="487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188"/>
    </p:cViewPr>
  </p:sorterViewPr>
  <p:gridSpacing cx="72006" cy="72006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4" Type="http://schemas.openxmlformats.org/officeDocument/2006/relationships/tags" Target="tags/tag1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0" sz="1200" b="0" i="0" u="none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1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 b="0" i="0" u="none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2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200" b="0" i="0" u="none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413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0" i="0" u="none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E519BBA-24C3-4153-88D4-CFD4B3F57323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53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0" sz="1200" b="0" i="0" u="none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 b="0" i="0" u="none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76" name="Rectangle 4"/>
          <p:cNvSpPr>
            <a:spLocks noGrp="1" noRot="1" noChangeAspect="1" noTextEdit="1"/>
          </p:cNvSpPr>
          <p:nvPr>
            <p:ph type="sldImg"/>
          </p:nvPr>
        </p:nvSpPr>
        <p:spPr>
          <a:xfrm>
            <a:off x="852488" y="744538"/>
            <a:ext cx="4964112" cy="37226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4294967295"/>
          </p:nvPr>
        </p:nvSpPr>
        <p:spPr bwMode="auto">
          <a:xfrm>
            <a:off x="889000" y="4714875"/>
            <a:ext cx="4891088" cy="446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Click to edit Master text styles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Second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Third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Fourth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  <a:t>Fifth level</a:t>
            </a: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200" b="0" i="0" u="none" noProof="1"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200" b="0" i="0" u="none" noProof="1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DD927D0-9EBB-48DA-A772-442F994491D1}" type="slidenum">
              <a:rPr kumimoji="0" lang="zh-CN" altLang="en-US" sz="1200" b="0" i="0" u="none" strike="noStrike" kern="120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kumimoji="0" lang="en-US" altLang="zh-CN" sz="1200" b="0" i="0" u="none" strike="noStrike" kern="120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7171" name="备注占位符 2"/>
          <p:cNvSpPr>
            <a:spLocks noGrp="1"/>
          </p:cNvSpPr>
          <p:nvPr>
            <p:ph type="body" idx="1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7172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 eaLnBrk="1" hangingPunct="1"/>
            <a:fld id="{9A0DB2DC-4C9A-4742-B13C-FB6460FD3503}" type="slidenum">
              <a:rPr lang="en-US" altLang="en-US" sz="1200" b="0" i="0" u="none" dirty="0"/>
            </a:fld>
            <a:endParaRPr lang="en-US" altLang="en-US" sz="1200" b="0" i="0" u="non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sz="1200" b="0" i="0" u="none" dirty="0"/>
            </a:fld>
            <a:endParaRPr lang="en-US" altLang="zh-CN" sz="1200" b="0" i="0" u="none" dirty="0"/>
          </a:p>
        </p:txBody>
      </p:sp>
      <p:sp>
        <p:nvSpPr>
          <p:cNvPr id="9219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9220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sz="1200" b="0" i="0" u="none" dirty="0"/>
            </a:fld>
            <a:endParaRPr lang="en-US" altLang="zh-CN" sz="1200" b="0" i="0" u="none" dirty="0"/>
          </a:p>
        </p:txBody>
      </p:sp>
      <p:sp>
        <p:nvSpPr>
          <p:cNvPr id="11267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1268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sz="1200" b="0" i="0" u="none" dirty="0"/>
            </a:fld>
            <a:endParaRPr lang="en-US" altLang="zh-CN" sz="1200" b="0" i="0" u="none" dirty="0"/>
          </a:p>
        </p:txBody>
      </p:sp>
      <p:sp>
        <p:nvSpPr>
          <p:cNvPr id="1331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331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5363" name="备注占位符 2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/>
            <a:endParaRPr lang="zh-CN" altLang="en-US" dirty="0"/>
          </a:p>
        </p:txBody>
      </p:sp>
      <p:sp>
        <p:nvSpPr>
          <p:cNvPr id="15364" name="灯片编号占位符 3"/>
          <p:cNvSpPr txBox="1"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en-US" sz="1200" b="0" i="0" u="none" dirty="0"/>
            </a:fld>
            <a:endParaRPr lang="en-US" altLang="en-US" sz="1200" b="0" i="0" u="none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sz="1200" b="0" i="0" u="none" dirty="0"/>
            </a:fld>
            <a:endParaRPr lang="en-US" altLang="zh-CN" sz="1200" b="0" i="0" u="none" dirty="0"/>
          </a:p>
        </p:txBody>
      </p:sp>
      <p:sp>
        <p:nvSpPr>
          <p:cNvPr id="1843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1843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7"/>
          <p:cNvSpPr txBox="1">
            <a:spLocks noGrp="1"/>
          </p:cNvSpPr>
          <p:nvPr>
            <p:ph type="sldNum" sz="quarter"/>
          </p:nvPr>
        </p:nvSpPr>
        <p:spPr>
          <a:xfrm>
            <a:off x="3779838" y="9429750"/>
            <a:ext cx="2889250" cy="496888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 algn="r"/>
            <a:fld id="{9A0DB2DC-4C9A-4742-B13C-FB6460FD3503}" type="slidenum">
              <a:rPr lang="en-US" altLang="zh-CN" sz="1200" b="0" i="0" u="none" dirty="0"/>
            </a:fld>
            <a:endParaRPr lang="en-US" altLang="zh-CN" sz="1200" b="0" i="0" u="none" dirty="0"/>
          </a:p>
        </p:txBody>
      </p:sp>
      <p:sp>
        <p:nvSpPr>
          <p:cNvPr id="64515" name="Rectangle 2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64516" name="Rectangle 3"/>
          <p:cNvSpPr>
            <a:spLocks noGrp="1"/>
          </p:cNvSpPr>
          <p:nvPr>
            <p:ph type="body"/>
          </p:nvPr>
        </p:nvSpPr>
        <p:spPr/>
        <p:txBody>
          <a:bodyPr wrap="square" lIns="91440" tIns="45720" rIns="91440" bIns="45720" anchor="t" anchorCtr="0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7" descr="attach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051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8" name="Group 3"/>
            <p:cNvGrpSpPr/>
            <p:nvPr/>
          </p:nvGrpSpPr>
          <p:grpSpPr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4" name="Rectangle 4"/>
              <p:cNvSpPr>
                <a:spLocks noChangeArrowheads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5" name="Rectangle 5"/>
              <p:cNvSpPr>
                <a:spLocks noChangeArrowheads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grpSp>
          <p:nvGrpSpPr>
            <p:cNvPr id="2059" name="Group 6"/>
            <p:cNvGrpSpPr/>
            <p:nvPr/>
          </p:nvGrpSpPr>
          <p:grpSpPr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2" name="Rectangle 7"/>
              <p:cNvSpPr>
                <a:spLocks noChangeArrowheads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  <p:sp>
            <p:nvSpPr>
              <p:cNvPr id="23" name="Rectangle 8"/>
              <p:cNvSpPr>
                <a:spLocks noChangeArrowheads="1"/>
              </p:cNvSpPr>
              <p:nvPr/>
            </p:nvSpPr>
            <p:spPr bwMode="auto"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 b="1" i="1" u="sng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1" i="1" u="sng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宋体" panose="02010600030101010101" pitchFamily="2" charset="-122"/>
                  <a:cs typeface="+mn-cs"/>
                </a:endParaRPr>
              </a:p>
            </p:txBody>
          </p:sp>
        </p:grpSp>
        <p:sp>
          <p:nvSpPr>
            <p:cNvPr id="19" name="Rectangle 9"/>
            <p:cNvSpPr>
              <a:spLocks noChangeArrowheads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0" name="Rectangle 10"/>
            <p:cNvSpPr>
              <a:spLocks noChangeArrowheads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1" name="Rectangle 11"/>
            <p:cNvSpPr>
              <a:spLocks noChangeArrowheads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 i="1" u="sng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1" i="1" u="sng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26" name="Text Box 18"/>
          <p:cNvSpPr txBox="1">
            <a:spLocks noChangeArrowheads="1"/>
          </p:cNvSpPr>
          <p:nvPr/>
        </p:nvSpPr>
        <p:spPr bwMode="auto">
          <a:xfrm>
            <a:off x="2509520" y="4581525"/>
            <a:ext cx="5694680" cy="16402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1200" cap="none" spc="0" normalizeH="0" baseline="0" noProof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Yang Juan</a:t>
            </a:r>
            <a:endParaRPr kumimoji="0" lang="en-US" altLang="zh-CN" sz="2400" b="0" i="0" u="none" strike="noStrike" kern="1200" cap="none" spc="0" normalizeH="0" baseline="0" noProof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Copperplate Gothic Light" panose="020E05070202060204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yangjuan@bupt.edu.cn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School  of Computer Science </a:t>
            </a:r>
            <a:endParaRPr kumimoji="0" lang="en-US" altLang="zh-CN" sz="1600" b="0" i="0" u="none" strike="noStrike" kern="1200" cap="none" spc="0" normalizeH="0" baseline="0" noProof="0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Copperplate Gothic Light" panose="020E0507020206020404" pitchFamily="34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1600" b="0" i="0" u="none" strike="noStrike" kern="1200" cap="none" spc="0" normalizeH="0" baseline="0" noProof="0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Copperplate Gothic Light" panose="020E0507020206020404" pitchFamily="34" charset="0"/>
                <a:ea typeface="宋体" panose="02010600030101010101" pitchFamily="2" charset="-122"/>
                <a:cs typeface="+mn-cs"/>
              </a:rPr>
              <a:t>Beijing University of Posts &amp; Telecommunications</a:t>
            </a:r>
            <a:endParaRPr kumimoji="0" lang="zh-CN" altLang="en-US" sz="16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3612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>
                <a:latin typeface="Copperplate Gothic Bold" panose="020E0705020206020404" pitchFamily="34" charset="0"/>
              </a:defRPr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153613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r>
              <a:rPr lang="zh-CN" altLang="en-US" noProof="1"/>
              <a:t>单击此处编辑母版副标题样式</a:t>
            </a:r>
            <a:endParaRPr lang="zh-CN" altLang="en-US" noProof="1"/>
          </a:p>
        </p:txBody>
      </p:sp>
      <p:sp>
        <p:nvSpPr>
          <p:cNvPr id="27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E7846C-1BE3-4D04-8647-3E14D5FE7C80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8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lnSpc>
                <a:spcPct val="100000"/>
              </a:lnSpc>
              <a:defRPr kumimoji="0" sz="1400" b="0" i="0">
                <a:solidFill>
                  <a:schemeClr val="bg2"/>
                </a:solidFill>
                <a:latin typeface="+mn-lt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9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ln>
            <a:miter lim="800000"/>
          </a:ln>
        </p:spPr>
        <p:txBody>
          <a:bodyPr vert="horz" wrap="square" lIns="91440" tIns="45720" rIns="91440" bIns="45720" numCol="1" anchor="b" anchorCtr="0" compatLnSpc="1"/>
          <a:lstStyle>
            <a:lvl1pPr>
              <a:defRPr sz="1400" b="0" i="0">
                <a:solidFill>
                  <a:schemeClr val="bg2"/>
                </a:solidFill>
                <a:latin typeface="Tahoma" panose="020B060403050404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03ACD506-6B8B-409E-9D08-841EFC9822E8}" type="slidenum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A3633-7A94-47CE-B8A2-FCF153A5CD54}" type="slidenum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5369E5-2BDA-42C1-A293-7A582E230DC4}" type="datetime1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A3633-7A94-47CE-B8A2-FCF153A5CD54}" type="slidenum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5369E5-2BDA-42C1-A293-7A582E230DC4}" type="datetime1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1826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5088" y="2017713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A3633-7A94-47CE-B8A2-FCF153A5CD54}" type="slidenum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5369E5-2BDA-42C1-A293-7A582E230DC4}" type="datetime1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A3633-7A94-47CE-B8A2-FCF153A5CD54}" type="slidenum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日期占位符 7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5369E5-2BDA-42C1-A293-7A582E230DC4}" type="datetime1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页脚占位符 8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A3633-7A94-47CE-B8A2-FCF153A5CD54}" type="slidenum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5369E5-2BDA-42C1-A293-7A582E230DC4}" type="datetime1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A3633-7A94-47CE-B8A2-FCF153A5CD54}" type="slidenum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5369E5-2BDA-42C1-A293-7A582E230DC4}" type="datetime1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A3633-7A94-47CE-B8A2-FCF153A5CD54}" type="slidenum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5369E5-2BDA-42C1-A293-7A582E230DC4}" type="datetime1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A3633-7A94-47CE-B8A2-FCF153A5CD54}" type="slidenum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日期占位符 5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5369E5-2BDA-42C1-A293-7A582E230DC4}" type="datetime1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页脚占位符 6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A3633-7A94-47CE-B8A2-FCF153A5CD54}" type="slidenum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5369E5-2BDA-42C1-A293-7A582E230DC4}" type="datetime1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004050" y="617538"/>
            <a:ext cx="1951038" cy="5514975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  <a:endParaRPr lang="zh-CN" altLang="en-US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150938" y="617538"/>
            <a:ext cx="5700712" cy="5514975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  <a:p>
            <a:pPr lvl="1"/>
            <a:r>
              <a:rPr lang="zh-CN" altLang="en-US" noProof="1"/>
              <a:t>第二级</a:t>
            </a:r>
            <a:endParaRPr lang="zh-CN" altLang="en-US" noProof="1"/>
          </a:p>
          <a:p>
            <a:pPr lvl="2"/>
            <a:r>
              <a:rPr lang="zh-CN" altLang="en-US" noProof="1"/>
              <a:t>第三级</a:t>
            </a:r>
            <a:endParaRPr lang="zh-CN" altLang="en-US" noProof="1"/>
          </a:p>
          <a:p>
            <a:pPr lvl="3"/>
            <a:r>
              <a:rPr lang="zh-CN" altLang="en-US" noProof="1"/>
              <a:t>第四级</a:t>
            </a:r>
            <a:endParaRPr lang="zh-CN" altLang="en-US" noProof="1"/>
          </a:p>
          <a:p>
            <a:pPr lvl="4"/>
            <a:r>
              <a:rPr lang="zh-CN" altLang="en-US" noProof="1"/>
              <a:t>第五级</a:t>
            </a:r>
            <a:endParaRPr lang="zh-CN" altLang="en-US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A3633-7A94-47CE-B8A2-FCF153A5CD54}" type="slidenum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1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5369E5-2BDA-42C1-A293-7A582E230DC4}" type="datetime1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2"/>
          </p:nvPr>
        </p:nvSpPr>
        <p:spPr/>
        <p:txBody>
          <a:bodyPr/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18" descr="attach"/>
          <p:cNvPicPr>
            <a:picLocks noChangeAspect="1"/>
          </p:cNvPicPr>
          <p:nvPr userDrawn="1"/>
        </p:nvPicPr>
        <p:blipFill>
          <a:blip r:embed="rId12"/>
          <a:stretch>
            <a:fillRect/>
          </a:stretch>
        </p:blipFill>
        <p:spPr>
          <a:xfrm>
            <a:off x="1752600" y="533400"/>
            <a:ext cx="5905500" cy="59055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52592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00800"/>
            <a:ext cx="1524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kumimoji="0" sz="1000" u="none" noProof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BF3A3633-7A94-47CE-B8A2-FCF153A5CD54}" type="slidenum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8" name="Rectangle 2"/>
          <p:cNvSpPr>
            <a:spLocks noChangeArrowheads="1"/>
          </p:cNvSpPr>
          <p:nvPr/>
        </p:nvSpPr>
        <p:spPr bwMode="auto">
          <a:xfrm>
            <a:off x="417513" y="596265"/>
            <a:ext cx="438150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29" name="Rectangle 3"/>
          <p:cNvSpPr>
            <a:spLocks noChangeArrowheads="1"/>
          </p:cNvSpPr>
          <p:nvPr/>
        </p:nvSpPr>
        <p:spPr bwMode="auto">
          <a:xfrm>
            <a:off x="800100" y="596265"/>
            <a:ext cx="328613" cy="474663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0" name="Rectangle 4"/>
          <p:cNvSpPr>
            <a:spLocks noChangeArrowheads="1"/>
          </p:cNvSpPr>
          <p:nvPr/>
        </p:nvSpPr>
        <p:spPr bwMode="auto">
          <a:xfrm>
            <a:off x="541338" y="1018540"/>
            <a:ext cx="422275" cy="474663"/>
          </a:xfrm>
          <a:prstGeom prst="rect">
            <a:avLst/>
          </a:prstGeom>
          <a:solidFill>
            <a:schemeClr val="folHlink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1" name="Rectangle 5"/>
          <p:cNvSpPr>
            <a:spLocks noChangeArrowheads="1"/>
          </p:cNvSpPr>
          <p:nvPr/>
        </p:nvSpPr>
        <p:spPr bwMode="auto">
          <a:xfrm>
            <a:off x="911225" y="1018540"/>
            <a:ext cx="368300" cy="474663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2" name="Rectangle 6"/>
          <p:cNvSpPr>
            <a:spLocks noChangeArrowheads="1"/>
          </p:cNvSpPr>
          <p:nvPr/>
        </p:nvSpPr>
        <p:spPr bwMode="auto">
          <a:xfrm>
            <a:off x="127000" y="945515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3" name="Rectangle 7"/>
          <p:cNvSpPr>
            <a:spLocks noChangeArrowheads="1"/>
          </p:cNvSpPr>
          <p:nvPr/>
        </p:nvSpPr>
        <p:spPr bwMode="auto">
          <a:xfrm>
            <a:off x="762000" y="488315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4" name="Rectangle 8"/>
          <p:cNvSpPr>
            <a:spLocks noChangeArrowheads="1"/>
          </p:cNvSpPr>
          <p:nvPr/>
        </p:nvSpPr>
        <p:spPr bwMode="auto">
          <a:xfrm>
            <a:off x="442913" y="1278890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 i="1" u="sng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9"/>
          <p:cNvSpPr>
            <a:spLocks noGrp="1"/>
          </p:cNvSpPr>
          <p:nvPr>
            <p:ph type="title"/>
          </p:nvPr>
        </p:nvSpPr>
        <p:spPr>
          <a:xfrm>
            <a:off x="1135380" y="237490"/>
            <a:ext cx="7808595" cy="102108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1036" name="Rectangle 10"/>
          <p:cNvSpPr>
            <a:spLocks noGrp="1"/>
          </p:cNvSpPr>
          <p:nvPr>
            <p:ph type="body"/>
          </p:nvPr>
        </p:nvSpPr>
        <p:spPr>
          <a:xfrm>
            <a:off x="834390" y="1435735"/>
            <a:ext cx="8121015" cy="4697095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52590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400800"/>
            <a:ext cx="14478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l" eaLnBrk="1" hangingPunct="1">
              <a:defRPr kumimoji="0" sz="1000" u="none" noProof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D5369E5-2BDA-42C1-A293-7A582E230DC4}" type="datetime1">
              <a:rPr kumimoji="0" lang="zh-CN" altLang="en-US" sz="10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</a:fld>
            <a:endParaRPr kumimoji="0" lang="en-US" altLang="zh-CN" sz="10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2591" name="Rectangle 1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1447800" y="6400800"/>
            <a:ext cx="629285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ctr" eaLnBrk="1" hangingPunct="1">
              <a:lnSpc>
                <a:spcPct val="110000"/>
              </a:lnSpc>
              <a:defRPr sz="1200" u="none" noProof="1">
                <a:solidFill>
                  <a:srgbClr val="009999"/>
                </a:solidFill>
                <a:latin typeface="Arial Narrow" panose="020B0606020202030204" pitchFamily="34" charset="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200" b="1" i="1" u="none" strike="noStrike" kern="1200" cap="none" spc="0" normalizeH="0" baseline="0" noProof="1">
                <a:ln>
                  <a:noFill/>
                </a:ln>
                <a:solidFill>
                  <a:srgbClr val="009999"/>
                </a:solidFill>
                <a:effectLst/>
                <a:uLnTx/>
                <a:uFillTx/>
                <a:latin typeface="Arial Narrow" panose="020B0606020202030204" pitchFamily="34" charset="0"/>
                <a:ea typeface="宋体" panose="02010600030101010101" pitchFamily="2" charset="-122"/>
                <a:cs typeface="+mn-cs"/>
              </a:rPr>
              <a:t>School of Computer Science, BUPT</a:t>
            </a:r>
            <a:endParaRPr kumimoji="0" lang="zh-CN" altLang="en-US" sz="1200" b="1" i="1" u="none" strike="noStrike" kern="1200" cap="none" spc="0" normalizeH="0" baseline="0" noProof="1">
              <a:ln>
                <a:noFill/>
              </a:ln>
              <a:solidFill>
                <a:srgbClr val="009999"/>
              </a:solidFill>
              <a:effectLst/>
              <a:uLnTx/>
              <a:uFillTx/>
              <a:latin typeface="Arial Narrow" panose="020B0606020202030204" pitchFamily="34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Copperplate Gothic Light" panose="020E05070202060204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vmlDrawing" Target="../drawings/vmlDrawing1.vml"/><Relationship Id="rId5" Type="http://schemas.openxmlformats.org/officeDocument/2006/relationships/slideLayout" Target="../slideLayouts/slideLayout2.xml"/><Relationship Id="rId4" Type="http://schemas.openxmlformats.org/officeDocument/2006/relationships/oleObject" Target="../embeddings/oleObject3.bin"/><Relationship Id="rId3" Type="http://schemas.openxmlformats.org/officeDocument/2006/relationships/oleObject" Target="../embeddings/oleObject2.bin"/><Relationship Id="rId2" Type="http://schemas.openxmlformats.org/officeDocument/2006/relationships/image" Target="../media/image3.wmf"/><Relationship Id="rId1" Type="http://schemas.openxmlformats.org/officeDocument/2006/relationships/oleObject" Target="../embeddings/oleObject1.bin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 noChangeArrowheads="1"/>
          </p:cNvSpPr>
          <p:nvPr>
            <p:ph type="ctrTitle"/>
          </p:nvPr>
        </p:nvSpPr>
        <p:spPr>
          <a:xfrm>
            <a:off x="972185" y="2060575"/>
            <a:ext cx="7772400" cy="1143000"/>
          </a:xfrm>
        </p:spPr>
        <p:txBody>
          <a:bodyPr/>
          <a:p>
            <a:r>
              <a:rPr lang="en-US" altLang="zh-CN" dirty="0">
                <a:sym typeface="+mn-ea"/>
              </a:rPr>
              <a:t>Construction of Proofs</a:t>
            </a:r>
            <a:endParaRPr lang="zh-CN" altLang="en-US"/>
          </a:p>
        </p:txBody>
      </p:sp>
      <p:sp>
        <p:nvSpPr>
          <p:cNvPr id="3" name="副标题 2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DE7846C-1BE3-4D04-8647-3E14D5FE7C80}" type="datetime1">
              <a:rPr kumimoji="0" lang="zh-CN" altLang="en-US" sz="1400" b="0" i="0" u="none" strike="noStrike" kern="1200" cap="none" spc="0" normalizeH="0" baseline="0" noProof="1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n-lt"/>
                <a:ea typeface="宋体" panose="02010600030101010101" pitchFamily="2" charset="-122"/>
                <a:cs typeface="+mn-cs"/>
              </a:rPr>
            </a:fld>
            <a:endParaRPr kumimoji="0" lang="en-US" altLang="zh-CN" sz="1400" b="0" i="0" u="none" strike="noStrike" kern="1200" cap="none" spc="0" normalizeH="0" baseline="0" noProof="1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n-lt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构造证明之一</a:t>
            </a:r>
            <a:r>
              <a:rPr lang="en-US" altLang="zh-CN" b="1" dirty="0">
                <a:latin typeface="Times New Roman" panose="02020603050405020304" pitchFamily="18" charset="0"/>
              </a:rPr>
              <a:t>——</a:t>
            </a:r>
            <a:r>
              <a:rPr lang="zh-CN" altLang="en-US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直接证明法</a:t>
            </a:r>
            <a:endParaRPr lang="zh-CN" altLang="en-US" dirty="0"/>
          </a:p>
        </p:txBody>
      </p:sp>
      <p:sp>
        <p:nvSpPr>
          <p:cNvPr id="5123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4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5125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例 构造下面推理的证明：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</a:t>
            </a:r>
            <a:r>
              <a:rPr lang="zh-CN" altLang="en-US" sz="2800" dirty="0">
                <a:latin typeface="Times New Roman" panose="02020603050405020304" pitchFamily="18" charset="0"/>
              </a:rPr>
              <a:t> 若明天是星期一或星期三，我就有课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  <a:r>
              <a:rPr lang="zh-CN" altLang="en-US" sz="2800" dirty="0">
                <a:latin typeface="Times New Roman" panose="02020603050405020304" pitchFamily="18" charset="0"/>
              </a:rPr>
              <a:t>若有课，今天必备课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  <a:r>
              <a:rPr lang="zh-CN" altLang="en-US" sz="2800" dirty="0">
                <a:latin typeface="Times New Roman" panose="02020603050405020304" pitchFamily="18" charset="0"/>
              </a:rPr>
              <a:t>我今天下午没备课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  <a:r>
              <a:rPr lang="zh-CN" altLang="en-US" sz="2800" dirty="0">
                <a:latin typeface="Times New Roman" panose="02020603050405020304" pitchFamily="18" charset="0"/>
              </a:rPr>
              <a:t>所以，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明天不是星期一和星期三</a:t>
            </a:r>
            <a:r>
              <a:rPr lang="en-US" altLang="zh-CN" sz="2800" dirty="0">
                <a:latin typeface="Times New Roman" panose="02020603050405020304" pitchFamily="18" charset="0"/>
              </a:rPr>
              <a:t>.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解  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设 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zh-CN" altLang="en-US" sz="2800" dirty="0">
                <a:latin typeface="Times New Roman" panose="02020603050405020304" pitchFamily="18" charset="0"/>
              </a:rPr>
              <a:t>：明天是星期一，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zh-CN" altLang="en-US" sz="2800" dirty="0">
                <a:latin typeface="Times New Roman" panose="02020603050405020304" pitchFamily="18" charset="0"/>
              </a:rPr>
              <a:t>：明天是星期三，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        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zh-CN" altLang="en-US" sz="2800" dirty="0">
                <a:latin typeface="Times New Roman" panose="02020603050405020304" pitchFamily="18" charset="0"/>
              </a:rPr>
              <a:t>：我有课，</a:t>
            </a:r>
            <a:r>
              <a:rPr lang="en-US" altLang="zh-CN" sz="2800" i="1" dirty="0">
                <a:latin typeface="Times New Roman" panose="02020603050405020304" pitchFamily="18" charset="0"/>
              </a:rPr>
              <a:t>s</a:t>
            </a:r>
            <a:r>
              <a:rPr lang="zh-CN" altLang="en-US" sz="2800" dirty="0">
                <a:latin typeface="Times New Roman" panose="02020603050405020304" pitchFamily="18" charset="0"/>
              </a:rPr>
              <a:t>：我备课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推理的形式结构为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 </a:t>
            </a:r>
            <a:r>
              <a:rPr lang="zh-CN" altLang="en-US" sz="2800" dirty="0">
                <a:latin typeface="Times New Roman" panose="02020603050405020304" pitchFamily="18" charset="0"/>
              </a:rPr>
              <a:t>前提：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,  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, 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i="1" dirty="0">
                <a:latin typeface="Times New Roman" panose="02020603050405020304" pitchFamily="18" charset="0"/>
              </a:rPr>
              <a:t>s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</a:t>
            </a:r>
            <a:r>
              <a:rPr lang="zh-CN" altLang="en-US" sz="2800" dirty="0">
                <a:latin typeface="Times New Roman" panose="02020603050405020304" pitchFamily="18" charset="0"/>
              </a:rPr>
              <a:t>结论：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Symbol" panose="05050102010706020507" pitchFamily="18" charset="2"/>
              </a:rPr>
              <a:t>ÙØ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endParaRPr lang="en-US" altLang="zh-CN" sz="2800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78" end="1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02" end="12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25" end="1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34" end="16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charRg st="161" end="17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6149" name="Rectangle 3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证明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</a:t>
            </a:r>
            <a:r>
              <a:rPr lang="zh-CN" altLang="en-US" sz="2800" dirty="0">
                <a:latin typeface="Times New Roman" panose="02020603050405020304" pitchFamily="18" charset="0"/>
              </a:rPr>
              <a:t> ① 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 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②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i="1" dirty="0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③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①②</a:t>
            </a:r>
            <a:r>
              <a:rPr lang="zh-CN" altLang="en-US" sz="2800" dirty="0">
                <a:latin typeface="Times New Roman" panose="02020603050405020304" pitchFamily="18" charset="0"/>
              </a:rPr>
              <a:t>拒取式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④ 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⑤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)              ③④</a:t>
            </a:r>
            <a:r>
              <a:rPr lang="zh-CN" altLang="en-US" sz="2800" dirty="0">
                <a:latin typeface="Times New Roman" panose="02020603050405020304" pitchFamily="18" charset="0"/>
              </a:rPr>
              <a:t>拒取式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⑥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Symbol" panose="05050102010706020507" pitchFamily="18" charset="2"/>
              </a:rPr>
              <a:t>ÙØ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⑤</a:t>
            </a:r>
            <a:r>
              <a:rPr lang="zh-CN" altLang="en-US" sz="2800" dirty="0">
                <a:latin typeface="Times New Roman" panose="02020603050405020304" pitchFamily="18" charset="0"/>
              </a:rPr>
              <a:t>置换 </a:t>
            </a:r>
            <a:endParaRPr lang="zh-CN" altLang="en-US" sz="2800" dirty="0">
              <a:latin typeface="Times New Roman" panose="02020603050405020304" pitchFamily="18" charset="0"/>
            </a:endParaRPr>
          </a:p>
        </p:txBody>
      </p:sp>
      <p:pic>
        <p:nvPicPr>
          <p:cNvPr id="6150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7493" y="332740"/>
            <a:ext cx="4343400" cy="938213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灯片编号占位符 4"/>
          <p:cNvSpPr txBox="1">
            <a:spLocks noGrp="1"/>
          </p:cNvSpPr>
          <p:nvPr>
            <p:ph type="sldNum" sz="quarter" idx="10"/>
          </p:nvPr>
        </p:nvSpPr>
        <p:spPr>
          <a:xfrm>
            <a:off x="0" y="6400800"/>
            <a:ext cx="1447800" cy="457200"/>
          </a:xfrm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zh-CN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8195" name="Rectangle 2"/>
          <p:cNvSpPr>
            <a:spLocks noGrp="1"/>
          </p:cNvSpPr>
          <p:nvPr>
            <p:ph type="title"/>
          </p:nvPr>
        </p:nvSpPr>
        <p:spPr>
          <a:xfrm>
            <a:off x="827723" y="404813"/>
            <a:ext cx="8229600" cy="9144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b="1" dirty="0">
                <a:latin typeface="宋体" panose="02010600030101010101" pitchFamily="2" charset="-122"/>
              </a:rPr>
              <a:t>构造证明之二</a:t>
            </a:r>
            <a:r>
              <a:rPr lang="en-US" altLang="zh-CN" sz="4000" b="1" dirty="0">
                <a:latin typeface="Times New Roman" panose="02020603050405020304" pitchFamily="18" charset="0"/>
              </a:rPr>
              <a:t>——</a:t>
            </a:r>
            <a:r>
              <a:rPr lang="zh-CN" altLang="en-US" sz="4000" b="1" dirty="0">
                <a:latin typeface="宋体" panose="02010600030101010101" pitchFamily="2" charset="-122"/>
              </a:rPr>
              <a:t>附加前提证明法（</a:t>
            </a:r>
            <a:r>
              <a:rPr lang="en-US" altLang="zh-CN" sz="4000" b="1" dirty="0">
                <a:latin typeface="宋体" panose="02010600030101010101" pitchFamily="2" charset="-122"/>
              </a:rPr>
              <a:t>CP</a:t>
            </a:r>
            <a:r>
              <a:rPr lang="zh-CN" altLang="en-US" sz="4000" b="1" dirty="0">
                <a:latin typeface="宋体" panose="02010600030101010101" pitchFamily="2" charset="-122"/>
              </a:rPr>
              <a:t>规则） </a:t>
            </a:r>
            <a:endParaRPr lang="zh-CN" altLang="en-US" sz="4000" b="1" dirty="0">
              <a:latin typeface="宋体" panose="02010600030101010101" pitchFamily="2" charset="-122"/>
            </a:endParaRPr>
          </a:p>
        </p:txBody>
      </p:sp>
      <p:sp>
        <p:nvSpPr>
          <p:cNvPr id="8196" name="Rectangle 3"/>
          <p:cNvSpPr>
            <a:spLocks noGrp="1"/>
          </p:cNvSpPr>
          <p:nvPr>
            <p:ph idx="1"/>
          </p:nvPr>
        </p:nvSpPr>
        <p:spPr>
          <a:xfrm>
            <a:off x="827723" y="1412558"/>
            <a:ext cx="7704137" cy="5229225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欲证明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</a:rPr>
              <a:t>前提：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, …,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>
                <a:latin typeface="Times New Roman" panose="02020603050405020304" pitchFamily="18" charset="0"/>
              </a:rPr>
              <a:t>k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</a:rPr>
              <a:t>结论：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等价地证明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</a:rPr>
              <a:t>前提：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, …,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</a:rPr>
              <a:t>结论：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 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理由：      </a:t>
            </a:r>
            <a:r>
              <a:rPr lang="zh-CN" altLang="en-US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 </a:t>
            </a:r>
            <a:r>
              <a:rPr lang="en-US" altLang="zh-CN" sz="2800" dirty="0">
                <a:latin typeface="Symbol" panose="05050102010706020507" pitchFamily="18" charset="2"/>
              </a:rPr>
              <a:t>Û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dirty="0">
                <a:latin typeface="Times New Roman" panose="02020603050405020304" pitchFamily="18" charset="0"/>
              </a:rPr>
              <a:t>(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 </a:t>
            </a:r>
            <a:r>
              <a:rPr lang="en-US" altLang="zh-CN" sz="2800" dirty="0">
                <a:latin typeface="Symbol" panose="05050102010706020507" pitchFamily="18" charset="2"/>
              </a:rPr>
              <a:t>Û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dirty="0">
                <a:latin typeface="Times New Roman" panose="02020603050405020304" pitchFamily="18" charset="0"/>
              </a:rPr>
              <a:t>(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        </a:t>
            </a:r>
            <a:r>
              <a:rPr lang="en-US" altLang="zh-CN" sz="2800" dirty="0">
                <a:latin typeface="Symbol" panose="05050102010706020507" pitchFamily="18" charset="2"/>
              </a:rPr>
              <a:t>Û</a:t>
            </a:r>
            <a:r>
              <a:rPr lang="en-US" altLang="zh-CN" sz="2800" dirty="0">
                <a:latin typeface="Times New Roman" panose="02020603050405020304" pitchFamily="18" charset="0"/>
              </a:rPr>
              <a:t> 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C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endParaRPr lang="en-US" altLang="zh-CN" sz="2800" i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灯片编号占位符 4"/>
          <p:cNvSpPr txBox="1">
            <a:spLocks noGrp="1"/>
          </p:cNvSpPr>
          <p:nvPr>
            <p:ph type="sldNum" sz="quarter" idx="10"/>
          </p:nvPr>
        </p:nvSpPr>
        <p:spPr>
          <a:xfrm>
            <a:off x="0" y="6400800"/>
            <a:ext cx="1447800" cy="457200"/>
          </a:xfrm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zh-CN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0243" name="Rectangle 2"/>
          <p:cNvSpPr>
            <a:spLocks noGrp="1"/>
          </p:cNvSpPr>
          <p:nvPr>
            <p:ph type="title"/>
          </p:nvPr>
        </p:nvSpPr>
        <p:spPr>
          <a:xfrm>
            <a:off x="755650" y="332740"/>
            <a:ext cx="8229600" cy="990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附加前提证明法 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续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endParaRPr lang="en-US" altLang="zh-CN" b="1" dirty="0">
              <a:latin typeface="Times New Roman" panose="02020603050405020304" pitchFamily="18" charset="0"/>
            </a:endParaRPr>
          </a:p>
        </p:txBody>
      </p:sp>
      <p:sp>
        <p:nvSpPr>
          <p:cNvPr id="10244" name="Rectangle 3"/>
          <p:cNvSpPr>
            <a:spLocks noGrp="1"/>
          </p:cNvSpPr>
          <p:nvPr>
            <p:ph idx="1"/>
          </p:nvPr>
        </p:nvSpPr>
        <p:spPr>
          <a:xfrm>
            <a:off x="609600" y="6581775"/>
            <a:ext cx="7848600" cy="276225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</a:t>
            </a:r>
            <a:endParaRPr lang="en-US" altLang="zh-CN" sz="2800" b="1" dirty="0">
              <a:latin typeface="Times New Roman" panose="02020603050405020304" pitchFamily="18" charset="0"/>
            </a:endParaRPr>
          </a:p>
        </p:txBody>
      </p:sp>
      <p:graphicFrame>
        <p:nvGraphicFramePr>
          <p:cNvPr id="10245" name="Object 4"/>
          <p:cNvGraphicFramePr/>
          <p:nvPr/>
        </p:nvGraphicFramePr>
        <p:xfrm>
          <a:off x="1979613" y="4076383"/>
          <a:ext cx="5873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8" name="" r:id="rId1" imgW="587375" imgH="503555" progId="Equation.3">
                  <p:embed/>
                </p:oleObj>
              </mc:Choice>
              <mc:Fallback>
                <p:oleObj name="" r:id="rId1" imgW="587375" imgH="503555" progId="Equation.3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979613" y="4076383"/>
                        <a:ext cx="587375" cy="503237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9221" name="矩形 11"/>
          <p:cNvSpPr/>
          <p:nvPr/>
        </p:nvSpPr>
        <p:spPr>
          <a:xfrm>
            <a:off x="681673" y="1323340"/>
            <a:ext cx="7704137" cy="473773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800" b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例 构造下面推理的证明</a:t>
            </a:r>
            <a:r>
              <a:rPr lang="en-US" altLang="zh-CN" sz="2800" b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:  </a:t>
            </a:r>
            <a:endParaRPr lang="en-US" altLang="zh-CN" sz="2800" b="1" u="none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800" b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 2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是素数或合数</a:t>
            </a: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若</a:t>
            </a: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是素数，则    是无理数</a:t>
            </a: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en-US" altLang="zh-CN" sz="2800" u="none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若    是无理数，则</a:t>
            </a: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不是素数</a:t>
            </a: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.</a:t>
            </a:r>
            <a:endParaRPr lang="en-US" altLang="zh-CN" sz="2800" u="none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所以，如果</a:t>
            </a: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是素数，则</a:t>
            </a: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是合数</a:t>
            </a: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. </a:t>
            </a:r>
            <a:endParaRPr lang="en-US" altLang="zh-CN" sz="2800" u="none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800" b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     </a:t>
            </a:r>
            <a:r>
              <a:rPr lang="zh-CN" altLang="en-US" sz="2800" b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用附加前提证明法构造证明</a:t>
            </a:r>
            <a:endParaRPr lang="zh-CN" altLang="en-US" sz="2800" b="1" u="none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800" b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解 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设 </a:t>
            </a:r>
            <a:r>
              <a:rPr lang="en-US" altLang="zh-CN" sz="2800" i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是素数，</a:t>
            </a:r>
            <a:r>
              <a:rPr lang="en-US" altLang="zh-CN" sz="2800" i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2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是合数，</a:t>
            </a:r>
            <a:endParaRPr lang="zh-CN" altLang="en-US" sz="2800" u="none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          </a:t>
            </a:r>
            <a:r>
              <a:rPr lang="en-US" altLang="zh-CN" sz="2800" i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：    是无理数，</a:t>
            </a:r>
            <a:r>
              <a:rPr lang="en-US" altLang="zh-CN" sz="2800" i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：</a:t>
            </a: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4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是素数</a:t>
            </a:r>
            <a:endParaRPr lang="zh-CN" altLang="en-US" sz="2800" u="none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800" b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推理的形式结构</a:t>
            </a:r>
            <a:endParaRPr lang="zh-CN" altLang="en-US" sz="2800" b="1" u="none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zh-CN" altLang="en-US" sz="2800" b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前提：</a:t>
            </a:r>
            <a:r>
              <a:rPr lang="en-US" altLang="zh-CN" sz="2800" i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u="none" dirty="0">
                <a:solidFill>
                  <a:srgbClr val="000000"/>
                </a:solidFill>
                <a:latin typeface="Symbol" panose="05050102010706020507" pitchFamily="18" charset="2"/>
              </a:rPr>
              <a:t>Ú</a:t>
            </a:r>
            <a:r>
              <a:rPr lang="en-US" altLang="zh-CN" sz="2800" i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i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p</a:t>
            </a:r>
            <a:r>
              <a:rPr lang="en-US" altLang="zh-CN" sz="2800" u="none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lang="en-US" altLang="zh-CN" sz="2800" i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,  </a:t>
            </a:r>
            <a:r>
              <a:rPr lang="en-US" altLang="zh-CN" sz="2800" i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r</a:t>
            </a:r>
            <a:r>
              <a:rPr lang="en-US" altLang="zh-CN" sz="2800" u="none" dirty="0">
                <a:solidFill>
                  <a:srgbClr val="000000"/>
                </a:solidFill>
                <a:latin typeface="Symbol" panose="05050102010706020507" pitchFamily="18" charset="2"/>
              </a:rPr>
              <a:t>®Ø</a:t>
            </a:r>
            <a:r>
              <a:rPr lang="en-US" altLang="zh-CN" sz="2800" i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endParaRPr lang="en-US" altLang="zh-CN" sz="2800" u="none" dirty="0">
              <a:solidFill>
                <a:srgbClr val="000000"/>
              </a:solidFill>
              <a:latin typeface="Times New Roman" panose="02020603050405020304" pitchFamily="18" charset="0"/>
            </a:endParaRPr>
          </a:p>
          <a:p>
            <a:pPr marL="0" lvl="0" indent="0" eaLnBrk="1" hangingPunct="1">
              <a:lnSpc>
                <a:spcPct val="90000"/>
              </a:lnSpc>
              <a:buClrTx/>
              <a:buSzTx/>
              <a:buFontTx/>
              <a:buNone/>
            </a:pPr>
            <a:r>
              <a:rPr lang="en-US" altLang="zh-CN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    </a:t>
            </a:r>
            <a:r>
              <a:rPr lang="zh-CN" altLang="en-US" sz="2800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结论：</a:t>
            </a:r>
            <a:r>
              <a:rPr lang="en-US" altLang="zh-CN" sz="2800" i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US" altLang="zh-CN" sz="2800" u="none" dirty="0">
                <a:solidFill>
                  <a:srgbClr val="000000"/>
                </a:solidFill>
                <a:latin typeface="Symbol" panose="05050102010706020507" pitchFamily="18" charset="2"/>
              </a:rPr>
              <a:t>®</a:t>
            </a:r>
            <a:r>
              <a:rPr lang="en-US" altLang="zh-CN" sz="2800" i="1" u="none" dirty="0">
                <a:solidFill>
                  <a:srgbClr val="000000"/>
                </a:solidFill>
                <a:latin typeface="Times New Roman" panose="02020603050405020304" pitchFamily="18" charset="0"/>
              </a:rPr>
              <a:t>q</a:t>
            </a:r>
            <a:endParaRPr lang="en-US" altLang="zh-CN" sz="2800" i="1" u="none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graphicFrame>
        <p:nvGraphicFramePr>
          <p:cNvPr id="10247" name="Object 6"/>
          <p:cNvGraphicFramePr/>
          <p:nvPr/>
        </p:nvGraphicFramePr>
        <p:xfrm>
          <a:off x="6013133" y="1701165"/>
          <a:ext cx="5873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6" name="" r:id="rId3" imgW="587375" imgH="503555" progId="Equation.3">
                  <p:embed/>
                </p:oleObj>
              </mc:Choice>
              <mc:Fallback>
                <p:oleObj name="" r:id="rId3" imgW="587375" imgH="503555" progId="Equation.3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013133" y="1701165"/>
                        <a:ext cx="58737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248" name="Object 7"/>
          <p:cNvGraphicFramePr/>
          <p:nvPr/>
        </p:nvGraphicFramePr>
        <p:xfrm>
          <a:off x="1475740" y="2132965"/>
          <a:ext cx="587375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7" name="" r:id="rId4" imgW="587375" imgH="503555" progId="Equation.3">
                  <p:embed/>
                </p:oleObj>
              </mc:Choice>
              <mc:Fallback>
                <p:oleObj name="" r:id="rId4" imgW="587375" imgH="503555" progId="Equation.3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1475740" y="2132965"/>
                        <a:ext cx="587375" cy="503238"/>
                      </a:xfrm>
                      <a:prstGeom prst="rect">
                        <a:avLst/>
                      </a:prstGeom>
                      <a:noFill/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charRg st="113" end="1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charRg st="132" end="1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charRg st="160" end="16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charRg st="168" end="1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1">
                                            <p:txEl>
                                              <p:charRg st="192" end="20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灯片编号占位符 4"/>
          <p:cNvSpPr txBox="1">
            <a:spLocks noGrp="1"/>
          </p:cNvSpPr>
          <p:nvPr>
            <p:ph type="sldNum" sz="quarter" idx="10"/>
          </p:nvPr>
        </p:nvSpPr>
        <p:spPr>
          <a:xfrm>
            <a:off x="0" y="6400800"/>
            <a:ext cx="1447800" cy="457200"/>
          </a:xfrm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zh-CN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2291" name="Rectangle 2"/>
          <p:cNvSpPr>
            <a:spLocks noGrp="1"/>
          </p:cNvSpPr>
          <p:nvPr>
            <p:ph type="title"/>
          </p:nvPr>
        </p:nvSpPr>
        <p:spPr>
          <a:xfrm>
            <a:off x="828040" y="404178"/>
            <a:ext cx="8229600" cy="990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sz="4000" b="1" dirty="0">
                <a:latin typeface="Times New Roman" panose="02020603050405020304" pitchFamily="18" charset="0"/>
              </a:rPr>
              <a:t>附加前提证明法 </a:t>
            </a:r>
            <a:r>
              <a:rPr lang="en-US" altLang="zh-CN" sz="4000" b="1" dirty="0">
                <a:latin typeface="Times New Roman" panose="02020603050405020304" pitchFamily="18" charset="0"/>
              </a:rPr>
              <a:t>(</a:t>
            </a:r>
            <a:r>
              <a:rPr lang="zh-CN" altLang="en-US" sz="4000" b="1" dirty="0">
                <a:latin typeface="Times New Roman" panose="02020603050405020304" pitchFamily="18" charset="0"/>
              </a:rPr>
              <a:t>续</a:t>
            </a:r>
            <a:r>
              <a:rPr lang="en-US" altLang="zh-CN" sz="4000" b="1" dirty="0">
                <a:latin typeface="Times New Roman" panose="02020603050405020304" pitchFamily="18" charset="0"/>
              </a:rPr>
              <a:t>)</a:t>
            </a:r>
            <a:endParaRPr lang="en-US" altLang="zh-CN" sz="4000" b="1" dirty="0">
              <a:latin typeface="Times New Roman" panose="02020603050405020304" pitchFamily="18" charset="0"/>
            </a:endParaRPr>
          </a:p>
        </p:txBody>
      </p:sp>
      <p:sp>
        <p:nvSpPr>
          <p:cNvPr id="12292" name="Rectangle 3"/>
          <p:cNvSpPr>
            <a:spLocks noGrp="1"/>
          </p:cNvSpPr>
          <p:nvPr>
            <p:ph idx="1"/>
          </p:nvPr>
        </p:nvSpPr>
        <p:spPr>
          <a:xfrm>
            <a:off x="682625" y="1843088"/>
            <a:ext cx="7780338" cy="4346575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证明  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</a:t>
            </a:r>
            <a:r>
              <a:rPr lang="zh-CN" altLang="en-US" sz="2800" dirty="0">
                <a:latin typeface="Times New Roman" panose="02020603050405020304" pitchFamily="18" charset="0"/>
              </a:rPr>
              <a:t>① </a:t>
            </a:r>
            <a:r>
              <a:rPr lang="en-US" altLang="zh-CN" sz="2800" i="1" dirty="0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附加前提引入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② 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③ </a:t>
            </a:r>
            <a:r>
              <a:rPr lang="en-US" altLang="zh-CN" sz="2800" i="1" dirty="0">
                <a:latin typeface="Times New Roman" panose="02020603050405020304" pitchFamily="18" charset="0"/>
              </a:rPr>
              <a:t>r</a:t>
            </a:r>
            <a:r>
              <a:rPr lang="en-US" altLang="zh-CN" sz="2800" dirty="0">
                <a:latin typeface="Symbol" panose="05050102010706020507" pitchFamily="18" charset="2"/>
              </a:rPr>
              <a:t>®Ø</a:t>
            </a:r>
            <a:r>
              <a:rPr lang="en-US" altLang="zh-CN" sz="2800" i="1" dirty="0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④ 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Symbol" panose="05050102010706020507" pitchFamily="18" charset="2"/>
              </a:rPr>
              <a:t>®Ø</a:t>
            </a:r>
            <a:r>
              <a:rPr lang="en-US" altLang="zh-CN" sz="2800" i="1" dirty="0">
                <a:latin typeface="Times New Roman" panose="02020603050405020304" pitchFamily="18" charset="0"/>
              </a:rPr>
              <a:t>s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②③</a:t>
            </a:r>
            <a:r>
              <a:rPr lang="zh-CN" altLang="en-US" sz="2800" dirty="0">
                <a:latin typeface="Times New Roman" panose="02020603050405020304" pitchFamily="18" charset="0"/>
              </a:rPr>
              <a:t>假言三段论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⑤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①④</a:t>
            </a:r>
            <a:r>
              <a:rPr lang="zh-CN" altLang="en-US" sz="2800" dirty="0">
                <a:latin typeface="Times New Roman" panose="02020603050405020304" pitchFamily="18" charset="0"/>
              </a:rPr>
              <a:t>拒取式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⑥ </a:t>
            </a:r>
            <a:r>
              <a:rPr lang="en-US" altLang="zh-CN" sz="2800" i="1" dirty="0">
                <a:latin typeface="Times New Roman" panose="02020603050405020304" pitchFamily="18" charset="0"/>
              </a:rPr>
              <a:t>p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</a:t>
            </a:r>
            <a:r>
              <a:rPr lang="zh-CN" altLang="en-US" sz="2800" dirty="0">
                <a:latin typeface="Times New Roman" panose="02020603050405020304" pitchFamily="18" charset="0"/>
              </a:rPr>
              <a:t>前提引入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dirty="0">
                <a:latin typeface="Times New Roman" panose="02020603050405020304" pitchFamily="18" charset="0"/>
              </a:rPr>
              <a:t>   ⑦ </a:t>
            </a:r>
            <a:r>
              <a:rPr lang="en-US" altLang="zh-CN" sz="2800" i="1" dirty="0">
                <a:latin typeface="Times New Roman" panose="02020603050405020304" pitchFamily="18" charset="0"/>
              </a:rPr>
              <a:t>q</a:t>
            </a:r>
            <a:r>
              <a:rPr lang="en-US" altLang="zh-CN" sz="2800" dirty="0">
                <a:latin typeface="Times New Roman" panose="02020603050405020304" pitchFamily="18" charset="0"/>
              </a:rPr>
              <a:t>                       ⑤⑥</a:t>
            </a:r>
            <a:r>
              <a:rPr lang="zh-CN" altLang="en-US" sz="2800" dirty="0">
                <a:latin typeface="Times New Roman" panose="02020603050405020304" pitchFamily="18" charset="0"/>
              </a:rPr>
              <a:t>析取三段论</a:t>
            </a:r>
            <a:endParaRPr lang="zh-CN" altLang="en-US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请用直接证明法证明之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  <p:pic>
        <p:nvPicPr>
          <p:cNvPr id="12293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36235" y="332740"/>
            <a:ext cx="3954463" cy="8255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en-US" altLang="zh-CN" dirty="0"/>
              <a:t> 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7655" y="1269365"/>
            <a:ext cx="8817610" cy="4462145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设有下列情况，判断论证是否有效。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1) </a:t>
            </a:r>
            <a:r>
              <a:rPr lang="zh-CN" altLang="en-US" sz="2400" dirty="0">
                <a:latin typeface="Times New Roman" panose="02020603050405020304" pitchFamily="18" charset="0"/>
              </a:rPr>
              <a:t>如果我不去玩游戏，我会有充足的时间；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2) </a:t>
            </a:r>
            <a:r>
              <a:rPr lang="zh-CN" altLang="en-US" sz="2400" dirty="0">
                <a:latin typeface="Times New Roman" panose="02020603050405020304" pitchFamily="18" charset="0"/>
              </a:rPr>
              <a:t>假如我有充足的时间，我就会认真复习英语；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en-US" altLang="zh-CN" sz="2400" dirty="0">
                <a:latin typeface="Times New Roman" panose="02020603050405020304" pitchFamily="18" charset="0"/>
              </a:rPr>
              <a:t>3) </a:t>
            </a:r>
            <a:r>
              <a:rPr lang="zh-CN" altLang="en-US" sz="2400" dirty="0">
                <a:latin typeface="Times New Roman" panose="02020603050405020304" pitchFamily="18" charset="0"/>
              </a:rPr>
              <a:t>如果我认真复习英语，我的英语考试就不会不及格。      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结论：我的英语考试没及格，所以我肯定去玩游戏了。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800" b="1" dirty="0">
                <a:latin typeface="Times New Roman" panose="02020603050405020304" pitchFamily="18" charset="0"/>
              </a:rPr>
              <a:t>证明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 首先将前提和结论符号化。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  </a:t>
            </a:r>
            <a:r>
              <a:rPr lang="en-US" altLang="zh-CN" sz="2400" dirty="0">
                <a:latin typeface="Times New Roman" panose="02020603050405020304" pitchFamily="18" charset="0"/>
              </a:rPr>
              <a:t>	P</a:t>
            </a:r>
            <a:r>
              <a:rPr lang="zh-CN" altLang="en-US" sz="2400" dirty="0">
                <a:latin typeface="Times New Roman" panose="02020603050405020304" pitchFamily="18" charset="0"/>
              </a:rPr>
              <a:t>：我去玩游戏。    </a:t>
            </a:r>
            <a:r>
              <a:rPr lang="en-US" altLang="zh-CN" sz="2400" dirty="0">
                <a:latin typeface="Times New Roman" panose="02020603050405020304" pitchFamily="18" charset="0"/>
              </a:rPr>
              <a:t>Q</a:t>
            </a:r>
            <a:r>
              <a:rPr lang="zh-CN" altLang="en-US" sz="2400" dirty="0">
                <a:latin typeface="Times New Roman" panose="02020603050405020304" pitchFamily="18" charset="0"/>
              </a:rPr>
              <a:t>：我有充足的时间。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 </a:t>
            </a:r>
            <a:r>
              <a:rPr lang="en-US" altLang="zh-CN" sz="2400" dirty="0">
                <a:latin typeface="Times New Roman" panose="02020603050405020304" pitchFamily="18" charset="0"/>
              </a:rPr>
              <a:t>	R</a:t>
            </a:r>
            <a:r>
              <a:rPr lang="zh-CN" altLang="en-US" sz="2400" dirty="0">
                <a:latin typeface="Times New Roman" panose="02020603050405020304" pitchFamily="18" charset="0"/>
              </a:rPr>
              <a:t>：我复习英语。 </a:t>
            </a:r>
            <a:r>
              <a:rPr lang="en-US" altLang="zh-CN" sz="2400" dirty="0">
                <a:latin typeface="Times New Roman" panose="02020603050405020304" pitchFamily="18" charset="0"/>
              </a:rPr>
              <a:t>S</a:t>
            </a:r>
            <a:r>
              <a:rPr lang="zh-CN" altLang="en-US" sz="2400" dirty="0">
                <a:latin typeface="Times New Roman" panose="02020603050405020304" pitchFamily="18" charset="0"/>
              </a:rPr>
              <a:t>：我的英语考试及格了。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前提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</a:rPr>
              <a:t>P→Q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</a:rPr>
              <a:t>Q→R</a:t>
            </a:r>
            <a:r>
              <a:rPr lang="zh-CN" altLang="en-US" sz="2400" dirty="0">
                <a:latin typeface="Times New Roman" panose="02020603050405020304" pitchFamily="18" charset="0"/>
              </a:rPr>
              <a:t>，</a:t>
            </a:r>
            <a:r>
              <a:rPr lang="en-US" altLang="zh-CN" sz="2400" dirty="0">
                <a:latin typeface="Times New Roman" panose="02020603050405020304" pitchFamily="18" charset="0"/>
              </a:rPr>
              <a:t>R→S, </a:t>
            </a:r>
            <a:r>
              <a:rPr lang="zh-CN" altLang="en-US" sz="2400" dirty="0">
                <a:latin typeface="Times New Roman" panose="02020603050405020304" pitchFamily="18" charset="0"/>
              </a:rPr>
              <a:t>结论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</a:rPr>
              <a:t>S→P </a:t>
            </a:r>
            <a:r>
              <a:rPr lang="zh-CN" altLang="en-US" sz="2400" dirty="0">
                <a:latin typeface="Times New Roman" panose="02020603050405020304" pitchFamily="18" charset="0"/>
              </a:rPr>
              <a:t>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lvl="1" algn="just">
              <a:lnSpc>
                <a:spcPct val="120000"/>
              </a:lnSpc>
              <a:spcBef>
                <a:spcPct val="0"/>
              </a:spcBef>
            </a:pPr>
            <a:r>
              <a:rPr lang="zh-CN" altLang="en-US" sz="2400" dirty="0">
                <a:latin typeface="Times New Roman" panose="02020603050405020304" pitchFamily="18" charset="0"/>
              </a:rPr>
              <a:t>由于结论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</a:rPr>
              <a:t>S→P</a:t>
            </a:r>
            <a:r>
              <a:rPr lang="zh-CN" altLang="en-US" sz="2400" dirty="0">
                <a:latin typeface="Times New Roman" panose="02020603050405020304" pitchFamily="18" charset="0"/>
              </a:rPr>
              <a:t>是一个条件式</a:t>
            </a:r>
            <a:r>
              <a:rPr lang="en-US" altLang="zh-CN" sz="2400" dirty="0">
                <a:latin typeface="Times New Roman" panose="02020603050405020304" pitchFamily="18" charset="0"/>
              </a:rPr>
              <a:t>,</a:t>
            </a:r>
            <a:r>
              <a:rPr lang="zh-CN" altLang="en-US" sz="2400" dirty="0">
                <a:latin typeface="Times New Roman" panose="02020603050405020304" pitchFamily="18" charset="0"/>
              </a:rPr>
              <a:t>故可采用</a:t>
            </a:r>
            <a:r>
              <a:rPr lang="en-US" altLang="zh-CN" sz="2400" dirty="0">
                <a:latin typeface="Times New Roman" panose="02020603050405020304" pitchFamily="18" charset="0"/>
              </a:rPr>
              <a:t>CP</a:t>
            </a:r>
            <a:r>
              <a:rPr lang="zh-CN" altLang="en-US" sz="2400" dirty="0">
                <a:latin typeface="Times New Roman" panose="02020603050405020304" pitchFamily="18" charset="0"/>
              </a:rPr>
              <a:t>规则来证明。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algn="just">
              <a:lnSpc>
                <a:spcPct val="120000"/>
              </a:lnSpc>
              <a:spcBef>
                <a:spcPct val="0"/>
              </a:spcBef>
            </a:pPr>
            <a:endParaRPr lang="zh-CN" altLang="en-US" sz="2400" b="1" dirty="0">
              <a:latin typeface="Times New Roman" panose="02020603050405020304" pitchFamily="18" charset="0"/>
            </a:endParaRPr>
          </a:p>
        </p:txBody>
      </p:sp>
      <p:sp>
        <p:nvSpPr>
          <p:cNvPr id="14340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1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2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4343" name="标题 1"/>
          <p:cNvSpPr txBox="1"/>
          <p:nvPr/>
        </p:nvSpPr>
        <p:spPr>
          <a:xfrm>
            <a:off x="899795" y="188595"/>
            <a:ext cx="7793038" cy="11430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4400" dirty="0">
                <a:solidFill>
                  <a:schemeClr val="tx2"/>
                </a:solidFill>
                <a:latin typeface="Copperplate Gothic Light" panose="020E0507020206020404" pitchFamily="34" charset="0"/>
              </a:rPr>
              <a:t>课堂练习</a:t>
            </a:r>
            <a:endParaRPr lang="zh-CN" altLang="en-US" sz="4400" dirty="0">
              <a:solidFill>
                <a:schemeClr val="tx2"/>
              </a:solidFill>
              <a:latin typeface="Copperplate Gothic Light" panose="020E05070202060204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1" end="1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4" end="13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38" end="16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64" end="18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88" end="2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214" end="24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标题 1"/>
          <p:cNvSpPr>
            <a:spLocks noGrp="1"/>
          </p:cNvSpPr>
          <p:nvPr>
            <p:ph type="title"/>
          </p:nvPr>
        </p:nvSpPr>
        <p:spPr>
          <a:xfrm>
            <a:off x="939800" y="116840"/>
            <a:ext cx="7793038" cy="1143000"/>
          </a:xfrm>
        </p:spPr>
        <p:txBody>
          <a:bodyPr vert="horz" wrap="square" lIns="91440" tIns="45720" rIns="91440" bIns="45720" anchor="b" anchorCtr="0"/>
          <a:p>
            <a:r>
              <a:rPr lang="zh-CN" altLang="en-US" dirty="0"/>
              <a:t>证明</a:t>
            </a:r>
            <a:endParaRPr lang="zh-CN" altLang="en-US" dirty="0"/>
          </a:p>
        </p:txBody>
      </p:sp>
      <p:sp>
        <p:nvSpPr>
          <p:cNvPr id="16387" name="内容占位符 2"/>
          <p:cNvSpPr>
            <a:spLocks noGrp="1"/>
          </p:cNvSpPr>
          <p:nvPr>
            <p:ph idx="1"/>
          </p:nvPr>
        </p:nvSpPr>
        <p:spPr>
          <a:xfrm>
            <a:off x="866458" y="1412558"/>
            <a:ext cx="8277225" cy="4114800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(1)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</a:rPr>
              <a:t>P→Q    P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(2) Q→R       P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(3)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</a:rPr>
              <a:t>P→R      (1)(2),</a:t>
            </a:r>
            <a:r>
              <a:rPr lang="zh-CN" altLang="en-US" sz="2400" dirty="0">
                <a:latin typeface="Times New Roman" panose="02020603050405020304" pitchFamily="18" charset="0"/>
              </a:rPr>
              <a:t>假言三段论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(4)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</a:rPr>
              <a:t>R→P      (3),</a:t>
            </a:r>
            <a:r>
              <a:rPr lang="zh-CN" altLang="en-US" sz="2400" dirty="0">
                <a:latin typeface="Times New Roman" panose="02020603050405020304" pitchFamily="18" charset="0"/>
              </a:rPr>
              <a:t>蕴含等值式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(5)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</a:rPr>
              <a:t>S              P</a:t>
            </a:r>
            <a:r>
              <a:rPr lang="zh-CN" altLang="en-US" sz="2400" dirty="0">
                <a:latin typeface="Times New Roman" panose="02020603050405020304" pitchFamily="18" charset="0"/>
              </a:rPr>
              <a:t>（附加前提）</a:t>
            </a:r>
            <a:endParaRPr lang="zh-CN" altLang="en-US" sz="24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(6) R→S          P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(7)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</a:rPr>
              <a:t>S→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</a:rPr>
              <a:t>R    (6), ),</a:t>
            </a:r>
            <a:r>
              <a:rPr lang="zh-CN" altLang="en-US" sz="2400" dirty="0">
                <a:latin typeface="Times New Roman" panose="02020603050405020304" pitchFamily="18" charset="0"/>
              </a:rPr>
              <a:t>蕴含等值式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(8) 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400" dirty="0">
                <a:latin typeface="Times New Roman" panose="02020603050405020304" pitchFamily="18" charset="0"/>
              </a:rPr>
              <a:t>R             (5)(7),</a:t>
            </a:r>
            <a:r>
              <a:rPr lang="zh-CN" altLang="en-US" sz="2400" dirty="0">
                <a:latin typeface="Times New Roman" panose="02020603050405020304" pitchFamily="18" charset="0"/>
              </a:rPr>
              <a:t>假言推理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Times New Roman" panose="02020603050405020304" pitchFamily="18" charset="0"/>
              </a:rPr>
              <a:t>(9) P                (4)(8),</a:t>
            </a:r>
            <a:r>
              <a:rPr lang="zh-CN" altLang="en-US" sz="2400" dirty="0">
                <a:latin typeface="Times New Roman" panose="02020603050405020304" pitchFamily="18" charset="0"/>
              </a:rPr>
              <a:t>假言推理</a:t>
            </a:r>
            <a:endParaRPr lang="en-US" altLang="zh-CN" sz="24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spcBef>
                <a:spcPct val="0"/>
              </a:spcBef>
              <a:buNone/>
            </a:pPr>
            <a:r>
              <a:rPr lang="zh-CN" altLang="en-US" sz="2400" dirty="0">
                <a:latin typeface="Times New Roman" panose="02020603050405020304" pitchFamily="18" charset="0"/>
              </a:rPr>
              <a:t>所以结论有效。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1638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8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639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491865" y="332740"/>
            <a:ext cx="4572000" cy="7067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000" i="0" u="none" dirty="0">
                <a:sym typeface="+mn-ea"/>
              </a:rPr>
              <a:t>前提 </a:t>
            </a:r>
            <a:r>
              <a:rPr lang="en-US" altLang="zh-CN" sz="2000" i="0" u="none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000" i="0" u="none" dirty="0">
                <a:sym typeface="+mn-ea"/>
              </a:rPr>
              <a:t>P→Q</a:t>
            </a:r>
            <a:r>
              <a:rPr lang="zh-CN" altLang="en-US" sz="2000" i="0" u="none" dirty="0">
                <a:sym typeface="+mn-ea"/>
              </a:rPr>
              <a:t>，</a:t>
            </a:r>
            <a:r>
              <a:rPr lang="en-US" altLang="zh-CN" sz="2000" i="0" u="none" dirty="0">
                <a:sym typeface="+mn-ea"/>
              </a:rPr>
              <a:t>Q→R</a:t>
            </a:r>
            <a:r>
              <a:rPr lang="zh-CN" altLang="en-US" sz="2000" i="0" u="none" dirty="0">
                <a:sym typeface="+mn-ea"/>
              </a:rPr>
              <a:t>，</a:t>
            </a:r>
            <a:r>
              <a:rPr lang="en-US" altLang="zh-CN" sz="2000" i="0" u="none" dirty="0">
                <a:sym typeface="+mn-ea"/>
              </a:rPr>
              <a:t>R→S, </a:t>
            </a:r>
            <a:endParaRPr lang="en-US" altLang="zh-CN" sz="2000" i="0" u="none" dirty="0">
              <a:sym typeface="+mn-ea"/>
            </a:endParaRPr>
          </a:p>
          <a:p>
            <a:r>
              <a:rPr lang="zh-CN" altLang="en-US" sz="2000" i="0" u="none" dirty="0">
                <a:sym typeface="+mn-ea"/>
              </a:rPr>
              <a:t>结论</a:t>
            </a:r>
            <a:r>
              <a:rPr lang="en-US" altLang="zh-CN" sz="2000" i="0" u="none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000" i="0" u="none" dirty="0">
                <a:sym typeface="+mn-ea"/>
              </a:rPr>
              <a:t>S→P </a:t>
            </a:r>
            <a:endParaRPr lang="en-US" altLang="zh-CN" sz="2000" i="0" u="none" dirty="0">
              <a:sym typeface="+mn-e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灯片编号占位符 4"/>
          <p:cNvSpPr txBox="1">
            <a:spLocks noGrp="1"/>
          </p:cNvSpPr>
          <p:nvPr>
            <p:ph type="sldNum" sz="quarter" idx="10"/>
          </p:nvPr>
        </p:nvSpPr>
        <p:spPr>
          <a:xfrm>
            <a:off x="0" y="6400800"/>
            <a:ext cx="1447800" cy="457200"/>
          </a:xfrm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zh-CN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xfrm>
            <a:off x="755650" y="332740"/>
            <a:ext cx="8686800" cy="990600"/>
          </a:xfrm>
        </p:spPr>
        <p:txBody>
          <a:bodyPr vert="horz" wrap="square" lIns="91440" tIns="45720" rIns="91440" bIns="45720" anchor="b" anchorCtr="0"/>
          <a:p>
            <a:pPr eaLnBrk="1" hangingPunct="1"/>
            <a:r>
              <a:rPr lang="zh-CN" altLang="en-US" b="1" dirty="0">
                <a:latin typeface="Times New Roman" panose="02020603050405020304" pitchFamily="18" charset="0"/>
              </a:rPr>
              <a:t>构造证明之三</a:t>
            </a:r>
            <a:r>
              <a:rPr lang="en-US" altLang="zh-CN" b="1" dirty="0">
                <a:latin typeface="Times New Roman" panose="02020603050405020304" pitchFamily="18" charset="0"/>
              </a:rPr>
              <a:t>——</a:t>
            </a:r>
            <a:r>
              <a:rPr lang="zh-CN" altLang="en-US" b="1" dirty="0">
                <a:latin typeface="Times New Roman" panose="02020603050405020304" pitchFamily="18" charset="0"/>
              </a:rPr>
              <a:t>归谬法</a:t>
            </a:r>
            <a:r>
              <a:rPr lang="en-US" altLang="zh-CN" b="1" dirty="0">
                <a:latin typeface="Times New Roman" panose="02020603050405020304" pitchFamily="18" charset="0"/>
              </a:rPr>
              <a:t>(</a:t>
            </a:r>
            <a:r>
              <a:rPr lang="zh-CN" altLang="en-US" b="1" dirty="0">
                <a:latin typeface="Times New Roman" panose="02020603050405020304" pitchFamily="18" charset="0"/>
              </a:rPr>
              <a:t>反证法</a:t>
            </a:r>
            <a:r>
              <a:rPr lang="en-US" altLang="zh-CN" b="1" dirty="0">
                <a:latin typeface="Times New Roman" panose="02020603050405020304" pitchFamily="18" charset="0"/>
              </a:rPr>
              <a:t>)</a:t>
            </a:r>
            <a:r>
              <a:rPr lang="zh-CN" altLang="en-US" sz="4000" b="1" dirty="0">
                <a:latin typeface="Times New Roman" panose="02020603050405020304" pitchFamily="18" charset="0"/>
              </a:rPr>
              <a:t> </a:t>
            </a:r>
            <a:endParaRPr lang="zh-CN" altLang="en-US" sz="4000" b="1" dirty="0">
              <a:latin typeface="Times New Roman" panose="02020603050405020304" pitchFamily="18" charset="0"/>
            </a:endParaRPr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899478" y="1449705"/>
            <a:ext cx="7921625" cy="4824413"/>
          </a:xfrm>
        </p:spPr>
        <p:txBody>
          <a:bodyPr vert="horz" wrap="square" lIns="91440" tIns="45720" rIns="91440" bIns="45720" anchor="t" anchorCtr="0"/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欲证明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</a:rPr>
              <a:t>前提：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Times New Roman" panose="02020603050405020304" pitchFamily="18" charset="0"/>
              </a:rPr>
              <a:t>,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Times New Roman" panose="02020603050405020304" pitchFamily="18" charset="0"/>
              </a:rPr>
              <a:t>, … ,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  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</a:t>
            </a:r>
            <a:r>
              <a:rPr lang="zh-CN" altLang="en-US" sz="2800" dirty="0">
                <a:latin typeface="Times New Roman" panose="02020603050405020304" pitchFamily="18" charset="0"/>
              </a:rPr>
              <a:t>结论：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将</a:t>
            </a:r>
            <a:r>
              <a:rPr lang="en-US" altLang="zh-CN" sz="2800" b="1" dirty="0">
                <a:latin typeface="Symbol" panose="05050102010706020507" pitchFamily="18" charset="2"/>
              </a:rPr>
              <a:t>Ø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zh-CN" altLang="en-US" sz="2800" b="1" dirty="0">
                <a:latin typeface="Times New Roman" panose="02020603050405020304" pitchFamily="18" charset="0"/>
              </a:rPr>
              <a:t>加入前提，若推出矛盾，则得证推理正确</a:t>
            </a:r>
            <a:r>
              <a:rPr lang="en-US" altLang="zh-CN" sz="2800" b="1" dirty="0">
                <a:latin typeface="Times New Roman" panose="02020603050405020304" pitchFamily="18" charset="0"/>
              </a:rPr>
              <a:t>.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理由</a:t>
            </a:r>
            <a:r>
              <a:rPr lang="en-US" altLang="zh-CN" sz="2800" b="1" dirty="0">
                <a:latin typeface="Times New Roman" panose="02020603050405020304" pitchFamily="18" charset="0"/>
              </a:rPr>
              <a:t>:</a:t>
            </a:r>
            <a:endParaRPr lang="en-US" altLang="zh-CN" sz="2800" b="1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800" b="1" dirty="0">
                <a:latin typeface="Times New Roman" panose="02020603050405020304" pitchFamily="18" charset="0"/>
              </a:rPr>
              <a:t>            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Symbol" panose="05050102010706020507" pitchFamily="18" charset="2"/>
              </a:rPr>
              <a:t>®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</a:t>
            </a:r>
            <a:r>
              <a:rPr lang="en-US" altLang="zh-CN" sz="2800" dirty="0">
                <a:latin typeface="Symbol" panose="05050102010706020507" pitchFamily="18" charset="2"/>
              </a:rPr>
              <a:t>Û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r>
              <a:rPr lang="en-US" altLang="zh-CN" sz="2800" dirty="0">
                <a:latin typeface="Symbol" panose="05050102010706020507" pitchFamily="18" charset="2"/>
              </a:rPr>
              <a:t>Ú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algn="just" eaLnBrk="1" hangingPunct="1">
              <a:lnSpc>
                <a:spcPct val="90000"/>
              </a:lnSpc>
              <a:buNone/>
            </a:pPr>
            <a:r>
              <a:rPr lang="en-US" altLang="zh-CN" sz="2800" dirty="0">
                <a:latin typeface="Times New Roman" panose="02020603050405020304" pitchFamily="18" charset="0"/>
              </a:rPr>
              <a:t>      </a:t>
            </a:r>
            <a:r>
              <a:rPr lang="en-US" altLang="zh-CN" sz="2800" dirty="0">
                <a:latin typeface="Symbol" panose="05050102010706020507" pitchFamily="18" charset="2"/>
              </a:rPr>
              <a:t>Û</a:t>
            </a:r>
            <a:r>
              <a:rPr lang="en-US" altLang="zh-CN" sz="2800" dirty="0">
                <a:latin typeface="Times New Roman" panose="02020603050405020304" pitchFamily="18" charset="0"/>
              </a:rPr>
              <a:t> </a:t>
            </a:r>
            <a:r>
              <a:rPr lang="en-US" altLang="zh-CN" sz="2800" dirty="0">
                <a:latin typeface="Symbol" panose="05050102010706020507" pitchFamily="18" charset="2"/>
              </a:rPr>
              <a:t>Ø</a:t>
            </a:r>
            <a:r>
              <a:rPr lang="en-US" altLang="zh-CN" sz="2800" dirty="0">
                <a:latin typeface="Times New Roman" panose="02020603050405020304" pitchFamily="18" charset="0"/>
              </a:rPr>
              <a:t>(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dirty="0">
                <a:latin typeface="Times New Roman" panose="02020603050405020304" pitchFamily="18" charset="0"/>
              </a:rPr>
              <a:t>…</a:t>
            </a:r>
            <a:r>
              <a:rPr lang="en-US" altLang="zh-CN" sz="2800" dirty="0">
                <a:latin typeface="Symbol" panose="05050102010706020507" pitchFamily="18" charset="2"/>
              </a:rPr>
              <a:t>Ù</a:t>
            </a:r>
            <a:r>
              <a:rPr lang="en-US" altLang="zh-CN" sz="2800" i="1" dirty="0">
                <a:latin typeface="Times New Roman" panose="02020603050405020304" pitchFamily="18" charset="0"/>
              </a:rPr>
              <a:t>A</a:t>
            </a:r>
            <a:r>
              <a:rPr lang="en-US" altLang="zh-CN" sz="2800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800" dirty="0">
                <a:latin typeface="Symbol" panose="05050102010706020507" pitchFamily="18" charset="2"/>
              </a:rPr>
              <a:t>ÙØ</a:t>
            </a:r>
            <a:r>
              <a:rPr lang="en-US" altLang="zh-CN" sz="2800" i="1" dirty="0">
                <a:latin typeface="Times New Roman" panose="02020603050405020304" pitchFamily="18" charset="0"/>
              </a:rPr>
              <a:t>B</a:t>
            </a:r>
            <a:r>
              <a:rPr lang="en-US" altLang="zh-CN" sz="2800" dirty="0">
                <a:latin typeface="Times New Roman" panose="02020603050405020304" pitchFamily="18" charset="0"/>
              </a:rPr>
              <a:t>)</a:t>
            </a:r>
            <a:endParaRPr lang="en-US" altLang="zh-CN" sz="2800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括号内部为矛盾式当且仅当 </a:t>
            </a:r>
            <a:r>
              <a:rPr lang="en-US" altLang="zh-CN" sz="2800" b="1" dirty="0">
                <a:latin typeface="Times New Roman" panose="02020603050405020304" pitchFamily="18" charset="0"/>
              </a:rPr>
              <a:t>(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1</a:t>
            </a:r>
            <a:r>
              <a:rPr lang="en-US" altLang="zh-CN" sz="2800" b="1" dirty="0">
                <a:latin typeface="Symbol" panose="05050102010706020507" pitchFamily="18" charset="2"/>
              </a:rPr>
              <a:t>Ù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baseline="-30000" dirty="0">
                <a:latin typeface="Times New Roman" panose="02020603050405020304" pitchFamily="18" charset="0"/>
              </a:rPr>
              <a:t>2</a:t>
            </a:r>
            <a:r>
              <a:rPr lang="en-US" altLang="zh-CN" sz="2800" b="1" dirty="0">
                <a:latin typeface="Symbol" panose="05050102010706020507" pitchFamily="18" charset="2"/>
              </a:rPr>
              <a:t>Ù</a:t>
            </a:r>
            <a:r>
              <a:rPr lang="en-US" altLang="zh-CN" sz="2800" b="1" dirty="0">
                <a:latin typeface="Times New Roman" panose="02020603050405020304" pitchFamily="18" charset="0"/>
              </a:rPr>
              <a:t>…</a:t>
            </a:r>
            <a:r>
              <a:rPr lang="en-US" altLang="zh-CN" sz="2800" b="1" dirty="0">
                <a:latin typeface="Symbol" panose="05050102010706020507" pitchFamily="18" charset="2"/>
              </a:rPr>
              <a:t>Ù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A</a:t>
            </a:r>
            <a:r>
              <a:rPr lang="en-US" altLang="zh-CN" sz="2800" b="1" i="1" baseline="-30000" dirty="0">
                <a:latin typeface="Times New Roman" panose="02020603050405020304" pitchFamily="18" charset="0"/>
              </a:rPr>
              <a:t>k</a:t>
            </a:r>
            <a:r>
              <a:rPr lang="en-US" altLang="zh-CN" sz="2800" b="1" dirty="0">
                <a:latin typeface="Symbol" panose="05050102010706020507" pitchFamily="18" charset="2"/>
              </a:rPr>
              <a:t>®</a:t>
            </a:r>
            <a:r>
              <a:rPr lang="en-US" altLang="zh-CN" sz="2800" b="1" i="1" dirty="0">
                <a:latin typeface="Times New Roman" panose="02020603050405020304" pitchFamily="18" charset="0"/>
              </a:rPr>
              <a:t>B</a:t>
            </a:r>
            <a:r>
              <a:rPr lang="en-US" altLang="zh-CN" sz="2800" b="1" dirty="0">
                <a:latin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</a:rPr>
              <a:t>为</a:t>
            </a:r>
            <a:endParaRPr lang="zh-CN" altLang="en-US" sz="2800" b="1" dirty="0">
              <a:latin typeface="Times New Roman" panose="02020603050405020304" pitchFamily="18" charset="0"/>
            </a:endParaRPr>
          </a:p>
          <a:p>
            <a:pPr eaLnBrk="1" hangingPunct="1">
              <a:lnSpc>
                <a:spcPct val="90000"/>
              </a:lnSpc>
              <a:buNone/>
            </a:pPr>
            <a:r>
              <a:rPr lang="zh-CN" altLang="en-US" sz="2800" b="1" dirty="0">
                <a:latin typeface="Times New Roman" panose="02020603050405020304" pitchFamily="18" charset="0"/>
              </a:rPr>
              <a:t>重言式 </a:t>
            </a:r>
            <a:endParaRPr lang="zh-CN" altLang="en-US" sz="2800" b="1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3490" name="灯片编号占位符 4"/>
          <p:cNvSpPr txBox="1">
            <a:spLocks noGrp="1"/>
          </p:cNvSpPr>
          <p:nvPr>
            <p:ph type="sldNum" sz="quarter" idx="10"/>
          </p:nvPr>
        </p:nvSpPr>
        <p:spPr>
          <a:xfrm>
            <a:off x="0" y="6400800"/>
            <a:ext cx="1447800" cy="457200"/>
          </a:xfrm>
        </p:spPr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zh-CN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zh-CN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19459" name="Rectangle 3"/>
          <p:cNvSpPr>
            <a:spLocks noGrp="1" noChangeArrowheads="1"/>
          </p:cNvSpPr>
          <p:nvPr>
            <p:ph idx="1"/>
          </p:nvPr>
        </p:nvSpPr>
        <p:spPr>
          <a:xfrm>
            <a:off x="611505" y="1268413"/>
            <a:ext cx="5343525" cy="3241675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例：构造下面推理的证明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前提：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Ø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Ù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q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Ú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 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r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®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 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Ø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</a:t>
            </a: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,  </a:t>
            </a:r>
            <a:r>
              <a:rPr kumimoji="0" lang="en-US" altLang="zh-CN" sz="2400" b="0" i="1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p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r>
              <a:rPr kumimoji="0" lang="en-US" altLang="zh-CN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     </a:t>
            </a:r>
            <a:r>
              <a:rPr kumimoji="0" lang="zh-CN" altLang="en-US" sz="24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结论：</a:t>
            </a:r>
            <a:r>
              <a:rPr kumimoji="0" lang="en-US" altLang="zh-CN" sz="24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+mn-ea"/>
                <a:cs typeface="+mn-cs"/>
              </a:rPr>
              <a:t>Ø</a:t>
            </a:r>
            <a:r>
              <a:rPr kumimoji="0" lang="en-US" altLang="zh-CN" sz="2400" b="0" i="1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q</a:t>
            </a:r>
            <a:endParaRPr kumimoji="0" lang="en-US" altLang="zh-CN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342900" marR="0" lvl="0" indent="-34290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例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4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证明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(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反证法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)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63492" name="标题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构造证明</a:t>
            </a:r>
            <a:r>
              <a:rPr lang="en-US" altLang="zh-CN" dirty="0">
                <a:latin typeface="华文中宋" panose="02010600040101010101" pitchFamily="2" charset="-122"/>
                <a:ea typeface="华文中宋" panose="02010600040101010101" pitchFamily="2" charset="-122"/>
              </a:rPr>
              <a:t>3—</a:t>
            </a:r>
            <a:r>
              <a:rPr lang="zh-CN" altLang="en-US" dirty="0">
                <a:latin typeface="华文中宋" panose="02010600040101010101" pitchFamily="2" charset="-122"/>
                <a:ea typeface="华文中宋" panose="02010600040101010101" pitchFamily="2" charset="-122"/>
              </a:rPr>
              <a:t>反证法</a:t>
            </a:r>
            <a:endParaRPr lang="zh-CN" altLang="en-US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3493" name="矩形 1"/>
          <p:cNvSpPr/>
          <p:nvPr/>
        </p:nvSpPr>
        <p:spPr>
          <a:xfrm>
            <a:off x="4827588" y="2373948"/>
            <a:ext cx="4140200" cy="4170362"/>
          </a:xfrm>
          <a:prstGeom prst="rect">
            <a:avLst/>
          </a:prstGeom>
          <a:solidFill>
            <a:schemeClr val="accent2"/>
          </a:solidFill>
          <a:ln w="9525">
            <a:noFill/>
          </a:ln>
        </p:spPr>
        <p:txBody>
          <a:bodyPr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 b="0" i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</a:lstStyle>
          <a:p>
            <a:pPr marL="0" lvl="0" indent="0" algn="just" eaLnBrk="1" hangingPunct="1">
              <a:spcBef>
                <a:spcPts val="600"/>
              </a:spcBef>
              <a:buClrTx/>
              <a:buSz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 ① </a:t>
            </a:r>
            <a:r>
              <a:rPr lang="en-US" altLang="zh-CN" sz="2200" dirty="0">
                <a:latin typeface="Times New Roman" panose="02020603050405020304" pitchFamily="18" charset="0"/>
              </a:rPr>
              <a:t>q                </a:t>
            </a:r>
            <a:r>
              <a:rPr lang="zh-CN" altLang="en-US" sz="2200" dirty="0">
                <a:latin typeface="Times New Roman" panose="02020603050405020304" pitchFamily="18" charset="0"/>
              </a:rPr>
              <a:t>结论否定引入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ts val="600"/>
              </a:spcBef>
              <a:buClrTx/>
              <a:buSz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 ② </a:t>
            </a:r>
            <a:r>
              <a:rPr lang="en-US" altLang="zh-CN" sz="2200" dirty="0">
                <a:latin typeface="Times New Roman" panose="02020603050405020304" pitchFamily="18" charset="0"/>
              </a:rPr>
              <a:t>r</a:t>
            </a:r>
            <a:r>
              <a:rPr lang="en-US" altLang="zh-CN" sz="2200" dirty="0">
                <a:latin typeface="Symbol" panose="05050102010706020507" pitchFamily="18" charset="2"/>
              </a:rPr>
              <a:t>®</a:t>
            </a:r>
            <a:r>
              <a:rPr lang="en-US" altLang="zh-CN" sz="2200" dirty="0">
                <a:latin typeface="Times New Roman" panose="02020603050405020304" pitchFamily="18" charset="0"/>
              </a:rPr>
              <a:t>s           </a:t>
            </a:r>
            <a:r>
              <a:rPr lang="zh-CN" altLang="en-US" sz="2200" dirty="0">
                <a:latin typeface="Times New Roman" panose="02020603050405020304" pitchFamily="18" charset="0"/>
              </a:rPr>
              <a:t>前提引入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ts val="600"/>
              </a:spcBef>
              <a:buClrTx/>
              <a:buSz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 ③ </a:t>
            </a:r>
            <a:r>
              <a:rPr lang="en-US" altLang="zh-CN" sz="2200" dirty="0">
                <a:latin typeface="Symbol" panose="05050102010706020507" pitchFamily="18" charset="2"/>
              </a:rPr>
              <a:t>Ø</a:t>
            </a:r>
            <a:r>
              <a:rPr lang="en-US" altLang="zh-CN" sz="2200" dirty="0">
                <a:latin typeface="Times New Roman" panose="02020603050405020304" pitchFamily="18" charset="0"/>
              </a:rPr>
              <a:t>s              </a:t>
            </a:r>
            <a:r>
              <a:rPr lang="zh-CN" altLang="en-US" sz="2200" dirty="0">
                <a:latin typeface="Times New Roman" panose="02020603050405020304" pitchFamily="18" charset="0"/>
              </a:rPr>
              <a:t>前提引入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ts val="600"/>
              </a:spcBef>
              <a:buClrTx/>
              <a:buSz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 ④ </a:t>
            </a:r>
            <a:r>
              <a:rPr lang="en-US" altLang="zh-CN" sz="2200" dirty="0">
                <a:latin typeface="Symbol" panose="05050102010706020507" pitchFamily="18" charset="2"/>
              </a:rPr>
              <a:t>Ø</a:t>
            </a:r>
            <a:r>
              <a:rPr lang="en-US" altLang="zh-CN" sz="2200" dirty="0">
                <a:latin typeface="Times New Roman" panose="02020603050405020304" pitchFamily="18" charset="0"/>
              </a:rPr>
              <a:t>r              ②③</a:t>
            </a:r>
            <a:r>
              <a:rPr lang="zh-CN" altLang="en-US" sz="2200" dirty="0">
                <a:latin typeface="Times New Roman" panose="02020603050405020304" pitchFamily="18" charset="0"/>
              </a:rPr>
              <a:t>拒取式</a:t>
            </a:r>
            <a:endParaRPr lang="en-US" altLang="zh-CN" sz="2200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en-US" altLang="zh-CN" sz="2200" dirty="0">
                <a:latin typeface="Times New Roman" panose="02020603050405020304" pitchFamily="18" charset="0"/>
              </a:rPr>
              <a:t> ⑤ </a:t>
            </a:r>
            <a:r>
              <a:rPr lang="en-US" altLang="zh-CN" sz="2200" dirty="0">
                <a:latin typeface="Symbol" panose="05050102010706020507" pitchFamily="18" charset="2"/>
              </a:rPr>
              <a:t>Ø</a:t>
            </a:r>
            <a:r>
              <a:rPr lang="en-US" altLang="zh-CN" sz="2200" dirty="0">
                <a:latin typeface="Times New Roman" panose="02020603050405020304" pitchFamily="18" charset="0"/>
              </a:rPr>
              <a:t>(p</a:t>
            </a:r>
            <a:r>
              <a:rPr lang="en-US" altLang="zh-CN" sz="2200" dirty="0">
                <a:latin typeface="Symbol" panose="05050102010706020507" pitchFamily="18" charset="2"/>
              </a:rPr>
              <a:t>Ù</a:t>
            </a:r>
            <a:r>
              <a:rPr lang="en-US" altLang="zh-CN" sz="2200" dirty="0">
                <a:latin typeface="Times New Roman" panose="02020603050405020304" pitchFamily="18" charset="0"/>
              </a:rPr>
              <a:t>q)</a:t>
            </a:r>
            <a:r>
              <a:rPr lang="en-US" altLang="zh-CN" sz="2200" dirty="0">
                <a:latin typeface="Symbol" panose="05050102010706020507" pitchFamily="18" charset="2"/>
              </a:rPr>
              <a:t>Ú</a:t>
            </a:r>
            <a:r>
              <a:rPr lang="en-US" altLang="zh-CN" sz="2200" dirty="0">
                <a:latin typeface="Times New Roman" panose="02020603050405020304" pitchFamily="18" charset="0"/>
              </a:rPr>
              <a:t>r   </a:t>
            </a:r>
            <a:r>
              <a:rPr lang="zh-CN" altLang="en-US" sz="2200" dirty="0">
                <a:latin typeface="Times New Roman" panose="02020603050405020304" pitchFamily="18" charset="0"/>
              </a:rPr>
              <a:t>前提引入 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 ⑥ </a:t>
            </a:r>
            <a:r>
              <a:rPr lang="en-US" altLang="zh-CN" sz="2200" dirty="0">
                <a:latin typeface="Symbol" panose="05050102010706020507" pitchFamily="18" charset="2"/>
              </a:rPr>
              <a:t>Ø</a:t>
            </a:r>
            <a:r>
              <a:rPr lang="en-US" altLang="zh-CN" sz="2200" dirty="0">
                <a:latin typeface="Times New Roman" panose="02020603050405020304" pitchFamily="18" charset="0"/>
              </a:rPr>
              <a:t>(p</a:t>
            </a:r>
            <a:r>
              <a:rPr lang="en-US" altLang="zh-CN" sz="2200" dirty="0">
                <a:latin typeface="Symbol" panose="05050102010706020507" pitchFamily="18" charset="2"/>
              </a:rPr>
              <a:t>Ù</a:t>
            </a:r>
            <a:r>
              <a:rPr lang="en-US" altLang="zh-CN" sz="2200" dirty="0">
                <a:latin typeface="Times New Roman" panose="02020603050405020304" pitchFamily="18" charset="0"/>
              </a:rPr>
              <a:t>q)       ④⑤</a:t>
            </a:r>
            <a:r>
              <a:rPr lang="zh-CN" altLang="en-US" sz="2200" dirty="0">
                <a:latin typeface="Times New Roman" panose="02020603050405020304" pitchFamily="18" charset="0"/>
              </a:rPr>
              <a:t>析取三段论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 ⑦ </a:t>
            </a:r>
            <a:r>
              <a:rPr lang="en-US" altLang="zh-CN" sz="2200" dirty="0">
                <a:latin typeface="Symbol" panose="05050102010706020507" pitchFamily="18" charset="2"/>
              </a:rPr>
              <a:t>Ø</a:t>
            </a:r>
            <a:r>
              <a:rPr lang="en-US" altLang="zh-CN" sz="2200" dirty="0">
                <a:latin typeface="Times New Roman" panose="02020603050405020304" pitchFamily="18" charset="0"/>
              </a:rPr>
              <a:t>p</a:t>
            </a:r>
            <a:r>
              <a:rPr lang="en-US" altLang="zh-CN" sz="2200" dirty="0">
                <a:latin typeface="Symbol" panose="05050102010706020507" pitchFamily="18" charset="2"/>
              </a:rPr>
              <a:t>ÚØ</a:t>
            </a:r>
            <a:r>
              <a:rPr lang="en-US" altLang="zh-CN" sz="2200" dirty="0">
                <a:latin typeface="Times New Roman" panose="02020603050405020304" pitchFamily="18" charset="0"/>
              </a:rPr>
              <a:t>q       ⑥</a:t>
            </a:r>
            <a:r>
              <a:rPr lang="zh-CN" altLang="en-US" sz="2200" dirty="0">
                <a:latin typeface="Times New Roman" panose="02020603050405020304" pitchFamily="18" charset="0"/>
              </a:rPr>
              <a:t>德摩根律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 ⑧ </a:t>
            </a:r>
            <a:r>
              <a:rPr lang="en-US" altLang="zh-CN" sz="2200" dirty="0">
                <a:latin typeface="Symbol" panose="05050102010706020507" pitchFamily="18" charset="2"/>
              </a:rPr>
              <a:t>Ø</a:t>
            </a:r>
            <a:r>
              <a:rPr lang="en-US" altLang="zh-CN" sz="2200" dirty="0">
                <a:latin typeface="Times New Roman" panose="02020603050405020304" pitchFamily="18" charset="0"/>
              </a:rPr>
              <a:t>p              ①⑦</a:t>
            </a:r>
            <a:r>
              <a:rPr lang="zh-CN" altLang="en-US" sz="2200" dirty="0">
                <a:latin typeface="Times New Roman" panose="02020603050405020304" pitchFamily="18" charset="0"/>
              </a:rPr>
              <a:t>析取三段论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 marL="0" lvl="0" indent="0" algn="just"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 ⑨ </a:t>
            </a:r>
            <a:r>
              <a:rPr lang="en-US" altLang="zh-CN" sz="2200" dirty="0">
                <a:latin typeface="Times New Roman" panose="02020603050405020304" pitchFamily="18" charset="0"/>
              </a:rPr>
              <a:t>p                 </a:t>
            </a:r>
            <a:r>
              <a:rPr lang="zh-CN" altLang="en-US" sz="2200" dirty="0">
                <a:latin typeface="Times New Roman" panose="02020603050405020304" pitchFamily="18" charset="0"/>
              </a:rPr>
              <a:t>前提引入</a:t>
            </a:r>
            <a:endParaRPr lang="zh-CN" altLang="en-US" sz="2200" dirty="0">
              <a:latin typeface="Times New Roman" panose="02020603050405020304" pitchFamily="18" charset="0"/>
            </a:endParaRPr>
          </a:p>
          <a:p>
            <a:pPr marL="0" lvl="0" indent="0" eaLnBrk="1" hangingPunct="1">
              <a:spcBef>
                <a:spcPts val="600"/>
              </a:spcBef>
              <a:buClrTx/>
              <a:buSzTx/>
              <a:buFontTx/>
              <a:buNone/>
            </a:pPr>
            <a:r>
              <a:rPr lang="zh-CN" altLang="en-US" sz="2200" dirty="0">
                <a:latin typeface="Times New Roman" panose="02020603050405020304" pitchFamily="18" charset="0"/>
              </a:rPr>
              <a:t> ⑩ </a:t>
            </a:r>
            <a:r>
              <a:rPr lang="en-US" altLang="zh-CN" sz="2200" dirty="0">
                <a:latin typeface="Symbol" panose="05050102010706020507" pitchFamily="18" charset="2"/>
              </a:rPr>
              <a:t>Ø</a:t>
            </a:r>
            <a:r>
              <a:rPr lang="en-US" altLang="zh-CN" sz="2200" dirty="0">
                <a:latin typeface="Times New Roman" panose="02020603050405020304" pitchFamily="18" charset="0"/>
              </a:rPr>
              <a:t>p</a:t>
            </a:r>
            <a:r>
              <a:rPr lang="en-US" altLang="zh-CN" sz="2200" dirty="0">
                <a:latin typeface="Symbol" panose="05050102010706020507" pitchFamily="18" charset="2"/>
              </a:rPr>
              <a:t>Ù</a:t>
            </a:r>
            <a:r>
              <a:rPr lang="en-US" altLang="zh-CN" sz="2200" dirty="0">
                <a:latin typeface="Times New Roman" panose="02020603050405020304" pitchFamily="18" charset="0"/>
              </a:rPr>
              <a:t>p         ⑧⑨</a:t>
            </a:r>
            <a:r>
              <a:rPr lang="zh-CN" altLang="en-US" sz="2200" dirty="0">
                <a:latin typeface="Times New Roman" panose="02020603050405020304" pitchFamily="18" charset="0"/>
              </a:rPr>
              <a:t>合取，矛盾</a:t>
            </a:r>
            <a:endParaRPr lang="zh-CN" altLang="en-US" sz="2200" dirty="0">
              <a:latin typeface="Times New Roman" panose="02020603050405020304" pitchFamily="18" charset="0"/>
            </a:endParaRPr>
          </a:p>
        </p:txBody>
      </p:sp>
      <p:sp>
        <p:nvSpPr>
          <p:cNvPr id="7" name="矩形 1"/>
          <p:cNvSpPr>
            <a:spLocks noChangeArrowheads="1"/>
          </p:cNvSpPr>
          <p:nvPr/>
        </p:nvSpPr>
        <p:spPr bwMode="auto">
          <a:xfrm>
            <a:off x="611188" y="2788285"/>
            <a:ext cx="4140200" cy="375602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folHlink"/>
              </a:buClr>
              <a:buSzPct val="50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SzPct val="5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Pct val="5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①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                	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结论否定引入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②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           	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前提引入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③ 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Ù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	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合取引入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④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Ø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(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p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Ù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q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)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Ú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	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前提引入 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⑤ r		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③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④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析取三段论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</a:t>
            </a:r>
            <a:endParaRPr kumimoji="0" lang="en-US" altLang="zh-CN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⑥ 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r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®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	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前提引入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⑦ 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       	⑤ ⑥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假言推理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⑧ 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Ø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		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前提引入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⑨ 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Ø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ymbol" panose="05050102010706020507" pitchFamily="18" charset="2"/>
                <a:ea typeface="宋体" panose="02010600030101010101" pitchFamily="2" charset="-122"/>
                <a:cs typeface="+mn-cs"/>
              </a:rPr>
              <a:t>Ù</a:t>
            </a:r>
            <a:r>
              <a:rPr kumimoji="0" lang="en-US" altLang="zh-CN" sz="2200" b="1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s</a:t>
            </a:r>
            <a:r>
              <a:rPr kumimoji="0" lang="en-US" altLang="zh-CN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	</a:t>
            </a:r>
            <a:r>
              <a:rPr kumimoji="0" lang="zh-CN" altLang="en-US" sz="22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矛盾</a:t>
            </a:r>
            <a:endParaRPr kumimoji="0" lang="zh-CN" altLang="en-US" sz="2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ldLvl="0" animBg="1"/>
      <p:bldP spid="63493" grpId="0" animBg="1"/>
      <p:bldP spid="63493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kumimoji="1" lang="en-US" altLang="zh-CN" kern="1200" noProof="0" dirty="0">
                <a:ln>
                  <a:noFill/>
                </a:ln>
                <a:effectLst/>
                <a:uLnTx/>
                <a:uFillTx/>
                <a:latin typeface="Copperplate Gothic Bold" panose="020E0705020206020404" pitchFamily="34" charset="0"/>
                <a:sym typeface="+mn-ea"/>
              </a:rPr>
              <a:t>Examples</a:t>
            </a:r>
            <a:endParaRPr lang="zh-CN" altLang="en-US" dirty="0"/>
          </a:p>
        </p:txBody>
      </p:sp>
      <p:sp>
        <p:nvSpPr>
          <p:cNvPr id="22530" name="内容占位符 2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anchor="t" anchorCtr="0"/>
          <a:p>
            <a:pPr algn="just"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例</a:t>
            </a: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乌鸦都不是白色的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北京鸭是白色的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r>
              <a:rPr lang="zh-CN" altLang="en-US" dirty="0">
                <a:latin typeface="Times New Roman" panose="02020603050405020304" pitchFamily="18" charset="0"/>
              </a:rPr>
              <a:t>因此，北京鸭不是乌鸦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令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):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是乌鸦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):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是北京鸭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): 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zh-CN" altLang="en-US" dirty="0">
                <a:latin typeface="Times New Roman" panose="02020603050405020304" pitchFamily="18" charset="0"/>
              </a:rPr>
              <a:t>是白色的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前提：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r>
              <a:rPr lang="zh-CN" altLang="en-US" dirty="0">
                <a:latin typeface="Times New Roman" panose="02020603050405020304" pitchFamily="18" charset="0"/>
              </a:rPr>
              <a:t>，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结论：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355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355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34" end="6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62" end="8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82" end="1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0">
                                            <p:txEl>
                                              <p:charRg st="115" end="1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内容占位符 2"/>
          <p:cNvSpPr>
            <a:spLocks noGrp="1"/>
          </p:cNvSpPr>
          <p:nvPr>
            <p:ph idx="1"/>
          </p:nvPr>
        </p:nvSpPr>
        <p:spPr>
          <a:xfrm>
            <a:off x="971550" y="1340485"/>
            <a:ext cx="7772400" cy="411480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证明：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①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②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               ①</a:t>
            </a:r>
            <a:r>
              <a:rPr lang="en-US" altLang="zh-CN" i="1" dirty="0">
                <a:latin typeface="Times New Roman" panose="02020603050405020304" pitchFamily="18" charset="0"/>
              </a:rPr>
              <a:t>UI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③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  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④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③</a:t>
            </a:r>
            <a:r>
              <a:rPr lang="en-US" altLang="zh-CN" i="1" dirty="0">
                <a:latin typeface="Times New Roman" panose="02020603050405020304" pitchFamily="18" charset="0"/>
              </a:rPr>
              <a:t>UI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⑤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            ④</a:t>
            </a:r>
            <a:r>
              <a:rPr lang="zh-CN" altLang="en-US" dirty="0">
                <a:latin typeface="Times New Roman" panose="02020603050405020304" pitchFamily="18" charset="0"/>
              </a:rPr>
              <a:t>置换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⑥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               ②⑤</a:t>
            </a:r>
            <a:r>
              <a:rPr lang="zh-CN" altLang="en-US" dirty="0">
                <a:latin typeface="Times New Roman" panose="02020603050405020304" pitchFamily="18" charset="0"/>
              </a:rPr>
              <a:t>假言三段论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⑦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               ⑥</a:t>
            </a:r>
            <a:r>
              <a:rPr lang="zh-CN" altLang="en-US" dirty="0">
                <a:latin typeface="Times New Roman" panose="02020603050405020304" pitchFamily="18" charset="0"/>
              </a:rPr>
              <a:t>置换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⑧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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        ⑦</a:t>
            </a:r>
            <a:r>
              <a:rPr lang="en-US" altLang="zh-CN" i="1" dirty="0">
                <a:latin typeface="Times New Roman" panose="02020603050405020304" pitchFamily="18" charset="0"/>
              </a:rPr>
              <a:t>UG</a:t>
            </a:r>
            <a:endParaRPr lang="en-US" altLang="zh-CN" i="1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4579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0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4581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2458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59748" y="260350"/>
            <a:ext cx="5976937" cy="95885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b="1" dirty="0">
                <a:latin typeface="Times New Roman" panose="02020603050405020304" pitchFamily="18" charset="0"/>
              </a:rPr>
              <a:t>构造下述推理证明</a:t>
            </a:r>
            <a:endParaRPr lang="zh-CN" altLang="en-US" dirty="0"/>
          </a:p>
        </p:txBody>
      </p:sp>
      <p:sp>
        <p:nvSpPr>
          <p:cNvPr id="25603" name="内容占位符 2"/>
          <p:cNvSpPr>
            <a:spLocks noGrp="1"/>
          </p:cNvSpPr>
          <p:nvPr>
            <p:ph idx="1"/>
          </p:nvPr>
        </p:nvSpPr>
        <p:spPr>
          <a:xfrm>
            <a:off x="395605" y="1412875"/>
            <a:ext cx="8564563" cy="411480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9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前提：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</a:t>
            </a:r>
            <a:r>
              <a:rPr lang="en-US" altLang="zh-CN" i="1" dirty="0">
                <a:latin typeface="Times New Roman" panose="02020603050405020304" pitchFamily="18" charset="0"/>
              </a:rPr>
              <a:t>xG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</a:t>
            </a:r>
            <a:r>
              <a:rPr lang="zh-CN" altLang="en-US" dirty="0">
                <a:latin typeface="Times New Roman" panose="02020603050405020304" pitchFamily="18" charset="0"/>
              </a:rPr>
              <a:t>结论：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证明：①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</a:t>
            </a:r>
            <a:r>
              <a:rPr lang="en-US" altLang="zh-CN" i="1" dirty="0">
                <a:latin typeface="Times New Roman" panose="02020603050405020304" pitchFamily="18" charset="0"/>
              </a:rPr>
              <a:t>xG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     ②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))     ①</a:t>
            </a:r>
            <a:r>
              <a:rPr lang="zh-CN" altLang="en-US" dirty="0">
                <a:latin typeface="Times New Roman" panose="02020603050405020304" pitchFamily="18" charset="0"/>
              </a:rPr>
              <a:t>置换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     ③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))          ②</a:t>
            </a:r>
            <a:r>
              <a:rPr lang="en-US" altLang="zh-CN" i="1" dirty="0">
                <a:latin typeface="Times New Roman" panose="02020603050405020304" pitchFamily="18" charset="0"/>
              </a:rPr>
              <a:t>UI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  ④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z</a:t>
            </a:r>
            <a:r>
              <a:rPr lang="en-US" altLang="zh-CN" dirty="0">
                <a:latin typeface="Times New Roman" panose="02020603050405020304" pitchFamily="18" charset="0"/>
              </a:rPr>
              <a:t>)                  ③</a:t>
            </a:r>
            <a:r>
              <a:rPr lang="en-US" altLang="zh-CN" i="1" dirty="0">
                <a:latin typeface="Times New Roman" panose="02020603050405020304" pitchFamily="18" charset="0"/>
              </a:rPr>
              <a:t>UI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  ⑤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         ④</a:t>
            </a:r>
            <a:r>
              <a:rPr lang="en-US" altLang="zh-CN" i="1" dirty="0">
                <a:latin typeface="Times New Roman" panose="02020603050405020304" pitchFamily="18" charset="0"/>
              </a:rPr>
              <a:t>UG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说明</a:t>
            </a:r>
            <a:r>
              <a:rPr lang="en-US" altLang="zh-CN" dirty="0">
                <a:latin typeface="Times New Roman" panose="02020603050405020304" pitchFamily="18" charset="0"/>
              </a:rPr>
              <a:t>: </a:t>
            </a:r>
            <a:r>
              <a:rPr lang="zh-CN" altLang="en-US" dirty="0">
                <a:latin typeface="Times New Roman" panose="02020603050405020304" pitchFamily="18" charset="0"/>
              </a:rPr>
              <a:t>不能对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i="1" dirty="0">
                <a:latin typeface="Times New Roman" panose="02020603050405020304" pitchFamily="18" charset="0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</a:t>
            </a:r>
            <a:r>
              <a:rPr lang="en-US" altLang="zh-CN" i="1" dirty="0">
                <a:latin typeface="Times New Roman" panose="02020603050405020304" pitchFamily="18" charset="0"/>
              </a:rPr>
              <a:t>xG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zh-CN" altLang="en-US" dirty="0">
                <a:latin typeface="Times New Roman" panose="02020603050405020304" pitchFamily="18" charset="0"/>
              </a:rPr>
              <a:t>消量词</a:t>
            </a:r>
            <a:r>
              <a:rPr lang="en-US" altLang="zh-CN" dirty="0">
                <a:latin typeface="Times New Roman" panose="02020603050405020304" pitchFamily="18" charset="0"/>
              </a:rPr>
              <a:t>, </a:t>
            </a:r>
            <a:r>
              <a:rPr lang="zh-CN" altLang="en-US" dirty="0">
                <a:latin typeface="Times New Roman" panose="02020603050405020304" pitchFamily="18" charset="0"/>
              </a:rPr>
              <a:t>因为它不是前束范式</a:t>
            </a:r>
            <a:r>
              <a:rPr lang="en-US" altLang="zh-CN" dirty="0">
                <a:latin typeface="Times New Roman" panose="02020603050405020304" pitchFamily="18" charset="0"/>
              </a:rPr>
              <a:t>.</a:t>
            </a:r>
            <a:r>
              <a:rPr lang="zh-CN" altLang="en-US" dirty="0">
                <a:latin typeface="Times New Roman" panose="02020603050405020304" pitchFamily="18" charset="0"/>
              </a:rPr>
              <a:t>对此题不能用附加前提证明法</a:t>
            </a:r>
            <a:r>
              <a:rPr lang="en-US" altLang="zh-CN" dirty="0">
                <a:latin typeface="Times New Roman" panose="02020603050405020304" pitchFamily="18" charset="0"/>
              </a:rPr>
              <a:t>. </a:t>
            </a:r>
            <a:endParaRPr lang="en-US" altLang="zh-CN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5604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5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5606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ransition spd="slow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kumimoji="1" lang="en-US" altLang="zh-CN" kern="1200" noProof="0" dirty="0">
                <a:ln>
                  <a:noFill/>
                </a:ln>
                <a:effectLst/>
                <a:uLnTx/>
                <a:uFillTx/>
                <a:latin typeface="Copperplate Gothic Bold" panose="020E0705020206020404" pitchFamily="34" charset="0"/>
                <a:sym typeface="+mn-ea"/>
              </a:rPr>
              <a:t>Examples</a:t>
            </a:r>
            <a:endParaRPr lang="zh-CN" altLang="en-US" dirty="0"/>
          </a:p>
        </p:txBody>
      </p:sp>
      <p:sp>
        <p:nvSpPr>
          <p:cNvPr id="26627" name="内容占位符 2"/>
          <p:cNvSpPr>
            <a:spLocks noGrp="1"/>
          </p:cNvSpPr>
          <p:nvPr>
            <p:ph idx="1"/>
          </p:nvPr>
        </p:nvSpPr>
        <p:spPr>
          <a:xfrm>
            <a:off x="744220" y="1484630"/>
            <a:ext cx="8199438" cy="4114800"/>
          </a:xfrm>
        </p:spPr>
        <p:txBody>
          <a:bodyPr vert="horz" wrap="square" lIns="91440" tIns="45720" rIns="91440" bIns="45720" anchor="t" anchorCtr="0"/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前提：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</a:rPr>
              <a:t>结论：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</a:t>
            </a:r>
            <a:r>
              <a:rPr lang="en-US" altLang="zh-CN" i="1" dirty="0">
                <a:latin typeface="Times New Roman" panose="02020603050405020304" pitchFamily="18" charset="0"/>
              </a:rPr>
              <a:t>xG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证明：①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      </a:t>
            </a:r>
            <a:r>
              <a:rPr lang="zh-CN" altLang="en-US" dirty="0">
                <a:latin typeface="Times New Roman" panose="02020603050405020304" pitchFamily="18" charset="0"/>
              </a:rPr>
              <a:t>附加前提引入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     ②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           ①</a:t>
            </a:r>
            <a:r>
              <a:rPr lang="en-US" altLang="zh-CN" i="1" dirty="0">
                <a:latin typeface="Times New Roman" panose="02020603050405020304" pitchFamily="18" charset="0"/>
              </a:rPr>
              <a:t>UI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  ③ 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))           </a:t>
            </a:r>
            <a:r>
              <a:rPr lang="zh-CN" altLang="en-US" dirty="0">
                <a:latin typeface="Times New Roman" panose="02020603050405020304" pitchFamily="18" charset="0"/>
              </a:rPr>
              <a:t>前提引入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     ④ </a:t>
            </a:r>
            <a:r>
              <a:rPr lang="en-US" altLang="zh-CN" i="1" dirty="0">
                <a:latin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</a:t>
            </a:r>
            <a:r>
              <a:rPr lang="en-US" altLang="zh-CN" dirty="0">
                <a:latin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③</a:t>
            </a:r>
            <a:r>
              <a:rPr lang="en-US" altLang="zh-CN" i="1" dirty="0">
                <a:latin typeface="Times New Roman" panose="02020603050405020304" pitchFamily="18" charset="0"/>
              </a:rPr>
              <a:t>UI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en-US" altLang="zh-CN" dirty="0">
                <a:latin typeface="Times New Roman" panose="02020603050405020304" pitchFamily="18" charset="0"/>
              </a:rPr>
              <a:t>            ⑤ </a:t>
            </a:r>
            <a:r>
              <a:rPr lang="en-US" altLang="zh-CN" i="1" dirty="0">
                <a:latin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y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           ②④</a:t>
            </a:r>
            <a:r>
              <a:rPr lang="zh-CN" altLang="en-US" dirty="0">
                <a:latin typeface="Times New Roman" panose="02020603050405020304" pitchFamily="18" charset="0"/>
              </a:rPr>
              <a:t>假言推理</a:t>
            </a:r>
            <a:endParaRPr lang="zh-CN" altLang="en-US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            ⑥ </a:t>
            </a:r>
            <a:r>
              <a:rPr lang="zh-CN" altLang="en-US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i="1" dirty="0">
                <a:latin typeface="Times New Roman" panose="02020603050405020304" pitchFamily="18" charset="0"/>
              </a:rPr>
              <a:t>xG</a:t>
            </a:r>
            <a:r>
              <a:rPr lang="en-US" altLang="zh-CN" dirty="0">
                <a:latin typeface="Times New Roman" panose="02020603050405020304" pitchFamily="18" charset="0"/>
              </a:rPr>
              <a:t>(</a:t>
            </a:r>
            <a:r>
              <a:rPr lang="en-US" altLang="zh-CN" i="1" dirty="0">
                <a:latin typeface="Times New Roman" panose="02020603050405020304" pitchFamily="18" charset="0"/>
              </a:rPr>
              <a:t>x</a:t>
            </a:r>
            <a:r>
              <a:rPr lang="en-US" altLang="zh-CN" dirty="0">
                <a:latin typeface="Times New Roman" panose="02020603050405020304" pitchFamily="18" charset="0"/>
              </a:rPr>
              <a:t>)                         ⑤</a:t>
            </a:r>
            <a:r>
              <a:rPr lang="en-US" altLang="zh-CN" i="1" dirty="0">
                <a:latin typeface="Times New Roman" panose="02020603050405020304" pitchFamily="18" charset="0"/>
              </a:rPr>
              <a:t>UG</a:t>
            </a:r>
            <a:endParaRPr lang="en-US" altLang="zh-CN" dirty="0">
              <a:latin typeface="Times New Roman" panose="02020603050405020304" pitchFamily="18" charset="0"/>
            </a:endParaRPr>
          </a:p>
          <a:p>
            <a:pPr algn="just">
              <a:lnSpc>
                <a:spcPct val="9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</a:rPr>
              <a:t>本题可以使用附加前提证明法</a:t>
            </a:r>
            <a:endParaRPr lang="zh-CN" altLang="en-US" dirty="0">
              <a:latin typeface="Times New Roman" panose="02020603050405020304" pitchFamily="18" charset="0"/>
            </a:endParaRPr>
          </a:p>
          <a:p>
            <a:endParaRPr lang="zh-CN" altLang="en-US" dirty="0"/>
          </a:p>
        </p:txBody>
      </p:sp>
      <p:sp>
        <p:nvSpPr>
          <p:cNvPr id="26628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29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6630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标题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b" anchorCtr="0"/>
          <a:p>
            <a:r>
              <a:rPr lang="zh-CN" altLang="en-US" dirty="0"/>
              <a:t>课堂练习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67678" y="1484313"/>
            <a:ext cx="8277225" cy="41148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符号化如下命题，并推理证明。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有些运动员信任每一位教练，但没有运动员信任任何无能的人。所以，教练都不是无能的人。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Dag name="">
                  <a:cont type="tree" name="">
                    <a:effect ref="fillLine"/>
                    <a:outerShdw dist="38100" dir="13500000" algn="br">
                      <a:srgbClr val="FFFFFF"/>
                    </a:outerShdw>
                  </a:cont>
                  <a:cont type="tree" name="">
                    <a:effect ref="fillLine"/>
                    <a:outerShdw dist="38100" dir="2700000" algn="tl">
                      <a:srgbClr val="6B6B6B"/>
                    </a:outerShdw>
                  </a:cont>
                  <a:effect ref="fillLine"/>
                </a:effectDag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证明</a:t>
            </a:r>
            <a:endParaRPr kumimoji="1" lang="en-US" altLang="zh-CN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Dag name="">
                <a:cont type="tree" name="">
                  <a:effect ref="fillLine"/>
                  <a:outerShdw dist="38100" dir="13500000" algn="br">
                    <a:srgbClr val="FFFFFF"/>
                  </a:outerShdw>
                </a:cont>
                <a:cont type="tree" name="">
                  <a:effect ref="fillLine"/>
                  <a:outerShdw dist="38100" dir="2700000" algn="tl">
                    <a:srgbClr val="6B6B6B"/>
                  </a:outerShdw>
                </a:cont>
                <a:effect ref="fillLine"/>
              </a:effectDag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令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P(x)</a:t>
            </a: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是运动员，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D(x)</a:t>
            </a: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是教练，</a:t>
            </a:r>
            <a:endParaRPr kumimoji="1" lang="en-US" altLang="zh-CN" sz="240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	 S(x)</a:t>
            </a: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是无能的人，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G(x,y)</a:t>
            </a: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：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x</a:t>
            </a: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信任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y</a:t>
            </a: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。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原命题的前提和结论符号化为：</a:t>
            </a:r>
            <a:endParaRPr kumimoji="1" lang="zh-CN" altLang="en-US" sz="2400" b="1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zh-CN" altLang="en-US" sz="2400" b="1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</a:t>
            </a: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前提：</a:t>
            </a: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x(P(x)∧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y (D(y)→G(x,y)))</a:t>
            </a:r>
            <a:endParaRPr kumimoji="1" lang="en-US" altLang="zh-CN" sz="240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457200" marR="0" lvl="1" indent="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None/>
              <a:defRPr/>
            </a:pP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  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x(P(x)→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y(S(y)→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G(x,y)))</a:t>
            </a:r>
            <a:endParaRPr kumimoji="1" lang="en-US" altLang="zh-CN" sz="240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  <a:p>
            <a:pPr marL="742950" marR="0" lvl="1" indent="-285750" algn="just" defTabSz="914400" rtl="0" eaLnBrk="0" fontAlgn="base" latinLnBrk="0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55000"/>
              <a:buFont typeface="Wingdings" panose="05000000000000000000" pitchFamily="2" charset="2"/>
              <a:buChar char="n"/>
              <a:defRPr/>
            </a:pP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    </a:t>
            </a: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结论：</a:t>
            </a:r>
            <a:r>
              <a:rPr kumimoji="1" lang="zh-CN" altLang="en-US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x(D(x)→</a:t>
            </a:r>
            <a:r>
              <a:rPr lang="en-US" altLang="zh-CN" sz="24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kumimoji="1" lang="en-US" altLang="zh-CN" sz="2400" i="0" u="none" strike="noStrike" kern="0" cap="none" spc="0" normalizeH="0" baseline="0" noProof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ea typeface="+mn-ea"/>
                <a:cs typeface="Times New Roman" panose="02020603050405020304" pitchFamily="18" charset="0"/>
              </a:rPr>
              <a:t>S(x))</a:t>
            </a:r>
            <a:endParaRPr kumimoji="1" lang="zh-CN" altLang="en-US" sz="2400" i="0" u="none" strike="noStrike" kern="0" cap="none" spc="0" normalizeH="0" baseline="0" noProof="1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652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3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7654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7" end="6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60" end="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83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10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26" end="1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56" end="18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185" end="20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标题 1"/>
          <p:cNvSpPr>
            <a:spLocks noGrp="1"/>
          </p:cNvSpPr>
          <p:nvPr>
            <p:ph type="title"/>
          </p:nvPr>
        </p:nvSpPr>
        <p:spPr>
          <a:xfrm>
            <a:off x="1043940" y="188913"/>
            <a:ext cx="7793038" cy="1143000"/>
          </a:xfrm>
        </p:spPr>
        <p:txBody>
          <a:bodyPr vert="horz" wrap="square" lIns="91440" tIns="45720" rIns="91440" bIns="45720" anchor="b" anchorCtr="0"/>
          <a:p>
            <a:r>
              <a:rPr lang="zh-CN" altLang="en-US" dirty="0"/>
              <a:t>证明</a:t>
            </a:r>
            <a:endParaRPr lang="zh-CN" altLang="en-US" dirty="0"/>
          </a:p>
        </p:txBody>
      </p:sp>
      <p:sp>
        <p:nvSpPr>
          <p:cNvPr id="28675" name="内容占位符 2"/>
          <p:cNvSpPr>
            <a:spLocks noGrp="1"/>
          </p:cNvSpPr>
          <p:nvPr>
            <p:ph idx="1"/>
          </p:nvPr>
        </p:nvSpPr>
        <p:spPr>
          <a:xfrm>
            <a:off x="1115695" y="1340485"/>
            <a:ext cx="7772400" cy="4820285"/>
          </a:xfrm>
        </p:spPr>
        <p:txBody>
          <a:bodyPr vert="horz" wrap="square" lIns="91440" tIns="45720" rIns="91440" bIns="45720" anchor="t" anchorCtr="0"/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(1) 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</a:t>
            </a:r>
            <a:r>
              <a:rPr lang="en-US" altLang="zh-CN" sz="2000" dirty="0">
                <a:latin typeface="Times New Roman" panose="02020603050405020304" pitchFamily="18" charset="0"/>
              </a:rPr>
              <a:t>x(P(x)∧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Times New Roman" panose="02020603050405020304" pitchFamily="18" charset="0"/>
              </a:rPr>
              <a:t>y(D(y)→G(x,y)))    P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(2) P(c)∧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Times New Roman" panose="02020603050405020304" pitchFamily="18" charset="0"/>
              </a:rPr>
              <a:t>y(D(y)→G(c,y))           (1),EI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(3) P(c)                                            (2),</a:t>
            </a:r>
            <a:r>
              <a:rPr lang="zh-CN" altLang="en-US" sz="2000" dirty="0">
                <a:latin typeface="Times New Roman" panose="02020603050405020304" pitchFamily="18" charset="0"/>
              </a:rPr>
              <a:t>简化律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(4) 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Times New Roman" panose="02020603050405020304" pitchFamily="18" charset="0"/>
              </a:rPr>
              <a:t>y(D(y)→G(c,y))                     (2),</a:t>
            </a:r>
            <a:r>
              <a:rPr lang="zh-CN" altLang="en-US" sz="2000" dirty="0">
                <a:latin typeface="Times New Roman" panose="02020603050405020304" pitchFamily="18" charset="0"/>
              </a:rPr>
              <a:t>简化律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(5) D(z)→G(c,z)                              (4),UI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(6) 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Times New Roman" panose="02020603050405020304" pitchFamily="18" charset="0"/>
              </a:rPr>
              <a:t>x(P(x)→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Times New Roman" panose="02020603050405020304" pitchFamily="18" charset="0"/>
              </a:rPr>
              <a:t>y(S(y)→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000" dirty="0">
                <a:latin typeface="Times New Roman" panose="02020603050405020304" pitchFamily="18" charset="0"/>
              </a:rPr>
              <a:t>G(x,y)))   P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(7) P(c)→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Times New Roman" panose="02020603050405020304" pitchFamily="18" charset="0"/>
              </a:rPr>
              <a:t>y(S(y)→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000" dirty="0">
                <a:latin typeface="Times New Roman" panose="02020603050405020304" pitchFamily="18" charset="0"/>
              </a:rPr>
              <a:t>G(c,y))         (6),UI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(8) 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Times New Roman" panose="02020603050405020304" pitchFamily="18" charset="0"/>
              </a:rPr>
              <a:t>y(S(y)→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000" dirty="0">
                <a:latin typeface="Times New Roman" panose="02020603050405020304" pitchFamily="18" charset="0"/>
              </a:rPr>
              <a:t>G(c,y))                     (3)(7),</a:t>
            </a:r>
            <a:r>
              <a:rPr lang="zh-CN" altLang="en-US" sz="2000" dirty="0">
                <a:latin typeface="Times New Roman" panose="02020603050405020304" pitchFamily="18" charset="0"/>
              </a:rPr>
              <a:t>假言推理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(9) S(z)→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000" dirty="0">
                <a:latin typeface="Times New Roman" panose="02020603050405020304" pitchFamily="18" charset="0"/>
              </a:rPr>
              <a:t>G(c,z)                              (8),UI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(10) G(c,z)→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000" dirty="0">
                <a:latin typeface="Times New Roman" panose="02020603050405020304" pitchFamily="18" charset="0"/>
              </a:rPr>
              <a:t>S(z)                            (9),</a:t>
            </a:r>
            <a:r>
              <a:rPr lang="zh-CN" altLang="en-US" sz="2000" dirty="0">
                <a:latin typeface="Times New Roman" panose="02020603050405020304" pitchFamily="18" charset="0"/>
              </a:rPr>
              <a:t>蕴含等值式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(11) D(z)→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000" dirty="0">
                <a:latin typeface="Times New Roman" panose="02020603050405020304" pitchFamily="18" charset="0"/>
              </a:rPr>
              <a:t>S(z)                               (5)(10),</a:t>
            </a:r>
            <a:r>
              <a:rPr lang="zh-CN" altLang="en-US" sz="2000" dirty="0">
                <a:latin typeface="Times New Roman" panose="02020603050405020304" pitchFamily="18" charset="0"/>
              </a:rPr>
              <a:t>假言三段论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marL="0" indent="0" algn="just">
              <a:lnSpc>
                <a:spcPct val="120000"/>
              </a:lnSpc>
              <a:buNone/>
            </a:pPr>
            <a:r>
              <a:rPr lang="en-US" altLang="zh-CN" sz="2000" dirty="0">
                <a:latin typeface="Times New Roman" panose="02020603050405020304" pitchFamily="18" charset="0"/>
              </a:rPr>
              <a:t>(12) </a:t>
            </a:r>
            <a:r>
              <a:rPr lang="en-US" altLang="zh-CN" sz="2000" dirty="0">
                <a:latin typeface="Times New Roman" panose="02020603050405020304" pitchFamily="18" charset="0"/>
                <a:sym typeface="Symbol" panose="05050102010706020507" pitchFamily="18" charset="2"/>
              </a:rPr>
              <a:t></a:t>
            </a:r>
            <a:r>
              <a:rPr lang="en-US" altLang="zh-CN" sz="2000" dirty="0">
                <a:latin typeface="Times New Roman" panose="02020603050405020304" pitchFamily="18" charset="0"/>
              </a:rPr>
              <a:t>x(D(x)→</a:t>
            </a:r>
            <a:r>
              <a:rPr lang="en-US" altLang="zh-CN" sz="2000">
                <a:latin typeface="Symbol" panose="05050102010706020507" pitchFamily="18" charset="2"/>
                <a:sym typeface="Symbol" panose="05050102010706020507" charset="0"/>
              </a:rPr>
              <a:t></a:t>
            </a:r>
            <a:r>
              <a:rPr lang="en-US" altLang="zh-CN" sz="2000" dirty="0">
                <a:latin typeface="Times New Roman" panose="02020603050405020304" pitchFamily="18" charset="0"/>
              </a:rPr>
              <a:t>S(x))                        (11),UG</a:t>
            </a:r>
            <a:endParaRPr lang="zh-CN" altLang="en-US" sz="2400" dirty="0">
              <a:latin typeface="Times New Roman" panose="02020603050405020304" pitchFamily="18" charset="0"/>
            </a:endParaRPr>
          </a:p>
        </p:txBody>
      </p:sp>
      <p:sp>
        <p:nvSpPr>
          <p:cNvPr id="28676" name="灯片编号占位符 3"/>
          <p:cNvSpPr txBox="1">
            <a:spLocks noGrp="1"/>
          </p:cNvSpPr>
          <p:nvPr>
            <p:ph type="sldNum" sz="quarter" idx="10"/>
          </p:nvPr>
        </p:nvSpPr>
        <p:spPr/>
        <p:txBody>
          <a:bodyPr anchor="b" anchorCtr="0"/>
          <a:p>
            <a:pPr marL="0" indent="0" algn="r" eaLnBrk="1" hangingPunct="1">
              <a:spcBef>
                <a:spcPct val="0"/>
              </a:spcBef>
              <a:buClrTx/>
              <a:buSzTx/>
              <a:buFontTx/>
              <a:buNone/>
            </a:pPr>
            <a:fld id="{9A0DB2DC-4C9A-4742-B13C-FB6460FD3503}" type="slidenum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7" name="日期占位符 4"/>
          <p:cNvSpPr txBox="1">
            <a:spLocks noGrp="1"/>
          </p:cNvSpPr>
          <p:nvPr>
            <p:ph type="dt" sz="half" idx="11"/>
          </p:nvPr>
        </p:nvSpPr>
        <p:spPr/>
        <p:txBody>
          <a:bodyPr anchor="b" anchorCtr="0"/>
          <a:p>
            <a:pPr marL="0" indent="0" eaLnBrk="1" hangingPunct="1">
              <a:spcBef>
                <a:spcPct val="0"/>
              </a:spcBef>
              <a:buClrTx/>
              <a:buSzTx/>
              <a:buFontTx/>
              <a:buNone/>
            </a:pPr>
            <a:fld id="{BB962C8B-B14F-4D97-AF65-F5344CB8AC3E}" type="datetime1">
              <a:rPr lang="en-US" altLang="en-US" sz="1000" b="1" i="1" dirty="0">
                <a:solidFill>
                  <a:srgbClr val="009999"/>
                </a:solidFill>
                <a:latin typeface="Arial Narrow" panose="020B0606020202030204" pitchFamily="34" charset="0"/>
              </a:rPr>
            </a:fld>
            <a:endParaRPr lang="en-US" altLang="en-US" sz="10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sp>
        <p:nvSpPr>
          <p:cNvPr id="28678" name="页脚占位符 5"/>
          <p:cNvSpPr txBox="1">
            <a:spLocks noGrp="1"/>
          </p:cNvSpPr>
          <p:nvPr>
            <p:ph type="ftr" sz="quarter" idx="12"/>
          </p:nvPr>
        </p:nvSpPr>
        <p:spPr/>
        <p:txBody>
          <a:bodyPr anchor="b" anchorCtr="0"/>
          <a:p>
            <a:pPr marL="0" indent="0" algn="ctr" eaLnBrk="1" hangingPunct="1">
              <a:lnSpc>
                <a:spcPct val="11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1200" b="1" i="1" dirty="0">
                <a:solidFill>
                  <a:srgbClr val="009999"/>
                </a:solidFill>
                <a:latin typeface="Arial Narrow" panose="020B0606020202030204" pitchFamily="34" charset="0"/>
              </a:rPr>
              <a:t>School of Computer Science, BUPT</a:t>
            </a:r>
            <a:endParaRPr lang="en-US" altLang="en-US" sz="1200" b="1" i="1" dirty="0">
              <a:solidFill>
                <a:srgbClr val="009999"/>
              </a:solidFill>
              <a:latin typeface="Arial Narrow" panose="020B0606020202030204" pitchFamily="34" charset="0"/>
            </a:endParaRPr>
          </a:p>
        </p:txBody>
      </p:sp>
      <p:pic>
        <p:nvPicPr>
          <p:cNvPr id="28679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3938" y="116523"/>
            <a:ext cx="5624195" cy="12236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ransition spd="slow"/>
</p:sld>
</file>

<file path=ppt/tags/tag1.xml><?xml version="1.0" encoding="utf-8"?>
<p:tagLst xmlns:p="http://schemas.openxmlformats.org/presentationml/2006/main">
  <p:tag name="KSO_WPP_MARK_KEY" val="ea6b1029-e717-4cfa-9d74-5ec77e418524"/>
  <p:tag name="COMMONDATA" val="eyJoZGlkIjoiYjZhMmY1NGQwZjE0MWY4MTkzZjM4YzBiNDA1ZmM3ZDEifQ=="/>
</p:tagLst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Copperplate Gothic Light"/>
        <a:ea typeface="宋体"/>
        <a:cs typeface=""/>
      </a:majorFont>
      <a:minorFont>
        <a:latin typeface="Tahom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sz="2400" b="1" i="1" u="sng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Office\Templates\Presentation Designs\Blends.pot</Template>
  <TotalTime>0</TotalTime>
  <Words>4342</Words>
  <Application>WPS 演示</Application>
  <PresentationFormat>全屏显示(4:3)</PresentationFormat>
  <Paragraphs>280</Paragraphs>
  <Slides>16</Slides>
  <Notes>8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16</vt:i4>
      </vt:variant>
    </vt:vector>
  </HeadingPairs>
  <TitlesOfParts>
    <vt:vector size="33" baseType="lpstr">
      <vt:lpstr>Arial</vt:lpstr>
      <vt:lpstr>宋体</vt:lpstr>
      <vt:lpstr>Wingdings</vt:lpstr>
      <vt:lpstr>Times New Roman</vt:lpstr>
      <vt:lpstr>Arial Narrow</vt:lpstr>
      <vt:lpstr>Tahoma</vt:lpstr>
      <vt:lpstr>Copperplate Gothic Light</vt:lpstr>
      <vt:lpstr>Copperplate Gothic Bold</vt:lpstr>
      <vt:lpstr>华文中宋</vt:lpstr>
      <vt:lpstr>Symbol</vt:lpstr>
      <vt:lpstr>Symbol</vt:lpstr>
      <vt:lpstr>微软雅黑</vt:lpstr>
      <vt:lpstr>Arial Unicode MS</vt:lpstr>
      <vt:lpstr>Blends</vt:lpstr>
      <vt:lpstr>Equation.3</vt:lpstr>
      <vt:lpstr>Equation.3</vt:lpstr>
      <vt:lpstr>Equation.3</vt:lpstr>
      <vt:lpstr>Construction of Proofs</vt:lpstr>
      <vt:lpstr>构造证明之一——直接证明法</vt:lpstr>
      <vt:lpstr>PowerPoint 演示文稿</vt:lpstr>
      <vt:lpstr>构造证明之二——附加前提证明法（CP规则） </vt:lpstr>
      <vt:lpstr>附加前提证明法 (续)</vt:lpstr>
      <vt:lpstr>附加前提证明法 (续)</vt:lpstr>
      <vt:lpstr> </vt:lpstr>
      <vt:lpstr>证明</vt:lpstr>
      <vt:lpstr>构造证明之三——归谬法(反证法) </vt:lpstr>
      <vt:lpstr>构造证明3—反证法</vt:lpstr>
      <vt:lpstr>Examples</vt:lpstr>
      <vt:lpstr>PowerPoint 演示文稿</vt:lpstr>
      <vt:lpstr>构造下述推理证明</vt:lpstr>
      <vt:lpstr>Examples</vt:lpstr>
      <vt:lpstr>课堂练习</vt:lpstr>
      <vt:lpstr>证明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lvsiyao</dc:creator>
  <cp:lastModifiedBy>杨娟</cp:lastModifiedBy>
  <cp:revision>497</cp:revision>
  <cp:lastPrinted>2113-01-01T00:00:00Z</cp:lastPrinted>
  <dcterms:created xsi:type="dcterms:W3CDTF">2113-01-01T00:00:00Z</dcterms:created>
  <dcterms:modified xsi:type="dcterms:W3CDTF">2024-03-27T15:38:47Z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24FAA7F790404E91991055C08A1E280C</vt:lpwstr>
  </property>
  <property fmtid="{D5CDD505-2E9C-101B-9397-08002B2CF9AE}" pid="3" name="KSOProductBuildVer">
    <vt:lpwstr>2052-11.1.0.15319</vt:lpwstr>
  </property>
</Properties>
</file>