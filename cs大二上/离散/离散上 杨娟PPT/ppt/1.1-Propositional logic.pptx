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8"/>
  </p:notesMasterIdLst>
  <p:handoutMasterIdLst>
    <p:handoutMasterId r:id="rId49"/>
  </p:handoutMasterIdLst>
  <p:sldIdLst>
    <p:sldId id="432" r:id="rId2"/>
    <p:sldId id="421" r:id="rId3"/>
    <p:sldId id="487" r:id="rId4"/>
    <p:sldId id="488" r:id="rId5"/>
    <p:sldId id="489" r:id="rId6"/>
    <p:sldId id="490" r:id="rId7"/>
    <p:sldId id="491" r:id="rId8"/>
    <p:sldId id="492" r:id="rId9"/>
    <p:sldId id="442" r:id="rId10"/>
    <p:sldId id="493" r:id="rId11"/>
    <p:sldId id="256" r:id="rId12"/>
    <p:sldId id="257" r:id="rId13"/>
    <p:sldId id="258" r:id="rId14"/>
    <p:sldId id="450" r:id="rId15"/>
    <p:sldId id="315" r:id="rId16"/>
    <p:sldId id="316" r:id="rId17"/>
    <p:sldId id="259" r:id="rId18"/>
    <p:sldId id="260" r:id="rId19"/>
    <p:sldId id="261" r:id="rId20"/>
    <p:sldId id="317" r:id="rId21"/>
    <p:sldId id="262" r:id="rId22"/>
    <p:sldId id="263" r:id="rId23"/>
    <p:sldId id="264" r:id="rId24"/>
    <p:sldId id="265" r:id="rId25"/>
    <p:sldId id="266" r:id="rId26"/>
    <p:sldId id="321" r:id="rId27"/>
    <p:sldId id="268" r:id="rId28"/>
    <p:sldId id="269" r:id="rId29"/>
    <p:sldId id="270" r:id="rId30"/>
    <p:sldId id="271" r:id="rId31"/>
    <p:sldId id="272" r:id="rId32"/>
    <p:sldId id="485" r:id="rId33"/>
    <p:sldId id="486" r:id="rId34"/>
    <p:sldId id="273" r:id="rId35"/>
    <p:sldId id="274" r:id="rId36"/>
    <p:sldId id="275" r:id="rId37"/>
    <p:sldId id="276" r:id="rId38"/>
    <p:sldId id="407" r:id="rId39"/>
    <p:sldId id="292" r:id="rId40"/>
    <p:sldId id="414" r:id="rId41"/>
    <p:sldId id="409" r:id="rId42"/>
    <p:sldId id="410" r:id="rId43"/>
    <p:sldId id="411" r:id="rId44"/>
    <p:sldId id="412" r:id="rId45"/>
    <p:sldId id="447" r:id="rId46"/>
    <p:sldId id="449" r:id="rId47"/>
  </p:sldIdLst>
  <p:sldSz cx="9144000" cy="6858000" type="screen4x3"/>
  <p:notesSz cx="6754813" cy="9866313"/>
  <p:custDataLst>
    <p:tags r:id="rId50"/>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443" userDrawn="1">
          <p15:clr>
            <a:srgbClr val="A4A3A4"/>
          </p15:clr>
        </p15:guide>
        <p15:guide id="2" pos="48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howGuides="1">
      <p:cViewPr varScale="1">
        <p:scale>
          <a:sx n="95" d="100"/>
          <a:sy n="95" d="100"/>
        </p:scale>
        <p:origin x="2376" y="184"/>
      </p:cViewPr>
      <p:guideLst>
        <p:guide orient="horz" pos="1443"/>
        <p:guide pos="480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25763" cy="493713"/>
          </a:xfrm>
          <a:prstGeom prst="rect">
            <a:avLst/>
          </a:prstGeom>
          <a:noFill/>
          <a:ln w="9525">
            <a:noFill/>
            <a:miter lim="800000"/>
          </a:ln>
          <a:effectLst/>
        </p:spPr>
        <p:txBody>
          <a:bodyPr vert="horz" wrap="square" lIns="91440" tIns="45720" rIns="91440" bIns="45720" numCol="1" anchor="t" anchorCtr="0" compatLnSpc="1"/>
          <a:lstStyle>
            <a:lvl1pP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1" name="Rectangle 3"/>
          <p:cNvSpPr>
            <a:spLocks noGrp="1" noChangeArrowheads="1"/>
          </p:cNvSpPr>
          <p:nvPr>
            <p:ph type="dt" sz="quarter" idx="1"/>
          </p:nvPr>
        </p:nvSpPr>
        <p:spPr bwMode="auto">
          <a:xfrm>
            <a:off x="3829050" y="0"/>
            <a:ext cx="2925763" cy="493713"/>
          </a:xfrm>
          <a:prstGeom prst="rect">
            <a:avLst/>
          </a:prstGeom>
          <a:noFill/>
          <a:ln w="9525">
            <a:noFill/>
            <a:miter lim="800000"/>
          </a:ln>
          <a:effectLst/>
        </p:spPr>
        <p:txBody>
          <a:bodyPr vert="horz" wrap="square" lIns="91440" tIns="45720" rIns="91440" bIns="45720" numCol="1" anchor="t" anchorCtr="0" compatLnSpc="1"/>
          <a:lstStyle>
            <a:lvl1pPr algn="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2" name="Rectangle 4"/>
          <p:cNvSpPr>
            <a:spLocks noGrp="1" noChangeArrowheads="1"/>
          </p:cNvSpPr>
          <p:nvPr>
            <p:ph type="ftr" sz="quarter" idx="2"/>
          </p:nvPr>
        </p:nvSpPr>
        <p:spPr bwMode="auto">
          <a:xfrm>
            <a:off x="0" y="9372600"/>
            <a:ext cx="2925763" cy="493713"/>
          </a:xfrm>
          <a:prstGeom prst="rect">
            <a:avLst/>
          </a:prstGeom>
          <a:noFill/>
          <a:ln w="9525">
            <a:noFill/>
            <a:miter lim="800000"/>
          </a:ln>
          <a:effectLst/>
        </p:spPr>
        <p:txBody>
          <a:bodyPr vert="horz" wrap="square" lIns="91440" tIns="45720" rIns="91440" bIns="45720" numCol="1" anchor="b" anchorCtr="0" compatLnSpc="1"/>
          <a:lstStyle>
            <a:lvl1pP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3" name="Rectangle 5"/>
          <p:cNvSpPr>
            <a:spLocks noGrp="1" noChangeArrowheads="1"/>
          </p:cNvSpPr>
          <p:nvPr>
            <p:ph type="sldNum" sz="quarter" idx="3"/>
          </p:nvPr>
        </p:nvSpPr>
        <p:spPr bwMode="auto">
          <a:xfrm>
            <a:off x="3829050" y="9372600"/>
            <a:ext cx="2925763" cy="49371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a:cs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4E2BCCF-3E27-42D9-8E03-3D83FD3144A4}"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25763" cy="493713"/>
          </a:xfrm>
          <a:prstGeom prst="rect">
            <a:avLst/>
          </a:prstGeom>
          <a:noFill/>
          <a:ln w="9525">
            <a:noFill/>
            <a:miter lim="800000"/>
          </a:ln>
          <a:effectLst/>
        </p:spPr>
        <p:txBody>
          <a:bodyPr vert="horz" wrap="square" lIns="91440" tIns="45720" rIns="91440" bIns="45720" numCol="1" anchor="t" anchorCtr="0" compatLnSpc="1"/>
          <a:lstStyle>
            <a:lvl1pP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63" name="Rectangle 3"/>
          <p:cNvSpPr>
            <a:spLocks noGrp="1" noChangeArrowheads="1"/>
          </p:cNvSpPr>
          <p:nvPr>
            <p:ph type="dt" idx="1"/>
          </p:nvPr>
        </p:nvSpPr>
        <p:spPr bwMode="auto">
          <a:xfrm>
            <a:off x="3829050" y="0"/>
            <a:ext cx="2925763" cy="493713"/>
          </a:xfrm>
          <a:prstGeom prst="rect">
            <a:avLst/>
          </a:prstGeom>
          <a:noFill/>
          <a:ln w="9525">
            <a:noFill/>
            <a:miter lim="800000"/>
          </a:ln>
          <a:effectLst/>
        </p:spPr>
        <p:txBody>
          <a:bodyPr vert="horz" wrap="square" lIns="91440" tIns="45720" rIns="91440" bIns="45720" numCol="1" anchor="t" anchorCtr="0" compatLnSpc="1"/>
          <a:lstStyle>
            <a:lvl1pPr algn="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00" name="Rectangle 4"/>
          <p:cNvSpPr>
            <a:spLocks noGrp="1" noRot="1" noChangeAspect="1" noTextEdit="1"/>
          </p:cNvSpPr>
          <p:nvPr>
            <p:ph type="sldImg"/>
          </p:nvPr>
        </p:nvSpPr>
        <p:spPr>
          <a:xfrm>
            <a:off x="909638" y="739775"/>
            <a:ext cx="4933950" cy="3700463"/>
          </a:xfrm>
          <a:prstGeom prst="rect">
            <a:avLst/>
          </a:prstGeom>
          <a:noFill/>
          <a:ln w="9525" cap="flat" cmpd="sng">
            <a:solidFill>
              <a:srgbClr val="000000"/>
            </a:solidFill>
            <a:prstDash val="solid"/>
            <a:miter/>
            <a:headEnd type="none" w="med" len="med"/>
            <a:tailEnd type="none" w="med" len="med"/>
          </a:ln>
        </p:spPr>
      </p:sp>
      <p:sp>
        <p:nvSpPr>
          <p:cNvPr id="15365" name="Rectangle 5"/>
          <p:cNvSpPr>
            <a:spLocks noGrp="1" noChangeArrowheads="1"/>
          </p:cNvSpPr>
          <p:nvPr>
            <p:ph type="body" sz="quarter" idx="3"/>
          </p:nvPr>
        </p:nvSpPr>
        <p:spPr bwMode="auto">
          <a:xfrm>
            <a:off x="900113" y="4686300"/>
            <a:ext cx="4954588" cy="4440238"/>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p>
        </p:txBody>
      </p:sp>
      <p:sp>
        <p:nvSpPr>
          <p:cNvPr id="15366" name="Rectangle 6"/>
          <p:cNvSpPr>
            <a:spLocks noGrp="1" noChangeArrowheads="1"/>
          </p:cNvSpPr>
          <p:nvPr>
            <p:ph type="ftr" sz="quarter" idx="4"/>
          </p:nvPr>
        </p:nvSpPr>
        <p:spPr bwMode="auto">
          <a:xfrm>
            <a:off x="0" y="9372600"/>
            <a:ext cx="2925763" cy="493713"/>
          </a:xfrm>
          <a:prstGeom prst="rect">
            <a:avLst/>
          </a:prstGeom>
          <a:noFill/>
          <a:ln w="9525">
            <a:noFill/>
            <a:miter lim="800000"/>
          </a:ln>
          <a:effectLst/>
        </p:spPr>
        <p:txBody>
          <a:bodyPr vert="horz" wrap="square" lIns="91440" tIns="45720" rIns="91440" bIns="45720" numCol="1" anchor="b" anchorCtr="0" compatLnSpc="1"/>
          <a:lstStyle>
            <a:lvl1pPr eaLnBrk="0" hangingPunct="0">
              <a:lnSpc>
                <a:spcPct val="100000"/>
              </a:lnSpc>
              <a:spcBef>
                <a:spcPct val="0"/>
              </a:spcBef>
              <a:buClrTx/>
              <a:buSzTx/>
              <a:buFontTx/>
              <a:buNone/>
              <a:defRPr kumimoji="0" sz="1200">
                <a:latin typeface="Times New Roman" panose="02020603050405020304" pitchFamily="18" charset="0"/>
                <a:cs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67" name="Rectangle 7"/>
          <p:cNvSpPr>
            <a:spLocks noGrp="1" noChangeArrowheads="1"/>
          </p:cNvSpPr>
          <p:nvPr>
            <p:ph type="sldNum" sz="quarter" idx="5"/>
          </p:nvPr>
        </p:nvSpPr>
        <p:spPr bwMode="auto">
          <a:xfrm>
            <a:off x="3829050" y="9372600"/>
            <a:ext cx="2925763" cy="49371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a:cs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B6BFA1E7-AF6F-47BF-999C-6112BB773199}"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38</a:t>
            </a:fld>
            <a:endParaRPr lang="zh-CN" altLang="en-US" sz="1200" dirty="0">
              <a:ea typeface="Times New Roman" panose="02020603050405020304" pitchFamily="18" charset="0"/>
              <a:cs typeface="Times New Roman" panose="02020603050405020304" pitchFamily="18" charset="0"/>
            </a:endParaRPr>
          </a:p>
        </p:txBody>
      </p:sp>
      <p:sp>
        <p:nvSpPr>
          <p:cNvPr id="48131" name="Rectangle 2"/>
          <p:cNvSpPr>
            <a:spLocks noGrp="1" noRot="1" noChangeAspect="1" noTextEdit="1"/>
          </p:cNvSpPr>
          <p:nvPr>
            <p:ph type="sldImg"/>
          </p:nvPr>
        </p:nvSpPr>
        <p:spPr>
          <a:xfrm>
            <a:off x="908050" y="757238"/>
            <a:ext cx="4943475" cy="3706812"/>
          </a:xfrm>
        </p:spPr>
      </p:sp>
      <p:sp>
        <p:nvSpPr>
          <p:cNvPr id="48132" name="Rectangle 3"/>
          <p:cNvSpPr>
            <a:spLocks noGrp="1"/>
          </p:cNvSpPr>
          <p:nvPr>
            <p:ph type="body"/>
          </p:nvPr>
        </p:nvSpPr>
        <p:spPr>
          <a:xfrm>
            <a:off x="898525" y="4718050"/>
            <a:ext cx="4957763" cy="4379913"/>
          </a:xfrm>
        </p:spPr>
        <p:txBody>
          <a:bodyPr wrap="square" lIns="91440" tIns="45720" rIns="91440" bIns="45720" anchor="t" anchorCtr="0"/>
          <a:lstStyle/>
          <a:p>
            <a:pPr lvl="0"/>
            <a:r>
              <a:rPr lang="en-US" altLang="zh-CN" dirty="0"/>
              <a:t>For fun, try writing down the truth tables for each of the 4 possible unary operators, and each of the 16 possible binary operators.  For each one, try to come up with an English description of the operator that conveys its meaning.  Also, figure out a way to define it in terms of other operators we already introduced.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41</a:t>
            </a:fld>
            <a:endParaRPr lang="zh-CN" altLang="en-US" sz="1200" dirty="0">
              <a:ea typeface="Times New Roman" panose="02020603050405020304" pitchFamily="18" charset="0"/>
              <a:cs typeface="Times New Roman" panose="02020603050405020304" pitchFamily="18" charset="0"/>
            </a:endParaRPr>
          </a:p>
        </p:txBody>
      </p:sp>
      <p:sp>
        <p:nvSpPr>
          <p:cNvPr id="52227" name="Rectangle 2"/>
          <p:cNvSpPr>
            <a:spLocks noGrp="1" noRot="1" noChangeAspect="1" noTextEdit="1"/>
          </p:cNvSpPr>
          <p:nvPr>
            <p:ph type="sldImg"/>
          </p:nvPr>
        </p:nvSpPr>
        <p:spPr>
          <a:xfrm>
            <a:off x="908050" y="757238"/>
            <a:ext cx="4943475" cy="3706812"/>
          </a:xfrm>
        </p:spPr>
      </p:sp>
      <p:sp>
        <p:nvSpPr>
          <p:cNvPr id="52228" name="Rectangle 3"/>
          <p:cNvSpPr>
            <a:spLocks noGrp="1"/>
          </p:cNvSpPr>
          <p:nvPr>
            <p:ph type="body"/>
          </p:nvPr>
        </p:nvSpPr>
        <p:spPr>
          <a:xfrm>
            <a:off x="898525" y="4718050"/>
            <a:ext cx="4957763" cy="4379913"/>
          </a:xfrm>
        </p:spPr>
        <p:txBody>
          <a:bodyPr wrap="square" lIns="91440" tIns="45720" rIns="91440" bIns="45720" anchor="t" anchorCtr="0"/>
          <a:lstStyle/>
          <a:p>
            <a:pPr lvl="0"/>
            <a:r>
              <a:rPr lang="en-US" altLang="zh-CN" dirty="0"/>
              <a:t>Bits can also be defined in terms of sets, if you like, by the convention that the empty set {} represents 0, and the set containing the empty set {{}} represents 1.  Or more generally, any two distinct objects can represent the two bit-values or truth-values.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42</a:t>
            </a:fld>
            <a:endParaRPr lang="zh-CN" altLang="en-US" sz="1200" dirty="0">
              <a:ea typeface="Times New Roman" panose="02020603050405020304" pitchFamily="18" charset="0"/>
              <a:cs typeface="Times New Roman" panose="02020603050405020304" pitchFamily="18" charset="0"/>
            </a:endParaRPr>
          </a:p>
        </p:txBody>
      </p:sp>
      <p:sp>
        <p:nvSpPr>
          <p:cNvPr id="54275" name="Rectangle 2"/>
          <p:cNvSpPr>
            <a:spLocks noGrp="1" noRot="1" noChangeAspect="1" noTextEdit="1"/>
          </p:cNvSpPr>
          <p:nvPr>
            <p:ph type="sldImg"/>
          </p:nvPr>
        </p:nvSpPr>
        <p:spPr>
          <a:xfrm>
            <a:off x="908050" y="757238"/>
            <a:ext cx="4943475" cy="3706812"/>
          </a:xfrm>
        </p:spPr>
      </p:sp>
      <p:sp>
        <p:nvSpPr>
          <p:cNvPr id="54276" name="Rectangle 3"/>
          <p:cNvSpPr>
            <a:spLocks noGrp="1"/>
          </p:cNvSpPr>
          <p:nvPr>
            <p:ph type="body"/>
          </p:nvPr>
        </p:nvSpPr>
        <p:spPr>
          <a:xfrm>
            <a:off x="898525" y="4718050"/>
            <a:ext cx="4957763" cy="4379913"/>
          </a:xfrm>
        </p:spPr>
        <p:txBody>
          <a:bodyPr wrap="square" lIns="91440" tIns="45720" rIns="91440" bIns="45720" anchor="t" anchorCtr="0"/>
          <a:lstStyle/>
          <a:p>
            <a:pPr lvl="0"/>
            <a:r>
              <a:rPr lang="en-US" altLang="zh-CN" dirty="0"/>
              <a:t>We will talk about strings more generally later in the module on sequences.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43</a:t>
            </a:fld>
            <a:endParaRPr lang="zh-CN" altLang="en-US" sz="1200" dirty="0">
              <a:ea typeface="Times New Roman" panose="02020603050405020304" pitchFamily="18" charset="0"/>
              <a:cs typeface="Times New Roman" panose="02020603050405020304" pitchFamily="18" charset="0"/>
            </a:endParaRPr>
          </a:p>
        </p:txBody>
      </p:sp>
      <p:sp>
        <p:nvSpPr>
          <p:cNvPr id="56323" name="Rectangle 2"/>
          <p:cNvSpPr>
            <a:spLocks noGrp="1" noRot="1" noChangeAspect="1" noTextEdit="1"/>
          </p:cNvSpPr>
          <p:nvPr>
            <p:ph type="sldImg"/>
          </p:nvPr>
        </p:nvSpPr>
        <p:spPr>
          <a:xfrm>
            <a:off x="908050" y="757238"/>
            <a:ext cx="4943475" cy="3706812"/>
          </a:xfrm>
        </p:spPr>
      </p:sp>
      <p:sp>
        <p:nvSpPr>
          <p:cNvPr id="56324" name="Rectangle 3"/>
          <p:cNvSpPr>
            <a:spLocks noGrp="1"/>
          </p:cNvSpPr>
          <p:nvPr>
            <p:ph type="body"/>
          </p:nvPr>
        </p:nvSpPr>
        <p:spPr>
          <a:xfrm>
            <a:off x="898525" y="4718050"/>
            <a:ext cx="4957763" cy="4379913"/>
          </a:xfrm>
        </p:spPr>
        <p:txBody>
          <a:bodyPr wrap="square" lIns="91440" tIns="45720" rIns="91440" bIns="45720" anchor="t" anchorCtr="0"/>
          <a:lstStyle/>
          <a:p>
            <a:pPr lvl="0"/>
            <a:r>
              <a:rPr lang="en-US" altLang="zh-CN" dirty="0"/>
              <a:t>This is just a fun exercise to practice with the binary number system.  We</a:t>
            </a:r>
            <a:r>
              <a:rPr lang="en-US" altLang="zh-CN" dirty="0">
                <a:latin typeface="Times New Roman" panose="02020603050405020304" pitchFamily="18" charset="0"/>
              </a:rPr>
              <a:t>’</a:t>
            </a:r>
            <a:r>
              <a:rPr lang="en-US" altLang="zh-CN" dirty="0"/>
              <a:t>ll have more to say about binary (and base-n numbers in general) later in the course.  If you demonstrate this technique, you should probably apologize to your audience when you get to 4.</a:t>
            </a:r>
          </a:p>
          <a:p>
            <a:pPr lvl="0"/>
            <a:r>
              <a:rPr lang="en-US" altLang="zh-CN" dirty="0"/>
              <a:t>         The sequence in the last bullet is (in decimal):  0, 1, 2, </a:t>
            </a:r>
            <a:r>
              <a:rPr lang="en-US" altLang="zh-CN" dirty="0">
                <a:latin typeface="Times New Roman" panose="02020603050405020304" pitchFamily="18" charset="0"/>
              </a:rPr>
              <a:t>…</a:t>
            </a:r>
            <a:r>
              <a:rPr lang="en-US" altLang="zh-CN" dirty="0"/>
              <a:t> (skip a bunch) </a:t>
            </a:r>
            <a:r>
              <a:rPr lang="en-US" altLang="zh-CN" dirty="0">
                <a:latin typeface="Times New Roman" panose="02020603050405020304" pitchFamily="18" charset="0"/>
              </a:rPr>
              <a:t>…</a:t>
            </a:r>
            <a:r>
              <a:rPr lang="en-US" altLang="zh-CN" dirty="0"/>
              <a:t>, 1021, 1022, 1023.  The next number, 1024 (or 1K) is 2^10.  You would need 11 fingers to show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44</a:t>
            </a:fld>
            <a:endParaRPr lang="zh-CN" altLang="en-US" sz="1200" dirty="0">
              <a:ea typeface="Times New Roman" panose="02020603050405020304" pitchFamily="18" charset="0"/>
              <a:cs typeface="Times New Roman" panose="02020603050405020304" pitchFamily="18" charset="0"/>
            </a:endParaRPr>
          </a:p>
        </p:txBody>
      </p:sp>
      <p:sp>
        <p:nvSpPr>
          <p:cNvPr id="58371" name="Rectangle 2"/>
          <p:cNvSpPr>
            <a:spLocks noGrp="1" noRot="1" noChangeAspect="1" noTextEdit="1"/>
          </p:cNvSpPr>
          <p:nvPr>
            <p:ph type="sldImg"/>
          </p:nvPr>
        </p:nvSpPr>
        <p:spPr>
          <a:xfrm>
            <a:off x="908050" y="757238"/>
            <a:ext cx="4943475" cy="3706812"/>
          </a:xfrm>
        </p:spPr>
      </p:sp>
      <p:sp>
        <p:nvSpPr>
          <p:cNvPr id="58372" name="Rectangle 3"/>
          <p:cNvSpPr>
            <a:spLocks noGrp="1"/>
          </p:cNvSpPr>
          <p:nvPr>
            <p:ph type="body"/>
          </p:nvPr>
        </p:nvSpPr>
        <p:spPr>
          <a:xfrm>
            <a:off x="898525" y="4718050"/>
            <a:ext cx="4957763" cy="4379913"/>
          </a:xfrm>
        </p:spPr>
        <p:txBody>
          <a:bodyPr wrap="square" lIns="91440" tIns="45720" rIns="91440" bIns="45720" anchor="t" anchorCtr="0"/>
          <a:lstStyle/>
          <a:p>
            <a:pPr lvl="0"/>
            <a:r>
              <a:rPr lang="en-US" altLang="zh-CN" dirty="0"/>
              <a:t>The answers are present, but hidden, as white text on a white background.  The slide can be done in class as an exercise, with the instructor typing in the students</a:t>
            </a:r>
            <a:r>
              <a:rPr lang="en-US" altLang="zh-CN" dirty="0">
                <a:latin typeface="Times New Roman" panose="02020603050405020304" pitchFamily="18" charset="0"/>
              </a:rPr>
              <a:t>’</a:t>
            </a:r>
            <a:r>
              <a:rPr lang="en-US" altLang="zh-CN" dirty="0"/>
              <a:t> answers in the space provided.  Then the correct answers can be revealed by selecting the bottom 3 rows and changing their font color unconditionally to black.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eaLnBrk="1" hangingPunct="1"/>
            <a:fld id="{9A0DB2DC-4C9A-4742-B13C-FB6460FD3503}" type="slidenum">
              <a:rPr lang="zh-CN" altLang="en-US" sz="1200" dirty="0">
                <a:cs typeface="Times New Roman" panose="02020603050405020304" pitchFamily="18" charset="0"/>
              </a:rPr>
              <a:t>45</a:t>
            </a:fld>
            <a:endParaRPr lang="zh-CN" altLang="en-US" sz="1200" dirty="0">
              <a:ea typeface="Times New Roman" panose="02020603050405020304" pitchFamily="18" charset="0"/>
              <a:cs typeface="Times New Roman" panose="02020603050405020304" pitchFamily="18" charset="0"/>
            </a:endParaRPr>
          </a:p>
        </p:txBody>
      </p:sp>
      <p:sp>
        <p:nvSpPr>
          <p:cNvPr id="60419" name="Rectangle 2"/>
          <p:cNvSpPr>
            <a:spLocks noGrp="1" noRot="1" noChangeAspect="1" noTextEdit="1"/>
          </p:cNvSpPr>
          <p:nvPr>
            <p:ph type="sldImg"/>
          </p:nvPr>
        </p:nvSpPr>
        <p:spPr>
          <a:xfrm>
            <a:off x="908050" y="757238"/>
            <a:ext cx="4943475" cy="3706812"/>
          </a:xfrm>
        </p:spPr>
      </p:sp>
      <p:sp>
        <p:nvSpPr>
          <p:cNvPr id="60420" name="Rectangle 3"/>
          <p:cNvSpPr>
            <a:spLocks noGrp="1"/>
          </p:cNvSpPr>
          <p:nvPr>
            <p:ph type="body"/>
          </p:nvPr>
        </p:nvSpPr>
        <p:spPr>
          <a:xfrm>
            <a:off x="898525" y="4718050"/>
            <a:ext cx="4957763" cy="4379913"/>
          </a:xfrm>
        </p:spPr>
        <p:txBody>
          <a:bodyPr wrap="square" lIns="91440" tIns="45720" rIns="91440" bIns="45720" anchor="t" anchorCtr="0"/>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8"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059"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6" name="Rectangle 18"/>
          <p:cNvSpPr>
            <a:spLocks noChangeArrowheads="1"/>
          </p:cNvSpPr>
          <p:nvPr/>
        </p:nvSpPr>
        <p:spPr bwMode="auto">
          <a:xfrm>
            <a:off x="4419600" y="4114800"/>
            <a:ext cx="4724400" cy="2184400"/>
          </a:xfrm>
          <a:prstGeom prst="rect">
            <a:avLst/>
          </a:prstGeom>
          <a:noFill/>
          <a:ln>
            <a:noFill/>
          </a:ln>
        </p:spPr>
        <p:txBody>
          <a:bodyPr>
            <a:spAutoFit/>
          </a:bodyP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dirty="0">
                <a:ln>
                  <a:noFill/>
                </a:ln>
                <a:solidFill>
                  <a:schemeClr val="folHlink"/>
                </a:solidFill>
                <a:effectLst/>
                <a:uLnTx/>
                <a:uFillTx/>
                <a:latin typeface="Copperplate Gothic Light" panose="020E0507020206020404" pitchFamily="34" charset="0"/>
                <a:ea typeface="宋体" panose="02010600030101010101" pitchFamily="2" charset="-122"/>
                <a:cs typeface="+mn-cs"/>
              </a:rPr>
              <a:t>Yang Juan</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anose="02010600030101010101" pitchFamily="2" charset="-122"/>
                <a:cs typeface="+mn-cs"/>
              </a:rPr>
              <a:t>yangjuan@bupt.edu.cn</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dirty="0">
              <a:ln>
                <a:noFill/>
              </a:ln>
              <a:solidFill>
                <a:srgbClr val="009999"/>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rPr>
              <a:t>School </a:t>
            </a: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anose="02010600030101010101" pitchFamily="2" charset="-122"/>
                <a:cs typeface="+mn-cs"/>
              </a:rPr>
              <a:t>of Computer Science</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anose="02010600030101010101" pitchFamily="2" charset="-122"/>
                <a:cs typeface="+mn-cs"/>
              </a:rPr>
              <a:t>Beijing </a:t>
            </a:r>
            <a:r>
              <a:rPr kumimoji="1" lang="en-US" altLang="zh-CN"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rPr>
              <a:t>University of Posts &amp; Telecommunications</a:t>
            </a:r>
            <a:endParaRPr kumimoji="1" lang="zh-CN" altLang="en-US"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20DAEE4-D843-4C6F-B05B-46B743FBCB35}" type="datetime1">
              <a:rPr kumimoji="0" lang="zh-CN" altLang="en-US"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rPr>
              <a:t>2025/2/24</a:t>
            </a:fld>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A01B0BE-8EC9-43E5-93F8-6B33EDF77557}"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Times New Roman" panose="02020603050405020304" pitchFamily="18" charset="0"/>
              </a:rPr>
              <a:t>‹#›</a:t>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8" name="日期占位符 7"/>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9" name="页脚占位符 8"/>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4" name="日期占位符 3"/>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页脚占位符 4"/>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3" name="日期占位符 2"/>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4" name="页脚占位符 3"/>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p>
        </p:txBody>
      </p:sp>
      <p:sp>
        <p:nvSpPr>
          <p:cNvPr id="3" name="表格占位符 2"/>
          <p:cNvSpPr>
            <a:spLocks noGrp="1"/>
          </p:cNvSpPr>
          <p:nvPr>
            <p:ph type="tbl" idx="1"/>
          </p:nvPr>
        </p:nvSpPr>
        <p:spPr>
          <a:xfrm>
            <a:off x="1182688" y="201771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5" name="灯片编号占位符 4"/>
          <p:cNvSpPr>
            <a:spLocks noGrp="1"/>
          </p:cNvSpPr>
          <p:nvPr>
            <p:ph type="sldNum" sz="quarter" idx="4"/>
          </p:nvPr>
        </p:nvSpPr>
        <p:spPr bwMode="auto">
          <a:xfrm>
            <a:off x="8172450" y="6400800"/>
            <a:ext cx="97155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8BC28C4-9F89-4E40-86AF-C5921711B2F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6" name="日期占位符 5"/>
          <p:cNvSpPr>
            <a:spLocks noGrp="1"/>
          </p:cNvSpPr>
          <p:nvPr>
            <p:ph type="dt" sz="half" idx="12"/>
          </p:nvPr>
        </p:nvSpPr>
        <p:spPr bwMode="auto">
          <a:xfrm>
            <a:off x="0" y="6400800"/>
            <a:ext cx="1042988"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C0427D9-B1B4-4534-9746-0A158053F19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7" name="页脚占位符 6"/>
          <p:cNvSpPr>
            <a:spLocks noGrp="1"/>
          </p:cNvSpPr>
          <p:nvPr>
            <p:ph type="ftr" sz="quarter" idx="3"/>
          </p:nvPr>
        </p:nvSpPr>
        <p:spPr bwMode="auto">
          <a:xfrm>
            <a:off x="1187450" y="6400800"/>
            <a:ext cx="698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 </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edBar-Title and Content">
    <p:spTree>
      <p:nvGrpSpPr>
        <p:cNvPr id="1" name=""/>
        <p:cNvGrpSpPr/>
        <p:nvPr/>
      </p:nvGrpSpPr>
      <p:grpSpPr>
        <a:xfrm>
          <a:off x="0" y="0"/>
          <a:ext cx="0" cy="0"/>
          <a:chOff x="0" y="0"/>
          <a:chExt cx="0" cy="0"/>
        </a:xfrm>
      </p:grpSpPr>
      <p:sp>
        <p:nvSpPr>
          <p:cNvPr id="6" name="Slide Title"/>
          <p:cNvSpPr>
            <a:spLocks noGrp="1"/>
          </p:cNvSpPr>
          <p:nvPr>
            <p:ph type="title"/>
          </p:nvPr>
        </p:nvSpPr>
        <p:spPr>
          <a:xfrm>
            <a:off x="0" y="0"/>
            <a:ext cx="9144000" cy="1188720"/>
          </a:xfrm>
          <a:prstGeom prst="rect">
            <a:avLst/>
          </a:prstGeom>
        </p:spPr>
        <p:txBody>
          <a:bodyPr anchor="ctr"/>
          <a:lstStyle>
            <a:lvl1pPr>
              <a:defRPr sz="4400" b="0">
                <a:solidFill>
                  <a:srgbClr val="04617B"/>
                </a:solidFill>
                <a:latin typeface="+mj-lt"/>
                <a:cs typeface="Arial" panose="020B0604020202020204" pitchFamily="34" charset="0"/>
              </a:defRPr>
            </a:lvl1pPr>
          </a:lstStyle>
          <a:p>
            <a:r>
              <a:rPr lang="en-US" dirty="0"/>
              <a:t>Click to edit Master title style</a:t>
            </a:r>
          </a:p>
        </p:txBody>
      </p:sp>
      <p:sp>
        <p:nvSpPr>
          <p:cNvPr id="3" name="Content Placeholder 1"/>
          <p:cNvSpPr>
            <a:spLocks noGrp="1"/>
          </p:cNvSpPr>
          <p:nvPr>
            <p:ph idx="1"/>
          </p:nvPr>
        </p:nvSpPr>
        <p:spPr>
          <a:xfrm>
            <a:off x="457200" y="1295400"/>
            <a:ext cx="8229600" cy="5257800"/>
          </a:xfrm>
          <a:prstGeom prst="rect">
            <a:avLst/>
          </a:prstGeom>
        </p:spPr>
        <p:txBody>
          <a:bodyPr/>
          <a:lstStyle>
            <a:lvl1pPr marL="0" indent="0">
              <a:spcBef>
                <a:spcPts val="1200"/>
              </a:spcBef>
              <a:spcAft>
                <a:spcPts val="600"/>
              </a:spcAft>
              <a:buFont typeface="Arial" panose="020B0604020202020204" pitchFamily="34" charset="0"/>
              <a:buNone/>
              <a:defRPr sz="3200">
                <a:latin typeface="+mj-lt"/>
                <a:cs typeface="Arial" panose="020B0604020202020204" pitchFamily="34" charset="0"/>
              </a:defRPr>
            </a:lvl1pPr>
            <a:lvl2pPr marL="457200" indent="-342900">
              <a:spcBef>
                <a:spcPts val="1200"/>
              </a:spcBef>
              <a:spcAft>
                <a:spcPts val="600"/>
              </a:spcAft>
              <a:buClr>
                <a:srgbClr val="04617B"/>
              </a:buClr>
              <a:buFont typeface="Arial" panose="020B0604020202020204" pitchFamily="34" charset="0"/>
              <a:buChar char="•"/>
              <a:defRPr sz="2800">
                <a:latin typeface="+mj-lt"/>
                <a:cs typeface="Arial" panose="020B0604020202020204" pitchFamily="34" charset="0"/>
              </a:defRPr>
            </a:lvl2pPr>
            <a:lvl3pPr marL="822960" indent="-274320">
              <a:spcBef>
                <a:spcPts val="1200"/>
              </a:spcBef>
              <a:spcAft>
                <a:spcPts val="600"/>
              </a:spcAft>
              <a:buClr>
                <a:srgbClr val="B60000"/>
              </a:buClr>
              <a:buFont typeface="Arial" panose="020B0604020202020204" pitchFamily="34" charset="0"/>
              <a:buChar char="•"/>
              <a:defRPr sz="2400">
                <a:latin typeface="+mj-lt"/>
                <a:cs typeface="Arial" panose="020B0604020202020204" pitchFamily="34" charset="0"/>
              </a:defRPr>
            </a:lvl3pPr>
            <a:lvl4pPr marL="1188720" indent="-274320">
              <a:spcBef>
                <a:spcPts val="1200"/>
              </a:spcBef>
              <a:spcAft>
                <a:spcPts val="600"/>
              </a:spcAft>
              <a:buClr>
                <a:srgbClr val="663F78"/>
              </a:buClr>
              <a:buFont typeface="Arial" panose="020B0604020202020204" pitchFamily="34" charset="0"/>
              <a:buChar char="•"/>
              <a:defRPr sz="2000">
                <a:latin typeface="+mj-lt"/>
                <a:cs typeface="Arial" panose="020B0604020202020204" pitchFamily="34" charset="0"/>
              </a:defRPr>
            </a:lvl4pPr>
            <a:lvl5pPr marL="1554480" indent="-228600">
              <a:spcBef>
                <a:spcPts val="1200"/>
              </a:spcBef>
              <a:spcAft>
                <a:spcPts val="600"/>
              </a:spcAft>
              <a:buFont typeface="Arial" panose="020B0604020202020204" pitchFamily="34" charset="0"/>
              <a:buChar char="•"/>
              <a:defRPr sz="1600">
                <a:latin typeface="+mj-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Jump Link"/>
          <p:cNvSpPr>
            <a:spLocks noGrp="1"/>
          </p:cNvSpPr>
          <p:nvPr>
            <p:ph type="body" sz="quarter" idx="12" hasCustomPrompt="1"/>
          </p:nvPr>
        </p:nvSpPr>
        <p:spPr>
          <a:xfrm>
            <a:off x="3467512" y="6553200"/>
            <a:ext cx="2208976" cy="99950"/>
          </a:xfrm>
          <a:prstGeom prst="rect">
            <a:avLst/>
          </a:prstGeom>
        </p:spPr>
        <p:txBody>
          <a:bodyPr lIns="0" tIns="0" rIns="0" bIns="0"/>
          <a:lstStyle>
            <a:lvl1pPr marL="0" indent="0" algn="ctr">
              <a:buNone/>
              <a:defRPr sz="800"/>
            </a:lvl1pPr>
          </a:lstStyle>
          <a:p>
            <a:pPr lvl="0"/>
            <a:r>
              <a:rPr lang="en-US" dirty="0"/>
              <a:t>Add “Access the text alternative for slide images.”</a:t>
            </a:r>
          </a:p>
        </p:txBody>
      </p:sp>
      <p:sp>
        <p:nvSpPr>
          <p:cNvPr id="9" name="Photo Credit"/>
          <p:cNvSpPr>
            <a:spLocks noGrp="1"/>
          </p:cNvSpPr>
          <p:nvPr>
            <p:ph type="body" sz="quarter" idx="11" hasCustomPrompt="1"/>
          </p:nvPr>
        </p:nvSpPr>
        <p:spPr>
          <a:xfrm>
            <a:off x="6477000" y="6705600"/>
            <a:ext cx="2667000" cy="152400"/>
          </a:xfrm>
          <a:prstGeom prst="rect">
            <a:avLst/>
          </a:prstGeom>
        </p:spPr>
        <p:txBody>
          <a:bodyPr wrap="none" lIns="0" tIns="0" rIns="45720" bIns="0"/>
          <a:lstStyle>
            <a:lvl1pPr marL="0" marR="0" indent="0" algn="r" defTabSz="914400" rtl="0" eaLnBrk="1" fontAlgn="auto" latinLnBrk="0" hangingPunct="1">
              <a:lnSpc>
                <a:spcPct val="100000"/>
              </a:lnSpc>
              <a:spcBef>
                <a:spcPts val="0"/>
              </a:spcBef>
              <a:spcAft>
                <a:spcPts val="0"/>
              </a:spcAft>
              <a:buClrTx/>
              <a:buSzTx/>
              <a:buFontTx/>
              <a:buNone/>
              <a:defRPr sz="800">
                <a:solidFill>
                  <a:schemeClr val="bg1"/>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prstClr val="white"/>
                </a:solidFill>
                <a:effectLst/>
                <a:uLnTx/>
                <a:uFillTx/>
                <a:latin typeface="+mn-lt"/>
                <a:ea typeface="+mn-ea"/>
                <a:cs typeface="+mn-cs"/>
              </a:rPr>
              <a:t>Insert Photo Credit Here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8" descr="attach"/>
          <p:cNvPicPr>
            <a:picLocks noChangeAspect="1"/>
          </p:cNvPicPr>
          <p:nvPr userDrawn="1"/>
        </p:nvPicPr>
        <p:blipFill>
          <a:blip r:embed="rId16"/>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cs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028" name="Rectangle 2"/>
          <p:cNvSpPr>
            <a:spLocks noChangeArrowheads="1"/>
          </p:cNvSpPr>
          <p:nvPr/>
        </p:nvSpPr>
        <p:spPr bwMode="ltGray">
          <a:xfrm>
            <a:off x="417513" y="452755"/>
            <a:ext cx="438150" cy="474663"/>
          </a:xfrm>
          <a:prstGeom prst="rect">
            <a:avLst/>
          </a:prstGeom>
          <a:solidFill>
            <a:schemeClr val="accent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3"/>
          <p:cNvSpPr>
            <a:spLocks noChangeArrowheads="1"/>
          </p:cNvSpPr>
          <p:nvPr/>
        </p:nvSpPr>
        <p:spPr bwMode="ltGray">
          <a:xfrm>
            <a:off x="800100" y="452755"/>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4"/>
          <p:cNvSpPr>
            <a:spLocks noChangeArrowheads="1"/>
          </p:cNvSpPr>
          <p:nvPr/>
        </p:nvSpPr>
        <p:spPr bwMode="ltGray">
          <a:xfrm>
            <a:off x="541338" y="875030"/>
            <a:ext cx="422275" cy="474663"/>
          </a:xfrm>
          <a:prstGeom prst="rect">
            <a:avLst/>
          </a:prstGeom>
          <a:solidFill>
            <a:schemeClr val="folHlink"/>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5"/>
          <p:cNvSpPr>
            <a:spLocks noChangeArrowheads="1"/>
          </p:cNvSpPr>
          <p:nvPr/>
        </p:nvSpPr>
        <p:spPr bwMode="ltGray">
          <a:xfrm>
            <a:off x="911225" y="875030"/>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6"/>
          <p:cNvSpPr>
            <a:spLocks noChangeArrowheads="1"/>
          </p:cNvSpPr>
          <p:nvPr/>
        </p:nvSpPr>
        <p:spPr bwMode="ltGray">
          <a:xfrm>
            <a:off x="127000" y="802005"/>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7"/>
          <p:cNvSpPr>
            <a:spLocks noChangeArrowheads="1"/>
          </p:cNvSpPr>
          <p:nvPr/>
        </p:nvSpPr>
        <p:spPr bwMode="gray">
          <a:xfrm>
            <a:off x="762000" y="344805"/>
            <a:ext cx="31750" cy="1052513"/>
          </a:xfrm>
          <a:prstGeom prst="rect">
            <a:avLst/>
          </a:prstGeom>
          <a:solidFill>
            <a:schemeClr val="bg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4" name="Rectangle 8"/>
          <p:cNvSpPr>
            <a:spLocks noChangeArrowheads="1"/>
          </p:cNvSpPr>
          <p:nvPr/>
        </p:nvSpPr>
        <p:spPr bwMode="gray">
          <a:xfrm>
            <a:off x="442913" y="1135380"/>
            <a:ext cx="8226425" cy="31750"/>
          </a:xfrm>
          <a:prstGeom prst="rect">
            <a:avLst/>
          </a:prstGeom>
          <a:gradFill rotWithShape="0">
            <a:gsLst>
              <a:gs pos="0">
                <a:schemeClr val="bg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5" name="Rectangle 9"/>
          <p:cNvSpPr>
            <a:spLocks noGrp="1"/>
          </p:cNvSpPr>
          <p:nvPr>
            <p:ph type="title"/>
          </p:nvPr>
        </p:nvSpPr>
        <p:spPr>
          <a:xfrm>
            <a:off x="916940" y="332740"/>
            <a:ext cx="7649845" cy="765810"/>
          </a:xfrm>
          <a:prstGeom prst="rect">
            <a:avLst/>
          </a:prstGeom>
          <a:noFill/>
          <a:ln w="9525">
            <a:noFill/>
          </a:ln>
        </p:spPr>
        <p:txBody>
          <a:bodyPr anchor="b" anchorCtr="0"/>
          <a:lstStyle/>
          <a:p>
            <a:pPr lvl="0"/>
            <a:r>
              <a:rPr lang="zh-CN" altLang="en-US" dirty="0"/>
              <a:t>单击此处编辑母版标题样式</a:t>
            </a:r>
          </a:p>
        </p:txBody>
      </p:sp>
      <p:sp>
        <p:nvSpPr>
          <p:cNvPr id="1036" name="Rectangle 10"/>
          <p:cNvSpPr>
            <a:spLocks noGrp="1"/>
          </p:cNvSpPr>
          <p:nvPr>
            <p:ph type="body"/>
          </p:nvPr>
        </p:nvSpPr>
        <p:spPr>
          <a:xfrm>
            <a:off x="868045" y="1307465"/>
            <a:ext cx="8138795" cy="495681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buClrTx/>
              <a:buSzTx/>
              <a:buFontTx/>
              <a:buNone/>
              <a:defRPr kumimoji="0" sz="1000" b="1" i="1">
                <a:solidFill>
                  <a:srgbClr val="009999"/>
                </a:solidFill>
                <a:latin typeface="Arial Narrow" panose="020B0606020202030204" pitchFamily="34" charset="0"/>
                <a:cs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52591" name="Rectangle 15"/>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spcBef>
                <a:spcPct val="0"/>
              </a:spcBef>
              <a:buClrTx/>
              <a:buSzTx/>
              <a:buFontTx/>
              <a:buNone/>
              <a:defRPr kumimoji="1" sz="1200" b="1" i="1" dirty="0">
                <a:solidFill>
                  <a:srgbClr val="009999"/>
                </a:solidFill>
                <a:latin typeface="Arial Narrow" panose="020B0606020202030204" pitchFamily="34" charset="0"/>
                <a:cs typeface="Times New Roman" panose="02020603050405020304" pitchFamily="18"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6.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7.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3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Copperplate Gothic Bold" panose="020E0705020206020404" pitchFamily="34" charset="0"/>
                <a:ea typeface="+mj-ea"/>
                <a:cs typeface="+mj-cs"/>
              </a:rPr>
              <a:t>Logic and Proofs</a:t>
            </a:r>
          </a:p>
        </p:txBody>
      </p:sp>
      <p:sp>
        <p:nvSpPr>
          <p:cNvPr id="6147" name="Rectangle 3"/>
          <p:cNvSpPr>
            <a:spLocks noGrp="1"/>
          </p:cNvSpPr>
          <p:nvPr>
            <p:ph type="subTitle" idx="1"/>
          </p:nvPr>
        </p:nvSpPr>
        <p:spPr>
          <a:xfrm>
            <a:off x="1371600" y="3965575"/>
            <a:ext cx="6400800" cy="1752600"/>
          </a:xfrm>
        </p:spPr>
        <p:txBody>
          <a:bodyPr vert="horz" wrap="square" lIns="91440" tIns="45720" rIns="91440" bIns="45720" anchor="t" anchorCtr="0"/>
          <a:lstStyle/>
          <a:p>
            <a:pPr eaLnBrk="1" hangingPunct="1">
              <a:buSzPct val="60000"/>
            </a:pPr>
            <a:endParaRPr lang="zh-CN" altLang="en-US" dirty="0">
              <a:latin typeface="+mn-lt"/>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717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717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7173" name="Rectangle 2"/>
          <p:cNvSpPr>
            <a:spLocks noGrp="1"/>
          </p:cNvSpPr>
          <p:nvPr>
            <p:ph type="title"/>
          </p:nvPr>
        </p:nvSpPr>
        <p:spPr/>
        <p:txBody>
          <a:bodyPr vert="horz" wrap="square" lIns="91440" tIns="45720" rIns="91440" bIns="45720" anchor="b" anchorCtr="0"/>
          <a:lstStyle/>
          <a:p>
            <a:pPr eaLnBrk="1" hangingPunct="1"/>
            <a:r>
              <a:rPr lang="en-US" altLang="zh-CN" sz="4000" dirty="0"/>
              <a:t>Logics</a:t>
            </a:r>
          </a:p>
        </p:txBody>
      </p:sp>
      <p:sp>
        <p:nvSpPr>
          <p:cNvPr id="7174" name="Rectangle 3"/>
          <p:cNvSpPr>
            <a:spLocks noGrp="1"/>
          </p:cNvSpPr>
          <p:nvPr>
            <p:ph idx="1"/>
          </p:nvPr>
        </p:nvSpPr>
        <p:spPr>
          <a:xfrm>
            <a:off x="683260" y="1268730"/>
            <a:ext cx="8503920" cy="4114800"/>
          </a:xfrm>
        </p:spPr>
        <p:txBody>
          <a:bodyPr vert="horz" wrap="square" lIns="91440" tIns="45720" rIns="91440" bIns="45720" anchor="t" anchorCtr="0"/>
          <a:lstStyle/>
          <a:p>
            <a:pPr eaLnBrk="1" hangingPunct="1">
              <a:lnSpc>
                <a:spcPct val="90000"/>
              </a:lnSpc>
            </a:pPr>
            <a:r>
              <a:rPr lang="en-US" altLang="zh-CN" sz="2800" dirty="0"/>
              <a:t>The discipline that deals with the</a:t>
            </a:r>
            <a:r>
              <a:rPr lang="en-US" altLang="zh-CN" sz="2800" dirty="0">
                <a:solidFill>
                  <a:srgbClr val="FF0000"/>
                </a:solidFill>
              </a:rPr>
              <a:t> methods of reasoning</a:t>
            </a:r>
            <a:r>
              <a:rPr lang="en-US" altLang="zh-CN" sz="2800" dirty="0"/>
              <a:t>.</a:t>
            </a:r>
          </a:p>
          <a:p>
            <a:pPr lvl="1" eaLnBrk="1" hangingPunct="1">
              <a:lnSpc>
                <a:spcPct val="90000"/>
              </a:lnSpc>
            </a:pPr>
            <a:r>
              <a:rPr lang="en-US" altLang="zh-CN" sz="2400" dirty="0"/>
              <a:t>On the elementary level, logic provides rules and techniques for determining whether a given argument valid.</a:t>
            </a:r>
          </a:p>
          <a:p>
            <a:pPr lvl="1" eaLnBrk="1" hangingPunct="1">
              <a:lnSpc>
                <a:spcPct val="90000"/>
              </a:lnSpc>
            </a:pPr>
            <a:r>
              <a:rPr lang="en-US" altLang="zh-CN" sz="2400" dirty="0"/>
              <a:t>Logical reasoning is used in mathematics to prove theorems</a:t>
            </a:r>
          </a:p>
          <a:p>
            <a:pPr lvl="1" eaLnBrk="1" hangingPunct="1">
              <a:lnSpc>
                <a:spcPct val="90000"/>
              </a:lnSpc>
            </a:pPr>
            <a:r>
              <a:rPr lang="en-US" altLang="zh-CN" sz="2400" dirty="0"/>
              <a:t>In computer science to verify the correctness of programs and to prove theorems</a:t>
            </a:r>
          </a:p>
          <a:p>
            <a:pPr lvl="1" eaLnBrk="1" hangingPunct="1">
              <a:lnSpc>
                <a:spcPct val="90000"/>
              </a:lnSpc>
            </a:pPr>
            <a:r>
              <a:rPr lang="en-US" altLang="zh-CN" sz="2400" dirty="0"/>
              <a:t>In the natural and physical sciences to draw conclusions from experiments</a:t>
            </a:r>
          </a:p>
          <a:p>
            <a:pPr lvl="1" eaLnBrk="1" hangingPunct="1">
              <a:lnSpc>
                <a:spcPct val="90000"/>
              </a:lnSpc>
            </a:pPr>
            <a:r>
              <a:rPr lang="en-US" altLang="zh-CN" sz="2400" dirty="0"/>
              <a:t>In the social sciences, and in our everyday lives to solve a multitude of problems.</a:t>
            </a:r>
          </a:p>
          <a:p>
            <a:pPr lvl="0" eaLnBrk="1" hangingPunct="1">
              <a:lnSpc>
                <a:spcPct val="90000"/>
              </a:lnSpc>
            </a:pPr>
            <a:r>
              <a:rPr lang="en-US" altLang="zh-CN" sz="2400" b="1" noProof="0" dirty="0">
                <a:ln>
                  <a:noFill/>
                </a:ln>
                <a:effectLst/>
                <a:uLnTx/>
                <a:uFillTx/>
                <a:latin typeface="Times New Roman" panose="02020603050405020304" pitchFamily="18" charset="0"/>
                <a:cs typeface="Times New Roman" panose="02020603050405020304" pitchFamily="18" charset="0"/>
                <a:sym typeface="+mn-ea"/>
              </a:rPr>
              <a:t>Examples</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lvl="1" eaLnBrk="1" hangingPunct="1">
              <a:lnSpc>
                <a:spcPct val="90000"/>
              </a:lnSpc>
            </a:pPr>
            <a:r>
              <a:rPr lang="en-US" altLang="zh-CN" sz="2400" noProof="0" dirty="0">
                <a:ln>
                  <a:noFill/>
                </a:ln>
                <a:effectLst/>
                <a:uLnTx/>
                <a:uFillTx/>
                <a:latin typeface="Times New Roman" panose="02020603050405020304" pitchFamily="18" charset="0"/>
                <a:cs typeface="Times New Roman" panose="02020603050405020304" pitchFamily="18" charset="0"/>
                <a:sym typeface="+mn-ea"/>
              </a:rPr>
              <a:t>Who raise fish</a:t>
            </a:r>
            <a:r>
              <a:rPr lang="zh-CN" altLang="en-US" sz="2400" noProof="0" dirty="0">
                <a:ln>
                  <a:noFill/>
                </a:ln>
                <a:effectLst/>
                <a:uLnTx/>
                <a:uFillTx/>
                <a:latin typeface="Times New Roman" panose="02020603050405020304" pitchFamily="18" charset="0"/>
                <a:cs typeface="Times New Roman" panose="02020603050405020304" pitchFamily="18" charset="0"/>
                <a:sym typeface="+mn-ea"/>
              </a:rPr>
              <a:t>?</a:t>
            </a:r>
            <a:endParaRPr lang="zh-CN" altLang="en-US" sz="2400" dirty="0"/>
          </a:p>
          <a:p>
            <a:pPr lvl="1" eaLnBrk="1" hangingPunct="1">
              <a:lnSpc>
                <a:spcPct val="90000"/>
              </a:lnSpc>
            </a:pPr>
            <a:r>
              <a:rPr lang="zh-CN" altLang="en-US" sz="2400" dirty="0"/>
              <a:t>8 </a:t>
            </a:r>
            <a:r>
              <a:rPr lang="en-US" altLang="zh-CN" sz="2400" dirty="0"/>
              <a:t>Queens Problem</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4"/>
          <p:cNvSpPr txBox="1">
            <a:spLocks noGrp="1"/>
          </p:cNvSpPr>
          <p:nvPr>
            <p:ph type="sldNum" sz="quarter" idx="4"/>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ea typeface="+mn-ea"/>
                <a:cs typeface="Times New Roman" panose="02020603050405020304" pitchFamily="18" charset="0"/>
              </a:rPr>
              <a:t>3</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7107" name="日期占位符 5"/>
          <p:cNvSpPr txBox="1">
            <a:spLocks noGrp="1"/>
          </p:cNvSpPr>
          <p:nvPr>
            <p:ph type="dt" sz="half" idx="12"/>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ea typeface="+mn-ea"/>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7108" name="页脚占位符 6"/>
          <p:cNvSpPr txBox="1">
            <a:spLocks noGrp="1"/>
          </p:cNvSpPr>
          <p:nvPr>
            <p:ph type="ftr" sz="quarter" idx="3"/>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ea typeface="+mn-ea"/>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cs typeface="+mn-cs"/>
            </a:endParaRPr>
          </a:p>
        </p:txBody>
      </p:sp>
      <p:sp>
        <p:nvSpPr>
          <p:cNvPr id="47109" name="Rectangle 2"/>
          <p:cNvSpPr>
            <a:spLocks noGrp="1"/>
          </p:cNvSpPr>
          <p:nvPr>
            <p:ph type="title"/>
          </p:nvPr>
        </p:nvSpPr>
        <p:spPr>
          <a:xfrm>
            <a:off x="827405" y="404495"/>
            <a:ext cx="7793038" cy="720725"/>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Who Raise Fish</a:t>
            </a:r>
            <a:r>
              <a:rPr lang="zh-CN" altLang="en-US" sz="3600" dirty="0">
                <a:latin typeface="Copperplate Gothic Bold" panose="020E0705020206020404" pitchFamily="34" charset="0"/>
              </a:rPr>
              <a:t>?</a:t>
            </a:r>
          </a:p>
        </p:txBody>
      </p:sp>
      <p:sp>
        <p:nvSpPr>
          <p:cNvPr id="47110" name="Rectangle 3"/>
          <p:cNvSpPr>
            <a:spLocks noGrp="1"/>
          </p:cNvSpPr>
          <p:nvPr>
            <p:ph type="body" sz="half" idx="1"/>
          </p:nvPr>
        </p:nvSpPr>
        <p:spPr>
          <a:xfrm>
            <a:off x="539433" y="1340485"/>
            <a:ext cx="5992812" cy="5143500"/>
          </a:xfrm>
        </p:spPr>
        <p:txBody>
          <a:bodyPr vert="horz" wrap="square" lIns="91440" tIns="45720" rIns="91440" bIns="45720" anchor="t" anchorCtr="0"/>
          <a:lstStyle/>
          <a:p>
            <a:pPr eaLnBrk="1" hangingPunct="1">
              <a:spcBef>
                <a:spcPts val="600"/>
              </a:spcBef>
              <a:spcAft>
                <a:spcPts val="300"/>
              </a:spcAft>
              <a:buClr>
                <a:schemeClr val="folHlink"/>
              </a:buClr>
              <a:buSzPct val="60000"/>
              <a:buFont typeface="Wingdings" panose="05000000000000000000" pitchFamily="2" charset="2"/>
            </a:pPr>
            <a:r>
              <a:rPr lang="zh-CN" altLang="en-US" sz="2600" dirty="0"/>
              <a:t>爱因斯坦大呼过瘾的题目!据说是</a:t>
            </a:r>
            <a:r>
              <a:rPr lang="en-US" altLang="zh-CN" sz="2600" dirty="0"/>
              <a:t>20</a:t>
            </a:r>
            <a:r>
              <a:rPr lang="zh-CN" altLang="en-US" sz="2600" dirty="0"/>
              <a:t>世纪初爱因斯坦出的题。</a:t>
            </a:r>
            <a:endParaRPr lang="en-US" altLang="zh-CN" sz="2600" dirty="0"/>
          </a:p>
          <a:p>
            <a:pPr eaLnBrk="1" hangingPunct="1">
              <a:spcBef>
                <a:spcPts val="600"/>
              </a:spcBef>
              <a:spcAft>
                <a:spcPts val="300"/>
              </a:spcAft>
              <a:buClr>
                <a:schemeClr val="folHlink"/>
              </a:buClr>
              <a:buSzPct val="60000"/>
              <a:buFont typeface="Wingdings" panose="05000000000000000000" pitchFamily="2" charset="2"/>
            </a:pPr>
            <a:r>
              <a:rPr lang="zh-CN" altLang="en-US" sz="2600" dirty="0"/>
              <a:t>1981年出现在柏林的德国逻辑思考学院面试题中，98%的测验者无法解题。</a:t>
            </a:r>
            <a:endParaRPr lang="en-US" altLang="zh-CN" sz="2600" dirty="0"/>
          </a:p>
          <a:p>
            <a:pPr eaLnBrk="1" hangingPunct="1">
              <a:spcBef>
                <a:spcPts val="600"/>
              </a:spcBef>
              <a:spcAft>
                <a:spcPts val="300"/>
              </a:spcAft>
              <a:buClr>
                <a:schemeClr val="folHlink"/>
              </a:buClr>
              <a:buSzPct val="60000"/>
              <a:buFont typeface="Wingdings" panose="05000000000000000000" pitchFamily="2" charset="2"/>
            </a:pPr>
            <a:r>
              <a:rPr lang="zh-CN" altLang="en-US" sz="2600" dirty="0"/>
              <a:t>以下是题目的中译版</a:t>
            </a:r>
            <a:endParaRPr lang="en-US" altLang="zh-CN" sz="2600" dirty="0"/>
          </a:p>
          <a:p>
            <a:pPr eaLnBrk="1" hangingPunct="1">
              <a:spcBef>
                <a:spcPts val="600"/>
              </a:spcBef>
              <a:spcAft>
                <a:spcPts val="300"/>
              </a:spcAft>
              <a:buClr>
                <a:schemeClr val="folHlink"/>
              </a:buClr>
              <a:buSzPct val="60000"/>
              <a:buFont typeface="Wingdings" panose="05000000000000000000" pitchFamily="2" charset="2"/>
            </a:pPr>
            <a:r>
              <a:rPr lang="zh-CN" altLang="en-US" sz="2600" b="1" dirty="0"/>
              <a:t>前提：</a:t>
            </a:r>
          </a:p>
          <a:p>
            <a:pPr marL="1390650" lvl="2" indent="-533400" eaLnBrk="1" hangingPunct="1">
              <a:spcBef>
                <a:spcPts val="600"/>
              </a:spcBef>
              <a:spcAft>
                <a:spcPts val="300"/>
              </a:spcAft>
              <a:buClrTx/>
              <a:buSzPct val="100000"/>
              <a:buFont typeface="Copperplate Gothic Light" panose="020E0507020206020404" pitchFamily="34" charset="0"/>
              <a:buAutoNum type="arabicPeriod"/>
            </a:pPr>
            <a:r>
              <a:rPr lang="zh-CN" altLang="en-US" dirty="0">
                <a:latin typeface="Times New Roman" panose="02020603050405020304" pitchFamily="18" charset="0"/>
                <a:cs typeface="Times New Roman" panose="02020603050405020304" pitchFamily="18" charset="0"/>
              </a:rPr>
              <a:t>有五间房屋排成一列</a:t>
            </a:r>
          </a:p>
          <a:p>
            <a:pPr marL="1390650" lvl="2" indent="-533400" eaLnBrk="1" hangingPunct="1">
              <a:spcBef>
                <a:spcPts val="600"/>
              </a:spcBef>
              <a:spcAft>
                <a:spcPts val="300"/>
              </a:spcAft>
              <a:buClrTx/>
              <a:buSzPct val="100000"/>
              <a:buFont typeface="Copperplate Gothic Light" panose="020E0507020206020404" pitchFamily="34" charset="0"/>
              <a:buAutoNum type="arabicPeriod"/>
            </a:pPr>
            <a:r>
              <a:rPr lang="zh-CN" altLang="en-US" dirty="0">
                <a:latin typeface="Times New Roman" panose="02020603050405020304" pitchFamily="18" charset="0"/>
                <a:cs typeface="Times New Roman" panose="02020603050405020304" pitchFamily="18" charset="0"/>
              </a:rPr>
              <a:t>所有房屋的外表颜色都不一样</a:t>
            </a:r>
          </a:p>
          <a:p>
            <a:pPr marL="1390650" lvl="2" indent="-533400" eaLnBrk="1" hangingPunct="1">
              <a:spcBef>
                <a:spcPts val="600"/>
              </a:spcBef>
              <a:spcAft>
                <a:spcPts val="300"/>
              </a:spcAft>
              <a:buClrTx/>
              <a:buSzPct val="100000"/>
              <a:buFont typeface="Copperplate Gothic Light" panose="020E0507020206020404" pitchFamily="34" charset="0"/>
              <a:buAutoNum type="arabicPeriod"/>
            </a:pPr>
            <a:r>
              <a:rPr lang="zh-CN" altLang="en-US" dirty="0">
                <a:latin typeface="Times New Roman" panose="02020603050405020304" pitchFamily="18" charset="0"/>
                <a:cs typeface="Times New Roman" panose="02020603050405020304" pitchFamily="18" charset="0"/>
              </a:rPr>
              <a:t>所有的屋主来自不同的国家</a:t>
            </a:r>
          </a:p>
          <a:p>
            <a:pPr marL="1390650" lvl="2" indent="-533400" eaLnBrk="1" hangingPunct="1">
              <a:spcBef>
                <a:spcPts val="600"/>
              </a:spcBef>
              <a:spcAft>
                <a:spcPts val="300"/>
              </a:spcAft>
              <a:buClrTx/>
              <a:buSzPct val="100000"/>
              <a:buFont typeface="Copperplate Gothic Light" panose="020E0507020206020404" pitchFamily="34" charset="0"/>
              <a:buAutoNum type="arabicPeriod"/>
            </a:pPr>
            <a:r>
              <a:rPr lang="zh-CN" altLang="en-US" dirty="0">
                <a:latin typeface="Times New Roman" panose="02020603050405020304" pitchFamily="18" charset="0"/>
                <a:cs typeface="Times New Roman" panose="02020603050405020304" pitchFamily="18" charset="0"/>
              </a:rPr>
              <a:t>所有的屋主都养不同的宠物、喝不同的饮料、抽不同品牌的香烟</a:t>
            </a:r>
          </a:p>
          <a:p>
            <a:pPr eaLnBrk="1" hangingPunct="1">
              <a:spcBef>
                <a:spcPts val="600"/>
              </a:spcBef>
              <a:spcAft>
                <a:spcPts val="300"/>
              </a:spcAft>
              <a:buClr>
                <a:schemeClr val="folHlink"/>
              </a:buClr>
              <a:buSzPct val="60000"/>
              <a:buFont typeface="Wingdings" panose="05000000000000000000" pitchFamily="2" charset="2"/>
              <a:buAutoNum type="arabicPeriod"/>
            </a:pPr>
            <a:endParaRPr lang="zh-CN" altLang="en-US" sz="2400" dirty="0"/>
          </a:p>
        </p:txBody>
      </p:sp>
      <p:pic>
        <p:nvPicPr>
          <p:cNvPr id="47111" name="Picture 4" descr="einstein"/>
          <p:cNvPicPr>
            <a:picLocks noGrp="1" noChangeAspect="1"/>
          </p:cNvPicPr>
          <p:nvPr>
            <p:ph sz="half" idx="2"/>
          </p:nvPr>
        </p:nvPicPr>
        <p:blipFill>
          <a:blip r:embed="rId2"/>
          <a:srcRect/>
          <a:stretch>
            <a:fillRect/>
          </a:stretch>
        </p:blipFill>
        <p:spPr>
          <a:xfrm>
            <a:off x="6419850" y="44450"/>
            <a:ext cx="2520950" cy="2246313"/>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813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813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8133" name="Rectangle 3"/>
          <p:cNvSpPr>
            <a:spLocks noGrp="1"/>
          </p:cNvSpPr>
          <p:nvPr>
            <p:ph idx="1"/>
          </p:nvPr>
        </p:nvSpPr>
        <p:spPr>
          <a:xfrm>
            <a:off x="755650" y="1289050"/>
            <a:ext cx="7272338" cy="5111750"/>
          </a:xfrm>
        </p:spPr>
        <p:txBody>
          <a:bodyPr vert="horz" wrap="square" lIns="91440" tIns="45720" rIns="91440" bIns="45720" anchor="t" anchorCtr="0"/>
          <a:lstStyle/>
          <a:p>
            <a:pPr marL="179705" indent="-324485" eaLnBrk="1" hangingPunct="1"/>
            <a:r>
              <a:rPr lang="zh-CN" altLang="en-US" sz="2000" b="1" dirty="0"/>
              <a:t>提示：</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英国人住在红色房屋</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瑞典人养狗</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丹麦人喝茶</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绿色的房子在白色房子的左边</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绿色房屋的屋主喝咖啡</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抽 </a:t>
            </a:r>
            <a:r>
              <a:rPr lang="en-US" altLang="zh-CN" sz="1800" dirty="0"/>
              <a:t>Pall Mall </a:t>
            </a:r>
            <a:r>
              <a:rPr lang="zh-CN" altLang="en-US" sz="1800" dirty="0"/>
              <a:t>香烟的屋主养鸟</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黄色屋主抽 </a:t>
            </a:r>
            <a:r>
              <a:rPr lang="en-US" altLang="zh-CN" sz="1800" dirty="0"/>
              <a:t>Dunhill</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位於最中间的屋主喝牛奶</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挪威人住在第一间房屋</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抽 </a:t>
            </a:r>
            <a:r>
              <a:rPr lang="en-US" altLang="zh-CN" sz="1800" dirty="0"/>
              <a:t>Blend </a:t>
            </a:r>
            <a:r>
              <a:rPr lang="zh-CN" altLang="en-US" sz="1800" dirty="0"/>
              <a:t>的人住在养猫人家的隔壁</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养马的屋主隔壁住抽 </a:t>
            </a:r>
            <a:r>
              <a:rPr lang="en-US" altLang="zh-CN" sz="1800" dirty="0"/>
              <a:t>Dunhill </a:t>
            </a:r>
            <a:r>
              <a:rPr lang="zh-CN" altLang="en-US" sz="1800" dirty="0"/>
              <a:t>的人家</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抽 </a:t>
            </a:r>
            <a:r>
              <a:rPr lang="en-US" altLang="zh-CN" sz="1800" dirty="0"/>
              <a:t>Blue Master </a:t>
            </a:r>
            <a:r>
              <a:rPr lang="zh-CN" altLang="en-US" sz="1800" dirty="0"/>
              <a:t>的屋主他喝啤酒</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德国人抽 </a:t>
            </a:r>
            <a:r>
              <a:rPr lang="en-US" altLang="zh-CN" sz="1800" dirty="0"/>
              <a:t>Prince</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挪威人住在蓝色房子隔壁</a:t>
            </a:r>
          </a:p>
          <a:p>
            <a:pPr marL="914400" lvl="1" indent="-457200" eaLnBrk="1" hangingPunct="1">
              <a:lnSpc>
                <a:spcPct val="90000"/>
              </a:lnSpc>
              <a:buClrTx/>
              <a:buSzPct val="100000"/>
              <a:buFont typeface="Wingdings" panose="05000000000000000000" pitchFamily="2" charset="2"/>
              <a:buAutoNum type="arabicPeriod"/>
            </a:pPr>
            <a:r>
              <a:rPr lang="zh-CN" altLang="en-US" sz="1800" dirty="0"/>
              <a:t>只喝开水的人家住在抽 </a:t>
            </a:r>
            <a:r>
              <a:rPr lang="en-US" altLang="zh-CN" sz="1800" dirty="0"/>
              <a:t>Blend </a:t>
            </a:r>
            <a:r>
              <a:rPr lang="zh-CN" altLang="en-US" sz="1800" dirty="0"/>
              <a:t>的隔壁</a:t>
            </a:r>
          </a:p>
        </p:txBody>
      </p:sp>
      <p:pic>
        <p:nvPicPr>
          <p:cNvPr id="48134" name="Picture 4" descr="einstein"/>
          <p:cNvPicPr>
            <a:picLocks noChangeAspect="1"/>
          </p:cNvPicPr>
          <p:nvPr/>
        </p:nvPicPr>
        <p:blipFill>
          <a:blip r:embed="rId2"/>
          <a:stretch>
            <a:fillRect/>
          </a:stretch>
        </p:blipFill>
        <p:spPr>
          <a:xfrm>
            <a:off x="6372225" y="0"/>
            <a:ext cx="2520950" cy="2246313"/>
          </a:xfrm>
          <a:prstGeom prst="rect">
            <a:avLst/>
          </a:prstGeom>
          <a:noFill/>
          <a:ln w="9525">
            <a:noFill/>
          </a:ln>
        </p:spPr>
      </p:pic>
      <p:sp>
        <p:nvSpPr>
          <p:cNvPr id="48135" name="Rectangle 2"/>
          <p:cNvSpPr>
            <a:spLocks noGrp="1"/>
          </p:cNvSpPr>
          <p:nvPr>
            <p:ph type="title"/>
          </p:nvPr>
        </p:nvSpPr>
        <p:spPr>
          <a:xfrm>
            <a:off x="899795" y="404495"/>
            <a:ext cx="7793038" cy="720725"/>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Who Raise Fish</a:t>
            </a:r>
            <a:r>
              <a:rPr lang="zh-CN" altLang="en-US" sz="3600" dirty="0">
                <a:latin typeface="Copperplate Gothic Bold" panose="020E07050202060204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p:nvPr/>
        </p:nvSpPr>
        <p:spPr>
          <a:xfrm>
            <a:off x="838200" y="1557338"/>
            <a:ext cx="7467600" cy="3270250"/>
          </a:xfrm>
          <a:prstGeom prst="rect">
            <a:avLst/>
          </a:prstGeom>
          <a:solidFill>
            <a:schemeClr val="accent2"/>
          </a:solidFill>
          <a:ln w="28575" cap="flat" cmpd="sng">
            <a:solidFill>
              <a:schemeClr val="folHlink"/>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342900" lvl="0" indent="-342900" eaLnBrk="1" hangingPunct="1">
              <a:lnSpc>
                <a:spcPct val="90000"/>
              </a:lnSpc>
              <a:spcBef>
                <a:spcPts val="1200"/>
              </a:spcBef>
              <a:buFontTx/>
              <a:buNone/>
            </a:pPr>
            <a:r>
              <a:rPr lang="zh-CN" altLang="en-US" sz="2800" dirty="0">
                <a:latin typeface="Times New Roman" panose="02020603050405020304" pitchFamily="18" charset="0"/>
              </a:rPr>
              <a:t>答案：	</a:t>
            </a:r>
          </a:p>
          <a:p>
            <a:pPr marL="342900" lvl="0" indent="-342900" eaLnBrk="1" hangingPunct="1">
              <a:lnSpc>
                <a:spcPct val="90000"/>
              </a:lnSpc>
              <a:buFontTx/>
              <a:buNone/>
            </a:pPr>
            <a:r>
              <a:rPr lang="zh-CN" altLang="en-US" sz="2800" dirty="0">
                <a:latin typeface="Times New Roman" panose="02020603050405020304" pitchFamily="18" charset="0"/>
              </a:rPr>
              <a:t>		挪威-黄色房屋-猫-水-</a:t>
            </a:r>
            <a:r>
              <a:rPr lang="en-US" altLang="zh-CN" sz="2800" dirty="0">
                <a:latin typeface="Times New Roman" panose="02020603050405020304" pitchFamily="18" charset="0"/>
              </a:rPr>
              <a:t>Dunhill</a:t>
            </a:r>
          </a:p>
          <a:p>
            <a:pPr marL="342900" lvl="0" indent="-342900" eaLnBrk="1" hangingPunct="1">
              <a:lnSpc>
                <a:spcPct val="90000"/>
              </a:lnSpc>
              <a:buFontTx/>
              <a:buNone/>
            </a:pPr>
            <a:r>
              <a:rPr lang="zh-CN" altLang="en-US" sz="2800" dirty="0">
                <a:latin typeface="Times New Roman" panose="02020603050405020304" pitchFamily="18" charset="0"/>
              </a:rPr>
              <a:t>		丹麦-蓝色房屋-马-茶-</a:t>
            </a:r>
            <a:r>
              <a:rPr lang="en-US" altLang="zh-CN" sz="2800" dirty="0">
                <a:latin typeface="Times New Roman" panose="02020603050405020304" pitchFamily="18" charset="0"/>
              </a:rPr>
              <a:t>Blend</a:t>
            </a:r>
          </a:p>
          <a:p>
            <a:pPr marL="342900" lvl="0" indent="-342900" eaLnBrk="1" hangingPunct="1">
              <a:lnSpc>
                <a:spcPct val="90000"/>
              </a:lnSpc>
              <a:buFontTx/>
              <a:buNone/>
            </a:pPr>
            <a:r>
              <a:rPr lang="zh-CN" altLang="en-US" sz="2800" dirty="0">
                <a:latin typeface="Times New Roman" panose="02020603050405020304" pitchFamily="18" charset="0"/>
              </a:rPr>
              <a:t>		英国-红色房屋-鸟-牛奶-</a:t>
            </a:r>
            <a:r>
              <a:rPr lang="en-US" altLang="zh-CN" sz="2800" dirty="0">
                <a:latin typeface="Times New Roman" panose="02020603050405020304" pitchFamily="18" charset="0"/>
              </a:rPr>
              <a:t>Pall</a:t>
            </a:r>
          </a:p>
          <a:p>
            <a:pPr marL="342900" lvl="0" indent="-342900" eaLnBrk="1" hangingPunct="1">
              <a:lnSpc>
                <a:spcPct val="90000"/>
              </a:lnSpc>
              <a:buFontTx/>
              <a:buNone/>
            </a:pPr>
            <a:r>
              <a:rPr lang="zh-CN" altLang="en-US" sz="2800" dirty="0">
                <a:latin typeface="Times New Roman" panose="02020603050405020304" pitchFamily="18" charset="0"/>
              </a:rPr>
              <a:t>		德国-绿色房屋-鱼-咖啡-</a:t>
            </a:r>
            <a:r>
              <a:rPr lang="en-US" altLang="zh-CN" sz="2800" dirty="0">
                <a:latin typeface="Times New Roman" panose="02020603050405020304" pitchFamily="18" charset="0"/>
              </a:rPr>
              <a:t>Prince</a:t>
            </a:r>
          </a:p>
          <a:p>
            <a:pPr marL="342900" lvl="0" indent="-342900" eaLnBrk="1" hangingPunct="1">
              <a:lnSpc>
                <a:spcPct val="90000"/>
              </a:lnSpc>
              <a:buFontTx/>
              <a:buNone/>
            </a:pPr>
            <a:r>
              <a:rPr lang="zh-CN" altLang="en-US" sz="2800" dirty="0">
                <a:latin typeface="Times New Roman" panose="02020603050405020304" pitchFamily="18" charset="0"/>
              </a:rPr>
              <a:t>		瑞典-白色房屋-狗-啤酒-</a:t>
            </a:r>
            <a:r>
              <a:rPr lang="en-US" altLang="zh-CN" sz="2800" dirty="0">
                <a:latin typeface="Times New Roman" panose="02020603050405020304" pitchFamily="18" charset="0"/>
              </a:rPr>
              <a:t>Blue</a:t>
            </a:r>
            <a:endParaRPr lang="en-US" altLang="zh-CN" sz="2800" dirty="0">
              <a:latin typeface="Times New Roman" panose="02020603050405020304" pitchFamily="18" charset="0"/>
              <a:ea typeface="Times New Roman" panose="02020603050405020304" pitchFamily="18" charset="0"/>
            </a:endParaRPr>
          </a:p>
        </p:txBody>
      </p:sp>
      <p:sp>
        <p:nvSpPr>
          <p:cNvPr id="49155"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5</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9156"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9157"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8" name="Rectangle 3"/>
          <p:cNvSpPr txBox="1">
            <a:spLocks noChangeArrowheads="1"/>
          </p:cNvSpPr>
          <p:nvPr/>
        </p:nvSpPr>
        <p:spPr bwMode="auto">
          <a:xfrm>
            <a:off x="820738" y="5110163"/>
            <a:ext cx="75676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本题中，缺少一个或多个条件，结果就不唯一。</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如何得到多个（全部）答案？</a:t>
            </a:r>
          </a:p>
        </p:txBody>
      </p:sp>
      <p:sp>
        <p:nvSpPr>
          <p:cNvPr id="2" name="矩形 1"/>
          <p:cNvSpPr/>
          <p:nvPr/>
        </p:nvSpPr>
        <p:spPr>
          <a:xfrm>
            <a:off x="684213" y="1557338"/>
            <a:ext cx="7920037" cy="327025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ts val="600"/>
              </a:spcBef>
              <a:spcAft>
                <a:spcPts val="600"/>
              </a:spcAft>
              <a:buClrTx/>
              <a:buSzTx/>
              <a:buFontTx/>
              <a:buNone/>
            </a:pPr>
            <a:r>
              <a:rPr lang="zh-CN" altLang="en-US" sz="2800" b="1" dirty="0">
                <a:solidFill>
                  <a:srgbClr val="FF0000"/>
                </a:solidFill>
                <a:latin typeface="Times New Roman" panose="02020603050405020304" pitchFamily="18" charset="0"/>
              </a:rPr>
              <a:t>问题:  请问谁养鱼 ?</a:t>
            </a:r>
          </a:p>
          <a:p>
            <a:pPr marL="800100" lvl="1" indent="-342900" eaLnBrk="1" hangingPunct="1">
              <a:spcBef>
                <a:spcPts val="600"/>
              </a:spcBef>
              <a:spcAft>
                <a:spcPts val="600"/>
              </a:spcAft>
              <a:buClr>
                <a:srgbClr val="FF0000"/>
              </a:buClr>
              <a:buSzTx/>
            </a:pPr>
            <a:r>
              <a:rPr lang="zh-CN" altLang="en-US" sz="2400" b="1" dirty="0">
                <a:latin typeface="Times New Roman" panose="02020603050405020304" pitchFamily="18" charset="0"/>
              </a:rPr>
              <a:t>房屋</a:t>
            </a:r>
            <a:r>
              <a:rPr lang="zh-CN" altLang="en-US" sz="2400" dirty="0">
                <a:latin typeface="Times New Roman" panose="02020603050405020304" pitchFamily="18" charset="0"/>
              </a:rPr>
              <a:t>——红色、绿色、白色、黄色、蓝色</a:t>
            </a:r>
          </a:p>
          <a:p>
            <a:pPr marL="800100" lvl="1" indent="-342900" eaLnBrk="1" hangingPunct="1">
              <a:spcBef>
                <a:spcPts val="600"/>
              </a:spcBef>
              <a:spcAft>
                <a:spcPts val="600"/>
              </a:spcAft>
              <a:buClr>
                <a:srgbClr val="FF0000"/>
              </a:buClr>
              <a:buSzTx/>
            </a:pPr>
            <a:r>
              <a:rPr lang="zh-CN" altLang="en-US" sz="2400" b="1" dirty="0">
                <a:latin typeface="Times New Roman" panose="02020603050405020304" pitchFamily="18" charset="0"/>
              </a:rPr>
              <a:t>主人</a:t>
            </a:r>
            <a:r>
              <a:rPr lang="zh-CN" altLang="en-US" sz="2400" dirty="0">
                <a:latin typeface="Times New Roman" panose="02020603050405020304" pitchFamily="18" charset="0"/>
              </a:rPr>
              <a:t>——英国、瑞典、丹麦、挪威、德国</a:t>
            </a:r>
          </a:p>
          <a:p>
            <a:pPr marL="800100" lvl="1" indent="-342900" eaLnBrk="1" hangingPunct="1">
              <a:spcBef>
                <a:spcPts val="600"/>
              </a:spcBef>
              <a:spcAft>
                <a:spcPts val="600"/>
              </a:spcAft>
              <a:buClr>
                <a:srgbClr val="FF0000"/>
              </a:buClr>
              <a:buSzTx/>
            </a:pPr>
            <a:r>
              <a:rPr lang="zh-CN" altLang="en-US" sz="2400" b="1" dirty="0">
                <a:latin typeface="Times New Roman" panose="02020603050405020304" pitchFamily="18" charset="0"/>
              </a:rPr>
              <a:t>饮料</a:t>
            </a:r>
            <a:r>
              <a:rPr lang="zh-CN" altLang="en-US" sz="2400" dirty="0">
                <a:latin typeface="Times New Roman" panose="02020603050405020304" pitchFamily="18" charset="0"/>
              </a:rPr>
              <a:t>——茶、咖啡、牛奶、啤酒、水</a:t>
            </a:r>
          </a:p>
          <a:p>
            <a:pPr marL="800100" lvl="1" indent="-342900" eaLnBrk="1" hangingPunct="1">
              <a:spcBef>
                <a:spcPts val="600"/>
              </a:spcBef>
              <a:spcAft>
                <a:spcPts val="600"/>
              </a:spcAft>
              <a:buClr>
                <a:srgbClr val="FF0000"/>
              </a:buClr>
              <a:buSzTx/>
            </a:pPr>
            <a:r>
              <a:rPr lang="zh-CN" altLang="en-US" sz="2400" b="1" dirty="0">
                <a:latin typeface="Times New Roman" panose="02020603050405020304" pitchFamily="18" charset="0"/>
              </a:rPr>
              <a:t>宠物</a:t>
            </a:r>
            <a:r>
              <a:rPr lang="zh-CN" altLang="en-US" sz="2400" dirty="0">
                <a:latin typeface="Times New Roman" panose="02020603050405020304" pitchFamily="18" charset="0"/>
              </a:rPr>
              <a:t>——狗、鸟、猫、马、鱼</a:t>
            </a:r>
          </a:p>
          <a:p>
            <a:pPr marL="800100" lvl="1" indent="-342900" eaLnBrk="1" hangingPunct="1">
              <a:spcBef>
                <a:spcPts val="600"/>
              </a:spcBef>
              <a:spcAft>
                <a:spcPts val="600"/>
              </a:spcAft>
              <a:buClr>
                <a:srgbClr val="FF0000"/>
              </a:buClr>
              <a:buSzTx/>
            </a:pPr>
            <a:r>
              <a:rPr lang="zh-CN" altLang="en-US" sz="2400" b="1" dirty="0">
                <a:latin typeface="Times New Roman" panose="02020603050405020304" pitchFamily="18" charset="0"/>
              </a:rPr>
              <a:t>香烟</a:t>
            </a:r>
            <a:r>
              <a:rPr lang="zh-CN" altLang="en-US" sz="2400" dirty="0">
                <a:latin typeface="Times New Roman" panose="02020603050405020304" pitchFamily="18" charset="0"/>
              </a:rPr>
              <a:t>——</a:t>
            </a:r>
            <a:r>
              <a:rPr lang="en-US" altLang="zh-CN" sz="2400" dirty="0">
                <a:latin typeface="Times New Roman" panose="02020603050405020304" pitchFamily="18" charset="0"/>
              </a:rPr>
              <a:t>PallMall、Dunhill、Blend、Blue 、Prince</a:t>
            </a:r>
          </a:p>
        </p:txBody>
      </p:sp>
      <p:sp>
        <p:nvSpPr>
          <p:cNvPr id="49160" name="Rectangle 2"/>
          <p:cNvSpPr>
            <a:spLocks noGrp="1"/>
          </p:cNvSpPr>
          <p:nvPr>
            <p:ph type="title"/>
          </p:nvPr>
        </p:nvSpPr>
        <p:spPr>
          <a:xfrm>
            <a:off x="1158875" y="260350"/>
            <a:ext cx="7793038" cy="720725"/>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Who Raise Fish</a:t>
            </a:r>
            <a:r>
              <a:rPr lang="zh-CN" altLang="en-US" sz="3600" dirty="0">
                <a:latin typeface="Copperplate Gothic Bold" panose="020E07050202060204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6</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017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018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0181" name="Rectangle 2"/>
          <p:cNvSpPr>
            <a:spLocks noGrp="1"/>
          </p:cNvSpPr>
          <p:nvPr>
            <p:ph type="title"/>
          </p:nvPr>
        </p:nvSpPr>
        <p:spPr/>
        <p:txBody>
          <a:bodyPr vert="horz" wrap="square" lIns="91440" tIns="45720" rIns="91440" bIns="45720" anchor="b" anchorCtr="0"/>
          <a:lstStyle/>
          <a:p>
            <a:pPr eaLnBrk="1" hangingPunct="1"/>
            <a:r>
              <a:rPr lang="zh-CN" altLang="en-US" sz="3600" dirty="0">
                <a:latin typeface="Copperplate Gothic Bold" panose="020E0705020206020404" pitchFamily="34" charset="0"/>
              </a:rPr>
              <a:t>8 </a:t>
            </a:r>
            <a:r>
              <a:rPr lang="en-US" altLang="zh-CN" sz="3600" dirty="0">
                <a:latin typeface="Copperplate Gothic Bold" panose="020E0705020206020404" pitchFamily="34" charset="0"/>
              </a:rPr>
              <a:t>Queens Problem</a:t>
            </a:r>
            <a:endParaRPr lang="zh-CN" altLang="en-US" sz="3600" dirty="0">
              <a:latin typeface="Copperplate Gothic Bold" panose="020E0705020206020404" pitchFamily="34" charset="0"/>
            </a:endParaRPr>
          </a:p>
        </p:txBody>
      </p:sp>
      <p:pic>
        <p:nvPicPr>
          <p:cNvPr id="50182" name="Picture 3" descr="blank board"/>
          <p:cNvPicPr>
            <a:picLocks noGrp="1" noChangeAspect="1"/>
          </p:cNvPicPr>
          <p:nvPr>
            <p:ph idx="1"/>
          </p:nvPr>
        </p:nvPicPr>
        <p:blipFill>
          <a:blip r:embed="rId2"/>
          <a:srcRect/>
          <a:stretch>
            <a:fillRect/>
          </a:stretch>
        </p:blipFill>
        <p:spPr>
          <a:xfrm>
            <a:off x="827405" y="1630363"/>
            <a:ext cx="3919538" cy="3919537"/>
          </a:xfrm>
        </p:spPr>
      </p:pic>
      <p:sp>
        <p:nvSpPr>
          <p:cNvPr id="7" name="Rectangle 3"/>
          <p:cNvSpPr txBox="1">
            <a:spLocks noChangeArrowheads="1"/>
          </p:cNvSpPr>
          <p:nvPr/>
        </p:nvSpPr>
        <p:spPr bwMode="auto">
          <a:xfrm>
            <a:off x="4693603" y="1603375"/>
            <a:ext cx="4249738" cy="4895850"/>
          </a:xfrm>
          <a:prstGeom prst="rect">
            <a:avLst/>
          </a:prstGeom>
          <a:solidFill>
            <a:schemeClr val="bg1"/>
          </a:solid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00000"/>
              </a:lnSpc>
              <a:spcBef>
                <a:spcPts val="600"/>
              </a:spcBef>
              <a:spcAft>
                <a:spcPts val="600"/>
              </a:spcAft>
              <a:buClr>
                <a:schemeClr val="folHlink"/>
              </a:buClr>
              <a:buSzPct val="60000"/>
              <a:buFont typeface="Wingdings" panose="05000000000000000000" pitchFamily="2" charset="2"/>
              <a:buChar char="n"/>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Eight queens are to be placed on a chess board in such a way that no queen checks against any other queen.</a:t>
            </a:r>
          </a:p>
          <a:p>
            <a:pPr marL="742950" marR="0" lvl="1" indent="-285750" algn="l" defTabSz="914400" rtl="0" eaLnBrk="1" fontAlgn="base" latinLnBrk="0" hangingPunct="1">
              <a:lnSpc>
                <a:spcPct val="100000"/>
              </a:lnSpc>
              <a:spcBef>
                <a:spcPts val="600"/>
              </a:spcBef>
              <a:spcAft>
                <a:spcPts val="60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was investigated by C. F.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Guass</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in 1850, but he did not completely solve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7</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120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120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1205" name="Rectangle 2"/>
          <p:cNvSpPr>
            <a:spLocks noGrp="1"/>
          </p:cNvSpPr>
          <p:nvPr>
            <p:ph type="title"/>
          </p:nvPr>
        </p:nvSpPr>
        <p:spPr/>
        <p:txBody>
          <a:bodyPr vert="horz" wrap="square" lIns="91440" tIns="45720" rIns="91440" bIns="45720" anchor="b" anchorCtr="0"/>
          <a:lstStyle/>
          <a:p>
            <a:pPr eaLnBrk="1" hangingPunct="1"/>
            <a:r>
              <a:rPr lang="zh-CN" altLang="en-US" sz="3600" dirty="0">
                <a:latin typeface="Copperplate Gothic Bold" panose="020E0705020206020404" pitchFamily="34" charset="0"/>
              </a:rPr>
              <a:t>8 </a:t>
            </a:r>
            <a:r>
              <a:rPr lang="en-US" altLang="zh-CN" sz="3600" dirty="0">
                <a:latin typeface="Copperplate Gothic Bold" panose="020E0705020206020404" pitchFamily="34" charset="0"/>
              </a:rPr>
              <a:t>Queens Problem</a:t>
            </a:r>
            <a:endParaRPr lang="zh-CN" altLang="en-US" sz="3600" dirty="0">
              <a:latin typeface="Copperplate Gothic Bold" panose="020E0705020206020404" pitchFamily="34" charset="0"/>
            </a:endParaRPr>
          </a:p>
        </p:txBody>
      </p:sp>
      <p:sp>
        <p:nvSpPr>
          <p:cNvPr id="51206" name="Rectangle 3"/>
          <p:cNvSpPr>
            <a:spLocks noGrp="1"/>
          </p:cNvSpPr>
          <p:nvPr>
            <p:ph idx="1"/>
          </p:nvPr>
        </p:nvSpPr>
        <p:spPr>
          <a:xfrm>
            <a:off x="1042988" y="1412558"/>
            <a:ext cx="7772400" cy="4114800"/>
          </a:xfrm>
        </p:spPr>
        <p:txBody>
          <a:bodyPr vert="horz" wrap="square" lIns="91440" tIns="45720" rIns="91440" bIns="45720" anchor="t" anchorCtr="0"/>
          <a:lstStyle/>
          <a:p>
            <a:pPr eaLnBrk="1" hangingPunct="1"/>
            <a:r>
              <a:rPr lang="en-US" altLang="zh-CN" dirty="0"/>
              <a:t>A solution</a:t>
            </a:r>
          </a:p>
        </p:txBody>
      </p:sp>
      <p:pic>
        <p:nvPicPr>
          <p:cNvPr id="51207" name="Picture 4" descr="chess board"/>
          <p:cNvPicPr>
            <a:picLocks noChangeAspect="1"/>
          </p:cNvPicPr>
          <p:nvPr/>
        </p:nvPicPr>
        <p:blipFill>
          <a:blip r:embed="rId2"/>
          <a:stretch>
            <a:fillRect/>
          </a:stretch>
        </p:blipFill>
        <p:spPr>
          <a:xfrm>
            <a:off x="3996055" y="2132965"/>
            <a:ext cx="3937635" cy="396113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8</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222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222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 </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2229" name="Rectangle 2"/>
          <p:cNvSpPr>
            <a:spLocks noGrp="1"/>
          </p:cNvSpPr>
          <p:nvPr>
            <p:ph type="title"/>
          </p:nvPr>
        </p:nvSpPr>
        <p:spPr/>
        <p:txBody>
          <a:bodyPr vert="horz" wrap="square" lIns="91440" tIns="45720" rIns="91440" bIns="45720" anchor="b" anchorCtr="0"/>
          <a:lstStyle/>
          <a:p>
            <a:pPr eaLnBrk="1" hangingPunct="1"/>
            <a:r>
              <a:rPr lang="zh-CN" altLang="en-US" sz="3600" dirty="0">
                <a:latin typeface="Copperplate Gothic Bold" panose="020E0705020206020404" pitchFamily="34" charset="0"/>
              </a:rPr>
              <a:t>8 </a:t>
            </a:r>
            <a:r>
              <a:rPr lang="en-US" altLang="zh-CN" sz="3600" dirty="0">
                <a:latin typeface="Copperplate Gothic Bold" panose="020E0705020206020404" pitchFamily="34" charset="0"/>
              </a:rPr>
              <a:t>Queens Problem</a:t>
            </a:r>
            <a:endParaRPr lang="zh-CN" altLang="en-US" sz="3600" dirty="0">
              <a:latin typeface="Copperplate Gothic Bold" panose="020E0705020206020404" pitchFamily="34" charset="0"/>
            </a:endParaRPr>
          </a:p>
        </p:txBody>
      </p:sp>
      <p:sp>
        <p:nvSpPr>
          <p:cNvPr id="52230" name="Rectangle 3"/>
          <p:cNvSpPr>
            <a:spLocks noGrp="1"/>
          </p:cNvSpPr>
          <p:nvPr>
            <p:ph idx="1"/>
          </p:nvPr>
        </p:nvSpPr>
        <p:spPr>
          <a:xfrm>
            <a:off x="431165" y="1282383"/>
            <a:ext cx="8424863" cy="5118100"/>
          </a:xfrm>
        </p:spPr>
        <p:txBody>
          <a:bodyPr vert="horz" wrap="square" lIns="91440" tIns="45720" rIns="91440" bIns="45720" anchor="t" anchorCtr="0"/>
          <a:lstStyle/>
          <a:p>
            <a:pPr eaLnBrk="1" hangingPunct="1">
              <a:spcBef>
                <a:spcPts val="600"/>
              </a:spcBef>
              <a:spcAft>
                <a:spcPts val="600"/>
              </a:spcAft>
            </a:pPr>
            <a:r>
              <a:rPr lang="en-US" altLang="zh-CN" sz="2800" dirty="0">
                <a:latin typeface="Times New Roman" panose="02020603050405020304" pitchFamily="18" charset="0"/>
                <a:cs typeface="Times New Roman" panose="02020603050405020304" pitchFamily="18" charset="0"/>
              </a:rPr>
              <a:t>There are 92 solutions in all, but only 12 significantly differing solutions.</a:t>
            </a:r>
            <a:endParaRPr lang="zh-CN" altLang="en-US" sz="2800" dirty="0">
              <a:latin typeface="Times New Roman" panose="02020603050405020304" pitchFamily="18" charset="0"/>
              <a:ea typeface="Times New Roman" panose="02020603050405020304" pitchFamily="18" charset="0"/>
            </a:endParaRPr>
          </a:p>
        </p:txBody>
      </p:sp>
      <p:sp>
        <p:nvSpPr>
          <p:cNvPr id="52231" name="Text Box 4"/>
          <p:cNvSpPr txBox="1"/>
          <p:nvPr/>
        </p:nvSpPr>
        <p:spPr>
          <a:xfrm>
            <a:off x="5579745" y="2204720"/>
            <a:ext cx="2668270" cy="306959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zh-CN" altLang="en-US" sz="1800" b="1" dirty="0">
                <a:latin typeface="Times New Roman" panose="02020603050405020304" pitchFamily="18" charset="0"/>
              </a:rPr>
              <a:t>1  5  8  6  3  7  2  4</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1  6  8  3  7  4  2  5</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1  7  4  6  8  2  5  3</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1  7  5  8  2  4  6  3</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2  4  6  8  3  1  7  5</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2  5  7  1  3  8  6  4</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2  5  7  4  1  8  6  3</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2  6  1  7  4  8  3  5</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2  6  8  3  1  4  7  5</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2  7  3  6  8  5  1  4</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2  7  5  8  1  4  6  3</a:t>
            </a:r>
          </a:p>
          <a:p>
            <a:pPr marL="0" lvl="0" indent="0" eaLnBrk="1" hangingPunct="1">
              <a:lnSpc>
                <a:spcPct val="90000"/>
              </a:lnSpc>
              <a:buClr>
                <a:schemeClr val="hlink"/>
              </a:buClr>
              <a:buSzPct val="55000"/>
            </a:pPr>
            <a:r>
              <a:rPr lang="zh-CN" altLang="en-US" sz="1800" b="1" dirty="0">
                <a:latin typeface="Times New Roman" panose="02020603050405020304" pitchFamily="18" charset="0"/>
              </a:rPr>
              <a:t>2  8  6  1  3  5  7  4</a:t>
            </a:r>
            <a:endParaRPr lang="zh-CN" altLang="en-US" sz="1800" b="1" dirty="0">
              <a:latin typeface="Times New Roman" panose="02020603050405020304" pitchFamily="18" charset="0"/>
              <a:ea typeface="Times New Roman" panose="02020603050405020304" pitchFamily="18" charset="0"/>
            </a:endParaRPr>
          </a:p>
        </p:txBody>
      </p:sp>
      <p:pic>
        <p:nvPicPr>
          <p:cNvPr id="52232" name="Picture 5" descr="chess board"/>
          <p:cNvPicPr>
            <a:picLocks noChangeAspect="1"/>
          </p:cNvPicPr>
          <p:nvPr/>
        </p:nvPicPr>
        <p:blipFill>
          <a:blip r:embed="rId2"/>
          <a:stretch>
            <a:fillRect/>
          </a:stretch>
        </p:blipFill>
        <p:spPr>
          <a:xfrm>
            <a:off x="1835785" y="2780665"/>
            <a:ext cx="2735580" cy="2750820"/>
          </a:xfrm>
          <a:prstGeom prst="rect">
            <a:avLst/>
          </a:prstGeom>
          <a:noFill/>
          <a:ln w="9525">
            <a:noFill/>
          </a:ln>
        </p:spPr>
      </p:pic>
      <p:sp>
        <p:nvSpPr>
          <p:cNvPr id="2" name="矩形 1"/>
          <p:cNvSpPr/>
          <p:nvPr/>
        </p:nvSpPr>
        <p:spPr>
          <a:xfrm>
            <a:off x="502920" y="5805170"/>
            <a:ext cx="8424863" cy="830263"/>
          </a:xfrm>
          <a:prstGeom prst="rect">
            <a:avLst/>
          </a:prstGeom>
          <a:solidFill>
            <a:schemeClr val="accent2">
              <a:lumMod val="20000"/>
              <a:lumOff val="80000"/>
            </a:schemeClr>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problem of eight queens is a well-known example of the use of </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trial-and-error methods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and of </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backtracking algorithms</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b" anchorCtr="0"/>
          <a:lstStyle/>
          <a:p>
            <a:pPr eaLnBrk="1" hangingPunct="1"/>
            <a:r>
              <a:rPr lang="en-US" altLang="zh-CN" dirty="0"/>
              <a:t>Dijkstra</a:t>
            </a:r>
            <a:r>
              <a:rPr lang="zh-CN" altLang="en-US" dirty="0"/>
              <a:t>的话</a:t>
            </a:r>
          </a:p>
        </p:txBody>
      </p:sp>
      <p:sp>
        <p:nvSpPr>
          <p:cNvPr id="17411" name="内容占位符 2"/>
          <p:cNvSpPr>
            <a:spLocks noGrp="1"/>
          </p:cNvSpPr>
          <p:nvPr>
            <p:ph idx="1"/>
          </p:nvPr>
        </p:nvSpPr>
        <p:spPr>
          <a:xfrm>
            <a:off x="683260" y="1371600"/>
            <a:ext cx="6201410" cy="4114800"/>
          </a:xfrm>
        </p:spPr>
        <p:style>
          <a:lnRef idx="2">
            <a:schemeClr val="accent3"/>
          </a:lnRef>
          <a:fillRef idx="1">
            <a:schemeClr val="lt1"/>
          </a:fillRef>
          <a:effectRef idx="0">
            <a:schemeClr val="accent3"/>
          </a:effectRef>
          <a:fontRef idx="minor">
            <a:schemeClr val="dk1"/>
          </a:fontRef>
        </p:style>
        <p:txBody>
          <a:bodyPr vert="horz" wrap="square" lIns="91440" tIns="45720" rIns="91440" bIns="45720" anchor="t" anchorCtr="0"/>
          <a:lstStyle/>
          <a:p>
            <a:pPr eaLnBrk="1" hangingPunct="1"/>
            <a:r>
              <a:rPr lang="zh-CN" altLang="en-US" dirty="0"/>
              <a:t>我现在年纪大了，搞了这么多年软件，错误不知犯了多少，现在觉悟了，我想，假如我早年在数理逻辑上好好下点功夫的话，我就不会犯这么多错误，不少东西逻辑学家早就说了，可我不知道。要是我能年轻</a:t>
            </a:r>
            <a:r>
              <a:rPr lang="en-US" altLang="zh-CN" dirty="0"/>
              <a:t>20</a:t>
            </a:r>
            <a:r>
              <a:rPr lang="zh-CN" altLang="en-US" dirty="0"/>
              <a:t>岁的话我要回去学逻辑。</a:t>
            </a:r>
          </a:p>
        </p:txBody>
      </p:sp>
      <p:sp>
        <p:nvSpPr>
          <p:cNvPr id="1741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9</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741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741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7164070" y="692785"/>
            <a:ext cx="1337310" cy="1788160"/>
          </a:xfrm>
          <a:prstGeom prst="rect">
            <a:avLst/>
          </a:prstGeom>
        </p:spPr>
      </p:pic>
      <p:sp>
        <p:nvSpPr>
          <p:cNvPr id="3" name="文本框 2"/>
          <p:cNvSpPr txBox="1"/>
          <p:nvPr/>
        </p:nvSpPr>
        <p:spPr>
          <a:xfrm>
            <a:off x="7020560" y="2780665"/>
            <a:ext cx="2170430" cy="636270"/>
          </a:xfrm>
          <a:prstGeom prst="rect">
            <a:avLst/>
          </a:prstGeom>
          <a:noFill/>
        </p:spPr>
        <p:txBody>
          <a:bodyPr wrap="square" rtlCol="0">
            <a:noAutofit/>
          </a:bodyPr>
          <a:lstStyle/>
          <a:p>
            <a:r>
              <a:rPr lang="en-US" altLang="zh-CN"/>
              <a:t>1972</a:t>
            </a:r>
            <a:r>
              <a:rPr lang="zh-CN" altLang="en-US"/>
              <a:t>年</a:t>
            </a:r>
          </a:p>
          <a:p>
            <a:r>
              <a:rPr lang="zh-CN" altLang="en-US"/>
              <a:t>图灵奖获得者</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05A282-D54F-20A5-5AB0-793ECD0291BD}"/>
              </a:ext>
            </a:extLst>
          </p:cNvPr>
          <p:cNvSpPr>
            <a:spLocks noGrp="1"/>
          </p:cNvSpPr>
          <p:nvPr>
            <p:ph type="title"/>
          </p:nvPr>
        </p:nvSpPr>
        <p:spPr/>
        <p:txBody>
          <a:bodyPr/>
          <a:lstStyle/>
          <a:p>
            <a:r>
              <a:rPr kumimoji="1" lang="en-US" altLang="zh-CN" dirty="0"/>
              <a:t>Ai</a:t>
            </a:r>
            <a:r>
              <a:rPr kumimoji="1" lang="zh-CN" altLang="en-US" dirty="0"/>
              <a:t>时代，应用实例</a:t>
            </a:r>
          </a:p>
        </p:txBody>
      </p:sp>
      <p:sp>
        <p:nvSpPr>
          <p:cNvPr id="3" name="内容占位符 2">
            <a:extLst>
              <a:ext uri="{FF2B5EF4-FFF2-40B4-BE49-F238E27FC236}">
                <a16:creationId xmlns:a16="http://schemas.microsoft.com/office/drawing/2014/main" id="{888BF921-99C6-798B-11B3-58BE4BA31369}"/>
              </a:ext>
            </a:extLst>
          </p:cNvPr>
          <p:cNvSpPr>
            <a:spLocks noGrp="1"/>
          </p:cNvSpPr>
          <p:nvPr>
            <p:ph idx="1"/>
          </p:nvPr>
        </p:nvSpPr>
        <p:spPr/>
        <p:txBody>
          <a:bodyPr/>
          <a:lstStyle/>
          <a:p>
            <a:pPr marL="0" marR="0" algn="just">
              <a:buClr>
                <a:srgbClr val="0070C0"/>
              </a:buClr>
              <a:buSzPct val="61000"/>
            </a:pP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医疗诊断领域</a:t>
            </a:r>
            <a:endParaRPr lang="zh-CN" altLang="en-US"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症状分析与疾病诊断</a:t>
            </a:r>
            <a:endParaRPr lang="en-US"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治疗方案推</a:t>
            </a:r>
            <a:r>
              <a:rPr lang="zh-CN" altLang="en-US" sz="2000" b="1" kern="100" dirty="0">
                <a:latin typeface="宋体" panose="02010600030101010101" pitchFamily="2" charset="-122"/>
                <a:ea typeface="宋体" panose="02010600030101010101" pitchFamily="2" charset="-122"/>
                <a:cs typeface="Times New Roman" panose="02020603050405020304" pitchFamily="18" charset="0"/>
              </a:rPr>
              <a:t>荐</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algn="just">
              <a:buClr>
                <a:srgbClr val="0070C0"/>
              </a:buClr>
              <a:buSzPct val="61000"/>
            </a:pP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金融风险评估领域</a:t>
            </a:r>
            <a:endParaRPr lang="zh-CN" altLang="en-US"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信用评级</a:t>
            </a:r>
            <a:endParaRPr lang="en-US" altLang="zh-CN" sz="2000" b="1" kern="100" dirty="0">
              <a:effectLst/>
              <a:latin typeface="宋体" panose="02010600030101010101" pitchFamily="2" charset="-122"/>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投资决策</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algn="just">
              <a:buClr>
                <a:srgbClr val="0070C0"/>
              </a:buClr>
              <a:buSzPct val="61000"/>
            </a:pP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智能交通领域</a:t>
            </a:r>
            <a:endParaRPr lang="zh-CN" altLang="en-US"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交通流量优化</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自动驾驶决策</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algn="just">
              <a:buClr>
                <a:srgbClr val="0070C0"/>
              </a:buClr>
              <a:buSzPct val="61000"/>
            </a:pP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智能家居</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领域</a:t>
            </a:r>
            <a:endParaRPr lang="zh-CN" altLang="en-US"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场景模式切换：</a:t>
            </a:r>
            <a:endParaRPr lang="en-US"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p>
            <a:pPr marL="400050" lvl="1" algn="just">
              <a:buClr>
                <a:srgbClr val="0070C0"/>
              </a:buClr>
              <a:buSzPct val="61000"/>
            </a:pP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设备联动控制：</a:t>
            </a:r>
            <a:endParaRPr kumimoji="1" lang="zh-CN" altLang="en-US" dirty="0"/>
          </a:p>
        </p:txBody>
      </p:sp>
      <p:sp>
        <p:nvSpPr>
          <p:cNvPr id="4" name="日期占位符 3">
            <a:extLst>
              <a:ext uri="{FF2B5EF4-FFF2-40B4-BE49-F238E27FC236}">
                <a16:creationId xmlns:a16="http://schemas.microsoft.com/office/drawing/2014/main" id="{B9FB180E-C7FE-60E1-A2B7-C8EEB0EBCF17}"/>
              </a:ext>
            </a:extLst>
          </p:cNvPr>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smtClean="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464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p:cNvSpPr>
          <p:nvPr>
            <p:ph type="ctrTitle"/>
          </p:nvPr>
        </p:nvSpPr>
        <p:spPr>
          <a:xfrm>
            <a:off x="990600" y="228600"/>
            <a:ext cx="7772400" cy="304800"/>
          </a:xfrm>
        </p:spPr>
        <p:txBody>
          <a:bodyPr vert="horz" wrap="square" lIns="91440" tIns="45720" rIns="91440" bIns="45720" anchor="b" anchorCtr="0"/>
          <a:lstStyle/>
          <a:p>
            <a:pPr algn="r" eaLnBrk="1" hangingPunct="1">
              <a:buClrTx/>
              <a:buSzTx/>
              <a:buFontTx/>
            </a:pPr>
            <a:r>
              <a:rPr lang="en-US" altLang="zh-CN" sz="2000" dirty="0">
                <a:solidFill>
                  <a:schemeClr val="hlink"/>
                </a:solidFill>
                <a:latin typeface="Copperplate Gothic Bold" panose="020E0705020206020404" pitchFamily="34" charset="0"/>
                <a:ea typeface="+mj-ea"/>
                <a:cs typeface="+mj-cs"/>
              </a:rPr>
              <a:t>Discrete Mathematical Structures</a:t>
            </a:r>
          </a:p>
        </p:txBody>
      </p:sp>
      <p:sp>
        <p:nvSpPr>
          <p:cNvPr id="18435" name="Rectangle 7"/>
          <p:cNvSpPr>
            <a:spLocks noGrp="1"/>
          </p:cNvSpPr>
          <p:nvPr>
            <p:ph type="subTitle" idx="1"/>
          </p:nvPr>
        </p:nvSpPr>
        <p:spPr>
          <a:xfrm>
            <a:off x="1371600" y="3886200"/>
            <a:ext cx="6400800" cy="1905000"/>
          </a:xfrm>
        </p:spPr>
        <p:txBody>
          <a:bodyPr vert="horz" wrap="square" lIns="91440" tIns="45720" rIns="91440" bIns="45720" anchor="t" anchorCtr="0"/>
          <a:lstStyle/>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p:txBody>
      </p:sp>
      <p:sp>
        <p:nvSpPr>
          <p:cNvPr id="18436" name="Rectangle 12"/>
          <p:cNvSpPr/>
          <p:nvPr/>
        </p:nvSpPr>
        <p:spPr>
          <a:xfrm>
            <a:off x="990600" y="1828800"/>
            <a:ext cx="7772400"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4400" dirty="0">
                <a:solidFill>
                  <a:schemeClr val="tx2"/>
                </a:solidFill>
                <a:latin typeface="Copperplate Gothic Bold" panose="020E0705020206020404" pitchFamily="34" charset="0"/>
              </a:rPr>
              <a:t>Propositional logic</a:t>
            </a:r>
          </a:p>
          <a:p>
            <a:pPr marL="0" lvl="0" indent="0" eaLnBrk="1" hangingPunct="1">
              <a:spcBef>
                <a:spcPct val="0"/>
              </a:spcBef>
              <a:buClrTx/>
              <a:buSzTx/>
              <a:buFontTx/>
              <a:buNone/>
            </a:pPr>
            <a:r>
              <a:rPr lang="zh-CN" altLang="en-US" sz="4400" dirty="0">
                <a:solidFill>
                  <a:schemeClr val="tx2"/>
                </a:solidFill>
                <a:latin typeface="Copperplate Gothic Bold" panose="020E0705020206020404" pitchFamily="34" charset="0"/>
              </a:rPr>
              <a:t>(命题逻辑</a:t>
            </a:r>
            <a:r>
              <a:rPr lang="zh-CN" altLang="en-US" sz="4400" b="1" dirty="0">
                <a:solidFill>
                  <a:schemeClr val="tx2"/>
                </a:solidFill>
                <a:latin typeface="Copperplate Gothic Bold" panose="020E0705020206020404" pitchFamily="34" charset="0"/>
              </a:rPr>
              <a:t>）</a:t>
            </a:r>
            <a:endParaRPr lang="zh-CN" altLang="en-US" sz="4400" b="1" dirty="0">
              <a:solidFill>
                <a:schemeClr val="tx2"/>
              </a:solidFill>
              <a:latin typeface="Copperplate Gothic Bold" panose="020E0705020206020404" pitchFamily="34" charset="0"/>
              <a:ea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12</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945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946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19461" name="Rectangle 2"/>
          <p:cNvSpPr>
            <a:spLocks noGrp="1"/>
          </p:cNvSpPr>
          <p:nvPr>
            <p:ph type="title"/>
          </p:nvPr>
        </p:nvSpPr>
        <p:spPr/>
        <p:txBody>
          <a:bodyPr vert="horz" wrap="square" lIns="91440" tIns="45720" rIns="91440" bIns="45720" anchor="b" anchorCtr="0"/>
          <a:lstStyle/>
          <a:p>
            <a:pPr eaLnBrk="1" hangingPunct="1"/>
            <a:r>
              <a:rPr lang="en-US" altLang="zh-CN" dirty="0"/>
              <a:t>Propositions（</a:t>
            </a:r>
            <a:r>
              <a:rPr lang="zh-CN" altLang="en-US" dirty="0"/>
              <a:t>命题）</a:t>
            </a:r>
          </a:p>
        </p:txBody>
      </p:sp>
      <p:sp>
        <p:nvSpPr>
          <p:cNvPr id="19462" name="Rectangle 3"/>
          <p:cNvSpPr>
            <a:spLocks noGrp="1"/>
          </p:cNvSpPr>
          <p:nvPr>
            <p:ph idx="1"/>
          </p:nvPr>
        </p:nvSpPr>
        <p:spPr/>
        <p:txBody>
          <a:bodyPr vert="horz" wrap="square" lIns="91440" tIns="45720" rIns="91440" bIns="45720" anchor="t" anchorCtr="0"/>
          <a:lstStyle/>
          <a:p>
            <a:pPr eaLnBrk="1" hangingPunct="1"/>
            <a:r>
              <a:rPr lang="en-US" altLang="zh-CN" dirty="0"/>
              <a:t>A </a:t>
            </a:r>
            <a:r>
              <a:rPr lang="en-US" altLang="zh-CN" b="1" dirty="0">
                <a:solidFill>
                  <a:schemeClr val="folHlink"/>
                </a:solidFill>
              </a:rPr>
              <a:t>statement</a:t>
            </a:r>
            <a:r>
              <a:rPr lang="en-US" altLang="zh-CN" dirty="0"/>
              <a:t> or </a:t>
            </a:r>
            <a:r>
              <a:rPr lang="en-US" altLang="zh-CN" b="1" dirty="0">
                <a:solidFill>
                  <a:schemeClr val="folHlink"/>
                </a:solidFill>
              </a:rPr>
              <a:t>proposition</a:t>
            </a:r>
            <a:r>
              <a:rPr lang="en-US" altLang="zh-CN" dirty="0"/>
              <a:t> is a declarative sentence（</a:t>
            </a:r>
            <a:r>
              <a:rPr lang="zh-CN" altLang="en-US" dirty="0"/>
              <a:t>陈述句） </a:t>
            </a:r>
            <a:r>
              <a:rPr lang="en-US" altLang="zh-CN" dirty="0"/>
              <a:t>that is either </a:t>
            </a:r>
            <a:r>
              <a:rPr lang="en-US" altLang="zh-CN" i="1" dirty="0">
                <a:solidFill>
                  <a:schemeClr val="hlink"/>
                </a:solidFill>
              </a:rPr>
              <a:t>true</a:t>
            </a:r>
            <a:r>
              <a:rPr lang="en-US" altLang="zh-CN" dirty="0"/>
              <a:t> or </a:t>
            </a:r>
            <a:r>
              <a:rPr lang="en-US" altLang="zh-CN" i="1" dirty="0">
                <a:solidFill>
                  <a:schemeClr val="hlink"/>
                </a:solidFill>
              </a:rPr>
              <a:t>false</a:t>
            </a:r>
            <a:r>
              <a:rPr lang="en-US" altLang="zh-CN" dirty="0"/>
              <a:t>,but not both.</a:t>
            </a:r>
          </a:p>
          <a:p>
            <a:pPr lvl="1" eaLnBrk="1" hangingPunct="1"/>
            <a:r>
              <a:rPr lang="en-US" altLang="zh-CN" dirty="0">
                <a:latin typeface="Times New Roman" panose="02020603050405020304" pitchFamily="18" charset="0"/>
              </a:rPr>
              <a:t>true = T (or 1)</a:t>
            </a:r>
          </a:p>
          <a:p>
            <a:pPr lvl="1" eaLnBrk="1" hangingPunct="1"/>
            <a:r>
              <a:rPr lang="en-US" altLang="zh-CN" dirty="0">
                <a:latin typeface="Times New Roman" panose="02020603050405020304" pitchFamily="18" charset="0"/>
              </a:rPr>
              <a:t>false = F (or 0)  (binary logic)</a:t>
            </a:r>
          </a:p>
          <a:p>
            <a:pPr eaLnBrk="1" hangingPunct="1"/>
            <a:endParaRPr lang="zh-CN"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13</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048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048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0485" name="Rectangle 2"/>
          <p:cNvSpPr>
            <a:spLocks noGrp="1"/>
          </p:cNvSpPr>
          <p:nvPr>
            <p:ph type="title"/>
          </p:nvPr>
        </p:nvSpPr>
        <p:spPr/>
        <p:txBody>
          <a:bodyPr vert="horz" wrap="square" lIns="91440" tIns="45720" rIns="91440" bIns="45720" anchor="b" anchorCtr="0"/>
          <a:lstStyle/>
          <a:p>
            <a:pPr eaLnBrk="1" hangingPunct="1"/>
            <a:r>
              <a:rPr lang="en-US" altLang="zh-CN" dirty="0"/>
              <a:t>Example</a:t>
            </a:r>
          </a:p>
        </p:txBody>
      </p:sp>
      <p:sp>
        <p:nvSpPr>
          <p:cNvPr id="20486"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The moon is made of green cheese.</a:t>
            </a:r>
          </a:p>
          <a:p>
            <a:pPr eaLnBrk="1" hangingPunct="1"/>
            <a:r>
              <a:rPr lang="en-US" altLang="zh-CN" dirty="0">
                <a:latin typeface="Times New Roman" panose="02020603050405020304" pitchFamily="18" charset="0"/>
                <a:cs typeface="Times New Roman" panose="02020603050405020304" pitchFamily="18" charset="0"/>
                <a:sym typeface="+mn-ea"/>
              </a:rPr>
              <a:t>Earth is the only planet where life exists</a:t>
            </a:r>
            <a:r>
              <a:rPr lang="en-US" altLang="zh-CN" dirty="0">
                <a:solidFill>
                  <a:schemeClr val="tx1"/>
                </a:solidFill>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Go to town! 		</a:t>
            </a:r>
            <a:r>
              <a:rPr lang="en-US" altLang="zh-CN" dirty="0">
                <a:solidFill>
                  <a:schemeClr val="hlink"/>
                </a:solidFill>
                <a:latin typeface="Times New Roman" panose="02020603050405020304" pitchFamily="18" charset="0"/>
              </a:rPr>
              <a:t>X</a:t>
            </a:r>
            <a:r>
              <a:rPr lang="en-US" altLang="zh-CN" dirty="0">
                <a:latin typeface="Times New Roman" panose="02020603050405020304" pitchFamily="18" charset="0"/>
              </a:rPr>
              <a:t> - </a:t>
            </a:r>
            <a:r>
              <a:rPr lang="en-US" altLang="zh-CN" i="1" dirty="0">
                <a:latin typeface="Times New Roman" panose="02020603050405020304" pitchFamily="18" charset="0"/>
              </a:rPr>
              <a:t>imperative</a:t>
            </a:r>
          </a:p>
          <a:p>
            <a:pPr eaLnBrk="1" hangingPunct="1"/>
            <a:r>
              <a:rPr lang="en-US" altLang="zh-CN" dirty="0">
                <a:latin typeface="Times New Roman" panose="02020603050405020304" pitchFamily="18" charset="0"/>
              </a:rPr>
              <a:t>What time is it? 	</a:t>
            </a:r>
            <a:r>
              <a:rPr lang="en-US" altLang="zh-CN" dirty="0">
                <a:solidFill>
                  <a:schemeClr val="hlink"/>
                </a:solidFill>
                <a:latin typeface="Times New Roman" panose="02020603050405020304" pitchFamily="18" charset="0"/>
              </a:rPr>
              <a:t>X</a:t>
            </a:r>
            <a:r>
              <a:rPr lang="en-US" altLang="zh-CN" dirty="0">
                <a:latin typeface="Times New Roman" panose="02020603050405020304" pitchFamily="18" charset="0"/>
              </a:rPr>
              <a:t> - </a:t>
            </a:r>
            <a:r>
              <a:rPr lang="en-US" altLang="zh-CN" i="1" dirty="0">
                <a:latin typeface="Times New Roman" panose="02020603050405020304" pitchFamily="18" charset="0"/>
              </a:rPr>
              <a:t>interrogative</a:t>
            </a:r>
          </a:p>
          <a:p>
            <a:pPr eaLnBrk="1" hangingPunct="1"/>
            <a:r>
              <a:rPr lang="zh-CN" altLang="en-US" dirty="0"/>
              <a:t>我在说谎。</a:t>
            </a:r>
            <a:r>
              <a:rPr lang="en-US" altLang="zh-CN" dirty="0"/>
              <a:t>          </a:t>
            </a:r>
            <a:r>
              <a:rPr lang="en-US" altLang="zh-CN" dirty="0">
                <a:solidFill>
                  <a:schemeClr val="hlink"/>
                </a:solidFill>
                <a:latin typeface="Times New Roman" panose="02020603050405020304" pitchFamily="18" charset="0"/>
                <a:sym typeface="+mn-ea"/>
              </a:rPr>
              <a:t>X</a:t>
            </a:r>
            <a:r>
              <a:rPr lang="en-US" altLang="zh-CN" dirty="0">
                <a:latin typeface="Times New Roman" panose="02020603050405020304" pitchFamily="18" charset="0"/>
                <a:sym typeface="+mn-ea"/>
              </a:rPr>
              <a:t> -</a:t>
            </a:r>
            <a:r>
              <a:rPr lang="zh-CN" altLang="en-US" dirty="0">
                <a:latin typeface="Times New Roman" panose="02020603050405020304" pitchFamily="18" charset="0"/>
                <a:sym typeface="+mn-ea"/>
              </a:rPr>
              <a:t>悖论</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1507" name="文本框 6"/>
          <p:cNvSpPr txBox="1"/>
          <p:nvPr>
            <p:custDataLst>
              <p:tags r:id="rId2"/>
            </p:custDataLst>
          </p:nvPr>
        </p:nvSpPr>
        <p:spPr>
          <a:xfrm>
            <a:off x="914400" y="485775"/>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Which of the following are statements?</a:t>
            </a:r>
          </a:p>
        </p:txBody>
      </p:sp>
      <p:sp>
        <p:nvSpPr>
          <p:cNvPr id="21508" name="文本框 7"/>
          <p:cNvSpPr txBox="1"/>
          <p:nvPr>
            <p:custDataLst>
              <p:tags r:id="rId3"/>
            </p:custDataLst>
          </p:nvPr>
        </p:nvSpPr>
        <p:spPr>
          <a:xfrm>
            <a:off x="1763713" y="20494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The earth is round.</a:t>
            </a:r>
          </a:p>
        </p:txBody>
      </p:sp>
      <p:sp>
        <p:nvSpPr>
          <p:cNvPr id="21509" name="文本框 8"/>
          <p:cNvSpPr txBox="1"/>
          <p:nvPr>
            <p:custDataLst>
              <p:tags r:id="rId4"/>
            </p:custDataLst>
          </p:nvPr>
        </p:nvSpPr>
        <p:spPr>
          <a:xfrm>
            <a:off x="1763713" y="254000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2+3=5</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1510" name="文本框 9"/>
          <p:cNvSpPr txBox="1"/>
          <p:nvPr>
            <p:custDataLst>
              <p:tags r:id="rId5"/>
            </p:custDataLst>
          </p:nvPr>
        </p:nvSpPr>
        <p:spPr>
          <a:xfrm>
            <a:off x="1763713" y="302895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Do you speak English?</a:t>
            </a:r>
          </a:p>
        </p:txBody>
      </p:sp>
      <p:sp>
        <p:nvSpPr>
          <p:cNvPr id="21511" name="文本框 10"/>
          <p:cNvSpPr txBox="1"/>
          <p:nvPr>
            <p:custDataLst>
              <p:tags r:id="rId6"/>
            </p:custDataLst>
          </p:nvPr>
        </p:nvSpPr>
        <p:spPr>
          <a:xfrm>
            <a:off x="1763713" y="351948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3-x=5</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1512" name="矩形 11"/>
          <p:cNvSpPr>
            <a:spLocks noChangeAspect="1"/>
          </p:cNvSpPr>
          <p:nvPr>
            <p:custDataLst>
              <p:tags r:id="rId7"/>
            </p:custDataLst>
          </p:nvPr>
        </p:nvSpPr>
        <p:spPr>
          <a:xfrm>
            <a:off x="1049338" y="2114550"/>
            <a:ext cx="514350" cy="514350"/>
          </a:xfrm>
          <a:prstGeom prst="rect">
            <a:avLst/>
          </a:prstGeom>
          <a:solidFill>
            <a:srgbClr val="00FF00"/>
          </a:solidFill>
          <a:ln w="254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3" name="矩形 12"/>
          <p:cNvSpPr>
            <a:spLocks noChangeAspect="1"/>
          </p:cNvSpPr>
          <p:nvPr>
            <p:custDataLst>
              <p:tags r:id="rId8"/>
            </p:custDataLst>
          </p:nvPr>
        </p:nvSpPr>
        <p:spPr>
          <a:xfrm>
            <a:off x="1049338" y="2603500"/>
            <a:ext cx="514350" cy="514350"/>
          </a:xfrm>
          <a:prstGeom prst="rect">
            <a:avLst/>
          </a:prstGeom>
          <a:solidFill>
            <a:srgbClr val="00FF00"/>
          </a:solidFill>
          <a:ln w="254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4" name="矩形 13"/>
          <p:cNvSpPr>
            <a:spLocks noChangeAspect="1"/>
          </p:cNvSpPr>
          <p:nvPr>
            <p:custDataLst>
              <p:tags r:id="rId9"/>
            </p:custDataLst>
          </p:nvPr>
        </p:nvSpPr>
        <p:spPr>
          <a:xfrm>
            <a:off x="1049338" y="3094038"/>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5" name="矩形 14"/>
          <p:cNvSpPr>
            <a:spLocks noChangeAspect="1"/>
          </p:cNvSpPr>
          <p:nvPr>
            <p:custDataLst>
              <p:tags r:id="rId10"/>
            </p:custDataLst>
          </p:nvPr>
        </p:nvSpPr>
        <p:spPr>
          <a:xfrm>
            <a:off x="1049338" y="3582988"/>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6" name="矩形: 圆角 15"/>
          <p:cNvSpPr/>
          <p:nvPr>
            <p:custDataLst>
              <p:tags r:id="rId11"/>
            </p:custDataLst>
          </p:nvPr>
        </p:nvSpPr>
        <p:spPr>
          <a:xfrm>
            <a:off x="6762750" y="5970588"/>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742950" lvl="0" indent="-285750" eaLnBrk="1" hangingPunct="1">
              <a:lnSpc>
                <a:spcPct val="90000"/>
              </a:lnSpc>
              <a:buClr>
                <a:schemeClr val="hlink"/>
              </a:buClr>
              <a:buSzPct val="55000"/>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p>
        </p:txBody>
      </p:sp>
      <p:sp>
        <p:nvSpPr>
          <p:cNvPr id="21517" name="文本框 22"/>
          <p:cNvSpPr txBox="1"/>
          <p:nvPr>
            <p:custDataLst>
              <p:tags r:id="rId12"/>
            </p:custDataLst>
          </p:nvPr>
        </p:nvSpPr>
        <p:spPr>
          <a:xfrm>
            <a:off x="1763713" y="400843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Take two aspirins.</a:t>
            </a:r>
          </a:p>
        </p:txBody>
      </p:sp>
      <p:sp>
        <p:nvSpPr>
          <p:cNvPr id="21518" name="矩形 23"/>
          <p:cNvSpPr>
            <a:spLocks noChangeAspect="1"/>
          </p:cNvSpPr>
          <p:nvPr>
            <p:custDataLst>
              <p:tags r:id="rId13"/>
            </p:custDataLst>
          </p:nvPr>
        </p:nvSpPr>
        <p:spPr>
          <a:xfrm>
            <a:off x="1049338" y="4073525"/>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E</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9" name="文本框 24"/>
          <p:cNvSpPr txBox="1"/>
          <p:nvPr>
            <p:custDataLst>
              <p:tags r:id="rId14"/>
            </p:custDataLst>
          </p:nvPr>
        </p:nvSpPr>
        <p:spPr>
          <a:xfrm>
            <a:off x="1763713" y="4632325"/>
            <a:ext cx="67691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The temperature on the surface of the planet Venus is 800ºF.</a:t>
            </a:r>
          </a:p>
        </p:txBody>
      </p:sp>
      <p:sp>
        <p:nvSpPr>
          <p:cNvPr id="21520" name="矩形 25"/>
          <p:cNvSpPr>
            <a:spLocks noChangeAspect="1"/>
          </p:cNvSpPr>
          <p:nvPr>
            <p:custDataLst>
              <p:tags r:id="rId15"/>
            </p:custDataLst>
          </p:nvPr>
        </p:nvSpPr>
        <p:spPr>
          <a:xfrm>
            <a:off x="1065213" y="4722813"/>
            <a:ext cx="514350" cy="514350"/>
          </a:xfrm>
          <a:prstGeom prst="rect">
            <a:avLst/>
          </a:prstGeom>
          <a:solidFill>
            <a:srgbClr val="00FF00"/>
          </a:solidFill>
          <a:ln w="254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F</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21" name="文本框 26"/>
          <p:cNvSpPr txBox="1"/>
          <p:nvPr>
            <p:custDataLst>
              <p:tags r:id="rId16"/>
            </p:custDataLst>
          </p:nvPr>
        </p:nvSpPr>
        <p:spPr>
          <a:xfrm>
            <a:off x="1744663" y="531495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The sun will come out tomorrow.</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1522" name="矩形 27"/>
          <p:cNvSpPr>
            <a:spLocks noChangeAspect="1"/>
          </p:cNvSpPr>
          <p:nvPr>
            <p:custDataLst>
              <p:tags r:id="rId17"/>
            </p:custDataLst>
          </p:nvPr>
        </p:nvSpPr>
        <p:spPr>
          <a:xfrm>
            <a:off x="1065213" y="5348288"/>
            <a:ext cx="514350" cy="514350"/>
          </a:xfrm>
          <a:prstGeom prst="rect">
            <a:avLst/>
          </a:prstGeom>
          <a:solidFill>
            <a:srgbClr val="00FF00"/>
          </a:solidFill>
          <a:ln w="25400" cap="flat" cmpd="sng">
            <a:solidFill>
              <a:srgbClr val="000000"/>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90000"/>
              </a:lnSpc>
              <a:buClr>
                <a:schemeClr val="hlink"/>
              </a:buClr>
              <a:buSzPct val="55000"/>
            </a:pPr>
            <a:r>
              <a:rPr lang="en-US" altLang="zh-CN" sz="1600">
                <a:solidFill>
                  <a:srgbClr val="FFFFFF"/>
                </a:solidFill>
                <a:latin typeface="微软雅黑" panose="020B0503020204020204" charset="-122"/>
                <a:ea typeface="微软雅黑" panose="020B0503020204020204" charset="-122"/>
                <a:sym typeface="微软雅黑" panose="020B0503020204020204" charset="-122"/>
              </a:rPr>
              <a:t>G</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1523" name="组合 20"/>
          <p:cNvGrpSpPr/>
          <p:nvPr>
            <p:custDataLst>
              <p:tags r:id="rId18"/>
            </p:custDataLst>
          </p:nvPr>
        </p:nvGrpSpPr>
        <p:grpSpPr>
          <a:xfrm>
            <a:off x="0" y="0"/>
            <a:ext cx="9144000" cy="635000"/>
            <a:chOff x="0" y="0"/>
            <a:chExt cx="9144000" cy="635000"/>
          </a:xfrm>
        </p:grpSpPr>
        <p:sp>
          <p:nvSpPr>
            <p:cNvPr id="21525" name="TitleBackground"/>
            <p:cNvSpPr/>
            <p:nvPr>
              <p:custDataLst>
                <p:tags r:id="rId20"/>
              </p:custDataLst>
            </p:nvPr>
          </p:nvSpPr>
          <p:spPr>
            <a:xfrm>
              <a:off x="0" y="0"/>
              <a:ext cx="9144000" cy="635000"/>
            </a:xfrm>
            <a:prstGeom prst="rect">
              <a:avLst/>
            </a:prstGeom>
            <a:solidFill>
              <a:srgbClr val="F6F7F8"/>
            </a:solid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742950" lvl="0" indent="-285750" eaLnBrk="1" hangingPunct="1">
                <a:lnSpc>
                  <a:spcPct val="90000"/>
                </a:lnSpc>
                <a:buClr>
                  <a:schemeClr val="hlink"/>
                </a:buClr>
                <a:buSzPct val="55000"/>
              </a:pPr>
              <a:endParaRPr lang="zh-CN" altLang="en-US" sz="2400" dirty="0">
                <a:latin typeface="Times New Roman" panose="02020603050405020304" pitchFamily="18" charset="0"/>
                <a:ea typeface="Times New Roman" panose="02020603050405020304" pitchFamily="18" charset="0"/>
              </a:endParaRPr>
            </a:p>
          </p:txBody>
        </p:sp>
        <p:sp>
          <p:nvSpPr>
            <p:cNvPr id="21526" name="ColorBlock"/>
            <p:cNvSpPr/>
            <p:nvPr>
              <p:custDataLst>
                <p:tags r:id="rId21"/>
              </p:custDataLst>
            </p:nvPr>
          </p:nvSpPr>
          <p:spPr>
            <a:xfrm>
              <a:off x="0" y="0"/>
              <a:ext cx="190500" cy="635000"/>
            </a:xfrm>
            <a:prstGeom prst="rect">
              <a:avLst/>
            </a:prstGeom>
            <a:solidFill>
              <a:srgbClr val="639EF4"/>
            </a:solid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742950" lvl="0" indent="-285750" eaLnBrk="1" hangingPunct="1">
                <a:lnSpc>
                  <a:spcPct val="90000"/>
                </a:lnSpc>
                <a:buClr>
                  <a:schemeClr val="hlink"/>
                </a:buClr>
                <a:buSzPct val="55000"/>
              </a:pPr>
              <a:endParaRPr lang="zh-CN" altLang="en-US" sz="2400" dirty="0">
                <a:latin typeface="Times New Roman" panose="02020603050405020304" pitchFamily="18" charset="0"/>
                <a:ea typeface="Times New Roman" panose="02020603050405020304" pitchFamily="18" charset="0"/>
              </a:endParaRPr>
            </a:p>
          </p:txBody>
        </p:sp>
        <p:sp>
          <p:nvSpPr>
            <p:cNvPr id="21527" name="TypeText"/>
            <p:cNvSpPr txBox="1"/>
            <p:nvPr>
              <p:custDataLst>
                <p:tags r:id="rId22"/>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多选题</a:t>
              </a:r>
            </a:p>
          </p:txBody>
        </p:sp>
        <p:sp>
          <p:nvSpPr>
            <p:cNvPr id="21528" name="TipText"/>
            <p:cNvSpPr txBox="1"/>
            <p:nvPr>
              <p:custDataLst>
                <p:tags r:id="rId23"/>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21524" name="图片 5"/>
          <p:cNvPicPr/>
          <p:nvPr>
            <p:custDataLst>
              <p:tags r:id="rId19"/>
            </p:custDataLst>
          </p:nvPr>
        </p:nvPicPr>
        <p:blipFill>
          <a:blip r:embed="rId25"/>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15</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253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253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2533" name="Rectangle 2"/>
          <p:cNvSpPr>
            <a:spLocks noGrp="1"/>
          </p:cNvSpPr>
          <p:nvPr>
            <p:ph type="title"/>
          </p:nvPr>
        </p:nvSpPr>
        <p:spPr>
          <a:xfrm>
            <a:off x="916940" y="332740"/>
            <a:ext cx="8089900" cy="765810"/>
          </a:xfrm>
        </p:spPr>
        <p:txBody>
          <a:bodyPr vert="horz" wrap="square" lIns="91440" tIns="45720" rIns="91440" bIns="45720" anchor="b" anchorCtr="0"/>
          <a:lstStyle/>
          <a:p>
            <a:pPr eaLnBrk="1" hangingPunct="1"/>
            <a:r>
              <a:rPr lang="en-US" altLang="zh-CN" sz="2800" dirty="0"/>
              <a:t>Logical Connectives and Compound Statements  (</a:t>
            </a:r>
            <a:r>
              <a:rPr lang="zh-CN" altLang="en-US" sz="2800" dirty="0"/>
              <a:t>逻辑联结词与复合命题）</a:t>
            </a:r>
          </a:p>
        </p:txBody>
      </p:sp>
      <p:sp>
        <p:nvSpPr>
          <p:cNvPr id="22534" name="Rectangle 3"/>
          <p:cNvSpPr>
            <a:spLocks noGrp="1"/>
          </p:cNvSpPr>
          <p:nvPr>
            <p:ph idx="1"/>
          </p:nvPr>
        </p:nvSpPr>
        <p:spPr>
          <a:xfrm>
            <a:off x="584200" y="1307465"/>
            <a:ext cx="8560435" cy="4956810"/>
          </a:xfrm>
        </p:spPr>
        <p:txBody>
          <a:bodyPr vert="horz" wrap="square" lIns="91440" tIns="45720" rIns="91440" bIns="45720" anchor="t" anchorCtr="0"/>
          <a:lstStyle/>
          <a:p>
            <a:pPr eaLnBrk="1" hangingPunct="1"/>
            <a:r>
              <a:rPr lang="en-US" altLang="zh-CN" dirty="0">
                <a:latin typeface="Times New Roman" panose="02020603050405020304" pitchFamily="18" charset="0"/>
              </a:rPr>
              <a:t>propositional variables（</a:t>
            </a:r>
            <a:r>
              <a:rPr lang="zh-CN" altLang="en-US" sz="2800" dirty="0">
                <a:latin typeface="Times New Roman" panose="02020603050405020304" pitchFamily="18" charset="0"/>
              </a:rPr>
              <a:t>命题变项</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 . . .</a:t>
            </a:r>
          </a:p>
          <a:p>
            <a:pPr lvl="1" eaLnBrk="1" hangingPunct="1"/>
            <a:r>
              <a:rPr lang="en-US" altLang="zh-CN" i="1" dirty="0">
                <a:latin typeface="Times New Roman" panose="02020603050405020304" pitchFamily="18" charset="0"/>
              </a:rPr>
              <a:t>p</a:t>
            </a:r>
            <a:r>
              <a:rPr lang="en-US" altLang="zh-CN" dirty="0">
                <a:latin typeface="Times New Roman" panose="02020603050405020304" pitchFamily="18" charset="0"/>
              </a:rPr>
              <a:t>: The sun is shining today.</a:t>
            </a:r>
          </a:p>
          <a:p>
            <a:pPr lvl="1" eaLnBrk="1" hangingPunct="1"/>
            <a:r>
              <a:rPr lang="en-US" altLang="zh-CN" i="1" dirty="0">
                <a:latin typeface="Times New Roman" panose="02020603050405020304" pitchFamily="18" charset="0"/>
              </a:rPr>
              <a:t>q</a:t>
            </a:r>
            <a:r>
              <a:rPr lang="en-US" altLang="zh-CN" dirty="0">
                <a:latin typeface="Times New Roman" panose="02020603050405020304" pitchFamily="18" charset="0"/>
              </a:rPr>
              <a:t>:  It is cold.</a:t>
            </a:r>
          </a:p>
          <a:p>
            <a:pPr eaLnBrk="1" hangingPunct="1"/>
            <a:r>
              <a:rPr lang="en-US" altLang="zh-CN" dirty="0">
                <a:latin typeface="Times New Roman" panose="02020603050405020304" pitchFamily="18" charset="0"/>
              </a:rPr>
              <a:t>Statements or propositional variables can be combined by logical connectives（</a:t>
            </a:r>
            <a:r>
              <a:rPr lang="zh-CN" altLang="en-US" sz="2800" dirty="0">
                <a:latin typeface="Times New Roman" panose="02020603050405020304" pitchFamily="18" charset="0"/>
              </a:rPr>
              <a:t>逻辑联结词） </a:t>
            </a:r>
            <a:r>
              <a:rPr lang="en-US" altLang="zh-CN" dirty="0">
                <a:latin typeface="Times New Roman" panose="02020603050405020304" pitchFamily="18" charset="0"/>
              </a:rPr>
              <a:t>to obtain </a:t>
            </a:r>
            <a:r>
              <a:rPr lang="en-US" altLang="zh-CN" dirty="0">
                <a:solidFill>
                  <a:srgbClr val="FF3300"/>
                </a:solidFill>
                <a:latin typeface="Times New Roman" panose="02020603050405020304" pitchFamily="18" charset="0"/>
              </a:rPr>
              <a:t>compound statements(</a:t>
            </a:r>
            <a:r>
              <a:rPr lang="zh-CN" altLang="en-US" sz="2400" dirty="0">
                <a:solidFill>
                  <a:srgbClr val="FF3300"/>
                </a:solidFill>
              </a:rPr>
              <a:t>复合命题</a:t>
            </a:r>
            <a:r>
              <a:rPr lang="en-US" altLang="zh-CN" dirty="0">
                <a:solidFill>
                  <a:srgbClr val="FF3300"/>
                </a:solidFill>
                <a:latin typeface="Times New Roman" panose="02020603050405020304" pitchFamily="18" charset="0"/>
              </a:rPr>
              <a:t>)</a:t>
            </a:r>
            <a:r>
              <a:rPr lang="en-US" altLang="zh-CN" dirty="0">
                <a:latin typeface="Times New Roman" panose="02020603050405020304" pitchFamily="18" charset="0"/>
              </a:rPr>
              <a:t>.</a:t>
            </a:r>
          </a:p>
          <a:p>
            <a:pPr lvl="1" eaLnBrk="1" hangingPunct="1"/>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The sun is shining </a:t>
            </a:r>
            <a:r>
              <a:rPr lang="en-US" altLang="zh-CN" dirty="0">
                <a:solidFill>
                  <a:srgbClr val="FF3300"/>
                </a:solidFill>
                <a:latin typeface="Times New Roman" panose="02020603050405020304" pitchFamily="18" charset="0"/>
              </a:rPr>
              <a:t>and</a:t>
            </a:r>
            <a:r>
              <a:rPr lang="en-US" altLang="zh-CN" dirty="0">
                <a:latin typeface="Times New Roman" panose="02020603050405020304" pitchFamily="18" charset="0"/>
              </a:rPr>
              <a:t> it is cold.</a:t>
            </a:r>
          </a:p>
          <a:p>
            <a:pPr lvl="1" eaLnBrk="1" hangingPunct="1"/>
            <a:endParaRPr lang="en-US" altLang="zh-CN" dirty="0">
              <a:latin typeface="Times New Roman" panose="02020603050405020304" pitchFamily="18" charset="0"/>
            </a:endParaRPr>
          </a:p>
          <a:p>
            <a:pPr lvl="1" eaLnBrk="1" hangingPunct="1"/>
            <a:endParaRPr lang="en-US" altLang="zh-CN" dirty="0">
              <a:latin typeface="Times New Roman" panose="02020603050405020304" pitchFamily="18" charset="0"/>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16</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3555"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3556"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3557" name="Rectangle 2"/>
          <p:cNvSpPr>
            <a:spLocks noGrp="1"/>
          </p:cNvSpPr>
          <p:nvPr>
            <p:ph type="title"/>
          </p:nvPr>
        </p:nvSpPr>
        <p:spPr/>
        <p:txBody>
          <a:bodyPr vert="horz" wrap="square" lIns="91440" tIns="45720" rIns="91440" bIns="45720" anchor="b" anchorCtr="0"/>
          <a:lstStyle/>
          <a:p>
            <a:pPr eaLnBrk="1" hangingPunct="1"/>
            <a:r>
              <a:rPr lang="en-US" altLang="zh-CN" dirty="0"/>
              <a:t>Note</a:t>
            </a:r>
          </a:p>
        </p:txBody>
      </p:sp>
      <p:sp>
        <p:nvSpPr>
          <p:cNvPr id="23558"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The truth value of a compound statement depends only on the truth value of the statement being combined and on the type of connectives being used.</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17</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457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458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4581" name="Rectangle 2"/>
          <p:cNvSpPr>
            <a:spLocks noGrp="1"/>
          </p:cNvSpPr>
          <p:nvPr>
            <p:ph type="title"/>
          </p:nvPr>
        </p:nvSpPr>
        <p:spPr/>
        <p:txBody>
          <a:bodyPr vert="horz" wrap="square" lIns="91440" tIns="45720" rIns="91440" bIns="45720" anchor="b" anchorCtr="0"/>
          <a:lstStyle/>
          <a:p>
            <a:pPr eaLnBrk="1" hangingPunct="1"/>
            <a:r>
              <a:rPr lang="en-US" altLang="zh-CN" sz="3200" dirty="0"/>
              <a:t>Calculus </a:t>
            </a:r>
            <a:r>
              <a:rPr lang="en-US" altLang="zh-CN" sz="3600" dirty="0"/>
              <a:t>of propositions</a:t>
            </a:r>
            <a:br>
              <a:rPr lang="en-US" altLang="zh-CN" sz="3600" dirty="0"/>
            </a:br>
            <a:r>
              <a:rPr lang="en-US" altLang="zh-CN" sz="3600" dirty="0"/>
              <a:t>(</a:t>
            </a:r>
            <a:r>
              <a:rPr lang="zh-CN" altLang="en-US" sz="3600" dirty="0"/>
              <a:t>命题演算</a:t>
            </a:r>
            <a:r>
              <a:rPr lang="en-US" altLang="zh-CN" sz="3600" dirty="0"/>
              <a:t>)</a:t>
            </a:r>
          </a:p>
        </p:txBody>
      </p:sp>
      <p:sp>
        <p:nvSpPr>
          <p:cNvPr id="24582"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New Propositions from old: </a:t>
            </a:r>
            <a:r>
              <a:rPr lang="en-US" altLang="zh-CN" dirty="0">
                <a:solidFill>
                  <a:schemeClr val="hlink"/>
                </a:solidFill>
                <a:latin typeface="Times New Roman" panose="02020603050405020304" pitchFamily="18" charset="0"/>
              </a:rPr>
              <a:t>calculus of propositions</a:t>
            </a:r>
            <a:r>
              <a:rPr lang="en-US" altLang="zh-CN" dirty="0">
                <a:latin typeface="Times New Roman" panose="02020603050405020304" pitchFamily="18" charset="0"/>
              </a:rPr>
              <a:t> - relate new propositions to old using </a:t>
            </a:r>
            <a:r>
              <a:rPr lang="en-US" altLang="zh-CN" b="1" dirty="0">
                <a:latin typeface="Times New Roman" panose="02020603050405020304" pitchFamily="18" charset="0"/>
              </a:rPr>
              <a:t>TRUTH TABLES(</a:t>
            </a:r>
            <a:r>
              <a:rPr lang="zh-CN" altLang="en-US" b="1" dirty="0">
                <a:latin typeface="Times New Roman" panose="02020603050405020304" pitchFamily="18" charset="0"/>
              </a:rPr>
              <a:t>真值表）.</a:t>
            </a:r>
          </a:p>
          <a:p>
            <a:pPr eaLnBrk="1" hangingPunct="1"/>
            <a:r>
              <a:rPr lang="en-US" altLang="zh-CN" dirty="0">
                <a:solidFill>
                  <a:srgbClr val="FF3300"/>
                </a:solidFill>
                <a:latin typeface="Times New Roman" panose="02020603050405020304" pitchFamily="18" charset="0"/>
              </a:rPr>
              <a:t>Truth table</a:t>
            </a:r>
            <a:r>
              <a:rPr lang="en-US" altLang="zh-CN" dirty="0">
                <a:latin typeface="Times New Roman" panose="02020603050405020304" pitchFamily="18" charset="0"/>
              </a:rPr>
              <a:t>: a table giving the truth values of a compound statement in terms of its component part.</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18</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560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560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5605" name="Rectangle 2"/>
          <p:cNvSpPr>
            <a:spLocks noGrp="1"/>
          </p:cNvSpPr>
          <p:nvPr>
            <p:ph type="title"/>
          </p:nvPr>
        </p:nvSpPr>
        <p:spPr>
          <a:xfrm>
            <a:off x="897255" y="394970"/>
            <a:ext cx="8188325" cy="694055"/>
          </a:xfrm>
        </p:spPr>
        <p:txBody>
          <a:bodyPr vert="horz" wrap="square" lIns="91440" tIns="45720" rIns="91440" bIns="45720" anchor="b" anchorCtr="0"/>
          <a:lstStyle/>
          <a:p>
            <a:pPr eaLnBrk="1" hangingPunct="1"/>
            <a:r>
              <a:rPr lang="en-US" altLang="zh-CN" sz="3600" dirty="0"/>
              <a:t>Logical Connectives（</a:t>
            </a:r>
            <a:r>
              <a:rPr lang="zh-CN" altLang="en-US" sz="3600" dirty="0"/>
              <a:t>逻辑联结词</a:t>
            </a:r>
            <a:r>
              <a:rPr lang="en-US" altLang="zh-CN" sz="3200" dirty="0"/>
              <a:t>）</a:t>
            </a:r>
          </a:p>
        </p:txBody>
      </p:sp>
      <p:sp>
        <p:nvSpPr>
          <p:cNvPr id="25606" name="Rectangle 3"/>
          <p:cNvSpPr>
            <a:spLocks noGrp="1"/>
          </p:cNvSpPr>
          <p:nvPr>
            <p:ph idx="1"/>
          </p:nvPr>
        </p:nvSpPr>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Unary</a:t>
            </a:r>
          </a:p>
          <a:p>
            <a:pPr lvl="1" eaLnBrk="1" hangingPunct="1">
              <a:lnSpc>
                <a:spcPct val="90000"/>
              </a:lnSpc>
            </a:pPr>
            <a:r>
              <a:rPr lang="en-US" altLang="zh-CN" b="1" dirty="0">
                <a:latin typeface="Times New Roman" panose="02020603050405020304" pitchFamily="18" charset="0"/>
              </a:rPr>
              <a:t>Negation（</a:t>
            </a:r>
            <a:r>
              <a:rPr lang="zh-CN" altLang="en-US" b="1" dirty="0">
                <a:latin typeface="Times New Roman" panose="02020603050405020304" pitchFamily="18" charset="0"/>
              </a:rPr>
              <a:t>否定）</a:t>
            </a:r>
            <a:endParaRPr lang="zh-CN" altLang="en-US"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Binary</a:t>
            </a:r>
          </a:p>
          <a:p>
            <a:pPr lvl="1" eaLnBrk="1" hangingPunct="1">
              <a:lnSpc>
                <a:spcPct val="90000"/>
              </a:lnSpc>
            </a:pPr>
            <a:r>
              <a:rPr lang="en-US" altLang="zh-CN" b="1" dirty="0">
                <a:latin typeface="Times New Roman" panose="02020603050405020304" pitchFamily="18" charset="0"/>
              </a:rPr>
              <a:t>Conjunction（</a:t>
            </a:r>
            <a:r>
              <a:rPr lang="zh-CN" altLang="en-US" b="1" dirty="0">
                <a:latin typeface="Times New Roman" panose="02020603050405020304" pitchFamily="18" charset="0"/>
              </a:rPr>
              <a:t>合取）</a:t>
            </a:r>
            <a:endParaRPr lang="zh-CN" altLang="en-US" dirty="0">
              <a:latin typeface="Times New Roman" panose="02020603050405020304" pitchFamily="18" charset="0"/>
            </a:endParaRPr>
          </a:p>
          <a:p>
            <a:pPr lvl="1" eaLnBrk="1" hangingPunct="1">
              <a:lnSpc>
                <a:spcPct val="90000"/>
              </a:lnSpc>
            </a:pPr>
            <a:r>
              <a:rPr lang="en-US" altLang="zh-CN" b="1" dirty="0">
                <a:latin typeface="Times New Roman" panose="02020603050405020304" pitchFamily="18" charset="0"/>
              </a:rPr>
              <a:t>Disjunction （</a:t>
            </a:r>
            <a:r>
              <a:rPr lang="zh-CN" altLang="en-US" b="1" dirty="0">
                <a:latin typeface="Times New Roman" panose="02020603050405020304" pitchFamily="18" charset="0"/>
              </a:rPr>
              <a:t>析取）</a:t>
            </a:r>
            <a:endParaRPr lang="zh-CN" altLang="en-US" dirty="0">
              <a:latin typeface="Times New Roman" panose="02020603050405020304" pitchFamily="18" charset="0"/>
            </a:endParaRPr>
          </a:p>
          <a:p>
            <a:pPr lvl="1" eaLnBrk="1" hangingPunct="1">
              <a:lnSpc>
                <a:spcPct val="90000"/>
              </a:lnSpc>
            </a:pPr>
            <a:r>
              <a:rPr lang="en-US" altLang="zh-CN" b="1" dirty="0">
                <a:solidFill>
                  <a:srgbClr val="FF9966"/>
                </a:solidFill>
                <a:latin typeface="Times New Roman" panose="02020603050405020304" pitchFamily="18" charset="0"/>
              </a:rPr>
              <a:t>Exclusive OR （</a:t>
            </a:r>
            <a:r>
              <a:rPr lang="zh-CN" altLang="en-US" b="1" dirty="0">
                <a:solidFill>
                  <a:srgbClr val="FF9966"/>
                </a:solidFill>
                <a:latin typeface="Times New Roman" panose="02020603050405020304" pitchFamily="18" charset="0"/>
              </a:rPr>
              <a:t>异或）</a:t>
            </a:r>
            <a:endParaRPr lang="zh-CN" altLang="en-US" dirty="0">
              <a:solidFill>
                <a:srgbClr val="FF9966"/>
              </a:solidFill>
              <a:latin typeface="Times New Roman" panose="02020603050405020304" pitchFamily="18" charset="0"/>
            </a:endParaRPr>
          </a:p>
          <a:p>
            <a:pPr lvl="1" eaLnBrk="1" hangingPunct="1">
              <a:lnSpc>
                <a:spcPct val="90000"/>
              </a:lnSpc>
            </a:pPr>
            <a:r>
              <a:rPr lang="en-US" altLang="zh-CN" b="1" dirty="0">
                <a:latin typeface="Times New Roman" panose="02020603050405020304" pitchFamily="18" charset="0"/>
              </a:rPr>
              <a:t>Implication （</a:t>
            </a:r>
            <a:r>
              <a:rPr lang="zh-CN" altLang="en-US" b="1" dirty="0">
                <a:latin typeface="Times New Roman" panose="02020603050405020304" pitchFamily="18" charset="0"/>
              </a:rPr>
              <a:t>蕴涵）</a:t>
            </a:r>
            <a:endParaRPr lang="zh-CN" altLang="en-US" dirty="0">
              <a:latin typeface="Times New Roman" panose="02020603050405020304" pitchFamily="18" charset="0"/>
            </a:endParaRPr>
          </a:p>
          <a:p>
            <a:pPr lvl="1" eaLnBrk="1" hangingPunct="1">
              <a:lnSpc>
                <a:spcPct val="90000"/>
              </a:lnSpc>
            </a:pPr>
            <a:r>
              <a:rPr lang="en-US" altLang="zh-CN" b="1" dirty="0">
                <a:latin typeface="Times New Roman" panose="02020603050405020304" pitchFamily="18" charset="0"/>
              </a:rPr>
              <a:t>Biconditional （</a:t>
            </a:r>
            <a:r>
              <a:rPr lang="zh-CN" altLang="en-US" b="1" dirty="0">
                <a:latin typeface="Times New Roman" panose="02020603050405020304" pitchFamily="18" charset="0"/>
              </a:rPr>
              <a:t>等价，双条件命题）</a:t>
            </a:r>
            <a:endParaRPr lang="zh-CN" altLang="en-US"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19</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662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662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6629" name="Rectangle 2"/>
          <p:cNvSpPr>
            <a:spLocks noGrp="1"/>
          </p:cNvSpPr>
          <p:nvPr>
            <p:ph type="title"/>
          </p:nvPr>
        </p:nvSpPr>
        <p:spPr/>
        <p:txBody>
          <a:bodyPr vert="horz" wrap="square" lIns="91440" tIns="45720" rIns="91440" bIns="45720" anchor="b" anchorCtr="0"/>
          <a:lstStyle/>
          <a:p>
            <a:pPr eaLnBrk="1" hangingPunct="1"/>
            <a:r>
              <a:rPr lang="en-US" altLang="zh-CN" dirty="0"/>
              <a:t>Negation </a:t>
            </a:r>
            <a:r>
              <a:rPr lang="en-US" altLang="zh-CN" b="1" dirty="0"/>
              <a:t> </a:t>
            </a:r>
            <a:r>
              <a:rPr lang="en-US" altLang="zh-CN" dirty="0"/>
              <a:t>‘not’ :</a:t>
            </a:r>
            <a:r>
              <a:rPr lang="en-US" altLang="zh-CN"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a:t>
            </a:r>
            <a:r>
              <a:rPr lang="zh-CN" altLang="en-US" b="1" dirty="0">
                <a:latin typeface="Times New Roman" panose="02020603050405020304" pitchFamily="18" charset="0"/>
              </a:rPr>
              <a:t>否定）</a:t>
            </a:r>
            <a:endParaRPr lang="en-US" altLang="zh-CN" b="1" dirty="0">
              <a:latin typeface="Times New Roman" panose="02020603050405020304" pitchFamily="18" charset="0"/>
            </a:endParaRPr>
          </a:p>
        </p:txBody>
      </p:sp>
      <p:sp>
        <p:nvSpPr>
          <p:cNvPr id="26630" name="Rectangle 3"/>
          <p:cNvSpPr>
            <a:spLocks noGrp="1"/>
          </p:cNvSpPr>
          <p:nvPr>
            <p:ph idx="1"/>
          </p:nvPr>
        </p:nvSpPr>
        <p:spPr>
          <a:xfrm>
            <a:off x="971233" y="1268413"/>
            <a:ext cx="7772400" cy="4114800"/>
          </a:xfrm>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Definition:the negation of the statement </a:t>
            </a:r>
            <a:r>
              <a:rPr lang="en-US" altLang="zh-CN" i="1" dirty="0">
                <a:latin typeface="Times New Roman" panose="02020603050405020304" pitchFamily="18" charset="0"/>
              </a:rPr>
              <a:t>p</a:t>
            </a:r>
            <a:r>
              <a:rPr lang="en-US" altLang="zh-CN" dirty="0">
                <a:latin typeface="Times New Roman" panose="02020603050405020304" pitchFamily="18" charset="0"/>
              </a:rPr>
              <a:t> is the statement </a:t>
            </a:r>
            <a:r>
              <a:rPr lang="en-US" altLang="zh-CN" i="1" dirty="0">
                <a:latin typeface="Times New Roman" panose="02020603050405020304" pitchFamily="18" charset="0"/>
              </a:rPr>
              <a:t>not</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,denoted by </a:t>
            </a:r>
            <a:r>
              <a:rPr lang="en-US" altLang="zh-CN" dirty="0">
                <a:latin typeface="Symbol" panose="05050102010706020507" pitchFamily="18" charset="2"/>
                <a:sym typeface="Symbol" panose="05050102010706020507" pitchFamily="18" charset="2"/>
              </a:rPr>
              <a:t> </a:t>
            </a:r>
            <a:r>
              <a:rPr lang="en-US" altLang="zh-CN" i="1" dirty="0">
                <a:latin typeface="Times New Roman" panose="02020603050405020304" pitchFamily="18" charset="0"/>
              </a:rPr>
              <a:t>p</a:t>
            </a:r>
            <a:r>
              <a:rPr lang="en-US" altLang="zh-CN" dirty="0">
                <a:latin typeface="Times New Roman" panose="02020603050405020304" pitchFamily="18" charset="0"/>
              </a:rPr>
              <a:t>.</a:t>
            </a:r>
          </a:p>
          <a:p>
            <a:pPr eaLnBrk="1" hangingPunct="1">
              <a:lnSpc>
                <a:spcPct val="90000"/>
              </a:lnSpc>
            </a:pPr>
            <a:r>
              <a:rPr lang="en-US" altLang="zh-CN" dirty="0">
                <a:latin typeface="Times New Roman" panose="02020603050405020304" pitchFamily="18" charset="0"/>
              </a:rPr>
              <a:t>Example: </a:t>
            </a:r>
          </a:p>
          <a:p>
            <a:pPr lvl="1" eaLnBrk="1" hangingPunct="1">
              <a:lnSpc>
                <a:spcPct val="90000"/>
              </a:lnSpc>
              <a:buNone/>
            </a:pPr>
            <a:r>
              <a:rPr lang="en-US" altLang="zh-CN" i="1" dirty="0">
                <a:latin typeface="Times New Roman" panose="02020603050405020304" pitchFamily="18" charset="0"/>
              </a:rPr>
              <a:t>p</a:t>
            </a:r>
            <a:r>
              <a:rPr lang="en-US" altLang="zh-CN" dirty="0">
                <a:latin typeface="Times New Roman" panose="02020603050405020304" pitchFamily="18" charset="0"/>
              </a:rPr>
              <a:t>: I am going to town</a:t>
            </a:r>
          </a:p>
          <a:p>
            <a:pPr lvl="1" eaLnBrk="1" hangingPunct="1">
              <a:lnSpc>
                <a:spcPct val="90000"/>
              </a:lnSpc>
              <a:buNone/>
            </a:pPr>
            <a:r>
              <a:rPr lang="en-US" altLang="zh-CN" dirty="0">
                <a:latin typeface="Symbol" panose="05050102010706020507" pitchFamily="18" charset="2"/>
                <a:sym typeface="Symbol" panose="05050102010706020507" pitchFamily="18" charset="2"/>
              </a:rPr>
              <a:t> </a:t>
            </a:r>
            <a:r>
              <a:rPr lang="en-US" altLang="zh-CN" i="1" dirty="0">
                <a:latin typeface="Times New Roman" panose="02020603050405020304" pitchFamily="18" charset="0"/>
                <a:sym typeface="+mn-ea"/>
              </a:rPr>
              <a:t>p</a:t>
            </a:r>
            <a:r>
              <a:rPr lang="en-US" altLang="zh-CN" dirty="0">
                <a:latin typeface="Times New Roman" panose="02020603050405020304" pitchFamily="18" charset="0"/>
              </a:rPr>
              <a:t>: </a:t>
            </a:r>
          </a:p>
          <a:p>
            <a:pPr lvl="1" eaLnBrk="1" hangingPunct="1">
              <a:lnSpc>
                <a:spcPct val="90000"/>
              </a:lnSpc>
              <a:buNone/>
            </a:pPr>
            <a:r>
              <a:rPr lang="en-US" altLang="zh-CN" dirty="0">
                <a:latin typeface="Times New Roman" panose="02020603050405020304" pitchFamily="18" charset="0"/>
              </a:rPr>
              <a:t>	I am not going to town;</a:t>
            </a:r>
          </a:p>
          <a:p>
            <a:pPr lvl="1" eaLnBrk="1" hangingPunct="1">
              <a:lnSpc>
                <a:spcPct val="90000"/>
              </a:lnSpc>
              <a:buNone/>
            </a:pPr>
            <a:r>
              <a:rPr lang="en-US" altLang="zh-CN" dirty="0">
                <a:latin typeface="Times New Roman" panose="02020603050405020304" pitchFamily="18" charset="0"/>
              </a:rPr>
              <a:t>	It is not the case that I am going to town;</a:t>
            </a:r>
          </a:p>
          <a:p>
            <a:pPr eaLnBrk="1" hangingPunct="1">
              <a:lnSpc>
                <a:spcPct val="90000"/>
              </a:lnSpc>
            </a:pPr>
            <a:r>
              <a:rPr lang="en-US" altLang="zh-CN" dirty="0">
                <a:latin typeface="Times New Roman" panose="02020603050405020304" pitchFamily="18" charset="0"/>
              </a:rPr>
              <a:t>Truth Table:</a:t>
            </a:r>
          </a:p>
          <a:p>
            <a:pPr lvl="1" eaLnBrk="1" hangingPunct="1">
              <a:lnSpc>
                <a:spcPct val="90000"/>
              </a:lnSpc>
              <a:buNone/>
            </a:pPr>
            <a:r>
              <a:rPr lang="en-US" altLang="zh-CN" sz="2400" dirty="0">
                <a:latin typeface="Times New Roman" panose="02020603050405020304" pitchFamily="18" charset="0"/>
              </a:rPr>
              <a:t>			</a:t>
            </a:r>
            <a:endParaRPr lang="en-US" altLang="zh-CN" sz="2400" dirty="0"/>
          </a:p>
        </p:txBody>
      </p:sp>
      <p:graphicFrame>
        <p:nvGraphicFramePr>
          <p:cNvPr id="2" name="表格 1"/>
          <p:cNvGraphicFramePr>
            <a:graphicFrameLocks noGrp="1"/>
          </p:cNvGraphicFramePr>
          <p:nvPr>
            <p:custDataLst>
              <p:tags r:id="rId1"/>
            </p:custDataLst>
          </p:nvPr>
        </p:nvGraphicFramePr>
        <p:xfrm>
          <a:off x="4068445" y="4797425"/>
          <a:ext cx="2592485" cy="1336529"/>
        </p:xfrm>
        <a:graphic>
          <a:graphicData uri="http://schemas.openxmlformats.org/drawingml/2006/table">
            <a:tbl>
              <a:tblPr firstRow="1" bandRow="1">
                <a:tableStyleId>{5C22544A-7EE6-4342-B048-85BDC9FD1C3A}</a:tableStyleId>
              </a:tblPr>
              <a:tblGrid>
                <a:gridCol w="1224280">
                  <a:extLst>
                    <a:ext uri="{9D8B030D-6E8A-4147-A177-3AD203B41FA5}">
                      <a16:colId xmlns:a16="http://schemas.microsoft.com/office/drawing/2014/main" val="20000"/>
                    </a:ext>
                  </a:extLst>
                </a:gridCol>
                <a:gridCol w="1368205">
                  <a:extLst>
                    <a:ext uri="{9D8B030D-6E8A-4147-A177-3AD203B41FA5}">
                      <a16:colId xmlns:a16="http://schemas.microsoft.com/office/drawing/2014/main" val="20001"/>
                    </a:ext>
                  </a:extLst>
                </a:gridCol>
              </a:tblGrid>
              <a:tr h="441325">
                <a:tc>
                  <a:txBody>
                    <a:bodyPr/>
                    <a:lstStyle/>
                    <a:p>
                      <a:pPr algn="ctr"/>
                      <a:r>
                        <a:rPr lang="en-US" altLang="zh-CN" sz="1800" i="1" dirty="0">
                          <a:solidFill>
                            <a:schemeClr val="tx1"/>
                          </a:solidFill>
                          <a:latin typeface="Times New Roman" panose="02020603050405020304" pitchFamily="18" charset="0"/>
                          <a:sym typeface="+mn-ea"/>
                        </a:rPr>
                        <a:t>p</a:t>
                      </a:r>
                      <a:endParaRPr lang="en-US" altLang="zh-CN" sz="1800" b="1" i="1" dirty="0">
                        <a:solidFill>
                          <a:schemeClr val="tx1"/>
                        </a:solidFill>
                        <a:latin typeface="Times New Roman" panose="02020603050405020304" pitchFamily="18" charset="0"/>
                        <a:sym typeface="+mn-ea"/>
                      </a:endParaRPr>
                    </a:p>
                  </a:txBody>
                  <a:tcPr marL="91444" marR="91444" marT="45694" marB="45694" anchor="ctr"/>
                </a:tc>
                <a:tc>
                  <a:txBody>
                    <a:bodyPr/>
                    <a:lstStyle/>
                    <a:p>
                      <a:pPr algn="ctr"/>
                      <a:r>
                        <a:rPr lang="en-US" altLang="zh-CN" sz="1800" dirty="0">
                          <a:solidFill>
                            <a:schemeClr val="tx1"/>
                          </a:solidFill>
                          <a:latin typeface="Symbol" panose="05050102010706020507" pitchFamily="18" charset="2"/>
                          <a:sym typeface="Symbol" panose="05050102010706020507" pitchFamily="18" charset="2"/>
                        </a:rPr>
                        <a:t></a:t>
                      </a:r>
                      <a:r>
                        <a:rPr lang="en-US" altLang="zh-CN" sz="1800" i="1" dirty="0">
                          <a:solidFill>
                            <a:schemeClr val="tx1"/>
                          </a:solidFill>
                          <a:latin typeface="Times New Roman" panose="02020603050405020304" pitchFamily="18" charset="0"/>
                          <a:sym typeface="+mn-ea"/>
                        </a:rPr>
                        <a:t>p</a:t>
                      </a:r>
                      <a:endParaRPr lang="en-US" altLang="zh-CN" sz="1800" b="1" i="1" dirty="0">
                        <a:solidFill>
                          <a:schemeClr val="tx1"/>
                        </a:solidFill>
                        <a:latin typeface="Times New Roman" panose="02020603050405020304" pitchFamily="18" charset="0"/>
                        <a:sym typeface="+mn-ea"/>
                      </a:endParaRPr>
                    </a:p>
                  </a:txBody>
                  <a:tcPr marL="91444" marR="91444" marT="45694" marB="45694" anchor="ctr"/>
                </a:tc>
                <a:extLst>
                  <a:ext uri="{0D108BD9-81ED-4DB2-BD59-A6C34878D82A}">
                    <a16:rowId xmlns:a16="http://schemas.microsoft.com/office/drawing/2014/main" val="10000"/>
                  </a:ext>
                </a:extLst>
              </a:tr>
              <a:tr h="447602">
                <a:tc>
                  <a:txBody>
                    <a:bodyPr/>
                    <a:lstStyle/>
                    <a:p>
                      <a:pPr algn="ctr"/>
                      <a:r>
                        <a:rPr lang="en-US" altLang="zh-CN" sz="1800" b="1" dirty="0">
                          <a:solidFill>
                            <a:schemeClr val="tx1"/>
                          </a:solidFill>
                          <a:latin typeface="Times New Roman" panose="02020603050405020304" pitchFamily="18" charset="0"/>
                        </a:rPr>
                        <a:t>F (0)</a:t>
                      </a:r>
                      <a:endParaRPr lang="zh-CN" altLang="en-US" sz="1800" b="1" dirty="0">
                        <a:solidFill>
                          <a:schemeClr val="tx1"/>
                        </a:solidFill>
                      </a:endParaRPr>
                    </a:p>
                  </a:txBody>
                  <a:tcPr marL="91444" marR="91444" marT="45694" marB="45694" anchor="ctr"/>
                </a:tc>
                <a:tc>
                  <a:txBody>
                    <a:bodyPr/>
                    <a:lstStyle/>
                    <a:p>
                      <a:pPr algn="ctr"/>
                      <a:r>
                        <a:rPr lang="en-US" altLang="zh-CN" sz="1800" b="1" dirty="0">
                          <a:solidFill>
                            <a:schemeClr val="tx1"/>
                          </a:solidFill>
                          <a:latin typeface="Times New Roman" panose="02020603050405020304" pitchFamily="18" charset="0"/>
                        </a:rPr>
                        <a:t>T (1)</a:t>
                      </a:r>
                      <a:endParaRPr lang="zh-CN" altLang="en-US" sz="1800" b="1" dirty="0">
                        <a:solidFill>
                          <a:schemeClr val="tx1"/>
                        </a:solidFill>
                      </a:endParaRPr>
                    </a:p>
                  </a:txBody>
                  <a:tcPr marL="91444" marR="91444" marT="45694" marB="45694" anchor="ctr"/>
                </a:tc>
                <a:extLst>
                  <a:ext uri="{0D108BD9-81ED-4DB2-BD59-A6C34878D82A}">
                    <a16:rowId xmlns:a16="http://schemas.microsoft.com/office/drawing/2014/main" val="10001"/>
                  </a:ext>
                </a:extLst>
              </a:tr>
              <a:tr h="447602">
                <a:tc>
                  <a:txBody>
                    <a:bodyPr/>
                    <a:lstStyle/>
                    <a:p>
                      <a:pPr algn="ctr"/>
                      <a:r>
                        <a:rPr lang="en-US" altLang="zh-CN" sz="1800" b="1" dirty="0">
                          <a:solidFill>
                            <a:schemeClr val="tx1"/>
                          </a:solidFill>
                          <a:latin typeface="Times New Roman" panose="02020603050405020304" pitchFamily="18" charset="0"/>
                        </a:rPr>
                        <a:t>T (1)</a:t>
                      </a:r>
                      <a:endParaRPr lang="zh-CN" altLang="en-US" sz="1800" b="1" dirty="0">
                        <a:solidFill>
                          <a:schemeClr val="tx1"/>
                        </a:solidFill>
                      </a:endParaRPr>
                    </a:p>
                  </a:txBody>
                  <a:tcPr marL="91444" marR="91444" marT="45694" marB="45694" anchor="ctr"/>
                </a:tc>
                <a:tc>
                  <a:txBody>
                    <a:bodyPr/>
                    <a:lstStyle/>
                    <a:p>
                      <a:pPr algn="ctr"/>
                      <a:r>
                        <a:rPr lang="en-US" altLang="zh-CN" sz="1800" b="1" dirty="0">
                          <a:solidFill>
                            <a:schemeClr val="tx1"/>
                          </a:solidFill>
                          <a:latin typeface="Times New Roman" panose="02020603050405020304" pitchFamily="18" charset="0"/>
                        </a:rPr>
                        <a:t>F (0)</a:t>
                      </a:r>
                      <a:endParaRPr lang="zh-CN" altLang="en-US" sz="1800" b="1" dirty="0">
                        <a:solidFill>
                          <a:schemeClr val="tx1"/>
                        </a:solidFill>
                      </a:endParaRPr>
                    </a:p>
                  </a:txBody>
                  <a:tcPr marL="91444" marR="91444" marT="45694" marB="45694" anchor="ct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20</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7653" name="Rectangle 2"/>
          <p:cNvSpPr>
            <a:spLocks noGrp="1"/>
          </p:cNvSpPr>
          <p:nvPr>
            <p:ph type="title"/>
          </p:nvPr>
        </p:nvSpPr>
        <p:spPr/>
        <p:txBody>
          <a:bodyPr vert="horz" wrap="square" lIns="91440" tIns="45720" rIns="91440" bIns="45720" anchor="b" anchorCtr="0"/>
          <a:lstStyle/>
          <a:p>
            <a:pPr eaLnBrk="1" hangingPunct="1"/>
            <a:r>
              <a:rPr lang="en-US" altLang="zh-CN" dirty="0"/>
              <a:t>Example </a:t>
            </a:r>
          </a:p>
        </p:txBody>
      </p:sp>
      <p:sp>
        <p:nvSpPr>
          <p:cNvPr id="27654"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Give the negation of the following statement:</a:t>
            </a:r>
          </a:p>
          <a:p>
            <a:pPr lvl="1" eaLnBrk="1" hangingPunct="1"/>
            <a:r>
              <a:rPr lang="en-US" altLang="zh-CN" dirty="0">
                <a:latin typeface="Times New Roman" panose="02020603050405020304" pitchFamily="18" charset="0"/>
              </a:rPr>
              <a:t>(a) </a:t>
            </a:r>
            <a:r>
              <a:rPr lang="en-US" altLang="zh-CN" i="1" dirty="0">
                <a:latin typeface="Times New Roman" panose="02020603050405020304" pitchFamily="18" charset="0"/>
              </a:rPr>
              <a:t> p</a:t>
            </a:r>
            <a:r>
              <a:rPr lang="en-US" altLang="zh-CN" dirty="0">
                <a:latin typeface="Times New Roman" panose="02020603050405020304" pitchFamily="18" charset="0"/>
              </a:rPr>
              <a:t>: 2+3&gt;1</a:t>
            </a:r>
          </a:p>
          <a:p>
            <a:pPr lvl="1" eaLnBrk="1" hangingPunct="1"/>
            <a:r>
              <a:rPr lang="en-US" altLang="zh-CN" dirty="0">
                <a:latin typeface="Times New Roman" panose="02020603050405020304" pitchFamily="18" charset="0"/>
              </a:rPr>
              <a:t>(b) </a:t>
            </a:r>
            <a:r>
              <a:rPr lang="en-US" altLang="zh-CN" i="1" dirty="0">
                <a:latin typeface="Times New Roman" panose="02020603050405020304" pitchFamily="18" charset="0"/>
              </a:rPr>
              <a:t>q</a:t>
            </a:r>
            <a:r>
              <a:rPr lang="en-US" altLang="zh-CN" dirty="0">
                <a:latin typeface="Times New Roman" panose="02020603050405020304" pitchFamily="18" charset="0"/>
              </a:rPr>
              <a:t>: It is cold.</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21</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8675"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8676"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8677" name="Rectangle 2"/>
          <p:cNvSpPr>
            <a:spLocks noGrp="1"/>
          </p:cNvSpPr>
          <p:nvPr>
            <p:ph type="title"/>
          </p:nvPr>
        </p:nvSpPr>
        <p:spPr>
          <a:xfrm>
            <a:off x="898843" y="-27622"/>
            <a:ext cx="8043862" cy="1143000"/>
          </a:xfrm>
        </p:spPr>
        <p:txBody>
          <a:bodyPr vert="horz" wrap="square" lIns="91440" tIns="45720" rIns="91440" bIns="45720" anchor="b" anchorCtr="0"/>
          <a:lstStyle/>
          <a:p>
            <a:pPr eaLnBrk="1" hangingPunct="1"/>
            <a:r>
              <a:rPr lang="en-US" altLang="zh-CN" b="1" dirty="0"/>
              <a:t>Conjunction </a:t>
            </a:r>
            <a:r>
              <a:rPr lang="en-US" altLang="zh-CN" dirty="0"/>
              <a:t>‘and’ :</a:t>
            </a:r>
            <a:r>
              <a:rPr lang="en-US" altLang="zh-CN" dirty="0">
                <a:latin typeface="Times New Roman" panose="02020603050405020304" pitchFamily="18" charset="0"/>
              </a:rPr>
              <a:t> </a:t>
            </a:r>
            <a:r>
              <a:rPr lang="en-US" altLang="zh-CN" dirty="0">
                <a:latin typeface="Symbol" panose="05050102010706020507" pitchFamily="18" charset="2"/>
              </a:rPr>
              <a:t>Ù(</a:t>
            </a:r>
            <a:r>
              <a:rPr lang="zh-CN" altLang="en-US" dirty="0">
                <a:latin typeface="Symbol" panose="05050102010706020507" pitchFamily="18" charset="2"/>
              </a:rPr>
              <a:t>合取）</a:t>
            </a:r>
            <a:endParaRPr lang="zh-CN" altLang="en-US" dirty="0">
              <a:latin typeface="Times New Roman" panose="02020603050405020304" pitchFamily="18" charset="0"/>
            </a:endParaRPr>
          </a:p>
        </p:txBody>
      </p:sp>
      <p:sp>
        <p:nvSpPr>
          <p:cNvPr id="28678" name="Rectangle 3"/>
          <p:cNvSpPr>
            <a:spLocks noGrp="1"/>
          </p:cNvSpPr>
          <p:nvPr>
            <p:ph idx="1"/>
          </p:nvPr>
        </p:nvSpPr>
        <p:spPr>
          <a:xfrm>
            <a:off x="827405" y="1268730"/>
            <a:ext cx="8390890" cy="4114800"/>
          </a:xfrm>
        </p:spPr>
        <p:txBody>
          <a:bodyPr vert="horz" wrap="square" lIns="91440" tIns="45720" rIns="91440" bIns="45720" anchor="t" anchorCtr="0"/>
          <a:lstStyle/>
          <a:p>
            <a:pPr eaLnBrk="1" hangingPunct="1"/>
            <a:r>
              <a:rPr lang="en-US" altLang="zh-CN" dirty="0">
                <a:latin typeface="Times New Roman" panose="02020603050405020304" pitchFamily="18" charset="0"/>
              </a:rPr>
              <a:t>Definition: If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are statements,the </a:t>
            </a:r>
            <a:r>
              <a:rPr lang="en-US" altLang="zh-CN" i="1" dirty="0">
                <a:solidFill>
                  <a:srgbClr val="FF3300"/>
                </a:solidFill>
                <a:latin typeface="Times New Roman" panose="02020603050405020304" pitchFamily="18" charset="0"/>
              </a:rPr>
              <a:t>conjunction</a:t>
            </a:r>
            <a:r>
              <a:rPr lang="en-US" altLang="zh-CN" dirty="0">
                <a:latin typeface="Times New Roman" panose="02020603050405020304" pitchFamily="18" charset="0"/>
              </a:rPr>
              <a:t> of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is the compound statement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”,denoted by</a:t>
            </a:r>
            <a:r>
              <a:rPr lang="en-US" altLang="zh-CN" i="1" dirty="0">
                <a:latin typeface="Times New Roman" panose="02020603050405020304" pitchFamily="18" charset="0"/>
              </a:rPr>
              <a:t> 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p>
          <a:p>
            <a:pPr lvl="1" eaLnBrk="1" hangingPunct="1"/>
            <a:r>
              <a:rPr lang="en-US" altLang="zh-CN" dirty="0">
                <a:latin typeface="Times New Roman" panose="02020603050405020304" pitchFamily="18" charset="0"/>
              </a:rPr>
              <a:t>The connective </a:t>
            </a:r>
            <a:r>
              <a:rPr lang="en-US" altLang="zh-CN" i="1" dirty="0">
                <a:latin typeface="Times New Roman" panose="02020603050405020304" pitchFamily="18" charset="0"/>
              </a:rPr>
              <a:t>and</a:t>
            </a:r>
            <a:r>
              <a:rPr lang="en-US" altLang="zh-CN" dirty="0">
                <a:latin typeface="Times New Roman" panose="02020603050405020304" pitchFamily="18" charset="0"/>
              </a:rPr>
              <a:t> is denoted by the symbol </a:t>
            </a:r>
            <a:r>
              <a:rPr lang="en-US" altLang="zh-CN" dirty="0">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Example:</a:t>
            </a:r>
          </a:p>
          <a:p>
            <a:pPr lvl="1" eaLnBrk="1" hangingPunct="1"/>
            <a:r>
              <a:rPr lang="en-US" altLang="zh-CN" i="1" dirty="0">
                <a:latin typeface="Times New Roman" panose="02020603050405020304" pitchFamily="18" charset="0"/>
              </a:rPr>
              <a:t>p</a:t>
            </a:r>
            <a:r>
              <a:rPr lang="en-US" altLang="zh-CN" dirty="0">
                <a:latin typeface="Times New Roman" panose="02020603050405020304" pitchFamily="18" charset="0"/>
              </a:rPr>
              <a:t>: ‘I am going to town’</a:t>
            </a:r>
          </a:p>
          <a:p>
            <a:pPr lvl="1" eaLnBrk="1" hangingPunct="1"/>
            <a:r>
              <a:rPr lang="en-US" altLang="zh-CN" i="1" dirty="0">
                <a:latin typeface="Times New Roman" panose="02020603050405020304" pitchFamily="18" charset="0"/>
              </a:rPr>
              <a:t>q</a:t>
            </a:r>
            <a:r>
              <a:rPr lang="en-US" altLang="zh-CN" dirty="0">
                <a:latin typeface="Times New Roman" panose="02020603050405020304" pitchFamily="18" charset="0"/>
              </a:rPr>
              <a:t>: - ‘It is going to rain’</a:t>
            </a:r>
          </a:p>
          <a:p>
            <a:pPr lvl="1" eaLnBrk="1" hangingPunct="1"/>
            <a:r>
              <a:rPr lang="en-US" altLang="zh-CN" i="1" dirty="0">
                <a:latin typeface="Times New Roman" panose="02020603050405020304" pitchFamily="18" charset="0"/>
                <a:sym typeface="+mn-ea"/>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mn-ea"/>
              </a:rPr>
              <a:t>q</a:t>
            </a:r>
            <a:r>
              <a:rPr lang="en-US" altLang="zh-CN" dirty="0">
                <a:latin typeface="Times New Roman" panose="02020603050405020304" pitchFamily="18" charset="0"/>
                <a:sym typeface="+mn-ea"/>
              </a:rPr>
              <a:t>: ‘I am going to town and it is going to rain.</a:t>
            </a:r>
            <a:endParaRPr lang="en-US" altLang="zh-CN" dirty="0">
              <a:latin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22</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969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970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29701" name="Rectangle 2"/>
          <p:cNvSpPr>
            <a:spLocks noGrp="1"/>
          </p:cNvSpPr>
          <p:nvPr>
            <p:ph type="title"/>
          </p:nvPr>
        </p:nvSpPr>
        <p:spPr/>
        <p:txBody>
          <a:bodyPr vert="horz" wrap="square" lIns="91440" tIns="45720" rIns="91440" bIns="45720" anchor="b" anchorCtr="0"/>
          <a:lstStyle/>
          <a:p>
            <a:pPr eaLnBrk="1" hangingPunct="1"/>
            <a:r>
              <a:rPr lang="en-US" altLang="zh-CN" b="1" dirty="0"/>
              <a:t>Conjunction </a:t>
            </a:r>
            <a:r>
              <a:rPr lang="en-US" altLang="zh-CN" dirty="0"/>
              <a:t>‘and’ :</a:t>
            </a:r>
            <a:r>
              <a:rPr lang="en-US" altLang="zh-CN" dirty="0">
                <a:latin typeface="Times New Roman" panose="02020603050405020304" pitchFamily="18" charset="0"/>
              </a:rPr>
              <a:t> </a:t>
            </a:r>
            <a:r>
              <a:rPr lang="en-US" altLang="zh-CN" dirty="0">
                <a:latin typeface="Symbol" panose="05050102010706020507" pitchFamily="18" charset="2"/>
              </a:rPr>
              <a:t>Ù</a:t>
            </a:r>
            <a:endParaRPr lang="en-US" altLang="zh-CN" dirty="0">
              <a:latin typeface="Times New Roman" panose="02020603050405020304" pitchFamily="18" charset="0"/>
            </a:endParaRPr>
          </a:p>
        </p:txBody>
      </p:sp>
      <p:sp>
        <p:nvSpPr>
          <p:cNvPr id="29702" name="Rectangle 3"/>
          <p:cNvSpPr>
            <a:spLocks noGrp="1"/>
          </p:cNvSpPr>
          <p:nvPr>
            <p:ph idx="1"/>
          </p:nvPr>
        </p:nvSpPr>
        <p:spPr>
          <a:xfrm>
            <a:off x="683260" y="1268413"/>
            <a:ext cx="8415338" cy="4114800"/>
          </a:xfrm>
        </p:spPr>
        <p:txBody>
          <a:bodyPr vert="horz" wrap="square" lIns="91440" tIns="45720" rIns="91440" bIns="45720" anchor="t" anchorCtr="0"/>
          <a:lstStyle/>
          <a:p>
            <a:pPr eaLnBrk="1" hangingPunct="1">
              <a:lnSpc>
                <a:spcPct val="90000"/>
              </a:lnSpc>
            </a:pPr>
            <a:r>
              <a:rPr lang="en-US" altLang="zh-CN" i="1" dirty="0">
                <a:latin typeface="Times New Roman" panose="02020603050405020304" pitchFamily="18" charset="0"/>
                <a:sym typeface="+mn-ea"/>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mn-ea"/>
              </a:rPr>
              <a:t>q</a:t>
            </a:r>
            <a:r>
              <a:rPr lang="en-US" altLang="zh-CN" dirty="0">
                <a:latin typeface="Times New Roman" panose="02020603050405020304" pitchFamily="18" charset="0"/>
              </a:rPr>
              <a:t>: ‘I am going to town and it is going to rain.’</a:t>
            </a:r>
          </a:p>
          <a:p>
            <a:pPr eaLnBrk="1" hangingPunct="1">
              <a:lnSpc>
                <a:spcPct val="90000"/>
              </a:lnSpc>
            </a:pPr>
            <a:r>
              <a:rPr lang="en-US" altLang="zh-CN" dirty="0">
                <a:latin typeface="Times New Roman" panose="02020603050405020304" pitchFamily="18" charset="0"/>
              </a:rPr>
              <a:t>Truth Table:</a:t>
            </a:r>
          </a:p>
          <a:p>
            <a:pPr lvl="1" eaLnBrk="1" hangingPunct="1">
              <a:lnSpc>
                <a:spcPct val="90000"/>
              </a:lnSpc>
              <a:buNone/>
            </a:pPr>
            <a:r>
              <a:rPr lang="en-US" altLang="zh-CN" sz="2400" dirty="0">
                <a:latin typeface="Times New Roman" panose="02020603050405020304" pitchFamily="18" charset="0"/>
              </a:rPr>
              <a:t>	</a:t>
            </a:r>
          </a:p>
          <a:p>
            <a:pPr lvl="1" eaLnBrk="1" hangingPunct="1">
              <a:lnSpc>
                <a:spcPct val="90000"/>
              </a:lnSpc>
              <a:buNone/>
            </a:pPr>
            <a:endParaRPr lang="en-US" altLang="zh-CN" sz="2400" dirty="0">
              <a:latin typeface="Times New Roman" panose="02020603050405020304" pitchFamily="18" charset="0"/>
            </a:endParaRPr>
          </a:p>
          <a:p>
            <a:pPr lvl="1" eaLnBrk="1" hangingPunct="1">
              <a:lnSpc>
                <a:spcPct val="90000"/>
              </a:lnSpc>
              <a:buNone/>
            </a:pPr>
            <a:endParaRPr lang="en-US" altLang="zh-CN" sz="2400" dirty="0">
              <a:latin typeface="Times New Roman" panose="02020603050405020304" pitchFamily="18" charset="0"/>
            </a:endParaRPr>
          </a:p>
          <a:p>
            <a:pPr lvl="1" eaLnBrk="1" hangingPunct="1">
              <a:lnSpc>
                <a:spcPct val="90000"/>
              </a:lnSpc>
              <a:buNone/>
            </a:pPr>
            <a:endParaRPr lang="en-US" altLang="zh-CN" sz="2400" dirty="0">
              <a:latin typeface="Times New Roman" panose="02020603050405020304" pitchFamily="18" charset="0"/>
            </a:endParaRPr>
          </a:p>
          <a:p>
            <a:pPr lvl="1" eaLnBrk="1" hangingPunct="1">
              <a:lnSpc>
                <a:spcPct val="90000"/>
              </a:lnSpc>
              <a:buNone/>
            </a:pPr>
            <a:endParaRPr lang="en-US" altLang="zh-CN" sz="2400" dirty="0">
              <a:latin typeface="Times New Roman" panose="02020603050405020304" pitchFamily="18" charset="0"/>
            </a:endParaRPr>
          </a:p>
          <a:p>
            <a:pPr lvl="1" eaLnBrk="1" hangingPunct="1">
              <a:lnSpc>
                <a:spcPct val="90000"/>
              </a:lnSpc>
              <a:buNone/>
            </a:pPr>
            <a:r>
              <a:rPr lang="en-US" altLang="zh-CN" dirty="0">
                <a:solidFill>
                  <a:srgbClr val="FF0000"/>
                </a:solidFill>
                <a:latin typeface="Times New Roman" panose="02020603050405020304" pitchFamily="18" charset="0"/>
              </a:rPr>
              <a:t>Note</a:t>
            </a:r>
            <a:r>
              <a:rPr lang="en-US" altLang="zh-CN" dirty="0">
                <a:latin typeface="Times New Roman" panose="02020603050405020304" pitchFamily="18" charset="0"/>
              </a:rPr>
              <a:t>: Both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must be true!!!!!</a:t>
            </a:r>
          </a:p>
        </p:txBody>
      </p:sp>
      <p:graphicFrame>
        <p:nvGraphicFramePr>
          <p:cNvPr id="2" name="表格 1"/>
          <p:cNvGraphicFramePr>
            <a:graphicFrameLocks noGrp="1"/>
          </p:cNvGraphicFramePr>
          <p:nvPr>
            <p:custDataLst>
              <p:tags r:id="rId1"/>
            </p:custDataLst>
          </p:nvPr>
        </p:nvGraphicFramePr>
        <p:xfrm>
          <a:off x="3636010" y="2204720"/>
          <a:ext cx="2819400" cy="2072005"/>
        </p:xfrm>
        <a:graphic>
          <a:graphicData uri="http://schemas.openxmlformats.org/drawingml/2006/table">
            <a:tbl>
              <a:tblPr firstRow="1" bandRow="1">
                <a:tableStyleId>{5C22544A-7EE6-4342-B048-85BDC9FD1C3A}</a:tableStyleId>
              </a:tblPr>
              <a:tblGrid>
                <a:gridCol w="871855">
                  <a:extLst>
                    <a:ext uri="{9D8B030D-6E8A-4147-A177-3AD203B41FA5}">
                      <a16:colId xmlns:a16="http://schemas.microsoft.com/office/drawing/2014/main" val="20000"/>
                    </a:ext>
                  </a:extLst>
                </a:gridCol>
                <a:gridCol w="973455">
                  <a:extLst>
                    <a:ext uri="{9D8B030D-6E8A-4147-A177-3AD203B41FA5}">
                      <a16:colId xmlns:a16="http://schemas.microsoft.com/office/drawing/2014/main" val="20001"/>
                    </a:ext>
                  </a:extLst>
                </a:gridCol>
                <a:gridCol w="974090">
                  <a:extLst>
                    <a:ext uri="{9D8B030D-6E8A-4147-A177-3AD203B41FA5}">
                      <a16:colId xmlns:a16="http://schemas.microsoft.com/office/drawing/2014/main" val="20002"/>
                    </a:ext>
                  </a:extLst>
                </a:gridCol>
              </a:tblGrid>
              <a:tr h="464185">
                <a:tc>
                  <a:txBody>
                    <a:bodyPr/>
                    <a:lstStyle/>
                    <a:p>
                      <a:pPr algn="ct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a:solidFill>
                            <a:schemeClr val="tx1"/>
                          </a:solidFill>
                          <a:latin typeface="Times New Roman" panose="02020603050405020304" pitchFamily="18" charset="0"/>
                        </a:rPr>
                        <a:t>q</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err="1">
                          <a:solidFill>
                            <a:schemeClr val="tx1"/>
                          </a:solidFill>
                          <a:latin typeface="Times New Roman" panose="02020603050405020304" pitchFamily="18" charset="0"/>
                        </a:rPr>
                        <a:t>p</a:t>
                      </a:r>
                      <a:r>
                        <a:rPr lang="en-US" altLang="zh-CN" sz="2400" dirty="0" err="1">
                          <a:solidFill>
                            <a:schemeClr val="tx1"/>
                          </a:solidFill>
                          <a:latin typeface="Symbol" panose="05050102010706020507" pitchFamily="18" charset="2"/>
                        </a:rPr>
                        <a:t>Ù</a:t>
                      </a:r>
                      <a:r>
                        <a:rPr lang="en-US" altLang="zh-CN" sz="2400" i="1" dirty="0" err="1">
                          <a:solidFill>
                            <a:schemeClr val="tx1"/>
                          </a:solidFill>
                          <a:latin typeface="Times New Roman" panose="02020603050405020304" pitchFamily="18" charset="0"/>
                        </a:rPr>
                        <a:t>q</a:t>
                      </a:r>
                      <a:endParaRPr lang="en-US" altLang="zh-CN" sz="2400" b="1" i="1" dirty="0" err="1">
                        <a:solidFill>
                          <a:schemeClr val="tx1"/>
                        </a:solidFill>
                        <a:latin typeface="Times New Roman" panose="02020603050405020304" pitchFamily="18" charset="0"/>
                      </a:endParaRPr>
                    </a:p>
                  </a:txBody>
                  <a:tcPr marL="91443" marR="91443" marT="45726" marB="45726" anchor="ctr"/>
                </a:tc>
                <a:extLst>
                  <a:ext uri="{0D108BD9-81ED-4DB2-BD59-A6C34878D82A}">
                    <a16:rowId xmlns:a16="http://schemas.microsoft.com/office/drawing/2014/main" val="10000"/>
                  </a:ext>
                </a:extLst>
              </a:tr>
              <a:tr h="401955">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1"/>
                  </a:ext>
                </a:extLst>
              </a:tr>
              <a:tr h="401955">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2"/>
                  </a:ext>
                </a:extLst>
              </a:tr>
              <a:tr h="401955">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3"/>
                  </a:ext>
                </a:extLst>
              </a:tr>
              <a:tr h="401955">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23</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072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072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0725" name="Rectangle 2"/>
          <p:cNvSpPr>
            <a:spLocks noGrp="1"/>
          </p:cNvSpPr>
          <p:nvPr>
            <p:ph type="title"/>
          </p:nvPr>
        </p:nvSpPr>
        <p:spPr>
          <a:xfrm>
            <a:off x="916940" y="404495"/>
            <a:ext cx="7649845" cy="765810"/>
          </a:xfrm>
        </p:spPr>
        <p:txBody>
          <a:bodyPr vert="horz" wrap="square" lIns="91440" tIns="45720" rIns="91440" bIns="45720" anchor="b" anchorCtr="0"/>
          <a:lstStyle/>
          <a:p>
            <a:pPr eaLnBrk="1" hangingPunct="1"/>
            <a:r>
              <a:rPr lang="en-US" altLang="zh-CN" sz="4000" b="1" dirty="0"/>
              <a:t>Disjunction</a:t>
            </a:r>
            <a:r>
              <a:rPr lang="en-US" altLang="zh-CN" sz="4000" dirty="0"/>
              <a:t> </a:t>
            </a:r>
            <a:r>
              <a:rPr lang="en-US" altLang="zh-CN" sz="4000" dirty="0">
                <a:latin typeface="Symbol" panose="05050102010706020507" pitchFamily="18" charset="2"/>
              </a:rPr>
              <a:t>(</a:t>
            </a:r>
            <a:r>
              <a:rPr lang="zh-CN" altLang="en-US" sz="4000" dirty="0">
                <a:latin typeface="Symbol" panose="05050102010706020507" pitchFamily="18" charset="2"/>
              </a:rPr>
              <a:t>析取）</a:t>
            </a:r>
            <a:r>
              <a:rPr lang="en-US" altLang="zh-CN" sz="4000" dirty="0"/>
              <a:t> </a:t>
            </a:r>
            <a:br>
              <a:rPr lang="en-US" altLang="zh-CN" sz="4000" dirty="0"/>
            </a:br>
            <a:r>
              <a:rPr lang="en-US" altLang="zh-CN" sz="4000" i="1" dirty="0"/>
              <a:t>inclusive </a:t>
            </a:r>
            <a:r>
              <a:rPr lang="en-US" altLang="zh-CN" sz="4000" dirty="0"/>
              <a:t>‘or’(</a:t>
            </a:r>
            <a:r>
              <a:rPr lang="zh-CN" altLang="en-US" sz="4000" dirty="0"/>
              <a:t>可兼或）</a:t>
            </a:r>
            <a:r>
              <a:rPr lang="zh-CN" altLang="en-US" sz="4000" dirty="0">
                <a:latin typeface="Times New Roman" panose="02020603050405020304" pitchFamily="18" charset="0"/>
              </a:rPr>
              <a:t>: </a:t>
            </a:r>
            <a:r>
              <a:rPr lang="en-US" altLang="zh-CN" sz="4000" dirty="0">
                <a:latin typeface="Symbol" panose="05050102010706020507" pitchFamily="18" charset="2"/>
              </a:rPr>
              <a:t>Ú</a:t>
            </a:r>
          </a:p>
        </p:txBody>
      </p:sp>
      <p:sp>
        <p:nvSpPr>
          <p:cNvPr id="30726"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Definition: If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are statements,the </a:t>
            </a:r>
            <a:r>
              <a:rPr lang="en-US" altLang="zh-CN" i="1" dirty="0">
                <a:solidFill>
                  <a:srgbClr val="FF3300"/>
                </a:solidFill>
                <a:latin typeface="Times New Roman" panose="02020603050405020304" pitchFamily="18" charset="0"/>
              </a:rPr>
              <a:t>disjunction</a:t>
            </a:r>
            <a:r>
              <a:rPr lang="en-US" altLang="zh-CN" dirty="0">
                <a:latin typeface="Times New Roman" panose="02020603050405020304" pitchFamily="18" charset="0"/>
              </a:rPr>
              <a:t> of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is the compound statement “</a:t>
            </a:r>
            <a:r>
              <a:rPr lang="en-US" altLang="zh-CN" i="1" dirty="0">
                <a:latin typeface="Times New Roman" panose="02020603050405020304" pitchFamily="18" charset="0"/>
              </a:rPr>
              <a:t>p</a:t>
            </a:r>
            <a:r>
              <a:rPr lang="en-US" altLang="zh-CN" dirty="0">
                <a:latin typeface="Times New Roman" panose="02020603050405020304" pitchFamily="18" charset="0"/>
              </a:rPr>
              <a:t> or </a:t>
            </a:r>
            <a:r>
              <a:rPr lang="en-US" altLang="zh-CN" i="1" dirty="0">
                <a:latin typeface="Times New Roman" panose="02020603050405020304" pitchFamily="18" charset="0"/>
              </a:rPr>
              <a:t>q</a:t>
            </a:r>
            <a:r>
              <a:rPr lang="en-US" altLang="zh-CN" dirty="0">
                <a:latin typeface="Times New Roman" panose="02020603050405020304" pitchFamily="18" charset="0"/>
              </a:rPr>
              <a:t>”,denoted by</a:t>
            </a:r>
            <a:r>
              <a:rPr lang="en-US" altLang="zh-CN" i="1" dirty="0">
                <a:latin typeface="Times New Roman" panose="02020603050405020304" pitchFamily="18" charset="0"/>
              </a:rPr>
              <a:t> p </a:t>
            </a:r>
            <a:r>
              <a:rPr lang="en-US" altLang="zh-CN" dirty="0">
                <a:latin typeface="Symbol" panose="05050102010706020507" pitchFamily="18" charset="2"/>
              </a:rPr>
              <a:t>Ú</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q</a:t>
            </a:r>
            <a:r>
              <a:rPr lang="en-US" altLang="zh-CN" dirty="0">
                <a:latin typeface="Times New Roman" panose="02020603050405020304" pitchFamily="18" charset="0"/>
              </a:rPr>
              <a:t>.</a:t>
            </a:r>
          </a:p>
          <a:p>
            <a:pPr lvl="1" eaLnBrk="1" hangingPunct="1"/>
            <a:r>
              <a:rPr lang="en-US" altLang="zh-CN" dirty="0">
                <a:latin typeface="Times New Roman" panose="02020603050405020304" pitchFamily="18" charset="0"/>
              </a:rPr>
              <a:t>The connective </a:t>
            </a:r>
            <a:r>
              <a:rPr lang="en-US" altLang="zh-CN" i="1" dirty="0">
                <a:solidFill>
                  <a:srgbClr val="FF3300"/>
                </a:solidFill>
                <a:latin typeface="Times New Roman" panose="02020603050405020304" pitchFamily="18" charset="0"/>
              </a:rPr>
              <a:t>or</a:t>
            </a:r>
            <a:r>
              <a:rPr lang="en-US" altLang="zh-CN" dirty="0">
                <a:latin typeface="Times New Roman" panose="02020603050405020304" pitchFamily="18" charset="0"/>
              </a:rPr>
              <a:t> is denoted by the symbol </a:t>
            </a:r>
            <a:r>
              <a:rPr lang="en-US" altLang="zh-CN" dirty="0">
                <a:latin typeface="Symbol" panose="05050102010706020507" pitchFamily="18" charset="2"/>
              </a:rPr>
              <a:t>Ú</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Example:</a:t>
            </a:r>
          </a:p>
          <a:p>
            <a:pPr eaLnBrk="1" hangingPunct="1">
              <a:buNone/>
            </a:pPr>
            <a:r>
              <a:rPr lang="en-US" altLang="zh-CN" i="1" dirty="0">
                <a:latin typeface="Times New Roman" panose="02020603050405020304" pitchFamily="18" charset="0"/>
              </a:rPr>
              <a:t>p</a:t>
            </a:r>
            <a:r>
              <a:rPr lang="en-US" altLang="zh-CN" dirty="0">
                <a:latin typeface="Times New Roman" panose="02020603050405020304" pitchFamily="18" charset="0"/>
              </a:rPr>
              <a:t>: ‘I am going to town’</a:t>
            </a:r>
          </a:p>
          <a:p>
            <a:pPr eaLnBrk="1" hangingPunct="1">
              <a:buNone/>
            </a:pPr>
            <a:r>
              <a:rPr lang="en-US" altLang="zh-CN" i="1" dirty="0">
                <a:latin typeface="Times New Roman" panose="02020603050405020304" pitchFamily="18" charset="0"/>
              </a:rPr>
              <a:t>q</a:t>
            </a:r>
            <a:r>
              <a:rPr lang="en-US" altLang="zh-CN" dirty="0">
                <a:latin typeface="Times New Roman" panose="02020603050405020304" pitchFamily="18" charset="0"/>
              </a:rPr>
              <a:t>: ‘It is going to rain’</a:t>
            </a:r>
          </a:p>
          <a:p>
            <a:pPr eaLnBrk="1" hangingPunct="1">
              <a:buNone/>
            </a:pPr>
            <a:r>
              <a:rPr lang="en-US" altLang="zh-CN" i="1" dirty="0">
                <a:latin typeface="Times New Roman" panose="02020603050405020304" pitchFamily="18" charset="0"/>
                <a:sym typeface="+mn-ea"/>
              </a:rPr>
              <a:t> p </a:t>
            </a:r>
            <a:r>
              <a:rPr lang="en-US" altLang="zh-CN" dirty="0">
                <a:latin typeface="Symbol" panose="05050102010706020507" pitchFamily="18" charset="2"/>
                <a:sym typeface="+mn-ea"/>
              </a:rPr>
              <a:t>Ú</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mn-ea"/>
              </a:rPr>
              <a:t>q</a:t>
            </a:r>
            <a:r>
              <a:rPr lang="en-US" altLang="zh-CN" dirty="0">
                <a:latin typeface="Times New Roman" panose="02020603050405020304" pitchFamily="18" charset="0"/>
              </a:rPr>
              <a:t>: ‘I am going to town or it is going to rain.’</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174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174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1749" name="Rectangle 2"/>
          <p:cNvSpPr>
            <a:spLocks noGrp="1"/>
          </p:cNvSpPr>
          <p:nvPr>
            <p:ph type="title"/>
          </p:nvPr>
        </p:nvSpPr>
        <p:spPr>
          <a:xfrm>
            <a:off x="916940" y="332740"/>
            <a:ext cx="8246745" cy="765810"/>
          </a:xfrm>
        </p:spPr>
        <p:txBody>
          <a:bodyPr vert="horz" wrap="square" lIns="91440" tIns="45720" rIns="91440" bIns="45720" anchor="b" anchorCtr="0"/>
          <a:lstStyle/>
          <a:p>
            <a:pPr eaLnBrk="1" hangingPunct="1"/>
            <a:r>
              <a:rPr lang="en-US" altLang="zh-CN" sz="4000" b="1" dirty="0"/>
              <a:t>Disjunction </a:t>
            </a:r>
            <a:r>
              <a:rPr lang="en-US" altLang="zh-CN" sz="4000" i="1" dirty="0"/>
              <a:t>inclusive </a:t>
            </a:r>
            <a:r>
              <a:rPr lang="en-US" altLang="zh-CN" sz="4000" dirty="0"/>
              <a:t>‘or’</a:t>
            </a:r>
            <a:r>
              <a:rPr lang="en-US" altLang="zh-CN" sz="4000" dirty="0">
                <a:latin typeface="Times New Roman" panose="02020603050405020304" pitchFamily="18" charset="0"/>
              </a:rPr>
              <a:t>: </a:t>
            </a:r>
            <a:r>
              <a:rPr lang="en-US" altLang="zh-CN" sz="4000" dirty="0">
                <a:latin typeface="Symbol" panose="05050102010706020507" pitchFamily="18" charset="2"/>
              </a:rPr>
              <a:t>Ú</a:t>
            </a:r>
          </a:p>
        </p:txBody>
      </p:sp>
      <p:sp>
        <p:nvSpPr>
          <p:cNvPr id="31750"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Truth Table:</a:t>
            </a:r>
          </a:p>
          <a:p>
            <a:pPr lvl="1" eaLnBrk="1" hangingPunct="1">
              <a:buNone/>
            </a:pPr>
            <a:r>
              <a:rPr lang="en-US" altLang="zh-CN" dirty="0">
                <a:latin typeface="Times New Roman" panose="02020603050405020304" pitchFamily="18" charset="0"/>
              </a:rPr>
              <a:t>	</a:t>
            </a:r>
          </a:p>
          <a:p>
            <a:pPr lvl="1" eaLnBrk="1" hangingPunct="1">
              <a:buNone/>
            </a:pPr>
            <a:endParaRPr lang="en-US" altLang="zh-CN" dirty="0">
              <a:latin typeface="Times New Roman" panose="02020603050405020304" pitchFamily="18" charset="0"/>
            </a:endParaRPr>
          </a:p>
          <a:p>
            <a:pPr lvl="1" eaLnBrk="1" hangingPunct="1">
              <a:buNone/>
            </a:pPr>
            <a:endParaRPr lang="en-US" altLang="zh-CN" dirty="0">
              <a:latin typeface="Times New Roman" panose="02020603050405020304" pitchFamily="18" charset="0"/>
            </a:endParaRPr>
          </a:p>
          <a:p>
            <a:pPr lvl="1" eaLnBrk="1" hangingPunct="1">
              <a:buNone/>
            </a:pPr>
            <a:endParaRPr lang="en-US" altLang="zh-CN" dirty="0">
              <a:latin typeface="Times New Roman" panose="02020603050405020304" pitchFamily="18" charset="0"/>
            </a:endParaRPr>
          </a:p>
          <a:p>
            <a:pPr lvl="1" eaLnBrk="1" hangingPunct="1">
              <a:buNone/>
            </a:pPr>
            <a:endParaRPr lang="en-US" altLang="zh-CN" dirty="0">
              <a:latin typeface="Times New Roman" panose="02020603050405020304" pitchFamily="18" charset="0"/>
            </a:endParaRPr>
          </a:p>
          <a:p>
            <a:pPr lvl="1" eaLnBrk="1" hangingPunct="1">
              <a:buNone/>
            </a:pPr>
            <a:r>
              <a:rPr lang="en-US" altLang="zh-CN" dirty="0">
                <a:latin typeface="Times New Roman" panose="02020603050405020304" pitchFamily="18" charset="0"/>
              </a:rPr>
              <a:t>Note: Only one of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i="1" dirty="0">
                <a:latin typeface="Times New Roman" panose="02020603050405020304" pitchFamily="18" charset="0"/>
              </a:rPr>
              <a:t>q</a:t>
            </a:r>
            <a:r>
              <a:rPr lang="en-US" altLang="zh-CN" dirty="0">
                <a:latin typeface="Times New Roman" panose="02020603050405020304" pitchFamily="18" charset="0"/>
              </a:rPr>
              <a:t> need be true. Hence, the </a:t>
            </a:r>
            <a:r>
              <a:rPr lang="en-US" altLang="zh-CN" i="1" dirty="0">
                <a:solidFill>
                  <a:schemeClr val="hlink"/>
                </a:solidFill>
                <a:latin typeface="Times New Roman" panose="02020603050405020304" pitchFamily="18" charset="0"/>
              </a:rPr>
              <a:t>inclusive</a:t>
            </a:r>
            <a:r>
              <a:rPr lang="en-US" altLang="zh-CN" i="1" dirty="0">
                <a:latin typeface="Times New Roman" panose="02020603050405020304" pitchFamily="18" charset="0"/>
              </a:rPr>
              <a:t> </a:t>
            </a:r>
            <a:r>
              <a:rPr lang="en-US" altLang="zh-CN" dirty="0">
                <a:latin typeface="Times New Roman" panose="02020603050405020304" pitchFamily="18" charset="0"/>
              </a:rPr>
              <a:t>nature.</a:t>
            </a:r>
          </a:p>
        </p:txBody>
      </p:sp>
      <p:graphicFrame>
        <p:nvGraphicFramePr>
          <p:cNvPr id="7" name="表格 6"/>
          <p:cNvGraphicFramePr>
            <a:graphicFrameLocks noGrp="1"/>
          </p:cNvGraphicFramePr>
          <p:nvPr>
            <p:custDataLst>
              <p:tags r:id="rId1"/>
            </p:custDataLst>
          </p:nvPr>
        </p:nvGraphicFramePr>
        <p:xfrm>
          <a:off x="4211955" y="1700530"/>
          <a:ext cx="2617470" cy="2412365"/>
        </p:xfrm>
        <a:graphic>
          <a:graphicData uri="http://schemas.openxmlformats.org/drawingml/2006/table">
            <a:tbl>
              <a:tblPr firstRow="1" bandRow="1">
                <a:tableStyleId>{5C22544A-7EE6-4342-B048-85BDC9FD1C3A}</a:tableStyleId>
              </a:tblPr>
              <a:tblGrid>
                <a:gridCol w="808990">
                  <a:extLst>
                    <a:ext uri="{9D8B030D-6E8A-4147-A177-3AD203B41FA5}">
                      <a16:colId xmlns:a16="http://schemas.microsoft.com/office/drawing/2014/main" val="20000"/>
                    </a:ext>
                  </a:extLst>
                </a:gridCol>
                <a:gridCol w="904240">
                  <a:extLst>
                    <a:ext uri="{9D8B030D-6E8A-4147-A177-3AD203B41FA5}">
                      <a16:colId xmlns:a16="http://schemas.microsoft.com/office/drawing/2014/main" val="20001"/>
                    </a:ext>
                  </a:extLst>
                </a:gridCol>
                <a:gridCol w="904240">
                  <a:extLst>
                    <a:ext uri="{9D8B030D-6E8A-4147-A177-3AD203B41FA5}">
                      <a16:colId xmlns:a16="http://schemas.microsoft.com/office/drawing/2014/main" val="20002"/>
                    </a:ext>
                  </a:extLst>
                </a:gridCol>
              </a:tblGrid>
              <a:tr h="476885">
                <a:tc>
                  <a:txBody>
                    <a:bodyPr/>
                    <a:lstStyle/>
                    <a:p>
                      <a:pPr algn="ct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a:solidFill>
                            <a:schemeClr val="tx1"/>
                          </a:solidFill>
                          <a:latin typeface="Times New Roman" panose="02020603050405020304" pitchFamily="18" charset="0"/>
                        </a:rPr>
                        <a:t>q</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err="1">
                          <a:solidFill>
                            <a:schemeClr val="tx1"/>
                          </a:solidFill>
                          <a:latin typeface="Times New Roman" panose="02020603050405020304" pitchFamily="18" charset="0"/>
                        </a:rPr>
                        <a:t>p</a:t>
                      </a:r>
                      <a:r>
                        <a:rPr lang="en-US" altLang="zh-CN" sz="2400" dirty="0" err="1">
                          <a:solidFill>
                            <a:schemeClr val="tx1"/>
                          </a:solidFill>
                          <a:latin typeface="Symbol" panose="05050102010706020507" pitchFamily="18" charset="2"/>
                        </a:rPr>
                        <a:t>Ú</a:t>
                      </a:r>
                      <a:r>
                        <a:rPr lang="en-US" altLang="zh-CN" sz="2400" i="1" dirty="0" err="1">
                          <a:solidFill>
                            <a:schemeClr val="tx1"/>
                          </a:solidFill>
                          <a:latin typeface="Times New Roman" panose="02020603050405020304" pitchFamily="18" charset="0"/>
                        </a:rPr>
                        <a:t>q</a:t>
                      </a:r>
                      <a:endParaRPr lang="en-US" altLang="zh-CN" sz="2400" b="1" i="1" dirty="0" err="1">
                        <a:solidFill>
                          <a:schemeClr val="tx1"/>
                        </a:solidFill>
                        <a:latin typeface="Times New Roman" panose="02020603050405020304" pitchFamily="18" charset="0"/>
                      </a:endParaRPr>
                    </a:p>
                  </a:txBody>
                  <a:tcPr marL="91443" marR="91443" marT="45726" marB="45726" anchor="ctr"/>
                </a:tc>
                <a:extLst>
                  <a:ext uri="{0D108BD9-81ED-4DB2-BD59-A6C34878D82A}">
                    <a16:rowId xmlns:a16="http://schemas.microsoft.com/office/drawing/2014/main" val="10000"/>
                  </a:ext>
                </a:extLst>
              </a:tr>
              <a:tr h="483870">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1"/>
                  </a:ext>
                </a:extLst>
              </a:tr>
              <a:tr h="483870">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2"/>
                  </a:ext>
                </a:extLst>
              </a:tr>
              <a:tr h="483870">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3"/>
                  </a:ext>
                </a:extLst>
              </a:tr>
              <a:tr h="483870">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25</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277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277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2773" name="Rectangle 2"/>
          <p:cNvSpPr>
            <a:spLocks noGrp="1"/>
          </p:cNvSpPr>
          <p:nvPr>
            <p:ph type="title"/>
          </p:nvPr>
        </p:nvSpPr>
        <p:spPr>
          <a:xfrm>
            <a:off x="827405" y="116523"/>
            <a:ext cx="8388350" cy="1143000"/>
          </a:xfrm>
        </p:spPr>
        <p:txBody>
          <a:bodyPr vert="horz" wrap="square" lIns="91440" tIns="45720" rIns="91440" bIns="45720" anchor="b" anchorCtr="0"/>
          <a:lstStyle/>
          <a:p>
            <a:pPr eaLnBrk="1" hangingPunct="1"/>
            <a:r>
              <a:rPr lang="en-US" altLang="zh-CN" sz="3600" b="1" dirty="0"/>
              <a:t>Disjunction</a:t>
            </a:r>
            <a:br>
              <a:rPr lang="en-US" altLang="zh-CN" sz="3600" dirty="0"/>
            </a:br>
            <a:r>
              <a:rPr lang="en-US" altLang="zh-CN" sz="3600" i="1" dirty="0"/>
              <a:t>Exclusive</a:t>
            </a:r>
            <a:r>
              <a:rPr lang="en-US" altLang="zh-CN" sz="3600" b="1" dirty="0"/>
              <a:t> </a:t>
            </a:r>
            <a:r>
              <a:rPr lang="en-US" altLang="zh-CN" sz="3600" dirty="0"/>
              <a:t>‘or’ (</a:t>
            </a:r>
            <a:r>
              <a:rPr lang="zh-CN" altLang="en-US" sz="3600" dirty="0"/>
              <a:t>不可兼或）</a:t>
            </a:r>
            <a:r>
              <a:rPr lang="en-US" altLang="zh-CN" sz="3600" dirty="0"/>
              <a:t> </a:t>
            </a:r>
            <a:r>
              <a:rPr lang="en-US" altLang="zh-CN" sz="3600" dirty="0">
                <a:latin typeface="Times New Roman" panose="02020603050405020304" pitchFamily="18" charset="0"/>
              </a:rPr>
              <a:t>: </a:t>
            </a:r>
            <a:r>
              <a:rPr lang="en-US" altLang="zh-CN" sz="3600" dirty="0">
                <a:latin typeface="Symbol" panose="05050102010706020507" pitchFamily="18" charset="2"/>
              </a:rPr>
              <a:t>Å</a:t>
            </a:r>
          </a:p>
        </p:txBody>
      </p:sp>
      <p:sp>
        <p:nvSpPr>
          <p:cNvPr id="32774" name="Rectangle 3"/>
          <p:cNvSpPr>
            <a:spLocks noGrp="1"/>
          </p:cNvSpPr>
          <p:nvPr>
            <p:ph idx="1"/>
          </p:nvPr>
        </p:nvSpPr>
        <p:spPr>
          <a:xfrm>
            <a:off x="755650" y="1268730"/>
            <a:ext cx="8239125" cy="4114800"/>
          </a:xfrm>
        </p:spPr>
        <p:txBody>
          <a:bodyPr vert="horz" wrap="square" lIns="91440" tIns="45720" rIns="91440" bIns="45720" anchor="t" anchorCtr="0"/>
          <a:lstStyle/>
          <a:p>
            <a:pPr eaLnBrk="1" hangingPunct="1"/>
            <a:r>
              <a:rPr lang="en-US" altLang="zh-CN" dirty="0">
                <a:latin typeface="Times New Roman" panose="02020603050405020304" pitchFamily="18" charset="0"/>
              </a:rPr>
              <a:t>Example:</a:t>
            </a:r>
          </a:p>
          <a:p>
            <a:pPr lvl="1" eaLnBrk="1" hangingPunct="1">
              <a:buNone/>
            </a:pPr>
            <a:r>
              <a:rPr lang="en-US" altLang="zh-CN" i="1" dirty="0">
                <a:latin typeface="Times New Roman" panose="02020603050405020304" pitchFamily="18" charset="0"/>
                <a:sym typeface="+mn-ea"/>
              </a:rPr>
              <a:t>p</a:t>
            </a:r>
            <a:r>
              <a:rPr lang="en-US" altLang="zh-CN" dirty="0">
                <a:latin typeface="Times New Roman" panose="02020603050405020304" pitchFamily="18" charset="0"/>
                <a:sym typeface="+mn-ea"/>
              </a:rPr>
              <a:t>: ‘I am going to town’</a:t>
            </a:r>
            <a:endParaRPr lang="en-US" altLang="zh-CN" dirty="0">
              <a:latin typeface="Times New Roman" panose="02020603050405020304" pitchFamily="18" charset="0"/>
            </a:endParaRPr>
          </a:p>
          <a:p>
            <a:pPr lvl="1" eaLnBrk="1" hangingPunct="1">
              <a:buNone/>
            </a:pPr>
            <a:r>
              <a:rPr lang="en-US" altLang="zh-CN" i="1" dirty="0">
                <a:latin typeface="Times New Roman" panose="02020603050405020304" pitchFamily="18" charset="0"/>
                <a:sym typeface="+mn-ea"/>
              </a:rPr>
              <a:t>q</a:t>
            </a:r>
            <a:r>
              <a:rPr lang="en-US" altLang="zh-CN" dirty="0">
                <a:latin typeface="Times New Roman" panose="02020603050405020304" pitchFamily="18" charset="0"/>
                <a:sym typeface="+mn-ea"/>
              </a:rPr>
              <a:t>: ‘It is going to rain’</a:t>
            </a:r>
            <a:endParaRPr lang="en-US" altLang="zh-CN" dirty="0">
              <a:latin typeface="Times New Roman" panose="02020603050405020304" pitchFamily="18" charset="0"/>
            </a:endParaRPr>
          </a:p>
          <a:p>
            <a:pPr lvl="1" eaLnBrk="1" hangingPunct="1">
              <a:buNone/>
            </a:pPr>
            <a:r>
              <a:rPr lang="en-US" altLang="zh-CN" i="1" dirty="0">
                <a:latin typeface="Times New Roman" panose="02020603050405020304" pitchFamily="18" charset="0"/>
                <a:sym typeface="+mn-ea"/>
              </a:rPr>
              <a:t>p</a:t>
            </a:r>
            <a:r>
              <a:rPr lang="en-US" altLang="zh-CN" dirty="0">
                <a:latin typeface="Symbol" panose="05050102010706020507" pitchFamily="18" charset="2"/>
                <a:sym typeface="+mn-ea"/>
              </a:rPr>
              <a:t>Å</a:t>
            </a:r>
            <a:r>
              <a:rPr lang="en-US" altLang="zh-CN" i="1" dirty="0">
                <a:latin typeface="Times New Roman" panose="02020603050405020304" pitchFamily="18" charset="0"/>
                <a:sym typeface="+mn-ea"/>
              </a:rPr>
              <a:t>q</a:t>
            </a:r>
            <a:r>
              <a:rPr lang="en-US" altLang="zh-CN" dirty="0">
                <a:latin typeface="Times New Roman" panose="02020603050405020304" pitchFamily="18" charset="0"/>
                <a:sym typeface="+mn-ea"/>
              </a:rPr>
              <a:t>: ‘Either I am going to town or it is going to rain.</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sym typeface="+mn-ea"/>
              </a:rPr>
              <a:t>Truth Table:</a:t>
            </a:r>
            <a:endParaRPr lang="en-US" altLang="zh-CN" dirty="0">
              <a:latin typeface="Times New Roman" panose="02020603050405020304" pitchFamily="18" charset="0"/>
            </a:endParaRPr>
          </a:p>
          <a:p>
            <a:pPr lvl="1" eaLnBrk="1" hangingPunct="1">
              <a:buNone/>
            </a:pPr>
            <a:endParaRPr lang="en-US" altLang="zh-CN" dirty="0">
              <a:latin typeface="Times New Roman" panose="02020603050405020304" pitchFamily="18" charset="0"/>
            </a:endParaRPr>
          </a:p>
        </p:txBody>
      </p:sp>
      <p:graphicFrame>
        <p:nvGraphicFramePr>
          <p:cNvPr id="7" name="表格 6"/>
          <p:cNvGraphicFramePr>
            <a:graphicFrameLocks noGrp="1"/>
          </p:cNvGraphicFramePr>
          <p:nvPr>
            <p:custDataLst>
              <p:tags r:id="rId1"/>
            </p:custDataLst>
          </p:nvPr>
        </p:nvGraphicFramePr>
        <p:xfrm>
          <a:off x="3708400" y="3716655"/>
          <a:ext cx="3225800" cy="2115832"/>
        </p:xfrm>
        <a:graphic>
          <a:graphicData uri="http://schemas.openxmlformats.org/drawingml/2006/table">
            <a:tbl>
              <a:tblPr firstRow="1" bandRow="1">
                <a:tableStyleId>{5C22544A-7EE6-4342-B048-85BDC9FD1C3A}</a:tableStyleId>
              </a:tblPr>
              <a:tblGrid>
                <a:gridCol w="997585">
                  <a:extLst>
                    <a:ext uri="{9D8B030D-6E8A-4147-A177-3AD203B41FA5}">
                      <a16:colId xmlns:a16="http://schemas.microsoft.com/office/drawing/2014/main" val="20000"/>
                    </a:ext>
                  </a:extLst>
                </a:gridCol>
                <a:gridCol w="1113790">
                  <a:extLst>
                    <a:ext uri="{9D8B030D-6E8A-4147-A177-3AD203B41FA5}">
                      <a16:colId xmlns:a16="http://schemas.microsoft.com/office/drawing/2014/main" val="20001"/>
                    </a:ext>
                  </a:extLst>
                </a:gridCol>
                <a:gridCol w="1114425">
                  <a:extLst>
                    <a:ext uri="{9D8B030D-6E8A-4147-A177-3AD203B41FA5}">
                      <a16:colId xmlns:a16="http://schemas.microsoft.com/office/drawing/2014/main" val="20002"/>
                    </a:ext>
                  </a:extLst>
                </a:gridCol>
              </a:tblGrid>
              <a:tr h="457200">
                <a:tc>
                  <a:txBody>
                    <a:bodyPr/>
                    <a:lstStyle/>
                    <a:p>
                      <a:pPr algn="ct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a:solidFill>
                            <a:schemeClr val="tx1"/>
                          </a:solidFill>
                          <a:latin typeface="Times New Roman" panose="02020603050405020304" pitchFamily="18" charset="0"/>
                        </a:rPr>
                        <a:t>q</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err="1">
                          <a:solidFill>
                            <a:schemeClr val="tx1"/>
                          </a:solidFill>
                          <a:latin typeface="Times New Roman" panose="02020603050405020304" pitchFamily="18" charset="0"/>
                        </a:rPr>
                        <a:t>p</a:t>
                      </a:r>
                      <a:r>
                        <a:rPr lang="en-US" altLang="zh-CN" sz="2400" b="1" dirty="0" err="1">
                          <a:solidFill>
                            <a:schemeClr val="tx1"/>
                          </a:solidFill>
                          <a:latin typeface="Symbol" panose="05050102010706020507" pitchFamily="18" charset="2"/>
                        </a:rPr>
                        <a:t>Å</a:t>
                      </a:r>
                      <a:r>
                        <a:rPr lang="en-US" altLang="zh-CN" sz="2400" i="1" dirty="0" err="1">
                          <a:solidFill>
                            <a:schemeClr val="tx1"/>
                          </a:solidFill>
                          <a:latin typeface="Times New Roman" panose="02020603050405020304" pitchFamily="18" charset="0"/>
                        </a:rPr>
                        <a:t>q</a:t>
                      </a:r>
                      <a:endParaRPr lang="en-US" altLang="zh-CN" sz="2400" b="1" i="1" dirty="0" err="1">
                        <a:solidFill>
                          <a:schemeClr val="tx1"/>
                        </a:solidFill>
                        <a:latin typeface="Times New Roman" panose="02020603050405020304" pitchFamily="18" charset="0"/>
                      </a:endParaRPr>
                    </a:p>
                  </a:txBody>
                  <a:tcPr marL="91443" marR="91443" marT="45726" marB="45726" anchor="ctr"/>
                </a:tc>
                <a:extLst>
                  <a:ext uri="{0D108BD9-81ED-4DB2-BD59-A6C34878D82A}">
                    <a16:rowId xmlns:a16="http://schemas.microsoft.com/office/drawing/2014/main" val="10000"/>
                  </a:ext>
                </a:extLst>
              </a:tr>
              <a:tr h="414655">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1"/>
                  </a:ext>
                </a:extLst>
              </a:tr>
              <a:tr h="414655">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2"/>
                  </a:ext>
                </a:extLst>
              </a:tr>
              <a:tr h="414655">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3"/>
                  </a:ext>
                </a:extLst>
              </a:tr>
              <a:tr h="414655">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4"/>
                  </a:ext>
                </a:extLst>
              </a:tr>
            </a:tbl>
          </a:graphicData>
        </a:graphic>
      </p:graphicFrame>
      <p:sp>
        <p:nvSpPr>
          <p:cNvPr id="3" name="文本框 2"/>
          <p:cNvSpPr txBox="1"/>
          <p:nvPr/>
        </p:nvSpPr>
        <p:spPr>
          <a:xfrm>
            <a:off x="1260475" y="6021070"/>
            <a:ext cx="5776595" cy="460375"/>
          </a:xfrm>
          <a:prstGeom prst="rect">
            <a:avLst/>
          </a:prstGeom>
          <a:noFill/>
        </p:spPr>
        <p:txBody>
          <a:bodyPr wrap="square" rtlCol="0" anchor="t">
            <a:spAutoFit/>
          </a:bodyPr>
          <a:lstStyle/>
          <a:p>
            <a:r>
              <a:rPr lang="en-US" altLang="zh-CN" dirty="0">
                <a:solidFill>
                  <a:srgbClr val="FF0000"/>
                </a:solidFill>
                <a:sym typeface="+mn-ea"/>
              </a:rPr>
              <a:t>Note</a:t>
            </a:r>
            <a:r>
              <a:rPr lang="en-US" altLang="zh-CN" dirty="0">
                <a:sym typeface="+mn-ea"/>
              </a:rPr>
              <a:t>: </a:t>
            </a:r>
            <a:r>
              <a:rPr lang="en-US" altLang="zh-CN" dirty="0">
                <a:solidFill>
                  <a:schemeClr val="hlink"/>
                </a:solidFill>
                <a:sym typeface="+mn-ea"/>
              </a:rPr>
              <a:t>Only</a:t>
            </a:r>
            <a:r>
              <a:rPr lang="en-US" altLang="zh-CN" dirty="0">
                <a:sym typeface="+mn-ea"/>
              </a:rPr>
              <a:t> one of </a:t>
            </a:r>
            <a:r>
              <a:rPr lang="en-US" altLang="zh-CN" i="1" dirty="0">
                <a:sym typeface="+mn-ea"/>
              </a:rPr>
              <a:t>p </a:t>
            </a:r>
            <a:r>
              <a:rPr lang="en-US" altLang="zh-CN" dirty="0">
                <a:sym typeface="+mn-ea"/>
              </a:rPr>
              <a:t>and </a:t>
            </a:r>
            <a:r>
              <a:rPr lang="en-US" altLang="zh-CN" i="1" dirty="0">
                <a:sym typeface="+mn-ea"/>
              </a:rPr>
              <a:t>q</a:t>
            </a:r>
            <a:r>
              <a:rPr lang="en-US" altLang="zh-CN" dirty="0">
                <a:sym typeface="+mn-ea"/>
              </a:rPr>
              <a:t> must be true.</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26</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481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482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4821" name="Rectangle 2050"/>
          <p:cNvSpPr>
            <a:spLocks noGrp="1"/>
          </p:cNvSpPr>
          <p:nvPr>
            <p:ph type="title"/>
          </p:nvPr>
        </p:nvSpPr>
        <p:spPr>
          <a:xfrm>
            <a:off x="971233" y="260350"/>
            <a:ext cx="7793037" cy="846138"/>
          </a:xfrm>
        </p:spPr>
        <p:txBody>
          <a:bodyPr vert="horz" wrap="square" lIns="91440" tIns="45720" rIns="91440" bIns="45720" anchor="b" anchorCtr="0"/>
          <a:lstStyle/>
          <a:p>
            <a:pPr eaLnBrk="1" hangingPunct="1"/>
            <a:r>
              <a:rPr lang="zh-CN" altLang="en-US" dirty="0">
                <a:latin typeface="Times New Roman" panose="02020603050405020304" pitchFamily="18" charset="0"/>
              </a:rPr>
              <a:t>可兼或与不可兼或</a:t>
            </a:r>
            <a:endParaRPr lang="zh-CN" altLang="en-US" dirty="0"/>
          </a:p>
        </p:txBody>
      </p:sp>
      <p:sp>
        <p:nvSpPr>
          <p:cNvPr id="34822" name="Rectangle 2051"/>
          <p:cNvSpPr>
            <a:spLocks noGrp="1"/>
          </p:cNvSpPr>
          <p:nvPr>
            <p:ph idx="1"/>
          </p:nvPr>
        </p:nvSpPr>
        <p:spPr/>
        <p:txBody>
          <a:bodyPr vert="horz" wrap="square" lIns="91440" tIns="45720" rIns="91440" bIns="45720" anchor="t" anchorCtr="0"/>
          <a:lstStyle/>
          <a:p>
            <a:pPr eaLnBrk="1" hangingPunct="1"/>
            <a:r>
              <a:rPr lang="zh-CN" altLang="en-US" dirty="0">
                <a:latin typeface="Times New Roman" panose="02020603050405020304" pitchFamily="18" charset="0"/>
              </a:rPr>
              <a:t>可兼或：明天下雨或刮风。</a:t>
            </a:r>
            <a:endParaRPr lang="zh-CN" altLang="en-US" dirty="0"/>
          </a:p>
          <a:p>
            <a:pPr eaLnBrk="1" hangingPunct="1"/>
            <a:r>
              <a:rPr lang="zh-CN" altLang="en-US" dirty="0">
                <a:latin typeface="宋体" panose="02010600030101010101" pitchFamily="2" charset="-122"/>
              </a:rPr>
              <a:t>不可兼或：</a:t>
            </a:r>
          </a:p>
          <a:p>
            <a:pPr lvl="1" eaLnBrk="1" hangingPunct="1"/>
            <a:r>
              <a:rPr lang="zh-CN" altLang="en-US" dirty="0">
                <a:latin typeface="宋体" panose="02010600030101010101" pitchFamily="2" charset="-122"/>
              </a:rPr>
              <a:t>今天晚上去电影院看电影，或在家看电视。</a:t>
            </a:r>
            <a:r>
              <a:rPr lang="zh-CN" altLang="en-US" dirty="0"/>
              <a:t> </a:t>
            </a:r>
          </a:p>
          <a:p>
            <a:pPr lvl="1" eaLnBrk="1" hangingPunct="1"/>
            <a:r>
              <a:rPr lang="zh-CN" altLang="en-US" dirty="0">
                <a:latin typeface="Times New Roman" panose="02020603050405020304" pitchFamily="18" charset="0"/>
              </a:rPr>
              <a:t>今天第一节课是语文课或数学课。</a:t>
            </a:r>
            <a:r>
              <a:rPr lang="zh-CN" altLang="en-US" dirty="0"/>
              <a:t>    </a:t>
            </a:r>
          </a:p>
          <a:p>
            <a:pPr lvl="1" eaLnBrk="1" hangingPunct="1"/>
            <a:r>
              <a:rPr lang="zh-CN" altLang="en-US" dirty="0">
                <a:latin typeface="宋体" panose="02010600030101010101" pitchFamily="2" charset="-122"/>
              </a:rPr>
              <a:t>他现在在</a:t>
            </a:r>
            <a:r>
              <a:rPr lang="zh-CN" altLang="en-US" dirty="0"/>
              <a:t>301</a:t>
            </a:r>
            <a:r>
              <a:rPr lang="zh-CN" altLang="en-US" dirty="0">
                <a:latin typeface="宋体" panose="02010600030101010101" pitchFamily="2" charset="-122"/>
              </a:rPr>
              <a:t>室或</a:t>
            </a:r>
            <a:r>
              <a:rPr lang="zh-CN" altLang="en-US" dirty="0"/>
              <a:t>302</a:t>
            </a:r>
            <a:r>
              <a:rPr lang="zh-CN" altLang="en-US" dirty="0">
                <a:latin typeface="宋体" panose="02010600030101010101" pitchFamily="2" charset="-122"/>
              </a:rPr>
              <a:t>室。</a:t>
            </a:r>
            <a:endParaRPr lang="zh-CN" altLang="en-US"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27</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584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584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5845" name="Rectangle 2"/>
          <p:cNvSpPr>
            <a:spLocks noGrp="1"/>
          </p:cNvSpPr>
          <p:nvPr>
            <p:ph type="title"/>
          </p:nvPr>
        </p:nvSpPr>
        <p:spPr>
          <a:xfrm>
            <a:off x="899795" y="332740"/>
            <a:ext cx="8288020" cy="765810"/>
          </a:xfrm>
        </p:spPr>
        <p:txBody>
          <a:bodyPr vert="horz" wrap="square" lIns="91440" tIns="45720" rIns="91440" bIns="45720" anchor="b" anchorCtr="0"/>
          <a:lstStyle/>
          <a:p>
            <a:pPr eaLnBrk="1" hangingPunct="1"/>
            <a:r>
              <a:rPr lang="en-US" altLang="zh-CN" sz="3200" b="1" dirty="0"/>
              <a:t>Implication（</a:t>
            </a:r>
            <a:r>
              <a:rPr lang="zh-CN" altLang="en-US" sz="3200" b="1" dirty="0"/>
              <a:t>蕴涵）‘</a:t>
            </a:r>
            <a:r>
              <a:rPr lang="en-US" altLang="zh-CN" sz="3200" dirty="0"/>
              <a:t>If...then...’</a:t>
            </a:r>
            <a:r>
              <a:rPr lang="en-US" altLang="zh-CN" sz="3200" dirty="0">
                <a:latin typeface="Times New Roman" panose="02020603050405020304" pitchFamily="18" charset="0"/>
              </a:rPr>
              <a:t>: </a:t>
            </a:r>
            <a:r>
              <a:rPr lang="en-US" altLang="zh-CN" sz="3600" dirty="0">
                <a:latin typeface="Symbol" panose="05050102010706020507" pitchFamily="18" charset="2"/>
                <a:sym typeface="Symbol" panose="05050102010706020507" pitchFamily="18" charset="2"/>
              </a:rPr>
              <a:t></a:t>
            </a:r>
          </a:p>
        </p:txBody>
      </p:sp>
      <p:sp>
        <p:nvSpPr>
          <p:cNvPr id="35846" name="Rectangle 3"/>
          <p:cNvSpPr>
            <a:spLocks noGrp="1"/>
          </p:cNvSpPr>
          <p:nvPr>
            <p:ph idx="1"/>
          </p:nvPr>
        </p:nvSpPr>
        <p:spPr>
          <a:xfrm>
            <a:off x="683895" y="1268730"/>
            <a:ext cx="8275320" cy="4114800"/>
          </a:xfrm>
        </p:spPr>
        <p:txBody>
          <a:bodyPr vert="horz" wrap="square" lIns="91440" tIns="45720" rIns="91440" bIns="45720" anchor="t" anchorCtr="0"/>
          <a:lstStyle/>
          <a:p>
            <a:pPr eaLnBrk="1" hangingPunct="1">
              <a:lnSpc>
                <a:spcPct val="90000"/>
              </a:lnSpc>
            </a:pPr>
            <a:r>
              <a:rPr lang="en-US" altLang="zh-CN" sz="2800" dirty="0">
                <a:latin typeface="Times New Roman" panose="02020603050405020304" pitchFamily="18" charset="0"/>
              </a:rPr>
              <a:t>Definition: If </a:t>
            </a:r>
            <a:r>
              <a:rPr lang="en-US" altLang="zh-CN" sz="2800" i="1" dirty="0">
                <a:latin typeface="Times New Roman" panose="02020603050405020304" pitchFamily="18" charset="0"/>
              </a:rPr>
              <a:t>p</a:t>
            </a:r>
            <a:r>
              <a:rPr lang="en-US" altLang="zh-CN" sz="2800" dirty="0">
                <a:latin typeface="Times New Roman" panose="02020603050405020304" pitchFamily="18" charset="0"/>
              </a:rPr>
              <a:t> and </a:t>
            </a:r>
            <a:r>
              <a:rPr lang="en-US" altLang="zh-CN" sz="2800" i="1" dirty="0">
                <a:latin typeface="Times New Roman" panose="02020603050405020304" pitchFamily="18" charset="0"/>
              </a:rPr>
              <a:t>q</a:t>
            </a:r>
            <a:r>
              <a:rPr lang="en-US" altLang="zh-CN" sz="2800" dirty="0">
                <a:latin typeface="Times New Roman" panose="02020603050405020304" pitchFamily="18" charset="0"/>
              </a:rPr>
              <a:t> are statements,the compound statement “if </a:t>
            </a:r>
            <a:r>
              <a:rPr lang="en-US" altLang="zh-CN" sz="2800" i="1" dirty="0">
                <a:latin typeface="Times New Roman" panose="02020603050405020304" pitchFamily="18" charset="0"/>
              </a:rPr>
              <a:t>p</a:t>
            </a:r>
            <a:r>
              <a:rPr lang="en-US" altLang="zh-CN" sz="2800" dirty="0">
                <a:latin typeface="Times New Roman" panose="02020603050405020304" pitchFamily="18" charset="0"/>
              </a:rPr>
              <a:t> then </a:t>
            </a:r>
            <a:r>
              <a:rPr lang="en-US" altLang="zh-CN" sz="2800" i="1" dirty="0">
                <a:latin typeface="Times New Roman" panose="02020603050405020304" pitchFamily="18" charset="0"/>
              </a:rPr>
              <a:t>q</a:t>
            </a:r>
            <a:r>
              <a:rPr lang="en-US" altLang="zh-CN" sz="2800" dirty="0">
                <a:latin typeface="Times New Roman" panose="02020603050405020304" pitchFamily="18" charset="0"/>
              </a:rPr>
              <a:t>”,denoted </a:t>
            </a:r>
            <a:r>
              <a:rPr lang="en-US" altLang="zh-CN" sz="2800" i="1" dirty="0">
                <a:latin typeface="Times New Roman" panose="02020603050405020304" pitchFamily="18" charset="0"/>
              </a:rPr>
              <a:t>p </a:t>
            </a:r>
            <a:r>
              <a:rPr lang="en-US" altLang="zh-CN" sz="2800" dirty="0">
                <a:latin typeface="Symbol" panose="05050102010706020507" pitchFamily="18" charset="2"/>
                <a:sym typeface="Symbol" panose="05050102010706020507" pitchFamily="18" charset="2"/>
              </a:rPr>
              <a:t></a:t>
            </a:r>
            <a:r>
              <a:rPr lang="en-US" altLang="zh-CN" sz="2800" dirty="0">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q </a:t>
            </a:r>
            <a:r>
              <a:rPr lang="en-US" altLang="zh-CN" sz="2800" dirty="0">
                <a:latin typeface="Times New Roman" panose="02020603050405020304" pitchFamily="18" charset="0"/>
              </a:rPr>
              <a:t>,is called a </a:t>
            </a:r>
            <a:r>
              <a:rPr lang="en-US" altLang="zh-CN" sz="2800" dirty="0">
                <a:solidFill>
                  <a:srgbClr val="FF3300"/>
                </a:solidFill>
                <a:latin typeface="Times New Roman" panose="02020603050405020304" pitchFamily="18" charset="0"/>
              </a:rPr>
              <a:t>conditional statement(</a:t>
            </a:r>
            <a:r>
              <a:rPr lang="zh-CN" altLang="en-US" sz="2800" dirty="0">
                <a:solidFill>
                  <a:srgbClr val="FF3300"/>
                </a:solidFill>
                <a:latin typeface="Times New Roman" panose="02020603050405020304" pitchFamily="18" charset="0"/>
              </a:rPr>
              <a:t>条件命题）</a:t>
            </a:r>
            <a:r>
              <a:rPr lang="zh-CN" altLang="en-US" sz="2800" dirty="0">
                <a:latin typeface="Times New Roman" panose="02020603050405020304" pitchFamily="18" charset="0"/>
              </a:rPr>
              <a:t>,</a:t>
            </a:r>
            <a:r>
              <a:rPr lang="en-US" altLang="zh-CN" sz="2800" dirty="0">
                <a:latin typeface="Times New Roman" panose="02020603050405020304" pitchFamily="18" charset="0"/>
              </a:rPr>
              <a:t>or </a:t>
            </a:r>
            <a:r>
              <a:rPr lang="en-US" altLang="zh-CN" sz="2800" dirty="0">
                <a:solidFill>
                  <a:srgbClr val="FF3300"/>
                </a:solidFill>
                <a:latin typeface="Times New Roman" panose="02020603050405020304" pitchFamily="18" charset="0"/>
              </a:rPr>
              <a:t>implication</a:t>
            </a:r>
            <a:r>
              <a:rPr lang="en-US" altLang="zh-CN" sz="2800" dirty="0">
                <a:latin typeface="Times New Roman" panose="02020603050405020304" pitchFamily="18" charset="0"/>
              </a:rPr>
              <a:t>.</a:t>
            </a:r>
          </a:p>
          <a:p>
            <a:pPr lvl="1" eaLnBrk="1" hangingPunct="1">
              <a:lnSpc>
                <a:spcPct val="90000"/>
              </a:lnSpc>
            </a:pPr>
            <a:r>
              <a:rPr lang="en-US" altLang="zh-CN" sz="2400" dirty="0">
                <a:latin typeface="Times New Roman" panose="02020603050405020304" pitchFamily="18" charset="0"/>
              </a:rPr>
              <a:t>The statement </a:t>
            </a:r>
            <a:r>
              <a:rPr lang="en-US" altLang="zh-CN" sz="2400" i="1" dirty="0">
                <a:latin typeface="Times New Roman" panose="02020603050405020304" pitchFamily="18" charset="0"/>
              </a:rPr>
              <a:t>p</a:t>
            </a:r>
            <a:r>
              <a:rPr lang="en-US" altLang="zh-CN" sz="2400" dirty="0">
                <a:latin typeface="Times New Roman" panose="02020603050405020304" pitchFamily="18" charset="0"/>
              </a:rPr>
              <a:t> is called the </a:t>
            </a:r>
            <a:r>
              <a:rPr lang="en-US" altLang="zh-CN" sz="2400" dirty="0">
                <a:solidFill>
                  <a:srgbClr val="FF3300"/>
                </a:solidFill>
                <a:latin typeface="Times New Roman" panose="02020603050405020304" pitchFamily="18" charset="0"/>
              </a:rPr>
              <a:t>antecedent (</a:t>
            </a:r>
            <a:r>
              <a:rPr lang="zh-CN" altLang="en-US" sz="2400" dirty="0">
                <a:solidFill>
                  <a:srgbClr val="FF3300"/>
                </a:solidFill>
                <a:latin typeface="Times New Roman" panose="02020603050405020304" pitchFamily="18" charset="0"/>
              </a:rPr>
              <a:t>前件）</a:t>
            </a:r>
            <a:r>
              <a:rPr lang="en-US" altLang="zh-CN" sz="2400" dirty="0">
                <a:latin typeface="Times New Roman" panose="02020603050405020304" pitchFamily="18" charset="0"/>
              </a:rPr>
              <a:t>or </a:t>
            </a:r>
            <a:r>
              <a:rPr lang="en-US" altLang="zh-CN" sz="2400" dirty="0">
                <a:solidFill>
                  <a:srgbClr val="FF3300"/>
                </a:solidFill>
                <a:latin typeface="Times New Roman" panose="02020603050405020304" pitchFamily="18" charset="0"/>
              </a:rPr>
              <a:t>hypothesis（</a:t>
            </a:r>
            <a:r>
              <a:rPr lang="zh-CN" altLang="en-US" sz="2400" dirty="0">
                <a:solidFill>
                  <a:srgbClr val="FF3300"/>
                </a:solidFill>
                <a:latin typeface="Times New Roman" panose="02020603050405020304" pitchFamily="18" charset="0"/>
              </a:rPr>
              <a:t>假设）.</a:t>
            </a:r>
            <a:endParaRPr lang="zh-CN" altLang="en-US" sz="2400" dirty="0">
              <a:latin typeface="Times New Roman" panose="02020603050405020304" pitchFamily="18" charset="0"/>
            </a:endParaRPr>
          </a:p>
          <a:p>
            <a:pPr lvl="1" eaLnBrk="1" hangingPunct="1">
              <a:lnSpc>
                <a:spcPct val="90000"/>
              </a:lnSpc>
            </a:pPr>
            <a:r>
              <a:rPr lang="en-US" altLang="zh-CN" sz="2400" dirty="0">
                <a:latin typeface="Times New Roman" panose="02020603050405020304" pitchFamily="18" charset="0"/>
              </a:rPr>
              <a:t>The statement </a:t>
            </a:r>
            <a:r>
              <a:rPr lang="en-US" altLang="zh-CN" sz="2400" i="1" dirty="0">
                <a:latin typeface="Times New Roman" panose="02020603050405020304" pitchFamily="18" charset="0"/>
              </a:rPr>
              <a:t>q</a:t>
            </a:r>
            <a:r>
              <a:rPr lang="en-US" altLang="zh-CN" sz="2400" dirty="0">
                <a:latin typeface="Times New Roman" panose="02020603050405020304" pitchFamily="18" charset="0"/>
              </a:rPr>
              <a:t> is called the </a:t>
            </a:r>
            <a:r>
              <a:rPr lang="en-US" altLang="zh-CN" sz="2400" i="1" dirty="0">
                <a:solidFill>
                  <a:srgbClr val="FF3300"/>
                </a:solidFill>
                <a:latin typeface="Times New Roman" panose="02020603050405020304" pitchFamily="18" charset="0"/>
              </a:rPr>
              <a:t>consequent</a:t>
            </a:r>
            <a:r>
              <a:rPr lang="en-US" altLang="zh-CN" sz="2400" dirty="0">
                <a:latin typeface="Times New Roman" panose="02020603050405020304" pitchFamily="18" charset="0"/>
              </a:rPr>
              <a:t> </a:t>
            </a:r>
            <a:r>
              <a:rPr lang="en-US" altLang="zh-CN" sz="2400" dirty="0">
                <a:solidFill>
                  <a:srgbClr val="FF3300"/>
                </a:solidFill>
                <a:latin typeface="Times New Roman" panose="02020603050405020304" pitchFamily="18" charset="0"/>
              </a:rPr>
              <a:t>（</a:t>
            </a:r>
            <a:r>
              <a:rPr lang="zh-CN" altLang="en-US" sz="2400" dirty="0">
                <a:solidFill>
                  <a:srgbClr val="FF3300"/>
                </a:solidFill>
                <a:latin typeface="Times New Roman" panose="02020603050405020304" pitchFamily="18" charset="0"/>
              </a:rPr>
              <a:t>后件）</a:t>
            </a:r>
            <a:r>
              <a:rPr lang="en-US" altLang="zh-CN" sz="2400" dirty="0">
                <a:latin typeface="Times New Roman" panose="02020603050405020304" pitchFamily="18" charset="0"/>
              </a:rPr>
              <a:t>or </a:t>
            </a:r>
            <a:r>
              <a:rPr lang="en-US" altLang="zh-CN" sz="2400" i="1" dirty="0">
                <a:solidFill>
                  <a:srgbClr val="FF3300"/>
                </a:solidFill>
                <a:latin typeface="Times New Roman" panose="02020603050405020304" pitchFamily="18" charset="0"/>
              </a:rPr>
              <a:t>conclusion</a:t>
            </a:r>
            <a:r>
              <a:rPr lang="en-US" altLang="zh-CN" sz="2400" dirty="0">
                <a:solidFill>
                  <a:srgbClr val="FF3300"/>
                </a:solidFill>
                <a:latin typeface="Times New Roman" panose="02020603050405020304" pitchFamily="18" charset="0"/>
              </a:rPr>
              <a:t>（</a:t>
            </a:r>
            <a:r>
              <a:rPr lang="zh-CN" altLang="en-US" sz="2400" dirty="0">
                <a:solidFill>
                  <a:srgbClr val="FF3300"/>
                </a:solidFill>
                <a:latin typeface="Times New Roman" panose="02020603050405020304" pitchFamily="18" charset="0"/>
              </a:rPr>
              <a:t>结论）</a:t>
            </a:r>
            <a:r>
              <a:rPr lang="zh-CN" altLang="en-US" sz="2400" i="1" dirty="0">
                <a:solidFill>
                  <a:srgbClr val="FF3300"/>
                </a:solidFill>
                <a:latin typeface="Times New Roman" panose="02020603050405020304" pitchFamily="18" charset="0"/>
              </a:rPr>
              <a:t>.</a:t>
            </a:r>
          </a:p>
          <a:p>
            <a:pPr lvl="1" eaLnBrk="1" hangingPunct="1">
              <a:lnSpc>
                <a:spcPct val="90000"/>
              </a:lnSpc>
            </a:pPr>
            <a:r>
              <a:rPr lang="en-US" altLang="zh-CN" sz="2400" dirty="0">
                <a:latin typeface="Times New Roman" panose="02020603050405020304" pitchFamily="18" charset="0"/>
              </a:rPr>
              <a:t>The connective </a:t>
            </a:r>
            <a:r>
              <a:rPr lang="en-US" altLang="zh-CN" sz="2400" i="1" dirty="0">
                <a:latin typeface="Times New Roman" panose="02020603050405020304" pitchFamily="18" charset="0"/>
              </a:rPr>
              <a:t>if</a:t>
            </a:r>
            <a:r>
              <a:rPr lang="en-US" altLang="zh-CN" sz="2400" dirty="0">
                <a:latin typeface="Times New Roman" panose="02020603050405020304" pitchFamily="18" charset="0"/>
              </a:rPr>
              <a:t> …</a:t>
            </a:r>
            <a:r>
              <a:rPr lang="en-US" altLang="zh-CN" sz="2400" i="1" dirty="0">
                <a:latin typeface="Times New Roman" panose="02020603050405020304" pitchFamily="18" charset="0"/>
              </a:rPr>
              <a:t>then</a:t>
            </a:r>
            <a:r>
              <a:rPr lang="en-US" altLang="zh-CN" sz="2400" dirty="0">
                <a:latin typeface="Times New Roman" panose="02020603050405020304" pitchFamily="18" charset="0"/>
              </a:rPr>
              <a:t> is denoted by the symbol </a:t>
            </a:r>
            <a:r>
              <a:rPr lang="en-US" altLang="zh-CN" sz="2400" dirty="0">
                <a:latin typeface="Symbol" panose="05050102010706020507" pitchFamily="18" charset="2"/>
                <a:sym typeface="Symbol" panose="05050102010706020507" pitchFamily="18" charset="2"/>
              </a:rPr>
              <a:t>.</a:t>
            </a:r>
            <a:endParaRPr lang="en-US" altLang="zh-CN" sz="2400" dirty="0">
              <a:latin typeface="Times New Roman" panose="02020603050405020304" pitchFamily="18" charset="0"/>
            </a:endParaRPr>
          </a:p>
          <a:p>
            <a:pPr eaLnBrk="1" hangingPunct="1">
              <a:lnSpc>
                <a:spcPct val="90000"/>
              </a:lnSpc>
            </a:pPr>
            <a:r>
              <a:rPr lang="en-US" altLang="zh-CN" sz="2800" dirty="0">
                <a:latin typeface="Times New Roman" panose="02020603050405020304" pitchFamily="18" charset="0"/>
              </a:rPr>
              <a:t>Example:</a:t>
            </a:r>
          </a:p>
          <a:p>
            <a:pPr lvl="1" eaLnBrk="1" hangingPunct="1">
              <a:lnSpc>
                <a:spcPct val="90000"/>
              </a:lnSpc>
              <a:buNone/>
            </a:pPr>
            <a:r>
              <a:rPr lang="en-US" altLang="zh-CN" sz="2400" i="1" dirty="0">
                <a:latin typeface="Times New Roman" panose="02020603050405020304" pitchFamily="18" charset="0"/>
              </a:rPr>
              <a:t>p</a:t>
            </a:r>
            <a:r>
              <a:rPr lang="en-US" altLang="zh-CN" sz="2400" dirty="0">
                <a:latin typeface="Times New Roman" panose="02020603050405020304" pitchFamily="18" charset="0"/>
              </a:rPr>
              <a:t>:‘I am going to town’</a:t>
            </a:r>
          </a:p>
          <a:p>
            <a:pPr lvl="1" eaLnBrk="1" hangingPunct="1">
              <a:lnSpc>
                <a:spcPct val="90000"/>
              </a:lnSpc>
              <a:buNone/>
            </a:pPr>
            <a:r>
              <a:rPr lang="en-US" altLang="zh-CN" sz="2400" i="1" dirty="0">
                <a:latin typeface="Times New Roman" panose="02020603050405020304" pitchFamily="18" charset="0"/>
              </a:rPr>
              <a:t>q</a:t>
            </a:r>
            <a:r>
              <a:rPr lang="en-US" altLang="zh-CN" sz="2400" dirty="0">
                <a:latin typeface="Times New Roman" panose="02020603050405020304" pitchFamily="18" charset="0"/>
              </a:rPr>
              <a:t>: ‘It is going to rain’</a:t>
            </a:r>
          </a:p>
          <a:p>
            <a:pPr lvl="1" eaLnBrk="1" hangingPunct="1">
              <a:lnSpc>
                <a:spcPct val="90000"/>
              </a:lnSpc>
              <a:buNone/>
            </a:pPr>
            <a:r>
              <a:rPr lang="en-US" altLang="zh-CN" sz="2400" i="1" dirty="0">
                <a:latin typeface="Times New Roman" panose="02020603050405020304" pitchFamily="18" charset="0"/>
              </a:rPr>
              <a:t>p</a:t>
            </a:r>
            <a:r>
              <a:rPr lang="en-US" altLang="zh-CN" sz="2400" dirty="0">
                <a:latin typeface="Times New Roman" panose="02020603050405020304" pitchFamily="18" charset="0"/>
              </a:rPr>
              <a:t> </a:t>
            </a:r>
            <a:r>
              <a:rPr lang="en-US" altLang="zh-CN" sz="2400" dirty="0">
                <a:latin typeface="Symbol" panose="05050102010706020507" pitchFamily="18" charset="2"/>
                <a:sym typeface="Symbol" panose="05050102010706020507" pitchFamily="18" charset="2"/>
              </a:rPr>
              <a:t></a:t>
            </a:r>
            <a:r>
              <a:rPr lang="en-US" altLang="zh-CN" sz="2400" i="1" dirty="0">
                <a:latin typeface="Times New Roman" panose="02020603050405020304" pitchFamily="18" charset="0"/>
              </a:rPr>
              <a:t>q</a:t>
            </a:r>
            <a:r>
              <a:rPr lang="en-US" altLang="zh-CN" sz="2400" dirty="0">
                <a:latin typeface="Times New Roman" panose="02020603050405020304" pitchFamily="18" charset="0"/>
              </a:rPr>
              <a:t>: ‘If I am going to town then it is going to rain.’</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28</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686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686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6869" name="Rectangle 2"/>
          <p:cNvSpPr>
            <a:spLocks noGrp="1"/>
          </p:cNvSpPr>
          <p:nvPr>
            <p:ph type="title"/>
          </p:nvPr>
        </p:nvSpPr>
        <p:spPr/>
        <p:txBody>
          <a:bodyPr vert="horz" wrap="square" lIns="91440" tIns="45720" rIns="91440" bIns="45720" anchor="b" anchorCtr="0"/>
          <a:lstStyle/>
          <a:p>
            <a:pPr eaLnBrk="1" hangingPunct="1"/>
            <a:r>
              <a:rPr lang="en-US" altLang="zh-CN" sz="4000" b="1" dirty="0"/>
              <a:t>Implication ‘</a:t>
            </a:r>
            <a:r>
              <a:rPr lang="en-US" altLang="zh-CN" sz="4000" dirty="0"/>
              <a:t>If...then...’</a:t>
            </a:r>
            <a:r>
              <a:rPr lang="en-US" altLang="zh-CN" sz="4000" dirty="0">
                <a:latin typeface="Times New Roman" panose="02020603050405020304" pitchFamily="18" charset="0"/>
              </a:rPr>
              <a:t>: </a:t>
            </a:r>
            <a:r>
              <a:rPr lang="en-US" altLang="zh-CN" sz="4000" dirty="0">
                <a:latin typeface="Symbol" panose="05050102010706020507" pitchFamily="18" charset="2"/>
                <a:sym typeface="Symbol" panose="05050102010706020507" pitchFamily="18" charset="2"/>
              </a:rPr>
              <a:t></a:t>
            </a:r>
          </a:p>
        </p:txBody>
      </p:sp>
      <p:sp>
        <p:nvSpPr>
          <p:cNvPr id="36870" name="Rectangle 3"/>
          <p:cNvSpPr>
            <a:spLocks noGrp="1"/>
          </p:cNvSpPr>
          <p:nvPr>
            <p:ph idx="1"/>
          </p:nvPr>
        </p:nvSpPr>
        <p:spPr>
          <a:xfrm>
            <a:off x="895350" y="1340485"/>
            <a:ext cx="8060055" cy="4114800"/>
          </a:xfrm>
        </p:spPr>
        <p:txBody>
          <a:bodyPr vert="horz" wrap="square" lIns="91440" tIns="45720" rIns="91440" bIns="45720" anchor="t" anchorCtr="0"/>
          <a:lstStyle/>
          <a:p>
            <a:pPr eaLnBrk="1" hangingPunct="1"/>
            <a:r>
              <a:rPr lang="en-US" altLang="zh-CN" dirty="0">
                <a:latin typeface="Times New Roman" panose="02020603050405020304" pitchFamily="18" charset="0"/>
              </a:rPr>
              <a:t>Truth Table:</a:t>
            </a:r>
          </a:p>
          <a:p>
            <a:pPr eaLnBrk="1" hangingPunct="1"/>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r>
              <a:rPr lang="en-US" altLang="zh-CN" dirty="0">
                <a:solidFill>
                  <a:srgbClr val="FF0000"/>
                </a:solidFill>
                <a:latin typeface="Times New Roman" panose="02020603050405020304" pitchFamily="18" charset="0"/>
                <a:sym typeface="+mn-ea"/>
              </a:rPr>
              <a:t>Note</a:t>
            </a:r>
            <a:r>
              <a:rPr lang="en-US" altLang="zh-CN" dirty="0">
                <a:latin typeface="Times New Roman" panose="02020603050405020304" pitchFamily="18" charset="0"/>
                <a:sym typeface="+mn-ea"/>
              </a:rPr>
              <a:t>: The implication is false </a:t>
            </a:r>
            <a:r>
              <a:rPr lang="en-US" altLang="zh-CN" u="sng" dirty="0">
                <a:solidFill>
                  <a:srgbClr val="FF0000"/>
                </a:solidFill>
                <a:latin typeface="Times New Roman" panose="02020603050405020304" pitchFamily="18" charset="0"/>
                <a:sym typeface="+mn-ea"/>
              </a:rPr>
              <a:t>only when </a:t>
            </a:r>
            <a:r>
              <a:rPr lang="en-US" altLang="zh-CN" i="1" u="sng" dirty="0">
                <a:solidFill>
                  <a:srgbClr val="FF0000"/>
                </a:solidFill>
                <a:latin typeface="Times New Roman" panose="02020603050405020304" pitchFamily="18" charset="0"/>
                <a:sym typeface="+mn-ea"/>
              </a:rPr>
              <a:t>p</a:t>
            </a:r>
            <a:r>
              <a:rPr lang="en-US" altLang="zh-CN" u="sng" dirty="0">
                <a:solidFill>
                  <a:srgbClr val="FF0000"/>
                </a:solidFill>
                <a:latin typeface="Times New Roman" panose="02020603050405020304" pitchFamily="18" charset="0"/>
                <a:sym typeface="+mn-ea"/>
              </a:rPr>
              <a:t> is true and </a:t>
            </a:r>
            <a:r>
              <a:rPr lang="en-US" altLang="zh-CN" i="1" u="sng" dirty="0">
                <a:solidFill>
                  <a:srgbClr val="FF0000"/>
                </a:solidFill>
                <a:latin typeface="Times New Roman" panose="02020603050405020304" pitchFamily="18" charset="0"/>
                <a:sym typeface="+mn-ea"/>
              </a:rPr>
              <a:t>q</a:t>
            </a:r>
            <a:r>
              <a:rPr lang="en-US" altLang="zh-CN" u="sng" dirty="0">
                <a:solidFill>
                  <a:srgbClr val="FF0000"/>
                </a:solidFill>
                <a:latin typeface="Times New Roman" panose="02020603050405020304" pitchFamily="18" charset="0"/>
                <a:sym typeface="+mn-ea"/>
              </a:rPr>
              <a:t> is false!</a:t>
            </a:r>
            <a:endParaRPr lang="en-US" altLang="zh-CN" u="sng" dirty="0">
              <a:solidFill>
                <a:srgbClr val="FF0000"/>
              </a:solidFill>
              <a:latin typeface="Times New Roman" panose="02020603050405020304" pitchFamily="18" charset="0"/>
            </a:endParaRPr>
          </a:p>
          <a:p>
            <a:pPr eaLnBrk="1" hangingPunct="1"/>
            <a:endParaRPr lang="en-US" altLang="zh-CN" dirty="0">
              <a:latin typeface="Times New Roman" panose="02020603050405020304" pitchFamily="18" charset="0"/>
            </a:endParaRPr>
          </a:p>
          <a:p>
            <a:pPr lvl="1" eaLnBrk="1" hangingPunct="1">
              <a:buNone/>
            </a:pPr>
            <a:r>
              <a:rPr lang="en-US" altLang="zh-CN" dirty="0">
                <a:latin typeface="Times New Roman" panose="02020603050405020304" pitchFamily="18" charset="0"/>
              </a:rPr>
              <a:t>	</a:t>
            </a:r>
          </a:p>
        </p:txBody>
      </p:sp>
      <p:graphicFrame>
        <p:nvGraphicFramePr>
          <p:cNvPr id="7" name="表格 6"/>
          <p:cNvGraphicFramePr>
            <a:graphicFrameLocks noGrp="1"/>
          </p:cNvGraphicFramePr>
          <p:nvPr>
            <p:custDataLst>
              <p:tags r:id="rId1"/>
            </p:custDataLst>
          </p:nvPr>
        </p:nvGraphicFramePr>
        <p:xfrm>
          <a:off x="2339340" y="1988820"/>
          <a:ext cx="3449955" cy="2317115"/>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gridCol w="1191260">
                  <a:extLst>
                    <a:ext uri="{9D8B030D-6E8A-4147-A177-3AD203B41FA5}">
                      <a16:colId xmlns:a16="http://schemas.microsoft.com/office/drawing/2014/main" val="20001"/>
                    </a:ext>
                  </a:extLst>
                </a:gridCol>
                <a:gridCol w="1191895">
                  <a:extLst>
                    <a:ext uri="{9D8B030D-6E8A-4147-A177-3AD203B41FA5}">
                      <a16:colId xmlns:a16="http://schemas.microsoft.com/office/drawing/2014/main" val="20002"/>
                    </a:ext>
                  </a:extLst>
                </a:gridCol>
              </a:tblGrid>
              <a:tr h="458470">
                <a:tc>
                  <a:txBody>
                    <a:bodyPr/>
                    <a:lstStyle/>
                    <a:p>
                      <a:pPr algn="ct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a:solidFill>
                            <a:schemeClr val="tx1"/>
                          </a:solidFill>
                          <a:latin typeface="Times New Roman" panose="02020603050405020304" pitchFamily="18" charset="0"/>
                        </a:rPr>
                        <a:t>q</a:t>
                      </a:r>
                      <a:endParaRPr lang="en-US" altLang="zh-CN" sz="2400" b="1" i="1" dirty="0">
                        <a:solidFill>
                          <a:schemeClr val="tx1"/>
                        </a:solidFill>
                        <a:latin typeface="Times New Roman" panose="02020603050405020304" pitchFamily="18" charset="0"/>
                      </a:endParaRPr>
                    </a:p>
                  </a:txBody>
                  <a:tcPr marL="91443" marR="91443" marT="45726" marB="45726" anchor="ctr"/>
                </a:tc>
                <a:tc>
                  <a:txBody>
                    <a:bodyPr/>
                    <a:lstStyle/>
                    <a:p>
                      <a:pPr algn="ctr"/>
                      <a:r>
                        <a:rPr lang="en-US" altLang="zh-CN" sz="2400" i="1" dirty="0" err="1">
                          <a:solidFill>
                            <a:schemeClr val="tx1"/>
                          </a:solidFill>
                          <a:latin typeface="Times New Roman" panose="02020603050405020304" pitchFamily="18" charset="0"/>
                        </a:rPr>
                        <a:t>p</a:t>
                      </a:r>
                      <a:r>
                        <a:rPr lang="en-US" altLang="zh-CN" sz="2400" dirty="0" err="1">
                          <a:solidFill>
                            <a:schemeClr val="tx1"/>
                          </a:solidFill>
                          <a:latin typeface="Symbol" panose="05050102010706020507" pitchFamily="18" charset="2"/>
                          <a:sym typeface="Symbol" panose="05050102010706020507" pitchFamily="18" charset="2"/>
                        </a:rPr>
                        <a:t></a:t>
                      </a:r>
                      <a:r>
                        <a:rPr lang="en-US" altLang="zh-CN" sz="2400" i="1" dirty="0" err="1">
                          <a:solidFill>
                            <a:schemeClr val="tx1"/>
                          </a:solidFill>
                          <a:latin typeface="Times New Roman" panose="02020603050405020304" pitchFamily="18" charset="0"/>
                        </a:rPr>
                        <a:t>q</a:t>
                      </a:r>
                      <a:endParaRPr lang="en-US" altLang="zh-CN" sz="2400" b="1" i="1" dirty="0" err="1">
                        <a:solidFill>
                          <a:schemeClr val="tx1"/>
                        </a:solidFill>
                        <a:latin typeface="Times New Roman" panose="02020603050405020304" pitchFamily="18" charset="0"/>
                      </a:endParaRPr>
                    </a:p>
                  </a:txBody>
                  <a:tcPr marL="91443" marR="91443" marT="45726" marB="45726" anchor="ctr"/>
                </a:tc>
                <a:extLst>
                  <a:ext uri="{0D108BD9-81ED-4DB2-BD59-A6C34878D82A}">
                    <a16:rowId xmlns:a16="http://schemas.microsoft.com/office/drawing/2014/main" val="10000"/>
                  </a:ext>
                </a:extLst>
              </a:tr>
              <a:tr h="464820">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1"/>
                  </a:ext>
                </a:extLst>
              </a:tr>
              <a:tr h="464185">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2"/>
                  </a:ext>
                </a:extLst>
              </a:tr>
              <a:tr h="464820">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tc>
                  <a:txBody>
                    <a:bodyPr/>
                    <a:lstStyle/>
                    <a:p>
                      <a:pPr algn="ctr"/>
                      <a:r>
                        <a:rPr lang="en-US" altLang="zh-CN" sz="2000" b="0" dirty="0">
                          <a:solidFill>
                            <a:schemeClr val="tx1"/>
                          </a:solidFill>
                        </a:rPr>
                        <a:t>0</a:t>
                      </a:r>
                    </a:p>
                  </a:txBody>
                  <a:tcPr marL="91443" marR="91443" marT="45726" marB="45726" anchor="ctr"/>
                </a:tc>
                <a:extLst>
                  <a:ext uri="{0D108BD9-81ED-4DB2-BD59-A6C34878D82A}">
                    <a16:rowId xmlns:a16="http://schemas.microsoft.com/office/drawing/2014/main" val="10003"/>
                  </a:ext>
                </a:extLst>
              </a:tr>
              <a:tr h="464820">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tc>
                  <a:txBody>
                    <a:bodyPr/>
                    <a:lstStyle/>
                    <a:p>
                      <a:pPr algn="ctr"/>
                      <a:r>
                        <a:rPr lang="en-US" altLang="zh-CN" sz="2000" b="0" dirty="0">
                          <a:solidFill>
                            <a:schemeClr val="tx1"/>
                          </a:solidFill>
                        </a:rPr>
                        <a:t>1</a:t>
                      </a:r>
                    </a:p>
                  </a:txBody>
                  <a:tcPr marL="91443" marR="91443" marT="45726" marB="45726" anchor="ct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29</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789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789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7893" name="Rectangle 2"/>
          <p:cNvSpPr>
            <a:spLocks noGrp="1"/>
          </p:cNvSpPr>
          <p:nvPr>
            <p:ph type="title"/>
          </p:nvPr>
        </p:nvSpPr>
        <p:spPr/>
        <p:txBody>
          <a:bodyPr vert="horz" wrap="square" lIns="91440" tIns="45720" rIns="91440" bIns="45720" anchor="b" anchorCtr="0"/>
          <a:lstStyle/>
          <a:p>
            <a:pPr eaLnBrk="1" hangingPunct="1"/>
            <a:r>
              <a:rPr lang="en-US" altLang="zh-CN" sz="4000" b="1" dirty="0"/>
              <a:t>Implication ‘</a:t>
            </a:r>
            <a:r>
              <a:rPr lang="en-US" altLang="zh-CN" sz="4000" dirty="0"/>
              <a:t>If...then...’</a:t>
            </a:r>
            <a:r>
              <a:rPr lang="en-US" altLang="zh-CN" sz="4000" dirty="0">
                <a:latin typeface="Times New Roman" panose="02020603050405020304" pitchFamily="18" charset="0"/>
              </a:rPr>
              <a:t>: </a:t>
            </a:r>
            <a:r>
              <a:rPr lang="en-US" altLang="zh-CN" sz="4000" dirty="0">
                <a:latin typeface="Symbol" panose="05050102010706020507" pitchFamily="18" charset="2"/>
                <a:sym typeface="Symbol" panose="05050102010706020507" pitchFamily="18" charset="2"/>
              </a:rPr>
              <a:t></a:t>
            </a:r>
          </a:p>
        </p:txBody>
      </p:sp>
      <p:sp>
        <p:nvSpPr>
          <p:cNvPr id="37894" name="Rectangle 3"/>
          <p:cNvSpPr>
            <a:spLocks noGrp="1"/>
          </p:cNvSpPr>
          <p:nvPr>
            <p:ph idx="1"/>
          </p:nvPr>
        </p:nvSpPr>
        <p:spPr>
          <a:xfrm>
            <a:off x="632460" y="1196975"/>
            <a:ext cx="8466455" cy="4114800"/>
          </a:xfrm>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Equivalent forms:</a:t>
            </a:r>
          </a:p>
          <a:p>
            <a:pPr lvl="1" eaLnBrk="1" hangingPunct="1">
              <a:lnSpc>
                <a:spcPct val="90000"/>
              </a:lnSpc>
            </a:pPr>
            <a:r>
              <a:rPr lang="en-US" altLang="zh-CN" sz="3200" dirty="0">
                <a:latin typeface="Times New Roman" panose="02020603050405020304" pitchFamily="18" charset="0"/>
              </a:rPr>
              <a:t>If </a:t>
            </a:r>
            <a:r>
              <a:rPr lang="en-US" altLang="zh-CN" sz="3200" i="1" dirty="0">
                <a:latin typeface="Times New Roman" panose="02020603050405020304" pitchFamily="18" charset="0"/>
              </a:rPr>
              <a:t>p</a:t>
            </a:r>
            <a:r>
              <a:rPr lang="en-US" altLang="zh-CN" sz="3200" dirty="0">
                <a:latin typeface="Times New Roman" panose="02020603050405020304" pitchFamily="18" charset="0"/>
              </a:rPr>
              <a:t>, then </a:t>
            </a:r>
            <a:r>
              <a:rPr lang="en-US" altLang="zh-CN" sz="3200" i="1" dirty="0">
                <a:latin typeface="Times New Roman" panose="02020603050405020304" pitchFamily="18" charset="0"/>
              </a:rPr>
              <a:t>q</a:t>
            </a:r>
            <a:r>
              <a:rPr lang="en-US" altLang="zh-CN" sz="3200" dirty="0">
                <a:latin typeface="Times New Roman" panose="02020603050405020304" pitchFamily="18" charset="0"/>
              </a:rPr>
              <a:t>                </a:t>
            </a:r>
            <a:r>
              <a:rPr lang="en-US" altLang="zh-CN" sz="3200" dirty="0">
                <a:solidFill>
                  <a:schemeClr val="hlink"/>
                </a:solidFill>
                <a:latin typeface="Times New Roman" panose="02020603050405020304" pitchFamily="18" charset="0"/>
              </a:rPr>
              <a:t>￭</a:t>
            </a:r>
            <a:r>
              <a:rPr lang="en-US" altLang="zh-CN" sz="3200" dirty="0">
                <a:latin typeface="Times New Roman" panose="02020603050405020304" pitchFamily="18" charset="0"/>
              </a:rPr>
              <a:t> </a:t>
            </a: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implies </a:t>
            </a:r>
            <a:r>
              <a:rPr lang="en-US" altLang="zh-CN" sz="3200" i="1" dirty="0">
                <a:latin typeface="Times New Roman" panose="02020603050405020304" pitchFamily="18" charset="0"/>
                <a:sym typeface="+mn-ea"/>
              </a:rPr>
              <a:t>q</a:t>
            </a:r>
            <a:endParaRPr lang="en-US" altLang="zh-CN" sz="3200" dirty="0">
              <a:latin typeface="Times New Roman" panose="02020603050405020304" pitchFamily="18" charset="0"/>
            </a:endParaRPr>
          </a:p>
          <a:p>
            <a:pPr lvl="1" eaLnBrk="1" hangingPunct="1">
              <a:lnSpc>
                <a:spcPct val="90000"/>
              </a:lnSpc>
            </a:pPr>
            <a:r>
              <a:rPr lang="en-US" altLang="zh-CN" sz="3200" dirty="0">
                <a:latin typeface="Times New Roman" panose="02020603050405020304" pitchFamily="18" charset="0"/>
              </a:rPr>
              <a:t>If </a:t>
            </a: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a:t>
            </a: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a:t>
            </a:r>
            <a:r>
              <a:rPr lang="en-US" altLang="zh-CN" sz="3200" dirty="0">
                <a:solidFill>
                  <a:schemeClr val="hlink"/>
                </a:solidFill>
                <a:latin typeface="Times New Roman" panose="02020603050405020304" pitchFamily="18" charset="0"/>
              </a:rPr>
              <a:t>￭</a:t>
            </a:r>
            <a:r>
              <a:rPr lang="en-US" altLang="zh-CN" sz="3200" dirty="0">
                <a:latin typeface="Times New Roman" panose="02020603050405020304" pitchFamily="18" charset="0"/>
              </a:rPr>
              <a:t> </a:t>
            </a: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only if </a:t>
            </a:r>
            <a:r>
              <a:rPr lang="en-US" altLang="zh-CN" sz="3200" i="1" dirty="0">
                <a:latin typeface="Times New Roman" panose="02020603050405020304" pitchFamily="18" charset="0"/>
                <a:sym typeface="+mn-ea"/>
              </a:rPr>
              <a:t>q</a:t>
            </a:r>
            <a:endParaRPr lang="en-US" altLang="zh-CN" sz="3200" dirty="0">
              <a:latin typeface="Times New Roman" panose="02020603050405020304" pitchFamily="18" charset="0"/>
            </a:endParaRPr>
          </a:p>
          <a:p>
            <a:pPr lvl="1" eaLnBrk="1" hangingPunct="1">
              <a:lnSpc>
                <a:spcPct val="90000"/>
              </a:lnSpc>
            </a:pP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is a sufficient condition(</a:t>
            </a:r>
            <a:r>
              <a:rPr lang="zh-CN" altLang="en-US" sz="3200" dirty="0">
                <a:latin typeface="Times New Roman" panose="02020603050405020304" pitchFamily="18" charset="0"/>
              </a:rPr>
              <a:t>充分条件） </a:t>
            </a:r>
            <a:r>
              <a:rPr lang="en-US" altLang="zh-CN" sz="3200" dirty="0">
                <a:latin typeface="Times New Roman" panose="02020603050405020304" pitchFamily="18" charset="0"/>
              </a:rPr>
              <a:t>for </a:t>
            </a:r>
            <a:r>
              <a:rPr lang="en-US" altLang="zh-CN" sz="3200" i="1" dirty="0">
                <a:latin typeface="Times New Roman" panose="02020603050405020304" pitchFamily="18" charset="0"/>
                <a:sym typeface="+mn-ea"/>
              </a:rPr>
              <a:t>q</a:t>
            </a:r>
            <a:endParaRPr lang="en-US" altLang="zh-CN" sz="3200" dirty="0">
              <a:latin typeface="Times New Roman" panose="02020603050405020304" pitchFamily="18" charset="0"/>
            </a:endParaRPr>
          </a:p>
          <a:p>
            <a:pPr lvl="1" eaLnBrk="1" hangingPunct="1">
              <a:lnSpc>
                <a:spcPct val="90000"/>
              </a:lnSpc>
            </a:pPr>
            <a:r>
              <a:rPr lang="en-US" altLang="zh-CN" sz="3200" dirty="0">
                <a:latin typeface="Times New Roman" panose="02020603050405020304" pitchFamily="18" charset="0"/>
              </a:rPr>
              <a:t>a sufficient condition for </a:t>
            </a: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is </a:t>
            </a:r>
            <a:r>
              <a:rPr lang="en-US" altLang="zh-CN" sz="3200" i="1" dirty="0">
                <a:latin typeface="Times New Roman" panose="02020603050405020304" pitchFamily="18" charset="0"/>
                <a:sym typeface="+mn-ea"/>
              </a:rPr>
              <a:t>p</a:t>
            </a:r>
            <a:endParaRPr lang="en-US" altLang="zh-CN" sz="3200" dirty="0">
              <a:latin typeface="Times New Roman" panose="02020603050405020304" pitchFamily="18" charset="0"/>
            </a:endParaRPr>
          </a:p>
          <a:p>
            <a:pPr lvl="1" eaLnBrk="1" hangingPunct="1">
              <a:lnSpc>
                <a:spcPct val="90000"/>
              </a:lnSpc>
            </a:pP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if </a:t>
            </a: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a:t>
            </a:r>
            <a:r>
              <a:rPr lang="en-US" altLang="zh-CN" sz="3200" dirty="0">
                <a:solidFill>
                  <a:schemeClr val="hlink"/>
                </a:solidFill>
                <a:latin typeface="Times New Roman" panose="02020603050405020304" pitchFamily="18" charset="0"/>
              </a:rPr>
              <a:t>￭</a:t>
            </a:r>
            <a:r>
              <a:rPr lang="en-US" altLang="zh-CN" sz="3200" dirty="0">
                <a:latin typeface="Times New Roman" panose="02020603050405020304" pitchFamily="18" charset="0"/>
              </a:rPr>
              <a:t> </a:t>
            </a: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whenever </a:t>
            </a:r>
            <a:r>
              <a:rPr lang="en-US" altLang="zh-CN" sz="3200" i="1" dirty="0">
                <a:latin typeface="Times New Roman" panose="02020603050405020304" pitchFamily="18" charset="0"/>
                <a:sym typeface="+mn-ea"/>
              </a:rPr>
              <a:t>p</a:t>
            </a:r>
            <a:endParaRPr lang="en-US" altLang="zh-CN" sz="3200" dirty="0">
              <a:latin typeface="Times New Roman" panose="02020603050405020304" pitchFamily="18" charset="0"/>
            </a:endParaRPr>
          </a:p>
          <a:p>
            <a:pPr lvl="1" eaLnBrk="1" hangingPunct="1">
              <a:lnSpc>
                <a:spcPct val="90000"/>
              </a:lnSpc>
            </a:pPr>
            <a:r>
              <a:rPr lang="en-US" altLang="zh-CN" sz="3200" i="1" dirty="0">
                <a:latin typeface="Times New Roman" panose="02020603050405020304" pitchFamily="18" charset="0"/>
                <a:sym typeface="+mn-ea"/>
              </a:rPr>
              <a:t>q </a:t>
            </a:r>
            <a:r>
              <a:rPr lang="en-US" altLang="zh-CN" sz="3200" dirty="0">
                <a:latin typeface="Times New Roman" panose="02020603050405020304" pitchFamily="18" charset="0"/>
              </a:rPr>
              <a:t>when </a:t>
            </a:r>
            <a:r>
              <a:rPr lang="en-US" altLang="zh-CN" sz="3200" i="1" dirty="0">
                <a:latin typeface="Times New Roman" panose="02020603050405020304" pitchFamily="18" charset="0"/>
                <a:sym typeface="+mn-ea"/>
              </a:rPr>
              <a:t>p</a:t>
            </a:r>
            <a:r>
              <a:rPr lang="en-US" altLang="zh-CN" sz="3200" dirty="0">
                <a:latin typeface="Times New Roman" panose="02020603050405020304" pitchFamily="18" charset="0"/>
              </a:rPr>
              <a:t>                   </a:t>
            </a:r>
            <a:r>
              <a:rPr lang="en-US" altLang="zh-CN" sz="3200" dirty="0">
                <a:solidFill>
                  <a:schemeClr val="hlink"/>
                </a:solidFill>
                <a:latin typeface="Times New Roman" panose="02020603050405020304" pitchFamily="18" charset="0"/>
              </a:rPr>
              <a:t>￭</a:t>
            </a:r>
            <a:r>
              <a:rPr lang="en-US" altLang="zh-CN" sz="3200" dirty="0">
                <a:latin typeface="Times New Roman" panose="02020603050405020304" pitchFamily="18" charset="0"/>
              </a:rPr>
              <a:t> </a:t>
            </a: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follows from </a:t>
            </a:r>
            <a:r>
              <a:rPr lang="en-US" altLang="zh-CN" sz="3200" i="1" dirty="0">
                <a:latin typeface="Times New Roman" panose="02020603050405020304" pitchFamily="18" charset="0"/>
                <a:sym typeface="+mn-ea"/>
              </a:rPr>
              <a:t>p</a:t>
            </a:r>
            <a:endParaRPr lang="en-US" altLang="zh-CN" sz="3200" dirty="0">
              <a:latin typeface="Times New Roman" panose="02020603050405020304" pitchFamily="18" charset="0"/>
            </a:endParaRPr>
          </a:p>
          <a:p>
            <a:pPr lvl="1" eaLnBrk="1" hangingPunct="1">
              <a:lnSpc>
                <a:spcPct val="90000"/>
              </a:lnSpc>
            </a:pP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is a necessary condition （</a:t>
            </a:r>
            <a:r>
              <a:rPr lang="zh-CN" altLang="en-US" sz="3200" dirty="0">
                <a:latin typeface="Times New Roman" panose="02020603050405020304" pitchFamily="18" charset="0"/>
              </a:rPr>
              <a:t>必要条件）</a:t>
            </a:r>
            <a:r>
              <a:rPr lang="en-US" altLang="zh-CN" sz="3200" dirty="0">
                <a:latin typeface="Times New Roman" panose="02020603050405020304" pitchFamily="18" charset="0"/>
              </a:rPr>
              <a:t>for </a:t>
            </a:r>
            <a:r>
              <a:rPr lang="en-US" altLang="zh-CN" sz="3200" i="1" dirty="0">
                <a:latin typeface="Times New Roman" panose="02020603050405020304" pitchFamily="18" charset="0"/>
                <a:sym typeface="+mn-ea"/>
              </a:rPr>
              <a:t>p</a:t>
            </a:r>
            <a:endParaRPr lang="en-US" altLang="zh-CN" sz="3200" dirty="0">
              <a:latin typeface="Times New Roman" panose="02020603050405020304" pitchFamily="18" charset="0"/>
            </a:endParaRPr>
          </a:p>
          <a:p>
            <a:pPr lvl="1" eaLnBrk="1" hangingPunct="1">
              <a:lnSpc>
                <a:spcPct val="90000"/>
              </a:lnSpc>
            </a:pPr>
            <a:r>
              <a:rPr lang="en-US" altLang="zh-CN" sz="3200" i="1" dirty="0">
                <a:latin typeface="Times New Roman" panose="02020603050405020304" pitchFamily="18" charset="0"/>
                <a:sym typeface="+mn-ea"/>
              </a:rPr>
              <a:t>q</a:t>
            </a:r>
            <a:r>
              <a:rPr lang="en-US" altLang="zh-CN" sz="3200" dirty="0">
                <a:latin typeface="Times New Roman" panose="02020603050405020304" pitchFamily="18" charset="0"/>
              </a:rPr>
              <a:t> unless not </a:t>
            </a:r>
            <a:r>
              <a:rPr lang="en-US" altLang="zh-CN" sz="3200" i="1" dirty="0">
                <a:latin typeface="Times New Roman" panose="02020603050405020304" pitchFamily="18" charset="0"/>
                <a:sym typeface="+mn-ea"/>
              </a:rPr>
              <a:t>p</a:t>
            </a:r>
            <a:endParaRPr lang="en-US" altLang="zh-CN" sz="3200" dirty="0">
              <a:latin typeface="Times New Roman" panose="02020603050405020304" pitchFamily="18" charset="0"/>
            </a:endParaRPr>
          </a:p>
          <a:p>
            <a:pPr eaLnBrk="1" hangingPunct="1">
              <a:lnSpc>
                <a:spcPct val="90000"/>
              </a:lnSpc>
            </a:pPr>
            <a:endParaRPr lang="en-US" altLang="zh-CN" sz="3200" u="sng" dirty="0">
              <a:solidFill>
                <a:schemeClr val="folHlink"/>
              </a:solidFill>
              <a:latin typeface="Times New Roman" panose="02020603050405020304" pitchFamily="18" charset="0"/>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30</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8915"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8916"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8917" name="Rectangle 2"/>
          <p:cNvSpPr>
            <a:spLocks noGrp="1"/>
          </p:cNvSpPr>
          <p:nvPr>
            <p:ph type="title"/>
          </p:nvPr>
        </p:nvSpPr>
        <p:spPr/>
        <p:txBody>
          <a:bodyPr vert="horz" wrap="square" lIns="91440" tIns="45720" rIns="91440" bIns="45720" anchor="b" anchorCtr="0"/>
          <a:lstStyle/>
          <a:p>
            <a:pPr eaLnBrk="1" hangingPunct="1"/>
            <a:r>
              <a:rPr lang="en-US" altLang="zh-CN" sz="4000" b="1" dirty="0"/>
              <a:t>Implication ‘</a:t>
            </a:r>
            <a:r>
              <a:rPr lang="en-US" altLang="zh-CN" sz="4000" dirty="0"/>
              <a:t>If...then...’</a:t>
            </a:r>
            <a:r>
              <a:rPr lang="en-US" altLang="zh-CN" sz="4000" dirty="0">
                <a:latin typeface="Times New Roman" panose="02020603050405020304" pitchFamily="18" charset="0"/>
              </a:rPr>
              <a:t>: </a:t>
            </a:r>
            <a:r>
              <a:rPr lang="en-US" altLang="zh-CN" sz="4000" dirty="0">
                <a:latin typeface="Symbol" panose="05050102010706020507" pitchFamily="18" charset="2"/>
                <a:sym typeface="Symbol" panose="05050102010706020507" pitchFamily="18" charset="2"/>
              </a:rPr>
              <a:t></a:t>
            </a:r>
          </a:p>
        </p:txBody>
      </p:sp>
      <p:sp>
        <p:nvSpPr>
          <p:cNvPr id="38918" name="Rectangle 3"/>
          <p:cNvSpPr>
            <a:spLocks noGrp="1"/>
          </p:cNvSpPr>
          <p:nvPr>
            <p:ph idx="1"/>
          </p:nvPr>
        </p:nvSpPr>
        <p:spPr>
          <a:xfrm>
            <a:off x="384810" y="1307465"/>
            <a:ext cx="8622030" cy="4956810"/>
          </a:xfrm>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There is </a:t>
            </a:r>
            <a:r>
              <a:rPr lang="en-US" altLang="zh-CN" b="1" dirty="0">
                <a:latin typeface="Times New Roman" panose="02020603050405020304" pitchFamily="18" charset="0"/>
              </a:rPr>
              <a:t>no</a:t>
            </a:r>
            <a:r>
              <a:rPr lang="en-US" altLang="zh-CN" dirty="0">
                <a:latin typeface="Times New Roman" panose="02020603050405020304" pitchFamily="18" charset="0"/>
              </a:rPr>
              <a:t> causality（</a:t>
            </a:r>
            <a:r>
              <a:rPr lang="zh-CN" altLang="en-US" dirty="0">
                <a:latin typeface="Times New Roman" panose="02020603050405020304" pitchFamily="18" charset="0"/>
              </a:rPr>
              <a:t>因果关系） </a:t>
            </a:r>
            <a:r>
              <a:rPr lang="en-US" altLang="zh-CN" dirty="0">
                <a:latin typeface="Times New Roman" panose="02020603050405020304" pitchFamily="18" charset="0"/>
              </a:rPr>
              <a:t>implied here!</a:t>
            </a:r>
          </a:p>
          <a:p>
            <a:pPr lvl="1" eaLnBrk="1" hangingPunct="1">
              <a:lnSpc>
                <a:spcPct val="90000"/>
              </a:lnSpc>
            </a:pPr>
            <a:r>
              <a:rPr lang="en-US" altLang="zh-CN" dirty="0">
                <a:latin typeface="Times New Roman" panose="02020603050405020304" pitchFamily="18" charset="0"/>
              </a:rPr>
              <a:t>‘If the moon is made of green cheese then I have more money than Bill Gates’ (T)</a:t>
            </a:r>
          </a:p>
          <a:p>
            <a:pPr lvl="1" eaLnBrk="1" hangingPunct="1">
              <a:lnSpc>
                <a:spcPct val="90000"/>
              </a:lnSpc>
            </a:pPr>
            <a:r>
              <a:rPr lang="en-US" altLang="zh-CN" dirty="0">
                <a:latin typeface="Times New Roman" panose="02020603050405020304" pitchFamily="18" charset="0"/>
              </a:rPr>
              <a:t>‘If the moon is made of green cheese then I’m on welfare’ (T)</a:t>
            </a:r>
          </a:p>
          <a:p>
            <a:pPr lvl="1" eaLnBrk="1" hangingPunct="1">
              <a:lnSpc>
                <a:spcPct val="90000"/>
              </a:lnSpc>
            </a:pPr>
            <a:r>
              <a:rPr lang="en-US" altLang="zh-CN" dirty="0">
                <a:latin typeface="Times New Roman" panose="02020603050405020304" pitchFamily="18" charset="0"/>
              </a:rPr>
              <a:t>‘If 1+1=3 then your grandma wears combat boots’ (T)</a:t>
            </a:r>
          </a:p>
          <a:p>
            <a:pPr lvl="1" eaLnBrk="1" hangingPunct="1">
              <a:lnSpc>
                <a:spcPct val="90000"/>
              </a:lnSpc>
            </a:pPr>
            <a:r>
              <a:rPr lang="en-US" altLang="zh-CN" dirty="0">
                <a:latin typeface="Times New Roman" panose="02020603050405020304" pitchFamily="18" charset="0"/>
              </a:rPr>
              <a:t>‘If I’m wealthy then the moon is not made of green cheese.’ (T)</a:t>
            </a:r>
          </a:p>
          <a:p>
            <a:pPr lvl="1" eaLnBrk="1" hangingPunct="1">
              <a:lnSpc>
                <a:spcPct val="90000"/>
              </a:lnSpc>
            </a:pPr>
            <a:r>
              <a:rPr lang="en-US" altLang="zh-CN" dirty="0">
                <a:latin typeface="Times New Roman" panose="02020603050405020304" pitchFamily="18" charset="0"/>
              </a:rPr>
              <a:t>‘If I’m not wealthy then the moon is not made of green cheese.’ (T)</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31</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993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994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39941" name="Rectangle 2"/>
          <p:cNvSpPr>
            <a:spLocks noGrp="1"/>
          </p:cNvSpPr>
          <p:nvPr>
            <p:ph type="title"/>
          </p:nvPr>
        </p:nvSpPr>
        <p:spPr/>
        <p:txBody>
          <a:bodyPr vert="horz" wrap="square" lIns="91440" tIns="45720" rIns="91440" bIns="45720" anchor="b" anchorCtr="0"/>
          <a:lstStyle/>
          <a:p>
            <a:pPr eaLnBrk="1" hangingPunct="1"/>
            <a:r>
              <a:rPr lang="en-US" altLang="zh-CN" b="1" dirty="0"/>
              <a:t>Terminology</a:t>
            </a:r>
            <a:endParaRPr lang="en-US" altLang="zh-CN" dirty="0"/>
          </a:p>
        </p:txBody>
      </p:sp>
      <p:sp>
        <p:nvSpPr>
          <p:cNvPr id="39942" name="Rectangle 3"/>
          <p:cNvSpPr>
            <a:spLocks noGrp="1"/>
          </p:cNvSpPr>
          <p:nvPr>
            <p:ph idx="1"/>
          </p:nvPr>
        </p:nvSpPr>
        <p:spPr>
          <a:xfrm>
            <a:off x="755650" y="1271270"/>
            <a:ext cx="8138795" cy="4956810"/>
          </a:xfrm>
        </p:spPr>
        <p:txBody>
          <a:bodyPr vert="horz" wrap="square" lIns="91440" tIns="45720" rIns="91440" bIns="45720" anchor="t" anchorCtr="0"/>
          <a:lstStyle/>
          <a:p>
            <a:pPr lvl="1" eaLnBrk="1" hangingPunct="1"/>
            <a:r>
              <a:rPr lang="en-US" altLang="zh-CN" i="1" dirty="0">
                <a:latin typeface="Times New Roman" panose="02020603050405020304" pitchFamily="18" charset="0"/>
              </a:rPr>
              <a:t>p </a:t>
            </a:r>
            <a:r>
              <a:rPr lang="en-US" altLang="zh-CN" dirty="0">
                <a:latin typeface="Times New Roman" panose="02020603050405020304" pitchFamily="18" charset="0"/>
              </a:rPr>
              <a:t>= premise（</a:t>
            </a:r>
            <a:r>
              <a:rPr lang="zh-CN" altLang="en-US" dirty="0">
                <a:latin typeface="Times New Roman" panose="02020603050405020304" pitchFamily="18" charset="0"/>
              </a:rPr>
              <a:t>前提）, </a:t>
            </a:r>
            <a:r>
              <a:rPr lang="en-US" altLang="zh-CN" dirty="0">
                <a:latin typeface="Times New Roman" panose="02020603050405020304" pitchFamily="18" charset="0"/>
              </a:rPr>
              <a:t>hypothesis, antecedent</a:t>
            </a:r>
          </a:p>
          <a:p>
            <a:pPr lvl="1" eaLnBrk="1" hangingPunct="1"/>
            <a:r>
              <a:rPr lang="en-US" altLang="zh-CN" i="1" dirty="0">
                <a:latin typeface="Times New Roman" panose="02020603050405020304" pitchFamily="18" charset="0"/>
                <a:sym typeface="+mn-ea"/>
              </a:rPr>
              <a:t>q</a:t>
            </a:r>
            <a:r>
              <a:rPr lang="en-US" altLang="zh-CN" dirty="0">
                <a:latin typeface="Times New Roman" panose="02020603050405020304" pitchFamily="18" charset="0"/>
              </a:rPr>
              <a:t> = conclusion, consequence</a:t>
            </a:r>
          </a:p>
          <a:p>
            <a:pPr eaLnBrk="1" hangingPunct="1"/>
            <a:r>
              <a:rPr lang="en-US" altLang="zh-CN" b="1" dirty="0">
                <a:latin typeface="Times New Roman" panose="02020603050405020304" pitchFamily="18" charset="0"/>
              </a:rPr>
              <a:t>More terminology:</a:t>
            </a:r>
          </a:p>
          <a:p>
            <a:pPr lvl="1" eaLnBrk="1" hangingPunct="1"/>
            <a:r>
              <a:rPr lang="en-US" altLang="zh-CN" i="1" dirty="0">
                <a:latin typeface="Times New Roman" panose="02020603050405020304" pitchFamily="18" charset="0"/>
                <a:sym typeface="+mn-ea"/>
              </a:rPr>
              <a:t>q</a:t>
            </a:r>
            <a:r>
              <a:rPr lang="en-US" altLang="zh-CN"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p</a:t>
            </a:r>
            <a:r>
              <a:rPr lang="en-US" altLang="zh-CN" dirty="0">
                <a:latin typeface="Times New Roman" panose="02020603050405020304" pitchFamily="18" charset="0"/>
              </a:rPr>
              <a:t> is the </a:t>
            </a:r>
            <a:r>
              <a:rPr lang="en-US" altLang="zh-CN" b="1" dirty="0">
                <a:latin typeface="Times New Roman" panose="02020603050405020304" pitchFamily="18" charset="0"/>
              </a:rPr>
              <a:t>CONVERSE（</a:t>
            </a:r>
            <a:r>
              <a:rPr lang="zh-CN" altLang="en-US" b="1" dirty="0">
                <a:latin typeface="Times New Roman" panose="02020603050405020304" pitchFamily="18" charset="0"/>
              </a:rPr>
              <a:t>逆） </a:t>
            </a:r>
            <a:r>
              <a:rPr lang="en-US" altLang="zh-CN" dirty="0">
                <a:latin typeface="Times New Roman" panose="02020603050405020304" pitchFamily="18" charset="0"/>
              </a:rPr>
              <a:t>of </a:t>
            </a:r>
            <a:r>
              <a:rPr lang="en-US" altLang="zh-CN" i="1" dirty="0">
                <a:latin typeface="Times New Roman" panose="02020603050405020304" pitchFamily="18" charset="0"/>
                <a:sym typeface="+mn-ea"/>
              </a:rPr>
              <a:t>p</a:t>
            </a:r>
            <a:r>
              <a:rPr lang="en-US" altLang="zh-CN"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q</a:t>
            </a:r>
            <a:endParaRPr lang="en-US" altLang="zh-CN" dirty="0">
              <a:latin typeface="Times New Roman" panose="02020603050405020304" pitchFamily="18" charset="0"/>
            </a:endParaRPr>
          </a:p>
          <a:p>
            <a:pPr lvl="1" eaLnBrk="1" hangingPunct="1"/>
            <a:r>
              <a:rPr lang="en-US" altLang="zh-CN" dirty="0">
                <a:latin typeface="Symbol" panose="05050102010706020507" pitchFamily="18" charset="2"/>
              </a:rPr>
              <a:t></a:t>
            </a:r>
            <a:r>
              <a:rPr lang="en-US" altLang="zh-CN" i="1" dirty="0">
                <a:latin typeface="Times New Roman" panose="02020603050405020304" pitchFamily="18" charset="0"/>
                <a:sym typeface="+mn-ea"/>
              </a:rPr>
              <a:t>p</a:t>
            </a:r>
            <a:r>
              <a:rPr lang="en-US" altLang="zh-CN" i="1"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q</a:t>
            </a:r>
            <a:r>
              <a:rPr lang="en-US" altLang="zh-CN" i="1" dirty="0">
                <a:latin typeface="Times New Roman" panose="02020603050405020304" pitchFamily="18" charset="0"/>
              </a:rPr>
              <a:t>  </a:t>
            </a:r>
            <a:r>
              <a:rPr lang="en-US" altLang="zh-CN" dirty="0">
                <a:latin typeface="Times New Roman" panose="02020603050405020304" pitchFamily="18" charset="0"/>
              </a:rPr>
              <a:t>is the </a:t>
            </a:r>
            <a:r>
              <a:rPr lang="en-US" altLang="zh-CN" b="1" dirty="0">
                <a:latin typeface="Times New Roman" panose="02020603050405020304" pitchFamily="18" charset="0"/>
              </a:rPr>
              <a:t>INVERSE（</a:t>
            </a:r>
            <a:r>
              <a:rPr lang="zh-CN" altLang="en-US" b="1" dirty="0">
                <a:latin typeface="Times New Roman" panose="02020603050405020304" pitchFamily="18" charset="0"/>
              </a:rPr>
              <a:t>反式）</a:t>
            </a:r>
            <a:r>
              <a:rPr lang="en-US" altLang="zh-CN" dirty="0">
                <a:latin typeface="Times New Roman" panose="02020603050405020304" pitchFamily="18" charset="0"/>
              </a:rPr>
              <a:t>of  </a:t>
            </a:r>
            <a:r>
              <a:rPr lang="en-US" altLang="zh-CN" i="1" dirty="0">
                <a:latin typeface="Times New Roman" panose="02020603050405020304" pitchFamily="18" charset="0"/>
                <a:sym typeface="+mn-ea"/>
              </a:rPr>
              <a:t>p</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q</a:t>
            </a:r>
            <a:endParaRPr lang="en-US" altLang="zh-CN" dirty="0">
              <a:latin typeface="Times New Roman" panose="02020603050405020304" pitchFamily="18" charset="0"/>
            </a:endParaRPr>
          </a:p>
          <a:p>
            <a:pPr lvl="1" eaLnBrk="1" hangingPunct="1"/>
            <a:r>
              <a:rPr lang="en-US" altLang="zh-CN" dirty="0">
                <a:latin typeface="Symbol" panose="05050102010706020507" pitchFamily="18" charset="2"/>
              </a:rPr>
              <a:t></a:t>
            </a:r>
            <a:r>
              <a:rPr lang="en-US" altLang="zh-CN" i="1" dirty="0">
                <a:latin typeface="Times New Roman" panose="02020603050405020304" pitchFamily="18" charset="0"/>
                <a:sym typeface="+mn-ea"/>
              </a:rPr>
              <a:t>q</a:t>
            </a:r>
            <a:r>
              <a:rPr lang="en-US" altLang="zh-CN" i="1"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p</a:t>
            </a:r>
            <a:r>
              <a:rPr lang="en-US" altLang="zh-CN" i="1" dirty="0">
                <a:latin typeface="Times New Roman" panose="02020603050405020304" pitchFamily="18" charset="0"/>
              </a:rPr>
              <a:t> </a:t>
            </a:r>
            <a:r>
              <a:rPr lang="en-US" altLang="zh-CN" dirty="0">
                <a:latin typeface="Times New Roman" panose="02020603050405020304" pitchFamily="18" charset="0"/>
              </a:rPr>
              <a:t>is the </a:t>
            </a:r>
            <a:r>
              <a:rPr lang="en-US" altLang="zh-CN" b="1" dirty="0">
                <a:latin typeface="Times New Roman" panose="02020603050405020304" pitchFamily="18" charset="0"/>
              </a:rPr>
              <a:t>CONTRAPOSITIVE （</a:t>
            </a:r>
            <a:r>
              <a:rPr lang="zh-CN" altLang="en-US" b="1" dirty="0">
                <a:latin typeface="Times New Roman" panose="02020603050405020304" pitchFamily="18" charset="0"/>
              </a:rPr>
              <a:t>逆反式）</a:t>
            </a:r>
            <a:r>
              <a:rPr lang="en-US" altLang="zh-CN" dirty="0">
                <a:latin typeface="Times New Roman" panose="02020603050405020304" pitchFamily="18" charset="0"/>
              </a:rPr>
              <a:t>of  </a:t>
            </a:r>
            <a:r>
              <a:rPr lang="en-US" altLang="zh-CN" i="1" dirty="0">
                <a:latin typeface="Times New Roman" panose="02020603050405020304" pitchFamily="18" charset="0"/>
                <a:sym typeface="+mn-ea"/>
              </a:rPr>
              <a:t>p</a:t>
            </a:r>
            <a:r>
              <a:rPr lang="en-US" altLang="zh-CN" dirty="0">
                <a:latin typeface="Times New Roman" panose="02020603050405020304" pitchFamily="18" charset="0"/>
              </a:rPr>
              <a:t> </a:t>
            </a:r>
            <a:r>
              <a:rPr lang="en-US" altLang="zh-CN"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603050405020304" pitchFamily="18" charset="0"/>
                <a:sym typeface="+mn-ea"/>
              </a:rPr>
              <a:t>q</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One of these three has the </a:t>
            </a:r>
            <a:r>
              <a:rPr lang="en-US" altLang="zh-CN" i="1" dirty="0">
                <a:latin typeface="Times New Roman" panose="02020603050405020304" pitchFamily="18" charset="0"/>
              </a:rPr>
              <a:t>same meaning</a:t>
            </a:r>
            <a:r>
              <a:rPr lang="en-US" altLang="zh-CN" dirty="0">
                <a:latin typeface="Times New Roman" panose="02020603050405020304" pitchFamily="18" charset="0"/>
              </a:rPr>
              <a:t> (same truth table) as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 q</a:t>
            </a:r>
            <a:r>
              <a:rPr lang="en-US" altLang="zh-CN" dirty="0">
                <a:latin typeface="Times New Roman" panose="02020603050405020304" pitchFamily="18" charset="0"/>
                <a:sym typeface="Symbol" panose="05050102010706020507" pitchFamily="18" charset="2"/>
              </a:rPr>
              <a:t>.  Can you figure out which?</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sym typeface="+mn-ea"/>
              </a:rPr>
              <a:t>How do we know for sure?</a:t>
            </a:r>
            <a:endParaRPr lang="zh-CN" altLang="en-US"/>
          </a:p>
        </p:txBody>
      </p:sp>
      <p:sp>
        <p:nvSpPr>
          <p:cNvPr id="3" name="内容占位符 2"/>
          <p:cNvSpPr>
            <a:spLocks noGrp="1"/>
          </p:cNvSpPr>
          <p:nvPr>
            <p:ph idx="1"/>
          </p:nvPr>
        </p:nvSpPr>
        <p:spPr>
          <a:xfrm>
            <a:off x="971233" y="1340168"/>
            <a:ext cx="7772400" cy="4114800"/>
          </a:xfrm>
        </p:spPr>
        <p:txBody>
          <a:bodyPr/>
          <a:lstStyle/>
          <a:p>
            <a:r>
              <a:rPr lang="en-US" altLang="zh-CN" dirty="0">
                <a:solidFill>
                  <a:schemeClr val="hlink"/>
                </a:solidFill>
                <a:latin typeface="Times New Roman" panose="02020603050405020304" pitchFamily="18" charset="0"/>
                <a:sym typeface="+mn-ea"/>
              </a:rPr>
              <a:t>Proving the equivalence of </a:t>
            </a:r>
            <a:r>
              <a:rPr lang="en-US" altLang="zh-CN" i="1" dirty="0">
                <a:solidFill>
                  <a:schemeClr val="hlink"/>
                </a:solidFill>
                <a:latin typeface="Times New Roman" panose="02020603050405020304" pitchFamily="18" charset="0"/>
                <a:sym typeface="+mn-ea"/>
              </a:rPr>
              <a:t>p </a:t>
            </a:r>
            <a:r>
              <a:rPr lang="en-US" altLang="zh-CN" dirty="0">
                <a:solidFill>
                  <a:schemeClr val="hlink"/>
                </a:solidFill>
                <a:latin typeface="Times New Roman" panose="02020603050405020304" pitchFamily="18" charset="0"/>
                <a:sym typeface="Symbol" panose="05050102010706020507" pitchFamily="18" charset="2"/>
              </a:rPr>
              <a:t> </a:t>
            </a:r>
            <a:r>
              <a:rPr lang="en-US" altLang="zh-CN" i="1" dirty="0">
                <a:solidFill>
                  <a:schemeClr val="hlink"/>
                </a:solidFill>
                <a:latin typeface="Times New Roman" panose="02020603050405020304" pitchFamily="18" charset="0"/>
                <a:sym typeface="Symbol" panose="05050102010706020507" pitchFamily="18" charset="2"/>
              </a:rPr>
              <a:t>q </a:t>
            </a:r>
            <a:r>
              <a:rPr lang="en-US" altLang="zh-CN" dirty="0">
                <a:solidFill>
                  <a:schemeClr val="hlink"/>
                </a:solidFill>
                <a:latin typeface="Times New Roman" panose="02020603050405020304" pitchFamily="18" charset="0"/>
                <a:sym typeface="Symbol" panose="05050102010706020507" pitchFamily="18" charset="2"/>
              </a:rPr>
              <a:t>and its contrapositive </a:t>
            </a:r>
            <a:r>
              <a:rPr lang="en-US" altLang="zh-CN" dirty="0">
                <a:solidFill>
                  <a:schemeClr val="hlink"/>
                </a:solidFill>
                <a:latin typeface="Times New Roman" panose="02020603050405020304" pitchFamily="18" charset="0"/>
                <a:sym typeface="+mn-ea"/>
              </a:rPr>
              <a:t>using truth tables:</a:t>
            </a:r>
            <a:endParaRPr lang="en-US" altLang="zh-CN" dirty="0">
              <a:solidFill>
                <a:schemeClr val="hlink"/>
              </a:solidFill>
              <a:latin typeface="Times New Roman" panose="02020603050405020304" pitchFamily="18" charset="0"/>
            </a:endParaRPr>
          </a:p>
          <a:p>
            <a:endParaRPr lang="zh-CN" altLang="en-US"/>
          </a:p>
        </p:txBody>
      </p:sp>
      <p:sp>
        <p:nvSpPr>
          <p:cNvPr id="4" name="日期占位符 3"/>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graphicFrame>
        <p:nvGraphicFramePr>
          <p:cNvPr id="5" name="表格 4"/>
          <p:cNvGraphicFramePr>
            <a:graphicFrameLocks noGrp="1"/>
          </p:cNvGraphicFramePr>
          <p:nvPr>
            <p:custDataLst>
              <p:tags r:id="rId1"/>
            </p:custDataLst>
          </p:nvPr>
        </p:nvGraphicFramePr>
        <p:xfrm>
          <a:off x="1546225" y="2856865"/>
          <a:ext cx="5662930" cy="2042220"/>
        </p:xfrm>
        <a:graphic>
          <a:graphicData uri="http://schemas.openxmlformats.org/drawingml/2006/table">
            <a:tbl>
              <a:tblPr firstRow="1" bandRow="1">
                <a:tableStyleId>{5C22544A-7EE6-4342-B048-85BDC9FD1C3A}</a:tableStyleId>
              </a:tblPr>
              <a:tblGrid>
                <a:gridCol w="814705">
                  <a:extLst>
                    <a:ext uri="{9D8B030D-6E8A-4147-A177-3AD203B41FA5}">
                      <a16:colId xmlns:a16="http://schemas.microsoft.com/office/drawing/2014/main" val="20000"/>
                    </a:ext>
                  </a:extLst>
                </a:gridCol>
                <a:gridCol w="773430">
                  <a:extLst>
                    <a:ext uri="{9D8B030D-6E8A-4147-A177-3AD203B41FA5}">
                      <a16:colId xmlns:a16="http://schemas.microsoft.com/office/drawing/2014/main" val="20001"/>
                    </a:ext>
                  </a:extLst>
                </a:gridCol>
                <a:gridCol w="700405">
                  <a:extLst>
                    <a:ext uri="{9D8B030D-6E8A-4147-A177-3AD203B41FA5}">
                      <a16:colId xmlns:a16="http://schemas.microsoft.com/office/drawing/2014/main" val="20002"/>
                    </a:ext>
                  </a:extLst>
                </a:gridCol>
                <a:gridCol w="699770">
                  <a:extLst>
                    <a:ext uri="{9D8B030D-6E8A-4147-A177-3AD203B41FA5}">
                      <a16:colId xmlns:a16="http://schemas.microsoft.com/office/drawing/2014/main" val="20003"/>
                    </a:ext>
                  </a:extLst>
                </a:gridCol>
                <a:gridCol w="1275080">
                  <a:extLst>
                    <a:ext uri="{9D8B030D-6E8A-4147-A177-3AD203B41FA5}">
                      <a16:colId xmlns:a16="http://schemas.microsoft.com/office/drawing/2014/main" val="20004"/>
                    </a:ext>
                  </a:extLst>
                </a:gridCol>
                <a:gridCol w="1399540">
                  <a:extLst>
                    <a:ext uri="{9D8B030D-6E8A-4147-A177-3AD203B41FA5}">
                      <a16:colId xmlns:a16="http://schemas.microsoft.com/office/drawing/2014/main" val="20005"/>
                    </a:ext>
                  </a:extLst>
                </a:gridCol>
              </a:tblGrid>
              <a:tr h="457200">
                <a:tc>
                  <a:txBody>
                    <a:bodyPr/>
                    <a:lstStyle/>
                    <a:p>
                      <a:pPr algn="ct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32" marR="91432" marT="45726" marB="45726" anchor="ctr"/>
                </a:tc>
                <a:tc>
                  <a:txBody>
                    <a:bodyPr/>
                    <a:lstStyle/>
                    <a:p>
                      <a:pPr algn="ctr"/>
                      <a:r>
                        <a:rPr lang="en-US" altLang="zh-CN" sz="2400" i="1" dirty="0">
                          <a:solidFill>
                            <a:schemeClr val="tx1"/>
                          </a:solidFill>
                          <a:latin typeface="Times New Roman" panose="02020603050405020304" pitchFamily="18" charset="0"/>
                        </a:rPr>
                        <a:t>q</a:t>
                      </a:r>
                      <a:endParaRPr lang="en-US" altLang="zh-CN" sz="2400" b="1" i="1" dirty="0">
                        <a:solidFill>
                          <a:schemeClr val="tx1"/>
                        </a:solidFill>
                        <a:latin typeface="Times New Roman" panose="02020603050405020304" pitchFamily="18" charset="0"/>
                      </a:endParaRPr>
                    </a:p>
                  </a:txBody>
                  <a:tcPr marL="91432" marR="91432" marT="45726" marB="4572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chemeClr val="tx1"/>
                          </a:solidFill>
                          <a:latin typeface="Times New Roman" panose="02020603050405020304" pitchFamily="18" charset="0"/>
                          <a:sym typeface="Symbol" panose="05050102010706020507" charset="0"/>
                        </a:rPr>
                        <a:t></a:t>
                      </a:r>
                      <a:r>
                        <a:rPr lang="en-US" altLang="zh-CN" sz="2400" i="1" dirty="0">
                          <a:solidFill>
                            <a:schemeClr val="tx1"/>
                          </a:solidFill>
                          <a:latin typeface="Times New Roman" panose="02020603050405020304" pitchFamily="18" charset="0"/>
                        </a:rPr>
                        <a:t>p</a:t>
                      </a:r>
                      <a:endParaRPr lang="en-US" altLang="zh-CN" sz="2400" b="1" i="1" dirty="0">
                        <a:solidFill>
                          <a:schemeClr val="tx1"/>
                        </a:solidFill>
                        <a:latin typeface="Times New Roman" panose="02020603050405020304" pitchFamily="18" charset="0"/>
                      </a:endParaRPr>
                    </a:p>
                  </a:txBody>
                  <a:tcPr marL="91432" marR="91432" marT="45726" marB="4572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chemeClr val="tx1"/>
                          </a:solidFill>
                          <a:latin typeface="Times New Roman" panose="02020603050405020304" pitchFamily="18" charset="0"/>
                          <a:sym typeface="Symbol" panose="05050102010706020507" charset="0"/>
                        </a:rPr>
                        <a:t></a:t>
                      </a:r>
                      <a:r>
                        <a:rPr lang="en-US" altLang="zh-CN" sz="2400" i="1" dirty="0">
                          <a:solidFill>
                            <a:schemeClr val="tx1"/>
                          </a:solidFill>
                          <a:latin typeface="Times New Roman" panose="02020603050405020304" pitchFamily="18" charset="0"/>
                        </a:rPr>
                        <a:t>q</a:t>
                      </a:r>
                      <a:endParaRPr lang="en-US" altLang="zh-CN" sz="2400" b="0" i="1" dirty="0">
                        <a:solidFill>
                          <a:schemeClr val="tx1"/>
                        </a:solidFill>
                        <a:latin typeface="Times New Roman" panose="02020603050405020304" pitchFamily="18" charset="0"/>
                      </a:endParaRPr>
                    </a:p>
                  </a:txBody>
                  <a:tcPr marL="91432" marR="91432" marT="45726" marB="45726" anchor="ctr"/>
                </a:tc>
                <a:tc>
                  <a:txBody>
                    <a:bodyPr/>
                    <a:lstStyle/>
                    <a:p>
                      <a:pPr algn="ctr"/>
                      <a:r>
                        <a:rPr lang="en-US" altLang="zh-CN" sz="2400" i="1" dirty="0" err="1">
                          <a:solidFill>
                            <a:schemeClr val="tx1"/>
                          </a:solidFill>
                          <a:latin typeface="Times New Roman" panose="02020603050405020304" pitchFamily="18" charset="0"/>
                        </a:rPr>
                        <a:t>p</a:t>
                      </a:r>
                      <a:r>
                        <a:rPr lang="en-US" altLang="zh-CN" sz="2400" dirty="0" err="1">
                          <a:solidFill>
                            <a:schemeClr val="tx1"/>
                          </a:solidFill>
                          <a:latin typeface="Symbol" panose="05050102010706020507" pitchFamily="18" charset="2"/>
                          <a:sym typeface="Symbol" panose="05050102010706020507" pitchFamily="18" charset="2"/>
                        </a:rPr>
                        <a:t></a:t>
                      </a:r>
                      <a:r>
                        <a:rPr lang="en-US" altLang="zh-CN" sz="2400" i="1" dirty="0" err="1">
                          <a:solidFill>
                            <a:schemeClr val="tx1"/>
                          </a:solidFill>
                          <a:latin typeface="Times New Roman" panose="02020603050405020304" pitchFamily="18" charset="0"/>
                        </a:rPr>
                        <a:t>q</a:t>
                      </a:r>
                      <a:endParaRPr lang="en-US" altLang="zh-CN" sz="2400" b="1" i="1" dirty="0" err="1">
                        <a:solidFill>
                          <a:schemeClr val="tx1"/>
                        </a:solidFill>
                        <a:latin typeface="Times New Roman" panose="02020603050405020304" pitchFamily="18" charset="0"/>
                      </a:endParaRPr>
                    </a:p>
                  </a:txBody>
                  <a:tcPr marL="91432" marR="91432" marT="45726" marB="45726" anchor="ctr"/>
                </a:tc>
                <a:tc>
                  <a:txBody>
                    <a:bodyPr/>
                    <a:lstStyle/>
                    <a:p>
                      <a:pPr marL="0" algn="ctr" defTabSz="914400" rtl="0" eaLnBrk="1" latinLnBrk="0" hangingPunct="1"/>
                      <a:r>
                        <a:rPr lang="en-US" altLang="zh-CN" sz="2400" i="1" dirty="0">
                          <a:solidFill>
                            <a:schemeClr val="tx1"/>
                          </a:solidFill>
                          <a:latin typeface="Times New Roman" panose="02020603050405020304" pitchFamily="18" charset="0"/>
                          <a:sym typeface="Symbol" panose="05050102010706020507" charset="0"/>
                        </a:rPr>
                        <a:t></a:t>
                      </a:r>
                      <a:r>
                        <a:rPr lang="en-US" altLang="zh-CN" sz="2400" b="1" i="1" kern="1200" dirty="0">
                          <a:solidFill>
                            <a:schemeClr val="tx1"/>
                          </a:solidFill>
                          <a:latin typeface="Times New Roman" panose="02020603050405020304" pitchFamily="18" charset="0"/>
                          <a:ea typeface="+mn-ea"/>
                          <a:cs typeface="+mn-cs"/>
                        </a:rPr>
                        <a:t>q </a:t>
                      </a:r>
                      <a:r>
                        <a:rPr lang="en-US" altLang="zh-CN" sz="2400" b="1" i="1" kern="1200" dirty="0">
                          <a:solidFill>
                            <a:schemeClr val="tx1"/>
                          </a:solidFill>
                          <a:latin typeface="Times New Roman" panose="02020603050405020304" pitchFamily="18" charset="0"/>
                          <a:ea typeface="+mn-ea"/>
                          <a:cs typeface="+mn-cs"/>
                          <a:sym typeface="Symbol" panose="05050102010706020507" pitchFamily="18" charset="2"/>
                        </a:rPr>
                        <a:t></a:t>
                      </a:r>
                      <a:r>
                        <a:rPr lang="en-US" altLang="zh-CN" sz="2400" b="1" i="1" kern="1200" dirty="0">
                          <a:solidFill>
                            <a:schemeClr val="tx1"/>
                          </a:solidFill>
                          <a:latin typeface="Times New Roman" panose="02020603050405020304" pitchFamily="18" charset="0"/>
                          <a:ea typeface="+mn-ea"/>
                          <a:cs typeface="+mn-cs"/>
                        </a:rPr>
                        <a:t> </a:t>
                      </a:r>
                      <a:r>
                        <a:rPr lang="en-US" altLang="zh-CN" sz="2400" i="1" dirty="0">
                          <a:solidFill>
                            <a:schemeClr val="tx1"/>
                          </a:solidFill>
                          <a:latin typeface="Times New Roman" panose="02020603050405020304" pitchFamily="18" charset="0"/>
                          <a:sym typeface="Symbol" panose="05050102010706020507" charset="0"/>
                        </a:rPr>
                        <a:t></a:t>
                      </a:r>
                      <a:r>
                        <a:rPr lang="en-US" altLang="zh-CN" sz="2400" b="1" i="1" kern="1200" dirty="0">
                          <a:solidFill>
                            <a:schemeClr val="tx1"/>
                          </a:solidFill>
                          <a:latin typeface="Times New Roman" panose="02020603050405020304" pitchFamily="18" charset="0"/>
                          <a:ea typeface="+mn-ea"/>
                          <a:cs typeface="+mn-cs"/>
                        </a:rPr>
                        <a:t>p </a:t>
                      </a:r>
                    </a:p>
                  </a:txBody>
                  <a:tcPr marL="91432" marR="91432" marT="45726" marB="45726" anchor="ctr"/>
                </a:tc>
                <a:extLst>
                  <a:ext uri="{0D108BD9-81ED-4DB2-BD59-A6C34878D82A}">
                    <a16:rowId xmlns:a16="http://schemas.microsoft.com/office/drawing/2014/main" val="10000"/>
                  </a:ext>
                </a:extLst>
              </a:tr>
              <a:tr h="396240">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extLst>
                  <a:ext uri="{0D108BD9-81ED-4DB2-BD59-A6C34878D82A}">
                    <a16:rowId xmlns:a16="http://schemas.microsoft.com/office/drawing/2014/main" val="10001"/>
                  </a:ext>
                </a:extLst>
              </a:tr>
              <a:tr h="372177">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extLst>
                  <a:ext uri="{0D108BD9-81ED-4DB2-BD59-A6C34878D82A}">
                    <a16:rowId xmlns:a16="http://schemas.microsoft.com/office/drawing/2014/main" val="10002"/>
                  </a:ext>
                </a:extLst>
              </a:tr>
              <a:tr h="372110">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extLst>
                  <a:ext uri="{0D108BD9-81ED-4DB2-BD59-A6C34878D82A}">
                    <a16:rowId xmlns:a16="http://schemas.microsoft.com/office/drawing/2014/main" val="10003"/>
                  </a:ext>
                </a:extLst>
              </a:tr>
              <a:tr h="372177">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0</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tc>
                  <a:txBody>
                    <a:bodyPr/>
                    <a:lstStyle/>
                    <a:p>
                      <a:pPr algn="ctr"/>
                      <a:r>
                        <a:rPr lang="en-US" altLang="zh-CN" sz="2000" b="0" dirty="0">
                          <a:solidFill>
                            <a:schemeClr val="tx1"/>
                          </a:solidFill>
                        </a:rPr>
                        <a:t>1</a:t>
                      </a:r>
                    </a:p>
                  </a:txBody>
                  <a:tcPr marL="91432" marR="91432" marT="45726" marB="45726" anchor="ctr"/>
                </a:tc>
                <a:extLst>
                  <a:ext uri="{0D108BD9-81ED-4DB2-BD59-A6C34878D82A}">
                    <a16:rowId xmlns:a16="http://schemas.microsoft.com/office/drawing/2014/main" val="10004"/>
                  </a:ext>
                </a:extLst>
              </a:tr>
            </a:tbl>
          </a:graphicData>
        </a:graphic>
      </p:graphicFrame>
      <p:sp>
        <p:nvSpPr>
          <p:cNvPr id="6" name="矩形: 圆角 6"/>
          <p:cNvSpPr/>
          <p:nvPr/>
        </p:nvSpPr>
        <p:spPr>
          <a:xfrm>
            <a:off x="4644390" y="2856865"/>
            <a:ext cx="1022985" cy="2157095"/>
          </a:xfrm>
          <a:prstGeom prst="roundRect">
            <a:avLst>
              <a:gd name="adj" fmla="val 16667"/>
            </a:avLst>
          </a:prstGeom>
          <a:noFill/>
          <a:ln w="38100" cap="flat" cmpd="sng">
            <a:solidFill>
              <a:srgbClr val="FF33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742950" lvl="0" indent="-285750" eaLnBrk="1" hangingPunct="1">
              <a:lnSpc>
                <a:spcPct val="90000"/>
              </a:lnSpc>
              <a:buClr>
                <a:schemeClr val="hlink"/>
              </a:buClr>
              <a:buSzPct val="55000"/>
            </a:pPr>
            <a:endParaRPr lang="zh-CN" altLang="en-US" dirty="0">
              <a:latin typeface="Times New Roman" panose="02020603050405020304" pitchFamily="18" charset="0"/>
              <a:ea typeface="Times New Roman" panose="02020603050405020304" pitchFamily="18" charset="0"/>
            </a:endParaRPr>
          </a:p>
        </p:txBody>
      </p:sp>
      <p:sp>
        <p:nvSpPr>
          <p:cNvPr id="8" name="矩形: 圆角 28"/>
          <p:cNvSpPr/>
          <p:nvPr/>
        </p:nvSpPr>
        <p:spPr>
          <a:xfrm>
            <a:off x="5868035" y="2856865"/>
            <a:ext cx="1280795" cy="2177415"/>
          </a:xfrm>
          <a:prstGeom prst="roundRect">
            <a:avLst>
              <a:gd name="adj" fmla="val 16667"/>
            </a:avLst>
          </a:prstGeom>
          <a:noFill/>
          <a:ln w="38100" cap="flat" cmpd="sng">
            <a:solidFill>
              <a:srgbClr val="FF33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742950" lvl="0" indent="-285750" eaLnBrk="1" hangingPunct="1">
              <a:lnSpc>
                <a:spcPct val="90000"/>
              </a:lnSpc>
              <a:buClr>
                <a:schemeClr val="hlink"/>
              </a:buClr>
              <a:buSzPct val="55000"/>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650" y="-26670"/>
            <a:ext cx="8369935" cy="1188720"/>
          </a:xfrm>
        </p:spPr>
        <p:txBody>
          <a:bodyPr/>
          <a:lstStyle/>
          <a:p>
            <a:r>
              <a:rPr lang="en-US" altLang="zh-CN" sz="4000" b="1" dirty="0">
                <a:solidFill>
                  <a:schemeClr val="tx2"/>
                </a:solidFill>
                <a:cs typeface="+mj-cs"/>
              </a:rPr>
              <a:t>Using a Truth Table to Show Non-Equivalence</a:t>
            </a:r>
          </a:p>
        </p:txBody>
      </p:sp>
      <p:sp>
        <p:nvSpPr>
          <p:cNvPr id="3" name="Content Placeholder 2"/>
          <p:cNvSpPr>
            <a:spLocks noGrp="1"/>
          </p:cNvSpPr>
          <p:nvPr>
            <p:ph idx="1"/>
          </p:nvPr>
        </p:nvSpPr>
        <p:spPr>
          <a:xfrm>
            <a:off x="755650" y="1196975"/>
            <a:ext cx="8321040" cy="2085340"/>
          </a:xfrm>
        </p:spPr>
        <p:txBody>
          <a:bodyPr/>
          <a:lstStyle/>
          <a:p>
            <a:r>
              <a:rPr lang="en-US" b="1" dirty="0"/>
              <a:t> </a:t>
            </a: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Show using truth tables that neither  the converse nor inverse of an implication are not equivalent to the implication.</a:t>
            </a:r>
          </a:p>
          <a:p>
            <a:r>
              <a:rPr lang="en-US" b="1" dirty="0">
                <a:latin typeface="Times New Roman" panose="02020603050405020304" pitchFamily="18" charset="0"/>
                <a:cs typeface="Times New Roman" panose="02020603050405020304" pitchFamily="18" charset="0"/>
              </a:rPr>
              <a:t>Solution:</a:t>
            </a:r>
          </a:p>
        </p:txBody>
      </p:sp>
      <p:graphicFrame>
        <p:nvGraphicFramePr>
          <p:cNvPr id="4" name="Table 3"/>
          <p:cNvGraphicFramePr>
            <a:graphicFrameLocks noGrp="1"/>
          </p:cNvGraphicFramePr>
          <p:nvPr>
            <p:custDataLst>
              <p:tags r:id="rId1"/>
            </p:custDataLst>
          </p:nvPr>
        </p:nvGraphicFramePr>
        <p:xfrm>
          <a:off x="935990" y="3645535"/>
          <a:ext cx="7545070" cy="2651760"/>
        </p:xfrm>
        <a:graphic>
          <a:graphicData uri="http://schemas.openxmlformats.org/drawingml/2006/table">
            <a:tbl>
              <a:tblPr firstRow="1" bandRow="1">
                <a:tableStyleId>{21E4AEA4-8DFA-4A89-87EB-49C32662AFE0}</a:tableStyleId>
              </a:tblPr>
              <a:tblGrid>
                <a:gridCol w="1005840">
                  <a:extLst>
                    <a:ext uri="{9D8B030D-6E8A-4147-A177-3AD203B41FA5}">
                      <a16:colId xmlns:a16="http://schemas.microsoft.com/office/drawing/2014/main" val="20000"/>
                    </a:ext>
                  </a:extLst>
                </a:gridCol>
                <a:gridCol w="1006475">
                  <a:extLst>
                    <a:ext uri="{9D8B030D-6E8A-4147-A177-3AD203B41FA5}">
                      <a16:colId xmlns:a16="http://schemas.microsoft.com/office/drawing/2014/main" val="20001"/>
                    </a:ext>
                  </a:extLst>
                </a:gridCol>
                <a:gridCol w="1006475">
                  <a:extLst>
                    <a:ext uri="{9D8B030D-6E8A-4147-A177-3AD203B41FA5}">
                      <a16:colId xmlns:a16="http://schemas.microsoft.com/office/drawing/2014/main" val="20002"/>
                    </a:ext>
                  </a:extLst>
                </a:gridCol>
                <a:gridCol w="1006475">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363980">
                  <a:extLst>
                    <a:ext uri="{9D8B030D-6E8A-4147-A177-3AD203B41FA5}">
                      <a16:colId xmlns:a16="http://schemas.microsoft.com/office/drawing/2014/main" val="20005"/>
                    </a:ext>
                  </a:extLst>
                </a:gridCol>
                <a:gridCol w="1149985">
                  <a:extLst>
                    <a:ext uri="{9D8B030D-6E8A-4147-A177-3AD203B41FA5}">
                      <a16:colId xmlns:a16="http://schemas.microsoft.com/office/drawing/2014/main" val="20006"/>
                    </a:ext>
                  </a:extLst>
                </a:gridCol>
              </a:tblGrid>
              <a:tr h="822960">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400"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sym typeface="+mn-ea"/>
                        </a:rPr>
                        <a:t>p</a:t>
                      </a:r>
                      <a:endPar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sym typeface="+mn-e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400"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sym typeface="+mn-ea"/>
                        </a:rPr>
                        <a:t>q</a:t>
                      </a:r>
                      <a:endPar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sym typeface="+mn-ea"/>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400" b="1" i="0" dirty="0">
                          <a:solidFill>
                            <a:schemeClr val="tx1"/>
                          </a:solidFill>
                          <a:latin typeface="Times New Roman" panose="02020603050405020304" pitchFamily="18" charset="0"/>
                          <a:ea typeface="Cambria Math" panose="02040503050406030204"/>
                          <a:cs typeface="Times New Roman" panose="02020603050405020304" pitchFamily="18" charset="0"/>
                        </a:rPr>
                        <a:t>¬</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p</a:t>
                      </a:r>
                      <a:endParaRPr lang="en-US" sz="2400" b="1" i="1" kern="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400" b="1" i="0" dirty="0">
                          <a:solidFill>
                            <a:schemeClr val="tx1"/>
                          </a:solidFill>
                          <a:latin typeface="Times New Roman" panose="02020603050405020304" pitchFamily="18" charset="0"/>
                          <a:ea typeface="Cambria Math" panose="02040503050406030204"/>
                          <a:cs typeface="Times New Roman" panose="02020603050405020304" pitchFamily="18" charset="0"/>
                        </a:rPr>
                        <a:t> ¬</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q</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p</a:t>
                      </a:r>
                      <a:r>
                        <a:rPr lang="en-US" sz="2400" b="1" i="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 </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q</a:t>
                      </a:r>
                      <a:r>
                        <a:rPr lang="en-US" sz="2400" b="1" i="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400" b="1" i="0" dirty="0">
                          <a:solidFill>
                            <a:schemeClr val="tx1"/>
                          </a:solidFill>
                          <a:latin typeface="Times New Roman" panose="02020603050405020304" pitchFamily="18" charset="0"/>
                          <a:ea typeface="Cambria Math" panose="02040503050406030204"/>
                          <a:cs typeface="Times New Roman" panose="02020603050405020304" pitchFamily="18" charset="0"/>
                        </a:rPr>
                        <a:t>¬</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p</a:t>
                      </a:r>
                      <a:r>
                        <a:rPr lang="en-US" sz="2400" b="1" i="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 </a:t>
                      </a:r>
                      <a:r>
                        <a:rPr lang="en-US" sz="2400" b="1" i="0" dirty="0">
                          <a:solidFill>
                            <a:schemeClr val="tx1"/>
                          </a:solidFill>
                          <a:latin typeface="Times New Roman" panose="02020603050405020304" pitchFamily="18" charset="0"/>
                          <a:ea typeface="Cambria Math" panose="02040503050406030204"/>
                          <a:cs typeface="Times New Roman" panose="02020603050405020304" pitchFamily="18" charset="0"/>
                        </a:rPr>
                        <a:t>¬</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q</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q</a:t>
                      </a:r>
                      <a:r>
                        <a:rPr lang="en-US" sz="2400" b="1" i="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 </a:t>
                      </a:r>
                      <a:r>
                        <a:rPr lang="en-US" sz="2400" b="1" i="1"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p</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57200">
                <a:tc>
                  <a:txBody>
                    <a:bodyPr/>
                    <a:lstStyle/>
                    <a:p>
                      <a:r>
                        <a:rPr lang="en-US" sz="2400" dirty="0">
                          <a:latin typeface="Times New Roman" panose="02020603050405020304" pitchFamily="18" charset="0"/>
                          <a:cs typeface="Times New Roman" panose="02020603050405020304" pitchFamily="18" charset="0"/>
                        </a:rPr>
                        <a:t>T</a:t>
                      </a:r>
                      <a:endParaRPr lang="en-US" sz="2400" b="0" dirty="0">
                        <a:latin typeface="Times New Roman" panose="02020603050405020304" pitchFamily="18" charset="0"/>
                        <a:cs typeface="Times New Roman" panose="02020603050405020304" pitchFamily="18"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dirty="0">
                          <a:latin typeface="Times New Roman" panose="02020603050405020304" pitchFamily="18" charset="0"/>
                          <a:cs typeface="Times New Roman" panose="02020603050405020304" pitchFamily="18" charset="0"/>
                        </a:rPr>
                        <a:t>T</a:t>
                      </a:r>
                      <a:endParaRPr lang="en-US" sz="2400" b="0" dirty="0">
                        <a:latin typeface="Times New Roman" panose="02020603050405020304" pitchFamily="18" charset="0"/>
                        <a:cs typeface="Times New Roman" panose="02020603050405020304" pitchFamily="18"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7200">
                <a:tc>
                  <a:txBody>
                    <a:bodyPr/>
                    <a:lstStyle/>
                    <a:p>
                      <a:r>
                        <a:rPr lang="en-US" sz="2400" dirty="0">
                          <a:latin typeface="Times New Roman" panose="02020603050405020304" pitchFamily="18" charset="0"/>
                          <a:cs typeface="Times New Roman" panose="02020603050405020304" pitchFamily="18" charset="0"/>
                        </a:rPr>
                        <a:t>T</a:t>
                      </a:r>
                      <a:endParaRPr lang="en-US" sz="2400" b="0" dirty="0">
                        <a:latin typeface="Times New Roman" panose="02020603050405020304" pitchFamily="18" charset="0"/>
                        <a:cs typeface="Times New Roman" panose="02020603050405020304" pitchFamily="18"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dirty="0">
                          <a:latin typeface="Times New Roman" panose="02020603050405020304" pitchFamily="18" charset="0"/>
                          <a:cs typeface="Times New Roman" panose="02020603050405020304" pitchFamily="18" charset="0"/>
                        </a:rPr>
                        <a:t>F</a:t>
                      </a:r>
                      <a:endParaRPr lang="en-US" sz="2400" b="0" dirty="0">
                        <a:latin typeface="Times New Roman" panose="02020603050405020304" pitchFamily="18" charset="0"/>
                        <a:cs typeface="Times New Roman" panose="02020603050405020304" pitchFamily="18"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720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400" b="0" kern="1200" dirty="0">
                          <a:solidFill>
                            <a:schemeClr val="dk1"/>
                          </a:solidFill>
                          <a:latin typeface="Times New Roman" panose="02020603050405020304" pitchFamily="18" charset="0"/>
                          <a:ea typeface="+mn-ea"/>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720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F</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400" b="0" kern="1200" dirty="0">
                          <a:solidFill>
                            <a:schemeClr val="dk1"/>
                          </a:solidFill>
                          <a:latin typeface="Times New Roman" panose="02020603050405020304" pitchFamily="18" charset="0"/>
                          <a:ea typeface="+mn-ea"/>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b="0" dirty="0">
                          <a:latin typeface="Times New Roman" panose="02020603050405020304" pitchFamily="18" charset="0"/>
                          <a:cs typeface="Times New Roman" panose="02020603050405020304" pitchFamily="18" charset="0"/>
                        </a:rPr>
                        <a:t>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5" name="Rectangle 4"/>
          <p:cNvSpPr/>
          <p:nvPr/>
        </p:nvSpPr>
        <p:spPr>
          <a:xfrm>
            <a:off x="4859655" y="4941570"/>
            <a:ext cx="3733800" cy="381000"/>
          </a:xfrm>
          <a:prstGeom prst="rect">
            <a:avLst/>
          </a:prstGeom>
          <a:noFill/>
          <a:ln w="38100">
            <a:solidFill>
              <a:srgbClr val="0461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301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301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3013" name="Rectangle 2"/>
          <p:cNvSpPr>
            <a:spLocks noGrp="1"/>
          </p:cNvSpPr>
          <p:nvPr>
            <p:ph type="title"/>
          </p:nvPr>
        </p:nvSpPr>
        <p:spPr/>
        <p:txBody>
          <a:bodyPr vert="horz" wrap="square" lIns="91440" tIns="45720" rIns="91440" bIns="45720" anchor="b" anchorCtr="0"/>
          <a:lstStyle/>
          <a:p>
            <a:pPr eaLnBrk="1" hangingPunct="1"/>
            <a:r>
              <a:rPr lang="en-US" altLang="zh-CN" dirty="0"/>
              <a:t>Example</a:t>
            </a:r>
          </a:p>
        </p:txBody>
      </p:sp>
      <p:sp>
        <p:nvSpPr>
          <p:cNvPr id="43014" name="Rectangle 3"/>
          <p:cNvSpPr>
            <a:spLocks noGrp="1"/>
          </p:cNvSpPr>
          <p:nvPr>
            <p:ph idx="1"/>
          </p:nvPr>
        </p:nvSpPr>
        <p:spPr>
          <a:xfrm>
            <a:off x="1042988" y="1156653"/>
            <a:ext cx="7912100" cy="4114800"/>
          </a:xfrm>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Find the converse,inverse and contrapositive of the following statement:</a:t>
            </a:r>
          </a:p>
          <a:p>
            <a:pPr eaLnBrk="1" hangingPunct="1">
              <a:lnSpc>
                <a:spcPct val="90000"/>
              </a:lnSpc>
              <a:buNone/>
            </a:pPr>
            <a:r>
              <a:rPr lang="en-US" altLang="zh-CN" i="1" dirty="0">
                <a:latin typeface="Times New Roman" panose="02020603050405020304" pitchFamily="18" charset="0"/>
              </a:rPr>
              <a:t>r</a:t>
            </a:r>
            <a:r>
              <a:rPr lang="en-US" altLang="zh-CN" dirty="0">
                <a:latin typeface="Times New Roman" panose="02020603050405020304" pitchFamily="18" charset="0"/>
              </a:rPr>
              <a:t>: ‘Raining tomorrow is a sufficient condition for my not going to town.’</a:t>
            </a:r>
          </a:p>
          <a:p>
            <a:pPr eaLnBrk="1" hangingPunct="1">
              <a:lnSpc>
                <a:spcPct val="90000"/>
              </a:lnSpc>
            </a:pPr>
            <a:r>
              <a:rPr lang="en-US" altLang="zh-CN" dirty="0">
                <a:latin typeface="Times New Roman" panose="02020603050405020304" pitchFamily="18" charset="0"/>
              </a:rPr>
              <a:t>Step 1: Assign propositional variables to component propositions</a:t>
            </a:r>
          </a:p>
          <a:p>
            <a:pPr lvl="1" eaLnBrk="1" hangingPunct="1">
              <a:lnSpc>
                <a:spcPct val="90000"/>
              </a:lnSpc>
            </a:pPr>
            <a:r>
              <a:rPr lang="en-US" altLang="zh-CN" i="1" dirty="0">
                <a:latin typeface="Times New Roman" panose="02020603050405020304" pitchFamily="18" charset="0"/>
              </a:rPr>
              <a:t>p</a:t>
            </a:r>
            <a:r>
              <a:rPr lang="en-US" altLang="zh-CN" dirty="0">
                <a:latin typeface="Times New Roman" panose="02020603050405020304" pitchFamily="18" charset="0"/>
              </a:rPr>
              <a:t>: It will rain tomorrow</a:t>
            </a:r>
          </a:p>
          <a:p>
            <a:pPr lvl="1" eaLnBrk="1" hangingPunct="1">
              <a:lnSpc>
                <a:spcPct val="90000"/>
              </a:lnSpc>
            </a:pPr>
            <a:r>
              <a:rPr lang="en-US" altLang="zh-CN" i="1" dirty="0">
                <a:latin typeface="Times New Roman" panose="02020603050405020304" pitchFamily="18" charset="0"/>
              </a:rPr>
              <a:t>q</a:t>
            </a:r>
            <a:r>
              <a:rPr lang="en-US" altLang="zh-CN" dirty="0">
                <a:latin typeface="Times New Roman" panose="02020603050405020304" pitchFamily="18" charset="0"/>
              </a:rPr>
              <a:t>: I will go to town</a:t>
            </a:r>
            <a:endParaRPr lang="en-US" altLang="zh-CN"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35</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4035"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4036"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4037" name="Rectangle 2"/>
          <p:cNvSpPr>
            <a:spLocks noGrp="1"/>
          </p:cNvSpPr>
          <p:nvPr>
            <p:ph type="title"/>
          </p:nvPr>
        </p:nvSpPr>
        <p:spPr/>
        <p:txBody>
          <a:bodyPr vert="horz" wrap="square" lIns="91440" tIns="45720" rIns="91440" bIns="45720" anchor="b" anchorCtr="0"/>
          <a:lstStyle/>
          <a:p>
            <a:pPr eaLnBrk="1" hangingPunct="1"/>
            <a:r>
              <a:rPr lang="en-US" altLang="zh-CN" dirty="0"/>
              <a:t>Example</a:t>
            </a:r>
          </a:p>
        </p:txBody>
      </p:sp>
      <p:sp>
        <p:nvSpPr>
          <p:cNvPr id="44038" name="Rectangle 3"/>
          <p:cNvSpPr>
            <a:spLocks noGrp="1"/>
          </p:cNvSpPr>
          <p:nvPr>
            <p:ph idx="1"/>
          </p:nvPr>
        </p:nvSpPr>
        <p:spPr>
          <a:xfrm>
            <a:off x="1182688" y="1268730"/>
            <a:ext cx="7772400" cy="4114800"/>
          </a:xfrm>
        </p:spPr>
        <p:txBody>
          <a:bodyPr vert="horz" wrap="square" lIns="91440" tIns="45720" rIns="91440" bIns="45720" anchor="t" anchorCtr="0"/>
          <a:lstStyle/>
          <a:p>
            <a:pPr eaLnBrk="1" hangingPunct="1">
              <a:lnSpc>
                <a:spcPct val="90000"/>
              </a:lnSpc>
            </a:pPr>
            <a:r>
              <a:rPr lang="en-US" altLang="zh-CN" sz="2800" dirty="0">
                <a:latin typeface="Times New Roman" panose="02020603050405020304" pitchFamily="18" charset="0"/>
              </a:rPr>
              <a:t>Step 2: Symbolize the assertion</a:t>
            </a:r>
          </a:p>
          <a:p>
            <a:pPr lvl="1" eaLnBrk="1" hangingPunct="1">
              <a:lnSpc>
                <a:spcPct val="90000"/>
              </a:lnSpc>
            </a:pPr>
            <a:r>
              <a:rPr lang="en-US" altLang="zh-CN" sz="2400" i="1" dirty="0">
                <a:latin typeface="Times New Roman" panose="02020603050405020304" pitchFamily="18" charset="0"/>
              </a:rPr>
              <a:t>r</a:t>
            </a:r>
            <a:r>
              <a:rPr lang="en-US" altLang="zh-CN" sz="2400" dirty="0">
                <a:latin typeface="Times New Roman" panose="02020603050405020304" pitchFamily="18" charset="0"/>
              </a:rPr>
              <a:t>: </a:t>
            </a:r>
            <a:r>
              <a:rPr lang="en-US" altLang="zh-CN" sz="2400" i="1" dirty="0">
                <a:latin typeface="Times New Roman" panose="02020603050405020304" pitchFamily="18" charset="0"/>
                <a:cs typeface="+mn-ea"/>
              </a:rPr>
              <a:t>p</a:t>
            </a:r>
            <a:r>
              <a:rPr lang="en-US" altLang="zh-CN" sz="2400" dirty="0">
                <a:latin typeface="Times New Roman" panose="02020603050405020304" pitchFamily="18" charset="0"/>
              </a:rPr>
              <a:t> </a:t>
            </a:r>
            <a:r>
              <a:rPr lang="en-US" altLang="zh-CN" sz="2400" dirty="0">
                <a:latin typeface="Symbol" panose="05050102010706020507" pitchFamily="18" charset="2"/>
                <a:sym typeface="Symbol" panose="05050102010706020507" pitchFamily="18" charset="2"/>
              </a:rPr>
              <a:t> </a:t>
            </a:r>
            <a:r>
              <a:rPr lang="en-US" altLang="zh-CN" sz="2400" dirty="0">
                <a:latin typeface="Times New Roman" panose="02020603050405020304" pitchFamily="18" charset="0"/>
              </a:rPr>
              <a:t> </a:t>
            </a:r>
            <a:r>
              <a:rPr lang="en-US" altLang="zh-CN" sz="2400" i="1" dirty="0">
                <a:latin typeface="Times New Roman" panose="02020603050405020304" pitchFamily="18" charset="0"/>
                <a:cs typeface="+mn-ea"/>
              </a:rPr>
              <a:t>q</a:t>
            </a:r>
            <a:endParaRPr lang="en-US" altLang="zh-CN" sz="2400" dirty="0">
              <a:latin typeface="Times New Roman" panose="02020603050405020304" pitchFamily="18" charset="0"/>
            </a:endParaRPr>
          </a:p>
          <a:p>
            <a:pPr eaLnBrk="1" hangingPunct="1">
              <a:lnSpc>
                <a:spcPct val="90000"/>
              </a:lnSpc>
            </a:pPr>
            <a:r>
              <a:rPr lang="en-US" altLang="zh-CN" sz="2800" dirty="0">
                <a:latin typeface="Times New Roman" panose="02020603050405020304" pitchFamily="18" charset="0"/>
              </a:rPr>
              <a:t>Step 3: Symbolize the converse</a:t>
            </a:r>
          </a:p>
          <a:p>
            <a:pPr lvl="1" eaLnBrk="1" hangingPunct="1">
              <a:lnSpc>
                <a:spcPct val="90000"/>
              </a:lnSpc>
            </a:pPr>
            <a:r>
              <a:rPr lang="en-US" altLang="zh-CN" sz="2400" dirty="0">
                <a:latin typeface="Times New Roman" panose="02020603050405020304" pitchFamily="18" charset="0"/>
              </a:rPr>
              <a:t> </a:t>
            </a:r>
            <a:r>
              <a:rPr lang="en-US" altLang="zh-CN" sz="2400" dirty="0">
                <a:latin typeface="Symbol" panose="05050102010706020507" pitchFamily="18" charset="2"/>
                <a:sym typeface="Symbol" panose="05050102010706020507" pitchFamily="18" charset="2"/>
              </a:rPr>
              <a:t> </a:t>
            </a:r>
            <a:r>
              <a:rPr lang="en-US" altLang="zh-CN" sz="2400" i="1" dirty="0">
                <a:latin typeface="Times New Roman" panose="02020603050405020304" pitchFamily="18" charset="0"/>
                <a:cs typeface="+mn-ea"/>
              </a:rPr>
              <a:t>q</a:t>
            </a:r>
            <a:r>
              <a:rPr lang="en-US" altLang="zh-CN" sz="2400" dirty="0">
                <a:latin typeface="Times New Roman" panose="02020603050405020304" pitchFamily="18" charset="0"/>
              </a:rPr>
              <a:t> </a:t>
            </a:r>
            <a:r>
              <a:rPr lang="en-US" altLang="zh-CN" sz="2400" dirty="0">
                <a:latin typeface="Symbol" panose="05050102010706020507" pitchFamily="18" charset="2"/>
                <a:sym typeface="Symbol" panose="05050102010706020507" pitchFamily="18" charset="2"/>
              </a:rPr>
              <a:t></a:t>
            </a:r>
            <a:r>
              <a:rPr lang="en-US" altLang="zh-CN" sz="2400" i="1" dirty="0">
                <a:latin typeface="Times New Roman" panose="02020603050405020304" pitchFamily="18" charset="0"/>
              </a:rPr>
              <a:t>p</a:t>
            </a:r>
            <a:endParaRPr lang="en-US" altLang="zh-CN" sz="2400" dirty="0">
              <a:latin typeface="Times New Roman" panose="02020603050405020304" pitchFamily="18" charset="0"/>
            </a:endParaRPr>
          </a:p>
          <a:p>
            <a:pPr eaLnBrk="1" hangingPunct="1">
              <a:lnSpc>
                <a:spcPct val="90000"/>
              </a:lnSpc>
            </a:pPr>
            <a:r>
              <a:rPr lang="en-US" altLang="zh-CN" sz="2800" dirty="0">
                <a:latin typeface="Times New Roman" panose="02020603050405020304" pitchFamily="18" charset="0"/>
              </a:rPr>
              <a:t>Step 4: Convert the symbols back into words</a:t>
            </a:r>
          </a:p>
          <a:p>
            <a:pPr lvl="1" eaLnBrk="1" hangingPunct="1">
              <a:lnSpc>
                <a:spcPct val="90000"/>
              </a:lnSpc>
            </a:pPr>
            <a:r>
              <a:rPr lang="en-US" altLang="zh-CN" sz="2400" dirty="0">
                <a:latin typeface="Times New Roman" panose="02020603050405020304" pitchFamily="18" charset="0"/>
              </a:rPr>
              <a:t>‘If I don’t go to town then it will rain tomorrow’</a:t>
            </a:r>
          </a:p>
          <a:p>
            <a:pPr lvl="1" eaLnBrk="1" hangingPunct="1">
              <a:lnSpc>
                <a:spcPct val="90000"/>
              </a:lnSpc>
              <a:buNone/>
            </a:pPr>
            <a:r>
              <a:rPr lang="en-US" altLang="zh-CN" sz="2400" dirty="0">
                <a:latin typeface="Times New Roman" panose="02020603050405020304" pitchFamily="18" charset="0"/>
              </a:rPr>
              <a:t>or</a:t>
            </a:r>
          </a:p>
          <a:p>
            <a:pPr lvl="1" eaLnBrk="1" hangingPunct="1">
              <a:lnSpc>
                <a:spcPct val="90000"/>
              </a:lnSpc>
            </a:pPr>
            <a:r>
              <a:rPr lang="en-US" altLang="zh-CN" sz="2400" dirty="0">
                <a:latin typeface="Times New Roman" panose="02020603050405020304" pitchFamily="18" charset="0"/>
              </a:rPr>
              <a:t>‘Raining tomorrow is a </a:t>
            </a:r>
            <a:r>
              <a:rPr lang="en-US" altLang="zh-CN" sz="2400" i="1" dirty="0">
                <a:latin typeface="Times New Roman" panose="02020603050405020304" pitchFamily="18" charset="0"/>
              </a:rPr>
              <a:t>necessary condition </a:t>
            </a:r>
            <a:r>
              <a:rPr lang="en-US" altLang="zh-CN" sz="2400" dirty="0">
                <a:latin typeface="Times New Roman" panose="02020603050405020304" pitchFamily="18" charset="0"/>
              </a:rPr>
              <a:t>for my not going to town.’</a:t>
            </a:r>
          </a:p>
          <a:p>
            <a:pPr lvl="1" eaLnBrk="1" hangingPunct="1">
              <a:lnSpc>
                <a:spcPct val="90000"/>
              </a:lnSpc>
              <a:buNone/>
            </a:pPr>
            <a:r>
              <a:rPr lang="en-US" altLang="zh-CN" sz="2400" dirty="0">
                <a:latin typeface="Times New Roman" panose="02020603050405020304" pitchFamily="18" charset="0"/>
              </a:rPr>
              <a:t>or</a:t>
            </a:r>
          </a:p>
          <a:p>
            <a:pPr lvl="1" eaLnBrk="1" hangingPunct="1">
              <a:lnSpc>
                <a:spcPct val="90000"/>
              </a:lnSpc>
            </a:pPr>
            <a:r>
              <a:rPr lang="en-US" altLang="zh-CN" sz="2400" dirty="0">
                <a:latin typeface="Times New Roman" panose="02020603050405020304" pitchFamily="18" charset="0"/>
              </a:rPr>
              <a:t>‘My not going to town is a </a:t>
            </a:r>
            <a:r>
              <a:rPr lang="en-US" altLang="zh-CN" sz="2400" i="1" dirty="0">
                <a:latin typeface="Times New Roman" panose="02020603050405020304" pitchFamily="18" charset="0"/>
              </a:rPr>
              <a:t>sufficient condition </a:t>
            </a:r>
            <a:r>
              <a:rPr lang="en-US" altLang="zh-CN" sz="2400" dirty="0">
                <a:latin typeface="Times New Roman" panose="02020603050405020304" pitchFamily="18" charset="0"/>
              </a:rPr>
              <a:t>for it raining tomorrow.’</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36</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505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506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5061" name="Rectangle 2"/>
          <p:cNvSpPr>
            <a:spLocks noGrp="1"/>
          </p:cNvSpPr>
          <p:nvPr>
            <p:ph type="title"/>
          </p:nvPr>
        </p:nvSpPr>
        <p:spPr>
          <a:xfrm>
            <a:off x="827405" y="280035"/>
            <a:ext cx="8128000" cy="819785"/>
          </a:xfrm>
        </p:spPr>
        <p:txBody>
          <a:bodyPr vert="horz" wrap="square" lIns="91440" tIns="45720" rIns="91440" bIns="45720" anchor="b" anchorCtr="0"/>
          <a:lstStyle/>
          <a:p>
            <a:pPr eaLnBrk="1" hangingPunct="1"/>
            <a:r>
              <a:rPr lang="en-US" altLang="zh-CN" sz="4000" b="1" dirty="0"/>
              <a:t>Biconditional </a:t>
            </a:r>
            <a:br>
              <a:rPr lang="en-US" altLang="zh-CN" sz="4000" b="1" dirty="0"/>
            </a:br>
            <a:r>
              <a:rPr lang="en-US" altLang="zh-CN" sz="4000" dirty="0"/>
              <a:t>‘if and only if’, ‘iff’:</a:t>
            </a:r>
            <a:r>
              <a:rPr lang="en-US" altLang="zh-CN" sz="4000" dirty="0">
                <a:latin typeface="Times New Roman" panose="02020603050405020304" pitchFamily="18" charset="0"/>
              </a:rPr>
              <a:t> </a:t>
            </a:r>
            <a:r>
              <a:rPr lang="en-US" altLang="zh-CN" sz="4000" dirty="0">
                <a:latin typeface="Symbol" panose="05050102010706020507" pitchFamily="18" charset="2"/>
                <a:sym typeface="Symbol" panose="05050102010706020507" pitchFamily="18" charset="2"/>
              </a:rPr>
              <a:t>（</a:t>
            </a:r>
            <a:r>
              <a:rPr lang="zh-CN" altLang="en-US" sz="4000" dirty="0">
                <a:latin typeface="Symbol" panose="05050102010706020507" pitchFamily="18" charset="2"/>
                <a:sym typeface="Symbol" panose="05050102010706020507" pitchFamily="18" charset="2"/>
              </a:rPr>
              <a:t>等价）</a:t>
            </a:r>
          </a:p>
        </p:txBody>
      </p:sp>
      <p:sp>
        <p:nvSpPr>
          <p:cNvPr id="45062" name="Rectangle 3"/>
          <p:cNvSpPr>
            <a:spLocks noGrp="1"/>
          </p:cNvSpPr>
          <p:nvPr>
            <p:ph idx="1"/>
          </p:nvPr>
        </p:nvSpPr>
        <p:spPr>
          <a:xfrm>
            <a:off x="755333" y="1340168"/>
            <a:ext cx="8270875" cy="4114800"/>
          </a:xfrm>
        </p:spPr>
        <p:txBody>
          <a:bodyPr vert="horz" wrap="square" lIns="91440" tIns="45720" rIns="91440" bIns="45720" anchor="t" anchorCtr="0"/>
          <a:lstStyle/>
          <a:p>
            <a:pPr eaLnBrk="1" hangingPunct="1">
              <a:lnSpc>
                <a:spcPct val="90000"/>
              </a:lnSpc>
            </a:pPr>
            <a:r>
              <a:rPr lang="en-US" altLang="zh-CN" sz="2800" dirty="0">
                <a:latin typeface="Times New Roman" panose="02020603050405020304" pitchFamily="18" charset="0"/>
              </a:rPr>
              <a:t>Definition: If </a:t>
            </a:r>
            <a:r>
              <a:rPr lang="en-US" altLang="zh-CN" sz="2800" i="1" dirty="0">
                <a:latin typeface="Times New Roman" panose="02020603050405020304" pitchFamily="18" charset="0"/>
              </a:rPr>
              <a:t>p</a:t>
            </a:r>
            <a:r>
              <a:rPr lang="en-US" altLang="zh-CN" sz="2800" dirty="0">
                <a:latin typeface="Times New Roman" panose="02020603050405020304" pitchFamily="18" charset="0"/>
              </a:rPr>
              <a:t> and </a:t>
            </a:r>
            <a:r>
              <a:rPr lang="en-US" altLang="zh-CN" sz="2800" i="1" dirty="0">
                <a:latin typeface="Times New Roman" panose="02020603050405020304" pitchFamily="18" charset="0"/>
              </a:rPr>
              <a:t>q</a:t>
            </a:r>
            <a:r>
              <a:rPr lang="en-US" altLang="zh-CN" sz="2800" dirty="0">
                <a:latin typeface="Times New Roman" panose="02020603050405020304" pitchFamily="18" charset="0"/>
              </a:rPr>
              <a:t> are statements,the compound statement  </a:t>
            </a:r>
            <a:r>
              <a:rPr lang="en-US" altLang="zh-CN" sz="2800" i="1" dirty="0">
                <a:latin typeface="Times New Roman" panose="02020603050405020304" pitchFamily="18" charset="0"/>
              </a:rPr>
              <a:t>p</a:t>
            </a:r>
            <a:r>
              <a:rPr lang="en-US" altLang="zh-CN" sz="2800" dirty="0">
                <a:latin typeface="Times New Roman" panose="02020603050405020304" pitchFamily="18" charset="0"/>
              </a:rPr>
              <a:t> if and only if </a:t>
            </a:r>
            <a:r>
              <a:rPr lang="zh-CN" altLang="en-US" sz="2800" dirty="0">
                <a:latin typeface="Times New Roman" panose="02020603050405020304" pitchFamily="18" charset="0"/>
              </a:rPr>
              <a:t> </a:t>
            </a:r>
            <a:r>
              <a:rPr lang="en-US" altLang="zh-CN" sz="2800" i="1" dirty="0">
                <a:latin typeface="Times New Roman" panose="02020603050405020304" pitchFamily="18" charset="0"/>
              </a:rPr>
              <a:t>q</a:t>
            </a:r>
            <a:r>
              <a:rPr lang="en-US" altLang="zh-CN" sz="2800" dirty="0">
                <a:latin typeface="Times New Roman" panose="02020603050405020304" pitchFamily="18" charset="0"/>
              </a:rPr>
              <a:t>,denoted </a:t>
            </a:r>
            <a:r>
              <a:rPr lang="en-US" altLang="zh-CN" sz="2800" i="1" dirty="0">
                <a:latin typeface="Times New Roman" panose="02020603050405020304" pitchFamily="18" charset="0"/>
              </a:rPr>
              <a:t>p </a:t>
            </a:r>
            <a:r>
              <a:rPr lang="en-US" altLang="zh-CN" sz="2800" dirty="0">
                <a:latin typeface="Symbol" panose="05050102010706020507" pitchFamily="18" charset="2"/>
                <a:sym typeface="Symbol" panose="05050102010706020507" pitchFamily="18" charset="2"/>
              </a:rPr>
              <a:t></a:t>
            </a:r>
            <a:r>
              <a:rPr lang="en-US" altLang="zh-CN" sz="2800" dirty="0">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q </a:t>
            </a:r>
            <a:r>
              <a:rPr lang="en-US" altLang="zh-CN" sz="2800" dirty="0">
                <a:latin typeface="Times New Roman" panose="02020603050405020304" pitchFamily="18" charset="0"/>
              </a:rPr>
              <a:t>,is called an </a:t>
            </a:r>
            <a:r>
              <a:rPr lang="en-US" altLang="zh-CN" sz="2800" dirty="0">
                <a:solidFill>
                  <a:srgbClr val="FF3300"/>
                </a:solidFill>
                <a:latin typeface="Times New Roman" panose="02020603050405020304" pitchFamily="18" charset="0"/>
              </a:rPr>
              <a:t>equivalence(</a:t>
            </a:r>
            <a:r>
              <a:rPr lang="zh-CN" altLang="en-US" sz="2800" dirty="0">
                <a:solidFill>
                  <a:srgbClr val="FF3300"/>
                </a:solidFill>
                <a:latin typeface="Times New Roman" panose="02020603050405020304" pitchFamily="18" charset="0"/>
              </a:rPr>
              <a:t>等价） </a:t>
            </a:r>
            <a:r>
              <a:rPr lang="en-US" altLang="zh-CN" sz="2800" dirty="0">
                <a:latin typeface="Times New Roman" panose="02020603050405020304" pitchFamily="18" charset="0"/>
              </a:rPr>
              <a:t>or </a:t>
            </a:r>
            <a:r>
              <a:rPr lang="en-US" altLang="zh-CN" sz="2800" dirty="0">
                <a:solidFill>
                  <a:srgbClr val="FF3300"/>
                </a:solidFill>
                <a:latin typeface="Times New Roman" panose="02020603050405020304" pitchFamily="18" charset="0"/>
              </a:rPr>
              <a:t>biconditional（</a:t>
            </a:r>
            <a:r>
              <a:rPr lang="zh-CN" altLang="en-US" sz="2800" dirty="0">
                <a:solidFill>
                  <a:srgbClr val="FF3300"/>
                </a:solidFill>
                <a:latin typeface="Times New Roman" panose="02020603050405020304" pitchFamily="18" charset="0"/>
              </a:rPr>
              <a:t>双条件命题）</a:t>
            </a:r>
            <a:r>
              <a:rPr lang="zh-CN" altLang="en-US" sz="2800" dirty="0">
                <a:latin typeface="Times New Roman" panose="02020603050405020304" pitchFamily="18" charset="0"/>
              </a:rPr>
              <a:t>.</a:t>
            </a:r>
          </a:p>
          <a:p>
            <a:pPr lvl="1" eaLnBrk="1" hangingPunct="1">
              <a:lnSpc>
                <a:spcPct val="90000"/>
              </a:lnSpc>
            </a:pPr>
            <a:r>
              <a:rPr lang="en-US" altLang="zh-CN" sz="2400" dirty="0">
                <a:latin typeface="Times New Roman" panose="02020603050405020304" pitchFamily="18" charset="0"/>
              </a:rPr>
              <a:t>The connective </a:t>
            </a:r>
            <a:r>
              <a:rPr lang="en-US" altLang="zh-CN" sz="2400" i="1" dirty="0">
                <a:solidFill>
                  <a:srgbClr val="FF3300"/>
                </a:solidFill>
                <a:latin typeface="Times New Roman" panose="02020603050405020304" pitchFamily="18" charset="0"/>
              </a:rPr>
              <a:t>if</a:t>
            </a:r>
            <a:r>
              <a:rPr lang="en-US" altLang="zh-CN" sz="2400" dirty="0">
                <a:solidFill>
                  <a:srgbClr val="FF3300"/>
                </a:solidFill>
                <a:latin typeface="Times New Roman" panose="02020603050405020304" pitchFamily="18" charset="0"/>
              </a:rPr>
              <a:t>  </a:t>
            </a:r>
            <a:r>
              <a:rPr lang="en-US" altLang="zh-CN" sz="2400" i="1" dirty="0">
                <a:solidFill>
                  <a:srgbClr val="FF3300"/>
                </a:solidFill>
                <a:latin typeface="Times New Roman" panose="02020603050405020304" pitchFamily="18" charset="0"/>
              </a:rPr>
              <a:t>and only if</a:t>
            </a:r>
            <a:r>
              <a:rPr lang="en-US" altLang="zh-CN" sz="2400" dirty="0">
                <a:latin typeface="Times New Roman" panose="02020603050405020304" pitchFamily="18" charset="0"/>
              </a:rPr>
              <a:t> is denoted by the symbol </a:t>
            </a:r>
            <a:r>
              <a:rPr lang="en-US" altLang="zh-CN" sz="2400" dirty="0">
                <a:latin typeface="Symbol" panose="05050102010706020507" pitchFamily="18" charset="2"/>
                <a:sym typeface="Symbol" panose="05050102010706020507" pitchFamily="18" charset="2"/>
              </a:rPr>
              <a:t></a:t>
            </a:r>
            <a:r>
              <a:rPr lang="en-US" altLang="zh-CN" sz="2400" dirty="0">
                <a:latin typeface="Times New Roman" panose="02020603050405020304" pitchFamily="18" charset="0"/>
              </a:rPr>
              <a:t> .</a:t>
            </a:r>
          </a:p>
          <a:p>
            <a:pPr eaLnBrk="1" hangingPunct="1">
              <a:lnSpc>
                <a:spcPct val="90000"/>
              </a:lnSpc>
            </a:pPr>
            <a:r>
              <a:rPr lang="en-US" altLang="zh-CN" sz="2800" dirty="0">
                <a:latin typeface="Times New Roman" panose="02020603050405020304" pitchFamily="18" charset="0"/>
              </a:rPr>
              <a:t>Example: </a:t>
            </a:r>
          </a:p>
          <a:p>
            <a:pPr lvl="1" eaLnBrk="1" hangingPunct="1">
              <a:lnSpc>
                <a:spcPct val="90000"/>
              </a:lnSpc>
              <a:buNone/>
            </a:pPr>
            <a:r>
              <a:rPr lang="en-US" altLang="zh-CN" sz="2400" i="1" dirty="0">
                <a:latin typeface="Times New Roman" panose="02020603050405020304" pitchFamily="18" charset="0"/>
              </a:rPr>
              <a:t>p</a:t>
            </a:r>
            <a:r>
              <a:rPr lang="en-US" altLang="zh-CN" sz="2400" dirty="0">
                <a:latin typeface="Times New Roman" panose="02020603050405020304" pitchFamily="18" charset="0"/>
              </a:rPr>
              <a:t>: ‘I am going to town’ </a:t>
            </a:r>
          </a:p>
          <a:p>
            <a:pPr lvl="1" eaLnBrk="1" hangingPunct="1">
              <a:lnSpc>
                <a:spcPct val="90000"/>
              </a:lnSpc>
              <a:buNone/>
            </a:pPr>
            <a:r>
              <a:rPr lang="en-US" altLang="zh-CN" sz="2400" i="1" dirty="0">
                <a:latin typeface="Times New Roman" panose="02020603050405020304" pitchFamily="18" charset="0"/>
                <a:cs typeface="+mn-ea"/>
              </a:rPr>
              <a:t>q</a:t>
            </a:r>
            <a:r>
              <a:rPr lang="en-US" altLang="zh-CN" sz="2400" dirty="0">
                <a:latin typeface="Times New Roman" panose="02020603050405020304" pitchFamily="18" charset="0"/>
              </a:rPr>
              <a:t>: ‘It is going to rain’</a:t>
            </a:r>
          </a:p>
          <a:p>
            <a:pPr lvl="1" eaLnBrk="1" hangingPunct="1">
              <a:lnSpc>
                <a:spcPct val="90000"/>
              </a:lnSpc>
              <a:buNone/>
            </a:pPr>
            <a:r>
              <a:rPr lang="en-US" altLang="zh-CN" sz="2400" i="1" dirty="0">
                <a:latin typeface="Times New Roman" panose="02020603050405020304" pitchFamily="18" charset="0"/>
                <a:cs typeface="+mn-ea"/>
              </a:rPr>
              <a:t>p</a:t>
            </a:r>
            <a:r>
              <a:rPr lang="en-US" altLang="zh-CN" sz="2400" dirty="0">
                <a:latin typeface="Times New Roman" panose="02020603050405020304" pitchFamily="18" charset="0"/>
              </a:rPr>
              <a:t>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603050405020304" pitchFamily="18" charset="0"/>
                <a:cs typeface="+mn-ea"/>
              </a:rPr>
              <a:t>q</a:t>
            </a:r>
            <a:r>
              <a:rPr lang="en-US" altLang="zh-CN" sz="2400" dirty="0">
                <a:latin typeface="Times New Roman" panose="02020603050405020304" pitchFamily="18" charset="0"/>
              </a:rPr>
              <a:t>: ‘I am going to town if and only if it is going to rain.’</a:t>
            </a:r>
          </a:p>
          <a:p>
            <a:pPr eaLnBrk="1" hangingPunct="1">
              <a:lnSpc>
                <a:spcPct val="90000"/>
              </a:lnSpc>
            </a:pPr>
            <a:endParaRPr lang="zh-CN" altLang="en-US" sz="2800" dirty="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37</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608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608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6085" name="Rectangle 2"/>
          <p:cNvSpPr>
            <a:spLocks noGrp="1"/>
          </p:cNvSpPr>
          <p:nvPr>
            <p:ph type="title"/>
          </p:nvPr>
        </p:nvSpPr>
        <p:spPr/>
        <p:txBody>
          <a:bodyPr vert="horz" wrap="square" lIns="91440" tIns="45720" rIns="91440" bIns="45720" anchor="b" anchorCtr="0"/>
          <a:lstStyle/>
          <a:p>
            <a:pPr eaLnBrk="1" hangingPunct="1"/>
            <a:r>
              <a:rPr lang="en-US" altLang="zh-CN" sz="3600" b="1" dirty="0"/>
              <a:t>Biconditional </a:t>
            </a:r>
            <a:br>
              <a:rPr lang="en-US" altLang="zh-CN" sz="3600" b="1" dirty="0"/>
            </a:br>
            <a:r>
              <a:rPr lang="en-US" altLang="zh-CN" sz="3600" dirty="0"/>
              <a:t>‘if and only if’, ‘iff’:</a:t>
            </a:r>
            <a:r>
              <a:rPr lang="en-US" altLang="zh-CN" sz="3600" dirty="0">
                <a:latin typeface="Times New Roman" panose="02020603050405020304" pitchFamily="18" charset="0"/>
              </a:rPr>
              <a:t> </a:t>
            </a:r>
            <a:r>
              <a:rPr lang="en-US" altLang="zh-CN" sz="3600" dirty="0">
                <a:latin typeface="Symbol" panose="05050102010706020507" pitchFamily="18" charset="2"/>
                <a:sym typeface="Symbol" panose="05050102010706020507" pitchFamily="18" charset="2"/>
              </a:rPr>
              <a:t></a:t>
            </a:r>
          </a:p>
        </p:txBody>
      </p:sp>
      <p:sp>
        <p:nvSpPr>
          <p:cNvPr id="46086" name="Rectangle 3"/>
          <p:cNvSpPr>
            <a:spLocks noGrp="1"/>
          </p:cNvSpPr>
          <p:nvPr>
            <p:ph idx="1"/>
          </p:nvPr>
        </p:nvSpPr>
        <p:spPr>
          <a:xfrm>
            <a:off x="319405" y="1587500"/>
            <a:ext cx="8636000" cy="4114800"/>
          </a:xfrm>
        </p:spPr>
        <p:txBody>
          <a:bodyPr vert="horz" wrap="square" lIns="91440" tIns="45720" rIns="91440" bIns="45720" anchor="t" anchorCtr="0"/>
          <a:lstStyle/>
          <a:p>
            <a:pPr eaLnBrk="1" hangingPunct="1"/>
            <a:r>
              <a:rPr lang="en-US" altLang="zh-CN" dirty="0">
                <a:latin typeface="Times New Roman" panose="02020603050405020304" pitchFamily="18" charset="0"/>
              </a:rPr>
              <a:t>Truth Table:</a:t>
            </a:r>
          </a:p>
          <a:p>
            <a:pPr lvl="1" eaLnBrk="1" hangingPunct="1"/>
            <a:endParaRPr lang="en-US" altLang="zh-CN" dirty="0">
              <a:latin typeface="Times New Roman" panose="02020603050405020304" pitchFamily="18" charset="0"/>
            </a:endParaRPr>
          </a:p>
          <a:p>
            <a:pPr lvl="1" eaLnBrk="1" hangingPunct="1"/>
            <a:endParaRPr lang="en-US" altLang="zh-CN" dirty="0">
              <a:latin typeface="Times New Roman" panose="02020603050405020304" pitchFamily="18" charset="0"/>
            </a:endParaRPr>
          </a:p>
          <a:p>
            <a:pPr lvl="1" eaLnBrk="1" hangingPunct="1"/>
            <a:endParaRPr lang="en-US" altLang="zh-CN" dirty="0">
              <a:latin typeface="Times New Roman" panose="02020603050405020304" pitchFamily="18" charset="0"/>
            </a:endParaRPr>
          </a:p>
          <a:p>
            <a:pPr lvl="1" eaLnBrk="1" hangingPunct="1"/>
            <a:endParaRPr lang="en-US" altLang="zh-CN" dirty="0">
              <a:latin typeface="Times New Roman" panose="02020603050405020304" pitchFamily="18" charset="0"/>
            </a:endParaRPr>
          </a:p>
          <a:p>
            <a:pPr lvl="1" eaLnBrk="1" hangingPunct="1"/>
            <a:r>
              <a:rPr lang="en-US" altLang="zh-CN" dirty="0">
                <a:latin typeface="Times New Roman" panose="02020603050405020304" pitchFamily="18" charset="0"/>
              </a:rPr>
              <a:t>Note: Both </a:t>
            </a:r>
            <a:r>
              <a:rPr lang="en-US" altLang="zh-CN" i="1" dirty="0">
                <a:latin typeface="Times New Roman" panose="02020603050405020304" pitchFamily="18" charset="0"/>
              </a:rPr>
              <a:t>p</a:t>
            </a:r>
            <a:r>
              <a:rPr lang="en-US" altLang="zh-CN" dirty="0">
                <a:latin typeface="Times New Roman" panose="02020603050405020304" pitchFamily="18" charset="0"/>
              </a:rPr>
              <a:t> and </a:t>
            </a:r>
            <a:r>
              <a:rPr lang="en-US" altLang="zh-CN" i="1" dirty="0">
                <a:latin typeface="Times New Roman" panose="02020603050405020304" pitchFamily="18" charset="0"/>
              </a:rPr>
              <a:t>q</a:t>
            </a:r>
            <a:r>
              <a:rPr lang="en-US" altLang="zh-CN" dirty="0">
                <a:latin typeface="Times New Roman" panose="02020603050405020304" pitchFamily="18" charset="0"/>
              </a:rPr>
              <a:t> must have the </a:t>
            </a:r>
            <a:r>
              <a:rPr lang="en-US" altLang="zh-CN" i="1" u="sng" dirty="0">
                <a:solidFill>
                  <a:schemeClr val="hlink"/>
                </a:solidFill>
                <a:latin typeface="Times New Roman" panose="02020603050405020304" pitchFamily="18" charset="0"/>
              </a:rPr>
              <a:t>same</a:t>
            </a:r>
            <a:r>
              <a:rPr lang="en-US" altLang="zh-CN" dirty="0">
                <a:latin typeface="Times New Roman" panose="02020603050405020304" pitchFamily="18" charset="0"/>
              </a:rPr>
              <a:t> truth value.</a:t>
            </a:r>
          </a:p>
        </p:txBody>
      </p:sp>
      <p:graphicFrame>
        <p:nvGraphicFramePr>
          <p:cNvPr id="7" name="表格 6"/>
          <p:cNvGraphicFramePr>
            <a:graphicFrameLocks noGrp="1"/>
          </p:cNvGraphicFramePr>
          <p:nvPr>
            <p:custDataLst>
              <p:tags r:id="rId1"/>
            </p:custDataLst>
          </p:nvPr>
        </p:nvGraphicFramePr>
        <p:xfrm>
          <a:off x="3491865" y="1702435"/>
          <a:ext cx="3267710" cy="234690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20000"/>
                    </a:ext>
                  </a:extLst>
                </a:gridCol>
                <a:gridCol w="1129030">
                  <a:extLst>
                    <a:ext uri="{9D8B030D-6E8A-4147-A177-3AD203B41FA5}">
                      <a16:colId xmlns:a16="http://schemas.microsoft.com/office/drawing/2014/main" val="20001"/>
                    </a:ext>
                  </a:extLst>
                </a:gridCol>
                <a:gridCol w="1129030">
                  <a:extLst>
                    <a:ext uri="{9D8B030D-6E8A-4147-A177-3AD203B41FA5}">
                      <a16:colId xmlns:a16="http://schemas.microsoft.com/office/drawing/2014/main" val="20002"/>
                    </a:ext>
                  </a:extLst>
                </a:gridCol>
              </a:tblGrid>
              <a:tr h="426085">
                <a:tc>
                  <a:txBody>
                    <a:bodyPr/>
                    <a:lstStyle/>
                    <a:p>
                      <a:pPr algn="ctr"/>
                      <a:r>
                        <a:rPr lang="en-US" altLang="zh-CN" sz="2800" i="1" dirty="0">
                          <a:solidFill>
                            <a:schemeClr val="tx1"/>
                          </a:solidFill>
                          <a:latin typeface="Times New Roman" panose="02020603050405020304" pitchFamily="18" charset="0"/>
                        </a:rPr>
                        <a:t>p</a:t>
                      </a:r>
                      <a:endParaRPr lang="en-US" altLang="zh-CN" sz="2800" b="1" i="1" dirty="0">
                        <a:solidFill>
                          <a:schemeClr val="tx1"/>
                        </a:solidFill>
                        <a:latin typeface="Times New Roman" panose="02020603050405020304" pitchFamily="18" charset="0"/>
                      </a:endParaRPr>
                    </a:p>
                  </a:txBody>
                  <a:tcPr marL="91458" marR="91458" marT="45714" marB="45714" anchor="ctr"/>
                </a:tc>
                <a:tc>
                  <a:txBody>
                    <a:bodyPr/>
                    <a:lstStyle/>
                    <a:p>
                      <a:pPr algn="ctr"/>
                      <a:r>
                        <a:rPr lang="en-US" altLang="zh-CN" sz="2800" i="1" dirty="0">
                          <a:solidFill>
                            <a:schemeClr val="tx1"/>
                          </a:solidFill>
                          <a:latin typeface="Times New Roman" panose="02020603050405020304" pitchFamily="18" charset="0"/>
                        </a:rPr>
                        <a:t>q</a:t>
                      </a:r>
                      <a:endParaRPr lang="en-US" altLang="zh-CN" sz="2800" b="1" i="1" dirty="0">
                        <a:solidFill>
                          <a:schemeClr val="tx1"/>
                        </a:solidFill>
                        <a:latin typeface="Times New Roman" panose="02020603050405020304" pitchFamily="18" charset="0"/>
                      </a:endParaRPr>
                    </a:p>
                  </a:txBody>
                  <a:tcPr marL="91458" marR="91458" marT="45714" marB="45714" anchor="ctr"/>
                </a:tc>
                <a:tc>
                  <a:txBody>
                    <a:bodyPr/>
                    <a:lstStyle/>
                    <a:p>
                      <a:pPr algn="ctr"/>
                      <a:r>
                        <a:rPr lang="en-US" altLang="zh-CN" sz="2800" i="1" dirty="0" err="1">
                          <a:solidFill>
                            <a:schemeClr val="tx1"/>
                          </a:solidFill>
                          <a:latin typeface="Times New Roman" panose="02020603050405020304" pitchFamily="18" charset="0"/>
                        </a:rPr>
                        <a:t>p</a:t>
                      </a:r>
                      <a:r>
                        <a:rPr lang="en-US" altLang="zh-CN" sz="2800" dirty="0" err="1">
                          <a:solidFill>
                            <a:schemeClr val="tx1"/>
                          </a:solidFill>
                          <a:latin typeface="Times New Roman" panose="02020603050405020304" pitchFamily="18" charset="0"/>
                          <a:sym typeface="Symbol" panose="05050102010706020507" pitchFamily="18" charset="2"/>
                        </a:rPr>
                        <a:t></a:t>
                      </a:r>
                      <a:r>
                        <a:rPr lang="en-US" altLang="zh-CN" sz="2800" i="1" dirty="0" err="1">
                          <a:solidFill>
                            <a:schemeClr val="tx1"/>
                          </a:solidFill>
                          <a:latin typeface="Times New Roman" panose="02020603050405020304" pitchFamily="18" charset="0"/>
                        </a:rPr>
                        <a:t>q</a:t>
                      </a:r>
                      <a:endParaRPr lang="en-US" altLang="zh-CN" sz="2800" b="1" i="1" dirty="0" err="1">
                        <a:solidFill>
                          <a:schemeClr val="tx1"/>
                        </a:solidFill>
                        <a:latin typeface="Times New Roman" panose="02020603050405020304" pitchFamily="18" charset="0"/>
                      </a:endParaRPr>
                    </a:p>
                  </a:txBody>
                  <a:tcPr marL="91458" marR="91458" marT="45714" marB="45714" anchor="ctr"/>
                </a:tc>
                <a:extLst>
                  <a:ext uri="{0D108BD9-81ED-4DB2-BD59-A6C34878D82A}">
                    <a16:rowId xmlns:a16="http://schemas.microsoft.com/office/drawing/2014/main" val="10000"/>
                  </a:ext>
                </a:extLst>
              </a:tr>
              <a:tr h="432435">
                <a:tc>
                  <a:txBody>
                    <a:bodyPr/>
                    <a:lstStyle/>
                    <a:p>
                      <a:pPr algn="ctr"/>
                      <a:r>
                        <a:rPr lang="en-US" altLang="zh-CN" sz="2400" b="0" dirty="0">
                          <a:solidFill>
                            <a:schemeClr val="tx1"/>
                          </a:solidFill>
                        </a:rPr>
                        <a:t>0</a:t>
                      </a:r>
                    </a:p>
                  </a:txBody>
                  <a:tcPr marL="91458" marR="91458" marT="45714" marB="45714" anchor="ctr"/>
                </a:tc>
                <a:tc>
                  <a:txBody>
                    <a:bodyPr/>
                    <a:lstStyle/>
                    <a:p>
                      <a:pPr algn="ctr"/>
                      <a:r>
                        <a:rPr lang="en-US" altLang="zh-CN" sz="2400" b="0" dirty="0">
                          <a:solidFill>
                            <a:schemeClr val="tx1"/>
                          </a:solidFill>
                        </a:rPr>
                        <a:t>0</a:t>
                      </a:r>
                    </a:p>
                  </a:txBody>
                  <a:tcPr marL="91458" marR="91458" marT="45714" marB="45714" anchor="ctr"/>
                </a:tc>
                <a:tc>
                  <a:txBody>
                    <a:bodyPr/>
                    <a:lstStyle/>
                    <a:p>
                      <a:pPr algn="ctr"/>
                      <a:r>
                        <a:rPr lang="en-US" altLang="zh-CN" sz="2400" b="0" dirty="0">
                          <a:solidFill>
                            <a:schemeClr val="tx1"/>
                          </a:solidFill>
                        </a:rPr>
                        <a:t>1</a:t>
                      </a:r>
                    </a:p>
                  </a:txBody>
                  <a:tcPr marL="91458" marR="91458" marT="45714" marB="45714" anchor="ctr"/>
                </a:tc>
                <a:extLst>
                  <a:ext uri="{0D108BD9-81ED-4DB2-BD59-A6C34878D82A}">
                    <a16:rowId xmlns:a16="http://schemas.microsoft.com/office/drawing/2014/main" val="10001"/>
                  </a:ext>
                </a:extLst>
              </a:tr>
              <a:tr h="431165">
                <a:tc>
                  <a:txBody>
                    <a:bodyPr/>
                    <a:lstStyle/>
                    <a:p>
                      <a:pPr algn="ctr"/>
                      <a:r>
                        <a:rPr lang="en-US" altLang="zh-CN" sz="2400" b="0" dirty="0">
                          <a:solidFill>
                            <a:schemeClr val="tx1"/>
                          </a:solidFill>
                        </a:rPr>
                        <a:t>0</a:t>
                      </a:r>
                    </a:p>
                  </a:txBody>
                  <a:tcPr marL="91458" marR="91458" marT="45714" marB="45714" anchor="ctr"/>
                </a:tc>
                <a:tc>
                  <a:txBody>
                    <a:bodyPr/>
                    <a:lstStyle/>
                    <a:p>
                      <a:pPr algn="ctr"/>
                      <a:r>
                        <a:rPr lang="en-US" altLang="zh-CN" sz="2400" b="0" dirty="0">
                          <a:solidFill>
                            <a:schemeClr val="tx1"/>
                          </a:solidFill>
                        </a:rPr>
                        <a:t>1</a:t>
                      </a:r>
                    </a:p>
                  </a:txBody>
                  <a:tcPr marL="91458" marR="91458" marT="45714" marB="45714" anchor="ctr"/>
                </a:tc>
                <a:tc>
                  <a:txBody>
                    <a:bodyPr/>
                    <a:lstStyle/>
                    <a:p>
                      <a:pPr algn="ctr"/>
                      <a:r>
                        <a:rPr lang="en-US" altLang="zh-CN" sz="2400" b="0" dirty="0">
                          <a:solidFill>
                            <a:schemeClr val="tx1"/>
                          </a:solidFill>
                        </a:rPr>
                        <a:t>0</a:t>
                      </a:r>
                    </a:p>
                  </a:txBody>
                  <a:tcPr marL="91458" marR="91458" marT="45714" marB="45714" anchor="ctr"/>
                </a:tc>
                <a:extLst>
                  <a:ext uri="{0D108BD9-81ED-4DB2-BD59-A6C34878D82A}">
                    <a16:rowId xmlns:a16="http://schemas.microsoft.com/office/drawing/2014/main" val="10002"/>
                  </a:ext>
                </a:extLst>
              </a:tr>
              <a:tr h="432435">
                <a:tc>
                  <a:txBody>
                    <a:bodyPr/>
                    <a:lstStyle/>
                    <a:p>
                      <a:pPr algn="ctr"/>
                      <a:r>
                        <a:rPr lang="en-US" altLang="zh-CN" sz="2400" b="0" dirty="0">
                          <a:solidFill>
                            <a:schemeClr val="tx1"/>
                          </a:solidFill>
                        </a:rPr>
                        <a:t>1</a:t>
                      </a:r>
                    </a:p>
                  </a:txBody>
                  <a:tcPr marL="91458" marR="91458" marT="45714" marB="45714" anchor="ctr"/>
                </a:tc>
                <a:tc>
                  <a:txBody>
                    <a:bodyPr/>
                    <a:lstStyle/>
                    <a:p>
                      <a:pPr algn="ctr"/>
                      <a:r>
                        <a:rPr lang="en-US" altLang="zh-CN" sz="2400" b="0" dirty="0">
                          <a:solidFill>
                            <a:schemeClr val="tx1"/>
                          </a:solidFill>
                        </a:rPr>
                        <a:t>0</a:t>
                      </a:r>
                    </a:p>
                  </a:txBody>
                  <a:tcPr marL="91458" marR="91458" marT="45714" marB="45714" anchor="ctr"/>
                </a:tc>
                <a:tc>
                  <a:txBody>
                    <a:bodyPr/>
                    <a:lstStyle/>
                    <a:p>
                      <a:pPr algn="ctr"/>
                      <a:r>
                        <a:rPr lang="en-US" altLang="zh-CN" sz="2400" b="0" dirty="0">
                          <a:solidFill>
                            <a:schemeClr val="tx1"/>
                          </a:solidFill>
                        </a:rPr>
                        <a:t>0</a:t>
                      </a:r>
                    </a:p>
                  </a:txBody>
                  <a:tcPr marL="91458" marR="91458" marT="45714" marB="45714" anchor="ctr"/>
                </a:tc>
                <a:extLst>
                  <a:ext uri="{0D108BD9-81ED-4DB2-BD59-A6C34878D82A}">
                    <a16:rowId xmlns:a16="http://schemas.microsoft.com/office/drawing/2014/main" val="10003"/>
                  </a:ext>
                </a:extLst>
              </a:tr>
              <a:tr h="432435">
                <a:tc>
                  <a:txBody>
                    <a:bodyPr/>
                    <a:lstStyle/>
                    <a:p>
                      <a:pPr algn="ctr"/>
                      <a:r>
                        <a:rPr lang="en-US" altLang="zh-CN" sz="2400" b="0" dirty="0">
                          <a:solidFill>
                            <a:schemeClr val="tx1"/>
                          </a:solidFill>
                        </a:rPr>
                        <a:t>1</a:t>
                      </a:r>
                    </a:p>
                  </a:txBody>
                  <a:tcPr marL="91458" marR="91458" marT="45714" marB="45714" anchor="ctr"/>
                </a:tc>
                <a:tc>
                  <a:txBody>
                    <a:bodyPr/>
                    <a:lstStyle/>
                    <a:p>
                      <a:pPr algn="ctr"/>
                      <a:r>
                        <a:rPr lang="en-US" altLang="zh-CN" sz="2400" b="0" dirty="0">
                          <a:solidFill>
                            <a:schemeClr val="tx1"/>
                          </a:solidFill>
                        </a:rPr>
                        <a:t>1</a:t>
                      </a:r>
                    </a:p>
                  </a:txBody>
                  <a:tcPr marL="91458" marR="91458" marT="45714" marB="45714" anchor="ctr"/>
                </a:tc>
                <a:tc>
                  <a:txBody>
                    <a:bodyPr/>
                    <a:lstStyle/>
                    <a:p>
                      <a:pPr algn="ctr"/>
                      <a:r>
                        <a:rPr lang="en-US" altLang="zh-CN" sz="2400" b="0" dirty="0">
                          <a:solidFill>
                            <a:schemeClr val="tx1"/>
                          </a:solidFill>
                        </a:rPr>
                        <a:t>1</a:t>
                      </a:r>
                    </a:p>
                  </a:txBody>
                  <a:tcPr marL="91458" marR="91458" marT="45714" marB="45714" anchor="ct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38</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710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4710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47109"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Boolean Operations Summary</a:t>
            </a:r>
          </a:p>
        </p:txBody>
      </p:sp>
      <p:sp>
        <p:nvSpPr>
          <p:cNvPr id="47110" name="Rectangle 3"/>
          <p:cNvSpPr>
            <a:spLocks noGrp="1"/>
          </p:cNvSpPr>
          <p:nvPr>
            <p:ph idx="1"/>
          </p:nvPr>
        </p:nvSpPr>
        <p:spPr>
          <a:xfrm>
            <a:off x="827405" y="1412875"/>
            <a:ext cx="7772400" cy="4343400"/>
          </a:xfrm>
        </p:spPr>
        <p:txBody>
          <a:bodyPr vert="horz" wrap="square" lIns="91440" tIns="45720" rIns="91440" bIns="45720" anchor="t" anchorCtr="0"/>
          <a:lstStyle/>
          <a:p>
            <a:pPr eaLnBrk="1" hangingPunct="1"/>
            <a:r>
              <a:rPr lang="en-US" altLang="zh-CN" dirty="0">
                <a:solidFill>
                  <a:schemeClr val="hlink"/>
                </a:solidFill>
                <a:latin typeface="Times New Roman" panose="02020603050405020304" pitchFamily="18" charset="0"/>
              </a:rPr>
              <a:t>We have seen 1 unary operator (out of the 4 possible) and 5 binary operators (out of the 16 possible).  Their truth tables are below.</a:t>
            </a:r>
          </a:p>
        </p:txBody>
      </p:sp>
      <p:graphicFrame>
        <p:nvGraphicFramePr>
          <p:cNvPr id="47111" name="Object 4"/>
          <p:cNvGraphicFramePr>
            <a:graphicFrameLocks noChangeAspect="1"/>
          </p:cNvGraphicFramePr>
          <p:nvPr/>
        </p:nvGraphicFramePr>
        <p:xfrm>
          <a:off x="1043305" y="3284538"/>
          <a:ext cx="7131050" cy="2741612"/>
        </p:xfrm>
        <a:graphic>
          <a:graphicData uri="http://schemas.openxmlformats.org/presentationml/2006/ole">
            <mc:AlternateContent xmlns:mc="http://schemas.openxmlformats.org/markup-compatibility/2006">
              <mc:Choice xmlns:v="urn:schemas-microsoft-com:vml" Requires="v">
                <p:oleObj r:id="rId3" imgW="7141210" imgH="2843530" progId="Word.Document.8">
                  <p:embed/>
                </p:oleObj>
              </mc:Choice>
              <mc:Fallback>
                <p:oleObj r:id="rId3" imgW="7141210" imgH="2843530" progId="Word.Document.8">
                  <p:embed/>
                  <p:pic>
                    <p:nvPicPr>
                      <p:cNvPr id="0" name="图片 3076"/>
                      <p:cNvPicPr/>
                      <p:nvPr/>
                    </p:nvPicPr>
                    <p:blipFill>
                      <a:blip r:embed="rId4"/>
                      <a:stretch>
                        <a:fillRect/>
                      </a:stretch>
                    </p:blipFill>
                    <p:spPr>
                      <a:xfrm>
                        <a:off x="1043305" y="3284538"/>
                        <a:ext cx="7131050" cy="2741612"/>
                      </a:xfrm>
                      <a:prstGeom prst="rect">
                        <a:avLst/>
                      </a:prstGeom>
                      <a:noFill/>
                      <a:ln w="38100">
                        <a:noFill/>
                        <a:miter/>
                      </a:ln>
                    </p:spPr>
                  </p:pic>
                </p:oleObj>
              </mc:Fallback>
            </mc:AlternateContent>
          </a:graphicData>
        </a:graphic>
      </p:graphicFrame>
      <p:sp>
        <p:nvSpPr>
          <p:cNvPr id="47112" name="Text Box 5"/>
          <p:cNvSpPr txBox="1"/>
          <p:nvPr/>
        </p:nvSpPr>
        <p:spPr>
          <a:xfrm>
            <a:off x="4391025" y="76200"/>
            <a:ext cx="467836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r">
              <a:spcBef>
                <a:spcPct val="0"/>
              </a:spcBef>
              <a:buClrTx/>
              <a:buSzTx/>
              <a:buFontTx/>
              <a:buNone/>
            </a:pPr>
            <a:r>
              <a:rPr lang="en-US" altLang="zh-CN" sz="2000" dirty="0">
                <a:solidFill>
                  <a:schemeClr val="bg1"/>
                </a:solidFill>
                <a:latin typeface="Times New Roman" panose="02020603050405020304" pitchFamily="18" charset="0"/>
              </a:rPr>
              <a:t>Topic #1.0 – Propositional Logic: Operators</a:t>
            </a:r>
            <a:endParaRPr lang="en-US" altLang="zh-CN" sz="20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vert="horz" wrap="square" lIns="91440" tIns="45720" rIns="91440" bIns="45720" anchor="b" anchorCtr="0"/>
          <a:lstStyle/>
          <a:p>
            <a:r>
              <a:rPr lang="en-US" altLang="zh-CN" dirty="0"/>
              <a:t>Problem</a:t>
            </a:r>
          </a:p>
        </p:txBody>
      </p:sp>
      <p:sp>
        <p:nvSpPr>
          <p:cNvPr id="3" name="Content Placeholder 2"/>
          <p:cNvSpPr>
            <a:spLocks noGrp="1"/>
          </p:cNvSpPr>
          <p:nvPr>
            <p:ph idx="1"/>
          </p:nvPr>
        </p:nvSpPr>
        <p:spPr/>
        <p:txBody>
          <a:bodyPr vert="horz" wrap="square" lIns="91440" tIns="45720" rIns="91440" bIns="45720" anchor="t" anchorCtr="0"/>
          <a:lstStyle/>
          <a:p>
            <a:pPr>
              <a:lnSpc>
                <a:spcPct val="90000"/>
              </a:lnSpc>
            </a:pPr>
            <a:r>
              <a:rPr lang="en-US" altLang="zh-CN" sz="2800" dirty="0">
                <a:latin typeface="Times New Roman" panose="02020603050405020304" pitchFamily="18" charset="0"/>
                <a:cs typeface="Times New Roman" panose="02020603050405020304" pitchFamily="18" charset="0"/>
              </a:rPr>
              <a:t>How many rows are there in a truth table with </a:t>
            </a:r>
            <a:r>
              <a:rPr lang="en-US" altLang="zh-CN" sz="2800" i="1" dirty="0">
                <a:latin typeface="Times New Roman" panose="02020603050405020304" pitchFamily="18" charset="0"/>
                <a:cs typeface="Times New Roman" panose="02020603050405020304" pitchFamily="18" charset="0"/>
              </a:rPr>
              <a:t>n</a:t>
            </a:r>
            <a:r>
              <a:rPr lang="en-US" altLang="zh-CN" sz="2800" dirty="0">
                <a:latin typeface="Times New Roman" panose="02020603050405020304" pitchFamily="18" charset="0"/>
                <a:cs typeface="Times New Roman" panose="02020603050405020304" pitchFamily="18" charset="0"/>
              </a:rPr>
              <a:t> propositional variables?</a:t>
            </a:r>
          </a:p>
          <a:p>
            <a:pPr>
              <a:lnSpc>
                <a:spcPct val="90000"/>
              </a:lnSpc>
              <a:buNone/>
            </a:pPr>
            <a:endParaRPr lang="en-US" altLang="zh-CN" sz="2800" b="1" dirty="0">
              <a:latin typeface="Times New Roman" panose="02020603050405020304" pitchFamily="18" charset="0"/>
              <a:cs typeface="Times New Roman" panose="02020603050405020304" pitchFamily="18" charset="0"/>
            </a:endParaRPr>
          </a:p>
          <a:p>
            <a:pPr>
              <a:lnSpc>
                <a:spcPct val="90000"/>
              </a:lnSpc>
              <a:buNone/>
            </a:pPr>
            <a:r>
              <a:rPr lang="en-US" altLang="zh-CN" sz="2800" b="1" dirty="0">
                <a:latin typeface="Times New Roman" panose="02020603050405020304" pitchFamily="18" charset="0"/>
                <a:cs typeface="Times New Roman" panose="02020603050405020304" pitchFamily="18" charset="0"/>
              </a:rPr>
              <a:t>    Solution</a:t>
            </a:r>
            <a:r>
              <a:rPr lang="en-US" altLang="zh-CN" sz="2800" dirty="0">
                <a:latin typeface="Times New Roman" panose="02020603050405020304" pitchFamily="18" charset="0"/>
                <a:cs typeface="Times New Roman" panose="02020603050405020304" pitchFamily="18" charset="0"/>
              </a:rPr>
              <a:t>:  2</a:t>
            </a:r>
            <a:r>
              <a:rPr lang="en-US" altLang="zh-CN" sz="2800" baseline="30000" dirty="0">
                <a:latin typeface="Times New Roman" panose="02020603050405020304" pitchFamily="18" charset="0"/>
                <a:cs typeface="Times New Roman" panose="02020603050405020304" pitchFamily="18" charset="0"/>
              </a:rPr>
              <a:t>n</a:t>
            </a:r>
            <a:endParaRPr lang="en-US" altLang="zh-CN" sz="2800" dirty="0">
              <a:latin typeface="Times New Roman" panose="02020603050405020304" pitchFamily="18" charset="0"/>
              <a:cs typeface="Times New Roman" panose="02020603050405020304" pitchFamily="18" charset="0"/>
            </a:endParaRPr>
          </a:p>
          <a:p>
            <a:pPr>
              <a:lnSpc>
                <a:spcPct val="90000"/>
              </a:lnSpc>
            </a:pPr>
            <a:endParaRPr lang="en-US" altLang="zh-CN" sz="2800" dirty="0">
              <a:latin typeface="Times New Roman" panose="02020603050405020304" pitchFamily="18" charset="0"/>
              <a:cs typeface="Times New Roman" panose="02020603050405020304" pitchFamily="18" charset="0"/>
            </a:endParaRPr>
          </a:p>
          <a:p>
            <a:pPr>
              <a:lnSpc>
                <a:spcPct val="90000"/>
              </a:lnSpc>
            </a:pPr>
            <a:r>
              <a:rPr lang="en-US" altLang="zh-CN" sz="2800" dirty="0">
                <a:latin typeface="Times New Roman" panose="02020603050405020304" pitchFamily="18" charset="0"/>
                <a:cs typeface="Times New Roman" panose="02020603050405020304" pitchFamily="18" charset="0"/>
              </a:rPr>
              <a:t>Note that this means that with </a:t>
            </a:r>
            <a:r>
              <a:rPr lang="en-US" altLang="zh-CN" sz="2800" i="1" dirty="0">
                <a:latin typeface="Times New Roman" panose="02020603050405020304" pitchFamily="18" charset="0"/>
                <a:cs typeface="Times New Roman" panose="02020603050405020304" pitchFamily="18" charset="0"/>
              </a:rPr>
              <a:t>n</a:t>
            </a:r>
            <a:r>
              <a:rPr lang="en-US" altLang="zh-CN" sz="2800" dirty="0">
                <a:latin typeface="Times New Roman" panose="02020603050405020304" pitchFamily="18" charset="0"/>
                <a:cs typeface="Times New Roman" panose="02020603050405020304" pitchFamily="18" charset="0"/>
              </a:rPr>
              <a:t> propositional variables, we can construct </a:t>
            </a:r>
            <a:r>
              <a:rPr lang="en-US" altLang="zh-CN" sz="2800" baseline="300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distinct (i.e., not equivalent) propositions. </a:t>
            </a:r>
          </a:p>
          <a:p>
            <a:pPr>
              <a:lnSpc>
                <a:spcPct val="90000"/>
              </a:lnSpc>
              <a:buNone/>
            </a:pPr>
            <a:r>
              <a:rPr lang="en-US" altLang="zh-CN" sz="2800" dirty="0"/>
              <a:t>           </a:t>
            </a:r>
          </a:p>
        </p:txBody>
      </p:sp>
      <p:graphicFrame>
        <p:nvGraphicFramePr>
          <p:cNvPr id="49156" name="对象 3"/>
          <p:cNvGraphicFramePr>
            <a:graphicFrameLocks noChangeAspect="1"/>
          </p:cNvGraphicFramePr>
          <p:nvPr/>
        </p:nvGraphicFramePr>
        <p:xfrm>
          <a:off x="5147945" y="3860800"/>
          <a:ext cx="608013" cy="823913"/>
        </p:xfrm>
        <a:graphic>
          <a:graphicData uri="http://schemas.openxmlformats.org/presentationml/2006/ole">
            <mc:AlternateContent xmlns:mc="http://schemas.openxmlformats.org/markup-compatibility/2006">
              <mc:Choice xmlns:v="urn:schemas-microsoft-com:vml" Requires="v">
                <p:oleObj r:id="rId2" imgW="177800" imgH="240665" progId="Equation.DSMT4">
                  <p:embed/>
                </p:oleObj>
              </mc:Choice>
              <mc:Fallback>
                <p:oleObj r:id="rId2" imgW="177800" imgH="240665" progId="Equation.DSMT4">
                  <p:embed/>
                  <p:pic>
                    <p:nvPicPr>
                      <p:cNvPr id="0" name="图片 3077"/>
                      <p:cNvPicPr/>
                      <p:nvPr/>
                    </p:nvPicPr>
                    <p:blipFill>
                      <a:blip r:embed="rId3"/>
                      <a:stretch>
                        <a:fillRect/>
                      </a:stretch>
                    </p:blipFill>
                    <p:spPr>
                      <a:xfrm>
                        <a:off x="5147945" y="3860800"/>
                        <a:ext cx="608013" cy="823913"/>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40</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017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018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0181" name="Rectangle 2"/>
          <p:cNvSpPr>
            <a:spLocks noGrp="1"/>
          </p:cNvSpPr>
          <p:nvPr>
            <p:ph type="title"/>
          </p:nvPr>
        </p:nvSpPr>
        <p:spPr>
          <a:xfrm>
            <a:off x="840105" y="332740"/>
            <a:ext cx="8174355" cy="765810"/>
          </a:xfrm>
        </p:spPr>
        <p:txBody>
          <a:bodyPr vert="horz" wrap="square" lIns="91440" tIns="45720" rIns="91440" bIns="45720" anchor="b" anchorCtr="0"/>
          <a:lstStyle/>
          <a:p>
            <a:pPr eaLnBrk="1" hangingPunct="1"/>
            <a:r>
              <a:rPr lang="en-US" altLang="zh-CN" sz="3200" dirty="0"/>
              <a:t>Precedence of logical operators</a:t>
            </a:r>
          </a:p>
        </p:txBody>
      </p:sp>
      <p:pic>
        <p:nvPicPr>
          <p:cNvPr id="50182" name="图片 2"/>
          <p:cNvPicPr>
            <a:picLocks noChangeAspect="1"/>
          </p:cNvPicPr>
          <p:nvPr/>
        </p:nvPicPr>
        <p:blipFill>
          <a:blip r:embed="rId2"/>
          <a:stretch>
            <a:fillRect/>
          </a:stretch>
        </p:blipFill>
        <p:spPr>
          <a:xfrm>
            <a:off x="2051685" y="1412875"/>
            <a:ext cx="4407535" cy="2284730"/>
          </a:xfrm>
          <a:prstGeom prst="rect">
            <a:avLst/>
          </a:prstGeom>
          <a:noFill/>
          <a:ln w="9525">
            <a:noFill/>
          </a:ln>
        </p:spPr>
      </p:pic>
      <p:sp>
        <p:nvSpPr>
          <p:cNvPr id="50183" name="矩形 3"/>
          <p:cNvSpPr/>
          <p:nvPr/>
        </p:nvSpPr>
        <p:spPr>
          <a:xfrm>
            <a:off x="355600" y="4387850"/>
            <a:ext cx="8524875" cy="11988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lvl="0">
              <a:spcBef>
                <a:spcPct val="0"/>
              </a:spcBef>
              <a:buClr>
                <a:srgbClr val="003399"/>
              </a:buClr>
              <a:buSzTx/>
              <a:buFont typeface="Wingdings" panose="05000000000000000000" charset="0"/>
              <a:buChar char="n"/>
            </a:pPr>
            <a:r>
              <a:rPr lang="en-US" altLang="zh-CN" sz="2400" i="1" dirty="0">
                <a:latin typeface="Cambria Math" panose="02040503050406030204" pitchFamily="18" charset="0"/>
              </a:rPr>
              <a:t>p  </a:t>
            </a:r>
            <a:r>
              <a:rPr lang="en-US" altLang="zh-CN" sz="2400" b="1" dirty="0">
                <a:latin typeface="Cambria Math" panose="02040503050406030204" pitchFamily="18" charset="0"/>
                <a:sym typeface="Symbol" panose="05050102010706020507" pitchFamily="18" charset="2"/>
              </a:rPr>
              <a:t></a:t>
            </a:r>
            <a:r>
              <a:rPr lang="en-US" altLang="zh-CN" sz="2400" i="1" dirty="0">
                <a:latin typeface="Cambria Math" panose="02040503050406030204" pitchFamily="18" charset="0"/>
                <a:sym typeface="Symbol" panose="05050102010706020507" pitchFamily="18" charset="2"/>
              </a:rPr>
              <a:t>q </a:t>
            </a:r>
            <a:r>
              <a:rPr lang="en-US" altLang="zh-CN" sz="2400" b="1" i="1" dirty="0">
                <a:latin typeface="Cambria Math" panose="02040503050406030204" pitchFamily="18" charset="0"/>
                <a:sym typeface="Symbol" panose="05050102010706020507" pitchFamily="18" charset="2"/>
              </a:rPr>
              <a:t>  </a:t>
            </a:r>
            <a:r>
              <a:rPr lang="en-US" altLang="zh-CN" sz="2400" i="1" dirty="0">
                <a:latin typeface="Cambria Math" panose="02040503050406030204" pitchFamily="18" charset="0"/>
                <a:sym typeface="Symbol" panose="05050102010706020507" pitchFamily="18" charset="2"/>
              </a:rPr>
              <a:t>r   </a:t>
            </a:r>
            <a:r>
              <a:rPr lang="en-US" altLang="zh-CN" sz="2400" dirty="0">
                <a:latin typeface="Times New Roman" panose="02020603050405020304" pitchFamily="18" charset="0"/>
                <a:sym typeface="Symbol" panose="05050102010706020507" pitchFamily="18" charset="2"/>
              </a:rPr>
              <a:t>is equivalent to</a:t>
            </a:r>
            <a:r>
              <a:rPr lang="en-US" altLang="zh-CN" sz="2400" dirty="0">
                <a:latin typeface="Times New Roman" panose="02020603050405020304" pitchFamily="18" charset="0"/>
              </a:rPr>
              <a:t> </a:t>
            </a:r>
            <a:r>
              <a:rPr lang="en-US" altLang="zh-CN" sz="2400" i="1" dirty="0">
                <a:latin typeface="Cambria Math" panose="02040503050406030204" pitchFamily="18" charset="0"/>
              </a:rPr>
              <a:t>(p  </a:t>
            </a:r>
            <a:r>
              <a:rPr lang="en-US" altLang="zh-CN" sz="2400" b="1" dirty="0">
                <a:latin typeface="Cambria Math" panose="02040503050406030204" pitchFamily="18" charset="0"/>
                <a:sym typeface="Symbol" panose="05050102010706020507" pitchFamily="18" charset="2"/>
              </a:rPr>
              <a:t></a:t>
            </a:r>
            <a:r>
              <a:rPr lang="en-US" altLang="zh-CN" sz="2400" i="1" dirty="0">
                <a:latin typeface="Cambria Math" panose="02040503050406030204" pitchFamily="18" charset="0"/>
                <a:sym typeface="Symbol" panose="05050102010706020507" pitchFamily="18" charset="2"/>
              </a:rPr>
              <a:t>q)</a:t>
            </a:r>
            <a:r>
              <a:rPr lang="en-US" altLang="zh-CN" sz="2400" b="1" i="1" dirty="0">
                <a:latin typeface="Cambria Math" panose="02040503050406030204" pitchFamily="18" charset="0"/>
                <a:sym typeface="Symbol" panose="05050102010706020507" pitchFamily="18" charset="2"/>
              </a:rPr>
              <a:t>   </a:t>
            </a:r>
            <a:r>
              <a:rPr lang="en-US" altLang="zh-CN" sz="2400" i="1" dirty="0">
                <a:latin typeface="Cambria Math" panose="02040503050406030204" pitchFamily="18" charset="0"/>
                <a:sym typeface="Symbol" panose="05050102010706020507" pitchFamily="18" charset="2"/>
              </a:rPr>
              <a:t>r</a:t>
            </a:r>
          </a:p>
          <a:p>
            <a:pPr lvl="0">
              <a:spcBef>
                <a:spcPct val="0"/>
              </a:spcBef>
              <a:buClr>
                <a:srgbClr val="003399"/>
              </a:buClr>
              <a:buSzTx/>
              <a:buFont typeface="Wingdings" panose="05000000000000000000" charset="0"/>
              <a:buChar char="n"/>
            </a:pPr>
            <a:r>
              <a:rPr lang="en-US" altLang="zh-CN" sz="2400" dirty="0">
                <a:latin typeface="Times New Roman" panose="02020603050405020304" pitchFamily="18" charset="0"/>
                <a:sym typeface="Symbol" panose="05050102010706020507" pitchFamily="18" charset="2"/>
              </a:rPr>
              <a:t>If the intended meaning is </a:t>
            </a:r>
            <a:r>
              <a:rPr lang="en-US" altLang="zh-CN" sz="2400" i="1" dirty="0">
                <a:latin typeface="Cambria Math" panose="02040503050406030204" pitchFamily="18" charset="0"/>
              </a:rPr>
              <a:t>p  </a:t>
            </a:r>
            <a:r>
              <a:rPr lang="en-US" altLang="zh-CN" sz="2400" b="1" dirty="0">
                <a:latin typeface="Cambria Math" panose="02040503050406030204" pitchFamily="18" charset="0"/>
                <a:sym typeface="Symbol" panose="05050102010706020507" pitchFamily="18" charset="2"/>
              </a:rPr>
              <a:t>(</a:t>
            </a:r>
            <a:r>
              <a:rPr lang="en-US" altLang="zh-CN" sz="2400" i="1" dirty="0">
                <a:latin typeface="Cambria Math" panose="02040503050406030204" pitchFamily="18" charset="0"/>
                <a:sym typeface="Symbol" panose="05050102010706020507" pitchFamily="18" charset="2"/>
              </a:rPr>
              <a:t>q </a:t>
            </a:r>
            <a:r>
              <a:rPr lang="en-US" altLang="zh-CN" sz="2400" b="1" i="1" dirty="0">
                <a:latin typeface="Cambria Math" panose="02040503050406030204" pitchFamily="18" charset="0"/>
                <a:sym typeface="Symbol" panose="05050102010706020507" pitchFamily="18" charset="2"/>
              </a:rPr>
              <a:t>  </a:t>
            </a:r>
            <a:r>
              <a:rPr lang="en-US" altLang="zh-CN" sz="2400" i="1" dirty="0">
                <a:latin typeface="Cambria Math" panose="02040503050406030204" pitchFamily="18" charset="0"/>
                <a:sym typeface="Symbol" panose="05050102010706020507" pitchFamily="18" charset="2"/>
              </a:rPr>
              <a:t>r )  </a:t>
            </a:r>
            <a:r>
              <a:rPr lang="en-US" altLang="zh-CN" sz="2400" dirty="0">
                <a:latin typeface="Times New Roman" panose="02020603050405020304" pitchFamily="18" charset="0"/>
                <a:sym typeface="Symbol" panose="05050102010706020507" pitchFamily="18" charset="2"/>
              </a:rPr>
              <a:t>then parentheses must be used.</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41</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120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120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1205"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Logic and Bit Operations</a:t>
            </a:r>
          </a:p>
        </p:txBody>
      </p:sp>
      <p:sp>
        <p:nvSpPr>
          <p:cNvPr id="51206" name="Rectangle 3"/>
          <p:cNvSpPr>
            <a:spLocks noGrp="1"/>
          </p:cNvSpPr>
          <p:nvPr>
            <p:ph idx="1"/>
          </p:nvPr>
        </p:nvSpPr>
        <p:spPr/>
        <p:txBody>
          <a:bodyPr vert="horz" wrap="square" lIns="91440" tIns="45720" rIns="91440" bIns="45720" anchor="t" anchorCtr="0"/>
          <a:lstStyle/>
          <a:p>
            <a:pPr eaLnBrk="1" hangingPunct="1">
              <a:lnSpc>
                <a:spcPct val="90000"/>
              </a:lnSpc>
            </a:pPr>
            <a:r>
              <a:rPr lang="en-US" altLang="zh-CN" dirty="0">
                <a:latin typeface="Times New Roman" panose="02020603050405020304" pitchFamily="18" charset="0"/>
              </a:rPr>
              <a:t>A </a:t>
            </a:r>
            <a:r>
              <a:rPr lang="en-US" altLang="zh-CN" i="1" dirty="0">
                <a:latin typeface="Times New Roman" panose="02020603050405020304" pitchFamily="18" charset="0"/>
              </a:rPr>
              <a:t>bit</a:t>
            </a:r>
            <a:r>
              <a:rPr lang="en-US" altLang="zh-CN" dirty="0">
                <a:latin typeface="Times New Roman" panose="02020603050405020304" pitchFamily="18" charset="0"/>
              </a:rPr>
              <a:t> is a </a:t>
            </a:r>
            <a:r>
              <a:rPr lang="en-US" altLang="zh-CN" u="sng" dirty="0">
                <a:latin typeface="Times New Roman" panose="02020603050405020304" pitchFamily="18" charset="0"/>
              </a:rPr>
              <a:t>bi</a:t>
            </a:r>
            <a:r>
              <a:rPr lang="en-US" altLang="zh-CN" dirty="0">
                <a:latin typeface="Times New Roman" panose="02020603050405020304" pitchFamily="18" charset="0"/>
              </a:rPr>
              <a:t>nary (base 2) dig</a:t>
            </a:r>
            <a:r>
              <a:rPr lang="en-US" altLang="zh-CN" u="sng" dirty="0">
                <a:latin typeface="Times New Roman" panose="02020603050405020304" pitchFamily="18" charset="0"/>
              </a:rPr>
              <a:t>it</a:t>
            </a:r>
            <a:r>
              <a:rPr lang="en-US" altLang="zh-CN" dirty="0">
                <a:latin typeface="Times New Roman" panose="02020603050405020304" pitchFamily="18" charset="0"/>
              </a:rPr>
              <a:t>: 0 or 1.</a:t>
            </a:r>
          </a:p>
          <a:p>
            <a:pPr eaLnBrk="1" hangingPunct="1">
              <a:lnSpc>
                <a:spcPct val="90000"/>
              </a:lnSpc>
            </a:pPr>
            <a:r>
              <a:rPr lang="en-US" altLang="zh-CN" dirty="0">
                <a:solidFill>
                  <a:schemeClr val="hlink"/>
                </a:solidFill>
                <a:latin typeface="Times New Roman" panose="02020603050405020304" pitchFamily="18" charset="0"/>
              </a:rPr>
              <a:t>Bits may be used to represent truth values.</a:t>
            </a:r>
          </a:p>
          <a:p>
            <a:pPr eaLnBrk="1" hangingPunct="1">
              <a:lnSpc>
                <a:spcPct val="90000"/>
              </a:lnSpc>
            </a:pPr>
            <a:r>
              <a:rPr lang="en-US" altLang="zh-CN" dirty="0">
                <a:solidFill>
                  <a:srgbClr val="006600"/>
                </a:solidFill>
                <a:latin typeface="Times New Roman" panose="02020603050405020304" pitchFamily="18" charset="0"/>
              </a:rPr>
              <a:t>By convention: </a:t>
            </a:r>
            <a:br>
              <a:rPr lang="en-US" altLang="zh-CN" dirty="0">
                <a:solidFill>
                  <a:srgbClr val="006600"/>
                </a:solidFill>
                <a:latin typeface="Times New Roman" panose="02020603050405020304" pitchFamily="18" charset="0"/>
              </a:rPr>
            </a:br>
            <a:r>
              <a:rPr lang="en-US" altLang="zh-CN" dirty="0">
                <a:solidFill>
                  <a:srgbClr val="006600"/>
                </a:solidFill>
                <a:latin typeface="Times New Roman" panose="02020603050405020304" pitchFamily="18" charset="0"/>
              </a:rPr>
              <a:t>   0 represents “false”; 1 represents “true”.</a:t>
            </a:r>
          </a:p>
          <a:p>
            <a:pPr eaLnBrk="1" hangingPunct="1">
              <a:lnSpc>
                <a:spcPct val="90000"/>
              </a:lnSpc>
            </a:pPr>
            <a:r>
              <a:rPr lang="en-US" altLang="zh-CN" i="1" dirty="0">
                <a:solidFill>
                  <a:srgbClr val="FF0000"/>
                </a:solidFill>
                <a:latin typeface="Times New Roman" panose="02020603050405020304" pitchFamily="18" charset="0"/>
              </a:rPr>
              <a:t>Boolean algebra</a:t>
            </a:r>
            <a:r>
              <a:rPr lang="en-US" altLang="zh-CN" dirty="0">
                <a:solidFill>
                  <a:srgbClr val="FF0000"/>
                </a:solidFill>
                <a:latin typeface="Times New Roman" panose="02020603050405020304" pitchFamily="18" charset="0"/>
              </a:rPr>
              <a:t> </a:t>
            </a:r>
            <a:r>
              <a:rPr lang="en-US" altLang="zh-CN" dirty="0">
                <a:latin typeface="Times New Roman" panose="02020603050405020304" pitchFamily="18" charset="0"/>
              </a:rPr>
              <a:t>is like ordinary algebra except that variables stand for bits, + means “or”, and multiplication means “and”.</a:t>
            </a:r>
          </a:p>
          <a:p>
            <a:pPr lvl="1" eaLnBrk="1" hangingPunct="1">
              <a:lnSpc>
                <a:spcPct val="90000"/>
              </a:lnSpc>
              <a:buNone/>
            </a:pPr>
            <a:endParaRPr lang="en-US" altLang="zh-CN" dirty="0">
              <a:latin typeface="Times New Roman" panose="02020603050405020304" pitchFamily="18" charset="0"/>
            </a:endParaRPr>
          </a:p>
        </p:txBody>
      </p:sp>
      <p:sp>
        <p:nvSpPr>
          <p:cNvPr id="51207" name="Text Box 4"/>
          <p:cNvSpPr txBox="1"/>
          <p:nvPr/>
        </p:nvSpPr>
        <p:spPr>
          <a:xfrm>
            <a:off x="7313613" y="76200"/>
            <a:ext cx="17557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r">
              <a:spcBef>
                <a:spcPct val="0"/>
              </a:spcBef>
              <a:buClrTx/>
              <a:buSzTx/>
              <a:buFontTx/>
              <a:buNone/>
            </a:pPr>
            <a:r>
              <a:rPr lang="en-US" altLang="zh-CN" sz="2000" dirty="0">
                <a:solidFill>
                  <a:schemeClr val="bg1"/>
                </a:solidFill>
                <a:latin typeface="Times New Roman" panose="02020603050405020304" pitchFamily="18" charset="0"/>
              </a:rPr>
              <a:t>Topic #2 – Bits</a:t>
            </a:r>
            <a:endParaRPr lang="en-US" altLang="zh-CN" sz="20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42</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325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325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3253"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Bit Strings</a:t>
            </a:r>
          </a:p>
        </p:txBody>
      </p:sp>
      <p:sp>
        <p:nvSpPr>
          <p:cNvPr id="53254" name="Rectangle 3"/>
          <p:cNvSpPr>
            <a:spLocks noGrp="1"/>
          </p:cNvSpPr>
          <p:nvPr>
            <p:ph idx="1"/>
          </p:nvPr>
        </p:nvSpPr>
        <p:spPr/>
        <p:txBody>
          <a:bodyPr vert="horz" wrap="square" lIns="91440" tIns="45720" rIns="91440" bIns="45720" anchor="t" anchorCtr="0"/>
          <a:lstStyle/>
          <a:p>
            <a:pPr eaLnBrk="1" hangingPunct="1">
              <a:lnSpc>
                <a:spcPct val="80000"/>
              </a:lnSpc>
            </a:pPr>
            <a:r>
              <a:rPr lang="en-US" altLang="zh-CN" sz="2800" dirty="0">
                <a:latin typeface="Times New Roman" panose="02020603050405020304" pitchFamily="18" charset="0"/>
              </a:rPr>
              <a:t>A</a:t>
            </a:r>
            <a:r>
              <a:rPr lang="en-US" altLang="zh-CN" sz="2800" i="1" dirty="0">
                <a:latin typeface="Times New Roman" panose="02020603050405020304" pitchFamily="18" charset="0"/>
              </a:rPr>
              <a:t> Bit string</a:t>
            </a:r>
            <a:r>
              <a:rPr lang="en-US" altLang="zh-CN" sz="2800" dirty="0">
                <a:latin typeface="Times New Roman" panose="02020603050405020304" pitchFamily="18" charset="0"/>
              </a:rPr>
              <a:t> of </a:t>
            </a:r>
            <a:r>
              <a:rPr lang="en-US" altLang="zh-CN" sz="2800" i="1" dirty="0">
                <a:latin typeface="Times New Roman" panose="02020603050405020304" pitchFamily="18" charset="0"/>
              </a:rPr>
              <a:t>length n </a:t>
            </a:r>
            <a:r>
              <a:rPr lang="en-US" altLang="zh-CN" sz="2800" dirty="0">
                <a:latin typeface="Times New Roman" panose="02020603050405020304" pitchFamily="18" charset="0"/>
              </a:rPr>
              <a:t>is an ordered sequence (series, tuple) of </a:t>
            </a:r>
            <a:r>
              <a:rPr lang="en-US" altLang="zh-CN" sz="2800" i="1" dirty="0">
                <a:latin typeface="Times New Roman" panose="02020603050405020304" pitchFamily="18" charset="0"/>
              </a:rPr>
              <a:t>n</a:t>
            </a:r>
            <a:r>
              <a:rPr lang="en-US" altLang="zh-CN" sz="2800" dirty="0">
                <a:latin typeface="Times New Roman" panose="02020603050405020304" pitchFamily="18" charset="0"/>
                <a:sym typeface="Symbol" panose="05050102010706020507" pitchFamily="18" charset="2"/>
              </a:rPr>
              <a:t>0</a:t>
            </a:r>
            <a:r>
              <a:rPr lang="en-US" altLang="zh-CN" sz="2800" dirty="0">
                <a:latin typeface="Times New Roman" panose="02020603050405020304" pitchFamily="18" charset="0"/>
              </a:rPr>
              <a:t> bits.</a:t>
            </a:r>
          </a:p>
          <a:p>
            <a:pPr lvl="1" eaLnBrk="1" hangingPunct="1">
              <a:lnSpc>
                <a:spcPct val="80000"/>
              </a:lnSpc>
            </a:pPr>
            <a:r>
              <a:rPr lang="en-US" altLang="zh-CN" sz="2400" dirty="0">
                <a:latin typeface="Times New Roman" panose="02020603050405020304" pitchFamily="18" charset="0"/>
              </a:rPr>
              <a:t>More on sequences in §2.4</a:t>
            </a:r>
          </a:p>
          <a:p>
            <a:pPr eaLnBrk="1" hangingPunct="1">
              <a:lnSpc>
                <a:spcPct val="80000"/>
              </a:lnSpc>
            </a:pPr>
            <a:r>
              <a:rPr lang="en-US" altLang="zh-CN" sz="2800" dirty="0">
                <a:latin typeface="Times New Roman" panose="02020603050405020304" pitchFamily="18" charset="0"/>
              </a:rPr>
              <a:t>By convention, bit strings are (sometimes) written left to right: </a:t>
            </a:r>
          </a:p>
          <a:p>
            <a:pPr lvl="1" eaLnBrk="1" hangingPunct="1">
              <a:lnSpc>
                <a:spcPct val="80000"/>
              </a:lnSpc>
            </a:pPr>
            <a:r>
              <a:rPr lang="en-US" altLang="zh-CN" sz="2400" i="1" dirty="0">
                <a:latin typeface="Times New Roman" panose="02020603050405020304" pitchFamily="18" charset="0"/>
              </a:rPr>
              <a:t>e.g.</a:t>
            </a:r>
            <a:r>
              <a:rPr lang="en-US" altLang="zh-CN" sz="2400" dirty="0">
                <a:latin typeface="Times New Roman" panose="02020603050405020304" pitchFamily="18" charset="0"/>
              </a:rPr>
              <a:t> the “first” bit of the bit string “1001101010” is 1.</a:t>
            </a:r>
          </a:p>
          <a:p>
            <a:pPr lvl="1" eaLnBrk="1" hangingPunct="1">
              <a:lnSpc>
                <a:spcPct val="80000"/>
              </a:lnSpc>
            </a:pPr>
            <a:r>
              <a:rPr lang="en-US" altLang="zh-CN" sz="2400" dirty="0">
                <a:solidFill>
                  <a:srgbClr val="FF0000"/>
                </a:solidFill>
                <a:latin typeface="Times New Roman" panose="02020603050405020304" pitchFamily="18" charset="0"/>
              </a:rPr>
              <a:t>Watch out!</a:t>
            </a:r>
            <a:r>
              <a:rPr lang="en-US" altLang="zh-CN" sz="2400" dirty="0">
                <a:latin typeface="Times New Roman" panose="02020603050405020304" pitchFamily="18" charset="0"/>
              </a:rPr>
              <a:t>  Another common convention is that the rightmost bit is bit #0, the 2</a:t>
            </a:r>
            <a:r>
              <a:rPr lang="en-US" altLang="zh-CN" sz="2400" baseline="30000" dirty="0">
                <a:latin typeface="Times New Roman" panose="02020603050405020304" pitchFamily="18" charset="0"/>
              </a:rPr>
              <a:t>nd</a:t>
            </a:r>
            <a:r>
              <a:rPr lang="en-US" altLang="zh-CN" sz="2400" dirty="0">
                <a:latin typeface="Times New Roman" panose="02020603050405020304" pitchFamily="18" charset="0"/>
              </a:rPr>
              <a:t>-rightmost is bit #1, etc.</a:t>
            </a:r>
          </a:p>
          <a:p>
            <a:pPr eaLnBrk="1" hangingPunct="1">
              <a:lnSpc>
                <a:spcPct val="80000"/>
              </a:lnSpc>
            </a:pPr>
            <a:r>
              <a:rPr lang="en-US" altLang="zh-CN" sz="2800" dirty="0">
                <a:latin typeface="Times New Roman" panose="02020603050405020304" pitchFamily="18" charset="0"/>
              </a:rPr>
              <a:t>When a bit string represents a base-2 number, by convention, the first (leftmost) bit is the </a:t>
            </a:r>
            <a:r>
              <a:rPr lang="en-US" altLang="zh-CN" sz="2800" i="1" dirty="0">
                <a:latin typeface="Times New Roman" panose="02020603050405020304" pitchFamily="18" charset="0"/>
              </a:rPr>
              <a:t>most significant</a:t>
            </a:r>
            <a:r>
              <a:rPr lang="en-US" altLang="zh-CN" sz="2800" dirty="0">
                <a:latin typeface="Times New Roman" panose="02020603050405020304" pitchFamily="18" charset="0"/>
              </a:rPr>
              <a:t> bit.  </a:t>
            </a:r>
            <a:r>
              <a:rPr lang="en-US" altLang="zh-CN" sz="2800" i="1" dirty="0">
                <a:latin typeface="Times New Roman" panose="02020603050405020304" pitchFamily="18" charset="0"/>
              </a:rPr>
              <a:t>Ex. </a:t>
            </a:r>
            <a:r>
              <a:rPr lang="en-US" altLang="zh-CN" sz="2800" dirty="0">
                <a:latin typeface="Times New Roman" panose="02020603050405020304" pitchFamily="18" charset="0"/>
              </a:rPr>
              <a:t>1101</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=8+4+1=13.</a:t>
            </a:r>
            <a:endParaRPr lang="en-US" altLang="zh-CN" sz="2800" i="1" dirty="0">
              <a:latin typeface="Times New Roman" panose="02020603050405020304" pitchFamily="18" charset="0"/>
            </a:endParaRPr>
          </a:p>
        </p:txBody>
      </p:sp>
      <p:sp>
        <p:nvSpPr>
          <p:cNvPr id="53255" name="Text Box 4"/>
          <p:cNvSpPr txBox="1"/>
          <p:nvPr/>
        </p:nvSpPr>
        <p:spPr>
          <a:xfrm>
            <a:off x="7313613" y="76200"/>
            <a:ext cx="17557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r">
              <a:spcBef>
                <a:spcPct val="0"/>
              </a:spcBef>
              <a:buClrTx/>
              <a:buSzTx/>
              <a:buFontTx/>
              <a:buNone/>
            </a:pPr>
            <a:r>
              <a:rPr lang="en-US" altLang="zh-CN" sz="2000" dirty="0">
                <a:solidFill>
                  <a:schemeClr val="bg1"/>
                </a:solidFill>
                <a:latin typeface="Times New Roman" panose="02020603050405020304" pitchFamily="18" charset="0"/>
              </a:rPr>
              <a:t>Topic #2 – Bits</a:t>
            </a:r>
            <a:endParaRPr lang="en-US" altLang="zh-CN" sz="20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43</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529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530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5301"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Counting in Binary</a:t>
            </a:r>
          </a:p>
        </p:txBody>
      </p:sp>
      <p:sp>
        <p:nvSpPr>
          <p:cNvPr id="55302" name="Rectangle 3"/>
          <p:cNvSpPr>
            <a:spLocks noGrp="1"/>
          </p:cNvSpPr>
          <p:nvPr>
            <p:ph idx="1"/>
          </p:nvPr>
        </p:nvSpPr>
        <p:spPr>
          <a:xfrm>
            <a:off x="501015" y="1196975"/>
            <a:ext cx="8455025" cy="4343400"/>
          </a:xfrm>
        </p:spPr>
        <p:txBody>
          <a:bodyPr vert="horz" wrap="square" lIns="91440" tIns="45720" rIns="91440" bIns="45720" anchor="t" anchorCtr="0"/>
          <a:lstStyle/>
          <a:p>
            <a:pPr eaLnBrk="1" hangingPunct="1"/>
            <a:r>
              <a:rPr lang="en-US" altLang="zh-CN" dirty="0">
                <a:latin typeface="Times New Roman" panose="02020603050405020304" pitchFamily="18" charset="0"/>
              </a:rPr>
              <a:t>Did you know that you can count </a:t>
            </a:r>
            <a:br>
              <a:rPr lang="en-US" altLang="zh-CN" dirty="0">
                <a:latin typeface="Times New Roman" panose="02020603050405020304" pitchFamily="18" charset="0"/>
              </a:rPr>
            </a:br>
            <a:r>
              <a:rPr lang="en-US" altLang="zh-CN" dirty="0">
                <a:latin typeface="Times New Roman" panose="02020603050405020304" pitchFamily="18" charset="0"/>
              </a:rPr>
              <a:t>to 1,023 just using two hands?</a:t>
            </a:r>
          </a:p>
          <a:p>
            <a:pPr lvl="1" eaLnBrk="1" hangingPunct="1"/>
            <a:r>
              <a:rPr lang="en-US" altLang="zh-CN" dirty="0">
                <a:latin typeface="Times New Roman" panose="02020603050405020304" pitchFamily="18" charset="0"/>
              </a:rPr>
              <a:t>How?  Count in binary!</a:t>
            </a:r>
          </a:p>
          <a:p>
            <a:pPr lvl="2" eaLnBrk="1" hangingPunct="1"/>
            <a:r>
              <a:rPr lang="en-US" altLang="zh-CN" dirty="0">
                <a:latin typeface="Times New Roman" panose="02020603050405020304" pitchFamily="18" charset="0"/>
              </a:rPr>
              <a:t>Each finger (up/down) represents 1 bit.</a:t>
            </a:r>
          </a:p>
          <a:p>
            <a:pPr eaLnBrk="1" hangingPunct="1"/>
            <a:r>
              <a:rPr lang="en-US" altLang="zh-CN" dirty="0">
                <a:latin typeface="Times New Roman" panose="02020603050405020304" pitchFamily="18" charset="0"/>
              </a:rPr>
              <a:t>To increment: Flip the rightmost (low-order) bit.</a:t>
            </a:r>
          </a:p>
          <a:p>
            <a:pPr lvl="1" eaLnBrk="1" hangingPunct="1"/>
            <a:r>
              <a:rPr lang="en-US" altLang="zh-CN" dirty="0">
                <a:latin typeface="Times New Roman" panose="02020603050405020304" pitchFamily="18" charset="0"/>
              </a:rPr>
              <a:t>If it changes 1→0, then also flip the next bit to the left,</a:t>
            </a:r>
          </a:p>
          <a:p>
            <a:pPr lvl="2" eaLnBrk="1" hangingPunct="1"/>
            <a:r>
              <a:rPr lang="en-US" altLang="zh-CN" dirty="0">
                <a:latin typeface="Times New Roman" panose="02020603050405020304" pitchFamily="18" charset="0"/>
              </a:rPr>
              <a:t>If that bit changes 1→0, then flip the next one, </a:t>
            </a:r>
            <a:r>
              <a:rPr lang="en-US" altLang="zh-CN" i="1" dirty="0">
                <a:latin typeface="Times New Roman" panose="02020603050405020304" pitchFamily="18" charset="0"/>
              </a:rPr>
              <a:t>etc.</a:t>
            </a:r>
          </a:p>
          <a:p>
            <a:pPr eaLnBrk="1" hangingPunct="1"/>
            <a:r>
              <a:rPr lang="en-US" altLang="zh-CN" dirty="0">
                <a:latin typeface="Times New Roman" panose="02020603050405020304" pitchFamily="18" charset="0"/>
              </a:rPr>
              <a:t>0000000000, 0000000001, 0000000010, …</a:t>
            </a:r>
            <a:br>
              <a:rPr lang="en-US" altLang="zh-CN" dirty="0">
                <a:latin typeface="Times New Roman" panose="02020603050405020304" pitchFamily="18" charset="0"/>
              </a:rPr>
            </a:br>
            <a:r>
              <a:rPr lang="en-US" altLang="zh-CN" dirty="0">
                <a:latin typeface="Times New Roman" panose="02020603050405020304" pitchFamily="18" charset="0"/>
              </a:rPr>
              <a:t>…, 1111111101, 1111111110, 1111111111 </a:t>
            </a:r>
          </a:p>
        </p:txBody>
      </p:sp>
      <p:sp>
        <p:nvSpPr>
          <p:cNvPr id="55303" name="Text Box 5"/>
          <p:cNvSpPr txBox="1"/>
          <p:nvPr/>
        </p:nvSpPr>
        <p:spPr>
          <a:xfrm>
            <a:off x="7313613" y="76200"/>
            <a:ext cx="17557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r">
              <a:spcBef>
                <a:spcPct val="0"/>
              </a:spcBef>
              <a:buClrTx/>
              <a:buSzTx/>
              <a:buFontTx/>
              <a:buNone/>
            </a:pPr>
            <a:r>
              <a:rPr lang="en-US" altLang="zh-CN" sz="2000" dirty="0">
                <a:solidFill>
                  <a:schemeClr val="bg1"/>
                </a:solidFill>
                <a:latin typeface="Times New Roman" panose="02020603050405020304" pitchFamily="18" charset="0"/>
              </a:rPr>
              <a:t>Topic #2 – Bits</a:t>
            </a:r>
            <a:endParaRPr lang="en-US" altLang="zh-CN" sz="2000" dirty="0">
              <a:solidFill>
                <a:schemeClr val="bg1"/>
              </a:solidFill>
              <a:latin typeface="Times New Roman" panose="02020603050405020304" pitchFamily="18" charset="0"/>
              <a:ea typeface="Times New Roman" panose="02020603050405020304" pitchFamily="18"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734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734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7349"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Bitwise Operations</a:t>
            </a:r>
          </a:p>
        </p:txBody>
      </p:sp>
      <p:sp>
        <p:nvSpPr>
          <p:cNvPr id="57350" name="Rectangle 3"/>
          <p:cNvSpPr>
            <a:spLocks noGrp="1"/>
          </p:cNvSpPr>
          <p:nvPr>
            <p:ph idx="1"/>
          </p:nvPr>
        </p:nvSpPr>
        <p:spPr/>
        <p:txBody>
          <a:bodyPr vert="horz" wrap="square" lIns="91440" tIns="45720" rIns="91440" bIns="45720" anchor="t" anchorCtr="0"/>
          <a:lstStyle/>
          <a:p>
            <a:pPr eaLnBrk="1" hangingPunct="1"/>
            <a:r>
              <a:rPr lang="en-US" altLang="zh-CN" dirty="0">
                <a:latin typeface="Times New Roman" panose="02020603050405020304" pitchFamily="18" charset="0"/>
              </a:rPr>
              <a:t>Boolean operations can be extended to operate on bit strings as well as single bits.</a:t>
            </a:r>
          </a:p>
          <a:p>
            <a:pPr eaLnBrk="1" hangingPunct="1"/>
            <a:r>
              <a:rPr lang="en-US" altLang="zh-CN" dirty="0">
                <a:latin typeface="Times New Roman" panose="02020603050405020304" pitchFamily="18" charset="0"/>
              </a:rPr>
              <a:t>E.g.:</a:t>
            </a:r>
            <a:br>
              <a:rPr lang="en-US" altLang="zh-CN" dirty="0">
                <a:latin typeface="Times New Roman" panose="02020603050405020304" pitchFamily="18" charset="0"/>
              </a:rPr>
            </a:br>
            <a:r>
              <a:rPr lang="en-US" altLang="zh-CN" dirty="0">
                <a:latin typeface="Times New Roman" panose="02020603050405020304" pitchFamily="18" charset="0"/>
              </a:rPr>
              <a:t>01 1011 0110</a:t>
            </a:r>
            <a:br>
              <a:rPr lang="en-US" altLang="zh-CN" dirty="0">
                <a:latin typeface="Times New Roman" panose="02020603050405020304" pitchFamily="18" charset="0"/>
              </a:rPr>
            </a:br>
            <a:r>
              <a:rPr lang="en-US" altLang="zh-CN" u="sng" dirty="0">
                <a:latin typeface="Times New Roman" panose="02020603050405020304" pitchFamily="18" charset="0"/>
              </a:rPr>
              <a:t>11 0001 1101</a:t>
            </a:r>
            <a:br>
              <a:rPr lang="en-US" altLang="zh-CN" u="sng" dirty="0">
                <a:latin typeface="Times New Roman" panose="02020603050405020304" pitchFamily="18" charset="0"/>
              </a:rPr>
            </a:br>
            <a:r>
              <a:rPr lang="en-US" altLang="zh-CN" dirty="0">
                <a:solidFill>
                  <a:schemeClr val="bg1"/>
                </a:solidFill>
                <a:latin typeface="Times New Roman" panose="02020603050405020304" pitchFamily="18" charset="0"/>
              </a:rPr>
              <a:t>11 1011 1111</a:t>
            </a:r>
            <a:r>
              <a:rPr lang="en-US" altLang="zh-CN" dirty="0">
                <a:latin typeface="Times New Roman" panose="02020603050405020304" pitchFamily="18" charset="0"/>
              </a:rPr>
              <a:t>  Bit-wise OR</a:t>
            </a:r>
            <a:br>
              <a:rPr lang="en-US" altLang="zh-CN" dirty="0">
                <a:latin typeface="Times New Roman" panose="02020603050405020304" pitchFamily="18" charset="0"/>
              </a:rPr>
            </a:br>
            <a:r>
              <a:rPr lang="en-US" altLang="zh-CN" dirty="0">
                <a:solidFill>
                  <a:schemeClr val="bg1"/>
                </a:solidFill>
                <a:latin typeface="Times New Roman" panose="02020603050405020304" pitchFamily="18" charset="0"/>
              </a:rPr>
              <a:t>01 0001 0100</a:t>
            </a:r>
            <a:r>
              <a:rPr lang="en-US" altLang="zh-CN" dirty="0">
                <a:latin typeface="Times New Roman" panose="02020603050405020304" pitchFamily="18" charset="0"/>
              </a:rPr>
              <a:t>  Bit-wise AND</a:t>
            </a:r>
            <a:br>
              <a:rPr lang="en-US" altLang="zh-CN" dirty="0">
                <a:latin typeface="Times New Roman" panose="02020603050405020304" pitchFamily="18" charset="0"/>
              </a:rPr>
            </a:br>
            <a:r>
              <a:rPr lang="en-US" altLang="zh-CN" dirty="0">
                <a:solidFill>
                  <a:schemeClr val="bg1"/>
                </a:solidFill>
                <a:latin typeface="Times New Roman" panose="02020603050405020304" pitchFamily="18" charset="0"/>
              </a:rPr>
              <a:t>10 1010 1011</a:t>
            </a:r>
            <a:r>
              <a:rPr lang="en-US" altLang="zh-CN" dirty="0">
                <a:latin typeface="Times New Roman" panose="02020603050405020304" pitchFamily="18" charset="0"/>
              </a:rPr>
              <a:t>  Bit-wise XOR</a:t>
            </a:r>
          </a:p>
        </p:txBody>
      </p:sp>
      <p:sp>
        <p:nvSpPr>
          <p:cNvPr id="57351" name="Text Box 4"/>
          <p:cNvSpPr txBox="1"/>
          <p:nvPr/>
        </p:nvSpPr>
        <p:spPr>
          <a:xfrm>
            <a:off x="7313613" y="76200"/>
            <a:ext cx="17557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r">
              <a:spcBef>
                <a:spcPct val="0"/>
              </a:spcBef>
              <a:buClrTx/>
              <a:buSzTx/>
              <a:buFontTx/>
              <a:buNone/>
            </a:pPr>
            <a:r>
              <a:rPr lang="en-US" altLang="zh-CN" sz="2000" dirty="0">
                <a:solidFill>
                  <a:schemeClr val="bg1"/>
                </a:solidFill>
                <a:latin typeface="Times New Roman" panose="02020603050405020304" pitchFamily="18" charset="0"/>
              </a:rPr>
              <a:t>Topic #2 – Bits</a:t>
            </a:r>
            <a:endParaRPr lang="en-US" altLang="zh-CN" sz="2000" dirty="0">
              <a:solidFill>
                <a:schemeClr val="bg1"/>
              </a:solidFill>
              <a:latin typeface="Times New Roman" panose="02020603050405020304" pitchFamily="18" charset="0"/>
              <a:ea typeface="Times New Roman" panose="02020603050405020304" pitchFamily="18" charset="0"/>
            </a:endParaRPr>
          </a:p>
        </p:txBody>
      </p:sp>
      <p:sp>
        <p:nvSpPr>
          <p:cNvPr id="2" name="矩形 1"/>
          <p:cNvSpPr/>
          <p:nvPr/>
        </p:nvSpPr>
        <p:spPr>
          <a:xfrm>
            <a:off x="1258888" y="3861118"/>
            <a:ext cx="3744912"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spcAft>
                <a:spcPts val="600"/>
              </a:spcAft>
              <a:buClrTx/>
              <a:buSzTx/>
              <a:buFontTx/>
              <a:buNone/>
            </a:pPr>
            <a:r>
              <a:rPr lang="en-US" altLang="zh-CN" dirty="0">
                <a:solidFill>
                  <a:srgbClr val="FF0000"/>
                </a:solidFill>
                <a:latin typeface="Times New Roman" panose="02020603050405020304" pitchFamily="18" charset="0"/>
              </a:rPr>
              <a:t>11 1011 1111</a:t>
            </a:r>
            <a:br>
              <a:rPr lang="en-US" altLang="zh-CN" dirty="0">
                <a:solidFill>
                  <a:srgbClr val="FF0000"/>
                </a:solidFill>
                <a:latin typeface="Times New Roman" panose="02020603050405020304" pitchFamily="18" charset="0"/>
              </a:rPr>
            </a:br>
            <a:r>
              <a:rPr lang="en-US" altLang="zh-CN" dirty="0">
                <a:solidFill>
                  <a:srgbClr val="FF0000"/>
                </a:solidFill>
                <a:latin typeface="Times New Roman" panose="02020603050405020304" pitchFamily="18" charset="0"/>
              </a:rPr>
              <a:t>01 0001 0100</a:t>
            </a:r>
            <a:br>
              <a:rPr lang="en-US" altLang="zh-CN" dirty="0">
                <a:solidFill>
                  <a:srgbClr val="FF0000"/>
                </a:solidFill>
                <a:latin typeface="Times New Roman" panose="02020603050405020304" pitchFamily="18" charset="0"/>
              </a:rPr>
            </a:br>
            <a:r>
              <a:rPr lang="en-US" altLang="zh-CN" dirty="0">
                <a:solidFill>
                  <a:srgbClr val="FF0000"/>
                </a:solidFill>
                <a:latin typeface="Times New Roman" panose="02020603050405020304" pitchFamily="18" charset="0"/>
              </a:rPr>
              <a:t>10 1010 1011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45</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9395" name="日期占位符 5"/>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59396" name="页脚占位符 6"/>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59397" name="Rectangle 2"/>
          <p:cNvSpPr>
            <a:spLocks noGrp="1"/>
          </p:cNvSpPr>
          <p:nvPr>
            <p:ph type="title"/>
          </p:nvPr>
        </p:nvSpPr>
        <p:spPr/>
        <p:txBody>
          <a:bodyPr vert="horz" wrap="square" lIns="91440" tIns="45720" rIns="91440" bIns="45720" anchor="b" anchorCtr="0"/>
          <a:lstStyle/>
          <a:p>
            <a:pPr eaLnBrk="1" hangingPunct="1"/>
            <a:r>
              <a:rPr lang="en-US" altLang="zh-CN" dirty="0">
                <a:latin typeface="Times New Roman" panose="02020603050405020304" pitchFamily="18" charset="0"/>
              </a:rPr>
              <a:t>End of §1.1</a:t>
            </a:r>
          </a:p>
        </p:txBody>
      </p:sp>
      <p:sp>
        <p:nvSpPr>
          <p:cNvPr id="59398" name="Rectangle 3"/>
          <p:cNvSpPr>
            <a:spLocks noGrp="1"/>
          </p:cNvSpPr>
          <p:nvPr>
            <p:ph sz="half" idx="1"/>
          </p:nvPr>
        </p:nvSpPr>
        <p:spPr>
          <a:xfrm>
            <a:off x="1042988" y="1340168"/>
            <a:ext cx="3810000" cy="4114800"/>
          </a:xfrm>
        </p:spPr>
        <p:txBody>
          <a:bodyPr vert="horz" wrap="square" lIns="91440" tIns="45720" rIns="91440" bIns="45720" anchor="t" anchorCtr="0"/>
          <a:lstStyle/>
          <a:p>
            <a:pPr eaLnBrk="1" hangingPunct="1">
              <a:buSzPct val="60000"/>
              <a:buFont typeface="Wingdings" panose="05000000000000000000" pitchFamily="2" charset="2"/>
              <a:buNone/>
            </a:pPr>
            <a:r>
              <a:rPr lang="en-US" altLang="zh-CN" dirty="0">
                <a:latin typeface="Times New Roman" panose="02020603050405020304" pitchFamily="18" charset="0"/>
                <a:ea typeface="+mn-ea"/>
                <a:cs typeface="+mn-cs"/>
              </a:rPr>
              <a:t>You have learned about:</a:t>
            </a:r>
          </a:p>
          <a:p>
            <a:pPr eaLnBrk="1" hangingPunct="1">
              <a:buSzPct val="60000"/>
            </a:pPr>
            <a:r>
              <a:rPr lang="en-US" altLang="zh-CN" dirty="0">
                <a:latin typeface="Times New Roman" panose="02020603050405020304" pitchFamily="18" charset="0"/>
                <a:ea typeface="+mn-ea"/>
                <a:cs typeface="+mn-cs"/>
              </a:rPr>
              <a:t>Propositions: What they are.</a:t>
            </a:r>
          </a:p>
          <a:p>
            <a:pPr eaLnBrk="1" hangingPunct="1">
              <a:buSzPct val="60000"/>
            </a:pPr>
            <a:r>
              <a:rPr lang="en-US" altLang="zh-CN" dirty="0">
                <a:latin typeface="Times New Roman" panose="02020603050405020304" pitchFamily="18" charset="0"/>
                <a:ea typeface="+mn-ea"/>
                <a:cs typeface="+mn-cs"/>
              </a:rPr>
              <a:t>Propositional logic operators’</a:t>
            </a:r>
          </a:p>
          <a:p>
            <a:pPr lvl="1" eaLnBrk="1" hangingPunct="1">
              <a:buSzPct val="55000"/>
            </a:pPr>
            <a:r>
              <a:rPr lang="en-US" altLang="zh-CN" dirty="0">
                <a:latin typeface="Times New Roman" panose="02020603050405020304" pitchFamily="18" charset="0"/>
                <a:ea typeface="+mn-ea"/>
              </a:rPr>
              <a:t>Symbolic notations.</a:t>
            </a:r>
          </a:p>
          <a:p>
            <a:pPr lvl="1" eaLnBrk="1" hangingPunct="1">
              <a:buSzPct val="55000"/>
            </a:pPr>
            <a:r>
              <a:rPr lang="en-US" altLang="zh-CN" dirty="0">
                <a:latin typeface="Times New Roman" panose="02020603050405020304" pitchFamily="18" charset="0"/>
                <a:ea typeface="+mn-ea"/>
              </a:rPr>
              <a:t>English equivalents.</a:t>
            </a:r>
          </a:p>
          <a:p>
            <a:pPr lvl="1" eaLnBrk="1" hangingPunct="1">
              <a:buSzPct val="55000"/>
            </a:pPr>
            <a:r>
              <a:rPr lang="en-US" altLang="zh-CN" dirty="0">
                <a:latin typeface="Times New Roman" panose="02020603050405020304" pitchFamily="18" charset="0"/>
                <a:ea typeface="+mn-ea"/>
              </a:rPr>
              <a:t>Logical meaning.</a:t>
            </a:r>
          </a:p>
          <a:p>
            <a:pPr lvl="1" eaLnBrk="1" hangingPunct="1">
              <a:buSzPct val="55000"/>
            </a:pPr>
            <a:r>
              <a:rPr lang="en-US" altLang="zh-CN" dirty="0">
                <a:latin typeface="Times New Roman" panose="02020603050405020304" pitchFamily="18" charset="0"/>
                <a:ea typeface="+mn-ea"/>
              </a:rPr>
              <a:t>Truth tables.</a:t>
            </a:r>
          </a:p>
        </p:txBody>
      </p:sp>
      <p:sp>
        <p:nvSpPr>
          <p:cNvPr id="59399" name="Rectangle 4"/>
          <p:cNvSpPr>
            <a:spLocks noGrp="1"/>
          </p:cNvSpPr>
          <p:nvPr>
            <p:ph sz="half" idx="2"/>
          </p:nvPr>
        </p:nvSpPr>
        <p:spPr>
          <a:xfrm>
            <a:off x="5003483" y="1771968"/>
            <a:ext cx="3810000" cy="4114800"/>
          </a:xfrm>
        </p:spPr>
        <p:txBody>
          <a:bodyPr vert="horz" wrap="square" lIns="91440" tIns="45720" rIns="91440" bIns="45720" anchor="t" anchorCtr="0"/>
          <a:lstStyle/>
          <a:p>
            <a:pPr eaLnBrk="1" hangingPunct="1">
              <a:buSzPct val="60000"/>
            </a:pPr>
            <a:r>
              <a:rPr lang="en-US" altLang="zh-CN" dirty="0">
                <a:latin typeface="Times New Roman" panose="02020603050405020304" pitchFamily="18" charset="0"/>
                <a:ea typeface="+mn-ea"/>
                <a:cs typeface="+mn-cs"/>
              </a:rPr>
              <a:t>Atomic vs. compound propositions.</a:t>
            </a:r>
          </a:p>
          <a:p>
            <a:pPr eaLnBrk="1" hangingPunct="1">
              <a:buSzPct val="60000"/>
            </a:pPr>
            <a:r>
              <a:rPr lang="en-US" altLang="zh-CN" dirty="0">
                <a:latin typeface="Times New Roman" panose="02020603050405020304" pitchFamily="18" charset="0"/>
                <a:ea typeface="+mn-ea"/>
                <a:cs typeface="+mn-cs"/>
              </a:rPr>
              <a:t>Bits and bit-strings.</a:t>
            </a:r>
          </a:p>
          <a:p>
            <a:pPr eaLnBrk="1" hangingPunct="1">
              <a:buSzPct val="60000"/>
              <a:buFont typeface="Wingdings" panose="05000000000000000000" pitchFamily="2" charset="2"/>
              <a:buNone/>
            </a:pPr>
            <a:endParaRPr lang="en-US" altLang="zh-CN" dirty="0">
              <a:latin typeface="Times New Roman" panose="02020603050405020304" pitchFamily="18" charset="0"/>
              <a:ea typeface="+mn-ea"/>
              <a:cs typeface="+mn-cs"/>
            </a:endParaRPr>
          </a:p>
          <a:p>
            <a:pPr eaLnBrk="1" hangingPunct="1">
              <a:buSzPct val="60000"/>
            </a:pPr>
            <a:endParaRPr lang="zh-CN" altLang="en-US" dirty="0">
              <a:latin typeface="Times New Roman" panose="02020603050405020304" pitchFamily="18" charset="0"/>
              <a:ea typeface="+mn-ea"/>
              <a:cs typeface="+mn-cs"/>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cs typeface="Times New Roman" panose="02020603050405020304" pitchFamily="18" charset="0"/>
              </a:rPr>
              <a:t>46</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61443"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cs typeface="Times New Roman" panose="02020603050405020304" pitchFamily="18" charset="0"/>
              </a:rPr>
              <a:t>2025/2/24</a:t>
            </a:fld>
            <a:endParaRPr lang="zh-CN" altLang="en-US" sz="1000" b="1" i="1" dirty="0">
              <a:solidFill>
                <a:srgbClr val="009999"/>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61444"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cs typeface="Times New Roman" panose="02020603050405020304" pitchFamily="18" charset="0"/>
              </a:rPr>
              <a:t>School of Computer Science, BUPT</a:t>
            </a:r>
            <a:endParaRPr lang="zh-CN" altLang="en-US" sz="1200" b="1" i="1" dirty="0">
              <a:solidFill>
                <a:srgbClr val="009999"/>
              </a:solidFill>
              <a:latin typeface="Arial Narrow" panose="020B0606020202030204" pitchFamily="34" charset="0"/>
              <a:ea typeface="Times New Roman" panose="02020603050405020304" pitchFamily="18" charset="0"/>
            </a:endParaRPr>
          </a:p>
        </p:txBody>
      </p:sp>
      <p:sp>
        <p:nvSpPr>
          <p:cNvPr id="61445" name="Rectangle 2"/>
          <p:cNvSpPr>
            <a:spLocks noGrp="1"/>
          </p:cNvSpPr>
          <p:nvPr>
            <p:ph type="title"/>
          </p:nvPr>
        </p:nvSpPr>
        <p:spPr/>
        <p:txBody>
          <a:bodyPr vert="horz" wrap="square" lIns="91440" tIns="45720" rIns="91440" bIns="45720" anchor="b" anchorCtr="0"/>
          <a:lstStyle/>
          <a:p>
            <a:pPr eaLnBrk="1" hangingPunct="1"/>
            <a:r>
              <a:rPr lang="en-US" altLang="zh-CN" dirty="0"/>
              <a:t>Homework</a:t>
            </a:r>
          </a:p>
        </p:txBody>
      </p:sp>
      <p:sp>
        <p:nvSpPr>
          <p:cNvPr id="61446" name="Rectangle 3"/>
          <p:cNvSpPr>
            <a:spLocks noGrp="1"/>
          </p:cNvSpPr>
          <p:nvPr>
            <p:ph idx="1"/>
          </p:nvPr>
        </p:nvSpPr>
        <p:spPr/>
        <p:txBody>
          <a:bodyPr vert="horz" wrap="square" lIns="91440" tIns="45720" rIns="91440" bIns="45720" anchor="t" anchorCtr="0"/>
          <a:lstStyle/>
          <a:p>
            <a:pPr eaLnBrk="1" hangingPunct="1"/>
            <a:r>
              <a:rPr lang="en-US" altLang="zh-CN" dirty="0">
                <a:sym typeface="Symbol" panose="05050102010706020507" pitchFamily="18" charset="2"/>
              </a:rPr>
              <a:t>1.1 </a:t>
            </a:r>
          </a:p>
          <a:p>
            <a:pPr lvl="1" eaLnBrk="1" hangingPunct="1"/>
            <a:r>
              <a:rPr lang="en-US" altLang="zh-CN" dirty="0"/>
              <a:t>2,14,16,28,30,32,40</a:t>
            </a:r>
          </a:p>
          <a:p>
            <a:pPr eaLnBrk="1" hangingPunct="1"/>
            <a:r>
              <a:rPr lang="zh-CN" altLang="en-US" dirty="0"/>
              <a:t>作业</a:t>
            </a:r>
            <a:endParaRPr lang="en-US" altLang="zh-CN" dirty="0"/>
          </a:p>
          <a:p>
            <a:pPr lvl="1" eaLnBrk="1" hangingPunct="1"/>
            <a:r>
              <a:rPr lang="zh-CN" altLang="en-US" dirty="0"/>
              <a:t>在云平台提交（按时提交）</a:t>
            </a:r>
            <a:endParaRPr lang="en-US" altLang="zh-CN" dirty="0"/>
          </a:p>
          <a:p>
            <a:pPr lvl="1" eaLnBrk="1" hangingPunct="1"/>
            <a:r>
              <a:rPr lang="zh-CN" altLang="zh-CN" dirty="0"/>
              <a:t>命名方式</a:t>
            </a:r>
            <a:r>
              <a:rPr lang="zh-CN" altLang="en-US" dirty="0"/>
              <a:t>：</a:t>
            </a:r>
            <a:r>
              <a:rPr lang="zh-CN" altLang="zh-CN" dirty="0"/>
              <a:t>“</a:t>
            </a:r>
            <a:r>
              <a:rPr lang="en-US" altLang="zh-CN" dirty="0"/>
              <a:t>xxx</a:t>
            </a:r>
            <a:r>
              <a:rPr lang="zh-CN" altLang="zh-CN" dirty="0"/>
              <a:t>班</a:t>
            </a:r>
            <a:r>
              <a:rPr lang="en-US" altLang="zh-CN" dirty="0"/>
              <a:t>-</a:t>
            </a:r>
            <a:r>
              <a:rPr lang="zh-CN" altLang="zh-CN" dirty="0"/>
              <a:t>姓名</a:t>
            </a:r>
            <a:r>
              <a:rPr lang="en-US" altLang="zh-CN" dirty="0"/>
              <a:t>-</a:t>
            </a:r>
            <a:r>
              <a:rPr lang="zh-CN" altLang="zh-CN" dirty="0"/>
              <a:t>第</a:t>
            </a:r>
            <a:r>
              <a:rPr lang="en-US" altLang="zh-CN" dirty="0"/>
              <a:t>X</a:t>
            </a:r>
            <a:r>
              <a:rPr lang="zh-CN" altLang="zh-CN" dirty="0"/>
              <a:t>次作业”</a:t>
            </a:r>
          </a:p>
          <a:p>
            <a:pPr lvl="1" eaLnBrk="1" hangingPunct="1"/>
            <a:r>
              <a:rPr lang="zh-CN" altLang="en-US" dirty="0">
                <a:sym typeface="+mn-ea"/>
              </a:rPr>
              <a:t>上传文件为图片格式，以便批改留痕</a:t>
            </a:r>
            <a:endParaRPr lang="zh-CN" altLang="en-US" dirty="0"/>
          </a:p>
          <a:p>
            <a:pPr lvl="1" eaLnBrk="1" hangingPunct="1"/>
            <a:r>
              <a:rPr lang="zh-CN" altLang="en-US" dirty="0">
                <a:sym typeface="+mn-ea"/>
              </a:rPr>
              <a:t>写清题号，解答即可</a:t>
            </a:r>
            <a:endParaRPr lang="en-US" altLang="zh-CN" dirty="0"/>
          </a:p>
          <a:p>
            <a:pPr lvl="1" eaLnBrk="1" hangingPunct="1"/>
            <a:endParaRPr lang="en-US" altLang="zh-CN" dirty="0"/>
          </a:p>
          <a:p>
            <a:pPr eaLnBrk="1" hangingPunct="1"/>
            <a:endParaRPr lang="en-US" altLang="zh-CN" dirty="0"/>
          </a:p>
        </p:txBody>
      </p:sp>
    </p:spTree>
  </p:cSld>
  <p:clrMapOvr>
    <a:masterClrMapping/>
  </p:clrMapOvr>
  <p:transition spd="slow" advTm="8745"/>
</p:sld>
</file>

<file path=ppt/tags/tag1.xml><?xml version="1.0" encoding="utf-8"?>
<p:tagLst xmlns:a="http://schemas.openxmlformats.org/drawingml/2006/main" xmlns:r="http://schemas.openxmlformats.org/officeDocument/2006/relationships" xmlns:p="http://schemas.openxmlformats.org/presentationml/2006/main">
  <p:tag name="KSO_WPP_MARK_KEY" val="a60b4455-3792-438f-8128-50fdf8f22f04"/>
  <p:tag name="COMMONDATA" val="eyJoZGlkIjoiYjZhMmY1NGQwZjE0MWY4MTkzZjM4YzBiNDA1ZmM3ZDE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54ccb5b1-0dea-408a-bd47-d7a758d3005d}"/>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2b459468-691b-43dd-94c5-447b4559bf20}"/>
  <p:tag name="TABLE_ENDDRAG_ORIGIN_RECT" val="222*163"/>
  <p:tag name="TABLE_ENDDRAG_RECT" val="274*213*222*163"/>
</p:tagLst>
</file>

<file path=ppt/tags/tag27.xml><?xml version="1.0" encoding="utf-8"?>
<p:tagLst xmlns:a="http://schemas.openxmlformats.org/drawingml/2006/main" xmlns:r="http://schemas.openxmlformats.org/officeDocument/2006/relationships" xmlns:p="http://schemas.openxmlformats.org/presentationml/2006/main">
  <p:tag name="KSO_WM_UNIT_TABLE_BEAUTIFY" val="smartTable{2ace8c8a-b664-4db4-b3bb-e95e3bd5a890}"/>
  <p:tag name="TABLE_ENDDRAG_ORIGIN_RECT" val="206*189"/>
  <p:tag name="TABLE_ENDDRAG_RECT" val="84*316*206*189"/>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cae0d4ea-7fab-4f02-a265-88b8e43ad77f}"/>
  <p:tag name="TABLE_ENDDRAG_ORIGIN_RECT" val="253*163"/>
  <p:tag name="TABLE_ENDDRAG_RECT" val="343*338*254*163"/>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ad3cc0f8-1214-491b-9cc4-53a81a42deab}"/>
  <p:tag name="TABLE_ENDDRAG_ORIGIN_RECT" val="271*182"/>
  <p:tag name="TABLE_ENDDRAG_RECT" val="178*218*271*182"/>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471636d8-6e95-4e98-b168-abc0b0e5ea49}"/>
  <p:tag name="TABLE_ENDDRAG_ORIGIN_RECT" val="412*189"/>
  <p:tag name="TABLE_ENDDRAG_RECT" val="87*304*412*189"/>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ceaae73b-019a-4951-bf0b-13886d350494}"/>
  <p:tag name="TABLE_ENDDRAG_ORIGIN_RECT" val="594*199"/>
  <p:tag name="TABLE_ENDDRAG_RECT" val="73*313*594*199"/>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68af826c-1113-4dad-9dcd-01b71e503c58}"/>
  <p:tag name="TABLE_ENDDRAG_ORIGIN_RECT" val="257*169"/>
  <p:tag name="TABLE_ENDDRAG_RECT" val="308*162*257*169"/>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742950" marR="0"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742950" marR="0"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28</TotalTime>
  <Words>3685</Words>
  <Application>Microsoft Macintosh PowerPoint</Application>
  <PresentationFormat>全屏显示(4:3)</PresentationFormat>
  <Paragraphs>614</Paragraphs>
  <Slides>46</Slides>
  <Notes>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61" baseType="lpstr">
      <vt:lpstr>宋体</vt:lpstr>
      <vt:lpstr>微软雅黑</vt:lpstr>
      <vt:lpstr>Arial</vt:lpstr>
      <vt:lpstr>Arial Narrow</vt:lpstr>
      <vt:lpstr>Calibri</vt:lpstr>
      <vt:lpstr>Cambria Math</vt:lpstr>
      <vt:lpstr>Copperplate Gothic Bold</vt:lpstr>
      <vt:lpstr>Copperplate Gothic Light</vt:lpstr>
      <vt:lpstr>Symbol</vt:lpstr>
      <vt:lpstr>Tahoma</vt:lpstr>
      <vt:lpstr>Times New Roman</vt:lpstr>
      <vt:lpstr>Wingdings</vt:lpstr>
      <vt:lpstr>Blends</vt:lpstr>
      <vt:lpstr>Word.Document.8</vt:lpstr>
      <vt:lpstr>Equation.DSMT4</vt:lpstr>
      <vt:lpstr>Logic and Proofs</vt:lpstr>
      <vt:lpstr>Logics</vt:lpstr>
      <vt:lpstr>Who Raise Fish?</vt:lpstr>
      <vt:lpstr>Who Raise Fish?</vt:lpstr>
      <vt:lpstr>Who Raise Fish?</vt:lpstr>
      <vt:lpstr>8 Queens Problem</vt:lpstr>
      <vt:lpstr>8 Queens Problem</vt:lpstr>
      <vt:lpstr>8 Queens Problem</vt:lpstr>
      <vt:lpstr>Dijkstra的话</vt:lpstr>
      <vt:lpstr>Ai时代，应用实例</vt:lpstr>
      <vt:lpstr>Discrete Mathematical Structures</vt:lpstr>
      <vt:lpstr>Propositions（命题）</vt:lpstr>
      <vt:lpstr>Example</vt:lpstr>
      <vt:lpstr>PowerPoint 演示文稿</vt:lpstr>
      <vt:lpstr>Logical Connectives and Compound Statements  (逻辑联结词与复合命题）</vt:lpstr>
      <vt:lpstr>Note</vt:lpstr>
      <vt:lpstr>Calculus of propositions (命题演算)</vt:lpstr>
      <vt:lpstr>Logical Connectives（逻辑联结词）</vt:lpstr>
      <vt:lpstr>Negation  ‘not’ : （否定）</vt:lpstr>
      <vt:lpstr>Example </vt:lpstr>
      <vt:lpstr>Conjunction ‘and’ : Ù(合取）</vt:lpstr>
      <vt:lpstr>Conjunction ‘and’ : Ù</vt:lpstr>
      <vt:lpstr>Disjunction (析取）  inclusive ‘or’(可兼或）: Ú</vt:lpstr>
      <vt:lpstr>Disjunction inclusive ‘or’: Ú</vt:lpstr>
      <vt:lpstr>Disjunction Exclusive ‘or’ (不可兼或） : Å</vt:lpstr>
      <vt:lpstr>可兼或与不可兼或</vt:lpstr>
      <vt:lpstr>Implication（蕴涵）‘If...then...’: </vt:lpstr>
      <vt:lpstr>Implication ‘If...then...’: </vt:lpstr>
      <vt:lpstr>Implication ‘If...then...’: </vt:lpstr>
      <vt:lpstr>Implication ‘If...then...’: </vt:lpstr>
      <vt:lpstr>Terminology</vt:lpstr>
      <vt:lpstr>How do we know for sure?</vt:lpstr>
      <vt:lpstr>Using a Truth Table to Show Non-Equivalence</vt:lpstr>
      <vt:lpstr>Example</vt:lpstr>
      <vt:lpstr>Example</vt:lpstr>
      <vt:lpstr>Biconditional  ‘if and only if’, ‘iff’: （等价）</vt:lpstr>
      <vt:lpstr>Biconditional  ‘if and only if’, ‘iff’: </vt:lpstr>
      <vt:lpstr>Boolean Operations Summary</vt:lpstr>
      <vt:lpstr>Problem</vt:lpstr>
      <vt:lpstr>Precedence of logical operators</vt:lpstr>
      <vt:lpstr>Logic and Bit Operations</vt:lpstr>
      <vt:lpstr>Bit Strings</vt:lpstr>
      <vt:lpstr>Counting in Binary</vt:lpstr>
      <vt:lpstr>Bitwise Operations</vt:lpstr>
      <vt:lpstr>End of §1.1</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juan yang</cp:lastModifiedBy>
  <cp:revision>402</cp:revision>
  <dcterms:created xsi:type="dcterms:W3CDTF">2021-02-26T03:39:00Z</dcterms:created>
  <dcterms:modified xsi:type="dcterms:W3CDTF">2025-02-24T15:51:36Z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2052-11.1.0.15319</vt:lpwstr>
  </property>
  <property fmtid="{D5CDD505-2E9C-101B-9397-08002B2CF9AE}" pid="3" name="ICV">
    <vt:lpwstr>7C6C9367078F40399FDAF619F40F2565</vt:lpwstr>
  </property>
</Properties>
</file>