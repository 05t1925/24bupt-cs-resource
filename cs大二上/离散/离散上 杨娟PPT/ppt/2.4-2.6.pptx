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1"/>
  </p:notesMasterIdLst>
  <p:handoutMasterIdLst>
    <p:handoutMasterId r:id="rId79"/>
  </p:handoutMasterIdLst>
  <p:sldIdLst>
    <p:sldId id="289" r:id="rId4"/>
    <p:sldId id="280" r:id="rId5"/>
    <p:sldId id="321" r:id="rId6"/>
    <p:sldId id="282" r:id="rId7"/>
    <p:sldId id="283" r:id="rId8"/>
    <p:sldId id="284" r:id="rId9"/>
    <p:sldId id="322" r:id="rId10"/>
    <p:sldId id="323" r:id="rId11"/>
    <p:sldId id="324" r:id="rId12"/>
    <p:sldId id="325" r:id="rId13"/>
    <p:sldId id="327" r:id="rId14"/>
    <p:sldId id="328" r:id="rId15"/>
    <p:sldId id="329" r:id="rId16"/>
    <p:sldId id="330" r:id="rId17"/>
    <p:sldId id="331" r:id="rId18"/>
    <p:sldId id="332" r:id="rId19"/>
    <p:sldId id="333"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20" r:id="rId39"/>
    <p:sldId id="370" r:id="rId40"/>
    <p:sldId id="355" r:id="rId41"/>
    <p:sldId id="356" r:id="rId42"/>
    <p:sldId id="357" r:id="rId43"/>
    <p:sldId id="358" r:id="rId44"/>
    <p:sldId id="359" r:id="rId45"/>
    <p:sldId id="360" r:id="rId46"/>
    <p:sldId id="361" r:id="rId47"/>
    <p:sldId id="362" r:id="rId48"/>
    <p:sldId id="363" r:id="rId49"/>
    <p:sldId id="364" r:id="rId50"/>
    <p:sldId id="365" r:id="rId52"/>
    <p:sldId id="366" r:id="rId53"/>
    <p:sldId id="367" r:id="rId54"/>
    <p:sldId id="368" r:id="rId55"/>
    <p:sldId id="371" r:id="rId56"/>
    <p:sldId id="372" r:id="rId57"/>
    <p:sldId id="373" r:id="rId58"/>
    <p:sldId id="374" r:id="rId59"/>
    <p:sldId id="375" r:id="rId60"/>
    <p:sldId id="376" r:id="rId61"/>
    <p:sldId id="377" r:id="rId62"/>
    <p:sldId id="378" r:id="rId63"/>
    <p:sldId id="379" r:id="rId64"/>
    <p:sldId id="380" r:id="rId65"/>
    <p:sldId id="381" r:id="rId66"/>
    <p:sldId id="382" r:id="rId67"/>
    <p:sldId id="383" r:id="rId68"/>
    <p:sldId id="384" r:id="rId69"/>
    <p:sldId id="385" r:id="rId70"/>
    <p:sldId id="386" r:id="rId71"/>
    <p:sldId id="387" r:id="rId72"/>
    <p:sldId id="388" r:id="rId73"/>
    <p:sldId id="389" r:id="rId74"/>
    <p:sldId id="391" r:id="rId75"/>
    <p:sldId id="392" r:id="rId76"/>
    <p:sldId id="393" r:id="rId77"/>
    <p:sldId id="394" r:id="rId78"/>
  </p:sldIdLst>
  <p:sldSz cx="9144000" cy="6858000" type="screen4x3"/>
  <p:notesSz cx="6858000" cy="9144000"/>
  <p:custDataLst>
    <p:tags r:id="rId83"/>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208"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95" d="100"/>
          <a:sy n="95" d="100"/>
        </p:scale>
        <p:origin x="675" y="18"/>
      </p:cViewPr>
      <p:guideLst>
        <p:guide orient="horz" pos="2208"/>
        <p:guide pos="28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8.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notesMaster" Target="notesMasters/notes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0F9B84EA-7D68-4D60-9CB1-D50884785D1C}" type="datetimeFigureOut">
              <a:rPr kumimoji="0" lang="zh-CN" altLang="en-US" sz="120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rPr>
            </a:fld>
            <a:endParaRPr kumimoji="0" lang="zh-CN" altLang="en-US" sz="120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noProof="1"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C68F79DD-0838-4657-AA22-6BA8CC932174}" type="slidenum">
              <a:rPr kumimoji="0" lang="zh-CN" altLang="en-US" sz="1200" b="0" i="0" u="none" strike="noStrike" kern="1200" cap="none" spc="0" normalizeH="0" baseline="0" noProof="1" smtClean="0">
                <a:ln>
                  <a:noFill/>
                </a:ln>
                <a:solidFill>
                  <a:schemeClr val="tx1"/>
                </a:solidFill>
                <a:effectLst/>
                <a:uLnTx/>
                <a:uFillTx/>
                <a:latin typeface="Tahoma" panose="020B0604030504040204" pitchFamily="34" charset="0"/>
                <a:ea typeface="宋体"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200">
                <a:latin typeface="Arial" panose="020B060402020209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200">
                <a:latin typeface="Arial" panose="020B060402020209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a:latin typeface="Arial" panose="020B060402020209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00DCAC0-55F0-4901-914B-9F49703739D2}" type="slidenum">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en-US" altLang="zh-CN" sz="1200" dirty="0">
                <a:latin typeface="Arial" panose="020B0604020202090204" pitchFamily="34" charset="0"/>
              </a:rPr>
            </a:fld>
            <a:endParaRPr lang="en-US" altLang="zh-CN" sz="1200" dirty="0">
              <a:latin typeface="Arial" panose="020B0604020202090204" pitchFamily="34" charset="0"/>
            </a:endParaRPr>
          </a:p>
        </p:txBody>
      </p:sp>
      <p:sp>
        <p:nvSpPr>
          <p:cNvPr id="23555" name="Rectangle 2"/>
          <p:cNvSpPr>
            <a:spLocks noRot="1" noTextEdit="1"/>
          </p:cNvSpPr>
          <p:nvPr>
            <p:ph type="sldImg"/>
          </p:nvPr>
        </p:nvSpPr>
        <p:spPr>
          <a:xfrm>
            <a:off x="1138238" y="701675"/>
            <a:ext cx="4583112" cy="3436938"/>
          </a:xfrm>
        </p:spPr>
      </p:sp>
      <p:sp>
        <p:nvSpPr>
          <p:cNvPr id="23556" name="Rectangle 3"/>
          <p:cNvSpPr>
            <a:spLocks noGrp="1"/>
          </p:cNvSpPr>
          <p:nvPr>
            <p:ph type="body"/>
          </p:nvPr>
        </p:nvSpPr>
        <p:spPr>
          <a:xfrm>
            <a:off x="914400" y="4371975"/>
            <a:ext cx="5029200" cy="4060825"/>
          </a:xfrm>
        </p:spPr>
        <p:txBody>
          <a:bodyPr wrap="square" lIns="91440" tIns="45720" rIns="91440" bIns="45720" anchor="t" anchorCtr="0"/>
          <a:p>
            <a:pPr lvl="0" eaLnBrk="1" hangingPunct="1"/>
            <a:r>
              <a:rPr lang="en-US" altLang="zh-CN" dirty="0"/>
              <a:t>Why? Because it</a:t>
            </a:r>
            <a:r>
              <a:rPr lang="en-US" altLang="zh-CN" dirty="0">
                <a:latin typeface="Times New Roman" panose="02020503050405090304" pitchFamily="18" charset="0"/>
              </a:rPr>
              <a:t>’</a:t>
            </a:r>
            <a:r>
              <a:rPr lang="en-US" altLang="zh-CN" dirty="0"/>
              <a:t>s first digit is different from the first digit of r1, its second digit is different from the second digit of r2, and in general its nth digit is different from the nth digit of rn.  Therefore it is different from every number in the list.  We may want to restrict ourselves to change the digit to one other than 9 because if we change it to a nine, the resulting number could be say .1239999999999</a:t>
            </a:r>
            <a:r>
              <a:rPr lang="en-US" altLang="zh-CN" dirty="0">
                <a:latin typeface="Times New Roman" panose="02020503050405090304" pitchFamily="18" charset="0"/>
              </a:rPr>
              <a:t>…</a:t>
            </a:r>
            <a:r>
              <a:rPr lang="en-US" altLang="zh-CN" dirty="0"/>
              <a:t> infinitely which is equal to .1240000000000</a:t>
            </a:r>
            <a:r>
              <a:rPr lang="en-US" altLang="zh-CN" dirty="0">
                <a:latin typeface="Times New Roman" panose="02020503050405090304" pitchFamily="18" charset="0"/>
              </a:rPr>
              <a:t>…</a:t>
            </a:r>
            <a:r>
              <a:rPr lang="en-US" altLang="zh-CN" dirty="0"/>
              <a:t> (which could be in the list) even though the digits don</a:t>
            </a:r>
            <a:r>
              <a:rPr lang="en-US" altLang="zh-CN" dirty="0">
                <a:latin typeface="Times New Roman" panose="02020503050405090304" pitchFamily="18" charset="0"/>
              </a:rPr>
              <a:t>’</a:t>
            </a:r>
            <a:r>
              <a:rPr lang="en-US" altLang="zh-CN" dirty="0"/>
              <a:t>t match.  But, actually this imagined problem doesn</a:t>
            </a:r>
            <a:r>
              <a:rPr lang="en-US" altLang="zh-CN" dirty="0">
                <a:latin typeface="Times New Roman" panose="02020503050405090304" pitchFamily="18" charset="0"/>
              </a:rPr>
              <a:t>’</a:t>
            </a:r>
            <a:r>
              <a:rPr lang="en-US" altLang="zh-CN" dirty="0"/>
              <a:t>t actually arise because since there are an infinite number of reals that don</a:t>
            </a:r>
            <a:r>
              <a:rPr lang="en-US" altLang="zh-CN" dirty="0">
                <a:latin typeface="Times New Roman" panose="02020503050405090304" pitchFamily="18" charset="0"/>
              </a:rPr>
              <a:t>’</a:t>
            </a:r>
            <a:r>
              <a:rPr lang="en-US" altLang="zh-CN" dirty="0"/>
              <a:t>t include </a:t>
            </a:r>
            <a:r>
              <a:rPr lang="en-US" altLang="zh-CN" i="1" dirty="0"/>
              <a:t>any</a:t>
            </a:r>
            <a:r>
              <a:rPr lang="en-US" altLang="zh-CN" dirty="0"/>
              <a:t> 9</a:t>
            </a:r>
            <a:r>
              <a:rPr lang="en-US" altLang="zh-CN" dirty="0">
                <a:latin typeface="Times New Roman" panose="02020503050405090304" pitchFamily="18" charset="0"/>
              </a:rPr>
              <a:t>’</a:t>
            </a:r>
            <a:r>
              <a:rPr lang="en-US" altLang="zh-CN" dirty="0"/>
              <a:t>s, it is impossible for the diagonal to be all 9</a:t>
            </a:r>
            <a:r>
              <a:rPr lang="en-US" altLang="zh-CN" dirty="0">
                <a:latin typeface="Times New Roman" panose="02020503050405090304" pitchFamily="18" charset="0"/>
              </a:rPr>
              <a:t>’</a:t>
            </a:r>
            <a:r>
              <a:rPr lang="en-US" altLang="zh-CN" dirty="0"/>
              <a:t>s beyond some finite point.  </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a:fld id="{9A0DB2DC-4C9A-4742-B13C-FB6460FD3503}" type="slidenum">
              <a:rPr lang="en-US" altLang="zh-CN" sz="1200" dirty="0">
                <a:latin typeface="Arial" panose="020B0604020202090204" pitchFamily="34" charset="0"/>
              </a:rPr>
            </a:fld>
            <a:endParaRPr lang="en-US" altLang="zh-CN" sz="1200" dirty="0">
              <a:latin typeface="Arial" panose="020B0604020202090204" pitchFamily="34" charset="0"/>
            </a:endParaRPr>
          </a:p>
        </p:txBody>
      </p:sp>
      <p:sp>
        <p:nvSpPr>
          <p:cNvPr id="26627" name="Rectangle 2"/>
          <p:cNvSpPr>
            <a:spLocks noRot="1" noTextEdit="1"/>
          </p:cNvSpPr>
          <p:nvPr>
            <p:ph type="sldImg"/>
          </p:nvPr>
        </p:nvSpPr>
        <p:spPr>
          <a:xfrm>
            <a:off x="1138238" y="701675"/>
            <a:ext cx="4583112" cy="3436938"/>
          </a:xfrm>
        </p:spPr>
      </p:sp>
      <p:sp>
        <p:nvSpPr>
          <p:cNvPr id="26628" name="Rectangle 3"/>
          <p:cNvSpPr>
            <a:spLocks noGrp="1"/>
          </p:cNvSpPr>
          <p:nvPr>
            <p:ph type="body"/>
          </p:nvPr>
        </p:nvSpPr>
        <p:spPr>
          <a:xfrm>
            <a:off x="914400" y="4371975"/>
            <a:ext cx="5029200" cy="4060825"/>
          </a:xfrm>
        </p:spPr>
        <p:txBody>
          <a:bodyPr wrap="square" lIns="91440" tIns="45720" rIns="91440" bIns="45720" anchor="t" anchorCtr="0"/>
          <a:p>
            <a:pPr lvl="0" eaLnBrk="1" hangingPunct="1"/>
            <a:r>
              <a:rPr lang="en-US" altLang="zh-CN" dirty="0"/>
              <a:t>In other words, the continuum hypothesis has been shown to be independent from the other axioms of set theory that led to the definition of transfinite cardinals.</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p:nvPr>
        </p:nvSpPr>
        <p:spPr/>
        <p:txBody>
          <a:bodyPr wrap="square" lIns="91440" tIns="45720" rIns="91440" bIns="45720" anchor="t" anchorCtr="0"/>
          <a:p>
            <a:pPr lvl="0"/>
            <a:endParaRPr lang="zh-CN" altLang="en-US" dirty="0"/>
          </a:p>
        </p:txBody>
      </p:sp>
      <p:sp>
        <p:nvSpPr>
          <p:cNvPr id="9220"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zh-CN" altLang="en-US" sz="1200" b="0" i="0" u="none" dirty="0"/>
            </a:fld>
            <a:endParaRPr lang="zh-CN" altLang="en-US" sz="1200" b="0" i="0" u="non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p:nvPr>
        </p:nvSpPr>
        <p:spPr/>
        <p:txBody>
          <a:bodyPr wrap="square" lIns="91440" tIns="45720" rIns="91440" bIns="45720" anchor="t" anchorCtr="0"/>
          <a:p>
            <a:pPr lvl="0"/>
            <a:endParaRPr lang="zh-CN" altLang="en-US" dirty="0"/>
          </a:p>
        </p:txBody>
      </p:sp>
      <p:sp>
        <p:nvSpPr>
          <p:cNvPr id="14340" name="灯片编号占位符 3"/>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zh-CN" altLang="en-US" sz="1200" b="0" i="0" u="none" dirty="0"/>
            </a:fld>
            <a:endParaRPr lang="zh-CN" altLang="en-US" sz="1200" b="0" i="0" u="none"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2" descr="attach"/>
          <p:cNvPicPr>
            <a:picLocks noChangeAspect="1"/>
          </p:cNvPicPr>
          <p:nvPr/>
        </p:nvPicPr>
        <p:blipFill>
          <a:blip r:embed="rId2"/>
          <a:stretch>
            <a:fillRect/>
          </a:stretch>
        </p:blipFill>
        <p:spPr>
          <a:xfrm>
            <a:off x="1763713" y="620713"/>
            <a:ext cx="5905500" cy="5905500"/>
          </a:xfrm>
          <a:prstGeom prst="rect">
            <a:avLst/>
          </a:prstGeom>
          <a:noFill/>
          <a:ln w="9525">
            <a:noFill/>
          </a:ln>
        </p:spPr>
      </p:pic>
      <p:grpSp>
        <p:nvGrpSpPr>
          <p:cNvPr id="2051" name="Group 3"/>
          <p:cNvGrpSpPr/>
          <p:nvPr/>
        </p:nvGrpSpPr>
        <p:grpSpPr>
          <a:xfrm>
            <a:off x="0" y="2438400"/>
            <a:ext cx="9009063" cy="1052513"/>
            <a:chOff x="0" y="1536"/>
            <a:chExt cx="5675" cy="663"/>
          </a:xfrm>
        </p:grpSpPr>
        <p:grpSp>
          <p:nvGrpSpPr>
            <p:cNvPr id="2058" name="Group 4"/>
            <p:cNvGrpSpPr/>
            <p:nvPr/>
          </p:nvGrpSpPr>
          <p:grpSpPr>
            <a:xfrm>
              <a:off x="185" y="1604"/>
              <a:ext cx="449" cy="299"/>
              <a:chOff x="720" y="336"/>
              <a:chExt cx="624" cy="432"/>
            </a:xfrm>
          </p:grpSpPr>
          <p:sp>
            <p:nvSpPr>
              <p:cNvPr id="25" name="Rectangle 5"/>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6"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grpSp>
          <p:nvGrpSpPr>
            <p:cNvPr id="2059" name="Group 7"/>
            <p:cNvGrpSpPr/>
            <p:nvPr/>
          </p:nvGrpSpPr>
          <p:grpSpPr>
            <a:xfrm>
              <a:off x="263" y="1870"/>
              <a:ext cx="466" cy="299"/>
              <a:chOff x="912" y="2640"/>
              <a:chExt cx="672" cy="432"/>
            </a:xfrm>
          </p:grpSpPr>
          <p:sp>
            <p:nvSpPr>
              <p:cNvPr id="23" name="Rectangle 8"/>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4"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0"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1" name="Rectangle 11"/>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2"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7" name="Rectangle 18"/>
          <p:cNvSpPr>
            <a:spLocks noChangeArrowheads="1"/>
          </p:cNvSpPr>
          <p:nvPr/>
        </p:nvSpPr>
        <p:spPr bwMode="auto">
          <a:xfrm>
            <a:off x="4419600" y="4114800"/>
            <a:ext cx="472440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rPr>
              <a:t>Yang Juan</a:t>
            </a:r>
            <a:endPar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rPr>
              <a:t>yangjuan@bupt.edu.cn</a:t>
            </a:r>
            <a:endPar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School of Computer Science</a:t>
            </a:r>
            <a:endPar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Beijing University of Posts &amp; Telecommunications</a:t>
            </a:r>
            <a:endPar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p:txBody>
      </p:sp>
      <p:sp>
        <p:nvSpPr>
          <p:cNvPr id="10253" name="Rectangle 13"/>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endParaRPr lang="zh-CN" altLang="en-US" noProof="1"/>
          </a:p>
        </p:txBody>
      </p:sp>
      <p:sp>
        <p:nvSpPr>
          <p:cNvPr id="10254" name="Rectangle 14"/>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8" name="Rectangle 15"/>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
        <p:nvSpPr>
          <p:cNvPr id="29" name="Rectangle 16"/>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
        <p:nvSpPr>
          <p:cNvPr id="30" name="Rectangle 17"/>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B03C030-C9D7-4F33-BFE7-91C3406A7A53}" type="slidenum">
              <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71550" y="19161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933950" y="19161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3388" y="333375"/>
            <a:ext cx="1960562" cy="56975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900113" y="333375"/>
            <a:ext cx="5730875" cy="56975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00113" y="333375"/>
            <a:ext cx="7793037"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71550" y="19161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933950" y="1916113"/>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933950" y="4049713"/>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灯片编号占位符 5"/>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日期占位符 6"/>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页脚占位符 7"/>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2" descr="attach"/>
          <p:cNvPicPr>
            <a:picLocks noChangeAspect="1"/>
          </p:cNvPicPr>
          <p:nvPr/>
        </p:nvPicPr>
        <p:blipFill>
          <a:blip r:embed="rId2"/>
          <a:stretch>
            <a:fillRect/>
          </a:stretch>
        </p:blipFill>
        <p:spPr>
          <a:xfrm>
            <a:off x="1763713" y="620713"/>
            <a:ext cx="5905500" cy="5905500"/>
          </a:xfrm>
          <a:prstGeom prst="rect">
            <a:avLst/>
          </a:prstGeom>
          <a:noFill/>
          <a:ln w="9525">
            <a:noFill/>
          </a:ln>
        </p:spPr>
      </p:pic>
      <p:grpSp>
        <p:nvGrpSpPr>
          <p:cNvPr id="2051" name="Group 3"/>
          <p:cNvGrpSpPr/>
          <p:nvPr/>
        </p:nvGrpSpPr>
        <p:grpSpPr>
          <a:xfrm>
            <a:off x="0" y="2438400"/>
            <a:ext cx="9009063" cy="1052513"/>
            <a:chOff x="0" y="1536"/>
            <a:chExt cx="5675" cy="663"/>
          </a:xfrm>
        </p:grpSpPr>
        <p:grpSp>
          <p:nvGrpSpPr>
            <p:cNvPr id="2058" name="Group 4"/>
            <p:cNvGrpSpPr/>
            <p:nvPr/>
          </p:nvGrpSpPr>
          <p:grpSpPr>
            <a:xfrm>
              <a:off x="185" y="1604"/>
              <a:ext cx="449" cy="299"/>
              <a:chOff x="720" y="336"/>
              <a:chExt cx="624" cy="432"/>
            </a:xfrm>
          </p:grpSpPr>
          <p:sp>
            <p:nvSpPr>
              <p:cNvPr id="25" name="Rectangle 5"/>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6" name="Rectangle 6"/>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grpSp>
          <p:nvGrpSpPr>
            <p:cNvPr id="2059" name="Group 7"/>
            <p:cNvGrpSpPr/>
            <p:nvPr/>
          </p:nvGrpSpPr>
          <p:grpSpPr>
            <a:xfrm>
              <a:off x="263" y="1870"/>
              <a:ext cx="466" cy="299"/>
              <a:chOff x="912" y="2640"/>
              <a:chExt cx="672" cy="432"/>
            </a:xfrm>
          </p:grpSpPr>
          <p:sp>
            <p:nvSpPr>
              <p:cNvPr id="23" name="Rectangle 8"/>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4" name="Rectangle 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0" name="Rectangle 10"/>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1" name="Rectangle 11"/>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2" name="Rectangle 12"/>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27" name="Rectangle 18"/>
          <p:cNvSpPr>
            <a:spLocks noChangeArrowheads="1"/>
          </p:cNvSpPr>
          <p:nvPr/>
        </p:nvSpPr>
        <p:spPr bwMode="auto">
          <a:xfrm>
            <a:off x="4419600" y="4114800"/>
            <a:ext cx="472440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rPr>
              <a:t>Yang Juan</a:t>
            </a:r>
            <a:endParaRPr kumimoji="1" lang="en-US" altLang="zh-CN" sz="2400" b="0" i="0" u="none" strike="noStrike" kern="1200" cap="none" spc="0" normalizeH="0" baseline="0" noProof="0">
              <a:ln>
                <a:noFill/>
              </a:ln>
              <a:solidFill>
                <a:schemeClr val="folHlink"/>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rPr>
              <a:t>yangjuan@bupt.edu.cn</a:t>
            </a:r>
            <a:endParaRPr kumimoji="1" lang="en-US" altLang="zh-CN" sz="1600" b="0" i="0" u="none" strike="noStrike" kern="1200" cap="none" spc="0" normalizeH="0" baseline="0" noProof="0">
              <a:ln>
                <a:noFill/>
              </a:ln>
              <a:solidFill>
                <a:srgbClr val="009999"/>
              </a:solidFill>
              <a:effectLst/>
              <a:uLnTx/>
              <a:uFillTx/>
              <a:latin typeface="Times New Roman" panose="02020503050405090304" pitchFamily="18"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a:ln>
                <a:noFill/>
              </a:ln>
              <a:solidFill>
                <a:srgbClr val="009999"/>
              </a:solidFill>
              <a:effectLst/>
              <a:uLnTx/>
              <a:uFillTx/>
              <a:latin typeface="Tahoma" panose="020B06040305040402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School of Computer Science</a:t>
            </a:r>
            <a:endPar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rPr>
              <a:t>Beijing University of Posts &amp; Telecommunications</a:t>
            </a:r>
            <a:endPar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itchFamily="2" charset="-122"/>
              <a:cs typeface="+mn-cs"/>
            </a:endParaRPr>
          </a:p>
        </p:txBody>
      </p:sp>
      <p:sp>
        <p:nvSpPr>
          <p:cNvPr id="10253" name="Rectangle 13"/>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endParaRPr lang="zh-CN" altLang="en-US" noProof="1"/>
          </a:p>
        </p:txBody>
      </p:sp>
      <p:sp>
        <p:nvSpPr>
          <p:cNvPr id="10254" name="Rectangle 14"/>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8" name="Rectangle 15"/>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
        <p:nvSpPr>
          <p:cNvPr id="29" name="Rectangle 16"/>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
        <p:nvSpPr>
          <p:cNvPr id="30" name="Rectangle 17"/>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B03C030-C9D7-4F33-BFE7-91C3406A7A53}" type="slidenum">
              <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71550" y="19161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933950" y="19161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3388" y="333375"/>
            <a:ext cx="1960562" cy="56975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900113" y="333375"/>
            <a:ext cx="5730875" cy="56975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00113" y="333375"/>
            <a:ext cx="7793037"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71550" y="1916113"/>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933950" y="1916113"/>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933950" y="4049713"/>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灯片编号占位符 5"/>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7" name="日期占位符 6"/>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8" name="页脚占位符 7"/>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descr="attach"/>
          <p:cNvPicPr>
            <a:picLocks noChangeAspect="1"/>
          </p:cNvPicPr>
          <p:nvPr/>
        </p:nvPicPr>
        <p:blipFill>
          <a:blip r:embed="rId13"/>
          <a:stretch>
            <a:fillRect/>
          </a:stretch>
        </p:blipFill>
        <p:spPr>
          <a:xfrm>
            <a:off x="1752600" y="533400"/>
            <a:ext cx="5905500" cy="5905500"/>
          </a:xfrm>
          <a:prstGeom prst="rect">
            <a:avLst/>
          </a:prstGeom>
          <a:noFill/>
          <a:ln w="9525">
            <a:noFill/>
          </a:ln>
        </p:spPr>
      </p:pic>
      <p:sp>
        <p:nvSpPr>
          <p:cNvPr id="9219" name="Rectangle 3"/>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8"/>
          <p:cNvSpPr>
            <a:spLocks noChangeArrowheads="1"/>
          </p:cNvSpPr>
          <p:nvPr/>
        </p:nvSpPr>
        <p:spPr bwMode="ltGray">
          <a:xfrm>
            <a:off x="127000" y="116078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nvGrpSpPr>
          <p:cNvPr id="1029" name="Group 15"/>
          <p:cNvGrpSpPr/>
          <p:nvPr userDrawn="1"/>
        </p:nvGrpSpPr>
        <p:grpSpPr>
          <a:xfrm>
            <a:off x="395288" y="478155"/>
            <a:ext cx="8251825" cy="1214438"/>
            <a:chOff x="263" y="624"/>
            <a:chExt cx="5198" cy="765"/>
          </a:xfrm>
        </p:grpSpPr>
        <p:sp>
          <p:nvSpPr>
            <p:cNvPr id="1034" name="Rectangle 4"/>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5"/>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 name="Rectangle 6"/>
            <p:cNvSpPr>
              <a:spLocks noChangeArrowheads="1"/>
            </p:cNvSpPr>
            <p:nvPr/>
          </p:nvSpPr>
          <p:spPr bwMode="ltGray">
            <a:xfrm>
              <a:off x="341" y="109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3" name="Rectangle 7"/>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8" name="Rectangle 9"/>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9" name="Rectangle 10"/>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1030" name="Rectangle 11"/>
          <p:cNvSpPr>
            <a:spLocks noGrp="1"/>
          </p:cNvSpPr>
          <p:nvPr>
            <p:ph type="title"/>
          </p:nvPr>
        </p:nvSpPr>
        <p:spPr>
          <a:xfrm>
            <a:off x="900113" y="46355"/>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1" name="Rectangle 12"/>
          <p:cNvSpPr>
            <a:spLocks noGrp="1"/>
          </p:cNvSpPr>
          <p:nvPr>
            <p:ph type="body"/>
          </p:nvPr>
        </p:nvSpPr>
        <p:spPr>
          <a:xfrm>
            <a:off x="865505" y="1379855"/>
            <a:ext cx="7878445" cy="46513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9" name="Rectangle 13"/>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230" name="Rectangle 14"/>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kumimoji="1" sz="1200" b="1" i="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descr="attach"/>
          <p:cNvPicPr>
            <a:picLocks noChangeAspect="1"/>
          </p:cNvPicPr>
          <p:nvPr/>
        </p:nvPicPr>
        <p:blipFill>
          <a:blip r:embed="rId13"/>
          <a:stretch>
            <a:fillRect/>
          </a:stretch>
        </p:blipFill>
        <p:spPr>
          <a:xfrm>
            <a:off x="1752600" y="533400"/>
            <a:ext cx="5905500" cy="5905500"/>
          </a:xfrm>
          <a:prstGeom prst="rect">
            <a:avLst/>
          </a:prstGeom>
          <a:noFill/>
          <a:ln w="9525">
            <a:noFill/>
          </a:ln>
        </p:spPr>
      </p:pic>
      <p:sp>
        <p:nvSpPr>
          <p:cNvPr id="9219" name="Rectangle 3"/>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E33E92B-3DE2-4C48-88CA-CD5CF583507A}" type="slidenum">
              <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8"/>
          <p:cNvSpPr>
            <a:spLocks noChangeArrowheads="1"/>
          </p:cNvSpPr>
          <p:nvPr/>
        </p:nvSpPr>
        <p:spPr bwMode="ltGray">
          <a:xfrm>
            <a:off x="127000" y="116078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nvGrpSpPr>
          <p:cNvPr id="1029" name="Group 15"/>
          <p:cNvGrpSpPr/>
          <p:nvPr userDrawn="1"/>
        </p:nvGrpSpPr>
        <p:grpSpPr>
          <a:xfrm>
            <a:off x="395288" y="478155"/>
            <a:ext cx="8251825" cy="1214438"/>
            <a:chOff x="263" y="624"/>
            <a:chExt cx="5198" cy="765"/>
          </a:xfrm>
        </p:grpSpPr>
        <p:sp>
          <p:nvSpPr>
            <p:cNvPr id="1034" name="Rectangle 4"/>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5" name="Rectangle 5"/>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2" name="Rectangle 6"/>
            <p:cNvSpPr>
              <a:spLocks noChangeArrowheads="1"/>
            </p:cNvSpPr>
            <p:nvPr/>
          </p:nvSpPr>
          <p:spPr bwMode="ltGray">
            <a:xfrm>
              <a:off x="341" y="109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3" name="Rectangle 7"/>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8" name="Rectangle 9"/>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
          <p:nvSpPr>
            <p:cNvPr id="1039" name="Rectangle 10"/>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grpSp>
      <p:sp>
        <p:nvSpPr>
          <p:cNvPr id="1030" name="Rectangle 11"/>
          <p:cNvSpPr>
            <a:spLocks noGrp="1"/>
          </p:cNvSpPr>
          <p:nvPr>
            <p:ph type="title"/>
          </p:nvPr>
        </p:nvSpPr>
        <p:spPr>
          <a:xfrm>
            <a:off x="900113" y="46355"/>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1" name="Rectangle 12"/>
          <p:cNvSpPr>
            <a:spLocks noGrp="1"/>
          </p:cNvSpPr>
          <p:nvPr>
            <p:ph type="body"/>
          </p:nvPr>
        </p:nvSpPr>
        <p:spPr>
          <a:xfrm>
            <a:off x="865505" y="1379855"/>
            <a:ext cx="7878445" cy="46513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229" name="Rectangle 13"/>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000" b="1" i="1">
                <a:solidFill>
                  <a:srgbClr val="009999"/>
                </a:solidFill>
                <a:latin typeface="Arial Narrow" panose="020B060602020203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02574DF-BF88-4EE9-8181-5C43E7EBEC3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
        <p:nvSpPr>
          <p:cNvPr id="9230" name="Rectangle 14"/>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kumimoji="1" sz="1200" b="1" i="1">
                <a:solidFill>
                  <a:srgbClr val="009999"/>
                </a:solidFill>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2.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tags" Target="../tags/tag3.xml"/><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 Id="rId3" Type="http://schemas.openxmlformats.org/officeDocument/2006/relationships/oleObject" Target="../embeddings/oleObject5.bin"/><Relationship Id="rId2" Type="http://schemas.openxmlformats.org/officeDocument/2006/relationships/image" Target="../media/image10.wmf"/><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9.bin"/><Relationship Id="rId2" Type="http://schemas.openxmlformats.org/officeDocument/2006/relationships/image" Target="../media/image14.wmf"/><Relationship Id="rId1"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wmf"/><Relationship Id="rId1" Type="http://schemas.openxmlformats.org/officeDocument/2006/relationships/oleObject" Target="../embeddings/oleObject12.bin"/></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4.wav"/><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audio" Target="../media/audio2.wav"/></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audio" Target="../media/audio5.wav"/><Relationship Id="rId2" Type="http://schemas.openxmlformats.org/officeDocument/2006/relationships/image" Target="../media/image20.wmf"/><Relationship Id="rId1"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audio" Target="../media/audio5.wav"/><Relationship Id="rId2" Type="http://schemas.openxmlformats.org/officeDocument/2006/relationships/image" Target="../media/image21.wmf"/><Relationship Id="rId1" Type="http://schemas.openxmlformats.org/officeDocument/2006/relationships/oleObject" Target="../embeddings/oleObject14.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audio" Target="../media/audio5.wav"/><Relationship Id="rId2" Type="http://schemas.openxmlformats.org/officeDocument/2006/relationships/image" Target="../media/image23.wmf"/><Relationship Id="rId1"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audio" Target="../media/audio5.wav"/><Relationship Id="rId2" Type="http://schemas.openxmlformats.org/officeDocument/2006/relationships/image" Target="../media/image24.wmf"/><Relationship Id="rId1" Type="http://schemas.openxmlformats.org/officeDocument/2006/relationships/oleObject" Target="../embeddings/oleObject17.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18.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20.bin"/></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9.wmf"/><Relationship Id="rId3" Type="http://schemas.openxmlformats.org/officeDocument/2006/relationships/oleObject" Target="../embeddings/oleObject22.bin"/><Relationship Id="rId2" Type="http://schemas.openxmlformats.org/officeDocument/2006/relationships/image" Target="../media/image28.wmf"/><Relationship Id="rId1" Type="http://schemas.openxmlformats.org/officeDocument/2006/relationships/oleObject" Target="../embeddings/oleObject21.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wmf"/><Relationship Id="rId7" Type="http://schemas.openxmlformats.org/officeDocument/2006/relationships/oleObject" Target="../embeddings/oleObject26.bin"/><Relationship Id="rId6" Type="http://schemas.openxmlformats.org/officeDocument/2006/relationships/image" Target="../media/image32.wmf"/><Relationship Id="rId5" Type="http://schemas.openxmlformats.org/officeDocument/2006/relationships/oleObject" Target="../embeddings/oleObject25.bin"/><Relationship Id="rId4" Type="http://schemas.openxmlformats.org/officeDocument/2006/relationships/image" Target="../media/image31.wmf"/><Relationship Id="rId3" Type="http://schemas.openxmlformats.org/officeDocument/2006/relationships/oleObject" Target="../embeddings/oleObject24.bin"/><Relationship Id="rId2" Type="http://schemas.openxmlformats.org/officeDocument/2006/relationships/image" Target="../media/image30.wmf"/><Relationship Id="rId10" Type="http://schemas.openxmlformats.org/officeDocument/2006/relationships/vmlDrawing" Target="../drawings/vmlDrawing18.vml"/><Relationship Id="rId1" Type="http://schemas.openxmlformats.org/officeDocument/2006/relationships/oleObject" Target="../embeddings/oleObject2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hyperlink" Target="http://home.moravian.edu/public/math/ClubsEvents/Conference/Cantor.gif" TargetMode="External"/><Relationship Id="rId1" Type="http://schemas.openxmlformats.org/officeDocument/2006/relationships/image" Target="../media/image40.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audio" Target="../media/audio6.wav"/><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2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44.wmf"/><Relationship Id="rId1" Type="http://schemas.openxmlformats.org/officeDocument/2006/relationships/oleObject" Target="../embeddings/oleObject28.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oleObject" Target="../embeddings/oleObject29.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oleObject" Target="../embeddings/oleObject30.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48.wmf"/><Relationship Id="rId1" Type="http://schemas.openxmlformats.org/officeDocument/2006/relationships/oleObject" Target="../embeddings/oleObject31.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3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33.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3.wav"/><Relationship Id="rId1" Type="http://schemas.openxmlformats.org/officeDocument/2006/relationships/audio" Target="../media/audio7.wav"/></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51.wmf"/><Relationship Id="rId1" Type="http://schemas.openxmlformats.org/officeDocument/2006/relationships/oleObject" Target="../embeddings/oleObject34.bin"/></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27.vml"/><Relationship Id="rId4" Type="http://schemas.openxmlformats.org/officeDocument/2006/relationships/slideLayout" Target="../slideLayouts/slideLayout2.xml"/><Relationship Id="rId3" Type="http://schemas.openxmlformats.org/officeDocument/2006/relationships/audio" Target="../media/audio7.wav"/><Relationship Id="rId2" Type="http://schemas.openxmlformats.org/officeDocument/2006/relationships/image" Target="../media/image52.wmf"/><Relationship Id="rId1" Type="http://schemas.openxmlformats.org/officeDocument/2006/relationships/oleObject" Target="../embeddings/oleObject35.bin"/></Relationships>
</file>

<file path=ppt/slides/_rels/slide66.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2.xml"/><Relationship Id="rId7" Type="http://schemas.openxmlformats.org/officeDocument/2006/relationships/audio" Target="../media/audio3.wav"/><Relationship Id="rId6" Type="http://schemas.openxmlformats.org/officeDocument/2006/relationships/image" Target="../media/image55.wmf"/><Relationship Id="rId5" Type="http://schemas.openxmlformats.org/officeDocument/2006/relationships/oleObject" Target="../embeddings/oleObject38.bin"/><Relationship Id="rId4" Type="http://schemas.openxmlformats.org/officeDocument/2006/relationships/image" Target="../media/image54.wmf"/><Relationship Id="rId3" Type="http://schemas.openxmlformats.org/officeDocument/2006/relationships/oleObject" Target="../embeddings/oleObject37.bin"/><Relationship Id="rId2" Type="http://schemas.openxmlformats.org/officeDocument/2006/relationships/image" Target="../media/image53.wmf"/><Relationship Id="rId1" Type="http://schemas.openxmlformats.org/officeDocument/2006/relationships/oleObject" Target="../embeddings/oleObject36.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9.png"/><Relationship Id="rId7" Type="http://schemas.openxmlformats.org/officeDocument/2006/relationships/tags" Target="../tags/tag7.xml"/><Relationship Id="rId6" Type="http://schemas.openxmlformats.org/officeDocument/2006/relationships/image" Target="../media/image58.png"/><Relationship Id="rId5" Type="http://schemas.openxmlformats.org/officeDocument/2006/relationships/tags" Target="../tags/tag6.xml"/><Relationship Id="rId4" Type="http://schemas.openxmlformats.org/officeDocument/2006/relationships/image" Target="../media/image57.png"/><Relationship Id="rId3" Type="http://schemas.openxmlformats.org/officeDocument/2006/relationships/tags" Target="../tags/tag5.xml"/><Relationship Id="rId2" Type="http://schemas.openxmlformats.org/officeDocument/2006/relationships/image" Target="../media/image56.png"/><Relationship Id="rId1" Type="http://schemas.openxmlformats.org/officeDocument/2006/relationships/tags" Target="../tags/tag4.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oleObject" Target="../embeddings/oleObject39.bin"/></Relationships>
</file>

<file path=ppt/slides/_rels/slide70.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image" Target="../media/image64.png"/><Relationship Id="rId7" Type="http://schemas.openxmlformats.org/officeDocument/2006/relationships/tags" Target="../tags/tag11.xml"/><Relationship Id="rId6" Type="http://schemas.openxmlformats.org/officeDocument/2006/relationships/image" Target="../media/image63.png"/><Relationship Id="rId5" Type="http://schemas.openxmlformats.org/officeDocument/2006/relationships/tags" Target="../tags/tag10.xml"/><Relationship Id="rId4" Type="http://schemas.openxmlformats.org/officeDocument/2006/relationships/image" Target="../media/image62.png"/><Relationship Id="rId3" Type="http://schemas.openxmlformats.org/officeDocument/2006/relationships/tags" Target="../tags/tag9.xml"/><Relationship Id="rId2" Type="http://schemas.openxmlformats.org/officeDocument/2006/relationships/image" Target="../media/image61.png"/><Relationship Id="rId11" Type="http://schemas.openxmlformats.org/officeDocument/2006/relationships/slideLayout" Target="../slideLayouts/slideLayout2.xml"/><Relationship Id="rId10" Type="http://schemas.openxmlformats.org/officeDocument/2006/relationships/image" Target="../media/image65.png"/><Relationship Id="rId1" Type="http://schemas.openxmlformats.org/officeDocument/2006/relationships/tags" Target="../tags/tag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image" Target="../media/image69.png"/><Relationship Id="rId7" Type="http://schemas.openxmlformats.org/officeDocument/2006/relationships/tags" Target="../tags/tag16.xml"/><Relationship Id="rId6" Type="http://schemas.openxmlformats.org/officeDocument/2006/relationships/image" Target="../media/image68.png"/><Relationship Id="rId5" Type="http://schemas.openxmlformats.org/officeDocument/2006/relationships/tags" Target="../tags/tag15.xml"/><Relationship Id="rId4" Type="http://schemas.openxmlformats.org/officeDocument/2006/relationships/image" Target="../media/image67.png"/><Relationship Id="rId3" Type="http://schemas.openxmlformats.org/officeDocument/2006/relationships/tags" Target="../tags/tag14.xml"/><Relationship Id="rId2" Type="http://schemas.openxmlformats.org/officeDocument/2006/relationships/image" Target="../media/image66.png"/><Relationship Id="rId11" Type="http://schemas.openxmlformats.org/officeDocument/2006/relationships/slideLayout" Target="../slideLayouts/slideLayout2.xml"/><Relationship Id="rId10" Type="http://schemas.openxmlformats.org/officeDocument/2006/relationships/image" Target="../media/image70.png"/><Relationship Id="rId1" Type="http://schemas.openxmlformats.org/officeDocument/2006/relationships/tags" Target="../tags/tag13.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2.xml"/><Relationship Id="rId2" Type="http://schemas.openxmlformats.org/officeDocument/2006/relationships/image" Target="../media/image71.wmf"/><Relationship Id="rId1" Type="http://schemas.openxmlformats.org/officeDocument/2006/relationships/oleObject" Target="../embeddings/oleObject40.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885825" y="1828800"/>
            <a:ext cx="8007350" cy="1143000"/>
          </a:xfrm>
        </p:spPr>
        <p:txBody>
          <a:bodyPr vert="horz" wrap="square" lIns="91440" tIns="45720" rIns="91440" bIns="45720" anchor="b" anchorCtr="0"/>
          <a:p>
            <a:pPr eaLnBrk="1" hangingPunct="1">
              <a:buClrTx/>
              <a:buSzTx/>
              <a:buFontTx/>
            </a:pPr>
            <a:r>
              <a:rPr lang="en-US" altLang="zh-CN" dirty="0">
                <a:latin typeface="Copperplate Gothic Bold" panose="020E0705020206020404" pitchFamily="34" charset="0"/>
                <a:ea typeface="+mj-ea"/>
                <a:cs typeface="+mj-cs"/>
              </a:rPr>
              <a:t>Sequences and Summations</a:t>
            </a:r>
            <a:endParaRPr lang="en-US" altLang="zh-CN" dirty="0">
              <a:latin typeface="Copperplate Gothic Bold" panose="020E0705020206020404" pitchFamily="34" charset="0"/>
              <a:ea typeface="+mj-ea"/>
              <a:cs typeface="+mj-cs"/>
            </a:endParaRPr>
          </a:p>
        </p:txBody>
      </p:sp>
      <p:sp>
        <p:nvSpPr>
          <p:cNvPr id="5123" name="Rectangle 3"/>
          <p:cNvSpPr>
            <a:spLocks noGrp="1"/>
          </p:cNvSpPr>
          <p:nvPr>
            <p:ph type="subTitle" idx="1"/>
          </p:nvPr>
        </p:nvSpPr>
        <p:spPr/>
        <p:txBody>
          <a:bodyPr vert="horz" wrap="square" lIns="91440" tIns="45720" rIns="91440" bIns="45720" anchor="t" anchorCtr="0"/>
          <a:p>
            <a:pPr eaLnBrk="1" hangingPunct="1">
              <a:buSzPct val="60000"/>
            </a:pPr>
            <a:endParaRPr lang="en-US" altLang="zh-CN"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6147"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6148" name="Rectangle 2"/>
          <p:cNvSpPr>
            <a:spLocks noGrp="1"/>
          </p:cNvSpPr>
          <p:nvPr>
            <p:ph type="title"/>
          </p:nvPr>
        </p:nvSpPr>
        <p:spPr>
          <a:xfrm>
            <a:off x="900430" y="46355"/>
            <a:ext cx="7963535" cy="1194435"/>
          </a:xfrm>
        </p:spPr>
        <p:txBody>
          <a:bodyPr vert="horz" wrap="square" lIns="91440" tIns="45720" rIns="91440" bIns="45720" anchor="b" anchorCtr="0"/>
          <a:p>
            <a:pPr eaLnBrk="1" hangingPunct="1"/>
            <a:r>
              <a:rPr lang="en-US" altLang="zh-CN" sz="4000" dirty="0"/>
              <a:t>Sequences, Strings, Summations</a:t>
            </a:r>
            <a:endParaRPr lang="en-US" altLang="zh-CN" sz="4000" dirty="0"/>
          </a:p>
        </p:txBody>
      </p:sp>
      <p:sp>
        <p:nvSpPr>
          <p:cNvPr id="6149" name="Rectangle 3"/>
          <p:cNvSpPr>
            <a:spLocks noGrp="1"/>
          </p:cNvSpPr>
          <p:nvPr>
            <p:ph idx="1"/>
          </p:nvPr>
        </p:nvSpPr>
        <p:spPr>
          <a:xfrm>
            <a:off x="971550" y="1412875"/>
            <a:ext cx="7893050" cy="4114800"/>
          </a:xfrm>
        </p:spPr>
        <p:txBody>
          <a:bodyPr vert="horz" wrap="square" lIns="91440" tIns="45720" rIns="91440" bIns="45720" anchor="t" anchorCtr="0"/>
          <a:p>
            <a:pPr eaLnBrk="1" hangingPunct="1">
              <a:lnSpc>
                <a:spcPct val="90000"/>
              </a:lnSpc>
            </a:pPr>
            <a:r>
              <a:rPr lang="en-US" altLang="zh-CN" dirty="0"/>
              <a:t>A </a:t>
            </a:r>
            <a:r>
              <a:rPr lang="en-US" altLang="zh-CN" i="1" dirty="0"/>
              <a:t>sequence</a:t>
            </a:r>
            <a:r>
              <a:rPr lang="en-US" altLang="zh-CN" dirty="0"/>
              <a:t> or </a:t>
            </a:r>
            <a:r>
              <a:rPr lang="en-US" altLang="zh-CN" i="1" dirty="0"/>
              <a:t>series </a:t>
            </a:r>
            <a:r>
              <a:rPr lang="en-US" altLang="zh-CN" dirty="0"/>
              <a:t>is just like an ordered </a:t>
            </a:r>
            <a:r>
              <a:rPr lang="en-US" altLang="zh-CN" i="1" dirty="0"/>
              <a:t>n</a:t>
            </a:r>
            <a:r>
              <a:rPr lang="en-US" altLang="zh-CN" dirty="0"/>
              <a:t>-tuple, except:</a:t>
            </a:r>
            <a:endParaRPr lang="en-US" altLang="zh-CN" dirty="0"/>
          </a:p>
          <a:p>
            <a:pPr lvl="1" eaLnBrk="1" hangingPunct="1">
              <a:lnSpc>
                <a:spcPct val="90000"/>
              </a:lnSpc>
            </a:pPr>
            <a:r>
              <a:rPr lang="en-US" altLang="zh-CN" dirty="0"/>
              <a:t>Each element in the series has an associated </a:t>
            </a:r>
            <a:r>
              <a:rPr lang="en-US" altLang="zh-CN" i="1" dirty="0"/>
              <a:t>index</a:t>
            </a:r>
            <a:r>
              <a:rPr lang="en-US" altLang="zh-CN" dirty="0"/>
              <a:t> number</a:t>
            </a:r>
            <a:r>
              <a:rPr lang="en-US" altLang="zh-CN" i="1" dirty="0"/>
              <a:t>.</a:t>
            </a:r>
            <a:endParaRPr lang="en-US" altLang="zh-CN" i="1" dirty="0"/>
          </a:p>
          <a:p>
            <a:pPr lvl="1" eaLnBrk="1" hangingPunct="1">
              <a:lnSpc>
                <a:spcPct val="90000"/>
              </a:lnSpc>
            </a:pPr>
            <a:r>
              <a:rPr lang="en-US" altLang="zh-CN" dirty="0"/>
              <a:t>A sequence or series may be infinite.</a:t>
            </a:r>
            <a:endParaRPr lang="en-US" altLang="zh-CN" dirty="0"/>
          </a:p>
          <a:p>
            <a:pPr eaLnBrk="1" hangingPunct="1">
              <a:lnSpc>
                <a:spcPct val="90000"/>
              </a:lnSpc>
            </a:pPr>
            <a:r>
              <a:rPr lang="en-US" altLang="zh-CN" dirty="0"/>
              <a:t>A </a:t>
            </a:r>
            <a:r>
              <a:rPr lang="en-US" altLang="zh-CN" i="1" dirty="0"/>
              <a:t>string</a:t>
            </a:r>
            <a:r>
              <a:rPr lang="en-US" altLang="zh-CN" dirty="0"/>
              <a:t> is a sequence of </a:t>
            </a:r>
            <a:r>
              <a:rPr lang="en-US" altLang="zh-CN" i="1" dirty="0"/>
              <a:t>symbols</a:t>
            </a:r>
            <a:r>
              <a:rPr lang="en-US" altLang="zh-CN" dirty="0"/>
              <a:t> from some finite </a:t>
            </a:r>
            <a:r>
              <a:rPr lang="en-US" altLang="zh-CN" i="1" dirty="0"/>
              <a:t>alphabet</a:t>
            </a:r>
            <a:r>
              <a:rPr lang="en-US" altLang="zh-CN" dirty="0"/>
              <a:t>.</a:t>
            </a:r>
            <a:endParaRPr lang="en-US" altLang="zh-CN" dirty="0"/>
          </a:p>
          <a:p>
            <a:pPr eaLnBrk="1" hangingPunct="1">
              <a:lnSpc>
                <a:spcPct val="90000"/>
              </a:lnSpc>
            </a:pPr>
            <a:r>
              <a:rPr lang="en-US" altLang="zh-CN" dirty="0"/>
              <a:t>A </a:t>
            </a:r>
            <a:r>
              <a:rPr lang="en-US" altLang="zh-CN" i="1" dirty="0"/>
              <a:t>summation</a:t>
            </a:r>
            <a:r>
              <a:rPr lang="en-US" altLang="zh-CN" dirty="0"/>
              <a:t> is a compact notation for the sum of all terms in a (possibly infinite) series.</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日期占位符 6"/>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7171" name="页脚占位符 7"/>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7172" name="Rectangle 11"/>
          <p:cNvSpPr>
            <a:spLocks noGrp="1"/>
          </p:cNvSpPr>
          <p:nvPr>
            <p:ph type="title"/>
          </p:nvPr>
        </p:nvSpPr>
        <p:spPr>
          <a:xfrm>
            <a:off x="899478" y="260350"/>
            <a:ext cx="7793037" cy="1143000"/>
          </a:xfrm>
        </p:spPr>
        <p:txBody>
          <a:bodyPr vert="horz" wrap="square" lIns="91440" tIns="45720" rIns="91440" bIns="45720" anchor="b" anchorCtr="0"/>
          <a:p>
            <a:pPr eaLnBrk="1" hangingPunct="1"/>
            <a:r>
              <a:rPr lang="en-US" altLang="zh-CN" dirty="0"/>
              <a:t>Sequences</a:t>
            </a:r>
            <a:endParaRPr lang="zh-CN" altLang="zh-CN" dirty="0"/>
          </a:p>
        </p:txBody>
      </p:sp>
      <p:sp>
        <p:nvSpPr>
          <p:cNvPr id="7173" name="Rectangle 3"/>
          <p:cNvSpPr>
            <a:spLocks noGrp="1"/>
          </p:cNvSpPr>
          <p:nvPr>
            <p:ph type="body" sz="half" idx="1"/>
          </p:nvPr>
        </p:nvSpPr>
        <p:spPr>
          <a:xfrm>
            <a:off x="899795" y="1412875"/>
            <a:ext cx="7946390" cy="4114800"/>
          </a:xfrm>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en-US" altLang="zh-CN" b="1" dirty="0"/>
              <a:t>Definition: </a:t>
            </a:r>
            <a:r>
              <a:rPr lang="en-US" altLang="zh-CN" dirty="0"/>
              <a:t>A </a:t>
            </a:r>
            <a:r>
              <a:rPr lang="en-US" altLang="zh-CN" i="1" dirty="0"/>
              <a:t>sequence </a:t>
            </a:r>
            <a:r>
              <a:rPr lang="en-US" altLang="zh-CN" dirty="0"/>
              <a:t>is a function from a subset of the natural numbers (usually of the form {0, 1, 2, . . . } to a set S.</a:t>
            </a:r>
            <a:endParaRPr lang="en-US" altLang="zh-CN" dirty="0"/>
          </a:p>
          <a:p>
            <a:pPr lvl="1" eaLnBrk="1" hangingPunct="1">
              <a:buClr>
                <a:schemeClr val="hlink"/>
              </a:buClr>
              <a:buSzPct val="55000"/>
              <a:buFont typeface="Wingdings" panose="05000000000000000000" pitchFamily="2" charset="2"/>
            </a:pPr>
            <a:r>
              <a:rPr lang="en-US" altLang="zh-CN" dirty="0"/>
              <a:t>Note: the sets {0, 1, 2, 3, . . . , k} and {1, 2, 3, 4, . . . , k} are called </a:t>
            </a:r>
            <a:r>
              <a:rPr lang="en-US" altLang="zh-CN" i="1" dirty="0"/>
              <a:t>initial segments </a:t>
            </a:r>
            <a:r>
              <a:rPr lang="en-US" altLang="zh-CN" dirty="0"/>
              <a:t>of </a:t>
            </a:r>
            <a:r>
              <a:rPr lang="en-US" altLang="zh-CN" dirty="0">
                <a:sym typeface="Euclid Math Two" panose="02050601010101010101" pitchFamily="18" charset="2"/>
              </a:rPr>
              <a:t></a:t>
            </a:r>
            <a:r>
              <a:rPr lang="en-US" altLang="zh-CN" dirty="0"/>
              <a:t>.</a:t>
            </a:r>
            <a:endParaRPr lang="en-US" altLang="zh-CN" dirty="0"/>
          </a:p>
          <a:p>
            <a:pPr lvl="1" eaLnBrk="1" hangingPunct="1">
              <a:buClr>
                <a:schemeClr val="hlink"/>
              </a:buClr>
              <a:buSzPct val="55000"/>
              <a:buFont typeface="Wingdings" panose="05000000000000000000" pitchFamily="2" charset="2"/>
            </a:pPr>
            <a:r>
              <a:rPr lang="en-US" altLang="zh-CN" dirty="0"/>
              <a:t>Notation: if </a:t>
            </a:r>
            <a:r>
              <a:rPr lang="en-US" altLang="zh-CN" i="1" dirty="0"/>
              <a:t>f</a:t>
            </a:r>
            <a:r>
              <a:rPr lang="en-US" altLang="zh-CN" dirty="0"/>
              <a:t> is a function from {0, 1, 2, . . .} to S we usually denote </a:t>
            </a:r>
            <a:r>
              <a:rPr lang="en-US" altLang="zh-CN" i="1" dirty="0"/>
              <a:t>f</a:t>
            </a:r>
            <a:r>
              <a:rPr lang="en-US" altLang="zh-CN" dirty="0"/>
              <a:t>(</a:t>
            </a:r>
            <a:r>
              <a:rPr lang="en-US" altLang="zh-CN" i="1" dirty="0"/>
              <a:t>i</a:t>
            </a:r>
            <a:r>
              <a:rPr lang="en-US" altLang="zh-CN" dirty="0"/>
              <a:t>) by </a:t>
            </a:r>
            <a:r>
              <a:rPr lang="en-US" altLang="zh-CN" i="1" dirty="0"/>
              <a:t>a</a:t>
            </a:r>
            <a:r>
              <a:rPr lang="en-US" altLang="zh-CN" i="1" baseline="-25000" dirty="0"/>
              <a:t>i</a:t>
            </a:r>
            <a:r>
              <a:rPr lang="en-US" altLang="zh-CN" dirty="0"/>
              <a:t> and we write {a</a:t>
            </a:r>
            <a:r>
              <a:rPr lang="en-US" altLang="zh-CN" baseline="-25000" dirty="0"/>
              <a:t>0</a:t>
            </a:r>
            <a:r>
              <a:rPr lang="en-US" altLang="zh-CN" dirty="0"/>
              <a:t>, a</a:t>
            </a:r>
            <a:r>
              <a:rPr lang="en-US" altLang="zh-CN" baseline="-25000" dirty="0"/>
              <a:t>1</a:t>
            </a:r>
            <a:r>
              <a:rPr lang="en-US" altLang="zh-CN" dirty="0"/>
              <a:t>, a</a:t>
            </a:r>
            <a:r>
              <a:rPr lang="en-US" altLang="zh-CN" baseline="-25000" dirty="0"/>
              <a:t>2</a:t>
            </a:r>
            <a:r>
              <a:rPr lang="en-US" altLang="zh-CN" dirty="0"/>
              <a:t>, </a:t>
            </a:r>
            <a:r>
              <a:rPr lang="en-US" altLang="zh-CN" baseline="-25000" dirty="0"/>
              <a:t> </a:t>
            </a:r>
            <a:r>
              <a:rPr lang="en-US" altLang="zh-CN" dirty="0"/>
              <a:t>a</a:t>
            </a:r>
            <a:r>
              <a:rPr lang="en-US" altLang="zh-CN" baseline="-25000" dirty="0"/>
              <a:t>3</a:t>
            </a:r>
            <a:r>
              <a:rPr lang="en-US" altLang="zh-CN" dirty="0"/>
              <a:t>, . . . } =          =               where </a:t>
            </a:r>
            <a:r>
              <a:rPr lang="en-US" altLang="zh-CN" i="1" dirty="0"/>
              <a:t>k</a:t>
            </a:r>
            <a:r>
              <a:rPr lang="en-US" altLang="zh-CN" dirty="0"/>
              <a:t> is the upper limit (usually </a:t>
            </a:r>
            <a:r>
              <a:rPr lang="en-US" altLang="zh-CN" dirty="0">
                <a:sym typeface="Symbol" panose="05050102010706020507" pitchFamily="18" charset="2"/>
              </a:rPr>
              <a:t></a:t>
            </a:r>
            <a:r>
              <a:rPr lang="en-US" altLang="zh-CN" dirty="0"/>
              <a:t>).</a:t>
            </a:r>
            <a:endParaRPr lang="en-US" altLang="zh-CN" dirty="0"/>
          </a:p>
        </p:txBody>
      </p:sp>
      <p:graphicFrame>
        <p:nvGraphicFramePr>
          <p:cNvPr id="7174" name="Object 8"/>
          <p:cNvGraphicFramePr>
            <a:graphicFrameLocks noChangeAspect="1"/>
          </p:cNvGraphicFramePr>
          <p:nvPr>
            <p:ph sz="quarter" idx="2"/>
          </p:nvPr>
        </p:nvGraphicFramePr>
        <p:xfrm>
          <a:off x="4211003" y="4796790"/>
          <a:ext cx="720725" cy="468313"/>
        </p:xfrm>
        <a:graphic>
          <a:graphicData uri="http://schemas.openxmlformats.org/presentationml/2006/ole">
            <mc:AlternateContent xmlns:mc="http://schemas.openxmlformats.org/markup-compatibility/2006">
              <mc:Choice xmlns:v="urn:schemas-microsoft-com:vml" Requires="v">
                <p:oleObj spid="_x0000_s3077" name="" r:id="rId1" imgW="508000" imgH="330200" progId="Equation.3">
                  <p:embed/>
                </p:oleObj>
              </mc:Choice>
              <mc:Fallback>
                <p:oleObj name="" r:id="rId1" imgW="508000" imgH="330200" progId="Equation.3">
                  <p:embed/>
                  <p:pic>
                    <p:nvPicPr>
                      <p:cNvPr id="0" name="图片 3076"/>
                      <p:cNvPicPr/>
                      <p:nvPr/>
                    </p:nvPicPr>
                    <p:blipFill>
                      <a:blip r:embed="rId2"/>
                      <a:srcRect/>
                      <a:stretch>
                        <a:fillRect/>
                      </a:stretch>
                    </p:blipFill>
                    <p:spPr>
                      <a:xfrm>
                        <a:off x="4211003" y="4796790"/>
                        <a:ext cx="720725" cy="468313"/>
                      </a:xfrm>
                      <a:prstGeom prst="rect">
                        <a:avLst/>
                      </a:prstGeom>
                      <a:noFill/>
                      <a:ln w="38100">
                        <a:miter/>
                      </a:ln>
                    </p:spPr>
                  </p:pic>
                </p:oleObj>
              </mc:Fallback>
            </mc:AlternateContent>
          </a:graphicData>
        </a:graphic>
      </p:graphicFrame>
      <p:graphicFrame>
        <p:nvGraphicFramePr>
          <p:cNvPr id="7175" name="Object 10"/>
          <p:cNvGraphicFramePr>
            <a:graphicFrameLocks noChangeAspect="1"/>
          </p:cNvGraphicFramePr>
          <p:nvPr>
            <p:ph sz="quarter" idx="3"/>
          </p:nvPr>
        </p:nvGraphicFramePr>
        <p:xfrm>
          <a:off x="5507673" y="4796790"/>
          <a:ext cx="576262" cy="441325"/>
        </p:xfrm>
        <a:graphic>
          <a:graphicData uri="http://schemas.openxmlformats.org/presentationml/2006/ole">
            <mc:AlternateContent xmlns:mc="http://schemas.openxmlformats.org/markup-compatibility/2006">
              <mc:Choice xmlns:v="urn:schemas-microsoft-com:vml" Requires="v">
                <p:oleObj spid="_x0000_s3076" name="" r:id="rId3" imgW="431800" imgH="330200" progId="Equation.3">
                  <p:embed/>
                </p:oleObj>
              </mc:Choice>
              <mc:Fallback>
                <p:oleObj name="" r:id="rId3" imgW="431800" imgH="330200" progId="Equation.3">
                  <p:embed/>
                  <p:pic>
                    <p:nvPicPr>
                      <p:cNvPr id="0" name="图片 3075"/>
                      <p:cNvPicPr/>
                      <p:nvPr/>
                    </p:nvPicPr>
                    <p:blipFill>
                      <a:blip r:embed="rId4"/>
                      <a:srcRect/>
                      <a:stretch>
                        <a:fillRect/>
                      </a:stretch>
                    </p:blipFill>
                    <p:spPr>
                      <a:xfrm>
                        <a:off x="5507673" y="4796790"/>
                        <a:ext cx="576262" cy="441325"/>
                      </a:xfrm>
                      <a:prstGeom prst="rect">
                        <a:avLst/>
                      </a:prstGeom>
                      <a:noFill/>
                      <a:ln w="38100">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819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8196" name="Rectangle 2"/>
          <p:cNvSpPr>
            <a:spLocks noGrp="1"/>
          </p:cNvSpPr>
          <p:nvPr>
            <p:ph type="title"/>
          </p:nvPr>
        </p:nvSpPr>
        <p:spPr/>
        <p:txBody>
          <a:bodyPr vert="horz" wrap="square" lIns="91440" tIns="45720" rIns="91440" bIns="45720" anchor="b" anchorCtr="0"/>
          <a:p>
            <a:pPr eaLnBrk="1" hangingPunct="1"/>
            <a:r>
              <a:rPr lang="en-US" altLang="zh-CN" dirty="0"/>
              <a:t>Sequence Examples</a:t>
            </a:r>
            <a:endParaRPr lang="en-US" altLang="zh-CN" dirty="0"/>
          </a:p>
        </p:txBody>
      </p:sp>
      <p:sp>
        <p:nvSpPr>
          <p:cNvPr id="8197"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Some authors write “the sequence </a:t>
            </a:r>
            <a:r>
              <a:rPr lang="en-US" altLang="zh-CN" i="1" dirty="0">
                <a:solidFill>
                  <a:srgbClr val="FF0000"/>
                </a:solidFill>
              </a:rPr>
              <a:t>a</a:t>
            </a:r>
            <a:r>
              <a:rPr lang="en-US" altLang="zh-CN" baseline="-25000" dirty="0">
                <a:solidFill>
                  <a:srgbClr val="FF0000"/>
                </a:solidFill>
              </a:rPr>
              <a:t>1</a:t>
            </a:r>
            <a:r>
              <a:rPr lang="en-US" altLang="zh-CN" dirty="0">
                <a:solidFill>
                  <a:srgbClr val="FF0000"/>
                </a:solidFill>
              </a:rPr>
              <a:t>, </a:t>
            </a:r>
            <a:r>
              <a:rPr lang="en-US" altLang="zh-CN" i="1" dirty="0">
                <a:solidFill>
                  <a:srgbClr val="FF0000"/>
                </a:solidFill>
              </a:rPr>
              <a:t>a</a:t>
            </a:r>
            <a:r>
              <a:rPr lang="en-US" altLang="zh-CN" baseline="-25000" dirty="0">
                <a:solidFill>
                  <a:srgbClr val="FF0000"/>
                </a:solidFill>
              </a:rPr>
              <a:t>2</a:t>
            </a:r>
            <a:r>
              <a:rPr lang="en-US" altLang="zh-CN" dirty="0">
                <a:solidFill>
                  <a:srgbClr val="FF0000"/>
                </a:solidFill>
              </a:rPr>
              <a:t>, …</a:t>
            </a:r>
            <a:r>
              <a:rPr lang="en-US" altLang="zh-CN" dirty="0"/>
              <a:t>” instead of </a:t>
            </a:r>
            <a:r>
              <a:rPr lang="en-US" altLang="zh-CN" dirty="0">
                <a:solidFill>
                  <a:srgbClr val="FF0000"/>
                </a:solidFill>
              </a:rPr>
              <a:t>{</a:t>
            </a:r>
            <a:r>
              <a:rPr lang="en-US" altLang="zh-CN" i="1" dirty="0">
                <a:solidFill>
                  <a:srgbClr val="FF0000"/>
                </a:solidFill>
              </a:rPr>
              <a:t>a</a:t>
            </a:r>
            <a:r>
              <a:rPr lang="en-US" altLang="zh-CN" i="1" baseline="-25000" dirty="0">
                <a:solidFill>
                  <a:srgbClr val="FF0000"/>
                </a:solidFill>
              </a:rPr>
              <a:t>n</a:t>
            </a:r>
            <a:r>
              <a:rPr lang="en-US" altLang="zh-CN" dirty="0">
                <a:solidFill>
                  <a:srgbClr val="FF0000"/>
                </a:solidFill>
              </a:rPr>
              <a:t>}</a:t>
            </a:r>
            <a:r>
              <a:rPr lang="en-US" altLang="zh-CN" dirty="0"/>
              <a:t>, to ensure that the set of indices is clear.  </a:t>
            </a:r>
            <a:endParaRPr lang="en-US" altLang="zh-CN" dirty="0"/>
          </a:p>
          <a:p>
            <a:pPr lvl="1" eaLnBrk="1" hangingPunct="1">
              <a:lnSpc>
                <a:spcPct val="90000"/>
              </a:lnSpc>
            </a:pPr>
            <a:r>
              <a:rPr lang="en-US" altLang="zh-CN" dirty="0"/>
              <a:t>Be careful:  Our book often leaves the indices ambiguous.</a:t>
            </a:r>
            <a:endParaRPr lang="en-US" altLang="zh-CN" dirty="0"/>
          </a:p>
          <a:p>
            <a:pPr eaLnBrk="1" hangingPunct="1">
              <a:lnSpc>
                <a:spcPct val="90000"/>
              </a:lnSpc>
            </a:pPr>
            <a:r>
              <a:rPr lang="en-US" altLang="zh-CN" dirty="0"/>
              <a:t>An example of an infinite series:</a:t>
            </a:r>
            <a:endParaRPr lang="en-US" altLang="zh-CN" dirty="0"/>
          </a:p>
          <a:p>
            <a:pPr lvl="1" eaLnBrk="1" hangingPunct="1">
              <a:lnSpc>
                <a:spcPct val="90000"/>
              </a:lnSpc>
            </a:pPr>
            <a:r>
              <a:rPr lang="en-US" altLang="zh-CN" dirty="0"/>
              <a:t>Consider the series </a:t>
            </a:r>
            <a:r>
              <a:rPr lang="en-US" altLang="zh-CN" dirty="0">
                <a:solidFill>
                  <a:srgbClr val="FF0000"/>
                </a:solidFill>
              </a:rPr>
              <a:t>{</a:t>
            </a:r>
            <a:r>
              <a:rPr lang="en-US" altLang="zh-CN" i="1" dirty="0">
                <a:solidFill>
                  <a:srgbClr val="FF0000"/>
                </a:solidFill>
              </a:rPr>
              <a:t>a</a:t>
            </a:r>
            <a:r>
              <a:rPr lang="en-US" altLang="zh-CN" i="1" baseline="-25000" dirty="0">
                <a:solidFill>
                  <a:srgbClr val="FF0000"/>
                </a:solidFill>
              </a:rPr>
              <a:t>n</a:t>
            </a:r>
            <a:r>
              <a:rPr lang="en-US" altLang="zh-CN" dirty="0">
                <a:solidFill>
                  <a:srgbClr val="FF0000"/>
                </a:solidFill>
              </a:rPr>
              <a:t>} = </a:t>
            </a:r>
            <a:r>
              <a:rPr lang="en-US" altLang="zh-CN" i="1" dirty="0">
                <a:solidFill>
                  <a:srgbClr val="FF0000"/>
                </a:solidFill>
              </a:rPr>
              <a:t>a</a:t>
            </a:r>
            <a:r>
              <a:rPr lang="en-US" altLang="zh-CN" baseline="-25000" dirty="0">
                <a:solidFill>
                  <a:srgbClr val="FF0000"/>
                </a:solidFill>
              </a:rPr>
              <a:t>1</a:t>
            </a:r>
            <a:r>
              <a:rPr lang="en-US" altLang="zh-CN" dirty="0">
                <a:solidFill>
                  <a:srgbClr val="FF0000"/>
                </a:solidFill>
              </a:rPr>
              <a:t>, </a:t>
            </a:r>
            <a:r>
              <a:rPr lang="en-US" altLang="zh-CN" i="1" dirty="0">
                <a:solidFill>
                  <a:srgbClr val="FF0000"/>
                </a:solidFill>
              </a:rPr>
              <a:t>a</a:t>
            </a:r>
            <a:r>
              <a:rPr lang="en-US" altLang="zh-CN" baseline="-25000" dirty="0">
                <a:solidFill>
                  <a:srgbClr val="FF0000"/>
                </a:solidFill>
              </a:rPr>
              <a:t>2</a:t>
            </a:r>
            <a:r>
              <a:rPr lang="en-US" altLang="zh-CN" dirty="0">
                <a:solidFill>
                  <a:srgbClr val="FF0000"/>
                </a:solidFill>
              </a:rPr>
              <a:t>, …</a:t>
            </a:r>
            <a:r>
              <a:rPr lang="en-US" altLang="zh-CN" dirty="0"/>
              <a:t>, where </a:t>
            </a:r>
            <a:r>
              <a:rPr lang="en-US" altLang="zh-CN" dirty="0">
                <a:solidFill>
                  <a:srgbClr val="FF0000"/>
                </a:solidFill>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n</a:t>
            </a:r>
            <a:r>
              <a:rPr lang="en-US" altLang="zh-CN" dirty="0">
                <a:solidFill>
                  <a:srgbClr val="FF0000"/>
                </a:solidFill>
                <a:sym typeface="Symbol" panose="05050102010706020507" pitchFamily="18" charset="2"/>
              </a:rPr>
              <a:t>1</a:t>
            </a:r>
            <a:r>
              <a:rPr lang="en-US" altLang="zh-CN" dirty="0">
                <a:solidFill>
                  <a:srgbClr val="FF0000"/>
                </a:solidFill>
              </a:rPr>
              <a:t>) </a:t>
            </a:r>
            <a:r>
              <a:rPr lang="en-US" altLang="zh-CN" i="1" dirty="0">
                <a:solidFill>
                  <a:srgbClr val="FF0000"/>
                </a:solidFill>
              </a:rPr>
              <a:t>a</a:t>
            </a:r>
            <a:r>
              <a:rPr lang="en-US" altLang="zh-CN" i="1" baseline="-25000" dirty="0">
                <a:solidFill>
                  <a:srgbClr val="FF0000"/>
                </a:solidFill>
              </a:rPr>
              <a:t>n</a:t>
            </a:r>
            <a:r>
              <a:rPr lang="en-US" altLang="zh-CN" dirty="0">
                <a:solidFill>
                  <a:srgbClr val="FF0000"/>
                </a:solidFill>
              </a:rPr>
              <a:t>= </a:t>
            </a:r>
            <a:r>
              <a:rPr lang="en-US" altLang="zh-CN" i="1" dirty="0">
                <a:solidFill>
                  <a:srgbClr val="FF0000"/>
                </a:solidFill>
              </a:rPr>
              <a:t>f</a:t>
            </a:r>
            <a:r>
              <a:rPr lang="en-US" altLang="zh-CN" dirty="0">
                <a:solidFill>
                  <a:srgbClr val="FF0000"/>
                </a:solidFill>
              </a:rPr>
              <a:t>(</a:t>
            </a:r>
            <a:r>
              <a:rPr lang="en-US" altLang="zh-CN" i="1" dirty="0">
                <a:solidFill>
                  <a:srgbClr val="FF0000"/>
                </a:solidFill>
              </a:rPr>
              <a:t>n</a:t>
            </a:r>
            <a:r>
              <a:rPr lang="en-US" altLang="zh-CN" dirty="0">
                <a:solidFill>
                  <a:srgbClr val="FF0000"/>
                </a:solidFill>
              </a:rPr>
              <a:t>) = 1/</a:t>
            </a:r>
            <a:r>
              <a:rPr lang="en-US" altLang="zh-CN" i="1" dirty="0">
                <a:solidFill>
                  <a:srgbClr val="FF0000"/>
                </a:solidFill>
              </a:rPr>
              <a:t>n</a:t>
            </a:r>
            <a:r>
              <a:rPr lang="en-US" altLang="zh-CN" dirty="0"/>
              <a:t>.</a:t>
            </a:r>
            <a:endParaRPr lang="en-US" altLang="zh-CN" dirty="0"/>
          </a:p>
          <a:p>
            <a:pPr lvl="1" eaLnBrk="1" hangingPunct="1">
              <a:lnSpc>
                <a:spcPct val="90000"/>
              </a:lnSpc>
            </a:pPr>
            <a:r>
              <a:rPr lang="en-US" altLang="zh-CN" dirty="0"/>
              <a:t>Then, we have </a:t>
            </a:r>
            <a:r>
              <a:rPr lang="en-US" altLang="zh-CN" dirty="0">
                <a:solidFill>
                  <a:srgbClr val="FF0000"/>
                </a:solidFill>
              </a:rPr>
              <a:t>{</a:t>
            </a:r>
            <a:r>
              <a:rPr lang="en-US" altLang="zh-CN" i="1" dirty="0">
                <a:solidFill>
                  <a:srgbClr val="FF0000"/>
                </a:solidFill>
              </a:rPr>
              <a:t>a</a:t>
            </a:r>
            <a:r>
              <a:rPr lang="en-US" altLang="zh-CN" i="1" baseline="-25000" dirty="0">
                <a:solidFill>
                  <a:srgbClr val="FF0000"/>
                </a:solidFill>
              </a:rPr>
              <a:t>n</a:t>
            </a:r>
            <a:r>
              <a:rPr lang="en-US" altLang="zh-CN" dirty="0">
                <a:solidFill>
                  <a:srgbClr val="FF0000"/>
                </a:solidFill>
              </a:rPr>
              <a:t>} = 1, 1/2, 1/3, …</a:t>
            </a:r>
            <a:endParaRPr lang="en-US" altLang="zh-CN"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921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9220" name="Rectangle 2"/>
          <p:cNvSpPr>
            <a:spLocks noGrp="1"/>
          </p:cNvSpPr>
          <p:nvPr>
            <p:ph type="title"/>
          </p:nvPr>
        </p:nvSpPr>
        <p:spPr/>
        <p:txBody>
          <a:bodyPr vert="horz" wrap="square" lIns="91440" tIns="45720" rIns="91440" bIns="45720" anchor="b" anchorCtr="0"/>
          <a:p>
            <a:pPr eaLnBrk="1" hangingPunct="1"/>
            <a:r>
              <a:rPr lang="en-US" altLang="zh-CN" dirty="0"/>
              <a:t>Example with Repetitions</a:t>
            </a:r>
            <a:endParaRPr lang="en-US" altLang="zh-CN" dirty="0"/>
          </a:p>
        </p:txBody>
      </p:sp>
      <p:sp>
        <p:nvSpPr>
          <p:cNvPr id="9221" name="Rectangle 3"/>
          <p:cNvSpPr>
            <a:spLocks noGrp="1"/>
          </p:cNvSpPr>
          <p:nvPr>
            <p:ph idx="1"/>
          </p:nvPr>
        </p:nvSpPr>
        <p:spPr/>
        <p:txBody>
          <a:bodyPr vert="horz" wrap="square" lIns="91440" tIns="45720" rIns="91440" bIns="45720" anchor="t" anchorCtr="0"/>
          <a:p>
            <a:pPr eaLnBrk="1" hangingPunct="1"/>
            <a:r>
              <a:rPr lang="en-US" altLang="zh-CN" dirty="0"/>
              <a:t>Like tuples, but unlike sets, a sequence may contain </a:t>
            </a:r>
            <a:r>
              <a:rPr lang="en-US" altLang="zh-CN" i="1" dirty="0"/>
              <a:t>repeated</a:t>
            </a:r>
            <a:r>
              <a:rPr lang="en-US" altLang="zh-CN" dirty="0"/>
              <a:t> instances of an element.</a:t>
            </a:r>
            <a:endParaRPr lang="en-US" altLang="zh-CN" dirty="0"/>
          </a:p>
          <a:p>
            <a:pPr eaLnBrk="1" hangingPunct="1"/>
            <a:r>
              <a:rPr lang="en-US" altLang="zh-CN" dirty="0"/>
              <a:t>Consider the sequence </a:t>
            </a:r>
            <a:r>
              <a:rPr lang="en-US" altLang="zh-CN" dirty="0">
                <a:solidFill>
                  <a:srgbClr val="FF0000"/>
                </a:solidFill>
              </a:rPr>
              <a:t>{</a:t>
            </a:r>
            <a:r>
              <a:rPr lang="en-US" altLang="zh-CN" i="1" dirty="0">
                <a:solidFill>
                  <a:srgbClr val="FF0000"/>
                </a:solidFill>
              </a:rPr>
              <a:t>b</a:t>
            </a:r>
            <a:r>
              <a:rPr lang="en-US" altLang="zh-CN" i="1" baseline="-25000" dirty="0">
                <a:solidFill>
                  <a:srgbClr val="FF0000"/>
                </a:solidFill>
              </a:rPr>
              <a:t>n</a:t>
            </a:r>
            <a:r>
              <a:rPr lang="en-US" altLang="zh-CN" dirty="0">
                <a:solidFill>
                  <a:srgbClr val="FF0000"/>
                </a:solidFill>
              </a:rPr>
              <a:t>}</a:t>
            </a:r>
            <a:r>
              <a:rPr lang="en-US" altLang="zh-CN" i="1" dirty="0">
                <a:solidFill>
                  <a:srgbClr val="FF0000"/>
                </a:solidFill>
              </a:rPr>
              <a:t> </a:t>
            </a:r>
            <a:r>
              <a:rPr lang="en-US" altLang="zh-CN" dirty="0">
                <a:solidFill>
                  <a:srgbClr val="FF0000"/>
                </a:solidFill>
              </a:rPr>
              <a:t>=</a:t>
            </a:r>
            <a:r>
              <a:rPr lang="en-US" altLang="zh-CN" i="1" dirty="0">
                <a:solidFill>
                  <a:srgbClr val="FF0000"/>
                </a:solidFill>
              </a:rPr>
              <a:t> b</a:t>
            </a:r>
            <a:r>
              <a:rPr lang="en-US" altLang="zh-CN" baseline="-25000" dirty="0">
                <a:solidFill>
                  <a:srgbClr val="FF0000"/>
                </a:solidFill>
              </a:rPr>
              <a:t>0</a:t>
            </a:r>
            <a:r>
              <a:rPr lang="en-US" altLang="zh-CN" dirty="0">
                <a:solidFill>
                  <a:srgbClr val="FF0000"/>
                </a:solidFill>
              </a:rPr>
              <a:t>, </a:t>
            </a:r>
            <a:r>
              <a:rPr lang="en-US" altLang="zh-CN" i="1" dirty="0">
                <a:solidFill>
                  <a:srgbClr val="FF0000"/>
                </a:solidFill>
              </a:rPr>
              <a:t>b</a:t>
            </a:r>
            <a:r>
              <a:rPr lang="en-US" altLang="zh-CN" baseline="-25000" dirty="0">
                <a:solidFill>
                  <a:srgbClr val="FF0000"/>
                </a:solidFill>
              </a:rPr>
              <a:t>1</a:t>
            </a:r>
            <a:r>
              <a:rPr lang="en-US" altLang="zh-CN" dirty="0">
                <a:solidFill>
                  <a:srgbClr val="FF0000"/>
                </a:solidFill>
              </a:rPr>
              <a:t>, …</a:t>
            </a:r>
            <a:r>
              <a:rPr lang="en-US" altLang="zh-CN" dirty="0"/>
              <a:t> (note that 0 is an index) where </a:t>
            </a:r>
            <a:r>
              <a:rPr lang="en-US" altLang="zh-CN" i="1" dirty="0">
                <a:solidFill>
                  <a:srgbClr val="FF0000"/>
                </a:solidFill>
              </a:rPr>
              <a:t>b</a:t>
            </a:r>
            <a:r>
              <a:rPr lang="en-US" altLang="zh-CN" i="1" baseline="-25000" dirty="0">
                <a:solidFill>
                  <a:srgbClr val="FF0000"/>
                </a:solidFill>
              </a:rPr>
              <a:t>n </a:t>
            </a:r>
            <a:r>
              <a:rPr lang="en-US" altLang="zh-CN" dirty="0">
                <a:solidFill>
                  <a:srgbClr val="FF0000"/>
                </a:solidFill>
              </a:rPr>
              <a:t>= (</a:t>
            </a:r>
            <a:r>
              <a:rPr lang="en-US" altLang="zh-CN" dirty="0">
                <a:solidFill>
                  <a:srgbClr val="FF0000"/>
                </a:solidFill>
                <a:sym typeface="Symbol" panose="05050102010706020507" pitchFamily="18" charset="2"/>
              </a:rPr>
              <a:t></a:t>
            </a:r>
            <a:r>
              <a:rPr lang="en-US" altLang="zh-CN" dirty="0">
                <a:solidFill>
                  <a:srgbClr val="FF0000"/>
                </a:solidFill>
              </a:rPr>
              <a:t>1)</a:t>
            </a:r>
            <a:r>
              <a:rPr lang="en-US" altLang="zh-CN" i="1" baseline="30000" dirty="0">
                <a:solidFill>
                  <a:srgbClr val="FF0000"/>
                </a:solidFill>
              </a:rPr>
              <a:t>n</a:t>
            </a:r>
            <a:r>
              <a:rPr lang="en-US" altLang="zh-CN" dirty="0"/>
              <a:t>.</a:t>
            </a:r>
            <a:endParaRPr lang="en-US" altLang="zh-CN" dirty="0"/>
          </a:p>
          <a:p>
            <a:pPr lvl="1" eaLnBrk="1" hangingPunct="1"/>
            <a:r>
              <a:rPr lang="en-US" altLang="zh-CN" dirty="0"/>
              <a:t>Thus, </a:t>
            </a:r>
            <a:r>
              <a:rPr lang="en-US" altLang="zh-CN" dirty="0">
                <a:solidFill>
                  <a:srgbClr val="FF0000"/>
                </a:solidFill>
              </a:rPr>
              <a:t>{</a:t>
            </a:r>
            <a:r>
              <a:rPr lang="en-US" altLang="zh-CN" i="1" dirty="0">
                <a:solidFill>
                  <a:srgbClr val="FF0000"/>
                </a:solidFill>
              </a:rPr>
              <a:t>b</a:t>
            </a:r>
            <a:r>
              <a:rPr lang="en-US" altLang="zh-CN" i="1" baseline="-25000" dirty="0">
                <a:solidFill>
                  <a:srgbClr val="FF0000"/>
                </a:solidFill>
              </a:rPr>
              <a:t>n</a:t>
            </a:r>
            <a:r>
              <a:rPr lang="en-US" altLang="zh-CN" dirty="0">
                <a:solidFill>
                  <a:srgbClr val="FF0000"/>
                </a:solidFill>
              </a:rPr>
              <a:t>}</a:t>
            </a:r>
            <a:r>
              <a:rPr lang="en-US" altLang="zh-CN" i="1" dirty="0">
                <a:solidFill>
                  <a:srgbClr val="FF0000"/>
                </a:solidFill>
              </a:rPr>
              <a:t> </a:t>
            </a:r>
            <a:r>
              <a:rPr lang="en-US" altLang="zh-CN" dirty="0">
                <a:solidFill>
                  <a:srgbClr val="FF0000"/>
                </a:solidFill>
              </a:rPr>
              <a:t>= 1, </a:t>
            </a:r>
            <a:r>
              <a:rPr lang="en-US" altLang="zh-CN" dirty="0">
                <a:solidFill>
                  <a:srgbClr val="FF0000"/>
                </a:solidFill>
                <a:sym typeface="Symbol" panose="05050102010706020507" pitchFamily="18" charset="2"/>
              </a:rPr>
              <a:t></a:t>
            </a:r>
            <a:r>
              <a:rPr lang="en-US" altLang="zh-CN" dirty="0">
                <a:solidFill>
                  <a:srgbClr val="FF0000"/>
                </a:solidFill>
              </a:rPr>
              <a:t>1, 1, </a:t>
            </a:r>
            <a:r>
              <a:rPr lang="en-US" altLang="zh-CN" dirty="0">
                <a:solidFill>
                  <a:srgbClr val="FF0000"/>
                </a:solidFill>
                <a:sym typeface="Symbol" panose="05050102010706020507" pitchFamily="18" charset="2"/>
              </a:rPr>
              <a:t></a:t>
            </a:r>
            <a:r>
              <a:rPr lang="en-US" altLang="zh-CN" dirty="0">
                <a:solidFill>
                  <a:srgbClr val="FF0000"/>
                </a:solidFill>
              </a:rPr>
              <a:t>1, …</a:t>
            </a:r>
            <a:endParaRPr lang="en-US" altLang="zh-CN" dirty="0">
              <a:solidFill>
                <a:srgbClr val="FF0000"/>
              </a:solidFill>
            </a:endParaRPr>
          </a:p>
          <a:p>
            <a:pPr lvl="2" eaLnBrk="1" hangingPunct="1"/>
            <a:r>
              <a:rPr lang="en-US" altLang="zh-CN" dirty="0"/>
              <a:t>Note repetitions! </a:t>
            </a:r>
            <a:endParaRPr lang="en-US" altLang="zh-CN" dirty="0"/>
          </a:p>
          <a:p>
            <a:pPr lvl="1" eaLnBrk="1" hangingPunct="1"/>
            <a:r>
              <a:rPr lang="en-US" altLang="zh-CN" dirty="0"/>
              <a:t>This </a:t>
            </a:r>
            <a:r>
              <a:rPr lang="en-US" altLang="zh-CN" dirty="0">
                <a:solidFill>
                  <a:srgbClr val="FF0000"/>
                </a:solidFill>
              </a:rPr>
              <a:t>{</a:t>
            </a:r>
            <a:r>
              <a:rPr lang="en-US" altLang="zh-CN" i="1" dirty="0">
                <a:solidFill>
                  <a:srgbClr val="FF0000"/>
                </a:solidFill>
              </a:rPr>
              <a:t>b</a:t>
            </a:r>
            <a:r>
              <a:rPr lang="en-US" altLang="zh-CN" i="1" baseline="-25000" dirty="0">
                <a:solidFill>
                  <a:srgbClr val="FF0000"/>
                </a:solidFill>
              </a:rPr>
              <a:t>n</a:t>
            </a:r>
            <a:r>
              <a:rPr lang="en-US" altLang="zh-CN" dirty="0">
                <a:solidFill>
                  <a:srgbClr val="FF0000"/>
                </a:solidFill>
              </a:rPr>
              <a:t>}</a:t>
            </a:r>
            <a:r>
              <a:rPr lang="en-US" altLang="zh-CN" dirty="0"/>
              <a:t> denotes an infinite sequence of 1’s and </a:t>
            </a:r>
            <a:r>
              <a:rPr lang="en-US" altLang="zh-CN" dirty="0">
                <a:sym typeface="Symbol" panose="05050102010706020507" pitchFamily="18" charset="2"/>
              </a:rPr>
              <a:t></a:t>
            </a:r>
            <a:r>
              <a:rPr lang="en-US" altLang="zh-CN" dirty="0"/>
              <a:t>1’s, </a:t>
            </a:r>
            <a:r>
              <a:rPr lang="en-US" altLang="zh-CN" i="1" dirty="0"/>
              <a:t>not</a:t>
            </a:r>
            <a:r>
              <a:rPr lang="en-US" altLang="zh-CN" dirty="0"/>
              <a:t> the 2-element set </a:t>
            </a:r>
            <a:r>
              <a:rPr lang="en-US" altLang="zh-CN" dirty="0">
                <a:solidFill>
                  <a:srgbClr val="FF0000"/>
                </a:solidFill>
              </a:rPr>
              <a:t>{1, </a:t>
            </a:r>
            <a:r>
              <a:rPr lang="en-US" altLang="zh-CN" dirty="0">
                <a:solidFill>
                  <a:srgbClr val="FF0000"/>
                </a:solidFill>
                <a:sym typeface="Symbol" panose="05050102010706020507" pitchFamily="18" charset="2"/>
              </a:rPr>
              <a:t></a:t>
            </a:r>
            <a:r>
              <a:rPr lang="en-US" altLang="zh-CN" dirty="0">
                <a:solidFill>
                  <a:srgbClr val="FF0000"/>
                </a:solidFill>
              </a:rPr>
              <a:t>1}</a:t>
            </a:r>
            <a:r>
              <a:rPr lang="en-US" altLang="zh-CN" dirty="0"/>
              <a:t>.</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024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10244" name="Rectangle 2"/>
          <p:cNvSpPr>
            <a:spLocks noGrp="1"/>
          </p:cNvSpPr>
          <p:nvPr>
            <p:ph type="title"/>
          </p:nvPr>
        </p:nvSpPr>
        <p:spPr/>
        <p:txBody>
          <a:bodyPr vert="horz" wrap="square" lIns="91440" tIns="45720" rIns="91440" bIns="45720" anchor="b" anchorCtr="0"/>
          <a:p>
            <a:pPr eaLnBrk="1" hangingPunct="1"/>
            <a:r>
              <a:rPr lang="en-US" altLang="zh-CN" dirty="0"/>
              <a:t>Recognizing Sequences</a:t>
            </a:r>
            <a:endParaRPr lang="en-US" altLang="zh-CN" dirty="0"/>
          </a:p>
        </p:txBody>
      </p:sp>
      <p:sp>
        <p:nvSpPr>
          <p:cNvPr id="10245" name="Rectangle 3"/>
          <p:cNvSpPr>
            <a:spLocks noGrp="1"/>
          </p:cNvSpPr>
          <p:nvPr>
            <p:ph idx="1"/>
          </p:nvPr>
        </p:nvSpPr>
        <p:spPr>
          <a:xfrm>
            <a:off x="524510" y="1484630"/>
            <a:ext cx="8763000" cy="4572000"/>
          </a:xfrm>
        </p:spPr>
        <p:txBody>
          <a:bodyPr vert="horz" wrap="square" lIns="91440" tIns="45720" rIns="91440" bIns="45720" anchor="t" anchorCtr="0"/>
          <a:p>
            <a:pPr eaLnBrk="1" hangingPunct="1">
              <a:lnSpc>
                <a:spcPct val="90000"/>
              </a:lnSpc>
            </a:pPr>
            <a:r>
              <a:rPr lang="en-US" altLang="zh-CN" dirty="0"/>
              <a:t>Sometimes, you’re given the first few terms of a sequence, </a:t>
            </a:r>
            <a:endParaRPr lang="en-US" altLang="zh-CN" dirty="0"/>
          </a:p>
          <a:p>
            <a:pPr lvl="1" eaLnBrk="1" hangingPunct="1">
              <a:lnSpc>
                <a:spcPct val="90000"/>
              </a:lnSpc>
            </a:pPr>
            <a:r>
              <a:rPr lang="en-US" altLang="zh-CN" dirty="0"/>
              <a:t>and you are asked to find the sequence’s generating function, </a:t>
            </a:r>
            <a:endParaRPr lang="en-US" altLang="zh-CN" dirty="0"/>
          </a:p>
          <a:p>
            <a:pPr lvl="1" eaLnBrk="1" hangingPunct="1">
              <a:lnSpc>
                <a:spcPct val="90000"/>
              </a:lnSpc>
            </a:pPr>
            <a:r>
              <a:rPr lang="en-US" altLang="zh-CN" dirty="0"/>
              <a:t>or a procedure to enumerate the sequence.</a:t>
            </a:r>
            <a:endParaRPr lang="en-US" altLang="zh-CN" dirty="0"/>
          </a:p>
          <a:p>
            <a:pPr eaLnBrk="1" hangingPunct="1">
              <a:lnSpc>
                <a:spcPct val="90000"/>
              </a:lnSpc>
            </a:pPr>
            <a:r>
              <a:rPr lang="en-US" altLang="zh-CN" dirty="0"/>
              <a:t>Examples: What’s the next number?</a:t>
            </a:r>
            <a:endParaRPr lang="en-US" altLang="zh-CN" dirty="0"/>
          </a:p>
          <a:p>
            <a:pPr lvl="1" eaLnBrk="1" hangingPunct="1">
              <a:lnSpc>
                <a:spcPct val="90000"/>
              </a:lnSpc>
            </a:pPr>
            <a:r>
              <a:rPr lang="en-US" altLang="zh-CN" dirty="0"/>
              <a:t>1,2,3,4,…</a:t>
            </a:r>
            <a:endParaRPr lang="en-US" altLang="zh-CN" dirty="0"/>
          </a:p>
          <a:p>
            <a:pPr lvl="1" eaLnBrk="1" hangingPunct="1">
              <a:lnSpc>
                <a:spcPct val="90000"/>
              </a:lnSpc>
            </a:pPr>
            <a:r>
              <a:rPr lang="en-US" altLang="zh-CN" dirty="0"/>
              <a:t>1,3,5,7,9,…</a:t>
            </a:r>
            <a:endParaRPr lang="en-US" altLang="zh-CN" dirty="0"/>
          </a:p>
          <a:p>
            <a:pPr lvl="1" eaLnBrk="1" hangingPunct="1">
              <a:lnSpc>
                <a:spcPct val="90000"/>
              </a:lnSpc>
            </a:pPr>
            <a:r>
              <a:rPr lang="en-US" altLang="zh-CN" dirty="0"/>
              <a:t>2,3,5,7,11,... </a:t>
            </a:r>
            <a:endParaRPr lang="en-US" altLang="zh-CN" dirty="0"/>
          </a:p>
        </p:txBody>
      </p:sp>
      <p:sp>
        <p:nvSpPr>
          <p:cNvPr id="51204" name="Text Box 4"/>
          <p:cNvSpPr txBox="1"/>
          <p:nvPr/>
        </p:nvSpPr>
        <p:spPr>
          <a:xfrm>
            <a:off x="3505200" y="4289425"/>
            <a:ext cx="3932238" cy="457200"/>
          </a:xfrm>
          <a:prstGeom prst="rect">
            <a:avLst/>
          </a:prstGeom>
          <a:noFill/>
          <a:ln w="9525">
            <a:noFill/>
          </a:ln>
        </p:spPr>
        <p:txBody>
          <a:bodyPr wrap="none" anchor="ctr" anchorCtr="0">
            <a:spAutoFit/>
          </a:bodyPr>
          <a:p>
            <a:pPr algn="ctr">
              <a:spcBef>
                <a:spcPct val="50000"/>
              </a:spcBef>
            </a:pPr>
            <a:r>
              <a:rPr lang="en-US" altLang="zh-CN" dirty="0">
                <a:latin typeface="Times New Roman" panose="02020503050405090304" pitchFamily="18" charset="0"/>
              </a:rPr>
              <a:t>5 (the 5th smallest number &gt;0)</a:t>
            </a:r>
            <a:endParaRPr lang="en-US" altLang="zh-CN" dirty="0">
              <a:latin typeface="Times New Roman" panose="02020503050405090304" pitchFamily="18" charset="0"/>
            </a:endParaRPr>
          </a:p>
        </p:txBody>
      </p:sp>
      <p:sp>
        <p:nvSpPr>
          <p:cNvPr id="51205" name="Text Box 5"/>
          <p:cNvSpPr txBox="1"/>
          <p:nvPr/>
        </p:nvSpPr>
        <p:spPr>
          <a:xfrm>
            <a:off x="3505200" y="4751070"/>
            <a:ext cx="4618038" cy="457200"/>
          </a:xfrm>
          <a:prstGeom prst="rect">
            <a:avLst/>
          </a:prstGeom>
          <a:noFill/>
          <a:ln w="9525">
            <a:noFill/>
          </a:ln>
        </p:spPr>
        <p:txBody>
          <a:bodyPr wrap="none" anchor="ctr" anchorCtr="0">
            <a:spAutoFit/>
          </a:bodyPr>
          <a:p>
            <a:pPr algn="ctr">
              <a:spcBef>
                <a:spcPct val="50000"/>
              </a:spcBef>
            </a:pPr>
            <a:r>
              <a:rPr lang="en-US" altLang="zh-CN" dirty="0">
                <a:latin typeface="Times New Roman" panose="02020503050405090304" pitchFamily="18" charset="0"/>
              </a:rPr>
              <a:t>11 (the 6th smallest odd number &gt;0)</a:t>
            </a:r>
            <a:endParaRPr lang="en-US" altLang="zh-CN" dirty="0">
              <a:latin typeface="Times New Roman" panose="02020503050405090304" pitchFamily="18" charset="0"/>
            </a:endParaRPr>
          </a:p>
        </p:txBody>
      </p:sp>
      <p:sp>
        <p:nvSpPr>
          <p:cNvPr id="51206" name="Text Box 6"/>
          <p:cNvSpPr txBox="1"/>
          <p:nvPr/>
        </p:nvSpPr>
        <p:spPr>
          <a:xfrm>
            <a:off x="3505200" y="5212715"/>
            <a:ext cx="4470400" cy="457200"/>
          </a:xfrm>
          <a:prstGeom prst="rect">
            <a:avLst/>
          </a:prstGeom>
          <a:noFill/>
          <a:ln w="9525">
            <a:noFill/>
          </a:ln>
        </p:spPr>
        <p:txBody>
          <a:bodyPr wrap="none" anchor="ctr" anchorCtr="0">
            <a:spAutoFit/>
          </a:bodyPr>
          <a:p>
            <a:pPr algn="ctr">
              <a:spcBef>
                <a:spcPct val="50000"/>
              </a:spcBef>
            </a:pPr>
            <a:r>
              <a:rPr lang="en-US" altLang="zh-CN" dirty="0">
                <a:latin typeface="Times New Roman" panose="02020503050405090304" pitchFamily="18" charset="0"/>
              </a:rPr>
              <a:t>13 (the 6th smallest prime number)</a:t>
            </a:r>
            <a:endParaRPr lang="en-US" altLang="zh-CN"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 calcmode="lin" valueType="num">
                                      <p:cBhvr additive="base">
                                        <p:cTn id="7" dur="500" fill="hold"/>
                                        <p:tgtEl>
                                          <p:spTgt spid="51204"/>
                                        </p:tgtEl>
                                        <p:attrNameLst>
                                          <p:attrName>ppt_x</p:attrName>
                                        </p:attrNameLst>
                                      </p:cBhvr>
                                      <p:tavLst>
                                        <p:tav tm="0">
                                          <p:val>
                                            <p:strVal val="1+#ppt_w/2"/>
                                          </p:val>
                                        </p:tav>
                                        <p:tav tm="100000">
                                          <p:val>
                                            <p:strVal val="#ppt_x"/>
                                          </p:val>
                                        </p:tav>
                                      </p:tavLst>
                                    </p:anim>
                                    <p:anim calcmode="lin" valueType="num">
                                      <p:cBhvr additive="base">
                                        <p:cTn id="8" dur="500" fill="hold"/>
                                        <p:tgtEl>
                                          <p:spTgt spid="512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05"/>
                                        </p:tgtEl>
                                        <p:attrNameLst>
                                          <p:attrName>style.visibility</p:attrName>
                                        </p:attrNameLst>
                                      </p:cBhvr>
                                      <p:to>
                                        <p:strVal val="visible"/>
                                      </p:to>
                                    </p:set>
                                    <p:anim calcmode="lin" valueType="num">
                                      <p:cBhvr additive="base">
                                        <p:cTn id="13" dur="500" fill="hold"/>
                                        <p:tgtEl>
                                          <p:spTgt spid="51205"/>
                                        </p:tgtEl>
                                        <p:attrNameLst>
                                          <p:attrName>ppt_x</p:attrName>
                                        </p:attrNameLst>
                                      </p:cBhvr>
                                      <p:tavLst>
                                        <p:tav tm="0">
                                          <p:val>
                                            <p:strVal val="1+#ppt_w/2"/>
                                          </p:val>
                                        </p:tav>
                                        <p:tav tm="100000">
                                          <p:val>
                                            <p:strVal val="#ppt_x"/>
                                          </p:val>
                                        </p:tav>
                                      </p:tavLst>
                                    </p:anim>
                                    <p:anim calcmode="lin" valueType="num">
                                      <p:cBhvr additive="base">
                                        <p:cTn id="14" dur="500" fill="hold"/>
                                        <p:tgtEl>
                                          <p:spTgt spid="5120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206"/>
                                        </p:tgtEl>
                                        <p:attrNameLst>
                                          <p:attrName>style.visibility</p:attrName>
                                        </p:attrNameLst>
                                      </p:cBhvr>
                                      <p:to>
                                        <p:strVal val="visible"/>
                                      </p:to>
                                    </p:set>
                                    <p:anim calcmode="lin" valueType="num">
                                      <p:cBhvr additive="base">
                                        <p:cTn id="19" dur="500" fill="hold"/>
                                        <p:tgtEl>
                                          <p:spTgt spid="51206"/>
                                        </p:tgtEl>
                                        <p:attrNameLst>
                                          <p:attrName>ppt_x</p:attrName>
                                        </p:attrNameLst>
                                      </p:cBhvr>
                                      <p:tavLst>
                                        <p:tav tm="0">
                                          <p:val>
                                            <p:strVal val="1+#ppt_w/2"/>
                                          </p:val>
                                        </p:tav>
                                        <p:tav tm="100000">
                                          <p:val>
                                            <p:strVal val="#ppt_x"/>
                                          </p:val>
                                        </p:tav>
                                      </p:tavLst>
                                    </p:anim>
                                    <p:anim calcmode="lin" valueType="num">
                                      <p:cBhvr additive="base">
                                        <p:cTn id="20" dur="500" fill="hold"/>
                                        <p:tgtEl>
                                          <p:spTgt spid="5120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5" grpId="0"/>
      <p:bldP spid="5120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b" anchorCtr="0"/>
          <a:p>
            <a:r>
              <a:rPr lang="en-US" altLang="zh-CN" dirty="0"/>
              <a:t>Recurrence relations </a:t>
            </a:r>
            <a:endParaRPr lang="zh-CN" altLang="en-US" dirty="0"/>
          </a:p>
        </p:txBody>
      </p:sp>
      <p:sp>
        <p:nvSpPr>
          <p:cNvPr id="11267" name="内容占位符 2"/>
          <p:cNvSpPr>
            <a:spLocks noGrp="1"/>
          </p:cNvSpPr>
          <p:nvPr>
            <p:ph idx="1"/>
          </p:nvPr>
        </p:nvSpPr>
        <p:spPr>
          <a:xfrm>
            <a:off x="827088" y="1485583"/>
            <a:ext cx="7916862" cy="4114800"/>
          </a:xfrm>
        </p:spPr>
        <p:txBody>
          <a:bodyPr vert="horz" wrap="square" lIns="91440" tIns="45720" rIns="91440" bIns="45720" anchor="t" anchorCtr="0"/>
          <a:p>
            <a:r>
              <a:rPr lang="en-US" altLang="zh-CN" dirty="0"/>
              <a:t>A </a:t>
            </a:r>
            <a:r>
              <a:rPr lang="en-US" altLang="zh-CN" i="1" dirty="0"/>
              <a:t>recurrence relation</a:t>
            </a:r>
            <a:r>
              <a:rPr lang="en-US" altLang="zh-CN" dirty="0"/>
              <a:t> for the sequence {</a:t>
            </a:r>
            <a:r>
              <a:rPr lang="en-US" altLang="zh-CN" i="1" dirty="0"/>
              <a:t>a</a:t>
            </a:r>
            <a:r>
              <a:rPr lang="en-US" altLang="zh-CN" i="1" baseline="-25000" dirty="0"/>
              <a:t>n</a:t>
            </a:r>
            <a:r>
              <a:rPr lang="en-US" altLang="zh-CN" dirty="0"/>
              <a:t>} is an equation that expresses </a:t>
            </a:r>
            <a:r>
              <a:rPr lang="en-US" altLang="zh-CN" i="1" dirty="0"/>
              <a:t>a</a:t>
            </a:r>
            <a:r>
              <a:rPr lang="en-US" altLang="zh-CN" i="1" baseline="-25000" dirty="0"/>
              <a:t>n</a:t>
            </a:r>
            <a:r>
              <a:rPr lang="en-US" altLang="zh-CN" dirty="0"/>
              <a:t> in terms of one or more of the previous terms of the sequence, namely, </a:t>
            </a:r>
            <a:r>
              <a:rPr lang="en-US" altLang="zh-CN" i="1" dirty="0"/>
              <a:t>a</a:t>
            </a:r>
            <a:r>
              <a:rPr lang="en-US" altLang="zh-CN" i="1" baseline="-25000" dirty="0"/>
              <a:t>0</a:t>
            </a:r>
            <a:r>
              <a:rPr lang="en-US" altLang="zh-CN" i="1" dirty="0"/>
              <a:t>, a</a:t>
            </a:r>
            <a:r>
              <a:rPr lang="en-US" altLang="zh-CN" i="1" baseline="-25000" dirty="0"/>
              <a:t>1</a:t>
            </a:r>
            <a:r>
              <a:rPr lang="en-US" altLang="zh-CN" i="1" dirty="0"/>
              <a:t>, . . . , a</a:t>
            </a:r>
            <a:r>
              <a:rPr lang="en-US" altLang="zh-CN" i="1" baseline="-25000" dirty="0"/>
              <a:t>n−1</a:t>
            </a:r>
            <a:r>
              <a:rPr lang="en-US" altLang="zh-CN" i="1" dirty="0"/>
              <a:t>, </a:t>
            </a:r>
            <a:r>
              <a:rPr lang="en-US" altLang="zh-CN" dirty="0"/>
              <a:t>for all integers</a:t>
            </a:r>
            <a:r>
              <a:rPr lang="en-US" altLang="zh-CN" i="1" dirty="0"/>
              <a:t> n </a:t>
            </a:r>
            <a:r>
              <a:rPr lang="en-US" altLang="zh-CN" dirty="0"/>
              <a:t>with</a:t>
            </a:r>
            <a:r>
              <a:rPr lang="en-US" altLang="zh-CN" i="1" dirty="0"/>
              <a:t> n ≥ n</a:t>
            </a:r>
            <a:r>
              <a:rPr lang="en-US" altLang="zh-CN" i="1" baseline="-25000" dirty="0"/>
              <a:t>0</a:t>
            </a:r>
            <a:r>
              <a:rPr lang="en-US" altLang="zh-CN" i="1" dirty="0"/>
              <a:t>, </a:t>
            </a:r>
            <a:r>
              <a:rPr lang="en-US" altLang="zh-CN" dirty="0"/>
              <a:t>where</a:t>
            </a:r>
            <a:r>
              <a:rPr lang="en-US" altLang="zh-CN" i="1" dirty="0"/>
              <a:t> n</a:t>
            </a:r>
            <a:r>
              <a:rPr lang="en-US" altLang="zh-CN" i="1" baseline="-25000" dirty="0"/>
              <a:t>0</a:t>
            </a:r>
            <a:r>
              <a:rPr lang="en-US" altLang="zh-CN" i="1" dirty="0"/>
              <a:t> </a:t>
            </a:r>
            <a:r>
              <a:rPr lang="en-US" altLang="zh-CN" dirty="0"/>
              <a:t>is a nonnegative integer</a:t>
            </a:r>
            <a:r>
              <a:rPr lang="en-US" altLang="zh-CN" i="1" dirty="0"/>
              <a:t>.</a:t>
            </a:r>
            <a:endParaRPr lang="en-US" altLang="zh-CN" i="1" dirty="0"/>
          </a:p>
          <a:p>
            <a:r>
              <a:rPr lang="en-US" altLang="zh-CN" i="1" dirty="0"/>
              <a:t> A </a:t>
            </a:r>
            <a:r>
              <a:rPr lang="en-US" altLang="zh-CN" dirty="0"/>
              <a:t>sequence is called a </a:t>
            </a:r>
            <a:r>
              <a:rPr lang="en-US" altLang="zh-CN" i="1" dirty="0"/>
              <a:t>solution </a:t>
            </a:r>
            <a:r>
              <a:rPr lang="en-US" altLang="zh-CN" dirty="0"/>
              <a:t>of a recurrence relation if its terms satisfy the recurrence relation.</a:t>
            </a:r>
            <a:endParaRPr lang="zh-CN" altLang="en-US" dirty="0"/>
          </a:p>
        </p:txBody>
      </p:sp>
      <p:sp>
        <p:nvSpPr>
          <p:cNvPr id="11268"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1269"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b" anchorCtr="0"/>
          <a:p>
            <a:endParaRPr lang="zh-CN" altLang="en-US" dirty="0"/>
          </a:p>
        </p:txBody>
      </p:sp>
      <p:sp>
        <p:nvSpPr>
          <p:cNvPr id="12291" name="内容占位符 2"/>
          <p:cNvSpPr>
            <a:spLocks noGrp="1"/>
          </p:cNvSpPr>
          <p:nvPr>
            <p:ph idx="1"/>
          </p:nvPr>
        </p:nvSpPr>
        <p:spPr>
          <a:xfrm>
            <a:off x="898843" y="1484313"/>
            <a:ext cx="8137525" cy="4321175"/>
          </a:xfrm>
        </p:spPr>
        <p:txBody>
          <a:bodyPr vert="horz" wrap="square" lIns="91440" tIns="45720" rIns="91440" bIns="45720" anchor="t" anchorCtr="0"/>
          <a:p>
            <a:r>
              <a:rPr lang="en-US" altLang="zh-CN" dirty="0"/>
              <a:t>Example 5 </a:t>
            </a:r>
            <a:endParaRPr lang="en-US" altLang="zh-CN" dirty="0"/>
          </a:p>
          <a:p>
            <a:pPr lvl="1"/>
            <a:r>
              <a:rPr lang="en-US" altLang="zh-CN" dirty="0"/>
              <a:t>Let {</a:t>
            </a:r>
            <a:r>
              <a:rPr lang="en-US" altLang="zh-CN" i="1" dirty="0"/>
              <a:t>a</a:t>
            </a:r>
            <a:r>
              <a:rPr lang="en-US" altLang="zh-CN" i="1" baseline="-25000" dirty="0"/>
              <a:t>n</a:t>
            </a:r>
            <a:r>
              <a:rPr lang="en-US" altLang="zh-CN" dirty="0"/>
              <a:t>} be a sequence that satisfies the recurrence relation </a:t>
            </a:r>
            <a:r>
              <a:rPr lang="en-US" altLang="zh-CN" i="1" dirty="0"/>
              <a:t>a</a:t>
            </a:r>
            <a:r>
              <a:rPr lang="en-US" altLang="zh-CN" i="1" baseline="-25000" dirty="0"/>
              <a:t>n</a:t>
            </a:r>
            <a:r>
              <a:rPr lang="en-US" altLang="zh-CN" dirty="0"/>
              <a:t> = </a:t>
            </a:r>
            <a:r>
              <a:rPr lang="en-US" altLang="zh-CN" i="1" dirty="0"/>
              <a:t>a</a:t>
            </a:r>
            <a:r>
              <a:rPr lang="en-US" altLang="zh-CN" i="1" baseline="-25000" dirty="0"/>
              <a:t>n</a:t>
            </a:r>
            <a:r>
              <a:rPr lang="en-US" altLang="zh-CN" baseline="-25000" dirty="0"/>
              <a:t>-1</a:t>
            </a:r>
            <a:r>
              <a:rPr lang="en-US" altLang="zh-CN" dirty="0"/>
              <a:t> + 3 for </a:t>
            </a:r>
            <a:r>
              <a:rPr lang="en-US" altLang="zh-CN" i="1" dirty="0"/>
              <a:t>n</a:t>
            </a:r>
            <a:r>
              <a:rPr lang="en-US" altLang="zh-CN" dirty="0"/>
              <a:t> = 1, 2, 3, . . . ,and suppose that </a:t>
            </a:r>
            <a:r>
              <a:rPr lang="en-US" altLang="zh-CN" i="1" dirty="0"/>
              <a:t>a</a:t>
            </a:r>
            <a:r>
              <a:rPr lang="en-US" altLang="zh-CN" i="1" baseline="-25000" dirty="0"/>
              <a:t>0</a:t>
            </a:r>
            <a:r>
              <a:rPr lang="en-US" altLang="zh-CN" dirty="0"/>
              <a:t> = 2. What are </a:t>
            </a:r>
            <a:r>
              <a:rPr lang="en-US" altLang="zh-CN" i="1" dirty="0"/>
              <a:t>a</a:t>
            </a:r>
            <a:r>
              <a:rPr lang="en-US" altLang="zh-CN" i="1" baseline="-25000" dirty="0"/>
              <a:t>1</a:t>
            </a:r>
            <a:r>
              <a:rPr lang="en-US" altLang="zh-CN" dirty="0"/>
              <a:t>, </a:t>
            </a:r>
            <a:r>
              <a:rPr lang="en-US" altLang="zh-CN" i="1" dirty="0"/>
              <a:t>a</a:t>
            </a:r>
            <a:r>
              <a:rPr lang="en-US" altLang="zh-CN" i="1" baseline="-25000" dirty="0"/>
              <a:t>2</a:t>
            </a:r>
            <a:r>
              <a:rPr lang="en-US" altLang="zh-CN" dirty="0"/>
              <a:t>, and </a:t>
            </a:r>
            <a:r>
              <a:rPr lang="en-US" altLang="zh-CN" i="1" dirty="0"/>
              <a:t>a</a:t>
            </a:r>
            <a:r>
              <a:rPr lang="en-US" altLang="zh-CN" i="1" baseline="-25000" dirty="0"/>
              <a:t>3</a:t>
            </a:r>
            <a:r>
              <a:rPr lang="en-US" altLang="zh-CN" dirty="0"/>
              <a:t>?</a:t>
            </a:r>
            <a:endParaRPr lang="zh-CN" altLang="en-US" dirty="0"/>
          </a:p>
          <a:p>
            <a:r>
              <a:rPr lang="en-US" altLang="zh-CN" dirty="0"/>
              <a:t>Example 6 </a:t>
            </a:r>
            <a:endParaRPr lang="en-US" altLang="zh-CN" dirty="0"/>
          </a:p>
          <a:p>
            <a:pPr lvl="1"/>
            <a:r>
              <a:rPr lang="en-US" altLang="zh-CN" dirty="0"/>
              <a:t>Let {</a:t>
            </a:r>
            <a:r>
              <a:rPr lang="en-US" altLang="zh-CN" i="1" dirty="0"/>
              <a:t>a</a:t>
            </a:r>
            <a:r>
              <a:rPr lang="en-US" altLang="zh-CN" i="1" baseline="-25000" dirty="0"/>
              <a:t>n</a:t>
            </a:r>
            <a:r>
              <a:rPr lang="en-US" altLang="zh-CN" dirty="0"/>
              <a:t>} be a sequence that satisfies the recurrence relation </a:t>
            </a:r>
            <a:r>
              <a:rPr lang="en-US" altLang="zh-CN" i="1" dirty="0"/>
              <a:t>a</a:t>
            </a:r>
            <a:r>
              <a:rPr lang="en-US" altLang="zh-CN" i="1" baseline="-25000" dirty="0"/>
              <a:t>n</a:t>
            </a:r>
            <a:r>
              <a:rPr lang="en-US" altLang="zh-CN" i="1" dirty="0"/>
              <a:t> = a</a:t>
            </a:r>
            <a:r>
              <a:rPr lang="en-US" altLang="zh-CN" i="1" baseline="-25000" dirty="0"/>
              <a:t>n−1</a:t>
            </a:r>
            <a:r>
              <a:rPr lang="en-US" altLang="zh-CN" i="1" dirty="0"/>
              <a:t> − a</a:t>
            </a:r>
            <a:r>
              <a:rPr lang="en-US" altLang="zh-CN" i="1" baseline="-25000" dirty="0"/>
              <a:t>n−2</a:t>
            </a:r>
            <a:r>
              <a:rPr lang="en-US" altLang="zh-CN" i="1" dirty="0"/>
              <a:t> </a:t>
            </a:r>
            <a:r>
              <a:rPr lang="en-US" altLang="zh-CN" dirty="0"/>
              <a:t>for</a:t>
            </a:r>
            <a:r>
              <a:rPr lang="en-US" altLang="zh-CN" i="1" dirty="0"/>
              <a:t> n =</a:t>
            </a:r>
            <a:r>
              <a:rPr lang="en-US" altLang="zh-CN" dirty="0"/>
              <a:t>2</a:t>
            </a:r>
            <a:r>
              <a:rPr lang="en-US" altLang="zh-CN" i="1" dirty="0"/>
              <a:t>, </a:t>
            </a:r>
            <a:r>
              <a:rPr lang="en-US" altLang="zh-CN" dirty="0"/>
              <a:t>3, 4, . . . , and suppose that</a:t>
            </a:r>
            <a:r>
              <a:rPr lang="en-US" altLang="zh-CN" i="1" dirty="0"/>
              <a:t> a</a:t>
            </a:r>
            <a:r>
              <a:rPr lang="en-US" altLang="zh-CN" i="1" baseline="-25000" dirty="0"/>
              <a:t>0</a:t>
            </a:r>
            <a:r>
              <a:rPr lang="en-US" altLang="zh-CN" i="1" dirty="0"/>
              <a:t> = </a:t>
            </a:r>
            <a:r>
              <a:rPr lang="en-US" altLang="zh-CN" dirty="0"/>
              <a:t>3 and</a:t>
            </a:r>
            <a:r>
              <a:rPr lang="en-US" altLang="zh-CN" i="1" dirty="0"/>
              <a:t> a</a:t>
            </a:r>
            <a:r>
              <a:rPr lang="en-US" altLang="zh-CN" i="1" baseline="-25000" dirty="0"/>
              <a:t>1</a:t>
            </a:r>
            <a:r>
              <a:rPr lang="en-US" altLang="zh-CN" i="1" dirty="0"/>
              <a:t> = 5. </a:t>
            </a:r>
            <a:r>
              <a:rPr lang="en-US" altLang="zh-CN" dirty="0"/>
              <a:t>What are </a:t>
            </a:r>
            <a:r>
              <a:rPr lang="en-US" altLang="zh-CN" i="1" dirty="0"/>
              <a:t>a</a:t>
            </a:r>
            <a:r>
              <a:rPr lang="en-US" altLang="zh-CN" i="1" baseline="-25000" dirty="0"/>
              <a:t>2</a:t>
            </a:r>
            <a:r>
              <a:rPr lang="en-US" altLang="zh-CN" i="1" dirty="0"/>
              <a:t> </a:t>
            </a:r>
            <a:r>
              <a:rPr lang="en-US" altLang="zh-CN" dirty="0"/>
              <a:t>and</a:t>
            </a:r>
            <a:r>
              <a:rPr lang="en-US" altLang="zh-CN" i="1" dirty="0"/>
              <a:t> a</a:t>
            </a:r>
            <a:r>
              <a:rPr lang="en-US" altLang="zh-CN" i="1" baseline="-25000" dirty="0"/>
              <a:t>3</a:t>
            </a:r>
            <a:r>
              <a:rPr lang="en-US" altLang="zh-CN" dirty="0"/>
              <a:t>?</a:t>
            </a:r>
            <a:endParaRPr lang="en-US" altLang="zh-CN" dirty="0"/>
          </a:p>
        </p:txBody>
      </p:sp>
      <p:sp>
        <p:nvSpPr>
          <p:cNvPr id="12292"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2293"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b" anchorCtr="0"/>
          <a:p>
            <a:endParaRPr lang="zh-CN" altLang="en-US" dirty="0"/>
          </a:p>
        </p:txBody>
      </p:sp>
      <p:sp>
        <p:nvSpPr>
          <p:cNvPr id="13315" name="内容占位符 2"/>
          <p:cNvSpPr>
            <a:spLocks noGrp="1"/>
          </p:cNvSpPr>
          <p:nvPr>
            <p:ph idx="1"/>
          </p:nvPr>
        </p:nvSpPr>
        <p:spPr/>
        <p:txBody>
          <a:bodyPr vert="horz" wrap="square" lIns="91440" tIns="45720" rIns="91440" bIns="45720" anchor="t" anchorCtr="0"/>
          <a:p>
            <a:r>
              <a:rPr lang="en-US" altLang="zh-CN" dirty="0"/>
              <a:t>The </a:t>
            </a:r>
            <a:r>
              <a:rPr lang="en-US" altLang="zh-CN" b="1" dirty="0"/>
              <a:t>initial conditions </a:t>
            </a:r>
            <a:r>
              <a:rPr lang="en-US" altLang="zh-CN" dirty="0"/>
              <a:t>for a recursively defined sequence specify the terms that precede the</a:t>
            </a:r>
            <a:r>
              <a:rPr lang="en-US" altLang="zh-CN" b="1" dirty="0"/>
              <a:t> </a:t>
            </a:r>
            <a:r>
              <a:rPr lang="en-US" altLang="zh-CN" dirty="0"/>
              <a:t>first term where the recurrence relation takes effect.</a:t>
            </a:r>
            <a:endParaRPr lang="en-US" altLang="zh-CN" dirty="0"/>
          </a:p>
          <a:p>
            <a:endParaRPr lang="zh-CN" altLang="en-US" dirty="0"/>
          </a:p>
        </p:txBody>
      </p:sp>
      <p:sp>
        <p:nvSpPr>
          <p:cNvPr id="13316"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3317"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b" anchorCtr="0"/>
          <a:p>
            <a:endParaRPr lang="zh-CN" altLang="en-US" dirty="0"/>
          </a:p>
        </p:txBody>
      </p:sp>
      <p:sp>
        <p:nvSpPr>
          <p:cNvPr id="31747" name="内容占位符 2"/>
          <p:cNvSpPr>
            <a:spLocks noGrp="1"/>
          </p:cNvSpPr>
          <p:nvPr>
            <p:ph idx="1"/>
          </p:nvPr>
        </p:nvSpPr>
        <p:spPr>
          <a:xfrm>
            <a:off x="522605" y="1236345"/>
            <a:ext cx="8334375" cy="46513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tx1"/>
                </a:solidFill>
                <a:effectLst/>
                <a:uLnTx/>
                <a:uFillTx/>
                <a:latin typeface="+mn-lt"/>
                <a:ea typeface="+mn-ea"/>
                <a:cs typeface="+mn-cs"/>
              </a:rPr>
              <a:t>The </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Fibonacci sequence,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0</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1</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2</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 . . ,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is defined by the initial conditions</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0</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0</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1</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1</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and the recurrence relation </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n</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n−1 </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n−2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for </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n =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2</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3</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4</a:t>
            </a:r>
            <a:r>
              <a:rPr kumimoji="1" lang="en-US" altLang="zh-CN" sz="3200" b="0" i="1" u="none" strike="noStrike" kern="0" cap="none" spc="0" normalizeH="0" baseline="0" noProof="0" dirty="0">
                <a:ln>
                  <a:noFill/>
                </a:ln>
                <a:solidFill>
                  <a:schemeClr val="tx1"/>
                </a:solidFill>
                <a:effectLst/>
                <a:uLnTx/>
                <a:uFillTx/>
                <a:latin typeface="+mn-lt"/>
                <a:ea typeface="+mn-ea"/>
                <a:cs typeface="+mn-cs"/>
              </a:rPr>
              <a:t>, . . . .</a:t>
            </a:r>
            <a:endParaRPr kumimoji="1" lang="en-US" altLang="zh-CN" sz="3200" b="0" i="1"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mn-lt"/>
                <a:ea typeface="+mn-ea"/>
                <a:cs typeface="+mn-cs"/>
              </a:rPr>
              <a:t>EXAMPLE 7</a:t>
            </a:r>
            <a:endParaRPr kumimoji="1" lang="en-US" altLang="zh-CN" sz="28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1" lang="en-US" altLang="zh-CN" sz="2800" b="0" i="0" u="none" strike="noStrike" kern="0" cap="none" spc="0" normalizeH="0" baseline="0" noProof="0" dirty="0">
                <a:ln>
                  <a:noFill/>
                </a:ln>
                <a:solidFill>
                  <a:schemeClr val="tx1"/>
                </a:solidFill>
                <a:effectLst/>
                <a:uLnTx/>
                <a:uFillTx/>
                <a:latin typeface="+mn-lt"/>
                <a:ea typeface="+mn-ea"/>
                <a:cs typeface="+mn-ea"/>
              </a:rPr>
              <a:t> Find the Fibonacci numbers </a:t>
            </a:r>
            <a:r>
              <a:rPr kumimoji="1" lang="en-US" altLang="zh-CN" sz="2800" b="0" i="1" u="none" strike="noStrike" kern="0" cap="none" spc="0" normalizeH="0" baseline="0" noProof="0" dirty="0">
                <a:ln>
                  <a:noFill/>
                </a:ln>
                <a:solidFill>
                  <a:schemeClr val="tx1"/>
                </a:solidFill>
                <a:effectLst/>
                <a:uLnTx/>
                <a:uFillTx/>
                <a:latin typeface="+mn-lt"/>
                <a:ea typeface="+mn-ea"/>
                <a:cs typeface="+mn-ea"/>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2</a:t>
            </a:r>
            <a:r>
              <a:rPr kumimoji="1" lang="en-US" altLang="zh-CN" sz="2800" b="0" i="0" u="none" strike="noStrike" kern="0" cap="none" spc="0" normalizeH="0" baseline="0" noProof="0" dirty="0">
                <a:ln>
                  <a:noFill/>
                </a:ln>
                <a:solidFill>
                  <a:schemeClr val="tx1"/>
                </a:solidFill>
                <a:effectLst/>
                <a:uLnTx/>
                <a:uFillTx/>
                <a:latin typeface="+mn-lt"/>
                <a:ea typeface="+mn-ea"/>
                <a:cs typeface="+mn-ea"/>
              </a:rPr>
              <a:t>, </a:t>
            </a:r>
            <a:r>
              <a:rPr kumimoji="1" lang="en-US" altLang="zh-CN" sz="2800" b="0" i="1" u="none" strike="noStrike" kern="0" cap="none" spc="0" normalizeH="0" baseline="0" noProof="0" dirty="0">
                <a:ln>
                  <a:noFill/>
                </a:ln>
                <a:solidFill>
                  <a:schemeClr val="tx1"/>
                </a:solidFill>
                <a:effectLst/>
                <a:uLnTx/>
                <a:uFillTx/>
                <a:latin typeface="+mn-lt"/>
                <a:ea typeface="+mn-ea"/>
                <a:cs typeface="+mn-ea"/>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3</a:t>
            </a:r>
            <a:r>
              <a:rPr kumimoji="1" lang="en-US" altLang="zh-CN" sz="2800" b="0" i="0" u="none" strike="noStrike" kern="0" cap="none" spc="0" normalizeH="0" baseline="0" noProof="0" dirty="0">
                <a:ln>
                  <a:noFill/>
                </a:ln>
                <a:solidFill>
                  <a:schemeClr val="tx1"/>
                </a:solidFill>
                <a:effectLst/>
                <a:uLnTx/>
                <a:uFillTx/>
                <a:latin typeface="+mn-lt"/>
                <a:ea typeface="+mn-ea"/>
                <a:cs typeface="+mn-ea"/>
              </a:rPr>
              <a:t>, </a:t>
            </a:r>
            <a:r>
              <a:rPr kumimoji="1" lang="en-US" altLang="zh-CN" sz="2800" b="0" i="1" u="none" strike="noStrike" kern="0" cap="none" spc="0" normalizeH="0" baseline="0" noProof="0" dirty="0">
                <a:ln>
                  <a:noFill/>
                </a:ln>
                <a:solidFill>
                  <a:schemeClr val="tx1"/>
                </a:solidFill>
                <a:effectLst/>
                <a:uLnTx/>
                <a:uFillTx/>
                <a:latin typeface="+mn-lt"/>
                <a:ea typeface="+mn-ea"/>
                <a:cs typeface="+mn-ea"/>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4</a:t>
            </a:r>
            <a:r>
              <a:rPr kumimoji="1" lang="en-US" altLang="zh-CN" sz="2800" b="0" i="0" u="none" strike="noStrike" kern="0" cap="none" spc="0" normalizeH="0" baseline="0" noProof="0" dirty="0">
                <a:ln>
                  <a:noFill/>
                </a:ln>
                <a:solidFill>
                  <a:schemeClr val="tx1"/>
                </a:solidFill>
                <a:effectLst/>
                <a:uLnTx/>
                <a:uFillTx/>
                <a:latin typeface="+mn-lt"/>
                <a:ea typeface="+mn-ea"/>
                <a:cs typeface="+mn-ea"/>
              </a:rPr>
              <a:t>, </a:t>
            </a:r>
            <a:r>
              <a:rPr kumimoji="1" lang="en-US" altLang="zh-CN" sz="2800" b="0" i="1" u="none" strike="noStrike" kern="0" cap="none" spc="0" normalizeH="0" baseline="0" noProof="0" dirty="0">
                <a:ln>
                  <a:noFill/>
                </a:ln>
                <a:solidFill>
                  <a:schemeClr val="tx1"/>
                </a:solidFill>
                <a:effectLst/>
                <a:uLnTx/>
                <a:uFillTx/>
                <a:latin typeface="+mn-lt"/>
                <a:ea typeface="+mn-ea"/>
                <a:cs typeface="+mn-ea"/>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5</a:t>
            </a:r>
            <a:r>
              <a:rPr kumimoji="1" lang="en-US" altLang="zh-CN" sz="2800" b="0" i="0" u="none" strike="noStrike" kern="0" cap="none" spc="0" normalizeH="0" baseline="0" noProof="0" dirty="0">
                <a:ln>
                  <a:noFill/>
                </a:ln>
                <a:solidFill>
                  <a:schemeClr val="tx1"/>
                </a:solidFill>
                <a:effectLst/>
                <a:uLnTx/>
                <a:uFillTx/>
                <a:latin typeface="+mn-lt"/>
                <a:ea typeface="+mn-ea"/>
                <a:cs typeface="+mn-ea"/>
              </a:rPr>
              <a:t>, and </a:t>
            </a:r>
            <a:r>
              <a:rPr kumimoji="1" lang="en-US" altLang="zh-CN" sz="2800" b="0" i="1" u="none" strike="noStrike" kern="0" cap="none" spc="0" normalizeH="0" baseline="0" noProof="0" dirty="0">
                <a:ln>
                  <a:noFill/>
                </a:ln>
                <a:solidFill>
                  <a:schemeClr val="tx1"/>
                </a:solidFill>
                <a:effectLst/>
                <a:uLnTx/>
                <a:uFillTx/>
                <a:latin typeface="+mn-lt"/>
                <a:ea typeface="+mn-ea"/>
                <a:cs typeface="+mn-ea"/>
              </a:rPr>
              <a:t>f</a:t>
            </a:r>
            <a:r>
              <a:rPr kumimoji="1" lang="en-US" altLang="zh-CN" sz="3200" b="0" i="1" u="none" strike="noStrike" kern="0" cap="none" spc="0" normalizeH="0" baseline="-25000" noProof="0" dirty="0">
                <a:ln>
                  <a:noFill/>
                </a:ln>
                <a:solidFill>
                  <a:schemeClr val="tx1"/>
                </a:solidFill>
                <a:effectLst/>
                <a:uLnTx/>
                <a:uFillTx/>
                <a:latin typeface="+mn-lt"/>
                <a:ea typeface="+mn-ea"/>
                <a:cs typeface="+mn-cs"/>
              </a:rPr>
              <a:t>6</a:t>
            </a:r>
            <a:r>
              <a:rPr kumimoji="1" lang="en-US" altLang="zh-CN" sz="2800" b="0" i="0" u="none" strike="noStrike" kern="0" cap="none" spc="0" normalizeH="0" baseline="0" noProof="0" dirty="0">
                <a:ln>
                  <a:noFill/>
                </a:ln>
                <a:solidFill>
                  <a:schemeClr val="tx1"/>
                </a:solidFill>
                <a:effectLst/>
                <a:uLnTx/>
                <a:uFillTx/>
                <a:latin typeface="+mn-lt"/>
                <a:ea typeface="+mn-ea"/>
                <a:cs typeface="+mn-ea"/>
              </a:rPr>
              <a:t>.</a:t>
            </a:r>
            <a:endParaRPr kumimoji="1" lang="zh-CN" altLang="en-US" sz="2800" b="0" i="0" u="none" strike="noStrike" kern="0" cap="none" spc="0" normalizeH="0" baseline="0" noProof="0" dirty="0">
              <a:ln>
                <a:noFill/>
              </a:ln>
              <a:solidFill>
                <a:schemeClr val="tx1"/>
              </a:solidFill>
              <a:effectLst/>
              <a:uLnTx/>
              <a:uFillTx/>
              <a:latin typeface="+mn-lt"/>
              <a:ea typeface="+mn-ea"/>
              <a:cs typeface="+mn-ea"/>
            </a:endParaRPr>
          </a:p>
        </p:txBody>
      </p:sp>
      <p:sp>
        <p:nvSpPr>
          <p:cNvPr id="14340"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4341"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899592" y="4435847"/>
            <a:ext cx="2981738" cy="1886881"/>
          </a:xfrm>
          <a:prstGeom prst="rect">
            <a:avLst/>
          </a:prstGeom>
        </p:spPr>
      </p:pic>
      <p:pic>
        <p:nvPicPr>
          <p:cNvPr id="4" name="图片 3"/>
          <p:cNvPicPr>
            <a:picLocks noChangeAspect="1"/>
          </p:cNvPicPr>
          <p:nvPr>
            <p:custDataLst>
              <p:tags r:id="rId3"/>
            </p:custDataLst>
          </p:nvPr>
        </p:nvPicPr>
        <p:blipFill rotWithShape="1">
          <a:blip r:embed="rId4"/>
          <a:srcRect b="9366"/>
          <a:stretch>
            <a:fillRect/>
          </a:stretch>
        </p:blipFill>
        <p:spPr>
          <a:xfrm>
            <a:off x="6450779" y="4272666"/>
            <a:ext cx="1800948" cy="2308009"/>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4241565" y="4278025"/>
            <a:ext cx="1872577" cy="2302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b" anchorCtr="0"/>
          <a:p>
            <a:endParaRPr lang="zh-CN" altLang="en-US" dirty="0"/>
          </a:p>
        </p:txBody>
      </p:sp>
      <p:sp>
        <p:nvSpPr>
          <p:cNvPr id="15363" name="内容占位符 2"/>
          <p:cNvSpPr>
            <a:spLocks noGrp="1"/>
          </p:cNvSpPr>
          <p:nvPr>
            <p:ph idx="1"/>
          </p:nvPr>
        </p:nvSpPr>
        <p:spPr>
          <a:xfrm>
            <a:off x="226695" y="1269365"/>
            <a:ext cx="8846820" cy="4114800"/>
          </a:xfrm>
        </p:spPr>
        <p:txBody>
          <a:bodyPr vert="horz" wrap="square" lIns="91440" tIns="45720" rIns="91440" bIns="45720" anchor="t" anchorCtr="0"/>
          <a:p>
            <a:r>
              <a:rPr lang="en-US" altLang="zh-CN" sz="3600" dirty="0"/>
              <a:t>Example 8</a:t>
            </a:r>
            <a:endParaRPr lang="en-US" altLang="zh-CN" sz="3600" dirty="0"/>
          </a:p>
          <a:p>
            <a:pPr lvl="1"/>
            <a:r>
              <a:rPr lang="en-US" altLang="zh-CN" sz="3200" dirty="0"/>
              <a:t>Suppose that {</a:t>
            </a:r>
            <a:r>
              <a:rPr lang="en-US" altLang="zh-CN" sz="3200" i="1" dirty="0"/>
              <a:t>a</a:t>
            </a:r>
            <a:r>
              <a:rPr lang="en-US" altLang="zh-CN" sz="3200" i="1" baseline="-25000" dirty="0"/>
              <a:t>n</a:t>
            </a:r>
            <a:r>
              <a:rPr lang="en-US" altLang="zh-CN" sz="3200" dirty="0"/>
              <a:t>}</a:t>
            </a:r>
            <a:r>
              <a:rPr lang="en-US" altLang="zh-CN" sz="3200" i="1" dirty="0"/>
              <a:t> </a:t>
            </a:r>
            <a:r>
              <a:rPr lang="en-US" altLang="zh-CN" sz="3200" dirty="0"/>
              <a:t>is the sequence of integers defined by</a:t>
            </a:r>
            <a:r>
              <a:rPr lang="en-US" altLang="zh-CN" sz="3200" i="1" dirty="0"/>
              <a:t> a</a:t>
            </a:r>
            <a:r>
              <a:rPr lang="en-US" altLang="zh-CN" sz="3200" i="1" baseline="-25000" dirty="0"/>
              <a:t>n</a:t>
            </a:r>
            <a:r>
              <a:rPr lang="en-US" altLang="zh-CN" sz="3200" i="1" dirty="0"/>
              <a:t> = n</a:t>
            </a:r>
            <a:r>
              <a:rPr lang="en-US" altLang="zh-CN" sz="3200" dirty="0"/>
              <a:t>!</a:t>
            </a:r>
            <a:r>
              <a:rPr lang="en-US" altLang="zh-CN" sz="3200" i="1" dirty="0"/>
              <a:t>, </a:t>
            </a:r>
            <a:r>
              <a:rPr lang="en-US" altLang="zh-CN" sz="3200" dirty="0"/>
              <a:t>the value of the factorial function at the integer </a:t>
            </a:r>
            <a:r>
              <a:rPr lang="en-US" altLang="zh-CN" sz="3200" i="1" dirty="0"/>
              <a:t>n, </a:t>
            </a:r>
            <a:r>
              <a:rPr lang="en-US" altLang="zh-CN" sz="3200" dirty="0"/>
              <a:t>where</a:t>
            </a:r>
            <a:r>
              <a:rPr lang="en-US" altLang="zh-CN" sz="3200" i="1" dirty="0"/>
              <a:t> n = </a:t>
            </a:r>
            <a:r>
              <a:rPr lang="en-US" altLang="zh-CN" sz="3200" dirty="0"/>
              <a:t>1, 2, 3,</a:t>
            </a:r>
            <a:r>
              <a:rPr lang="en-US" altLang="zh-CN" sz="3200" i="1" dirty="0"/>
              <a:t> . . .. </a:t>
            </a:r>
            <a:endParaRPr lang="en-US" altLang="zh-CN" sz="3200" i="1" dirty="0"/>
          </a:p>
          <a:p>
            <a:pPr lvl="1"/>
            <a:r>
              <a:rPr lang="en-US" altLang="zh-CN" sz="3200" i="1" dirty="0"/>
              <a:t>n</a:t>
            </a:r>
            <a:r>
              <a:rPr lang="en-US" altLang="zh-CN" sz="3200" dirty="0"/>
              <a:t>!</a:t>
            </a:r>
            <a:r>
              <a:rPr lang="en-US" altLang="zh-CN" sz="3200" i="1" dirty="0"/>
              <a:t> = n((n − </a:t>
            </a:r>
            <a:r>
              <a:rPr lang="en-US" altLang="zh-CN" sz="3200" dirty="0"/>
              <a:t>1</a:t>
            </a:r>
            <a:r>
              <a:rPr lang="en-US" altLang="zh-CN" sz="3200" i="1" dirty="0"/>
              <a:t>)(n − </a:t>
            </a:r>
            <a:r>
              <a:rPr lang="en-US" altLang="zh-CN" sz="3200" dirty="0"/>
              <a:t>2</a:t>
            </a:r>
            <a:r>
              <a:rPr lang="en-US" altLang="zh-CN" sz="3200" i="1" dirty="0"/>
              <a:t>) . . . </a:t>
            </a:r>
            <a:r>
              <a:rPr lang="en-US" altLang="zh-CN" sz="3200" dirty="0"/>
              <a:t>2</a:t>
            </a:r>
            <a:r>
              <a:rPr lang="en-US" altLang="zh-CN" sz="3200" i="1" dirty="0"/>
              <a:t> </a:t>
            </a:r>
            <a:r>
              <a:rPr lang="zh-CN" altLang="en-US" sz="3200" i="1" dirty="0"/>
              <a:t>・ </a:t>
            </a:r>
            <a:r>
              <a:rPr lang="en-US" altLang="zh-CN" sz="3200" dirty="0"/>
              <a:t>1</a:t>
            </a:r>
            <a:r>
              <a:rPr lang="en-US" altLang="zh-CN" sz="3200" i="1" dirty="0"/>
              <a:t>) =n(n − </a:t>
            </a:r>
            <a:r>
              <a:rPr lang="en-US" altLang="zh-CN" sz="3200" dirty="0"/>
              <a:t>1</a:t>
            </a:r>
            <a:r>
              <a:rPr lang="en-US" altLang="zh-CN" sz="3200" i="1" dirty="0"/>
              <a:t>)</a:t>
            </a:r>
            <a:r>
              <a:rPr lang="en-US" altLang="zh-CN" sz="3200" dirty="0"/>
              <a:t>!</a:t>
            </a:r>
            <a:r>
              <a:rPr lang="en-US" altLang="zh-CN" sz="3200" i="1" dirty="0"/>
              <a:t> = na</a:t>
            </a:r>
            <a:r>
              <a:rPr lang="en-US" altLang="zh-CN" sz="3200" i="1" baseline="-25000" dirty="0"/>
              <a:t>n−1</a:t>
            </a:r>
            <a:r>
              <a:rPr lang="en-US" altLang="zh-CN" sz="3200" i="1" dirty="0"/>
              <a:t>, </a:t>
            </a:r>
            <a:endParaRPr lang="en-US" altLang="zh-CN" sz="3200" i="1" dirty="0"/>
          </a:p>
          <a:p>
            <a:pPr lvl="1"/>
            <a:r>
              <a:rPr lang="en-US" altLang="zh-CN" sz="3200" dirty="0"/>
              <a:t>we see that the sequence of factorials satisfies the recurrence relation </a:t>
            </a:r>
            <a:r>
              <a:rPr lang="en-US" altLang="zh-CN" sz="3200" i="1" dirty="0"/>
              <a:t>a</a:t>
            </a:r>
            <a:r>
              <a:rPr lang="en-US" altLang="zh-CN" sz="3200" i="1" baseline="-25000" dirty="0"/>
              <a:t>n</a:t>
            </a:r>
            <a:r>
              <a:rPr lang="en-US" altLang="zh-CN" sz="3200" i="1" dirty="0"/>
              <a:t> = na</a:t>
            </a:r>
            <a:r>
              <a:rPr lang="en-US" altLang="zh-CN" sz="3200" i="1" baseline="-25000" dirty="0"/>
              <a:t>n−1</a:t>
            </a:r>
            <a:r>
              <a:rPr lang="en-US" altLang="zh-CN" sz="3200" i="1" dirty="0"/>
              <a:t>, </a:t>
            </a:r>
            <a:r>
              <a:rPr lang="en-US" altLang="zh-CN" sz="3200" dirty="0"/>
              <a:t>together with the initial condition </a:t>
            </a:r>
            <a:r>
              <a:rPr lang="en-US" altLang="zh-CN" sz="3200" i="1" dirty="0"/>
              <a:t>a</a:t>
            </a:r>
            <a:r>
              <a:rPr lang="en-US" altLang="zh-CN" sz="3200" i="1" baseline="-25000" dirty="0"/>
              <a:t>1</a:t>
            </a:r>
            <a:r>
              <a:rPr lang="en-US" altLang="zh-CN" sz="3200" i="1" dirty="0"/>
              <a:t> = </a:t>
            </a:r>
            <a:r>
              <a:rPr lang="en-US" altLang="zh-CN" sz="3200" dirty="0"/>
              <a:t>1</a:t>
            </a:r>
            <a:r>
              <a:rPr lang="en-US" altLang="zh-CN" sz="3200" i="1" dirty="0"/>
              <a:t>.</a:t>
            </a:r>
            <a:endParaRPr lang="en-US" altLang="zh-CN" sz="3200" i="1" dirty="0"/>
          </a:p>
        </p:txBody>
      </p:sp>
      <p:sp>
        <p:nvSpPr>
          <p:cNvPr id="15364"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5365"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b" anchorCtr="0"/>
          <a:p>
            <a:endParaRPr lang="zh-CN" altLang="en-US" dirty="0"/>
          </a:p>
        </p:txBody>
      </p:sp>
      <p:sp>
        <p:nvSpPr>
          <p:cNvPr id="16387" name="内容占位符 2"/>
          <p:cNvSpPr>
            <a:spLocks noGrp="1"/>
          </p:cNvSpPr>
          <p:nvPr>
            <p:ph idx="1"/>
          </p:nvPr>
        </p:nvSpPr>
        <p:spPr/>
        <p:txBody>
          <a:bodyPr vert="horz" wrap="square" lIns="91440" tIns="45720" rIns="91440" bIns="45720" anchor="t" anchorCtr="0"/>
          <a:p>
            <a:r>
              <a:rPr lang="en-US" altLang="zh-CN" dirty="0"/>
              <a:t>We say that we have solved the recurrence relation together with the initial conditions when we find an explicit formula, called a </a:t>
            </a:r>
            <a:r>
              <a:rPr lang="en-US" altLang="zh-CN" b="1" dirty="0"/>
              <a:t>closed formula, </a:t>
            </a:r>
            <a:r>
              <a:rPr lang="en-US" altLang="zh-CN" dirty="0"/>
              <a:t>for the terms of the sequence.</a:t>
            </a:r>
            <a:endParaRPr lang="zh-CN" altLang="en-US" dirty="0"/>
          </a:p>
          <a:p>
            <a:endParaRPr lang="zh-CN" altLang="en-US" dirty="0"/>
          </a:p>
        </p:txBody>
      </p:sp>
      <p:sp>
        <p:nvSpPr>
          <p:cNvPr id="16388"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6389"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b" anchorCtr="0"/>
          <a:p>
            <a:r>
              <a:rPr lang="en-US" altLang="zh-CN" b="1" dirty="0"/>
              <a:t>EXAMPLE 9 </a:t>
            </a:r>
            <a:endParaRPr lang="zh-CN" altLang="en-US" dirty="0"/>
          </a:p>
        </p:txBody>
      </p:sp>
      <p:sp>
        <p:nvSpPr>
          <p:cNvPr id="17411" name="内容占位符 2"/>
          <p:cNvSpPr>
            <a:spLocks noGrp="1"/>
          </p:cNvSpPr>
          <p:nvPr>
            <p:ph idx="1"/>
          </p:nvPr>
        </p:nvSpPr>
        <p:spPr/>
        <p:txBody>
          <a:bodyPr vert="horz" wrap="square" lIns="91440" tIns="45720" rIns="91440" bIns="45720" anchor="t" anchorCtr="0"/>
          <a:p>
            <a:r>
              <a:rPr lang="en-US" altLang="zh-CN" dirty="0"/>
              <a:t>Determine whether the sequence {</a:t>
            </a:r>
            <a:r>
              <a:rPr lang="en-US" altLang="zh-CN" i="1" dirty="0"/>
              <a:t>a</a:t>
            </a:r>
            <a:r>
              <a:rPr lang="en-US" altLang="zh-CN" i="1" baseline="-25000" dirty="0"/>
              <a:t>n</a:t>
            </a:r>
            <a:r>
              <a:rPr lang="en-US" altLang="zh-CN" dirty="0"/>
              <a:t>}</a:t>
            </a:r>
            <a:r>
              <a:rPr lang="en-US" altLang="zh-CN" i="1" dirty="0"/>
              <a:t>, </a:t>
            </a:r>
            <a:r>
              <a:rPr lang="en-US" altLang="zh-CN" dirty="0"/>
              <a:t>where</a:t>
            </a:r>
            <a:r>
              <a:rPr lang="en-US" altLang="zh-CN" i="1" dirty="0"/>
              <a:t> a</a:t>
            </a:r>
            <a:r>
              <a:rPr lang="en-US" altLang="zh-CN" i="1" baseline="-25000" dirty="0"/>
              <a:t>n</a:t>
            </a:r>
            <a:r>
              <a:rPr lang="en-US" altLang="zh-CN" i="1" dirty="0"/>
              <a:t> = 3n </a:t>
            </a:r>
            <a:r>
              <a:rPr lang="en-US" altLang="zh-CN" dirty="0"/>
              <a:t>for every nonnegative integer</a:t>
            </a:r>
            <a:r>
              <a:rPr lang="en-US" altLang="zh-CN" i="1" dirty="0"/>
              <a:t> n, </a:t>
            </a:r>
            <a:r>
              <a:rPr lang="en-US" altLang="zh-CN" dirty="0"/>
              <a:t>is a solution of the recurrence relation </a:t>
            </a:r>
            <a:r>
              <a:rPr lang="en-US" altLang="zh-CN" i="1" dirty="0"/>
              <a:t>a</a:t>
            </a:r>
            <a:r>
              <a:rPr lang="en-US" altLang="zh-CN" i="1" baseline="-25000" dirty="0"/>
              <a:t>n</a:t>
            </a:r>
            <a:r>
              <a:rPr lang="en-US" altLang="zh-CN" i="1" dirty="0"/>
              <a:t> = 2a</a:t>
            </a:r>
            <a:r>
              <a:rPr lang="en-US" altLang="zh-CN" i="1" baseline="-25000" dirty="0"/>
              <a:t>n−1 </a:t>
            </a:r>
            <a:r>
              <a:rPr lang="en-US" altLang="zh-CN" i="1" dirty="0"/>
              <a:t>− a</a:t>
            </a:r>
            <a:r>
              <a:rPr lang="en-US" altLang="zh-CN" i="1" baseline="-25000" dirty="0"/>
              <a:t>n−2 </a:t>
            </a:r>
            <a:r>
              <a:rPr lang="zh-CN" altLang="en-US" i="1" baseline="-25000" dirty="0"/>
              <a:t> </a:t>
            </a:r>
            <a:r>
              <a:rPr lang="en-US" altLang="zh-CN" dirty="0"/>
              <a:t>for</a:t>
            </a:r>
            <a:r>
              <a:rPr lang="en-US" altLang="zh-CN" i="1" dirty="0"/>
              <a:t> n = </a:t>
            </a:r>
            <a:r>
              <a:rPr lang="en-US" altLang="zh-CN" dirty="0"/>
              <a:t>2, 3, 4</a:t>
            </a:r>
            <a:r>
              <a:rPr lang="en-US" altLang="zh-CN" i="1" dirty="0"/>
              <a:t>, . . . . </a:t>
            </a:r>
            <a:endParaRPr lang="en-US" altLang="zh-CN" i="1" dirty="0"/>
          </a:p>
          <a:p>
            <a:r>
              <a:rPr lang="en-US" altLang="zh-CN" dirty="0"/>
              <a:t>Answer the same question where </a:t>
            </a:r>
            <a:r>
              <a:rPr lang="en-US" altLang="zh-CN" i="1" dirty="0"/>
              <a:t>a</a:t>
            </a:r>
            <a:r>
              <a:rPr lang="en-US" altLang="zh-CN" i="1" baseline="-25000" dirty="0"/>
              <a:t>n</a:t>
            </a:r>
            <a:r>
              <a:rPr lang="en-US" altLang="zh-CN" i="1" dirty="0"/>
              <a:t> = 2</a:t>
            </a:r>
            <a:r>
              <a:rPr lang="en-US" altLang="zh-CN" i="1" baseline="30000" dirty="0"/>
              <a:t>n</a:t>
            </a:r>
            <a:r>
              <a:rPr lang="en-US" altLang="zh-CN" i="1" dirty="0"/>
              <a:t> </a:t>
            </a:r>
            <a:r>
              <a:rPr lang="en-US" altLang="zh-CN" dirty="0"/>
              <a:t>and where </a:t>
            </a:r>
            <a:r>
              <a:rPr lang="en-US" altLang="zh-CN" i="1" dirty="0"/>
              <a:t>a</a:t>
            </a:r>
            <a:r>
              <a:rPr lang="en-US" altLang="zh-CN" i="1" baseline="-25000" dirty="0"/>
              <a:t>n</a:t>
            </a:r>
            <a:r>
              <a:rPr lang="en-US" altLang="zh-CN" i="1" dirty="0"/>
              <a:t> = 5.</a:t>
            </a:r>
            <a:endParaRPr lang="zh-CN" altLang="en-US" dirty="0"/>
          </a:p>
        </p:txBody>
      </p:sp>
      <p:sp>
        <p:nvSpPr>
          <p:cNvPr id="17412"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7413"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 name="文本框 1"/>
          <p:cNvSpPr txBox="1"/>
          <p:nvPr/>
        </p:nvSpPr>
        <p:spPr>
          <a:xfrm>
            <a:off x="2195830" y="4509135"/>
            <a:ext cx="5398135" cy="460375"/>
          </a:xfrm>
          <a:prstGeom prst="rect">
            <a:avLst/>
          </a:prstGeom>
          <a:noFill/>
        </p:spPr>
        <p:txBody>
          <a:bodyPr wrap="square" rtlCol="0" anchor="t">
            <a:spAutoFit/>
          </a:bodyPr>
          <a:p>
            <a:pPr marL="457200" lvl="1" indent="0">
              <a:buNone/>
              <a:defRPr/>
            </a:pPr>
            <a:r>
              <a:rPr lang="en-US" altLang="zh-CN" i="1" kern="0" dirty="0">
                <a:solidFill>
                  <a:srgbClr val="FF0000"/>
                </a:solidFill>
                <a:latin typeface="Times New Roman" panose="02020503050405090304" pitchFamily="18" charset="0"/>
                <a:cs typeface="Times New Roman" panose="02020503050405090304" pitchFamily="18" charset="0"/>
                <a:sym typeface="+mn-ea"/>
              </a:rPr>
              <a:t>a</a:t>
            </a:r>
            <a:r>
              <a:rPr lang="en-US" altLang="zh-CN" i="1" kern="0" baseline="-25000" dirty="0">
                <a:solidFill>
                  <a:srgbClr val="FF0000"/>
                </a:solidFill>
                <a:latin typeface="Times New Roman" panose="02020503050405090304" pitchFamily="18" charset="0"/>
                <a:cs typeface="Times New Roman" panose="02020503050405090304" pitchFamily="18" charset="0"/>
                <a:sym typeface="+mn-ea"/>
              </a:rPr>
              <a:t>n</a:t>
            </a:r>
            <a:r>
              <a:rPr lang="en-US" altLang="zh-CN" i="1" kern="0" dirty="0">
                <a:solidFill>
                  <a:srgbClr val="FF0000"/>
                </a:solidFill>
                <a:latin typeface="Times New Roman" panose="02020503050405090304" pitchFamily="18" charset="0"/>
                <a:cs typeface="Times New Roman" panose="02020503050405090304" pitchFamily="18" charset="0"/>
                <a:sym typeface="+mn-ea"/>
              </a:rPr>
              <a:t>= 2</a:t>
            </a:r>
            <a:r>
              <a:rPr lang="en-US" altLang="zh-CN" dirty="0">
                <a:solidFill>
                  <a:srgbClr val="FF0000"/>
                </a:solidFill>
                <a:sym typeface="Symbol" panose="05050102010706020507" pitchFamily="18" charset="2"/>
              </a:rPr>
              <a:t></a:t>
            </a:r>
            <a:r>
              <a:rPr lang="en-US" altLang="zh-CN" i="1" kern="0" dirty="0">
                <a:solidFill>
                  <a:srgbClr val="FF0000"/>
                </a:solidFill>
                <a:latin typeface="Times New Roman" panose="02020503050405090304" pitchFamily="18" charset="0"/>
                <a:cs typeface="Times New Roman" panose="02020503050405090304" pitchFamily="18" charset="0"/>
                <a:sym typeface="+mn-ea"/>
              </a:rPr>
              <a:t>3(n-1)-3(n-2)=6n-6-3n+6=3n</a:t>
            </a:r>
            <a:endParaRPr lang="en-US" altLang="zh-CN" i="1" kern="0" dirty="0">
              <a:solidFill>
                <a:srgbClr val="FF0000"/>
              </a:solidFill>
              <a:latin typeface="Times New Roman" panose="02020503050405090304" pitchFamily="18" charset="0"/>
              <a:cs typeface="Times New Roman" panose="02020503050405090304" pitchFamily="18" charset="0"/>
              <a:sym typeface="+mn-ea"/>
            </a:endParaRPr>
          </a:p>
        </p:txBody>
      </p:sp>
      <p:sp>
        <p:nvSpPr>
          <p:cNvPr id="3" name="文本框 2"/>
          <p:cNvSpPr txBox="1"/>
          <p:nvPr/>
        </p:nvSpPr>
        <p:spPr>
          <a:xfrm>
            <a:off x="2339975" y="5156835"/>
            <a:ext cx="4572000" cy="460375"/>
          </a:xfrm>
          <a:prstGeom prst="rect">
            <a:avLst/>
          </a:prstGeom>
          <a:noFill/>
        </p:spPr>
        <p:txBody>
          <a:bodyPr wrap="square" rtlCol="0" anchor="t">
            <a:spAutoFit/>
          </a:bodyPr>
          <a:p>
            <a:pPr marL="457200" lvl="1" indent="0">
              <a:buNone/>
              <a:defRPr/>
            </a:pPr>
            <a:r>
              <a:rPr lang="en-US" altLang="zh-CN" i="1" kern="0" dirty="0">
                <a:solidFill>
                  <a:srgbClr val="FF0000"/>
                </a:solidFill>
                <a:latin typeface="Times New Roman" panose="02020503050405090304" pitchFamily="18" charset="0"/>
                <a:cs typeface="Times New Roman" panose="02020503050405090304" pitchFamily="18" charset="0"/>
                <a:sym typeface="+mn-ea"/>
              </a:rPr>
              <a:t> a</a:t>
            </a:r>
            <a:r>
              <a:rPr lang="en-US" altLang="zh-CN" i="1" kern="0" baseline="-25000" dirty="0">
                <a:solidFill>
                  <a:srgbClr val="FF0000"/>
                </a:solidFill>
                <a:latin typeface="Times New Roman" panose="02020503050405090304" pitchFamily="18" charset="0"/>
                <a:cs typeface="Times New Roman" panose="02020503050405090304" pitchFamily="18" charset="0"/>
                <a:sym typeface="+mn-ea"/>
              </a:rPr>
              <a:t>n</a:t>
            </a:r>
            <a:r>
              <a:rPr lang="en-US" altLang="zh-CN" i="1" kern="0" dirty="0">
                <a:solidFill>
                  <a:srgbClr val="FF0000"/>
                </a:solidFill>
                <a:latin typeface="Times New Roman" panose="02020503050405090304" pitchFamily="18" charset="0"/>
                <a:cs typeface="Times New Roman" panose="02020503050405090304" pitchFamily="18" charset="0"/>
                <a:sym typeface="+mn-ea"/>
              </a:rPr>
              <a:t>= 2</a:t>
            </a:r>
            <a:r>
              <a:rPr lang="en-US" altLang="zh-CN" dirty="0">
                <a:solidFill>
                  <a:srgbClr val="FF0000"/>
                </a:solidFill>
                <a:sym typeface="Symbol" panose="05050102010706020507" pitchFamily="18" charset="2"/>
              </a:rPr>
              <a:t></a:t>
            </a:r>
            <a:r>
              <a:rPr lang="en-US" altLang="zh-CN" i="1" kern="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i="1" kern="0" baseline="30000" dirty="0">
                <a:solidFill>
                  <a:srgbClr val="FF0000"/>
                </a:solidFill>
                <a:latin typeface="Times New Roman" panose="02020503050405090304" pitchFamily="18" charset="0"/>
                <a:cs typeface="Times New Roman" panose="02020503050405090304" pitchFamily="18" charset="0"/>
                <a:sym typeface="+mn-ea"/>
              </a:rPr>
              <a:t>n-1</a:t>
            </a:r>
            <a:r>
              <a:rPr lang="en-US" altLang="zh-CN" i="1" kern="0" dirty="0">
                <a:solidFill>
                  <a:srgbClr val="FF0000"/>
                </a:solidFill>
                <a:latin typeface="Times New Roman" panose="02020503050405090304" pitchFamily="18" charset="0"/>
                <a:cs typeface="Times New Roman" panose="02020503050405090304" pitchFamily="18" charset="0"/>
                <a:sym typeface="+mn-ea"/>
              </a:rPr>
              <a:t> - 2</a:t>
            </a:r>
            <a:r>
              <a:rPr lang="en-US" altLang="zh-CN" i="1" kern="0" baseline="30000" dirty="0">
                <a:solidFill>
                  <a:srgbClr val="FF0000"/>
                </a:solidFill>
                <a:latin typeface="Times New Roman" panose="02020503050405090304" pitchFamily="18" charset="0"/>
                <a:cs typeface="Times New Roman" panose="02020503050405090304" pitchFamily="18" charset="0"/>
                <a:sym typeface="+mn-ea"/>
              </a:rPr>
              <a:t>n-2</a:t>
            </a:r>
            <a:r>
              <a:rPr lang="en-US" altLang="zh-CN" i="1" kern="0" dirty="0">
                <a:solidFill>
                  <a:srgbClr val="FF0000"/>
                </a:solidFill>
                <a:latin typeface="Times New Roman" panose="02020503050405090304" pitchFamily="18" charset="0"/>
                <a:cs typeface="Times New Roman" panose="02020503050405090304" pitchFamily="18" charset="0"/>
                <a:sym typeface="+mn-ea"/>
              </a:rPr>
              <a:t>= 3</a:t>
            </a:r>
            <a:r>
              <a:rPr lang="en-US" altLang="zh-CN" dirty="0">
                <a:solidFill>
                  <a:srgbClr val="FF0000"/>
                </a:solidFill>
                <a:sym typeface="Symbol" panose="05050102010706020507" pitchFamily="18" charset="2"/>
              </a:rPr>
              <a:t></a:t>
            </a:r>
            <a:r>
              <a:rPr lang="en-US" altLang="zh-CN" i="1" kern="0" dirty="0">
                <a:solidFill>
                  <a:srgbClr val="FF0000"/>
                </a:solidFill>
                <a:latin typeface="Times New Roman" panose="02020503050405090304" pitchFamily="18" charset="0"/>
                <a:cs typeface="Times New Roman" panose="02020503050405090304" pitchFamily="18" charset="0"/>
                <a:sym typeface="Symbol" panose="05050102010706020507" pitchFamily="18" charset="2"/>
              </a:rPr>
              <a:t>2</a:t>
            </a:r>
            <a:r>
              <a:rPr lang="en-US" altLang="zh-CN" i="1" kern="0" baseline="30000" dirty="0">
                <a:solidFill>
                  <a:srgbClr val="FF0000"/>
                </a:solidFill>
                <a:latin typeface="Times New Roman" panose="02020503050405090304" pitchFamily="18" charset="0"/>
                <a:cs typeface="Times New Roman" panose="02020503050405090304" pitchFamily="18" charset="0"/>
                <a:sym typeface="+mn-ea"/>
              </a:rPr>
              <a:t>n-2</a:t>
            </a:r>
            <a:endParaRPr lang="en-US" altLang="zh-CN" i="1" kern="0" baseline="30000" dirty="0">
              <a:solidFill>
                <a:srgbClr val="FF0000"/>
              </a:solidFill>
              <a:latin typeface="Times New Roman" panose="02020503050405090304" pitchFamily="18" charset="0"/>
              <a:cs typeface="Times New Roman" panose="0202050305040509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p:txBody>
          <a:bodyPr vert="horz" wrap="square" lIns="91440" tIns="45720" rIns="91440" bIns="45720" anchor="b" anchorCtr="0"/>
          <a:p>
            <a:r>
              <a:rPr lang="en-US" altLang="zh-CN" b="1" dirty="0"/>
              <a:t>EXAMPLE 10</a:t>
            </a:r>
            <a:endParaRPr lang="zh-CN" altLang="en-US" dirty="0"/>
          </a:p>
        </p:txBody>
      </p:sp>
      <p:sp>
        <p:nvSpPr>
          <p:cNvPr id="18435" name="内容占位符 2"/>
          <p:cNvSpPr>
            <a:spLocks noGrp="1"/>
          </p:cNvSpPr>
          <p:nvPr>
            <p:ph idx="1"/>
          </p:nvPr>
        </p:nvSpPr>
        <p:spPr>
          <a:xfrm>
            <a:off x="900113" y="1413510"/>
            <a:ext cx="7772400" cy="4114800"/>
          </a:xfrm>
        </p:spPr>
        <p:txBody>
          <a:bodyPr vert="horz" wrap="square" lIns="91440" tIns="45720" rIns="91440" bIns="45720" anchor="t" anchorCtr="0"/>
          <a:p>
            <a:r>
              <a:rPr lang="en-US" altLang="zh-CN" dirty="0"/>
              <a:t>Solve the recurrence relation and initial condition in Example 5.</a:t>
            </a:r>
            <a:endParaRPr lang="zh-CN" altLang="en-US" dirty="0"/>
          </a:p>
        </p:txBody>
      </p:sp>
      <p:sp>
        <p:nvSpPr>
          <p:cNvPr id="18436"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8437"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pic>
        <p:nvPicPr>
          <p:cNvPr id="18438" name="Picture 3"/>
          <p:cNvPicPr>
            <a:picLocks noChangeAspect="1"/>
          </p:cNvPicPr>
          <p:nvPr/>
        </p:nvPicPr>
        <p:blipFill>
          <a:blip r:embed="rId1"/>
          <a:stretch>
            <a:fillRect/>
          </a:stretch>
        </p:blipFill>
        <p:spPr>
          <a:xfrm>
            <a:off x="1764030" y="2460625"/>
            <a:ext cx="5076190" cy="1673225"/>
          </a:xfrm>
          <a:prstGeom prst="rect">
            <a:avLst/>
          </a:prstGeom>
          <a:noFill/>
          <a:ln w="9525">
            <a:noFill/>
          </a:ln>
        </p:spPr>
      </p:pic>
      <p:pic>
        <p:nvPicPr>
          <p:cNvPr id="18439" name="Picture 4"/>
          <p:cNvPicPr>
            <a:picLocks noChangeAspect="1"/>
          </p:cNvPicPr>
          <p:nvPr/>
        </p:nvPicPr>
        <p:blipFill>
          <a:blip r:embed="rId2"/>
          <a:stretch>
            <a:fillRect/>
          </a:stretch>
        </p:blipFill>
        <p:spPr>
          <a:xfrm>
            <a:off x="1779905" y="4447540"/>
            <a:ext cx="5687695" cy="173164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1440" tIns="45720" rIns="91440" bIns="45720" anchor="b" anchorCtr="0"/>
          <a:p>
            <a:endParaRPr lang="zh-CN" altLang="en-US" dirty="0"/>
          </a:p>
        </p:txBody>
      </p:sp>
      <p:sp>
        <p:nvSpPr>
          <p:cNvPr id="19459" name="内容占位符 2"/>
          <p:cNvSpPr>
            <a:spLocks noGrp="1"/>
          </p:cNvSpPr>
          <p:nvPr>
            <p:ph idx="1"/>
          </p:nvPr>
        </p:nvSpPr>
        <p:spPr>
          <a:xfrm>
            <a:off x="746125" y="1412875"/>
            <a:ext cx="8101330" cy="4114800"/>
          </a:xfrm>
        </p:spPr>
        <p:txBody>
          <a:bodyPr vert="horz" wrap="square" lIns="91440" tIns="45720" rIns="91440" bIns="45720" anchor="t" anchorCtr="0"/>
          <a:p>
            <a:r>
              <a:rPr lang="en-US" altLang="zh-CN" sz="2800" dirty="0"/>
              <a:t>The technique used in Example 10 is called </a:t>
            </a:r>
            <a:r>
              <a:rPr lang="en-US" altLang="zh-CN" sz="2800" b="1" dirty="0"/>
              <a:t>iteration.</a:t>
            </a:r>
            <a:r>
              <a:rPr lang="en-US" altLang="zh-CN" sz="2800" dirty="0"/>
              <a:t> </a:t>
            </a:r>
            <a:endParaRPr lang="en-US" altLang="zh-CN" sz="2800" dirty="0"/>
          </a:p>
          <a:p>
            <a:r>
              <a:rPr lang="en-US" altLang="zh-CN" sz="2800" dirty="0"/>
              <a:t>The first approach is called </a:t>
            </a:r>
            <a:r>
              <a:rPr lang="en-US" altLang="zh-CN" sz="2800" b="1" dirty="0"/>
              <a:t>forward substitution </a:t>
            </a:r>
            <a:r>
              <a:rPr lang="en-US" altLang="zh-CN" sz="2800" dirty="0"/>
              <a:t>– we found successive terms beginning with the initial condition and ending with </a:t>
            </a:r>
            <a:r>
              <a:rPr lang="en-US" altLang="zh-CN" sz="2800" i="1" dirty="0"/>
              <a:t>a</a:t>
            </a:r>
            <a:r>
              <a:rPr lang="en-US" altLang="zh-CN" sz="2800" i="1" baseline="-25000" dirty="0"/>
              <a:t>n</a:t>
            </a:r>
            <a:r>
              <a:rPr lang="en-US" altLang="zh-CN" sz="2800" i="1" dirty="0"/>
              <a:t>. </a:t>
            </a:r>
            <a:endParaRPr lang="en-US" altLang="zh-CN" sz="2800" i="1" dirty="0"/>
          </a:p>
          <a:p>
            <a:r>
              <a:rPr lang="en-US" altLang="zh-CN" sz="2800" dirty="0"/>
              <a:t>The second approach is called </a:t>
            </a:r>
            <a:r>
              <a:rPr lang="en-US" altLang="zh-CN" sz="2800" b="1" dirty="0"/>
              <a:t>backward substitution, </a:t>
            </a:r>
            <a:r>
              <a:rPr lang="en-US" altLang="zh-CN" sz="2800" dirty="0"/>
              <a:t>because we began with an and iterated to express it in terms of falling terms of the sequence until we found it in terms of </a:t>
            </a:r>
            <a:r>
              <a:rPr lang="en-US" altLang="zh-CN" sz="2800" i="1" dirty="0"/>
              <a:t>a</a:t>
            </a:r>
            <a:r>
              <a:rPr lang="en-US" altLang="zh-CN" sz="2800" i="1" baseline="-25000" dirty="0"/>
              <a:t>1</a:t>
            </a:r>
            <a:r>
              <a:rPr lang="en-US" altLang="zh-CN" sz="2800" i="1" dirty="0"/>
              <a:t>.</a:t>
            </a:r>
            <a:endParaRPr lang="zh-CN" altLang="en-US" sz="2800" dirty="0"/>
          </a:p>
        </p:txBody>
      </p:sp>
      <p:sp>
        <p:nvSpPr>
          <p:cNvPr id="19460"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19461"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xfrm>
            <a:off x="827088" y="261620"/>
            <a:ext cx="7993062" cy="1143000"/>
          </a:xfrm>
        </p:spPr>
        <p:txBody>
          <a:bodyPr vert="horz" wrap="square" lIns="91440" tIns="45720" rIns="91440" bIns="45720" anchor="b" anchorCtr="0"/>
          <a:p>
            <a:r>
              <a:rPr lang="en-US" altLang="zh-CN" sz="4000" dirty="0"/>
              <a:t>Special integer sequences</a:t>
            </a:r>
            <a:endParaRPr lang="zh-CN" altLang="en-US" sz="4000" dirty="0"/>
          </a:p>
        </p:txBody>
      </p:sp>
      <p:sp>
        <p:nvSpPr>
          <p:cNvPr id="20483" name="内容占位符 2"/>
          <p:cNvSpPr>
            <a:spLocks noGrp="1"/>
          </p:cNvSpPr>
          <p:nvPr>
            <p:ph idx="1"/>
          </p:nvPr>
        </p:nvSpPr>
        <p:spPr>
          <a:xfrm>
            <a:off x="937895" y="1484630"/>
            <a:ext cx="7772400" cy="4114800"/>
          </a:xfrm>
        </p:spPr>
        <p:txBody>
          <a:bodyPr vert="horz" wrap="square" lIns="91440" tIns="45720" rIns="91440" bIns="45720" anchor="t" anchorCtr="0"/>
          <a:p>
            <a:r>
              <a:rPr lang="en-US" altLang="zh-CN" dirty="0"/>
              <a:t>Example 12</a:t>
            </a:r>
            <a:endParaRPr lang="en-US" altLang="zh-CN" dirty="0"/>
          </a:p>
          <a:p>
            <a:pPr lvl="1"/>
            <a:r>
              <a:rPr lang="en-US" altLang="zh-CN" dirty="0"/>
              <a:t>Find formulae for the sequences with the following first five terms:</a:t>
            </a:r>
            <a:endParaRPr lang="en-US" altLang="zh-CN" dirty="0"/>
          </a:p>
          <a:p>
            <a:pPr lvl="2"/>
            <a:r>
              <a:rPr lang="en-US" altLang="zh-CN" dirty="0"/>
              <a:t> (a) 1, 1</a:t>
            </a:r>
            <a:r>
              <a:rPr lang="en-US" altLang="zh-CN" i="1" dirty="0"/>
              <a:t>/2, 1/4, 1/8, 1/16</a:t>
            </a:r>
            <a:endParaRPr lang="en-US" altLang="zh-CN" i="1" dirty="0"/>
          </a:p>
          <a:p>
            <a:pPr lvl="2"/>
            <a:r>
              <a:rPr lang="pl-PL" altLang="zh-CN" dirty="0"/>
              <a:t>(b) 1, 3, 5, 7, 9</a:t>
            </a:r>
            <a:endParaRPr lang="en-US" altLang="zh-CN" dirty="0"/>
          </a:p>
          <a:p>
            <a:pPr lvl="2"/>
            <a:r>
              <a:rPr lang="pl-PL" altLang="zh-CN" dirty="0"/>
              <a:t> (c) 1, −1, 1, −1, 1.</a:t>
            </a:r>
            <a:endParaRPr lang="en-US" altLang="zh-CN" dirty="0"/>
          </a:p>
          <a:p>
            <a:r>
              <a:rPr lang="en-US" altLang="zh-CN" dirty="0"/>
              <a:t>Example 13 </a:t>
            </a:r>
            <a:endParaRPr lang="en-US" altLang="zh-CN" dirty="0"/>
          </a:p>
          <a:p>
            <a:pPr lvl="1"/>
            <a:r>
              <a:rPr lang="en-US" altLang="zh-CN" dirty="0"/>
              <a:t>How can we produce the terms of a sequence if the first 10 terms are 1, 2, 2, 3, 3, 3, 4, 4, 4, 4?</a:t>
            </a:r>
            <a:endParaRPr lang="zh-CN" altLang="en-US" dirty="0"/>
          </a:p>
        </p:txBody>
      </p:sp>
      <p:sp>
        <p:nvSpPr>
          <p:cNvPr id="20484"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0485"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xfrm>
            <a:off x="827088" y="189865"/>
            <a:ext cx="7993062" cy="1143000"/>
          </a:xfrm>
        </p:spPr>
        <p:txBody>
          <a:bodyPr vert="horz" wrap="square" lIns="91440" tIns="45720" rIns="91440" bIns="45720" anchor="b" anchorCtr="0"/>
          <a:p>
            <a:r>
              <a:rPr lang="en-US" altLang="zh-CN" sz="4000" dirty="0"/>
              <a:t>Special integer sequences</a:t>
            </a:r>
            <a:endParaRPr lang="zh-CN" altLang="en-US" sz="4000" dirty="0"/>
          </a:p>
        </p:txBody>
      </p:sp>
      <p:sp>
        <p:nvSpPr>
          <p:cNvPr id="21507" name="内容占位符 2"/>
          <p:cNvSpPr>
            <a:spLocks noGrp="1"/>
          </p:cNvSpPr>
          <p:nvPr>
            <p:ph idx="1"/>
          </p:nvPr>
        </p:nvSpPr>
        <p:spPr>
          <a:xfrm>
            <a:off x="971550" y="1413510"/>
            <a:ext cx="7772400" cy="4114800"/>
          </a:xfrm>
        </p:spPr>
        <p:txBody>
          <a:bodyPr vert="horz" wrap="square" lIns="91440" tIns="45720" rIns="91440" bIns="45720" anchor="t" anchorCtr="0"/>
          <a:p>
            <a:r>
              <a:rPr lang="en-US" altLang="zh-CN" dirty="0"/>
              <a:t>Example 14</a:t>
            </a:r>
            <a:endParaRPr lang="en-US" altLang="zh-CN" dirty="0"/>
          </a:p>
          <a:p>
            <a:pPr lvl="1"/>
            <a:r>
              <a:rPr lang="en-US" altLang="zh-CN" dirty="0"/>
              <a:t>How can we produce the terms of a sequence if the first 10 terms are 5, 11, 17, 23, 29, 35, 41,47, 53, 59?</a:t>
            </a:r>
            <a:endParaRPr lang="en-US" altLang="zh-CN" dirty="0"/>
          </a:p>
          <a:p>
            <a:r>
              <a:rPr lang="en-US" altLang="zh-CN" dirty="0"/>
              <a:t>Example 15 </a:t>
            </a:r>
            <a:endParaRPr lang="en-US" altLang="zh-CN" dirty="0"/>
          </a:p>
          <a:p>
            <a:pPr lvl="1"/>
            <a:r>
              <a:rPr lang="en-US" altLang="zh-CN" dirty="0"/>
              <a:t>How can we produce the terms of a sequence if the first 10 terms are 1, 3, 4, 7, 11, 18, 29, 47, 76, 123?</a:t>
            </a:r>
            <a:endParaRPr lang="zh-CN" altLang="en-US" dirty="0"/>
          </a:p>
        </p:txBody>
      </p:sp>
      <p:sp>
        <p:nvSpPr>
          <p:cNvPr id="21508"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1509"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 name="矩形 2"/>
          <p:cNvSpPr>
            <a:spLocks noChangeArrowheads="1"/>
          </p:cNvSpPr>
          <p:nvPr/>
        </p:nvSpPr>
        <p:spPr bwMode="auto">
          <a:xfrm>
            <a:off x="2339975" y="5444808"/>
            <a:ext cx="5259388" cy="584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宋体" pitchFamily="2" charset="-122"/>
              </a:defRPr>
            </a:lvl1pPr>
            <a:lvl2pPr marL="742950" indent="-285750">
              <a:defRPr sz="2400">
                <a:solidFill>
                  <a:schemeClr val="tx1"/>
                </a:solidFill>
                <a:latin typeface="Tahoma" panose="020B0604030504040204" pitchFamily="34" charset="0"/>
                <a:ea typeface="宋体" pitchFamily="2" charset="-122"/>
              </a:defRPr>
            </a:lvl2pPr>
            <a:lvl3pPr marL="1143000" indent="-228600">
              <a:defRPr sz="2400">
                <a:solidFill>
                  <a:schemeClr val="tx1"/>
                </a:solidFill>
                <a:latin typeface="Tahoma" panose="020B0604030504040204" pitchFamily="34" charset="0"/>
                <a:ea typeface="宋体" pitchFamily="2" charset="-122"/>
              </a:defRPr>
            </a:lvl3pPr>
            <a:lvl4pPr marL="1600200" indent="-228600">
              <a:defRPr sz="2400">
                <a:solidFill>
                  <a:schemeClr val="tx1"/>
                </a:solidFill>
                <a:latin typeface="Tahoma" panose="020B0604030504040204" pitchFamily="34" charset="0"/>
                <a:ea typeface="宋体" pitchFamily="2" charset="-122"/>
              </a:defRPr>
            </a:lvl4pPr>
            <a:lvl5pPr marL="2057400" indent="-228600">
              <a:defRPr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itchFamily="2" charset="-122"/>
              </a:defRPr>
            </a:lvl9pPr>
          </a:lstStyle>
          <a:p>
            <a:pPr algn="ctr"/>
            <a:r>
              <a:rPr lang="en-US" altLang="zh-CN" sz="3200" i="1">
                <a:latin typeface="Times New Roman" panose="02020503050405090304" pitchFamily="18" charset="0"/>
              </a:rPr>
              <a:t>a</a:t>
            </a:r>
            <a:r>
              <a:rPr lang="en-US" altLang="zh-CN" sz="3200" i="1" baseline="-25000">
                <a:latin typeface="Times New Roman" panose="02020503050405090304" pitchFamily="18" charset="0"/>
              </a:rPr>
              <a:t>n</a:t>
            </a:r>
            <a:r>
              <a:rPr lang="en-US" altLang="zh-CN" sz="3200" i="1">
                <a:latin typeface="Times New Roman" panose="02020503050405090304" pitchFamily="18" charset="0"/>
              </a:rPr>
              <a:t>=a</a:t>
            </a:r>
            <a:r>
              <a:rPr lang="en-US" altLang="zh-CN" sz="3200" i="1" baseline="-25000">
                <a:latin typeface="Times New Roman" panose="02020503050405090304" pitchFamily="18" charset="0"/>
              </a:rPr>
              <a:t>n-1</a:t>
            </a:r>
            <a:r>
              <a:rPr lang="en-US" altLang="zh-CN" sz="3200" i="1">
                <a:latin typeface="Times New Roman" panose="02020503050405090304" pitchFamily="18" charset="0"/>
              </a:rPr>
              <a:t>+a</a:t>
            </a:r>
            <a:r>
              <a:rPr lang="en-US" altLang="zh-CN" sz="3200" i="1" baseline="-25000">
                <a:latin typeface="Times New Roman" panose="02020503050405090304" pitchFamily="18" charset="0"/>
              </a:rPr>
              <a:t>n-2    </a:t>
            </a:r>
            <a:r>
              <a:rPr lang="en-US" altLang="zh-CN" sz="2800" i="1">
                <a:latin typeface="Times New Roman" panose="02020503050405090304" pitchFamily="18" charset="0"/>
              </a:rPr>
              <a:t>with a</a:t>
            </a:r>
            <a:r>
              <a:rPr lang="en-US" altLang="zh-CN" sz="2800" i="1" baseline="-25000">
                <a:latin typeface="Times New Roman" panose="02020503050405090304" pitchFamily="18" charset="0"/>
              </a:rPr>
              <a:t>0</a:t>
            </a:r>
            <a:r>
              <a:rPr lang="en-US" altLang="zh-CN" sz="2800" i="1">
                <a:latin typeface="Times New Roman" panose="02020503050405090304" pitchFamily="18" charset="0"/>
              </a:rPr>
              <a:t>=2, a</a:t>
            </a:r>
            <a:r>
              <a:rPr lang="en-US" altLang="zh-CN" sz="2800" i="1" baseline="-25000">
                <a:latin typeface="Times New Roman" panose="02020503050405090304" pitchFamily="18" charset="0"/>
              </a:rPr>
              <a:t>1</a:t>
            </a:r>
            <a:r>
              <a:rPr lang="en-US" altLang="zh-CN" sz="2800" i="1">
                <a:latin typeface="Times New Roman" panose="02020503050405090304" pitchFamily="18" charset="0"/>
              </a:rPr>
              <a:t>=1</a:t>
            </a:r>
            <a:endParaRPr lang="zh-CN" altLang="en-US" sz="3200" i="1" baseline="-25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253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2532" name="Rectangle 2"/>
          <p:cNvSpPr>
            <a:spLocks noGrp="1"/>
          </p:cNvSpPr>
          <p:nvPr>
            <p:ph type="title"/>
          </p:nvPr>
        </p:nvSpPr>
        <p:spPr/>
        <p:txBody>
          <a:bodyPr vert="horz" wrap="square" lIns="91440" tIns="45720" rIns="91440" bIns="45720" anchor="b" anchorCtr="0"/>
          <a:p>
            <a:pPr eaLnBrk="1" hangingPunct="1"/>
            <a:r>
              <a:rPr lang="en-US" altLang="zh-CN" dirty="0"/>
              <a:t>Summation Notation</a:t>
            </a:r>
            <a:endParaRPr lang="en-US" altLang="zh-CN" dirty="0"/>
          </a:p>
        </p:txBody>
      </p:sp>
      <p:sp>
        <p:nvSpPr>
          <p:cNvPr id="22533" name="Rectangle 3"/>
          <p:cNvSpPr>
            <a:spLocks noGrp="1"/>
          </p:cNvSpPr>
          <p:nvPr>
            <p:ph idx="1"/>
          </p:nvPr>
        </p:nvSpPr>
        <p:spPr/>
        <p:txBody>
          <a:bodyPr vert="horz" wrap="square" lIns="91440" tIns="45720" rIns="91440" bIns="45720" anchor="t" anchorCtr="0"/>
          <a:p>
            <a:pPr eaLnBrk="1" hangingPunct="1"/>
            <a:r>
              <a:rPr lang="en-US" altLang="zh-CN" dirty="0">
                <a:solidFill>
                  <a:schemeClr val="folHlink"/>
                </a:solidFill>
              </a:rPr>
              <a:t>Given a series </a:t>
            </a:r>
            <a:r>
              <a:rPr lang="en-US" altLang="zh-CN" dirty="0">
                <a:solidFill>
                  <a:schemeClr val="hlink"/>
                </a:solidFill>
              </a:rPr>
              <a:t>{</a:t>
            </a:r>
            <a:r>
              <a:rPr lang="en-US" altLang="zh-CN" i="1" dirty="0">
                <a:solidFill>
                  <a:schemeClr val="hlink"/>
                </a:solidFill>
              </a:rPr>
              <a:t>a</a:t>
            </a:r>
            <a:r>
              <a:rPr lang="en-US" altLang="zh-CN" i="1" baseline="-25000" dirty="0">
                <a:solidFill>
                  <a:schemeClr val="hlink"/>
                </a:solidFill>
              </a:rPr>
              <a:t>n</a:t>
            </a:r>
            <a:r>
              <a:rPr lang="en-US" altLang="zh-CN" dirty="0">
                <a:solidFill>
                  <a:schemeClr val="hlink"/>
                </a:solidFill>
              </a:rPr>
              <a:t>}</a:t>
            </a:r>
            <a:r>
              <a:rPr lang="en-US" altLang="zh-CN" dirty="0">
                <a:solidFill>
                  <a:schemeClr val="folHlink"/>
                </a:solidFill>
              </a:rPr>
              <a:t>, an integer </a:t>
            </a:r>
            <a:r>
              <a:rPr lang="en-US" altLang="zh-CN" i="1" dirty="0">
                <a:solidFill>
                  <a:schemeClr val="folHlink"/>
                </a:solidFill>
              </a:rPr>
              <a:t>lower bound </a:t>
            </a:r>
            <a:r>
              <a:rPr lang="en-US" altLang="zh-CN" dirty="0">
                <a:solidFill>
                  <a:schemeClr val="folHlink"/>
                </a:solidFill>
              </a:rPr>
              <a:t>(or</a:t>
            </a:r>
            <a:r>
              <a:rPr lang="en-US" altLang="zh-CN" i="1" dirty="0">
                <a:solidFill>
                  <a:schemeClr val="folHlink"/>
                </a:solidFill>
              </a:rPr>
              <a:t> limit</a:t>
            </a:r>
            <a:r>
              <a:rPr lang="en-US" altLang="zh-CN" dirty="0">
                <a:solidFill>
                  <a:schemeClr val="folHlink"/>
                </a:solidFill>
              </a:rPr>
              <a:t>) </a:t>
            </a:r>
            <a:r>
              <a:rPr lang="en-US" altLang="zh-CN" i="1" dirty="0">
                <a:solidFill>
                  <a:schemeClr val="hlink"/>
                </a:solidFill>
              </a:rPr>
              <a:t>j</a:t>
            </a:r>
            <a:r>
              <a:rPr lang="en-US" altLang="zh-CN" dirty="0">
                <a:solidFill>
                  <a:schemeClr val="hlink"/>
                </a:solidFill>
                <a:sym typeface="Symbol" panose="05050102010706020507" pitchFamily="18" charset="2"/>
              </a:rPr>
              <a:t>0</a:t>
            </a:r>
            <a:r>
              <a:rPr lang="en-US" altLang="zh-CN" dirty="0">
                <a:solidFill>
                  <a:schemeClr val="folHlink"/>
                </a:solidFill>
                <a:sym typeface="Symbol" panose="05050102010706020507" pitchFamily="18" charset="2"/>
              </a:rPr>
              <a:t>, and an integer </a:t>
            </a:r>
            <a:r>
              <a:rPr lang="en-US" altLang="zh-CN" i="1" dirty="0">
                <a:solidFill>
                  <a:schemeClr val="folHlink"/>
                </a:solidFill>
                <a:sym typeface="Symbol" panose="05050102010706020507" pitchFamily="18" charset="2"/>
              </a:rPr>
              <a:t>upper bound </a:t>
            </a:r>
            <a:r>
              <a:rPr lang="en-US" altLang="zh-CN" i="1" dirty="0">
                <a:solidFill>
                  <a:schemeClr val="hlink"/>
                </a:solidFill>
                <a:sym typeface="Symbol" panose="05050102010706020507" pitchFamily="18" charset="2"/>
              </a:rPr>
              <a:t>k</a:t>
            </a:r>
            <a:r>
              <a:rPr lang="en-US" altLang="zh-CN" dirty="0">
                <a:solidFill>
                  <a:schemeClr val="hlink"/>
                </a:solidFill>
                <a:sym typeface="Symbol" panose="05050102010706020507" pitchFamily="18" charset="2"/>
              </a:rPr>
              <a:t></a:t>
            </a:r>
            <a:r>
              <a:rPr lang="en-US" altLang="zh-CN" i="1" dirty="0">
                <a:solidFill>
                  <a:schemeClr val="hlink"/>
                </a:solidFill>
              </a:rPr>
              <a:t>j</a:t>
            </a:r>
            <a:r>
              <a:rPr lang="en-US" altLang="zh-CN" dirty="0">
                <a:solidFill>
                  <a:schemeClr val="folHlink"/>
                </a:solidFill>
              </a:rPr>
              <a:t>, then the </a:t>
            </a:r>
            <a:r>
              <a:rPr lang="en-US" altLang="zh-CN" i="1" dirty="0">
                <a:solidFill>
                  <a:schemeClr val="folHlink"/>
                </a:solidFill>
              </a:rPr>
              <a:t>summation of </a:t>
            </a:r>
            <a:r>
              <a:rPr lang="en-US" altLang="zh-CN" dirty="0">
                <a:solidFill>
                  <a:schemeClr val="hlink"/>
                </a:solidFill>
              </a:rPr>
              <a:t>{</a:t>
            </a:r>
            <a:r>
              <a:rPr lang="en-US" altLang="zh-CN" i="1" dirty="0">
                <a:solidFill>
                  <a:schemeClr val="hlink"/>
                </a:solidFill>
              </a:rPr>
              <a:t>a</a:t>
            </a:r>
            <a:r>
              <a:rPr lang="en-US" altLang="zh-CN" i="1" baseline="-25000" dirty="0">
                <a:solidFill>
                  <a:schemeClr val="hlink"/>
                </a:solidFill>
              </a:rPr>
              <a:t>n</a:t>
            </a:r>
            <a:r>
              <a:rPr lang="en-US" altLang="zh-CN" dirty="0">
                <a:solidFill>
                  <a:schemeClr val="hlink"/>
                </a:solidFill>
              </a:rPr>
              <a:t>}</a:t>
            </a:r>
            <a:r>
              <a:rPr lang="en-US" altLang="zh-CN" dirty="0">
                <a:solidFill>
                  <a:schemeClr val="folHlink"/>
                </a:solidFill>
              </a:rPr>
              <a:t> </a:t>
            </a:r>
            <a:r>
              <a:rPr lang="en-US" altLang="zh-CN" i="1" dirty="0">
                <a:solidFill>
                  <a:schemeClr val="folHlink"/>
                </a:solidFill>
              </a:rPr>
              <a:t>from j to k</a:t>
            </a:r>
            <a:r>
              <a:rPr lang="en-US" altLang="zh-CN" dirty="0">
                <a:solidFill>
                  <a:schemeClr val="folHlink"/>
                </a:solidFill>
              </a:rPr>
              <a:t> is written and defined as follows:</a:t>
            </a:r>
            <a:endParaRPr lang="en-US" altLang="zh-CN" dirty="0">
              <a:solidFill>
                <a:schemeClr val="folHlink"/>
              </a:solidFill>
            </a:endParaRPr>
          </a:p>
          <a:p>
            <a:pPr eaLnBrk="1" hangingPunct="1"/>
            <a:endParaRPr lang="en-US" altLang="zh-CN" dirty="0">
              <a:solidFill>
                <a:schemeClr val="folHlink"/>
              </a:solidFill>
            </a:endParaRPr>
          </a:p>
          <a:p>
            <a:pPr eaLnBrk="1" hangingPunct="1"/>
            <a:endParaRPr lang="en-US" altLang="zh-CN" dirty="0">
              <a:solidFill>
                <a:schemeClr val="folHlink"/>
              </a:solidFill>
            </a:endParaRPr>
          </a:p>
          <a:p>
            <a:pPr eaLnBrk="1" hangingPunct="1"/>
            <a:r>
              <a:rPr lang="en-US" altLang="zh-CN" dirty="0">
                <a:solidFill>
                  <a:schemeClr val="folHlink"/>
                </a:solidFill>
              </a:rPr>
              <a:t>Here, </a:t>
            </a:r>
            <a:r>
              <a:rPr lang="en-US" altLang="zh-CN" i="1" dirty="0">
                <a:solidFill>
                  <a:schemeClr val="hlink"/>
                </a:solidFill>
              </a:rPr>
              <a:t>i</a:t>
            </a:r>
            <a:r>
              <a:rPr lang="en-US" altLang="zh-CN" dirty="0">
                <a:solidFill>
                  <a:schemeClr val="folHlink"/>
                </a:solidFill>
              </a:rPr>
              <a:t> is called the </a:t>
            </a:r>
            <a:r>
              <a:rPr lang="en-US" altLang="zh-CN" i="1" dirty="0">
                <a:solidFill>
                  <a:schemeClr val="folHlink"/>
                </a:solidFill>
              </a:rPr>
              <a:t>index of summation</a:t>
            </a:r>
            <a:r>
              <a:rPr lang="en-US" altLang="zh-CN" dirty="0">
                <a:solidFill>
                  <a:schemeClr val="folHlink"/>
                </a:solidFill>
              </a:rPr>
              <a:t>.</a:t>
            </a:r>
            <a:endParaRPr lang="en-US" altLang="zh-CN" i="1" dirty="0">
              <a:solidFill>
                <a:schemeClr val="folHlink"/>
              </a:solidFill>
            </a:endParaRPr>
          </a:p>
        </p:txBody>
      </p:sp>
      <p:graphicFrame>
        <p:nvGraphicFramePr>
          <p:cNvPr id="22534" name="Object 4"/>
          <p:cNvGraphicFramePr>
            <a:graphicFrameLocks noChangeAspect="1"/>
          </p:cNvGraphicFramePr>
          <p:nvPr/>
        </p:nvGraphicFramePr>
        <p:xfrm>
          <a:off x="2555875" y="3500755"/>
          <a:ext cx="3933825" cy="1143000"/>
        </p:xfrm>
        <a:graphic>
          <a:graphicData uri="http://schemas.openxmlformats.org/presentationml/2006/ole">
            <mc:AlternateContent xmlns:mc="http://schemas.openxmlformats.org/markup-compatibility/2006">
              <mc:Choice xmlns:v="urn:schemas-microsoft-com:vml" Requires="v">
                <p:oleObj spid="_x0000_s3078" name="" r:id="rId1" imgW="1524000" imgH="444500" progId="Equation.3">
                  <p:embed/>
                </p:oleObj>
              </mc:Choice>
              <mc:Fallback>
                <p:oleObj name="" r:id="rId1" imgW="1524000" imgH="444500" progId="Equation.3">
                  <p:embed/>
                  <p:pic>
                    <p:nvPicPr>
                      <p:cNvPr id="0" name="图片 3077"/>
                      <p:cNvPicPr/>
                      <p:nvPr/>
                    </p:nvPicPr>
                    <p:blipFill>
                      <a:blip r:embed="rId2"/>
                      <a:stretch>
                        <a:fillRect/>
                      </a:stretch>
                    </p:blipFill>
                    <p:spPr>
                      <a:xfrm>
                        <a:off x="2555875" y="3500755"/>
                        <a:ext cx="3933825" cy="1143000"/>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355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3556" name="Rectangle 2"/>
          <p:cNvSpPr>
            <a:spLocks noGrp="1"/>
          </p:cNvSpPr>
          <p:nvPr>
            <p:ph type="title"/>
          </p:nvPr>
        </p:nvSpPr>
        <p:spPr/>
        <p:txBody>
          <a:bodyPr vert="horz" wrap="square" lIns="91440" tIns="45720" rIns="91440" bIns="45720" anchor="b" anchorCtr="0"/>
          <a:p>
            <a:pPr eaLnBrk="1" hangingPunct="1"/>
            <a:r>
              <a:rPr lang="en-US" altLang="zh-CN" dirty="0"/>
              <a:t>Generalized Summations</a:t>
            </a:r>
            <a:endParaRPr lang="en-US" altLang="zh-CN" dirty="0"/>
          </a:p>
        </p:txBody>
      </p:sp>
      <p:sp>
        <p:nvSpPr>
          <p:cNvPr id="23557" name="Rectangle 3"/>
          <p:cNvSpPr>
            <a:spLocks noGrp="1"/>
          </p:cNvSpPr>
          <p:nvPr>
            <p:ph idx="1"/>
          </p:nvPr>
        </p:nvSpPr>
        <p:spPr>
          <a:xfrm>
            <a:off x="971550" y="1773238"/>
            <a:ext cx="7772400" cy="4257675"/>
          </a:xfrm>
        </p:spPr>
        <p:txBody>
          <a:bodyPr vert="horz" wrap="square" lIns="91440" tIns="45720" rIns="91440" bIns="45720" anchor="t" anchorCtr="0"/>
          <a:p>
            <a:pPr eaLnBrk="1" hangingPunct="1"/>
            <a:r>
              <a:rPr lang="en-US" altLang="zh-CN" dirty="0">
                <a:solidFill>
                  <a:schemeClr val="folHlink"/>
                </a:solidFill>
              </a:rPr>
              <a:t>For an infinite series, we may write:</a:t>
            </a:r>
            <a:endParaRPr lang="en-US" altLang="zh-CN" dirty="0">
              <a:solidFill>
                <a:schemeClr val="folHlink"/>
              </a:solidFill>
            </a:endParaRPr>
          </a:p>
          <a:p>
            <a:pPr eaLnBrk="1" hangingPunct="1"/>
            <a:endParaRPr lang="en-US" altLang="zh-CN" dirty="0">
              <a:solidFill>
                <a:schemeClr val="folHlink"/>
              </a:solidFill>
            </a:endParaRPr>
          </a:p>
          <a:p>
            <a:pPr eaLnBrk="1" hangingPunct="1"/>
            <a:r>
              <a:rPr lang="en-US" altLang="zh-CN" dirty="0">
                <a:solidFill>
                  <a:schemeClr val="folHlink"/>
                </a:solidFill>
              </a:rPr>
              <a:t>To sum a function over all members of a set </a:t>
            </a:r>
            <a:r>
              <a:rPr lang="en-US" altLang="zh-CN" i="1" dirty="0">
                <a:solidFill>
                  <a:schemeClr val="hlink"/>
                </a:solidFill>
              </a:rPr>
              <a:t>X</a:t>
            </a:r>
            <a:r>
              <a:rPr lang="en-US" altLang="zh-CN" dirty="0">
                <a:solidFill>
                  <a:schemeClr val="hlink"/>
                </a:solidFill>
              </a:rPr>
              <a:t>={</a:t>
            </a:r>
            <a:r>
              <a:rPr lang="en-US" altLang="zh-CN" i="1" dirty="0">
                <a:solidFill>
                  <a:schemeClr val="hlink"/>
                </a:solidFill>
              </a:rPr>
              <a:t>x</a:t>
            </a:r>
            <a:r>
              <a:rPr lang="en-US" altLang="zh-CN" baseline="-25000" dirty="0">
                <a:solidFill>
                  <a:schemeClr val="hlink"/>
                </a:solidFill>
              </a:rPr>
              <a:t>1</a:t>
            </a:r>
            <a:r>
              <a:rPr lang="en-US" altLang="zh-CN" dirty="0">
                <a:solidFill>
                  <a:schemeClr val="hlink"/>
                </a:solidFill>
              </a:rPr>
              <a:t>,</a:t>
            </a:r>
            <a:r>
              <a:rPr lang="en-US" altLang="zh-CN" i="1" dirty="0">
                <a:solidFill>
                  <a:schemeClr val="hlink"/>
                </a:solidFill>
              </a:rPr>
              <a:t> x</a:t>
            </a:r>
            <a:r>
              <a:rPr lang="en-US" altLang="zh-CN" baseline="-25000" dirty="0">
                <a:solidFill>
                  <a:schemeClr val="hlink"/>
                </a:solidFill>
              </a:rPr>
              <a:t>2</a:t>
            </a:r>
            <a:r>
              <a:rPr lang="en-US" altLang="zh-CN" dirty="0">
                <a:solidFill>
                  <a:schemeClr val="hlink"/>
                </a:solidFill>
              </a:rPr>
              <a:t>, …}</a:t>
            </a:r>
            <a:r>
              <a:rPr lang="en-US" altLang="zh-CN" dirty="0">
                <a:solidFill>
                  <a:schemeClr val="folHlink"/>
                </a:solidFill>
              </a:rPr>
              <a:t>:</a:t>
            </a:r>
            <a:endParaRPr lang="en-US" altLang="zh-CN" dirty="0">
              <a:solidFill>
                <a:schemeClr val="folHlink"/>
              </a:solidFill>
            </a:endParaRPr>
          </a:p>
          <a:p>
            <a:pPr eaLnBrk="1" hangingPunct="1"/>
            <a:r>
              <a:rPr lang="en-US" altLang="zh-CN" dirty="0">
                <a:solidFill>
                  <a:schemeClr val="folHlink"/>
                </a:solidFill>
              </a:rPr>
              <a:t>Or, if </a:t>
            </a:r>
            <a:r>
              <a:rPr lang="en-US" altLang="zh-CN" i="1" dirty="0">
                <a:solidFill>
                  <a:schemeClr val="hlink"/>
                </a:solidFill>
              </a:rPr>
              <a:t>X</a:t>
            </a:r>
            <a:r>
              <a:rPr lang="en-US" altLang="zh-CN" dirty="0">
                <a:solidFill>
                  <a:schemeClr val="hlink"/>
                </a:solidFill>
              </a:rPr>
              <a:t>={</a:t>
            </a:r>
            <a:r>
              <a:rPr lang="en-US" altLang="zh-CN" i="1" dirty="0">
                <a:solidFill>
                  <a:schemeClr val="hlink"/>
                </a:solidFill>
              </a:rPr>
              <a:t>x</a:t>
            </a:r>
            <a:r>
              <a:rPr lang="en-US" altLang="zh-CN" dirty="0">
                <a:solidFill>
                  <a:schemeClr val="hlink"/>
                </a:solidFill>
              </a:rPr>
              <a:t>|</a:t>
            </a:r>
            <a:r>
              <a:rPr lang="en-US" altLang="zh-CN" i="1" dirty="0">
                <a:solidFill>
                  <a:schemeClr val="hlink"/>
                </a:solidFill>
              </a:rPr>
              <a:t>P</a:t>
            </a:r>
            <a:r>
              <a:rPr lang="en-US" altLang="zh-CN" dirty="0">
                <a:solidFill>
                  <a:schemeClr val="hlink"/>
                </a:solidFill>
              </a:rPr>
              <a:t>(</a:t>
            </a:r>
            <a:r>
              <a:rPr lang="en-US" altLang="zh-CN" i="1" dirty="0">
                <a:solidFill>
                  <a:schemeClr val="hlink"/>
                </a:solidFill>
              </a:rPr>
              <a:t>x</a:t>
            </a:r>
            <a:r>
              <a:rPr lang="en-US" altLang="zh-CN" dirty="0">
                <a:solidFill>
                  <a:schemeClr val="hlink"/>
                </a:solidFill>
              </a:rPr>
              <a:t>)}</a:t>
            </a:r>
            <a:r>
              <a:rPr lang="en-US" altLang="zh-CN" dirty="0">
                <a:solidFill>
                  <a:schemeClr val="folHlink"/>
                </a:solidFill>
              </a:rPr>
              <a:t>, we may just write:</a:t>
            </a:r>
            <a:endParaRPr lang="en-US" altLang="zh-CN" dirty="0">
              <a:solidFill>
                <a:schemeClr val="folHlink"/>
              </a:solidFill>
            </a:endParaRPr>
          </a:p>
        </p:txBody>
      </p:sp>
      <p:graphicFrame>
        <p:nvGraphicFramePr>
          <p:cNvPr id="23558" name="Object 4"/>
          <p:cNvGraphicFramePr>
            <a:graphicFrameLocks noChangeAspect="1"/>
          </p:cNvGraphicFramePr>
          <p:nvPr/>
        </p:nvGraphicFramePr>
        <p:xfrm>
          <a:off x="4025900" y="3429000"/>
          <a:ext cx="4257675" cy="835025"/>
        </p:xfrm>
        <a:graphic>
          <a:graphicData uri="http://schemas.openxmlformats.org/presentationml/2006/ole">
            <mc:AlternateContent xmlns:mc="http://schemas.openxmlformats.org/markup-compatibility/2006">
              <mc:Choice xmlns:v="urn:schemas-microsoft-com:vml" Requires="v">
                <p:oleObj spid="_x0000_s3079" name="" r:id="rId1" imgW="1739900" imgH="342900" progId="Equation.3">
                  <p:embed/>
                </p:oleObj>
              </mc:Choice>
              <mc:Fallback>
                <p:oleObj name="" r:id="rId1" imgW="1739900" imgH="342900" progId="Equation.3">
                  <p:embed/>
                  <p:pic>
                    <p:nvPicPr>
                      <p:cNvPr id="0" name="图片 3078"/>
                      <p:cNvPicPr/>
                      <p:nvPr/>
                    </p:nvPicPr>
                    <p:blipFill>
                      <a:blip r:embed="rId2"/>
                      <a:stretch>
                        <a:fillRect/>
                      </a:stretch>
                    </p:blipFill>
                    <p:spPr>
                      <a:xfrm>
                        <a:off x="4025900" y="3429000"/>
                        <a:ext cx="4257675" cy="835025"/>
                      </a:xfrm>
                      <a:prstGeom prst="rect">
                        <a:avLst/>
                      </a:prstGeom>
                      <a:noFill/>
                      <a:ln w="38100">
                        <a:noFill/>
                        <a:miter/>
                      </a:ln>
                    </p:spPr>
                  </p:pic>
                </p:oleObj>
              </mc:Fallback>
            </mc:AlternateContent>
          </a:graphicData>
        </a:graphic>
      </p:graphicFrame>
      <p:graphicFrame>
        <p:nvGraphicFramePr>
          <p:cNvPr id="23559" name="Object 5"/>
          <p:cNvGraphicFramePr>
            <a:graphicFrameLocks noChangeAspect="1"/>
          </p:cNvGraphicFramePr>
          <p:nvPr/>
        </p:nvGraphicFramePr>
        <p:xfrm>
          <a:off x="1828800" y="4800600"/>
          <a:ext cx="5562600" cy="1131888"/>
        </p:xfrm>
        <a:graphic>
          <a:graphicData uri="http://schemas.openxmlformats.org/presentationml/2006/ole">
            <mc:AlternateContent xmlns:mc="http://schemas.openxmlformats.org/markup-compatibility/2006">
              <mc:Choice xmlns:v="urn:schemas-microsoft-com:vml" Requires="v">
                <p:oleObj spid="_x0000_s3080" name="" r:id="rId3" imgW="1739900" imgH="355600" progId="Equation.3">
                  <p:embed/>
                </p:oleObj>
              </mc:Choice>
              <mc:Fallback>
                <p:oleObj name="" r:id="rId3" imgW="1739900" imgH="355600" progId="Equation.3">
                  <p:embed/>
                  <p:pic>
                    <p:nvPicPr>
                      <p:cNvPr id="0" name="图片 3079"/>
                      <p:cNvPicPr/>
                      <p:nvPr/>
                    </p:nvPicPr>
                    <p:blipFill>
                      <a:blip r:embed="rId4"/>
                      <a:stretch>
                        <a:fillRect/>
                      </a:stretch>
                    </p:blipFill>
                    <p:spPr>
                      <a:xfrm>
                        <a:off x="1828800" y="4800600"/>
                        <a:ext cx="5562600" cy="1131888"/>
                      </a:xfrm>
                      <a:prstGeom prst="rect">
                        <a:avLst/>
                      </a:prstGeom>
                      <a:noFill/>
                      <a:ln w="38100">
                        <a:noFill/>
                        <a:miter/>
                      </a:ln>
                    </p:spPr>
                  </p:pic>
                </p:oleObj>
              </mc:Fallback>
            </mc:AlternateContent>
          </a:graphicData>
        </a:graphic>
      </p:graphicFrame>
      <p:graphicFrame>
        <p:nvGraphicFramePr>
          <p:cNvPr id="23560" name="Object 6"/>
          <p:cNvGraphicFramePr>
            <a:graphicFrameLocks noChangeAspect="1"/>
          </p:cNvGraphicFramePr>
          <p:nvPr/>
        </p:nvGraphicFramePr>
        <p:xfrm>
          <a:off x="3017838" y="2133600"/>
          <a:ext cx="2971800" cy="1057275"/>
        </p:xfrm>
        <a:graphic>
          <a:graphicData uri="http://schemas.openxmlformats.org/presentationml/2006/ole">
            <mc:AlternateContent xmlns:mc="http://schemas.openxmlformats.org/markup-compatibility/2006">
              <mc:Choice xmlns:v="urn:schemas-microsoft-com:vml" Requires="v">
                <p:oleObj spid="_x0000_s3081" name="" r:id="rId5" imgW="1244600" imgH="444500" progId="Equation.3">
                  <p:embed/>
                </p:oleObj>
              </mc:Choice>
              <mc:Fallback>
                <p:oleObj name="" r:id="rId5" imgW="1244600" imgH="444500" progId="Equation.3">
                  <p:embed/>
                  <p:pic>
                    <p:nvPicPr>
                      <p:cNvPr id="0" name="图片 3080"/>
                      <p:cNvPicPr/>
                      <p:nvPr/>
                    </p:nvPicPr>
                    <p:blipFill>
                      <a:blip r:embed="rId6"/>
                      <a:stretch>
                        <a:fillRect/>
                      </a:stretch>
                    </p:blipFill>
                    <p:spPr>
                      <a:xfrm>
                        <a:off x="3017838" y="2133600"/>
                        <a:ext cx="2971800" cy="1057275"/>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457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4580" name="Rectangle 2"/>
          <p:cNvSpPr>
            <a:spLocks noGrp="1"/>
          </p:cNvSpPr>
          <p:nvPr>
            <p:ph type="title"/>
          </p:nvPr>
        </p:nvSpPr>
        <p:spPr>
          <a:xfrm>
            <a:off x="900430" y="46355"/>
            <a:ext cx="8068310" cy="1143000"/>
          </a:xfrm>
        </p:spPr>
        <p:txBody>
          <a:bodyPr vert="horz" wrap="square" lIns="91440" tIns="45720" rIns="91440" bIns="45720" anchor="b" anchorCtr="0"/>
          <a:p>
            <a:pPr eaLnBrk="1" hangingPunct="1"/>
            <a:r>
              <a:rPr lang="en-US" altLang="zh-CN" sz="4000" dirty="0"/>
              <a:t>Simple Summation Example</a:t>
            </a:r>
            <a:endParaRPr lang="en-US" altLang="zh-CN" sz="4000" dirty="0"/>
          </a:p>
        </p:txBody>
      </p:sp>
      <p:sp>
        <p:nvSpPr>
          <p:cNvPr id="24581" name="Rectangle 3"/>
          <p:cNvSpPr>
            <a:spLocks noGrp="1"/>
          </p:cNvSpPr>
          <p:nvPr>
            <p:ph idx="1"/>
          </p:nvPr>
        </p:nvSpPr>
        <p:spPr/>
        <p:txBody>
          <a:bodyPr vert="horz" wrap="square" lIns="91440" tIns="45720" rIns="91440" bIns="45720" anchor="t" anchorCtr="0"/>
          <a:p>
            <a:pPr eaLnBrk="1" hangingPunct="1">
              <a:buNone/>
            </a:pPr>
            <a:r>
              <a:rPr lang="en-US" altLang="zh-CN" dirty="0"/>
              <a:t> </a:t>
            </a:r>
            <a:endParaRPr lang="en-US" altLang="zh-CN" dirty="0"/>
          </a:p>
        </p:txBody>
      </p:sp>
      <p:graphicFrame>
        <p:nvGraphicFramePr>
          <p:cNvPr id="24582" name="Object 4"/>
          <p:cNvGraphicFramePr>
            <a:graphicFrameLocks noChangeAspect="1"/>
          </p:cNvGraphicFramePr>
          <p:nvPr/>
        </p:nvGraphicFramePr>
        <p:xfrm>
          <a:off x="838200" y="1631315"/>
          <a:ext cx="7124065" cy="3482975"/>
        </p:xfrm>
        <a:graphic>
          <a:graphicData uri="http://schemas.openxmlformats.org/presentationml/2006/ole">
            <mc:AlternateContent xmlns:mc="http://schemas.openxmlformats.org/markup-compatibility/2006">
              <mc:Choice xmlns:v="urn:schemas-microsoft-com:vml" Requires="v">
                <p:oleObj spid="_x0000_s3083" name="" r:id="rId1" imgW="2235200" imgH="1092200" progId="Equation.3">
                  <p:embed/>
                </p:oleObj>
              </mc:Choice>
              <mc:Fallback>
                <p:oleObj name="" r:id="rId1" imgW="2235200" imgH="1092200" progId="Equation.3">
                  <p:embed/>
                  <p:pic>
                    <p:nvPicPr>
                      <p:cNvPr id="0" name="图片 3082"/>
                      <p:cNvPicPr/>
                      <p:nvPr/>
                    </p:nvPicPr>
                    <p:blipFill>
                      <a:blip r:embed="rId2"/>
                      <a:stretch>
                        <a:fillRect/>
                      </a:stretch>
                    </p:blipFill>
                    <p:spPr>
                      <a:xfrm>
                        <a:off x="838200" y="1631315"/>
                        <a:ext cx="7124065" cy="3482975"/>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560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5604" name="Rectangle 2"/>
          <p:cNvSpPr>
            <a:spLocks noGrp="1"/>
          </p:cNvSpPr>
          <p:nvPr>
            <p:ph type="title"/>
          </p:nvPr>
        </p:nvSpPr>
        <p:spPr/>
        <p:txBody>
          <a:bodyPr vert="horz" wrap="square" lIns="91440" tIns="45720" rIns="91440" bIns="45720" anchor="b" anchorCtr="0"/>
          <a:p>
            <a:pPr eaLnBrk="1" hangingPunct="1"/>
            <a:r>
              <a:rPr lang="en-US" altLang="zh-CN" dirty="0"/>
              <a:t>More Summation Examples</a:t>
            </a:r>
            <a:endParaRPr lang="en-US" altLang="zh-CN" dirty="0"/>
          </a:p>
        </p:txBody>
      </p:sp>
      <p:sp>
        <p:nvSpPr>
          <p:cNvPr id="25605" name="Rectangle 3"/>
          <p:cNvSpPr>
            <a:spLocks noGrp="1"/>
          </p:cNvSpPr>
          <p:nvPr>
            <p:ph idx="1"/>
          </p:nvPr>
        </p:nvSpPr>
        <p:spPr/>
        <p:txBody>
          <a:bodyPr vert="horz" wrap="square" lIns="91440" tIns="45720" rIns="91440" bIns="45720" anchor="t" anchorCtr="0"/>
          <a:p>
            <a:pPr eaLnBrk="1" hangingPunct="1"/>
            <a:r>
              <a:rPr lang="en-US" altLang="zh-CN" dirty="0">
                <a:solidFill>
                  <a:schemeClr val="folHlink"/>
                </a:solidFill>
              </a:rPr>
              <a:t>An infinite series with a finite sum:</a:t>
            </a:r>
            <a:endParaRPr lang="en-US" altLang="zh-CN" dirty="0">
              <a:solidFill>
                <a:schemeClr val="folHlink"/>
              </a:solidFill>
            </a:endParaRPr>
          </a:p>
          <a:p>
            <a:pPr eaLnBrk="1" hangingPunct="1"/>
            <a:endParaRPr lang="en-US" altLang="zh-CN" dirty="0">
              <a:solidFill>
                <a:schemeClr val="folHlink"/>
              </a:solidFill>
            </a:endParaRPr>
          </a:p>
          <a:p>
            <a:pPr eaLnBrk="1" hangingPunct="1"/>
            <a:endParaRPr lang="en-US" altLang="zh-CN" dirty="0">
              <a:solidFill>
                <a:schemeClr val="folHlink"/>
              </a:solidFill>
            </a:endParaRPr>
          </a:p>
          <a:p>
            <a:pPr eaLnBrk="1" hangingPunct="1"/>
            <a:r>
              <a:rPr lang="en-US" altLang="zh-CN" dirty="0">
                <a:solidFill>
                  <a:schemeClr val="folHlink"/>
                </a:solidFill>
              </a:rPr>
              <a:t>Using a predicate to define a set of elements to sum over:</a:t>
            </a:r>
            <a:endParaRPr lang="en-US" altLang="zh-CN" dirty="0">
              <a:solidFill>
                <a:schemeClr val="folHlink"/>
              </a:solidFill>
            </a:endParaRPr>
          </a:p>
        </p:txBody>
      </p:sp>
      <p:graphicFrame>
        <p:nvGraphicFramePr>
          <p:cNvPr id="25606" name="Object 4"/>
          <p:cNvGraphicFramePr>
            <a:graphicFrameLocks noChangeAspect="1"/>
          </p:cNvGraphicFramePr>
          <p:nvPr/>
        </p:nvGraphicFramePr>
        <p:xfrm>
          <a:off x="762000" y="4594225"/>
          <a:ext cx="7639050" cy="1179513"/>
        </p:xfrm>
        <a:graphic>
          <a:graphicData uri="http://schemas.openxmlformats.org/presentationml/2006/ole">
            <mc:AlternateContent xmlns:mc="http://schemas.openxmlformats.org/markup-compatibility/2006">
              <mc:Choice xmlns:v="urn:schemas-microsoft-com:vml" Requires="v">
                <p:oleObj spid="_x0000_s3084" name="" r:id="rId1" imgW="2959100" imgH="457200" progId="Equation.3">
                  <p:embed/>
                </p:oleObj>
              </mc:Choice>
              <mc:Fallback>
                <p:oleObj name="" r:id="rId1" imgW="2959100" imgH="457200" progId="Equation.3">
                  <p:embed/>
                  <p:pic>
                    <p:nvPicPr>
                      <p:cNvPr id="0" name="图片 3083"/>
                      <p:cNvPicPr/>
                      <p:nvPr/>
                    </p:nvPicPr>
                    <p:blipFill>
                      <a:blip r:embed="rId2"/>
                      <a:stretch>
                        <a:fillRect/>
                      </a:stretch>
                    </p:blipFill>
                    <p:spPr>
                      <a:xfrm>
                        <a:off x="762000" y="4594225"/>
                        <a:ext cx="7639050" cy="1179513"/>
                      </a:xfrm>
                      <a:prstGeom prst="rect">
                        <a:avLst/>
                      </a:prstGeom>
                      <a:noFill/>
                      <a:ln w="38100">
                        <a:noFill/>
                        <a:miter/>
                      </a:ln>
                    </p:spPr>
                  </p:pic>
                </p:oleObj>
              </mc:Fallback>
            </mc:AlternateContent>
          </a:graphicData>
        </a:graphic>
      </p:graphicFrame>
      <p:graphicFrame>
        <p:nvGraphicFramePr>
          <p:cNvPr id="25607" name="Object 5"/>
          <p:cNvGraphicFramePr>
            <a:graphicFrameLocks noChangeAspect="1"/>
          </p:cNvGraphicFramePr>
          <p:nvPr/>
        </p:nvGraphicFramePr>
        <p:xfrm>
          <a:off x="1295400" y="1940560"/>
          <a:ext cx="6705600" cy="1235075"/>
        </p:xfrm>
        <a:graphic>
          <a:graphicData uri="http://schemas.openxmlformats.org/presentationml/2006/ole">
            <mc:AlternateContent xmlns:mc="http://schemas.openxmlformats.org/markup-compatibility/2006">
              <mc:Choice xmlns:v="urn:schemas-microsoft-com:vml" Requires="v">
                <p:oleObj spid="_x0000_s3082" name="" r:id="rId3" imgW="2336800" imgH="431800" progId="Equation.3">
                  <p:embed/>
                </p:oleObj>
              </mc:Choice>
              <mc:Fallback>
                <p:oleObj name="" r:id="rId3" imgW="2336800" imgH="431800" progId="Equation.3">
                  <p:embed/>
                  <p:pic>
                    <p:nvPicPr>
                      <p:cNvPr id="0" name="图片 3081"/>
                      <p:cNvPicPr/>
                      <p:nvPr/>
                    </p:nvPicPr>
                    <p:blipFill>
                      <a:blip r:embed="rId4"/>
                      <a:stretch>
                        <a:fillRect/>
                      </a:stretch>
                    </p:blipFill>
                    <p:spPr>
                      <a:xfrm>
                        <a:off x="1295400" y="1940560"/>
                        <a:ext cx="6705600" cy="1235075"/>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6627"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6628" name="Rectangle 2"/>
          <p:cNvSpPr>
            <a:spLocks noGrp="1"/>
          </p:cNvSpPr>
          <p:nvPr>
            <p:ph type="title"/>
          </p:nvPr>
        </p:nvSpPr>
        <p:spPr>
          <a:xfrm>
            <a:off x="900430" y="46355"/>
            <a:ext cx="8371840" cy="1143000"/>
          </a:xfrm>
        </p:spPr>
        <p:txBody>
          <a:bodyPr vert="horz" wrap="square" lIns="91440" tIns="45720" rIns="91440" bIns="45720" anchor="b" anchorCtr="0"/>
          <a:p>
            <a:pPr eaLnBrk="1" hangingPunct="1"/>
            <a:r>
              <a:rPr lang="en-US" altLang="zh-CN" dirty="0"/>
              <a:t>Summation Manipulations</a:t>
            </a:r>
            <a:endParaRPr lang="en-US" altLang="zh-CN" dirty="0"/>
          </a:p>
        </p:txBody>
      </p:sp>
      <p:sp>
        <p:nvSpPr>
          <p:cNvPr id="26629" name="Rectangle 3"/>
          <p:cNvSpPr>
            <a:spLocks noGrp="1"/>
          </p:cNvSpPr>
          <p:nvPr>
            <p:ph idx="1"/>
          </p:nvPr>
        </p:nvSpPr>
        <p:spPr/>
        <p:txBody>
          <a:bodyPr vert="horz" wrap="square" lIns="91440" tIns="45720" rIns="91440" bIns="45720" anchor="t" anchorCtr="0"/>
          <a:p>
            <a:pPr eaLnBrk="1" hangingPunct="1"/>
            <a:r>
              <a:rPr lang="en-US" altLang="zh-CN" dirty="0">
                <a:solidFill>
                  <a:schemeClr val="folHlink"/>
                </a:solidFill>
              </a:rPr>
              <a:t>Some handy identities for summations:</a:t>
            </a:r>
            <a:endParaRPr lang="en-US" altLang="zh-CN" dirty="0">
              <a:solidFill>
                <a:schemeClr val="folHlink"/>
              </a:solidFill>
            </a:endParaRPr>
          </a:p>
        </p:txBody>
      </p:sp>
      <p:graphicFrame>
        <p:nvGraphicFramePr>
          <p:cNvPr id="26630" name="Object 4"/>
          <p:cNvGraphicFramePr>
            <a:graphicFrameLocks noChangeAspect="1"/>
          </p:cNvGraphicFramePr>
          <p:nvPr/>
        </p:nvGraphicFramePr>
        <p:xfrm>
          <a:off x="838200" y="2240915"/>
          <a:ext cx="5715000" cy="3171825"/>
        </p:xfrm>
        <a:graphic>
          <a:graphicData uri="http://schemas.openxmlformats.org/presentationml/2006/ole">
            <mc:AlternateContent xmlns:mc="http://schemas.openxmlformats.org/markup-compatibility/2006">
              <mc:Choice xmlns:v="urn:schemas-microsoft-com:vml" Requires="v">
                <p:oleObj spid="_x0000_s3086" name="" r:id="rId1" imgW="2311400" imgH="1282700" progId="Equation.3">
                  <p:embed/>
                </p:oleObj>
              </mc:Choice>
              <mc:Fallback>
                <p:oleObj name="" r:id="rId1" imgW="2311400" imgH="1282700" progId="Equation.3">
                  <p:embed/>
                  <p:pic>
                    <p:nvPicPr>
                      <p:cNvPr id="0" name="图片 3085"/>
                      <p:cNvPicPr/>
                      <p:nvPr/>
                    </p:nvPicPr>
                    <p:blipFill>
                      <a:blip r:embed="rId2"/>
                      <a:stretch>
                        <a:fillRect/>
                      </a:stretch>
                    </p:blipFill>
                    <p:spPr>
                      <a:xfrm>
                        <a:off x="838200" y="2240915"/>
                        <a:ext cx="5715000" cy="3171825"/>
                      </a:xfrm>
                      <a:prstGeom prst="rect">
                        <a:avLst/>
                      </a:prstGeom>
                      <a:noFill/>
                      <a:ln w="38100">
                        <a:noFill/>
                        <a:miter/>
                      </a:ln>
                    </p:spPr>
                  </p:pic>
                </p:oleObj>
              </mc:Fallback>
            </mc:AlternateContent>
          </a:graphicData>
        </a:graphic>
      </p:graphicFrame>
      <p:sp>
        <p:nvSpPr>
          <p:cNvPr id="26631" name="Text Box 5"/>
          <p:cNvSpPr txBox="1"/>
          <p:nvPr/>
        </p:nvSpPr>
        <p:spPr>
          <a:xfrm>
            <a:off x="4851400" y="2317115"/>
            <a:ext cx="2433638" cy="457200"/>
          </a:xfrm>
          <a:prstGeom prst="rect">
            <a:avLst/>
          </a:prstGeom>
          <a:noFill/>
          <a:ln w="9525">
            <a:noFill/>
          </a:ln>
        </p:spPr>
        <p:txBody>
          <a:bodyPr wrap="none" anchor="ctr" anchorCtr="0">
            <a:spAutoFit/>
          </a:bodyPr>
          <a:p>
            <a:pPr algn="ctr">
              <a:spcBef>
                <a:spcPct val="50000"/>
              </a:spcBef>
            </a:pPr>
            <a:r>
              <a:rPr lang="en-US" altLang="zh-CN" dirty="0">
                <a:solidFill>
                  <a:srgbClr val="FF0000"/>
                </a:solidFill>
                <a:latin typeface="Times New Roman" panose="02020503050405090304" pitchFamily="18" charset="0"/>
              </a:rPr>
              <a:t>(Distributive law.)</a:t>
            </a:r>
            <a:endParaRPr lang="en-US" altLang="zh-CN" dirty="0">
              <a:solidFill>
                <a:srgbClr val="FF0000"/>
              </a:solidFill>
              <a:latin typeface="Times New Roman" panose="02020503050405090304" pitchFamily="18" charset="0"/>
            </a:endParaRPr>
          </a:p>
        </p:txBody>
      </p:sp>
      <p:sp>
        <p:nvSpPr>
          <p:cNvPr id="26632" name="Text Box 6"/>
          <p:cNvSpPr txBox="1"/>
          <p:nvPr/>
        </p:nvSpPr>
        <p:spPr>
          <a:xfrm>
            <a:off x="6629400" y="2821940"/>
            <a:ext cx="1828800" cy="1552575"/>
          </a:xfrm>
          <a:prstGeom prst="rect">
            <a:avLst/>
          </a:prstGeom>
          <a:noFill/>
          <a:ln w="9525">
            <a:noFill/>
          </a:ln>
        </p:spPr>
        <p:txBody>
          <a:bodyPr anchor="ctr" anchorCtr="0">
            <a:spAutoFit/>
          </a:bodyPr>
          <a:p>
            <a:pPr algn="ctr">
              <a:spcBef>
                <a:spcPct val="50000"/>
              </a:spcBef>
            </a:pPr>
            <a:r>
              <a:rPr lang="en-US" altLang="zh-CN" dirty="0">
                <a:solidFill>
                  <a:srgbClr val="FF0000"/>
                </a:solidFill>
                <a:latin typeface="Times New Roman" panose="02020503050405090304" pitchFamily="18" charset="0"/>
              </a:rPr>
              <a:t>(An application</a:t>
            </a:r>
            <a:br>
              <a:rPr lang="en-US" altLang="zh-CN" dirty="0">
                <a:solidFill>
                  <a:srgbClr val="FF0000"/>
                </a:solidFill>
                <a:latin typeface="Times New Roman" panose="02020503050405090304" pitchFamily="18" charset="0"/>
              </a:rPr>
            </a:br>
            <a:r>
              <a:rPr lang="en-US" altLang="zh-CN" dirty="0">
                <a:solidFill>
                  <a:srgbClr val="FF0000"/>
                </a:solidFill>
                <a:latin typeface="Times New Roman" panose="02020503050405090304" pitchFamily="18" charset="0"/>
              </a:rPr>
              <a:t>of commut-</a:t>
            </a:r>
            <a:br>
              <a:rPr lang="en-US" altLang="zh-CN" dirty="0">
                <a:solidFill>
                  <a:srgbClr val="FF0000"/>
                </a:solidFill>
                <a:latin typeface="Times New Roman" panose="02020503050405090304" pitchFamily="18" charset="0"/>
              </a:rPr>
            </a:br>
            <a:r>
              <a:rPr lang="en-US" altLang="zh-CN" dirty="0">
                <a:solidFill>
                  <a:srgbClr val="FF0000"/>
                </a:solidFill>
                <a:latin typeface="Times New Roman" panose="02020503050405090304" pitchFamily="18" charset="0"/>
              </a:rPr>
              <a:t>ativity.)</a:t>
            </a:r>
            <a:endParaRPr lang="en-US" altLang="zh-CN" dirty="0">
              <a:solidFill>
                <a:srgbClr val="FF0000"/>
              </a:solidFill>
              <a:latin typeface="Times New Roman" panose="02020503050405090304" pitchFamily="18" charset="0"/>
            </a:endParaRPr>
          </a:p>
        </p:txBody>
      </p:sp>
      <p:sp>
        <p:nvSpPr>
          <p:cNvPr id="26633" name="Text Box 7"/>
          <p:cNvSpPr txBox="1"/>
          <p:nvPr/>
        </p:nvSpPr>
        <p:spPr>
          <a:xfrm>
            <a:off x="4878388" y="4603115"/>
            <a:ext cx="2163762" cy="457200"/>
          </a:xfrm>
          <a:prstGeom prst="rect">
            <a:avLst/>
          </a:prstGeom>
          <a:noFill/>
          <a:ln w="9525">
            <a:noFill/>
          </a:ln>
        </p:spPr>
        <p:txBody>
          <a:bodyPr wrap="none" anchor="ctr" anchorCtr="0">
            <a:spAutoFit/>
          </a:bodyPr>
          <a:p>
            <a:pPr algn="ctr">
              <a:spcBef>
                <a:spcPct val="50000"/>
              </a:spcBef>
            </a:pPr>
            <a:r>
              <a:rPr lang="en-US" altLang="zh-CN" dirty="0">
                <a:solidFill>
                  <a:srgbClr val="FF0000"/>
                </a:solidFill>
                <a:latin typeface="Times New Roman" panose="02020503050405090304" pitchFamily="18" charset="0"/>
              </a:rPr>
              <a:t>(Index shifting.)</a:t>
            </a:r>
            <a:endParaRPr lang="en-US" altLang="zh-CN" dirty="0">
              <a:solidFill>
                <a:srgbClr val="FF0000"/>
              </a:solidFill>
              <a:latin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765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7652" name="Rectangle 2"/>
          <p:cNvSpPr>
            <a:spLocks noGrp="1"/>
          </p:cNvSpPr>
          <p:nvPr>
            <p:ph type="title"/>
          </p:nvPr>
        </p:nvSpPr>
        <p:spPr>
          <a:xfrm>
            <a:off x="900430" y="46355"/>
            <a:ext cx="8225790" cy="1143000"/>
          </a:xfrm>
        </p:spPr>
        <p:txBody>
          <a:bodyPr vert="horz" wrap="square" lIns="91440" tIns="45720" rIns="91440" bIns="45720" anchor="b" anchorCtr="0"/>
          <a:p>
            <a:pPr eaLnBrk="1" hangingPunct="1"/>
            <a:r>
              <a:rPr lang="en-US" altLang="zh-CN" sz="3600" dirty="0"/>
              <a:t>More Summation Manipulations</a:t>
            </a:r>
            <a:endParaRPr lang="en-US" altLang="zh-CN" sz="3600" dirty="0"/>
          </a:p>
        </p:txBody>
      </p:sp>
      <p:sp>
        <p:nvSpPr>
          <p:cNvPr id="27653" name="Rectangle 3"/>
          <p:cNvSpPr>
            <a:spLocks noGrp="1"/>
          </p:cNvSpPr>
          <p:nvPr>
            <p:ph idx="1"/>
          </p:nvPr>
        </p:nvSpPr>
        <p:spPr/>
        <p:txBody>
          <a:bodyPr vert="horz" wrap="square" lIns="91440" tIns="45720" rIns="91440" bIns="45720" anchor="t" anchorCtr="0"/>
          <a:p>
            <a:pPr eaLnBrk="1" hangingPunct="1"/>
            <a:r>
              <a:rPr lang="en-US" altLang="zh-CN" dirty="0">
                <a:solidFill>
                  <a:schemeClr val="folHlink"/>
                </a:solidFill>
              </a:rPr>
              <a:t>Other identities that are sometimes useful:</a:t>
            </a:r>
            <a:endParaRPr lang="en-US" altLang="zh-CN" dirty="0">
              <a:solidFill>
                <a:schemeClr val="folHlink"/>
              </a:solidFill>
            </a:endParaRPr>
          </a:p>
        </p:txBody>
      </p:sp>
      <p:graphicFrame>
        <p:nvGraphicFramePr>
          <p:cNvPr id="27654" name="Object 4"/>
          <p:cNvGraphicFramePr>
            <a:graphicFrameLocks noChangeAspect="1"/>
          </p:cNvGraphicFramePr>
          <p:nvPr/>
        </p:nvGraphicFramePr>
        <p:xfrm>
          <a:off x="1196975" y="2274888"/>
          <a:ext cx="6248400" cy="3213100"/>
        </p:xfrm>
        <a:graphic>
          <a:graphicData uri="http://schemas.openxmlformats.org/presentationml/2006/ole">
            <mc:AlternateContent xmlns:mc="http://schemas.openxmlformats.org/markup-compatibility/2006">
              <mc:Choice xmlns:v="urn:schemas-microsoft-com:vml" Requires="v">
                <p:oleObj spid="_x0000_s3085" name="" r:id="rId1" imgW="2692400" imgH="1384300" progId="Equation.3">
                  <p:embed/>
                </p:oleObj>
              </mc:Choice>
              <mc:Fallback>
                <p:oleObj name="" r:id="rId1" imgW="2692400" imgH="1384300" progId="Equation.3">
                  <p:embed/>
                  <p:pic>
                    <p:nvPicPr>
                      <p:cNvPr id="0" name="图片 3084"/>
                      <p:cNvPicPr/>
                      <p:nvPr/>
                    </p:nvPicPr>
                    <p:blipFill>
                      <a:blip r:embed="rId2"/>
                      <a:stretch>
                        <a:fillRect/>
                      </a:stretch>
                    </p:blipFill>
                    <p:spPr>
                      <a:xfrm>
                        <a:off x="1196975" y="2274888"/>
                        <a:ext cx="6248400" cy="3213100"/>
                      </a:xfrm>
                      <a:prstGeom prst="rect">
                        <a:avLst/>
                      </a:prstGeom>
                      <a:noFill/>
                      <a:ln w="38100">
                        <a:noFill/>
                        <a:miter/>
                      </a:ln>
                    </p:spPr>
                  </p:pic>
                </p:oleObj>
              </mc:Fallback>
            </mc:AlternateContent>
          </a:graphicData>
        </a:graphic>
      </p:graphicFrame>
      <p:sp>
        <p:nvSpPr>
          <p:cNvPr id="27655" name="Text Box 5"/>
          <p:cNvSpPr txBox="1"/>
          <p:nvPr/>
        </p:nvSpPr>
        <p:spPr>
          <a:xfrm>
            <a:off x="6005513" y="4822825"/>
            <a:ext cx="1631950" cy="457200"/>
          </a:xfrm>
          <a:prstGeom prst="rect">
            <a:avLst/>
          </a:prstGeom>
          <a:noFill/>
          <a:ln w="9525">
            <a:noFill/>
          </a:ln>
        </p:spPr>
        <p:txBody>
          <a:bodyPr wrap="none" anchor="ctr" anchorCtr="0">
            <a:spAutoFit/>
          </a:bodyPr>
          <a:p>
            <a:pPr algn="ctr">
              <a:spcBef>
                <a:spcPct val="50000"/>
              </a:spcBef>
            </a:pPr>
            <a:r>
              <a:rPr lang="en-US" altLang="zh-CN" dirty="0">
                <a:solidFill>
                  <a:srgbClr val="FF0000"/>
                </a:solidFill>
                <a:latin typeface="Times New Roman" panose="02020503050405090304" pitchFamily="18" charset="0"/>
              </a:rPr>
              <a:t>(Grouping.)</a:t>
            </a:r>
            <a:endParaRPr lang="en-US" altLang="zh-CN" dirty="0">
              <a:solidFill>
                <a:srgbClr val="FF0000"/>
              </a:solidFill>
              <a:latin typeface="Times New Roman" panose="02020503050405090304" pitchFamily="18" charset="0"/>
            </a:endParaRPr>
          </a:p>
        </p:txBody>
      </p:sp>
      <p:sp>
        <p:nvSpPr>
          <p:cNvPr id="27656" name="Text Box 6"/>
          <p:cNvSpPr txBox="1"/>
          <p:nvPr/>
        </p:nvSpPr>
        <p:spPr>
          <a:xfrm>
            <a:off x="5692775" y="3756025"/>
            <a:ext cx="2214563" cy="457200"/>
          </a:xfrm>
          <a:prstGeom prst="rect">
            <a:avLst/>
          </a:prstGeom>
          <a:noFill/>
          <a:ln w="9525">
            <a:noFill/>
          </a:ln>
        </p:spPr>
        <p:txBody>
          <a:bodyPr wrap="none" anchor="ctr" anchorCtr="0">
            <a:spAutoFit/>
          </a:bodyPr>
          <a:p>
            <a:pPr algn="ctr">
              <a:spcBef>
                <a:spcPct val="50000"/>
              </a:spcBef>
            </a:pPr>
            <a:r>
              <a:rPr lang="en-US" altLang="zh-CN" dirty="0">
                <a:solidFill>
                  <a:srgbClr val="FF0000"/>
                </a:solidFill>
                <a:latin typeface="Times New Roman" panose="02020503050405090304" pitchFamily="18" charset="0"/>
              </a:rPr>
              <a:t>(Order reversal.)</a:t>
            </a:r>
            <a:endParaRPr lang="en-US" altLang="zh-CN" dirty="0">
              <a:solidFill>
                <a:srgbClr val="FF0000"/>
              </a:solidFill>
              <a:latin typeface="Times New Roman" panose="02020503050405090304" pitchFamily="18" charset="0"/>
            </a:endParaRPr>
          </a:p>
        </p:txBody>
      </p:sp>
      <p:sp>
        <p:nvSpPr>
          <p:cNvPr id="27657" name="Text Box 7"/>
          <p:cNvSpPr txBox="1"/>
          <p:nvPr/>
        </p:nvSpPr>
        <p:spPr>
          <a:xfrm>
            <a:off x="5745163" y="2994025"/>
            <a:ext cx="2281237" cy="457200"/>
          </a:xfrm>
          <a:prstGeom prst="rect">
            <a:avLst/>
          </a:prstGeom>
          <a:noFill/>
          <a:ln w="9525">
            <a:noFill/>
          </a:ln>
        </p:spPr>
        <p:txBody>
          <a:bodyPr wrap="none" anchor="ctr" anchorCtr="0">
            <a:spAutoFit/>
          </a:bodyPr>
          <a:p>
            <a:pPr algn="ctr">
              <a:spcBef>
                <a:spcPct val="50000"/>
              </a:spcBef>
            </a:pPr>
            <a:r>
              <a:rPr lang="en-US" altLang="zh-CN" dirty="0">
                <a:solidFill>
                  <a:srgbClr val="FF0000"/>
                </a:solidFill>
                <a:latin typeface="Times New Roman" panose="02020503050405090304" pitchFamily="18" charset="0"/>
              </a:rPr>
              <a:t>(Series splitting.)</a:t>
            </a:r>
            <a:endParaRPr lang="en-US" altLang="zh-CN" dirty="0">
              <a:solidFill>
                <a:srgbClr val="FF0000"/>
              </a:solidFill>
              <a:latin typeface="Times New Roman" panose="0202050305040509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867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8676" name="Rectangle 2"/>
          <p:cNvSpPr>
            <a:spLocks noGrp="1"/>
          </p:cNvSpPr>
          <p:nvPr>
            <p:ph type="title"/>
          </p:nvPr>
        </p:nvSpPr>
        <p:spPr>
          <a:xfrm>
            <a:off x="900430" y="46355"/>
            <a:ext cx="8243570" cy="1221105"/>
          </a:xfrm>
        </p:spPr>
        <p:txBody>
          <a:bodyPr vert="horz" wrap="square" lIns="91440" tIns="45720" rIns="91440" bIns="45720" anchor="b" anchorCtr="0"/>
          <a:p>
            <a:pPr eaLnBrk="1" hangingPunct="1"/>
            <a:r>
              <a:rPr lang="en-US" altLang="zh-CN" dirty="0"/>
              <a:t>Example: Impress Your Friends</a:t>
            </a:r>
            <a:endParaRPr lang="en-US" altLang="zh-CN" dirty="0"/>
          </a:p>
        </p:txBody>
      </p:sp>
      <p:sp>
        <p:nvSpPr>
          <p:cNvPr id="28677" name="Rectangle 3"/>
          <p:cNvSpPr>
            <a:spLocks noGrp="1"/>
          </p:cNvSpPr>
          <p:nvPr>
            <p:ph idx="1"/>
          </p:nvPr>
        </p:nvSpPr>
        <p:spPr/>
        <p:txBody>
          <a:bodyPr vert="horz" wrap="square" lIns="91440" tIns="45720" rIns="91440" bIns="45720" anchor="t" anchorCtr="0"/>
          <a:p>
            <a:pPr eaLnBrk="1" hangingPunct="1">
              <a:lnSpc>
                <a:spcPct val="90000"/>
              </a:lnSpc>
            </a:pPr>
            <a:r>
              <a:rPr lang="en-US" altLang="zh-CN" dirty="0"/>
              <a:t>Boast, “I’m so smart; give me any 2-digit number</a:t>
            </a:r>
            <a:r>
              <a:rPr lang="en-US" altLang="zh-CN" i="1" dirty="0"/>
              <a:t> n</a:t>
            </a:r>
            <a:r>
              <a:rPr lang="en-US" altLang="zh-CN" dirty="0"/>
              <a:t>, and I’ll add all the numbers from 1 to </a:t>
            </a:r>
            <a:r>
              <a:rPr lang="en-US" altLang="zh-CN" i="1" dirty="0"/>
              <a:t>n</a:t>
            </a:r>
            <a:r>
              <a:rPr lang="en-US" altLang="zh-CN" dirty="0"/>
              <a:t> in my head in just a few seconds.”</a:t>
            </a:r>
            <a:endParaRPr lang="en-US" altLang="zh-CN" dirty="0"/>
          </a:p>
          <a:p>
            <a:pPr eaLnBrk="1" hangingPunct="1">
              <a:lnSpc>
                <a:spcPct val="90000"/>
              </a:lnSpc>
            </a:pPr>
            <a:r>
              <a:rPr lang="en-US" altLang="zh-CN" i="1" dirty="0">
                <a:solidFill>
                  <a:schemeClr val="folHlink"/>
                </a:solidFill>
              </a:rPr>
              <a:t>I.e.</a:t>
            </a:r>
            <a:r>
              <a:rPr lang="en-US" altLang="zh-CN" dirty="0">
                <a:solidFill>
                  <a:schemeClr val="folHlink"/>
                </a:solidFill>
              </a:rPr>
              <a:t>, Evaluate the summation:</a:t>
            </a:r>
            <a:endParaRPr lang="en-US" altLang="zh-CN" dirty="0">
              <a:solidFill>
                <a:schemeClr val="folHlink"/>
              </a:solidFill>
            </a:endParaRPr>
          </a:p>
          <a:p>
            <a:pPr eaLnBrk="1" hangingPunct="1">
              <a:lnSpc>
                <a:spcPct val="90000"/>
              </a:lnSpc>
            </a:pPr>
            <a:endParaRPr lang="en-US" altLang="zh-CN" dirty="0">
              <a:solidFill>
                <a:schemeClr val="accent2"/>
              </a:solidFill>
            </a:endParaRPr>
          </a:p>
          <a:p>
            <a:pPr eaLnBrk="1" hangingPunct="1">
              <a:lnSpc>
                <a:spcPct val="90000"/>
              </a:lnSpc>
            </a:pPr>
            <a:r>
              <a:rPr lang="en-US" altLang="zh-CN" dirty="0"/>
              <a:t>There is a simple closed-form formula for the result, discovered by Euler at age 12!</a:t>
            </a:r>
            <a:endParaRPr lang="en-US" altLang="zh-CN" dirty="0"/>
          </a:p>
          <a:p>
            <a:pPr lvl="1" eaLnBrk="1" hangingPunct="1">
              <a:lnSpc>
                <a:spcPct val="90000"/>
              </a:lnSpc>
            </a:pPr>
            <a:r>
              <a:rPr lang="en-US" altLang="zh-CN" dirty="0">
                <a:solidFill>
                  <a:schemeClr val="folHlink"/>
                </a:solidFill>
              </a:rPr>
              <a:t>And frequently rediscovered by many… </a:t>
            </a:r>
            <a:endParaRPr lang="en-US" altLang="zh-CN" dirty="0">
              <a:solidFill>
                <a:schemeClr val="folHlink"/>
              </a:solidFill>
            </a:endParaRPr>
          </a:p>
        </p:txBody>
      </p:sp>
      <p:graphicFrame>
        <p:nvGraphicFramePr>
          <p:cNvPr id="28678" name="Object 4"/>
          <p:cNvGraphicFramePr>
            <a:graphicFrameLocks noChangeAspect="1"/>
          </p:cNvGraphicFramePr>
          <p:nvPr/>
        </p:nvGraphicFramePr>
        <p:xfrm>
          <a:off x="6454775" y="2630805"/>
          <a:ext cx="796925" cy="1295400"/>
        </p:xfrm>
        <a:graphic>
          <a:graphicData uri="http://schemas.openxmlformats.org/presentationml/2006/ole">
            <mc:AlternateContent xmlns:mc="http://schemas.openxmlformats.org/markup-compatibility/2006">
              <mc:Choice xmlns:v="urn:schemas-microsoft-com:vml" Requires="v">
                <p:oleObj spid="_x0000_s3087" name="" r:id="rId1" imgW="266700" imgH="431165" progId="Equation.3">
                  <p:embed/>
                </p:oleObj>
              </mc:Choice>
              <mc:Fallback>
                <p:oleObj name="" r:id="rId1" imgW="266700" imgH="431165" progId="Equation.3">
                  <p:embed/>
                  <p:pic>
                    <p:nvPicPr>
                      <p:cNvPr id="0" name="图片 3086"/>
                      <p:cNvPicPr/>
                      <p:nvPr/>
                    </p:nvPicPr>
                    <p:blipFill>
                      <a:blip r:embed="rId2"/>
                      <a:stretch>
                        <a:fillRect/>
                      </a:stretch>
                    </p:blipFill>
                    <p:spPr>
                      <a:xfrm>
                        <a:off x="6454775" y="2630805"/>
                        <a:ext cx="796925" cy="1295400"/>
                      </a:xfrm>
                      <a:prstGeom prst="rect">
                        <a:avLst/>
                      </a:prstGeom>
                      <a:noFill/>
                      <a:ln w="38100">
                        <a:noFill/>
                        <a:miter/>
                      </a:ln>
                    </p:spPr>
                  </p:pic>
                </p:oleObj>
              </mc:Fallback>
            </mc:AlternateContent>
          </a:graphicData>
        </a:graphic>
      </p:graphicFrame>
      <p:pic>
        <p:nvPicPr>
          <p:cNvPr id="28679" name="Picture 5" descr="euler"/>
          <p:cNvPicPr>
            <a:picLocks noChangeAspect="1"/>
          </p:cNvPicPr>
          <p:nvPr/>
        </p:nvPicPr>
        <p:blipFill>
          <a:blip r:embed="rId3"/>
          <a:stretch>
            <a:fillRect/>
          </a:stretch>
        </p:blipFill>
        <p:spPr>
          <a:xfrm>
            <a:off x="7816850" y="5114290"/>
            <a:ext cx="1327150" cy="1600200"/>
          </a:xfrm>
          <a:prstGeom prst="rect">
            <a:avLst/>
          </a:prstGeom>
          <a:noFill/>
          <a:ln w="9525">
            <a:noFill/>
          </a:ln>
        </p:spPr>
      </p:pic>
      <p:sp>
        <p:nvSpPr>
          <p:cNvPr id="28680" name="Text Box 6"/>
          <p:cNvSpPr txBox="1"/>
          <p:nvPr/>
        </p:nvSpPr>
        <p:spPr>
          <a:xfrm>
            <a:off x="6178550" y="5723890"/>
            <a:ext cx="1593850" cy="954088"/>
          </a:xfrm>
          <a:prstGeom prst="rect">
            <a:avLst/>
          </a:prstGeom>
          <a:solidFill>
            <a:srgbClr val="FFFFCC"/>
          </a:solidFill>
          <a:ln w="38100" cap="flat" cmpd="sng">
            <a:solidFill>
              <a:schemeClr val="tx1"/>
            </a:solidFill>
            <a:prstDash val="solid"/>
            <a:miter/>
            <a:headEnd type="none" w="med" len="med"/>
            <a:tailEnd type="none" w="med" len="med"/>
          </a:ln>
        </p:spPr>
        <p:txBody>
          <a:bodyPr>
            <a:spAutoFit/>
          </a:bodyPr>
          <a:p>
            <a:pPr algn="r"/>
            <a:r>
              <a:rPr lang="en-US" altLang="zh-CN" sz="1800" dirty="0">
                <a:latin typeface="Times New Roman" panose="02020503050405090304" pitchFamily="18" charset="0"/>
              </a:rPr>
              <a:t>Leonhard</a:t>
            </a:r>
            <a:br>
              <a:rPr lang="en-US" altLang="zh-CN" sz="1800" dirty="0">
                <a:latin typeface="Times New Roman" panose="02020503050405090304" pitchFamily="18" charset="0"/>
              </a:rPr>
            </a:br>
            <a:r>
              <a:rPr lang="en-US" altLang="zh-CN" sz="1800" dirty="0">
                <a:latin typeface="Times New Roman" panose="02020503050405090304" pitchFamily="18" charset="0"/>
              </a:rPr>
              <a:t>Euler</a:t>
            </a:r>
            <a:br>
              <a:rPr lang="en-US" altLang="zh-CN" sz="1800" dirty="0">
                <a:latin typeface="Times New Roman" panose="02020503050405090304" pitchFamily="18" charset="0"/>
              </a:rPr>
            </a:br>
            <a:r>
              <a:rPr lang="en-US" altLang="zh-CN" sz="1800" dirty="0">
                <a:latin typeface="Times New Roman" panose="02020503050405090304" pitchFamily="18" charset="0"/>
              </a:rPr>
              <a:t>(1707-1783)</a:t>
            </a:r>
            <a:endParaRPr lang="en-US" altLang="zh-CN" sz="1800" dirty="0">
              <a:latin typeface="Times New Roman" panose="0202050305040509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2969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29700" name="Rectangle 2"/>
          <p:cNvSpPr>
            <a:spLocks noGrp="1"/>
          </p:cNvSpPr>
          <p:nvPr>
            <p:ph type="title"/>
          </p:nvPr>
        </p:nvSpPr>
        <p:spPr>
          <a:xfrm>
            <a:off x="900430" y="46355"/>
            <a:ext cx="8295640" cy="1143000"/>
          </a:xfrm>
        </p:spPr>
        <p:txBody>
          <a:bodyPr vert="horz" wrap="square" lIns="91440" tIns="45720" rIns="91440" bIns="45720" anchor="b" anchorCtr="0"/>
          <a:p>
            <a:pPr eaLnBrk="1" hangingPunct="1"/>
            <a:r>
              <a:rPr lang="en-US" altLang="zh-CN" dirty="0"/>
              <a:t>Euler</a:t>
            </a:r>
            <a:r>
              <a:rPr lang="en-US" altLang="zh-CN" dirty="0">
                <a:latin typeface="Times New Roman" panose="02020503050405090304" pitchFamily="18" charset="0"/>
              </a:rPr>
              <a:t>’</a:t>
            </a:r>
            <a:r>
              <a:rPr lang="en-US" altLang="zh-CN" dirty="0"/>
              <a:t>s Trick, Illustrated</a:t>
            </a:r>
            <a:endParaRPr lang="en-US" altLang="zh-CN" dirty="0"/>
          </a:p>
        </p:txBody>
      </p:sp>
      <p:sp>
        <p:nvSpPr>
          <p:cNvPr id="29701" name="Rectangle 3"/>
          <p:cNvSpPr>
            <a:spLocks noGrp="1"/>
          </p:cNvSpPr>
          <p:nvPr>
            <p:ph idx="1"/>
          </p:nvPr>
        </p:nvSpPr>
        <p:spPr>
          <a:xfrm>
            <a:off x="687388" y="1978025"/>
            <a:ext cx="7772400" cy="4114800"/>
          </a:xfrm>
        </p:spPr>
        <p:txBody>
          <a:bodyPr vert="horz" wrap="square" lIns="91440" tIns="45720" rIns="91440" bIns="45720" anchor="t" anchorCtr="0"/>
          <a:p>
            <a:pPr eaLnBrk="1" hangingPunct="1"/>
            <a:r>
              <a:rPr lang="en-US" altLang="zh-CN" dirty="0"/>
              <a:t>Consider the sum:</a:t>
            </a:r>
            <a:br>
              <a:rPr lang="en-US" altLang="zh-CN" dirty="0"/>
            </a:br>
            <a:r>
              <a:rPr lang="en-US" altLang="zh-CN" dirty="0"/>
              <a:t>1+2+…+(</a:t>
            </a:r>
            <a:r>
              <a:rPr lang="en-US" altLang="zh-CN" i="1" dirty="0"/>
              <a:t>n</a:t>
            </a:r>
            <a:r>
              <a:rPr lang="en-US" altLang="zh-CN" dirty="0"/>
              <a:t>/2)+((</a:t>
            </a:r>
            <a:r>
              <a:rPr lang="en-US" altLang="zh-CN" i="1" dirty="0"/>
              <a:t>n</a:t>
            </a:r>
            <a:r>
              <a:rPr lang="en-US" altLang="zh-CN" dirty="0"/>
              <a:t>/2)+1)+…+(</a:t>
            </a:r>
            <a:r>
              <a:rPr lang="en-US" altLang="zh-CN" i="1" dirty="0"/>
              <a:t>n</a:t>
            </a:r>
            <a:r>
              <a:rPr lang="en-US" altLang="zh-CN" dirty="0"/>
              <a:t>-1)+</a:t>
            </a:r>
            <a:r>
              <a:rPr lang="en-US" altLang="zh-CN" i="1" dirty="0"/>
              <a:t>n</a:t>
            </a:r>
            <a:endParaRPr lang="en-US" altLang="zh-CN" i="1" dirty="0"/>
          </a:p>
          <a:p>
            <a:pPr eaLnBrk="1" hangingPunct="1"/>
            <a:endParaRPr lang="en-US" altLang="zh-CN" i="1" dirty="0"/>
          </a:p>
          <a:p>
            <a:pPr eaLnBrk="1" hangingPunct="1"/>
            <a:endParaRPr lang="en-US" altLang="zh-CN" i="1" dirty="0"/>
          </a:p>
          <a:p>
            <a:pPr eaLnBrk="1" hangingPunct="1"/>
            <a:endParaRPr lang="en-US" altLang="zh-CN" i="1" dirty="0"/>
          </a:p>
          <a:p>
            <a:pPr eaLnBrk="1" hangingPunct="1"/>
            <a:r>
              <a:rPr lang="en-US" altLang="zh-CN" dirty="0"/>
              <a:t>We have </a:t>
            </a:r>
            <a:r>
              <a:rPr lang="en-US" altLang="zh-CN" i="1" dirty="0">
                <a:solidFill>
                  <a:srgbClr val="FF0000"/>
                </a:solidFill>
              </a:rPr>
              <a:t>n</a:t>
            </a:r>
            <a:r>
              <a:rPr lang="en-US" altLang="zh-CN" dirty="0">
                <a:solidFill>
                  <a:srgbClr val="FF0000"/>
                </a:solidFill>
              </a:rPr>
              <a:t>/2</a:t>
            </a:r>
            <a:r>
              <a:rPr lang="en-US" altLang="zh-CN" dirty="0"/>
              <a:t> pairs of elements, each pair summing to </a:t>
            </a:r>
            <a:r>
              <a:rPr lang="en-US" altLang="zh-CN" i="1" dirty="0">
                <a:solidFill>
                  <a:srgbClr val="FF0000"/>
                </a:solidFill>
              </a:rPr>
              <a:t>n</a:t>
            </a:r>
            <a:r>
              <a:rPr lang="en-US" altLang="zh-CN" dirty="0">
                <a:solidFill>
                  <a:srgbClr val="FF0000"/>
                </a:solidFill>
              </a:rPr>
              <a:t>+1</a:t>
            </a:r>
            <a:r>
              <a:rPr lang="en-US" altLang="zh-CN" dirty="0"/>
              <a:t>, for a total of </a:t>
            </a:r>
            <a:r>
              <a:rPr lang="en-US" altLang="zh-CN" dirty="0">
                <a:solidFill>
                  <a:srgbClr val="FF0000"/>
                </a:solidFill>
              </a:rPr>
              <a:t>(</a:t>
            </a:r>
            <a:r>
              <a:rPr lang="en-US" altLang="zh-CN" i="1" dirty="0">
                <a:solidFill>
                  <a:srgbClr val="FF0000"/>
                </a:solidFill>
              </a:rPr>
              <a:t>n</a:t>
            </a:r>
            <a:r>
              <a:rPr lang="en-US" altLang="zh-CN" dirty="0">
                <a:solidFill>
                  <a:srgbClr val="FF0000"/>
                </a:solidFill>
              </a:rPr>
              <a:t>/2)(n+1)</a:t>
            </a:r>
            <a:r>
              <a:rPr lang="en-US" altLang="zh-CN" dirty="0"/>
              <a:t>.</a:t>
            </a:r>
            <a:endParaRPr lang="en-US" altLang="zh-CN" dirty="0"/>
          </a:p>
        </p:txBody>
      </p:sp>
      <p:sp>
        <p:nvSpPr>
          <p:cNvPr id="66564" name="Freeform 4"/>
          <p:cNvSpPr/>
          <p:nvPr/>
        </p:nvSpPr>
        <p:spPr>
          <a:xfrm>
            <a:off x="3124200" y="3124200"/>
            <a:ext cx="990600" cy="228600"/>
          </a:xfrm>
          <a:custGeom>
            <a:avLst/>
            <a:gdLst/>
            <a:ahLst/>
            <a:cxnLst>
              <a:cxn ang="0">
                <a:pos x="0" y="0"/>
              </a:cxn>
              <a:cxn ang="0">
                <a:pos x="417095" y="228600"/>
              </a:cxn>
              <a:cxn ang="0">
                <a:pos x="990600" y="0"/>
              </a:cxn>
            </a:cxnLst>
            <a:pathLst>
              <a:path w="912" h="192">
                <a:moveTo>
                  <a:pt x="0" y="0"/>
                </a:moveTo>
                <a:cubicBezTo>
                  <a:pt x="116" y="96"/>
                  <a:pt x="232" y="192"/>
                  <a:pt x="384" y="192"/>
                </a:cubicBezTo>
                <a:cubicBezTo>
                  <a:pt x="536" y="192"/>
                  <a:pt x="724" y="96"/>
                  <a:pt x="912" y="0"/>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66565" name="Freeform 5"/>
          <p:cNvSpPr/>
          <p:nvPr/>
        </p:nvSpPr>
        <p:spPr>
          <a:xfrm>
            <a:off x="1752600" y="3048000"/>
            <a:ext cx="4495800" cy="914400"/>
          </a:xfrm>
          <a:custGeom>
            <a:avLst/>
            <a:gdLst/>
            <a:ahLst/>
            <a:cxnLst>
              <a:cxn ang="0">
                <a:pos x="0" y="0"/>
              </a:cxn>
              <a:cxn ang="0">
                <a:pos x="1892968" y="914400"/>
              </a:cxn>
              <a:cxn ang="0">
                <a:pos x="4495800" y="0"/>
              </a:cxn>
            </a:cxnLst>
            <a:pathLst>
              <a:path w="912" h="192">
                <a:moveTo>
                  <a:pt x="0" y="0"/>
                </a:moveTo>
                <a:cubicBezTo>
                  <a:pt x="116" y="96"/>
                  <a:pt x="232" y="192"/>
                  <a:pt x="384" y="192"/>
                </a:cubicBezTo>
                <a:cubicBezTo>
                  <a:pt x="536" y="192"/>
                  <a:pt x="724" y="96"/>
                  <a:pt x="912" y="0"/>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66566" name="Freeform 6"/>
          <p:cNvSpPr/>
          <p:nvPr/>
        </p:nvSpPr>
        <p:spPr>
          <a:xfrm>
            <a:off x="1295400" y="3048000"/>
            <a:ext cx="5791200" cy="1143000"/>
          </a:xfrm>
          <a:custGeom>
            <a:avLst/>
            <a:gdLst/>
            <a:ahLst/>
            <a:cxnLst>
              <a:cxn ang="0">
                <a:pos x="0" y="0"/>
              </a:cxn>
              <a:cxn ang="0">
                <a:pos x="2438400" y="1143000"/>
              </a:cxn>
              <a:cxn ang="0">
                <a:pos x="5791200" y="0"/>
              </a:cxn>
            </a:cxnLst>
            <a:pathLst>
              <a:path w="912" h="192">
                <a:moveTo>
                  <a:pt x="0" y="0"/>
                </a:moveTo>
                <a:cubicBezTo>
                  <a:pt x="116" y="96"/>
                  <a:pt x="232" y="192"/>
                  <a:pt x="384" y="192"/>
                </a:cubicBezTo>
                <a:cubicBezTo>
                  <a:pt x="536" y="192"/>
                  <a:pt x="724" y="96"/>
                  <a:pt x="912" y="0"/>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66567" name="Text Box 7"/>
          <p:cNvSpPr txBox="1"/>
          <p:nvPr/>
        </p:nvSpPr>
        <p:spPr>
          <a:xfrm rot="5400000">
            <a:off x="3421063" y="3432175"/>
            <a:ext cx="590550" cy="579438"/>
          </a:xfrm>
          <a:prstGeom prst="rect">
            <a:avLst/>
          </a:prstGeom>
          <a:noFill/>
          <a:ln w="38100">
            <a:noFill/>
          </a:ln>
        </p:spPr>
        <p:txBody>
          <a:bodyPr wrap="none" anchor="ctr" anchorCtr="0">
            <a:spAutoFit/>
          </a:bodyPr>
          <a:p>
            <a:pPr algn="ctr"/>
            <a:r>
              <a:rPr lang="en-US" altLang="zh-CN" sz="3200" b="1" dirty="0">
                <a:solidFill>
                  <a:srgbClr val="006600"/>
                </a:solidFill>
                <a:latin typeface="Times New Roman" panose="02020503050405090304" pitchFamily="18" charset="0"/>
              </a:rPr>
              <a:t>…</a:t>
            </a:r>
            <a:endParaRPr lang="en-US" altLang="zh-CN" dirty="0">
              <a:solidFill>
                <a:srgbClr val="006600"/>
              </a:solidFill>
              <a:latin typeface="Times New Roman" panose="02020503050405090304" pitchFamily="18" charset="0"/>
            </a:endParaRPr>
          </a:p>
        </p:txBody>
      </p:sp>
      <p:sp>
        <p:nvSpPr>
          <p:cNvPr id="66568" name="Text Box 8"/>
          <p:cNvSpPr txBox="1"/>
          <p:nvPr/>
        </p:nvSpPr>
        <p:spPr>
          <a:xfrm>
            <a:off x="3429000" y="4114800"/>
            <a:ext cx="660400" cy="457200"/>
          </a:xfrm>
          <a:prstGeom prst="rect">
            <a:avLst/>
          </a:prstGeom>
          <a:noFill/>
          <a:ln w="9525">
            <a:noFill/>
          </a:ln>
        </p:spPr>
        <p:txBody>
          <a:bodyPr wrap="none" anchor="ctr" anchorCtr="0">
            <a:spAutoFit/>
          </a:bodyPr>
          <a:p>
            <a:pPr algn="ctr"/>
            <a:r>
              <a:rPr lang="en-US" altLang="zh-CN" i="1" dirty="0">
                <a:solidFill>
                  <a:srgbClr val="006600"/>
                </a:solidFill>
                <a:latin typeface="Times New Roman" panose="02020503050405090304" pitchFamily="18" charset="0"/>
              </a:rPr>
              <a:t>n</a:t>
            </a:r>
            <a:r>
              <a:rPr lang="en-US" altLang="zh-CN" dirty="0">
                <a:solidFill>
                  <a:srgbClr val="006600"/>
                </a:solidFill>
                <a:latin typeface="Times New Roman" panose="02020503050405090304" pitchFamily="18" charset="0"/>
              </a:rPr>
              <a:t>+1</a:t>
            </a:r>
            <a:endParaRPr lang="en-US" altLang="zh-CN" dirty="0">
              <a:solidFill>
                <a:srgbClr val="006600"/>
              </a:solidFill>
              <a:latin typeface="Times New Roman" panose="02020503050405090304" pitchFamily="18" charset="0"/>
            </a:endParaRPr>
          </a:p>
        </p:txBody>
      </p:sp>
      <p:sp>
        <p:nvSpPr>
          <p:cNvPr id="66569" name="Text Box 9"/>
          <p:cNvSpPr txBox="1"/>
          <p:nvPr/>
        </p:nvSpPr>
        <p:spPr>
          <a:xfrm>
            <a:off x="3429000" y="3810000"/>
            <a:ext cx="660400" cy="457200"/>
          </a:xfrm>
          <a:prstGeom prst="rect">
            <a:avLst/>
          </a:prstGeom>
          <a:noFill/>
          <a:ln w="38100">
            <a:noFill/>
          </a:ln>
        </p:spPr>
        <p:txBody>
          <a:bodyPr wrap="none" anchor="ctr" anchorCtr="0">
            <a:spAutoFit/>
          </a:bodyPr>
          <a:p>
            <a:pPr algn="ctr"/>
            <a:r>
              <a:rPr lang="en-US" altLang="zh-CN" i="1" dirty="0">
                <a:solidFill>
                  <a:srgbClr val="006600"/>
                </a:solidFill>
                <a:latin typeface="Times New Roman" panose="02020503050405090304" pitchFamily="18" charset="0"/>
              </a:rPr>
              <a:t>n</a:t>
            </a:r>
            <a:r>
              <a:rPr lang="en-US" altLang="zh-CN" dirty="0">
                <a:solidFill>
                  <a:srgbClr val="006600"/>
                </a:solidFill>
                <a:latin typeface="Times New Roman" panose="02020503050405090304" pitchFamily="18" charset="0"/>
              </a:rPr>
              <a:t>+1</a:t>
            </a:r>
            <a:endParaRPr lang="en-US" altLang="zh-CN" dirty="0">
              <a:solidFill>
                <a:srgbClr val="006600"/>
              </a:solidFill>
              <a:latin typeface="Times New Roman" panose="02020503050405090304" pitchFamily="18" charset="0"/>
            </a:endParaRPr>
          </a:p>
        </p:txBody>
      </p:sp>
      <p:sp>
        <p:nvSpPr>
          <p:cNvPr id="66570" name="Text Box 10"/>
          <p:cNvSpPr txBox="1"/>
          <p:nvPr/>
        </p:nvSpPr>
        <p:spPr>
          <a:xfrm>
            <a:off x="3352800" y="3200400"/>
            <a:ext cx="660400" cy="457200"/>
          </a:xfrm>
          <a:prstGeom prst="rect">
            <a:avLst/>
          </a:prstGeom>
          <a:noFill/>
          <a:ln w="38100">
            <a:noFill/>
          </a:ln>
        </p:spPr>
        <p:txBody>
          <a:bodyPr wrap="none" anchor="ctr" anchorCtr="0">
            <a:spAutoFit/>
          </a:bodyPr>
          <a:p>
            <a:pPr algn="ctr"/>
            <a:r>
              <a:rPr lang="en-US" altLang="zh-CN" i="1" dirty="0">
                <a:solidFill>
                  <a:srgbClr val="006600"/>
                </a:solidFill>
                <a:latin typeface="Times New Roman" panose="02020503050405090304" pitchFamily="18" charset="0"/>
              </a:rPr>
              <a:t>n</a:t>
            </a:r>
            <a:r>
              <a:rPr lang="en-US" altLang="zh-CN" dirty="0">
                <a:solidFill>
                  <a:srgbClr val="006600"/>
                </a:solidFill>
                <a:latin typeface="Times New Roman" panose="02020503050405090304" pitchFamily="18" charset="0"/>
              </a:rPr>
              <a:t>+1</a:t>
            </a:r>
            <a:endParaRPr lang="en-US" altLang="zh-CN" dirty="0">
              <a:solidFill>
                <a:srgbClr val="006600"/>
              </a:solidFill>
              <a:latin typeface="Times New Roman" panose="02020503050405090304" pitchFamily="18" charset="0"/>
            </a:endParaRPr>
          </a:p>
        </p:txBody>
      </p:sp>
      <p:sp>
        <p:nvSpPr>
          <p:cNvPr id="66571" name="Oval 11"/>
          <p:cNvSpPr/>
          <p:nvPr/>
        </p:nvSpPr>
        <p:spPr>
          <a:xfrm>
            <a:off x="1143000" y="2514600"/>
            <a:ext cx="228600" cy="5334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66572" name="Oval 12"/>
          <p:cNvSpPr/>
          <p:nvPr/>
        </p:nvSpPr>
        <p:spPr>
          <a:xfrm>
            <a:off x="7010400" y="2590800"/>
            <a:ext cx="304800" cy="5334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66573" name="Oval 13"/>
          <p:cNvSpPr/>
          <p:nvPr/>
        </p:nvSpPr>
        <p:spPr>
          <a:xfrm>
            <a:off x="1524000" y="2590800"/>
            <a:ext cx="304800" cy="5334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66574" name="Oval 14"/>
          <p:cNvSpPr/>
          <p:nvPr/>
        </p:nvSpPr>
        <p:spPr>
          <a:xfrm>
            <a:off x="6019800" y="2514600"/>
            <a:ext cx="838200" cy="6096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66575" name="Oval 15"/>
          <p:cNvSpPr/>
          <p:nvPr/>
        </p:nvSpPr>
        <p:spPr>
          <a:xfrm>
            <a:off x="2590800" y="2514600"/>
            <a:ext cx="914400" cy="6096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66576" name="Oval 16"/>
          <p:cNvSpPr/>
          <p:nvPr/>
        </p:nvSpPr>
        <p:spPr>
          <a:xfrm>
            <a:off x="3657600" y="2438400"/>
            <a:ext cx="1600200" cy="762000"/>
          </a:xfrm>
          <a:prstGeom prst="ellipse">
            <a:avLst/>
          </a:prstGeom>
          <a:noFill/>
          <a:ln w="38100" cap="flat" cmpd="sng">
            <a:solidFill>
              <a:srgbClr val="FF0000"/>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66571"/>
                                        </p:tgtEl>
                                        <p:attrNameLst>
                                          <p:attrName>style.visibility</p:attrName>
                                        </p:attrNameLst>
                                      </p:cBhvr>
                                      <p:to>
                                        <p:strVal val="visible"/>
                                      </p:to>
                                    </p:set>
                                    <p:anim calcmode="lin" valueType="num">
                                      <p:cBhvr>
                                        <p:cTn id="7" dur="500" fill="hold"/>
                                        <p:tgtEl>
                                          <p:spTgt spid="66571"/>
                                        </p:tgtEl>
                                        <p:attrNameLst>
                                          <p:attrName>ppt_w</p:attrName>
                                        </p:attrNameLst>
                                      </p:cBhvr>
                                      <p:tavLst>
                                        <p:tav tm="0">
                                          <p:val>
                                            <p:strVal val="4*#ppt_w"/>
                                          </p:val>
                                        </p:tav>
                                        <p:tav tm="100000">
                                          <p:val>
                                            <p:strVal val="#ppt_w"/>
                                          </p:val>
                                        </p:tav>
                                      </p:tavLst>
                                    </p:anim>
                                    <p:anim calcmode="lin" valueType="num">
                                      <p:cBhvr>
                                        <p:cTn id="8" dur="500" fill="hold"/>
                                        <p:tgtEl>
                                          <p:spTgt spid="66571"/>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66572"/>
                                        </p:tgtEl>
                                        <p:attrNameLst>
                                          <p:attrName>style.visibility</p:attrName>
                                        </p:attrNameLst>
                                      </p:cBhvr>
                                      <p:to>
                                        <p:strVal val="visible"/>
                                      </p:to>
                                    </p:set>
                                    <p:anim calcmode="lin" valueType="num">
                                      <p:cBhvr>
                                        <p:cTn id="13" dur="500" fill="hold"/>
                                        <p:tgtEl>
                                          <p:spTgt spid="66572"/>
                                        </p:tgtEl>
                                        <p:attrNameLst>
                                          <p:attrName>ppt_w</p:attrName>
                                        </p:attrNameLst>
                                      </p:cBhvr>
                                      <p:tavLst>
                                        <p:tav tm="0">
                                          <p:val>
                                            <p:strVal val="4*#ppt_w"/>
                                          </p:val>
                                        </p:tav>
                                        <p:tav tm="100000">
                                          <p:val>
                                            <p:strVal val="#ppt_w"/>
                                          </p:val>
                                        </p:tav>
                                      </p:tavLst>
                                    </p:anim>
                                    <p:anim calcmode="lin" valueType="num">
                                      <p:cBhvr>
                                        <p:cTn id="14" dur="500" fill="hold"/>
                                        <p:tgtEl>
                                          <p:spTgt spid="66572"/>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1"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6566"/>
                                        </p:tgtEl>
                                        <p:attrNameLst>
                                          <p:attrName>style.visibility</p:attrName>
                                        </p:attrNameLst>
                                      </p:cBhvr>
                                      <p:to>
                                        <p:strVal val="visible"/>
                                      </p:to>
                                    </p:set>
                                    <p:animEffect transition="in" filter="wipe(left)">
                                      <p:cBhvr>
                                        <p:cTn id="19" dur="500"/>
                                        <p:tgtEl>
                                          <p:spTgt spid="66566"/>
                                        </p:tgtEl>
                                      </p:cBhvr>
                                    </p:animEffect>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0" fill="hold">
                      <p:stCondLst>
                        <p:cond delay="indefinite"/>
                      </p:stCondLst>
                      <p:childTnLst>
                        <p:par>
                          <p:cTn id="21" fill="hold">
                            <p:stCondLst>
                              <p:cond delay="0"/>
                            </p:stCondLst>
                            <p:childTnLst>
                              <p:par>
                                <p:cTn id="22" presetID="23" presetClass="entr" presetSubtype="32" fill="hold" grpId="0" nodeType="clickEffect">
                                  <p:stCondLst>
                                    <p:cond delay="0"/>
                                  </p:stCondLst>
                                  <p:childTnLst>
                                    <p:set>
                                      <p:cBhvr>
                                        <p:cTn id="23" dur="1" fill="hold">
                                          <p:stCondLst>
                                            <p:cond delay="0"/>
                                          </p:stCondLst>
                                        </p:cTn>
                                        <p:tgtEl>
                                          <p:spTgt spid="66568"/>
                                        </p:tgtEl>
                                        <p:attrNameLst>
                                          <p:attrName>style.visibility</p:attrName>
                                        </p:attrNameLst>
                                      </p:cBhvr>
                                      <p:to>
                                        <p:strVal val="visible"/>
                                      </p:to>
                                    </p:set>
                                    <p:anim calcmode="lin" valueType="num">
                                      <p:cBhvr>
                                        <p:cTn id="24" dur="500" fill="hold"/>
                                        <p:tgtEl>
                                          <p:spTgt spid="66568"/>
                                        </p:tgtEl>
                                        <p:attrNameLst>
                                          <p:attrName>ppt_w</p:attrName>
                                        </p:attrNameLst>
                                      </p:cBhvr>
                                      <p:tavLst>
                                        <p:tav tm="0">
                                          <p:val>
                                            <p:strVal val="4*#ppt_w"/>
                                          </p:val>
                                        </p:tav>
                                        <p:tav tm="100000">
                                          <p:val>
                                            <p:strVal val="#ppt_w"/>
                                          </p:val>
                                        </p:tav>
                                      </p:tavLst>
                                    </p:anim>
                                    <p:anim calcmode="lin" valueType="num">
                                      <p:cBhvr>
                                        <p:cTn id="25" dur="500" fill="hold"/>
                                        <p:tgtEl>
                                          <p:spTgt spid="6656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3" name="CASHREG.WAV"/>
                                        </p:tgtEl>
                                      </p:cMediaNode>
                                    </p:audio>
                                  </p:subTnLst>
                                </p:cTn>
                              </p:par>
                            </p:childTnLst>
                          </p:cTn>
                        </p:par>
                      </p:childTnLst>
                    </p:cTn>
                  </p:par>
                  <p:par>
                    <p:cTn id="26" fill="hold">
                      <p:stCondLst>
                        <p:cond delay="indefinite"/>
                      </p:stCondLst>
                      <p:childTnLst>
                        <p:par>
                          <p:cTn id="27" fill="hold">
                            <p:stCondLst>
                              <p:cond delay="0"/>
                            </p:stCondLst>
                            <p:childTnLst>
                              <p:par>
                                <p:cTn id="28" presetID="23" presetClass="entr" presetSubtype="32" fill="hold" grpId="0" nodeType="clickEffect">
                                  <p:stCondLst>
                                    <p:cond delay="0"/>
                                  </p:stCondLst>
                                  <p:childTnLst>
                                    <p:set>
                                      <p:cBhvr>
                                        <p:cTn id="29" dur="1" fill="hold">
                                          <p:stCondLst>
                                            <p:cond delay="0"/>
                                          </p:stCondLst>
                                        </p:cTn>
                                        <p:tgtEl>
                                          <p:spTgt spid="66573"/>
                                        </p:tgtEl>
                                        <p:attrNameLst>
                                          <p:attrName>style.visibility</p:attrName>
                                        </p:attrNameLst>
                                      </p:cBhvr>
                                      <p:to>
                                        <p:strVal val="visible"/>
                                      </p:to>
                                    </p:set>
                                    <p:anim calcmode="lin" valueType="num">
                                      <p:cBhvr>
                                        <p:cTn id="30" dur="500" fill="hold"/>
                                        <p:tgtEl>
                                          <p:spTgt spid="66573"/>
                                        </p:tgtEl>
                                        <p:attrNameLst>
                                          <p:attrName>ppt_w</p:attrName>
                                        </p:attrNameLst>
                                      </p:cBhvr>
                                      <p:tavLst>
                                        <p:tav tm="0">
                                          <p:val>
                                            <p:strVal val="4*#ppt_w"/>
                                          </p:val>
                                        </p:tav>
                                        <p:tav tm="100000">
                                          <p:val>
                                            <p:strVal val="#ppt_w"/>
                                          </p:val>
                                        </p:tav>
                                      </p:tavLst>
                                    </p:anim>
                                    <p:anim calcmode="lin" valueType="num">
                                      <p:cBhvr>
                                        <p:cTn id="31" dur="500" fill="hold"/>
                                        <p:tgtEl>
                                          <p:spTgt spid="6657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1" name="PROJCTOR.WAV"/>
                                        </p:tgtEl>
                                      </p:cMediaNode>
                                    </p:audio>
                                  </p:subTnLst>
                                </p:cTn>
                              </p:par>
                            </p:childTnLst>
                          </p:cTn>
                        </p:par>
                      </p:childTnLst>
                    </p:cTn>
                  </p:par>
                  <p:par>
                    <p:cTn id="32" fill="hold">
                      <p:stCondLst>
                        <p:cond delay="indefinite"/>
                      </p:stCondLst>
                      <p:childTnLst>
                        <p:par>
                          <p:cTn id="33" fill="hold">
                            <p:stCondLst>
                              <p:cond delay="0"/>
                            </p:stCondLst>
                            <p:childTnLst>
                              <p:par>
                                <p:cTn id="34" presetID="23" presetClass="entr" presetSubtype="32" fill="hold" grpId="0" nodeType="clickEffect">
                                  <p:stCondLst>
                                    <p:cond delay="0"/>
                                  </p:stCondLst>
                                  <p:childTnLst>
                                    <p:set>
                                      <p:cBhvr>
                                        <p:cTn id="35" dur="1" fill="hold">
                                          <p:stCondLst>
                                            <p:cond delay="0"/>
                                          </p:stCondLst>
                                        </p:cTn>
                                        <p:tgtEl>
                                          <p:spTgt spid="66574"/>
                                        </p:tgtEl>
                                        <p:attrNameLst>
                                          <p:attrName>style.visibility</p:attrName>
                                        </p:attrNameLst>
                                      </p:cBhvr>
                                      <p:to>
                                        <p:strVal val="visible"/>
                                      </p:to>
                                    </p:set>
                                    <p:anim calcmode="lin" valueType="num">
                                      <p:cBhvr>
                                        <p:cTn id="36" dur="500" fill="hold"/>
                                        <p:tgtEl>
                                          <p:spTgt spid="66574"/>
                                        </p:tgtEl>
                                        <p:attrNameLst>
                                          <p:attrName>ppt_w</p:attrName>
                                        </p:attrNameLst>
                                      </p:cBhvr>
                                      <p:tavLst>
                                        <p:tav tm="0">
                                          <p:val>
                                            <p:strVal val="4*#ppt_w"/>
                                          </p:val>
                                        </p:tav>
                                        <p:tav tm="100000">
                                          <p:val>
                                            <p:strVal val="#ppt_w"/>
                                          </p:val>
                                        </p:tav>
                                      </p:tavLst>
                                    </p:anim>
                                    <p:anim calcmode="lin" valueType="num">
                                      <p:cBhvr>
                                        <p:cTn id="37" dur="500" fill="hold"/>
                                        <p:tgtEl>
                                          <p:spTgt spid="6657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1" name="PROJCTOR.WAV"/>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6565"/>
                                        </p:tgtEl>
                                        <p:attrNameLst>
                                          <p:attrName>style.visibility</p:attrName>
                                        </p:attrNameLst>
                                      </p:cBhvr>
                                      <p:to>
                                        <p:strVal val="visible"/>
                                      </p:to>
                                    </p:set>
                                    <p:animEffect transition="in" filter="wipe(left)">
                                      <p:cBhvr>
                                        <p:cTn id="42" dur="500"/>
                                        <p:tgtEl>
                                          <p:spTgt spid="66565"/>
                                        </p:tgtEl>
                                      </p:cBhvr>
                                    </p:animEffect>
                                  </p:childTnLst>
                                  <p:subTnLst>
                                    <p:audio>
                                      <p:cMediaNode>
                                        <p:cTn display="0" masterRel="sameClick">
                                          <p:stCondLst>
                                            <p:cond evt="begin" delay="0">
                                              <p:tn val="40"/>
                                            </p:cond>
                                          </p:stCondLst>
                                          <p:endCondLst>
                                            <p:cond evt="onStopAudio" delay="0">
                                              <p:tgtEl>
                                                <p:sldTgt/>
                                              </p:tgtEl>
                                            </p:cond>
                                          </p:endCondLst>
                                        </p:cTn>
                                        <p:tgtEl>
                                          <p:sndTgt r:embed="rId2"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3" presetClass="entr" presetSubtype="32" fill="hold" grpId="0" nodeType="clickEffect">
                                  <p:stCondLst>
                                    <p:cond delay="0"/>
                                  </p:stCondLst>
                                  <p:childTnLst>
                                    <p:set>
                                      <p:cBhvr>
                                        <p:cTn id="46" dur="1" fill="hold">
                                          <p:stCondLst>
                                            <p:cond delay="0"/>
                                          </p:stCondLst>
                                        </p:cTn>
                                        <p:tgtEl>
                                          <p:spTgt spid="66569"/>
                                        </p:tgtEl>
                                        <p:attrNameLst>
                                          <p:attrName>style.visibility</p:attrName>
                                        </p:attrNameLst>
                                      </p:cBhvr>
                                      <p:to>
                                        <p:strVal val="visible"/>
                                      </p:to>
                                    </p:set>
                                    <p:anim calcmode="lin" valueType="num">
                                      <p:cBhvr>
                                        <p:cTn id="47" dur="500" fill="hold"/>
                                        <p:tgtEl>
                                          <p:spTgt spid="66569"/>
                                        </p:tgtEl>
                                        <p:attrNameLst>
                                          <p:attrName>ppt_w</p:attrName>
                                        </p:attrNameLst>
                                      </p:cBhvr>
                                      <p:tavLst>
                                        <p:tav tm="0">
                                          <p:val>
                                            <p:strVal val="4*#ppt_w"/>
                                          </p:val>
                                        </p:tav>
                                        <p:tav tm="100000">
                                          <p:val>
                                            <p:strVal val="#ppt_w"/>
                                          </p:val>
                                        </p:tav>
                                      </p:tavLst>
                                    </p:anim>
                                    <p:anim calcmode="lin" valueType="num">
                                      <p:cBhvr>
                                        <p:cTn id="48" dur="500" fill="hold"/>
                                        <p:tgtEl>
                                          <p:spTgt spid="66569"/>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3" name="CASHREG.WAV"/>
                                        </p:tgtEl>
                                      </p:cMediaNode>
                                    </p:audio>
                                  </p:sub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66567"/>
                                        </p:tgtEl>
                                        <p:attrNameLst>
                                          <p:attrName>style.visibility</p:attrName>
                                        </p:attrNameLst>
                                      </p:cBhvr>
                                      <p:to>
                                        <p:strVal val="visible"/>
                                      </p:to>
                                    </p:set>
                                    <p:animEffect transition="in" filter="wipe(down)">
                                      <p:cBhvr>
                                        <p:cTn id="53" dur="500"/>
                                        <p:tgtEl>
                                          <p:spTgt spid="66567"/>
                                        </p:tgtEl>
                                      </p:cBhvr>
                                    </p:animEffect>
                                  </p:childTnLst>
                                  <p:subTnLs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childTnLst>
                    </p:cTn>
                  </p:par>
                  <p:par>
                    <p:cTn id="54" fill="hold">
                      <p:stCondLst>
                        <p:cond delay="indefinite"/>
                      </p:stCondLst>
                      <p:childTnLst>
                        <p:par>
                          <p:cTn id="55" fill="hold">
                            <p:stCondLst>
                              <p:cond delay="0"/>
                            </p:stCondLst>
                            <p:childTnLst>
                              <p:par>
                                <p:cTn id="56" presetID="23" presetClass="entr" presetSubtype="32" fill="hold" grpId="0" nodeType="clickEffect">
                                  <p:stCondLst>
                                    <p:cond delay="0"/>
                                  </p:stCondLst>
                                  <p:childTnLst>
                                    <p:set>
                                      <p:cBhvr>
                                        <p:cTn id="57" dur="1" fill="hold">
                                          <p:stCondLst>
                                            <p:cond delay="0"/>
                                          </p:stCondLst>
                                        </p:cTn>
                                        <p:tgtEl>
                                          <p:spTgt spid="66575"/>
                                        </p:tgtEl>
                                        <p:attrNameLst>
                                          <p:attrName>style.visibility</p:attrName>
                                        </p:attrNameLst>
                                      </p:cBhvr>
                                      <p:to>
                                        <p:strVal val="visible"/>
                                      </p:to>
                                    </p:set>
                                    <p:anim calcmode="lin" valueType="num">
                                      <p:cBhvr>
                                        <p:cTn id="58" dur="500" fill="hold"/>
                                        <p:tgtEl>
                                          <p:spTgt spid="66575"/>
                                        </p:tgtEl>
                                        <p:attrNameLst>
                                          <p:attrName>ppt_w</p:attrName>
                                        </p:attrNameLst>
                                      </p:cBhvr>
                                      <p:tavLst>
                                        <p:tav tm="0">
                                          <p:val>
                                            <p:strVal val="4*#ppt_w"/>
                                          </p:val>
                                        </p:tav>
                                        <p:tav tm="100000">
                                          <p:val>
                                            <p:strVal val="#ppt_w"/>
                                          </p:val>
                                        </p:tav>
                                      </p:tavLst>
                                    </p:anim>
                                    <p:anim calcmode="lin" valueType="num">
                                      <p:cBhvr>
                                        <p:cTn id="59" dur="500" fill="hold"/>
                                        <p:tgtEl>
                                          <p:spTgt spid="6657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1" name="PROJCTOR.WAV"/>
                                        </p:tgtEl>
                                      </p:cMediaNode>
                                    </p:audio>
                                  </p:subTnLst>
                                </p:cTn>
                              </p:par>
                            </p:childTnLst>
                          </p:cTn>
                        </p:par>
                      </p:childTnLst>
                    </p:cTn>
                  </p:par>
                  <p:par>
                    <p:cTn id="60" fill="hold">
                      <p:stCondLst>
                        <p:cond delay="indefinite"/>
                      </p:stCondLst>
                      <p:childTnLst>
                        <p:par>
                          <p:cTn id="61" fill="hold">
                            <p:stCondLst>
                              <p:cond delay="0"/>
                            </p:stCondLst>
                            <p:childTnLst>
                              <p:par>
                                <p:cTn id="62" presetID="23" presetClass="entr" presetSubtype="32" fill="hold" grpId="0" nodeType="clickEffect">
                                  <p:stCondLst>
                                    <p:cond delay="0"/>
                                  </p:stCondLst>
                                  <p:childTnLst>
                                    <p:set>
                                      <p:cBhvr>
                                        <p:cTn id="63" dur="1" fill="hold">
                                          <p:stCondLst>
                                            <p:cond delay="0"/>
                                          </p:stCondLst>
                                        </p:cTn>
                                        <p:tgtEl>
                                          <p:spTgt spid="66576"/>
                                        </p:tgtEl>
                                        <p:attrNameLst>
                                          <p:attrName>style.visibility</p:attrName>
                                        </p:attrNameLst>
                                      </p:cBhvr>
                                      <p:to>
                                        <p:strVal val="visible"/>
                                      </p:to>
                                    </p:set>
                                    <p:anim calcmode="lin" valueType="num">
                                      <p:cBhvr>
                                        <p:cTn id="64" dur="500" fill="hold"/>
                                        <p:tgtEl>
                                          <p:spTgt spid="66576"/>
                                        </p:tgtEl>
                                        <p:attrNameLst>
                                          <p:attrName>ppt_w</p:attrName>
                                        </p:attrNameLst>
                                      </p:cBhvr>
                                      <p:tavLst>
                                        <p:tav tm="0">
                                          <p:val>
                                            <p:strVal val="4*#ppt_w"/>
                                          </p:val>
                                        </p:tav>
                                        <p:tav tm="100000">
                                          <p:val>
                                            <p:strVal val="#ppt_w"/>
                                          </p:val>
                                        </p:tav>
                                      </p:tavLst>
                                    </p:anim>
                                    <p:anim calcmode="lin" valueType="num">
                                      <p:cBhvr>
                                        <p:cTn id="65" dur="500" fill="hold"/>
                                        <p:tgtEl>
                                          <p:spTgt spid="6657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1" name="PROJCTOR.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66564"/>
                                        </p:tgtEl>
                                        <p:attrNameLst>
                                          <p:attrName>style.visibility</p:attrName>
                                        </p:attrNameLst>
                                      </p:cBhvr>
                                      <p:to>
                                        <p:strVal val="visible"/>
                                      </p:to>
                                    </p:set>
                                    <p:animEffect transition="in" filter="wipe(left)">
                                      <p:cBhvr>
                                        <p:cTn id="70" dur="500"/>
                                        <p:tgtEl>
                                          <p:spTgt spid="66564"/>
                                        </p:tgtEl>
                                      </p:cBhvr>
                                    </p:animEffect>
                                  </p:childTnLst>
                                  <p:subTnLst>
                                    <p:audio>
                                      <p:cMediaNode>
                                        <p:cTn display="0" masterRel="sameClick">
                                          <p:stCondLst>
                                            <p:cond evt="begin" delay="0">
                                              <p:tn val="68"/>
                                            </p:cond>
                                          </p:stCondLst>
                                          <p:endCondLst>
                                            <p:cond evt="onStopAudio" delay="0">
                                              <p:tgtEl>
                                                <p:sldTgt/>
                                              </p:tgtEl>
                                            </p:cond>
                                          </p:endCondLst>
                                        </p:cTn>
                                        <p:tgtEl>
                                          <p:sndTgt r:embed="rId2" name="WHOOSH.WAV"/>
                                        </p:tgtEl>
                                      </p:cMediaNode>
                                    </p:audio>
                                  </p:subTnLst>
                                </p:cTn>
                              </p:par>
                            </p:childTnLst>
                          </p:cTn>
                        </p:par>
                      </p:childTnLst>
                    </p:cTn>
                  </p:par>
                  <p:par>
                    <p:cTn id="71" fill="hold">
                      <p:stCondLst>
                        <p:cond delay="indefinite"/>
                      </p:stCondLst>
                      <p:childTnLst>
                        <p:par>
                          <p:cTn id="72" fill="hold">
                            <p:stCondLst>
                              <p:cond delay="0"/>
                            </p:stCondLst>
                            <p:childTnLst>
                              <p:par>
                                <p:cTn id="73" presetID="23" presetClass="entr" presetSubtype="32" fill="hold" grpId="0" nodeType="clickEffect">
                                  <p:stCondLst>
                                    <p:cond delay="0"/>
                                  </p:stCondLst>
                                  <p:childTnLst>
                                    <p:set>
                                      <p:cBhvr>
                                        <p:cTn id="74" dur="1" fill="hold">
                                          <p:stCondLst>
                                            <p:cond delay="0"/>
                                          </p:stCondLst>
                                        </p:cTn>
                                        <p:tgtEl>
                                          <p:spTgt spid="66570"/>
                                        </p:tgtEl>
                                        <p:attrNameLst>
                                          <p:attrName>style.visibility</p:attrName>
                                        </p:attrNameLst>
                                      </p:cBhvr>
                                      <p:to>
                                        <p:strVal val="visible"/>
                                      </p:to>
                                    </p:set>
                                    <p:anim calcmode="lin" valueType="num">
                                      <p:cBhvr>
                                        <p:cTn id="75" dur="500" fill="hold"/>
                                        <p:tgtEl>
                                          <p:spTgt spid="66570"/>
                                        </p:tgtEl>
                                        <p:attrNameLst>
                                          <p:attrName>ppt_w</p:attrName>
                                        </p:attrNameLst>
                                      </p:cBhvr>
                                      <p:tavLst>
                                        <p:tav tm="0">
                                          <p:val>
                                            <p:strVal val="4*#ppt_w"/>
                                          </p:val>
                                        </p:tav>
                                        <p:tav tm="100000">
                                          <p:val>
                                            <p:strVal val="#ppt_w"/>
                                          </p:val>
                                        </p:tav>
                                      </p:tavLst>
                                    </p:anim>
                                    <p:anim calcmode="lin" valueType="num">
                                      <p:cBhvr>
                                        <p:cTn id="76" dur="500" fill="hold"/>
                                        <p:tgtEl>
                                          <p:spTgt spid="6657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3"/>
                                            </p:cond>
                                          </p:stCondLst>
                                          <p:endCondLst>
                                            <p:cond evt="onStopAudio" delay="0">
                                              <p:tgtEl>
                                                <p:sldTgt/>
                                              </p:tgtEl>
                                            </p:cond>
                                          </p:endCondLst>
                                        </p:cTn>
                                        <p:tgtEl>
                                          <p:sndTgt r:embed="rId3"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7" grpId="0"/>
      <p:bldP spid="66568" grpId="0"/>
      <p:bldP spid="66569" grpId="0"/>
      <p:bldP spid="66570" grpId="0"/>
      <p:bldP spid="66571" grpId="0" animBg="1"/>
      <p:bldP spid="66572" grpId="0" animBg="1"/>
      <p:bldP spid="66573" grpId="0" animBg="1"/>
      <p:bldP spid="66574" grpId="0" animBg="1"/>
      <p:bldP spid="66575" grpId="0" animBg="1"/>
      <p:bldP spid="6657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072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0724" name="Rectangle 2"/>
          <p:cNvSpPr>
            <a:spLocks noGrp="1"/>
          </p:cNvSpPr>
          <p:nvPr>
            <p:ph type="title"/>
          </p:nvPr>
        </p:nvSpPr>
        <p:spPr>
          <a:xfrm>
            <a:off x="900430" y="46355"/>
            <a:ext cx="8225790" cy="1143000"/>
          </a:xfrm>
        </p:spPr>
        <p:txBody>
          <a:bodyPr vert="horz" wrap="square" lIns="91440" tIns="45720" rIns="91440" bIns="45720" anchor="b" anchorCtr="0"/>
          <a:p>
            <a:pPr eaLnBrk="1" hangingPunct="1"/>
            <a:r>
              <a:rPr lang="en-US" altLang="zh-CN" sz="4000" dirty="0"/>
              <a:t>Symbolic Derivation of Trick</a:t>
            </a:r>
            <a:endParaRPr lang="en-US" altLang="zh-CN" sz="4000" dirty="0"/>
          </a:p>
        </p:txBody>
      </p:sp>
      <p:sp>
        <p:nvSpPr>
          <p:cNvPr id="30725" name="Rectangle 3"/>
          <p:cNvSpPr>
            <a:spLocks noGrp="1"/>
          </p:cNvSpPr>
          <p:nvPr>
            <p:ph idx="1"/>
          </p:nvPr>
        </p:nvSpPr>
        <p:spPr/>
        <p:txBody>
          <a:bodyPr vert="horz" wrap="square" lIns="91440" tIns="45720" rIns="91440" bIns="45720" anchor="t" anchorCtr="0"/>
          <a:p>
            <a:pPr eaLnBrk="1" hangingPunct="1">
              <a:buNone/>
            </a:pPr>
            <a:endParaRPr lang="en-US" altLang="zh-CN" dirty="0"/>
          </a:p>
          <a:p>
            <a:pPr eaLnBrk="1" hangingPunct="1"/>
            <a:endParaRPr lang="en-US" altLang="zh-CN" dirty="0"/>
          </a:p>
        </p:txBody>
      </p:sp>
      <p:graphicFrame>
        <p:nvGraphicFramePr>
          <p:cNvPr id="30726" name="Object 4"/>
          <p:cNvGraphicFramePr>
            <a:graphicFrameLocks noChangeAspect="1"/>
          </p:cNvGraphicFramePr>
          <p:nvPr/>
        </p:nvGraphicFramePr>
        <p:xfrm>
          <a:off x="914400" y="2057400"/>
          <a:ext cx="6858000" cy="3933825"/>
        </p:xfrm>
        <a:graphic>
          <a:graphicData uri="http://schemas.openxmlformats.org/presentationml/2006/ole">
            <mc:AlternateContent xmlns:mc="http://schemas.openxmlformats.org/markup-compatibility/2006">
              <mc:Choice xmlns:v="urn:schemas-microsoft-com:vml" Requires="v">
                <p:oleObj spid="_x0000_s3076" name="" r:id="rId1" imgW="3276600" imgH="1879600" progId="Equation.3">
                  <p:embed/>
                </p:oleObj>
              </mc:Choice>
              <mc:Fallback>
                <p:oleObj name="" r:id="rId1" imgW="3276600" imgH="1879600" progId="Equation.3">
                  <p:embed/>
                  <p:pic>
                    <p:nvPicPr>
                      <p:cNvPr id="0" name="图片 3075"/>
                      <p:cNvPicPr/>
                      <p:nvPr/>
                    </p:nvPicPr>
                    <p:blipFill>
                      <a:blip r:embed="rId2"/>
                      <a:stretch>
                        <a:fillRect/>
                      </a:stretch>
                    </p:blipFill>
                    <p:spPr>
                      <a:xfrm>
                        <a:off x="914400" y="2057400"/>
                        <a:ext cx="6858000" cy="3933825"/>
                      </a:xfrm>
                      <a:prstGeom prst="rect">
                        <a:avLst/>
                      </a:prstGeom>
                      <a:noFill/>
                      <a:ln w="38100">
                        <a:noFill/>
                        <a:miter/>
                      </a:ln>
                    </p:spPr>
                  </p:pic>
                </p:oleObj>
              </mc:Fallback>
            </mc:AlternateContent>
          </a:graphicData>
        </a:graphic>
      </p:graphicFrame>
      <p:grpSp>
        <p:nvGrpSpPr>
          <p:cNvPr id="2" name="Group 5"/>
          <p:cNvGrpSpPr/>
          <p:nvPr/>
        </p:nvGrpSpPr>
        <p:grpSpPr>
          <a:xfrm>
            <a:off x="990600" y="1981200"/>
            <a:ext cx="1066800" cy="381000"/>
            <a:chOff x="624" y="1248"/>
            <a:chExt cx="672" cy="240"/>
          </a:xfrm>
        </p:grpSpPr>
        <p:sp>
          <p:nvSpPr>
            <p:cNvPr id="30768" name="Oval 6"/>
            <p:cNvSpPr/>
            <p:nvPr/>
          </p:nvSpPr>
          <p:spPr>
            <a:xfrm>
              <a:off x="624" y="1344"/>
              <a:ext cx="144"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9" name="Oval 7"/>
            <p:cNvSpPr/>
            <p:nvPr/>
          </p:nvSpPr>
          <p:spPr>
            <a:xfrm>
              <a:off x="1104" y="1344"/>
              <a:ext cx="192"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70" name="Freeform 8"/>
            <p:cNvSpPr/>
            <p:nvPr/>
          </p:nvSpPr>
          <p:spPr>
            <a:xfrm>
              <a:off x="720" y="1248"/>
              <a:ext cx="432" cy="96"/>
            </a:xfrm>
            <a:custGeom>
              <a:avLst/>
              <a:gdLst/>
              <a:ahLst/>
              <a:cxnLst>
                <a:cxn ang="0">
                  <a:pos x="0" y="96"/>
                </a:cxn>
                <a:cxn ang="0">
                  <a:pos x="240" y="0"/>
                </a:cxn>
                <a:cxn ang="0">
                  <a:pos x="432" y="96"/>
                </a:cxn>
              </a:cxnLst>
              <a:pathLst>
                <a:path w="432" h="96">
                  <a:moveTo>
                    <a:pt x="0" y="96"/>
                  </a:moveTo>
                  <a:cubicBezTo>
                    <a:pt x="84" y="48"/>
                    <a:pt x="168" y="0"/>
                    <a:pt x="240" y="0"/>
                  </a:cubicBezTo>
                  <a:cubicBezTo>
                    <a:pt x="312" y="0"/>
                    <a:pt x="372" y="48"/>
                    <a:pt x="432" y="96"/>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3" name="Group 9"/>
          <p:cNvGrpSpPr/>
          <p:nvPr/>
        </p:nvGrpSpPr>
        <p:grpSpPr>
          <a:xfrm>
            <a:off x="1600200" y="1435100"/>
            <a:ext cx="2590800" cy="1765300"/>
            <a:chOff x="1008" y="904"/>
            <a:chExt cx="1632" cy="1112"/>
          </a:xfrm>
        </p:grpSpPr>
        <p:sp>
          <p:nvSpPr>
            <p:cNvPr id="30763" name="Oval 10"/>
            <p:cNvSpPr/>
            <p:nvPr/>
          </p:nvSpPr>
          <p:spPr>
            <a:xfrm>
              <a:off x="1536" y="1296"/>
              <a:ext cx="576" cy="57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4" name="Oval 11"/>
            <p:cNvSpPr/>
            <p:nvPr/>
          </p:nvSpPr>
          <p:spPr>
            <a:xfrm>
              <a:off x="1008" y="1296"/>
              <a:ext cx="432" cy="62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5" name="Oval 12"/>
            <p:cNvSpPr/>
            <p:nvPr/>
          </p:nvSpPr>
          <p:spPr>
            <a:xfrm>
              <a:off x="2208" y="1296"/>
              <a:ext cx="432" cy="72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6" name="Freeform 13"/>
            <p:cNvSpPr/>
            <p:nvPr/>
          </p:nvSpPr>
          <p:spPr>
            <a:xfrm>
              <a:off x="1296" y="1104"/>
              <a:ext cx="528" cy="192"/>
            </a:xfrm>
            <a:custGeom>
              <a:avLst/>
              <a:gdLst/>
              <a:ahLst/>
              <a:cxnLst>
                <a:cxn ang="0">
                  <a:pos x="0" y="192"/>
                </a:cxn>
                <a:cxn ang="0">
                  <a:pos x="288" y="0"/>
                </a:cxn>
                <a:cxn ang="0">
                  <a:pos x="528" y="192"/>
                </a:cxn>
              </a:cxnLst>
              <a:pathLst>
                <a:path w="528" h="192">
                  <a:moveTo>
                    <a:pt x="0" y="192"/>
                  </a:moveTo>
                  <a:cubicBezTo>
                    <a:pt x="100" y="96"/>
                    <a:pt x="200" y="0"/>
                    <a:pt x="288" y="0"/>
                  </a:cubicBezTo>
                  <a:cubicBezTo>
                    <a:pt x="376" y="0"/>
                    <a:pt x="452" y="96"/>
                    <a:pt x="528" y="192"/>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30767" name="Freeform 14"/>
            <p:cNvSpPr/>
            <p:nvPr/>
          </p:nvSpPr>
          <p:spPr>
            <a:xfrm>
              <a:off x="1296" y="904"/>
              <a:ext cx="1056" cy="392"/>
            </a:xfrm>
            <a:custGeom>
              <a:avLst/>
              <a:gdLst/>
              <a:ahLst/>
              <a:cxnLst>
                <a:cxn ang="0">
                  <a:pos x="0" y="392"/>
                </a:cxn>
                <a:cxn ang="0">
                  <a:pos x="288" y="56"/>
                </a:cxn>
                <a:cxn ang="0">
                  <a:pos x="816" y="56"/>
                </a:cxn>
                <a:cxn ang="0">
                  <a:pos x="1056" y="392"/>
                </a:cxn>
              </a:cxnLst>
              <a:pathLst>
                <a:path w="1056" h="392">
                  <a:moveTo>
                    <a:pt x="0" y="392"/>
                  </a:moveTo>
                  <a:cubicBezTo>
                    <a:pt x="76" y="252"/>
                    <a:pt x="152" y="112"/>
                    <a:pt x="288" y="56"/>
                  </a:cubicBezTo>
                  <a:cubicBezTo>
                    <a:pt x="424" y="0"/>
                    <a:pt x="688" y="0"/>
                    <a:pt x="816" y="56"/>
                  </a:cubicBezTo>
                  <a:cubicBezTo>
                    <a:pt x="944" y="112"/>
                    <a:pt x="1000" y="252"/>
                    <a:pt x="1056" y="392"/>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4" name="Group 15"/>
          <p:cNvGrpSpPr/>
          <p:nvPr/>
        </p:nvGrpSpPr>
        <p:grpSpPr>
          <a:xfrm>
            <a:off x="3733800" y="2057400"/>
            <a:ext cx="3581400" cy="914400"/>
            <a:chOff x="2352" y="1296"/>
            <a:chExt cx="2256" cy="576"/>
          </a:xfrm>
        </p:grpSpPr>
        <p:sp>
          <p:nvSpPr>
            <p:cNvPr id="30757" name="Oval 16"/>
            <p:cNvSpPr/>
            <p:nvPr/>
          </p:nvSpPr>
          <p:spPr>
            <a:xfrm>
              <a:off x="2352" y="1728"/>
              <a:ext cx="240"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8" name="Oval 17"/>
            <p:cNvSpPr/>
            <p:nvPr/>
          </p:nvSpPr>
          <p:spPr>
            <a:xfrm>
              <a:off x="2352" y="1344"/>
              <a:ext cx="144"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9" name="Oval 18"/>
            <p:cNvSpPr/>
            <p:nvPr/>
          </p:nvSpPr>
          <p:spPr>
            <a:xfrm>
              <a:off x="2496" y="1488"/>
              <a:ext cx="144"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0" name="Oval 19"/>
            <p:cNvSpPr/>
            <p:nvPr/>
          </p:nvSpPr>
          <p:spPr>
            <a:xfrm>
              <a:off x="3648" y="1728"/>
              <a:ext cx="144"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1" name="Oval 20"/>
            <p:cNvSpPr/>
            <p:nvPr/>
          </p:nvSpPr>
          <p:spPr>
            <a:xfrm>
              <a:off x="3504" y="1296"/>
              <a:ext cx="384"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62" name="Oval 21"/>
            <p:cNvSpPr/>
            <p:nvPr/>
          </p:nvSpPr>
          <p:spPr>
            <a:xfrm>
              <a:off x="3936" y="1440"/>
              <a:ext cx="672"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5" name="Group 22"/>
          <p:cNvGrpSpPr/>
          <p:nvPr/>
        </p:nvGrpSpPr>
        <p:grpSpPr>
          <a:xfrm>
            <a:off x="3429000" y="2286000"/>
            <a:ext cx="2895600" cy="1600200"/>
            <a:chOff x="2160" y="1440"/>
            <a:chExt cx="1824" cy="1008"/>
          </a:xfrm>
        </p:grpSpPr>
        <p:sp>
          <p:nvSpPr>
            <p:cNvPr id="30754" name="Oval 23"/>
            <p:cNvSpPr/>
            <p:nvPr/>
          </p:nvSpPr>
          <p:spPr>
            <a:xfrm>
              <a:off x="3792" y="1440"/>
              <a:ext cx="192"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5" name="Oval 24"/>
            <p:cNvSpPr/>
            <p:nvPr/>
          </p:nvSpPr>
          <p:spPr>
            <a:xfrm>
              <a:off x="2160" y="2016"/>
              <a:ext cx="1248" cy="43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6" name="Freeform 25"/>
            <p:cNvSpPr/>
            <p:nvPr/>
          </p:nvSpPr>
          <p:spPr>
            <a:xfrm>
              <a:off x="3120" y="1728"/>
              <a:ext cx="808" cy="288"/>
            </a:xfrm>
            <a:custGeom>
              <a:avLst/>
              <a:gdLst/>
              <a:ahLst/>
              <a:cxnLst>
                <a:cxn ang="0">
                  <a:pos x="768" y="0"/>
                </a:cxn>
                <a:cxn ang="0">
                  <a:pos x="720" y="240"/>
                </a:cxn>
                <a:cxn ang="0">
                  <a:pos x="240" y="192"/>
                </a:cxn>
                <a:cxn ang="0">
                  <a:pos x="0" y="288"/>
                </a:cxn>
              </a:cxnLst>
              <a:pathLst>
                <a:path w="808" h="288">
                  <a:moveTo>
                    <a:pt x="768" y="0"/>
                  </a:moveTo>
                  <a:cubicBezTo>
                    <a:pt x="788" y="104"/>
                    <a:pt x="808" y="208"/>
                    <a:pt x="720" y="240"/>
                  </a:cubicBezTo>
                  <a:cubicBezTo>
                    <a:pt x="632" y="272"/>
                    <a:pt x="360" y="184"/>
                    <a:pt x="240" y="192"/>
                  </a:cubicBezTo>
                  <a:cubicBezTo>
                    <a:pt x="120" y="200"/>
                    <a:pt x="60" y="244"/>
                    <a:pt x="0" y="28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6" name="Group 26"/>
          <p:cNvGrpSpPr/>
          <p:nvPr/>
        </p:nvGrpSpPr>
        <p:grpSpPr>
          <a:xfrm>
            <a:off x="3733800" y="3276600"/>
            <a:ext cx="2743200" cy="533400"/>
            <a:chOff x="2352" y="2064"/>
            <a:chExt cx="1728" cy="336"/>
          </a:xfrm>
        </p:grpSpPr>
        <p:sp>
          <p:nvSpPr>
            <p:cNvPr id="30752" name="Oval 27"/>
            <p:cNvSpPr/>
            <p:nvPr/>
          </p:nvSpPr>
          <p:spPr>
            <a:xfrm>
              <a:off x="2352" y="2064"/>
              <a:ext cx="720"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3" name="Oval 28"/>
            <p:cNvSpPr/>
            <p:nvPr/>
          </p:nvSpPr>
          <p:spPr>
            <a:xfrm>
              <a:off x="3504" y="2064"/>
              <a:ext cx="576"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7" name="Group 29"/>
          <p:cNvGrpSpPr/>
          <p:nvPr/>
        </p:nvGrpSpPr>
        <p:grpSpPr>
          <a:xfrm>
            <a:off x="2743200" y="4038600"/>
            <a:ext cx="4343400" cy="914400"/>
            <a:chOff x="1728" y="2544"/>
            <a:chExt cx="2736" cy="576"/>
          </a:xfrm>
        </p:grpSpPr>
        <p:sp>
          <p:nvSpPr>
            <p:cNvPr id="30746" name="Oval 30"/>
            <p:cNvSpPr/>
            <p:nvPr/>
          </p:nvSpPr>
          <p:spPr>
            <a:xfrm>
              <a:off x="1728" y="2544"/>
              <a:ext cx="480"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7" name="Oval 31"/>
            <p:cNvSpPr/>
            <p:nvPr/>
          </p:nvSpPr>
          <p:spPr>
            <a:xfrm>
              <a:off x="1968" y="2976"/>
              <a:ext cx="144"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8" name="Oval 32"/>
            <p:cNvSpPr/>
            <p:nvPr/>
          </p:nvSpPr>
          <p:spPr>
            <a:xfrm>
              <a:off x="2400" y="2736"/>
              <a:ext cx="144"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9" name="Oval 33"/>
            <p:cNvSpPr/>
            <p:nvPr/>
          </p:nvSpPr>
          <p:spPr>
            <a:xfrm>
              <a:off x="3408" y="2592"/>
              <a:ext cx="288"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0" name="Oval 34"/>
            <p:cNvSpPr/>
            <p:nvPr/>
          </p:nvSpPr>
          <p:spPr>
            <a:xfrm>
              <a:off x="3552" y="2976"/>
              <a:ext cx="96"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51" name="Oval 35"/>
            <p:cNvSpPr/>
            <p:nvPr/>
          </p:nvSpPr>
          <p:spPr>
            <a:xfrm>
              <a:off x="4032" y="2736"/>
              <a:ext cx="432"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8" name="Group 36"/>
          <p:cNvGrpSpPr/>
          <p:nvPr/>
        </p:nvGrpSpPr>
        <p:grpSpPr>
          <a:xfrm>
            <a:off x="3124200" y="4343400"/>
            <a:ext cx="4038600" cy="1447800"/>
            <a:chOff x="1968" y="2736"/>
            <a:chExt cx="2544" cy="912"/>
          </a:xfrm>
        </p:grpSpPr>
        <p:sp>
          <p:nvSpPr>
            <p:cNvPr id="30743" name="Oval 37"/>
            <p:cNvSpPr/>
            <p:nvPr/>
          </p:nvSpPr>
          <p:spPr>
            <a:xfrm>
              <a:off x="3696" y="2736"/>
              <a:ext cx="816"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4" name="Oval 38"/>
            <p:cNvSpPr/>
            <p:nvPr/>
          </p:nvSpPr>
          <p:spPr>
            <a:xfrm>
              <a:off x="1968" y="3312"/>
              <a:ext cx="768"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5" name="Freeform 39"/>
            <p:cNvSpPr/>
            <p:nvPr/>
          </p:nvSpPr>
          <p:spPr>
            <a:xfrm>
              <a:off x="2544" y="2976"/>
              <a:ext cx="1392" cy="336"/>
            </a:xfrm>
            <a:custGeom>
              <a:avLst/>
              <a:gdLst/>
              <a:ahLst/>
              <a:cxnLst>
                <a:cxn ang="0">
                  <a:pos x="1392" y="0"/>
                </a:cxn>
                <a:cxn ang="0">
                  <a:pos x="1152" y="192"/>
                </a:cxn>
                <a:cxn ang="0">
                  <a:pos x="768" y="144"/>
                </a:cxn>
                <a:cxn ang="0">
                  <a:pos x="192" y="240"/>
                </a:cxn>
                <a:cxn ang="0">
                  <a:pos x="0" y="336"/>
                </a:cxn>
              </a:cxnLst>
              <a:pathLst>
                <a:path w="1392" h="336">
                  <a:moveTo>
                    <a:pt x="1392" y="0"/>
                  </a:moveTo>
                  <a:cubicBezTo>
                    <a:pt x="1324" y="84"/>
                    <a:pt x="1256" y="168"/>
                    <a:pt x="1152" y="192"/>
                  </a:cubicBezTo>
                  <a:cubicBezTo>
                    <a:pt x="1048" y="216"/>
                    <a:pt x="928" y="136"/>
                    <a:pt x="768" y="144"/>
                  </a:cubicBezTo>
                  <a:cubicBezTo>
                    <a:pt x="608" y="152"/>
                    <a:pt x="320" y="208"/>
                    <a:pt x="192" y="240"/>
                  </a:cubicBezTo>
                  <a:cubicBezTo>
                    <a:pt x="64" y="272"/>
                    <a:pt x="32" y="304"/>
                    <a:pt x="0" y="336"/>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9" name="Group 40"/>
          <p:cNvGrpSpPr/>
          <p:nvPr/>
        </p:nvGrpSpPr>
        <p:grpSpPr>
          <a:xfrm>
            <a:off x="2743200" y="5003800"/>
            <a:ext cx="3276600" cy="330200"/>
            <a:chOff x="1728" y="3152"/>
            <a:chExt cx="2064" cy="208"/>
          </a:xfrm>
        </p:grpSpPr>
        <p:sp>
          <p:nvSpPr>
            <p:cNvPr id="30740" name="Oval 41"/>
            <p:cNvSpPr/>
            <p:nvPr/>
          </p:nvSpPr>
          <p:spPr>
            <a:xfrm>
              <a:off x="1728" y="3216"/>
              <a:ext cx="288"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1" name="Oval 42"/>
            <p:cNvSpPr/>
            <p:nvPr/>
          </p:nvSpPr>
          <p:spPr>
            <a:xfrm>
              <a:off x="3600" y="3216"/>
              <a:ext cx="192"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42" name="Freeform 43"/>
            <p:cNvSpPr/>
            <p:nvPr/>
          </p:nvSpPr>
          <p:spPr>
            <a:xfrm>
              <a:off x="1968" y="3152"/>
              <a:ext cx="1680" cy="112"/>
            </a:xfrm>
            <a:custGeom>
              <a:avLst/>
              <a:gdLst/>
              <a:ahLst/>
              <a:cxnLst>
                <a:cxn ang="0">
                  <a:pos x="0" y="112"/>
                </a:cxn>
                <a:cxn ang="0">
                  <a:pos x="432" y="16"/>
                </a:cxn>
                <a:cxn ang="0">
                  <a:pos x="1440" y="16"/>
                </a:cxn>
                <a:cxn ang="0">
                  <a:pos x="1680" y="64"/>
                </a:cxn>
              </a:cxnLst>
              <a:pathLst>
                <a:path w="1680" h="112">
                  <a:moveTo>
                    <a:pt x="0" y="112"/>
                  </a:moveTo>
                  <a:cubicBezTo>
                    <a:pt x="96" y="72"/>
                    <a:pt x="192" y="32"/>
                    <a:pt x="432" y="16"/>
                  </a:cubicBezTo>
                  <a:cubicBezTo>
                    <a:pt x="672" y="0"/>
                    <a:pt x="1232" y="8"/>
                    <a:pt x="1440" y="16"/>
                  </a:cubicBezTo>
                  <a:cubicBezTo>
                    <a:pt x="1648" y="24"/>
                    <a:pt x="1664" y="44"/>
                    <a:pt x="1680" y="64"/>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10" name="Group 44"/>
          <p:cNvGrpSpPr/>
          <p:nvPr/>
        </p:nvGrpSpPr>
        <p:grpSpPr>
          <a:xfrm>
            <a:off x="3276600" y="3124200"/>
            <a:ext cx="3352800" cy="1676400"/>
            <a:chOff x="2064" y="1968"/>
            <a:chExt cx="2112" cy="1056"/>
          </a:xfrm>
        </p:grpSpPr>
        <p:sp>
          <p:nvSpPr>
            <p:cNvPr id="30737" name="Oval 45"/>
            <p:cNvSpPr/>
            <p:nvPr/>
          </p:nvSpPr>
          <p:spPr>
            <a:xfrm>
              <a:off x="2064" y="2688"/>
              <a:ext cx="576"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38" name="Oval 46"/>
            <p:cNvSpPr/>
            <p:nvPr/>
          </p:nvSpPr>
          <p:spPr>
            <a:xfrm>
              <a:off x="2064" y="1968"/>
              <a:ext cx="2112" cy="52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0739" name="Line 47"/>
            <p:cNvSpPr/>
            <p:nvPr/>
          </p:nvSpPr>
          <p:spPr>
            <a:xfrm flipH="1">
              <a:off x="2544" y="2496"/>
              <a:ext cx="96" cy="240"/>
            </a:xfrm>
            <a:prstGeom prst="line">
              <a:avLst/>
            </a:prstGeom>
            <a:ln w="38100" cap="flat" cmpd="sng">
              <a:solidFill>
                <a:srgbClr val="FF0000">
                  <a:alpha val="50195"/>
                </a:srgbClr>
              </a:solidFill>
              <a:prstDash val="solid"/>
              <a:headEnd type="none" w="med" len="med"/>
              <a:tailEnd type="stealth" w="med" len="med"/>
            </a:ln>
          </p:spPr>
        </p:sp>
      </p:grpSp>
      <p:sp>
        <p:nvSpPr>
          <p:cNvPr id="30736" name="Text Box 48"/>
          <p:cNvSpPr txBox="1"/>
          <p:nvPr/>
        </p:nvSpPr>
        <p:spPr>
          <a:xfrm>
            <a:off x="4632325" y="1524000"/>
            <a:ext cx="3530600" cy="495300"/>
          </a:xfrm>
          <a:prstGeom prst="rect">
            <a:avLst/>
          </a:prstGeom>
          <a:solidFill>
            <a:srgbClr val="FFFFCC"/>
          </a:solidFill>
          <a:ln w="38100" cap="flat" cmpd="sng">
            <a:solidFill>
              <a:schemeClr val="tx1"/>
            </a:solidFill>
            <a:prstDash val="solid"/>
            <a:miter/>
            <a:headEnd type="none" w="med" len="med"/>
            <a:tailEnd type="none" w="med" len="med"/>
          </a:ln>
        </p:spPr>
        <p:txBody>
          <a:bodyPr wrap="none">
            <a:spAutoFit/>
          </a:bodyPr>
          <a:p>
            <a:r>
              <a:rPr lang="en-US" altLang="zh-CN" dirty="0">
                <a:solidFill>
                  <a:srgbClr val="006600"/>
                </a:solidFill>
                <a:latin typeface="Times New Roman" panose="02020503050405090304" pitchFamily="18" charset="0"/>
              </a:rPr>
              <a:t>For case where </a:t>
            </a:r>
            <a:r>
              <a:rPr lang="en-US" altLang="zh-CN" i="1" dirty="0">
                <a:solidFill>
                  <a:srgbClr val="006600"/>
                </a:solidFill>
                <a:latin typeface="Times New Roman" panose="02020503050405090304" pitchFamily="18" charset="0"/>
              </a:rPr>
              <a:t>n</a:t>
            </a:r>
            <a:r>
              <a:rPr lang="en-US" altLang="zh-CN" dirty="0">
                <a:solidFill>
                  <a:srgbClr val="006600"/>
                </a:solidFill>
                <a:latin typeface="Times New Roman" panose="02020503050405090304" pitchFamily="18" charset="0"/>
              </a:rPr>
              <a:t> is even…</a:t>
            </a:r>
            <a:endParaRPr lang="en-US" altLang="zh-CN" dirty="0">
              <a:solidFill>
                <a:srgbClr val="006600"/>
              </a:solidFill>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9"/>
                                        </p:tgtEl>
                                        <p:attrNameLst>
                                          <p:attrName>style.visibility</p:attrName>
                                        </p:attrNameLst>
                                      </p:cBhvr>
                                      <p:to>
                                        <p:strVal val="visible"/>
                                      </p:to>
                                    </p:se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1747"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1748" name="Rectangle 2"/>
          <p:cNvSpPr>
            <a:spLocks noGrp="1"/>
          </p:cNvSpPr>
          <p:nvPr>
            <p:ph type="title"/>
          </p:nvPr>
        </p:nvSpPr>
        <p:spPr>
          <a:xfrm>
            <a:off x="900430" y="46355"/>
            <a:ext cx="8197850" cy="1143000"/>
          </a:xfrm>
        </p:spPr>
        <p:txBody>
          <a:bodyPr vert="horz" wrap="square" lIns="91440" tIns="45720" rIns="91440" bIns="45720" anchor="b" anchorCtr="0"/>
          <a:p>
            <a:pPr eaLnBrk="1" hangingPunct="1"/>
            <a:r>
              <a:rPr lang="en-US" altLang="zh-CN" sz="3600" dirty="0"/>
              <a:t>Concluding Euler</a:t>
            </a:r>
            <a:r>
              <a:rPr lang="en-US" altLang="zh-CN" sz="3600" dirty="0">
                <a:latin typeface="Times New Roman" panose="02020503050405090304" pitchFamily="18" charset="0"/>
              </a:rPr>
              <a:t>’</a:t>
            </a:r>
            <a:r>
              <a:rPr lang="en-US" altLang="zh-CN" sz="3600" dirty="0"/>
              <a:t>s Derivation</a:t>
            </a:r>
            <a:endParaRPr lang="en-US" altLang="zh-CN" sz="3600" dirty="0"/>
          </a:p>
        </p:txBody>
      </p:sp>
      <p:sp>
        <p:nvSpPr>
          <p:cNvPr id="31749" name="Rectangle 3"/>
          <p:cNvSpPr>
            <a:spLocks noGrp="1"/>
          </p:cNvSpPr>
          <p:nvPr>
            <p:ph idx="1"/>
          </p:nvPr>
        </p:nvSpPr>
        <p:spPr/>
        <p:txBody>
          <a:bodyPr vert="horz" wrap="square" lIns="91440" tIns="45720" rIns="91440" bIns="45720" anchor="t" anchorCtr="0"/>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r>
              <a:rPr lang="en-US" altLang="zh-CN" dirty="0">
                <a:solidFill>
                  <a:schemeClr val="hlink"/>
                </a:solidFill>
              </a:rPr>
              <a:t>So, you only have to do 1 easy multiplication in your head, then cut in half.</a:t>
            </a:r>
            <a:endParaRPr lang="en-US" altLang="zh-CN" dirty="0">
              <a:solidFill>
                <a:schemeClr val="hlink"/>
              </a:solidFill>
            </a:endParaRPr>
          </a:p>
          <a:p>
            <a:pPr eaLnBrk="1" hangingPunct="1"/>
            <a:r>
              <a:rPr lang="en-US" altLang="zh-CN" dirty="0"/>
              <a:t>Also works for odd </a:t>
            </a:r>
            <a:r>
              <a:rPr lang="en-US" altLang="zh-CN" i="1" dirty="0"/>
              <a:t>n</a:t>
            </a:r>
            <a:r>
              <a:rPr lang="en-US" altLang="zh-CN" dirty="0"/>
              <a:t> (prove this at home).</a:t>
            </a:r>
            <a:endParaRPr lang="en-US" altLang="zh-CN" dirty="0"/>
          </a:p>
        </p:txBody>
      </p:sp>
      <p:graphicFrame>
        <p:nvGraphicFramePr>
          <p:cNvPr id="31750" name="Object 4"/>
          <p:cNvGraphicFramePr>
            <a:graphicFrameLocks noChangeAspect="1"/>
          </p:cNvGraphicFramePr>
          <p:nvPr/>
        </p:nvGraphicFramePr>
        <p:xfrm>
          <a:off x="973455" y="1416050"/>
          <a:ext cx="5435600" cy="2271713"/>
        </p:xfrm>
        <a:graphic>
          <a:graphicData uri="http://schemas.openxmlformats.org/presentationml/2006/ole">
            <mc:AlternateContent xmlns:mc="http://schemas.openxmlformats.org/markup-compatibility/2006">
              <mc:Choice xmlns:v="urn:schemas-microsoft-com:vml" Requires="v">
                <p:oleObj spid="_x0000_s3077" name="" r:id="rId1" imgW="2705100" imgH="1130300" progId="Equation.3">
                  <p:embed/>
                </p:oleObj>
              </mc:Choice>
              <mc:Fallback>
                <p:oleObj name="" r:id="rId1" imgW="2705100" imgH="1130300" progId="Equation.3">
                  <p:embed/>
                  <p:pic>
                    <p:nvPicPr>
                      <p:cNvPr id="0" name="图片 3076"/>
                      <p:cNvPicPr/>
                      <p:nvPr/>
                    </p:nvPicPr>
                    <p:blipFill>
                      <a:blip r:embed="rId2"/>
                      <a:stretch>
                        <a:fillRect/>
                      </a:stretch>
                    </p:blipFill>
                    <p:spPr>
                      <a:xfrm>
                        <a:off x="973455" y="1416050"/>
                        <a:ext cx="5435600" cy="2271713"/>
                      </a:xfrm>
                      <a:prstGeom prst="rect">
                        <a:avLst/>
                      </a:prstGeom>
                      <a:noFill/>
                      <a:ln w="38100">
                        <a:noFill/>
                        <a:miter/>
                      </a:ln>
                    </p:spPr>
                  </p:pic>
                </p:oleObj>
              </mc:Fallback>
            </mc:AlternateContent>
          </a:graphicData>
        </a:graphic>
      </p:graphicFrame>
      <p:grpSp>
        <p:nvGrpSpPr>
          <p:cNvPr id="2" name="Group 5"/>
          <p:cNvGrpSpPr/>
          <p:nvPr/>
        </p:nvGrpSpPr>
        <p:grpSpPr>
          <a:xfrm>
            <a:off x="2205355" y="1123950"/>
            <a:ext cx="4267200" cy="977900"/>
            <a:chOff x="1344" y="1160"/>
            <a:chExt cx="2688" cy="616"/>
          </a:xfrm>
        </p:grpSpPr>
        <p:sp>
          <p:nvSpPr>
            <p:cNvPr id="31769" name="Oval 6"/>
            <p:cNvSpPr/>
            <p:nvPr/>
          </p:nvSpPr>
          <p:spPr>
            <a:xfrm>
              <a:off x="1344" y="1488"/>
              <a:ext cx="144"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70" name="Oval 7"/>
            <p:cNvSpPr/>
            <p:nvPr/>
          </p:nvSpPr>
          <p:spPr>
            <a:xfrm>
              <a:off x="1920" y="1488"/>
              <a:ext cx="720"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71" name="Oval 8"/>
            <p:cNvSpPr/>
            <p:nvPr/>
          </p:nvSpPr>
          <p:spPr>
            <a:xfrm>
              <a:off x="3024" y="1488"/>
              <a:ext cx="1008"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72" name="Freeform 9"/>
            <p:cNvSpPr/>
            <p:nvPr/>
          </p:nvSpPr>
          <p:spPr>
            <a:xfrm>
              <a:off x="2544" y="1368"/>
              <a:ext cx="672" cy="168"/>
            </a:xfrm>
            <a:custGeom>
              <a:avLst/>
              <a:gdLst/>
              <a:ahLst/>
              <a:cxnLst>
                <a:cxn ang="0">
                  <a:pos x="0" y="168"/>
                </a:cxn>
                <a:cxn ang="0">
                  <a:pos x="192" y="24"/>
                </a:cxn>
                <a:cxn ang="0">
                  <a:pos x="528" y="24"/>
                </a:cxn>
                <a:cxn ang="0">
                  <a:pos x="672" y="120"/>
                </a:cxn>
              </a:cxnLst>
              <a:pathLst>
                <a:path w="672" h="168">
                  <a:moveTo>
                    <a:pt x="0" y="168"/>
                  </a:moveTo>
                  <a:cubicBezTo>
                    <a:pt x="52" y="108"/>
                    <a:pt x="104" y="48"/>
                    <a:pt x="192" y="24"/>
                  </a:cubicBezTo>
                  <a:cubicBezTo>
                    <a:pt x="280" y="0"/>
                    <a:pt x="448" y="8"/>
                    <a:pt x="528" y="24"/>
                  </a:cubicBezTo>
                  <a:cubicBezTo>
                    <a:pt x="608" y="40"/>
                    <a:pt x="640" y="80"/>
                    <a:pt x="672" y="120"/>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31773" name="Freeform 10"/>
            <p:cNvSpPr/>
            <p:nvPr/>
          </p:nvSpPr>
          <p:spPr>
            <a:xfrm>
              <a:off x="1440" y="1160"/>
              <a:ext cx="1872" cy="328"/>
            </a:xfrm>
            <a:custGeom>
              <a:avLst/>
              <a:gdLst/>
              <a:ahLst/>
              <a:cxnLst>
                <a:cxn ang="0">
                  <a:pos x="0" y="328"/>
                </a:cxn>
                <a:cxn ang="0">
                  <a:pos x="610" y="40"/>
                </a:cxn>
                <a:cxn ang="0">
                  <a:pos x="1587" y="88"/>
                </a:cxn>
                <a:cxn ang="0">
                  <a:pos x="1872" y="328"/>
                </a:cxn>
              </a:cxnLst>
              <a:pathLst>
                <a:path w="2208" h="328">
                  <a:moveTo>
                    <a:pt x="0" y="328"/>
                  </a:moveTo>
                  <a:cubicBezTo>
                    <a:pt x="204" y="204"/>
                    <a:pt x="408" y="80"/>
                    <a:pt x="720" y="40"/>
                  </a:cubicBezTo>
                  <a:cubicBezTo>
                    <a:pt x="1032" y="0"/>
                    <a:pt x="1624" y="40"/>
                    <a:pt x="1872" y="88"/>
                  </a:cubicBezTo>
                  <a:cubicBezTo>
                    <a:pt x="2120" y="136"/>
                    <a:pt x="2164" y="232"/>
                    <a:pt x="2208" y="32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3" name="Group 11"/>
          <p:cNvGrpSpPr/>
          <p:nvPr/>
        </p:nvGrpSpPr>
        <p:grpSpPr>
          <a:xfrm>
            <a:off x="4872355" y="1644650"/>
            <a:ext cx="1447800" cy="457200"/>
            <a:chOff x="3024" y="1488"/>
            <a:chExt cx="912" cy="288"/>
          </a:xfrm>
        </p:grpSpPr>
        <p:sp>
          <p:nvSpPr>
            <p:cNvPr id="31767" name="Oval 12"/>
            <p:cNvSpPr/>
            <p:nvPr/>
          </p:nvSpPr>
          <p:spPr>
            <a:xfrm>
              <a:off x="3024" y="1488"/>
              <a:ext cx="192"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68" name="Oval 13"/>
            <p:cNvSpPr/>
            <p:nvPr/>
          </p:nvSpPr>
          <p:spPr>
            <a:xfrm>
              <a:off x="3648" y="1488"/>
              <a:ext cx="288"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4" name="Group 14"/>
          <p:cNvGrpSpPr/>
          <p:nvPr/>
        </p:nvGrpSpPr>
        <p:grpSpPr>
          <a:xfrm>
            <a:off x="2129155" y="1644650"/>
            <a:ext cx="4267200" cy="1371600"/>
            <a:chOff x="1296" y="1488"/>
            <a:chExt cx="2688" cy="864"/>
          </a:xfrm>
        </p:grpSpPr>
        <p:sp>
          <p:nvSpPr>
            <p:cNvPr id="31764" name="Oval 15"/>
            <p:cNvSpPr/>
            <p:nvPr/>
          </p:nvSpPr>
          <p:spPr>
            <a:xfrm>
              <a:off x="3024" y="1488"/>
              <a:ext cx="960"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65" name="Oval 16"/>
            <p:cNvSpPr/>
            <p:nvPr/>
          </p:nvSpPr>
          <p:spPr>
            <a:xfrm>
              <a:off x="1296" y="2064"/>
              <a:ext cx="480"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66" name="Freeform 17"/>
            <p:cNvSpPr/>
            <p:nvPr/>
          </p:nvSpPr>
          <p:spPr>
            <a:xfrm>
              <a:off x="1680" y="1776"/>
              <a:ext cx="1632" cy="288"/>
            </a:xfrm>
            <a:custGeom>
              <a:avLst/>
              <a:gdLst/>
              <a:ahLst/>
              <a:cxnLst>
                <a:cxn ang="0">
                  <a:pos x="1632" y="0"/>
                </a:cxn>
                <a:cxn ang="0">
                  <a:pos x="1344" y="240"/>
                </a:cxn>
                <a:cxn ang="0">
                  <a:pos x="384" y="144"/>
                </a:cxn>
                <a:cxn ang="0">
                  <a:pos x="0" y="288"/>
                </a:cxn>
              </a:cxnLst>
              <a:pathLst>
                <a:path w="1632" h="288">
                  <a:moveTo>
                    <a:pt x="1632" y="0"/>
                  </a:moveTo>
                  <a:cubicBezTo>
                    <a:pt x="1592" y="108"/>
                    <a:pt x="1552" y="216"/>
                    <a:pt x="1344" y="240"/>
                  </a:cubicBezTo>
                  <a:cubicBezTo>
                    <a:pt x="1136" y="264"/>
                    <a:pt x="608" y="136"/>
                    <a:pt x="384" y="144"/>
                  </a:cubicBezTo>
                  <a:cubicBezTo>
                    <a:pt x="160" y="152"/>
                    <a:pt x="80" y="220"/>
                    <a:pt x="0" y="28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5" name="Group 18"/>
          <p:cNvGrpSpPr/>
          <p:nvPr/>
        </p:nvGrpSpPr>
        <p:grpSpPr>
          <a:xfrm>
            <a:off x="1824355" y="2279650"/>
            <a:ext cx="2286000" cy="965200"/>
            <a:chOff x="1104" y="1888"/>
            <a:chExt cx="1440" cy="608"/>
          </a:xfrm>
        </p:grpSpPr>
        <p:grpSp>
          <p:nvGrpSpPr>
            <p:cNvPr id="31759" name="Group 19"/>
            <p:cNvGrpSpPr/>
            <p:nvPr/>
          </p:nvGrpSpPr>
          <p:grpSpPr>
            <a:xfrm>
              <a:off x="1104" y="1968"/>
              <a:ext cx="672" cy="528"/>
              <a:chOff x="1104" y="1968"/>
              <a:chExt cx="672" cy="528"/>
            </a:xfrm>
          </p:grpSpPr>
          <p:sp>
            <p:nvSpPr>
              <p:cNvPr id="31762" name="Oval 20"/>
              <p:cNvSpPr/>
              <p:nvPr/>
            </p:nvSpPr>
            <p:spPr>
              <a:xfrm>
                <a:off x="1104" y="1968"/>
                <a:ext cx="192" cy="52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63" name="Oval 21"/>
              <p:cNvSpPr/>
              <p:nvPr/>
            </p:nvSpPr>
            <p:spPr>
              <a:xfrm>
                <a:off x="1296" y="2112"/>
                <a:ext cx="480"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sp>
          <p:nvSpPr>
            <p:cNvPr id="31760" name="Freeform 22"/>
            <p:cNvSpPr/>
            <p:nvPr/>
          </p:nvSpPr>
          <p:spPr>
            <a:xfrm>
              <a:off x="1296" y="1888"/>
              <a:ext cx="864" cy="272"/>
            </a:xfrm>
            <a:custGeom>
              <a:avLst/>
              <a:gdLst/>
              <a:ahLst/>
              <a:cxnLst>
                <a:cxn ang="0">
                  <a:pos x="0" y="272"/>
                </a:cxn>
                <a:cxn ang="0">
                  <a:pos x="144" y="32"/>
                </a:cxn>
                <a:cxn ang="0">
                  <a:pos x="720" y="80"/>
                </a:cxn>
                <a:cxn ang="0">
                  <a:pos x="864" y="224"/>
                </a:cxn>
              </a:cxnLst>
              <a:pathLst>
                <a:path w="864" h="272">
                  <a:moveTo>
                    <a:pt x="0" y="272"/>
                  </a:moveTo>
                  <a:cubicBezTo>
                    <a:pt x="12" y="168"/>
                    <a:pt x="24" y="64"/>
                    <a:pt x="144" y="32"/>
                  </a:cubicBezTo>
                  <a:cubicBezTo>
                    <a:pt x="264" y="0"/>
                    <a:pt x="600" y="48"/>
                    <a:pt x="720" y="80"/>
                  </a:cubicBezTo>
                  <a:cubicBezTo>
                    <a:pt x="840" y="112"/>
                    <a:pt x="852" y="168"/>
                    <a:pt x="864" y="224"/>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31761" name="Oval 23"/>
            <p:cNvSpPr/>
            <p:nvPr/>
          </p:nvSpPr>
          <p:spPr>
            <a:xfrm>
              <a:off x="1872" y="2112"/>
              <a:ext cx="672"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7" name="Group 24"/>
          <p:cNvGrpSpPr/>
          <p:nvPr/>
        </p:nvGrpSpPr>
        <p:grpSpPr>
          <a:xfrm>
            <a:off x="3119755" y="2559050"/>
            <a:ext cx="1447800" cy="698500"/>
            <a:chOff x="1920" y="2064"/>
            <a:chExt cx="912" cy="440"/>
          </a:xfrm>
        </p:grpSpPr>
        <p:sp>
          <p:nvSpPr>
            <p:cNvPr id="31756" name="Oval 25"/>
            <p:cNvSpPr/>
            <p:nvPr/>
          </p:nvSpPr>
          <p:spPr>
            <a:xfrm>
              <a:off x="1920" y="2064"/>
              <a:ext cx="144"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57" name="Oval 26"/>
            <p:cNvSpPr/>
            <p:nvPr/>
          </p:nvSpPr>
          <p:spPr>
            <a:xfrm>
              <a:off x="2688" y="2064"/>
              <a:ext cx="144"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1758" name="Freeform 27"/>
            <p:cNvSpPr/>
            <p:nvPr/>
          </p:nvSpPr>
          <p:spPr>
            <a:xfrm>
              <a:off x="2016" y="2304"/>
              <a:ext cx="672" cy="200"/>
            </a:xfrm>
            <a:custGeom>
              <a:avLst/>
              <a:gdLst/>
              <a:ahLst/>
              <a:cxnLst>
                <a:cxn ang="0">
                  <a:pos x="0" y="48"/>
                </a:cxn>
                <a:cxn ang="0">
                  <a:pos x="288" y="192"/>
                </a:cxn>
                <a:cxn ang="0">
                  <a:pos x="672" y="0"/>
                </a:cxn>
              </a:cxnLst>
              <a:pathLst>
                <a:path w="672" h="200">
                  <a:moveTo>
                    <a:pt x="0" y="48"/>
                  </a:moveTo>
                  <a:cubicBezTo>
                    <a:pt x="88" y="124"/>
                    <a:pt x="176" y="200"/>
                    <a:pt x="288" y="192"/>
                  </a:cubicBezTo>
                  <a:cubicBezTo>
                    <a:pt x="400" y="184"/>
                    <a:pt x="536" y="92"/>
                    <a:pt x="672" y="0"/>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277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2772" name="Rectangle 2"/>
          <p:cNvSpPr>
            <a:spLocks noGrp="1"/>
          </p:cNvSpPr>
          <p:nvPr>
            <p:ph type="title"/>
          </p:nvPr>
        </p:nvSpPr>
        <p:spPr>
          <a:xfrm>
            <a:off x="718820" y="46355"/>
            <a:ext cx="8407400" cy="1143000"/>
          </a:xfrm>
        </p:spPr>
        <p:txBody>
          <a:bodyPr vert="horz" wrap="square" lIns="91440" tIns="45720" rIns="91440" bIns="45720" anchor="b" anchorCtr="0"/>
          <a:p>
            <a:pPr eaLnBrk="1" hangingPunct="1"/>
            <a:r>
              <a:rPr lang="en-US" altLang="zh-CN" sz="3600" dirty="0"/>
              <a:t>Example: Geometric Progression</a:t>
            </a:r>
            <a:endParaRPr lang="en-US" altLang="zh-CN" sz="3600" dirty="0"/>
          </a:p>
        </p:txBody>
      </p:sp>
      <p:sp>
        <p:nvSpPr>
          <p:cNvPr id="32773" name="Rectangle 3"/>
          <p:cNvSpPr>
            <a:spLocks noGrp="1"/>
          </p:cNvSpPr>
          <p:nvPr>
            <p:ph idx="1"/>
          </p:nvPr>
        </p:nvSpPr>
        <p:spPr/>
        <p:txBody>
          <a:bodyPr vert="horz" wrap="square" lIns="91440" tIns="45720" rIns="91440" bIns="45720" anchor="t" anchorCtr="0"/>
          <a:p>
            <a:pPr eaLnBrk="1" hangingPunct="1"/>
            <a:r>
              <a:rPr lang="en-US" altLang="zh-CN" dirty="0"/>
              <a:t>A </a:t>
            </a:r>
            <a:r>
              <a:rPr lang="en-US" altLang="zh-CN" i="1" dirty="0"/>
              <a:t>geometric progression </a:t>
            </a:r>
            <a:r>
              <a:rPr lang="en-US" altLang="zh-CN" dirty="0"/>
              <a:t>is a series of the form </a:t>
            </a:r>
            <a:r>
              <a:rPr lang="en-US" altLang="zh-CN" i="1" dirty="0">
                <a:solidFill>
                  <a:srgbClr val="FF0000"/>
                </a:solidFill>
              </a:rPr>
              <a:t>a</a:t>
            </a:r>
            <a:r>
              <a:rPr lang="en-US" altLang="zh-CN" dirty="0">
                <a:solidFill>
                  <a:srgbClr val="FF0000"/>
                </a:solidFill>
              </a:rPr>
              <a:t>, </a:t>
            </a:r>
            <a:r>
              <a:rPr lang="en-US" altLang="zh-CN" i="1" dirty="0">
                <a:solidFill>
                  <a:srgbClr val="FF0000"/>
                </a:solidFill>
              </a:rPr>
              <a:t>ar</a:t>
            </a:r>
            <a:r>
              <a:rPr lang="en-US" altLang="zh-CN" dirty="0">
                <a:solidFill>
                  <a:srgbClr val="FF0000"/>
                </a:solidFill>
              </a:rPr>
              <a:t>, </a:t>
            </a:r>
            <a:r>
              <a:rPr lang="en-US" altLang="zh-CN" i="1" dirty="0">
                <a:solidFill>
                  <a:srgbClr val="FF0000"/>
                </a:solidFill>
              </a:rPr>
              <a:t>ar</a:t>
            </a:r>
            <a:r>
              <a:rPr lang="en-US" altLang="zh-CN" i="1" baseline="30000" dirty="0">
                <a:solidFill>
                  <a:srgbClr val="FF0000"/>
                </a:solidFill>
              </a:rPr>
              <a:t>2</a:t>
            </a:r>
            <a:r>
              <a:rPr lang="en-US" altLang="zh-CN" dirty="0">
                <a:solidFill>
                  <a:srgbClr val="FF0000"/>
                </a:solidFill>
              </a:rPr>
              <a:t>, </a:t>
            </a:r>
            <a:r>
              <a:rPr lang="en-US" altLang="zh-CN" i="1" dirty="0">
                <a:solidFill>
                  <a:srgbClr val="FF0000"/>
                </a:solidFill>
              </a:rPr>
              <a:t>ar</a:t>
            </a:r>
            <a:r>
              <a:rPr lang="en-US" altLang="zh-CN" i="1" baseline="30000" dirty="0">
                <a:solidFill>
                  <a:srgbClr val="FF0000"/>
                </a:solidFill>
              </a:rPr>
              <a:t>3</a:t>
            </a:r>
            <a:r>
              <a:rPr lang="en-US" altLang="zh-CN" dirty="0">
                <a:solidFill>
                  <a:srgbClr val="FF0000"/>
                </a:solidFill>
              </a:rPr>
              <a:t>, …, </a:t>
            </a:r>
            <a:r>
              <a:rPr lang="en-US" altLang="zh-CN" i="1" dirty="0">
                <a:solidFill>
                  <a:srgbClr val="FF0000"/>
                </a:solidFill>
              </a:rPr>
              <a:t>ar</a:t>
            </a:r>
            <a:r>
              <a:rPr lang="en-US" altLang="zh-CN" i="1" baseline="30000" dirty="0">
                <a:solidFill>
                  <a:srgbClr val="FF0000"/>
                </a:solidFill>
              </a:rPr>
              <a:t>k</a:t>
            </a:r>
            <a:r>
              <a:rPr lang="en-US" altLang="zh-CN" dirty="0"/>
              <a:t>, </a:t>
            </a:r>
            <a:r>
              <a:rPr lang="en-US" altLang="zh-CN" dirty="0">
                <a:sym typeface="Symbol" panose="05050102010706020507" pitchFamily="18" charset="2"/>
              </a:rPr>
              <a:t>where </a:t>
            </a:r>
            <a:r>
              <a:rPr lang="en-US" altLang="zh-CN" i="1" dirty="0">
                <a:solidFill>
                  <a:srgbClr val="FF0000"/>
                </a:solidFill>
                <a:sym typeface="Symbol" panose="05050102010706020507" pitchFamily="18" charset="2"/>
              </a:rPr>
              <a:t>a,r</a:t>
            </a:r>
            <a:r>
              <a:rPr lang="en-US" altLang="zh-CN" dirty="0">
                <a:solidFill>
                  <a:srgbClr val="FF0000"/>
                </a:solidFill>
                <a:sym typeface="Symbol" panose="05050102010706020507" pitchFamily="18" charset="2"/>
              </a:rPr>
              <a:t></a:t>
            </a:r>
            <a:r>
              <a:rPr lang="en-US" altLang="zh-CN" b="1" dirty="0">
                <a:solidFill>
                  <a:srgbClr val="FF0000"/>
                </a:solidFill>
                <a:sym typeface="Symbol" panose="05050102010706020507" pitchFamily="18" charset="2"/>
              </a:rPr>
              <a:t>R</a:t>
            </a:r>
            <a:r>
              <a:rPr lang="en-US" altLang="zh-CN" dirty="0">
                <a:sym typeface="Symbol" panose="05050102010706020507" pitchFamily="18" charset="2"/>
              </a:rPr>
              <a:t>.</a:t>
            </a:r>
            <a:endParaRPr lang="en-US" altLang="zh-CN" dirty="0">
              <a:sym typeface="Symbol" panose="05050102010706020507" pitchFamily="18" charset="2"/>
            </a:endParaRPr>
          </a:p>
          <a:p>
            <a:pPr eaLnBrk="1" hangingPunct="1"/>
            <a:r>
              <a:rPr lang="en-US" altLang="zh-CN" dirty="0"/>
              <a:t>The sum of such a series is given by:</a:t>
            </a:r>
            <a:endParaRPr lang="en-US" altLang="zh-CN" dirty="0"/>
          </a:p>
          <a:p>
            <a:pPr eaLnBrk="1" hangingPunct="1"/>
            <a:endParaRPr lang="en-US" altLang="zh-CN" dirty="0"/>
          </a:p>
          <a:p>
            <a:pPr eaLnBrk="1" hangingPunct="1"/>
            <a:endParaRPr lang="en-US" altLang="zh-CN" dirty="0"/>
          </a:p>
          <a:p>
            <a:pPr eaLnBrk="1" hangingPunct="1"/>
            <a:r>
              <a:rPr lang="en-US" altLang="zh-CN" dirty="0"/>
              <a:t>We can reduce this to </a:t>
            </a:r>
            <a:r>
              <a:rPr lang="en-US" altLang="zh-CN" i="1" dirty="0"/>
              <a:t>closed form</a:t>
            </a:r>
            <a:r>
              <a:rPr lang="en-US" altLang="zh-CN" dirty="0"/>
              <a:t> via clever manipulation of summations... </a:t>
            </a:r>
            <a:endParaRPr lang="en-US" altLang="zh-CN" dirty="0"/>
          </a:p>
        </p:txBody>
      </p:sp>
      <p:graphicFrame>
        <p:nvGraphicFramePr>
          <p:cNvPr id="32774" name="Object 4"/>
          <p:cNvGraphicFramePr>
            <a:graphicFrameLocks noChangeAspect="1"/>
          </p:cNvGraphicFramePr>
          <p:nvPr/>
        </p:nvGraphicFramePr>
        <p:xfrm>
          <a:off x="3352800" y="3007360"/>
          <a:ext cx="2057400" cy="1317625"/>
        </p:xfrm>
        <a:graphic>
          <a:graphicData uri="http://schemas.openxmlformats.org/presentationml/2006/ole">
            <mc:AlternateContent xmlns:mc="http://schemas.openxmlformats.org/markup-compatibility/2006">
              <mc:Choice xmlns:v="urn:schemas-microsoft-com:vml" Requires="v">
                <p:oleObj spid="_x0000_s3088" name="" r:id="rId1" imgW="673100" imgH="431800" progId="Equation.3">
                  <p:embed/>
                </p:oleObj>
              </mc:Choice>
              <mc:Fallback>
                <p:oleObj name="" r:id="rId1" imgW="673100" imgH="431800" progId="Equation.3">
                  <p:embed/>
                  <p:pic>
                    <p:nvPicPr>
                      <p:cNvPr id="0" name="图片 3087"/>
                      <p:cNvPicPr/>
                      <p:nvPr/>
                    </p:nvPicPr>
                    <p:blipFill>
                      <a:blip r:embed="rId2"/>
                      <a:stretch>
                        <a:fillRect/>
                      </a:stretch>
                    </p:blipFill>
                    <p:spPr>
                      <a:xfrm>
                        <a:off x="3352800" y="3007360"/>
                        <a:ext cx="2057400" cy="1317625"/>
                      </a:xfrm>
                      <a:prstGeom prst="rect">
                        <a:avLst/>
                      </a:prstGeom>
                      <a:noFill/>
                      <a:ln w="38100">
                        <a:noFill/>
                        <a:miter/>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379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3796" name="Rectangle 2"/>
          <p:cNvSpPr>
            <a:spLocks noGrp="1"/>
          </p:cNvSpPr>
          <p:nvPr>
            <p:ph idx="1"/>
          </p:nvPr>
        </p:nvSpPr>
        <p:spPr/>
        <p:txBody>
          <a:bodyPr vert="horz" wrap="square" lIns="91440" tIns="45720" rIns="91440" bIns="45720" anchor="t" anchorCtr="0"/>
          <a:p>
            <a:pPr eaLnBrk="1" hangingPunct="1"/>
            <a:r>
              <a:rPr lang="en-US" altLang="zh-CN" dirty="0"/>
              <a:t>Here</a:t>
            </a:r>
            <a:br>
              <a:rPr lang="en-US" altLang="zh-CN" dirty="0"/>
            </a:br>
            <a:r>
              <a:rPr lang="en-US" altLang="zh-CN" dirty="0"/>
              <a:t>we</a:t>
            </a:r>
            <a:br>
              <a:rPr lang="en-US" altLang="zh-CN" dirty="0"/>
            </a:br>
            <a:r>
              <a:rPr lang="en-US" altLang="zh-CN" dirty="0"/>
              <a:t>go...</a:t>
            </a:r>
            <a:endParaRPr lang="en-US" altLang="zh-CN" dirty="0"/>
          </a:p>
        </p:txBody>
      </p:sp>
      <p:sp>
        <p:nvSpPr>
          <p:cNvPr id="33797" name="Rectangle 3"/>
          <p:cNvSpPr>
            <a:spLocks noGrp="1"/>
          </p:cNvSpPr>
          <p:nvPr>
            <p:ph type="title"/>
          </p:nvPr>
        </p:nvSpPr>
        <p:spPr>
          <a:xfrm>
            <a:off x="900430" y="46355"/>
            <a:ext cx="8190865" cy="1143000"/>
          </a:xfrm>
        </p:spPr>
        <p:txBody>
          <a:bodyPr vert="horz" wrap="square" lIns="91440" tIns="45720" rIns="91440" bIns="45720" anchor="b" anchorCtr="0"/>
          <a:p>
            <a:pPr eaLnBrk="1" hangingPunct="1"/>
            <a:r>
              <a:rPr lang="en-US" altLang="zh-CN" dirty="0"/>
              <a:t>Geometric Sum Derivation</a:t>
            </a:r>
            <a:endParaRPr lang="en-US" altLang="zh-CN" dirty="0"/>
          </a:p>
        </p:txBody>
      </p:sp>
      <p:graphicFrame>
        <p:nvGraphicFramePr>
          <p:cNvPr id="33798" name="Object 4"/>
          <p:cNvGraphicFramePr>
            <a:graphicFrameLocks noChangeAspect="1"/>
          </p:cNvGraphicFramePr>
          <p:nvPr/>
        </p:nvGraphicFramePr>
        <p:xfrm>
          <a:off x="2362200" y="2057400"/>
          <a:ext cx="5995988" cy="3905250"/>
        </p:xfrm>
        <a:graphic>
          <a:graphicData uri="http://schemas.openxmlformats.org/presentationml/2006/ole">
            <mc:AlternateContent xmlns:mc="http://schemas.openxmlformats.org/markup-compatibility/2006">
              <mc:Choice xmlns:v="urn:schemas-microsoft-com:vml" Requires="v">
                <p:oleObj spid="_x0000_s3090" name="" r:id="rId1" imgW="2768600" imgH="1803400" progId="Equation.3">
                  <p:embed/>
                </p:oleObj>
              </mc:Choice>
              <mc:Fallback>
                <p:oleObj name="" r:id="rId1" imgW="2768600" imgH="1803400" progId="Equation.3">
                  <p:embed/>
                  <p:pic>
                    <p:nvPicPr>
                      <p:cNvPr id="0" name="图片 3089"/>
                      <p:cNvPicPr/>
                      <p:nvPr/>
                    </p:nvPicPr>
                    <p:blipFill>
                      <a:blip r:embed="rId2"/>
                      <a:stretch>
                        <a:fillRect/>
                      </a:stretch>
                    </p:blipFill>
                    <p:spPr>
                      <a:xfrm>
                        <a:off x="2362200" y="2057400"/>
                        <a:ext cx="5995988" cy="3905250"/>
                      </a:xfrm>
                      <a:prstGeom prst="rect">
                        <a:avLst/>
                      </a:prstGeom>
                      <a:noFill/>
                      <a:ln w="38100">
                        <a:noFill/>
                        <a:miter/>
                      </a:ln>
                    </p:spPr>
                  </p:pic>
                </p:oleObj>
              </mc:Fallback>
            </mc:AlternateContent>
          </a:graphicData>
        </a:graphic>
      </p:graphicFrame>
      <p:grpSp>
        <p:nvGrpSpPr>
          <p:cNvPr id="2" name="Group 5"/>
          <p:cNvGrpSpPr/>
          <p:nvPr/>
        </p:nvGrpSpPr>
        <p:grpSpPr>
          <a:xfrm>
            <a:off x="2362200" y="3352800"/>
            <a:ext cx="914400" cy="304800"/>
            <a:chOff x="1488" y="2112"/>
            <a:chExt cx="576" cy="192"/>
          </a:xfrm>
        </p:grpSpPr>
        <p:sp>
          <p:nvSpPr>
            <p:cNvPr id="33828" name="Oval 6"/>
            <p:cNvSpPr/>
            <p:nvPr/>
          </p:nvSpPr>
          <p:spPr>
            <a:xfrm>
              <a:off x="1488" y="2112"/>
              <a:ext cx="144"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9" name="Oval 7"/>
            <p:cNvSpPr/>
            <p:nvPr/>
          </p:nvSpPr>
          <p:spPr>
            <a:xfrm>
              <a:off x="1920" y="2112"/>
              <a:ext cx="144"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sp>
        <p:nvSpPr>
          <p:cNvPr id="70664" name="Freeform 8"/>
          <p:cNvSpPr/>
          <p:nvPr/>
        </p:nvSpPr>
        <p:spPr>
          <a:xfrm>
            <a:off x="3124200" y="2959100"/>
            <a:ext cx="1676400" cy="469900"/>
          </a:xfrm>
          <a:custGeom>
            <a:avLst/>
            <a:gdLst/>
            <a:ahLst/>
            <a:cxnLst>
              <a:cxn ang="0">
                <a:pos x="0" y="469900"/>
              </a:cxn>
              <a:cxn ang="0">
                <a:pos x="838200" y="12700"/>
              </a:cxn>
              <a:cxn ang="0">
                <a:pos x="1676400" y="393700"/>
              </a:cxn>
            </a:cxnLst>
            <a:pathLst>
              <a:path w="1056" h="296">
                <a:moveTo>
                  <a:pt x="0" y="296"/>
                </a:moveTo>
                <a:cubicBezTo>
                  <a:pt x="176" y="156"/>
                  <a:pt x="352" y="16"/>
                  <a:pt x="528" y="8"/>
                </a:cubicBezTo>
                <a:cubicBezTo>
                  <a:pt x="704" y="0"/>
                  <a:pt x="880" y="124"/>
                  <a:pt x="1056" y="24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70665" name="Freeform 9"/>
          <p:cNvSpPr/>
          <p:nvPr/>
        </p:nvSpPr>
        <p:spPr>
          <a:xfrm>
            <a:off x="4800600" y="2895600"/>
            <a:ext cx="1447800" cy="533400"/>
          </a:xfrm>
          <a:custGeom>
            <a:avLst/>
            <a:gdLst/>
            <a:ahLst/>
            <a:cxnLst>
              <a:cxn ang="0">
                <a:pos x="0" y="533400"/>
              </a:cxn>
              <a:cxn ang="0">
                <a:pos x="723900" y="14416"/>
              </a:cxn>
              <a:cxn ang="0">
                <a:pos x="1447800" y="446903"/>
              </a:cxn>
            </a:cxnLst>
            <a:pathLst>
              <a:path w="1056" h="296">
                <a:moveTo>
                  <a:pt x="0" y="296"/>
                </a:moveTo>
                <a:cubicBezTo>
                  <a:pt x="176" y="156"/>
                  <a:pt x="352" y="16"/>
                  <a:pt x="528" y="8"/>
                </a:cubicBezTo>
                <a:cubicBezTo>
                  <a:pt x="704" y="0"/>
                  <a:pt x="880" y="124"/>
                  <a:pt x="1056" y="24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70666" name="Freeform 10"/>
          <p:cNvSpPr/>
          <p:nvPr/>
        </p:nvSpPr>
        <p:spPr>
          <a:xfrm>
            <a:off x="6248400" y="2819400"/>
            <a:ext cx="1295400" cy="609600"/>
          </a:xfrm>
          <a:custGeom>
            <a:avLst/>
            <a:gdLst/>
            <a:ahLst/>
            <a:cxnLst>
              <a:cxn ang="0">
                <a:pos x="0" y="609600"/>
              </a:cxn>
              <a:cxn ang="0">
                <a:pos x="647700" y="16476"/>
              </a:cxn>
              <a:cxn ang="0">
                <a:pos x="1295400" y="510746"/>
              </a:cxn>
            </a:cxnLst>
            <a:pathLst>
              <a:path w="1056" h="296">
                <a:moveTo>
                  <a:pt x="0" y="296"/>
                </a:moveTo>
                <a:cubicBezTo>
                  <a:pt x="176" y="156"/>
                  <a:pt x="352" y="16"/>
                  <a:pt x="528" y="8"/>
                </a:cubicBezTo>
                <a:cubicBezTo>
                  <a:pt x="704" y="0"/>
                  <a:pt x="880" y="124"/>
                  <a:pt x="1056" y="24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nvGrpSpPr>
          <p:cNvPr id="3" name="Group 11"/>
          <p:cNvGrpSpPr/>
          <p:nvPr/>
        </p:nvGrpSpPr>
        <p:grpSpPr>
          <a:xfrm>
            <a:off x="3581400" y="3276600"/>
            <a:ext cx="4419600" cy="1447800"/>
            <a:chOff x="2256" y="2064"/>
            <a:chExt cx="2784" cy="912"/>
          </a:xfrm>
        </p:grpSpPr>
        <p:sp>
          <p:nvSpPr>
            <p:cNvPr id="33825" name="Oval 12"/>
            <p:cNvSpPr/>
            <p:nvPr/>
          </p:nvSpPr>
          <p:spPr>
            <a:xfrm>
              <a:off x="2256" y="2640"/>
              <a:ext cx="336"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6" name="Oval 13"/>
            <p:cNvSpPr/>
            <p:nvPr/>
          </p:nvSpPr>
          <p:spPr>
            <a:xfrm>
              <a:off x="4656" y="2064"/>
              <a:ext cx="384"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7" name="Freeform 14"/>
            <p:cNvSpPr/>
            <p:nvPr/>
          </p:nvSpPr>
          <p:spPr>
            <a:xfrm>
              <a:off x="2544" y="2304"/>
              <a:ext cx="2296" cy="384"/>
            </a:xfrm>
            <a:custGeom>
              <a:avLst/>
              <a:gdLst/>
              <a:ahLst/>
              <a:cxnLst>
                <a:cxn ang="0">
                  <a:pos x="2208" y="0"/>
                </a:cxn>
                <a:cxn ang="0">
                  <a:pos x="2016" y="288"/>
                </a:cxn>
                <a:cxn ang="0">
                  <a:pos x="528" y="192"/>
                </a:cxn>
                <a:cxn ang="0">
                  <a:pos x="0" y="384"/>
                </a:cxn>
              </a:cxnLst>
              <a:pathLst>
                <a:path w="2296" h="384">
                  <a:moveTo>
                    <a:pt x="2208" y="0"/>
                  </a:moveTo>
                  <a:cubicBezTo>
                    <a:pt x="2252" y="128"/>
                    <a:pt x="2296" y="256"/>
                    <a:pt x="2016" y="288"/>
                  </a:cubicBezTo>
                  <a:cubicBezTo>
                    <a:pt x="1736" y="320"/>
                    <a:pt x="864" y="176"/>
                    <a:pt x="528" y="192"/>
                  </a:cubicBezTo>
                  <a:cubicBezTo>
                    <a:pt x="192" y="208"/>
                    <a:pt x="96" y="296"/>
                    <a:pt x="0" y="384"/>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4" name="Group 15"/>
          <p:cNvGrpSpPr/>
          <p:nvPr/>
        </p:nvGrpSpPr>
        <p:grpSpPr>
          <a:xfrm>
            <a:off x="3124200" y="4038600"/>
            <a:ext cx="914400" cy="914400"/>
            <a:chOff x="1968" y="2544"/>
            <a:chExt cx="576" cy="576"/>
          </a:xfrm>
        </p:grpSpPr>
        <p:sp>
          <p:nvSpPr>
            <p:cNvPr id="33822" name="Oval 16"/>
            <p:cNvSpPr/>
            <p:nvPr/>
          </p:nvSpPr>
          <p:spPr>
            <a:xfrm>
              <a:off x="2448" y="2640"/>
              <a:ext cx="96"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3" name="Oval 17"/>
            <p:cNvSpPr/>
            <p:nvPr/>
          </p:nvSpPr>
          <p:spPr>
            <a:xfrm>
              <a:off x="2016" y="2928"/>
              <a:ext cx="120"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4" name="Oval 18"/>
            <p:cNvSpPr/>
            <p:nvPr/>
          </p:nvSpPr>
          <p:spPr>
            <a:xfrm>
              <a:off x="1968" y="2544"/>
              <a:ext cx="120" cy="14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5" name="Group 19"/>
          <p:cNvGrpSpPr/>
          <p:nvPr/>
        </p:nvGrpSpPr>
        <p:grpSpPr>
          <a:xfrm>
            <a:off x="4343400" y="3962400"/>
            <a:ext cx="1371600" cy="990600"/>
            <a:chOff x="2736" y="2496"/>
            <a:chExt cx="864" cy="624"/>
          </a:xfrm>
        </p:grpSpPr>
        <p:sp>
          <p:nvSpPr>
            <p:cNvPr id="33819" name="Oval 20"/>
            <p:cNvSpPr/>
            <p:nvPr/>
          </p:nvSpPr>
          <p:spPr>
            <a:xfrm>
              <a:off x="2880" y="2928"/>
              <a:ext cx="96"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0" name="Oval 21"/>
            <p:cNvSpPr/>
            <p:nvPr/>
          </p:nvSpPr>
          <p:spPr>
            <a:xfrm>
              <a:off x="2736" y="2496"/>
              <a:ext cx="288" cy="24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21" name="Oval 22"/>
            <p:cNvSpPr/>
            <p:nvPr/>
          </p:nvSpPr>
          <p:spPr>
            <a:xfrm>
              <a:off x="3312" y="2640"/>
              <a:ext cx="288"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6" name="Group 23"/>
          <p:cNvGrpSpPr/>
          <p:nvPr/>
        </p:nvGrpSpPr>
        <p:grpSpPr>
          <a:xfrm>
            <a:off x="3657600" y="3962400"/>
            <a:ext cx="3276600" cy="1219200"/>
            <a:chOff x="2304" y="2496"/>
            <a:chExt cx="2064" cy="768"/>
          </a:xfrm>
        </p:grpSpPr>
        <p:sp>
          <p:nvSpPr>
            <p:cNvPr id="33816" name="Oval 24"/>
            <p:cNvSpPr/>
            <p:nvPr/>
          </p:nvSpPr>
          <p:spPr>
            <a:xfrm>
              <a:off x="3744" y="2496"/>
              <a:ext cx="624" cy="62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17" name="Freeform 25"/>
            <p:cNvSpPr/>
            <p:nvPr/>
          </p:nvSpPr>
          <p:spPr>
            <a:xfrm>
              <a:off x="2304" y="2928"/>
              <a:ext cx="1440" cy="240"/>
            </a:xfrm>
            <a:custGeom>
              <a:avLst/>
              <a:gdLst/>
              <a:ahLst/>
              <a:cxnLst>
                <a:cxn ang="0">
                  <a:pos x="1440" y="0"/>
                </a:cxn>
                <a:cxn ang="0">
                  <a:pos x="1056" y="144"/>
                </a:cxn>
                <a:cxn ang="0">
                  <a:pos x="288" y="96"/>
                </a:cxn>
                <a:cxn ang="0">
                  <a:pos x="0" y="240"/>
                </a:cxn>
              </a:cxnLst>
              <a:pathLst>
                <a:path w="1440" h="240">
                  <a:moveTo>
                    <a:pt x="1440" y="0"/>
                  </a:moveTo>
                  <a:cubicBezTo>
                    <a:pt x="1344" y="64"/>
                    <a:pt x="1248" y="128"/>
                    <a:pt x="1056" y="144"/>
                  </a:cubicBezTo>
                  <a:cubicBezTo>
                    <a:pt x="864" y="160"/>
                    <a:pt x="464" y="80"/>
                    <a:pt x="288" y="96"/>
                  </a:cubicBezTo>
                  <a:cubicBezTo>
                    <a:pt x="112" y="112"/>
                    <a:pt x="56" y="176"/>
                    <a:pt x="0" y="240"/>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33818" name="Freeform 26"/>
            <p:cNvSpPr/>
            <p:nvPr/>
          </p:nvSpPr>
          <p:spPr>
            <a:xfrm>
              <a:off x="3168" y="2976"/>
              <a:ext cx="664" cy="288"/>
            </a:xfrm>
            <a:custGeom>
              <a:avLst/>
              <a:gdLst/>
              <a:ahLst/>
              <a:cxnLst>
                <a:cxn ang="0">
                  <a:pos x="624" y="0"/>
                </a:cxn>
                <a:cxn ang="0">
                  <a:pos x="624" y="48"/>
                </a:cxn>
                <a:cxn ang="0">
                  <a:pos x="384" y="144"/>
                </a:cxn>
                <a:cxn ang="0">
                  <a:pos x="144" y="144"/>
                </a:cxn>
                <a:cxn ang="0">
                  <a:pos x="0" y="288"/>
                </a:cxn>
              </a:cxnLst>
              <a:pathLst>
                <a:path w="664" h="288">
                  <a:moveTo>
                    <a:pt x="624" y="0"/>
                  </a:moveTo>
                  <a:cubicBezTo>
                    <a:pt x="644" y="12"/>
                    <a:pt x="664" y="24"/>
                    <a:pt x="624" y="48"/>
                  </a:cubicBezTo>
                  <a:cubicBezTo>
                    <a:pt x="584" y="72"/>
                    <a:pt x="464" y="128"/>
                    <a:pt x="384" y="144"/>
                  </a:cubicBezTo>
                  <a:cubicBezTo>
                    <a:pt x="304" y="160"/>
                    <a:pt x="208" y="120"/>
                    <a:pt x="144" y="144"/>
                  </a:cubicBezTo>
                  <a:cubicBezTo>
                    <a:pt x="80" y="168"/>
                    <a:pt x="40" y="228"/>
                    <a:pt x="0" y="28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7" name="Group 27"/>
          <p:cNvGrpSpPr/>
          <p:nvPr/>
        </p:nvGrpSpPr>
        <p:grpSpPr>
          <a:xfrm>
            <a:off x="4343400" y="4622800"/>
            <a:ext cx="2971800" cy="1473200"/>
            <a:chOff x="2736" y="2912"/>
            <a:chExt cx="1872" cy="928"/>
          </a:xfrm>
        </p:grpSpPr>
        <p:sp>
          <p:nvSpPr>
            <p:cNvPr id="33814" name="Oval 28"/>
            <p:cNvSpPr/>
            <p:nvPr/>
          </p:nvSpPr>
          <p:spPr>
            <a:xfrm>
              <a:off x="2736" y="3120"/>
              <a:ext cx="672" cy="72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15" name="Freeform 29"/>
            <p:cNvSpPr/>
            <p:nvPr/>
          </p:nvSpPr>
          <p:spPr>
            <a:xfrm>
              <a:off x="3264" y="2912"/>
              <a:ext cx="1344" cy="400"/>
            </a:xfrm>
            <a:custGeom>
              <a:avLst/>
              <a:gdLst/>
              <a:ahLst/>
              <a:cxnLst>
                <a:cxn ang="0">
                  <a:pos x="48" y="352"/>
                </a:cxn>
                <a:cxn ang="0">
                  <a:pos x="144" y="304"/>
                </a:cxn>
                <a:cxn ang="0">
                  <a:pos x="912" y="16"/>
                </a:cxn>
                <a:cxn ang="0">
                  <a:pos x="1344" y="400"/>
                </a:cxn>
              </a:cxnLst>
              <a:pathLst>
                <a:path w="1344" h="400">
                  <a:moveTo>
                    <a:pt x="48" y="352"/>
                  </a:moveTo>
                  <a:cubicBezTo>
                    <a:pt x="24" y="356"/>
                    <a:pt x="0" y="360"/>
                    <a:pt x="144" y="304"/>
                  </a:cubicBezTo>
                  <a:cubicBezTo>
                    <a:pt x="288" y="248"/>
                    <a:pt x="712" y="0"/>
                    <a:pt x="912" y="16"/>
                  </a:cubicBezTo>
                  <a:cubicBezTo>
                    <a:pt x="1112" y="32"/>
                    <a:pt x="1228" y="216"/>
                    <a:pt x="1344" y="400"/>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grpSp>
        <p:nvGrpSpPr>
          <p:cNvPr id="8" name="Group 30"/>
          <p:cNvGrpSpPr/>
          <p:nvPr/>
        </p:nvGrpSpPr>
        <p:grpSpPr>
          <a:xfrm>
            <a:off x="2133600" y="2133600"/>
            <a:ext cx="2057400" cy="1905000"/>
            <a:chOff x="1344" y="1344"/>
            <a:chExt cx="1296" cy="1200"/>
          </a:xfrm>
        </p:grpSpPr>
        <p:sp>
          <p:nvSpPr>
            <p:cNvPr id="33812" name="Oval 31"/>
            <p:cNvSpPr/>
            <p:nvPr/>
          </p:nvSpPr>
          <p:spPr>
            <a:xfrm>
              <a:off x="1440" y="1344"/>
              <a:ext cx="1104" cy="57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3813" name="Oval 32"/>
            <p:cNvSpPr/>
            <p:nvPr/>
          </p:nvSpPr>
          <p:spPr>
            <a:xfrm>
              <a:off x="1344" y="1872"/>
              <a:ext cx="1296" cy="67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9" name="Group 33"/>
          <p:cNvGrpSpPr/>
          <p:nvPr/>
        </p:nvGrpSpPr>
        <p:grpSpPr>
          <a:xfrm>
            <a:off x="5029200" y="3810000"/>
            <a:ext cx="1752600" cy="685800"/>
            <a:chOff x="3168" y="2400"/>
            <a:chExt cx="1104" cy="432"/>
          </a:xfrm>
        </p:grpSpPr>
        <p:sp>
          <p:nvSpPr>
            <p:cNvPr id="33810" name="Freeform 34"/>
            <p:cNvSpPr/>
            <p:nvPr/>
          </p:nvSpPr>
          <p:spPr>
            <a:xfrm>
              <a:off x="3504" y="2400"/>
              <a:ext cx="768" cy="240"/>
            </a:xfrm>
            <a:custGeom>
              <a:avLst/>
              <a:gdLst/>
              <a:ahLst/>
              <a:cxnLst>
                <a:cxn ang="0">
                  <a:pos x="0" y="240"/>
                </a:cxn>
                <a:cxn ang="0">
                  <a:pos x="528" y="0"/>
                </a:cxn>
                <a:cxn ang="0">
                  <a:pos x="768" y="240"/>
                </a:cxn>
              </a:cxnLst>
              <a:pathLst>
                <a:path w="768" h="240">
                  <a:moveTo>
                    <a:pt x="0" y="240"/>
                  </a:moveTo>
                  <a:cubicBezTo>
                    <a:pt x="200" y="120"/>
                    <a:pt x="400" y="0"/>
                    <a:pt x="528" y="0"/>
                  </a:cubicBezTo>
                  <a:cubicBezTo>
                    <a:pt x="656" y="0"/>
                    <a:pt x="712" y="120"/>
                    <a:pt x="768" y="240"/>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
          <p:nvSpPr>
            <p:cNvPr id="33811" name="Oval 35"/>
            <p:cNvSpPr/>
            <p:nvPr/>
          </p:nvSpPr>
          <p:spPr>
            <a:xfrm>
              <a:off x="3168" y="2640"/>
              <a:ext cx="480" cy="192"/>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0664"/>
                                        </p:tgtEl>
                                        <p:attrNameLst>
                                          <p:attrName>style.visibility</p:attrName>
                                        </p:attrNameLst>
                                      </p:cBhvr>
                                      <p:to>
                                        <p:strVal val="visible"/>
                                      </p:to>
                                    </p:set>
                                    <p:animEffect transition="in" filter="wipe(left)">
                                      <p:cBhvr>
                                        <p:cTn id="15" dur="500"/>
                                        <p:tgtEl>
                                          <p:spTgt spid="70664"/>
                                        </p:tgtEl>
                                      </p:cBhvr>
                                    </p:animEffect>
                                  </p:childTnLst>
                                  <p:subTnLst>
                                    <p:set>
                                      <p:cBhvr override="childStyle">
                                        <p:cTn dur="1" fill="hold" display="0" masterRel="nextClick" afterEffect="1"/>
                                        <p:tgtEl>
                                          <p:spTgt spid="70664"/>
                                        </p:tgtEl>
                                        <p:attrNameLst>
                                          <p:attrName>style.visibility</p:attrName>
                                        </p:attrNameLst>
                                      </p:cBhvr>
                                      <p:to>
                                        <p:strVal val="hidden"/>
                                      </p:to>
                                    </p:se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0665"/>
                                        </p:tgtEl>
                                        <p:attrNameLst>
                                          <p:attrName>style.visibility</p:attrName>
                                        </p:attrNameLst>
                                      </p:cBhvr>
                                      <p:to>
                                        <p:strVal val="visible"/>
                                      </p:to>
                                    </p:set>
                                    <p:animEffect transition="in" filter="wipe(left)">
                                      <p:cBhvr>
                                        <p:cTn id="20" dur="500"/>
                                        <p:tgtEl>
                                          <p:spTgt spid="70665"/>
                                        </p:tgtEl>
                                      </p:cBhvr>
                                    </p:animEffect>
                                  </p:childTnLst>
                                  <p:subTnLst>
                                    <p:set>
                                      <p:cBhvr override="childStyle">
                                        <p:cTn dur="1" fill="hold" display="0" masterRel="nextClick" afterEffect="1"/>
                                        <p:tgtEl>
                                          <p:spTgt spid="70665"/>
                                        </p:tgtEl>
                                        <p:attrNameLst>
                                          <p:attrName>style.visibility</p:attrName>
                                        </p:attrNameLst>
                                      </p:cBhvr>
                                      <p:to>
                                        <p:strVal val="hidden"/>
                                      </p:to>
                                    </p:se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0666"/>
                                        </p:tgtEl>
                                        <p:attrNameLst>
                                          <p:attrName>style.visibility</p:attrName>
                                        </p:attrNameLst>
                                      </p:cBhvr>
                                      <p:to>
                                        <p:strVal val="visible"/>
                                      </p:to>
                                    </p:set>
                                    <p:animEffect transition="in" filter="wipe(left)">
                                      <p:cBhvr>
                                        <p:cTn id="25" dur="500"/>
                                        <p:tgtEl>
                                          <p:spTgt spid="70666"/>
                                        </p:tgtEl>
                                      </p:cBhvr>
                                    </p:animEffect>
                                  </p:childTnLst>
                                  <p:subTnLst>
                                    <p:set>
                                      <p:cBhvr override="childStyle">
                                        <p:cTn dur="1" fill="hold" display="0" masterRel="nextClick" afterEffect="1"/>
                                        <p:tgtEl>
                                          <p:spTgt spid="70666"/>
                                        </p:tgtEl>
                                        <p:attrNameLst>
                                          <p:attrName>style.visibility</p:attrName>
                                        </p:attrNameLst>
                                      </p:cBhvr>
                                      <p:to>
                                        <p:strVal val="hidden"/>
                                      </p:to>
                                    </p:se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7"/>
                                        </p:tgtEl>
                                        <p:attrNameLst>
                                          <p:attrName>style.visibility</p:attrName>
                                        </p:attrNameLst>
                                      </p:cBhvr>
                                      <p:to>
                                        <p:strVal val="visible"/>
                                      </p:to>
                                    </p:se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481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4820" name="Rectangle 2"/>
          <p:cNvSpPr>
            <a:spLocks noGrp="1"/>
          </p:cNvSpPr>
          <p:nvPr>
            <p:ph type="title"/>
          </p:nvPr>
        </p:nvSpPr>
        <p:spPr>
          <a:xfrm>
            <a:off x="900430" y="46355"/>
            <a:ext cx="8140065" cy="1143000"/>
          </a:xfrm>
        </p:spPr>
        <p:txBody>
          <a:bodyPr vert="horz" wrap="square" lIns="91440" tIns="45720" rIns="91440" bIns="45720" anchor="b" anchorCtr="0"/>
          <a:p>
            <a:pPr eaLnBrk="1" hangingPunct="1"/>
            <a:r>
              <a:rPr lang="en-US" altLang="zh-CN" dirty="0"/>
              <a:t>Derivation example cont...</a:t>
            </a:r>
            <a:endParaRPr lang="en-US" altLang="zh-CN" dirty="0"/>
          </a:p>
        </p:txBody>
      </p:sp>
      <p:sp>
        <p:nvSpPr>
          <p:cNvPr id="34821" name="Rectangle 3"/>
          <p:cNvSpPr>
            <a:spLocks noGrp="1"/>
          </p:cNvSpPr>
          <p:nvPr>
            <p:ph idx="1"/>
          </p:nvPr>
        </p:nvSpPr>
        <p:spPr/>
        <p:txBody>
          <a:bodyPr vert="horz" wrap="square" lIns="91440" tIns="45720" rIns="91440" bIns="45720" anchor="t" anchorCtr="0"/>
          <a:p>
            <a:pPr eaLnBrk="1" hangingPunct="1">
              <a:buNone/>
            </a:pPr>
            <a:r>
              <a:rPr lang="en-US" altLang="zh-CN" dirty="0"/>
              <a:t> </a:t>
            </a:r>
            <a:endParaRPr lang="en-US" altLang="zh-CN" dirty="0"/>
          </a:p>
        </p:txBody>
      </p:sp>
      <p:graphicFrame>
        <p:nvGraphicFramePr>
          <p:cNvPr id="34822" name="Object 4"/>
          <p:cNvGraphicFramePr>
            <a:graphicFrameLocks noChangeAspect="1"/>
          </p:cNvGraphicFramePr>
          <p:nvPr/>
        </p:nvGraphicFramePr>
        <p:xfrm>
          <a:off x="838200" y="2057400"/>
          <a:ext cx="6705600" cy="3940175"/>
        </p:xfrm>
        <a:graphic>
          <a:graphicData uri="http://schemas.openxmlformats.org/presentationml/2006/ole">
            <mc:AlternateContent xmlns:mc="http://schemas.openxmlformats.org/markup-compatibility/2006">
              <mc:Choice xmlns:v="urn:schemas-microsoft-com:vml" Requires="v">
                <p:oleObj spid="_x0000_s3091" name="" r:id="rId1" imgW="3200400" imgH="1879600" progId="Equation.3">
                  <p:embed/>
                </p:oleObj>
              </mc:Choice>
              <mc:Fallback>
                <p:oleObj name="" r:id="rId1" imgW="3200400" imgH="1879600" progId="Equation.3">
                  <p:embed/>
                  <p:pic>
                    <p:nvPicPr>
                      <p:cNvPr id="0" name="图片 3090"/>
                      <p:cNvPicPr/>
                      <p:nvPr/>
                    </p:nvPicPr>
                    <p:blipFill>
                      <a:blip r:embed="rId2"/>
                      <a:stretch>
                        <a:fillRect/>
                      </a:stretch>
                    </p:blipFill>
                    <p:spPr>
                      <a:xfrm>
                        <a:off x="838200" y="2057400"/>
                        <a:ext cx="6705600" cy="3940175"/>
                      </a:xfrm>
                      <a:prstGeom prst="rect">
                        <a:avLst/>
                      </a:prstGeom>
                      <a:noFill/>
                      <a:ln w="38100">
                        <a:noFill/>
                        <a:miter/>
                      </a:ln>
                    </p:spPr>
                  </p:pic>
                </p:oleObj>
              </mc:Fallback>
            </mc:AlternateContent>
          </a:graphicData>
        </a:graphic>
      </p:graphicFrame>
      <p:sp>
        <p:nvSpPr>
          <p:cNvPr id="71685" name="Oval 5"/>
          <p:cNvSpPr/>
          <p:nvPr/>
        </p:nvSpPr>
        <p:spPr>
          <a:xfrm>
            <a:off x="3733800" y="2209800"/>
            <a:ext cx="1524000" cy="68580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nvGrpSpPr>
          <p:cNvPr id="2" name="Group 6"/>
          <p:cNvGrpSpPr/>
          <p:nvPr/>
        </p:nvGrpSpPr>
        <p:grpSpPr>
          <a:xfrm>
            <a:off x="4191000" y="2286000"/>
            <a:ext cx="990600" cy="1524000"/>
            <a:chOff x="2640" y="1440"/>
            <a:chExt cx="624" cy="960"/>
          </a:xfrm>
        </p:grpSpPr>
        <p:sp>
          <p:nvSpPr>
            <p:cNvPr id="34838" name="Oval 7"/>
            <p:cNvSpPr/>
            <p:nvPr/>
          </p:nvSpPr>
          <p:spPr>
            <a:xfrm>
              <a:off x="2736" y="1440"/>
              <a:ext cx="528" cy="384"/>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9" name="Line 8"/>
            <p:cNvSpPr/>
            <p:nvPr/>
          </p:nvSpPr>
          <p:spPr>
            <a:xfrm flipH="1">
              <a:off x="2928" y="1824"/>
              <a:ext cx="48" cy="288"/>
            </a:xfrm>
            <a:prstGeom prst="line">
              <a:avLst/>
            </a:prstGeom>
            <a:ln w="38100" cap="flat" cmpd="sng">
              <a:solidFill>
                <a:srgbClr val="FF0000">
                  <a:alpha val="50195"/>
                </a:srgbClr>
              </a:solidFill>
              <a:prstDash val="solid"/>
              <a:headEnd type="none" w="med" len="med"/>
              <a:tailEnd type="stealth" w="med" len="med"/>
            </a:ln>
          </p:spPr>
        </p:sp>
        <p:sp>
          <p:nvSpPr>
            <p:cNvPr id="34840" name="Oval 9"/>
            <p:cNvSpPr/>
            <p:nvPr/>
          </p:nvSpPr>
          <p:spPr>
            <a:xfrm>
              <a:off x="2640" y="2064"/>
              <a:ext cx="576"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grpSp>
      <p:grpSp>
        <p:nvGrpSpPr>
          <p:cNvPr id="3" name="Group 10"/>
          <p:cNvGrpSpPr/>
          <p:nvPr/>
        </p:nvGrpSpPr>
        <p:grpSpPr>
          <a:xfrm>
            <a:off x="1371600" y="3200400"/>
            <a:ext cx="3810000" cy="1981200"/>
            <a:chOff x="864" y="2016"/>
            <a:chExt cx="2400" cy="1248"/>
          </a:xfrm>
        </p:grpSpPr>
        <p:sp>
          <p:nvSpPr>
            <p:cNvPr id="34834" name="Oval 11"/>
            <p:cNvSpPr/>
            <p:nvPr/>
          </p:nvSpPr>
          <p:spPr>
            <a:xfrm>
              <a:off x="864" y="2016"/>
              <a:ext cx="432"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5" name="Oval 12"/>
            <p:cNvSpPr/>
            <p:nvPr/>
          </p:nvSpPr>
          <p:spPr>
            <a:xfrm>
              <a:off x="864" y="2448"/>
              <a:ext cx="816" cy="81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6" name="Line 13"/>
            <p:cNvSpPr/>
            <p:nvPr/>
          </p:nvSpPr>
          <p:spPr>
            <a:xfrm>
              <a:off x="1104" y="2352"/>
              <a:ext cx="48" cy="144"/>
            </a:xfrm>
            <a:prstGeom prst="line">
              <a:avLst/>
            </a:prstGeom>
            <a:ln w="38100" cap="flat" cmpd="sng">
              <a:solidFill>
                <a:srgbClr val="FF0000">
                  <a:alpha val="50195"/>
                </a:srgbClr>
              </a:solidFill>
              <a:prstDash val="solid"/>
              <a:headEnd type="none" w="med" len="med"/>
              <a:tailEnd type="stealth" w="med" len="med"/>
            </a:ln>
          </p:spPr>
        </p:sp>
        <p:sp>
          <p:nvSpPr>
            <p:cNvPr id="34837" name="Line 14"/>
            <p:cNvSpPr/>
            <p:nvPr/>
          </p:nvSpPr>
          <p:spPr>
            <a:xfrm>
              <a:off x="2976" y="2304"/>
              <a:ext cx="288" cy="480"/>
            </a:xfrm>
            <a:prstGeom prst="line">
              <a:avLst/>
            </a:prstGeom>
            <a:ln w="38100" cap="flat" cmpd="sng">
              <a:solidFill>
                <a:srgbClr val="FF0000">
                  <a:alpha val="50195"/>
                </a:srgbClr>
              </a:solidFill>
              <a:prstDash val="solid"/>
              <a:headEnd type="none" w="med" len="med"/>
              <a:tailEnd type="stealth" w="med" len="med"/>
            </a:ln>
          </p:spPr>
        </p:sp>
      </p:grpSp>
      <p:sp>
        <p:nvSpPr>
          <p:cNvPr id="71695" name="Freeform 15"/>
          <p:cNvSpPr/>
          <p:nvPr/>
        </p:nvSpPr>
        <p:spPr>
          <a:xfrm>
            <a:off x="2590800" y="4800600"/>
            <a:ext cx="1828800" cy="457200"/>
          </a:xfrm>
          <a:custGeom>
            <a:avLst/>
            <a:gdLst/>
            <a:ahLst/>
            <a:cxnLst>
              <a:cxn ang="0">
                <a:pos x="0" y="457200"/>
              </a:cxn>
              <a:cxn ang="0">
                <a:pos x="990600" y="0"/>
              </a:cxn>
              <a:cxn ang="0">
                <a:pos x="1828800" y="457200"/>
              </a:cxn>
            </a:cxnLst>
            <a:pathLst>
              <a:path w="1152" h="288">
                <a:moveTo>
                  <a:pt x="0" y="288"/>
                </a:moveTo>
                <a:cubicBezTo>
                  <a:pt x="216" y="144"/>
                  <a:pt x="432" y="0"/>
                  <a:pt x="624" y="0"/>
                </a:cubicBezTo>
                <a:cubicBezTo>
                  <a:pt x="816" y="0"/>
                  <a:pt x="984" y="144"/>
                  <a:pt x="1152" y="288"/>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grpSp>
        <p:nvGrpSpPr>
          <p:cNvPr id="4" name="Group 16"/>
          <p:cNvGrpSpPr/>
          <p:nvPr/>
        </p:nvGrpSpPr>
        <p:grpSpPr>
          <a:xfrm>
            <a:off x="1371600" y="3962400"/>
            <a:ext cx="4038600" cy="2133600"/>
            <a:chOff x="864" y="2496"/>
            <a:chExt cx="2544" cy="1344"/>
          </a:xfrm>
        </p:grpSpPr>
        <p:sp>
          <p:nvSpPr>
            <p:cNvPr id="34829" name="Oval 17"/>
            <p:cNvSpPr/>
            <p:nvPr/>
          </p:nvSpPr>
          <p:spPr>
            <a:xfrm>
              <a:off x="864" y="2496"/>
              <a:ext cx="1680" cy="76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0" name="Oval 18"/>
            <p:cNvSpPr/>
            <p:nvPr/>
          </p:nvSpPr>
          <p:spPr>
            <a:xfrm>
              <a:off x="864" y="3120"/>
              <a:ext cx="816" cy="720"/>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1" name="Oval 19"/>
            <p:cNvSpPr/>
            <p:nvPr/>
          </p:nvSpPr>
          <p:spPr>
            <a:xfrm>
              <a:off x="2640" y="2688"/>
              <a:ext cx="768" cy="288"/>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2" name="Oval 20"/>
            <p:cNvSpPr/>
            <p:nvPr/>
          </p:nvSpPr>
          <p:spPr>
            <a:xfrm>
              <a:off x="1776" y="3312"/>
              <a:ext cx="864" cy="336"/>
            </a:xfrm>
            <a:prstGeom prst="ellipse">
              <a:avLst/>
            </a:prstGeom>
            <a:noFill/>
            <a:ln w="38100" cap="flat" cmpd="sng">
              <a:solidFill>
                <a:srgbClr val="FF0000">
                  <a:alpha val="50195"/>
                </a:srgbClr>
              </a:solidFill>
              <a:prstDash val="solid"/>
              <a:headEnd type="none" w="med" len="med"/>
              <a:tailEnd type="none" w="med" len="med"/>
            </a:ln>
          </p:spPr>
          <p:txBody>
            <a:bodyPr wrap="none" anchor="ctr" anchorCtr="0"/>
            <a:p>
              <a:endParaRPr lang="zh-CN" altLang="en-US" dirty="0">
                <a:latin typeface="Tahoma" panose="020B0604030504040204" pitchFamily="34" charset="0"/>
              </a:endParaRPr>
            </a:p>
          </p:txBody>
        </p:sp>
        <p:sp>
          <p:nvSpPr>
            <p:cNvPr id="34833" name="Line 21"/>
            <p:cNvSpPr/>
            <p:nvPr/>
          </p:nvSpPr>
          <p:spPr>
            <a:xfrm flipH="1">
              <a:off x="2496" y="2928"/>
              <a:ext cx="240" cy="384"/>
            </a:xfrm>
            <a:prstGeom prst="line">
              <a:avLst/>
            </a:prstGeom>
            <a:ln w="38100" cap="flat" cmpd="sng">
              <a:solidFill>
                <a:srgbClr val="FF0000">
                  <a:alpha val="50195"/>
                </a:srgbClr>
              </a:solidFill>
              <a:prstDash val="solid"/>
              <a:headEnd type="none" w="med" len="med"/>
              <a:tailEnd type="stealth" w="med" len="med"/>
            </a:ln>
          </p:spPr>
        </p:sp>
      </p:grpSp>
      <p:sp>
        <p:nvSpPr>
          <p:cNvPr id="71702" name="Freeform 22"/>
          <p:cNvSpPr/>
          <p:nvPr/>
        </p:nvSpPr>
        <p:spPr>
          <a:xfrm>
            <a:off x="1981200" y="2667000"/>
            <a:ext cx="2222500" cy="533400"/>
          </a:xfrm>
          <a:custGeom>
            <a:avLst/>
            <a:gdLst/>
            <a:ahLst/>
            <a:cxnLst>
              <a:cxn ang="0">
                <a:pos x="2077312" y="0"/>
              </a:cxn>
              <a:cxn ang="0">
                <a:pos x="1943291" y="304800"/>
              </a:cxn>
              <a:cxn ang="0">
                <a:pos x="402060" y="381000"/>
              </a:cxn>
              <a:cxn ang="0">
                <a:pos x="0" y="533400"/>
              </a:cxn>
            </a:cxnLst>
            <a:pathLst>
              <a:path w="1592" h="336">
                <a:moveTo>
                  <a:pt x="1488" y="0"/>
                </a:moveTo>
                <a:cubicBezTo>
                  <a:pt x="1540" y="76"/>
                  <a:pt x="1592" y="152"/>
                  <a:pt x="1392" y="192"/>
                </a:cubicBezTo>
                <a:cubicBezTo>
                  <a:pt x="1192" y="232"/>
                  <a:pt x="520" y="216"/>
                  <a:pt x="288" y="240"/>
                </a:cubicBezTo>
                <a:cubicBezTo>
                  <a:pt x="56" y="264"/>
                  <a:pt x="28" y="300"/>
                  <a:pt x="0" y="336"/>
                </a:cubicBezTo>
              </a:path>
            </a:pathLst>
          </a:custGeom>
          <a:noFill/>
          <a:ln w="38100" cap="flat" cmpd="sng">
            <a:solidFill>
              <a:srgbClr val="FF0000">
                <a:alpha val="50195"/>
              </a:srgbClr>
            </a:solidFill>
            <a:prstDash val="solid"/>
            <a:round/>
            <a:headEnd type="none" w="med" len="med"/>
            <a:tailEnd type="stealth"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5"/>
                                        </p:tgtEl>
                                        <p:attrNameLst>
                                          <p:attrName>style.visibility</p:attrName>
                                        </p:attrNameLst>
                                      </p:cBhvr>
                                      <p:to>
                                        <p:strVal val="visible"/>
                                      </p:to>
                                    </p:set>
                                  </p:childTnLst>
                                  <p:subTnLst>
                                    <p:set>
                                      <p:cBhvr override="childStyle">
                                        <p:cTn dur="1" fill="hold" display="0" masterRel="nextClick" afterEffect="1"/>
                                        <p:tgtEl>
                                          <p:spTgt spid="71685"/>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1702"/>
                                        </p:tgtEl>
                                        <p:attrNameLst>
                                          <p:attrName>style.visibility</p:attrName>
                                        </p:attrNameLst>
                                      </p:cBhvr>
                                      <p:to>
                                        <p:strVal val="visible"/>
                                      </p:to>
                                    </p:set>
                                  </p:childTnLst>
                                  <p:subTnLst>
                                    <p:set>
                                      <p:cBhvr override="childStyle">
                                        <p:cTn dur="1" fill="hold" display="0" masterRel="nextClick" afterEffect="1"/>
                                        <p:tgtEl>
                                          <p:spTgt spid="71702"/>
                                        </p:tgtEl>
                                        <p:attrNameLst>
                                          <p:attrName>style.visibility</p:attrName>
                                        </p:attrNameLst>
                                      </p:cBhvr>
                                      <p:to>
                                        <p:strVal val="hidden"/>
                                      </p:to>
                                    </p:se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1695"/>
                                        </p:tgtEl>
                                        <p:attrNameLst>
                                          <p:attrName>style.visibility</p:attrName>
                                        </p:attrNameLst>
                                      </p:cBhvr>
                                      <p:to>
                                        <p:strVal val="visible"/>
                                      </p:to>
                                    </p:set>
                                  </p:childTnLst>
                                  <p:subTnLst>
                                    <p:set>
                                      <p:cBhvr override="childStyle">
                                        <p:cTn dur="1" fill="hold" display="0" masterRel="nextClick" afterEffect="1"/>
                                        <p:tgtEl>
                                          <p:spTgt spid="71695"/>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584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5844" name="Rectangle 2"/>
          <p:cNvSpPr>
            <a:spLocks noGrp="1"/>
          </p:cNvSpPr>
          <p:nvPr>
            <p:ph type="title"/>
          </p:nvPr>
        </p:nvSpPr>
        <p:spPr>
          <a:xfrm>
            <a:off x="827405" y="46355"/>
            <a:ext cx="8314055" cy="1143000"/>
          </a:xfrm>
        </p:spPr>
        <p:txBody>
          <a:bodyPr vert="horz" wrap="square" lIns="91440" tIns="45720" rIns="91440" bIns="45720" anchor="b" anchorCtr="0"/>
          <a:p>
            <a:pPr eaLnBrk="1" hangingPunct="1"/>
            <a:r>
              <a:rPr lang="en-US" altLang="zh-CN" sz="4000" dirty="0"/>
              <a:t>Concluding long derivation...</a:t>
            </a:r>
            <a:endParaRPr lang="en-US" altLang="zh-CN" sz="4000" dirty="0"/>
          </a:p>
        </p:txBody>
      </p:sp>
      <p:sp>
        <p:nvSpPr>
          <p:cNvPr id="35845" name="Rectangle 3"/>
          <p:cNvSpPr>
            <a:spLocks noGrp="1"/>
          </p:cNvSpPr>
          <p:nvPr>
            <p:ph idx="1"/>
          </p:nvPr>
        </p:nvSpPr>
        <p:spPr/>
        <p:txBody>
          <a:bodyPr vert="horz" wrap="square" lIns="91440" tIns="45720" rIns="91440" bIns="45720" anchor="t" anchorCtr="0"/>
          <a:p>
            <a:pPr eaLnBrk="1" hangingPunct="1">
              <a:buNone/>
            </a:pPr>
            <a:r>
              <a:rPr lang="en-US" altLang="zh-CN" dirty="0"/>
              <a:t> </a:t>
            </a:r>
            <a:endParaRPr lang="en-US" altLang="zh-CN" dirty="0"/>
          </a:p>
        </p:txBody>
      </p:sp>
      <p:graphicFrame>
        <p:nvGraphicFramePr>
          <p:cNvPr id="35846" name="Object 4"/>
          <p:cNvGraphicFramePr>
            <a:graphicFrameLocks noChangeAspect="1"/>
          </p:cNvGraphicFramePr>
          <p:nvPr/>
        </p:nvGraphicFramePr>
        <p:xfrm>
          <a:off x="984250" y="2282825"/>
          <a:ext cx="6413500" cy="3487738"/>
        </p:xfrm>
        <a:graphic>
          <a:graphicData uri="http://schemas.openxmlformats.org/presentationml/2006/ole">
            <mc:AlternateContent xmlns:mc="http://schemas.openxmlformats.org/markup-compatibility/2006">
              <mc:Choice xmlns:v="urn:schemas-microsoft-com:vml" Requires="v">
                <p:oleObj spid="_x0000_s3092" name="" r:id="rId1" imgW="3060700" imgH="1663700" progId="Equation.3">
                  <p:embed/>
                </p:oleObj>
              </mc:Choice>
              <mc:Fallback>
                <p:oleObj name="" r:id="rId1" imgW="3060700" imgH="1663700" progId="Equation.3">
                  <p:embed/>
                  <p:pic>
                    <p:nvPicPr>
                      <p:cNvPr id="0" name="图片 3091"/>
                      <p:cNvPicPr/>
                      <p:nvPr/>
                    </p:nvPicPr>
                    <p:blipFill>
                      <a:blip r:embed="rId2"/>
                      <a:stretch>
                        <a:fillRect/>
                      </a:stretch>
                    </p:blipFill>
                    <p:spPr>
                      <a:xfrm>
                        <a:off x="984250" y="2282825"/>
                        <a:ext cx="6413500" cy="3487738"/>
                      </a:xfrm>
                      <a:prstGeom prst="rect">
                        <a:avLst/>
                      </a:prstGeom>
                      <a:noFill/>
                      <a:ln w="38100">
                        <a:noFill/>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6867"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6868" name="Rectangle 2"/>
          <p:cNvSpPr>
            <a:spLocks noGrp="1"/>
          </p:cNvSpPr>
          <p:nvPr>
            <p:ph type="title"/>
          </p:nvPr>
        </p:nvSpPr>
        <p:spPr/>
        <p:txBody>
          <a:bodyPr vert="horz" wrap="square" lIns="91440" tIns="45720" rIns="91440" bIns="45720" anchor="b" anchorCtr="0"/>
          <a:p>
            <a:pPr eaLnBrk="1" hangingPunct="1"/>
            <a:r>
              <a:rPr lang="en-US" altLang="zh-CN" dirty="0"/>
              <a:t>Nested Summations</a:t>
            </a:r>
            <a:endParaRPr lang="en-US" altLang="zh-CN" dirty="0"/>
          </a:p>
        </p:txBody>
      </p:sp>
      <p:sp>
        <p:nvSpPr>
          <p:cNvPr id="36869" name="Rectangle 3"/>
          <p:cNvSpPr>
            <a:spLocks noGrp="1"/>
          </p:cNvSpPr>
          <p:nvPr>
            <p:ph idx="1"/>
          </p:nvPr>
        </p:nvSpPr>
        <p:spPr/>
        <p:txBody>
          <a:bodyPr vert="horz" wrap="square" lIns="91440" tIns="45720" rIns="91440" bIns="45720" anchor="t" anchorCtr="0"/>
          <a:p>
            <a:pPr eaLnBrk="1" hangingPunct="1"/>
            <a:r>
              <a:rPr lang="en-US" altLang="zh-CN" dirty="0"/>
              <a:t>These have the meaning you’d expect.</a:t>
            </a:r>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r>
              <a:rPr lang="en-US" altLang="zh-CN" dirty="0"/>
              <a:t>Note issues of free vs. bound variables, just like in quantified expressions, integrals, etc.</a:t>
            </a:r>
            <a:endParaRPr lang="en-US" altLang="zh-CN" dirty="0"/>
          </a:p>
        </p:txBody>
      </p:sp>
      <p:graphicFrame>
        <p:nvGraphicFramePr>
          <p:cNvPr id="36870" name="Object 4"/>
          <p:cNvGraphicFramePr>
            <a:graphicFrameLocks noChangeAspect="1"/>
          </p:cNvGraphicFramePr>
          <p:nvPr/>
        </p:nvGraphicFramePr>
        <p:xfrm>
          <a:off x="1548130" y="2060575"/>
          <a:ext cx="6215063" cy="2374900"/>
        </p:xfrm>
        <a:graphic>
          <a:graphicData uri="http://schemas.openxmlformats.org/presentationml/2006/ole">
            <mc:AlternateContent xmlns:mc="http://schemas.openxmlformats.org/markup-compatibility/2006">
              <mc:Choice xmlns:v="urn:schemas-microsoft-com:vml" Requires="v">
                <p:oleObj spid="_x0000_s3094" name="" r:id="rId1" imgW="2959100" imgH="1130300" progId="Equation.3">
                  <p:embed/>
                </p:oleObj>
              </mc:Choice>
              <mc:Fallback>
                <p:oleObj name="" r:id="rId1" imgW="2959100" imgH="1130300" progId="Equation.3">
                  <p:embed/>
                  <p:pic>
                    <p:nvPicPr>
                      <p:cNvPr id="0" name="图片 3093"/>
                      <p:cNvPicPr/>
                      <p:nvPr/>
                    </p:nvPicPr>
                    <p:blipFill>
                      <a:blip r:embed="rId2"/>
                      <a:stretch>
                        <a:fillRect/>
                      </a:stretch>
                    </p:blipFill>
                    <p:spPr>
                      <a:xfrm>
                        <a:off x="1548130" y="2060575"/>
                        <a:ext cx="6215063" cy="2374900"/>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789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7892" name="Rectangle 2"/>
          <p:cNvSpPr>
            <a:spLocks noGrp="1"/>
          </p:cNvSpPr>
          <p:nvPr>
            <p:ph type="title"/>
          </p:nvPr>
        </p:nvSpPr>
        <p:spPr>
          <a:xfrm>
            <a:off x="864870" y="46355"/>
            <a:ext cx="8333105" cy="1143000"/>
          </a:xfrm>
        </p:spPr>
        <p:txBody>
          <a:bodyPr vert="horz" wrap="square" lIns="91440" tIns="45720" rIns="91440" bIns="45720" anchor="b" anchorCtr="0"/>
          <a:p>
            <a:pPr eaLnBrk="1" hangingPunct="1"/>
            <a:r>
              <a:rPr lang="en-US" altLang="zh-CN" sz="4000" dirty="0"/>
              <a:t>Some Shortcut Expressions</a:t>
            </a:r>
            <a:endParaRPr lang="en-US" altLang="zh-CN" sz="4000" dirty="0"/>
          </a:p>
        </p:txBody>
      </p:sp>
      <p:sp>
        <p:nvSpPr>
          <p:cNvPr id="37893" name="Rectangle 3"/>
          <p:cNvSpPr>
            <a:spLocks noGrp="1"/>
          </p:cNvSpPr>
          <p:nvPr>
            <p:ph idx="1"/>
          </p:nvPr>
        </p:nvSpPr>
        <p:spPr/>
        <p:txBody>
          <a:bodyPr vert="horz" wrap="square" lIns="91440" tIns="45720" rIns="91440" bIns="45720" anchor="t" anchorCtr="0"/>
          <a:p>
            <a:pPr eaLnBrk="1" hangingPunct="1">
              <a:buNone/>
            </a:pPr>
            <a:r>
              <a:rPr lang="en-US" altLang="zh-CN" dirty="0"/>
              <a:t> </a:t>
            </a:r>
            <a:endParaRPr lang="en-US" altLang="zh-CN" dirty="0"/>
          </a:p>
        </p:txBody>
      </p:sp>
      <p:graphicFrame>
        <p:nvGraphicFramePr>
          <p:cNvPr id="37894" name="Object 4"/>
          <p:cNvGraphicFramePr>
            <a:graphicFrameLocks noChangeAspect="1"/>
          </p:cNvGraphicFramePr>
          <p:nvPr/>
        </p:nvGraphicFramePr>
        <p:xfrm>
          <a:off x="914400" y="1981200"/>
          <a:ext cx="4343400" cy="3976688"/>
        </p:xfrm>
        <a:graphic>
          <a:graphicData uri="http://schemas.openxmlformats.org/presentationml/2006/ole">
            <mc:AlternateContent xmlns:mc="http://schemas.openxmlformats.org/markup-compatibility/2006">
              <mc:Choice xmlns:v="urn:schemas-microsoft-com:vml" Requires="v">
                <p:oleObj spid="_x0000_s3093" name="" r:id="rId1" imgW="1943100" imgH="1778000" progId="Equation.3">
                  <p:embed/>
                </p:oleObj>
              </mc:Choice>
              <mc:Fallback>
                <p:oleObj name="" r:id="rId1" imgW="1943100" imgH="1778000" progId="Equation.3">
                  <p:embed/>
                  <p:pic>
                    <p:nvPicPr>
                      <p:cNvPr id="0" name="图片 3092"/>
                      <p:cNvPicPr/>
                      <p:nvPr/>
                    </p:nvPicPr>
                    <p:blipFill>
                      <a:blip r:embed="rId2"/>
                      <a:stretch>
                        <a:fillRect/>
                      </a:stretch>
                    </p:blipFill>
                    <p:spPr>
                      <a:xfrm>
                        <a:off x="914400" y="1981200"/>
                        <a:ext cx="4343400" cy="3976688"/>
                      </a:xfrm>
                      <a:prstGeom prst="rect">
                        <a:avLst/>
                      </a:prstGeom>
                      <a:noFill/>
                      <a:ln w="38100">
                        <a:noFill/>
                        <a:miter/>
                      </a:ln>
                    </p:spPr>
                  </p:pic>
                </p:oleObj>
              </mc:Fallback>
            </mc:AlternateContent>
          </a:graphicData>
        </a:graphic>
      </p:graphicFrame>
      <p:sp>
        <p:nvSpPr>
          <p:cNvPr id="37895" name="Text Box 5"/>
          <p:cNvSpPr txBox="1"/>
          <p:nvPr/>
        </p:nvSpPr>
        <p:spPr>
          <a:xfrm>
            <a:off x="5634038" y="2286000"/>
            <a:ext cx="2314575" cy="457200"/>
          </a:xfrm>
          <a:prstGeom prst="rect">
            <a:avLst/>
          </a:prstGeom>
          <a:noFill/>
          <a:ln w="38100">
            <a:noFill/>
          </a:ln>
        </p:spPr>
        <p:txBody>
          <a:bodyPr wrap="none" anchor="ctr" anchorCtr="0">
            <a:spAutoFit/>
          </a:bodyPr>
          <a:p>
            <a:pPr algn="ctr">
              <a:spcBef>
                <a:spcPct val="50000"/>
              </a:spcBef>
            </a:pPr>
            <a:r>
              <a:rPr lang="en-US" altLang="zh-CN" dirty="0">
                <a:solidFill>
                  <a:schemeClr val="folHlink"/>
                </a:solidFill>
                <a:latin typeface="Times New Roman" panose="02020503050405090304" pitchFamily="18" charset="0"/>
              </a:rPr>
              <a:t>Geometric series.</a:t>
            </a:r>
            <a:endParaRPr lang="en-US" altLang="zh-CN" dirty="0">
              <a:solidFill>
                <a:schemeClr val="folHlink"/>
              </a:solidFill>
              <a:latin typeface="Times New Roman" panose="02020503050405090304" pitchFamily="18" charset="0"/>
            </a:endParaRPr>
          </a:p>
        </p:txBody>
      </p:sp>
      <p:sp>
        <p:nvSpPr>
          <p:cNvPr id="37896" name="Text Box 6"/>
          <p:cNvSpPr txBox="1"/>
          <p:nvPr/>
        </p:nvSpPr>
        <p:spPr>
          <a:xfrm>
            <a:off x="5867400" y="3200400"/>
            <a:ext cx="1773238" cy="457200"/>
          </a:xfrm>
          <a:prstGeom prst="rect">
            <a:avLst/>
          </a:prstGeom>
          <a:noFill/>
          <a:ln w="38100">
            <a:noFill/>
          </a:ln>
        </p:spPr>
        <p:txBody>
          <a:bodyPr wrap="none" anchor="ctr" anchorCtr="0">
            <a:spAutoFit/>
          </a:bodyPr>
          <a:p>
            <a:pPr algn="ctr">
              <a:spcBef>
                <a:spcPct val="50000"/>
              </a:spcBef>
            </a:pPr>
            <a:r>
              <a:rPr lang="en-US" altLang="zh-CN" dirty="0">
                <a:solidFill>
                  <a:schemeClr val="folHlink"/>
                </a:solidFill>
                <a:latin typeface="Times New Roman" panose="02020503050405090304" pitchFamily="18" charset="0"/>
              </a:rPr>
              <a:t>Euler’s</a:t>
            </a:r>
            <a:r>
              <a:rPr lang="en-US" altLang="zh-CN" dirty="0">
                <a:solidFill>
                  <a:schemeClr val="accent2"/>
                </a:solidFill>
                <a:latin typeface="Times New Roman" panose="02020503050405090304" pitchFamily="18" charset="0"/>
              </a:rPr>
              <a:t> </a:t>
            </a:r>
            <a:r>
              <a:rPr lang="en-US" altLang="zh-CN" dirty="0">
                <a:solidFill>
                  <a:schemeClr val="folHlink"/>
                </a:solidFill>
                <a:latin typeface="Times New Roman" panose="02020503050405090304" pitchFamily="18" charset="0"/>
              </a:rPr>
              <a:t>trick.</a:t>
            </a:r>
            <a:endParaRPr lang="en-US" altLang="zh-CN" dirty="0">
              <a:solidFill>
                <a:schemeClr val="folHlink"/>
              </a:solidFill>
              <a:latin typeface="Times New Roman" panose="02020503050405090304" pitchFamily="18" charset="0"/>
            </a:endParaRPr>
          </a:p>
        </p:txBody>
      </p:sp>
      <p:sp>
        <p:nvSpPr>
          <p:cNvPr id="37897" name="Text Box 7"/>
          <p:cNvSpPr txBox="1"/>
          <p:nvPr/>
        </p:nvSpPr>
        <p:spPr>
          <a:xfrm>
            <a:off x="5486400" y="4191000"/>
            <a:ext cx="2230438" cy="457200"/>
          </a:xfrm>
          <a:prstGeom prst="rect">
            <a:avLst/>
          </a:prstGeom>
          <a:noFill/>
          <a:ln w="38100">
            <a:noFill/>
          </a:ln>
        </p:spPr>
        <p:txBody>
          <a:bodyPr wrap="none" anchor="ctr" anchorCtr="0">
            <a:spAutoFit/>
          </a:bodyPr>
          <a:p>
            <a:pPr algn="ctr">
              <a:spcBef>
                <a:spcPct val="50000"/>
              </a:spcBef>
            </a:pPr>
            <a:r>
              <a:rPr lang="en-US" altLang="zh-CN" dirty="0">
                <a:solidFill>
                  <a:schemeClr val="folHlink"/>
                </a:solidFill>
                <a:latin typeface="Times New Roman" panose="02020503050405090304" pitchFamily="18" charset="0"/>
              </a:rPr>
              <a:t>Quadratic</a:t>
            </a:r>
            <a:r>
              <a:rPr lang="en-US" altLang="zh-CN" dirty="0">
                <a:solidFill>
                  <a:schemeClr val="accent2"/>
                </a:solidFill>
                <a:latin typeface="Times New Roman" panose="02020503050405090304" pitchFamily="18" charset="0"/>
              </a:rPr>
              <a:t> </a:t>
            </a:r>
            <a:r>
              <a:rPr lang="en-US" altLang="zh-CN" dirty="0">
                <a:solidFill>
                  <a:schemeClr val="folHlink"/>
                </a:solidFill>
                <a:latin typeface="Times New Roman" panose="02020503050405090304" pitchFamily="18" charset="0"/>
              </a:rPr>
              <a:t>series.</a:t>
            </a:r>
            <a:endParaRPr lang="en-US" altLang="zh-CN" dirty="0">
              <a:solidFill>
                <a:schemeClr val="folHlink"/>
              </a:solidFill>
              <a:latin typeface="Times New Roman" panose="02020503050405090304" pitchFamily="18" charset="0"/>
            </a:endParaRPr>
          </a:p>
        </p:txBody>
      </p:sp>
      <p:sp>
        <p:nvSpPr>
          <p:cNvPr id="37898" name="Text Box 8"/>
          <p:cNvSpPr txBox="1"/>
          <p:nvPr/>
        </p:nvSpPr>
        <p:spPr>
          <a:xfrm>
            <a:off x="5951538" y="5181600"/>
            <a:ext cx="1757362" cy="457200"/>
          </a:xfrm>
          <a:prstGeom prst="rect">
            <a:avLst/>
          </a:prstGeom>
          <a:noFill/>
          <a:ln w="38100">
            <a:noFill/>
          </a:ln>
        </p:spPr>
        <p:txBody>
          <a:bodyPr wrap="none" anchor="ctr" anchorCtr="0">
            <a:spAutoFit/>
          </a:bodyPr>
          <a:p>
            <a:pPr algn="ctr">
              <a:spcBef>
                <a:spcPct val="50000"/>
              </a:spcBef>
            </a:pPr>
            <a:r>
              <a:rPr lang="en-US" altLang="zh-CN" dirty="0">
                <a:solidFill>
                  <a:schemeClr val="folHlink"/>
                </a:solidFill>
                <a:latin typeface="Times New Roman" panose="02020503050405090304" pitchFamily="18" charset="0"/>
              </a:rPr>
              <a:t>Cubic</a:t>
            </a:r>
            <a:r>
              <a:rPr lang="en-US" altLang="zh-CN" dirty="0">
                <a:solidFill>
                  <a:schemeClr val="accent2"/>
                </a:solidFill>
                <a:latin typeface="Times New Roman" panose="02020503050405090304" pitchFamily="18" charset="0"/>
              </a:rPr>
              <a:t> </a:t>
            </a:r>
            <a:r>
              <a:rPr lang="en-US" altLang="zh-CN" dirty="0">
                <a:solidFill>
                  <a:schemeClr val="folHlink"/>
                </a:solidFill>
                <a:latin typeface="Times New Roman" panose="02020503050405090304" pitchFamily="18" charset="0"/>
              </a:rPr>
              <a:t>series.</a:t>
            </a:r>
            <a:endParaRPr lang="en-US" altLang="zh-CN" dirty="0">
              <a:solidFill>
                <a:schemeClr val="folHlink"/>
              </a:solidFill>
              <a:latin typeface="Times New Roman" panose="0202050305040509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891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8916" name="Rectangle 2"/>
          <p:cNvSpPr>
            <a:spLocks noGrp="1"/>
          </p:cNvSpPr>
          <p:nvPr>
            <p:ph type="title"/>
          </p:nvPr>
        </p:nvSpPr>
        <p:spPr/>
        <p:txBody>
          <a:bodyPr vert="horz" wrap="square" lIns="91440" tIns="45720" rIns="91440" bIns="45720" anchor="b" anchorCtr="0"/>
          <a:p>
            <a:pPr eaLnBrk="1" hangingPunct="1"/>
            <a:r>
              <a:rPr lang="en-US" altLang="zh-CN" dirty="0"/>
              <a:t>Using the Shortcuts</a:t>
            </a:r>
            <a:endParaRPr lang="en-US" altLang="zh-CN" dirty="0"/>
          </a:p>
        </p:txBody>
      </p:sp>
      <p:sp>
        <p:nvSpPr>
          <p:cNvPr id="38917" name="Rectangle 3"/>
          <p:cNvSpPr>
            <a:spLocks noGrp="1"/>
          </p:cNvSpPr>
          <p:nvPr>
            <p:ph idx="1"/>
          </p:nvPr>
        </p:nvSpPr>
        <p:spPr/>
        <p:txBody>
          <a:bodyPr vert="horz" wrap="square" lIns="91440" tIns="45720" rIns="91440" bIns="45720" anchor="t" anchorCtr="0"/>
          <a:p>
            <a:pPr eaLnBrk="1" hangingPunct="1"/>
            <a:r>
              <a:rPr lang="en-US" altLang="zh-CN" dirty="0"/>
              <a:t>Example: Evaluate            .</a:t>
            </a:r>
            <a:endParaRPr lang="en-US" altLang="zh-CN" dirty="0"/>
          </a:p>
          <a:p>
            <a:pPr lvl="1" eaLnBrk="1" hangingPunct="1"/>
            <a:r>
              <a:rPr lang="en-US" altLang="zh-CN" dirty="0">
                <a:solidFill>
                  <a:schemeClr val="folHlink"/>
                </a:solidFill>
              </a:rPr>
              <a:t>Use series splitting.</a:t>
            </a:r>
            <a:endParaRPr lang="en-US" altLang="zh-CN" dirty="0">
              <a:solidFill>
                <a:schemeClr val="folHlink"/>
              </a:solidFill>
            </a:endParaRPr>
          </a:p>
          <a:p>
            <a:pPr lvl="1" eaLnBrk="1" hangingPunct="1"/>
            <a:r>
              <a:rPr lang="en-US" altLang="zh-CN" dirty="0">
                <a:solidFill>
                  <a:schemeClr val="folHlink"/>
                </a:solidFill>
              </a:rPr>
              <a:t>Solve for desired</a:t>
            </a:r>
            <a:br>
              <a:rPr lang="en-US" altLang="zh-CN" dirty="0">
                <a:solidFill>
                  <a:schemeClr val="folHlink"/>
                </a:solidFill>
              </a:rPr>
            </a:br>
            <a:r>
              <a:rPr lang="en-US" altLang="zh-CN" dirty="0">
                <a:solidFill>
                  <a:schemeClr val="folHlink"/>
                </a:solidFill>
              </a:rPr>
              <a:t>summation.</a:t>
            </a:r>
            <a:endParaRPr lang="en-US" altLang="zh-CN" dirty="0">
              <a:solidFill>
                <a:schemeClr val="folHlink"/>
              </a:solidFill>
            </a:endParaRPr>
          </a:p>
          <a:p>
            <a:pPr lvl="1" eaLnBrk="1" hangingPunct="1"/>
            <a:r>
              <a:rPr lang="en-US" altLang="zh-CN" dirty="0">
                <a:solidFill>
                  <a:schemeClr val="folHlink"/>
                </a:solidFill>
              </a:rPr>
              <a:t>Apply quadratic</a:t>
            </a:r>
            <a:br>
              <a:rPr lang="en-US" altLang="zh-CN" dirty="0">
                <a:solidFill>
                  <a:schemeClr val="folHlink"/>
                </a:solidFill>
              </a:rPr>
            </a:br>
            <a:r>
              <a:rPr lang="en-US" altLang="zh-CN" dirty="0">
                <a:solidFill>
                  <a:schemeClr val="folHlink"/>
                </a:solidFill>
              </a:rPr>
              <a:t>series rule.</a:t>
            </a:r>
            <a:endParaRPr lang="en-US" altLang="zh-CN" dirty="0">
              <a:solidFill>
                <a:schemeClr val="folHlink"/>
              </a:solidFill>
            </a:endParaRPr>
          </a:p>
          <a:p>
            <a:pPr lvl="1" eaLnBrk="1" hangingPunct="1"/>
            <a:r>
              <a:rPr lang="en-US" altLang="zh-CN" dirty="0">
                <a:solidFill>
                  <a:schemeClr val="folHlink"/>
                </a:solidFill>
              </a:rPr>
              <a:t>Evaluate.</a:t>
            </a:r>
            <a:endParaRPr lang="en-US" altLang="zh-CN" dirty="0">
              <a:solidFill>
                <a:schemeClr val="folHlink"/>
              </a:solidFill>
            </a:endParaRPr>
          </a:p>
        </p:txBody>
      </p:sp>
      <p:graphicFrame>
        <p:nvGraphicFramePr>
          <p:cNvPr id="38918" name="Object 4"/>
          <p:cNvGraphicFramePr>
            <a:graphicFrameLocks noChangeAspect="1"/>
          </p:cNvGraphicFramePr>
          <p:nvPr/>
        </p:nvGraphicFramePr>
        <p:xfrm>
          <a:off x="4643438" y="1773238"/>
          <a:ext cx="901700" cy="990600"/>
        </p:xfrm>
        <a:graphic>
          <a:graphicData uri="http://schemas.openxmlformats.org/presentationml/2006/ole">
            <mc:AlternateContent xmlns:mc="http://schemas.openxmlformats.org/markup-compatibility/2006">
              <mc:Choice xmlns:v="urn:schemas-microsoft-com:vml" Requires="v">
                <p:oleObj spid="_x0000_s3095" name="" r:id="rId1" imgW="393700" imgH="431800" progId="Equation.3">
                  <p:embed/>
                </p:oleObj>
              </mc:Choice>
              <mc:Fallback>
                <p:oleObj name="" r:id="rId1" imgW="393700" imgH="431800" progId="Equation.3">
                  <p:embed/>
                  <p:pic>
                    <p:nvPicPr>
                      <p:cNvPr id="0" name="图片 3094"/>
                      <p:cNvPicPr/>
                      <p:nvPr/>
                    </p:nvPicPr>
                    <p:blipFill>
                      <a:blip r:embed="rId2"/>
                      <a:stretch>
                        <a:fillRect/>
                      </a:stretch>
                    </p:blipFill>
                    <p:spPr>
                      <a:xfrm>
                        <a:off x="4643438" y="1773238"/>
                        <a:ext cx="901700" cy="990600"/>
                      </a:xfrm>
                      <a:prstGeom prst="rect">
                        <a:avLst/>
                      </a:prstGeom>
                      <a:solidFill>
                        <a:schemeClr val="bg1"/>
                      </a:solidFill>
                      <a:ln w="38100">
                        <a:noFill/>
                        <a:miter/>
                      </a:ln>
                    </p:spPr>
                  </p:pic>
                </p:oleObj>
              </mc:Fallback>
            </mc:AlternateContent>
          </a:graphicData>
        </a:graphic>
      </p:graphicFrame>
      <p:graphicFrame>
        <p:nvGraphicFramePr>
          <p:cNvPr id="75781" name="Object 5"/>
          <p:cNvGraphicFramePr>
            <a:graphicFrameLocks noChangeAspect="1"/>
          </p:cNvGraphicFramePr>
          <p:nvPr/>
        </p:nvGraphicFramePr>
        <p:xfrm>
          <a:off x="4643438" y="2808288"/>
          <a:ext cx="4800600" cy="4049712"/>
        </p:xfrm>
        <a:graphic>
          <a:graphicData uri="http://schemas.openxmlformats.org/presentationml/2006/ole">
            <mc:AlternateContent xmlns:mc="http://schemas.openxmlformats.org/markup-compatibility/2006">
              <mc:Choice xmlns:v="urn:schemas-microsoft-com:vml" Requires="v">
                <p:oleObj spid="_x0000_s3099" name="" r:id="rId3" imgW="2108200" imgH="1778000" progId="Equation.3">
                  <p:embed/>
                </p:oleObj>
              </mc:Choice>
              <mc:Fallback>
                <p:oleObj name="" r:id="rId3" imgW="2108200" imgH="1778000" progId="Equation.3">
                  <p:embed/>
                  <p:pic>
                    <p:nvPicPr>
                      <p:cNvPr id="0" name="图片 3098"/>
                      <p:cNvPicPr/>
                      <p:nvPr/>
                    </p:nvPicPr>
                    <p:blipFill>
                      <a:blip r:embed="rId4"/>
                      <a:stretch>
                        <a:fillRect/>
                      </a:stretch>
                    </p:blipFill>
                    <p:spPr>
                      <a:xfrm>
                        <a:off x="4643438" y="2808288"/>
                        <a:ext cx="4800600" cy="4049712"/>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75781"/>
                                        </p:tgtEl>
                                        <p:attrNameLst>
                                          <p:attrName>style.visibility</p:attrName>
                                        </p:attrNameLst>
                                      </p:cBhvr>
                                      <p:to>
                                        <p:strVal val="visible"/>
                                      </p:to>
                                    </p:set>
                                    <p:anim calcmode="lin" valueType="num">
                                      <p:cBhvr>
                                        <p:cTn id="7" dur="500" fill="hold"/>
                                        <p:tgtEl>
                                          <p:spTgt spid="75781"/>
                                        </p:tgtEl>
                                        <p:attrNameLst>
                                          <p:attrName>ppt_w</p:attrName>
                                        </p:attrNameLst>
                                      </p:cBhvr>
                                      <p:tavLst>
                                        <p:tav tm="0">
                                          <p:val>
                                            <p:fltVal val="0.000000"/>
                                          </p:val>
                                        </p:tav>
                                        <p:tav tm="100000">
                                          <p:val>
                                            <p:strVal val="#ppt_w"/>
                                          </p:val>
                                        </p:tav>
                                      </p:tavLst>
                                    </p:anim>
                                    <p:anim calcmode="lin" valueType="num">
                                      <p:cBhvr>
                                        <p:cTn id="8" dur="500" fill="hold"/>
                                        <p:tgtEl>
                                          <p:spTgt spid="75781"/>
                                        </p:tgtEl>
                                        <p:attrNameLst>
                                          <p:attrName>ppt_h</p:attrName>
                                        </p:attrNameLst>
                                      </p:cBhvr>
                                      <p:tavLst>
                                        <p:tav tm="0">
                                          <p:val>
                                            <p:fltVal val="0.000000"/>
                                          </p:val>
                                        </p:tav>
                                        <p:tav tm="100000">
                                          <p:val>
                                            <p:strVal val="#ppt_h"/>
                                          </p:val>
                                        </p:tav>
                                      </p:tavLst>
                                    </p:anim>
                                    <p:anim calcmode="lin" valueType="num">
                                      <p:cBhvr>
                                        <p:cTn id="9" dur="500" fill="hold"/>
                                        <p:tgtEl>
                                          <p:spTgt spid="75781"/>
                                        </p:tgtEl>
                                        <p:attrNameLst>
                                          <p:attrName>ppt_x</p:attrName>
                                        </p:attrNameLst>
                                      </p:cBhvr>
                                      <p:tavLst>
                                        <p:tav tm="0">
                                          <p:val>
                                            <p:fltVal val="0.500000"/>
                                          </p:val>
                                        </p:tav>
                                        <p:tav tm="100000">
                                          <p:val>
                                            <p:strVal val="#ppt_x"/>
                                          </p:val>
                                        </p:tav>
                                      </p:tavLst>
                                    </p:anim>
                                    <p:anim calcmode="lin" valueType="num">
                                      <p:cBhvr>
                                        <p:cTn id="10" dur="500" fill="hold"/>
                                        <p:tgtEl>
                                          <p:spTgt spid="75781"/>
                                        </p:tgtEl>
                                        <p:attrNameLst>
                                          <p:attrName>ppt_y</p:attrName>
                                        </p:attrNameLst>
                                      </p:cBhvr>
                                      <p:tavLst>
                                        <p:tav tm="0">
                                          <p:val>
                                            <p:fltVal val="0.500000"/>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5"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3993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39940" name="Rectangle 2"/>
          <p:cNvSpPr>
            <a:spLocks noGrp="1"/>
          </p:cNvSpPr>
          <p:nvPr>
            <p:ph type="title"/>
          </p:nvPr>
        </p:nvSpPr>
        <p:spPr/>
        <p:txBody>
          <a:bodyPr vert="horz" wrap="square" lIns="91440" tIns="45720" rIns="91440" bIns="45720" anchor="b" anchorCtr="0"/>
          <a:p>
            <a:pPr eaLnBrk="1" hangingPunct="1"/>
            <a:r>
              <a:rPr lang="en-US" altLang="zh-CN" dirty="0"/>
              <a:t>Summations: Conclusion</a:t>
            </a:r>
            <a:endParaRPr lang="en-US" altLang="zh-CN" dirty="0"/>
          </a:p>
        </p:txBody>
      </p:sp>
      <p:sp>
        <p:nvSpPr>
          <p:cNvPr id="39941" name="Rectangle 3"/>
          <p:cNvSpPr>
            <a:spLocks noGrp="1"/>
          </p:cNvSpPr>
          <p:nvPr>
            <p:ph idx="1"/>
          </p:nvPr>
        </p:nvSpPr>
        <p:spPr/>
        <p:txBody>
          <a:bodyPr vert="horz" wrap="square" lIns="91440" tIns="45720" rIns="91440" bIns="45720" anchor="t" anchorCtr="0"/>
          <a:p>
            <a:pPr eaLnBrk="1" hangingPunct="1"/>
            <a:r>
              <a:rPr lang="en-US" altLang="zh-CN" dirty="0"/>
              <a:t>You need to know:</a:t>
            </a:r>
            <a:endParaRPr lang="en-US" altLang="zh-CN" dirty="0"/>
          </a:p>
          <a:p>
            <a:pPr lvl="1" eaLnBrk="1" hangingPunct="1"/>
            <a:r>
              <a:rPr lang="en-US" altLang="zh-CN" dirty="0">
                <a:solidFill>
                  <a:schemeClr val="folHlink"/>
                </a:solidFill>
              </a:rPr>
              <a:t>How to read, write &amp; evaluate summation expressions like:</a:t>
            </a:r>
            <a:endParaRPr lang="en-US" altLang="zh-CN" dirty="0">
              <a:solidFill>
                <a:schemeClr val="folHlink"/>
              </a:solidFill>
            </a:endParaRPr>
          </a:p>
          <a:p>
            <a:pPr lvl="1" eaLnBrk="1" hangingPunct="1"/>
            <a:endParaRPr lang="en-US" altLang="zh-CN" dirty="0">
              <a:solidFill>
                <a:schemeClr val="accent2"/>
              </a:solidFill>
            </a:endParaRPr>
          </a:p>
          <a:p>
            <a:pPr lvl="1" eaLnBrk="1" hangingPunct="1"/>
            <a:endParaRPr lang="en-US" altLang="zh-CN" dirty="0"/>
          </a:p>
          <a:p>
            <a:pPr lvl="1" eaLnBrk="1" hangingPunct="1"/>
            <a:r>
              <a:rPr lang="en-US" altLang="zh-CN" dirty="0">
                <a:solidFill>
                  <a:schemeClr val="folHlink"/>
                </a:solidFill>
              </a:rPr>
              <a:t>Summation manipulation laws we covered.</a:t>
            </a:r>
            <a:endParaRPr lang="en-US" altLang="zh-CN" dirty="0">
              <a:solidFill>
                <a:schemeClr val="folHlink"/>
              </a:solidFill>
            </a:endParaRPr>
          </a:p>
          <a:p>
            <a:pPr lvl="1" eaLnBrk="1" hangingPunct="1"/>
            <a:r>
              <a:rPr lang="en-US" altLang="zh-CN" dirty="0">
                <a:solidFill>
                  <a:schemeClr val="folHlink"/>
                </a:solidFill>
              </a:rPr>
              <a:t>Shortcut closed-form formulas, </a:t>
            </a:r>
            <a:br>
              <a:rPr lang="en-US" altLang="zh-CN" dirty="0">
                <a:solidFill>
                  <a:schemeClr val="folHlink"/>
                </a:solidFill>
              </a:rPr>
            </a:br>
            <a:r>
              <a:rPr lang="en-US" altLang="zh-CN" dirty="0">
                <a:solidFill>
                  <a:schemeClr val="folHlink"/>
                </a:solidFill>
              </a:rPr>
              <a:t>&amp; how to use them</a:t>
            </a:r>
            <a:r>
              <a:rPr lang="en-US" altLang="zh-CN" dirty="0">
                <a:solidFill>
                  <a:schemeClr val="accent2"/>
                </a:solidFill>
              </a:rPr>
              <a:t>.</a:t>
            </a:r>
            <a:endParaRPr lang="en-US" altLang="zh-CN" dirty="0">
              <a:solidFill>
                <a:schemeClr val="accent2"/>
              </a:solidFill>
            </a:endParaRPr>
          </a:p>
        </p:txBody>
      </p:sp>
      <p:graphicFrame>
        <p:nvGraphicFramePr>
          <p:cNvPr id="39942" name="Object 4"/>
          <p:cNvGraphicFramePr>
            <a:graphicFrameLocks noChangeAspect="1"/>
          </p:cNvGraphicFramePr>
          <p:nvPr/>
        </p:nvGraphicFramePr>
        <p:xfrm>
          <a:off x="4191000" y="3083560"/>
          <a:ext cx="1371600" cy="879475"/>
        </p:xfrm>
        <a:graphic>
          <a:graphicData uri="http://schemas.openxmlformats.org/presentationml/2006/ole">
            <mc:AlternateContent xmlns:mc="http://schemas.openxmlformats.org/markup-compatibility/2006">
              <mc:Choice xmlns:v="urn:schemas-microsoft-com:vml" Requires="v">
                <p:oleObj spid="_x0000_s3096" name="" r:id="rId1" imgW="533400" imgH="342900" progId="Equation.3">
                  <p:embed/>
                </p:oleObj>
              </mc:Choice>
              <mc:Fallback>
                <p:oleObj name="" r:id="rId1" imgW="533400" imgH="342900" progId="Equation.3">
                  <p:embed/>
                  <p:pic>
                    <p:nvPicPr>
                      <p:cNvPr id="0" name="图片 3095"/>
                      <p:cNvPicPr/>
                      <p:nvPr/>
                    </p:nvPicPr>
                    <p:blipFill>
                      <a:blip r:embed="rId2"/>
                      <a:stretch>
                        <a:fillRect/>
                      </a:stretch>
                    </p:blipFill>
                    <p:spPr>
                      <a:xfrm>
                        <a:off x="4191000" y="3083560"/>
                        <a:ext cx="1371600" cy="879475"/>
                      </a:xfrm>
                      <a:prstGeom prst="rect">
                        <a:avLst/>
                      </a:prstGeom>
                      <a:noFill/>
                      <a:ln w="38100">
                        <a:noFill/>
                        <a:miter/>
                      </a:ln>
                    </p:spPr>
                  </p:pic>
                </p:oleObj>
              </mc:Fallback>
            </mc:AlternateContent>
          </a:graphicData>
        </a:graphic>
      </p:graphicFrame>
      <p:graphicFrame>
        <p:nvGraphicFramePr>
          <p:cNvPr id="39943" name="Object 5"/>
          <p:cNvGraphicFramePr>
            <a:graphicFrameLocks noChangeAspect="1"/>
          </p:cNvGraphicFramePr>
          <p:nvPr/>
        </p:nvGraphicFramePr>
        <p:xfrm>
          <a:off x="6248400" y="3083560"/>
          <a:ext cx="1447800" cy="963613"/>
        </p:xfrm>
        <a:graphic>
          <a:graphicData uri="http://schemas.openxmlformats.org/presentationml/2006/ole">
            <mc:AlternateContent xmlns:mc="http://schemas.openxmlformats.org/markup-compatibility/2006">
              <mc:Choice xmlns:v="urn:schemas-microsoft-com:vml" Requires="v">
                <p:oleObj spid="_x0000_s3097" name="" r:id="rId3" imgW="533400" imgH="355600" progId="Equation.3">
                  <p:embed/>
                </p:oleObj>
              </mc:Choice>
              <mc:Fallback>
                <p:oleObj name="" r:id="rId3" imgW="533400" imgH="355600" progId="Equation.3">
                  <p:embed/>
                  <p:pic>
                    <p:nvPicPr>
                      <p:cNvPr id="0" name="图片 3096"/>
                      <p:cNvPicPr/>
                      <p:nvPr/>
                    </p:nvPicPr>
                    <p:blipFill>
                      <a:blip r:embed="rId4"/>
                      <a:stretch>
                        <a:fillRect/>
                      </a:stretch>
                    </p:blipFill>
                    <p:spPr>
                      <a:xfrm>
                        <a:off x="6248400" y="3083560"/>
                        <a:ext cx="1447800" cy="963613"/>
                      </a:xfrm>
                      <a:prstGeom prst="rect">
                        <a:avLst/>
                      </a:prstGeom>
                      <a:noFill/>
                      <a:ln w="38100">
                        <a:noFill/>
                        <a:miter/>
                      </a:ln>
                    </p:spPr>
                  </p:pic>
                </p:oleObj>
              </mc:Fallback>
            </mc:AlternateContent>
          </a:graphicData>
        </a:graphic>
      </p:graphicFrame>
      <p:graphicFrame>
        <p:nvGraphicFramePr>
          <p:cNvPr id="39944" name="Object 6"/>
          <p:cNvGraphicFramePr>
            <a:graphicFrameLocks noChangeAspect="1"/>
          </p:cNvGraphicFramePr>
          <p:nvPr/>
        </p:nvGraphicFramePr>
        <p:xfrm>
          <a:off x="1676400" y="2931160"/>
          <a:ext cx="844550" cy="1057275"/>
        </p:xfrm>
        <a:graphic>
          <a:graphicData uri="http://schemas.openxmlformats.org/presentationml/2006/ole">
            <mc:AlternateContent xmlns:mc="http://schemas.openxmlformats.org/markup-compatibility/2006">
              <mc:Choice xmlns:v="urn:schemas-microsoft-com:vml" Requires="v">
                <p:oleObj spid="_x0000_s3098" name="" r:id="rId5" imgW="355600" imgH="443865" progId="Equation.3">
                  <p:embed/>
                </p:oleObj>
              </mc:Choice>
              <mc:Fallback>
                <p:oleObj name="" r:id="rId5" imgW="355600" imgH="443865" progId="Equation.3">
                  <p:embed/>
                  <p:pic>
                    <p:nvPicPr>
                      <p:cNvPr id="0" name="图片 3097"/>
                      <p:cNvPicPr/>
                      <p:nvPr/>
                    </p:nvPicPr>
                    <p:blipFill>
                      <a:blip r:embed="rId6"/>
                      <a:stretch>
                        <a:fillRect/>
                      </a:stretch>
                    </p:blipFill>
                    <p:spPr>
                      <a:xfrm>
                        <a:off x="1676400" y="2931160"/>
                        <a:ext cx="844550" cy="1057275"/>
                      </a:xfrm>
                      <a:prstGeom prst="rect">
                        <a:avLst/>
                      </a:prstGeom>
                      <a:noFill/>
                      <a:ln w="38100">
                        <a:noFill/>
                        <a:miter/>
                      </a:ln>
                    </p:spPr>
                  </p:pic>
                </p:oleObj>
              </mc:Fallback>
            </mc:AlternateContent>
          </a:graphicData>
        </a:graphic>
      </p:graphicFrame>
      <p:graphicFrame>
        <p:nvGraphicFramePr>
          <p:cNvPr id="39945" name="Object 7"/>
          <p:cNvGraphicFramePr>
            <a:graphicFrameLocks noChangeAspect="1"/>
          </p:cNvGraphicFramePr>
          <p:nvPr/>
        </p:nvGraphicFramePr>
        <p:xfrm>
          <a:off x="2895600" y="2931160"/>
          <a:ext cx="844550" cy="1057275"/>
        </p:xfrm>
        <a:graphic>
          <a:graphicData uri="http://schemas.openxmlformats.org/presentationml/2006/ole">
            <mc:AlternateContent xmlns:mc="http://schemas.openxmlformats.org/markup-compatibility/2006">
              <mc:Choice xmlns:v="urn:schemas-microsoft-com:vml" Requires="v">
                <p:oleObj spid="_x0000_s3089" name="" r:id="rId7" imgW="355600" imgH="443865" progId="Equation.3">
                  <p:embed/>
                </p:oleObj>
              </mc:Choice>
              <mc:Fallback>
                <p:oleObj name="" r:id="rId7" imgW="355600" imgH="443865" progId="Equation.3">
                  <p:embed/>
                  <p:pic>
                    <p:nvPicPr>
                      <p:cNvPr id="0" name="图片 3088"/>
                      <p:cNvPicPr/>
                      <p:nvPr/>
                    </p:nvPicPr>
                    <p:blipFill>
                      <a:blip r:embed="rId8"/>
                      <a:stretch>
                        <a:fillRect/>
                      </a:stretch>
                    </p:blipFill>
                    <p:spPr>
                      <a:xfrm>
                        <a:off x="2895600" y="2931160"/>
                        <a:ext cx="844550" cy="1057275"/>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b="1" i="1" dirty="0">
                <a:solidFill>
                  <a:srgbClr val="009999"/>
                </a:solidFill>
                <a:latin typeface="Arial Narrow" panose="020B0606020202030204" pitchFamily="34" charset="0"/>
              </a:rPr>
            </a:fld>
            <a:endParaRPr lang="zh-CN" altLang="en-US" sz="1000" b="1" i="1" dirty="0">
              <a:solidFill>
                <a:srgbClr val="009999"/>
              </a:solidFill>
              <a:latin typeface="Arial Narrow" panose="020B0606020202030204" pitchFamily="34" charset="0"/>
            </a:endParaRPr>
          </a:p>
        </p:txBody>
      </p:sp>
      <p:sp>
        <p:nvSpPr>
          <p:cNvPr id="4096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en-US" altLang="zh-CN" sz="1200" b="1" i="1" dirty="0">
              <a:solidFill>
                <a:srgbClr val="009999"/>
              </a:solidFill>
              <a:latin typeface="Arial Narrow" panose="020B0606020202030204" pitchFamily="34" charset="0"/>
            </a:endParaRPr>
          </a:p>
        </p:txBody>
      </p:sp>
      <p:sp>
        <p:nvSpPr>
          <p:cNvPr id="40964"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40965" name="Rectangle 3"/>
          <p:cNvSpPr>
            <a:spLocks noGrp="1"/>
          </p:cNvSpPr>
          <p:nvPr>
            <p:ph idx="1"/>
          </p:nvPr>
        </p:nvSpPr>
        <p:spPr>
          <a:xfrm>
            <a:off x="920433" y="1412875"/>
            <a:ext cx="7772400" cy="4114800"/>
          </a:xfrm>
        </p:spPr>
        <p:txBody>
          <a:bodyPr vert="horz" wrap="square" lIns="91440" tIns="45720" rIns="91440" bIns="45720" anchor="t" anchorCtr="0"/>
          <a:p>
            <a:pPr eaLnBrk="1" hangingPunct="1"/>
            <a:r>
              <a:rPr lang="en-US" altLang="zh-CN" dirty="0"/>
              <a:t> §2.4 </a:t>
            </a:r>
            <a:endParaRPr lang="en-US" altLang="zh-CN" dirty="0"/>
          </a:p>
          <a:p>
            <a:pPr lvl="1" eaLnBrk="1" hangingPunct="1"/>
            <a:r>
              <a:rPr lang="en-US" altLang="zh-CN" dirty="0"/>
              <a:t> 6(</a:t>
            </a:r>
            <a:r>
              <a:rPr lang="en-US" altLang="zh-CN" i="1" dirty="0"/>
              <a:t>a,c,e,g</a:t>
            </a:r>
            <a:r>
              <a:rPr lang="en-US" altLang="zh-CN" dirty="0"/>
              <a:t>), 12(</a:t>
            </a:r>
            <a:r>
              <a:rPr lang="en-US" altLang="zh-CN" i="1" dirty="0"/>
              <a:t>a,d</a:t>
            </a:r>
            <a:r>
              <a:rPr lang="en-US" altLang="zh-CN" dirty="0"/>
              <a:t>), 18,</a:t>
            </a:r>
            <a:endParaRPr lang="en-US" altLang="zh-CN" dirty="0"/>
          </a:p>
          <a:p>
            <a:pPr lvl="1" eaLnBrk="1" hangingPunct="1"/>
            <a:r>
              <a:rPr lang="en-US" altLang="zh-CN" dirty="0"/>
              <a:t> 26(</a:t>
            </a:r>
            <a:r>
              <a:rPr lang="en-US" altLang="zh-CN" i="1" dirty="0"/>
              <a:t>a,f</a:t>
            </a:r>
            <a:r>
              <a:rPr lang="en-US" altLang="zh-CN" dirty="0"/>
              <a:t>), 30(b,d), 34(b)</a:t>
            </a:r>
            <a:endParaRPr lang="en-US" altLang="zh-CN" dirty="0"/>
          </a:p>
          <a:p>
            <a:pPr lvl="1" eaLnBrk="1" hangingPunct="1"/>
            <a:endParaRPr lang="en-US" altLang="zh-CN" dirty="0"/>
          </a:p>
          <a:p>
            <a:pPr lvl="1" eaLnBrk="1" hangingPunct="1"/>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p:nvPr>
        </p:nvSpPr>
        <p:spPr>
          <a:xfrm>
            <a:off x="885825" y="1828800"/>
            <a:ext cx="8007350" cy="1143000"/>
          </a:xfrm>
        </p:spPr>
        <p:txBody>
          <a:bodyPr vert="horz" wrap="square" lIns="91440" tIns="45720" rIns="91440" bIns="45720" anchor="b" anchorCtr="0"/>
          <a:p>
            <a:pPr eaLnBrk="1" hangingPunct="1">
              <a:buClrTx/>
              <a:buSzTx/>
              <a:buFontTx/>
            </a:pPr>
            <a:r>
              <a:rPr lang="en-US" altLang="zh-CN" dirty="0">
                <a:sym typeface="+mn-ea"/>
              </a:rPr>
              <a:t>Cardinality of Sets</a:t>
            </a:r>
            <a:endParaRPr lang="en-US" altLang="zh-CN" dirty="0">
              <a:latin typeface="Copperplate Gothic Bold" panose="020E0705020206020404" pitchFamily="34" charset="0"/>
              <a:ea typeface="+mj-ea"/>
              <a:cs typeface="+mj-cs"/>
            </a:endParaRPr>
          </a:p>
        </p:txBody>
      </p:sp>
      <p:sp>
        <p:nvSpPr>
          <p:cNvPr id="5123" name="Rectangle 3"/>
          <p:cNvSpPr>
            <a:spLocks noGrp="1"/>
          </p:cNvSpPr>
          <p:nvPr>
            <p:ph type="subTitle" idx="1"/>
          </p:nvPr>
        </p:nvSpPr>
        <p:spPr/>
        <p:txBody>
          <a:bodyPr vert="horz" wrap="square" lIns="91440" tIns="45720" rIns="91440" bIns="45720" anchor="t" anchorCtr="0"/>
          <a:p>
            <a:pPr eaLnBrk="1" hangingPunct="1">
              <a:buSzPct val="60000"/>
            </a:pPr>
            <a:endParaRPr lang="en-US" altLang="zh-CN" dirty="0">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b" anchorCtr="0"/>
          <a:p>
            <a:pPr eaLnBrk="1" hangingPunct="1"/>
            <a:r>
              <a:rPr lang="en-US" altLang="zh-CN" sz="4000" dirty="0">
                <a:latin typeface="Times New Roman" panose="02020503050405090304" pitchFamily="18" charset="0"/>
                <a:ea typeface="宋体" pitchFamily="2" charset="-122"/>
                <a:cs typeface="+mj-cs"/>
              </a:rPr>
              <a:t>Cantor</a:t>
            </a:r>
            <a:r>
              <a:rPr lang="en-US" altLang="zh-CN" sz="4000" dirty="0">
                <a:latin typeface="Arial Rounded MT Bold" panose="020F0704030504030204" pitchFamily="34" charset="0"/>
                <a:ea typeface="宋体" pitchFamily="2" charset="-122"/>
                <a:cs typeface="+mj-cs"/>
              </a:rPr>
              <a:t>’</a:t>
            </a:r>
            <a:r>
              <a:rPr lang="en-US" altLang="zh-CN" sz="4000" dirty="0">
                <a:latin typeface="Times New Roman" panose="02020503050405090304" pitchFamily="18" charset="0"/>
                <a:ea typeface="宋体" pitchFamily="2" charset="-122"/>
                <a:cs typeface="+mj-cs"/>
              </a:rPr>
              <a:t>s Definition (1874)</a:t>
            </a:r>
            <a:endParaRPr lang="zh-CN" altLang="en-US" sz="4000" dirty="0">
              <a:latin typeface="Times New Roman" panose="02020503050405090304" pitchFamily="18" charset="0"/>
              <a:ea typeface="宋体" pitchFamily="2" charset="-122"/>
              <a:cs typeface="+mj-cs"/>
            </a:endParaRPr>
          </a:p>
        </p:txBody>
      </p:sp>
      <p:sp>
        <p:nvSpPr>
          <p:cNvPr id="13315" name="Rectangle 3"/>
          <p:cNvSpPr>
            <a:spLocks noGrp="1"/>
          </p:cNvSpPr>
          <p:nvPr>
            <p:ph idx="1"/>
          </p:nvPr>
        </p:nvSpPr>
        <p:spPr/>
        <p:txBody>
          <a:bodyPr vert="horz" wrap="square" lIns="91440" tIns="45720" rIns="91440" bIns="45720" anchor="t" anchorCtr="0"/>
          <a:p>
            <a:pPr eaLnBrk="1" hangingPunct="1">
              <a:buSzPct val="60000"/>
            </a:pPr>
            <a:r>
              <a:rPr lang="en-US" altLang="zh-CN" dirty="0">
                <a:latin typeface="Times New Roman" panose="02020503050405090304" pitchFamily="18" charset="0"/>
                <a:ea typeface="宋体" pitchFamily="2" charset="-122"/>
                <a:cs typeface="+mn-cs"/>
              </a:rPr>
              <a:t>Two sets are defined to have the </a:t>
            </a:r>
            <a:r>
              <a:rPr lang="en-US" altLang="zh-CN" u="sng" dirty="0">
                <a:solidFill>
                  <a:schemeClr val="hlink"/>
                </a:solidFill>
                <a:latin typeface="Times New Roman" panose="02020503050405090304" pitchFamily="18" charset="0"/>
                <a:ea typeface="宋体" pitchFamily="2" charset="-122"/>
                <a:cs typeface="+mn-cs"/>
              </a:rPr>
              <a:t>same  (size) cardinality </a:t>
            </a:r>
            <a:r>
              <a:rPr lang="zh-CN" altLang="en-US" dirty="0">
                <a:latin typeface="Times New Roman" panose="02020503050405090304" pitchFamily="18" charset="0"/>
                <a:ea typeface="宋体" pitchFamily="2" charset="-122"/>
                <a:cs typeface="+mn-cs"/>
              </a:rPr>
              <a:t>（基数）</a:t>
            </a:r>
            <a:endParaRPr lang="en-US" altLang="zh-CN" dirty="0">
              <a:latin typeface="Times New Roman" panose="02020503050405090304" pitchFamily="18" charset="0"/>
              <a:ea typeface="宋体" pitchFamily="2" charset="-122"/>
              <a:cs typeface="+mn-cs"/>
            </a:endParaRPr>
          </a:p>
          <a:p>
            <a:pPr lvl="1" eaLnBrk="1" hangingPunct="1">
              <a:buSzPct val="55000"/>
            </a:pPr>
            <a:r>
              <a:rPr lang="en-US" altLang="zh-CN" dirty="0">
                <a:latin typeface="Times New Roman" panose="02020503050405090304" pitchFamily="18" charset="0"/>
                <a:ea typeface="宋体" pitchFamily="2" charset="-122"/>
              </a:rPr>
              <a:t>if and only if</a:t>
            </a:r>
            <a:endParaRPr lang="en-US" altLang="zh-CN" dirty="0">
              <a:latin typeface="Times New Roman" panose="02020503050405090304" pitchFamily="18" charset="0"/>
              <a:ea typeface="宋体" pitchFamily="2" charset="-122"/>
            </a:endParaRPr>
          </a:p>
          <a:p>
            <a:pPr eaLnBrk="1" hangingPunct="1">
              <a:buSzPct val="60000"/>
            </a:pPr>
            <a:r>
              <a:rPr lang="en-US" altLang="zh-CN" dirty="0">
                <a:latin typeface="Times New Roman" panose="02020503050405090304" pitchFamily="18" charset="0"/>
                <a:ea typeface="宋体" pitchFamily="2" charset="-122"/>
                <a:cs typeface="+mn-cs"/>
              </a:rPr>
              <a:t>They can be placed into 1-1 onto correspondence.</a:t>
            </a:r>
            <a:endParaRPr lang="zh-CN" altLang="en-US" dirty="0">
              <a:latin typeface="Times New Roman" panose="02020503050405090304" pitchFamily="18" charset="0"/>
              <a:ea typeface="宋体" pitchFamily="2" charset="-122"/>
              <a:cs typeface="+mn-cs"/>
            </a:endParaRPr>
          </a:p>
        </p:txBody>
      </p:sp>
      <p:sp>
        <p:nvSpPr>
          <p:cNvPr id="1331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331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331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Same cardinality?</a:t>
            </a:r>
            <a:endParaRPr lang="zh-CN" altLang="en-US" dirty="0">
              <a:latin typeface="Times New Roman" panose="02020503050405090304" pitchFamily="18" charset="0"/>
              <a:ea typeface="宋体" pitchFamily="2" charset="-122"/>
              <a:cs typeface="+mj-cs"/>
            </a:endParaRPr>
          </a:p>
        </p:txBody>
      </p:sp>
      <p:sp>
        <p:nvSpPr>
          <p:cNvPr id="12291"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2074"/>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
        <p:nvSpPr>
          <p:cNvPr id="1434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434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434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Same cardinality?</a:t>
            </a:r>
            <a:endParaRPr lang="zh-CN" altLang="en-US" dirty="0">
              <a:latin typeface="Times New Roman" panose="02020503050405090304" pitchFamily="18" charset="0"/>
              <a:ea typeface="宋体" pitchFamily="2" charset="-122"/>
              <a:cs typeface="+mj-cs"/>
            </a:endParaRPr>
          </a:p>
        </p:txBody>
      </p:sp>
      <p:sp>
        <p:nvSpPr>
          <p:cNvPr id="13315"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2074" r="-1647"/>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
        <p:nvSpPr>
          <p:cNvPr id="1536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536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536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Same cardinality?</a:t>
            </a:r>
            <a:endParaRPr lang="en-US" altLang="zh-CN" dirty="0">
              <a:latin typeface="Times New Roman" panose="02020503050405090304" pitchFamily="18" charset="0"/>
              <a:ea typeface="宋体" pitchFamily="2" charset="-122"/>
              <a:cs typeface="+mj-cs"/>
            </a:endParaRPr>
          </a:p>
        </p:txBody>
      </p:sp>
      <p:sp>
        <p:nvSpPr>
          <p:cNvPr id="14339"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1037" r="-2353"/>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
        <p:nvSpPr>
          <p:cNvPr id="1638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638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639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Lesson</a:t>
            </a:r>
            <a:endParaRPr lang="zh-CN" altLang="en-US" dirty="0">
              <a:latin typeface="Times New Roman" panose="02020503050405090304" pitchFamily="18" charset="0"/>
              <a:ea typeface="宋体" pitchFamily="2" charset="-122"/>
              <a:cs typeface="+mj-cs"/>
            </a:endParaRPr>
          </a:p>
        </p:txBody>
      </p:sp>
      <p:sp>
        <p:nvSpPr>
          <p:cNvPr id="17411" name="Rectangle 3"/>
          <p:cNvSpPr>
            <a:spLocks noGrp="1"/>
          </p:cNvSpPr>
          <p:nvPr>
            <p:ph idx="1"/>
          </p:nvPr>
        </p:nvSpPr>
        <p:spPr/>
        <p:txBody>
          <a:bodyPr vert="horz" wrap="square" lIns="91440" tIns="45720" rIns="91440" bIns="45720" anchor="t" anchorCtr="0"/>
          <a:p>
            <a:pPr eaLnBrk="1" hangingPunct="1">
              <a:buSzPct val="60000"/>
            </a:pPr>
            <a:r>
              <a:rPr lang="en-US" altLang="zh-CN" dirty="0">
                <a:latin typeface="Times New Roman" panose="02020503050405090304" pitchFamily="18" charset="0"/>
                <a:ea typeface="宋体" pitchFamily="2" charset="-122"/>
                <a:cs typeface="+mn-cs"/>
              </a:rPr>
              <a:t>Cantor’s definition only requires that </a:t>
            </a:r>
            <a:r>
              <a:rPr lang="en-US" altLang="zh-CN" i="1" dirty="0">
                <a:solidFill>
                  <a:schemeClr val="hlink"/>
                </a:solidFill>
                <a:latin typeface="Times New Roman" panose="02020503050405090304" pitchFamily="18" charset="0"/>
                <a:ea typeface="宋体" pitchFamily="2" charset="-122"/>
                <a:cs typeface="+mn-cs"/>
              </a:rPr>
              <a:t>some</a:t>
            </a:r>
            <a:r>
              <a:rPr lang="en-US" altLang="zh-CN" dirty="0">
                <a:latin typeface="Times New Roman" panose="02020503050405090304" pitchFamily="18" charset="0"/>
                <a:ea typeface="宋体" pitchFamily="2" charset="-122"/>
                <a:cs typeface="+mn-cs"/>
              </a:rPr>
              <a:t> 1-1 correspondence between the two sets is onto, </a:t>
            </a:r>
            <a:r>
              <a:rPr lang="en-US" altLang="zh-CN" i="1" dirty="0">
                <a:solidFill>
                  <a:schemeClr val="hlink"/>
                </a:solidFill>
                <a:latin typeface="Times New Roman" panose="02020503050405090304" pitchFamily="18" charset="0"/>
                <a:ea typeface="宋体" pitchFamily="2" charset="-122"/>
                <a:cs typeface="+mn-cs"/>
              </a:rPr>
              <a:t>not</a:t>
            </a:r>
            <a:r>
              <a:rPr lang="en-US" altLang="zh-CN" dirty="0">
                <a:latin typeface="Times New Roman" panose="02020503050405090304" pitchFamily="18" charset="0"/>
                <a:ea typeface="宋体" pitchFamily="2" charset="-122"/>
                <a:cs typeface="+mn-cs"/>
              </a:rPr>
              <a:t> that </a:t>
            </a:r>
            <a:r>
              <a:rPr lang="en-US" altLang="zh-CN" i="1" dirty="0">
                <a:solidFill>
                  <a:schemeClr val="hlink"/>
                </a:solidFill>
                <a:latin typeface="Times New Roman" panose="02020503050405090304" pitchFamily="18" charset="0"/>
                <a:ea typeface="宋体" pitchFamily="2" charset="-122"/>
                <a:cs typeface="+mn-cs"/>
              </a:rPr>
              <a:t>all</a:t>
            </a:r>
            <a:r>
              <a:rPr lang="en-US" altLang="zh-CN" dirty="0">
                <a:latin typeface="Times New Roman" panose="02020503050405090304" pitchFamily="18" charset="0"/>
                <a:ea typeface="宋体" pitchFamily="2" charset="-122"/>
                <a:cs typeface="+mn-cs"/>
              </a:rPr>
              <a:t> 1-1 correspondences are onto. </a:t>
            </a:r>
            <a:endParaRPr lang="en-US" altLang="zh-CN" dirty="0">
              <a:latin typeface="Times New Roman" panose="02020503050405090304" pitchFamily="18" charset="0"/>
              <a:ea typeface="宋体" pitchFamily="2" charset="-122"/>
              <a:cs typeface="+mn-cs"/>
            </a:endParaRPr>
          </a:p>
          <a:p>
            <a:pPr eaLnBrk="1" hangingPunct="1">
              <a:buSzPct val="60000"/>
            </a:pPr>
            <a:r>
              <a:rPr lang="en-US" altLang="zh-CN" dirty="0">
                <a:latin typeface="Times New Roman" panose="02020503050405090304" pitchFamily="18" charset="0"/>
                <a:ea typeface="宋体" pitchFamily="2" charset="-122"/>
                <a:cs typeface="+mn-cs"/>
              </a:rPr>
              <a:t>This distinction never arises when the sets are </a:t>
            </a:r>
            <a:r>
              <a:rPr lang="en-US" altLang="zh-CN" i="1" dirty="0">
                <a:solidFill>
                  <a:schemeClr val="hlink"/>
                </a:solidFill>
                <a:latin typeface="Times New Roman" panose="02020503050405090304" pitchFamily="18" charset="0"/>
                <a:ea typeface="宋体" pitchFamily="2" charset="-122"/>
                <a:cs typeface="+mn-cs"/>
              </a:rPr>
              <a:t>finite</a:t>
            </a:r>
            <a:r>
              <a:rPr lang="en-US" altLang="zh-CN" dirty="0">
                <a:latin typeface="Times New Roman" panose="02020503050405090304" pitchFamily="18" charset="0"/>
                <a:ea typeface="宋体" pitchFamily="2" charset="-122"/>
                <a:cs typeface="+mn-cs"/>
              </a:rPr>
              <a:t>.</a:t>
            </a:r>
            <a:endParaRPr lang="zh-CN" altLang="en-US" dirty="0">
              <a:latin typeface="Times New Roman" panose="02020503050405090304" pitchFamily="18" charset="0"/>
              <a:ea typeface="宋体" pitchFamily="2" charset="-122"/>
              <a:cs typeface="+mn-cs"/>
            </a:endParaRPr>
          </a:p>
        </p:txBody>
      </p:sp>
      <p:sp>
        <p:nvSpPr>
          <p:cNvPr id="1741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741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741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8435"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en-US" altLang="zh-CN" sz="1200" dirty="0">
              <a:solidFill>
                <a:srgbClr val="009999"/>
              </a:solidFill>
              <a:latin typeface="Arial Narrow" panose="020B0606020202030204" pitchFamily="34" charset="0"/>
            </a:endParaRPr>
          </a:p>
        </p:txBody>
      </p:sp>
      <p:sp>
        <p:nvSpPr>
          <p:cNvPr id="18436"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Cardinality: Formal Definition</a:t>
            </a:r>
            <a:endParaRPr lang="en-US" altLang="zh-CN" dirty="0">
              <a:latin typeface="Times New Roman" panose="02020503050405090304" pitchFamily="18" charset="0"/>
              <a:ea typeface="宋体" pitchFamily="2" charset="-122"/>
              <a:cs typeface="+mj-cs"/>
            </a:endParaRPr>
          </a:p>
        </p:txBody>
      </p:sp>
      <p:sp>
        <p:nvSpPr>
          <p:cNvPr id="16389"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2074" r="-2275"/>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1945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a:t>
            </a:r>
            <a:endParaRPr lang="en-US" altLang="zh-CN" sz="1200" dirty="0">
              <a:solidFill>
                <a:srgbClr val="009999"/>
              </a:solidFill>
              <a:latin typeface="Arial Narrow" panose="020B0606020202030204" pitchFamily="34" charset="0"/>
            </a:endParaRPr>
          </a:p>
        </p:txBody>
      </p:sp>
      <p:sp>
        <p:nvSpPr>
          <p:cNvPr id="1946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Countable versus Uncountable</a:t>
            </a:r>
            <a:endParaRPr lang="en-US" altLang="zh-CN" dirty="0">
              <a:latin typeface="Times New Roman" panose="02020503050405090304" pitchFamily="18" charset="0"/>
              <a:ea typeface="宋体" pitchFamily="2" charset="-122"/>
              <a:cs typeface="+mj-cs"/>
            </a:endParaRPr>
          </a:p>
        </p:txBody>
      </p:sp>
      <p:sp>
        <p:nvSpPr>
          <p:cNvPr id="17413" name="Rectangle 3"/>
          <p:cNvSpPr>
            <a:spLocks noGrp="1" noRot="1" noChangeAspect="1" noMove="1" noResize="1" noEditPoints="1" noAdjustHandles="1" noChangeArrowheads="1" noChangeShapeType="1" noTextEdit="1"/>
          </p:cNvSpPr>
          <p:nvPr>
            <p:ph idx="1"/>
          </p:nvPr>
        </p:nvSpPr>
        <p:spPr bwMode="auto">
          <a:xfrm>
            <a:off x="755650" y="1557020"/>
            <a:ext cx="8338185" cy="4452620"/>
          </a:xfrm>
          <a:blipFill rotWithShape="0">
            <a:blip r:embed="rId1" cstate="print"/>
            <a:stretch>
              <a:fillRect l="-389" t="-1453" r="-2253" b="-1890"/>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048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en-US" altLang="zh-CN" sz="1200" dirty="0">
              <a:solidFill>
                <a:srgbClr val="009999"/>
              </a:solidFill>
              <a:latin typeface="Arial Narrow" panose="020B0606020202030204" pitchFamily="34" charset="0"/>
            </a:endParaRPr>
          </a:p>
        </p:txBody>
      </p:sp>
      <p:sp>
        <p:nvSpPr>
          <p:cNvPr id="2048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Countable Sets: Examples</a:t>
            </a:r>
            <a:endParaRPr lang="en-US" altLang="zh-CN" dirty="0">
              <a:latin typeface="Times New Roman" panose="02020503050405090304" pitchFamily="18" charset="0"/>
              <a:ea typeface="宋体" pitchFamily="2" charset="-122"/>
              <a:cs typeface="+mj-cs"/>
            </a:endParaRPr>
          </a:p>
        </p:txBody>
      </p:sp>
      <p:sp>
        <p:nvSpPr>
          <p:cNvPr id="18437"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2074" r="-78" b="-296"/>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1507"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a:t>
            </a:r>
            <a:endParaRPr lang="en-US" altLang="zh-CN" sz="1200" dirty="0">
              <a:solidFill>
                <a:srgbClr val="009999"/>
              </a:solidFill>
              <a:latin typeface="Arial Narrow" panose="020B0606020202030204" pitchFamily="34" charset="0"/>
            </a:endParaRPr>
          </a:p>
        </p:txBody>
      </p:sp>
      <p:sp>
        <p:nvSpPr>
          <p:cNvPr id="21508"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Uncountable Sets: Example</a:t>
            </a:r>
            <a:endParaRPr lang="en-US" altLang="zh-CN" dirty="0">
              <a:latin typeface="Times New Roman" panose="02020503050405090304" pitchFamily="18" charset="0"/>
              <a:ea typeface="宋体" pitchFamily="2" charset="-122"/>
              <a:cs typeface="+mj-cs"/>
            </a:endParaRPr>
          </a:p>
        </p:txBody>
      </p:sp>
      <p:sp>
        <p:nvSpPr>
          <p:cNvPr id="19461" name="Rectangle 3"/>
          <p:cNvSpPr>
            <a:spLocks noGrp="1" noRot="1" noChangeAspect="1" noMove="1" noResize="1" noEditPoints="1" noAdjustHandles="1" noChangeArrowheads="1" noChangeShapeType="1" noTextEdit="1"/>
          </p:cNvSpPr>
          <p:nvPr>
            <p:ph idx="1"/>
          </p:nvPr>
        </p:nvSpPr>
        <p:spPr bwMode="auto">
          <a:xfrm>
            <a:off x="228600" y="1478915"/>
            <a:ext cx="7772400" cy="4114800"/>
          </a:xfrm>
          <a:blipFill rotWithShape="0">
            <a:blip r:embed="rId1" cstate="print"/>
            <a:stretch>
              <a:fillRect l="-627" t="-2074" r="-1255" b="-296"/>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pic>
        <p:nvPicPr>
          <p:cNvPr id="21510" name="Picture 4" descr="Cantor">
            <a:hlinkClick r:id="rId2"/>
          </p:cNvPr>
          <p:cNvPicPr>
            <a:picLocks noChangeAspect="1"/>
          </p:cNvPicPr>
          <p:nvPr/>
        </p:nvPicPr>
        <p:blipFill>
          <a:blip r:embed="rId3"/>
          <a:stretch>
            <a:fillRect/>
          </a:stretch>
        </p:blipFill>
        <p:spPr>
          <a:xfrm>
            <a:off x="7543800" y="178435"/>
            <a:ext cx="1438275" cy="1666875"/>
          </a:xfrm>
          <a:prstGeom prst="rect">
            <a:avLst/>
          </a:prstGeom>
          <a:noFill/>
          <a:ln w="38100" cap="flat" cmpd="sng">
            <a:solidFill>
              <a:srgbClr val="006600"/>
            </a:solidFill>
            <a:prstDash val="solid"/>
            <a:miter/>
            <a:headEnd type="none" w="med" len="med"/>
            <a:tailEnd type="none" w="med" len="med"/>
          </a:ln>
        </p:spPr>
      </p:pic>
      <p:sp>
        <p:nvSpPr>
          <p:cNvPr id="21511" name="Text Box 5"/>
          <p:cNvSpPr txBox="1"/>
          <p:nvPr/>
        </p:nvSpPr>
        <p:spPr>
          <a:xfrm>
            <a:off x="7448550" y="1854835"/>
            <a:ext cx="1611313" cy="739775"/>
          </a:xfrm>
          <a:prstGeom prst="rect">
            <a:avLst/>
          </a:prstGeom>
          <a:solidFill>
            <a:srgbClr val="FFFFCC"/>
          </a:solidFill>
          <a:ln w="38100" cap="flat" cmpd="sng">
            <a:solidFill>
              <a:schemeClr val="tx1"/>
            </a:solidFill>
            <a:prstDash val="solid"/>
            <a:miter/>
            <a:headEnd type="none" w="med" len="med"/>
            <a:tailEnd type="none" w="med" len="med"/>
          </a:ln>
        </p:spPr>
        <p:txBody>
          <a:bodyPr wrap="none">
            <a:spAutoFit/>
          </a:bodyPr>
          <a:p>
            <a:pPr algn="ctr"/>
            <a:r>
              <a:rPr lang="en-US" altLang="zh-CN" sz="2000" dirty="0">
                <a:latin typeface="Times New Roman" panose="02020503050405090304" pitchFamily="18" charset="0"/>
              </a:rPr>
              <a:t>Georg Cantor</a:t>
            </a:r>
            <a:endParaRPr lang="en-US" altLang="zh-CN" sz="2000" dirty="0">
              <a:latin typeface="Times New Roman" panose="02020503050405090304" pitchFamily="18" charset="0"/>
            </a:endParaRPr>
          </a:p>
          <a:p>
            <a:pPr algn="ctr"/>
            <a:r>
              <a:rPr lang="en-US" altLang="zh-CN" sz="2000" dirty="0">
                <a:latin typeface="Times New Roman" panose="02020503050405090304" pitchFamily="18" charset="0"/>
              </a:rPr>
              <a:t>1845-1918</a:t>
            </a:r>
            <a:endParaRPr lang="en-US" altLang="zh-CN" sz="2000" dirty="0">
              <a:latin typeface="Times New Roman" panose="0202050305040509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253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lnSpc>
                <a:spcPct val="110000"/>
              </a:lnSpc>
            </a:pPr>
            <a:r>
              <a:rPr lang="en-US" altLang="zh-CN" sz="1200" dirty="0">
                <a:solidFill>
                  <a:srgbClr val="009999"/>
                </a:solidFill>
                <a:latin typeface="Arial Narrow" panose="020B0606020202030204" pitchFamily="34" charset="0"/>
              </a:rPr>
              <a:t>School of Computer Science, BUPT  -- © Copyright  Yang Juan</a:t>
            </a:r>
            <a:endParaRPr lang="en-US" altLang="zh-CN" sz="1200" dirty="0">
              <a:solidFill>
                <a:srgbClr val="009999"/>
              </a:solidFill>
              <a:latin typeface="Arial Narrow" panose="020B0606020202030204" pitchFamily="34" charset="0"/>
            </a:endParaRPr>
          </a:p>
        </p:txBody>
      </p:sp>
      <p:sp>
        <p:nvSpPr>
          <p:cNvPr id="22532"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Uncountability of Reals, cont’d</a:t>
            </a:r>
            <a:endParaRPr lang="en-US" altLang="zh-CN" dirty="0">
              <a:latin typeface="Times New Roman" panose="02020503050405090304" pitchFamily="18" charset="0"/>
              <a:ea typeface="宋体" pitchFamily="2" charset="-122"/>
              <a:cs typeface="+mj-cs"/>
            </a:endParaRPr>
          </a:p>
        </p:txBody>
      </p:sp>
      <p:sp>
        <p:nvSpPr>
          <p:cNvPr id="22533" name="Rectangle 3"/>
          <p:cNvSpPr>
            <a:spLocks noGrp="1"/>
          </p:cNvSpPr>
          <p:nvPr>
            <p:ph idx="1"/>
          </p:nvPr>
        </p:nvSpPr>
        <p:spPr/>
        <p:txBody>
          <a:bodyPr vert="horz" wrap="square" lIns="91440" tIns="45720" rIns="91440" bIns="45720" anchor="t" anchorCtr="0"/>
          <a:p>
            <a:pPr eaLnBrk="1" hangingPunct="1">
              <a:buSzPct val="60000"/>
              <a:buFont typeface="Wingdings" panose="05000000000000000000" pitchFamily="2" charset="2"/>
              <a:buNone/>
            </a:pPr>
            <a:r>
              <a:rPr lang="en-US" altLang="zh-CN" dirty="0">
                <a:latin typeface="Times New Roman" panose="02020503050405090304" pitchFamily="18" charset="0"/>
                <a:ea typeface="宋体" pitchFamily="2" charset="-122"/>
                <a:cs typeface="+mn-cs"/>
              </a:rPr>
              <a:t>A postulated enumeration of the reals:</a:t>
            </a:r>
            <a:br>
              <a:rPr lang="en-US" altLang="zh-CN" i="1" dirty="0">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1</a:t>
            </a:r>
            <a:r>
              <a:rPr lang="en-US" altLang="zh-CN" dirty="0">
                <a:solidFill>
                  <a:schemeClr val="folHlink"/>
                </a:solidFill>
                <a:latin typeface="Times New Roman" panose="02020503050405090304" pitchFamily="18" charset="0"/>
                <a:ea typeface="宋体" pitchFamily="2" charset="-122"/>
                <a:cs typeface="+mn-cs"/>
              </a:rPr>
              <a:t> =  0.</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1,1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1,2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1,3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1,4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1,5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1,6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1,7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1,8</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2</a:t>
            </a:r>
            <a:r>
              <a:rPr lang="en-US" altLang="zh-CN" dirty="0">
                <a:solidFill>
                  <a:schemeClr val="folHlink"/>
                </a:solidFill>
                <a:latin typeface="Times New Roman" panose="02020503050405090304" pitchFamily="18" charset="0"/>
                <a:ea typeface="宋体" pitchFamily="2" charset="-122"/>
                <a:cs typeface="+mn-cs"/>
              </a:rPr>
              <a:t> =  0.</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2,1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2,2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2,3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2,4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2,5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2,6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2,7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2,8</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3</a:t>
            </a:r>
            <a:r>
              <a:rPr lang="en-US" altLang="zh-CN" dirty="0">
                <a:solidFill>
                  <a:schemeClr val="folHlink"/>
                </a:solidFill>
                <a:latin typeface="Times New Roman" panose="02020503050405090304" pitchFamily="18" charset="0"/>
                <a:ea typeface="宋体" pitchFamily="2" charset="-122"/>
                <a:cs typeface="+mn-cs"/>
              </a:rPr>
              <a:t> =  0.</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3,1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3,2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3,3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3,4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3,5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3,6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3,7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3,8</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4</a:t>
            </a:r>
            <a:r>
              <a:rPr lang="en-US" altLang="zh-CN" dirty="0">
                <a:solidFill>
                  <a:schemeClr val="folHlink"/>
                </a:solidFill>
                <a:latin typeface="Times New Roman" panose="02020503050405090304" pitchFamily="18" charset="0"/>
                <a:ea typeface="宋体" pitchFamily="2" charset="-122"/>
                <a:cs typeface="+mn-cs"/>
              </a:rPr>
              <a:t> =  0.</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4,1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4,2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4,3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4,4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4,5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4,6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4,7 </a:t>
            </a:r>
            <a:r>
              <a:rPr lang="en-US" altLang="zh-CN" i="1" dirty="0">
                <a:solidFill>
                  <a:schemeClr val="folHlink"/>
                </a:solidFill>
                <a:latin typeface="Times New Roman" panose="02020503050405090304" pitchFamily="18" charset="0"/>
                <a:ea typeface="宋体" pitchFamily="2" charset="-122"/>
                <a:cs typeface="+mn-cs"/>
              </a:rPr>
              <a:t>d</a:t>
            </a:r>
            <a:r>
              <a:rPr lang="en-US" altLang="zh-CN" baseline="-25000" dirty="0">
                <a:solidFill>
                  <a:schemeClr val="folHlink"/>
                </a:solidFill>
                <a:latin typeface="Times New Roman" panose="02020503050405090304" pitchFamily="18" charset="0"/>
                <a:ea typeface="宋体" pitchFamily="2" charset="-122"/>
                <a:cs typeface="+mn-cs"/>
              </a:rPr>
              <a:t>4,8</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dirty="0">
                <a:latin typeface="Times New Roman" panose="02020503050405090304" pitchFamily="18" charset="0"/>
                <a:ea typeface="宋体" pitchFamily="2" charset="-122"/>
                <a:cs typeface="+mn-cs"/>
              </a:rPr>
              <a:t>.</a:t>
            </a:r>
            <a:br>
              <a:rPr lang="en-US" altLang="zh-CN" dirty="0">
                <a:latin typeface="Times New Roman" panose="02020503050405090304" pitchFamily="18" charset="0"/>
                <a:ea typeface="宋体" pitchFamily="2" charset="-122"/>
                <a:cs typeface="+mn-cs"/>
              </a:rPr>
            </a:br>
            <a:r>
              <a:rPr lang="en-US" altLang="zh-CN" dirty="0">
                <a:latin typeface="Times New Roman" panose="02020503050405090304" pitchFamily="18" charset="0"/>
                <a:ea typeface="宋体" pitchFamily="2" charset="-122"/>
                <a:cs typeface="+mn-cs"/>
              </a:rPr>
              <a:t>.</a:t>
            </a:r>
            <a:br>
              <a:rPr lang="en-US" altLang="zh-CN" dirty="0">
                <a:latin typeface="Times New Roman" panose="02020503050405090304" pitchFamily="18" charset="0"/>
                <a:ea typeface="宋体" pitchFamily="2" charset="-122"/>
                <a:cs typeface="+mn-cs"/>
              </a:rPr>
            </a:br>
            <a:r>
              <a:rPr lang="en-US" altLang="zh-CN" dirty="0">
                <a:latin typeface="Times New Roman" panose="02020503050405090304" pitchFamily="18" charset="0"/>
                <a:ea typeface="宋体" pitchFamily="2" charset="-122"/>
                <a:cs typeface="+mn-cs"/>
              </a:rPr>
              <a:t>.</a:t>
            </a:r>
            <a:endParaRPr lang="en-US" altLang="zh-CN" baseline="-25000" dirty="0">
              <a:latin typeface="Times New Roman" panose="02020503050405090304" pitchFamily="18" charset="0"/>
              <a:ea typeface="宋体" pitchFamily="2" charset="-122"/>
              <a:cs typeface="+mn-cs"/>
            </a:endParaRPr>
          </a:p>
        </p:txBody>
      </p:sp>
      <p:sp>
        <p:nvSpPr>
          <p:cNvPr id="82948" name="Text Box 4"/>
          <p:cNvSpPr txBox="1"/>
          <p:nvPr/>
        </p:nvSpPr>
        <p:spPr>
          <a:xfrm>
            <a:off x="1447800" y="4648200"/>
            <a:ext cx="6858000" cy="1187450"/>
          </a:xfrm>
          <a:prstGeom prst="rect">
            <a:avLst/>
          </a:prstGeom>
          <a:noFill/>
          <a:ln w="38100">
            <a:noFill/>
          </a:ln>
        </p:spPr>
        <p:txBody>
          <a:bodyPr anchor="ctr" anchorCtr="0">
            <a:spAutoFit/>
          </a:bodyPr>
          <a:p>
            <a:pPr>
              <a:spcBef>
                <a:spcPct val="50000"/>
              </a:spcBef>
            </a:pPr>
            <a:r>
              <a:rPr lang="en-US" altLang="zh-CN" dirty="0">
                <a:solidFill>
                  <a:srgbClr val="006600"/>
                </a:solidFill>
                <a:latin typeface="Times New Roman" panose="02020503050405090304" pitchFamily="18" charset="0"/>
              </a:rPr>
              <a:t>Now, consider a real number generated by taking</a:t>
            </a:r>
            <a:br>
              <a:rPr lang="en-US" altLang="zh-CN" dirty="0">
                <a:solidFill>
                  <a:srgbClr val="006600"/>
                </a:solidFill>
                <a:latin typeface="Times New Roman" panose="02020503050405090304" pitchFamily="18" charset="0"/>
              </a:rPr>
            </a:br>
            <a:r>
              <a:rPr lang="en-US" altLang="zh-CN" dirty="0">
                <a:solidFill>
                  <a:srgbClr val="006600"/>
                </a:solidFill>
                <a:latin typeface="Times New Roman" panose="02020503050405090304" pitchFamily="18" charset="0"/>
              </a:rPr>
              <a:t>all the digits </a:t>
            </a:r>
            <a:r>
              <a:rPr lang="en-US" altLang="zh-CN" i="1" dirty="0">
                <a:solidFill>
                  <a:srgbClr val="FF0000"/>
                </a:solidFill>
                <a:latin typeface="Times New Roman" panose="02020503050405090304" pitchFamily="18" charset="0"/>
              </a:rPr>
              <a:t>d</a:t>
            </a:r>
            <a:r>
              <a:rPr lang="en-US" altLang="zh-CN" i="1" baseline="-25000" dirty="0">
                <a:solidFill>
                  <a:srgbClr val="FF0000"/>
                </a:solidFill>
                <a:latin typeface="Times New Roman" panose="02020503050405090304" pitchFamily="18" charset="0"/>
              </a:rPr>
              <a:t>i,i</a:t>
            </a:r>
            <a:r>
              <a:rPr lang="en-US" altLang="zh-CN" dirty="0">
                <a:solidFill>
                  <a:srgbClr val="006600"/>
                </a:solidFill>
                <a:latin typeface="Times New Roman" panose="02020503050405090304" pitchFamily="18" charset="0"/>
              </a:rPr>
              <a:t> that lie along the </a:t>
            </a:r>
            <a:r>
              <a:rPr lang="en-US" altLang="zh-CN" i="1" dirty="0">
                <a:solidFill>
                  <a:srgbClr val="006600"/>
                </a:solidFill>
                <a:latin typeface="Times New Roman" panose="02020503050405090304" pitchFamily="18" charset="0"/>
              </a:rPr>
              <a:t>diagonal </a:t>
            </a:r>
            <a:r>
              <a:rPr lang="en-US" altLang="zh-CN" dirty="0">
                <a:solidFill>
                  <a:srgbClr val="006600"/>
                </a:solidFill>
                <a:latin typeface="Times New Roman" panose="02020503050405090304" pitchFamily="18" charset="0"/>
              </a:rPr>
              <a:t>in this figure and replacing them with </a:t>
            </a:r>
            <a:r>
              <a:rPr lang="en-US" altLang="zh-CN" i="1" dirty="0">
                <a:solidFill>
                  <a:srgbClr val="006600"/>
                </a:solidFill>
                <a:latin typeface="Times New Roman" panose="02020503050405090304" pitchFamily="18" charset="0"/>
              </a:rPr>
              <a:t>different</a:t>
            </a:r>
            <a:r>
              <a:rPr lang="en-US" altLang="zh-CN" dirty="0">
                <a:solidFill>
                  <a:srgbClr val="006600"/>
                </a:solidFill>
                <a:latin typeface="Times New Roman" panose="02020503050405090304" pitchFamily="18" charset="0"/>
              </a:rPr>
              <a:t> digits.</a:t>
            </a:r>
            <a:endParaRPr lang="en-US" altLang="zh-CN" dirty="0">
              <a:solidFill>
                <a:srgbClr val="006600"/>
              </a:solidFill>
              <a:latin typeface="Times New Roman" panose="02020503050405090304" pitchFamily="18" charset="0"/>
            </a:endParaRPr>
          </a:p>
        </p:txBody>
      </p:sp>
      <p:sp>
        <p:nvSpPr>
          <p:cNvPr id="82949" name="Freeform 5"/>
          <p:cNvSpPr/>
          <p:nvPr/>
        </p:nvSpPr>
        <p:spPr>
          <a:xfrm>
            <a:off x="2268538" y="2171700"/>
            <a:ext cx="3035300" cy="2336800"/>
          </a:xfrm>
          <a:custGeom>
            <a:avLst/>
            <a:gdLst/>
            <a:ahLst/>
            <a:cxnLst>
              <a:cxn ang="0">
                <a:pos x="2273300" y="2260600"/>
              </a:cxn>
              <a:cxn ang="0">
                <a:pos x="368300" y="660400"/>
              </a:cxn>
              <a:cxn ang="0">
                <a:pos x="444500" y="279400"/>
              </a:cxn>
              <a:cxn ang="0">
                <a:pos x="3035300" y="2336800"/>
              </a:cxn>
            </a:cxnLst>
            <a:pathLst>
              <a:path w="1912" h="1472">
                <a:moveTo>
                  <a:pt x="1432" y="1424"/>
                </a:moveTo>
                <a:cubicBezTo>
                  <a:pt x="928" y="1024"/>
                  <a:pt x="424" y="624"/>
                  <a:pt x="232" y="416"/>
                </a:cubicBezTo>
                <a:cubicBezTo>
                  <a:pt x="40" y="208"/>
                  <a:pt x="0" y="0"/>
                  <a:pt x="280" y="176"/>
                </a:cubicBezTo>
                <a:cubicBezTo>
                  <a:pt x="560" y="352"/>
                  <a:pt x="1236" y="912"/>
                  <a:pt x="1912" y="1472"/>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36" name="WordArt 6"/>
          <p:cNvSpPr>
            <a:spLocks noTextEdit="1"/>
          </p:cNvSpPr>
          <p:nvPr/>
        </p:nvSpPr>
        <p:spPr>
          <a:xfrm>
            <a:off x="152400" y="5791200"/>
            <a:ext cx="8991600" cy="914400"/>
          </a:xfrm>
          <a:prstGeom prst="rect">
            <a:avLst/>
          </a:prstGeom>
        </p:spPr>
        <p:txBody>
          <a:bodyPr wrap="none" fromWordArt="1">
            <a:prstTxWarp prst="textFadeUp">
              <a:avLst>
                <a:gd name="adj" fmla="val 3653"/>
              </a:avLst>
            </a:prstTxWarp>
            <a:normAutofit/>
          </a:bodyPr>
          <a:p>
            <a:pPr algn="ctr"/>
            <a:r>
              <a:rPr lang="zh-CN" altLang="en-US" sz="3600">
                <a:ln w="12700" cap="flat" cmpd="sng">
                  <a:solidFill>
                    <a:srgbClr val="B2B2B2"/>
                  </a:solidFill>
                  <a:prstDash val="solid"/>
                  <a:headEnd type="none" w="med" len="med"/>
                  <a:tailEnd type="none" w="med" len="med"/>
                </a:ln>
                <a:gradFill rotWithShape="1">
                  <a:gsLst>
                    <a:gs pos="0">
                      <a:srgbClr val="520402"/>
                    </a:gs>
                    <a:gs pos="100000">
                      <a:srgbClr val="FFCC00"/>
                    </a:gs>
                  </a:gsLst>
                  <a:lin ang="5400000" scaled="1"/>
                  <a:tileRect/>
                </a:gradFill>
                <a:effectLst>
                  <a:outerShdw dist="35921" dir="2699999" sy="50000" rotWithShape="0">
                    <a:srgbClr val="875B0D"/>
                  </a:outerShdw>
                </a:effectLst>
                <a:latin typeface="Arial Black" panose="020B0A04020102020204" charset="0"/>
                <a:ea typeface="Arial Black" panose="020B0A04020102020204" charset="0"/>
              </a:rPr>
              <a:t>That real doesn't appear in the list!</a:t>
            </a:r>
            <a:endParaRPr lang="zh-CN" altLang="en-US" sz="3600">
              <a:ln w="12700" cap="flat" cmpd="sng">
                <a:solidFill>
                  <a:srgbClr val="B2B2B2"/>
                </a:solidFill>
                <a:prstDash val="solid"/>
                <a:headEnd type="none" w="med" len="med"/>
                <a:tailEnd type="none" w="med" len="med"/>
              </a:ln>
              <a:gradFill rotWithShape="1">
                <a:gsLst>
                  <a:gs pos="0">
                    <a:srgbClr val="520402"/>
                  </a:gs>
                  <a:gs pos="100000">
                    <a:srgbClr val="FFCC00"/>
                  </a:gs>
                </a:gsLst>
                <a:lin ang="5400000" scaled="1"/>
                <a:tileRect/>
              </a:gradFill>
              <a:effectLst>
                <a:outerShdw dist="35921" dir="2699999" sy="50000" rotWithShape="0">
                  <a:srgbClr val="875B0D"/>
                </a:outerShdw>
              </a:effectLst>
              <a:latin typeface="Arial Black" panose="020B0A04020102020204" charset="0"/>
              <a:ea typeface="Arial Black" panose="020B0A040201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 calcmode="lin" valueType="num">
                                      <p:cBhvr additive="base">
                                        <p:cTn id="7" dur="500" fill="hold"/>
                                        <p:tgtEl>
                                          <p:spTgt spid="82948"/>
                                        </p:tgtEl>
                                        <p:attrNameLst>
                                          <p:attrName>ppt_x</p:attrName>
                                        </p:attrNameLst>
                                      </p:cBhvr>
                                      <p:tavLst>
                                        <p:tav tm="0">
                                          <p:val>
                                            <p:strVal val="1+#ppt_w/2"/>
                                          </p:val>
                                        </p:tav>
                                        <p:tav tm="100000">
                                          <p:val>
                                            <p:strVal val="#ppt_x"/>
                                          </p:val>
                                        </p:tav>
                                      </p:tavLst>
                                    </p:anim>
                                    <p:anim calcmode="lin" valueType="num">
                                      <p:cBhvr additive="base">
                                        <p:cTn id="8" dur="500" fill="hold"/>
                                        <p:tgtEl>
                                          <p:spTgt spid="8294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82949"/>
                                        </p:tgtEl>
                                        <p:attrNameLst>
                                          <p:attrName>style.visibility</p:attrName>
                                        </p:attrNameLst>
                                      </p:cBhvr>
                                      <p:to>
                                        <p:strVal val="visible"/>
                                      </p:to>
                                    </p:set>
                                    <p:animEffect transition="in" filter="wipe(up)">
                                      <p:cBhvr>
                                        <p:cTn id="13" dur="500"/>
                                        <p:tgtEl>
                                          <p:spTgt spid="82949"/>
                                        </p:tgtEl>
                                      </p:cBhvr>
                                    </p:animEffect>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3" presetClass="entr" presetSubtype="528" fill="hold" nodeType="clickEffect">
                                  <p:stCondLst>
                                    <p:cond delay="0"/>
                                  </p:stCondLst>
                                  <p:childTnLst>
                                    <p:set>
                                      <p:cBhvr>
                                        <p:cTn id="17" dur="1" fill="hold">
                                          <p:stCondLst>
                                            <p:cond delay="0"/>
                                          </p:stCondLst>
                                        </p:cTn>
                                        <p:tgtEl>
                                          <p:spTgt spid="22536"/>
                                        </p:tgtEl>
                                        <p:attrNameLst>
                                          <p:attrName>style.visibility</p:attrName>
                                        </p:attrNameLst>
                                      </p:cBhvr>
                                      <p:to>
                                        <p:strVal val="visible"/>
                                      </p:to>
                                    </p:set>
                                    <p:anim calcmode="lin" valueType="num">
                                      <p:cBhvr>
                                        <p:cTn id="18" dur="500" fill="hold"/>
                                        <p:tgtEl>
                                          <p:spTgt spid="22536"/>
                                        </p:tgtEl>
                                        <p:attrNameLst>
                                          <p:attrName>ppt_w</p:attrName>
                                        </p:attrNameLst>
                                      </p:cBhvr>
                                      <p:tavLst>
                                        <p:tav tm="0">
                                          <p:val>
                                            <p:fltVal val="0.000000"/>
                                          </p:val>
                                        </p:tav>
                                        <p:tav tm="100000">
                                          <p:val>
                                            <p:strVal val="#ppt_w"/>
                                          </p:val>
                                        </p:tav>
                                      </p:tavLst>
                                    </p:anim>
                                    <p:anim calcmode="lin" valueType="num">
                                      <p:cBhvr>
                                        <p:cTn id="19" dur="500" fill="hold"/>
                                        <p:tgtEl>
                                          <p:spTgt spid="22536"/>
                                        </p:tgtEl>
                                        <p:attrNameLst>
                                          <p:attrName>ppt_h</p:attrName>
                                        </p:attrNameLst>
                                      </p:cBhvr>
                                      <p:tavLst>
                                        <p:tav tm="0">
                                          <p:val>
                                            <p:fltVal val="0.000000"/>
                                          </p:val>
                                        </p:tav>
                                        <p:tav tm="100000">
                                          <p:val>
                                            <p:strVal val="#ppt_h"/>
                                          </p:val>
                                        </p:tav>
                                      </p:tavLst>
                                    </p:anim>
                                    <p:anim calcmode="lin" valueType="num">
                                      <p:cBhvr>
                                        <p:cTn id="20" dur="500" fill="hold"/>
                                        <p:tgtEl>
                                          <p:spTgt spid="22536"/>
                                        </p:tgtEl>
                                        <p:attrNameLst>
                                          <p:attrName>ppt_x</p:attrName>
                                        </p:attrNameLst>
                                      </p:cBhvr>
                                      <p:tavLst>
                                        <p:tav tm="0">
                                          <p:val>
                                            <p:fltVal val="0.500000"/>
                                          </p:val>
                                        </p:tav>
                                        <p:tav tm="100000">
                                          <p:val>
                                            <p:strVal val="#ppt_x"/>
                                          </p:val>
                                        </p:tav>
                                      </p:tavLst>
                                    </p:anim>
                                    <p:anim calcmode="lin" valueType="num">
                                      <p:cBhvr>
                                        <p:cTn id="21" dur="500" fill="hold"/>
                                        <p:tgtEl>
                                          <p:spTgt spid="22536"/>
                                        </p:tgtEl>
                                        <p:attrNameLst>
                                          <p:attrName>ppt_y</p:attrName>
                                        </p:attrNameLst>
                                      </p:cBhvr>
                                      <p:tavLst>
                                        <p:tav tm="0">
                                          <p:val>
                                            <p:fltVal val="0.500000"/>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DRUMROL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457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en-US" altLang="zh-CN" sz="1200" dirty="0">
              <a:solidFill>
                <a:srgbClr val="009999"/>
              </a:solidFill>
              <a:latin typeface="Arial Narrow" panose="020B0606020202030204" pitchFamily="34" charset="0"/>
            </a:endParaRPr>
          </a:p>
        </p:txBody>
      </p:sp>
      <p:sp>
        <p:nvSpPr>
          <p:cNvPr id="24580"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Uncountability of Reals, fin.</a:t>
            </a:r>
            <a:endParaRPr lang="en-US" altLang="zh-CN" dirty="0">
              <a:latin typeface="Times New Roman" panose="02020503050405090304" pitchFamily="18" charset="0"/>
              <a:ea typeface="宋体" pitchFamily="2" charset="-122"/>
              <a:cs typeface="+mj-cs"/>
            </a:endParaRPr>
          </a:p>
        </p:txBody>
      </p:sp>
      <p:sp>
        <p:nvSpPr>
          <p:cNvPr id="24581" name="Rectangle 3"/>
          <p:cNvSpPr>
            <a:spLocks noGrp="1"/>
          </p:cNvSpPr>
          <p:nvPr>
            <p:ph idx="1"/>
          </p:nvPr>
        </p:nvSpPr>
        <p:spPr>
          <a:xfrm>
            <a:off x="685800" y="1981200"/>
            <a:ext cx="7772400" cy="4267200"/>
          </a:xfrm>
        </p:spPr>
        <p:txBody>
          <a:bodyPr vert="horz" wrap="square" lIns="91440" tIns="45720" rIns="91440" bIns="45720" anchor="t" anchorCtr="0"/>
          <a:p>
            <a:pPr eaLnBrk="1" hangingPunct="1">
              <a:buSzPct val="60000"/>
            </a:pPr>
            <a:r>
              <a:rPr lang="en-US" altLang="zh-CN" i="1" dirty="0">
                <a:latin typeface="Times New Roman" panose="02020503050405090304" pitchFamily="18" charset="0"/>
                <a:ea typeface="宋体" pitchFamily="2" charset="-122"/>
                <a:cs typeface="+mn-cs"/>
              </a:rPr>
              <a:t>E.g.</a:t>
            </a:r>
            <a:r>
              <a:rPr lang="en-US" altLang="zh-CN" dirty="0">
                <a:latin typeface="Times New Roman" panose="02020503050405090304" pitchFamily="18" charset="0"/>
                <a:ea typeface="宋体" pitchFamily="2" charset="-122"/>
                <a:cs typeface="+mn-cs"/>
              </a:rPr>
              <a:t>, a postulated enumeration of the reals:</a:t>
            </a:r>
            <a:br>
              <a:rPr lang="en-US" altLang="zh-CN" i="1" dirty="0">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1</a:t>
            </a:r>
            <a:r>
              <a:rPr lang="en-US" altLang="zh-CN" dirty="0">
                <a:solidFill>
                  <a:schemeClr val="folHlink"/>
                </a:solidFill>
                <a:latin typeface="Times New Roman" panose="02020503050405090304" pitchFamily="18" charset="0"/>
                <a:ea typeface="宋体" pitchFamily="2" charset="-122"/>
                <a:cs typeface="+mn-cs"/>
              </a:rPr>
              <a:t> = </a:t>
            </a:r>
            <a:r>
              <a:rPr lang="en-US" altLang="zh-CN" dirty="0">
                <a:solidFill>
                  <a:schemeClr val="folHlink"/>
                </a:solidFill>
                <a:latin typeface="Courier New" panose="02070409020205090404" pitchFamily="49" charset="0"/>
                <a:ea typeface="宋体" pitchFamily="2" charset="-122"/>
                <a:cs typeface="+mn-cs"/>
              </a:rPr>
              <a:t>0.301948571</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2</a:t>
            </a:r>
            <a:r>
              <a:rPr lang="en-US" altLang="zh-CN" dirty="0">
                <a:solidFill>
                  <a:schemeClr val="folHlink"/>
                </a:solidFill>
                <a:latin typeface="Times New Roman" panose="02020503050405090304" pitchFamily="18" charset="0"/>
                <a:ea typeface="宋体" pitchFamily="2" charset="-122"/>
                <a:cs typeface="+mn-cs"/>
              </a:rPr>
              <a:t> = </a:t>
            </a:r>
            <a:r>
              <a:rPr lang="en-US" altLang="zh-CN" dirty="0">
                <a:solidFill>
                  <a:schemeClr val="folHlink"/>
                </a:solidFill>
                <a:latin typeface="Courier New" panose="02070409020205090404" pitchFamily="49" charset="0"/>
                <a:ea typeface="宋体" pitchFamily="2" charset="-122"/>
                <a:cs typeface="+mn-cs"/>
              </a:rPr>
              <a:t>0.103918481</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3</a:t>
            </a:r>
            <a:r>
              <a:rPr lang="en-US" altLang="zh-CN" dirty="0">
                <a:solidFill>
                  <a:schemeClr val="folHlink"/>
                </a:solidFill>
                <a:latin typeface="Times New Roman" panose="02020503050405090304" pitchFamily="18" charset="0"/>
                <a:ea typeface="宋体" pitchFamily="2" charset="-122"/>
                <a:cs typeface="+mn-cs"/>
              </a:rPr>
              <a:t> = </a:t>
            </a:r>
            <a:r>
              <a:rPr lang="en-US" altLang="zh-CN" dirty="0">
                <a:solidFill>
                  <a:schemeClr val="folHlink"/>
                </a:solidFill>
                <a:latin typeface="Courier New" panose="02070409020205090404" pitchFamily="49" charset="0"/>
                <a:ea typeface="宋体" pitchFamily="2" charset="-122"/>
                <a:cs typeface="+mn-cs"/>
              </a:rPr>
              <a:t>0.039194193</a:t>
            </a:r>
            <a:r>
              <a:rPr lang="en-US" altLang="zh-CN" dirty="0">
                <a:solidFill>
                  <a:schemeClr val="folHlink"/>
                </a:solidFill>
                <a:latin typeface="Times New Roman" panose="02020503050405090304" pitchFamily="18" charset="0"/>
                <a:ea typeface="宋体" pitchFamily="2" charset="-122"/>
                <a:cs typeface="+mn-cs"/>
              </a:rPr>
              <a:t>…</a:t>
            </a:r>
            <a:br>
              <a:rPr lang="en-US" altLang="zh-CN" dirty="0">
                <a:solidFill>
                  <a:schemeClr val="folHlink"/>
                </a:solidFill>
                <a:latin typeface="Times New Roman" panose="02020503050405090304" pitchFamily="18" charset="0"/>
                <a:ea typeface="宋体" pitchFamily="2" charset="-122"/>
                <a:cs typeface="+mn-cs"/>
              </a:rPr>
            </a:br>
            <a:r>
              <a:rPr lang="en-US" altLang="zh-CN" i="1" dirty="0">
                <a:solidFill>
                  <a:schemeClr val="folHlink"/>
                </a:solidFill>
                <a:latin typeface="Times New Roman" panose="02020503050405090304" pitchFamily="18" charset="0"/>
                <a:ea typeface="宋体" pitchFamily="2" charset="-122"/>
                <a:cs typeface="+mn-cs"/>
              </a:rPr>
              <a:t>r</a:t>
            </a:r>
            <a:r>
              <a:rPr lang="en-US" altLang="zh-CN" baseline="-25000" dirty="0">
                <a:solidFill>
                  <a:schemeClr val="folHlink"/>
                </a:solidFill>
                <a:latin typeface="Times New Roman" panose="02020503050405090304" pitchFamily="18" charset="0"/>
                <a:ea typeface="宋体" pitchFamily="2" charset="-122"/>
                <a:cs typeface="+mn-cs"/>
              </a:rPr>
              <a:t>4</a:t>
            </a:r>
            <a:r>
              <a:rPr lang="en-US" altLang="zh-CN" dirty="0">
                <a:solidFill>
                  <a:schemeClr val="folHlink"/>
                </a:solidFill>
                <a:latin typeface="Times New Roman" panose="02020503050405090304" pitchFamily="18" charset="0"/>
                <a:ea typeface="宋体" pitchFamily="2" charset="-122"/>
                <a:cs typeface="+mn-cs"/>
              </a:rPr>
              <a:t> = </a:t>
            </a:r>
            <a:r>
              <a:rPr lang="en-US" altLang="zh-CN" dirty="0">
                <a:solidFill>
                  <a:schemeClr val="folHlink"/>
                </a:solidFill>
                <a:latin typeface="Courier New" panose="02070409020205090404" pitchFamily="49" charset="0"/>
                <a:ea typeface="宋体" pitchFamily="2" charset="-122"/>
                <a:cs typeface="+mn-cs"/>
              </a:rPr>
              <a:t>0.918237461</a:t>
            </a:r>
            <a:r>
              <a:rPr lang="en-US" altLang="zh-CN" dirty="0">
                <a:solidFill>
                  <a:schemeClr val="folHlink"/>
                </a:solidFill>
                <a:latin typeface="Times New Roman" panose="02020503050405090304" pitchFamily="18" charset="0"/>
                <a:ea typeface="宋体" pitchFamily="2" charset="-122"/>
                <a:cs typeface="+mn-cs"/>
              </a:rPr>
              <a:t>…</a:t>
            </a:r>
            <a:endParaRPr lang="en-US" altLang="zh-CN" dirty="0">
              <a:solidFill>
                <a:schemeClr val="folHlink"/>
              </a:solidFill>
              <a:latin typeface="Times New Roman" panose="02020503050405090304" pitchFamily="18" charset="0"/>
              <a:ea typeface="宋体" pitchFamily="2" charset="-122"/>
              <a:cs typeface="+mn-cs"/>
            </a:endParaRPr>
          </a:p>
          <a:p>
            <a:pPr eaLnBrk="1" hangingPunct="1">
              <a:buSzPct val="60000"/>
            </a:pPr>
            <a:r>
              <a:rPr lang="en-US" altLang="zh-CN" dirty="0">
                <a:latin typeface="Times New Roman" panose="02020503050405090304" pitchFamily="18" charset="0"/>
                <a:ea typeface="宋体" pitchFamily="2" charset="-122"/>
                <a:cs typeface="+mn-cs"/>
              </a:rPr>
              <a:t>OK, now let’s add 1 to each of the diagonal digits (mod 10), that is changing 9’s to 0.</a:t>
            </a:r>
            <a:endParaRPr lang="en-US" altLang="zh-CN" dirty="0">
              <a:latin typeface="Times New Roman" panose="02020503050405090304" pitchFamily="18" charset="0"/>
              <a:ea typeface="宋体" pitchFamily="2" charset="-122"/>
              <a:cs typeface="+mn-cs"/>
            </a:endParaRPr>
          </a:p>
          <a:p>
            <a:pPr lvl="1" eaLnBrk="1" hangingPunct="1">
              <a:buSzPct val="55000"/>
            </a:pPr>
            <a:r>
              <a:rPr lang="en-US" altLang="zh-CN" dirty="0">
                <a:solidFill>
                  <a:schemeClr val="folHlink"/>
                </a:solidFill>
                <a:latin typeface="Times New Roman" panose="02020503050405090304" pitchFamily="18" charset="0"/>
                <a:ea typeface="宋体" pitchFamily="2" charset="-122"/>
              </a:rPr>
              <a:t>0.4103… can’t be on the list anywhere!</a:t>
            </a:r>
            <a:endParaRPr lang="en-US" altLang="zh-CN" dirty="0">
              <a:solidFill>
                <a:schemeClr val="folHlink"/>
              </a:solidFill>
              <a:latin typeface="Times New Roman" panose="02020503050405090304" pitchFamily="18" charset="0"/>
              <a:ea typeface="宋体" pitchFamily="2" charset="-122"/>
            </a:endParaRPr>
          </a:p>
        </p:txBody>
      </p:sp>
      <p:sp>
        <p:nvSpPr>
          <p:cNvPr id="24582" name="Freeform 4"/>
          <p:cNvSpPr/>
          <p:nvPr/>
        </p:nvSpPr>
        <p:spPr>
          <a:xfrm>
            <a:off x="2222500" y="2254250"/>
            <a:ext cx="1206500" cy="2165350"/>
          </a:xfrm>
          <a:custGeom>
            <a:avLst/>
            <a:gdLst/>
            <a:ahLst/>
            <a:cxnLst>
              <a:cxn ang="0">
                <a:pos x="901700" y="2089150"/>
              </a:cxn>
              <a:cxn ang="0">
                <a:pos x="139700" y="565150"/>
              </a:cxn>
              <a:cxn ang="0">
                <a:pos x="66675" y="333375"/>
              </a:cxn>
              <a:cxn ang="0">
                <a:pos x="279400" y="304800"/>
              </a:cxn>
              <a:cxn ang="0">
                <a:pos x="1206500" y="2165350"/>
              </a:cxn>
            </a:cxnLst>
            <a:pathLst>
              <a:path w="760" h="1364">
                <a:moveTo>
                  <a:pt x="568" y="1316"/>
                </a:moveTo>
                <a:cubicBezTo>
                  <a:pt x="368" y="932"/>
                  <a:pt x="176" y="540"/>
                  <a:pt x="88" y="356"/>
                </a:cubicBezTo>
                <a:cubicBezTo>
                  <a:pt x="0" y="172"/>
                  <a:pt x="27" y="237"/>
                  <a:pt x="42" y="210"/>
                </a:cubicBezTo>
                <a:cubicBezTo>
                  <a:pt x="57" y="183"/>
                  <a:pt x="56" y="0"/>
                  <a:pt x="176" y="192"/>
                </a:cubicBezTo>
                <a:cubicBezTo>
                  <a:pt x="296" y="384"/>
                  <a:pt x="638" y="1120"/>
                  <a:pt x="760" y="1364"/>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5603"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en-US" altLang="zh-CN" sz="1200" dirty="0">
              <a:solidFill>
                <a:srgbClr val="009999"/>
              </a:solidFill>
              <a:latin typeface="Arial Narrow" panose="020B0606020202030204" pitchFamily="34" charset="0"/>
            </a:endParaRPr>
          </a:p>
        </p:txBody>
      </p:sp>
      <p:sp>
        <p:nvSpPr>
          <p:cNvPr id="2560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Transfinite Numbers</a:t>
            </a:r>
            <a:endParaRPr lang="en-US" altLang="zh-CN" dirty="0">
              <a:latin typeface="Times New Roman" panose="02020503050405090304" pitchFamily="18" charset="0"/>
              <a:ea typeface="宋体" pitchFamily="2" charset="-122"/>
              <a:cs typeface="+mj-cs"/>
            </a:endParaRPr>
          </a:p>
        </p:txBody>
      </p:sp>
      <p:sp>
        <p:nvSpPr>
          <p:cNvPr id="22533" name="Rectangle 3"/>
          <p:cNvSpPr>
            <a:spLocks noGrp="1" noRot="1" noChangeAspect="1" noMove="1" noResize="1" noEditPoints="1" noAdjustHandles="1" noChangeArrowheads="1" noChangeShapeType="1" noTextEdit="1"/>
          </p:cNvSpPr>
          <p:nvPr>
            <p:ph idx="1"/>
          </p:nvPr>
        </p:nvSpPr>
        <p:spPr bwMode="auto">
          <a:xfrm>
            <a:off x="685800" y="1263650"/>
            <a:ext cx="7772400" cy="4267200"/>
          </a:xfrm>
          <a:blipFill rotWithShape="0">
            <a:blip r:embed="rId1" cstate="print"/>
            <a:stretch>
              <a:fillRect l="-2039" t="-2000" b="-5143"/>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rPr>
              <a:t> </a:t>
            </a:r>
            <a:endParaRPr kumimoji="1" lang="zh-CN" altLang="en-US" sz="3200" b="0" i="0" u="none" strike="noStrike" kern="0" cap="none" spc="0" normalizeH="0" baseline="0" noProof="0">
              <a:ln>
                <a:noFill/>
              </a:ln>
              <a:noFill/>
              <a:effectLst/>
              <a:uLnTx/>
              <a:uFillTx/>
              <a:latin typeface="Times New Roman" panose="02020503050405090304" pitchFamily="18" charset="0"/>
              <a:ea typeface="宋体" pitchFamily="2" charset="-122"/>
              <a:cs typeface="+mn-cs"/>
            </a:endParaRPr>
          </a:p>
        </p:txBody>
      </p:sp>
      <p:sp>
        <p:nvSpPr>
          <p:cNvPr id="25606" name="WordArt 4"/>
          <p:cNvSpPr>
            <a:spLocks noTextEdit="1"/>
          </p:cNvSpPr>
          <p:nvPr/>
        </p:nvSpPr>
        <p:spPr>
          <a:xfrm>
            <a:off x="2819400" y="5584825"/>
            <a:ext cx="6172200" cy="685800"/>
          </a:xfrm>
          <a:prstGeom prst="rect">
            <a:avLst/>
          </a:prstGeom>
        </p:spPr>
        <p:txBody>
          <a:bodyPr wrap="none" fromWordArt="1">
            <a:prstTxWarp prst="textCascadeUp">
              <a:avLst>
                <a:gd name="adj" fmla="val 100000"/>
              </a:avLst>
            </a:prstTxWarp>
            <a:normAutofit/>
            <a:scene3d>
              <a:camera prst="legacyPerspectiveFront">
                <a:rot lat="20520000" lon="1080000" rev="0"/>
              </a:camera>
              <a:lightRig rig="legacyHarsh2" dir="b"/>
            </a:scene3d>
            <a:sp3d extrusionH="430200" prstMaterial="legacyMatte">
              <a:extrusionClr>
                <a:srgbClr val="FF6600"/>
              </a:extrusionClr>
            </a:sp3d>
          </a:bodyPr>
          <a:p>
            <a:pPr algn="ctr"/>
            <a:r>
              <a:rPr lang="zh-CN" altLang="en-US" sz="3600">
                <a:gradFill rotWithShape="1">
                  <a:gsLst>
                    <a:gs pos="0">
                      <a:srgbClr val="FFE701"/>
                    </a:gs>
                    <a:gs pos="100000">
                      <a:srgbClr val="FE3E02"/>
                    </a:gs>
                  </a:gsLst>
                  <a:lin ang="5400000" scaled="1"/>
                  <a:tileRect/>
                </a:gradFill>
                <a:latin typeface="Impact" panose="020B0806030902050204" charset="0"/>
                <a:ea typeface="Impact" panose="020B0806030902050204" charset="0"/>
              </a:rPr>
              <a:t>Proven impossible to prove or disprove!</a:t>
            </a:r>
            <a:endParaRPr lang="zh-CN" altLang="en-US" sz="3600">
              <a:gradFill rotWithShape="1">
                <a:gsLst>
                  <a:gs pos="0">
                    <a:srgbClr val="FFE701"/>
                  </a:gs>
                  <a:gs pos="100000">
                    <a:srgbClr val="FE3E02"/>
                  </a:gs>
                </a:gsLst>
                <a:lin ang="5400000" scaled="1"/>
                <a:tileRect/>
              </a:gradFill>
              <a:latin typeface="Impact" panose="020B0806030902050204" charset="0"/>
              <a:ea typeface="Impact" panose="020B080603090205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nodeType="click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p:cTn id="7" dur="500" fill="hold"/>
                                        <p:tgtEl>
                                          <p:spTgt spid="25606"/>
                                        </p:tgtEl>
                                        <p:attrNameLst>
                                          <p:attrName>ppt_w</p:attrName>
                                        </p:attrNameLst>
                                      </p:cBhvr>
                                      <p:tavLst>
                                        <p:tav tm="0">
                                          <p:val>
                                            <p:strVal val="4*#ppt_w"/>
                                          </p:val>
                                        </p:tav>
                                        <p:tav tm="100000">
                                          <p:val>
                                            <p:strVal val="#ppt_w"/>
                                          </p:val>
                                        </p:tav>
                                      </p:tavLst>
                                    </p:anim>
                                    <p:anim calcmode="lin" valueType="num">
                                      <p:cBhvr>
                                        <p:cTn id="8" dur="500" fill="hold"/>
                                        <p:tgtEl>
                                          <p:spTgt spid="2560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7651"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a:t>
            </a:r>
            <a:endParaRPr lang="en-US" altLang="zh-CN" sz="1200" dirty="0">
              <a:solidFill>
                <a:srgbClr val="009999"/>
              </a:solidFill>
              <a:latin typeface="Arial Narrow" panose="020B0606020202030204" pitchFamily="34" charset="0"/>
            </a:endParaRPr>
          </a:p>
        </p:txBody>
      </p:sp>
      <p:sp>
        <p:nvSpPr>
          <p:cNvPr id="27652" name="Rectangle 2"/>
          <p:cNvSpPr>
            <a:spLocks noGrp="1"/>
          </p:cNvSpPr>
          <p:nvPr>
            <p:ph type="title"/>
          </p:nvPr>
        </p:nvSpPr>
        <p:spPr>
          <a:xfrm>
            <a:off x="1116013" y="115253"/>
            <a:ext cx="7793037" cy="1143000"/>
          </a:xfrm>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Countable vs. Uncountable</a:t>
            </a:r>
            <a:endParaRPr lang="en-US" altLang="zh-CN" dirty="0">
              <a:latin typeface="Times New Roman" panose="02020503050405090304" pitchFamily="18" charset="0"/>
              <a:ea typeface="宋体" pitchFamily="2" charset="-122"/>
              <a:cs typeface="+mj-cs"/>
            </a:endParaRPr>
          </a:p>
        </p:txBody>
      </p:sp>
      <p:sp>
        <p:nvSpPr>
          <p:cNvPr id="27653" name="Rectangle 3"/>
          <p:cNvSpPr>
            <a:spLocks noGrp="1"/>
          </p:cNvSpPr>
          <p:nvPr>
            <p:ph idx="1"/>
          </p:nvPr>
        </p:nvSpPr>
        <p:spPr/>
        <p:txBody>
          <a:bodyPr vert="horz" wrap="square" lIns="91440" tIns="45720" rIns="91440" bIns="45720" anchor="t" anchorCtr="0"/>
          <a:p>
            <a:pPr eaLnBrk="1" hangingPunct="1">
              <a:buSzPct val="60000"/>
            </a:pPr>
            <a:r>
              <a:rPr lang="en-US" altLang="zh-CN" sz="3600" dirty="0">
                <a:latin typeface="Times New Roman" panose="02020503050405090304" pitchFamily="18" charset="0"/>
                <a:ea typeface="宋体" pitchFamily="2" charset="-122"/>
                <a:cs typeface="+mn-cs"/>
              </a:rPr>
              <a:t>You should:</a:t>
            </a:r>
            <a:endParaRPr lang="en-US" altLang="zh-CN" sz="3600" dirty="0">
              <a:latin typeface="Times New Roman" panose="02020503050405090304" pitchFamily="18" charset="0"/>
              <a:ea typeface="宋体" pitchFamily="2" charset="-122"/>
              <a:cs typeface="+mn-cs"/>
            </a:endParaRPr>
          </a:p>
          <a:p>
            <a:pPr lvl="1" eaLnBrk="1" hangingPunct="1">
              <a:buSzPct val="55000"/>
            </a:pPr>
            <a:r>
              <a:rPr lang="en-US" altLang="zh-CN" sz="3200" dirty="0">
                <a:solidFill>
                  <a:schemeClr val="folHlink"/>
                </a:solidFill>
                <a:latin typeface="Times New Roman" panose="02020503050405090304" pitchFamily="18" charset="0"/>
                <a:ea typeface="宋体" pitchFamily="2" charset="-122"/>
              </a:rPr>
              <a:t>Know how to define “same cardinality” in the case of infinite sets.</a:t>
            </a:r>
            <a:endParaRPr lang="en-US" altLang="zh-CN" sz="3200" dirty="0">
              <a:solidFill>
                <a:schemeClr val="folHlink"/>
              </a:solidFill>
              <a:latin typeface="Times New Roman" panose="02020503050405090304" pitchFamily="18" charset="0"/>
              <a:ea typeface="宋体" pitchFamily="2" charset="-122"/>
            </a:endParaRPr>
          </a:p>
          <a:p>
            <a:pPr lvl="1" eaLnBrk="1" hangingPunct="1">
              <a:buSzPct val="55000"/>
            </a:pPr>
            <a:r>
              <a:rPr lang="en-US" altLang="zh-CN" sz="3200" dirty="0">
                <a:solidFill>
                  <a:schemeClr val="folHlink"/>
                </a:solidFill>
                <a:latin typeface="Times New Roman" panose="02020503050405090304" pitchFamily="18" charset="0"/>
                <a:ea typeface="宋体" pitchFamily="2" charset="-122"/>
              </a:rPr>
              <a:t>Know the definitions of </a:t>
            </a:r>
            <a:r>
              <a:rPr lang="en-US" altLang="zh-CN" sz="3200" i="1" dirty="0">
                <a:solidFill>
                  <a:schemeClr val="folHlink"/>
                </a:solidFill>
                <a:latin typeface="Times New Roman" panose="02020503050405090304" pitchFamily="18" charset="0"/>
                <a:ea typeface="宋体" pitchFamily="2" charset="-122"/>
              </a:rPr>
              <a:t>countable</a:t>
            </a:r>
            <a:r>
              <a:rPr lang="en-US" altLang="zh-CN" sz="3200" dirty="0">
                <a:solidFill>
                  <a:schemeClr val="folHlink"/>
                </a:solidFill>
                <a:latin typeface="Times New Roman" panose="02020503050405090304" pitchFamily="18" charset="0"/>
                <a:ea typeface="宋体" pitchFamily="2" charset="-122"/>
              </a:rPr>
              <a:t> and </a:t>
            </a:r>
            <a:r>
              <a:rPr lang="en-US" altLang="zh-CN" sz="3200" i="1" dirty="0">
                <a:solidFill>
                  <a:schemeClr val="folHlink"/>
                </a:solidFill>
                <a:latin typeface="Times New Roman" panose="02020503050405090304" pitchFamily="18" charset="0"/>
                <a:ea typeface="宋体" pitchFamily="2" charset="-122"/>
              </a:rPr>
              <a:t>uncountable</a:t>
            </a:r>
            <a:r>
              <a:rPr lang="en-US" altLang="zh-CN" sz="3200" dirty="0">
                <a:solidFill>
                  <a:schemeClr val="folHlink"/>
                </a:solidFill>
                <a:latin typeface="Times New Roman" panose="02020503050405090304" pitchFamily="18" charset="0"/>
                <a:ea typeface="宋体" pitchFamily="2" charset="-122"/>
              </a:rPr>
              <a:t>.</a:t>
            </a:r>
            <a:endParaRPr lang="en-US" altLang="zh-CN" sz="3200" dirty="0">
              <a:solidFill>
                <a:schemeClr val="folHlink"/>
              </a:solidFill>
              <a:latin typeface="Times New Roman" panose="02020503050405090304" pitchFamily="18" charset="0"/>
              <a:ea typeface="宋体" pitchFamily="2" charset="-122"/>
            </a:endParaRPr>
          </a:p>
          <a:p>
            <a:pPr lvl="1" eaLnBrk="1" hangingPunct="1">
              <a:buSzPct val="55000"/>
            </a:pPr>
            <a:r>
              <a:rPr lang="en-US" altLang="zh-CN" sz="3200" dirty="0">
                <a:solidFill>
                  <a:schemeClr val="folHlink"/>
                </a:solidFill>
                <a:latin typeface="Times New Roman" panose="02020503050405090304" pitchFamily="18" charset="0"/>
                <a:ea typeface="宋体" pitchFamily="2" charset="-122"/>
              </a:rPr>
              <a:t>Know how to prove (at least in easy cases) that sets are either countable or uncountable.</a:t>
            </a:r>
            <a:endParaRPr lang="en-US" altLang="zh-CN" sz="3200" dirty="0">
              <a:solidFill>
                <a:schemeClr val="folHlink"/>
              </a:solidFill>
              <a:latin typeface="Times New Roman" panose="02020503050405090304" pitchFamily="18" charset="0"/>
              <a:ea typeface="宋体"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ea typeface="宋体" pitchFamily="2" charset="-122"/>
                <a:cs typeface="+mj-cs"/>
              </a:rPr>
              <a:t>Homework</a:t>
            </a:r>
            <a:endParaRPr lang="en-US" altLang="zh-CN" dirty="0">
              <a:latin typeface="Times New Roman" panose="02020503050405090304" pitchFamily="18" charset="0"/>
              <a:ea typeface="宋体" pitchFamily="2" charset="-122"/>
              <a:cs typeface="+mj-cs"/>
            </a:endParaRPr>
          </a:p>
        </p:txBody>
      </p:sp>
      <p:sp>
        <p:nvSpPr>
          <p:cNvPr id="28675" name="Rectangle 3"/>
          <p:cNvSpPr>
            <a:spLocks noGrp="1"/>
          </p:cNvSpPr>
          <p:nvPr>
            <p:ph idx="1"/>
          </p:nvPr>
        </p:nvSpPr>
        <p:spPr/>
        <p:txBody>
          <a:bodyPr vert="horz" wrap="square" lIns="91440" tIns="45720" rIns="91440" bIns="45720" anchor="t" anchorCtr="0"/>
          <a:p>
            <a:pPr eaLnBrk="1" hangingPunct="1">
              <a:buSzPct val="60000"/>
            </a:pPr>
            <a:r>
              <a:rPr lang="en-US" altLang="zh-CN" dirty="0">
                <a:latin typeface="Times New Roman" panose="02020503050405090304" pitchFamily="18" charset="0"/>
                <a:ea typeface="宋体" pitchFamily="2" charset="-122"/>
                <a:cs typeface="+mn-cs"/>
              </a:rPr>
              <a:t>§2.5</a:t>
            </a:r>
            <a:endParaRPr lang="en-US" altLang="zh-CN" dirty="0">
              <a:latin typeface="Times New Roman" panose="02020503050405090304" pitchFamily="18" charset="0"/>
              <a:ea typeface="宋体" pitchFamily="2" charset="-122"/>
              <a:cs typeface="+mn-cs"/>
            </a:endParaRPr>
          </a:p>
          <a:p>
            <a:pPr lvl="1" eaLnBrk="1" hangingPunct="1">
              <a:buSzPct val="55000"/>
            </a:pPr>
            <a:r>
              <a:rPr lang="en-US" altLang="zh-CN" dirty="0">
                <a:latin typeface="Times New Roman" panose="02020503050405090304" pitchFamily="18" charset="0"/>
                <a:ea typeface="宋体" pitchFamily="2" charset="-122"/>
              </a:rPr>
              <a:t>2, 10</a:t>
            </a:r>
            <a:endParaRPr lang="zh-CN" altLang="en-US" dirty="0">
              <a:latin typeface="Times New Roman" panose="02020503050405090304" pitchFamily="18" charset="0"/>
              <a:ea typeface="宋体" pitchFamily="2" charset="-122"/>
            </a:endParaRPr>
          </a:p>
        </p:txBody>
      </p:sp>
      <p:sp>
        <p:nvSpPr>
          <p:cNvPr id="2867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r" eaLnBrk="1" hangingPunct="1"/>
            <a:fld id="{9A0DB2DC-4C9A-4742-B13C-FB6460FD3503}" type="slidenum">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867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eaLnBrk="1" hangingPunct="1"/>
            <a:fld id="{BB962C8B-B14F-4D97-AF65-F5344CB8AC3E}" type="datetime1">
              <a:rPr lang="zh-CN" altLang="en-US" sz="1000" dirty="0">
                <a:solidFill>
                  <a:srgbClr val="009999"/>
                </a:solidFill>
                <a:latin typeface="Arial Narrow" panose="020B0606020202030204" pitchFamily="34" charset="0"/>
              </a:rPr>
            </a:fld>
            <a:endParaRPr lang="zh-CN" altLang="en-US" sz="1000" dirty="0">
              <a:solidFill>
                <a:srgbClr val="009999"/>
              </a:solidFill>
              <a:latin typeface="Arial Narrow" panose="020B0606020202030204" pitchFamily="34" charset="0"/>
            </a:endParaRPr>
          </a:p>
        </p:txBody>
      </p:sp>
      <p:sp>
        <p:nvSpPr>
          <p:cNvPr id="2867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itchFamily="2" charset="-122"/>
                <a:cs typeface="+mn-cs"/>
              </a:defRPr>
            </a:lvl5pPr>
          </a:lstStyle>
          <a:p>
            <a:pPr lvl="0" algn="ctr" eaLnBrk="1" hangingPunct="1">
              <a:lnSpc>
                <a:spcPct val="110000"/>
              </a:lnSpc>
            </a:pPr>
            <a:r>
              <a:rPr lang="en-US" altLang="zh-CN" sz="1200" dirty="0">
                <a:solidFill>
                  <a:srgbClr val="009999"/>
                </a:solidFill>
                <a:latin typeface="Arial Narrow" panose="020B0606020202030204" pitchFamily="34" charset="0"/>
              </a:rPr>
              <a:t>School of Computer Science, BUPT  </a:t>
            </a:r>
            <a:endParaRPr lang="zh-CN" altLang="en-US" sz="1200" dirty="0">
              <a:solidFill>
                <a:srgbClr val="009999"/>
              </a:solidFill>
              <a:latin typeface="Arial Narrow" panose="020B060602020203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ctrTitle"/>
          </p:nvPr>
        </p:nvSpPr>
        <p:spPr/>
        <p:txBody>
          <a:bodyPr vert="horz" wrap="square" lIns="91440" tIns="45720" rIns="91440" bIns="45720" anchor="b" anchorCtr="0"/>
          <a:p>
            <a:pPr eaLnBrk="1" hangingPunct="1">
              <a:buClrTx/>
              <a:buSzTx/>
              <a:buFontTx/>
            </a:pPr>
            <a:r>
              <a:rPr lang="en-US" altLang="zh-CN" dirty="0">
                <a:latin typeface="Copperplate Gothic Bold" panose="020E0705020206020404" pitchFamily="34" charset="0"/>
                <a:ea typeface="+mj-ea"/>
                <a:cs typeface="+mj-cs"/>
              </a:rPr>
              <a:t>Matrices（</a:t>
            </a:r>
            <a:r>
              <a:rPr lang="zh-CN" altLang="en-US" dirty="0">
                <a:latin typeface="Copperplate Gothic Bold" panose="020E0705020206020404" pitchFamily="34" charset="0"/>
                <a:ea typeface="+mj-ea"/>
                <a:cs typeface="+mj-cs"/>
              </a:rPr>
              <a:t>矩阵）</a:t>
            </a:r>
            <a:endParaRPr lang="zh-CN" altLang="en-US" dirty="0">
              <a:latin typeface="Copperplate Gothic Bold" panose="020E0705020206020404" pitchFamily="34" charset="0"/>
              <a:ea typeface="+mj-ea"/>
              <a:cs typeface="+mj-cs"/>
            </a:endParaRPr>
          </a:p>
        </p:txBody>
      </p:sp>
      <p:sp>
        <p:nvSpPr>
          <p:cNvPr id="7171" name="副标题 3"/>
          <p:cNvSpPr>
            <a:spLocks noGrp="1"/>
          </p:cNvSpPr>
          <p:nvPr>
            <p:ph type="subTitle" idx="1"/>
          </p:nvPr>
        </p:nvSpPr>
        <p:spPr/>
        <p:txBody>
          <a:bodyPr vert="horz" wrap="square" lIns="91440" tIns="45720" rIns="91440" bIns="45720" anchor="t" anchorCtr="0"/>
          <a:p>
            <a:pPr>
              <a:buSzPct val="60000"/>
            </a:pPr>
            <a:endParaRPr lang="en-US" altLang="en-US" dirty="0">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a:xfrm>
            <a:off x="7620000" y="6042025"/>
            <a:ext cx="1524000" cy="457200"/>
          </a:xfrm>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8196" name="页脚占位符 5"/>
          <p:cNvSpPr txBox="1">
            <a:spLocks noGrp="1"/>
          </p:cNvSpPr>
          <p:nvPr>
            <p:ph type="ftr" sz="quarter" idx="12"/>
          </p:nvPr>
        </p:nvSpPr>
        <p:spPr>
          <a:xfrm>
            <a:off x="1447800" y="6400800"/>
            <a:ext cx="6172200" cy="457200"/>
          </a:xfrm>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§2.6 Matrices</a:t>
            </a:r>
            <a:endParaRPr lang="en-US" altLang="zh-CN" dirty="0">
              <a:latin typeface="Times New Roman" panose="02020503050405090304" pitchFamily="18" charset="0"/>
            </a:endParaRPr>
          </a:p>
        </p:txBody>
      </p:sp>
      <p:sp>
        <p:nvSpPr>
          <p:cNvPr id="8198" name="Rectangle 3"/>
          <p:cNvSpPr>
            <a:spLocks noGrp="1"/>
          </p:cNvSpPr>
          <p:nvPr>
            <p:ph idx="1"/>
          </p:nvPr>
        </p:nvSpPr>
        <p:spPr>
          <a:xfrm>
            <a:off x="685800" y="1611313"/>
            <a:ext cx="7772400" cy="4267200"/>
          </a:xfrm>
        </p:spPr>
        <p:txBody>
          <a:bodyPr vert="horz" wrap="square" lIns="91440" tIns="45720" rIns="91440" bIns="45720" anchor="t" anchorCtr="0"/>
          <a:p>
            <a:pPr eaLnBrk="1" hangingPunct="1"/>
            <a:r>
              <a:rPr lang="en-US" altLang="zh-CN" dirty="0">
                <a:latin typeface="Times New Roman" panose="02020503050405090304" pitchFamily="18" charset="0"/>
              </a:rPr>
              <a:t>A </a:t>
            </a:r>
            <a:r>
              <a:rPr lang="en-US" altLang="zh-CN" i="1" dirty="0">
                <a:latin typeface="Times New Roman" panose="02020503050405090304" pitchFamily="18" charset="0"/>
              </a:rPr>
              <a:t>matrix</a:t>
            </a:r>
            <a:r>
              <a:rPr lang="en-US" altLang="zh-CN" dirty="0">
                <a:latin typeface="Times New Roman" panose="02020503050405090304" pitchFamily="18" charset="0"/>
              </a:rPr>
              <a:t> is a rectangular array of objects (usually numbers).</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An </a:t>
            </a:r>
            <a:r>
              <a:rPr lang="en-US" altLang="zh-CN" i="1" dirty="0">
                <a:latin typeface="Times New Roman" panose="02020503050405090304" pitchFamily="18" charset="0"/>
              </a:rPr>
              <a:t>m</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m</a:t>
            </a:r>
            <a:r>
              <a:rPr lang="en-US" altLang="zh-CN" dirty="0">
                <a:latin typeface="Times New Roman" panose="02020503050405090304" pitchFamily="18" charset="0"/>
                <a:sym typeface="Symbol" panose="05050102010706020507" pitchFamily="18" charset="2"/>
              </a:rPr>
              <a:t> by </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matrix has exactly </a:t>
            </a:r>
            <a:r>
              <a:rPr lang="en-US" altLang="zh-CN" i="1" dirty="0">
                <a:latin typeface="Times New Roman" panose="02020503050405090304" pitchFamily="18" charset="0"/>
                <a:sym typeface="Symbol" panose="05050102010706020507" pitchFamily="18" charset="2"/>
              </a:rPr>
              <a:t>m</a:t>
            </a:r>
            <a:r>
              <a:rPr lang="en-US" altLang="zh-CN" dirty="0">
                <a:latin typeface="Times New Roman" panose="02020503050405090304" pitchFamily="18" charset="0"/>
                <a:sym typeface="Symbol" panose="05050102010706020507" pitchFamily="18" charset="2"/>
              </a:rPr>
              <a:t> horizontal rows, and </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vertical columns.</a:t>
            </a:r>
            <a:endParaRPr lang="en-US" altLang="zh-CN" dirty="0">
              <a:latin typeface="Times New Roman" panose="02020503050405090304" pitchFamily="18" charset="0"/>
              <a:sym typeface="Symbol" panose="05050102010706020507" pitchFamily="18" charset="2"/>
            </a:endParaRPr>
          </a:p>
          <a:p>
            <a:pPr eaLnBrk="1" hangingPunct="1"/>
            <a:r>
              <a:rPr lang="en-US" altLang="zh-CN" dirty="0">
                <a:solidFill>
                  <a:srgbClr val="006600"/>
                </a:solidFill>
                <a:latin typeface="Times New Roman" panose="02020503050405090304" pitchFamily="18" charset="0"/>
                <a:sym typeface="Symbol" panose="05050102010706020507" pitchFamily="18" charset="2"/>
              </a:rPr>
              <a:t>Plural of matrix = </a:t>
            </a:r>
            <a:r>
              <a:rPr lang="en-US" altLang="zh-CN" i="1" dirty="0">
                <a:solidFill>
                  <a:srgbClr val="006600"/>
                </a:solidFill>
                <a:latin typeface="Times New Roman" panose="02020503050405090304" pitchFamily="18" charset="0"/>
                <a:sym typeface="Symbol" panose="05050102010706020507" pitchFamily="18" charset="2"/>
              </a:rPr>
              <a:t>matrices</a:t>
            </a:r>
            <a:r>
              <a:rPr lang="en-US" altLang="zh-CN" dirty="0">
                <a:solidFill>
                  <a:srgbClr val="006600"/>
                </a:solidFill>
                <a:latin typeface="Times New Roman" panose="02020503050405090304" pitchFamily="18" charset="0"/>
                <a:sym typeface="Symbol" panose="05050102010706020507" pitchFamily="18" charset="2"/>
              </a:rPr>
              <a:t> </a:t>
            </a:r>
            <a:br>
              <a:rPr lang="en-US" altLang="zh-CN" dirty="0">
                <a:solidFill>
                  <a:srgbClr val="006600"/>
                </a:solidFill>
                <a:latin typeface="Times New Roman" panose="02020503050405090304" pitchFamily="18" charset="0"/>
                <a:sym typeface="Symbol" panose="05050102010706020507" pitchFamily="18" charset="2"/>
              </a:rPr>
            </a:br>
            <a:r>
              <a:rPr lang="en-US" altLang="zh-CN" dirty="0">
                <a:solidFill>
                  <a:srgbClr val="006600"/>
                </a:solidFill>
                <a:latin typeface="Times New Roman" panose="02020503050405090304" pitchFamily="18" charset="0"/>
                <a:sym typeface="Symbol" panose="05050102010706020507" pitchFamily="18" charset="2"/>
              </a:rPr>
              <a:t>(say MAY-trih-sees)</a:t>
            </a:r>
            <a:endParaRPr lang="en-US" altLang="zh-CN" dirty="0">
              <a:solidFill>
                <a:srgbClr val="006600"/>
              </a:solidFill>
              <a:latin typeface="Times New Roman" panose="02020503050405090304" pitchFamily="18" charset="0"/>
              <a:sym typeface="Symbol" panose="05050102010706020507" pitchFamily="18" charset="2"/>
            </a:endParaRPr>
          </a:p>
          <a:p>
            <a:pPr eaLnBrk="1" hangingPunct="1"/>
            <a:r>
              <a:rPr lang="en-US" altLang="zh-CN" dirty="0">
                <a:solidFill>
                  <a:srgbClr val="FF0000"/>
                </a:solidFill>
                <a:latin typeface="Times New Roman" panose="02020503050405090304" pitchFamily="18" charset="0"/>
                <a:sym typeface="Symbol" panose="05050102010706020507" pitchFamily="18" charset="2"/>
              </a:rPr>
              <a:t>An </a:t>
            </a:r>
            <a:r>
              <a:rPr lang="en-US" altLang="zh-CN" i="1" dirty="0">
                <a:solidFill>
                  <a:srgbClr val="FF0000"/>
                </a:solidFill>
                <a:latin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sym typeface="Symbol" panose="05050102010706020507" pitchFamily="18" charset="2"/>
              </a:rPr>
              <a:t> matrix is called a </a:t>
            </a:r>
            <a:r>
              <a:rPr lang="en-US" altLang="zh-CN" i="1" dirty="0">
                <a:solidFill>
                  <a:srgbClr val="FF0000"/>
                </a:solidFill>
                <a:latin typeface="Times New Roman" panose="02020503050405090304" pitchFamily="18" charset="0"/>
                <a:sym typeface="Symbol" panose="05050102010706020507" pitchFamily="18" charset="2"/>
              </a:rPr>
              <a:t>square</a:t>
            </a:r>
            <a:r>
              <a:rPr lang="en-US" altLang="zh-CN" dirty="0">
                <a:solidFill>
                  <a:srgbClr val="FF0000"/>
                </a:solidFill>
                <a:latin typeface="Times New Roman" panose="02020503050405090304" pitchFamily="18" charset="0"/>
                <a:sym typeface="Symbol" panose="05050102010706020507" pitchFamily="18" charset="2"/>
              </a:rPr>
              <a:t> matrix</a:t>
            </a:r>
            <a:r>
              <a:rPr lang="en-US" altLang="zh-CN" i="1" dirty="0">
                <a:solidFill>
                  <a:srgbClr val="FF0000"/>
                </a:solidFill>
                <a:latin typeface="Times New Roman" panose="02020503050405090304" pitchFamily="18" charset="0"/>
                <a:sym typeface="Symbol" panose="05050102010706020507" pitchFamily="18" charset="2"/>
              </a:rPr>
              <a:t>,</a:t>
            </a:r>
            <a:br>
              <a:rPr lang="en-US" altLang="zh-CN" i="1" dirty="0">
                <a:solidFill>
                  <a:srgbClr val="FF0000"/>
                </a:solidFill>
                <a:latin typeface="Times New Roman" panose="02020503050405090304" pitchFamily="18" charset="0"/>
                <a:sym typeface="Symbol" panose="05050102010706020507" pitchFamily="18" charset="2"/>
              </a:rPr>
            </a:br>
            <a:r>
              <a:rPr lang="en-US" altLang="zh-CN" dirty="0">
                <a:solidFill>
                  <a:srgbClr val="FF0000"/>
                </a:solidFill>
                <a:latin typeface="Times New Roman" panose="02020503050405090304" pitchFamily="18" charset="0"/>
                <a:sym typeface="Symbol" panose="05050102010706020507" pitchFamily="18" charset="2"/>
              </a:rPr>
              <a:t>whose </a:t>
            </a:r>
            <a:r>
              <a:rPr lang="en-US" altLang="zh-CN" i="1" dirty="0">
                <a:solidFill>
                  <a:srgbClr val="FF0000"/>
                </a:solidFill>
                <a:latin typeface="Times New Roman" panose="02020503050405090304" pitchFamily="18" charset="0"/>
                <a:sym typeface="Symbol" panose="05050102010706020507" pitchFamily="18" charset="2"/>
              </a:rPr>
              <a:t>order</a:t>
            </a:r>
            <a:r>
              <a:rPr lang="en-US" altLang="zh-CN" dirty="0">
                <a:solidFill>
                  <a:srgbClr val="FF0000"/>
                </a:solidFill>
                <a:latin typeface="Times New Roman" panose="02020503050405090304" pitchFamily="18" charset="0"/>
                <a:sym typeface="Symbol" panose="05050102010706020507" pitchFamily="18" charset="2"/>
              </a:rPr>
              <a:t> or </a:t>
            </a:r>
            <a:r>
              <a:rPr lang="en-US" altLang="zh-CN" i="1" dirty="0">
                <a:solidFill>
                  <a:srgbClr val="FF0000"/>
                </a:solidFill>
                <a:latin typeface="Times New Roman" panose="02020503050405090304" pitchFamily="18" charset="0"/>
                <a:sym typeface="Symbol" panose="05050102010706020507" pitchFamily="18" charset="2"/>
              </a:rPr>
              <a:t>rank</a:t>
            </a:r>
            <a:r>
              <a:rPr lang="en-US" altLang="zh-CN" dirty="0">
                <a:solidFill>
                  <a:srgbClr val="FF0000"/>
                </a:solidFill>
                <a:latin typeface="Times New Roman" panose="02020503050405090304" pitchFamily="18" charset="0"/>
                <a:sym typeface="Symbol" panose="05050102010706020507" pitchFamily="18" charset="2"/>
              </a:rPr>
              <a:t> is </a:t>
            </a:r>
            <a:r>
              <a:rPr lang="en-US" altLang="zh-CN" i="1" dirty="0">
                <a:solidFill>
                  <a:srgbClr val="FF0000"/>
                </a:solidFill>
                <a:latin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sym typeface="Symbol" panose="05050102010706020507" pitchFamily="18" charset="2"/>
              </a:rPr>
              <a:t>.</a:t>
            </a:r>
            <a:endParaRPr lang="en-US" altLang="zh-CN" i="1" dirty="0">
              <a:solidFill>
                <a:srgbClr val="FF0000"/>
              </a:solidFill>
              <a:latin typeface="Times New Roman" panose="02020503050405090304" pitchFamily="18" charset="0"/>
              <a:sym typeface="Symbol" panose="05050102010706020507" pitchFamily="18" charset="2"/>
            </a:endParaRPr>
          </a:p>
        </p:txBody>
      </p:sp>
      <p:graphicFrame>
        <p:nvGraphicFramePr>
          <p:cNvPr id="8199" name="Object 4"/>
          <p:cNvGraphicFramePr>
            <a:graphicFrameLocks noChangeAspect="1"/>
          </p:cNvGraphicFramePr>
          <p:nvPr/>
        </p:nvGraphicFramePr>
        <p:xfrm>
          <a:off x="5867400" y="3756025"/>
          <a:ext cx="1077913" cy="1371600"/>
        </p:xfrm>
        <a:graphic>
          <a:graphicData uri="http://schemas.openxmlformats.org/presentationml/2006/ole">
            <mc:AlternateContent xmlns:mc="http://schemas.openxmlformats.org/markup-compatibility/2006">
              <mc:Choice xmlns:v="urn:schemas-microsoft-com:vml" Requires="v">
                <p:oleObj spid="_x0000_s3080" name="" r:id="rId1" imgW="558800" imgH="711200" progId="Equation.3">
                  <p:embed/>
                </p:oleObj>
              </mc:Choice>
              <mc:Fallback>
                <p:oleObj name="" r:id="rId1" imgW="558800" imgH="711200" progId="Equation.3">
                  <p:embed/>
                  <p:pic>
                    <p:nvPicPr>
                      <p:cNvPr id="0" name="图片 3079"/>
                      <p:cNvPicPr/>
                      <p:nvPr/>
                    </p:nvPicPr>
                    <p:blipFill>
                      <a:blip r:embed="rId2"/>
                      <a:stretch>
                        <a:fillRect/>
                      </a:stretch>
                    </p:blipFill>
                    <p:spPr>
                      <a:xfrm>
                        <a:off x="5867400" y="3756025"/>
                        <a:ext cx="1077913" cy="1371600"/>
                      </a:xfrm>
                      <a:prstGeom prst="rect">
                        <a:avLst/>
                      </a:prstGeom>
                      <a:noFill/>
                      <a:ln w="38100">
                        <a:noFill/>
                        <a:miter/>
                      </a:ln>
                    </p:spPr>
                  </p:pic>
                </p:oleObj>
              </mc:Fallback>
            </mc:AlternateContent>
          </a:graphicData>
        </a:graphic>
      </p:graphicFrame>
      <p:sp>
        <p:nvSpPr>
          <p:cNvPr id="8200" name="Text Box 5"/>
          <p:cNvSpPr txBox="1"/>
          <p:nvPr/>
        </p:nvSpPr>
        <p:spPr>
          <a:xfrm>
            <a:off x="6781800" y="3908425"/>
            <a:ext cx="1371600" cy="822325"/>
          </a:xfrm>
          <a:prstGeom prst="rect">
            <a:avLst/>
          </a:prstGeom>
          <a:noFill/>
          <a:ln w="9525">
            <a:noFill/>
          </a:ln>
        </p:spPr>
        <p:txBody>
          <a:bodyPr anchor="ctr" anchorCtr="0">
            <a:spAutoFit/>
          </a:bodyPr>
          <a:p>
            <a:pPr algn="ctr">
              <a:spcBef>
                <a:spcPct val="50000"/>
              </a:spcBef>
            </a:pPr>
            <a:r>
              <a:rPr lang="en-US" altLang="zh-CN" b="0" i="0" dirty="0">
                <a:solidFill>
                  <a:srgbClr val="990099"/>
                </a:solidFill>
                <a:latin typeface="Times New Roman" panose="02020503050405090304" pitchFamily="18" charset="0"/>
              </a:rPr>
              <a:t>a 3</a:t>
            </a:r>
            <a:r>
              <a:rPr lang="en-US" altLang="zh-CN" b="0" i="0" dirty="0">
                <a:solidFill>
                  <a:srgbClr val="990099"/>
                </a:solidFill>
                <a:latin typeface="Times New Roman" panose="02020503050405090304" pitchFamily="18" charset="0"/>
                <a:sym typeface="Symbol" panose="05050102010706020507" pitchFamily="18" charset="2"/>
              </a:rPr>
              <a:t>2</a:t>
            </a:r>
            <a:r>
              <a:rPr lang="en-US" altLang="zh-CN" b="0" i="0" dirty="0">
                <a:solidFill>
                  <a:srgbClr val="990099"/>
                </a:solidFill>
                <a:latin typeface="Times New Roman" panose="02020503050405090304" pitchFamily="18" charset="0"/>
              </a:rPr>
              <a:t> matrix</a:t>
            </a:r>
            <a:endParaRPr lang="en-US" altLang="zh-CN" b="0" i="0" dirty="0">
              <a:solidFill>
                <a:srgbClr val="990099"/>
              </a:solidFill>
              <a:latin typeface="Times New Roman" panose="02020503050405090304" pitchFamily="18" charset="0"/>
            </a:endParaRPr>
          </a:p>
        </p:txBody>
      </p:sp>
      <p:sp>
        <p:nvSpPr>
          <p:cNvPr id="8201" name="Text Box 6"/>
          <p:cNvSpPr txBox="1"/>
          <p:nvPr/>
        </p:nvSpPr>
        <p:spPr>
          <a:xfrm>
            <a:off x="6124575" y="5478463"/>
            <a:ext cx="2562225" cy="944562"/>
          </a:xfrm>
          <a:prstGeom prst="rect">
            <a:avLst/>
          </a:prstGeom>
          <a:solidFill>
            <a:srgbClr val="FFFFCC"/>
          </a:solidFill>
          <a:ln w="28575" cap="flat" cmpd="sng">
            <a:solidFill>
              <a:schemeClr val="tx1"/>
            </a:solidFill>
            <a:prstDash val="solid"/>
            <a:miter/>
            <a:headEnd type="none" w="med" len="med"/>
            <a:tailEnd type="none" w="med" len="med"/>
          </a:ln>
        </p:spPr>
        <p:txBody>
          <a:bodyPr wrap="none">
            <a:spAutoFit/>
          </a:bodyPr>
          <a:p>
            <a:r>
              <a:rPr lang="en-US" altLang="zh-CN" sz="1800" i="0" dirty="0">
                <a:latin typeface="Times New Roman" panose="02020503050405090304" pitchFamily="18" charset="0"/>
              </a:rPr>
              <a:t>Note:</a:t>
            </a:r>
            <a:r>
              <a:rPr lang="en-US" altLang="zh-CN" sz="1800" b="0" i="0" dirty="0">
                <a:latin typeface="Times New Roman" panose="02020503050405090304" pitchFamily="18" charset="0"/>
              </a:rPr>
              <a:t> The singular form</a:t>
            </a:r>
            <a:br>
              <a:rPr lang="en-US" altLang="zh-CN" sz="1800" b="0" i="0" dirty="0">
                <a:latin typeface="Times New Roman" panose="02020503050405090304" pitchFamily="18" charset="0"/>
              </a:rPr>
            </a:br>
            <a:r>
              <a:rPr lang="en-US" altLang="zh-CN" sz="1800" b="0" i="0" dirty="0">
                <a:latin typeface="Times New Roman" panose="02020503050405090304" pitchFamily="18" charset="0"/>
              </a:rPr>
              <a:t>of “matrices” is “</a:t>
            </a:r>
            <a:r>
              <a:rPr lang="en-US" altLang="zh-CN" sz="1800" b="0" dirty="0">
                <a:latin typeface="Times New Roman" panose="02020503050405090304" pitchFamily="18" charset="0"/>
              </a:rPr>
              <a:t>matrix</a:t>
            </a:r>
            <a:r>
              <a:rPr lang="en-US" altLang="zh-CN" sz="1800" b="0" i="0" dirty="0">
                <a:latin typeface="Times New Roman" panose="02020503050405090304" pitchFamily="18" charset="0"/>
              </a:rPr>
              <a:t>,”</a:t>
            </a:r>
            <a:br>
              <a:rPr lang="en-US" altLang="zh-CN" sz="1800" b="0" i="0" dirty="0">
                <a:latin typeface="Times New Roman" panose="02020503050405090304" pitchFamily="18" charset="0"/>
              </a:rPr>
            </a:br>
            <a:r>
              <a:rPr lang="en-US" altLang="zh-CN" sz="1800" i="0" dirty="0">
                <a:latin typeface="Times New Roman" panose="02020503050405090304" pitchFamily="18" charset="0"/>
              </a:rPr>
              <a:t>not</a:t>
            </a:r>
            <a:r>
              <a:rPr lang="en-US" altLang="zh-CN" sz="1800" b="0" i="0" dirty="0">
                <a:latin typeface="Times New Roman" panose="02020503050405090304" pitchFamily="18" charset="0"/>
              </a:rPr>
              <a:t> “MAY-trih-see”!</a:t>
            </a:r>
            <a:endParaRPr lang="en-US" altLang="zh-CN" sz="1800" i="0" dirty="0">
              <a:latin typeface="Times New Roman" panose="0202050305040509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024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024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0245" name="Rectangle 2"/>
          <p:cNvSpPr>
            <a:spLocks noGrp="1"/>
          </p:cNvSpPr>
          <p:nvPr>
            <p:ph type="title"/>
          </p:nvPr>
        </p:nvSpPr>
        <p:spPr>
          <a:xfrm>
            <a:off x="900430" y="46355"/>
            <a:ext cx="8230235" cy="1143000"/>
          </a:xfrm>
        </p:spPr>
        <p:txBody>
          <a:bodyPr vert="horz" wrap="square" lIns="91440" tIns="45720" rIns="91440" bIns="45720" anchor="b" anchorCtr="0"/>
          <a:p>
            <a:pPr eaLnBrk="1" hangingPunct="1"/>
            <a:r>
              <a:rPr lang="en-US" altLang="zh-CN" dirty="0"/>
              <a:t>Applications of Matrices</a:t>
            </a:r>
            <a:endParaRPr lang="en-US" altLang="zh-CN" dirty="0"/>
          </a:p>
        </p:txBody>
      </p:sp>
      <p:sp>
        <p:nvSpPr>
          <p:cNvPr id="10246" name="Rectangle 3"/>
          <p:cNvSpPr>
            <a:spLocks noGrp="1"/>
          </p:cNvSpPr>
          <p:nvPr>
            <p:ph idx="1"/>
          </p:nvPr>
        </p:nvSpPr>
        <p:spPr/>
        <p:txBody>
          <a:bodyPr vert="horz" wrap="square" lIns="91440" tIns="45720" rIns="91440" bIns="45720" anchor="t" anchorCtr="0"/>
          <a:p>
            <a:pPr eaLnBrk="1" hangingPunct="1">
              <a:buNone/>
            </a:pPr>
            <a:r>
              <a:rPr lang="en-US" altLang="zh-CN" dirty="0"/>
              <a:t>Tons of applications, including:</a:t>
            </a:r>
            <a:endParaRPr lang="en-US" altLang="zh-CN" dirty="0"/>
          </a:p>
          <a:p>
            <a:pPr eaLnBrk="1" hangingPunct="1"/>
            <a:r>
              <a:rPr lang="en-US" altLang="zh-CN" dirty="0">
                <a:solidFill>
                  <a:schemeClr val="folHlink"/>
                </a:solidFill>
              </a:rPr>
              <a:t>Solving systems of linear equations</a:t>
            </a:r>
            <a:endParaRPr lang="en-US" altLang="zh-CN" dirty="0">
              <a:solidFill>
                <a:schemeClr val="folHlink"/>
              </a:solidFill>
            </a:endParaRPr>
          </a:p>
          <a:p>
            <a:pPr eaLnBrk="1" hangingPunct="1"/>
            <a:r>
              <a:rPr lang="en-US" altLang="zh-CN" dirty="0">
                <a:solidFill>
                  <a:schemeClr val="folHlink"/>
                </a:solidFill>
              </a:rPr>
              <a:t>Computer Graphics, Image Processing</a:t>
            </a:r>
            <a:endParaRPr lang="en-US" altLang="zh-CN" dirty="0">
              <a:solidFill>
                <a:schemeClr val="folHlink"/>
              </a:solidFill>
            </a:endParaRPr>
          </a:p>
          <a:p>
            <a:pPr eaLnBrk="1" hangingPunct="1"/>
            <a:r>
              <a:rPr lang="en-US" altLang="zh-CN" dirty="0">
                <a:solidFill>
                  <a:schemeClr val="folHlink"/>
                </a:solidFill>
              </a:rPr>
              <a:t>Models within many areas of </a:t>
            </a:r>
            <a:br>
              <a:rPr lang="en-US" altLang="zh-CN" dirty="0">
                <a:solidFill>
                  <a:schemeClr val="folHlink"/>
                </a:solidFill>
              </a:rPr>
            </a:br>
            <a:r>
              <a:rPr lang="en-US" altLang="zh-CN" dirty="0">
                <a:solidFill>
                  <a:schemeClr val="folHlink"/>
                </a:solidFill>
              </a:rPr>
              <a:t>Computational Science &amp; Engineering</a:t>
            </a:r>
            <a:endParaRPr lang="en-US" altLang="zh-CN" dirty="0">
              <a:solidFill>
                <a:schemeClr val="folHlink"/>
              </a:solidFill>
            </a:endParaRPr>
          </a:p>
          <a:p>
            <a:pPr eaLnBrk="1" hangingPunct="1"/>
            <a:r>
              <a:rPr lang="en-US" altLang="zh-CN" dirty="0">
                <a:solidFill>
                  <a:schemeClr val="folHlink"/>
                </a:solidFill>
              </a:rPr>
              <a:t>Quantum Mechanics, Quantum Computing</a:t>
            </a:r>
            <a:endParaRPr lang="en-US" altLang="zh-CN" dirty="0">
              <a:solidFill>
                <a:schemeClr val="folHlink"/>
              </a:solidFill>
            </a:endParaRPr>
          </a:p>
          <a:p>
            <a:pPr eaLnBrk="1" hangingPunct="1"/>
            <a:r>
              <a:rPr lang="en-US" altLang="zh-CN" dirty="0">
                <a:solidFill>
                  <a:schemeClr val="folHlink"/>
                </a:solidFill>
              </a:rPr>
              <a:t>Many, many more</a:t>
            </a:r>
            <a:r>
              <a:rPr lang="en-US" altLang="zh-CN" dirty="0">
                <a:solidFill>
                  <a:schemeClr val="folHlink"/>
                </a:solidFill>
                <a:latin typeface="Times New Roman" panose="02020503050405090304" pitchFamily="18" charset="0"/>
              </a:rPr>
              <a:t>…</a:t>
            </a:r>
            <a:endParaRPr lang="en-US" altLang="zh-CN" dirty="0">
              <a:solidFill>
                <a:schemeClr val="folHlink"/>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126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126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126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Matrix Equality</a:t>
            </a:r>
            <a:endParaRPr lang="en-US" altLang="zh-CN" dirty="0">
              <a:latin typeface="Times New Roman" panose="02020503050405090304" pitchFamily="18" charset="0"/>
            </a:endParaRPr>
          </a:p>
        </p:txBody>
      </p:sp>
      <p:sp>
        <p:nvSpPr>
          <p:cNvPr id="11270"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Two matrices </a:t>
            </a:r>
            <a:r>
              <a:rPr lang="en-US" altLang="zh-CN" b="1" dirty="0">
                <a:latin typeface="Times New Roman" panose="02020503050405090304" pitchFamily="18" charset="0"/>
              </a:rPr>
              <a:t>A</a:t>
            </a:r>
            <a:r>
              <a:rPr lang="en-US" altLang="zh-CN" dirty="0">
                <a:latin typeface="Times New Roman" panose="02020503050405090304" pitchFamily="18" charset="0"/>
              </a:rPr>
              <a:t> and </a:t>
            </a:r>
            <a:r>
              <a:rPr lang="en-US" altLang="zh-CN" b="1" dirty="0">
                <a:latin typeface="Times New Roman" panose="02020503050405090304" pitchFamily="18" charset="0"/>
              </a:rPr>
              <a:t>B</a:t>
            </a:r>
            <a:r>
              <a:rPr lang="en-US" altLang="zh-CN" dirty="0">
                <a:latin typeface="Times New Roman" panose="02020503050405090304" pitchFamily="18" charset="0"/>
              </a:rPr>
              <a:t> are considered equal iff they have the same number of rows, the same number of columns, and all their corresponding elements are equal.</a:t>
            </a:r>
            <a:endParaRPr lang="en-US" altLang="zh-CN" dirty="0">
              <a:latin typeface="Times New Roman" panose="02020503050405090304" pitchFamily="18" charset="0"/>
            </a:endParaRPr>
          </a:p>
        </p:txBody>
      </p:sp>
      <p:graphicFrame>
        <p:nvGraphicFramePr>
          <p:cNvPr id="11271" name="Object 4"/>
          <p:cNvGraphicFramePr>
            <a:graphicFrameLocks noChangeAspect="1"/>
          </p:cNvGraphicFramePr>
          <p:nvPr/>
        </p:nvGraphicFramePr>
        <p:xfrm>
          <a:off x="1981200" y="4191000"/>
          <a:ext cx="4679950" cy="1490663"/>
        </p:xfrm>
        <a:graphic>
          <a:graphicData uri="http://schemas.openxmlformats.org/presentationml/2006/ole">
            <mc:AlternateContent xmlns:mc="http://schemas.openxmlformats.org/markup-compatibility/2006">
              <mc:Choice xmlns:v="urn:schemas-microsoft-com:vml" Requires="v">
                <p:oleObj spid="_x0000_s3081" name="" r:id="rId1" imgW="1435100" imgH="457200" progId="Equation.3">
                  <p:embed/>
                </p:oleObj>
              </mc:Choice>
              <mc:Fallback>
                <p:oleObj name="" r:id="rId1" imgW="1435100" imgH="457200" progId="Equation.3">
                  <p:embed/>
                  <p:pic>
                    <p:nvPicPr>
                      <p:cNvPr id="0" name="图片 3080"/>
                      <p:cNvPicPr/>
                      <p:nvPr/>
                    </p:nvPicPr>
                    <p:blipFill>
                      <a:blip r:embed="rId2"/>
                      <a:stretch>
                        <a:fillRect/>
                      </a:stretch>
                    </p:blipFill>
                    <p:spPr>
                      <a:xfrm>
                        <a:off x="1981200" y="4191000"/>
                        <a:ext cx="4679950" cy="1490663"/>
                      </a:xfrm>
                      <a:prstGeom prst="rect">
                        <a:avLst/>
                      </a:prstGeom>
                      <a:noFill/>
                      <a:ln w="38100">
                        <a:noFill/>
                        <a:miter/>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229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229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229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Row and Column Order</a:t>
            </a:r>
            <a:endParaRPr lang="en-US" altLang="zh-CN" dirty="0">
              <a:latin typeface="Times New Roman" panose="02020503050405090304" pitchFamily="18" charset="0"/>
            </a:endParaRPr>
          </a:p>
        </p:txBody>
      </p:sp>
      <p:sp>
        <p:nvSpPr>
          <p:cNvPr id="12294"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The rows in a matrix are usually indexed 1 to </a:t>
            </a:r>
            <a:r>
              <a:rPr lang="en-US" altLang="zh-CN" i="1" dirty="0">
                <a:latin typeface="Times New Roman" panose="02020503050405090304" pitchFamily="18" charset="0"/>
              </a:rPr>
              <a:t>m</a:t>
            </a:r>
            <a:r>
              <a:rPr lang="en-US" altLang="zh-CN" dirty="0">
                <a:latin typeface="Times New Roman" panose="02020503050405090304" pitchFamily="18" charset="0"/>
              </a:rPr>
              <a:t> from top to bottom.  The columns are usually indexed 1 to </a:t>
            </a:r>
            <a:r>
              <a:rPr lang="en-US" altLang="zh-CN" i="1" dirty="0">
                <a:latin typeface="Times New Roman" panose="02020503050405090304" pitchFamily="18" charset="0"/>
              </a:rPr>
              <a:t>n</a:t>
            </a:r>
            <a:r>
              <a:rPr lang="en-US" altLang="zh-CN" dirty="0">
                <a:latin typeface="Times New Roman" panose="02020503050405090304" pitchFamily="18" charset="0"/>
              </a:rPr>
              <a:t> from left to right.  Elements are indexed by row, then column.</a:t>
            </a:r>
            <a:endParaRPr lang="en-US" altLang="zh-CN" dirty="0">
              <a:latin typeface="Times New Roman" panose="02020503050405090304" pitchFamily="18" charset="0"/>
            </a:endParaRPr>
          </a:p>
        </p:txBody>
      </p:sp>
      <p:graphicFrame>
        <p:nvGraphicFramePr>
          <p:cNvPr id="12295" name="Object 4"/>
          <p:cNvGraphicFramePr>
            <a:graphicFrameLocks noChangeAspect="1"/>
          </p:cNvGraphicFramePr>
          <p:nvPr/>
        </p:nvGraphicFramePr>
        <p:xfrm>
          <a:off x="1600200" y="4038600"/>
          <a:ext cx="5956300" cy="2622550"/>
        </p:xfrm>
        <a:graphic>
          <a:graphicData uri="http://schemas.openxmlformats.org/presentationml/2006/ole">
            <mc:AlternateContent xmlns:mc="http://schemas.openxmlformats.org/markup-compatibility/2006">
              <mc:Choice xmlns:v="urn:schemas-microsoft-com:vml" Requires="v">
                <p:oleObj spid="_x0000_s3082" name="" r:id="rId1" imgW="2133600" imgH="939800" progId="Equation.3">
                  <p:embed/>
                </p:oleObj>
              </mc:Choice>
              <mc:Fallback>
                <p:oleObj name="" r:id="rId1" imgW="2133600" imgH="939800" progId="Equation.3">
                  <p:embed/>
                  <p:pic>
                    <p:nvPicPr>
                      <p:cNvPr id="0" name="图片 3081"/>
                      <p:cNvPicPr/>
                      <p:nvPr/>
                    </p:nvPicPr>
                    <p:blipFill>
                      <a:blip r:embed="rId2"/>
                      <a:stretch>
                        <a:fillRect/>
                      </a:stretch>
                    </p:blipFill>
                    <p:spPr>
                      <a:xfrm>
                        <a:off x="1600200" y="4038600"/>
                        <a:ext cx="5956300" cy="2622550"/>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331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331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331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Matrices as Functions</a:t>
            </a:r>
            <a:endParaRPr lang="en-US" altLang="zh-CN" dirty="0">
              <a:latin typeface="Times New Roman" panose="02020503050405090304" pitchFamily="18" charset="0"/>
            </a:endParaRPr>
          </a:p>
        </p:txBody>
      </p:sp>
      <p:sp>
        <p:nvSpPr>
          <p:cNvPr id="17414" name="Rectangle 3"/>
          <p:cNvSpPr>
            <a:spLocks noGrp="1" noRot="1" noChangeAspect="1" noMove="1" noResize="1" noEditPoints="1" noAdjustHandles="1" noChangeArrowheads="1" noChangeShapeType="1" noTextEdit="1"/>
          </p:cNvSpPr>
          <p:nvPr>
            <p:ph idx="1"/>
          </p:nvPr>
        </p:nvSpPr>
        <p:spPr bwMode="auto">
          <a:blipFill rotWithShape="0">
            <a:blip r:embed="rId1" cstate="print"/>
            <a:stretch>
              <a:fillRect l="-549" t="-1926" r="-78"/>
            </a:stretch>
          </a:blipFill>
          <a:ln>
            <a:miter lim="800000"/>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noFill/>
                <a:effectLst/>
                <a:uLnTx/>
                <a:uFillTx/>
                <a:latin typeface="+mn-lt"/>
                <a:ea typeface="+mn-ea"/>
                <a:cs typeface="+mn-cs"/>
              </a:rPr>
              <a:t> </a:t>
            </a:r>
            <a:endParaRPr kumimoji="1" lang="zh-CN" altLang="en-US" sz="3200" b="0" i="0" u="none" strike="noStrike" kern="0" cap="none" spc="0" normalizeH="0" baseline="0" noProof="0">
              <a:ln>
                <a:noFill/>
              </a:ln>
              <a:noFill/>
              <a:effectLst/>
              <a:uLnTx/>
              <a:uFillTx/>
              <a:latin typeface="+mn-lt"/>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536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536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5365" name="Rectangle 2"/>
          <p:cNvSpPr>
            <a:spLocks noGrp="1"/>
          </p:cNvSpPr>
          <p:nvPr>
            <p:ph type="title"/>
          </p:nvPr>
        </p:nvSpPr>
        <p:spPr/>
        <p:txBody>
          <a:bodyPr vert="horz" wrap="square" lIns="91440" tIns="45720" rIns="91440" bIns="45720" anchor="b" anchorCtr="0"/>
          <a:p>
            <a:pPr eaLnBrk="1" hangingPunct="1"/>
            <a:r>
              <a:rPr lang="en-US" altLang="zh-CN" dirty="0"/>
              <a:t>Matrix Sums</a:t>
            </a:r>
            <a:endParaRPr lang="en-US" altLang="zh-CN" dirty="0"/>
          </a:p>
        </p:txBody>
      </p:sp>
      <p:sp>
        <p:nvSpPr>
          <p:cNvPr id="15366" name="Rectangle 3"/>
          <p:cNvSpPr>
            <a:spLocks noGrp="1"/>
          </p:cNvSpPr>
          <p:nvPr>
            <p:ph idx="1"/>
          </p:nvPr>
        </p:nvSpPr>
        <p:spPr>
          <a:xfrm>
            <a:off x="1187450" y="1342708"/>
            <a:ext cx="7772400" cy="4114800"/>
          </a:xfrm>
        </p:spPr>
        <p:txBody>
          <a:bodyPr vert="horz" wrap="square" lIns="91440" tIns="45720" rIns="91440" bIns="45720" anchor="t" anchorCtr="0"/>
          <a:p>
            <a:pPr eaLnBrk="1" hangingPunct="1"/>
            <a:r>
              <a:rPr lang="en-US" altLang="zh-CN" dirty="0"/>
              <a:t>The </a:t>
            </a:r>
            <a:r>
              <a:rPr lang="en-US" altLang="zh-CN" i="1" dirty="0"/>
              <a:t>sum</a:t>
            </a:r>
            <a:r>
              <a:rPr lang="en-US" altLang="zh-CN" dirty="0"/>
              <a:t> </a:t>
            </a:r>
            <a:r>
              <a:rPr lang="en-US" altLang="zh-CN" b="1" dirty="0"/>
              <a:t>A</a:t>
            </a:r>
            <a:r>
              <a:rPr lang="en-US" altLang="zh-CN" dirty="0"/>
              <a:t>+</a:t>
            </a:r>
            <a:r>
              <a:rPr lang="en-US" altLang="zh-CN" b="1" dirty="0"/>
              <a:t>B</a:t>
            </a:r>
            <a:r>
              <a:rPr lang="en-US" altLang="zh-CN" dirty="0"/>
              <a:t> of two matrices </a:t>
            </a:r>
            <a:r>
              <a:rPr lang="en-US" altLang="zh-CN" b="1" dirty="0"/>
              <a:t>A</a:t>
            </a:r>
            <a:r>
              <a:rPr lang="en-US" altLang="zh-CN" dirty="0"/>
              <a:t>, </a:t>
            </a:r>
            <a:r>
              <a:rPr lang="en-US" altLang="zh-CN" b="1" dirty="0"/>
              <a:t>B</a:t>
            </a:r>
            <a:r>
              <a:rPr lang="en-US" altLang="zh-CN" dirty="0"/>
              <a:t> </a:t>
            </a:r>
            <a:r>
              <a:rPr lang="en-US" altLang="zh-CN" dirty="0">
                <a:solidFill>
                  <a:schemeClr val="folHlink"/>
                </a:solidFill>
              </a:rPr>
              <a:t>(which </a:t>
            </a:r>
            <a:r>
              <a:rPr lang="en-US" altLang="zh-CN" b="1" dirty="0">
                <a:solidFill>
                  <a:schemeClr val="folHlink"/>
                </a:solidFill>
              </a:rPr>
              <a:t>must</a:t>
            </a:r>
            <a:r>
              <a:rPr lang="en-US" altLang="zh-CN" dirty="0">
                <a:solidFill>
                  <a:schemeClr val="folHlink"/>
                </a:solidFill>
              </a:rPr>
              <a:t> have the same number of rows, and the same number of columns)</a:t>
            </a:r>
            <a:r>
              <a:rPr lang="en-US" altLang="zh-CN" dirty="0"/>
              <a:t> is the matrix </a:t>
            </a:r>
            <a:r>
              <a:rPr lang="en-US" altLang="zh-CN" dirty="0">
                <a:solidFill>
                  <a:schemeClr val="folHlink"/>
                </a:solidFill>
              </a:rPr>
              <a:t>(also with the same shape)</a:t>
            </a:r>
            <a:r>
              <a:rPr lang="en-US" altLang="zh-CN" dirty="0"/>
              <a:t> given by adding corresponding elements of </a:t>
            </a:r>
            <a:r>
              <a:rPr lang="en-US" altLang="zh-CN" b="1" dirty="0"/>
              <a:t>A</a:t>
            </a:r>
            <a:r>
              <a:rPr lang="en-US" altLang="zh-CN" dirty="0"/>
              <a:t> and </a:t>
            </a:r>
            <a:r>
              <a:rPr lang="en-US" altLang="zh-CN" b="1" dirty="0"/>
              <a:t>B</a:t>
            </a:r>
            <a:r>
              <a:rPr lang="en-US" altLang="zh-CN" dirty="0"/>
              <a:t>.</a:t>
            </a:r>
            <a:endParaRPr lang="en-US" altLang="zh-CN" dirty="0"/>
          </a:p>
          <a:p>
            <a:pPr eaLnBrk="1" hangingPunct="1">
              <a:buNone/>
            </a:pPr>
            <a:r>
              <a:rPr lang="en-US" altLang="zh-CN" b="1" dirty="0"/>
              <a:t>			      </a:t>
            </a:r>
            <a:r>
              <a:rPr lang="en-US" altLang="zh-CN" b="1" dirty="0">
                <a:solidFill>
                  <a:srgbClr val="FF0000"/>
                </a:solidFill>
              </a:rPr>
              <a:t>A</a:t>
            </a:r>
            <a:r>
              <a:rPr lang="en-US" altLang="zh-CN" dirty="0">
                <a:solidFill>
                  <a:srgbClr val="FF0000"/>
                </a:solidFill>
              </a:rPr>
              <a:t>+</a:t>
            </a:r>
            <a:r>
              <a:rPr lang="en-US" altLang="zh-CN" b="1" dirty="0">
                <a:solidFill>
                  <a:srgbClr val="FF0000"/>
                </a:solidFill>
              </a:rPr>
              <a:t>B</a:t>
            </a:r>
            <a:r>
              <a:rPr lang="en-US" altLang="zh-CN" dirty="0">
                <a:solidFill>
                  <a:srgbClr val="FF0000"/>
                </a:solidFill>
              </a:rPr>
              <a:t> = [</a:t>
            </a:r>
            <a:r>
              <a:rPr lang="en-US" altLang="zh-CN" i="1" dirty="0">
                <a:solidFill>
                  <a:srgbClr val="FF0000"/>
                </a:solidFill>
              </a:rPr>
              <a:t>a</a:t>
            </a:r>
            <a:r>
              <a:rPr lang="en-US" altLang="zh-CN" i="1" baseline="-25000" dirty="0">
                <a:solidFill>
                  <a:srgbClr val="FF0000"/>
                </a:solidFill>
              </a:rPr>
              <a:t>i</a:t>
            </a:r>
            <a:r>
              <a:rPr lang="en-US" altLang="zh-CN" baseline="-25000" dirty="0">
                <a:solidFill>
                  <a:srgbClr val="FF0000"/>
                </a:solidFill>
              </a:rPr>
              <a:t>,</a:t>
            </a:r>
            <a:r>
              <a:rPr lang="en-US" altLang="zh-CN" i="1" baseline="-25000" dirty="0">
                <a:solidFill>
                  <a:srgbClr val="FF0000"/>
                </a:solidFill>
              </a:rPr>
              <a:t>j</a:t>
            </a:r>
            <a:r>
              <a:rPr lang="en-US" altLang="zh-CN" dirty="0">
                <a:solidFill>
                  <a:srgbClr val="FF0000"/>
                </a:solidFill>
              </a:rPr>
              <a:t>+</a:t>
            </a:r>
            <a:r>
              <a:rPr lang="en-US" altLang="zh-CN" i="1" dirty="0">
                <a:solidFill>
                  <a:srgbClr val="FF0000"/>
                </a:solidFill>
              </a:rPr>
              <a:t>b</a:t>
            </a:r>
            <a:r>
              <a:rPr lang="en-US" altLang="zh-CN" i="1" baseline="-25000" dirty="0">
                <a:solidFill>
                  <a:srgbClr val="FF0000"/>
                </a:solidFill>
              </a:rPr>
              <a:t>i</a:t>
            </a:r>
            <a:r>
              <a:rPr lang="en-US" altLang="zh-CN" baseline="-25000" dirty="0">
                <a:solidFill>
                  <a:srgbClr val="FF0000"/>
                </a:solidFill>
              </a:rPr>
              <a:t>,</a:t>
            </a:r>
            <a:r>
              <a:rPr lang="en-US" altLang="zh-CN" i="1" baseline="-25000" dirty="0">
                <a:solidFill>
                  <a:srgbClr val="FF0000"/>
                </a:solidFill>
              </a:rPr>
              <a:t>j</a:t>
            </a:r>
            <a:r>
              <a:rPr lang="en-US" altLang="zh-CN" dirty="0">
                <a:solidFill>
                  <a:srgbClr val="FF0000"/>
                </a:solidFill>
              </a:rPr>
              <a:t>]</a:t>
            </a:r>
            <a:endParaRPr lang="en-US" altLang="zh-CN" dirty="0">
              <a:solidFill>
                <a:srgbClr val="FF0000"/>
              </a:solidFill>
            </a:endParaRPr>
          </a:p>
        </p:txBody>
      </p:sp>
      <p:graphicFrame>
        <p:nvGraphicFramePr>
          <p:cNvPr id="15367" name="Object 4"/>
          <p:cNvGraphicFramePr>
            <a:graphicFrameLocks noChangeAspect="1"/>
          </p:cNvGraphicFramePr>
          <p:nvPr/>
        </p:nvGraphicFramePr>
        <p:xfrm>
          <a:off x="1692275" y="5132070"/>
          <a:ext cx="6019800" cy="1295400"/>
        </p:xfrm>
        <a:graphic>
          <a:graphicData uri="http://schemas.openxmlformats.org/presentationml/2006/ole">
            <mc:AlternateContent xmlns:mc="http://schemas.openxmlformats.org/markup-compatibility/2006">
              <mc:Choice xmlns:v="urn:schemas-microsoft-com:vml" Requires="v">
                <p:oleObj spid="_x0000_s3077" name="" r:id="rId1" imgW="2120900" imgH="457200" progId="Equation.3">
                  <p:embed/>
                </p:oleObj>
              </mc:Choice>
              <mc:Fallback>
                <p:oleObj name="" r:id="rId1" imgW="2120900" imgH="457200" progId="Equation.3">
                  <p:embed/>
                  <p:pic>
                    <p:nvPicPr>
                      <p:cNvPr id="0" name="图片 3076"/>
                      <p:cNvPicPr/>
                      <p:nvPr/>
                    </p:nvPicPr>
                    <p:blipFill>
                      <a:blip r:embed="rId2"/>
                      <a:stretch>
                        <a:fillRect/>
                      </a:stretch>
                    </p:blipFill>
                    <p:spPr>
                      <a:xfrm>
                        <a:off x="1692275" y="5132070"/>
                        <a:ext cx="6019800" cy="1295400"/>
                      </a:xfrm>
                      <a:prstGeom prst="rect">
                        <a:avLst/>
                      </a:prstGeom>
                      <a:solidFill>
                        <a:srgbClr val="FFFFCC"/>
                      </a:solidFill>
                      <a:ln w="38100" cap="flat" cmpd="sng">
                        <a:solidFill>
                          <a:srgbClr val="006600"/>
                        </a:solidFill>
                        <a:prstDash val="solid"/>
                        <a:miter/>
                        <a:headEnd type="none" w="med" len="med"/>
                        <a:tailEnd type="none" w="med" len="med"/>
                      </a:ln>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638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638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6389" name="Rectangle 2"/>
          <p:cNvSpPr>
            <a:spLocks noGrp="1"/>
          </p:cNvSpPr>
          <p:nvPr>
            <p:ph type="title"/>
          </p:nvPr>
        </p:nvSpPr>
        <p:spPr/>
        <p:txBody>
          <a:bodyPr vert="horz" wrap="square" lIns="91440" tIns="45720" rIns="91440" bIns="45720" anchor="b" anchorCtr="0"/>
          <a:p>
            <a:pPr eaLnBrk="1" hangingPunct="1"/>
            <a:r>
              <a:rPr lang="en-US" altLang="zh-CN" dirty="0"/>
              <a:t>Matrix Products</a:t>
            </a:r>
            <a:endParaRPr lang="en-US" altLang="zh-CN" dirty="0"/>
          </a:p>
        </p:txBody>
      </p:sp>
      <p:sp>
        <p:nvSpPr>
          <p:cNvPr id="16390" name="Rectangle 3"/>
          <p:cNvSpPr>
            <a:spLocks noGrp="1"/>
          </p:cNvSpPr>
          <p:nvPr>
            <p:ph idx="1"/>
          </p:nvPr>
        </p:nvSpPr>
        <p:spPr>
          <a:xfrm>
            <a:off x="685800" y="1622425"/>
            <a:ext cx="8134350" cy="4495800"/>
          </a:xfrm>
        </p:spPr>
        <p:txBody>
          <a:bodyPr vert="horz" wrap="square" lIns="91440" tIns="45720" rIns="91440" bIns="45720" anchor="t" anchorCtr="0"/>
          <a:p>
            <a:pPr eaLnBrk="1" hangingPunct="1"/>
            <a:r>
              <a:rPr lang="en-US" altLang="zh-CN" sz="2800" dirty="0"/>
              <a:t>For an </a:t>
            </a:r>
            <a:r>
              <a:rPr lang="en-US" altLang="zh-CN" sz="2800" i="1" dirty="0">
                <a:solidFill>
                  <a:schemeClr val="folHlink"/>
                </a:solidFill>
              </a:rPr>
              <a:t>m</a:t>
            </a:r>
            <a:r>
              <a:rPr lang="en-US" altLang="zh-CN" sz="2800" dirty="0">
                <a:sym typeface="Symbol" panose="05050102010706020507" pitchFamily="18" charset="2"/>
              </a:rPr>
              <a:t></a:t>
            </a:r>
            <a:r>
              <a:rPr lang="en-US" altLang="zh-CN" sz="2800" i="1" dirty="0">
                <a:solidFill>
                  <a:srgbClr val="FF0000"/>
                </a:solidFill>
                <a:sym typeface="Symbol" panose="05050102010706020507" pitchFamily="18" charset="2"/>
              </a:rPr>
              <a:t>k</a:t>
            </a:r>
            <a:r>
              <a:rPr lang="en-US" altLang="zh-CN" sz="2800" dirty="0">
                <a:sym typeface="Symbol" panose="05050102010706020507" pitchFamily="18" charset="2"/>
              </a:rPr>
              <a:t> matrix </a:t>
            </a:r>
            <a:r>
              <a:rPr lang="en-US" altLang="zh-CN" sz="2800" b="1" dirty="0">
                <a:sym typeface="Symbol" panose="05050102010706020507" pitchFamily="18" charset="2"/>
              </a:rPr>
              <a:t>A</a:t>
            </a:r>
            <a:r>
              <a:rPr lang="en-US" altLang="zh-CN" sz="2800" dirty="0">
                <a:sym typeface="Symbol" panose="05050102010706020507" pitchFamily="18" charset="2"/>
              </a:rPr>
              <a:t> and a </a:t>
            </a:r>
            <a:r>
              <a:rPr lang="en-US" altLang="zh-CN" sz="2800" i="1" dirty="0">
                <a:solidFill>
                  <a:srgbClr val="FF0000"/>
                </a:solidFill>
                <a:sym typeface="Symbol" panose="05050102010706020507" pitchFamily="18" charset="2"/>
              </a:rPr>
              <a:t>k</a:t>
            </a:r>
            <a:r>
              <a:rPr lang="en-US" altLang="zh-CN" sz="2800" dirty="0">
                <a:sym typeface="Symbol" panose="05050102010706020507" pitchFamily="18" charset="2"/>
              </a:rPr>
              <a:t></a:t>
            </a:r>
            <a:r>
              <a:rPr lang="en-US" altLang="zh-CN" sz="2800" i="1" dirty="0">
                <a:solidFill>
                  <a:srgbClr val="006600"/>
                </a:solidFill>
                <a:sym typeface="Symbol" panose="05050102010706020507" pitchFamily="18" charset="2"/>
              </a:rPr>
              <a:t>n</a:t>
            </a:r>
            <a:r>
              <a:rPr lang="en-US" altLang="zh-CN" sz="2800" dirty="0">
                <a:sym typeface="Symbol" panose="05050102010706020507" pitchFamily="18" charset="2"/>
              </a:rPr>
              <a:t> matrix </a:t>
            </a:r>
            <a:r>
              <a:rPr lang="en-US" altLang="zh-CN" sz="2800" b="1" dirty="0">
                <a:sym typeface="Symbol" panose="05050102010706020507" pitchFamily="18" charset="2"/>
              </a:rPr>
              <a:t>B</a:t>
            </a:r>
            <a:r>
              <a:rPr lang="en-US" altLang="zh-CN" sz="2800" dirty="0">
                <a:sym typeface="Symbol" panose="05050102010706020507" pitchFamily="18" charset="2"/>
              </a:rPr>
              <a:t>, the </a:t>
            </a:r>
            <a:r>
              <a:rPr lang="en-US" altLang="zh-CN" sz="2800" i="1" dirty="0"/>
              <a:t>product</a:t>
            </a:r>
            <a:r>
              <a:rPr lang="en-US" altLang="zh-CN" sz="2800" dirty="0"/>
              <a:t> </a:t>
            </a:r>
            <a:r>
              <a:rPr lang="en-US" altLang="zh-CN" sz="2800" b="1" dirty="0"/>
              <a:t>AB</a:t>
            </a:r>
            <a:r>
              <a:rPr lang="en-US" altLang="zh-CN" sz="2800" dirty="0"/>
              <a:t> is the </a:t>
            </a:r>
            <a:r>
              <a:rPr lang="en-US" altLang="zh-CN" sz="2800" i="1" dirty="0">
                <a:solidFill>
                  <a:schemeClr val="folHlink"/>
                </a:solidFill>
              </a:rPr>
              <a:t>m</a:t>
            </a:r>
            <a:r>
              <a:rPr lang="en-US" altLang="zh-CN" sz="2800" dirty="0">
                <a:sym typeface="Symbol" panose="05050102010706020507" pitchFamily="18" charset="2"/>
              </a:rPr>
              <a:t></a:t>
            </a:r>
            <a:r>
              <a:rPr lang="en-US" altLang="zh-CN" sz="2800" i="1" dirty="0">
                <a:solidFill>
                  <a:srgbClr val="006600"/>
                </a:solidFill>
                <a:sym typeface="Symbol" panose="05050102010706020507" pitchFamily="18" charset="2"/>
              </a:rPr>
              <a:t>n</a:t>
            </a:r>
            <a:r>
              <a:rPr lang="en-US" altLang="zh-CN" sz="2800" dirty="0"/>
              <a:t> matrix:</a:t>
            </a:r>
            <a:endParaRPr lang="en-US" altLang="zh-CN" sz="2800" dirty="0"/>
          </a:p>
          <a:p>
            <a:pPr eaLnBrk="1" hangingPunct="1"/>
            <a:endParaRPr lang="en-US" altLang="zh-CN" sz="2800" dirty="0"/>
          </a:p>
          <a:p>
            <a:pPr eaLnBrk="1" hangingPunct="1"/>
            <a:endParaRPr lang="en-US" altLang="zh-CN" sz="2800" dirty="0"/>
          </a:p>
          <a:p>
            <a:pPr eaLnBrk="1" hangingPunct="1"/>
            <a:endParaRPr lang="en-US" altLang="zh-CN" sz="2800" i="1" dirty="0"/>
          </a:p>
          <a:p>
            <a:pPr eaLnBrk="1" hangingPunct="1"/>
            <a:r>
              <a:rPr lang="en-US" altLang="zh-CN" sz="2800" i="1" dirty="0">
                <a:solidFill>
                  <a:schemeClr val="folHlink"/>
                </a:solidFill>
              </a:rPr>
              <a:t>I.e.</a:t>
            </a:r>
            <a:r>
              <a:rPr lang="en-US" altLang="zh-CN" sz="2800" dirty="0">
                <a:solidFill>
                  <a:schemeClr val="folHlink"/>
                </a:solidFill>
              </a:rPr>
              <a:t>, the element of </a:t>
            </a:r>
            <a:r>
              <a:rPr lang="en-US" altLang="zh-CN" sz="2800" b="1" dirty="0">
                <a:solidFill>
                  <a:schemeClr val="folHlink"/>
                </a:solidFill>
              </a:rPr>
              <a:t>AB</a:t>
            </a:r>
            <a:r>
              <a:rPr lang="en-US" altLang="zh-CN" sz="2800" dirty="0">
                <a:solidFill>
                  <a:schemeClr val="folHlink"/>
                </a:solidFill>
              </a:rPr>
              <a:t> indexed (</a:t>
            </a:r>
            <a:r>
              <a:rPr lang="en-US" altLang="zh-CN" sz="2800" i="1" dirty="0">
                <a:solidFill>
                  <a:schemeClr val="folHlink"/>
                </a:solidFill>
              </a:rPr>
              <a:t>i</a:t>
            </a:r>
            <a:r>
              <a:rPr lang="en-US" altLang="zh-CN" sz="2800" dirty="0">
                <a:solidFill>
                  <a:schemeClr val="folHlink"/>
                </a:solidFill>
              </a:rPr>
              <a:t>,</a:t>
            </a:r>
            <a:r>
              <a:rPr lang="en-US" altLang="zh-CN" sz="2800" i="1" dirty="0">
                <a:solidFill>
                  <a:schemeClr val="folHlink"/>
                </a:solidFill>
              </a:rPr>
              <a:t>j</a:t>
            </a:r>
            <a:r>
              <a:rPr lang="en-US" altLang="zh-CN" sz="2800" dirty="0">
                <a:solidFill>
                  <a:schemeClr val="folHlink"/>
                </a:solidFill>
              </a:rPr>
              <a:t>) is given by the vector </a:t>
            </a:r>
            <a:r>
              <a:rPr lang="en-US" altLang="zh-CN" sz="2800" i="1" dirty="0">
                <a:solidFill>
                  <a:schemeClr val="folHlink"/>
                </a:solidFill>
              </a:rPr>
              <a:t>dot product</a:t>
            </a:r>
            <a:r>
              <a:rPr lang="en-US" altLang="zh-CN" sz="2800" dirty="0">
                <a:solidFill>
                  <a:schemeClr val="folHlink"/>
                </a:solidFill>
              </a:rPr>
              <a:t> of the </a:t>
            </a:r>
            <a:r>
              <a:rPr lang="en-US" altLang="zh-CN" sz="2800" i="1" u="sng" dirty="0">
                <a:solidFill>
                  <a:schemeClr val="folHlink"/>
                </a:solidFill>
              </a:rPr>
              <a:t>i</a:t>
            </a:r>
            <a:r>
              <a:rPr lang="en-US" altLang="zh-CN" sz="2800" u="sng" dirty="0">
                <a:solidFill>
                  <a:schemeClr val="folHlink"/>
                </a:solidFill>
              </a:rPr>
              <a:t>th row of </a:t>
            </a:r>
            <a:r>
              <a:rPr lang="en-US" altLang="zh-CN" sz="2800" b="1" u="sng" dirty="0">
                <a:solidFill>
                  <a:schemeClr val="folHlink"/>
                </a:solidFill>
              </a:rPr>
              <a:t>A</a:t>
            </a:r>
            <a:r>
              <a:rPr lang="en-US" altLang="zh-CN" sz="2800" dirty="0">
                <a:solidFill>
                  <a:schemeClr val="folHlink"/>
                </a:solidFill>
              </a:rPr>
              <a:t> and the </a:t>
            </a:r>
            <a:r>
              <a:rPr lang="en-US" altLang="zh-CN" sz="2800" i="1" u="sng" dirty="0">
                <a:solidFill>
                  <a:schemeClr val="folHlink"/>
                </a:solidFill>
              </a:rPr>
              <a:t>j</a:t>
            </a:r>
            <a:r>
              <a:rPr lang="en-US" altLang="zh-CN" sz="2800" u="sng" dirty="0">
                <a:solidFill>
                  <a:schemeClr val="folHlink"/>
                </a:solidFill>
              </a:rPr>
              <a:t>th column of </a:t>
            </a:r>
            <a:r>
              <a:rPr lang="en-US" altLang="zh-CN" sz="2800" b="1" u="sng" dirty="0">
                <a:solidFill>
                  <a:schemeClr val="folHlink"/>
                </a:solidFill>
              </a:rPr>
              <a:t>B</a:t>
            </a:r>
            <a:r>
              <a:rPr lang="en-US" altLang="zh-CN" sz="2800" dirty="0">
                <a:solidFill>
                  <a:schemeClr val="folHlink"/>
                </a:solidFill>
              </a:rPr>
              <a:t> (considered as vectors).</a:t>
            </a:r>
            <a:endParaRPr lang="en-US" altLang="zh-CN" sz="2800" dirty="0">
              <a:solidFill>
                <a:schemeClr val="folHlink"/>
              </a:solidFill>
            </a:endParaRPr>
          </a:p>
          <a:p>
            <a:pPr eaLnBrk="1" hangingPunct="1"/>
            <a:r>
              <a:rPr lang="en-US" altLang="zh-CN" sz="2800" b="1" dirty="0">
                <a:solidFill>
                  <a:srgbClr val="006600"/>
                </a:solidFill>
              </a:rPr>
              <a:t>Note: </a:t>
            </a:r>
            <a:r>
              <a:rPr lang="en-US" altLang="zh-CN" sz="2800" dirty="0">
                <a:solidFill>
                  <a:srgbClr val="006600"/>
                </a:solidFill>
              </a:rPr>
              <a:t>Matrix multiplication is </a:t>
            </a:r>
            <a:r>
              <a:rPr lang="en-US" altLang="zh-CN" sz="2800" u="sng" dirty="0">
                <a:solidFill>
                  <a:srgbClr val="006600"/>
                </a:solidFill>
              </a:rPr>
              <a:t>not</a:t>
            </a:r>
            <a:r>
              <a:rPr lang="en-US" altLang="zh-CN" sz="2800" dirty="0">
                <a:solidFill>
                  <a:srgbClr val="006600"/>
                </a:solidFill>
              </a:rPr>
              <a:t> commutative!</a:t>
            </a:r>
            <a:endParaRPr lang="en-US" altLang="zh-CN" sz="2800" dirty="0">
              <a:solidFill>
                <a:srgbClr val="006600"/>
              </a:solidFill>
            </a:endParaRPr>
          </a:p>
        </p:txBody>
      </p:sp>
      <p:graphicFrame>
        <p:nvGraphicFramePr>
          <p:cNvPr id="16391" name="Object 4"/>
          <p:cNvGraphicFramePr>
            <a:graphicFrameLocks noChangeAspect="1"/>
          </p:cNvGraphicFramePr>
          <p:nvPr/>
        </p:nvGraphicFramePr>
        <p:xfrm>
          <a:off x="1447800" y="2613025"/>
          <a:ext cx="5715000" cy="1458913"/>
        </p:xfrm>
        <a:graphic>
          <a:graphicData uri="http://schemas.openxmlformats.org/presentationml/2006/ole">
            <mc:AlternateContent xmlns:mc="http://schemas.openxmlformats.org/markup-compatibility/2006">
              <mc:Choice xmlns:v="urn:schemas-microsoft-com:vml" Requires="v">
                <p:oleObj spid="_x0000_s3079" name="" r:id="rId1" imgW="1790700" imgH="457200" progId="Equation.3">
                  <p:embed/>
                </p:oleObj>
              </mc:Choice>
              <mc:Fallback>
                <p:oleObj name="" r:id="rId1" imgW="1790700" imgH="457200" progId="Equation.3">
                  <p:embed/>
                  <p:pic>
                    <p:nvPicPr>
                      <p:cNvPr id="0" name="图片 3078"/>
                      <p:cNvPicPr/>
                      <p:nvPr/>
                    </p:nvPicPr>
                    <p:blipFill>
                      <a:blip r:embed="rId2"/>
                      <a:stretch>
                        <a:fillRect/>
                      </a:stretch>
                    </p:blipFill>
                    <p:spPr>
                      <a:xfrm>
                        <a:off x="1447800" y="2613025"/>
                        <a:ext cx="5715000" cy="1458913"/>
                      </a:xfrm>
                      <a:prstGeom prst="rect">
                        <a:avLst/>
                      </a:prstGeom>
                      <a:noFill/>
                      <a:ln w="38100">
                        <a:noFill/>
                        <a:miter/>
                      </a:ln>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741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741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741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Matrix Product Example</a:t>
            </a:r>
            <a:endParaRPr lang="en-US" altLang="zh-CN" dirty="0">
              <a:latin typeface="Times New Roman" panose="02020503050405090304" pitchFamily="18" charset="0"/>
            </a:endParaRPr>
          </a:p>
        </p:txBody>
      </p:sp>
      <p:sp>
        <p:nvSpPr>
          <p:cNvPr id="17414"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An example matrix multiplication to practice in class:</a:t>
            </a:r>
            <a:endParaRPr lang="en-US" altLang="zh-CN" dirty="0">
              <a:latin typeface="Times New Roman" panose="02020503050405090304" pitchFamily="18" charset="0"/>
            </a:endParaRPr>
          </a:p>
        </p:txBody>
      </p:sp>
      <p:graphicFrame>
        <p:nvGraphicFramePr>
          <p:cNvPr id="17415" name="Object 4"/>
          <p:cNvGraphicFramePr>
            <a:graphicFrameLocks noChangeAspect="1"/>
          </p:cNvGraphicFramePr>
          <p:nvPr/>
        </p:nvGraphicFramePr>
        <p:xfrm>
          <a:off x="0" y="3072130"/>
          <a:ext cx="8778240" cy="1951990"/>
        </p:xfrm>
        <a:graphic>
          <a:graphicData uri="http://schemas.openxmlformats.org/presentationml/2006/ole">
            <mc:AlternateContent xmlns:mc="http://schemas.openxmlformats.org/markup-compatibility/2006">
              <mc:Choice xmlns:v="urn:schemas-microsoft-com:vml" Requires="v">
                <p:oleObj spid="_x0000_s3078" name="" r:id="rId1" imgW="3200400" imgH="711200" progId="Equation.3">
                  <p:embed/>
                </p:oleObj>
              </mc:Choice>
              <mc:Fallback>
                <p:oleObj name="" r:id="rId1" imgW="3200400" imgH="711200" progId="Equation.3">
                  <p:embed/>
                  <p:pic>
                    <p:nvPicPr>
                      <p:cNvPr id="0" name="图片 3077"/>
                      <p:cNvPicPr/>
                      <p:nvPr/>
                    </p:nvPicPr>
                    <p:blipFill>
                      <a:blip r:embed="rId2"/>
                      <a:stretch>
                        <a:fillRect/>
                      </a:stretch>
                    </p:blipFill>
                    <p:spPr>
                      <a:xfrm>
                        <a:off x="0" y="3072130"/>
                        <a:ext cx="8778240" cy="1951990"/>
                      </a:xfrm>
                      <a:prstGeom prst="rect">
                        <a:avLst/>
                      </a:prstGeom>
                      <a:solidFill>
                        <a:schemeClr val="bg1"/>
                      </a:solidFill>
                      <a:ln w="9525" cap="flat" cmpd="sng">
                        <a:solidFill>
                          <a:schemeClr val="tx1"/>
                        </a:solidFill>
                        <a:prstDash val="solid"/>
                        <a:miter/>
                        <a:headEnd type="none" w="med" len="med"/>
                        <a:tailEnd type="none" w="med" len="med"/>
                      </a:ln>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843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843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8437" name="Text Box 2"/>
          <p:cNvSpPr txBox="1"/>
          <p:nvPr/>
        </p:nvSpPr>
        <p:spPr>
          <a:xfrm>
            <a:off x="6689725" y="6400800"/>
            <a:ext cx="336550" cy="457200"/>
          </a:xfrm>
          <a:prstGeom prst="rect">
            <a:avLst/>
          </a:prstGeom>
          <a:solidFill>
            <a:srgbClr val="FFFFCC"/>
          </a:solidFill>
          <a:ln w="9525">
            <a:noFill/>
          </a:ln>
        </p:spPr>
        <p:txBody>
          <a:bodyPr wrap="none">
            <a:spAutoFit/>
          </a:bodyPr>
          <a:p>
            <a:r>
              <a:rPr lang="en-US" altLang="zh-CN" b="0" dirty="0">
                <a:solidFill>
                  <a:srgbClr val="FF0000"/>
                </a:solidFill>
                <a:latin typeface="Times New Roman" panose="02020503050405090304" pitchFamily="18" charset="0"/>
              </a:rPr>
              <a:t>n</a:t>
            </a:r>
            <a:endParaRPr lang="en-US" altLang="zh-CN" b="0" dirty="0">
              <a:solidFill>
                <a:srgbClr val="FF0000"/>
              </a:solidFill>
              <a:latin typeface="Times New Roman" panose="02020503050405090304" pitchFamily="18" charset="0"/>
            </a:endParaRPr>
          </a:p>
        </p:txBody>
      </p:sp>
      <p:sp>
        <p:nvSpPr>
          <p:cNvPr id="18438" name="Text Box 3"/>
          <p:cNvSpPr txBox="1"/>
          <p:nvPr/>
        </p:nvSpPr>
        <p:spPr>
          <a:xfrm>
            <a:off x="8502650" y="4765675"/>
            <a:ext cx="336550" cy="457200"/>
          </a:xfrm>
          <a:prstGeom prst="rect">
            <a:avLst/>
          </a:prstGeom>
          <a:solidFill>
            <a:srgbClr val="FFFFCC"/>
          </a:solidFill>
          <a:ln w="9525">
            <a:noFill/>
          </a:ln>
        </p:spPr>
        <p:txBody>
          <a:bodyPr wrap="none">
            <a:spAutoFit/>
          </a:bodyPr>
          <a:p>
            <a:r>
              <a:rPr lang="en-US" altLang="zh-CN" b="0" dirty="0">
                <a:solidFill>
                  <a:srgbClr val="FF0000"/>
                </a:solidFill>
                <a:latin typeface="Times New Roman" panose="02020503050405090304" pitchFamily="18" charset="0"/>
              </a:rPr>
              <a:t>n</a:t>
            </a:r>
            <a:endParaRPr lang="en-US" altLang="zh-CN" b="0" dirty="0">
              <a:solidFill>
                <a:srgbClr val="FF0000"/>
              </a:solidFill>
              <a:latin typeface="Times New Roman" panose="02020503050405090304" pitchFamily="18" charset="0"/>
            </a:endParaRPr>
          </a:p>
        </p:txBody>
      </p:sp>
      <p:sp>
        <p:nvSpPr>
          <p:cNvPr id="18439" name="Rectangle 4"/>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Identity Matrices</a:t>
            </a:r>
            <a:endParaRPr lang="en-US" altLang="zh-CN" dirty="0">
              <a:latin typeface="Times New Roman" panose="02020503050405090304" pitchFamily="18" charset="0"/>
            </a:endParaRPr>
          </a:p>
        </p:txBody>
      </p:sp>
      <p:sp>
        <p:nvSpPr>
          <p:cNvPr id="18440" name="Rectangle 5"/>
          <p:cNvSpPr>
            <a:spLocks noGrp="1"/>
          </p:cNvSpPr>
          <p:nvPr>
            <p:ph idx="1"/>
          </p:nvPr>
        </p:nvSpPr>
        <p:spPr>
          <a:xfrm>
            <a:off x="685800" y="1981200"/>
            <a:ext cx="7772400" cy="4495800"/>
          </a:xfrm>
        </p:spPr>
        <p:txBody>
          <a:bodyPr vert="horz" wrap="square" lIns="91440" tIns="45720" rIns="91440" bIns="45720" anchor="t" anchorCtr="0"/>
          <a:p>
            <a:pPr eaLnBrk="1" hangingPunct="1"/>
            <a:r>
              <a:rPr lang="en-US" altLang="zh-CN" dirty="0">
                <a:solidFill>
                  <a:schemeClr val="folHlink"/>
                </a:solidFill>
                <a:latin typeface="Times New Roman" panose="02020503050405090304" pitchFamily="18" charset="0"/>
              </a:rPr>
              <a:t>The </a:t>
            </a:r>
            <a:r>
              <a:rPr lang="en-US" altLang="zh-CN" i="1" dirty="0">
                <a:solidFill>
                  <a:schemeClr val="folHlink"/>
                </a:solidFill>
                <a:latin typeface="Times New Roman" panose="02020503050405090304" pitchFamily="18" charset="0"/>
              </a:rPr>
              <a:t>identity matrix of order n, </a:t>
            </a:r>
            <a:r>
              <a:rPr lang="en-US" altLang="zh-CN" b="1" dirty="0">
                <a:solidFill>
                  <a:schemeClr val="folHlink"/>
                </a:solidFill>
                <a:latin typeface="Times New Roman" panose="02020503050405090304" pitchFamily="18" charset="0"/>
              </a:rPr>
              <a:t>I</a:t>
            </a:r>
            <a:r>
              <a:rPr lang="en-US" altLang="zh-CN" i="1" baseline="-25000" dirty="0">
                <a:solidFill>
                  <a:schemeClr val="folHlink"/>
                </a:solidFill>
                <a:latin typeface="Times New Roman" panose="02020503050405090304" pitchFamily="18" charset="0"/>
              </a:rPr>
              <a:t>n</a:t>
            </a:r>
            <a:r>
              <a:rPr lang="en-US" altLang="zh-CN" i="1" dirty="0">
                <a:solidFill>
                  <a:schemeClr val="folHlink"/>
                </a:solidFill>
                <a:latin typeface="Times New Roman" panose="02020503050405090304" pitchFamily="18" charset="0"/>
              </a:rPr>
              <a:t>,</a:t>
            </a:r>
            <a:r>
              <a:rPr lang="en-US" altLang="zh-CN" dirty="0">
                <a:solidFill>
                  <a:schemeClr val="folHlink"/>
                </a:solidFill>
                <a:latin typeface="Times New Roman" panose="02020503050405090304" pitchFamily="18" charset="0"/>
              </a:rPr>
              <a:t> is the rank-</a:t>
            </a:r>
            <a:r>
              <a:rPr lang="en-US" altLang="zh-CN" i="1" dirty="0">
                <a:solidFill>
                  <a:schemeClr val="folHlink"/>
                </a:solidFill>
                <a:latin typeface="Times New Roman" panose="02020503050405090304" pitchFamily="18" charset="0"/>
              </a:rPr>
              <a:t>n</a:t>
            </a:r>
            <a:r>
              <a:rPr lang="en-US" altLang="zh-CN" dirty="0">
                <a:solidFill>
                  <a:schemeClr val="folHlink"/>
                </a:solidFill>
                <a:latin typeface="Times New Roman" panose="02020503050405090304" pitchFamily="18" charset="0"/>
              </a:rPr>
              <a:t> square </a:t>
            </a:r>
            <a:r>
              <a:rPr lang="en-US" altLang="zh-CN" dirty="0">
                <a:solidFill>
                  <a:schemeClr val="folHlink"/>
                </a:solidFill>
                <a:latin typeface="Times New Roman" panose="02020503050405090304" pitchFamily="18" charset="0"/>
                <a:sym typeface="Symbol" panose="05050102010706020507" pitchFamily="18" charset="2"/>
              </a:rPr>
              <a:t>matrix with 1’s along the upper-left to lower-right diagonal, and 0’s everywhere else.</a:t>
            </a:r>
            <a:r>
              <a:rPr lang="en-US" altLang="zh-CN" dirty="0">
                <a:latin typeface="Times New Roman" panose="02020503050405090304" pitchFamily="18" charset="0"/>
                <a:sym typeface="Symbol" panose="05050102010706020507" pitchFamily="18" charset="2"/>
              </a:rPr>
              <a:t>  </a:t>
            </a:r>
            <a:endParaRPr lang="en-US" altLang="zh-CN" dirty="0">
              <a:latin typeface="Times New Roman" panose="02020503050405090304" pitchFamily="18" charset="0"/>
              <a:sym typeface="Symbol" panose="05050102010706020507" pitchFamily="18" charset="2"/>
            </a:endParaRPr>
          </a:p>
          <a:p>
            <a:pPr eaLnBrk="1" hangingPunct="1"/>
            <a:endParaRPr lang="zh-CN" altLang="en-US" dirty="0">
              <a:latin typeface="Times New Roman" panose="02020503050405090304" pitchFamily="18" charset="0"/>
            </a:endParaRPr>
          </a:p>
        </p:txBody>
      </p:sp>
      <p:graphicFrame>
        <p:nvGraphicFramePr>
          <p:cNvPr id="18441" name="Object 6"/>
          <p:cNvGraphicFramePr>
            <a:graphicFrameLocks noChangeAspect="1"/>
          </p:cNvGraphicFramePr>
          <p:nvPr/>
        </p:nvGraphicFramePr>
        <p:xfrm>
          <a:off x="882650" y="3657600"/>
          <a:ext cx="7423150" cy="2711450"/>
        </p:xfrm>
        <a:graphic>
          <a:graphicData uri="http://schemas.openxmlformats.org/presentationml/2006/ole">
            <mc:AlternateContent xmlns:mc="http://schemas.openxmlformats.org/markup-compatibility/2006">
              <mc:Choice xmlns:v="urn:schemas-microsoft-com:vml" Requires="v">
                <p:oleObj spid="_x0000_s3076" name="" r:id="rId1" imgW="2501900" imgH="914400" progId="Equation.3">
                  <p:embed/>
                </p:oleObj>
              </mc:Choice>
              <mc:Fallback>
                <p:oleObj name="" r:id="rId1" imgW="2501900" imgH="914400" progId="Equation.3">
                  <p:embed/>
                  <p:pic>
                    <p:nvPicPr>
                      <p:cNvPr id="0" name="图片 3075"/>
                      <p:cNvPicPr/>
                      <p:nvPr/>
                    </p:nvPicPr>
                    <p:blipFill>
                      <a:blip r:embed="rId2"/>
                      <a:stretch>
                        <a:fillRect/>
                      </a:stretch>
                    </p:blipFill>
                    <p:spPr>
                      <a:xfrm>
                        <a:off x="882650" y="3657600"/>
                        <a:ext cx="7423150" cy="2711450"/>
                      </a:xfrm>
                      <a:prstGeom prst="rect">
                        <a:avLst/>
                      </a:prstGeom>
                      <a:noFill/>
                      <a:ln w="38100">
                        <a:noFill/>
                        <a:miter/>
                      </a:ln>
                    </p:spPr>
                  </p:pic>
                </p:oleObj>
              </mc:Fallback>
            </mc:AlternateContent>
          </a:graphicData>
        </a:graphic>
      </p:graphicFrame>
      <p:sp>
        <p:nvSpPr>
          <p:cNvPr id="18442" name="Text Box 7"/>
          <p:cNvSpPr txBox="1"/>
          <p:nvPr/>
        </p:nvSpPr>
        <p:spPr>
          <a:xfrm>
            <a:off x="1143000" y="5756275"/>
            <a:ext cx="2205038" cy="457200"/>
          </a:xfrm>
          <a:prstGeom prst="rect">
            <a:avLst/>
          </a:prstGeom>
          <a:noFill/>
          <a:ln w="9525">
            <a:noFill/>
          </a:ln>
        </p:spPr>
        <p:txBody>
          <a:bodyPr wrap="none">
            <a:spAutoFit/>
          </a:bodyPr>
          <a:p>
            <a:r>
              <a:rPr lang="en-US" altLang="zh-CN" b="0" i="0" dirty="0">
                <a:solidFill>
                  <a:srgbClr val="FF0000"/>
                </a:solidFill>
                <a:latin typeface="Times New Roman" panose="02020503050405090304" pitchFamily="18" charset="0"/>
              </a:rPr>
              <a:t>Kronecker Delta</a:t>
            </a:r>
            <a:endParaRPr lang="en-US" altLang="zh-CN" b="0" i="0" dirty="0">
              <a:solidFill>
                <a:srgbClr val="FF0000"/>
              </a:solidFill>
              <a:latin typeface="Times New Roman" panose="02020503050405090304" pitchFamily="18" charset="0"/>
            </a:endParaRPr>
          </a:p>
        </p:txBody>
      </p:sp>
      <p:sp>
        <p:nvSpPr>
          <p:cNvPr id="18443" name="Line 8"/>
          <p:cNvSpPr/>
          <p:nvPr/>
        </p:nvSpPr>
        <p:spPr>
          <a:xfrm flipV="1">
            <a:off x="2057400" y="5257800"/>
            <a:ext cx="0" cy="609600"/>
          </a:xfrm>
          <a:prstGeom prst="line">
            <a:avLst/>
          </a:prstGeom>
          <a:ln w="38100" cap="flat" cmpd="sng">
            <a:solidFill>
              <a:srgbClr val="FF0000"/>
            </a:solidFill>
            <a:prstDash val="solid"/>
            <a:headEnd type="none" w="med" len="med"/>
            <a:tailEnd type="triangle" w="med" len="med"/>
          </a:ln>
        </p:spPr>
      </p:sp>
      <p:sp>
        <p:nvSpPr>
          <p:cNvPr id="18444" name="AutoShape 9"/>
          <p:cNvSpPr/>
          <p:nvPr/>
        </p:nvSpPr>
        <p:spPr>
          <a:xfrm>
            <a:off x="8158163" y="3657600"/>
            <a:ext cx="381000" cy="2743200"/>
          </a:xfrm>
          <a:prstGeom prst="rightBrace">
            <a:avLst>
              <a:gd name="adj1" fmla="val 60000"/>
              <a:gd name="adj2" fmla="val 50000"/>
            </a:avLst>
          </a:prstGeom>
          <a:noFill/>
          <a:ln w="38100" cap="flat" cmpd="sng">
            <a:solidFill>
              <a:srgbClr val="FF0000"/>
            </a:solidFill>
            <a:prstDash val="solid"/>
            <a:headEnd type="none" w="med" len="med"/>
            <a:tailEnd type="none" w="med" len="med"/>
          </a:ln>
        </p:spPr>
        <p:txBody>
          <a:bodyPr wrap="none" anchor="ctr" anchorCtr="0"/>
          <a:p>
            <a:pPr algn="ctr"/>
            <a:endParaRPr lang="zh-CN" altLang="en-US" b="0" i="0" dirty="0">
              <a:latin typeface="Times New Roman" panose="02020503050405090304" pitchFamily="18" charset="0"/>
            </a:endParaRPr>
          </a:p>
        </p:txBody>
      </p:sp>
      <p:sp>
        <p:nvSpPr>
          <p:cNvPr id="18445" name="AutoShape 10"/>
          <p:cNvSpPr/>
          <p:nvPr/>
        </p:nvSpPr>
        <p:spPr>
          <a:xfrm rot="5400000">
            <a:off x="6667500" y="4914900"/>
            <a:ext cx="381000" cy="2895600"/>
          </a:xfrm>
          <a:prstGeom prst="rightBrace">
            <a:avLst>
              <a:gd name="adj1" fmla="val 63298"/>
              <a:gd name="adj2" fmla="val 50000"/>
            </a:avLst>
          </a:prstGeom>
          <a:noFill/>
          <a:ln w="38100" cap="flat" cmpd="sng">
            <a:solidFill>
              <a:srgbClr val="FF0000"/>
            </a:solidFill>
            <a:prstDash val="solid"/>
            <a:headEnd type="none" w="med" len="med"/>
            <a:tailEnd type="none" w="med" len="med"/>
          </a:ln>
        </p:spPr>
        <p:txBody>
          <a:bodyPr rot="10800000" vert="eaVert" wrap="none" anchor="ctr" anchorCtr="0"/>
          <a:p>
            <a:pPr algn="ctr"/>
            <a:endParaRPr lang="zh-CN" altLang="en-US" b="0" i="0" dirty="0">
              <a:latin typeface="Times New Roman" panose="02020503050405090304" pitchFamily="18" charset="0"/>
            </a:endParaRPr>
          </a:p>
        </p:txBody>
      </p:sp>
      <p:sp>
        <p:nvSpPr>
          <p:cNvPr id="18446" name="Text Box 11"/>
          <p:cNvSpPr txBox="1"/>
          <p:nvPr/>
        </p:nvSpPr>
        <p:spPr>
          <a:xfrm>
            <a:off x="1447800" y="4149725"/>
            <a:ext cx="1560513" cy="457200"/>
          </a:xfrm>
          <a:prstGeom prst="rect">
            <a:avLst/>
          </a:prstGeom>
          <a:noFill/>
          <a:ln w="9525">
            <a:noFill/>
          </a:ln>
        </p:spPr>
        <p:txBody>
          <a:bodyPr wrap="none">
            <a:spAutoFit/>
          </a:bodyPr>
          <a:p>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1≤</a:t>
            </a:r>
            <a:r>
              <a:rPr lang="en-US" altLang="zh-CN" b="0" dirty="0">
                <a:solidFill>
                  <a:srgbClr val="FF0000"/>
                </a:solidFill>
                <a:latin typeface="Times New Roman" panose="02020503050405090304" pitchFamily="18" charset="0"/>
                <a:sym typeface="Symbol" panose="05050102010706020507" pitchFamily="18" charset="2"/>
              </a:rPr>
              <a:t>i</a:t>
            </a:r>
            <a:r>
              <a:rPr lang="en-US" altLang="zh-CN" b="0" i="0" dirty="0">
                <a:solidFill>
                  <a:srgbClr val="FF0000"/>
                </a:solidFill>
                <a:latin typeface="Times New Roman" panose="02020503050405090304" pitchFamily="18" charset="0"/>
                <a:sym typeface="Symbol" panose="05050102010706020507" pitchFamily="18" charset="2"/>
              </a:rPr>
              <a:t>,</a:t>
            </a:r>
            <a:r>
              <a:rPr lang="en-US" altLang="zh-CN" b="0" dirty="0">
                <a:solidFill>
                  <a:srgbClr val="FF0000"/>
                </a:solidFill>
                <a:latin typeface="Times New Roman" panose="02020503050405090304" pitchFamily="18" charset="0"/>
                <a:sym typeface="Symbol" panose="05050102010706020507" pitchFamily="18" charset="2"/>
              </a:rPr>
              <a:t>j</a:t>
            </a:r>
            <a:r>
              <a:rPr lang="en-US" altLang="zh-CN" b="0" i="0" dirty="0">
                <a:solidFill>
                  <a:srgbClr val="FF0000"/>
                </a:solidFill>
                <a:latin typeface="Times New Roman" panose="02020503050405090304" pitchFamily="18" charset="0"/>
                <a:sym typeface="Symbol" panose="05050102010706020507" pitchFamily="18" charset="2"/>
              </a:rPr>
              <a:t>≤</a:t>
            </a:r>
            <a:r>
              <a:rPr lang="en-US" altLang="zh-CN" b="0" dirty="0">
                <a:solidFill>
                  <a:srgbClr val="FF0000"/>
                </a:solidFill>
                <a:latin typeface="Times New Roman" panose="02020503050405090304" pitchFamily="18" charset="0"/>
                <a:sym typeface="Symbol" panose="05050102010706020507" pitchFamily="18" charset="2"/>
              </a:rPr>
              <a:t>n</a:t>
            </a:r>
            <a:endParaRPr lang="en-US" altLang="zh-CN" b="0" i="0" dirty="0">
              <a:solidFill>
                <a:srgbClr val="FF0000"/>
              </a:solidFill>
              <a:latin typeface="Times New Roman" panose="02020503050405090304" pitchFamily="18" charset="0"/>
              <a:sym typeface="Symbol" panose="05050102010706020507" pitchFamily="18" charset="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945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1946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1946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Matrix Inverses</a:t>
            </a:r>
            <a:endParaRPr lang="en-US" altLang="zh-CN" dirty="0">
              <a:latin typeface="Times New Roman" panose="02020503050405090304" pitchFamily="18" charset="0"/>
            </a:endParaRPr>
          </a:p>
        </p:txBody>
      </p:sp>
      <p:sp>
        <p:nvSpPr>
          <p:cNvPr id="19462"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For some (but not all) square matrices </a:t>
            </a:r>
            <a:r>
              <a:rPr lang="en-US" altLang="zh-CN" b="1" dirty="0">
                <a:latin typeface="Times New Roman" panose="02020503050405090304" pitchFamily="18" charset="0"/>
              </a:rPr>
              <a:t>A</a:t>
            </a:r>
            <a:r>
              <a:rPr lang="en-US" altLang="zh-CN" dirty="0">
                <a:latin typeface="Times New Roman" panose="02020503050405090304" pitchFamily="18" charset="0"/>
              </a:rPr>
              <a:t>, there exists a unique multiplicative </a:t>
            </a:r>
            <a:r>
              <a:rPr lang="en-US" altLang="zh-CN" i="1" dirty="0">
                <a:latin typeface="Times New Roman" panose="02020503050405090304" pitchFamily="18" charset="0"/>
              </a:rPr>
              <a:t>inverse</a:t>
            </a:r>
            <a:r>
              <a:rPr lang="en-US" altLang="zh-CN" dirty="0">
                <a:latin typeface="Times New Roman" panose="02020503050405090304" pitchFamily="18" charset="0"/>
              </a:rPr>
              <a:t> </a:t>
            </a:r>
            <a:r>
              <a:rPr lang="en-US" altLang="zh-CN" b="1" dirty="0">
                <a:latin typeface="Times New Roman" panose="02020503050405090304" pitchFamily="18" charset="0"/>
              </a:rPr>
              <a:t>A</a:t>
            </a:r>
            <a:r>
              <a:rPr lang="en-US" altLang="zh-CN" baseline="30000" dirty="0">
                <a:latin typeface="Times New Roman" panose="02020503050405090304" pitchFamily="18" charset="0"/>
              </a:rPr>
              <a:t>−1</a:t>
            </a:r>
            <a:r>
              <a:rPr lang="en-US" altLang="zh-CN" dirty="0">
                <a:latin typeface="Times New Roman" panose="02020503050405090304" pitchFamily="18" charset="0"/>
              </a:rPr>
              <a:t> of </a:t>
            </a:r>
            <a:r>
              <a:rPr lang="en-US" altLang="zh-CN" b="1" dirty="0">
                <a:latin typeface="Times New Roman" panose="02020503050405090304" pitchFamily="18" charset="0"/>
              </a:rPr>
              <a:t>A</a:t>
            </a:r>
            <a:r>
              <a:rPr lang="en-US" altLang="zh-CN" dirty="0">
                <a:latin typeface="Times New Roman" panose="02020503050405090304" pitchFamily="18" charset="0"/>
              </a:rPr>
              <a:t>, a matrix such that </a:t>
            </a:r>
            <a:r>
              <a:rPr lang="en-US" altLang="zh-CN" b="1" dirty="0">
                <a:latin typeface="Times New Roman" panose="02020503050405090304" pitchFamily="18" charset="0"/>
              </a:rPr>
              <a:t>A</a:t>
            </a:r>
            <a:r>
              <a:rPr lang="en-US" altLang="zh-CN" baseline="30000" dirty="0">
                <a:latin typeface="Times New Roman" panose="02020503050405090304" pitchFamily="18" charset="0"/>
              </a:rPr>
              <a:t>−1</a:t>
            </a:r>
            <a:r>
              <a:rPr lang="en-US" altLang="zh-CN" b="1" dirty="0">
                <a:latin typeface="Times New Roman" panose="02020503050405090304" pitchFamily="18" charset="0"/>
              </a:rPr>
              <a:t>A</a:t>
            </a:r>
            <a:r>
              <a:rPr lang="en-US" altLang="zh-CN" dirty="0">
                <a:latin typeface="Times New Roman" panose="02020503050405090304" pitchFamily="18" charset="0"/>
              </a:rPr>
              <a:t> = </a:t>
            </a:r>
            <a:r>
              <a:rPr lang="en-US" altLang="zh-CN" b="1" dirty="0">
                <a:latin typeface="Times New Roman" panose="02020503050405090304" pitchFamily="18" charset="0"/>
              </a:rPr>
              <a:t>I</a:t>
            </a:r>
            <a:r>
              <a:rPr lang="en-US" altLang="zh-CN" i="1" baseline="-25000" dirty="0">
                <a:latin typeface="Times New Roman" panose="02020503050405090304" pitchFamily="18" charset="0"/>
              </a:rPr>
              <a:t>n</a:t>
            </a:r>
            <a:r>
              <a:rPr lang="en-US" altLang="zh-CN" i="1" dirty="0">
                <a:latin typeface="Times New Roman" panose="02020503050405090304" pitchFamily="18" charset="0"/>
              </a:rPr>
              <a:t>.</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If the inverse exists, it is unique, and </a:t>
            </a:r>
            <a:br>
              <a:rPr lang="en-US" altLang="zh-CN" dirty="0">
                <a:latin typeface="Times New Roman" panose="02020503050405090304" pitchFamily="18" charset="0"/>
              </a:rPr>
            </a:br>
            <a:r>
              <a:rPr lang="en-US" altLang="zh-CN" b="1" dirty="0">
                <a:latin typeface="Times New Roman" panose="02020503050405090304" pitchFamily="18" charset="0"/>
              </a:rPr>
              <a:t>A</a:t>
            </a:r>
            <a:r>
              <a:rPr lang="en-US" altLang="zh-CN" baseline="30000" dirty="0">
                <a:latin typeface="Times New Roman" panose="02020503050405090304" pitchFamily="18" charset="0"/>
              </a:rPr>
              <a:t>−1</a:t>
            </a:r>
            <a:r>
              <a:rPr lang="en-US" altLang="zh-CN" b="1" dirty="0">
                <a:latin typeface="Times New Roman" panose="02020503050405090304" pitchFamily="18" charset="0"/>
              </a:rPr>
              <a:t>A</a:t>
            </a:r>
            <a:r>
              <a:rPr lang="en-US" altLang="zh-CN" dirty="0">
                <a:latin typeface="Times New Roman" panose="02020503050405090304" pitchFamily="18" charset="0"/>
              </a:rPr>
              <a:t> = </a:t>
            </a:r>
            <a:r>
              <a:rPr lang="en-US" altLang="zh-CN" b="1" dirty="0">
                <a:latin typeface="Times New Roman" panose="02020503050405090304" pitchFamily="18" charset="0"/>
              </a:rPr>
              <a:t>AA</a:t>
            </a:r>
            <a:r>
              <a:rPr lang="en-US" altLang="zh-CN" baseline="30000" dirty="0">
                <a:latin typeface="Times New Roman" panose="02020503050405090304" pitchFamily="18" charset="0"/>
              </a:rPr>
              <a:t>−1</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We won’t go into the algorithms for matrix inversion...</a:t>
            </a:r>
            <a:endParaRPr lang="en-US" altLang="zh-CN" dirty="0">
              <a:latin typeface="Times New Roman" panose="0202050305040509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048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048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048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Matrix Multiplication Algorithm</a:t>
            </a:r>
            <a:endParaRPr lang="en-US" altLang="zh-CN" dirty="0">
              <a:latin typeface="Times New Roman" panose="02020503050405090304" pitchFamily="18" charset="0"/>
            </a:endParaRPr>
          </a:p>
        </p:txBody>
      </p:sp>
      <p:sp>
        <p:nvSpPr>
          <p:cNvPr id="20486" name="Rectangle 3"/>
          <p:cNvSpPr>
            <a:spLocks noGrp="1"/>
          </p:cNvSpPr>
          <p:nvPr>
            <p:ph idx="1"/>
          </p:nvPr>
        </p:nvSpPr>
        <p:spPr/>
        <p:txBody>
          <a:bodyPr vert="horz" wrap="square" lIns="91440" tIns="45720" rIns="91440" bIns="45720" anchor="t" anchorCtr="0"/>
          <a:p>
            <a:pPr eaLnBrk="1" hangingPunct="1">
              <a:buNone/>
            </a:pPr>
            <a:r>
              <a:rPr lang="en-US" altLang="zh-CN" b="1" dirty="0">
                <a:latin typeface="Times New Roman" panose="02020503050405090304" pitchFamily="18" charset="0"/>
              </a:rPr>
              <a:t>procedure</a:t>
            </a:r>
            <a:r>
              <a:rPr lang="en-US" altLang="zh-CN" dirty="0">
                <a:latin typeface="Times New Roman" panose="02020503050405090304" pitchFamily="18" charset="0"/>
              </a:rPr>
              <a:t> </a:t>
            </a:r>
            <a:r>
              <a:rPr lang="en-US" altLang="zh-CN" i="1" dirty="0">
                <a:latin typeface="Times New Roman" panose="02020503050405090304" pitchFamily="18" charset="0"/>
              </a:rPr>
              <a:t>matmul</a:t>
            </a:r>
            <a:r>
              <a:rPr lang="en-US" altLang="zh-CN" dirty="0">
                <a:latin typeface="Times New Roman" panose="02020503050405090304" pitchFamily="18" charset="0"/>
              </a:rPr>
              <a:t>(matrices </a:t>
            </a:r>
            <a:r>
              <a:rPr lang="en-US" altLang="zh-CN" b="1" dirty="0">
                <a:latin typeface="Times New Roman" panose="02020503050405090304" pitchFamily="18" charset="0"/>
              </a:rPr>
              <a:t>A</a:t>
            </a:r>
            <a:r>
              <a:rPr lang="en-US" altLang="zh-CN" dirty="0">
                <a:latin typeface="Times New Roman" panose="02020503050405090304" pitchFamily="18" charset="0"/>
              </a:rPr>
              <a:t>: </a:t>
            </a:r>
            <a:r>
              <a:rPr lang="en-US" altLang="zh-CN" i="1" dirty="0">
                <a:latin typeface="Times New Roman" panose="02020503050405090304" pitchFamily="18" charset="0"/>
              </a:rPr>
              <a:t>m</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k</a:t>
            </a:r>
            <a:r>
              <a:rPr lang="en-US" altLang="zh-CN" dirty="0">
                <a:latin typeface="Times New Roman" panose="02020503050405090304" pitchFamily="18" charset="0"/>
              </a:rPr>
              <a:t>, </a:t>
            </a:r>
            <a:r>
              <a:rPr lang="en-US" altLang="zh-CN" b="1" dirty="0">
                <a:latin typeface="Times New Roman" panose="02020503050405090304" pitchFamily="18" charset="0"/>
              </a:rPr>
              <a:t>B</a:t>
            </a:r>
            <a:r>
              <a:rPr lang="en-US" altLang="zh-CN" dirty="0">
                <a:latin typeface="Times New Roman" panose="02020503050405090304" pitchFamily="18" charset="0"/>
              </a:rPr>
              <a:t>: </a:t>
            </a:r>
            <a:r>
              <a:rPr lang="en-US" altLang="zh-CN" i="1" dirty="0">
                <a:latin typeface="Times New Roman" panose="02020503050405090304" pitchFamily="18" charset="0"/>
              </a:rPr>
              <a:t>k</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buNone/>
            </a:pPr>
            <a:r>
              <a:rPr lang="en-US" altLang="zh-CN" b="1" dirty="0">
                <a:latin typeface="Times New Roman" panose="02020503050405090304" pitchFamily="18" charset="0"/>
              </a:rPr>
              <a:t>for</a:t>
            </a:r>
            <a:r>
              <a:rPr lang="en-US" altLang="zh-CN" dirty="0">
                <a:latin typeface="Times New Roman" panose="02020503050405090304" pitchFamily="18" charset="0"/>
              </a:rPr>
              <a:t> </a:t>
            </a:r>
            <a:r>
              <a:rPr lang="en-US" altLang="zh-CN" i="1" dirty="0">
                <a:latin typeface="Times New Roman" panose="02020503050405090304" pitchFamily="18" charset="0"/>
              </a:rPr>
              <a:t>i</a:t>
            </a:r>
            <a:r>
              <a:rPr lang="en-US" altLang="zh-CN" dirty="0">
                <a:latin typeface="Times New Roman" panose="02020503050405090304" pitchFamily="18" charset="0"/>
              </a:rPr>
              <a:t> := 1 </a:t>
            </a:r>
            <a:r>
              <a:rPr lang="en-US" altLang="zh-CN" b="1" dirty="0">
                <a:latin typeface="Times New Roman" panose="02020503050405090304" pitchFamily="18" charset="0"/>
              </a:rPr>
              <a:t>to</a:t>
            </a:r>
            <a:r>
              <a:rPr lang="en-US" altLang="zh-CN" dirty="0">
                <a:latin typeface="Times New Roman" panose="02020503050405090304" pitchFamily="18" charset="0"/>
              </a:rPr>
              <a:t> </a:t>
            </a:r>
            <a:r>
              <a:rPr lang="en-US" altLang="zh-CN" i="1" dirty="0">
                <a:latin typeface="Times New Roman" panose="02020503050405090304" pitchFamily="18" charset="0"/>
              </a:rPr>
              <a:t>m</a:t>
            </a:r>
            <a:endParaRPr lang="en-US" altLang="zh-CN" b="1" dirty="0">
              <a:latin typeface="Times New Roman" panose="02020503050405090304" pitchFamily="18" charset="0"/>
            </a:endParaRPr>
          </a:p>
          <a:p>
            <a:pPr eaLnBrk="1" hangingPunct="1">
              <a:buNone/>
            </a:pPr>
            <a:r>
              <a:rPr lang="en-US" altLang="zh-CN" b="1" dirty="0">
                <a:latin typeface="Times New Roman" panose="02020503050405090304" pitchFamily="18" charset="0"/>
              </a:rPr>
              <a:t>	for</a:t>
            </a:r>
            <a:r>
              <a:rPr lang="en-US" altLang="zh-CN" dirty="0">
                <a:latin typeface="Times New Roman" panose="02020503050405090304" pitchFamily="18" charset="0"/>
              </a:rPr>
              <a:t> </a:t>
            </a:r>
            <a:r>
              <a:rPr lang="en-US" altLang="zh-CN" i="1" dirty="0">
                <a:latin typeface="Times New Roman" panose="02020503050405090304" pitchFamily="18" charset="0"/>
              </a:rPr>
              <a:t>j</a:t>
            </a:r>
            <a:r>
              <a:rPr lang="en-US" altLang="zh-CN" dirty="0">
                <a:latin typeface="Times New Roman" panose="02020503050405090304" pitchFamily="18" charset="0"/>
              </a:rPr>
              <a:t> := 1 </a:t>
            </a:r>
            <a:r>
              <a:rPr lang="en-US" altLang="zh-CN" b="1" dirty="0">
                <a:latin typeface="Times New Roman" panose="02020503050405090304" pitchFamily="18" charset="0"/>
              </a:rPr>
              <a:t>to</a:t>
            </a:r>
            <a:r>
              <a:rPr lang="en-US" altLang="zh-CN" dirty="0">
                <a:latin typeface="Times New Roman" panose="02020503050405090304" pitchFamily="18" charset="0"/>
              </a:rPr>
              <a:t> </a:t>
            </a:r>
            <a:r>
              <a:rPr lang="en-US" altLang="zh-CN" i="1" dirty="0">
                <a:latin typeface="Times New Roman" panose="02020503050405090304" pitchFamily="18" charset="0"/>
              </a:rPr>
              <a:t>n</a:t>
            </a:r>
            <a:r>
              <a:rPr lang="en-US" altLang="zh-CN" dirty="0">
                <a:latin typeface="Times New Roman" panose="02020503050405090304" pitchFamily="18" charset="0"/>
              </a:rPr>
              <a:t> </a:t>
            </a:r>
            <a:r>
              <a:rPr lang="en-US" altLang="zh-CN" b="1" dirty="0">
                <a:latin typeface="Times New Roman" panose="02020503050405090304" pitchFamily="18" charset="0"/>
              </a:rPr>
              <a:t>begin</a:t>
            </a:r>
            <a:endParaRPr lang="en-US" altLang="zh-CN" dirty="0">
              <a:latin typeface="Times New Roman" panose="02020503050405090304" pitchFamily="18" charset="0"/>
            </a:endParaRPr>
          </a:p>
          <a:p>
            <a:pPr eaLnBrk="1" hangingPunct="1">
              <a:buNone/>
            </a:pPr>
            <a:r>
              <a:rPr lang="en-US" altLang="zh-CN" dirty="0">
                <a:latin typeface="Times New Roman" panose="02020503050405090304" pitchFamily="18" charset="0"/>
              </a:rPr>
              <a:t>		</a:t>
            </a:r>
            <a:r>
              <a:rPr lang="en-US" altLang="zh-CN" i="1" dirty="0">
                <a:latin typeface="Times New Roman" panose="02020503050405090304" pitchFamily="18" charset="0"/>
              </a:rPr>
              <a:t>c</a:t>
            </a:r>
            <a:r>
              <a:rPr lang="en-US" altLang="zh-CN" i="1" baseline="-25000" dirty="0">
                <a:latin typeface="Times New Roman" panose="02020503050405090304" pitchFamily="18" charset="0"/>
              </a:rPr>
              <a:t>ij</a:t>
            </a:r>
            <a:r>
              <a:rPr lang="en-US" altLang="zh-CN" dirty="0">
                <a:latin typeface="Times New Roman" panose="02020503050405090304" pitchFamily="18" charset="0"/>
              </a:rPr>
              <a:t> := 0</a:t>
            </a:r>
            <a:endParaRPr lang="en-US" altLang="zh-CN" dirty="0">
              <a:latin typeface="Times New Roman" panose="02020503050405090304" pitchFamily="18" charset="0"/>
            </a:endParaRPr>
          </a:p>
          <a:p>
            <a:pPr eaLnBrk="1" hangingPunct="1">
              <a:buNone/>
            </a:pPr>
            <a:r>
              <a:rPr lang="en-US" altLang="zh-CN" dirty="0">
                <a:latin typeface="Times New Roman" panose="02020503050405090304" pitchFamily="18" charset="0"/>
              </a:rPr>
              <a:t>		</a:t>
            </a:r>
            <a:r>
              <a:rPr lang="en-US" altLang="zh-CN" b="1" dirty="0">
                <a:latin typeface="Times New Roman" panose="02020503050405090304" pitchFamily="18" charset="0"/>
              </a:rPr>
              <a:t>for</a:t>
            </a:r>
            <a:r>
              <a:rPr lang="en-US" altLang="zh-CN" dirty="0">
                <a:latin typeface="Times New Roman" panose="02020503050405090304" pitchFamily="18" charset="0"/>
              </a:rPr>
              <a:t> </a:t>
            </a:r>
            <a:r>
              <a:rPr lang="en-US" altLang="zh-CN" i="1" dirty="0">
                <a:latin typeface="Times New Roman" panose="02020503050405090304" pitchFamily="18" charset="0"/>
              </a:rPr>
              <a:t>q</a:t>
            </a:r>
            <a:r>
              <a:rPr lang="en-US" altLang="zh-CN" dirty="0">
                <a:latin typeface="Times New Roman" panose="02020503050405090304" pitchFamily="18" charset="0"/>
              </a:rPr>
              <a:t> := 1 </a:t>
            </a:r>
            <a:r>
              <a:rPr lang="en-US" altLang="zh-CN" b="1" dirty="0">
                <a:latin typeface="Times New Roman" panose="02020503050405090304" pitchFamily="18" charset="0"/>
              </a:rPr>
              <a:t>to</a:t>
            </a:r>
            <a:r>
              <a:rPr lang="en-US" altLang="zh-CN" dirty="0">
                <a:latin typeface="Times New Roman" panose="02020503050405090304" pitchFamily="18" charset="0"/>
              </a:rPr>
              <a:t> </a:t>
            </a:r>
            <a:r>
              <a:rPr lang="en-US" altLang="zh-CN" i="1" dirty="0">
                <a:latin typeface="Times New Roman" panose="02020503050405090304" pitchFamily="18" charset="0"/>
              </a:rPr>
              <a:t>k</a:t>
            </a:r>
            <a:endParaRPr lang="en-US" altLang="zh-CN" dirty="0">
              <a:latin typeface="Times New Roman" panose="02020503050405090304" pitchFamily="18" charset="0"/>
            </a:endParaRPr>
          </a:p>
          <a:p>
            <a:pPr eaLnBrk="1" hangingPunct="1">
              <a:buNone/>
            </a:pPr>
            <a:r>
              <a:rPr lang="en-US" altLang="zh-CN" dirty="0">
                <a:latin typeface="Times New Roman" panose="02020503050405090304" pitchFamily="18" charset="0"/>
              </a:rPr>
              <a:t>			</a:t>
            </a:r>
            <a:r>
              <a:rPr lang="en-US" altLang="zh-CN" i="1" dirty="0">
                <a:latin typeface="Times New Roman" panose="02020503050405090304" pitchFamily="18" charset="0"/>
              </a:rPr>
              <a:t>c</a:t>
            </a:r>
            <a:r>
              <a:rPr lang="en-US" altLang="zh-CN" i="1" baseline="-25000" dirty="0">
                <a:latin typeface="Times New Roman" panose="02020503050405090304" pitchFamily="18" charset="0"/>
              </a:rPr>
              <a:t>ij</a:t>
            </a:r>
            <a:r>
              <a:rPr lang="en-US" altLang="zh-CN" dirty="0">
                <a:latin typeface="Times New Roman" panose="02020503050405090304" pitchFamily="18" charset="0"/>
              </a:rPr>
              <a:t> := </a:t>
            </a:r>
            <a:r>
              <a:rPr lang="en-US" altLang="zh-CN" i="1" dirty="0">
                <a:latin typeface="Times New Roman" panose="02020503050405090304" pitchFamily="18" charset="0"/>
              </a:rPr>
              <a:t>c</a:t>
            </a:r>
            <a:r>
              <a:rPr lang="en-US" altLang="zh-CN" i="1" baseline="-25000" dirty="0">
                <a:latin typeface="Times New Roman" panose="02020503050405090304" pitchFamily="18" charset="0"/>
              </a:rPr>
              <a:t>ij</a:t>
            </a:r>
            <a:r>
              <a:rPr lang="en-US" altLang="zh-CN" i="1" dirty="0">
                <a:latin typeface="Times New Roman" panose="02020503050405090304" pitchFamily="18" charset="0"/>
              </a:rPr>
              <a:t> + a</a:t>
            </a:r>
            <a:r>
              <a:rPr lang="en-US" altLang="zh-CN" i="1" baseline="-25000" dirty="0">
                <a:latin typeface="Times New Roman" panose="02020503050405090304" pitchFamily="18" charset="0"/>
              </a:rPr>
              <a:t>iq</a:t>
            </a:r>
            <a:r>
              <a:rPr lang="en-US" altLang="zh-CN" i="1" dirty="0">
                <a:latin typeface="Times New Roman" panose="02020503050405090304" pitchFamily="18" charset="0"/>
              </a:rPr>
              <a:t>b</a:t>
            </a:r>
            <a:r>
              <a:rPr lang="en-US" altLang="zh-CN" i="1" baseline="-25000" dirty="0">
                <a:latin typeface="Times New Roman" panose="02020503050405090304" pitchFamily="18" charset="0"/>
              </a:rPr>
              <a:t>qj</a:t>
            </a:r>
            <a:endParaRPr lang="en-US" altLang="zh-CN" i="1" dirty="0">
              <a:latin typeface="Times New Roman" panose="02020503050405090304" pitchFamily="18" charset="0"/>
            </a:endParaRPr>
          </a:p>
          <a:p>
            <a:pPr eaLnBrk="1" hangingPunct="1">
              <a:buNone/>
            </a:pPr>
            <a:r>
              <a:rPr lang="en-US" altLang="zh-CN" b="1" dirty="0">
                <a:latin typeface="Times New Roman" panose="02020503050405090304" pitchFamily="18" charset="0"/>
              </a:rPr>
              <a:t>	end</a:t>
            </a:r>
            <a:r>
              <a:rPr lang="en-US" altLang="zh-CN" dirty="0">
                <a:latin typeface="Times New Roman" panose="02020503050405090304" pitchFamily="18" charset="0"/>
              </a:rPr>
              <a:t> </a:t>
            </a:r>
            <a:r>
              <a:rPr lang="en-US" altLang="zh-CN" dirty="0">
                <a:solidFill>
                  <a:schemeClr val="folHlink"/>
                </a:solidFill>
                <a:latin typeface="Times New Roman" panose="02020503050405090304" pitchFamily="18" charset="0"/>
              </a:rPr>
              <a:t>{</a:t>
            </a:r>
            <a:r>
              <a:rPr lang="en-US" altLang="zh-CN" b="1" dirty="0">
                <a:solidFill>
                  <a:schemeClr val="folHlink"/>
                </a:solidFill>
                <a:latin typeface="Times New Roman" panose="02020503050405090304" pitchFamily="18" charset="0"/>
              </a:rPr>
              <a:t>C</a:t>
            </a:r>
            <a:r>
              <a:rPr lang="en-US" altLang="zh-CN" dirty="0">
                <a:solidFill>
                  <a:schemeClr val="folHlink"/>
                </a:solidFill>
                <a:latin typeface="Times New Roman" panose="02020503050405090304" pitchFamily="18" charset="0"/>
              </a:rPr>
              <a:t>=[</a:t>
            </a:r>
            <a:r>
              <a:rPr lang="en-US" altLang="zh-CN" i="1" dirty="0">
                <a:solidFill>
                  <a:schemeClr val="folHlink"/>
                </a:solidFill>
                <a:latin typeface="Times New Roman" panose="02020503050405090304" pitchFamily="18" charset="0"/>
              </a:rPr>
              <a:t>c</a:t>
            </a:r>
            <a:r>
              <a:rPr lang="en-US" altLang="zh-CN" i="1" baseline="-25000" dirty="0">
                <a:solidFill>
                  <a:schemeClr val="folHlink"/>
                </a:solidFill>
                <a:latin typeface="Times New Roman" panose="02020503050405090304" pitchFamily="18" charset="0"/>
              </a:rPr>
              <a:t>ij</a:t>
            </a:r>
            <a:r>
              <a:rPr lang="en-US" altLang="zh-CN" dirty="0">
                <a:solidFill>
                  <a:schemeClr val="folHlink"/>
                </a:solidFill>
                <a:latin typeface="Times New Roman" panose="02020503050405090304" pitchFamily="18" charset="0"/>
              </a:rPr>
              <a:t>] is the product of </a:t>
            </a:r>
            <a:r>
              <a:rPr lang="en-US" altLang="zh-CN" b="1" dirty="0">
                <a:solidFill>
                  <a:schemeClr val="folHlink"/>
                </a:solidFill>
                <a:latin typeface="Times New Roman" panose="02020503050405090304" pitchFamily="18" charset="0"/>
              </a:rPr>
              <a:t>A</a:t>
            </a:r>
            <a:r>
              <a:rPr lang="en-US" altLang="zh-CN" dirty="0">
                <a:solidFill>
                  <a:schemeClr val="folHlink"/>
                </a:solidFill>
                <a:latin typeface="Times New Roman" panose="02020503050405090304" pitchFamily="18" charset="0"/>
              </a:rPr>
              <a:t> and </a:t>
            </a:r>
            <a:r>
              <a:rPr lang="en-US" altLang="zh-CN" b="1" dirty="0">
                <a:solidFill>
                  <a:schemeClr val="folHlink"/>
                </a:solidFill>
                <a:latin typeface="Times New Roman" panose="02020503050405090304" pitchFamily="18" charset="0"/>
              </a:rPr>
              <a:t>B</a:t>
            </a:r>
            <a:r>
              <a:rPr lang="en-US" altLang="zh-CN" dirty="0">
                <a:solidFill>
                  <a:schemeClr val="folHlink"/>
                </a:solidFill>
                <a:latin typeface="Times New Roman" panose="02020503050405090304" pitchFamily="18" charset="0"/>
              </a:rPr>
              <a:t>}</a:t>
            </a:r>
            <a:endParaRPr lang="en-US" altLang="zh-CN" dirty="0">
              <a:solidFill>
                <a:schemeClr val="folHlink"/>
              </a:solidFill>
              <a:latin typeface="Times New Roman" panose="02020503050405090304" pitchFamily="18" charset="0"/>
            </a:endParaRPr>
          </a:p>
        </p:txBody>
      </p:sp>
      <p:sp>
        <p:nvSpPr>
          <p:cNvPr id="20487" name="Text Box 4"/>
          <p:cNvSpPr txBox="1"/>
          <p:nvPr/>
        </p:nvSpPr>
        <p:spPr>
          <a:xfrm>
            <a:off x="5956300" y="2013268"/>
            <a:ext cx="2532063" cy="847725"/>
          </a:xfrm>
          <a:prstGeom prst="rect">
            <a:avLst/>
          </a:prstGeom>
          <a:noFill/>
          <a:ln w="25400" cap="flat" cmpd="sng">
            <a:solidFill>
              <a:srgbClr val="000080"/>
            </a:solidFill>
            <a:prstDash val="solid"/>
            <a:miter/>
            <a:headEnd type="none" w="med" len="med"/>
            <a:tailEnd type="none" w="med" len="med"/>
          </a:ln>
        </p:spPr>
        <p:txBody>
          <a:bodyPr wrap="none" anchor="ctr" anchorCtr="0">
            <a:spAutoFit/>
          </a:bodyPr>
          <a:p>
            <a:pPr algn="ctr">
              <a:spcBef>
                <a:spcPct val="50000"/>
              </a:spcBef>
            </a:pPr>
            <a:r>
              <a:rPr lang="en-US" altLang="zh-CN" b="0" i="0" dirty="0">
                <a:solidFill>
                  <a:srgbClr val="0000CC"/>
                </a:solidFill>
                <a:latin typeface="Times New Roman" panose="02020503050405090304" pitchFamily="18" charset="0"/>
              </a:rPr>
              <a:t>What’s the </a:t>
            </a:r>
            <a:r>
              <a:rPr lang="en-US" altLang="zh-CN" b="0" i="0" dirty="0">
                <a:solidFill>
                  <a:srgbClr val="0000CC"/>
                </a:solidFill>
                <a:latin typeface="Times New Roman" panose="02020503050405090304" pitchFamily="18" charset="0"/>
                <a:sym typeface="Symbol" panose="05050102010706020507" pitchFamily="18" charset="2"/>
              </a:rPr>
              <a:t> of its</a:t>
            </a:r>
            <a:br>
              <a:rPr lang="en-US" altLang="zh-CN" b="0" i="0" dirty="0">
                <a:solidFill>
                  <a:srgbClr val="0000CC"/>
                </a:solidFill>
                <a:latin typeface="Times New Roman" panose="02020503050405090304" pitchFamily="18" charset="0"/>
                <a:sym typeface="Symbol" panose="05050102010706020507" pitchFamily="18" charset="2"/>
              </a:rPr>
            </a:br>
            <a:r>
              <a:rPr lang="en-US" altLang="zh-CN" b="0" i="0" dirty="0">
                <a:solidFill>
                  <a:srgbClr val="0000CC"/>
                </a:solidFill>
                <a:latin typeface="Times New Roman" panose="02020503050405090304" pitchFamily="18" charset="0"/>
                <a:sym typeface="Symbol" panose="05050102010706020507" pitchFamily="18" charset="2"/>
              </a:rPr>
              <a:t>time complexity?</a:t>
            </a:r>
            <a:endParaRPr lang="en-US" altLang="zh-CN" b="0" i="0" dirty="0">
              <a:latin typeface="Times New Roman" panose="02020503050405090304" pitchFamily="18" charset="0"/>
            </a:endParaRPr>
          </a:p>
        </p:txBody>
      </p:sp>
      <p:grpSp>
        <p:nvGrpSpPr>
          <p:cNvPr id="2" name="Group 5"/>
          <p:cNvGrpSpPr/>
          <p:nvPr/>
        </p:nvGrpSpPr>
        <p:grpSpPr>
          <a:xfrm>
            <a:off x="4549775" y="2021205"/>
            <a:ext cx="1185863" cy="533400"/>
            <a:chOff x="2640" y="1680"/>
            <a:chExt cx="747" cy="336"/>
          </a:xfrm>
        </p:grpSpPr>
        <p:sp>
          <p:nvSpPr>
            <p:cNvPr id="20502" name="AutoShape 6"/>
            <p:cNvSpPr/>
            <p:nvPr/>
          </p:nvSpPr>
          <p:spPr>
            <a:xfrm>
              <a:off x="2640" y="1680"/>
              <a:ext cx="192" cy="336"/>
            </a:xfrm>
            <a:prstGeom prst="rightBrace">
              <a:avLst>
                <a:gd name="adj1" fmla="val 14575"/>
                <a:gd name="adj2" fmla="val 50000"/>
              </a:avLst>
            </a:prstGeom>
            <a:noFill/>
            <a:ln w="9525"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0503" name="Text Box 7"/>
            <p:cNvSpPr txBox="1"/>
            <p:nvPr/>
          </p:nvSpPr>
          <p:spPr>
            <a:xfrm>
              <a:off x="2814" y="1707"/>
              <a:ext cx="573" cy="288"/>
            </a:xfrm>
            <a:prstGeom prst="rect">
              <a:avLst/>
            </a:prstGeom>
            <a:noFill/>
            <a:ln w="9525">
              <a:noFill/>
            </a:ln>
          </p:spPr>
          <p:txBody>
            <a:bodyPr wrap="none" anchor="ctr" anchorCtr="0">
              <a:spAutoFit/>
            </a:bodyPr>
            <a:p>
              <a:pPr algn="ctr"/>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a:t>
              </a:r>
              <a:r>
                <a:rPr lang="en-US" altLang="zh-CN" b="0" dirty="0">
                  <a:solidFill>
                    <a:srgbClr val="FF0000"/>
                  </a:solidFill>
                  <a:latin typeface="Times New Roman" panose="02020503050405090304" pitchFamily="18" charset="0"/>
                  <a:sym typeface="Symbol" panose="05050102010706020507" pitchFamily="18" charset="2"/>
                </a:rPr>
                <a:t>m</a:t>
              </a:r>
              <a:r>
                <a:rPr lang="en-US" altLang="zh-CN" b="0" i="0" dirty="0">
                  <a:solidFill>
                    <a:srgbClr val="FF0000"/>
                  </a:solidFill>
                  <a:latin typeface="Times New Roman" panose="02020503050405090304" pitchFamily="18" charset="0"/>
                  <a:sym typeface="Symbol" panose="05050102010706020507" pitchFamily="18" charset="2"/>
                </a:rPr>
                <a:t>)·</a:t>
              </a:r>
              <a:endParaRPr lang="en-US" altLang="zh-CN" b="0" i="0" dirty="0">
                <a:solidFill>
                  <a:srgbClr val="FF0000"/>
                </a:solidFill>
                <a:latin typeface="Times New Roman" panose="02020503050405090304" pitchFamily="18" charset="0"/>
              </a:endParaRPr>
            </a:p>
          </p:txBody>
        </p:sp>
      </p:grpSp>
      <p:grpSp>
        <p:nvGrpSpPr>
          <p:cNvPr id="3" name="Group 8"/>
          <p:cNvGrpSpPr/>
          <p:nvPr/>
        </p:nvGrpSpPr>
        <p:grpSpPr>
          <a:xfrm>
            <a:off x="4778375" y="2630805"/>
            <a:ext cx="1201738" cy="533400"/>
            <a:chOff x="2784" y="2064"/>
            <a:chExt cx="757" cy="336"/>
          </a:xfrm>
        </p:grpSpPr>
        <p:sp>
          <p:nvSpPr>
            <p:cNvPr id="20500" name="AutoShape 9"/>
            <p:cNvSpPr/>
            <p:nvPr/>
          </p:nvSpPr>
          <p:spPr>
            <a:xfrm>
              <a:off x="2784" y="2064"/>
              <a:ext cx="192" cy="336"/>
            </a:xfrm>
            <a:prstGeom prst="rightBrace">
              <a:avLst>
                <a:gd name="adj1" fmla="val 14575"/>
                <a:gd name="adj2" fmla="val 50000"/>
              </a:avLst>
            </a:prstGeom>
            <a:noFill/>
            <a:ln w="9525"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0501" name="Text Box 10"/>
            <p:cNvSpPr txBox="1"/>
            <p:nvPr/>
          </p:nvSpPr>
          <p:spPr>
            <a:xfrm>
              <a:off x="2947" y="2091"/>
              <a:ext cx="594" cy="288"/>
            </a:xfrm>
            <a:prstGeom prst="rect">
              <a:avLst/>
            </a:prstGeom>
            <a:noFill/>
            <a:ln w="9525">
              <a:noFill/>
            </a:ln>
          </p:spPr>
          <p:txBody>
            <a:bodyPr wrap="none" anchor="ctr" anchorCtr="0">
              <a:spAutoFit/>
            </a:bodyPr>
            <a:p>
              <a:pPr algn="ctr"/>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a:t>
              </a:r>
              <a:r>
                <a:rPr lang="en-US" altLang="zh-CN" b="0" dirty="0">
                  <a:solidFill>
                    <a:srgbClr val="FF0000"/>
                  </a:solidFill>
                  <a:latin typeface="Times New Roman" panose="02020503050405090304" pitchFamily="18" charset="0"/>
                  <a:sym typeface="Symbol" panose="05050102010706020507" pitchFamily="18" charset="2"/>
                </a:rPr>
                <a:t>n</a:t>
              </a:r>
              <a:r>
                <a:rPr lang="en-US" altLang="zh-CN" b="0" i="0" dirty="0">
                  <a:solidFill>
                    <a:srgbClr val="FF0000"/>
                  </a:solidFill>
                  <a:latin typeface="Times New Roman" panose="02020503050405090304" pitchFamily="18" charset="0"/>
                  <a:sym typeface="Symbol" panose="05050102010706020507" pitchFamily="18" charset="2"/>
                </a:rPr>
                <a:t>)·(</a:t>
              </a:r>
              <a:endParaRPr lang="en-US" altLang="zh-CN" b="0" i="0" dirty="0">
                <a:solidFill>
                  <a:srgbClr val="FF0000"/>
                </a:solidFill>
                <a:latin typeface="Times New Roman" panose="02020503050405090304" pitchFamily="18" charset="0"/>
              </a:endParaRPr>
            </a:p>
          </p:txBody>
        </p:sp>
      </p:grpSp>
      <p:grpSp>
        <p:nvGrpSpPr>
          <p:cNvPr id="4" name="Group 11"/>
          <p:cNvGrpSpPr/>
          <p:nvPr/>
        </p:nvGrpSpPr>
        <p:grpSpPr>
          <a:xfrm>
            <a:off x="5159375" y="3164205"/>
            <a:ext cx="1198563" cy="533400"/>
            <a:chOff x="3024" y="2400"/>
            <a:chExt cx="755" cy="336"/>
          </a:xfrm>
        </p:grpSpPr>
        <p:sp>
          <p:nvSpPr>
            <p:cNvPr id="20498" name="AutoShape 12"/>
            <p:cNvSpPr/>
            <p:nvPr/>
          </p:nvSpPr>
          <p:spPr>
            <a:xfrm>
              <a:off x="3024" y="2400"/>
              <a:ext cx="192" cy="336"/>
            </a:xfrm>
            <a:prstGeom prst="rightBrace">
              <a:avLst>
                <a:gd name="adj1" fmla="val 14575"/>
                <a:gd name="adj2" fmla="val 50000"/>
              </a:avLst>
            </a:prstGeom>
            <a:noFill/>
            <a:ln w="9525"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0499" name="Text Box 13"/>
            <p:cNvSpPr txBox="1"/>
            <p:nvPr/>
          </p:nvSpPr>
          <p:spPr>
            <a:xfrm>
              <a:off x="3189" y="2427"/>
              <a:ext cx="590" cy="288"/>
            </a:xfrm>
            <a:prstGeom prst="rect">
              <a:avLst/>
            </a:prstGeom>
            <a:noFill/>
            <a:ln w="9525">
              <a:noFill/>
            </a:ln>
          </p:spPr>
          <p:txBody>
            <a:bodyPr wrap="none" anchor="ctr" anchorCtr="0">
              <a:spAutoFit/>
            </a:bodyPr>
            <a:p>
              <a:pPr algn="ctr"/>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(1)+</a:t>
              </a:r>
              <a:endParaRPr lang="en-US" altLang="zh-CN" b="0" i="0" dirty="0">
                <a:solidFill>
                  <a:srgbClr val="FF0000"/>
                </a:solidFill>
                <a:latin typeface="Times New Roman" panose="02020503050405090304" pitchFamily="18" charset="0"/>
              </a:endParaRPr>
            </a:p>
          </p:txBody>
        </p:sp>
      </p:grpSp>
      <p:grpSp>
        <p:nvGrpSpPr>
          <p:cNvPr id="5" name="Group 14"/>
          <p:cNvGrpSpPr/>
          <p:nvPr/>
        </p:nvGrpSpPr>
        <p:grpSpPr>
          <a:xfrm>
            <a:off x="5540375" y="3773805"/>
            <a:ext cx="1179513" cy="533400"/>
            <a:chOff x="3264" y="2784"/>
            <a:chExt cx="743" cy="336"/>
          </a:xfrm>
        </p:grpSpPr>
        <p:sp>
          <p:nvSpPr>
            <p:cNvPr id="20496" name="AutoShape 15"/>
            <p:cNvSpPr/>
            <p:nvPr/>
          </p:nvSpPr>
          <p:spPr>
            <a:xfrm>
              <a:off x="3264" y="2784"/>
              <a:ext cx="192" cy="336"/>
            </a:xfrm>
            <a:prstGeom prst="rightBrace">
              <a:avLst>
                <a:gd name="adj1" fmla="val 14575"/>
                <a:gd name="adj2" fmla="val 50000"/>
              </a:avLst>
            </a:prstGeom>
            <a:noFill/>
            <a:ln w="9525"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0497" name="Text Box 16"/>
            <p:cNvSpPr txBox="1"/>
            <p:nvPr/>
          </p:nvSpPr>
          <p:spPr>
            <a:xfrm>
              <a:off x="3440" y="2811"/>
              <a:ext cx="567" cy="288"/>
            </a:xfrm>
            <a:prstGeom prst="rect">
              <a:avLst/>
            </a:prstGeom>
            <a:noFill/>
            <a:ln w="9525">
              <a:noFill/>
            </a:ln>
          </p:spPr>
          <p:txBody>
            <a:bodyPr wrap="none" anchor="ctr" anchorCtr="0">
              <a:spAutoFit/>
            </a:bodyPr>
            <a:p>
              <a:pPr algn="ctr"/>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a:t>
              </a:r>
              <a:r>
                <a:rPr lang="en-US" altLang="zh-CN" b="0" dirty="0">
                  <a:solidFill>
                    <a:srgbClr val="FF0000"/>
                  </a:solidFill>
                  <a:latin typeface="Times New Roman" panose="02020503050405090304" pitchFamily="18" charset="0"/>
                  <a:sym typeface="Symbol" panose="05050102010706020507" pitchFamily="18" charset="2"/>
                </a:rPr>
                <a:t>k</a:t>
              </a:r>
              <a:r>
                <a:rPr lang="en-US" altLang="zh-CN" b="0" i="0" dirty="0">
                  <a:solidFill>
                    <a:srgbClr val="FF0000"/>
                  </a:solidFill>
                  <a:latin typeface="Times New Roman" panose="02020503050405090304" pitchFamily="18" charset="0"/>
                  <a:sym typeface="Symbol" panose="05050102010706020507" pitchFamily="18" charset="2"/>
                </a:rPr>
                <a:t>) ·</a:t>
              </a:r>
              <a:endParaRPr lang="en-US" altLang="zh-CN" b="0" i="0" dirty="0">
                <a:solidFill>
                  <a:srgbClr val="FF0000"/>
                </a:solidFill>
                <a:latin typeface="Times New Roman" panose="02020503050405090304" pitchFamily="18" charset="0"/>
                <a:sym typeface="Symbol" panose="05050102010706020507" pitchFamily="18" charset="2"/>
              </a:endParaRPr>
            </a:p>
          </p:txBody>
        </p:sp>
      </p:grpSp>
      <p:grpSp>
        <p:nvGrpSpPr>
          <p:cNvPr id="6" name="Group 17"/>
          <p:cNvGrpSpPr/>
          <p:nvPr/>
        </p:nvGrpSpPr>
        <p:grpSpPr>
          <a:xfrm>
            <a:off x="5845175" y="4307205"/>
            <a:ext cx="1163638" cy="533400"/>
            <a:chOff x="3456" y="3120"/>
            <a:chExt cx="733" cy="336"/>
          </a:xfrm>
        </p:grpSpPr>
        <p:sp>
          <p:nvSpPr>
            <p:cNvPr id="20494" name="AutoShape 18"/>
            <p:cNvSpPr/>
            <p:nvPr/>
          </p:nvSpPr>
          <p:spPr>
            <a:xfrm>
              <a:off x="3456" y="3120"/>
              <a:ext cx="192" cy="336"/>
            </a:xfrm>
            <a:prstGeom prst="rightBrace">
              <a:avLst>
                <a:gd name="adj1" fmla="val 14575"/>
                <a:gd name="adj2" fmla="val 50000"/>
              </a:avLst>
            </a:prstGeom>
            <a:noFill/>
            <a:ln w="9525"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0495" name="Text Box 19"/>
            <p:cNvSpPr txBox="1"/>
            <p:nvPr/>
          </p:nvSpPr>
          <p:spPr>
            <a:xfrm>
              <a:off x="3643" y="3147"/>
              <a:ext cx="546" cy="288"/>
            </a:xfrm>
            <a:prstGeom prst="rect">
              <a:avLst/>
            </a:prstGeom>
            <a:noFill/>
            <a:ln w="9525">
              <a:noFill/>
            </a:ln>
          </p:spPr>
          <p:txBody>
            <a:bodyPr wrap="none" anchor="ctr" anchorCtr="0">
              <a:spAutoFit/>
            </a:bodyPr>
            <a:p>
              <a:pPr algn="ctr"/>
              <a:r>
                <a:rPr lang="zh-CN" altLang="en-US" b="0" i="0" dirty="0">
                  <a:solidFill>
                    <a:srgbClr val="FF0000"/>
                  </a:solidFill>
                  <a:latin typeface="Times New Roman" panose="02020503050405090304" pitchFamily="18" charset="0"/>
                  <a:sym typeface="Symbol" panose="05050102010706020507" pitchFamily="18" charset="2"/>
                </a:rPr>
                <a:t></a:t>
              </a:r>
              <a:r>
                <a:rPr lang="en-US" altLang="zh-CN" b="0" i="0" dirty="0">
                  <a:solidFill>
                    <a:srgbClr val="FF0000"/>
                  </a:solidFill>
                  <a:latin typeface="Times New Roman" panose="02020503050405090304" pitchFamily="18" charset="0"/>
                  <a:sym typeface="Symbol" panose="05050102010706020507" pitchFamily="18" charset="2"/>
                </a:rPr>
                <a:t>(1))</a:t>
              </a:r>
              <a:endParaRPr lang="en-US" altLang="zh-CN" b="0" i="0" dirty="0">
                <a:solidFill>
                  <a:srgbClr val="FF0000"/>
                </a:solidFill>
                <a:latin typeface="Times New Roman" panose="02020503050405090304" pitchFamily="18" charset="0"/>
                <a:sym typeface="Symbol" panose="05050102010706020507" pitchFamily="18" charset="2"/>
              </a:endParaRPr>
            </a:p>
          </p:txBody>
        </p:sp>
      </p:grpSp>
      <p:sp>
        <p:nvSpPr>
          <p:cNvPr id="699412" name="Text Box 20"/>
          <p:cNvSpPr txBox="1"/>
          <p:nvPr/>
        </p:nvSpPr>
        <p:spPr>
          <a:xfrm>
            <a:off x="6867525" y="3057843"/>
            <a:ext cx="1227138" cy="831850"/>
          </a:xfrm>
          <a:prstGeom prst="rect">
            <a:avLst/>
          </a:prstGeom>
          <a:noFill/>
          <a:ln w="9525" cap="flat" cmpd="sng">
            <a:solidFill>
              <a:srgbClr val="003300"/>
            </a:solidFill>
            <a:prstDash val="solid"/>
            <a:miter/>
            <a:headEnd type="none" w="med" len="med"/>
            <a:tailEnd type="none" w="med" len="med"/>
          </a:ln>
        </p:spPr>
        <p:txBody>
          <a:bodyPr wrap="none" anchor="ctr" anchorCtr="0">
            <a:spAutoFit/>
          </a:bodyPr>
          <a:p>
            <a:pPr algn="ctr">
              <a:spcBef>
                <a:spcPct val="50000"/>
              </a:spcBef>
            </a:pPr>
            <a:r>
              <a:rPr lang="en-US" altLang="zh-CN" b="0" i="0" dirty="0">
                <a:solidFill>
                  <a:srgbClr val="006600"/>
                </a:solidFill>
                <a:latin typeface="Times New Roman" panose="02020503050405090304" pitchFamily="18" charset="0"/>
                <a:sym typeface="Symbol" panose="05050102010706020507" pitchFamily="18" charset="2"/>
              </a:rPr>
              <a:t>Answer:</a:t>
            </a:r>
            <a:br>
              <a:rPr lang="en-US" altLang="zh-CN" b="0" i="0" dirty="0">
                <a:solidFill>
                  <a:srgbClr val="006600"/>
                </a:solidFill>
                <a:latin typeface="Times New Roman" panose="02020503050405090304" pitchFamily="18" charset="0"/>
                <a:sym typeface="Symbol" panose="05050102010706020507" pitchFamily="18" charset="2"/>
              </a:rPr>
            </a:br>
            <a:r>
              <a:rPr lang="en-US" altLang="zh-CN" b="0" i="0" dirty="0">
                <a:solidFill>
                  <a:srgbClr val="006600"/>
                </a:solidFill>
                <a:latin typeface="Times New Roman" panose="02020503050405090304" pitchFamily="18" charset="0"/>
                <a:sym typeface="Symbol" panose="05050102010706020507" pitchFamily="18" charset="2"/>
              </a:rPr>
              <a:t>(</a:t>
            </a:r>
            <a:r>
              <a:rPr lang="en-US" altLang="zh-CN" b="0" dirty="0">
                <a:solidFill>
                  <a:srgbClr val="006600"/>
                </a:solidFill>
                <a:latin typeface="Times New Roman" panose="02020503050405090304" pitchFamily="18" charset="0"/>
                <a:sym typeface="Symbol" panose="05050102010706020507" pitchFamily="18" charset="2"/>
              </a:rPr>
              <a:t>mnk</a:t>
            </a:r>
            <a:r>
              <a:rPr lang="en-US" altLang="zh-CN" b="0" i="0" dirty="0">
                <a:solidFill>
                  <a:srgbClr val="006600"/>
                </a:solidFill>
                <a:latin typeface="Times New Roman" panose="02020503050405090304" pitchFamily="18" charset="0"/>
                <a:sym typeface="Symbol" panose="05050102010706020507" pitchFamily="18" charset="2"/>
              </a:rPr>
              <a:t>)</a:t>
            </a:r>
            <a:endParaRPr lang="en-US" altLang="zh-CN" b="0" i="0" dirty="0">
              <a:solidFill>
                <a:srgbClr val="006600"/>
              </a:solidFill>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699412"/>
                                        </p:tgtEl>
                                        <p:attrNameLst>
                                          <p:attrName>style.visibility</p:attrName>
                                        </p:attrNameLst>
                                      </p:cBhvr>
                                      <p:to>
                                        <p:strVal val="visible"/>
                                      </p:to>
                                    </p:set>
                                    <p:anim calcmode="lin" valueType="num">
                                      <p:cBhvr>
                                        <p:cTn id="37" dur="500" fill="hold"/>
                                        <p:tgtEl>
                                          <p:spTgt spid="699412"/>
                                        </p:tgtEl>
                                        <p:attrNameLst>
                                          <p:attrName>ppt_w</p:attrName>
                                        </p:attrNameLst>
                                      </p:cBhvr>
                                      <p:tavLst>
                                        <p:tav tm="0">
                                          <p:val>
                                            <p:strVal val="4*#ppt_w"/>
                                          </p:val>
                                        </p:tav>
                                        <p:tav tm="100000">
                                          <p:val>
                                            <p:strVal val="#ppt_w"/>
                                          </p:val>
                                        </p:tav>
                                      </p:tavLst>
                                    </p:anim>
                                    <p:anim calcmode="lin" valueType="num">
                                      <p:cBhvr>
                                        <p:cTn id="38" dur="500" fill="hold"/>
                                        <p:tgtEl>
                                          <p:spTgt spid="699412"/>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412"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150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150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150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Powers of Matrices</a:t>
            </a:r>
            <a:endParaRPr lang="en-US" altLang="zh-CN" dirty="0">
              <a:latin typeface="Times New Roman" panose="02020503050405090304" pitchFamily="18" charset="0"/>
            </a:endParaRPr>
          </a:p>
        </p:txBody>
      </p:sp>
      <p:sp>
        <p:nvSpPr>
          <p:cNvPr id="21510" name="Rectangle 3"/>
          <p:cNvSpPr>
            <a:spLocks noGrp="1"/>
          </p:cNvSpPr>
          <p:nvPr>
            <p:ph idx="1"/>
          </p:nvPr>
        </p:nvSpPr>
        <p:spPr/>
        <p:txBody>
          <a:bodyPr vert="horz" wrap="square" lIns="91440" tIns="45720" rIns="91440" bIns="45720" anchor="t" anchorCtr="0"/>
          <a:p>
            <a:pPr eaLnBrk="1" hangingPunct="1">
              <a:buNone/>
            </a:pPr>
            <a:r>
              <a:rPr lang="en-US" altLang="zh-CN" dirty="0">
                <a:latin typeface="Times New Roman" panose="02020503050405090304" pitchFamily="18" charset="0"/>
              </a:rPr>
              <a:t>If </a:t>
            </a:r>
            <a:r>
              <a:rPr lang="en-US" altLang="zh-CN" b="1" dirty="0">
                <a:latin typeface="Times New Roman" panose="02020503050405090304" pitchFamily="18" charset="0"/>
              </a:rPr>
              <a:t>A</a:t>
            </a:r>
            <a:r>
              <a:rPr lang="en-US" altLang="zh-CN" dirty="0">
                <a:latin typeface="Times New Roman" panose="02020503050405090304" pitchFamily="18" charset="0"/>
              </a:rPr>
              <a:t> is an </a:t>
            </a:r>
            <a:r>
              <a:rPr lang="en-US" altLang="zh-CN" i="1" dirty="0">
                <a:latin typeface="Times New Roman" panose="02020503050405090304" pitchFamily="18" charset="0"/>
              </a:rPr>
              <a:t>n</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square matrix and </a:t>
            </a:r>
            <a:r>
              <a:rPr lang="en-US" altLang="zh-CN" i="1" dirty="0">
                <a:latin typeface="Times New Roman" panose="02020503050405090304" pitchFamily="18" charset="0"/>
                <a:sym typeface="Symbol" panose="05050102010706020507" pitchFamily="18" charset="2"/>
              </a:rPr>
              <a:t>p</a:t>
            </a:r>
            <a:r>
              <a:rPr lang="en-US" altLang="zh-CN" dirty="0">
                <a:latin typeface="Times New Roman" panose="02020503050405090304" pitchFamily="18" charset="0"/>
                <a:sym typeface="Symbol" panose="05050102010706020507" pitchFamily="18" charset="2"/>
              </a:rPr>
              <a:t>0, then:</a:t>
            </a:r>
            <a:endParaRPr lang="en-US" altLang="zh-CN" dirty="0">
              <a:latin typeface="Times New Roman" panose="02020503050405090304" pitchFamily="18" charset="0"/>
              <a:sym typeface="Symbol" panose="05050102010706020507" pitchFamily="18" charset="2"/>
            </a:endParaRPr>
          </a:p>
          <a:p>
            <a:pPr eaLnBrk="1" hangingPunct="1"/>
            <a:r>
              <a:rPr lang="en-US" altLang="zh-CN" b="1" dirty="0">
                <a:solidFill>
                  <a:srgbClr val="FF0000"/>
                </a:solidFill>
                <a:latin typeface="Times New Roman" panose="02020503050405090304" pitchFamily="18" charset="0"/>
                <a:sym typeface="Symbol" panose="05050102010706020507" pitchFamily="18" charset="2"/>
              </a:rPr>
              <a:t>A</a:t>
            </a:r>
            <a:r>
              <a:rPr lang="en-US" altLang="zh-CN" i="1" baseline="30000" dirty="0">
                <a:solidFill>
                  <a:srgbClr val="FF0000"/>
                </a:solidFill>
                <a:latin typeface="Times New Roman" panose="02020503050405090304" pitchFamily="18" charset="0"/>
                <a:sym typeface="Symbol" panose="05050102010706020507" pitchFamily="18" charset="2"/>
              </a:rPr>
              <a:t>p</a:t>
            </a:r>
            <a:r>
              <a:rPr lang="en-US" altLang="zh-CN" dirty="0">
                <a:solidFill>
                  <a:srgbClr val="FF0000"/>
                </a:solidFill>
                <a:latin typeface="Times New Roman" panose="02020503050405090304" pitchFamily="18" charset="0"/>
                <a:sym typeface="Symbol" panose="05050102010706020507" pitchFamily="18" charset="2"/>
              </a:rPr>
              <a:t> : </a:t>
            </a:r>
            <a:r>
              <a:rPr lang="en-US" altLang="zh-CN" b="1" dirty="0">
                <a:solidFill>
                  <a:srgbClr val="FF0000"/>
                </a:solidFill>
                <a:latin typeface="Times New Roman" panose="02020503050405090304" pitchFamily="18" charset="0"/>
                <a:sym typeface="Symbol" panose="05050102010706020507" pitchFamily="18" charset="2"/>
              </a:rPr>
              <a:t>AAA···A    </a:t>
            </a:r>
            <a:r>
              <a:rPr lang="en-US" altLang="zh-CN" dirty="0">
                <a:latin typeface="Times New Roman" panose="02020503050405090304" pitchFamily="18" charset="0"/>
                <a:sym typeface="Symbol" panose="05050102010706020507" pitchFamily="18" charset="2"/>
              </a:rPr>
              <a:t>(and </a:t>
            </a:r>
            <a:r>
              <a:rPr lang="en-US" altLang="zh-CN" b="1" dirty="0">
                <a:solidFill>
                  <a:srgbClr val="FF0000"/>
                </a:solidFill>
                <a:latin typeface="Times New Roman" panose="02020503050405090304" pitchFamily="18" charset="0"/>
                <a:sym typeface="Symbol" panose="05050102010706020507" pitchFamily="18" charset="2"/>
              </a:rPr>
              <a:t>A</a:t>
            </a:r>
            <a:r>
              <a:rPr lang="en-US" altLang="zh-CN" baseline="30000" dirty="0">
                <a:solidFill>
                  <a:srgbClr val="FF0000"/>
                </a:solidFill>
                <a:latin typeface="Times New Roman" panose="02020503050405090304" pitchFamily="18" charset="0"/>
                <a:sym typeface="Symbol" panose="05050102010706020507" pitchFamily="18" charset="2"/>
              </a:rPr>
              <a:t>0</a:t>
            </a:r>
            <a:r>
              <a:rPr lang="en-US" altLang="zh-CN" dirty="0">
                <a:solidFill>
                  <a:srgbClr val="FF0000"/>
                </a:solidFill>
                <a:latin typeface="Times New Roman" panose="02020503050405090304" pitchFamily="18" charset="0"/>
                <a:sym typeface="Symbol" panose="05050102010706020507" pitchFamily="18" charset="2"/>
              </a:rPr>
              <a:t> : </a:t>
            </a:r>
            <a:r>
              <a:rPr lang="en-US" altLang="zh-CN" b="1" dirty="0">
                <a:solidFill>
                  <a:srgbClr val="FF0000"/>
                </a:solidFill>
                <a:latin typeface="Times New Roman" panose="02020503050405090304" pitchFamily="18" charset="0"/>
                <a:sym typeface="Symbol" panose="05050102010706020507" pitchFamily="18" charset="2"/>
              </a:rPr>
              <a:t>I</a:t>
            </a:r>
            <a:r>
              <a:rPr lang="en-US" altLang="zh-CN" i="1" baseline="-25000" dirty="0">
                <a:solidFill>
                  <a:srgbClr val="FF0000"/>
                </a:solidFill>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a:p>
            <a:pPr eaLnBrk="1" hangingPunct="1"/>
            <a:endParaRPr lang="en-US" altLang="zh-CN" dirty="0">
              <a:latin typeface="Times New Roman" panose="02020503050405090304" pitchFamily="18" charset="0"/>
              <a:sym typeface="Symbol" panose="05050102010706020507" pitchFamily="18" charset="2"/>
            </a:endParaRPr>
          </a:p>
          <a:p>
            <a:pPr eaLnBrk="1" hangingPunct="1"/>
            <a:endParaRPr lang="en-US" altLang="zh-CN" dirty="0">
              <a:latin typeface="Times New Roman" panose="02020503050405090304" pitchFamily="18" charset="0"/>
              <a:sym typeface="Symbol" panose="05050102010706020507" pitchFamily="18" charset="2"/>
            </a:endParaRPr>
          </a:p>
          <a:p>
            <a:pPr eaLnBrk="1" hangingPunct="1"/>
            <a:r>
              <a:rPr lang="en-US" altLang="zh-CN" dirty="0">
                <a:latin typeface="Times New Roman" panose="02020503050405090304" pitchFamily="18" charset="0"/>
                <a:sym typeface="Symbol" panose="05050102010706020507" pitchFamily="18" charset="2"/>
              </a:rPr>
              <a:t>Example:</a:t>
            </a:r>
            <a:endParaRPr lang="en-US" altLang="zh-CN" dirty="0">
              <a:latin typeface="Times New Roman" panose="02020503050405090304" pitchFamily="18" charset="0"/>
              <a:sym typeface="Symbol" panose="05050102010706020507" pitchFamily="18" charset="2"/>
            </a:endParaRPr>
          </a:p>
        </p:txBody>
      </p:sp>
      <p:sp>
        <p:nvSpPr>
          <p:cNvPr id="21511" name="AutoShape 4"/>
          <p:cNvSpPr/>
          <p:nvPr/>
        </p:nvSpPr>
        <p:spPr>
          <a:xfrm rot="5400000">
            <a:off x="2705100" y="2447925"/>
            <a:ext cx="304800" cy="1600200"/>
          </a:xfrm>
          <a:prstGeom prst="rightBrace">
            <a:avLst>
              <a:gd name="adj1" fmla="val 43750"/>
              <a:gd name="adj2" fmla="val 50000"/>
            </a:avLst>
          </a:prstGeom>
          <a:noFill/>
          <a:ln w="19050"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1512" name="Text Box 5"/>
          <p:cNvSpPr txBox="1"/>
          <p:nvPr/>
        </p:nvSpPr>
        <p:spPr>
          <a:xfrm>
            <a:off x="2362200" y="3324225"/>
            <a:ext cx="1071563" cy="457200"/>
          </a:xfrm>
          <a:prstGeom prst="rect">
            <a:avLst/>
          </a:prstGeom>
          <a:noFill/>
          <a:ln w="9525">
            <a:noFill/>
          </a:ln>
        </p:spPr>
        <p:txBody>
          <a:bodyPr wrap="none" anchor="ctr" anchorCtr="0">
            <a:spAutoFit/>
          </a:bodyPr>
          <a:p>
            <a:pPr algn="ctr">
              <a:spcBef>
                <a:spcPct val="50000"/>
              </a:spcBef>
            </a:pPr>
            <a:r>
              <a:rPr lang="en-US" altLang="zh-CN" b="0" dirty="0">
                <a:solidFill>
                  <a:srgbClr val="FF0000"/>
                </a:solidFill>
                <a:latin typeface="Times New Roman" panose="02020503050405090304" pitchFamily="18" charset="0"/>
              </a:rPr>
              <a:t>p</a:t>
            </a:r>
            <a:r>
              <a:rPr lang="en-US" altLang="zh-CN" b="0" i="0" dirty="0">
                <a:solidFill>
                  <a:srgbClr val="FF0000"/>
                </a:solidFill>
                <a:latin typeface="Times New Roman" panose="02020503050405090304" pitchFamily="18" charset="0"/>
              </a:rPr>
              <a:t> times</a:t>
            </a:r>
            <a:endParaRPr lang="en-US" altLang="zh-CN" b="0" dirty="0">
              <a:solidFill>
                <a:srgbClr val="FF0000"/>
              </a:solidFill>
              <a:latin typeface="Times New Roman" panose="02020503050405090304" pitchFamily="18" charset="0"/>
            </a:endParaRPr>
          </a:p>
        </p:txBody>
      </p:sp>
      <p:graphicFrame>
        <p:nvGraphicFramePr>
          <p:cNvPr id="21513" name="Object 6"/>
          <p:cNvGraphicFramePr>
            <a:graphicFrameLocks noChangeAspect="1"/>
          </p:cNvGraphicFramePr>
          <p:nvPr/>
        </p:nvGraphicFramePr>
        <p:xfrm>
          <a:off x="3886200" y="3276600"/>
          <a:ext cx="4419600" cy="2662238"/>
        </p:xfrm>
        <a:graphic>
          <a:graphicData uri="http://schemas.openxmlformats.org/presentationml/2006/ole">
            <mc:AlternateContent xmlns:mc="http://schemas.openxmlformats.org/markup-compatibility/2006">
              <mc:Choice xmlns:v="urn:schemas-microsoft-com:vml" Requires="v">
                <p:oleObj spid="_x0000_s3081" name="" r:id="rId1" imgW="2425700" imgH="1460500" progId="Equation.3">
                  <p:embed/>
                </p:oleObj>
              </mc:Choice>
              <mc:Fallback>
                <p:oleObj name="" r:id="rId1" imgW="2425700" imgH="1460500" progId="Equation.3">
                  <p:embed/>
                  <p:pic>
                    <p:nvPicPr>
                      <p:cNvPr id="0" name="图片 3080"/>
                      <p:cNvPicPr/>
                      <p:nvPr/>
                    </p:nvPicPr>
                    <p:blipFill>
                      <a:blip r:embed="rId2"/>
                      <a:stretch>
                        <a:fillRect/>
                      </a:stretch>
                    </p:blipFill>
                    <p:spPr>
                      <a:xfrm>
                        <a:off x="3886200" y="3276600"/>
                        <a:ext cx="4419600" cy="2662238"/>
                      </a:xfrm>
                      <a:prstGeom prst="rect">
                        <a:avLst/>
                      </a:prstGeom>
                      <a:noFill/>
                      <a:ln w="38100">
                        <a:noFill/>
                        <a:miter/>
                      </a:ln>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253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253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2533" name="Rectangle 2"/>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If </a:t>
            </a:r>
            <a:r>
              <a:rPr lang="en-US" altLang="zh-CN" b="1" dirty="0">
                <a:solidFill>
                  <a:srgbClr val="FF0000"/>
                </a:solidFill>
                <a:latin typeface="Times New Roman" panose="02020503050405090304" pitchFamily="18" charset="0"/>
              </a:rPr>
              <a:t>A</a:t>
            </a:r>
            <a:r>
              <a:rPr lang="en-US" altLang="zh-CN" dirty="0">
                <a:solidFill>
                  <a:srgbClr val="FF0000"/>
                </a:solidFill>
                <a:latin typeface="Times New Roman" panose="02020503050405090304" pitchFamily="18" charset="0"/>
              </a:rPr>
              <a:t>=[</a:t>
            </a:r>
            <a:r>
              <a:rPr lang="en-US" altLang="zh-CN" i="1" dirty="0">
                <a:solidFill>
                  <a:srgbClr val="FF0000"/>
                </a:solidFill>
                <a:latin typeface="Times New Roman" panose="02020503050405090304" pitchFamily="18" charset="0"/>
              </a:rPr>
              <a:t>a</a:t>
            </a:r>
            <a:r>
              <a:rPr lang="en-US" altLang="zh-CN" i="1" baseline="-25000" dirty="0">
                <a:solidFill>
                  <a:srgbClr val="FF0000"/>
                </a:solidFill>
                <a:latin typeface="Times New Roman" panose="02020503050405090304" pitchFamily="18" charset="0"/>
              </a:rPr>
              <a:t>ij</a:t>
            </a:r>
            <a:r>
              <a:rPr lang="en-US" altLang="zh-CN" dirty="0">
                <a:solidFill>
                  <a:srgbClr val="FF0000"/>
                </a:solidFill>
                <a:latin typeface="Times New Roman" panose="02020503050405090304" pitchFamily="18" charset="0"/>
              </a:rPr>
              <a:t>]</a:t>
            </a:r>
            <a:r>
              <a:rPr lang="en-US" altLang="zh-CN" dirty="0">
                <a:latin typeface="Times New Roman" panose="02020503050405090304" pitchFamily="18" charset="0"/>
              </a:rPr>
              <a:t> is an </a:t>
            </a:r>
            <a:r>
              <a:rPr lang="en-US" altLang="zh-CN" i="1" dirty="0">
                <a:solidFill>
                  <a:schemeClr val="folHlink"/>
                </a:solidFill>
                <a:latin typeface="Times New Roman" panose="02020503050405090304" pitchFamily="18" charset="0"/>
              </a:rPr>
              <a:t>m</a:t>
            </a:r>
            <a:r>
              <a:rPr lang="en-US" altLang="zh-CN" dirty="0">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matrix, the </a:t>
            </a:r>
            <a:r>
              <a:rPr lang="en-US" altLang="zh-CN" i="1" dirty="0">
                <a:latin typeface="Times New Roman" panose="02020503050405090304" pitchFamily="18" charset="0"/>
                <a:sym typeface="Symbol" panose="05050102010706020507" pitchFamily="18" charset="2"/>
              </a:rPr>
              <a:t>transpose</a:t>
            </a:r>
            <a:r>
              <a:rPr lang="en-US" altLang="zh-CN" dirty="0">
                <a:latin typeface="Times New Roman" panose="02020503050405090304" pitchFamily="18" charset="0"/>
                <a:sym typeface="Symbol" panose="05050102010706020507" pitchFamily="18" charset="2"/>
              </a:rPr>
              <a:t> of </a:t>
            </a:r>
            <a:r>
              <a:rPr lang="en-US" altLang="zh-CN" b="1" dirty="0">
                <a:latin typeface="Times New Roman" panose="02020503050405090304" pitchFamily="18" charset="0"/>
                <a:sym typeface="Symbol" panose="05050102010706020507" pitchFamily="18" charset="2"/>
              </a:rPr>
              <a:t>A</a:t>
            </a:r>
            <a:r>
              <a:rPr lang="en-US" altLang="zh-CN" dirty="0">
                <a:latin typeface="Times New Roman" panose="02020503050405090304" pitchFamily="18" charset="0"/>
                <a:sym typeface="Symbol" panose="05050102010706020507" pitchFamily="18" charset="2"/>
              </a:rPr>
              <a:t> (often written </a:t>
            </a:r>
            <a:r>
              <a:rPr lang="en-US" altLang="zh-CN" b="1" dirty="0">
                <a:latin typeface="Times New Roman" panose="02020503050405090304" pitchFamily="18" charset="0"/>
                <a:sym typeface="Symbol" panose="05050102010706020507" pitchFamily="18" charset="2"/>
              </a:rPr>
              <a:t>A</a:t>
            </a:r>
            <a:r>
              <a:rPr lang="en-US" altLang="zh-CN" baseline="30000" dirty="0">
                <a:latin typeface="Times New Roman" panose="02020503050405090304" pitchFamily="18" charset="0"/>
                <a:sym typeface="Symbol" panose="05050102010706020507" pitchFamily="18" charset="2"/>
              </a:rPr>
              <a:t>t</a:t>
            </a:r>
            <a:r>
              <a:rPr lang="en-US" altLang="zh-CN" dirty="0">
                <a:latin typeface="Times New Roman" panose="02020503050405090304" pitchFamily="18" charset="0"/>
                <a:sym typeface="Symbol" panose="05050102010706020507" pitchFamily="18" charset="2"/>
              </a:rPr>
              <a:t> or </a:t>
            </a:r>
            <a:r>
              <a:rPr lang="en-US" altLang="zh-CN" b="1" dirty="0">
                <a:latin typeface="Times New Roman" panose="02020503050405090304" pitchFamily="18" charset="0"/>
                <a:sym typeface="Symbol" panose="05050102010706020507" pitchFamily="18" charset="2"/>
              </a:rPr>
              <a:t>A</a:t>
            </a:r>
            <a:r>
              <a:rPr lang="en-US" altLang="zh-CN" baseline="30000" dirty="0">
                <a:latin typeface="Times New Roman" panose="02020503050405090304" pitchFamily="18" charset="0"/>
                <a:sym typeface="Symbol" panose="05050102010706020507" pitchFamily="18" charset="2"/>
              </a:rPr>
              <a:t>T</a:t>
            </a:r>
            <a:r>
              <a:rPr lang="en-US" altLang="zh-CN" dirty="0">
                <a:latin typeface="Times New Roman" panose="02020503050405090304" pitchFamily="18" charset="0"/>
                <a:sym typeface="Symbol" panose="05050102010706020507" pitchFamily="18" charset="2"/>
              </a:rPr>
              <a:t>) is the </a:t>
            </a:r>
            <a:r>
              <a:rPr lang="en-US" altLang="zh-CN" i="1" dirty="0">
                <a:solidFill>
                  <a:srgbClr val="006600"/>
                </a:solidFill>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a:t>
            </a:r>
            <a:r>
              <a:rPr lang="en-US" altLang="zh-CN" i="1" dirty="0">
                <a:solidFill>
                  <a:schemeClr val="folHlink"/>
                </a:solidFill>
                <a:latin typeface="Times New Roman" panose="02020503050405090304" pitchFamily="18" charset="0"/>
                <a:sym typeface="Symbol" panose="05050102010706020507" pitchFamily="18" charset="2"/>
              </a:rPr>
              <a:t>m</a:t>
            </a:r>
            <a:r>
              <a:rPr lang="en-US" altLang="zh-CN" dirty="0">
                <a:latin typeface="Times New Roman" panose="02020503050405090304" pitchFamily="18" charset="0"/>
                <a:sym typeface="Symbol" panose="05050102010706020507" pitchFamily="18" charset="2"/>
              </a:rPr>
              <a:t> matrix given by </a:t>
            </a:r>
            <a:r>
              <a:rPr lang="en-US" altLang="zh-CN" b="1" dirty="0">
                <a:solidFill>
                  <a:srgbClr val="FF0000"/>
                </a:solidFill>
                <a:latin typeface="Times New Roman" panose="02020503050405090304" pitchFamily="18" charset="0"/>
                <a:sym typeface="Symbol" panose="05050102010706020507" pitchFamily="18" charset="2"/>
              </a:rPr>
              <a:t>A</a:t>
            </a:r>
            <a:r>
              <a:rPr lang="en-US" altLang="zh-CN" baseline="30000" dirty="0">
                <a:solidFill>
                  <a:srgbClr val="FF0000"/>
                </a:solidFill>
                <a:latin typeface="Times New Roman" panose="02020503050405090304" pitchFamily="18" charset="0"/>
                <a:sym typeface="Symbol" panose="05050102010706020507" pitchFamily="18" charset="2"/>
              </a:rPr>
              <a:t>t </a:t>
            </a:r>
            <a:r>
              <a:rPr lang="en-US" altLang="zh-CN" dirty="0">
                <a:solidFill>
                  <a:srgbClr val="FF0000"/>
                </a:solidFill>
                <a:latin typeface="Times New Roman" panose="02020503050405090304" pitchFamily="18" charset="0"/>
                <a:sym typeface="Symbol" panose="05050102010706020507" pitchFamily="18" charset="2"/>
              </a:rPr>
              <a:t>= </a:t>
            </a:r>
            <a:r>
              <a:rPr lang="en-US" altLang="zh-CN" b="1" dirty="0">
                <a:solidFill>
                  <a:srgbClr val="FF0000"/>
                </a:solidFill>
                <a:latin typeface="Times New Roman" panose="02020503050405090304" pitchFamily="18" charset="0"/>
                <a:sym typeface="Symbol" panose="05050102010706020507" pitchFamily="18" charset="2"/>
              </a:rPr>
              <a:t>B</a:t>
            </a:r>
            <a:r>
              <a:rPr lang="en-US" altLang="zh-CN" dirty="0">
                <a:solidFill>
                  <a:srgbClr val="FF0000"/>
                </a:solidFill>
                <a:latin typeface="Times New Roman" panose="02020503050405090304" pitchFamily="18" charset="0"/>
                <a:sym typeface="Symbol" panose="05050102010706020507" pitchFamily="18" charset="2"/>
              </a:rPr>
              <a:t> = [</a:t>
            </a:r>
            <a:r>
              <a:rPr lang="en-US" altLang="zh-CN" i="1" dirty="0">
                <a:solidFill>
                  <a:srgbClr val="FF0000"/>
                </a:solidFill>
                <a:latin typeface="Times New Roman" panose="02020503050405090304" pitchFamily="18" charset="0"/>
              </a:rPr>
              <a:t>b</a:t>
            </a:r>
            <a:r>
              <a:rPr lang="en-US" altLang="zh-CN" i="1" baseline="-25000" dirty="0">
                <a:solidFill>
                  <a:srgbClr val="FF0000"/>
                </a:solidFill>
                <a:latin typeface="Times New Roman" panose="02020503050405090304" pitchFamily="18" charset="0"/>
              </a:rPr>
              <a:t>ij</a:t>
            </a:r>
            <a:r>
              <a:rPr lang="en-US" altLang="zh-CN" dirty="0">
                <a:solidFill>
                  <a:srgbClr val="FF0000"/>
                </a:solidFill>
                <a:latin typeface="Times New Roman" panose="02020503050405090304" pitchFamily="18" charset="0"/>
                <a:sym typeface="Symbol" panose="05050102010706020507" pitchFamily="18" charset="2"/>
              </a:rPr>
              <a:t>] = [</a:t>
            </a:r>
            <a:r>
              <a:rPr lang="en-US" altLang="zh-CN" i="1" dirty="0">
                <a:solidFill>
                  <a:srgbClr val="FF0000"/>
                </a:solidFill>
                <a:latin typeface="Times New Roman" panose="02020503050405090304" pitchFamily="18" charset="0"/>
              </a:rPr>
              <a:t>a</a:t>
            </a:r>
            <a:r>
              <a:rPr lang="en-US" altLang="zh-CN" i="1" baseline="-25000" dirty="0">
                <a:solidFill>
                  <a:srgbClr val="FF0000"/>
                </a:solidFill>
                <a:latin typeface="Times New Roman" panose="02020503050405090304" pitchFamily="18" charset="0"/>
              </a:rPr>
              <a:t>ji</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 (1</a:t>
            </a:r>
            <a:r>
              <a:rPr lang="en-US" altLang="zh-CN" i="1" dirty="0">
                <a:latin typeface="Times New Roman" panose="02020503050405090304" pitchFamily="18" charset="0"/>
                <a:sym typeface="Symbol" panose="05050102010706020507" pitchFamily="18" charset="2"/>
              </a:rPr>
              <a:t>i</a:t>
            </a:r>
            <a:r>
              <a:rPr lang="en-US" altLang="zh-CN" dirty="0">
                <a:latin typeface="Times New Roman" panose="02020503050405090304" pitchFamily="18" charset="0"/>
                <a:sym typeface="Symbol" panose="05050102010706020507" pitchFamily="18" charset="2"/>
              </a:rPr>
              <a:t></a:t>
            </a:r>
            <a:r>
              <a:rPr lang="en-US" altLang="zh-CN" i="1" dirty="0">
                <a:solidFill>
                  <a:srgbClr val="006600"/>
                </a:solidFill>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,1</a:t>
            </a:r>
            <a:r>
              <a:rPr lang="en-US" altLang="zh-CN" i="1" dirty="0">
                <a:latin typeface="Times New Roman" panose="02020503050405090304" pitchFamily="18" charset="0"/>
                <a:sym typeface="Symbol" panose="05050102010706020507" pitchFamily="18" charset="2"/>
              </a:rPr>
              <a:t>j</a:t>
            </a:r>
            <a:r>
              <a:rPr lang="en-US" altLang="zh-CN" dirty="0">
                <a:latin typeface="Times New Roman" panose="02020503050405090304" pitchFamily="18" charset="0"/>
                <a:sym typeface="Symbol" panose="05050102010706020507" pitchFamily="18" charset="2"/>
              </a:rPr>
              <a:t></a:t>
            </a:r>
            <a:r>
              <a:rPr lang="en-US" altLang="zh-CN" i="1" dirty="0">
                <a:solidFill>
                  <a:schemeClr val="folHlink"/>
                </a:solidFill>
                <a:latin typeface="Times New Roman" panose="02020503050405090304" pitchFamily="18" charset="0"/>
                <a:sym typeface="Symbol" panose="05050102010706020507" pitchFamily="18" charset="2"/>
              </a:rPr>
              <a:t>m</a:t>
            </a:r>
            <a:r>
              <a:rPr lang="en-US" altLang="zh-CN" dirty="0">
                <a:latin typeface="Times New Roman" panose="02020503050405090304" pitchFamily="18" charset="0"/>
                <a:sym typeface="Symbol" panose="05050102010706020507" pitchFamily="18" charset="2"/>
              </a:rPr>
              <a:t>)</a:t>
            </a:r>
            <a:endParaRPr lang="en-US" altLang="zh-CN" i="1" dirty="0">
              <a:latin typeface="Times New Roman" panose="02020503050405090304" pitchFamily="18" charset="0"/>
              <a:sym typeface="Symbol" panose="05050102010706020507" pitchFamily="18" charset="2"/>
            </a:endParaRPr>
          </a:p>
        </p:txBody>
      </p:sp>
      <p:grpSp>
        <p:nvGrpSpPr>
          <p:cNvPr id="2" name="Group 3"/>
          <p:cNvGrpSpPr/>
          <p:nvPr/>
        </p:nvGrpSpPr>
        <p:grpSpPr>
          <a:xfrm>
            <a:off x="2565400" y="4032250"/>
            <a:ext cx="796925" cy="1606550"/>
            <a:chOff x="1616" y="2540"/>
            <a:chExt cx="502" cy="1012"/>
          </a:xfrm>
        </p:grpSpPr>
        <p:sp>
          <p:nvSpPr>
            <p:cNvPr id="22540" name="AutoShape 4"/>
            <p:cNvSpPr/>
            <p:nvPr/>
          </p:nvSpPr>
          <p:spPr>
            <a:xfrm rot="-3226355">
              <a:off x="1539" y="2973"/>
              <a:ext cx="960" cy="198"/>
            </a:xfrm>
            <a:prstGeom prst="curvedUpArrow">
              <a:avLst>
                <a:gd name="adj1" fmla="val 96969"/>
                <a:gd name="adj2" fmla="val 193939"/>
                <a:gd name="adj3" fmla="val 33328"/>
              </a:avLst>
            </a:prstGeom>
            <a:solidFill>
              <a:srgbClr val="FFFFFF"/>
            </a:solidFill>
            <a:ln w="952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2541" name="AutoShape 5"/>
            <p:cNvSpPr/>
            <p:nvPr/>
          </p:nvSpPr>
          <p:spPr>
            <a:xfrm rot="2173645">
              <a:off x="1616" y="2540"/>
              <a:ext cx="240" cy="960"/>
            </a:xfrm>
            <a:prstGeom prst="curvedRightArrow">
              <a:avLst>
                <a:gd name="adj1" fmla="val 80000"/>
                <a:gd name="adj2" fmla="val 160000"/>
                <a:gd name="adj3" fmla="val 33328"/>
              </a:avLst>
            </a:prstGeom>
            <a:solidFill>
              <a:srgbClr val="FFFFFF"/>
            </a:solidFill>
            <a:ln w="9525" cap="flat" cmpd="sng">
              <a:solidFill>
                <a:srgbClr val="000000"/>
              </a:solidFill>
              <a:prstDash val="solid"/>
              <a:miter/>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grpSp>
      <p:sp>
        <p:nvSpPr>
          <p:cNvPr id="22535" name="Rectangle 6"/>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Matrix Transposition</a:t>
            </a:r>
            <a:endParaRPr lang="en-US" altLang="zh-CN" dirty="0">
              <a:latin typeface="Times New Roman" panose="02020503050405090304" pitchFamily="18" charset="0"/>
            </a:endParaRPr>
          </a:p>
        </p:txBody>
      </p:sp>
      <p:sp>
        <p:nvSpPr>
          <p:cNvPr id="22536" name="Line 7"/>
          <p:cNvSpPr/>
          <p:nvPr/>
        </p:nvSpPr>
        <p:spPr>
          <a:xfrm>
            <a:off x="2209800" y="4114800"/>
            <a:ext cx="1905000" cy="1905000"/>
          </a:xfrm>
          <a:prstGeom prst="line">
            <a:avLst/>
          </a:prstGeom>
          <a:ln w="38100" cap="flat" cmpd="sng">
            <a:solidFill>
              <a:srgbClr val="FF0000"/>
            </a:solidFill>
            <a:prstDash val="solid"/>
            <a:headEnd type="none" w="med" len="med"/>
            <a:tailEnd type="none" w="med" len="med"/>
          </a:ln>
        </p:spPr>
      </p:sp>
      <p:sp>
        <p:nvSpPr>
          <p:cNvPr id="22537" name="Line 8"/>
          <p:cNvSpPr/>
          <p:nvPr/>
        </p:nvSpPr>
        <p:spPr>
          <a:xfrm>
            <a:off x="5257800" y="3886200"/>
            <a:ext cx="1905000" cy="1905000"/>
          </a:xfrm>
          <a:prstGeom prst="line">
            <a:avLst/>
          </a:prstGeom>
          <a:ln w="38100" cap="flat" cmpd="sng">
            <a:solidFill>
              <a:srgbClr val="FF0000"/>
            </a:solidFill>
            <a:prstDash val="solid"/>
            <a:headEnd type="none" w="med" len="med"/>
            <a:tailEnd type="none" w="med" len="med"/>
          </a:ln>
        </p:spPr>
      </p:sp>
      <p:sp>
        <p:nvSpPr>
          <p:cNvPr id="22538" name="Text Box 9"/>
          <p:cNvSpPr txBox="1"/>
          <p:nvPr/>
        </p:nvSpPr>
        <p:spPr>
          <a:xfrm>
            <a:off x="1371600" y="5456238"/>
            <a:ext cx="1371600" cy="1196975"/>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spAutoFit/>
          </a:bodyPr>
          <a:p>
            <a:pPr algn="ctr">
              <a:spcBef>
                <a:spcPct val="50000"/>
              </a:spcBef>
            </a:pPr>
            <a:r>
              <a:rPr lang="en-US" altLang="zh-CN" b="0" i="0" dirty="0">
                <a:latin typeface="Times New Roman" panose="02020503050405090304" pitchFamily="18" charset="0"/>
              </a:rPr>
              <a:t>Flip</a:t>
            </a:r>
            <a:br>
              <a:rPr lang="en-US" altLang="zh-CN" b="0" i="0" dirty="0">
                <a:latin typeface="Times New Roman" panose="02020503050405090304" pitchFamily="18" charset="0"/>
              </a:rPr>
            </a:br>
            <a:r>
              <a:rPr lang="en-US" altLang="zh-CN" b="0" i="0" dirty="0">
                <a:latin typeface="Times New Roman" panose="02020503050405090304" pitchFamily="18" charset="0"/>
              </a:rPr>
              <a:t>across</a:t>
            </a:r>
            <a:br>
              <a:rPr lang="en-US" altLang="zh-CN" b="0" i="0" dirty="0">
                <a:latin typeface="Times New Roman" panose="02020503050405090304" pitchFamily="18" charset="0"/>
              </a:rPr>
            </a:br>
            <a:r>
              <a:rPr lang="en-US" altLang="zh-CN" b="0" i="0" dirty="0">
                <a:latin typeface="Times New Roman" panose="02020503050405090304" pitchFamily="18" charset="0"/>
              </a:rPr>
              <a:t>diagonal</a:t>
            </a:r>
            <a:endParaRPr lang="en-US" altLang="zh-CN" b="0" i="0" dirty="0">
              <a:latin typeface="Times New Roman" panose="02020503050405090304" pitchFamily="18" charset="0"/>
            </a:endParaRPr>
          </a:p>
        </p:txBody>
      </p:sp>
      <p:graphicFrame>
        <p:nvGraphicFramePr>
          <p:cNvPr id="22539" name="Object 10"/>
          <p:cNvGraphicFramePr>
            <a:graphicFrameLocks noChangeAspect="1"/>
          </p:cNvGraphicFramePr>
          <p:nvPr/>
        </p:nvGraphicFramePr>
        <p:xfrm>
          <a:off x="2057400" y="3733800"/>
          <a:ext cx="4648200" cy="2033588"/>
        </p:xfrm>
        <a:graphic>
          <a:graphicData uri="http://schemas.openxmlformats.org/presentationml/2006/ole">
            <mc:AlternateContent xmlns:mc="http://schemas.openxmlformats.org/markup-compatibility/2006">
              <mc:Choice xmlns:v="urn:schemas-microsoft-com:vml" Requires="v">
                <p:oleObj spid="_x0000_s3082" name="" r:id="rId1" imgW="1625600" imgH="711200" progId="Equation.3">
                  <p:embed/>
                </p:oleObj>
              </mc:Choice>
              <mc:Fallback>
                <p:oleObj name="" r:id="rId1" imgW="1625600" imgH="711200" progId="Equation.3">
                  <p:embed/>
                  <p:pic>
                    <p:nvPicPr>
                      <p:cNvPr id="0" name="图片 3081"/>
                      <p:cNvPicPr/>
                      <p:nvPr/>
                    </p:nvPicPr>
                    <p:blipFill>
                      <a:blip r:embed="rId2"/>
                      <a:stretch>
                        <a:fillRect/>
                      </a:stretch>
                    </p:blipFill>
                    <p:spPr>
                      <a:xfrm>
                        <a:off x="2057400" y="3733800"/>
                        <a:ext cx="4648200" cy="20335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355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355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355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Symmetric Matrices</a:t>
            </a:r>
            <a:endParaRPr lang="en-US" altLang="zh-CN" dirty="0">
              <a:latin typeface="Times New Roman" panose="02020503050405090304" pitchFamily="18" charset="0"/>
            </a:endParaRPr>
          </a:p>
        </p:txBody>
      </p:sp>
      <p:sp>
        <p:nvSpPr>
          <p:cNvPr id="23558"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A square matrix </a:t>
            </a:r>
            <a:r>
              <a:rPr lang="en-US" altLang="zh-CN" b="1" dirty="0">
                <a:latin typeface="Times New Roman" panose="02020503050405090304" pitchFamily="18" charset="0"/>
              </a:rPr>
              <a:t>A</a:t>
            </a:r>
            <a:r>
              <a:rPr lang="en-US" altLang="zh-CN" dirty="0">
                <a:latin typeface="Times New Roman" panose="02020503050405090304" pitchFamily="18" charset="0"/>
              </a:rPr>
              <a:t> is </a:t>
            </a:r>
            <a:r>
              <a:rPr lang="en-US" altLang="zh-CN" i="1" dirty="0">
                <a:latin typeface="Times New Roman" panose="02020503050405090304" pitchFamily="18" charset="0"/>
              </a:rPr>
              <a:t>symmetric</a:t>
            </a:r>
            <a:r>
              <a:rPr lang="en-US" altLang="zh-CN" dirty="0">
                <a:latin typeface="Times New Roman" panose="02020503050405090304" pitchFamily="18" charset="0"/>
              </a:rPr>
              <a:t> iff </a:t>
            </a:r>
            <a:r>
              <a:rPr lang="en-US" altLang="zh-CN" b="1" dirty="0">
                <a:latin typeface="Times New Roman" panose="02020503050405090304" pitchFamily="18" charset="0"/>
              </a:rPr>
              <a:t>A</a:t>
            </a:r>
            <a:r>
              <a:rPr lang="en-US" altLang="zh-CN" dirty="0">
                <a:latin typeface="Times New Roman" panose="02020503050405090304" pitchFamily="18" charset="0"/>
              </a:rPr>
              <a:t>=</a:t>
            </a:r>
            <a:r>
              <a:rPr lang="en-US" altLang="zh-CN" b="1" dirty="0">
                <a:latin typeface="Times New Roman" panose="02020503050405090304" pitchFamily="18" charset="0"/>
              </a:rPr>
              <a:t>A</a:t>
            </a:r>
            <a:r>
              <a:rPr lang="en-US" altLang="zh-CN" baseline="30000" dirty="0">
                <a:latin typeface="Times New Roman" panose="02020503050405090304" pitchFamily="18" charset="0"/>
              </a:rPr>
              <a:t>t</a:t>
            </a:r>
            <a:r>
              <a:rPr lang="en-US" altLang="zh-CN" dirty="0">
                <a:latin typeface="Times New Roman" panose="02020503050405090304" pitchFamily="18" charset="0"/>
              </a:rPr>
              <a:t>. </a:t>
            </a:r>
            <a:r>
              <a:rPr lang="en-US" altLang="zh-CN" i="1" dirty="0">
                <a:latin typeface="Times New Roman" panose="02020503050405090304" pitchFamily="18" charset="0"/>
              </a:rPr>
              <a:t>I.e.</a:t>
            </a:r>
            <a:r>
              <a:rPr lang="en-US" altLang="zh-CN" dirty="0">
                <a:latin typeface="Times New Roman" panose="02020503050405090304" pitchFamily="18" charset="0"/>
              </a:rPr>
              <a:t>, </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i</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j</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n</a:t>
            </a:r>
            <a:r>
              <a:rPr lang="en-US" altLang="zh-CN" dirty="0">
                <a:solidFill>
                  <a:srgbClr val="FF0000"/>
                </a:solidFill>
                <a:latin typeface="Times New Roman" panose="02020503050405090304" pitchFamily="18" charset="0"/>
                <a:sym typeface="Symbol" panose="05050102010706020507" pitchFamily="18" charset="2"/>
              </a:rPr>
              <a:t>: </a:t>
            </a:r>
            <a:r>
              <a:rPr lang="en-US" altLang="zh-CN" i="1" dirty="0">
                <a:solidFill>
                  <a:srgbClr val="FF0000"/>
                </a:solidFill>
                <a:latin typeface="Times New Roman" panose="02020503050405090304" pitchFamily="18" charset="0"/>
              </a:rPr>
              <a:t>a</a:t>
            </a:r>
            <a:r>
              <a:rPr lang="en-US" altLang="zh-CN" i="1" baseline="-25000" dirty="0">
                <a:solidFill>
                  <a:srgbClr val="FF0000"/>
                </a:solidFill>
                <a:latin typeface="Times New Roman" panose="02020503050405090304" pitchFamily="18" charset="0"/>
              </a:rPr>
              <a:t>ij</a:t>
            </a:r>
            <a:r>
              <a:rPr lang="en-US" altLang="zh-CN" i="1" dirty="0">
                <a:solidFill>
                  <a:srgbClr val="FF0000"/>
                </a:solidFill>
                <a:latin typeface="Times New Roman" panose="02020503050405090304" pitchFamily="18" charset="0"/>
              </a:rPr>
              <a:t> = a</a:t>
            </a:r>
            <a:r>
              <a:rPr lang="en-US" altLang="zh-CN" i="1" baseline="-25000" dirty="0">
                <a:solidFill>
                  <a:srgbClr val="FF0000"/>
                </a:solidFill>
                <a:latin typeface="Times New Roman" panose="02020503050405090304" pitchFamily="18" charset="0"/>
              </a:rPr>
              <a:t>ji</a:t>
            </a:r>
            <a:r>
              <a:rPr lang="en-US" altLang="zh-CN" i="1" baseline="-25000" dirty="0">
                <a:latin typeface="Times New Roman" panose="02020503050405090304" pitchFamily="18" charset="0"/>
              </a:rPr>
              <a:t> </a:t>
            </a:r>
            <a:r>
              <a:rPr lang="en-US" altLang="zh-CN" i="1" dirty="0">
                <a:latin typeface="Times New Roman" panose="02020503050405090304" pitchFamily="18" charset="0"/>
              </a:rPr>
              <a:t>.</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Which of the below matrices is symmetric?</a:t>
            </a:r>
            <a:endParaRPr lang="en-US" altLang="zh-CN" baseline="-25000" dirty="0">
              <a:latin typeface="Times New Roman" panose="02020503050405090304" pitchFamily="18" charset="0"/>
            </a:endParaRPr>
          </a:p>
        </p:txBody>
      </p:sp>
      <p:graphicFrame>
        <p:nvGraphicFramePr>
          <p:cNvPr id="23559" name="Object 4"/>
          <p:cNvGraphicFramePr>
            <a:graphicFrameLocks noChangeAspect="1"/>
          </p:cNvGraphicFramePr>
          <p:nvPr/>
        </p:nvGraphicFramePr>
        <p:xfrm>
          <a:off x="6019800" y="3903663"/>
          <a:ext cx="2324100" cy="2065337"/>
        </p:xfrm>
        <a:graphic>
          <a:graphicData uri="http://schemas.openxmlformats.org/presentationml/2006/ole">
            <mc:AlternateContent xmlns:mc="http://schemas.openxmlformats.org/markup-compatibility/2006">
              <mc:Choice xmlns:v="urn:schemas-microsoft-com:vml" Requires="v">
                <p:oleObj spid="_x0000_s3079" name="" r:id="rId1" imgW="799465" imgH="711200" progId="Equation.3">
                  <p:embed/>
                </p:oleObj>
              </mc:Choice>
              <mc:Fallback>
                <p:oleObj name="" r:id="rId1" imgW="799465" imgH="711200" progId="Equation.3">
                  <p:embed/>
                  <p:pic>
                    <p:nvPicPr>
                      <p:cNvPr id="0" name="图片 3078"/>
                      <p:cNvPicPr/>
                      <p:nvPr/>
                    </p:nvPicPr>
                    <p:blipFill>
                      <a:blip r:embed="rId2"/>
                      <a:stretch>
                        <a:fillRect/>
                      </a:stretch>
                    </p:blipFill>
                    <p:spPr>
                      <a:xfrm>
                        <a:off x="6019800" y="3903663"/>
                        <a:ext cx="2324100" cy="2065337"/>
                      </a:xfrm>
                      <a:prstGeom prst="rect">
                        <a:avLst/>
                      </a:prstGeom>
                      <a:noFill/>
                      <a:ln w="38100">
                        <a:noFill/>
                        <a:miter/>
                      </a:ln>
                    </p:spPr>
                  </p:pic>
                </p:oleObj>
              </mc:Fallback>
            </mc:AlternateContent>
          </a:graphicData>
        </a:graphic>
      </p:graphicFrame>
      <p:graphicFrame>
        <p:nvGraphicFramePr>
          <p:cNvPr id="23560" name="Object 5"/>
          <p:cNvGraphicFramePr>
            <a:graphicFrameLocks noChangeAspect="1"/>
          </p:cNvGraphicFramePr>
          <p:nvPr/>
        </p:nvGraphicFramePr>
        <p:xfrm>
          <a:off x="3124200" y="3886200"/>
          <a:ext cx="2803525" cy="2065338"/>
        </p:xfrm>
        <a:graphic>
          <a:graphicData uri="http://schemas.openxmlformats.org/presentationml/2006/ole">
            <mc:AlternateContent xmlns:mc="http://schemas.openxmlformats.org/markup-compatibility/2006">
              <mc:Choice xmlns:v="urn:schemas-microsoft-com:vml" Requires="v">
                <p:oleObj spid="_x0000_s3078" name="" r:id="rId3" imgW="965200" imgH="711200" progId="Equation.3">
                  <p:embed/>
                </p:oleObj>
              </mc:Choice>
              <mc:Fallback>
                <p:oleObj name="" r:id="rId3" imgW="965200" imgH="711200" progId="Equation.3">
                  <p:embed/>
                  <p:pic>
                    <p:nvPicPr>
                      <p:cNvPr id="0" name="图片 3077"/>
                      <p:cNvPicPr/>
                      <p:nvPr/>
                    </p:nvPicPr>
                    <p:blipFill>
                      <a:blip r:embed="rId4"/>
                      <a:stretch>
                        <a:fillRect/>
                      </a:stretch>
                    </p:blipFill>
                    <p:spPr>
                      <a:xfrm>
                        <a:off x="3124200" y="3886200"/>
                        <a:ext cx="2803525" cy="2065338"/>
                      </a:xfrm>
                      <a:prstGeom prst="rect">
                        <a:avLst/>
                      </a:prstGeom>
                      <a:noFill/>
                      <a:ln w="38100">
                        <a:noFill/>
                        <a:miter/>
                      </a:ln>
                    </p:spPr>
                  </p:pic>
                </p:oleObj>
              </mc:Fallback>
            </mc:AlternateContent>
          </a:graphicData>
        </a:graphic>
      </p:graphicFrame>
      <p:graphicFrame>
        <p:nvGraphicFramePr>
          <p:cNvPr id="23561" name="Object 6"/>
          <p:cNvGraphicFramePr>
            <a:graphicFrameLocks noChangeAspect="1"/>
          </p:cNvGraphicFramePr>
          <p:nvPr/>
        </p:nvGraphicFramePr>
        <p:xfrm>
          <a:off x="1858963" y="3962400"/>
          <a:ext cx="1217612" cy="2065338"/>
        </p:xfrm>
        <a:graphic>
          <a:graphicData uri="http://schemas.openxmlformats.org/presentationml/2006/ole">
            <mc:AlternateContent xmlns:mc="http://schemas.openxmlformats.org/markup-compatibility/2006">
              <mc:Choice xmlns:v="urn:schemas-microsoft-com:vml" Requires="v">
                <p:oleObj spid="_x0000_s3077" name="" r:id="rId5" imgW="419100" imgH="711200" progId="Equation.3">
                  <p:embed/>
                </p:oleObj>
              </mc:Choice>
              <mc:Fallback>
                <p:oleObj name="" r:id="rId5" imgW="419100" imgH="711200" progId="Equation.3">
                  <p:embed/>
                  <p:pic>
                    <p:nvPicPr>
                      <p:cNvPr id="0" name="图片 3076"/>
                      <p:cNvPicPr/>
                      <p:nvPr/>
                    </p:nvPicPr>
                    <p:blipFill>
                      <a:blip r:embed="rId6"/>
                      <a:stretch>
                        <a:fillRect/>
                      </a:stretch>
                    </p:blipFill>
                    <p:spPr>
                      <a:xfrm>
                        <a:off x="1858963" y="3962400"/>
                        <a:ext cx="1217612" cy="2065338"/>
                      </a:xfrm>
                      <a:prstGeom prst="rect">
                        <a:avLst/>
                      </a:prstGeom>
                      <a:noFill/>
                      <a:ln w="38100">
                        <a:noFill/>
                        <a:miter/>
                      </a:ln>
                    </p:spPr>
                  </p:pic>
                </p:oleObj>
              </mc:Fallback>
            </mc:AlternateContent>
          </a:graphicData>
        </a:graphic>
      </p:graphicFrame>
      <p:sp>
        <p:nvSpPr>
          <p:cNvPr id="702471" name="Oval 7"/>
          <p:cNvSpPr/>
          <p:nvPr/>
        </p:nvSpPr>
        <p:spPr>
          <a:xfrm>
            <a:off x="3048000" y="3657600"/>
            <a:ext cx="2895600" cy="2590800"/>
          </a:xfrm>
          <a:prstGeom prst="ellipse">
            <a:avLst/>
          </a:prstGeom>
          <a:noFill/>
          <a:ln w="63500" cap="flat" cmpd="sng">
            <a:solidFill>
              <a:schemeClr val="accent2"/>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702472" name="AutoShape 8"/>
          <p:cNvSpPr/>
          <p:nvPr/>
        </p:nvSpPr>
        <p:spPr>
          <a:xfrm rot="-2237965">
            <a:off x="6986588" y="5187950"/>
            <a:ext cx="914400" cy="228600"/>
          </a:xfrm>
          <a:prstGeom prst="leftRightArrow">
            <a:avLst>
              <a:gd name="adj1" fmla="val 50000"/>
              <a:gd name="adj2" fmla="val 80000"/>
            </a:avLst>
          </a:prstGeom>
          <a:solidFill>
            <a:srgbClr val="FF0000"/>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2472"/>
                                        </p:tgtEl>
                                        <p:attrNameLst>
                                          <p:attrName>style.visibility</p:attrName>
                                        </p:attrNameLst>
                                      </p:cBhvr>
                                      <p:to>
                                        <p:strVal val="visible"/>
                                      </p:to>
                                    </p:set>
                                    <p:animEffect transition="in" filter="wipe(left)">
                                      <p:cBhvr>
                                        <p:cTn id="7" dur="500"/>
                                        <p:tgtEl>
                                          <p:spTgt spid="70247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702471"/>
                                        </p:tgtEl>
                                        <p:attrNameLst>
                                          <p:attrName>style.visibility</p:attrName>
                                        </p:attrNameLst>
                                      </p:cBhvr>
                                      <p:to>
                                        <p:strVal val="visible"/>
                                      </p:to>
                                    </p:set>
                                    <p:anim calcmode="lin" valueType="num">
                                      <p:cBhvr>
                                        <p:cTn id="12" dur="500" fill="hold"/>
                                        <p:tgtEl>
                                          <p:spTgt spid="702471"/>
                                        </p:tgtEl>
                                        <p:attrNameLst>
                                          <p:attrName>ppt_w</p:attrName>
                                        </p:attrNameLst>
                                      </p:cBhvr>
                                      <p:tavLst>
                                        <p:tav tm="0">
                                          <p:val>
                                            <p:strVal val="4*#ppt_w"/>
                                          </p:val>
                                        </p:tav>
                                        <p:tav tm="100000">
                                          <p:val>
                                            <p:strVal val="#ppt_w"/>
                                          </p:val>
                                        </p:tav>
                                      </p:tavLst>
                                    </p:anim>
                                    <p:anim calcmode="lin" valueType="num">
                                      <p:cBhvr>
                                        <p:cTn id="13" dur="500" fill="hold"/>
                                        <p:tgtEl>
                                          <p:spTgt spid="702471"/>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7"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71" grpId="0" bldLvl="0" animBg="1"/>
      <p:bldP spid="702472"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457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458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4581" name="Rectangle 2"/>
          <p:cNvSpPr>
            <a:spLocks noGrp="1"/>
          </p:cNvSpPr>
          <p:nvPr>
            <p:ph type="title"/>
          </p:nvPr>
        </p:nvSpPr>
        <p:spPr>
          <a:xfrm>
            <a:off x="1000125" y="212408"/>
            <a:ext cx="7793038" cy="1143000"/>
          </a:xfrm>
        </p:spPr>
        <p:txBody>
          <a:bodyPr vert="horz" wrap="square" lIns="91440" tIns="45720" rIns="91440" bIns="45720" anchor="b" anchorCtr="0"/>
          <a:p>
            <a:pPr eaLnBrk="1" hangingPunct="1"/>
            <a:r>
              <a:rPr lang="en-US" altLang="zh-CN" dirty="0">
                <a:latin typeface="Times New Roman" panose="02020503050405090304" pitchFamily="18" charset="0"/>
              </a:rPr>
              <a:t>Zero-One Matrices</a:t>
            </a:r>
            <a:endParaRPr lang="en-US" altLang="zh-CN" dirty="0">
              <a:latin typeface="Times New Roman" panose="02020503050405090304" pitchFamily="18" charset="0"/>
            </a:endParaRPr>
          </a:p>
        </p:txBody>
      </p:sp>
      <p:sp>
        <p:nvSpPr>
          <p:cNvPr id="24582" name="Rectangle 3"/>
          <p:cNvSpPr>
            <a:spLocks noGrp="1"/>
          </p:cNvSpPr>
          <p:nvPr>
            <p:ph idx="1"/>
          </p:nvPr>
        </p:nvSpPr>
        <p:spPr/>
        <p:txBody>
          <a:bodyPr vert="horz" wrap="square" lIns="91440" tIns="45720" rIns="91440" bIns="45720" anchor="t" anchorCtr="0"/>
          <a:p>
            <a:pPr eaLnBrk="1" hangingPunct="1"/>
            <a:r>
              <a:rPr lang="en-US" altLang="zh-CN" sz="2800" dirty="0">
                <a:latin typeface="Times New Roman" panose="02020503050405090304" pitchFamily="18" charset="0"/>
              </a:rPr>
              <a:t>Useful for representing other structures.</a:t>
            </a:r>
            <a:endParaRPr lang="en-US" altLang="zh-CN" sz="2800" dirty="0">
              <a:latin typeface="Times New Roman" panose="02020503050405090304" pitchFamily="18" charset="0"/>
            </a:endParaRPr>
          </a:p>
          <a:p>
            <a:pPr lvl="1" eaLnBrk="1" hangingPunct="1"/>
            <a:r>
              <a:rPr lang="en-US" altLang="zh-CN" sz="2400" i="1" dirty="0">
                <a:latin typeface="Times New Roman" panose="02020503050405090304" pitchFamily="18" charset="0"/>
              </a:rPr>
              <a:t>E.g.</a:t>
            </a:r>
            <a:r>
              <a:rPr lang="en-US" altLang="zh-CN" sz="2400" dirty="0">
                <a:latin typeface="Times New Roman" panose="02020503050405090304" pitchFamily="18" charset="0"/>
              </a:rPr>
              <a:t>, relations, directed graphs (later in this course)</a:t>
            </a:r>
            <a:endParaRPr lang="en-US" altLang="zh-CN" sz="2400" dirty="0">
              <a:latin typeface="Times New Roman" panose="02020503050405090304" pitchFamily="18" charset="0"/>
            </a:endParaRPr>
          </a:p>
          <a:p>
            <a:pPr eaLnBrk="1" hangingPunct="1"/>
            <a:r>
              <a:rPr lang="en-US" altLang="zh-CN" sz="2800" dirty="0">
                <a:latin typeface="Times New Roman" panose="02020503050405090304" pitchFamily="18" charset="0"/>
              </a:rPr>
              <a:t>All elements of a </a:t>
            </a:r>
            <a:r>
              <a:rPr lang="en-US" altLang="zh-CN" sz="2800" i="1" dirty="0">
                <a:latin typeface="Times New Roman" panose="02020503050405090304" pitchFamily="18" charset="0"/>
              </a:rPr>
              <a:t>zero-one</a:t>
            </a:r>
            <a:r>
              <a:rPr lang="en-US" altLang="zh-CN" sz="2800" dirty="0">
                <a:latin typeface="Times New Roman" panose="02020503050405090304" pitchFamily="18" charset="0"/>
              </a:rPr>
              <a:t> matrix are either 0 or 1</a:t>
            </a:r>
            <a:endParaRPr lang="en-US" altLang="zh-CN" sz="2800" dirty="0">
              <a:latin typeface="Times New Roman" panose="02020503050405090304" pitchFamily="18" charset="0"/>
            </a:endParaRPr>
          </a:p>
          <a:p>
            <a:pPr lvl="1" eaLnBrk="1" hangingPunct="1"/>
            <a:r>
              <a:rPr lang="en-US" altLang="zh-CN" sz="2400" dirty="0">
                <a:latin typeface="Times New Roman" panose="02020503050405090304" pitchFamily="18" charset="0"/>
              </a:rPr>
              <a:t>Representing </a:t>
            </a:r>
            <a:r>
              <a:rPr lang="en-US" altLang="zh-CN" sz="2400" b="1" dirty="0">
                <a:latin typeface="Times New Roman" panose="02020503050405090304" pitchFamily="18" charset="0"/>
              </a:rPr>
              <a:t>False </a:t>
            </a:r>
            <a:r>
              <a:rPr lang="en-US" altLang="zh-CN" sz="2400" dirty="0">
                <a:latin typeface="Times New Roman" panose="02020503050405090304" pitchFamily="18" charset="0"/>
              </a:rPr>
              <a:t>&amp; </a:t>
            </a:r>
            <a:r>
              <a:rPr lang="en-US" altLang="zh-CN" sz="2400" b="1" dirty="0">
                <a:latin typeface="Times New Roman" panose="02020503050405090304" pitchFamily="18" charset="0"/>
              </a:rPr>
              <a:t>True </a:t>
            </a:r>
            <a:r>
              <a:rPr lang="en-US" altLang="zh-CN" sz="2400" dirty="0">
                <a:latin typeface="Times New Roman" panose="02020503050405090304" pitchFamily="18" charset="0"/>
              </a:rPr>
              <a:t>respectively.</a:t>
            </a:r>
            <a:endParaRPr lang="en-US" altLang="zh-CN" sz="2400" dirty="0">
              <a:latin typeface="Times New Roman" panose="02020503050405090304" pitchFamily="18" charset="0"/>
            </a:endParaRPr>
          </a:p>
          <a:p>
            <a:pPr eaLnBrk="1" hangingPunct="1"/>
            <a:r>
              <a:rPr lang="en-US" altLang="zh-CN" sz="2800" dirty="0">
                <a:latin typeface="Times New Roman" panose="02020503050405090304" pitchFamily="18" charset="0"/>
              </a:rPr>
              <a:t>The </a:t>
            </a:r>
            <a:r>
              <a:rPr lang="en-US" altLang="zh-CN" sz="2800" i="1" dirty="0">
                <a:latin typeface="Times New Roman" panose="02020503050405090304" pitchFamily="18" charset="0"/>
              </a:rPr>
              <a:t>join</a:t>
            </a:r>
            <a:r>
              <a:rPr lang="en-US" altLang="zh-CN" sz="2800" dirty="0">
                <a:latin typeface="Times New Roman" panose="02020503050405090304" pitchFamily="18" charset="0"/>
              </a:rPr>
              <a:t> of </a:t>
            </a:r>
            <a:r>
              <a:rPr lang="en-US" altLang="zh-CN" sz="2800" b="1" dirty="0">
                <a:latin typeface="Times New Roman" panose="02020503050405090304" pitchFamily="18" charset="0"/>
              </a:rPr>
              <a:t>A</a:t>
            </a:r>
            <a:r>
              <a:rPr lang="en-US" altLang="zh-CN" sz="2800" dirty="0">
                <a:latin typeface="Times New Roman" panose="02020503050405090304" pitchFamily="18" charset="0"/>
                <a:sym typeface="Symbol" panose="05050102010706020507" pitchFamily="18" charset="2"/>
              </a:rPr>
              <a:t>, </a:t>
            </a:r>
            <a:r>
              <a:rPr lang="en-US" altLang="zh-CN" sz="2800" b="1" dirty="0">
                <a:latin typeface="Times New Roman" panose="02020503050405090304" pitchFamily="18" charset="0"/>
                <a:sym typeface="Symbol" panose="05050102010706020507" pitchFamily="18" charset="2"/>
              </a:rPr>
              <a:t>B </a:t>
            </a:r>
            <a:r>
              <a:rPr lang="en-US" altLang="zh-CN" sz="2800" dirty="0">
                <a:latin typeface="Times New Roman" panose="02020503050405090304" pitchFamily="18" charset="0"/>
                <a:sym typeface="Symbol" panose="05050102010706020507" pitchFamily="18" charset="2"/>
              </a:rPr>
              <a:t>(both </a:t>
            </a:r>
            <a:r>
              <a:rPr lang="en-US" altLang="zh-CN" sz="2800" i="1" dirty="0">
                <a:latin typeface="Times New Roman" panose="02020503050405090304" pitchFamily="18" charset="0"/>
                <a:sym typeface="Symbol" panose="05050102010706020507" pitchFamily="18" charset="2"/>
              </a:rPr>
              <a:t>m</a:t>
            </a:r>
            <a:r>
              <a:rPr lang="en-US" altLang="zh-CN" sz="2800" dirty="0">
                <a:latin typeface="Times New Roman" panose="02020503050405090304" pitchFamily="18" charset="0"/>
                <a:sym typeface="Symbol" panose="05050102010706020507" pitchFamily="18" charset="2"/>
              </a:rPr>
              <a:t></a:t>
            </a:r>
            <a:r>
              <a:rPr lang="en-US" altLang="zh-CN" sz="2800" i="1" dirty="0">
                <a:latin typeface="Times New Roman" panose="02020503050405090304" pitchFamily="18" charset="0"/>
                <a:sym typeface="Symbol" panose="05050102010706020507" pitchFamily="18" charset="2"/>
              </a:rPr>
              <a:t>n</a:t>
            </a:r>
            <a:r>
              <a:rPr lang="en-US" altLang="zh-CN" sz="2800" dirty="0">
                <a:latin typeface="Times New Roman" panose="02020503050405090304" pitchFamily="18" charset="0"/>
                <a:sym typeface="Symbol" panose="05050102010706020507" pitchFamily="18" charset="2"/>
              </a:rPr>
              <a:t> zero-one matrices):</a:t>
            </a:r>
            <a:endParaRPr lang="en-US" altLang="zh-CN" sz="2800" dirty="0">
              <a:latin typeface="Times New Roman" panose="02020503050405090304" pitchFamily="18" charset="0"/>
              <a:sym typeface="Symbol" panose="05050102010706020507" pitchFamily="18" charset="2"/>
            </a:endParaRPr>
          </a:p>
          <a:p>
            <a:pPr lvl="1" eaLnBrk="1" hangingPunct="1"/>
            <a:r>
              <a:rPr lang="en-US" altLang="zh-CN" b="1" dirty="0">
                <a:latin typeface="Times New Roman" panose="02020503050405090304" pitchFamily="18" charset="0"/>
              </a:rPr>
              <a:t>A</a:t>
            </a:r>
            <a:r>
              <a:rPr lang="en-US" altLang="zh-CN" dirty="0">
                <a:latin typeface="Times New Roman" panose="02020503050405090304" pitchFamily="18" charset="0"/>
                <a:sym typeface="Symbol" panose="05050102010706020507" pitchFamily="18" charset="2"/>
              </a:rPr>
              <a:t></a:t>
            </a:r>
            <a:r>
              <a:rPr lang="en-US" altLang="zh-CN" b="1" dirty="0">
                <a:latin typeface="Times New Roman" panose="02020503050405090304" pitchFamily="18" charset="0"/>
                <a:sym typeface="Symbol" panose="05050102010706020507" pitchFamily="18" charset="2"/>
              </a:rPr>
              <a:t>B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a</a:t>
            </a:r>
            <a:r>
              <a:rPr lang="en-US" altLang="zh-CN" i="1" baseline="-25000" dirty="0">
                <a:latin typeface="Times New Roman" panose="02020503050405090304" pitchFamily="18" charset="0"/>
                <a:sym typeface="Symbol" panose="05050102010706020507" pitchFamily="18" charset="2"/>
              </a:rPr>
              <a:t>ij</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b</a:t>
            </a:r>
            <a:r>
              <a:rPr lang="en-US" altLang="zh-CN" i="1" baseline="-25000" dirty="0">
                <a:latin typeface="Times New Roman" panose="02020503050405090304" pitchFamily="18" charset="0"/>
                <a:sym typeface="Symbol" panose="05050102010706020507" pitchFamily="18" charset="2"/>
              </a:rPr>
              <a:t>ij</a:t>
            </a:r>
            <a:r>
              <a:rPr lang="en-US" altLang="zh-CN" dirty="0">
                <a:latin typeface="Times New Roman" panose="02020503050405090304" pitchFamily="18" charset="0"/>
                <a:sym typeface="Symbol" panose="05050102010706020507" pitchFamily="18" charset="2"/>
              </a:rPr>
              <a:t>]</a:t>
            </a:r>
            <a:endParaRPr lang="en-US" altLang="zh-CN" sz="2400" dirty="0">
              <a:latin typeface="Times New Roman" panose="02020503050405090304" pitchFamily="18" charset="0"/>
              <a:sym typeface="Symbol" panose="05050102010706020507" pitchFamily="18" charset="2"/>
            </a:endParaRPr>
          </a:p>
          <a:p>
            <a:pPr eaLnBrk="1" hangingPunct="1"/>
            <a:r>
              <a:rPr lang="en-US" altLang="zh-CN" sz="2800" dirty="0">
                <a:latin typeface="Times New Roman" panose="02020503050405090304" pitchFamily="18" charset="0"/>
                <a:sym typeface="Symbol" panose="05050102010706020507" pitchFamily="18" charset="2"/>
              </a:rPr>
              <a:t>The </a:t>
            </a:r>
            <a:r>
              <a:rPr lang="en-US" altLang="zh-CN" sz="2800" i="1" dirty="0">
                <a:latin typeface="Times New Roman" panose="02020503050405090304" pitchFamily="18" charset="0"/>
                <a:sym typeface="Symbol" panose="05050102010706020507" pitchFamily="18" charset="2"/>
              </a:rPr>
              <a:t>meet</a:t>
            </a:r>
            <a:r>
              <a:rPr lang="en-US" altLang="zh-CN" sz="2800" dirty="0">
                <a:latin typeface="Times New Roman" panose="02020503050405090304" pitchFamily="18" charset="0"/>
                <a:sym typeface="Symbol" panose="05050102010706020507" pitchFamily="18" charset="2"/>
              </a:rPr>
              <a:t> of </a:t>
            </a:r>
            <a:r>
              <a:rPr lang="en-US" altLang="zh-CN" sz="2800" b="1" dirty="0">
                <a:latin typeface="Times New Roman" panose="02020503050405090304" pitchFamily="18" charset="0"/>
              </a:rPr>
              <a:t>A</a:t>
            </a:r>
            <a:r>
              <a:rPr lang="en-US" altLang="zh-CN" sz="2800" dirty="0">
                <a:latin typeface="Times New Roman" panose="02020503050405090304" pitchFamily="18" charset="0"/>
                <a:sym typeface="Symbol" panose="05050102010706020507" pitchFamily="18" charset="2"/>
              </a:rPr>
              <a:t>, </a:t>
            </a:r>
            <a:r>
              <a:rPr lang="en-US" altLang="zh-CN" sz="2800" b="1" dirty="0">
                <a:latin typeface="Times New Roman" panose="02020503050405090304" pitchFamily="18" charset="0"/>
                <a:sym typeface="Symbol" panose="05050102010706020507" pitchFamily="18" charset="2"/>
              </a:rPr>
              <a:t>B</a:t>
            </a:r>
            <a:r>
              <a:rPr lang="en-US" altLang="zh-CN" sz="2800" dirty="0">
                <a:latin typeface="Times New Roman" panose="02020503050405090304" pitchFamily="18" charset="0"/>
                <a:sym typeface="Symbol" panose="05050102010706020507" pitchFamily="18" charset="2"/>
              </a:rPr>
              <a:t>:</a:t>
            </a:r>
            <a:endParaRPr lang="en-US" altLang="zh-CN" sz="2800" dirty="0">
              <a:latin typeface="Times New Roman" panose="02020503050405090304" pitchFamily="18" charset="0"/>
              <a:sym typeface="Symbol" panose="05050102010706020507" pitchFamily="18" charset="2"/>
            </a:endParaRPr>
          </a:p>
          <a:p>
            <a:pPr lvl="1" eaLnBrk="1" hangingPunct="1"/>
            <a:r>
              <a:rPr lang="en-US" altLang="zh-CN" b="1" dirty="0">
                <a:latin typeface="Times New Roman" panose="02020503050405090304" pitchFamily="18" charset="0"/>
              </a:rPr>
              <a:t>A</a:t>
            </a:r>
            <a:r>
              <a:rPr lang="en-US" altLang="zh-CN" dirty="0">
                <a:latin typeface="Times New Roman" panose="02020503050405090304" pitchFamily="18" charset="0"/>
                <a:sym typeface="Symbol" panose="05050102010706020507" pitchFamily="18" charset="2"/>
              </a:rPr>
              <a:t></a:t>
            </a:r>
            <a:r>
              <a:rPr lang="en-US" altLang="zh-CN" b="1" dirty="0">
                <a:latin typeface="Times New Roman" panose="02020503050405090304" pitchFamily="18" charset="0"/>
                <a:sym typeface="Symbol" panose="05050102010706020507" pitchFamily="18" charset="2"/>
              </a:rPr>
              <a:t>B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a</a:t>
            </a:r>
            <a:r>
              <a:rPr lang="en-US" altLang="zh-CN" i="1" baseline="-25000" dirty="0">
                <a:latin typeface="Times New Roman" panose="02020503050405090304" pitchFamily="18" charset="0"/>
                <a:sym typeface="Symbol" panose="05050102010706020507" pitchFamily="18" charset="2"/>
              </a:rPr>
              <a:t>ij</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b</a:t>
            </a:r>
            <a:r>
              <a:rPr lang="en-US" altLang="zh-CN" i="1" baseline="-25000" dirty="0">
                <a:latin typeface="Times New Roman" panose="02020503050405090304" pitchFamily="18" charset="0"/>
                <a:sym typeface="Symbol" panose="05050102010706020507" pitchFamily="18" charset="2"/>
              </a:rPr>
              <a:t>ij</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sym typeface="Symbol" panose="05050102010706020507" pitchFamily="18" charset="2"/>
              </a:rPr>
              <a:t>a</a:t>
            </a:r>
            <a:r>
              <a:rPr lang="en-US" altLang="zh-CN" i="1" baseline="-25000" dirty="0">
                <a:latin typeface="Times New Roman" panose="02020503050405090304" pitchFamily="18" charset="0"/>
                <a:sym typeface="Symbol" panose="05050102010706020507" pitchFamily="18" charset="2"/>
              </a:rPr>
              <a:t>ij </a:t>
            </a:r>
            <a:r>
              <a:rPr lang="en-US" altLang="zh-CN" i="1" dirty="0">
                <a:latin typeface="Times New Roman" panose="02020503050405090304" pitchFamily="18" charset="0"/>
                <a:sym typeface="Symbol" panose="05050102010706020507" pitchFamily="18" charset="2"/>
              </a:rPr>
              <a:t>b</a:t>
            </a:r>
            <a:r>
              <a:rPr lang="en-US" altLang="zh-CN" i="1" baseline="-25000" dirty="0">
                <a:latin typeface="Times New Roman" panose="02020503050405090304" pitchFamily="18" charset="0"/>
                <a:sym typeface="Symbol" panose="05050102010706020507" pitchFamily="18" charset="2"/>
              </a:rPr>
              <a:t>ij</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p:txBody>
      </p:sp>
      <p:sp>
        <p:nvSpPr>
          <p:cNvPr id="24583" name="Text Box 4"/>
          <p:cNvSpPr txBox="1"/>
          <p:nvPr/>
        </p:nvSpPr>
        <p:spPr>
          <a:xfrm>
            <a:off x="5279708" y="3863975"/>
            <a:ext cx="3792537" cy="860425"/>
          </a:xfrm>
          <a:prstGeom prst="rect">
            <a:avLst/>
          </a:prstGeom>
          <a:solidFill>
            <a:srgbClr val="FFFFCC"/>
          </a:solidFill>
          <a:ln w="38100" cap="flat" cmpd="sng">
            <a:solidFill>
              <a:srgbClr val="006600"/>
            </a:solidFill>
            <a:prstDash val="solid"/>
            <a:miter/>
            <a:headEnd type="none" w="med" len="med"/>
            <a:tailEnd type="none" w="med" len="med"/>
          </a:ln>
        </p:spPr>
        <p:txBody>
          <a:bodyPr wrap="none">
            <a:spAutoFit/>
          </a:bodyPr>
          <a:p>
            <a:r>
              <a:rPr lang="en-US" altLang="zh-CN" b="0" i="0" dirty="0">
                <a:latin typeface="Times New Roman" panose="02020503050405090304" pitchFamily="18" charset="0"/>
              </a:rPr>
              <a:t>The 1’s in </a:t>
            </a:r>
            <a:r>
              <a:rPr lang="en-US" altLang="zh-CN" i="0" dirty="0">
                <a:latin typeface="Times New Roman" panose="02020503050405090304" pitchFamily="18" charset="0"/>
              </a:rPr>
              <a:t>A</a:t>
            </a:r>
            <a:r>
              <a:rPr lang="en-US" altLang="zh-CN" b="0" i="0" dirty="0">
                <a:latin typeface="Times New Roman" panose="02020503050405090304" pitchFamily="18" charset="0"/>
              </a:rPr>
              <a:t> join the 1’s in </a:t>
            </a:r>
            <a:r>
              <a:rPr lang="en-US" altLang="zh-CN" i="0" dirty="0">
                <a:latin typeface="Times New Roman" panose="02020503050405090304" pitchFamily="18" charset="0"/>
              </a:rPr>
              <a:t>B</a:t>
            </a:r>
            <a:br>
              <a:rPr lang="en-US" altLang="zh-CN" b="0" i="0" dirty="0">
                <a:latin typeface="Times New Roman" panose="02020503050405090304" pitchFamily="18" charset="0"/>
              </a:rPr>
            </a:br>
            <a:r>
              <a:rPr lang="en-US" altLang="zh-CN" b="0" i="0" dirty="0">
                <a:latin typeface="Times New Roman" panose="02020503050405090304" pitchFamily="18" charset="0"/>
              </a:rPr>
              <a:t>to make up the 1’s in </a:t>
            </a:r>
            <a:r>
              <a:rPr lang="en-US" altLang="zh-CN" i="0" dirty="0">
                <a:latin typeface="Times New Roman" panose="02020503050405090304" pitchFamily="18" charset="0"/>
              </a:rPr>
              <a:t>C</a:t>
            </a:r>
            <a:r>
              <a:rPr lang="en-US" altLang="zh-CN" b="0" i="0" dirty="0">
                <a:latin typeface="Times New Roman" panose="02020503050405090304" pitchFamily="18" charset="0"/>
              </a:rPr>
              <a:t>.</a:t>
            </a:r>
            <a:endParaRPr lang="en-US" altLang="zh-CN" b="0" i="0" dirty="0">
              <a:latin typeface="Times New Roman" panose="02020503050405090304" pitchFamily="18" charset="0"/>
            </a:endParaRPr>
          </a:p>
        </p:txBody>
      </p:sp>
      <p:sp>
        <p:nvSpPr>
          <p:cNvPr id="24584" name="Text Box 5"/>
          <p:cNvSpPr txBox="1"/>
          <p:nvPr/>
        </p:nvSpPr>
        <p:spPr>
          <a:xfrm>
            <a:off x="5413375" y="4849495"/>
            <a:ext cx="3730625" cy="860425"/>
          </a:xfrm>
          <a:prstGeom prst="rect">
            <a:avLst/>
          </a:prstGeom>
          <a:solidFill>
            <a:srgbClr val="FFFFCC"/>
          </a:solidFill>
          <a:ln w="38100" cap="flat" cmpd="sng">
            <a:solidFill>
              <a:srgbClr val="006600"/>
            </a:solidFill>
            <a:prstDash val="solid"/>
            <a:miter/>
            <a:headEnd type="none" w="med" len="med"/>
            <a:tailEnd type="none" w="med" len="med"/>
          </a:ln>
        </p:spPr>
        <p:txBody>
          <a:bodyPr wrap="none">
            <a:spAutoFit/>
          </a:bodyPr>
          <a:p>
            <a:r>
              <a:rPr lang="en-US" altLang="zh-CN" b="0" i="0" dirty="0">
                <a:latin typeface="Times New Roman" panose="02020503050405090304" pitchFamily="18" charset="0"/>
              </a:rPr>
              <a:t>Where the 1’s in </a:t>
            </a:r>
            <a:r>
              <a:rPr lang="en-US" altLang="zh-CN" i="0" dirty="0">
                <a:latin typeface="Times New Roman" panose="02020503050405090304" pitchFamily="18" charset="0"/>
              </a:rPr>
              <a:t>A</a:t>
            </a:r>
            <a:r>
              <a:rPr lang="en-US" altLang="zh-CN" b="0" i="0" dirty="0">
                <a:latin typeface="Times New Roman" panose="02020503050405090304" pitchFamily="18" charset="0"/>
              </a:rPr>
              <a:t> meet the </a:t>
            </a:r>
            <a:br>
              <a:rPr lang="en-US" altLang="zh-CN" b="0" i="0" dirty="0">
                <a:latin typeface="Times New Roman" panose="02020503050405090304" pitchFamily="18" charset="0"/>
              </a:rPr>
            </a:br>
            <a:r>
              <a:rPr lang="en-US" altLang="zh-CN" b="0" i="0" dirty="0">
                <a:latin typeface="Times New Roman" panose="02020503050405090304" pitchFamily="18" charset="0"/>
              </a:rPr>
              <a:t>1’s in </a:t>
            </a:r>
            <a:r>
              <a:rPr lang="en-US" altLang="zh-CN" i="0" dirty="0">
                <a:latin typeface="Times New Roman" panose="02020503050405090304" pitchFamily="18" charset="0"/>
              </a:rPr>
              <a:t>B</a:t>
            </a:r>
            <a:r>
              <a:rPr lang="en-US" altLang="zh-CN" b="0" i="0" dirty="0">
                <a:latin typeface="Times New Roman" panose="02020503050405090304" pitchFamily="18" charset="0"/>
              </a:rPr>
              <a:t>, we find 1’s in </a:t>
            </a:r>
            <a:r>
              <a:rPr lang="en-US" altLang="zh-CN" i="0" dirty="0">
                <a:latin typeface="Times New Roman" panose="02020503050405090304" pitchFamily="18" charset="0"/>
              </a:rPr>
              <a:t>C</a:t>
            </a:r>
            <a:r>
              <a:rPr lang="en-US" altLang="zh-CN" b="0" i="0" dirty="0">
                <a:latin typeface="Times New Roman" panose="02020503050405090304" pitchFamily="18" charset="0"/>
              </a:rPr>
              <a:t>.</a:t>
            </a:r>
            <a:endParaRPr lang="en-US" altLang="zh-CN" b="0" i="0" dirty="0">
              <a:latin typeface="Times New Roman" panose="0202050305040509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p:txBody>
          <a:bodyPr vert="horz" wrap="square" lIns="91440" tIns="45720" rIns="91440" bIns="45720" anchor="b" anchorCtr="0"/>
          <a:p>
            <a:r>
              <a:rPr lang="en-US" altLang="zh-CN" sz="4000" dirty="0"/>
              <a:t>Joins and Meets of Zero-One Matrices</a:t>
            </a:r>
            <a:endParaRPr lang="en-US" altLang="zh-CN" sz="4000" dirty="0"/>
          </a:p>
        </p:txBody>
      </p:sp>
      <p:sp>
        <p:nvSpPr>
          <p:cNvPr id="25603" name="Content Placeholder 2"/>
          <p:cNvSpPr>
            <a:spLocks noGrp="1"/>
          </p:cNvSpPr>
          <p:nvPr>
            <p:ph idx="1"/>
          </p:nvPr>
        </p:nvSpPr>
        <p:spPr>
          <a:xfrm>
            <a:off x="400050" y="1773238"/>
            <a:ext cx="8543925" cy="4114800"/>
          </a:xfrm>
        </p:spPr>
        <p:txBody>
          <a:bodyPr vert="horz" wrap="square" lIns="91440" tIns="45720" rIns="91440" bIns="45720" anchor="t" anchorCtr="0"/>
          <a:p>
            <a:pPr>
              <a:buNone/>
            </a:pPr>
            <a:r>
              <a:rPr lang="en-US" altLang="zh-CN" b="1" dirty="0"/>
              <a:t>  </a:t>
            </a:r>
            <a:r>
              <a:rPr lang="en-US" altLang="zh-CN" b="1" dirty="0">
                <a:latin typeface="Times New Roman" panose="02020503050405090304" pitchFamily="18" charset="0"/>
              </a:rPr>
              <a:t> Example</a:t>
            </a:r>
            <a:r>
              <a:rPr lang="en-US" altLang="zh-CN" dirty="0">
                <a:latin typeface="Times New Roman" panose="02020503050405090304" pitchFamily="18" charset="0"/>
              </a:rPr>
              <a:t>: Find the join and meet of the zero-one matrices</a:t>
            </a:r>
            <a:endParaRPr lang="en-US" altLang="zh-CN" dirty="0">
              <a:latin typeface="Times New Roman" panose="02020503050405090304" pitchFamily="18" charset="0"/>
            </a:endParaRPr>
          </a:p>
          <a:p>
            <a:pPr>
              <a:buNone/>
            </a:pP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   </a:t>
            </a:r>
            <a:r>
              <a:rPr lang="en-US" altLang="zh-CN" b="1" dirty="0">
                <a:latin typeface="Times New Roman" panose="02020503050405090304" pitchFamily="18" charset="0"/>
              </a:rPr>
              <a:t>Solution</a:t>
            </a:r>
            <a:r>
              <a:rPr lang="en-US" altLang="zh-CN" dirty="0">
                <a:latin typeface="Times New Roman" panose="02020503050405090304" pitchFamily="18" charset="0"/>
              </a:rPr>
              <a:t>: The join of  </a:t>
            </a:r>
            <a:r>
              <a:rPr lang="en-US" altLang="zh-CN" b="1" dirty="0">
                <a:latin typeface="Times New Roman" panose="02020503050405090304" pitchFamily="18" charset="0"/>
              </a:rPr>
              <a:t>A</a:t>
            </a:r>
            <a:r>
              <a:rPr lang="en-US" altLang="zh-CN" dirty="0">
                <a:latin typeface="Times New Roman" panose="02020503050405090304" pitchFamily="18" charset="0"/>
              </a:rPr>
              <a:t> and </a:t>
            </a:r>
            <a:r>
              <a:rPr lang="en-US" altLang="zh-CN" b="1" dirty="0">
                <a:latin typeface="Times New Roman" panose="02020503050405090304" pitchFamily="18" charset="0"/>
              </a:rPr>
              <a:t>B</a:t>
            </a:r>
            <a:r>
              <a:rPr lang="en-US" altLang="zh-CN" dirty="0">
                <a:latin typeface="Times New Roman" panose="02020503050405090304" pitchFamily="18" charset="0"/>
              </a:rPr>
              <a:t> is</a:t>
            </a:r>
            <a:endParaRPr lang="en-US" altLang="zh-CN" dirty="0">
              <a:latin typeface="Times New Roman" panose="02020503050405090304" pitchFamily="18" charset="0"/>
            </a:endParaRPr>
          </a:p>
          <a:p>
            <a:pPr>
              <a:buNone/>
            </a:pP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                   The meet of </a:t>
            </a:r>
            <a:r>
              <a:rPr lang="en-US" altLang="zh-CN" b="1" dirty="0">
                <a:latin typeface="Times New Roman" panose="02020503050405090304" pitchFamily="18" charset="0"/>
              </a:rPr>
              <a:t>A</a:t>
            </a:r>
            <a:r>
              <a:rPr lang="en-US" altLang="zh-CN" dirty="0">
                <a:latin typeface="Times New Roman" panose="02020503050405090304" pitchFamily="18" charset="0"/>
              </a:rPr>
              <a:t> and </a:t>
            </a:r>
            <a:r>
              <a:rPr lang="en-US" altLang="zh-CN" b="1" dirty="0">
                <a:latin typeface="Times New Roman" panose="02020503050405090304" pitchFamily="18" charset="0"/>
              </a:rPr>
              <a:t>B</a:t>
            </a:r>
            <a:r>
              <a:rPr lang="en-US" altLang="zh-CN" dirty="0">
                <a:latin typeface="Times New Roman" panose="02020503050405090304" pitchFamily="18" charset="0"/>
              </a:rPr>
              <a:t> is</a:t>
            </a:r>
            <a:endParaRPr lang="en-US" altLang="zh-CN" dirty="0">
              <a:latin typeface="Times New Roman" panose="02020503050405090304" pitchFamily="18" charset="0"/>
            </a:endParaRPr>
          </a:p>
        </p:txBody>
      </p:sp>
      <p:pic>
        <p:nvPicPr>
          <p:cNvPr id="25604" name="Picture 6" descr="addin_tmp.png"/>
          <p:cNvPicPr>
            <a:picLocks noChangeAspect="1"/>
          </p:cNvPicPr>
          <p:nvPr>
            <p:custDataLst>
              <p:tags r:id="rId1"/>
            </p:custDataLst>
          </p:nvPr>
        </p:nvPicPr>
        <p:blipFill>
          <a:blip r:embed="rId2"/>
          <a:stretch>
            <a:fillRect/>
          </a:stretch>
        </p:blipFill>
        <p:spPr>
          <a:xfrm>
            <a:off x="1763713" y="2854325"/>
            <a:ext cx="2047875" cy="609600"/>
          </a:xfrm>
          <a:prstGeom prst="rect">
            <a:avLst/>
          </a:prstGeom>
          <a:noFill/>
          <a:ln w="9525">
            <a:noFill/>
          </a:ln>
        </p:spPr>
      </p:pic>
      <p:pic>
        <p:nvPicPr>
          <p:cNvPr id="25605" name="Picture 9" descr="addin_tmp.png"/>
          <p:cNvPicPr>
            <a:picLocks noChangeAspect="1"/>
          </p:cNvPicPr>
          <p:nvPr>
            <p:custDataLst>
              <p:tags r:id="rId3"/>
            </p:custDataLst>
          </p:nvPr>
        </p:nvPicPr>
        <p:blipFill>
          <a:blip r:embed="rId4"/>
          <a:stretch>
            <a:fillRect/>
          </a:stretch>
        </p:blipFill>
        <p:spPr>
          <a:xfrm>
            <a:off x="4572000" y="2854325"/>
            <a:ext cx="2035175" cy="609600"/>
          </a:xfrm>
          <a:prstGeom prst="rect">
            <a:avLst/>
          </a:prstGeom>
          <a:noFill/>
          <a:ln w="9525">
            <a:noFill/>
          </a:ln>
        </p:spPr>
      </p:pic>
      <p:pic>
        <p:nvPicPr>
          <p:cNvPr id="25606" name="Picture 12" descr="addin_tmp.png"/>
          <p:cNvPicPr>
            <a:picLocks noChangeAspect="1"/>
          </p:cNvPicPr>
          <p:nvPr>
            <p:custDataLst>
              <p:tags r:id="rId5"/>
            </p:custDataLst>
          </p:nvPr>
        </p:nvPicPr>
        <p:blipFill>
          <a:blip r:embed="rId6"/>
          <a:stretch>
            <a:fillRect/>
          </a:stretch>
        </p:blipFill>
        <p:spPr>
          <a:xfrm>
            <a:off x="2514600" y="4079875"/>
            <a:ext cx="5502275" cy="609600"/>
          </a:xfrm>
          <a:prstGeom prst="rect">
            <a:avLst/>
          </a:prstGeom>
          <a:noFill/>
          <a:ln w="9525">
            <a:noFill/>
          </a:ln>
        </p:spPr>
      </p:pic>
      <p:pic>
        <p:nvPicPr>
          <p:cNvPr id="25607" name="Picture 14" descr="addin_tmp.png"/>
          <p:cNvPicPr>
            <a:picLocks noChangeAspect="1"/>
          </p:cNvPicPr>
          <p:nvPr>
            <p:custDataLst>
              <p:tags r:id="rId7"/>
            </p:custDataLst>
          </p:nvPr>
        </p:nvPicPr>
        <p:blipFill>
          <a:blip r:embed="rId8"/>
          <a:stretch>
            <a:fillRect/>
          </a:stretch>
        </p:blipFill>
        <p:spPr>
          <a:xfrm>
            <a:off x="2482850" y="5305425"/>
            <a:ext cx="5502275" cy="609600"/>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662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2662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2662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Boolean Products</a:t>
            </a:r>
            <a:endParaRPr lang="en-US" altLang="zh-CN" dirty="0">
              <a:latin typeface="Times New Roman" panose="02020503050405090304" pitchFamily="18" charset="0"/>
            </a:endParaRPr>
          </a:p>
        </p:txBody>
      </p:sp>
      <p:sp>
        <p:nvSpPr>
          <p:cNvPr id="26630"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Let </a:t>
            </a:r>
            <a:r>
              <a:rPr lang="en-US" altLang="zh-CN" b="1" dirty="0">
                <a:solidFill>
                  <a:srgbClr val="FF0000"/>
                </a:solidFill>
                <a:latin typeface="Times New Roman" panose="02020503050405090304" pitchFamily="18" charset="0"/>
              </a:rPr>
              <a:t>A</a:t>
            </a:r>
            <a:r>
              <a:rPr lang="en-US" altLang="zh-CN" dirty="0">
                <a:solidFill>
                  <a:srgbClr val="FF0000"/>
                </a:solidFill>
                <a:latin typeface="Times New Roman" panose="02020503050405090304" pitchFamily="18" charset="0"/>
              </a:rPr>
              <a:t>=[</a:t>
            </a:r>
            <a:r>
              <a:rPr lang="en-US" altLang="zh-CN" i="1" dirty="0">
                <a:solidFill>
                  <a:srgbClr val="FF0000"/>
                </a:solidFill>
                <a:latin typeface="Times New Roman" panose="02020503050405090304" pitchFamily="18" charset="0"/>
              </a:rPr>
              <a:t>a</a:t>
            </a:r>
            <a:r>
              <a:rPr lang="en-US" altLang="zh-CN" i="1" baseline="-25000" dirty="0">
                <a:solidFill>
                  <a:srgbClr val="FF0000"/>
                </a:solidFill>
                <a:latin typeface="Times New Roman" panose="02020503050405090304" pitchFamily="18" charset="0"/>
              </a:rPr>
              <a:t>ij</a:t>
            </a:r>
            <a:r>
              <a:rPr lang="en-US" altLang="zh-CN" dirty="0">
                <a:solidFill>
                  <a:srgbClr val="FF0000"/>
                </a:solidFill>
                <a:latin typeface="Times New Roman" panose="02020503050405090304" pitchFamily="18" charset="0"/>
              </a:rPr>
              <a:t>]</a:t>
            </a:r>
            <a:r>
              <a:rPr lang="en-US" altLang="zh-CN" dirty="0">
                <a:latin typeface="Times New Roman" panose="02020503050405090304" pitchFamily="18" charset="0"/>
              </a:rPr>
              <a:t> be an </a:t>
            </a:r>
            <a:r>
              <a:rPr lang="en-US" altLang="zh-CN" i="1" dirty="0">
                <a:latin typeface="Times New Roman" panose="02020503050405090304" pitchFamily="18" charset="0"/>
              </a:rPr>
              <a:t>m</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k</a:t>
            </a:r>
            <a:r>
              <a:rPr lang="en-US" altLang="zh-CN" dirty="0">
                <a:latin typeface="Times New Roman" panose="02020503050405090304" pitchFamily="18" charset="0"/>
                <a:sym typeface="Symbol" panose="05050102010706020507" pitchFamily="18" charset="2"/>
              </a:rPr>
              <a:t> zero-one matrix,</a:t>
            </a:r>
            <a:br>
              <a:rPr lang="en-US" altLang="zh-CN" dirty="0">
                <a:latin typeface="Times New Roman" panose="02020503050405090304" pitchFamily="18" charset="0"/>
                <a:sym typeface="Symbol" panose="05050102010706020507" pitchFamily="18" charset="2"/>
              </a:rPr>
            </a:br>
            <a:r>
              <a:rPr lang="en-US" altLang="zh-CN" dirty="0">
                <a:latin typeface="Times New Roman" panose="02020503050405090304" pitchFamily="18" charset="0"/>
                <a:sym typeface="Symbol" panose="05050102010706020507" pitchFamily="18" charset="2"/>
              </a:rPr>
              <a:t>&amp; let </a:t>
            </a:r>
            <a:r>
              <a:rPr lang="en-US" altLang="zh-CN" b="1" dirty="0">
                <a:solidFill>
                  <a:srgbClr val="FF0000"/>
                </a:solidFill>
                <a:latin typeface="Times New Roman" panose="02020503050405090304" pitchFamily="18" charset="0"/>
                <a:sym typeface="Symbol" panose="05050102010706020507" pitchFamily="18" charset="2"/>
              </a:rPr>
              <a:t>B</a:t>
            </a:r>
            <a:r>
              <a:rPr lang="en-US" altLang="zh-CN" dirty="0">
                <a:solidFill>
                  <a:srgbClr val="FF0000"/>
                </a:solidFill>
                <a:latin typeface="Times New Roman" panose="02020503050405090304" pitchFamily="18" charset="0"/>
                <a:sym typeface="Symbol" panose="05050102010706020507" pitchFamily="18" charset="2"/>
              </a:rPr>
              <a:t>=[</a:t>
            </a:r>
            <a:r>
              <a:rPr lang="en-US" altLang="zh-CN" i="1" dirty="0">
                <a:solidFill>
                  <a:srgbClr val="FF0000"/>
                </a:solidFill>
                <a:latin typeface="Times New Roman" panose="02020503050405090304" pitchFamily="18" charset="0"/>
                <a:sym typeface="Symbol" panose="05050102010706020507" pitchFamily="18" charset="2"/>
              </a:rPr>
              <a:t>b</a:t>
            </a:r>
            <a:r>
              <a:rPr lang="en-US" altLang="zh-CN" i="1" baseline="-25000" dirty="0">
                <a:solidFill>
                  <a:srgbClr val="FF0000"/>
                </a:solidFill>
                <a:latin typeface="Times New Roman" panose="02020503050405090304" pitchFamily="18" charset="0"/>
                <a:sym typeface="Symbol" panose="05050102010706020507" pitchFamily="18" charset="2"/>
              </a:rPr>
              <a:t>ij</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 be a </a:t>
            </a:r>
            <a:r>
              <a:rPr lang="en-US" altLang="zh-CN" i="1" dirty="0">
                <a:latin typeface="Times New Roman" panose="02020503050405090304" pitchFamily="18" charset="0"/>
              </a:rPr>
              <a:t>k</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n</a:t>
            </a:r>
            <a:r>
              <a:rPr lang="en-US" altLang="zh-CN" dirty="0">
                <a:latin typeface="Times New Roman" panose="02020503050405090304" pitchFamily="18" charset="0"/>
                <a:sym typeface="Symbol" panose="05050102010706020507" pitchFamily="18" charset="2"/>
              </a:rPr>
              <a:t> zero-one matrix,</a:t>
            </a:r>
            <a:endParaRPr lang="en-US" altLang="zh-CN" dirty="0">
              <a:latin typeface="Times New Roman" panose="02020503050405090304" pitchFamily="18" charset="0"/>
              <a:sym typeface="Symbol" panose="05050102010706020507" pitchFamily="18" charset="2"/>
            </a:endParaRPr>
          </a:p>
          <a:p>
            <a:pPr eaLnBrk="1" hangingPunct="1"/>
            <a:r>
              <a:rPr lang="en-US" altLang="zh-CN" dirty="0">
                <a:solidFill>
                  <a:schemeClr val="folHlink"/>
                </a:solidFill>
                <a:latin typeface="Times New Roman" panose="02020503050405090304" pitchFamily="18" charset="0"/>
                <a:sym typeface="Symbol" panose="05050102010706020507" pitchFamily="18" charset="2"/>
              </a:rPr>
              <a:t>The </a:t>
            </a:r>
            <a:r>
              <a:rPr lang="en-US" altLang="zh-CN" i="1" dirty="0">
                <a:solidFill>
                  <a:schemeClr val="folHlink"/>
                </a:solidFill>
                <a:latin typeface="Times New Roman" panose="02020503050405090304" pitchFamily="18" charset="0"/>
                <a:sym typeface="Symbol" panose="05050102010706020507" pitchFamily="18" charset="2"/>
              </a:rPr>
              <a:t>boolean product</a:t>
            </a:r>
            <a:r>
              <a:rPr lang="en-US" altLang="zh-CN" dirty="0">
                <a:solidFill>
                  <a:schemeClr val="folHlink"/>
                </a:solidFill>
                <a:latin typeface="Times New Roman" panose="02020503050405090304" pitchFamily="18" charset="0"/>
                <a:sym typeface="Symbol" panose="05050102010706020507" pitchFamily="18" charset="2"/>
              </a:rPr>
              <a:t> of </a:t>
            </a:r>
            <a:r>
              <a:rPr lang="en-US" altLang="zh-CN" b="1" dirty="0">
                <a:solidFill>
                  <a:schemeClr val="folHlink"/>
                </a:solidFill>
                <a:latin typeface="Times New Roman" panose="02020503050405090304" pitchFamily="18" charset="0"/>
                <a:sym typeface="Symbol" panose="05050102010706020507" pitchFamily="18" charset="2"/>
              </a:rPr>
              <a:t>A</a:t>
            </a:r>
            <a:r>
              <a:rPr lang="en-US" altLang="zh-CN" dirty="0">
                <a:solidFill>
                  <a:schemeClr val="folHlink"/>
                </a:solidFill>
                <a:latin typeface="Times New Roman" panose="02020503050405090304" pitchFamily="18" charset="0"/>
                <a:sym typeface="Symbol" panose="05050102010706020507" pitchFamily="18" charset="2"/>
              </a:rPr>
              <a:t> and </a:t>
            </a:r>
            <a:r>
              <a:rPr lang="en-US" altLang="zh-CN" b="1" dirty="0">
                <a:solidFill>
                  <a:schemeClr val="folHlink"/>
                </a:solidFill>
                <a:latin typeface="Times New Roman" panose="02020503050405090304" pitchFamily="18" charset="0"/>
                <a:sym typeface="Symbol" panose="05050102010706020507" pitchFamily="18" charset="2"/>
              </a:rPr>
              <a:t>B</a:t>
            </a:r>
            <a:r>
              <a:rPr lang="en-US" altLang="zh-CN" dirty="0">
                <a:solidFill>
                  <a:schemeClr val="folHlink"/>
                </a:solidFill>
                <a:latin typeface="Times New Roman" panose="02020503050405090304" pitchFamily="18" charset="0"/>
                <a:sym typeface="Symbol" panose="05050102010706020507" pitchFamily="18" charset="2"/>
              </a:rPr>
              <a:t> is like normal matrix , but using  instead of + in the row-column “vector dot product”:</a:t>
            </a:r>
            <a:endParaRPr lang="en-US" altLang="zh-CN" dirty="0">
              <a:solidFill>
                <a:schemeClr val="folHlink"/>
              </a:solidFill>
              <a:latin typeface="Times New Roman" panose="02020503050405090304" pitchFamily="18" charset="0"/>
              <a:sym typeface="Symbol" panose="05050102010706020507" pitchFamily="18" charset="2"/>
            </a:endParaRPr>
          </a:p>
        </p:txBody>
      </p:sp>
      <p:graphicFrame>
        <p:nvGraphicFramePr>
          <p:cNvPr id="26631" name="Object 4"/>
          <p:cNvGraphicFramePr>
            <a:graphicFrameLocks noChangeAspect="1"/>
          </p:cNvGraphicFramePr>
          <p:nvPr/>
        </p:nvGraphicFramePr>
        <p:xfrm>
          <a:off x="2406650" y="4495800"/>
          <a:ext cx="5495925" cy="1501775"/>
        </p:xfrm>
        <a:graphic>
          <a:graphicData uri="http://schemas.openxmlformats.org/presentationml/2006/ole">
            <mc:AlternateContent xmlns:mc="http://schemas.openxmlformats.org/markup-compatibility/2006">
              <mc:Choice xmlns:v="urn:schemas-microsoft-com:vml" Requires="v">
                <p:oleObj spid="_x0000_s3080" name="" r:id="rId1" imgW="1574800" imgH="431800" progId="Equation.3">
                  <p:embed/>
                </p:oleObj>
              </mc:Choice>
              <mc:Fallback>
                <p:oleObj name="" r:id="rId1" imgW="1574800" imgH="431800" progId="Equation.3">
                  <p:embed/>
                  <p:pic>
                    <p:nvPicPr>
                      <p:cNvPr id="0" name="图片 3079"/>
                      <p:cNvPicPr/>
                      <p:nvPr/>
                    </p:nvPicPr>
                    <p:blipFill>
                      <a:blip r:embed="rId2"/>
                      <a:stretch>
                        <a:fillRect/>
                      </a:stretch>
                    </p:blipFill>
                    <p:spPr>
                      <a:xfrm>
                        <a:off x="2406650" y="4495800"/>
                        <a:ext cx="5495925" cy="1501775"/>
                      </a:xfrm>
                      <a:prstGeom prst="rect">
                        <a:avLst/>
                      </a:prstGeom>
                      <a:noFill/>
                      <a:ln w="38100">
                        <a:noFill/>
                        <a:miter/>
                      </a:ln>
                    </p:spPr>
                  </p:pic>
                </p:oleObj>
              </mc:Fallback>
            </mc:AlternateContent>
          </a:graphicData>
        </a:graphic>
      </p:graphicFrame>
      <p:sp>
        <p:nvSpPr>
          <p:cNvPr id="26632" name="Text Box 5"/>
          <p:cNvSpPr txBox="1"/>
          <p:nvPr/>
        </p:nvSpPr>
        <p:spPr>
          <a:xfrm>
            <a:off x="1135063" y="4840288"/>
            <a:ext cx="1397000" cy="701675"/>
          </a:xfrm>
          <a:prstGeom prst="rect">
            <a:avLst/>
          </a:prstGeom>
          <a:noFill/>
          <a:ln w="9525">
            <a:noFill/>
          </a:ln>
        </p:spPr>
        <p:txBody>
          <a:bodyPr wrap="none">
            <a:spAutoFit/>
          </a:bodyPr>
          <a:p>
            <a:r>
              <a:rPr lang="en-US" altLang="zh-CN" sz="4000" i="0" dirty="0">
                <a:latin typeface="Times New Roman" panose="02020503050405090304" pitchFamily="18" charset="0"/>
              </a:rPr>
              <a:t>A</a:t>
            </a:r>
            <a:r>
              <a:rPr lang="en-US" altLang="zh-CN" sz="4000" b="0" i="0" dirty="0">
                <a:latin typeface="Times New Roman" panose="02020503050405090304" pitchFamily="18" charset="0"/>
              </a:rPr>
              <a:t>⊙</a:t>
            </a:r>
            <a:r>
              <a:rPr lang="en-US" altLang="zh-CN" sz="4000" i="0" dirty="0">
                <a:latin typeface="Times New Roman" panose="02020503050405090304" pitchFamily="18" charset="0"/>
              </a:rPr>
              <a:t>B</a:t>
            </a:r>
            <a:endParaRPr lang="en-US" altLang="zh-CN" sz="4000" i="0" dirty="0">
              <a:latin typeface="Times New Roman" panose="0202050305040509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p:txBody>
          <a:bodyPr vert="horz" wrap="square" lIns="91440" tIns="45720" rIns="91440" bIns="45720" anchor="b" anchorCtr="0"/>
          <a:p>
            <a:r>
              <a:rPr lang="en-US" altLang="zh-CN" sz="4000" dirty="0"/>
              <a:t>Boolean Product of Zero-One Matrices</a:t>
            </a:r>
            <a:endParaRPr lang="en-US" altLang="zh-CN" sz="4000" dirty="0"/>
          </a:p>
        </p:txBody>
      </p:sp>
      <p:sp>
        <p:nvSpPr>
          <p:cNvPr id="27651" name="Content Placeholder 2"/>
          <p:cNvSpPr>
            <a:spLocks noGrp="1"/>
          </p:cNvSpPr>
          <p:nvPr>
            <p:ph idx="1"/>
          </p:nvPr>
        </p:nvSpPr>
        <p:spPr>
          <a:xfrm>
            <a:off x="755015" y="1269048"/>
            <a:ext cx="8631238" cy="4114800"/>
          </a:xfrm>
        </p:spPr>
        <p:txBody>
          <a:bodyPr vert="horz" wrap="square" lIns="91440" tIns="45720" rIns="91440" bIns="45720" anchor="t" anchorCtr="0"/>
          <a:p>
            <a:pPr>
              <a:buNone/>
            </a:pPr>
            <a:r>
              <a:rPr lang="en-US" altLang="zh-CN" i="1" dirty="0">
                <a:latin typeface="Times New Roman" panose="02020503050405090304" pitchFamily="18" charset="0"/>
                <a:sym typeface="Symbol" panose="05050102010706020507" pitchFamily="18" charset="2"/>
              </a:rPr>
              <a:t>c</a:t>
            </a:r>
            <a:r>
              <a:rPr lang="en-US" altLang="zh-CN" i="1" baseline="-25000" dirty="0">
                <a:latin typeface="Times New Roman" panose="02020503050405090304" pitchFamily="18" charset="0"/>
                <a:sym typeface="Symbol" panose="05050102010706020507" pitchFamily="18" charset="2"/>
              </a:rPr>
              <a:t>ij</a:t>
            </a:r>
            <a:r>
              <a:rPr lang="en-US" altLang="zh-CN" baseline="-25000" dirty="0">
                <a:latin typeface="Times New Roman" panose="02020503050405090304" pitchFamily="18" charset="0"/>
                <a:sym typeface="Symbol" panose="05050102010706020507" pitchFamily="18" charset="2"/>
              </a:rPr>
              <a:t> </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a</a:t>
            </a:r>
            <a:r>
              <a:rPr lang="en-US" altLang="zh-CN" i="1" baseline="-25000" dirty="0">
                <a:latin typeface="Times New Roman" panose="02020503050405090304" pitchFamily="18" charset="0"/>
                <a:sym typeface="Symbol" panose="05050102010706020507" pitchFamily="18" charset="2"/>
              </a:rPr>
              <a:t>i</a:t>
            </a:r>
            <a:r>
              <a:rPr lang="en-US" altLang="zh-CN" baseline="-25000" dirty="0">
                <a:latin typeface="Times New Roman" panose="02020503050405090304" pitchFamily="18" charset="0"/>
                <a:sym typeface="Symbol" panose="05050102010706020507" pitchFamily="18" charset="2"/>
              </a:rPr>
              <a:t>1</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sym typeface="Symbol" panose="05050102010706020507" pitchFamily="18" charset="2"/>
              </a:rPr>
              <a:t>b</a:t>
            </a:r>
            <a:r>
              <a:rPr lang="en-US" altLang="zh-CN" baseline="-25000" dirty="0">
                <a:latin typeface="Times New Roman" panose="02020503050405090304" pitchFamily="18" charset="0"/>
                <a:sym typeface="Symbol" panose="05050102010706020507" pitchFamily="18" charset="2"/>
              </a:rPr>
              <a:t>1</a:t>
            </a:r>
            <a:r>
              <a:rPr lang="en-US" altLang="zh-CN" i="1" baseline="-25000" dirty="0">
                <a:latin typeface="Times New Roman" panose="02020503050405090304" pitchFamily="18" charset="0"/>
                <a:sym typeface="Symbol" panose="05050102010706020507" pitchFamily="18" charset="2"/>
              </a:rPr>
              <a:t>j</a:t>
            </a:r>
            <a:r>
              <a:rPr lang="en-US" altLang="zh-CN" dirty="0">
                <a:latin typeface="Times New Roman" panose="02020503050405090304" pitchFamily="18" charset="0"/>
                <a:sym typeface="Symbol" panose="05050102010706020507" pitchFamily="18" charset="2"/>
              </a:rPr>
              <a:t>)∨ (</a:t>
            </a:r>
            <a:r>
              <a:rPr lang="en-US" altLang="zh-CN" i="1" dirty="0">
                <a:latin typeface="Times New Roman" panose="02020503050405090304" pitchFamily="18" charset="0"/>
                <a:sym typeface="Symbol" panose="05050102010706020507" pitchFamily="18" charset="2"/>
              </a:rPr>
              <a:t>a</a:t>
            </a:r>
            <a:r>
              <a:rPr lang="en-US" altLang="zh-CN" baseline="-25000" dirty="0">
                <a:latin typeface="Times New Roman" panose="02020503050405090304" pitchFamily="18" charset="0"/>
                <a:sym typeface="Symbol" panose="05050102010706020507" pitchFamily="18" charset="2"/>
              </a:rPr>
              <a:t>i2</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sym typeface="Symbol" panose="05050102010706020507" pitchFamily="18" charset="2"/>
              </a:rPr>
              <a:t>b</a:t>
            </a:r>
            <a:r>
              <a:rPr lang="en-US" altLang="zh-CN" baseline="-25000" dirty="0">
                <a:latin typeface="Times New Roman" panose="02020503050405090304" pitchFamily="18" charset="0"/>
                <a:sym typeface="Symbol" panose="05050102010706020507" pitchFamily="18" charset="2"/>
              </a:rPr>
              <a:t>2j</a:t>
            </a:r>
            <a:r>
              <a:rPr lang="en-US" altLang="zh-CN" dirty="0">
                <a:latin typeface="Times New Roman" panose="02020503050405090304" pitchFamily="18" charset="0"/>
                <a:sym typeface="Symbol" panose="05050102010706020507" pitchFamily="18" charset="2"/>
              </a:rPr>
              <a:t>) ∨ … ∨ (</a:t>
            </a:r>
            <a:r>
              <a:rPr lang="en-US" altLang="zh-CN" i="1" dirty="0">
                <a:latin typeface="Times New Roman" panose="02020503050405090304" pitchFamily="18" charset="0"/>
                <a:sym typeface="Symbol" panose="05050102010706020507" pitchFamily="18" charset="2"/>
              </a:rPr>
              <a:t>a</a:t>
            </a:r>
            <a:r>
              <a:rPr lang="en-US" altLang="zh-CN" i="1" baseline="-25000" dirty="0">
                <a:latin typeface="Times New Roman" panose="02020503050405090304" pitchFamily="18" charset="0"/>
                <a:sym typeface="Symbol" panose="05050102010706020507" pitchFamily="18" charset="2"/>
              </a:rPr>
              <a:t>ik</a:t>
            </a:r>
            <a:r>
              <a:rPr lang="en-US" altLang="zh-CN" dirty="0">
                <a:latin typeface="Times New Roman" panose="02020503050405090304" pitchFamily="18" charset="0"/>
                <a:sym typeface="Symbol" panose="05050102010706020507" pitchFamily="18" charset="2"/>
              </a:rPr>
              <a:t> ∧ </a:t>
            </a:r>
            <a:r>
              <a:rPr lang="en-US" altLang="zh-CN" i="1" dirty="0">
                <a:latin typeface="Times New Roman" panose="02020503050405090304" pitchFamily="18" charset="0"/>
                <a:sym typeface="Symbol" panose="05050102010706020507" pitchFamily="18" charset="2"/>
              </a:rPr>
              <a:t>b</a:t>
            </a:r>
            <a:r>
              <a:rPr lang="en-US" altLang="zh-CN" i="1" baseline="-25000" dirty="0">
                <a:latin typeface="Times New Roman" panose="02020503050405090304" pitchFamily="18" charset="0"/>
                <a:sym typeface="Symbol" panose="05050102010706020507" pitchFamily="18" charset="2"/>
              </a:rPr>
              <a:t>kj</a:t>
            </a:r>
            <a:r>
              <a:rPr lang="en-US" altLang="zh-CN" dirty="0">
                <a:latin typeface="Times New Roman" panose="02020503050405090304" pitchFamily="18" charset="0"/>
                <a:sym typeface="Symbol" panose="05050102010706020507" pitchFamily="18" charset="2"/>
              </a:rPr>
              <a:t>).</a:t>
            </a:r>
            <a:endParaRPr lang="en-US" altLang="zh-CN" dirty="0">
              <a:latin typeface="Times New Roman" panose="02020503050405090304" pitchFamily="18" charset="0"/>
              <a:sym typeface="Symbol" panose="05050102010706020507" pitchFamily="18" charset="2"/>
            </a:endParaRPr>
          </a:p>
          <a:p>
            <a:pPr>
              <a:buNone/>
            </a:pPr>
            <a:r>
              <a:rPr lang="en-US" altLang="zh-CN" b="1" dirty="0">
                <a:latin typeface="Times New Roman" panose="02020503050405090304" pitchFamily="18" charset="0"/>
                <a:sym typeface="Symbol" panose="05050102010706020507" pitchFamily="18" charset="2"/>
              </a:rPr>
              <a:t>    Example</a:t>
            </a:r>
            <a:r>
              <a:rPr lang="en-US" altLang="zh-CN" dirty="0">
                <a:latin typeface="Times New Roman" panose="02020503050405090304" pitchFamily="18" charset="0"/>
                <a:sym typeface="Symbol" panose="05050102010706020507" pitchFamily="18" charset="2"/>
              </a:rPr>
              <a:t>: Find the Boolean product of </a:t>
            </a:r>
            <a:r>
              <a:rPr lang="en-US" altLang="zh-CN" b="1" dirty="0">
                <a:latin typeface="Times New Roman" panose="02020503050405090304" pitchFamily="18" charset="0"/>
                <a:sym typeface="Symbol" panose="05050102010706020507" pitchFamily="18" charset="2"/>
              </a:rPr>
              <a:t>A</a:t>
            </a:r>
            <a:r>
              <a:rPr lang="en-US" altLang="zh-CN" dirty="0">
                <a:latin typeface="Times New Roman" panose="02020503050405090304" pitchFamily="18" charset="0"/>
                <a:sym typeface="Symbol" panose="05050102010706020507" pitchFamily="18" charset="2"/>
              </a:rPr>
              <a:t> and </a:t>
            </a:r>
            <a:r>
              <a:rPr lang="en-US" altLang="zh-CN" b="1" dirty="0">
                <a:latin typeface="Times New Roman" panose="02020503050405090304" pitchFamily="18" charset="0"/>
                <a:sym typeface="Symbol" panose="05050102010706020507" pitchFamily="18" charset="2"/>
              </a:rPr>
              <a:t>B</a:t>
            </a:r>
            <a:r>
              <a:rPr lang="en-US" altLang="zh-CN" dirty="0">
                <a:latin typeface="Times New Roman" panose="02020503050405090304" pitchFamily="18" charset="0"/>
                <a:sym typeface="Symbol" panose="05050102010706020507" pitchFamily="18" charset="2"/>
              </a:rPr>
              <a:t>, where</a:t>
            </a:r>
            <a:endParaRPr lang="en-US" altLang="zh-CN" dirty="0">
              <a:latin typeface="Times New Roman" panose="02020503050405090304" pitchFamily="18" charset="0"/>
            </a:endParaRPr>
          </a:p>
        </p:txBody>
      </p:sp>
      <p:pic>
        <p:nvPicPr>
          <p:cNvPr id="27652" name="Picture 5" descr="addin_tmp.png"/>
          <p:cNvPicPr>
            <a:picLocks noChangeAspect="1"/>
          </p:cNvPicPr>
          <p:nvPr>
            <p:custDataLst>
              <p:tags r:id="rId1"/>
            </p:custDataLst>
          </p:nvPr>
        </p:nvPicPr>
        <p:blipFill>
          <a:blip r:embed="rId2"/>
          <a:stretch>
            <a:fillRect/>
          </a:stretch>
        </p:blipFill>
        <p:spPr>
          <a:xfrm>
            <a:off x="2480945" y="2500630"/>
            <a:ext cx="1739900" cy="912813"/>
          </a:xfrm>
          <a:prstGeom prst="rect">
            <a:avLst/>
          </a:prstGeom>
          <a:noFill/>
          <a:ln w="9525">
            <a:noFill/>
          </a:ln>
        </p:spPr>
      </p:pic>
      <p:pic>
        <p:nvPicPr>
          <p:cNvPr id="27653" name="Picture 6" descr="addin_tmp.png"/>
          <p:cNvPicPr>
            <a:picLocks noChangeAspect="1"/>
          </p:cNvPicPr>
          <p:nvPr>
            <p:custDataLst>
              <p:tags r:id="rId3"/>
            </p:custDataLst>
          </p:nvPr>
        </p:nvPicPr>
        <p:blipFill>
          <a:blip r:embed="rId4"/>
          <a:stretch>
            <a:fillRect/>
          </a:stretch>
        </p:blipFill>
        <p:spPr>
          <a:xfrm>
            <a:off x="4572000" y="2568575"/>
            <a:ext cx="2035175" cy="609600"/>
          </a:xfrm>
          <a:prstGeom prst="rect">
            <a:avLst/>
          </a:prstGeom>
          <a:noFill/>
          <a:ln w="9525">
            <a:noFill/>
          </a:ln>
        </p:spPr>
      </p:pic>
      <p:sp>
        <p:nvSpPr>
          <p:cNvPr id="28675" name="Content Placeholder 2"/>
          <p:cNvSpPr>
            <a:spLocks noGrp="1"/>
          </p:cNvSpPr>
          <p:nvPr/>
        </p:nvSpPr>
        <p:spPr>
          <a:xfrm>
            <a:off x="374650" y="3355975"/>
            <a:ext cx="8153400" cy="4114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a:buNone/>
            </a:pPr>
            <a:r>
              <a:rPr lang="en-US" altLang="zh-CN" dirty="0"/>
              <a:t>   </a:t>
            </a:r>
            <a:r>
              <a:rPr lang="en-US" altLang="zh-CN" sz="2800" dirty="0">
                <a:latin typeface="Times New Roman" panose="02020503050405090304" pitchFamily="18" charset="0"/>
              </a:rPr>
              <a:t>S</a:t>
            </a:r>
            <a:r>
              <a:rPr lang="en-US" altLang="zh-CN" sz="2800" b="1" dirty="0">
                <a:latin typeface="Times New Roman" panose="02020503050405090304" pitchFamily="18" charset="0"/>
              </a:rPr>
              <a:t>olution</a:t>
            </a:r>
            <a:r>
              <a:rPr lang="en-US" altLang="zh-CN" sz="2800" dirty="0">
                <a:latin typeface="Times New Roman" panose="02020503050405090304" pitchFamily="18" charset="0"/>
              </a:rPr>
              <a:t>: The Boolean product </a:t>
            </a:r>
            <a:r>
              <a:rPr lang="en-US" altLang="zh-CN" sz="2800" b="1" dirty="0">
                <a:latin typeface="Times New Roman" panose="02020503050405090304" pitchFamily="18" charset="0"/>
              </a:rPr>
              <a:t>A</a:t>
            </a:r>
            <a:r>
              <a:rPr lang="en-US" altLang="zh-CN" sz="2800" dirty="0">
                <a:latin typeface="Times New Roman" panose="02020503050405090304" pitchFamily="18" charset="0"/>
              </a:rPr>
              <a:t> ⊙ </a:t>
            </a:r>
            <a:r>
              <a:rPr lang="en-US" altLang="zh-CN" sz="2800" b="1" dirty="0">
                <a:latin typeface="Times New Roman" panose="02020503050405090304" pitchFamily="18" charset="0"/>
              </a:rPr>
              <a:t>B</a:t>
            </a:r>
            <a:r>
              <a:rPr lang="en-US" altLang="zh-CN" sz="2800" dirty="0">
                <a:latin typeface="Times New Roman" panose="02020503050405090304" pitchFamily="18" charset="0"/>
              </a:rPr>
              <a:t> is given by</a:t>
            </a:r>
            <a:endParaRPr lang="en-US" altLang="zh-CN" sz="2800" dirty="0">
              <a:latin typeface="Times New Roman" panose="02020503050405090304" pitchFamily="18" charset="0"/>
            </a:endParaRPr>
          </a:p>
        </p:txBody>
      </p:sp>
      <p:pic>
        <p:nvPicPr>
          <p:cNvPr id="28676" name="Picture 11" descr="addin_tmp.png"/>
          <p:cNvPicPr>
            <a:picLocks noChangeAspect="1"/>
          </p:cNvPicPr>
          <p:nvPr>
            <p:custDataLst>
              <p:tags r:id="rId5"/>
            </p:custDataLst>
          </p:nvPr>
        </p:nvPicPr>
        <p:blipFill>
          <a:blip r:embed="rId6"/>
          <a:stretch>
            <a:fillRect/>
          </a:stretch>
        </p:blipFill>
        <p:spPr>
          <a:xfrm>
            <a:off x="1846263" y="5889625"/>
            <a:ext cx="1820862" cy="912813"/>
          </a:xfrm>
          <a:prstGeom prst="rect">
            <a:avLst/>
          </a:prstGeom>
          <a:noFill/>
          <a:ln w="9525">
            <a:noFill/>
          </a:ln>
        </p:spPr>
      </p:pic>
      <p:pic>
        <p:nvPicPr>
          <p:cNvPr id="28677" name="Picture 16" descr="addin_tmp.png"/>
          <p:cNvPicPr>
            <a:picLocks noChangeAspect="1"/>
          </p:cNvPicPr>
          <p:nvPr>
            <p:custDataLst>
              <p:tags r:id="rId7"/>
            </p:custDataLst>
          </p:nvPr>
        </p:nvPicPr>
        <p:blipFill>
          <a:blip r:embed="rId8"/>
          <a:stretch>
            <a:fillRect/>
          </a:stretch>
        </p:blipFill>
        <p:spPr>
          <a:xfrm>
            <a:off x="1846263" y="4891088"/>
            <a:ext cx="2873375" cy="912812"/>
          </a:xfrm>
          <a:prstGeom prst="rect">
            <a:avLst/>
          </a:prstGeom>
          <a:noFill/>
          <a:ln w="9525">
            <a:noFill/>
          </a:ln>
        </p:spPr>
      </p:pic>
      <p:pic>
        <p:nvPicPr>
          <p:cNvPr id="28678" name="Picture 19" descr="addin_tmp.png"/>
          <p:cNvPicPr>
            <a:picLocks noChangeAspect="1"/>
          </p:cNvPicPr>
          <p:nvPr>
            <p:custDataLst>
              <p:tags r:id="rId9"/>
            </p:custDataLst>
          </p:nvPr>
        </p:nvPicPr>
        <p:blipFill>
          <a:blip r:embed="rId10"/>
          <a:stretch>
            <a:fillRect/>
          </a:stretch>
        </p:blipFill>
        <p:spPr>
          <a:xfrm>
            <a:off x="1023938" y="3933825"/>
            <a:ext cx="7310437" cy="911225"/>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072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072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3072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Boolean Powers</a:t>
            </a:r>
            <a:endParaRPr lang="en-US" altLang="zh-CN" dirty="0">
              <a:latin typeface="Times New Roman" panose="02020503050405090304" pitchFamily="18" charset="0"/>
            </a:endParaRPr>
          </a:p>
        </p:txBody>
      </p:sp>
      <p:sp>
        <p:nvSpPr>
          <p:cNvPr id="30726"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For a square zero-one matrix </a:t>
            </a:r>
            <a:r>
              <a:rPr lang="en-US" altLang="zh-CN" b="1" dirty="0">
                <a:latin typeface="Times New Roman" panose="02020503050405090304" pitchFamily="18" charset="0"/>
              </a:rPr>
              <a:t>A</a:t>
            </a:r>
            <a:r>
              <a:rPr lang="en-US" altLang="zh-CN" dirty="0">
                <a:latin typeface="Times New Roman" panose="02020503050405090304" pitchFamily="18" charset="0"/>
              </a:rPr>
              <a:t>, and any </a:t>
            </a:r>
            <a:r>
              <a:rPr lang="en-US" altLang="zh-CN" i="1" dirty="0">
                <a:latin typeface="Times New Roman" panose="02020503050405090304" pitchFamily="18" charset="0"/>
              </a:rPr>
              <a:t>k</a:t>
            </a:r>
            <a:r>
              <a:rPr lang="en-US" altLang="zh-CN" dirty="0">
                <a:latin typeface="Times New Roman" panose="02020503050405090304" pitchFamily="18" charset="0"/>
                <a:sym typeface="Symbol" panose="05050102010706020507" pitchFamily="18" charset="2"/>
              </a:rPr>
              <a:t>0</a:t>
            </a:r>
            <a:r>
              <a:rPr lang="en-US" altLang="zh-CN" i="1" dirty="0">
                <a:latin typeface="Times New Roman" panose="02020503050405090304" pitchFamily="18" charset="0"/>
                <a:sym typeface="Symbol" panose="05050102010706020507" pitchFamily="18" charset="2"/>
              </a:rPr>
              <a:t>,</a:t>
            </a:r>
            <a:r>
              <a:rPr lang="en-US" altLang="zh-CN" dirty="0">
                <a:latin typeface="Times New Roman" panose="02020503050405090304" pitchFamily="18" charset="0"/>
                <a:sym typeface="Symbol" panose="05050102010706020507" pitchFamily="18" charset="2"/>
              </a:rPr>
              <a:t> </a:t>
            </a:r>
            <a:r>
              <a:rPr lang="en-US" altLang="zh-CN" dirty="0">
                <a:latin typeface="Times New Roman" panose="02020503050405090304" pitchFamily="18" charset="0"/>
              </a:rPr>
              <a:t>the </a:t>
            </a:r>
            <a:r>
              <a:rPr lang="en-US" altLang="zh-CN" i="1" dirty="0">
                <a:latin typeface="Times New Roman" panose="02020503050405090304" pitchFamily="18" charset="0"/>
              </a:rPr>
              <a:t>kth Boolean power of </a:t>
            </a:r>
            <a:r>
              <a:rPr lang="en-US" altLang="zh-CN" b="1" dirty="0">
                <a:latin typeface="Times New Roman" panose="02020503050405090304" pitchFamily="18" charset="0"/>
              </a:rPr>
              <a:t>A</a:t>
            </a:r>
            <a:r>
              <a:rPr lang="en-US" altLang="zh-CN" dirty="0">
                <a:latin typeface="Times New Roman" panose="02020503050405090304" pitchFamily="18" charset="0"/>
              </a:rPr>
              <a:t> is simply the Boolean product of </a:t>
            </a:r>
            <a:r>
              <a:rPr lang="en-US" altLang="zh-CN" i="1" dirty="0">
                <a:latin typeface="Times New Roman" panose="02020503050405090304" pitchFamily="18" charset="0"/>
              </a:rPr>
              <a:t>k</a:t>
            </a:r>
            <a:r>
              <a:rPr lang="en-US" altLang="zh-CN" dirty="0">
                <a:latin typeface="Times New Roman" panose="02020503050405090304" pitchFamily="18" charset="0"/>
              </a:rPr>
              <a:t> copies of </a:t>
            </a:r>
            <a:r>
              <a:rPr lang="en-US" altLang="zh-CN" b="1" dirty="0">
                <a:latin typeface="Times New Roman" panose="02020503050405090304" pitchFamily="18" charset="0"/>
              </a:rPr>
              <a:t>A</a:t>
            </a:r>
            <a:r>
              <a:rPr lang="en-US" altLang="zh-CN" dirty="0">
                <a:latin typeface="Times New Roman" panose="02020503050405090304" pitchFamily="18" charset="0"/>
              </a:rPr>
              <a:t>.</a:t>
            </a:r>
            <a:endParaRPr lang="en-US" altLang="zh-CN" dirty="0">
              <a:latin typeface="Times New Roman" panose="02020503050405090304" pitchFamily="18" charset="0"/>
            </a:endParaRPr>
          </a:p>
          <a:p>
            <a:pPr eaLnBrk="1" hangingPunct="1">
              <a:buNone/>
            </a:pPr>
            <a:r>
              <a:rPr lang="en-US" altLang="zh-CN" b="1" dirty="0">
                <a:solidFill>
                  <a:srgbClr val="FF0000"/>
                </a:solidFill>
                <a:latin typeface="Times New Roman" panose="02020503050405090304" pitchFamily="18" charset="0"/>
              </a:rPr>
              <a:t>			A</a:t>
            </a:r>
            <a:r>
              <a:rPr lang="en-US" altLang="zh-CN" baseline="30000" dirty="0">
                <a:solidFill>
                  <a:srgbClr val="FF0000"/>
                </a:solidFill>
                <a:latin typeface="Times New Roman" panose="02020503050405090304" pitchFamily="18" charset="0"/>
              </a:rPr>
              <a:t>[</a:t>
            </a:r>
            <a:r>
              <a:rPr lang="en-US" altLang="zh-CN" i="1" baseline="30000" dirty="0">
                <a:solidFill>
                  <a:srgbClr val="FF0000"/>
                </a:solidFill>
                <a:latin typeface="Times New Roman" panose="02020503050405090304" pitchFamily="18" charset="0"/>
              </a:rPr>
              <a:t>k</a:t>
            </a:r>
            <a:r>
              <a:rPr lang="en-US" altLang="zh-CN" baseline="30000" dirty="0">
                <a:solidFill>
                  <a:srgbClr val="FF0000"/>
                </a:solidFill>
                <a:latin typeface="Times New Roman" panose="02020503050405090304" pitchFamily="18" charset="0"/>
              </a:rPr>
              <a:t>] </a:t>
            </a:r>
            <a:r>
              <a:rPr lang="en-US" altLang="zh-CN" dirty="0">
                <a:solidFill>
                  <a:srgbClr val="FF0000"/>
                </a:solidFill>
                <a:latin typeface="Times New Roman" panose="02020503050405090304" pitchFamily="18" charset="0"/>
              </a:rPr>
              <a:t>:</a:t>
            </a:r>
            <a:r>
              <a:rPr lang="en-US" altLang="zh-CN" dirty="0">
                <a:solidFill>
                  <a:srgbClr val="FF0000"/>
                </a:solidFill>
                <a:latin typeface="Times New Roman" panose="02020503050405090304" pitchFamily="18" charset="0"/>
                <a:sym typeface="Symbol" panose="05050102010706020507" pitchFamily="18" charset="2"/>
              </a:rPr>
              <a:t> </a:t>
            </a:r>
            <a:r>
              <a:rPr lang="en-US" altLang="zh-CN" b="1" dirty="0">
                <a:solidFill>
                  <a:srgbClr val="FF0000"/>
                </a:solidFill>
                <a:latin typeface="Times New Roman" panose="02020503050405090304" pitchFamily="18" charset="0"/>
              </a:rPr>
              <a:t>A⊙A⊙</a:t>
            </a:r>
            <a:r>
              <a:rPr lang="en-US" altLang="zh-CN" dirty="0">
                <a:solidFill>
                  <a:srgbClr val="FF0000"/>
                </a:solidFill>
                <a:latin typeface="Times New Roman" panose="02020503050405090304" pitchFamily="18" charset="0"/>
                <a:sym typeface="Wingdings" panose="05000000000000000000" pitchFamily="2" charset="2"/>
              </a:rPr>
              <a:t>…</a:t>
            </a:r>
            <a:r>
              <a:rPr lang="en-US" altLang="zh-CN" b="1" dirty="0">
                <a:solidFill>
                  <a:srgbClr val="FF0000"/>
                </a:solidFill>
                <a:latin typeface="Times New Roman" panose="02020503050405090304" pitchFamily="18" charset="0"/>
              </a:rPr>
              <a:t>⊙A</a:t>
            </a:r>
            <a:r>
              <a:rPr lang="en-US" altLang="zh-CN" dirty="0">
                <a:latin typeface="Times New Roman" panose="02020503050405090304" pitchFamily="18" charset="0"/>
                <a:sym typeface="Wingdings" panose="05000000000000000000" pitchFamily="2" charset="2"/>
              </a:rPr>
              <a:t> </a:t>
            </a:r>
            <a:endParaRPr lang="en-US" altLang="zh-CN" dirty="0">
              <a:latin typeface="Times New Roman" panose="02020503050405090304" pitchFamily="18" charset="0"/>
              <a:sym typeface="Wingdings" panose="05000000000000000000" pitchFamily="2" charset="2"/>
            </a:endParaRPr>
          </a:p>
          <a:p>
            <a:pPr eaLnBrk="1" hangingPunct="1"/>
            <a:endParaRPr lang="en-US" altLang="zh-CN" dirty="0">
              <a:latin typeface="Times New Roman" panose="02020503050405090304" pitchFamily="18" charset="0"/>
              <a:sym typeface="Wingdings" panose="05000000000000000000" pitchFamily="2" charset="2"/>
            </a:endParaRPr>
          </a:p>
          <a:p>
            <a:pPr eaLnBrk="1" hangingPunct="1">
              <a:buNone/>
            </a:pPr>
            <a:r>
              <a:rPr lang="en-US" altLang="zh-CN" b="1" dirty="0">
                <a:solidFill>
                  <a:srgbClr val="FF0000"/>
                </a:solidFill>
                <a:latin typeface="Times New Roman" panose="02020503050405090304" pitchFamily="18" charset="0"/>
                <a:sym typeface="Wingdings" panose="05000000000000000000" pitchFamily="2" charset="2"/>
              </a:rPr>
              <a:t>			A</a:t>
            </a:r>
            <a:r>
              <a:rPr lang="en-US" altLang="zh-CN" baseline="30000" dirty="0">
                <a:solidFill>
                  <a:srgbClr val="FF0000"/>
                </a:solidFill>
                <a:latin typeface="Times New Roman" panose="02020503050405090304" pitchFamily="18" charset="0"/>
                <a:sym typeface="Wingdings" panose="05000000000000000000" pitchFamily="2" charset="2"/>
              </a:rPr>
              <a:t>[0]</a:t>
            </a:r>
            <a:r>
              <a:rPr lang="en-US" altLang="zh-CN" dirty="0">
                <a:solidFill>
                  <a:srgbClr val="FF0000"/>
                </a:solidFill>
                <a:latin typeface="Times New Roman" panose="02020503050405090304" pitchFamily="18" charset="0"/>
                <a:sym typeface="Wingdings" panose="05000000000000000000" pitchFamily="2" charset="2"/>
              </a:rPr>
              <a:t> :</a:t>
            </a:r>
            <a:r>
              <a:rPr lang="en-US" altLang="zh-CN" dirty="0">
                <a:solidFill>
                  <a:srgbClr val="FF0000"/>
                </a:solidFill>
                <a:latin typeface="Times New Roman" panose="02020503050405090304" pitchFamily="18" charset="0"/>
                <a:sym typeface="Symbol" panose="05050102010706020507" pitchFamily="18" charset="2"/>
              </a:rPr>
              <a:t></a:t>
            </a:r>
            <a:r>
              <a:rPr lang="en-US" altLang="zh-CN" dirty="0">
                <a:solidFill>
                  <a:srgbClr val="FF0000"/>
                </a:solidFill>
                <a:latin typeface="Times New Roman" panose="02020503050405090304" pitchFamily="18" charset="0"/>
                <a:sym typeface="Wingdings" panose="05000000000000000000" pitchFamily="2" charset="2"/>
              </a:rPr>
              <a:t> </a:t>
            </a:r>
            <a:r>
              <a:rPr lang="en-US" altLang="zh-CN" i="1" dirty="0">
                <a:solidFill>
                  <a:srgbClr val="FF0000"/>
                </a:solidFill>
                <a:latin typeface="Times New Roman" panose="02020503050405090304" pitchFamily="18" charset="0"/>
                <a:sym typeface="Wingdings" panose="05000000000000000000" pitchFamily="2" charset="2"/>
              </a:rPr>
              <a:t>I</a:t>
            </a:r>
            <a:r>
              <a:rPr lang="en-US" altLang="zh-CN" i="1" baseline="-25000" dirty="0">
                <a:solidFill>
                  <a:srgbClr val="FF0000"/>
                </a:solidFill>
                <a:latin typeface="Times New Roman" panose="02020503050405090304" pitchFamily="18" charset="0"/>
                <a:sym typeface="Wingdings" panose="05000000000000000000" pitchFamily="2" charset="2"/>
              </a:rPr>
              <a:t>n</a:t>
            </a:r>
            <a:endParaRPr lang="en-US" altLang="zh-CN" i="1" baseline="-25000" dirty="0">
              <a:solidFill>
                <a:srgbClr val="FF0000"/>
              </a:solidFill>
              <a:latin typeface="Times New Roman" panose="02020503050405090304" pitchFamily="18" charset="0"/>
              <a:sym typeface="Wingdings" panose="05000000000000000000" pitchFamily="2" charset="2"/>
            </a:endParaRPr>
          </a:p>
        </p:txBody>
      </p:sp>
      <p:sp>
        <p:nvSpPr>
          <p:cNvPr id="30727" name="AutoShape 4"/>
          <p:cNvSpPr/>
          <p:nvPr/>
        </p:nvSpPr>
        <p:spPr>
          <a:xfrm rot="-5400000">
            <a:off x="4648200" y="2971800"/>
            <a:ext cx="381000" cy="2514600"/>
          </a:xfrm>
          <a:prstGeom prst="leftBrace">
            <a:avLst>
              <a:gd name="adj1" fmla="val 55000"/>
              <a:gd name="adj2" fmla="val 50000"/>
            </a:avLst>
          </a:prstGeom>
          <a:noFill/>
          <a:ln w="19050" cap="flat" cmpd="sng">
            <a:solidFill>
              <a:srgbClr val="FF0000"/>
            </a:solidFill>
            <a:prstDash val="solid"/>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30728" name="Text Box 5"/>
          <p:cNvSpPr txBox="1"/>
          <p:nvPr/>
        </p:nvSpPr>
        <p:spPr>
          <a:xfrm>
            <a:off x="4343400" y="4343400"/>
            <a:ext cx="1054100" cy="457200"/>
          </a:xfrm>
          <a:prstGeom prst="rect">
            <a:avLst/>
          </a:prstGeom>
          <a:noFill/>
          <a:ln w="9525">
            <a:noFill/>
          </a:ln>
        </p:spPr>
        <p:txBody>
          <a:bodyPr wrap="none" anchor="ctr" anchorCtr="0">
            <a:spAutoFit/>
          </a:bodyPr>
          <a:p>
            <a:pPr algn="ctr">
              <a:spcBef>
                <a:spcPct val="50000"/>
              </a:spcBef>
            </a:pPr>
            <a:r>
              <a:rPr lang="en-US" altLang="zh-CN" b="0" dirty="0">
                <a:solidFill>
                  <a:srgbClr val="FF0000"/>
                </a:solidFill>
                <a:latin typeface="Times New Roman" panose="02020503050405090304" pitchFamily="18" charset="0"/>
              </a:rPr>
              <a:t>k</a:t>
            </a:r>
            <a:r>
              <a:rPr lang="en-US" altLang="zh-CN" b="0" i="0" dirty="0">
                <a:solidFill>
                  <a:srgbClr val="FF0000"/>
                </a:solidFill>
                <a:latin typeface="Times New Roman" panose="02020503050405090304" pitchFamily="18" charset="0"/>
              </a:rPr>
              <a:t> times</a:t>
            </a:r>
            <a:endParaRPr lang="en-US" altLang="zh-CN" b="0" dirty="0">
              <a:solidFill>
                <a:srgbClr val="FF0000"/>
              </a:solidFill>
              <a:latin typeface="Times New Roman" panose="0202050305040509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p:txBody>
          <a:bodyPr vert="horz" wrap="square" lIns="91440" tIns="45720" rIns="91440" bIns="45720" anchor="b" anchorCtr="0"/>
          <a:p>
            <a:r>
              <a:rPr lang="en-US" altLang="zh-CN" sz="4000" dirty="0"/>
              <a:t>Boolean Powers of Zero-One Matrices</a:t>
            </a:r>
            <a:endParaRPr lang="en-US" altLang="zh-CN" sz="4000" dirty="0"/>
          </a:p>
        </p:txBody>
      </p:sp>
      <p:sp>
        <p:nvSpPr>
          <p:cNvPr id="31747" name="Content Placeholder 2"/>
          <p:cNvSpPr>
            <a:spLocks noGrp="1"/>
          </p:cNvSpPr>
          <p:nvPr>
            <p:ph idx="1"/>
          </p:nvPr>
        </p:nvSpPr>
        <p:spPr>
          <a:xfrm>
            <a:off x="1116013" y="1844675"/>
            <a:ext cx="7772400" cy="4114800"/>
          </a:xfrm>
        </p:spPr>
        <p:txBody>
          <a:bodyPr vert="horz" wrap="square" lIns="91440" tIns="45720" rIns="91440" bIns="45720" anchor="t" anchorCtr="0"/>
          <a:p>
            <a:pPr>
              <a:buNone/>
            </a:pPr>
            <a:r>
              <a:rPr lang="en-US" altLang="zh-CN" b="1" dirty="0"/>
              <a:t> </a:t>
            </a:r>
            <a:r>
              <a:rPr lang="en-US" altLang="zh-CN" sz="2800" b="1" dirty="0">
                <a:latin typeface="Times New Roman" panose="02020503050405090304" pitchFamily="18" charset="0"/>
              </a:rPr>
              <a:t> Example</a:t>
            </a:r>
            <a:r>
              <a:rPr lang="en-US" altLang="zh-CN" sz="2800" dirty="0">
                <a:latin typeface="Times New Roman" panose="02020503050405090304" pitchFamily="18" charset="0"/>
              </a:rPr>
              <a:t>: Let</a:t>
            </a:r>
            <a:endParaRPr lang="en-US" altLang="zh-CN" sz="2800" dirty="0">
              <a:latin typeface="Times New Roman" panose="02020503050405090304" pitchFamily="18" charset="0"/>
            </a:endParaRPr>
          </a:p>
          <a:p>
            <a:pPr>
              <a:buNone/>
            </a:pPr>
            <a:endParaRPr lang="en-US" altLang="zh-CN" sz="2800" dirty="0">
              <a:latin typeface="Times New Roman" panose="02020503050405090304" pitchFamily="18" charset="0"/>
            </a:endParaRPr>
          </a:p>
          <a:p>
            <a:pPr>
              <a:buNone/>
            </a:pPr>
            <a:r>
              <a:rPr lang="en-US" altLang="zh-CN" sz="2800" dirty="0">
                <a:latin typeface="Times New Roman" panose="02020503050405090304" pitchFamily="18" charset="0"/>
              </a:rPr>
              <a:t>    Find </a:t>
            </a:r>
            <a:r>
              <a:rPr lang="en-US" altLang="zh-CN" sz="2800" b="1" dirty="0">
                <a:latin typeface="Times New Roman" panose="02020503050405090304" pitchFamily="18" charset="0"/>
              </a:rPr>
              <a:t>A</a:t>
            </a:r>
            <a:r>
              <a:rPr lang="en-US" altLang="zh-CN" sz="2800" i="1" baseline="30000" dirty="0">
                <a:latin typeface="Times New Roman" panose="02020503050405090304" pitchFamily="18" charset="0"/>
              </a:rPr>
              <a:t>n</a:t>
            </a:r>
            <a:r>
              <a:rPr lang="en-US" altLang="zh-CN" sz="2800" baseline="30000" dirty="0">
                <a:latin typeface="Times New Roman" panose="02020503050405090304" pitchFamily="18" charset="0"/>
              </a:rPr>
              <a:t> </a:t>
            </a:r>
            <a:r>
              <a:rPr lang="en-US" altLang="zh-CN" sz="2800" dirty="0">
                <a:latin typeface="Times New Roman" panose="02020503050405090304" pitchFamily="18" charset="0"/>
              </a:rPr>
              <a:t>  for all positive integers </a:t>
            </a:r>
            <a:r>
              <a:rPr lang="en-US" altLang="zh-CN" sz="2800" i="1" dirty="0">
                <a:latin typeface="Times New Roman" panose="02020503050405090304" pitchFamily="18" charset="0"/>
              </a:rPr>
              <a:t>n</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a:buNone/>
            </a:pPr>
            <a:r>
              <a:rPr lang="en-US" altLang="zh-CN" sz="2800" dirty="0">
                <a:latin typeface="Times New Roman" panose="02020503050405090304" pitchFamily="18" charset="0"/>
              </a:rPr>
              <a:t>    </a:t>
            </a:r>
            <a:r>
              <a:rPr lang="en-US" altLang="zh-CN" sz="2800" b="1" dirty="0">
                <a:latin typeface="Times New Roman" panose="02020503050405090304" pitchFamily="18" charset="0"/>
              </a:rPr>
              <a:t>Solution</a:t>
            </a:r>
            <a:r>
              <a:rPr lang="en-US" altLang="zh-CN" sz="2800" dirty="0">
                <a:latin typeface="Times New Roman" panose="02020503050405090304" pitchFamily="18" charset="0"/>
              </a:rPr>
              <a:t>: </a:t>
            </a:r>
            <a:endParaRPr lang="en-US" altLang="zh-CN" sz="2800" dirty="0">
              <a:latin typeface="Times New Roman" panose="02020503050405090304" pitchFamily="18" charset="0"/>
            </a:endParaRPr>
          </a:p>
        </p:txBody>
      </p:sp>
      <p:pic>
        <p:nvPicPr>
          <p:cNvPr id="31748" name="Picture 19" descr="addin_tmp.png"/>
          <p:cNvPicPr>
            <a:picLocks noChangeAspect="1"/>
          </p:cNvPicPr>
          <p:nvPr>
            <p:custDataLst>
              <p:tags r:id="rId1"/>
            </p:custDataLst>
          </p:nvPr>
        </p:nvPicPr>
        <p:blipFill>
          <a:blip r:embed="rId2"/>
          <a:stretch>
            <a:fillRect/>
          </a:stretch>
        </p:blipFill>
        <p:spPr>
          <a:xfrm>
            <a:off x="4211638" y="1890713"/>
            <a:ext cx="1876425" cy="808037"/>
          </a:xfrm>
          <a:prstGeom prst="rect">
            <a:avLst/>
          </a:prstGeom>
          <a:noFill/>
          <a:ln w="9525">
            <a:noFill/>
          </a:ln>
        </p:spPr>
      </p:pic>
      <p:pic>
        <p:nvPicPr>
          <p:cNvPr id="31749" name="Picture 16" descr="addin_tmp.png"/>
          <p:cNvPicPr>
            <a:picLocks noChangeAspect="1"/>
          </p:cNvPicPr>
          <p:nvPr>
            <p:custDataLst>
              <p:tags r:id="rId3"/>
            </p:custDataLst>
          </p:nvPr>
        </p:nvPicPr>
        <p:blipFill>
          <a:blip r:embed="rId4"/>
          <a:stretch>
            <a:fillRect/>
          </a:stretch>
        </p:blipFill>
        <p:spPr>
          <a:xfrm>
            <a:off x="1189038" y="3921125"/>
            <a:ext cx="3260725" cy="912813"/>
          </a:xfrm>
          <a:prstGeom prst="rect">
            <a:avLst/>
          </a:prstGeom>
          <a:noFill/>
          <a:ln w="9525">
            <a:noFill/>
          </a:ln>
        </p:spPr>
      </p:pic>
      <p:pic>
        <p:nvPicPr>
          <p:cNvPr id="31750" name="Picture 17" descr="addin_tmp.png"/>
          <p:cNvPicPr>
            <a:picLocks noChangeAspect="1"/>
          </p:cNvPicPr>
          <p:nvPr>
            <p:custDataLst>
              <p:tags r:id="rId5"/>
            </p:custDataLst>
          </p:nvPr>
        </p:nvPicPr>
        <p:blipFill>
          <a:blip r:embed="rId6"/>
          <a:stretch>
            <a:fillRect/>
          </a:stretch>
        </p:blipFill>
        <p:spPr>
          <a:xfrm>
            <a:off x="4789488" y="3743325"/>
            <a:ext cx="3989387" cy="1044575"/>
          </a:xfrm>
          <a:prstGeom prst="rect">
            <a:avLst/>
          </a:prstGeom>
          <a:noFill/>
          <a:ln w="9525">
            <a:noFill/>
          </a:ln>
        </p:spPr>
      </p:pic>
      <p:pic>
        <p:nvPicPr>
          <p:cNvPr id="31751" name="Picture 15" descr="addin_tmp.png"/>
          <p:cNvPicPr>
            <a:picLocks noChangeAspect="1"/>
          </p:cNvPicPr>
          <p:nvPr>
            <p:custDataLst>
              <p:tags r:id="rId7"/>
            </p:custDataLst>
          </p:nvPr>
        </p:nvPicPr>
        <p:blipFill>
          <a:blip r:embed="rId8"/>
          <a:stretch>
            <a:fillRect/>
          </a:stretch>
        </p:blipFill>
        <p:spPr>
          <a:xfrm>
            <a:off x="2895600" y="4876800"/>
            <a:ext cx="3311525" cy="866775"/>
          </a:xfrm>
          <a:prstGeom prst="rect">
            <a:avLst/>
          </a:prstGeom>
          <a:noFill/>
          <a:ln w="9525">
            <a:noFill/>
          </a:ln>
        </p:spPr>
      </p:pic>
      <p:pic>
        <p:nvPicPr>
          <p:cNvPr id="31752" name="Picture 18" descr="addin_tmp.png"/>
          <p:cNvPicPr>
            <a:picLocks noChangeAspect="1"/>
          </p:cNvPicPr>
          <p:nvPr>
            <p:custDataLst>
              <p:tags r:id="rId9"/>
            </p:custDataLst>
          </p:nvPr>
        </p:nvPicPr>
        <p:blipFill>
          <a:blip r:embed="rId10"/>
          <a:stretch>
            <a:fillRect/>
          </a:stretch>
        </p:blipFill>
        <p:spPr>
          <a:xfrm>
            <a:off x="609600" y="5661025"/>
            <a:ext cx="8186738" cy="938213"/>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277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277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3277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Basic properties of the              Boolean matrix </a:t>
            </a:r>
            <a:endParaRPr lang="en-US" altLang="zh-CN" dirty="0">
              <a:latin typeface="Times New Roman" panose="02020503050405090304" pitchFamily="18" charset="0"/>
            </a:endParaRPr>
          </a:p>
        </p:txBody>
      </p:sp>
      <p:sp>
        <p:nvSpPr>
          <p:cNvPr id="32774"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If </a:t>
            </a:r>
            <a:r>
              <a:rPr lang="en-US" altLang="zh-CN" b="1" i="1" dirty="0">
                <a:latin typeface="Times New Roman" panose="02020503050405090304" pitchFamily="18" charset="0"/>
              </a:rPr>
              <a:t>A</a:t>
            </a:r>
            <a:r>
              <a:rPr lang="en-US" altLang="zh-CN" dirty="0">
                <a:latin typeface="Times New Roman" panose="02020503050405090304" pitchFamily="18" charset="0"/>
              </a:rPr>
              <a:t>, </a:t>
            </a:r>
            <a:r>
              <a:rPr lang="en-US" altLang="zh-CN" b="1" i="1" dirty="0">
                <a:latin typeface="Times New Roman" panose="02020503050405090304" pitchFamily="18" charset="0"/>
              </a:rPr>
              <a:t>B</a:t>
            </a:r>
            <a:r>
              <a:rPr lang="en-US" altLang="zh-CN" dirty="0">
                <a:latin typeface="Times New Roman" panose="02020503050405090304" pitchFamily="18" charset="0"/>
              </a:rPr>
              <a:t>, and </a:t>
            </a:r>
            <a:r>
              <a:rPr lang="en-US" altLang="zh-CN" b="1" i="1" dirty="0">
                <a:latin typeface="Times New Roman" panose="02020503050405090304" pitchFamily="18" charset="0"/>
              </a:rPr>
              <a:t>C</a:t>
            </a:r>
            <a:r>
              <a:rPr lang="en-US" altLang="zh-CN" dirty="0">
                <a:latin typeface="Times New Roman" panose="02020503050405090304" pitchFamily="18" charset="0"/>
              </a:rPr>
              <a:t> are Boolean matrices of compatible sizes, then     </a:t>
            </a:r>
            <a:endParaRPr lang="zh-CN" altLang="en-US" dirty="0">
              <a:latin typeface="Times New Roman" panose="02020503050405090304" pitchFamily="18" charset="0"/>
            </a:endParaRPr>
          </a:p>
        </p:txBody>
      </p:sp>
      <p:graphicFrame>
        <p:nvGraphicFramePr>
          <p:cNvPr id="32775" name="Object 4"/>
          <p:cNvGraphicFramePr>
            <a:graphicFrameLocks noChangeAspect="1"/>
          </p:cNvGraphicFramePr>
          <p:nvPr/>
        </p:nvGraphicFramePr>
        <p:xfrm>
          <a:off x="2195513" y="3059113"/>
          <a:ext cx="4343400" cy="3341687"/>
        </p:xfrm>
        <a:graphic>
          <a:graphicData uri="http://schemas.openxmlformats.org/presentationml/2006/ole">
            <mc:AlternateContent xmlns:mc="http://schemas.openxmlformats.org/markup-compatibility/2006">
              <mc:Choice xmlns:v="urn:schemas-microsoft-com:vml" Requires="v">
                <p:oleObj spid="_x0000_s3076" name="" r:id="rId1" imgW="2311400" imgH="1778000" progId="Equation.DSMT4">
                  <p:embed/>
                </p:oleObj>
              </mc:Choice>
              <mc:Fallback>
                <p:oleObj name="" r:id="rId1" imgW="2311400" imgH="1778000" progId="Equation.DSMT4">
                  <p:embed/>
                  <p:pic>
                    <p:nvPicPr>
                      <p:cNvPr id="0" name="图片 3075"/>
                      <p:cNvPicPr/>
                      <p:nvPr/>
                    </p:nvPicPr>
                    <p:blipFill>
                      <a:blip r:embed="rId2"/>
                      <a:stretch>
                        <a:fillRect/>
                      </a:stretch>
                    </p:blipFill>
                    <p:spPr>
                      <a:xfrm>
                        <a:off x="2195513" y="3059113"/>
                        <a:ext cx="4343400" cy="3341687"/>
                      </a:xfrm>
                      <a:prstGeom prst="rect">
                        <a:avLst/>
                      </a:prstGeom>
                      <a:noFill/>
                      <a:ln w="38100">
                        <a:noFill/>
                        <a:miter/>
                      </a:ln>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379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zh-CN" altLang="en-US" sz="1000" u="none" dirty="0">
                <a:solidFill>
                  <a:srgbClr val="009999"/>
                </a:solidFill>
                <a:latin typeface="Arial Narrow" panose="020B0606020202030204" pitchFamily="34" charset="0"/>
              </a:rPr>
            </a:fld>
            <a:endParaRPr lang="zh-CN" altLang="en-US" sz="1000" u="none" dirty="0">
              <a:solidFill>
                <a:srgbClr val="009999"/>
              </a:solidFill>
              <a:latin typeface="Arial Narrow" panose="020B0606020202030204" pitchFamily="34" charset="0"/>
            </a:endParaRPr>
          </a:p>
        </p:txBody>
      </p:sp>
      <p:sp>
        <p:nvSpPr>
          <p:cNvPr id="3379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 </a:t>
            </a:r>
            <a:endParaRPr lang="zh-CN" altLang="en-US" sz="1200" u="none" dirty="0">
              <a:solidFill>
                <a:srgbClr val="009999"/>
              </a:solidFill>
              <a:latin typeface="Arial Narrow" panose="020B0606020202030204" pitchFamily="34" charset="0"/>
            </a:endParaRPr>
          </a:p>
        </p:txBody>
      </p:sp>
      <p:sp>
        <p:nvSpPr>
          <p:cNvPr id="33797"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33798" name="Rectangle 3"/>
          <p:cNvSpPr>
            <a:spLocks noGrp="1"/>
          </p:cNvSpPr>
          <p:nvPr>
            <p:ph idx="1"/>
          </p:nvPr>
        </p:nvSpPr>
        <p:spPr/>
        <p:txBody>
          <a:bodyPr vert="horz" wrap="square" lIns="91440" tIns="45720" rIns="91440" bIns="45720" anchor="t" anchorCtr="0"/>
          <a:p>
            <a:pPr eaLnBrk="1" hangingPunct="1"/>
            <a:r>
              <a:rPr lang="en-US" altLang="zh-CN" dirty="0">
                <a:latin typeface="Times New Roman" panose="02020503050405090304" pitchFamily="18" charset="0"/>
              </a:rPr>
              <a:t>§2.6</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4</a:t>
            </a:r>
            <a:r>
              <a:rPr lang="zh-CN" altLang="en-US" dirty="0">
                <a:latin typeface="Times New Roman" panose="02020503050405090304" pitchFamily="18" charset="0"/>
              </a:rPr>
              <a:t>（</a:t>
            </a:r>
            <a:r>
              <a:rPr lang="en-US" altLang="zh-CN" dirty="0">
                <a:latin typeface="Times New Roman" panose="02020503050405090304" pitchFamily="18" charset="0"/>
              </a:rPr>
              <a:t>b</a:t>
            </a:r>
            <a:r>
              <a:rPr lang="zh-CN" altLang="en-US" dirty="0">
                <a:latin typeface="Times New Roman" panose="02020503050405090304" pitchFamily="18" charset="0"/>
              </a:rPr>
              <a:t>）</a:t>
            </a:r>
            <a:r>
              <a:rPr lang="en-US" altLang="zh-CN" dirty="0">
                <a:latin typeface="Times New Roman" panose="02020503050405090304" pitchFamily="18" charset="0"/>
              </a:rPr>
              <a:t>, 20, 28, 32</a:t>
            </a:r>
            <a:endParaRPr lang="en-US" altLang="zh-CN" dirty="0">
              <a:latin typeface="Times New Roman" panose="02020503050405090304" pitchFamily="18" charset="0"/>
            </a:endParaRPr>
          </a:p>
        </p:txBody>
      </p:sp>
    </p:spTree>
  </p:cSld>
  <p:clrMapOvr>
    <a:masterClrMapping/>
  </p:clrMapOvr>
</p:sld>
</file>

<file path=ppt/tags/tag1.xml><?xml version="1.0" encoding="utf-8"?>
<p:tagLst xmlns:p="http://schemas.openxmlformats.org/presentationml/2006/main">
  <p:tag name="KSO_WM_UNIT_PLACING_PICTURE_USER_VIEWPORT" val="{&quot;height&quot;:2971.4661417322836,&quot;width&quot;:4695.650393700787}"/>
</p:tagLst>
</file>

<file path=ppt/tags/tag2.xml><?xml version="1.0" encoding="utf-8"?>
<p:tagLst xmlns:p="http://schemas.openxmlformats.org/presentationml/2006/main">
  <p:tag name="KSO_WM_UNIT_PLACING_PICTURE_USER_VIEWPORT" val="{&quot;height&quot;:3634.659842519685,&quot;width&quot;:2836.1385826771652}"/>
</p:tagLst>
</file>

<file path=ppt/tags/tag3.xml><?xml version="1.0" encoding="utf-8"?>
<p:tagLst xmlns:p="http://schemas.openxmlformats.org/presentationml/2006/main">
  <p:tag name="KSO_WM_UNIT_PLACING_PICTURE_USER_VIEWPORT" val="{&quot;height&quot;:3626.220472440945,&quot;width&quot;:2948.940157480315}"/>
</p:tagLst>
</file>

<file path=ppt/tags/tag4.xml><?xml version="1.0" encoding="utf-8"?>
<p:tagLst xmlns:p="http://schemas.openxmlformats.org/presentationml/2006/main">
  <p:tag name="LATEXADDIN" val="\documentclass{article}&#10;\usepackage{amsmath}&#10;\pagestyle{empty}&#10;\begin{document}&#10;&#10;$$&#10;{\bf A} = &#10;\left[&#10;\begin{array}{lll}&#10;1 &amp;0 &amp; 1\\&#10;0 &amp;1&amp; 0&#10;\end{array}&#10;\right],&#10;$$&#10;&#10;\end{document}"/>
  <p:tag name="IGUANATEXSIZE" val="20"/>
</p:tagLst>
</file>

<file path=ppt/tags/tag5.xml><?xml version="1.0" encoding="utf-8"?>
<p:tagLst xmlns:p="http://schemas.openxmlformats.org/presentationml/2006/main">
  <p:tag name="LATEXADDIN" val="\documentclass{article}&#10;\usepackage{amsmath}&#10;\pagestyle{empty}&#10;\begin{document}&#10;&#10;$$&#10;{\bf B} = &#10;\left[&#10;\begin{array}{lll}&#10;0 &amp;1 &amp; 0\\&#10;1 &amp;1&amp; 0&#10;\end{array}&#10;\right].&#10;$$&#10;&#10;\end{document}"/>
  <p:tag name="IGUANATEXSIZE" val="20"/>
</p:tagLst>
</file>

<file path=ppt/tags/tag6.xml><?xml version="1.0" encoding="utf-8"?>
<p:tagLst xmlns:p="http://schemas.openxmlformats.org/presentationml/2006/main">
  <p:tag name="LATEXADDIN" val="\documentclass{article}&#10;\usepackage{amsmath}&#10;\pagestyle{empty}&#10;\begin{document}&#10;&#10;$$&#10;{\bf A}\vee {\bf B} = &#10;\left[&#10;\begin{array}{lll}&#10;1\vee 0  &amp;0\vee 1 &amp; 1\vee 0\\&#10;0\vee 1 &amp;1\vee 1&amp; 0\vee 0&#10;\end{array}&#10;\right]&#10;=&#10;\left[&#10;\begin{array}{lll}&#10;1 &amp; 1 &amp; 1\\&#10;1 &amp; 1 &amp; 0&#10;\end{array}&#10;\right].&#10;$$&#10;&#10;\end{document}"/>
  <p:tag name="IGUANATEXSIZE" val="20"/>
</p:tagLst>
</file>

<file path=ppt/tags/tag7.xml><?xml version="1.0" encoding="utf-8"?>
<p:tagLst xmlns:p="http://schemas.openxmlformats.org/presentationml/2006/main">
  <p:tag name="LATEXADDIN" val="\documentclass{article}&#10;\usepackage{amsmath}&#10;\pagestyle{empty}&#10;\begin{document}&#10;&#10;$$&#10;{\bf A}\wedge {\bf B} = &#10;\left[&#10;\begin{array}{lll}&#10;1\wedge 0  &amp;0\wedge 1 &amp; 1\wedge 0\\&#10;0\wedge 1 &amp;1\wedge 1&amp; 0\wedge 0&#10;\end{array}&#10;\right]&#10;=&#10;\left[&#10;\begin{array}{lll}&#10;0 &amp; 0 &amp; 0\\&#10;0 &amp; 1 &amp; 0&#10;\end{array}&#10;\right].&#10;$$&#10;&#10;\end{document}"/>
  <p:tag name="IGUANATEXSIZE" val="20"/>
</p:tagLst>
</file>

<file path=ppt/tags/tag8.xml><?xml version="1.0" encoding="utf-8"?>
<p:tagLst xmlns:p="http://schemas.openxmlformats.org/presentationml/2006/main">
  <p:tag name="LATEXADDIN" val="\documentclass{article}&#10;\usepackage{amsmath}&#10;\pagestyle{empty}&#10;\begin{document}&#10;&#10;$$&#10;{\bf A} = &#10;\left[&#10;\begin{array}{ll}&#10;1 &amp;0\\&#10;0 &amp;1\\&#10;1&amp;0&#10;\end{array}&#10;\right],&#10;$$&#10;&#10;\end{document}"/>
  <p:tag name="IGUANATEXSIZE" val="20"/>
</p:tagLst>
</file>

<file path=ppt/tags/tag9.xml><?xml version="1.0" encoding="utf-8"?>
<p:tagLst xmlns:p="http://schemas.openxmlformats.org/presentationml/2006/main">
  <p:tag name="LATEXADDIN" val="\documentclass{article}&#10;\usepackage{amsmath}&#10;\pagestyle{empty}&#10;\begin{document}&#10;&#10;$$&#10;{\bf B} = &#10;\left[&#10;\begin{array}{lll}&#10;1 &amp;1 &amp; 0\\&#10;0 &amp;1&amp; 1&#10;\end{array}&#10;\right].&#10;$$&#10;&#10;\end{document}"/>
  <p:tag name="IGUANATEXSIZE" val="20"/>
</p:tagLst>
</file>

<file path=ppt/tags/tag10.xml><?xml version="1.0" encoding="utf-8"?>
<p:tagLst xmlns:p="http://schemas.openxmlformats.org/presentationml/2006/main">
  <p:tag name="LATEXADDIN" val="\documentclass{article}&#10;\usepackage{amsmath}&#10;\pagestyle{empty}&#10;\begin{document}&#10;&#10;$$&#10;=&#10;\left[&#10;\begin{array}{lll}&#10;1 &amp; 1 &amp; 0\\&#10;0 &amp; 1 &amp; 1\\&#10;1 &amp; 1 &amp; 0&#10;\end{array}&#10;\right].&#10;$$&#10;&#10;\end{document}"/>
  <p:tag name="IGUANATEXSIZE" val="20"/>
</p:tagLst>
</file>

<file path=ppt/tags/tag11.xml><?xml version="1.0" encoding="utf-8"?>
<p:tagLst xmlns:p="http://schemas.openxmlformats.org/presentationml/2006/main">
  <p:tag name="LATEXADDIN" val="\documentclass{article}&#10;\usepackage{amsmath}&#10;\pagestyle{empty}&#10;\begin{document}&#10;&#10;$$&#10;=&#10;\left[&#10;\begin{array}{lll}&#10;1\vee 0 &amp; 1\vee 0 &amp; 0\vee 0\\&#10;0\vee 0 &amp; 0\vee 1 &amp; 0\vee 1\\&#10;1\vee 0  &amp; 1\vee 0 &amp; 0\vee 0&#10;\end{array}&#10;\right]&#10;$$&#10;&#10;\end{document}"/>
  <p:tag name="IGUANATEXSIZE" val="20"/>
</p:tagLst>
</file>

<file path=ppt/tags/tag12.xml><?xml version="1.0" encoding="utf-8"?>
<p:tagLst xmlns:p="http://schemas.openxmlformats.org/presentationml/2006/main">
  <p:tag name="LATEXADDIN" val="\documentclass{article}&#10;\usepackage{amsmath}&#10;\pagestyle{empty}&#10;\begin{document}&#10;&#10;$$&#10;{\bf A} \odot {\bf B} =&#10;\left[&#10;\begin{array}{lll}&#10;(1\wedge 1)\vee (0\wedge 0) &amp; (1\wedge 1)\vee (0\wedge 1) &amp; (1\wedge0)\vee (0\wedge 1)\\&#10;(0\wedge 1)\vee (1\wedge0) &amp; (0\wedge 1)\vee (1\wedge 1) &amp; (0\wedge 0)\vee (1 \wedge 1)\\&#10;(1\wedge 1)\vee (0\wedge 0)  &amp; (1\wedge 1)\vee (0\wedge 1) &amp; (1 \wedge0) \vee (0\wedge 1)&#10;\end{array}&#10;\right]&#10;$$&#10;&#10;\end{document}"/>
  <p:tag name="IGUANATEXSIZE" val="20"/>
</p:tagLst>
</file>

<file path=ppt/tags/tag13.xml><?xml version="1.0" encoding="utf-8"?>
<p:tagLst xmlns:p="http://schemas.openxmlformats.org/presentationml/2006/main">
  <p:tag name="LATEXADDIN" val="\documentclass{article}&#10;\usepackage{amsmath}&#10;\pagestyle{empty}&#10;\begin{document}&#10;&#10;$$&#10;{\bf A} =&#10;\left[&#10;\begin{array}{lll}&#10;0 &amp; 0 &amp; 1\\&#10;1 &amp; 0 &amp; 0\\&#10;1 &amp; 1 &amp; 0&#10;\end{array}&#10;\right].&#10;$$&#10;&#10;\end{document}"/>
  <p:tag name="IGUANATEXSIZE" val="14"/>
</p:tagLst>
</file>

<file path=ppt/tags/tag14.xml><?xml version="1.0" encoding="utf-8"?>
<p:tagLst xmlns:p="http://schemas.openxmlformats.org/presentationml/2006/main">
  <p:tag name="LATEXADDIN" val="\documentclass{article}&#10;\usepackage{amsmath}&#10;\pagestyle{empty}&#10;\begin{document}&#10;&#10;$$&#10;{\bf A}^{[2]} = {\bf A} \odot {\bf A} =&#10;\left[&#10;\begin{array}{lll}&#10;1 &amp; 1 &amp; 0\\&#10;0 &amp; 0 &amp; 1\\&#10;1 &amp; 0 &amp; 1&#10;\end{array}&#10;\right]&#10;$$&#10;&#10;\end{document}"/>
  <p:tag name="IGUANATEXSIZE" val="15"/>
</p:tagLst>
</file>

<file path=ppt/tags/tag15.xml><?xml version="1.0" encoding="utf-8"?>
<p:tagLst xmlns:p="http://schemas.openxmlformats.org/presentationml/2006/main">
  <p:tag name="LATEXADDIN" val="\documentclass{article}&#10;\usepackage{amsmath}&#10;\pagestyle{empty}&#10;\begin{document}&#10;&#10;$$&#10;{\bf A}^{[3]} = {\bf A}^{[2]} \odot {\bf A} =&#10;\left[&#10;\begin{array}{lll}&#10;1 &amp; 0 &amp; 1\\&#10;1 &amp; 1 &amp; 0\\&#10;1 &amp; 1 &amp; 1&#10;\end{array}&#10;\right]&#10;$$&#10;&#10;\end{document}"/>
  <p:tag name="IGUANATEXSIZE" val="15"/>
</p:tagLst>
</file>

<file path=ppt/tags/tag16.xml><?xml version="1.0" encoding="utf-8"?>
<p:tagLst xmlns:p="http://schemas.openxmlformats.org/presentationml/2006/main">
  <p:tag name="LATEXADDIN" val="\documentclass{article}&#10;\usepackage{amsmath}&#10;\pagestyle{empty}&#10;\begin{document}&#10;&#10;$$&#10;{\bf A}^{[4]} = {\bf A}^{[3]} \odot {\bf A} =&#10;\left[&#10;\begin{array}{lll}&#10;1 &amp; 1 &amp; 1\\&#10;1 &amp; 0 &amp; 1\\&#10;1 &amp; 1 &amp; 1&#10;\end{array}&#10;\right]&#10;$$&#10;&#10;\end{document}"/>
  <p:tag name="IGUANATEXSIZE" val="15"/>
</p:tagLst>
</file>

<file path=ppt/tags/tag17.xml><?xml version="1.0" encoding="utf-8"?>
<p:tagLst xmlns:p="http://schemas.openxmlformats.org/presentationml/2006/main">
  <p:tag name="LATEXADDIN" val="\documentclass{article}&#10;\usepackage{amsmath}&#10;\pagestyle{empty}&#10;\begin{document}&#10;&#10;$$&#10;{\bf A}^{[5]} =&#10;\left[&#10;\begin{array}{lll}&#10;1 &amp; 1 &amp; 1\\&#10;1 &amp; 1 &amp; 1\\&#10;1 &amp; 1 &amp; 1&#10;\end{array}&#10;\right]&#10;\;\;\bf{A}^{[n]} = {\bf A}^{5} \;\; \;\;\mbox{for all positive integers $n$ with $n \geq 5$}&#10;.$$&#10;&#10;\end{document}"/>
  <p:tag name="IGUANATEXSIZE" val="15"/>
</p:tagLst>
</file>

<file path=ppt/tags/tag18.xml><?xml version="1.0" encoding="utf-8"?>
<p:tagLst xmlns:p="http://schemas.openxmlformats.org/presentationml/2006/main">
  <p:tag name="KSO_WPP_MARK_KEY" val="e677c28a-76e8-44c4-bdbe-eae858124b6c"/>
  <p:tag name="COMMONDATA" val="eyJoZGlkIjoiYjZhMmY1NGQwZjE0MWY4MTkzZjM4YzBiNDA1ZmM3ZDEifQ=="/>
</p:tagLst>
</file>

<file path=ppt/theme/theme1.xml><?xml version="1.0" encoding="utf-8"?>
<a:theme xmlns:a="http://schemas.openxmlformats.org/drawingml/2006/main" name="2_Blends">
  <a:themeElements>
    <a:clrScheme name="2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2_Blends">
      <a:majorFont>
        <a:latin typeface="Copperplate Gothic Light"/>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2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2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2_Blends">
      <a:majorFont>
        <a:latin typeface="Copperplate Gothic Light"/>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2_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2003 - 5.1 - Functions</Template>
  <TotalTime>0</TotalTime>
  <Words>15103</Words>
  <Application>WPS 文字</Application>
  <PresentationFormat>全屏显示(4:3)</PresentationFormat>
  <Paragraphs>836</Paragraphs>
  <Slides>74</Slides>
  <Notes>0</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40</vt:i4>
      </vt:variant>
      <vt:variant>
        <vt:lpstr>幻灯片标题</vt:lpstr>
      </vt:variant>
      <vt:variant>
        <vt:i4>74</vt:i4>
      </vt:variant>
    </vt:vector>
  </HeadingPairs>
  <TitlesOfParts>
    <vt:vector size="140" baseType="lpstr">
      <vt:lpstr>Arial</vt:lpstr>
      <vt:lpstr>宋体</vt:lpstr>
      <vt:lpstr>Wingdings</vt:lpstr>
      <vt:lpstr>Tahoma</vt:lpstr>
      <vt:lpstr>汉仪书宋二KW</vt:lpstr>
      <vt:lpstr>Arial Narrow</vt:lpstr>
      <vt:lpstr>Copperplate Gothic Light</vt:lpstr>
      <vt:lpstr>苹方-简</vt:lpstr>
      <vt:lpstr>Times New Roman</vt:lpstr>
      <vt:lpstr>Copperplate Gothic Bold</vt:lpstr>
      <vt:lpstr>Euclid Math Two</vt:lpstr>
      <vt:lpstr>华文宋体</vt:lpstr>
      <vt:lpstr>Symbol</vt:lpstr>
      <vt:lpstr>Kingsoft Sign</vt:lpstr>
      <vt:lpstr>微软雅黑</vt:lpstr>
      <vt:lpstr>汉仪旗黑</vt:lpstr>
      <vt:lpstr>宋体</vt:lpstr>
      <vt:lpstr>Arial Unicode MS</vt:lpstr>
      <vt:lpstr>Arial Rounded MT Bold</vt:lpstr>
      <vt:lpstr>Arial Black</vt:lpstr>
      <vt:lpstr>Courier New</vt:lpstr>
      <vt:lpstr>Impact</vt:lpstr>
      <vt:lpstr>MS PGothic</vt:lpstr>
      <vt:lpstr>宋体-简</vt:lpstr>
      <vt:lpstr>2_Blends</vt:lpstr>
      <vt:lpstr>1_Blends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Sequences and Summations</vt:lpstr>
      <vt:lpstr>Sequences, Strings, Summations</vt:lpstr>
      <vt:lpstr>Sequences</vt:lpstr>
      <vt:lpstr>Sequence Examples</vt:lpstr>
      <vt:lpstr>Example with Repetitions</vt:lpstr>
      <vt:lpstr>Recognizing Sequences</vt:lpstr>
      <vt:lpstr>Recurrence relations </vt:lpstr>
      <vt:lpstr>PowerPoint 演示文稿</vt:lpstr>
      <vt:lpstr>PowerPoint 演示文稿</vt:lpstr>
      <vt:lpstr>PowerPoint 演示文稿</vt:lpstr>
      <vt:lpstr>PowerPoint 演示文稿</vt:lpstr>
      <vt:lpstr>PowerPoint 演示文稿</vt:lpstr>
      <vt:lpstr>EXAMPLE 9 </vt:lpstr>
      <vt:lpstr>EXAMPLE 10</vt:lpstr>
      <vt:lpstr>PowerPoint 演示文稿</vt:lpstr>
      <vt:lpstr>Special integer sequences</vt:lpstr>
      <vt:lpstr>Special integer sequences</vt:lpstr>
      <vt:lpstr>Summation Notation</vt:lpstr>
      <vt:lpstr>Generalized Summations</vt:lpstr>
      <vt:lpstr>Simple Summation Example</vt:lpstr>
      <vt:lpstr>More Summation Examples</vt:lpstr>
      <vt:lpstr>Summation Manipulations</vt:lpstr>
      <vt:lpstr>More Summation Manipulations</vt:lpstr>
      <vt:lpstr>Example: Impress Your Friends</vt:lpstr>
      <vt:lpstr>Euler’s Trick, Illustrated</vt:lpstr>
      <vt:lpstr>Symbolic Derivation of Trick</vt:lpstr>
      <vt:lpstr>Concluding Euler’s Derivation</vt:lpstr>
      <vt:lpstr>Example: Geometric Progression</vt:lpstr>
      <vt:lpstr>Geometric Sum Derivation</vt:lpstr>
      <vt:lpstr>Derivation example cont...</vt:lpstr>
      <vt:lpstr>Concluding long derivation...</vt:lpstr>
      <vt:lpstr>Nested Summations</vt:lpstr>
      <vt:lpstr>Some Shortcut Expressions</vt:lpstr>
      <vt:lpstr>Using the Shortcuts</vt:lpstr>
      <vt:lpstr>Summations: Conclusion</vt:lpstr>
      <vt:lpstr>Homework</vt:lpstr>
      <vt:lpstr>Cardinality of Sets</vt:lpstr>
      <vt:lpstr>Cantor’s Definition (1874)</vt:lpstr>
      <vt:lpstr>Same cardinality?</vt:lpstr>
      <vt:lpstr>Same cardinality?</vt:lpstr>
      <vt:lpstr>Same cardinality?</vt:lpstr>
      <vt:lpstr>Lesson</vt:lpstr>
      <vt:lpstr>Cardinality: Formal Definition</vt:lpstr>
      <vt:lpstr>Countable versus Uncountable</vt:lpstr>
      <vt:lpstr>Countable Sets: Examples</vt:lpstr>
      <vt:lpstr>Uncountable Sets: Example</vt:lpstr>
      <vt:lpstr>Uncountability of Reals, cont’d</vt:lpstr>
      <vt:lpstr>Uncountability of Reals, fin.</vt:lpstr>
      <vt:lpstr>Transfinite Numbers</vt:lpstr>
      <vt:lpstr>Countable vs. Uncountable</vt:lpstr>
      <vt:lpstr>Homework</vt:lpstr>
      <vt:lpstr>Matrices（矩阵）</vt:lpstr>
      <vt:lpstr>§2.6 Matrices</vt:lpstr>
      <vt:lpstr>Applications of Matrices</vt:lpstr>
      <vt:lpstr>Matrix Equality</vt:lpstr>
      <vt:lpstr>Row and Column Order</vt:lpstr>
      <vt:lpstr>Matrices as Functions</vt:lpstr>
      <vt:lpstr>Matrix Sums</vt:lpstr>
      <vt:lpstr>Matrix Products</vt:lpstr>
      <vt:lpstr>Matrix Product Example</vt:lpstr>
      <vt:lpstr>Identity Matrices</vt:lpstr>
      <vt:lpstr>Matrix Inverses</vt:lpstr>
      <vt:lpstr>Matrix Multiplication Algorithm</vt:lpstr>
      <vt:lpstr>Powers of Matrices</vt:lpstr>
      <vt:lpstr>Matrix Transposition</vt:lpstr>
      <vt:lpstr>Symmetric Matrices</vt:lpstr>
      <vt:lpstr>Zero-One Matrices</vt:lpstr>
      <vt:lpstr>Joins and Meets of Zero-One Matrices</vt:lpstr>
      <vt:lpstr>Boolean Products</vt:lpstr>
      <vt:lpstr>Boolean Product of Zero-One Matrices</vt:lpstr>
      <vt:lpstr>Boolean Powers</vt:lpstr>
      <vt:lpstr>Boolean Powers of Zero-One Matrices</vt:lpstr>
      <vt:lpstr>Basic properties of the              Boolean matrix </vt:lpstr>
      <vt:lpstr>Homework</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yangjuan</dc:creator>
  <cp:lastModifiedBy>杨娟</cp:lastModifiedBy>
  <cp:revision>73</cp:revision>
  <dcterms:created xsi:type="dcterms:W3CDTF">2025-04-02T08:23:06Z</dcterms:created>
  <dcterms:modified xsi:type="dcterms:W3CDTF">2025-04-02T08:23:06Z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C2761CC1DEC24F09B59F0EFDE6A9ABFB</vt:lpwstr>
  </property>
  <property fmtid="{D5CDD505-2E9C-101B-9397-08002B2CF9AE}" pid="3" name="KSOProductBuildVer">
    <vt:lpwstr>2052-6.9.0.8865</vt:lpwstr>
  </property>
</Properties>
</file>