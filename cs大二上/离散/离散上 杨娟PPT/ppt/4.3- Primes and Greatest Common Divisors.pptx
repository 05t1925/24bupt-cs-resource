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handoutMasterIdLst>
    <p:handoutMasterId r:id="rId34"/>
  </p:handoutMasterIdLst>
  <p:sldIdLst>
    <p:sldId id="686" r:id="rId3"/>
    <p:sldId id="687" r:id="rId4"/>
    <p:sldId id="688" r:id="rId5"/>
    <p:sldId id="713" r:id="rId6"/>
    <p:sldId id="714" r:id="rId7"/>
    <p:sldId id="269" r:id="rId8"/>
    <p:sldId id="330" r:id="rId9"/>
    <p:sldId id="715" r:id="rId10"/>
    <p:sldId id="689" r:id="rId11"/>
    <p:sldId id="691" r:id="rId13"/>
    <p:sldId id="692" r:id="rId14"/>
    <p:sldId id="693" r:id="rId15"/>
    <p:sldId id="694" r:id="rId16"/>
    <p:sldId id="716" r:id="rId17"/>
    <p:sldId id="752" r:id="rId18"/>
    <p:sldId id="753" r:id="rId19"/>
    <p:sldId id="754" r:id="rId20"/>
    <p:sldId id="343" r:id="rId21"/>
    <p:sldId id="344" r:id="rId22"/>
    <p:sldId id="341" r:id="rId23"/>
    <p:sldId id="345" r:id="rId24"/>
    <p:sldId id="756" r:id="rId25"/>
    <p:sldId id="757" r:id="rId26"/>
    <p:sldId id="770" r:id="rId27"/>
    <p:sldId id="771" r:id="rId28"/>
    <p:sldId id="772" r:id="rId29"/>
    <p:sldId id="773" r:id="rId30"/>
    <p:sldId id="765" r:id="rId31"/>
    <p:sldId id="750" r:id="rId32"/>
    <p:sldId id="755" r:id="rId33"/>
  </p:sldIdLst>
  <p:sldSz cx="9144000" cy="6858000" type="screen4x3"/>
  <p:notesSz cx="6858000" cy="9144000"/>
  <p:custDataLst>
    <p:tags r:id="rId38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79" userDrawn="1">
          <p15:clr>
            <a:srgbClr val="A4A3A4"/>
          </p15:clr>
        </p15:guide>
        <p15:guide id="2" pos="4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CFF33"/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82"/>
  </p:normalViewPr>
  <p:slideViewPr>
    <p:cSldViewPr showGuides="1">
      <p:cViewPr varScale="1">
        <p:scale>
          <a:sx n="90" d="100"/>
          <a:sy n="90" d="100"/>
        </p:scale>
        <p:origin x="825" y="33"/>
      </p:cViewPr>
      <p:guideLst>
        <p:guide orient="horz" pos="1479"/>
        <p:guide pos="4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6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gs" Target="tags/tag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200" b="0" i="0" u="none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 b="0" i="0" u="none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200" b="0" i="0" u="none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 i="0" u="none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D1D519-420E-4E17-821E-6329F9870BD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200" b="0" i="0" u="none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 b="0" i="0" u="none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Click to edit Master text styles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Second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Third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Fourth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Fifth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200" b="0" i="0" u="none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 i="0" u="none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7A1F5E-1249-4094-ABF2-E6DAE552798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b="0" i="0" u="none" dirty="0"/>
            </a:fld>
            <a:endParaRPr lang="zh-CN" altLang="en-US" sz="1200" b="0" i="0" u="none" dirty="0"/>
          </a:p>
        </p:txBody>
      </p:sp>
      <p:sp>
        <p:nvSpPr>
          <p:cNvPr id="1433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38238" y="701675"/>
            <a:ext cx="4583112" cy="3436938"/>
          </a:xfrm>
        </p:spPr>
      </p:sp>
      <p:sp>
        <p:nvSpPr>
          <p:cNvPr id="14340" name="Rectangle 3"/>
          <p:cNvSpPr>
            <a:spLocks noGrp="1"/>
          </p:cNvSpPr>
          <p:nvPr>
            <p:ph type="body" idx="1"/>
          </p:nvPr>
        </p:nvSpPr>
        <p:spPr>
          <a:xfrm>
            <a:off x="914400" y="4371975"/>
            <a:ext cx="5029200" cy="4060825"/>
          </a:xfrm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Here 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b="0" i="0" u="none" dirty="0"/>
            </a:fld>
            <a:endParaRPr lang="zh-CN" altLang="en-US" sz="1200" b="0" i="0" u="none" dirty="0"/>
          </a:p>
        </p:txBody>
      </p:sp>
      <p:sp>
        <p:nvSpPr>
          <p:cNvPr id="2253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38238" y="701675"/>
            <a:ext cx="4583112" cy="3436938"/>
          </a:xfrm>
        </p:spPr>
      </p:sp>
      <p:sp>
        <p:nvSpPr>
          <p:cNvPr id="22532" name="Rectangle 3"/>
          <p:cNvSpPr>
            <a:spLocks noGrp="1"/>
          </p:cNvSpPr>
          <p:nvPr>
            <p:ph type="body" idx="1"/>
          </p:nvPr>
        </p:nvSpPr>
        <p:spPr>
          <a:xfrm>
            <a:off x="914400" y="4371975"/>
            <a:ext cx="5029200" cy="4060825"/>
          </a:xfrm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Have students come up with other examples and work through them.  Maybe start with a 2-digit example.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b="0" i="0" u="none" dirty="0"/>
            </a:fld>
            <a:endParaRPr lang="zh-CN" altLang="en-US" sz="1200" b="0" i="0" u="none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48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b="0" i="0" u="none" dirty="0"/>
            </a:fld>
            <a:endParaRPr lang="zh-CN" altLang="en-US" sz="1200" b="0" i="0" u="none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7" descr="attach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8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2059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3563938" y="4581525"/>
            <a:ext cx="4640263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Yang Juan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jyang@tseg.org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College of Computer Science &amp; Technology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3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7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AAA949-4365-44D4-BE91-6C3EC508460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28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29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D6D186-90AA-43E0-B324-3BE32282D05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ED203F-CD28-45FD-B591-A90C330C13C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0C5610-6A26-43B3-B6E8-15EBCFCCFC9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ED203F-CD28-45FD-B591-A90C330C13C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0C5610-6A26-43B3-B6E8-15EBCFCCFC9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268413"/>
            <a:ext cx="4059237" cy="4864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95850" y="1268413"/>
            <a:ext cx="4059238" cy="4864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ED203F-CD28-45FD-B591-A90C330C13C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0C5610-6A26-43B3-B6E8-15EBCFCCFC9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ED203F-CD28-45FD-B591-A90C330C13C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0C5610-6A26-43B3-B6E8-15EBCFCCFC9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ED203F-CD28-45FD-B591-A90C330C13C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0C5610-6A26-43B3-B6E8-15EBCFCCFC9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ED203F-CD28-45FD-B591-A90C330C13C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0C5610-6A26-43B3-B6E8-15EBCFCCFC9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ED203F-CD28-45FD-B591-A90C330C13C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0C5610-6A26-43B3-B6E8-15EBCFCCFC9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ED203F-CD28-45FD-B591-A90C330C13C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0C5610-6A26-43B3-B6E8-15EBCFCCFC9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ED203F-CD28-45FD-B591-A90C330C13C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0C5610-6A26-43B3-B6E8-15EBCFCCFC9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88163" y="0"/>
            <a:ext cx="2066925" cy="6132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0"/>
            <a:ext cx="6051550" cy="6132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ED203F-CD28-45FD-B591-A90C330C13C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0C5610-6A26-43B3-B6E8-15EBCFCCFC9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23938" y="0"/>
            <a:ext cx="779303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4213" y="1268413"/>
            <a:ext cx="4059237" cy="48641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95850" y="1268413"/>
            <a:ext cx="4059238" cy="48641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ED203F-CD28-45FD-B591-A90C330C13C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0C5610-6A26-43B3-B6E8-15EBCFCCFC9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23938" y="0"/>
            <a:ext cx="779303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4213" y="1268413"/>
            <a:ext cx="4059237" cy="48641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95850" y="1268413"/>
            <a:ext cx="4059238" cy="235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95850" y="3776663"/>
            <a:ext cx="4059238" cy="235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ED203F-CD28-45FD-B591-A90C330C13C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0C5610-6A26-43B3-B6E8-15EBCFCCFC9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8" descr="attach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u="none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ED203F-CD28-45FD-B591-A90C330C13C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2"/>
          <p:cNvSpPr>
            <a:spLocks noChangeArrowheads="1"/>
          </p:cNvSpPr>
          <p:nvPr/>
        </p:nvSpPr>
        <p:spPr bwMode="ltGray">
          <a:xfrm>
            <a:off x="290513" y="48101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3"/>
          <p:cNvSpPr>
            <a:spLocks noChangeArrowheads="1"/>
          </p:cNvSpPr>
          <p:nvPr/>
        </p:nvSpPr>
        <p:spPr bwMode="ltGray">
          <a:xfrm>
            <a:off x="673100" y="48101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ltGray">
          <a:xfrm>
            <a:off x="414338" y="90328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ltGray">
          <a:xfrm>
            <a:off x="784225" y="90328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2" name="Rectangle 6"/>
          <p:cNvSpPr>
            <a:spLocks noChangeArrowheads="1"/>
          </p:cNvSpPr>
          <p:nvPr/>
        </p:nvSpPr>
        <p:spPr bwMode="ltGray">
          <a:xfrm>
            <a:off x="0" y="8302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gray">
          <a:xfrm>
            <a:off x="635000" y="37306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gray">
          <a:xfrm>
            <a:off x="315913" y="11636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5" name="Rectangle 9"/>
          <p:cNvSpPr>
            <a:spLocks noGrp="1"/>
          </p:cNvSpPr>
          <p:nvPr>
            <p:ph type="title"/>
          </p:nvPr>
        </p:nvSpPr>
        <p:spPr>
          <a:xfrm>
            <a:off x="1023938" y="0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6" name="Rectangle 10"/>
          <p:cNvSpPr>
            <a:spLocks noGrp="1"/>
          </p:cNvSpPr>
          <p:nvPr>
            <p:ph type="body" idx="1"/>
          </p:nvPr>
        </p:nvSpPr>
        <p:spPr>
          <a:xfrm>
            <a:off x="684213" y="1268413"/>
            <a:ext cx="8270875" cy="48641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000" u="none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0C5610-6A26-43B3-B6E8-15EBCFCCFC9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2928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u="none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hyperlink" Target="http://www.mersenne.org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tags" Target="../tags/tag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5" name="Rectangle 2"/>
          <p:cNvSpPr>
            <a:spLocks noGrp="1"/>
          </p:cNvSpPr>
          <p:nvPr>
            <p:ph type="title"/>
          </p:nvPr>
        </p:nvSpPr>
        <p:spPr>
          <a:xfrm>
            <a:off x="857250" y="0"/>
            <a:ext cx="7793038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Prime Numbers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5126" name="Rectangle 3"/>
          <p:cNvSpPr>
            <a:spLocks noGrp="1"/>
          </p:cNvSpPr>
          <p:nvPr>
            <p:ph idx="1"/>
          </p:nvPr>
        </p:nvSpPr>
        <p:spPr>
          <a:xfrm>
            <a:off x="755650" y="1341438"/>
            <a:ext cx="7772400" cy="41910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An integer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&gt;1</a:t>
            </a:r>
            <a:r>
              <a:rPr lang="en-US" altLang="zh-CN" dirty="0">
                <a:latin typeface="Times New Roman" panose="02020503050405090304" pitchFamily="18" charset="0"/>
              </a:rPr>
              <a:t> is </a:t>
            </a:r>
            <a:r>
              <a:rPr lang="en-US" altLang="zh-CN" i="1" dirty="0">
                <a:latin typeface="Times New Roman" panose="02020503050405090304" pitchFamily="18" charset="0"/>
              </a:rPr>
              <a:t>prime</a:t>
            </a:r>
            <a:r>
              <a:rPr lang="en-US" altLang="zh-CN" dirty="0">
                <a:latin typeface="Times New Roman" panose="02020503050405090304" pitchFamily="18" charset="0"/>
              </a:rPr>
              <a:t> iff it is not the product of two integers greater than 1: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dirty="0">
                <a:latin typeface="Times New Roman" panose="02020503050405090304" pitchFamily="18" charset="0"/>
              </a:rPr>
              <a:t>	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&gt;1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 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,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N: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&gt;1,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&gt;1,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ab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=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.</a:t>
            </a: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The only positive factors of a prime 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 are 1 and 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 itself.  </a:t>
            </a:r>
            <a:r>
              <a:rPr lang="en-US" altLang="zh-CN" dirty="0">
                <a:solidFill>
                  <a:srgbClr val="FF3300"/>
                </a:solidFill>
                <a:latin typeface="Times New Roman" panose="02020503050405090304" pitchFamily="18" charset="0"/>
              </a:rPr>
              <a:t>Some primes: 2,3,5,7,11,13...</a:t>
            </a:r>
            <a:endParaRPr lang="en-US" altLang="zh-CN" dirty="0">
              <a:solidFill>
                <a:srgbClr val="FF3300"/>
              </a:solidFill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8000"/>
                </a:solidFill>
                <a:latin typeface="Times New Roman" panose="02020503050405090304" pitchFamily="18" charset="0"/>
              </a:rPr>
              <a:t>Non-prime integers greater than 1 are called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composite</a:t>
            </a:r>
            <a:r>
              <a:rPr lang="en-US" altLang="zh-CN" dirty="0">
                <a:solidFill>
                  <a:srgbClr val="008000"/>
                </a:solidFill>
                <a:latin typeface="Times New Roman" panose="02020503050405090304" pitchFamily="18" charset="0"/>
              </a:rPr>
              <a:t>, because they can be </a:t>
            </a:r>
            <a:r>
              <a:rPr lang="en-US" altLang="zh-CN" i="1" dirty="0">
                <a:solidFill>
                  <a:srgbClr val="008000"/>
                </a:solidFill>
                <a:latin typeface="Times New Roman" panose="02020503050405090304" pitchFamily="18" charset="0"/>
              </a:rPr>
              <a:t>composed</a:t>
            </a:r>
            <a:r>
              <a:rPr lang="en-US" altLang="zh-CN" dirty="0">
                <a:solidFill>
                  <a:srgbClr val="008000"/>
                </a:solidFill>
                <a:latin typeface="Times New Roman" panose="02020503050405090304" pitchFamily="18" charset="0"/>
              </a:rPr>
              <a:t> by multiplying two integers greater than 1.</a:t>
            </a:r>
            <a:endParaRPr lang="en-US" altLang="zh-CN" dirty="0">
              <a:solidFill>
                <a:srgbClr val="008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Review 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615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|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  “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divides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” 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Z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: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b=ac</a:t>
            </a:r>
            <a:endParaRPr lang="en-US" altLang="zh-CN" i="1" dirty="0">
              <a:solidFill>
                <a:srgbClr val="FF0000"/>
              </a:solidFill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“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 is </a:t>
            </a:r>
            <a:r>
              <a:rPr lang="en-US" altLang="zh-CN" i="1" dirty="0">
                <a:latin typeface="Times New Roman" panose="02020503050405090304" pitchFamily="18" charset="0"/>
              </a:rPr>
              <a:t>prime</a:t>
            </a:r>
            <a:r>
              <a:rPr lang="en-US" altLang="zh-CN" dirty="0">
                <a:latin typeface="Times New Roman" panose="02020503050405090304" pitchFamily="18" charset="0"/>
              </a:rPr>
              <a:t>”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 </a:t>
            </a:r>
            <a:b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</a:b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	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&gt;1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 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N: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(1 &lt;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a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&lt;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p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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a|p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endParaRPr lang="en-US" altLang="zh-CN" i="1" dirty="0">
              <a:solidFill>
                <a:srgbClr val="FF0000"/>
              </a:solidFill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Terms 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factor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divisor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multiple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 composite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.</a:t>
            </a: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zh-CN" altLang="en-US" i="1" dirty="0">
              <a:latin typeface="Times New Roman" panose="0202050305040509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>
                <a:latin typeface="Times New Roman" panose="02020503050405090304" pitchFamily="18" charset="0"/>
              </a:rPr>
              <a:t>Fundamental Theorem of Arithmetic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717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Every positive integer has a </a:t>
            </a:r>
            <a:r>
              <a:rPr lang="en-US" altLang="zh-CN" i="1" dirty="0">
                <a:latin typeface="Times New Roman" panose="02020503050405090304" pitchFamily="18" charset="0"/>
              </a:rPr>
              <a:t>unique</a:t>
            </a:r>
            <a:r>
              <a:rPr lang="en-US" altLang="zh-CN" dirty="0">
                <a:latin typeface="Times New Roman" panose="02020503050405090304" pitchFamily="18" charset="0"/>
              </a:rPr>
              <a:t> representation as the product of a non-decreasing series of zero or more primes.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Some examples: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1 = (product of empty series) = 1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2 = 2 (product of series with one element 2)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4 = 2·2 (product of series 2,2)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2000 = 2·2·2·2·5·5·5;   2001 = 3·23·29;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dirty="0">
                <a:latin typeface="Times New Roman" panose="02020503050405090304" pitchFamily="18" charset="0"/>
              </a:rPr>
              <a:t>2002 = 2·7·11·13;  2003 = 2003  (no clear pattern!)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673796" name="WordArt 4"/>
          <p:cNvSpPr>
            <a:spLocks noChangeArrowheads="1" noChangeShapeType="1" noTextEdit="1"/>
          </p:cNvSpPr>
          <p:nvPr/>
        </p:nvSpPr>
        <p:spPr bwMode="auto">
          <a:xfrm>
            <a:off x="1258888" y="981075"/>
            <a:ext cx="6662737" cy="40005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1" u="sng" strike="noStrike" kern="10" cap="none" spc="0" normalizeH="0" baseline="0" noProof="0">
                <a:ln w="12700">
                  <a:solidFill>
                    <a:srgbClr val="3333CC"/>
                  </a:solidFill>
                  <a:round/>
                  <a:tailEnd type="none" w="lg" len="med"/>
                </a:ln>
                <a:solidFill>
                  <a:srgbClr val="FF66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uLnTx/>
                <a:uFillTx/>
                <a:latin typeface="Arial Black" panose="020B0A04020102020204"/>
                <a:ea typeface="宋体" pitchFamily="2" charset="-122"/>
                <a:cs typeface="+mn-cs"/>
              </a:rPr>
              <a:t>Its "Prime Factorization"</a:t>
            </a:r>
            <a:endParaRPr kumimoji="1" lang="zh-CN" altLang="en-US" sz="3600" b="1" i="1" u="sng" strike="noStrike" kern="10" cap="none" spc="0" normalizeH="0" baseline="0" noProof="0">
              <a:ln w="12700">
                <a:solidFill>
                  <a:srgbClr val="3333CC"/>
                </a:solidFill>
                <a:round/>
                <a:tailEnd type="none" w="lg" len="med"/>
              </a:ln>
              <a:solidFill>
                <a:srgbClr val="FF6600"/>
              </a:solidFill>
              <a:effectLst>
                <a:outerShdw dist="45791" dir="2021404" algn="ctr" rotWithShape="0">
                  <a:srgbClr val="9999FF"/>
                </a:outerShdw>
              </a:effectLst>
              <a:uLnTx/>
              <a:uFillTx/>
              <a:latin typeface="Arial Black" panose="020B0A04020102020204"/>
              <a:ea typeface="宋体" pitchFamily="2" charset="-122"/>
              <a:cs typeface="+mn-cs"/>
            </a:endParaRPr>
          </a:p>
        </p:txBody>
      </p:sp>
      <p:sp>
        <p:nvSpPr>
          <p:cNvPr id="7176" name="Line 5"/>
          <p:cNvSpPr/>
          <p:nvPr/>
        </p:nvSpPr>
        <p:spPr>
          <a:xfrm flipH="1" flipV="1">
            <a:off x="3492500" y="1484313"/>
            <a:ext cx="12700" cy="1335087"/>
          </a:xfrm>
          <a:prstGeom prst="line">
            <a:avLst/>
          </a:prstGeom>
          <a:ln w="63500" cap="flat" cmpd="sng">
            <a:solidFill>
              <a:srgbClr val="FF0000"/>
            </a:solidFill>
            <a:prstDash val="solid"/>
            <a:headEnd type="none" w="med" len="med"/>
            <a:tailEnd type="stealth" w="lg" len="med"/>
          </a:ln>
        </p:spPr>
      </p:sp>
      <p:sp>
        <p:nvSpPr>
          <p:cNvPr id="7177" name="Text Box 6"/>
          <p:cNvSpPr txBox="1"/>
          <p:nvPr/>
        </p:nvSpPr>
        <p:spPr>
          <a:xfrm>
            <a:off x="1692275" y="5157788"/>
            <a:ext cx="5667375" cy="669925"/>
          </a:xfrm>
          <a:prstGeom prst="rect">
            <a:avLst/>
          </a:prstGeom>
          <a:solidFill>
            <a:srgbClr val="FFFFCC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Times New Roman" panose="02020503050405090304" pitchFamily="18" charset="0"/>
              </a:rPr>
              <a:t>Later, we will see how to rigorously prove the </a:t>
            </a:r>
            <a:br>
              <a:rPr lang="en-US" altLang="zh-CN" sz="1800" dirty="0">
                <a:latin typeface="Times New Roman" panose="02020503050405090304" pitchFamily="18" charset="0"/>
              </a:rPr>
            </a:br>
            <a:r>
              <a:rPr lang="en-US" altLang="zh-CN" sz="1800" dirty="0">
                <a:latin typeface="Times New Roman" panose="02020503050405090304" pitchFamily="18" charset="0"/>
              </a:rPr>
              <a:t>Fundamental Theorem of Arithmetic, starting from scratch!</a:t>
            </a:r>
            <a:endParaRPr lang="en-US" altLang="zh-CN" sz="180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4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5" name="日期占位符 5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6" name="页脚占位符 6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2</a:t>
            </a:r>
            <a:endParaRPr lang="en-US" altLang="zh-CN" dirty="0"/>
          </a:p>
        </p:txBody>
      </p:sp>
      <p:sp>
        <p:nvSpPr>
          <p:cNvPr id="8198" name="Rectangle 3"/>
          <p:cNvSpPr>
            <a:spLocks noGrp="1"/>
          </p:cNvSpPr>
          <p:nvPr>
            <p:ph type="body" sz="half" idx="1"/>
          </p:nvPr>
        </p:nvSpPr>
        <p:spPr>
          <a:xfrm>
            <a:off x="684213" y="1268413"/>
            <a:ext cx="7437437" cy="48641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latin typeface="Times New Roman" panose="02020503050405090304" pitchFamily="18" charset="0"/>
              </a:rPr>
              <a:t>If </a:t>
            </a:r>
            <a:r>
              <a:rPr lang="en-US" altLang="zh-CN" sz="2800" i="1" dirty="0">
                <a:latin typeface="Times New Roman" panose="02020503050405090304" pitchFamily="18" charset="0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</a:rPr>
              <a:t> is a composite integer, then </a:t>
            </a:r>
            <a:r>
              <a:rPr lang="en-US" altLang="zh-CN" sz="2800" i="1" dirty="0">
                <a:latin typeface="Times New Roman" panose="02020503050405090304" pitchFamily="18" charset="0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</a:rPr>
              <a:t> has a prime divisor less than or equal to        .</a:t>
            </a:r>
            <a:endParaRPr lang="en-US" altLang="zh-CN" sz="2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8199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292725" y="1700213"/>
          <a:ext cx="4603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41300" imgH="228600" progId="Equation.DSMT4">
                  <p:embed/>
                </p:oleObj>
              </mc:Choice>
              <mc:Fallback>
                <p:oleObj name="" r:id="rId1" imgW="241300" imgH="2286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5292725" y="1700213"/>
                        <a:ext cx="460375" cy="4841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3</a:t>
            </a:r>
            <a:endParaRPr lang="en-US" altLang="zh-CN" dirty="0"/>
          </a:p>
        </p:txBody>
      </p:sp>
      <p:sp>
        <p:nvSpPr>
          <p:cNvPr id="922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There are infinitely many primes.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503050405090304" pitchFamily="18" charset="0"/>
              </a:rPr>
              <a:t>We assume that there is a largest prime number. Call it p.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Times New Roman" panose="02020503050405090304" pitchFamily="18" charset="0"/>
              </a:rPr>
              <a:t>	Hence, the set of all primes lie between 1 and p.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Times New Roman" panose="02020503050405090304" pitchFamily="18" charset="0"/>
              </a:rPr>
              <a:t>	Form the product of these primes: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Times New Roman" panose="02020503050405090304" pitchFamily="18" charset="0"/>
              </a:rPr>
              <a:t>	r = 2•3•5•7•11•....•p.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anose="02020503050405090304" pitchFamily="18" charset="0"/>
              </a:rPr>
              <a:t>But r + 1 is a prime larger than p. (Why?).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Times New Roman" panose="02020503050405090304" pitchFamily="18" charset="0"/>
              </a:rPr>
              <a:t>	This contradicts the assumption that there is a largest  prime</a:t>
            </a:r>
            <a:r>
              <a:rPr lang="en-US" altLang="zh-CN" sz="2000" dirty="0">
                <a:latin typeface="Times New Roman" panose="02020503050405090304" pitchFamily="18" charset="0"/>
              </a:rPr>
              <a:t>. </a:t>
            </a:r>
            <a:endParaRPr lang="en-US" altLang="zh-CN" sz="2000" dirty="0">
              <a:latin typeface="Times New Roman" panose="02020503050405090304" pitchFamily="18" charset="0"/>
            </a:endParaRPr>
          </a:p>
          <a:p>
            <a:pPr lvl="1" eaLnBrk="1" hangingPunct="1"/>
            <a:endParaRPr lang="en-US" altLang="zh-CN" dirty="0">
              <a:latin typeface="Times New Roman" panose="02020503050405090304" pitchFamily="18" charset="0"/>
            </a:endParaRPr>
          </a:p>
          <a:p>
            <a:pPr marL="0" indent="0" eaLnBrk="1" hangingPunct="1">
              <a:buNone/>
            </a:pPr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Infinitude of Primes</a:t>
            </a:r>
            <a:endParaRPr lang="en-US" altLang="zh-CN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684213" y="1196658"/>
            <a:ext cx="8270875" cy="486410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b="1" dirty="0"/>
              <a:t>  </a:t>
            </a:r>
            <a:r>
              <a:rPr lang="en-US" altLang="zh-CN" sz="3600" b="1" dirty="0"/>
              <a:t> </a:t>
            </a:r>
            <a:r>
              <a:rPr lang="en-US" altLang="zh-CN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Theorem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There are infinitely many primes. (Euclid)</a:t>
            </a: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 Assume finitely many primes: 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p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zh-CN" sz="2000" i="1" dirty="0">
                <a:latin typeface="Times New Roman" panose="02020503050405090304" pitchFamily="18" charset="0"/>
                <a:ea typeface="Times New Roman" panose="02020503050405090304" pitchFamily="18" charset="0"/>
              </a:rPr>
              <a:t>…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.., p</a:t>
            </a:r>
            <a:r>
              <a:rPr lang="en-US" altLang="zh-CN" sz="20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endParaRPr lang="en-US" altLang="zh-CN" sz="20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Let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 = p</a:t>
            </a:r>
            <a:r>
              <a:rPr lang="en-US" altLang="zh-CN" sz="2000" baseline="-25000" dirty="0">
                <a:latin typeface="Times New Roman" panose="02020503050405090304" pitchFamily="18" charset="0"/>
                <a:cs typeface="Cambria Math" panose="02040503050406030204" pitchFamily="18" charset="0"/>
              </a:rPr>
              <a:t>1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000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sz="2000" i="1" dirty="0">
                <a:latin typeface="Times New Roman" panose="02020503050405090304" pitchFamily="18" charset="0"/>
              </a:rPr>
              <a:t>∙∙∙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0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+ </a:t>
            </a:r>
            <a:r>
              <a:rPr lang="en-US" altLang="zh-CN" sz="2000" dirty="0">
                <a:latin typeface="Times New Roman" panose="02020503050405090304" pitchFamily="18" charset="0"/>
              </a:rPr>
              <a:t>1</a:t>
            </a:r>
            <a:endParaRPr lang="en-US" altLang="zh-CN" sz="2000" dirty="0">
              <a:latin typeface="Times New Roman" panose="02020503050405090304" pitchFamily="18" charset="0"/>
            </a:endParaRPr>
          </a:p>
          <a:p>
            <a:pPr lvl="1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Either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prime or by the fundamental theorem of arithmetic it is a product of primes. </a:t>
            </a: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But none of the primes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j 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divides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since if 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j 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|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then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j 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divides                                             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 </a:t>
            </a:r>
            <a:r>
              <a:rPr lang="en-US" altLang="zh-CN" sz="2000" i="1" dirty="0">
                <a:latin typeface="Times New Roman" panose="02020503050405090304" pitchFamily="18" charset="0"/>
              </a:rPr>
              <a:t>−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000" i="1" dirty="0">
                <a:latin typeface="Times New Roman" panose="02020503050405090304" pitchFamily="18" charset="0"/>
              </a:rPr>
              <a:t>∙∙∙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0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</a:t>
            </a:r>
            <a:r>
              <a:rPr lang="en-US" altLang="zh-CN" sz="2000" dirty="0">
                <a:latin typeface="Times New Roman" panose="02020503050405090304" pitchFamily="18" charset="0"/>
              </a:rPr>
              <a:t>1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.</a:t>
            </a:r>
            <a:endParaRPr lang="en-US" altLang="zh-CN" sz="20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Hence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there is a prime not on the list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p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zh-CN" sz="2000" i="1" dirty="0">
                <a:latin typeface="Times New Roman" panose="02020503050405090304" pitchFamily="18" charset="0"/>
                <a:ea typeface="Times New Roman" panose="02020503050405090304" pitchFamily="18" charset="0"/>
              </a:rPr>
              <a:t>…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.., p</a:t>
            </a:r>
            <a:r>
              <a:rPr lang="en-US" altLang="zh-CN" sz="20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20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is either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or if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composite, it is a prime factor of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This contradicts the assumption that 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p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zh-CN" sz="2000" i="1" dirty="0">
                <a:latin typeface="Times New Roman" panose="02020503050405090304" pitchFamily="18" charset="0"/>
                <a:ea typeface="Times New Roman" panose="02020503050405090304" pitchFamily="18" charset="0"/>
              </a:rPr>
              <a:t>…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.., p</a:t>
            </a:r>
            <a:r>
              <a:rPr lang="en-US" altLang="zh-CN" sz="20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are all the primes. </a:t>
            </a: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Consequently, there are infinitely many primes.</a:t>
            </a: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endParaRPr lang="en-US" altLang="zh-CN" dirty="0"/>
          </a:p>
        </p:txBody>
      </p:sp>
      <p:pic>
        <p:nvPicPr>
          <p:cNvPr id="10244" name="Picture 3" descr="031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30175"/>
            <a:ext cx="895350" cy="1038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5" name="TextBox 4"/>
          <p:cNvSpPr txBox="1"/>
          <p:nvPr/>
        </p:nvSpPr>
        <p:spPr>
          <a:xfrm>
            <a:off x="6875463" y="1293813"/>
            <a:ext cx="2039937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u="sng" dirty="0">
                <a:latin typeface="Times New Roman" panose="02020503050405090304" pitchFamily="18" charset="0"/>
              </a:rPr>
              <a:t>Euclid </a:t>
            </a:r>
            <a:endParaRPr lang="en-US" altLang="zh-CN" sz="1600" b="1" i="1" u="sng" dirty="0">
              <a:latin typeface="Times New Roman" panose="02020503050405090304" pitchFamily="18" charset="0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u="sng" dirty="0">
                <a:latin typeface="Times New Roman" panose="02020503050405090304" pitchFamily="18" charset="0"/>
              </a:rPr>
              <a:t>(</a:t>
            </a:r>
            <a:r>
              <a:rPr lang="en-US" altLang="zh-CN" sz="1600" b="1" i="1" u="sng" dirty="0">
                <a:latin typeface="Cambria Math" panose="02040503050406030204" pitchFamily="18" charset="0"/>
              </a:rPr>
              <a:t>325</a:t>
            </a:r>
            <a:r>
              <a:rPr lang="en-US" altLang="zh-CN" sz="1600" b="1" i="1" u="sng" dirty="0">
                <a:latin typeface="Times New Roman" panose="02020503050405090304" pitchFamily="18" charset="0"/>
              </a:rPr>
              <a:t> </a:t>
            </a:r>
            <a:r>
              <a:rPr lang="en-US" altLang="zh-CN" sz="1000" b="1" i="1" u="sng" dirty="0">
                <a:latin typeface="Times New Roman" panose="02020503050405090304" pitchFamily="18" charset="0"/>
              </a:rPr>
              <a:t>B.C.E.</a:t>
            </a:r>
            <a:r>
              <a:rPr lang="en-US" altLang="zh-CN" sz="1600" b="1" i="1" u="sng" dirty="0">
                <a:latin typeface="Times New Roman" panose="02020503050405090304" pitchFamily="18" charset="0"/>
              </a:rPr>
              <a:t> – </a:t>
            </a:r>
            <a:r>
              <a:rPr lang="en-US" altLang="zh-CN" sz="1600" b="1" i="1" u="sng" dirty="0">
                <a:latin typeface="Cambria Math" panose="02040503050406030204" pitchFamily="18" charset="0"/>
              </a:rPr>
              <a:t>265</a:t>
            </a:r>
            <a:r>
              <a:rPr lang="en-US" altLang="zh-CN" sz="1600" b="1" i="1" u="sng" dirty="0">
                <a:latin typeface="Times New Roman" panose="02020503050405090304" pitchFamily="18" charset="0"/>
              </a:rPr>
              <a:t> </a:t>
            </a:r>
            <a:r>
              <a:rPr lang="en-US" altLang="zh-CN" sz="1000" b="1" i="1" u="sng" dirty="0">
                <a:latin typeface="Times New Roman" panose="02020503050405090304" pitchFamily="18" charset="0"/>
              </a:rPr>
              <a:t>B.C.E.</a:t>
            </a:r>
            <a:r>
              <a:rPr lang="en-US" altLang="zh-CN" sz="1600" b="1" i="1" u="sng" dirty="0">
                <a:latin typeface="Times New Roman" panose="02020503050405090304" pitchFamily="18" charset="0"/>
              </a:rPr>
              <a:t>)</a:t>
            </a:r>
            <a:endParaRPr lang="en-US" altLang="zh-CN" sz="1600" b="1" i="1" u="sng" dirty="0">
              <a:latin typeface="Times New Roman" panose="02020503050405090304" pitchFamily="18" charset="0"/>
            </a:endParaRPr>
          </a:p>
        </p:txBody>
      </p:sp>
      <p:pic>
        <p:nvPicPr>
          <p:cNvPr id="10246" name="Picture 5" descr="08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105400"/>
            <a:ext cx="762000" cy="88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7" name="TextBox 6"/>
          <p:cNvSpPr txBox="1"/>
          <p:nvPr/>
        </p:nvSpPr>
        <p:spPr>
          <a:xfrm>
            <a:off x="958850" y="5327650"/>
            <a:ext cx="6553200" cy="10763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u="none" dirty="0">
                <a:latin typeface="Times New Roman" panose="02020503050405090304" pitchFamily="18" charset="0"/>
              </a:rPr>
              <a:t>This proof was given by Euclid  The Elements. The proof is considered to be</a:t>
            </a:r>
            <a:r>
              <a:rPr lang="en-US" altLang="zh-CN" sz="1600" b="1" i="1" u="none" dirty="0">
                <a:solidFill>
                  <a:srgbClr val="FF0000"/>
                </a:solidFill>
                <a:latin typeface="Times New Roman" panose="02020503050405090304" pitchFamily="18" charset="0"/>
              </a:rPr>
              <a:t> one of the most beautiful in all  mathematics</a:t>
            </a:r>
            <a:r>
              <a:rPr lang="en-US" altLang="zh-CN" sz="1600" b="1" i="1" u="none" dirty="0">
                <a:latin typeface="Times New Roman" panose="02020503050405090304" pitchFamily="18" charset="0"/>
              </a:rPr>
              <a:t>.  It is  the first proof in The Book, inspired by the famous mathematician Paul Erd</a:t>
            </a:r>
            <a:r>
              <a:rPr lang="hu-HU" altLang="zh-CN" sz="1600" b="1" i="1" u="none" dirty="0">
                <a:latin typeface="Cambria Math" panose="02040503050406030204" pitchFamily="18" charset="0"/>
              </a:rPr>
              <a:t>ő</a:t>
            </a:r>
            <a:r>
              <a:rPr lang="en-US" altLang="zh-CN" sz="1600" b="1" i="1" u="none" dirty="0">
                <a:latin typeface="Times New Roman" panose="02020503050405090304" pitchFamily="18" charset="0"/>
              </a:rPr>
              <a:t>s’ imagined collection of perfect proofs maintained by God.</a:t>
            </a:r>
            <a:endParaRPr lang="en-US" altLang="zh-CN" sz="1600" b="1" i="1" u="none" dirty="0">
              <a:latin typeface="Times New Roman" panose="02020503050405090304" pitchFamily="18" charset="0"/>
            </a:endParaRPr>
          </a:p>
        </p:txBody>
      </p:sp>
      <p:sp>
        <p:nvSpPr>
          <p:cNvPr id="10248" name="TextBox 7"/>
          <p:cNvSpPr txBox="1"/>
          <p:nvPr/>
        </p:nvSpPr>
        <p:spPr>
          <a:xfrm>
            <a:off x="7620000" y="6019800"/>
            <a:ext cx="12954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i="1" u="sng" dirty="0">
                <a:latin typeface="Times New Roman" panose="02020503050405090304" pitchFamily="18" charset="0"/>
              </a:rPr>
              <a:t>Paul  Erd</a:t>
            </a:r>
            <a:r>
              <a:rPr lang="hu-HU" altLang="zh-CN" sz="1400" b="1" i="1" u="sng" dirty="0">
                <a:latin typeface="Cambria Math" panose="02040503050406030204" pitchFamily="18" charset="0"/>
              </a:rPr>
              <a:t>ő</a:t>
            </a:r>
            <a:r>
              <a:rPr lang="en-US" altLang="zh-CN" sz="1400" b="1" i="1" u="sng" dirty="0">
                <a:latin typeface="Times New Roman" panose="02020503050405090304" pitchFamily="18" charset="0"/>
              </a:rPr>
              <a:t>s</a:t>
            </a:r>
            <a:endParaRPr lang="en-US" altLang="zh-CN" sz="1400" b="1" i="1" u="sng" dirty="0">
              <a:latin typeface="Times New Roman" panose="0202050305040509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i="1" u="sng" dirty="0">
                <a:latin typeface="Times New Roman" panose="02020503050405090304" pitchFamily="18" charset="0"/>
              </a:rPr>
              <a:t>(1913-1996) </a:t>
            </a:r>
            <a:endParaRPr lang="en-US" altLang="zh-CN" sz="1400" b="1" i="1" u="sng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674688" y="71438"/>
            <a:ext cx="7793037" cy="1143000"/>
          </a:xfrm>
        </p:spPr>
        <p:txBody>
          <a:bodyPr vert="horz" wrap="square" lIns="91440" tIns="45720" rIns="91440" bIns="45720" anchor="b" anchorCtr="0"/>
          <a:p>
            <a:r>
              <a:rPr lang="en-US" altLang="zh-CN" dirty="0"/>
              <a:t>Mersenne Primes</a:t>
            </a:r>
            <a:endParaRPr lang="en-US" altLang="zh-CN" dirty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36563" y="1301750"/>
            <a:ext cx="8270875" cy="4864100"/>
          </a:xfrm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  <a:buNone/>
            </a:pPr>
            <a:r>
              <a:rPr lang="en-US" altLang="zh-CN" sz="2500" b="1" dirty="0"/>
              <a:t>   </a:t>
            </a:r>
            <a:r>
              <a:rPr lang="en-US" altLang="zh-CN" sz="25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</a:t>
            </a:r>
            <a:r>
              <a:rPr lang="en-US" altLang="zh-CN" sz="2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Prime numbers of the form </a:t>
            </a:r>
            <a:r>
              <a:rPr lang="en-US" altLang="zh-CN" sz="2500" dirty="0">
                <a:latin typeface="Times New Roman" panose="02020503050405090304" pitchFamily="18" charset="0"/>
                <a:cs typeface="Cambria Math" panose="02040503050406030204" pitchFamily="18" charset="0"/>
              </a:rPr>
              <a:t>2</a:t>
            </a:r>
            <a:r>
              <a:rPr lang="en-US" altLang="zh-CN" sz="2500" i="1" baseline="30000" dirty="0">
                <a:latin typeface="Times New Roman" panose="02020503050405090304" pitchFamily="18" charset="0"/>
                <a:cs typeface="Cambria Math" panose="02040503050406030204" pitchFamily="18" charset="0"/>
              </a:rPr>
              <a:t>p </a:t>
            </a:r>
            <a:r>
              <a:rPr lang="en-US" altLang="zh-CN" sz="25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− </a:t>
            </a:r>
            <a:r>
              <a:rPr lang="en-US" altLang="zh-CN" sz="2500" dirty="0">
                <a:latin typeface="Times New Roman" panose="02020503050405090304" pitchFamily="18" charset="0"/>
                <a:cs typeface="Cambria Math" panose="02040503050406030204" pitchFamily="18" charset="0"/>
              </a:rPr>
              <a:t>1</a:t>
            </a:r>
            <a:r>
              <a:rPr lang="en-US" altLang="zh-CN" sz="25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 , </a:t>
            </a:r>
            <a:r>
              <a:rPr lang="en-US" altLang="zh-CN" sz="2500" dirty="0">
                <a:latin typeface="Times New Roman" panose="02020503050405090304" pitchFamily="18" charset="0"/>
                <a:cs typeface="Cambria Math" panose="02040503050406030204" pitchFamily="18" charset="0"/>
              </a:rPr>
              <a:t>where</a:t>
            </a:r>
            <a:r>
              <a:rPr lang="en-US" altLang="zh-CN" sz="25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 </a:t>
            </a:r>
            <a:r>
              <a:rPr lang="en-US" altLang="zh-CN" sz="2500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5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prime, are called </a:t>
            </a:r>
            <a:r>
              <a:rPr lang="en-US" altLang="zh-CN" sz="25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Mersenne primes</a:t>
            </a:r>
            <a:r>
              <a:rPr lang="en-US" altLang="zh-CN" sz="2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2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200" dirty="0">
                <a:latin typeface="Times New Roman" panose="02020503050405090304" pitchFamily="18" charset="0"/>
              </a:rPr>
              <a:t>2</a:t>
            </a:r>
            <a:r>
              <a:rPr lang="en-US" altLang="zh-CN" sz="2200" baseline="30000" dirty="0">
                <a:latin typeface="Times New Roman" panose="02020503050405090304" pitchFamily="18" charset="0"/>
              </a:rPr>
              <a:t>2</a:t>
            </a:r>
            <a:r>
              <a:rPr lang="en-US" altLang="zh-CN" sz="2200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200" i="1" dirty="0">
                <a:latin typeface="Times New Roman" panose="02020503050405090304" pitchFamily="18" charset="0"/>
              </a:rPr>
              <a:t>− </a:t>
            </a:r>
            <a:r>
              <a:rPr lang="en-US" altLang="zh-CN" sz="2200" dirty="0">
                <a:latin typeface="Times New Roman" panose="02020503050405090304" pitchFamily="18" charset="0"/>
              </a:rPr>
              <a:t>1</a:t>
            </a:r>
            <a:r>
              <a:rPr lang="en-US" altLang="zh-CN" sz="2200" i="1" dirty="0">
                <a:latin typeface="Times New Roman" panose="02020503050405090304" pitchFamily="18" charset="0"/>
              </a:rPr>
              <a:t>  = </a:t>
            </a:r>
            <a:r>
              <a:rPr lang="en-US" altLang="zh-CN" sz="2200" dirty="0">
                <a:latin typeface="Times New Roman" panose="02020503050405090304" pitchFamily="18" charset="0"/>
              </a:rPr>
              <a:t>3</a:t>
            </a:r>
            <a:r>
              <a:rPr lang="en-US" altLang="zh-CN" sz="2200" i="1" dirty="0">
                <a:latin typeface="Times New Roman" panose="02020503050405090304" pitchFamily="18" charset="0"/>
              </a:rPr>
              <a:t>, </a:t>
            </a:r>
            <a:r>
              <a:rPr lang="en-US" altLang="zh-CN" sz="2200" dirty="0">
                <a:latin typeface="Times New Roman" panose="02020503050405090304" pitchFamily="18" charset="0"/>
              </a:rPr>
              <a:t>2</a:t>
            </a:r>
            <a:r>
              <a:rPr lang="en-US" altLang="zh-CN" sz="2200" baseline="30000" dirty="0">
                <a:latin typeface="Times New Roman" panose="02020503050405090304" pitchFamily="18" charset="0"/>
              </a:rPr>
              <a:t>3</a:t>
            </a:r>
            <a:r>
              <a:rPr lang="en-US" altLang="zh-CN" sz="2200" i="1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200" i="1" dirty="0">
                <a:latin typeface="Times New Roman" panose="02020503050405090304" pitchFamily="18" charset="0"/>
              </a:rPr>
              <a:t>− </a:t>
            </a:r>
            <a:r>
              <a:rPr lang="en-US" altLang="zh-CN" sz="2200" dirty="0">
                <a:latin typeface="Times New Roman" panose="02020503050405090304" pitchFamily="18" charset="0"/>
              </a:rPr>
              <a:t>1</a:t>
            </a:r>
            <a:r>
              <a:rPr lang="en-US" altLang="zh-CN" sz="2200" i="1" dirty="0">
                <a:latin typeface="Times New Roman" panose="02020503050405090304" pitchFamily="18" charset="0"/>
              </a:rPr>
              <a:t>  = </a:t>
            </a:r>
            <a:r>
              <a:rPr lang="en-US" altLang="zh-CN" sz="2200" dirty="0">
                <a:latin typeface="Times New Roman" panose="02020503050405090304" pitchFamily="18" charset="0"/>
              </a:rPr>
              <a:t>7, 2</a:t>
            </a:r>
            <a:r>
              <a:rPr lang="en-US" altLang="zh-CN" sz="2200" baseline="30000" dirty="0">
                <a:latin typeface="Times New Roman" panose="02020503050405090304" pitchFamily="18" charset="0"/>
              </a:rPr>
              <a:t>5</a:t>
            </a:r>
            <a:r>
              <a:rPr lang="en-US" altLang="zh-CN" sz="2200" i="1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200" i="1" dirty="0">
                <a:latin typeface="Times New Roman" panose="02020503050405090304" pitchFamily="18" charset="0"/>
              </a:rPr>
              <a:t>− </a:t>
            </a:r>
            <a:r>
              <a:rPr lang="en-US" altLang="zh-CN" sz="2200" dirty="0">
                <a:latin typeface="Times New Roman" panose="02020503050405090304" pitchFamily="18" charset="0"/>
              </a:rPr>
              <a:t>1</a:t>
            </a:r>
            <a:r>
              <a:rPr lang="en-US" altLang="zh-CN" sz="2200" i="1" dirty="0">
                <a:latin typeface="Times New Roman" panose="02020503050405090304" pitchFamily="18" charset="0"/>
              </a:rPr>
              <a:t>  = </a:t>
            </a:r>
            <a:r>
              <a:rPr lang="en-US" altLang="zh-CN" sz="2200" dirty="0">
                <a:latin typeface="Times New Roman" panose="02020503050405090304" pitchFamily="18" charset="0"/>
              </a:rPr>
              <a:t>37 , and  2</a:t>
            </a:r>
            <a:r>
              <a:rPr lang="en-US" altLang="zh-CN" sz="2200" baseline="30000" dirty="0">
                <a:latin typeface="Times New Roman" panose="02020503050405090304" pitchFamily="18" charset="0"/>
              </a:rPr>
              <a:t>7</a:t>
            </a:r>
            <a:r>
              <a:rPr lang="en-US" altLang="zh-CN" sz="2200" i="1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200" i="1" dirty="0">
                <a:latin typeface="Times New Roman" panose="02020503050405090304" pitchFamily="18" charset="0"/>
              </a:rPr>
              <a:t>− </a:t>
            </a:r>
            <a:r>
              <a:rPr lang="en-US" altLang="zh-CN" sz="2200" dirty="0">
                <a:latin typeface="Times New Roman" panose="02020503050405090304" pitchFamily="18" charset="0"/>
              </a:rPr>
              <a:t>1 </a:t>
            </a:r>
            <a:r>
              <a:rPr lang="en-US" altLang="zh-CN" sz="2200" i="1" dirty="0">
                <a:latin typeface="Times New Roman" panose="02020503050405090304" pitchFamily="18" charset="0"/>
              </a:rPr>
              <a:t> = </a:t>
            </a:r>
            <a:r>
              <a:rPr lang="en-US" altLang="zh-CN" sz="2200" dirty="0">
                <a:latin typeface="Times New Roman" panose="02020503050405090304" pitchFamily="18" charset="0"/>
              </a:rPr>
              <a:t>127  are Mersenne primes.</a:t>
            </a:r>
            <a:endParaRPr lang="en-US" altLang="zh-CN" sz="2200" dirty="0">
              <a:latin typeface="Times New Roman" panose="02020503050405090304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200" dirty="0">
                <a:latin typeface="Times New Roman" panose="02020503050405090304" pitchFamily="18" charset="0"/>
              </a:rPr>
              <a:t>2</a:t>
            </a:r>
            <a:r>
              <a:rPr lang="en-US" altLang="zh-CN" sz="2200" baseline="30000" dirty="0">
                <a:latin typeface="Times New Roman" panose="02020503050405090304" pitchFamily="18" charset="0"/>
              </a:rPr>
              <a:t>11</a:t>
            </a:r>
            <a:r>
              <a:rPr lang="en-US" altLang="zh-CN" sz="2200" i="1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200" i="1" dirty="0">
                <a:latin typeface="Times New Roman" panose="02020503050405090304" pitchFamily="18" charset="0"/>
              </a:rPr>
              <a:t>− </a:t>
            </a:r>
            <a:r>
              <a:rPr lang="en-US" altLang="zh-CN" sz="2200" dirty="0">
                <a:latin typeface="Times New Roman" panose="02020503050405090304" pitchFamily="18" charset="0"/>
              </a:rPr>
              <a:t>1</a:t>
            </a:r>
            <a:r>
              <a:rPr lang="en-US" altLang="zh-CN" sz="2200" i="1" dirty="0">
                <a:latin typeface="Times New Roman" panose="02020503050405090304" pitchFamily="18" charset="0"/>
              </a:rPr>
              <a:t>  = </a:t>
            </a:r>
            <a:r>
              <a:rPr lang="en-US" altLang="zh-CN" sz="2200" dirty="0">
                <a:latin typeface="Times New Roman" panose="02020503050405090304" pitchFamily="18" charset="0"/>
              </a:rPr>
              <a:t>2047 </a:t>
            </a:r>
            <a:r>
              <a:rPr lang="en-US" altLang="zh-CN" sz="2200" i="1" dirty="0">
                <a:latin typeface="Times New Roman" panose="02020503050405090304" pitchFamily="18" charset="0"/>
              </a:rPr>
              <a:t>  </a:t>
            </a:r>
            <a:r>
              <a:rPr lang="en-US" altLang="zh-CN" sz="2200" dirty="0">
                <a:latin typeface="Times New Roman" panose="02020503050405090304" pitchFamily="18" charset="0"/>
              </a:rPr>
              <a:t>is not a Mersenne prime since 2047 = 23∙89.</a:t>
            </a:r>
            <a:endParaRPr lang="en-US" altLang="zh-CN" sz="2200" dirty="0">
              <a:latin typeface="Times New Roman" panose="02020503050405090304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200" dirty="0">
                <a:latin typeface="Times New Roman" panose="02020503050405090304" pitchFamily="18" charset="0"/>
              </a:rPr>
              <a:t>There is an efficient test for determining if </a:t>
            </a:r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200" dirty="0">
                <a:latin typeface="Times New Roman" panose="02020503050405090304" pitchFamily="18" charset="0"/>
              </a:rPr>
              <a:t>2</a:t>
            </a:r>
            <a:r>
              <a:rPr lang="en-US" altLang="zh-CN" sz="2200" i="1" baseline="30000" dirty="0">
                <a:latin typeface="Times New Roman" panose="02020503050405090304" pitchFamily="18" charset="0"/>
              </a:rPr>
              <a:t>p</a:t>
            </a:r>
            <a:r>
              <a:rPr lang="en-US" altLang="zh-CN" sz="2200" i="1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200" i="1" dirty="0">
                <a:latin typeface="Times New Roman" panose="02020503050405090304" pitchFamily="18" charset="0"/>
              </a:rPr>
              <a:t>− </a:t>
            </a:r>
            <a:r>
              <a:rPr lang="en-US" altLang="zh-CN" sz="2200" dirty="0">
                <a:latin typeface="Times New Roman" panose="02020503050405090304" pitchFamily="18" charset="0"/>
              </a:rPr>
              <a:t>1</a:t>
            </a:r>
            <a:r>
              <a:rPr lang="en-US" altLang="zh-CN" sz="2200" i="1" dirty="0">
                <a:latin typeface="Times New Roman" panose="02020503050405090304" pitchFamily="18" charset="0"/>
              </a:rPr>
              <a:t> </a:t>
            </a:r>
            <a:r>
              <a:rPr lang="en-US" altLang="zh-CN" sz="2200" dirty="0">
                <a:latin typeface="Times New Roman" panose="02020503050405090304" pitchFamily="18" charset="0"/>
              </a:rPr>
              <a:t> is prime.</a:t>
            </a:r>
            <a:endParaRPr lang="en-US" altLang="zh-CN" sz="2200" dirty="0">
              <a:latin typeface="Times New Roman" panose="02020503050405090304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200" dirty="0">
                <a:latin typeface="Times New Roman" panose="02020503050405090304" pitchFamily="18" charset="0"/>
              </a:rPr>
              <a:t>The largest known prime numbers are Mersenne primes.</a:t>
            </a:r>
            <a:endParaRPr lang="en-US" altLang="zh-CN" sz="2200" dirty="0">
              <a:latin typeface="Times New Roman" panose="02020503050405090304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200" dirty="0">
                <a:latin typeface="Times New Roman" panose="02020503050405090304" pitchFamily="18" charset="0"/>
              </a:rPr>
              <a:t>As of mid 2011, 47 Mersenne primes were known, the largest  is 2</a:t>
            </a:r>
            <a:r>
              <a:rPr lang="en-US" altLang="zh-CN" sz="2200" baseline="30000" dirty="0">
                <a:latin typeface="Times New Roman" panose="02020503050405090304" pitchFamily="18" charset="0"/>
              </a:rPr>
              <a:t>43,112,609</a:t>
            </a:r>
            <a:r>
              <a:rPr lang="en-US" altLang="zh-CN" sz="2200" dirty="0">
                <a:latin typeface="Times New Roman" panose="02020503050405090304" pitchFamily="18" charset="0"/>
              </a:rPr>
              <a:t> </a:t>
            </a:r>
            <a:r>
              <a:rPr lang="en-US" altLang="zh-CN" sz="2200" i="1" dirty="0">
                <a:latin typeface="Times New Roman" panose="02020503050405090304" pitchFamily="18" charset="0"/>
              </a:rPr>
              <a:t>− </a:t>
            </a:r>
            <a:r>
              <a:rPr lang="en-US" altLang="zh-CN" sz="2200" dirty="0">
                <a:latin typeface="Times New Roman" panose="02020503050405090304" pitchFamily="18" charset="0"/>
              </a:rPr>
              <a:t>1, which has nearly 13 million decimal digits.</a:t>
            </a:r>
            <a:endParaRPr lang="en-US" altLang="zh-CN" sz="2200" dirty="0">
              <a:latin typeface="Times New Roman" panose="02020503050405090304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200" dirty="0">
                <a:latin typeface="Times New Roman" panose="02020503050405090304" pitchFamily="18" charset="0"/>
              </a:rPr>
              <a:t>The </a:t>
            </a:r>
            <a:r>
              <a:rPr lang="en-US" altLang="zh-CN" sz="2200" i="1" dirty="0">
                <a:latin typeface="Times New Roman" panose="02020503050405090304" pitchFamily="18" charset="0"/>
              </a:rPr>
              <a:t>Great Internet Mersenne Prime Search </a:t>
            </a:r>
            <a:r>
              <a:rPr lang="en-US" altLang="zh-CN" sz="2200" dirty="0">
                <a:latin typeface="Times New Roman" panose="02020503050405090304" pitchFamily="18" charset="0"/>
              </a:rPr>
              <a:t>(</a:t>
            </a:r>
            <a:r>
              <a:rPr lang="en-US" altLang="zh-CN" sz="2200" i="1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GIMPS:</a:t>
            </a:r>
            <a:r>
              <a:rPr lang="zh-CN" altLang="en-US" sz="2200" i="1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梅森素数大搜索</a:t>
            </a:r>
            <a:r>
              <a:rPr lang="en-US" altLang="zh-CN" sz="220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lang="en-US" altLang="zh-CN" sz="2200" dirty="0">
                <a:latin typeface="Times New Roman" panose="02020503050405090304" pitchFamily="18" charset="0"/>
              </a:rPr>
              <a:t>) is a distributed computing project to search  for new Mersenne Primes.</a:t>
            </a:r>
            <a:endParaRPr lang="en-US" altLang="zh-CN" sz="2200" dirty="0">
              <a:latin typeface="Times New Roman" panose="0202050305040509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2200" dirty="0">
                <a:latin typeface="Cambria Math" panose="02040503050406030204" pitchFamily="18" charset="0"/>
              </a:rPr>
              <a:t>                   </a:t>
            </a:r>
            <a:r>
              <a:rPr lang="en-US" altLang="zh-CN" sz="2200" dirty="0">
                <a:latin typeface="Cambria Math" panose="02040503050406030204" pitchFamily="18" charset="0"/>
                <a:hlinkClick r:id="rId1"/>
              </a:rPr>
              <a:t>http://www.mersenne.org/</a:t>
            </a:r>
            <a:endParaRPr lang="en-US" altLang="zh-CN" sz="2200" dirty="0">
              <a:latin typeface="Cambria Math" panose="02040503050406030204" pitchFamily="18" charset="0"/>
            </a:endParaRPr>
          </a:p>
          <a:p>
            <a:pPr lvl="1">
              <a:lnSpc>
                <a:spcPct val="80000"/>
              </a:lnSpc>
              <a:buNone/>
            </a:pPr>
            <a:endParaRPr lang="en-US" altLang="zh-CN" sz="2200" dirty="0">
              <a:latin typeface="Cambria Math" panose="02040503050406030204" pitchFamily="18" charset="0"/>
            </a:endParaRPr>
          </a:p>
          <a:p>
            <a:pPr lvl="1">
              <a:lnSpc>
                <a:spcPct val="80000"/>
              </a:lnSpc>
            </a:pPr>
            <a:endParaRPr lang="en-US" altLang="zh-CN" sz="2200" dirty="0"/>
          </a:p>
        </p:txBody>
      </p:sp>
      <p:pic>
        <p:nvPicPr>
          <p:cNvPr id="11268" name="Picture 3" descr="0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0" y="103188"/>
            <a:ext cx="895350" cy="10398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TextBox 4"/>
          <p:cNvSpPr txBox="1"/>
          <p:nvPr/>
        </p:nvSpPr>
        <p:spPr>
          <a:xfrm>
            <a:off x="7023100" y="419100"/>
            <a:ext cx="1981200" cy="706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u="sng" dirty="0">
                <a:latin typeface="Times New Roman" panose="02020503050405090304" pitchFamily="18" charset="0"/>
              </a:rPr>
              <a:t>Marin Mersenne</a:t>
            </a:r>
            <a:endParaRPr lang="en-US" altLang="zh-CN" sz="2000" b="1" i="1" u="sng" dirty="0">
              <a:latin typeface="Times New Roman" panose="0202050305040509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u="sng" dirty="0">
                <a:latin typeface="Times New Roman" panose="02020503050405090304" pitchFamily="18" charset="0"/>
              </a:rPr>
              <a:t>(1588-1648)</a:t>
            </a:r>
            <a:endParaRPr lang="en-US" altLang="zh-CN" sz="2000" b="1" i="1" u="sng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Theorem 4  </a:t>
            </a:r>
            <a:r>
              <a:rPr lang="en-US" altLang="zh-CN" dirty="0">
                <a:latin typeface="Times New Roman" panose="02020503050405090304" pitchFamily="18" charset="0"/>
                <a:ea typeface="楷体_GB2312"/>
              </a:rPr>
              <a:t>The prime number theorem</a:t>
            </a:r>
            <a:endParaRPr lang="en-US" altLang="zh-CN" dirty="0">
              <a:latin typeface="Times New Roman" panose="02020503050405090304" pitchFamily="18" charset="0"/>
              <a:ea typeface="楷体_GB2312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  <a:ea typeface="楷体_GB2312"/>
              </a:rPr>
              <a:t>The ratio of  the number of primes not exceeding </a:t>
            </a:r>
            <a:r>
              <a:rPr lang="en-US" altLang="zh-CN" i="1" dirty="0">
                <a:latin typeface="Times New Roman" panose="02020503050405090304" pitchFamily="18" charset="0"/>
                <a:ea typeface="楷体_GB231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楷体_GB2312"/>
              </a:rPr>
              <a:t> and </a:t>
            </a:r>
            <a:r>
              <a:rPr lang="en-US" altLang="zh-CN" i="1" dirty="0">
                <a:latin typeface="Times New Roman" panose="02020503050405090304" pitchFamily="18" charset="0"/>
                <a:ea typeface="楷体_GB2312"/>
              </a:rPr>
              <a:t>x/lnx</a:t>
            </a:r>
            <a:r>
              <a:rPr lang="en-US" altLang="zh-CN" dirty="0">
                <a:latin typeface="Times New Roman" panose="02020503050405090304" pitchFamily="18" charset="0"/>
                <a:ea typeface="楷体_GB2312"/>
              </a:rPr>
              <a:t> approaches 1 as </a:t>
            </a:r>
            <a:r>
              <a:rPr lang="en-US" altLang="zh-CN" i="1" dirty="0">
                <a:latin typeface="Times New Roman" panose="02020503050405090304" pitchFamily="18" charset="0"/>
                <a:ea typeface="楷体_GB231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楷体_GB2312"/>
              </a:rPr>
              <a:t> grows without bound.</a:t>
            </a:r>
            <a:endParaRPr lang="en-US" altLang="zh-CN" dirty="0">
              <a:latin typeface="Times New Roman" panose="02020503050405090304" pitchFamily="18" charset="0"/>
              <a:ea typeface="楷体_GB2312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theorem tells us that the number of primes not exceeding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can be approximated by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/ln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odds that a randomly selected positive integer less than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prime are approximately (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/ln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)/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</a:t>
            </a:r>
            <a:r>
              <a:rPr lang="en-US" altLang="zh-CN" dirty="0">
                <a:latin typeface="Times New Roman" panose="02020503050405090304" pitchFamily="18" charset="0"/>
                <a:cs typeface="Cambria Math" panose="020405030504060302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/ln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 eaLnBrk="1" hangingPunct="1"/>
            <a:endParaRPr lang="en-US" altLang="zh-CN" dirty="0">
              <a:latin typeface="Times New Roman" panose="02020503050405090304" pitchFamily="18" charset="0"/>
              <a:ea typeface="楷体_GB2312"/>
            </a:endParaRPr>
          </a:p>
        </p:txBody>
      </p:sp>
      <p:sp>
        <p:nvSpPr>
          <p:cNvPr id="1229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Distribution of Primes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7" name="Rectangle 2"/>
          <p:cNvSpPr>
            <a:spLocks noGrp="1"/>
          </p:cNvSpPr>
          <p:nvPr>
            <p:ph type="title"/>
          </p:nvPr>
        </p:nvSpPr>
        <p:spPr>
          <a:xfrm>
            <a:off x="755650" y="0"/>
            <a:ext cx="7772400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An Application of Primes!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13318" name="Rectangle 3"/>
          <p:cNvSpPr>
            <a:spLocks noGrp="1"/>
          </p:cNvSpPr>
          <p:nvPr>
            <p:ph idx="1"/>
          </p:nvPr>
        </p:nvSpPr>
        <p:spPr>
          <a:xfrm>
            <a:off x="684213" y="1341438"/>
            <a:ext cx="7772400" cy="47244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latin typeface="Times New Roman" panose="02020503050405090304" pitchFamily="18" charset="0"/>
              </a:rPr>
              <a:t>When you visit a secure web site (https:… address, indicated by padlock icon in IE, key icon in Netscape), the browser and web site may be using a technology called </a:t>
            </a:r>
            <a:r>
              <a:rPr lang="en-US" altLang="zh-CN" sz="2800" i="1" dirty="0">
                <a:latin typeface="Times New Roman" panose="02020503050405090304" pitchFamily="18" charset="0"/>
              </a:rPr>
              <a:t>RSA encryption</a:t>
            </a:r>
            <a:r>
              <a:rPr lang="en-US" altLang="zh-CN" sz="2800" dirty="0">
                <a:latin typeface="Times New Roman" panose="02020503050405090304" pitchFamily="18" charset="0"/>
              </a:rPr>
              <a:t>.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This 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503050405090304" pitchFamily="18" charset="0"/>
              </a:rPr>
              <a:t>public-key cryptography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scheme involves exchanging 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503050405090304" pitchFamily="18" charset="0"/>
              </a:rPr>
              <a:t>public keys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 containing the product 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503050405090304" pitchFamily="18" charset="0"/>
              </a:rPr>
              <a:t>pq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 of two random large primes 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503050405090304" pitchFamily="18" charset="0"/>
              </a:rPr>
              <a:t>p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 and 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503050405090304" pitchFamily="18" charset="0"/>
              </a:rPr>
              <a:t>q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 (a 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503050405090304" pitchFamily="18" charset="0"/>
              </a:rPr>
              <a:t>private key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) which must be kept secret by a given party.</a:t>
            </a:r>
            <a:endParaRPr lang="en-US" altLang="zh-CN" sz="2800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So, the security of your day-to-day web transactions depends critically on the fact that all known factoring algorithms are intractable!</a:t>
            </a:r>
            <a:endParaRPr lang="en-US" altLang="zh-CN" sz="2800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b="1" dirty="0">
                <a:solidFill>
                  <a:srgbClr val="008000"/>
                </a:solidFill>
                <a:latin typeface="Times New Roman" panose="02020503050405090304" pitchFamily="18" charset="0"/>
              </a:rPr>
              <a:t>Note: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503050405090304" pitchFamily="18" charset="0"/>
              </a:rPr>
              <a:t> There </a:t>
            </a:r>
            <a:r>
              <a:rPr lang="en-US" altLang="zh-CN" sz="2000" u="sng" dirty="0">
                <a:solidFill>
                  <a:srgbClr val="008000"/>
                </a:solidFill>
                <a:latin typeface="Times New Roman" panose="02020503050405090304" pitchFamily="18" charset="0"/>
              </a:rPr>
              <a:t>is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503050405090304" pitchFamily="18" charset="0"/>
              </a:rPr>
              <a:t> a tractable </a:t>
            </a:r>
            <a:r>
              <a:rPr lang="en-US" altLang="zh-CN" sz="2000" i="1" dirty="0">
                <a:solidFill>
                  <a:srgbClr val="008000"/>
                </a:solidFill>
                <a:latin typeface="Times New Roman" panose="02020503050405090304" pitchFamily="18" charset="0"/>
              </a:rPr>
              <a:t>quantum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503050405090304" pitchFamily="18" charset="0"/>
              </a:rPr>
              <a:t> algorithm for factoring; so if we can ever build big quantum computers, then RSA is not secure.</a:t>
            </a:r>
            <a:endParaRPr lang="en-US" altLang="zh-CN" sz="2000" dirty="0">
              <a:solidFill>
                <a:srgbClr val="008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Greatest Common Divisor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1536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latin typeface="Times New Roman" panose="02020503050405090304" pitchFamily="18" charset="0"/>
              </a:rPr>
              <a:t>The </a:t>
            </a:r>
            <a:r>
              <a:rPr lang="en-US" altLang="zh-CN" sz="2800" i="1" dirty="0">
                <a:latin typeface="Times New Roman" panose="02020503050405090304" pitchFamily="18" charset="0"/>
              </a:rPr>
              <a:t>greatest common divisor </a:t>
            </a:r>
            <a:r>
              <a:rPr lang="en-US" altLang="zh-CN" sz="2800" dirty="0">
                <a:latin typeface="Times New Roman" panose="02020503050405090304" pitchFamily="18" charset="0"/>
              </a:rPr>
              <a:t>gcd(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) of integers 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 (not both 0) is the largest (most positive) integer </a:t>
            </a:r>
            <a:r>
              <a:rPr lang="en-US" altLang="zh-CN" sz="2800" i="1" dirty="0">
                <a:latin typeface="Times New Roman" panose="02020503050405090304" pitchFamily="18" charset="0"/>
              </a:rPr>
              <a:t>d</a:t>
            </a:r>
            <a:r>
              <a:rPr lang="en-US" altLang="zh-CN" sz="2800" dirty="0">
                <a:latin typeface="Times New Roman" panose="02020503050405090304" pitchFamily="18" charset="0"/>
              </a:rPr>
              <a:t> that is a divisor both of 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</a:rPr>
              <a:t> and of 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.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lvl="1" eaLnBrk="1" hangingPunct="1">
              <a:buNone/>
            </a:pP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d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 = gcd(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,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) =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max(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d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: 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d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|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a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) 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 </a:t>
            </a:r>
            <a:b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</a:b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	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d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|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a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 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) → 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d ≥ e</a:t>
            </a:r>
            <a:endParaRPr lang="en-US" altLang="zh-CN" sz="32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 dirty="0">
                <a:solidFill>
                  <a:schemeClr val="folHlink"/>
                </a:solidFill>
                <a:latin typeface="Times New Roman" panose="02020503050405090304" pitchFamily="18" charset="0"/>
              </a:rPr>
              <a:t>Example: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 gcd(24,36)=?</a:t>
            </a:r>
            <a:b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</a:b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Positive common divisors: 1,2,3,4,6,12.</a:t>
            </a:r>
            <a:b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</a:b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The largest one of these is 12.</a:t>
            </a:r>
            <a:endParaRPr lang="en-US" altLang="zh-CN" sz="2800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7" name="日期占位符 6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8" name="页脚占位符 7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GCD shortcut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16390" name="Rectangle 3"/>
          <p:cNvSpPr>
            <a:spLocks noGrp="1"/>
          </p:cNvSpPr>
          <p:nvPr>
            <p:ph type="body" sz="half" idx="1"/>
          </p:nvPr>
        </p:nvSpPr>
        <p:spPr>
          <a:xfrm>
            <a:off x="684213" y="1341438"/>
            <a:ext cx="7772400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If the prime factorizations are written as</a:t>
            </a:r>
            <a:b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</a:br>
            <a:r>
              <a:rPr lang="en-US" altLang="zh-CN" sz="2800" dirty="0">
                <a:solidFill>
                  <a:schemeClr val="accent2"/>
                </a:solidFill>
                <a:latin typeface="Times New Roman" panose="02020503050405090304" pitchFamily="18" charset="0"/>
              </a:rPr>
              <a:t>                                   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and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503050405090304" pitchFamily="18" charset="0"/>
              </a:rPr>
              <a:t>                                 ,</a:t>
            </a:r>
            <a:br>
              <a:rPr lang="en-US" altLang="zh-CN" sz="2800" dirty="0">
                <a:solidFill>
                  <a:schemeClr val="accent2"/>
                </a:solidFill>
                <a:latin typeface="Times New Roman" panose="02020503050405090304" pitchFamily="18" charset="0"/>
              </a:rPr>
            </a:b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then the GCD is given by:</a:t>
            </a:r>
            <a:br>
              <a:rPr lang="en-US" altLang="zh-CN" sz="2800" dirty="0">
                <a:solidFill>
                  <a:schemeClr val="accent2"/>
                </a:solidFill>
                <a:latin typeface="Times New Roman" panose="02020503050405090304" pitchFamily="18" charset="0"/>
              </a:rPr>
            </a:br>
            <a:endParaRPr lang="en-US" altLang="zh-CN" sz="2800" dirty="0">
              <a:solidFill>
                <a:schemeClr val="accent2"/>
              </a:solidFill>
              <a:latin typeface="Times New Roman" panose="02020503050405090304" pitchFamily="18" charset="0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800" dirty="0">
              <a:solidFill>
                <a:schemeClr val="accent2"/>
              </a:solidFill>
              <a:latin typeface="Times New Roman" panose="02020503050405090304" pitchFamily="18" charset="0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latin typeface="Times New Roman" panose="02020503050405090304" pitchFamily="18" charset="0"/>
              </a:rPr>
              <a:t>Example of using the shortcut: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i="1" dirty="0">
                <a:latin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</a:rPr>
              <a:t>=84=2·2·3·7         = 2</a:t>
            </a:r>
            <a:r>
              <a:rPr lang="en-US" altLang="zh-CN" sz="2400" baseline="30000" dirty="0">
                <a:latin typeface="Times New Roman" panose="02020503050405090304" pitchFamily="18" charset="0"/>
              </a:rPr>
              <a:t>2</a:t>
            </a:r>
            <a:r>
              <a:rPr lang="en-US" altLang="zh-CN" sz="2400" dirty="0">
                <a:latin typeface="Times New Roman" panose="02020503050405090304" pitchFamily="18" charset="0"/>
              </a:rPr>
              <a:t>·3</a:t>
            </a:r>
            <a:r>
              <a:rPr lang="en-US" altLang="zh-CN" sz="2400" baseline="30000" dirty="0">
                <a:latin typeface="Times New Roman" panose="02020503050405090304" pitchFamily="18" charset="0"/>
              </a:rPr>
              <a:t>1</a:t>
            </a:r>
            <a:r>
              <a:rPr lang="en-US" altLang="zh-CN" sz="2400" dirty="0">
                <a:latin typeface="Times New Roman" panose="02020503050405090304" pitchFamily="18" charset="0"/>
              </a:rPr>
              <a:t>·7</a:t>
            </a:r>
            <a:r>
              <a:rPr lang="en-US" altLang="zh-CN" sz="2400" baseline="30000" dirty="0">
                <a:latin typeface="Times New Roman" panose="02020503050405090304" pitchFamily="18" charset="0"/>
              </a:rPr>
              <a:t>1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i="1" dirty="0">
                <a:latin typeface="Times New Roman" panose="02020503050405090304" pitchFamily="18" charset="0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</a:rPr>
              <a:t>=96=2·2·2·2·2·3   = 2</a:t>
            </a:r>
            <a:r>
              <a:rPr lang="en-US" altLang="zh-CN" sz="2400" baseline="30000" dirty="0">
                <a:latin typeface="Times New Roman" panose="02020503050405090304" pitchFamily="18" charset="0"/>
              </a:rPr>
              <a:t>5</a:t>
            </a:r>
            <a:r>
              <a:rPr lang="en-US" altLang="zh-CN" sz="2400" dirty="0">
                <a:latin typeface="Times New Roman" panose="02020503050405090304" pitchFamily="18" charset="0"/>
              </a:rPr>
              <a:t>·3</a:t>
            </a:r>
            <a:r>
              <a:rPr lang="en-US" altLang="zh-CN" sz="2400" baseline="30000" dirty="0">
                <a:latin typeface="Times New Roman" panose="02020503050405090304" pitchFamily="18" charset="0"/>
              </a:rPr>
              <a:t>1</a:t>
            </a:r>
            <a:r>
              <a:rPr lang="en-US" altLang="zh-CN" sz="2400" dirty="0">
                <a:latin typeface="Times New Roman" panose="02020503050405090304" pitchFamily="18" charset="0"/>
              </a:rPr>
              <a:t>·7</a:t>
            </a:r>
            <a:r>
              <a:rPr lang="en-US" altLang="zh-CN" sz="2400" baseline="30000" dirty="0">
                <a:latin typeface="Times New Roman" panose="02020503050405090304" pitchFamily="18" charset="0"/>
              </a:rPr>
              <a:t>0</a:t>
            </a:r>
            <a:endParaRPr lang="en-US" altLang="zh-CN" sz="2400" baseline="30000" dirty="0">
              <a:latin typeface="Times New Roman" panose="02020503050405090304" pitchFamily="18" charset="0"/>
            </a:endParaRP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dirty="0">
                <a:latin typeface="Times New Roman" panose="02020503050405090304" pitchFamily="18" charset="0"/>
              </a:rPr>
              <a:t>gcd(84,96)             = 2</a:t>
            </a:r>
            <a:r>
              <a:rPr lang="en-US" altLang="zh-CN" sz="2400" baseline="30000" dirty="0">
                <a:latin typeface="Times New Roman" panose="02020503050405090304" pitchFamily="18" charset="0"/>
              </a:rPr>
              <a:t>2</a:t>
            </a:r>
            <a:r>
              <a:rPr lang="en-US" altLang="zh-CN" sz="2400" dirty="0">
                <a:latin typeface="Times New Roman" panose="02020503050405090304" pitchFamily="18" charset="0"/>
              </a:rPr>
              <a:t>·3</a:t>
            </a:r>
            <a:r>
              <a:rPr lang="en-US" altLang="zh-CN" sz="2400" baseline="30000" dirty="0">
                <a:latin typeface="Times New Roman" panose="02020503050405090304" pitchFamily="18" charset="0"/>
              </a:rPr>
              <a:t>1</a:t>
            </a:r>
            <a:r>
              <a:rPr lang="en-US" altLang="zh-CN" sz="2400" dirty="0">
                <a:latin typeface="Times New Roman" panose="02020503050405090304" pitchFamily="18" charset="0"/>
              </a:rPr>
              <a:t>·7</a:t>
            </a:r>
            <a:r>
              <a:rPr lang="en-US" altLang="zh-CN" sz="2400" baseline="30000" dirty="0">
                <a:latin typeface="Times New Roman" panose="02020503050405090304" pitchFamily="18" charset="0"/>
              </a:rPr>
              <a:t>0 </a:t>
            </a:r>
            <a:r>
              <a:rPr lang="en-US" altLang="zh-CN" sz="2400" dirty="0">
                <a:latin typeface="Times New Roman" panose="02020503050405090304" pitchFamily="18" charset="0"/>
              </a:rPr>
              <a:t>= 2·2·3 = 12.</a:t>
            </a:r>
            <a:endParaRPr lang="en-US" altLang="zh-CN" sz="24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16391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919163" y="1660525"/>
          <a:ext cx="2836862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054100" imgH="241300" progId="Equation.3">
                  <p:embed/>
                </p:oleObj>
              </mc:Choice>
              <mc:Fallback>
                <p:oleObj name="" r:id="rId1" imgW="1054100" imgH="2413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919163" y="1660525"/>
                        <a:ext cx="2836862" cy="7223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827588" y="1744663"/>
          <a:ext cx="283527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028065" imgH="241300" progId="Equation.3">
                  <p:embed/>
                </p:oleObj>
              </mc:Choice>
              <mc:Fallback>
                <p:oleObj name="" r:id="rId3" imgW="1028065" imgH="2413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4827588" y="1744663"/>
                        <a:ext cx="2835275" cy="7397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6"/>
          <p:cNvGraphicFramePr>
            <a:graphicFrameLocks noChangeAspect="1"/>
          </p:cNvGraphicFramePr>
          <p:nvPr/>
        </p:nvGraphicFramePr>
        <p:xfrm>
          <a:off x="985838" y="2820988"/>
          <a:ext cx="73914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2489200" imgH="241300" progId="Equation.3">
                  <p:embed/>
                </p:oleObj>
              </mc:Choice>
              <mc:Fallback>
                <p:oleObj name="" r:id="rId5" imgW="2489200" imgH="2413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5838" y="2820988"/>
                        <a:ext cx="7391400" cy="717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Rectangle 7"/>
          <p:cNvSpPr/>
          <p:nvPr/>
        </p:nvSpPr>
        <p:spPr>
          <a:xfrm>
            <a:off x="971550" y="2781300"/>
            <a:ext cx="7239000" cy="762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i="1" u="sng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Relative Primality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17414" name="Rectangle 3"/>
          <p:cNvSpPr>
            <a:spLocks noGrp="1"/>
          </p:cNvSpPr>
          <p:nvPr>
            <p:ph idx="1"/>
          </p:nvPr>
        </p:nvSpPr>
        <p:spPr>
          <a:xfrm>
            <a:off x="684213" y="1268413"/>
            <a:ext cx="7772400" cy="4267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Integers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</a:rPr>
              <a:t> and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 are called </a:t>
            </a:r>
            <a:r>
              <a:rPr lang="en-US" altLang="zh-CN" i="1" dirty="0">
                <a:latin typeface="Times New Roman" panose="02020503050405090304" pitchFamily="18" charset="0"/>
              </a:rPr>
              <a:t>relatively prime</a:t>
            </a:r>
            <a:r>
              <a:rPr lang="en-US" altLang="zh-CN" dirty="0">
                <a:latin typeface="Times New Roman" panose="02020503050405090304" pitchFamily="18" charset="0"/>
              </a:rPr>
              <a:t> or </a:t>
            </a:r>
            <a:r>
              <a:rPr lang="en-US" altLang="zh-CN" i="1" dirty="0">
                <a:latin typeface="Times New Roman" panose="02020503050405090304" pitchFamily="18" charset="0"/>
              </a:rPr>
              <a:t>coprime</a:t>
            </a:r>
            <a:r>
              <a:rPr lang="en-US" altLang="zh-CN" dirty="0">
                <a:latin typeface="Times New Roman" panose="02020503050405090304" pitchFamily="18" charset="0"/>
              </a:rPr>
              <a:t> iff their gcd = 1.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b="1" dirty="0">
                <a:latin typeface="Times New Roman" panose="02020503050405090304" pitchFamily="18" charset="0"/>
              </a:rPr>
              <a:t>Example:</a:t>
            </a:r>
            <a:r>
              <a:rPr lang="en-US" altLang="zh-CN" dirty="0">
                <a:latin typeface="Times New Roman" panose="02020503050405090304" pitchFamily="18" charset="0"/>
              </a:rPr>
              <a:t> Neither 21 nor 10 is prime, but they are </a:t>
            </a:r>
            <a:r>
              <a:rPr lang="en-US" altLang="zh-CN" i="1" dirty="0">
                <a:latin typeface="Times New Roman" panose="02020503050405090304" pitchFamily="18" charset="0"/>
              </a:rPr>
              <a:t>coprime</a:t>
            </a:r>
            <a:r>
              <a:rPr lang="en-US" altLang="zh-CN" dirty="0">
                <a:latin typeface="Times New Roman" panose="02020503050405090304" pitchFamily="18" charset="0"/>
              </a:rPr>
              <a:t>. 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21=3·7</a:t>
            </a:r>
            <a:r>
              <a:rPr lang="en-US" altLang="zh-CN" dirty="0">
                <a:latin typeface="Times New Roman" panose="02020503050405090304" pitchFamily="18" charset="0"/>
              </a:rPr>
              <a:t> and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10=2·5</a:t>
            </a:r>
            <a:r>
              <a:rPr lang="en-US" altLang="zh-CN" dirty="0">
                <a:latin typeface="Times New Roman" panose="02020503050405090304" pitchFamily="18" charset="0"/>
              </a:rPr>
              <a:t>, so they have no common factors &gt; 1, so their gcd = 1.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A </a:t>
            </a:r>
            <a:r>
              <a:rPr lang="en-US" altLang="zh-CN" i="1" dirty="0">
                <a:latin typeface="Times New Roman" panose="02020503050405090304" pitchFamily="18" charset="0"/>
              </a:rPr>
              <a:t>set</a:t>
            </a:r>
            <a:r>
              <a:rPr lang="en-US" altLang="zh-CN" dirty="0">
                <a:latin typeface="Times New Roman" panose="02020503050405090304" pitchFamily="18" charset="0"/>
              </a:rPr>
              <a:t> of integers {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</a:rPr>
              <a:t>,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dirty="0">
                <a:latin typeface="Times New Roman" panose="02020503050405090304" pitchFamily="18" charset="0"/>
              </a:rPr>
              <a:t>,…} is </a:t>
            </a:r>
            <a:r>
              <a:rPr lang="en-US" altLang="zh-CN" i="1" dirty="0">
                <a:latin typeface="Times New Roman" panose="02020503050405090304" pitchFamily="18" charset="0"/>
              </a:rPr>
              <a:t>(pairwise) relatively prime</a:t>
            </a:r>
            <a:r>
              <a:rPr lang="en-US" altLang="zh-CN" dirty="0">
                <a:latin typeface="Times New Roman" panose="02020503050405090304" pitchFamily="18" charset="0"/>
              </a:rPr>
              <a:t> if all pairs (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i="1" baseline="-25000" dirty="0">
                <a:latin typeface="Times New Roman" panose="02020503050405090304" pitchFamily="18" charset="0"/>
              </a:rPr>
              <a:t>i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i="1" baseline="-25000" dirty="0">
                <a:latin typeface="Times New Roman" panose="02020503050405090304" pitchFamily="18" charset="0"/>
              </a:rPr>
              <a:t>j</a:t>
            </a:r>
            <a:r>
              <a:rPr lang="en-US" altLang="zh-CN" dirty="0">
                <a:latin typeface="Times New Roman" panose="02020503050405090304" pitchFamily="18" charset="0"/>
              </a:rPr>
              <a:t>), for </a:t>
            </a:r>
            <a:r>
              <a:rPr lang="en-US" altLang="zh-CN" i="1" dirty="0">
                <a:latin typeface="Times New Roman" panose="02020503050405090304" pitchFamily="18" charset="0"/>
              </a:rPr>
              <a:t>i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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j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, are relatively prime.</a:t>
            </a: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Example: 10,17,21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Least Common Multiple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1843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lcm(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,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)</a:t>
            </a:r>
            <a:r>
              <a:rPr lang="en-US" altLang="zh-CN" sz="2800" dirty="0">
                <a:latin typeface="Times New Roman" panose="02020503050405090304" pitchFamily="18" charset="0"/>
              </a:rPr>
              <a:t> of positive integers 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</a:rPr>
              <a:t>, 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, is the smallest positive integer that is a multiple both of 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</a:rPr>
              <a:t> and of 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.  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503050405090304" pitchFamily="18" charset="0"/>
              </a:rPr>
              <a:t>E.g.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 lcm(6,10)=30</a:t>
            </a:r>
            <a:endParaRPr lang="en-US" altLang="zh-CN" sz="2800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  <a:p>
            <a:pPr lvl="1" eaLnBrk="1" hangingPunct="1">
              <a:buNone/>
            </a:pPr>
            <a:r>
              <a:rPr lang="en-US" altLang="zh-CN" sz="2400" i="1" dirty="0">
                <a:latin typeface="Times New Roman" panose="02020503050405090304" pitchFamily="18" charset="0"/>
              </a:rPr>
              <a:t>	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m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</a:rPr>
              <a:t> = lcm(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</a:rPr>
              <a:t>,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</a:rPr>
              <a:t>) = min(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m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</a:rPr>
              <a:t>: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</a:rPr>
              <a:t>|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m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Wingdings" panose="05000000000000000000" pitchFamily="2" charset="2"/>
              </a:rPr>
              <a:t> </a:t>
            </a:r>
            <a:b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Wingdings" panose="05000000000000000000" pitchFamily="2" charset="2"/>
              </a:rPr>
            </a:b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Wingdings" panose="05000000000000000000" pitchFamily="2" charset="2"/>
              </a:rPr>
              <a:t> 	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: (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 → (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m ≤ n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endParaRPr lang="en-US" altLang="zh-CN" sz="2400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If the prime factorizations are written as</a:t>
            </a:r>
            <a:br>
              <a:rPr lang="en-US" altLang="zh-CN" sz="2800" dirty="0">
                <a:solidFill>
                  <a:schemeClr val="accent2"/>
                </a:solidFill>
                <a:latin typeface="Times New Roman" panose="02020503050405090304" pitchFamily="18" charset="0"/>
              </a:rPr>
            </a:br>
            <a:r>
              <a:rPr lang="en-US" altLang="zh-CN" sz="2800" dirty="0">
                <a:solidFill>
                  <a:schemeClr val="accent2"/>
                </a:solidFill>
                <a:latin typeface="Times New Roman" panose="02020503050405090304" pitchFamily="18" charset="0"/>
              </a:rPr>
              <a:t>			     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and                                 , </a:t>
            </a:r>
            <a:b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</a:b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then the LCM is given by</a:t>
            </a:r>
            <a:b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</a:br>
            <a:r>
              <a:rPr lang="en-US" altLang="zh-CN" sz="2800" dirty="0">
                <a:latin typeface="Times New Roman" panose="02020503050405090304" pitchFamily="18" charset="0"/>
              </a:rPr>
              <a:t>								</a:t>
            </a:r>
            <a:endParaRPr lang="en-US" altLang="zh-CN" sz="2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18439" name="Object 4"/>
          <p:cNvGraphicFramePr>
            <a:graphicFrameLocks noChangeAspect="1"/>
          </p:cNvGraphicFramePr>
          <p:nvPr/>
        </p:nvGraphicFramePr>
        <p:xfrm>
          <a:off x="1258888" y="3789363"/>
          <a:ext cx="2592387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054100" imgH="241300" progId="Equation.3">
                  <p:embed/>
                </p:oleObj>
              </mc:Choice>
              <mc:Fallback>
                <p:oleObj name="" r:id="rId1" imgW="1054100" imgH="2413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58888" y="3789363"/>
                        <a:ext cx="2592387" cy="593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5"/>
          <p:cNvGraphicFramePr>
            <a:graphicFrameLocks noChangeAspect="1"/>
          </p:cNvGraphicFramePr>
          <p:nvPr/>
        </p:nvGraphicFramePr>
        <p:xfrm>
          <a:off x="4787900" y="3789363"/>
          <a:ext cx="23749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028065" imgH="241300" progId="Equation.3">
                  <p:embed/>
                </p:oleObj>
              </mc:Choice>
              <mc:Fallback>
                <p:oleObj name="" r:id="rId3" imgW="1028065" imgH="2413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7900" y="3789363"/>
                        <a:ext cx="2374900" cy="557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6"/>
          <p:cNvGraphicFramePr>
            <a:graphicFrameLocks noGrp="1" noChangeAspect="1"/>
          </p:cNvGraphicFramePr>
          <p:nvPr>
            <p:ph sz="half" idx="1"/>
          </p:nvPr>
        </p:nvGraphicFramePr>
        <p:xfrm>
          <a:off x="957263" y="4770438"/>
          <a:ext cx="6973887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2552700" imgH="241300" progId="Equation.3">
                  <p:embed/>
                </p:oleObj>
              </mc:Choice>
              <mc:Fallback>
                <p:oleObj name="" r:id="rId5" imgW="2552700" imgH="2413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>
                      <a:xfrm>
                        <a:off x="957263" y="4770438"/>
                        <a:ext cx="6973887" cy="7318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Rectangle 7"/>
          <p:cNvSpPr/>
          <p:nvPr/>
        </p:nvSpPr>
        <p:spPr>
          <a:xfrm>
            <a:off x="827088" y="4868863"/>
            <a:ext cx="7129462" cy="5334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i="1" u="sng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6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6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1946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Theorem 5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</a:rPr>
              <a:t>Let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</a:rPr>
              <a:t> and </a:t>
            </a:r>
            <a:r>
              <a:rPr lang="en-US" altLang="zh-CN" i="1" dirty="0">
                <a:latin typeface="Times New Roman" panose="02020503050405090304" pitchFamily="18" charset="0"/>
              </a:rPr>
              <a:t>b </a:t>
            </a:r>
            <a:r>
              <a:rPr lang="en-US" altLang="zh-CN" dirty="0">
                <a:latin typeface="Times New Roman" panose="02020503050405090304" pitchFamily="18" charset="0"/>
              </a:rPr>
              <a:t>be positive</a:t>
            </a:r>
            <a:r>
              <a:rPr lang="en-US" altLang="zh-CN" i="1" dirty="0"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</a:rPr>
              <a:t>Integers. Then </a:t>
            </a:r>
            <a:r>
              <a:rPr lang="en-US" altLang="zh-CN" i="1" dirty="0">
                <a:latin typeface="Times New Roman" panose="02020503050405090304" pitchFamily="18" charset="0"/>
              </a:rPr>
              <a:t>ab</a:t>
            </a:r>
            <a:r>
              <a:rPr lang="en-US" altLang="zh-CN" dirty="0">
                <a:latin typeface="Times New Roman" panose="02020503050405090304" pitchFamily="18" charset="0"/>
              </a:rPr>
              <a:t>=gcd(</a:t>
            </a:r>
            <a:r>
              <a:rPr lang="en-US" altLang="zh-CN" i="1" dirty="0">
                <a:latin typeface="Times New Roman" panose="02020503050405090304" pitchFamily="18" charset="0"/>
              </a:rPr>
              <a:t>a,b</a:t>
            </a:r>
            <a:r>
              <a:rPr lang="en-US" altLang="zh-CN" dirty="0">
                <a:latin typeface="Times New Roman" panose="02020503050405090304" pitchFamily="18" charset="0"/>
              </a:rPr>
              <a:t>) · lcm(</a:t>
            </a:r>
            <a:r>
              <a:rPr lang="en-US" altLang="zh-CN" i="1" dirty="0">
                <a:latin typeface="Times New Roman" panose="02020503050405090304" pitchFamily="18" charset="0"/>
              </a:rPr>
              <a:t>a,b</a:t>
            </a:r>
            <a:r>
              <a:rPr lang="en-US" altLang="zh-CN" dirty="0">
                <a:latin typeface="Times New Roman" panose="02020503050405090304" pitchFamily="18" charset="0"/>
              </a:rPr>
              <a:t>)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Euclid’s Algorithm for GCD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2048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Finding GCDs by comparing prime factorizations can be difficult when 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dirty="0">
                <a:latin typeface="Times New Roman" panose="02020503050405090304" pitchFamily="18" charset="0"/>
              </a:rPr>
              <a:t>the prime factors are not known!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b="1" dirty="0">
                <a:latin typeface="Times New Roman" panose="02020503050405090304" pitchFamily="18" charset="0"/>
              </a:rPr>
              <a:t>Euclid discovered:</a:t>
            </a:r>
            <a:r>
              <a:rPr lang="en-US" altLang="zh-CN" dirty="0">
                <a:latin typeface="Times New Roman" panose="02020503050405090304" pitchFamily="18" charset="0"/>
              </a:rPr>
              <a:t> For all ints.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,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dirty="0">
                <a:latin typeface="Times New Roman" panose="02020503050405090304" pitchFamily="18" charset="0"/>
              </a:rPr>
              <a:t>	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gcd(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) = gcd((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 mod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),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)</a:t>
            </a:r>
            <a:r>
              <a:rPr lang="en-US" altLang="zh-CN" dirty="0">
                <a:latin typeface="Times New Roman" panose="02020503050405090304" pitchFamily="18" charset="0"/>
              </a:rPr>
              <a:t>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Sort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</a:rPr>
              <a:t>,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 so that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&gt;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, and then (given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&gt;1</a:t>
            </a:r>
            <a:r>
              <a:rPr lang="en-US" altLang="zh-CN" dirty="0">
                <a:latin typeface="Times New Roman" panose="02020503050405090304" pitchFamily="18" charset="0"/>
              </a:rPr>
              <a:t>)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 mod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) &lt;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i="1" dirty="0">
                <a:latin typeface="Times New Roman" panose="02020503050405090304" pitchFamily="18" charset="0"/>
              </a:rPr>
              <a:t>,</a:t>
            </a:r>
            <a:r>
              <a:rPr lang="en-US" altLang="zh-CN" dirty="0">
                <a:latin typeface="Times New Roman" panose="02020503050405090304" pitchFamily="18" charset="0"/>
              </a:rPr>
              <a:t> so problem is simplified.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pic>
        <p:nvPicPr>
          <p:cNvPr id="20487" name="Picture 4" descr="euclid"/>
          <p:cNvPicPr>
            <a:picLocks noChangeAspect="1"/>
          </p:cNvPicPr>
          <p:nvPr/>
        </p:nvPicPr>
        <p:blipFill>
          <a:blip r:embed="rId1"/>
          <a:srcRect l="23376" t="14781" r="19481" b="35335"/>
          <a:stretch>
            <a:fillRect/>
          </a:stretch>
        </p:blipFill>
        <p:spPr>
          <a:xfrm>
            <a:off x="7596188" y="908050"/>
            <a:ext cx="1350962" cy="1657350"/>
          </a:xfrm>
          <a:prstGeom prst="rect">
            <a:avLst/>
          </a:prstGeom>
          <a:noFill/>
          <a:ln w="5715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0488" name="Text Box 5"/>
          <p:cNvSpPr txBox="1"/>
          <p:nvPr/>
        </p:nvSpPr>
        <p:spPr>
          <a:xfrm>
            <a:off x="7524750" y="2636838"/>
            <a:ext cx="1357313" cy="1228725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Times New Roman" panose="02020503050405090304" pitchFamily="18" charset="0"/>
              </a:rPr>
              <a:t>Euclid of </a:t>
            </a:r>
            <a:br>
              <a:rPr lang="en-US" altLang="zh-CN" sz="1800" dirty="0">
                <a:latin typeface="Times New Roman" panose="02020503050405090304" pitchFamily="18" charset="0"/>
              </a:rPr>
            </a:br>
            <a:r>
              <a:rPr lang="en-US" altLang="zh-CN" sz="1800" dirty="0">
                <a:latin typeface="Times New Roman" panose="02020503050405090304" pitchFamily="18" charset="0"/>
              </a:rPr>
              <a:t>Alexandria</a:t>
            </a:r>
            <a:br>
              <a:rPr lang="en-US" altLang="zh-CN" sz="1800" dirty="0">
                <a:latin typeface="Times New Roman" panose="02020503050405090304" pitchFamily="18" charset="0"/>
              </a:rPr>
            </a:br>
            <a:r>
              <a:rPr lang="en-US" altLang="zh-CN" sz="1800" dirty="0">
                <a:latin typeface="Times New Roman" panose="02020503050405090304" pitchFamily="18" charset="0"/>
              </a:rPr>
              <a:t>325-265 B.C.</a:t>
            </a:r>
            <a:endParaRPr lang="en-US" altLang="zh-CN" sz="180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Euclid’s Algorithm Example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21510" name="Rectangle 3"/>
          <p:cNvSpPr>
            <a:spLocks noGrp="1"/>
          </p:cNvSpPr>
          <p:nvPr>
            <p:ph idx="1"/>
          </p:nvPr>
        </p:nvSpPr>
        <p:spPr>
          <a:xfrm>
            <a:off x="827088" y="1196975"/>
            <a:ext cx="7772400" cy="4267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latin typeface="Times New Roman" panose="02020503050405090304" pitchFamily="18" charset="0"/>
              </a:rPr>
              <a:t>gcd(372,164) = gcd(372 mod 164, 164).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sz="2400" dirty="0">
                <a:latin typeface="Times New Roman" panose="02020503050405090304" pitchFamily="18" charset="0"/>
              </a:rPr>
              <a:t>372 mod 164 = 372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164372/164 = 372164·2 = 372328 = 44.</a:t>
            </a:r>
            <a:endParaRPr lang="en-US" altLang="zh-CN" sz="24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gcd(164,44) = gcd(164 mod 44, 44).</a:t>
            </a:r>
            <a:endParaRPr lang="en-US" altLang="zh-CN" sz="28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164 mod 44 = 16444164/44 = 16444·3 = 164132 = 32.</a:t>
            </a:r>
            <a:endParaRPr lang="en-US" altLang="zh-CN" sz="24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gcd(44,32) = gcd(44 mod 32, 32) = gcd(12, 32) = gcd(32 mod 12, 12) = gcd(8,12) = gcd(12 mod 8, 8) = gcd(4,8) = gcd(8 mod 4, 4) = gcd(0,4) = 4.</a:t>
            </a:r>
            <a:endParaRPr lang="en-US" altLang="zh-CN" sz="2800" dirty="0">
              <a:latin typeface="Times New Roman" panose="0202050305040509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Euclid’s Algorithm Pseudocode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2355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1" dirty="0">
                <a:latin typeface="Times New Roman" panose="02020503050405090304" pitchFamily="18" charset="0"/>
              </a:rPr>
              <a:t>procedure </a:t>
            </a:r>
            <a:r>
              <a:rPr lang="en-US" altLang="zh-CN" i="1" dirty="0">
                <a:latin typeface="Times New Roman" panose="02020503050405090304" pitchFamily="18" charset="0"/>
              </a:rPr>
              <a:t>gcd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: positive integers)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b="1" dirty="0">
                <a:latin typeface="Times New Roman" panose="02020503050405090304" pitchFamily="18" charset="0"/>
              </a:rPr>
              <a:t>	while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</a:rPr>
              <a:t>b 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 0 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begin</a:t>
            </a:r>
            <a:endParaRPr lang="en-US" altLang="zh-CN" b="1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		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 ≔ 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mod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;   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 ≔ 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;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    b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 ≔ 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;  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end</a:t>
            </a:r>
            <a:endParaRPr lang="en-US" altLang="zh-CN" b="1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	return 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endParaRPr lang="en-US" altLang="zh-CN" i="1" dirty="0">
              <a:latin typeface="Times New Roman" panose="02020503050405090304" pitchFamily="18" charset="0"/>
              <a:sym typeface="Symbol" panose="05050102010706020507" pitchFamily="18" charset="2"/>
            </a:endParaRPr>
          </a:p>
        </p:txBody>
      </p:sp>
      <p:sp>
        <p:nvSpPr>
          <p:cNvPr id="23559" name="Text Box 4"/>
          <p:cNvSpPr txBox="1"/>
          <p:nvPr/>
        </p:nvSpPr>
        <p:spPr>
          <a:xfrm>
            <a:off x="3343275" y="4946650"/>
            <a:ext cx="4805363" cy="850900"/>
          </a:xfrm>
          <a:prstGeom prst="rect">
            <a:avLst/>
          </a:prstGeom>
          <a:solidFill>
            <a:srgbClr val="FFFFCC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</a:rPr>
              <a:t>Fast! Number of while loop iterations</a:t>
            </a:r>
            <a:br>
              <a:rPr lang="en-US" altLang="zh-CN" sz="2400" dirty="0">
                <a:latin typeface="Times New Roman" panose="02020503050405090304" pitchFamily="18" charset="0"/>
              </a:rPr>
            </a:br>
            <a:r>
              <a:rPr lang="en-US" altLang="zh-CN" sz="2400" dirty="0">
                <a:latin typeface="Times New Roman" panose="02020503050405090304" pitchFamily="18" charset="0"/>
              </a:rPr>
              <a:t>turns out to be O(log(max(</a:t>
            </a:r>
            <a:r>
              <a:rPr lang="en-US" altLang="zh-CN" sz="2400" i="1" dirty="0">
                <a:latin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</a:rPr>
              <a:t>,</a:t>
            </a:r>
            <a:r>
              <a:rPr lang="en-US" altLang="zh-CN" sz="2400" i="1" dirty="0">
                <a:latin typeface="Times New Roman" panose="02020503050405090304" pitchFamily="18" charset="0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</a:rPr>
              <a:t>))).</a:t>
            </a:r>
            <a:endParaRPr lang="en-US" altLang="zh-CN" sz="2400" dirty="0">
              <a:latin typeface="Times New Roman" panose="02020503050405090304" pitchFamily="18" charset="0"/>
            </a:endParaRPr>
          </a:p>
        </p:txBody>
      </p:sp>
      <p:sp>
        <p:nvSpPr>
          <p:cNvPr id="23560" name="Text Box 5"/>
          <p:cNvSpPr txBox="1"/>
          <p:nvPr/>
        </p:nvSpPr>
        <p:spPr>
          <a:xfrm>
            <a:off x="3200400" y="3873500"/>
            <a:ext cx="4576763" cy="850900"/>
          </a:xfrm>
          <a:prstGeom prst="rect">
            <a:avLst/>
          </a:prstGeom>
          <a:solidFill>
            <a:srgbClr val="FFFFCC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</a:rPr>
              <a:t>Sorting inputs not needed b/c order </a:t>
            </a:r>
            <a:br>
              <a:rPr lang="en-US" altLang="zh-CN" sz="2400" dirty="0">
                <a:latin typeface="Times New Roman" panose="02020503050405090304" pitchFamily="18" charset="0"/>
              </a:rPr>
            </a:br>
            <a:r>
              <a:rPr lang="en-US" altLang="zh-CN" sz="2400" dirty="0">
                <a:latin typeface="Times New Roman" panose="02020503050405090304" pitchFamily="18" charset="0"/>
              </a:rPr>
              <a:t>will be reversed each iteration.</a:t>
            </a:r>
            <a:endParaRPr lang="en-US" altLang="zh-CN" sz="240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75" y="0"/>
            <a:ext cx="855218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Correctness of Euclidean Algorithm </a:t>
            </a:r>
            <a:endParaRPr kumimoji="1" lang="en-US" sz="32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  <a:buNone/>
            </a:pPr>
            <a:r>
              <a:rPr lang="en-US" altLang="zh-CN" sz="3000" dirty="0"/>
              <a:t>   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Lemma </a:t>
            </a:r>
            <a:r>
              <a:rPr lang="en-US" altLang="zh-CN" sz="3000" b="1" dirty="0">
                <a:latin typeface="Times New Roman" panose="02020503050405090304" pitchFamily="18" charset="0"/>
                <a:cs typeface="Cambria Math" panose="02040503050406030204" pitchFamily="18" charset="0"/>
              </a:rPr>
              <a:t>1</a:t>
            </a:r>
            <a:r>
              <a:rPr lang="en-US" altLang="zh-CN" sz="3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Let </a:t>
            </a:r>
            <a:r>
              <a:rPr lang="en-US" altLang="zh-CN" sz="3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3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</a:t>
            </a:r>
            <a:r>
              <a:rPr lang="en-US" altLang="zh-CN" sz="3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bq</a:t>
            </a:r>
            <a:r>
              <a:rPr lang="en-US" altLang="zh-CN" sz="3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+ </a:t>
            </a:r>
            <a:r>
              <a:rPr lang="en-US" altLang="zh-CN" sz="3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en-US" altLang="zh-CN" sz="3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where </a:t>
            </a:r>
            <a:r>
              <a:rPr lang="en-US" altLang="zh-CN" sz="3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3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zh-CN" sz="3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3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zh-CN" sz="3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3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and </a:t>
            </a:r>
            <a:r>
              <a:rPr lang="en-US" altLang="zh-CN" sz="3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en-US" altLang="zh-CN" sz="3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are integers. Then gcd(</a:t>
            </a:r>
            <a:r>
              <a:rPr lang="en-US" altLang="zh-CN" sz="3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a,b</a:t>
            </a:r>
            <a:r>
              <a:rPr lang="en-US" altLang="zh-CN" sz="3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= gcd(</a:t>
            </a:r>
            <a:r>
              <a:rPr lang="en-US" altLang="zh-CN" sz="3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b,r</a:t>
            </a:r>
            <a:r>
              <a:rPr lang="en-US" altLang="zh-CN" sz="3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en-US" altLang="zh-CN" sz="3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3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</a:t>
            </a:r>
            <a:r>
              <a:rPr lang="en-US" altLang="zh-CN" sz="3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en-US" altLang="zh-CN" sz="3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Suppose that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divides both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Then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also divides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600" dirty="0">
                <a:latin typeface="Times New Roman" panose="02020503050405090304" pitchFamily="18" charset="0"/>
              </a:rPr>
              <a:t>−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bq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(by Theorem </a:t>
            </a:r>
            <a:r>
              <a:rPr lang="en-US" altLang="zh-CN" sz="2600" dirty="0">
                <a:latin typeface="Times New Roman" panose="02020503050405090304" pitchFamily="18" charset="0"/>
              </a:rPr>
              <a:t>1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of Section </a:t>
            </a:r>
            <a:r>
              <a:rPr lang="en-US" altLang="zh-CN" sz="2600" dirty="0">
                <a:latin typeface="Times New Roman" panose="02020503050405090304" pitchFamily="18" charset="0"/>
              </a:rPr>
              <a:t>4.1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 Hence, any common divisor of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must also be any  common divisor of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2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Suppose that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divides both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Then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also divides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bq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+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Hence, any common divisor of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must also be a common divisor of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2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Therefore, gcd(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a,b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= gcd(</a:t>
            </a:r>
            <a:r>
              <a:rPr lang="en-US" altLang="zh-CN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b,r</a:t>
            </a:r>
            <a:r>
              <a:rPr lang="en-US" altLang="zh-CN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en-US" altLang="zh-CN" sz="2600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" name="Isosceles Triangle 3"/>
          <p:cNvSpPr/>
          <p:nvPr/>
        </p:nvSpPr>
        <p:spPr>
          <a:xfrm rot="5400000" flipV="1">
            <a:off x="8458200" y="5715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2400" b="1" i="1" u="sng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550" y="0"/>
            <a:ext cx="8526145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Correctness of Euclidean Algorithm </a:t>
            </a:r>
            <a:endParaRPr kumimoji="1" lang="en-US" sz="32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80010" y="1268730"/>
            <a:ext cx="9224645" cy="4864100"/>
          </a:xfrm>
        </p:spPr>
        <p:txBody>
          <a:bodyPr vert="horz" wrap="square" lIns="91440" tIns="45720" rIns="91440" bIns="45720" numCol="1" anchor="t" anchorCtr="0" compatLnSpc="1"/>
          <a:p>
            <a:pPr>
              <a:lnSpc>
                <a:spcPct val="80000"/>
              </a:lnSpc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Suppose that a and b are positive integers  with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≥ 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b.  </a:t>
            </a:r>
            <a:endParaRPr lang="en-US" altLang="zh-CN" sz="2400" i="1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     Let 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r</a:t>
            </a:r>
            <a:r>
              <a:rPr lang="en-US" altLang="zh-CN" sz="2400" baseline="-25000" dirty="0">
                <a:latin typeface="Times New Roman" panose="02020503050405090304" pitchFamily="18" charset="0"/>
                <a:cs typeface="Cambria Math" panose="02040503050406030204" pitchFamily="18" charset="0"/>
              </a:rPr>
              <a:t>0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 = 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 and 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r</a:t>
            </a:r>
            <a:r>
              <a:rPr lang="en-US" altLang="zh-CN" sz="2400" baseline="-25000" dirty="0">
                <a:latin typeface="Times New Roman" panose="02020503050405090304" pitchFamily="18" charset="0"/>
                <a:cs typeface="Cambria Math" panose="02040503050406030204" pitchFamily="18" charset="0"/>
              </a:rPr>
              <a:t>1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 = 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. </a:t>
            </a:r>
            <a:endParaRPr lang="en-US" altLang="zh-CN" sz="2400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      </a:t>
            </a:r>
            <a:endParaRPr lang="en-US" altLang="zh-CN" sz="1600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endParaRPr lang="en-US" altLang="zh-CN" sz="1600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endParaRPr lang="en-US" altLang="zh-CN" sz="1600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endParaRPr lang="en-US" altLang="zh-CN" sz="1600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endParaRPr lang="en-US" altLang="zh-CN" sz="1600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endParaRPr lang="en-US" altLang="zh-CN" sz="1600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endParaRPr lang="en-US" altLang="zh-CN" sz="1600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endParaRPr lang="en-US" altLang="zh-CN" sz="1600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endParaRPr lang="en-US" altLang="zh-CN" sz="1600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endParaRPr lang="en-US" altLang="zh-CN" sz="1600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Eventually, a remainder of zero occurs in the sequence of terms:    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 = 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r</a:t>
            </a:r>
            <a:r>
              <a:rPr lang="en-US" altLang="zh-CN" sz="2400" baseline="-25000" dirty="0">
                <a:latin typeface="Times New Roman" panose="02020503050405090304" pitchFamily="18" charset="0"/>
                <a:cs typeface="Cambria Math" panose="02040503050406030204" pitchFamily="18" charset="0"/>
              </a:rPr>
              <a:t>0 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&gt; 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r</a:t>
            </a:r>
            <a:r>
              <a:rPr lang="en-US" altLang="zh-CN" sz="2400" baseline="-25000" dirty="0">
                <a:latin typeface="Times New Roman" panose="02020503050405090304" pitchFamily="18" charset="0"/>
                <a:cs typeface="Cambria Math" panose="02040503050406030204" pitchFamily="18" charset="0"/>
              </a:rPr>
              <a:t>1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 &gt; 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r</a:t>
            </a:r>
            <a:r>
              <a:rPr lang="en-US" altLang="zh-CN" sz="2400" baseline="-25000" dirty="0">
                <a:latin typeface="Times New Roman" panose="02020503050405090304" pitchFamily="18" charset="0"/>
                <a:cs typeface="Cambria Math" panose="02040503050406030204" pitchFamily="18" charset="0"/>
              </a:rPr>
              <a:t>2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 &gt; ∙ ∙ ∙  ≥ 0. </a:t>
            </a:r>
            <a:endParaRPr lang="en-US" altLang="zh-CN" sz="2400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By Lemma 1 gcd(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,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) = gcd(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r</a:t>
            </a:r>
            <a:r>
              <a:rPr lang="en-US" altLang="zh-CN" sz="2400" baseline="-25000" dirty="0">
                <a:latin typeface="Times New Roman" panose="02020503050405090304" pitchFamily="18" charset="0"/>
                <a:cs typeface="Cambria Math" panose="02040503050406030204" pitchFamily="18" charset="0"/>
              </a:rPr>
              <a:t>0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,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r</a:t>
            </a:r>
            <a:r>
              <a:rPr lang="en-US" altLang="zh-CN" sz="2400" baseline="-25000" dirty="0">
                <a:latin typeface="Times New Roman" panose="02020503050405090304" pitchFamily="18" charset="0"/>
                <a:cs typeface="Cambria Math" panose="02040503050406030204" pitchFamily="18" charset="0"/>
              </a:rPr>
              <a:t>1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) = ∙ ∙ ∙ = gcd(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r</a:t>
            </a:r>
            <a:r>
              <a:rPr lang="en-US" altLang="zh-CN" sz="2400" i="1" baseline="-25000" dirty="0">
                <a:latin typeface="Times New Roman" panose="02020503050405090304" pitchFamily="18" charset="0"/>
                <a:cs typeface="Cambria Math" panose="02040503050406030204" pitchFamily="18" charset="0"/>
              </a:rPr>
              <a:t>n</a:t>
            </a:r>
            <a:r>
              <a:rPr lang="en-US" altLang="zh-CN" sz="2400" baseline="-25000" dirty="0">
                <a:latin typeface="Times New Roman" panose="02020503050405090304" pitchFamily="18" charset="0"/>
                <a:cs typeface="Cambria Math" panose="02040503050406030204" pitchFamily="18" charset="0"/>
              </a:rPr>
              <a:t>-1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,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r</a:t>
            </a:r>
            <a:r>
              <a:rPr lang="en-US" altLang="zh-CN" sz="2400" i="1" baseline="-25000" dirty="0">
                <a:latin typeface="Times New Roman" panose="02020503050405090304" pitchFamily="18" charset="0"/>
                <a:cs typeface="Cambria Math" panose="02040503050406030204" pitchFamily="18" charset="0"/>
              </a:rPr>
              <a:t>n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) = gcd(r</a:t>
            </a:r>
            <a:r>
              <a:rPr lang="en-US" altLang="zh-CN" sz="2400" i="1" baseline="-25000" dirty="0">
                <a:latin typeface="Times New Roman" panose="02020503050405090304" pitchFamily="18" charset="0"/>
                <a:cs typeface="Cambria Math" panose="02040503050406030204" pitchFamily="18" charset="0"/>
              </a:rPr>
              <a:t>n 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, 0) = 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r</a:t>
            </a:r>
            <a:r>
              <a:rPr lang="en-US" altLang="zh-CN" sz="2400" i="1" baseline="-25000" dirty="0">
                <a:latin typeface="Times New Roman" panose="02020503050405090304" pitchFamily="18" charset="0"/>
                <a:cs typeface="Cambria Math" panose="02040503050406030204" pitchFamily="18" charset="0"/>
              </a:rPr>
              <a:t>n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.</a:t>
            </a:r>
            <a:endParaRPr lang="en-US" altLang="zh-CN" sz="2400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Hence the greatest common divisor is the last nonzero remainder in the sequence of divisions.</a:t>
            </a:r>
            <a:endParaRPr lang="en-US" altLang="zh-CN" sz="2400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503050405090304" pitchFamily="18" charset="0"/>
                <a:cs typeface="Cambria Math" panose="02040503050406030204" pitchFamily="18" charset="0"/>
              </a:rPr>
              <a:t>            </a:t>
            </a:r>
            <a:endParaRPr lang="en-US" altLang="zh-CN" sz="2000" dirty="0">
              <a:latin typeface="Times New Roman" panose="02020503050405090304" pitchFamily="18" charset="0"/>
              <a:ea typeface="Times New Roman" panose="02020503050405090304" pitchFamily="18" charset="0"/>
              <a:cs typeface="Cambria Math" panose="02040503050406030204" pitchFamily="18" charset="0"/>
            </a:endParaRPr>
          </a:p>
        </p:txBody>
      </p:sp>
      <p:pic>
        <p:nvPicPr>
          <p:cNvPr id="25605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5920" y="2060575"/>
            <a:ext cx="4805680" cy="2403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840740" y="143510"/>
            <a:ext cx="7832725" cy="1143000"/>
          </a:xfrm>
        </p:spPr>
        <p:txBody>
          <a:bodyPr vert="horz" wrap="square" lIns="91440" tIns="45720" rIns="91440" bIns="45720" anchor="b" anchorCtr="0"/>
          <a:p>
            <a:r>
              <a:rPr lang="en-US" altLang="zh-CN" dirty="0"/>
              <a:t>gcds as Linear Combinations</a:t>
            </a:r>
            <a:endParaRPr lang="en-US" altLang="zh-CN" dirty="0"/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347345" y="1282700"/>
            <a:ext cx="8535035" cy="4864100"/>
          </a:xfrm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  <a:buFont typeface="Wingdings" panose="05000000000000000000" charset="0"/>
              <a:buChar char="n"/>
            </a:pPr>
            <a:r>
              <a:rPr lang="en-US" altLang="zh-CN" sz="27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700" b="1" dirty="0">
                <a:latin typeface="Times New Roman" panose="02020503050405090304" pitchFamily="18" charset="0"/>
                <a:cs typeface="Cambria Math" panose="02040503050406030204" pitchFamily="18" charset="0"/>
              </a:rPr>
              <a:t>é</a:t>
            </a:r>
            <a:r>
              <a:rPr lang="en-US" altLang="zh-CN" sz="27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zout’s Theorem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If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are positive integers, then there exist integers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such that  gcd(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=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+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tb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    (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  in exercises of Section </a:t>
            </a:r>
            <a:r>
              <a:rPr lang="en-US" altLang="zh-CN" sz="2700" dirty="0">
                <a:latin typeface="Times New Roman" panose="02020503050405090304" pitchFamily="18" charset="0"/>
              </a:rPr>
              <a:t>5.2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CN" sz="27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80000"/>
              </a:lnSpc>
              <a:buFont typeface="Wingdings" panose="05000000000000000000" charset="0"/>
              <a:buChar char="n"/>
            </a:pP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7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If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are positive integers, then integers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such that  gcd(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=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+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tb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are called </a:t>
            </a:r>
            <a:r>
              <a:rPr lang="en-US" altLang="zh-CN" sz="27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7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é</a:t>
            </a:r>
            <a:r>
              <a:rPr lang="en-US" altLang="zh-CN" sz="27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zout coefficients 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b. 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equation  gcd(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=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+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tb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is called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7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7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é</a:t>
            </a:r>
            <a:r>
              <a:rPr lang="en-US" altLang="zh-CN" sz="27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zout’s identity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endParaRPr lang="en-US" altLang="zh-CN" sz="27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B</a:t>
            </a:r>
            <a:r>
              <a:rPr lang="en-US" altLang="zh-CN" sz="2700" dirty="0">
                <a:latin typeface="Times New Roman" panose="02020503050405090304" pitchFamily="18" charset="0"/>
              </a:rPr>
              <a:t>é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zout’s Theorem,  the gcd of integers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can be expressed in the form 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+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tb 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where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are integers. This is a </a:t>
            </a:r>
            <a:r>
              <a:rPr lang="en-US" altLang="zh-CN" sz="27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linear combination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 integer coefficients of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7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7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27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gcd(</a:t>
            </a:r>
            <a:r>
              <a:rPr lang="en-US" altLang="zh-CN" sz="2400" dirty="0">
                <a:latin typeface="Times New Roman" panose="02020503050405090304" pitchFamily="18" charset="0"/>
              </a:rPr>
              <a:t>6,14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= (</a:t>
            </a:r>
            <a:r>
              <a:rPr lang="en-US" altLang="zh-CN" sz="2400" dirty="0">
                <a:latin typeface="Times New Roman" panose="02020503050405090304" pitchFamily="18" charset="0"/>
              </a:rPr>
              <a:t>−2)∙6 + 1∙14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700" dirty="0">
                <a:latin typeface="Times New Roman" panose="02020503050405090304" pitchFamily="18" charset="0"/>
              </a:rPr>
              <a:t>     </a:t>
            </a:r>
            <a:endParaRPr lang="en-US" altLang="zh-CN" sz="27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80000"/>
              </a:lnSpc>
              <a:buNone/>
            </a:pPr>
            <a:endParaRPr lang="en-US" altLang="zh-CN" sz="2700" i="1" dirty="0"/>
          </a:p>
        </p:txBody>
      </p:sp>
      <p:pic>
        <p:nvPicPr>
          <p:cNvPr id="26628" name="Picture 3" descr="bezou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6525" y="115888"/>
            <a:ext cx="906463" cy="1243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9" name="TextBox 4"/>
          <p:cNvSpPr txBox="1"/>
          <p:nvPr/>
        </p:nvSpPr>
        <p:spPr>
          <a:xfrm>
            <a:off x="5881688" y="65088"/>
            <a:ext cx="190500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u="sng" dirty="0">
                <a:latin typeface="Cambria Math" panose="02040503050406030204" pitchFamily="18" charset="0"/>
              </a:rPr>
              <a:t>É</a:t>
            </a:r>
            <a:r>
              <a:rPr lang="en-US" altLang="zh-CN" sz="2400" b="1" i="1" u="sng" dirty="0">
                <a:latin typeface="Times New Roman" panose="02020503050405090304" pitchFamily="18" charset="0"/>
              </a:rPr>
              <a:t>tienne B</a:t>
            </a:r>
            <a:r>
              <a:rPr lang="en-US" altLang="zh-CN" sz="2400" b="1" i="1" u="sng" dirty="0">
                <a:latin typeface="Cambria Math" panose="02040503050406030204" pitchFamily="18" charset="0"/>
              </a:rPr>
              <a:t>é</a:t>
            </a:r>
            <a:r>
              <a:rPr lang="en-US" altLang="zh-CN" sz="2400" b="1" i="1" u="sng" dirty="0">
                <a:latin typeface="Times New Roman" panose="02020503050405090304" pitchFamily="18" charset="0"/>
              </a:rPr>
              <a:t>zout</a:t>
            </a:r>
            <a:endParaRPr lang="en-US" altLang="zh-CN" sz="2400" b="1" i="1" u="sng" dirty="0">
              <a:latin typeface="Times New Roman" panose="0202050305040509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u="sng" dirty="0">
                <a:latin typeface="Times New Roman" panose="02020503050405090304" pitchFamily="18" charset="0"/>
              </a:rPr>
              <a:t>(</a:t>
            </a:r>
            <a:r>
              <a:rPr lang="en-US" altLang="zh-CN" sz="2400" b="1" i="1" u="sng" dirty="0">
                <a:latin typeface="Cambria Math" panose="02040503050406030204" pitchFamily="18" charset="0"/>
              </a:rPr>
              <a:t>1730-1783</a:t>
            </a:r>
            <a:r>
              <a:rPr lang="en-US" altLang="zh-CN" sz="2400" b="1" i="1" u="sng" dirty="0">
                <a:latin typeface="Times New Roman" panose="02020503050405090304" pitchFamily="18" charset="0"/>
              </a:rPr>
              <a:t>)</a:t>
            </a:r>
            <a:endParaRPr lang="en-US" altLang="zh-CN" sz="2400" b="1" i="1" u="sng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775" y="0"/>
            <a:ext cx="8397240" cy="1143000"/>
          </a:xfrm>
        </p:spPr>
        <p:txBody>
          <a:bodyPr vert="horz" wrap="square" lIns="91440" tIns="45720" rIns="91440" bIns="45720" numCol="1" anchor="b" anchorCtr="0" compatLnSpc="1"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Finding </a:t>
            </a:r>
            <a:r>
              <a:rPr kumimoji="1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gcds</a:t>
            </a:r>
            <a:r>
              <a:rPr kumimoji="1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as Linear Combinations</a:t>
            </a:r>
            <a:endParaRPr kumimoji="1" 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0" y="1196975"/>
            <a:ext cx="9291955" cy="4864100"/>
          </a:xfrm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  <a:buNone/>
            </a:pPr>
            <a:r>
              <a:rPr lang="en-US" altLang="zh-CN" sz="2100" dirty="0"/>
              <a:t>   </a:t>
            </a:r>
            <a:r>
              <a:rPr lang="en-US" altLang="zh-C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 17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Express gcd(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252,</a:t>
            </a:r>
            <a:r>
              <a:rPr lang="en-US" altLang="zh-CN" sz="2400" dirty="0">
                <a:latin typeface="Times New Roman" panose="02020503050405090304" pitchFamily="18" charset="0"/>
              </a:rPr>
              <a:t>198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= </a:t>
            </a:r>
            <a:r>
              <a:rPr lang="en-US" altLang="zh-CN" sz="2400" dirty="0">
                <a:latin typeface="Times New Roman" panose="02020503050405090304" pitchFamily="18" charset="0"/>
              </a:rPr>
              <a:t>18 as a linear combination of 252 and 198.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400" dirty="0">
                <a:latin typeface="Times New Roman" panose="02020503050405090304" pitchFamily="18" charset="0"/>
              </a:rPr>
              <a:t>    </a:t>
            </a:r>
            <a:r>
              <a:rPr lang="en-US" altLang="zh-C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Solution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First use the Euclidean algorithm to show gcd(</a:t>
            </a:r>
            <a:r>
              <a:rPr lang="en-US" altLang="zh-CN" sz="2400" dirty="0">
                <a:latin typeface="Times New Roman" panose="02020503050405090304" pitchFamily="18" charset="0"/>
              </a:rPr>
              <a:t>252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400" dirty="0">
                <a:latin typeface="Times New Roman" panose="02020503050405090304" pitchFamily="18" charset="0"/>
              </a:rPr>
              <a:t>198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= </a:t>
            </a:r>
            <a:r>
              <a:rPr lang="en-US" altLang="zh-CN" sz="2400" dirty="0">
                <a:latin typeface="Times New Roman" panose="02020503050405090304" pitchFamily="18" charset="0"/>
              </a:rPr>
              <a:t>18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marL="1181100" lvl="2" indent="-514350">
              <a:lnSpc>
                <a:spcPct val="80000"/>
              </a:lnSpc>
              <a:buFont typeface="Copperplate Gothic Light" panose="020E0507020206020404" pitchFamily="34" charset="0"/>
              <a:buAutoNum type="romanLcPeriod"/>
            </a:pPr>
            <a:r>
              <a:rPr lang="en-US" altLang="zh-CN" sz="1600" dirty="0">
                <a:latin typeface="Times New Roman" panose="02020503050405090304" pitchFamily="18" charset="0"/>
              </a:rPr>
              <a:t>252 = 1∙198 + 54</a:t>
            </a:r>
            <a:endParaRPr lang="en-US" altLang="zh-CN" sz="1600" dirty="0">
              <a:latin typeface="Times New Roman" panose="02020503050405090304" pitchFamily="18" charset="0"/>
            </a:endParaRPr>
          </a:p>
          <a:p>
            <a:pPr marL="1181100" lvl="2" indent="-514350">
              <a:lnSpc>
                <a:spcPct val="80000"/>
              </a:lnSpc>
              <a:buFont typeface="Copperplate Gothic Light" panose="020E0507020206020404" pitchFamily="34" charset="0"/>
              <a:buAutoNum type="romanLcPeriod"/>
            </a:pPr>
            <a:r>
              <a:rPr lang="en-US" altLang="zh-CN" sz="1600" dirty="0">
                <a:latin typeface="Times New Roman" panose="02020503050405090304" pitchFamily="18" charset="0"/>
              </a:rPr>
              <a:t>198 = 3 ∙54 + 36</a:t>
            </a:r>
            <a:endParaRPr lang="en-US" altLang="zh-CN" sz="1600" dirty="0">
              <a:latin typeface="Times New Roman" panose="02020503050405090304" pitchFamily="18" charset="0"/>
            </a:endParaRPr>
          </a:p>
          <a:p>
            <a:pPr marL="1181100" lvl="2" indent="-514350">
              <a:lnSpc>
                <a:spcPct val="80000"/>
              </a:lnSpc>
              <a:buFont typeface="Copperplate Gothic Light" panose="020E0507020206020404" pitchFamily="34" charset="0"/>
              <a:buAutoNum type="romanLcPeriod"/>
            </a:pPr>
            <a:r>
              <a:rPr lang="en-US" altLang="zh-CN" sz="1600" dirty="0">
                <a:latin typeface="Times New Roman" panose="02020503050405090304" pitchFamily="18" charset="0"/>
              </a:rPr>
              <a:t>54 = 1 ∙36 + 18</a:t>
            </a:r>
            <a:endParaRPr lang="en-US" altLang="zh-CN" sz="1600" dirty="0">
              <a:latin typeface="Times New Roman" panose="02020503050405090304" pitchFamily="18" charset="0"/>
            </a:endParaRPr>
          </a:p>
          <a:p>
            <a:pPr marL="1181100" lvl="2" indent="-514350">
              <a:lnSpc>
                <a:spcPct val="80000"/>
              </a:lnSpc>
              <a:buFont typeface="Copperplate Gothic Light" panose="020E0507020206020404" pitchFamily="34" charset="0"/>
              <a:buAutoNum type="romanLcPeriod"/>
            </a:pPr>
            <a:r>
              <a:rPr lang="en-US" altLang="zh-CN" sz="1600" dirty="0">
                <a:latin typeface="Times New Roman" panose="02020503050405090304" pitchFamily="18" charset="0"/>
              </a:rPr>
              <a:t>36 = 2 ∙18 </a:t>
            </a:r>
            <a:endParaRPr lang="en-US" altLang="zh-CN" sz="1600" dirty="0">
              <a:latin typeface="Times New Roman" panose="02020503050405090304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latin typeface="Times New Roman" panose="02020503050405090304" pitchFamily="18" charset="0"/>
              </a:rPr>
              <a:t>Now working backwards, from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503050405090304" pitchFamily="18" charset="0"/>
              </a:rPr>
              <a:t>iii</a:t>
            </a:r>
            <a:r>
              <a:rPr lang="en-US" altLang="zh-CN" sz="2000" dirty="0">
                <a:latin typeface="Times New Roman" panose="02020503050405090304" pitchFamily="18" charset="0"/>
              </a:rPr>
              <a:t> and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503050405090304" pitchFamily="18" charset="0"/>
              </a:rPr>
              <a:t>i</a:t>
            </a:r>
            <a:r>
              <a:rPr lang="en-US" altLang="zh-CN" sz="2000" dirty="0">
                <a:solidFill>
                  <a:srgbClr val="56FFD2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2000" dirty="0">
                <a:latin typeface="Times New Roman" panose="02020503050405090304" pitchFamily="18" charset="0"/>
              </a:rPr>
              <a:t>above </a:t>
            </a:r>
            <a:endParaRPr lang="en-US" altLang="zh-CN" sz="2000" dirty="0">
              <a:latin typeface="Times New Roman" panose="02020503050405090304" pitchFamily="18" charset="0"/>
            </a:endParaRPr>
          </a:p>
          <a:p>
            <a:pPr marL="1181100" lvl="2" indent="-514350">
              <a:lnSpc>
                <a:spcPct val="80000"/>
              </a:lnSpc>
            </a:pPr>
            <a:r>
              <a:rPr lang="en-US" altLang="zh-CN" sz="1600" dirty="0">
                <a:latin typeface="Times New Roman" panose="02020503050405090304" pitchFamily="18" charset="0"/>
              </a:rPr>
              <a:t>18 = 54 −  1 ∙36 </a:t>
            </a:r>
            <a:endParaRPr lang="en-US" altLang="zh-CN" sz="1600" dirty="0">
              <a:latin typeface="Times New Roman" panose="02020503050405090304" pitchFamily="18" charset="0"/>
            </a:endParaRPr>
          </a:p>
          <a:p>
            <a:pPr marL="1181100" lvl="2" indent="-514350">
              <a:lnSpc>
                <a:spcPct val="80000"/>
              </a:lnSpc>
            </a:pPr>
            <a:r>
              <a:rPr lang="en-US" altLang="zh-CN" sz="1600" dirty="0">
                <a:latin typeface="Times New Roman" panose="02020503050405090304" pitchFamily="18" charset="0"/>
              </a:rPr>
              <a:t>36 = 198 −  3 ∙54 </a:t>
            </a:r>
            <a:endParaRPr lang="en-US" altLang="zh-CN" sz="1600" dirty="0">
              <a:latin typeface="Times New Roman" panose="02020503050405090304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latin typeface="Times New Roman" panose="02020503050405090304" pitchFamily="18" charset="0"/>
              </a:rPr>
              <a:t>Substituting the 2</a:t>
            </a:r>
            <a:r>
              <a:rPr lang="en-US" altLang="zh-CN" sz="2000" baseline="30000" dirty="0">
                <a:latin typeface="Times New Roman" panose="02020503050405090304" pitchFamily="18" charset="0"/>
              </a:rPr>
              <a:t>nd</a:t>
            </a:r>
            <a:r>
              <a:rPr lang="en-US" altLang="zh-CN" sz="2000" dirty="0">
                <a:latin typeface="Times New Roman" panose="02020503050405090304" pitchFamily="18" charset="0"/>
              </a:rPr>
              <a:t> equation into the 1</a:t>
            </a:r>
            <a:r>
              <a:rPr lang="en-US" altLang="zh-CN" sz="2000" baseline="30000" dirty="0">
                <a:latin typeface="Times New Roman" panose="02020503050405090304" pitchFamily="18" charset="0"/>
              </a:rPr>
              <a:t>st</a:t>
            </a:r>
            <a:r>
              <a:rPr lang="en-US" altLang="zh-CN" sz="2000" dirty="0">
                <a:latin typeface="Times New Roman" panose="02020503050405090304" pitchFamily="18" charset="0"/>
              </a:rPr>
              <a:t> yields:</a:t>
            </a:r>
            <a:endParaRPr lang="en-US" altLang="zh-CN" sz="2000" dirty="0">
              <a:latin typeface="Times New Roman" panose="02020503050405090304" pitchFamily="18" charset="0"/>
            </a:endParaRPr>
          </a:p>
          <a:p>
            <a:pPr marL="1181100" lvl="2" indent="-514350">
              <a:lnSpc>
                <a:spcPct val="80000"/>
              </a:lnSpc>
            </a:pPr>
            <a:r>
              <a:rPr lang="en-US" altLang="zh-CN" sz="1600" dirty="0">
                <a:latin typeface="Times New Roman" panose="02020503050405090304" pitchFamily="18" charset="0"/>
              </a:rPr>
              <a:t>18 = 54 −  1 ∙(198 −  3 ∙54 )= 4 ∙54 −  1 ∙198 </a:t>
            </a:r>
            <a:endParaRPr lang="en-US" altLang="zh-CN" sz="1600" dirty="0">
              <a:latin typeface="Times New Roman" panose="02020503050405090304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latin typeface="Times New Roman" panose="02020503050405090304" pitchFamily="18" charset="0"/>
              </a:rPr>
              <a:t>Substituting 54 = 252 −  1 ∙198 (from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503050405090304" pitchFamily="18" charset="0"/>
              </a:rPr>
              <a:t>i</a:t>
            </a:r>
            <a:r>
              <a:rPr lang="en-US" altLang="zh-CN" sz="2000" dirty="0">
                <a:latin typeface="Times New Roman" panose="02020503050405090304" pitchFamily="18" charset="0"/>
              </a:rPr>
              <a:t>)) yields:</a:t>
            </a:r>
            <a:endParaRPr lang="en-US" altLang="zh-CN" sz="2000" dirty="0">
              <a:latin typeface="Times New Roman" panose="02020503050405090304" pitchFamily="18" charset="0"/>
            </a:endParaRPr>
          </a:p>
          <a:p>
            <a:pPr marL="1181100" lvl="2" indent="-514350">
              <a:lnSpc>
                <a:spcPct val="80000"/>
              </a:lnSpc>
            </a:pPr>
            <a:r>
              <a:rPr lang="en-US" altLang="zh-CN" sz="1600" dirty="0">
                <a:latin typeface="Times New Roman" panose="02020503050405090304" pitchFamily="18" charset="0"/>
              </a:rPr>
              <a:t> 18 = 4 ∙(252 −  1 ∙198) −  1 ∙198 = 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503050405090304" pitchFamily="18" charset="0"/>
              </a:rPr>
              <a:t>4</a:t>
            </a:r>
            <a:r>
              <a:rPr lang="en-US" altLang="zh-CN" sz="1600" dirty="0">
                <a:latin typeface="Times New Roman" panose="02020503050405090304" pitchFamily="18" charset="0"/>
              </a:rPr>
              <a:t> ∙252 −  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503050405090304" pitchFamily="18" charset="0"/>
              </a:rPr>
              <a:t>5</a:t>
            </a:r>
            <a:r>
              <a:rPr lang="en-US" altLang="zh-CN" sz="1600" dirty="0">
                <a:latin typeface="Times New Roman" panose="02020503050405090304" pitchFamily="18" charset="0"/>
              </a:rPr>
              <a:t> ∙198 </a:t>
            </a:r>
            <a:endParaRPr lang="en-US" altLang="zh-CN" sz="1600" dirty="0">
              <a:latin typeface="Times New Roman" panose="0202050305040509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Times New Roman" panose="02020503050405090304" pitchFamily="18" charset="0"/>
              </a:rPr>
              <a:t>This method illustrated above is a two pass method. It first uses the Euclidian algorithm to find the gcd and then works backwards to express the gcd as a linear combination of the original two integers. 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marL="1181100" lvl="2" indent="-514350">
              <a:lnSpc>
                <a:spcPct val="80000"/>
              </a:lnSpc>
            </a:pPr>
            <a:endParaRPr lang="en-US" altLang="zh-CN" sz="1600" dirty="0">
              <a:latin typeface="Times New Roman" panose="02020503050405090304" pitchFamily="18" charset="0"/>
            </a:endParaRPr>
          </a:p>
          <a:p>
            <a:pPr marL="1181100" lvl="2" indent="-514350">
              <a:lnSpc>
                <a:spcPct val="80000"/>
              </a:lnSpc>
            </a:pPr>
            <a:endParaRPr lang="en-US" altLang="zh-CN" sz="1600" dirty="0">
              <a:latin typeface="Times New Roman" panose="02020503050405090304" pitchFamily="18" charset="0"/>
            </a:endParaRPr>
          </a:p>
        </p:txBody>
      </p:sp>
      <p:pic>
        <p:nvPicPr>
          <p:cNvPr id="2765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4420" y="2347595"/>
            <a:ext cx="2408238" cy="12239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xfrm>
            <a:off x="788988" y="0"/>
            <a:ext cx="8061325" cy="1143000"/>
          </a:xfrm>
        </p:spPr>
        <p:txBody>
          <a:bodyPr vert="horz" wrap="square" lIns="91440" tIns="45720" rIns="91440" bIns="45720" anchor="b" anchorCtr="0"/>
          <a:p>
            <a:r>
              <a:rPr lang="en-US" altLang="zh-CN" dirty="0"/>
              <a:t>extended Euclidean algorithm</a:t>
            </a:r>
            <a:endParaRPr lang="zh-CN" altLang="en-US" dirty="0"/>
          </a:p>
        </p:txBody>
      </p:sp>
      <p:pic>
        <p:nvPicPr>
          <p:cNvPr id="29699" name="内容占位符 7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815975" y="3138805"/>
            <a:ext cx="6232525" cy="933450"/>
          </a:xfrm>
        </p:spPr>
      </p:pic>
      <p:sp>
        <p:nvSpPr>
          <p:cNvPr id="2970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70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70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703" name="矩形 8"/>
          <p:cNvSpPr/>
          <p:nvPr/>
        </p:nvSpPr>
        <p:spPr>
          <a:xfrm>
            <a:off x="971550" y="2057718"/>
            <a:ext cx="72009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u="none" dirty="0">
                <a:latin typeface="Times New Roman" panose="02020503050405090304" pitchFamily="18" charset="0"/>
              </a:rPr>
              <a:t>It uses one pass through the steps of the Euclidean algorithm to find Bezout coefficients of  a and b,</a:t>
            </a:r>
            <a:endParaRPr lang="zh-CN" altLang="en-US" sz="2400" u="none" dirty="0">
              <a:latin typeface="Times New Roman" panose="02020503050405090304" pitchFamily="18" charset="0"/>
            </a:endParaRPr>
          </a:p>
        </p:txBody>
      </p:sp>
      <p:sp>
        <p:nvSpPr>
          <p:cNvPr id="29704" name="矩形 10"/>
          <p:cNvSpPr/>
          <p:nvPr/>
        </p:nvSpPr>
        <p:spPr>
          <a:xfrm>
            <a:off x="815975" y="4270693"/>
            <a:ext cx="7859713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u="none" dirty="0">
                <a:latin typeface="Times New Roman" panose="02020503050405090304" pitchFamily="18" charset="0"/>
              </a:rPr>
              <a:t>for j = 2, 3, … , n, where the q</a:t>
            </a:r>
            <a:r>
              <a:rPr lang="en-US" altLang="zh-CN" sz="2400" u="none" baseline="-25000" dirty="0">
                <a:latin typeface="Times New Roman" panose="02020503050405090304" pitchFamily="18" charset="0"/>
              </a:rPr>
              <a:t>j</a:t>
            </a:r>
            <a:r>
              <a:rPr lang="en-US" altLang="zh-CN" sz="2400" u="none" dirty="0">
                <a:latin typeface="Times New Roman" panose="02020503050405090304" pitchFamily="18" charset="0"/>
              </a:rPr>
              <a:t> are the quotients in the divisions used when the Euclidean algorithm finds gcd(a, b).</a:t>
            </a:r>
            <a:endParaRPr lang="zh-CN" altLang="en-US" sz="2400" u="none" dirty="0">
              <a:latin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3940" y="1268730"/>
            <a:ext cx="6855460" cy="7499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80000"/>
              </a:lnSpc>
            </a:pPr>
            <a:r>
              <a:rPr lang="en-US" altLang="zh-CN" b="0" i="0" u="none" dirty="0">
                <a:sym typeface="+mn-ea"/>
              </a:rPr>
              <a:t>A one pass method, called the</a:t>
            </a:r>
            <a:r>
              <a:rPr lang="en-US" altLang="zh-CN" b="0" i="0" u="none" dirty="0">
                <a:solidFill>
                  <a:srgbClr val="FF0000"/>
                </a:solidFill>
                <a:sym typeface="+mn-ea"/>
              </a:rPr>
              <a:t> extended Euclidean algorithm</a:t>
            </a:r>
            <a:r>
              <a:rPr lang="en-US" altLang="zh-CN" b="0" i="0" u="none" dirty="0">
                <a:sym typeface="+mn-ea"/>
              </a:rPr>
              <a:t>, is developed in the exercises.</a:t>
            </a:r>
            <a:endParaRPr lang="en-US" altLang="zh-CN" b="0" i="0" u="none" dirty="0"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684213" y="1292225"/>
            <a:ext cx="8270875" cy="48641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/>
              <a:t>EXAMPLE 18 </a:t>
            </a:r>
            <a:endParaRPr lang="en-US" altLang="zh-CN" dirty="0"/>
          </a:p>
          <a:p>
            <a:pPr lvl="1"/>
            <a:r>
              <a:rPr lang="en-US" altLang="zh-CN" dirty="0"/>
              <a:t>Express gcd(252, 198) = 18 as a linear combination of 252 and 198 using the extended Euclidean algorithm</a:t>
            </a:r>
            <a:endParaRPr lang="zh-CN" altLang="en-US" dirty="0"/>
          </a:p>
        </p:txBody>
      </p:sp>
      <p:sp>
        <p:nvSpPr>
          <p:cNvPr id="3072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3072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6800" y="363538"/>
            <a:ext cx="2692400" cy="1368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8" name="矩形 7"/>
          <p:cNvSpPr/>
          <p:nvPr/>
        </p:nvSpPr>
        <p:spPr>
          <a:xfrm>
            <a:off x="4200525" y="3168650"/>
            <a:ext cx="42703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</a:rPr>
              <a:t>q</a:t>
            </a:r>
            <a:r>
              <a:rPr lang="en-US" altLang="zh-CN" sz="2400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sz="2400" dirty="0">
                <a:latin typeface="Times New Roman" panose="02020503050405090304" pitchFamily="18" charset="0"/>
              </a:rPr>
              <a:t> = 1, q</a:t>
            </a:r>
            <a:r>
              <a:rPr lang="en-US" altLang="zh-CN" sz="2400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sz="2400" dirty="0">
                <a:latin typeface="Times New Roman" panose="02020503050405090304" pitchFamily="18" charset="0"/>
              </a:rPr>
              <a:t> = 3, q</a:t>
            </a:r>
            <a:r>
              <a:rPr lang="en-US" altLang="zh-CN" sz="2400" baseline="-25000" dirty="0">
                <a:latin typeface="Times New Roman" panose="02020503050405090304" pitchFamily="18" charset="0"/>
              </a:rPr>
              <a:t>3</a:t>
            </a:r>
            <a:r>
              <a:rPr lang="en-US" altLang="zh-CN" sz="2400" dirty="0">
                <a:latin typeface="Times New Roman" panose="02020503050405090304" pitchFamily="18" charset="0"/>
              </a:rPr>
              <a:t> = 1, and q</a:t>
            </a:r>
            <a:r>
              <a:rPr lang="en-US" altLang="zh-CN" sz="2400" baseline="-25000" dirty="0">
                <a:latin typeface="Times New Roman" panose="02020503050405090304" pitchFamily="18" charset="0"/>
              </a:rPr>
              <a:t>4</a:t>
            </a:r>
            <a:r>
              <a:rPr lang="en-US" altLang="zh-CN" sz="2400" dirty="0">
                <a:latin typeface="Times New Roman" panose="02020503050405090304" pitchFamily="18" charset="0"/>
              </a:rPr>
              <a:t> = 2</a:t>
            </a:r>
            <a:endParaRPr lang="zh-CN" altLang="en-US" sz="2400" dirty="0">
              <a:latin typeface="Times New Roman" panose="02020503050405090304" pitchFamily="18" charset="0"/>
            </a:endParaRPr>
          </a:p>
        </p:txBody>
      </p:sp>
      <p:pic>
        <p:nvPicPr>
          <p:cNvPr id="30729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13" y="3862388"/>
            <a:ext cx="3571875" cy="3476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30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638" y="4313238"/>
            <a:ext cx="4500562" cy="414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31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" y="3400425"/>
            <a:ext cx="3698875" cy="1571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32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5875" y="5253038"/>
            <a:ext cx="6497638" cy="865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Title 1"/>
          <p:cNvSpPr>
            <a:spLocks noGrp="1"/>
          </p:cNvSpPr>
          <p:nvPr>
            <p:ph type="title"/>
          </p:nvPr>
        </p:nvSpPr>
        <p:spPr>
          <a:xfrm>
            <a:off x="900430" y="547370"/>
            <a:ext cx="7629525" cy="576263"/>
          </a:xfrm>
        </p:spPr>
        <p:txBody>
          <a:bodyPr vert="horz" wrap="square" lIns="91440" tIns="45720" rIns="91440" bIns="45720" anchor="b" anchorCtr="0"/>
          <a:p>
            <a:r>
              <a:rPr lang="en-US" altLang="zh-CN" sz="2800" b="0" dirty="0">
                <a:latin typeface="Copperplate Gothic Bold" panose="020E0705020206020404" pitchFamily="34" charset="0"/>
              </a:rPr>
              <a:t>Consequences of Bézout’s Theorem</a:t>
            </a:r>
            <a:endParaRPr lang="en-US" altLang="zh-CN" sz="2800" b="0" dirty="0">
              <a:latin typeface="Copperplate Gothic Bold" panose="020E0705020206020404" pitchFamily="34" charset="0"/>
            </a:endParaRPr>
          </a:p>
        </p:txBody>
      </p:sp>
      <p:sp>
        <p:nvSpPr>
          <p:cNvPr id="2969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538798" y="1268095"/>
            <a:ext cx="8421688" cy="5327650"/>
          </a:xfrm>
        </p:spPr>
        <p:txBody>
          <a:bodyPr vert="horz" wrap="square" lIns="91440" tIns="45720" rIns="91440" bIns="45720" numCol="1" anchor="t" anchorCtr="0" compatLnSpc="1"/>
          <a:p>
            <a:pPr>
              <a:lnSpc>
                <a:spcPct val="80000"/>
              </a:lnSpc>
            </a:pP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Lemma </a:t>
            </a:r>
            <a:r>
              <a:rPr lang="en-US" altLang="zh-CN" sz="2800" b="1" dirty="0">
                <a:latin typeface="Times New Roman" panose="02020503050405090304" pitchFamily="18" charset="0"/>
                <a:cs typeface="Cambria Math" panose="02040503050406030204" pitchFamily="18" charset="0"/>
              </a:rPr>
              <a:t>2</a:t>
            </a:r>
            <a:r>
              <a:rPr lang="zh-CN" altLang="en-US" sz="2800" b="1" dirty="0">
                <a:latin typeface="Times New Roman" panose="02020503050405090304" pitchFamily="18" charset="0"/>
                <a:cs typeface="Cambria Math" panose="02040503050406030204" pitchFamily="18" charset="0"/>
              </a:rPr>
              <a:t>：</a:t>
            </a:r>
            <a:endParaRPr lang="en-US" altLang="zh-CN" sz="2800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If 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, 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, and 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c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 are positive integers such that gcd(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, </a:t>
            </a:r>
            <a:r>
              <a:rPr lang="en-US" altLang="zh-CN" sz="2400" i="1" dirty="0">
                <a:latin typeface="Times New Roman" panose="02020503050405090304" pitchFamily="18" charset="0"/>
                <a:cs typeface="Cambria Math" panose="02040503050406030204" pitchFamily="18" charset="0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cs typeface="Cambria Math" panose="02040503050406030204" pitchFamily="18" charset="0"/>
              </a:rPr>
              <a:t>) = 1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|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bc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then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|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spcBef>
                <a:spcPct val="0"/>
              </a:spcBef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Assume gcd(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= </a:t>
            </a:r>
            <a:r>
              <a:rPr lang="en-US" altLang="zh-CN" sz="2400" dirty="0">
                <a:latin typeface="Times New Roman" panose="02020503050405090304" pitchFamily="18" charset="0"/>
              </a:rPr>
              <a:t>1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|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bc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Since gcd(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= </a:t>
            </a:r>
            <a:r>
              <a:rPr lang="en-US" altLang="zh-CN" sz="2400" dirty="0">
                <a:latin typeface="Times New Roman" panose="02020503050405090304" pitchFamily="18" charset="0"/>
              </a:rPr>
              <a:t>1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by B</a:t>
            </a:r>
            <a:r>
              <a:rPr lang="en-US" altLang="zh-CN" sz="2400" dirty="0">
                <a:latin typeface="Times New Roman" panose="02020503050405090304" pitchFamily="18" charset="0"/>
              </a:rPr>
              <a:t>é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zout’s Theorem  there are integers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such that 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sa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+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tb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</a:rPr>
              <a:t>1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Multiplying both sides of the equation by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yields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spcBef>
                <a:spcPct val="0"/>
              </a:spcBef>
              <a:buNone/>
            </a:pP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	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sac + tbc = c.</a:t>
            </a:r>
            <a:endParaRPr lang="en-US" altLang="zh-CN" sz="24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From Theorem </a:t>
            </a:r>
            <a:r>
              <a:rPr lang="en-US" altLang="zh-CN" sz="2400" dirty="0">
                <a:latin typeface="Times New Roman" panose="02020503050405090304" pitchFamily="18" charset="0"/>
              </a:rPr>
              <a:t>1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of Section </a:t>
            </a:r>
            <a:r>
              <a:rPr lang="en-US" altLang="zh-CN" sz="2400" dirty="0">
                <a:latin typeface="Times New Roman" panose="02020503050405090304" pitchFamily="18" charset="0"/>
              </a:rPr>
              <a:t>4.1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None/>
            </a:pP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a | sac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a|tbc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None/>
            </a:pP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a | (tbc+sac)</a:t>
            </a:r>
            <a:endParaRPr lang="en-US" altLang="zh-CN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None/>
            </a:pP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conclude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| c,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since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sac + tbc = c.</a:t>
            </a:r>
            <a:endParaRPr lang="en-US" altLang="zh-CN" i="1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6144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45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1043940" y="619125"/>
            <a:ext cx="7629525" cy="576263"/>
          </a:xfrm>
        </p:spPr>
        <p:txBody>
          <a:bodyPr vert="horz" wrap="square" lIns="91440" tIns="45720" rIns="91440" bIns="45720" anchor="b" anchorCtr="0"/>
          <a:p>
            <a:r>
              <a:rPr lang="en-US" altLang="zh-CN" sz="2800" b="0" dirty="0">
                <a:latin typeface="Copperplate Gothic Bold" panose="020E0705020206020404" pitchFamily="34" charset="0"/>
              </a:rPr>
              <a:t>Consequences of Bézout’s Theorem</a:t>
            </a:r>
            <a:endParaRPr lang="en-US" altLang="zh-CN" sz="2800" b="0" dirty="0">
              <a:latin typeface="Copperplate Gothic Bold" panose="020E0705020206020404" pitchFamily="34" charset="0"/>
            </a:endParaRPr>
          </a:p>
        </p:txBody>
      </p:sp>
      <p:sp>
        <p:nvSpPr>
          <p:cNvPr id="2969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395288" y="1196340"/>
            <a:ext cx="8569325" cy="5327650"/>
          </a:xfrm>
        </p:spPr>
        <p:txBody>
          <a:bodyPr vert="horz" wrap="square" lIns="91440" tIns="45720" rIns="91440" bIns="45720" numCol="1" anchor="t" anchorCtr="0" compatLnSpc="1"/>
          <a:p>
            <a:pPr>
              <a:spcBef>
                <a:spcPts val="600"/>
              </a:spcBef>
            </a:pP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Theorem 7</a:t>
            </a:r>
            <a:r>
              <a:rPr lang="zh-CN" altLang="en-US" sz="2800" b="1" dirty="0">
                <a:latin typeface="Times New Roman" panose="02020503050405090304" pitchFamily="18" charset="0"/>
                <a:cs typeface="Cambria Math" panose="02040503050406030204" pitchFamily="18" charset="0"/>
              </a:rPr>
              <a:t>：</a:t>
            </a:r>
            <a:endParaRPr lang="en-US" altLang="zh-CN" sz="2800" dirty="0">
              <a:latin typeface="Times New Roman" panose="02020503050405090304" pitchFamily="18" charset="0"/>
              <a:cs typeface="Cambria Math" panose="020405030504060302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Let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be a positive integer and let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a, b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and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be integers.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If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ac ≡ bc (mod m) 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gcd(c, m) =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1, then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≡ b (mod m).</a:t>
            </a:r>
            <a:endParaRPr lang="en-US" altLang="zh-CN" sz="24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Because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ac ≡ bc (mod m)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 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m|ac−bc  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m|c(a−b)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Lemma 2, because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gcd(c, m) =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1, it follows that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|(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− b)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We conclude that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≡ b (mod m)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i="1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6246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2469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2470" name="矩形 1"/>
          <p:cNvSpPr/>
          <p:nvPr/>
        </p:nvSpPr>
        <p:spPr>
          <a:xfrm>
            <a:off x="2051050" y="5085398"/>
            <a:ext cx="4808538" cy="460375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503050405090304" pitchFamily="18" charset="0"/>
              </a:rPr>
              <a:t>14 ≡ 8 (mod 6)     but   7 ≢ 4 (mod 6)</a:t>
            </a:r>
            <a:endParaRPr lang="zh-CN" altLang="en-US" sz="2400" b="1" i="1" dirty="0">
              <a:latin typeface="Times New Roman" panose="02020503050405090304" pitchFamily="18" charset="0"/>
            </a:endParaRPr>
          </a:p>
        </p:txBody>
      </p:sp>
      <p:sp>
        <p:nvSpPr>
          <p:cNvPr id="62471" name="矩形 6"/>
          <p:cNvSpPr/>
          <p:nvPr/>
        </p:nvSpPr>
        <p:spPr>
          <a:xfrm>
            <a:off x="2033588" y="5768023"/>
            <a:ext cx="4824412" cy="461962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503050405090304" pitchFamily="18" charset="0"/>
              </a:rPr>
              <a:t>24 ≡ 4 (mod 5)     and   6 ≡ 1 (mod 5)</a:t>
            </a:r>
            <a:endParaRPr lang="zh-CN" altLang="en-US" sz="2400" b="1" i="1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0" grpId="0" bldLvl="0" animBg="1"/>
      <p:bldP spid="62471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972185" y="547370"/>
            <a:ext cx="7629525" cy="576263"/>
          </a:xfrm>
        </p:spPr>
        <p:txBody>
          <a:bodyPr vert="horz" wrap="square" lIns="91440" tIns="45720" rIns="91440" bIns="45720" anchor="b" anchorCtr="0"/>
          <a:p>
            <a:r>
              <a:rPr lang="en-US" altLang="zh-CN" sz="2800" b="0" dirty="0">
                <a:latin typeface="Copperplate Gothic Bold" panose="020E0705020206020404" pitchFamily="34" charset="0"/>
              </a:rPr>
              <a:t>Consequences of Bézout’s Theorem</a:t>
            </a:r>
            <a:endParaRPr lang="en-US" altLang="zh-CN" sz="2800" b="0" dirty="0">
              <a:latin typeface="Copperplate Gothic Bold" panose="020E0705020206020404" pitchFamily="34" charset="0"/>
            </a:endParaRP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>
          <a:xfrm>
            <a:off x="467043" y="1268095"/>
            <a:ext cx="8421687" cy="3527425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Lemma </a:t>
            </a:r>
            <a:r>
              <a:rPr lang="en-US" altLang="zh-CN" sz="2800" b="1" dirty="0">
                <a:latin typeface="Times New Roman" panose="02020503050405090304" pitchFamily="18" charset="0"/>
              </a:rPr>
              <a:t>3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prime and 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|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400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400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sz="2400" dirty="0">
                <a:latin typeface="Times New Roman" panose="02020503050405090304" pitchFamily="18" charset="0"/>
              </a:rPr>
              <a:t>∙∙∙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4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then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|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4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 some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 uses mathematical induction; see Exercise </a:t>
            </a:r>
            <a:r>
              <a:rPr lang="en-US" altLang="zh-CN" sz="2400" dirty="0">
                <a:latin typeface="Times New Roman" panose="02020503050405090304" pitchFamily="18" charset="0"/>
              </a:rPr>
              <a:t>64</a:t>
            </a:r>
            <a:r>
              <a:rPr lang="en-US" altLang="zh-CN" sz="2400" i="1" dirty="0">
                <a:latin typeface="Times New Roman" panose="02020503050405090304" pitchFamily="18" charset="0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Section </a:t>
            </a:r>
            <a:r>
              <a:rPr lang="en-US" altLang="zh-CN" sz="2400" dirty="0">
                <a:latin typeface="Times New Roman" panose="02020503050405090304" pitchFamily="18" charset="0"/>
              </a:rPr>
              <a:t>5.1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Lemma </a:t>
            </a:r>
            <a:r>
              <a:rPr lang="en-US" altLang="zh-CN" sz="2400" dirty="0">
                <a:latin typeface="Times New Roman" panose="02020503050405090304" pitchFamily="18" charset="0"/>
              </a:rPr>
              <a:t>3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crucial in the proof of the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uniqueness of prime factorizations.</a:t>
            </a:r>
            <a:endParaRPr lang="en-US" altLang="zh-CN" sz="2400" dirty="0">
              <a:solidFill>
                <a:srgbClr val="FF0000"/>
              </a:solidFill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6349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00113" y="4104005"/>
            <a:ext cx="7200900" cy="4619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prove the uniqueness of Prime Factorization.</a:t>
            </a:r>
            <a:endParaRPr lang="zh-CN" altLang="en-US" sz="2400" b="1" i="1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6349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sz="2800" b="0" dirty="0">
                <a:latin typeface="Copperplate Gothic Bold" panose="020E0705020206020404" pitchFamily="34" charset="0"/>
              </a:rPr>
              <a:t>Uniqueness of Prime Factorization</a:t>
            </a:r>
            <a:endParaRPr lang="en-US" altLang="zh-CN" sz="2800" b="0" dirty="0">
              <a:latin typeface="Copperplate Gothic Bold" panose="020E0705020206020404" pitchFamily="34" charset="0"/>
            </a:endParaRPr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>
          <a:xfrm>
            <a:off x="526415" y="1268730"/>
            <a:ext cx="8428990" cy="4864100"/>
          </a:xfrm>
        </p:spPr>
        <p:txBody>
          <a:bodyPr vert="horz" wrap="square" lIns="91440" tIns="45720" rIns="91440" bIns="45720" anchor="t" anchorCtr="0"/>
          <a:p>
            <a:r>
              <a:rPr lang="en-US" altLang="zh-C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Uniqueness theorem</a:t>
            </a:r>
            <a:r>
              <a:rPr lang="zh-CN" alt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</a:t>
            </a:r>
            <a:endParaRPr lang="en-US" altLang="zh-CN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prime factorization of a positive integer  where the primes are in </a:t>
            </a:r>
            <a:r>
              <a:rPr lang="en-US" altLang="zh-CN" sz="22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nondecreasing order </a:t>
            </a:r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 </a:t>
            </a:r>
            <a:r>
              <a:rPr lang="en-US" altLang="zh-CN" sz="2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unique</a:t>
            </a:r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endParaRPr lang="en-US" altLang="zh-CN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(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contradiction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Suppose that the positive integer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can be written as a product of primes in two distinct ways:</a:t>
            </a: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400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400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400" dirty="0">
                <a:latin typeface="Times New Roman" panose="02020503050405090304" pitchFamily="18" charset="0"/>
              </a:rPr>
              <a:t>∙∙∙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4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n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2400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2400" baseline="-25000" dirty="0">
                <a:latin typeface="Times New Roman" panose="02020503050405090304" pitchFamily="18" charset="0"/>
              </a:rPr>
              <a:t>2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400" dirty="0">
                <a:latin typeface="Times New Roman" panose="02020503050405090304" pitchFamily="18" charset="0"/>
              </a:rPr>
              <a:t>∙∙∙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24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endParaRPr lang="en-US" altLang="zh-CN" sz="24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spcBef>
                <a:spcPct val="0"/>
              </a:spcBef>
              <a:spcAft>
                <a:spcPts val="600"/>
              </a:spcAft>
            </a:pP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Remove all common primes from the factorizations to get</a:t>
            </a: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spcAft>
                <a:spcPts val="600"/>
              </a:spcAft>
              <a:buNone/>
            </a:pP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spcBef>
                <a:spcPct val="0"/>
              </a:spcBef>
              <a:spcAft>
                <a:spcPts val="600"/>
              </a:spcAft>
            </a:pP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That,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</a:t>
            </a:r>
            <a:r>
              <a:rPr lang="en-US" altLang="zh-CN" sz="20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i1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|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20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j1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q</a:t>
            </a:r>
            <a:r>
              <a:rPr lang="en-US" altLang="zh-CN" sz="20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j2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000" i="1" dirty="0">
                <a:latin typeface="Times New Roman" panose="02020503050405090304" pitchFamily="18" charset="0"/>
              </a:rPr>
              <a:t>∙∙∙q</a:t>
            </a:r>
            <a:r>
              <a:rPr lang="en-US" altLang="zh-CN" sz="2000" i="1" baseline="-25000" dirty="0">
                <a:latin typeface="Times New Roman" panose="02020503050405090304" pitchFamily="18" charset="0"/>
              </a:rPr>
              <a:t>jv</a:t>
            </a:r>
            <a:r>
              <a:rPr lang="en-US" altLang="zh-CN" sz="20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000" i="1" baseline="-25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Lemma </a:t>
            </a:r>
            <a:r>
              <a:rPr lang="en-US" altLang="zh-CN" sz="2000" dirty="0">
                <a:latin typeface="Times New Roman" panose="02020503050405090304" pitchFamily="18" charset="0"/>
              </a:rPr>
              <a:t>3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it follows that 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0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i1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divides 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20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jk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for some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k,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contradicting the assumption that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0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i1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and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sz="20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jk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are distinct primes (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why contradicting?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Hence, there can be at most one factorization of </a:t>
            </a:r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into primes in nondecreasing order.</a:t>
            </a:r>
            <a:endParaRPr lang="en-US" altLang="zh-CN" sz="2400" dirty="0"/>
          </a:p>
        </p:txBody>
      </p:sp>
      <p:pic>
        <p:nvPicPr>
          <p:cNvPr id="64516" name="Picture 11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39975" y="4436745"/>
            <a:ext cx="3730625" cy="238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7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451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b="0" dirty="0">
                <a:latin typeface="Copperplate Gothic Bold" panose="020E0705020206020404" pitchFamily="34" charset="0"/>
              </a:rPr>
              <a:t>Exercise</a:t>
            </a:r>
            <a:endParaRPr lang="en-US" altLang="zh-CN" sz="3200" b="0" dirty="0">
              <a:latin typeface="Copperplate Gothic Bold" panose="020E0705020206020404" pitchFamily="34" charset="0"/>
            </a:endParaRPr>
          </a:p>
        </p:txBody>
      </p:sp>
      <p:sp>
        <p:nvSpPr>
          <p:cNvPr id="65539" name="Rectangle 3"/>
          <p:cNvSpPr>
            <a:spLocks noGrp="1"/>
          </p:cNvSpPr>
          <p:nvPr>
            <p:ph idx="1"/>
          </p:nvPr>
        </p:nvSpPr>
        <p:spPr>
          <a:xfrm>
            <a:off x="561023" y="1089343"/>
            <a:ext cx="8537575" cy="9715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latin typeface="Times New Roman" panose="02020503050405090304" pitchFamily="18" charset="0"/>
              </a:rPr>
              <a:t>Use the Euclidean algorithm to express gcd(1001, 100001) as a linear combination of 1001 and 100001. </a:t>
            </a:r>
            <a:endParaRPr lang="en-US" altLang="zh-CN" sz="2800" dirty="0">
              <a:latin typeface="Times New Roman" panose="02020503050405090304" pitchFamily="18" charset="0"/>
            </a:endParaRPr>
          </a:p>
        </p:txBody>
      </p:sp>
      <p:sp>
        <p:nvSpPr>
          <p:cNvPr id="6554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554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554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55650" y="2001838"/>
            <a:ext cx="7632700" cy="4398963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gcd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(100001, 1001)		100001=99*1001+902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=</a:t>
            </a:r>
            <a:r>
              <a:rPr kumimoji="1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gcd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(1001, 902)		1001=1*902+99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=</a:t>
            </a:r>
            <a:r>
              <a:rPr kumimoji="1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gcd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(902, 99)		902=9*99+11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=</a:t>
            </a:r>
            <a:r>
              <a:rPr kumimoji="1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gcd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(99, 11)		99=9*11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=</a:t>
            </a:r>
            <a:r>
              <a:rPr kumimoji="1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gcd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(11, 0)			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=</a:t>
            </a:r>
            <a:r>
              <a:rPr kumimoji="1" lang="en-US" altLang="zh-CN" sz="22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11</a:t>
            </a:r>
            <a:endParaRPr kumimoji="1" lang="en-US" altLang="zh-CN" sz="2200" b="0" i="0" u="sng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11=902-9*99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=902-9*(1001-902) = -9*1001+10*902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=-9*1001+10*(100001-99*1001)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=</a:t>
            </a:r>
            <a:r>
              <a:rPr kumimoji="1" lang="en-US" altLang="zh-CN" sz="22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10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*100001</a:t>
            </a:r>
            <a:r>
              <a:rPr kumimoji="1" lang="en-US" altLang="zh-CN" sz="22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-999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*1001</a:t>
            </a:r>
            <a:endParaRPr kumimoji="1" lang="zh-CN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38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69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96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118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133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137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149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184" end="2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213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Exercise</a:t>
            </a:r>
            <a:endParaRPr lang="en-US" altLang="zh-CN" dirty="0"/>
          </a:p>
        </p:txBody>
      </p:sp>
      <p:sp>
        <p:nvSpPr>
          <p:cNvPr id="33798" name="Rectangle 3"/>
          <p:cNvSpPr>
            <a:spLocks noGrp="1"/>
          </p:cNvSpPr>
          <p:nvPr>
            <p:ph idx="1"/>
          </p:nvPr>
        </p:nvSpPr>
        <p:spPr>
          <a:ln>
            <a:solidFill>
              <a:schemeClr val="bg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Use the extended Euclidean algorithm to express gcd(1001, 100001) as a linear combination of 1001 and100001. </a:t>
            </a:r>
            <a:endParaRPr lang="zh-CN" altLang="en-US" dirty="0">
              <a:latin typeface="Times New Roman" panose="0202050305040509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258888" y="3213100"/>
          <a:ext cx="6697663" cy="2520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809"/>
                <a:gridCol w="956809"/>
                <a:gridCol w="956809"/>
                <a:gridCol w="956809"/>
                <a:gridCol w="956809"/>
                <a:gridCol w="956809"/>
                <a:gridCol w="956809"/>
              </a:tblGrid>
              <a:tr h="41535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altLang="zh-CN" sz="1800" baseline="-25000" dirty="0" err="1">
                          <a:solidFill>
                            <a:schemeClr val="tx1"/>
                          </a:solidFill>
                        </a:rPr>
                        <a:t>j</a:t>
                      </a:r>
                      <a:endParaRPr lang="zh-CN" altLang="en-US" sz="1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altLang="zh-CN" sz="1800" baseline="-25000" dirty="0">
                          <a:solidFill>
                            <a:schemeClr val="tx1"/>
                          </a:solidFill>
                        </a:rPr>
                        <a:t>j+1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aseline="0" dirty="0">
                          <a:solidFill>
                            <a:schemeClr val="tx1"/>
                          </a:solidFill>
                        </a:rPr>
                        <a:t>q</a:t>
                      </a:r>
                      <a:r>
                        <a:rPr lang="en-US" altLang="zh-CN" sz="1800" baseline="-25000" dirty="0">
                          <a:solidFill>
                            <a:schemeClr val="tx1"/>
                          </a:solidFill>
                        </a:rPr>
                        <a:t>j+1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altLang="zh-CN" sz="1800" baseline="-25000" dirty="0">
                          <a:solidFill>
                            <a:schemeClr val="tx1"/>
                          </a:solidFill>
                        </a:rPr>
                        <a:t>j+2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err="1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altLang="zh-CN" sz="1800" baseline="-25000" dirty="0" err="1">
                          <a:solidFill>
                            <a:schemeClr val="tx1"/>
                          </a:solidFill>
                        </a:rPr>
                        <a:t>j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err="1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1800" baseline="-25000" dirty="0" err="1">
                          <a:solidFill>
                            <a:schemeClr val="tx1"/>
                          </a:solidFill>
                        </a:rPr>
                        <a:t>j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2" marB="45732"/>
                </a:tc>
              </a:tr>
              <a:tr h="42112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100001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1001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99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902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</a:tr>
              <a:tr h="42112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1001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902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99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</a:tr>
              <a:tr h="42112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902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99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11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-99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32" marB="45732"/>
                </a:tc>
              </a:tr>
              <a:tr h="42112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99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11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100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32" marB="45732"/>
                </a:tc>
              </a:tr>
              <a:tr h="42112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32" marB="4573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-999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32" marB="45732"/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395288" y="5902325"/>
            <a:ext cx="8634412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</a:rPr>
              <a:t>gcd(1001, 100001) = gcd(100001, 1001)=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</a:rPr>
              <a:t>10</a:t>
            </a:r>
            <a:r>
              <a:rPr lang="en-US" altLang="zh-CN" sz="2400" dirty="0">
                <a:latin typeface="Times New Roman" panose="02020503050405090304" pitchFamily="18" charset="0"/>
              </a:rPr>
              <a:t>*100001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</a:rPr>
              <a:t>-999</a:t>
            </a:r>
            <a:r>
              <a:rPr lang="en-US" altLang="zh-CN" sz="2400" dirty="0">
                <a:latin typeface="Times New Roman" panose="02020503050405090304" pitchFamily="18" charset="0"/>
              </a:rPr>
              <a:t>*1001=11</a:t>
            </a:r>
            <a:endParaRPr lang="zh-CN" altLang="en-US" sz="240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Homework</a:t>
            </a:r>
            <a:endParaRPr lang="en-US" altLang="zh-CN" dirty="0"/>
          </a:p>
        </p:txBody>
      </p:sp>
      <p:sp>
        <p:nvSpPr>
          <p:cNvPr id="3584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§4.3 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</a:rPr>
              <a:t> 16, 24(a,c,f), 30,40(a,c,e,g,i)</a:t>
            </a:r>
            <a:endParaRPr lang="zh-CN" altLang="en-US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LATEXADDIN" val="\documentclass{article}&#10;\usepackage{amsmath}&#10;\pagestyle{empty}&#10;\begin{document}&#10;&#10;&#10;$ p_{i_1} p_{i_2} \cdots p_{i_u} = q_{j_1}q_{j_2}\cdots q_{j_v}.$&#10;&#10;\end{document}"/>
  <p:tag name="IGUANATEXSIZE" val="20"/>
</p:tagLst>
</file>

<file path=ppt/tags/tag2.xml><?xml version="1.0" encoding="utf-8"?>
<p:tagLst xmlns:p="http://schemas.openxmlformats.org/presentationml/2006/main">
  <p:tag name="KSO_WPP_MARK_KEY" val="8af82202-1a3e-4044-a5e6-ca4a2fe29b83"/>
  <p:tag name="COMMONDATA" val="eyJoZGlkIjoiYjZhMmY1NGQwZjE0MWY4MTkzZjM4YzBiNDA1ZmM3ZDE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12309</Words>
  <Application>WPS 文字</Application>
  <PresentationFormat>全屏显示(4:3)</PresentationFormat>
  <Paragraphs>513</Paragraphs>
  <Slides>30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30</vt:i4>
      </vt:variant>
    </vt:vector>
  </HeadingPairs>
  <TitlesOfParts>
    <vt:vector size="60" baseType="lpstr">
      <vt:lpstr>Arial</vt:lpstr>
      <vt:lpstr>宋体</vt:lpstr>
      <vt:lpstr>Wingdings</vt:lpstr>
      <vt:lpstr>Times New Roman</vt:lpstr>
      <vt:lpstr>汉仪书宋二KW</vt:lpstr>
      <vt:lpstr>Arial Narrow</vt:lpstr>
      <vt:lpstr>Tahoma</vt:lpstr>
      <vt:lpstr>Copperplate Gothic Light</vt:lpstr>
      <vt:lpstr>苹方-简</vt:lpstr>
      <vt:lpstr>Copperplate Gothic Bold</vt:lpstr>
      <vt:lpstr>Symbol</vt:lpstr>
      <vt:lpstr>Kingsoft Sign</vt:lpstr>
      <vt:lpstr>Arial Black</vt:lpstr>
      <vt:lpstr>Cambria Math</vt:lpstr>
      <vt:lpstr>Kingsoft Math</vt:lpstr>
      <vt:lpstr>楷体_GB2312</vt:lpstr>
      <vt:lpstr>汉仪楷体简</vt:lpstr>
      <vt:lpstr>微软雅黑</vt:lpstr>
      <vt:lpstr>汉仪旗黑</vt:lpstr>
      <vt:lpstr>宋体</vt:lpstr>
      <vt:lpstr>Arial Unicode MS</vt:lpstr>
      <vt:lpstr>Wingdings</vt:lpstr>
      <vt:lpstr>Blends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Prime Numbers</vt:lpstr>
      <vt:lpstr>Review </vt:lpstr>
      <vt:lpstr>Fundamental Theorem of Arithmetic</vt:lpstr>
      <vt:lpstr>Theorem 2</vt:lpstr>
      <vt:lpstr>Theorem 3</vt:lpstr>
      <vt:lpstr>Infinitude of Primes</vt:lpstr>
      <vt:lpstr>Mersenne Primes</vt:lpstr>
      <vt:lpstr>Distribution of Primes</vt:lpstr>
      <vt:lpstr>An Application of Primes!</vt:lpstr>
      <vt:lpstr>Greatest Common Divisor</vt:lpstr>
      <vt:lpstr>GCD shortcut</vt:lpstr>
      <vt:lpstr>Relative Primality</vt:lpstr>
      <vt:lpstr>Least Common Multiple</vt:lpstr>
      <vt:lpstr>PowerPoint 演示文稿</vt:lpstr>
      <vt:lpstr>Euclid’s Algorithm for GCD</vt:lpstr>
      <vt:lpstr>Euclid’s Algorithm Example</vt:lpstr>
      <vt:lpstr>Euclid’s Algorithm Pseudocode</vt:lpstr>
      <vt:lpstr>Correctness of Euclidean Algorithm </vt:lpstr>
      <vt:lpstr>Correctness of Euclidean Algorithm </vt:lpstr>
      <vt:lpstr>gcds as Linear Combinations</vt:lpstr>
      <vt:lpstr>Finding gcds as Linear Combinations</vt:lpstr>
      <vt:lpstr>extended Euclidean algorithm</vt:lpstr>
      <vt:lpstr> </vt:lpstr>
      <vt:lpstr>Consequences of Bézout’s Theorem</vt:lpstr>
      <vt:lpstr>Consequences of Bézout’s Theorem</vt:lpstr>
      <vt:lpstr>Consequences of Bézout’s Theorem</vt:lpstr>
      <vt:lpstr>Uniqueness of Prime Factorization</vt:lpstr>
      <vt:lpstr>Exercise</vt:lpstr>
      <vt:lpstr>Exercise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yangjuan</dc:creator>
  <cp:lastModifiedBy>杨娟</cp:lastModifiedBy>
  <cp:revision>342</cp:revision>
  <dcterms:created xsi:type="dcterms:W3CDTF">2025-05-05T13:39:45Z</dcterms:created>
  <dcterms:modified xsi:type="dcterms:W3CDTF">2025-05-05T13:39:45Z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EFB6CE17C4674EA889ADED4F9649CC06</vt:lpwstr>
  </property>
  <property fmtid="{D5CDD505-2E9C-101B-9397-08002B2CF9AE}" pid="3" name="KSOProductBuildVer">
    <vt:lpwstr>2052-6.9.0.8865</vt:lpwstr>
  </property>
</Properties>
</file>