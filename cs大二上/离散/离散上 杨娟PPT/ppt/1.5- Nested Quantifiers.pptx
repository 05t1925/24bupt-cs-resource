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handoutMasterIdLst>
    <p:handoutMasterId r:id="rId82"/>
  </p:handoutMasterIdLst>
  <p:sldIdLst>
    <p:sldId id="897" r:id="rId3"/>
    <p:sldId id="1029" r:id="rId4"/>
    <p:sldId id="896" r:id="rId5"/>
    <p:sldId id="898" r:id="rId6"/>
    <p:sldId id="899" r:id="rId7"/>
    <p:sldId id="385" r:id="rId8"/>
    <p:sldId id="902" r:id="rId9"/>
    <p:sldId id="868" r:id="rId10"/>
    <p:sldId id="869" r:id="rId12"/>
    <p:sldId id="903" r:id="rId13"/>
    <p:sldId id="900" r:id="rId14"/>
    <p:sldId id="964" r:id="rId15"/>
    <p:sldId id="901" r:id="rId16"/>
    <p:sldId id="904" r:id="rId17"/>
    <p:sldId id="965" r:id="rId18"/>
    <p:sldId id="905" r:id="rId19"/>
    <p:sldId id="924" r:id="rId20"/>
    <p:sldId id="925" r:id="rId21"/>
    <p:sldId id="926" r:id="rId22"/>
    <p:sldId id="927" r:id="rId23"/>
    <p:sldId id="928" r:id="rId24"/>
    <p:sldId id="929" r:id="rId25"/>
    <p:sldId id="930" r:id="rId26"/>
    <p:sldId id="931" r:id="rId27"/>
    <p:sldId id="932" r:id="rId28"/>
    <p:sldId id="933" r:id="rId29"/>
    <p:sldId id="906" r:id="rId30"/>
    <p:sldId id="968" r:id="rId31"/>
    <p:sldId id="969" r:id="rId32"/>
    <p:sldId id="907" r:id="rId33"/>
    <p:sldId id="872" r:id="rId34"/>
    <p:sldId id="873" r:id="rId35"/>
    <p:sldId id="874" r:id="rId36"/>
    <p:sldId id="758" r:id="rId37"/>
    <p:sldId id="1030" r:id="rId38"/>
    <p:sldId id="909" r:id="rId39"/>
    <p:sldId id="802" r:id="rId40"/>
    <p:sldId id="803" r:id="rId41"/>
    <p:sldId id="804" r:id="rId42"/>
    <p:sldId id="805" r:id="rId43"/>
    <p:sldId id="806" r:id="rId44"/>
    <p:sldId id="807" r:id="rId45"/>
    <p:sldId id="808" r:id="rId46"/>
    <p:sldId id="809" r:id="rId47"/>
    <p:sldId id="810" r:id="rId48"/>
    <p:sldId id="811" r:id="rId49"/>
    <p:sldId id="812" r:id="rId50"/>
    <p:sldId id="813" r:id="rId51"/>
    <p:sldId id="814" r:id="rId52"/>
    <p:sldId id="815" r:id="rId53"/>
    <p:sldId id="816" r:id="rId54"/>
    <p:sldId id="818" r:id="rId55"/>
    <p:sldId id="817" r:id="rId56"/>
    <p:sldId id="819" r:id="rId57"/>
    <p:sldId id="820" r:id="rId58"/>
    <p:sldId id="821" r:id="rId59"/>
    <p:sldId id="822" r:id="rId60"/>
    <p:sldId id="823" r:id="rId61"/>
    <p:sldId id="956" r:id="rId62"/>
    <p:sldId id="957" r:id="rId63"/>
    <p:sldId id="958" r:id="rId64"/>
    <p:sldId id="959" r:id="rId65"/>
    <p:sldId id="824" r:id="rId66"/>
    <p:sldId id="825" r:id="rId67"/>
    <p:sldId id="826" r:id="rId68"/>
    <p:sldId id="827" r:id="rId69"/>
    <p:sldId id="828" r:id="rId70"/>
    <p:sldId id="961" r:id="rId71"/>
    <p:sldId id="962" r:id="rId72"/>
    <p:sldId id="829" r:id="rId73"/>
    <p:sldId id="963" r:id="rId74"/>
    <p:sldId id="830" r:id="rId75"/>
    <p:sldId id="831" r:id="rId76"/>
    <p:sldId id="1031" r:id="rId77"/>
    <p:sldId id="1032" r:id="rId78"/>
    <p:sldId id="1033" r:id="rId79"/>
    <p:sldId id="1034" r:id="rId80"/>
    <p:sldId id="1035" r:id="rId81"/>
  </p:sldIdLst>
  <p:sldSz cx="9144000" cy="6858000" type="screen4x3"/>
  <p:notesSz cx="6814820" cy="9931400"/>
  <p:custDataLst>
    <p:tags r:id="rId86"/>
  </p:custDataLst>
  <p:defaultTextStyle>
    <a:defPPr>
      <a:defRPr lang="en-US"/>
    </a:defPPr>
    <a:lvl1pPr algn="l" rtl="0" eaLnBrk="0" fontAlgn="base" hangingPunct="0">
      <a:spcBef>
        <a:spcPct val="0"/>
      </a:spcBef>
      <a:spcAft>
        <a:spcPct val="0"/>
      </a:spcAft>
      <a:defRPr kumimoji="1" sz="2400" b="1" i="1" u="sng"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0"/>
      </a:spcBef>
      <a:spcAft>
        <a:spcPct val="0"/>
      </a:spcAft>
      <a:defRPr kumimoji="1" sz="2400" b="1" i="1" u="sng"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0"/>
      </a:spcBef>
      <a:spcAft>
        <a:spcPct val="0"/>
      </a:spcAft>
      <a:defRPr kumimoji="1" sz="2400" b="1" i="1" u="sng"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0"/>
      </a:spcBef>
      <a:spcAft>
        <a:spcPct val="0"/>
      </a:spcAft>
      <a:defRPr kumimoji="1" sz="2400" b="1" i="1" u="sng"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0"/>
      </a:spcBef>
      <a:spcAft>
        <a:spcPct val="0"/>
      </a:spcAft>
      <a:defRPr kumimoji="1" sz="2400" b="1" i="1" u="sng"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kumimoji="1" sz="2400" b="1" i="1" u="sng" kern="1200">
        <a:solidFill>
          <a:schemeClr val="tx1"/>
        </a:solidFill>
        <a:latin typeface="Times New Roman" panose="02020503050405090304" pitchFamily="18" charset="0"/>
        <a:ea typeface="宋体" pitchFamily="2" charset="-122"/>
        <a:cs typeface="+mn-cs"/>
      </a:defRPr>
    </a:lvl6pPr>
    <a:lvl7pPr marL="2743200" algn="l" defTabSz="914400" rtl="0" eaLnBrk="1" latinLnBrk="0" hangingPunct="1">
      <a:defRPr kumimoji="1" sz="2400" b="1" i="1" u="sng" kern="1200">
        <a:solidFill>
          <a:schemeClr val="tx1"/>
        </a:solidFill>
        <a:latin typeface="Times New Roman" panose="02020503050405090304" pitchFamily="18" charset="0"/>
        <a:ea typeface="宋体" pitchFamily="2" charset="-122"/>
        <a:cs typeface="+mn-cs"/>
      </a:defRPr>
    </a:lvl7pPr>
    <a:lvl8pPr marL="3200400" algn="l" defTabSz="914400" rtl="0" eaLnBrk="1" latinLnBrk="0" hangingPunct="1">
      <a:defRPr kumimoji="1" sz="2400" b="1" i="1" u="sng" kern="1200">
        <a:solidFill>
          <a:schemeClr val="tx1"/>
        </a:solidFill>
        <a:latin typeface="Times New Roman" panose="02020503050405090304" pitchFamily="18" charset="0"/>
        <a:ea typeface="宋体" pitchFamily="2" charset="-122"/>
        <a:cs typeface="+mn-cs"/>
      </a:defRPr>
    </a:lvl8pPr>
    <a:lvl9pPr marL="3657600" algn="l" defTabSz="914400" rtl="0" eaLnBrk="1" latinLnBrk="0" hangingPunct="1">
      <a:defRPr kumimoji="1" sz="2400" b="1" i="1" u="sng" kern="1200">
        <a:solidFill>
          <a:schemeClr val="tx1"/>
        </a:solidFill>
        <a:latin typeface="Times New Roman" panose="02020503050405090304" pitchFamily="18" charset="0"/>
        <a:ea typeface="宋体" pitchFamily="2" charset="-122"/>
        <a:cs typeface="+mn-cs"/>
      </a:defRPr>
    </a:lvl9pPr>
  </p:defaultTextStyle>
  <p:extLst>
    <p:ext uri="{EFAFB233-063F-42B5-8137-9DF3F51BA10A}">
      <p15:sldGuideLst xmlns:p15="http://schemas.microsoft.com/office/powerpoint/2012/main">
        <p15:guide id="1" orient="horz" pos="1440" userDrawn="1">
          <p15:clr>
            <a:srgbClr val="A4A3A4"/>
          </p15:clr>
        </p15:guide>
        <p15:guide id="2" pos="4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80"/>
    <a:srgbClr val="003399"/>
    <a:srgbClr val="FF3300"/>
    <a:srgbClr val="336699"/>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4615" autoAdjust="0"/>
    <p:restoredTop sz="86340" autoAdjust="0"/>
  </p:normalViewPr>
  <p:slideViewPr>
    <p:cSldViewPr showGuides="1">
      <p:cViewPr varScale="1">
        <p:scale>
          <a:sx n="95" d="100"/>
          <a:sy n="95" d="100"/>
        </p:scale>
        <p:origin x="1056" y="18"/>
      </p:cViewPr>
      <p:guideLst>
        <p:guide orient="horz" pos="1440"/>
        <p:guide pos="4876"/>
      </p:guideLst>
    </p:cSldViewPr>
  </p:slideViewPr>
  <p:outlineViewPr>
    <p:cViewPr>
      <p:scale>
        <a:sx n="33" d="100"/>
        <a:sy n="33" d="100"/>
      </p:scale>
      <p:origin x="240" y="0"/>
    </p:cViewPr>
  </p:outlin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6" Type="http://schemas.openxmlformats.org/officeDocument/2006/relationships/tags" Target="tags/tag36.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handoutMaster" Target="handoutMasters/handoutMaster1.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52750" cy="496888"/>
          </a:xfrm>
          <a:prstGeom prst="rect">
            <a:avLst/>
          </a:prstGeom>
          <a:noFill/>
          <a:ln w="9525">
            <a:noFill/>
            <a:miter lim="800000"/>
          </a:ln>
          <a:effectLst/>
        </p:spPr>
        <p:txBody>
          <a:bodyPr vert="horz" wrap="square" lIns="92263" tIns="46131" rIns="92263" bIns="46131" numCol="1" anchor="t" anchorCtr="0" compatLnSpc="1"/>
          <a:lstStyle>
            <a:lvl1pPr algn="l" defTabSz="922655" eaLnBrk="0" hangingPunct="0">
              <a:defRPr kumimoji="0" sz="1200" b="0" i="0" u="none">
                <a:ea typeface="宋体" pitchFamily="2" charset="-122"/>
              </a:defRPr>
            </a:lvl1pPr>
          </a:lstStyle>
          <a:p>
            <a:pPr>
              <a:defRPr/>
            </a:pPr>
            <a:endParaRPr lang="zh-CN" altLang="en-US"/>
          </a:p>
        </p:txBody>
      </p:sp>
      <p:sp>
        <p:nvSpPr>
          <p:cNvPr id="17411" name="Rectangle 3"/>
          <p:cNvSpPr>
            <a:spLocks noGrp="1" noChangeArrowheads="1"/>
          </p:cNvSpPr>
          <p:nvPr>
            <p:ph type="dt" sz="quarter" idx="1"/>
          </p:nvPr>
        </p:nvSpPr>
        <p:spPr bwMode="auto">
          <a:xfrm>
            <a:off x="3862388" y="0"/>
            <a:ext cx="2952750" cy="496888"/>
          </a:xfrm>
          <a:prstGeom prst="rect">
            <a:avLst/>
          </a:prstGeom>
          <a:noFill/>
          <a:ln w="9525">
            <a:noFill/>
            <a:miter lim="800000"/>
          </a:ln>
          <a:effectLst/>
        </p:spPr>
        <p:txBody>
          <a:bodyPr vert="horz" wrap="square" lIns="92263" tIns="46131" rIns="92263" bIns="46131" numCol="1" anchor="t" anchorCtr="0" compatLnSpc="1"/>
          <a:lstStyle>
            <a:lvl1pPr algn="r" defTabSz="922655" eaLnBrk="0" hangingPunct="0">
              <a:defRPr kumimoji="0" sz="1200" b="0" i="0" u="none">
                <a:ea typeface="宋体" pitchFamily="2" charset="-122"/>
              </a:defRPr>
            </a:lvl1pPr>
          </a:lstStyle>
          <a:p>
            <a:pPr>
              <a:defRPr/>
            </a:pPr>
            <a:endParaRPr lang="en-US" altLang="zh-CN"/>
          </a:p>
        </p:txBody>
      </p:sp>
      <p:sp>
        <p:nvSpPr>
          <p:cNvPr id="17412" name="Rectangle 4"/>
          <p:cNvSpPr>
            <a:spLocks noGrp="1" noChangeArrowheads="1"/>
          </p:cNvSpPr>
          <p:nvPr>
            <p:ph type="ftr" sz="quarter" idx="2"/>
          </p:nvPr>
        </p:nvSpPr>
        <p:spPr bwMode="auto">
          <a:xfrm>
            <a:off x="0" y="9434513"/>
            <a:ext cx="2952750" cy="496887"/>
          </a:xfrm>
          <a:prstGeom prst="rect">
            <a:avLst/>
          </a:prstGeom>
          <a:noFill/>
          <a:ln w="9525">
            <a:noFill/>
            <a:miter lim="800000"/>
          </a:ln>
          <a:effectLst/>
        </p:spPr>
        <p:txBody>
          <a:bodyPr vert="horz" wrap="square" lIns="92263" tIns="46131" rIns="92263" bIns="46131" numCol="1" anchor="b" anchorCtr="0" compatLnSpc="1"/>
          <a:lstStyle>
            <a:lvl1pPr algn="l" defTabSz="922655" eaLnBrk="0" hangingPunct="0">
              <a:defRPr kumimoji="0" sz="1200" b="0" i="0" u="none">
                <a:ea typeface="宋体" pitchFamily="2" charset="-122"/>
              </a:defRPr>
            </a:lvl1pPr>
          </a:lstStyle>
          <a:p>
            <a:pPr>
              <a:defRPr/>
            </a:pPr>
            <a:endParaRPr lang="zh-CN" altLang="en-US"/>
          </a:p>
        </p:txBody>
      </p:sp>
      <p:sp>
        <p:nvSpPr>
          <p:cNvPr id="17413" name="Rectangle 5"/>
          <p:cNvSpPr>
            <a:spLocks noGrp="1" noChangeArrowheads="1"/>
          </p:cNvSpPr>
          <p:nvPr>
            <p:ph type="sldNum" sz="quarter" idx="3"/>
          </p:nvPr>
        </p:nvSpPr>
        <p:spPr bwMode="auto">
          <a:xfrm>
            <a:off x="3862388" y="9434513"/>
            <a:ext cx="2952750" cy="496887"/>
          </a:xfrm>
          <a:prstGeom prst="rect">
            <a:avLst/>
          </a:prstGeom>
          <a:noFill/>
          <a:ln w="9525">
            <a:noFill/>
            <a:miter lim="800000"/>
          </a:ln>
          <a:effectLst/>
        </p:spPr>
        <p:txBody>
          <a:bodyPr vert="horz" wrap="square" lIns="92263" tIns="46131" rIns="92263" bIns="46131" numCol="1" anchor="b" anchorCtr="0" compatLnSpc="1"/>
          <a:lstStyle>
            <a:lvl1pPr algn="r" defTabSz="922655">
              <a:defRPr kumimoji="0" sz="1200" b="0" i="0" u="none"/>
            </a:lvl1pPr>
          </a:lstStyle>
          <a:p>
            <a:fld id="{5BA4C320-1F8C-40C0-9847-43C9D7FB280F}"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52750" cy="496888"/>
          </a:xfrm>
          <a:prstGeom prst="rect">
            <a:avLst/>
          </a:prstGeom>
          <a:noFill/>
          <a:ln w="9525">
            <a:noFill/>
            <a:miter lim="800000"/>
          </a:ln>
          <a:effectLst/>
        </p:spPr>
        <p:txBody>
          <a:bodyPr vert="horz" wrap="square" lIns="92263" tIns="46131" rIns="92263" bIns="46131" numCol="1" anchor="t" anchorCtr="0" compatLnSpc="1"/>
          <a:lstStyle>
            <a:lvl1pPr algn="l" defTabSz="922655" eaLnBrk="0" hangingPunct="0">
              <a:defRPr kumimoji="0" sz="1200" b="0" i="0" u="none">
                <a:ea typeface="宋体" pitchFamily="2" charset="-122"/>
              </a:defRPr>
            </a:lvl1pPr>
          </a:lstStyle>
          <a:p>
            <a:pPr>
              <a:defRPr/>
            </a:pPr>
            <a:endParaRPr lang="zh-CN" altLang="en-US"/>
          </a:p>
        </p:txBody>
      </p:sp>
      <p:sp>
        <p:nvSpPr>
          <p:cNvPr id="15363" name="Rectangle 3"/>
          <p:cNvSpPr>
            <a:spLocks noGrp="1" noChangeArrowheads="1"/>
          </p:cNvSpPr>
          <p:nvPr>
            <p:ph type="dt" idx="1"/>
          </p:nvPr>
        </p:nvSpPr>
        <p:spPr bwMode="auto">
          <a:xfrm>
            <a:off x="3862388" y="0"/>
            <a:ext cx="2952750" cy="496888"/>
          </a:xfrm>
          <a:prstGeom prst="rect">
            <a:avLst/>
          </a:prstGeom>
          <a:noFill/>
          <a:ln w="9525">
            <a:noFill/>
            <a:miter lim="800000"/>
          </a:ln>
          <a:effectLst/>
        </p:spPr>
        <p:txBody>
          <a:bodyPr vert="horz" wrap="square" lIns="92263" tIns="46131" rIns="92263" bIns="46131" numCol="1" anchor="t" anchorCtr="0" compatLnSpc="1"/>
          <a:lstStyle>
            <a:lvl1pPr algn="r" defTabSz="922655" eaLnBrk="0" hangingPunct="0">
              <a:defRPr kumimoji="0" sz="1200" b="0" i="0" u="none">
                <a:ea typeface="宋体" pitchFamily="2" charset="-122"/>
              </a:defRPr>
            </a:lvl1pPr>
          </a:lstStyle>
          <a:p>
            <a:pPr>
              <a:defRPr/>
            </a:pPr>
            <a:endParaRPr lang="en-US" altLang="zh-CN"/>
          </a:p>
        </p:txBody>
      </p:sp>
      <p:sp>
        <p:nvSpPr>
          <p:cNvPr id="73732" name="Rectangle 4"/>
          <p:cNvSpPr>
            <a:spLocks noGrp="1" noRot="1" noChangeAspect="1" noChangeArrowheads="1" noTextEdit="1"/>
          </p:cNvSpPr>
          <p:nvPr>
            <p:ph type="sldImg" idx="2"/>
          </p:nvPr>
        </p:nvSpPr>
        <p:spPr bwMode="auto">
          <a:xfrm>
            <a:off x="923925" y="744538"/>
            <a:ext cx="4965700" cy="37242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908050" y="4716463"/>
            <a:ext cx="4999038" cy="4470400"/>
          </a:xfrm>
          <a:prstGeom prst="rect">
            <a:avLst/>
          </a:prstGeom>
          <a:noFill/>
          <a:ln w="9525">
            <a:noFill/>
            <a:miter lim="800000"/>
          </a:ln>
          <a:effectLst/>
        </p:spPr>
        <p:txBody>
          <a:bodyPr vert="horz" wrap="square" lIns="92263" tIns="46131" rIns="92263" bIns="46131"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15366" name="Rectangle 6"/>
          <p:cNvSpPr>
            <a:spLocks noGrp="1" noChangeArrowheads="1"/>
          </p:cNvSpPr>
          <p:nvPr>
            <p:ph type="ftr" sz="quarter" idx="4"/>
          </p:nvPr>
        </p:nvSpPr>
        <p:spPr bwMode="auto">
          <a:xfrm>
            <a:off x="0" y="9434513"/>
            <a:ext cx="2952750" cy="496887"/>
          </a:xfrm>
          <a:prstGeom prst="rect">
            <a:avLst/>
          </a:prstGeom>
          <a:noFill/>
          <a:ln w="9525">
            <a:noFill/>
            <a:miter lim="800000"/>
          </a:ln>
          <a:effectLst/>
        </p:spPr>
        <p:txBody>
          <a:bodyPr vert="horz" wrap="square" lIns="92263" tIns="46131" rIns="92263" bIns="46131" numCol="1" anchor="b" anchorCtr="0" compatLnSpc="1"/>
          <a:lstStyle>
            <a:lvl1pPr algn="l" defTabSz="922655" eaLnBrk="0" hangingPunct="0">
              <a:defRPr kumimoji="0" sz="1200" b="0" i="0" u="none">
                <a:ea typeface="宋体" pitchFamily="2" charset="-122"/>
              </a:defRPr>
            </a:lvl1pPr>
          </a:lstStyle>
          <a:p>
            <a:pPr>
              <a:defRPr/>
            </a:pPr>
            <a:endParaRPr lang="en-US" altLang="zh-CN"/>
          </a:p>
        </p:txBody>
      </p:sp>
      <p:sp>
        <p:nvSpPr>
          <p:cNvPr id="15367" name="Rectangle 7"/>
          <p:cNvSpPr>
            <a:spLocks noGrp="1" noChangeArrowheads="1"/>
          </p:cNvSpPr>
          <p:nvPr>
            <p:ph type="sldNum" sz="quarter" idx="5"/>
          </p:nvPr>
        </p:nvSpPr>
        <p:spPr bwMode="auto">
          <a:xfrm>
            <a:off x="3862388" y="9434513"/>
            <a:ext cx="2952750" cy="496887"/>
          </a:xfrm>
          <a:prstGeom prst="rect">
            <a:avLst/>
          </a:prstGeom>
          <a:noFill/>
          <a:ln w="9525">
            <a:noFill/>
            <a:miter lim="800000"/>
          </a:ln>
          <a:effectLst/>
        </p:spPr>
        <p:txBody>
          <a:bodyPr vert="horz" wrap="square" lIns="92263" tIns="46131" rIns="92263" bIns="46131" numCol="1" anchor="b" anchorCtr="0" compatLnSpc="1"/>
          <a:lstStyle>
            <a:lvl1pPr algn="r" defTabSz="922655">
              <a:defRPr kumimoji="0" sz="1200" b="0" i="0" u="none"/>
            </a:lvl1pPr>
          </a:lstStyle>
          <a:p>
            <a:fld id="{CCC79C90-E60D-4B79-8AA4-1F0FD823C116}"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655">
              <a:defRPr kumimoji="1" sz="2400" b="1" i="1" u="sng">
                <a:solidFill>
                  <a:schemeClr val="tx1"/>
                </a:solidFill>
                <a:latin typeface="Times New Roman" panose="02020503050405090304" pitchFamily="18" charset="0"/>
                <a:ea typeface="宋体" pitchFamily="2" charset="-122"/>
              </a:defRPr>
            </a:lvl1pPr>
            <a:lvl2pPr marL="742950" indent="-285750" defTabSz="922655">
              <a:defRPr kumimoji="1" sz="2400" b="1" i="1" u="sng">
                <a:solidFill>
                  <a:schemeClr val="tx1"/>
                </a:solidFill>
                <a:latin typeface="Times New Roman" panose="02020503050405090304" pitchFamily="18" charset="0"/>
                <a:ea typeface="宋体" pitchFamily="2" charset="-122"/>
              </a:defRPr>
            </a:lvl2pPr>
            <a:lvl3pPr marL="1143000" indent="-228600" defTabSz="922655">
              <a:defRPr kumimoji="1" sz="2400" b="1" i="1" u="sng">
                <a:solidFill>
                  <a:schemeClr val="tx1"/>
                </a:solidFill>
                <a:latin typeface="Times New Roman" panose="02020503050405090304" pitchFamily="18" charset="0"/>
                <a:ea typeface="宋体" pitchFamily="2" charset="-122"/>
              </a:defRPr>
            </a:lvl3pPr>
            <a:lvl4pPr marL="1600200" indent="-228600" defTabSz="922655">
              <a:defRPr kumimoji="1" sz="2400" b="1" i="1" u="sng">
                <a:solidFill>
                  <a:schemeClr val="tx1"/>
                </a:solidFill>
                <a:latin typeface="Times New Roman" panose="02020503050405090304" pitchFamily="18" charset="0"/>
                <a:ea typeface="宋体" pitchFamily="2" charset="-122"/>
              </a:defRPr>
            </a:lvl4pPr>
            <a:lvl5pPr marL="2057400" indent="-228600" defTabSz="922655">
              <a:defRPr kumimoji="1" sz="2400" b="1" i="1" u="sng">
                <a:solidFill>
                  <a:schemeClr val="tx1"/>
                </a:solidFill>
                <a:latin typeface="Times New Roman" panose="02020503050405090304" pitchFamily="18" charset="0"/>
                <a:ea typeface="宋体" pitchFamily="2" charset="-122"/>
              </a:defRPr>
            </a:lvl5pPr>
            <a:lvl6pPr marL="25146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BA55C33-7FF2-4ACB-9C07-A93866255057}" type="slidenum">
              <a:rPr kumimoji="0" lang="zh-CN" altLang="en-US" sz="1200" b="0" i="0" u="none"/>
            </a:fld>
            <a:endParaRPr kumimoji="0" lang="en-US" altLang="zh-CN" sz="1200" b="0" i="0" u="none"/>
          </a:p>
        </p:txBody>
      </p:sp>
      <p:sp>
        <p:nvSpPr>
          <p:cNvPr id="74755" name="Rectangle 2"/>
          <p:cNvSpPr>
            <a:spLocks noGrp="1" noRot="1" noChangeAspect="1" noChangeArrowheads="1" noTextEdit="1"/>
          </p:cNvSpPr>
          <p:nvPr>
            <p:ph type="sldImg"/>
          </p:nvPr>
        </p:nvSpPr>
        <p:spPr>
          <a:xfrm>
            <a:off x="923925" y="762000"/>
            <a:ext cx="4973638" cy="3730625"/>
          </a:xfrm>
        </p:spPr>
      </p:sp>
      <p:sp>
        <p:nvSpPr>
          <p:cNvPr id="74756" name="Rectangle 3"/>
          <p:cNvSpPr>
            <a:spLocks noGrp="1" noChangeArrowheads="1"/>
          </p:cNvSpPr>
          <p:nvPr>
            <p:ph type="body" idx="1"/>
          </p:nvPr>
        </p:nvSpPr>
        <p:spPr>
          <a:xfrm>
            <a:off x="906463" y="4748213"/>
            <a:ext cx="5002212" cy="4410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9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655">
              <a:defRPr kumimoji="1" sz="2400" b="1" i="1" u="sng">
                <a:solidFill>
                  <a:schemeClr val="tx1"/>
                </a:solidFill>
                <a:latin typeface="Times New Roman" panose="02020503050405090304" pitchFamily="18" charset="0"/>
                <a:ea typeface="宋体" pitchFamily="2" charset="-122"/>
              </a:defRPr>
            </a:lvl1pPr>
            <a:lvl2pPr marL="742950" indent="-285750" defTabSz="922655">
              <a:defRPr kumimoji="1" sz="2400" b="1" i="1" u="sng">
                <a:solidFill>
                  <a:schemeClr val="tx1"/>
                </a:solidFill>
                <a:latin typeface="Times New Roman" panose="02020503050405090304" pitchFamily="18" charset="0"/>
                <a:ea typeface="宋体" pitchFamily="2" charset="-122"/>
              </a:defRPr>
            </a:lvl2pPr>
            <a:lvl3pPr marL="1143000" indent="-228600" defTabSz="922655">
              <a:defRPr kumimoji="1" sz="2400" b="1" i="1" u="sng">
                <a:solidFill>
                  <a:schemeClr val="tx1"/>
                </a:solidFill>
                <a:latin typeface="Times New Roman" panose="02020503050405090304" pitchFamily="18" charset="0"/>
                <a:ea typeface="宋体" pitchFamily="2" charset="-122"/>
              </a:defRPr>
            </a:lvl3pPr>
            <a:lvl4pPr marL="1600200" indent="-228600" defTabSz="922655">
              <a:defRPr kumimoji="1" sz="2400" b="1" i="1" u="sng">
                <a:solidFill>
                  <a:schemeClr val="tx1"/>
                </a:solidFill>
                <a:latin typeface="Times New Roman" panose="02020503050405090304" pitchFamily="18" charset="0"/>
                <a:ea typeface="宋体" pitchFamily="2" charset="-122"/>
              </a:defRPr>
            </a:lvl4pPr>
            <a:lvl5pPr marL="2057400" indent="-228600" defTabSz="922655">
              <a:defRPr kumimoji="1" sz="2400" b="1" i="1" u="sng">
                <a:solidFill>
                  <a:schemeClr val="tx1"/>
                </a:solidFill>
                <a:latin typeface="Times New Roman" panose="02020503050405090304" pitchFamily="18" charset="0"/>
                <a:ea typeface="宋体" pitchFamily="2" charset="-122"/>
              </a:defRPr>
            </a:lvl5pPr>
            <a:lvl6pPr marL="25146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A561F4D-3779-4A8D-859B-00BD1B4F53B6}" type="slidenum">
              <a:rPr kumimoji="0" lang="zh-CN" altLang="en-US" sz="1200" b="0" i="0" u="none"/>
            </a:fld>
            <a:endParaRPr kumimoji="0" lang="en-US" altLang="zh-CN" sz="1200" b="0" i="0" u="none"/>
          </a:p>
        </p:txBody>
      </p:sp>
      <p:sp>
        <p:nvSpPr>
          <p:cNvPr id="75779" name="Rectangle 2"/>
          <p:cNvSpPr>
            <a:spLocks noGrp="1" noRot="1" noChangeAspect="1" noChangeArrowheads="1" noTextEdit="1"/>
          </p:cNvSpPr>
          <p:nvPr>
            <p:ph type="sldImg"/>
          </p:nvPr>
        </p:nvSpPr>
        <p:spPr>
          <a:xfrm>
            <a:off x="923925" y="762000"/>
            <a:ext cx="4973638" cy="3730625"/>
          </a:xfrm>
        </p:spPr>
      </p:sp>
      <p:sp>
        <p:nvSpPr>
          <p:cNvPr id="75780" name="Rectangle 3"/>
          <p:cNvSpPr>
            <a:spLocks noGrp="1" noChangeArrowheads="1"/>
          </p:cNvSpPr>
          <p:nvPr>
            <p:ph type="body" idx="1"/>
          </p:nvPr>
        </p:nvSpPr>
        <p:spPr>
          <a:xfrm>
            <a:off x="906463" y="4748213"/>
            <a:ext cx="5002212" cy="4410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9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655">
              <a:defRPr kumimoji="1" sz="2400" b="1" i="1" u="sng">
                <a:solidFill>
                  <a:schemeClr val="tx1"/>
                </a:solidFill>
                <a:latin typeface="Times New Roman" panose="02020503050405090304" pitchFamily="18" charset="0"/>
                <a:ea typeface="宋体" pitchFamily="2" charset="-122"/>
              </a:defRPr>
            </a:lvl1pPr>
            <a:lvl2pPr marL="742950" indent="-285750" defTabSz="922655">
              <a:defRPr kumimoji="1" sz="2400" b="1" i="1" u="sng">
                <a:solidFill>
                  <a:schemeClr val="tx1"/>
                </a:solidFill>
                <a:latin typeface="Times New Roman" panose="02020503050405090304" pitchFamily="18" charset="0"/>
                <a:ea typeface="宋体" pitchFamily="2" charset="-122"/>
              </a:defRPr>
            </a:lvl2pPr>
            <a:lvl3pPr marL="1143000" indent="-228600" defTabSz="922655">
              <a:defRPr kumimoji="1" sz="2400" b="1" i="1" u="sng">
                <a:solidFill>
                  <a:schemeClr val="tx1"/>
                </a:solidFill>
                <a:latin typeface="Times New Roman" panose="02020503050405090304" pitchFamily="18" charset="0"/>
                <a:ea typeface="宋体" pitchFamily="2" charset="-122"/>
              </a:defRPr>
            </a:lvl3pPr>
            <a:lvl4pPr marL="1600200" indent="-228600" defTabSz="922655">
              <a:defRPr kumimoji="1" sz="2400" b="1" i="1" u="sng">
                <a:solidFill>
                  <a:schemeClr val="tx1"/>
                </a:solidFill>
                <a:latin typeface="Times New Roman" panose="02020503050405090304" pitchFamily="18" charset="0"/>
                <a:ea typeface="宋体" pitchFamily="2" charset="-122"/>
              </a:defRPr>
            </a:lvl4pPr>
            <a:lvl5pPr marL="2057400" indent="-228600" defTabSz="922655">
              <a:defRPr kumimoji="1" sz="2400" b="1" i="1" u="sng">
                <a:solidFill>
                  <a:schemeClr val="tx1"/>
                </a:solidFill>
                <a:latin typeface="Times New Roman" panose="02020503050405090304" pitchFamily="18" charset="0"/>
                <a:ea typeface="宋体" pitchFamily="2" charset="-122"/>
              </a:defRPr>
            </a:lvl5pPr>
            <a:lvl6pPr marL="25146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0CB0CFA-8A26-4C46-B388-D0A045E09F6A}" type="slidenum">
              <a:rPr kumimoji="0" lang="zh-CN" altLang="en-US" sz="1200" b="0" i="0" u="none"/>
            </a:fld>
            <a:endParaRPr kumimoji="0" lang="en-US" altLang="zh-CN" sz="1200" b="0" i="0" u="none"/>
          </a:p>
        </p:txBody>
      </p:sp>
      <p:sp>
        <p:nvSpPr>
          <p:cNvPr id="76803" name="Rectangle 2"/>
          <p:cNvSpPr>
            <a:spLocks noGrp="1" noRot="1" noChangeAspect="1" noChangeArrowheads="1" noTextEdit="1"/>
          </p:cNvSpPr>
          <p:nvPr>
            <p:ph type="sldImg"/>
          </p:nvPr>
        </p:nvSpPr>
        <p:spPr>
          <a:xfrm>
            <a:off x="923925" y="762000"/>
            <a:ext cx="4973638" cy="3730625"/>
          </a:xfrm>
        </p:spPr>
      </p:sp>
      <p:sp>
        <p:nvSpPr>
          <p:cNvPr id="76804" name="Rectangle 3"/>
          <p:cNvSpPr>
            <a:spLocks noGrp="1" noChangeArrowheads="1"/>
          </p:cNvSpPr>
          <p:nvPr>
            <p:ph type="body" idx="1"/>
          </p:nvPr>
        </p:nvSpPr>
        <p:spPr>
          <a:xfrm>
            <a:off x="906463" y="4748213"/>
            <a:ext cx="5002212" cy="4410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zh-CN">
                <a:latin typeface="Arial" panose="020B0604020202090204" pitchFamily="34" charset="0"/>
              </a:rPr>
              <a:t>No matter how small you choose epsilon, you can always find a region close to a such that,</a:t>
            </a:r>
            <a:endParaRPr lang="en-GB" altLang="zh-CN">
              <a:latin typeface="Arial" panose="020B0604020202090204" pitchFamily="34" charset="0"/>
            </a:endParaRPr>
          </a:p>
          <a:p>
            <a:r>
              <a:rPr lang="en-GB" altLang="zh-CN">
                <a:latin typeface="Arial" panose="020B0604020202090204" pitchFamily="34" charset="0"/>
              </a:rPr>
              <a:t>for all x in this region, f(x) is removed from epsilon by at most epsilon.</a:t>
            </a:r>
            <a:endParaRPr lang="en-US" altLang="zh-CN">
              <a:latin typeface="Arial" panose="020B060402020209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655">
              <a:defRPr kumimoji="1" sz="2400" b="1" i="1" u="sng">
                <a:solidFill>
                  <a:schemeClr val="tx1"/>
                </a:solidFill>
                <a:latin typeface="Times New Roman" panose="02020503050405090304" pitchFamily="18" charset="0"/>
                <a:ea typeface="宋体" pitchFamily="2" charset="-122"/>
              </a:defRPr>
            </a:lvl1pPr>
            <a:lvl2pPr marL="742950" indent="-285750" defTabSz="922655">
              <a:defRPr kumimoji="1" sz="2400" b="1" i="1" u="sng">
                <a:solidFill>
                  <a:schemeClr val="tx1"/>
                </a:solidFill>
                <a:latin typeface="Times New Roman" panose="02020503050405090304" pitchFamily="18" charset="0"/>
                <a:ea typeface="宋体" pitchFamily="2" charset="-122"/>
              </a:defRPr>
            </a:lvl2pPr>
            <a:lvl3pPr marL="1143000" indent="-228600" defTabSz="922655">
              <a:defRPr kumimoji="1" sz="2400" b="1" i="1" u="sng">
                <a:solidFill>
                  <a:schemeClr val="tx1"/>
                </a:solidFill>
                <a:latin typeface="Times New Roman" panose="02020503050405090304" pitchFamily="18" charset="0"/>
                <a:ea typeface="宋体" pitchFamily="2" charset="-122"/>
              </a:defRPr>
            </a:lvl3pPr>
            <a:lvl4pPr marL="1600200" indent="-228600" defTabSz="922655">
              <a:defRPr kumimoji="1" sz="2400" b="1" i="1" u="sng">
                <a:solidFill>
                  <a:schemeClr val="tx1"/>
                </a:solidFill>
                <a:latin typeface="Times New Roman" panose="02020503050405090304" pitchFamily="18" charset="0"/>
                <a:ea typeface="宋体" pitchFamily="2" charset="-122"/>
              </a:defRPr>
            </a:lvl4pPr>
            <a:lvl5pPr marL="2057400" indent="-228600" defTabSz="922655">
              <a:defRPr kumimoji="1" sz="2400" b="1" i="1" u="sng">
                <a:solidFill>
                  <a:schemeClr val="tx1"/>
                </a:solidFill>
                <a:latin typeface="Times New Roman" panose="02020503050405090304" pitchFamily="18" charset="0"/>
                <a:ea typeface="宋体" pitchFamily="2" charset="-122"/>
              </a:defRPr>
            </a:lvl5pPr>
            <a:lvl6pPr marL="25146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E88375A-05E8-466B-A69B-74311303F314}" type="slidenum">
              <a:rPr kumimoji="0" lang="zh-CN" altLang="en-US" sz="1200" b="0" i="0" u="none"/>
            </a:fld>
            <a:endParaRPr kumimoji="0" lang="en-US" altLang="zh-CN" sz="1200" b="0" i="0" u="none"/>
          </a:p>
        </p:txBody>
      </p:sp>
      <p:sp>
        <p:nvSpPr>
          <p:cNvPr id="77827" name="Rectangle 2"/>
          <p:cNvSpPr>
            <a:spLocks noGrp="1" noRot="1" noChangeAspect="1" noChangeArrowheads="1" noTextEdit="1"/>
          </p:cNvSpPr>
          <p:nvPr>
            <p:ph type="sldImg"/>
          </p:nvPr>
        </p:nvSpPr>
        <p:spPr>
          <a:xfrm>
            <a:off x="923925" y="762000"/>
            <a:ext cx="4973638" cy="3730625"/>
          </a:xfrm>
        </p:spPr>
      </p:sp>
      <p:sp>
        <p:nvSpPr>
          <p:cNvPr id="77828" name="Rectangle 3"/>
          <p:cNvSpPr>
            <a:spLocks noGrp="1" noChangeArrowheads="1"/>
          </p:cNvSpPr>
          <p:nvPr>
            <p:ph type="body" idx="1"/>
          </p:nvPr>
        </p:nvSpPr>
        <p:spPr>
          <a:xfrm>
            <a:off x="906463" y="4748213"/>
            <a:ext cx="5002212" cy="4410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90204" pitchFamily="34" charset="0"/>
              </a:rPr>
              <a:t>(Chalkboard.) Another way to see why the order of quantifiers matters is to expand out the definitions of FORALL and EXISTS in terms of AND and OR.  For example, suppose the universe of discourse just consists of two objects a and b.  Now, consider some predicate P(x,y).  </a:t>
            </a:r>
            <a:endParaRPr lang="en-US" altLang="zh-CN">
              <a:latin typeface="Arial" panose="020B0604020202090204" pitchFamily="34" charset="0"/>
            </a:endParaRPr>
          </a:p>
          <a:p>
            <a:r>
              <a:rPr lang="en-US" altLang="zh-CN">
                <a:latin typeface="Arial" panose="020B0604020202090204" pitchFamily="34" charset="0"/>
              </a:rPr>
              <a:t>Then,</a:t>
            </a:r>
            <a:endParaRPr lang="en-US" altLang="zh-CN">
              <a:latin typeface="Arial" panose="020B0604020202090204" pitchFamily="34" charset="0"/>
            </a:endParaRPr>
          </a:p>
          <a:p>
            <a:r>
              <a:rPr lang="en-US" altLang="zh-CN">
                <a:latin typeface="Arial" panose="020B0604020202090204" pitchFamily="34" charset="0"/>
              </a:rPr>
              <a:t>        FORALL x EXISTS y P(x,y) </a:t>
            </a:r>
            <a:r>
              <a:rPr lang="en-US" altLang="zh-CN">
                <a:latin typeface="Arial" panose="020B0604020202090204" pitchFamily="34" charset="0"/>
                <a:sym typeface="Wingdings" panose="05000000000000000000" pitchFamily="2" charset="2"/>
              </a:rPr>
              <a:t></a:t>
            </a:r>
            <a:r>
              <a:rPr lang="en-US" altLang="zh-CN">
                <a:latin typeface="Arial" panose="020B0604020202090204" pitchFamily="34" charset="0"/>
              </a:rPr>
              <a:t> (EXISTS y P(a,y)) /\ (EXISTS y P(b,y)) </a:t>
            </a:r>
            <a:endParaRPr lang="en-US" altLang="zh-CN">
              <a:latin typeface="Arial" panose="020B0604020202090204" pitchFamily="34" charset="0"/>
            </a:endParaRPr>
          </a:p>
          <a:p>
            <a:r>
              <a:rPr lang="en-US" altLang="zh-CN">
                <a:latin typeface="Arial" panose="020B0604020202090204" pitchFamily="34" charset="0"/>
              </a:rPr>
              <a:t>            </a:t>
            </a:r>
            <a:r>
              <a:rPr lang="en-US" altLang="zh-CN">
                <a:latin typeface="Arial" panose="020B0604020202090204" pitchFamily="34" charset="0"/>
                <a:sym typeface="Wingdings" panose="05000000000000000000" pitchFamily="2" charset="2"/>
              </a:rPr>
              <a:t> </a:t>
            </a:r>
            <a:r>
              <a:rPr lang="en-US" altLang="zh-CN">
                <a:latin typeface="Arial" panose="020B0604020202090204" pitchFamily="34" charset="0"/>
              </a:rPr>
              <a:t>(P(a,a) \/ P(a,b)) /\ (P(b,a) \/ P(b,b)).  </a:t>
            </a:r>
            <a:endParaRPr lang="en-US" altLang="zh-CN">
              <a:latin typeface="Arial" panose="020B0604020202090204" pitchFamily="34" charset="0"/>
            </a:endParaRPr>
          </a:p>
          <a:p>
            <a:endParaRPr lang="en-US" altLang="zh-CN">
              <a:latin typeface="Arial" panose="020B0604020202090204" pitchFamily="34" charset="0"/>
            </a:endParaRPr>
          </a:p>
          <a:p>
            <a:r>
              <a:rPr lang="en-US" altLang="zh-CN">
                <a:latin typeface="Arial" panose="020B0604020202090204" pitchFamily="34" charset="0"/>
              </a:rPr>
              <a:t>In contrast, </a:t>
            </a:r>
            <a:endParaRPr lang="en-US" altLang="zh-CN">
              <a:latin typeface="Arial" panose="020B0604020202090204" pitchFamily="34" charset="0"/>
            </a:endParaRPr>
          </a:p>
          <a:p>
            <a:endParaRPr lang="en-US" altLang="zh-CN">
              <a:latin typeface="Arial" panose="020B0604020202090204" pitchFamily="34" charset="0"/>
            </a:endParaRPr>
          </a:p>
          <a:p>
            <a:r>
              <a:rPr lang="en-US" altLang="zh-CN">
                <a:latin typeface="Arial" panose="020B0604020202090204" pitchFamily="34" charset="0"/>
              </a:rPr>
              <a:t>       EXISTS y FORALL x P(x,y) </a:t>
            </a:r>
            <a:r>
              <a:rPr lang="en-US" altLang="zh-CN">
                <a:latin typeface="Arial" panose="020B0604020202090204" pitchFamily="34" charset="0"/>
                <a:sym typeface="Wingdings" panose="05000000000000000000" pitchFamily="2" charset="2"/>
              </a:rPr>
              <a:t></a:t>
            </a:r>
            <a:r>
              <a:rPr lang="en-US" altLang="zh-CN">
                <a:latin typeface="Arial" panose="020B0604020202090204" pitchFamily="34" charset="0"/>
              </a:rPr>
              <a:t> (FORALL x P(x,a)) \/ (FORALL x P(x,b)) </a:t>
            </a:r>
            <a:endParaRPr lang="en-US" altLang="zh-CN">
              <a:latin typeface="Arial" panose="020B0604020202090204" pitchFamily="34" charset="0"/>
            </a:endParaRPr>
          </a:p>
          <a:p>
            <a:r>
              <a:rPr lang="en-US" altLang="zh-CN">
                <a:latin typeface="Arial" panose="020B0604020202090204" pitchFamily="34" charset="0"/>
              </a:rPr>
              <a:t>             </a:t>
            </a:r>
            <a:r>
              <a:rPr lang="en-US" altLang="zh-CN">
                <a:latin typeface="Arial" panose="020B0604020202090204" pitchFamily="34" charset="0"/>
                <a:sym typeface="Wingdings" panose="05000000000000000000" pitchFamily="2" charset="2"/>
              </a:rPr>
              <a:t></a:t>
            </a:r>
            <a:r>
              <a:rPr lang="en-US" altLang="zh-CN">
                <a:latin typeface="Arial" panose="020B0604020202090204" pitchFamily="34" charset="0"/>
              </a:rPr>
              <a:t> (P(a,a) /\ P(b,a)) \/ (P(a,b) /\ P(b,b)).</a:t>
            </a:r>
            <a:endParaRPr lang="en-US" altLang="zh-CN">
              <a:latin typeface="Arial" panose="020B0604020202090204" pitchFamily="34" charset="0"/>
            </a:endParaRPr>
          </a:p>
          <a:p>
            <a:endParaRPr lang="en-US" altLang="zh-CN">
              <a:latin typeface="Arial" panose="020B0604020202090204" pitchFamily="34" charset="0"/>
            </a:endParaRPr>
          </a:p>
          <a:p>
            <a:r>
              <a:rPr lang="en-US" altLang="zh-CN">
                <a:latin typeface="Arial" panose="020B0604020202090204" pitchFamily="34" charset="0"/>
              </a:rPr>
              <a:t>To see that these two are inequivalent, suppose only P(a,a) and P(b,b) are true.  Then, the first proposition (with the FORALL first) is true, but, the second proposition (with the EXISTS first) is true.  Students can come up with this counterexample in-class as an exercise.</a:t>
            </a:r>
            <a:endParaRPr lang="en-US" altLang="zh-CN">
              <a:latin typeface="Arial" panose="020B060402020209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655">
              <a:defRPr kumimoji="1" sz="2400" b="1" i="1" u="sng">
                <a:solidFill>
                  <a:schemeClr val="tx1"/>
                </a:solidFill>
                <a:latin typeface="Times New Roman" panose="02020503050405090304" pitchFamily="18" charset="0"/>
                <a:ea typeface="宋体" pitchFamily="2" charset="-122"/>
              </a:defRPr>
            </a:lvl1pPr>
            <a:lvl2pPr marL="742950" indent="-285750" defTabSz="922655">
              <a:defRPr kumimoji="1" sz="2400" b="1" i="1" u="sng">
                <a:solidFill>
                  <a:schemeClr val="tx1"/>
                </a:solidFill>
                <a:latin typeface="Times New Roman" panose="02020503050405090304" pitchFamily="18" charset="0"/>
                <a:ea typeface="宋体" pitchFamily="2" charset="-122"/>
              </a:defRPr>
            </a:lvl2pPr>
            <a:lvl3pPr marL="1143000" indent="-228600" defTabSz="922655">
              <a:defRPr kumimoji="1" sz="2400" b="1" i="1" u="sng">
                <a:solidFill>
                  <a:schemeClr val="tx1"/>
                </a:solidFill>
                <a:latin typeface="Times New Roman" panose="02020503050405090304" pitchFamily="18" charset="0"/>
                <a:ea typeface="宋体" pitchFamily="2" charset="-122"/>
              </a:defRPr>
            </a:lvl3pPr>
            <a:lvl4pPr marL="1600200" indent="-228600" defTabSz="922655">
              <a:defRPr kumimoji="1" sz="2400" b="1" i="1" u="sng">
                <a:solidFill>
                  <a:schemeClr val="tx1"/>
                </a:solidFill>
                <a:latin typeface="Times New Roman" panose="02020503050405090304" pitchFamily="18" charset="0"/>
                <a:ea typeface="宋体" pitchFamily="2" charset="-122"/>
              </a:defRPr>
            </a:lvl4pPr>
            <a:lvl5pPr marL="2057400" indent="-228600" defTabSz="922655">
              <a:defRPr kumimoji="1" sz="2400" b="1" i="1" u="sng">
                <a:solidFill>
                  <a:schemeClr val="tx1"/>
                </a:solidFill>
                <a:latin typeface="Times New Roman" panose="02020503050405090304" pitchFamily="18" charset="0"/>
                <a:ea typeface="宋体" pitchFamily="2" charset="-122"/>
              </a:defRPr>
            </a:lvl5pPr>
            <a:lvl6pPr marL="25146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defTabSz="922655"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11A0811-3D04-4934-A62C-0A7DFF1364BB}" type="slidenum">
              <a:rPr kumimoji="0" lang="zh-CN" altLang="en-US" sz="1200" b="0" i="0" u="none"/>
            </a:fld>
            <a:endParaRPr kumimoji="0" lang="en-US" altLang="zh-CN" sz="1200" b="0" i="0" u="none"/>
          </a:p>
        </p:txBody>
      </p:sp>
      <p:sp>
        <p:nvSpPr>
          <p:cNvPr id="78851" name="Rectangle 2"/>
          <p:cNvSpPr>
            <a:spLocks noGrp="1" noRot="1" noChangeAspect="1" noChangeArrowheads="1" noTextEdit="1"/>
          </p:cNvSpPr>
          <p:nvPr>
            <p:ph type="sldImg"/>
          </p:nvPr>
        </p:nvSpPr>
        <p:spPr>
          <a:xfrm>
            <a:off x="925513" y="744538"/>
            <a:ext cx="4965700" cy="3724275"/>
          </a:xfrm>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9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17" descr="attac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52600" y="533400"/>
            <a:ext cx="5905500"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2"/>
          <p:cNvGrpSpPr/>
          <p:nvPr/>
        </p:nvGrpSpPr>
        <p:grpSpPr bwMode="auto">
          <a:xfrm>
            <a:off x="0" y="2438400"/>
            <a:ext cx="9009063" cy="1052513"/>
            <a:chOff x="0" y="1536"/>
            <a:chExt cx="5675" cy="663"/>
          </a:xfrm>
        </p:grpSpPr>
        <p:grpSp>
          <p:nvGrpSpPr>
            <p:cNvPr id="6" name="Group 3"/>
            <p:cNvGrpSpPr/>
            <p:nvPr/>
          </p:nvGrpSpPr>
          <p:grpSpPr bwMode="auto">
            <a:xfrm>
              <a:off x="185" y="1604"/>
              <a:ext cx="449" cy="299"/>
              <a:chOff x="720" y="336"/>
              <a:chExt cx="624" cy="432"/>
            </a:xfrm>
          </p:grpSpPr>
          <p:sp>
            <p:nvSpPr>
              <p:cNvPr id="13"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defRPr/>
                </a:pPr>
                <a:endParaRPr lang="zh-CN" altLang="en-US"/>
              </a:p>
            </p:txBody>
          </p:sp>
          <p:sp>
            <p:nvSpPr>
              <p:cNvPr id="14"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defRPr/>
                </a:pPr>
                <a:endParaRPr lang="zh-CN" altLang="en-US"/>
              </a:p>
            </p:txBody>
          </p:sp>
        </p:grpSp>
        <p:grpSp>
          <p:nvGrpSpPr>
            <p:cNvPr id="7" name="Group 6"/>
            <p:cNvGrpSpPr/>
            <p:nvPr/>
          </p:nvGrpSpPr>
          <p:grpSpPr bwMode="auto">
            <a:xfrm>
              <a:off x="263" y="1870"/>
              <a:ext cx="466" cy="299"/>
              <a:chOff x="912" y="2640"/>
              <a:chExt cx="672" cy="432"/>
            </a:xfrm>
          </p:grpSpPr>
          <p:sp>
            <p:nvSpPr>
              <p:cNvPr id="11"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defRPr/>
                </a:pPr>
                <a:endParaRPr lang="zh-CN" altLang="en-US"/>
              </a:p>
            </p:txBody>
          </p:sp>
          <p:sp>
            <p:nvSpPr>
              <p:cNvPr id="12"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defRPr/>
                </a:pPr>
                <a:endParaRPr lang="zh-CN" altLang="en-US"/>
              </a:p>
            </p:txBody>
          </p:sp>
        </p:grpSp>
        <p:sp>
          <p:nvSpPr>
            <p:cNvPr id="8"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defRPr/>
              </a:pPr>
              <a:endParaRPr lang="zh-CN" altLang="en-US"/>
            </a:p>
          </p:txBody>
        </p:sp>
        <p:sp>
          <p:nvSpPr>
            <p:cNvPr id="9"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defRPr/>
              </a:pPr>
              <a:endParaRPr lang="zh-CN" altLang="en-US"/>
            </a:p>
          </p:txBody>
        </p:sp>
        <p:sp>
          <p:nvSpPr>
            <p:cNvPr id="10"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defRPr/>
              </a:pPr>
              <a:endParaRPr lang="zh-CN" altLang="en-US"/>
            </a:p>
          </p:txBody>
        </p:sp>
      </p:grpSp>
      <p:sp>
        <p:nvSpPr>
          <p:cNvPr id="15" name="Text Box 18"/>
          <p:cNvSpPr txBox="1">
            <a:spLocks noChangeArrowheads="1"/>
          </p:cNvSpPr>
          <p:nvPr userDrawn="1"/>
        </p:nvSpPr>
        <p:spPr bwMode="auto">
          <a:xfrm>
            <a:off x="2447925" y="4581525"/>
            <a:ext cx="5756275" cy="1643063"/>
          </a:xfrm>
          <a:prstGeom prst="rect">
            <a:avLst/>
          </a:prstGeom>
          <a:noFill/>
          <a:ln>
            <a:noFill/>
          </a:ln>
        </p:spPr>
        <p:txBody>
          <a:bodyPr wrap="none">
            <a:spAutoFit/>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r" eaLnBrk="1" hangingPunct="1">
              <a:spcBef>
                <a:spcPct val="20000"/>
              </a:spcBef>
              <a:buClr>
                <a:schemeClr val="folHlink"/>
              </a:buClr>
              <a:buSzPct val="60000"/>
              <a:buFont typeface="Wingdings" panose="05000000000000000000" pitchFamily="2" charset="2"/>
              <a:buNone/>
              <a:defRPr/>
            </a:pPr>
            <a:r>
              <a:rPr lang="en-US" altLang="zh-CN" b="0" i="0" u="none" dirty="0">
                <a:solidFill>
                  <a:schemeClr val="folHlink"/>
                </a:solidFill>
                <a:latin typeface="Copperplate Gothic Light" panose="020E0507020206020404" pitchFamily="34" charset="0"/>
              </a:rPr>
              <a:t>Yang Juan</a:t>
            </a:r>
            <a:endParaRPr lang="en-US" altLang="zh-CN" b="0" i="0" u="none" dirty="0">
              <a:solidFill>
                <a:schemeClr val="folHlink"/>
              </a:solidFill>
              <a:latin typeface="Copperplate Gothic Light" panose="020E0507020206020404" pitchFamily="34" charset="0"/>
            </a:endParaRPr>
          </a:p>
          <a:p>
            <a:pPr algn="r" eaLnBrk="1" hangingPunct="1">
              <a:spcBef>
                <a:spcPct val="20000"/>
              </a:spcBef>
              <a:buClr>
                <a:schemeClr val="folHlink"/>
              </a:buClr>
              <a:buSzPct val="60000"/>
              <a:buFont typeface="Wingdings" panose="05000000000000000000" pitchFamily="2" charset="2"/>
              <a:buNone/>
              <a:defRPr/>
            </a:pPr>
            <a:r>
              <a:rPr lang="en-US" altLang="zh-CN" sz="1600" b="0" i="0" u="none" dirty="0">
                <a:solidFill>
                  <a:srgbClr val="009999"/>
                </a:solidFill>
              </a:rPr>
              <a:t>yangjuan@bupt.edu.cn</a:t>
            </a:r>
            <a:endParaRPr lang="en-US" altLang="zh-CN" sz="1600" b="0" i="0" u="none" dirty="0">
              <a:solidFill>
                <a:srgbClr val="009999"/>
              </a:solidFill>
            </a:endParaRPr>
          </a:p>
          <a:p>
            <a:pPr algn="r" eaLnBrk="1" hangingPunct="1">
              <a:spcBef>
                <a:spcPct val="20000"/>
              </a:spcBef>
              <a:buClr>
                <a:schemeClr val="folHlink"/>
              </a:buClr>
              <a:buSzPct val="60000"/>
              <a:buFont typeface="Wingdings" panose="05000000000000000000" pitchFamily="2" charset="2"/>
              <a:buNone/>
              <a:defRPr/>
            </a:pPr>
            <a:endParaRPr lang="en-US" altLang="zh-CN" sz="1600" b="0" i="0" u="none" dirty="0">
              <a:solidFill>
                <a:srgbClr val="009999"/>
              </a:solidFill>
              <a:latin typeface="Tahoma" panose="020B0604030504040204" pitchFamily="34" charset="0"/>
            </a:endParaRPr>
          </a:p>
          <a:p>
            <a:pPr algn="r" eaLnBrk="1" hangingPunct="1">
              <a:spcBef>
                <a:spcPct val="20000"/>
              </a:spcBef>
              <a:buClr>
                <a:schemeClr val="folHlink"/>
              </a:buClr>
              <a:buSzPct val="60000"/>
              <a:buFont typeface="Wingdings" panose="05000000000000000000" pitchFamily="2" charset="2"/>
              <a:buNone/>
              <a:defRPr/>
            </a:pPr>
            <a:r>
              <a:rPr lang="en-US" altLang="zh-CN" sz="1600" b="0" i="0" u="none" dirty="0">
                <a:solidFill>
                  <a:srgbClr val="009999"/>
                </a:solidFill>
                <a:latin typeface="Copperplate Gothic Light" panose="020E0507020206020404" pitchFamily="34" charset="0"/>
              </a:rPr>
              <a:t>School of Computer Science</a:t>
            </a:r>
            <a:endParaRPr lang="en-US" altLang="zh-CN" sz="1600" b="0" i="0" u="none" dirty="0">
              <a:solidFill>
                <a:srgbClr val="009999"/>
              </a:solidFill>
              <a:latin typeface="Copperplate Gothic Light" panose="020E0507020206020404" pitchFamily="34" charset="0"/>
            </a:endParaRPr>
          </a:p>
          <a:p>
            <a:pPr algn="r" eaLnBrk="1" hangingPunct="1">
              <a:spcBef>
                <a:spcPct val="20000"/>
              </a:spcBef>
              <a:buClr>
                <a:schemeClr val="folHlink"/>
              </a:buClr>
              <a:buSzPct val="60000"/>
              <a:buFont typeface="Wingdings" panose="05000000000000000000" pitchFamily="2" charset="2"/>
              <a:buNone/>
              <a:defRPr/>
            </a:pPr>
            <a:r>
              <a:rPr lang="en-US" altLang="zh-CN" sz="1600" b="0" i="0" u="none" dirty="0">
                <a:solidFill>
                  <a:srgbClr val="009999"/>
                </a:solidFill>
                <a:latin typeface="Copperplate Gothic Light" panose="020E0507020206020404" pitchFamily="34" charset="0"/>
              </a:rPr>
              <a:t>Beijing University of Posts &amp; Telecommunications</a:t>
            </a:r>
            <a:endParaRPr lang="zh-CN" altLang="en-US" sz="1600" b="0" i="0" u="none" dirty="0"/>
          </a:p>
        </p:txBody>
      </p:sp>
      <p:sp>
        <p:nvSpPr>
          <p:cNvPr id="153612" name="Rectangle 12"/>
          <p:cNvSpPr>
            <a:spLocks noGrp="1" noChangeArrowheads="1"/>
          </p:cNvSpPr>
          <p:nvPr>
            <p:ph type="ctrTitle"/>
          </p:nvPr>
        </p:nvSpPr>
        <p:spPr>
          <a:xfrm>
            <a:off x="990600" y="1828800"/>
            <a:ext cx="7772400" cy="1143000"/>
          </a:xfrm>
        </p:spPr>
        <p:txBody>
          <a:bodyPr/>
          <a:lstStyle>
            <a:lvl1pPr>
              <a:defRPr>
                <a:latin typeface="Copperplate Gothic Bold" panose="020E0705020206020404" pitchFamily="34" charset="0"/>
              </a:defRPr>
            </a:lvl1pPr>
          </a:lstStyle>
          <a:p>
            <a:r>
              <a:rPr lang="zh-CN" altLang="en-US"/>
              <a:t>单击此处编辑母版标题样式</a:t>
            </a:r>
            <a:endParaRPr lang="zh-CN" altLang="en-US"/>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dirty="0"/>
              <a:t>单击此处编辑母版副标题样式</a:t>
            </a:r>
            <a:endParaRPr lang="zh-CN" altLang="en-US" dirty="0"/>
          </a:p>
        </p:txBody>
      </p:sp>
      <p:sp>
        <p:nvSpPr>
          <p:cNvPr id="16" name="Rectangle 14"/>
          <p:cNvSpPr>
            <a:spLocks noGrp="1" noChangeArrowheads="1"/>
          </p:cNvSpPr>
          <p:nvPr>
            <p:ph type="dt" sz="half" idx="10"/>
          </p:nvPr>
        </p:nvSpPr>
        <p:spPr>
          <a:xfrm>
            <a:off x="990600" y="6248400"/>
            <a:ext cx="1905000" cy="457200"/>
          </a:xfrm>
        </p:spPr>
        <p:txBody>
          <a:bodyPr/>
          <a:lstStyle>
            <a:lvl1pPr>
              <a:defRPr sz="1400" b="0" i="0">
                <a:solidFill>
                  <a:schemeClr val="bg2"/>
                </a:solidFill>
                <a:latin typeface="+mn-lt"/>
              </a:defRPr>
            </a:lvl1pPr>
          </a:lstStyle>
          <a:p>
            <a:pPr>
              <a:defRPr/>
            </a:pPr>
            <a:fld id="{6D55BC3B-EC09-44AD-AF66-EEC325D9EE42}" type="datetime1">
              <a:rPr lang="zh-CN" altLang="en-US"/>
            </a:fld>
            <a:endParaRPr lang="en-US" altLang="zh-CN"/>
          </a:p>
        </p:txBody>
      </p:sp>
      <p:sp>
        <p:nvSpPr>
          <p:cNvPr id="17" name="Rectangle 15"/>
          <p:cNvSpPr>
            <a:spLocks noGrp="1" noChangeArrowheads="1"/>
          </p:cNvSpPr>
          <p:nvPr>
            <p:ph type="ftr" sz="quarter" idx="11"/>
          </p:nvPr>
        </p:nvSpPr>
        <p:spPr>
          <a:xfrm>
            <a:off x="3429000" y="6248400"/>
            <a:ext cx="2895600" cy="457200"/>
          </a:xfrm>
        </p:spPr>
        <p:txBody>
          <a:bodyPr/>
          <a:lstStyle>
            <a:lvl1pPr>
              <a:lnSpc>
                <a:spcPct val="100000"/>
              </a:lnSpc>
              <a:defRPr kumimoji="0" sz="1400" b="0" i="0">
                <a:solidFill>
                  <a:schemeClr val="bg2"/>
                </a:solidFill>
                <a:latin typeface="+mn-lt"/>
              </a:defRPr>
            </a:lvl1pPr>
          </a:lstStyle>
          <a:p>
            <a:pPr>
              <a:defRPr/>
            </a:pPr>
            <a:endParaRPr lang="en-US" altLang="zh-CN"/>
          </a:p>
        </p:txBody>
      </p:sp>
      <p:sp>
        <p:nvSpPr>
          <p:cNvPr id="18" name="Rectangle 16"/>
          <p:cNvSpPr>
            <a:spLocks noGrp="1" noChangeArrowheads="1"/>
          </p:cNvSpPr>
          <p:nvPr>
            <p:ph type="sldNum" sz="quarter" idx="12"/>
          </p:nvPr>
        </p:nvSpPr>
        <p:spPr>
          <a:xfrm>
            <a:off x="6858000" y="6248400"/>
            <a:ext cx="1905000" cy="457200"/>
          </a:xfrm>
        </p:spPr>
        <p:txBody>
          <a:bodyPr/>
          <a:lstStyle>
            <a:lvl1pPr>
              <a:defRPr sz="1400" b="0" i="0">
                <a:solidFill>
                  <a:schemeClr val="bg2"/>
                </a:solidFill>
                <a:latin typeface="Tahoma" panose="020B0604030504040204" pitchFamily="34" charset="0"/>
              </a:defRPr>
            </a:lvl1pPr>
          </a:lstStyle>
          <a:p>
            <a:fld id="{334BA2E9-CB4E-4394-9508-5845D9975225}"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fld id="{BA900794-A765-40EF-BDF5-E5CA5CD3D30B}" type="slidenum">
              <a:rPr lang="zh-CN" altLang="en-US"/>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28E950C8-FFB6-40E2-BC9B-1D9E00A6B1D1}" type="datetime1">
              <a:rPr lang="zh-CN" altLang="en-US"/>
            </a:fld>
            <a:endParaRPr lang="en-US"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fld id="{BA900794-A765-40EF-BDF5-E5CA5CD3D30B}" type="slidenum">
              <a:rPr lang="zh-CN" altLang="en-US"/>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28E950C8-FFB6-40E2-BC9B-1D9E00A6B1D1}" type="datetime1">
              <a:rPr lang="zh-CN" altLang="en-US"/>
            </a:fld>
            <a:endParaRPr lang="en-US"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1550" y="44450"/>
            <a:ext cx="7687310" cy="1047115"/>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405" y="1196340"/>
            <a:ext cx="8050530" cy="488823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fld id="{BA900794-A765-40EF-BDF5-E5CA5CD3D30B}" type="slidenum">
              <a:rPr lang="zh-CN" altLang="en-US"/>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28E950C8-FFB6-40E2-BC9B-1D9E00A6B1D1}" type="datetime1">
              <a:rPr lang="zh-CN" altLang="en-US"/>
            </a:fld>
            <a:endParaRPr lang="en-US"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6"/>
          <p:cNvSpPr>
            <a:spLocks noGrp="1" noChangeArrowheads="1"/>
          </p:cNvSpPr>
          <p:nvPr>
            <p:ph type="sldNum" sz="quarter" idx="10"/>
          </p:nvPr>
        </p:nvSpPr>
        <p:spPr/>
        <p:txBody>
          <a:bodyPr/>
          <a:lstStyle>
            <a:lvl1pPr>
              <a:defRPr/>
            </a:lvl1pPr>
          </a:lstStyle>
          <a:p>
            <a:fld id="{FE380CC1-35F6-4C1D-9ECA-C6511CC21A40}" type="slidenum">
              <a:rPr lang="zh-CN" altLang="en-US"/>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F565667C-820C-488A-BD30-74F249EAAF8B}" type="datetime1">
              <a:rPr lang="zh-CN" altLang="en-US"/>
            </a:fld>
            <a:endParaRPr lang="en-US"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6"/>
          <p:cNvSpPr>
            <a:spLocks noGrp="1" noChangeArrowheads="1"/>
          </p:cNvSpPr>
          <p:nvPr>
            <p:ph type="sldNum" sz="quarter" idx="10"/>
          </p:nvPr>
        </p:nvSpPr>
        <p:spPr/>
        <p:txBody>
          <a:bodyPr/>
          <a:lstStyle>
            <a:lvl1pPr>
              <a:defRPr/>
            </a:lvl1pPr>
          </a:lstStyle>
          <a:p>
            <a:fld id="{02D3A07E-5729-484D-BFA3-449C117F29FE}" type="slidenum">
              <a:rPr lang="zh-CN" altLang="en-US"/>
            </a:fld>
            <a:endParaRPr lang="en-US" altLang="zh-CN"/>
          </a:p>
        </p:txBody>
      </p:sp>
      <p:sp>
        <p:nvSpPr>
          <p:cNvPr id="6" name="Rectangle 14"/>
          <p:cNvSpPr>
            <a:spLocks noGrp="1" noChangeArrowheads="1"/>
          </p:cNvSpPr>
          <p:nvPr>
            <p:ph type="dt" sz="half" idx="11"/>
          </p:nvPr>
        </p:nvSpPr>
        <p:spPr/>
        <p:txBody>
          <a:bodyPr/>
          <a:lstStyle>
            <a:lvl1pPr>
              <a:defRPr/>
            </a:lvl1pPr>
          </a:lstStyle>
          <a:p>
            <a:pPr>
              <a:defRPr/>
            </a:pPr>
            <a:fld id="{BD52777F-DCCF-4B2C-A5B4-FC06F0A639B6}" type="datetime1">
              <a:rPr lang="zh-CN" altLang="en-US"/>
            </a:fld>
            <a:endParaRPr lang="en-US" altLang="zh-CN"/>
          </a:p>
        </p:txBody>
      </p:sp>
      <p:sp>
        <p:nvSpPr>
          <p:cNvPr id="7"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6"/>
          <p:cNvSpPr>
            <a:spLocks noGrp="1" noChangeArrowheads="1"/>
          </p:cNvSpPr>
          <p:nvPr>
            <p:ph type="sldNum" sz="quarter" idx="10"/>
          </p:nvPr>
        </p:nvSpPr>
        <p:spPr/>
        <p:txBody>
          <a:bodyPr/>
          <a:lstStyle>
            <a:lvl1pPr>
              <a:defRPr/>
            </a:lvl1pPr>
          </a:lstStyle>
          <a:p>
            <a:fld id="{5E0B5343-72C3-461E-BE0E-80EA9273AABE}" type="slidenum">
              <a:rPr lang="zh-CN" altLang="en-US"/>
            </a:fld>
            <a:endParaRPr lang="en-US" altLang="zh-CN"/>
          </a:p>
        </p:txBody>
      </p:sp>
      <p:sp>
        <p:nvSpPr>
          <p:cNvPr id="8" name="Rectangle 14"/>
          <p:cNvSpPr>
            <a:spLocks noGrp="1" noChangeArrowheads="1"/>
          </p:cNvSpPr>
          <p:nvPr>
            <p:ph type="dt" sz="half" idx="11"/>
          </p:nvPr>
        </p:nvSpPr>
        <p:spPr/>
        <p:txBody>
          <a:bodyPr/>
          <a:lstStyle>
            <a:lvl1pPr>
              <a:defRPr/>
            </a:lvl1pPr>
          </a:lstStyle>
          <a:p>
            <a:pPr>
              <a:defRPr/>
            </a:pPr>
            <a:fld id="{B7B5297D-5DFB-4307-8C60-9B6890BC049A}" type="datetime1">
              <a:rPr lang="zh-CN" altLang="en-US"/>
            </a:fld>
            <a:endParaRPr lang="en-US" altLang="zh-CN"/>
          </a:p>
        </p:txBody>
      </p:sp>
      <p:sp>
        <p:nvSpPr>
          <p:cNvPr id="9"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16"/>
          <p:cNvSpPr>
            <a:spLocks noGrp="1" noChangeArrowheads="1"/>
          </p:cNvSpPr>
          <p:nvPr>
            <p:ph type="sldNum" sz="quarter" idx="10"/>
          </p:nvPr>
        </p:nvSpPr>
        <p:spPr/>
        <p:txBody>
          <a:bodyPr/>
          <a:lstStyle>
            <a:lvl1pPr>
              <a:defRPr/>
            </a:lvl1pPr>
          </a:lstStyle>
          <a:p>
            <a:fld id="{C74B4B85-51AA-4354-8A6B-794C6A1868E6}" type="slidenum">
              <a:rPr lang="zh-CN" altLang="en-US"/>
            </a:fld>
            <a:endParaRPr lang="en-US" altLang="zh-CN"/>
          </a:p>
        </p:txBody>
      </p:sp>
      <p:sp>
        <p:nvSpPr>
          <p:cNvPr id="4" name="Rectangle 14"/>
          <p:cNvSpPr>
            <a:spLocks noGrp="1" noChangeArrowheads="1"/>
          </p:cNvSpPr>
          <p:nvPr>
            <p:ph type="dt" sz="half" idx="11"/>
          </p:nvPr>
        </p:nvSpPr>
        <p:spPr/>
        <p:txBody>
          <a:bodyPr/>
          <a:lstStyle>
            <a:lvl1pPr>
              <a:defRPr/>
            </a:lvl1pPr>
          </a:lstStyle>
          <a:p>
            <a:pPr>
              <a:defRPr/>
            </a:pPr>
            <a:fld id="{01D2E9D0-F016-463D-B909-2F44D0994C40}" type="datetime1">
              <a:rPr lang="zh-CN" altLang="en-US"/>
            </a:fld>
            <a:endParaRPr lang="en-US" altLang="zh-CN"/>
          </a:p>
        </p:txBody>
      </p:sp>
      <p:sp>
        <p:nvSpPr>
          <p:cNvPr id="5"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p:txBody>
          <a:bodyPr/>
          <a:lstStyle>
            <a:lvl1pPr>
              <a:defRPr/>
            </a:lvl1pPr>
          </a:lstStyle>
          <a:p>
            <a:fld id="{A275F3BA-6322-4882-977F-7A9C97371DE1}" type="slidenum">
              <a:rPr lang="zh-CN" altLang="en-US"/>
            </a:fld>
            <a:endParaRPr lang="en-US" altLang="zh-CN"/>
          </a:p>
        </p:txBody>
      </p:sp>
      <p:sp>
        <p:nvSpPr>
          <p:cNvPr id="3" name="Rectangle 14"/>
          <p:cNvSpPr>
            <a:spLocks noGrp="1" noChangeArrowheads="1"/>
          </p:cNvSpPr>
          <p:nvPr>
            <p:ph type="dt" sz="half" idx="11"/>
          </p:nvPr>
        </p:nvSpPr>
        <p:spPr/>
        <p:txBody>
          <a:bodyPr/>
          <a:lstStyle>
            <a:lvl1pPr>
              <a:defRPr/>
            </a:lvl1pPr>
          </a:lstStyle>
          <a:p>
            <a:pPr>
              <a:defRPr/>
            </a:pPr>
            <a:fld id="{EE76B1CC-2C67-4BFC-AF06-B99A0F83273E}" type="datetime1">
              <a:rPr lang="zh-CN" altLang="en-US"/>
            </a:fld>
            <a:endParaRPr lang="en-US" altLang="zh-CN"/>
          </a:p>
        </p:txBody>
      </p:sp>
      <p:sp>
        <p:nvSpPr>
          <p:cNvPr id="4"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6"/>
          <p:cNvSpPr>
            <a:spLocks noGrp="1" noChangeArrowheads="1"/>
          </p:cNvSpPr>
          <p:nvPr>
            <p:ph type="sldNum" sz="quarter" idx="10"/>
          </p:nvPr>
        </p:nvSpPr>
        <p:spPr/>
        <p:txBody>
          <a:bodyPr/>
          <a:lstStyle>
            <a:lvl1pPr>
              <a:defRPr/>
            </a:lvl1pPr>
          </a:lstStyle>
          <a:p>
            <a:fld id="{BE626BB0-7612-4384-837C-210A9925592B}" type="slidenum">
              <a:rPr lang="zh-CN" altLang="en-US"/>
            </a:fld>
            <a:endParaRPr lang="en-US" altLang="zh-CN"/>
          </a:p>
        </p:txBody>
      </p:sp>
      <p:sp>
        <p:nvSpPr>
          <p:cNvPr id="6" name="Rectangle 14"/>
          <p:cNvSpPr>
            <a:spLocks noGrp="1" noChangeArrowheads="1"/>
          </p:cNvSpPr>
          <p:nvPr>
            <p:ph type="dt" sz="half" idx="11"/>
          </p:nvPr>
        </p:nvSpPr>
        <p:spPr/>
        <p:txBody>
          <a:bodyPr/>
          <a:lstStyle>
            <a:lvl1pPr>
              <a:defRPr/>
            </a:lvl1pPr>
          </a:lstStyle>
          <a:p>
            <a:pPr>
              <a:defRPr/>
            </a:pPr>
            <a:fld id="{734A95EE-4D7E-4318-9F2A-7761EB870741}" type="datetime1">
              <a:rPr lang="zh-CN" altLang="en-US"/>
            </a:fld>
            <a:endParaRPr lang="en-US" altLang="zh-CN"/>
          </a:p>
        </p:txBody>
      </p:sp>
      <p:sp>
        <p:nvSpPr>
          <p:cNvPr id="7"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6"/>
          <p:cNvSpPr>
            <a:spLocks noGrp="1" noChangeArrowheads="1"/>
          </p:cNvSpPr>
          <p:nvPr>
            <p:ph type="sldNum" sz="quarter" idx="10"/>
          </p:nvPr>
        </p:nvSpPr>
        <p:spPr/>
        <p:txBody>
          <a:bodyPr/>
          <a:lstStyle>
            <a:lvl1pPr>
              <a:defRPr/>
            </a:lvl1pPr>
          </a:lstStyle>
          <a:p>
            <a:fld id="{335AF237-0885-4BA2-A636-4B0BA59871DD}" type="slidenum">
              <a:rPr lang="zh-CN" altLang="en-US"/>
            </a:fld>
            <a:endParaRPr lang="en-US" altLang="zh-CN"/>
          </a:p>
        </p:txBody>
      </p:sp>
      <p:sp>
        <p:nvSpPr>
          <p:cNvPr id="6" name="Rectangle 14"/>
          <p:cNvSpPr>
            <a:spLocks noGrp="1" noChangeArrowheads="1"/>
          </p:cNvSpPr>
          <p:nvPr>
            <p:ph type="dt" sz="half" idx="11"/>
          </p:nvPr>
        </p:nvSpPr>
        <p:spPr/>
        <p:txBody>
          <a:bodyPr/>
          <a:lstStyle>
            <a:lvl1pPr>
              <a:defRPr/>
            </a:lvl1pPr>
          </a:lstStyle>
          <a:p>
            <a:pPr>
              <a:defRPr/>
            </a:pPr>
            <a:fld id="{B020F1C9-BCF9-49A0-925E-698EE1F2E50D}" type="datetime1">
              <a:rPr lang="zh-CN" altLang="en-US"/>
            </a:fld>
            <a:endParaRPr lang="en-US" altLang="zh-CN"/>
          </a:p>
        </p:txBody>
      </p:sp>
      <p:sp>
        <p:nvSpPr>
          <p:cNvPr id="7"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fld id="{6A6A1451-EAE2-473B-99C8-A8AC08747E94}" type="slidenum">
              <a:rPr lang="zh-CN" altLang="en-US"/>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04ED8366-50CF-4278-8199-64DC74A167FE}" type="datetime1">
              <a:rPr lang="zh-CN" altLang="en-US"/>
            </a:fld>
            <a:endParaRPr lang="en-US"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fld id="{7F1DF8F1-8943-42E0-8569-22317621C189}" type="slidenum">
              <a:rPr lang="zh-CN" altLang="en-US"/>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D729714A-E1E8-43A1-80AF-BE26C9A13F00}" type="datetime1">
              <a:rPr lang="zh-CN" altLang="en-US"/>
            </a:fld>
            <a:endParaRPr lang="en-US"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6"/>
          <p:cNvSpPr>
            <a:spLocks noGrp="1" noChangeArrowheads="1"/>
          </p:cNvSpPr>
          <p:nvPr>
            <p:ph type="sldNum" sz="quarter" idx="10"/>
          </p:nvPr>
        </p:nvSpPr>
        <p:spPr/>
        <p:txBody>
          <a:bodyPr/>
          <a:lstStyle>
            <a:lvl1pPr>
              <a:defRPr/>
            </a:lvl1pPr>
          </a:lstStyle>
          <a:p>
            <a:fld id="{D0A1D7C5-AD50-4EBB-934B-086BD481B387}" type="slidenum">
              <a:rPr lang="zh-CN" altLang="en-US"/>
            </a:fld>
            <a:endParaRPr lang="en-US" altLang="zh-CN"/>
          </a:p>
        </p:txBody>
      </p:sp>
      <p:sp>
        <p:nvSpPr>
          <p:cNvPr id="6" name="Rectangle 14"/>
          <p:cNvSpPr>
            <a:spLocks noGrp="1" noChangeArrowheads="1"/>
          </p:cNvSpPr>
          <p:nvPr>
            <p:ph type="dt" sz="half" idx="11"/>
          </p:nvPr>
        </p:nvSpPr>
        <p:spPr/>
        <p:txBody>
          <a:bodyPr/>
          <a:lstStyle>
            <a:lvl1pPr>
              <a:defRPr/>
            </a:lvl1pPr>
          </a:lstStyle>
          <a:p>
            <a:pPr>
              <a:defRPr/>
            </a:pPr>
            <a:fld id="{F7054089-0492-4206-AC65-95471403B163}" type="datetime1">
              <a:rPr lang="zh-CN" altLang="en-US"/>
            </a:fld>
            <a:endParaRPr lang="en-US" altLang="zh-CN"/>
          </a:p>
        </p:txBody>
      </p:sp>
      <p:sp>
        <p:nvSpPr>
          <p:cNvPr id="7" name="Rectangle 15"/>
          <p:cNvSpPr>
            <a:spLocks noGrp="1" noChangeArrowheads="1"/>
          </p:cNvSpPr>
          <p:nvPr>
            <p:ph type="ftr" sz="quarter" idx="12"/>
          </p:nvPr>
        </p:nvSpPr>
        <p:spPr/>
        <p:txBody>
          <a:bodyPr/>
          <a:lstStyle>
            <a:lvl1pPr>
              <a:defRPr/>
            </a:lvl1pPr>
          </a:lstStyle>
          <a:p>
            <a:pPr>
              <a:defRPr/>
            </a:pPr>
            <a:r>
              <a:rPr lang="en-US" altLang="zh-CN" dirty="0"/>
              <a:t>School of Computer Science, BUPT</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18" descr="attach"/>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52600" y="533400"/>
            <a:ext cx="5905500"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u="none">
                <a:solidFill>
                  <a:srgbClr val="009999"/>
                </a:solidFill>
                <a:latin typeface="Arial Narrow" panose="020B0606020202030204" pitchFamily="34" charset="0"/>
              </a:defRPr>
            </a:lvl1pPr>
          </a:lstStyle>
          <a:p>
            <a:fld id="{C01AB9A1-5747-4155-839B-E624A3256055}" type="slidenum">
              <a:rPr lang="zh-CN" altLang="en-US"/>
            </a:fld>
            <a:endParaRPr lang="en-US" altLang="zh-CN"/>
          </a:p>
        </p:txBody>
      </p:sp>
      <p:sp>
        <p:nvSpPr>
          <p:cNvPr id="1028" name="Rectangle 2"/>
          <p:cNvSpPr>
            <a:spLocks noChangeArrowheads="1"/>
          </p:cNvSpPr>
          <p:nvPr/>
        </p:nvSpPr>
        <p:spPr bwMode="ltGray">
          <a:xfrm>
            <a:off x="417513" y="452755"/>
            <a:ext cx="438150" cy="474663"/>
          </a:xfrm>
          <a:prstGeom prst="rect">
            <a:avLst/>
          </a:prstGeom>
          <a:solidFill>
            <a:schemeClr val="accent2"/>
          </a:soli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eaLnBrk="1" hangingPunct="1">
              <a:defRPr/>
            </a:pPr>
            <a:endParaRPr lang="zh-CN" altLang="en-US" b="0" i="0" u="none">
              <a:latin typeface="Tahoma" panose="020B0604030504040204" pitchFamily="34" charset="0"/>
            </a:endParaRPr>
          </a:p>
        </p:txBody>
      </p:sp>
      <p:sp>
        <p:nvSpPr>
          <p:cNvPr id="1029" name="Rectangle 3"/>
          <p:cNvSpPr>
            <a:spLocks noChangeArrowheads="1"/>
          </p:cNvSpPr>
          <p:nvPr/>
        </p:nvSpPr>
        <p:spPr bwMode="ltGray">
          <a:xfrm>
            <a:off x="800100" y="452755"/>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eaLnBrk="1" hangingPunct="1">
              <a:defRPr/>
            </a:pPr>
            <a:endParaRPr lang="zh-CN" altLang="en-US" b="0" i="0" u="none">
              <a:latin typeface="Tahoma" panose="020B0604030504040204" pitchFamily="34" charset="0"/>
            </a:endParaRPr>
          </a:p>
        </p:txBody>
      </p:sp>
      <p:sp>
        <p:nvSpPr>
          <p:cNvPr id="1030" name="Rectangle 4"/>
          <p:cNvSpPr>
            <a:spLocks noChangeArrowheads="1"/>
          </p:cNvSpPr>
          <p:nvPr/>
        </p:nvSpPr>
        <p:spPr bwMode="ltGray">
          <a:xfrm>
            <a:off x="541338" y="875030"/>
            <a:ext cx="422275" cy="474663"/>
          </a:xfrm>
          <a:prstGeom prst="rect">
            <a:avLst/>
          </a:prstGeom>
          <a:solidFill>
            <a:schemeClr val="folHlink"/>
          </a:soli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eaLnBrk="1" hangingPunct="1">
              <a:defRPr/>
            </a:pPr>
            <a:endParaRPr lang="zh-CN" altLang="en-US" b="0" i="0" u="none">
              <a:latin typeface="Tahoma" panose="020B0604030504040204" pitchFamily="34" charset="0"/>
            </a:endParaRPr>
          </a:p>
        </p:txBody>
      </p:sp>
      <p:sp>
        <p:nvSpPr>
          <p:cNvPr id="1031" name="Rectangle 5"/>
          <p:cNvSpPr>
            <a:spLocks noChangeArrowheads="1"/>
          </p:cNvSpPr>
          <p:nvPr/>
        </p:nvSpPr>
        <p:spPr bwMode="ltGray">
          <a:xfrm>
            <a:off x="911225" y="875030"/>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eaLnBrk="1" hangingPunct="1">
              <a:defRPr/>
            </a:pPr>
            <a:endParaRPr lang="zh-CN" altLang="en-US" b="0" i="0" u="none">
              <a:latin typeface="Tahoma" panose="020B0604030504040204" pitchFamily="34" charset="0"/>
            </a:endParaRPr>
          </a:p>
        </p:txBody>
      </p:sp>
      <p:sp>
        <p:nvSpPr>
          <p:cNvPr id="1032" name="Rectangle 6"/>
          <p:cNvSpPr>
            <a:spLocks noChangeArrowheads="1"/>
          </p:cNvSpPr>
          <p:nvPr/>
        </p:nvSpPr>
        <p:spPr bwMode="ltGray">
          <a:xfrm>
            <a:off x="127000" y="802005"/>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eaLnBrk="1" hangingPunct="1">
              <a:defRPr/>
            </a:pPr>
            <a:endParaRPr lang="zh-CN" altLang="en-US" b="0" i="0" u="none">
              <a:latin typeface="Tahoma" panose="020B0604030504040204" pitchFamily="34" charset="0"/>
            </a:endParaRPr>
          </a:p>
        </p:txBody>
      </p:sp>
      <p:sp>
        <p:nvSpPr>
          <p:cNvPr id="1033" name="Rectangle 7"/>
          <p:cNvSpPr>
            <a:spLocks noChangeArrowheads="1"/>
          </p:cNvSpPr>
          <p:nvPr/>
        </p:nvSpPr>
        <p:spPr bwMode="gray">
          <a:xfrm>
            <a:off x="762000" y="344805"/>
            <a:ext cx="31750" cy="1052513"/>
          </a:xfrm>
          <a:prstGeom prst="rect">
            <a:avLst/>
          </a:prstGeom>
          <a:solidFill>
            <a:schemeClr val="bg2"/>
          </a:soli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eaLnBrk="1" hangingPunct="1">
              <a:defRPr/>
            </a:pPr>
            <a:endParaRPr lang="zh-CN" altLang="en-US" b="0" i="0" u="none">
              <a:latin typeface="Tahoma" panose="020B0604030504040204" pitchFamily="34" charset="0"/>
            </a:endParaRPr>
          </a:p>
        </p:txBody>
      </p:sp>
      <p:sp>
        <p:nvSpPr>
          <p:cNvPr id="1034" name="Rectangle 8"/>
          <p:cNvSpPr>
            <a:spLocks noChangeArrowheads="1"/>
          </p:cNvSpPr>
          <p:nvPr/>
        </p:nvSpPr>
        <p:spPr bwMode="gray">
          <a:xfrm>
            <a:off x="442913" y="1135380"/>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eaLnBrk="1" hangingPunct="1">
              <a:defRPr/>
            </a:pPr>
            <a:endParaRPr lang="zh-CN" altLang="en-US" b="0" i="0" u="none">
              <a:latin typeface="Tahoma" panose="020B0604030504040204" pitchFamily="34" charset="0"/>
            </a:endParaRPr>
          </a:p>
        </p:txBody>
      </p:sp>
      <p:sp>
        <p:nvSpPr>
          <p:cNvPr id="3083" name="Rectangle 9"/>
          <p:cNvSpPr>
            <a:spLocks noGrp="1" noChangeArrowheads="1"/>
          </p:cNvSpPr>
          <p:nvPr>
            <p:ph type="title"/>
          </p:nvPr>
        </p:nvSpPr>
        <p:spPr bwMode="auto">
          <a:xfrm>
            <a:off x="1241425" y="181610"/>
            <a:ext cx="77025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3084" name="Rectangle 10"/>
          <p:cNvSpPr>
            <a:spLocks noGrp="1" noChangeArrowheads="1"/>
          </p:cNvSpPr>
          <p:nvPr>
            <p:ph type="body" idx="1"/>
          </p:nvPr>
        </p:nvSpPr>
        <p:spPr bwMode="auto">
          <a:xfrm>
            <a:off x="904875" y="1244600"/>
            <a:ext cx="8050530" cy="4888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000" u="none">
                <a:solidFill>
                  <a:srgbClr val="009999"/>
                </a:solidFill>
                <a:latin typeface="Arial Narrow" panose="020B0606020202030204" pitchFamily="34" charset="0"/>
                <a:ea typeface="宋体" pitchFamily="2" charset="-122"/>
              </a:defRPr>
            </a:lvl1pPr>
          </a:lstStyle>
          <a:p>
            <a:pPr>
              <a:defRPr/>
            </a:pPr>
            <a:fld id="{90FD0872-2DA4-4291-A130-FE722D67270B}" type="datetime1">
              <a:rPr lang="zh-CN" altLang="en-US"/>
            </a:fld>
            <a:endParaRPr lang="en-US" altLang="zh-CN"/>
          </a:p>
        </p:txBody>
      </p:sp>
      <p:sp>
        <p:nvSpPr>
          <p:cNvPr id="152591" name="Rectangle 15"/>
          <p:cNvSpPr>
            <a:spLocks noGrp="1" noChangeArrowheads="1"/>
          </p:cNvSpPr>
          <p:nvPr>
            <p:ph type="ftr" sz="quarter" idx="3"/>
          </p:nvPr>
        </p:nvSpPr>
        <p:spPr bwMode="auto">
          <a:xfrm>
            <a:off x="1447800" y="6400800"/>
            <a:ext cx="629285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sz="1200" u="none">
                <a:solidFill>
                  <a:srgbClr val="009999"/>
                </a:solidFill>
                <a:latin typeface="Arial Narrow" panose="020B0606020202030204" pitchFamily="34" charset="0"/>
                <a:ea typeface="宋体" pitchFamily="2" charset="-122"/>
              </a:defRPr>
            </a:lvl1pPr>
          </a:lstStyle>
          <a:p>
            <a:pPr>
              <a:defRPr/>
            </a:pPr>
            <a:r>
              <a:rPr lang="en-US" altLang="zh-CN" dirty="0"/>
              <a:t>School of Computer Science, BUPT</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kumimoji="1" sz="4400">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kumimoji="1" sz="4400">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kumimoji="1" sz="4400">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tags" Target="../tags/tag1.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9" Type="http://schemas.openxmlformats.org/officeDocument/2006/relationships/slideLayout" Target="../slideLayouts/slideLayout9.xml"/><Relationship Id="rId18" Type="http://schemas.openxmlformats.org/officeDocument/2006/relationships/tags" Target="../tags/tag18.xml"/><Relationship Id="rId17" Type="http://schemas.openxmlformats.org/officeDocument/2006/relationships/image" Target="../media/image7.png"/><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9" Type="http://schemas.openxmlformats.org/officeDocument/2006/relationships/slideLayout" Target="../slideLayouts/slideLayout9.xml"/><Relationship Id="rId18" Type="http://schemas.openxmlformats.org/officeDocument/2006/relationships/tags" Target="../tags/tag35.xml"/><Relationship Id="rId17" Type="http://schemas.openxmlformats.org/officeDocument/2006/relationships/image" Target="../media/image7.png"/><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pPr eaLnBrk="1" hangingPunct="1"/>
            <a:r>
              <a:rPr lang="en-US" altLang="zh-CN">
                <a:latin typeface="Times New Roman" panose="02020503050405090304" pitchFamily="18" charset="0"/>
              </a:rPr>
              <a:t>Nested Quantifiers</a:t>
            </a:r>
            <a:endParaRPr lang="zh-CN" altLang="en-US">
              <a:latin typeface="Times New Roman" panose="02020503050405090304" pitchFamily="18" charset="0"/>
            </a:endParaRPr>
          </a:p>
        </p:txBody>
      </p:sp>
      <p:sp>
        <p:nvSpPr>
          <p:cNvPr id="5123" name="Rectangle 3"/>
          <p:cNvSpPr>
            <a:spLocks noGrp="1" noChangeArrowheads="1"/>
          </p:cNvSpPr>
          <p:nvPr>
            <p:ph type="subTitle" idx="1"/>
          </p:nvPr>
        </p:nvSpPr>
        <p:spPr/>
        <p:txBody>
          <a:bodyPr/>
          <a:lstStyle/>
          <a:p>
            <a:pPr eaLnBrk="1" hangingPunct="1"/>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761A96D-4331-4DDE-94CD-7647E608ED8F}"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14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85333FDB-09C7-4ECC-9246-9C8849641C5C}"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14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149" name="Rectangle 2"/>
          <p:cNvSpPr>
            <a:spLocks noGrp="1" noChangeArrowheads="1"/>
          </p:cNvSpPr>
          <p:nvPr>
            <p:ph type="title"/>
          </p:nvPr>
        </p:nvSpPr>
        <p:spPr>
          <a:xfrm>
            <a:off x="971233" y="404674"/>
            <a:ext cx="7793037" cy="700261"/>
          </a:xfrm>
        </p:spPr>
        <p:txBody>
          <a:bodyPr/>
          <a:lstStyle/>
          <a:p>
            <a:pPr eaLnBrk="1" hangingPunct="1"/>
            <a:r>
              <a:rPr lang="en-US" altLang="zh-CN" b="0" kern="1200" dirty="0">
                <a:latin typeface="Copperplate Gothic Bold" panose="020E0705020206020404" pitchFamily="34" charset="0"/>
              </a:rPr>
              <a:t>Outline</a:t>
            </a:r>
            <a:endParaRPr lang="en-US" altLang="zh-CN" b="0" kern="1200" dirty="0">
              <a:latin typeface="Copperplate Gothic Bold" panose="020E0705020206020404" pitchFamily="34" charset="0"/>
            </a:endParaRPr>
          </a:p>
        </p:txBody>
      </p:sp>
      <p:sp>
        <p:nvSpPr>
          <p:cNvPr id="6150" name="Rectangle 3"/>
          <p:cNvSpPr>
            <a:spLocks noGrp="1" noChangeArrowheads="1"/>
          </p:cNvSpPr>
          <p:nvPr>
            <p:ph type="body" idx="1"/>
          </p:nvPr>
        </p:nvSpPr>
        <p:spPr>
          <a:xfrm>
            <a:off x="467544" y="1268636"/>
            <a:ext cx="8568951" cy="5348064"/>
          </a:xfrm>
        </p:spPr>
        <p:txBody>
          <a:bodyPr/>
          <a:lstStyle/>
          <a:p>
            <a:pPr eaLnBrk="1" hangingPunct="1"/>
            <a:r>
              <a:rPr lang="en-US" altLang="zh-CN" sz="2800" dirty="0">
                <a:latin typeface="Times New Roman" panose="02020503050405090304" pitchFamily="18" charset="0"/>
                <a:cs typeface="Times New Roman" panose="02020503050405090304" pitchFamily="18" charset="0"/>
              </a:rPr>
              <a:t>Translating Predicate Logic involving nested quantifiers</a:t>
            </a:r>
            <a:endParaRPr lang="en-US" altLang="zh-CN" sz="2800" dirty="0">
              <a:latin typeface="Times New Roman" panose="02020503050405090304" pitchFamily="18" charset="0"/>
              <a:cs typeface="Times New Roman" panose="02020503050405090304" pitchFamily="18" charset="0"/>
            </a:endParaRPr>
          </a:p>
          <a:p>
            <a:pPr eaLnBrk="1" hangingPunct="1"/>
            <a:r>
              <a:rPr lang="en-US" altLang="zh-CN" sz="2800" dirty="0">
                <a:latin typeface="Times New Roman" panose="02020503050405090304" pitchFamily="18" charset="0"/>
                <a:cs typeface="Times New Roman" panose="02020503050405090304" pitchFamily="18" charset="0"/>
                <a:sym typeface="Symbol" panose="05050102010706020507" pitchFamily="18" charset="2"/>
              </a:rPr>
              <a:t>Translating Statements into Predicate Logic</a:t>
            </a:r>
            <a:endParaRPr lang="en-US" altLang="zh-CN" sz="2800" dirty="0">
              <a:latin typeface="Times New Roman" panose="02020503050405090304" pitchFamily="18" charset="0"/>
              <a:cs typeface="Times New Roman" panose="02020503050405090304" pitchFamily="18" charset="0"/>
              <a:sym typeface="Symbol" panose="05050102010706020507" pitchFamily="18" charset="2"/>
            </a:endParaRPr>
          </a:p>
          <a:p>
            <a:pPr eaLnBrk="1" hangingPunct="1"/>
            <a:r>
              <a:rPr lang="en-US" altLang="zh-CN" sz="2800" kern="1200" dirty="0">
                <a:latin typeface="Times New Roman" panose="02020503050405090304" pitchFamily="18" charset="0"/>
                <a:cs typeface="Times New Roman" panose="02020503050405090304" pitchFamily="18" charset="0"/>
              </a:rPr>
              <a:t>Negating nested quantifiers</a:t>
            </a:r>
            <a:endParaRPr lang="en-US" altLang="zh-CN" sz="2800" kern="1200" dirty="0">
              <a:latin typeface="Times New Roman" panose="02020503050405090304" pitchFamily="18" charset="0"/>
              <a:cs typeface="Times New Roman" panose="02020503050405090304" pitchFamily="18" charset="0"/>
            </a:endParaRPr>
          </a:p>
          <a:p>
            <a:pPr eaLnBrk="1" hangingPunct="1"/>
            <a:r>
              <a:rPr lang="en-US" altLang="zh-CN" sz="2800" kern="1200" dirty="0">
                <a:latin typeface="Times New Roman" panose="02020503050405090304" pitchFamily="18" charset="0"/>
                <a:cs typeface="Times New Roman" panose="02020503050405090304" pitchFamily="18" charset="0"/>
                <a:sym typeface="Symbol" panose="05050102010706020507" pitchFamily="18" charset="2"/>
              </a:rPr>
              <a:t>Order of Nested quantifiers</a:t>
            </a:r>
            <a:endParaRPr lang="en-US" altLang="zh-CN" sz="2800" kern="1200" dirty="0">
              <a:latin typeface="Times New Roman" panose="02020503050405090304" pitchFamily="18" charset="0"/>
              <a:cs typeface="Times New Roman" panose="02020503050405090304" pitchFamily="18" charset="0"/>
              <a:sym typeface="Symbol" panose="05050102010706020507" pitchFamily="18" charset="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761A96D-4331-4DDE-94CD-7647E608ED8F}"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14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85333FDB-09C7-4ECC-9246-9C8849641C5C}"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14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149" name="Rectangle 2"/>
          <p:cNvSpPr>
            <a:spLocks noGrp="1" noChangeArrowheads="1"/>
          </p:cNvSpPr>
          <p:nvPr>
            <p:ph type="title"/>
          </p:nvPr>
        </p:nvSpPr>
        <p:spPr>
          <a:xfrm>
            <a:off x="1043305" y="187960"/>
            <a:ext cx="7687310" cy="1047115"/>
          </a:xfrm>
        </p:spPr>
        <p:txBody>
          <a:bodyPr/>
          <a:lstStyle/>
          <a:p>
            <a:pPr eaLnBrk="1" hangingPunct="1"/>
            <a:r>
              <a:rPr lang="en-US" altLang="zh-CN" sz="4000">
                <a:latin typeface="Times New Roman" panose="02020503050405090304" pitchFamily="18" charset="0"/>
              </a:rPr>
              <a:t>Translating statements involving nested quantifiers</a:t>
            </a:r>
            <a:endParaRPr lang="en-US" altLang="zh-CN" sz="4000">
              <a:latin typeface="Times New Roman" panose="02020503050405090304" pitchFamily="18" charset="0"/>
            </a:endParaRPr>
          </a:p>
        </p:txBody>
      </p:sp>
      <p:sp>
        <p:nvSpPr>
          <p:cNvPr id="6150" name="Rectangle 3"/>
          <p:cNvSpPr>
            <a:spLocks noGrp="1" noChangeArrowheads="1"/>
          </p:cNvSpPr>
          <p:nvPr>
            <p:ph type="body" idx="1"/>
          </p:nvPr>
        </p:nvSpPr>
        <p:spPr>
          <a:xfrm>
            <a:off x="611474" y="1340251"/>
            <a:ext cx="8119141" cy="4114800"/>
          </a:xfrm>
        </p:spPr>
        <p:txBody>
          <a:bodyPr/>
          <a:lstStyle/>
          <a:p>
            <a:pPr eaLnBrk="1" hangingPunct="1"/>
            <a:r>
              <a:rPr lang="en-US" altLang="zh-CN" dirty="0">
                <a:latin typeface="Times New Roman" panose="02020503050405090304" pitchFamily="18" charset="0"/>
              </a:rPr>
              <a:t>Assume that the universe of discourse for the variables x and y consists of all real numbers.</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sym typeface="Symbol" panose="05050102010706020507" pitchFamily="18" charset="2"/>
              </a:rPr>
              <a:t>Example 1</a:t>
            </a:r>
            <a:endParaRPr lang="en-US" altLang="zh-CN" dirty="0">
              <a:latin typeface="Times New Roman" panose="02020503050405090304" pitchFamily="18" charset="0"/>
              <a:sym typeface="Symbol" panose="05050102010706020507" pitchFamily="18" charset="2"/>
            </a:endParaRPr>
          </a:p>
          <a:p>
            <a:pPr lvl="1" eaLnBrk="1" hangingPunct="1"/>
            <a:r>
              <a:rPr lang="en-US" altLang="zh-CN" i="1"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xy</a:t>
            </a:r>
            <a:r>
              <a:rPr lang="en-US" altLang="zh-CN" i="1"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i="1" dirty="0">
                <a:latin typeface="Times New Roman" panose="02020503050405090304" pitchFamily="18" charset="0"/>
                <a:sym typeface="Symbol" panose="05050102010706020507" pitchFamily="18" charset="2"/>
              </a:rPr>
              <a:t>)</a:t>
            </a:r>
            <a:endParaRPr lang="en-US" altLang="zh-CN" i="1" dirty="0">
              <a:latin typeface="Times New Roman" panose="02020503050405090304" pitchFamily="18" charset="0"/>
              <a:sym typeface="Symbol" panose="05050102010706020507" pitchFamily="18" charset="2"/>
            </a:endParaRPr>
          </a:p>
          <a:p>
            <a:pPr lvl="1" eaLnBrk="1" hangingPunct="1"/>
            <a:endParaRPr lang="en-US" altLang="zh-CN" i="1" dirty="0">
              <a:latin typeface="Times New Roman" panose="02020503050405090304" pitchFamily="18" charset="0"/>
              <a:sym typeface="Symbol" panose="05050102010706020507" pitchFamily="18" charset="2"/>
            </a:endParaRPr>
          </a:p>
          <a:p>
            <a:pPr lvl="1" eaLnBrk="1" hangingPunct="1"/>
            <a:r>
              <a:rPr lang="en-US" altLang="zh-CN" i="1"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xy</a:t>
            </a:r>
            <a:r>
              <a:rPr lang="en-US" altLang="zh-CN" i="1" dirty="0">
                <a:latin typeface="Times New Roman" panose="02020503050405090304" pitchFamily="18" charset="0"/>
                <a:sym typeface="Symbol" panose="05050102010706020507" pitchFamily="18" charset="2"/>
              </a:rPr>
              <a:t>(x</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y</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0)</a:t>
            </a:r>
            <a:endParaRPr lang="en-US" altLang="zh-CN" i="1" dirty="0">
              <a:latin typeface="Times New Roman" panose="02020503050405090304" pitchFamily="18" charset="0"/>
              <a:sym typeface="Symbol" panose="05050102010706020507" pitchFamily="18" charset="2"/>
            </a:endParaRPr>
          </a:p>
          <a:p>
            <a:pPr lvl="1" eaLnBrk="1" hangingPunct="1"/>
            <a:endParaRPr lang="en-US" altLang="zh-CN" i="1" dirty="0">
              <a:latin typeface="Times New Roman" panose="02020503050405090304" pitchFamily="18" charset="0"/>
              <a:sym typeface="Symbol" panose="05050102010706020507" pitchFamily="18" charset="2"/>
            </a:endParaRPr>
          </a:p>
          <a:p>
            <a:pPr lvl="1" eaLnBrk="1" hangingPunct="1"/>
            <a:r>
              <a:rPr lang="en-US" altLang="zh-CN" i="1"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xyz</a:t>
            </a:r>
            <a:r>
              <a:rPr lang="en-US" altLang="zh-CN" i="1" dirty="0">
                <a:latin typeface="Times New Roman" panose="02020503050405090304" pitchFamily="18" charset="0"/>
                <a:sym typeface="Symbol" panose="05050102010706020507" pitchFamily="18" charset="2"/>
              </a:rPr>
              <a:t>(x</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z</a:t>
            </a:r>
            <a:r>
              <a:rPr lang="en-US" altLang="zh-CN" i="1"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i="1"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z)</a:t>
            </a:r>
            <a:endParaRPr lang="en-US" altLang="zh-CN" i="1" dirty="0">
              <a:latin typeface="Times New Roman" panose="02020503050405090304" pitchFamily="18" charset="0"/>
              <a:sym typeface="Symbol" panose="05050102010706020507" pitchFamily="18" charset="2"/>
            </a:endParaRPr>
          </a:p>
        </p:txBody>
      </p:sp>
      <p:sp>
        <p:nvSpPr>
          <p:cNvPr id="2" name="文本框 1"/>
          <p:cNvSpPr txBox="1"/>
          <p:nvPr/>
        </p:nvSpPr>
        <p:spPr>
          <a:xfrm>
            <a:off x="1619925" y="3586981"/>
            <a:ext cx="5150769" cy="461665"/>
          </a:xfrm>
          <a:prstGeom prst="rect">
            <a:avLst/>
          </a:prstGeom>
          <a:noFill/>
        </p:spPr>
        <p:txBody>
          <a:bodyPr wrap="none" rtlCol="0">
            <a:spAutoFit/>
          </a:bodyPr>
          <a:lstStyle/>
          <a:p>
            <a:r>
              <a:rPr lang="en-US" altLang="zh-CN" b="0" u="none" dirty="0"/>
              <a:t>x </a:t>
            </a:r>
            <a:r>
              <a:rPr lang="en-US" altLang="zh-CN" b="0" i="0" u="none" dirty="0"/>
              <a:t>+ </a:t>
            </a:r>
            <a:r>
              <a:rPr lang="en-US" altLang="zh-CN" b="0" u="none" dirty="0"/>
              <a:t>y </a:t>
            </a:r>
            <a:r>
              <a:rPr lang="en-US" altLang="zh-CN" b="0" i="0" u="none" dirty="0"/>
              <a:t>= </a:t>
            </a:r>
            <a:r>
              <a:rPr lang="en-US" altLang="zh-CN" b="0" u="none" dirty="0"/>
              <a:t>y </a:t>
            </a:r>
            <a:r>
              <a:rPr lang="en-US" altLang="zh-CN" b="0" i="0" u="none" dirty="0"/>
              <a:t>+ </a:t>
            </a:r>
            <a:r>
              <a:rPr lang="en-US" altLang="zh-CN" b="0" u="none" dirty="0"/>
              <a:t>x </a:t>
            </a:r>
            <a:r>
              <a:rPr lang="en-US" altLang="zh-CN" b="0" i="0" u="none" dirty="0"/>
              <a:t>for all real numbers </a:t>
            </a:r>
            <a:r>
              <a:rPr lang="en-US" altLang="zh-CN" b="0" u="none" dirty="0"/>
              <a:t>x </a:t>
            </a:r>
            <a:r>
              <a:rPr lang="en-US" altLang="zh-CN" b="0" i="0" u="none" dirty="0"/>
              <a:t>and </a:t>
            </a:r>
            <a:r>
              <a:rPr lang="en-US" altLang="zh-CN" b="0" u="none" dirty="0"/>
              <a:t>y</a:t>
            </a:r>
            <a:endParaRPr lang="zh-CN" altLang="en-US" dirty="0"/>
          </a:p>
        </p:txBody>
      </p:sp>
      <p:sp>
        <p:nvSpPr>
          <p:cNvPr id="3" name="文本框 2"/>
          <p:cNvSpPr txBox="1"/>
          <p:nvPr/>
        </p:nvSpPr>
        <p:spPr>
          <a:xfrm>
            <a:off x="684752" y="4520685"/>
            <a:ext cx="8358378" cy="461665"/>
          </a:xfrm>
          <a:prstGeom prst="rect">
            <a:avLst/>
          </a:prstGeom>
          <a:noFill/>
        </p:spPr>
        <p:txBody>
          <a:bodyPr wrap="none" rtlCol="0">
            <a:spAutoFit/>
          </a:bodyPr>
          <a:lstStyle/>
          <a:p>
            <a:r>
              <a:rPr lang="en-US" altLang="zh-CN" b="0" i="0" u="none" dirty="0"/>
              <a:t>for every real number </a:t>
            </a:r>
            <a:r>
              <a:rPr lang="en-US" altLang="zh-CN" b="0" u="none" dirty="0"/>
              <a:t>x </a:t>
            </a:r>
            <a:r>
              <a:rPr lang="en-US" altLang="zh-CN" b="0" i="0" u="none" dirty="0"/>
              <a:t>there is a real number </a:t>
            </a:r>
            <a:r>
              <a:rPr lang="en-US" altLang="zh-CN" b="0" u="none" dirty="0"/>
              <a:t>y </a:t>
            </a:r>
            <a:r>
              <a:rPr lang="en-US" altLang="zh-CN" b="0" i="0" u="none" dirty="0"/>
              <a:t>such that </a:t>
            </a:r>
            <a:r>
              <a:rPr lang="en-US" altLang="zh-CN" b="0" u="none" dirty="0"/>
              <a:t>x </a:t>
            </a:r>
            <a:r>
              <a:rPr lang="en-US" altLang="zh-CN" b="0" i="0" u="none" dirty="0"/>
              <a:t>+ </a:t>
            </a:r>
            <a:r>
              <a:rPr lang="en-US" altLang="zh-CN" b="0" u="none" dirty="0"/>
              <a:t>y </a:t>
            </a:r>
            <a:r>
              <a:rPr lang="en-US" altLang="zh-CN" b="0" i="0" u="none" dirty="0"/>
              <a:t>= 0</a:t>
            </a:r>
            <a:endParaRPr lang="zh-CN" altLang="en-US" dirty="0"/>
          </a:p>
        </p:txBody>
      </p:sp>
      <p:sp>
        <p:nvSpPr>
          <p:cNvPr id="4" name="文本框 3"/>
          <p:cNvSpPr txBox="1"/>
          <p:nvPr/>
        </p:nvSpPr>
        <p:spPr>
          <a:xfrm>
            <a:off x="1043355" y="5697025"/>
            <a:ext cx="5580374" cy="461665"/>
          </a:xfrm>
          <a:prstGeom prst="rect">
            <a:avLst/>
          </a:prstGeom>
          <a:noFill/>
        </p:spPr>
        <p:txBody>
          <a:bodyPr wrap="none" rtlCol="0">
            <a:spAutoFit/>
          </a:bodyPr>
          <a:lstStyle/>
          <a:p>
            <a:r>
              <a:rPr lang="en-US" altLang="zh-CN" b="0" i="0" u="none" dirty="0">
                <a:solidFill>
                  <a:srgbClr val="FF0000"/>
                </a:solidFill>
              </a:rPr>
              <a:t>associative law </a:t>
            </a:r>
            <a:r>
              <a:rPr lang="en-US" altLang="zh-CN" b="0" i="0" u="none" dirty="0"/>
              <a:t>for addition of real numbers</a:t>
            </a:r>
            <a:endParaRPr lang="zh-CN" altLang="en-US" dirty="0"/>
          </a:p>
        </p:txBody>
      </p:sp>
      <p:sp>
        <p:nvSpPr>
          <p:cNvPr id="5" name="矩形 4"/>
          <p:cNvSpPr/>
          <p:nvPr/>
        </p:nvSpPr>
        <p:spPr>
          <a:xfrm>
            <a:off x="4094857" y="2709027"/>
            <a:ext cx="4283968" cy="830997"/>
          </a:xfrm>
          <a:prstGeom prst="rect">
            <a:avLst/>
          </a:prstGeom>
        </p:spPr>
        <p:txBody>
          <a:bodyPr wrap="square">
            <a:spAutoFit/>
          </a:bodyPr>
          <a:lstStyle/>
          <a:p>
            <a:r>
              <a:rPr lang="en-US" altLang="zh-CN" b="0" i="0" u="none" dirty="0">
                <a:solidFill>
                  <a:srgbClr val="FF0000"/>
                </a:solidFill>
                <a:latin typeface="Times-Roman"/>
              </a:rPr>
              <a:t>commutative law </a:t>
            </a:r>
            <a:r>
              <a:rPr lang="en-US" altLang="zh-CN" b="0" i="0" u="none" dirty="0">
                <a:solidFill>
                  <a:srgbClr val="231F20"/>
                </a:solidFill>
                <a:latin typeface="Times-Roman"/>
              </a:rPr>
              <a:t>for addition</a:t>
            </a:r>
            <a:br>
              <a:rPr lang="en-US" altLang="zh-CN" b="0" i="0" u="none" dirty="0">
                <a:solidFill>
                  <a:srgbClr val="231F20"/>
                </a:solidFill>
                <a:latin typeface="Times-Roman"/>
              </a:rPr>
            </a:br>
            <a:r>
              <a:rPr lang="en-US" altLang="zh-CN" b="0" i="0" u="none" dirty="0">
                <a:solidFill>
                  <a:srgbClr val="231F20"/>
                </a:solidFill>
                <a:latin typeface="Times-Roman"/>
              </a:rPr>
              <a:t>of real numbers</a:t>
            </a:r>
            <a:r>
              <a:rPr lang="en-US" altLang="zh-CN" u="none" dirty="0"/>
              <a:t> </a:t>
            </a:r>
            <a:endParaRPr lang="zh-CN" altLang="en-US" dirty="0"/>
          </a:p>
        </p:txBody>
      </p:sp>
      <p:sp>
        <p:nvSpPr>
          <p:cNvPr id="6" name="文本框 5"/>
          <p:cNvSpPr txBox="1"/>
          <p:nvPr/>
        </p:nvSpPr>
        <p:spPr>
          <a:xfrm>
            <a:off x="3583739" y="4095980"/>
            <a:ext cx="5306261" cy="461665"/>
          </a:xfrm>
          <a:prstGeom prst="rect">
            <a:avLst/>
          </a:prstGeom>
          <a:noFill/>
        </p:spPr>
        <p:txBody>
          <a:bodyPr wrap="none" rtlCol="0">
            <a:spAutoFit/>
          </a:bodyPr>
          <a:lstStyle/>
          <a:p>
            <a:r>
              <a:rPr lang="en-US" altLang="zh-CN" b="0" i="0" u="none" dirty="0"/>
              <a:t>every real number has an </a:t>
            </a:r>
            <a:r>
              <a:rPr lang="en-US" altLang="zh-CN" b="0" i="0" u="none" dirty="0">
                <a:solidFill>
                  <a:srgbClr val="FF0000"/>
                </a:solidFill>
              </a:rPr>
              <a:t>additive inverse</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241999A5-7C8B-4D9B-A7FF-B253681691B6}"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717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3307996-C8CD-4794-AE13-A0327C4CB729}"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717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7174" name="Rectangle 3"/>
          <p:cNvSpPr>
            <a:spLocks noGrp="1" noChangeArrowheads="1"/>
          </p:cNvSpPr>
          <p:nvPr>
            <p:ph type="body" idx="1"/>
          </p:nvPr>
        </p:nvSpPr>
        <p:spPr/>
        <p:txBody>
          <a:bodyPr/>
          <a:lstStyle/>
          <a:p>
            <a:pPr eaLnBrk="1" hangingPunct="1"/>
            <a:r>
              <a:rPr lang="en-US" altLang="zh-CN" dirty="0">
                <a:latin typeface="Times New Roman" panose="02020503050405090304" pitchFamily="18" charset="0"/>
              </a:rPr>
              <a:t>Example 2</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x</a:t>
            </a:r>
            <a:r>
              <a:rPr lang="en-US" altLang="zh-CN" dirty="0">
                <a:latin typeface="Times New Roman" panose="02020503050405090304" pitchFamily="18" charset="0"/>
                <a:sym typeface="Symbol" panose="05050102010706020507" pitchFamily="18" charset="2"/>
              </a:rPr>
              <a:t>0)(</a:t>
            </a:r>
            <a:r>
              <a:rPr lang="en-US" altLang="zh-CN" i="1" dirty="0">
                <a:latin typeface="Times New Roman" panose="02020503050405090304" pitchFamily="18" charset="0"/>
                <a:sym typeface="Symbol" panose="05050102010706020507" pitchFamily="18" charset="2"/>
              </a:rPr>
              <a:t>y</a:t>
            </a:r>
            <a:r>
              <a:rPr lang="en-US" altLang="zh-CN" dirty="0">
                <a:latin typeface="Times New Roman" panose="02020503050405090304" pitchFamily="18" charset="0"/>
                <a:sym typeface="Symbol" panose="05050102010706020507" pitchFamily="18" charset="2"/>
              </a:rPr>
              <a:t>0)(</a:t>
            </a:r>
            <a:r>
              <a:rPr lang="en-US" altLang="zh-CN" i="1" dirty="0">
                <a:latin typeface="Times New Roman" panose="02020503050405090304" pitchFamily="18" charset="0"/>
                <a:sym typeface="Symbol" panose="05050102010706020507" pitchFamily="18" charset="2"/>
              </a:rPr>
              <a:t>xy</a:t>
            </a:r>
            <a:r>
              <a:rPr lang="en-US" altLang="zh-CN" dirty="0">
                <a:latin typeface="Times New Roman" panose="02020503050405090304" pitchFamily="18" charset="0"/>
                <a:sym typeface="Symbol" panose="05050102010706020507" pitchFamily="18" charset="2"/>
              </a:rPr>
              <a:t>0))</a:t>
            </a:r>
            <a:endParaRPr lang="en-US" altLang="zh-CN" dirty="0">
              <a:latin typeface="Times New Roman" panose="02020503050405090304" pitchFamily="18" charset="0"/>
              <a:sym typeface="Symbol" panose="05050102010706020507" pitchFamily="18" charset="2"/>
            </a:endParaRPr>
          </a:p>
        </p:txBody>
      </p:sp>
      <p:sp>
        <p:nvSpPr>
          <p:cNvPr id="3" name="矩形 2"/>
          <p:cNvSpPr/>
          <p:nvPr/>
        </p:nvSpPr>
        <p:spPr>
          <a:xfrm>
            <a:off x="899462" y="2492990"/>
            <a:ext cx="7900367" cy="3539430"/>
          </a:xfrm>
          <a:prstGeom prst="rect">
            <a:avLst/>
          </a:prstGeom>
        </p:spPr>
        <p:txBody>
          <a:bodyPr wrap="square">
            <a:spAutoFit/>
          </a:bodyPr>
          <a:lstStyle/>
          <a:p>
            <a:pPr marL="457200" indent="-457200">
              <a:buClr>
                <a:srgbClr val="FF0000"/>
              </a:buClr>
              <a:buSzPct val="50000"/>
              <a:buFont typeface="Wingdings" panose="05000000000000000000" pitchFamily="2" charset="2"/>
              <a:buChar char="n"/>
            </a:pPr>
            <a:r>
              <a:rPr lang="en-US" altLang="zh-CN" sz="2800" b="0" i="0" u="none" dirty="0">
                <a:solidFill>
                  <a:srgbClr val="231F20"/>
                </a:solidFill>
                <a:cs typeface="Times New Roman" panose="02020503050405090304" pitchFamily="18" charset="0"/>
              </a:rPr>
              <a:t>For every real number </a:t>
            </a:r>
            <a:r>
              <a:rPr lang="en-US" altLang="zh-CN" sz="2800" b="0" u="none" dirty="0">
                <a:solidFill>
                  <a:srgbClr val="231F20"/>
                </a:solidFill>
                <a:cs typeface="Times New Roman" panose="02020503050405090304" pitchFamily="18" charset="0"/>
              </a:rPr>
              <a:t>x </a:t>
            </a:r>
            <a:r>
              <a:rPr lang="en-US" altLang="zh-CN" sz="2800" b="0" i="0" u="none" dirty="0">
                <a:solidFill>
                  <a:srgbClr val="231F20"/>
                </a:solidFill>
                <a:cs typeface="Times New Roman" panose="02020503050405090304" pitchFamily="18" charset="0"/>
              </a:rPr>
              <a:t>and for every real number </a:t>
            </a:r>
            <a:r>
              <a:rPr lang="en-US" altLang="zh-CN" sz="2800" b="0" u="none" dirty="0">
                <a:solidFill>
                  <a:srgbClr val="231F20"/>
                </a:solidFill>
                <a:cs typeface="Times New Roman" panose="02020503050405090304" pitchFamily="18" charset="0"/>
              </a:rPr>
              <a:t>y</a:t>
            </a:r>
            <a:r>
              <a:rPr lang="en-US" altLang="zh-CN" sz="2800" b="0" i="0" u="none" dirty="0">
                <a:solidFill>
                  <a:srgbClr val="231F20"/>
                </a:solidFill>
                <a:cs typeface="Times New Roman" panose="02020503050405090304" pitchFamily="18" charset="0"/>
              </a:rPr>
              <a:t>, if </a:t>
            </a:r>
            <a:r>
              <a:rPr lang="en-US" altLang="zh-CN" sz="2800" b="0" u="none" dirty="0">
                <a:solidFill>
                  <a:srgbClr val="231F20"/>
                </a:solidFill>
                <a:cs typeface="Times New Roman" panose="02020503050405090304" pitchFamily="18" charset="0"/>
              </a:rPr>
              <a:t>x &gt; </a:t>
            </a:r>
            <a:r>
              <a:rPr lang="en-US" altLang="zh-CN" sz="2800" b="0" i="0" u="none" dirty="0">
                <a:solidFill>
                  <a:srgbClr val="231F20"/>
                </a:solidFill>
                <a:cs typeface="Times New Roman" panose="02020503050405090304" pitchFamily="18" charset="0"/>
              </a:rPr>
              <a:t>0 and </a:t>
            </a:r>
            <a:r>
              <a:rPr lang="en-US" altLang="zh-CN" sz="2800" b="0" u="none" dirty="0">
                <a:solidFill>
                  <a:srgbClr val="231F20"/>
                </a:solidFill>
                <a:cs typeface="Times New Roman" panose="02020503050405090304" pitchFamily="18" charset="0"/>
              </a:rPr>
              <a:t>y &lt; </a:t>
            </a:r>
            <a:r>
              <a:rPr lang="en-US" altLang="zh-CN" sz="2800" b="0" i="0" u="none" dirty="0">
                <a:solidFill>
                  <a:srgbClr val="231F20"/>
                </a:solidFill>
                <a:cs typeface="Times New Roman" panose="02020503050405090304" pitchFamily="18" charset="0"/>
              </a:rPr>
              <a:t>0, then </a:t>
            </a:r>
            <a:r>
              <a:rPr lang="en-US" altLang="zh-CN" sz="2800" b="0" u="none" dirty="0" err="1">
                <a:solidFill>
                  <a:srgbClr val="231F20"/>
                </a:solidFill>
                <a:cs typeface="Times New Roman" panose="02020503050405090304" pitchFamily="18" charset="0"/>
              </a:rPr>
              <a:t>xy</a:t>
            </a:r>
            <a:r>
              <a:rPr lang="en-US" altLang="zh-CN" sz="2800" b="0" u="none" dirty="0">
                <a:solidFill>
                  <a:srgbClr val="231F20"/>
                </a:solidFill>
                <a:cs typeface="Times New Roman" panose="02020503050405090304" pitchFamily="18" charset="0"/>
              </a:rPr>
              <a:t> &lt; </a:t>
            </a:r>
            <a:r>
              <a:rPr lang="en-US" altLang="zh-CN" sz="2800" b="0" i="0" u="none" dirty="0">
                <a:solidFill>
                  <a:srgbClr val="231F20"/>
                </a:solidFill>
                <a:cs typeface="Times New Roman" panose="02020503050405090304" pitchFamily="18" charset="0"/>
              </a:rPr>
              <a:t>0. </a:t>
            </a:r>
            <a:endParaRPr lang="en-US" altLang="zh-CN" sz="2800" b="0" i="0" u="none" dirty="0">
              <a:solidFill>
                <a:srgbClr val="231F20"/>
              </a:solidFill>
              <a:cs typeface="Times New Roman" panose="02020503050405090304" pitchFamily="18" charset="0"/>
            </a:endParaRPr>
          </a:p>
          <a:p>
            <a:pPr marL="457200" indent="-457200">
              <a:buClr>
                <a:srgbClr val="FF0000"/>
              </a:buClr>
              <a:buSzPct val="50000"/>
              <a:buFont typeface="Wingdings" panose="05000000000000000000" pitchFamily="2" charset="2"/>
              <a:buChar char="n"/>
            </a:pPr>
            <a:r>
              <a:rPr lang="en-US" altLang="zh-CN" sz="2800" b="0" i="0" u="none" dirty="0">
                <a:solidFill>
                  <a:srgbClr val="231F20"/>
                </a:solidFill>
                <a:cs typeface="Times New Roman" panose="02020503050405090304" pitchFamily="18" charset="0"/>
              </a:rPr>
              <a:t>For real numbers </a:t>
            </a:r>
            <a:r>
              <a:rPr lang="en-US" altLang="zh-CN" sz="2800" b="0" u="none" dirty="0">
                <a:solidFill>
                  <a:srgbClr val="231F20"/>
                </a:solidFill>
                <a:cs typeface="Times New Roman" panose="02020503050405090304" pitchFamily="18" charset="0"/>
              </a:rPr>
              <a:t>x </a:t>
            </a:r>
            <a:r>
              <a:rPr lang="en-US" altLang="zh-CN" sz="2800" b="0" i="0" u="none" dirty="0">
                <a:solidFill>
                  <a:srgbClr val="231F20"/>
                </a:solidFill>
                <a:cs typeface="Times New Roman" panose="02020503050405090304" pitchFamily="18" charset="0"/>
              </a:rPr>
              <a:t>and </a:t>
            </a:r>
            <a:r>
              <a:rPr lang="en-US" altLang="zh-CN" sz="2800" b="0" u="none" dirty="0">
                <a:solidFill>
                  <a:srgbClr val="231F20"/>
                </a:solidFill>
                <a:cs typeface="Times New Roman" panose="02020503050405090304" pitchFamily="18" charset="0"/>
              </a:rPr>
              <a:t>y</a:t>
            </a:r>
            <a:r>
              <a:rPr lang="en-US" altLang="zh-CN" sz="2800" b="0" i="0" u="none" dirty="0">
                <a:solidFill>
                  <a:srgbClr val="231F20"/>
                </a:solidFill>
                <a:cs typeface="Times New Roman" panose="02020503050405090304" pitchFamily="18" charset="0"/>
              </a:rPr>
              <a:t>, if </a:t>
            </a:r>
            <a:r>
              <a:rPr lang="en-US" altLang="zh-CN" sz="2800" b="0" u="none" dirty="0">
                <a:solidFill>
                  <a:srgbClr val="231F20"/>
                </a:solidFill>
                <a:cs typeface="Times New Roman" panose="02020503050405090304" pitchFamily="18" charset="0"/>
              </a:rPr>
              <a:t>x </a:t>
            </a:r>
            <a:r>
              <a:rPr lang="en-US" altLang="zh-CN" sz="2800" b="0" i="0" u="none" dirty="0">
                <a:solidFill>
                  <a:srgbClr val="231F20"/>
                </a:solidFill>
                <a:cs typeface="Times New Roman" panose="02020503050405090304" pitchFamily="18" charset="0"/>
              </a:rPr>
              <a:t>is positive and </a:t>
            </a:r>
            <a:r>
              <a:rPr lang="en-US" altLang="zh-CN" sz="2800" b="0" u="none" dirty="0">
                <a:solidFill>
                  <a:srgbClr val="231F20"/>
                </a:solidFill>
                <a:cs typeface="Times New Roman" panose="02020503050405090304" pitchFamily="18" charset="0"/>
              </a:rPr>
              <a:t>y </a:t>
            </a:r>
            <a:r>
              <a:rPr lang="en-US" altLang="zh-CN" sz="2800" b="0" i="0" u="none" dirty="0">
                <a:solidFill>
                  <a:srgbClr val="231F20"/>
                </a:solidFill>
                <a:cs typeface="Times New Roman" panose="02020503050405090304" pitchFamily="18" charset="0"/>
              </a:rPr>
              <a:t>is negative, then </a:t>
            </a:r>
            <a:r>
              <a:rPr lang="en-US" altLang="zh-CN" sz="2800" b="0" u="none" dirty="0" err="1">
                <a:solidFill>
                  <a:srgbClr val="231F20"/>
                </a:solidFill>
                <a:cs typeface="Times New Roman" panose="02020503050405090304" pitchFamily="18" charset="0"/>
              </a:rPr>
              <a:t>xy</a:t>
            </a:r>
            <a:r>
              <a:rPr lang="en-US" altLang="zh-CN" sz="2800" b="0" u="none" dirty="0">
                <a:solidFill>
                  <a:srgbClr val="231F20"/>
                </a:solidFill>
                <a:cs typeface="Times New Roman" panose="02020503050405090304" pitchFamily="18" charset="0"/>
              </a:rPr>
              <a:t> </a:t>
            </a:r>
            <a:r>
              <a:rPr lang="en-US" altLang="zh-CN" sz="2800" b="0" i="0" u="none" dirty="0">
                <a:solidFill>
                  <a:srgbClr val="231F20"/>
                </a:solidFill>
                <a:cs typeface="Times New Roman" panose="02020503050405090304" pitchFamily="18" charset="0"/>
              </a:rPr>
              <a:t>is negative. </a:t>
            </a:r>
            <a:endParaRPr lang="en-US" altLang="zh-CN" sz="2800" b="0" i="0" u="none" dirty="0">
              <a:solidFill>
                <a:srgbClr val="231F20"/>
              </a:solidFill>
              <a:cs typeface="Times New Roman" panose="02020503050405090304" pitchFamily="18" charset="0"/>
            </a:endParaRPr>
          </a:p>
          <a:p>
            <a:pPr marL="457200" indent="-457200">
              <a:buClr>
                <a:srgbClr val="FF0000"/>
              </a:buClr>
              <a:buSzPct val="50000"/>
              <a:buFont typeface="Wingdings" panose="05000000000000000000" pitchFamily="2" charset="2"/>
              <a:buChar char="n"/>
            </a:pPr>
            <a:r>
              <a:rPr lang="en-US" altLang="zh-CN" sz="2800" b="0" i="0" u="none" dirty="0">
                <a:solidFill>
                  <a:srgbClr val="231F20"/>
                </a:solidFill>
                <a:cs typeface="Times New Roman" panose="02020503050405090304" pitchFamily="18" charset="0"/>
              </a:rPr>
              <a:t>“The product of a positive real number and a negative real number is always a negative real </a:t>
            </a:r>
            <a:r>
              <a:rPr lang="en-US" altLang="zh-CN" sz="3200" b="0" i="0" u="none" dirty="0">
                <a:solidFill>
                  <a:srgbClr val="231F20"/>
                </a:solidFill>
                <a:cs typeface="Times New Roman" panose="02020503050405090304" pitchFamily="18" charset="0"/>
              </a:rPr>
              <a:t>number</a:t>
            </a:r>
            <a:r>
              <a:rPr lang="en-US" altLang="zh-CN" sz="2800" b="0" i="0" u="none" dirty="0">
                <a:solidFill>
                  <a:srgbClr val="231F20"/>
                </a:solidFill>
                <a:cs typeface="Times New Roman" panose="02020503050405090304" pitchFamily="18" charset="0"/>
              </a:rPr>
              <a:t>.”</a:t>
            </a:r>
            <a:r>
              <a:rPr lang="en-US" altLang="zh-CN" sz="2800" u="none" dirty="0">
                <a:cs typeface="Times New Roman" panose="02020503050405090304" pitchFamily="18" charset="0"/>
              </a:rPr>
              <a:t> </a:t>
            </a:r>
            <a:br>
              <a:rPr lang="en-US" altLang="zh-CN" u="none" dirty="0">
                <a:cs typeface="Times New Roman" panose="02020503050405090304" pitchFamily="18" charset="0"/>
              </a:rPr>
            </a:br>
            <a:endParaRPr lang="zh-CN" altLang="en-US" u="none" dirty="0">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13E493CC-FB55-424B-8D32-1B3F9E6340D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819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B9CEF01-1EB5-4CF0-A2BD-836F97BAC262}"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819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8197" name="Rectangle 2"/>
          <p:cNvSpPr>
            <a:spLocks noGrp="1" noChangeArrowheads="1"/>
          </p:cNvSpPr>
          <p:nvPr>
            <p:ph type="title"/>
          </p:nvPr>
        </p:nvSpPr>
        <p:spPr>
          <a:xfrm>
            <a:off x="1040448" y="116523"/>
            <a:ext cx="7993062" cy="1143000"/>
          </a:xfrm>
        </p:spPr>
        <p:txBody>
          <a:bodyPr/>
          <a:lstStyle/>
          <a:p>
            <a:pPr eaLnBrk="1" hangingPunct="1"/>
            <a:r>
              <a:rPr lang="en-US" altLang="zh-CN" sz="3600" b="1" dirty="0"/>
              <a:t>Translating from Nested Quantifiers into English</a:t>
            </a:r>
            <a:r>
              <a:rPr lang="en-US" altLang="zh-CN" sz="3600" dirty="0"/>
              <a:t> </a:t>
            </a:r>
            <a:endParaRPr lang="en-US" altLang="zh-CN" sz="3600" dirty="0"/>
          </a:p>
        </p:txBody>
      </p:sp>
      <p:sp>
        <p:nvSpPr>
          <p:cNvPr id="8198" name="Rectangle 3"/>
          <p:cNvSpPr>
            <a:spLocks noGrp="1" noChangeArrowheads="1"/>
          </p:cNvSpPr>
          <p:nvPr>
            <p:ph type="body" idx="1"/>
          </p:nvPr>
        </p:nvSpPr>
        <p:spPr>
          <a:xfrm>
            <a:off x="635000" y="1341120"/>
            <a:ext cx="8108950" cy="4114800"/>
          </a:xfrm>
        </p:spPr>
        <p:txBody>
          <a:bodyPr/>
          <a:lstStyle/>
          <a:p>
            <a:pPr eaLnBrk="1" hangingPunct="1">
              <a:lnSpc>
                <a:spcPct val="90000"/>
              </a:lnSpc>
            </a:pPr>
            <a:r>
              <a:rPr lang="en-US" altLang="zh-CN" dirty="0">
                <a:latin typeface="Times New Roman" panose="02020503050405090304" pitchFamily="18" charset="0"/>
              </a:rPr>
              <a:t>Assume the universe of discourse for</a:t>
            </a:r>
            <a:r>
              <a:rPr lang="en-US" altLang="zh-CN" i="1" dirty="0">
                <a:latin typeface="Times New Roman" panose="02020503050405090304" pitchFamily="18" charset="0"/>
              </a:rPr>
              <a:t> x, y </a:t>
            </a:r>
            <a:r>
              <a:rPr lang="en-US" altLang="zh-CN" dirty="0">
                <a:latin typeface="Times New Roman" panose="02020503050405090304" pitchFamily="18" charset="0"/>
              </a:rPr>
              <a:t>and </a:t>
            </a:r>
            <a:r>
              <a:rPr lang="en-US" altLang="zh-CN" i="1" dirty="0">
                <a:latin typeface="Times New Roman" panose="02020503050405090304" pitchFamily="18" charset="0"/>
              </a:rPr>
              <a:t>z</a:t>
            </a:r>
            <a:r>
              <a:rPr lang="en-US" altLang="zh-CN" dirty="0">
                <a:latin typeface="Times New Roman" panose="02020503050405090304" pitchFamily="18" charset="0"/>
              </a:rPr>
              <a:t> consists of all students in your school.</a:t>
            </a:r>
            <a:endParaRPr lang="en-US" altLang="zh-CN" dirty="0">
              <a:latin typeface="Times New Roman" panose="02020503050405090304" pitchFamily="18" charset="0"/>
            </a:endParaRPr>
          </a:p>
          <a:p>
            <a:pPr lvl="1" eaLnBrk="1" hangingPunct="1">
              <a:lnSpc>
                <a:spcPct val="90000"/>
              </a:lnSpc>
            </a:pPr>
            <a:r>
              <a:rPr lang="en-US" altLang="zh-CN" i="1" dirty="0">
                <a:latin typeface="Times New Roman" panose="02020503050405090304" pitchFamily="18" charset="0"/>
              </a:rPr>
              <a:t>C</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 is “</a:t>
            </a:r>
            <a:r>
              <a:rPr lang="en-US" altLang="zh-CN" i="1" dirty="0">
                <a:latin typeface="Times New Roman" panose="02020503050405090304" pitchFamily="18" charset="0"/>
              </a:rPr>
              <a:t>x</a:t>
            </a:r>
            <a:r>
              <a:rPr lang="en-US" altLang="zh-CN" dirty="0">
                <a:latin typeface="Times New Roman" panose="02020503050405090304" pitchFamily="18" charset="0"/>
              </a:rPr>
              <a:t> has a computer”</a:t>
            </a:r>
            <a:endParaRPr lang="en-US" altLang="zh-CN" dirty="0">
              <a:latin typeface="Times New Roman" panose="02020503050405090304" pitchFamily="18" charset="0"/>
            </a:endParaRPr>
          </a:p>
          <a:p>
            <a:pPr lvl="1" eaLnBrk="1" hangingPunct="1">
              <a:lnSpc>
                <a:spcPct val="90000"/>
              </a:lnSpc>
            </a:pPr>
            <a:r>
              <a:rPr lang="en-US" altLang="zh-CN" i="1" dirty="0">
                <a:latin typeface="Times New Roman" panose="02020503050405090304" pitchFamily="18" charset="0"/>
              </a:rPr>
              <a:t>F(</a:t>
            </a:r>
            <a:r>
              <a:rPr lang="en-US" altLang="zh-CN" i="1" dirty="0" err="1">
                <a:latin typeface="Times New Roman" panose="02020503050405090304" pitchFamily="18" charset="0"/>
              </a:rPr>
              <a:t>x,y</a:t>
            </a:r>
            <a:r>
              <a:rPr lang="en-US" altLang="zh-CN" i="1" dirty="0">
                <a:latin typeface="Times New Roman" panose="02020503050405090304" pitchFamily="18" charset="0"/>
              </a:rPr>
              <a:t>)</a:t>
            </a:r>
            <a:r>
              <a:rPr lang="en-US" altLang="zh-CN" dirty="0">
                <a:latin typeface="Times New Roman" panose="02020503050405090304" pitchFamily="18" charset="0"/>
              </a:rPr>
              <a:t> is “</a:t>
            </a:r>
            <a:r>
              <a:rPr lang="en-US" altLang="zh-CN" i="1" dirty="0">
                <a:latin typeface="Times New Roman" panose="02020503050405090304" pitchFamily="18" charset="0"/>
              </a:rPr>
              <a:t>x</a:t>
            </a:r>
            <a:r>
              <a:rPr lang="en-US" altLang="zh-CN" dirty="0">
                <a:latin typeface="Times New Roman" panose="02020503050405090304" pitchFamily="18" charset="0"/>
              </a:rPr>
              <a:t> and </a:t>
            </a:r>
            <a:r>
              <a:rPr lang="en-US" altLang="zh-CN" i="1" dirty="0">
                <a:latin typeface="Times New Roman" panose="02020503050405090304" pitchFamily="18" charset="0"/>
              </a:rPr>
              <a:t>y</a:t>
            </a:r>
            <a:r>
              <a:rPr lang="en-US" altLang="zh-CN" dirty="0">
                <a:latin typeface="Times New Roman" panose="02020503050405090304" pitchFamily="18" charset="0"/>
              </a:rPr>
              <a:t> are friends”</a:t>
            </a:r>
            <a:endParaRPr lang="en-US" altLang="zh-CN"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Example 9  </a:t>
            </a:r>
            <a:r>
              <a:rPr lang="en-US" altLang="zh-CN" sz="2800" dirty="0">
                <a:latin typeface="Times New Roman" panose="02020503050405090304" pitchFamily="18" charset="0"/>
                <a:sym typeface="Symbol" panose="05050102010706020507" pitchFamily="18" charset="2"/>
              </a:rPr>
              <a:t></a:t>
            </a:r>
            <a:r>
              <a:rPr lang="en-US" altLang="zh-CN" sz="2800" i="1" dirty="0">
                <a:latin typeface="Times New Roman" panose="02020503050405090304" pitchFamily="18" charset="0"/>
                <a:sym typeface="Symbol" panose="05050102010706020507" pitchFamily="18" charset="2"/>
              </a:rPr>
              <a:t>x</a:t>
            </a:r>
            <a:r>
              <a:rPr lang="en-US" altLang="zh-CN" sz="2800" dirty="0">
                <a:latin typeface="Times New Roman" panose="02020503050405090304" pitchFamily="18" charset="0"/>
                <a:sym typeface="Symbol" panose="05050102010706020507" pitchFamily="18" charset="2"/>
              </a:rPr>
              <a:t>(</a:t>
            </a:r>
            <a:r>
              <a:rPr lang="en-US" altLang="zh-CN" sz="2800" i="1" dirty="0">
                <a:latin typeface="Times New Roman" panose="02020503050405090304" pitchFamily="18" charset="0"/>
                <a:sym typeface="Symbol" panose="05050102010706020507" pitchFamily="18" charset="2"/>
              </a:rPr>
              <a:t>C(x)</a:t>
            </a:r>
            <a:r>
              <a:rPr lang="en-US" altLang="zh-CN" sz="2800" dirty="0">
                <a:latin typeface="Times New Roman" panose="02020503050405090304" pitchFamily="18" charset="0"/>
                <a:sym typeface="Symbol" panose="05050102010706020507" pitchFamily="18" charset="2"/>
              </a:rPr>
              <a:t></a:t>
            </a:r>
            <a:r>
              <a:rPr lang="en-US" altLang="zh-CN" sz="2800" i="1" dirty="0">
                <a:latin typeface="Times New Roman" panose="02020503050405090304" pitchFamily="18" charset="0"/>
                <a:sym typeface="Symbol" panose="05050102010706020507" pitchFamily="18" charset="2"/>
              </a:rPr>
              <a:t>y</a:t>
            </a:r>
            <a:r>
              <a:rPr lang="en-US" altLang="zh-CN" sz="2800" dirty="0">
                <a:latin typeface="Times New Roman" panose="02020503050405090304" pitchFamily="18" charset="0"/>
                <a:sym typeface="Symbol" panose="05050102010706020507" pitchFamily="18" charset="2"/>
              </a:rPr>
              <a:t>(</a:t>
            </a:r>
            <a:r>
              <a:rPr lang="en-US" altLang="zh-CN" sz="2800" i="1" dirty="0">
                <a:latin typeface="Times New Roman" panose="02020503050405090304" pitchFamily="18" charset="0"/>
                <a:sym typeface="Symbol" panose="05050102010706020507" pitchFamily="18" charset="2"/>
              </a:rPr>
              <a:t>C(y)</a:t>
            </a:r>
            <a:r>
              <a:rPr lang="en-US" altLang="zh-CN" sz="2800" dirty="0">
                <a:latin typeface="Times New Roman" panose="02020503050405090304" pitchFamily="18" charset="0"/>
                <a:sym typeface="Symbol" panose="05050102010706020507" pitchFamily="18" charset="2"/>
              </a:rPr>
              <a:t></a:t>
            </a:r>
            <a:r>
              <a:rPr lang="en-US" altLang="zh-CN" sz="2800" i="1" dirty="0">
                <a:latin typeface="Times New Roman" panose="02020503050405090304" pitchFamily="18" charset="0"/>
                <a:sym typeface="Symbol" panose="05050102010706020507" pitchFamily="18" charset="2"/>
              </a:rPr>
              <a:t>F(</a:t>
            </a:r>
            <a:r>
              <a:rPr lang="en-US" altLang="zh-CN" sz="2800" i="1" dirty="0" err="1">
                <a:latin typeface="Times New Roman" panose="02020503050405090304" pitchFamily="18" charset="0"/>
                <a:sym typeface="Symbol" panose="05050102010706020507" pitchFamily="18" charset="2"/>
              </a:rPr>
              <a:t>x,y</a:t>
            </a:r>
            <a:r>
              <a:rPr lang="en-US" altLang="zh-CN" sz="2800" i="1" dirty="0">
                <a:latin typeface="Times New Roman" panose="02020503050405090304" pitchFamily="18" charset="0"/>
                <a:sym typeface="Symbol" panose="05050102010706020507" pitchFamily="18" charset="2"/>
              </a:rPr>
              <a:t>)</a:t>
            </a:r>
            <a:r>
              <a:rPr lang="en-US" altLang="zh-CN" sz="2800" dirty="0">
                <a:latin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sym typeface="Symbol" panose="05050102010706020507" pitchFamily="18" charset="2"/>
            </a:endParaRPr>
          </a:p>
          <a:p>
            <a:pPr eaLnBrk="1" hangingPunct="1">
              <a:lnSpc>
                <a:spcPct val="90000"/>
              </a:lnSpc>
            </a:pPr>
            <a:endParaRPr lang="en-US" altLang="zh-CN" dirty="0">
              <a:latin typeface="Times New Roman" panose="02020503050405090304" pitchFamily="18" charset="0"/>
              <a:sym typeface="Symbol" panose="05050102010706020507" pitchFamily="18" charset="2"/>
            </a:endParaRPr>
          </a:p>
          <a:p>
            <a:pPr eaLnBrk="1" hangingPunct="1">
              <a:lnSpc>
                <a:spcPct val="90000"/>
              </a:lnSpc>
            </a:pPr>
            <a:endParaRPr lang="en-US" altLang="zh-CN" sz="2800"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Example 10</a:t>
            </a:r>
            <a:endParaRPr lang="en-US" altLang="zh-CN" sz="2800"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z</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F(</a:t>
            </a:r>
            <a:r>
              <a:rPr lang="en-US" altLang="zh-CN" i="1" dirty="0" err="1">
                <a:latin typeface="Times New Roman" panose="02020503050405090304" pitchFamily="18" charset="0"/>
                <a:sym typeface="Symbol" panose="05050102010706020507" pitchFamily="18" charset="2"/>
              </a:rPr>
              <a:t>x,y</a:t>
            </a:r>
            <a:r>
              <a:rPr lang="en-US" altLang="zh-CN" i="1"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F(</a:t>
            </a:r>
            <a:r>
              <a:rPr lang="en-US" altLang="zh-CN" i="1" dirty="0" err="1">
                <a:latin typeface="Times New Roman" panose="02020503050405090304" pitchFamily="18" charset="0"/>
                <a:sym typeface="Symbol" panose="05050102010706020507" pitchFamily="18" charset="2"/>
              </a:rPr>
              <a:t>x,z</a:t>
            </a:r>
            <a:r>
              <a:rPr lang="en-US" altLang="zh-CN" i="1"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yz</a:t>
            </a:r>
            <a:r>
              <a:rPr lang="en-US" altLang="zh-CN" i="1"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F(</a:t>
            </a:r>
            <a:r>
              <a:rPr lang="en-US" altLang="zh-CN" i="1" dirty="0" err="1">
                <a:latin typeface="Times New Roman" panose="02020503050405090304" pitchFamily="18" charset="0"/>
                <a:sym typeface="Symbol" panose="05050102010706020507" pitchFamily="18" charset="2"/>
              </a:rPr>
              <a:t>y,z</a:t>
            </a:r>
            <a:r>
              <a:rPr lang="en-US" altLang="zh-CN" i="1"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	</a:t>
            </a:r>
            <a:endParaRPr lang="en-US" altLang="zh-CN" dirty="0">
              <a:latin typeface="Times New Roman" panose="02020503050405090304" pitchFamily="18" charset="0"/>
              <a:sym typeface="Symbol" panose="05050102010706020507" pitchFamily="18" charset="2"/>
            </a:endParaRPr>
          </a:p>
          <a:p>
            <a:pPr eaLnBrk="1" hangingPunct="1">
              <a:lnSpc>
                <a:spcPct val="90000"/>
              </a:lnSpc>
            </a:pPr>
            <a:endParaRPr lang="en-US" altLang="zh-CN" dirty="0">
              <a:latin typeface="Times New Roman" panose="02020503050405090304" pitchFamily="18" charset="0"/>
            </a:endParaRPr>
          </a:p>
        </p:txBody>
      </p:sp>
      <p:sp>
        <p:nvSpPr>
          <p:cNvPr id="2" name="矩形 1"/>
          <p:cNvSpPr/>
          <p:nvPr/>
        </p:nvSpPr>
        <p:spPr>
          <a:xfrm>
            <a:off x="1287145" y="3860790"/>
            <a:ext cx="6858000" cy="829945"/>
          </a:xfrm>
          <a:prstGeom prst="rect">
            <a:avLst/>
          </a:prstGeom>
        </p:spPr>
        <p:txBody>
          <a:bodyPr wrap="square">
            <a:spAutoFit/>
          </a:bodyPr>
          <a:lstStyle/>
          <a:p>
            <a:r>
              <a:rPr lang="en-US" altLang="zh-CN" b="0" u="none" dirty="0">
                <a:solidFill>
                  <a:srgbClr val="003399"/>
                </a:solidFill>
              </a:rPr>
              <a:t>Every student in your school has a computer or has a friend who has a computer. </a:t>
            </a:r>
            <a:endParaRPr lang="zh-CN" altLang="en-US" b="0" u="none" dirty="0">
              <a:solidFill>
                <a:srgbClr val="003399"/>
              </a:solidFill>
            </a:endParaRPr>
          </a:p>
        </p:txBody>
      </p:sp>
      <p:sp>
        <p:nvSpPr>
          <p:cNvPr id="3" name="文本框 2"/>
          <p:cNvSpPr txBox="1"/>
          <p:nvPr/>
        </p:nvSpPr>
        <p:spPr>
          <a:xfrm>
            <a:off x="-36512" y="5704904"/>
            <a:ext cx="9505056" cy="460375"/>
          </a:xfrm>
          <a:prstGeom prst="rect">
            <a:avLst/>
          </a:prstGeom>
          <a:noFill/>
        </p:spPr>
        <p:txBody>
          <a:bodyPr wrap="square" rtlCol="0">
            <a:spAutoFit/>
          </a:bodyPr>
          <a:lstStyle/>
          <a:p>
            <a:r>
              <a:rPr lang="en-US" altLang="zh-CN" b="0" u="none" dirty="0">
                <a:solidFill>
                  <a:srgbClr val="003399"/>
                </a:solidFill>
              </a:rPr>
              <a:t>There is a student none of whose friends are also friends with each other.</a:t>
            </a:r>
            <a:endParaRPr lang="en-US" altLang="zh-CN" b="0" u="none" dirty="0">
              <a:solidFill>
                <a:srgbClr val="0033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233" y="116523"/>
            <a:ext cx="7793037" cy="1143000"/>
          </a:xfrm>
        </p:spPr>
        <p:txBody>
          <a:bodyPr>
            <a:noAutofit/>
          </a:bodyPr>
          <a:lstStyle/>
          <a:p>
            <a:r>
              <a:rPr lang="en-US" sz="3200" dirty="0"/>
              <a:t>Translating Mathematical Statements into Predicate Logic </a:t>
            </a:r>
            <a:endParaRPr lang="en-US" sz="3200" dirty="0"/>
          </a:p>
        </p:txBody>
      </p:sp>
      <p:sp>
        <p:nvSpPr>
          <p:cNvPr id="3" name="Content Placeholder 2"/>
          <p:cNvSpPr>
            <a:spLocks noGrp="1"/>
          </p:cNvSpPr>
          <p:nvPr>
            <p:ph idx="1"/>
          </p:nvPr>
        </p:nvSpPr>
        <p:spPr>
          <a:xfrm>
            <a:off x="611560" y="1268413"/>
            <a:ext cx="8332415" cy="4371975"/>
          </a:xfrm>
        </p:spPr>
        <p:txBody>
          <a:bodyPr>
            <a:normAutofit fontScale="85000" lnSpcReduction="20000"/>
          </a:bodyPr>
          <a:lstStyle/>
          <a:p>
            <a:pPr eaLnBrk="1" hangingPunct="1"/>
            <a:r>
              <a:rPr lang="en-US" b="1" dirty="0"/>
              <a:t>  </a:t>
            </a:r>
            <a:r>
              <a:rPr lang="en-US" altLang="zh-CN" dirty="0">
                <a:latin typeface="Times New Roman" panose="02020503050405090304" pitchFamily="18" charset="0"/>
              </a:rPr>
              <a:t>Example 6</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The sum of two positive integers is positive.</a:t>
            </a:r>
            <a:endParaRPr lang="en-US" altLang="zh-CN" dirty="0">
              <a:latin typeface="Times New Roman" panose="02020503050405090304" pitchFamily="18" charset="0"/>
            </a:endParaRPr>
          </a:p>
          <a:p>
            <a:pPr>
              <a:buNone/>
            </a:pPr>
            <a:r>
              <a:rPr lang="en-US" b="1" dirty="0">
                <a:latin typeface="Times New Roman" panose="02020503050405090304" pitchFamily="18" charset="0"/>
                <a:cs typeface="Times New Roman" panose="02020503050405090304" pitchFamily="18" charset="0"/>
              </a:rPr>
              <a:t>Solution</a:t>
            </a:r>
            <a:r>
              <a:rPr lang="en-US" dirty="0">
                <a:latin typeface="Times New Roman" panose="02020503050405090304" pitchFamily="18" charset="0"/>
                <a:cs typeface="Times New Roman" panose="02020503050405090304" pitchFamily="18" charset="0"/>
              </a:rPr>
              <a:t>:</a:t>
            </a:r>
            <a:endParaRPr lang="en-US" dirty="0">
              <a:latin typeface="Times New Roman" panose="02020503050405090304" pitchFamily="18" charset="0"/>
              <a:cs typeface="Times New Roman" panose="02020503050405090304" pitchFamily="18" charset="0"/>
            </a:endParaRPr>
          </a:p>
          <a:p>
            <a:pPr marL="850265" lvl="1" indent="-457200"/>
            <a:r>
              <a:rPr lang="en-US" dirty="0">
                <a:latin typeface="Times New Roman" panose="02020503050405090304" pitchFamily="18" charset="0"/>
                <a:cs typeface="Times New Roman" panose="02020503050405090304" pitchFamily="18" charset="0"/>
              </a:rPr>
              <a:t>Rewrite the statement to find </a:t>
            </a:r>
            <a:r>
              <a:rPr lang="en-US" dirty="0">
                <a:solidFill>
                  <a:srgbClr val="FF0000"/>
                </a:solidFill>
                <a:latin typeface="Times New Roman" panose="02020503050405090304" pitchFamily="18" charset="0"/>
                <a:cs typeface="Times New Roman" panose="02020503050405090304" pitchFamily="18" charset="0"/>
              </a:rPr>
              <a:t>quantifiers</a:t>
            </a:r>
            <a:r>
              <a:rPr lang="en-US" dirty="0">
                <a:latin typeface="Times New Roman" panose="02020503050405090304" pitchFamily="18" charset="0"/>
                <a:cs typeface="Times New Roman" panose="02020503050405090304" pitchFamily="18" charset="0"/>
              </a:rPr>
              <a:t> and </a:t>
            </a:r>
            <a:r>
              <a:rPr lang="en-US" dirty="0">
                <a:solidFill>
                  <a:srgbClr val="FF0000"/>
                </a:solidFill>
                <a:latin typeface="Times New Roman" panose="02020503050405090304" pitchFamily="18" charset="0"/>
                <a:cs typeface="Times New Roman" panose="02020503050405090304" pitchFamily="18" charset="0"/>
              </a:rPr>
              <a:t>domains</a:t>
            </a:r>
            <a:r>
              <a:rPr lang="en-US" dirty="0">
                <a:latin typeface="Times New Roman" panose="02020503050405090304" pitchFamily="18" charset="0"/>
                <a:cs typeface="Times New Roman" panose="02020503050405090304" pitchFamily="18" charset="0"/>
              </a:rPr>
              <a:t> </a:t>
            </a:r>
            <a:endParaRPr lang="en-US" dirty="0">
              <a:latin typeface="Times New Roman" panose="02020503050405090304" pitchFamily="18" charset="0"/>
              <a:cs typeface="Times New Roman" panose="02020503050405090304" pitchFamily="18" charset="0"/>
            </a:endParaRPr>
          </a:p>
          <a:p>
            <a:pPr marL="393065" lvl="1" indent="0">
              <a:buNone/>
            </a:pPr>
            <a:r>
              <a:rPr lang="en-US" dirty="0">
                <a:latin typeface="Times New Roman" panose="02020503050405090304" pitchFamily="18" charset="0"/>
                <a:cs typeface="Times New Roman" panose="02020503050405090304" pitchFamily="18" charset="0"/>
              </a:rPr>
              <a:t>       </a:t>
            </a:r>
            <a:r>
              <a:rPr lang="en-US" dirty="0">
                <a:solidFill>
                  <a:srgbClr val="003399"/>
                </a:solidFill>
                <a:latin typeface="Times New Roman" panose="02020503050405090304" pitchFamily="18" charset="0"/>
                <a:cs typeface="Times New Roman" panose="02020503050405090304" pitchFamily="18" charset="0"/>
              </a:rPr>
              <a:t>“For every two integers, if these integers are both positive, then the sum of these integers is positive.”</a:t>
            </a:r>
            <a:endParaRPr lang="en-US" dirty="0">
              <a:solidFill>
                <a:srgbClr val="003399"/>
              </a:solidFill>
              <a:latin typeface="Times New Roman" panose="02020503050405090304" pitchFamily="18" charset="0"/>
              <a:cs typeface="Times New Roman" panose="02020503050405090304" pitchFamily="18" charset="0"/>
            </a:endParaRPr>
          </a:p>
          <a:p>
            <a:pPr marL="850265" lvl="1" indent="-457200"/>
            <a:r>
              <a:rPr lang="en-US" dirty="0">
                <a:latin typeface="Times New Roman" panose="02020503050405090304" pitchFamily="18" charset="0"/>
                <a:cs typeface="Times New Roman" panose="02020503050405090304" pitchFamily="18" charset="0"/>
              </a:rPr>
              <a:t>Introduce the variables </a:t>
            </a:r>
            <a:r>
              <a:rPr lang="en-US" i="1" dirty="0">
                <a:latin typeface="Times New Roman" panose="02020503050405090304" pitchFamily="18" charset="0"/>
                <a:cs typeface="Times New Roman" panose="02020503050405090304" pitchFamily="18" charset="0"/>
              </a:rPr>
              <a:t>x</a:t>
            </a:r>
            <a:r>
              <a:rPr lang="en-US" dirty="0">
                <a:latin typeface="Times New Roman" panose="02020503050405090304" pitchFamily="18" charset="0"/>
                <a:cs typeface="Times New Roman" panose="02020503050405090304" pitchFamily="18" charset="0"/>
              </a:rPr>
              <a:t> and </a:t>
            </a:r>
            <a:r>
              <a:rPr lang="en-US" i="1" dirty="0">
                <a:latin typeface="Times New Roman" panose="02020503050405090304" pitchFamily="18" charset="0"/>
                <a:cs typeface="Times New Roman" panose="02020503050405090304" pitchFamily="18" charset="0"/>
              </a:rPr>
              <a:t>y</a:t>
            </a:r>
            <a:r>
              <a:rPr lang="en-US" dirty="0">
                <a:latin typeface="Times New Roman" panose="02020503050405090304" pitchFamily="18" charset="0"/>
                <a:cs typeface="Times New Roman" panose="02020503050405090304" pitchFamily="18" charset="0"/>
              </a:rPr>
              <a:t>, and specify the domain:</a:t>
            </a:r>
            <a:endParaRPr lang="en-US" dirty="0">
              <a:latin typeface="Times New Roman" panose="02020503050405090304" pitchFamily="18" charset="0"/>
              <a:cs typeface="Times New Roman" panose="02020503050405090304" pitchFamily="18" charset="0"/>
            </a:endParaRPr>
          </a:p>
          <a:p>
            <a:pPr marL="667385" lvl="2" indent="0">
              <a:buNone/>
            </a:pPr>
            <a:r>
              <a:rPr lang="en-US" dirty="0">
                <a:solidFill>
                  <a:srgbClr val="003399"/>
                </a:solidFill>
                <a:latin typeface="Times New Roman" panose="02020503050405090304" pitchFamily="18" charset="0"/>
                <a:cs typeface="Times New Roman" panose="02020503050405090304" pitchFamily="18" charset="0"/>
              </a:rPr>
              <a:t>   </a:t>
            </a:r>
            <a:r>
              <a:rPr lang="en-US" sz="2800" dirty="0">
                <a:solidFill>
                  <a:srgbClr val="003399"/>
                </a:solidFill>
                <a:latin typeface="Times New Roman" panose="02020503050405090304" pitchFamily="18" charset="0"/>
                <a:cs typeface="Times New Roman" panose="02020503050405090304" pitchFamily="18" charset="0"/>
              </a:rPr>
              <a:t>“For </a:t>
            </a:r>
            <a:r>
              <a:rPr lang="en-US" sz="2800" dirty="0">
                <a:solidFill>
                  <a:srgbClr val="FF0000"/>
                </a:solidFill>
                <a:latin typeface="Times New Roman" panose="02020503050405090304" pitchFamily="18" charset="0"/>
                <a:cs typeface="Times New Roman" panose="02020503050405090304" pitchFamily="18" charset="0"/>
              </a:rPr>
              <a:t>all positive </a:t>
            </a:r>
            <a:r>
              <a:rPr lang="en-US" sz="2800" dirty="0">
                <a:solidFill>
                  <a:srgbClr val="003399"/>
                </a:solidFill>
                <a:latin typeface="Times New Roman" panose="02020503050405090304" pitchFamily="18" charset="0"/>
                <a:cs typeface="Times New Roman" panose="02020503050405090304" pitchFamily="18" charset="0"/>
              </a:rPr>
              <a:t>integers </a:t>
            </a:r>
            <a:r>
              <a:rPr lang="en-US" sz="2800" i="1" dirty="0">
                <a:solidFill>
                  <a:srgbClr val="003399"/>
                </a:solidFill>
                <a:latin typeface="Times New Roman" panose="02020503050405090304" pitchFamily="18" charset="0"/>
                <a:cs typeface="Times New Roman" panose="02020503050405090304" pitchFamily="18" charset="0"/>
              </a:rPr>
              <a:t>x</a:t>
            </a:r>
            <a:r>
              <a:rPr lang="en-US" sz="2800" dirty="0">
                <a:solidFill>
                  <a:srgbClr val="003399"/>
                </a:solidFill>
                <a:latin typeface="Times New Roman" panose="02020503050405090304" pitchFamily="18" charset="0"/>
                <a:cs typeface="Times New Roman" panose="02020503050405090304" pitchFamily="18" charset="0"/>
              </a:rPr>
              <a:t> and </a:t>
            </a:r>
            <a:r>
              <a:rPr lang="en-US" sz="2800" i="1" dirty="0">
                <a:solidFill>
                  <a:srgbClr val="003399"/>
                </a:solidFill>
                <a:latin typeface="Times New Roman" panose="02020503050405090304" pitchFamily="18" charset="0"/>
                <a:cs typeface="Times New Roman" panose="02020503050405090304" pitchFamily="18" charset="0"/>
              </a:rPr>
              <a:t>y</a:t>
            </a:r>
            <a:r>
              <a:rPr lang="en-US" sz="2800" dirty="0">
                <a:solidFill>
                  <a:srgbClr val="003399"/>
                </a:solidFill>
                <a:latin typeface="Times New Roman" panose="02020503050405090304" pitchFamily="18" charset="0"/>
                <a:cs typeface="Times New Roman" panose="02020503050405090304" pitchFamily="18" charset="0"/>
              </a:rPr>
              <a:t>, </a:t>
            </a:r>
            <a:r>
              <a:rPr lang="en-US" sz="2800" i="1" dirty="0">
                <a:solidFill>
                  <a:srgbClr val="003399"/>
                </a:solidFill>
                <a:latin typeface="Times New Roman" panose="02020503050405090304" pitchFamily="18" charset="0"/>
                <a:cs typeface="Times New Roman" panose="02020503050405090304" pitchFamily="18" charset="0"/>
              </a:rPr>
              <a:t>x</a:t>
            </a:r>
            <a:r>
              <a:rPr lang="en-US" sz="2800" dirty="0">
                <a:solidFill>
                  <a:srgbClr val="003399"/>
                </a:solidFill>
                <a:latin typeface="Times New Roman" panose="02020503050405090304" pitchFamily="18" charset="0"/>
                <a:cs typeface="Times New Roman" panose="02020503050405090304" pitchFamily="18" charset="0"/>
              </a:rPr>
              <a:t> </a:t>
            </a:r>
            <a:r>
              <a:rPr lang="en-US" sz="2800" i="1" dirty="0">
                <a:solidFill>
                  <a:srgbClr val="003399"/>
                </a:solidFill>
                <a:latin typeface="Times New Roman" panose="02020503050405090304" pitchFamily="18" charset="0"/>
                <a:cs typeface="Times New Roman" panose="02020503050405090304" pitchFamily="18" charset="0"/>
              </a:rPr>
              <a:t>+ y</a:t>
            </a:r>
            <a:r>
              <a:rPr lang="en-US" sz="2800" dirty="0">
                <a:solidFill>
                  <a:srgbClr val="003399"/>
                </a:solidFill>
                <a:latin typeface="Times New Roman" panose="02020503050405090304" pitchFamily="18" charset="0"/>
                <a:cs typeface="Times New Roman" panose="02020503050405090304" pitchFamily="18" charset="0"/>
              </a:rPr>
              <a:t> is positive.”</a:t>
            </a:r>
            <a:endParaRPr lang="en-US" dirty="0">
              <a:solidFill>
                <a:srgbClr val="003399"/>
              </a:solidFill>
              <a:latin typeface="Times New Roman" panose="02020503050405090304" pitchFamily="18" charset="0"/>
              <a:cs typeface="Times New Roman" panose="02020503050405090304" pitchFamily="18" charset="0"/>
            </a:endParaRPr>
          </a:p>
          <a:p>
            <a:pPr marL="850265" lvl="1" indent="-457200"/>
            <a:r>
              <a:rPr lang="en-US" dirty="0">
                <a:latin typeface="Times New Roman" panose="02020503050405090304" pitchFamily="18" charset="0"/>
                <a:cs typeface="Times New Roman" panose="02020503050405090304" pitchFamily="18" charset="0"/>
              </a:rPr>
              <a:t>The result :</a:t>
            </a:r>
            <a:endParaRPr lang="en-US" dirty="0">
              <a:latin typeface="Times New Roman" panose="02020503050405090304" pitchFamily="18" charset="0"/>
              <a:cs typeface="Times New Roman" panose="02020503050405090304" pitchFamily="18" charset="0"/>
            </a:endParaRPr>
          </a:p>
          <a:p>
            <a:pPr marL="1124585" lvl="2" indent="-457200"/>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 </a:t>
            </a:r>
            <a:r>
              <a:rPr lang="en-US" sz="2800" i="1"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x</a:t>
            </a:r>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  </a:t>
            </a:r>
            <a:r>
              <a:rPr lang="en-US" sz="2800" i="1"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y </a:t>
            </a:r>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a:t>
            </a:r>
            <a:r>
              <a:rPr lang="en-US" sz="2800" i="1"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x</a:t>
            </a:r>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 &gt; 0)∧ (</a:t>
            </a:r>
            <a:r>
              <a:rPr lang="en-US" sz="2800" i="1"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y </a:t>
            </a:r>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sym typeface="Symbol" panose="05050102010706020507"/>
              </a:rPr>
              <a:t>&gt; 0)</a:t>
            </a:r>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rPr>
              <a:t>→ (</a:t>
            </a:r>
            <a:r>
              <a:rPr lang="en-US" sz="2800" i="1" dirty="0">
                <a:solidFill>
                  <a:srgbClr val="003399"/>
                </a:solidFill>
                <a:latin typeface="Times New Roman" panose="02020503050405090304" pitchFamily="18" charset="0"/>
                <a:ea typeface="Cambria Math" panose="02040503050406030204"/>
                <a:cs typeface="Times New Roman" panose="02020503050405090304" pitchFamily="18" charset="0"/>
              </a:rPr>
              <a:t>x</a:t>
            </a:r>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rPr>
              <a:t> + </a:t>
            </a:r>
            <a:r>
              <a:rPr lang="en-US" sz="2800" i="1" dirty="0">
                <a:solidFill>
                  <a:srgbClr val="003399"/>
                </a:solidFill>
                <a:latin typeface="Times New Roman" panose="02020503050405090304" pitchFamily="18" charset="0"/>
                <a:ea typeface="Cambria Math" panose="02040503050406030204"/>
                <a:cs typeface="Times New Roman" panose="02020503050405090304" pitchFamily="18" charset="0"/>
              </a:rPr>
              <a:t>y </a:t>
            </a:r>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rPr>
              <a:t>&gt; 0))</a:t>
            </a:r>
            <a:endPar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endParaRPr>
          </a:p>
          <a:p>
            <a:pPr marL="1124585" lvl="2" indent="-457200"/>
            <a:r>
              <a:rPr lang="en-US" sz="2800" dirty="0">
                <a:solidFill>
                  <a:srgbClr val="003399"/>
                </a:solidFill>
                <a:latin typeface="Times New Roman" panose="02020503050405090304" pitchFamily="18" charset="0"/>
                <a:ea typeface="Cambria Math" panose="02040503050406030204"/>
                <a:cs typeface="Times New Roman" panose="02020503050405090304" pitchFamily="18" charset="0"/>
              </a:rPr>
              <a:t> where the domain of both variables consists of all integers</a:t>
            </a:r>
            <a:endParaRPr lang="en-US" sz="2800" dirty="0">
              <a:solidFill>
                <a:srgbClr val="003399"/>
              </a:solidFill>
              <a:latin typeface="Times New Roman" panose="02020503050405090304" pitchFamily="18" charset="0"/>
              <a:cs typeface="Times New Roman" panose="02020503050405090304" pitchFamily="18" charset="0"/>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AF227AD-B230-4532-95BC-B04B8DD4421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126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92AE6B0-BF4C-4604-9771-28905500409B}"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126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1269" name="Rectangle 2"/>
          <p:cNvSpPr>
            <a:spLocks noGrp="1" noChangeArrowheads="1"/>
          </p:cNvSpPr>
          <p:nvPr>
            <p:ph type="title"/>
          </p:nvPr>
        </p:nvSpPr>
        <p:spPr>
          <a:xfrm>
            <a:off x="899478" y="-317"/>
            <a:ext cx="7793037" cy="1143000"/>
          </a:xfrm>
        </p:spPr>
        <p:txBody>
          <a:bodyPr/>
          <a:lstStyle/>
          <a:p>
            <a:pPr eaLnBrk="1" hangingPunct="1"/>
            <a:endParaRPr lang="zh-CN" altLang="en-US">
              <a:latin typeface="Times New Roman" panose="02020503050405090304" pitchFamily="18" charset="0"/>
            </a:endParaRPr>
          </a:p>
        </p:txBody>
      </p:sp>
      <p:sp>
        <p:nvSpPr>
          <p:cNvPr id="11270" name="Rectangle 3"/>
          <p:cNvSpPr>
            <a:spLocks noGrp="1" noChangeArrowheads="1"/>
          </p:cNvSpPr>
          <p:nvPr>
            <p:ph type="body" idx="1"/>
          </p:nvPr>
        </p:nvSpPr>
        <p:spPr>
          <a:xfrm>
            <a:off x="827405" y="1340887"/>
            <a:ext cx="7772400" cy="4114800"/>
          </a:xfrm>
        </p:spPr>
        <p:txBody>
          <a:bodyPr/>
          <a:lstStyle/>
          <a:p>
            <a:pPr eaLnBrk="1" hangingPunct="1"/>
            <a:r>
              <a:rPr lang="en-US" altLang="zh-CN" dirty="0">
                <a:latin typeface="Times New Roman" panose="02020503050405090304" pitchFamily="18" charset="0"/>
              </a:rPr>
              <a:t>Example 7</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Every real number except zero has a multiplicative inverse.</a:t>
            </a:r>
            <a:r>
              <a:rPr kumimoji="0" lang="zh-CN" altLang="zh-CN" b="1" dirty="0">
                <a:solidFill>
                  <a:srgbClr val="231F20"/>
                </a:solidFill>
                <a:latin typeface="Arial" panose="020B0604020202090204" pitchFamily="34" charset="0"/>
                <a:ea typeface="Times-Bold"/>
              </a:rPr>
              <a:t> </a:t>
            </a:r>
            <a:endParaRPr kumimoji="0" lang="en-US" altLang="zh-CN" b="1" dirty="0">
              <a:solidFill>
                <a:srgbClr val="231F20"/>
              </a:solidFill>
              <a:latin typeface="Arial" panose="020B0604020202090204" pitchFamily="34" charset="0"/>
              <a:ea typeface="Times-Bold"/>
            </a:endParaRPr>
          </a:p>
          <a:p>
            <a:pPr lvl="1" eaLnBrk="1" hangingPunct="1"/>
            <a:r>
              <a:rPr kumimoji="0" lang="en-US" altLang="zh-CN" b="1" dirty="0" err="1">
                <a:solidFill>
                  <a:srgbClr val="231F20"/>
                </a:solidFill>
                <a:latin typeface="Times New Roman" panose="02020503050405090304" pitchFamily="18" charset="0"/>
                <a:ea typeface="Times-Bold"/>
                <a:cs typeface="Times New Roman" panose="02020503050405090304" pitchFamily="18" charset="0"/>
              </a:rPr>
              <a:t>mul</a:t>
            </a:r>
            <a:r>
              <a:rPr kumimoji="0" lang="zh-CN" altLang="zh-CN" b="1" dirty="0">
                <a:solidFill>
                  <a:srgbClr val="231F20"/>
                </a:solidFill>
                <a:latin typeface="Times New Roman" panose="02020503050405090304" pitchFamily="18" charset="0"/>
                <a:ea typeface="Times-Bold"/>
                <a:cs typeface="Times New Roman" panose="02020503050405090304" pitchFamily="18" charset="0"/>
              </a:rPr>
              <a:t>tiplicative inverse </a:t>
            </a:r>
            <a:r>
              <a:rPr kumimoji="0" lang="en-US" altLang="zh-CN" dirty="0">
                <a:solidFill>
                  <a:srgbClr val="231F20"/>
                </a:solidFill>
                <a:latin typeface="Times New Roman" panose="02020503050405090304" pitchFamily="18" charset="0"/>
                <a:ea typeface="Times-Bold"/>
                <a:cs typeface="Times New Roman" panose="02020503050405090304" pitchFamily="18" charset="0"/>
              </a:rPr>
              <a:t>o</a:t>
            </a:r>
            <a:r>
              <a:rPr kumimoji="0" lang="zh-CN" altLang="zh-CN" dirty="0">
                <a:solidFill>
                  <a:srgbClr val="231F20"/>
                </a:solidFill>
                <a:latin typeface="Times New Roman" panose="02020503050405090304" pitchFamily="18" charset="0"/>
                <a:ea typeface="Times-Roman"/>
                <a:cs typeface="Times New Roman" panose="02020503050405090304" pitchFamily="18" charset="0"/>
              </a:rPr>
              <a:t>f a real number </a:t>
            </a:r>
            <a:r>
              <a:rPr kumimoji="0" lang="zh-CN" altLang="zh-CN" i="1" dirty="0">
                <a:solidFill>
                  <a:srgbClr val="231F20"/>
                </a:solidFill>
                <a:latin typeface="Times New Roman" panose="02020503050405090304" pitchFamily="18" charset="0"/>
                <a:ea typeface="MTMI"/>
                <a:cs typeface="Times New Roman" panose="02020503050405090304" pitchFamily="18" charset="0"/>
              </a:rPr>
              <a:t>x </a:t>
            </a:r>
            <a:r>
              <a:rPr kumimoji="0" lang="zh-CN" altLang="zh-CN" dirty="0">
                <a:solidFill>
                  <a:srgbClr val="231F20"/>
                </a:solidFill>
                <a:latin typeface="Times New Roman" panose="02020503050405090304" pitchFamily="18" charset="0"/>
                <a:ea typeface="Times-Roman"/>
                <a:cs typeface="Times New Roman" panose="02020503050405090304" pitchFamily="18" charset="0"/>
              </a:rPr>
              <a:t>is a real number </a:t>
            </a:r>
            <a:r>
              <a:rPr kumimoji="0" lang="zh-CN" altLang="zh-CN" i="1" dirty="0">
                <a:solidFill>
                  <a:srgbClr val="231F20"/>
                </a:solidFill>
                <a:latin typeface="Times New Roman" panose="02020503050405090304" pitchFamily="18" charset="0"/>
                <a:ea typeface="MTMI"/>
                <a:cs typeface="Times New Roman" panose="02020503050405090304" pitchFamily="18" charset="0"/>
              </a:rPr>
              <a:t>y </a:t>
            </a:r>
            <a:r>
              <a:rPr kumimoji="0" lang="zh-CN" altLang="zh-CN" dirty="0">
                <a:solidFill>
                  <a:srgbClr val="231F20"/>
                </a:solidFill>
                <a:latin typeface="Times New Roman" panose="02020503050405090304" pitchFamily="18" charset="0"/>
                <a:ea typeface="Times-Roman"/>
                <a:cs typeface="Times New Roman" panose="02020503050405090304" pitchFamily="18" charset="0"/>
              </a:rPr>
              <a:t>such that </a:t>
            </a:r>
            <a:r>
              <a:rPr kumimoji="0" lang="zh-CN" altLang="zh-CN" i="1" dirty="0">
                <a:solidFill>
                  <a:srgbClr val="231F20"/>
                </a:solidFill>
                <a:latin typeface="Times New Roman" panose="02020503050405090304" pitchFamily="18" charset="0"/>
                <a:ea typeface="MTMI"/>
                <a:cs typeface="Times New Roman" panose="02020503050405090304" pitchFamily="18" charset="0"/>
              </a:rPr>
              <a:t>xy </a:t>
            </a:r>
            <a:r>
              <a:rPr kumimoji="0" lang="zh-CN" altLang="zh-CN" dirty="0">
                <a:solidFill>
                  <a:srgbClr val="231F20"/>
                </a:solidFill>
                <a:latin typeface="Times New Roman" panose="02020503050405090304" pitchFamily="18" charset="0"/>
                <a:ea typeface="MTSYN"/>
                <a:cs typeface="Times New Roman" panose="02020503050405090304" pitchFamily="18" charset="0"/>
              </a:rPr>
              <a:t>= </a:t>
            </a:r>
            <a:r>
              <a:rPr kumimoji="0" lang="zh-CN" altLang="zh-CN" dirty="0">
                <a:solidFill>
                  <a:srgbClr val="231F20"/>
                </a:solidFill>
                <a:latin typeface="Times New Roman" panose="02020503050405090304" pitchFamily="18" charset="0"/>
                <a:ea typeface="Times-Roman"/>
                <a:cs typeface="Times New Roman" panose="02020503050405090304" pitchFamily="18" charset="0"/>
              </a:rPr>
              <a:t>1.)</a:t>
            </a:r>
            <a:r>
              <a:rPr kumimoji="0" lang="zh-CN" altLang="zh-CN" sz="800" dirty="0">
                <a:latin typeface="Times New Roman" panose="02020503050405090304" pitchFamily="18" charset="0"/>
                <a:cs typeface="Times New Roman" panose="02020503050405090304" pitchFamily="18" charset="0"/>
              </a:rPr>
              <a:t> </a:t>
            </a:r>
            <a:endParaRPr kumimoji="0" lang="en-US" altLang="zh-CN" sz="800" dirty="0">
              <a:latin typeface="Times New Roman" panose="02020503050405090304" pitchFamily="18" charset="0"/>
              <a:cs typeface="Times New Roman" panose="02020503050405090304" pitchFamily="18" charset="0"/>
            </a:endParaRPr>
          </a:p>
          <a:p>
            <a:pPr lvl="1" eaLnBrk="1" hangingPunct="1"/>
            <a:r>
              <a:rPr lang="en-US" altLang="zh-CN" dirty="0">
                <a:solidFill>
                  <a:srgbClr val="003399"/>
                </a:solidFill>
                <a:latin typeface="Times New Roman" panose="02020503050405090304" pitchFamily="18" charset="0"/>
                <a:cs typeface="Times New Roman" panose="02020503050405090304" pitchFamily="18" charset="0"/>
              </a:rPr>
              <a:t>∀</a:t>
            </a:r>
            <a:r>
              <a:rPr lang="en-US" altLang="zh-CN" i="1" dirty="0">
                <a:solidFill>
                  <a:srgbClr val="003399"/>
                </a:solidFill>
                <a:latin typeface="Times New Roman" panose="02020503050405090304" pitchFamily="18" charset="0"/>
                <a:cs typeface="Times New Roman" panose="02020503050405090304" pitchFamily="18" charset="0"/>
              </a:rPr>
              <a:t>x((x</a:t>
            </a:r>
            <a:r>
              <a:rPr lang="en-US" altLang="zh-CN" i="1" dirty="0">
                <a:solidFill>
                  <a:srgbClr val="003399"/>
                </a:solidFill>
                <a:latin typeface="PingFang SC" panose="020B0400000000000000" charset="-122"/>
                <a:ea typeface="PingFang SC" panose="020B0400000000000000" charset="-122"/>
                <a:cs typeface="Times New Roman" panose="02020503050405090304" pitchFamily="18" charset="0"/>
              </a:rPr>
              <a:t>≠</a:t>
            </a:r>
            <a:r>
              <a:rPr lang="en-US" altLang="zh-CN" dirty="0">
                <a:solidFill>
                  <a:srgbClr val="003399"/>
                </a:solidFill>
                <a:latin typeface="Times New Roman" panose="02020503050405090304" pitchFamily="18" charset="0"/>
                <a:cs typeface="Times New Roman" panose="02020503050405090304" pitchFamily="18" charset="0"/>
              </a:rPr>
              <a:t>0</a:t>
            </a:r>
            <a:r>
              <a:rPr lang="en-US" altLang="zh-CN" i="1" dirty="0">
                <a:solidFill>
                  <a:srgbClr val="003399"/>
                </a:solidFill>
                <a:latin typeface="Times New Roman" panose="02020503050405090304" pitchFamily="18" charset="0"/>
                <a:cs typeface="Times New Roman" panose="02020503050405090304" pitchFamily="18" charset="0"/>
              </a:rPr>
              <a:t>) </a:t>
            </a:r>
            <a:r>
              <a:rPr lang="en-US" altLang="zh-CN" dirty="0">
                <a:solidFill>
                  <a:srgbClr val="003399"/>
                </a:solidFill>
                <a:latin typeface="Times New Roman" panose="02020503050405090304" pitchFamily="18" charset="0"/>
                <a:cs typeface="Times New Roman" panose="02020503050405090304" pitchFamily="18" charset="0"/>
              </a:rPr>
              <a:t>→ ∃</a:t>
            </a:r>
            <a:r>
              <a:rPr lang="en-US" altLang="zh-CN" i="1" dirty="0">
                <a:solidFill>
                  <a:srgbClr val="003399"/>
                </a:solidFill>
                <a:latin typeface="Times New Roman" panose="02020503050405090304" pitchFamily="18" charset="0"/>
                <a:cs typeface="Times New Roman" panose="02020503050405090304" pitchFamily="18" charset="0"/>
              </a:rPr>
              <a:t>y(</a:t>
            </a:r>
            <a:r>
              <a:rPr lang="en-US" altLang="zh-CN" i="1" dirty="0" err="1">
                <a:solidFill>
                  <a:srgbClr val="003399"/>
                </a:solidFill>
                <a:latin typeface="Times New Roman" panose="02020503050405090304" pitchFamily="18" charset="0"/>
                <a:cs typeface="Times New Roman" panose="02020503050405090304" pitchFamily="18" charset="0"/>
              </a:rPr>
              <a:t>xy</a:t>
            </a:r>
            <a:r>
              <a:rPr lang="en-US" altLang="zh-CN" i="1" dirty="0">
                <a:solidFill>
                  <a:srgbClr val="003399"/>
                </a:solidFill>
                <a:latin typeface="Times New Roman" panose="02020503050405090304" pitchFamily="18" charset="0"/>
                <a:cs typeface="Times New Roman" panose="02020503050405090304" pitchFamily="18" charset="0"/>
              </a:rPr>
              <a:t> </a:t>
            </a:r>
            <a:r>
              <a:rPr lang="en-US" altLang="zh-CN" dirty="0">
                <a:solidFill>
                  <a:srgbClr val="003399"/>
                </a:solidFill>
                <a:latin typeface="Times New Roman" panose="02020503050405090304" pitchFamily="18" charset="0"/>
                <a:cs typeface="Times New Roman" panose="02020503050405090304" pitchFamily="18" charset="0"/>
              </a:rPr>
              <a:t>= 1</a:t>
            </a:r>
            <a:r>
              <a:rPr lang="en-US" altLang="zh-CN" i="1" dirty="0">
                <a:solidFill>
                  <a:srgbClr val="003399"/>
                </a:solidFill>
                <a:latin typeface="Times New Roman" panose="02020503050405090304" pitchFamily="18" charset="0"/>
                <a:cs typeface="Times New Roman" panose="02020503050405090304" pitchFamily="18" charset="0"/>
              </a:rPr>
              <a:t>))</a:t>
            </a:r>
            <a:r>
              <a:rPr lang="en-US" altLang="zh-CN" dirty="0">
                <a:solidFill>
                  <a:srgbClr val="003399"/>
                </a:solidFill>
                <a:latin typeface="Times New Roman" panose="02020503050405090304" pitchFamily="18" charset="0"/>
                <a:cs typeface="Times New Roman" panose="02020503050405090304" pitchFamily="18" charset="0"/>
              </a:rPr>
              <a:t> </a:t>
            </a:r>
            <a:br>
              <a:rPr lang="en-US" altLang="zh-CN" dirty="0"/>
            </a:br>
            <a:endParaRPr lang="en-US" altLang="zh-CN" dirty="0">
              <a:latin typeface="Times New Roman" panose="02020503050405090304" pitchFamily="18" charset="0"/>
              <a:cs typeface="Times New Roman" panose="02020503050405090304" pitchFamily="18" charset="0"/>
            </a:endParaRPr>
          </a:p>
          <a:p>
            <a:pPr eaLnBrk="1" hangingPunct="1">
              <a:buFont typeface="Wingdings" panose="05000000000000000000" pitchFamily="2" charset="2"/>
              <a:buNone/>
            </a:pPr>
            <a:endParaRPr lang="en-US" altLang="zh-CN" dirty="0">
              <a:latin typeface="Times New Roman" panose="02020503050405090304" pitchFamily="18" charset="0"/>
            </a:endParaRPr>
          </a:p>
          <a:p>
            <a:pPr lvl="1" eaLnBrk="1" hangingPunct="1"/>
            <a:endParaRPr lang="en-US" altLang="zh-CN" dirty="0">
              <a:latin typeface="Times New Roman" panose="02020503050405090304" pitchFamily="18" charset="0"/>
            </a:endParaRPr>
          </a:p>
        </p:txBody>
      </p:sp>
      <p:sp>
        <p:nvSpPr>
          <p:cNvPr id="7" name="Rectangle 3"/>
          <p:cNvSpPr>
            <a:spLocks noChangeArrowheads="1"/>
          </p:cNvSpPr>
          <p:nvPr/>
        </p:nvSpPr>
        <p:spPr bwMode="auto">
          <a:xfrm>
            <a:off x="2559050" y="3621772"/>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800" b="0" i="0" u="none" strike="noStrike" cap="none" normalizeH="0" baseline="0" dirty="0">
                <a:ln>
                  <a:noFill/>
                </a:ln>
                <a:solidFill>
                  <a:schemeClr val="tx1"/>
                </a:solidFill>
                <a:effectLst/>
                <a:latin typeface="Arial" panose="020B0604020202090204" pitchFamily="34" charset="0"/>
              </a:rPr>
            </a:br>
            <a:endParaRPr kumimoji="0" lang="zh-CN" altLang="zh-CN" sz="1800" b="0" i="0" u="none" strike="noStrike" cap="none" normalizeH="0" baseline="0" dirty="0">
              <a:ln>
                <a:noFill/>
              </a:ln>
              <a:solidFill>
                <a:schemeClr val="tx1"/>
              </a:solidFill>
              <a:effectLst/>
              <a:latin typeface="Arial" panose="020B060402020209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D0491000-A793-4101-9B90-492A3BE388A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229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B6D092F-9EED-4E3E-9AC6-7D4A5B954D94}"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229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2293" name="Rectangle 2"/>
          <p:cNvSpPr>
            <a:spLocks noGrp="1" noChangeArrowheads="1"/>
          </p:cNvSpPr>
          <p:nvPr>
            <p:ph type="title"/>
          </p:nvPr>
        </p:nvSpPr>
        <p:spPr>
          <a:xfrm>
            <a:off x="1042988" y="46673"/>
            <a:ext cx="7793037" cy="1143000"/>
          </a:xfrm>
        </p:spPr>
        <p:txBody>
          <a:bodyPr/>
          <a:lstStyle/>
          <a:p>
            <a:pPr eaLnBrk="1" hangingPunct="1"/>
            <a:r>
              <a:rPr lang="en-GB" altLang="zh-CN">
                <a:latin typeface="Times New Roman" panose="02020503050405090304" pitchFamily="18" charset="0"/>
              </a:rPr>
              <a:t>Some common shorthands</a:t>
            </a:r>
            <a:endParaRPr lang="en-US" altLang="zh-CN">
              <a:latin typeface="Times New Roman" panose="02020503050405090304" pitchFamily="18" charset="0"/>
            </a:endParaRPr>
          </a:p>
        </p:txBody>
      </p:sp>
      <p:sp>
        <p:nvSpPr>
          <p:cNvPr id="12294" name="Rectangle 3"/>
          <p:cNvSpPr>
            <a:spLocks noGrp="1" noChangeArrowheads="1"/>
          </p:cNvSpPr>
          <p:nvPr>
            <p:ph type="body" idx="1"/>
          </p:nvPr>
        </p:nvSpPr>
        <p:spPr>
          <a:xfrm>
            <a:off x="899160" y="1268413"/>
            <a:ext cx="7772400" cy="4114800"/>
          </a:xfrm>
        </p:spPr>
        <p:txBody>
          <a:bodyPr/>
          <a:lstStyle/>
          <a:p>
            <a:pPr eaLnBrk="1" hangingPunct="1"/>
            <a:r>
              <a:rPr lang="en-US" altLang="zh-CN">
                <a:latin typeface="Times New Roman" panose="02020503050405090304" pitchFamily="18" charset="0"/>
                <a:sym typeface="Symbol" panose="05050102010706020507" pitchFamily="18" charset="2"/>
              </a:rPr>
              <a:t>Sometimes the universe of discourse is restricted within the quantification, </a:t>
            </a:r>
            <a:r>
              <a:rPr lang="en-US" altLang="zh-CN" i="1">
                <a:latin typeface="Times New Roman" panose="02020503050405090304" pitchFamily="18" charset="0"/>
                <a:sym typeface="Symbol" panose="05050102010706020507" pitchFamily="18" charset="2"/>
              </a:rPr>
              <a:t>e.g.</a:t>
            </a:r>
            <a:r>
              <a:rPr lang="en-US" altLang="zh-CN">
                <a:latin typeface="Times New Roman" panose="02020503050405090304" pitchFamily="18" charset="0"/>
                <a:sym typeface="Symbol" panose="05050102010706020507" pitchFamily="18" charset="2"/>
              </a:rPr>
              <a:t>,</a:t>
            </a:r>
            <a:endParaRPr lang="en-US" altLang="zh-CN">
              <a:latin typeface="Times New Roman" panose="02020503050405090304" pitchFamily="18" charset="0"/>
              <a:sym typeface="Symbol" panose="05050102010706020507" pitchFamily="18" charset="2"/>
            </a:endParaRPr>
          </a:p>
          <a:p>
            <a:pPr lvl="1" eaLnBrk="1" hangingPunct="1"/>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x&gt;</a:t>
            </a:r>
            <a:r>
              <a:rPr lang="en-US" altLang="zh-CN">
                <a:latin typeface="Times New Roman" panose="02020503050405090304" pitchFamily="18" charset="0"/>
                <a:sym typeface="Symbol" panose="05050102010706020507" pitchFamily="18" charset="2"/>
              </a:rPr>
              <a:t>0 </a:t>
            </a:r>
            <a:r>
              <a:rPr lang="en-US" altLang="zh-CN" i="1">
                <a:latin typeface="Times New Roman" panose="02020503050405090304" pitchFamily="18" charset="0"/>
                <a:sym typeface="Symbol" panose="05050102010706020507" pitchFamily="18" charset="2"/>
              </a:rPr>
              <a:t>P</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a:t>
            </a:r>
            <a:r>
              <a:rPr lang="en-US" altLang="zh-CN">
                <a:latin typeface="Times New Roman" panose="02020503050405090304" pitchFamily="18" charset="0"/>
                <a:sym typeface="Symbol" panose="05050102010706020507" pitchFamily="18" charset="2"/>
              </a:rPr>
              <a:t>) is shorthand for</a:t>
            </a:r>
            <a:br>
              <a:rPr lang="en-US" altLang="zh-CN">
                <a:latin typeface="Times New Roman" panose="02020503050405090304" pitchFamily="18" charset="0"/>
                <a:sym typeface="Symbol" panose="05050102010706020507" pitchFamily="18" charset="2"/>
              </a:rPr>
            </a:br>
            <a:r>
              <a:rPr lang="en-US" altLang="zh-CN">
                <a:latin typeface="Times New Roman" panose="02020503050405090304" pitchFamily="18" charset="0"/>
                <a:sym typeface="Symbol" panose="05050102010706020507" pitchFamily="18" charset="2"/>
              </a:rPr>
              <a:t>“For all </a:t>
            </a:r>
            <a:r>
              <a:rPr lang="en-US" altLang="zh-CN" i="1">
                <a:latin typeface="Times New Roman" panose="02020503050405090304" pitchFamily="18" charset="0"/>
                <a:sym typeface="Symbol" panose="05050102010706020507" pitchFamily="18" charset="2"/>
              </a:rPr>
              <a:t>x</a:t>
            </a:r>
            <a:r>
              <a:rPr lang="en-US" altLang="zh-CN">
                <a:latin typeface="Times New Roman" panose="02020503050405090304" pitchFamily="18" charset="0"/>
                <a:sym typeface="Symbol" panose="05050102010706020507" pitchFamily="18" charset="2"/>
              </a:rPr>
              <a:t> that are greater than zero, </a:t>
            </a:r>
            <a:r>
              <a:rPr lang="en-US" altLang="zh-CN" i="1">
                <a:latin typeface="Times New Roman" panose="02020503050405090304" pitchFamily="18" charset="0"/>
                <a:sym typeface="Symbol" panose="05050102010706020507" pitchFamily="18" charset="2"/>
              </a:rPr>
              <a:t>P</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a:t>
            </a:r>
            <a:r>
              <a:rPr lang="en-US" altLang="zh-CN">
                <a:latin typeface="Times New Roman" panose="02020503050405090304" pitchFamily="18" charset="0"/>
                <a:sym typeface="Symbol" panose="05050102010706020507" pitchFamily="18" charset="2"/>
              </a:rPr>
              <a:t>).”</a:t>
            </a:r>
            <a:br>
              <a:rPr lang="en-US" altLang="zh-CN">
                <a:latin typeface="Times New Roman" panose="02020503050405090304" pitchFamily="18" charset="0"/>
                <a:sym typeface="Symbol" panose="05050102010706020507" pitchFamily="18" charset="2"/>
              </a:rPr>
            </a:b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 </a:t>
            </a:r>
            <a:r>
              <a:rPr lang="en-US" altLang="zh-CN" sz="3200">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x&gt;</a:t>
            </a:r>
            <a:r>
              <a:rPr lang="en-US" altLang="zh-CN">
                <a:latin typeface="Times New Roman" panose="02020503050405090304" pitchFamily="18" charset="0"/>
                <a:sym typeface="Symbol" panose="05050102010706020507" pitchFamily="18" charset="2"/>
              </a:rPr>
              <a:t>0  </a:t>
            </a:r>
            <a:r>
              <a:rPr lang="en-US" altLang="zh-CN" i="1">
                <a:latin typeface="Times New Roman" panose="02020503050405090304" pitchFamily="18" charset="0"/>
                <a:sym typeface="Symbol" panose="05050102010706020507" pitchFamily="18" charset="2"/>
              </a:rPr>
              <a:t>P</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a:t>
            </a:r>
            <a:r>
              <a:rPr lang="en-US" altLang="zh-CN">
                <a:latin typeface="Times New Roman" panose="02020503050405090304" pitchFamily="18" charset="0"/>
                <a:sym typeface="Symbol" panose="05050102010706020507" pitchFamily="18" charset="2"/>
              </a:rPr>
              <a:t>)</a:t>
            </a:r>
            <a:r>
              <a:rPr lang="en-US" altLang="zh-CN" sz="3200">
                <a:latin typeface="Times New Roman" panose="02020503050405090304" pitchFamily="18" charset="0"/>
                <a:sym typeface="Symbol" panose="05050102010706020507" pitchFamily="18" charset="2"/>
              </a:rPr>
              <a:t>)</a:t>
            </a:r>
            <a:endParaRPr lang="en-US" altLang="zh-CN">
              <a:latin typeface="Times New Roman" panose="02020503050405090304" pitchFamily="18" charset="0"/>
              <a:sym typeface="Symbol" panose="05050102010706020507" pitchFamily="18" charset="2"/>
            </a:endParaRPr>
          </a:p>
          <a:p>
            <a:pPr lvl="1" eaLnBrk="1" hangingPunct="1"/>
            <a:r>
              <a:rPr lang="en-US" altLang="zh-CN">
                <a:solidFill>
                  <a:srgbClr val="006600"/>
                </a:solidFill>
                <a:latin typeface="Times New Roman" panose="02020503050405090304" pitchFamily="18" charset="0"/>
                <a:sym typeface="Symbol" panose="05050102010706020507" pitchFamily="18" charset="2"/>
              </a:rPr>
              <a:t></a:t>
            </a:r>
            <a:r>
              <a:rPr lang="en-US" altLang="zh-CN" i="1">
                <a:solidFill>
                  <a:srgbClr val="006600"/>
                </a:solidFill>
                <a:latin typeface="Times New Roman" panose="02020503050405090304" pitchFamily="18" charset="0"/>
                <a:sym typeface="Symbol" panose="05050102010706020507" pitchFamily="18" charset="2"/>
              </a:rPr>
              <a:t>x&gt;</a:t>
            </a:r>
            <a:r>
              <a:rPr lang="en-US" altLang="zh-CN">
                <a:solidFill>
                  <a:srgbClr val="006600"/>
                </a:solidFill>
                <a:latin typeface="Times New Roman" panose="02020503050405090304" pitchFamily="18" charset="0"/>
                <a:sym typeface="Symbol" panose="05050102010706020507" pitchFamily="18" charset="2"/>
              </a:rPr>
              <a:t>0 </a:t>
            </a:r>
            <a:r>
              <a:rPr lang="en-US" altLang="zh-CN" i="1">
                <a:solidFill>
                  <a:srgbClr val="006600"/>
                </a:solidFill>
                <a:latin typeface="Times New Roman" panose="02020503050405090304" pitchFamily="18" charset="0"/>
                <a:sym typeface="Symbol" panose="05050102010706020507" pitchFamily="18" charset="2"/>
              </a:rPr>
              <a:t>P</a:t>
            </a:r>
            <a:r>
              <a:rPr lang="en-US" altLang="zh-CN">
                <a:solidFill>
                  <a:srgbClr val="006600"/>
                </a:solidFill>
                <a:latin typeface="Times New Roman" panose="02020503050405090304" pitchFamily="18" charset="0"/>
                <a:sym typeface="Symbol" panose="05050102010706020507" pitchFamily="18" charset="2"/>
              </a:rPr>
              <a:t>(</a:t>
            </a:r>
            <a:r>
              <a:rPr lang="en-US" altLang="zh-CN" i="1">
                <a:solidFill>
                  <a:srgbClr val="006600"/>
                </a:solidFill>
                <a:latin typeface="Times New Roman" panose="02020503050405090304" pitchFamily="18" charset="0"/>
                <a:sym typeface="Symbol" panose="05050102010706020507" pitchFamily="18" charset="2"/>
              </a:rPr>
              <a:t>x</a:t>
            </a:r>
            <a:r>
              <a:rPr lang="en-US" altLang="zh-CN">
                <a:solidFill>
                  <a:srgbClr val="006600"/>
                </a:solidFill>
                <a:latin typeface="Times New Roman" panose="02020503050405090304" pitchFamily="18" charset="0"/>
                <a:sym typeface="Symbol" panose="05050102010706020507" pitchFamily="18" charset="2"/>
              </a:rPr>
              <a:t>) is shorthand for</a:t>
            </a:r>
            <a:br>
              <a:rPr lang="en-US" altLang="zh-CN">
                <a:solidFill>
                  <a:srgbClr val="006600"/>
                </a:solidFill>
                <a:latin typeface="Times New Roman" panose="02020503050405090304" pitchFamily="18" charset="0"/>
                <a:sym typeface="Symbol" panose="05050102010706020507" pitchFamily="18" charset="2"/>
              </a:rPr>
            </a:br>
            <a:r>
              <a:rPr lang="en-US" altLang="zh-CN">
                <a:solidFill>
                  <a:srgbClr val="006600"/>
                </a:solidFill>
                <a:latin typeface="Times New Roman" panose="02020503050405090304" pitchFamily="18" charset="0"/>
                <a:sym typeface="Symbol" panose="05050102010706020507" pitchFamily="18" charset="2"/>
              </a:rPr>
              <a:t>“There is an </a:t>
            </a:r>
            <a:r>
              <a:rPr lang="en-US" altLang="zh-CN" i="1">
                <a:solidFill>
                  <a:srgbClr val="006600"/>
                </a:solidFill>
                <a:latin typeface="Times New Roman" panose="02020503050405090304" pitchFamily="18" charset="0"/>
                <a:sym typeface="Symbol" panose="05050102010706020507" pitchFamily="18" charset="2"/>
              </a:rPr>
              <a:t>x </a:t>
            </a:r>
            <a:r>
              <a:rPr lang="en-US" altLang="zh-CN">
                <a:solidFill>
                  <a:srgbClr val="006600"/>
                </a:solidFill>
                <a:latin typeface="Times New Roman" panose="02020503050405090304" pitchFamily="18" charset="0"/>
                <a:sym typeface="Symbol" panose="05050102010706020507" pitchFamily="18" charset="2"/>
              </a:rPr>
              <a:t>greater than zero such that </a:t>
            </a:r>
            <a:r>
              <a:rPr lang="en-US" altLang="zh-CN" i="1">
                <a:solidFill>
                  <a:srgbClr val="006600"/>
                </a:solidFill>
                <a:latin typeface="Times New Roman" panose="02020503050405090304" pitchFamily="18" charset="0"/>
                <a:sym typeface="Symbol" panose="05050102010706020507" pitchFamily="18" charset="2"/>
              </a:rPr>
              <a:t>P</a:t>
            </a:r>
            <a:r>
              <a:rPr lang="en-US" altLang="zh-CN">
                <a:solidFill>
                  <a:srgbClr val="006600"/>
                </a:solidFill>
                <a:latin typeface="Times New Roman" panose="02020503050405090304" pitchFamily="18" charset="0"/>
                <a:sym typeface="Symbol" panose="05050102010706020507" pitchFamily="18" charset="2"/>
              </a:rPr>
              <a:t>(</a:t>
            </a:r>
            <a:r>
              <a:rPr lang="en-US" altLang="zh-CN" i="1">
                <a:solidFill>
                  <a:srgbClr val="006600"/>
                </a:solidFill>
                <a:latin typeface="Times New Roman" panose="02020503050405090304" pitchFamily="18" charset="0"/>
                <a:sym typeface="Symbol" panose="05050102010706020507" pitchFamily="18" charset="2"/>
              </a:rPr>
              <a:t>x</a:t>
            </a:r>
            <a:r>
              <a:rPr lang="en-US" altLang="zh-CN">
                <a:solidFill>
                  <a:srgbClr val="006600"/>
                </a:solidFill>
                <a:latin typeface="Times New Roman" panose="02020503050405090304" pitchFamily="18" charset="0"/>
                <a:sym typeface="Symbol" panose="05050102010706020507" pitchFamily="18" charset="2"/>
              </a:rPr>
              <a:t>).”</a:t>
            </a:r>
            <a:br>
              <a:rPr lang="en-US" altLang="zh-CN">
                <a:solidFill>
                  <a:srgbClr val="006600"/>
                </a:solidFill>
                <a:latin typeface="Times New Roman" panose="02020503050405090304" pitchFamily="18" charset="0"/>
                <a:sym typeface="Symbol" panose="05050102010706020507" pitchFamily="18" charset="2"/>
              </a:rPr>
            </a:br>
            <a:r>
              <a:rPr lang="en-US" altLang="zh-CN">
                <a:solidFill>
                  <a:srgbClr val="006600"/>
                </a:solidFill>
                <a:latin typeface="Times New Roman" panose="02020503050405090304" pitchFamily="18" charset="0"/>
                <a:sym typeface="Symbol" panose="05050102010706020507" pitchFamily="18" charset="2"/>
              </a:rPr>
              <a:t>=</a:t>
            </a:r>
            <a:r>
              <a:rPr lang="en-US" altLang="zh-CN" i="1">
                <a:solidFill>
                  <a:srgbClr val="006600"/>
                </a:solidFill>
                <a:latin typeface="Times New Roman" panose="02020503050405090304" pitchFamily="18" charset="0"/>
                <a:sym typeface="Symbol" panose="05050102010706020507" pitchFamily="18" charset="2"/>
              </a:rPr>
              <a:t>x </a:t>
            </a:r>
            <a:r>
              <a:rPr lang="en-US" altLang="zh-CN" sz="3200">
                <a:solidFill>
                  <a:srgbClr val="006600"/>
                </a:solidFill>
                <a:latin typeface="Times New Roman" panose="02020503050405090304" pitchFamily="18" charset="0"/>
                <a:sym typeface="Symbol" panose="05050102010706020507" pitchFamily="18" charset="2"/>
              </a:rPr>
              <a:t>(</a:t>
            </a:r>
            <a:r>
              <a:rPr lang="en-US" altLang="zh-CN" i="1">
                <a:solidFill>
                  <a:srgbClr val="006600"/>
                </a:solidFill>
                <a:latin typeface="Times New Roman" panose="02020503050405090304" pitchFamily="18" charset="0"/>
                <a:sym typeface="Symbol" panose="05050102010706020507" pitchFamily="18" charset="2"/>
              </a:rPr>
              <a:t>x&gt;</a:t>
            </a:r>
            <a:r>
              <a:rPr lang="en-US" altLang="zh-CN">
                <a:solidFill>
                  <a:srgbClr val="006600"/>
                </a:solidFill>
                <a:latin typeface="Times New Roman" panose="02020503050405090304" pitchFamily="18" charset="0"/>
                <a:sym typeface="Symbol" panose="05050102010706020507" pitchFamily="18" charset="2"/>
              </a:rPr>
              <a:t>0  </a:t>
            </a:r>
            <a:r>
              <a:rPr lang="en-US" altLang="zh-CN" i="1">
                <a:solidFill>
                  <a:srgbClr val="006600"/>
                </a:solidFill>
                <a:latin typeface="Times New Roman" panose="02020503050405090304" pitchFamily="18" charset="0"/>
                <a:sym typeface="Symbol" panose="05050102010706020507" pitchFamily="18" charset="2"/>
              </a:rPr>
              <a:t>P</a:t>
            </a:r>
            <a:r>
              <a:rPr lang="en-US" altLang="zh-CN">
                <a:solidFill>
                  <a:srgbClr val="006600"/>
                </a:solidFill>
                <a:latin typeface="Times New Roman" panose="02020503050405090304" pitchFamily="18" charset="0"/>
                <a:sym typeface="Symbol" panose="05050102010706020507" pitchFamily="18" charset="2"/>
              </a:rPr>
              <a:t>(</a:t>
            </a:r>
            <a:r>
              <a:rPr lang="en-US" altLang="zh-CN" i="1">
                <a:solidFill>
                  <a:srgbClr val="006600"/>
                </a:solidFill>
                <a:latin typeface="Times New Roman" panose="02020503050405090304" pitchFamily="18" charset="0"/>
                <a:sym typeface="Symbol" panose="05050102010706020507" pitchFamily="18" charset="2"/>
              </a:rPr>
              <a:t>x</a:t>
            </a:r>
            <a:r>
              <a:rPr lang="en-US" altLang="zh-CN">
                <a:solidFill>
                  <a:srgbClr val="006600"/>
                </a:solidFill>
                <a:latin typeface="Times New Roman" panose="02020503050405090304" pitchFamily="18" charset="0"/>
                <a:sym typeface="Symbol" panose="05050102010706020507" pitchFamily="18" charset="2"/>
              </a:rPr>
              <a:t>)</a:t>
            </a:r>
            <a:r>
              <a:rPr lang="en-US" altLang="zh-CN" sz="3200">
                <a:solidFill>
                  <a:srgbClr val="006600"/>
                </a:solidFill>
                <a:latin typeface="Times New Roman" panose="02020503050405090304" pitchFamily="18" charset="0"/>
                <a:sym typeface="Symbol" panose="05050102010706020507" pitchFamily="18" charset="2"/>
              </a:rPr>
              <a:t>)</a:t>
            </a:r>
            <a:endParaRPr lang="en-US" altLang="zh-CN">
              <a:solidFill>
                <a:srgbClr val="006600"/>
              </a:solidFill>
              <a:latin typeface="Times New Roman" panose="02020503050405090304" pitchFamily="18" charset="0"/>
              <a:sym typeface="Symbol" panose="05050102010706020507" pitchFamily="18" charset="2"/>
            </a:endParaRPr>
          </a:p>
        </p:txBody>
      </p:sp>
      <p:sp>
        <p:nvSpPr>
          <p:cNvPr id="12295" name="Text Box 4"/>
          <p:cNvSpPr txBox="1">
            <a:spLocks noChangeArrowheads="1"/>
          </p:cNvSpPr>
          <p:nvPr/>
        </p:nvSpPr>
        <p:spPr bwMode="auto">
          <a:xfrm>
            <a:off x="6122988" y="76200"/>
            <a:ext cx="294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r"/>
            <a:r>
              <a:rPr kumimoji="0" lang="en-US" altLang="zh-CN" sz="2000" b="0" i="0" u="none">
                <a:solidFill>
                  <a:schemeClr val="bg1"/>
                </a:solidFill>
              </a:rPr>
              <a:t>Topic #3 – Predicate Logic</a:t>
            </a:r>
            <a:endParaRPr kumimoji="0" lang="en-US" altLang="zh-CN" sz="2000" b="0" i="0" u="none">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90465C9-144F-44D1-BE91-7B771B7C7685}"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331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6C795ACA-58AE-4B67-8B12-107BACD131B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331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3317" name="Rectangle 2"/>
          <p:cNvSpPr>
            <a:spLocks noGrp="1" noChangeArrowheads="1"/>
          </p:cNvSpPr>
          <p:nvPr>
            <p:ph type="title"/>
          </p:nvPr>
        </p:nvSpPr>
        <p:spPr>
          <a:xfrm>
            <a:off x="1042988" y="81598"/>
            <a:ext cx="7793037" cy="1143000"/>
          </a:xfrm>
        </p:spPr>
        <p:txBody>
          <a:bodyPr/>
          <a:lstStyle/>
          <a:p>
            <a:pPr eaLnBrk="1" hangingPunct="1"/>
            <a:r>
              <a:rPr lang="en-GB" altLang="zh-CN">
                <a:latin typeface="Times New Roman" panose="02020503050405090304" pitchFamily="18" charset="0"/>
              </a:rPr>
              <a:t>Some common shorthands</a:t>
            </a:r>
            <a:endParaRPr lang="en-US" altLang="zh-CN">
              <a:latin typeface="Times New Roman" panose="02020503050405090304" pitchFamily="18" charset="0"/>
            </a:endParaRPr>
          </a:p>
        </p:txBody>
      </p:sp>
      <p:sp>
        <p:nvSpPr>
          <p:cNvPr id="13318" name="Rectangle 3"/>
          <p:cNvSpPr>
            <a:spLocks noGrp="1" noChangeArrowheads="1"/>
          </p:cNvSpPr>
          <p:nvPr>
            <p:ph type="body" idx="1"/>
          </p:nvPr>
        </p:nvSpPr>
        <p:spPr>
          <a:xfrm>
            <a:off x="899160" y="1556703"/>
            <a:ext cx="7772400" cy="4114800"/>
          </a:xfrm>
        </p:spPr>
        <p:txBody>
          <a:bodyPr/>
          <a:lstStyle/>
          <a:p>
            <a:pPr eaLnBrk="1" hangingPunct="1"/>
            <a:r>
              <a:rPr lang="en-US" altLang="zh-CN">
                <a:latin typeface="Times New Roman" panose="02020503050405090304" pitchFamily="18" charset="0"/>
                <a:sym typeface="Symbol" panose="05050102010706020507" pitchFamily="18" charset="2"/>
              </a:rPr>
              <a:t>Consecutive quantifiers of the same type can be combined:</a:t>
            </a:r>
            <a:br>
              <a:rPr lang="en-US" altLang="zh-CN">
                <a:latin typeface="Times New Roman" panose="02020503050405090304" pitchFamily="18" charset="0"/>
                <a:sym typeface="Symbol" panose="05050102010706020507" pitchFamily="18" charset="2"/>
              </a:rPr>
            </a:br>
            <a:r>
              <a:rPr lang="en-US" altLang="zh-CN">
                <a:latin typeface="Times New Roman" panose="02020503050405090304" pitchFamily="18" charset="0"/>
                <a:sym typeface="Symbol" panose="05050102010706020507" pitchFamily="18" charset="2"/>
              </a:rPr>
              <a:t> </a:t>
            </a:r>
            <a:br>
              <a:rPr lang="en-US" altLang="zh-CN">
                <a:latin typeface="Times New Roman" panose="02020503050405090304" pitchFamily="18" charset="0"/>
                <a:sym typeface="Symbol" panose="05050102010706020507" pitchFamily="18" charset="2"/>
              </a:rPr>
            </a:b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xyz 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y</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z</a:t>
            </a:r>
            <a:r>
              <a:rPr lang="en-US" altLang="zh-CN">
                <a:solidFill>
                  <a:schemeClr val="hlink"/>
                </a:solidFill>
                <a:latin typeface="Times New Roman" panose="02020503050405090304" pitchFamily="18" charset="0"/>
                <a:sym typeface="Symbol" panose="05050102010706020507" pitchFamily="18" charset="2"/>
              </a:rPr>
              <a:t>) </a:t>
            </a:r>
            <a:r>
              <a:rPr lang="en-US" altLang="zh-CN" baseline="-25000">
                <a:solidFill>
                  <a:schemeClr val="hlink"/>
                </a:solidFill>
                <a:latin typeface="Times New Roman" panose="02020503050405090304" pitchFamily="18" charset="0"/>
                <a:sym typeface="Symbol" panose="05050102010706020507" pitchFamily="18" charset="2"/>
              </a:rPr>
              <a:t>def</a:t>
            </a:r>
            <a:r>
              <a:rPr lang="en-US" altLang="zh-CN">
                <a:solidFill>
                  <a:schemeClr val="hlink"/>
                </a:solidFill>
                <a:latin typeface="Times New Roman" panose="02020503050405090304" pitchFamily="18" charset="0"/>
                <a:sym typeface="Symbol" panose="05050102010706020507" pitchFamily="18" charset="2"/>
              </a:rPr>
              <a:t>  </a:t>
            </a:r>
            <a:r>
              <a:rPr lang="en-US" altLang="zh-CN" i="1">
                <a:solidFill>
                  <a:schemeClr val="hlink"/>
                </a:solidFill>
                <a:latin typeface="Times New Roman" panose="02020503050405090304" pitchFamily="18" charset="0"/>
                <a:sym typeface="Symbol" panose="05050102010706020507" pitchFamily="18" charset="2"/>
              </a:rPr>
              <a:t>x </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y </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z 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y</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z</a:t>
            </a:r>
            <a:r>
              <a:rPr lang="en-US" altLang="zh-CN">
                <a:solidFill>
                  <a:schemeClr val="hlink"/>
                </a:solidFill>
                <a:latin typeface="Times New Roman" panose="02020503050405090304" pitchFamily="18" charset="0"/>
                <a:sym typeface="Symbol" panose="05050102010706020507" pitchFamily="18" charset="2"/>
              </a:rPr>
              <a:t>) </a:t>
            </a:r>
            <a:br>
              <a:rPr lang="en-US" altLang="zh-CN">
                <a:solidFill>
                  <a:schemeClr val="hlink"/>
                </a:solidFill>
                <a:latin typeface="Times New Roman" panose="02020503050405090304" pitchFamily="18" charset="0"/>
                <a:sym typeface="Symbol" panose="05050102010706020507" pitchFamily="18" charset="2"/>
              </a:rPr>
            </a:br>
            <a:br>
              <a:rPr lang="en-US" altLang="zh-CN">
                <a:solidFill>
                  <a:schemeClr val="hlink"/>
                </a:solidFill>
                <a:latin typeface="Times New Roman" panose="02020503050405090304" pitchFamily="18" charset="0"/>
                <a:sym typeface="Symbol" panose="05050102010706020507" pitchFamily="18" charset="2"/>
              </a:rPr>
            </a:br>
            <a:r>
              <a:rPr lang="en-US" altLang="zh-CN">
                <a:solidFill>
                  <a:schemeClr val="hlink"/>
                </a:solidFill>
                <a:latin typeface="Times New Roman" panose="02020503050405090304" pitchFamily="18" charset="0"/>
                <a:sym typeface="Symbol" panose="05050102010706020507" pitchFamily="18" charset="2"/>
              </a:rPr>
              <a:t> </a:t>
            </a:r>
            <a:r>
              <a:rPr lang="en-US" altLang="zh-CN" i="1">
                <a:solidFill>
                  <a:schemeClr val="hlink"/>
                </a:solidFill>
                <a:latin typeface="Times New Roman" panose="02020503050405090304" pitchFamily="18" charset="0"/>
                <a:sym typeface="Symbol" panose="05050102010706020507" pitchFamily="18" charset="2"/>
              </a:rPr>
              <a:t>xyz 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y</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z</a:t>
            </a:r>
            <a:r>
              <a:rPr lang="en-US" altLang="zh-CN">
                <a:solidFill>
                  <a:schemeClr val="hlink"/>
                </a:solidFill>
                <a:latin typeface="Times New Roman" panose="02020503050405090304" pitchFamily="18" charset="0"/>
                <a:sym typeface="Symbol" panose="05050102010706020507" pitchFamily="18" charset="2"/>
              </a:rPr>
              <a:t>) </a:t>
            </a:r>
            <a:r>
              <a:rPr lang="en-US" altLang="zh-CN" baseline="-25000">
                <a:solidFill>
                  <a:schemeClr val="hlink"/>
                </a:solidFill>
                <a:latin typeface="Times New Roman" panose="02020503050405090304" pitchFamily="18" charset="0"/>
                <a:sym typeface="Symbol" panose="05050102010706020507" pitchFamily="18" charset="2"/>
              </a:rPr>
              <a:t>def</a:t>
            </a:r>
            <a:r>
              <a:rPr lang="en-US" altLang="zh-CN">
                <a:solidFill>
                  <a:schemeClr val="hlink"/>
                </a:solidFill>
                <a:latin typeface="Times New Roman" panose="02020503050405090304" pitchFamily="18" charset="0"/>
                <a:sym typeface="Symbol" panose="05050102010706020507" pitchFamily="18" charset="2"/>
              </a:rPr>
              <a:t>   </a:t>
            </a:r>
            <a:r>
              <a:rPr lang="en-US" altLang="zh-CN" i="1">
                <a:solidFill>
                  <a:schemeClr val="hlink"/>
                </a:solidFill>
                <a:latin typeface="Times New Roman" panose="02020503050405090304" pitchFamily="18" charset="0"/>
                <a:sym typeface="Symbol" panose="05050102010706020507" pitchFamily="18" charset="2"/>
              </a:rPr>
              <a:t>x </a:t>
            </a:r>
            <a:r>
              <a:rPr lang="en-US" altLang="zh-CN">
                <a:solidFill>
                  <a:schemeClr val="hlink"/>
                </a:solidFill>
                <a:latin typeface="Times New Roman" panose="02020503050405090304" pitchFamily="18" charset="0"/>
                <a:sym typeface="Symbol" panose="05050102010706020507" pitchFamily="18" charset="2"/>
              </a:rPr>
              <a:t> </a:t>
            </a:r>
            <a:r>
              <a:rPr lang="en-US" altLang="zh-CN" i="1">
                <a:solidFill>
                  <a:schemeClr val="hlink"/>
                </a:solidFill>
                <a:latin typeface="Times New Roman" panose="02020503050405090304" pitchFamily="18" charset="0"/>
                <a:sym typeface="Symbol" panose="05050102010706020507" pitchFamily="18" charset="2"/>
              </a:rPr>
              <a:t>y </a:t>
            </a:r>
            <a:r>
              <a:rPr lang="en-US" altLang="zh-CN">
                <a:solidFill>
                  <a:schemeClr val="hlink"/>
                </a:solidFill>
                <a:latin typeface="Times New Roman" panose="02020503050405090304" pitchFamily="18" charset="0"/>
                <a:sym typeface="Symbol" panose="05050102010706020507" pitchFamily="18" charset="2"/>
              </a:rPr>
              <a:t> </a:t>
            </a:r>
            <a:r>
              <a:rPr lang="en-US" altLang="zh-CN" i="1">
                <a:solidFill>
                  <a:schemeClr val="hlink"/>
                </a:solidFill>
                <a:latin typeface="Times New Roman" panose="02020503050405090304" pitchFamily="18" charset="0"/>
                <a:sym typeface="Symbol" panose="05050102010706020507" pitchFamily="18" charset="2"/>
              </a:rPr>
              <a:t>z 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y</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z</a:t>
            </a:r>
            <a:r>
              <a:rPr lang="en-US" altLang="zh-CN">
                <a:solidFill>
                  <a:schemeClr val="hlink"/>
                </a:solidFill>
                <a:latin typeface="Times New Roman" panose="02020503050405090304" pitchFamily="18" charset="0"/>
                <a:sym typeface="Symbol" panose="05050102010706020507" pitchFamily="18" charset="2"/>
              </a:rPr>
              <a:t>) </a:t>
            </a:r>
            <a:br>
              <a:rPr lang="en-US" altLang="zh-CN">
                <a:solidFill>
                  <a:schemeClr val="hlink"/>
                </a:solidFill>
                <a:latin typeface="Times New Roman" panose="02020503050405090304" pitchFamily="18" charset="0"/>
                <a:sym typeface="Symbol" panose="05050102010706020507" pitchFamily="18" charset="2"/>
              </a:rPr>
            </a:br>
            <a:br>
              <a:rPr lang="en-US" altLang="zh-CN">
                <a:solidFill>
                  <a:schemeClr val="accent2"/>
                </a:solidFill>
                <a:latin typeface="Times New Roman" panose="02020503050405090304" pitchFamily="18" charset="0"/>
                <a:sym typeface="Symbol" panose="05050102010706020507" pitchFamily="18" charset="2"/>
              </a:rPr>
            </a:br>
            <a:endParaRPr lang="en-US" altLang="zh-CN">
              <a:solidFill>
                <a:schemeClr val="accent2"/>
              </a:solidFill>
              <a:latin typeface="Times New Roman" panose="02020503050405090304" pitchFamily="18" charset="0"/>
              <a:sym typeface="Symbol" panose="05050102010706020507" pitchFamily="18" charset="2"/>
            </a:endParaRPr>
          </a:p>
        </p:txBody>
      </p:sp>
      <p:sp>
        <p:nvSpPr>
          <p:cNvPr id="13319" name="Text Box 4"/>
          <p:cNvSpPr txBox="1">
            <a:spLocks noChangeArrowheads="1"/>
          </p:cNvSpPr>
          <p:nvPr/>
        </p:nvSpPr>
        <p:spPr bwMode="auto">
          <a:xfrm>
            <a:off x="6122988" y="76200"/>
            <a:ext cx="294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r"/>
            <a:r>
              <a:rPr kumimoji="0" lang="en-US" altLang="zh-CN" sz="2000" b="0" i="0" u="none">
                <a:solidFill>
                  <a:schemeClr val="bg1"/>
                </a:solidFill>
              </a:rPr>
              <a:t>Topic #3 – Predicate Logic</a:t>
            </a:r>
            <a:endParaRPr kumimoji="0" lang="en-US" altLang="zh-CN" sz="2000" b="0" i="0" u="none">
              <a:solidFill>
                <a:schemeClr val="bg1"/>
              </a:solidFill>
            </a:endParaRPr>
          </a:p>
        </p:txBody>
      </p:sp>
      <p:sp>
        <p:nvSpPr>
          <p:cNvPr id="2" name="文本框 1"/>
          <p:cNvSpPr txBox="1"/>
          <p:nvPr/>
        </p:nvSpPr>
        <p:spPr>
          <a:xfrm>
            <a:off x="2976880" y="5841365"/>
            <a:ext cx="3048000" cy="460375"/>
          </a:xfrm>
          <a:prstGeom prst="rect">
            <a:avLst/>
          </a:prstGeom>
          <a:noFill/>
        </p:spPr>
        <p:txBody>
          <a:bodyPr wrap="square" rtlCol="0">
            <a:spAutoFit/>
          </a:bodyPr>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BFB34C0-2BB8-4ACD-BB4A-3587E1FDA66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028"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8A182FB8-FA06-4A17-8F73-366539823609}"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029"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030" name="Rectangle 2"/>
          <p:cNvSpPr>
            <a:spLocks noGrp="1" noChangeArrowheads="1"/>
          </p:cNvSpPr>
          <p:nvPr>
            <p:ph type="title"/>
          </p:nvPr>
        </p:nvSpPr>
        <p:spPr>
          <a:xfrm>
            <a:off x="971550" y="158750"/>
            <a:ext cx="7793355" cy="956945"/>
          </a:xfrm>
        </p:spPr>
        <p:txBody>
          <a:bodyPr/>
          <a:lstStyle/>
          <a:p>
            <a:pPr eaLnBrk="1" hangingPunct="1"/>
            <a:r>
              <a:rPr lang="en-US" altLang="zh-CN">
                <a:latin typeface="Times New Roman" panose="02020503050405090304" pitchFamily="18" charset="0"/>
              </a:rPr>
              <a:t>Calculus Example</a:t>
            </a:r>
            <a:endParaRPr lang="en-US" altLang="zh-CN">
              <a:latin typeface="Times New Roman" panose="02020503050405090304" pitchFamily="18" charset="0"/>
            </a:endParaRPr>
          </a:p>
        </p:txBody>
      </p:sp>
      <p:sp>
        <p:nvSpPr>
          <p:cNvPr id="1031" name="Rectangle 3"/>
          <p:cNvSpPr>
            <a:spLocks noGrp="1" noChangeArrowheads="1"/>
          </p:cNvSpPr>
          <p:nvPr>
            <p:ph type="body" idx="1"/>
          </p:nvPr>
        </p:nvSpPr>
        <p:spPr>
          <a:xfrm>
            <a:off x="506413" y="1905000"/>
            <a:ext cx="7772400" cy="4343400"/>
          </a:xfrm>
        </p:spPr>
        <p:txBody>
          <a:bodyPr/>
          <a:lstStyle/>
          <a:p>
            <a:pPr eaLnBrk="1" hangingPunct="1"/>
            <a:r>
              <a:rPr lang="en-US" altLang="zh-CN" dirty="0">
                <a:latin typeface="Times New Roman" panose="02020503050405090304" pitchFamily="18" charset="0"/>
              </a:rPr>
              <a:t>One way of precisely defining the calculus concept of a </a:t>
            </a:r>
            <a:r>
              <a:rPr lang="en-US" altLang="zh-CN" i="1" dirty="0">
                <a:latin typeface="Times New Roman" panose="02020503050405090304" pitchFamily="18" charset="0"/>
              </a:rPr>
              <a:t>limit</a:t>
            </a:r>
            <a:r>
              <a:rPr lang="en-US" altLang="zh-CN" dirty="0">
                <a:latin typeface="Times New Roman" panose="02020503050405090304" pitchFamily="18" charset="0"/>
              </a:rPr>
              <a:t>, using quantifiers:</a:t>
            </a:r>
            <a:endParaRPr lang="en-US" altLang="zh-CN" dirty="0">
              <a:latin typeface="Times New Roman" panose="02020503050405090304" pitchFamily="18" charset="0"/>
            </a:endParaRPr>
          </a:p>
          <a:p>
            <a:pPr eaLnBrk="1" hangingPunct="1"/>
            <a:endParaRPr lang="en-US" altLang="zh-CN" dirty="0">
              <a:latin typeface="Times New Roman" panose="02020503050405090304" pitchFamily="18" charset="0"/>
            </a:endParaRPr>
          </a:p>
        </p:txBody>
      </p:sp>
      <p:graphicFrame>
        <p:nvGraphicFramePr>
          <p:cNvPr id="1026" name="Object 4"/>
          <p:cNvGraphicFramePr>
            <a:graphicFrameLocks noChangeAspect="1"/>
          </p:cNvGraphicFramePr>
          <p:nvPr/>
        </p:nvGraphicFramePr>
        <p:xfrm>
          <a:off x="640402" y="3302508"/>
          <a:ext cx="7672388" cy="1497012"/>
        </p:xfrm>
        <a:graphic>
          <a:graphicData uri="http://schemas.openxmlformats.org/presentationml/2006/ole">
            <mc:AlternateContent xmlns:mc="http://schemas.openxmlformats.org/markup-compatibility/2006">
              <mc:Choice xmlns:v="urn:schemas-microsoft-com:vml" Requires="v">
                <p:oleObj spid="_x0000_s1089" name="Equation" r:id="rId1" imgW="49987200" imgH="9753600" progId="Equation.DSMT4">
                  <p:embed/>
                </p:oleObj>
              </mc:Choice>
              <mc:Fallback>
                <p:oleObj name="Equation" r:id="rId1" imgW="49987200" imgH="9753600" progId="Equation.DSMT4">
                  <p:embed/>
                  <p:pic>
                    <p:nvPicPr>
                      <p:cNvPr id="0" name="Object 4"/>
                      <p:cNvPicPr>
                        <a:picLocks noChangeAspect="1" noChangeArrowheads="1"/>
                      </p:cNvPicPr>
                      <p:nvPr/>
                    </p:nvPicPr>
                    <p:blipFill>
                      <a:blip r:embed="rId2"/>
                      <a:srcRect/>
                      <a:stretch>
                        <a:fillRect/>
                      </a:stretch>
                    </p:blipFill>
                    <p:spPr bwMode="auto">
                      <a:xfrm>
                        <a:off x="640402" y="3302508"/>
                        <a:ext cx="7672388" cy="149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2" name="Text Box 5"/>
          <p:cNvSpPr txBox="1">
            <a:spLocks noChangeArrowheads="1"/>
          </p:cNvSpPr>
          <p:nvPr/>
        </p:nvSpPr>
        <p:spPr bwMode="auto">
          <a:xfrm>
            <a:off x="5943600" y="0"/>
            <a:ext cx="294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r"/>
            <a:r>
              <a:rPr kumimoji="0" lang="en-US" altLang="zh-CN" sz="2000" b="0" i="0" u="none">
                <a:solidFill>
                  <a:schemeClr val="bg1"/>
                </a:solidFill>
              </a:rPr>
              <a:t>Topic #3 – Predicate Logic</a:t>
            </a:r>
            <a:endParaRPr kumimoji="0" lang="en-US" altLang="zh-CN" sz="2000" b="0" i="0" u="none">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7ABA15C-2A7B-41DC-9C40-6037D3BDFD7F}"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9219" name="日期占位符 4"/>
          <p:cNvSpPr>
            <a:spLocks noGrp="1"/>
          </p:cNvSpPr>
          <p:nvPr>
            <p:ph type="dt" sz="quarter" idx="11"/>
          </p:nvPr>
        </p:nvSpPr>
        <p:spPr>
          <a:xfrm>
            <a:off x="24105" y="6421821"/>
            <a:ext cx="1447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8275DC82-7FC0-4EC5-BC74-24B23A842AB2}"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922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9221" name="Rectangle 2"/>
          <p:cNvSpPr>
            <a:spLocks noGrp="1" noChangeArrowheads="1"/>
          </p:cNvSpPr>
          <p:nvPr>
            <p:ph type="title"/>
          </p:nvPr>
        </p:nvSpPr>
        <p:spPr>
          <a:xfrm>
            <a:off x="971233" y="44768"/>
            <a:ext cx="7793037" cy="1143000"/>
          </a:xfrm>
        </p:spPr>
        <p:txBody>
          <a:bodyPr/>
          <a:lstStyle/>
          <a:p>
            <a:pPr eaLnBrk="1" hangingPunct="1"/>
            <a:r>
              <a:rPr lang="en-US" altLang="zh-CN" sz="4000"/>
              <a:t>Translating sentences into logical expressions</a:t>
            </a:r>
            <a:endParaRPr lang="en-US" altLang="zh-CN" sz="4000"/>
          </a:p>
        </p:txBody>
      </p:sp>
      <p:sp>
        <p:nvSpPr>
          <p:cNvPr id="9222" name="Rectangle 3"/>
          <p:cNvSpPr>
            <a:spLocks noGrp="1" noChangeArrowheads="1"/>
          </p:cNvSpPr>
          <p:nvPr>
            <p:ph type="body" idx="1"/>
          </p:nvPr>
        </p:nvSpPr>
        <p:spPr>
          <a:xfrm>
            <a:off x="179506" y="1412842"/>
            <a:ext cx="9063608" cy="4114800"/>
          </a:xfrm>
        </p:spPr>
        <p:txBody>
          <a:bodyPr/>
          <a:lstStyle/>
          <a:p>
            <a:pPr eaLnBrk="1" hangingPunct="1"/>
            <a:r>
              <a:rPr lang="en-US" altLang="zh-CN" sz="3600" dirty="0">
                <a:latin typeface="Times New Roman" panose="02020503050405090304" pitchFamily="18" charset="0"/>
              </a:rPr>
              <a:t>Example 11</a:t>
            </a:r>
            <a:endParaRPr lang="en-US" altLang="zh-CN" sz="3600" dirty="0">
              <a:latin typeface="Times New Roman" panose="02020503050405090304" pitchFamily="18" charset="0"/>
            </a:endParaRPr>
          </a:p>
          <a:p>
            <a:pPr lvl="1" eaLnBrk="1" hangingPunct="1"/>
            <a:r>
              <a:rPr lang="en-US" altLang="zh-CN" sz="3200" dirty="0">
                <a:latin typeface="Times New Roman" panose="02020503050405090304" pitchFamily="18" charset="0"/>
              </a:rPr>
              <a:t>If a person is female and is a parent, then this person is someone’ s mother .</a:t>
            </a:r>
            <a:endParaRPr lang="en-US" altLang="zh-CN" sz="3200" dirty="0">
              <a:latin typeface="Times New Roman" panose="02020503050405090304" pitchFamily="18" charset="0"/>
            </a:endParaRPr>
          </a:p>
          <a:p>
            <a:pPr lvl="1" eaLnBrk="1" hangingPunct="1"/>
            <a:endParaRPr lang="en-US" altLang="zh-CN" dirty="0">
              <a:latin typeface="Times New Roman" panose="02020503050405090304" pitchFamily="18" charset="0"/>
            </a:endParaRPr>
          </a:p>
          <a:p>
            <a:pPr lvl="1" eaLnBrk="1" hangingPunct="1"/>
            <a:endParaRPr lang="en-US" altLang="zh-CN" dirty="0">
              <a:latin typeface="Times New Roman" panose="02020503050405090304" pitchFamily="18" charset="0"/>
            </a:endParaRPr>
          </a:p>
        </p:txBody>
      </p:sp>
      <p:sp>
        <p:nvSpPr>
          <p:cNvPr id="3" name="文本框 2"/>
          <p:cNvSpPr txBox="1"/>
          <p:nvPr/>
        </p:nvSpPr>
        <p:spPr>
          <a:xfrm>
            <a:off x="841067" y="3285654"/>
            <a:ext cx="6899159" cy="2553335"/>
          </a:xfrm>
          <a:prstGeom prst="rect">
            <a:avLst/>
          </a:prstGeom>
          <a:noFill/>
        </p:spPr>
        <p:txBody>
          <a:bodyPr wrap="square" rtlCol="0">
            <a:spAutoFit/>
          </a:bodyPr>
          <a:lstStyle/>
          <a:p>
            <a:r>
              <a:rPr lang="en-US" altLang="zh-CN" sz="3200" b="0" u="none" dirty="0">
                <a:solidFill>
                  <a:srgbClr val="003399"/>
                </a:solidFill>
                <a:cs typeface="Times New Roman" panose="02020503050405090304" pitchFamily="18" charset="0"/>
              </a:rPr>
              <a:t>F(x):“x is female,” </a:t>
            </a:r>
            <a:endParaRPr lang="en-US" altLang="zh-CN" sz="3200" b="0" u="none" dirty="0">
              <a:solidFill>
                <a:srgbClr val="003399"/>
              </a:solidFill>
              <a:cs typeface="Times New Roman" panose="02020503050405090304" pitchFamily="18" charset="0"/>
            </a:endParaRPr>
          </a:p>
          <a:p>
            <a:r>
              <a:rPr lang="en-US" altLang="zh-CN" sz="3200" b="0" u="none" dirty="0">
                <a:solidFill>
                  <a:srgbClr val="003399"/>
                </a:solidFill>
                <a:cs typeface="Times New Roman" panose="02020503050405090304" pitchFamily="18" charset="0"/>
              </a:rPr>
              <a:t>P (x): “x is a parent,”</a:t>
            </a:r>
            <a:endParaRPr lang="en-US" altLang="zh-CN" sz="3200" b="0" u="none" dirty="0">
              <a:solidFill>
                <a:srgbClr val="003399"/>
              </a:solidFill>
              <a:cs typeface="Times New Roman" panose="02020503050405090304" pitchFamily="18" charset="0"/>
            </a:endParaRPr>
          </a:p>
          <a:p>
            <a:r>
              <a:rPr lang="en-US" altLang="zh-CN" sz="3200" b="0" u="none" dirty="0">
                <a:solidFill>
                  <a:srgbClr val="003399"/>
                </a:solidFill>
                <a:cs typeface="Times New Roman" panose="02020503050405090304" pitchFamily="18" charset="0"/>
              </a:rPr>
              <a:t>M(x, y):“x is the mother of y.” </a:t>
            </a:r>
            <a:endParaRPr lang="en-US" altLang="zh-CN" sz="3200" b="0" u="none" dirty="0">
              <a:solidFill>
                <a:srgbClr val="003399"/>
              </a:solidFill>
              <a:cs typeface="Times New Roman" panose="02020503050405090304" pitchFamily="18" charset="0"/>
            </a:endParaRPr>
          </a:p>
          <a:p>
            <a:r>
              <a:rPr lang="en-US" altLang="zh-CN" sz="3200" b="0" u="none" dirty="0">
                <a:solidFill>
                  <a:srgbClr val="003399"/>
                </a:solidFill>
                <a:cs typeface="Times New Roman" panose="02020503050405090304" pitchFamily="18" charset="0"/>
              </a:rPr>
              <a:t>∀x((F (x) ∧ P (x)) → ∃</a:t>
            </a:r>
            <a:r>
              <a:rPr lang="en-US" altLang="zh-CN" sz="3200" b="0" u="none" dirty="0" err="1">
                <a:solidFill>
                  <a:srgbClr val="003399"/>
                </a:solidFill>
                <a:cs typeface="Times New Roman" panose="02020503050405090304" pitchFamily="18" charset="0"/>
              </a:rPr>
              <a:t>yM</a:t>
            </a:r>
            <a:r>
              <a:rPr lang="en-US" altLang="zh-CN" sz="3200" b="0" u="none" dirty="0">
                <a:solidFill>
                  <a:srgbClr val="003399"/>
                </a:solidFill>
                <a:cs typeface="Times New Roman" panose="02020503050405090304" pitchFamily="18" charset="0"/>
              </a:rPr>
              <a:t>(x, y)).</a:t>
            </a:r>
            <a:endParaRPr lang="en-US" altLang="zh-CN" sz="3200" b="0" u="none" dirty="0">
              <a:solidFill>
                <a:srgbClr val="003399"/>
              </a:solidFill>
              <a:cs typeface="Times New Roman" panose="02020503050405090304" pitchFamily="18" charset="0"/>
            </a:endParaRPr>
          </a:p>
          <a:p>
            <a:r>
              <a:rPr lang="en-US" altLang="zh-CN" sz="3200" b="0" u="none" dirty="0">
                <a:solidFill>
                  <a:srgbClr val="003399"/>
                </a:solidFill>
                <a:cs typeface="Times New Roman" panose="02020503050405090304" pitchFamily="18" charset="0"/>
              </a:rPr>
              <a:t> </a:t>
            </a:r>
            <a:r>
              <a:rPr lang="zh-CN" altLang="en-US" sz="3200" b="0" u="none" dirty="0">
                <a:solidFill>
                  <a:srgbClr val="003399"/>
                </a:solidFill>
                <a:cs typeface="Times New Roman" panose="02020503050405090304" pitchFamily="18" charset="0"/>
              </a:rPr>
              <a:t>或  </a:t>
            </a:r>
            <a:r>
              <a:rPr lang="es-ES" altLang="zh-CN" sz="3200" b="0" i="0" u="none" dirty="0">
                <a:solidFill>
                  <a:srgbClr val="003399"/>
                </a:solidFill>
                <a:cs typeface="Times New Roman" panose="02020503050405090304" pitchFamily="18" charset="0"/>
              </a:rPr>
              <a:t>∀</a:t>
            </a:r>
            <a:r>
              <a:rPr lang="es-ES" altLang="zh-CN" sz="3200" b="0" u="none" dirty="0">
                <a:solidFill>
                  <a:srgbClr val="003399"/>
                </a:solidFill>
                <a:cs typeface="Times New Roman" panose="02020503050405090304" pitchFamily="18" charset="0"/>
              </a:rPr>
              <a:t>x</a:t>
            </a:r>
            <a:r>
              <a:rPr lang="es-ES" altLang="zh-CN" sz="3200" b="0" i="0" u="none" dirty="0">
                <a:solidFill>
                  <a:srgbClr val="003399"/>
                </a:solidFill>
                <a:cs typeface="Times New Roman" panose="02020503050405090304" pitchFamily="18" charset="0"/>
              </a:rPr>
              <a:t>∃</a:t>
            </a:r>
            <a:r>
              <a:rPr lang="es-ES" altLang="zh-CN" sz="3200" b="0" u="none" dirty="0">
                <a:solidFill>
                  <a:srgbClr val="003399"/>
                </a:solidFill>
                <a:cs typeface="Times New Roman" panose="02020503050405090304" pitchFamily="18" charset="0"/>
              </a:rPr>
              <a:t>y((F (x) </a:t>
            </a:r>
            <a:r>
              <a:rPr lang="es-ES" altLang="zh-CN" sz="3200" b="0" i="0" u="none" dirty="0">
                <a:solidFill>
                  <a:srgbClr val="003399"/>
                </a:solidFill>
                <a:cs typeface="Times New Roman" panose="02020503050405090304" pitchFamily="18" charset="0"/>
              </a:rPr>
              <a:t>∧ </a:t>
            </a:r>
            <a:r>
              <a:rPr lang="es-ES" altLang="zh-CN" sz="3200" b="0" u="none" dirty="0">
                <a:solidFill>
                  <a:srgbClr val="003399"/>
                </a:solidFill>
                <a:cs typeface="Times New Roman" panose="02020503050405090304" pitchFamily="18" charset="0"/>
              </a:rPr>
              <a:t>P (x)) </a:t>
            </a:r>
            <a:r>
              <a:rPr lang="es-ES" altLang="zh-CN" sz="3200" b="0" i="0" u="none" dirty="0">
                <a:solidFill>
                  <a:srgbClr val="003399"/>
                </a:solidFill>
                <a:cs typeface="Times New Roman" panose="02020503050405090304" pitchFamily="18" charset="0"/>
              </a:rPr>
              <a:t>→ </a:t>
            </a:r>
            <a:r>
              <a:rPr lang="es-ES" altLang="zh-CN" sz="3200" b="0" u="none" dirty="0">
                <a:solidFill>
                  <a:srgbClr val="003399"/>
                </a:solidFill>
                <a:cs typeface="Times New Roman" panose="02020503050405090304" pitchFamily="18" charset="0"/>
              </a:rPr>
              <a:t>M(x, y))</a:t>
            </a:r>
            <a:endParaRPr lang="es-ES" altLang="zh-CN" sz="3200" b="0" u="none" dirty="0">
              <a:solidFill>
                <a:srgbClr val="003399"/>
              </a:solidFill>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7ABA15C-2A7B-41DC-9C40-6037D3BDFD7F}"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9219" name="日期占位符 4"/>
          <p:cNvSpPr>
            <a:spLocks noGrp="1"/>
          </p:cNvSpPr>
          <p:nvPr>
            <p:ph type="dt" sz="quarter" idx="11"/>
          </p:nvPr>
        </p:nvSpPr>
        <p:spPr>
          <a:xfrm>
            <a:off x="24105" y="6421821"/>
            <a:ext cx="1447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8275DC82-7FC0-4EC5-BC74-24B23A842AB2}"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922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9221" name="Rectangle 2"/>
          <p:cNvSpPr>
            <a:spLocks noGrp="1" noChangeArrowheads="1"/>
          </p:cNvSpPr>
          <p:nvPr>
            <p:ph type="title"/>
          </p:nvPr>
        </p:nvSpPr>
        <p:spPr>
          <a:xfrm>
            <a:off x="971233" y="188278"/>
            <a:ext cx="7793037" cy="1143000"/>
          </a:xfrm>
        </p:spPr>
        <p:txBody>
          <a:bodyPr/>
          <a:lstStyle/>
          <a:p>
            <a:pPr eaLnBrk="1" hangingPunct="1"/>
            <a:r>
              <a:rPr lang="en-US" altLang="zh-CN" sz="4000"/>
              <a:t>Translating sentences into logical expressions</a:t>
            </a:r>
            <a:endParaRPr lang="en-US" altLang="zh-CN" sz="4000"/>
          </a:p>
        </p:txBody>
      </p:sp>
      <p:sp>
        <p:nvSpPr>
          <p:cNvPr id="9222" name="Rectangle 3"/>
          <p:cNvSpPr>
            <a:spLocks noGrp="1" noChangeArrowheads="1"/>
          </p:cNvSpPr>
          <p:nvPr>
            <p:ph type="body" idx="1"/>
          </p:nvPr>
        </p:nvSpPr>
        <p:spPr>
          <a:xfrm>
            <a:off x="55880" y="1371600"/>
            <a:ext cx="9258935" cy="4433570"/>
          </a:xfrm>
        </p:spPr>
        <p:txBody>
          <a:bodyPr/>
          <a:lstStyle/>
          <a:p>
            <a:pPr eaLnBrk="1" hangingPunct="1"/>
            <a:r>
              <a:rPr lang="en-US" altLang="zh-CN" sz="3600" dirty="0">
                <a:latin typeface="Times New Roman" panose="02020503050405090304" pitchFamily="18" charset="0"/>
              </a:rPr>
              <a:t>Example 12</a:t>
            </a:r>
            <a:endParaRPr lang="en-US" altLang="zh-CN" sz="3600" dirty="0">
              <a:latin typeface="Times New Roman" panose="02020503050405090304" pitchFamily="18" charset="0"/>
            </a:endParaRPr>
          </a:p>
          <a:p>
            <a:pPr lvl="1" eaLnBrk="1" hangingPunct="1"/>
            <a:r>
              <a:rPr lang="en-US" altLang="zh-CN" sz="3200" dirty="0">
                <a:latin typeface="Times New Roman" panose="02020503050405090304" pitchFamily="18" charset="0"/>
              </a:rPr>
              <a:t>Everyone has exactly one best friend.</a:t>
            </a:r>
            <a:endParaRPr lang="en-US" altLang="zh-CN" sz="3200" dirty="0">
              <a:latin typeface="Times New Roman" panose="02020503050405090304" pitchFamily="18" charset="0"/>
            </a:endParaRPr>
          </a:p>
        </p:txBody>
      </p:sp>
      <p:sp>
        <p:nvSpPr>
          <p:cNvPr id="2" name="文本框 1"/>
          <p:cNvSpPr txBox="1"/>
          <p:nvPr/>
        </p:nvSpPr>
        <p:spPr>
          <a:xfrm>
            <a:off x="683568" y="3132783"/>
            <a:ext cx="7879715" cy="2984500"/>
          </a:xfrm>
          <a:prstGeom prst="rect">
            <a:avLst/>
          </a:prstGeom>
          <a:noFill/>
        </p:spPr>
        <p:txBody>
          <a:bodyPr wrap="none" rtlCol="0">
            <a:spAutoFit/>
          </a:bodyPr>
          <a:lstStyle/>
          <a:p>
            <a:pPr marL="0" indent="0" algn="l">
              <a:buClr>
                <a:srgbClr val="002060"/>
              </a:buClr>
              <a:buSzPct val="70000"/>
              <a:buNone/>
            </a:pPr>
            <a:r>
              <a:rPr lang="en-US" altLang="zh-CN" sz="3200" u="none" dirty="0">
                <a:solidFill>
                  <a:srgbClr val="003399"/>
                </a:solidFill>
                <a:sym typeface="+mn-ea"/>
              </a:rPr>
              <a:t>U.D: all people</a:t>
            </a:r>
            <a:endParaRPr lang="en-US" altLang="zh-CN" sz="3200" u="none" dirty="0">
              <a:solidFill>
                <a:srgbClr val="003399"/>
              </a:solidFill>
            </a:endParaRPr>
          </a:p>
          <a:p>
            <a:pPr marL="0" indent="0" algn="l">
              <a:buClr>
                <a:srgbClr val="002060"/>
              </a:buClr>
              <a:buSzPct val="70000"/>
              <a:buNone/>
            </a:pPr>
            <a:r>
              <a:rPr lang="en-US" altLang="zh-CN" sz="3200" b="0" u="none" dirty="0">
                <a:solidFill>
                  <a:srgbClr val="003399"/>
                </a:solidFill>
              </a:rPr>
              <a:t>B(x, y) </a:t>
            </a:r>
            <a:r>
              <a:rPr lang="en-US" altLang="zh-CN" sz="3200" b="0" i="0" u="none" dirty="0">
                <a:solidFill>
                  <a:srgbClr val="003399"/>
                </a:solidFill>
              </a:rPr>
              <a:t>:“</a:t>
            </a:r>
            <a:r>
              <a:rPr lang="en-US" altLang="zh-CN" sz="3200" b="0" u="none" dirty="0">
                <a:solidFill>
                  <a:srgbClr val="003399"/>
                </a:solidFill>
              </a:rPr>
              <a:t>y </a:t>
            </a:r>
            <a:r>
              <a:rPr lang="en-US" altLang="zh-CN" sz="3200" b="0" i="0" u="none" dirty="0">
                <a:solidFill>
                  <a:srgbClr val="003399"/>
                </a:solidFill>
              </a:rPr>
              <a:t>is the best friend of </a:t>
            </a:r>
            <a:r>
              <a:rPr lang="en-US" altLang="zh-CN" sz="3200" b="0" u="none" dirty="0">
                <a:solidFill>
                  <a:srgbClr val="003399"/>
                </a:solidFill>
              </a:rPr>
              <a:t>x</a:t>
            </a:r>
            <a:r>
              <a:rPr lang="en-US" altLang="zh-CN" sz="3200" b="0" i="0" u="none" dirty="0">
                <a:solidFill>
                  <a:srgbClr val="003399"/>
                </a:solidFill>
              </a:rPr>
              <a:t>,”</a:t>
            </a:r>
            <a:endParaRPr lang="en-US" altLang="zh-CN" sz="3200" b="0" i="0" u="none" dirty="0">
              <a:solidFill>
                <a:srgbClr val="003399"/>
              </a:solidFill>
            </a:endParaRPr>
          </a:p>
          <a:p>
            <a:pPr marL="0" indent="0" algn="l">
              <a:buClr>
                <a:srgbClr val="002060"/>
              </a:buClr>
              <a:buSzPct val="70000"/>
              <a:buNone/>
            </a:pPr>
            <a:r>
              <a:rPr lang="en-US" altLang="zh-CN" sz="3200" b="0" i="0" u="none" dirty="0">
                <a:solidFill>
                  <a:srgbClr val="003399"/>
                </a:solidFill>
              </a:rPr>
              <a:t>the statement that </a:t>
            </a:r>
            <a:r>
              <a:rPr lang="en-US" altLang="zh-CN" sz="3200" b="0" u="none" dirty="0">
                <a:solidFill>
                  <a:srgbClr val="003399"/>
                </a:solidFill>
              </a:rPr>
              <a:t>x </a:t>
            </a:r>
            <a:r>
              <a:rPr lang="en-US" altLang="zh-CN" sz="3200" b="0" i="0" u="none" dirty="0">
                <a:solidFill>
                  <a:srgbClr val="003399"/>
                </a:solidFill>
              </a:rPr>
              <a:t>has exactly one best friend:</a:t>
            </a:r>
            <a:br>
              <a:rPr lang="en-US" altLang="zh-CN" sz="3200" b="0" i="0" u="none" dirty="0">
                <a:solidFill>
                  <a:srgbClr val="003399"/>
                </a:solidFill>
              </a:rPr>
            </a:br>
            <a:r>
              <a:rPr lang="en-US" altLang="zh-CN" sz="3200" b="0" i="0" u="none" dirty="0">
                <a:solidFill>
                  <a:srgbClr val="003399"/>
                </a:solidFill>
              </a:rPr>
              <a:t>∃</a:t>
            </a:r>
            <a:r>
              <a:rPr lang="en-US" altLang="zh-CN" sz="3200" b="0" u="none" dirty="0">
                <a:solidFill>
                  <a:srgbClr val="003399"/>
                </a:solidFill>
              </a:rPr>
              <a:t>y(B(x, y) </a:t>
            </a:r>
            <a:r>
              <a:rPr lang="en-US" altLang="zh-CN" sz="3200" b="0" i="0" u="none" dirty="0">
                <a:solidFill>
                  <a:srgbClr val="003399"/>
                </a:solidFill>
              </a:rPr>
              <a:t>∧ ∀</a:t>
            </a:r>
            <a:r>
              <a:rPr lang="en-US" altLang="zh-CN" sz="3200" b="0" u="none" dirty="0">
                <a:solidFill>
                  <a:srgbClr val="003399"/>
                </a:solidFill>
              </a:rPr>
              <a:t>z((z</a:t>
            </a:r>
            <a:r>
              <a:rPr lang="en-US" altLang="zh-CN" sz="3200" b="0" u="none" dirty="0">
                <a:solidFill>
                  <a:srgbClr val="003399"/>
                </a:solidFill>
                <a:latin typeface="PingFang SC" panose="020B0400000000000000" charset="-122"/>
                <a:ea typeface="PingFang SC" panose="020B0400000000000000" charset="-122"/>
              </a:rPr>
              <a:t>≠</a:t>
            </a:r>
            <a:r>
              <a:rPr lang="en-US" altLang="zh-CN" sz="3200" b="0" i="0" u="none" dirty="0">
                <a:solidFill>
                  <a:srgbClr val="003399"/>
                </a:solidFill>
              </a:rPr>
              <a:t> </a:t>
            </a:r>
            <a:r>
              <a:rPr lang="en-US" altLang="zh-CN" sz="3200" b="0" u="none" dirty="0">
                <a:solidFill>
                  <a:srgbClr val="003399"/>
                </a:solidFill>
              </a:rPr>
              <a:t>y) </a:t>
            </a:r>
            <a:r>
              <a:rPr lang="en-US" altLang="zh-CN" sz="3200" b="0" i="0" u="none" dirty="0">
                <a:solidFill>
                  <a:srgbClr val="003399"/>
                </a:solidFill>
              </a:rPr>
              <a:t>→ ¬</a:t>
            </a:r>
            <a:r>
              <a:rPr lang="en-US" altLang="zh-CN" sz="3200" b="0" u="none" dirty="0">
                <a:solidFill>
                  <a:srgbClr val="003399"/>
                </a:solidFill>
              </a:rPr>
              <a:t>B(x, z))).</a:t>
            </a:r>
            <a:endParaRPr lang="en-US" altLang="zh-CN" sz="3200" b="0" u="none" dirty="0">
              <a:solidFill>
                <a:srgbClr val="003399"/>
              </a:solidFill>
            </a:endParaRPr>
          </a:p>
          <a:p>
            <a:pPr marL="0" indent="0" algn="l">
              <a:buClr>
                <a:srgbClr val="002060"/>
              </a:buClr>
              <a:buSzPct val="70000"/>
              <a:buNone/>
            </a:pPr>
            <a:r>
              <a:rPr lang="en-US" altLang="zh-CN" sz="3200" b="0" i="0" u="none" dirty="0">
                <a:solidFill>
                  <a:srgbClr val="003399"/>
                </a:solidFill>
              </a:rPr>
              <a:t>∀</a:t>
            </a:r>
            <a:r>
              <a:rPr lang="en-US" altLang="zh-CN" sz="3200" b="0" u="none" dirty="0" err="1">
                <a:solidFill>
                  <a:srgbClr val="003399"/>
                </a:solidFill>
              </a:rPr>
              <a:t>x</a:t>
            </a:r>
            <a:r>
              <a:rPr lang="en-US" altLang="zh-CN" sz="3200" b="0" i="0" u="none" dirty="0" err="1">
                <a:solidFill>
                  <a:srgbClr val="003399"/>
                </a:solidFill>
              </a:rPr>
              <a:t>∃</a:t>
            </a:r>
            <a:r>
              <a:rPr lang="en-US" altLang="zh-CN" sz="3200" b="0" u="none" dirty="0" err="1">
                <a:solidFill>
                  <a:srgbClr val="003399"/>
                </a:solidFill>
              </a:rPr>
              <a:t>y</a:t>
            </a:r>
            <a:r>
              <a:rPr lang="en-US" altLang="zh-CN" sz="3200" b="0" u="none" dirty="0">
                <a:solidFill>
                  <a:srgbClr val="003399"/>
                </a:solidFill>
              </a:rPr>
              <a:t>(B(x, y) </a:t>
            </a:r>
            <a:r>
              <a:rPr lang="en-US" altLang="zh-CN" sz="3200" b="0" i="0" u="none" dirty="0">
                <a:solidFill>
                  <a:srgbClr val="003399"/>
                </a:solidFill>
              </a:rPr>
              <a:t>∧ ∀</a:t>
            </a:r>
            <a:r>
              <a:rPr lang="en-US" altLang="zh-CN" sz="3200" b="0" u="none" dirty="0">
                <a:solidFill>
                  <a:srgbClr val="003399"/>
                </a:solidFill>
              </a:rPr>
              <a:t>z((z</a:t>
            </a:r>
            <a:r>
              <a:rPr lang="en-US" altLang="zh-CN" sz="3200" b="0" u="none" dirty="0">
                <a:solidFill>
                  <a:srgbClr val="003399"/>
                </a:solidFill>
                <a:latin typeface="PingFang SC" panose="020B0400000000000000" charset="-122"/>
                <a:ea typeface="PingFang SC" panose="020B0400000000000000" charset="-122"/>
              </a:rPr>
              <a:t>≠</a:t>
            </a:r>
            <a:r>
              <a:rPr lang="en-US" altLang="zh-CN" sz="3200" b="0" i="0" u="none" dirty="0">
                <a:solidFill>
                  <a:srgbClr val="003399"/>
                </a:solidFill>
              </a:rPr>
              <a:t> </a:t>
            </a:r>
            <a:r>
              <a:rPr lang="en-US" altLang="zh-CN" sz="3200" b="0" u="none" dirty="0">
                <a:solidFill>
                  <a:srgbClr val="003399"/>
                </a:solidFill>
              </a:rPr>
              <a:t>y) </a:t>
            </a:r>
            <a:r>
              <a:rPr lang="en-US" altLang="zh-CN" sz="3200" b="0" i="0" u="none" dirty="0">
                <a:solidFill>
                  <a:srgbClr val="003399"/>
                </a:solidFill>
              </a:rPr>
              <a:t>→ ¬</a:t>
            </a:r>
            <a:r>
              <a:rPr lang="en-US" altLang="zh-CN" sz="3200" b="0" u="none" dirty="0">
                <a:solidFill>
                  <a:srgbClr val="003399"/>
                </a:solidFill>
              </a:rPr>
              <a:t>B(x, z))). </a:t>
            </a:r>
            <a:br>
              <a:rPr lang="en-US" altLang="zh-CN" sz="2800" b="0" u="none" dirty="0">
                <a:solidFill>
                  <a:srgbClr val="003399"/>
                </a:solidFill>
              </a:rPr>
            </a:br>
            <a:endParaRPr lang="en-US" altLang="zh-CN" sz="2800" b="0" u="none" dirty="0">
              <a:solidFill>
                <a:srgbClr val="0033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127A4833-C340-4B6A-89E3-9C17758B62C9}"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024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4271E73-8089-4F01-A88B-18B68223BB9B}"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024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0245" name="Rectangle 2"/>
          <p:cNvSpPr>
            <a:spLocks noGrp="1" noChangeArrowheads="1"/>
          </p:cNvSpPr>
          <p:nvPr>
            <p:ph type="title"/>
          </p:nvPr>
        </p:nvSpPr>
        <p:spPr>
          <a:xfrm>
            <a:off x="1043623" y="44133"/>
            <a:ext cx="7793037" cy="1143000"/>
          </a:xfrm>
        </p:spPr>
        <p:txBody>
          <a:bodyPr/>
          <a:lstStyle/>
          <a:p>
            <a:pPr eaLnBrk="1" hangingPunct="1"/>
            <a:endParaRPr lang="zh-CN" altLang="en-US"/>
          </a:p>
        </p:txBody>
      </p:sp>
      <p:sp>
        <p:nvSpPr>
          <p:cNvPr id="10246" name="Rectangle 3"/>
          <p:cNvSpPr>
            <a:spLocks noGrp="1" noChangeArrowheads="1"/>
          </p:cNvSpPr>
          <p:nvPr>
            <p:ph type="body" idx="1"/>
          </p:nvPr>
        </p:nvSpPr>
        <p:spPr>
          <a:xfrm>
            <a:off x="539552" y="1412558"/>
            <a:ext cx="8604448" cy="4114800"/>
          </a:xfrm>
        </p:spPr>
        <p:txBody>
          <a:bodyPr/>
          <a:lstStyle/>
          <a:p>
            <a:pPr eaLnBrk="1" hangingPunct="1"/>
            <a:r>
              <a:rPr lang="en-US" altLang="zh-CN" dirty="0">
                <a:latin typeface="Times New Roman" panose="02020503050405090304" pitchFamily="18" charset="0"/>
              </a:rPr>
              <a:t>Example 13</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There is a woman who has taken a flight on every airline in the world.</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cs typeface="Times New Roman" panose="02020503050405090304" pitchFamily="18" charset="0"/>
              </a:rPr>
              <a:t>Solution</a:t>
            </a:r>
            <a:endParaRPr lang="en-US" altLang="zh-CN" dirty="0">
              <a:latin typeface="Times New Roman" panose="02020503050405090304" pitchFamily="18" charset="0"/>
              <a:cs typeface="Times New Roman" panose="02020503050405090304" pitchFamily="18" charset="0"/>
            </a:endParaRPr>
          </a:p>
          <a:p>
            <a:pPr marL="850265" lvl="1" indent="-457200"/>
            <a:r>
              <a:rPr lang="en-US" altLang="zh-CN" i="1" dirty="0">
                <a:latin typeface="Times New Roman" panose="02020503050405090304" pitchFamily="18" charset="0"/>
                <a:ea typeface="Cambria Math" panose="02040503050406030204" pitchFamily="18" charset="0"/>
                <a:cs typeface="Times New Roman" panose="02020503050405090304" pitchFamily="18" charset="0"/>
              </a:rPr>
              <a:t>P(</a:t>
            </a:r>
            <a:r>
              <a:rPr lang="en-US" altLang="zh-CN" i="1" dirty="0" err="1">
                <a:latin typeface="Times New Roman" panose="02020503050405090304" pitchFamily="18" charset="0"/>
                <a:ea typeface="Cambria Math" panose="02040503050406030204" pitchFamily="18" charset="0"/>
                <a:cs typeface="Times New Roman" panose="02020503050405090304" pitchFamily="18" charset="0"/>
              </a:rPr>
              <a:t>w,f</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rPr>
              <a:t>):</a:t>
            </a:r>
            <a:r>
              <a:rPr lang="en-US" altLang="zh-CN" dirty="0">
                <a:latin typeface="Times New Roman" panose="02020503050405090304" pitchFamily="18" charset="0"/>
                <a:cs typeface="Times New Roman" panose="02020503050405090304" pitchFamily="18" charset="0"/>
              </a:rPr>
              <a:t>“</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rPr>
              <a:t>w</a:t>
            </a:r>
            <a:r>
              <a:rPr lang="en-US" altLang="zh-CN" dirty="0">
                <a:latin typeface="Times New Roman" panose="02020503050405090304" pitchFamily="18" charset="0"/>
                <a:cs typeface="Times New Roman" panose="02020503050405090304" pitchFamily="18" charset="0"/>
              </a:rPr>
              <a:t> has taken </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rPr>
              <a:t>f  </a:t>
            </a:r>
            <a:r>
              <a:rPr lang="en-US" altLang="zh-CN" dirty="0">
                <a:latin typeface="Times New Roman" panose="02020503050405090304" pitchFamily="18" charset="0"/>
                <a:cs typeface="Times New Roman" panose="02020503050405090304" pitchFamily="18" charset="0"/>
              </a:rPr>
              <a:t>” ; </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rPr>
              <a:t>Q</a:t>
            </a:r>
            <a:r>
              <a:rPr lang="en-US" altLang="zh-CN" dirty="0">
                <a:latin typeface="Times New Roman" panose="02020503050405090304" pitchFamily="18" charset="0"/>
                <a:ea typeface="Cambria Math" panose="02040503050406030204" pitchFamily="18" charset="0"/>
                <a:cs typeface="Times New Roman" panose="02020503050405090304" pitchFamily="18" charset="0"/>
              </a:rPr>
              <a:t>(</a:t>
            </a:r>
            <a:r>
              <a:rPr lang="en-US" altLang="zh-CN" i="1" dirty="0" err="1">
                <a:latin typeface="Times New Roman" panose="02020503050405090304" pitchFamily="18" charset="0"/>
                <a:ea typeface="Cambria Math" panose="02040503050406030204" pitchFamily="18" charset="0"/>
                <a:cs typeface="Times New Roman" panose="02020503050405090304" pitchFamily="18" charset="0"/>
              </a:rPr>
              <a:t>f,a</a:t>
            </a:r>
            <a:r>
              <a:rPr lang="en-US" altLang="zh-CN" dirty="0">
                <a:latin typeface="Times New Roman" panose="02020503050405090304" pitchFamily="18" charset="0"/>
                <a:ea typeface="Cambria Math" panose="02040503050406030204" pitchFamily="18" charset="0"/>
                <a:cs typeface="Times New Roman" panose="02020503050405090304" pitchFamily="18" charset="0"/>
              </a:rPr>
              <a:t>):</a:t>
            </a:r>
            <a:r>
              <a:rPr lang="en-US" altLang="zh-CN" dirty="0">
                <a:latin typeface="Times New Roman" panose="02020503050405090304" pitchFamily="18" charset="0"/>
                <a:cs typeface="Times New Roman" panose="02020503050405090304" pitchFamily="18" charset="0"/>
              </a:rPr>
              <a:t>“</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rPr>
              <a:t>f</a:t>
            </a:r>
            <a:r>
              <a:rPr lang="en-US" altLang="zh-CN" dirty="0">
                <a:latin typeface="Times New Roman" panose="02020503050405090304" pitchFamily="18" charset="0"/>
                <a:cs typeface="Times New Roman" panose="02020503050405090304" pitchFamily="18" charset="0"/>
              </a:rPr>
              <a:t>  is a flight on </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rPr>
              <a:t>a .</a:t>
            </a:r>
            <a:r>
              <a:rPr lang="en-US" altLang="zh-CN" dirty="0">
                <a:latin typeface="Times New Roman" panose="02020503050405090304" pitchFamily="18" charset="0"/>
                <a:cs typeface="Times New Roman" panose="02020503050405090304" pitchFamily="18" charset="0"/>
              </a:rPr>
              <a:t>” </a:t>
            </a:r>
            <a:endParaRPr lang="en-US" altLang="zh-CN" dirty="0">
              <a:latin typeface="Times New Roman" panose="02020503050405090304" pitchFamily="18" charset="0"/>
              <a:cs typeface="Times New Roman" panose="02020503050405090304" pitchFamily="18" charset="0"/>
            </a:endParaRPr>
          </a:p>
          <a:p>
            <a:pPr marL="850265" lvl="1" indent="-457200"/>
            <a:r>
              <a:rPr lang="en-US" altLang="zh-CN" dirty="0">
                <a:latin typeface="Times New Roman" panose="02020503050405090304" pitchFamily="18" charset="0"/>
                <a:cs typeface="Times New Roman" panose="02020503050405090304" pitchFamily="18" charset="0"/>
              </a:rPr>
              <a:t>The domain of </a:t>
            </a:r>
            <a:r>
              <a:rPr lang="en-US" altLang="zh-CN" i="1" dirty="0">
                <a:latin typeface="Times New Roman" panose="02020503050405090304" pitchFamily="18" charset="0"/>
                <a:cs typeface="Times New Roman" panose="02020503050405090304" pitchFamily="18" charset="0"/>
              </a:rPr>
              <a:t>w</a:t>
            </a:r>
            <a:r>
              <a:rPr lang="en-US" altLang="zh-CN" dirty="0">
                <a:latin typeface="Times New Roman" panose="02020503050405090304" pitchFamily="18" charset="0"/>
                <a:cs typeface="Times New Roman" panose="02020503050405090304" pitchFamily="18" charset="0"/>
              </a:rPr>
              <a:t> is all women, the domain of </a:t>
            </a:r>
            <a:r>
              <a:rPr lang="en-US" altLang="zh-CN" i="1" dirty="0">
                <a:latin typeface="Times New Roman" panose="02020503050405090304" pitchFamily="18" charset="0"/>
                <a:cs typeface="Times New Roman" panose="02020503050405090304" pitchFamily="18" charset="0"/>
              </a:rPr>
              <a:t>f</a:t>
            </a:r>
            <a:r>
              <a:rPr lang="en-US" altLang="zh-CN" dirty="0">
                <a:latin typeface="Times New Roman" panose="02020503050405090304" pitchFamily="18" charset="0"/>
                <a:cs typeface="Times New Roman" panose="02020503050405090304" pitchFamily="18" charset="0"/>
              </a:rPr>
              <a:t> is all flights, and the domain of </a:t>
            </a:r>
            <a:r>
              <a:rPr lang="en-US" altLang="zh-CN" i="1" dirty="0">
                <a:latin typeface="Times New Roman" panose="02020503050405090304" pitchFamily="18" charset="0"/>
                <a:cs typeface="Times New Roman" panose="02020503050405090304" pitchFamily="18" charset="0"/>
              </a:rPr>
              <a:t>a</a:t>
            </a:r>
            <a:r>
              <a:rPr lang="en-US" altLang="zh-CN" dirty="0">
                <a:latin typeface="Times New Roman" panose="02020503050405090304" pitchFamily="18" charset="0"/>
                <a:cs typeface="Times New Roman" panose="02020503050405090304" pitchFamily="18" charset="0"/>
              </a:rPr>
              <a:t> is all airlines.</a:t>
            </a:r>
            <a:endParaRPr lang="en-US" altLang="zh-CN" dirty="0">
              <a:latin typeface="Times New Roman" panose="02020503050405090304" pitchFamily="18" charset="0"/>
              <a:cs typeface="Times New Roman" panose="02020503050405090304" pitchFamily="18" charset="0"/>
            </a:endParaRPr>
          </a:p>
          <a:p>
            <a:pPr marL="850265" lvl="1" indent="-457200"/>
            <a:r>
              <a:rPr lang="en-US" altLang="zh-CN"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 </a:t>
            </a:r>
            <a:r>
              <a:rPr lang="en-US" altLang="zh-CN"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 </a:t>
            </a:r>
            <a:r>
              <a:rPr lang="en-US" altLang="zh-CN"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t>
            </a:r>
            <a:r>
              <a:rPr lang="en-US" altLang="zh-CN"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P</a:t>
            </a:r>
            <a:r>
              <a:rPr lang="en-US" altLang="zh-CN"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w,f</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 </a:t>
            </a:r>
            <a:r>
              <a:rPr lang="en-US" altLang="zh-CN"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Q</a:t>
            </a:r>
            <a:r>
              <a:rPr lang="en-US" altLang="zh-CN"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a:t>
            </a:r>
            <a:r>
              <a:rPr lang="en-US" altLang="zh-CN"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endParaRPr lang="en-US" altLang="zh-CN" dirty="0">
              <a:latin typeface="Times New Roman" panose="02020503050405090304" pitchFamily="18" charset="0"/>
              <a:ea typeface="Cambria Math" panose="02040503050406030204" pitchFamily="18" charset="0"/>
              <a:cs typeface="Times New Roman" panose="02020503050405090304" pitchFamily="18" charset="0"/>
            </a:endParaRPr>
          </a:p>
          <a:p>
            <a:pPr lvl="1" eaLnBrk="1" hangingPunct="1"/>
            <a:endParaRPr lang="en-US" altLang="zh-CN" dirty="0">
              <a:latin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483E0BF-133E-4CCD-8279-A1DE935ECA50}"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4339" name="日期占位符 5"/>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6AEA7F7-DEEC-4C5A-BA93-C6AD5D894F11}"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4340" name="页脚占位符 6"/>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4341" name="Rectangle 2"/>
          <p:cNvSpPr>
            <a:spLocks noGrp="1" noChangeArrowheads="1"/>
          </p:cNvSpPr>
          <p:nvPr>
            <p:ph type="title"/>
          </p:nvPr>
        </p:nvSpPr>
        <p:spPr>
          <a:xfrm>
            <a:off x="1017588" y="116523"/>
            <a:ext cx="7793037" cy="1143000"/>
          </a:xfrm>
        </p:spPr>
        <p:txBody>
          <a:bodyPr/>
          <a:lstStyle/>
          <a:p>
            <a:pPr eaLnBrk="1" hangingPunct="1"/>
            <a:r>
              <a:rPr lang="en-US" altLang="zh-CN"/>
              <a:t>Negating nested quantifiers</a:t>
            </a:r>
            <a:endParaRPr lang="en-US" altLang="zh-CN"/>
          </a:p>
        </p:txBody>
      </p:sp>
      <p:sp>
        <p:nvSpPr>
          <p:cNvPr id="14342" name="Rectangle 3"/>
          <p:cNvSpPr>
            <a:spLocks noGrp="1" noChangeArrowheads="1"/>
          </p:cNvSpPr>
          <p:nvPr>
            <p:ph type="body" sz="half" idx="1"/>
          </p:nvPr>
        </p:nvSpPr>
        <p:spPr>
          <a:xfrm>
            <a:off x="551815" y="1485265"/>
            <a:ext cx="8279765" cy="4114800"/>
          </a:xfrm>
        </p:spPr>
        <p:txBody>
          <a:bodyPr/>
          <a:lstStyle/>
          <a:p>
            <a:pPr eaLnBrk="1" hangingPunct="1"/>
            <a:r>
              <a:rPr lang="en-US" altLang="zh-CN" dirty="0">
                <a:latin typeface="Times New Roman" panose="02020503050405090304" pitchFamily="18" charset="0"/>
              </a:rPr>
              <a:t>Example 14</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Express the negation of the statement </a:t>
            </a:r>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xy</a:t>
            </a:r>
            <a:r>
              <a:rPr lang="en-US" altLang="zh-CN" dirty="0">
                <a:latin typeface="Times New Roman" panose="02020503050405090304" pitchFamily="18" charset="0"/>
                <a:sym typeface="Symbol" panose="05050102010706020507" pitchFamily="18" charset="2"/>
              </a:rPr>
              <a:t>1)</a:t>
            </a:r>
            <a:r>
              <a:rPr lang="en-US" altLang="zh-CN" dirty="0">
                <a:latin typeface="Times New Roman" panose="02020503050405090304" pitchFamily="18" charset="0"/>
              </a:rPr>
              <a:t>  .</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sym typeface="Euclid Symbol" panose="05050102010706020507" pitchFamily="18" charset="2"/>
              </a:rPr>
              <a:t>    </a:t>
            </a:r>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xy</a:t>
            </a:r>
            <a:r>
              <a:rPr lang="en-US" altLang="zh-CN" dirty="0">
                <a:latin typeface="Times New Roman" panose="02020503050405090304" pitchFamily="18" charset="0"/>
                <a:sym typeface="Symbol" panose="05050102010706020507" pitchFamily="18" charset="2"/>
              </a:rPr>
              <a:t>1)</a:t>
            </a:r>
            <a:endParaRPr lang="en-US" altLang="zh-CN" dirty="0">
              <a:latin typeface="Times New Roman" panose="02020503050405090304" pitchFamily="18" charset="0"/>
              <a:sym typeface="Symbol" panose="05050102010706020507" pitchFamily="18" charset="2"/>
            </a:endParaRPr>
          </a:p>
          <a:p>
            <a:pPr marL="457200" lvl="1" indent="0" eaLnBrk="1" hangingPunct="1">
              <a:buNone/>
            </a:pPr>
            <a:r>
              <a:rPr lang="en-US" altLang="zh-CN" dirty="0">
                <a:latin typeface="Times New Roman" panose="02020503050405090304" pitchFamily="18" charset="0"/>
                <a:sym typeface="Euclid Symbol" panose="05050102010706020507" pitchFamily="18" charset="2"/>
              </a:rPr>
              <a:t>      </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x</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y</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xy</a:t>
            </a:r>
            <a:r>
              <a:rPr lang="en-US" altLang="zh-CN" dirty="0">
                <a:latin typeface="Times New Roman" panose="02020503050405090304" pitchFamily="18" charset="0"/>
                <a:sym typeface="Symbol" panose="05050102010706020507" pitchFamily="18" charset="2"/>
              </a:rPr>
              <a:t>1)</a:t>
            </a:r>
            <a:r>
              <a:rPr lang="en-US" altLang="zh-CN" dirty="0">
                <a:latin typeface="Times New Roman" panose="02020503050405090304" pitchFamily="18" charset="0"/>
                <a:sym typeface="Euclid Symbol" panose="05050102010706020507" pitchFamily="18" charset="2"/>
              </a:rPr>
              <a:t> </a:t>
            </a:r>
            <a:endParaRPr lang="en-US" altLang="zh-CN" dirty="0">
              <a:latin typeface="Times New Roman" panose="02020503050405090304" pitchFamily="18" charset="0"/>
              <a:sym typeface="Euclid Symbol" panose="05050102010706020507" pitchFamily="18" charset="2"/>
            </a:endParaRPr>
          </a:p>
          <a:p>
            <a:pPr marL="457200" lvl="1" indent="0" eaLnBrk="1" hangingPunct="1">
              <a:buNone/>
            </a:pPr>
            <a:r>
              <a:rPr lang="en-US" altLang="zh-CN" dirty="0">
                <a:latin typeface="Times New Roman" panose="02020503050405090304" pitchFamily="18" charset="0"/>
                <a:sym typeface="Euclid Symbol" panose="05050102010706020507" pitchFamily="18" charset="2"/>
              </a:rPr>
              <a:t>       </a:t>
            </a:r>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sym typeface="Symbol" panose="05050102010706020507" pitchFamily="18" charset="2"/>
              </a:rPr>
              <a:t>xy</a:t>
            </a:r>
            <a:r>
              <a:rPr lang="en-US" altLang="zh-CN" dirty="0">
                <a:latin typeface="Times New Roman" panose="02020503050405090304" pitchFamily="18" charset="0"/>
                <a:sym typeface="Symbol" panose="05050102010706020507" pitchFamily="18" charset="2"/>
              </a:rPr>
              <a:t>1)</a:t>
            </a:r>
            <a:r>
              <a:rPr lang="en-US" altLang="zh-CN" dirty="0">
                <a:latin typeface="Times New Roman" panose="02020503050405090304" pitchFamily="18" charset="0"/>
                <a:sym typeface="Euclid Symbol" panose="05050102010706020507" pitchFamily="18" charset="2"/>
              </a:rPr>
              <a:t> </a:t>
            </a:r>
            <a:endParaRPr lang="en-US" altLang="zh-CN" dirty="0">
              <a:latin typeface="Times New Roman" panose="02020503050405090304" pitchFamily="18" charset="0"/>
              <a:sym typeface="Euclid Symbol" panose="05050102010706020507" pitchFamily="18" charset="2"/>
            </a:endParaRPr>
          </a:p>
          <a:p>
            <a:pPr marL="457200" lvl="1" indent="0" eaLnBrk="1" hangingPunct="1">
              <a:buNone/>
            </a:pPr>
            <a:r>
              <a:rPr lang="en-US" altLang="zh-CN" dirty="0">
                <a:latin typeface="Times New Roman" panose="02020503050405090304" pitchFamily="18" charset="0"/>
                <a:sym typeface="Euclid Symbol" panose="05050102010706020507" pitchFamily="18" charset="2"/>
              </a:rPr>
              <a:t>       </a:t>
            </a:r>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i="1" dirty="0">
                <a:latin typeface="Times New Roman" panose="02020503050405090304" pitchFamily="18" charset="0"/>
                <a:sym typeface="Symbol" panose="05050102010706020507" pitchFamily="18" charset="2"/>
              </a:rPr>
              <a:t> </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xy</a:t>
            </a:r>
            <a:r>
              <a:rPr lang="en-US" altLang="zh-CN" i="1" dirty="0">
                <a:latin typeface="PingFang SC" panose="020B0400000000000000" charset="-122"/>
                <a:ea typeface="PingFang SC" panose="020B0400000000000000" charset="-122"/>
                <a:sym typeface="Symbol" panose="05050102010706020507" pitchFamily="18" charset="2"/>
              </a:rPr>
              <a:t>≠</a:t>
            </a:r>
            <a:r>
              <a:rPr lang="en-US" altLang="zh-CN" dirty="0">
                <a:latin typeface="Times New Roman" panose="02020503050405090304" pitchFamily="18" charset="0"/>
                <a:sym typeface="Symbol" panose="05050102010706020507" pitchFamily="18" charset="2"/>
              </a:rPr>
              <a:t>1)</a:t>
            </a:r>
            <a:endParaRPr lang="en-US" altLang="zh-CN" dirty="0">
              <a:latin typeface="Times New Roman" panose="02020503050405090304" pitchFamily="18" charset="0"/>
            </a:endParaRPr>
          </a:p>
          <a:p>
            <a:pPr eaLnBrk="1" hangingPunct="1">
              <a:buFont typeface="Wingdings" panose="05000000000000000000" pitchFamily="2" charset="2"/>
              <a:buNone/>
            </a:pPr>
            <a:endParaRPr lang="en-US" altLang="zh-CN" dirty="0">
              <a:latin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483E0BF-133E-4CCD-8279-A1DE935ECA50}"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4339" name="日期占位符 5"/>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6AEA7F7-DEEC-4C5A-BA93-C6AD5D894F11}"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4340" name="页脚占位符 6"/>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4341" name="Rectangle 2"/>
          <p:cNvSpPr>
            <a:spLocks noGrp="1" noChangeArrowheads="1"/>
          </p:cNvSpPr>
          <p:nvPr>
            <p:ph type="title"/>
          </p:nvPr>
        </p:nvSpPr>
        <p:spPr>
          <a:xfrm>
            <a:off x="1043623" y="92393"/>
            <a:ext cx="7793037" cy="1143000"/>
          </a:xfrm>
        </p:spPr>
        <p:txBody>
          <a:bodyPr/>
          <a:lstStyle/>
          <a:p>
            <a:pPr eaLnBrk="1" hangingPunct="1"/>
            <a:r>
              <a:rPr lang="en-US" altLang="zh-CN"/>
              <a:t>Negating nested quantifiers</a:t>
            </a:r>
            <a:endParaRPr lang="en-US" altLang="zh-CN"/>
          </a:p>
        </p:txBody>
      </p:sp>
      <p:sp>
        <p:nvSpPr>
          <p:cNvPr id="14342" name="Rectangle 3"/>
          <p:cNvSpPr>
            <a:spLocks noGrp="1" noChangeArrowheads="1"/>
          </p:cNvSpPr>
          <p:nvPr>
            <p:ph type="body" sz="half" idx="1"/>
          </p:nvPr>
        </p:nvSpPr>
        <p:spPr>
          <a:xfrm>
            <a:off x="179705" y="1297940"/>
            <a:ext cx="9061450" cy="5041265"/>
          </a:xfrm>
        </p:spPr>
        <p:txBody>
          <a:bodyPr/>
          <a:lstStyle/>
          <a:p>
            <a:pPr eaLnBrk="1" hangingPunct="1"/>
            <a:r>
              <a:rPr lang="en-US" altLang="zh-CN" dirty="0">
                <a:latin typeface="Times New Roman" panose="02020503050405090304" pitchFamily="18" charset="0"/>
              </a:rPr>
              <a:t>Example 15</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There dose not </a:t>
            </a:r>
            <a:r>
              <a:rPr lang="en-US" altLang="zh-CN" dirty="0" err="1">
                <a:latin typeface="Times New Roman" panose="02020503050405090304" pitchFamily="18" charset="0"/>
              </a:rPr>
              <a:t>exsist</a:t>
            </a:r>
            <a:r>
              <a:rPr lang="en-US" altLang="zh-CN" dirty="0">
                <a:latin typeface="Times New Roman" panose="02020503050405090304" pitchFamily="18" charset="0"/>
              </a:rPr>
              <a:t> a woman who has taken a flight on every airline in the world.</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cs typeface="Times New Roman" panose="02020503050405090304" pitchFamily="18" charset="0"/>
              </a:rPr>
              <a:t> Solution</a:t>
            </a:r>
            <a:endParaRPr lang="en-US" altLang="zh-CN" dirty="0">
              <a:latin typeface="Times New Roman" panose="02020503050405090304" pitchFamily="18" charset="0"/>
              <a:cs typeface="Times New Roman" panose="02020503050405090304" pitchFamily="18" charset="0"/>
            </a:endParaRPr>
          </a:p>
          <a:p>
            <a:pPr lvl="1" eaLnBrk="1" hangingPunct="1"/>
            <a:r>
              <a:rPr lang="en-US" altLang="zh-CN" sz="2400" dirty="0">
                <a:latin typeface="Times New Roman" panose="02020503050405090304" pitchFamily="18" charset="0"/>
                <a:ea typeface="Cambria Math" panose="02040503050406030204"/>
                <a:cs typeface="Times New Roman" panose="02020503050405090304" pitchFamily="18" charset="0"/>
              </a:rPr>
              <a:t>¬</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P</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w,f</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Q</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endPar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endParaRPr>
          </a:p>
          <a:p>
            <a:pPr marL="457200" lvl="1" indent="0" eaLnBrk="1" hangingPunct="1">
              <a:buNone/>
            </a:pP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Euclid Symbol" panose="05050102010706020507" pitchFamily="18" charset="2"/>
              </a:rPr>
              <a:t></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a:t>
            </a:r>
            <a:r>
              <a:rPr lang="en-US" altLang="zh-CN" sz="2400" dirty="0">
                <a:latin typeface="Times New Roman" panose="02020503050405090304" pitchFamily="18" charset="0"/>
                <a:ea typeface="Cambria Math" panose="02040503050406030204"/>
                <a:cs typeface="Times New Roman" panose="02020503050405090304" pitchFamily="18" charset="0"/>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P</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w,f</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Q</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by De Morgan’s for </a:t>
            </a:r>
            <a:endPar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endParaRPr>
          </a:p>
          <a:p>
            <a:pPr marL="0" indent="0">
              <a:buNone/>
            </a:pP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Euclid Symbol" panose="05050102010706020507" pitchFamily="18" charset="2"/>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a:t>
            </a:r>
            <a:r>
              <a:rPr lang="en-US" altLang="zh-CN" sz="2400" dirty="0">
                <a:latin typeface="Times New Roman" panose="02020503050405090304" pitchFamily="18" charset="0"/>
                <a:ea typeface="Cambria Math" panose="02040503050406030204"/>
                <a:cs typeface="Times New Roman" panose="02020503050405090304" pitchFamily="18" charset="0"/>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 </a:t>
            </a:r>
            <a:r>
              <a:rPr lang="en-US" altLang="zh-CN" sz="2400" dirty="0">
                <a:latin typeface="Times New Roman" panose="02020503050405090304" pitchFamily="18" charset="0"/>
                <a:ea typeface="Cambria Math" panose="02040503050406030204"/>
                <a:cs typeface="Times New Roman" panose="02020503050405090304" pitchFamily="18" charset="0"/>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P</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w,f</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Q</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by De Morgan’s for </a:t>
            </a:r>
            <a:endPar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endParaRPr>
          </a:p>
          <a:p>
            <a:pPr marL="0" indent="0">
              <a:buNone/>
            </a:pP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Euclid Symbol" panose="05050102010706020507" pitchFamily="18" charset="2"/>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a:t>
            </a:r>
            <a:r>
              <a:rPr lang="en-US" altLang="zh-CN" sz="2400" dirty="0">
                <a:latin typeface="Times New Roman" panose="02020503050405090304" pitchFamily="18" charset="0"/>
                <a:ea typeface="Cambria Math" panose="02040503050406030204"/>
                <a:cs typeface="Times New Roman" panose="02020503050405090304" pitchFamily="18" charset="0"/>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a:cs typeface="Times New Roman" panose="02020503050405090304" pitchFamily="18" charset="0"/>
              </a:rPr>
              <a:t>¬</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P</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w,f</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Q</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by De Morgan’s for </a:t>
            </a:r>
            <a:endPar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endParaRPr>
          </a:p>
          <a:p>
            <a:pPr marL="0" indent="0">
              <a:buNone/>
            </a:pP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Euclid Symbol" panose="05050102010706020507" pitchFamily="18" charset="2"/>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a:t>
            </a:r>
            <a:r>
              <a:rPr lang="en-US" altLang="zh-CN" sz="2400" dirty="0">
                <a:latin typeface="Times New Roman" panose="02020503050405090304" pitchFamily="18" charset="0"/>
                <a:ea typeface="Cambria Math" panose="02040503050406030204"/>
                <a:cs typeface="Times New Roman" panose="02020503050405090304" pitchFamily="18" charset="0"/>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a:cs typeface="Times New Roman" panose="02020503050405090304" pitchFamily="18" charset="0"/>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P</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w,f</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a:cs typeface="Times New Roman" panose="02020503050405090304" pitchFamily="18" charset="0"/>
                <a:sym typeface="Symbol" panose="05050102010706020507"/>
              </a:rPr>
              <a:t>∨</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a:t>
            </a:r>
            <a:r>
              <a:rPr lang="en-US" altLang="zh-CN" sz="2400" dirty="0">
                <a:latin typeface="Times New Roman" panose="02020503050405090304" pitchFamily="18" charset="0"/>
                <a:ea typeface="Cambria Math" panose="02040503050406030204"/>
                <a:cs typeface="Times New Roman" panose="02020503050405090304" pitchFamily="18" charset="0"/>
              </a:rPr>
              <a:t>¬ </a:t>
            </a:r>
            <a:r>
              <a:rPr lang="en-US" altLang="zh-CN" sz="2400" i="1"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Q</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a:t>
            </a:r>
            <a:r>
              <a:rPr lang="en-US" altLang="zh-CN" sz="2400" i="1" dirty="0" err="1">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f,a</a:t>
            </a:r>
            <a:r>
              <a:rPr lang="en-US" altLang="zh-CN" sz="2400" dirty="0">
                <a:latin typeface="Times New Roman" panose="02020503050405090304" pitchFamily="18" charset="0"/>
                <a:ea typeface="Cambria Math" panose="02040503050406030204" pitchFamily="18" charset="0"/>
                <a:cs typeface="Times New Roman" panose="02020503050405090304" pitchFamily="18" charset="0"/>
                <a:sym typeface="Symbol" panose="05050102010706020507"/>
              </a:rPr>
              <a:t>)) by De Morgan’s for ∧</a:t>
            </a:r>
            <a:r>
              <a:rPr lang="en-US" altLang="zh-CN" sz="2400" dirty="0">
                <a:latin typeface="Times New Roman" panose="02020503050405090304" pitchFamily="18" charset="0"/>
                <a:cs typeface="Times New Roman" panose="02020503050405090304" pitchFamily="18" charset="0"/>
              </a:rPr>
              <a:t>.</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“For every woman there is an airline such that for all flights, this woman has not taken that flight or that flight is not on this airline”</a:t>
            </a:r>
            <a:endParaRPr lang="en-US" altLang="zh-CN" sz="24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AD6469D-80F6-42A9-B68A-BAE82F76F40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052" name="日期占位符 5"/>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6F4507A-E85D-44B4-908F-3815CDCD2865}"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053" name="页脚占位符 6"/>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054" name="Rectangle 5"/>
          <p:cNvSpPr>
            <a:spLocks noGrp="1" noChangeArrowheads="1"/>
          </p:cNvSpPr>
          <p:nvPr>
            <p:ph type="title"/>
          </p:nvPr>
        </p:nvSpPr>
        <p:spPr>
          <a:xfrm>
            <a:off x="846138" y="-27622"/>
            <a:ext cx="7793037" cy="1143000"/>
          </a:xfrm>
        </p:spPr>
        <p:txBody>
          <a:bodyPr/>
          <a:lstStyle/>
          <a:p>
            <a:pPr eaLnBrk="1" hangingPunct="1"/>
            <a:r>
              <a:rPr lang="en-US" altLang="zh-CN" dirty="0">
                <a:latin typeface="Times New Roman" panose="02020503050405090304" pitchFamily="18" charset="0"/>
              </a:rPr>
              <a:t>Example 16</a:t>
            </a:r>
            <a:endParaRPr lang="zh-CN" altLang="en-US" dirty="0"/>
          </a:p>
        </p:txBody>
      </p:sp>
      <p:sp>
        <p:nvSpPr>
          <p:cNvPr id="2055" name="Rectangle 3"/>
          <p:cNvSpPr>
            <a:spLocks noGrp="1" noChangeArrowheads="1"/>
          </p:cNvSpPr>
          <p:nvPr>
            <p:ph type="body" sz="half" idx="1"/>
          </p:nvPr>
        </p:nvSpPr>
        <p:spPr>
          <a:xfrm>
            <a:off x="755569" y="1341066"/>
            <a:ext cx="7205662" cy="4114800"/>
          </a:xfrm>
        </p:spPr>
        <p:txBody>
          <a:bodyPr/>
          <a:lstStyle/>
          <a:p>
            <a:pPr lvl="1" eaLnBrk="1" hangingPunct="1"/>
            <a:r>
              <a:rPr lang="en-US" altLang="zh-CN" sz="2400" dirty="0">
                <a:latin typeface="Times New Roman" panose="02020503050405090304" pitchFamily="18" charset="0"/>
              </a:rPr>
              <a:t>Express the fact that                  does not exist.</a:t>
            </a:r>
            <a:endParaRPr lang="en-US" altLang="zh-CN" sz="2400" dirty="0">
              <a:latin typeface="Times New Roman" panose="02020503050405090304" pitchFamily="18" charset="0"/>
            </a:endParaRPr>
          </a:p>
          <a:p>
            <a:pPr eaLnBrk="1" hangingPunct="1"/>
            <a:endParaRPr lang="en-US" altLang="zh-CN" sz="2800" dirty="0">
              <a:latin typeface="Times New Roman" panose="02020503050405090304" pitchFamily="18" charset="0"/>
            </a:endParaRPr>
          </a:p>
          <a:p>
            <a:pPr eaLnBrk="1" hangingPunct="1"/>
            <a:endParaRPr lang="zh-CN" altLang="en-US" sz="2800" dirty="0"/>
          </a:p>
        </p:txBody>
      </p:sp>
      <p:graphicFrame>
        <p:nvGraphicFramePr>
          <p:cNvPr id="2050" name="Object 4"/>
          <p:cNvGraphicFramePr>
            <a:graphicFrameLocks noGrp="1" noChangeAspect="1"/>
          </p:cNvGraphicFramePr>
          <p:nvPr>
            <p:ph sz="half" idx="2"/>
          </p:nvPr>
        </p:nvGraphicFramePr>
        <p:xfrm>
          <a:off x="4165918" y="1335172"/>
          <a:ext cx="1152525" cy="412750"/>
        </p:xfrm>
        <a:graphic>
          <a:graphicData uri="http://schemas.openxmlformats.org/presentationml/2006/ole">
            <mc:AlternateContent xmlns:mc="http://schemas.openxmlformats.org/markup-compatibility/2006">
              <mc:Choice xmlns:v="urn:schemas-microsoft-com:vml" Requires="v">
                <p:oleObj spid="_x0000_s2113" name="Equation" r:id="rId1" imgW="533400" imgH="190500" progId="Equation.DSMT4">
                  <p:embed/>
                </p:oleObj>
              </mc:Choice>
              <mc:Fallback>
                <p:oleObj name="Equation" r:id="rId1" imgW="533400" imgH="1905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5918" y="1335172"/>
                        <a:ext cx="1152525" cy="412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 name="Picture 12" descr="addin_tmp.png"/>
          <p:cNvPicPr>
            <a:picLocks noChangeAspect="1"/>
          </p:cNvPicPr>
          <p:nvPr>
            <p:custDataLst>
              <p:tags r:id="rId3"/>
            </p:custDataLst>
          </p:nvPr>
        </p:nvPicPr>
        <p:blipFill>
          <a:blip r:embed="rId4" cstate="print"/>
          <a:stretch>
            <a:fillRect/>
          </a:stretch>
        </p:blipFill>
        <p:spPr>
          <a:xfrm>
            <a:off x="1649730" y="2345055"/>
            <a:ext cx="2562225" cy="354330"/>
          </a:xfrm>
          <a:prstGeom prst="rect">
            <a:avLst/>
          </a:prstGeom>
        </p:spPr>
      </p:pic>
      <p:sp>
        <p:nvSpPr>
          <p:cNvPr id="2" name="矩形 1"/>
          <p:cNvSpPr/>
          <p:nvPr/>
        </p:nvSpPr>
        <p:spPr>
          <a:xfrm>
            <a:off x="1506855" y="5288915"/>
            <a:ext cx="7169785" cy="412115"/>
          </a:xfrm>
          <a:prstGeom prst="rect">
            <a:avLst/>
          </a:prstGeom>
        </p:spPr>
        <p:txBody>
          <a:bodyPr wrap="square">
            <a:noAutofit/>
          </a:bodyPr>
          <a:lstStyle/>
          <a:p>
            <a:pPr>
              <a:buNone/>
            </a:pPr>
            <a:r>
              <a:rPr lang="en-US" altLang="zh-CN" sz="2000" b="0" u="none" dirty="0"/>
              <a:t>The last step uses the equivalence </a:t>
            </a:r>
            <a:r>
              <a:rPr lang="en-US" altLang="zh-CN" sz="2000" b="0" u="none" dirty="0">
                <a:latin typeface="Cambria Math" panose="02040503050406030204"/>
                <a:ea typeface="Cambria Math" panose="02040503050406030204"/>
              </a:rPr>
              <a:t>¬(</a:t>
            </a:r>
            <a:r>
              <a:rPr lang="en-US" altLang="zh-CN" sz="2000" b="0" u="none" dirty="0" err="1">
                <a:latin typeface="Cambria Math" panose="02040503050406030204"/>
                <a:ea typeface="Cambria Math" panose="02040503050406030204"/>
              </a:rPr>
              <a:t>p→q</a:t>
            </a:r>
            <a:r>
              <a:rPr lang="en-US" altLang="zh-CN" sz="2000" b="0" u="none" dirty="0">
                <a:latin typeface="Cambria Math" panose="02040503050406030204"/>
                <a:ea typeface="Cambria Math" panose="02040503050406030204"/>
              </a:rPr>
              <a:t>) ≡ p∧¬q</a:t>
            </a:r>
            <a:endParaRPr lang="en-US" altLang="zh-CN" sz="2000" dirty="0"/>
          </a:p>
        </p:txBody>
      </p:sp>
      <p:pic>
        <p:nvPicPr>
          <p:cNvPr id="6" name="图片 5"/>
          <p:cNvPicPr>
            <a:picLocks noChangeAspect="1"/>
          </p:cNvPicPr>
          <p:nvPr/>
        </p:nvPicPr>
        <p:blipFill>
          <a:blip r:embed="rId5"/>
          <a:stretch>
            <a:fillRect/>
          </a:stretch>
        </p:blipFill>
        <p:spPr>
          <a:xfrm>
            <a:off x="1283335" y="2714625"/>
            <a:ext cx="7249160" cy="2500630"/>
          </a:xfrm>
          <a:prstGeom prst="rect">
            <a:avLst/>
          </a:prstGeom>
        </p:spPr>
      </p:pic>
      <p:pic>
        <p:nvPicPr>
          <p:cNvPr id="7" name="图片 6"/>
          <p:cNvPicPr>
            <a:picLocks noChangeAspect="1"/>
          </p:cNvPicPr>
          <p:nvPr/>
        </p:nvPicPr>
        <p:blipFill>
          <a:blip r:embed="rId6"/>
          <a:stretch>
            <a:fillRect/>
          </a:stretch>
        </p:blipFill>
        <p:spPr>
          <a:xfrm>
            <a:off x="1036320" y="5824220"/>
            <a:ext cx="6407150" cy="4641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p:txBody>
          <a:bodyPr/>
          <a:lstStyle/>
          <a:p>
            <a:pPr eaLnBrk="1" hangingPunct="1"/>
            <a:r>
              <a:rPr lang="zh-CN" altLang="en-US"/>
              <a:t>命题的形式化表示</a:t>
            </a:r>
            <a:endParaRPr lang="zh-CN" altLang="en-US"/>
          </a:p>
        </p:txBody>
      </p:sp>
      <p:sp>
        <p:nvSpPr>
          <p:cNvPr id="15363" name="Rectangle 3"/>
          <p:cNvSpPr>
            <a:spLocks noGrp="1" noChangeArrowheads="1"/>
          </p:cNvSpPr>
          <p:nvPr>
            <p:ph type="subTitle" idx="1"/>
          </p:nvPr>
        </p:nvSpPr>
        <p:spPr/>
        <p:txBody>
          <a:bodyPr/>
          <a:lstStyle/>
          <a:p>
            <a:pPr eaLnBrk="1" hangingPunct="1"/>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E2F9430-C769-4E79-B54C-D34EF73F1DD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638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5D3B3A0-915B-4010-9B59-4795BC2B883E}"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638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6389" name="Rectangle 2"/>
          <p:cNvSpPr>
            <a:spLocks noGrp="1" noChangeArrowheads="1"/>
          </p:cNvSpPr>
          <p:nvPr>
            <p:ph type="title"/>
          </p:nvPr>
        </p:nvSpPr>
        <p:spPr>
          <a:xfrm>
            <a:off x="1043623" y="115888"/>
            <a:ext cx="7793037" cy="1143000"/>
          </a:xfrm>
        </p:spPr>
        <p:txBody>
          <a:bodyPr/>
          <a:lstStyle/>
          <a:p>
            <a:pPr eaLnBrk="1" hangingPunct="1"/>
            <a:r>
              <a:rPr lang="zh-CN" altLang="en-US"/>
              <a:t>命题符号化</a:t>
            </a:r>
            <a:endParaRPr lang="zh-CN" altLang="en-US"/>
          </a:p>
        </p:txBody>
      </p:sp>
      <p:sp>
        <p:nvSpPr>
          <p:cNvPr id="16390" name="Rectangle 3"/>
          <p:cNvSpPr>
            <a:spLocks noGrp="1" noChangeArrowheads="1"/>
          </p:cNvSpPr>
          <p:nvPr>
            <p:ph type="body" idx="1"/>
          </p:nvPr>
        </p:nvSpPr>
        <p:spPr>
          <a:xfrm>
            <a:off x="935990" y="1281430"/>
            <a:ext cx="8023860" cy="4678045"/>
          </a:xfrm>
        </p:spPr>
        <p:txBody>
          <a:bodyPr/>
          <a:lstStyle/>
          <a:p>
            <a:pPr eaLnBrk="1" hangingPunct="1"/>
            <a:r>
              <a:rPr lang="zh-CN" altLang="en-US" sz="2800">
                <a:solidFill>
                  <a:schemeClr val="tx2"/>
                </a:solidFill>
              </a:rPr>
              <a:t>个体域(</a:t>
            </a:r>
            <a:r>
              <a:rPr lang="en-US" altLang="zh-CN" sz="2800">
                <a:solidFill>
                  <a:schemeClr val="tx2"/>
                </a:solidFill>
              </a:rPr>
              <a:t>scope): </a:t>
            </a:r>
            <a:r>
              <a:rPr lang="zh-CN" altLang="en-US" sz="2800">
                <a:solidFill>
                  <a:schemeClr val="tx2"/>
                </a:solidFill>
              </a:rPr>
              <a:t>个体词的取值范围, 缺省(</a:t>
            </a:r>
            <a:r>
              <a:rPr lang="en-US" altLang="zh-CN" sz="2800">
                <a:solidFill>
                  <a:schemeClr val="tx2"/>
                </a:solidFill>
              </a:rPr>
              <a:t>default)</a:t>
            </a:r>
            <a:r>
              <a:rPr lang="zh-CN" altLang="en-US" sz="2800">
                <a:solidFill>
                  <a:schemeClr val="tx2"/>
                </a:solidFill>
              </a:rPr>
              <a:t>采用全总个体域.   </a:t>
            </a:r>
            <a:endParaRPr lang="zh-CN" altLang="en-US" sz="2800">
              <a:solidFill>
                <a:schemeClr val="tx2"/>
              </a:solidFill>
            </a:endParaRPr>
          </a:p>
          <a:p>
            <a:pPr eaLnBrk="1" hangingPunct="1"/>
            <a:r>
              <a:rPr lang="zh-CN" altLang="en-US" sz="2800">
                <a:solidFill>
                  <a:schemeClr val="tx2"/>
                </a:solidFill>
              </a:rPr>
              <a:t>全总个体域: 世界上的万事万物</a:t>
            </a:r>
            <a:endParaRPr lang="zh-CN" altLang="en-US" sz="2800">
              <a:solidFill>
                <a:schemeClr val="tx2"/>
              </a:solidFill>
            </a:endParaRPr>
          </a:p>
          <a:p>
            <a:pPr eaLnBrk="1" hangingPunct="1"/>
            <a:r>
              <a:rPr lang="zh-CN" altLang="en-US" sz="2800">
                <a:solidFill>
                  <a:schemeClr val="tx2"/>
                </a:solidFill>
              </a:rPr>
              <a:t>特性谓词: 表示所关注的对象的性质</a:t>
            </a:r>
            <a:endParaRPr lang="zh-CN" altLang="en-US" sz="2800">
              <a:solidFill>
                <a:schemeClr val="tx2"/>
              </a:solidFill>
            </a:endParaRPr>
          </a:p>
          <a:p>
            <a:pPr eaLnBrk="1" hangingPunct="1"/>
            <a:r>
              <a:rPr lang="zh-CN" altLang="en-US" sz="2800">
                <a:solidFill>
                  <a:schemeClr val="tx2"/>
                </a:solidFill>
              </a:rPr>
              <a:t>两种模式: </a:t>
            </a:r>
            <a:endParaRPr lang="zh-CN" altLang="en-US" sz="2800">
              <a:solidFill>
                <a:schemeClr val="tx2"/>
              </a:solidFill>
            </a:endParaRPr>
          </a:p>
          <a:p>
            <a:pPr algn="ctr" eaLnBrk="1" hangingPunct="1">
              <a:buFont typeface="Wingdings" panose="05000000000000000000" pitchFamily="2" charset="2"/>
              <a:buNone/>
            </a:pPr>
            <a:r>
              <a:rPr lang="en-US" altLang="zh-CN" sz="2800">
                <a:solidFill>
                  <a:schemeClr val="tx2"/>
                </a:solidFill>
                <a:sym typeface="Symbol" panose="05050102010706020507" pitchFamily="18" charset="2"/>
              </a:rPr>
              <a:t>x(M(x)G(x))</a:t>
            </a:r>
            <a:endParaRPr lang="en-US" altLang="zh-CN" sz="2800">
              <a:solidFill>
                <a:schemeClr val="tx2"/>
              </a:solidFill>
              <a:sym typeface="Symbol" panose="05050102010706020507" pitchFamily="18" charset="2"/>
            </a:endParaRPr>
          </a:p>
          <a:p>
            <a:pPr algn="ctr" eaLnBrk="1" hangingPunct="1">
              <a:buFont typeface="Wingdings" panose="05000000000000000000" pitchFamily="2" charset="2"/>
              <a:buNone/>
            </a:pPr>
            <a:r>
              <a:rPr lang="en-US" altLang="zh-CN" sz="2800">
                <a:solidFill>
                  <a:schemeClr val="tx2"/>
                </a:solidFill>
                <a:sym typeface="Symbol" panose="05050102010706020507" pitchFamily="18" charset="2"/>
              </a:rPr>
              <a:t>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x(M(x)G(x))</a:t>
            </a:r>
            <a:endParaRPr lang="zh-CN" altLang="en-US" sz="2800">
              <a:solidFill>
                <a:schemeClr val="tx2"/>
              </a:solidFill>
            </a:endParaRPr>
          </a:p>
          <a:p>
            <a:pPr eaLnBrk="1" hangingPunct="1">
              <a:buFont typeface="Wingdings" panose="05000000000000000000" pitchFamily="2" charset="2"/>
              <a:buNone/>
            </a:pPr>
            <a:r>
              <a:rPr lang="zh-CN" altLang="en-US" sz="2800">
                <a:solidFill>
                  <a:schemeClr val="tx2"/>
                </a:solidFill>
              </a:rPr>
              <a:t>   其中</a:t>
            </a:r>
            <a:r>
              <a:rPr lang="en-US" altLang="zh-CN" sz="2800">
                <a:solidFill>
                  <a:schemeClr val="tx2"/>
                </a:solidFill>
              </a:rPr>
              <a:t>M(x)</a:t>
            </a:r>
            <a:r>
              <a:rPr lang="zh-CN" altLang="en-US" sz="2800">
                <a:solidFill>
                  <a:schemeClr val="tx2"/>
                </a:solidFill>
              </a:rPr>
              <a:t>是特性谓词。</a:t>
            </a:r>
            <a:endParaRPr lang="zh-CN" altLang="en-US" sz="2800">
              <a:solidFill>
                <a:schemeClr val="tx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A7B0689-A3EF-4A66-956E-4BB7489FC375}"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741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1822A26-F786-4072-AD42-9A00815881F5}"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741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7413" name="Rectangle 2"/>
          <p:cNvSpPr>
            <a:spLocks noGrp="1" noChangeArrowheads="1"/>
          </p:cNvSpPr>
          <p:nvPr>
            <p:ph type="title"/>
          </p:nvPr>
        </p:nvSpPr>
        <p:spPr>
          <a:xfrm>
            <a:off x="1043623" y="101283"/>
            <a:ext cx="7793037" cy="1143000"/>
          </a:xfrm>
        </p:spPr>
        <p:txBody>
          <a:bodyPr/>
          <a:lstStyle/>
          <a:p>
            <a:pPr eaLnBrk="1" hangingPunct="1"/>
            <a:r>
              <a:rPr lang="zh-CN" altLang="en-US"/>
              <a:t>命题符号化(举例)</a:t>
            </a:r>
            <a:endParaRPr lang="zh-CN" altLang="en-US"/>
          </a:p>
        </p:txBody>
      </p:sp>
      <p:sp>
        <p:nvSpPr>
          <p:cNvPr id="17414" name="Rectangle 3"/>
          <p:cNvSpPr>
            <a:spLocks noGrp="1" noChangeArrowheads="1"/>
          </p:cNvSpPr>
          <p:nvPr>
            <p:ph type="body" idx="1"/>
          </p:nvPr>
        </p:nvSpPr>
        <p:spPr/>
        <p:txBody>
          <a:bodyPr/>
          <a:lstStyle/>
          <a:p>
            <a:pPr eaLnBrk="1" hangingPunct="1"/>
            <a:r>
              <a:rPr lang="zh-CN" altLang="en-US">
                <a:solidFill>
                  <a:schemeClr val="tx2"/>
                </a:solidFill>
              </a:rPr>
              <a:t>例:  </a:t>
            </a:r>
            <a:r>
              <a:rPr lang="zh-CN" altLang="en-US">
                <a:solidFill>
                  <a:schemeClr val="tx2"/>
                </a:solidFill>
                <a:latin typeface="Arial" panose="020B0604020202090204" pitchFamily="34" charset="0"/>
              </a:rPr>
              <a:t>“</a:t>
            </a:r>
            <a:r>
              <a:rPr lang="zh-CN" altLang="en-US">
                <a:solidFill>
                  <a:schemeClr val="tx2"/>
                </a:solidFill>
              </a:rPr>
              <a:t>有些人是要死的</a:t>
            </a:r>
            <a:r>
              <a:rPr lang="zh-CN" altLang="en-US">
                <a:solidFill>
                  <a:schemeClr val="tx2"/>
                </a:solidFill>
                <a:latin typeface="Arial" panose="020B0604020202090204" pitchFamily="34" charset="0"/>
              </a:rPr>
              <a:t>”</a:t>
            </a:r>
            <a:r>
              <a:rPr lang="zh-CN" altLang="en-US">
                <a:solidFill>
                  <a:schemeClr val="tx2"/>
                </a:solidFill>
              </a:rPr>
              <a:t>.</a:t>
            </a:r>
            <a:endParaRPr lang="zh-CN" altLang="en-US">
              <a:solidFill>
                <a:schemeClr val="tx2"/>
              </a:solidFill>
            </a:endParaRPr>
          </a:p>
          <a:p>
            <a:pPr eaLnBrk="1" hangingPunct="1"/>
            <a:r>
              <a:rPr lang="zh-CN" altLang="en-US">
                <a:solidFill>
                  <a:schemeClr val="tx2"/>
                </a:solidFill>
              </a:rPr>
              <a:t>解1:  采用全总个体域.   </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设:   </a:t>
            </a:r>
            <a:r>
              <a:rPr lang="en-US" altLang="zh-CN">
                <a:solidFill>
                  <a:schemeClr val="tx2"/>
                </a:solidFill>
              </a:rPr>
              <a:t>F(x): x</a:t>
            </a:r>
            <a:r>
              <a:rPr lang="zh-CN" altLang="en-US">
                <a:solidFill>
                  <a:schemeClr val="tx2"/>
                </a:solidFill>
              </a:rPr>
              <a:t>是人;   </a:t>
            </a:r>
            <a:r>
              <a:rPr lang="en-US" altLang="zh-CN">
                <a:solidFill>
                  <a:schemeClr val="tx2"/>
                </a:solidFill>
              </a:rPr>
              <a:t>G(x):x</a:t>
            </a:r>
            <a:r>
              <a:rPr lang="zh-CN" altLang="en-US">
                <a:solidFill>
                  <a:schemeClr val="tx2"/>
                </a:solidFill>
              </a:rPr>
              <a:t>是要死的.</a:t>
            </a:r>
            <a:endParaRPr lang="zh-CN" altLang="en-US">
              <a:solidFill>
                <a:schemeClr val="tx2"/>
              </a:solidFill>
            </a:endParaRPr>
          </a:p>
          <a:p>
            <a:pPr eaLnBrk="1" hangingPunct="1">
              <a:buFont typeface="Wingdings" panose="05000000000000000000" pitchFamily="2" charset="2"/>
              <a:buNone/>
            </a:pPr>
            <a:r>
              <a:rPr lang="en-US" altLang="zh-CN">
                <a:solidFill>
                  <a:schemeClr val="tx2"/>
                </a:solidFill>
              </a:rPr>
              <a:t>    </a:t>
            </a:r>
            <a:r>
              <a:rPr lang="zh-CN" altLang="en-US">
                <a:solidFill>
                  <a:schemeClr val="tx2"/>
                </a:solidFill>
              </a:rPr>
              <a:t>原命题符号化成: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x(F(x)G(x))</a:t>
            </a:r>
            <a:endParaRPr lang="zh-CN" altLang="en-US">
              <a:solidFill>
                <a:schemeClr val="tx2"/>
              </a:solidFill>
            </a:endParaRPr>
          </a:p>
          <a:p>
            <a:pPr eaLnBrk="1" hangingPunct="1"/>
            <a:r>
              <a:rPr lang="zh-CN" altLang="en-US">
                <a:solidFill>
                  <a:schemeClr val="tx2"/>
                </a:solidFill>
              </a:rPr>
              <a:t>解2: 采用全体人作为个体域.   </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设:    </a:t>
            </a:r>
            <a:r>
              <a:rPr lang="en-US" altLang="zh-CN">
                <a:solidFill>
                  <a:schemeClr val="tx2"/>
                </a:solidFill>
              </a:rPr>
              <a:t>G(x): x</a:t>
            </a:r>
            <a:r>
              <a:rPr lang="zh-CN" altLang="en-US">
                <a:solidFill>
                  <a:schemeClr val="tx2"/>
                </a:solidFill>
              </a:rPr>
              <a:t>是要死的.</a:t>
            </a:r>
            <a:endParaRPr lang="zh-CN" altLang="en-US">
              <a:solidFill>
                <a:schemeClr val="tx2"/>
              </a:solidFill>
            </a:endParaRPr>
          </a:p>
          <a:p>
            <a:pPr eaLnBrk="1" hangingPunct="1">
              <a:buFont typeface="Wingdings" panose="05000000000000000000" pitchFamily="2" charset="2"/>
              <a:buNone/>
            </a:pPr>
            <a:r>
              <a:rPr lang="en-US" altLang="zh-CN">
                <a:solidFill>
                  <a:schemeClr val="tx2"/>
                </a:solidFill>
              </a:rPr>
              <a:t>    </a:t>
            </a:r>
            <a:r>
              <a:rPr lang="zh-CN" altLang="en-US">
                <a:solidFill>
                  <a:schemeClr val="tx2"/>
                </a:solidFill>
              </a:rPr>
              <a:t>原命题符号化成: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xG(x)</a:t>
            </a:r>
            <a:endParaRPr lang="en-US" altLang="zh-CN">
              <a:solidFill>
                <a:schemeClr val="tx2"/>
              </a:solidFill>
              <a:sym typeface="Symbol" panose="05050102010706020507"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D2B42C4-EE3A-44B6-A33A-1E3B7105B9F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843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8180470D-9751-4C5A-AE79-6ADCD96723B5}"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843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8437" name="Rectangle 2"/>
          <p:cNvSpPr>
            <a:spLocks noGrp="1" noChangeArrowheads="1"/>
          </p:cNvSpPr>
          <p:nvPr>
            <p:ph type="title"/>
          </p:nvPr>
        </p:nvSpPr>
        <p:spPr>
          <a:xfrm>
            <a:off x="904558" y="44133"/>
            <a:ext cx="7793037" cy="1143000"/>
          </a:xfrm>
        </p:spPr>
        <p:txBody>
          <a:bodyPr/>
          <a:lstStyle/>
          <a:p>
            <a:pPr eaLnBrk="1" hangingPunct="1"/>
            <a:r>
              <a:rPr lang="zh-CN" altLang="en-US"/>
              <a:t>命题符号化(举例、续)</a:t>
            </a:r>
            <a:endParaRPr lang="zh-CN" altLang="en-US"/>
          </a:p>
        </p:txBody>
      </p:sp>
      <p:sp>
        <p:nvSpPr>
          <p:cNvPr id="18438" name="Rectangle 3"/>
          <p:cNvSpPr>
            <a:spLocks noGrp="1" noChangeArrowheads="1"/>
          </p:cNvSpPr>
          <p:nvPr>
            <p:ph type="body" idx="1"/>
          </p:nvPr>
        </p:nvSpPr>
        <p:spPr/>
        <p:txBody>
          <a:bodyPr/>
          <a:lstStyle/>
          <a:p>
            <a:pPr eaLnBrk="1" hangingPunct="1"/>
            <a:r>
              <a:rPr lang="zh-CN" altLang="en-US">
                <a:solidFill>
                  <a:schemeClr val="tx2"/>
                </a:solidFill>
              </a:rPr>
              <a:t>例:  </a:t>
            </a:r>
            <a:r>
              <a:rPr lang="zh-CN" altLang="en-US">
                <a:solidFill>
                  <a:schemeClr val="tx2"/>
                </a:solidFill>
                <a:latin typeface="Arial" panose="020B0604020202090204" pitchFamily="34" charset="0"/>
              </a:rPr>
              <a:t>“</a:t>
            </a:r>
            <a:r>
              <a:rPr lang="zh-CN" altLang="en-US">
                <a:solidFill>
                  <a:schemeClr val="tx2"/>
                </a:solidFill>
              </a:rPr>
              <a:t>凡人都是要死的</a:t>
            </a:r>
            <a:r>
              <a:rPr lang="zh-CN" altLang="en-US">
                <a:solidFill>
                  <a:schemeClr val="tx2"/>
                </a:solidFill>
                <a:latin typeface="Arial" panose="020B0604020202090204" pitchFamily="34" charset="0"/>
              </a:rPr>
              <a:t>”</a:t>
            </a:r>
            <a:r>
              <a:rPr lang="zh-CN" altLang="en-US">
                <a:solidFill>
                  <a:schemeClr val="tx2"/>
                </a:solidFill>
              </a:rPr>
              <a:t>.</a:t>
            </a:r>
            <a:endParaRPr lang="zh-CN" altLang="en-US">
              <a:solidFill>
                <a:schemeClr val="tx2"/>
              </a:solidFill>
            </a:endParaRPr>
          </a:p>
          <a:p>
            <a:pPr eaLnBrk="1" hangingPunct="1"/>
            <a:r>
              <a:rPr lang="zh-CN" altLang="en-US">
                <a:solidFill>
                  <a:schemeClr val="tx2"/>
                </a:solidFill>
              </a:rPr>
              <a:t>解1:  采用全总个体域.   </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设:   </a:t>
            </a:r>
            <a:r>
              <a:rPr lang="en-US" altLang="zh-CN">
                <a:solidFill>
                  <a:schemeClr val="tx2"/>
                </a:solidFill>
              </a:rPr>
              <a:t>F(x): x</a:t>
            </a:r>
            <a:r>
              <a:rPr lang="zh-CN" altLang="en-US">
                <a:solidFill>
                  <a:schemeClr val="tx2"/>
                </a:solidFill>
              </a:rPr>
              <a:t>是人;   </a:t>
            </a:r>
            <a:r>
              <a:rPr lang="en-US" altLang="zh-CN">
                <a:solidFill>
                  <a:schemeClr val="tx2"/>
                </a:solidFill>
              </a:rPr>
              <a:t>G(x):x</a:t>
            </a:r>
            <a:r>
              <a:rPr lang="zh-CN" altLang="en-US">
                <a:solidFill>
                  <a:schemeClr val="tx2"/>
                </a:solidFill>
              </a:rPr>
              <a:t>是要死的.</a:t>
            </a:r>
            <a:endParaRPr lang="zh-CN" altLang="en-US">
              <a:solidFill>
                <a:schemeClr val="tx2"/>
              </a:solidFill>
            </a:endParaRPr>
          </a:p>
          <a:p>
            <a:pPr eaLnBrk="1" hangingPunct="1">
              <a:buFont typeface="Wingdings" panose="05000000000000000000" pitchFamily="2" charset="2"/>
              <a:buNone/>
            </a:pPr>
            <a:r>
              <a:rPr lang="en-US" altLang="zh-CN">
                <a:solidFill>
                  <a:schemeClr val="tx2"/>
                </a:solidFill>
              </a:rPr>
              <a:t>    </a:t>
            </a:r>
            <a:r>
              <a:rPr lang="zh-CN" altLang="en-US">
                <a:solidFill>
                  <a:schemeClr val="tx2"/>
                </a:solidFill>
              </a:rPr>
              <a:t>原命题符号化成: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x(F(x)G(x))</a:t>
            </a:r>
            <a:endParaRPr lang="zh-CN" altLang="en-US">
              <a:solidFill>
                <a:schemeClr val="tx2"/>
              </a:solidFill>
            </a:endParaRPr>
          </a:p>
          <a:p>
            <a:pPr eaLnBrk="1" hangingPunct="1"/>
            <a:r>
              <a:rPr lang="zh-CN" altLang="en-US">
                <a:solidFill>
                  <a:schemeClr val="tx2"/>
                </a:solidFill>
              </a:rPr>
              <a:t>解2: 采用全体人作为个体域.   </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设:    </a:t>
            </a:r>
            <a:r>
              <a:rPr lang="en-US" altLang="zh-CN">
                <a:solidFill>
                  <a:schemeClr val="tx2"/>
                </a:solidFill>
              </a:rPr>
              <a:t>G(x): x</a:t>
            </a:r>
            <a:r>
              <a:rPr lang="zh-CN" altLang="en-US">
                <a:solidFill>
                  <a:schemeClr val="tx2"/>
                </a:solidFill>
              </a:rPr>
              <a:t>是要死的.</a:t>
            </a:r>
            <a:endParaRPr lang="zh-CN" altLang="en-US">
              <a:solidFill>
                <a:schemeClr val="tx2"/>
              </a:solidFill>
            </a:endParaRPr>
          </a:p>
          <a:p>
            <a:pPr eaLnBrk="1" hangingPunct="1">
              <a:buFont typeface="Wingdings" panose="05000000000000000000" pitchFamily="2" charset="2"/>
              <a:buNone/>
            </a:pPr>
            <a:r>
              <a:rPr lang="en-US" altLang="zh-CN">
                <a:solidFill>
                  <a:schemeClr val="tx2"/>
                </a:solidFill>
              </a:rPr>
              <a:t>    </a:t>
            </a:r>
            <a:r>
              <a:rPr lang="zh-CN" altLang="en-US">
                <a:solidFill>
                  <a:schemeClr val="tx2"/>
                </a:solidFill>
              </a:rPr>
              <a:t>原命题符号化成:    </a:t>
            </a:r>
            <a:r>
              <a:rPr lang="en-US" altLang="zh-CN">
                <a:solidFill>
                  <a:schemeClr val="tx2"/>
                </a:solidFill>
                <a:sym typeface="Symbol" panose="05050102010706020507" pitchFamily="18" charset="2"/>
              </a:rPr>
              <a:t>xG(x)</a:t>
            </a:r>
            <a:endParaRPr lang="en-US" altLang="zh-CN">
              <a:solidFill>
                <a:schemeClr val="tx2"/>
              </a:solidFill>
              <a:sym typeface="Symbol" panose="05050102010706020507" pitchFamily="18" charset="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E1AE95D6-FBEF-4EA7-9E1E-CD050B66236E}"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945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826F0A3B-A3EE-4BFE-B593-58E3368215B0}"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946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9461" name="Rectangle 2"/>
          <p:cNvSpPr>
            <a:spLocks noGrp="1" noChangeArrowheads="1"/>
          </p:cNvSpPr>
          <p:nvPr>
            <p:ph type="title"/>
          </p:nvPr>
        </p:nvSpPr>
        <p:spPr>
          <a:xfrm>
            <a:off x="971233" y="-317"/>
            <a:ext cx="7793037" cy="1143000"/>
          </a:xfrm>
        </p:spPr>
        <p:txBody>
          <a:bodyPr/>
          <a:lstStyle/>
          <a:p>
            <a:pPr eaLnBrk="1" hangingPunct="1"/>
            <a:r>
              <a:rPr lang="zh-CN" altLang="en-US"/>
              <a:t>命题符号化(举例、续)</a:t>
            </a:r>
            <a:endParaRPr lang="zh-CN" altLang="en-US"/>
          </a:p>
        </p:txBody>
      </p:sp>
      <p:sp>
        <p:nvSpPr>
          <p:cNvPr id="19462" name="Rectangle 3"/>
          <p:cNvSpPr>
            <a:spLocks noGrp="1" noChangeArrowheads="1"/>
          </p:cNvSpPr>
          <p:nvPr>
            <p:ph type="body" idx="1"/>
          </p:nvPr>
        </p:nvSpPr>
        <p:spPr>
          <a:xfrm>
            <a:off x="902335" y="1209675"/>
            <a:ext cx="8057515" cy="4749800"/>
          </a:xfrm>
        </p:spPr>
        <p:txBody>
          <a:bodyPr/>
          <a:lstStyle/>
          <a:p>
            <a:pPr eaLnBrk="1" hangingPunct="1">
              <a:lnSpc>
                <a:spcPct val="90000"/>
              </a:lnSpc>
            </a:pPr>
            <a:r>
              <a:rPr lang="zh-CN" altLang="en-US">
                <a:solidFill>
                  <a:schemeClr val="tx2"/>
                </a:solidFill>
              </a:rPr>
              <a:t>例:   </a:t>
            </a:r>
            <a:r>
              <a:rPr lang="zh-CN" altLang="en-US">
                <a:solidFill>
                  <a:schemeClr val="tx2"/>
                </a:solidFill>
                <a:latin typeface="Arial" panose="020B0604020202090204" pitchFamily="34" charset="0"/>
              </a:rPr>
              <a:t>“</a:t>
            </a:r>
            <a:r>
              <a:rPr lang="zh-CN" altLang="en-US">
                <a:solidFill>
                  <a:schemeClr val="tx2"/>
                </a:solidFill>
              </a:rPr>
              <a:t>存在最小的自然数</a:t>
            </a:r>
            <a:r>
              <a:rPr lang="zh-CN" altLang="en-US">
                <a:solidFill>
                  <a:schemeClr val="tx2"/>
                </a:solidFill>
                <a:latin typeface="Arial" panose="020B0604020202090204" pitchFamily="34" charset="0"/>
              </a:rPr>
              <a:t>”</a:t>
            </a:r>
            <a:r>
              <a:rPr lang="zh-CN" altLang="en-US">
                <a:solidFill>
                  <a:schemeClr val="tx2"/>
                </a:solidFill>
              </a:rPr>
              <a:t>。</a:t>
            </a:r>
            <a:endParaRPr lang="zh-CN" altLang="en-US">
              <a:solidFill>
                <a:schemeClr val="tx2"/>
              </a:solidFill>
            </a:endParaRPr>
          </a:p>
          <a:p>
            <a:pPr eaLnBrk="1" hangingPunct="1">
              <a:lnSpc>
                <a:spcPct val="90000"/>
              </a:lnSpc>
              <a:buFont typeface="Wingdings" panose="05000000000000000000" pitchFamily="2" charset="2"/>
              <a:buNone/>
            </a:pPr>
            <a:r>
              <a:rPr lang="zh-CN" altLang="en-US">
                <a:solidFill>
                  <a:schemeClr val="tx2"/>
                </a:solidFill>
              </a:rPr>
              <a:t>   解1:  设: </a:t>
            </a:r>
            <a:r>
              <a:rPr lang="en-US" altLang="zh-CN">
                <a:solidFill>
                  <a:schemeClr val="tx2"/>
                </a:solidFill>
              </a:rPr>
              <a:t>F(x): x</a:t>
            </a:r>
            <a:r>
              <a:rPr lang="zh-CN" altLang="en-US">
                <a:solidFill>
                  <a:schemeClr val="tx2"/>
                </a:solidFill>
              </a:rPr>
              <a:t>是自然数;  </a:t>
            </a:r>
            <a:r>
              <a:rPr lang="en-US" altLang="zh-CN">
                <a:solidFill>
                  <a:schemeClr val="tx2"/>
                </a:solidFill>
              </a:rPr>
              <a:t>G(x,y): x</a:t>
            </a:r>
            <a:r>
              <a:rPr lang="en-US" altLang="zh-CN">
                <a:solidFill>
                  <a:schemeClr val="tx2"/>
                </a:solidFill>
                <a:sym typeface="Symbol" panose="05050102010706020507" pitchFamily="18" charset="2"/>
              </a:rPr>
              <a:t></a:t>
            </a:r>
            <a:r>
              <a:rPr lang="en-US" altLang="zh-CN">
                <a:solidFill>
                  <a:schemeClr val="tx2"/>
                </a:solidFill>
              </a:rPr>
              <a:t>y</a:t>
            </a:r>
            <a:r>
              <a:rPr lang="zh-CN" altLang="en-US">
                <a:solidFill>
                  <a:schemeClr val="tx2"/>
                </a:solidFill>
              </a:rPr>
              <a:t>; </a:t>
            </a:r>
            <a:endParaRPr lang="zh-CN" altLang="en-US">
              <a:solidFill>
                <a:schemeClr val="tx2"/>
              </a:solidFill>
            </a:endParaRPr>
          </a:p>
          <a:p>
            <a:pPr eaLnBrk="1" hangingPunct="1">
              <a:lnSpc>
                <a:spcPct val="90000"/>
              </a:lnSpc>
              <a:buFont typeface="Wingdings" panose="05000000000000000000" pitchFamily="2" charset="2"/>
              <a:buNone/>
            </a:pPr>
            <a:r>
              <a:rPr lang="zh-CN" altLang="en-US">
                <a:solidFill>
                  <a:schemeClr val="tx2"/>
                </a:solidFill>
              </a:rPr>
              <a:t>   原命题符号化成:    </a:t>
            </a:r>
            <a:endParaRPr lang="zh-CN" altLang="en-US">
              <a:solidFill>
                <a:schemeClr val="tx2"/>
              </a:solidFill>
            </a:endParaRPr>
          </a:p>
          <a:p>
            <a:pPr algn="ctr" eaLnBrk="1" hangingPunct="1">
              <a:lnSpc>
                <a:spcPct val="90000"/>
              </a:lnSpc>
              <a:buFont typeface="Wingdings" panose="05000000000000000000" pitchFamily="2" charset="2"/>
              <a:buNone/>
            </a:pP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x(F(x)y(F(y)G(x,y)))</a:t>
            </a:r>
            <a:endParaRPr lang="zh-CN" altLang="en-US">
              <a:solidFill>
                <a:schemeClr val="tx2"/>
              </a:solidFill>
            </a:endParaRPr>
          </a:p>
          <a:p>
            <a:pPr eaLnBrk="1" hangingPunct="1">
              <a:lnSpc>
                <a:spcPct val="90000"/>
              </a:lnSpc>
              <a:buFont typeface="Wingdings" panose="05000000000000000000" pitchFamily="2" charset="2"/>
              <a:buNone/>
            </a:pPr>
            <a:r>
              <a:rPr lang="zh-CN" altLang="en-US">
                <a:solidFill>
                  <a:schemeClr val="tx2"/>
                </a:solidFill>
              </a:rPr>
              <a:t>   解2:  采用全体自然数作为个体域.</a:t>
            </a:r>
            <a:endParaRPr lang="zh-CN" altLang="en-US">
              <a:solidFill>
                <a:schemeClr val="tx2"/>
              </a:solidFill>
            </a:endParaRPr>
          </a:p>
          <a:p>
            <a:pPr eaLnBrk="1" hangingPunct="1">
              <a:lnSpc>
                <a:spcPct val="90000"/>
              </a:lnSpc>
              <a:buFont typeface="Wingdings" panose="05000000000000000000" pitchFamily="2" charset="2"/>
              <a:buNone/>
            </a:pPr>
            <a:r>
              <a:rPr lang="zh-CN" altLang="en-US">
                <a:solidFill>
                  <a:schemeClr val="tx2"/>
                </a:solidFill>
              </a:rPr>
              <a:t>   设: </a:t>
            </a:r>
            <a:r>
              <a:rPr lang="en-US" altLang="zh-CN">
                <a:solidFill>
                  <a:schemeClr val="tx2"/>
                </a:solidFill>
              </a:rPr>
              <a:t>G(x,y): x</a:t>
            </a:r>
            <a:r>
              <a:rPr lang="en-US" altLang="zh-CN">
                <a:solidFill>
                  <a:schemeClr val="tx2"/>
                </a:solidFill>
                <a:sym typeface="Symbol" panose="05050102010706020507" pitchFamily="18" charset="2"/>
              </a:rPr>
              <a:t></a:t>
            </a:r>
            <a:r>
              <a:rPr lang="en-US" altLang="zh-CN">
                <a:solidFill>
                  <a:schemeClr val="tx2"/>
                </a:solidFill>
              </a:rPr>
              <a:t>y</a:t>
            </a:r>
            <a:r>
              <a:rPr lang="zh-CN" altLang="en-US">
                <a:solidFill>
                  <a:schemeClr val="tx2"/>
                </a:solidFill>
              </a:rPr>
              <a:t>; </a:t>
            </a:r>
            <a:endParaRPr lang="zh-CN" altLang="en-US">
              <a:solidFill>
                <a:schemeClr val="tx2"/>
              </a:solidFill>
            </a:endParaRPr>
          </a:p>
          <a:p>
            <a:pPr eaLnBrk="1" hangingPunct="1">
              <a:lnSpc>
                <a:spcPct val="90000"/>
              </a:lnSpc>
              <a:buFont typeface="Wingdings" panose="05000000000000000000" pitchFamily="2" charset="2"/>
              <a:buNone/>
            </a:pPr>
            <a:r>
              <a:rPr lang="zh-CN" altLang="en-US">
                <a:solidFill>
                  <a:schemeClr val="tx2"/>
                </a:solidFill>
              </a:rPr>
              <a:t>   原命题符号化成: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xyG(x,y)</a:t>
            </a:r>
            <a:endParaRPr lang="zh-CN" altLang="en-US">
              <a:solidFill>
                <a:schemeClr val="tx2"/>
              </a:solidFill>
            </a:endParaRPr>
          </a:p>
          <a:p>
            <a:pPr lvl="1" eaLnBrk="1" hangingPunct="1">
              <a:lnSpc>
                <a:spcPct val="90000"/>
              </a:lnSpc>
            </a:pPr>
            <a:r>
              <a:rPr lang="zh-CN" altLang="en-US">
                <a:solidFill>
                  <a:schemeClr val="tx2"/>
                </a:solidFill>
              </a:rPr>
              <a:t>注意量词顺序:</a:t>
            </a:r>
            <a:endParaRPr lang="zh-CN" altLang="en-US">
              <a:solidFill>
                <a:schemeClr val="tx2"/>
              </a:solidFill>
            </a:endParaRPr>
          </a:p>
          <a:p>
            <a:pPr lvl="1" eaLnBrk="1" hangingPunct="1">
              <a:lnSpc>
                <a:spcPct val="90000"/>
              </a:lnSpc>
              <a:buFont typeface="Wingdings" panose="05000000000000000000" pitchFamily="2" charset="2"/>
              <a:buNone/>
            </a:pPr>
            <a:r>
              <a:rPr lang="zh-CN" altLang="en-US">
                <a:solidFill>
                  <a:schemeClr val="tx2"/>
                </a:solidFill>
              </a:rPr>
              <a:t>  </a:t>
            </a:r>
            <a:r>
              <a:rPr lang="en-US" altLang="zh-CN">
                <a:solidFill>
                  <a:schemeClr val="tx2"/>
                </a:solidFill>
                <a:sym typeface="Symbol" panose="05050102010706020507" pitchFamily="18" charset="2"/>
              </a:rPr>
              <a:t>y</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xG(x,y):  </a:t>
            </a:r>
            <a:r>
              <a:rPr lang="zh-CN" altLang="en-US">
                <a:solidFill>
                  <a:schemeClr val="tx2"/>
                </a:solidFill>
              </a:rPr>
              <a:t>   </a:t>
            </a:r>
            <a:r>
              <a:rPr lang="zh-CN" altLang="en-US">
                <a:solidFill>
                  <a:schemeClr val="tx2"/>
                </a:solidFill>
                <a:latin typeface="Arial" panose="020B0604020202090204" pitchFamily="34" charset="0"/>
              </a:rPr>
              <a:t>“</a:t>
            </a:r>
            <a:r>
              <a:rPr lang="zh-CN" altLang="en-US">
                <a:solidFill>
                  <a:schemeClr val="tx2"/>
                </a:solidFill>
              </a:rPr>
              <a:t>没有最小的自然数</a:t>
            </a:r>
            <a:r>
              <a:rPr lang="zh-CN" altLang="en-US">
                <a:solidFill>
                  <a:schemeClr val="tx2"/>
                </a:solidFill>
                <a:latin typeface="Arial" panose="020B0604020202090204" pitchFamily="34" charset="0"/>
              </a:rPr>
              <a:t>”</a:t>
            </a:r>
            <a:r>
              <a:rPr lang="zh-CN" altLang="en-US">
                <a:solidFill>
                  <a:schemeClr val="tx2"/>
                </a:solidFill>
              </a:rPr>
              <a:t>.</a:t>
            </a:r>
            <a:endParaRPr lang="zh-CN" altLang="en-US">
              <a:solidFill>
                <a:schemeClr val="tx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922B7E0-9793-4F60-86AF-D7CA559E2C6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048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07D6B49-D12E-487C-BC14-48CFD27443E4}"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048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0485" name="Rectangle 2"/>
          <p:cNvSpPr>
            <a:spLocks noGrp="1" noChangeArrowheads="1"/>
          </p:cNvSpPr>
          <p:nvPr>
            <p:ph type="title"/>
          </p:nvPr>
        </p:nvSpPr>
        <p:spPr>
          <a:xfrm>
            <a:off x="971233" y="-27622"/>
            <a:ext cx="7793037" cy="1143000"/>
          </a:xfrm>
        </p:spPr>
        <p:txBody>
          <a:bodyPr/>
          <a:lstStyle/>
          <a:p>
            <a:pPr eaLnBrk="1" hangingPunct="1"/>
            <a:r>
              <a:rPr lang="zh-CN" altLang="en-US"/>
              <a:t>命题符号化(举例、续)</a:t>
            </a:r>
            <a:endParaRPr lang="zh-CN" altLang="en-US"/>
          </a:p>
        </p:txBody>
      </p:sp>
      <p:sp>
        <p:nvSpPr>
          <p:cNvPr id="20486" name="Rectangle 3"/>
          <p:cNvSpPr>
            <a:spLocks noGrp="1" noChangeArrowheads="1"/>
          </p:cNvSpPr>
          <p:nvPr>
            <p:ph type="body" idx="1"/>
          </p:nvPr>
        </p:nvSpPr>
        <p:spPr>
          <a:xfrm>
            <a:off x="899795" y="1340803"/>
            <a:ext cx="7772400" cy="4114800"/>
          </a:xfrm>
        </p:spPr>
        <p:txBody>
          <a:bodyPr/>
          <a:lstStyle/>
          <a:p>
            <a:pPr eaLnBrk="1" hangingPunct="1"/>
            <a:r>
              <a:rPr lang="zh-CN" altLang="en-US" dirty="0">
                <a:solidFill>
                  <a:schemeClr val="tx2"/>
                </a:solidFill>
              </a:rPr>
              <a:t>例:   </a:t>
            </a:r>
            <a:r>
              <a:rPr lang="zh-CN" altLang="en-US" dirty="0">
                <a:solidFill>
                  <a:schemeClr val="tx2"/>
                </a:solidFill>
                <a:latin typeface="Arial" panose="020B0604020202090204" pitchFamily="34" charset="0"/>
              </a:rPr>
              <a:t>“</a:t>
            </a:r>
            <a:r>
              <a:rPr lang="zh-CN" altLang="en-US" dirty="0">
                <a:solidFill>
                  <a:schemeClr val="tx2"/>
                </a:solidFill>
              </a:rPr>
              <a:t>不存在最大的自然数</a:t>
            </a:r>
            <a:r>
              <a:rPr lang="zh-CN" altLang="en-US" dirty="0">
                <a:solidFill>
                  <a:schemeClr val="tx2"/>
                </a:solidFill>
                <a:latin typeface="Arial" panose="020B0604020202090204" pitchFamily="34" charset="0"/>
              </a:rPr>
              <a:t>”</a:t>
            </a:r>
            <a:r>
              <a:rPr lang="zh-CN" altLang="en-US" dirty="0">
                <a:solidFill>
                  <a:schemeClr val="tx2"/>
                </a:solidFill>
              </a:rPr>
              <a:t>。</a:t>
            </a:r>
            <a:endParaRPr lang="zh-CN" altLang="en-US" dirty="0">
              <a:solidFill>
                <a:schemeClr val="tx2"/>
              </a:solidFill>
            </a:endParaRPr>
          </a:p>
          <a:p>
            <a:pPr eaLnBrk="1" hangingPunct="1">
              <a:buFont typeface="Wingdings" panose="05000000000000000000" pitchFamily="2" charset="2"/>
              <a:buNone/>
            </a:pPr>
            <a:r>
              <a:rPr lang="zh-CN" altLang="en-US" dirty="0">
                <a:solidFill>
                  <a:schemeClr val="tx2"/>
                </a:solidFill>
              </a:rPr>
              <a:t>   解:  设: </a:t>
            </a:r>
            <a:r>
              <a:rPr lang="en-US" altLang="zh-CN" dirty="0">
                <a:solidFill>
                  <a:schemeClr val="tx2"/>
                </a:solidFill>
              </a:rPr>
              <a:t>F(x): x</a:t>
            </a:r>
            <a:r>
              <a:rPr lang="zh-CN" altLang="en-US" dirty="0">
                <a:solidFill>
                  <a:schemeClr val="tx2"/>
                </a:solidFill>
              </a:rPr>
              <a:t>是自然数;  </a:t>
            </a:r>
            <a:r>
              <a:rPr lang="en-US" altLang="zh-CN" dirty="0">
                <a:solidFill>
                  <a:schemeClr val="tx2"/>
                </a:solidFill>
              </a:rPr>
              <a:t>G(</a:t>
            </a:r>
            <a:r>
              <a:rPr lang="en-US" altLang="zh-CN" dirty="0" err="1">
                <a:solidFill>
                  <a:schemeClr val="tx2"/>
                </a:solidFill>
              </a:rPr>
              <a:t>x,y</a:t>
            </a:r>
            <a:r>
              <a:rPr lang="en-US" altLang="zh-CN" dirty="0">
                <a:solidFill>
                  <a:schemeClr val="tx2"/>
                </a:solidFill>
              </a:rPr>
              <a:t>): </a:t>
            </a:r>
            <a:r>
              <a:rPr lang="en-US" altLang="zh-CN" dirty="0" err="1">
                <a:solidFill>
                  <a:schemeClr val="tx2"/>
                </a:solidFill>
              </a:rPr>
              <a:t>x</a:t>
            </a:r>
            <a:r>
              <a:rPr lang="en-US" altLang="zh-CN" dirty="0" err="1">
                <a:solidFill>
                  <a:schemeClr val="tx2"/>
                </a:solidFill>
                <a:sym typeface="Symbol" panose="05050102010706020507" pitchFamily="18" charset="2"/>
              </a:rPr>
              <a:t></a:t>
            </a:r>
            <a:r>
              <a:rPr lang="en-US" altLang="zh-CN" dirty="0" err="1">
                <a:solidFill>
                  <a:schemeClr val="tx2"/>
                </a:solidFill>
              </a:rPr>
              <a:t>y</a:t>
            </a:r>
            <a:r>
              <a:rPr lang="zh-CN" altLang="en-US" dirty="0">
                <a:solidFill>
                  <a:schemeClr val="tx2"/>
                </a:solidFill>
              </a:rPr>
              <a:t>; </a:t>
            </a:r>
            <a:endParaRPr lang="zh-CN" altLang="en-US" dirty="0">
              <a:solidFill>
                <a:schemeClr val="tx2"/>
              </a:solidFill>
            </a:endParaRPr>
          </a:p>
          <a:p>
            <a:pPr eaLnBrk="1" hangingPunct="1">
              <a:buFont typeface="Wingdings" panose="05000000000000000000" pitchFamily="2" charset="2"/>
              <a:buNone/>
            </a:pPr>
            <a:r>
              <a:rPr lang="zh-CN" altLang="en-US" dirty="0">
                <a:solidFill>
                  <a:schemeClr val="tx2"/>
                </a:solidFill>
              </a:rPr>
              <a:t>   原命题符号化成:    </a:t>
            </a:r>
            <a:endParaRPr lang="zh-CN" altLang="en-US" dirty="0">
              <a:solidFill>
                <a:schemeClr val="tx2"/>
              </a:solidFill>
            </a:endParaRPr>
          </a:p>
          <a:p>
            <a:pPr algn="ctr" eaLnBrk="1" hangingPunct="1">
              <a:buNone/>
            </a:pPr>
            <a:r>
              <a:rPr lang="en-US" altLang="zh-CN" dirty="0">
                <a:solidFill>
                  <a:schemeClr val="tx2"/>
                </a:solidFill>
                <a:sym typeface="Symbol" panose="05050102010706020507" pitchFamily="18" charset="2"/>
              </a:rPr>
              <a:t> </a:t>
            </a:r>
            <a:r>
              <a:rPr lang="en-US" altLang="zh-CN" dirty="0">
                <a:solidFill>
                  <a:schemeClr val="tx2"/>
                </a:solidFill>
                <a:latin typeface="Times New Roman" panose="02020503050405090304" pitchFamily="18" charset="0"/>
                <a:sym typeface="Symbol" panose="05050102010706020507" pitchFamily="18" charset="2"/>
              </a:rPr>
              <a:t></a:t>
            </a:r>
            <a:r>
              <a:rPr lang="zh-CN" altLang="en-US" dirty="0">
                <a:solidFill>
                  <a:schemeClr val="tx2"/>
                </a:solidFill>
                <a:sym typeface="Symbol" panose="05050102010706020507" pitchFamily="18" charset="2"/>
              </a:rPr>
              <a:t></a:t>
            </a:r>
            <a:r>
              <a:rPr lang="en-US" altLang="zh-CN" dirty="0">
                <a:solidFill>
                  <a:schemeClr val="tx2"/>
                </a:solidFill>
                <a:sym typeface="Symbol" panose="05050102010706020507" pitchFamily="18" charset="2"/>
              </a:rPr>
              <a:t>x(F(x)y(F(y)G(</a:t>
            </a:r>
            <a:r>
              <a:rPr lang="en-US" altLang="zh-CN" dirty="0" err="1">
                <a:solidFill>
                  <a:schemeClr val="tx2"/>
                </a:solidFill>
                <a:sym typeface="Symbol" panose="05050102010706020507" pitchFamily="18" charset="2"/>
              </a:rPr>
              <a:t>y,x</a:t>
            </a:r>
            <a:r>
              <a:rPr lang="en-US" altLang="zh-CN" dirty="0">
                <a:solidFill>
                  <a:schemeClr val="tx2"/>
                </a:solidFill>
                <a:sym typeface="Symbol" panose="05050102010706020507" pitchFamily="18" charset="2"/>
              </a:rPr>
              <a:t>)))</a:t>
            </a:r>
            <a:endParaRPr lang="en-US" altLang="zh-CN" dirty="0">
              <a:solidFill>
                <a:schemeClr val="tx2"/>
              </a:solidFill>
              <a:sym typeface="Symbol" panose="05050102010706020507" pitchFamily="18" charset="2"/>
            </a:endParaRPr>
          </a:p>
          <a:p>
            <a:pPr eaLnBrk="1" hangingPunct="1">
              <a:buFont typeface="Wingdings" panose="05000000000000000000" pitchFamily="2" charset="2"/>
              <a:buNone/>
            </a:pPr>
            <a:r>
              <a:rPr lang="zh-CN" altLang="en-US" dirty="0">
                <a:solidFill>
                  <a:schemeClr val="tx2"/>
                </a:solidFill>
                <a:sym typeface="Symbol" panose="05050102010706020507" pitchFamily="18" charset="2"/>
              </a:rPr>
              <a:t>   或:     </a:t>
            </a:r>
            <a:r>
              <a:rPr lang="en-US" altLang="zh-CN" dirty="0">
                <a:solidFill>
                  <a:schemeClr val="tx2"/>
                </a:solidFill>
                <a:sym typeface="Symbol" panose="05050102010706020507" pitchFamily="18" charset="2"/>
              </a:rPr>
              <a:t> x(F(x)</a:t>
            </a:r>
            <a:r>
              <a:rPr lang="zh-CN" altLang="en-US" dirty="0">
                <a:solidFill>
                  <a:schemeClr val="tx2"/>
                </a:solidFill>
                <a:sym typeface="Symbol" panose="05050102010706020507" pitchFamily="18" charset="2"/>
              </a:rPr>
              <a:t></a:t>
            </a:r>
            <a:r>
              <a:rPr lang="en-US" altLang="zh-CN" dirty="0">
                <a:solidFill>
                  <a:schemeClr val="tx2"/>
                </a:solidFill>
                <a:sym typeface="Symbol" panose="05050102010706020507" pitchFamily="18" charset="2"/>
              </a:rPr>
              <a:t>y(F(y)G(</a:t>
            </a:r>
            <a:r>
              <a:rPr lang="en-US" altLang="zh-CN" dirty="0" err="1">
                <a:solidFill>
                  <a:schemeClr val="tx2"/>
                </a:solidFill>
                <a:sym typeface="Symbol" panose="05050102010706020507" pitchFamily="18" charset="2"/>
              </a:rPr>
              <a:t>x,y</a:t>
            </a:r>
            <a:r>
              <a:rPr lang="en-US" altLang="zh-CN" dirty="0">
                <a:solidFill>
                  <a:schemeClr val="tx2"/>
                </a:solidFill>
                <a:sym typeface="Symbol" panose="05050102010706020507" pitchFamily="18" charset="2"/>
              </a:rPr>
              <a:t>)))</a:t>
            </a:r>
            <a:endParaRPr lang="zh-CN" altLang="en-US" dirty="0">
              <a:solidFill>
                <a:schemeClr val="tx2"/>
              </a:solidFill>
              <a:sym typeface="Symbol" panose="05050102010706020507" pitchFamily="18" charset="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79E3772-352B-4A75-B277-A8DEB5A03FC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150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1637408-16E6-4D38-B7D7-E9548A8048EC}"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150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1509" name="Rectangle 2"/>
          <p:cNvSpPr>
            <a:spLocks noGrp="1" noChangeArrowheads="1"/>
          </p:cNvSpPr>
          <p:nvPr>
            <p:ph type="title"/>
          </p:nvPr>
        </p:nvSpPr>
        <p:spPr>
          <a:xfrm>
            <a:off x="971233" y="115888"/>
            <a:ext cx="7793037" cy="1143000"/>
          </a:xfrm>
        </p:spPr>
        <p:txBody>
          <a:bodyPr/>
          <a:lstStyle/>
          <a:p>
            <a:pPr eaLnBrk="1" hangingPunct="1"/>
            <a:r>
              <a:rPr lang="zh-CN" altLang="en-US"/>
              <a:t>命题符号化(举例、续)</a:t>
            </a:r>
            <a:endParaRPr lang="zh-CN" altLang="en-US"/>
          </a:p>
        </p:txBody>
      </p:sp>
      <p:sp>
        <p:nvSpPr>
          <p:cNvPr id="21510" name="Rectangle 3"/>
          <p:cNvSpPr>
            <a:spLocks noGrp="1" noChangeArrowheads="1"/>
          </p:cNvSpPr>
          <p:nvPr>
            <p:ph type="body" idx="1"/>
          </p:nvPr>
        </p:nvSpPr>
        <p:spPr>
          <a:xfrm>
            <a:off x="848360" y="1317625"/>
            <a:ext cx="8111490" cy="4641850"/>
          </a:xfrm>
        </p:spPr>
        <p:txBody>
          <a:bodyPr/>
          <a:lstStyle/>
          <a:p>
            <a:pPr eaLnBrk="1" hangingPunct="1"/>
            <a:r>
              <a:rPr lang="zh-CN" altLang="en-US">
                <a:solidFill>
                  <a:schemeClr val="tx2"/>
                </a:solidFill>
              </a:rPr>
              <a:t>例:   </a:t>
            </a:r>
            <a:r>
              <a:rPr lang="zh-CN" altLang="en-US">
                <a:solidFill>
                  <a:schemeClr val="tx2"/>
                </a:solidFill>
                <a:latin typeface="Arial" panose="020B0604020202090204" pitchFamily="34" charset="0"/>
              </a:rPr>
              <a:t>“</a:t>
            </a:r>
            <a:r>
              <a:rPr lang="zh-CN" altLang="en-US">
                <a:solidFill>
                  <a:schemeClr val="tx2"/>
                </a:solidFill>
              </a:rPr>
              <a:t>火车比汽车快</a:t>
            </a:r>
            <a:r>
              <a:rPr lang="zh-CN" altLang="en-US">
                <a:solidFill>
                  <a:schemeClr val="tx2"/>
                </a:solidFill>
                <a:latin typeface="Arial" panose="020B0604020202090204" pitchFamily="34" charset="0"/>
              </a:rPr>
              <a:t>”</a:t>
            </a:r>
            <a:r>
              <a:rPr lang="zh-CN" altLang="en-US">
                <a:solidFill>
                  <a:schemeClr val="tx2"/>
                </a:solidFill>
              </a:rPr>
              <a:t>。</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解: 设:  </a:t>
            </a:r>
            <a:r>
              <a:rPr lang="en-US" altLang="zh-CN">
                <a:solidFill>
                  <a:schemeClr val="tx2"/>
                </a:solidFill>
              </a:rPr>
              <a:t>F(x): x</a:t>
            </a:r>
            <a:r>
              <a:rPr lang="zh-CN" altLang="en-US">
                <a:solidFill>
                  <a:schemeClr val="tx2"/>
                </a:solidFill>
              </a:rPr>
              <a:t>是火车;  </a:t>
            </a:r>
            <a:r>
              <a:rPr lang="en-US" altLang="zh-CN">
                <a:solidFill>
                  <a:schemeClr val="tx2"/>
                </a:solidFill>
              </a:rPr>
              <a:t>G(x): x</a:t>
            </a:r>
            <a:r>
              <a:rPr lang="zh-CN" altLang="en-US">
                <a:solidFill>
                  <a:schemeClr val="tx2"/>
                </a:solidFill>
              </a:rPr>
              <a:t>是汽车; </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a:t>
            </a:r>
            <a:r>
              <a:rPr lang="en-US" altLang="zh-CN">
                <a:solidFill>
                  <a:schemeClr val="tx2"/>
                </a:solidFill>
              </a:rPr>
              <a:t>H(x,y):  x</a:t>
            </a:r>
            <a:r>
              <a:rPr lang="zh-CN" altLang="en-US">
                <a:solidFill>
                  <a:schemeClr val="tx2"/>
                </a:solidFill>
              </a:rPr>
              <a:t>比</a:t>
            </a:r>
            <a:r>
              <a:rPr lang="en-US" altLang="zh-CN">
                <a:solidFill>
                  <a:schemeClr val="tx2"/>
                </a:solidFill>
              </a:rPr>
              <a:t>y</a:t>
            </a:r>
            <a:r>
              <a:rPr lang="zh-CN" altLang="en-US">
                <a:solidFill>
                  <a:schemeClr val="tx2"/>
                </a:solidFill>
              </a:rPr>
              <a:t>快</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a:t>
            </a:r>
            <a:r>
              <a:rPr lang="en-US" altLang="zh-CN">
                <a:solidFill>
                  <a:schemeClr val="tx2"/>
                </a:solidFill>
              </a:rPr>
              <a:t> </a:t>
            </a:r>
            <a:r>
              <a:rPr lang="zh-CN" altLang="en-US">
                <a:solidFill>
                  <a:schemeClr val="tx2"/>
                </a:solidFill>
              </a:rPr>
              <a:t>原命题符号化成:    </a:t>
            </a:r>
            <a:endParaRPr lang="zh-CN" altLang="en-US">
              <a:solidFill>
                <a:schemeClr val="tx2"/>
              </a:solidFill>
            </a:endParaRPr>
          </a:p>
          <a:p>
            <a:pPr algn="ctr" eaLnBrk="1" hangingPunct="1">
              <a:buFont typeface="Wingdings" panose="05000000000000000000" pitchFamily="2" charset="2"/>
              <a:buNone/>
            </a:pPr>
            <a:r>
              <a:rPr lang="en-US" altLang="zh-CN">
                <a:solidFill>
                  <a:schemeClr val="tx2"/>
                </a:solidFill>
                <a:sym typeface="Symbol" panose="05050102010706020507" pitchFamily="18" charset="2"/>
              </a:rPr>
              <a:t>x(F(x)y(G(y)H(x,y)))</a:t>
            </a:r>
            <a:endParaRPr lang="en-US" altLang="zh-CN">
              <a:solidFill>
                <a:schemeClr val="tx2"/>
              </a:solidFill>
              <a:sym typeface="Symbol" panose="05050102010706020507" pitchFamily="18" charset="2"/>
            </a:endParaRPr>
          </a:p>
          <a:p>
            <a:pPr eaLnBrk="1" hangingPunct="1">
              <a:buFont typeface="Wingdings" panose="05000000000000000000" pitchFamily="2" charset="2"/>
              <a:buNone/>
            </a:pPr>
            <a:r>
              <a:rPr lang="zh-CN" altLang="en-US">
                <a:solidFill>
                  <a:schemeClr val="tx2"/>
                </a:solidFill>
                <a:sym typeface="Symbol" panose="05050102010706020507" pitchFamily="18" charset="2"/>
              </a:rPr>
              <a:t>  或:      </a:t>
            </a:r>
            <a:r>
              <a:rPr lang="en-US" altLang="zh-CN">
                <a:solidFill>
                  <a:schemeClr val="tx2"/>
                </a:solidFill>
                <a:sym typeface="Symbol" panose="05050102010706020507" pitchFamily="18" charset="2"/>
              </a:rPr>
              <a:t>xy((F(x)G(y))H(x,y))</a:t>
            </a:r>
            <a:endParaRPr lang="zh-CN" altLang="en-US">
              <a:solidFill>
                <a:schemeClr val="tx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531CE04-6BC5-4D1C-A748-AB6ECA8ABC30}"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253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F7C90C2-B01F-42E2-A0DF-6EEE8F87D3A5}"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253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2533" name="Rectangle 2"/>
          <p:cNvSpPr>
            <a:spLocks noGrp="1" noChangeArrowheads="1"/>
          </p:cNvSpPr>
          <p:nvPr>
            <p:ph type="title"/>
          </p:nvPr>
        </p:nvSpPr>
        <p:spPr>
          <a:xfrm>
            <a:off x="971233" y="115888"/>
            <a:ext cx="7793037" cy="1143000"/>
          </a:xfrm>
        </p:spPr>
        <p:txBody>
          <a:bodyPr/>
          <a:lstStyle/>
          <a:p>
            <a:pPr eaLnBrk="1" hangingPunct="1"/>
            <a:r>
              <a:rPr lang="zh-CN" altLang="en-US"/>
              <a:t>命题符号化(举例、续)</a:t>
            </a:r>
            <a:endParaRPr lang="zh-CN" altLang="en-US"/>
          </a:p>
        </p:txBody>
      </p:sp>
      <p:sp>
        <p:nvSpPr>
          <p:cNvPr id="22534" name="Rectangle 3"/>
          <p:cNvSpPr>
            <a:spLocks noGrp="1" noChangeArrowheads="1"/>
          </p:cNvSpPr>
          <p:nvPr>
            <p:ph type="body" idx="1"/>
          </p:nvPr>
        </p:nvSpPr>
        <p:spPr>
          <a:xfrm>
            <a:off x="971550" y="1258570"/>
            <a:ext cx="7988300" cy="4700905"/>
          </a:xfrm>
        </p:spPr>
        <p:txBody>
          <a:bodyPr/>
          <a:lstStyle/>
          <a:p>
            <a:pPr eaLnBrk="1" hangingPunct="1"/>
            <a:r>
              <a:rPr lang="zh-CN" altLang="en-US">
                <a:solidFill>
                  <a:schemeClr val="tx2"/>
                </a:solidFill>
              </a:rPr>
              <a:t>例:   </a:t>
            </a:r>
            <a:r>
              <a:rPr lang="zh-CN" altLang="en-US">
                <a:solidFill>
                  <a:schemeClr val="tx2"/>
                </a:solidFill>
                <a:latin typeface="Arial" panose="020B0604020202090204" pitchFamily="34" charset="0"/>
              </a:rPr>
              <a:t>“</a:t>
            </a:r>
            <a:r>
              <a:rPr lang="zh-CN" altLang="en-US">
                <a:solidFill>
                  <a:schemeClr val="tx2"/>
                </a:solidFill>
              </a:rPr>
              <a:t>有的汽车比火车快</a:t>
            </a:r>
            <a:r>
              <a:rPr lang="zh-CN" altLang="en-US">
                <a:solidFill>
                  <a:schemeClr val="tx2"/>
                </a:solidFill>
                <a:latin typeface="Arial" panose="020B0604020202090204" pitchFamily="34" charset="0"/>
              </a:rPr>
              <a:t>”</a:t>
            </a:r>
            <a:r>
              <a:rPr lang="zh-CN" altLang="en-US">
                <a:solidFill>
                  <a:schemeClr val="tx2"/>
                </a:solidFill>
              </a:rPr>
              <a:t>。</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解: 设: </a:t>
            </a:r>
            <a:r>
              <a:rPr lang="en-US" altLang="zh-CN">
                <a:solidFill>
                  <a:schemeClr val="tx2"/>
                </a:solidFill>
              </a:rPr>
              <a:t>F(x): x</a:t>
            </a:r>
            <a:r>
              <a:rPr lang="zh-CN" altLang="en-US">
                <a:solidFill>
                  <a:schemeClr val="tx2"/>
                </a:solidFill>
              </a:rPr>
              <a:t>是汽车;  </a:t>
            </a:r>
            <a:r>
              <a:rPr lang="en-US" altLang="zh-CN">
                <a:solidFill>
                  <a:schemeClr val="tx2"/>
                </a:solidFill>
              </a:rPr>
              <a:t>G(x): x</a:t>
            </a:r>
            <a:r>
              <a:rPr lang="zh-CN" altLang="en-US">
                <a:solidFill>
                  <a:schemeClr val="tx2"/>
                </a:solidFill>
              </a:rPr>
              <a:t>是火车; </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a:t>
            </a:r>
            <a:r>
              <a:rPr lang="en-US" altLang="zh-CN">
                <a:solidFill>
                  <a:schemeClr val="tx2"/>
                </a:solidFill>
              </a:rPr>
              <a:t>H(x,y):  x</a:t>
            </a:r>
            <a:r>
              <a:rPr lang="zh-CN" altLang="en-US">
                <a:solidFill>
                  <a:schemeClr val="tx2"/>
                </a:solidFill>
              </a:rPr>
              <a:t>比</a:t>
            </a:r>
            <a:r>
              <a:rPr lang="en-US" altLang="zh-CN">
                <a:solidFill>
                  <a:schemeClr val="tx2"/>
                </a:solidFill>
              </a:rPr>
              <a:t>y</a:t>
            </a:r>
            <a:r>
              <a:rPr lang="zh-CN" altLang="en-US">
                <a:solidFill>
                  <a:schemeClr val="tx2"/>
                </a:solidFill>
              </a:rPr>
              <a:t>快</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a:t>
            </a:r>
            <a:r>
              <a:rPr lang="en-US" altLang="zh-CN">
                <a:solidFill>
                  <a:schemeClr val="tx2"/>
                </a:solidFill>
              </a:rPr>
              <a:t> </a:t>
            </a:r>
            <a:r>
              <a:rPr lang="zh-CN" altLang="en-US">
                <a:solidFill>
                  <a:schemeClr val="tx2"/>
                </a:solidFill>
              </a:rPr>
              <a:t>原命题符号化成:    </a:t>
            </a:r>
            <a:endParaRPr lang="zh-CN" altLang="en-US">
              <a:solidFill>
                <a:schemeClr val="tx2"/>
              </a:solidFill>
            </a:endParaRPr>
          </a:p>
          <a:p>
            <a:pPr algn="ctr" eaLnBrk="1" hangingPunct="1">
              <a:buFont typeface="Wingdings" panose="05000000000000000000" pitchFamily="2" charset="2"/>
              <a:buNone/>
            </a:pP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y(G(y)H(x,y)))</a:t>
            </a:r>
            <a:endParaRPr lang="en-US" altLang="zh-CN">
              <a:solidFill>
                <a:schemeClr val="tx2"/>
              </a:solidFill>
              <a:sym typeface="Symbol" panose="05050102010706020507" pitchFamily="18" charset="2"/>
            </a:endParaRPr>
          </a:p>
          <a:p>
            <a:pPr eaLnBrk="1" hangingPunct="1">
              <a:buFont typeface="Wingdings" panose="05000000000000000000" pitchFamily="2" charset="2"/>
              <a:buNone/>
            </a:pPr>
            <a:r>
              <a:rPr lang="zh-CN" altLang="en-US">
                <a:solidFill>
                  <a:schemeClr val="tx2"/>
                </a:solidFill>
                <a:sym typeface="Symbol" panose="05050102010706020507" pitchFamily="18" charset="2"/>
              </a:rPr>
              <a:t>  或:       </a:t>
            </a:r>
            <a:r>
              <a:rPr lang="en-US" altLang="zh-CN">
                <a:solidFill>
                  <a:schemeClr val="tx2"/>
                </a:solidFill>
                <a:sym typeface="Symbol" panose="05050102010706020507" pitchFamily="18" charset="2"/>
              </a:rPr>
              <a:t>x</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y(F(x)G(y)H(x,y))</a:t>
            </a:r>
            <a:endParaRPr lang="zh-CN" altLang="en-US">
              <a:solidFill>
                <a:schemeClr val="tx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2AC790C2-B99C-4F4E-92DC-48391C925870}"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355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359A05C-6508-4DEF-A85A-0666D28BFCC8}"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355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3557" name="Rectangle 2"/>
          <p:cNvSpPr>
            <a:spLocks noGrp="1" noChangeArrowheads="1"/>
          </p:cNvSpPr>
          <p:nvPr>
            <p:ph type="title"/>
          </p:nvPr>
        </p:nvSpPr>
        <p:spPr>
          <a:xfrm>
            <a:off x="1043623" y="44133"/>
            <a:ext cx="7793037" cy="1143000"/>
          </a:xfrm>
        </p:spPr>
        <p:txBody>
          <a:bodyPr/>
          <a:lstStyle/>
          <a:p>
            <a:pPr eaLnBrk="1" hangingPunct="1"/>
            <a:r>
              <a:rPr lang="zh-CN" altLang="en-US"/>
              <a:t>命题符号化(举例、续)</a:t>
            </a:r>
            <a:endParaRPr lang="zh-CN" altLang="en-US"/>
          </a:p>
        </p:txBody>
      </p:sp>
      <p:sp>
        <p:nvSpPr>
          <p:cNvPr id="23558" name="Rectangle 3"/>
          <p:cNvSpPr>
            <a:spLocks noGrp="1" noChangeArrowheads="1"/>
          </p:cNvSpPr>
          <p:nvPr>
            <p:ph type="body" idx="1"/>
          </p:nvPr>
        </p:nvSpPr>
        <p:spPr>
          <a:xfrm>
            <a:off x="1045210" y="1278890"/>
            <a:ext cx="7914640" cy="4680585"/>
          </a:xfrm>
        </p:spPr>
        <p:txBody>
          <a:bodyPr/>
          <a:lstStyle/>
          <a:p>
            <a:pPr eaLnBrk="1" hangingPunct="1"/>
            <a:r>
              <a:rPr lang="zh-CN" altLang="en-US">
                <a:solidFill>
                  <a:schemeClr val="tx2"/>
                </a:solidFill>
              </a:rPr>
              <a:t>例:   </a:t>
            </a:r>
            <a:r>
              <a:rPr lang="zh-CN" altLang="en-US">
                <a:solidFill>
                  <a:schemeClr val="tx2"/>
                </a:solidFill>
                <a:latin typeface="Arial" panose="020B0604020202090204" pitchFamily="34" charset="0"/>
              </a:rPr>
              <a:t>“</a:t>
            </a:r>
            <a:r>
              <a:rPr lang="zh-CN" altLang="en-US">
                <a:solidFill>
                  <a:schemeClr val="tx2"/>
                </a:solidFill>
              </a:rPr>
              <a:t>存在唯一的对象满足性质</a:t>
            </a:r>
            <a:r>
              <a:rPr lang="en-US" altLang="zh-CN">
                <a:solidFill>
                  <a:schemeClr val="tx2"/>
                </a:solidFill>
              </a:rPr>
              <a:t>P</a:t>
            </a:r>
            <a:r>
              <a:rPr lang="en-US" altLang="zh-CN">
                <a:solidFill>
                  <a:schemeClr val="tx2"/>
                </a:solidFill>
                <a:latin typeface="Arial" panose="020B0604020202090204" pitchFamily="34" charset="0"/>
              </a:rPr>
              <a:t>”</a:t>
            </a:r>
            <a:r>
              <a:rPr lang="en-US" altLang="zh-CN">
                <a:solidFill>
                  <a:schemeClr val="tx2"/>
                </a:solidFill>
              </a:rPr>
              <a:t>。</a:t>
            </a:r>
            <a:endParaRPr lang="en-US" altLang="zh-CN">
              <a:solidFill>
                <a:schemeClr val="tx2"/>
              </a:solidFill>
            </a:endParaRPr>
          </a:p>
          <a:p>
            <a:pPr eaLnBrk="1" hangingPunct="1">
              <a:buFont typeface="Wingdings" panose="05000000000000000000" pitchFamily="2" charset="2"/>
              <a:buNone/>
            </a:pPr>
            <a:r>
              <a:rPr lang="zh-CN" altLang="en-US">
                <a:solidFill>
                  <a:schemeClr val="tx2"/>
                </a:solidFill>
              </a:rPr>
              <a:t>   解:   设:   </a:t>
            </a:r>
            <a:r>
              <a:rPr lang="en-US" altLang="zh-CN">
                <a:solidFill>
                  <a:schemeClr val="tx2"/>
                </a:solidFill>
              </a:rPr>
              <a:t>P(x): x</a:t>
            </a:r>
            <a:r>
              <a:rPr lang="zh-CN" altLang="en-US">
                <a:solidFill>
                  <a:schemeClr val="tx2"/>
                </a:solidFill>
              </a:rPr>
              <a:t>满足性质</a:t>
            </a:r>
            <a:r>
              <a:rPr lang="en-US" altLang="zh-CN">
                <a:solidFill>
                  <a:schemeClr val="tx2"/>
                </a:solidFill>
              </a:rPr>
              <a:t>P</a:t>
            </a:r>
            <a:endParaRPr lang="en-US" altLang="zh-CN">
              <a:solidFill>
                <a:schemeClr val="tx2"/>
              </a:solidFill>
            </a:endParaRPr>
          </a:p>
          <a:p>
            <a:pPr eaLnBrk="1" hangingPunct="1">
              <a:buFont typeface="Wingdings" panose="05000000000000000000" pitchFamily="2" charset="2"/>
              <a:buNone/>
            </a:pPr>
            <a:r>
              <a:rPr lang="zh-CN" altLang="en-US">
                <a:solidFill>
                  <a:schemeClr val="tx2"/>
                </a:solidFill>
              </a:rPr>
              <a:t>   原命题符号化成: </a:t>
            </a:r>
            <a:endParaRPr lang="zh-CN" altLang="en-US">
              <a:solidFill>
                <a:schemeClr val="tx2"/>
              </a:solidFill>
            </a:endParaRPr>
          </a:p>
          <a:p>
            <a:pPr algn="ctr" eaLnBrk="1" hangingPunct="1">
              <a:buFont typeface="Wingdings" panose="05000000000000000000" pitchFamily="2" charset="2"/>
              <a:buNone/>
            </a:pP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xP(x)</a:t>
            </a:r>
            <a:endParaRPr lang="en-US" altLang="zh-CN">
              <a:solidFill>
                <a:schemeClr val="tx2"/>
              </a:solidFill>
              <a:sym typeface="Symbol" panose="05050102010706020507" pitchFamily="18" charset="2"/>
            </a:endParaRPr>
          </a:p>
          <a:p>
            <a:pPr eaLnBrk="1" hangingPunct="1">
              <a:buFont typeface="Wingdings" panose="05000000000000000000" pitchFamily="2" charset="2"/>
              <a:buNone/>
            </a:pPr>
            <a:r>
              <a:rPr lang="zh-CN" altLang="en-US">
                <a:solidFill>
                  <a:schemeClr val="tx2"/>
                </a:solidFill>
                <a:sym typeface="Symbol" panose="05050102010706020507" pitchFamily="18" charset="2"/>
              </a:rPr>
              <a:t>   或:   </a:t>
            </a:r>
            <a:endParaRPr lang="zh-CN" altLang="en-US">
              <a:solidFill>
                <a:schemeClr val="tx2"/>
              </a:solidFill>
              <a:sym typeface="Symbol" panose="05050102010706020507" pitchFamily="18" charset="2"/>
            </a:endParaRPr>
          </a:p>
          <a:p>
            <a:pPr algn="ctr" eaLnBrk="1" hangingPunct="1">
              <a:buFont typeface="Wingdings" panose="05000000000000000000" pitchFamily="2" charset="2"/>
              <a:buNone/>
            </a:pP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 P(x)  y( P(y)x=y ) )</a:t>
            </a:r>
            <a:endParaRPr lang="en-US" altLang="zh-CN">
              <a:solidFill>
                <a:schemeClr val="tx2"/>
              </a:solidFill>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D947FED8-B8E3-457E-BF52-A6D323A54AD2}"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457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1F4FB95-2962-4785-B056-B50D411A9FE7}"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458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4581" name="Rectangle 2"/>
          <p:cNvSpPr>
            <a:spLocks noGrp="1" noChangeArrowheads="1"/>
          </p:cNvSpPr>
          <p:nvPr>
            <p:ph type="title"/>
          </p:nvPr>
        </p:nvSpPr>
        <p:spPr>
          <a:xfrm>
            <a:off x="1043623" y="44133"/>
            <a:ext cx="7793037" cy="1143000"/>
          </a:xfrm>
        </p:spPr>
        <p:txBody>
          <a:bodyPr/>
          <a:lstStyle/>
          <a:p>
            <a:pPr eaLnBrk="1" hangingPunct="1"/>
            <a:r>
              <a:rPr lang="zh-CN" altLang="en-US"/>
              <a:t>命题符号化(举例、续)</a:t>
            </a:r>
            <a:endParaRPr lang="zh-CN" altLang="en-US"/>
          </a:p>
        </p:txBody>
      </p:sp>
      <p:sp>
        <p:nvSpPr>
          <p:cNvPr id="24582" name="Rectangle 3"/>
          <p:cNvSpPr>
            <a:spLocks noGrp="1" noChangeArrowheads="1"/>
          </p:cNvSpPr>
          <p:nvPr>
            <p:ph type="body" idx="1"/>
          </p:nvPr>
        </p:nvSpPr>
        <p:spPr>
          <a:xfrm>
            <a:off x="974725" y="1386840"/>
            <a:ext cx="7985125" cy="4501515"/>
          </a:xfrm>
        </p:spPr>
        <p:txBody>
          <a:bodyPr/>
          <a:lstStyle/>
          <a:p>
            <a:pPr eaLnBrk="1" hangingPunct="1"/>
            <a:r>
              <a:rPr lang="zh-CN" altLang="en-US">
                <a:solidFill>
                  <a:schemeClr val="tx2"/>
                </a:solidFill>
              </a:rPr>
              <a:t>例:   </a:t>
            </a:r>
            <a:r>
              <a:rPr lang="zh-CN" altLang="en-US">
                <a:solidFill>
                  <a:schemeClr val="tx2"/>
                </a:solidFill>
                <a:latin typeface="Arial" panose="020B0604020202090204" pitchFamily="34" charset="0"/>
              </a:rPr>
              <a:t>“</a:t>
            </a:r>
            <a:r>
              <a:rPr lang="zh-CN" altLang="en-US">
                <a:solidFill>
                  <a:schemeClr val="tx2"/>
                </a:solidFill>
              </a:rPr>
              <a:t>2+2=4</a:t>
            </a:r>
            <a:r>
              <a:rPr lang="zh-CN" altLang="en-US">
                <a:solidFill>
                  <a:schemeClr val="tx2"/>
                </a:solidFill>
                <a:latin typeface="Arial" panose="020B0604020202090204" pitchFamily="34" charset="0"/>
              </a:rPr>
              <a:t>”</a:t>
            </a:r>
            <a:r>
              <a:rPr lang="zh-CN" altLang="en-US">
                <a:solidFill>
                  <a:schemeClr val="tx2"/>
                </a:solidFill>
              </a:rPr>
              <a:t>。</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解:   设:   </a:t>
            </a:r>
            <a:r>
              <a:rPr lang="en-US" altLang="zh-CN">
                <a:solidFill>
                  <a:schemeClr val="tx2"/>
                </a:solidFill>
              </a:rPr>
              <a:t>a: 2</a:t>
            </a:r>
            <a:r>
              <a:rPr lang="zh-CN" altLang="en-US">
                <a:solidFill>
                  <a:schemeClr val="tx2"/>
                </a:solidFill>
              </a:rPr>
              <a:t>;  </a:t>
            </a:r>
            <a:r>
              <a:rPr lang="en-US" altLang="zh-CN">
                <a:solidFill>
                  <a:schemeClr val="tx2"/>
                </a:solidFill>
              </a:rPr>
              <a:t>b: 4;  f(x,y)=x+y</a:t>
            </a:r>
            <a:r>
              <a:rPr lang="zh-CN" altLang="en-US">
                <a:solidFill>
                  <a:schemeClr val="tx2"/>
                </a:solidFill>
              </a:rPr>
              <a:t>; </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a:t>
            </a:r>
            <a:r>
              <a:rPr lang="en-US" altLang="zh-CN">
                <a:solidFill>
                  <a:schemeClr val="tx2"/>
                </a:solidFill>
              </a:rPr>
              <a:t>F(x,y): x=y</a:t>
            </a:r>
            <a:endParaRPr lang="en-US" altLang="zh-CN">
              <a:solidFill>
                <a:schemeClr val="tx2"/>
              </a:solidFill>
            </a:endParaRPr>
          </a:p>
          <a:p>
            <a:pPr eaLnBrk="1" hangingPunct="1">
              <a:buFont typeface="Wingdings" panose="05000000000000000000" pitchFamily="2" charset="2"/>
              <a:buNone/>
            </a:pPr>
            <a:r>
              <a:rPr lang="zh-CN" altLang="en-US">
                <a:solidFill>
                  <a:schemeClr val="tx2"/>
                </a:solidFill>
              </a:rPr>
              <a:t>   原命题符号化成:   </a:t>
            </a:r>
            <a:r>
              <a:rPr lang="en-US" altLang="zh-CN">
                <a:solidFill>
                  <a:schemeClr val="tx2"/>
                </a:solidFill>
                <a:sym typeface="Symbol" panose="05050102010706020507" pitchFamily="18" charset="2"/>
              </a:rPr>
              <a:t>F(f(a,a),b)</a:t>
            </a:r>
            <a:endParaRPr lang="en-US" altLang="zh-CN">
              <a:solidFill>
                <a:schemeClr val="tx2"/>
              </a:solidFill>
              <a:sym typeface="Symbol" panose="05050102010706020507" pitchFamily="18" charset="2"/>
            </a:endParaRPr>
          </a:p>
          <a:p>
            <a:pPr eaLnBrk="1" hangingPunct="1">
              <a:buFont typeface="Wingdings" panose="05000000000000000000" pitchFamily="2" charset="2"/>
              <a:buNone/>
            </a:pPr>
            <a:r>
              <a:rPr lang="zh-CN" altLang="en-US">
                <a:solidFill>
                  <a:schemeClr val="tx2"/>
                </a:solidFill>
                <a:sym typeface="Symbol" panose="05050102010706020507" pitchFamily="18" charset="2"/>
              </a:rPr>
              <a:t>   或:    </a:t>
            </a:r>
            <a:r>
              <a:rPr lang="en-US" altLang="zh-CN">
                <a:solidFill>
                  <a:schemeClr val="tx2"/>
                </a:solidFill>
                <a:sym typeface="Symbol" panose="05050102010706020507" pitchFamily="18" charset="2"/>
              </a:rPr>
              <a:t>F(f(2,2),4)</a:t>
            </a:r>
            <a:endParaRPr lang="en-US" altLang="zh-CN">
              <a:solidFill>
                <a:schemeClr val="tx2"/>
              </a:solidFill>
              <a:sym typeface="Symbol" panose="05050102010706020507" pitchFamily="18" charset="2"/>
            </a:endParaRPr>
          </a:p>
          <a:p>
            <a:pPr eaLnBrk="1" hangingPunct="1">
              <a:buFont typeface="Wingdings" panose="05000000000000000000" pitchFamily="2" charset="2"/>
              <a:buNone/>
            </a:pPr>
            <a:r>
              <a:rPr lang="zh-CN" altLang="en-US">
                <a:solidFill>
                  <a:schemeClr val="tx2"/>
                </a:solidFill>
                <a:sym typeface="Symbol" panose="05050102010706020507" pitchFamily="18" charset="2"/>
              </a:rPr>
              <a:t>   或:    </a:t>
            </a:r>
            <a:r>
              <a:rPr lang="en-US" altLang="zh-CN">
                <a:solidFill>
                  <a:schemeClr val="tx2"/>
                </a:solidFill>
                <a:sym typeface="Symbol" panose="05050102010706020507" pitchFamily="18" charset="2"/>
              </a:rPr>
              <a:t>2+2=4</a:t>
            </a:r>
            <a:endParaRPr lang="zh-CN" altLang="en-US">
              <a:solidFill>
                <a:schemeClr val="tx2"/>
              </a:solidFill>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D61BAAAF-30B0-42C7-AB25-D1A688CBC130}"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560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3A0565D-A98E-47F3-852A-A0C0D97E6BF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560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5605" name="Rectangle 2"/>
          <p:cNvSpPr>
            <a:spLocks noGrp="1" noChangeArrowheads="1"/>
          </p:cNvSpPr>
          <p:nvPr>
            <p:ph type="title"/>
          </p:nvPr>
        </p:nvSpPr>
        <p:spPr>
          <a:xfrm>
            <a:off x="971233" y="-317"/>
            <a:ext cx="7793037" cy="1143000"/>
          </a:xfrm>
        </p:spPr>
        <p:txBody>
          <a:bodyPr/>
          <a:lstStyle/>
          <a:p>
            <a:pPr eaLnBrk="1" hangingPunct="1"/>
            <a:r>
              <a:rPr lang="en-US" altLang="zh-CN"/>
              <a:t>The order of quantifiers</a:t>
            </a:r>
            <a:endParaRPr lang="en-US" altLang="zh-CN"/>
          </a:p>
        </p:txBody>
      </p:sp>
      <p:sp>
        <p:nvSpPr>
          <p:cNvPr id="25606" name="Rectangle 3"/>
          <p:cNvSpPr>
            <a:spLocks noGrp="1" noChangeArrowheads="1"/>
          </p:cNvSpPr>
          <p:nvPr>
            <p:ph type="body" idx="1"/>
          </p:nvPr>
        </p:nvSpPr>
        <p:spPr>
          <a:xfrm>
            <a:off x="539552" y="1556703"/>
            <a:ext cx="8415536" cy="4114800"/>
          </a:xfrm>
        </p:spPr>
        <p:txBody>
          <a:bodyPr/>
          <a:lstStyle/>
          <a:p>
            <a:pPr eaLnBrk="1" hangingPunct="1"/>
            <a:r>
              <a:rPr lang="en-US" altLang="zh-CN" dirty="0">
                <a:latin typeface="Times New Roman" panose="02020503050405090304" pitchFamily="18" charset="0"/>
              </a:rPr>
              <a:t>Example 3</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Let </a:t>
            </a:r>
            <a:r>
              <a:rPr lang="en-US" altLang="zh-CN" i="1" dirty="0">
                <a:latin typeface="Times New Roman" panose="02020503050405090304" pitchFamily="18" charset="0"/>
              </a:rPr>
              <a:t>P(</a:t>
            </a:r>
            <a:r>
              <a:rPr lang="en-US" altLang="zh-CN" i="1" dirty="0" err="1">
                <a:latin typeface="Times New Roman" panose="02020503050405090304" pitchFamily="18" charset="0"/>
              </a:rPr>
              <a:t>x,y</a:t>
            </a:r>
            <a:r>
              <a:rPr lang="en-US" altLang="zh-CN" i="1" dirty="0">
                <a:latin typeface="Times New Roman" panose="02020503050405090304" pitchFamily="18" charset="0"/>
              </a:rPr>
              <a:t>)</a:t>
            </a:r>
            <a:r>
              <a:rPr lang="en-US" altLang="zh-CN" dirty="0">
                <a:latin typeface="Times New Roman" panose="02020503050405090304" pitchFamily="18" charset="0"/>
              </a:rPr>
              <a:t> be the statement “</a:t>
            </a:r>
            <a:r>
              <a:rPr lang="en-US" altLang="zh-CN" i="1" dirty="0" err="1">
                <a:latin typeface="Times New Roman" panose="02020503050405090304" pitchFamily="18" charset="0"/>
              </a:rPr>
              <a:t>x</a:t>
            </a:r>
            <a:r>
              <a:rPr lang="en-US" altLang="zh-CN" dirty="0" err="1">
                <a:latin typeface="Times New Roman" panose="02020503050405090304" pitchFamily="18" charset="0"/>
              </a:rPr>
              <a:t>+</a:t>
            </a:r>
            <a:r>
              <a:rPr lang="en-US" altLang="zh-CN" i="1" dirty="0" err="1">
                <a:latin typeface="Times New Roman" panose="02020503050405090304" pitchFamily="18" charset="0"/>
              </a:rPr>
              <a:t>y</a:t>
            </a:r>
            <a:r>
              <a:rPr lang="en-US" altLang="zh-CN" dirty="0">
                <a:latin typeface="Times New Roman" panose="02020503050405090304" pitchFamily="18" charset="0"/>
              </a:rPr>
              <a:t>=</a:t>
            </a:r>
            <a:r>
              <a:rPr lang="en-US" altLang="zh-CN" i="1" dirty="0" err="1">
                <a:latin typeface="Times New Roman" panose="02020503050405090304" pitchFamily="18" charset="0"/>
              </a:rPr>
              <a:t>y</a:t>
            </a:r>
            <a:r>
              <a:rPr lang="en-US" altLang="zh-CN" dirty="0" err="1">
                <a:latin typeface="Times New Roman" panose="02020503050405090304" pitchFamily="18" charset="0"/>
              </a:rPr>
              <a:t>+</a:t>
            </a:r>
            <a:r>
              <a:rPr lang="en-US" altLang="zh-CN" i="1" dirty="0" err="1">
                <a:latin typeface="Times New Roman" panose="02020503050405090304" pitchFamily="18" charset="0"/>
              </a:rPr>
              <a:t>x</a:t>
            </a:r>
            <a:r>
              <a:rPr lang="en-US" altLang="zh-CN" dirty="0">
                <a:latin typeface="Times New Roman" panose="02020503050405090304" pitchFamily="18" charset="0"/>
              </a:rPr>
              <a:t>”. what is the truth value of the quantification  </a:t>
            </a:r>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i="1"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rPr>
              <a:t>P(</a:t>
            </a:r>
            <a:r>
              <a:rPr lang="en-US" altLang="zh-CN" i="1" dirty="0" err="1">
                <a:latin typeface="Times New Roman" panose="02020503050405090304" pitchFamily="18" charset="0"/>
              </a:rPr>
              <a:t>x,y</a:t>
            </a:r>
            <a:r>
              <a:rPr lang="en-US" altLang="zh-CN" i="1" dirty="0">
                <a:latin typeface="Times New Roman" panose="02020503050405090304" pitchFamily="18" charset="0"/>
              </a:rPr>
              <a:t>)</a:t>
            </a:r>
            <a:r>
              <a:rPr lang="en-US" altLang="zh-CN" dirty="0">
                <a:latin typeface="Times New Roman" panose="02020503050405090304" pitchFamily="18" charset="0"/>
              </a:rPr>
              <a:t> ?</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Example 4</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Let </a:t>
            </a:r>
            <a:r>
              <a:rPr lang="en-US" altLang="zh-CN" i="1" dirty="0">
                <a:latin typeface="Times New Roman" panose="02020503050405090304" pitchFamily="18" charset="0"/>
              </a:rPr>
              <a:t>Q(</a:t>
            </a:r>
            <a:r>
              <a:rPr lang="en-US" altLang="zh-CN" i="1" dirty="0" err="1">
                <a:latin typeface="Times New Roman" panose="02020503050405090304" pitchFamily="18" charset="0"/>
              </a:rPr>
              <a:t>x,y</a:t>
            </a:r>
            <a:r>
              <a:rPr lang="en-US" altLang="zh-CN" i="1" dirty="0">
                <a:latin typeface="Times New Roman" panose="02020503050405090304" pitchFamily="18" charset="0"/>
              </a:rPr>
              <a:t>)</a:t>
            </a:r>
            <a:r>
              <a:rPr lang="en-US" altLang="zh-CN" dirty="0">
                <a:latin typeface="Times New Roman" panose="02020503050405090304" pitchFamily="18" charset="0"/>
              </a:rPr>
              <a:t> denote “</a:t>
            </a:r>
            <a:r>
              <a:rPr lang="en-US" altLang="zh-CN" i="1" dirty="0" err="1">
                <a:latin typeface="Times New Roman" panose="02020503050405090304" pitchFamily="18" charset="0"/>
              </a:rPr>
              <a:t>x</a:t>
            </a:r>
            <a:r>
              <a:rPr lang="en-US" altLang="zh-CN" dirty="0" err="1">
                <a:latin typeface="Times New Roman" panose="02020503050405090304" pitchFamily="18" charset="0"/>
              </a:rPr>
              <a:t>+</a:t>
            </a:r>
            <a:r>
              <a:rPr lang="en-US" altLang="zh-CN" i="1" dirty="0" err="1">
                <a:latin typeface="Times New Roman" panose="02020503050405090304" pitchFamily="18" charset="0"/>
              </a:rPr>
              <a:t>y</a:t>
            </a:r>
            <a:r>
              <a:rPr lang="en-US" altLang="zh-CN" dirty="0">
                <a:latin typeface="Times New Roman" panose="02020503050405090304" pitchFamily="18" charset="0"/>
              </a:rPr>
              <a:t>=0”. what are the truth values of the quantifications </a:t>
            </a:r>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rPr>
              <a:t>Q(</a:t>
            </a:r>
            <a:r>
              <a:rPr lang="en-US" altLang="zh-CN" i="1" dirty="0" err="1">
                <a:latin typeface="Times New Roman" panose="02020503050405090304" pitchFamily="18" charset="0"/>
              </a:rPr>
              <a:t>x,y</a:t>
            </a:r>
            <a:r>
              <a:rPr lang="en-US" altLang="zh-CN" i="1" dirty="0">
                <a:latin typeface="Times New Roman" panose="02020503050405090304" pitchFamily="18" charset="0"/>
              </a:rPr>
              <a:t>) </a:t>
            </a:r>
            <a:r>
              <a:rPr lang="en-US" altLang="zh-CN" dirty="0">
                <a:latin typeface="Times New Roman" panose="02020503050405090304" pitchFamily="18" charset="0"/>
              </a:rPr>
              <a:t>and </a:t>
            </a:r>
            <a:r>
              <a:rPr lang="en-US" altLang="zh-CN" dirty="0">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x</a:t>
            </a:r>
            <a:r>
              <a:rPr lang="en-US" altLang="zh-CN" dirty="0" err="1">
                <a:latin typeface="Times New Roman" panose="02020503050405090304" pitchFamily="18" charset="0"/>
                <a:sym typeface="Symbol" panose="05050102010706020507" pitchFamily="18" charset="2"/>
              </a:rPr>
              <a:t></a:t>
            </a:r>
            <a:r>
              <a:rPr lang="en-US" altLang="zh-CN" i="1" dirty="0" err="1">
                <a:latin typeface="Times New Roman" panose="02020503050405090304" pitchFamily="18" charset="0"/>
                <a:sym typeface="Symbol" panose="05050102010706020507" pitchFamily="18" charset="2"/>
              </a:rPr>
              <a:t>y</a:t>
            </a:r>
            <a:r>
              <a:rPr lang="en-US" altLang="zh-CN" i="1"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rPr>
              <a:t>Q(</a:t>
            </a:r>
            <a:r>
              <a:rPr lang="en-US" altLang="zh-CN" i="1" dirty="0" err="1">
                <a:latin typeface="Times New Roman" panose="02020503050405090304" pitchFamily="18" charset="0"/>
              </a:rPr>
              <a:t>x,y</a:t>
            </a:r>
            <a:r>
              <a:rPr lang="en-US" altLang="zh-CN" i="1" dirty="0">
                <a:latin typeface="Times New Roman" panose="02020503050405090304" pitchFamily="18" charset="0"/>
              </a:rPr>
              <a:t>)</a:t>
            </a:r>
            <a:r>
              <a:rPr lang="en-US" altLang="zh-CN" dirty="0">
                <a:latin typeface="Times New Roman" panose="02020503050405090304" pitchFamily="18" charset="0"/>
              </a:rPr>
              <a:t> ?</a:t>
            </a:r>
            <a:endParaRPr lang="en-US" altLang="zh-CN" dirty="0">
              <a:latin typeface="Times New Roman" panose="0202050305040509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BA900794-A765-40EF-BDF5-E5CA5CD3D30B}" type="slidenum">
              <a:rPr lang="zh-CN" altLang="en-US" smtClean="0"/>
            </a:fld>
            <a:endParaRPr lang="en-US" altLang="zh-CN"/>
          </a:p>
        </p:txBody>
      </p:sp>
      <p:sp>
        <p:nvSpPr>
          <p:cNvPr id="5" name="日期占位符 4"/>
          <p:cNvSpPr>
            <a:spLocks noGrp="1"/>
          </p:cNvSpPr>
          <p:nvPr>
            <p:ph type="dt" sz="half" idx="11"/>
          </p:nvPr>
        </p:nvSpPr>
        <p:spPr/>
        <p:txBody>
          <a:bodyPr/>
          <a:lstStyle/>
          <a:p>
            <a:pPr>
              <a:defRPr/>
            </a:pPr>
            <a:fld id="{28E950C8-FFB6-40E2-BC9B-1D9E00A6B1D1}"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r>
              <a:rPr lang="en-US" altLang="zh-CN"/>
              <a:t>School of Computer Science, BUPT</a:t>
            </a:r>
            <a:endParaRPr lang="zh-CN" altLang="en-US" dirty="0"/>
          </a:p>
        </p:txBody>
      </p:sp>
      <p:sp>
        <p:nvSpPr>
          <p:cNvPr id="9" name="文本框 8"/>
          <p:cNvSpPr txBox="1"/>
          <p:nvPr>
            <p:custDataLst>
              <p:tags r:id="rId1"/>
            </p:custDataLst>
          </p:nvPr>
        </p:nvSpPr>
        <p:spPr>
          <a:xfrm>
            <a:off x="990600" y="477724"/>
            <a:ext cx="7315200" cy="2001044"/>
          </a:xfrm>
          <a:prstGeom prst="rect">
            <a:avLst/>
          </a:prstGeom>
          <a:noFill/>
        </p:spPr>
        <p:txBody>
          <a:bodyPr vert="horz" wrap="square" rtlCol="0" anchor="ctr" anchorCtr="0">
            <a:noAutofit/>
          </a:bodyPr>
          <a:lstStyle/>
          <a:p>
            <a:pPr eaLnBrk="1" hangingPunct="1">
              <a:lnSpc>
                <a:spcPct val="90000"/>
              </a:lnSpc>
            </a:pPr>
            <a:r>
              <a:rPr lang="en-US" altLang="zh-CN" u="none" dirty="0"/>
              <a:t>Let U = R, the real </a:t>
            </a:r>
            <a:r>
              <a:rPr lang="en-US" altLang="zh-CN" u="none" dirty="0" err="1"/>
              <a:t>numbers,P</a:t>
            </a:r>
            <a:r>
              <a:rPr lang="en-US" altLang="zh-CN" u="none" dirty="0"/>
              <a:t>(</a:t>
            </a:r>
            <a:r>
              <a:rPr lang="en-US" altLang="zh-CN" u="none" dirty="0" err="1"/>
              <a:t>x,y</a:t>
            </a:r>
            <a:r>
              <a:rPr lang="en-US" altLang="zh-CN" u="none" dirty="0"/>
              <a:t>): </a:t>
            </a:r>
            <a:r>
              <a:rPr lang="en-US" altLang="zh-CN" u="none" dirty="0" err="1"/>
              <a:t>xy</a:t>
            </a:r>
            <a:r>
              <a:rPr lang="en-US" altLang="zh-CN" u="none" dirty="0"/>
              <a:t>= 0.Which of the following statements are true.</a:t>
            </a:r>
            <a:endParaRPr lang="en-US" altLang="zh-CN" u="none" dirty="0"/>
          </a:p>
        </p:txBody>
      </p:sp>
      <p:sp>
        <p:nvSpPr>
          <p:cNvPr id="10" name="文本框 9"/>
          <p:cNvSpPr txBox="1"/>
          <p:nvPr>
            <p:custDataLst>
              <p:tags r:id="rId2"/>
            </p:custDataLst>
          </p:nvPr>
        </p:nvSpPr>
        <p:spPr>
          <a:xfrm>
            <a:off x="1833637" y="2354716"/>
            <a:ext cx="6400800" cy="642938"/>
          </a:xfrm>
          <a:prstGeom prst="rect">
            <a:avLst/>
          </a:prstGeom>
          <a:noFill/>
        </p:spPr>
        <p:txBody>
          <a:bodyPr vert="horz" rtlCol="0" anchor="ctr" anchorCtr="0">
            <a:noAutofit/>
          </a:bodyPr>
          <a:lstStyle/>
          <a:p>
            <a:pPr lvl="1" eaLnBrk="1" hangingPunct="1">
              <a:lnSpc>
                <a:spcPct val="90000"/>
              </a:lnSpc>
            </a:pPr>
            <a:r>
              <a:rPr lang="en-US" altLang="zh-CN" u="none" dirty="0">
                <a:latin typeface="Symbol" panose="05050102010706020507" pitchFamily="18" charset="2"/>
              </a:rPr>
              <a:t>"</a:t>
            </a:r>
            <a:r>
              <a:rPr lang="en-US" altLang="zh-CN" u="none" dirty="0" err="1"/>
              <a:t>x</a:t>
            </a:r>
            <a:r>
              <a:rPr lang="en-US" altLang="zh-CN" u="none" dirty="0" err="1">
                <a:latin typeface="Symbol" panose="05050102010706020507" pitchFamily="18" charset="2"/>
              </a:rPr>
              <a:t>"</a:t>
            </a:r>
            <a:r>
              <a:rPr lang="en-US" altLang="zh-CN" u="none" dirty="0" err="1"/>
              <a:t>yP</a:t>
            </a:r>
            <a:r>
              <a:rPr lang="en-US" altLang="zh-CN" u="none" dirty="0"/>
              <a:t>(x, y)</a:t>
            </a:r>
            <a:endParaRPr lang="en-US" altLang="zh-CN" u="none" dirty="0"/>
          </a:p>
        </p:txBody>
      </p:sp>
      <p:sp>
        <p:nvSpPr>
          <p:cNvPr id="11" name="文本框 10"/>
          <p:cNvSpPr txBox="1"/>
          <p:nvPr>
            <p:custDataLst>
              <p:tags r:id="rId3"/>
            </p:custDataLst>
          </p:nvPr>
        </p:nvSpPr>
        <p:spPr>
          <a:xfrm>
            <a:off x="1833637" y="3211966"/>
            <a:ext cx="6400800" cy="642938"/>
          </a:xfrm>
          <a:prstGeom prst="rect">
            <a:avLst/>
          </a:prstGeom>
          <a:noFill/>
        </p:spPr>
        <p:txBody>
          <a:bodyPr vert="horz" rtlCol="0" anchor="ctr" anchorCtr="0">
            <a:noAutofit/>
          </a:bodyPr>
          <a:lstStyle/>
          <a:p>
            <a:pPr lvl="1" eaLnBrk="1" hangingPunct="1">
              <a:lnSpc>
                <a:spcPct val="90000"/>
              </a:lnSpc>
            </a:pPr>
            <a:r>
              <a:rPr lang="en-US" altLang="zh-CN" u="none" dirty="0">
                <a:latin typeface="Symbol" panose="05050102010706020507" pitchFamily="18" charset="2"/>
              </a:rPr>
              <a:t>"</a:t>
            </a:r>
            <a:r>
              <a:rPr lang="en-US" altLang="zh-CN" u="none" dirty="0" err="1"/>
              <a:t>x</a:t>
            </a:r>
            <a:r>
              <a:rPr lang="en-US" altLang="zh-CN" u="none" dirty="0" err="1">
                <a:latin typeface="Symbol" panose="05050102010706020507" pitchFamily="18" charset="2"/>
              </a:rPr>
              <a:t>$</a:t>
            </a:r>
            <a:r>
              <a:rPr lang="en-US" altLang="zh-CN" u="none" dirty="0" err="1"/>
              <a:t>yP</a:t>
            </a:r>
            <a:r>
              <a:rPr lang="en-US" altLang="zh-CN" u="none" dirty="0"/>
              <a:t>(x, y)</a:t>
            </a:r>
            <a:endParaRPr lang="en-US" altLang="zh-CN" u="none" dirty="0"/>
          </a:p>
        </p:txBody>
      </p:sp>
      <p:sp>
        <p:nvSpPr>
          <p:cNvPr id="12" name="文本框 11"/>
          <p:cNvSpPr txBox="1"/>
          <p:nvPr>
            <p:custDataLst>
              <p:tags r:id="rId4"/>
            </p:custDataLst>
          </p:nvPr>
        </p:nvSpPr>
        <p:spPr>
          <a:xfrm>
            <a:off x="1833637" y="4069216"/>
            <a:ext cx="6400800" cy="642938"/>
          </a:xfrm>
          <a:prstGeom prst="rect">
            <a:avLst/>
          </a:prstGeom>
          <a:noFill/>
        </p:spPr>
        <p:txBody>
          <a:bodyPr vert="horz" rtlCol="0" anchor="ctr" anchorCtr="0">
            <a:noAutofit/>
          </a:bodyPr>
          <a:lstStyle/>
          <a:p>
            <a:pPr lvl="1" eaLnBrk="1" hangingPunct="1">
              <a:lnSpc>
                <a:spcPct val="90000"/>
              </a:lnSpc>
            </a:pPr>
            <a:r>
              <a:rPr lang="en-US" altLang="zh-CN" u="none" dirty="0">
                <a:latin typeface="Symbol" panose="05050102010706020507" pitchFamily="18" charset="2"/>
              </a:rPr>
              <a:t>$</a:t>
            </a:r>
            <a:r>
              <a:rPr lang="en-US" altLang="zh-CN" u="none" dirty="0" err="1"/>
              <a:t>x</a:t>
            </a:r>
            <a:r>
              <a:rPr lang="en-US" altLang="zh-CN" u="none" dirty="0" err="1">
                <a:latin typeface="Symbol" panose="05050102010706020507" pitchFamily="18" charset="2"/>
              </a:rPr>
              <a:t>"</a:t>
            </a:r>
            <a:r>
              <a:rPr lang="en-US" altLang="zh-CN" u="none" dirty="0" err="1"/>
              <a:t>yP</a:t>
            </a:r>
            <a:r>
              <a:rPr lang="en-US" altLang="zh-CN" u="none" dirty="0"/>
              <a:t>(x, y)</a:t>
            </a:r>
            <a:endParaRPr lang="en-US" altLang="zh-CN" u="none" dirty="0"/>
          </a:p>
        </p:txBody>
      </p:sp>
      <p:sp>
        <p:nvSpPr>
          <p:cNvPr id="13" name="文本框 12"/>
          <p:cNvSpPr txBox="1"/>
          <p:nvPr>
            <p:custDataLst>
              <p:tags r:id="rId5"/>
            </p:custDataLst>
          </p:nvPr>
        </p:nvSpPr>
        <p:spPr>
          <a:xfrm>
            <a:off x="1833637" y="4926466"/>
            <a:ext cx="6400800" cy="642938"/>
          </a:xfrm>
          <a:prstGeom prst="rect">
            <a:avLst/>
          </a:prstGeom>
          <a:noFill/>
        </p:spPr>
        <p:txBody>
          <a:bodyPr vert="horz" rtlCol="0" anchor="ctr" anchorCtr="0">
            <a:noAutofit/>
          </a:bodyPr>
          <a:lstStyle/>
          <a:p>
            <a:pPr lvl="1" eaLnBrk="1" hangingPunct="1">
              <a:lnSpc>
                <a:spcPct val="90000"/>
              </a:lnSpc>
            </a:pPr>
            <a:r>
              <a:rPr lang="en-US" altLang="zh-CN" u="none" dirty="0">
                <a:latin typeface="Symbol" panose="05050102010706020507" pitchFamily="18" charset="2"/>
              </a:rPr>
              <a:t>$</a:t>
            </a:r>
            <a:r>
              <a:rPr lang="en-US" altLang="zh-CN" u="none" dirty="0" err="1"/>
              <a:t>x</a:t>
            </a:r>
            <a:r>
              <a:rPr lang="en-US" altLang="zh-CN" u="none" dirty="0" err="1">
                <a:latin typeface="Symbol" panose="05050102010706020507" pitchFamily="18" charset="2"/>
              </a:rPr>
              <a:t>$</a:t>
            </a:r>
            <a:r>
              <a:rPr lang="en-US" altLang="zh-CN" u="none" dirty="0" err="1"/>
              <a:t>yP</a:t>
            </a:r>
            <a:r>
              <a:rPr lang="en-US" altLang="zh-CN" u="none" dirty="0"/>
              <a:t>(x, y)</a:t>
            </a:r>
            <a:endParaRPr lang="en-US" altLang="zh-CN" u="none" dirty="0"/>
          </a:p>
        </p:txBody>
      </p:sp>
      <p:sp>
        <p:nvSpPr>
          <p:cNvPr id="14" name="矩形 13"/>
          <p:cNvSpPr>
            <a:spLocks noChangeAspect="1"/>
          </p:cNvSpPr>
          <p:nvPr>
            <p:custDataLst>
              <p:tags r:id="rId6"/>
            </p:custDataLst>
          </p:nvPr>
        </p:nvSpPr>
        <p:spPr bwMode="auto">
          <a:xfrm>
            <a:off x="1119262" y="2419009"/>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algn="ctr" defTabSz="914400" rtl="0" eaLnBrk="0" fontAlgn="base" latinLnBrk="0" hangingPunct="0">
              <a:lnSpc>
                <a:spcPct val="100000"/>
              </a:lnSpc>
              <a:spcBef>
                <a:spcPct val="0"/>
              </a:spcBef>
              <a:spcAft>
                <a:spcPct val="0"/>
              </a:spcAft>
              <a:buClrTx/>
              <a:buSzTx/>
              <a:buFontTx/>
              <a:buNone/>
            </a:pPr>
            <a:r>
              <a:rPr kumimoji="1" lang="en-US" altLang="zh-CN" sz="1600" b="1" i="1" u="none" strike="noStrike" cap="none" normalizeH="0" baseline="0">
                <a:ln>
                  <a:noFill/>
                </a:ln>
                <a:solidFill>
                  <a:srgbClr val="FFFFFF"/>
                </a:solidFill>
                <a:effectLst/>
                <a:latin typeface="微软雅黑" charset="-122"/>
                <a:ea typeface="微软雅黑" charset="-122"/>
                <a:sym typeface="微软雅黑" charset="-122"/>
              </a:rPr>
              <a:t>A</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sp>
        <p:nvSpPr>
          <p:cNvPr id="15" name="矩形 14"/>
          <p:cNvSpPr>
            <a:spLocks noChangeAspect="1"/>
          </p:cNvSpPr>
          <p:nvPr>
            <p:custDataLst>
              <p:tags r:id="rId7"/>
            </p:custDataLst>
          </p:nvPr>
        </p:nvSpPr>
        <p:spPr bwMode="auto">
          <a:xfrm>
            <a:off x="1119262" y="3276259"/>
            <a:ext cx="514350" cy="514350"/>
          </a:xfrm>
          <a:prstGeom prst="rect">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algn="ctr" defTabSz="914400" rtl="0" eaLnBrk="0" fontAlgn="base" latinLnBrk="0" hangingPunct="0">
              <a:lnSpc>
                <a:spcPct val="100000"/>
              </a:lnSpc>
              <a:spcBef>
                <a:spcPct val="0"/>
              </a:spcBef>
              <a:spcAft>
                <a:spcPct val="0"/>
              </a:spcAft>
              <a:buClrTx/>
              <a:buSzTx/>
              <a:buFontTx/>
              <a:buNone/>
            </a:pPr>
            <a:r>
              <a:rPr kumimoji="1" lang="en-US" altLang="zh-CN" sz="1600" b="1" i="1" u="none" strike="noStrike" cap="none" normalizeH="0" baseline="0">
                <a:ln>
                  <a:noFill/>
                </a:ln>
                <a:solidFill>
                  <a:srgbClr val="FFFFFF"/>
                </a:solidFill>
                <a:effectLst/>
                <a:latin typeface="微软雅黑" charset="-122"/>
                <a:ea typeface="微软雅黑" charset="-122"/>
                <a:sym typeface="微软雅黑" charset="-122"/>
              </a:rPr>
              <a:t>B</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sp>
        <p:nvSpPr>
          <p:cNvPr id="16" name="矩形 15"/>
          <p:cNvSpPr>
            <a:spLocks noChangeAspect="1"/>
          </p:cNvSpPr>
          <p:nvPr>
            <p:custDataLst>
              <p:tags r:id="rId8"/>
            </p:custDataLst>
          </p:nvPr>
        </p:nvSpPr>
        <p:spPr bwMode="auto">
          <a:xfrm>
            <a:off x="1119262" y="4133509"/>
            <a:ext cx="514350" cy="514350"/>
          </a:xfrm>
          <a:prstGeom prst="rect">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algn="ctr" defTabSz="914400" rtl="0" eaLnBrk="0" fontAlgn="base" latinLnBrk="0" hangingPunct="0">
              <a:lnSpc>
                <a:spcPct val="100000"/>
              </a:lnSpc>
              <a:spcBef>
                <a:spcPct val="0"/>
              </a:spcBef>
              <a:spcAft>
                <a:spcPct val="0"/>
              </a:spcAft>
              <a:buClrTx/>
              <a:buSzTx/>
              <a:buFontTx/>
              <a:buNone/>
            </a:pPr>
            <a:r>
              <a:rPr kumimoji="1" lang="en-US" altLang="zh-CN" sz="1600" b="1" i="1" u="none" strike="noStrike" cap="none" normalizeH="0" baseline="0">
                <a:ln>
                  <a:noFill/>
                </a:ln>
                <a:solidFill>
                  <a:srgbClr val="FFFFFF"/>
                </a:solidFill>
                <a:effectLst/>
                <a:latin typeface="微软雅黑" charset="-122"/>
                <a:ea typeface="微软雅黑" charset="-122"/>
                <a:sym typeface="微软雅黑" charset="-122"/>
              </a:rPr>
              <a:t>C</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sp>
        <p:nvSpPr>
          <p:cNvPr id="17" name="矩形 16"/>
          <p:cNvSpPr>
            <a:spLocks noChangeAspect="1"/>
          </p:cNvSpPr>
          <p:nvPr>
            <p:custDataLst>
              <p:tags r:id="rId9"/>
            </p:custDataLst>
          </p:nvPr>
        </p:nvSpPr>
        <p:spPr bwMode="auto">
          <a:xfrm>
            <a:off x="1119262" y="4990759"/>
            <a:ext cx="514350" cy="514350"/>
          </a:xfrm>
          <a:prstGeom prst="rect">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algn="ctr" defTabSz="914400" rtl="0" eaLnBrk="0" fontAlgn="base" latinLnBrk="0" hangingPunct="0">
              <a:lnSpc>
                <a:spcPct val="100000"/>
              </a:lnSpc>
              <a:spcBef>
                <a:spcPct val="0"/>
              </a:spcBef>
              <a:spcAft>
                <a:spcPct val="0"/>
              </a:spcAft>
              <a:buClrTx/>
              <a:buSzTx/>
              <a:buFontTx/>
              <a:buNone/>
            </a:pPr>
            <a:r>
              <a:rPr kumimoji="1" lang="en-US" altLang="zh-CN" sz="1600" b="1" i="1" u="none" strike="noStrike" cap="none" normalizeH="0" baseline="0">
                <a:ln>
                  <a:noFill/>
                </a:ln>
                <a:solidFill>
                  <a:srgbClr val="FFFFFF"/>
                </a:solidFill>
                <a:effectLst/>
                <a:latin typeface="微软雅黑" charset="-122"/>
                <a:ea typeface="微软雅黑" charset="-122"/>
                <a:sym typeface="微软雅黑" charset="-122"/>
              </a:rPr>
              <a:t>D</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sp>
        <p:nvSpPr>
          <p:cNvPr id="18" name="矩形: 圆角 17"/>
          <p:cNvSpPr/>
          <p:nvPr>
            <p:custDataLst>
              <p:tags r:id="rId10"/>
            </p:custDataLst>
          </p:nvPr>
        </p:nvSpPr>
        <p:spPr bwMode="auto">
          <a:xfrm>
            <a:off x="6177037" y="5783716"/>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rPr>
              <a:t>提交</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grpSp>
        <p:nvGrpSpPr>
          <p:cNvPr id="23" name="组合 22"/>
          <p:cNvGrpSpPr/>
          <p:nvPr>
            <p:custDataLst>
              <p:tags r:id="rId11"/>
            </p:custDataLst>
          </p:nvPr>
        </p:nvGrpSpPr>
        <p:grpSpPr>
          <a:xfrm>
            <a:off x="0" y="0"/>
            <a:ext cx="9144000" cy="635000"/>
            <a:chOff x="0" y="0"/>
            <a:chExt cx="9144000" cy="635000"/>
          </a:xfrm>
        </p:grpSpPr>
        <p:sp>
          <p:nvSpPr>
            <p:cNvPr id="19" name="TitleBackground"/>
            <p:cNvSpPr/>
            <p:nvPr>
              <p:custDataLst>
                <p:tags r:id="rId12"/>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1" lang="zh-CN" altLang="en-US" sz="2400" b="1" i="1" u="sng" strike="noStrike" cap="none" normalizeH="0" baseline="0">
                <a:ln>
                  <a:noFill/>
                </a:ln>
                <a:solidFill>
                  <a:schemeClr val="tx1"/>
                </a:solidFill>
                <a:effectLst/>
                <a:latin typeface="Times New Roman" panose="02020503050405090304" pitchFamily="18" charset="0"/>
                <a:ea typeface="宋体" pitchFamily="2" charset="-122"/>
              </a:endParaRPr>
            </a:p>
          </p:txBody>
        </p:sp>
        <p:sp>
          <p:nvSpPr>
            <p:cNvPr id="20" name="ColorBlock"/>
            <p:cNvSpPr/>
            <p:nvPr>
              <p:custDataLst>
                <p:tags r:id="rId13"/>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1" lang="zh-CN" altLang="en-US" sz="2400" b="1" i="1" u="sng" strike="noStrike" cap="none" normalizeH="0" baseline="0">
                <a:ln>
                  <a:noFill/>
                </a:ln>
                <a:solidFill>
                  <a:schemeClr val="tx1"/>
                </a:solidFill>
                <a:effectLst/>
                <a:latin typeface="Times New Roman" panose="02020503050405090304" pitchFamily="18" charset="0"/>
                <a:ea typeface="宋体" pitchFamily="2" charset="-122"/>
              </a:endParaRPr>
            </a:p>
          </p:txBody>
        </p:sp>
        <p:sp>
          <p:nvSpPr>
            <p:cNvPr id="21"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charset="-122"/>
                  <a:ea typeface="微软雅黑" charset="-122"/>
                  <a:sym typeface="微软雅黑" charset="-122"/>
                </a:rPr>
                <a:t>多选题</a:t>
              </a:r>
              <a:endParaRPr lang="zh-CN" altLang="en-US" sz="2600">
                <a:solidFill>
                  <a:srgbClr val="000000"/>
                </a:solidFill>
                <a:latin typeface="微软雅黑" charset="-122"/>
                <a:ea typeface="微软雅黑" charset="-122"/>
                <a:sym typeface="微软雅黑" charset="-122"/>
              </a:endParaRPr>
            </a:p>
          </p:txBody>
        </p:sp>
        <p:sp>
          <p:nvSpPr>
            <p:cNvPr id="22" name="TipText"/>
            <p:cNvSpPr txBox="1"/>
            <p:nvPr>
              <p:custDataLst>
                <p:tags r:id="rId15"/>
              </p:custDataLst>
            </p:nvPr>
          </p:nvSpPr>
          <p:spPr>
            <a:xfrm>
              <a:off x="150431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charset="-122"/>
                  <a:ea typeface="微软雅黑" charset="-122"/>
                  <a:sym typeface="微软雅黑" charset="-122"/>
                </a:rPr>
                <a:t>1</a:t>
              </a:r>
              <a:r>
                <a:rPr lang="zh-CN" altLang="en-US" sz="2000">
                  <a:solidFill>
                    <a:srgbClr val="808080"/>
                  </a:solidFill>
                  <a:latin typeface="微软雅黑" charset="-122"/>
                  <a:ea typeface="微软雅黑" charset="-122"/>
                  <a:sym typeface="微软雅黑" charset="-122"/>
                </a:rPr>
                <a:t>分</a:t>
              </a:r>
              <a:endParaRPr lang="zh-CN" altLang="en-US" sz="2000">
                <a:solidFill>
                  <a:srgbClr val="808080"/>
                </a:solidFill>
                <a:latin typeface="微软雅黑" charset="-122"/>
                <a:ea typeface="微软雅黑" charset="-122"/>
                <a:sym typeface="微软雅黑" charset="-122"/>
              </a:endParaRPr>
            </a:p>
          </p:txBody>
        </p:sp>
      </p:grpSp>
      <p:pic>
        <p:nvPicPr>
          <p:cNvPr id="8" name="图片 7"/>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BA900794-A765-40EF-BDF5-E5CA5CD3D30B}" type="slidenum">
              <a:rPr lang="zh-CN" altLang="en-US" smtClean="0"/>
            </a:fld>
            <a:endParaRPr lang="en-US" altLang="zh-CN"/>
          </a:p>
        </p:txBody>
      </p:sp>
      <p:sp>
        <p:nvSpPr>
          <p:cNvPr id="5" name="日期占位符 4"/>
          <p:cNvSpPr>
            <a:spLocks noGrp="1"/>
          </p:cNvSpPr>
          <p:nvPr>
            <p:ph type="dt" sz="half" idx="11"/>
          </p:nvPr>
        </p:nvSpPr>
        <p:spPr/>
        <p:txBody>
          <a:bodyPr/>
          <a:lstStyle/>
          <a:p>
            <a:pPr>
              <a:defRPr/>
            </a:pPr>
            <a:fld id="{28E950C8-FFB6-40E2-BC9B-1D9E00A6B1D1}"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r>
              <a:rPr lang="en-US" altLang="zh-CN"/>
              <a:t>School of Computer Science, BUPT</a:t>
            </a:r>
            <a:endParaRPr lang="zh-CN" altLang="en-US" dirty="0"/>
          </a:p>
        </p:txBody>
      </p:sp>
      <p:sp>
        <p:nvSpPr>
          <p:cNvPr id="9" name="文本框 8"/>
          <p:cNvSpPr txBox="1"/>
          <p:nvPr>
            <p:custDataLst>
              <p:tags r:id="rId1"/>
            </p:custDataLst>
          </p:nvPr>
        </p:nvSpPr>
        <p:spPr>
          <a:xfrm>
            <a:off x="990600" y="477724"/>
            <a:ext cx="7315200" cy="2001044"/>
          </a:xfrm>
          <a:prstGeom prst="rect">
            <a:avLst/>
          </a:prstGeom>
          <a:noFill/>
        </p:spPr>
        <p:txBody>
          <a:bodyPr vert="horz" wrap="square" rtlCol="0" anchor="ctr" anchorCtr="0">
            <a:noAutofit/>
          </a:bodyPr>
          <a:lstStyle/>
          <a:p>
            <a:pPr eaLnBrk="1" hangingPunct="1">
              <a:lnSpc>
                <a:spcPct val="90000"/>
              </a:lnSpc>
            </a:pPr>
            <a:r>
              <a:rPr lang="en-US" altLang="zh-CN" u="none" dirty="0"/>
              <a:t>Let U = R, the real </a:t>
            </a:r>
            <a:r>
              <a:rPr lang="en-US" altLang="zh-CN" u="none" dirty="0" err="1"/>
              <a:t>numbers,P</a:t>
            </a:r>
            <a:r>
              <a:rPr lang="en-US" altLang="zh-CN" u="none" dirty="0"/>
              <a:t>(</a:t>
            </a:r>
            <a:r>
              <a:rPr lang="en-US" altLang="zh-CN" u="none" dirty="0" err="1"/>
              <a:t>x,y</a:t>
            </a:r>
            <a:r>
              <a:rPr lang="en-US" altLang="zh-CN" u="none" dirty="0"/>
              <a:t>): </a:t>
            </a:r>
            <a:r>
              <a:rPr lang="en-US" altLang="zh-CN" dirty="0"/>
              <a:t>x/y=1</a:t>
            </a:r>
            <a:r>
              <a:rPr lang="en-US" altLang="zh-CN" u="none" dirty="0"/>
              <a:t>.Which of the following statements are true.</a:t>
            </a:r>
            <a:endParaRPr lang="en-US" altLang="zh-CN" u="none" dirty="0"/>
          </a:p>
        </p:txBody>
      </p:sp>
      <p:sp>
        <p:nvSpPr>
          <p:cNvPr id="10" name="文本框 9"/>
          <p:cNvSpPr txBox="1"/>
          <p:nvPr>
            <p:custDataLst>
              <p:tags r:id="rId2"/>
            </p:custDataLst>
          </p:nvPr>
        </p:nvSpPr>
        <p:spPr>
          <a:xfrm>
            <a:off x="1833637" y="2354716"/>
            <a:ext cx="6400800" cy="642938"/>
          </a:xfrm>
          <a:prstGeom prst="rect">
            <a:avLst/>
          </a:prstGeom>
          <a:noFill/>
        </p:spPr>
        <p:txBody>
          <a:bodyPr vert="horz" rtlCol="0" anchor="ctr" anchorCtr="0">
            <a:noAutofit/>
          </a:bodyPr>
          <a:lstStyle/>
          <a:p>
            <a:pPr lvl="1" eaLnBrk="1" hangingPunct="1">
              <a:lnSpc>
                <a:spcPct val="90000"/>
              </a:lnSpc>
            </a:pPr>
            <a:r>
              <a:rPr lang="en-US" altLang="zh-CN" u="none" dirty="0">
                <a:latin typeface="Symbol" panose="05050102010706020507" pitchFamily="18" charset="2"/>
              </a:rPr>
              <a:t>"</a:t>
            </a:r>
            <a:r>
              <a:rPr lang="en-US" altLang="zh-CN" u="none" dirty="0" err="1"/>
              <a:t>x</a:t>
            </a:r>
            <a:r>
              <a:rPr lang="en-US" altLang="zh-CN" u="none" dirty="0" err="1">
                <a:latin typeface="Symbol" panose="05050102010706020507" pitchFamily="18" charset="2"/>
              </a:rPr>
              <a:t>"</a:t>
            </a:r>
            <a:r>
              <a:rPr lang="en-US" altLang="zh-CN" u="none" dirty="0" err="1"/>
              <a:t>yP</a:t>
            </a:r>
            <a:r>
              <a:rPr lang="en-US" altLang="zh-CN" u="none" dirty="0"/>
              <a:t>(x, y)</a:t>
            </a:r>
            <a:endParaRPr lang="en-US" altLang="zh-CN" u="none" dirty="0"/>
          </a:p>
        </p:txBody>
      </p:sp>
      <p:sp>
        <p:nvSpPr>
          <p:cNvPr id="11" name="文本框 10"/>
          <p:cNvSpPr txBox="1"/>
          <p:nvPr>
            <p:custDataLst>
              <p:tags r:id="rId3"/>
            </p:custDataLst>
          </p:nvPr>
        </p:nvSpPr>
        <p:spPr>
          <a:xfrm>
            <a:off x="1833637" y="3211966"/>
            <a:ext cx="6400800" cy="642938"/>
          </a:xfrm>
          <a:prstGeom prst="rect">
            <a:avLst/>
          </a:prstGeom>
          <a:noFill/>
        </p:spPr>
        <p:txBody>
          <a:bodyPr vert="horz" rtlCol="0" anchor="ctr" anchorCtr="0">
            <a:noAutofit/>
          </a:bodyPr>
          <a:lstStyle/>
          <a:p>
            <a:pPr lvl="1" eaLnBrk="1" hangingPunct="1">
              <a:lnSpc>
                <a:spcPct val="90000"/>
              </a:lnSpc>
            </a:pPr>
            <a:r>
              <a:rPr lang="en-US" altLang="zh-CN" u="none" dirty="0">
                <a:latin typeface="Symbol" panose="05050102010706020507" pitchFamily="18" charset="2"/>
              </a:rPr>
              <a:t>"</a:t>
            </a:r>
            <a:r>
              <a:rPr lang="en-US" altLang="zh-CN" u="none" dirty="0" err="1"/>
              <a:t>x</a:t>
            </a:r>
            <a:r>
              <a:rPr lang="en-US" altLang="zh-CN" u="none" dirty="0" err="1">
                <a:latin typeface="Symbol" panose="05050102010706020507" pitchFamily="18" charset="2"/>
              </a:rPr>
              <a:t>$</a:t>
            </a:r>
            <a:r>
              <a:rPr lang="en-US" altLang="zh-CN" u="none" dirty="0" err="1"/>
              <a:t>yP</a:t>
            </a:r>
            <a:r>
              <a:rPr lang="en-US" altLang="zh-CN" u="none" dirty="0"/>
              <a:t>(x, y)</a:t>
            </a:r>
            <a:endParaRPr lang="en-US" altLang="zh-CN" u="none" dirty="0"/>
          </a:p>
        </p:txBody>
      </p:sp>
      <p:sp>
        <p:nvSpPr>
          <p:cNvPr id="12" name="文本框 11"/>
          <p:cNvSpPr txBox="1"/>
          <p:nvPr>
            <p:custDataLst>
              <p:tags r:id="rId4"/>
            </p:custDataLst>
          </p:nvPr>
        </p:nvSpPr>
        <p:spPr>
          <a:xfrm>
            <a:off x="1833637" y="4069216"/>
            <a:ext cx="6400800" cy="642938"/>
          </a:xfrm>
          <a:prstGeom prst="rect">
            <a:avLst/>
          </a:prstGeom>
          <a:noFill/>
        </p:spPr>
        <p:txBody>
          <a:bodyPr vert="horz" rtlCol="0" anchor="ctr" anchorCtr="0">
            <a:noAutofit/>
          </a:bodyPr>
          <a:lstStyle/>
          <a:p>
            <a:pPr lvl="1" eaLnBrk="1" hangingPunct="1">
              <a:lnSpc>
                <a:spcPct val="90000"/>
              </a:lnSpc>
            </a:pPr>
            <a:r>
              <a:rPr lang="en-US" altLang="zh-CN" u="none" dirty="0">
                <a:latin typeface="Symbol" panose="05050102010706020507" pitchFamily="18" charset="2"/>
              </a:rPr>
              <a:t>$</a:t>
            </a:r>
            <a:r>
              <a:rPr lang="en-US" altLang="zh-CN" u="none" dirty="0" err="1"/>
              <a:t>x</a:t>
            </a:r>
            <a:r>
              <a:rPr lang="en-US" altLang="zh-CN" u="none" dirty="0" err="1">
                <a:latin typeface="Symbol" panose="05050102010706020507" pitchFamily="18" charset="2"/>
              </a:rPr>
              <a:t>"</a:t>
            </a:r>
            <a:r>
              <a:rPr lang="en-US" altLang="zh-CN" u="none" dirty="0" err="1"/>
              <a:t>yP</a:t>
            </a:r>
            <a:r>
              <a:rPr lang="en-US" altLang="zh-CN" u="none" dirty="0"/>
              <a:t>(x, y)</a:t>
            </a:r>
            <a:endParaRPr lang="en-US" altLang="zh-CN" u="none" dirty="0"/>
          </a:p>
        </p:txBody>
      </p:sp>
      <p:sp>
        <p:nvSpPr>
          <p:cNvPr id="13" name="文本框 12"/>
          <p:cNvSpPr txBox="1"/>
          <p:nvPr>
            <p:custDataLst>
              <p:tags r:id="rId5"/>
            </p:custDataLst>
          </p:nvPr>
        </p:nvSpPr>
        <p:spPr>
          <a:xfrm>
            <a:off x="1833637" y="4926466"/>
            <a:ext cx="6400800" cy="642938"/>
          </a:xfrm>
          <a:prstGeom prst="rect">
            <a:avLst/>
          </a:prstGeom>
          <a:noFill/>
        </p:spPr>
        <p:txBody>
          <a:bodyPr vert="horz" rtlCol="0" anchor="ctr" anchorCtr="0">
            <a:noAutofit/>
          </a:bodyPr>
          <a:lstStyle/>
          <a:p>
            <a:pPr lvl="1" eaLnBrk="1" hangingPunct="1">
              <a:lnSpc>
                <a:spcPct val="90000"/>
              </a:lnSpc>
            </a:pPr>
            <a:r>
              <a:rPr lang="en-US" altLang="zh-CN" u="none" dirty="0">
                <a:latin typeface="Symbol" panose="05050102010706020507" pitchFamily="18" charset="2"/>
              </a:rPr>
              <a:t>$</a:t>
            </a:r>
            <a:r>
              <a:rPr lang="en-US" altLang="zh-CN" u="none" dirty="0" err="1"/>
              <a:t>x</a:t>
            </a:r>
            <a:r>
              <a:rPr lang="en-US" altLang="zh-CN" u="none" dirty="0" err="1">
                <a:latin typeface="Symbol" panose="05050102010706020507" pitchFamily="18" charset="2"/>
              </a:rPr>
              <a:t>$</a:t>
            </a:r>
            <a:r>
              <a:rPr lang="en-US" altLang="zh-CN" u="none" dirty="0" err="1"/>
              <a:t>yP</a:t>
            </a:r>
            <a:r>
              <a:rPr lang="en-US" altLang="zh-CN" u="none" dirty="0"/>
              <a:t>(x, y)</a:t>
            </a:r>
            <a:endParaRPr lang="en-US" altLang="zh-CN" u="none" dirty="0"/>
          </a:p>
        </p:txBody>
      </p:sp>
      <p:sp>
        <p:nvSpPr>
          <p:cNvPr id="14" name="矩形 13"/>
          <p:cNvSpPr>
            <a:spLocks noChangeAspect="1"/>
          </p:cNvSpPr>
          <p:nvPr>
            <p:custDataLst>
              <p:tags r:id="rId6"/>
            </p:custDataLst>
          </p:nvPr>
        </p:nvSpPr>
        <p:spPr bwMode="auto">
          <a:xfrm>
            <a:off x="1119262" y="2419009"/>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algn="ctr" defTabSz="914400" rtl="0" eaLnBrk="0" fontAlgn="base" latinLnBrk="0" hangingPunct="0">
              <a:lnSpc>
                <a:spcPct val="100000"/>
              </a:lnSpc>
              <a:spcBef>
                <a:spcPct val="0"/>
              </a:spcBef>
              <a:spcAft>
                <a:spcPct val="0"/>
              </a:spcAft>
              <a:buClrTx/>
              <a:buSzTx/>
              <a:buFontTx/>
              <a:buNone/>
            </a:pPr>
            <a:r>
              <a:rPr kumimoji="1" lang="en-US" altLang="zh-CN" sz="1600" b="1" i="1" u="none" strike="noStrike" cap="none" normalizeH="0" baseline="0">
                <a:ln>
                  <a:noFill/>
                </a:ln>
                <a:solidFill>
                  <a:srgbClr val="FFFFFF"/>
                </a:solidFill>
                <a:effectLst/>
                <a:latin typeface="微软雅黑" charset="-122"/>
                <a:ea typeface="微软雅黑" charset="-122"/>
                <a:sym typeface="微软雅黑" charset="-122"/>
              </a:rPr>
              <a:t>A</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sp>
        <p:nvSpPr>
          <p:cNvPr id="15" name="矩形 14"/>
          <p:cNvSpPr>
            <a:spLocks noChangeAspect="1"/>
          </p:cNvSpPr>
          <p:nvPr>
            <p:custDataLst>
              <p:tags r:id="rId7"/>
            </p:custDataLst>
          </p:nvPr>
        </p:nvSpPr>
        <p:spPr bwMode="auto">
          <a:xfrm>
            <a:off x="1119262" y="3276259"/>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algn="ctr" defTabSz="914400" rtl="0" eaLnBrk="0" fontAlgn="base" latinLnBrk="0" hangingPunct="0">
              <a:lnSpc>
                <a:spcPct val="100000"/>
              </a:lnSpc>
              <a:spcBef>
                <a:spcPct val="0"/>
              </a:spcBef>
              <a:spcAft>
                <a:spcPct val="0"/>
              </a:spcAft>
              <a:buClrTx/>
              <a:buSzTx/>
              <a:buFontTx/>
              <a:buNone/>
            </a:pPr>
            <a:r>
              <a:rPr kumimoji="1" lang="en-US" altLang="zh-CN" sz="1600" b="1" i="1" u="none" strike="noStrike" cap="none" normalizeH="0" baseline="0">
                <a:ln>
                  <a:noFill/>
                </a:ln>
                <a:solidFill>
                  <a:srgbClr val="FFFFFF"/>
                </a:solidFill>
                <a:effectLst/>
                <a:latin typeface="微软雅黑" charset="-122"/>
                <a:ea typeface="微软雅黑" charset="-122"/>
                <a:sym typeface="微软雅黑" charset="-122"/>
              </a:rPr>
              <a:t>B</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sp>
        <p:nvSpPr>
          <p:cNvPr id="16" name="矩形 15"/>
          <p:cNvSpPr>
            <a:spLocks noChangeAspect="1"/>
          </p:cNvSpPr>
          <p:nvPr>
            <p:custDataLst>
              <p:tags r:id="rId8"/>
            </p:custDataLst>
          </p:nvPr>
        </p:nvSpPr>
        <p:spPr bwMode="auto">
          <a:xfrm>
            <a:off x="1119262" y="4133509"/>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algn="ctr" defTabSz="914400" rtl="0" eaLnBrk="0" fontAlgn="base" latinLnBrk="0" hangingPunct="0">
              <a:lnSpc>
                <a:spcPct val="100000"/>
              </a:lnSpc>
              <a:spcBef>
                <a:spcPct val="0"/>
              </a:spcBef>
              <a:spcAft>
                <a:spcPct val="0"/>
              </a:spcAft>
              <a:buClrTx/>
              <a:buSzTx/>
              <a:buFontTx/>
              <a:buNone/>
            </a:pPr>
            <a:r>
              <a:rPr kumimoji="1" lang="en-US" altLang="zh-CN" sz="1600" b="1" i="1" u="none" strike="noStrike" cap="none" normalizeH="0" baseline="0">
                <a:ln>
                  <a:noFill/>
                </a:ln>
                <a:solidFill>
                  <a:srgbClr val="FFFFFF"/>
                </a:solidFill>
                <a:effectLst/>
                <a:latin typeface="微软雅黑" charset="-122"/>
                <a:ea typeface="微软雅黑" charset="-122"/>
                <a:sym typeface="微软雅黑" charset="-122"/>
              </a:rPr>
              <a:t>C</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sp>
        <p:nvSpPr>
          <p:cNvPr id="17" name="矩形 16"/>
          <p:cNvSpPr>
            <a:spLocks noChangeAspect="1"/>
          </p:cNvSpPr>
          <p:nvPr>
            <p:custDataLst>
              <p:tags r:id="rId9"/>
            </p:custDataLst>
          </p:nvPr>
        </p:nvSpPr>
        <p:spPr bwMode="auto">
          <a:xfrm>
            <a:off x="1119262" y="4990759"/>
            <a:ext cx="514350" cy="514350"/>
          </a:xfrm>
          <a:prstGeom prst="rect">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algn="ctr" defTabSz="914400" rtl="0" eaLnBrk="0" fontAlgn="base" latinLnBrk="0" hangingPunct="0">
              <a:lnSpc>
                <a:spcPct val="100000"/>
              </a:lnSpc>
              <a:spcBef>
                <a:spcPct val="0"/>
              </a:spcBef>
              <a:spcAft>
                <a:spcPct val="0"/>
              </a:spcAft>
              <a:buClrTx/>
              <a:buSzTx/>
              <a:buFontTx/>
              <a:buNone/>
            </a:pPr>
            <a:r>
              <a:rPr kumimoji="1" lang="en-US" altLang="zh-CN" sz="1600" b="1" i="1" u="none" strike="noStrike" cap="none" normalizeH="0" baseline="0">
                <a:ln>
                  <a:noFill/>
                </a:ln>
                <a:solidFill>
                  <a:srgbClr val="FFFFFF"/>
                </a:solidFill>
                <a:effectLst/>
                <a:latin typeface="微软雅黑" charset="-122"/>
                <a:ea typeface="微软雅黑" charset="-122"/>
                <a:sym typeface="微软雅黑" charset="-122"/>
              </a:rPr>
              <a:t>D</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sp>
        <p:nvSpPr>
          <p:cNvPr id="18" name="矩形: 圆角 17"/>
          <p:cNvSpPr/>
          <p:nvPr>
            <p:custDataLst>
              <p:tags r:id="rId10"/>
            </p:custDataLst>
          </p:nvPr>
        </p:nvSpPr>
        <p:spPr bwMode="auto">
          <a:xfrm>
            <a:off x="6177037" y="5783716"/>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noAutofit/>
          </a:bodyPr>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rPr>
              <a:t>提交</a:t>
            </a:r>
            <a:endParaRPr kumimoji="1" lang="zh-CN" altLang="en-US" sz="1600" b="1" i="1" u="none" strike="noStrike" cap="none" normalizeH="0" baseline="0">
              <a:ln>
                <a:noFill/>
              </a:ln>
              <a:solidFill>
                <a:srgbClr val="FFFFFF"/>
              </a:solidFill>
              <a:effectLst/>
              <a:latin typeface="微软雅黑" charset="-122"/>
              <a:ea typeface="微软雅黑" charset="-122"/>
              <a:sym typeface="微软雅黑" charset="-122"/>
            </a:endParaRPr>
          </a:p>
        </p:txBody>
      </p:sp>
      <p:grpSp>
        <p:nvGrpSpPr>
          <p:cNvPr id="23" name="组合 22"/>
          <p:cNvGrpSpPr/>
          <p:nvPr>
            <p:custDataLst>
              <p:tags r:id="rId11"/>
            </p:custDataLst>
          </p:nvPr>
        </p:nvGrpSpPr>
        <p:grpSpPr>
          <a:xfrm>
            <a:off x="0" y="0"/>
            <a:ext cx="9144000" cy="635000"/>
            <a:chOff x="0" y="0"/>
            <a:chExt cx="9144000" cy="635000"/>
          </a:xfrm>
        </p:grpSpPr>
        <p:sp>
          <p:nvSpPr>
            <p:cNvPr id="19" name="TitleBackground"/>
            <p:cNvSpPr/>
            <p:nvPr>
              <p:custDataLst>
                <p:tags r:id="rId12"/>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1" lang="zh-CN" altLang="en-US" sz="2400" b="1" i="1" u="sng" strike="noStrike" cap="none" normalizeH="0" baseline="0">
                <a:ln>
                  <a:noFill/>
                </a:ln>
                <a:solidFill>
                  <a:schemeClr val="tx1"/>
                </a:solidFill>
                <a:effectLst/>
                <a:latin typeface="Times New Roman" panose="02020503050405090304" pitchFamily="18" charset="0"/>
                <a:ea typeface="宋体" pitchFamily="2" charset="-122"/>
              </a:endParaRPr>
            </a:p>
          </p:txBody>
        </p:sp>
        <p:sp>
          <p:nvSpPr>
            <p:cNvPr id="20" name="ColorBlock"/>
            <p:cNvSpPr/>
            <p:nvPr>
              <p:custDataLst>
                <p:tags r:id="rId13"/>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1" lang="zh-CN" altLang="en-US" sz="2400" b="1" i="1" u="sng" strike="noStrike" cap="none" normalizeH="0" baseline="0">
                <a:ln>
                  <a:noFill/>
                </a:ln>
                <a:solidFill>
                  <a:schemeClr val="tx1"/>
                </a:solidFill>
                <a:effectLst/>
                <a:latin typeface="Times New Roman" panose="02020503050405090304" pitchFamily="18" charset="0"/>
                <a:ea typeface="宋体" pitchFamily="2" charset="-122"/>
              </a:endParaRPr>
            </a:p>
          </p:txBody>
        </p:sp>
        <p:sp>
          <p:nvSpPr>
            <p:cNvPr id="21"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charset="-122"/>
                  <a:ea typeface="微软雅黑" charset="-122"/>
                  <a:sym typeface="微软雅黑" charset="-122"/>
                </a:rPr>
                <a:t>多选题</a:t>
              </a:r>
              <a:endParaRPr lang="zh-CN" altLang="en-US" sz="2600">
                <a:solidFill>
                  <a:srgbClr val="000000"/>
                </a:solidFill>
                <a:latin typeface="微软雅黑" charset="-122"/>
                <a:ea typeface="微软雅黑" charset="-122"/>
                <a:sym typeface="微软雅黑" charset="-122"/>
              </a:endParaRPr>
            </a:p>
          </p:txBody>
        </p:sp>
        <p:sp>
          <p:nvSpPr>
            <p:cNvPr id="22" name="TipText"/>
            <p:cNvSpPr txBox="1"/>
            <p:nvPr>
              <p:custDataLst>
                <p:tags r:id="rId15"/>
              </p:custDataLst>
            </p:nvPr>
          </p:nvSpPr>
          <p:spPr>
            <a:xfrm>
              <a:off x="150431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charset="-122"/>
                  <a:ea typeface="微软雅黑" charset="-122"/>
                  <a:sym typeface="微软雅黑" charset="-122"/>
                </a:rPr>
                <a:t>1</a:t>
              </a:r>
              <a:r>
                <a:rPr lang="zh-CN" altLang="en-US" sz="2000">
                  <a:solidFill>
                    <a:srgbClr val="808080"/>
                  </a:solidFill>
                  <a:latin typeface="微软雅黑" charset="-122"/>
                  <a:ea typeface="微软雅黑" charset="-122"/>
                  <a:sym typeface="微软雅黑" charset="-122"/>
                </a:rPr>
                <a:t>分</a:t>
              </a:r>
              <a:endParaRPr lang="zh-CN" altLang="en-US" sz="2000">
                <a:solidFill>
                  <a:srgbClr val="808080"/>
                </a:solidFill>
                <a:latin typeface="微软雅黑" charset="-122"/>
                <a:ea typeface="微软雅黑" charset="-122"/>
                <a:sym typeface="微软雅黑" charset="-122"/>
              </a:endParaRPr>
            </a:p>
          </p:txBody>
        </p:sp>
      </p:grpSp>
      <p:pic>
        <p:nvPicPr>
          <p:cNvPr id="8" name="图片 7"/>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52C235D-A666-4E0D-8197-723DB11A427B}"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765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0BB5564-B384-4B79-9FED-D89E8F1D7CAA}"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765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7653" name="Rectangle 2"/>
          <p:cNvSpPr>
            <a:spLocks noGrp="1" noChangeArrowheads="1"/>
          </p:cNvSpPr>
          <p:nvPr>
            <p:ph type="title"/>
          </p:nvPr>
        </p:nvSpPr>
        <p:spPr>
          <a:xfrm>
            <a:off x="890905" y="0"/>
            <a:ext cx="8208645" cy="1143000"/>
          </a:xfrm>
        </p:spPr>
        <p:txBody>
          <a:bodyPr/>
          <a:lstStyle/>
          <a:p>
            <a:pPr eaLnBrk="1" hangingPunct="1"/>
            <a:r>
              <a:rPr lang="en-US" altLang="zh-CN" sz="3600"/>
              <a:t>Thinking of quantification as loops</a:t>
            </a:r>
            <a:endParaRPr lang="en-US" altLang="zh-CN" sz="3600"/>
          </a:p>
        </p:txBody>
      </p:sp>
      <p:sp>
        <p:nvSpPr>
          <p:cNvPr id="27654" name="Rectangle 3"/>
          <p:cNvSpPr>
            <a:spLocks noGrp="1" noChangeArrowheads="1"/>
          </p:cNvSpPr>
          <p:nvPr>
            <p:ph type="body" idx="1"/>
          </p:nvPr>
        </p:nvSpPr>
        <p:spPr>
          <a:xfrm>
            <a:off x="827405" y="1412558"/>
            <a:ext cx="7983538" cy="4114800"/>
          </a:xfrm>
        </p:spPr>
        <p:txBody>
          <a:bodyPr/>
          <a:lstStyle/>
          <a:p>
            <a:pPr eaLnBrk="1" hangingPunct="1"/>
            <a:r>
              <a:rPr lang="en-US" altLang="zh-CN">
                <a:latin typeface="Times New Roman" panose="02020503050405090304" pitchFamily="18" charset="0"/>
              </a:rPr>
              <a:t>Example 5</a:t>
            </a:r>
            <a:endParaRPr lang="en-US" altLang="zh-CN">
              <a:latin typeface="Times New Roman" panose="02020503050405090304" pitchFamily="18" charset="0"/>
            </a:endParaRPr>
          </a:p>
          <a:p>
            <a:pPr lvl="1" eaLnBrk="1" hangingPunct="1"/>
            <a:r>
              <a:rPr lang="en-US" altLang="zh-CN">
                <a:latin typeface="Times New Roman" panose="02020503050405090304" pitchFamily="18" charset="0"/>
              </a:rPr>
              <a:t>Let </a:t>
            </a:r>
            <a:r>
              <a:rPr lang="en-US" altLang="zh-CN" i="1">
                <a:latin typeface="Times New Roman" panose="02020503050405090304" pitchFamily="18" charset="0"/>
              </a:rPr>
              <a:t>Q(x,y,z)</a:t>
            </a:r>
            <a:r>
              <a:rPr lang="en-US" altLang="zh-CN">
                <a:latin typeface="Times New Roman" panose="02020503050405090304" pitchFamily="18" charset="0"/>
              </a:rPr>
              <a:t> be the statement  “</a:t>
            </a:r>
            <a:r>
              <a:rPr lang="en-US" altLang="zh-CN" i="1">
                <a:latin typeface="Times New Roman" panose="02020503050405090304" pitchFamily="18" charset="0"/>
              </a:rPr>
              <a:t>x</a:t>
            </a:r>
            <a:r>
              <a:rPr lang="en-US" altLang="zh-CN">
                <a:latin typeface="Times New Roman" panose="02020503050405090304" pitchFamily="18" charset="0"/>
              </a:rPr>
              <a:t>+</a:t>
            </a:r>
            <a:r>
              <a:rPr lang="en-US" altLang="zh-CN" i="1">
                <a:latin typeface="Times New Roman" panose="02020503050405090304" pitchFamily="18" charset="0"/>
              </a:rPr>
              <a:t>y</a:t>
            </a:r>
            <a:r>
              <a:rPr lang="en-US" altLang="zh-CN">
                <a:latin typeface="Times New Roman" panose="02020503050405090304" pitchFamily="18" charset="0"/>
              </a:rPr>
              <a:t>=</a:t>
            </a:r>
            <a:r>
              <a:rPr lang="en-US" altLang="zh-CN" i="1">
                <a:latin typeface="Times New Roman" panose="02020503050405090304" pitchFamily="18" charset="0"/>
              </a:rPr>
              <a:t>z</a:t>
            </a:r>
            <a:r>
              <a:rPr lang="en-US" altLang="zh-CN">
                <a:latin typeface="Times New Roman" panose="02020503050405090304" pitchFamily="18" charset="0"/>
              </a:rPr>
              <a:t>”. what are the truth values of the statements </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y</a:t>
            </a:r>
            <a:r>
              <a:rPr lang="en-US" altLang="zh-CN">
                <a:latin typeface="Times New Roman" panose="02020503050405090304" pitchFamily="18" charset="0"/>
                <a:sym typeface="Symbol" panose="05050102010706020507" pitchFamily="18" charset="2"/>
              </a:rPr>
              <a:t>z </a:t>
            </a:r>
            <a:r>
              <a:rPr lang="en-US" altLang="zh-CN" i="1">
                <a:latin typeface="Times New Roman" panose="02020503050405090304" pitchFamily="18" charset="0"/>
              </a:rPr>
              <a:t>Q(x,y,z) </a:t>
            </a:r>
            <a:r>
              <a:rPr lang="en-US" altLang="zh-CN">
                <a:latin typeface="Times New Roman" panose="02020503050405090304" pitchFamily="18" charset="0"/>
              </a:rPr>
              <a:t>and </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z</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y </a:t>
            </a:r>
            <a:r>
              <a:rPr lang="en-US" altLang="zh-CN" i="1">
                <a:latin typeface="Times New Roman" panose="02020503050405090304" pitchFamily="18" charset="0"/>
              </a:rPr>
              <a:t>Q(x,y,z)</a:t>
            </a:r>
            <a:r>
              <a:rPr lang="en-US" altLang="zh-CN">
                <a:latin typeface="Times New Roman" panose="02020503050405090304" pitchFamily="18" charset="0"/>
              </a:rPr>
              <a:t> ?</a:t>
            </a:r>
            <a:endParaRPr lang="en-US" altLang="zh-CN">
              <a:latin typeface="Times New Roman" panose="0202050305040509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07F9B9A-E100-4A45-A3F5-FABDAF31A2CD}"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867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D90A1549-7F97-499F-AF6A-0FC7D3D131E8}"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867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8677" name="Rectangle 2"/>
          <p:cNvSpPr>
            <a:spLocks noGrp="1" noChangeArrowheads="1"/>
          </p:cNvSpPr>
          <p:nvPr>
            <p:ph type="title"/>
          </p:nvPr>
        </p:nvSpPr>
        <p:spPr>
          <a:xfrm>
            <a:off x="971233" y="44133"/>
            <a:ext cx="7793037" cy="1143000"/>
          </a:xfrm>
        </p:spPr>
        <p:txBody>
          <a:bodyPr/>
          <a:lstStyle/>
          <a:p>
            <a:pPr eaLnBrk="1" hangingPunct="1"/>
            <a:r>
              <a:rPr lang="en-US" altLang="zh-CN">
                <a:latin typeface="Times New Roman" panose="02020503050405090304" pitchFamily="18" charset="0"/>
              </a:rPr>
              <a:t>Quantifier Equivalence Laws</a:t>
            </a:r>
            <a:endParaRPr lang="en-US" altLang="zh-CN">
              <a:latin typeface="Times New Roman" panose="02020503050405090304" pitchFamily="18" charset="0"/>
            </a:endParaRPr>
          </a:p>
        </p:txBody>
      </p:sp>
      <p:sp>
        <p:nvSpPr>
          <p:cNvPr id="28678" name="Rectangle 3"/>
          <p:cNvSpPr>
            <a:spLocks noGrp="1" noChangeArrowheads="1"/>
          </p:cNvSpPr>
          <p:nvPr>
            <p:ph type="body" idx="1"/>
          </p:nvPr>
        </p:nvSpPr>
        <p:spPr>
          <a:xfrm>
            <a:off x="762000" y="1340485"/>
            <a:ext cx="7772400" cy="4267200"/>
          </a:xfrm>
        </p:spPr>
        <p:txBody>
          <a:bodyPr/>
          <a:lstStyle/>
          <a:p>
            <a:pPr eaLnBrk="1" hangingPunct="1"/>
            <a:r>
              <a:rPr lang="en-US" altLang="zh-CN">
                <a:latin typeface="Times New Roman" panose="02020503050405090304" pitchFamily="18" charset="0"/>
              </a:rPr>
              <a:t>Expanding quantifiers: If u.d.=a,b,c,… </a:t>
            </a:r>
            <a:br>
              <a:rPr lang="en-US" altLang="zh-CN">
                <a:latin typeface="Times New Roman" panose="02020503050405090304" pitchFamily="18" charset="0"/>
              </a:rPr>
            </a:b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 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(a)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(b)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(c)  … </a:t>
            </a:r>
            <a:br>
              <a:rPr lang="en-US" altLang="zh-CN">
                <a:solidFill>
                  <a:schemeClr val="hlink"/>
                </a:solidFill>
                <a:latin typeface="Times New Roman" panose="02020503050405090304" pitchFamily="18" charset="0"/>
                <a:sym typeface="Symbol" panose="05050102010706020507" pitchFamily="18" charset="2"/>
              </a:rPr>
            </a:b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 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(a)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(b)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(c) </a:t>
            </a:r>
            <a:r>
              <a:rPr lang="en-US" altLang="zh-CN">
                <a:solidFill>
                  <a:schemeClr val="accent2"/>
                </a:solidFill>
                <a:latin typeface="Times New Roman" panose="02020503050405090304" pitchFamily="18" charset="0"/>
                <a:sym typeface="Symbol" panose="05050102010706020507" pitchFamily="18" charset="2"/>
              </a:rPr>
              <a:t> …</a:t>
            </a:r>
            <a:endParaRPr lang="en-US" altLang="zh-CN">
              <a:solidFill>
                <a:schemeClr val="accent2"/>
              </a:solidFill>
              <a:latin typeface="Times New Roman" panose="02020503050405090304" pitchFamily="18" charset="0"/>
              <a:sym typeface="Symbol" panose="05050102010706020507" pitchFamily="18" charset="2"/>
            </a:endParaRPr>
          </a:p>
          <a:p>
            <a:pPr eaLnBrk="1" hangingPunct="1"/>
            <a:r>
              <a:rPr lang="en-US" altLang="zh-CN">
                <a:latin typeface="Times New Roman" panose="02020503050405090304" pitchFamily="18" charset="0"/>
                <a:sym typeface="Symbol" panose="05050102010706020507" pitchFamily="18" charset="2"/>
              </a:rPr>
              <a:t>From those, we can prove the laws:</a:t>
            </a:r>
            <a:br>
              <a:rPr lang="en-US" altLang="zh-CN">
                <a:latin typeface="Times New Roman" panose="02020503050405090304" pitchFamily="18" charset="0"/>
                <a:sym typeface="Symbol" panose="05050102010706020507" pitchFamily="18" charset="2"/>
              </a:rPr>
            </a:b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 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  </a:t>
            </a:r>
            <a:r>
              <a:rPr lang="en-US" altLang="zh-CN" i="1">
                <a:solidFill>
                  <a:schemeClr val="hlink"/>
                </a:solidFill>
                <a:latin typeface="Times New Roman" panose="02020503050405090304" pitchFamily="18" charset="0"/>
                <a:sym typeface="Symbol" panose="05050102010706020507" pitchFamily="18" charset="2"/>
              </a:rPr>
              <a:t>x </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a:t>
            </a:r>
            <a:br>
              <a:rPr lang="en-US" altLang="zh-CN">
                <a:solidFill>
                  <a:schemeClr val="hlink"/>
                </a:solidFill>
                <a:latin typeface="Times New Roman" panose="02020503050405090304" pitchFamily="18" charset="0"/>
                <a:sym typeface="Symbol" panose="05050102010706020507" pitchFamily="18" charset="2"/>
              </a:rPr>
            </a:b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 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  </a:t>
            </a:r>
            <a:r>
              <a:rPr lang="en-US" altLang="zh-CN" i="1">
                <a:solidFill>
                  <a:schemeClr val="hlink"/>
                </a:solidFill>
                <a:latin typeface="Times New Roman" panose="02020503050405090304" pitchFamily="18" charset="0"/>
                <a:sym typeface="Symbol" panose="05050102010706020507" pitchFamily="18" charset="2"/>
              </a:rPr>
              <a:t>x </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a:t>
            </a:r>
            <a:r>
              <a:rPr lang="en-US" altLang="zh-CN" i="1">
                <a:solidFill>
                  <a:schemeClr val="hlink"/>
                </a:solidFill>
                <a:latin typeface="Times New Roman" panose="02020503050405090304" pitchFamily="18" charset="0"/>
                <a:sym typeface="Symbol" panose="05050102010706020507" pitchFamily="18" charset="2"/>
              </a:rPr>
              <a:t>x</a:t>
            </a:r>
            <a:r>
              <a:rPr lang="en-US" altLang="zh-CN">
                <a:solidFill>
                  <a:schemeClr val="hlink"/>
                </a:solidFill>
                <a:latin typeface="Times New Roman" panose="02020503050405090304" pitchFamily="18" charset="0"/>
                <a:sym typeface="Symbol" panose="05050102010706020507" pitchFamily="18" charset="2"/>
              </a:rPr>
              <a:t>)</a:t>
            </a:r>
            <a:endParaRPr lang="en-US" altLang="zh-CN">
              <a:solidFill>
                <a:schemeClr val="hlink"/>
              </a:solidFill>
              <a:latin typeface="Times New Roman" panose="02020503050405090304" pitchFamily="18" charset="0"/>
              <a:sym typeface="Symbol" panose="05050102010706020507" pitchFamily="18" charset="2"/>
            </a:endParaRPr>
          </a:p>
          <a:p>
            <a:pPr eaLnBrk="1" hangingPunct="1"/>
            <a:r>
              <a:rPr lang="en-US" altLang="zh-CN">
                <a:latin typeface="Times New Roman" panose="02020503050405090304" pitchFamily="18" charset="0"/>
                <a:sym typeface="Symbol" panose="05050102010706020507" pitchFamily="18" charset="2"/>
              </a:rPr>
              <a:t>Which </a:t>
            </a:r>
            <a:r>
              <a:rPr lang="en-US" altLang="zh-CN" i="1">
                <a:latin typeface="Times New Roman" panose="02020503050405090304" pitchFamily="18" charset="0"/>
                <a:sym typeface="Symbol" panose="05050102010706020507" pitchFamily="18" charset="2"/>
              </a:rPr>
              <a:t>propositional</a:t>
            </a:r>
            <a:r>
              <a:rPr lang="en-US" altLang="zh-CN">
                <a:latin typeface="Times New Roman" panose="02020503050405090304" pitchFamily="18" charset="0"/>
                <a:sym typeface="Symbol" panose="05050102010706020507" pitchFamily="18" charset="2"/>
              </a:rPr>
              <a:t> equivalence laws can be used to prove this?  </a:t>
            </a:r>
            <a:endParaRPr lang="en-US" altLang="zh-CN">
              <a:latin typeface="Times New Roman" panose="02020503050405090304" pitchFamily="18" charset="0"/>
              <a:sym typeface="Symbol" panose="05050102010706020507" pitchFamily="18" charset="2"/>
            </a:endParaRPr>
          </a:p>
        </p:txBody>
      </p:sp>
      <p:sp>
        <p:nvSpPr>
          <p:cNvPr id="965636" name="WordArt 4"/>
          <p:cNvSpPr>
            <a:spLocks noChangeArrowheads="1" noChangeShapeType="1" noTextEdit="1"/>
          </p:cNvSpPr>
          <p:nvPr/>
        </p:nvSpPr>
        <p:spPr bwMode="auto">
          <a:xfrm>
            <a:off x="4876800" y="5638800"/>
            <a:ext cx="3657600" cy="685800"/>
          </a:xfrm>
          <a:prstGeom prst="rect">
            <a:avLst/>
          </a:prstGeom>
        </p:spPr>
        <p:txBody>
          <a:bodyPr wrap="none" fromWordArt="1">
            <a:prstTxWarp prst="textPlain">
              <a:avLst>
                <a:gd name="adj" fmla="val 50000"/>
              </a:avLst>
            </a:prstTxWarp>
          </a:bodyPr>
          <a:lstStyle/>
          <a:p>
            <a:pPr algn="ctr">
              <a:defRPr/>
            </a:pPr>
            <a:r>
              <a:rPr lang="en-US" altLang="zh-CN" sz="3600" kern="1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a:rPr>
              <a:t>DeMorgan's</a:t>
            </a:r>
            <a:endParaRPr lang="zh-CN" altLang="en-US" sz="3600" kern="1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a:endParaRPr>
          </a:p>
        </p:txBody>
      </p:sp>
      <p:sp>
        <p:nvSpPr>
          <p:cNvPr id="28680" name="Text Box 5"/>
          <p:cNvSpPr txBox="1">
            <a:spLocks noChangeArrowheads="1"/>
          </p:cNvSpPr>
          <p:nvPr/>
        </p:nvSpPr>
        <p:spPr bwMode="auto">
          <a:xfrm>
            <a:off x="6122988" y="76200"/>
            <a:ext cx="294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r"/>
            <a:r>
              <a:rPr kumimoji="0" lang="en-US" altLang="zh-CN" sz="2000" b="0" i="0" u="none">
                <a:solidFill>
                  <a:schemeClr val="bg1"/>
                </a:solidFill>
              </a:rPr>
              <a:t>Topic #3 – Predicate Logic</a:t>
            </a:r>
            <a:endParaRPr kumimoji="0" lang="en-US" altLang="zh-CN" sz="2000" b="0" i="0" u="none">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965636"/>
                                        </p:tgtEl>
                                        <p:attrNameLst>
                                          <p:attrName>style.visibility</p:attrName>
                                        </p:attrNameLst>
                                      </p:cBhvr>
                                      <p:to>
                                        <p:strVal val="visible"/>
                                      </p:to>
                                    </p:set>
                                    <p:anim calcmode="lin" valueType="num">
                                      <p:cBhvr>
                                        <p:cTn id="7" dur="1000" fill="hold"/>
                                        <p:tgtEl>
                                          <p:spTgt spid="965636"/>
                                        </p:tgtEl>
                                        <p:attrNameLst>
                                          <p:attrName>ppt_w</p:attrName>
                                        </p:attrNameLst>
                                      </p:cBhvr>
                                      <p:tavLst>
                                        <p:tav tm="0">
                                          <p:val>
                                            <p:fltVal val="0"/>
                                          </p:val>
                                        </p:tav>
                                        <p:tav tm="100000">
                                          <p:val>
                                            <p:strVal val="#ppt_w"/>
                                          </p:val>
                                        </p:tav>
                                      </p:tavLst>
                                    </p:anim>
                                    <p:anim calcmode="lin" valueType="num">
                                      <p:cBhvr>
                                        <p:cTn id="8" dur="1000" fill="hold"/>
                                        <p:tgtEl>
                                          <p:spTgt spid="965636"/>
                                        </p:tgtEl>
                                        <p:attrNameLst>
                                          <p:attrName>ppt_h</p:attrName>
                                        </p:attrNameLst>
                                      </p:cBhvr>
                                      <p:tavLst>
                                        <p:tav tm="0">
                                          <p:val>
                                            <p:fltVal val="0"/>
                                          </p:val>
                                        </p:tav>
                                        <p:tav tm="100000">
                                          <p:val>
                                            <p:strVal val="#ppt_h"/>
                                          </p:val>
                                        </p:tav>
                                      </p:tavLst>
                                    </p:anim>
                                    <p:anim calcmode="lin" valueType="num">
                                      <p:cBhvr>
                                        <p:cTn id="9" dur="1000" fill="hold"/>
                                        <p:tgtEl>
                                          <p:spTgt spid="96563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6563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1" name="DRUMROLL.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2F961BC-503A-4E85-8DC1-4A75621E22B1}"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969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75AE76F-AAB1-45D3-AD7D-2E2F2B912EEE}"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2970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29701" name="Rectangle 2"/>
          <p:cNvSpPr>
            <a:spLocks noGrp="1" noChangeArrowheads="1"/>
          </p:cNvSpPr>
          <p:nvPr>
            <p:ph type="title"/>
          </p:nvPr>
        </p:nvSpPr>
        <p:spPr>
          <a:xfrm>
            <a:off x="971233" y="-27622"/>
            <a:ext cx="7793037" cy="1143000"/>
          </a:xfrm>
        </p:spPr>
        <p:txBody>
          <a:bodyPr/>
          <a:lstStyle/>
          <a:p>
            <a:pPr eaLnBrk="1" hangingPunct="1"/>
            <a:r>
              <a:rPr lang="en-GB" altLang="zh-CN">
                <a:latin typeface="Times New Roman" panose="02020503050405090304" pitchFamily="18" charset="0"/>
              </a:rPr>
              <a:t>Remember</a:t>
            </a:r>
            <a:endParaRPr lang="en-US" altLang="zh-CN">
              <a:latin typeface="Times New Roman" panose="02020503050405090304" pitchFamily="18" charset="0"/>
            </a:endParaRPr>
          </a:p>
        </p:txBody>
      </p:sp>
      <p:sp>
        <p:nvSpPr>
          <p:cNvPr id="29702" name="Rectangle 3"/>
          <p:cNvSpPr>
            <a:spLocks noGrp="1" noChangeArrowheads="1"/>
          </p:cNvSpPr>
          <p:nvPr>
            <p:ph type="body" idx="1"/>
          </p:nvPr>
        </p:nvSpPr>
        <p:spPr/>
        <p:txBody>
          <a:bodyPr/>
          <a:lstStyle/>
          <a:p>
            <a:pPr eaLnBrk="1" hangingPunct="1">
              <a:lnSpc>
                <a:spcPct val="90000"/>
              </a:lnSpc>
            </a:pPr>
            <a:r>
              <a:rPr lang="en-GB" altLang="zh-CN">
                <a:latin typeface="Times New Roman" panose="02020503050405090304" pitchFamily="18" charset="0"/>
              </a:rPr>
              <a:t>In propositional logic, we can </a:t>
            </a:r>
            <a:r>
              <a:rPr lang="en-GB" altLang="zh-CN" i="1">
                <a:latin typeface="Times New Roman" panose="02020503050405090304" pitchFamily="18" charset="0"/>
              </a:rPr>
              <a:t>strictly speaking</a:t>
            </a:r>
            <a:r>
              <a:rPr lang="en-GB" altLang="zh-CN">
                <a:latin typeface="Times New Roman" panose="02020503050405090304" pitchFamily="18" charset="0"/>
              </a:rPr>
              <a:t> only build formulas of finite size.</a:t>
            </a:r>
            <a:endParaRPr lang="en-GB" altLang="zh-CN">
              <a:latin typeface="Times New Roman" panose="02020503050405090304" pitchFamily="18" charset="0"/>
            </a:endParaRPr>
          </a:p>
          <a:p>
            <a:pPr eaLnBrk="1" hangingPunct="1">
              <a:lnSpc>
                <a:spcPct val="90000"/>
              </a:lnSpc>
            </a:pPr>
            <a:r>
              <a:rPr lang="en-GB" altLang="zh-CN">
                <a:latin typeface="Times New Roman" panose="02020503050405090304" pitchFamily="18" charset="0"/>
              </a:rPr>
              <a:t>E.g., we can write </a:t>
            </a:r>
            <a:br>
              <a:rPr lang="en-GB" altLang="zh-CN">
                <a:latin typeface="Times New Roman" panose="02020503050405090304" pitchFamily="18" charset="0"/>
              </a:rPr>
            </a:b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(a)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(b) </a:t>
            </a:r>
            <a:br>
              <a:rPr lang="en-US" altLang="zh-CN">
                <a:solidFill>
                  <a:schemeClr val="hlink"/>
                </a:solidFill>
                <a:latin typeface="Times New Roman" panose="02020503050405090304" pitchFamily="18" charset="0"/>
                <a:sym typeface="Symbol" panose="05050102010706020507" pitchFamily="18" charset="2"/>
              </a:rPr>
            </a:b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(a)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(b)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(c) </a:t>
            </a:r>
            <a:br>
              <a:rPr lang="en-US" altLang="zh-CN">
                <a:solidFill>
                  <a:schemeClr val="hlink"/>
                </a:solidFill>
                <a:latin typeface="Times New Roman" panose="02020503050405090304" pitchFamily="18" charset="0"/>
                <a:sym typeface="Symbol" panose="05050102010706020507" pitchFamily="18" charset="2"/>
              </a:rPr>
            </a:b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(a)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(b)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(c)  </a:t>
            </a:r>
            <a:r>
              <a:rPr lang="en-US" altLang="zh-CN" i="1">
                <a:solidFill>
                  <a:schemeClr val="hlink"/>
                </a:solidFill>
                <a:latin typeface="Times New Roman" panose="02020503050405090304" pitchFamily="18" charset="0"/>
                <a:sym typeface="Symbol" panose="05050102010706020507" pitchFamily="18" charset="2"/>
              </a:rPr>
              <a:t>P</a:t>
            </a:r>
            <a:r>
              <a:rPr lang="en-US" altLang="zh-CN">
                <a:solidFill>
                  <a:schemeClr val="hlink"/>
                </a:solidFill>
                <a:latin typeface="Times New Roman" panose="02020503050405090304" pitchFamily="18" charset="0"/>
                <a:sym typeface="Symbol" panose="05050102010706020507" pitchFamily="18" charset="2"/>
              </a:rPr>
              <a:t>(d) , etc.</a:t>
            </a:r>
            <a:endParaRPr lang="en-US" altLang="zh-CN">
              <a:solidFill>
                <a:schemeClr val="hlink"/>
              </a:solidFill>
              <a:latin typeface="Times New Roman" panose="02020503050405090304" pitchFamily="18" charset="0"/>
              <a:sym typeface="Symbol" panose="05050102010706020507" pitchFamily="18" charset="2"/>
            </a:endParaRPr>
          </a:p>
          <a:p>
            <a:pPr eaLnBrk="1" hangingPunct="1">
              <a:lnSpc>
                <a:spcPct val="90000"/>
              </a:lnSpc>
            </a:pPr>
            <a:r>
              <a:rPr lang="en-GB" altLang="zh-CN">
                <a:latin typeface="Times New Roman" panose="02020503050405090304" pitchFamily="18" charset="0"/>
                <a:sym typeface="Symbol" panose="05050102010706020507" pitchFamily="18" charset="2"/>
              </a:rPr>
              <a:t>But this way, we could never say that all natural numbers have P</a:t>
            </a:r>
            <a:endParaRPr lang="en-US" altLang="zh-CN">
              <a:latin typeface="Times New Roman" panose="0202050305040509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71F0095-5180-4E54-8482-596B458795CA}"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072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D756CB01-C5CE-4AB7-8E58-9FC746B8D385}"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072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0725" name="Rectangle 2"/>
          <p:cNvSpPr>
            <a:spLocks noGrp="1" noChangeArrowheads="1"/>
          </p:cNvSpPr>
          <p:nvPr>
            <p:ph type="title"/>
          </p:nvPr>
        </p:nvSpPr>
        <p:spPr>
          <a:xfrm>
            <a:off x="1043623" y="188278"/>
            <a:ext cx="7793037" cy="1143000"/>
          </a:xfrm>
        </p:spPr>
        <p:txBody>
          <a:bodyPr/>
          <a:lstStyle/>
          <a:p>
            <a:pPr eaLnBrk="1" hangingPunct="1"/>
            <a:endParaRPr lang="zh-CN" altLang="en-US">
              <a:latin typeface="Times New Roman" panose="02020503050405090304" pitchFamily="18" charset="0"/>
            </a:endParaRPr>
          </a:p>
        </p:txBody>
      </p:sp>
      <p:sp>
        <p:nvSpPr>
          <p:cNvPr id="30726" name="Rectangle 3"/>
          <p:cNvSpPr>
            <a:spLocks noGrp="1" noChangeArrowheads="1"/>
          </p:cNvSpPr>
          <p:nvPr>
            <p:ph type="body" idx="1"/>
          </p:nvPr>
        </p:nvSpPr>
        <p:spPr/>
        <p:txBody>
          <a:bodyPr/>
          <a:lstStyle/>
          <a:p>
            <a:pPr eaLnBrk="1" hangingPunct="1"/>
            <a:r>
              <a:rPr lang="en-GB" altLang="zh-CN">
                <a:latin typeface="Times New Roman" panose="02020503050405090304" pitchFamily="18" charset="0"/>
              </a:rPr>
              <a:t>In predicate logic, you can say this easily:</a:t>
            </a:r>
            <a:br>
              <a:rPr lang="en-GB" altLang="zh-CN">
                <a:latin typeface="Times New Roman" panose="02020503050405090304" pitchFamily="18" charset="0"/>
              </a:rPr>
            </a:br>
            <a:r>
              <a:rPr lang="en-GB" altLang="zh-CN">
                <a:latin typeface="Times New Roman" panose="02020503050405090304" pitchFamily="18" charset="0"/>
              </a:rPr>
              <a:t> </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xP</a:t>
            </a:r>
            <a:r>
              <a:rPr lang="en-US" altLang="zh-CN">
                <a:latin typeface="Times New Roman" panose="02020503050405090304" pitchFamily="18" charset="0"/>
                <a:sym typeface="Symbol" panose="05050102010706020507" pitchFamily="18" charset="2"/>
              </a:rPr>
              <a:t>(</a:t>
            </a:r>
            <a:r>
              <a:rPr lang="en-US" altLang="zh-CN" i="1">
                <a:latin typeface="Times New Roman" panose="02020503050405090304" pitchFamily="18" charset="0"/>
                <a:sym typeface="Symbol" panose="05050102010706020507" pitchFamily="18" charset="2"/>
              </a:rPr>
              <a:t>x</a:t>
            </a:r>
            <a:r>
              <a:rPr lang="en-US" altLang="zh-CN">
                <a:latin typeface="Times New Roman" panose="02020503050405090304" pitchFamily="18" charset="0"/>
                <a:sym typeface="Symbol" panose="05050102010706020507" pitchFamily="18" charset="2"/>
              </a:rPr>
              <a:t>)</a:t>
            </a:r>
            <a:endParaRPr lang="en-US" altLang="zh-CN">
              <a:latin typeface="Times New Roman" panose="02020503050405090304" pitchFamily="18" charset="0"/>
              <a:sym typeface="Symbol" panose="05050102010706020507" pitchFamily="18" charset="2"/>
            </a:endParaRPr>
          </a:p>
          <a:p>
            <a:pPr eaLnBrk="1" hangingPunct="1"/>
            <a:r>
              <a:rPr lang="en-GB" altLang="zh-CN">
                <a:latin typeface="Times New Roman" panose="02020503050405090304" pitchFamily="18" charset="0"/>
              </a:rPr>
              <a:t>Still, it’s sometimes useful to pretend that propositional logic allows infinitely long formulas.</a:t>
            </a:r>
            <a:endParaRPr lang="en-GB" altLang="zh-CN">
              <a:latin typeface="Times New Roman" panose="0202050305040509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C211A9B-55F4-496B-9C2D-0B23D004BF17}"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174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ACA8AF9-BEE0-4DA7-ACA5-ED05D26FB14D}"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174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1749" name="Rectangle 2"/>
          <p:cNvSpPr>
            <a:spLocks noGrp="1" noChangeArrowheads="1"/>
          </p:cNvSpPr>
          <p:nvPr>
            <p:ph type="title"/>
          </p:nvPr>
        </p:nvSpPr>
        <p:spPr>
          <a:xfrm>
            <a:off x="1043623" y="-317"/>
            <a:ext cx="7793037" cy="1143000"/>
          </a:xfrm>
        </p:spPr>
        <p:txBody>
          <a:bodyPr/>
          <a:lstStyle/>
          <a:p>
            <a:pPr eaLnBrk="1" hangingPunct="1"/>
            <a:r>
              <a:rPr lang="en-US" altLang="zh-CN">
                <a:latin typeface="Times New Roman" panose="02020503050405090304" pitchFamily="18" charset="0"/>
              </a:rPr>
              <a:t>Example - U = {1,2,3}</a:t>
            </a:r>
            <a:endParaRPr lang="en-US" altLang="zh-CN">
              <a:latin typeface="Times New Roman" panose="02020503050405090304" pitchFamily="18" charset="0"/>
            </a:endParaRPr>
          </a:p>
        </p:txBody>
      </p:sp>
      <p:sp>
        <p:nvSpPr>
          <p:cNvPr id="31750" name="Rectangle 3"/>
          <p:cNvSpPr>
            <a:spLocks noGrp="1" noChangeArrowheads="1"/>
          </p:cNvSpPr>
          <p:nvPr>
            <p:ph type="body" idx="1"/>
          </p:nvPr>
        </p:nvSpPr>
        <p:spPr/>
        <p:txBody>
          <a:bodyPr/>
          <a:lstStyle/>
          <a:p>
            <a:pPr eaLnBrk="1" hangingPunct="1">
              <a:lnSpc>
                <a:spcPct val="90000"/>
              </a:lnSpc>
            </a:pPr>
            <a:r>
              <a:rPr lang="en-US" altLang="zh-CN" sz="2800">
                <a:latin typeface="Times New Roman" panose="02020503050405090304" pitchFamily="18" charset="0"/>
              </a:rPr>
              <a:t>Find an expression equivalent to</a:t>
            </a:r>
            <a:endParaRPr lang="en-US" altLang="zh-CN" sz="2800">
              <a:latin typeface="Times New Roman" panose="02020503050405090304" pitchFamily="18" charset="0"/>
            </a:endParaRPr>
          </a:p>
          <a:p>
            <a:pPr lvl="1" eaLnBrk="1" hangingPunct="1">
              <a:lnSpc>
                <a:spcPct val="90000"/>
              </a:lnSpc>
            </a:pPr>
            <a:r>
              <a:rPr lang="en-US" altLang="zh-CN" sz="2400">
                <a:latin typeface="Symbol" panose="05050102010706020507" pitchFamily="18" charset="2"/>
              </a:rPr>
              <a:t>"</a:t>
            </a:r>
            <a:r>
              <a:rPr lang="en-US" altLang="zh-CN" sz="2400" i="1">
                <a:latin typeface="Times New Roman" panose="02020503050405090304" pitchFamily="18" charset="0"/>
              </a:rPr>
              <a:t>x</a:t>
            </a:r>
            <a:r>
              <a:rPr lang="en-US" altLang="zh-CN" sz="2400">
                <a:latin typeface="Symbol" panose="05050102010706020507" pitchFamily="18" charset="2"/>
              </a:rPr>
              <a:t>$</a:t>
            </a:r>
            <a:r>
              <a:rPr lang="en-US" altLang="zh-CN" sz="2400" i="1">
                <a:latin typeface="Times New Roman" panose="02020503050405090304" pitchFamily="18" charset="0"/>
              </a:rPr>
              <a:t>yP</a:t>
            </a:r>
            <a:r>
              <a:rPr lang="en-US" altLang="zh-CN" sz="2400">
                <a:latin typeface="Times New Roman" panose="02020503050405090304" pitchFamily="18" charset="0"/>
              </a:rPr>
              <a:t>(</a:t>
            </a:r>
            <a:r>
              <a:rPr lang="en-US" altLang="zh-CN" sz="2400" i="1">
                <a:latin typeface="Times New Roman" panose="02020503050405090304" pitchFamily="18" charset="0"/>
              </a:rPr>
              <a:t>x</a:t>
            </a:r>
            <a:r>
              <a:rPr lang="en-US" altLang="zh-CN" sz="2400">
                <a:latin typeface="Times New Roman" panose="02020503050405090304" pitchFamily="18" charset="0"/>
              </a:rPr>
              <a:t>, </a:t>
            </a:r>
            <a:r>
              <a:rPr lang="en-US" altLang="zh-CN" sz="2400" i="1">
                <a:latin typeface="Times New Roman" panose="02020503050405090304" pitchFamily="18" charset="0"/>
              </a:rPr>
              <a:t>y</a:t>
            </a:r>
            <a:r>
              <a:rPr lang="en-US" altLang="zh-CN" sz="2400">
                <a:latin typeface="Times New Roman" panose="02020503050405090304" pitchFamily="18" charset="0"/>
              </a:rPr>
              <a:t>)</a:t>
            </a:r>
            <a:endParaRPr lang="en-US" altLang="zh-CN" sz="2400">
              <a:latin typeface="Times New Roman" panose="02020503050405090304" pitchFamily="18" charset="0"/>
            </a:endParaRPr>
          </a:p>
          <a:p>
            <a:pPr lvl="1" eaLnBrk="1" hangingPunct="1">
              <a:lnSpc>
                <a:spcPct val="90000"/>
              </a:lnSpc>
            </a:pPr>
            <a:r>
              <a:rPr lang="en-US" altLang="zh-CN" sz="2400">
                <a:latin typeface="Times New Roman" panose="02020503050405090304" pitchFamily="18" charset="0"/>
              </a:rPr>
              <a:t>where the variables are bound by substitution instead:</a:t>
            </a:r>
            <a:endParaRPr lang="en-US" altLang="zh-CN" sz="2400">
              <a:latin typeface="Times New Roman" panose="02020503050405090304" pitchFamily="18" charset="0"/>
            </a:endParaRPr>
          </a:p>
          <a:p>
            <a:pPr eaLnBrk="1" hangingPunct="1">
              <a:lnSpc>
                <a:spcPct val="90000"/>
              </a:lnSpc>
            </a:pPr>
            <a:r>
              <a:rPr lang="en-US" altLang="zh-CN" sz="2800">
                <a:latin typeface="Times New Roman" panose="02020503050405090304" pitchFamily="18" charset="0"/>
              </a:rPr>
              <a:t>Expand from inside out or outside in.</a:t>
            </a:r>
            <a:endParaRPr lang="en-US" altLang="zh-CN" sz="2800">
              <a:latin typeface="Times New Roman" panose="02020503050405090304" pitchFamily="18" charset="0"/>
            </a:endParaRPr>
          </a:p>
          <a:p>
            <a:pPr eaLnBrk="1" hangingPunct="1">
              <a:lnSpc>
                <a:spcPct val="90000"/>
              </a:lnSpc>
            </a:pPr>
            <a:r>
              <a:rPr lang="en-US" altLang="zh-CN" sz="2800">
                <a:latin typeface="Times New Roman" panose="02020503050405090304" pitchFamily="18" charset="0"/>
              </a:rPr>
              <a:t>Outside in:</a:t>
            </a:r>
            <a:endParaRPr lang="en-US" altLang="zh-CN" sz="2800">
              <a:latin typeface="Times New Roman" panose="02020503050405090304" pitchFamily="18" charset="0"/>
            </a:endParaRPr>
          </a:p>
          <a:p>
            <a:pPr lvl="1" eaLnBrk="1" hangingPunct="1">
              <a:lnSpc>
                <a:spcPct val="90000"/>
              </a:lnSpc>
              <a:buFont typeface="Wingdings" panose="05000000000000000000" pitchFamily="2" charset="2"/>
              <a:buNone/>
            </a:pPr>
            <a:r>
              <a:rPr lang="en-US" altLang="zh-CN" sz="2400">
                <a:latin typeface="Symbol" panose="05050102010706020507" pitchFamily="18" charset="2"/>
              </a:rPr>
              <a:t>	$</a:t>
            </a:r>
            <a:r>
              <a:rPr lang="en-US" altLang="zh-CN" sz="2400" i="1">
                <a:latin typeface="Times New Roman" panose="02020503050405090304" pitchFamily="18" charset="0"/>
              </a:rPr>
              <a:t>yP</a:t>
            </a:r>
            <a:r>
              <a:rPr lang="en-US" altLang="zh-CN" sz="2400">
                <a:latin typeface="Times New Roman" panose="02020503050405090304" pitchFamily="18" charset="0"/>
              </a:rPr>
              <a:t>(1, </a:t>
            </a:r>
            <a:r>
              <a:rPr lang="en-US" altLang="zh-CN" sz="2400" i="1">
                <a:latin typeface="Times New Roman" panose="02020503050405090304" pitchFamily="18" charset="0"/>
              </a:rPr>
              <a:t>y</a:t>
            </a:r>
            <a:r>
              <a:rPr lang="en-US" altLang="zh-CN" sz="2400">
                <a:latin typeface="Times New Roman" panose="02020503050405090304" pitchFamily="18" charset="0"/>
              </a:rPr>
              <a:t>) </a:t>
            </a:r>
            <a:r>
              <a:rPr lang="en-US" altLang="zh-CN" sz="2400">
                <a:latin typeface="Symbol" panose="05050102010706020507" pitchFamily="18" charset="2"/>
              </a:rPr>
              <a:t>Ù $</a:t>
            </a:r>
            <a:r>
              <a:rPr lang="en-US" altLang="zh-CN" sz="2400" i="1">
                <a:latin typeface="Times New Roman" panose="02020503050405090304" pitchFamily="18" charset="0"/>
              </a:rPr>
              <a:t>yP</a:t>
            </a:r>
            <a:r>
              <a:rPr lang="en-US" altLang="zh-CN" sz="2400">
                <a:latin typeface="Times New Roman" panose="02020503050405090304" pitchFamily="18" charset="0"/>
              </a:rPr>
              <a:t>(2, </a:t>
            </a:r>
            <a:r>
              <a:rPr lang="en-US" altLang="zh-CN" sz="2400" i="1">
                <a:latin typeface="Times New Roman" panose="02020503050405090304" pitchFamily="18" charset="0"/>
              </a:rPr>
              <a:t>y</a:t>
            </a:r>
            <a:r>
              <a:rPr lang="en-US" altLang="zh-CN" sz="2400">
                <a:latin typeface="Times New Roman" panose="02020503050405090304" pitchFamily="18" charset="0"/>
              </a:rPr>
              <a:t>)</a:t>
            </a:r>
            <a:r>
              <a:rPr lang="en-US" altLang="zh-CN" sz="2400">
                <a:latin typeface="Symbol" panose="05050102010706020507" pitchFamily="18" charset="2"/>
              </a:rPr>
              <a:t>Ù $</a:t>
            </a:r>
            <a:r>
              <a:rPr lang="en-US" altLang="zh-CN" sz="2400" i="1">
                <a:latin typeface="Times New Roman" panose="02020503050405090304" pitchFamily="18" charset="0"/>
              </a:rPr>
              <a:t>yP</a:t>
            </a:r>
            <a:r>
              <a:rPr lang="en-US" altLang="zh-CN" sz="2400">
                <a:latin typeface="Times New Roman" panose="02020503050405090304" pitchFamily="18" charset="0"/>
              </a:rPr>
              <a:t>(3, </a:t>
            </a:r>
            <a:r>
              <a:rPr lang="en-US" altLang="zh-CN" sz="2400" i="1">
                <a:latin typeface="Times New Roman" panose="02020503050405090304" pitchFamily="18" charset="0"/>
              </a:rPr>
              <a:t>y</a:t>
            </a:r>
            <a:r>
              <a:rPr lang="en-US" altLang="zh-CN" sz="2400">
                <a:latin typeface="Times New Roman" panose="02020503050405090304" pitchFamily="18" charset="0"/>
              </a:rPr>
              <a:t>)</a:t>
            </a:r>
            <a:endParaRPr lang="en-US" altLang="zh-CN" sz="2400">
              <a:latin typeface="Times New Roman" panose="02020503050405090304" pitchFamily="18" charset="0"/>
            </a:endParaRPr>
          </a:p>
          <a:p>
            <a:pPr lvl="1" eaLnBrk="1" hangingPunct="1">
              <a:lnSpc>
                <a:spcPct val="90000"/>
              </a:lnSpc>
              <a:buFont typeface="Wingdings" panose="05000000000000000000" pitchFamily="2" charset="2"/>
              <a:buNone/>
            </a:pPr>
            <a:r>
              <a:rPr lang="en-US" altLang="zh-CN" sz="2400">
                <a:sym typeface="Symbol" panose="05050102010706020507" pitchFamily="18" charset="2"/>
              </a:rPr>
              <a:t></a:t>
            </a:r>
            <a:r>
              <a:rPr lang="en-US" altLang="zh-CN" sz="2400">
                <a:latin typeface="Times New Roman" panose="02020503050405090304" pitchFamily="18" charset="0"/>
              </a:rPr>
              <a:t>[</a:t>
            </a:r>
            <a:r>
              <a:rPr lang="en-US" altLang="zh-CN" sz="2400" i="1">
                <a:latin typeface="Times New Roman" panose="02020503050405090304" pitchFamily="18" charset="0"/>
              </a:rPr>
              <a:t>P</a:t>
            </a:r>
            <a:r>
              <a:rPr lang="en-US" altLang="zh-CN" sz="2400">
                <a:latin typeface="Times New Roman" panose="02020503050405090304" pitchFamily="18" charset="0"/>
              </a:rPr>
              <a:t>(1,1)</a:t>
            </a:r>
            <a:r>
              <a:rPr lang="en-US" altLang="zh-CN" sz="2400">
                <a:latin typeface="Symbol" panose="05050102010706020507" pitchFamily="18" charset="2"/>
              </a:rPr>
              <a:t>Ú </a:t>
            </a:r>
            <a:r>
              <a:rPr lang="en-US" altLang="zh-CN" sz="2400" i="1">
                <a:latin typeface="Times New Roman" panose="02020503050405090304" pitchFamily="18" charset="0"/>
              </a:rPr>
              <a:t>P</a:t>
            </a:r>
            <a:r>
              <a:rPr lang="en-US" altLang="zh-CN" sz="2400">
                <a:latin typeface="Times New Roman" panose="02020503050405090304" pitchFamily="18" charset="0"/>
              </a:rPr>
              <a:t>(1,2)</a:t>
            </a:r>
            <a:r>
              <a:rPr lang="en-US" altLang="zh-CN" sz="2400">
                <a:latin typeface="Symbol" panose="05050102010706020507" pitchFamily="18" charset="2"/>
              </a:rPr>
              <a:t>Ú </a:t>
            </a:r>
            <a:r>
              <a:rPr lang="en-US" altLang="zh-CN" sz="2400" i="1">
                <a:latin typeface="Times New Roman" panose="02020503050405090304" pitchFamily="18" charset="0"/>
              </a:rPr>
              <a:t>P</a:t>
            </a:r>
            <a:r>
              <a:rPr lang="en-US" altLang="zh-CN" sz="2400">
                <a:latin typeface="Times New Roman" panose="02020503050405090304" pitchFamily="18" charset="0"/>
              </a:rPr>
              <a:t>(1,3)]</a:t>
            </a:r>
            <a:r>
              <a:rPr lang="en-US" altLang="zh-CN" sz="2400">
                <a:latin typeface="Symbol" panose="05050102010706020507" pitchFamily="18" charset="2"/>
              </a:rPr>
              <a:t>Ù</a:t>
            </a:r>
            <a:endParaRPr lang="en-US" altLang="zh-CN" sz="2400">
              <a:latin typeface="Symbol" panose="05050102010706020507" pitchFamily="18" charset="2"/>
            </a:endParaRPr>
          </a:p>
          <a:p>
            <a:pPr lvl="1" eaLnBrk="1" hangingPunct="1">
              <a:lnSpc>
                <a:spcPct val="90000"/>
              </a:lnSpc>
              <a:buFont typeface="Wingdings" panose="05000000000000000000" pitchFamily="2" charset="2"/>
              <a:buNone/>
            </a:pPr>
            <a:r>
              <a:rPr lang="en-US" altLang="zh-CN" sz="2400">
                <a:latin typeface="Times New Roman" panose="02020503050405090304" pitchFamily="18" charset="0"/>
              </a:rPr>
              <a:t>	[</a:t>
            </a:r>
            <a:r>
              <a:rPr lang="en-US" altLang="zh-CN" sz="2400" i="1">
                <a:latin typeface="Times New Roman" panose="02020503050405090304" pitchFamily="18" charset="0"/>
              </a:rPr>
              <a:t>P</a:t>
            </a:r>
            <a:r>
              <a:rPr lang="en-US" altLang="zh-CN" sz="2400">
                <a:latin typeface="Times New Roman" panose="02020503050405090304" pitchFamily="18" charset="0"/>
              </a:rPr>
              <a:t>(2,1)</a:t>
            </a:r>
            <a:r>
              <a:rPr lang="en-US" altLang="zh-CN" sz="2400">
                <a:latin typeface="Symbol" panose="05050102010706020507" pitchFamily="18" charset="2"/>
              </a:rPr>
              <a:t>Ú </a:t>
            </a:r>
            <a:r>
              <a:rPr lang="en-US" altLang="zh-CN" sz="2400" i="1">
                <a:latin typeface="Times New Roman" panose="02020503050405090304" pitchFamily="18" charset="0"/>
              </a:rPr>
              <a:t>P</a:t>
            </a:r>
            <a:r>
              <a:rPr lang="en-US" altLang="zh-CN" sz="2400">
                <a:latin typeface="Times New Roman" panose="02020503050405090304" pitchFamily="18" charset="0"/>
              </a:rPr>
              <a:t>(2,2)</a:t>
            </a:r>
            <a:r>
              <a:rPr lang="en-US" altLang="zh-CN" sz="2400">
                <a:latin typeface="Symbol" panose="05050102010706020507" pitchFamily="18" charset="2"/>
              </a:rPr>
              <a:t>Ú </a:t>
            </a:r>
            <a:r>
              <a:rPr lang="en-US" altLang="zh-CN" sz="2400" i="1">
                <a:latin typeface="Times New Roman" panose="02020503050405090304" pitchFamily="18" charset="0"/>
              </a:rPr>
              <a:t>P</a:t>
            </a:r>
            <a:r>
              <a:rPr lang="en-US" altLang="zh-CN" sz="2400">
                <a:latin typeface="Times New Roman" panose="02020503050405090304" pitchFamily="18" charset="0"/>
              </a:rPr>
              <a:t>(2,3)]</a:t>
            </a:r>
            <a:r>
              <a:rPr lang="en-US" altLang="zh-CN" sz="2400">
                <a:latin typeface="Symbol" panose="05050102010706020507" pitchFamily="18" charset="2"/>
              </a:rPr>
              <a:t>Ù</a:t>
            </a:r>
            <a:endParaRPr lang="en-US" altLang="zh-CN" sz="2400">
              <a:latin typeface="Symbol" panose="05050102010706020507" pitchFamily="18" charset="2"/>
            </a:endParaRPr>
          </a:p>
          <a:p>
            <a:pPr lvl="1" eaLnBrk="1" hangingPunct="1">
              <a:lnSpc>
                <a:spcPct val="90000"/>
              </a:lnSpc>
              <a:buFont typeface="Wingdings" panose="05000000000000000000" pitchFamily="2" charset="2"/>
              <a:buNone/>
            </a:pPr>
            <a:r>
              <a:rPr lang="en-US" altLang="zh-CN" sz="2400">
                <a:latin typeface="Times New Roman" panose="02020503050405090304" pitchFamily="18" charset="0"/>
              </a:rPr>
              <a:t>	[</a:t>
            </a:r>
            <a:r>
              <a:rPr lang="en-US" altLang="zh-CN" sz="2400" i="1">
                <a:latin typeface="Times New Roman" panose="02020503050405090304" pitchFamily="18" charset="0"/>
              </a:rPr>
              <a:t>P</a:t>
            </a:r>
            <a:r>
              <a:rPr lang="en-US" altLang="zh-CN" sz="2400">
                <a:latin typeface="Times New Roman" panose="02020503050405090304" pitchFamily="18" charset="0"/>
              </a:rPr>
              <a:t>(3,1) </a:t>
            </a:r>
            <a:r>
              <a:rPr lang="en-US" altLang="zh-CN" sz="2400">
                <a:latin typeface="Symbol" panose="05050102010706020507" pitchFamily="18" charset="2"/>
              </a:rPr>
              <a:t>Ú </a:t>
            </a:r>
            <a:r>
              <a:rPr lang="en-US" altLang="zh-CN" sz="2400" i="1">
                <a:latin typeface="Times New Roman" panose="02020503050405090304" pitchFamily="18" charset="0"/>
              </a:rPr>
              <a:t>P</a:t>
            </a:r>
            <a:r>
              <a:rPr lang="en-US" altLang="zh-CN" sz="2400">
                <a:latin typeface="Times New Roman" panose="02020503050405090304" pitchFamily="18" charset="0"/>
              </a:rPr>
              <a:t>(3,2) </a:t>
            </a:r>
            <a:r>
              <a:rPr lang="en-US" altLang="zh-CN" sz="2400">
                <a:latin typeface="Symbol" panose="05050102010706020507" pitchFamily="18" charset="2"/>
              </a:rPr>
              <a:t>Ú </a:t>
            </a:r>
            <a:r>
              <a:rPr lang="en-US" altLang="zh-CN" sz="2400" i="1">
                <a:latin typeface="Times New Roman" panose="02020503050405090304" pitchFamily="18" charset="0"/>
              </a:rPr>
              <a:t>P</a:t>
            </a:r>
            <a:r>
              <a:rPr lang="en-US" altLang="zh-CN" sz="2400">
                <a:latin typeface="Times New Roman" panose="02020503050405090304" pitchFamily="18" charset="0"/>
              </a:rPr>
              <a:t>(3,3)]</a:t>
            </a:r>
            <a:endParaRPr lang="en-US" altLang="zh-CN" sz="2400">
              <a:latin typeface="Times New Roman" panose="0202050305040509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E2F9430-C769-4E79-B54C-D34EF73F1DD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638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5D3B3A0-915B-4010-9B59-4795BC2B883E}"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1638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16389" name="Rectangle 2"/>
          <p:cNvSpPr>
            <a:spLocks noGrp="1" noChangeArrowheads="1"/>
          </p:cNvSpPr>
          <p:nvPr>
            <p:ph type="title"/>
          </p:nvPr>
        </p:nvSpPr>
        <p:spPr>
          <a:xfrm>
            <a:off x="827088" y="-27622"/>
            <a:ext cx="7793037" cy="1143000"/>
          </a:xfrm>
        </p:spPr>
        <p:txBody>
          <a:bodyPr/>
          <a:lstStyle/>
          <a:p>
            <a:pPr eaLnBrk="1" hangingPunct="1"/>
            <a:r>
              <a:rPr lang="en-US" altLang="zh-CN" sz="3500" b="0" kern="1200" dirty="0">
                <a:latin typeface="Copperplate Gothic Bold" panose="020E0705020206020404" pitchFamily="34" charset="0"/>
              </a:rPr>
              <a:t>Summary: Predicate Logic</a:t>
            </a:r>
            <a:endParaRPr lang="zh-CN" altLang="en-US" sz="3500" b="0" kern="1200" dirty="0">
              <a:latin typeface="Copperplate Gothic Bold" panose="020E0705020206020404" pitchFamily="34" charset="0"/>
            </a:endParaRPr>
          </a:p>
        </p:txBody>
      </p:sp>
      <p:sp>
        <p:nvSpPr>
          <p:cNvPr id="16390" name="Rectangle 3"/>
          <p:cNvSpPr>
            <a:spLocks noGrp="1" noChangeArrowheads="1"/>
          </p:cNvSpPr>
          <p:nvPr>
            <p:ph type="body" idx="1"/>
          </p:nvPr>
        </p:nvSpPr>
        <p:spPr>
          <a:xfrm>
            <a:off x="490022" y="1268636"/>
            <a:ext cx="8208912" cy="4906739"/>
          </a:xfrm>
        </p:spPr>
        <p:txBody>
          <a:bodyPr/>
          <a:lstStyle/>
          <a:p>
            <a:pPr eaLnBrk="1" hangingPunct="1">
              <a:spcBef>
                <a:spcPts val="600"/>
              </a:spcBef>
              <a:spcAft>
                <a:spcPts val="600"/>
              </a:spcAft>
            </a:pPr>
            <a:r>
              <a:rPr lang="zh-CN" altLang="en-US" sz="2400" b="1" dirty="0">
                <a:latin typeface="Times New Roman" panose="02020503050405090304" pitchFamily="18" charset="0"/>
                <a:ea typeface="宋体" pitchFamily="2" charset="-122"/>
                <a:cs typeface="Times New Roman" panose="02020503050405090304" pitchFamily="18" charset="0"/>
              </a:rPr>
              <a:t>论域</a:t>
            </a:r>
            <a:r>
              <a:rPr lang="en-US" altLang="zh-CN" sz="2400" b="1" dirty="0">
                <a:latin typeface="Times New Roman" panose="02020503050405090304" pitchFamily="18" charset="0"/>
                <a:ea typeface="宋体" pitchFamily="2" charset="-122"/>
                <a:cs typeface="Times New Roman" panose="02020503050405090304" pitchFamily="18" charset="0"/>
              </a:rPr>
              <a:t>/</a:t>
            </a:r>
            <a:r>
              <a:rPr lang="zh-CN" altLang="en-US" sz="2400" b="1" dirty="0">
                <a:latin typeface="Times New Roman" panose="02020503050405090304" pitchFamily="18" charset="0"/>
                <a:ea typeface="宋体" pitchFamily="2" charset="-122"/>
                <a:cs typeface="Times New Roman" panose="02020503050405090304" pitchFamily="18" charset="0"/>
              </a:rPr>
              <a:t>个体域(</a:t>
            </a:r>
            <a:r>
              <a:rPr lang="en-US" altLang="zh-CN" sz="2400" b="1" dirty="0">
                <a:latin typeface="Times New Roman" panose="02020503050405090304" pitchFamily="18" charset="0"/>
                <a:ea typeface="宋体" pitchFamily="2" charset="-122"/>
                <a:cs typeface="Times New Roman" panose="02020503050405090304" pitchFamily="18" charset="0"/>
              </a:rPr>
              <a:t>U.D./scope/domain): </a:t>
            </a:r>
            <a:r>
              <a:rPr lang="zh-CN" altLang="en-US" sz="2400" dirty="0">
                <a:latin typeface="Times New Roman" panose="02020503050405090304" pitchFamily="18" charset="0"/>
                <a:ea typeface="宋体" pitchFamily="2" charset="-122"/>
                <a:cs typeface="Times New Roman" panose="02020503050405090304" pitchFamily="18" charset="0"/>
              </a:rPr>
              <a:t>个体词的取值范围, 缺省(</a:t>
            </a:r>
            <a:r>
              <a:rPr lang="en-US" altLang="zh-CN" sz="2400" dirty="0">
                <a:latin typeface="Times New Roman" panose="02020503050405090304" pitchFamily="18" charset="0"/>
                <a:ea typeface="宋体" pitchFamily="2" charset="-122"/>
                <a:cs typeface="Times New Roman" panose="02020503050405090304" pitchFamily="18" charset="0"/>
              </a:rPr>
              <a:t>default)</a:t>
            </a:r>
            <a:r>
              <a:rPr lang="zh-CN" altLang="en-US" sz="2400" dirty="0">
                <a:latin typeface="Times New Roman" panose="02020503050405090304" pitchFamily="18" charset="0"/>
                <a:ea typeface="宋体" pitchFamily="2" charset="-122"/>
                <a:cs typeface="Times New Roman" panose="02020503050405090304" pitchFamily="18" charset="0"/>
              </a:rPr>
              <a:t>采用全总个体域.   </a:t>
            </a:r>
            <a:endParaRPr lang="zh-CN" altLang="en-US" sz="2400" dirty="0">
              <a:latin typeface="Times New Roman" panose="02020503050405090304" pitchFamily="18" charset="0"/>
              <a:ea typeface="宋体" pitchFamily="2" charset="-122"/>
              <a:cs typeface="Times New Roman" panose="02020503050405090304" pitchFamily="18" charset="0"/>
            </a:endParaRPr>
          </a:p>
          <a:p>
            <a:pPr eaLnBrk="1" hangingPunct="1">
              <a:spcBef>
                <a:spcPts val="600"/>
              </a:spcBef>
              <a:spcAft>
                <a:spcPts val="600"/>
              </a:spcAft>
            </a:pPr>
            <a:r>
              <a:rPr lang="zh-CN" altLang="en-US" sz="2400" b="1" dirty="0">
                <a:latin typeface="Times New Roman" panose="02020503050405090304" pitchFamily="18" charset="0"/>
                <a:ea typeface="宋体" pitchFamily="2" charset="-122"/>
                <a:cs typeface="Times New Roman" panose="02020503050405090304" pitchFamily="18" charset="0"/>
              </a:rPr>
              <a:t>全总个体域: </a:t>
            </a:r>
            <a:r>
              <a:rPr lang="zh-CN" altLang="en-US" sz="2400" dirty="0">
                <a:latin typeface="Times New Roman" panose="02020503050405090304" pitchFamily="18" charset="0"/>
                <a:ea typeface="宋体" pitchFamily="2" charset="-122"/>
                <a:cs typeface="Times New Roman" panose="02020503050405090304" pitchFamily="18" charset="0"/>
              </a:rPr>
              <a:t>世界上的万事万物</a:t>
            </a:r>
            <a:endParaRPr lang="zh-CN" altLang="en-US" sz="2400" dirty="0">
              <a:latin typeface="Times New Roman" panose="02020503050405090304" pitchFamily="18" charset="0"/>
              <a:ea typeface="宋体" pitchFamily="2" charset="-122"/>
              <a:cs typeface="Times New Roman" panose="02020503050405090304" pitchFamily="18" charset="0"/>
            </a:endParaRPr>
          </a:p>
          <a:p>
            <a:pPr eaLnBrk="1" hangingPunct="1">
              <a:spcBef>
                <a:spcPts val="600"/>
              </a:spcBef>
              <a:spcAft>
                <a:spcPts val="600"/>
              </a:spcAft>
            </a:pPr>
            <a:r>
              <a:rPr lang="zh-CN" altLang="en-US" sz="2400" b="1" dirty="0">
                <a:latin typeface="Times New Roman" panose="02020503050405090304" pitchFamily="18" charset="0"/>
                <a:ea typeface="宋体" pitchFamily="2" charset="-122"/>
                <a:cs typeface="Times New Roman" panose="02020503050405090304" pitchFamily="18" charset="0"/>
              </a:rPr>
              <a:t>特性谓词: </a:t>
            </a:r>
            <a:r>
              <a:rPr lang="en-US" altLang="zh-CN" sz="2400" b="1" dirty="0">
                <a:latin typeface="Times New Roman" panose="02020503050405090304" pitchFamily="18" charset="0"/>
                <a:ea typeface="宋体" pitchFamily="2" charset="-122"/>
                <a:cs typeface="Times New Roman" panose="02020503050405090304" pitchFamily="18" charset="0"/>
              </a:rPr>
              <a:t>	P( ) </a:t>
            </a:r>
            <a:r>
              <a:rPr lang="zh-CN" altLang="en-US" sz="2400" dirty="0">
                <a:latin typeface="Times New Roman" panose="02020503050405090304" pitchFamily="18" charset="0"/>
                <a:ea typeface="宋体" pitchFamily="2" charset="-122"/>
                <a:cs typeface="Times New Roman" panose="02020503050405090304" pitchFamily="18" charset="0"/>
              </a:rPr>
              <a:t>表示所关注的对象的性质</a:t>
            </a:r>
            <a:endParaRPr lang="zh-CN" altLang="en-US" sz="2400" dirty="0">
              <a:latin typeface="Times New Roman" panose="02020503050405090304" pitchFamily="18" charset="0"/>
              <a:ea typeface="宋体" pitchFamily="2" charset="-122"/>
              <a:cs typeface="Times New Roman" panose="02020503050405090304" pitchFamily="18" charset="0"/>
            </a:endParaRPr>
          </a:p>
          <a:p>
            <a:pPr eaLnBrk="1" hangingPunct="1">
              <a:spcBef>
                <a:spcPts val="600"/>
              </a:spcBef>
              <a:spcAft>
                <a:spcPts val="600"/>
              </a:spcAft>
            </a:pPr>
            <a:r>
              <a:rPr lang="zh-CN" altLang="en-US" sz="2400" b="1" dirty="0">
                <a:latin typeface="Times New Roman" panose="02020503050405090304" pitchFamily="18" charset="0"/>
                <a:ea typeface="宋体" pitchFamily="2" charset="-122"/>
                <a:cs typeface="Times New Roman" panose="02020503050405090304" pitchFamily="18" charset="0"/>
              </a:rPr>
              <a:t>两类量词：</a:t>
            </a:r>
            <a:r>
              <a:rPr lang="en-US" altLang="zh-CN" sz="2400" b="1" dirty="0">
                <a:latin typeface="Times New Roman" panose="02020503050405090304" pitchFamily="18" charset="0"/>
                <a:ea typeface="宋体" pitchFamily="2" charset="-122"/>
                <a:cs typeface="Times New Roman" panose="02020503050405090304" pitchFamily="18" charset="0"/>
                <a:sym typeface="Symbol" panose="05050102010706020507" pitchFamily="18" charset="2"/>
              </a:rPr>
              <a:t></a:t>
            </a:r>
            <a:r>
              <a:rPr lang="zh-CN" altLang="en-US" sz="2400" b="1" dirty="0">
                <a:latin typeface="Times New Roman" panose="02020503050405090304" pitchFamily="18" charset="0"/>
                <a:ea typeface="宋体" pitchFamily="2" charset="-122"/>
                <a:cs typeface="Times New Roman" panose="02020503050405090304" pitchFamily="18" charset="0"/>
                <a:sym typeface="Symbol" panose="05050102010706020507" pitchFamily="18" charset="2"/>
              </a:rPr>
              <a:t>， </a:t>
            </a:r>
            <a:endParaRPr lang="en-US" altLang="zh-CN" sz="2400" b="1" dirty="0">
              <a:latin typeface="Times New Roman" panose="02020503050405090304" pitchFamily="18" charset="0"/>
              <a:ea typeface="宋体" pitchFamily="2" charset="-122"/>
              <a:cs typeface="Times New Roman" panose="02020503050405090304" pitchFamily="18" charset="0"/>
            </a:endParaRPr>
          </a:p>
          <a:p>
            <a:pPr eaLnBrk="1" hangingPunct="1">
              <a:spcBef>
                <a:spcPts val="600"/>
              </a:spcBef>
              <a:spcAft>
                <a:spcPts val="600"/>
              </a:spcAft>
            </a:pPr>
            <a:r>
              <a:rPr lang="zh-CN" altLang="en-US" sz="2400" b="1" dirty="0">
                <a:latin typeface="Times New Roman" panose="02020503050405090304" pitchFamily="18" charset="0"/>
                <a:ea typeface="宋体" pitchFamily="2" charset="-122"/>
                <a:cs typeface="Times New Roman" panose="02020503050405090304" pitchFamily="18" charset="0"/>
              </a:rPr>
              <a:t>量词的否定、嵌套和顺序</a:t>
            </a:r>
            <a:endParaRPr lang="en-US" altLang="zh-CN" sz="2400" b="1" dirty="0">
              <a:latin typeface="Times New Roman" panose="02020503050405090304" pitchFamily="18" charset="0"/>
              <a:ea typeface="宋体" pitchFamily="2" charset="-122"/>
              <a:cs typeface="Times New Roman" panose="02020503050405090304" pitchFamily="18" charset="0"/>
            </a:endParaRPr>
          </a:p>
          <a:p>
            <a:pPr eaLnBrk="1" hangingPunct="1">
              <a:spcBef>
                <a:spcPts val="600"/>
              </a:spcBef>
              <a:spcAft>
                <a:spcPts val="600"/>
              </a:spcAft>
            </a:pPr>
            <a:r>
              <a:rPr lang="zh-CN" altLang="en-US" sz="2400" b="1" dirty="0">
                <a:latin typeface="Times New Roman" panose="02020503050405090304" pitchFamily="18" charset="0"/>
                <a:ea typeface="宋体" pitchFamily="2" charset="-122"/>
                <a:cs typeface="Times New Roman" panose="02020503050405090304" pitchFamily="18" charset="0"/>
              </a:rPr>
              <a:t>谓词逻辑的基础应用：</a:t>
            </a:r>
            <a:endParaRPr lang="en-US" altLang="zh-CN" sz="2400" b="1" dirty="0">
              <a:latin typeface="Times New Roman" panose="02020503050405090304" pitchFamily="18" charset="0"/>
              <a:ea typeface="宋体" pitchFamily="2" charset="-122"/>
              <a:cs typeface="Times New Roman" panose="02020503050405090304" pitchFamily="18" charset="0"/>
            </a:endParaRPr>
          </a:p>
          <a:p>
            <a:pPr lvl="1" eaLnBrk="1" hangingPunct="1">
              <a:spcBef>
                <a:spcPts val="600"/>
              </a:spcBef>
              <a:spcAft>
                <a:spcPts val="600"/>
              </a:spcAft>
            </a:pPr>
            <a:r>
              <a:rPr lang="zh-CN" altLang="en-US" sz="2000" b="1" dirty="0">
                <a:latin typeface="Times New Roman" panose="02020503050405090304" pitchFamily="18" charset="0"/>
                <a:ea typeface="宋体" pitchFamily="2" charset="-122"/>
                <a:cs typeface="Times New Roman" panose="02020503050405090304" pitchFamily="18" charset="0"/>
              </a:rPr>
              <a:t>谓词逻辑到自然语言的翻译</a:t>
            </a:r>
            <a:endParaRPr lang="en-US" altLang="zh-CN" sz="2000" b="1" dirty="0">
              <a:latin typeface="Times New Roman" panose="02020503050405090304" pitchFamily="18" charset="0"/>
              <a:ea typeface="宋体" pitchFamily="2" charset="-122"/>
              <a:cs typeface="Times New Roman" panose="02020503050405090304" pitchFamily="18" charset="0"/>
            </a:endParaRPr>
          </a:p>
          <a:p>
            <a:pPr lvl="1" eaLnBrk="1" hangingPunct="1">
              <a:spcBef>
                <a:spcPts val="600"/>
              </a:spcBef>
              <a:spcAft>
                <a:spcPts val="600"/>
              </a:spcAft>
            </a:pPr>
            <a:r>
              <a:rPr lang="zh-CN" altLang="en-US" sz="2000" b="1" dirty="0">
                <a:latin typeface="Times New Roman" panose="02020503050405090304" pitchFamily="18" charset="0"/>
                <a:ea typeface="宋体" pitchFamily="2" charset="-122"/>
                <a:cs typeface="Times New Roman" panose="02020503050405090304" pitchFamily="18" charset="0"/>
              </a:rPr>
              <a:t>自然语言到谓词逻辑的翻译</a:t>
            </a:r>
            <a:endParaRPr lang="en-US" altLang="zh-CN" sz="2000" b="1" dirty="0">
              <a:latin typeface="Times New Roman" panose="02020503050405090304" pitchFamily="18" charset="0"/>
              <a:ea typeface="宋体" pitchFamily="2" charset="-122"/>
              <a:cs typeface="Times New Roman" panose="0202050305040509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60E465B-4201-45F8-895E-A653B1F6C65E}"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277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79A8CD0-2700-4789-B4DF-23938FEDBE7B}"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277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2773" name="Rectangle 2"/>
          <p:cNvSpPr>
            <a:spLocks noGrp="1" noChangeArrowheads="1"/>
          </p:cNvSpPr>
          <p:nvPr>
            <p:ph type="title"/>
          </p:nvPr>
        </p:nvSpPr>
        <p:spPr>
          <a:xfrm>
            <a:off x="1043623" y="101283"/>
            <a:ext cx="7793037" cy="1143000"/>
          </a:xfrm>
        </p:spPr>
        <p:txBody>
          <a:bodyPr/>
          <a:lstStyle/>
          <a:p>
            <a:pPr eaLnBrk="1" hangingPunct="1"/>
            <a:r>
              <a:rPr lang="en-US" altLang="zh-CN"/>
              <a:t>Homework</a:t>
            </a:r>
            <a:endParaRPr lang="en-US" altLang="zh-CN"/>
          </a:p>
        </p:txBody>
      </p:sp>
      <p:sp>
        <p:nvSpPr>
          <p:cNvPr id="32774" name="Rectangle 3"/>
          <p:cNvSpPr>
            <a:spLocks noGrp="1" noChangeArrowheads="1"/>
          </p:cNvSpPr>
          <p:nvPr>
            <p:ph type="body" idx="1"/>
          </p:nvPr>
        </p:nvSpPr>
        <p:spPr/>
        <p:txBody>
          <a:bodyPr/>
          <a:lstStyle/>
          <a:p>
            <a:pPr eaLnBrk="1" hangingPunct="1"/>
            <a:r>
              <a:rPr lang="en-US" altLang="zh-CN"/>
              <a:t>§1.5</a:t>
            </a:r>
            <a:endParaRPr lang="en-US" altLang="zh-CN"/>
          </a:p>
          <a:p>
            <a:pPr lvl="1" eaLnBrk="1" hangingPunct="1"/>
            <a:r>
              <a:rPr lang="en-US" altLang="zh-CN"/>
              <a:t> 10, 28, 34, 46</a:t>
            </a: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ctrTitle"/>
          </p:nvPr>
        </p:nvSpPr>
        <p:spPr/>
        <p:txBody>
          <a:bodyPr/>
          <a:lstStyle/>
          <a:p>
            <a:pPr eaLnBrk="1" hangingPunct="1"/>
            <a:r>
              <a:rPr lang="zh-CN" altLang="en-US"/>
              <a:t>一阶逻辑的合式公式</a:t>
            </a:r>
            <a:endParaRPr lang="zh-CN" altLang="en-US"/>
          </a:p>
        </p:txBody>
      </p:sp>
      <p:sp>
        <p:nvSpPr>
          <p:cNvPr id="33795" name="Rectangle 3"/>
          <p:cNvSpPr>
            <a:spLocks noGrp="1" noChangeArrowheads="1"/>
          </p:cNvSpPr>
          <p:nvPr>
            <p:ph type="subTitle" idx="1"/>
          </p:nvPr>
        </p:nvSpPr>
        <p:spPr/>
        <p:txBody>
          <a:bodyPr/>
          <a:lstStyle/>
          <a:p>
            <a:pPr eaLnBrk="1" hangingPunct="1"/>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600653A9-5C78-4068-974D-3A3CA372A551}"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481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26EFE284-2EC8-4317-A232-D3932CD24B67}"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482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4821" name="Rectangle 2"/>
          <p:cNvSpPr>
            <a:spLocks noGrp="1" noChangeArrowheads="1"/>
          </p:cNvSpPr>
          <p:nvPr>
            <p:ph type="title"/>
          </p:nvPr>
        </p:nvSpPr>
        <p:spPr>
          <a:xfrm>
            <a:off x="1043623" y="-27622"/>
            <a:ext cx="7793037" cy="1143000"/>
          </a:xfrm>
        </p:spPr>
        <p:txBody>
          <a:bodyPr/>
          <a:lstStyle/>
          <a:p>
            <a:pPr eaLnBrk="1" hangingPunct="1"/>
            <a:r>
              <a:rPr lang="zh-CN" altLang="en-US"/>
              <a:t>个体词</a:t>
            </a:r>
            <a:endParaRPr lang="zh-CN" altLang="en-US"/>
          </a:p>
        </p:txBody>
      </p:sp>
      <p:sp>
        <p:nvSpPr>
          <p:cNvPr id="34822" name="Rectangle 3"/>
          <p:cNvSpPr>
            <a:spLocks noGrp="1" noChangeArrowheads="1"/>
          </p:cNvSpPr>
          <p:nvPr>
            <p:ph type="body" idx="1"/>
          </p:nvPr>
        </p:nvSpPr>
        <p:spPr/>
        <p:txBody>
          <a:bodyPr/>
          <a:lstStyle/>
          <a:p>
            <a:pPr eaLnBrk="1" hangingPunct="1"/>
            <a:r>
              <a:rPr lang="zh-CN" altLang="en-US">
                <a:solidFill>
                  <a:schemeClr val="tx2"/>
                </a:solidFill>
              </a:rPr>
              <a:t>个体常项</a:t>
            </a:r>
            <a:endParaRPr lang="zh-CN" altLang="en-US">
              <a:solidFill>
                <a:schemeClr val="tx2"/>
              </a:solidFill>
            </a:endParaRPr>
          </a:p>
          <a:p>
            <a:pPr eaLnBrk="1" hangingPunct="1"/>
            <a:r>
              <a:rPr lang="zh-CN" altLang="en-US">
                <a:solidFill>
                  <a:schemeClr val="tx2"/>
                </a:solidFill>
              </a:rPr>
              <a:t>个体变项</a:t>
            </a:r>
            <a:endParaRPr lang="zh-CN" altLang="en-US">
              <a:solidFill>
                <a:schemeClr val="tx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E9C2A59E-585E-4AB9-A5B3-CC823D7B7A91}"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584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2B73C5B8-6582-4021-8E40-75F8A5AB645E}"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584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5845" name="Rectangle 2"/>
          <p:cNvSpPr>
            <a:spLocks noGrp="1" noChangeArrowheads="1"/>
          </p:cNvSpPr>
          <p:nvPr>
            <p:ph type="title"/>
          </p:nvPr>
        </p:nvSpPr>
        <p:spPr/>
        <p:txBody>
          <a:bodyPr/>
          <a:lstStyle/>
          <a:p>
            <a:pPr eaLnBrk="1" hangingPunct="1"/>
            <a:r>
              <a:rPr lang="zh-CN" altLang="en-US"/>
              <a:t>个体常项(</a:t>
            </a:r>
            <a:r>
              <a:rPr lang="en-US" altLang="zh-CN"/>
              <a:t>constant)</a:t>
            </a:r>
            <a:endParaRPr lang="en-US" altLang="zh-CN"/>
          </a:p>
        </p:txBody>
      </p:sp>
      <p:sp>
        <p:nvSpPr>
          <p:cNvPr id="35846" name="Rectangle 3"/>
          <p:cNvSpPr>
            <a:spLocks noGrp="1" noChangeArrowheads="1"/>
          </p:cNvSpPr>
          <p:nvPr>
            <p:ph type="body" idx="1"/>
          </p:nvPr>
        </p:nvSpPr>
        <p:spPr/>
        <p:txBody>
          <a:bodyPr/>
          <a:lstStyle/>
          <a:p>
            <a:pPr eaLnBrk="1" hangingPunct="1"/>
            <a:r>
              <a:rPr lang="zh-CN" altLang="en-US">
                <a:solidFill>
                  <a:schemeClr val="tx2"/>
                </a:solidFill>
              </a:rPr>
              <a:t>表示具体的特定对象</a:t>
            </a:r>
            <a:endParaRPr lang="zh-CN" altLang="en-US">
              <a:solidFill>
                <a:schemeClr val="tx2"/>
              </a:solidFill>
            </a:endParaRPr>
          </a:p>
          <a:p>
            <a:pPr eaLnBrk="1" hangingPunct="1"/>
            <a:r>
              <a:rPr lang="zh-CN" altLang="en-US">
                <a:solidFill>
                  <a:schemeClr val="tx2"/>
                </a:solidFill>
              </a:rPr>
              <a:t>用小写英文字母</a:t>
            </a:r>
            <a:r>
              <a:rPr lang="en-US" altLang="zh-CN">
                <a:solidFill>
                  <a:schemeClr val="tx2"/>
                </a:solidFill>
              </a:rPr>
              <a:t>a,b,c,</a:t>
            </a:r>
            <a:r>
              <a:rPr lang="en-US" altLang="zh-CN">
                <a:solidFill>
                  <a:schemeClr val="tx2"/>
                </a:solidFill>
                <a:latin typeface="Arial" panose="020B0604020202090204" pitchFamily="34" charset="0"/>
              </a:rPr>
              <a:t>…</a:t>
            </a:r>
            <a:r>
              <a:rPr lang="zh-CN" altLang="en-US">
                <a:solidFill>
                  <a:schemeClr val="tx2"/>
                </a:solidFill>
              </a:rPr>
              <a:t>来表示</a:t>
            </a:r>
            <a:endParaRPr lang="zh-CN" altLang="en-US">
              <a:solidFill>
                <a:schemeClr val="tx2"/>
              </a:solidFill>
            </a:endParaRPr>
          </a:p>
          <a:p>
            <a:pPr eaLnBrk="1" hangingPunct="1"/>
            <a:r>
              <a:rPr lang="zh-CN" altLang="en-US">
                <a:solidFill>
                  <a:schemeClr val="tx2"/>
                </a:solidFill>
              </a:rPr>
              <a:t>例如：</a:t>
            </a:r>
            <a:r>
              <a:rPr lang="en-US" altLang="zh-CN">
                <a:solidFill>
                  <a:schemeClr val="tx2"/>
                </a:solidFill>
              </a:rPr>
              <a:t>    a:</a:t>
            </a:r>
            <a:r>
              <a:rPr lang="zh-CN" altLang="en-US">
                <a:solidFill>
                  <a:schemeClr val="tx2"/>
                </a:solidFill>
              </a:rPr>
              <a:t>王大明，</a:t>
            </a:r>
            <a:r>
              <a:rPr lang="en-US" altLang="zh-CN">
                <a:solidFill>
                  <a:schemeClr val="tx2"/>
                </a:solidFill>
              </a:rPr>
              <a:t>b:</a:t>
            </a:r>
            <a:r>
              <a:rPr lang="zh-CN" altLang="en-US">
                <a:solidFill>
                  <a:schemeClr val="tx2"/>
                </a:solidFill>
              </a:rPr>
              <a:t>王小明，</a:t>
            </a:r>
            <a:endParaRPr lang="zh-CN" altLang="en-US">
              <a:solidFill>
                <a:schemeClr val="tx2"/>
              </a:solidFill>
            </a:endParaRPr>
          </a:p>
          <a:p>
            <a:pPr eaLnBrk="1" hangingPunct="1">
              <a:buFont typeface="Wingdings" panose="05000000000000000000" pitchFamily="2" charset="2"/>
              <a:buNone/>
            </a:pPr>
            <a:r>
              <a:rPr lang="en-US" altLang="zh-CN">
                <a:solidFill>
                  <a:schemeClr val="tx2"/>
                </a:solidFill>
              </a:rPr>
              <a:t>                 G(x,y): x</a:t>
            </a:r>
            <a:r>
              <a:rPr lang="zh-CN" altLang="en-US">
                <a:solidFill>
                  <a:schemeClr val="tx2"/>
                </a:solidFill>
              </a:rPr>
              <a:t>与</a:t>
            </a:r>
            <a:r>
              <a:rPr lang="en-US" altLang="zh-CN">
                <a:solidFill>
                  <a:schemeClr val="tx2"/>
                </a:solidFill>
              </a:rPr>
              <a:t>y</a:t>
            </a:r>
            <a:r>
              <a:rPr lang="zh-CN" altLang="en-US">
                <a:solidFill>
                  <a:schemeClr val="tx2"/>
                </a:solidFill>
              </a:rPr>
              <a:t>是兄弟,</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    </a:t>
            </a:r>
            <a:r>
              <a:rPr lang="zh-CN" altLang="en-US">
                <a:solidFill>
                  <a:schemeClr val="tx2"/>
                </a:solidFill>
                <a:latin typeface="Arial" panose="020B0604020202090204" pitchFamily="34" charset="0"/>
              </a:rPr>
              <a:t>“</a:t>
            </a:r>
            <a:r>
              <a:rPr lang="zh-CN" altLang="en-US">
                <a:solidFill>
                  <a:schemeClr val="tx2"/>
                </a:solidFill>
              </a:rPr>
              <a:t>王大明与王小明是兄弟</a:t>
            </a:r>
            <a:r>
              <a:rPr lang="zh-CN" altLang="en-US">
                <a:solidFill>
                  <a:schemeClr val="tx2"/>
                </a:solidFill>
                <a:latin typeface="Arial" panose="020B0604020202090204" pitchFamily="34" charset="0"/>
              </a:rPr>
              <a:t>”</a:t>
            </a:r>
            <a:r>
              <a:rPr lang="zh-CN" altLang="en-US">
                <a:solidFill>
                  <a:schemeClr val="tx2"/>
                </a:solidFill>
              </a:rPr>
              <a:t>:  </a:t>
            </a:r>
            <a:r>
              <a:rPr lang="en-US" altLang="zh-CN">
                <a:solidFill>
                  <a:schemeClr val="tx2"/>
                </a:solidFill>
              </a:rPr>
              <a:t>G(a,b)</a:t>
            </a:r>
            <a:endParaRPr lang="en-US" altLang="zh-CN">
              <a:solidFill>
                <a:schemeClr val="tx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341D81A-930A-4307-BED3-FD7F924069BE}"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686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E55357C9-B96F-4261-BD6D-06BB8C242115}"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686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6869" name="Rectangle 2"/>
          <p:cNvSpPr>
            <a:spLocks noGrp="1" noChangeArrowheads="1"/>
          </p:cNvSpPr>
          <p:nvPr>
            <p:ph type="title"/>
          </p:nvPr>
        </p:nvSpPr>
        <p:spPr/>
        <p:txBody>
          <a:bodyPr/>
          <a:lstStyle/>
          <a:p>
            <a:pPr eaLnBrk="1" hangingPunct="1"/>
            <a:r>
              <a:rPr lang="zh-CN" altLang="en-US"/>
              <a:t>个体变项(</a:t>
            </a:r>
            <a:r>
              <a:rPr lang="en-US" altLang="zh-CN"/>
              <a:t>varible)</a:t>
            </a:r>
            <a:endParaRPr lang="en-US" altLang="zh-CN"/>
          </a:p>
        </p:txBody>
      </p:sp>
      <p:sp>
        <p:nvSpPr>
          <p:cNvPr id="36870" name="Rectangle 3"/>
          <p:cNvSpPr>
            <a:spLocks noGrp="1" noChangeArrowheads="1"/>
          </p:cNvSpPr>
          <p:nvPr>
            <p:ph type="body" idx="1"/>
          </p:nvPr>
        </p:nvSpPr>
        <p:spPr/>
        <p:txBody>
          <a:bodyPr/>
          <a:lstStyle/>
          <a:p>
            <a:pPr eaLnBrk="1" hangingPunct="1"/>
            <a:r>
              <a:rPr lang="zh-CN" altLang="en-US">
                <a:solidFill>
                  <a:schemeClr val="tx2"/>
                </a:solidFill>
              </a:rPr>
              <a:t>表示不确定的泛指对象</a:t>
            </a:r>
            <a:endParaRPr lang="zh-CN" altLang="en-US">
              <a:solidFill>
                <a:schemeClr val="tx2"/>
              </a:solidFill>
            </a:endParaRPr>
          </a:p>
          <a:p>
            <a:pPr eaLnBrk="1" hangingPunct="1"/>
            <a:r>
              <a:rPr lang="zh-CN" altLang="en-US">
                <a:solidFill>
                  <a:schemeClr val="tx2"/>
                </a:solidFill>
              </a:rPr>
              <a:t>用小写英文字母</a:t>
            </a:r>
            <a:r>
              <a:rPr lang="en-US" altLang="zh-CN">
                <a:solidFill>
                  <a:schemeClr val="tx2"/>
                </a:solidFill>
              </a:rPr>
              <a:t>x,y,z,</a:t>
            </a:r>
            <a:r>
              <a:rPr lang="en-US" altLang="zh-CN">
                <a:solidFill>
                  <a:schemeClr val="tx2"/>
                </a:solidFill>
                <a:latin typeface="Arial" panose="020B0604020202090204" pitchFamily="34" charset="0"/>
              </a:rPr>
              <a:t>…</a:t>
            </a:r>
            <a:r>
              <a:rPr lang="zh-CN" altLang="en-US">
                <a:solidFill>
                  <a:schemeClr val="tx2"/>
                </a:solidFill>
              </a:rPr>
              <a:t>来表示</a:t>
            </a:r>
            <a:endParaRPr lang="zh-CN" altLang="en-US">
              <a:solidFill>
                <a:schemeClr val="tx2"/>
              </a:solidFill>
            </a:endParaRPr>
          </a:p>
          <a:p>
            <a:pPr eaLnBrk="1" hangingPunct="1"/>
            <a:r>
              <a:rPr lang="zh-CN" altLang="en-US">
                <a:solidFill>
                  <a:schemeClr val="tx2"/>
                </a:solidFill>
              </a:rPr>
              <a:t>例如： </a:t>
            </a:r>
            <a:r>
              <a:rPr lang="en-US" altLang="zh-CN">
                <a:solidFill>
                  <a:schemeClr val="tx2"/>
                </a:solidFill>
              </a:rPr>
              <a:t>F(x):  x</a:t>
            </a:r>
            <a:r>
              <a:rPr lang="zh-CN" altLang="en-US">
                <a:solidFill>
                  <a:schemeClr val="tx2"/>
                </a:solidFill>
              </a:rPr>
              <a:t>是人。</a:t>
            </a:r>
            <a:r>
              <a:rPr lang="en-US" altLang="zh-CN">
                <a:solidFill>
                  <a:schemeClr val="tx2"/>
                </a:solidFill>
              </a:rPr>
              <a:t>G(x): x</a:t>
            </a:r>
            <a:r>
              <a:rPr lang="zh-CN" altLang="en-US">
                <a:solidFill>
                  <a:schemeClr val="tx2"/>
                </a:solidFill>
              </a:rPr>
              <a:t>是数。</a:t>
            </a:r>
            <a:endParaRPr lang="zh-CN" altLang="en-US">
              <a:solidFill>
                <a:schemeClr val="tx2"/>
              </a:solidFill>
            </a:endParaRPr>
          </a:p>
          <a:p>
            <a:pPr eaLnBrk="1" hangingPunct="1">
              <a:buFont typeface="Wingdings" panose="05000000000000000000" pitchFamily="2" charset="2"/>
              <a:buNone/>
            </a:pPr>
            <a:r>
              <a:rPr lang="en-US" altLang="zh-CN">
                <a:solidFill>
                  <a:schemeClr val="tx2"/>
                </a:solidFill>
              </a:rPr>
              <a:t>      </a:t>
            </a:r>
            <a:r>
              <a:rPr lang="en-US" altLang="zh-CN">
                <a:solidFill>
                  <a:schemeClr val="tx2"/>
                </a:solidFill>
                <a:latin typeface="Arial" panose="020B0604020202090204" pitchFamily="34" charset="0"/>
              </a:rPr>
              <a:t>“</a:t>
            </a:r>
            <a:r>
              <a:rPr lang="zh-CN" altLang="en-US">
                <a:solidFill>
                  <a:schemeClr val="tx2"/>
                </a:solidFill>
              </a:rPr>
              <a:t>存在着人</a:t>
            </a:r>
            <a:r>
              <a:rPr lang="zh-CN" altLang="en-US">
                <a:solidFill>
                  <a:schemeClr val="tx2"/>
                </a:solidFill>
                <a:latin typeface="Arial" panose="020B0604020202090204" pitchFamily="34" charset="0"/>
              </a:rPr>
              <a:t>”</a:t>
            </a:r>
            <a:r>
              <a:rPr lang="zh-CN" altLang="en-US">
                <a:solidFill>
                  <a:schemeClr val="tx2"/>
                </a:solidFill>
              </a:rPr>
              <a:t>: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a:t>
            </a:r>
            <a:endParaRPr lang="zh-CN" altLang="en-US">
              <a:solidFill>
                <a:schemeClr val="tx2"/>
              </a:solidFill>
            </a:endParaRPr>
          </a:p>
          <a:p>
            <a:pPr eaLnBrk="1" hangingPunct="1">
              <a:buFont typeface="Wingdings" panose="05000000000000000000" pitchFamily="2" charset="2"/>
              <a:buNone/>
            </a:pPr>
            <a:r>
              <a:rPr lang="en-US" altLang="zh-CN">
                <a:solidFill>
                  <a:schemeClr val="tx2"/>
                </a:solidFill>
              </a:rPr>
              <a:t>      </a:t>
            </a:r>
            <a:r>
              <a:rPr lang="en-US" altLang="zh-CN">
                <a:solidFill>
                  <a:schemeClr val="tx2"/>
                </a:solidFill>
                <a:latin typeface="Arial" panose="020B0604020202090204" pitchFamily="34" charset="0"/>
              </a:rPr>
              <a:t>“</a:t>
            </a:r>
            <a:r>
              <a:rPr lang="zh-CN" altLang="en-US">
                <a:solidFill>
                  <a:schemeClr val="tx2"/>
                </a:solidFill>
              </a:rPr>
              <a:t>仅有一人</a:t>
            </a:r>
            <a:r>
              <a:rPr lang="zh-CN" altLang="en-US">
                <a:solidFill>
                  <a:schemeClr val="tx2"/>
                </a:solidFill>
                <a:latin typeface="Arial" panose="020B0604020202090204" pitchFamily="34" charset="0"/>
              </a:rPr>
              <a:t>”</a:t>
            </a:r>
            <a:r>
              <a:rPr lang="zh-CN" altLang="en-US">
                <a:solidFill>
                  <a:schemeClr val="tx2"/>
                </a:solidFill>
              </a:rPr>
              <a:t>: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  </a:t>
            </a:r>
            <a:endParaRPr lang="en-US" altLang="zh-CN">
              <a:solidFill>
                <a:schemeClr val="tx2"/>
              </a:solidFill>
              <a:sym typeface="Symbol" panose="05050102010706020507" pitchFamily="18" charset="2"/>
            </a:endParaRPr>
          </a:p>
          <a:p>
            <a:pPr eaLnBrk="1" hangingPunct="1">
              <a:buFont typeface="Wingdings" panose="05000000000000000000" pitchFamily="2" charset="2"/>
              <a:buNone/>
            </a:pPr>
            <a:r>
              <a:rPr lang="zh-CN" altLang="en-US">
                <a:solidFill>
                  <a:schemeClr val="tx2"/>
                </a:solidFill>
                <a:sym typeface="Symbol" panose="05050102010706020507" pitchFamily="18" charset="2"/>
              </a:rPr>
              <a:t>      </a:t>
            </a:r>
            <a:r>
              <a:rPr lang="zh-CN" altLang="en-US">
                <a:solidFill>
                  <a:schemeClr val="tx2"/>
                </a:solidFill>
                <a:latin typeface="Arial" panose="020B0604020202090204" pitchFamily="34" charset="0"/>
                <a:sym typeface="Symbol" panose="05050102010706020507" pitchFamily="18" charset="2"/>
              </a:rPr>
              <a:t>“</a:t>
            </a:r>
            <a:r>
              <a:rPr lang="zh-CN" altLang="en-US">
                <a:solidFill>
                  <a:schemeClr val="tx2"/>
                </a:solidFill>
                <a:sym typeface="Symbol" panose="05050102010706020507" pitchFamily="18" charset="2"/>
              </a:rPr>
              <a:t>万物皆数</a:t>
            </a:r>
            <a:r>
              <a:rPr lang="zh-CN" altLang="en-US">
                <a:solidFill>
                  <a:schemeClr val="tx2"/>
                </a:solidFill>
                <a:latin typeface="Arial" panose="020B0604020202090204" pitchFamily="34" charset="0"/>
                <a:sym typeface="Symbol" panose="05050102010706020507" pitchFamily="18" charset="2"/>
              </a:rPr>
              <a:t>”</a:t>
            </a:r>
            <a:r>
              <a:rPr lang="zh-CN" altLang="en-US">
                <a:solidFill>
                  <a:schemeClr val="tx2"/>
                </a:solidFill>
                <a:sym typeface="Symbol" panose="05050102010706020507" pitchFamily="18" charset="2"/>
              </a:rPr>
              <a:t>:      </a:t>
            </a:r>
            <a:r>
              <a:rPr lang="en-US" altLang="zh-CN">
                <a:solidFill>
                  <a:schemeClr val="tx2"/>
                </a:solidFill>
                <a:sym typeface="Symbol" panose="05050102010706020507" pitchFamily="18" charset="2"/>
              </a:rPr>
              <a:t>xG(x)</a:t>
            </a:r>
            <a:r>
              <a:rPr lang="zh-CN" altLang="en-US">
                <a:solidFill>
                  <a:schemeClr val="tx2"/>
                </a:solidFill>
                <a:sym typeface="Symbol" panose="05050102010706020507" pitchFamily="18" charset="2"/>
              </a:rPr>
              <a:t> </a:t>
            </a:r>
            <a:endParaRPr lang="zh-CN" altLang="en-US">
              <a:solidFill>
                <a:schemeClr val="tx2"/>
              </a:solidFill>
              <a:sym typeface="Symbol" panose="05050102010706020507" pitchFamily="18" charset="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195B81A-6936-4BEC-A228-88553E439599}"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789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E7444D0B-2C50-4052-AF0C-EEA032E3601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789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7893" name="Rectangle 2"/>
          <p:cNvSpPr>
            <a:spLocks noGrp="1" noChangeArrowheads="1"/>
          </p:cNvSpPr>
          <p:nvPr>
            <p:ph type="title"/>
          </p:nvPr>
        </p:nvSpPr>
        <p:spPr/>
        <p:txBody>
          <a:bodyPr/>
          <a:lstStyle/>
          <a:p>
            <a:pPr eaLnBrk="1" hangingPunct="1"/>
            <a:r>
              <a:rPr lang="zh-CN" altLang="en-US"/>
              <a:t>一阶逻辑的字母表</a:t>
            </a:r>
            <a:endParaRPr lang="zh-CN" altLang="en-US"/>
          </a:p>
        </p:txBody>
      </p:sp>
      <p:sp>
        <p:nvSpPr>
          <p:cNvPr id="37894" name="Rectangle 3"/>
          <p:cNvSpPr>
            <a:spLocks noGrp="1" noChangeArrowheads="1"/>
          </p:cNvSpPr>
          <p:nvPr>
            <p:ph type="body" idx="1"/>
          </p:nvPr>
        </p:nvSpPr>
        <p:spPr>
          <a:xfrm>
            <a:off x="755650" y="1412558"/>
            <a:ext cx="7772400" cy="4114800"/>
          </a:xfrm>
        </p:spPr>
        <p:txBody>
          <a:bodyPr/>
          <a:lstStyle/>
          <a:p>
            <a:pPr eaLnBrk="1" hangingPunct="1"/>
            <a:r>
              <a:rPr lang="zh-CN" altLang="en-US" dirty="0">
                <a:solidFill>
                  <a:schemeClr val="tx2"/>
                </a:solidFill>
              </a:rPr>
              <a:t>个体常项:      </a:t>
            </a:r>
            <a:r>
              <a:rPr lang="en-US" altLang="zh-CN" dirty="0">
                <a:solidFill>
                  <a:schemeClr val="tx2"/>
                </a:solidFill>
              </a:rPr>
              <a:t>a, b, c, </a:t>
            </a:r>
            <a:r>
              <a:rPr lang="en-US" altLang="zh-CN" dirty="0">
                <a:solidFill>
                  <a:schemeClr val="tx2"/>
                </a:solidFill>
                <a:latin typeface="Arial" panose="020B0604020202090204" pitchFamily="34" charset="0"/>
              </a:rPr>
              <a:t>…</a:t>
            </a:r>
            <a:r>
              <a:rPr lang="en-US" altLang="zh-CN" dirty="0">
                <a:solidFill>
                  <a:schemeClr val="tx2"/>
                </a:solidFill>
              </a:rPr>
              <a:t>, a</a:t>
            </a:r>
            <a:r>
              <a:rPr lang="en-US" altLang="zh-CN" baseline="-25000" dirty="0">
                <a:solidFill>
                  <a:schemeClr val="tx2"/>
                </a:solidFill>
              </a:rPr>
              <a:t>1</a:t>
            </a:r>
            <a:r>
              <a:rPr lang="en-US" altLang="zh-CN" dirty="0">
                <a:solidFill>
                  <a:schemeClr val="tx2"/>
                </a:solidFill>
              </a:rPr>
              <a:t>, b</a:t>
            </a:r>
            <a:r>
              <a:rPr lang="en-US" altLang="zh-CN" baseline="-25000" dirty="0">
                <a:solidFill>
                  <a:schemeClr val="tx2"/>
                </a:solidFill>
              </a:rPr>
              <a:t>1</a:t>
            </a:r>
            <a:r>
              <a:rPr lang="en-US" altLang="zh-CN" dirty="0">
                <a:solidFill>
                  <a:schemeClr val="tx2"/>
                </a:solidFill>
              </a:rPr>
              <a:t>, c</a:t>
            </a:r>
            <a:r>
              <a:rPr lang="en-US" altLang="zh-CN" baseline="-25000" dirty="0">
                <a:solidFill>
                  <a:schemeClr val="tx2"/>
                </a:solidFill>
              </a:rPr>
              <a:t>1</a:t>
            </a:r>
            <a:r>
              <a:rPr lang="en-US" altLang="zh-CN" dirty="0">
                <a:solidFill>
                  <a:schemeClr val="tx2"/>
                </a:solidFill>
              </a:rPr>
              <a:t>,</a:t>
            </a:r>
            <a:r>
              <a:rPr lang="en-US" altLang="zh-CN" dirty="0">
                <a:solidFill>
                  <a:schemeClr val="tx2"/>
                </a:solidFill>
                <a:latin typeface="Arial" panose="020B0604020202090204" pitchFamily="34" charset="0"/>
              </a:rPr>
              <a:t>…</a:t>
            </a:r>
            <a:endParaRPr lang="en-US" altLang="zh-CN" dirty="0">
              <a:solidFill>
                <a:schemeClr val="tx2"/>
              </a:solidFill>
            </a:endParaRPr>
          </a:p>
          <a:p>
            <a:pPr eaLnBrk="1" hangingPunct="1"/>
            <a:r>
              <a:rPr lang="zh-CN" altLang="en-US" dirty="0">
                <a:solidFill>
                  <a:schemeClr val="tx2"/>
                </a:solidFill>
              </a:rPr>
              <a:t>个体变项:      </a:t>
            </a:r>
            <a:r>
              <a:rPr lang="en-US" altLang="zh-CN" dirty="0">
                <a:solidFill>
                  <a:schemeClr val="tx2"/>
                </a:solidFill>
              </a:rPr>
              <a:t>x, y, z, </a:t>
            </a:r>
            <a:r>
              <a:rPr lang="en-US" altLang="zh-CN" dirty="0">
                <a:solidFill>
                  <a:schemeClr val="tx2"/>
                </a:solidFill>
                <a:latin typeface="Arial" panose="020B0604020202090204" pitchFamily="34" charset="0"/>
              </a:rPr>
              <a:t>…</a:t>
            </a:r>
            <a:r>
              <a:rPr lang="en-US" altLang="zh-CN" dirty="0">
                <a:solidFill>
                  <a:schemeClr val="tx2"/>
                </a:solidFill>
              </a:rPr>
              <a:t>, x</a:t>
            </a:r>
            <a:r>
              <a:rPr lang="en-US" altLang="zh-CN" baseline="-25000" dirty="0">
                <a:solidFill>
                  <a:schemeClr val="tx2"/>
                </a:solidFill>
              </a:rPr>
              <a:t>1</a:t>
            </a:r>
            <a:r>
              <a:rPr lang="en-US" altLang="zh-CN" dirty="0">
                <a:solidFill>
                  <a:schemeClr val="tx2"/>
                </a:solidFill>
              </a:rPr>
              <a:t>, y</a:t>
            </a:r>
            <a:r>
              <a:rPr lang="en-US" altLang="zh-CN" baseline="-25000" dirty="0">
                <a:solidFill>
                  <a:schemeClr val="tx2"/>
                </a:solidFill>
              </a:rPr>
              <a:t>1</a:t>
            </a:r>
            <a:r>
              <a:rPr lang="en-US" altLang="zh-CN" dirty="0">
                <a:solidFill>
                  <a:schemeClr val="tx2"/>
                </a:solidFill>
              </a:rPr>
              <a:t>, z</a:t>
            </a:r>
            <a:r>
              <a:rPr lang="en-US" altLang="zh-CN" baseline="-25000" dirty="0">
                <a:solidFill>
                  <a:schemeClr val="tx2"/>
                </a:solidFill>
              </a:rPr>
              <a:t>1</a:t>
            </a:r>
            <a:r>
              <a:rPr lang="en-US" altLang="zh-CN" dirty="0">
                <a:solidFill>
                  <a:schemeClr val="tx2"/>
                </a:solidFill>
              </a:rPr>
              <a:t>,</a:t>
            </a:r>
            <a:r>
              <a:rPr lang="en-US" altLang="zh-CN" dirty="0">
                <a:solidFill>
                  <a:schemeClr val="tx2"/>
                </a:solidFill>
                <a:latin typeface="Arial" panose="020B0604020202090204" pitchFamily="34" charset="0"/>
              </a:rPr>
              <a:t>…</a:t>
            </a:r>
            <a:endParaRPr lang="en-US" altLang="zh-CN" dirty="0">
              <a:solidFill>
                <a:schemeClr val="tx2"/>
              </a:solidFill>
            </a:endParaRPr>
          </a:p>
          <a:p>
            <a:pPr eaLnBrk="1" hangingPunct="1"/>
            <a:r>
              <a:rPr lang="zh-CN" altLang="en-US" dirty="0">
                <a:solidFill>
                  <a:schemeClr val="tx2"/>
                </a:solidFill>
              </a:rPr>
              <a:t>函数符号:      </a:t>
            </a:r>
            <a:r>
              <a:rPr lang="en-US" altLang="zh-CN" dirty="0">
                <a:solidFill>
                  <a:schemeClr val="tx2"/>
                </a:solidFill>
              </a:rPr>
              <a:t>f, g, h, </a:t>
            </a:r>
            <a:r>
              <a:rPr lang="en-US" altLang="zh-CN" dirty="0">
                <a:solidFill>
                  <a:schemeClr val="tx2"/>
                </a:solidFill>
                <a:latin typeface="Arial" panose="020B0604020202090204" pitchFamily="34" charset="0"/>
              </a:rPr>
              <a:t>…</a:t>
            </a:r>
            <a:r>
              <a:rPr lang="en-US" altLang="zh-CN" dirty="0">
                <a:solidFill>
                  <a:schemeClr val="tx2"/>
                </a:solidFill>
              </a:rPr>
              <a:t>, f</a:t>
            </a:r>
            <a:r>
              <a:rPr lang="en-US" altLang="zh-CN" baseline="-25000" dirty="0">
                <a:solidFill>
                  <a:schemeClr val="tx2"/>
                </a:solidFill>
              </a:rPr>
              <a:t>1</a:t>
            </a:r>
            <a:r>
              <a:rPr lang="en-US" altLang="zh-CN" dirty="0">
                <a:solidFill>
                  <a:schemeClr val="tx2"/>
                </a:solidFill>
              </a:rPr>
              <a:t>, g</a:t>
            </a:r>
            <a:r>
              <a:rPr lang="en-US" altLang="zh-CN" baseline="-25000" dirty="0">
                <a:solidFill>
                  <a:schemeClr val="tx2"/>
                </a:solidFill>
              </a:rPr>
              <a:t>1</a:t>
            </a:r>
            <a:r>
              <a:rPr lang="en-US" altLang="zh-CN" dirty="0">
                <a:solidFill>
                  <a:schemeClr val="tx2"/>
                </a:solidFill>
              </a:rPr>
              <a:t>, h</a:t>
            </a:r>
            <a:r>
              <a:rPr lang="en-US" altLang="zh-CN" baseline="-25000" dirty="0">
                <a:solidFill>
                  <a:schemeClr val="tx2"/>
                </a:solidFill>
              </a:rPr>
              <a:t>1</a:t>
            </a:r>
            <a:r>
              <a:rPr lang="en-US" altLang="zh-CN" dirty="0">
                <a:solidFill>
                  <a:schemeClr val="tx2"/>
                </a:solidFill>
              </a:rPr>
              <a:t>,</a:t>
            </a:r>
            <a:r>
              <a:rPr lang="en-US" altLang="zh-CN" dirty="0">
                <a:solidFill>
                  <a:schemeClr val="tx2"/>
                </a:solidFill>
                <a:latin typeface="Arial" panose="020B0604020202090204" pitchFamily="34" charset="0"/>
              </a:rPr>
              <a:t>…</a:t>
            </a:r>
            <a:endParaRPr lang="en-US" altLang="zh-CN" dirty="0">
              <a:solidFill>
                <a:schemeClr val="tx2"/>
              </a:solidFill>
            </a:endParaRPr>
          </a:p>
          <a:p>
            <a:pPr eaLnBrk="1" hangingPunct="1"/>
            <a:r>
              <a:rPr lang="zh-CN" altLang="en-US" dirty="0">
                <a:solidFill>
                  <a:schemeClr val="tx2"/>
                </a:solidFill>
              </a:rPr>
              <a:t>谓词符号:      </a:t>
            </a:r>
            <a:r>
              <a:rPr lang="en-US" altLang="zh-CN" dirty="0">
                <a:solidFill>
                  <a:schemeClr val="tx2"/>
                </a:solidFill>
              </a:rPr>
              <a:t>F, G, H, </a:t>
            </a:r>
            <a:r>
              <a:rPr lang="en-US" altLang="zh-CN" dirty="0">
                <a:solidFill>
                  <a:schemeClr val="tx2"/>
                </a:solidFill>
                <a:latin typeface="Arial" panose="020B0604020202090204" pitchFamily="34" charset="0"/>
              </a:rPr>
              <a:t>…</a:t>
            </a:r>
            <a:r>
              <a:rPr lang="en-US" altLang="zh-CN" dirty="0">
                <a:solidFill>
                  <a:schemeClr val="tx2"/>
                </a:solidFill>
              </a:rPr>
              <a:t>, F</a:t>
            </a:r>
            <a:r>
              <a:rPr lang="en-US" altLang="zh-CN" baseline="-25000" dirty="0">
                <a:solidFill>
                  <a:schemeClr val="tx2"/>
                </a:solidFill>
              </a:rPr>
              <a:t>1</a:t>
            </a:r>
            <a:r>
              <a:rPr lang="en-US" altLang="zh-CN" dirty="0">
                <a:solidFill>
                  <a:schemeClr val="tx2"/>
                </a:solidFill>
              </a:rPr>
              <a:t>, G</a:t>
            </a:r>
            <a:r>
              <a:rPr lang="en-US" altLang="zh-CN" baseline="-25000" dirty="0">
                <a:solidFill>
                  <a:schemeClr val="tx2"/>
                </a:solidFill>
              </a:rPr>
              <a:t>1</a:t>
            </a:r>
            <a:r>
              <a:rPr lang="en-US" altLang="zh-CN" dirty="0">
                <a:solidFill>
                  <a:schemeClr val="tx2"/>
                </a:solidFill>
              </a:rPr>
              <a:t>, H</a:t>
            </a:r>
            <a:r>
              <a:rPr lang="en-US" altLang="zh-CN" baseline="-25000" dirty="0">
                <a:solidFill>
                  <a:schemeClr val="tx2"/>
                </a:solidFill>
              </a:rPr>
              <a:t>1</a:t>
            </a:r>
            <a:r>
              <a:rPr lang="en-US" altLang="zh-CN" dirty="0">
                <a:solidFill>
                  <a:schemeClr val="tx2"/>
                </a:solidFill>
              </a:rPr>
              <a:t>, </a:t>
            </a:r>
            <a:r>
              <a:rPr lang="en-US" altLang="zh-CN" dirty="0">
                <a:solidFill>
                  <a:schemeClr val="tx2"/>
                </a:solidFill>
                <a:latin typeface="Arial" panose="020B0604020202090204" pitchFamily="34" charset="0"/>
              </a:rPr>
              <a:t>…</a:t>
            </a:r>
            <a:endParaRPr lang="en-US" altLang="zh-CN" dirty="0">
              <a:solidFill>
                <a:schemeClr val="tx2"/>
              </a:solidFill>
            </a:endParaRPr>
          </a:p>
          <a:p>
            <a:pPr eaLnBrk="1" hangingPunct="1"/>
            <a:r>
              <a:rPr lang="zh-CN" altLang="en-US" dirty="0">
                <a:solidFill>
                  <a:schemeClr val="tx2"/>
                </a:solidFill>
              </a:rPr>
              <a:t>量词符号:      </a:t>
            </a:r>
            <a:r>
              <a:rPr lang="zh-CN" altLang="en-US" dirty="0">
                <a:solidFill>
                  <a:schemeClr val="tx2"/>
                </a:solidFill>
                <a:sym typeface="Symbol" panose="05050102010706020507" pitchFamily="18" charset="2"/>
              </a:rPr>
              <a:t>, </a:t>
            </a:r>
            <a:r>
              <a:rPr lang="en-US" altLang="zh-CN" dirty="0">
                <a:solidFill>
                  <a:schemeClr val="tx2"/>
                </a:solidFill>
                <a:sym typeface="Symbol" panose="05050102010706020507" pitchFamily="18" charset="2"/>
              </a:rPr>
              <a:t></a:t>
            </a:r>
            <a:endParaRPr lang="en-US" altLang="zh-CN" dirty="0">
              <a:solidFill>
                <a:schemeClr val="tx2"/>
              </a:solidFill>
              <a:sym typeface="Symbol" panose="05050102010706020507" pitchFamily="18" charset="2"/>
            </a:endParaRPr>
          </a:p>
          <a:p>
            <a:pPr eaLnBrk="1" hangingPunct="1"/>
            <a:r>
              <a:rPr lang="zh-CN" altLang="en-US" dirty="0">
                <a:solidFill>
                  <a:schemeClr val="tx2"/>
                </a:solidFill>
                <a:sym typeface="Symbol" panose="05050102010706020507" pitchFamily="18" charset="2"/>
              </a:rPr>
              <a:t>联结词符号:  </a:t>
            </a:r>
            <a:r>
              <a:rPr lang="en-US" altLang="zh-CN" dirty="0">
                <a:solidFill>
                  <a:schemeClr val="tx2"/>
                </a:solidFill>
                <a:latin typeface="Times New Roman" panose="02020503050405090304" pitchFamily="18" charset="0"/>
                <a:sym typeface="Symbol" panose="05050102010706020507" pitchFamily="18" charset="2"/>
              </a:rPr>
              <a:t></a:t>
            </a:r>
            <a:r>
              <a:rPr lang="en-US" altLang="zh-CN" dirty="0">
                <a:solidFill>
                  <a:schemeClr val="tx2"/>
                </a:solidFill>
                <a:sym typeface="Symbol" panose="05050102010706020507" pitchFamily="18" charset="2"/>
              </a:rPr>
              <a:t>, , , , </a:t>
            </a:r>
            <a:endParaRPr lang="en-US" altLang="zh-CN" dirty="0">
              <a:solidFill>
                <a:schemeClr val="tx2"/>
              </a:solidFill>
              <a:sym typeface="Symbol" panose="05050102010706020507" pitchFamily="18" charset="2"/>
            </a:endParaRPr>
          </a:p>
          <a:p>
            <a:pPr eaLnBrk="1" hangingPunct="1"/>
            <a:r>
              <a:rPr lang="zh-CN" altLang="en-US" dirty="0">
                <a:solidFill>
                  <a:schemeClr val="tx2"/>
                </a:solidFill>
                <a:sym typeface="Symbol" panose="05050102010706020507" pitchFamily="18" charset="2"/>
              </a:rPr>
              <a:t>括号与逗号:  (, ), ，</a:t>
            </a:r>
            <a:endParaRPr lang="en-US" altLang="zh-CN" dirty="0">
              <a:solidFill>
                <a:schemeClr val="tx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8EC6262-B978-4D44-AFB1-E71A4446F216}"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891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28D69A2-57BB-43FE-A530-575B72CB435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891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8917" name="Rectangle 2"/>
          <p:cNvSpPr>
            <a:spLocks noGrp="1" noChangeArrowheads="1"/>
          </p:cNvSpPr>
          <p:nvPr>
            <p:ph type="title"/>
          </p:nvPr>
        </p:nvSpPr>
        <p:spPr/>
        <p:txBody>
          <a:bodyPr/>
          <a:lstStyle/>
          <a:p>
            <a:pPr eaLnBrk="1" hangingPunct="1"/>
            <a:r>
              <a:rPr lang="zh-CN" altLang="en-US"/>
              <a:t>一阶逻辑的合式公式</a:t>
            </a:r>
            <a:endParaRPr lang="en-US" altLang="zh-CN"/>
          </a:p>
        </p:txBody>
      </p:sp>
      <p:sp>
        <p:nvSpPr>
          <p:cNvPr id="38918" name="Rectangle 3"/>
          <p:cNvSpPr>
            <a:spLocks noGrp="1" noChangeArrowheads="1"/>
          </p:cNvSpPr>
          <p:nvPr>
            <p:ph type="body" idx="1"/>
          </p:nvPr>
        </p:nvSpPr>
        <p:spPr/>
        <p:txBody>
          <a:bodyPr/>
          <a:lstStyle/>
          <a:p>
            <a:pPr eaLnBrk="1" hangingPunct="1"/>
            <a:r>
              <a:rPr lang="zh-CN" altLang="en-US">
                <a:solidFill>
                  <a:schemeClr val="tx2"/>
                </a:solidFill>
              </a:rPr>
              <a:t>项</a:t>
            </a:r>
            <a:endParaRPr lang="zh-CN" altLang="en-US">
              <a:solidFill>
                <a:schemeClr val="tx2"/>
              </a:solidFill>
            </a:endParaRPr>
          </a:p>
          <a:p>
            <a:pPr eaLnBrk="1" hangingPunct="1"/>
            <a:r>
              <a:rPr lang="zh-CN" altLang="en-US">
                <a:solidFill>
                  <a:schemeClr val="tx2"/>
                </a:solidFill>
              </a:rPr>
              <a:t>原子公式</a:t>
            </a:r>
            <a:endParaRPr lang="zh-CN" altLang="en-US">
              <a:solidFill>
                <a:schemeClr val="tx2"/>
              </a:solidFill>
            </a:endParaRPr>
          </a:p>
          <a:p>
            <a:pPr eaLnBrk="1" hangingPunct="1"/>
            <a:r>
              <a:rPr lang="zh-CN" altLang="en-US">
                <a:solidFill>
                  <a:schemeClr val="tx2"/>
                </a:solidFill>
              </a:rPr>
              <a:t>合式公式</a:t>
            </a:r>
            <a:endParaRPr lang="zh-CN" altLang="en-US">
              <a:solidFill>
                <a:schemeClr val="tx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C43D34C-9642-4717-A4E0-47FA4EC8392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993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19E3A9B-965D-4D88-A43C-C02101165BBE}"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3994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39941" name="Rectangle 2"/>
          <p:cNvSpPr>
            <a:spLocks noGrp="1" noChangeArrowheads="1"/>
          </p:cNvSpPr>
          <p:nvPr>
            <p:ph type="title"/>
          </p:nvPr>
        </p:nvSpPr>
        <p:spPr/>
        <p:txBody>
          <a:bodyPr/>
          <a:lstStyle/>
          <a:p>
            <a:pPr eaLnBrk="1" hangingPunct="1"/>
            <a:r>
              <a:rPr lang="zh-CN" altLang="en-US"/>
              <a:t>项(</a:t>
            </a:r>
            <a:r>
              <a:rPr lang="en-US" altLang="zh-CN"/>
              <a:t>term)</a:t>
            </a:r>
            <a:endParaRPr lang="en-US" altLang="zh-CN"/>
          </a:p>
        </p:txBody>
      </p:sp>
      <p:sp>
        <p:nvSpPr>
          <p:cNvPr id="39942" name="Rectangle 3"/>
          <p:cNvSpPr>
            <a:spLocks noGrp="1" noChangeArrowheads="1"/>
          </p:cNvSpPr>
          <p:nvPr>
            <p:ph type="body" idx="1"/>
          </p:nvPr>
        </p:nvSpPr>
        <p:spPr/>
        <p:txBody>
          <a:bodyPr/>
          <a:lstStyle/>
          <a:p>
            <a:pPr eaLnBrk="1" hangingPunct="1"/>
            <a:r>
              <a:rPr lang="zh-CN" altLang="en-US">
                <a:solidFill>
                  <a:schemeClr val="tx2"/>
                </a:solidFill>
              </a:rPr>
              <a:t>个体常项和个体变项是项</a:t>
            </a:r>
            <a:endParaRPr lang="zh-CN" altLang="en-US">
              <a:solidFill>
                <a:schemeClr val="tx2"/>
              </a:solidFill>
            </a:endParaRPr>
          </a:p>
          <a:p>
            <a:pPr eaLnBrk="1" hangingPunct="1"/>
            <a:r>
              <a:rPr lang="zh-CN" altLang="en-US">
                <a:solidFill>
                  <a:schemeClr val="tx2"/>
                </a:solidFill>
              </a:rPr>
              <a:t>若</a:t>
            </a:r>
            <a:r>
              <a:rPr lang="en-US" altLang="zh-CN">
                <a:solidFill>
                  <a:schemeClr val="tx2"/>
                </a:solidFill>
                <a:sym typeface="Symbol" panose="05050102010706020507" pitchFamily="18" charset="2"/>
              </a:rPr>
              <a:t>f(x</a:t>
            </a:r>
            <a:r>
              <a:rPr lang="en-US" altLang="zh-CN" baseline="-25000">
                <a:solidFill>
                  <a:schemeClr val="tx2"/>
                </a:solidFill>
                <a:sym typeface="Symbol" panose="05050102010706020507" pitchFamily="18" charset="2"/>
              </a:rPr>
              <a:t>1</a:t>
            </a:r>
            <a:r>
              <a:rPr lang="en-US" altLang="zh-CN" i="1">
                <a:solidFill>
                  <a:schemeClr val="tx2"/>
                </a:solidFill>
              </a:rPr>
              <a:t>,</a:t>
            </a:r>
            <a:r>
              <a:rPr lang="en-US" altLang="zh-CN">
                <a:solidFill>
                  <a:schemeClr val="tx2"/>
                </a:solidFill>
                <a:sym typeface="Symbol" panose="05050102010706020507" pitchFamily="18" charset="2"/>
              </a:rPr>
              <a:t>x</a:t>
            </a:r>
            <a:r>
              <a:rPr lang="en-US" altLang="zh-CN" baseline="-25000">
                <a:solidFill>
                  <a:schemeClr val="tx2"/>
                </a:solidFill>
                <a:sym typeface="Symbol" panose="05050102010706020507" pitchFamily="18" charset="2"/>
              </a:rPr>
              <a:t>2</a:t>
            </a:r>
            <a:r>
              <a:rPr lang="en-US" altLang="zh-CN" i="1">
                <a:solidFill>
                  <a:schemeClr val="tx2"/>
                </a:solidFill>
              </a:rPr>
              <a:t>,</a:t>
            </a:r>
            <a:r>
              <a:rPr lang="en-US" altLang="zh-CN" i="1">
                <a:solidFill>
                  <a:schemeClr val="tx2"/>
                </a:solidFill>
                <a:latin typeface="Arial" panose="020B0604020202090204" pitchFamily="34" charset="0"/>
              </a:rPr>
              <a:t>…</a:t>
            </a:r>
            <a:r>
              <a:rPr lang="en-US" altLang="zh-CN" i="1">
                <a:solidFill>
                  <a:schemeClr val="tx2"/>
                </a:solidFill>
              </a:rPr>
              <a:t>,</a:t>
            </a:r>
            <a:r>
              <a:rPr lang="en-US" altLang="zh-CN">
                <a:solidFill>
                  <a:schemeClr val="tx2"/>
                </a:solidFill>
                <a:sym typeface="Symbol" panose="05050102010706020507" pitchFamily="18" charset="2"/>
              </a:rPr>
              <a:t>x</a:t>
            </a:r>
            <a:r>
              <a:rPr lang="en-US" altLang="zh-CN" baseline="-25000">
                <a:solidFill>
                  <a:schemeClr val="tx2"/>
                </a:solidFill>
                <a:sym typeface="Symbol" panose="05050102010706020507" pitchFamily="18" charset="2"/>
              </a:rPr>
              <a:t>n</a:t>
            </a:r>
            <a:r>
              <a:rPr lang="zh-CN" altLang="en-US">
                <a:solidFill>
                  <a:schemeClr val="tx2"/>
                </a:solidFill>
              </a:rPr>
              <a:t>)是</a:t>
            </a:r>
            <a:r>
              <a:rPr lang="en-US" altLang="zh-CN">
                <a:solidFill>
                  <a:schemeClr val="tx2"/>
                </a:solidFill>
              </a:rPr>
              <a:t>n</a:t>
            </a:r>
            <a:r>
              <a:rPr lang="zh-CN" altLang="en-US">
                <a:solidFill>
                  <a:schemeClr val="tx2"/>
                </a:solidFill>
              </a:rPr>
              <a:t>元函数, </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1</a:t>
            </a:r>
            <a:r>
              <a:rPr lang="en-US" altLang="zh-CN" i="1">
                <a:solidFill>
                  <a:schemeClr val="tx2"/>
                </a:solidFill>
              </a:rPr>
              <a:t>,</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2</a:t>
            </a:r>
            <a:r>
              <a:rPr lang="en-US" altLang="zh-CN" i="1">
                <a:solidFill>
                  <a:schemeClr val="tx2"/>
                </a:solidFill>
              </a:rPr>
              <a:t>,</a:t>
            </a:r>
            <a:r>
              <a:rPr lang="en-US" altLang="zh-CN" i="1">
                <a:solidFill>
                  <a:schemeClr val="tx2"/>
                </a:solidFill>
                <a:latin typeface="Arial" panose="020B0604020202090204" pitchFamily="34" charset="0"/>
              </a:rPr>
              <a:t>…</a:t>
            </a:r>
            <a:r>
              <a:rPr lang="en-US" altLang="zh-CN" i="1">
                <a:solidFill>
                  <a:schemeClr val="tx2"/>
                </a:solidFill>
              </a:rPr>
              <a:t>,</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n</a:t>
            </a:r>
            <a:r>
              <a:rPr lang="zh-CN" altLang="en-US">
                <a:solidFill>
                  <a:schemeClr val="tx2"/>
                </a:solidFill>
              </a:rPr>
              <a:t>是项, 则</a:t>
            </a:r>
            <a:r>
              <a:rPr lang="en-US" altLang="zh-CN">
                <a:solidFill>
                  <a:schemeClr val="tx2"/>
                </a:solidFill>
                <a:sym typeface="Symbol" panose="05050102010706020507" pitchFamily="18" charset="2"/>
              </a:rPr>
              <a:t>f(t</a:t>
            </a:r>
            <a:r>
              <a:rPr lang="en-US" altLang="zh-CN" baseline="-25000">
                <a:solidFill>
                  <a:schemeClr val="tx2"/>
                </a:solidFill>
                <a:sym typeface="Symbol" panose="05050102010706020507" pitchFamily="18" charset="2"/>
              </a:rPr>
              <a:t>1</a:t>
            </a:r>
            <a:r>
              <a:rPr lang="en-US" altLang="zh-CN" i="1">
                <a:solidFill>
                  <a:schemeClr val="tx2"/>
                </a:solidFill>
              </a:rPr>
              <a:t>,</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2</a:t>
            </a:r>
            <a:r>
              <a:rPr lang="en-US" altLang="zh-CN" i="1">
                <a:solidFill>
                  <a:schemeClr val="tx2"/>
                </a:solidFill>
              </a:rPr>
              <a:t>,</a:t>
            </a:r>
            <a:r>
              <a:rPr lang="en-US" altLang="zh-CN" i="1">
                <a:solidFill>
                  <a:schemeClr val="tx2"/>
                </a:solidFill>
                <a:latin typeface="Arial" panose="020B0604020202090204" pitchFamily="34" charset="0"/>
              </a:rPr>
              <a:t>…</a:t>
            </a:r>
            <a:r>
              <a:rPr lang="en-US" altLang="zh-CN" i="1">
                <a:solidFill>
                  <a:schemeClr val="tx2"/>
                </a:solidFill>
              </a:rPr>
              <a:t>,</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n</a:t>
            </a:r>
            <a:r>
              <a:rPr lang="zh-CN" altLang="en-US">
                <a:solidFill>
                  <a:schemeClr val="tx2"/>
                </a:solidFill>
              </a:rPr>
              <a:t>)是项</a:t>
            </a:r>
            <a:endParaRPr lang="en-US" altLang="zh-CN">
              <a:solidFill>
                <a:schemeClr val="tx2"/>
              </a:solidFill>
            </a:endParaRPr>
          </a:p>
          <a:p>
            <a:pPr eaLnBrk="1" hangingPunct="1"/>
            <a:r>
              <a:rPr lang="zh-CN" altLang="en-US">
                <a:solidFill>
                  <a:schemeClr val="tx2"/>
                </a:solidFill>
              </a:rPr>
              <a:t>所有的项都是有限次地应用上述规则形成的</a:t>
            </a:r>
            <a:endParaRPr lang="zh-CN" altLang="en-US">
              <a:solidFill>
                <a:schemeClr val="tx2"/>
              </a:solidFill>
            </a:endParaRPr>
          </a:p>
          <a:p>
            <a:pPr eaLnBrk="1" hangingPunct="1"/>
            <a:r>
              <a:rPr lang="zh-CN" altLang="en-US">
                <a:solidFill>
                  <a:schemeClr val="tx2"/>
                </a:solidFill>
              </a:rPr>
              <a:t>例如:  </a:t>
            </a:r>
            <a:r>
              <a:rPr lang="en-US" altLang="zh-CN">
                <a:solidFill>
                  <a:schemeClr val="tx2"/>
                </a:solidFill>
              </a:rPr>
              <a:t>a,  x,  f(a),  g(a,x),   g(x,f(a))</a:t>
            </a:r>
            <a:endParaRPr lang="en-US" altLang="zh-CN">
              <a:solidFill>
                <a:schemeClr val="tx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C7B9A33-F67B-4F2D-816C-327E3589C390}"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096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E6010456-468B-4562-BB42-37E72981DC02}"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096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40965" name="Rectangle 2"/>
          <p:cNvSpPr>
            <a:spLocks noGrp="1" noChangeArrowheads="1"/>
          </p:cNvSpPr>
          <p:nvPr>
            <p:ph type="title"/>
          </p:nvPr>
        </p:nvSpPr>
        <p:spPr/>
        <p:txBody>
          <a:bodyPr/>
          <a:lstStyle/>
          <a:p>
            <a:pPr eaLnBrk="1" hangingPunct="1"/>
            <a:r>
              <a:rPr lang="zh-CN" altLang="en-US"/>
              <a:t>原子公式(</a:t>
            </a:r>
            <a:r>
              <a:rPr lang="en-US" altLang="zh-CN"/>
              <a:t>atomic formula)</a:t>
            </a:r>
            <a:endParaRPr lang="en-US" altLang="zh-CN"/>
          </a:p>
        </p:txBody>
      </p:sp>
      <p:sp>
        <p:nvSpPr>
          <p:cNvPr id="40966" name="Rectangle 3"/>
          <p:cNvSpPr>
            <a:spLocks noGrp="1" noChangeArrowheads="1"/>
          </p:cNvSpPr>
          <p:nvPr>
            <p:ph type="body" idx="1"/>
          </p:nvPr>
        </p:nvSpPr>
        <p:spPr/>
        <p:txBody>
          <a:bodyPr/>
          <a:lstStyle/>
          <a:p>
            <a:pPr eaLnBrk="1" hangingPunct="1"/>
            <a:r>
              <a:rPr lang="zh-CN" altLang="en-US">
                <a:solidFill>
                  <a:schemeClr val="tx2"/>
                </a:solidFill>
              </a:rPr>
              <a:t>若</a:t>
            </a:r>
            <a:r>
              <a:rPr lang="en-US" altLang="zh-CN">
                <a:solidFill>
                  <a:schemeClr val="tx2"/>
                </a:solidFill>
              </a:rPr>
              <a:t>R</a:t>
            </a:r>
            <a:r>
              <a:rPr lang="en-US" altLang="zh-CN">
                <a:solidFill>
                  <a:schemeClr val="tx2"/>
                </a:solidFill>
                <a:sym typeface="Symbol" panose="05050102010706020507" pitchFamily="18" charset="2"/>
              </a:rPr>
              <a:t>(x</a:t>
            </a:r>
            <a:r>
              <a:rPr lang="en-US" altLang="zh-CN" baseline="-25000">
                <a:solidFill>
                  <a:schemeClr val="tx2"/>
                </a:solidFill>
                <a:sym typeface="Symbol" panose="05050102010706020507" pitchFamily="18" charset="2"/>
              </a:rPr>
              <a:t>1</a:t>
            </a:r>
            <a:r>
              <a:rPr lang="en-US" altLang="zh-CN" i="1">
                <a:solidFill>
                  <a:schemeClr val="tx2"/>
                </a:solidFill>
              </a:rPr>
              <a:t>,</a:t>
            </a:r>
            <a:r>
              <a:rPr lang="en-US" altLang="zh-CN">
                <a:solidFill>
                  <a:schemeClr val="tx2"/>
                </a:solidFill>
                <a:sym typeface="Symbol" panose="05050102010706020507" pitchFamily="18" charset="2"/>
              </a:rPr>
              <a:t>x</a:t>
            </a:r>
            <a:r>
              <a:rPr lang="en-US" altLang="zh-CN" baseline="-25000">
                <a:solidFill>
                  <a:schemeClr val="tx2"/>
                </a:solidFill>
                <a:sym typeface="Symbol" panose="05050102010706020507" pitchFamily="18" charset="2"/>
              </a:rPr>
              <a:t>2</a:t>
            </a:r>
            <a:r>
              <a:rPr lang="en-US" altLang="zh-CN" i="1">
                <a:solidFill>
                  <a:schemeClr val="tx2"/>
                </a:solidFill>
              </a:rPr>
              <a:t>,</a:t>
            </a:r>
            <a:r>
              <a:rPr lang="en-US" altLang="zh-CN" i="1">
                <a:solidFill>
                  <a:schemeClr val="tx2"/>
                </a:solidFill>
                <a:latin typeface="Arial" panose="020B0604020202090204" pitchFamily="34" charset="0"/>
              </a:rPr>
              <a:t>…</a:t>
            </a:r>
            <a:r>
              <a:rPr lang="en-US" altLang="zh-CN" i="1">
                <a:solidFill>
                  <a:schemeClr val="tx2"/>
                </a:solidFill>
              </a:rPr>
              <a:t>,</a:t>
            </a:r>
            <a:r>
              <a:rPr lang="en-US" altLang="zh-CN">
                <a:solidFill>
                  <a:schemeClr val="tx2"/>
                </a:solidFill>
                <a:sym typeface="Symbol" panose="05050102010706020507" pitchFamily="18" charset="2"/>
              </a:rPr>
              <a:t>x</a:t>
            </a:r>
            <a:r>
              <a:rPr lang="en-US" altLang="zh-CN" baseline="-25000">
                <a:solidFill>
                  <a:schemeClr val="tx2"/>
                </a:solidFill>
                <a:sym typeface="Symbol" panose="05050102010706020507" pitchFamily="18" charset="2"/>
              </a:rPr>
              <a:t>n</a:t>
            </a:r>
            <a:r>
              <a:rPr lang="zh-CN" altLang="en-US">
                <a:solidFill>
                  <a:schemeClr val="tx2"/>
                </a:solidFill>
              </a:rPr>
              <a:t>)是</a:t>
            </a:r>
            <a:r>
              <a:rPr lang="en-US" altLang="zh-CN">
                <a:solidFill>
                  <a:schemeClr val="tx2"/>
                </a:solidFill>
              </a:rPr>
              <a:t>n</a:t>
            </a:r>
            <a:r>
              <a:rPr lang="zh-CN" altLang="en-US">
                <a:solidFill>
                  <a:schemeClr val="tx2"/>
                </a:solidFill>
              </a:rPr>
              <a:t>元谓词, </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1</a:t>
            </a:r>
            <a:r>
              <a:rPr lang="en-US" altLang="zh-CN" i="1">
                <a:solidFill>
                  <a:schemeClr val="tx2"/>
                </a:solidFill>
              </a:rPr>
              <a:t>,</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2</a:t>
            </a:r>
            <a:r>
              <a:rPr lang="en-US" altLang="zh-CN" i="1">
                <a:solidFill>
                  <a:schemeClr val="tx2"/>
                </a:solidFill>
              </a:rPr>
              <a:t>,</a:t>
            </a:r>
            <a:r>
              <a:rPr lang="en-US" altLang="zh-CN" i="1">
                <a:solidFill>
                  <a:schemeClr val="tx2"/>
                </a:solidFill>
                <a:latin typeface="Arial" panose="020B0604020202090204" pitchFamily="34" charset="0"/>
              </a:rPr>
              <a:t>…</a:t>
            </a:r>
            <a:r>
              <a:rPr lang="en-US" altLang="zh-CN" i="1">
                <a:solidFill>
                  <a:schemeClr val="tx2"/>
                </a:solidFill>
              </a:rPr>
              <a:t>,</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n</a:t>
            </a:r>
            <a:r>
              <a:rPr lang="zh-CN" altLang="en-US">
                <a:solidFill>
                  <a:schemeClr val="tx2"/>
                </a:solidFill>
              </a:rPr>
              <a:t>是项, 则</a:t>
            </a:r>
            <a:r>
              <a:rPr lang="en-US" altLang="zh-CN">
                <a:solidFill>
                  <a:schemeClr val="tx2"/>
                </a:solidFill>
              </a:rPr>
              <a:t>R</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1</a:t>
            </a:r>
            <a:r>
              <a:rPr lang="en-US" altLang="zh-CN" i="1">
                <a:solidFill>
                  <a:schemeClr val="tx2"/>
                </a:solidFill>
              </a:rPr>
              <a:t>,</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2</a:t>
            </a:r>
            <a:r>
              <a:rPr lang="en-US" altLang="zh-CN" i="1">
                <a:solidFill>
                  <a:schemeClr val="tx2"/>
                </a:solidFill>
              </a:rPr>
              <a:t>,</a:t>
            </a:r>
            <a:r>
              <a:rPr lang="en-US" altLang="zh-CN" i="1">
                <a:solidFill>
                  <a:schemeClr val="tx2"/>
                </a:solidFill>
                <a:latin typeface="Arial" panose="020B0604020202090204" pitchFamily="34" charset="0"/>
              </a:rPr>
              <a:t>…</a:t>
            </a:r>
            <a:r>
              <a:rPr lang="en-US" altLang="zh-CN" i="1">
                <a:solidFill>
                  <a:schemeClr val="tx2"/>
                </a:solidFill>
              </a:rPr>
              <a:t>,</a:t>
            </a:r>
            <a:r>
              <a:rPr lang="en-US" altLang="zh-CN">
                <a:solidFill>
                  <a:schemeClr val="tx2"/>
                </a:solidFill>
                <a:sym typeface="Symbol" panose="05050102010706020507" pitchFamily="18" charset="2"/>
              </a:rPr>
              <a:t>t</a:t>
            </a:r>
            <a:r>
              <a:rPr lang="en-US" altLang="zh-CN" baseline="-25000">
                <a:solidFill>
                  <a:schemeClr val="tx2"/>
                </a:solidFill>
                <a:sym typeface="Symbol" panose="05050102010706020507" pitchFamily="18" charset="2"/>
              </a:rPr>
              <a:t>n</a:t>
            </a:r>
            <a:r>
              <a:rPr lang="zh-CN" altLang="en-US">
                <a:solidFill>
                  <a:schemeClr val="tx2"/>
                </a:solidFill>
              </a:rPr>
              <a:t>)是原子公式</a:t>
            </a:r>
            <a:endParaRPr lang="zh-CN" altLang="en-US">
              <a:solidFill>
                <a:schemeClr val="tx2"/>
              </a:solidFill>
            </a:endParaRPr>
          </a:p>
          <a:p>
            <a:pPr eaLnBrk="1" hangingPunct="1"/>
            <a:r>
              <a:rPr lang="zh-CN" altLang="en-US">
                <a:solidFill>
                  <a:schemeClr val="tx2"/>
                </a:solidFill>
              </a:rPr>
              <a:t>例如:  </a:t>
            </a:r>
            <a:r>
              <a:rPr lang="en-US" altLang="zh-CN">
                <a:solidFill>
                  <a:schemeClr val="tx2"/>
                </a:solidFill>
              </a:rPr>
              <a:t>F(a),  G(a,y),  F(f(a)), G(x,g(a,y))</a:t>
            </a:r>
            <a:endParaRPr lang="zh-CN" altLang="en-US">
              <a:solidFill>
                <a:schemeClr val="tx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BBED5CB-4F9B-4B99-8EFB-BC82B3B1C9AB}"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198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50E3775-0AD2-4A12-B1BB-DF51C7BB6E5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198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41989" name="Rectangle 2"/>
          <p:cNvSpPr>
            <a:spLocks noGrp="1" noChangeArrowheads="1"/>
          </p:cNvSpPr>
          <p:nvPr>
            <p:ph type="title"/>
          </p:nvPr>
        </p:nvSpPr>
        <p:spPr>
          <a:xfrm>
            <a:off x="734695" y="44450"/>
            <a:ext cx="8337550" cy="1047115"/>
          </a:xfrm>
        </p:spPr>
        <p:txBody>
          <a:bodyPr/>
          <a:lstStyle/>
          <a:p>
            <a:pPr eaLnBrk="1" hangingPunct="1"/>
            <a:r>
              <a:rPr lang="zh-CN" altLang="en-US" sz="4000"/>
              <a:t>合式公式(</a:t>
            </a:r>
            <a:r>
              <a:rPr lang="en-US" altLang="zh-CN" sz="4000"/>
              <a:t>well-formed formula)</a:t>
            </a:r>
            <a:endParaRPr lang="en-US" altLang="zh-CN" sz="4000"/>
          </a:p>
        </p:txBody>
      </p:sp>
      <p:sp>
        <p:nvSpPr>
          <p:cNvPr id="41990" name="Rectangle 3"/>
          <p:cNvSpPr>
            <a:spLocks noGrp="1" noChangeArrowheads="1"/>
          </p:cNvSpPr>
          <p:nvPr>
            <p:ph type="body" idx="1"/>
          </p:nvPr>
        </p:nvSpPr>
        <p:spPr/>
        <p:txBody>
          <a:bodyPr/>
          <a:lstStyle/>
          <a:p>
            <a:pPr eaLnBrk="1" hangingPunct="1">
              <a:lnSpc>
                <a:spcPct val="90000"/>
              </a:lnSpc>
            </a:pPr>
            <a:r>
              <a:rPr lang="zh-CN" altLang="en-US" dirty="0">
                <a:solidFill>
                  <a:schemeClr val="tx2"/>
                </a:solidFill>
              </a:rPr>
              <a:t>原子公式是合式公式</a:t>
            </a:r>
            <a:endParaRPr lang="zh-CN" altLang="en-US" dirty="0">
              <a:solidFill>
                <a:schemeClr val="tx2"/>
              </a:solidFill>
            </a:endParaRPr>
          </a:p>
          <a:p>
            <a:pPr eaLnBrk="1" hangingPunct="1">
              <a:lnSpc>
                <a:spcPct val="90000"/>
              </a:lnSpc>
            </a:pPr>
            <a:r>
              <a:rPr lang="zh-CN" altLang="en-US" dirty="0">
                <a:solidFill>
                  <a:schemeClr val="tx2"/>
                </a:solidFill>
              </a:rPr>
              <a:t>若</a:t>
            </a:r>
            <a:r>
              <a:rPr lang="en-US" altLang="zh-CN" dirty="0">
                <a:solidFill>
                  <a:schemeClr val="tx2"/>
                </a:solidFill>
              </a:rPr>
              <a:t>A</a:t>
            </a:r>
            <a:r>
              <a:rPr lang="zh-CN" altLang="en-US" dirty="0">
                <a:solidFill>
                  <a:schemeClr val="tx2"/>
                </a:solidFill>
              </a:rPr>
              <a:t>是合式公式，则(</a:t>
            </a:r>
            <a:r>
              <a:rPr lang="en-US" altLang="zh-CN" dirty="0">
                <a:solidFill>
                  <a:schemeClr val="tx2"/>
                </a:solidFill>
                <a:latin typeface="Times New Roman" panose="02020503050405090304" pitchFamily="18" charset="0"/>
                <a:sym typeface="Symbol" panose="05050102010706020507" pitchFamily="18" charset="2"/>
              </a:rPr>
              <a:t></a:t>
            </a:r>
            <a:r>
              <a:rPr lang="en-US" altLang="zh-CN" dirty="0">
                <a:solidFill>
                  <a:schemeClr val="tx2"/>
                </a:solidFill>
              </a:rPr>
              <a:t>A)</a:t>
            </a:r>
            <a:r>
              <a:rPr lang="zh-CN" altLang="en-US" dirty="0">
                <a:solidFill>
                  <a:schemeClr val="tx2"/>
                </a:solidFill>
              </a:rPr>
              <a:t>是合式公式</a:t>
            </a:r>
            <a:endParaRPr lang="zh-CN" altLang="en-US" dirty="0">
              <a:solidFill>
                <a:schemeClr val="tx2"/>
              </a:solidFill>
            </a:endParaRPr>
          </a:p>
          <a:p>
            <a:pPr eaLnBrk="1" hangingPunct="1">
              <a:lnSpc>
                <a:spcPct val="90000"/>
              </a:lnSpc>
            </a:pPr>
            <a:r>
              <a:rPr lang="zh-CN" altLang="en-US" dirty="0">
                <a:solidFill>
                  <a:schemeClr val="tx2"/>
                </a:solidFill>
              </a:rPr>
              <a:t>若</a:t>
            </a:r>
            <a:r>
              <a:rPr lang="en-US" altLang="zh-CN" dirty="0">
                <a:solidFill>
                  <a:schemeClr val="tx2"/>
                </a:solidFill>
              </a:rPr>
              <a:t>A,B</a:t>
            </a:r>
            <a:r>
              <a:rPr lang="zh-CN" altLang="en-US" dirty="0">
                <a:solidFill>
                  <a:schemeClr val="tx2"/>
                </a:solidFill>
              </a:rPr>
              <a:t>是合式公式，则(</a:t>
            </a:r>
            <a:r>
              <a:rPr lang="en-US" altLang="zh-CN" dirty="0">
                <a:solidFill>
                  <a:schemeClr val="tx2"/>
                </a:solidFill>
              </a:rPr>
              <a:t>A</a:t>
            </a:r>
            <a:r>
              <a:rPr lang="zh-CN" altLang="en-US" dirty="0">
                <a:solidFill>
                  <a:schemeClr val="tx2"/>
                </a:solidFill>
              </a:rPr>
              <a:t>∧</a:t>
            </a:r>
            <a:r>
              <a:rPr lang="en-US" altLang="zh-CN" dirty="0">
                <a:solidFill>
                  <a:schemeClr val="tx2"/>
                </a:solidFill>
              </a:rPr>
              <a:t>B),  </a:t>
            </a:r>
            <a:r>
              <a:rPr lang="zh-CN" altLang="en-US" dirty="0">
                <a:solidFill>
                  <a:schemeClr val="tx2"/>
                </a:solidFill>
              </a:rPr>
              <a:t>(</a:t>
            </a:r>
            <a:r>
              <a:rPr lang="en-US" altLang="zh-CN" dirty="0">
                <a:solidFill>
                  <a:schemeClr val="tx2"/>
                </a:solidFill>
              </a:rPr>
              <a:t>A</a:t>
            </a:r>
            <a:r>
              <a:rPr lang="zh-CN" altLang="en-US" dirty="0">
                <a:solidFill>
                  <a:schemeClr val="tx2"/>
                </a:solidFill>
              </a:rPr>
              <a:t>∨</a:t>
            </a:r>
            <a:r>
              <a:rPr lang="en-US" altLang="zh-CN" dirty="0">
                <a:solidFill>
                  <a:schemeClr val="tx2"/>
                </a:solidFill>
              </a:rPr>
              <a:t>B),  </a:t>
            </a:r>
            <a:r>
              <a:rPr lang="zh-CN" altLang="en-US" dirty="0">
                <a:solidFill>
                  <a:schemeClr val="tx2"/>
                </a:solidFill>
              </a:rPr>
              <a:t>(</a:t>
            </a:r>
            <a:r>
              <a:rPr lang="en-US" altLang="zh-CN" dirty="0">
                <a:solidFill>
                  <a:schemeClr val="tx2"/>
                </a:solidFill>
              </a:rPr>
              <a:t>A</a:t>
            </a:r>
            <a:r>
              <a:rPr lang="zh-CN" altLang="en-US" dirty="0">
                <a:solidFill>
                  <a:schemeClr val="tx2"/>
                </a:solidFill>
              </a:rPr>
              <a:t>→</a:t>
            </a:r>
            <a:r>
              <a:rPr lang="en-US" altLang="zh-CN" dirty="0">
                <a:solidFill>
                  <a:schemeClr val="tx2"/>
                </a:solidFill>
              </a:rPr>
              <a:t>B), </a:t>
            </a:r>
            <a:r>
              <a:rPr lang="zh-CN" altLang="en-US" dirty="0">
                <a:solidFill>
                  <a:schemeClr val="tx2"/>
                </a:solidFill>
              </a:rPr>
              <a:t>(</a:t>
            </a:r>
            <a:r>
              <a:rPr lang="en-US" altLang="zh-CN" dirty="0">
                <a:solidFill>
                  <a:schemeClr val="tx2"/>
                </a:solidFill>
              </a:rPr>
              <a:t>A</a:t>
            </a:r>
            <a:r>
              <a:rPr lang="zh-CN" altLang="en-US" dirty="0">
                <a:solidFill>
                  <a:schemeClr val="tx2"/>
                </a:solidFill>
              </a:rPr>
              <a:t>↔</a:t>
            </a:r>
            <a:r>
              <a:rPr lang="en-US" altLang="zh-CN" dirty="0">
                <a:solidFill>
                  <a:schemeClr val="tx2"/>
                </a:solidFill>
              </a:rPr>
              <a:t>B)</a:t>
            </a:r>
            <a:r>
              <a:rPr lang="zh-CN" altLang="en-US" dirty="0">
                <a:solidFill>
                  <a:schemeClr val="tx2"/>
                </a:solidFill>
              </a:rPr>
              <a:t>也是合式公式</a:t>
            </a:r>
            <a:endParaRPr lang="zh-CN" altLang="en-US" dirty="0">
              <a:solidFill>
                <a:schemeClr val="tx2"/>
              </a:solidFill>
            </a:endParaRPr>
          </a:p>
          <a:p>
            <a:pPr eaLnBrk="1" hangingPunct="1">
              <a:lnSpc>
                <a:spcPct val="90000"/>
              </a:lnSpc>
            </a:pPr>
            <a:r>
              <a:rPr lang="zh-CN" altLang="en-US" dirty="0">
                <a:solidFill>
                  <a:schemeClr val="tx2"/>
                </a:solidFill>
              </a:rPr>
              <a:t>若</a:t>
            </a:r>
            <a:r>
              <a:rPr lang="en-US" altLang="zh-CN" dirty="0">
                <a:solidFill>
                  <a:schemeClr val="tx2"/>
                </a:solidFill>
              </a:rPr>
              <a:t>A</a:t>
            </a:r>
            <a:r>
              <a:rPr lang="zh-CN" altLang="en-US" dirty="0">
                <a:solidFill>
                  <a:schemeClr val="tx2"/>
                </a:solidFill>
              </a:rPr>
              <a:t>是合式公式，则</a:t>
            </a:r>
            <a:r>
              <a:rPr lang="zh-CN" altLang="en-US" dirty="0">
                <a:solidFill>
                  <a:schemeClr val="tx2"/>
                </a:solidFill>
                <a:sym typeface="Symbol" panose="05050102010706020507" pitchFamily="18" charset="2"/>
              </a:rPr>
              <a:t></a:t>
            </a:r>
            <a:r>
              <a:rPr lang="en-US" altLang="zh-CN" dirty="0" err="1">
                <a:solidFill>
                  <a:schemeClr val="tx2"/>
                </a:solidFill>
                <a:sym typeface="Symbol" panose="05050102010706020507" pitchFamily="18" charset="2"/>
              </a:rPr>
              <a:t>xA</a:t>
            </a:r>
            <a:r>
              <a:rPr lang="en-US" altLang="zh-CN" dirty="0">
                <a:solidFill>
                  <a:schemeClr val="tx2"/>
                </a:solidFill>
                <a:sym typeface="Symbol" panose="05050102010706020507" pitchFamily="18" charset="2"/>
              </a:rPr>
              <a:t>, </a:t>
            </a:r>
            <a:r>
              <a:rPr lang="en-US" altLang="zh-CN" dirty="0" err="1">
                <a:solidFill>
                  <a:schemeClr val="tx2"/>
                </a:solidFill>
                <a:sym typeface="Symbol" panose="05050102010706020507" pitchFamily="18" charset="2"/>
              </a:rPr>
              <a:t>x</a:t>
            </a:r>
            <a:r>
              <a:rPr lang="en-US" altLang="zh-CN" dirty="0" err="1">
                <a:solidFill>
                  <a:schemeClr val="tx2"/>
                </a:solidFill>
              </a:rPr>
              <a:t>A</a:t>
            </a:r>
            <a:r>
              <a:rPr lang="zh-CN" altLang="en-US" dirty="0">
                <a:solidFill>
                  <a:schemeClr val="tx2"/>
                </a:solidFill>
              </a:rPr>
              <a:t>也是合式公式</a:t>
            </a:r>
            <a:endParaRPr lang="zh-CN" altLang="en-US" dirty="0">
              <a:solidFill>
                <a:schemeClr val="tx2"/>
              </a:solidFill>
            </a:endParaRPr>
          </a:p>
          <a:p>
            <a:pPr eaLnBrk="1" hangingPunct="1">
              <a:lnSpc>
                <a:spcPct val="90000"/>
              </a:lnSpc>
            </a:pPr>
            <a:r>
              <a:rPr lang="zh-CN" altLang="en-US" dirty="0">
                <a:solidFill>
                  <a:schemeClr val="tx2"/>
                </a:solidFill>
              </a:rPr>
              <a:t>只有有限次地应用上述规则形成的符号串才是合式公式</a:t>
            </a:r>
            <a:endParaRPr lang="zh-CN" altLang="en-US" dirty="0">
              <a:solidFill>
                <a:schemeClr val="tx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A34F0CA-DEE3-4562-B739-DA62D32CDA6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301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198C9391-AAB7-46B7-A953-A71807D4ECAA}"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301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43013" name="Rectangle 2"/>
          <p:cNvSpPr>
            <a:spLocks noGrp="1" noChangeArrowheads="1"/>
          </p:cNvSpPr>
          <p:nvPr>
            <p:ph type="title"/>
          </p:nvPr>
        </p:nvSpPr>
        <p:spPr/>
        <p:txBody>
          <a:bodyPr/>
          <a:lstStyle/>
          <a:p>
            <a:pPr eaLnBrk="1" hangingPunct="1"/>
            <a:r>
              <a:rPr lang="zh-CN" altLang="en-US"/>
              <a:t>合式公式（举例）</a:t>
            </a:r>
            <a:endParaRPr lang="zh-CN" altLang="en-US"/>
          </a:p>
        </p:txBody>
      </p:sp>
      <p:sp>
        <p:nvSpPr>
          <p:cNvPr id="43014" name="Rectangle 3"/>
          <p:cNvSpPr>
            <a:spLocks noGrp="1" noChangeArrowheads="1"/>
          </p:cNvSpPr>
          <p:nvPr>
            <p:ph type="body" idx="1"/>
          </p:nvPr>
        </p:nvSpPr>
        <p:spPr/>
        <p:txBody>
          <a:bodyPr/>
          <a:lstStyle/>
          <a:p>
            <a:pPr eaLnBrk="1" hangingPunct="1"/>
            <a:r>
              <a:rPr lang="en-US" altLang="zh-CN" i="1" dirty="0">
                <a:solidFill>
                  <a:schemeClr val="tx2"/>
                </a:solidFill>
              </a:rPr>
              <a:t>   </a:t>
            </a:r>
            <a:r>
              <a:rPr lang="zh-CN" altLang="en-US" dirty="0">
                <a:solidFill>
                  <a:schemeClr val="tx2"/>
                </a:solidFill>
                <a:sym typeface="Symbol" panose="05050102010706020507" pitchFamily="18" charset="2"/>
              </a:rPr>
              <a:t></a:t>
            </a:r>
            <a:r>
              <a:rPr lang="en-US" altLang="zh-CN" dirty="0">
                <a:solidFill>
                  <a:schemeClr val="tx2"/>
                </a:solidFill>
                <a:sym typeface="Symbol" panose="05050102010706020507" pitchFamily="18" charset="2"/>
              </a:rPr>
              <a:t>x(F(x)y(G(y)H(</a:t>
            </a:r>
            <a:r>
              <a:rPr lang="en-US" altLang="zh-CN" dirty="0" err="1">
                <a:solidFill>
                  <a:schemeClr val="tx2"/>
                </a:solidFill>
                <a:sym typeface="Symbol" panose="05050102010706020507" pitchFamily="18" charset="2"/>
              </a:rPr>
              <a:t>x,y</a:t>
            </a:r>
            <a:r>
              <a:rPr lang="en-US" altLang="zh-CN" dirty="0">
                <a:solidFill>
                  <a:schemeClr val="tx2"/>
                </a:solidFill>
                <a:sym typeface="Symbol" panose="05050102010706020507" pitchFamily="18" charset="2"/>
              </a:rPr>
              <a:t>)))</a:t>
            </a:r>
            <a:endParaRPr lang="en-US" altLang="zh-CN" i="1" dirty="0">
              <a:solidFill>
                <a:schemeClr val="tx2"/>
              </a:solidFill>
            </a:endParaRPr>
          </a:p>
          <a:p>
            <a:pPr eaLnBrk="1" hangingPunct="1"/>
            <a:r>
              <a:rPr lang="en-US" altLang="zh-CN" i="1" dirty="0">
                <a:solidFill>
                  <a:schemeClr val="tx2"/>
                </a:solidFill>
              </a:rPr>
              <a:t>   </a:t>
            </a:r>
            <a:r>
              <a:rPr lang="en-US" altLang="zh-CN" dirty="0">
                <a:solidFill>
                  <a:schemeClr val="tx2"/>
                </a:solidFill>
                <a:sym typeface="Symbol" panose="05050102010706020507" pitchFamily="18" charset="2"/>
              </a:rPr>
              <a:t>F(f(</a:t>
            </a:r>
            <a:r>
              <a:rPr lang="en-US" altLang="zh-CN" dirty="0" err="1">
                <a:solidFill>
                  <a:schemeClr val="tx2"/>
                </a:solidFill>
                <a:sym typeface="Symbol" panose="05050102010706020507" pitchFamily="18" charset="2"/>
              </a:rPr>
              <a:t>a,a</a:t>
            </a:r>
            <a:r>
              <a:rPr lang="en-US" altLang="zh-CN" dirty="0">
                <a:solidFill>
                  <a:schemeClr val="tx2"/>
                </a:solidFill>
                <a:sym typeface="Symbol" panose="05050102010706020507" pitchFamily="18" charset="2"/>
              </a:rPr>
              <a:t>),b)</a:t>
            </a:r>
            <a:endParaRPr lang="en-US" altLang="zh-CN" i="1" dirty="0">
              <a:solidFill>
                <a:schemeClr val="tx2"/>
              </a:solidFill>
            </a:endParaRPr>
          </a:p>
          <a:p>
            <a:pPr eaLnBrk="1" hangingPunct="1"/>
            <a:r>
              <a:rPr lang="zh-CN" altLang="en-US" dirty="0">
                <a:solidFill>
                  <a:schemeClr val="tx2"/>
                </a:solidFill>
              </a:rPr>
              <a:t>约定：省略多余括号</a:t>
            </a:r>
            <a:endParaRPr lang="zh-CN" altLang="en-US" dirty="0">
              <a:solidFill>
                <a:schemeClr val="tx2"/>
              </a:solidFill>
            </a:endParaRPr>
          </a:p>
          <a:p>
            <a:pPr lvl="1" eaLnBrk="1" hangingPunct="1"/>
            <a:r>
              <a:rPr lang="zh-CN" altLang="en-US" dirty="0">
                <a:solidFill>
                  <a:schemeClr val="tx2"/>
                </a:solidFill>
              </a:rPr>
              <a:t>最外层</a:t>
            </a:r>
            <a:endParaRPr lang="zh-CN" altLang="en-US" dirty="0">
              <a:solidFill>
                <a:schemeClr val="tx2"/>
              </a:solidFill>
            </a:endParaRPr>
          </a:p>
          <a:p>
            <a:pPr lvl="1" eaLnBrk="1" hangingPunct="1"/>
            <a:r>
              <a:rPr lang="zh-CN" altLang="en-US" dirty="0">
                <a:solidFill>
                  <a:schemeClr val="tx2"/>
                </a:solidFill>
              </a:rPr>
              <a:t>优先级递减： </a:t>
            </a:r>
            <a:r>
              <a:rPr lang="zh-CN" altLang="en-US" dirty="0">
                <a:solidFill>
                  <a:schemeClr val="tx2"/>
                </a:solidFill>
                <a:sym typeface="Symbol" panose="05050102010706020507" pitchFamily="18" charset="2"/>
              </a:rPr>
              <a:t>, </a:t>
            </a:r>
            <a:r>
              <a:rPr lang="en-US" altLang="zh-CN" dirty="0">
                <a:solidFill>
                  <a:schemeClr val="tx2"/>
                </a:solidFill>
                <a:sym typeface="Symbol" panose="05050102010706020507" pitchFamily="18" charset="2"/>
              </a:rPr>
              <a:t>; </a:t>
            </a:r>
            <a:r>
              <a:rPr lang="en-US" altLang="zh-CN" dirty="0">
                <a:solidFill>
                  <a:schemeClr val="tx2"/>
                </a:solidFill>
                <a:latin typeface="Times New Roman" panose="02020503050405090304" pitchFamily="18" charset="0"/>
                <a:sym typeface="Symbol" panose="05050102010706020507" pitchFamily="18" charset="2"/>
              </a:rPr>
              <a:t></a:t>
            </a:r>
            <a:r>
              <a:rPr lang="en-US" altLang="zh-CN" dirty="0">
                <a:solidFill>
                  <a:schemeClr val="tx2"/>
                </a:solidFill>
              </a:rPr>
              <a:t>;   ∧,∨; →,↔</a:t>
            </a:r>
            <a:endParaRPr lang="en-US" altLang="zh-CN" dirty="0">
              <a:solidFill>
                <a:schemeClr val="tx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691C985-BFA3-47FC-BBAB-3D50349F259B}"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403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130D650-68A6-49F4-BED6-D49703864E15}"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403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44037" name="Rectangle 2"/>
          <p:cNvSpPr>
            <a:spLocks noGrp="1" noChangeArrowheads="1"/>
          </p:cNvSpPr>
          <p:nvPr>
            <p:ph type="title"/>
          </p:nvPr>
        </p:nvSpPr>
        <p:spPr/>
        <p:txBody>
          <a:bodyPr/>
          <a:lstStyle/>
          <a:p>
            <a:pPr eaLnBrk="1" hangingPunct="1"/>
            <a:r>
              <a:rPr lang="zh-CN" altLang="en-US"/>
              <a:t>合式公式中的变项</a:t>
            </a:r>
            <a:endParaRPr lang="zh-CN" altLang="en-US"/>
          </a:p>
        </p:txBody>
      </p:sp>
      <p:sp>
        <p:nvSpPr>
          <p:cNvPr id="44038" name="Rectangle 3"/>
          <p:cNvSpPr>
            <a:spLocks noGrp="1" noChangeArrowheads="1"/>
          </p:cNvSpPr>
          <p:nvPr>
            <p:ph type="body" idx="1"/>
          </p:nvPr>
        </p:nvSpPr>
        <p:spPr>
          <a:xfrm>
            <a:off x="828675" y="1280795"/>
            <a:ext cx="8131175" cy="4678680"/>
          </a:xfrm>
        </p:spPr>
        <p:txBody>
          <a:bodyPr/>
          <a:lstStyle/>
          <a:p>
            <a:pPr eaLnBrk="1" hangingPunct="1">
              <a:lnSpc>
                <a:spcPct val="125000"/>
              </a:lnSpc>
              <a:spcBef>
                <a:spcPts val="20"/>
              </a:spcBef>
              <a:spcAft>
                <a:spcPts val="20"/>
              </a:spcAft>
            </a:pPr>
            <a:r>
              <a:rPr lang="zh-CN" altLang="en-US" sz="2800" dirty="0">
                <a:solidFill>
                  <a:schemeClr val="tx2"/>
                </a:solidFill>
                <a:sym typeface="Symbol" panose="05050102010706020507" pitchFamily="18" charset="2"/>
              </a:rPr>
              <a:t>量词辖域:  在</a:t>
            </a:r>
            <a:r>
              <a:rPr lang="en-US" altLang="zh-CN" sz="2800" dirty="0" err="1">
                <a:solidFill>
                  <a:schemeClr val="tx2"/>
                </a:solidFill>
                <a:sym typeface="Symbol" panose="05050102010706020507" pitchFamily="18" charset="2"/>
              </a:rPr>
              <a:t>xA</a:t>
            </a:r>
            <a:r>
              <a:rPr lang="en-US" altLang="zh-CN" sz="2800" dirty="0">
                <a:solidFill>
                  <a:schemeClr val="tx2"/>
                </a:solidFill>
                <a:sym typeface="Symbol" panose="05050102010706020507" pitchFamily="18" charset="2"/>
              </a:rPr>
              <a:t>, </a:t>
            </a:r>
            <a:r>
              <a:rPr lang="en-US" altLang="zh-CN" sz="2800" dirty="0" err="1">
                <a:solidFill>
                  <a:schemeClr val="tx2"/>
                </a:solidFill>
                <a:sym typeface="Symbol" panose="05050102010706020507" pitchFamily="18" charset="2"/>
              </a:rPr>
              <a:t>x</a:t>
            </a:r>
            <a:r>
              <a:rPr lang="en-US" altLang="zh-CN" sz="2800" dirty="0" err="1">
                <a:solidFill>
                  <a:schemeClr val="tx2"/>
                </a:solidFill>
              </a:rPr>
              <a:t>A</a:t>
            </a:r>
            <a:r>
              <a:rPr lang="zh-CN" altLang="en-US" sz="2800" dirty="0">
                <a:solidFill>
                  <a:schemeClr val="tx2"/>
                </a:solidFill>
              </a:rPr>
              <a:t>中, </a:t>
            </a:r>
            <a:r>
              <a:rPr lang="en-US" altLang="zh-CN" sz="2800" dirty="0">
                <a:solidFill>
                  <a:schemeClr val="tx2"/>
                </a:solidFill>
              </a:rPr>
              <a:t>A</a:t>
            </a:r>
            <a:r>
              <a:rPr lang="zh-CN" altLang="en-US" sz="2800" dirty="0">
                <a:solidFill>
                  <a:schemeClr val="tx2"/>
                </a:solidFill>
              </a:rPr>
              <a:t>是量词的辖域.   例如:   </a:t>
            </a:r>
            <a:r>
              <a:rPr lang="zh-CN" altLang="en-US" sz="2800" u="sng" dirty="0">
                <a:solidFill>
                  <a:schemeClr val="tx2"/>
                </a:solidFill>
                <a:sym typeface="Symbol" panose="05050102010706020507" pitchFamily="18" charset="2"/>
              </a:rPr>
              <a:t></a:t>
            </a:r>
            <a:r>
              <a:rPr lang="en-US" altLang="zh-CN" sz="2800" dirty="0">
                <a:solidFill>
                  <a:schemeClr val="tx2"/>
                </a:solidFill>
                <a:sym typeface="Symbol" panose="05050102010706020507" pitchFamily="18" charset="2"/>
              </a:rPr>
              <a:t>x(</a:t>
            </a:r>
            <a:r>
              <a:rPr lang="en-US" altLang="zh-CN" sz="2800" u="sng" dirty="0">
                <a:solidFill>
                  <a:schemeClr val="tx2"/>
                </a:solidFill>
                <a:sym typeface="Symbol" panose="05050102010706020507" pitchFamily="18" charset="2"/>
              </a:rPr>
              <a:t>F(x)y(G(y)H(</a:t>
            </a:r>
            <a:r>
              <a:rPr lang="en-US" altLang="zh-CN" sz="2800" u="sng" dirty="0" err="1">
                <a:solidFill>
                  <a:schemeClr val="tx2"/>
                </a:solidFill>
                <a:sym typeface="Symbol" panose="05050102010706020507" pitchFamily="18" charset="2"/>
              </a:rPr>
              <a:t>x,y</a:t>
            </a:r>
            <a:r>
              <a:rPr lang="en-US" altLang="zh-CN" sz="2800" u="sng" dirty="0">
                <a:solidFill>
                  <a:schemeClr val="tx2"/>
                </a:solidFill>
                <a:sym typeface="Symbol" panose="05050102010706020507" pitchFamily="18" charset="2"/>
              </a:rPr>
              <a:t>))</a:t>
            </a:r>
            <a:r>
              <a:rPr lang="en-US" altLang="zh-CN" sz="2800" dirty="0">
                <a:solidFill>
                  <a:schemeClr val="tx2"/>
                </a:solidFill>
                <a:sym typeface="Symbol" panose="05050102010706020507" pitchFamily="18" charset="2"/>
              </a:rPr>
              <a:t>)</a:t>
            </a:r>
            <a:endParaRPr lang="zh-CN" altLang="en-US" sz="2800" dirty="0">
              <a:solidFill>
                <a:schemeClr val="tx2"/>
              </a:solidFill>
            </a:endParaRPr>
          </a:p>
          <a:p>
            <a:pPr eaLnBrk="1" hangingPunct="1">
              <a:lnSpc>
                <a:spcPct val="125000"/>
              </a:lnSpc>
              <a:spcBef>
                <a:spcPts val="20"/>
              </a:spcBef>
              <a:spcAft>
                <a:spcPts val="20"/>
              </a:spcAft>
            </a:pPr>
            <a:r>
              <a:rPr lang="zh-CN" altLang="en-US" sz="2800" dirty="0">
                <a:solidFill>
                  <a:schemeClr val="tx2"/>
                </a:solidFill>
              </a:rPr>
              <a:t>指导变项:  紧跟在量词后面的个体变项.例如:    </a:t>
            </a:r>
            <a:r>
              <a:rPr lang="zh-CN" altLang="en-US" sz="2800" dirty="0">
                <a:solidFill>
                  <a:schemeClr val="tx2"/>
                </a:solidFill>
                <a:sym typeface="Symbol" panose="05050102010706020507" pitchFamily="18" charset="2"/>
              </a:rPr>
              <a:t></a:t>
            </a:r>
            <a:r>
              <a:rPr lang="en-US" altLang="zh-CN" sz="2800" dirty="0">
                <a:solidFill>
                  <a:srgbClr val="FF0000"/>
                </a:solidFill>
                <a:sym typeface="Symbol" panose="05050102010706020507" pitchFamily="18" charset="2"/>
              </a:rPr>
              <a:t>x</a:t>
            </a:r>
            <a:r>
              <a:rPr lang="en-US" altLang="zh-CN" sz="2800" dirty="0">
                <a:solidFill>
                  <a:schemeClr val="tx2"/>
                </a:solidFill>
                <a:sym typeface="Symbol" panose="05050102010706020507" pitchFamily="18" charset="2"/>
              </a:rPr>
              <a:t>(F(x)</a:t>
            </a:r>
            <a:r>
              <a:rPr lang="en-US" altLang="zh-CN" sz="2800" dirty="0">
                <a:solidFill>
                  <a:srgbClr val="FF0000"/>
                </a:solidFill>
                <a:sym typeface="Symbol" panose="05050102010706020507" pitchFamily="18" charset="2"/>
              </a:rPr>
              <a:t>y</a:t>
            </a:r>
            <a:r>
              <a:rPr lang="en-US" altLang="zh-CN" sz="2800" dirty="0">
                <a:solidFill>
                  <a:schemeClr val="tx2"/>
                </a:solidFill>
                <a:sym typeface="Symbol" panose="05050102010706020507" pitchFamily="18" charset="2"/>
              </a:rPr>
              <a:t>(G(y)H(</a:t>
            </a:r>
            <a:r>
              <a:rPr lang="en-US" altLang="zh-CN" sz="2800" dirty="0" err="1">
                <a:solidFill>
                  <a:schemeClr val="tx2"/>
                </a:solidFill>
                <a:sym typeface="Symbol" panose="05050102010706020507" pitchFamily="18" charset="2"/>
              </a:rPr>
              <a:t>x,y</a:t>
            </a:r>
            <a:r>
              <a:rPr lang="en-US" altLang="zh-CN" sz="2800" dirty="0">
                <a:solidFill>
                  <a:schemeClr val="tx2"/>
                </a:solidFill>
                <a:sym typeface="Symbol" panose="05050102010706020507" pitchFamily="18" charset="2"/>
              </a:rPr>
              <a:t>)))</a:t>
            </a:r>
            <a:endParaRPr lang="zh-CN" altLang="en-US" sz="2800" dirty="0">
              <a:solidFill>
                <a:schemeClr val="tx2"/>
              </a:solidFill>
            </a:endParaRPr>
          </a:p>
          <a:p>
            <a:pPr eaLnBrk="1" hangingPunct="1">
              <a:lnSpc>
                <a:spcPct val="125000"/>
              </a:lnSpc>
              <a:spcBef>
                <a:spcPts val="20"/>
              </a:spcBef>
              <a:spcAft>
                <a:spcPts val="20"/>
              </a:spcAft>
            </a:pPr>
            <a:r>
              <a:rPr lang="zh-CN" altLang="en-US" sz="2800" dirty="0">
                <a:solidFill>
                  <a:schemeClr val="tx2"/>
                </a:solidFill>
              </a:rPr>
              <a:t>约束出现: 在辖域中与指导变项同名的变项.  例如: </a:t>
            </a:r>
            <a:r>
              <a:rPr lang="zh-CN" altLang="en-US" sz="2800" dirty="0">
                <a:solidFill>
                  <a:schemeClr val="tx2"/>
                </a:solidFill>
                <a:sym typeface="Symbol" panose="05050102010706020507" pitchFamily="18" charset="2"/>
              </a:rPr>
              <a:t></a:t>
            </a:r>
            <a:r>
              <a:rPr lang="en-US" altLang="zh-CN" sz="2800" dirty="0">
                <a:solidFill>
                  <a:srgbClr val="FF0000"/>
                </a:solidFill>
                <a:sym typeface="Symbol" panose="05050102010706020507" pitchFamily="18" charset="2"/>
              </a:rPr>
              <a:t>x</a:t>
            </a:r>
            <a:r>
              <a:rPr lang="en-US" altLang="zh-CN" sz="2800" dirty="0">
                <a:solidFill>
                  <a:schemeClr val="tx2"/>
                </a:solidFill>
                <a:sym typeface="Symbol" panose="05050102010706020507" pitchFamily="18" charset="2"/>
              </a:rPr>
              <a:t>(F(</a:t>
            </a:r>
            <a:r>
              <a:rPr lang="en-US" altLang="zh-CN" sz="2800" dirty="0">
                <a:solidFill>
                  <a:srgbClr val="7030A0"/>
                </a:solidFill>
                <a:sym typeface="Symbol" panose="05050102010706020507" pitchFamily="18" charset="2"/>
              </a:rPr>
              <a:t>x</a:t>
            </a:r>
            <a:r>
              <a:rPr lang="en-US" altLang="zh-CN" sz="2800" dirty="0">
                <a:solidFill>
                  <a:schemeClr val="tx2"/>
                </a:solidFill>
                <a:sym typeface="Symbol" panose="05050102010706020507" pitchFamily="18" charset="2"/>
              </a:rPr>
              <a:t>)</a:t>
            </a:r>
            <a:r>
              <a:rPr lang="en-US" altLang="zh-CN" sz="2800" dirty="0">
                <a:solidFill>
                  <a:srgbClr val="FF0000"/>
                </a:solidFill>
                <a:sym typeface="Symbol" panose="05050102010706020507" pitchFamily="18" charset="2"/>
              </a:rPr>
              <a:t>y</a:t>
            </a:r>
            <a:r>
              <a:rPr lang="en-US" altLang="zh-CN" sz="2800" dirty="0">
                <a:solidFill>
                  <a:schemeClr val="tx2"/>
                </a:solidFill>
                <a:sym typeface="Symbol" panose="05050102010706020507" pitchFamily="18" charset="2"/>
              </a:rPr>
              <a:t>(G(</a:t>
            </a:r>
            <a:r>
              <a:rPr lang="en-US" altLang="zh-CN" sz="2800" dirty="0">
                <a:solidFill>
                  <a:srgbClr val="7030A0"/>
                </a:solidFill>
                <a:sym typeface="Symbol" panose="05050102010706020507" pitchFamily="18" charset="2"/>
              </a:rPr>
              <a:t>y</a:t>
            </a:r>
            <a:r>
              <a:rPr lang="en-US" altLang="zh-CN" sz="2800" dirty="0">
                <a:solidFill>
                  <a:schemeClr val="tx2"/>
                </a:solidFill>
                <a:sym typeface="Symbol" panose="05050102010706020507" pitchFamily="18" charset="2"/>
              </a:rPr>
              <a:t>)H(</a:t>
            </a:r>
            <a:r>
              <a:rPr lang="en-US" altLang="zh-CN" sz="2800" dirty="0" err="1">
                <a:solidFill>
                  <a:srgbClr val="7030A0"/>
                </a:solidFill>
                <a:sym typeface="Symbol" panose="05050102010706020507" pitchFamily="18" charset="2"/>
              </a:rPr>
              <a:t>x</a:t>
            </a:r>
            <a:r>
              <a:rPr lang="en-US" altLang="zh-CN" sz="2800" dirty="0" err="1">
                <a:solidFill>
                  <a:schemeClr val="tx2"/>
                </a:solidFill>
                <a:sym typeface="Symbol" panose="05050102010706020507" pitchFamily="18" charset="2"/>
              </a:rPr>
              <a:t>,</a:t>
            </a:r>
            <a:r>
              <a:rPr lang="en-US" altLang="zh-CN" sz="2800" dirty="0" err="1">
                <a:solidFill>
                  <a:srgbClr val="7030A0"/>
                </a:solidFill>
                <a:sym typeface="Symbol" panose="05050102010706020507" pitchFamily="18" charset="2"/>
              </a:rPr>
              <a:t>y</a:t>
            </a:r>
            <a:r>
              <a:rPr lang="en-US" altLang="zh-CN" sz="2800" dirty="0">
                <a:solidFill>
                  <a:schemeClr val="tx2"/>
                </a:solidFill>
                <a:sym typeface="Symbol" panose="05050102010706020507" pitchFamily="18" charset="2"/>
              </a:rPr>
              <a:t>)))</a:t>
            </a:r>
            <a:endParaRPr lang="zh-CN" altLang="en-US" sz="2800" dirty="0">
              <a:solidFill>
                <a:schemeClr val="tx2"/>
              </a:solidFill>
            </a:endParaRPr>
          </a:p>
          <a:p>
            <a:pPr eaLnBrk="1" hangingPunct="1">
              <a:lnSpc>
                <a:spcPct val="125000"/>
              </a:lnSpc>
              <a:spcBef>
                <a:spcPts val="20"/>
              </a:spcBef>
              <a:spcAft>
                <a:spcPts val="20"/>
              </a:spcAft>
            </a:pPr>
            <a:r>
              <a:rPr lang="zh-CN" altLang="en-US" sz="2800" dirty="0">
                <a:solidFill>
                  <a:schemeClr val="tx2"/>
                </a:solidFill>
              </a:rPr>
              <a:t>自由出现: 既非指导变项又非约束出现. 例如:  </a:t>
            </a:r>
            <a:r>
              <a:rPr lang="en-US" altLang="zh-CN" sz="2800" dirty="0">
                <a:solidFill>
                  <a:schemeClr val="tx2"/>
                </a:solidFill>
                <a:sym typeface="Symbol" panose="05050102010706020507" pitchFamily="18" charset="2"/>
              </a:rPr>
              <a:t>y(G(y)H(</a:t>
            </a:r>
            <a:r>
              <a:rPr lang="en-US" altLang="zh-CN" sz="2800" dirty="0" err="1">
                <a:solidFill>
                  <a:srgbClr val="008080"/>
                </a:solidFill>
                <a:sym typeface="Symbol" panose="05050102010706020507" pitchFamily="18" charset="2"/>
              </a:rPr>
              <a:t>x</a:t>
            </a:r>
            <a:r>
              <a:rPr lang="en-US" altLang="zh-CN" sz="2800" dirty="0" err="1">
                <a:solidFill>
                  <a:schemeClr val="tx2"/>
                </a:solidFill>
                <a:sym typeface="Symbol" panose="05050102010706020507" pitchFamily="18" charset="2"/>
              </a:rPr>
              <a:t>,y</a:t>
            </a:r>
            <a:r>
              <a:rPr lang="en-US" altLang="zh-CN" sz="2800" dirty="0">
                <a:solidFill>
                  <a:schemeClr val="tx2"/>
                </a:solidFill>
                <a:sym typeface="Symbol" panose="05050102010706020507" pitchFamily="18" charset="2"/>
              </a:rPr>
              <a:t>))</a:t>
            </a:r>
            <a:endParaRPr lang="zh-CN" altLang="en-US" sz="2800" dirty="0">
              <a:solidFill>
                <a:schemeClr val="tx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3572DDA-0537-4DE7-AEE9-BF580A3BF81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505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FD01710-B7B3-45DB-930E-D4224639B0EE}"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506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45061" name="Rectangle 2"/>
          <p:cNvSpPr>
            <a:spLocks noGrp="1" noChangeArrowheads="1"/>
          </p:cNvSpPr>
          <p:nvPr>
            <p:ph type="title"/>
          </p:nvPr>
        </p:nvSpPr>
        <p:spPr/>
        <p:txBody>
          <a:bodyPr/>
          <a:lstStyle/>
          <a:p>
            <a:pPr eaLnBrk="1" hangingPunct="1"/>
            <a:r>
              <a:rPr lang="zh-CN" altLang="en-US"/>
              <a:t>合式公式中的变项(举例)</a:t>
            </a:r>
            <a:endParaRPr lang="zh-CN" altLang="en-US"/>
          </a:p>
        </p:txBody>
      </p:sp>
      <p:sp>
        <p:nvSpPr>
          <p:cNvPr id="45062" name="Rectangle 3"/>
          <p:cNvSpPr>
            <a:spLocks noGrp="1" noChangeArrowheads="1"/>
          </p:cNvSpPr>
          <p:nvPr>
            <p:ph type="body" idx="1"/>
          </p:nvPr>
        </p:nvSpPr>
        <p:spPr/>
        <p:txBody>
          <a:bodyPr/>
          <a:lstStyle/>
          <a:p>
            <a:pPr eaLnBrk="1" hangingPunct="1"/>
            <a:r>
              <a:rPr lang="en-US" altLang="zh-CN" dirty="0">
                <a:sym typeface="Symbol" panose="05050102010706020507" pitchFamily="18" charset="2"/>
              </a:rPr>
              <a:t>H(</a:t>
            </a:r>
            <a:r>
              <a:rPr lang="en-US" altLang="zh-CN" dirty="0" err="1">
                <a:solidFill>
                  <a:srgbClr val="D935E1"/>
                </a:solidFill>
                <a:sym typeface="Symbol" panose="05050102010706020507" pitchFamily="18" charset="2"/>
              </a:rPr>
              <a:t>x</a:t>
            </a:r>
            <a:r>
              <a:rPr lang="en-US" altLang="zh-CN" dirty="0" err="1">
                <a:sym typeface="Symbol" panose="05050102010706020507" pitchFamily="18" charset="2"/>
              </a:rPr>
              <a:t>,</a:t>
            </a:r>
            <a:r>
              <a:rPr lang="en-US" altLang="zh-CN" dirty="0" err="1">
                <a:solidFill>
                  <a:srgbClr val="009900"/>
                </a:solidFill>
                <a:sym typeface="Symbol" panose="05050102010706020507" pitchFamily="18" charset="2"/>
              </a:rPr>
              <a:t>y</a:t>
            </a:r>
            <a:r>
              <a:rPr lang="en-US" altLang="zh-CN" dirty="0">
                <a:sym typeface="Symbol" panose="05050102010706020507" pitchFamily="18" charset="2"/>
              </a:rPr>
              <a:t>)</a:t>
            </a:r>
            <a:r>
              <a:rPr lang="zh-CN" altLang="en-US" dirty="0"/>
              <a:t>∨</a:t>
            </a:r>
            <a:r>
              <a:rPr lang="zh-CN" altLang="en-US" dirty="0">
                <a:sym typeface="Symbol" panose="05050102010706020507" pitchFamily="18" charset="2"/>
              </a:rPr>
              <a:t></a:t>
            </a:r>
            <a:r>
              <a:rPr lang="en-US" altLang="zh-CN" u="sng" dirty="0" err="1">
                <a:solidFill>
                  <a:srgbClr val="009999"/>
                </a:solidFill>
                <a:sym typeface="Symbol" panose="05050102010706020507" pitchFamily="18" charset="2"/>
              </a:rPr>
              <a:t>x</a:t>
            </a:r>
            <a:r>
              <a:rPr lang="en-US" altLang="zh-CN" dirty="0" err="1">
                <a:sym typeface="Symbol" panose="05050102010706020507" pitchFamily="18" charset="2"/>
              </a:rPr>
              <a:t>F</a:t>
            </a:r>
            <a:r>
              <a:rPr lang="en-US" altLang="zh-CN" dirty="0">
                <a:sym typeface="Symbol" panose="05050102010706020507" pitchFamily="18" charset="2"/>
              </a:rPr>
              <a:t>(</a:t>
            </a:r>
            <a:r>
              <a:rPr lang="en-US" altLang="zh-CN" dirty="0">
                <a:solidFill>
                  <a:srgbClr val="009999"/>
                </a:solidFill>
                <a:sym typeface="Symbol" panose="05050102010706020507" pitchFamily="18" charset="2"/>
              </a:rPr>
              <a:t>x</a:t>
            </a:r>
            <a:r>
              <a:rPr lang="en-US" altLang="zh-CN" dirty="0">
                <a:sym typeface="Symbol" panose="05050102010706020507" pitchFamily="18" charset="2"/>
              </a:rPr>
              <a:t>)</a:t>
            </a:r>
            <a:r>
              <a:rPr lang="zh-CN" altLang="en-US" dirty="0"/>
              <a:t>∨</a:t>
            </a:r>
            <a:r>
              <a:rPr lang="en-US" altLang="zh-CN" dirty="0">
                <a:sym typeface="Symbol" panose="05050102010706020507" pitchFamily="18" charset="2"/>
              </a:rPr>
              <a:t></a:t>
            </a:r>
            <a:r>
              <a:rPr lang="en-US" altLang="zh-CN" u="sng" dirty="0">
                <a:solidFill>
                  <a:srgbClr val="CC0000"/>
                </a:solidFill>
                <a:sym typeface="Symbol" panose="05050102010706020507" pitchFamily="18" charset="2"/>
              </a:rPr>
              <a:t>y</a:t>
            </a:r>
            <a:r>
              <a:rPr lang="en-US" altLang="zh-CN" dirty="0">
                <a:sym typeface="Symbol" panose="05050102010706020507" pitchFamily="18" charset="2"/>
              </a:rPr>
              <a:t>(G(</a:t>
            </a:r>
            <a:r>
              <a:rPr lang="en-US" altLang="zh-CN" dirty="0">
                <a:solidFill>
                  <a:srgbClr val="CC0000"/>
                </a:solidFill>
                <a:sym typeface="Symbol" panose="05050102010706020507" pitchFamily="18" charset="2"/>
              </a:rPr>
              <a:t>y</a:t>
            </a:r>
            <a:r>
              <a:rPr lang="en-US" altLang="zh-CN" dirty="0">
                <a:sym typeface="Symbol" panose="05050102010706020507" pitchFamily="18" charset="2"/>
              </a:rPr>
              <a:t>)H(</a:t>
            </a:r>
            <a:r>
              <a:rPr lang="en-US" altLang="zh-CN" dirty="0" err="1">
                <a:solidFill>
                  <a:srgbClr val="D935E1"/>
                </a:solidFill>
                <a:sym typeface="Symbol" panose="05050102010706020507" pitchFamily="18" charset="2"/>
              </a:rPr>
              <a:t>x</a:t>
            </a:r>
            <a:r>
              <a:rPr lang="en-US" altLang="zh-CN" dirty="0" err="1">
                <a:sym typeface="Symbol" panose="05050102010706020507" pitchFamily="18" charset="2"/>
              </a:rPr>
              <a:t>,</a:t>
            </a:r>
            <a:r>
              <a:rPr lang="en-US" altLang="zh-CN" dirty="0" err="1">
                <a:solidFill>
                  <a:srgbClr val="CC0000"/>
                </a:solidFill>
                <a:sym typeface="Symbol" panose="05050102010706020507" pitchFamily="18" charset="2"/>
              </a:rPr>
              <a:t>y</a:t>
            </a:r>
            <a:r>
              <a:rPr lang="en-US" altLang="zh-CN" dirty="0">
                <a:sym typeface="Symbol" panose="05050102010706020507" pitchFamily="18" charset="2"/>
              </a:rPr>
              <a:t>))</a:t>
            </a:r>
            <a:endParaRPr lang="en-US" altLang="zh-CN" dirty="0">
              <a:sym typeface="Symbol" panose="05050102010706020507" pitchFamily="18" charset="2"/>
            </a:endParaRPr>
          </a:p>
          <a:p>
            <a:pPr eaLnBrk="1" hangingPunct="1"/>
            <a:r>
              <a:rPr lang="en-US" altLang="zh-CN" u="sng" dirty="0">
                <a:solidFill>
                  <a:srgbClr val="009999"/>
                </a:solidFill>
                <a:sym typeface="Symbol" panose="05050102010706020507" pitchFamily="18" charset="2"/>
              </a:rPr>
              <a:t>x </a:t>
            </a:r>
            <a:r>
              <a:rPr lang="zh-CN" altLang="en-US" dirty="0">
                <a:sym typeface="Symbol" panose="05050102010706020507" pitchFamily="18" charset="2"/>
              </a:rPr>
              <a:t>与 </a:t>
            </a:r>
            <a:r>
              <a:rPr lang="en-US" altLang="zh-CN" u="sng" dirty="0">
                <a:solidFill>
                  <a:srgbClr val="CC0000"/>
                </a:solidFill>
                <a:sym typeface="Symbol" panose="05050102010706020507" pitchFamily="18" charset="2"/>
              </a:rPr>
              <a:t>y </a:t>
            </a:r>
            <a:r>
              <a:rPr lang="zh-CN" altLang="en-US" dirty="0">
                <a:sym typeface="Symbol" panose="05050102010706020507" pitchFamily="18" charset="2"/>
              </a:rPr>
              <a:t>是指导变项</a:t>
            </a:r>
            <a:r>
              <a:rPr lang="en-US" altLang="zh-CN" dirty="0">
                <a:sym typeface="Symbol" panose="05050102010706020507" pitchFamily="18" charset="2"/>
              </a:rPr>
              <a:t> </a:t>
            </a:r>
            <a:endParaRPr lang="en-US" altLang="zh-CN" dirty="0">
              <a:sym typeface="Symbol" panose="05050102010706020507" pitchFamily="18" charset="2"/>
            </a:endParaRPr>
          </a:p>
          <a:p>
            <a:pPr eaLnBrk="1" hangingPunct="1"/>
            <a:r>
              <a:rPr lang="en-US" altLang="zh-CN" dirty="0">
                <a:solidFill>
                  <a:srgbClr val="FFFF00"/>
                </a:solidFill>
                <a:sym typeface="Symbol" panose="05050102010706020507" pitchFamily="18" charset="2"/>
              </a:rPr>
              <a:t> </a:t>
            </a:r>
            <a:r>
              <a:rPr lang="en-US" altLang="zh-CN" dirty="0">
                <a:solidFill>
                  <a:srgbClr val="009999"/>
                </a:solidFill>
                <a:sym typeface="Symbol" panose="05050102010706020507" pitchFamily="18" charset="2"/>
              </a:rPr>
              <a:t>x</a:t>
            </a:r>
            <a:r>
              <a:rPr lang="zh-CN" altLang="en-US" dirty="0">
                <a:sym typeface="Symbol" panose="05050102010706020507" pitchFamily="18" charset="2"/>
              </a:rPr>
              <a:t>与</a:t>
            </a:r>
            <a:r>
              <a:rPr lang="en-US" altLang="zh-CN" dirty="0">
                <a:solidFill>
                  <a:srgbClr val="CC0000"/>
                </a:solidFill>
                <a:sym typeface="Symbol" panose="05050102010706020507" pitchFamily="18" charset="2"/>
              </a:rPr>
              <a:t>y</a:t>
            </a:r>
            <a:r>
              <a:rPr lang="zh-CN" altLang="en-US" dirty="0">
                <a:sym typeface="Symbol" panose="05050102010706020507" pitchFamily="18" charset="2"/>
              </a:rPr>
              <a:t>是约束出现</a:t>
            </a:r>
            <a:endParaRPr lang="zh-CN" altLang="en-US" dirty="0">
              <a:sym typeface="Symbol" panose="05050102010706020507" pitchFamily="18" charset="2"/>
            </a:endParaRPr>
          </a:p>
          <a:p>
            <a:pPr eaLnBrk="1" hangingPunct="1"/>
            <a:r>
              <a:rPr lang="en-US" altLang="zh-CN" dirty="0">
                <a:sym typeface="Symbol" panose="05050102010706020507" pitchFamily="18" charset="2"/>
              </a:rPr>
              <a:t> </a:t>
            </a:r>
            <a:r>
              <a:rPr lang="en-US" altLang="zh-CN" dirty="0">
                <a:solidFill>
                  <a:srgbClr val="D935E1"/>
                </a:solidFill>
                <a:sym typeface="Symbol" panose="05050102010706020507" pitchFamily="18" charset="2"/>
              </a:rPr>
              <a:t>x</a:t>
            </a:r>
            <a:r>
              <a:rPr lang="zh-CN" altLang="en-US" dirty="0">
                <a:sym typeface="Symbol" panose="05050102010706020507" pitchFamily="18" charset="2"/>
              </a:rPr>
              <a:t>与 </a:t>
            </a:r>
            <a:r>
              <a:rPr lang="en-US" altLang="zh-CN" dirty="0">
                <a:solidFill>
                  <a:srgbClr val="009900"/>
                </a:solidFill>
                <a:sym typeface="Symbol" panose="05050102010706020507" pitchFamily="18" charset="2"/>
              </a:rPr>
              <a:t>y</a:t>
            </a:r>
            <a:r>
              <a:rPr lang="zh-CN" altLang="en-US" dirty="0">
                <a:sym typeface="Symbol" panose="05050102010706020507" pitchFamily="18" charset="2"/>
              </a:rPr>
              <a:t>是自由出现</a:t>
            </a:r>
            <a:endParaRPr lang="en-US" altLang="zh-CN" dirty="0">
              <a:sym typeface="Symbol" panose="05050102010706020507" pitchFamily="18" charset="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139164F-7872-46BA-84BF-C0C8A34291A5}"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608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832DBE68-D02E-46B6-B241-10540ABC4E6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608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46085" name="Rectangle 2"/>
          <p:cNvSpPr>
            <a:spLocks noGrp="1" noChangeArrowheads="1"/>
          </p:cNvSpPr>
          <p:nvPr>
            <p:ph type="title"/>
          </p:nvPr>
        </p:nvSpPr>
        <p:spPr/>
        <p:txBody>
          <a:bodyPr/>
          <a:lstStyle/>
          <a:p>
            <a:pPr eaLnBrk="1" hangingPunct="1"/>
            <a:r>
              <a:rPr lang="zh-CN" altLang="en-US"/>
              <a:t>闭式(</a:t>
            </a:r>
            <a:r>
              <a:rPr lang="en-US" altLang="zh-CN"/>
              <a:t>closed form)</a:t>
            </a:r>
            <a:endParaRPr lang="en-US" altLang="zh-CN"/>
          </a:p>
        </p:txBody>
      </p:sp>
      <p:sp>
        <p:nvSpPr>
          <p:cNvPr id="46086" name="Rectangle 3"/>
          <p:cNvSpPr>
            <a:spLocks noGrp="1" noChangeArrowheads="1"/>
          </p:cNvSpPr>
          <p:nvPr>
            <p:ph type="body" idx="1"/>
          </p:nvPr>
        </p:nvSpPr>
        <p:spPr/>
        <p:txBody>
          <a:bodyPr/>
          <a:lstStyle/>
          <a:p>
            <a:pPr eaLnBrk="1" hangingPunct="1"/>
            <a:r>
              <a:rPr lang="zh-CN" altLang="en-US" dirty="0">
                <a:solidFill>
                  <a:schemeClr val="tx2"/>
                </a:solidFill>
              </a:rPr>
              <a:t>闭式:  无自由出现的变项</a:t>
            </a:r>
            <a:endParaRPr lang="zh-CN" altLang="en-US" dirty="0">
              <a:solidFill>
                <a:schemeClr val="tx2"/>
              </a:solidFill>
            </a:endParaRPr>
          </a:p>
          <a:p>
            <a:pPr eaLnBrk="1" hangingPunct="1"/>
            <a:r>
              <a:rPr lang="zh-CN" altLang="en-US" dirty="0">
                <a:solidFill>
                  <a:schemeClr val="tx2"/>
                </a:solidFill>
              </a:rPr>
              <a:t>一般来说, 闭式表示的是命题, 例如</a:t>
            </a:r>
            <a:r>
              <a:rPr lang="en-US" altLang="zh-CN" dirty="0">
                <a:solidFill>
                  <a:schemeClr val="tx2"/>
                </a:solidFill>
              </a:rPr>
              <a:t> </a:t>
            </a:r>
            <a:endParaRPr lang="en-US" altLang="zh-CN" dirty="0">
              <a:solidFill>
                <a:schemeClr val="tx2"/>
              </a:solidFill>
            </a:endParaRPr>
          </a:p>
          <a:p>
            <a:pPr lvl="1" eaLnBrk="1" hangingPunct="1"/>
            <a:r>
              <a:rPr lang="en-US" altLang="zh-CN" dirty="0">
                <a:solidFill>
                  <a:schemeClr val="tx2"/>
                </a:solidFill>
              </a:rPr>
              <a:t>F(a) </a:t>
            </a:r>
            <a:endParaRPr lang="en-US" altLang="zh-CN" dirty="0">
              <a:solidFill>
                <a:schemeClr val="tx2"/>
              </a:solidFill>
            </a:endParaRPr>
          </a:p>
          <a:p>
            <a:pPr lvl="1" eaLnBrk="1" hangingPunct="1"/>
            <a:r>
              <a:rPr lang="zh-CN" altLang="en-US" dirty="0">
                <a:solidFill>
                  <a:schemeClr val="tx2"/>
                </a:solidFill>
                <a:sym typeface="Symbol" panose="05050102010706020507" pitchFamily="18" charset="2"/>
              </a:rPr>
              <a:t></a:t>
            </a:r>
            <a:r>
              <a:rPr lang="en-US" altLang="zh-CN" dirty="0" err="1">
                <a:solidFill>
                  <a:schemeClr val="tx2"/>
                </a:solidFill>
                <a:sym typeface="Symbol" panose="05050102010706020507" pitchFamily="18" charset="2"/>
              </a:rPr>
              <a:t>xF</a:t>
            </a:r>
            <a:r>
              <a:rPr lang="en-US" altLang="zh-CN" dirty="0">
                <a:solidFill>
                  <a:schemeClr val="tx2"/>
                </a:solidFill>
                <a:sym typeface="Symbol" panose="05050102010706020507" pitchFamily="18" charset="2"/>
              </a:rPr>
              <a:t>(x)</a:t>
            </a:r>
            <a:endParaRPr lang="en-US" altLang="zh-CN" dirty="0">
              <a:solidFill>
                <a:schemeClr val="tx2"/>
              </a:solidFill>
              <a:sym typeface="Symbol" panose="05050102010706020507" pitchFamily="18" charset="2"/>
            </a:endParaRPr>
          </a:p>
          <a:p>
            <a:pPr eaLnBrk="1" hangingPunct="1"/>
            <a:r>
              <a:rPr lang="zh-CN" altLang="en-US" dirty="0">
                <a:solidFill>
                  <a:schemeClr val="tx2"/>
                </a:solidFill>
              </a:rPr>
              <a:t>不是闭式</a:t>
            </a:r>
            <a:endParaRPr lang="zh-CN" altLang="en-US" dirty="0">
              <a:solidFill>
                <a:schemeClr val="tx2"/>
              </a:solidFill>
            </a:endParaRPr>
          </a:p>
          <a:p>
            <a:pPr lvl="1" eaLnBrk="1" hangingPunct="1"/>
            <a:r>
              <a:rPr lang="en-US" altLang="zh-CN" dirty="0">
                <a:solidFill>
                  <a:schemeClr val="tx2"/>
                </a:solidFill>
                <a:sym typeface="Symbol" panose="05050102010706020507" pitchFamily="18" charset="2"/>
              </a:rPr>
              <a:t>F(x)</a:t>
            </a:r>
            <a:endParaRPr lang="en-US" altLang="zh-CN" dirty="0">
              <a:solidFill>
                <a:schemeClr val="tx2"/>
              </a:solidFill>
            </a:endParaRPr>
          </a:p>
          <a:p>
            <a:pPr lvl="1" eaLnBrk="1" hangingPunct="1"/>
            <a:r>
              <a:rPr lang="en-US" altLang="zh-CN" dirty="0">
                <a:solidFill>
                  <a:schemeClr val="tx2"/>
                </a:solidFill>
                <a:sym typeface="Symbol" panose="05050102010706020507" pitchFamily="18" charset="2"/>
              </a:rPr>
              <a:t>y(G(y)H(</a:t>
            </a:r>
            <a:r>
              <a:rPr lang="en-US" altLang="zh-CN" dirty="0" err="1">
                <a:solidFill>
                  <a:schemeClr val="tx2"/>
                </a:solidFill>
                <a:sym typeface="Symbol" panose="05050102010706020507" pitchFamily="18" charset="2"/>
              </a:rPr>
              <a:t>x,y</a:t>
            </a:r>
            <a:r>
              <a:rPr lang="en-US" altLang="zh-CN" dirty="0">
                <a:solidFill>
                  <a:schemeClr val="tx2"/>
                </a:solidFill>
                <a:sym typeface="Symbol" panose="05050102010706020507" pitchFamily="18" charset="2"/>
              </a:rPr>
              <a:t>))</a:t>
            </a:r>
            <a:endParaRPr lang="en-US" altLang="zh-CN" dirty="0">
              <a:solidFill>
                <a:schemeClr val="tx2"/>
              </a:solidFill>
              <a:sym typeface="Symbol" panose="05050102010706020507" pitchFamily="18"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5BE7FFD-6D56-4708-942F-2FFE67E455A6}"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710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13E1224B-9688-4698-8A73-7D5DD48076A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710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47109" name="Rectangle 2"/>
          <p:cNvSpPr>
            <a:spLocks noGrp="1" noChangeArrowheads="1"/>
          </p:cNvSpPr>
          <p:nvPr>
            <p:ph type="title"/>
          </p:nvPr>
        </p:nvSpPr>
        <p:spPr/>
        <p:txBody>
          <a:bodyPr/>
          <a:lstStyle/>
          <a:p>
            <a:pPr eaLnBrk="1" hangingPunct="1"/>
            <a:r>
              <a:rPr lang="zh-CN" altLang="en-US"/>
              <a:t>解释(</a:t>
            </a:r>
            <a:r>
              <a:rPr lang="en-US" altLang="zh-CN"/>
              <a:t>interpret)</a:t>
            </a:r>
            <a:endParaRPr lang="en-US" altLang="zh-CN"/>
          </a:p>
        </p:txBody>
      </p:sp>
      <p:sp>
        <p:nvSpPr>
          <p:cNvPr id="47110" name="Rectangle 3"/>
          <p:cNvSpPr>
            <a:spLocks noGrp="1" noChangeArrowheads="1"/>
          </p:cNvSpPr>
          <p:nvPr>
            <p:ph type="body" idx="1"/>
          </p:nvPr>
        </p:nvSpPr>
        <p:spPr/>
        <p:txBody>
          <a:bodyPr/>
          <a:lstStyle/>
          <a:p>
            <a:pPr eaLnBrk="1" hangingPunct="1"/>
            <a:r>
              <a:rPr lang="zh-CN" altLang="en-US">
                <a:solidFill>
                  <a:schemeClr val="tx2"/>
                </a:solidFill>
              </a:rPr>
              <a:t>对一个合式公式的解释包括给出</a:t>
            </a:r>
            <a:endParaRPr lang="zh-CN" altLang="en-US">
              <a:solidFill>
                <a:schemeClr val="tx2"/>
              </a:solidFill>
            </a:endParaRPr>
          </a:p>
          <a:p>
            <a:pPr lvl="1" eaLnBrk="1" hangingPunct="1"/>
            <a:r>
              <a:rPr lang="zh-CN" altLang="en-US">
                <a:solidFill>
                  <a:schemeClr val="tx2"/>
                </a:solidFill>
              </a:rPr>
              <a:t>个体域</a:t>
            </a:r>
            <a:endParaRPr lang="zh-CN" altLang="en-US">
              <a:solidFill>
                <a:schemeClr val="tx2"/>
              </a:solidFill>
            </a:endParaRPr>
          </a:p>
          <a:p>
            <a:pPr lvl="1" eaLnBrk="1" hangingPunct="1"/>
            <a:r>
              <a:rPr lang="zh-CN" altLang="en-US">
                <a:solidFill>
                  <a:schemeClr val="tx2"/>
                </a:solidFill>
              </a:rPr>
              <a:t>谓词</a:t>
            </a:r>
            <a:endParaRPr lang="zh-CN" altLang="en-US">
              <a:solidFill>
                <a:schemeClr val="tx2"/>
              </a:solidFill>
            </a:endParaRPr>
          </a:p>
          <a:p>
            <a:pPr lvl="1" eaLnBrk="1" hangingPunct="1"/>
            <a:r>
              <a:rPr lang="zh-CN" altLang="en-US">
                <a:solidFill>
                  <a:schemeClr val="tx2"/>
                </a:solidFill>
              </a:rPr>
              <a:t>函数</a:t>
            </a:r>
            <a:endParaRPr lang="zh-CN" altLang="en-US">
              <a:solidFill>
                <a:schemeClr val="tx2"/>
              </a:solidFill>
            </a:endParaRPr>
          </a:p>
          <a:p>
            <a:pPr lvl="1" eaLnBrk="1" hangingPunct="1"/>
            <a:r>
              <a:rPr lang="zh-CN" altLang="en-US">
                <a:solidFill>
                  <a:schemeClr val="tx2"/>
                </a:solidFill>
              </a:rPr>
              <a:t>个体常项</a:t>
            </a:r>
            <a:endParaRPr lang="zh-CN" altLang="en-US">
              <a:solidFill>
                <a:schemeClr val="tx2"/>
              </a:solidFill>
            </a:endParaRPr>
          </a:p>
          <a:p>
            <a:pPr eaLnBrk="1" hangingPunct="1">
              <a:buFont typeface="Wingdings" panose="05000000000000000000" pitchFamily="2" charset="2"/>
              <a:buNone/>
            </a:pPr>
            <a:r>
              <a:rPr lang="zh-CN" altLang="en-US">
                <a:solidFill>
                  <a:schemeClr val="tx2"/>
                </a:solidFill>
              </a:rPr>
              <a:t>的具体含义</a:t>
            </a:r>
            <a:endParaRPr lang="zh-CN" altLang="en-US">
              <a:solidFill>
                <a:schemeClr val="tx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C2EE3DF-B967-4586-8F9A-2EDAED9F25F9}"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813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C884A2B-84C9-4065-B23C-1B8E7C05CDA4}"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4813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48133" name="Rectangle 2"/>
          <p:cNvSpPr>
            <a:spLocks noGrp="1" noChangeArrowheads="1"/>
          </p:cNvSpPr>
          <p:nvPr>
            <p:ph type="title"/>
          </p:nvPr>
        </p:nvSpPr>
        <p:spPr/>
        <p:txBody>
          <a:bodyPr/>
          <a:lstStyle/>
          <a:p>
            <a:pPr eaLnBrk="1" hangingPunct="1"/>
            <a:r>
              <a:rPr lang="zh-CN" altLang="en-US"/>
              <a:t>解释(举例)</a:t>
            </a:r>
            <a:endParaRPr lang="zh-CN" altLang="en-US"/>
          </a:p>
        </p:txBody>
      </p:sp>
      <p:sp>
        <p:nvSpPr>
          <p:cNvPr id="48134" name="Rectangle 3"/>
          <p:cNvSpPr>
            <a:spLocks noGrp="1" noChangeArrowheads="1"/>
          </p:cNvSpPr>
          <p:nvPr>
            <p:ph type="body" idx="1"/>
          </p:nvPr>
        </p:nvSpPr>
        <p:spPr/>
        <p:txBody>
          <a:bodyPr/>
          <a:lstStyle/>
          <a:p>
            <a:pPr eaLnBrk="1" hangingPunct="1"/>
            <a:r>
              <a:rPr lang="en-US" altLang="zh-CN" sz="2800">
                <a:solidFill>
                  <a:schemeClr val="tx2"/>
                </a:solidFill>
                <a:sym typeface="Symbol" panose="05050102010706020507" pitchFamily="18" charset="2"/>
              </a:rPr>
              <a:t>F(f(a,a),b)</a:t>
            </a:r>
            <a:endParaRPr lang="en-US" altLang="zh-CN"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解释1： 个体域是全体自然数; </a:t>
            </a:r>
            <a:r>
              <a:rPr lang="zh-CN" altLang="en-US" sz="2800">
                <a:solidFill>
                  <a:schemeClr val="tx2"/>
                </a:solidFill>
              </a:rPr>
              <a:t> </a:t>
            </a:r>
            <a:r>
              <a:rPr lang="en-US" altLang="zh-CN" sz="2800">
                <a:solidFill>
                  <a:schemeClr val="tx2"/>
                </a:solidFill>
              </a:rPr>
              <a:t>a: 2</a:t>
            </a:r>
            <a:r>
              <a:rPr lang="zh-CN" altLang="en-US" sz="2800">
                <a:solidFill>
                  <a:schemeClr val="tx2"/>
                </a:solidFill>
              </a:rPr>
              <a:t>;  </a:t>
            </a:r>
            <a:endParaRPr lang="zh-CN" altLang="en-US" sz="2800">
              <a:solidFill>
                <a:schemeClr val="tx2"/>
              </a:solidFill>
            </a:endParaRPr>
          </a:p>
          <a:p>
            <a:pPr eaLnBrk="1" hangingPunct="1">
              <a:buFont typeface="Wingdings" panose="05000000000000000000" pitchFamily="2" charset="2"/>
              <a:buNone/>
            </a:pPr>
            <a:r>
              <a:rPr lang="en-US" altLang="zh-CN" sz="2800">
                <a:solidFill>
                  <a:schemeClr val="tx2"/>
                </a:solidFill>
              </a:rPr>
              <a:t>              b: 4;  f(x,y)=x+y</a:t>
            </a:r>
            <a:r>
              <a:rPr lang="zh-CN" altLang="en-US" sz="2800">
                <a:solidFill>
                  <a:schemeClr val="tx2"/>
                </a:solidFill>
              </a:rPr>
              <a:t>;   </a:t>
            </a:r>
            <a:r>
              <a:rPr lang="en-US" altLang="zh-CN" sz="2800">
                <a:solidFill>
                  <a:schemeClr val="tx2"/>
                </a:solidFill>
              </a:rPr>
              <a:t>F(x,y): x=y</a:t>
            </a:r>
            <a:endParaRPr lang="en-US" altLang="zh-CN" sz="2800">
              <a:solidFill>
                <a:schemeClr val="tx2"/>
              </a:solidFill>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a:t>
            </a:r>
            <a:r>
              <a:rPr lang="zh-CN" altLang="en-US" sz="2800">
                <a:solidFill>
                  <a:schemeClr val="tx2"/>
                </a:solidFill>
                <a:sym typeface="Symbol" panose="05050102010706020507" pitchFamily="18" charset="2"/>
              </a:rPr>
              <a:t>原公式解释成:    </a:t>
            </a:r>
            <a:r>
              <a:rPr lang="zh-CN" altLang="en-US" sz="2800">
                <a:solidFill>
                  <a:schemeClr val="tx2"/>
                </a:solidFill>
                <a:latin typeface="Arial" panose="020B0604020202090204" pitchFamily="34" charset="0"/>
                <a:sym typeface="Symbol" panose="05050102010706020507" pitchFamily="18" charset="2"/>
              </a:rPr>
              <a:t>“</a:t>
            </a:r>
            <a:r>
              <a:rPr lang="zh-CN" altLang="en-US" sz="2800">
                <a:solidFill>
                  <a:schemeClr val="tx2"/>
                </a:solidFill>
                <a:sym typeface="Symbol" panose="05050102010706020507" pitchFamily="18" charset="2"/>
              </a:rPr>
              <a:t>2+2=4</a:t>
            </a:r>
            <a:r>
              <a:rPr lang="zh-CN" altLang="en-US" sz="2800">
                <a:solidFill>
                  <a:schemeClr val="tx2"/>
                </a:solidFill>
                <a:latin typeface="Arial" panose="020B0604020202090204" pitchFamily="34" charset="0"/>
                <a:sym typeface="Symbol" panose="05050102010706020507" pitchFamily="18" charset="2"/>
              </a:rPr>
              <a:t>”</a:t>
            </a:r>
            <a:r>
              <a:rPr lang="zh-CN" altLang="en-US" sz="2800">
                <a:solidFill>
                  <a:schemeClr val="tx2"/>
                </a:solidFill>
                <a:sym typeface="Symbol" panose="05050102010706020507" pitchFamily="18" charset="2"/>
              </a:rPr>
              <a:t>。</a:t>
            </a:r>
            <a:endParaRPr lang="zh-CN" altLang="en-US"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解释</a:t>
            </a:r>
            <a:r>
              <a:rPr lang="en-US" altLang="zh-CN" sz="2800">
                <a:solidFill>
                  <a:schemeClr val="tx2"/>
                </a:solidFill>
                <a:sym typeface="Symbol" panose="05050102010706020507" pitchFamily="18" charset="2"/>
              </a:rPr>
              <a:t>2</a:t>
            </a:r>
            <a:r>
              <a:rPr lang="zh-CN" altLang="en-US" sz="2800">
                <a:solidFill>
                  <a:schemeClr val="tx2"/>
                </a:solidFill>
                <a:sym typeface="Symbol" panose="05050102010706020507" pitchFamily="18" charset="2"/>
              </a:rPr>
              <a:t>： 个体域是全体实数; </a:t>
            </a:r>
            <a:r>
              <a:rPr lang="zh-CN" altLang="en-US" sz="2800">
                <a:solidFill>
                  <a:schemeClr val="tx2"/>
                </a:solidFill>
              </a:rPr>
              <a:t> </a:t>
            </a:r>
            <a:r>
              <a:rPr lang="en-US" altLang="zh-CN" sz="2800">
                <a:solidFill>
                  <a:schemeClr val="tx2"/>
                </a:solidFill>
              </a:rPr>
              <a:t>a: 3</a:t>
            </a:r>
            <a:r>
              <a:rPr lang="zh-CN" altLang="en-US" sz="2800">
                <a:solidFill>
                  <a:schemeClr val="tx2"/>
                </a:solidFill>
              </a:rPr>
              <a:t>;  </a:t>
            </a:r>
            <a:endParaRPr lang="zh-CN" altLang="en-US" sz="2800">
              <a:solidFill>
                <a:schemeClr val="tx2"/>
              </a:solidFill>
            </a:endParaRPr>
          </a:p>
          <a:p>
            <a:pPr eaLnBrk="1" hangingPunct="1">
              <a:buFont typeface="Wingdings" panose="05000000000000000000" pitchFamily="2" charset="2"/>
              <a:buNone/>
            </a:pPr>
            <a:r>
              <a:rPr lang="en-US" altLang="zh-CN" sz="2800">
                <a:solidFill>
                  <a:schemeClr val="tx2"/>
                </a:solidFill>
              </a:rPr>
              <a:t>              b: 5;  f(x,y)=x-y</a:t>
            </a:r>
            <a:r>
              <a:rPr lang="zh-CN" altLang="en-US" sz="2800">
                <a:solidFill>
                  <a:schemeClr val="tx2"/>
                </a:solidFill>
              </a:rPr>
              <a:t>;   </a:t>
            </a:r>
            <a:r>
              <a:rPr lang="en-US" altLang="zh-CN" sz="2800">
                <a:solidFill>
                  <a:schemeClr val="tx2"/>
                </a:solidFill>
              </a:rPr>
              <a:t>F(x,y): x&gt;y</a:t>
            </a:r>
            <a:endParaRPr lang="en-US" altLang="zh-CN" sz="2800">
              <a:solidFill>
                <a:schemeClr val="tx2"/>
              </a:solidFill>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a:t>
            </a:r>
            <a:r>
              <a:rPr lang="zh-CN" altLang="en-US" sz="2800">
                <a:solidFill>
                  <a:schemeClr val="tx2"/>
                </a:solidFill>
                <a:sym typeface="Symbol" panose="05050102010706020507" pitchFamily="18" charset="2"/>
              </a:rPr>
              <a:t>原公式解释成:    </a:t>
            </a:r>
            <a:r>
              <a:rPr lang="zh-CN" altLang="en-US" sz="2800">
                <a:solidFill>
                  <a:schemeClr val="tx2"/>
                </a:solidFill>
                <a:latin typeface="Arial" panose="020B0604020202090204" pitchFamily="34" charset="0"/>
                <a:sym typeface="Symbol" panose="05050102010706020507" pitchFamily="18" charset="2"/>
              </a:rPr>
              <a:t>“</a:t>
            </a:r>
            <a:r>
              <a:rPr lang="zh-CN" altLang="en-US" sz="2800">
                <a:solidFill>
                  <a:schemeClr val="tx2"/>
                </a:solidFill>
                <a:sym typeface="Symbol" panose="05050102010706020507" pitchFamily="18" charset="2"/>
              </a:rPr>
              <a:t>3-3&gt;5</a:t>
            </a:r>
            <a:r>
              <a:rPr lang="zh-CN" altLang="en-US" sz="2800">
                <a:solidFill>
                  <a:schemeClr val="tx2"/>
                </a:solidFill>
                <a:latin typeface="Arial" panose="020B0604020202090204" pitchFamily="34" charset="0"/>
                <a:sym typeface="Symbol" panose="05050102010706020507" pitchFamily="18" charset="2"/>
              </a:rPr>
              <a:t>”</a:t>
            </a:r>
            <a:r>
              <a:rPr lang="zh-CN" altLang="en-US" sz="2800">
                <a:solidFill>
                  <a:schemeClr val="tx2"/>
                </a:solidFill>
                <a:sym typeface="Symbol" panose="05050102010706020507" pitchFamily="18" charset="2"/>
              </a:rPr>
              <a:t>。</a:t>
            </a:r>
            <a:endParaRPr lang="zh-CN" altLang="en-US" sz="2800">
              <a:solidFill>
                <a:schemeClr val="tx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ctrTitle"/>
          </p:nvPr>
        </p:nvSpPr>
        <p:spPr/>
        <p:txBody>
          <a:bodyPr/>
          <a:lstStyle/>
          <a:p>
            <a:pPr eaLnBrk="1" hangingPunct="1"/>
            <a:r>
              <a:rPr lang="zh-CN" altLang="en-US"/>
              <a:t>一阶逻辑等值式</a:t>
            </a:r>
            <a:endParaRPr lang="zh-CN" altLang="en-US"/>
          </a:p>
        </p:txBody>
      </p:sp>
      <p:sp>
        <p:nvSpPr>
          <p:cNvPr id="49155" name="Rectangle 3"/>
          <p:cNvSpPr>
            <a:spLocks noGrp="1" noChangeArrowheads="1"/>
          </p:cNvSpPr>
          <p:nvPr>
            <p:ph type="subTitle" idx="1"/>
          </p:nvPr>
        </p:nvSpPr>
        <p:spPr/>
        <p:txBody>
          <a:bodyPr/>
          <a:lstStyle/>
          <a:p>
            <a:pPr eaLnBrk="1" hangingPunct="1"/>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079D5DC-431D-45A3-B135-4803D8B9DE8C}"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017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8BC5849-EE19-4F5F-80E8-4F24E19F80A5}"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018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0181" name="Rectangle 2"/>
          <p:cNvSpPr>
            <a:spLocks noGrp="1" noChangeArrowheads="1"/>
          </p:cNvSpPr>
          <p:nvPr>
            <p:ph type="title"/>
          </p:nvPr>
        </p:nvSpPr>
        <p:spPr/>
        <p:txBody>
          <a:bodyPr/>
          <a:lstStyle/>
          <a:p>
            <a:pPr eaLnBrk="1" hangingPunct="1"/>
            <a:r>
              <a:rPr lang="zh-CN" altLang="en-US"/>
              <a:t>一阶逻辑永真式(</a:t>
            </a:r>
            <a:r>
              <a:rPr lang="en-US" altLang="zh-CN"/>
              <a:t>tautology)</a:t>
            </a:r>
            <a:endParaRPr lang="en-US" altLang="zh-CN"/>
          </a:p>
        </p:txBody>
      </p:sp>
      <p:sp>
        <p:nvSpPr>
          <p:cNvPr id="50182" name="Rectangle 3"/>
          <p:cNvSpPr>
            <a:spLocks noGrp="1" noChangeArrowheads="1"/>
          </p:cNvSpPr>
          <p:nvPr>
            <p:ph type="body" idx="1"/>
          </p:nvPr>
        </p:nvSpPr>
        <p:spPr/>
        <p:txBody>
          <a:bodyPr/>
          <a:lstStyle/>
          <a:p>
            <a:pPr eaLnBrk="1" hangingPunct="1"/>
            <a:r>
              <a:rPr lang="zh-CN" altLang="en-US">
                <a:solidFill>
                  <a:schemeClr val="tx2"/>
                </a:solidFill>
              </a:rPr>
              <a:t>永真式:在各种</a:t>
            </a:r>
            <a:r>
              <a:rPr lang="zh-CN" altLang="en-US" i="1">
                <a:solidFill>
                  <a:schemeClr val="hlink"/>
                </a:solidFill>
              </a:rPr>
              <a:t>解释</a:t>
            </a:r>
            <a:r>
              <a:rPr lang="zh-CN" altLang="en-US">
                <a:solidFill>
                  <a:schemeClr val="tx2"/>
                </a:solidFill>
              </a:rPr>
              <a:t>下取值均为真(逻辑有效式)</a:t>
            </a:r>
            <a:endParaRPr lang="zh-CN" altLang="en-US">
              <a:solidFill>
                <a:schemeClr val="tx2"/>
              </a:solidFill>
            </a:endParaRPr>
          </a:p>
          <a:p>
            <a:pPr lvl="1" eaLnBrk="1" hangingPunct="1"/>
            <a:r>
              <a:rPr lang="zh-CN" altLang="en-US">
                <a:solidFill>
                  <a:schemeClr val="tx2"/>
                </a:solidFill>
              </a:rPr>
              <a:t>命题逻辑永真式: 在各种</a:t>
            </a:r>
            <a:r>
              <a:rPr lang="zh-CN" altLang="en-US" i="1">
                <a:solidFill>
                  <a:schemeClr val="hlink"/>
                </a:solidFill>
              </a:rPr>
              <a:t>赋值</a:t>
            </a:r>
            <a:r>
              <a:rPr lang="zh-CN" altLang="en-US">
                <a:solidFill>
                  <a:schemeClr val="tx2"/>
                </a:solidFill>
              </a:rPr>
              <a:t>下取值均为真(重言式)</a:t>
            </a:r>
            <a:endParaRPr lang="zh-CN" altLang="en-US">
              <a:solidFill>
                <a:schemeClr val="tx2"/>
              </a:solidFill>
            </a:endParaRPr>
          </a:p>
          <a:p>
            <a:pPr eaLnBrk="1" hangingPunct="1"/>
            <a:r>
              <a:rPr lang="zh-CN" altLang="en-US">
                <a:solidFill>
                  <a:schemeClr val="tx2"/>
                </a:solidFill>
              </a:rPr>
              <a:t>永假式:在各种</a:t>
            </a:r>
            <a:r>
              <a:rPr lang="zh-CN" altLang="en-US" i="1">
                <a:solidFill>
                  <a:schemeClr val="hlink"/>
                </a:solidFill>
              </a:rPr>
              <a:t>解释</a:t>
            </a:r>
            <a:r>
              <a:rPr lang="zh-CN" altLang="en-US">
                <a:solidFill>
                  <a:schemeClr val="tx2"/>
                </a:solidFill>
              </a:rPr>
              <a:t>下取值均为假(矛盾式)</a:t>
            </a:r>
            <a:endParaRPr lang="zh-CN" altLang="en-US">
              <a:solidFill>
                <a:schemeClr val="tx2"/>
              </a:solidFill>
            </a:endParaRPr>
          </a:p>
          <a:p>
            <a:pPr lvl="1" eaLnBrk="1" hangingPunct="1"/>
            <a:r>
              <a:rPr lang="zh-CN" altLang="en-US">
                <a:solidFill>
                  <a:schemeClr val="tx2"/>
                </a:solidFill>
              </a:rPr>
              <a:t>命题逻辑永假式: 在各种赋值下取值均为假(矛盾式)</a:t>
            </a:r>
            <a:endParaRPr lang="zh-CN" altLang="en-US">
              <a:solidFill>
                <a:schemeClr val="tx2"/>
              </a:solidFill>
            </a:endParaRPr>
          </a:p>
          <a:p>
            <a:pPr eaLnBrk="1" hangingPunct="1"/>
            <a:r>
              <a:rPr lang="zh-CN" altLang="en-US">
                <a:solidFill>
                  <a:schemeClr val="tx2"/>
                </a:solidFill>
              </a:rPr>
              <a:t>可满足式：非永假式</a:t>
            </a:r>
            <a:endParaRPr lang="zh-CN" altLang="en-US">
              <a:solidFill>
                <a:schemeClr val="tx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CCEE1FD-9A8A-4C4D-985C-F2524AC2667C}"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120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913D53C-256B-4958-B39E-5A80CC8EF19F}"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120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1205" name="Rectangle 2"/>
          <p:cNvSpPr>
            <a:spLocks noChangeArrowheads="1"/>
          </p:cNvSpPr>
          <p:nvPr/>
        </p:nvSpPr>
        <p:spPr bwMode="auto">
          <a:xfrm>
            <a:off x="2916238" y="4724400"/>
            <a:ext cx="2743200" cy="1752600"/>
          </a:xfrm>
          <a:prstGeom prst="rect">
            <a:avLst/>
          </a:prstGeom>
          <a:solidFill>
            <a:schemeClr val="accent1"/>
          </a:solidFill>
          <a:ln w="9525">
            <a:solidFill>
              <a:schemeClr val="tx1"/>
            </a:solidFill>
            <a:miter lim="800000"/>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endParaRPr lang="zh-CN" altLang="en-US"/>
          </a:p>
        </p:txBody>
      </p:sp>
      <p:sp>
        <p:nvSpPr>
          <p:cNvPr id="51206" name="Rectangle 3"/>
          <p:cNvSpPr>
            <a:spLocks noGrp="1" noChangeArrowheads="1"/>
          </p:cNvSpPr>
          <p:nvPr>
            <p:ph type="title"/>
          </p:nvPr>
        </p:nvSpPr>
        <p:spPr/>
        <p:txBody>
          <a:bodyPr/>
          <a:lstStyle/>
          <a:p>
            <a:pPr eaLnBrk="1" hangingPunct="1"/>
            <a:r>
              <a:rPr lang="zh-CN" altLang="en-US"/>
              <a:t>一阶逻辑等值式(定义</a:t>
            </a:r>
            <a:r>
              <a:rPr lang="en-US" altLang="zh-CN"/>
              <a:t>)</a:t>
            </a:r>
            <a:endParaRPr lang="en-US" altLang="zh-CN"/>
          </a:p>
        </p:txBody>
      </p:sp>
      <p:sp>
        <p:nvSpPr>
          <p:cNvPr id="51207" name="Rectangle 4"/>
          <p:cNvSpPr>
            <a:spLocks noGrp="1" noChangeArrowheads="1"/>
          </p:cNvSpPr>
          <p:nvPr>
            <p:ph type="body" idx="1"/>
          </p:nvPr>
        </p:nvSpPr>
        <p:spPr/>
        <p:txBody>
          <a:bodyPr/>
          <a:lstStyle/>
          <a:p>
            <a:pPr eaLnBrk="1" hangingPunct="1"/>
            <a:r>
              <a:rPr lang="zh-CN" altLang="en-US" dirty="0">
                <a:solidFill>
                  <a:schemeClr val="tx2"/>
                </a:solidFill>
              </a:rPr>
              <a:t>等值：  </a:t>
            </a:r>
            <a:r>
              <a:rPr lang="en-US" altLang="zh-CN" i="1" dirty="0">
                <a:solidFill>
                  <a:schemeClr val="tx2"/>
                </a:solidFill>
              </a:rPr>
              <a:t>A</a:t>
            </a:r>
            <a:r>
              <a:rPr lang="en-US" altLang="zh-CN" dirty="0">
                <a:solidFill>
                  <a:schemeClr val="tx2"/>
                </a:solidFill>
                <a:sym typeface="Symbol" panose="05050102010706020507" pitchFamily="18" charset="2"/>
              </a:rPr>
              <a:t></a:t>
            </a:r>
            <a:r>
              <a:rPr lang="en-US" altLang="zh-CN" i="1" dirty="0">
                <a:solidFill>
                  <a:schemeClr val="tx2"/>
                </a:solidFill>
              </a:rPr>
              <a:t>B </a:t>
            </a:r>
            <a:endParaRPr lang="en-US" altLang="zh-CN" dirty="0">
              <a:solidFill>
                <a:schemeClr val="tx2"/>
              </a:solidFill>
            </a:endParaRPr>
          </a:p>
          <a:p>
            <a:pPr lvl="1" eaLnBrk="1" hangingPunct="1"/>
            <a:r>
              <a:rPr lang="zh-CN" altLang="en-US" dirty="0">
                <a:solidFill>
                  <a:schemeClr val="tx2"/>
                </a:solidFill>
              </a:rPr>
              <a:t>读作：</a:t>
            </a:r>
            <a:r>
              <a:rPr lang="en-US" altLang="zh-CN" i="1" dirty="0">
                <a:solidFill>
                  <a:schemeClr val="tx2"/>
                </a:solidFill>
              </a:rPr>
              <a:t>A</a:t>
            </a:r>
            <a:r>
              <a:rPr lang="zh-CN" altLang="en-US" dirty="0">
                <a:solidFill>
                  <a:schemeClr val="tx2"/>
                </a:solidFill>
              </a:rPr>
              <a:t>等值于</a:t>
            </a:r>
            <a:r>
              <a:rPr lang="en-US" altLang="zh-CN" i="1" dirty="0">
                <a:solidFill>
                  <a:schemeClr val="tx2"/>
                </a:solidFill>
              </a:rPr>
              <a:t>B</a:t>
            </a:r>
            <a:endParaRPr lang="en-US" altLang="zh-CN" i="1" dirty="0">
              <a:solidFill>
                <a:schemeClr val="tx2"/>
              </a:solidFill>
            </a:endParaRPr>
          </a:p>
          <a:p>
            <a:pPr lvl="1" eaLnBrk="1" hangingPunct="1"/>
            <a:r>
              <a:rPr lang="zh-CN" altLang="en-US" dirty="0">
                <a:solidFill>
                  <a:schemeClr val="tx2"/>
                </a:solidFill>
              </a:rPr>
              <a:t>含义：</a:t>
            </a:r>
            <a:r>
              <a:rPr lang="en-US" altLang="zh-CN" i="1" dirty="0">
                <a:solidFill>
                  <a:schemeClr val="tx2"/>
                </a:solidFill>
              </a:rPr>
              <a:t>A</a:t>
            </a:r>
            <a:r>
              <a:rPr lang="zh-CN" altLang="en-US" dirty="0">
                <a:solidFill>
                  <a:schemeClr val="tx2"/>
                </a:solidFill>
              </a:rPr>
              <a:t>与</a:t>
            </a:r>
            <a:r>
              <a:rPr lang="en-US" altLang="zh-CN" i="1" dirty="0">
                <a:solidFill>
                  <a:schemeClr val="tx2"/>
                </a:solidFill>
              </a:rPr>
              <a:t>B</a:t>
            </a:r>
            <a:r>
              <a:rPr lang="zh-CN" altLang="en-US" dirty="0">
                <a:solidFill>
                  <a:schemeClr val="tx2"/>
                </a:solidFill>
              </a:rPr>
              <a:t>在各种解释下取值均相等</a:t>
            </a:r>
            <a:endParaRPr lang="zh-CN" altLang="en-US" dirty="0">
              <a:solidFill>
                <a:schemeClr val="tx2"/>
              </a:solidFill>
            </a:endParaRPr>
          </a:p>
          <a:p>
            <a:pPr eaLnBrk="1" hangingPunct="1"/>
            <a:r>
              <a:rPr lang="en-US" altLang="zh-CN" i="1" dirty="0">
                <a:solidFill>
                  <a:schemeClr val="tx2"/>
                </a:solidFill>
              </a:rPr>
              <a:t>A</a:t>
            </a:r>
            <a:r>
              <a:rPr lang="en-US" altLang="zh-CN" dirty="0">
                <a:solidFill>
                  <a:schemeClr val="tx2"/>
                </a:solidFill>
                <a:sym typeface="Symbol" panose="05050102010706020507" pitchFamily="18" charset="2"/>
              </a:rPr>
              <a:t></a:t>
            </a:r>
            <a:r>
              <a:rPr lang="en-US" altLang="zh-CN" i="1" dirty="0">
                <a:solidFill>
                  <a:schemeClr val="tx2"/>
                </a:solidFill>
              </a:rPr>
              <a:t>B </a:t>
            </a:r>
            <a:r>
              <a:rPr lang="zh-CN" altLang="en-US" dirty="0">
                <a:solidFill>
                  <a:schemeClr val="tx2"/>
                </a:solidFill>
              </a:rPr>
              <a:t>当且仅当 </a:t>
            </a:r>
            <a:r>
              <a:rPr lang="en-US" altLang="zh-CN" i="1" dirty="0">
                <a:solidFill>
                  <a:schemeClr val="tx2"/>
                </a:solidFill>
              </a:rPr>
              <a:t>A</a:t>
            </a:r>
            <a:r>
              <a:rPr lang="zh-CN" altLang="en-US" dirty="0">
                <a:solidFill>
                  <a:schemeClr val="tx2"/>
                </a:solidFill>
              </a:rPr>
              <a:t>↔</a:t>
            </a:r>
            <a:r>
              <a:rPr lang="en-US" altLang="zh-CN" i="1" dirty="0">
                <a:solidFill>
                  <a:schemeClr val="tx2"/>
                </a:solidFill>
              </a:rPr>
              <a:t>B</a:t>
            </a:r>
            <a:r>
              <a:rPr lang="zh-CN" altLang="en-US" dirty="0">
                <a:solidFill>
                  <a:schemeClr val="tx2"/>
                </a:solidFill>
              </a:rPr>
              <a:t>是永真式</a:t>
            </a:r>
            <a:endParaRPr lang="zh-CN" altLang="en-US" dirty="0">
              <a:solidFill>
                <a:schemeClr val="tx2"/>
              </a:solidFill>
            </a:endParaRPr>
          </a:p>
          <a:p>
            <a:pPr eaLnBrk="1" hangingPunct="1"/>
            <a:r>
              <a:rPr lang="zh-CN" altLang="en-US" dirty="0">
                <a:solidFill>
                  <a:schemeClr val="tx2"/>
                </a:solidFill>
              </a:rPr>
              <a:t>例如： </a:t>
            </a:r>
            <a:r>
              <a:rPr lang="en-US" altLang="zh-CN" dirty="0">
                <a:solidFill>
                  <a:schemeClr val="tx2"/>
                </a:solidFill>
                <a:latin typeface="Times New Roman" panose="02020503050405090304" pitchFamily="18" charset="0"/>
                <a:sym typeface="Symbol" panose="05050102010706020507" pitchFamily="18" charset="2"/>
              </a:rPr>
              <a:t> </a:t>
            </a:r>
            <a:r>
              <a:rPr lang="en-US" altLang="zh-CN" dirty="0">
                <a:solidFill>
                  <a:schemeClr val="tx2"/>
                </a:solidFill>
                <a:sym typeface="Symbol" panose="05050102010706020507" pitchFamily="18" charset="2"/>
              </a:rPr>
              <a:t></a:t>
            </a:r>
            <a:r>
              <a:rPr lang="en-US" altLang="zh-CN" dirty="0" err="1">
                <a:solidFill>
                  <a:schemeClr val="tx2"/>
                </a:solidFill>
                <a:sym typeface="Symbol" panose="05050102010706020507" pitchFamily="18" charset="2"/>
              </a:rPr>
              <a:t>xF</a:t>
            </a:r>
            <a:r>
              <a:rPr lang="en-US" altLang="zh-CN" dirty="0">
                <a:solidFill>
                  <a:schemeClr val="tx2"/>
                </a:solidFill>
                <a:sym typeface="Symbol" panose="05050102010706020507" pitchFamily="18" charset="2"/>
              </a:rPr>
              <a:t>(x)</a:t>
            </a:r>
            <a:r>
              <a:rPr lang="zh-CN" altLang="en-US" dirty="0">
                <a:solidFill>
                  <a:schemeClr val="tx2"/>
                </a:solidFill>
                <a:sym typeface="Symbol" panose="05050102010706020507" pitchFamily="18" charset="2"/>
              </a:rPr>
              <a:t></a:t>
            </a:r>
            <a:r>
              <a:rPr lang="en-US" altLang="zh-CN" dirty="0">
                <a:solidFill>
                  <a:schemeClr val="tx2"/>
                </a:solidFill>
                <a:sym typeface="Symbol" panose="05050102010706020507" pitchFamily="18" charset="2"/>
              </a:rPr>
              <a:t>x</a:t>
            </a:r>
            <a:r>
              <a:rPr lang="en-US" altLang="zh-CN" dirty="0">
                <a:solidFill>
                  <a:schemeClr val="tx2"/>
                </a:solidFill>
                <a:latin typeface="Times New Roman" panose="02020503050405090304" pitchFamily="18" charset="0"/>
                <a:sym typeface="Symbol" panose="05050102010706020507" pitchFamily="18" charset="2"/>
              </a:rPr>
              <a:t>  </a:t>
            </a:r>
            <a:r>
              <a:rPr lang="en-US" altLang="zh-CN" dirty="0">
                <a:solidFill>
                  <a:schemeClr val="tx2"/>
                </a:solidFill>
                <a:sym typeface="Symbol" panose="05050102010706020507" pitchFamily="18" charset="2"/>
              </a:rPr>
              <a:t>F(x)</a:t>
            </a:r>
            <a:endParaRPr lang="en-US" altLang="zh-CN" dirty="0">
              <a:solidFill>
                <a:schemeClr val="tx2"/>
              </a:solidFill>
              <a:sym typeface="Symbol" panose="05050102010706020507" pitchFamily="18" charset="2"/>
            </a:endParaRPr>
          </a:p>
        </p:txBody>
      </p:sp>
      <p:sp>
        <p:nvSpPr>
          <p:cNvPr id="51208" name="Oval 5"/>
          <p:cNvSpPr>
            <a:spLocks noChangeArrowheads="1"/>
          </p:cNvSpPr>
          <p:nvPr/>
        </p:nvSpPr>
        <p:spPr bwMode="auto">
          <a:xfrm>
            <a:off x="3581400" y="4876800"/>
            <a:ext cx="1447800" cy="1295400"/>
          </a:xfrm>
          <a:prstGeom prst="ellipse">
            <a:avLst/>
          </a:prstGeom>
          <a:solidFill>
            <a:schemeClr val="bg2">
              <a:alpha val="50195"/>
            </a:schemeClr>
          </a:solidFill>
          <a:ln w="9525">
            <a:solidFill>
              <a:schemeClr val="tx1"/>
            </a:solidFill>
            <a:miter lim="800000"/>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endParaRPr lang="zh-CN" altLang="en-US"/>
          </a:p>
        </p:txBody>
      </p:sp>
      <p:sp>
        <p:nvSpPr>
          <p:cNvPr id="51209" name="Oval 6"/>
          <p:cNvSpPr>
            <a:spLocks noChangeArrowheads="1"/>
          </p:cNvSpPr>
          <p:nvPr/>
        </p:nvSpPr>
        <p:spPr bwMode="auto">
          <a:xfrm>
            <a:off x="3886200" y="5410200"/>
            <a:ext cx="152400" cy="152400"/>
          </a:xfrm>
          <a:prstGeom prst="ellipse">
            <a:avLst/>
          </a:prstGeom>
          <a:solidFill>
            <a:srgbClr val="CC0000"/>
          </a:solidFill>
          <a:ln w="9525">
            <a:solidFill>
              <a:schemeClr val="tx1"/>
            </a:solidFill>
            <a:miter lim="800000"/>
          </a:ln>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algn="ctr"/>
            <a:endParaRPr lang="zh-CN" altLang="en-US"/>
          </a:p>
        </p:txBody>
      </p:sp>
      <p:sp>
        <p:nvSpPr>
          <p:cNvPr id="51210" name="Text Box 7"/>
          <p:cNvSpPr txBox="1">
            <a:spLocks noChangeArrowheads="1"/>
          </p:cNvSpPr>
          <p:nvPr/>
        </p:nvSpPr>
        <p:spPr bwMode="auto">
          <a:xfrm>
            <a:off x="3048000" y="4724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eaLnBrk="1" hangingPunct="1">
              <a:spcBef>
                <a:spcPct val="50000"/>
              </a:spcBef>
            </a:pPr>
            <a:r>
              <a:rPr kumimoji="0" lang="en-US" altLang="zh-CN" b="0" i="0" u="none">
                <a:latin typeface="Arial Narrow" panose="020B0606020202030204" pitchFamily="34" charset="0"/>
              </a:rPr>
              <a:t>F</a:t>
            </a:r>
            <a:endParaRPr kumimoji="0" lang="en-US" altLang="zh-CN" b="0" i="0" u="none">
              <a:latin typeface="Arial Narrow" panose="020B0606020202030204" pitchFamily="34" charset="0"/>
            </a:endParaRPr>
          </a:p>
        </p:txBody>
      </p:sp>
      <p:sp>
        <p:nvSpPr>
          <p:cNvPr id="51211" name="Text Box 8"/>
          <p:cNvSpPr txBox="1">
            <a:spLocks noChangeArrowheads="1"/>
          </p:cNvSpPr>
          <p:nvPr/>
        </p:nvSpPr>
        <p:spPr bwMode="auto">
          <a:xfrm>
            <a:off x="4191000" y="5105400"/>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eaLnBrk="1" hangingPunct="1">
              <a:spcBef>
                <a:spcPct val="50000"/>
              </a:spcBef>
            </a:pPr>
            <a:r>
              <a:rPr kumimoji="0" lang="en-US" altLang="zh-CN" sz="2000" b="0" i="0" u="none">
                <a:solidFill>
                  <a:srgbClr val="FF9966"/>
                </a:solidFill>
                <a:latin typeface="Arial" panose="020B0604020202090204" pitchFamily="34" charset="0"/>
                <a:sym typeface="Symbol" panose="05050102010706020507" pitchFamily="18" charset="2"/>
              </a:rPr>
              <a:t>~</a:t>
            </a:r>
            <a:r>
              <a:rPr kumimoji="0" lang="en-US" altLang="zh-CN" sz="2000" b="0" i="0" u="none">
                <a:solidFill>
                  <a:srgbClr val="FF9966"/>
                </a:solidFill>
                <a:latin typeface="Arial Narrow" panose="020B0606020202030204" pitchFamily="34" charset="0"/>
              </a:rPr>
              <a:t> F</a:t>
            </a:r>
            <a:endParaRPr kumimoji="0" lang="en-US" altLang="zh-CN" sz="2000" b="0" i="0" u="none">
              <a:solidFill>
                <a:srgbClr val="FF9966"/>
              </a:solidFill>
              <a:latin typeface="Arial Narrow" panose="020B060602020203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DF02C859-C190-4509-9322-E7E680446E59}"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222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2BD2C17-71B7-42B6-BE3C-B2DD56B2AEEA}"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222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2229" name="Rectangle 2"/>
          <p:cNvSpPr>
            <a:spLocks noGrp="1" noChangeArrowheads="1"/>
          </p:cNvSpPr>
          <p:nvPr>
            <p:ph type="title"/>
          </p:nvPr>
        </p:nvSpPr>
        <p:spPr/>
        <p:txBody>
          <a:bodyPr/>
          <a:lstStyle/>
          <a:p>
            <a:pPr eaLnBrk="1" hangingPunct="1"/>
            <a:r>
              <a:rPr lang="zh-CN" altLang="en-US"/>
              <a:t>一阶逻辑等值式(来源)</a:t>
            </a:r>
            <a:endParaRPr lang="zh-CN" altLang="en-US"/>
          </a:p>
        </p:txBody>
      </p:sp>
      <p:sp>
        <p:nvSpPr>
          <p:cNvPr id="52230" name="Rectangle 3"/>
          <p:cNvSpPr>
            <a:spLocks noGrp="1" noChangeArrowheads="1"/>
          </p:cNvSpPr>
          <p:nvPr>
            <p:ph type="body" idx="1"/>
          </p:nvPr>
        </p:nvSpPr>
        <p:spPr/>
        <p:txBody>
          <a:bodyPr/>
          <a:lstStyle/>
          <a:p>
            <a:pPr eaLnBrk="1" hangingPunct="1">
              <a:lnSpc>
                <a:spcPct val="90000"/>
              </a:lnSpc>
            </a:pPr>
            <a:r>
              <a:rPr lang="zh-CN" altLang="en-US">
                <a:solidFill>
                  <a:schemeClr val="tx2"/>
                </a:solidFill>
              </a:rPr>
              <a:t>命题逻辑等值式的代换实例</a:t>
            </a:r>
            <a:endParaRPr lang="zh-CN" altLang="en-US">
              <a:solidFill>
                <a:schemeClr val="tx2"/>
              </a:solidFill>
            </a:endParaRPr>
          </a:p>
          <a:p>
            <a:pPr eaLnBrk="1" hangingPunct="1">
              <a:lnSpc>
                <a:spcPct val="90000"/>
              </a:lnSpc>
            </a:pPr>
            <a:r>
              <a:rPr lang="zh-CN" altLang="en-US">
                <a:solidFill>
                  <a:schemeClr val="tx2"/>
                </a:solidFill>
              </a:rPr>
              <a:t>与量词有关的</a:t>
            </a:r>
            <a:endParaRPr lang="zh-CN" altLang="en-US">
              <a:solidFill>
                <a:schemeClr val="tx2"/>
              </a:solidFill>
            </a:endParaRPr>
          </a:p>
          <a:p>
            <a:pPr lvl="1" eaLnBrk="1" hangingPunct="1">
              <a:lnSpc>
                <a:spcPct val="90000"/>
              </a:lnSpc>
            </a:pPr>
            <a:r>
              <a:rPr lang="zh-CN" altLang="en-US">
                <a:solidFill>
                  <a:schemeClr val="tx2"/>
                </a:solidFill>
              </a:rPr>
              <a:t>有限个体域量词消去</a:t>
            </a:r>
            <a:endParaRPr lang="zh-CN" altLang="en-US">
              <a:solidFill>
                <a:schemeClr val="tx2"/>
              </a:solidFill>
            </a:endParaRPr>
          </a:p>
          <a:p>
            <a:pPr lvl="1" eaLnBrk="1" hangingPunct="1">
              <a:lnSpc>
                <a:spcPct val="90000"/>
              </a:lnSpc>
            </a:pPr>
            <a:r>
              <a:rPr lang="zh-CN" altLang="en-US">
                <a:solidFill>
                  <a:schemeClr val="tx2"/>
                </a:solidFill>
              </a:rPr>
              <a:t>量词否定</a:t>
            </a:r>
            <a:endParaRPr lang="zh-CN" altLang="en-US">
              <a:solidFill>
                <a:schemeClr val="tx2"/>
              </a:solidFill>
              <a:sym typeface="Wingdings" panose="05000000000000000000" pitchFamily="2" charset="2"/>
            </a:endParaRPr>
          </a:p>
          <a:p>
            <a:pPr lvl="1" eaLnBrk="1" hangingPunct="1">
              <a:lnSpc>
                <a:spcPct val="90000"/>
              </a:lnSpc>
            </a:pPr>
            <a:r>
              <a:rPr lang="zh-CN" altLang="en-US">
                <a:solidFill>
                  <a:schemeClr val="tx2"/>
                </a:solidFill>
                <a:sym typeface="Wingdings" panose="05000000000000000000" pitchFamily="2" charset="2"/>
              </a:rPr>
              <a:t>量词辖域收缩与扩张</a:t>
            </a:r>
            <a:endParaRPr lang="zh-CN" altLang="en-US">
              <a:solidFill>
                <a:schemeClr val="tx2"/>
              </a:solidFill>
              <a:sym typeface="Wingdings" panose="05000000000000000000" pitchFamily="2" charset="2"/>
            </a:endParaRPr>
          </a:p>
          <a:p>
            <a:pPr lvl="1" eaLnBrk="1" hangingPunct="1">
              <a:lnSpc>
                <a:spcPct val="90000"/>
              </a:lnSpc>
            </a:pPr>
            <a:r>
              <a:rPr lang="zh-CN" altLang="en-US">
                <a:solidFill>
                  <a:schemeClr val="tx2"/>
                </a:solidFill>
              </a:rPr>
              <a:t>量词分配</a:t>
            </a:r>
            <a:endParaRPr lang="zh-CN" altLang="en-US">
              <a:solidFill>
                <a:schemeClr val="tx2"/>
              </a:solidFill>
            </a:endParaRPr>
          </a:p>
          <a:p>
            <a:pPr eaLnBrk="1" hangingPunct="1">
              <a:lnSpc>
                <a:spcPct val="90000"/>
              </a:lnSpc>
            </a:pPr>
            <a:r>
              <a:rPr lang="zh-CN" altLang="en-US">
                <a:solidFill>
                  <a:schemeClr val="tx2"/>
                </a:solidFill>
              </a:rPr>
              <a:t>与变项命名有关的</a:t>
            </a:r>
            <a:endParaRPr lang="zh-CN" altLang="en-US">
              <a:solidFill>
                <a:schemeClr val="tx2"/>
              </a:solidFill>
            </a:endParaRPr>
          </a:p>
          <a:p>
            <a:pPr lvl="1" eaLnBrk="1" hangingPunct="1">
              <a:lnSpc>
                <a:spcPct val="90000"/>
              </a:lnSpc>
            </a:pPr>
            <a:r>
              <a:rPr lang="zh-CN" altLang="en-US">
                <a:solidFill>
                  <a:schemeClr val="tx2"/>
                </a:solidFill>
              </a:rPr>
              <a:t>换名规则</a:t>
            </a:r>
            <a:endParaRPr lang="zh-CN" altLang="en-US">
              <a:solidFill>
                <a:schemeClr val="tx2"/>
              </a:solidFill>
            </a:endParaRPr>
          </a:p>
          <a:p>
            <a:pPr lvl="1" eaLnBrk="1" hangingPunct="1">
              <a:lnSpc>
                <a:spcPct val="90000"/>
              </a:lnSpc>
            </a:pPr>
            <a:r>
              <a:rPr lang="zh-CN" altLang="en-US">
                <a:solidFill>
                  <a:schemeClr val="tx2"/>
                </a:solidFill>
              </a:rPr>
              <a:t>代替规则</a:t>
            </a:r>
            <a:endParaRPr lang="zh-CN" altLang="en-US">
              <a:solidFill>
                <a:schemeClr val="tx2"/>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C2A3F53-E6C0-450D-9786-9E72BDDDDE2A}"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325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FB08C6D-EBDE-4FED-BF61-225D5496E4FD}"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325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3253" name="Rectangle 2"/>
          <p:cNvSpPr>
            <a:spLocks noGrp="1" noChangeArrowheads="1"/>
          </p:cNvSpPr>
          <p:nvPr>
            <p:ph type="title"/>
          </p:nvPr>
        </p:nvSpPr>
        <p:spPr/>
        <p:txBody>
          <a:bodyPr/>
          <a:lstStyle/>
          <a:p>
            <a:pPr eaLnBrk="1" hangingPunct="1"/>
            <a:r>
              <a:rPr lang="zh-CN" altLang="en-US"/>
              <a:t>代换实例</a:t>
            </a:r>
            <a:endParaRPr lang="zh-CN" altLang="en-US"/>
          </a:p>
        </p:txBody>
      </p:sp>
      <p:sp>
        <p:nvSpPr>
          <p:cNvPr id="53254" name="Rectangle 3"/>
          <p:cNvSpPr>
            <a:spLocks noGrp="1" noChangeArrowheads="1"/>
          </p:cNvSpPr>
          <p:nvPr>
            <p:ph type="body" idx="1"/>
          </p:nvPr>
        </p:nvSpPr>
        <p:spPr/>
        <p:txBody>
          <a:bodyPr/>
          <a:lstStyle/>
          <a:p>
            <a:pPr eaLnBrk="1" hangingPunct="1"/>
            <a:r>
              <a:rPr lang="zh-CN" altLang="en-US" sz="2800" dirty="0">
                <a:solidFill>
                  <a:schemeClr val="tx2"/>
                </a:solidFill>
              </a:rPr>
              <a:t>在命题逻辑等值式中, 代入一阶逻辑公式所得到的式子, 称为原来公式的代换实例. </a:t>
            </a:r>
            <a:endParaRPr lang="zh-CN" altLang="en-US" sz="2800" dirty="0">
              <a:solidFill>
                <a:schemeClr val="tx2"/>
              </a:solidFill>
            </a:endParaRPr>
          </a:p>
          <a:p>
            <a:pPr eaLnBrk="1" hangingPunct="1"/>
            <a:r>
              <a:rPr lang="zh-CN" altLang="en-US" sz="2800" dirty="0">
                <a:solidFill>
                  <a:schemeClr val="tx2"/>
                </a:solidFill>
              </a:rPr>
              <a:t>例1：</a:t>
            </a:r>
            <a:r>
              <a:rPr lang="en-US" altLang="zh-CN" sz="2800" dirty="0">
                <a:solidFill>
                  <a:schemeClr val="tx2"/>
                </a:solidFill>
              </a:rPr>
              <a:t>A</a:t>
            </a:r>
            <a:r>
              <a:rPr lang="en-US" altLang="zh-CN" sz="2800" dirty="0">
                <a:solidFill>
                  <a:schemeClr val="tx2"/>
                </a:solidFill>
                <a:sym typeface="Symbol" panose="05050102010706020507" pitchFamily="18" charset="2"/>
              </a:rPr>
              <a:t></a:t>
            </a:r>
            <a:r>
              <a:rPr lang="en-US" altLang="zh-CN" sz="2800" dirty="0">
                <a:solidFill>
                  <a:schemeClr val="tx2"/>
                </a:solidFill>
                <a:latin typeface="Times New Roman" panose="02020503050405090304" pitchFamily="18" charset="0"/>
                <a:sym typeface="Symbol" panose="05050102010706020507" pitchFamily="18" charset="2"/>
              </a:rPr>
              <a:t>   </a:t>
            </a:r>
            <a:r>
              <a:rPr lang="en-US" altLang="zh-CN" sz="2800" dirty="0">
                <a:solidFill>
                  <a:schemeClr val="tx2"/>
                </a:solidFill>
                <a:sym typeface="Symbol" panose="05050102010706020507" pitchFamily="18" charset="2"/>
              </a:rPr>
              <a:t>A,     </a:t>
            </a:r>
            <a:r>
              <a:rPr lang="zh-CN" altLang="en-US" sz="2800" dirty="0">
                <a:solidFill>
                  <a:schemeClr val="tx2"/>
                </a:solidFill>
                <a:sym typeface="Symbol" panose="05050102010706020507" pitchFamily="18" charset="2"/>
              </a:rPr>
              <a:t>令</a:t>
            </a:r>
            <a:r>
              <a:rPr lang="en-US" altLang="zh-CN" sz="2800" dirty="0">
                <a:solidFill>
                  <a:schemeClr val="tx2"/>
                </a:solidFill>
                <a:sym typeface="Symbol" panose="05050102010706020507" pitchFamily="18" charset="2"/>
              </a:rPr>
              <a:t>A=</a:t>
            </a:r>
            <a:r>
              <a:rPr lang="en-US" altLang="zh-CN" sz="2800" dirty="0" err="1">
                <a:solidFill>
                  <a:schemeClr val="tx2"/>
                </a:solidFill>
                <a:sym typeface="Symbol" panose="05050102010706020507" pitchFamily="18" charset="2"/>
              </a:rPr>
              <a:t>xF</a:t>
            </a:r>
            <a:r>
              <a:rPr lang="en-US" altLang="zh-CN" sz="2800" dirty="0">
                <a:solidFill>
                  <a:schemeClr val="tx2"/>
                </a:solidFill>
                <a:sym typeface="Symbol" panose="05050102010706020507" pitchFamily="18" charset="2"/>
              </a:rPr>
              <a:t>(x),  </a:t>
            </a:r>
            <a:r>
              <a:rPr lang="zh-CN" altLang="en-US" sz="2800" dirty="0">
                <a:solidFill>
                  <a:schemeClr val="tx2"/>
                </a:solidFill>
                <a:sym typeface="Symbol" panose="05050102010706020507" pitchFamily="18" charset="2"/>
              </a:rPr>
              <a:t>得到</a:t>
            </a:r>
            <a:endParaRPr lang="zh-CN" altLang="en-US" sz="2800" dirty="0">
              <a:solidFill>
                <a:schemeClr val="tx2"/>
              </a:solidFill>
              <a:sym typeface="Symbol" panose="05050102010706020507" pitchFamily="18" charset="2"/>
            </a:endParaRPr>
          </a:p>
          <a:p>
            <a:pPr algn="ctr" eaLnBrk="1" hangingPunct="1">
              <a:buNone/>
            </a:pPr>
            <a:r>
              <a:rPr lang="zh-CN" altLang="en-US" sz="2800" dirty="0">
                <a:solidFill>
                  <a:schemeClr val="tx2"/>
                </a:solidFill>
                <a:sym typeface="Symbol" panose="05050102010706020507" pitchFamily="18" charset="2"/>
              </a:rPr>
              <a:t></a:t>
            </a:r>
            <a:r>
              <a:rPr lang="en-US" altLang="zh-CN" sz="2800" dirty="0" err="1">
                <a:solidFill>
                  <a:schemeClr val="tx2"/>
                </a:solidFill>
                <a:sym typeface="Symbol" panose="05050102010706020507" pitchFamily="18" charset="2"/>
              </a:rPr>
              <a:t>xF</a:t>
            </a:r>
            <a:r>
              <a:rPr lang="en-US" altLang="zh-CN" sz="2800" dirty="0">
                <a:solidFill>
                  <a:schemeClr val="tx2"/>
                </a:solidFill>
                <a:sym typeface="Symbol" panose="05050102010706020507" pitchFamily="18" charset="2"/>
              </a:rPr>
              <a:t>(x)</a:t>
            </a:r>
            <a:r>
              <a:rPr lang="en-US" altLang="zh-CN" sz="2800" dirty="0">
                <a:solidFill>
                  <a:schemeClr val="tx2"/>
                </a:solidFill>
                <a:latin typeface="Times New Roman" panose="02020503050405090304" pitchFamily="18" charset="0"/>
                <a:sym typeface="Symbol" panose="05050102010706020507" pitchFamily="18" charset="2"/>
              </a:rPr>
              <a:t>  </a:t>
            </a:r>
            <a:r>
              <a:rPr lang="en-US" altLang="zh-CN" sz="2800" dirty="0">
                <a:solidFill>
                  <a:schemeClr val="tx2"/>
                </a:solidFill>
                <a:sym typeface="Symbol" panose="05050102010706020507" pitchFamily="18" charset="2"/>
              </a:rPr>
              <a:t> </a:t>
            </a:r>
            <a:r>
              <a:rPr lang="en-US" altLang="zh-CN" sz="2800" dirty="0" err="1">
                <a:solidFill>
                  <a:schemeClr val="tx2"/>
                </a:solidFill>
                <a:sym typeface="Symbol" panose="05050102010706020507" pitchFamily="18" charset="2"/>
              </a:rPr>
              <a:t>xF</a:t>
            </a:r>
            <a:r>
              <a:rPr lang="en-US" altLang="zh-CN" sz="2800" dirty="0">
                <a:solidFill>
                  <a:schemeClr val="tx2"/>
                </a:solidFill>
                <a:sym typeface="Symbol" panose="05050102010706020507" pitchFamily="18" charset="2"/>
              </a:rPr>
              <a:t>(x)</a:t>
            </a:r>
            <a:endParaRPr lang="en-US" altLang="zh-CN" sz="2800" dirty="0">
              <a:solidFill>
                <a:schemeClr val="tx2"/>
              </a:solidFill>
              <a:sym typeface="Symbol" panose="05050102010706020507" pitchFamily="18" charset="2"/>
            </a:endParaRPr>
          </a:p>
          <a:p>
            <a:pPr eaLnBrk="1" hangingPunct="1"/>
            <a:r>
              <a:rPr lang="zh-CN" altLang="en-US" sz="2800" dirty="0">
                <a:solidFill>
                  <a:schemeClr val="tx2"/>
                </a:solidFill>
              </a:rPr>
              <a:t>例2：</a:t>
            </a:r>
            <a:r>
              <a:rPr lang="en-US" altLang="zh-CN" sz="2400" i="1" dirty="0">
                <a:solidFill>
                  <a:schemeClr val="tx2"/>
                </a:solidFill>
                <a:sym typeface="Wingdings" panose="05000000000000000000" pitchFamily="2" charset="2"/>
              </a:rPr>
              <a:t>A</a:t>
            </a:r>
            <a:r>
              <a:rPr lang="zh-CN" altLang="en-US" sz="2800" dirty="0">
                <a:solidFill>
                  <a:schemeClr val="tx2"/>
                </a:solidFill>
              </a:rPr>
              <a:t>→</a:t>
            </a:r>
            <a:r>
              <a:rPr lang="en-US" altLang="zh-CN" sz="2400" i="1" dirty="0">
                <a:solidFill>
                  <a:schemeClr val="tx2"/>
                </a:solidFill>
                <a:sym typeface="Wingdings" panose="05000000000000000000" pitchFamily="2" charset="2"/>
              </a:rPr>
              <a:t>B</a:t>
            </a:r>
            <a:r>
              <a:rPr lang="en-US" altLang="zh-CN" sz="2800" dirty="0">
                <a:solidFill>
                  <a:schemeClr val="tx2"/>
                </a:solidFill>
                <a:sym typeface="Symbol" panose="05050102010706020507" pitchFamily="18" charset="2"/>
              </a:rPr>
              <a:t></a:t>
            </a:r>
            <a:r>
              <a:rPr lang="en-US" altLang="zh-CN" sz="2800" dirty="0">
                <a:solidFill>
                  <a:schemeClr val="tx2"/>
                </a:solidFill>
                <a:latin typeface="Times New Roman" panose="02020503050405090304" pitchFamily="18" charset="0"/>
                <a:sym typeface="Symbol" panose="05050102010706020507" pitchFamily="18" charset="2"/>
              </a:rPr>
              <a:t>  </a:t>
            </a:r>
            <a:r>
              <a:rPr lang="en-US" altLang="zh-CN" sz="2400" i="1" dirty="0">
                <a:solidFill>
                  <a:schemeClr val="tx2"/>
                </a:solidFill>
                <a:sym typeface="Wingdings" panose="05000000000000000000" pitchFamily="2" charset="2"/>
              </a:rPr>
              <a:t>A</a:t>
            </a:r>
            <a:r>
              <a:rPr lang="zh-CN" altLang="en-US" sz="2800" dirty="0">
                <a:solidFill>
                  <a:schemeClr val="tx2"/>
                </a:solidFill>
              </a:rPr>
              <a:t>∨</a:t>
            </a:r>
            <a:r>
              <a:rPr lang="en-US" altLang="zh-CN" sz="2400" i="1" dirty="0">
                <a:solidFill>
                  <a:schemeClr val="tx2"/>
                </a:solidFill>
                <a:sym typeface="Wingdings" panose="05000000000000000000" pitchFamily="2" charset="2"/>
              </a:rPr>
              <a:t>B,</a:t>
            </a:r>
            <a:r>
              <a:rPr lang="zh-CN" altLang="en-US" sz="2800" dirty="0">
                <a:solidFill>
                  <a:schemeClr val="tx2"/>
                </a:solidFill>
                <a:sym typeface="Symbol" panose="05050102010706020507" pitchFamily="18" charset="2"/>
              </a:rPr>
              <a:t>    令</a:t>
            </a:r>
            <a:r>
              <a:rPr lang="en-US" altLang="zh-CN" sz="2800" dirty="0">
                <a:solidFill>
                  <a:schemeClr val="tx2"/>
                </a:solidFill>
                <a:sym typeface="Symbol" panose="05050102010706020507" pitchFamily="18" charset="2"/>
              </a:rPr>
              <a:t>A=F(x),</a:t>
            </a:r>
            <a:endParaRPr lang="en-US" altLang="zh-CN" sz="2800" dirty="0">
              <a:solidFill>
                <a:schemeClr val="tx2"/>
              </a:solidFill>
              <a:sym typeface="Symbol" panose="05050102010706020507" pitchFamily="18" charset="2"/>
            </a:endParaRPr>
          </a:p>
          <a:p>
            <a:pPr eaLnBrk="1" hangingPunct="1">
              <a:buFont typeface="Wingdings" panose="05000000000000000000" pitchFamily="2" charset="2"/>
              <a:buNone/>
            </a:pPr>
            <a:r>
              <a:rPr lang="en-US" altLang="zh-CN" sz="2800" dirty="0">
                <a:solidFill>
                  <a:schemeClr val="tx2"/>
                </a:solidFill>
                <a:sym typeface="Symbol" panose="05050102010706020507" pitchFamily="18" charset="2"/>
              </a:rPr>
              <a:t>             B=G(y),    </a:t>
            </a:r>
            <a:r>
              <a:rPr lang="zh-CN" altLang="en-US" sz="2800" dirty="0">
                <a:solidFill>
                  <a:schemeClr val="tx2"/>
                </a:solidFill>
                <a:sym typeface="Symbol" panose="05050102010706020507" pitchFamily="18" charset="2"/>
              </a:rPr>
              <a:t>得到</a:t>
            </a:r>
            <a:endParaRPr lang="zh-CN" altLang="en-US" sz="2800" dirty="0">
              <a:solidFill>
                <a:schemeClr val="tx2"/>
              </a:solidFill>
              <a:sym typeface="Symbol" panose="05050102010706020507" pitchFamily="18" charset="2"/>
            </a:endParaRPr>
          </a:p>
          <a:p>
            <a:pPr algn="ctr" eaLnBrk="1" hangingPunct="1">
              <a:buNone/>
            </a:pPr>
            <a:r>
              <a:rPr lang="en-US" altLang="zh-CN" sz="2800" dirty="0">
                <a:solidFill>
                  <a:schemeClr val="tx2"/>
                </a:solidFill>
                <a:sym typeface="Symbol" panose="05050102010706020507" pitchFamily="18" charset="2"/>
              </a:rPr>
              <a:t>F(x)</a:t>
            </a:r>
            <a:r>
              <a:rPr lang="zh-CN" altLang="en-US" sz="2800" dirty="0">
                <a:solidFill>
                  <a:schemeClr val="tx2"/>
                </a:solidFill>
              </a:rPr>
              <a:t>→</a:t>
            </a:r>
            <a:r>
              <a:rPr lang="en-US" altLang="zh-CN" sz="2800" dirty="0">
                <a:solidFill>
                  <a:schemeClr val="tx2"/>
                </a:solidFill>
                <a:sym typeface="Symbol" panose="05050102010706020507" pitchFamily="18" charset="2"/>
              </a:rPr>
              <a:t>G(y)</a:t>
            </a:r>
            <a:r>
              <a:rPr lang="en-US" altLang="zh-CN" sz="2800" dirty="0">
                <a:solidFill>
                  <a:schemeClr val="tx2"/>
                </a:solidFill>
                <a:latin typeface="Times New Roman" panose="02020503050405090304" pitchFamily="18" charset="0"/>
                <a:sym typeface="Symbol" panose="05050102010706020507" pitchFamily="18" charset="2"/>
              </a:rPr>
              <a:t>  </a:t>
            </a:r>
            <a:r>
              <a:rPr lang="en-US" altLang="zh-CN" sz="2800" dirty="0">
                <a:solidFill>
                  <a:schemeClr val="tx2"/>
                </a:solidFill>
                <a:sym typeface="Symbol" panose="05050102010706020507" pitchFamily="18" charset="2"/>
              </a:rPr>
              <a:t>F(x)</a:t>
            </a:r>
            <a:r>
              <a:rPr lang="zh-CN" altLang="en-US" sz="2800" dirty="0">
                <a:solidFill>
                  <a:schemeClr val="tx2"/>
                </a:solidFill>
              </a:rPr>
              <a:t>∨</a:t>
            </a:r>
            <a:r>
              <a:rPr lang="en-US" altLang="zh-CN" sz="2800" dirty="0">
                <a:solidFill>
                  <a:schemeClr val="tx2"/>
                </a:solidFill>
                <a:sym typeface="Symbol" panose="05050102010706020507" pitchFamily="18" charset="2"/>
              </a:rPr>
              <a:t>G(y)</a:t>
            </a:r>
            <a:endParaRPr lang="en-US" altLang="zh-CN" sz="2800" dirty="0">
              <a:solidFill>
                <a:schemeClr val="tx2"/>
              </a:solidFill>
              <a:sym typeface="Symbol" panose="05050102010706020507" pitchFamily="18" charset="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6705C923-B0F8-4CC9-A47F-46884B0CA23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427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14375BA2-7EF6-44C2-ABD6-40345AAD8148}"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427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4277" name="Rectangle 2"/>
          <p:cNvSpPr>
            <a:spLocks noGrp="1" noChangeArrowheads="1"/>
          </p:cNvSpPr>
          <p:nvPr>
            <p:ph type="title"/>
          </p:nvPr>
        </p:nvSpPr>
        <p:spPr/>
        <p:txBody>
          <a:bodyPr/>
          <a:lstStyle/>
          <a:p>
            <a:pPr eaLnBrk="1" hangingPunct="1"/>
            <a:r>
              <a:rPr lang="zh-CN" altLang="en-US"/>
              <a:t>有限个体域上消去量词</a:t>
            </a:r>
            <a:endParaRPr lang="en-US" altLang="zh-CN"/>
          </a:p>
        </p:txBody>
      </p:sp>
      <p:sp>
        <p:nvSpPr>
          <p:cNvPr id="54278" name="Rectangle 3"/>
          <p:cNvSpPr>
            <a:spLocks noGrp="1" noChangeArrowheads="1"/>
          </p:cNvSpPr>
          <p:nvPr>
            <p:ph type="body" idx="1"/>
          </p:nvPr>
        </p:nvSpPr>
        <p:spPr/>
        <p:txBody>
          <a:bodyPr/>
          <a:lstStyle/>
          <a:p>
            <a:pPr eaLnBrk="1" hangingPunct="1"/>
            <a:r>
              <a:rPr lang="zh-CN" altLang="en-US" sz="2800">
                <a:solidFill>
                  <a:schemeClr val="tx2"/>
                </a:solidFill>
              </a:rPr>
              <a:t>设个体域为有限集</a:t>
            </a:r>
            <a:r>
              <a:rPr lang="en-US" altLang="zh-CN" sz="2800">
                <a:solidFill>
                  <a:schemeClr val="tx2"/>
                </a:solidFill>
              </a:rPr>
              <a:t>D={a</a:t>
            </a:r>
            <a:r>
              <a:rPr lang="en-US" altLang="zh-CN" sz="2800" baseline="-25000">
                <a:solidFill>
                  <a:schemeClr val="tx2"/>
                </a:solidFill>
              </a:rPr>
              <a:t>1</a:t>
            </a:r>
            <a:r>
              <a:rPr lang="en-US" altLang="zh-CN" sz="2800">
                <a:solidFill>
                  <a:schemeClr val="tx2"/>
                </a:solidFill>
              </a:rPr>
              <a:t>, a</a:t>
            </a:r>
            <a:r>
              <a:rPr lang="en-US" altLang="zh-CN" sz="2800" baseline="-25000">
                <a:solidFill>
                  <a:schemeClr val="tx2"/>
                </a:solidFill>
              </a:rPr>
              <a:t>2</a:t>
            </a:r>
            <a:r>
              <a:rPr lang="en-US" altLang="zh-CN" sz="2800">
                <a:solidFill>
                  <a:schemeClr val="tx2"/>
                </a:solidFill>
              </a:rPr>
              <a:t>,</a:t>
            </a:r>
            <a:r>
              <a:rPr lang="en-US" altLang="zh-CN" sz="2800">
                <a:solidFill>
                  <a:schemeClr val="tx2"/>
                </a:solidFill>
                <a:latin typeface="Arial" panose="020B0604020202090204" pitchFamily="34" charset="0"/>
              </a:rPr>
              <a:t>…</a:t>
            </a:r>
            <a:r>
              <a:rPr lang="en-US" altLang="zh-CN" sz="2800">
                <a:solidFill>
                  <a:schemeClr val="tx2"/>
                </a:solidFill>
              </a:rPr>
              <a:t>, a</a:t>
            </a:r>
            <a:r>
              <a:rPr lang="en-US" altLang="zh-CN" sz="2800" baseline="-25000">
                <a:solidFill>
                  <a:schemeClr val="tx2"/>
                </a:solidFill>
              </a:rPr>
              <a:t>n</a:t>
            </a:r>
            <a:r>
              <a:rPr lang="en-US" altLang="zh-CN" sz="2800">
                <a:solidFill>
                  <a:schemeClr val="tx2"/>
                </a:solidFill>
              </a:rPr>
              <a:t>}, </a:t>
            </a:r>
            <a:r>
              <a:rPr lang="zh-CN" altLang="en-US" sz="2800">
                <a:solidFill>
                  <a:schemeClr val="tx2"/>
                </a:solidFill>
              </a:rPr>
              <a:t>则</a:t>
            </a:r>
            <a:endParaRPr lang="zh-CN" altLang="en-US" sz="2800">
              <a:solidFill>
                <a:schemeClr val="tx2"/>
              </a:solidFill>
            </a:endParaRPr>
          </a:p>
          <a:p>
            <a:pPr algn="ctr" eaLnBrk="1" hangingPunct="1">
              <a:buFont typeface="Wingdings" panose="05000000000000000000" pitchFamily="2" charset="2"/>
              <a:buNone/>
            </a:pP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a:t>
            </a:r>
            <a:r>
              <a:rPr lang="en-US" altLang="zh-CN" sz="2800">
                <a:solidFill>
                  <a:schemeClr val="tx2"/>
                </a:solidFill>
              </a:rPr>
              <a:t>a</a:t>
            </a:r>
            <a:r>
              <a:rPr lang="en-US" altLang="zh-CN" sz="2800" baseline="-25000">
                <a:solidFill>
                  <a:schemeClr val="tx2"/>
                </a:solidFill>
              </a:rPr>
              <a:t>1</a:t>
            </a:r>
            <a:r>
              <a:rPr lang="en-US" altLang="zh-CN" sz="2800">
                <a:solidFill>
                  <a:schemeClr val="tx2"/>
                </a:solidFill>
                <a:sym typeface="Symbol" panose="05050102010706020507" pitchFamily="18" charset="2"/>
              </a:rPr>
              <a:t>)</a:t>
            </a:r>
            <a:r>
              <a:rPr lang="zh-CN" altLang="en-US" sz="2800">
                <a:solidFill>
                  <a:schemeClr val="tx2"/>
                </a:solidFill>
              </a:rPr>
              <a:t>∧</a:t>
            </a:r>
            <a:r>
              <a:rPr lang="en-US" altLang="zh-CN" sz="2800">
                <a:solidFill>
                  <a:schemeClr val="tx2"/>
                </a:solidFill>
                <a:sym typeface="Symbol" panose="05050102010706020507" pitchFamily="18" charset="2"/>
              </a:rPr>
              <a:t>A(</a:t>
            </a:r>
            <a:r>
              <a:rPr lang="en-US" altLang="zh-CN" sz="2800">
                <a:solidFill>
                  <a:schemeClr val="tx2"/>
                </a:solidFill>
              </a:rPr>
              <a:t>a</a:t>
            </a:r>
            <a:r>
              <a:rPr lang="en-US" altLang="zh-CN" sz="2800" baseline="-25000">
                <a:solidFill>
                  <a:schemeClr val="tx2"/>
                </a:solidFill>
              </a:rPr>
              <a:t>2</a:t>
            </a:r>
            <a:r>
              <a:rPr lang="en-US" altLang="zh-CN" sz="2800">
                <a:solidFill>
                  <a:schemeClr val="tx2"/>
                </a:solidFill>
                <a:sym typeface="Symbol" panose="05050102010706020507" pitchFamily="18" charset="2"/>
              </a:rPr>
              <a:t>)</a:t>
            </a:r>
            <a:r>
              <a:rPr lang="zh-CN" altLang="en-US" sz="2800">
                <a:solidFill>
                  <a:schemeClr val="tx2"/>
                </a:solidFill>
              </a:rPr>
              <a:t>∧</a:t>
            </a:r>
            <a:r>
              <a:rPr lang="zh-CN" altLang="en-US" sz="2800">
                <a:solidFill>
                  <a:schemeClr val="tx2"/>
                </a:solidFill>
                <a:latin typeface="Arial" panose="020B0604020202090204" pitchFamily="34" charset="0"/>
              </a:rPr>
              <a:t>…</a:t>
            </a:r>
            <a:r>
              <a:rPr lang="zh-CN" altLang="en-US" sz="2800">
                <a:solidFill>
                  <a:schemeClr val="tx2"/>
                </a:solidFill>
              </a:rPr>
              <a:t>∧</a:t>
            </a:r>
            <a:r>
              <a:rPr lang="en-US" altLang="zh-CN" sz="2800">
                <a:solidFill>
                  <a:schemeClr val="tx2"/>
                </a:solidFill>
                <a:sym typeface="Symbol" panose="05050102010706020507" pitchFamily="18" charset="2"/>
              </a:rPr>
              <a:t>A(</a:t>
            </a:r>
            <a:r>
              <a:rPr lang="en-US" altLang="zh-CN" sz="2800">
                <a:solidFill>
                  <a:schemeClr val="tx2"/>
                </a:solidFill>
              </a:rPr>
              <a:t>a</a:t>
            </a:r>
            <a:r>
              <a:rPr lang="en-US" altLang="zh-CN" sz="2800" baseline="-25000">
                <a:solidFill>
                  <a:schemeClr val="tx2"/>
                </a:solidFill>
              </a:rPr>
              <a:t>n</a:t>
            </a:r>
            <a:r>
              <a:rPr lang="en-US" altLang="zh-CN" sz="2800">
                <a:solidFill>
                  <a:schemeClr val="tx2"/>
                </a:solidFill>
                <a:sym typeface="Symbol" panose="05050102010706020507" pitchFamily="18" charset="2"/>
              </a:rPr>
              <a:t>)</a:t>
            </a:r>
            <a:endParaRPr lang="en-US" altLang="zh-CN" sz="2800">
              <a:solidFill>
                <a:schemeClr val="tx2"/>
              </a:solidFill>
              <a:sym typeface="Symbol" panose="05050102010706020507" pitchFamily="18" charset="2"/>
            </a:endParaRPr>
          </a:p>
          <a:p>
            <a:pPr algn="ctr" eaLnBrk="1" hangingPunct="1">
              <a:buFont typeface="Wingdings" panose="05000000000000000000" pitchFamily="2" charset="2"/>
              <a:buNone/>
            </a:pP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a:t>
            </a:r>
            <a:r>
              <a:rPr lang="en-US" altLang="zh-CN" sz="2800">
                <a:solidFill>
                  <a:schemeClr val="tx2"/>
                </a:solidFill>
              </a:rPr>
              <a:t>a</a:t>
            </a:r>
            <a:r>
              <a:rPr lang="en-US" altLang="zh-CN" sz="2800" baseline="-25000">
                <a:solidFill>
                  <a:schemeClr val="tx2"/>
                </a:solidFill>
              </a:rPr>
              <a:t>1</a:t>
            </a:r>
            <a:r>
              <a:rPr lang="en-US" altLang="zh-CN" sz="2800">
                <a:solidFill>
                  <a:schemeClr val="tx2"/>
                </a:solidFill>
                <a:sym typeface="Symbol" panose="05050102010706020507" pitchFamily="18" charset="2"/>
              </a:rPr>
              <a:t>)</a:t>
            </a:r>
            <a:r>
              <a:rPr lang="zh-CN" altLang="en-US" sz="2800">
                <a:solidFill>
                  <a:schemeClr val="tx2"/>
                </a:solidFill>
              </a:rPr>
              <a:t>∨</a:t>
            </a:r>
            <a:r>
              <a:rPr lang="en-US" altLang="zh-CN" sz="2800">
                <a:solidFill>
                  <a:schemeClr val="tx2"/>
                </a:solidFill>
                <a:sym typeface="Symbol" panose="05050102010706020507" pitchFamily="18" charset="2"/>
              </a:rPr>
              <a:t>A(</a:t>
            </a:r>
            <a:r>
              <a:rPr lang="en-US" altLang="zh-CN" sz="2800">
                <a:solidFill>
                  <a:schemeClr val="tx2"/>
                </a:solidFill>
              </a:rPr>
              <a:t>a</a:t>
            </a:r>
            <a:r>
              <a:rPr lang="en-US" altLang="zh-CN" sz="2800" baseline="-25000">
                <a:solidFill>
                  <a:schemeClr val="tx2"/>
                </a:solidFill>
              </a:rPr>
              <a:t>2</a:t>
            </a:r>
            <a:r>
              <a:rPr lang="en-US" altLang="zh-CN" sz="2800">
                <a:solidFill>
                  <a:schemeClr val="tx2"/>
                </a:solidFill>
                <a:sym typeface="Symbol" panose="05050102010706020507" pitchFamily="18" charset="2"/>
              </a:rPr>
              <a:t>)</a:t>
            </a:r>
            <a:r>
              <a:rPr lang="zh-CN" altLang="en-US" sz="2800">
                <a:solidFill>
                  <a:schemeClr val="tx2"/>
                </a:solidFill>
              </a:rPr>
              <a:t>∨</a:t>
            </a:r>
            <a:r>
              <a:rPr lang="zh-CN" altLang="en-US" sz="2800">
                <a:solidFill>
                  <a:schemeClr val="tx2"/>
                </a:solidFill>
                <a:latin typeface="Arial" panose="020B0604020202090204" pitchFamily="34" charset="0"/>
              </a:rPr>
              <a:t>…</a:t>
            </a:r>
            <a:r>
              <a:rPr lang="zh-CN" altLang="en-US" sz="2800">
                <a:solidFill>
                  <a:schemeClr val="tx2"/>
                </a:solidFill>
              </a:rPr>
              <a:t>∨</a:t>
            </a:r>
            <a:r>
              <a:rPr lang="en-US" altLang="zh-CN" sz="2800">
                <a:solidFill>
                  <a:schemeClr val="tx2"/>
                </a:solidFill>
                <a:sym typeface="Symbol" panose="05050102010706020507" pitchFamily="18" charset="2"/>
              </a:rPr>
              <a:t>A(</a:t>
            </a:r>
            <a:r>
              <a:rPr lang="en-US" altLang="zh-CN" sz="2800">
                <a:solidFill>
                  <a:schemeClr val="tx2"/>
                </a:solidFill>
              </a:rPr>
              <a:t>a</a:t>
            </a:r>
            <a:r>
              <a:rPr lang="en-US" altLang="zh-CN" sz="2800" baseline="-25000">
                <a:solidFill>
                  <a:schemeClr val="tx2"/>
                </a:solidFill>
              </a:rPr>
              <a:t>n</a:t>
            </a:r>
            <a:r>
              <a:rPr lang="en-US" altLang="zh-CN" sz="2800">
                <a:solidFill>
                  <a:schemeClr val="tx2"/>
                </a:solidFill>
                <a:sym typeface="Symbol" panose="05050102010706020507" pitchFamily="18" charset="2"/>
              </a:rPr>
              <a:t>)</a:t>
            </a:r>
            <a:endParaRPr lang="en-US" altLang="zh-CN" sz="2800">
              <a:solidFill>
                <a:schemeClr val="tx2"/>
              </a:solidFill>
              <a:sym typeface="Symbol" panose="05050102010706020507" pitchFamily="18" charset="2"/>
            </a:endParaRPr>
          </a:p>
          <a:p>
            <a:pPr algn="ctr" eaLnBrk="1" hangingPunct="1">
              <a:buFont typeface="Wingdings" panose="05000000000000000000" pitchFamily="2" charset="2"/>
              <a:buNone/>
            </a:pPr>
            <a:endParaRPr lang="zh-CN" altLang="en-US" sz="2800">
              <a:solidFill>
                <a:schemeClr val="tx2"/>
              </a:solidFill>
            </a:endParaRPr>
          </a:p>
          <a:p>
            <a:pPr eaLnBrk="1" hangingPunct="1"/>
            <a:r>
              <a:rPr lang="zh-CN" altLang="en-US" sz="2800">
                <a:solidFill>
                  <a:schemeClr val="tx2"/>
                </a:solidFill>
              </a:rPr>
              <a:t>例:  个体域</a:t>
            </a:r>
            <a:r>
              <a:rPr lang="en-US" altLang="zh-CN" sz="2800">
                <a:solidFill>
                  <a:schemeClr val="tx2"/>
                </a:solidFill>
              </a:rPr>
              <a:t>D={a,b,c}, </a:t>
            </a:r>
            <a:r>
              <a:rPr lang="zh-CN" altLang="en-US" sz="2800">
                <a:solidFill>
                  <a:schemeClr val="tx2"/>
                </a:solidFill>
              </a:rPr>
              <a:t>则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yF(x,y)</a:t>
            </a:r>
            <a:endParaRPr lang="en-US" altLang="zh-CN" sz="2800">
              <a:solidFill>
                <a:schemeClr val="tx2"/>
              </a:solidFill>
              <a:sym typeface="Symbol" panose="05050102010706020507" pitchFamily="18" charset="2"/>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 (F(x,a)</a:t>
            </a:r>
            <a:r>
              <a:rPr lang="zh-CN" altLang="en-US" sz="2800">
                <a:solidFill>
                  <a:schemeClr val="tx2"/>
                </a:solidFill>
              </a:rPr>
              <a:t>∧</a:t>
            </a:r>
            <a:r>
              <a:rPr lang="en-US" altLang="zh-CN" sz="2800">
                <a:solidFill>
                  <a:schemeClr val="tx2"/>
                </a:solidFill>
                <a:sym typeface="Symbol" panose="05050102010706020507" pitchFamily="18" charset="2"/>
              </a:rPr>
              <a:t>F(x,b)</a:t>
            </a:r>
            <a:r>
              <a:rPr lang="zh-CN" altLang="en-US" sz="2800">
                <a:solidFill>
                  <a:schemeClr val="tx2"/>
                </a:solidFill>
              </a:rPr>
              <a:t>∧</a:t>
            </a:r>
            <a:r>
              <a:rPr lang="en-US" altLang="zh-CN" sz="2800">
                <a:solidFill>
                  <a:schemeClr val="tx2"/>
                </a:solidFill>
                <a:sym typeface="Symbol" panose="05050102010706020507" pitchFamily="18" charset="2"/>
              </a:rPr>
              <a:t>F(x,c))</a:t>
            </a:r>
            <a:endParaRPr lang="zh-CN" altLang="en-US" sz="2800">
              <a:solidFill>
                <a:schemeClr val="tx2"/>
              </a:solidFill>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    (F(a,a)</a:t>
            </a:r>
            <a:r>
              <a:rPr lang="zh-CN" altLang="en-US" sz="2800">
                <a:solidFill>
                  <a:schemeClr val="tx2"/>
                </a:solidFill>
              </a:rPr>
              <a:t>∧</a:t>
            </a:r>
            <a:r>
              <a:rPr lang="en-US" altLang="zh-CN" sz="2800">
                <a:solidFill>
                  <a:schemeClr val="tx2"/>
                </a:solidFill>
                <a:sym typeface="Symbol" panose="05050102010706020507" pitchFamily="18" charset="2"/>
              </a:rPr>
              <a:t>F(a,b)</a:t>
            </a:r>
            <a:r>
              <a:rPr lang="zh-CN" altLang="en-US" sz="2800">
                <a:solidFill>
                  <a:schemeClr val="tx2"/>
                </a:solidFill>
              </a:rPr>
              <a:t>∧</a:t>
            </a:r>
            <a:r>
              <a:rPr lang="en-US" altLang="zh-CN" sz="2800">
                <a:solidFill>
                  <a:schemeClr val="tx2"/>
                </a:solidFill>
                <a:sym typeface="Symbol" panose="05050102010706020507" pitchFamily="18" charset="2"/>
              </a:rPr>
              <a:t>F(a,c))</a:t>
            </a:r>
            <a:r>
              <a:rPr lang="zh-CN" altLang="en-US" sz="2800">
                <a:solidFill>
                  <a:schemeClr val="tx2"/>
                </a:solidFill>
              </a:rPr>
              <a:t>∨</a:t>
            </a:r>
            <a:endParaRPr lang="zh-CN" altLang="en-US" sz="2800">
              <a:solidFill>
                <a:schemeClr val="tx2"/>
              </a:solidFill>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(F(b,a)</a:t>
            </a:r>
            <a:r>
              <a:rPr lang="zh-CN" altLang="en-US" sz="2800">
                <a:solidFill>
                  <a:schemeClr val="tx2"/>
                </a:solidFill>
              </a:rPr>
              <a:t>∧</a:t>
            </a:r>
            <a:r>
              <a:rPr lang="en-US" altLang="zh-CN" sz="2800">
                <a:solidFill>
                  <a:schemeClr val="tx2"/>
                </a:solidFill>
                <a:sym typeface="Symbol" panose="05050102010706020507" pitchFamily="18" charset="2"/>
              </a:rPr>
              <a:t>F(b,b)</a:t>
            </a:r>
            <a:r>
              <a:rPr lang="zh-CN" altLang="en-US" sz="2800">
                <a:solidFill>
                  <a:schemeClr val="tx2"/>
                </a:solidFill>
              </a:rPr>
              <a:t>∧</a:t>
            </a:r>
            <a:r>
              <a:rPr lang="en-US" altLang="zh-CN" sz="2800">
                <a:solidFill>
                  <a:schemeClr val="tx2"/>
                </a:solidFill>
                <a:sym typeface="Symbol" panose="05050102010706020507" pitchFamily="18" charset="2"/>
              </a:rPr>
              <a:t>F(b,c))</a:t>
            </a:r>
            <a:r>
              <a:rPr lang="zh-CN" altLang="en-US" sz="2800">
                <a:solidFill>
                  <a:schemeClr val="tx2"/>
                </a:solidFill>
              </a:rPr>
              <a:t>∨</a:t>
            </a:r>
            <a:endParaRPr lang="zh-CN" altLang="en-US" sz="2800">
              <a:solidFill>
                <a:schemeClr val="tx2"/>
              </a:solidFill>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(F(c,a)</a:t>
            </a:r>
            <a:r>
              <a:rPr lang="zh-CN" altLang="en-US" sz="2800">
                <a:solidFill>
                  <a:schemeClr val="tx2"/>
                </a:solidFill>
              </a:rPr>
              <a:t>∧</a:t>
            </a:r>
            <a:r>
              <a:rPr lang="en-US" altLang="zh-CN" sz="2800">
                <a:solidFill>
                  <a:schemeClr val="tx2"/>
                </a:solidFill>
                <a:sym typeface="Symbol" panose="05050102010706020507" pitchFamily="18" charset="2"/>
              </a:rPr>
              <a:t>F(c,b)</a:t>
            </a:r>
            <a:r>
              <a:rPr lang="zh-CN" altLang="en-US" sz="2800">
                <a:solidFill>
                  <a:schemeClr val="tx2"/>
                </a:solidFill>
              </a:rPr>
              <a:t>∧</a:t>
            </a:r>
            <a:r>
              <a:rPr lang="en-US" altLang="zh-CN" sz="2800">
                <a:solidFill>
                  <a:schemeClr val="tx2"/>
                </a:solidFill>
                <a:sym typeface="Symbol" panose="05050102010706020507" pitchFamily="18" charset="2"/>
              </a:rPr>
              <a:t>F(c,c))</a:t>
            </a:r>
            <a:endParaRPr lang="en-US" altLang="zh-CN" sz="2800">
              <a:solidFill>
                <a:schemeClr val="tx2"/>
              </a:solidFill>
              <a:sym typeface="Symbol" panose="05050102010706020507" pitchFamily="18" charset="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04373FE-DD33-42C4-B650-4EA074D57E6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529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C012C8FE-A376-4315-B173-F817934C767C}"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530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5301" name="Rectangle 2"/>
          <p:cNvSpPr>
            <a:spLocks noGrp="1" noChangeArrowheads="1"/>
          </p:cNvSpPr>
          <p:nvPr>
            <p:ph type="title"/>
          </p:nvPr>
        </p:nvSpPr>
        <p:spPr/>
        <p:txBody>
          <a:bodyPr/>
          <a:lstStyle/>
          <a:p>
            <a:pPr eaLnBrk="1" hangingPunct="1"/>
            <a:r>
              <a:rPr lang="zh-CN" altLang="en-US"/>
              <a:t>量词否定等值式</a:t>
            </a:r>
            <a:endParaRPr lang="zh-CN" altLang="en-US"/>
          </a:p>
        </p:txBody>
      </p:sp>
      <p:sp>
        <p:nvSpPr>
          <p:cNvPr id="55302" name="Rectangle 3"/>
          <p:cNvSpPr>
            <a:spLocks noGrp="1" noChangeArrowheads="1"/>
          </p:cNvSpPr>
          <p:nvPr>
            <p:ph type="body" idx="1"/>
          </p:nvPr>
        </p:nvSpPr>
        <p:spPr/>
        <p:txBody>
          <a:bodyPr/>
          <a:lstStyle/>
          <a:p>
            <a:pPr eaLnBrk="1" hangingPunct="1"/>
            <a:r>
              <a:rPr lang="en-US" altLang="zh-CN" dirty="0">
                <a:solidFill>
                  <a:schemeClr val="tx2"/>
                </a:solidFill>
                <a:latin typeface="Times New Roman" panose="02020503050405090304" pitchFamily="18" charset="0"/>
                <a:sym typeface="Symbol" panose="05050102010706020507" pitchFamily="18" charset="2"/>
              </a:rPr>
              <a:t> </a:t>
            </a:r>
            <a:r>
              <a:rPr lang="en-US" altLang="zh-CN" dirty="0">
                <a:solidFill>
                  <a:schemeClr val="tx2"/>
                </a:solidFill>
                <a:sym typeface="Symbol" panose="05050102010706020507" pitchFamily="18" charset="2"/>
              </a:rPr>
              <a:t></a:t>
            </a:r>
            <a:r>
              <a:rPr lang="en-US" altLang="zh-CN" dirty="0" err="1">
                <a:solidFill>
                  <a:schemeClr val="tx2"/>
                </a:solidFill>
                <a:sym typeface="Symbol" panose="05050102010706020507" pitchFamily="18" charset="2"/>
              </a:rPr>
              <a:t>xA</a:t>
            </a:r>
            <a:r>
              <a:rPr lang="en-US" altLang="zh-CN" dirty="0">
                <a:solidFill>
                  <a:schemeClr val="tx2"/>
                </a:solidFill>
                <a:sym typeface="Symbol" panose="05050102010706020507" pitchFamily="18" charset="2"/>
              </a:rPr>
              <a:t>(x)</a:t>
            </a:r>
            <a:r>
              <a:rPr lang="zh-CN" altLang="en-US" dirty="0">
                <a:solidFill>
                  <a:schemeClr val="tx2"/>
                </a:solidFill>
                <a:sym typeface="Symbol" panose="05050102010706020507" pitchFamily="18" charset="2"/>
              </a:rPr>
              <a:t></a:t>
            </a:r>
            <a:r>
              <a:rPr lang="en-US" altLang="zh-CN" dirty="0">
                <a:solidFill>
                  <a:schemeClr val="tx2"/>
                </a:solidFill>
                <a:sym typeface="Symbol" panose="05050102010706020507" pitchFamily="18" charset="2"/>
              </a:rPr>
              <a:t>x</a:t>
            </a:r>
            <a:r>
              <a:rPr lang="en-US" altLang="zh-CN" dirty="0">
                <a:solidFill>
                  <a:schemeClr val="tx2"/>
                </a:solidFill>
                <a:latin typeface="Times New Roman" panose="02020503050405090304" pitchFamily="18" charset="0"/>
                <a:sym typeface="Symbol" panose="05050102010706020507" pitchFamily="18" charset="2"/>
              </a:rPr>
              <a:t>  </a:t>
            </a:r>
            <a:r>
              <a:rPr lang="en-US" altLang="zh-CN" dirty="0">
                <a:solidFill>
                  <a:schemeClr val="tx2"/>
                </a:solidFill>
                <a:sym typeface="Symbol" panose="05050102010706020507" pitchFamily="18" charset="2"/>
              </a:rPr>
              <a:t>A(x) </a:t>
            </a:r>
            <a:endParaRPr lang="en-US" altLang="zh-CN" dirty="0">
              <a:solidFill>
                <a:schemeClr val="tx2"/>
              </a:solidFill>
              <a:sym typeface="Symbol" panose="05050102010706020507" pitchFamily="18" charset="2"/>
            </a:endParaRPr>
          </a:p>
          <a:p>
            <a:pPr eaLnBrk="1" hangingPunct="1"/>
            <a:r>
              <a:rPr lang="en-US" altLang="zh-CN" dirty="0">
                <a:solidFill>
                  <a:schemeClr val="tx2"/>
                </a:solidFill>
                <a:latin typeface="Times New Roman" panose="02020503050405090304" pitchFamily="18" charset="0"/>
                <a:sym typeface="Symbol" panose="05050102010706020507" pitchFamily="18" charset="2"/>
              </a:rPr>
              <a:t> </a:t>
            </a:r>
            <a:r>
              <a:rPr lang="en-US" altLang="zh-CN" dirty="0">
                <a:solidFill>
                  <a:schemeClr val="tx2"/>
                </a:solidFill>
                <a:sym typeface="Symbol" panose="05050102010706020507" pitchFamily="18" charset="2"/>
              </a:rPr>
              <a:t></a:t>
            </a:r>
            <a:r>
              <a:rPr lang="en-US" altLang="zh-CN" dirty="0" err="1">
                <a:solidFill>
                  <a:schemeClr val="tx2"/>
                </a:solidFill>
                <a:sym typeface="Symbol" panose="05050102010706020507" pitchFamily="18" charset="2"/>
              </a:rPr>
              <a:t>xA</a:t>
            </a:r>
            <a:r>
              <a:rPr lang="en-US" altLang="zh-CN" dirty="0">
                <a:solidFill>
                  <a:schemeClr val="tx2"/>
                </a:solidFill>
                <a:sym typeface="Symbol" panose="05050102010706020507" pitchFamily="18" charset="2"/>
              </a:rPr>
              <a:t>(x)</a:t>
            </a:r>
            <a:r>
              <a:rPr lang="zh-CN" altLang="en-US" dirty="0">
                <a:solidFill>
                  <a:schemeClr val="tx2"/>
                </a:solidFill>
                <a:sym typeface="Symbol" panose="05050102010706020507" pitchFamily="18" charset="2"/>
              </a:rPr>
              <a:t></a:t>
            </a:r>
            <a:r>
              <a:rPr lang="en-US" altLang="zh-CN" dirty="0">
                <a:solidFill>
                  <a:schemeClr val="tx2"/>
                </a:solidFill>
                <a:sym typeface="Symbol" panose="05050102010706020507" pitchFamily="18" charset="2"/>
              </a:rPr>
              <a:t>x</a:t>
            </a:r>
            <a:r>
              <a:rPr lang="en-US" altLang="zh-CN" dirty="0">
                <a:solidFill>
                  <a:schemeClr val="tx2"/>
                </a:solidFill>
                <a:latin typeface="Times New Roman" panose="02020503050405090304" pitchFamily="18" charset="0"/>
                <a:sym typeface="Symbol" panose="05050102010706020507" pitchFamily="18" charset="2"/>
              </a:rPr>
              <a:t>  </a:t>
            </a:r>
            <a:r>
              <a:rPr lang="en-US" altLang="zh-CN" dirty="0">
                <a:solidFill>
                  <a:schemeClr val="tx2"/>
                </a:solidFill>
                <a:sym typeface="Symbol" panose="05050102010706020507" pitchFamily="18" charset="2"/>
              </a:rPr>
              <a:t>A(x)</a:t>
            </a:r>
            <a:endParaRPr lang="zh-CN" altLang="en-US" dirty="0">
              <a:solidFill>
                <a:schemeClr val="tx2"/>
              </a:solidFill>
              <a:sym typeface="Symbol" panose="05050102010706020507" pitchFamily="18" charset="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654817A-14D9-4D2F-A207-01A1AC6AD83A}"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632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6E74D22-5352-457C-BB83-A1A0A9509257}"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632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6325" name="Rectangle 2"/>
          <p:cNvSpPr>
            <a:spLocks noGrp="1" noChangeArrowheads="1"/>
          </p:cNvSpPr>
          <p:nvPr>
            <p:ph type="title"/>
          </p:nvPr>
        </p:nvSpPr>
        <p:spPr/>
        <p:txBody>
          <a:bodyPr/>
          <a:lstStyle/>
          <a:p>
            <a:pPr eaLnBrk="1" hangingPunct="1"/>
            <a:r>
              <a:rPr lang="zh-CN" altLang="en-US"/>
              <a:t>量化式的否定</a:t>
            </a:r>
            <a:r>
              <a:rPr lang="en-US" altLang="zh-CN"/>
              <a:t>1</a:t>
            </a:r>
            <a:endParaRPr lang="en-US" altLang="zh-CN"/>
          </a:p>
        </p:txBody>
      </p:sp>
      <p:sp>
        <p:nvSpPr>
          <p:cNvPr id="1089539" name="Rectangle 3"/>
          <p:cNvSpPr>
            <a:spLocks noGrp="1" noChangeArrowheads="1"/>
          </p:cNvSpPr>
          <p:nvPr>
            <p:ph type="body" idx="1"/>
          </p:nvPr>
        </p:nvSpPr>
        <p:spPr/>
        <p:txBody>
          <a:bodyPr/>
          <a:lstStyle/>
          <a:p>
            <a:pPr eaLnBrk="1" hangingPunct="1"/>
            <a:r>
              <a:rPr lang="zh-CN" altLang="en-US" dirty="0"/>
              <a:t>并非一切都是必然的</a:t>
            </a:r>
            <a:endParaRPr lang="zh-CN" altLang="en-US" dirty="0"/>
          </a:p>
          <a:p>
            <a:pPr lvl="1" eaLnBrk="1" hangingPunct="1"/>
            <a:r>
              <a:rPr lang="zh-CN" altLang="en-US" dirty="0">
                <a:sym typeface="Symbol" panose="05050102010706020507" pitchFamily="18" charset="2"/>
              </a:rPr>
              <a:t> </a:t>
            </a:r>
            <a:r>
              <a:rPr lang="en-US" altLang="zh-CN" dirty="0">
                <a:solidFill>
                  <a:schemeClr val="tx2"/>
                </a:solidFill>
                <a:latin typeface="Times New Roman" panose="02020503050405090304" pitchFamily="18" charset="0"/>
                <a:sym typeface="Symbol" panose="05050102010706020507" pitchFamily="18" charset="2"/>
              </a:rPr>
              <a:t></a:t>
            </a:r>
            <a:r>
              <a:rPr lang="en-US" altLang="zh-CN" dirty="0">
                <a:sym typeface="Symbol" panose="05050102010706020507" pitchFamily="18" charset="2"/>
              </a:rPr>
              <a:t>(</a:t>
            </a:r>
            <a:r>
              <a:rPr lang="en-US" altLang="zh-CN" i="1" dirty="0">
                <a:sym typeface="Symbol" panose="05050102010706020507" pitchFamily="18" charset="2"/>
              </a:rPr>
              <a:t>x</a:t>
            </a:r>
            <a:r>
              <a:rPr lang="en-US" altLang="zh-CN" dirty="0">
                <a:sym typeface="Symbol" panose="05050102010706020507" pitchFamily="18" charset="2"/>
              </a:rPr>
              <a:t>)(</a:t>
            </a:r>
            <a:r>
              <a:rPr lang="en-US" altLang="zh-CN" i="1" dirty="0">
                <a:sym typeface="Symbol" panose="05050102010706020507" pitchFamily="18" charset="2"/>
              </a:rPr>
              <a:t>x</a:t>
            </a:r>
            <a:r>
              <a:rPr lang="zh-CN" altLang="en-US" dirty="0"/>
              <a:t>是必然的</a:t>
            </a:r>
            <a:r>
              <a:rPr lang="en-US" altLang="zh-CN" dirty="0">
                <a:sym typeface="Symbol" panose="05050102010706020507" pitchFamily="18" charset="2"/>
              </a:rPr>
              <a:t>)</a:t>
            </a:r>
            <a:endParaRPr lang="zh-CN" altLang="en-US" dirty="0"/>
          </a:p>
          <a:p>
            <a:pPr eaLnBrk="1" hangingPunct="1"/>
            <a:r>
              <a:rPr lang="zh-CN" altLang="en-US" dirty="0"/>
              <a:t>有的事物是偶然的</a:t>
            </a:r>
            <a:endParaRPr lang="zh-CN" altLang="en-US" dirty="0"/>
          </a:p>
          <a:p>
            <a:pPr lvl="1" eaLnBrk="1" hangingPunct="1"/>
            <a:r>
              <a:rPr lang="en-US" altLang="zh-CN" dirty="0">
                <a:sym typeface="Symbol" panose="05050102010706020507" pitchFamily="18" charset="2"/>
              </a:rPr>
              <a:t>(</a:t>
            </a:r>
            <a:r>
              <a:rPr lang="en-US" altLang="zh-CN" i="1" dirty="0">
                <a:sym typeface="Symbol" panose="05050102010706020507" pitchFamily="18" charset="2"/>
              </a:rPr>
              <a:t>x</a:t>
            </a:r>
            <a:r>
              <a:rPr lang="en-US" altLang="zh-CN" dirty="0">
                <a:sym typeface="Symbol" panose="05050102010706020507" pitchFamily="18" charset="2"/>
              </a:rPr>
              <a:t>)(</a:t>
            </a:r>
            <a:r>
              <a:rPr lang="en-US" altLang="zh-CN" i="1" dirty="0">
                <a:sym typeface="Symbol" panose="05050102010706020507" pitchFamily="18" charset="2"/>
              </a:rPr>
              <a:t>x</a:t>
            </a:r>
            <a:r>
              <a:rPr lang="zh-CN" altLang="en-US" dirty="0"/>
              <a:t>是偶然的</a:t>
            </a:r>
            <a:r>
              <a:rPr lang="en-US" altLang="zh-CN" dirty="0">
                <a:sym typeface="Symbol" panose="05050102010706020507" pitchFamily="18" charset="2"/>
              </a:rPr>
              <a:t>)</a:t>
            </a:r>
            <a:endParaRPr lang="en-US" altLang="zh-CN" dirty="0">
              <a:sym typeface="Symbol" panose="05050102010706020507" pitchFamily="18" charset="2"/>
            </a:endParaRPr>
          </a:p>
          <a:p>
            <a:pPr lvl="1" eaLnBrk="1" hangingPunct="1"/>
            <a:r>
              <a:rPr lang="en-US" altLang="zh-CN" dirty="0">
                <a:sym typeface="Symbol" panose="05050102010706020507" pitchFamily="18" charset="2"/>
              </a:rPr>
              <a:t> (</a:t>
            </a:r>
            <a:r>
              <a:rPr lang="en-US" altLang="zh-CN" i="1" dirty="0">
                <a:sym typeface="Symbol" panose="05050102010706020507" pitchFamily="18" charset="2"/>
              </a:rPr>
              <a:t>x </a:t>
            </a:r>
            <a:r>
              <a:rPr lang="en-US" altLang="zh-CN" dirty="0">
                <a:sym typeface="Symbol" panose="05050102010706020507" pitchFamily="18" charset="2"/>
              </a:rPr>
              <a:t>)(</a:t>
            </a:r>
            <a:r>
              <a:rPr lang="en-US" altLang="zh-CN" dirty="0">
                <a:solidFill>
                  <a:schemeClr val="tx2"/>
                </a:solidFill>
                <a:latin typeface="Times New Roman" panose="02020503050405090304" pitchFamily="18" charset="0"/>
                <a:sym typeface="Symbol" panose="05050102010706020507" pitchFamily="18" charset="2"/>
              </a:rPr>
              <a:t></a:t>
            </a:r>
            <a:r>
              <a:rPr lang="en-US" altLang="zh-CN" dirty="0">
                <a:sym typeface="Symbol" panose="05050102010706020507" pitchFamily="18" charset="2"/>
              </a:rPr>
              <a:t>(</a:t>
            </a:r>
            <a:r>
              <a:rPr lang="en-US" altLang="zh-CN" i="1" dirty="0">
                <a:sym typeface="Symbol" panose="05050102010706020507" pitchFamily="18" charset="2"/>
              </a:rPr>
              <a:t>x</a:t>
            </a:r>
            <a:r>
              <a:rPr lang="zh-CN" altLang="en-US" dirty="0"/>
              <a:t>是必然的</a:t>
            </a:r>
            <a:r>
              <a:rPr lang="en-US" altLang="zh-CN" dirty="0"/>
              <a:t>)</a:t>
            </a:r>
            <a:r>
              <a:rPr lang="en-US" altLang="zh-CN" dirty="0">
                <a:sym typeface="Symbol" panose="05050102010706020507" pitchFamily="18" charset="2"/>
              </a:rPr>
              <a:t>)</a:t>
            </a:r>
            <a:endParaRPr lang="en-US" altLang="zh-CN" dirty="0">
              <a:sym typeface="Symbol" panose="05050102010706020507" pitchFamily="18" charset="2"/>
            </a:endParaRPr>
          </a:p>
          <a:p>
            <a:pPr eaLnBrk="1" hangingPunct="1"/>
            <a:r>
              <a:rPr kumimoji="0" lang="zh-CN" altLang="en-US" dirty="0">
                <a:sym typeface="Symbol" panose="05050102010706020507" pitchFamily="18" charset="2"/>
              </a:rPr>
              <a:t>所以</a:t>
            </a:r>
            <a:endParaRPr kumimoji="0" lang="zh-CN" altLang="en-US" dirty="0">
              <a:sym typeface="Symbol" panose="05050102010706020507" pitchFamily="18" charset="2"/>
            </a:endParaRPr>
          </a:p>
          <a:p>
            <a:pPr lvl="1" eaLnBrk="1" hangingPunct="1"/>
            <a:r>
              <a:rPr lang="zh-CN" altLang="en-US" dirty="0">
                <a:sym typeface="Symbol" panose="05050102010706020507" pitchFamily="18" charset="2"/>
              </a:rPr>
              <a:t> </a:t>
            </a:r>
            <a:r>
              <a:rPr lang="en-US" altLang="zh-CN" dirty="0">
                <a:solidFill>
                  <a:schemeClr val="tx2"/>
                </a:solidFill>
                <a:latin typeface="Times New Roman" panose="02020503050405090304" pitchFamily="18" charset="0"/>
                <a:sym typeface="Symbol" panose="05050102010706020507" pitchFamily="18" charset="2"/>
              </a:rPr>
              <a:t></a:t>
            </a:r>
            <a:r>
              <a:rPr lang="en-US" altLang="zh-CN" dirty="0">
                <a:sym typeface="Symbol" panose="05050102010706020507" pitchFamily="18" charset="2"/>
              </a:rPr>
              <a:t>(</a:t>
            </a:r>
            <a:r>
              <a:rPr lang="en-US" altLang="zh-CN" i="1" dirty="0">
                <a:sym typeface="Symbol" panose="05050102010706020507" pitchFamily="18" charset="2"/>
              </a:rPr>
              <a:t>x</a:t>
            </a:r>
            <a:r>
              <a:rPr lang="en-US" altLang="zh-CN" dirty="0">
                <a:sym typeface="Symbol" panose="05050102010706020507" pitchFamily="18" charset="2"/>
              </a:rPr>
              <a:t>) </a:t>
            </a:r>
            <a:r>
              <a:rPr lang="en-US" altLang="zh-CN" i="1" dirty="0">
                <a:sym typeface="Symbol" panose="05050102010706020507" pitchFamily="18" charset="2"/>
              </a:rPr>
              <a:t>P</a:t>
            </a:r>
            <a:r>
              <a:rPr lang="en-US" altLang="zh-CN" dirty="0">
                <a:sym typeface="Symbol" panose="05050102010706020507" pitchFamily="18" charset="2"/>
              </a:rPr>
              <a:t>(</a:t>
            </a:r>
            <a:r>
              <a:rPr lang="en-US" altLang="zh-CN" i="1" dirty="0">
                <a:sym typeface="Symbol" panose="05050102010706020507" pitchFamily="18" charset="2"/>
              </a:rPr>
              <a:t>x</a:t>
            </a:r>
            <a:r>
              <a:rPr lang="en-US" altLang="zh-CN" dirty="0">
                <a:sym typeface="Symbol" panose="05050102010706020507" pitchFamily="18" charset="2"/>
              </a:rPr>
              <a:t>)  (</a:t>
            </a:r>
            <a:r>
              <a:rPr lang="en-US" altLang="zh-CN" i="1" dirty="0">
                <a:sym typeface="Symbol" panose="05050102010706020507" pitchFamily="18" charset="2"/>
              </a:rPr>
              <a:t>x</a:t>
            </a:r>
            <a:r>
              <a:rPr lang="en-US" altLang="zh-CN" dirty="0">
                <a:sym typeface="Symbol" panose="05050102010706020507" pitchFamily="18" charset="2"/>
              </a:rPr>
              <a:t>) (</a:t>
            </a:r>
            <a:r>
              <a:rPr lang="en-US" altLang="zh-CN" dirty="0">
                <a:solidFill>
                  <a:schemeClr val="tx2"/>
                </a:solidFill>
                <a:latin typeface="Times New Roman" panose="02020503050405090304" pitchFamily="18" charset="0"/>
                <a:sym typeface="Symbol" panose="05050102010706020507" pitchFamily="18" charset="2"/>
              </a:rPr>
              <a:t> </a:t>
            </a:r>
            <a:r>
              <a:rPr lang="en-US" altLang="zh-CN" i="1" dirty="0">
                <a:sym typeface="Symbol" panose="05050102010706020507" pitchFamily="18" charset="2"/>
              </a:rPr>
              <a:t>P</a:t>
            </a:r>
            <a:r>
              <a:rPr lang="en-US" altLang="zh-CN" dirty="0">
                <a:sym typeface="Symbol" panose="05050102010706020507" pitchFamily="18" charset="2"/>
              </a:rPr>
              <a:t>(</a:t>
            </a:r>
            <a:r>
              <a:rPr lang="en-US" altLang="zh-CN" i="1" dirty="0">
                <a:sym typeface="Symbol" panose="05050102010706020507" pitchFamily="18" charset="2"/>
              </a:rPr>
              <a:t>x</a:t>
            </a:r>
            <a:r>
              <a:rPr lang="en-US" altLang="zh-CN" dirty="0">
                <a:sym typeface="Symbol" panose="05050102010706020507" pitchFamily="18" charset="2"/>
              </a:rPr>
              <a:t>))</a:t>
            </a:r>
            <a:endParaRPr lang="en-US" altLang="zh-CN"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89539">
                                            <p:txEl>
                                              <p:pRg st="0" end="0"/>
                                            </p:txEl>
                                          </p:spTgt>
                                        </p:tgtEl>
                                        <p:attrNameLst>
                                          <p:attrName>style.visibility</p:attrName>
                                        </p:attrNameLst>
                                      </p:cBhvr>
                                      <p:to>
                                        <p:strVal val="visible"/>
                                      </p:to>
                                    </p:set>
                                    <p:anim calcmode="lin" valueType="num">
                                      <p:cBhvr additive="base">
                                        <p:cTn id="7" dur="500" fill="hold"/>
                                        <p:tgtEl>
                                          <p:spTgt spid="1089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8953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89539">
                                            <p:txEl>
                                              <p:pRg st="1" end="1"/>
                                            </p:txEl>
                                          </p:spTgt>
                                        </p:tgtEl>
                                        <p:attrNameLst>
                                          <p:attrName>style.visibility</p:attrName>
                                        </p:attrNameLst>
                                      </p:cBhvr>
                                      <p:to>
                                        <p:strVal val="visible"/>
                                      </p:to>
                                    </p:set>
                                    <p:anim calcmode="lin" valueType="num">
                                      <p:cBhvr additive="base">
                                        <p:cTn id="11" dur="500" fill="hold"/>
                                        <p:tgtEl>
                                          <p:spTgt spid="108953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895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89539">
                                            <p:txEl>
                                              <p:pRg st="2" end="2"/>
                                            </p:txEl>
                                          </p:spTgt>
                                        </p:tgtEl>
                                        <p:attrNameLst>
                                          <p:attrName>style.visibility</p:attrName>
                                        </p:attrNameLst>
                                      </p:cBhvr>
                                      <p:to>
                                        <p:strVal val="visible"/>
                                      </p:to>
                                    </p:set>
                                    <p:anim calcmode="lin" valueType="num">
                                      <p:cBhvr additive="base">
                                        <p:cTn id="17" dur="500" fill="hold"/>
                                        <p:tgtEl>
                                          <p:spTgt spid="108953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8953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89539">
                                            <p:txEl>
                                              <p:pRg st="3" end="3"/>
                                            </p:txEl>
                                          </p:spTgt>
                                        </p:tgtEl>
                                        <p:attrNameLst>
                                          <p:attrName>style.visibility</p:attrName>
                                        </p:attrNameLst>
                                      </p:cBhvr>
                                      <p:to>
                                        <p:strVal val="visible"/>
                                      </p:to>
                                    </p:set>
                                    <p:anim calcmode="lin" valueType="num">
                                      <p:cBhvr additive="base">
                                        <p:cTn id="21" dur="500" fill="hold"/>
                                        <p:tgtEl>
                                          <p:spTgt spid="108953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8953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89539">
                                            <p:txEl>
                                              <p:pRg st="4" end="4"/>
                                            </p:txEl>
                                          </p:spTgt>
                                        </p:tgtEl>
                                        <p:attrNameLst>
                                          <p:attrName>style.visibility</p:attrName>
                                        </p:attrNameLst>
                                      </p:cBhvr>
                                      <p:to>
                                        <p:strVal val="visible"/>
                                      </p:to>
                                    </p:set>
                                    <p:anim calcmode="lin" valueType="num">
                                      <p:cBhvr additive="base">
                                        <p:cTn id="25" dur="500" fill="hold"/>
                                        <p:tgtEl>
                                          <p:spTgt spid="108953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895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89539">
                                            <p:txEl>
                                              <p:pRg st="5" end="5"/>
                                            </p:txEl>
                                          </p:spTgt>
                                        </p:tgtEl>
                                        <p:attrNameLst>
                                          <p:attrName>style.visibility</p:attrName>
                                        </p:attrNameLst>
                                      </p:cBhvr>
                                      <p:to>
                                        <p:strVal val="visible"/>
                                      </p:to>
                                    </p:set>
                                    <p:anim calcmode="lin" valueType="num">
                                      <p:cBhvr additive="base">
                                        <p:cTn id="31" dur="500" fill="hold"/>
                                        <p:tgtEl>
                                          <p:spTgt spid="108953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8953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89539">
                                            <p:txEl>
                                              <p:pRg st="6" end="6"/>
                                            </p:txEl>
                                          </p:spTgt>
                                        </p:tgtEl>
                                        <p:attrNameLst>
                                          <p:attrName>style.visibility</p:attrName>
                                        </p:attrNameLst>
                                      </p:cBhvr>
                                      <p:to>
                                        <p:strVal val="visible"/>
                                      </p:to>
                                    </p:set>
                                    <p:anim calcmode="lin" valueType="num">
                                      <p:cBhvr additive="base">
                                        <p:cTn id="35" dur="500" fill="hold"/>
                                        <p:tgtEl>
                                          <p:spTgt spid="108953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8953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9539" grpId="0" autoUpdateAnimBg="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13EA4B4-A720-4B40-9A22-99F475828C5E}"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734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02F3F9C-F0E6-4F22-9E22-690B87C65C0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734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7349" name="Rectangle 2"/>
          <p:cNvSpPr>
            <a:spLocks noGrp="1" noChangeArrowheads="1"/>
          </p:cNvSpPr>
          <p:nvPr>
            <p:ph type="title"/>
          </p:nvPr>
        </p:nvSpPr>
        <p:spPr/>
        <p:txBody>
          <a:bodyPr/>
          <a:lstStyle/>
          <a:p>
            <a:pPr eaLnBrk="1" hangingPunct="1"/>
            <a:r>
              <a:rPr lang="zh-CN" altLang="en-US"/>
              <a:t>量化式的否定</a:t>
            </a:r>
            <a:r>
              <a:rPr lang="en-US" altLang="zh-CN"/>
              <a:t>2</a:t>
            </a:r>
            <a:endParaRPr lang="en-US" altLang="zh-CN"/>
          </a:p>
        </p:txBody>
      </p:sp>
      <p:sp>
        <p:nvSpPr>
          <p:cNvPr id="1090563" name="Rectangle 3"/>
          <p:cNvSpPr>
            <a:spLocks noGrp="1" noChangeArrowheads="1"/>
          </p:cNvSpPr>
          <p:nvPr>
            <p:ph type="body" idx="1"/>
          </p:nvPr>
        </p:nvSpPr>
        <p:spPr/>
        <p:txBody>
          <a:bodyPr/>
          <a:lstStyle/>
          <a:p>
            <a:pPr eaLnBrk="1" hangingPunct="1"/>
            <a:r>
              <a:rPr lang="zh-CN" altLang="en-US" sz="3600" dirty="0"/>
              <a:t>不存在孤立事物</a:t>
            </a:r>
            <a:endParaRPr lang="zh-CN" altLang="en-US" sz="3600" dirty="0"/>
          </a:p>
          <a:p>
            <a:pPr lvl="1" eaLnBrk="1" hangingPunct="1"/>
            <a:r>
              <a:rPr lang="en-US" altLang="zh-CN" sz="3200" dirty="0">
                <a:solidFill>
                  <a:schemeClr val="tx2"/>
                </a:solidFill>
                <a:latin typeface="Times New Roman" panose="02020503050405090304" pitchFamily="18" charset="0"/>
                <a:sym typeface="Symbol" panose="05050102010706020507" pitchFamily="18" charset="2"/>
              </a:rPr>
              <a:t></a:t>
            </a:r>
            <a:r>
              <a:rPr lang="en-US" altLang="zh-CN" sz="3200" dirty="0">
                <a:sym typeface="Symbol" panose="05050102010706020507" pitchFamily="18" charset="2"/>
              </a:rPr>
              <a:t>(</a:t>
            </a:r>
            <a:r>
              <a:rPr lang="en-US" altLang="zh-CN" sz="3200" i="1" dirty="0">
                <a:sym typeface="Symbol" panose="05050102010706020507" pitchFamily="18" charset="2"/>
              </a:rPr>
              <a:t>x</a:t>
            </a:r>
            <a:r>
              <a:rPr lang="en-US" altLang="zh-CN" sz="3200" dirty="0">
                <a:sym typeface="Symbol" panose="05050102010706020507" pitchFamily="18" charset="2"/>
              </a:rPr>
              <a:t>)(</a:t>
            </a:r>
            <a:r>
              <a:rPr lang="en-US" altLang="zh-CN" sz="3200" i="1" dirty="0">
                <a:sym typeface="Symbol" panose="05050102010706020507" pitchFamily="18" charset="2"/>
              </a:rPr>
              <a:t>x</a:t>
            </a:r>
            <a:r>
              <a:rPr lang="zh-CN" altLang="en-US" sz="3200" dirty="0"/>
              <a:t>是孤立的</a:t>
            </a:r>
            <a:r>
              <a:rPr lang="en-US" altLang="zh-CN" sz="3200" dirty="0">
                <a:sym typeface="Symbol" panose="05050102010706020507" pitchFamily="18" charset="2"/>
              </a:rPr>
              <a:t>) </a:t>
            </a:r>
            <a:endParaRPr lang="en-US" altLang="zh-CN" sz="3200" dirty="0">
              <a:sym typeface="Symbol" panose="05050102010706020507" pitchFamily="18" charset="2"/>
            </a:endParaRPr>
          </a:p>
          <a:p>
            <a:pPr eaLnBrk="1" hangingPunct="1"/>
            <a:r>
              <a:rPr lang="zh-CN" altLang="en-US" sz="3600" dirty="0"/>
              <a:t>一切事物都不是孤立的</a:t>
            </a:r>
            <a:endParaRPr lang="zh-CN" altLang="en-US" sz="3600" dirty="0"/>
          </a:p>
          <a:p>
            <a:pPr lvl="1" eaLnBrk="1" hangingPunct="1"/>
            <a:r>
              <a:rPr lang="en-US" altLang="zh-CN" sz="3200" dirty="0">
                <a:sym typeface="Symbol" panose="05050102010706020507" pitchFamily="18" charset="2"/>
              </a:rPr>
              <a:t>(</a:t>
            </a:r>
            <a:r>
              <a:rPr lang="en-US" altLang="zh-CN" sz="3200" i="1" dirty="0">
                <a:sym typeface="Symbol" panose="05050102010706020507" pitchFamily="18" charset="2"/>
              </a:rPr>
              <a:t>x</a:t>
            </a:r>
            <a:r>
              <a:rPr lang="en-US" altLang="zh-CN" sz="3200" dirty="0">
                <a:sym typeface="Symbol" panose="05050102010706020507" pitchFamily="18" charset="2"/>
              </a:rPr>
              <a:t>)</a:t>
            </a:r>
            <a:r>
              <a:rPr lang="en-US" altLang="zh-CN" sz="3200" dirty="0">
                <a:solidFill>
                  <a:schemeClr val="tx2"/>
                </a:solidFill>
                <a:latin typeface="Times New Roman" panose="02020503050405090304" pitchFamily="18" charset="0"/>
                <a:sym typeface="Symbol" panose="05050102010706020507" pitchFamily="18" charset="2"/>
              </a:rPr>
              <a:t> </a:t>
            </a:r>
            <a:r>
              <a:rPr lang="en-US" altLang="zh-CN" sz="3200" dirty="0">
                <a:sym typeface="Symbol" panose="05050102010706020507" pitchFamily="18" charset="2"/>
              </a:rPr>
              <a:t>(</a:t>
            </a:r>
            <a:r>
              <a:rPr lang="en-US" altLang="zh-CN" sz="3200" i="1" dirty="0">
                <a:sym typeface="Symbol" panose="05050102010706020507" pitchFamily="18" charset="2"/>
              </a:rPr>
              <a:t>x</a:t>
            </a:r>
            <a:r>
              <a:rPr lang="zh-CN" altLang="en-US" sz="3200" dirty="0"/>
              <a:t>是孤立的</a:t>
            </a:r>
            <a:r>
              <a:rPr lang="en-US" altLang="zh-CN" sz="3200" dirty="0">
                <a:sym typeface="Symbol" panose="05050102010706020507" pitchFamily="18" charset="2"/>
              </a:rPr>
              <a:t>)</a:t>
            </a:r>
            <a:endParaRPr lang="en-US" altLang="zh-CN" sz="3200" dirty="0">
              <a:sym typeface="Symbol" panose="05050102010706020507" pitchFamily="18" charset="2"/>
            </a:endParaRPr>
          </a:p>
          <a:p>
            <a:pPr eaLnBrk="1" hangingPunct="1"/>
            <a:r>
              <a:rPr kumimoji="0" lang="zh-CN" altLang="en-US" sz="3600" dirty="0">
                <a:sym typeface="Symbol" panose="05050102010706020507" pitchFamily="18" charset="2"/>
              </a:rPr>
              <a:t>所以</a:t>
            </a:r>
            <a:endParaRPr kumimoji="0" lang="zh-CN" altLang="en-US" sz="3600" dirty="0">
              <a:sym typeface="Symbol" panose="05050102010706020507" pitchFamily="18" charset="2"/>
            </a:endParaRPr>
          </a:p>
          <a:p>
            <a:pPr lvl="1" eaLnBrk="1" hangingPunct="1"/>
            <a:r>
              <a:rPr lang="zh-CN" altLang="en-US" sz="3200" dirty="0">
                <a:sym typeface="Symbol" panose="05050102010706020507" pitchFamily="18" charset="2"/>
              </a:rPr>
              <a:t> </a:t>
            </a:r>
            <a:r>
              <a:rPr lang="en-US" altLang="zh-CN" sz="3200" dirty="0">
                <a:solidFill>
                  <a:schemeClr val="tx2"/>
                </a:solidFill>
                <a:latin typeface="Times New Roman" panose="02020503050405090304" pitchFamily="18" charset="0"/>
                <a:sym typeface="Symbol" panose="05050102010706020507" pitchFamily="18" charset="2"/>
              </a:rPr>
              <a:t></a:t>
            </a:r>
            <a:r>
              <a:rPr lang="en-US" altLang="zh-CN" sz="3200" dirty="0">
                <a:sym typeface="Symbol" panose="05050102010706020507" pitchFamily="18" charset="2"/>
              </a:rPr>
              <a:t>(</a:t>
            </a:r>
            <a:r>
              <a:rPr lang="en-US" altLang="zh-CN" sz="3200" i="1" dirty="0">
                <a:sym typeface="Symbol" panose="05050102010706020507" pitchFamily="18" charset="2"/>
              </a:rPr>
              <a:t>x</a:t>
            </a:r>
            <a:r>
              <a:rPr lang="en-US" altLang="zh-CN" sz="3200" dirty="0">
                <a:sym typeface="Symbol" panose="05050102010706020507" pitchFamily="18" charset="2"/>
              </a:rPr>
              <a:t>) </a:t>
            </a:r>
            <a:r>
              <a:rPr lang="en-US" altLang="zh-CN" sz="3200" i="1" dirty="0">
                <a:sym typeface="Symbol" panose="05050102010706020507" pitchFamily="18" charset="2"/>
              </a:rPr>
              <a:t>P</a:t>
            </a:r>
            <a:r>
              <a:rPr lang="en-US" altLang="zh-CN" sz="3200" dirty="0">
                <a:sym typeface="Symbol" panose="05050102010706020507" pitchFamily="18" charset="2"/>
              </a:rPr>
              <a:t>(</a:t>
            </a:r>
            <a:r>
              <a:rPr lang="en-US" altLang="zh-CN" sz="3200" i="1" dirty="0">
                <a:sym typeface="Symbol" panose="05050102010706020507" pitchFamily="18" charset="2"/>
              </a:rPr>
              <a:t>x</a:t>
            </a:r>
            <a:r>
              <a:rPr lang="en-US" altLang="zh-CN" sz="3200" dirty="0">
                <a:sym typeface="Symbol" panose="05050102010706020507" pitchFamily="18" charset="2"/>
              </a:rPr>
              <a:t>)  (</a:t>
            </a:r>
            <a:r>
              <a:rPr lang="en-US" altLang="zh-CN" sz="3200" i="1" dirty="0">
                <a:sym typeface="Symbol" panose="05050102010706020507" pitchFamily="18" charset="2"/>
              </a:rPr>
              <a:t>x</a:t>
            </a:r>
            <a:r>
              <a:rPr lang="en-US" altLang="zh-CN" sz="3200" dirty="0">
                <a:sym typeface="Symbol" panose="05050102010706020507" pitchFamily="18" charset="2"/>
              </a:rPr>
              <a:t>) (</a:t>
            </a:r>
            <a:r>
              <a:rPr lang="en-US" altLang="zh-CN" sz="3200" dirty="0">
                <a:solidFill>
                  <a:schemeClr val="tx2"/>
                </a:solidFill>
                <a:latin typeface="Times New Roman" panose="02020503050405090304" pitchFamily="18" charset="0"/>
                <a:sym typeface="Symbol" panose="05050102010706020507" pitchFamily="18" charset="2"/>
              </a:rPr>
              <a:t> </a:t>
            </a:r>
            <a:r>
              <a:rPr lang="en-US" altLang="zh-CN" sz="3200" i="1" dirty="0">
                <a:sym typeface="Symbol" panose="05050102010706020507" pitchFamily="18" charset="2"/>
              </a:rPr>
              <a:t>P</a:t>
            </a:r>
            <a:r>
              <a:rPr lang="en-US" altLang="zh-CN" sz="3200" dirty="0">
                <a:sym typeface="Symbol" panose="05050102010706020507" pitchFamily="18" charset="2"/>
              </a:rPr>
              <a:t>(</a:t>
            </a:r>
            <a:r>
              <a:rPr lang="en-US" altLang="zh-CN" sz="3200" i="1" dirty="0">
                <a:sym typeface="Symbol" panose="05050102010706020507" pitchFamily="18" charset="2"/>
              </a:rPr>
              <a:t>x</a:t>
            </a:r>
            <a:r>
              <a:rPr lang="en-US" altLang="zh-CN" sz="3200" dirty="0">
                <a:sym typeface="Symbol" panose="05050102010706020507" pitchFamily="18" charset="2"/>
              </a:rPr>
              <a:t>))</a:t>
            </a:r>
            <a:endParaRPr lang="en-US" altLang="zh-CN" sz="32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0563">
                                            <p:txEl>
                                              <p:pRg st="0" end="0"/>
                                            </p:txEl>
                                          </p:spTgt>
                                        </p:tgtEl>
                                        <p:attrNameLst>
                                          <p:attrName>style.visibility</p:attrName>
                                        </p:attrNameLst>
                                      </p:cBhvr>
                                      <p:to>
                                        <p:strVal val="visible"/>
                                      </p:to>
                                    </p:set>
                                    <p:anim calcmode="lin" valueType="num">
                                      <p:cBhvr additive="base">
                                        <p:cTn id="7" dur="500" fill="hold"/>
                                        <p:tgtEl>
                                          <p:spTgt spid="1090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05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90563">
                                            <p:txEl>
                                              <p:pRg st="1" end="1"/>
                                            </p:txEl>
                                          </p:spTgt>
                                        </p:tgtEl>
                                        <p:attrNameLst>
                                          <p:attrName>style.visibility</p:attrName>
                                        </p:attrNameLst>
                                      </p:cBhvr>
                                      <p:to>
                                        <p:strVal val="visible"/>
                                      </p:to>
                                    </p:set>
                                    <p:anim calcmode="lin" valueType="num">
                                      <p:cBhvr additive="base">
                                        <p:cTn id="11" dur="500" fill="hold"/>
                                        <p:tgtEl>
                                          <p:spTgt spid="10905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905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90563">
                                            <p:txEl>
                                              <p:pRg st="2" end="2"/>
                                            </p:txEl>
                                          </p:spTgt>
                                        </p:tgtEl>
                                        <p:attrNameLst>
                                          <p:attrName>style.visibility</p:attrName>
                                        </p:attrNameLst>
                                      </p:cBhvr>
                                      <p:to>
                                        <p:strVal val="visible"/>
                                      </p:to>
                                    </p:set>
                                    <p:anim calcmode="lin" valueType="num">
                                      <p:cBhvr additive="base">
                                        <p:cTn id="17" dur="500" fill="hold"/>
                                        <p:tgtEl>
                                          <p:spTgt spid="109056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056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90563">
                                            <p:txEl>
                                              <p:pRg st="3" end="3"/>
                                            </p:txEl>
                                          </p:spTgt>
                                        </p:tgtEl>
                                        <p:attrNameLst>
                                          <p:attrName>style.visibility</p:attrName>
                                        </p:attrNameLst>
                                      </p:cBhvr>
                                      <p:to>
                                        <p:strVal val="visible"/>
                                      </p:to>
                                    </p:set>
                                    <p:anim calcmode="lin" valueType="num">
                                      <p:cBhvr additive="base">
                                        <p:cTn id="21" dur="500" fill="hold"/>
                                        <p:tgtEl>
                                          <p:spTgt spid="109056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05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90563">
                                            <p:txEl>
                                              <p:pRg st="4" end="4"/>
                                            </p:txEl>
                                          </p:spTgt>
                                        </p:tgtEl>
                                        <p:attrNameLst>
                                          <p:attrName>style.visibility</p:attrName>
                                        </p:attrNameLst>
                                      </p:cBhvr>
                                      <p:to>
                                        <p:strVal val="visible"/>
                                      </p:to>
                                    </p:set>
                                    <p:anim calcmode="lin" valueType="num">
                                      <p:cBhvr additive="base">
                                        <p:cTn id="27" dur="500" fill="hold"/>
                                        <p:tgtEl>
                                          <p:spTgt spid="109056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9056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90563">
                                            <p:txEl>
                                              <p:pRg st="5" end="5"/>
                                            </p:txEl>
                                          </p:spTgt>
                                        </p:tgtEl>
                                        <p:attrNameLst>
                                          <p:attrName>style.visibility</p:attrName>
                                        </p:attrNameLst>
                                      </p:cBhvr>
                                      <p:to>
                                        <p:strVal val="visible"/>
                                      </p:to>
                                    </p:set>
                                    <p:anim calcmode="lin" valueType="num">
                                      <p:cBhvr additive="base">
                                        <p:cTn id="31" dur="500" fill="hold"/>
                                        <p:tgtEl>
                                          <p:spTgt spid="10905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905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0563" grpId="0" autoUpdateAnimBg="0" build="p"/>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73301A51-7909-4D59-B0DF-976B07385AAF}"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837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6973DEBB-0F27-4A95-8D35-CBD361D70692}"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837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8373" name="Rectangle 2"/>
          <p:cNvSpPr>
            <a:spLocks noGrp="1" noChangeArrowheads="1"/>
          </p:cNvSpPr>
          <p:nvPr>
            <p:ph type="title"/>
          </p:nvPr>
        </p:nvSpPr>
        <p:spPr/>
        <p:txBody>
          <a:bodyPr/>
          <a:lstStyle/>
          <a:p>
            <a:pPr eaLnBrk="1" hangingPunct="1"/>
            <a:r>
              <a:rPr lang="zh-CN" altLang="en-US"/>
              <a:t>量词与联结词</a:t>
            </a:r>
            <a:r>
              <a:rPr lang="en-US" altLang="zh-CN"/>
              <a:t>1</a:t>
            </a:r>
            <a:endParaRPr lang="en-US" altLang="zh-CN"/>
          </a:p>
        </p:txBody>
      </p:sp>
      <p:sp>
        <p:nvSpPr>
          <p:cNvPr id="1091587" name="Rectangle 3"/>
          <p:cNvSpPr>
            <a:spLocks noGrp="1" noChangeArrowheads="1"/>
          </p:cNvSpPr>
          <p:nvPr>
            <p:ph type="body" idx="1"/>
          </p:nvPr>
        </p:nvSpPr>
        <p:spPr/>
        <p:txBody>
          <a:bodyPr/>
          <a:lstStyle/>
          <a:p>
            <a:pPr eaLnBrk="1" hangingPunct="1"/>
            <a:r>
              <a:rPr lang="zh-CN" altLang="en-US"/>
              <a:t>至少有一个偶数是素数</a:t>
            </a:r>
            <a:endParaRPr lang="zh-CN" altLang="en-US"/>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p>
          <a:p>
            <a:pPr eaLnBrk="1" hangingPunct="1"/>
            <a:r>
              <a:rPr lang="zh-CN" altLang="en-US"/>
              <a:t>至少有一个偶数并且至少有一个素数</a:t>
            </a:r>
            <a:endParaRPr lang="zh-CN" altLang="en-US"/>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p>
          <a:p>
            <a:pPr eaLnBrk="1" hangingPunct="1"/>
            <a:r>
              <a:rPr lang="zh-CN" altLang="en-US"/>
              <a:t>显然</a:t>
            </a:r>
            <a:endParaRPr lang="zh-CN" altLang="en-US"/>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zh-CN" altLang="en-US">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sz="2400">
                <a:latin typeface="Symbol" panose="05050102010706020507" pitchFamily="18" charset="2"/>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1587">
                                            <p:txEl>
                                              <p:pRg st="0" end="0"/>
                                            </p:txEl>
                                          </p:spTgt>
                                        </p:tgtEl>
                                        <p:attrNameLst>
                                          <p:attrName>style.visibility</p:attrName>
                                        </p:attrNameLst>
                                      </p:cBhvr>
                                      <p:to>
                                        <p:strVal val="visible"/>
                                      </p:to>
                                    </p:set>
                                    <p:anim calcmode="lin" valueType="num">
                                      <p:cBhvr additive="base">
                                        <p:cTn id="7" dur="500" fill="hold"/>
                                        <p:tgtEl>
                                          <p:spTgt spid="1091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15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91587">
                                            <p:txEl>
                                              <p:pRg st="1" end="1"/>
                                            </p:txEl>
                                          </p:spTgt>
                                        </p:tgtEl>
                                        <p:attrNameLst>
                                          <p:attrName>style.visibility</p:attrName>
                                        </p:attrNameLst>
                                      </p:cBhvr>
                                      <p:to>
                                        <p:strVal val="visible"/>
                                      </p:to>
                                    </p:set>
                                    <p:anim calcmode="lin" valueType="num">
                                      <p:cBhvr additive="base">
                                        <p:cTn id="11" dur="500" fill="hold"/>
                                        <p:tgtEl>
                                          <p:spTgt spid="10915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91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91587">
                                            <p:txEl>
                                              <p:pRg st="2" end="2"/>
                                            </p:txEl>
                                          </p:spTgt>
                                        </p:tgtEl>
                                        <p:attrNameLst>
                                          <p:attrName>style.visibility</p:attrName>
                                        </p:attrNameLst>
                                      </p:cBhvr>
                                      <p:to>
                                        <p:strVal val="visible"/>
                                      </p:to>
                                    </p:set>
                                    <p:anim calcmode="lin" valueType="num">
                                      <p:cBhvr additive="base">
                                        <p:cTn id="17" dur="500" fill="hold"/>
                                        <p:tgtEl>
                                          <p:spTgt spid="109158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158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91587">
                                            <p:txEl>
                                              <p:pRg st="3" end="3"/>
                                            </p:txEl>
                                          </p:spTgt>
                                        </p:tgtEl>
                                        <p:attrNameLst>
                                          <p:attrName>style.visibility</p:attrName>
                                        </p:attrNameLst>
                                      </p:cBhvr>
                                      <p:to>
                                        <p:strVal val="visible"/>
                                      </p:to>
                                    </p:set>
                                    <p:anim calcmode="lin" valueType="num">
                                      <p:cBhvr additive="base">
                                        <p:cTn id="21" dur="500" fill="hold"/>
                                        <p:tgtEl>
                                          <p:spTgt spid="109158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1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91587">
                                            <p:txEl>
                                              <p:pRg st="4" end="4"/>
                                            </p:txEl>
                                          </p:spTgt>
                                        </p:tgtEl>
                                        <p:attrNameLst>
                                          <p:attrName>style.visibility</p:attrName>
                                        </p:attrNameLst>
                                      </p:cBhvr>
                                      <p:to>
                                        <p:strVal val="visible"/>
                                      </p:to>
                                    </p:set>
                                    <p:anim calcmode="lin" valueType="num">
                                      <p:cBhvr additive="base">
                                        <p:cTn id="27" dur="500" fill="hold"/>
                                        <p:tgtEl>
                                          <p:spTgt spid="109158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9158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91587">
                                            <p:txEl>
                                              <p:pRg st="5" end="5"/>
                                            </p:txEl>
                                          </p:spTgt>
                                        </p:tgtEl>
                                        <p:attrNameLst>
                                          <p:attrName>style.visibility</p:attrName>
                                        </p:attrNameLst>
                                      </p:cBhvr>
                                      <p:to>
                                        <p:strVal val="visible"/>
                                      </p:to>
                                    </p:set>
                                    <p:anim calcmode="lin" valueType="num">
                                      <p:cBhvr additive="base">
                                        <p:cTn id="31" dur="500" fill="hold"/>
                                        <p:tgtEl>
                                          <p:spTgt spid="109158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91587">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91587">
                                            <p:txEl>
                                              <p:pRg st="6" end="6"/>
                                            </p:txEl>
                                          </p:spTgt>
                                        </p:tgtEl>
                                        <p:attrNameLst>
                                          <p:attrName>style.visibility</p:attrName>
                                        </p:attrNameLst>
                                      </p:cBhvr>
                                      <p:to>
                                        <p:strVal val="visible"/>
                                      </p:to>
                                    </p:set>
                                    <p:anim calcmode="lin" valueType="num">
                                      <p:cBhvr additive="base">
                                        <p:cTn id="35" dur="500" fill="hold"/>
                                        <p:tgtEl>
                                          <p:spTgt spid="1091587">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915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1587" grpId="0" autoUpdateAnimBg="0"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AA9B1E1-389B-4CF2-AD8E-E0760EA94D7A}"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939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E65D3592-02CD-4B26-9F3B-29F1AD74D0FD}"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5939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59397" name="Rectangle 2"/>
          <p:cNvSpPr>
            <a:spLocks noGrp="1" noChangeArrowheads="1"/>
          </p:cNvSpPr>
          <p:nvPr>
            <p:ph type="title"/>
          </p:nvPr>
        </p:nvSpPr>
        <p:spPr/>
        <p:txBody>
          <a:bodyPr/>
          <a:lstStyle/>
          <a:p>
            <a:pPr eaLnBrk="1" hangingPunct="1"/>
            <a:r>
              <a:rPr lang="zh-CN" altLang="en-US"/>
              <a:t>量词与联结词</a:t>
            </a:r>
            <a:r>
              <a:rPr lang="en-US" altLang="zh-CN"/>
              <a:t>2</a:t>
            </a:r>
            <a:endParaRPr lang="en-US" altLang="zh-CN"/>
          </a:p>
        </p:txBody>
      </p:sp>
      <p:sp>
        <p:nvSpPr>
          <p:cNvPr id="1092611" name="Rectangle 3"/>
          <p:cNvSpPr>
            <a:spLocks noGrp="1" noChangeArrowheads="1"/>
          </p:cNvSpPr>
          <p:nvPr>
            <p:ph type="body" idx="1"/>
          </p:nvPr>
        </p:nvSpPr>
        <p:spPr/>
        <p:txBody>
          <a:bodyPr/>
          <a:lstStyle/>
          <a:p>
            <a:pPr eaLnBrk="1" hangingPunct="1">
              <a:lnSpc>
                <a:spcPct val="90000"/>
              </a:lnSpc>
            </a:pPr>
            <a:r>
              <a:rPr lang="zh-CN" altLang="en-US"/>
              <a:t>一切事物，它或是生物或是非生物</a:t>
            </a:r>
            <a:endParaRPr lang="en-US" altLang="zh-CN"/>
          </a:p>
          <a:p>
            <a:pPr lvl="1" eaLnBrk="1" hangingPunct="1">
              <a:lnSpc>
                <a:spcPct val="90000"/>
              </a:lnSpc>
            </a:pP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sym typeface="Symbol" panose="05050102010706020507" pitchFamily="18" charset="2"/>
            </a:endParaRPr>
          </a:p>
          <a:p>
            <a:pPr eaLnBrk="1" hangingPunct="1">
              <a:lnSpc>
                <a:spcPct val="90000"/>
              </a:lnSpc>
            </a:pPr>
            <a:r>
              <a:rPr lang="zh-CN" altLang="en-US">
                <a:sym typeface="Symbol" panose="05050102010706020507" pitchFamily="18" charset="2"/>
              </a:rPr>
              <a:t>或者</a:t>
            </a:r>
            <a:r>
              <a:rPr lang="zh-CN" altLang="en-US"/>
              <a:t>一切都是生物，</a:t>
            </a:r>
            <a:r>
              <a:rPr lang="zh-CN" altLang="en-US">
                <a:sym typeface="Symbol" panose="05050102010706020507" pitchFamily="18" charset="2"/>
              </a:rPr>
              <a:t>或者</a:t>
            </a:r>
            <a:r>
              <a:rPr lang="zh-CN" altLang="en-US"/>
              <a:t>一切都是非生物</a:t>
            </a:r>
            <a:endParaRPr kumimoji="0" lang="en-US" altLang="zh-CN"/>
          </a:p>
          <a:p>
            <a:pPr lvl="1" eaLnBrk="1" hangingPunct="1">
              <a:lnSpc>
                <a:spcPct val="90000"/>
              </a:lnSpc>
            </a:pP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p>
          <a:p>
            <a:pPr eaLnBrk="1" hangingPunct="1">
              <a:lnSpc>
                <a:spcPct val="90000"/>
              </a:lnSpc>
            </a:pPr>
            <a:r>
              <a:rPr lang="zh-CN" altLang="en-US"/>
              <a:t>显然</a:t>
            </a:r>
            <a:endParaRPr lang="zh-CN" altLang="en-US"/>
          </a:p>
          <a:p>
            <a:pPr lvl="1" eaLnBrk="1" hangingPunct="1">
              <a:lnSpc>
                <a:spcPct val="90000"/>
              </a:lnSpc>
            </a:pP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zh-CN" altLang="en-US">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p>
          <a:p>
            <a:pPr lvl="1" eaLnBrk="1" hangingPunct="1">
              <a:lnSpc>
                <a:spcPct val="90000"/>
              </a:lnSpc>
            </a:pP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sz="2400">
                <a:latin typeface="Symbol" panose="05050102010706020507" pitchFamily="18" charset="2"/>
                <a:sym typeface="Symbol" panose="05050102010706020507" pitchFamily="18" charset="2"/>
              </a:rPr>
              <a:t></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2611">
                                            <p:txEl>
                                              <p:pRg st="0" end="0"/>
                                            </p:txEl>
                                          </p:spTgt>
                                        </p:tgtEl>
                                        <p:attrNameLst>
                                          <p:attrName>style.visibility</p:attrName>
                                        </p:attrNameLst>
                                      </p:cBhvr>
                                      <p:to>
                                        <p:strVal val="visible"/>
                                      </p:to>
                                    </p:set>
                                    <p:anim calcmode="lin" valueType="num">
                                      <p:cBhvr additive="base">
                                        <p:cTn id="7" dur="500" fill="hold"/>
                                        <p:tgtEl>
                                          <p:spTgt spid="1092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26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92611">
                                            <p:txEl>
                                              <p:pRg st="1" end="1"/>
                                            </p:txEl>
                                          </p:spTgt>
                                        </p:tgtEl>
                                        <p:attrNameLst>
                                          <p:attrName>style.visibility</p:attrName>
                                        </p:attrNameLst>
                                      </p:cBhvr>
                                      <p:to>
                                        <p:strVal val="visible"/>
                                      </p:to>
                                    </p:set>
                                    <p:anim calcmode="lin" valueType="num">
                                      <p:cBhvr additive="base">
                                        <p:cTn id="11" dur="500" fill="hold"/>
                                        <p:tgtEl>
                                          <p:spTgt spid="10926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92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92611">
                                            <p:txEl>
                                              <p:pRg st="2" end="2"/>
                                            </p:txEl>
                                          </p:spTgt>
                                        </p:tgtEl>
                                        <p:attrNameLst>
                                          <p:attrName>style.visibility</p:attrName>
                                        </p:attrNameLst>
                                      </p:cBhvr>
                                      <p:to>
                                        <p:strVal val="visible"/>
                                      </p:to>
                                    </p:set>
                                    <p:anim calcmode="lin" valueType="num">
                                      <p:cBhvr additive="base">
                                        <p:cTn id="17" dur="500" fill="hold"/>
                                        <p:tgtEl>
                                          <p:spTgt spid="10926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26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92611">
                                            <p:txEl>
                                              <p:pRg st="3" end="3"/>
                                            </p:txEl>
                                          </p:spTgt>
                                        </p:tgtEl>
                                        <p:attrNameLst>
                                          <p:attrName>style.visibility</p:attrName>
                                        </p:attrNameLst>
                                      </p:cBhvr>
                                      <p:to>
                                        <p:strVal val="visible"/>
                                      </p:to>
                                    </p:set>
                                    <p:anim calcmode="lin" valueType="num">
                                      <p:cBhvr additive="base">
                                        <p:cTn id="21" dur="500" fill="hold"/>
                                        <p:tgtEl>
                                          <p:spTgt spid="10926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26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92611">
                                            <p:txEl>
                                              <p:pRg st="4" end="4"/>
                                            </p:txEl>
                                          </p:spTgt>
                                        </p:tgtEl>
                                        <p:attrNameLst>
                                          <p:attrName>style.visibility</p:attrName>
                                        </p:attrNameLst>
                                      </p:cBhvr>
                                      <p:to>
                                        <p:strVal val="visible"/>
                                      </p:to>
                                    </p:set>
                                    <p:anim calcmode="lin" valueType="num">
                                      <p:cBhvr additive="base">
                                        <p:cTn id="27" dur="500" fill="hold"/>
                                        <p:tgtEl>
                                          <p:spTgt spid="109261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9261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92611">
                                            <p:txEl>
                                              <p:pRg st="5" end="5"/>
                                            </p:txEl>
                                          </p:spTgt>
                                        </p:tgtEl>
                                        <p:attrNameLst>
                                          <p:attrName>style.visibility</p:attrName>
                                        </p:attrNameLst>
                                      </p:cBhvr>
                                      <p:to>
                                        <p:strVal val="visible"/>
                                      </p:to>
                                    </p:set>
                                    <p:anim calcmode="lin" valueType="num">
                                      <p:cBhvr additive="base">
                                        <p:cTn id="31" dur="500" fill="hold"/>
                                        <p:tgtEl>
                                          <p:spTgt spid="109261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92611">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92611">
                                            <p:txEl>
                                              <p:pRg st="6" end="6"/>
                                            </p:txEl>
                                          </p:spTgt>
                                        </p:tgtEl>
                                        <p:attrNameLst>
                                          <p:attrName>style.visibility</p:attrName>
                                        </p:attrNameLst>
                                      </p:cBhvr>
                                      <p:to>
                                        <p:strVal val="visible"/>
                                      </p:to>
                                    </p:set>
                                    <p:anim calcmode="lin" valueType="num">
                                      <p:cBhvr additive="base">
                                        <p:cTn id="35" dur="500" fill="hold"/>
                                        <p:tgtEl>
                                          <p:spTgt spid="1092611">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9261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2611" grpId="0" autoUpdateAnimBg="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016E2BE-9B67-493F-943D-6645623DCB95}"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041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27D4523-2C72-48E3-9ACE-4C293AABBC70}"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042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0421" name="Rectangle 2"/>
          <p:cNvSpPr>
            <a:spLocks noGrp="1" noChangeArrowheads="1"/>
          </p:cNvSpPr>
          <p:nvPr>
            <p:ph type="title"/>
          </p:nvPr>
        </p:nvSpPr>
        <p:spPr/>
        <p:txBody>
          <a:bodyPr/>
          <a:lstStyle/>
          <a:p>
            <a:pPr eaLnBrk="1" hangingPunct="1"/>
            <a:r>
              <a:rPr lang="zh-CN" altLang="en-US"/>
              <a:t>量词辖域收缩与扩张(</a:t>
            </a:r>
            <a:r>
              <a:rPr lang="zh-CN" altLang="en-US">
                <a:sym typeface="Symbol" panose="05050102010706020507" pitchFamily="18" charset="2"/>
              </a:rPr>
              <a:t></a:t>
            </a:r>
            <a:r>
              <a:rPr lang="zh-CN" altLang="en-US"/>
              <a:t>)</a:t>
            </a:r>
            <a:endParaRPr lang="zh-CN" altLang="en-US"/>
          </a:p>
        </p:txBody>
      </p:sp>
      <p:sp>
        <p:nvSpPr>
          <p:cNvPr id="60422" name="Rectangle 3"/>
          <p:cNvSpPr>
            <a:spLocks noGrp="1" noChangeArrowheads="1"/>
          </p:cNvSpPr>
          <p:nvPr>
            <p:ph type="body" idx="1"/>
          </p:nvPr>
        </p:nvSpPr>
        <p:spPr/>
        <p:txBody>
          <a:bodyPr/>
          <a:lstStyle/>
          <a:p>
            <a:pPr eaLnBrk="1" hangingPunct="1"/>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 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a:t>
            </a:r>
            <a:endParaRPr lang="en-US" altLang="zh-CN"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 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a:t>
            </a:r>
            <a:endParaRPr lang="en-US" altLang="zh-CN"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  </a:t>
            </a:r>
            <a:r>
              <a:rPr lang="zh-CN" altLang="en-US" sz="2800">
                <a:solidFill>
                  <a:srgbClr val="FF0000"/>
                </a:solidFill>
                <a:sym typeface="Symbol" panose="05050102010706020507" pitchFamily="18" charset="2"/>
              </a:rPr>
              <a:t></a:t>
            </a:r>
            <a:r>
              <a:rPr lang="en-US" altLang="zh-CN" sz="2800">
                <a:solidFill>
                  <a:srgbClr val="FF0000"/>
                </a:solidFill>
                <a:sym typeface="Symbol" panose="05050102010706020507" pitchFamily="18" charset="2"/>
              </a:rPr>
              <a:t>x</a:t>
            </a:r>
            <a:r>
              <a:rPr lang="en-US" altLang="zh-CN" sz="2800">
                <a:solidFill>
                  <a:schemeClr val="tx2"/>
                </a:solidFill>
                <a:sym typeface="Symbol" panose="05050102010706020507" pitchFamily="18" charset="2"/>
              </a:rPr>
              <a:t>A(x)</a:t>
            </a:r>
            <a:r>
              <a:rPr lang="zh-CN" altLang="en-US" sz="2800">
                <a:solidFill>
                  <a:schemeClr val="tx2"/>
                </a:solidFill>
              </a:rPr>
              <a:t>→</a:t>
            </a:r>
            <a:r>
              <a:rPr lang="en-US" altLang="zh-CN" sz="2800">
                <a:solidFill>
                  <a:schemeClr val="tx2"/>
                </a:solidFill>
                <a:sym typeface="Symbol" panose="05050102010706020507" pitchFamily="18" charset="2"/>
              </a:rPr>
              <a:t>B</a:t>
            </a:r>
            <a:endParaRPr lang="en-US" altLang="zh-CN"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x(B</a:t>
            </a:r>
            <a:r>
              <a:rPr lang="zh-CN" altLang="en-US" sz="2800">
                <a:solidFill>
                  <a:schemeClr val="tx2"/>
                </a:solidFill>
              </a:rPr>
              <a:t>→</a:t>
            </a:r>
            <a:r>
              <a:rPr lang="en-US" altLang="zh-CN" sz="2800">
                <a:solidFill>
                  <a:schemeClr val="tx2"/>
                </a:solidFill>
                <a:sym typeface="Symbol" panose="05050102010706020507" pitchFamily="18" charset="2"/>
              </a:rPr>
              <a:t>A(x))  B</a:t>
            </a:r>
            <a:r>
              <a:rPr lang="zh-CN" altLang="en-US" sz="2800">
                <a:solidFill>
                  <a:schemeClr val="tx2"/>
                </a:solidFill>
              </a:rPr>
              <a:t>→</a:t>
            </a:r>
            <a:r>
              <a:rPr lang="zh-CN" altLang="en-US" sz="2800">
                <a:solidFill>
                  <a:srgbClr val="FF0000"/>
                </a:solidFill>
                <a:sym typeface="Symbol" panose="05050102010706020507" pitchFamily="18" charset="2"/>
              </a:rPr>
              <a:t></a:t>
            </a:r>
            <a:r>
              <a:rPr lang="en-US" altLang="zh-CN" sz="2800">
                <a:solidFill>
                  <a:srgbClr val="FF0000"/>
                </a:solidFill>
                <a:sym typeface="Symbol" panose="05050102010706020507" pitchFamily="18" charset="2"/>
              </a:rPr>
              <a:t>x</a:t>
            </a:r>
            <a:r>
              <a:rPr lang="en-US" altLang="zh-CN" sz="2800">
                <a:solidFill>
                  <a:schemeClr val="tx2"/>
                </a:solidFill>
                <a:sym typeface="Symbol" panose="05050102010706020507" pitchFamily="18" charset="2"/>
              </a:rPr>
              <a:t>A(x)</a:t>
            </a:r>
            <a:endParaRPr lang="en-US" altLang="zh-CN"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说明:   </a:t>
            </a:r>
            <a:r>
              <a:rPr lang="en-US" altLang="zh-CN" sz="2800">
                <a:solidFill>
                  <a:schemeClr val="tx2"/>
                </a:solidFill>
                <a:sym typeface="Symbol" panose="05050102010706020507" pitchFamily="18" charset="2"/>
              </a:rPr>
              <a:t>B</a:t>
            </a:r>
            <a:r>
              <a:rPr lang="zh-CN" altLang="en-US" sz="2800">
                <a:solidFill>
                  <a:schemeClr val="tx2"/>
                </a:solidFill>
                <a:sym typeface="Symbol" panose="05050102010706020507" pitchFamily="18" charset="2"/>
              </a:rPr>
              <a:t>中不含</a:t>
            </a:r>
            <a:r>
              <a:rPr lang="en-US" altLang="zh-CN" sz="2800">
                <a:solidFill>
                  <a:schemeClr val="tx2"/>
                </a:solidFill>
                <a:sym typeface="Symbol" panose="05050102010706020507" pitchFamily="18" charset="2"/>
              </a:rPr>
              <a:t>x</a:t>
            </a:r>
            <a:r>
              <a:rPr lang="zh-CN" altLang="en-US" sz="2800">
                <a:solidFill>
                  <a:schemeClr val="tx2"/>
                </a:solidFill>
                <a:sym typeface="Symbol" panose="05050102010706020507" pitchFamily="18" charset="2"/>
              </a:rPr>
              <a:t>的出现</a:t>
            </a:r>
            <a:endParaRPr lang="zh-CN" altLang="en-US"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例1:  </a:t>
            </a:r>
            <a:r>
              <a:rPr lang="en-US" altLang="zh-CN" sz="2800">
                <a:solidFill>
                  <a:schemeClr val="tx2"/>
                </a:solidFill>
                <a:sym typeface="Symbol" panose="05050102010706020507" pitchFamily="18" charset="2"/>
              </a:rPr>
              <a:t>x(F(x)</a:t>
            </a:r>
            <a:r>
              <a:rPr lang="zh-CN" altLang="en-US" sz="2800">
                <a:solidFill>
                  <a:schemeClr val="tx2"/>
                </a:solidFill>
              </a:rPr>
              <a:t>∨</a:t>
            </a:r>
            <a:r>
              <a:rPr lang="en-US" altLang="zh-CN" sz="2800">
                <a:solidFill>
                  <a:schemeClr val="tx2"/>
                </a:solidFill>
              </a:rPr>
              <a:t>G(y)</a:t>
            </a:r>
            <a:r>
              <a:rPr lang="en-US" altLang="zh-CN" sz="2800">
                <a:solidFill>
                  <a:schemeClr val="tx2"/>
                </a:solidFill>
                <a:sym typeface="Symbol" panose="05050102010706020507" pitchFamily="18" charset="2"/>
              </a:rPr>
              <a:t>) </a:t>
            </a:r>
            <a:endParaRPr lang="en-US" altLang="zh-CN" sz="2800">
              <a:solidFill>
                <a:schemeClr val="tx2"/>
              </a:solidFill>
              <a:sym typeface="Symbol" panose="05050102010706020507" pitchFamily="18" charset="2"/>
            </a:endParaRPr>
          </a:p>
          <a:p>
            <a:pPr marL="0" indent="0" eaLnBrk="1" hangingPunct="1">
              <a:buNone/>
            </a:pPr>
            <a:r>
              <a:rPr lang="en-US" altLang="zh-CN" sz="2800">
                <a:solidFill>
                  <a:schemeClr val="tx2"/>
                </a:solidFill>
                <a:sym typeface="Symbol" panose="05050102010706020507" pitchFamily="18" charset="2"/>
              </a:rPr>
              <a:t>         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xF(x)</a:t>
            </a:r>
            <a:r>
              <a:rPr lang="zh-CN" altLang="en-US" sz="2800">
                <a:solidFill>
                  <a:schemeClr val="tx2"/>
                </a:solidFill>
              </a:rPr>
              <a:t>∨</a:t>
            </a:r>
            <a:r>
              <a:rPr lang="en-US" altLang="zh-CN" sz="2800">
                <a:solidFill>
                  <a:schemeClr val="tx2"/>
                </a:solidFill>
              </a:rPr>
              <a:t>G(y)</a:t>
            </a:r>
            <a:endParaRPr lang="en-US" altLang="zh-CN"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例2:  </a:t>
            </a:r>
            <a:r>
              <a:rPr lang="en-US" altLang="zh-CN" sz="2800">
                <a:solidFill>
                  <a:schemeClr val="tx2"/>
                </a:solidFill>
                <a:sym typeface="Symbol" panose="05050102010706020507" pitchFamily="18" charset="2"/>
              </a:rPr>
              <a:t>x</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y(F(x)</a:t>
            </a:r>
            <a:r>
              <a:rPr lang="zh-CN" altLang="en-US" sz="2800">
                <a:solidFill>
                  <a:schemeClr val="tx2"/>
                </a:solidFill>
              </a:rPr>
              <a:t>∧</a:t>
            </a:r>
            <a:r>
              <a:rPr lang="en-US" altLang="zh-CN" sz="2800">
                <a:solidFill>
                  <a:schemeClr val="tx2"/>
                </a:solidFill>
              </a:rPr>
              <a:t>G(y)</a:t>
            </a:r>
            <a:r>
              <a:rPr lang="en-US" altLang="zh-CN" sz="2800">
                <a:solidFill>
                  <a:schemeClr val="tx2"/>
                </a:solidFill>
                <a:sym typeface="Symbol" panose="05050102010706020507" pitchFamily="18" charset="2"/>
              </a:rPr>
              <a:t>) </a:t>
            </a:r>
            <a:endParaRPr lang="en-US" altLang="zh-CN" sz="2800">
              <a:solidFill>
                <a:schemeClr val="tx2"/>
              </a:solidFill>
              <a:sym typeface="Symbol" panose="05050102010706020507" pitchFamily="18" charset="2"/>
            </a:endParaRPr>
          </a:p>
          <a:p>
            <a:pPr marL="0" indent="0" eaLnBrk="1" hangingPunct="1">
              <a:buNone/>
            </a:pPr>
            <a:r>
              <a:rPr lang="en-US" altLang="zh-CN" sz="2800">
                <a:solidFill>
                  <a:schemeClr val="tx2"/>
                </a:solidFill>
                <a:sym typeface="Symbol" panose="05050102010706020507" pitchFamily="18" charset="2"/>
              </a:rPr>
              <a:t>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x(F(x)</a:t>
            </a:r>
            <a:r>
              <a:rPr lang="zh-CN" altLang="en-US" sz="2800">
                <a:solidFill>
                  <a:schemeClr val="tx2"/>
                </a:solidFill>
              </a:rPr>
              <a:t>∧</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y</a:t>
            </a:r>
            <a:r>
              <a:rPr lang="en-US" altLang="zh-CN" sz="2800">
                <a:solidFill>
                  <a:schemeClr val="tx2"/>
                </a:solidFill>
              </a:rPr>
              <a:t>G(y)) </a:t>
            </a:r>
            <a:endParaRPr lang="en-US" altLang="zh-CN" sz="2800">
              <a:solidFill>
                <a:schemeClr val="tx2"/>
              </a:solidFill>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xF(x)</a:t>
            </a:r>
            <a:r>
              <a:rPr lang="zh-CN" altLang="en-US" sz="2800">
                <a:solidFill>
                  <a:schemeClr val="tx2"/>
                </a:solidFill>
              </a:rPr>
              <a:t>∧</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y</a:t>
            </a:r>
            <a:r>
              <a:rPr lang="en-US" altLang="zh-CN" sz="2800">
                <a:solidFill>
                  <a:schemeClr val="tx2"/>
                </a:solidFill>
              </a:rPr>
              <a:t>G(y)</a:t>
            </a:r>
            <a:endParaRPr lang="en-US" altLang="zh-CN" sz="2800">
              <a:solidFill>
                <a:schemeClr val="tx2"/>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172E13B0-8F66-47FB-AA01-DB6298AA2787}"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144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D2F68F0-90A3-49E9-B274-FCBE6C7B719A}"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144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1445" name="Rectangle 2"/>
          <p:cNvSpPr>
            <a:spLocks noGrp="1" noChangeArrowheads="1"/>
          </p:cNvSpPr>
          <p:nvPr>
            <p:ph type="title"/>
          </p:nvPr>
        </p:nvSpPr>
        <p:spPr/>
        <p:txBody>
          <a:bodyPr/>
          <a:lstStyle/>
          <a:p>
            <a:pPr eaLnBrk="1" hangingPunct="1"/>
            <a:r>
              <a:rPr lang="zh-CN" altLang="en-US"/>
              <a:t>量词辖域收缩与扩张(</a:t>
            </a:r>
            <a:r>
              <a:rPr lang="zh-CN" altLang="en-US">
                <a:sym typeface="Symbol" panose="05050102010706020507" pitchFamily="18" charset="2"/>
              </a:rPr>
              <a:t>、续</a:t>
            </a:r>
            <a:r>
              <a:rPr lang="zh-CN" altLang="en-US"/>
              <a:t>)</a:t>
            </a:r>
            <a:endParaRPr lang="zh-CN" altLang="en-US"/>
          </a:p>
        </p:txBody>
      </p:sp>
      <p:sp>
        <p:nvSpPr>
          <p:cNvPr id="61446" name="Rectangle 3"/>
          <p:cNvSpPr>
            <a:spLocks noGrp="1" noChangeArrowheads="1"/>
          </p:cNvSpPr>
          <p:nvPr>
            <p:ph type="body" idx="1"/>
          </p:nvPr>
        </p:nvSpPr>
        <p:spPr/>
        <p:txBody>
          <a:bodyPr/>
          <a:lstStyle/>
          <a:p>
            <a:pPr eaLnBrk="1" hangingPunct="1"/>
            <a:r>
              <a:rPr lang="zh-CN" altLang="en-US" sz="2400" dirty="0">
                <a:solidFill>
                  <a:schemeClr val="tx2"/>
                </a:solidFill>
                <a:sym typeface="Symbol" panose="05050102010706020507" pitchFamily="18" charset="2"/>
              </a:rPr>
              <a:t> </a:t>
            </a:r>
            <a:r>
              <a:rPr lang="zh-CN" altLang="en-US" sz="2000" dirty="0">
                <a:solidFill>
                  <a:schemeClr val="tx2"/>
                </a:solidFill>
                <a:sym typeface="Symbol" panose="05050102010706020507" pitchFamily="18" charset="2"/>
              </a:rPr>
              <a:t> </a:t>
            </a:r>
            <a:r>
              <a:rPr lang="zh-CN" altLang="en-US" sz="2400" dirty="0">
                <a:solidFill>
                  <a:schemeClr val="tx2"/>
                </a:solidFill>
                <a:sym typeface="Symbol" panose="05050102010706020507" pitchFamily="18" charset="2"/>
              </a:rPr>
              <a:t></a:t>
            </a:r>
            <a:r>
              <a:rPr lang="en-US" altLang="zh-CN" sz="2400" dirty="0">
                <a:solidFill>
                  <a:schemeClr val="tx2"/>
                </a:solidFill>
                <a:sym typeface="Symbol" panose="05050102010706020507" pitchFamily="18" charset="2"/>
              </a:rPr>
              <a:t>x(A(x)</a:t>
            </a:r>
            <a:r>
              <a:rPr lang="zh-CN" altLang="en-US" sz="2400" dirty="0">
                <a:solidFill>
                  <a:schemeClr val="tx2"/>
                </a:solidFill>
              </a:rPr>
              <a:t>→</a:t>
            </a:r>
            <a:r>
              <a:rPr lang="en-US" altLang="zh-CN" sz="2400" dirty="0">
                <a:solidFill>
                  <a:schemeClr val="tx2"/>
                </a:solidFill>
                <a:sym typeface="Symbol" panose="05050102010706020507" pitchFamily="18" charset="2"/>
              </a:rPr>
              <a:t>B)  </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a:t>
            </a:r>
            <a:r>
              <a:rPr lang="en-US" altLang="zh-CN" sz="2400" dirty="0">
                <a:solidFill>
                  <a:schemeClr val="tx2"/>
                </a:solidFill>
                <a:sym typeface="Symbol" panose="05050102010706020507" pitchFamily="18" charset="2"/>
              </a:rPr>
              <a:t>(x)</a:t>
            </a:r>
            <a:r>
              <a:rPr lang="zh-CN" altLang="en-US" sz="2400" dirty="0">
                <a:solidFill>
                  <a:schemeClr val="tx2"/>
                </a:solidFill>
              </a:rPr>
              <a:t>→</a:t>
            </a:r>
            <a:r>
              <a:rPr lang="en-US" altLang="zh-CN" sz="2400" dirty="0">
                <a:solidFill>
                  <a:schemeClr val="tx2"/>
                </a:solidFill>
                <a:sym typeface="Symbol" panose="05050102010706020507" pitchFamily="18" charset="2"/>
              </a:rPr>
              <a:t>B</a:t>
            </a:r>
            <a:endParaRPr lang="en-US" altLang="zh-CN" sz="2400" dirty="0">
              <a:solidFill>
                <a:schemeClr val="tx2"/>
              </a:solidFill>
              <a:sym typeface="Symbol" panose="05050102010706020507" pitchFamily="18" charset="2"/>
            </a:endParaRPr>
          </a:p>
          <a:p>
            <a:pPr eaLnBrk="1" hangingPunct="1">
              <a:buFont typeface="Wingdings" panose="05000000000000000000" pitchFamily="2" charset="2"/>
              <a:buNone/>
            </a:pPr>
            <a:r>
              <a:rPr lang="zh-CN" altLang="en-US" sz="2400" dirty="0">
                <a:solidFill>
                  <a:schemeClr val="tx2"/>
                </a:solidFill>
                <a:sym typeface="Symbol" panose="05050102010706020507" pitchFamily="18" charset="2"/>
              </a:rPr>
              <a:t>     证明:   </a:t>
            </a:r>
            <a:r>
              <a:rPr lang="en-US" altLang="zh-CN" sz="2400" dirty="0">
                <a:solidFill>
                  <a:schemeClr val="tx2"/>
                </a:solidFill>
                <a:sym typeface="Symbol" panose="05050102010706020507" pitchFamily="18" charset="2"/>
              </a:rPr>
              <a:t>x(A(x)</a:t>
            </a:r>
            <a:r>
              <a:rPr lang="zh-CN" altLang="en-US" sz="2400" dirty="0">
                <a:solidFill>
                  <a:schemeClr val="tx2"/>
                </a:solidFill>
              </a:rPr>
              <a:t>→</a:t>
            </a:r>
            <a:r>
              <a:rPr lang="en-US" altLang="zh-CN" sz="2400" dirty="0">
                <a:solidFill>
                  <a:schemeClr val="tx2"/>
                </a:solidFill>
                <a:sym typeface="Symbol" panose="05050102010706020507" pitchFamily="18" charset="2"/>
              </a:rPr>
              <a:t>B)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zh-CN" altLang="en-US" sz="2400" dirty="0">
                <a:solidFill>
                  <a:schemeClr val="tx2"/>
                </a:solidFill>
                <a:sym typeface="Symbol" panose="05050102010706020507" pitchFamily="18" charset="2"/>
              </a:rPr>
              <a:t></a:t>
            </a:r>
            <a:r>
              <a:rPr lang="en-US" altLang="zh-CN" sz="2400" dirty="0">
                <a:solidFill>
                  <a:schemeClr val="tx2"/>
                </a:solidFill>
                <a:sym typeface="Symbol" panose="05050102010706020507" pitchFamily="18" charset="2"/>
              </a:rPr>
              <a:t>x(</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A(x)</a:t>
            </a:r>
            <a:r>
              <a:rPr lang="zh-CN" altLang="en-US" sz="2400" dirty="0">
                <a:solidFill>
                  <a:schemeClr val="tx2"/>
                </a:solidFill>
              </a:rPr>
              <a:t>∨</a:t>
            </a:r>
            <a:r>
              <a:rPr lang="en-US" altLang="zh-CN" sz="2400" dirty="0">
                <a:solidFill>
                  <a:schemeClr val="tx2"/>
                </a:solidFill>
                <a:sym typeface="Symbol" panose="05050102010706020507" pitchFamily="18" charset="2"/>
              </a:rPr>
              <a:t>B)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a:t>
            </a:r>
            <a:r>
              <a:rPr lang="zh-CN" altLang="en-US" sz="2400" dirty="0">
                <a:solidFill>
                  <a:schemeClr val="tx2"/>
                </a:solidFill>
                <a:sym typeface="Symbol" panose="05050102010706020507" pitchFamily="18" charset="2"/>
              </a:rPr>
              <a:t> </a:t>
            </a:r>
            <a:r>
              <a:rPr lang="en-US" altLang="zh-CN" sz="2400" dirty="0">
                <a:solidFill>
                  <a:schemeClr val="tx2"/>
                </a:solidFill>
                <a:sym typeface="Symbol" panose="05050102010706020507" pitchFamily="18" charset="2"/>
              </a:rPr>
              <a:t>x</a:t>
            </a:r>
            <a:r>
              <a:rPr lang="en-US" altLang="zh-CN" sz="2400" dirty="0">
                <a:solidFill>
                  <a:schemeClr val="tx2"/>
                </a:solidFill>
                <a:latin typeface="Times New Roman" panose="02020503050405090304" pitchFamily="18" charset="0"/>
                <a:sym typeface="Symbol" panose="05050102010706020507" pitchFamily="18" charset="2"/>
              </a:rPr>
              <a:t>  </a:t>
            </a:r>
            <a:r>
              <a:rPr lang="en-US" altLang="zh-CN" sz="2400" dirty="0">
                <a:solidFill>
                  <a:schemeClr val="tx2"/>
                </a:solidFill>
                <a:sym typeface="Symbol" panose="05050102010706020507" pitchFamily="18" charset="2"/>
              </a:rPr>
              <a:t>A(x)</a:t>
            </a:r>
            <a:r>
              <a:rPr lang="zh-CN" altLang="en-US" sz="2400" dirty="0">
                <a:solidFill>
                  <a:schemeClr val="tx2"/>
                </a:solidFill>
              </a:rPr>
              <a:t>∨</a:t>
            </a:r>
            <a:r>
              <a:rPr lang="en-US" altLang="zh-CN" sz="2400" dirty="0">
                <a:solidFill>
                  <a:schemeClr val="tx2"/>
                </a:solidFill>
                <a:sym typeface="Symbol" panose="05050102010706020507" pitchFamily="18" charset="2"/>
              </a:rPr>
              <a:t>B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a:t>
            </a:r>
            <a:r>
              <a:rPr lang="en-US" altLang="zh-CN" sz="2400" dirty="0">
                <a:solidFill>
                  <a:schemeClr val="tx2"/>
                </a:solidFill>
                <a:sym typeface="Symbol" panose="05050102010706020507" pitchFamily="18" charset="2"/>
              </a:rPr>
              <a:t>(x)</a:t>
            </a:r>
            <a:r>
              <a:rPr lang="zh-CN" altLang="en-US" sz="2400" dirty="0">
                <a:solidFill>
                  <a:schemeClr val="tx2"/>
                </a:solidFill>
              </a:rPr>
              <a:t>∨</a:t>
            </a:r>
            <a:r>
              <a:rPr lang="en-US" altLang="zh-CN" sz="2400" dirty="0">
                <a:solidFill>
                  <a:schemeClr val="tx2"/>
                </a:solidFill>
                <a:sym typeface="Symbol" panose="05050102010706020507" pitchFamily="18" charset="2"/>
              </a:rPr>
              <a:t>B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a:t>
            </a:r>
            <a:r>
              <a:rPr lang="en-US" altLang="zh-CN" sz="2400" dirty="0">
                <a:solidFill>
                  <a:schemeClr val="tx2"/>
                </a:solidFill>
                <a:sym typeface="Symbol" panose="05050102010706020507" pitchFamily="18" charset="2"/>
              </a:rPr>
              <a:t>(x)</a:t>
            </a:r>
            <a:r>
              <a:rPr lang="zh-CN" altLang="en-US" sz="2400" dirty="0">
                <a:solidFill>
                  <a:schemeClr val="tx2"/>
                </a:solidFill>
              </a:rPr>
              <a:t>→</a:t>
            </a:r>
            <a:r>
              <a:rPr lang="en-US" altLang="zh-CN" sz="2400" dirty="0">
                <a:solidFill>
                  <a:schemeClr val="tx2"/>
                </a:solidFill>
                <a:sym typeface="Symbol" panose="05050102010706020507" pitchFamily="18" charset="2"/>
              </a:rPr>
              <a:t>B</a:t>
            </a:r>
            <a:endParaRPr lang="zh-CN" altLang="en-US" sz="2400" dirty="0">
              <a:solidFill>
                <a:schemeClr val="tx2"/>
              </a:solidFill>
              <a:sym typeface="Symbol" panose="05050102010706020507" pitchFamily="18" charset="2"/>
            </a:endParaRPr>
          </a:p>
          <a:p>
            <a:pPr eaLnBrk="1" hangingPunct="1"/>
            <a:r>
              <a:rPr lang="zh-CN" altLang="en-US" sz="2400" dirty="0">
                <a:solidFill>
                  <a:schemeClr val="tx2"/>
                </a:solidFill>
                <a:sym typeface="Symbol" panose="05050102010706020507" pitchFamily="18" charset="2"/>
              </a:rPr>
              <a:t> </a:t>
            </a:r>
            <a:r>
              <a:rPr lang="en-US" altLang="zh-CN" sz="2400" dirty="0">
                <a:solidFill>
                  <a:schemeClr val="tx2"/>
                </a:solidFill>
                <a:sym typeface="Symbol" panose="05050102010706020507" pitchFamily="18" charset="2"/>
              </a:rPr>
              <a:t>x(B</a:t>
            </a:r>
            <a:r>
              <a:rPr lang="zh-CN" altLang="en-US" sz="2400" dirty="0">
                <a:solidFill>
                  <a:schemeClr val="tx2"/>
                </a:solidFill>
              </a:rPr>
              <a:t>→</a:t>
            </a:r>
            <a:r>
              <a:rPr lang="en-US" altLang="zh-CN" sz="2400" dirty="0">
                <a:solidFill>
                  <a:schemeClr val="tx2"/>
                </a:solidFill>
                <a:sym typeface="Symbol" panose="05050102010706020507" pitchFamily="18" charset="2"/>
              </a:rPr>
              <a:t>A(x))  B</a:t>
            </a:r>
            <a:r>
              <a:rPr lang="zh-CN" altLang="en-US" sz="2400" dirty="0">
                <a:solidFill>
                  <a:schemeClr val="tx2"/>
                </a:solidFill>
              </a:rPr>
              <a:t>→</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a:t>
            </a:r>
            <a:r>
              <a:rPr lang="en-US" altLang="zh-CN" sz="2400" dirty="0">
                <a:solidFill>
                  <a:schemeClr val="tx2"/>
                </a:solidFill>
                <a:sym typeface="Symbol" panose="05050102010706020507" pitchFamily="18" charset="2"/>
              </a:rPr>
              <a:t>(x)</a:t>
            </a:r>
            <a:r>
              <a:rPr lang="zh-CN" altLang="en-US" sz="2400" dirty="0">
                <a:solidFill>
                  <a:schemeClr val="tx2"/>
                </a:solidFill>
                <a:sym typeface="Symbol" panose="05050102010706020507" pitchFamily="18" charset="2"/>
              </a:rPr>
              <a:t> </a:t>
            </a:r>
            <a:endParaRPr lang="zh-CN" altLang="en-US" sz="2400" dirty="0">
              <a:solidFill>
                <a:schemeClr val="tx2"/>
              </a:solidFill>
              <a:sym typeface="Symbol" panose="05050102010706020507" pitchFamily="18" charset="2"/>
            </a:endParaRPr>
          </a:p>
          <a:p>
            <a:pPr eaLnBrk="1" hangingPunct="1">
              <a:buFont typeface="Wingdings" panose="05000000000000000000" pitchFamily="2" charset="2"/>
              <a:buNone/>
            </a:pPr>
            <a:r>
              <a:rPr lang="zh-CN" altLang="en-US" sz="2400" dirty="0">
                <a:solidFill>
                  <a:schemeClr val="tx2"/>
                </a:solidFill>
                <a:sym typeface="Symbol" panose="05050102010706020507" pitchFamily="18" charset="2"/>
              </a:rPr>
              <a:t>    证明:   </a:t>
            </a:r>
            <a:r>
              <a:rPr lang="en-US" altLang="zh-CN" sz="2400" dirty="0">
                <a:solidFill>
                  <a:schemeClr val="tx2"/>
                </a:solidFill>
                <a:sym typeface="Symbol" panose="05050102010706020507" pitchFamily="18" charset="2"/>
              </a:rPr>
              <a:t>x(B</a:t>
            </a:r>
            <a:r>
              <a:rPr lang="zh-CN" altLang="en-US" sz="2400" dirty="0">
                <a:solidFill>
                  <a:schemeClr val="tx2"/>
                </a:solidFill>
              </a:rPr>
              <a:t>→</a:t>
            </a:r>
            <a:r>
              <a:rPr lang="en-US" altLang="zh-CN" sz="2400" dirty="0">
                <a:solidFill>
                  <a:schemeClr val="tx2"/>
                </a:solidFill>
                <a:sym typeface="Symbol" panose="05050102010706020507" pitchFamily="18" charset="2"/>
              </a:rPr>
              <a:t>A(x))</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zh-CN" altLang="en-US" sz="2400" dirty="0">
                <a:solidFill>
                  <a:schemeClr val="tx2"/>
                </a:solidFill>
                <a:sym typeface="Symbol" panose="05050102010706020507" pitchFamily="18" charset="2"/>
              </a:rPr>
              <a:t></a:t>
            </a:r>
            <a:r>
              <a:rPr lang="en-US" altLang="zh-CN" sz="2400" dirty="0">
                <a:solidFill>
                  <a:schemeClr val="tx2"/>
                </a:solidFill>
                <a:sym typeface="Symbol" panose="05050102010706020507" pitchFamily="18" charset="2"/>
              </a:rPr>
              <a:t>x(</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B</a:t>
            </a:r>
            <a:r>
              <a:rPr lang="zh-CN" altLang="en-US" sz="2400" dirty="0">
                <a:solidFill>
                  <a:schemeClr val="tx2"/>
                </a:solidFill>
              </a:rPr>
              <a:t>∨</a:t>
            </a:r>
            <a:r>
              <a:rPr lang="en-US" altLang="zh-CN" sz="2400" dirty="0">
                <a:solidFill>
                  <a:schemeClr val="tx2"/>
                </a:solidFill>
              </a:rPr>
              <a:t>A(x)</a:t>
            </a:r>
            <a:r>
              <a:rPr lang="en-US" altLang="zh-CN" sz="2400" dirty="0">
                <a:solidFill>
                  <a:schemeClr val="tx2"/>
                </a:solidFill>
                <a:sym typeface="Symbol" panose="05050102010706020507" pitchFamily="18" charset="2"/>
              </a:rPr>
              <a:t>)</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a:t>
            </a:r>
            <a:r>
              <a:rPr lang="zh-CN" altLang="en-US" sz="2400" dirty="0">
                <a:solidFill>
                  <a:schemeClr val="tx2"/>
                </a:solidFill>
                <a:sym typeface="Symbol" panose="05050102010706020507" pitchFamily="18" charset="2"/>
              </a:rPr>
              <a:t> </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B</a:t>
            </a:r>
            <a:r>
              <a:rPr lang="zh-CN" altLang="en-US" sz="2400" dirty="0">
                <a:solidFill>
                  <a:schemeClr val="tx2"/>
                </a:solidFill>
              </a:rPr>
              <a:t>∨</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t>
            </a:r>
            <a:r>
              <a:rPr lang="en-US" altLang="zh-CN" sz="2400" dirty="0" err="1">
                <a:solidFill>
                  <a:schemeClr val="tx2"/>
                </a:solidFill>
              </a:rPr>
              <a:t>A</a:t>
            </a:r>
            <a:r>
              <a:rPr lang="en-US" altLang="zh-CN" sz="2400" dirty="0">
                <a:solidFill>
                  <a:schemeClr val="tx2"/>
                </a:solidFill>
              </a:rPr>
              <a:t>(x)</a:t>
            </a:r>
            <a:r>
              <a:rPr lang="en-US" altLang="zh-CN" sz="2400" dirty="0">
                <a:solidFill>
                  <a:schemeClr val="tx2"/>
                </a:solidFill>
                <a:sym typeface="Symbol" panose="05050102010706020507" pitchFamily="18" charset="2"/>
              </a:rPr>
              <a:t>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B</a:t>
            </a:r>
            <a:r>
              <a:rPr lang="zh-CN" altLang="en-US" sz="2400" dirty="0">
                <a:solidFill>
                  <a:schemeClr val="tx2"/>
                </a:solidFill>
              </a:rPr>
              <a:t>∨</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t>
            </a:r>
            <a:r>
              <a:rPr lang="en-US" altLang="zh-CN" sz="2400" dirty="0" err="1">
                <a:solidFill>
                  <a:schemeClr val="tx2"/>
                </a:solidFill>
              </a:rPr>
              <a:t>A</a:t>
            </a:r>
            <a:r>
              <a:rPr lang="en-US" altLang="zh-CN" sz="2400" dirty="0">
                <a:solidFill>
                  <a:schemeClr val="tx2"/>
                </a:solidFill>
              </a:rPr>
              <a:t>(x)</a:t>
            </a:r>
            <a:endParaRPr lang="en-US" altLang="zh-CN" sz="2400" dirty="0">
              <a:solidFill>
                <a:schemeClr val="tx2"/>
              </a:solidFill>
            </a:endParaRPr>
          </a:p>
          <a:p>
            <a:pPr eaLnBrk="1" hangingPunct="1">
              <a:buNone/>
            </a:pPr>
            <a:r>
              <a:rPr lang="en-US" altLang="zh-CN" sz="2400" dirty="0">
                <a:solidFill>
                  <a:schemeClr val="tx2"/>
                </a:solidFill>
              </a:rPr>
              <a:t>           </a:t>
            </a:r>
            <a:r>
              <a:rPr lang="en-US" altLang="zh-CN" sz="2400" dirty="0">
                <a:solidFill>
                  <a:schemeClr val="tx2"/>
                </a:solidFill>
                <a:sym typeface="Symbol" panose="05050102010706020507" pitchFamily="18" charset="2"/>
              </a:rPr>
              <a:t> B</a:t>
            </a:r>
            <a:r>
              <a:rPr lang="zh-CN" altLang="en-US" sz="2400" dirty="0">
                <a:solidFill>
                  <a:schemeClr val="tx2"/>
                </a:solidFill>
              </a:rPr>
              <a:t>→</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a:t>
            </a:r>
            <a:r>
              <a:rPr lang="en-US" altLang="zh-CN" sz="2400" dirty="0">
                <a:solidFill>
                  <a:schemeClr val="tx2"/>
                </a:solidFill>
                <a:sym typeface="Symbol" panose="05050102010706020507" pitchFamily="18" charset="2"/>
              </a:rPr>
              <a:t>(x)</a:t>
            </a:r>
            <a:endParaRPr lang="en-US" altLang="zh-CN" sz="2400" dirty="0">
              <a:solidFill>
                <a:schemeClr val="tx2"/>
              </a:solidFill>
              <a:sym typeface="Symbol" panose="05050102010706020507" pitchFamily="18" charset="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D8811C1-1FAF-4BE3-9C29-540FE2D22FC1}"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246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AE4DEA7-F923-4FAA-88B9-94914EF9BD76}"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246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2469" name="Rectangle 2"/>
          <p:cNvSpPr>
            <a:spLocks noGrp="1" noChangeArrowheads="1"/>
          </p:cNvSpPr>
          <p:nvPr>
            <p:ph type="title"/>
          </p:nvPr>
        </p:nvSpPr>
        <p:spPr/>
        <p:txBody>
          <a:bodyPr/>
          <a:lstStyle/>
          <a:p>
            <a:pPr eaLnBrk="1" hangingPunct="1"/>
            <a:r>
              <a:rPr lang="zh-CN" altLang="en-US"/>
              <a:t>量词辖域收缩与扩张(</a:t>
            </a:r>
            <a:r>
              <a:rPr lang="zh-CN" altLang="en-US">
                <a:sym typeface="Symbol" panose="05050102010706020507" pitchFamily="18" charset="2"/>
              </a:rPr>
              <a:t></a:t>
            </a:r>
            <a:r>
              <a:rPr lang="en-US" altLang="zh-CN"/>
              <a:t>)</a:t>
            </a:r>
            <a:endParaRPr lang="en-US" altLang="zh-CN"/>
          </a:p>
        </p:txBody>
      </p:sp>
      <p:sp>
        <p:nvSpPr>
          <p:cNvPr id="62470" name="Rectangle 3"/>
          <p:cNvSpPr>
            <a:spLocks noGrp="1" noChangeArrowheads="1"/>
          </p:cNvSpPr>
          <p:nvPr>
            <p:ph type="body" idx="1"/>
          </p:nvPr>
        </p:nvSpPr>
        <p:spPr/>
        <p:txBody>
          <a:bodyPr/>
          <a:lstStyle/>
          <a:p>
            <a:pPr eaLnBrk="1" hangingPunct="1"/>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en-US" altLang="zh-CN">
                <a:solidFill>
                  <a:schemeClr val="tx2"/>
                </a:solidFill>
                <a:sym typeface="Symbol" panose="05050102010706020507" pitchFamily="18" charset="2"/>
              </a:rPr>
              <a:t>B) 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en-US" altLang="zh-CN">
                <a:solidFill>
                  <a:schemeClr val="tx2"/>
                </a:solidFill>
                <a:sym typeface="Symbol" panose="05050102010706020507" pitchFamily="18" charset="2"/>
              </a:rPr>
              <a:t>B</a:t>
            </a:r>
            <a:endParaRPr lang="en-US" altLang="zh-CN">
              <a:solidFill>
                <a:schemeClr val="tx2"/>
              </a:solidFill>
              <a:sym typeface="Symbol" panose="05050102010706020507" pitchFamily="18" charset="2"/>
            </a:endParaRPr>
          </a:p>
          <a:p>
            <a:pPr eaLnBrk="1" hangingPunct="1"/>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en-US" altLang="zh-CN">
                <a:solidFill>
                  <a:schemeClr val="tx2"/>
                </a:solidFill>
                <a:sym typeface="Symbol" panose="05050102010706020507" pitchFamily="18" charset="2"/>
              </a:rPr>
              <a:t>B) 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en-US" altLang="zh-CN">
                <a:solidFill>
                  <a:schemeClr val="tx2"/>
                </a:solidFill>
                <a:sym typeface="Symbol" panose="05050102010706020507" pitchFamily="18" charset="2"/>
              </a:rPr>
              <a:t>B</a:t>
            </a:r>
            <a:endParaRPr lang="en-US" altLang="zh-CN">
              <a:solidFill>
                <a:schemeClr val="tx2"/>
              </a:solidFill>
              <a:sym typeface="Symbol" panose="05050102010706020507" pitchFamily="18" charset="2"/>
            </a:endParaRPr>
          </a:p>
          <a:p>
            <a:pPr eaLnBrk="1" hangingPunct="1"/>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en-US" altLang="zh-CN">
                <a:solidFill>
                  <a:schemeClr val="tx2"/>
                </a:solidFill>
                <a:sym typeface="Symbol" panose="05050102010706020507" pitchFamily="18" charset="2"/>
              </a:rPr>
              <a:t>B)  </a:t>
            </a:r>
            <a:r>
              <a:rPr lang="zh-CN" altLang="en-US">
                <a:solidFill>
                  <a:srgbClr val="FF0000"/>
                </a:solidFill>
                <a:sym typeface="Symbol" panose="05050102010706020507" pitchFamily="18" charset="2"/>
              </a:rPr>
              <a:t></a:t>
            </a:r>
            <a:r>
              <a:rPr lang="en-US" altLang="zh-CN">
                <a:solidFill>
                  <a:srgbClr val="FF0000"/>
                </a:solidFill>
                <a:sym typeface="Symbol" panose="05050102010706020507" pitchFamily="18" charset="2"/>
              </a:rPr>
              <a:t>x</a:t>
            </a:r>
            <a:r>
              <a:rPr lang="en-US" altLang="zh-CN">
                <a:solidFill>
                  <a:schemeClr val="tx2"/>
                </a:solidFill>
                <a:sym typeface="Symbol" panose="05050102010706020507" pitchFamily="18" charset="2"/>
              </a:rPr>
              <a:t>A(x)</a:t>
            </a:r>
            <a:r>
              <a:rPr lang="zh-CN" altLang="en-US">
                <a:solidFill>
                  <a:schemeClr val="tx2"/>
                </a:solidFill>
              </a:rPr>
              <a:t>→</a:t>
            </a:r>
            <a:r>
              <a:rPr lang="en-US" altLang="zh-CN">
                <a:solidFill>
                  <a:schemeClr val="tx2"/>
                </a:solidFill>
                <a:sym typeface="Symbol" panose="05050102010706020507" pitchFamily="18" charset="2"/>
              </a:rPr>
              <a:t>B</a:t>
            </a:r>
            <a:endParaRPr lang="en-US" altLang="zh-CN">
              <a:solidFill>
                <a:schemeClr val="tx2"/>
              </a:solidFill>
              <a:sym typeface="Symbol" panose="05050102010706020507" pitchFamily="18" charset="2"/>
            </a:endParaRPr>
          </a:p>
          <a:p>
            <a:pPr eaLnBrk="1" hangingPunct="1"/>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x(B</a:t>
            </a:r>
            <a:r>
              <a:rPr lang="zh-CN" altLang="en-US">
                <a:solidFill>
                  <a:schemeClr val="tx2"/>
                </a:solidFill>
              </a:rPr>
              <a:t>→</a:t>
            </a:r>
            <a:r>
              <a:rPr lang="en-US" altLang="zh-CN">
                <a:solidFill>
                  <a:schemeClr val="tx2"/>
                </a:solidFill>
                <a:sym typeface="Symbol" panose="05050102010706020507" pitchFamily="18" charset="2"/>
              </a:rPr>
              <a:t>A(x))  B</a:t>
            </a:r>
            <a:r>
              <a:rPr lang="zh-CN" altLang="en-US">
                <a:solidFill>
                  <a:schemeClr val="tx2"/>
                </a:solidFill>
              </a:rPr>
              <a:t>→</a:t>
            </a:r>
            <a:r>
              <a:rPr lang="zh-CN" altLang="en-US">
                <a:solidFill>
                  <a:srgbClr val="FF0000"/>
                </a:solidFill>
                <a:sym typeface="Symbol" panose="05050102010706020507" pitchFamily="18" charset="2"/>
              </a:rPr>
              <a:t></a:t>
            </a:r>
            <a:r>
              <a:rPr lang="en-US" altLang="zh-CN">
                <a:solidFill>
                  <a:srgbClr val="FF0000"/>
                </a:solidFill>
                <a:sym typeface="Symbol" panose="05050102010706020507" pitchFamily="18" charset="2"/>
              </a:rPr>
              <a:t>x</a:t>
            </a:r>
            <a:r>
              <a:rPr lang="en-US" altLang="zh-CN">
                <a:solidFill>
                  <a:schemeClr val="tx2"/>
                </a:solidFill>
                <a:sym typeface="Symbol" panose="05050102010706020507" pitchFamily="18" charset="2"/>
              </a:rPr>
              <a:t>A(x)</a:t>
            </a:r>
            <a:endParaRPr lang="en-US" altLang="zh-CN">
              <a:solidFill>
                <a:schemeClr val="tx2"/>
              </a:solidFill>
              <a:sym typeface="Symbol" panose="05050102010706020507" pitchFamily="18" charset="2"/>
            </a:endParaRPr>
          </a:p>
          <a:p>
            <a:pPr eaLnBrk="1" hangingPunct="1"/>
            <a:r>
              <a:rPr lang="zh-CN" altLang="en-US">
                <a:solidFill>
                  <a:schemeClr val="tx2"/>
                </a:solidFill>
                <a:sym typeface="Symbol" panose="05050102010706020507" pitchFamily="18" charset="2"/>
              </a:rPr>
              <a:t>说明:   </a:t>
            </a:r>
            <a:r>
              <a:rPr lang="en-US" altLang="zh-CN">
                <a:solidFill>
                  <a:schemeClr val="tx2"/>
                </a:solidFill>
                <a:sym typeface="Symbol" panose="05050102010706020507" pitchFamily="18" charset="2"/>
              </a:rPr>
              <a:t>B</a:t>
            </a:r>
            <a:r>
              <a:rPr lang="zh-CN" altLang="en-US">
                <a:solidFill>
                  <a:schemeClr val="tx2"/>
                </a:solidFill>
                <a:sym typeface="Symbol" panose="05050102010706020507" pitchFamily="18" charset="2"/>
              </a:rPr>
              <a:t>中不含</a:t>
            </a:r>
            <a:r>
              <a:rPr lang="en-US" altLang="zh-CN">
                <a:solidFill>
                  <a:schemeClr val="tx2"/>
                </a:solidFill>
                <a:sym typeface="Symbol" panose="05050102010706020507" pitchFamily="18" charset="2"/>
              </a:rPr>
              <a:t>x</a:t>
            </a:r>
            <a:r>
              <a:rPr lang="zh-CN" altLang="en-US">
                <a:solidFill>
                  <a:schemeClr val="tx2"/>
                </a:solidFill>
                <a:sym typeface="Symbol" panose="05050102010706020507" pitchFamily="18" charset="2"/>
              </a:rPr>
              <a:t>的出现</a:t>
            </a:r>
            <a:endParaRPr lang="zh-CN" altLang="en-US">
              <a:solidFill>
                <a:schemeClr val="tx2"/>
              </a:solidFill>
              <a:sym typeface="Symbol" panose="05050102010706020507" pitchFamily="18" charset="2"/>
            </a:endParaRPr>
          </a:p>
          <a:p>
            <a:pPr eaLnBrk="1" hangingPunct="1"/>
            <a:r>
              <a:rPr lang="zh-CN" altLang="en-US">
                <a:solidFill>
                  <a:schemeClr val="tx2"/>
                </a:solidFill>
                <a:sym typeface="Symbol" panose="05050102010706020507" pitchFamily="18" charset="2"/>
              </a:rPr>
              <a:t>例1: </a:t>
            </a:r>
            <a:r>
              <a:rPr lang="en-US" altLang="zh-CN">
                <a:solidFill>
                  <a:schemeClr val="tx2"/>
                </a:solidFill>
                <a:sym typeface="Symbol" panose="05050102010706020507" pitchFamily="18" charset="2"/>
              </a:rPr>
              <a:t>x(F(x)</a:t>
            </a:r>
            <a:r>
              <a:rPr lang="zh-CN" altLang="en-US">
                <a:solidFill>
                  <a:schemeClr val="tx2"/>
                </a:solidFill>
              </a:rPr>
              <a:t>∨</a:t>
            </a:r>
            <a:r>
              <a:rPr lang="en-US" altLang="zh-CN">
                <a:solidFill>
                  <a:schemeClr val="tx2"/>
                </a:solidFill>
              </a:rPr>
              <a:t>G(y)</a:t>
            </a:r>
            <a:r>
              <a:rPr lang="en-US" altLang="zh-CN">
                <a:solidFill>
                  <a:schemeClr val="tx2"/>
                </a:solidFill>
                <a:sym typeface="Symbol" panose="05050102010706020507" pitchFamily="18" charset="2"/>
              </a:rPr>
              <a:t>) 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a:t>
            </a:r>
            <a:r>
              <a:rPr lang="zh-CN" altLang="en-US">
                <a:solidFill>
                  <a:schemeClr val="tx2"/>
                </a:solidFill>
              </a:rPr>
              <a:t>∨</a:t>
            </a:r>
            <a:r>
              <a:rPr lang="en-US" altLang="zh-CN">
                <a:solidFill>
                  <a:schemeClr val="tx2"/>
                </a:solidFill>
              </a:rPr>
              <a:t>G(y)</a:t>
            </a:r>
            <a:endParaRPr lang="en-US" altLang="zh-CN">
              <a:solidFill>
                <a:schemeClr val="tx2"/>
              </a:solidFill>
              <a:sym typeface="Symbol" panose="05050102010706020507" pitchFamily="18" charset="2"/>
            </a:endParaRPr>
          </a:p>
          <a:p>
            <a:pPr eaLnBrk="1" hangingPunct="1"/>
            <a:r>
              <a:rPr lang="zh-CN" altLang="en-US">
                <a:solidFill>
                  <a:schemeClr val="tx2"/>
                </a:solidFill>
                <a:sym typeface="Symbol" panose="05050102010706020507" pitchFamily="18" charset="2"/>
              </a:rPr>
              <a:t>例2:  </a:t>
            </a:r>
            <a:r>
              <a:rPr lang="en-US" altLang="zh-CN">
                <a:solidFill>
                  <a:schemeClr val="tx2"/>
                </a:solidFill>
                <a:sym typeface="Symbol" panose="05050102010706020507" pitchFamily="18" charset="2"/>
              </a:rPr>
              <a:t>x</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y(F(x)</a:t>
            </a:r>
            <a:r>
              <a:rPr lang="zh-CN" altLang="en-US">
                <a:solidFill>
                  <a:schemeClr val="tx2"/>
                </a:solidFill>
              </a:rPr>
              <a:t>∧</a:t>
            </a:r>
            <a:r>
              <a:rPr lang="en-US" altLang="zh-CN">
                <a:solidFill>
                  <a:schemeClr val="tx2"/>
                </a:solidFill>
              </a:rPr>
              <a:t>G(y)</a:t>
            </a:r>
            <a:r>
              <a:rPr lang="en-US" altLang="zh-CN">
                <a:solidFill>
                  <a:schemeClr val="tx2"/>
                </a:solidFill>
                <a:sym typeface="Symbol" panose="05050102010706020507" pitchFamily="18" charset="2"/>
              </a:rPr>
              <a:t>)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a:t>
            </a:r>
            <a:r>
              <a:rPr lang="zh-CN" altLang="en-US">
                <a:solidFill>
                  <a:schemeClr val="tx2"/>
                </a:solidFill>
              </a:rPr>
              <a:t>∧</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y</a:t>
            </a:r>
            <a:r>
              <a:rPr lang="en-US" altLang="zh-CN">
                <a:solidFill>
                  <a:schemeClr val="tx2"/>
                </a:solidFill>
              </a:rPr>
              <a:t>G(y)) </a:t>
            </a:r>
            <a:endParaRPr lang="en-US" altLang="zh-CN">
              <a:solidFill>
                <a:schemeClr val="tx2"/>
              </a:solidFill>
            </a:endParaRPr>
          </a:p>
          <a:p>
            <a:pPr marL="0" indent="0" eaLnBrk="1" hangingPunct="1">
              <a:buNone/>
            </a:pPr>
            <a:r>
              <a:rPr lang="en-US" altLang="zh-CN">
                <a:solidFill>
                  <a:schemeClr val="tx2"/>
                </a:solidFill>
                <a:sym typeface="Symbol" panose="05050102010706020507" pitchFamily="18" charset="2"/>
              </a:rPr>
              <a:t>   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xF(x)</a:t>
            </a:r>
            <a:r>
              <a:rPr lang="zh-CN" altLang="en-US">
                <a:solidFill>
                  <a:schemeClr val="tx2"/>
                </a:solidFill>
              </a:rPr>
              <a:t>∧</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y</a:t>
            </a:r>
            <a:r>
              <a:rPr lang="en-US" altLang="zh-CN">
                <a:solidFill>
                  <a:schemeClr val="tx2"/>
                </a:solidFill>
              </a:rPr>
              <a:t>G(y)</a:t>
            </a:r>
            <a:endParaRPr lang="en-US" altLang="zh-CN">
              <a:solidFill>
                <a:schemeClr val="tx2"/>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A8E25721-60F7-4166-A767-F6D6C5E23A7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349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941205B-62CB-4933-B9D2-BDA685684098}"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349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3493" name="Rectangle 2"/>
          <p:cNvSpPr>
            <a:spLocks noGrp="1" noChangeArrowheads="1"/>
          </p:cNvSpPr>
          <p:nvPr>
            <p:ph type="title"/>
          </p:nvPr>
        </p:nvSpPr>
        <p:spPr/>
        <p:txBody>
          <a:bodyPr/>
          <a:lstStyle/>
          <a:p>
            <a:pPr eaLnBrk="1" hangingPunct="1"/>
            <a:r>
              <a:rPr lang="zh-CN" altLang="en-US"/>
              <a:t>量词辖域收缩与扩张(</a:t>
            </a:r>
            <a:r>
              <a:rPr lang="zh-CN" altLang="en-US">
                <a:sym typeface="Symbol" panose="05050102010706020507" pitchFamily="18" charset="2"/>
              </a:rPr>
              <a:t>、续</a:t>
            </a:r>
            <a:r>
              <a:rPr lang="zh-CN" altLang="en-US"/>
              <a:t>)</a:t>
            </a:r>
            <a:endParaRPr lang="zh-CN" altLang="en-US"/>
          </a:p>
        </p:txBody>
      </p:sp>
      <p:sp>
        <p:nvSpPr>
          <p:cNvPr id="63494" name="Rectangle 3"/>
          <p:cNvSpPr>
            <a:spLocks noGrp="1" noChangeArrowheads="1"/>
          </p:cNvSpPr>
          <p:nvPr>
            <p:ph type="body" idx="1"/>
          </p:nvPr>
        </p:nvSpPr>
        <p:spPr/>
        <p:txBody>
          <a:bodyPr/>
          <a:lstStyle/>
          <a:p>
            <a:pPr eaLnBrk="1" hangingPunct="1"/>
            <a:r>
              <a:rPr lang="zh-CN" altLang="en-US" sz="2400" dirty="0">
                <a:solidFill>
                  <a:schemeClr val="tx2"/>
                </a:solidFill>
                <a:sym typeface="Symbol" panose="05050102010706020507" pitchFamily="18" charset="2"/>
              </a:rPr>
              <a:t> </a:t>
            </a:r>
            <a:r>
              <a:rPr lang="zh-CN" altLang="en-US" sz="2400" dirty="0">
                <a:solidFill>
                  <a:srgbClr val="FF0000"/>
                </a:solidFill>
                <a:sym typeface="Symbol" panose="05050102010706020507" pitchFamily="18" charset="2"/>
              </a:rPr>
              <a:t></a:t>
            </a:r>
            <a:r>
              <a:rPr lang="en-US" altLang="zh-CN" sz="2400" dirty="0">
                <a:solidFill>
                  <a:srgbClr val="FF0000"/>
                </a:solidFill>
                <a:sym typeface="Symbol" panose="05050102010706020507" pitchFamily="18" charset="2"/>
              </a:rPr>
              <a:t>x</a:t>
            </a:r>
            <a:r>
              <a:rPr lang="en-US" altLang="zh-CN" sz="2400" dirty="0">
                <a:solidFill>
                  <a:schemeClr val="tx2"/>
                </a:solidFill>
                <a:sym typeface="Symbol" panose="05050102010706020507" pitchFamily="18" charset="2"/>
              </a:rPr>
              <a:t>(A(x)</a:t>
            </a:r>
            <a:r>
              <a:rPr lang="zh-CN" altLang="en-US" sz="2400" dirty="0">
                <a:solidFill>
                  <a:schemeClr val="tx2"/>
                </a:solidFill>
              </a:rPr>
              <a:t>→</a:t>
            </a:r>
            <a:r>
              <a:rPr lang="en-US" altLang="zh-CN" sz="2400" dirty="0">
                <a:solidFill>
                  <a:schemeClr val="tx2"/>
                </a:solidFill>
                <a:sym typeface="Symbol" panose="05050102010706020507" pitchFamily="18" charset="2"/>
              </a:rPr>
              <a:t>B)  </a:t>
            </a:r>
            <a:r>
              <a:rPr lang="zh-CN" altLang="en-US" sz="2400" dirty="0">
                <a:solidFill>
                  <a:srgbClr val="FF0000"/>
                </a:solidFill>
                <a:sym typeface="Symbol" panose="05050102010706020507" pitchFamily="18" charset="2"/>
              </a:rPr>
              <a:t></a:t>
            </a:r>
            <a:r>
              <a:rPr lang="en-US" altLang="zh-CN" sz="2400" dirty="0" err="1">
                <a:solidFill>
                  <a:srgbClr val="FF0000"/>
                </a:solidFill>
                <a:sym typeface="Symbol" panose="05050102010706020507" pitchFamily="18" charset="2"/>
              </a:rPr>
              <a:t>x</a:t>
            </a:r>
            <a:r>
              <a:rPr lang="en-US" altLang="zh-CN" sz="2400" dirty="0" err="1">
                <a:solidFill>
                  <a:schemeClr val="tx2"/>
                </a:solidFill>
                <a:sym typeface="Symbol" panose="05050102010706020507" pitchFamily="18" charset="2"/>
              </a:rPr>
              <a:t>A</a:t>
            </a:r>
            <a:r>
              <a:rPr lang="en-US" altLang="zh-CN" sz="2400" dirty="0">
                <a:solidFill>
                  <a:schemeClr val="tx2"/>
                </a:solidFill>
                <a:sym typeface="Symbol" panose="05050102010706020507" pitchFamily="18" charset="2"/>
              </a:rPr>
              <a:t>(x)</a:t>
            </a:r>
            <a:r>
              <a:rPr lang="zh-CN" altLang="en-US" sz="2400" dirty="0">
                <a:solidFill>
                  <a:schemeClr val="tx2"/>
                </a:solidFill>
              </a:rPr>
              <a:t>→</a:t>
            </a:r>
            <a:r>
              <a:rPr lang="en-US" altLang="zh-CN" sz="2400" dirty="0">
                <a:solidFill>
                  <a:schemeClr val="tx2"/>
                </a:solidFill>
                <a:sym typeface="Symbol" panose="05050102010706020507" pitchFamily="18" charset="2"/>
              </a:rPr>
              <a:t>B</a:t>
            </a:r>
            <a:endParaRPr lang="en-US" altLang="zh-CN" sz="2400" dirty="0">
              <a:solidFill>
                <a:schemeClr val="tx2"/>
              </a:solidFill>
              <a:sym typeface="Symbol" panose="05050102010706020507" pitchFamily="18" charset="2"/>
            </a:endParaRPr>
          </a:p>
          <a:p>
            <a:pPr eaLnBrk="1" hangingPunct="1">
              <a:buFont typeface="Wingdings" panose="05000000000000000000" pitchFamily="2" charset="2"/>
              <a:buNone/>
            </a:pPr>
            <a:r>
              <a:rPr lang="zh-CN" altLang="en-US" sz="2400" dirty="0">
                <a:solidFill>
                  <a:schemeClr val="tx2"/>
                </a:solidFill>
                <a:sym typeface="Symbol" panose="05050102010706020507" pitchFamily="18" charset="2"/>
              </a:rPr>
              <a:t>     证明:  </a:t>
            </a:r>
            <a:r>
              <a:rPr lang="en-US" altLang="zh-CN" sz="2400" dirty="0">
                <a:solidFill>
                  <a:schemeClr val="tx2"/>
                </a:solidFill>
                <a:sym typeface="Symbol" panose="05050102010706020507" pitchFamily="18" charset="2"/>
              </a:rPr>
              <a:t>x(A(x)</a:t>
            </a:r>
            <a:r>
              <a:rPr lang="zh-CN" altLang="en-US" sz="2400" dirty="0">
                <a:solidFill>
                  <a:schemeClr val="tx2"/>
                </a:solidFill>
              </a:rPr>
              <a:t>→</a:t>
            </a:r>
            <a:r>
              <a:rPr lang="en-US" altLang="zh-CN" sz="2400" dirty="0">
                <a:solidFill>
                  <a:schemeClr val="tx2"/>
                </a:solidFill>
                <a:sym typeface="Symbol" panose="05050102010706020507" pitchFamily="18" charset="2"/>
              </a:rPr>
              <a:t>B)</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zh-CN" altLang="en-US" sz="2400" dirty="0">
                <a:solidFill>
                  <a:schemeClr val="tx2"/>
                </a:solidFill>
                <a:sym typeface="Symbol" panose="05050102010706020507" pitchFamily="18" charset="2"/>
              </a:rPr>
              <a:t></a:t>
            </a:r>
            <a:r>
              <a:rPr lang="en-US" altLang="zh-CN" sz="2400" dirty="0">
                <a:solidFill>
                  <a:schemeClr val="tx2"/>
                </a:solidFill>
                <a:sym typeface="Symbol" panose="05050102010706020507" pitchFamily="18" charset="2"/>
              </a:rPr>
              <a:t>x(</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A(x)</a:t>
            </a:r>
            <a:r>
              <a:rPr lang="zh-CN" altLang="en-US" sz="2400" dirty="0">
                <a:solidFill>
                  <a:schemeClr val="tx2"/>
                </a:solidFill>
              </a:rPr>
              <a:t>∨</a:t>
            </a:r>
            <a:r>
              <a:rPr lang="en-US" altLang="zh-CN" sz="2400" dirty="0">
                <a:solidFill>
                  <a:schemeClr val="tx2"/>
                </a:solidFill>
                <a:sym typeface="Symbol" panose="05050102010706020507" pitchFamily="18" charset="2"/>
              </a:rPr>
              <a:t>B)</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a:t>
            </a:r>
            <a:r>
              <a:rPr lang="zh-CN" altLang="en-US" sz="2400" dirty="0">
                <a:solidFill>
                  <a:schemeClr val="tx2"/>
                </a:solidFill>
                <a:sym typeface="Symbol" panose="05050102010706020507" pitchFamily="18" charset="2"/>
              </a:rPr>
              <a:t> </a:t>
            </a:r>
            <a:r>
              <a:rPr lang="en-US" altLang="zh-CN" sz="2400" dirty="0">
                <a:solidFill>
                  <a:schemeClr val="tx2"/>
                </a:solidFill>
                <a:sym typeface="Symbol" panose="05050102010706020507" pitchFamily="18" charset="2"/>
              </a:rPr>
              <a:t>x</a:t>
            </a:r>
            <a:r>
              <a:rPr lang="en-US" altLang="zh-CN" sz="2400" dirty="0">
                <a:solidFill>
                  <a:schemeClr val="tx2"/>
                </a:solidFill>
                <a:latin typeface="Times New Roman" panose="02020503050405090304" pitchFamily="18" charset="0"/>
                <a:sym typeface="Symbol" panose="05050102010706020507" pitchFamily="18" charset="2"/>
              </a:rPr>
              <a:t>  </a:t>
            </a:r>
            <a:r>
              <a:rPr lang="en-US" altLang="zh-CN" sz="2400" dirty="0">
                <a:solidFill>
                  <a:schemeClr val="tx2"/>
                </a:solidFill>
                <a:sym typeface="Symbol" panose="05050102010706020507" pitchFamily="18" charset="2"/>
              </a:rPr>
              <a:t>A(x)</a:t>
            </a:r>
            <a:r>
              <a:rPr lang="zh-CN" altLang="en-US" sz="2400" dirty="0">
                <a:solidFill>
                  <a:schemeClr val="tx2"/>
                </a:solidFill>
              </a:rPr>
              <a:t>∨</a:t>
            </a:r>
            <a:r>
              <a:rPr lang="en-US" altLang="zh-CN" sz="2400" dirty="0">
                <a:solidFill>
                  <a:schemeClr val="tx2"/>
                </a:solidFill>
                <a:sym typeface="Symbol" panose="05050102010706020507" pitchFamily="18" charset="2"/>
              </a:rPr>
              <a:t>B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a:t>
            </a:r>
            <a:r>
              <a:rPr lang="en-US" altLang="zh-CN" sz="2400" dirty="0">
                <a:solidFill>
                  <a:schemeClr val="tx2"/>
                </a:solidFill>
                <a:sym typeface="Symbol" panose="05050102010706020507" pitchFamily="18" charset="2"/>
              </a:rPr>
              <a:t>(x)</a:t>
            </a:r>
            <a:r>
              <a:rPr lang="zh-CN" altLang="en-US" sz="2400" dirty="0">
                <a:solidFill>
                  <a:schemeClr val="tx2"/>
                </a:solidFill>
              </a:rPr>
              <a:t>∨</a:t>
            </a:r>
            <a:r>
              <a:rPr lang="en-US" altLang="zh-CN" sz="2400" dirty="0">
                <a:solidFill>
                  <a:schemeClr val="tx2"/>
                </a:solidFill>
                <a:sym typeface="Symbol" panose="05050102010706020507" pitchFamily="18" charset="2"/>
              </a:rPr>
              <a:t>B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a:t>
            </a:r>
            <a:r>
              <a:rPr lang="en-US" altLang="zh-CN" sz="2400" dirty="0">
                <a:solidFill>
                  <a:schemeClr val="tx2"/>
                </a:solidFill>
                <a:sym typeface="Symbol" panose="05050102010706020507" pitchFamily="18" charset="2"/>
              </a:rPr>
              <a:t>(x)</a:t>
            </a:r>
            <a:r>
              <a:rPr lang="zh-CN" altLang="en-US" sz="2400" dirty="0">
                <a:solidFill>
                  <a:schemeClr val="tx2"/>
                </a:solidFill>
              </a:rPr>
              <a:t>→</a:t>
            </a:r>
            <a:r>
              <a:rPr lang="en-US" altLang="zh-CN" sz="2400" dirty="0">
                <a:solidFill>
                  <a:schemeClr val="tx2"/>
                </a:solidFill>
                <a:sym typeface="Symbol" panose="05050102010706020507" pitchFamily="18" charset="2"/>
              </a:rPr>
              <a:t>B</a:t>
            </a:r>
            <a:endParaRPr lang="zh-CN" altLang="en-US" sz="2400" dirty="0">
              <a:solidFill>
                <a:schemeClr val="tx2"/>
              </a:solidFill>
              <a:sym typeface="Symbol" panose="05050102010706020507" pitchFamily="18" charset="2"/>
            </a:endParaRPr>
          </a:p>
          <a:p>
            <a:pPr eaLnBrk="1" hangingPunct="1"/>
            <a:r>
              <a:rPr lang="zh-CN" altLang="en-US" sz="2400" dirty="0">
                <a:solidFill>
                  <a:schemeClr val="tx2"/>
                </a:solidFill>
                <a:sym typeface="Symbol" panose="05050102010706020507" pitchFamily="18" charset="2"/>
              </a:rPr>
              <a:t> </a:t>
            </a:r>
            <a:r>
              <a:rPr lang="zh-CN" altLang="en-US" sz="2400" dirty="0">
                <a:solidFill>
                  <a:srgbClr val="FF0000"/>
                </a:solidFill>
                <a:sym typeface="Symbol" panose="05050102010706020507" pitchFamily="18" charset="2"/>
              </a:rPr>
              <a:t></a:t>
            </a:r>
            <a:r>
              <a:rPr lang="en-US" altLang="zh-CN" sz="2400" dirty="0">
                <a:solidFill>
                  <a:srgbClr val="FF0000"/>
                </a:solidFill>
                <a:sym typeface="Symbol" panose="05050102010706020507" pitchFamily="18" charset="2"/>
              </a:rPr>
              <a:t>x</a:t>
            </a:r>
            <a:r>
              <a:rPr lang="en-US" altLang="zh-CN" sz="2400" dirty="0">
                <a:solidFill>
                  <a:schemeClr val="tx2"/>
                </a:solidFill>
                <a:sym typeface="Symbol" panose="05050102010706020507" pitchFamily="18" charset="2"/>
              </a:rPr>
              <a:t>(B</a:t>
            </a:r>
            <a:r>
              <a:rPr lang="zh-CN" altLang="en-US" sz="2400" dirty="0">
                <a:solidFill>
                  <a:schemeClr val="tx2"/>
                </a:solidFill>
              </a:rPr>
              <a:t>→</a:t>
            </a:r>
            <a:r>
              <a:rPr lang="en-US" altLang="zh-CN" sz="2400" dirty="0">
                <a:solidFill>
                  <a:schemeClr val="tx2"/>
                </a:solidFill>
                <a:sym typeface="Symbol" panose="05050102010706020507" pitchFamily="18" charset="2"/>
              </a:rPr>
              <a:t>A(x))  B</a:t>
            </a:r>
            <a:r>
              <a:rPr lang="zh-CN" altLang="en-US" sz="2400" dirty="0">
                <a:solidFill>
                  <a:schemeClr val="tx2"/>
                </a:solidFill>
              </a:rPr>
              <a:t>→</a:t>
            </a:r>
            <a:r>
              <a:rPr lang="zh-CN" altLang="en-US" sz="2400" dirty="0">
                <a:solidFill>
                  <a:srgbClr val="FF0000"/>
                </a:solidFill>
                <a:sym typeface="Symbol" panose="05050102010706020507" pitchFamily="18" charset="2"/>
              </a:rPr>
              <a:t></a:t>
            </a:r>
            <a:r>
              <a:rPr lang="en-US" altLang="zh-CN" sz="2400" dirty="0" err="1">
                <a:solidFill>
                  <a:srgbClr val="FF0000"/>
                </a:solidFill>
                <a:sym typeface="Symbol" panose="05050102010706020507" pitchFamily="18" charset="2"/>
              </a:rPr>
              <a:t>x</a:t>
            </a:r>
            <a:r>
              <a:rPr lang="en-US" altLang="zh-CN" sz="2400" dirty="0" err="1">
                <a:solidFill>
                  <a:schemeClr val="tx2"/>
                </a:solidFill>
                <a:sym typeface="Symbol" panose="05050102010706020507" pitchFamily="18" charset="2"/>
              </a:rPr>
              <a:t>A</a:t>
            </a:r>
            <a:r>
              <a:rPr lang="en-US" altLang="zh-CN" sz="2400" dirty="0">
                <a:solidFill>
                  <a:schemeClr val="tx2"/>
                </a:solidFill>
                <a:sym typeface="Symbol" panose="05050102010706020507" pitchFamily="18" charset="2"/>
              </a:rPr>
              <a:t>(x)</a:t>
            </a:r>
            <a:endParaRPr lang="en-US" altLang="zh-CN" sz="2400" dirty="0">
              <a:solidFill>
                <a:schemeClr val="tx2"/>
              </a:solidFill>
              <a:sym typeface="Symbol" panose="05050102010706020507" pitchFamily="18" charset="2"/>
            </a:endParaRPr>
          </a:p>
          <a:p>
            <a:pPr eaLnBrk="1" hangingPunct="1">
              <a:buFont typeface="Wingdings" panose="05000000000000000000" pitchFamily="2" charset="2"/>
              <a:buNone/>
            </a:pPr>
            <a:r>
              <a:rPr lang="zh-CN" altLang="en-US" sz="2400" dirty="0">
                <a:solidFill>
                  <a:schemeClr val="tx2"/>
                </a:solidFill>
                <a:sym typeface="Symbol" panose="05050102010706020507" pitchFamily="18" charset="2"/>
              </a:rPr>
              <a:t>    证明:   </a:t>
            </a:r>
            <a:r>
              <a:rPr lang="en-US" altLang="zh-CN" sz="2400" dirty="0">
                <a:solidFill>
                  <a:schemeClr val="tx2"/>
                </a:solidFill>
                <a:sym typeface="Symbol" panose="05050102010706020507" pitchFamily="18" charset="2"/>
              </a:rPr>
              <a:t>x(B</a:t>
            </a:r>
            <a:r>
              <a:rPr lang="zh-CN" altLang="en-US" sz="2400" dirty="0">
                <a:solidFill>
                  <a:schemeClr val="tx2"/>
                </a:solidFill>
              </a:rPr>
              <a:t>→</a:t>
            </a:r>
            <a:r>
              <a:rPr lang="en-US" altLang="zh-CN" sz="2400" dirty="0">
                <a:solidFill>
                  <a:schemeClr val="tx2"/>
                </a:solidFill>
                <a:sym typeface="Symbol" panose="05050102010706020507" pitchFamily="18" charset="2"/>
              </a:rPr>
              <a:t>A(x))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 </a:t>
            </a:r>
            <a:r>
              <a:rPr lang="zh-CN" altLang="en-US" sz="2400" dirty="0">
                <a:solidFill>
                  <a:schemeClr val="tx2"/>
                </a:solidFill>
                <a:sym typeface="Symbol" panose="05050102010706020507" pitchFamily="18" charset="2"/>
              </a:rPr>
              <a:t></a:t>
            </a:r>
            <a:r>
              <a:rPr lang="en-US" altLang="zh-CN" sz="2400" dirty="0">
                <a:solidFill>
                  <a:schemeClr val="tx2"/>
                </a:solidFill>
                <a:sym typeface="Symbol" panose="05050102010706020507" pitchFamily="18" charset="2"/>
              </a:rPr>
              <a:t>x(</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B</a:t>
            </a:r>
            <a:r>
              <a:rPr lang="zh-CN" altLang="en-US" sz="2400" dirty="0">
                <a:solidFill>
                  <a:schemeClr val="tx2"/>
                </a:solidFill>
              </a:rPr>
              <a:t>∨</a:t>
            </a:r>
            <a:r>
              <a:rPr lang="en-US" altLang="zh-CN" sz="2400" dirty="0">
                <a:solidFill>
                  <a:schemeClr val="tx2"/>
                </a:solidFill>
              </a:rPr>
              <a:t>A(x)</a:t>
            </a:r>
            <a:r>
              <a:rPr lang="en-US" altLang="zh-CN" sz="2400" dirty="0">
                <a:solidFill>
                  <a:schemeClr val="tx2"/>
                </a:solidFill>
                <a:sym typeface="Symbol" panose="05050102010706020507" pitchFamily="18" charset="2"/>
              </a:rPr>
              <a:t>) </a:t>
            </a:r>
            <a:endParaRPr lang="en-US" altLang="zh-CN" sz="2400" dirty="0">
              <a:solidFill>
                <a:schemeClr val="tx2"/>
              </a:solidFill>
              <a:sym typeface="Symbol" panose="05050102010706020507" pitchFamily="18" charset="2"/>
            </a:endParaRPr>
          </a:p>
          <a:p>
            <a:pPr eaLnBrk="1" hangingPunct="1">
              <a:buNone/>
            </a:pPr>
            <a:r>
              <a:rPr lang="en-US" altLang="zh-CN" sz="2400" dirty="0">
                <a:solidFill>
                  <a:schemeClr val="tx2"/>
                </a:solidFill>
                <a:sym typeface="Symbol" panose="05050102010706020507" pitchFamily="18" charset="2"/>
              </a:rPr>
              <a:t>           </a:t>
            </a:r>
            <a:r>
              <a:rPr lang="zh-CN" altLang="en-US" sz="2400" dirty="0">
                <a:solidFill>
                  <a:schemeClr val="tx2"/>
                </a:solidFill>
                <a:sym typeface="Symbol" panose="05050102010706020507" pitchFamily="18" charset="2"/>
              </a:rPr>
              <a:t> </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B</a:t>
            </a:r>
            <a:r>
              <a:rPr lang="zh-CN" altLang="en-US" sz="2400" dirty="0">
                <a:solidFill>
                  <a:schemeClr val="tx2"/>
                </a:solidFill>
              </a:rPr>
              <a:t>∨</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t>
            </a:r>
            <a:r>
              <a:rPr lang="en-US" altLang="zh-CN" sz="2400" dirty="0" err="1">
                <a:solidFill>
                  <a:schemeClr val="tx2"/>
                </a:solidFill>
              </a:rPr>
              <a:t>A</a:t>
            </a:r>
            <a:r>
              <a:rPr lang="en-US" altLang="zh-CN" sz="2400" dirty="0">
                <a:solidFill>
                  <a:schemeClr val="tx2"/>
                </a:solidFill>
              </a:rPr>
              <a:t>(x)</a:t>
            </a:r>
            <a:endParaRPr lang="en-US" altLang="zh-CN" sz="2400" dirty="0">
              <a:solidFill>
                <a:schemeClr val="tx2"/>
              </a:solidFill>
            </a:endParaRPr>
          </a:p>
          <a:p>
            <a:pPr eaLnBrk="1" hangingPunct="1">
              <a:buNone/>
            </a:pPr>
            <a:r>
              <a:rPr lang="en-US" altLang="zh-CN" sz="2400" dirty="0">
                <a:solidFill>
                  <a:schemeClr val="tx2"/>
                </a:solidFill>
              </a:rPr>
              <a:t>          </a:t>
            </a:r>
            <a:r>
              <a:rPr lang="en-US" altLang="zh-CN" sz="2400" dirty="0">
                <a:solidFill>
                  <a:schemeClr val="tx2"/>
                </a:solidFill>
                <a:sym typeface="Symbol" panose="05050102010706020507" pitchFamily="18" charset="2"/>
              </a:rPr>
              <a:t>  </a:t>
            </a:r>
            <a:r>
              <a:rPr lang="en-US" altLang="zh-CN" sz="2400" dirty="0">
                <a:solidFill>
                  <a:schemeClr val="tx2"/>
                </a:solidFill>
                <a:latin typeface="Times New Roman" panose="02020503050405090304" pitchFamily="18" charset="0"/>
                <a:sym typeface="Symbol" panose="05050102010706020507" pitchFamily="18" charset="2"/>
              </a:rPr>
              <a:t> </a:t>
            </a:r>
            <a:r>
              <a:rPr lang="en-US" altLang="zh-CN" sz="2400" dirty="0">
                <a:solidFill>
                  <a:schemeClr val="tx2"/>
                </a:solidFill>
                <a:sym typeface="Symbol" panose="05050102010706020507" pitchFamily="18" charset="2"/>
              </a:rPr>
              <a:t>B</a:t>
            </a:r>
            <a:r>
              <a:rPr lang="zh-CN" altLang="en-US" sz="2400" dirty="0">
                <a:solidFill>
                  <a:schemeClr val="tx2"/>
                </a:solidFill>
              </a:rPr>
              <a:t>∨</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t>
            </a:r>
            <a:r>
              <a:rPr lang="en-US" altLang="zh-CN" sz="2400" dirty="0" err="1">
                <a:solidFill>
                  <a:schemeClr val="tx2"/>
                </a:solidFill>
              </a:rPr>
              <a:t>A</a:t>
            </a:r>
            <a:r>
              <a:rPr lang="en-US" altLang="zh-CN" sz="2400" dirty="0">
                <a:solidFill>
                  <a:schemeClr val="tx2"/>
                </a:solidFill>
              </a:rPr>
              <a:t>(x)</a:t>
            </a:r>
            <a:endParaRPr lang="en-US" altLang="zh-CN" sz="2400" dirty="0">
              <a:solidFill>
                <a:schemeClr val="tx2"/>
              </a:solidFill>
            </a:endParaRPr>
          </a:p>
          <a:p>
            <a:pPr eaLnBrk="1" hangingPunct="1">
              <a:buNone/>
            </a:pPr>
            <a:r>
              <a:rPr lang="en-US" altLang="zh-CN" sz="2400" dirty="0">
                <a:solidFill>
                  <a:schemeClr val="tx2"/>
                </a:solidFill>
              </a:rPr>
              <a:t>           </a:t>
            </a:r>
            <a:r>
              <a:rPr lang="en-US" altLang="zh-CN" sz="2400" dirty="0">
                <a:solidFill>
                  <a:schemeClr val="tx2"/>
                </a:solidFill>
                <a:sym typeface="Symbol" panose="05050102010706020507" pitchFamily="18" charset="2"/>
              </a:rPr>
              <a:t> B</a:t>
            </a:r>
            <a:r>
              <a:rPr lang="zh-CN" altLang="en-US" sz="2400" dirty="0">
                <a:solidFill>
                  <a:schemeClr val="tx2"/>
                </a:solidFill>
              </a:rPr>
              <a:t>→</a:t>
            </a:r>
            <a:r>
              <a:rPr lang="zh-CN" altLang="en-US" sz="2400" dirty="0">
                <a:solidFill>
                  <a:schemeClr val="tx2"/>
                </a:solidFill>
                <a:sym typeface="Symbol" panose="05050102010706020507" pitchFamily="18" charset="2"/>
              </a:rPr>
              <a:t></a:t>
            </a:r>
            <a:r>
              <a:rPr lang="en-US" altLang="zh-CN" sz="2400" dirty="0" err="1">
                <a:solidFill>
                  <a:schemeClr val="tx2"/>
                </a:solidFill>
                <a:sym typeface="Symbol" panose="05050102010706020507" pitchFamily="18" charset="2"/>
              </a:rPr>
              <a:t>xA</a:t>
            </a:r>
            <a:r>
              <a:rPr lang="en-US" altLang="zh-CN" sz="2400" dirty="0">
                <a:solidFill>
                  <a:schemeClr val="tx2"/>
                </a:solidFill>
                <a:sym typeface="Symbol" panose="05050102010706020507" pitchFamily="18" charset="2"/>
              </a:rPr>
              <a:t>(x)</a:t>
            </a:r>
            <a:endParaRPr lang="en-US" altLang="zh-CN" sz="2400" dirty="0">
              <a:solidFill>
                <a:schemeClr val="tx2"/>
              </a:solidFill>
              <a:sym typeface="Symbol" panose="05050102010706020507" pitchFamily="18" charset="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98202BB-58C8-430C-8A96-7563B5D122AA}"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451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9B3C4A3F-4B79-4143-8426-4FCCC66EB1C7}"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451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4517" name="Rectangle 2"/>
          <p:cNvSpPr>
            <a:spLocks noGrp="1" noChangeArrowheads="1"/>
          </p:cNvSpPr>
          <p:nvPr>
            <p:ph type="title"/>
          </p:nvPr>
        </p:nvSpPr>
        <p:spPr/>
        <p:txBody>
          <a:bodyPr/>
          <a:lstStyle/>
          <a:p>
            <a:pPr eaLnBrk="1" hangingPunct="1"/>
            <a:r>
              <a:rPr lang="zh-CN" altLang="en-US"/>
              <a:t>量词分配</a:t>
            </a:r>
            <a:endParaRPr lang="zh-CN" altLang="en-US"/>
          </a:p>
        </p:txBody>
      </p:sp>
      <p:sp>
        <p:nvSpPr>
          <p:cNvPr id="64518" name="Rectangle 3"/>
          <p:cNvSpPr>
            <a:spLocks noGrp="1" noChangeArrowheads="1"/>
          </p:cNvSpPr>
          <p:nvPr>
            <p:ph type="body" idx="1"/>
          </p:nvPr>
        </p:nvSpPr>
        <p:spPr/>
        <p:txBody>
          <a:bodyPr/>
          <a:lstStyle/>
          <a:p>
            <a:pPr eaLnBrk="1" hangingPunct="1"/>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en-US" altLang="zh-CN">
                <a:solidFill>
                  <a:schemeClr val="tx2"/>
                </a:solidFill>
                <a:sym typeface="Symbol" panose="05050102010706020507" pitchFamily="18" charset="2"/>
              </a:rPr>
              <a:t>B(x)) 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xB(x)</a:t>
            </a:r>
            <a:endParaRPr lang="en-US" altLang="zh-CN">
              <a:solidFill>
                <a:schemeClr val="tx2"/>
              </a:solidFill>
              <a:sym typeface="Symbol" panose="05050102010706020507" pitchFamily="18" charset="2"/>
            </a:endParaRPr>
          </a:p>
          <a:p>
            <a:pPr eaLnBrk="1" hangingPunct="1"/>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en-US" altLang="zh-CN">
                <a:solidFill>
                  <a:schemeClr val="tx2"/>
                </a:solidFill>
                <a:sym typeface="Symbol" panose="05050102010706020507" pitchFamily="18" charset="2"/>
              </a:rPr>
              <a:t>B(x))   </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xA(x)</a:t>
            </a:r>
            <a:r>
              <a:rPr lang="zh-CN" altLang="en-US">
                <a:solidFill>
                  <a:schemeClr val="tx2"/>
                </a:solidFill>
              </a:rPr>
              <a:t>∨</a:t>
            </a:r>
            <a:r>
              <a:rPr lang="zh-CN" altLang="en-US">
                <a:solidFill>
                  <a:schemeClr val="tx2"/>
                </a:solidFill>
                <a:sym typeface="Symbol" panose="05050102010706020507" pitchFamily="18" charset="2"/>
              </a:rPr>
              <a:t></a:t>
            </a:r>
            <a:r>
              <a:rPr lang="en-US" altLang="zh-CN">
                <a:solidFill>
                  <a:schemeClr val="tx2"/>
                </a:solidFill>
                <a:sym typeface="Symbol" panose="05050102010706020507" pitchFamily="18" charset="2"/>
              </a:rPr>
              <a:t>xB(x)</a:t>
            </a:r>
            <a:endParaRPr lang="zh-CN" altLang="en-US">
              <a:solidFill>
                <a:schemeClr val="tx2"/>
              </a:solidFill>
              <a:sym typeface="Symbol" panose="05050102010706020507" pitchFamily="18"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27BC6259-F4AE-4E5C-BE8A-1D9CAB15F5F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553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0212CFE2-90E9-4EEE-BC2A-CB1E54E5AD5E}"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554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5541" name="Rectangle 2"/>
          <p:cNvSpPr>
            <a:spLocks noGrp="1" noChangeArrowheads="1"/>
          </p:cNvSpPr>
          <p:nvPr>
            <p:ph type="title"/>
          </p:nvPr>
        </p:nvSpPr>
        <p:spPr/>
        <p:txBody>
          <a:bodyPr/>
          <a:lstStyle/>
          <a:p>
            <a:pPr eaLnBrk="1" hangingPunct="1"/>
            <a:r>
              <a:rPr lang="zh-CN" altLang="en-US"/>
              <a:t>量词与联结词</a:t>
            </a:r>
            <a:r>
              <a:rPr lang="en-US" altLang="zh-CN"/>
              <a:t>4</a:t>
            </a:r>
            <a:endParaRPr lang="en-US" altLang="zh-CN"/>
          </a:p>
        </p:txBody>
      </p:sp>
      <p:sp>
        <p:nvSpPr>
          <p:cNvPr id="1096707" name="Rectangle 3"/>
          <p:cNvSpPr>
            <a:spLocks noGrp="1" noChangeArrowheads="1"/>
          </p:cNvSpPr>
          <p:nvPr>
            <p:ph type="body" idx="1"/>
          </p:nvPr>
        </p:nvSpPr>
        <p:spPr/>
        <p:txBody>
          <a:bodyPr/>
          <a:lstStyle/>
          <a:p>
            <a:pPr eaLnBrk="1" hangingPunct="1"/>
            <a:r>
              <a:rPr lang="zh-CN" altLang="en-US"/>
              <a:t>有一事物，它或是偶数或是素数</a:t>
            </a:r>
            <a:endParaRPr lang="zh-CN" altLang="en-US"/>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p>
          <a:p>
            <a:pPr eaLnBrk="1" hangingPunct="1"/>
            <a:r>
              <a:rPr lang="zh-CN" altLang="en-US"/>
              <a:t>有一个偶数或者有一个素数</a:t>
            </a:r>
            <a:endParaRPr lang="zh-CN" altLang="en-US"/>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p>
          <a:p>
            <a:pPr eaLnBrk="1" hangingPunct="1"/>
            <a:r>
              <a:rPr lang="zh-CN" altLang="en-US"/>
              <a:t>显然</a:t>
            </a:r>
            <a:endParaRPr lang="zh-CN" altLang="en-US"/>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6707">
                                            <p:txEl>
                                              <p:pRg st="0" end="0"/>
                                            </p:txEl>
                                          </p:spTgt>
                                        </p:tgtEl>
                                        <p:attrNameLst>
                                          <p:attrName>style.visibility</p:attrName>
                                        </p:attrNameLst>
                                      </p:cBhvr>
                                      <p:to>
                                        <p:strVal val="visible"/>
                                      </p:to>
                                    </p:set>
                                    <p:anim calcmode="lin" valueType="num">
                                      <p:cBhvr additive="base">
                                        <p:cTn id="7" dur="500" fill="hold"/>
                                        <p:tgtEl>
                                          <p:spTgt spid="10967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670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96707">
                                            <p:txEl>
                                              <p:pRg st="1" end="1"/>
                                            </p:txEl>
                                          </p:spTgt>
                                        </p:tgtEl>
                                        <p:attrNameLst>
                                          <p:attrName>style.visibility</p:attrName>
                                        </p:attrNameLst>
                                      </p:cBhvr>
                                      <p:to>
                                        <p:strVal val="visible"/>
                                      </p:to>
                                    </p:set>
                                    <p:anim calcmode="lin" valueType="num">
                                      <p:cBhvr additive="base">
                                        <p:cTn id="11" dur="500" fill="hold"/>
                                        <p:tgtEl>
                                          <p:spTgt spid="109670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967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96707">
                                            <p:txEl>
                                              <p:pRg st="2" end="2"/>
                                            </p:txEl>
                                          </p:spTgt>
                                        </p:tgtEl>
                                        <p:attrNameLst>
                                          <p:attrName>style.visibility</p:attrName>
                                        </p:attrNameLst>
                                      </p:cBhvr>
                                      <p:to>
                                        <p:strVal val="visible"/>
                                      </p:to>
                                    </p:set>
                                    <p:anim calcmode="lin" valueType="num">
                                      <p:cBhvr additive="base">
                                        <p:cTn id="17" dur="500" fill="hold"/>
                                        <p:tgtEl>
                                          <p:spTgt spid="109670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670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96707">
                                            <p:txEl>
                                              <p:pRg st="3" end="3"/>
                                            </p:txEl>
                                          </p:spTgt>
                                        </p:tgtEl>
                                        <p:attrNameLst>
                                          <p:attrName>style.visibility</p:attrName>
                                        </p:attrNameLst>
                                      </p:cBhvr>
                                      <p:to>
                                        <p:strVal val="visible"/>
                                      </p:to>
                                    </p:set>
                                    <p:anim calcmode="lin" valueType="num">
                                      <p:cBhvr additive="base">
                                        <p:cTn id="21" dur="500" fill="hold"/>
                                        <p:tgtEl>
                                          <p:spTgt spid="109670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67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96707">
                                            <p:txEl>
                                              <p:pRg st="4" end="4"/>
                                            </p:txEl>
                                          </p:spTgt>
                                        </p:tgtEl>
                                        <p:attrNameLst>
                                          <p:attrName>style.visibility</p:attrName>
                                        </p:attrNameLst>
                                      </p:cBhvr>
                                      <p:to>
                                        <p:strVal val="visible"/>
                                      </p:to>
                                    </p:set>
                                    <p:anim calcmode="lin" valueType="num">
                                      <p:cBhvr additive="base">
                                        <p:cTn id="27" dur="500" fill="hold"/>
                                        <p:tgtEl>
                                          <p:spTgt spid="109670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9670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96707">
                                            <p:txEl>
                                              <p:pRg st="5" end="5"/>
                                            </p:txEl>
                                          </p:spTgt>
                                        </p:tgtEl>
                                        <p:attrNameLst>
                                          <p:attrName>style.visibility</p:attrName>
                                        </p:attrNameLst>
                                      </p:cBhvr>
                                      <p:to>
                                        <p:strVal val="visible"/>
                                      </p:to>
                                    </p:set>
                                    <p:anim calcmode="lin" valueType="num">
                                      <p:cBhvr additive="base">
                                        <p:cTn id="31" dur="500" fill="hold"/>
                                        <p:tgtEl>
                                          <p:spTgt spid="109670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967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707" grpId="0" autoUpdateAnimBg="0" build="p"/>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0F5E9F6-B773-44D2-8EB5-6DC8DA3BE14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656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866D0EC-5F0D-4414-8D93-A97E2F1B4B98}"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656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6565" name="Rectangle 2"/>
          <p:cNvSpPr>
            <a:spLocks noGrp="1" noChangeArrowheads="1"/>
          </p:cNvSpPr>
          <p:nvPr>
            <p:ph type="title"/>
          </p:nvPr>
        </p:nvSpPr>
        <p:spPr/>
        <p:txBody>
          <a:bodyPr/>
          <a:lstStyle/>
          <a:p>
            <a:pPr eaLnBrk="1" hangingPunct="1"/>
            <a:r>
              <a:rPr lang="zh-CN" altLang="en-US"/>
              <a:t>量词与联结词</a:t>
            </a:r>
            <a:r>
              <a:rPr lang="en-US" altLang="zh-CN"/>
              <a:t>5</a:t>
            </a:r>
            <a:endParaRPr lang="en-US" altLang="zh-CN"/>
          </a:p>
        </p:txBody>
      </p:sp>
      <p:sp>
        <p:nvSpPr>
          <p:cNvPr id="1097731" name="Rectangle 3"/>
          <p:cNvSpPr>
            <a:spLocks noGrp="1" noChangeArrowheads="1"/>
          </p:cNvSpPr>
          <p:nvPr>
            <p:ph type="body" idx="1"/>
          </p:nvPr>
        </p:nvSpPr>
        <p:spPr/>
        <p:txBody>
          <a:bodyPr/>
          <a:lstStyle/>
          <a:p>
            <a:pPr eaLnBrk="1" hangingPunct="1">
              <a:lnSpc>
                <a:spcPct val="90000"/>
              </a:lnSpc>
            </a:pPr>
            <a:r>
              <a:rPr lang="zh-CN" altLang="en-US"/>
              <a:t>一切事物，它既是可知的又是可模拟的</a:t>
            </a:r>
            <a:endParaRPr lang="zh-CN" altLang="en-US"/>
          </a:p>
          <a:p>
            <a:pPr lvl="1" eaLnBrk="1" hangingPunct="1">
              <a:lnSpc>
                <a:spcPct val="90000"/>
              </a:lnSpc>
            </a:pP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zh-CN" altLang="en-US"/>
          </a:p>
          <a:p>
            <a:pPr eaLnBrk="1" hangingPunct="1">
              <a:lnSpc>
                <a:spcPct val="90000"/>
              </a:lnSpc>
            </a:pPr>
            <a:r>
              <a:rPr lang="zh-CN" altLang="en-US"/>
              <a:t>一切事物都是可知的同时一切事物都是可模拟的</a:t>
            </a:r>
            <a:endParaRPr lang="zh-CN" altLang="en-US"/>
          </a:p>
          <a:p>
            <a:pPr lvl="1" eaLnBrk="1" hangingPunct="1">
              <a:lnSpc>
                <a:spcPct val="90000"/>
              </a:lnSpc>
            </a:pP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zh-CN" altLang="en-US"/>
          </a:p>
          <a:p>
            <a:pPr eaLnBrk="1" hangingPunct="1">
              <a:lnSpc>
                <a:spcPct val="90000"/>
              </a:lnSpc>
            </a:pPr>
            <a:r>
              <a:rPr lang="zh-CN" altLang="en-US"/>
              <a:t>显然</a:t>
            </a:r>
            <a:endParaRPr lang="en-US" altLang="zh-CN"/>
          </a:p>
          <a:p>
            <a:pPr lvl="1" eaLnBrk="1" hangingPunct="1">
              <a:lnSpc>
                <a:spcPct val="90000"/>
              </a:lnSpc>
            </a:pP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7731">
                                            <p:txEl>
                                              <p:pRg st="0" end="0"/>
                                            </p:txEl>
                                          </p:spTgt>
                                        </p:tgtEl>
                                        <p:attrNameLst>
                                          <p:attrName>style.visibility</p:attrName>
                                        </p:attrNameLst>
                                      </p:cBhvr>
                                      <p:to>
                                        <p:strVal val="visible"/>
                                      </p:to>
                                    </p:set>
                                    <p:anim calcmode="lin" valueType="num">
                                      <p:cBhvr additive="base">
                                        <p:cTn id="7" dur="500" fill="hold"/>
                                        <p:tgtEl>
                                          <p:spTgt spid="10977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773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97731">
                                            <p:txEl>
                                              <p:pRg st="1" end="1"/>
                                            </p:txEl>
                                          </p:spTgt>
                                        </p:tgtEl>
                                        <p:attrNameLst>
                                          <p:attrName>style.visibility</p:attrName>
                                        </p:attrNameLst>
                                      </p:cBhvr>
                                      <p:to>
                                        <p:strVal val="visible"/>
                                      </p:to>
                                    </p:set>
                                    <p:anim calcmode="lin" valueType="num">
                                      <p:cBhvr additive="base">
                                        <p:cTn id="11" dur="500" fill="hold"/>
                                        <p:tgtEl>
                                          <p:spTgt spid="109773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977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97731">
                                            <p:txEl>
                                              <p:pRg st="2" end="2"/>
                                            </p:txEl>
                                          </p:spTgt>
                                        </p:tgtEl>
                                        <p:attrNameLst>
                                          <p:attrName>style.visibility</p:attrName>
                                        </p:attrNameLst>
                                      </p:cBhvr>
                                      <p:to>
                                        <p:strVal val="visible"/>
                                      </p:to>
                                    </p:set>
                                    <p:anim calcmode="lin" valueType="num">
                                      <p:cBhvr additive="base">
                                        <p:cTn id="17" dur="500" fill="hold"/>
                                        <p:tgtEl>
                                          <p:spTgt spid="109773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773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97731">
                                            <p:txEl>
                                              <p:pRg st="3" end="3"/>
                                            </p:txEl>
                                          </p:spTgt>
                                        </p:tgtEl>
                                        <p:attrNameLst>
                                          <p:attrName>style.visibility</p:attrName>
                                        </p:attrNameLst>
                                      </p:cBhvr>
                                      <p:to>
                                        <p:strVal val="visible"/>
                                      </p:to>
                                    </p:set>
                                    <p:anim calcmode="lin" valueType="num">
                                      <p:cBhvr additive="base">
                                        <p:cTn id="21" dur="500" fill="hold"/>
                                        <p:tgtEl>
                                          <p:spTgt spid="109773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77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97731">
                                            <p:txEl>
                                              <p:pRg st="4" end="4"/>
                                            </p:txEl>
                                          </p:spTgt>
                                        </p:tgtEl>
                                        <p:attrNameLst>
                                          <p:attrName>style.visibility</p:attrName>
                                        </p:attrNameLst>
                                      </p:cBhvr>
                                      <p:to>
                                        <p:strVal val="visible"/>
                                      </p:to>
                                    </p:set>
                                    <p:anim calcmode="lin" valueType="num">
                                      <p:cBhvr additive="base">
                                        <p:cTn id="27" dur="500" fill="hold"/>
                                        <p:tgtEl>
                                          <p:spTgt spid="109773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9773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97731">
                                            <p:txEl>
                                              <p:pRg st="5" end="5"/>
                                            </p:txEl>
                                          </p:spTgt>
                                        </p:tgtEl>
                                        <p:attrNameLst>
                                          <p:attrName>style.visibility</p:attrName>
                                        </p:attrNameLst>
                                      </p:cBhvr>
                                      <p:to>
                                        <p:strVal val="visible"/>
                                      </p:to>
                                    </p:set>
                                    <p:anim calcmode="lin" valueType="num">
                                      <p:cBhvr additive="base">
                                        <p:cTn id="31" dur="500" fill="hold"/>
                                        <p:tgtEl>
                                          <p:spTgt spid="109773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9773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1" grpId="0" autoUpdateAnimBg="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1B14C3C3-2415-4124-BF8A-4454DE3CC2A9}"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758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44F9983-D258-4D1F-96C7-393DED8DA6FC}"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758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7589" name="Rectangle 2"/>
          <p:cNvSpPr>
            <a:spLocks noGrp="1" noChangeArrowheads="1"/>
          </p:cNvSpPr>
          <p:nvPr>
            <p:ph type="title"/>
          </p:nvPr>
        </p:nvSpPr>
        <p:spPr/>
        <p:txBody>
          <a:bodyPr/>
          <a:lstStyle/>
          <a:p>
            <a:pPr eaLnBrk="1" hangingPunct="1"/>
            <a:r>
              <a:rPr lang="zh-CN" altLang="en-US"/>
              <a:t>量词分配(反例)</a:t>
            </a:r>
            <a:endParaRPr lang="zh-CN" altLang="en-US"/>
          </a:p>
        </p:txBody>
      </p:sp>
      <p:sp>
        <p:nvSpPr>
          <p:cNvPr id="67590" name="Rectangle 3"/>
          <p:cNvSpPr>
            <a:spLocks noGrp="1" noChangeArrowheads="1"/>
          </p:cNvSpPr>
          <p:nvPr>
            <p:ph type="body" idx="1"/>
          </p:nvPr>
        </p:nvSpPr>
        <p:spPr/>
        <p:txBody>
          <a:bodyPr/>
          <a:lstStyle/>
          <a:p>
            <a:pPr eaLnBrk="1" hangingPunct="1"/>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B(x)) 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xB(x)</a:t>
            </a:r>
            <a:endParaRPr lang="en-US" altLang="zh-CN"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B(x)) 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xB(x)</a:t>
            </a:r>
            <a:endParaRPr lang="en-US" altLang="zh-CN" sz="2800">
              <a:solidFill>
                <a:schemeClr val="tx2"/>
              </a:solidFill>
              <a:sym typeface="Symbol" panose="05050102010706020507" pitchFamily="18" charset="2"/>
            </a:endParaRPr>
          </a:p>
          <a:p>
            <a:pPr eaLnBrk="1" hangingPunct="1">
              <a:buFont typeface="Wingdings" panose="05000000000000000000" pitchFamily="2" charset="2"/>
              <a:buNone/>
            </a:pPr>
            <a:r>
              <a:rPr lang="zh-CN" altLang="en-US" sz="2800">
                <a:solidFill>
                  <a:schemeClr val="tx2"/>
                </a:solidFill>
                <a:sym typeface="Symbol" panose="05050102010706020507" pitchFamily="18" charset="2"/>
              </a:rPr>
              <a:t>   个体域为全体自然数; </a:t>
            </a:r>
            <a:r>
              <a:rPr lang="en-US" altLang="zh-CN" sz="2800">
                <a:solidFill>
                  <a:schemeClr val="tx2"/>
                </a:solidFill>
                <a:sym typeface="Symbol" panose="05050102010706020507" pitchFamily="18" charset="2"/>
              </a:rPr>
              <a:t>A(x): x</a:t>
            </a:r>
            <a:r>
              <a:rPr lang="zh-CN" altLang="en-US" sz="2800">
                <a:solidFill>
                  <a:schemeClr val="tx2"/>
                </a:solidFill>
                <a:sym typeface="Symbol" panose="05050102010706020507" pitchFamily="18" charset="2"/>
              </a:rPr>
              <a:t>是偶数</a:t>
            </a:r>
            <a:endParaRPr lang="zh-CN" altLang="en-US" sz="2800">
              <a:solidFill>
                <a:schemeClr val="tx2"/>
              </a:solidFill>
              <a:sym typeface="Symbol" panose="05050102010706020507" pitchFamily="18" charset="2"/>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B(x): x</a:t>
            </a:r>
            <a:r>
              <a:rPr lang="zh-CN" altLang="en-US" sz="2800">
                <a:solidFill>
                  <a:schemeClr val="tx2"/>
                </a:solidFill>
                <a:sym typeface="Symbol" panose="05050102010706020507" pitchFamily="18" charset="2"/>
              </a:rPr>
              <a:t>是奇数;    左</a:t>
            </a:r>
            <a:r>
              <a:rPr lang="en-US" altLang="zh-CN" sz="2800">
                <a:solidFill>
                  <a:schemeClr val="tx2"/>
                </a:solidFill>
                <a:sym typeface="Symbol" panose="05050102010706020507" pitchFamily="18" charset="2"/>
              </a:rPr>
              <a:t>1, </a:t>
            </a:r>
            <a:r>
              <a:rPr lang="zh-CN" altLang="en-US" sz="2800">
                <a:solidFill>
                  <a:schemeClr val="tx2"/>
                </a:solidFill>
                <a:sym typeface="Symbol" panose="05050102010706020507" pitchFamily="18" charset="2"/>
              </a:rPr>
              <a:t>右</a:t>
            </a:r>
            <a:r>
              <a:rPr lang="en-US" altLang="zh-CN" sz="2800">
                <a:solidFill>
                  <a:schemeClr val="tx2"/>
                </a:solidFill>
                <a:sym typeface="Symbol" panose="05050102010706020507" pitchFamily="18" charset="2"/>
              </a:rPr>
              <a:t>0 </a:t>
            </a:r>
            <a:endParaRPr lang="zh-CN" altLang="en-US"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B(x)) 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xB(x)</a:t>
            </a:r>
            <a:endParaRPr lang="en-US" altLang="zh-CN" sz="2800">
              <a:solidFill>
                <a:schemeClr val="tx2"/>
              </a:solidFill>
              <a:sym typeface="Symbol" panose="05050102010706020507" pitchFamily="18" charset="2"/>
            </a:endParaRPr>
          </a:p>
          <a:p>
            <a:pPr eaLnBrk="1" hangingPunct="1"/>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en-US" altLang="zh-CN" sz="2800">
                <a:solidFill>
                  <a:schemeClr val="tx2"/>
                </a:solidFill>
                <a:sym typeface="Symbol" panose="05050102010706020507" pitchFamily="18" charset="2"/>
              </a:rPr>
              <a:t>B(x))  </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xA(x)</a:t>
            </a:r>
            <a:r>
              <a:rPr lang="zh-CN" altLang="en-US" sz="2800">
                <a:solidFill>
                  <a:schemeClr val="tx2"/>
                </a:solidFill>
              </a:rPr>
              <a:t>∧</a:t>
            </a:r>
            <a:r>
              <a:rPr lang="zh-CN" altLang="en-US" sz="2800">
                <a:solidFill>
                  <a:schemeClr val="tx2"/>
                </a:solidFill>
                <a:sym typeface="Symbol" panose="05050102010706020507" pitchFamily="18" charset="2"/>
              </a:rPr>
              <a:t></a:t>
            </a:r>
            <a:r>
              <a:rPr lang="en-US" altLang="zh-CN" sz="2800">
                <a:solidFill>
                  <a:schemeClr val="tx2"/>
                </a:solidFill>
                <a:sym typeface="Symbol" panose="05050102010706020507" pitchFamily="18" charset="2"/>
              </a:rPr>
              <a:t>xB(x)</a:t>
            </a:r>
            <a:endParaRPr lang="en-US" altLang="zh-CN" sz="2800">
              <a:solidFill>
                <a:schemeClr val="tx2"/>
              </a:solidFill>
              <a:sym typeface="Symbol" panose="05050102010706020507" pitchFamily="18" charset="2"/>
            </a:endParaRPr>
          </a:p>
          <a:p>
            <a:pPr eaLnBrk="1" hangingPunct="1">
              <a:buFont typeface="Wingdings" panose="05000000000000000000" pitchFamily="2" charset="2"/>
              <a:buNone/>
            </a:pPr>
            <a:r>
              <a:rPr lang="zh-CN" altLang="en-US" sz="2800">
                <a:solidFill>
                  <a:schemeClr val="tx2"/>
                </a:solidFill>
                <a:sym typeface="Symbol" panose="05050102010706020507" pitchFamily="18" charset="2"/>
              </a:rPr>
              <a:t> 个体域为全体自然数; </a:t>
            </a:r>
            <a:r>
              <a:rPr lang="en-US" altLang="zh-CN" sz="2800">
                <a:solidFill>
                  <a:schemeClr val="tx2"/>
                </a:solidFill>
                <a:sym typeface="Symbol" panose="05050102010706020507" pitchFamily="18" charset="2"/>
              </a:rPr>
              <a:t>A(x): x</a:t>
            </a:r>
            <a:r>
              <a:rPr lang="zh-CN" altLang="en-US" sz="2800">
                <a:solidFill>
                  <a:schemeClr val="tx2"/>
                </a:solidFill>
                <a:sym typeface="Symbol" panose="05050102010706020507" pitchFamily="18" charset="2"/>
              </a:rPr>
              <a:t>是偶数</a:t>
            </a:r>
            <a:endParaRPr lang="zh-CN" altLang="en-US" sz="2800">
              <a:solidFill>
                <a:schemeClr val="tx2"/>
              </a:solidFill>
              <a:sym typeface="Symbol" panose="05050102010706020507" pitchFamily="18" charset="2"/>
            </a:endParaRPr>
          </a:p>
          <a:p>
            <a:pPr eaLnBrk="1" hangingPunct="1">
              <a:buFont typeface="Wingdings" panose="05000000000000000000" pitchFamily="2" charset="2"/>
              <a:buNone/>
            </a:pPr>
            <a:r>
              <a:rPr lang="en-US" altLang="zh-CN" sz="2800">
                <a:solidFill>
                  <a:schemeClr val="tx2"/>
                </a:solidFill>
                <a:sym typeface="Symbol" panose="05050102010706020507" pitchFamily="18" charset="2"/>
              </a:rPr>
              <a:t>    B(x): x</a:t>
            </a:r>
            <a:r>
              <a:rPr lang="zh-CN" altLang="en-US" sz="2800">
                <a:solidFill>
                  <a:schemeClr val="tx2"/>
                </a:solidFill>
                <a:sym typeface="Symbol" panose="05050102010706020507" pitchFamily="18" charset="2"/>
              </a:rPr>
              <a:t>是奇数;    左</a:t>
            </a:r>
            <a:r>
              <a:rPr lang="en-US" altLang="zh-CN" sz="2800">
                <a:solidFill>
                  <a:schemeClr val="tx2"/>
                </a:solidFill>
                <a:sym typeface="Symbol" panose="05050102010706020507" pitchFamily="18" charset="2"/>
              </a:rPr>
              <a:t>0, </a:t>
            </a:r>
            <a:r>
              <a:rPr lang="zh-CN" altLang="en-US" sz="2800">
                <a:solidFill>
                  <a:schemeClr val="tx2"/>
                </a:solidFill>
                <a:sym typeface="Symbol" panose="05050102010706020507" pitchFamily="18" charset="2"/>
              </a:rPr>
              <a:t>右</a:t>
            </a:r>
            <a:r>
              <a:rPr lang="en-US" altLang="zh-CN" sz="2800">
                <a:solidFill>
                  <a:schemeClr val="tx2"/>
                </a:solidFill>
                <a:sym typeface="Symbol" panose="05050102010706020507" pitchFamily="18" charset="2"/>
              </a:rPr>
              <a:t>1 </a:t>
            </a:r>
            <a:endParaRPr lang="en-US" altLang="zh-CN" sz="2800">
              <a:solidFill>
                <a:schemeClr val="tx2"/>
              </a:solidFill>
              <a:sym typeface="Symbol" panose="05050102010706020507" pitchFamily="18" charset="2"/>
            </a:endParaRPr>
          </a:p>
        </p:txBody>
      </p:sp>
      <p:sp>
        <p:nvSpPr>
          <p:cNvPr id="67591" name="Line 4"/>
          <p:cNvSpPr>
            <a:spLocks noChangeShapeType="1"/>
          </p:cNvSpPr>
          <p:nvPr/>
        </p:nvSpPr>
        <p:spPr bwMode="auto">
          <a:xfrm flipH="1">
            <a:off x="3779838" y="1341120"/>
            <a:ext cx="228600" cy="304800"/>
          </a:xfrm>
          <a:prstGeom prst="line">
            <a:avLst/>
          </a:prstGeom>
          <a:noFill/>
          <a:ln w="19050">
            <a:solidFill>
              <a:schemeClr val="folHlink"/>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592" name="Line 5"/>
          <p:cNvSpPr>
            <a:spLocks noChangeShapeType="1"/>
          </p:cNvSpPr>
          <p:nvPr/>
        </p:nvSpPr>
        <p:spPr bwMode="auto">
          <a:xfrm flipH="1">
            <a:off x="3707765" y="3933190"/>
            <a:ext cx="228600" cy="304800"/>
          </a:xfrm>
          <a:prstGeom prst="line">
            <a:avLst/>
          </a:prstGeom>
          <a:noFill/>
          <a:ln w="19050">
            <a:solidFill>
              <a:schemeClr val="folHlink"/>
            </a:solidFill>
            <a:miter lim="800000"/>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F9F0D30B-B250-428C-94F1-3CEA41E0AE24}"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861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3EF4D09-F26A-49B5-BB77-ACF37AAB7174}"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861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8613" name="Rectangle 2"/>
          <p:cNvSpPr>
            <a:spLocks noGrp="1" noChangeArrowheads="1"/>
          </p:cNvSpPr>
          <p:nvPr>
            <p:ph type="title"/>
          </p:nvPr>
        </p:nvSpPr>
        <p:spPr/>
        <p:txBody>
          <a:bodyPr/>
          <a:lstStyle/>
          <a:p>
            <a:pPr eaLnBrk="1" hangingPunct="1"/>
            <a:r>
              <a:rPr lang="zh-CN" altLang="en-US"/>
              <a:t>量词与联结词</a:t>
            </a:r>
            <a:r>
              <a:rPr lang="en-US" altLang="zh-CN"/>
              <a:t>3</a:t>
            </a:r>
            <a:endParaRPr lang="en-US" altLang="zh-CN"/>
          </a:p>
        </p:txBody>
      </p:sp>
      <p:sp>
        <p:nvSpPr>
          <p:cNvPr id="1098755" name="Rectangle 3"/>
          <p:cNvSpPr>
            <a:spLocks noGrp="1" noChangeArrowheads="1"/>
          </p:cNvSpPr>
          <p:nvPr>
            <p:ph type="body" idx="1"/>
          </p:nvPr>
        </p:nvSpPr>
        <p:spPr>
          <a:xfrm>
            <a:off x="460375" y="1196340"/>
            <a:ext cx="8682990" cy="4888230"/>
          </a:xfrm>
        </p:spPr>
        <p:txBody>
          <a:bodyPr/>
          <a:lstStyle/>
          <a:p>
            <a:pPr eaLnBrk="1" hangingPunct="1"/>
            <a:r>
              <a:rPr lang="zh-CN" altLang="en-US"/>
              <a:t>若任意事物都是素数，则任意事物也都是奇数</a:t>
            </a:r>
            <a:endParaRPr lang="zh-CN" altLang="en-US"/>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zh-CN" altLang="en-US"/>
          </a:p>
          <a:p>
            <a:pPr eaLnBrk="1" hangingPunct="1"/>
            <a:r>
              <a:rPr lang="zh-CN" altLang="en-US"/>
              <a:t>对任意事物，若它是素数，则它是奇数</a:t>
            </a:r>
            <a:endParaRPr lang="zh-CN" altLang="en-US"/>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zh-CN" altLang="en-US"/>
          </a:p>
          <a:p>
            <a:pPr eaLnBrk="1" hangingPunct="1"/>
            <a:r>
              <a:rPr lang="zh-CN" altLang="en-US"/>
              <a:t>显然</a:t>
            </a:r>
            <a:endParaRPr lang="en-US" altLang="zh-CN"/>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zh-CN" altLang="en-US">
                <a:sym typeface="Symbol" panose="05050102010706020507" pitchFamily="18" charset="2"/>
              </a:rPr>
              <a:t> </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sym typeface="Symbol" panose="05050102010706020507" pitchFamily="18" charset="2"/>
            </a:endParaRPr>
          </a:p>
          <a:p>
            <a:pPr lvl="1" eaLnBrk="1" hangingPunct="1"/>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sz="2400">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P</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 </a:t>
            </a:r>
            <a:r>
              <a:rPr lang="en-US" altLang="zh-CN">
                <a:latin typeface="Euclid" panose="02020503060505020303" pitchFamily="18"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x</a:t>
            </a:r>
            <a:r>
              <a:rPr lang="en-US" altLang="zh-CN">
                <a:sym typeface="Symbol" panose="05050102010706020507" pitchFamily="18" charset="2"/>
              </a:rPr>
              <a:t>) </a:t>
            </a:r>
            <a:r>
              <a:rPr lang="en-US" altLang="zh-CN" i="1">
                <a:sym typeface="Symbol" panose="05050102010706020507" pitchFamily="18" charset="2"/>
              </a:rPr>
              <a:t>Q</a:t>
            </a:r>
            <a:r>
              <a:rPr lang="en-US" altLang="zh-CN">
                <a:sym typeface="Symbol" panose="05050102010706020507" pitchFamily="18" charset="2"/>
              </a:rPr>
              <a:t>(</a:t>
            </a:r>
            <a:r>
              <a:rPr lang="en-US" altLang="zh-CN" i="1">
                <a:sym typeface="Symbol" panose="05050102010706020507" pitchFamily="18" charset="2"/>
              </a:rPr>
              <a:t>x</a:t>
            </a:r>
            <a:r>
              <a:rPr lang="en-US" altLang="zh-CN">
                <a:sym typeface="Symbol" panose="05050102010706020507" pitchFamily="18" charset="2"/>
              </a:rPr>
              <a:t>))</a:t>
            </a:r>
            <a:endParaRPr lang="en-US" altLang="zh-CN">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8755">
                                            <p:txEl>
                                              <p:pRg st="0" end="0"/>
                                            </p:txEl>
                                          </p:spTgt>
                                        </p:tgtEl>
                                        <p:attrNameLst>
                                          <p:attrName>style.visibility</p:attrName>
                                        </p:attrNameLst>
                                      </p:cBhvr>
                                      <p:to>
                                        <p:strVal val="visible"/>
                                      </p:to>
                                    </p:set>
                                    <p:anim calcmode="lin" valueType="num">
                                      <p:cBhvr additive="base">
                                        <p:cTn id="7" dur="500" fill="hold"/>
                                        <p:tgtEl>
                                          <p:spTgt spid="1098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875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98755">
                                            <p:txEl>
                                              <p:pRg st="1" end="1"/>
                                            </p:txEl>
                                          </p:spTgt>
                                        </p:tgtEl>
                                        <p:attrNameLst>
                                          <p:attrName>style.visibility</p:attrName>
                                        </p:attrNameLst>
                                      </p:cBhvr>
                                      <p:to>
                                        <p:strVal val="visible"/>
                                      </p:to>
                                    </p:set>
                                    <p:anim calcmode="lin" valueType="num">
                                      <p:cBhvr additive="base">
                                        <p:cTn id="11" dur="500" fill="hold"/>
                                        <p:tgtEl>
                                          <p:spTgt spid="109875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98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98755">
                                            <p:txEl>
                                              <p:pRg st="2" end="2"/>
                                            </p:txEl>
                                          </p:spTgt>
                                        </p:tgtEl>
                                        <p:attrNameLst>
                                          <p:attrName>style.visibility</p:attrName>
                                        </p:attrNameLst>
                                      </p:cBhvr>
                                      <p:to>
                                        <p:strVal val="visible"/>
                                      </p:to>
                                    </p:set>
                                    <p:anim calcmode="lin" valueType="num">
                                      <p:cBhvr additive="base">
                                        <p:cTn id="17" dur="500" fill="hold"/>
                                        <p:tgtEl>
                                          <p:spTgt spid="109875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875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98755">
                                            <p:txEl>
                                              <p:pRg st="3" end="3"/>
                                            </p:txEl>
                                          </p:spTgt>
                                        </p:tgtEl>
                                        <p:attrNameLst>
                                          <p:attrName>style.visibility</p:attrName>
                                        </p:attrNameLst>
                                      </p:cBhvr>
                                      <p:to>
                                        <p:strVal val="visible"/>
                                      </p:to>
                                    </p:set>
                                    <p:anim calcmode="lin" valueType="num">
                                      <p:cBhvr additive="base">
                                        <p:cTn id="21" dur="500" fill="hold"/>
                                        <p:tgtEl>
                                          <p:spTgt spid="109875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8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98755">
                                            <p:txEl>
                                              <p:pRg st="4" end="4"/>
                                            </p:txEl>
                                          </p:spTgt>
                                        </p:tgtEl>
                                        <p:attrNameLst>
                                          <p:attrName>style.visibility</p:attrName>
                                        </p:attrNameLst>
                                      </p:cBhvr>
                                      <p:to>
                                        <p:strVal val="visible"/>
                                      </p:to>
                                    </p:set>
                                    <p:anim calcmode="lin" valueType="num">
                                      <p:cBhvr additive="base">
                                        <p:cTn id="27" dur="500" fill="hold"/>
                                        <p:tgtEl>
                                          <p:spTgt spid="109875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9875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98755">
                                            <p:txEl>
                                              <p:pRg st="5" end="5"/>
                                            </p:txEl>
                                          </p:spTgt>
                                        </p:tgtEl>
                                        <p:attrNameLst>
                                          <p:attrName>style.visibility</p:attrName>
                                        </p:attrNameLst>
                                      </p:cBhvr>
                                      <p:to>
                                        <p:strVal val="visible"/>
                                      </p:to>
                                    </p:set>
                                    <p:anim calcmode="lin" valueType="num">
                                      <p:cBhvr additive="base">
                                        <p:cTn id="31" dur="500" fill="hold"/>
                                        <p:tgtEl>
                                          <p:spTgt spid="109875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98755">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98755">
                                            <p:txEl>
                                              <p:pRg st="6" end="6"/>
                                            </p:txEl>
                                          </p:spTgt>
                                        </p:tgtEl>
                                        <p:attrNameLst>
                                          <p:attrName>style.visibility</p:attrName>
                                        </p:attrNameLst>
                                      </p:cBhvr>
                                      <p:to>
                                        <p:strVal val="visible"/>
                                      </p:to>
                                    </p:set>
                                    <p:anim calcmode="lin" valueType="num">
                                      <p:cBhvr additive="base">
                                        <p:cTn id="35" dur="500" fill="hold"/>
                                        <p:tgtEl>
                                          <p:spTgt spid="1098755">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9875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8755" grpId="0" autoUpdateAnimBg="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8DA57C0-A780-4CDC-8EFF-DCD63C48823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963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17EA455-7854-4082-BC97-939EBFAAD239}"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6963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69637" name="Rectangle 2"/>
          <p:cNvSpPr>
            <a:spLocks noGrp="1" noChangeArrowheads="1"/>
          </p:cNvSpPr>
          <p:nvPr>
            <p:ph type="title"/>
          </p:nvPr>
        </p:nvSpPr>
        <p:spPr/>
        <p:txBody>
          <a:bodyPr/>
          <a:lstStyle/>
          <a:p>
            <a:pPr eaLnBrk="1" hangingPunct="1"/>
            <a:r>
              <a:rPr lang="zh-CN" altLang="en-US"/>
              <a:t>换名(</a:t>
            </a:r>
            <a:r>
              <a:rPr lang="en-US" altLang="zh-CN"/>
              <a:t>rename)</a:t>
            </a:r>
            <a:r>
              <a:rPr lang="zh-CN" altLang="en-US"/>
              <a:t>规则</a:t>
            </a:r>
            <a:endParaRPr lang="zh-CN" altLang="en-US"/>
          </a:p>
        </p:txBody>
      </p:sp>
      <p:sp>
        <p:nvSpPr>
          <p:cNvPr id="69638" name="Rectangle 3"/>
          <p:cNvSpPr>
            <a:spLocks noGrp="1" noChangeArrowheads="1"/>
          </p:cNvSpPr>
          <p:nvPr>
            <p:ph type="body" idx="1"/>
          </p:nvPr>
        </p:nvSpPr>
        <p:spPr>
          <a:xfrm>
            <a:off x="551180" y="1196340"/>
            <a:ext cx="8326755" cy="4888230"/>
          </a:xfrm>
        </p:spPr>
        <p:txBody>
          <a:bodyPr/>
          <a:lstStyle/>
          <a:p>
            <a:pPr eaLnBrk="1" hangingPunct="1">
              <a:lnSpc>
                <a:spcPct val="90000"/>
              </a:lnSpc>
            </a:pPr>
            <a:r>
              <a:rPr lang="zh-CN" altLang="en-US" dirty="0"/>
              <a:t>把某个</a:t>
            </a:r>
            <a:r>
              <a:rPr lang="zh-CN" altLang="en-US" dirty="0">
                <a:solidFill>
                  <a:schemeClr val="hlink"/>
                </a:solidFill>
              </a:rPr>
              <a:t>指导变项</a:t>
            </a:r>
            <a:r>
              <a:rPr lang="zh-CN" altLang="en-US" dirty="0"/>
              <a:t>和其量词辖域中所有同名的</a:t>
            </a:r>
            <a:r>
              <a:rPr lang="zh-CN" altLang="en-US" dirty="0">
                <a:solidFill>
                  <a:schemeClr val="hlink"/>
                </a:solidFill>
              </a:rPr>
              <a:t>约束出现</a:t>
            </a:r>
            <a:r>
              <a:rPr lang="zh-CN" altLang="en-US" dirty="0"/>
              <a:t>, 都换成某个新的个体变项符号.</a:t>
            </a:r>
            <a:endParaRPr lang="zh-CN" altLang="en-US" dirty="0"/>
          </a:p>
          <a:p>
            <a:pPr eaLnBrk="1" hangingPunct="1">
              <a:lnSpc>
                <a:spcPct val="90000"/>
              </a:lnSpc>
            </a:pPr>
            <a:r>
              <a:rPr lang="zh-CN" altLang="en-US" dirty="0"/>
              <a:t>例如:  </a:t>
            </a:r>
            <a:endParaRPr lang="zh-CN" altLang="en-US" dirty="0"/>
          </a:p>
          <a:p>
            <a:pPr lvl="1" eaLnBrk="1" hangingPunct="1">
              <a:lnSpc>
                <a:spcPct val="90000"/>
              </a:lnSpc>
            </a:pPr>
            <a:r>
              <a:rPr lang="zh-CN" altLang="en-US" dirty="0">
                <a:sym typeface="Symbol" panose="05050102010706020507" pitchFamily="18" charset="2"/>
              </a:rPr>
              <a:t> </a:t>
            </a:r>
            <a:r>
              <a:rPr lang="en-US" altLang="zh-CN" dirty="0">
                <a:sym typeface="Symbol" panose="05050102010706020507" pitchFamily="18" charset="2"/>
              </a:rPr>
              <a:t>x(A(x)</a:t>
            </a:r>
            <a:r>
              <a:rPr lang="zh-CN" altLang="en-US" dirty="0"/>
              <a:t>∧</a:t>
            </a:r>
            <a:r>
              <a:rPr lang="en-US" altLang="zh-CN" dirty="0">
                <a:sym typeface="Symbol" panose="05050102010706020507" pitchFamily="18" charset="2"/>
              </a:rPr>
              <a:t>B(x))  </a:t>
            </a:r>
            <a:r>
              <a:rPr lang="zh-CN" altLang="en-US" dirty="0">
                <a:sym typeface="Symbol" panose="05050102010706020507" pitchFamily="18" charset="2"/>
              </a:rPr>
              <a:t></a:t>
            </a:r>
            <a:r>
              <a:rPr lang="en-US" altLang="zh-CN" dirty="0">
                <a:sym typeface="Symbol" panose="05050102010706020507" pitchFamily="18" charset="2"/>
              </a:rPr>
              <a:t>y(A(y)</a:t>
            </a:r>
            <a:r>
              <a:rPr lang="zh-CN" altLang="en-US" dirty="0"/>
              <a:t>∧</a:t>
            </a:r>
            <a:r>
              <a:rPr lang="en-US" altLang="zh-CN" dirty="0">
                <a:sym typeface="Symbol" panose="05050102010706020507" pitchFamily="18" charset="2"/>
              </a:rPr>
              <a:t>B(y))</a:t>
            </a:r>
            <a:endParaRPr lang="en-US" altLang="zh-CN" dirty="0">
              <a:sym typeface="Symbol" panose="05050102010706020507" pitchFamily="18" charset="2"/>
            </a:endParaRPr>
          </a:p>
          <a:p>
            <a:pPr lvl="1" eaLnBrk="1" hangingPunct="1">
              <a:lnSpc>
                <a:spcPct val="90000"/>
              </a:lnSpc>
            </a:pPr>
            <a:r>
              <a:rPr lang="zh-CN" altLang="en-US" dirty="0">
                <a:sym typeface="Symbol" panose="05050102010706020507" pitchFamily="18" charset="2"/>
              </a:rPr>
              <a:t> </a:t>
            </a:r>
            <a:r>
              <a:rPr lang="en-US" altLang="zh-CN" dirty="0" err="1">
                <a:sym typeface="Symbol" panose="05050102010706020507" pitchFamily="18" charset="2"/>
              </a:rPr>
              <a:t>xA</a:t>
            </a:r>
            <a:r>
              <a:rPr lang="en-US" altLang="zh-CN" dirty="0">
                <a:sym typeface="Symbol" panose="05050102010706020507" pitchFamily="18" charset="2"/>
              </a:rPr>
              <a:t>(x)</a:t>
            </a:r>
            <a:r>
              <a:rPr lang="zh-CN" altLang="en-US" dirty="0"/>
              <a:t>∧</a:t>
            </a:r>
            <a:r>
              <a:rPr lang="zh-CN" altLang="en-US" dirty="0">
                <a:sym typeface="Symbol" panose="05050102010706020507" pitchFamily="18" charset="2"/>
              </a:rPr>
              <a:t></a:t>
            </a:r>
            <a:r>
              <a:rPr lang="en-US" altLang="zh-CN" dirty="0" err="1">
                <a:sym typeface="Symbol" panose="05050102010706020507" pitchFamily="18" charset="2"/>
              </a:rPr>
              <a:t>xB</a:t>
            </a:r>
            <a:r>
              <a:rPr lang="en-US" altLang="zh-CN" dirty="0">
                <a:sym typeface="Symbol" panose="05050102010706020507" pitchFamily="18" charset="2"/>
              </a:rPr>
              <a:t>(x)  </a:t>
            </a:r>
            <a:r>
              <a:rPr lang="zh-CN" altLang="en-US" dirty="0">
                <a:sym typeface="Symbol" panose="05050102010706020507" pitchFamily="18" charset="2"/>
              </a:rPr>
              <a:t></a:t>
            </a:r>
            <a:r>
              <a:rPr lang="en-US" altLang="zh-CN" dirty="0" err="1">
                <a:sym typeface="Symbol" panose="05050102010706020507" pitchFamily="18" charset="2"/>
              </a:rPr>
              <a:t>yA</a:t>
            </a:r>
            <a:r>
              <a:rPr lang="en-US" altLang="zh-CN" dirty="0">
                <a:sym typeface="Symbol" panose="05050102010706020507" pitchFamily="18" charset="2"/>
              </a:rPr>
              <a:t>(y)</a:t>
            </a:r>
            <a:r>
              <a:rPr lang="zh-CN" altLang="en-US" dirty="0"/>
              <a:t>∧</a:t>
            </a:r>
            <a:r>
              <a:rPr lang="zh-CN" altLang="en-US" dirty="0">
                <a:sym typeface="Symbol" panose="05050102010706020507" pitchFamily="18" charset="2"/>
              </a:rPr>
              <a:t></a:t>
            </a:r>
            <a:r>
              <a:rPr lang="en-US" altLang="zh-CN" dirty="0" err="1">
                <a:sym typeface="Symbol" panose="05050102010706020507" pitchFamily="18" charset="2"/>
              </a:rPr>
              <a:t>zB</a:t>
            </a:r>
            <a:r>
              <a:rPr lang="en-US" altLang="zh-CN" dirty="0">
                <a:sym typeface="Symbol" panose="05050102010706020507" pitchFamily="18" charset="2"/>
              </a:rPr>
              <a:t>(z)</a:t>
            </a:r>
            <a:endParaRPr lang="en-US" altLang="zh-CN" dirty="0">
              <a:sym typeface="Symbol" panose="05050102010706020507" pitchFamily="18" charset="2"/>
            </a:endParaRPr>
          </a:p>
          <a:p>
            <a:pPr lvl="1" eaLnBrk="1" hangingPunct="1">
              <a:lnSpc>
                <a:spcPct val="90000"/>
              </a:lnSpc>
            </a:pPr>
            <a:r>
              <a:rPr lang="en-US" altLang="zh-CN" dirty="0">
                <a:sym typeface="Symbol" panose="05050102010706020507" pitchFamily="18" charset="2"/>
              </a:rPr>
              <a:t>  H(</a:t>
            </a:r>
            <a:r>
              <a:rPr lang="en-US" altLang="zh-CN" dirty="0" err="1">
                <a:sym typeface="Symbol" panose="05050102010706020507" pitchFamily="18" charset="2"/>
              </a:rPr>
              <a:t>x,y</a:t>
            </a:r>
            <a:r>
              <a:rPr lang="en-US" altLang="zh-CN" dirty="0">
                <a:sym typeface="Symbol" panose="05050102010706020507" pitchFamily="18" charset="2"/>
              </a:rPr>
              <a:t>)</a:t>
            </a:r>
            <a:r>
              <a:rPr lang="zh-CN" altLang="en-US" dirty="0"/>
              <a:t>∨</a:t>
            </a:r>
            <a:r>
              <a:rPr lang="zh-CN" altLang="en-US" dirty="0">
                <a:sym typeface="Symbol" panose="05050102010706020507" pitchFamily="18" charset="2"/>
              </a:rPr>
              <a:t></a:t>
            </a:r>
            <a:r>
              <a:rPr lang="en-US" altLang="zh-CN" dirty="0" err="1">
                <a:sym typeface="Symbol" panose="05050102010706020507" pitchFamily="18" charset="2"/>
              </a:rPr>
              <a:t>xF</a:t>
            </a:r>
            <a:r>
              <a:rPr lang="en-US" altLang="zh-CN" dirty="0">
                <a:sym typeface="Symbol" panose="05050102010706020507" pitchFamily="18" charset="2"/>
              </a:rPr>
              <a:t>(x)</a:t>
            </a:r>
            <a:r>
              <a:rPr lang="zh-CN" altLang="en-US" dirty="0"/>
              <a:t>∨</a:t>
            </a:r>
            <a:r>
              <a:rPr lang="en-US" altLang="zh-CN" dirty="0">
                <a:sym typeface="Symbol" panose="05050102010706020507" pitchFamily="18" charset="2"/>
              </a:rPr>
              <a:t>y(G(y)H(</a:t>
            </a:r>
            <a:r>
              <a:rPr lang="en-US" altLang="zh-CN" dirty="0" err="1">
                <a:sym typeface="Symbol" panose="05050102010706020507" pitchFamily="18" charset="2"/>
              </a:rPr>
              <a:t>x,y</a:t>
            </a:r>
            <a:r>
              <a:rPr lang="en-US" altLang="zh-CN" dirty="0">
                <a:sym typeface="Symbol" panose="05050102010706020507" pitchFamily="18" charset="2"/>
              </a:rPr>
              <a:t>))</a:t>
            </a:r>
            <a:endParaRPr lang="en-US" altLang="zh-CN" dirty="0">
              <a:sym typeface="Symbol" panose="05050102010706020507" pitchFamily="18" charset="2"/>
            </a:endParaRPr>
          </a:p>
          <a:p>
            <a:pPr lvl="1" eaLnBrk="1" hangingPunct="1">
              <a:lnSpc>
                <a:spcPct val="90000"/>
              </a:lnSpc>
              <a:buFont typeface="Wingdings" panose="05000000000000000000" pitchFamily="2" charset="2"/>
              <a:buNone/>
            </a:pPr>
            <a:r>
              <a:rPr lang="en-US" altLang="zh-CN" dirty="0">
                <a:sym typeface="Symbol" panose="05050102010706020507" pitchFamily="18" charset="2"/>
              </a:rPr>
              <a:t> H(</a:t>
            </a:r>
            <a:r>
              <a:rPr lang="en-US" altLang="zh-CN" dirty="0" err="1">
                <a:sym typeface="Symbol" panose="05050102010706020507" pitchFamily="18" charset="2"/>
              </a:rPr>
              <a:t>x,y</a:t>
            </a:r>
            <a:r>
              <a:rPr lang="en-US" altLang="zh-CN" dirty="0">
                <a:sym typeface="Symbol" panose="05050102010706020507" pitchFamily="18" charset="2"/>
              </a:rPr>
              <a:t>)</a:t>
            </a:r>
            <a:r>
              <a:rPr lang="zh-CN" altLang="en-US" dirty="0"/>
              <a:t>∨</a:t>
            </a:r>
            <a:r>
              <a:rPr lang="zh-CN" altLang="en-US" dirty="0">
                <a:sym typeface="Symbol" panose="05050102010706020507" pitchFamily="18" charset="2"/>
              </a:rPr>
              <a:t></a:t>
            </a:r>
            <a:r>
              <a:rPr lang="en-US" altLang="zh-CN" dirty="0" err="1">
                <a:sym typeface="Symbol" panose="05050102010706020507" pitchFamily="18" charset="2"/>
              </a:rPr>
              <a:t>zF</a:t>
            </a:r>
            <a:r>
              <a:rPr lang="en-US" altLang="zh-CN" dirty="0">
                <a:sym typeface="Symbol" panose="05050102010706020507" pitchFamily="18" charset="2"/>
              </a:rPr>
              <a:t>(z)</a:t>
            </a:r>
            <a:r>
              <a:rPr lang="zh-CN" altLang="en-US" dirty="0"/>
              <a:t>∨</a:t>
            </a:r>
            <a:r>
              <a:rPr lang="en-US" altLang="zh-CN" dirty="0">
                <a:sym typeface="Symbol" panose="05050102010706020507" pitchFamily="18" charset="2"/>
              </a:rPr>
              <a:t>u(G(u)H(</a:t>
            </a:r>
            <a:r>
              <a:rPr lang="en-US" altLang="zh-CN" dirty="0" err="1">
                <a:sym typeface="Symbol" panose="05050102010706020507" pitchFamily="18" charset="2"/>
              </a:rPr>
              <a:t>x,u</a:t>
            </a:r>
            <a:r>
              <a:rPr lang="en-US" altLang="zh-CN" dirty="0">
                <a:sym typeface="Symbol" panose="05050102010706020507" pitchFamily="18" charset="2"/>
              </a:rPr>
              <a:t>))</a:t>
            </a:r>
            <a:endParaRPr lang="en-US" altLang="zh-CN" dirty="0">
              <a:sym typeface="Symbol" panose="05050102010706020507" pitchFamily="18" charset="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38DD7186-BF0E-47A7-88E7-DC8FFE522E09}"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7065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5567C74E-2137-4811-966D-A6A9851C80B3}"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7066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70661" name="Rectangle 2"/>
          <p:cNvSpPr>
            <a:spLocks noGrp="1" noChangeArrowheads="1"/>
          </p:cNvSpPr>
          <p:nvPr>
            <p:ph type="title"/>
          </p:nvPr>
        </p:nvSpPr>
        <p:spPr/>
        <p:txBody>
          <a:bodyPr/>
          <a:lstStyle/>
          <a:p>
            <a:pPr eaLnBrk="1" hangingPunct="1"/>
            <a:r>
              <a:rPr lang="zh-CN" altLang="en-US"/>
              <a:t>代替(</a:t>
            </a:r>
            <a:r>
              <a:rPr lang="en-US" altLang="zh-CN"/>
              <a:t>substitute)</a:t>
            </a:r>
            <a:r>
              <a:rPr lang="zh-CN" altLang="en-US"/>
              <a:t>规则</a:t>
            </a:r>
            <a:endParaRPr lang="zh-CN" altLang="en-US"/>
          </a:p>
        </p:txBody>
      </p:sp>
      <p:sp>
        <p:nvSpPr>
          <p:cNvPr id="70662" name="Rectangle 3"/>
          <p:cNvSpPr>
            <a:spLocks noGrp="1" noChangeArrowheads="1"/>
          </p:cNvSpPr>
          <p:nvPr>
            <p:ph type="body" idx="1"/>
          </p:nvPr>
        </p:nvSpPr>
        <p:spPr/>
        <p:txBody>
          <a:bodyPr/>
          <a:lstStyle/>
          <a:p>
            <a:pPr eaLnBrk="1" hangingPunct="1"/>
            <a:r>
              <a:rPr lang="zh-CN" altLang="en-US" dirty="0"/>
              <a:t>把某个</a:t>
            </a:r>
            <a:r>
              <a:rPr lang="zh-CN" altLang="en-US" dirty="0">
                <a:solidFill>
                  <a:schemeClr val="hlink"/>
                </a:solidFill>
              </a:rPr>
              <a:t>自由变项</a:t>
            </a:r>
            <a:r>
              <a:rPr lang="zh-CN" altLang="en-US" dirty="0"/>
              <a:t>的所有出现, 都换成某个新的个体变项符号.</a:t>
            </a:r>
            <a:endParaRPr lang="zh-CN" altLang="en-US" dirty="0"/>
          </a:p>
          <a:p>
            <a:pPr eaLnBrk="1" hangingPunct="1"/>
            <a:r>
              <a:rPr lang="zh-CN" altLang="en-US" dirty="0"/>
              <a:t>例如:  </a:t>
            </a:r>
            <a:endParaRPr lang="zh-CN" altLang="en-US" dirty="0"/>
          </a:p>
          <a:p>
            <a:pPr lvl="1" eaLnBrk="1" hangingPunct="1"/>
            <a:r>
              <a:rPr lang="zh-CN" altLang="en-US" dirty="0">
                <a:sym typeface="Symbol" panose="05050102010706020507" pitchFamily="18" charset="2"/>
              </a:rPr>
              <a:t> </a:t>
            </a:r>
            <a:r>
              <a:rPr lang="en-US" altLang="zh-CN" dirty="0">
                <a:sym typeface="Symbol" panose="05050102010706020507" pitchFamily="18" charset="2"/>
              </a:rPr>
              <a:t>A(x)</a:t>
            </a:r>
            <a:r>
              <a:rPr lang="zh-CN" altLang="en-US" dirty="0"/>
              <a:t>∧</a:t>
            </a:r>
            <a:r>
              <a:rPr lang="en-US" altLang="zh-CN" dirty="0">
                <a:sym typeface="Symbol" panose="05050102010706020507" pitchFamily="18" charset="2"/>
              </a:rPr>
              <a:t>B(x)  A(</a:t>
            </a:r>
            <a:r>
              <a:rPr lang="en-US" altLang="zh-CN" dirty="0">
                <a:solidFill>
                  <a:srgbClr val="008080"/>
                </a:solidFill>
                <a:sym typeface="Symbol" panose="05050102010706020507" pitchFamily="18" charset="2"/>
              </a:rPr>
              <a:t>y</a:t>
            </a:r>
            <a:r>
              <a:rPr lang="en-US" altLang="zh-CN" dirty="0">
                <a:sym typeface="Symbol" panose="05050102010706020507" pitchFamily="18" charset="2"/>
              </a:rPr>
              <a:t>)</a:t>
            </a:r>
            <a:r>
              <a:rPr lang="zh-CN" altLang="en-US" dirty="0"/>
              <a:t>∧</a:t>
            </a:r>
            <a:r>
              <a:rPr lang="en-US" altLang="zh-CN" dirty="0">
                <a:sym typeface="Symbol" panose="05050102010706020507" pitchFamily="18" charset="2"/>
              </a:rPr>
              <a:t>B(</a:t>
            </a:r>
            <a:r>
              <a:rPr lang="en-US" altLang="zh-CN" dirty="0">
                <a:solidFill>
                  <a:srgbClr val="009999"/>
                </a:solidFill>
                <a:sym typeface="Symbol" panose="05050102010706020507" pitchFamily="18" charset="2"/>
              </a:rPr>
              <a:t>y</a:t>
            </a:r>
            <a:r>
              <a:rPr lang="en-US" altLang="zh-CN" dirty="0">
                <a:sym typeface="Symbol" panose="05050102010706020507" pitchFamily="18" charset="2"/>
              </a:rPr>
              <a:t>)</a:t>
            </a:r>
            <a:endParaRPr lang="en-US" altLang="zh-CN" dirty="0">
              <a:sym typeface="Symbol" panose="05050102010706020507" pitchFamily="18" charset="2"/>
            </a:endParaRPr>
          </a:p>
          <a:p>
            <a:pPr lvl="1" eaLnBrk="1" hangingPunct="1"/>
            <a:r>
              <a:rPr lang="zh-CN" altLang="en-US" dirty="0">
                <a:sym typeface="Symbol" panose="05050102010706020507" pitchFamily="18" charset="2"/>
              </a:rPr>
              <a:t> </a:t>
            </a:r>
            <a:r>
              <a:rPr lang="en-US" altLang="zh-CN" dirty="0" err="1">
                <a:sym typeface="Symbol" panose="05050102010706020507" pitchFamily="18" charset="2"/>
              </a:rPr>
              <a:t>xA</a:t>
            </a:r>
            <a:r>
              <a:rPr lang="en-US" altLang="zh-CN" dirty="0">
                <a:sym typeface="Symbol" panose="05050102010706020507" pitchFamily="18" charset="2"/>
              </a:rPr>
              <a:t>(x)</a:t>
            </a:r>
            <a:r>
              <a:rPr lang="zh-CN" altLang="en-US" dirty="0"/>
              <a:t>∧</a:t>
            </a:r>
            <a:r>
              <a:rPr lang="en-US" altLang="zh-CN" dirty="0">
                <a:sym typeface="Symbol" panose="05050102010706020507" pitchFamily="18" charset="2"/>
              </a:rPr>
              <a:t>B(x)  </a:t>
            </a:r>
            <a:r>
              <a:rPr lang="zh-CN" altLang="en-US" dirty="0">
                <a:sym typeface="Symbol" panose="05050102010706020507" pitchFamily="18" charset="2"/>
              </a:rPr>
              <a:t></a:t>
            </a:r>
            <a:r>
              <a:rPr lang="en-US" altLang="zh-CN" dirty="0" err="1">
                <a:sym typeface="Symbol" panose="05050102010706020507" pitchFamily="18" charset="2"/>
              </a:rPr>
              <a:t>xA</a:t>
            </a:r>
            <a:r>
              <a:rPr lang="en-US" altLang="zh-CN" dirty="0">
                <a:sym typeface="Symbol" panose="05050102010706020507" pitchFamily="18" charset="2"/>
              </a:rPr>
              <a:t>(x)</a:t>
            </a:r>
            <a:r>
              <a:rPr lang="zh-CN" altLang="en-US" dirty="0"/>
              <a:t>∧</a:t>
            </a:r>
            <a:r>
              <a:rPr lang="en-US" altLang="zh-CN" dirty="0">
                <a:sym typeface="Symbol" panose="05050102010706020507" pitchFamily="18" charset="2"/>
              </a:rPr>
              <a:t>B(</a:t>
            </a:r>
            <a:r>
              <a:rPr lang="en-US" altLang="zh-CN" dirty="0">
                <a:solidFill>
                  <a:srgbClr val="009999"/>
                </a:solidFill>
                <a:sym typeface="Symbol" panose="05050102010706020507" pitchFamily="18" charset="2"/>
              </a:rPr>
              <a:t>y</a:t>
            </a:r>
            <a:r>
              <a:rPr lang="en-US" altLang="zh-CN" dirty="0">
                <a:sym typeface="Symbol" panose="05050102010706020507" pitchFamily="18" charset="2"/>
              </a:rPr>
              <a:t>)</a:t>
            </a:r>
            <a:endParaRPr lang="en-US" altLang="zh-CN" dirty="0">
              <a:sym typeface="Symbol" panose="05050102010706020507" pitchFamily="18" charset="2"/>
            </a:endParaRPr>
          </a:p>
          <a:p>
            <a:pPr lvl="1" eaLnBrk="1" hangingPunct="1"/>
            <a:r>
              <a:rPr lang="en-US" altLang="zh-CN" dirty="0">
                <a:sym typeface="Symbol" panose="05050102010706020507" pitchFamily="18" charset="2"/>
              </a:rPr>
              <a:t>  H(</a:t>
            </a:r>
            <a:r>
              <a:rPr lang="en-US" altLang="zh-CN" dirty="0" err="1">
                <a:sym typeface="Symbol" panose="05050102010706020507" pitchFamily="18" charset="2"/>
              </a:rPr>
              <a:t>x,y</a:t>
            </a:r>
            <a:r>
              <a:rPr lang="en-US" altLang="zh-CN" dirty="0">
                <a:sym typeface="Symbol" panose="05050102010706020507" pitchFamily="18" charset="2"/>
              </a:rPr>
              <a:t>)</a:t>
            </a:r>
            <a:r>
              <a:rPr lang="zh-CN" altLang="en-US" dirty="0"/>
              <a:t>∨</a:t>
            </a:r>
            <a:r>
              <a:rPr lang="zh-CN" altLang="en-US" dirty="0">
                <a:sym typeface="Symbol" panose="05050102010706020507" pitchFamily="18" charset="2"/>
              </a:rPr>
              <a:t></a:t>
            </a:r>
            <a:r>
              <a:rPr lang="en-US" altLang="zh-CN" dirty="0" err="1">
                <a:sym typeface="Symbol" panose="05050102010706020507" pitchFamily="18" charset="2"/>
              </a:rPr>
              <a:t>xF</a:t>
            </a:r>
            <a:r>
              <a:rPr lang="en-US" altLang="zh-CN" dirty="0">
                <a:sym typeface="Symbol" panose="05050102010706020507" pitchFamily="18" charset="2"/>
              </a:rPr>
              <a:t>(x)</a:t>
            </a:r>
            <a:r>
              <a:rPr lang="zh-CN" altLang="en-US" dirty="0"/>
              <a:t>∨</a:t>
            </a:r>
            <a:r>
              <a:rPr lang="en-US" altLang="zh-CN" dirty="0">
                <a:sym typeface="Symbol" panose="05050102010706020507" pitchFamily="18" charset="2"/>
              </a:rPr>
              <a:t>y(G(y)H(</a:t>
            </a:r>
            <a:r>
              <a:rPr lang="en-US" altLang="zh-CN" dirty="0" err="1">
                <a:sym typeface="Symbol" panose="05050102010706020507" pitchFamily="18" charset="2"/>
              </a:rPr>
              <a:t>x,y</a:t>
            </a:r>
            <a:r>
              <a:rPr lang="en-US" altLang="zh-CN" dirty="0">
                <a:sym typeface="Symbol" panose="05050102010706020507" pitchFamily="18" charset="2"/>
              </a:rPr>
              <a:t>))</a:t>
            </a:r>
            <a:endParaRPr lang="en-US" altLang="zh-CN" dirty="0">
              <a:sym typeface="Symbol" panose="05050102010706020507" pitchFamily="18" charset="2"/>
            </a:endParaRPr>
          </a:p>
          <a:p>
            <a:pPr lvl="1" eaLnBrk="1" hangingPunct="1">
              <a:buFont typeface="Wingdings" panose="05000000000000000000" pitchFamily="2" charset="2"/>
              <a:buNone/>
            </a:pPr>
            <a:r>
              <a:rPr lang="en-US" altLang="zh-CN" dirty="0">
                <a:sym typeface="Symbol" panose="05050102010706020507" pitchFamily="18" charset="2"/>
              </a:rPr>
              <a:t> H(</a:t>
            </a:r>
            <a:r>
              <a:rPr lang="en-US" altLang="zh-CN" dirty="0" err="1">
                <a:solidFill>
                  <a:srgbClr val="009999"/>
                </a:solidFill>
                <a:sym typeface="Symbol" panose="05050102010706020507" pitchFamily="18" charset="2"/>
              </a:rPr>
              <a:t>s</a:t>
            </a:r>
            <a:r>
              <a:rPr lang="en-US" altLang="zh-CN" dirty="0" err="1">
                <a:sym typeface="Symbol" panose="05050102010706020507" pitchFamily="18" charset="2"/>
              </a:rPr>
              <a:t>,</a:t>
            </a:r>
            <a:r>
              <a:rPr lang="en-US" altLang="zh-CN" dirty="0" err="1">
                <a:solidFill>
                  <a:srgbClr val="CC0000"/>
                </a:solidFill>
                <a:sym typeface="Symbol" panose="05050102010706020507" pitchFamily="18" charset="2"/>
              </a:rPr>
              <a:t>t</a:t>
            </a:r>
            <a:r>
              <a:rPr lang="en-US" altLang="zh-CN" dirty="0">
                <a:sym typeface="Symbol" panose="05050102010706020507" pitchFamily="18" charset="2"/>
              </a:rPr>
              <a:t>)</a:t>
            </a:r>
            <a:r>
              <a:rPr lang="zh-CN" altLang="en-US" dirty="0"/>
              <a:t>∨</a:t>
            </a:r>
            <a:r>
              <a:rPr lang="zh-CN" altLang="en-US" dirty="0">
                <a:sym typeface="Symbol" panose="05050102010706020507" pitchFamily="18" charset="2"/>
              </a:rPr>
              <a:t></a:t>
            </a:r>
            <a:r>
              <a:rPr lang="en-US" altLang="zh-CN" dirty="0" err="1">
                <a:sym typeface="Symbol" panose="05050102010706020507" pitchFamily="18" charset="2"/>
              </a:rPr>
              <a:t>xF</a:t>
            </a:r>
            <a:r>
              <a:rPr lang="en-US" altLang="zh-CN" dirty="0">
                <a:sym typeface="Symbol" panose="05050102010706020507" pitchFamily="18" charset="2"/>
              </a:rPr>
              <a:t>(x)</a:t>
            </a:r>
            <a:r>
              <a:rPr lang="zh-CN" altLang="en-US" dirty="0"/>
              <a:t>∨</a:t>
            </a:r>
            <a:r>
              <a:rPr lang="en-US" altLang="zh-CN" dirty="0">
                <a:sym typeface="Symbol" panose="05050102010706020507" pitchFamily="18" charset="2"/>
              </a:rPr>
              <a:t>y(G(y)H(</a:t>
            </a:r>
            <a:r>
              <a:rPr lang="en-US" altLang="zh-CN" dirty="0" err="1">
                <a:solidFill>
                  <a:srgbClr val="009999"/>
                </a:solidFill>
                <a:sym typeface="Symbol" panose="05050102010706020507" pitchFamily="18" charset="2"/>
              </a:rPr>
              <a:t>s</a:t>
            </a:r>
            <a:r>
              <a:rPr lang="en-US" altLang="zh-CN" dirty="0" err="1">
                <a:sym typeface="Symbol" panose="05050102010706020507" pitchFamily="18" charset="2"/>
              </a:rPr>
              <a:t>,y</a:t>
            </a:r>
            <a:r>
              <a:rPr lang="en-US" altLang="zh-CN" dirty="0">
                <a:sym typeface="Symbol" panose="05050102010706020507" pitchFamily="18" charset="2"/>
              </a:rPr>
              <a:t>))</a:t>
            </a:r>
            <a:endParaRPr lang="en-US" altLang="zh-CN" dirty="0">
              <a:sym typeface="Symbol" panose="05050102010706020507" pitchFamily="18" charset="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B10A8D66-74B5-4A14-81B4-E290AF85E783}"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7168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626F3574-2C40-4B5D-A092-087B3FBB3B08}"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7168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71685" name="Rectangle 2"/>
          <p:cNvSpPr>
            <a:spLocks noGrp="1" noChangeArrowheads="1"/>
          </p:cNvSpPr>
          <p:nvPr>
            <p:ph type="title"/>
          </p:nvPr>
        </p:nvSpPr>
        <p:spPr/>
        <p:txBody>
          <a:bodyPr/>
          <a:lstStyle/>
          <a:p>
            <a:pPr eaLnBrk="1" hangingPunct="1"/>
            <a:r>
              <a:rPr lang="zh-CN" altLang="en-US" dirty="0"/>
              <a:t>谓词公式的范式</a:t>
            </a:r>
            <a:r>
              <a:rPr lang="en-US" altLang="zh-CN" dirty="0"/>
              <a:t>(NF)</a:t>
            </a:r>
            <a:endParaRPr lang="zh-CN" altLang="en-US" dirty="0"/>
          </a:p>
        </p:txBody>
      </p:sp>
      <p:sp>
        <p:nvSpPr>
          <p:cNvPr id="71686" name="Rectangle 3"/>
          <p:cNvSpPr>
            <a:spLocks noGrp="1" noChangeArrowheads="1"/>
          </p:cNvSpPr>
          <p:nvPr>
            <p:ph type="body" idx="1"/>
          </p:nvPr>
        </p:nvSpPr>
        <p:spPr/>
        <p:txBody>
          <a:bodyPr/>
          <a:lstStyle/>
          <a:p>
            <a:pPr eaLnBrk="1" hangingPunct="1">
              <a:lnSpc>
                <a:spcPct val="120000"/>
              </a:lnSpc>
              <a:spcAft>
                <a:spcPts val="0"/>
              </a:spcAft>
            </a:pPr>
            <a:r>
              <a:rPr lang="zh-CN" altLang="en-US" sz="2800" b="1" dirty="0">
                <a:latin typeface="Times New Roman" panose="02020503050405090304" pitchFamily="18" charset="0"/>
                <a:cs typeface="Times New Roman" panose="02020503050405090304" pitchFamily="18" charset="0"/>
              </a:rPr>
              <a:t>前束范式（</a:t>
            </a:r>
            <a:r>
              <a:rPr kumimoji="0" lang="en-US" altLang="zh-CN" sz="2800" b="1" dirty="0" err="1">
                <a:latin typeface="Times New Roman" panose="02020503050405090304" pitchFamily="18" charset="0"/>
                <a:cs typeface="Times New Roman" panose="02020503050405090304" pitchFamily="18" charset="0"/>
              </a:rPr>
              <a:t>Prenex</a:t>
            </a:r>
            <a:r>
              <a:rPr kumimoji="0" lang="en-US" altLang="zh-CN" sz="2800" b="1" dirty="0">
                <a:latin typeface="Times New Roman" panose="02020503050405090304" pitchFamily="18" charset="0"/>
                <a:cs typeface="Times New Roman" panose="02020503050405090304" pitchFamily="18" charset="0"/>
              </a:rPr>
              <a:t> Normal Form </a:t>
            </a:r>
            <a:r>
              <a:rPr lang="zh-CN" altLang="en-US" sz="2800" b="1" dirty="0">
                <a:latin typeface="Times New Roman" panose="02020503050405090304" pitchFamily="18" charset="0"/>
                <a:cs typeface="Times New Roman" panose="02020503050405090304" pitchFamily="18" charset="0"/>
              </a:rPr>
              <a:t>）</a:t>
            </a:r>
            <a:endParaRPr lang="en-US" altLang="zh-CN" sz="2800" b="1" dirty="0">
              <a:latin typeface="Times New Roman" panose="02020503050405090304" pitchFamily="18" charset="0"/>
              <a:cs typeface="Times New Roman" panose="02020503050405090304" pitchFamily="18" charset="0"/>
            </a:endParaRPr>
          </a:p>
          <a:p>
            <a:pPr lvl="1" eaLnBrk="1" hangingPunct="1">
              <a:lnSpc>
                <a:spcPct val="120000"/>
              </a:lnSpc>
              <a:spcAft>
                <a:spcPts val="600"/>
              </a:spcAft>
            </a:pPr>
            <a:r>
              <a:rPr lang="zh-CN" altLang="en-US" sz="2400" dirty="0">
                <a:latin typeface="Times New Roman" panose="02020503050405090304" pitchFamily="18" charset="0"/>
                <a:cs typeface="Times New Roman" panose="02020503050405090304" pitchFamily="18" charset="0"/>
              </a:rPr>
              <a:t>如果量词均在合式公式的开头，它们的辖域延伸到整个公式末尾，则该公式称为前束范式。</a:t>
            </a:r>
            <a:endParaRPr lang="zh-CN" altLang="en-US" sz="2400" dirty="0">
              <a:latin typeface="Times New Roman" panose="02020503050405090304" pitchFamily="18" charset="0"/>
              <a:cs typeface="Times New Roman" panose="02020503050405090304" pitchFamily="18" charset="0"/>
            </a:endParaRPr>
          </a:p>
          <a:p>
            <a:pPr lvl="2" eaLnBrk="1" hangingPunct="1">
              <a:lnSpc>
                <a:spcPct val="120000"/>
              </a:lnSpc>
              <a:spcAft>
                <a:spcPts val="600"/>
              </a:spcAft>
            </a:pP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r>
              <a:rPr lang="en-US" altLang="zh-CN" dirty="0" err="1">
                <a:latin typeface="Times New Roman" panose="02020503050405090304" pitchFamily="18" charset="0"/>
                <a:cs typeface="Times New Roman" panose="02020503050405090304" pitchFamily="18" charset="0"/>
              </a:rPr>
              <a:t>x</a:t>
            </a:r>
            <a:r>
              <a:rPr lang="en-US" altLang="zh-CN" dirty="0" err="1">
                <a:latin typeface="Times New Roman" panose="02020503050405090304" pitchFamily="18" charset="0"/>
                <a:cs typeface="Times New Roman" panose="02020503050405090304" pitchFamily="18" charset="0"/>
                <a:sym typeface="Symbol" panose="05050102010706020507" pitchFamily="18" charset="2"/>
              </a:rPr>
              <a:t></a:t>
            </a:r>
            <a:r>
              <a:rPr lang="en-US" altLang="zh-CN" dirty="0" err="1">
                <a:latin typeface="Times New Roman" panose="02020503050405090304" pitchFamily="18" charset="0"/>
                <a:cs typeface="Times New Roman" panose="02020503050405090304" pitchFamily="18" charset="0"/>
              </a:rPr>
              <a:t>y</a:t>
            </a:r>
            <a:r>
              <a:rPr lang="en-US" altLang="zh-CN" dirty="0" err="1">
                <a:latin typeface="Times New Roman" panose="02020503050405090304" pitchFamily="18" charset="0"/>
                <a:cs typeface="Times New Roman" panose="02020503050405090304" pitchFamily="18" charset="0"/>
                <a:sym typeface="Symbol" panose="05050102010706020507" pitchFamily="18" charset="2"/>
              </a:rPr>
              <a:t></a:t>
            </a:r>
            <a:r>
              <a:rPr lang="en-US" altLang="zh-CN" dirty="0" err="1">
                <a:latin typeface="Times New Roman" panose="02020503050405090304" pitchFamily="18" charset="0"/>
                <a:cs typeface="Times New Roman" panose="02020503050405090304" pitchFamily="18" charset="0"/>
              </a:rPr>
              <a:t>z</a:t>
            </a:r>
            <a:r>
              <a:rPr lang="en-US" altLang="zh-CN" dirty="0">
                <a:latin typeface="Times New Roman" panose="02020503050405090304" pitchFamily="18" charset="0"/>
                <a:cs typeface="Times New Roman" panose="02020503050405090304" pitchFamily="18" charset="0"/>
              </a:rPr>
              <a:t>(Q(</a:t>
            </a:r>
            <a:r>
              <a:rPr lang="en-US" altLang="zh-CN" dirty="0" err="1">
                <a:latin typeface="Times New Roman" panose="02020503050405090304" pitchFamily="18" charset="0"/>
                <a:cs typeface="Times New Roman" panose="02020503050405090304" pitchFamily="18" charset="0"/>
              </a:rPr>
              <a:t>x,y</a:t>
            </a:r>
            <a:r>
              <a:rPr lang="en-US" altLang="zh-CN" dirty="0">
                <a:latin typeface="Times New Roman" panose="02020503050405090304" pitchFamily="18" charset="0"/>
                <a:cs typeface="Times New Roman" panose="02020503050405090304" pitchFamily="18" charset="0"/>
              </a:rPr>
              <a:t>) </a:t>
            </a: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r>
              <a:rPr lang="en-US" altLang="zh-CN" dirty="0">
                <a:latin typeface="Times New Roman" panose="02020503050405090304" pitchFamily="18" charset="0"/>
                <a:cs typeface="Times New Roman" panose="02020503050405090304" pitchFamily="18" charset="0"/>
              </a:rPr>
              <a:t> R(z))</a:t>
            </a:r>
            <a:endParaRPr lang="en-US" altLang="zh-CN" dirty="0">
              <a:latin typeface="Times New Roman" panose="02020503050405090304" pitchFamily="18" charset="0"/>
              <a:cs typeface="Times New Roman" panose="02020503050405090304" pitchFamily="18" charset="0"/>
            </a:endParaRPr>
          </a:p>
          <a:p>
            <a:pPr lvl="2" eaLnBrk="1" hangingPunct="1">
              <a:lnSpc>
                <a:spcPct val="120000"/>
              </a:lnSpc>
              <a:spcAft>
                <a:spcPts val="600"/>
              </a:spcAft>
            </a:pP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r>
              <a:rPr lang="en-US" altLang="zh-CN" dirty="0" err="1">
                <a:latin typeface="Times New Roman" panose="02020503050405090304" pitchFamily="18" charset="0"/>
                <a:cs typeface="Times New Roman" panose="02020503050405090304" pitchFamily="18" charset="0"/>
              </a:rPr>
              <a:t>y</a:t>
            </a:r>
            <a:r>
              <a:rPr lang="en-US" altLang="zh-CN" dirty="0" err="1">
                <a:latin typeface="Times New Roman" panose="02020503050405090304" pitchFamily="18" charset="0"/>
                <a:cs typeface="Times New Roman" panose="02020503050405090304" pitchFamily="18" charset="0"/>
                <a:sym typeface="Symbol" panose="05050102010706020507" pitchFamily="18" charset="2"/>
              </a:rPr>
              <a:t></a:t>
            </a:r>
            <a:r>
              <a:rPr lang="en-US" altLang="zh-CN" dirty="0" err="1">
                <a:latin typeface="Times New Roman" panose="02020503050405090304" pitchFamily="18" charset="0"/>
                <a:cs typeface="Times New Roman" panose="02020503050405090304" pitchFamily="18" charset="0"/>
              </a:rPr>
              <a:t>x</a:t>
            </a:r>
            <a:r>
              <a:rPr lang="en-US" altLang="zh-CN" dirty="0">
                <a:latin typeface="Times New Roman" panose="02020503050405090304" pitchFamily="18" charset="0"/>
                <a:cs typeface="Times New Roman" panose="02020503050405090304" pitchFamily="18" charset="0"/>
              </a:rPr>
              <a:t>(</a:t>
            </a:r>
            <a:r>
              <a:rPr lang="en-US" altLang="zh-CN" dirty="0">
                <a:latin typeface="Times New Roman" panose="02020503050405090304" pitchFamily="18" charset="0"/>
                <a:cs typeface="Times New Roman" panose="02020503050405090304" pitchFamily="18" charset="0"/>
                <a:sym typeface="Symbol" panose="05050102010706020507" charset="0"/>
              </a:rPr>
              <a:t></a:t>
            </a:r>
            <a:r>
              <a:rPr lang="en-US" altLang="zh-CN" dirty="0">
                <a:latin typeface="Times New Roman" panose="02020503050405090304" pitchFamily="18" charset="0"/>
                <a:cs typeface="Times New Roman" panose="02020503050405090304" pitchFamily="18" charset="0"/>
              </a:rPr>
              <a:t>P(</a:t>
            </a:r>
            <a:r>
              <a:rPr lang="en-US" altLang="zh-CN" dirty="0" err="1">
                <a:latin typeface="Times New Roman" panose="02020503050405090304" pitchFamily="18" charset="0"/>
                <a:cs typeface="Times New Roman" panose="02020503050405090304" pitchFamily="18" charset="0"/>
              </a:rPr>
              <a:t>x,y</a:t>
            </a:r>
            <a:r>
              <a:rPr lang="en-US" altLang="zh-CN" dirty="0">
                <a:latin typeface="Times New Roman" panose="02020503050405090304" pitchFamily="18" charset="0"/>
                <a:cs typeface="Times New Roman" panose="02020503050405090304" pitchFamily="18" charset="0"/>
              </a:rPr>
              <a:t>) </a:t>
            </a:r>
            <a:r>
              <a:rPr lang="en-US" altLang="zh-CN" dirty="0">
                <a:latin typeface="Times New Roman" panose="02020503050405090304" pitchFamily="18" charset="0"/>
                <a:cs typeface="Times New Roman" panose="02020503050405090304" pitchFamily="18" charset="0"/>
                <a:sym typeface="Symbol" panose="05050102010706020507" pitchFamily="18" charset="2"/>
              </a:rPr>
              <a:t></a:t>
            </a:r>
            <a:r>
              <a:rPr lang="en-US" altLang="zh-CN" dirty="0">
                <a:latin typeface="Times New Roman" panose="02020503050405090304" pitchFamily="18" charset="0"/>
                <a:cs typeface="Times New Roman" panose="02020503050405090304" pitchFamily="18" charset="0"/>
              </a:rPr>
              <a:t> Q(y))</a:t>
            </a:r>
            <a:endParaRPr lang="en-US" altLang="zh-CN" dirty="0">
              <a:latin typeface="Times New Roman" panose="02020503050405090304" pitchFamily="18" charset="0"/>
              <a:cs typeface="Times New Roman" panose="02020503050405090304" pitchFamily="18" charset="0"/>
            </a:endParaRPr>
          </a:p>
          <a:p>
            <a:pPr eaLnBrk="1" hangingPunct="1">
              <a:lnSpc>
                <a:spcPct val="120000"/>
              </a:lnSpc>
              <a:spcAft>
                <a:spcPts val="0"/>
              </a:spcAft>
            </a:pPr>
            <a:r>
              <a:rPr lang="zh-CN" altLang="en-US" sz="2800" b="1" dirty="0">
                <a:latin typeface="Times New Roman" panose="02020503050405090304" pitchFamily="18" charset="0"/>
                <a:cs typeface="Times New Roman" panose="02020503050405090304" pitchFamily="18" charset="0"/>
              </a:rPr>
              <a:t>存在性定理：</a:t>
            </a:r>
            <a:endParaRPr lang="en-US" altLang="zh-CN" sz="2800" b="1" dirty="0">
              <a:latin typeface="Times New Roman" panose="02020503050405090304" pitchFamily="18" charset="0"/>
              <a:cs typeface="Times New Roman" panose="02020503050405090304" pitchFamily="18" charset="0"/>
            </a:endParaRPr>
          </a:p>
          <a:p>
            <a:pPr lvl="1" eaLnBrk="1" hangingPunct="1">
              <a:lnSpc>
                <a:spcPct val="120000"/>
              </a:lnSpc>
              <a:spcAft>
                <a:spcPts val="600"/>
              </a:spcAft>
            </a:pPr>
            <a:r>
              <a:rPr lang="zh-CN" altLang="en-US" sz="2400" dirty="0">
                <a:latin typeface="Times New Roman" panose="02020503050405090304" pitchFamily="18" charset="0"/>
                <a:cs typeface="Times New Roman" panose="02020503050405090304" pitchFamily="18" charset="0"/>
              </a:rPr>
              <a:t>谓词逻辑合式公式均存在与之等值的前束范式</a:t>
            </a:r>
            <a:endParaRPr lang="en-US" altLang="zh-CN" sz="2400" dirty="0">
              <a:latin typeface="Times New Roman" panose="02020503050405090304" pitchFamily="18" charset="0"/>
              <a:cs typeface="Times New Roman" panose="02020503050405090304" pitchFamily="18" charset="0"/>
            </a:endParaRPr>
          </a:p>
          <a:p>
            <a:pPr eaLnBrk="1" hangingPunct="1">
              <a:lnSpc>
                <a:spcPct val="120000"/>
              </a:lnSpc>
              <a:spcAft>
                <a:spcPts val="0"/>
              </a:spcAft>
            </a:pPr>
            <a:r>
              <a:rPr lang="zh-CN" altLang="en-US" sz="2800" b="1" dirty="0">
                <a:latin typeface="Times New Roman" panose="02020503050405090304" pitchFamily="18" charset="0"/>
                <a:cs typeface="Times New Roman" panose="02020503050405090304" pitchFamily="18" charset="0"/>
              </a:rPr>
              <a:t>构造方法：</a:t>
            </a:r>
            <a:endParaRPr lang="zh-CN" altLang="en-US" sz="2800" b="1" dirty="0">
              <a:latin typeface="Times New Roman" panose="02020503050405090304" pitchFamily="18" charset="0"/>
              <a:cs typeface="Times New Roman" panose="02020503050405090304" pitchFamily="18" charset="0"/>
            </a:endParaRPr>
          </a:p>
          <a:p>
            <a:pPr lvl="1" eaLnBrk="1" hangingPunct="1">
              <a:lnSpc>
                <a:spcPct val="120000"/>
              </a:lnSpc>
              <a:spcAft>
                <a:spcPts val="600"/>
              </a:spcAft>
            </a:pPr>
            <a:r>
              <a:rPr lang="zh-CN" altLang="en-US" sz="2400" dirty="0">
                <a:latin typeface="Times New Roman" panose="02020503050405090304" pitchFamily="18" charset="0"/>
                <a:cs typeface="Times New Roman" panose="02020503050405090304" pitchFamily="18" charset="0"/>
              </a:rPr>
              <a:t>利用换名、代替、量词的收缩和扩张等进行等值变换</a:t>
            </a:r>
            <a:endParaRPr lang="zh-CN" altLang="en-US" sz="24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前束范式</a:t>
            </a:r>
            <a:r>
              <a:rPr lang="en-US" altLang="zh-CN" dirty="0"/>
              <a:t>PNF</a:t>
            </a:r>
            <a:endParaRPr lang="zh-CN" altLang="en-US" dirty="0"/>
          </a:p>
        </p:txBody>
      </p:sp>
      <p:sp>
        <p:nvSpPr>
          <p:cNvPr id="4" name="灯片编号占位符 3"/>
          <p:cNvSpPr>
            <a:spLocks noGrp="1"/>
          </p:cNvSpPr>
          <p:nvPr>
            <p:ph type="sldNum" sz="quarter" idx="10"/>
          </p:nvPr>
        </p:nvSpPr>
        <p:spPr/>
        <p:txBody>
          <a:bodyPr/>
          <a:lstStyle/>
          <a:p>
            <a:fld id="{BA900794-A765-40EF-BDF5-E5CA5CD3D30B}" type="slidenum">
              <a:rPr lang="zh-CN" altLang="en-US" smtClean="0"/>
            </a:fld>
            <a:endParaRPr lang="en-US" altLang="zh-CN"/>
          </a:p>
        </p:txBody>
      </p:sp>
      <p:sp>
        <p:nvSpPr>
          <p:cNvPr id="5" name="日期占位符 4"/>
          <p:cNvSpPr>
            <a:spLocks noGrp="1"/>
          </p:cNvSpPr>
          <p:nvPr>
            <p:ph type="dt" sz="half" idx="11"/>
          </p:nvPr>
        </p:nvSpPr>
        <p:spPr/>
        <p:txBody>
          <a:bodyPr/>
          <a:lstStyle/>
          <a:p>
            <a:pPr>
              <a:defRPr/>
            </a:pPr>
            <a:fld id="{28E950C8-FFB6-40E2-BC9B-1D9E00A6B1D1}"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r>
              <a:rPr lang="en-US" altLang="zh-CN"/>
              <a:t>School of Computer Science, BUPT</a:t>
            </a:r>
            <a:endParaRPr lang="zh-CN" altLang="en-US" dirty="0"/>
          </a:p>
        </p:txBody>
      </p:sp>
      <p:sp>
        <p:nvSpPr>
          <p:cNvPr id="7" name="Rectangle 2"/>
          <p:cNvSpPr>
            <a:spLocks noChangeArrowheads="1"/>
          </p:cNvSpPr>
          <p:nvPr/>
        </p:nvSpPr>
        <p:spPr bwMode="auto">
          <a:xfrm>
            <a:off x="611559" y="1196523"/>
            <a:ext cx="7793037" cy="1623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defRPr>
                <a:solidFill>
                  <a:schemeClr val="tx1"/>
                </a:solidFill>
                <a:latin typeface="Arial" panose="020B0604020202090204" pitchFamily="34" charset="0"/>
              </a:defRPr>
            </a:lvl1pPr>
            <a:lvl2pPr>
              <a:defRPr>
                <a:solidFill>
                  <a:schemeClr val="tx1"/>
                </a:solidFill>
                <a:latin typeface="Arial" panose="020B0604020202090204" pitchFamily="34" charset="0"/>
              </a:defRPr>
            </a:lvl2pPr>
            <a:lvl3pPr>
              <a:defRPr>
                <a:solidFill>
                  <a:schemeClr val="tx1"/>
                </a:solidFill>
                <a:latin typeface="Arial" panose="020B0604020202090204" pitchFamily="34" charset="0"/>
              </a:defRPr>
            </a:lvl3pPr>
            <a:lvl4pPr>
              <a:defRPr>
                <a:solidFill>
                  <a:schemeClr val="tx1"/>
                </a:solidFill>
                <a:latin typeface="Arial" panose="020B0604020202090204" pitchFamily="34" charset="0"/>
              </a:defRPr>
            </a:lvl4pPr>
            <a:lvl5pPr>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342900" indent="-342900" eaLnBrk="1" hangingPunct="1">
              <a:spcBef>
                <a:spcPct val="20000"/>
              </a:spcBef>
              <a:spcAft>
                <a:spcPts val="600"/>
              </a:spcAft>
              <a:buClr>
                <a:schemeClr val="folHlink"/>
              </a:buClr>
              <a:buSzPct val="60000"/>
              <a:buFont typeface="Wingdings" panose="05000000000000000000" pitchFamily="2" charset="2"/>
              <a:buChar char="n"/>
            </a:pPr>
            <a:r>
              <a:rPr lang="zh-CN" altLang="en-US" sz="2800" i="0" u="none" dirty="0">
                <a:latin typeface="+mn-lt"/>
                <a:ea typeface="+mn-ea"/>
              </a:rPr>
              <a:t>示例</a:t>
            </a:r>
            <a:endParaRPr lang="en-US" altLang="zh-CN" sz="2800" i="0" u="none" dirty="0">
              <a:latin typeface="+mn-lt"/>
              <a:ea typeface="+mn-ea"/>
            </a:endParaRPr>
          </a:p>
          <a:p>
            <a:pPr marL="800100" lvl="1" indent="-342900" eaLnBrk="1" hangingPunct="1">
              <a:spcBef>
                <a:spcPct val="20000"/>
              </a:spcBef>
              <a:spcAft>
                <a:spcPts val="600"/>
              </a:spcAft>
              <a:buClr>
                <a:schemeClr val="folHlink"/>
              </a:buClr>
              <a:buSzPct val="60000"/>
              <a:buFont typeface="Wingdings" panose="05000000000000000000" pitchFamily="2" charset="2"/>
              <a:buChar char="n"/>
            </a:pPr>
            <a:r>
              <a:rPr kumimoji="0" lang="en-US" altLang="zh-CN" sz="28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Put the statements in </a:t>
            </a:r>
            <a:r>
              <a:rPr kumimoji="0" lang="en-US" altLang="zh-CN" sz="2800" b="0" i="0" u="none" strike="noStrike" cap="none" normalizeH="0" baseline="0" dirty="0" err="1">
                <a:ln>
                  <a:noFill/>
                </a:ln>
                <a:solidFill>
                  <a:schemeClr val="tx1"/>
                </a:solidFill>
                <a:effectLst/>
                <a:latin typeface="Times New Roman" panose="02020503050405090304" pitchFamily="18" charset="0"/>
                <a:cs typeface="Times New Roman" panose="02020503050405090304" pitchFamily="18" charset="0"/>
              </a:rPr>
              <a:t>prenex</a:t>
            </a:r>
            <a:r>
              <a:rPr kumimoji="0" lang="en-US" altLang="zh-CN" sz="28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normal form.</a:t>
            </a:r>
            <a:endParaRPr kumimoji="0" lang="en-US" altLang="zh-CN" sz="28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28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p:txBody>
      </p:sp>
      <p:pic>
        <p:nvPicPr>
          <p:cNvPr id="4097" name="图片 18"/>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3490" y="2276286"/>
            <a:ext cx="4410744" cy="49297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179512" y="2941728"/>
            <a:ext cx="8976501"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400050">
              <a:defRPr>
                <a:solidFill>
                  <a:schemeClr val="tx1"/>
                </a:solidFill>
                <a:latin typeface="Arial" panose="020B0604020202090204" pitchFamily="34" charset="0"/>
              </a:defRPr>
            </a:lvl1pPr>
            <a:lvl2pPr>
              <a:defRPr>
                <a:solidFill>
                  <a:schemeClr val="tx1"/>
                </a:solidFill>
                <a:latin typeface="Arial" panose="020B0604020202090204" pitchFamily="34" charset="0"/>
              </a:defRPr>
            </a:lvl2pPr>
            <a:lvl3pPr>
              <a:defRPr>
                <a:solidFill>
                  <a:schemeClr val="tx1"/>
                </a:solidFill>
                <a:latin typeface="Arial" panose="020B0604020202090204" pitchFamily="34" charset="0"/>
              </a:defRPr>
            </a:lvl3pPr>
            <a:lvl4pPr>
              <a:defRPr>
                <a:solidFill>
                  <a:schemeClr val="tx1"/>
                </a:solidFill>
                <a:latin typeface="Arial" panose="020B0604020202090204" pitchFamily="34" charset="0"/>
              </a:defRPr>
            </a:lvl4pPr>
            <a:lvl5pPr>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0" algn="l" defTabSz="914400" rtl="0" eaLnBrk="0" fontAlgn="base" latinLnBrk="0" hangingPunct="0">
              <a:lnSpc>
                <a:spcPct val="100000"/>
              </a:lnSpc>
              <a:spcBef>
                <a:spcPts val="600"/>
              </a:spcBef>
              <a:spcAft>
                <a:spcPts val="600"/>
              </a:spcAft>
              <a:buClrTx/>
              <a:buSzTx/>
              <a:buFontTx/>
              <a:buNone/>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原式</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xP</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(x)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yQ</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(y))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z</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R</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z</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dirty="0">
                <a:solidFill>
                  <a:srgbClr val="0000FF"/>
                </a:solidFill>
                <a:latin typeface="Times New Roman" panose="02020503050405090304" pitchFamily="18" charset="0"/>
                <a:cs typeface="Times New Roman" panose="02020503050405090304" pitchFamily="18" charset="0"/>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换名规则</a:t>
            </a:r>
            <a:endPar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endParaRPr>
          </a:p>
          <a:p>
            <a:pPr lvl="0" indent="0">
              <a:spcBef>
                <a:spcPts val="600"/>
              </a:spcBef>
              <a:spcAft>
                <a:spcPts val="600"/>
              </a:spcAft>
            </a:pP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FF0000"/>
                </a:solidFill>
                <a:latin typeface="Times New Roman" panose="02020503050405090304" pitchFamily="18" charset="0"/>
                <a:cs typeface="Times New Roman" panose="02020503050405090304" pitchFamily="18" charset="0"/>
              </a:rPr>
              <a:t>x</a:t>
            </a:r>
            <a:r>
              <a:rPr kumimoji="0" lang="en-US" altLang="zh-CN" sz="2000" i="0" u="none" dirty="0">
                <a:solidFill>
                  <a:srgbClr val="0000FF"/>
                </a:solidFill>
                <a:latin typeface="Times New Roman" panose="02020503050405090304" pitchFamily="18" charset="0"/>
                <a:cs typeface="Times New Roman" panose="02020503050405090304" pitchFamily="18" charset="0"/>
              </a:rPr>
              <a:t>(P(x)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yQ</a:t>
            </a:r>
            <a:r>
              <a:rPr kumimoji="0" lang="en-US" altLang="zh-CN" sz="2000" i="0" u="none" dirty="0">
                <a:solidFill>
                  <a:srgbClr val="0000FF"/>
                </a:solidFill>
                <a:latin typeface="Times New Roman" panose="02020503050405090304" pitchFamily="18" charset="0"/>
                <a:cs typeface="Times New Roman" panose="02020503050405090304" pitchFamily="18" charset="0"/>
              </a:rPr>
              <a:t>(y))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sym typeface="Symbol" panose="05050102010706020507" pitchFamily="18" charset="2"/>
              </a:rPr>
              <a:t>z</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R</a:t>
            </a:r>
            <a:r>
              <a:rPr kumimoji="0" lang="en-US" altLang="zh-CN" sz="2000" i="0" u="none" dirty="0">
                <a:solidFill>
                  <a:srgbClr val="0000FF"/>
                </a:solidFill>
                <a:latin typeface="Times New Roman" panose="02020503050405090304" pitchFamily="18" charset="0"/>
                <a:cs typeface="Times New Roman" panose="02020503050405090304" pitchFamily="18" charset="0"/>
              </a:rPr>
              <a:t>(z)	</a:t>
            </a:r>
            <a:r>
              <a:rPr kumimoji="0" lang="zh-CN" altLang="en-US" sz="2000" i="0" u="none" dirty="0">
                <a:solidFill>
                  <a:srgbClr val="0000FF"/>
                </a:solidFill>
                <a:latin typeface="Times New Roman" panose="02020503050405090304" pitchFamily="18" charset="0"/>
                <a:cs typeface="Times New Roman" panose="02020503050405090304" pitchFamily="18" charset="0"/>
              </a:rPr>
              <a:t>辖域扩张</a:t>
            </a:r>
            <a:endParaRPr kumimoji="0" lang="zh-CN" altLang="en-US"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endParaRPr>
          </a:p>
          <a:p>
            <a:pPr marL="0" marR="0" lvl="0" indent="0" algn="l" defTabSz="914400" rtl="0" eaLnBrk="0" fontAlgn="base" latinLnBrk="0" hangingPunct="0">
              <a:lnSpc>
                <a:spcPct val="100000"/>
              </a:lnSpc>
              <a:spcBef>
                <a:spcPts val="600"/>
              </a:spcBef>
              <a:spcAft>
                <a:spcPts val="600"/>
              </a:spcAft>
              <a:buClrTx/>
              <a:buSzTx/>
              <a:buFontTx/>
              <a:buNone/>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(P(x)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Q(y))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zR</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(z)  	</a:t>
            </a:r>
            <a:r>
              <a:rPr kumimoji="0" lang="zh-CN" altLang="en-US" sz="2000" i="0" u="none" strike="noStrike" cap="none" normalizeH="0" baseline="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辖域扩张</a:t>
            </a:r>
            <a:endParaRPr kumimoji="0" lang="zh-CN" altLang="en-US" sz="200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sym typeface="Symbol" panose="05050102010706020507" pitchFamily="18" charset="2"/>
            </a:endParaRPr>
          </a:p>
          <a:p>
            <a:pPr marL="0" marR="0" lvl="0" indent="0" algn="l" defTabSz="914400" rtl="0" eaLnBrk="0" fontAlgn="base" latinLnBrk="0" hangingPunct="0">
              <a:lnSpc>
                <a:spcPct val="100000"/>
              </a:lnSpc>
              <a:spcBef>
                <a:spcPts val="600"/>
              </a:spcBef>
              <a:spcAft>
                <a:spcPts val="600"/>
              </a:spcAft>
              <a:buClrTx/>
              <a:buSzTx/>
              <a:buFontTx/>
              <a:buNone/>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y</a:t>
            </a:r>
            <a:r>
              <a:rPr kumimoji="0" lang="en-US" altLang="zh-CN" sz="2000" i="0" u="none" dirty="0">
                <a:solidFill>
                  <a:srgbClr val="0000FF"/>
                </a:solidFill>
                <a:latin typeface="Times New Roman" panose="02020503050405090304" pitchFamily="18" charset="0"/>
                <a:cs typeface="Times New Roman" panose="02020503050405090304" pitchFamily="18" charset="0"/>
              </a:rPr>
              <a:t>((P(x)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 Q(y))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zR</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(z)</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辖域扩张</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zh-CN" altLang="en-US"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xA</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→B</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x(A(x)</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→B)  </a:t>
            </a:r>
            <a:endPar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endParaRPr>
          </a:p>
          <a:p>
            <a:pPr marL="0" marR="0" lvl="0" indent="0" algn="l" defTabSz="914400" rtl="0" eaLnBrk="0" fontAlgn="base" latinLnBrk="0" hangingPunct="0">
              <a:lnSpc>
                <a:spcPct val="100000"/>
              </a:lnSpc>
              <a:spcBef>
                <a:spcPts val="600"/>
              </a:spcBef>
              <a:spcAft>
                <a:spcPts val="600"/>
              </a:spcAft>
              <a:buClrTx/>
              <a:buSzTx/>
              <a:buFontTx/>
              <a:buNone/>
            </a:pP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y</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(P(x)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Q(y))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zR</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(z)</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辖域扩张</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zh-CN" altLang="en-US"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xA</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→B</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x(A(x)</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→B)</a:t>
            </a:r>
            <a:endPar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endParaRPr>
          </a:p>
          <a:p>
            <a:pPr marL="0" marR="0" lvl="0" indent="0" algn="l" defTabSz="914400" rtl="0" eaLnBrk="0" fontAlgn="base" latinLnBrk="0" hangingPunct="0">
              <a:lnSpc>
                <a:spcPct val="100000"/>
              </a:lnSpc>
              <a:spcBef>
                <a:spcPts val="600"/>
              </a:spcBef>
              <a:spcAft>
                <a:spcPts val="600"/>
              </a:spcAft>
              <a:buClrTx/>
              <a:buSzTx/>
              <a:buFontTx/>
              <a:buNone/>
            </a:pP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y</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z</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(P(x)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Q(y))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R(z)</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辖域扩张</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B→</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xA</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x(B</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→A(x)) </a:t>
            </a:r>
            <a:endPar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a:t>
            </a:r>
            <a:endParaRPr lang="zh-CN" altLang="en-US" dirty="0"/>
          </a:p>
        </p:txBody>
      </p:sp>
      <p:sp>
        <p:nvSpPr>
          <p:cNvPr id="4" name="灯片编号占位符 3"/>
          <p:cNvSpPr>
            <a:spLocks noGrp="1"/>
          </p:cNvSpPr>
          <p:nvPr>
            <p:ph type="sldNum" sz="quarter" idx="10"/>
          </p:nvPr>
        </p:nvSpPr>
        <p:spPr/>
        <p:txBody>
          <a:bodyPr/>
          <a:lstStyle/>
          <a:p>
            <a:fld id="{BA900794-A765-40EF-BDF5-E5CA5CD3D30B}" type="slidenum">
              <a:rPr lang="zh-CN" altLang="en-US" smtClean="0"/>
            </a:fld>
            <a:endParaRPr lang="en-US" altLang="zh-CN"/>
          </a:p>
        </p:txBody>
      </p:sp>
      <p:sp>
        <p:nvSpPr>
          <p:cNvPr id="5" name="日期占位符 4"/>
          <p:cNvSpPr>
            <a:spLocks noGrp="1"/>
          </p:cNvSpPr>
          <p:nvPr>
            <p:ph type="dt" sz="half" idx="11"/>
          </p:nvPr>
        </p:nvSpPr>
        <p:spPr/>
        <p:txBody>
          <a:bodyPr/>
          <a:lstStyle/>
          <a:p>
            <a:pPr>
              <a:defRPr/>
            </a:pPr>
            <a:fld id="{28E950C8-FFB6-40E2-BC9B-1D9E00A6B1D1}"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r>
              <a:rPr lang="en-US" altLang="zh-CN" dirty="0"/>
              <a:t>School of Computer Science, BUPT</a:t>
            </a:r>
            <a:endParaRPr lang="zh-CN" altLang="en-US" dirty="0"/>
          </a:p>
        </p:txBody>
      </p:sp>
      <p:pic>
        <p:nvPicPr>
          <p:cNvPr id="5121" name="图片 16"/>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720" y="1515568"/>
            <a:ext cx="3024336" cy="47355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242949" y="2147952"/>
            <a:ext cx="8193269"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400050">
              <a:defRPr>
                <a:solidFill>
                  <a:schemeClr val="tx1"/>
                </a:solidFill>
                <a:latin typeface="Arial" panose="020B0604020202090204" pitchFamily="34" charset="0"/>
              </a:defRPr>
            </a:lvl1pPr>
            <a:lvl2pPr>
              <a:defRPr>
                <a:solidFill>
                  <a:schemeClr val="tx1"/>
                </a:solidFill>
                <a:latin typeface="Arial" panose="020B0604020202090204" pitchFamily="34" charset="0"/>
              </a:defRPr>
            </a:lvl2pPr>
            <a:lvl3pPr>
              <a:defRPr>
                <a:solidFill>
                  <a:schemeClr val="tx1"/>
                </a:solidFill>
                <a:latin typeface="Arial" panose="020B0604020202090204" pitchFamily="34" charset="0"/>
              </a:defRPr>
            </a:lvl3pPr>
            <a:lvl4pPr>
              <a:defRPr>
                <a:solidFill>
                  <a:schemeClr val="tx1"/>
                </a:solidFill>
                <a:latin typeface="Arial" panose="020B0604020202090204" pitchFamily="34" charset="0"/>
              </a:defRPr>
            </a:lvl4pPr>
            <a:lvl5pPr>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lvl="0">
              <a:spcBef>
                <a:spcPts val="600"/>
              </a:spcBef>
              <a:spcAft>
                <a:spcPts val="600"/>
              </a:spcAft>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原式</a:t>
            </a:r>
            <a:r>
              <a:rPr kumimoji="0" lang="zh-CN" altLang="en-US"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xP</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tQ</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7030A0"/>
                </a:solidFill>
                <a:effectLst/>
                <a:latin typeface="Times New Roman" panose="02020503050405090304" pitchFamily="18" charset="0"/>
                <a:cs typeface="Times New Roman" panose="02020503050405090304" pitchFamily="18" charset="0"/>
              </a:rPr>
              <a:t>s</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换名</a:t>
            </a:r>
            <a:r>
              <a:rPr kumimoji="0" lang="zh-CN" altLang="en-US"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规则，代替规则</a:t>
            </a:r>
            <a:endParaRPr kumimoji="0" lang="zh-CN" altLang="en-US"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endParaRPr>
          </a:p>
          <a:p>
            <a:pPr marL="0" marR="0" lvl="0" indent="400050" algn="l" defTabSz="914400" rtl="0" eaLnBrk="0" fontAlgn="base" latinLnBrk="0" hangingPunct="0">
              <a:spcBef>
                <a:spcPts val="600"/>
              </a:spcBef>
              <a:spcAft>
                <a:spcPts val="600"/>
              </a:spcAft>
              <a:buClrTx/>
              <a:buSzTx/>
              <a:buFontTx/>
              <a:buNone/>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xP</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Q(</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s,t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辖域扩张</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:B→</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xA</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x(B</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→A(x)) </a:t>
            </a:r>
            <a:endParaRPr kumimoji="0" lang="en-US" altLang="zh-CN" sz="200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sym typeface="Symbol" panose="05050102010706020507" pitchFamily="18" charset="2"/>
            </a:endParaRPr>
          </a:p>
          <a:p>
            <a:pPr marL="0" marR="0" lvl="0" indent="400050" algn="l" defTabSz="914400" rtl="0" eaLnBrk="0" fontAlgn="base" latinLnBrk="0" hangingPunct="0">
              <a:spcBef>
                <a:spcPts val="600"/>
              </a:spcBef>
              <a:spcAft>
                <a:spcPts val="600"/>
              </a:spcAft>
              <a:buClrTx/>
              <a:buSzTx/>
              <a:buFontTx/>
              <a:buNone/>
            </a:pP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t(</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(P(</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Q(</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s,t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dirty="0">
                <a:ln>
                  <a:noFill/>
                </a:ln>
                <a:solidFill>
                  <a:srgbClr val="0000FF"/>
                </a:solidFill>
                <a:effectLst/>
                <a:latin typeface="Times New Roman" panose="02020503050405090304" pitchFamily="18" charset="0"/>
                <a:cs typeface="Times New Roman" panose="02020503050405090304" pitchFamily="18" charset="0"/>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辖域扩张</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xA</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→B</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x(A(x)</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→B)</a:t>
            </a:r>
            <a:endParaRPr kumimoji="0" lang="en-US" altLang="zh-CN" sz="200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sym typeface="Symbol" panose="05050102010706020507" pitchFamily="18" charset="2"/>
            </a:endParaRPr>
          </a:p>
          <a:p>
            <a:pPr marL="0" marR="0" lvl="0" indent="400050" algn="l" defTabSz="914400" rtl="0" eaLnBrk="0" fontAlgn="base" latinLnBrk="0" hangingPunct="0">
              <a:spcBef>
                <a:spcPts val="600"/>
              </a:spcBef>
              <a:spcAft>
                <a:spcPts val="600"/>
              </a:spcAft>
              <a:buClrTx/>
              <a:buSzTx/>
              <a:buFontTx/>
              <a:buNone/>
            </a:pP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(P(</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Q(</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s,t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endPar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endParaRPr>
          </a:p>
        </p:txBody>
      </p:sp>
      <p:sp>
        <p:nvSpPr>
          <p:cNvPr id="9" name="矩形 8"/>
          <p:cNvSpPr/>
          <p:nvPr/>
        </p:nvSpPr>
        <p:spPr>
          <a:xfrm>
            <a:off x="467544" y="1008069"/>
            <a:ext cx="7488832" cy="523220"/>
          </a:xfrm>
          <a:prstGeom prst="rect">
            <a:avLst/>
          </a:prstGeom>
        </p:spPr>
        <p:txBody>
          <a:bodyPr wrap="square">
            <a:spAutoFit/>
          </a:bodyPr>
          <a:lstStyle/>
          <a:p>
            <a:pPr marL="0" lvl="1" eaLnBrk="1" hangingPunct="1">
              <a:spcBef>
                <a:spcPct val="20000"/>
              </a:spcBef>
              <a:spcAft>
                <a:spcPts val="600"/>
              </a:spcAft>
              <a:buClr>
                <a:schemeClr val="folHlink"/>
              </a:buClr>
              <a:buSzPct val="60000"/>
              <a:buFont typeface="Wingdings" panose="05000000000000000000" pitchFamily="2" charset="2"/>
              <a:buChar char="n"/>
            </a:pPr>
            <a:r>
              <a:rPr kumimoji="0" lang="en-US" altLang="zh-CN" sz="2800" b="0" i="0" u="none" dirty="0">
                <a:cs typeface="Times New Roman" panose="02020503050405090304" pitchFamily="18" charset="0"/>
              </a:rPr>
              <a:t>Put the statements in </a:t>
            </a:r>
            <a:r>
              <a:rPr kumimoji="0" lang="en-US" altLang="zh-CN" sz="2800" b="0" i="0" u="none" dirty="0" err="1">
                <a:cs typeface="Times New Roman" panose="02020503050405090304" pitchFamily="18" charset="0"/>
              </a:rPr>
              <a:t>prenex</a:t>
            </a:r>
            <a:r>
              <a:rPr kumimoji="0" lang="en-US" altLang="zh-CN" sz="2800" b="0" i="0" u="none" dirty="0">
                <a:cs typeface="Times New Roman" panose="02020503050405090304" pitchFamily="18" charset="0"/>
              </a:rPr>
              <a:t> normal form.</a:t>
            </a:r>
            <a:endParaRPr kumimoji="0" lang="en-US" altLang="zh-CN" sz="2800" b="0" i="0" u="none" dirty="0">
              <a:cs typeface="Times New Roman" panose="02020503050405090304" pitchFamily="18" charset="0"/>
            </a:endParaRPr>
          </a:p>
        </p:txBody>
      </p:sp>
      <p:sp>
        <p:nvSpPr>
          <p:cNvPr id="11" name="Rectangle 3"/>
          <p:cNvSpPr>
            <a:spLocks noChangeArrowheads="1"/>
          </p:cNvSpPr>
          <p:nvPr/>
        </p:nvSpPr>
        <p:spPr bwMode="auto">
          <a:xfrm>
            <a:off x="323528" y="4135263"/>
            <a:ext cx="8120705" cy="224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400050">
              <a:defRPr>
                <a:solidFill>
                  <a:schemeClr val="tx1"/>
                </a:solidFill>
                <a:latin typeface="Arial" panose="020B0604020202090204" pitchFamily="34" charset="0"/>
              </a:defRPr>
            </a:lvl1pPr>
            <a:lvl2pPr>
              <a:defRPr>
                <a:solidFill>
                  <a:schemeClr val="tx1"/>
                </a:solidFill>
                <a:latin typeface="Arial" panose="020B0604020202090204" pitchFamily="34" charset="0"/>
              </a:defRPr>
            </a:lvl2pPr>
            <a:lvl3pPr>
              <a:defRPr>
                <a:solidFill>
                  <a:schemeClr val="tx1"/>
                </a:solidFill>
                <a:latin typeface="Arial" panose="020B0604020202090204" pitchFamily="34" charset="0"/>
              </a:defRPr>
            </a:lvl3pPr>
            <a:lvl4pPr>
              <a:defRPr>
                <a:solidFill>
                  <a:schemeClr val="tx1"/>
                </a:solidFill>
                <a:latin typeface="Arial" panose="020B0604020202090204" pitchFamily="34" charset="0"/>
              </a:defRPr>
            </a:lvl4pPr>
            <a:lvl5pPr>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lvl="0">
              <a:spcBef>
                <a:spcPts val="600"/>
              </a:spcBef>
              <a:spcAft>
                <a:spcPts val="600"/>
              </a:spcAft>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原式</a:t>
            </a:r>
            <a:r>
              <a:rPr kumimoji="0" lang="zh-CN" altLang="en-US"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xP</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tQ</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7030A0"/>
                </a:solidFill>
                <a:effectLst/>
                <a:latin typeface="Times New Roman" panose="02020503050405090304" pitchFamily="18" charset="0"/>
                <a:cs typeface="Times New Roman" panose="02020503050405090304" pitchFamily="18" charset="0"/>
              </a:rPr>
              <a:t>s</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换名规则，代替规则</a:t>
            </a:r>
            <a:endParaRPr kumimoji="0" lang="zh-CN" altLang="en-US"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endParaRPr>
          </a:p>
          <a:p>
            <a:pPr lvl="0">
              <a:spcBef>
                <a:spcPts val="600"/>
              </a:spcBef>
              <a:spcAft>
                <a:spcPts val="600"/>
              </a:spcAft>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xP</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x,y</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tQ</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err="1">
                <a:solidFill>
                  <a:srgbClr val="002060"/>
                </a:solidFill>
                <a:latin typeface="Times New Roman" panose="02020503050405090304" pitchFamily="18" charset="0"/>
                <a:cs typeface="Times New Roman" panose="02020503050405090304" pitchFamily="18" charset="0"/>
              </a:rPr>
              <a:t>s,t</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蕴含等值式</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endParaRPr kumimoji="0" lang="en-US" altLang="zh-CN" sz="200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sym typeface="Symbol" panose="05050102010706020507" pitchFamily="18" charset="2"/>
            </a:endParaRPr>
          </a:p>
          <a:p>
            <a:pPr lvl="0">
              <a:spcBef>
                <a:spcPts val="600"/>
              </a:spcBef>
              <a:spcAft>
                <a:spcPts val="600"/>
              </a:spcAft>
            </a:pP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FF0000"/>
                </a:solidFill>
                <a:latin typeface="Times New Roman" panose="02020503050405090304" pitchFamily="18" charset="0"/>
                <a:cs typeface="Times New Roman" panose="02020503050405090304" pitchFamily="18" charset="0"/>
              </a:rPr>
              <a:t>x</a:t>
            </a:r>
            <a:r>
              <a:rPr kumimoji="0" lang="en-US" altLang="zh-CN" sz="2000" i="0" u="none" dirty="0">
                <a:solidFill>
                  <a:srgbClr val="FF0000"/>
                </a:solidFill>
                <a:latin typeface="Times New Roman" panose="02020503050405090304" pitchFamily="18" charset="0"/>
                <a:cs typeface="Times New Roman" panose="02020503050405090304" pitchFamily="18" charset="0"/>
                <a:sym typeface="Symbol" panose="05050102010706020507" charset="0"/>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P</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x,y</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tQ</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err="1">
                <a:solidFill>
                  <a:srgbClr val="002060"/>
                </a:solidFill>
                <a:latin typeface="Times New Roman" panose="02020503050405090304" pitchFamily="18" charset="0"/>
                <a:cs typeface="Times New Roman" panose="02020503050405090304" pitchFamily="18" charset="0"/>
              </a:rPr>
              <a:t>s,t</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否定等值式</a:t>
            </a:r>
            <a:endPar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endParaRPr>
          </a:p>
          <a:p>
            <a:pPr>
              <a:spcBef>
                <a:spcPts val="600"/>
              </a:spcBef>
              <a:spcAft>
                <a:spcPts val="600"/>
              </a:spcAft>
            </a:pP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FF0000"/>
                </a:solidFill>
                <a:latin typeface="Times New Roman" panose="02020503050405090304" pitchFamily="18" charset="0"/>
                <a:cs typeface="Times New Roman" panose="02020503050405090304" pitchFamily="18" charset="0"/>
              </a:rPr>
              <a:t>x(</a:t>
            </a:r>
            <a:r>
              <a:rPr kumimoji="0" lang="en-US" altLang="zh-CN" sz="2000" i="0" u="none" dirty="0">
                <a:solidFill>
                  <a:srgbClr val="FF0000"/>
                </a:solidFill>
                <a:latin typeface="Times New Roman" panose="02020503050405090304" pitchFamily="18" charset="0"/>
                <a:cs typeface="Times New Roman" panose="02020503050405090304" pitchFamily="18" charset="0"/>
                <a:sym typeface="Symbol" panose="05050102010706020507"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P(</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x,y</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tQ</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err="1">
                <a:solidFill>
                  <a:srgbClr val="002060"/>
                </a:solidFill>
                <a:latin typeface="Times New Roman" panose="02020503050405090304" pitchFamily="18" charset="0"/>
                <a:cs typeface="Times New Roman" panose="02020503050405090304" pitchFamily="18" charset="0"/>
              </a:rPr>
              <a:t>s,t</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a:solidFill>
                  <a:srgbClr val="FF0000"/>
                </a:solidFill>
                <a:latin typeface="Times New Roman" panose="02020503050405090304" pitchFamily="18" charset="0"/>
                <a:cs typeface="Times New Roman" panose="02020503050405090304" pitchFamily="18" charset="0"/>
              </a:rPr>
              <a:t>)		</a:t>
            </a:r>
            <a:r>
              <a:rPr kumimoji="0" lang="zh-CN" altLang="en-US"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辖域扩张</a:t>
            </a:r>
            <a:endPar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endParaRPr>
          </a:p>
          <a:p>
            <a:pPr lvl="0">
              <a:spcBef>
                <a:spcPts val="600"/>
              </a:spcBef>
              <a:spcAft>
                <a:spcPts val="600"/>
              </a:spcAft>
            </a:pP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FF0000"/>
                </a:solidFill>
                <a:latin typeface="Times New Roman" panose="02020503050405090304" pitchFamily="18" charset="0"/>
                <a:cs typeface="Times New Roman" panose="02020503050405090304" pitchFamily="18" charset="0"/>
                <a:sym typeface="Symbol" panose="05050102010706020507"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P(</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x,y</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 Q(</a:t>
            </a:r>
            <a:r>
              <a:rPr kumimoji="0" lang="en-US" altLang="zh-CN" sz="2000" i="0" u="none" dirty="0" err="1">
                <a:solidFill>
                  <a:srgbClr val="002060"/>
                </a:solidFill>
                <a:latin typeface="Times New Roman" panose="02020503050405090304" pitchFamily="18" charset="0"/>
                <a:cs typeface="Times New Roman" panose="02020503050405090304" pitchFamily="18" charset="0"/>
              </a:rPr>
              <a:t>s,t</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a:solidFill>
                  <a:srgbClr val="FF0000"/>
                </a:solidFill>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zh-CN" altLang="en-US"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辖域扩张</a:t>
            </a:r>
            <a:endPar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1"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a:t>
            </a:r>
            <a:endParaRPr lang="zh-CN" altLang="en-US" dirty="0"/>
          </a:p>
        </p:txBody>
      </p:sp>
      <p:sp>
        <p:nvSpPr>
          <p:cNvPr id="4" name="灯片编号占位符 3"/>
          <p:cNvSpPr>
            <a:spLocks noGrp="1"/>
          </p:cNvSpPr>
          <p:nvPr>
            <p:ph type="sldNum" sz="quarter" idx="10"/>
          </p:nvPr>
        </p:nvSpPr>
        <p:spPr/>
        <p:txBody>
          <a:bodyPr/>
          <a:lstStyle/>
          <a:p>
            <a:fld id="{BA900794-A765-40EF-BDF5-E5CA5CD3D30B}" type="slidenum">
              <a:rPr lang="zh-CN" altLang="en-US" smtClean="0"/>
            </a:fld>
            <a:endParaRPr lang="en-US" altLang="zh-CN"/>
          </a:p>
        </p:txBody>
      </p:sp>
      <p:sp>
        <p:nvSpPr>
          <p:cNvPr id="5" name="日期占位符 4"/>
          <p:cNvSpPr>
            <a:spLocks noGrp="1"/>
          </p:cNvSpPr>
          <p:nvPr>
            <p:ph type="dt" sz="half" idx="11"/>
          </p:nvPr>
        </p:nvSpPr>
        <p:spPr/>
        <p:txBody>
          <a:bodyPr/>
          <a:lstStyle/>
          <a:p>
            <a:pPr>
              <a:defRPr/>
            </a:pPr>
            <a:fld id="{28E950C8-FFB6-40E2-BC9B-1D9E00A6B1D1}"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r>
              <a:rPr lang="en-US" altLang="zh-CN" dirty="0"/>
              <a:t>School of Computer Science, BUPT</a:t>
            </a:r>
            <a:endParaRPr lang="zh-CN" altLang="en-US" dirty="0"/>
          </a:p>
        </p:txBody>
      </p:sp>
      <p:pic>
        <p:nvPicPr>
          <p:cNvPr id="5121" name="图片 16"/>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720" y="1515568"/>
            <a:ext cx="3024336" cy="47355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251520" y="2413687"/>
            <a:ext cx="804739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400050">
              <a:defRPr>
                <a:solidFill>
                  <a:schemeClr val="tx1"/>
                </a:solidFill>
                <a:latin typeface="Arial" panose="020B0604020202090204" pitchFamily="34" charset="0"/>
              </a:defRPr>
            </a:lvl1pPr>
            <a:lvl2pPr>
              <a:defRPr>
                <a:solidFill>
                  <a:schemeClr val="tx1"/>
                </a:solidFill>
                <a:latin typeface="Arial" panose="020B0604020202090204" pitchFamily="34" charset="0"/>
              </a:defRPr>
            </a:lvl2pPr>
            <a:lvl3pPr>
              <a:defRPr>
                <a:solidFill>
                  <a:schemeClr val="tx1"/>
                </a:solidFill>
                <a:latin typeface="Arial" panose="020B0604020202090204" pitchFamily="34" charset="0"/>
              </a:defRPr>
            </a:lvl3pPr>
            <a:lvl4pPr>
              <a:defRPr>
                <a:solidFill>
                  <a:schemeClr val="tx1"/>
                </a:solidFill>
                <a:latin typeface="Arial" panose="020B0604020202090204" pitchFamily="34" charset="0"/>
              </a:defRPr>
            </a:lvl4pPr>
            <a:lvl5pPr>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lvl="0">
              <a:spcBef>
                <a:spcPts val="600"/>
              </a:spcBef>
              <a:spcAft>
                <a:spcPts val="600"/>
              </a:spcAft>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原式</a:t>
            </a:r>
            <a:r>
              <a:rPr kumimoji="0" lang="zh-CN" altLang="en-US"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xP</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s</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sym typeface="Symbol" panose="05050102010706020507" pitchFamily="18" charset="2"/>
              </a:rPr>
              <a:t>y</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Q</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err="1">
                <a:ln>
                  <a:noFill/>
                </a:ln>
                <a:solidFill>
                  <a:srgbClr val="FF0000"/>
                </a:solidFill>
                <a:effectLst/>
                <a:latin typeface="Times New Roman" panose="02020503050405090304" pitchFamily="18" charset="0"/>
                <a:cs typeface="Times New Roman" panose="02020503050405090304" pitchFamily="18" charset="0"/>
              </a:rPr>
              <a:t>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代替规则</a:t>
            </a:r>
            <a:endParaRPr kumimoji="0" lang="zh-CN" altLang="en-US"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endParaRPr>
          </a:p>
          <a:p>
            <a:pPr>
              <a:spcBef>
                <a:spcPts val="600"/>
              </a:spcBef>
              <a:spcAft>
                <a:spcPts val="600"/>
              </a:spcAft>
            </a:pP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strike="noStrike" cap="none" normalizeH="0" baseline="0" dirty="0">
                <a:ln>
                  <a:noFill/>
                </a:ln>
                <a:solidFill>
                  <a:srgbClr val="FF0000"/>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x</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(P(</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x,s</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sym typeface="Symbol" panose="05050102010706020507" pitchFamily="18" charset="2"/>
              </a:rPr>
              <a:t>y</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Q</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t,y</a:t>
            </a:r>
            <a:r>
              <a:rPr kumimoji="0" lang="en-US" altLang="zh-CN" sz="2000" i="0" u="none" dirty="0">
                <a:solidFill>
                  <a:srgbClr val="0000FF"/>
                </a:solidFill>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辖域扩张</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zh-CN" altLang="en-US"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xA</a:t>
            </a:r>
            <a:r>
              <a:rPr kumimoji="0" lang="en-US" altLang="zh-CN" sz="2000" i="0" u="none" dirty="0">
                <a:solidFill>
                  <a:srgbClr val="0000FF"/>
                </a:solidFill>
                <a:latin typeface="Times New Roman" panose="02020503050405090304" pitchFamily="18" charset="0"/>
                <a:cs typeface="Times New Roman" panose="02020503050405090304" pitchFamily="18" charset="0"/>
              </a:rPr>
              <a:t>(x)</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→B</a:t>
            </a:r>
            <a:r>
              <a:rPr kumimoji="0" lang="en-US" altLang="zh-CN" sz="2000" i="0" u="none" dirty="0">
                <a:solidFill>
                  <a:srgbClr val="0000FF"/>
                </a:solidFill>
                <a:latin typeface="Times New Roman" panose="02020503050405090304" pitchFamily="18" charset="0"/>
                <a:cs typeface="Times New Roman" panose="02020503050405090304" pitchFamily="18" charset="0"/>
              </a:rPr>
              <a:t>x(A(x)</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→B)</a:t>
            </a:r>
            <a:endParaRPr kumimoji="0" lang="en-US" altLang="zh-CN" sz="2000" i="0" u="none" dirty="0">
              <a:latin typeface="Times New Roman" panose="02020503050405090304" pitchFamily="18" charset="0"/>
              <a:cs typeface="Times New Roman" panose="02020503050405090304" pitchFamily="18" charset="0"/>
              <a:sym typeface="Symbol" panose="05050102010706020507" pitchFamily="18" charset="2"/>
            </a:endParaRPr>
          </a:p>
          <a:p>
            <a:pPr lvl="0">
              <a:spcBef>
                <a:spcPts val="600"/>
              </a:spcBef>
              <a:spcAft>
                <a:spcPts val="600"/>
              </a:spcAft>
            </a:pP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        </a:t>
            </a:r>
            <a:r>
              <a:rPr kumimoji="0" lang="en-US" altLang="zh-CN" sz="2000" i="0" u="none" dirty="0" err="1">
                <a:solidFill>
                  <a:srgbClr val="0000FF"/>
                </a:solidFill>
                <a:latin typeface="Times New Roman" panose="02020503050405090304" pitchFamily="18" charset="0"/>
                <a:cs typeface="Times New Roman" panose="02020503050405090304" pitchFamily="18" charset="0"/>
                <a:sym typeface="Symbol" panose="05050102010706020507" pitchFamily="18" charset="2"/>
              </a:rPr>
              <a:t>x</a:t>
            </a:r>
            <a:r>
              <a:rPr kumimoji="0" lang="en-US" altLang="zh-CN" sz="2000" i="0" u="none" dirty="0" err="1">
                <a:solidFill>
                  <a:srgbClr val="FF0000"/>
                </a:solidFill>
                <a:latin typeface="Times New Roman" panose="02020503050405090304" pitchFamily="18" charset="0"/>
                <a:cs typeface="Times New Roman" panose="02020503050405090304" pitchFamily="18" charset="0"/>
                <a:sym typeface="Symbol" panose="05050102010706020507" pitchFamily="18" charset="2"/>
              </a:rPr>
              <a:t>y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(P(</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x,s</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Q(</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t</a:t>
            </a:r>
            <a:r>
              <a:rPr kumimoji="0" lang="en-US" altLang="zh-CN" sz="2000" i="0" u="none" strike="noStrike" cap="none" normalizeH="0" baseline="0" dirty="0" err="1">
                <a:ln>
                  <a:noFill/>
                </a:ln>
                <a:solidFill>
                  <a:srgbClr val="0000FF"/>
                </a:solidFill>
                <a:effectLst/>
                <a:latin typeface="Times New Roman" panose="02020503050405090304" pitchFamily="18" charset="0"/>
                <a:cs typeface="Times New Roman" panose="02020503050405090304" pitchFamily="18" charset="0"/>
              </a:rPr>
              <a:t>,y</a:t>
            </a:r>
            <a:r>
              <a:rPr kumimoji="0" lang="en-US" altLang="zh-CN"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rPr>
              <a:t>))) </a:t>
            </a:r>
            <a:r>
              <a:rPr kumimoji="0" lang="en-US" altLang="zh-CN" sz="2000" i="0" u="none" strike="noStrike" cap="none" normalizeH="0" dirty="0">
                <a:ln>
                  <a:noFill/>
                </a:ln>
                <a:solidFill>
                  <a:srgbClr val="0000FF"/>
                </a:solidFill>
                <a:effectLst/>
                <a:latin typeface="Times New Roman" panose="02020503050405090304" pitchFamily="18" charset="0"/>
                <a:cs typeface="Times New Roman" panose="02020503050405090304" pitchFamily="18" charset="0"/>
              </a:rPr>
              <a:t>    </a:t>
            </a:r>
            <a:r>
              <a:rPr kumimoji="0" lang="zh-CN" altLang="en-US" sz="2000" i="0" u="none" strike="noStrike" cap="none" normalizeH="0" baseline="0" dirty="0">
                <a:ln>
                  <a:noFill/>
                </a:ln>
                <a:solidFill>
                  <a:srgbClr val="0000FF"/>
                </a:solidFill>
                <a:effectLst/>
                <a:latin typeface="Times New Roman" panose="02020503050405090304" pitchFamily="18" charset="0"/>
                <a:cs typeface="Times New Roman" panose="02020503050405090304" pitchFamily="18" charset="0"/>
                <a:sym typeface="Symbol" panose="05050102010706020507" pitchFamily="18" charset="2"/>
              </a:rPr>
              <a:t>辖域扩张</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 B→</a:t>
            </a:r>
            <a:r>
              <a:rPr kumimoji="0" lang="en-US" altLang="zh-CN" sz="2000" i="0" u="none" dirty="0" err="1">
                <a:solidFill>
                  <a:srgbClr val="0000FF"/>
                </a:solidFill>
                <a:latin typeface="Times New Roman" panose="02020503050405090304" pitchFamily="18" charset="0"/>
                <a:cs typeface="Times New Roman" panose="02020503050405090304" pitchFamily="18" charset="0"/>
              </a:rPr>
              <a:t>xA</a:t>
            </a:r>
            <a:r>
              <a:rPr kumimoji="0" lang="en-US" altLang="zh-CN" sz="2000" i="0" u="none" dirty="0">
                <a:solidFill>
                  <a:srgbClr val="0000FF"/>
                </a:solidFill>
                <a:latin typeface="Times New Roman" panose="02020503050405090304" pitchFamily="18" charset="0"/>
                <a:cs typeface="Times New Roman" panose="02020503050405090304" pitchFamily="18" charset="0"/>
              </a:rPr>
              <a:t>(x)</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t>
            </a:r>
            <a:r>
              <a:rPr kumimoji="0" lang="en-US" altLang="zh-CN" sz="2000" i="0" u="none" dirty="0">
                <a:solidFill>
                  <a:srgbClr val="0000FF"/>
                </a:solidFill>
                <a:latin typeface="Times New Roman" panose="02020503050405090304" pitchFamily="18" charset="0"/>
                <a:cs typeface="Times New Roman" panose="02020503050405090304" pitchFamily="18" charset="0"/>
              </a:rPr>
              <a:t>x(B</a:t>
            </a:r>
            <a:r>
              <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rPr>
              <a:t>→A(x))</a:t>
            </a:r>
            <a:endParaRPr kumimoji="0" lang="en-US" altLang="zh-CN" sz="2000" i="0" u="none" dirty="0">
              <a:solidFill>
                <a:srgbClr val="0000FF"/>
              </a:solidFill>
              <a:latin typeface="Times New Roman" panose="02020503050405090304" pitchFamily="18" charset="0"/>
              <a:cs typeface="Times New Roman" panose="02020503050405090304" pitchFamily="18" charset="0"/>
              <a:sym typeface="Symbol" panose="05050102010706020507" pitchFamily="18" charset="2"/>
            </a:endParaRPr>
          </a:p>
        </p:txBody>
      </p:sp>
      <p:sp>
        <p:nvSpPr>
          <p:cNvPr id="9" name="矩形 8"/>
          <p:cNvSpPr/>
          <p:nvPr/>
        </p:nvSpPr>
        <p:spPr>
          <a:xfrm>
            <a:off x="467544" y="1008069"/>
            <a:ext cx="7488832" cy="523220"/>
          </a:xfrm>
          <a:prstGeom prst="rect">
            <a:avLst/>
          </a:prstGeom>
        </p:spPr>
        <p:txBody>
          <a:bodyPr wrap="square">
            <a:spAutoFit/>
          </a:bodyPr>
          <a:lstStyle/>
          <a:p>
            <a:pPr marL="0" lvl="1" eaLnBrk="1" hangingPunct="1">
              <a:spcBef>
                <a:spcPct val="20000"/>
              </a:spcBef>
              <a:spcAft>
                <a:spcPts val="600"/>
              </a:spcAft>
              <a:buClr>
                <a:schemeClr val="folHlink"/>
              </a:buClr>
              <a:buSzPct val="60000"/>
              <a:buFont typeface="Wingdings" panose="05000000000000000000" pitchFamily="2" charset="2"/>
              <a:buChar char="n"/>
            </a:pPr>
            <a:r>
              <a:rPr kumimoji="0" lang="en-US" altLang="zh-CN" sz="2800" b="0" i="0" u="none" dirty="0">
                <a:cs typeface="Times New Roman" panose="02020503050405090304" pitchFamily="18" charset="0"/>
              </a:rPr>
              <a:t>Put the statements in </a:t>
            </a:r>
            <a:r>
              <a:rPr kumimoji="0" lang="en-US" altLang="zh-CN" sz="2800" b="0" i="0" u="none" dirty="0" err="1">
                <a:cs typeface="Times New Roman" panose="02020503050405090304" pitchFamily="18" charset="0"/>
              </a:rPr>
              <a:t>prenex</a:t>
            </a:r>
            <a:r>
              <a:rPr kumimoji="0" lang="en-US" altLang="zh-CN" sz="2800" b="0" i="0" u="none" dirty="0">
                <a:cs typeface="Times New Roman" panose="02020503050405090304" pitchFamily="18" charset="0"/>
              </a:rPr>
              <a:t> normal form.</a:t>
            </a:r>
            <a:endParaRPr kumimoji="0" lang="en-US" altLang="zh-CN" sz="2800" b="0" i="0" u="none" dirty="0">
              <a:cs typeface="Times New Roman" panose="02020503050405090304" pitchFamily="18" charset="0"/>
            </a:endParaRPr>
          </a:p>
        </p:txBody>
      </p:sp>
      <p:sp>
        <p:nvSpPr>
          <p:cNvPr id="10" name="矩形 9"/>
          <p:cNvSpPr/>
          <p:nvPr/>
        </p:nvSpPr>
        <p:spPr>
          <a:xfrm>
            <a:off x="1454613" y="4619524"/>
            <a:ext cx="5879826" cy="461665"/>
          </a:xfrm>
          <a:prstGeom prst="rect">
            <a:avLst/>
          </a:prstGeom>
          <a:solidFill>
            <a:schemeClr val="accent2"/>
          </a:solidFill>
        </p:spPr>
        <p:txBody>
          <a:bodyPr wrap="square">
            <a:spAutoFit/>
          </a:bodyPr>
          <a:lstStyle/>
          <a:p>
            <a:pPr algn="ctr">
              <a:spcAft>
                <a:spcPts val="600"/>
              </a:spcAft>
            </a:pPr>
            <a:r>
              <a:rPr lang="zh-CN" altLang="en-US" i="0" u="none" dirty="0">
                <a:cs typeface="Times New Roman" panose="02020503050405090304" pitchFamily="18" charset="0"/>
              </a:rPr>
              <a:t>合式公式的前束范式是不唯一的</a:t>
            </a:r>
            <a:endParaRPr lang="zh-CN" altLang="en-US" i="0" u="non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470F509C-298A-496D-A573-A634FD4F601D}" type="slidenum">
              <a:rPr kumimoji="0" lang="zh-CN" altLang="en-US" sz="1000" u="none">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7270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fld id="{DE796177-40B9-4311-AACC-00973F628739}" type="datetime1">
              <a:rPr kumimoji="0" lang="zh-CN" altLang="en-US" sz="1000" u="none" smtClean="0">
                <a:solidFill>
                  <a:srgbClr val="009999"/>
                </a:solidFill>
                <a:latin typeface="Arial Narrow" panose="020B0606020202030204" pitchFamily="34" charset="0"/>
              </a:rPr>
            </a:fld>
            <a:endParaRPr kumimoji="0" lang="en-US" altLang="zh-CN" sz="1000" u="none">
              <a:solidFill>
                <a:srgbClr val="009999"/>
              </a:solidFill>
              <a:latin typeface="Arial Narrow" panose="020B0606020202030204" pitchFamily="34" charset="0"/>
            </a:endParaRPr>
          </a:p>
        </p:txBody>
      </p:sp>
      <p:sp>
        <p:nvSpPr>
          <p:cNvPr id="7270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r>
              <a:rPr lang="en-US" altLang="zh-CN" sz="1200" u="none" dirty="0">
                <a:solidFill>
                  <a:srgbClr val="009999"/>
                </a:solidFill>
                <a:latin typeface="Arial Narrow" panose="020B0606020202030204" pitchFamily="34" charset="0"/>
              </a:rPr>
              <a:t>School of Computer Science, BUPT</a:t>
            </a:r>
            <a:endParaRPr lang="zh-CN" altLang="en-US" sz="1200" u="none" dirty="0">
              <a:solidFill>
                <a:srgbClr val="009999"/>
              </a:solidFill>
              <a:latin typeface="Arial Narrow" panose="020B0606020202030204" pitchFamily="34" charset="0"/>
            </a:endParaRPr>
          </a:p>
        </p:txBody>
      </p:sp>
      <p:sp>
        <p:nvSpPr>
          <p:cNvPr id="72709" name="Rectangle 2"/>
          <p:cNvSpPr>
            <a:spLocks noGrp="1" noChangeArrowheads="1"/>
          </p:cNvSpPr>
          <p:nvPr>
            <p:ph type="title"/>
          </p:nvPr>
        </p:nvSpPr>
        <p:spPr/>
        <p:txBody>
          <a:bodyPr/>
          <a:lstStyle/>
          <a:p>
            <a:pPr eaLnBrk="1" hangingPunct="1"/>
            <a:r>
              <a:rPr lang="en-US" altLang="zh-CN" b="0" kern="1200" dirty="0">
                <a:latin typeface="Copperplate Gothic Bold" panose="020E0705020206020404" pitchFamily="34" charset="0"/>
              </a:rPr>
              <a:t>Homework</a:t>
            </a:r>
            <a:endParaRPr lang="en-US" altLang="zh-CN" b="0" kern="1200" dirty="0">
              <a:latin typeface="Copperplate Gothic Bold" panose="020E0705020206020404" pitchFamily="34" charset="0"/>
            </a:endParaRPr>
          </a:p>
        </p:txBody>
      </p:sp>
      <p:sp>
        <p:nvSpPr>
          <p:cNvPr id="72710" name="Rectangle 3"/>
          <p:cNvSpPr>
            <a:spLocks noGrp="1" noChangeArrowheads="1"/>
          </p:cNvSpPr>
          <p:nvPr>
            <p:ph type="body" idx="1"/>
          </p:nvPr>
        </p:nvSpPr>
        <p:spPr>
          <a:xfrm>
            <a:off x="467544" y="1268636"/>
            <a:ext cx="8347844" cy="4979194"/>
          </a:xfrm>
        </p:spPr>
        <p:txBody>
          <a:bodyPr/>
          <a:lstStyle/>
          <a:p>
            <a:pPr eaLnBrk="1" hangingPunct="1"/>
            <a:r>
              <a:rPr lang="zh-CN" altLang="en-US" sz="2400" dirty="0">
                <a:latin typeface="Times New Roman" panose="02020503050405090304" pitchFamily="18" charset="0"/>
                <a:cs typeface="Times New Roman" panose="02020503050405090304" pitchFamily="18" charset="0"/>
              </a:rPr>
              <a:t>1. 设个体域</a:t>
            </a:r>
            <a:r>
              <a:rPr lang="en-US" altLang="zh-CN" sz="2400" dirty="0">
                <a:latin typeface="Times New Roman" panose="02020503050405090304" pitchFamily="18" charset="0"/>
                <a:cs typeface="Times New Roman" panose="02020503050405090304" pitchFamily="18" charset="0"/>
              </a:rPr>
              <a:t>D={</a:t>
            </a:r>
            <a:r>
              <a:rPr lang="en-US" altLang="zh-CN" sz="2400" dirty="0" err="1">
                <a:latin typeface="Times New Roman" panose="02020503050405090304" pitchFamily="18" charset="0"/>
                <a:cs typeface="Times New Roman" panose="02020503050405090304" pitchFamily="18" charset="0"/>
              </a:rPr>
              <a:t>a,b,c</a:t>
            </a:r>
            <a:r>
              <a:rPr lang="en-US" altLang="zh-CN" sz="2400" dirty="0">
                <a:latin typeface="Times New Roman" panose="02020503050405090304" pitchFamily="18" charset="0"/>
                <a:cs typeface="Times New Roman" panose="02020503050405090304" pitchFamily="18" charset="0"/>
              </a:rPr>
              <a:t>}, </a:t>
            </a:r>
            <a:r>
              <a:rPr lang="zh-CN" altLang="en-US" sz="2400" dirty="0">
                <a:latin typeface="Times New Roman" panose="02020503050405090304" pitchFamily="18" charset="0"/>
                <a:cs typeface="Times New Roman" panose="02020503050405090304" pitchFamily="18" charset="0"/>
              </a:rPr>
              <a:t>消去下列各式的量词：</a:t>
            </a:r>
            <a:endParaRPr lang="zh-CN" altLang="en-US" sz="2400" dirty="0">
              <a:latin typeface="Times New Roman" panose="02020503050405090304" pitchFamily="18" charset="0"/>
              <a:cs typeface="Times New Roman" panose="02020503050405090304" pitchFamily="18" charset="0"/>
            </a:endParaRPr>
          </a:p>
          <a:p>
            <a:pPr eaLnBrk="1" hangingPunct="1">
              <a:buFont typeface="Wingdings" panose="05000000000000000000" pitchFamily="2" charset="2"/>
              <a:buNone/>
            </a:pPr>
            <a:r>
              <a:rPr lang="en-US" altLang="zh-CN" sz="2400" dirty="0">
                <a:latin typeface="Times New Roman" panose="02020503050405090304" pitchFamily="18" charset="0"/>
                <a:cs typeface="Times New Roman" panose="02020503050405090304" pitchFamily="18" charset="0"/>
              </a:rPr>
              <a:t>  		(1)  </a:t>
            </a:r>
            <a:r>
              <a:rPr lang="zh-CN" altLang="en-US"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x</a:t>
            </a:r>
            <a:r>
              <a:rPr lang="zh-CN" altLang="en-US" sz="2400" dirty="0">
                <a:latin typeface="Times New Roman" panose="02020503050405090304" pitchFamily="18" charset="0"/>
                <a:cs typeface="Times New Roman" panose="02020503050405090304" pitchFamily="18" charset="0"/>
                <a:sym typeface="Symbol" panose="05050102010706020507" pitchFamily="18" charset="2"/>
              </a:rPr>
              <a:t> </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(F(x)</a:t>
            </a:r>
            <a:r>
              <a:rPr lang="zh-CN" altLang="en-US" sz="2400" dirty="0">
                <a:latin typeface="Times New Roman" panose="02020503050405090304" pitchFamily="18" charset="0"/>
                <a:cs typeface="Times New Roman" panose="02020503050405090304" pitchFamily="18" charset="0"/>
              </a:rPr>
              <a:t>∧</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G(x))</a:t>
            </a:r>
            <a:endParaRPr lang="en-US" altLang="zh-CN" sz="2400" i="1" dirty="0">
              <a:latin typeface="Times New Roman" panose="02020503050405090304" pitchFamily="18" charset="0"/>
              <a:cs typeface="Times New Roman" panose="02020503050405090304" pitchFamily="18" charset="0"/>
            </a:endParaRPr>
          </a:p>
          <a:p>
            <a:pPr eaLnBrk="1" hangingPunct="1">
              <a:buFont typeface="Wingdings" panose="05000000000000000000" pitchFamily="2" charset="2"/>
              <a:buNone/>
            </a:pPr>
            <a:r>
              <a:rPr lang="zh-CN" altLang="en-US" sz="2400" dirty="0">
                <a:latin typeface="Times New Roman" panose="02020503050405090304" pitchFamily="18" charset="0"/>
                <a:cs typeface="Times New Roman" panose="02020503050405090304" pitchFamily="18" charset="0"/>
              </a:rPr>
              <a:t>  </a:t>
            </a:r>
            <a:r>
              <a:rPr lang="en-US" altLang="zh-CN" sz="2400" dirty="0">
                <a:latin typeface="Times New Roman" panose="02020503050405090304" pitchFamily="18" charset="0"/>
                <a:cs typeface="Times New Roman" panose="02020503050405090304" pitchFamily="18" charset="0"/>
              </a:rPr>
              <a:t>		</a:t>
            </a:r>
            <a:r>
              <a:rPr lang="zh-CN" altLang="en-US" sz="2400" dirty="0">
                <a:latin typeface="Times New Roman" panose="02020503050405090304" pitchFamily="18" charset="0"/>
                <a:cs typeface="Times New Roman" panose="02020503050405090304" pitchFamily="18" charset="0"/>
              </a:rPr>
              <a:t>(2)  </a:t>
            </a:r>
            <a:r>
              <a:rPr lang="zh-CN" altLang="en-US"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x (F(x)</a:t>
            </a:r>
            <a:r>
              <a:rPr lang="zh-CN" altLang="en-US"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err="1">
                <a:latin typeface="Times New Roman" panose="02020503050405090304" pitchFamily="18" charset="0"/>
                <a:cs typeface="Times New Roman" panose="02020503050405090304" pitchFamily="18" charset="0"/>
                <a:sym typeface="Symbol" panose="05050102010706020507" pitchFamily="18" charset="2"/>
              </a:rPr>
              <a:t>yG</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(y))</a:t>
            </a:r>
            <a:endParaRPr lang="en-US" altLang="zh-CN" sz="2400" dirty="0">
              <a:latin typeface="Times New Roman" panose="02020503050405090304" pitchFamily="18" charset="0"/>
              <a:cs typeface="Times New Roman" panose="02020503050405090304" pitchFamily="18" charset="0"/>
            </a:endParaRPr>
          </a:p>
          <a:p>
            <a:pPr eaLnBrk="1" hangingPunct="1"/>
            <a:endParaRPr lang="en-US" altLang="zh-CN" sz="2400" dirty="0">
              <a:latin typeface="Times New Roman" panose="02020503050405090304" pitchFamily="18" charset="0"/>
              <a:cs typeface="Times New Roman" panose="02020503050405090304" pitchFamily="18" charset="0"/>
            </a:endParaRPr>
          </a:p>
          <a:p>
            <a:pPr eaLnBrk="1" hangingPunct="1"/>
            <a:r>
              <a:rPr lang="zh-CN" altLang="en-US" sz="2400" dirty="0">
                <a:latin typeface="Times New Roman" panose="02020503050405090304" pitchFamily="18" charset="0"/>
                <a:cs typeface="Times New Roman" panose="02020503050405090304" pitchFamily="18" charset="0"/>
              </a:rPr>
              <a:t>2. 证明等值式:</a:t>
            </a:r>
            <a:endParaRPr lang="zh-CN" altLang="en-US" sz="2400" dirty="0">
              <a:latin typeface="Times New Roman" panose="02020503050405090304" pitchFamily="18" charset="0"/>
              <a:cs typeface="Times New Roman" panose="02020503050405090304" pitchFamily="18" charset="0"/>
            </a:endParaRPr>
          </a:p>
          <a:p>
            <a:pPr eaLnBrk="1" hangingPunct="1">
              <a:buFont typeface="Wingdings" panose="05000000000000000000" pitchFamily="2" charset="2"/>
              <a:buNone/>
            </a:pPr>
            <a:r>
              <a:rPr lang="en-US" altLang="zh-CN" sz="2400" dirty="0">
                <a:latin typeface="Times New Roman" panose="02020503050405090304" pitchFamily="18" charset="0"/>
                <a:cs typeface="Times New Roman" panose="02020503050405090304" pitchFamily="18" charset="0"/>
              </a:rPr>
              <a:t>   		</a:t>
            </a:r>
            <a:r>
              <a:rPr lang="zh-CN" altLang="en-US"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err="1">
                <a:latin typeface="Times New Roman" panose="02020503050405090304" pitchFamily="18" charset="0"/>
                <a:cs typeface="Times New Roman" panose="02020503050405090304" pitchFamily="18" charset="0"/>
                <a:sym typeface="Symbol" panose="05050102010706020507" pitchFamily="18" charset="2"/>
              </a:rPr>
              <a:t>xF</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(x)</a:t>
            </a:r>
            <a:r>
              <a:rPr lang="en-US" altLang="zh-CN" sz="2400" dirty="0">
                <a:latin typeface="Times New Roman" panose="02020503050405090304" pitchFamily="18" charset="0"/>
                <a:cs typeface="Times New Roman" panose="02020503050405090304" pitchFamily="18" charset="0"/>
              </a:rPr>
              <a:t>∨</a:t>
            </a:r>
            <a:r>
              <a:rPr kumimoji="0" lang="en-US" altLang="zh-CN" sz="2400" dirty="0">
                <a:solidFill>
                  <a:schemeClr val="tx1"/>
                </a:solidFill>
                <a:latin typeface="Times New Roman" panose="02020503050405090304" pitchFamily="18" charset="0"/>
                <a:cs typeface="Times New Roman" panose="02020503050405090304" pitchFamily="18" charset="0"/>
                <a:sym typeface="Symbol" panose="05050102010706020507" charset="0"/>
              </a:rPr>
              <a:t></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err="1">
                <a:latin typeface="Times New Roman" panose="02020503050405090304" pitchFamily="18" charset="0"/>
                <a:cs typeface="Times New Roman" panose="02020503050405090304" pitchFamily="18" charset="0"/>
                <a:sym typeface="Symbol" panose="05050102010706020507" pitchFamily="18" charset="2"/>
              </a:rPr>
              <a:t>x</a:t>
            </a:r>
            <a:r>
              <a:rPr lang="en-US" altLang="zh-CN" sz="2400" dirty="0" err="1">
                <a:latin typeface="Times New Roman" panose="02020503050405090304" pitchFamily="18" charset="0"/>
                <a:cs typeface="Times New Roman" panose="02020503050405090304" pitchFamily="18" charset="0"/>
              </a:rPr>
              <a:t>G</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(x)</a:t>
            </a:r>
            <a:r>
              <a:rPr lang="zh-CN" altLang="en-US"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x</a:t>
            </a:r>
            <a:r>
              <a:rPr lang="zh-CN" altLang="en-US"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y(F(x)</a:t>
            </a:r>
            <a:r>
              <a:rPr lang="en-US" altLang="zh-CN" sz="2400" dirty="0">
                <a:latin typeface="Times New Roman" panose="02020503050405090304" pitchFamily="18" charset="0"/>
                <a:cs typeface="Times New Roman" panose="02020503050405090304" pitchFamily="18" charset="0"/>
              </a:rPr>
              <a:t>∨</a:t>
            </a:r>
            <a:r>
              <a:rPr kumimoji="0" lang="en-US" altLang="zh-CN" sz="2400" dirty="0">
                <a:latin typeface="Times New Roman" panose="02020503050405090304" pitchFamily="18" charset="0"/>
                <a:cs typeface="Times New Roman" panose="02020503050405090304" pitchFamily="18" charset="0"/>
                <a:sym typeface="Symbol" panose="05050102010706020507" charset="0"/>
              </a:rPr>
              <a:t></a:t>
            </a:r>
            <a:r>
              <a:rPr lang="en-US" altLang="zh-CN" sz="2400" dirty="0">
                <a:latin typeface="Times New Roman" panose="02020503050405090304" pitchFamily="18" charset="0"/>
                <a:cs typeface="Times New Roman" panose="02020503050405090304" pitchFamily="18" charset="0"/>
              </a:rPr>
              <a:t>G</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(y))</a:t>
            </a:r>
            <a:endParaRPr lang="en-US" altLang="zh-CN" sz="2400" dirty="0">
              <a:latin typeface="Times New Roman" panose="02020503050405090304" pitchFamily="18" charset="0"/>
              <a:cs typeface="Times New Roman" panose="02020503050405090304" pitchFamily="18" charset="0"/>
              <a:sym typeface="Symbol" panose="05050102010706020507" pitchFamily="18" charset="2"/>
            </a:endParaRPr>
          </a:p>
          <a:p>
            <a:pPr eaLnBrk="1" hangingPunct="1"/>
            <a:endParaRPr lang="en-US" altLang="zh-CN" sz="2400" dirty="0">
              <a:latin typeface="Times New Roman" panose="02020503050405090304" pitchFamily="18" charset="0"/>
              <a:cs typeface="Times New Roman" panose="02020503050405090304" pitchFamily="18" charset="0"/>
            </a:endParaRPr>
          </a:p>
          <a:p>
            <a:pPr eaLnBrk="1" hangingPunct="1"/>
            <a:r>
              <a:rPr lang="zh-CN" altLang="en-US" sz="2400" dirty="0">
                <a:latin typeface="Times New Roman" panose="02020503050405090304" pitchFamily="18" charset="0"/>
                <a:cs typeface="Times New Roman" panose="02020503050405090304" pitchFamily="18" charset="0"/>
              </a:rPr>
              <a:t>3. 求下列各式的前束范式</a:t>
            </a:r>
            <a:r>
              <a:rPr lang="en-US" altLang="zh-CN" sz="2400" dirty="0">
                <a:latin typeface="Times New Roman" panose="02020503050405090304" pitchFamily="18" charset="0"/>
                <a:cs typeface="Times New Roman" panose="02020503050405090304" pitchFamily="18" charset="0"/>
              </a:rPr>
              <a:t>:</a:t>
            </a:r>
            <a:endParaRPr lang="en-US" altLang="zh-CN" sz="2400" dirty="0">
              <a:latin typeface="Times New Roman" panose="02020503050405090304" pitchFamily="18" charset="0"/>
              <a:cs typeface="Times New Roman" panose="02020503050405090304" pitchFamily="18" charset="0"/>
            </a:endParaRPr>
          </a:p>
          <a:p>
            <a:pPr marL="457200" lvl="1" indent="0" eaLnBrk="1" hangingPunct="1">
              <a:buNone/>
            </a:pPr>
            <a:r>
              <a:rPr lang="en-US" altLang="zh-CN" sz="2000" dirty="0">
                <a:latin typeface="Times New Roman" panose="02020503050405090304" pitchFamily="18" charset="0"/>
                <a:cs typeface="Times New Roman" panose="02020503050405090304" pitchFamily="18" charset="0"/>
                <a:sym typeface="Symbol" panose="05050102010706020507" pitchFamily="18" charset="2"/>
              </a:rPr>
              <a:t>	</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(1) </a:t>
            </a:r>
            <a:r>
              <a:rPr lang="en-US" altLang="zh-CN" sz="2400" dirty="0" err="1">
                <a:latin typeface="Times New Roman" panose="02020503050405090304" pitchFamily="18" charset="0"/>
                <a:cs typeface="Times New Roman" panose="02020503050405090304" pitchFamily="18" charset="0"/>
              </a:rPr>
              <a:t>xF</a:t>
            </a:r>
            <a:r>
              <a:rPr lang="en-US" altLang="zh-CN" sz="2400" dirty="0">
                <a:latin typeface="Times New Roman" panose="02020503050405090304" pitchFamily="18" charset="0"/>
                <a:cs typeface="Times New Roman" panose="02020503050405090304" pitchFamily="18" charset="0"/>
              </a:rPr>
              <a:t>(x) ∨ </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err="1">
                <a:latin typeface="Times New Roman" panose="02020503050405090304" pitchFamily="18" charset="0"/>
                <a:cs typeface="Times New Roman" panose="02020503050405090304" pitchFamily="18" charset="0"/>
              </a:rPr>
              <a:t>xG</a:t>
            </a:r>
            <a:r>
              <a:rPr lang="en-US" altLang="zh-CN" sz="2400" dirty="0">
                <a:latin typeface="Times New Roman" panose="02020503050405090304" pitchFamily="18" charset="0"/>
                <a:cs typeface="Times New Roman" panose="02020503050405090304" pitchFamily="18" charset="0"/>
              </a:rPr>
              <a:t>(x)</a:t>
            </a:r>
            <a:endParaRPr lang="en-US" altLang="zh-CN" sz="2400" dirty="0">
              <a:latin typeface="Times New Roman" panose="02020503050405090304" pitchFamily="18" charset="0"/>
              <a:cs typeface="Times New Roman" panose="02020503050405090304" pitchFamily="18" charset="0"/>
              <a:sym typeface="Symbol" panose="05050102010706020507" pitchFamily="18" charset="2"/>
            </a:endParaRPr>
          </a:p>
          <a:p>
            <a:pPr marL="457200" lvl="1" indent="0" eaLnBrk="1" hangingPunct="1">
              <a:buNone/>
            </a:pP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	(2) </a:t>
            </a:r>
            <a:r>
              <a:rPr lang="en-US" altLang="zh-CN" sz="2400" dirty="0" err="1">
                <a:latin typeface="Times New Roman" panose="02020503050405090304" pitchFamily="18" charset="0"/>
                <a:cs typeface="Times New Roman" panose="02020503050405090304" pitchFamily="18" charset="0"/>
              </a:rPr>
              <a:t>x</a:t>
            </a:r>
            <a:r>
              <a:rPr lang="en-US" altLang="zh-CN" sz="2400" dirty="0" err="1">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err="1">
                <a:latin typeface="Times New Roman" panose="02020503050405090304" pitchFamily="18" charset="0"/>
                <a:cs typeface="Times New Roman" panose="02020503050405090304" pitchFamily="18" charset="0"/>
              </a:rPr>
              <a:t>y</a:t>
            </a:r>
            <a:r>
              <a:rPr lang="en-US" altLang="zh-CN" sz="2400" dirty="0">
                <a:latin typeface="Times New Roman" panose="02020503050405090304" pitchFamily="18" charset="0"/>
                <a:cs typeface="Times New Roman" panose="02020503050405090304" pitchFamily="18" charset="0"/>
              </a:rPr>
              <a:t>(</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cs typeface="Times New Roman" panose="02020503050405090304" pitchFamily="18" charset="0"/>
              </a:rPr>
              <a:t>z(P(</a:t>
            </a:r>
            <a:r>
              <a:rPr lang="en-US" altLang="zh-CN" sz="2400" dirty="0" err="1">
                <a:latin typeface="Times New Roman" panose="02020503050405090304" pitchFamily="18" charset="0"/>
                <a:cs typeface="Times New Roman" panose="02020503050405090304" pitchFamily="18" charset="0"/>
              </a:rPr>
              <a:t>x,z</a:t>
            </a:r>
            <a:r>
              <a:rPr lang="en-US" altLang="zh-CN" sz="2400" dirty="0">
                <a:latin typeface="Times New Roman" panose="02020503050405090304" pitchFamily="18" charset="0"/>
                <a:cs typeface="Times New Roman" panose="02020503050405090304" pitchFamily="18" charset="0"/>
              </a:rPr>
              <a:t>)∧P(</a:t>
            </a:r>
            <a:r>
              <a:rPr lang="en-US" altLang="zh-CN" sz="2400" dirty="0" err="1">
                <a:latin typeface="Times New Roman" panose="02020503050405090304" pitchFamily="18" charset="0"/>
                <a:cs typeface="Times New Roman" panose="02020503050405090304" pitchFamily="18" charset="0"/>
              </a:rPr>
              <a:t>y,z</a:t>
            </a:r>
            <a:r>
              <a:rPr lang="en-US" altLang="zh-CN" sz="2400" dirty="0">
                <a:latin typeface="Times New Roman" panose="02020503050405090304" pitchFamily="18" charset="0"/>
                <a:cs typeface="Times New Roman" panose="02020503050405090304" pitchFamily="18" charset="0"/>
              </a:rPr>
              <a:t>))</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err="1">
                <a:latin typeface="Times New Roman" panose="02020503050405090304" pitchFamily="18" charset="0"/>
                <a:cs typeface="Times New Roman" panose="02020503050405090304" pitchFamily="18" charset="0"/>
                <a:sym typeface="Symbol" panose="05050102010706020507" pitchFamily="18" charset="2"/>
              </a:rPr>
              <a:t>uQ</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2400" dirty="0" err="1">
                <a:latin typeface="Times New Roman" panose="02020503050405090304" pitchFamily="18" charset="0"/>
                <a:cs typeface="Times New Roman" panose="02020503050405090304" pitchFamily="18" charset="0"/>
                <a:sym typeface="Symbol" panose="05050102010706020507" pitchFamily="18" charset="2"/>
              </a:rPr>
              <a:t>x,y,u</a:t>
            </a:r>
            <a:r>
              <a:rPr lang="en-US" altLang="zh-CN" sz="2400" dirty="0">
                <a:latin typeface="Times New Roman" panose="02020503050405090304" pitchFamily="18" charset="0"/>
                <a:cs typeface="Times New Roman" panose="02020503050405090304" pitchFamily="18" charset="0"/>
                <a:sym typeface="Symbol" panose="05050102010706020507" pitchFamily="18" charset="2"/>
              </a:rPr>
              <a:t>))</a:t>
            </a:r>
            <a:endParaRPr lang="en-US" altLang="zh-CN" sz="2400" dirty="0">
              <a:latin typeface="Times New Roman" panose="02020503050405090304" pitchFamily="18" charset="0"/>
              <a:cs typeface="Times New Roman" panose="02020503050405090304" pitchFamily="18" charset="0"/>
              <a:sym typeface="Symbol" panose="05050102010706020507" pitchFamily="18" charset="2"/>
            </a:endParaRPr>
          </a:p>
          <a:p>
            <a:pPr eaLnBrk="1" hangingPunct="1">
              <a:buFont typeface="Wingdings" panose="05000000000000000000" pitchFamily="2" charset="2"/>
              <a:buNone/>
            </a:pPr>
            <a:endParaRPr lang="en-US" altLang="zh-CN" sz="2400" dirty="0">
              <a:latin typeface="Times New Roman" panose="02020503050405090304" pitchFamily="18" charset="0"/>
              <a:cs typeface="Times New Roman" panose="02020503050405090304" pitchFamily="18" charset="0"/>
              <a:sym typeface="Symbol" panose="05050102010706020507" pitchFamily="18" charset="2"/>
            </a:endParaRPr>
          </a:p>
        </p:txBody>
      </p:sp>
    </p:spTree>
  </p:cSld>
  <p:clrMapOvr>
    <a:masterClrMapping/>
  </p:clrMapOvr>
</p:sld>
</file>

<file path=ppt/tags/tag1.xml><?xml version="1.0" encoding="utf-8"?>
<p:tagLst xmlns:p="http://schemas.openxmlformats.org/presentationml/2006/main">
  <p:tag name="LATEXADDIN" val="\documentclass{article}&#10;\usepackage{amsmath}&#10;\pagestyle{empty}&#10;\begin{document}&#10;&#10;\[{\mbox{lim}}_{x \rightarrow a} \; f(x) \not= L\]&#10;&#10;&#10;\end{document}"/>
  <p:tag name="IGUANATEXSIZE" val="15"/>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Bullet"/>
  <p:tag name="RAINPROBLEMTYPE" val="MultipleChoiceMA"/>
  <p:tag name="RAINBULLET" val="Wrong"/>
</p:tagLst>
</file>

<file path=ppt/tags/tag8.xml><?xml version="1.0" encoding="utf-8"?>
<p:tagLst xmlns:p="http://schemas.openxmlformats.org/presentationml/2006/main">
  <p:tag name="RAINPROBLEM" val="ProblemBullet"/>
  <p:tag name="RAINPROBLEMTYPE" val="MultipleChoiceMA"/>
  <p:tag name="RAINBULLET" val="Correct"/>
</p:tagLst>
</file>

<file path=ppt/tags/tag9.xml><?xml version="1.0" encoding="utf-8"?>
<p:tagLst xmlns:p="http://schemas.openxmlformats.org/presentationml/2006/main">
  <p:tag name="RAINPROBLEM" val="ProblemBullet"/>
  <p:tag name="RAINPROBLEMTYPE" val="MultipleChoiceMA"/>
  <p:tag name="RAINBULLET" val="Correct"/>
</p:tagLst>
</file>

<file path=ppt/tags/tag10.xml><?xml version="1.0" encoding="utf-8"?>
<p:tagLst xmlns:p="http://schemas.openxmlformats.org/presentationml/2006/main">
  <p:tag name="RAINPROBLEM" val="ProblemBullet"/>
  <p:tag name="RAINPROBLEMTYPE" val="MultipleChoiceMA"/>
  <p:tag name="RAINBULLET" val="Correct"/>
</p:tagLst>
</file>

<file path=ppt/tags/tag11.xml><?xml version="1.0" encoding="utf-8"?>
<p:tagLst xmlns:p="http://schemas.openxmlformats.org/presentationml/2006/main">
  <p:tag name="RAINPROBLEM" val="ProblemSubmit"/>
  <p:tag name="RAINPROBLEMTYPE" val="MultipleChoiceMA"/>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 val="ProblemSetting"/>
  <p:tag name="RAINPROBLEMTYPE" val="MultipleChoiceMA"/>
</p:tagLst>
</file>

<file path=ppt/tags/tag18.xml><?xml version="1.0" encoding="utf-8"?>
<p:tagLst xmlns:p="http://schemas.openxmlformats.org/presentationml/2006/main">
  <p:tag name="RAINPROBLEM" val="MultipleChoiceMA"/>
  <p:tag name="PROBLEMSCORE" val="1.0"/>
  <p:tag name="PROBLEMSCORE_HALF" val="0.5"/>
</p:tagLst>
</file>

<file path=ppt/tags/tag19.xml><?xml version="1.0" encoding="utf-8"?>
<p:tagLst xmlns:p="http://schemas.openxmlformats.org/presentationml/2006/main">
  <p:tag name="RAINPROBLEM" val="ProblemBody"/>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Item"/>
</p:tagLst>
</file>

<file path=ppt/tags/tag24.xml><?xml version="1.0" encoding="utf-8"?>
<p:tagLst xmlns:p="http://schemas.openxmlformats.org/presentationml/2006/main">
  <p:tag name="RAINPROBLEM" val="ProblemBullet"/>
  <p:tag name="RAINPROBLEMTYPE" val="MultipleChoiceMA"/>
  <p:tag name="RAINBULLET" val="Wrong"/>
</p:tagLst>
</file>

<file path=ppt/tags/tag25.xml><?xml version="1.0" encoding="utf-8"?>
<p:tagLst xmlns:p="http://schemas.openxmlformats.org/presentationml/2006/main">
  <p:tag name="RAINPROBLEM" val="ProblemBullet"/>
  <p:tag name="RAINPROBLEMTYPE" val="MultipleChoiceMA"/>
  <p:tag name="RAINBULLET" val="Wrong"/>
</p:tagLst>
</file>

<file path=ppt/tags/tag26.xml><?xml version="1.0" encoding="utf-8"?>
<p:tagLst xmlns:p="http://schemas.openxmlformats.org/presentationml/2006/main">
  <p:tag name="RAINPROBLEM" val="ProblemBullet"/>
  <p:tag name="RAINPROBLEMTYPE" val="MultipleChoiceMA"/>
  <p:tag name="RAINBULLET" val="Wrong"/>
</p:tagLst>
</file>

<file path=ppt/tags/tag27.xml><?xml version="1.0" encoding="utf-8"?>
<p:tagLst xmlns:p="http://schemas.openxmlformats.org/presentationml/2006/main">
  <p:tag name="RAINPROBLEM" val="ProblemBullet"/>
  <p:tag name="RAINPROBLEMTYPE" val="MultipleChoiceMA"/>
  <p:tag name="RAINBULLET" val="Correct"/>
</p:tagLst>
</file>

<file path=ppt/tags/tag28.xml><?xml version="1.0" encoding="utf-8"?>
<p:tagLst xmlns:p="http://schemas.openxmlformats.org/presentationml/2006/main">
  <p:tag name="RAINPROBLEM" val="ProblemSubmit"/>
  <p:tag name="RAINPROBLEMTYPE" val="MultipleChoiceMA"/>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 val="ProblemSetting"/>
  <p:tag name="RAINPROBLEMTYPE" val="MultipleChoiceMA"/>
</p:tagLst>
</file>

<file path=ppt/tags/tag35.xml><?xml version="1.0" encoding="utf-8"?>
<p:tagLst xmlns:p="http://schemas.openxmlformats.org/presentationml/2006/main">
  <p:tag name="RAINPROBLEM" val="MultipleChoiceMA"/>
  <p:tag name="PROBLEMSCORE" val="1.0"/>
  <p:tag name="PROBLEMSCORE_HALF" val="0.5"/>
</p:tagLst>
</file>

<file path=ppt/tags/tag36.xml><?xml version="1.0" encoding="utf-8"?>
<p:tagLst xmlns:p="http://schemas.openxmlformats.org/presentationml/2006/main">
  <p:tag name="KSO_WPP_MARK_KEY" val="2c2116d0-c596-41c8-af6e-ff8341e812c7"/>
  <p:tag name="COMMONDATA" val="eyJoZGlkIjoiYjZhMmY1NGQwZjE0MWY4MTkzZjM4YzBiNDA1ZmM3ZDEifQ=="/>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16263</Words>
  <Application>WPS 表格</Application>
  <PresentationFormat>全屏显示(4:3)</PresentationFormat>
  <Paragraphs>1179</Paragraphs>
  <Slides>78</Slides>
  <Notes>5</Notes>
  <HiddenSlides>0</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2</vt:i4>
      </vt:variant>
      <vt:variant>
        <vt:lpstr>幻灯片标题</vt:lpstr>
      </vt:variant>
      <vt:variant>
        <vt:i4>78</vt:i4>
      </vt:variant>
    </vt:vector>
  </HeadingPairs>
  <TitlesOfParts>
    <vt:vector size="112" baseType="lpstr">
      <vt:lpstr>Arial</vt:lpstr>
      <vt:lpstr>宋体</vt:lpstr>
      <vt:lpstr>Wingdings</vt:lpstr>
      <vt:lpstr>Times New Roman</vt:lpstr>
      <vt:lpstr>汉仪书宋二KW</vt:lpstr>
      <vt:lpstr>Arial Narrow</vt:lpstr>
      <vt:lpstr>Tahoma</vt:lpstr>
      <vt:lpstr>Copperplate Gothic Light</vt:lpstr>
      <vt:lpstr>苹方-简</vt:lpstr>
      <vt:lpstr>Copperplate Gothic Bold</vt:lpstr>
      <vt:lpstr>Symbol</vt:lpstr>
      <vt:lpstr>Kingsoft Sign</vt:lpstr>
      <vt:lpstr>Times-Roman</vt:lpstr>
      <vt:lpstr>Cambria Math</vt:lpstr>
      <vt:lpstr>Kingsoft Math</vt:lpstr>
      <vt:lpstr>Symbol</vt:lpstr>
      <vt:lpstr>Times-Bold</vt:lpstr>
      <vt:lpstr>MTMI</vt:lpstr>
      <vt:lpstr>MTSYN</vt:lpstr>
      <vt:lpstr>Euclid Symbol</vt:lpstr>
      <vt:lpstr>微软雅黑</vt:lpstr>
      <vt:lpstr>汉仪旗黑</vt:lpstr>
      <vt:lpstr>宋体</vt:lpstr>
      <vt:lpstr>Arial Unicode MS</vt:lpstr>
      <vt:lpstr>Cambria Math</vt:lpstr>
      <vt:lpstr>Arial Black</vt:lpstr>
      <vt:lpstr>Euclid</vt:lpstr>
      <vt:lpstr>Symbol</vt:lpstr>
      <vt:lpstr>宋体-简</vt:lpstr>
      <vt:lpstr>PingFang SC</vt:lpstr>
      <vt:lpstr>Thonburi</vt:lpstr>
      <vt:lpstr>Blends</vt:lpstr>
      <vt:lpstr>Equation.DSMT4</vt:lpstr>
      <vt:lpstr>Equation.DSMT4</vt:lpstr>
      <vt:lpstr>Nested Quantifiers</vt:lpstr>
      <vt:lpstr>Outline</vt:lpstr>
      <vt:lpstr>Translating statements involving nested quantifiers</vt:lpstr>
      <vt:lpstr>PowerPoint 演示文稿</vt:lpstr>
      <vt:lpstr>Translating from Nested Quantifiers into English </vt:lpstr>
      <vt:lpstr>Translating Mathematical Statements into Predicate Logic </vt:lpstr>
      <vt:lpstr>PowerPoint 演示文稿</vt:lpstr>
      <vt:lpstr>Some common shorthands</vt:lpstr>
      <vt:lpstr>Some common shorthands</vt:lpstr>
      <vt:lpstr>Calculus Example</vt:lpstr>
      <vt:lpstr>Translating sentences into logical expressions</vt:lpstr>
      <vt:lpstr>Translating sentences into logical expressions</vt:lpstr>
      <vt:lpstr>PowerPoint 演示文稿</vt:lpstr>
      <vt:lpstr>Negating nested quantifiers</vt:lpstr>
      <vt:lpstr>Negating nested quantifiers</vt:lpstr>
      <vt:lpstr>Example 16</vt:lpstr>
      <vt:lpstr>命题的形式化表示</vt:lpstr>
      <vt:lpstr>命题符号化</vt:lpstr>
      <vt:lpstr>命题符号化(举例)</vt:lpstr>
      <vt:lpstr>命题符号化(举例、续)</vt:lpstr>
      <vt:lpstr>命题符号化(举例、续)</vt:lpstr>
      <vt:lpstr>命题符号化(举例、续)</vt:lpstr>
      <vt:lpstr>命题符号化(举例、续)</vt:lpstr>
      <vt:lpstr>命题符号化(举例、续)</vt:lpstr>
      <vt:lpstr>命题符号化(举例、续)</vt:lpstr>
      <vt:lpstr>命题符号化(举例、续)</vt:lpstr>
      <vt:lpstr>The order of quantifiers</vt:lpstr>
      <vt:lpstr>PowerPoint 演示文稿</vt:lpstr>
      <vt:lpstr>PowerPoint 演示文稿</vt:lpstr>
      <vt:lpstr>Thinking of quantification as loops</vt:lpstr>
      <vt:lpstr>Quantifier Equivalence Laws</vt:lpstr>
      <vt:lpstr>Remember</vt:lpstr>
      <vt:lpstr>PowerPoint 演示文稿</vt:lpstr>
      <vt:lpstr>Example - U = {1,2,3}</vt:lpstr>
      <vt:lpstr>Summary: Predicate Logic</vt:lpstr>
      <vt:lpstr>Homework</vt:lpstr>
      <vt:lpstr>一阶逻辑的合式公式</vt:lpstr>
      <vt:lpstr>个体词</vt:lpstr>
      <vt:lpstr>个体常项(constant)</vt:lpstr>
      <vt:lpstr>个体变项(varible)</vt:lpstr>
      <vt:lpstr>一阶逻辑的字母表</vt:lpstr>
      <vt:lpstr>一阶逻辑的合式公式</vt:lpstr>
      <vt:lpstr>项(term)</vt:lpstr>
      <vt:lpstr>原子公式(atomic formula)</vt:lpstr>
      <vt:lpstr>合式公式(well-formed formula)</vt:lpstr>
      <vt:lpstr>合式公式（举例）</vt:lpstr>
      <vt:lpstr>合式公式中的变项</vt:lpstr>
      <vt:lpstr>合式公式中的变项(举例)</vt:lpstr>
      <vt:lpstr>闭式(closed form)</vt:lpstr>
      <vt:lpstr>解释(interpret)</vt:lpstr>
      <vt:lpstr>解释(举例)</vt:lpstr>
      <vt:lpstr>一阶逻辑等值式</vt:lpstr>
      <vt:lpstr>一阶逻辑永真式(tautology)</vt:lpstr>
      <vt:lpstr>一阶逻辑等值式(定义)</vt:lpstr>
      <vt:lpstr>一阶逻辑等值式(来源)</vt:lpstr>
      <vt:lpstr>代换实例</vt:lpstr>
      <vt:lpstr>有限个体域上消去量词</vt:lpstr>
      <vt:lpstr>量词否定等值式</vt:lpstr>
      <vt:lpstr>量化式的否定1</vt:lpstr>
      <vt:lpstr>量化式的否定2</vt:lpstr>
      <vt:lpstr>量词与联结词1</vt:lpstr>
      <vt:lpstr>量词与联结词2</vt:lpstr>
      <vt:lpstr>量词辖域收缩与扩张()</vt:lpstr>
      <vt:lpstr>量词辖域收缩与扩张(、续)</vt:lpstr>
      <vt:lpstr>量词辖域收缩与扩张()</vt:lpstr>
      <vt:lpstr>量词辖域收缩与扩张(、续)</vt:lpstr>
      <vt:lpstr>量词分配</vt:lpstr>
      <vt:lpstr>量词与联结词4</vt:lpstr>
      <vt:lpstr>量词与联结词5</vt:lpstr>
      <vt:lpstr>量词分配(反例)</vt:lpstr>
      <vt:lpstr>量词与联结词3</vt:lpstr>
      <vt:lpstr>换名(rename)规则</vt:lpstr>
      <vt:lpstr>代替(substitute)规则</vt:lpstr>
      <vt:lpstr>谓词公式的范式(NF)</vt:lpstr>
      <vt:lpstr>前束范式PNF</vt:lpstr>
      <vt:lpstr>课堂练习</vt:lpstr>
      <vt:lpstr>课堂练习</vt:lpstr>
      <vt:lpstr>Homework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yangjuan</dc:creator>
  <cp:lastModifiedBy>杨娟</cp:lastModifiedBy>
  <cp:revision>514</cp:revision>
  <cp:lastPrinted>2025-03-10T07:52:27Z</cp:lastPrinted>
  <dcterms:created xsi:type="dcterms:W3CDTF">2025-03-10T07:52:27Z</dcterms:created>
  <dcterms:modified xsi:type="dcterms:W3CDTF">2025-03-10T07:52:27Z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2052-6.9.0.8865</vt:lpwstr>
  </property>
  <property fmtid="{D5CDD505-2E9C-101B-9397-08002B2CF9AE}" pid="3" name="ICV">
    <vt:lpwstr>8EB5679E926249AA9C9DFC776778307B</vt:lpwstr>
  </property>
</Properties>
</file>