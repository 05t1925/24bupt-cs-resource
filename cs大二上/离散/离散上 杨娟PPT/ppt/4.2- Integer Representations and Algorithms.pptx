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18"/>
  </p:handoutMasterIdLst>
  <p:sldIdLst>
    <p:sldId id="699" r:id="rId3"/>
    <p:sldId id="703" r:id="rId4"/>
    <p:sldId id="704" r:id="rId6"/>
    <p:sldId id="705" r:id="rId7"/>
    <p:sldId id="706" r:id="rId8"/>
    <p:sldId id="710" r:id="rId9"/>
    <p:sldId id="711" r:id="rId10"/>
    <p:sldId id="728" r:id="rId11"/>
    <p:sldId id="754" r:id="rId12"/>
    <p:sldId id="755" r:id="rId13"/>
    <p:sldId id="756" r:id="rId14"/>
    <p:sldId id="757" r:id="rId15"/>
    <p:sldId id="758" r:id="rId16"/>
    <p:sldId id="751" r:id="rId17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FF33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82"/>
  </p:normalViewPr>
  <p:slideViewPr>
    <p:cSldViewPr showGuides="1">
      <p:cViewPr varScale="1">
        <p:scale>
          <a:sx n="90" d="100"/>
          <a:sy n="90" d="100"/>
        </p:scale>
        <p:origin x="825" y="30"/>
      </p:cViewPr>
      <p:guideLst>
        <p:guide orient="horz" pos="1440"/>
        <p:guide pos="48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D2995C-3209-462B-820D-06D014096AE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E7ED24-DE5D-4387-9890-86E6B01B36E7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0" i="0" u="none" dirty="0"/>
            </a:fld>
            <a:endParaRPr lang="zh-CN" altLang="en-US" sz="1200" b="0" i="0" u="none" dirty="0"/>
          </a:p>
        </p:txBody>
      </p:sp>
      <p:sp>
        <p:nvSpPr>
          <p:cNvPr id="7170" name="Rectangle 2"/>
          <p:cNvSpPr>
            <a:spLocks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We</a:t>
            </a:r>
            <a:r>
              <a:rPr lang="en-US" altLang="zh-CN" dirty="0">
                <a:latin typeface="Times New Roman" panose="02020503050405090304" pitchFamily="18" charset="0"/>
              </a:rPr>
              <a:t>’</a:t>
            </a:r>
            <a:r>
              <a:rPr lang="en-US" altLang="zh-CN" dirty="0"/>
              <a:t>ll deal with summation notation in detail later.  For now, explain what it means in this particular case.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0" i="0" u="none" dirty="0"/>
            </a:fld>
            <a:endParaRPr lang="zh-CN" altLang="en-US" sz="1200" b="0" i="0" u="none" dirty="0"/>
          </a:p>
        </p:txBody>
      </p:sp>
      <p:sp>
        <p:nvSpPr>
          <p:cNvPr id="10242" name="Rectangle 2"/>
          <p:cNvSpPr>
            <a:spLocks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Have students write out pseudocode in class?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0" i="0" u="none" dirty="0"/>
            </a:fld>
            <a:endParaRPr lang="zh-CN" altLang="en-US" sz="1200" b="0" i="0" u="none" dirty="0"/>
          </a:p>
        </p:txBody>
      </p:sp>
      <p:sp>
        <p:nvSpPr>
          <p:cNvPr id="12290" name="Rectangle 2"/>
          <p:cNvSpPr>
            <a:spLocks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/>
            <a:r>
              <a:rPr lang="en-US" altLang="zh-CN" dirty="0"/>
              <a:t>Show 3-input full adder truth table on board.</a:t>
            </a:r>
            <a:endParaRPr lang="en-US" altLang="zh-CN" dirty="0"/>
          </a:p>
          <a:p>
            <a:pPr lvl="0"/>
            <a:r>
              <a:rPr lang="en-US" altLang="zh-CN" dirty="0"/>
              <a:t>Have students try this or one of the following algorithms by hand.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N</a:t>
            </a:r>
            <a:r>
              <a:rPr lang="zh-CN" altLang="en-US" dirty="0"/>
              <a:t>长度</a:t>
            </a:r>
            <a:r>
              <a:rPr lang="en-US" altLang="zh-CN" dirty="0"/>
              <a:t>1024</a:t>
            </a:r>
            <a:r>
              <a:rPr lang="zh-CN" altLang="en-US" dirty="0"/>
              <a:t>位基本是属于安全的。</a:t>
            </a:r>
            <a:endParaRPr lang="en-US" altLang="zh-CN" dirty="0"/>
          </a:p>
          <a:p>
            <a:pPr lvl="0"/>
            <a:r>
              <a:rPr lang="zh-CN" altLang="en-US" dirty="0"/>
              <a:t>答案：</a:t>
            </a:r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0" i="0" u="none" dirty="0"/>
            </a:fld>
            <a:endParaRPr lang="zh-CN" altLang="en-US" sz="1200" b="0" i="0" u="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5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50305040509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3563938" y="4581525"/>
            <a:ext cx="4640263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+mn-cs"/>
              </a:rPr>
              <a:t>jyang@tseg.org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College of Computer Science &amp; Technology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FF01B1-57BC-4FF0-B617-AEC47DE11B8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90002F-84DD-472A-B88E-75E5350D55E3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1196975"/>
            <a:ext cx="3919537" cy="48244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9025" y="1196975"/>
            <a:ext cx="3921125" cy="48244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016125" cy="602138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0"/>
            <a:ext cx="5895975" cy="602138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0"/>
            <a:ext cx="7793038" cy="97155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1196975"/>
            <a:ext cx="3919537" cy="482441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99025" y="1196975"/>
            <a:ext cx="3921125" cy="233521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99025" y="3684588"/>
            <a:ext cx="3921125" cy="2336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087FAB-9883-441A-954E-D811F5A4AE5B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290513" y="3333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673100" y="33337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414338" y="7556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784225" y="75565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0" y="68262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635000" y="2254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315913" y="10160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755650" y="0"/>
            <a:ext cx="7793038" cy="9715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27088" y="1196975"/>
            <a:ext cx="7993062" cy="4824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893EBF-FB75-46CD-BD7B-48D26F9BA87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oleObject" Target="../embeddings/oleObject8.bin"/><Relationship Id="rId7" Type="http://schemas.openxmlformats.org/officeDocument/2006/relationships/image" Target="../media/image6.wmf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4.w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12.xml"/><Relationship Id="rId10" Type="http://schemas.openxmlformats.org/officeDocument/2006/relationships/oleObject" Target="../embeddings/oleObject10.bin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4" name="Rectangle 2"/>
          <p:cNvSpPr>
            <a:spLocks noGrp="1"/>
          </p:cNvSpPr>
          <p:nvPr>
            <p:ph type="title"/>
          </p:nvPr>
        </p:nvSpPr>
        <p:spPr>
          <a:xfrm>
            <a:off x="785813" y="0"/>
            <a:ext cx="7962900" cy="97155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§</a:t>
            </a:r>
            <a:r>
              <a:rPr lang="en-US" altLang="zh-CN" sz="3200" dirty="0">
                <a:latin typeface="Times New Roman" panose="02020503050405090304" pitchFamily="18" charset="0"/>
              </a:rPr>
              <a:t>4.2: Integers</a:t>
            </a:r>
            <a:r>
              <a:rPr lang="zh-CN" altLang="en-US" sz="3200" dirty="0">
                <a:latin typeface="Times New Roman" panose="02020503050405090304" pitchFamily="18" charset="0"/>
              </a:rPr>
              <a:t> </a:t>
            </a:r>
            <a:r>
              <a:rPr lang="en-US" altLang="zh-CN" sz="3200" dirty="0">
                <a:latin typeface="Times New Roman" panose="02020503050405090304" pitchFamily="18" charset="0"/>
              </a:rPr>
              <a:t>Representations &amp; Algorithms</a:t>
            </a:r>
            <a:endParaRPr lang="en-US" altLang="zh-CN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5125" name="Rectangle 3"/>
          <p:cNvSpPr>
            <a:spLocks noGrp="1"/>
          </p:cNvSpPr>
          <p:nvPr>
            <p:ph idx="1"/>
          </p:nvPr>
        </p:nvSpPr>
        <p:spPr>
          <a:xfrm>
            <a:off x="785813" y="1125538"/>
            <a:ext cx="7993062" cy="482441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600" dirty="0">
                <a:latin typeface="Times New Roman" panose="02020503050405090304" pitchFamily="18" charset="0"/>
              </a:rPr>
              <a:t>Topics:</a:t>
            </a:r>
            <a:endParaRPr lang="en-US" altLang="zh-CN" sz="36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3200" dirty="0">
                <a:latin typeface="Times New Roman" panose="02020503050405090304" pitchFamily="18" charset="0"/>
              </a:rPr>
              <a:t>Base-</a:t>
            </a:r>
            <a:r>
              <a:rPr lang="en-US" altLang="zh-CN" sz="3200" i="1" dirty="0">
                <a:latin typeface="Times New Roman" panose="02020503050405090304" pitchFamily="18" charset="0"/>
              </a:rPr>
              <a:t>b</a:t>
            </a:r>
            <a:r>
              <a:rPr lang="en-US" altLang="zh-CN" sz="3200" dirty="0">
                <a:latin typeface="Times New Roman" panose="02020503050405090304" pitchFamily="18" charset="0"/>
              </a:rPr>
              <a:t> representations of integers.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lvl="2" eaLnBrk="1" hangingPunct="1"/>
            <a:r>
              <a:rPr lang="en-US" altLang="zh-CN" sz="2800" dirty="0">
                <a:latin typeface="Times New Roman" panose="02020503050405090304" pitchFamily="18" charset="0"/>
              </a:rPr>
              <a:t>Especially: binary, hexadecimal, octal.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2" eaLnBrk="1" hangingPunct="1"/>
            <a:r>
              <a:rPr lang="en-US" altLang="zh-CN" sz="2800" dirty="0">
                <a:latin typeface="Times New Roman" panose="02020503050405090304" pitchFamily="18" charset="0"/>
              </a:rPr>
              <a:t>Also: Two’s complement representation of negative numbers.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3200" dirty="0">
                <a:latin typeface="Times New Roman" panose="02020503050405090304" pitchFamily="18" charset="0"/>
              </a:rPr>
              <a:t>Algorithms for computer arithmetic:</a:t>
            </a:r>
            <a:endParaRPr lang="en-US" altLang="zh-CN" sz="3200" dirty="0">
              <a:latin typeface="Times New Roman" panose="02020503050405090304" pitchFamily="18" charset="0"/>
            </a:endParaRPr>
          </a:p>
          <a:p>
            <a:pPr lvl="2" eaLnBrk="1" hangingPunct="1"/>
            <a:r>
              <a:rPr lang="en-US" altLang="zh-CN" sz="2800" dirty="0">
                <a:latin typeface="Times New Roman" panose="02020503050405090304" pitchFamily="18" charset="0"/>
              </a:rPr>
              <a:t>Binary addition, multiplication, division.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sz="3200" dirty="0">
                <a:solidFill>
                  <a:srgbClr val="FF0000"/>
                </a:solidFill>
                <a:latin typeface="Times New Roman" panose="02020503050405090304" pitchFamily="18" charset="0"/>
              </a:rPr>
              <a:t>Euclidean algorithm for finding GCD’s.</a:t>
            </a:r>
            <a:endParaRPr lang="en-US" altLang="zh-CN" sz="3200" dirty="0">
              <a:solidFill>
                <a:srgbClr val="FF0000"/>
              </a:solidFill>
              <a:latin typeface="Times New Roman" panose="02020503050405090304" pitchFamily="18" charset="0"/>
            </a:endParaRPr>
          </a:p>
          <a:p>
            <a:pPr lvl="2" eaLnBrk="1" hangingPunct="1"/>
            <a:endParaRPr lang="en-US" altLang="zh-CN" sz="3200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Base-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number systems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Ordinarily, we write </a:t>
            </a:r>
            <a:r>
              <a:rPr lang="en-US" altLang="zh-CN" i="1" dirty="0">
                <a:latin typeface="Times New Roman" panose="02020503050405090304" pitchFamily="18" charset="0"/>
              </a:rPr>
              <a:t>base-10</a:t>
            </a:r>
            <a:r>
              <a:rPr lang="en-US" altLang="zh-CN" dirty="0">
                <a:latin typeface="Times New Roman" panose="02020503050405090304" pitchFamily="18" charset="0"/>
              </a:rPr>
              <a:t> representations of numbers, using digits 0-9.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But, 10 isn’t special!  Any base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&gt;1 will work.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For any positive integers </a:t>
            </a:r>
            <a:r>
              <a:rPr lang="en-US" altLang="zh-CN" i="1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, there is a unique sequence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503050405090304" pitchFamily="18" charset="0"/>
              </a:rPr>
              <a:t>k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503050405090304" pitchFamily="18" charset="0"/>
              </a:rPr>
              <a:t>k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503050405090304" pitchFamily="18" charset="0"/>
              </a:rPr>
              <a:t>-1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…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503050405090304" pitchFamily="18" charset="0"/>
              </a:rPr>
              <a:t>1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503050405090304" pitchFamily="18" charset="0"/>
              </a:rPr>
              <a:t>0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</a:rPr>
              <a:t>of </a:t>
            </a:r>
            <a:r>
              <a:rPr lang="en-US" altLang="zh-CN" i="1" dirty="0">
                <a:latin typeface="Times New Roman" panose="02020503050405090304" pitchFamily="18" charset="0"/>
              </a:rPr>
              <a:t>digits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anose="02020503050405090304" pitchFamily="18" charset="0"/>
              </a:rPr>
              <a:t>i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&lt;b</a:t>
            </a:r>
            <a:r>
              <a:rPr lang="en-US" altLang="zh-CN" dirty="0">
                <a:latin typeface="Times New Roman" panose="02020503050405090304" pitchFamily="18" charset="0"/>
              </a:rPr>
              <a:t> such that: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baseline="-250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aseline="-25000" dirty="0">
                <a:latin typeface="Times New Roman" panose="02020503050405090304" pitchFamily="18" charset="0"/>
              </a:rPr>
              <a:t> </a:t>
            </a:r>
            <a:endParaRPr lang="en-US" altLang="zh-CN" baseline="-250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aseline="-25000" dirty="0">
                <a:latin typeface="Times New Roman" panose="02020503050405090304" pitchFamily="18" charset="0"/>
              </a:rPr>
              <a:t> </a:t>
            </a:r>
            <a:endParaRPr lang="en-US" altLang="zh-CN" baseline="-250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6150" name="Object 4"/>
          <p:cNvGraphicFramePr>
            <a:graphicFrameLocks noChangeAspect="1"/>
          </p:cNvGraphicFramePr>
          <p:nvPr/>
        </p:nvGraphicFramePr>
        <p:xfrm>
          <a:off x="3348038" y="3933825"/>
          <a:ext cx="213360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698500" imgH="431800" progId="Equation.3">
                  <p:embed/>
                </p:oleObj>
              </mc:Choice>
              <mc:Fallback>
                <p:oleObj name="" r:id="rId1" imgW="698500" imgH="4318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8038" y="3933825"/>
                        <a:ext cx="2133600" cy="1312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5"/>
          <p:cNvSpPr txBox="1"/>
          <p:nvPr/>
        </p:nvSpPr>
        <p:spPr>
          <a:xfrm>
            <a:off x="1835150" y="5373688"/>
            <a:ext cx="1905000" cy="1225550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spcBef>
                <a:spcPct val="50000"/>
              </a:spcBef>
              <a:buClrTx/>
              <a:buFontTx/>
            </a:pPr>
            <a:r>
              <a:rPr lang="en-US" altLang="zh-CN" b="0" i="0" dirty="0">
                <a:latin typeface="Times New Roman" panose="02020503050405090304" pitchFamily="18" charset="0"/>
              </a:rPr>
              <a:t>The “</a:t>
            </a:r>
            <a:r>
              <a:rPr lang="en-US" altLang="zh-CN" b="0" dirty="0">
                <a:latin typeface="Times New Roman" panose="02020503050405090304" pitchFamily="18" charset="0"/>
              </a:rPr>
              <a:t>base b expansion</a:t>
            </a:r>
            <a:br>
              <a:rPr lang="en-US" altLang="zh-CN" b="0" dirty="0">
                <a:latin typeface="Times New Roman" panose="02020503050405090304" pitchFamily="18" charset="0"/>
              </a:rPr>
            </a:br>
            <a:r>
              <a:rPr lang="en-US" altLang="zh-CN" b="0" dirty="0">
                <a:latin typeface="Times New Roman" panose="02020503050405090304" pitchFamily="18" charset="0"/>
              </a:rPr>
              <a:t>of n</a:t>
            </a:r>
            <a:r>
              <a:rPr lang="en-US" altLang="zh-CN" b="0" i="0" dirty="0">
                <a:latin typeface="Times New Roman" panose="02020503050405090304" pitchFamily="18" charset="0"/>
              </a:rPr>
              <a:t>”</a:t>
            </a:r>
            <a:endParaRPr lang="en-US" altLang="zh-CN" b="0" i="0" dirty="0">
              <a:latin typeface="Times New Roman" panose="02020503050405090304" pitchFamily="18" charset="0"/>
            </a:endParaRPr>
          </a:p>
        </p:txBody>
      </p:sp>
      <p:sp>
        <p:nvSpPr>
          <p:cNvPr id="6152" name="Line 6"/>
          <p:cNvSpPr/>
          <p:nvPr/>
        </p:nvSpPr>
        <p:spPr>
          <a:xfrm flipV="1">
            <a:off x="3740150" y="5373688"/>
            <a:ext cx="762000" cy="4572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6153" name="AutoShape 7"/>
          <p:cNvSpPr/>
          <p:nvPr/>
        </p:nvSpPr>
        <p:spPr>
          <a:xfrm rot="-5400000">
            <a:off x="4425950" y="4154488"/>
            <a:ext cx="228600" cy="2057400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buClrTx/>
              <a:buFontTx/>
            </a:pPr>
            <a:endParaRPr lang="zh-CN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Particular Bases of Interest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8197" name="Rectangle 3"/>
          <p:cNvSpPr>
            <a:spLocks noGrp="1"/>
          </p:cNvSpPr>
          <p:nvPr>
            <p:ph idx="1"/>
          </p:nvPr>
        </p:nvSpPr>
        <p:spPr>
          <a:xfrm>
            <a:off x="482600" y="1495425"/>
            <a:ext cx="76962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Base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=10 (decimal):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10 digits: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0,1,2,3,4,5,6,7,8,9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Base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=2 (binary):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2 digits: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0,1</a:t>
            </a:r>
            <a:r>
              <a:rPr lang="en-US" altLang="zh-CN" dirty="0">
                <a:latin typeface="Times New Roman" panose="02020503050405090304" pitchFamily="18" charset="0"/>
              </a:rPr>
              <a:t>. (“Bits”=“</a:t>
            </a:r>
            <a:r>
              <a:rPr lang="en-US" altLang="zh-CN" u="sng" dirty="0">
                <a:latin typeface="Times New Roman" panose="02020503050405090304" pitchFamily="18" charset="0"/>
              </a:rPr>
              <a:t>bi</a:t>
            </a:r>
            <a:r>
              <a:rPr lang="en-US" altLang="zh-CN" dirty="0">
                <a:latin typeface="Times New Roman" panose="02020503050405090304" pitchFamily="18" charset="0"/>
              </a:rPr>
              <a:t>nary dig</a:t>
            </a:r>
            <a:r>
              <a:rPr lang="en-US" altLang="zh-CN" u="sng" dirty="0">
                <a:latin typeface="Times New Roman" panose="02020503050405090304" pitchFamily="18" charset="0"/>
              </a:rPr>
              <a:t>its</a:t>
            </a:r>
            <a:r>
              <a:rPr lang="en-US" altLang="zh-CN" dirty="0">
                <a:latin typeface="Times New Roman" panose="02020503050405090304" pitchFamily="18" charset="0"/>
              </a:rPr>
              <a:t>.”)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Base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=8 (octal):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8 digits: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0,1,2,3,4,5,6,7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Base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=16 (hexadecimal):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16 digits: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0,1,2,3,4,5,6,7,8,9,A,B,C,D,E,F</a:t>
            </a:r>
            <a:endParaRPr lang="en-US" altLang="zh-CN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  <p:sp>
        <p:nvSpPr>
          <p:cNvPr id="8198" name="Text Box 4"/>
          <p:cNvSpPr txBox="1"/>
          <p:nvPr/>
        </p:nvSpPr>
        <p:spPr>
          <a:xfrm>
            <a:off x="7148513" y="2095500"/>
            <a:ext cx="1792287" cy="1581150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</a:pPr>
            <a:r>
              <a:rPr lang="en-US" altLang="zh-CN" b="0" i="0" dirty="0">
                <a:latin typeface="Times New Roman" panose="02020503050405090304" pitchFamily="18" charset="0"/>
              </a:rPr>
              <a:t>Used</a:t>
            </a:r>
            <a:br>
              <a:rPr lang="en-US" altLang="zh-CN" b="0" i="0" dirty="0">
                <a:latin typeface="Times New Roman" panose="02020503050405090304" pitchFamily="18" charset="0"/>
              </a:rPr>
            </a:br>
            <a:r>
              <a:rPr lang="en-US" altLang="zh-CN" b="0" i="0" dirty="0">
                <a:latin typeface="Times New Roman" panose="02020503050405090304" pitchFamily="18" charset="0"/>
              </a:rPr>
              <a:t>internally in all modern computers</a:t>
            </a:r>
            <a:endParaRPr lang="en-US" altLang="zh-CN" b="0" i="0" dirty="0">
              <a:latin typeface="Times New Roman" panose="02020503050405090304" pitchFamily="18" charset="0"/>
            </a:endParaRPr>
          </a:p>
        </p:txBody>
      </p:sp>
      <p:sp>
        <p:nvSpPr>
          <p:cNvPr id="8199" name="Line 5"/>
          <p:cNvSpPr/>
          <p:nvPr/>
        </p:nvSpPr>
        <p:spPr>
          <a:xfrm flipH="1">
            <a:off x="4521200" y="2790825"/>
            <a:ext cx="2590800" cy="15240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8200" name="Text Box 6"/>
          <p:cNvSpPr txBox="1"/>
          <p:nvPr/>
        </p:nvSpPr>
        <p:spPr>
          <a:xfrm>
            <a:off x="5435600" y="3933825"/>
            <a:ext cx="3352800" cy="850900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</a:pPr>
            <a:r>
              <a:rPr lang="en-US" altLang="zh-CN" b="0" i="0" dirty="0">
                <a:latin typeface="Times New Roman" panose="02020503050405090304" pitchFamily="18" charset="0"/>
              </a:rPr>
              <a:t>Octal digits correspond to groups of 3 bits</a:t>
            </a:r>
            <a:endParaRPr lang="en-US" altLang="zh-CN" b="0" i="0" dirty="0">
              <a:latin typeface="Times New Roman" panose="02020503050405090304" pitchFamily="18" charset="0"/>
            </a:endParaRPr>
          </a:p>
        </p:txBody>
      </p:sp>
      <p:sp>
        <p:nvSpPr>
          <p:cNvPr id="8201" name="Text Box 7"/>
          <p:cNvSpPr txBox="1"/>
          <p:nvPr/>
        </p:nvSpPr>
        <p:spPr>
          <a:xfrm>
            <a:off x="4368800" y="5753100"/>
            <a:ext cx="4267200" cy="485775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</a:pPr>
            <a:r>
              <a:rPr lang="en-US" altLang="zh-CN" b="0" i="0" dirty="0">
                <a:latin typeface="Times New Roman" panose="02020503050405090304" pitchFamily="18" charset="0"/>
              </a:rPr>
              <a:t>Hex digits give groups of 4 bits</a:t>
            </a:r>
            <a:endParaRPr lang="en-US" altLang="zh-CN" b="0" i="0" dirty="0">
              <a:latin typeface="Times New Roman" panose="02020503050405090304" pitchFamily="18" charset="0"/>
            </a:endParaRPr>
          </a:p>
        </p:txBody>
      </p:sp>
      <p:sp>
        <p:nvSpPr>
          <p:cNvPr id="8202" name="Text Box 8"/>
          <p:cNvSpPr txBox="1"/>
          <p:nvPr/>
        </p:nvSpPr>
        <p:spPr>
          <a:xfrm>
            <a:off x="5740400" y="1104900"/>
            <a:ext cx="2819400" cy="850900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 eaLnBrk="0" hangingPunct="0">
              <a:buClrTx/>
              <a:buFontTx/>
            </a:pPr>
            <a:r>
              <a:rPr lang="en-US" altLang="zh-CN" b="0" i="0" dirty="0">
                <a:latin typeface="Times New Roman" panose="02020503050405090304" pitchFamily="18" charset="0"/>
              </a:rPr>
              <a:t>Used only because we have 10 fingers</a:t>
            </a:r>
            <a:endParaRPr lang="en-US" altLang="zh-CN" b="0" i="0" dirty="0">
              <a:latin typeface="Times New Roman" panose="02020503050405090304" pitchFamily="18" charset="0"/>
            </a:endParaRPr>
          </a:p>
        </p:txBody>
      </p:sp>
      <p:sp>
        <p:nvSpPr>
          <p:cNvPr id="8203" name="Line 9"/>
          <p:cNvSpPr/>
          <p:nvPr/>
        </p:nvSpPr>
        <p:spPr>
          <a:xfrm flipH="1">
            <a:off x="4521200" y="1495425"/>
            <a:ext cx="1219200" cy="45720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8204" name="Line 10"/>
          <p:cNvSpPr/>
          <p:nvPr/>
        </p:nvSpPr>
        <p:spPr>
          <a:xfrm flipH="1">
            <a:off x="3835400" y="4086225"/>
            <a:ext cx="1600200" cy="152400"/>
          </a:xfrm>
          <a:prstGeom prst="line">
            <a:avLst/>
          </a:prstGeom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lg" len="lg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Converting to Base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92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(An algorithm, informally stated.)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To convert any integer </a:t>
            </a:r>
            <a:r>
              <a:rPr lang="en-US" altLang="zh-CN" i="1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 to any base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&gt;1: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To find the value of the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rightmost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</a:rPr>
              <a:t>(lowest-order) digit, simply compute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 mod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Now, replace </a:t>
            </a:r>
            <a:r>
              <a:rPr lang="en-US" altLang="zh-CN" i="1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 with the quotient 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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/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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.</a:t>
            </a:r>
            <a:endParaRPr lang="en-US" altLang="zh-CN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Repeat above two steps to find subsequent digits, until 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is gone (=0).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9222" name="Text Box 4"/>
          <p:cNvSpPr txBox="1"/>
          <p:nvPr/>
        </p:nvSpPr>
        <p:spPr>
          <a:xfrm>
            <a:off x="2051050" y="5157788"/>
            <a:ext cx="6604000" cy="47625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b="0" i="0" dirty="0">
                <a:latin typeface="Times New Roman" panose="02020503050405090304" pitchFamily="18" charset="0"/>
              </a:rPr>
              <a:t>Exercise for student: Write this out in pseudocode…</a:t>
            </a:r>
            <a:endParaRPr lang="en-US" altLang="zh-CN" b="0" i="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6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Addition of Binary Numbers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11269" name="Rectangle 3"/>
          <p:cNvSpPr>
            <a:spLocks noGrp="1"/>
          </p:cNvSpPr>
          <p:nvPr>
            <p:ph idx="1"/>
          </p:nvPr>
        </p:nvSpPr>
        <p:spPr>
          <a:xfrm>
            <a:off x="684213" y="1268413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1" dirty="0">
                <a:latin typeface="Times New Roman" panose="02020503050405090304" pitchFamily="18" charset="0"/>
              </a:rPr>
              <a:t>procedure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en-US" altLang="zh-CN" sz="2800" i="1" dirty="0">
                <a:latin typeface="Times New Roman" panose="02020503050405090304" pitchFamily="18" charset="0"/>
              </a:rPr>
              <a:t>add</a:t>
            </a:r>
            <a:r>
              <a:rPr lang="en-US" altLang="zh-CN" sz="2800" dirty="0">
                <a:latin typeface="Times New Roman" panose="02020503050405090304" pitchFamily="18" charset="0"/>
              </a:rPr>
              <a:t>(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n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−1</a:t>
            </a:r>
            <a:r>
              <a:rPr lang="en-US" altLang="zh-CN" sz="2800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</a:rPr>
              <a:t>, 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n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−1</a:t>
            </a:r>
            <a:r>
              <a:rPr lang="en-US" altLang="zh-CN" sz="2800" dirty="0">
                <a:latin typeface="Times New Roman" panose="02020503050405090304" pitchFamily="18" charset="0"/>
              </a:rPr>
              <a:t>…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baseline="-25000" dirty="0">
                <a:latin typeface="Times New Roman" panose="02020503050405090304" pitchFamily="18" charset="0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</a:rPr>
              <a:t>: binary representations of non-negative integers </a:t>
            </a:r>
            <a:r>
              <a:rPr lang="en-US" altLang="zh-CN" sz="2800" i="1" dirty="0">
                <a:latin typeface="Times New Roman" panose="02020503050405090304" pitchFamily="18" charset="0"/>
              </a:rPr>
              <a:t>a</a:t>
            </a:r>
            <a:r>
              <a:rPr lang="en-US" altLang="zh-CN" sz="2800" dirty="0">
                <a:latin typeface="Times New Roman" panose="02020503050405090304" pitchFamily="18" charset="0"/>
              </a:rPr>
              <a:t>,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dirty="0">
                <a:latin typeface="Times New Roman" panose="02020503050405090304" pitchFamily="18" charset="0"/>
              </a:rPr>
              <a:t>)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</a:t>
            </a:r>
            <a:r>
              <a:rPr lang="en-US" altLang="zh-CN" sz="2800" i="1" dirty="0">
                <a:latin typeface="Times New Roman" panose="02020503050405090304" pitchFamily="18" charset="0"/>
              </a:rPr>
              <a:t>carry </a:t>
            </a:r>
            <a:r>
              <a:rPr lang="en-US" altLang="zh-CN" sz="2800" dirty="0">
                <a:latin typeface="Times New Roman" panose="02020503050405090304" pitchFamily="18" charset="0"/>
              </a:rPr>
              <a:t>:= 0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</a:t>
            </a:r>
            <a:r>
              <a:rPr lang="en-US" altLang="zh-CN" sz="2800" b="1" dirty="0">
                <a:latin typeface="Times New Roman" panose="02020503050405090304" pitchFamily="18" charset="0"/>
              </a:rPr>
              <a:t>for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en-US" altLang="zh-CN" sz="2800" i="1" dirty="0">
                <a:latin typeface="Times New Roman" panose="02020503050405090304" pitchFamily="18" charset="0"/>
              </a:rPr>
              <a:t>bitIndex</a:t>
            </a:r>
            <a:r>
              <a:rPr lang="en-US" altLang="zh-CN" sz="2800" dirty="0">
                <a:latin typeface="Times New Roman" panose="02020503050405090304" pitchFamily="18" charset="0"/>
              </a:rPr>
              <a:t> := 0 </a:t>
            </a:r>
            <a:r>
              <a:rPr lang="en-US" altLang="zh-CN" sz="2800" b="1" dirty="0">
                <a:latin typeface="Times New Roman" panose="02020503050405090304" pitchFamily="18" charset="0"/>
              </a:rPr>
              <a:t>to </a:t>
            </a:r>
            <a:r>
              <a:rPr lang="en-US" altLang="zh-CN" sz="2800" i="1" dirty="0">
                <a:latin typeface="Times New Roman" panose="02020503050405090304" pitchFamily="18" charset="0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</a:rPr>
              <a:t>−1	   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{go through bits}</a:t>
            </a:r>
            <a:endParaRPr lang="en-US" altLang="zh-CN" sz="28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	</a:t>
            </a:r>
            <a:r>
              <a:rPr lang="en-US" altLang="zh-CN" sz="2800" i="1" dirty="0">
                <a:latin typeface="Times New Roman" panose="02020503050405090304" pitchFamily="18" charset="0"/>
              </a:rPr>
              <a:t>bitSum </a:t>
            </a:r>
            <a:r>
              <a:rPr lang="en-US" altLang="zh-CN" sz="2800" dirty="0">
                <a:latin typeface="Times New Roman" panose="02020503050405090304" pitchFamily="18" charset="0"/>
              </a:rPr>
              <a:t>:=</a:t>
            </a:r>
            <a:r>
              <a:rPr lang="en-US" altLang="zh-CN" sz="2800" i="1" dirty="0">
                <a:latin typeface="Times New Roman" panose="02020503050405090304" pitchFamily="18" charset="0"/>
              </a:rPr>
              <a:t> a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bitIndex</a:t>
            </a:r>
            <a:r>
              <a:rPr lang="en-US" altLang="zh-CN" sz="2800" dirty="0">
                <a:latin typeface="Times New Roman" panose="02020503050405090304" pitchFamily="18" charset="0"/>
              </a:rPr>
              <a:t>+</a:t>
            </a:r>
            <a:r>
              <a:rPr lang="en-US" altLang="zh-CN" sz="2800" i="1" dirty="0">
                <a:latin typeface="Times New Roman" panose="02020503050405090304" pitchFamily="18" charset="0"/>
              </a:rPr>
              <a:t>b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bitIndex</a:t>
            </a:r>
            <a:r>
              <a:rPr lang="en-US" altLang="zh-CN" sz="2800" i="1" dirty="0">
                <a:latin typeface="Times New Roman" panose="02020503050405090304" pitchFamily="18" charset="0"/>
              </a:rPr>
              <a:t>+carry 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{2-bit sum}</a:t>
            </a:r>
            <a:endParaRPr lang="en-US" altLang="zh-CN" sz="28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	</a:t>
            </a:r>
            <a:r>
              <a:rPr lang="en-US" altLang="zh-CN" sz="2800" i="1" dirty="0">
                <a:latin typeface="Times New Roman" panose="02020503050405090304" pitchFamily="18" charset="0"/>
              </a:rPr>
              <a:t>s</a:t>
            </a:r>
            <a:r>
              <a:rPr lang="en-US" altLang="zh-CN" sz="2800" i="1" baseline="-25000" dirty="0">
                <a:latin typeface="Times New Roman" panose="02020503050405090304" pitchFamily="18" charset="0"/>
              </a:rPr>
              <a:t>bitIndex</a:t>
            </a:r>
            <a:r>
              <a:rPr lang="en-US" altLang="zh-CN" sz="2800" dirty="0">
                <a:latin typeface="Times New Roman" panose="02020503050405090304" pitchFamily="18" charset="0"/>
              </a:rPr>
              <a:t> := </a:t>
            </a:r>
            <a:r>
              <a:rPr lang="en-US" altLang="zh-CN" sz="2800" i="1" dirty="0">
                <a:latin typeface="Times New Roman" panose="02020503050405090304" pitchFamily="18" charset="0"/>
              </a:rPr>
              <a:t>bitSum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en-US" altLang="zh-CN" sz="2800" b="1" dirty="0">
                <a:latin typeface="Times New Roman" panose="02020503050405090304" pitchFamily="18" charset="0"/>
              </a:rPr>
              <a:t>mod</a:t>
            </a:r>
            <a:r>
              <a:rPr lang="en-US" altLang="zh-CN" sz="2800" dirty="0">
                <a:latin typeface="Times New Roman" panose="02020503050405090304" pitchFamily="18" charset="0"/>
              </a:rPr>
              <a:t> 2	    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{low bit of sum}</a:t>
            </a:r>
            <a:endParaRPr lang="en-US" altLang="zh-CN" sz="28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</a:rPr>
              <a:t>		</a:t>
            </a:r>
            <a:r>
              <a:rPr lang="en-US" altLang="zh-CN" sz="2800" i="1" dirty="0">
                <a:latin typeface="Times New Roman" panose="02020503050405090304" pitchFamily="18" charset="0"/>
              </a:rPr>
              <a:t>carry</a:t>
            </a:r>
            <a:r>
              <a:rPr lang="en-US" altLang="zh-CN" sz="2800" dirty="0">
                <a:latin typeface="Times New Roman" panose="02020503050405090304" pitchFamily="18" charset="0"/>
              </a:rPr>
              <a:t> := 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</a:t>
            </a:r>
            <a:r>
              <a:rPr lang="en-US" altLang="zh-CN" sz="2800" i="1" dirty="0">
                <a:latin typeface="Times New Roman" panose="02020503050405090304" pitchFamily="18" charset="0"/>
              </a:rPr>
              <a:t>bitSum </a:t>
            </a:r>
            <a:r>
              <a:rPr lang="en-US" altLang="zh-CN" sz="2800" dirty="0">
                <a:latin typeface="Times New Roman" panose="02020503050405090304" pitchFamily="18" charset="0"/>
              </a:rPr>
              <a:t>/ 2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	   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{high bit of sum}</a:t>
            </a:r>
            <a:endParaRPr lang="en-US" altLang="zh-CN" sz="2800" b="1" dirty="0">
              <a:solidFill>
                <a:schemeClr val="folHlink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	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i="1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 := 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carry</a:t>
            </a:r>
            <a:endParaRPr lang="en-US" altLang="zh-CN" sz="28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	</a:t>
            </a:r>
            <a:r>
              <a:rPr lang="en-US" altLang="zh-CN" sz="2800" b="1" dirty="0">
                <a:latin typeface="Times New Roman" panose="02020503050405090304" pitchFamily="18" charset="0"/>
                <a:sym typeface="Symbol" panose="05050102010706020507" pitchFamily="18" charset="2"/>
              </a:rPr>
              <a:t>return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i="1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…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aseline="-25000" dirty="0">
                <a:latin typeface="Times New Roman" panose="0202050305040509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dirty="0">
                <a:latin typeface="Times New Roman" panose="02020503050405090304" pitchFamily="18" charset="0"/>
                <a:sym typeface="Symbol" panose="05050102010706020507" pitchFamily="18" charset="2"/>
              </a:rPr>
              <a:t>: binary representation of integer </a:t>
            </a:r>
            <a:r>
              <a:rPr lang="en-US" altLang="zh-CN" sz="2800" i="1" dirty="0">
                <a:latin typeface="Times New Roman" panose="02020503050405090304" pitchFamily="18" charset="0"/>
                <a:sym typeface="Symbol" panose="05050102010706020507" pitchFamily="18" charset="2"/>
              </a:rPr>
              <a:t>s</a:t>
            </a:r>
            <a:endParaRPr lang="en-US" altLang="zh-CN" sz="2800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latin typeface="Times New Roman" panose="02020503050405090304" pitchFamily="18" charset="0"/>
              </a:rPr>
              <a:t>Multiplication of Binary Numbers</a:t>
            </a:r>
            <a:endParaRPr lang="en-US" altLang="zh-CN" sz="4000" dirty="0">
              <a:latin typeface="Times New Roman" panose="02020503050405090304" pitchFamily="18" charset="0"/>
            </a:endParaRPr>
          </a:p>
        </p:txBody>
      </p:sp>
      <p:sp>
        <p:nvSpPr>
          <p:cNvPr id="13317" name="Rectangle 3"/>
          <p:cNvSpPr>
            <a:spLocks noGrp="1"/>
          </p:cNvSpPr>
          <p:nvPr>
            <p:ph idx="1"/>
          </p:nvPr>
        </p:nvSpPr>
        <p:spPr>
          <a:xfrm>
            <a:off x="324168" y="1196658"/>
            <a:ext cx="7993062" cy="4824412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latin typeface="Times New Roman" panose="02020503050405090304" pitchFamily="18" charset="0"/>
              </a:rPr>
              <a:t>procedure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multiply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n</a:t>
            </a:r>
            <a:r>
              <a:rPr lang="en-US" altLang="zh-CN" baseline="-25000" dirty="0">
                <a:latin typeface="Times New Roman" panose="02020503050405090304" pitchFamily="18" charset="0"/>
              </a:rPr>
              <a:t>−1</a:t>
            </a:r>
            <a:r>
              <a:rPr lang="en-US" altLang="zh-CN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0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n−</a:t>
            </a:r>
            <a:r>
              <a:rPr lang="en-US" altLang="zh-CN" baseline="-25000" dirty="0">
                <a:latin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baseline="-25000" dirty="0">
                <a:latin typeface="Times New Roman" panose="02020503050405090304" pitchFamily="18" charset="0"/>
              </a:rPr>
              <a:t>0</a:t>
            </a:r>
            <a:r>
              <a:rPr lang="en-US" altLang="zh-CN" dirty="0">
                <a:latin typeface="Times New Roman" panose="02020503050405090304" pitchFamily="18" charset="0"/>
              </a:rPr>
              <a:t>: binary representations of 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dirty="0">
                <a:latin typeface="Times New Roman" panose="02020503050405090304" pitchFamily="18" charset="0"/>
              </a:rPr>
              <a:t>,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	</a:t>
            </a:r>
            <a:r>
              <a:rPr lang="en-US" altLang="zh-CN" i="1" dirty="0">
                <a:latin typeface="Times New Roman" panose="02020503050405090304" pitchFamily="18" charset="0"/>
              </a:rPr>
              <a:t>product</a:t>
            </a:r>
            <a:r>
              <a:rPr lang="en-US" altLang="zh-CN" dirty="0">
                <a:latin typeface="Times New Roman" panose="02020503050405090304" pitchFamily="18" charset="0"/>
              </a:rPr>
              <a:t> := 0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	</a:t>
            </a:r>
            <a:r>
              <a:rPr lang="en-US" altLang="zh-CN" b="1" dirty="0">
                <a:latin typeface="Times New Roman" panose="02020503050405090304" pitchFamily="18" charset="0"/>
              </a:rPr>
              <a:t>for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i</a:t>
            </a:r>
            <a:r>
              <a:rPr lang="en-US" altLang="zh-CN" dirty="0">
                <a:latin typeface="Times New Roman" panose="02020503050405090304" pitchFamily="18" charset="0"/>
              </a:rPr>
              <a:t> := 0 to </a:t>
            </a:r>
            <a:r>
              <a:rPr lang="en-US" altLang="zh-CN" i="1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−1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		</a:t>
            </a:r>
            <a:r>
              <a:rPr lang="en-US" altLang="zh-CN" b="1" dirty="0">
                <a:latin typeface="Times New Roman" panose="02020503050405090304" pitchFamily="18" charset="0"/>
              </a:rPr>
              <a:t>if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dirty="0">
                <a:latin typeface="Times New Roman" panose="02020503050405090304" pitchFamily="18" charset="0"/>
              </a:rPr>
              <a:t> = 1 </a:t>
            </a:r>
            <a:r>
              <a:rPr lang="en-US" altLang="zh-CN" b="1" dirty="0">
                <a:latin typeface="Times New Roman" panose="02020503050405090304" pitchFamily="18" charset="0"/>
              </a:rPr>
              <a:t>then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		      </a:t>
            </a:r>
            <a:r>
              <a:rPr lang="en-US" altLang="zh-CN" i="1" dirty="0">
                <a:latin typeface="Times New Roman" panose="02020503050405090304" pitchFamily="18" charset="0"/>
              </a:rPr>
              <a:t>product</a:t>
            </a:r>
            <a:r>
              <a:rPr lang="en-US" altLang="zh-CN" dirty="0">
                <a:latin typeface="Times New Roman" panose="02020503050405090304" pitchFamily="18" charset="0"/>
              </a:rPr>
              <a:t> := </a:t>
            </a:r>
            <a:r>
              <a:rPr lang="en-US" altLang="zh-CN" i="1" dirty="0">
                <a:latin typeface="Times New Roman" panose="02020503050405090304" pitchFamily="18" charset="0"/>
              </a:rPr>
              <a:t>add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i="1" baseline="-25000" dirty="0">
                <a:latin typeface="Times New Roman" panose="02020503050405090304" pitchFamily="18" charset="0"/>
              </a:rPr>
              <a:t>n</a:t>
            </a:r>
            <a:r>
              <a:rPr lang="en-US" altLang="zh-CN" baseline="-25000" dirty="0">
                <a:latin typeface="Times New Roman" panose="02020503050405090304" pitchFamily="18" charset="0"/>
              </a:rPr>
              <a:t>−1</a:t>
            </a:r>
            <a:r>
              <a:rPr lang="en-US" altLang="zh-CN" dirty="0">
                <a:latin typeface="Times New Roman" panose="02020503050405090304" pitchFamily="18" charset="0"/>
                <a:ea typeface="Times New Roman" panose="02020503050405090304" pitchFamily="18" charset="0"/>
              </a:rPr>
              <a:t>…</a:t>
            </a:r>
            <a:r>
              <a:rPr lang="en-US" altLang="zh-CN" i="1" dirty="0">
                <a:latin typeface="Times New Roman" panose="02020503050405090304" pitchFamily="18" charset="0"/>
              </a:rPr>
              <a:t>a</a:t>
            </a:r>
            <a:r>
              <a:rPr lang="en-US" altLang="zh-CN" baseline="-25000" dirty="0">
                <a:latin typeface="Times New Roman" panose="02020503050405090304" pitchFamily="18" charset="0"/>
              </a:rPr>
              <a:t>0</a:t>
            </a:r>
            <a:r>
              <a:rPr lang="en-US" altLang="zh-CN" dirty="0">
                <a:latin typeface="Times New Roman" panose="02020503050405090304" pitchFamily="18" charset="0"/>
              </a:rPr>
              <a:t>0</a:t>
            </a:r>
            <a:r>
              <a:rPr lang="en-US" altLang="zh-CN" i="1" baseline="30000" dirty="0">
                <a:latin typeface="Times New Roman" panose="02020503050405090304" pitchFamily="18" charset="0"/>
              </a:rPr>
              <a:t>i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product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503050405090304" pitchFamily="18" charset="0"/>
              </a:rPr>
              <a:t>	</a:t>
            </a:r>
            <a:r>
              <a:rPr lang="en-US" altLang="zh-CN" b="1" dirty="0">
                <a:latin typeface="Times New Roman" panose="02020503050405090304" pitchFamily="18" charset="0"/>
              </a:rPr>
              <a:t>return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product</a:t>
            </a:r>
            <a:endParaRPr lang="en-US" altLang="zh-CN" baseline="-250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13318" name="Text Box 4"/>
          <p:cNvSpPr txBox="1"/>
          <p:nvPr/>
        </p:nvSpPr>
        <p:spPr>
          <a:xfrm>
            <a:off x="5726748" y="4869180"/>
            <a:ext cx="2022475" cy="1225550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b="0" dirty="0">
                <a:latin typeface="Times New Roman" panose="02020503050405090304" pitchFamily="18" charset="0"/>
              </a:rPr>
              <a:t>i</a:t>
            </a:r>
            <a:r>
              <a:rPr lang="en-US" altLang="zh-CN" b="0" i="0" dirty="0">
                <a:latin typeface="Times New Roman" panose="02020503050405090304" pitchFamily="18" charset="0"/>
              </a:rPr>
              <a:t> extra 0-bits</a:t>
            </a:r>
            <a:br>
              <a:rPr lang="en-US" altLang="zh-CN" b="0" i="0" dirty="0">
                <a:latin typeface="Times New Roman" panose="02020503050405090304" pitchFamily="18" charset="0"/>
              </a:rPr>
            </a:br>
            <a:r>
              <a:rPr lang="en-US" altLang="zh-CN" b="0" i="0" dirty="0">
                <a:latin typeface="Times New Roman" panose="02020503050405090304" pitchFamily="18" charset="0"/>
              </a:rPr>
              <a:t>appended after</a:t>
            </a:r>
            <a:br>
              <a:rPr lang="en-US" altLang="zh-CN" b="0" i="0" dirty="0">
                <a:latin typeface="Times New Roman" panose="02020503050405090304" pitchFamily="18" charset="0"/>
              </a:rPr>
            </a:br>
            <a:r>
              <a:rPr lang="en-US" altLang="zh-CN" b="0" i="0" dirty="0">
                <a:latin typeface="Times New Roman" panose="02020503050405090304" pitchFamily="18" charset="0"/>
              </a:rPr>
              <a:t>the digits of </a:t>
            </a:r>
            <a:r>
              <a:rPr lang="en-US" altLang="zh-CN" b="0" dirty="0">
                <a:latin typeface="Times New Roman" panose="02020503050405090304" pitchFamily="18" charset="0"/>
              </a:rPr>
              <a:t>a</a:t>
            </a:r>
            <a:endParaRPr lang="en-US" altLang="zh-CN" b="0" dirty="0">
              <a:latin typeface="Times New Roman" panose="02020503050405090304" pitchFamily="18" charset="0"/>
            </a:endParaRPr>
          </a:p>
        </p:txBody>
      </p:sp>
      <p:sp>
        <p:nvSpPr>
          <p:cNvPr id="13319" name="Line 5"/>
          <p:cNvSpPr/>
          <p:nvPr/>
        </p:nvSpPr>
        <p:spPr>
          <a:xfrm flipH="1" flipV="1">
            <a:off x="6014085" y="4508818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" name="矩形 1"/>
          <p:cNvSpPr/>
          <p:nvPr/>
        </p:nvSpPr>
        <p:spPr>
          <a:xfrm>
            <a:off x="7008495" y="1701165"/>
            <a:ext cx="2225675" cy="267652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p>
            <a:pPr marL="0" marR="0" lvl="0" indent="8763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1011	a</a:t>
            </a:r>
            <a:endParaRPr kumimoji="1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marL="626745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sng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1001	b</a:t>
            </a:r>
            <a:endParaRPr kumimoji="1" lang="zh-CN" altLang="zh-CN" sz="1800" b="1" i="0" u="sng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marL="626745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1011</a:t>
            </a:r>
            <a:endParaRPr kumimoji="1" lang="en-US" altLang="zh-CN" sz="1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0000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0</a:t>
            </a:r>
            <a:endParaRPr kumimoji="1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0000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00</a:t>
            </a:r>
            <a:r>
              <a:rPr kumimoji="1" lang="en-US" altLang="zh-CN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  </a:t>
            </a:r>
            <a:endParaRPr kumimoji="1" lang="en-US" altLang="zh-CN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sng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1011</a:t>
            </a:r>
            <a:r>
              <a:rPr kumimoji="1" lang="en-US" altLang="zh-CN" sz="2400" b="1" i="0" u="sng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000</a:t>
            </a:r>
            <a:r>
              <a:rPr kumimoji="1" lang="en-US" altLang="zh-CN" sz="2400" b="1" i="0" u="sng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endParaRPr kumimoji="1" lang="en-US" altLang="zh-CN" sz="1800" b="1" i="0" u="sng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1100011</a:t>
            </a:r>
            <a:endParaRPr kumimoji="1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Binary Division with Remainder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143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503050405090304" pitchFamily="18" charset="0"/>
              </a:rPr>
              <a:t>procedure</a:t>
            </a:r>
            <a:r>
              <a:rPr lang="en-US" altLang="zh-CN" sz="2400" dirty="0">
                <a:latin typeface="Times New Roman" panose="02020503050405090304" pitchFamily="18" charset="0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div-mod</a:t>
            </a:r>
            <a:r>
              <a:rPr lang="en-US" altLang="zh-CN" sz="2400" dirty="0">
                <a:latin typeface="Times New Roman" panose="02020503050405090304" pitchFamily="18" charset="0"/>
              </a:rPr>
              <a:t>(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</a:rPr>
              <a:t>d</a:t>
            </a:r>
            <a:r>
              <a:rPr lang="en-US" altLang="zh-CN" sz="2400" dirty="0">
                <a:latin typeface="Times New Roman" panose="02020503050405090304" pitchFamily="18" charset="0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b="1" dirty="0">
                <a:latin typeface="Times New Roman" panose="0202050305040509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400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)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{Quotient &amp; rem. of 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.}</a:t>
            </a:r>
            <a:endParaRPr lang="en-US" altLang="zh-CN" sz="2400" i="1" dirty="0">
              <a:solidFill>
                <a:schemeClr val="folHlink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	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 := max(length of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 in bits, length of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 in bits)</a:t>
            </a:r>
            <a:endParaRPr lang="en-US" altLang="zh-CN" sz="2400" dirty="0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	</a:t>
            </a:r>
            <a:r>
              <a:rPr lang="en-US" altLang="zh-CN" sz="2400" b="1" dirty="0">
                <a:latin typeface="Times New Roman" panose="02020503050405090304" pitchFamily="18" charset="0"/>
                <a:sym typeface="Symbol" panose="05050102010706020507" pitchFamily="18" charset="2"/>
              </a:rPr>
              <a:t>for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 := </a:t>
            </a:r>
            <a:r>
              <a:rPr lang="en-US" altLang="zh-CN" sz="2400" i="1" dirty="0">
                <a:latin typeface="Times New Roman" panose="02020503050405090304" pitchFamily="18" charset="0"/>
              </a:rPr>
              <a:t>n</a:t>
            </a:r>
            <a:r>
              <a:rPr lang="en-US" altLang="zh-CN" sz="2400" dirty="0">
                <a:latin typeface="Times New Roman" panose="02020503050405090304" pitchFamily="18" charset="0"/>
              </a:rPr>
              <a:t>−1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503050405090304" pitchFamily="18" charset="0"/>
                <a:sym typeface="Symbol" panose="05050102010706020507" pitchFamily="18" charset="2"/>
              </a:rPr>
              <a:t>downto </a:t>
            </a:r>
            <a:r>
              <a:rPr lang="en-US" altLang="zh-CN" sz="2400" dirty="0">
                <a:latin typeface="Times New Roman" panose="02020503050405090304" pitchFamily="18" charset="0"/>
                <a:sym typeface="Symbol" panose="05050102010706020507" pitchFamily="18" charset="2"/>
              </a:rPr>
              <a:t>0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		</a:t>
            </a:r>
            <a:r>
              <a:rPr lang="en-US" altLang="zh-CN" sz="2400" b="1" dirty="0">
                <a:latin typeface="Times New Roman" panose="02020503050405090304" pitchFamily="18" charset="0"/>
              </a:rPr>
              <a:t>if</a:t>
            </a:r>
            <a:r>
              <a:rPr lang="en-US" altLang="zh-CN" sz="2400" dirty="0">
                <a:latin typeface="Times New Roman" panose="02020503050405090304" pitchFamily="18" charset="0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a ≥ d</a:t>
            </a:r>
            <a:r>
              <a:rPr lang="en-US" altLang="zh-CN" sz="2400" dirty="0">
                <a:latin typeface="Times New Roman" panose="02020503050405090304" pitchFamily="18" charset="0"/>
              </a:rPr>
              <a:t>0</a:t>
            </a:r>
            <a:r>
              <a:rPr lang="en-US" altLang="zh-CN" sz="2400" i="1" baseline="30000" dirty="0">
                <a:latin typeface="Times New Roman" panose="02020503050405090304" pitchFamily="18" charset="0"/>
              </a:rPr>
              <a:t>i</a:t>
            </a:r>
            <a:r>
              <a:rPr lang="en-US" altLang="zh-CN" sz="2400" b="1" dirty="0">
                <a:latin typeface="Times New Roman" panose="02020503050405090304" pitchFamily="18" charset="0"/>
              </a:rPr>
              <a:t> then       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</a:rPr>
              <a:t>{Can we subtract at this position?}</a:t>
            </a:r>
            <a:endParaRPr lang="en-US" altLang="zh-CN" sz="24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503050405090304" pitchFamily="18" charset="0"/>
              </a:rPr>
              <a:t>			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i="1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sz="2400" i="1" dirty="0">
                <a:latin typeface="Times New Roman" panose="02020503050405090304" pitchFamily="18" charset="0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</a:rPr>
              <a:t>:=</a:t>
            </a:r>
            <a:r>
              <a:rPr lang="en-US" altLang="zh-CN" sz="2400" i="1" dirty="0">
                <a:latin typeface="Times New Roman" panose="02020503050405090304" pitchFamily="18" charset="0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</a:rPr>
              <a:t>1		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</a:rPr>
              <a:t>{This bit of quotient is 1.}</a:t>
            </a:r>
            <a:endParaRPr lang="en-US" altLang="zh-CN" sz="24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			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</a:rPr>
              <a:t> := 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r>
              <a:rPr lang="en-US" altLang="zh-CN" sz="2400" dirty="0">
                <a:latin typeface="Times New Roman" panose="02020503050405090304" pitchFamily="18" charset="0"/>
              </a:rPr>
              <a:t> − </a:t>
            </a:r>
            <a:r>
              <a:rPr lang="en-US" altLang="zh-CN" sz="2400" i="1" dirty="0">
                <a:latin typeface="Times New Roman" panose="02020503050405090304" pitchFamily="18" charset="0"/>
              </a:rPr>
              <a:t>d</a:t>
            </a:r>
            <a:r>
              <a:rPr lang="en-US" altLang="zh-CN" sz="2400" dirty="0">
                <a:latin typeface="Times New Roman" panose="02020503050405090304" pitchFamily="18" charset="0"/>
              </a:rPr>
              <a:t>0</a:t>
            </a:r>
            <a:r>
              <a:rPr lang="en-US" altLang="zh-CN" sz="2400" i="1" baseline="30000" dirty="0">
                <a:latin typeface="Times New Roman" panose="02020503050405090304" pitchFamily="18" charset="0"/>
              </a:rPr>
              <a:t>i	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</a:rPr>
              <a:t>{Subtract to get remainder.}</a:t>
            </a:r>
            <a:endParaRPr lang="en-US" altLang="zh-CN" sz="24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i="1" dirty="0">
                <a:latin typeface="Times New Roman" panose="02020503050405090304" pitchFamily="18" charset="0"/>
              </a:rPr>
              <a:t>		</a:t>
            </a:r>
            <a:r>
              <a:rPr lang="en-US" altLang="zh-CN" sz="2400" b="1" dirty="0">
                <a:latin typeface="Times New Roman" panose="02020503050405090304" pitchFamily="18" charset="0"/>
              </a:rPr>
              <a:t>else</a:t>
            </a:r>
            <a:endParaRPr lang="en-US" altLang="zh-CN" sz="2400" b="1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aseline="30000" dirty="0">
                <a:latin typeface="Times New Roman" panose="02020503050405090304" pitchFamily="18" charset="0"/>
              </a:rPr>
              <a:t>			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i="1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sz="2400" i="1" dirty="0">
                <a:latin typeface="Times New Roman" panose="02020503050405090304" pitchFamily="18" charset="0"/>
              </a:rPr>
              <a:t> </a:t>
            </a:r>
            <a:r>
              <a:rPr lang="en-US" altLang="zh-CN" sz="2400" dirty="0">
                <a:latin typeface="Times New Roman" panose="02020503050405090304" pitchFamily="18" charset="0"/>
              </a:rPr>
              <a:t>:= 0		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</a:rPr>
              <a:t>{This bit of quotient is 0.}</a:t>
            </a:r>
            <a:endParaRPr lang="en-US" altLang="zh-CN" sz="24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	</a:t>
            </a:r>
            <a:r>
              <a:rPr lang="en-US" altLang="zh-CN" sz="2400" i="1" dirty="0"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latin typeface="Times New Roman" panose="02020503050405090304" pitchFamily="18" charset="0"/>
              </a:rPr>
              <a:t> := </a:t>
            </a:r>
            <a:r>
              <a:rPr lang="en-US" altLang="zh-CN" sz="2400" i="1" dirty="0">
                <a:latin typeface="Times New Roman" panose="02020503050405090304" pitchFamily="18" charset="0"/>
              </a:rPr>
              <a:t>a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Times New Roman" panose="02020503050405090304" pitchFamily="18" charset="0"/>
              </a:rPr>
              <a:t>	</a:t>
            </a:r>
            <a:r>
              <a:rPr lang="en-US" altLang="zh-CN" sz="2400" b="1" dirty="0">
                <a:latin typeface="Times New Roman" panose="02020503050405090304" pitchFamily="18" charset="0"/>
              </a:rPr>
              <a:t>return</a:t>
            </a:r>
            <a:r>
              <a:rPr lang="en-US" altLang="zh-CN" sz="2400" dirty="0">
                <a:latin typeface="Times New Roman" panose="02020503050405090304" pitchFamily="18" charset="0"/>
              </a:rPr>
              <a:t> </a:t>
            </a:r>
            <a:r>
              <a:rPr lang="en-US" altLang="zh-CN" sz="2400" i="1" dirty="0"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latin typeface="Times New Roman" panose="02020503050405090304" pitchFamily="18" charset="0"/>
              </a:rPr>
              <a:t>,</a:t>
            </a:r>
            <a:r>
              <a:rPr lang="en-US" altLang="zh-CN" sz="2400" i="1" dirty="0">
                <a:latin typeface="Times New Roman" panose="02020503050405090304" pitchFamily="18" charset="0"/>
              </a:rPr>
              <a:t>r		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</a:rPr>
              <a:t>{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q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= quotient, 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503050405090304" pitchFamily="18" charset="0"/>
              </a:rPr>
              <a:t>r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503050405090304" pitchFamily="18" charset="0"/>
              </a:rPr>
              <a:t> = remainder}</a:t>
            </a:r>
            <a:endParaRPr lang="en-US" altLang="zh-CN" sz="24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2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latin typeface="Times New Roman" panose="02020503050405090304" pitchFamily="18" charset="0"/>
              </a:rPr>
              <a:t>Modular Exponentiation Problem </a:t>
            </a:r>
            <a:endParaRPr lang="en-US" altLang="zh-CN" sz="4000" dirty="0">
              <a:latin typeface="Times New Roman" panose="02020503050405090304" pitchFamily="18" charset="0"/>
            </a:endParaRPr>
          </a:p>
        </p:txBody>
      </p:sp>
      <p:sp>
        <p:nvSpPr>
          <p:cNvPr id="15365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799830" cy="482473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imes New Roman" panose="02020503050405090304" pitchFamily="18" charset="0"/>
              </a:rPr>
              <a:t>Problem:</a:t>
            </a:r>
            <a:r>
              <a:rPr lang="en-US" altLang="zh-CN" dirty="0">
                <a:latin typeface="Times New Roman" panose="02020503050405090304" pitchFamily="18" charset="0"/>
              </a:rPr>
              <a:t> Given large integers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dirty="0">
                <a:latin typeface="Times New Roman" panose="02020503050405090304" pitchFamily="18" charset="0"/>
              </a:rPr>
              <a:t> (base), </a:t>
            </a:r>
            <a:r>
              <a:rPr lang="en-US" altLang="zh-CN" i="1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 (exponent), and </a:t>
            </a:r>
            <a:r>
              <a:rPr lang="en-US" altLang="zh-CN" i="1" dirty="0">
                <a:latin typeface="Times New Roman" panose="02020503050405090304" pitchFamily="18" charset="0"/>
              </a:rPr>
              <a:t>m</a:t>
            </a:r>
            <a:r>
              <a:rPr lang="en-US" altLang="zh-CN" dirty="0">
                <a:latin typeface="Times New Roman" panose="02020503050405090304" pitchFamily="18" charset="0"/>
              </a:rPr>
              <a:t> (modulus), efficiently compute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b</a:t>
            </a:r>
            <a:r>
              <a:rPr lang="en-US" altLang="zh-CN" i="1" baseline="30000" dirty="0">
                <a:solidFill>
                  <a:srgbClr val="FF0000"/>
                </a:solidFill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</a:rPr>
              <a:t> mod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503050405090304" pitchFamily="18" charset="0"/>
              </a:rPr>
              <a:t>m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Note that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i="1" baseline="30000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u="sng" dirty="0">
                <a:latin typeface="Times New Roman" panose="02020503050405090304" pitchFamily="18" charset="0"/>
              </a:rPr>
              <a:t>itself </a:t>
            </a:r>
            <a:r>
              <a:rPr lang="en-US" altLang="zh-CN" dirty="0">
                <a:latin typeface="Times New Roman" panose="02020503050405090304" pitchFamily="18" charset="0"/>
              </a:rPr>
              <a:t>may be completely infeasible to compute and store directly.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503050405090304" pitchFamily="18" charset="0"/>
              </a:rPr>
              <a:t>E</a:t>
            </a:r>
            <a:r>
              <a:rPr lang="en-US" altLang="zh-CN" dirty="0">
                <a:latin typeface="Times New Roman" panose="02020503050405090304" pitchFamily="18" charset="0"/>
              </a:rPr>
              <a:t>.</a:t>
            </a:r>
            <a:r>
              <a:rPr lang="en-US" altLang="zh-CN" i="1" dirty="0">
                <a:latin typeface="Times New Roman" panose="02020503050405090304" pitchFamily="18" charset="0"/>
              </a:rPr>
              <a:t>g</a:t>
            </a:r>
            <a:r>
              <a:rPr lang="en-US" altLang="zh-CN" dirty="0">
                <a:latin typeface="Times New Roman" panose="02020503050405090304" pitchFamily="18" charset="0"/>
              </a:rPr>
              <a:t>. if </a:t>
            </a:r>
            <a:r>
              <a:rPr lang="en-US" altLang="zh-CN" i="1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 is a 1,000-bit number, then </a:t>
            </a:r>
            <a:r>
              <a:rPr lang="en-US" altLang="zh-CN" i="1" dirty="0">
                <a:latin typeface="Times New Roman" panose="02020503050405090304" pitchFamily="18" charset="0"/>
              </a:rPr>
              <a:t>b</a:t>
            </a:r>
            <a:r>
              <a:rPr lang="en-US" altLang="zh-CN" i="1" baseline="30000" dirty="0">
                <a:latin typeface="Times New Roman" panose="02020503050405090304" pitchFamily="18" charset="0"/>
              </a:rPr>
              <a:t>n</a:t>
            </a:r>
            <a:r>
              <a:rPr lang="en-US" altLang="zh-CN" dirty="0">
                <a:latin typeface="Times New Roman" panose="02020503050405090304" pitchFamily="18" charset="0"/>
              </a:rPr>
              <a:t> itself will have far more </a:t>
            </a:r>
            <a:r>
              <a:rPr lang="en-US" altLang="zh-CN" u="sng" dirty="0">
                <a:latin typeface="Times New Roman" panose="02020503050405090304" pitchFamily="18" charset="0"/>
              </a:rPr>
              <a:t>digits</a:t>
            </a:r>
            <a:r>
              <a:rPr lang="en-US" altLang="zh-CN" dirty="0">
                <a:latin typeface="Times New Roman" panose="02020503050405090304" pitchFamily="18" charset="0"/>
              </a:rPr>
              <a:t> than there are atoms in the universe!</a:t>
            </a:r>
            <a:endParaRPr lang="en-US" altLang="zh-CN" i="1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Yet, this is a type of calculation that is commonly required in modern cryptographic algorithms!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Modular Exponentiation(</a:t>
            </a:r>
            <a:r>
              <a:rPr lang="zh-CN" altLang="en-US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模指数</a:t>
            </a:r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)</a:t>
            </a:r>
            <a:endParaRPr lang="en-US" altLang="zh-CN" sz="3200" b="0" dirty="0">
              <a:latin typeface="Copperplate Gothic Bold" panose="020E0705020206020404" pitchFamily="34" charset="0"/>
              <a:ea typeface="Times New Roman" panose="02020503050405090304" pitchFamily="18" charset="0"/>
            </a:endParaRPr>
          </a:p>
        </p:txBody>
      </p:sp>
      <p:sp>
        <p:nvSpPr>
          <p:cNvPr id="32771" name="Rectangle 4"/>
          <p:cNvSpPr>
            <a:spLocks noGrp="1"/>
          </p:cNvSpPr>
          <p:nvPr>
            <p:ph idx="1"/>
          </p:nvPr>
        </p:nvSpPr>
        <p:spPr>
          <a:xfrm>
            <a:off x="421640" y="981075"/>
            <a:ext cx="8722995" cy="5419725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Times New Roman" panose="02020503050405090304" pitchFamily="18" charset="0"/>
              </a:rPr>
              <a:t>Note that:</a:t>
            </a:r>
            <a:br>
              <a:rPr lang="en-US" altLang="zh-CN" sz="2800" b="1" dirty="0">
                <a:latin typeface="Times New Roman" panose="02020503050405090304" pitchFamily="18" charset="0"/>
              </a:rPr>
            </a:br>
            <a:br>
              <a:rPr lang="en-US" altLang="zh-CN" sz="2800" dirty="0">
                <a:latin typeface="Times New Roman" panose="02020503050405090304" pitchFamily="18" charset="0"/>
              </a:rPr>
            </a:br>
            <a:br>
              <a:rPr lang="en-US" altLang="zh-CN" sz="2800" dirty="0">
                <a:latin typeface="Times New Roman" panose="02020503050405090304" pitchFamily="18" charset="0"/>
              </a:rPr>
            </a:b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latin typeface="Times New Roman" panose="02020503050405090304" pitchFamily="18" charset="0"/>
              </a:rPr>
              <a:t>Crucially, we can do the </a:t>
            </a:r>
            <a:r>
              <a:rPr lang="en-US" altLang="zh-CN" sz="2800" b="1" dirty="0">
                <a:latin typeface="Times New Roman" panose="02020503050405090304" pitchFamily="18" charset="0"/>
              </a:rPr>
              <a:t>mod</a:t>
            </a:r>
            <a:r>
              <a:rPr lang="en-US" altLang="zh-CN" sz="2800" dirty="0">
                <a:latin typeface="Times New Roman" panose="02020503050405090304" pitchFamily="18" charset="0"/>
              </a:rPr>
              <a:t> </a:t>
            </a:r>
            <a:r>
              <a:rPr lang="en-US" altLang="zh-CN" sz="2800" i="1" dirty="0">
                <a:latin typeface="Times New Roman" panose="02020503050405090304" pitchFamily="18" charset="0"/>
              </a:rPr>
              <a:t>m</a:t>
            </a:r>
            <a:r>
              <a:rPr lang="en-US" altLang="zh-CN" sz="2800" dirty="0">
                <a:latin typeface="Times New Roman" panose="02020503050405090304" pitchFamily="18" charset="0"/>
              </a:rPr>
              <a:t> operations </a:t>
            </a:r>
            <a:r>
              <a:rPr lang="en-US" altLang="zh-CN" sz="2800" u="sng" dirty="0">
                <a:latin typeface="Times New Roman" panose="02020503050405090304" pitchFamily="18" charset="0"/>
              </a:rPr>
              <a:t>as we go along</a:t>
            </a:r>
            <a:r>
              <a:rPr lang="en-US" altLang="zh-CN" sz="2800" dirty="0">
                <a:latin typeface="Times New Roman" panose="02020503050405090304" pitchFamily="18" charset="0"/>
              </a:rPr>
              <a:t>, because of the various </a:t>
            </a:r>
            <a:r>
              <a:rPr lang="en-US" altLang="zh-CN" sz="2800" b="1" dirty="0">
                <a:latin typeface="Times New Roman" panose="02020503050405090304" pitchFamily="18" charset="0"/>
              </a:rPr>
              <a:t>identity laws </a:t>
            </a:r>
            <a:r>
              <a:rPr lang="en-US" altLang="zh-CN" sz="2800" dirty="0">
                <a:latin typeface="Times New Roman" panose="02020503050405090304" pitchFamily="18" charset="0"/>
              </a:rPr>
              <a:t>of modular arithmetic.</a:t>
            </a:r>
            <a:r>
              <a:rPr lang="en-US" altLang="zh-CN" dirty="0">
                <a:solidFill>
                  <a:schemeClr val="accent2"/>
                </a:solidFill>
                <a:latin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503050405090304" pitchFamily="18" charset="0"/>
              </a:rPr>
              <a:t>– All the numbers stay small. </a:t>
            </a:r>
            <a:endParaRPr lang="en-US" altLang="zh-CN" sz="28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endParaRPr lang="en-US" altLang="zh-CN" sz="28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>
                <a:latin typeface="Times New Roman" panose="02020503050405090304" pitchFamily="18" charset="0"/>
              </a:rPr>
              <a:t>Features of binary expansion of n</a:t>
            </a:r>
            <a:r>
              <a:rPr lang="zh-CN" altLang="en-US" sz="2800" dirty="0">
                <a:latin typeface="Times New Roman" panose="02020503050405090304" pitchFamily="18" charset="0"/>
              </a:rPr>
              <a:t>：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503050405090304" pitchFamily="18" charset="0"/>
              </a:rPr>
              <a:t>We can compute </a:t>
            </a:r>
            <a:r>
              <a:rPr lang="en-US" altLang="zh-CN" sz="2400" i="1" dirty="0">
                <a:latin typeface="Times New Roman" panose="02020503050405090304" pitchFamily="18" charset="0"/>
              </a:rPr>
              <a:t>b</a:t>
            </a:r>
            <a:r>
              <a:rPr lang="en-US" altLang="zh-CN" sz="2400" dirty="0">
                <a:latin typeface="Times New Roman" panose="02020503050405090304" pitchFamily="18" charset="0"/>
              </a:rPr>
              <a:t> to various powers of 2 by repeated squaring. 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lvl="1"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503050405090304" pitchFamily="18" charset="0"/>
              </a:rPr>
              <a:t>Then multiply them into the partial product, or not, depending on whether the corresponding </a:t>
            </a:r>
            <a:r>
              <a:rPr lang="en-US" altLang="zh-CN" sz="2400" i="1" dirty="0">
                <a:latin typeface="Times New Roman" panose="02020503050405090304" pitchFamily="18" charset="0"/>
              </a:rPr>
              <a:t>n</a:t>
            </a:r>
            <a:r>
              <a:rPr lang="en-US" altLang="zh-CN" sz="2400" i="1" baseline="-25000" dirty="0">
                <a:latin typeface="Times New Roman" panose="02020503050405090304" pitchFamily="18" charset="0"/>
              </a:rPr>
              <a:t>i</a:t>
            </a:r>
            <a:r>
              <a:rPr lang="en-US" altLang="zh-CN" sz="2400" dirty="0">
                <a:latin typeface="Times New Roman" panose="02020503050405090304" pitchFamily="18" charset="0"/>
              </a:rPr>
              <a:t> bit is 1.</a:t>
            </a:r>
            <a:endParaRPr lang="en-US" altLang="zh-CN" sz="2400" dirty="0">
              <a:solidFill>
                <a:schemeClr val="folHlink"/>
              </a:solidFill>
              <a:latin typeface="Times New Roman" panose="02020503050405090304" pitchFamily="18" charset="0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5" name="Text Box 7"/>
          <p:cNvSpPr txBox="1"/>
          <p:nvPr/>
        </p:nvSpPr>
        <p:spPr>
          <a:xfrm>
            <a:off x="6948488" y="22558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i="1" dirty="0">
              <a:latin typeface="Times New Roman" panose="02020503050405090304" pitchFamily="18" charset="0"/>
            </a:endParaRPr>
          </a:p>
        </p:txBody>
      </p:sp>
      <p:sp>
        <p:nvSpPr>
          <p:cNvPr id="32776" name="Text Box 9"/>
          <p:cNvSpPr txBox="1"/>
          <p:nvPr/>
        </p:nvSpPr>
        <p:spPr>
          <a:xfrm>
            <a:off x="4008438" y="981075"/>
            <a:ext cx="2584450" cy="36671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503050405090304" pitchFamily="18" charset="0"/>
              </a:rPr>
              <a:t>The binary expansion of </a:t>
            </a:r>
            <a:r>
              <a:rPr lang="en-US" altLang="zh-CN" sz="1800" i="1" dirty="0">
                <a:latin typeface="Times New Roman" panose="02020503050405090304" pitchFamily="18" charset="0"/>
              </a:rPr>
              <a:t>n</a:t>
            </a:r>
            <a:endParaRPr lang="en-US" altLang="zh-CN" sz="1800" dirty="0">
              <a:latin typeface="Times New Roman" panose="02020503050405090304" pitchFamily="18" charset="0"/>
            </a:endParaRPr>
          </a:p>
        </p:txBody>
      </p:sp>
      <p:graphicFrame>
        <p:nvGraphicFramePr>
          <p:cNvPr id="32777" name="Object 10"/>
          <p:cNvGraphicFramePr>
            <a:graphicFrameLocks noChangeAspect="1"/>
          </p:cNvGraphicFramePr>
          <p:nvPr/>
        </p:nvGraphicFramePr>
        <p:xfrm>
          <a:off x="2195513" y="1516063"/>
          <a:ext cx="5283200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2108200" imgH="533400" progId="Equation.3">
                  <p:embed/>
                </p:oleObj>
              </mc:Choice>
              <mc:Fallback>
                <p:oleObj name="" r:id="rId1" imgW="2108200" imgH="5334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513" y="1516063"/>
                        <a:ext cx="5283200" cy="1336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AutoShape 11"/>
          <p:cNvSpPr/>
          <p:nvPr/>
        </p:nvSpPr>
        <p:spPr>
          <a:xfrm rot="5400000">
            <a:off x="5113338" y="7938"/>
            <a:ext cx="304800" cy="2971800"/>
          </a:xfrm>
          <a:prstGeom prst="leftBrace">
            <a:avLst>
              <a:gd name="adj1" fmla="val 81250"/>
              <a:gd name="adj2" fmla="val 50000"/>
            </a:avLst>
          </a:prstGeom>
          <a:noFill/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imes New Roman" panose="02020503050405090304" pitchFamily="18" charset="0"/>
            </a:endParaRPr>
          </a:p>
        </p:txBody>
      </p:sp>
      <p:sp>
        <p:nvSpPr>
          <p:cNvPr id="32779" name="AutoShape 12"/>
          <p:cNvSpPr/>
          <p:nvPr/>
        </p:nvSpPr>
        <p:spPr>
          <a:xfrm rot="5400000">
            <a:off x="6707188" y="1930400"/>
            <a:ext cx="228600" cy="609600"/>
          </a:xfrm>
          <a:prstGeom prst="leftBrace">
            <a:avLst>
              <a:gd name="adj1" fmla="val 22222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latin typeface="Times New Roman" panose="02020503050405090304" pitchFamily="18" charset="0"/>
            </a:endParaRPr>
          </a:p>
        </p:txBody>
      </p:sp>
      <p:sp>
        <p:nvSpPr>
          <p:cNvPr id="32780" name="Text Box 13"/>
          <p:cNvSpPr txBox="1"/>
          <p:nvPr/>
        </p:nvSpPr>
        <p:spPr>
          <a:xfrm>
            <a:off x="6880225" y="1812925"/>
            <a:ext cx="11969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503050405090304" pitchFamily="18" charset="0"/>
              </a:rPr>
              <a:t>= b</a:t>
            </a:r>
            <a:r>
              <a:rPr lang="en-US" altLang="zh-CN" sz="2400" baseline="30000" dirty="0">
                <a:latin typeface="Times New Roman" panose="02020503050405090304" pitchFamily="18" charset="0"/>
              </a:rPr>
              <a:t>1</a:t>
            </a:r>
            <a:r>
              <a:rPr lang="en-US" altLang="zh-CN" sz="2400" dirty="0">
                <a:latin typeface="Times New Roman" panose="02020503050405090304" pitchFamily="18" charset="0"/>
              </a:rPr>
              <a:t> = </a:t>
            </a:r>
            <a:r>
              <a:rPr lang="en-US" altLang="zh-CN" sz="2400" i="1" dirty="0">
                <a:latin typeface="Times New Roman" panose="02020503050405090304" pitchFamily="18" charset="0"/>
              </a:rPr>
              <a:t>b</a:t>
            </a:r>
            <a:endParaRPr lang="en-US" altLang="zh-CN" sz="2400" i="1" dirty="0">
              <a:latin typeface="Times New Roman" panose="02020503050405090304" pitchFamily="18" charset="0"/>
            </a:endParaRPr>
          </a:p>
        </p:txBody>
      </p:sp>
      <p:sp>
        <p:nvSpPr>
          <p:cNvPr id="32781" name="矩形 1"/>
          <p:cNvSpPr/>
          <p:nvPr/>
        </p:nvSpPr>
        <p:spPr>
          <a:xfrm>
            <a:off x="7273925" y="906463"/>
            <a:ext cx="1392238" cy="46196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</a:rPr>
              <a:t>b</a:t>
            </a:r>
            <a:r>
              <a:rPr lang="en-US" altLang="zh-CN" sz="2400" b="1" i="1" baseline="30000" dirty="0">
                <a:latin typeface="Times New Roman" panose="02020503050405090304" pitchFamily="18" charset="0"/>
              </a:rPr>
              <a:t>n</a:t>
            </a:r>
            <a:r>
              <a:rPr lang="en-US" altLang="zh-CN" sz="2400" b="1" i="1" dirty="0">
                <a:latin typeface="Times New Roman" panose="02020503050405090304" pitchFamily="18" charset="0"/>
              </a:rPr>
              <a:t> mod m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  <p:sp>
        <p:nvSpPr>
          <p:cNvPr id="32782" name="矩形 13"/>
          <p:cNvSpPr/>
          <p:nvPr/>
        </p:nvSpPr>
        <p:spPr>
          <a:xfrm>
            <a:off x="1978025" y="4246245"/>
            <a:ext cx="5641975" cy="5283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 mod m=((a mod m)(b mod m)) mod m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Modular Exponentiation(</a:t>
            </a:r>
            <a:r>
              <a:rPr lang="zh-CN" altLang="en-US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模指数</a:t>
            </a:r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)</a:t>
            </a:r>
            <a:endParaRPr lang="en-US" altLang="zh-CN" sz="3200" b="0" dirty="0">
              <a:latin typeface="Copperplate Gothic Bold" panose="020E0705020206020404" pitchFamily="34" charset="0"/>
              <a:ea typeface="Times New Roman" panose="02020503050405090304" pitchFamily="18" charset="0"/>
            </a:endParaRPr>
          </a:p>
        </p:txBody>
      </p:sp>
      <p:sp>
        <p:nvSpPr>
          <p:cNvPr id="34819" name="Rectangle 4"/>
          <p:cNvSpPr>
            <a:spLocks noGrp="1" noChangeArrowheads="1"/>
          </p:cNvSpPr>
          <p:nvPr>
            <p:ph idx="1"/>
          </p:nvPr>
        </p:nvSpPr>
        <p:spPr>
          <a:xfrm>
            <a:off x="539750" y="981075"/>
            <a:ext cx="8404225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b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</a:br>
            <a:b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</a:br>
            <a:b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</a:b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E.g.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=2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(1011)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=2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(8+0+2+1)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=2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8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·2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·2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endParaRPr kumimoji="1" lang="en-US" altLang="zh-CN" sz="2400" b="0" i="0" u="none" strike="noStrike" kern="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11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(mod m) = (2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8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·2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·2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)  (mod m) 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                        = ((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8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 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mod m) 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m)) (mod m)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mod m= ((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 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m)) (mod m)= 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1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(mod m) 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4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mod m= ((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 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m)) (mod m)= 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(mod m) 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8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mod m= ((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4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 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4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m)) (mod m)= 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4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 m)</a:t>
            </a:r>
            <a:r>
              <a:rPr kumimoji="1" lang="en-US" altLang="zh-CN" sz="22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2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(mod m) 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9" name="Text Box 7"/>
          <p:cNvSpPr txBox="1"/>
          <p:nvPr/>
        </p:nvSpPr>
        <p:spPr>
          <a:xfrm>
            <a:off x="6948488" y="2255838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i="1" dirty="0">
              <a:latin typeface="Times New Roman" panose="02020503050405090304" pitchFamily="18" charset="0"/>
            </a:endParaRPr>
          </a:p>
        </p:txBody>
      </p:sp>
      <p:graphicFrame>
        <p:nvGraphicFramePr>
          <p:cNvPr id="33800" name="Object 10"/>
          <p:cNvGraphicFramePr>
            <a:graphicFrameLocks noChangeAspect="1"/>
          </p:cNvGraphicFramePr>
          <p:nvPr/>
        </p:nvGraphicFramePr>
        <p:xfrm>
          <a:off x="2100263" y="908050"/>
          <a:ext cx="5283200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2108200" imgH="533400" progId="Equation.3">
                  <p:embed/>
                </p:oleObj>
              </mc:Choice>
              <mc:Fallback>
                <p:oleObj name="" r:id="rId1" imgW="2108200" imgH="5334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0263" y="908050"/>
                        <a:ext cx="5283200" cy="1336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矩形 1"/>
          <p:cNvSpPr/>
          <p:nvPr/>
        </p:nvSpPr>
        <p:spPr>
          <a:xfrm>
            <a:off x="7235825" y="981075"/>
            <a:ext cx="1392238" cy="4619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</a:rPr>
              <a:t>b</a:t>
            </a:r>
            <a:r>
              <a:rPr lang="en-US" altLang="zh-CN" sz="2400" b="1" i="1" baseline="30000" dirty="0">
                <a:latin typeface="Times New Roman" panose="02020503050405090304" pitchFamily="18" charset="0"/>
              </a:rPr>
              <a:t>n</a:t>
            </a:r>
            <a:r>
              <a:rPr lang="en-US" altLang="zh-CN" sz="2400" b="1" i="1" dirty="0">
                <a:latin typeface="Times New Roman" panose="02020503050405090304" pitchFamily="18" charset="0"/>
              </a:rPr>
              <a:t> mod m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  <p:sp>
        <p:nvSpPr>
          <p:cNvPr id="33802" name="矩形 13"/>
          <p:cNvSpPr/>
          <p:nvPr/>
        </p:nvSpPr>
        <p:spPr>
          <a:xfrm>
            <a:off x="2155825" y="2205038"/>
            <a:ext cx="55800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 mod m=((a mod m)(b mod m)) mod m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  <p:sp>
        <p:nvSpPr>
          <p:cNvPr id="15" name="矩形 1"/>
          <p:cNvSpPr/>
          <p:nvPr/>
        </p:nvSpPr>
        <p:spPr>
          <a:xfrm>
            <a:off x="488950" y="5445125"/>
            <a:ext cx="8455025" cy="10160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503050405090304" pitchFamily="18" charset="0"/>
              </a:rPr>
              <a:t>思路：从最右边开始求模，然后向左，依次和左边求模结果相乘再求模</a:t>
            </a:r>
            <a:r>
              <a:rPr lang="en-US" altLang="zh-CN" sz="2000" b="1" dirty="0">
                <a:latin typeface="Times New Roman" panose="02020503050405090304" pitchFamily="18" charset="0"/>
              </a:rPr>
              <a:t>.</a:t>
            </a:r>
            <a:endParaRPr lang="en-US" altLang="zh-CN" sz="2000" b="1" dirty="0">
              <a:latin typeface="Times New Roman" panose="02020503050405090304" pitchFamily="18" charset="0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503050405090304" pitchFamily="18" charset="0"/>
              </a:rPr>
              <a:t>其中左边一位的模是前一位求模结果的平方再求模，将前一个结果记录下来后面直接使用</a:t>
            </a:r>
            <a:endParaRPr lang="en-US" altLang="zh-CN" sz="2000" b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1116013" y="188913"/>
            <a:ext cx="7632700" cy="639762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Modular Exponentiation (</a:t>
            </a:r>
            <a:r>
              <a:rPr lang="zh-CN" altLang="en-US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模指数</a:t>
            </a:r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)</a:t>
            </a:r>
            <a:endParaRPr lang="en-US" altLang="zh-CN" sz="3200" b="0" dirty="0">
              <a:latin typeface="Copperplate Gothic Bold" panose="020E0705020206020404" pitchFamily="34" charset="0"/>
              <a:ea typeface="Times New Roman" panose="02020503050405090304" pitchFamily="18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484313"/>
            <a:ext cx="8186738" cy="4159250"/>
          </a:xfrm>
          <a:solidFill>
            <a:schemeClr val="accent3">
              <a:lumMod val="95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procedure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modularExp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b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: integer,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 n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= 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a</a:t>
            </a:r>
            <a:r>
              <a:rPr kumimoji="1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k</a:t>
            </a:r>
            <a:r>
              <a: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−1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…a</a:t>
            </a:r>
            <a:r>
              <a: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0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)</a:t>
            </a:r>
            <a:r>
              <a: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2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, 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: positive integers)</a:t>
            </a:r>
            <a:b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</a:b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:= 1    		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{result will be accumulated here}</a:t>
            </a:r>
            <a:b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</a:b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:=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b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mod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  	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{      is power;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=0 initially,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b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2</a:t>
            </a:r>
            <a:r>
              <a:rPr kumimoji="1" lang="en-US" altLang="zh-CN" sz="2400" b="0" i="1" u="none" strike="noStrike" kern="0" cap="none" spc="0" normalizeH="0" baseline="52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0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}</a:t>
            </a:r>
            <a:b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</a:b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for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:= 0 to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k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−1  	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{go thru all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k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bits of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}</a:t>
            </a:r>
            <a:b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</a:b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    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if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a</a:t>
            </a:r>
            <a:r>
              <a:rPr kumimoji="1" lang="en-US" altLang="zh-CN" sz="24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= 1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then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:= 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·     )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mod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{when </a:t>
            </a:r>
            <a:r>
              <a:rPr kumimoji="1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</a:t>
            </a:r>
            <a:r>
              <a:rPr kumimoji="1" lang="en-US" altLang="zh-CN" sz="2400" b="0" i="1" u="none" strike="noStrike" kern="0" cap="none" spc="0" normalizeH="0" baseline="3000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th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bit is 1}</a:t>
            </a:r>
            <a:b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</a:b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	   := (     ·     )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mod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m		  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{shift to (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i+1)</a:t>
            </a:r>
            <a:r>
              <a:rPr kumimoji="1" lang="en-US" altLang="zh-CN" sz="2400" b="0" i="1" u="none" strike="noStrike" kern="0" cap="none" spc="0" normalizeH="0" baseline="30000" noProof="0" dirty="0" err="1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th</a:t>
            </a:r>
            <a:r>
              <a:rPr kumimoji="1" lang="en-US" altLang="zh-CN" sz="2400" b="0" i="1" u="none" strike="noStrike" kern="0" cap="none" spc="0" normalizeH="0" baseline="30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}</a:t>
            </a:r>
            <a:b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</a:b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return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x</a:t>
            </a:r>
            <a:endParaRPr kumimoji="1" lang="en-US" altLang="zh-CN" sz="24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graphicFrame>
        <p:nvGraphicFramePr>
          <p:cNvPr id="34820" name="Object 1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17750" y="4333875"/>
          <a:ext cx="4556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215900" imgH="228600" progId="Equation.DSMT4">
                  <p:embed/>
                </p:oleObj>
              </mc:Choice>
              <mc:Fallback>
                <p:oleObj name="" r:id="rId1" imgW="215900" imgH="2286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317750" y="4333875"/>
                        <a:ext cx="455613" cy="482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1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63838" y="4343400"/>
          <a:ext cx="4286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203200" imgH="228600" progId="Equation.3">
                  <p:embed/>
                </p:oleObj>
              </mc:Choice>
              <mc:Fallback>
                <p:oleObj name="" r:id="rId3" imgW="203200" imgH="2286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2763838" y="4343400"/>
                        <a:ext cx="428625" cy="4826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灯片编号占位符 5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kumimoji="1"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+mn-ea"/>
                <a:cs typeface="+mn-cs"/>
              </a:rPr>
            </a:fld>
            <a:endParaRPr kumimoji="1"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34823" name="日期占位符 6"/>
          <p:cNvSpPr txBox="1">
            <a:spLocks noGrp="1"/>
          </p:cNvSpPr>
          <p:nvPr>
            <p:ph type="dt" sz="half" idx="12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kumimoji="1"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+mn-ea"/>
                <a:cs typeface="+mn-cs"/>
              </a:rPr>
            </a:fld>
            <a:endParaRPr kumimoji="1"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34824" name="页脚占位符 7"/>
          <p:cNvSpPr txBox="1">
            <a:spLocks noGrp="1"/>
          </p:cNvSpPr>
          <p:nvPr>
            <p:ph type="ftr" sz="quarter" idx="13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  <a:ea typeface="+mn-ea"/>
                <a:cs typeface="+mn-cs"/>
              </a:rPr>
              <a:t>School of Computer Science, BUPT</a:t>
            </a:r>
            <a:endParaRPr kumimoji="1"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graphicFrame>
        <p:nvGraphicFramePr>
          <p:cNvPr id="34825" name="Object 5"/>
          <p:cNvGraphicFramePr>
            <a:graphicFrameLocks noChangeAspect="1"/>
          </p:cNvGraphicFramePr>
          <p:nvPr>
            <p:ph sz="half" idx="1"/>
          </p:nvPr>
        </p:nvGraphicFramePr>
        <p:xfrm>
          <a:off x="971550" y="2924175"/>
          <a:ext cx="4318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5" imgW="203200" imgH="228600" progId="Equation.3">
                  <p:embed/>
                </p:oleObj>
              </mc:Choice>
              <mc:Fallback>
                <p:oleObj name="" r:id="rId5" imgW="203200" imgH="228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971550" y="2924175"/>
                        <a:ext cx="431800" cy="5524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6"/>
          <p:cNvGraphicFramePr>
            <a:graphicFrameLocks noChangeAspect="1"/>
          </p:cNvGraphicFramePr>
          <p:nvPr>
            <p:ph sz="half" idx="1"/>
          </p:nvPr>
        </p:nvGraphicFramePr>
        <p:xfrm>
          <a:off x="3046413" y="4908550"/>
          <a:ext cx="30956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6" imgW="1459865" imgH="254000" progId="Equation.3">
                  <p:embed/>
                </p:oleObj>
              </mc:Choice>
              <mc:Fallback>
                <p:oleObj name="" r:id="rId6" imgW="1459865" imgH="2540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>
                      <a:xfrm>
                        <a:off x="3046413" y="4908550"/>
                        <a:ext cx="3095625" cy="612775"/>
                      </a:xfrm>
                      <a:prstGeom prst="rect">
                        <a:avLst/>
                      </a:prstGeom>
                      <a:solidFill>
                        <a:schemeClr val="accent2">
                          <a:alpha val="100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7" name="AutoShape 4"/>
          <p:cNvSpPr/>
          <p:nvPr/>
        </p:nvSpPr>
        <p:spPr>
          <a:xfrm>
            <a:off x="1331913" y="3951288"/>
            <a:ext cx="76200" cy="863600"/>
          </a:xfrm>
          <a:prstGeom prst="leftBracket">
            <a:avLst>
              <a:gd name="adj" fmla="val 94444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503050405090304" pitchFamily="18" charset="0"/>
            </a:endParaRPr>
          </a:p>
        </p:txBody>
      </p:sp>
      <p:sp>
        <p:nvSpPr>
          <p:cNvPr id="35852" name="Freeform 7"/>
          <p:cNvSpPr/>
          <p:nvPr/>
        </p:nvSpPr>
        <p:spPr>
          <a:xfrm>
            <a:off x="2682875" y="4818063"/>
            <a:ext cx="306388" cy="555625"/>
          </a:xfrm>
          <a:custGeom>
            <a:avLst/>
            <a:gdLst>
              <a:gd name="txL" fmla="*/ 0 w 553"/>
              <a:gd name="txT" fmla="*/ 0 h 297"/>
              <a:gd name="txR" fmla="*/ 553 w 553"/>
              <a:gd name="txB" fmla="*/ 297 h 29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553" h="297">
                <a:moveTo>
                  <a:pt x="553" y="214"/>
                </a:moveTo>
                <a:cubicBezTo>
                  <a:pt x="504" y="229"/>
                  <a:pt x="476" y="239"/>
                  <a:pt x="423" y="248"/>
                </a:cubicBezTo>
                <a:cubicBezTo>
                  <a:pt x="333" y="297"/>
                  <a:pt x="305" y="269"/>
                  <a:pt x="163" y="265"/>
                </a:cubicBezTo>
                <a:cubicBezTo>
                  <a:pt x="122" y="244"/>
                  <a:pt x="135" y="217"/>
                  <a:pt x="101" y="186"/>
                </a:cubicBezTo>
                <a:cubicBezTo>
                  <a:pt x="78" y="141"/>
                  <a:pt x="45" y="102"/>
                  <a:pt x="22" y="56"/>
                </a:cubicBezTo>
                <a:cubicBezTo>
                  <a:pt x="13" y="38"/>
                  <a:pt x="0" y="0"/>
                  <a:pt x="0" y="0"/>
                </a:cubicBezTo>
              </a:path>
            </a:pathLst>
          </a:custGeom>
          <a:noFill/>
          <a:ln w="57150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4829" name="Object 16"/>
          <p:cNvGraphicFramePr>
            <a:graphicFrameLocks noChangeAspect="1"/>
          </p:cNvGraphicFramePr>
          <p:nvPr/>
        </p:nvGraphicFramePr>
        <p:xfrm>
          <a:off x="3643313" y="2963863"/>
          <a:ext cx="431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8" imgW="203200" imgH="228600" progId="Equation.3">
                  <p:embed/>
                </p:oleObj>
              </mc:Choice>
              <mc:Fallback>
                <p:oleObj name="" r:id="rId8" imgW="203200" imgH="228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3313" y="2963863"/>
                        <a:ext cx="43180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0" name="Object 17"/>
          <p:cNvGraphicFramePr>
            <a:graphicFrameLocks noChangeAspect="1"/>
          </p:cNvGraphicFramePr>
          <p:nvPr/>
        </p:nvGraphicFramePr>
        <p:xfrm>
          <a:off x="4067175" y="3881438"/>
          <a:ext cx="4302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9" imgW="203200" imgH="228600" progId="Equation.3">
                  <p:embed/>
                </p:oleObj>
              </mc:Choice>
              <mc:Fallback>
                <p:oleObj name="" r:id="rId9" imgW="203200" imgH="2286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67175" y="3881438"/>
                        <a:ext cx="430213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1" name="Object 18"/>
          <p:cNvGraphicFramePr>
            <a:graphicFrameLocks noChangeAspect="1"/>
          </p:cNvGraphicFramePr>
          <p:nvPr/>
        </p:nvGraphicFramePr>
        <p:xfrm>
          <a:off x="1471613" y="4306888"/>
          <a:ext cx="4524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0" imgW="203200" imgH="228600" progId="Equation.3">
                  <p:embed/>
                </p:oleObj>
              </mc:Choice>
              <mc:Fallback>
                <p:oleObj name="" r:id="rId10" imgW="203200" imgH="2286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1613" y="4306888"/>
                        <a:ext cx="452437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2" name="矩形 1"/>
          <p:cNvSpPr/>
          <p:nvPr/>
        </p:nvSpPr>
        <p:spPr>
          <a:xfrm>
            <a:off x="2039938" y="5727700"/>
            <a:ext cx="55800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400" b="1" i="1" baseline="300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mod m=((b mod m)(b mod m)) mod m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17513" y="974725"/>
            <a:ext cx="8537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+mn-cs"/>
              </a:rPr>
              <a:t>Modular Exponentiation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+mn-cs"/>
            </a:endParaRPr>
          </a:p>
        </p:txBody>
      </p:sp>
      <p:sp>
        <p:nvSpPr>
          <p:cNvPr id="34834" name="矩形 1"/>
          <p:cNvSpPr/>
          <p:nvPr/>
        </p:nvSpPr>
        <p:spPr>
          <a:xfrm>
            <a:off x="7524750" y="2989263"/>
            <a:ext cx="985838" cy="46037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power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99188" y="4908550"/>
            <a:ext cx="1973262" cy="708025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503050405090304" pitchFamily="18" charset="0"/>
              </a:rPr>
              <a:t>前一个求模结果的平方再求模</a:t>
            </a:r>
            <a:endParaRPr lang="zh-CN" altLang="en-US" sz="2000" b="1" i="1" u="sng" dirty="0">
              <a:latin typeface="Times New Roman" panose="02020503050405090304" pitchFamily="18" charset="0"/>
            </a:endParaRPr>
          </a:p>
        </p:txBody>
      </p:sp>
      <p:sp>
        <p:nvSpPr>
          <p:cNvPr id="34836" name="矩形 1"/>
          <p:cNvSpPr/>
          <p:nvPr/>
        </p:nvSpPr>
        <p:spPr>
          <a:xfrm>
            <a:off x="6923088" y="930275"/>
            <a:ext cx="1393825" cy="4619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</a:rPr>
              <a:t>b</a:t>
            </a:r>
            <a:r>
              <a:rPr lang="en-US" altLang="zh-CN" sz="2400" b="1" i="1" baseline="30000" dirty="0">
                <a:latin typeface="Times New Roman" panose="02020503050405090304" pitchFamily="18" charset="0"/>
              </a:rPr>
              <a:t>n</a:t>
            </a:r>
            <a:r>
              <a:rPr lang="en-US" altLang="zh-CN" sz="2400" b="1" i="1" dirty="0">
                <a:latin typeface="Times New Roman" panose="02020503050405090304" pitchFamily="18" charset="0"/>
              </a:rPr>
              <a:t> mod m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Modular Exponentiation (</a:t>
            </a:r>
            <a:r>
              <a:rPr lang="zh-CN" altLang="en-US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模指数</a:t>
            </a:r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)</a:t>
            </a:r>
            <a:endParaRPr lang="zh-CN" altLang="en-US" sz="3200" b="0" dirty="0">
              <a:latin typeface="Copperplate Gothic Bold" panose="020E0705020206020404" pitchFamily="34" charset="0"/>
              <a:ea typeface="Times New Roman" panose="02020503050405090304" pitchFamily="18" charset="0"/>
            </a:endParaRP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417513" y="974725"/>
            <a:ext cx="8537575" cy="1376363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12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 Algorithm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503050405090304" pitchFamily="18" charset="0"/>
              </a:rPr>
              <a:t>modularExp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find 3</a:t>
            </a:r>
            <a:r>
              <a:rPr lang="en-US" altLang="zh-CN" sz="2400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644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mod 645.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644=(1010000100)</a:t>
            </a:r>
            <a:r>
              <a:rPr lang="en-US" altLang="zh-CN" sz="2400" baseline="-25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endParaRPr lang="zh-CN" altLang="en-US" sz="2400" baseline="-25000" dirty="0">
              <a:latin typeface="Times New Roman" panose="02020503050405090304" pitchFamily="18" charset="0"/>
              <a:ea typeface="Times New Roman" panose="02020503050405090304" pitchFamily="18" charset="0"/>
            </a:endParaRPr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3584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2925763"/>
            <a:ext cx="8432800" cy="2806700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35848" name="矩形 1"/>
          <p:cNvSpPr/>
          <p:nvPr/>
        </p:nvSpPr>
        <p:spPr>
          <a:xfrm>
            <a:off x="4297363" y="1949450"/>
            <a:ext cx="4378325" cy="83185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Initial x=1</a:t>
            </a:r>
            <a:endParaRPr lang="en-US" altLang="zh-CN" sz="2400" b="1" i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Initial power:</a:t>
            </a:r>
            <a:r>
              <a:rPr lang="zh-CN" altLang="en-US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</a:t>
            </a:r>
            <a:r>
              <a:rPr lang="en-US" altLang="zh-CN" sz="2400" b="1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b="1" i="1" baseline="5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=3</a:t>
            </a:r>
            <a:r>
              <a:rPr lang="en-US" altLang="zh-CN" sz="2400" b="1" i="1" baseline="30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en-US" altLang="zh-CN" sz="2400" b="1" i="1" baseline="5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0</a:t>
            </a:r>
            <a:r>
              <a:rPr lang="en-US" altLang="zh-CN" sz="24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mod 645=3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87900" y="5846763"/>
            <a:ext cx="2424113" cy="46196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400" b="1" i="1" dirty="0">
                <a:latin typeface="Times New Roman" panose="02020503050405090304" pitchFamily="18" charset="0"/>
              </a:rPr>
              <a:t>O((log m)</a:t>
            </a:r>
            <a:r>
              <a:rPr lang="pt-BR" altLang="zh-CN" sz="2400" b="1" i="1" baseline="30000" dirty="0">
                <a:latin typeface="Times New Roman" panose="02020503050405090304" pitchFamily="18" charset="0"/>
              </a:rPr>
              <a:t>2</a:t>
            </a:r>
            <a:r>
              <a:rPr lang="pt-BR" altLang="zh-CN" sz="2400" b="1" i="1" dirty="0">
                <a:latin typeface="Times New Roman" panose="02020503050405090304" pitchFamily="18" charset="0"/>
              </a:rPr>
              <a:t> log n) </a:t>
            </a:r>
            <a:endParaRPr lang="zh-CN" altLang="en-US" sz="2400" b="1" i="1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Modular Exponentiation (</a:t>
            </a:r>
            <a:r>
              <a:rPr lang="zh-CN" altLang="en-US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模指数</a:t>
            </a:r>
            <a:r>
              <a:rPr lang="en-US" altLang="zh-CN" sz="3200" b="0" dirty="0">
                <a:latin typeface="Copperplate Gothic Bold" panose="020E0705020206020404" pitchFamily="34" charset="0"/>
                <a:cs typeface="Times New Roman" panose="02020503050405090304" pitchFamily="18" charset="0"/>
              </a:rPr>
              <a:t>)</a:t>
            </a:r>
            <a:endParaRPr lang="zh-CN" altLang="en-US" sz="3200" b="0" dirty="0">
              <a:latin typeface="Copperplate Gothic Bold" panose="020E0705020206020404" pitchFamily="34" charset="0"/>
              <a:ea typeface="Times New Roman" panose="02020503050405090304" pitchFamily="18" charset="0"/>
            </a:endParaRPr>
          </a:p>
        </p:txBody>
      </p:sp>
      <p:sp>
        <p:nvSpPr>
          <p:cNvPr id="37891" name="内容占位符 2"/>
          <p:cNvSpPr>
            <a:spLocks noGrp="1" noChangeArrowheads="1"/>
          </p:cNvSpPr>
          <p:nvPr>
            <p:ph idx="1"/>
          </p:nvPr>
        </p:nvSpPr>
        <p:spPr>
          <a:xfrm>
            <a:off x="395288" y="1118235"/>
            <a:ext cx="8640763" cy="5407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RSA Encryption application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P,Q are big primes,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N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=PQ,  L</a:t>
            </a: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= (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P</a:t>
            </a: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-1)(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Q</a:t>
            </a: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-1), </a:t>
            </a:r>
            <a:endParaRPr kumimoji="1" lang="pt-BR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find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</a:t>
            </a: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&lt;L and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GCD</a:t>
            </a: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(E, L) = 1,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find </a:t>
            </a: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D</a:t>
            </a: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&lt;L and D*E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sym typeface="Symbol" panose="05050102010706020507" pitchFamily="18" charset="2"/>
              </a:rPr>
              <a:t></a:t>
            </a:r>
            <a:r>
              <a:rPr kumimoji="1" lang="pt-BR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1 mod L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Encryption: 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(plaintext)</a:t>
            </a:r>
            <a:r>
              <a:rPr kumimoji="1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mod N = (ciphertext)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(E and N are public key)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Decryption: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(ciphertext)</a:t>
            </a:r>
            <a:r>
              <a:rPr kumimoji="1" lang="en-US" altLang="zh-CN" sz="20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D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mod N = (plaintext)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(D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is private key)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Exercise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：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Use Algorithm </a:t>
            </a:r>
            <a:r>
              <a:rPr kumimoji="1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</a:rPr>
              <a:t>modularExp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to find 123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101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 mod 101.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101=(1100101)</a:t>
            </a:r>
            <a:r>
              <a:rPr kumimoji="1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rPr>
              <a:t>2</a:t>
            </a:r>
            <a:endParaRPr kumimoji="1" lang="zh-CN" altLang="en-US" sz="2400" b="0" i="0" u="none" strike="noStrike" kern="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+mn-ea"/>
              <a:cs typeface="Times New Roman" panose="02020503050405090304" pitchFamily="18" charset="0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7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>
              <a:buClrTx/>
              <a:buFontTx/>
            </a:pPr>
            <a:fld id="{9A0DB2DC-4C9A-4742-B13C-FB6460FD3503}" type="slidenum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8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u="none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sng" kern="1200" baseline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194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§4.2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 26</a:t>
            </a:r>
            <a:endParaRPr lang="zh-CN" altLang="en-US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82ef0ba6-0deb-4a82-9b39-59cf089f50fa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5214</Words>
  <Application>WPS 文字</Application>
  <PresentationFormat>全屏显示(4:3)</PresentationFormat>
  <Paragraphs>260</Paragraphs>
  <Slides>14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14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汉仪书宋二KW</vt:lpstr>
      <vt:lpstr>Arial Narrow</vt:lpstr>
      <vt:lpstr>Tahoma</vt:lpstr>
      <vt:lpstr>Copperplate Gothic Light</vt:lpstr>
      <vt:lpstr>苹方-简</vt:lpstr>
      <vt:lpstr>Copperplate Gothic Bold</vt:lpstr>
      <vt:lpstr>Symbol</vt:lpstr>
      <vt:lpstr>Kingsoft Sign</vt:lpstr>
      <vt:lpstr>等线</vt:lpstr>
      <vt:lpstr>微软雅黑</vt:lpstr>
      <vt:lpstr>汉仪旗黑</vt:lpstr>
      <vt:lpstr>宋体</vt:lpstr>
      <vt:lpstr>Arial Unicode MS</vt:lpstr>
      <vt:lpstr>汉仪中等线KW</vt:lpstr>
      <vt:lpstr>Blends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§4.2: Integers Representations &amp; Algorithms</vt:lpstr>
      <vt:lpstr>Base-b number systems</vt:lpstr>
      <vt:lpstr>Particular Bases of Interest</vt:lpstr>
      <vt:lpstr>Converting to Base b</vt:lpstr>
      <vt:lpstr>Addition of Binary Numbers</vt:lpstr>
      <vt:lpstr>Multiplication of Binary Numbers</vt:lpstr>
      <vt:lpstr>Binary Division with Remainder</vt:lpstr>
      <vt:lpstr>Modular Exponentiation Problem </vt:lpstr>
      <vt:lpstr>Modular Exponentiation(模指数)</vt:lpstr>
      <vt:lpstr>Modular Exponentiation(模指数)</vt:lpstr>
      <vt:lpstr>Modular Exponentiation (模指数)</vt:lpstr>
      <vt:lpstr>Modular Exponentiation (模指数)</vt:lpstr>
      <vt:lpstr>Modular Exponentiation (模指数)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320</cp:revision>
  <dcterms:created xsi:type="dcterms:W3CDTF">2025-05-05T13:15:54Z</dcterms:created>
  <dcterms:modified xsi:type="dcterms:W3CDTF">2025-05-05T13:15:54Z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41CFBF7547124CFDB3E32102BB44EB38</vt:lpwstr>
  </property>
  <property fmtid="{D5CDD505-2E9C-101B-9397-08002B2CF9AE}" pid="3" name="KSOProductBuildVer">
    <vt:lpwstr>2052-6.9.0.8865</vt:lpwstr>
  </property>
</Properties>
</file>