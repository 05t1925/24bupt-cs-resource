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av" ContentType="audio/x-wav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0" r:id="rId3"/>
  </p:sldMasterIdLst>
  <p:notesMasterIdLst>
    <p:notesMasterId r:id="rId32"/>
  </p:notesMasterIdLst>
  <p:handoutMasterIdLst>
    <p:handoutMasterId r:id="rId33"/>
  </p:handoutMasterIdLst>
  <p:sldIdLst>
    <p:sldId id="256" r:id="rId4"/>
    <p:sldId id="310" r:id="rId5"/>
    <p:sldId id="288" r:id="rId6"/>
    <p:sldId id="289" r:id="rId7"/>
    <p:sldId id="290" r:id="rId8"/>
    <p:sldId id="291" r:id="rId9"/>
    <p:sldId id="423" r:id="rId10"/>
    <p:sldId id="315" r:id="rId11"/>
    <p:sldId id="293" r:id="rId12"/>
    <p:sldId id="312" r:id="rId13"/>
    <p:sldId id="313" r:id="rId14"/>
    <p:sldId id="314" r:id="rId15"/>
    <p:sldId id="294" r:id="rId16"/>
    <p:sldId id="295" r:id="rId17"/>
    <p:sldId id="316" r:id="rId18"/>
    <p:sldId id="331" r:id="rId19"/>
    <p:sldId id="405" r:id="rId20"/>
    <p:sldId id="412" r:id="rId21"/>
    <p:sldId id="317" r:id="rId22"/>
    <p:sldId id="319" r:id="rId23"/>
    <p:sldId id="320" r:id="rId24"/>
    <p:sldId id="321" r:id="rId25"/>
    <p:sldId id="322" r:id="rId26"/>
    <p:sldId id="302" r:id="rId27"/>
    <p:sldId id="304" r:id="rId28"/>
    <p:sldId id="323" r:id="rId29"/>
    <p:sldId id="309" r:id="rId30"/>
    <p:sldId id="347" r:id="rId31"/>
  </p:sldIdLst>
  <p:sldSz cx="9144000" cy="6858000" type="screen4x3"/>
  <p:notesSz cx="6858000" cy="9144000"/>
  <p:custDataLst>
    <p:tags r:id="rId37"/>
  </p:custData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40" userDrawn="1">
          <p15:clr>
            <a:srgbClr val="A4A3A4"/>
          </p15:clr>
        </p15:guide>
        <p15:guide id="2" pos="48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clrMru>
    <a:srgbClr val="6DE202"/>
    <a:srgbClr val="03E118"/>
    <a:srgbClr val="FF3300"/>
    <a:srgbClr val="003399"/>
    <a:srgbClr val="336699"/>
    <a:srgbClr val="008080"/>
    <a:srgbClr val="009999"/>
    <a:srgbClr val="FF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88614"/>
  </p:normalViewPr>
  <p:slideViewPr>
    <p:cSldViewPr showGuides="1">
      <p:cViewPr varScale="1">
        <p:scale>
          <a:sx n="84" d="100"/>
          <a:sy n="84" d="100"/>
        </p:scale>
        <p:origin x="990" y="24"/>
      </p:cViewPr>
      <p:guideLst>
        <p:guide orient="horz" pos="1440"/>
        <p:guide pos="48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1388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7" Type="http://schemas.openxmlformats.org/officeDocument/2006/relationships/tags" Target="tags/tag63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handoutMaster" Target="handoutMasters/handoutMaster1.xml"/><Relationship Id="rId32" Type="http://schemas.openxmlformats.org/officeDocument/2006/relationships/notesMaster" Target="notesMasters/notesMaster1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kumimoji="0"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0" sz="12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kumimoji="0"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2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23EBDD0-6DCF-4C6C-8CBF-FF4076930278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kumimoji="0"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0" sz="12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Click to edit Master text styles</a:t>
            </a: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Second level</a:t>
            </a: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Third level</a:t>
            </a: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Fourth level</a:t>
            </a: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Fifth level</a:t>
            </a: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kumimoji="0"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2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7B5B6E1-B1AA-4BF3-BCD6-C8D3A23B3A25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379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3379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17" descr="attach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52600" y="533400"/>
            <a:ext cx="5905500" cy="59055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051" name="Group 2"/>
          <p:cNvGrpSpPr/>
          <p:nvPr/>
        </p:nvGrpSpPr>
        <p:grpSpPr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2058" name="Group 3"/>
            <p:cNvGrpSpPr/>
            <p:nvPr/>
          </p:nvGrpSpPr>
          <p:grpSpPr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24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1" u="sng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5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1" u="sng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2059" name="Group 6"/>
            <p:cNvGrpSpPr/>
            <p:nvPr/>
          </p:nvGrpSpPr>
          <p:grpSpPr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22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1" u="sng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1" u="sng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9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1" u="sng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1" u="sng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1" u="sng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6" name="Text Box 18"/>
          <p:cNvSpPr txBox="1">
            <a:spLocks noChangeArrowheads="1"/>
          </p:cNvSpPr>
          <p:nvPr/>
        </p:nvSpPr>
        <p:spPr bwMode="auto">
          <a:xfrm>
            <a:off x="2509521" y="4581525"/>
            <a:ext cx="5694680" cy="1640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Copperplate Gothic Light" panose="020E0507020206020404" pitchFamily="34" charset="0"/>
                <a:ea typeface="宋体" panose="02010600030101010101" pitchFamily="2" charset="-122"/>
                <a:cs typeface="+mn-cs"/>
              </a:rPr>
              <a:t>Yang Juan</a:t>
            </a: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Copperplate Gothic Light" panose="020E05070202060204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yangjuan@bupt.edu.cn</a:t>
            </a:r>
            <a:endParaRPr kumimoji="1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1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opperplate Gothic Light" panose="020E0507020206020404" pitchFamily="34" charset="0"/>
                <a:ea typeface="宋体" panose="02010600030101010101" pitchFamily="2" charset="-122"/>
                <a:cs typeface="+mn-cs"/>
              </a:rPr>
              <a:t>School  of Computer Science</a:t>
            </a:r>
            <a:endParaRPr kumimoji="1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Copperplate Gothic Light" panose="020E05070202060204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opperplate Gothic Light" panose="020E0507020206020404" pitchFamily="34" charset="0"/>
                <a:ea typeface="宋体" panose="02010600030101010101" pitchFamily="2" charset="-122"/>
                <a:cs typeface="+mn-cs"/>
              </a:rPr>
              <a:t>Beijing University of Posts &amp; Telecommunications</a:t>
            </a:r>
            <a:endParaRPr kumimoji="1" lang="zh-CN" alt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1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>
                <a:latin typeface="Copperplate Gothic Bold" panose="020E0705020206020404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5361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27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 sz="1400" b="0" i="0">
                <a:solidFill>
                  <a:schemeClr val="bg2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06AF4C0-1CFB-4C35-9EB9-60902A7E53A9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lnSpc>
                <a:spcPct val="100000"/>
              </a:lnSpc>
              <a:defRPr kumimoji="0" sz="1400" b="0" i="0">
                <a:solidFill>
                  <a:schemeClr val="bg2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 sz="1400" b="0" i="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8D7627A-A180-49F4-9CC5-247636CBB803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D3CB7C1-CDEE-4A24-9920-67D494C4AAAF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63F8CF-16F0-44F2-90C4-2AF3DD8F4D90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D3CB7C1-CDEE-4A24-9920-67D494C4AAAF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63F8CF-16F0-44F2-90C4-2AF3DD8F4D90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D3CB7C1-CDEE-4A24-9920-67D494C4AAAF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63F8CF-16F0-44F2-90C4-2AF3DD8F4D90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D3CB7C1-CDEE-4A24-9920-67D494C4AAAF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63F8CF-16F0-44F2-90C4-2AF3DD8F4D90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D3CB7C1-CDEE-4A24-9920-67D494C4AAAF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63F8CF-16F0-44F2-90C4-2AF3DD8F4D90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D3CB7C1-CDEE-4A24-9920-67D494C4AAAF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63F8CF-16F0-44F2-90C4-2AF3DD8F4D90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D3CB7C1-CDEE-4A24-9920-67D494C4AAAF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63F8CF-16F0-44F2-90C4-2AF3DD8F4D90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1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D3CB7C1-CDEE-4A24-9920-67D494C4AAAF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63F8CF-16F0-44F2-90C4-2AF3DD8F4D90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D3CB7C1-CDEE-4A24-9920-67D494C4AAAF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63F8CF-16F0-44F2-90C4-2AF3DD8F4D90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D3CB7C1-CDEE-4A24-9920-67D494C4AAAF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63F8CF-16F0-44F2-90C4-2AF3DD8F4D90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899100" y="914400"/>
            <a:ext cx="73494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45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899100" y="3560400"/>
            <a:ext cx="73494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800" spc="2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56300" y="1490400"/>
            <a:ext cx="82269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493100" y="3848400"/>
            <a:ext cx="58266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33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493100" y="4615200"/>
            <a:ext cx="58266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456300" y="1501200"/>
            <a:ext cx="38826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808700" y="1501200"/>
            <a:ext cx="38826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456300" y="1429200"/>
            <a:ext cx="40068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56300" y="1854000"/>
            <a:ext cx="40068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4676813" y="1421729"/>
            <a:ext cx="40068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76813" y="1854000"/>
            <a:ext cx="40068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456300" y="1555200"/>
            <a:ext cx="3924808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4762800" y="1555200"/>
            <a:ext cx="39204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7676100" y="914400"/>
            <a:ext cx="783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1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85800" y="914400"/>
            <a:ext cx="6876900" cy="5029200"/>
          </a:xfrm>
        </p:spPr>
        <p:txBody>
          <a:bodyPr vert="eaVert" lIns="46800" tIns="46800" rIns="46800" bIns="46800"/>
          <a:lstStyle>
            <a:lvl1pPr marL="171450" indent="-171450">
              <a:spcAft>
                <a:spcPts val="1000"/>
              </a:spcAft>
              <a:defRPr spc="300"/>
            </a:lvl1pPr>
            <a:lvl2pPr marL="514350" indent="-171450">
              <a:defRPr spc="300"/>
            </a:lvl2pPr>
            <a:lvl3pPr marL="857250" indent="-171450">
              <a:defRPr spc="300"/>
            </a:lvl3pPr>
            <a:lvl4pPr marL="1200150" indent="-171450">
              <a:defRPr spc="300"/>
            </a:lvl4pPr>
            <a:lvl5pPr marL="1543050" indent="-17145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456300" y="774000"/>
            <a:ext cx="82296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899100" y="2484000"/>
            <a:ext cx="73494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5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899100" y="3560400"/>
            <a:ext cx="73494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8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18" descr="attach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752600" y="533400"/>
            <a:ext cx="5905500" cy="5905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2592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0" y="6400800"/>
            <a:ext cx="1524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0" sz="1000" u="none">
                <a:solidFill>
                  <a:srgbClr val="009999"/>
                </a:solidFill>
                <a:latin typeface="Arial Narrow" panose="020B060602020203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D3CB7C1-CDEE-4A24-9920-67D494C4AAAF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Rectangle 2"/>
          <p:cNvSpPr>
            <a:spLocks noChangeArrowheads="1"/>
          </p:cNvSpPr>
          <p:nvPr/>
        </p:nvSpPr>
        <p:spPr bwMode="ltGray">
          <a:xfrm>
            <a:off x="417513" y="52451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3"/>
          <p:cNvSpPr>
            <a:spLocks noChangeArrowheads="1"/>
          </p:cNvSpPr>
          <p:nvPr/>
        </p:nvSpPr>
        <p:spPr bwMode="ltGray">
          <a:xfrm>
            <a:off x="800100" y="52451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4"/>
          <p:cNvSpPr>
            <a:spLocks noChangeArrowheads="1"/>
          </p:cNvSpPr>
          <p:nvPr/>
        </p:nvSpPr>
        <p:spPr bwMode="ltGray">
          <a:xfrm>
            <a:off x="541338" y="94678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Rectangle 5"/>
          <p:cNvSpPr>
            <a:spLocks noChangeArrowheads="1"/>
          </p:cNvSpPr>
          <p:nvPr/>
        </p:nvSpPr>
        <p:spPr bwMode="ltGray">
          <a:xfrm>
            <a:off x="911225" y="94678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Rectangle 6"/>
          <p:cNvSpPr>
            <a:spLocks noChangeArrowheads="1"/>
          </p:cNvSpPr>
          <p:nvPr/>
        </p:nvSpPr>
        <p:spPr bwMode="ltGray">
          <a:xfrm>
            <a:off x="127000" y="87376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3" name="Rectangle 7"/>
          <p:cNvSpPr>
            <a:spLocks noChangeArrowheads="1"/>
          </p:cNvSpPr>
          <p:nvPr/>
        </p:nvSpPr>
        <p:spPr bwMode="gray">
          <a:xfrm>
            <a:off x="762000" y="41656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4" name="Rectangle 8"/>
          <p:cNvSpPr>
            <a:spLocks noChangeArrowheads="1"/>
          </p:cNvSpPr>
          <p:nvPr/>
        </p:nvSpPr>
        <p:spPr bwMode="gray">
          <a:xfrm>
            <a:off x="442913" y="120713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5" name="Rectangle 9"/>
          <p:cNvSpPr>
            <a:spLocks noGrp="1"/>
          </p:cNvSpPr>
          <p:nvPr>
            <p:ph type="title"/>
          </p:nvPr>
        </p:nvSpPr>
        <p:spPr>
          <a:xfrm>
            <a:off x="1018540" y="43815"/>
            <a:ext cx="7925435" cy="116332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36" name="Rectangle 10"/>
          <p:cNvSpPr>
            <a:spLocks noGrp="1"/>
          </p:cNvSpPr>
          <p:nvPr>
            <p:ph type="body" idx="1"/>
          </p:nvPr>
        </p:nvSpPr>
        <p:spPr>
          <a:xfrm>
            <a:off x="824865" y="1219835"/>
            <a:ext cx="8130540" cy="491299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52590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400800"/>
            <a:ext cx="1447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kumimoji="0" sz="1000" u="none">
                <a:solidFill>
                  <a:srgbClr val="009999"/>
                </a:solidFill>
                <a:latin typeface="Arial Narrow" panose="020B060602020203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63F8CF-16F0-44F2-90C4-2AF3DD8F4D90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2591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47800" y="6400800"/>
            <a:ext cx="62928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lnSpc>
                <a:spcPct val="110000"/>
              </a:lnSpc>
              <a:defRPr sz="1200" u="none" dirty="0">
                <a:solidFill>
                  <a:srgbClr val="009999"/>
                </a:solidFill>
                <a:latin typeface="Arial Narrow" panose="020B060602020203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456300" y="608400"/>
            <a:ext cx="82269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456300" y="1490400"/>
            <a:ext cx="82269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459000" y="6314400"/>
            <a:ext cx="2025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3087000" y="6314400"/>
            <a:ext cx="297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6658200" y="6314400"/>
            <a:ext cx="2025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7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3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207135" algn="l"/>
          <a:tab pos="1207135" algn="l"/>
          <a:tab pos="1207135" algn="l"/>
          <a:tab pos="1207135" algn="l"/>
        </a:tabLst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2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wmf"/><Relationship Id="rId1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w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6.wmf"/><Relationship Id="rId1" Type="http://schemas.openxmlformats.org/officeDocument/2006/relationships/oleObject" Target="../embeddings/oleObject2.bin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/>
          </p:cNvSpPr>
          <p:nvPr>
            <p:ph type="ctrTitle"/>
          </p:nvPr>
        </p:nvSpPr>
        <p:spPr>
          <a:xfrm>
            <a:off x="1214438" y="1998663"/>
            <a:ext cx="7772400" cy="1143000"/>
          </a:xfrm>
        </p:spPr>
        <p:txBody>
          <a:bodyPr vert="horz" wrap="square" lIns="91440" tIns="45720" rIns="91440" bIns="45720" anchor="b" anchorCtr="0"/>
          <a:p>
            <a:pPr eaLnBrk="1" hangingPunct="1">
              <a:buClrTx/>
              <a:buSzTx/>
              <a:buFontTx/>
            </a:pPr>
            <a:r>
              <a:rPr kumimoji="1" lang="en-US" altLang="zh-CN" sz="4000" dirty="0">
                <a:solidFill>
                  <a:schemeClr val="folHlink"/>
                </a:solidFill>
                <a:latin typeface="+mj-lt"/>
                <a:ea typeface="+mj-ea"/>
                <a:cs typeface="+mj-cs"/>
              </a:rPr>
              <a:t>Growth of Functions</a:t>
            </a:r>
            <a:br>
              <a:rPr kumimoji="1" lang="en-US" altLang="zh-CN" sz="4000" dirty="0">
                <a:solidFill>
                  <a:schemeClr val="folHlink"/>
                </a:solidFill>
                <a:latin typeface="+mj-lt"/>
                <a:ea typeface="+mj-ea"/>
                <a:cs typeface="+mj-cs"/>
              </a:rPr>
            </a:br>
            <a:r>
              <a:rPr kumimoji="1" lang="en-US" altLang="zh-CN" sz="4000" dirty="0">
                <a:solidFill>
                  <a:schemeClr val="folHlink"/>
                </a:solidFill>
                <a:latin typeface="+mj-lt"/>
                <a:ea typeface="+mj-ea"/>
                <a:cs typeface="+mj-cs"/>
              </a:rPr>
              <a:t>(</a:t>
            </a:r>
            <a:r>
              <a:rPr kumimoji="1" lang="zh-CN" altLang="en-US" sz="4000" dirty="0">
                <a:latin typeface="+mj-lt"/>
                <a:ea typeface="+mj-ea"/>
                <a:cs typeface="+mj-cs"/>
              </a:rPr>
              <a:t>函数增长</a:t>
            </a:r>
            <a:r>
              <a:rPr kumimoji="1" lang="en-US" altLang="zh-CN" sz="4000" dirty="0">
                <a:solidFill>
                  <a:schemeClr val="folHlink"/>
                </a:solidFill>
                <a:latin typeface="+mj-lt"/>
                <a:ea typeface="+mj-ea"/>
                <a:cs typeface="+mj-cs"/>
              </a:rPr>
              <a:t>)</a:t>
            </a:r>
            <a:endParaRPr kumimoji="1" lang="zh-CN" altLang="en-US" sz="4000" dirty="0">
              <a:solidFill>
                <a:schemeClr val="folHlink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123" name="Rectangle 3"/>
          <p:cNvSpPr>
            <a:spLocks noGrp="1"/>
          </p:cNvSpPr>
          <p:nvPr>
            <p:ph type="subTitle"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SzPct val="60000"/>
            </a:pPr>
            <a:endParaRPr kumimoji="1" lang="zh-CN" altLang="en-US" dirty="0">
              <a:latin typeface="Georgia" panose="02040502050405020303" pitchFamily="18" charset="0"/>
              <a:ea typeface="+mn-ea"/>
              <a:cs typeface="楷体_GB231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zh-CN" altLang="en-US" sz="1000" b="1" i="1" dirty="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6147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zh-CN" altLang="en-US" sz="1000" b="1" i="1" dirty="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6148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 b="1" i="1" dirty="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614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The Growth of Functions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15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800" dirty="0"/>
              <a:t>We quantify the concept that </a:t>
            </a:r>
            <a:r>
              <a:rPr lang="en-US" altLang="zh-CN" sz="2800" i="1" dirty="0">
                <a:solidFill>
                  <a:schemeClr val="hlink"/>
                </a:solidFill>
              </a:rPr>
              <a:t>g</a:t>
            </a:r>
            <a:r>
              <a:rPr lang="en-US" altLang="zh-CN" sz="2800" dirty="0">
                <a:solidFill>
                  <a:schemeClr val="hlink"/>
                </a:solidFill>
              </a:rPr>
              <a:t> </a:t>
            </a:r>
            <a:r>
              <a:rPr lang="en-US" altLang="zh-CN" sz="2800" i="1" dirty="0">
                <a:solidFill>
                  <a:schemeClr val="hlink"/>
                </a:solidFill>
              </a:rPr>
              <a:t>grows at least as fast as f</a:t>
            </a:r>
            <a:r>
              <a:rPr lang="en-US" altLang="zh-CN" sz="2800" dirty="0">
                <a:solidFill>
                  <a:schemeClr val="hlink"/>
                </a:solidFill>
              </a:rPr>
              <a:t>.</a:t>
            </a:r>
            <a:endParaRPr lang="en-US" altLang="zh-CN" sz="2800" dirty="0">
              <a:solidFill>
                <a:schemeClr val="hlink"/>
              </a:solidFill>
            </a:endParaRPr>
          </a:p>
          <a:p>
            <a:pPr eaLnBrk="1" hangingPunct="1"/>
            <a:r>
              <a:rPr lang="en-US" altLang="zh-CN" sz="2800" dirty="0"/>
              <a:t>What really matters in comparing the complexity of algorithms?</a:t>
            </a:r>
            <a:endParaRPr lang="en-US" altLang="zh-CN" sz="2800" dirty="0"/>
          </a:p>
          <a:p>
            <a:pPr lvl="1" eaLnBrk="1" hangingPunct="1"/>
            <a:r>
              <a:rPr lang="en-US" altLang="zh-CN" sz="2400" dirty="0"/>
              <a:t>We only care about the behavior for </a:t>
            </a:r>
            <a:r>
              <a:rPr lang="en-US" altLang="zh-CN" sz="2400" b="1" i="1" dirty="0">
                <a:solidFill>
                  <a:schemeClr val="hlink"/>
                </a:solidFill>
              </a:rPr>
              <a:t>large</a:t>
            </a:r>
            <a:r>
              <a:rPr lang="en-US" altLang="zh-CN" sz="2400" b="1" i="1" dirty="0"/>
              <a:t> </a:t>
            </a:r>
            <a:r>
              <a:rPr lang="en-US" altLang="zh-CN" sz="2400" dirty="0"/>
              <a:t>problems.</a:t>
            </a:r>
            <a:endParaRPr lang="en-US" altLang="zh-CN" sz="2400" dirty="0"/>
          </a:p>
          <a:p>
            <a:pPr lvl="1" eaLnBrk="1" hangingPunct="1"/>
            <a:r>
              <a:rPr lang="en-US" altLang="zh-CN" sz="2400" dirty="0"/>
              <a:t>Even bad algorithms can be used to solve small problems.</a:t>
            </a:r>
            <a:endParaRPr lang="en-US" altLang="zh-CN" sz="2400" dirty="0"/>
          </a:p>
          <a:p>
            <a:pPr lvl="1" eaLnBrk="1" hangingPunct="1"/>
            <a:r>
              <a:rPr lang="en-US" altLang="zh-CN" sz="2400" dirty="0"/>
              <a:t>Ignore implementation details such as loop counter incrementation, etc. We can straight-line any loop.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zh-CN" altLang="en-US" sz="1000" b="1" i="1" dirty="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7171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zh-CN" altLang="en-US" sz="1000" b="1" i="1" dirty="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7172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 b="1" i="1" dirty="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717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Orders of Growth (§3.2)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174" name="Rectangle 3"/>
          <p:cNvSpPr>
            <a:spLocks noGrp="1"/>
          </p:cNvSpPr>
          <p:nvPr>
            <p:ph idx="1"/>
          </p:nvPr>
        </p:nvSpPr>
        <p:spPr>
          <a:xfrm>
            <a:off x="827405" y="1295400"/>
            <a:ext cx="7772400" cy="42672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solidFill>
                  <a:srgbClr val="3333FF"/>
                </a:solidFill>
                <a:ea typeface="宋体" panose="02010600030101010101" pitchFamily="2" charset="-122"/>
              </a:rPr>
              <a:t>For functions over numbers, we often need to know a rough measure of </a:t>
            </a:r>
            <a:r>
              <a:rPr lang="en-US" altLang="zh-CN" i="1" dirty="0">
                <a:solidFill>
                  <a:srgbClr val="3333FF"/>
                </a:solidFill>
                <a:ea typeface="宋体" panose="02010600030101010101" pitchFamily="2" charset="-122"/>
              </a:rPr>
              <a:t>how fast a function grows</a:t>
            </a:r>
            <a:r>
              <a:rPr lang="en-US" altLang="zh-CN" dirty="0">
                <a:solidFill>
                  <a:srgbClr val="3333FF"/>
                </a:solidFill>
                <a:ea typeface="宋体" panose="02010600030101010101" pitchFamily="2" charset="-122"/>
              </a:rPr>
              <a:t>.</a:t>
            </a:r>
            <a:endParaRPr lang="en-US" altLang="zh-CN" dirty="0">
              <a:solidFill>
                <a:srgbClr val="3333FF"/>
              </a:solidFill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If 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f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x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) is 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faster growing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than 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g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x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), then 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f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x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) always eventually becomes larger than 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g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x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) 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in the limit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 (for </a:t>
            </a:r>
            <a:r>
              <a:rPr lang="en-US" altLang="zh-CN" u="sng" dirty="0">
                <a:solidFill>
                  <a:srgbClr val="FF0000"/>
                </a:solidFill>
                <a:ea typeface="宋体" panose="02010600030101010101" pitchFamily="2" charset="-122"/>
              </a:rPr>
              <a:t>large enough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 values of 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x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).</a:t>
            </a:r>
            <a:endParaRPr lang="en-US" altLang="zh-CN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solidFill>
                  <a:srgbClr val="006600"/>
                </a:solidFill>
                <a:ea typeface="宋体" panose="02010600030101010101" pitchFamily="2" charset="-122"/>
              </a:rPr>
              <a:t>Useful in engineering for showing that one design </a:t>
            </a:r>
            <a:r>
              <a:rPr lang="en-US" altLang="zh-CN" i="1" dirty="0">
                <a:solidFill>
                  <a:srgbClr val="006600"/>
                </a:solidFill>
                <a:ea typeface="宋体" panose="02010600030101010101" pitchFamily="2" charset="-122"/>
              </a:rPr>
              <a:t>scales </a:t>
            </a:r>
            <a:r>
              <a:rPr lang="en-US" altLang="zh-CN" dirty="0">
                <a:solidFill>
                  <a:srgbClr val="006600"/>
                </a:solidFill>
                <a:ea typeface="宋体" panose="02010600030101010101" pitchFamily="2" charset="-122"/>
              </a:rPr>
              <a:t>better or worse than another.</a:t>
            </a:r>
            <a:endParaRPr lang="en-US" altLang="zh-CN" dirty="0">
              <a:solidFill>
                <a:srgbClr val="0066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zh-CN" altLang="en-US" sz="1000" b="1" i="1" dirty="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8195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zh-CN" altLang="en-US" sz="1000" b="1" i="1" dirty="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8196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 b="1" i="1" dirty="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819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Orders of Growth - Motivation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8198" name="Rectangle 3"/>
          <p:cNvSpPr>
            <a:spLocks noGrp="1"/>
          </p:cNvSpPr>
          <p:nvPr>
            <p:ph idx="1"/>
          </p:nvPr>
        </p:nvSpPr>
        <p:spPr>
          <a:xfrm>
            <a:off x="685800" y="1335405"/>
            <a:ext cx="7772400" cy="42672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Suppose you are designing a web site to process user data (</a:t>
            </a:r>
            <a:r>
              <a:rPr lang="en-US" altLang="zh-CN" i="1" dirty="0">
                <a:ea typeface="宋体" panose="02010600030101010101" pitchFamily="2" charset="-122"/>
              </a:rPr>
              <a:t>e.g.</a:t>
            </a:r>
            <a:r>
              <a:rPr lang="en-US" altLang="zh-CN" dirty="0">
                <a:ea typeface="宋体" panose="02010600030101010101" pitchFamily="2" charset="-122"/>
              </a:rPr>
              <a:t>, financial records).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Suppose database program A takes 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f</a:t>
            </a:r>
            <a:r>
              <a:rPr lang="en-US" altLang="zh-CN" baseline="-25000" dirty="0">
                <a:solidFill>
                  <a:srgbClr val="FF0000"/>
                </a:solidFill>
                <a:ea typeface="宋体" panose="02010600030101010101" pitchFamily="2" charset="-122"/>
              </a:rPr>
              <a:t>A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n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)=30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n+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8 microseconds to process any 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n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 records, while program B takes 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f</a:t>
            </a:r>
            <a:r>
              <a:rPr lang="en-US" altLang="zh-CN" baseline="-25000" dirty="0">
                <a:solidFill>
                  <a:srgbClr val="FF0000"/>
                </a:solidFill>
                <a:ea typeface="宋体" panose="02010600030101010101" pitchFamily="2" charset="-122"/>
              </a:rPr>
              <a:t>B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n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)=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n</a:t>
            </a:r>
            <a:r>
              <a:rPr lang="en-US" altLang="zh-CN" baseline="30000" dirty="0">
                <a:solidFill>
                  <a:srgbClr val="FF0000"/>
                </a:solidFill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+1 microseconds to process the 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n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 records.</a:t>
            </a:r>
            <a:endParaRPr lang="en-US" altLang="zh-CN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solidFill>
                  <a:srgbClr val="006600"/>
                </a:solidFill>
                <a:ea typeface="宋体" panose="02010600030101010101" pitchFamily="2" charset="-122"/>
              </a:rPr>
              <a:t>Which program do you choose, knowing you’ll want to support millions of users?</a:t>
            </a:r>
            <a:endParaRPr lang="en-US" altLang="zh-CN" dirty="0">
              <a:solidFill>
                <a:srgbClr val="006600"/>
              </a:solidFill>
              <a:ea typeface="宋体" panose="02010600030101010101" pitchFamily="2" charset="-122"/>
            </a:endParaRPr>
          </a:p>
        </p:txBody>
      </p:sp>
      <p:sp>
        <p:nvSpPr>
          <p:cNvPr id="8199" name="WordArt 4"/>
          <p:cNvSpPr>
            <a:spLocks noTextEdit="1"/>
          </p:cNvSpPr>
          <p:nvPr/>
        </p:nvSpPr>
        <p:spPr>
          <a:xfrm>
            <a:off x="8077200" y="4688205"/>
            <a:ext cx="1044575" cy="1331913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13944"/>
              </a:avLst>
            </a:prstTxWarp>
            <a:normAutofit/>
          </a:bodyPr>
          <a:p>
            <a:pPr algn="ctr"/>
            <a:r>
              <a:rPr lang="zh-CN" altLang="en-US" sz="3600">
                <a:ln w="9525" cap="flat" cmpd="sng">
                  <a:solidFill>
                    <a:srgbClr val="CC99FF"/>
                  </a:solidFill>
                  <a:prstDash val="solid"/>
                  <a:headEnd type="none" w="med" len="med"/>
                  <a:tailEnd type="none" w="med" len="med"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  <a:tileRect/>
                </a:gradFill>
                <a:effectLst>
                  <a:outerShdw dist="53882" dir="2699999" algn="ctr" rotWithShape="0">
                    <a:srgbClr val="9999FF"/>
                  </a:outerShdw>
                </a:effectLst>
                <a:latin typeface="Impact" panose="020B0806030902050204" charset="0"/>
                <a:ea typeface="Impact" panose="020B0806030902050204" charset="0"/>
              </a:rPr>
              <a:t>A</a:t>
            </a:r>
            <a:endParaRPr lang="zh-CN" altLang="en-US" sz="3600">
              <a:ln w="9525" cap="flat" cmpd="sng">
                <a:solidFill>
                  <a:srgbClr val="CC99FF"/>
                </a:solidFill>
                <a:prstDash val="solid"/>
                <a:headEnd type="none" w="med" len="med"/>
                <a:tailEnd type="none" w="med" len="med"/>
              </a:ln>
              <a:gradFill rotWithShape="1">
                <a:gsLst>
                  <a:gs pos="0">
                    <a:srgbClr val="6600CC"/>
                  </a:gs>
                  <a:gs pos="100000">
                    <a:srgbClr val="CC00CC"/>
                  </a:gs>
                </a:gsLst>
                <a:lin ang="5400000" scaled="1"/>
                <a:tileRect/>
              </a:gradFill>
              <a:effectLst>
                <a:outerShdw dist="53882" dir="2699999" algn="ctr" rotWithShape="0">
                  <a:srgbClr val="9999FF"/>
                </a:outerShdw>
              </a:effectLst>
              <a:latin typeface="Impact" panose="020B0806030902050204" charset="0"/>
              <a:ea typeface="Impact" panose="020B080603090205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1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1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zh-CN" altLang="en-US" sz="1000" b="1" i="1" dirty="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9219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zh-CN" altLang="en-US" sz="1000" b="1" i="1" dirty="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9220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 b="1" i="1" dirty="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922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Visualizing Orders of Growth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9222" name="Rectangle 3"/>
          <p:cNvSpPr>
            <a:spLocks noGrp="1"/>
          </p:cNvSpPr>
          <p:nvPr>
            <p:ph idx="1"/>
          </p:nvPr>
        </p:nvSpPr>
        <p:spPr>
          <a:xfrm>
            <a:off x="684213" y="1629093"/>
            <a:ext cx="7772400" cy="41148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On a graph, as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you go to the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right, the faster-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growing func-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tion always 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eventually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becomes the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larger one... 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9223" name="Line 4"/>
          <p:cNvSpPr/>
          <p:nvPr/>
        </p:nvSpPr>
        <p:spPr>
          <a:xfrm flipV="1">
            <a:off x="4267200" y="1936115"/>
            <a:ext cx="0" cy="30480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24" name="Line 5"/>
          <p:cNvSpPr/>
          <p:nvPr/>
        </p:nvSpPr>
        <p:spPr>
          <a:xfrm>
            <a:off x="4267200" y="4984115"/>
            <a:ext cx="29718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25" name="Line 6"/>
          <p:cNvSpPr/>
          <p:nvPr/>
        </p:nvSpPr>
        <p:spPr>
          <a:xfrm flipV="1">
            <a:off x="4267200" y="2088515"/>
            <a:ext cx="2895600" cy="24384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8087" name="Freeform 7"/>
          <p:cNvSpPr/>
          <p:nvPr/>
        </p:nvSpPr>
        <p:spPr>
          <a:xfrm>
            <a:off x="4267200" y="1859915"/>
            <a:ext cx="1752600" cy="3048000"/>
          </a:xfrm>
          <a:custGeom>
            <a:avLst/>
            <a:gdLst>
              <a:gd name="txL" fmla="*/ 0 w 1104"/>
              <a:gd name="txT" fmla="*/ 0 h 1920"/>
              <a:gd name="txR" fmla="*/ 1104 w 1104"/>
              <a:gd name="txB" fmla="*/ 1920 h 1920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0"/>
              </a:cxn>
            </a:cxnLst>
            <a:rect l="txL" t="txT" r="txR" b="txB"/>
            <a:pathLst>
              <a:path w="1104" h="1920">
                <a:moveTo>
                  <a:pt x="0" y="1920"/>
                </a:moveTo>
                <a:cubicBezTo>
                  <a:pt x="244" y="1840"/>
                  <a:pt x="488" y="1760"/>
                  <a:pt x="672" y="1440"/>
                </a:cubicBezTo>
                <a:cubicBezTo>
                  <a:pt x="856" y="1120"/>
                  <a:pt x="980" y="560"/>
                  <a:pt x="1104" y="0"/>
                </a:cubicBezTo>
              </a:path>
            </a:pathLst>
          </a:custGeom>
          <a:noFill/>
          <a:ln w="38100" cap="flat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9227" name="Text Box 8"/>
          <p:cNvSpPr txBox="1"/>
          <p:nvPr/>
        </p:nvSpPr>
        <p:spPr>
          <a:xfrm>
            <a:off x="6553200" y="2393315"/>
            <a:ext cx="1722438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folHlink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folHlink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folHlink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folHlink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folHlink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 dirty="0">
                <a:solidFill>
                  <a:schemeClr val="tx1"/>
                </a:solidFill>
                <a:ea typeface="宋体" panose="02010600030101010101" pitchFamily="2" charset="-122"/>
              </a:rPr>
              <a:t>f</a:t>
            </a:r>
            <a:r>
              <a:rPr lang="en-US" altLang="zh-CN" sz="2400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400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400" i="1" dirty="0">
                <a:solidFill>
                  <a:schemeClr val="tx1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400" dirty="0">
                <a:solidFill>
                  <a:schemeClr val="tx1"/>
                </a:solidFill>
                <a:ea typeface="宋体" panose="02010600030101010101" pitchFamily="2" charset="-122"/>
              </a:rPr>
              <a:t>)=30</a:t>
            </a:r>
            <a:r>
              <a:rPr lang="en-US" altLang="zh-CN" sz="2400" i="1" dirty="0">
                <a:solidFill>
                  <a:schemeClr val="tx1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400" dirty="0">
                <a:solidFill>
                  <a:schemeClr val="tx1"/>
                </a:solidFill>
                <a:ea typeface="宋体" panose="02010600030101010101" pitchFamily="2" charset="-122"/>
              </a:rPr>
              <a:t>+8</a:t>
            </a:r>
            <a:endParaRPr lang="en-US" altLang="zh-CN" sz="2400" i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9228" name="Text Box 9"/>
          <p:cNvSpPr txBox="1"/>
          <p:nvPr/>
        </p:nvSpPr>
        <p:spPr>
          <a:xfrm>
            <a:off x="4876800" y="4984115"/>
            <a:ext cx="20574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folHlink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folHlink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folHlink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folHlink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folHlink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ea typeface="宋体" panose="02010600030101010101" pitchFamily="2" charset="-122"/>
              </a:rPr>
              <a:t>Increasing </a:t>
            </a:r>
            <a:r>
              <a:rPr lang="en-US" altLang="zh-CN" sz="2400" i="1" dirty="0">
                <a:solidFill>
                  <a:schemeClr val="tx1"/>
                </a:solidFill>
                <a:ea typeface="宋体" panose="02010600030101010101" pitchFamily="2" charset="-122"/>
              </a:rPr>
              <a:t>n </a:t>
            </a:r>
            <a:r>
              <a:rPr lang="en-US" altLang="zh-CN" sz="2400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endParaRPr lang="en-US" altLang="zh-CN" sz="24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58090" name="Text Box 10"/>
          <p:cNvSpPr txBox="1"/>
          <p:nvPr/>
        </p:nvSpPr>
        <p:spPr>
          <a:xfrm>
            <a:off x="5410200" y="3841115"/>
            <a:ext cx="150812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folHlink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folHlink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folHlink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folHlink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folHlink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 dirty="0">
                <a:solidFill>
                  <a:srgbClr val="FF0000"/>
                </a:solidFill>
                <a:ea typeface="宋体" panose="02010600030101010101" pitchFamily="2" charset="-122"/>
              </a:rPr>
              <a:t>f</a:t>
            </a:r>
            <a:r>
              <a:rPr lang="en-US" altLang="zh-CN" sz="2400" baseline="-25000" dirty="0">
                <a:solidFill>
                  <a:srgbClr val="FF0000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400" i="1" dirty="0">
                <a:solidFill>
                  <a:srgbClr val="FF0000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)=</a:t>
            </a:r>
            <a:r>
              <a:rPr lang="en-US" altLang="zh-CN" sz="2400" i="1" dirty="0">
                <a:solidFill>
                  <a:srgbClr val="FF0000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400" baseline="30000" dirty="0">
                <a:solidFill>
                  <a:srgbClr val="FF0000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+1</a:t>
            </a:r>
            <a:endParaRPr lang="en-US" altLang="zh-CN" sz="2400" i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9230" name="Text Box 11"/>
          <p:cNvSpPr txBox="1"/>
          <p:nvPr/>
        </p:nvSpPr>
        <p:spPr>
          <a:xfrm rot="-5400000">
            <a:off x="2684463" y="3290253"/>
            <a:ext cx="270827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folHlink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folHlink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folHlink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folHlink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folHlink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ea typeface="宋体" panose="02010600030101010101" pitchFamily="2" charset="-122"/>
              </a:rPr>
              <a:t>Value of function </a:t>
            </a:r>
            <a:r>
              <a:rPr lang="en-US" altLang="zh-CN" sz="2400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endParaRPr lang="en-US" altLang="zh-CN" sz="24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808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580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809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zh-CN" altLang="en-US" sz="1000" b="1" i="1" dirty="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0243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zh-CN" altLang="en-US" sz="1000" b="1" i="1" dirty="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0244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 b="1" i="1" dirty="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024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Concept of order of growth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0246" name="Rectangle 3"/>
          <p:cNvSpPr>
            <a:spLocks noGrp="1"/>
          </p:cNvSpPr>
          <p:nvPr>
            <p:ph idx="1"/>
          </p:nvPr>
        </p:nvSpPr>
        <p:spPr>
          <a:xfrm>
            <a:off x="685800" y="1407160"/>
            <a:ext cx="7772400" cy="43434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We say </a:t>
            </a:r>
            <a:r>
              <a:rPr lang="en-US" altLang="zh-CN" sz="2800" i="1" dirty="0">
                <a:solidFill>
                  <a:srgbClr val="FF0000"/>
                </a:solidFill>
                <a:ea typeface="宋体" panose="02010600030101010101" pitchFamily="2" charset="-122"/>
              </a:rPr>
              <a:t>f</a:t>
            </a:r>
            <a:r>
              <a:rPr lang="en-US" altLang="zh-CN" sz="2800" baseline="-25000" dirty="0">
                <a:solidFill>
                  <a:srgbClr val="FF0000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800" i="1" dirty="0">
                <a:solidFill>
                  <a:srgbClr val="FF0000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)=30</a:t>
            </a:r>
            <a:r>
              <a:rPr lang="en-US" altLang="zh-CN" sz="2800" i="1" dirty="0">
                <a:solidFill>
                  <a:srgbClr val="FF0000"/>
                </a:solidFill>
                <a:ea typeface="宋体" panose="02010600030101010101" pitchFamily="2" charset="-122"/>
              </a:rPr>
              <a:t>n+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8</a:t>
            </a:r>
            <a:r>
              <a:rPr lang="en-US" altLang="zh-CN" sz="2800" i="1" dirty="0"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ea typeface="宋体" panose="02010600030101010101" pitchFamily="2" charset="-122"/>
              </a:rPr>
              <a:t>is </a:t>
            </a:r>
            <a:r>
              <a:rPr lang="en-US" altLang="zh-CN" sz="2800" i="1" dirty="0">
                <a:ea typeface="宋体" panose="02010600030101010101" pitchFamily="2" charset="-122"/>
              </a:rPr>
              <a:t>(at most)</a:t>
            </a:r>
            <a:r>
              <a:rPr lang="en-US" altLang="zh-CN" sz="2800" dirty="0">
                <a:ea typeface="宋体" panose="02010600030101010101" pitchFamily="2" charset="-122"/>
              </a:rPr>
              <a:t> </a:t>
            </a:r>
            <a:r>
              <a:rPr lang="en-US" altLang="zh-CN" sz="2800" i="1" dirty="0">
                <a:ea typeface="宋体" panose="02010600030101010101" pitchFamily="2" charset="-122"/>
              </a:rPr>
              <a:t>order n</a:t>
            </a:r>
            <a:r>
              <a:rPr lang="en-US" altLang="zh-CN" sz="2800" dirty="0">
                <a:ea typeface="宋体" panose="02010600030101010101" pitchFamily="2" charset="-122"/>
              </a:rPr>
              <a:t>, or 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O(</a:t>
            </a:r>
            <a:r>
              <a:rPr lang="en-US" altLang="zh-CN" sz="2800" i="1" dirty="0">
                <a:solidFill>
                  <a:srgbClr val="FF0000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)</a:t>
            </a:r>
            <a:r>
              <a:rPr lang="en-US" altLang="zh-CN" sz="2800" dirty="0">
                <a:ea typeface="宋体" panose="02010600030101010101" pitchFamily="2" charset="-122"/>
              </a:rPr>
              <a:t>.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It is, at most, roughly </a:t>
            </a:r>
            <a:r>
              <a:rPr lang="en-US" altLang="zh-CN" sz="2400" i="1" dirty="0">
                <a:ea typeface="宋体" panose="02010600030101010101" pitchFamily="2" charset="-122"/>
              </a:rPr>
              <a:t>proportional</a:t>
            </a:r>
            <a:r>
              <a:rPr lang="en-US" altLang="zh-CN" sz="2400" dirty="0">
                <a:ea typeface="宋体" panose="02010600030101010101" pitchFamily="2" charset="-122"/>
              </a:rPr>
              <a:t> to </a:t>
            </a:r>
            <a:r>
              <a:rPr lang="en-US" altLang="zh-CN" sz="2400" i="1" dirty="0">
                <a:ea typeface="宋体" panose="02010600030101010101" pitchFamily="2" charset="-122"/>
              </a:rPr>
              <a:t>n</a:t>
            </a:r>
            <a:r>
              <a:rPr lang="en-US" altLang="zh-CN" sz="2400" dirty="0">
                <a:ea typeface="宋体" panose="02010600030101010101" pitchFamily="2" charset="-122"/>
              </a:rPr>
              <a:t>.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i="1" dirty="0">
                <a:solidFill>
                  <a:srgbClr val="FF0000"/>
                </a:solidFill>
                <a:ea typeface="宋体" panose="02010600030101010101" pitchFamily="2" charset="-122"/>
              </a:rPr>
              <a:t>f</a:t>
            </a:r>
            <a:r>
              <a:rPr lang="en-US" altLang="zh-CN" sz="2800" baseline="-25000" dirty="0">
                <a:solidFill>
                  <a:srgbClr val="FF0000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800" i="1" dirty="0">
                <a:solidFill>
                  <a:srgbClr val="FF0000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)=</a:t>
            </a:r>
            <a:r>
              <a:rPr lang="en-US" altLang="zh-CN" sz="2800" i="1" dirty="0">
                <a:solidFill>
                  <a:srgbClr val="FF0000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800" baseline="30000" dirty="0">
                <a:solidFill>
                  <a:srgbClr val="FF0000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+1</a:t>
            </a:r>
            <a:r>
              <a:rPr lang="en-US" altLang="zh-CN" sz="2800" dirty="0">
                <a:ea typeface="宋体" panose="02010600030101010101" pitchFamily="2" charset="-122"/>
              </a:rPr>
              <a:t> is </a:t>
            </a:r>
            <a:r>
              <a:rPr lang="en-US" altLang="zh-CN" sz="2800" i="1" dirty="0">
                <a:ea typeface="宋体" panose="02010600030101010101" pitchFamily="2" charset="-122"/>
              </a:rPr>
              <a:t>order n</a:t>
            </a:r>
            <a:r>
              <a:rPr lang="en-US" altLang="zh-CN" sz="2800" baseline="30000" dirty="0"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ea typeface="宋体" panose="02010600030101010101" pitchFamily="2" charset="-122"/>
              </a:rPr>
              <a:t>, or 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O(</a:t>
            </a:r>
            <a:r>
              <a:rPr lang="en-US" altLang="zh-CN" sz="2800" i="1" dirty="0">
                <a:solidFill>
                  <a:srgbClr val="FF0000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800" baseline="30000" dirty="0">
                <a:solidFill>
                  <a:srgbClr val="FF0000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)</a:t>
            </a:r>
            <a:r>
              <a:rPr lang="en-US" altLang="zh-CN" sz="2800" dirty="0">
                <a:ea typeface="宋体" panose="02010600030101010101" pitchFamily="2" charset="-122"/>
              </a:rPr>
              <a:t>.  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It is (at most) roughly proportional to </a:t>
            </a:r>
            <a:r>
              <a:rPr lang="en-US" altLang="zh-CN" sz="2400" i="1" dirty="0">
                <a:ea typeface="宋体" panose="02010600030101010101" pitchFamily="2" charset="-122"/>
              </a:rPr>
              <a:t>n</a:t>
            </a:r>
            <a:r>
              <a:rPr lang="en-US" altLang="zh-CN" sz="2400" baseline="30000" dirty="0">
                <a:ea typeface="宋体" panose="02010600030101010101" pitchFamily="2" charset="-122"/>
              </a:rPr>
              <a:t>2</a:t>
            </a:r>
            <a:r>
              <a:rPr lang="en-US" altLang="zh-CN" sz="2400" dirty="0">
                <a:ea typeface="宋体" panose="02010600030101010101" pitchFamily="2" charset="-122"/>
              </a:rPr>
              <a:t>.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Any function whose </a:t>
            </a:r>
            <a:r>
              <a:rPr lang="en-US" altLang="zh-CN" sz="2800" i="1" dirty="0">
                <a:ea typeface="宋体" panose="02010600030101010101" pitchFamily="2" charset="-122"/>
              </a:rPr>
              <a:t>exact</a:t>
            </a:r>
            <a:r>
              <a:rPr lang="en-US" altLang="zh-CN" sz="2800" dirty="0">
                <a:ea typeface="宋体" panose="02010600030101010101" pitchFamily="2" charset="-122"/>
              </a:rPr>
              <a:t> (tightest)</a:t>
            </a:r>
            <a:r>
              <a:rPr lang="en-US" altLang="zh-CN" sz="2800" i="1" dirty="0"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ea typeface="宋体" panose="02010600030101010101" pitchFamily="2" charset="-122"/>
              </a:rPr>
              <a:t>order is O(</a:t>
            </a:r>
            <a:r>
              <a:rPr lang="en-US" altLang="zh-CN" sz="2800" i="1" dirty="0">
                <a:ea typeface="宋体" panose="02010600030101010101" pitchFamily="2" charset="-122"/>
              </a:rPr>
              <a:t>n</a:t>
            </a:r>
            <a:r>
              <a:rPr lang="en-US" altLang="zh-CN" sz="2800" baseline="30000" dirty="0"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ea typeface="宋体" panose="02010600030101010101" pitchFamily="2" charset="-122"/>
              </a:rPr>
              <a:t>) is faster-growing than any O(</a:t>
            </a:r>
            <a:r>
              <a:rPr lang="en-US" altLang="zh-CN" sz="2800" i="1" dirty="0">
                <a:ea typeface="宋体" panose="02010600030101010101" pitchFamily="2" charset="-122"/>
              </a:rPr>
              <a:t>n</a:t>
            </a:r>
            <a:r>
              <a:rPr lang="en-US" altLang="zh-CN" sz="2800" dirty="0">
                <a:ea typeface="宋体" panose="02010600030101010101" pitchFamily="2" charset="-122"/>
              </a:rPr>
              <a:t>) function.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Later we will introduce </a:t>
            </a:r>
            <a:r>
              <a:rPr lang="el-GR" altLang="zh-CN" sz="2400" dirty="0">
                <a:cs typeface="Times New Roman" panose="02020603050405020304" pitchFamily="18" charset="0"/>
              </a:rPr>
              <a:t>Θ</a:t>
            </a:r>
            <a:r>
              <a:rPr lang="en-US" altLang="zh-CN" sz="2400" dirty="0">
                <a:ea typeface="宋体" panose="02010600030101010101" pitchFamily="2" charset="-122"/>
              </a:rPr>
              <a:t> for expressing </a:t>
            </a:r>
            <a:r>
              <a:rPr lang="en-US" altLang="zh-CN" sz="2400" i="1" dirty="0">
                <a:ea typeface="宋体" panose="02010600030101010101" pitchFamily="2" charset="-122"/>
              </a:rPr>
              <a:t>exact </a:t>
            </a:r>
            <a:r>
              <a:rPr lang="en-US" altLang="zh-CN" sz="2400" dirty="0">
                <a:ea typeface="宋体" panose="02010600030101010101" pitchFamily="2" charset="-122"/>
              </a:rPr>
              <a:t>order.</a:t>
            </a:r>
            <a:endParaRPr lang="el-GR" altLang="zh-CN" sz="2400" dirty="0"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For large numbers of user records, the exactly order </a:t>
            </a:r>
            <a:r>
              <a:rPr lang="en-US" altLang="zh-CN" sz="2800" i="1" dirty="0">
                <a:ea typeface="宋体" panose="02010600030101010101" pitchFamily="2" charset="-122"/>
              </a:rPr>
              <a:t>n</a:t>
            </a:r>
            <a:r>
              <a:rPr lang="en-US" altLang="zh-CN" sz="2800" baseline="30000" dirty="0"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ea typeface="宋体" panose="02010600030101010101" pitchFamily="2" charset="-122"/>
              </a:rPr>
              <a:t> function will always take more time.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cs typeface="Times New Roman" panose="02020603050405020304" pitchFamily="18" charset="0"/>
              </a:rPr>
              <a:t>The Big-O Notation </a:t>
            </a:r>
            <a:endParaRPr lang="en-US" altLang="zh-CN" dirty="0">
              <a:cs typeface="Times New Roman" panose="02020603050405020304" pitchFamily="18" charset="0"/>
            </a:endParaRP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665163" y="1196340"/>
            <a:ext cx="8154988" cy="47513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Definition: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Let </a:t>
            </a:r>
            <a:r>
              <a:rPr kumimoji="1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 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and</a:t>
            </a:r>
            <a:r>
              <a:rPr kumimoji="1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g 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be functions from N or R to R. Then </a:t>
            </a:r>
            <a:r>
              <a:rPr kumimoji="1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 </a:t>
            </a:r>
            <a:r>
              <a:rPr kumimoji="1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asymptotically dominates (</a:t>
            </a:r>
            <a:r>
              <a:rPr kumimoji="1" lang="zh-CN" alt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渐进地支配</a:t>
            </a:r>
            <a:r>
              <a:rPr kumimoji="1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kumimoji="1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f, denoted ‘f is O(g)’ or ‘f is big-O of g’</a:t>
            </a:r>
            <a:r>
              <a:rPr kumimoji="1" lang="zh-CN" altLang="en-US" sz="24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400" b="0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iff</a:t>
            </a:r>
            <a:r>
              <a:rPr kumimoji="1" lang="zh-CN" altLang="en-US" sz="24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endParaRPr kumimoji="1" lang="en-US" altLang="zh-CN" sz="2400" b="0" i="1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pPr>
            <a:r>
              <a:rPr kumimoji="1" lang="en-US" altLang="zh-CN" sz="26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</a:t>
            </a:r>
            <a:r>
              <a:rPr kumimoji="1" lang="en-US" altLang="zh-CN" sz="2600" b="0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 </a:t>
            </a:r>
            <a:r>
              <a:rPr kumimoji="1" lang="en-US" altLang="zh-CN" sz="2600" b="0" i="1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kcn</a:t>
            </a:r>
            <a:r>
              <a:rPr kumimoji="1" lang="en-US" altLang="zh-CN" sz="2600" b="0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(n&gt;k</a:t>
            </a:r>
            <a:r>
              <a:rPr kumimoji="1" lang="en-US" altLang="zh-CN" sz="2600" b="0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→</a:t>
            </a:r>
            <a:r>
              <a:rPr kumimoji="1" lang="en-US" altLang="zh-CN" sz="2600" b="0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 |f(n)| ≤ </a:t>
            </a:r>
            <a:r>
              <a:rPr kumimoji="1" lang="en-US" altLang="zh-CN" sz="2600" b="0" i="1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c|g</a:t>
            </a:r>
            <a:r>
              <a:rPr kumimoji="1" lang="en-US" altLang="zh-CN" sz="2600" b="0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(n)|)</a:t>
            </a:r>
            <a:endParaRPr kumimoji="1" lang="en-US" altLang="zh-CN" sz="2600" b="0" i="1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‘f is at most order g’, 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or</a:t>
            </a:r>
            <a:r>
              <a:rPr kumimoji="1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‘f is O(g)’ 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or</a:t>
            </a:r>
            <a:r>
              <a:rPr kumimoji="1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‘f =O(g)’ 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all just mean that</a:t>
            </a:r>
            <a:r>
              <a:rPr kumimoji="1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400" b="0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</a:t>
            </a:r>
            <a:r>
              <a:rPr kumimoji="1" lang="en-US" altLang="zh-CN" sz="2400" b="0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1" lang="en-US" altLang="zh-CN" sz="2400" b="0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</a:t>
            </a:r>
            <a:r>
              <a:rPr kumimoji="1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(g)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</a:t>
            </a:r>
            <a:endParaRPr kumimoji="1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Note: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Choose </a:t>
            </a:r>
            <a:r>
              <a:rPr kumimoji="1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choose </a:t>
            </a:r>
            <a:r>
              <a:rPr kumimoji="1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which may depend on the choice of </a:t>
            </a:r>
            <a:r>
              <a:rPr kumimoji="1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</a:t>
            </a:r>
            <a:endParaRPr kumimoji="1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Once you choose </a:t>
            </a:r>
            <a:r>
              <a:rPr kumimoji="1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and </a:t>
            </a:r>
            <a:r>
              <a:rPr kumimoji="1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you must prove the truth of the </a:t>
            </a:r>
            <a:r>
              <a:rPr kumimoji="1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implication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(often by induction).</a:t>
            </a:r>
            <a:endParaRPr kumimoji="1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solidFill>
                  <a:schemeClr val="folHlink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chemeClr val="folHlink"/>
              </a:solidFill>
              <a:latin typeface="Arial Narrow" panose="020B0606020202030204" pitchFamily="34" charset="0"/>
            </a:endParaRPr>
          </a:p>
        </p:txBody>
      </p:sp>
      <p:sp>
        <p:nvSpPr>
          <p:cNvPr id="11269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solidFill>
                  <a:schemeClr val="folHlink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chemeClr val="folHlink"/>
              </a:solidFill>
              <a:latin typeface="Arial Narrow" panose="020B0606020202030204" pitchFamily="34" charset="0"/>
            </a:endParaRPr>
          </a:p>
        </p:txBody>
      </p:sp>
      <p:sp>
        <p:nvSpPr>
          <p:cNvPr id="11270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chemeClr val="folHlink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chemeClr val="folHlink"/>
              </a:solidFill>
              <a:latin typeface="Arial Narrow" panose="020B0606020202030204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067175" y="3933190"/>
            <a:ext cx="4441825" cy="431800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实际上相当于给出函数的</a:t>
            </a:r>
            <a:r>
              <a:rPr lang="zh-CN" alt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渐进</a:t>
            </a:r>
            <a:r>
              <a:rPr lang="zh-CN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上界</a:t>
            </a:r>
            <a:endParaRPr lang="zh-CN" altLang="en-US" sz="2200" b="1" i="1" dirty="0">
              <a:latin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50938" y="5947728"/>
            <a:ext cx="7112000" cy="461962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latin typeface="Times New Roman" panose="02020603050405020304" pitchFamily="18" charset="0"/>
              </a:rPr>
              <a:t>k, c : witnesses(</a:t>
            </a:r>
            <a:r>
              <a:rPr lang="zh-CN" altLang="en-US" sz="2400" b="1" i="1" dirty="0">
                <a:latin typeface="Times New Roman" panose="02020603050405020304" pitchFamily="18" charset="0"/>
              </a:rPr>
              <a:t>凭证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) to the relationship </a:t>
            </a:r>
            <a:r>
              <a:rPr lang="nl-NL" altLang="zh-CN" sz="2400" b="1" i="1" dirty="0">
                <a:latin typeface="Times New Roman" panose="02020603050405020304" pitchFamily="18" charset="0"/>
              </a:rPr>
              <a:t>f(x) is O(g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(x)</a:t>
            </a:r>
            <a:r>
              <a:rPr lang="nl-NL" altLang="zh-CN" sz="2400" b="1" i="1" dirty="0">
                <a:latin typeface="Times New Roman" panose="02020603050405020304" pitchFamily="18" charset="0"/>
              </a:rPr>
              <a:t>)</a:t>
            </a:r>
            <a:endParaRPr lang="zh-CN" altLang="en-US" sz="2400" b="1" i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zh-CN" altLang="en-US" sz="1000" b="1" i="1" dirty="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6387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zh-CN" altLang="en-US" sz="1000" b="1" i="1" dirty="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6388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 b="1" i="1" dirty="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638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Example</a:t>
            </a:r>
            <a:endParaRPr lang="en-US" altLang="zh-CN" dirty="0"/>
          </a:p>
        </p:txBody>
      </p:sp>
      <p:graphicFrame>
        <p:nvGraphicFramePr>
          <p:cNvPr id="16390" name="Object 3"/>
          <p:cNvGraphicFramePr>
            <a:graphicFrameLocks noChangeAspect="1"/>
          </p:cNvGraphicFramePr>
          <p:nvPr/>
        </p:nvGraphicFramePr>
        <p:xfrm>
          <a:off x="916305" y="1306195"/>
          <a:ext cx="7362825" cy="5242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3086100" imgH="2197100" progId="Equation.DSMT4">
                  <p:embed/>
                </p:oleObj>
              </mc:Choice>
              <mc:Fallback>
                <p:oleObj name="" r:id="rId1" imgW="3086100" imgH="21971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16305" y="1306195"/>
                        <a:ext cx="7362825" cy="524256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zh-CN" altLang="en-US" sz="1000" b="1" i="1" dirty="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2291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zh-CN" altLang="en-US" sz="1000" b="1" i="1" dirty="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2292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 b="1" i="1" dirty="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229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Points about the definition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2294" name="Rectangle 3"/>
          <p:cNvSpPr>
            <a:spLocks noGrp="1"/>
          </p:cNvSpPr>
          <p:nvPr>
            <p:ph idx="1"/>
          </p:nvPr>
        </p:nvSpPr>
        <p:spPr>
          <a:xfrm>
            <a:off x="685800" y="1335405"/>
            <a:ext cx="7772400" cy="42672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Note that </a:t>
            </a:r>
            <a:r>
              <a:rPr lang="en-US" altLang="zh-CN" i="1" dirty="0">
                <a:ea typeface="宋体" panose="02010600030101010101" pitchFamily="2" charset="-122"/>
              </a:rPr>
              <a:t>f</a:t>
            </a:r>
            <a:r>
              <a:rPr lang="en-US" altLang="zh-CN" dirty="0">
                <a:ea typeface="宋体" panose="02010600030101010101" pitchFamily="2" charset="-122"/>
              </a:rPr>
              <a:t> is O(</a:t>
            </a:r>
            <a:r>
              <a:rPr lang="en-US" altLang="zh-CN" i="1" dirty="0">
                <a:ea typeface="宋体" panose="02010600030101010101" pitchFamily="2" charset="-122"/>
              </a:rPr>
              <a:t>g</a:t>
            </a:r>
            <a:r>
              <a:rPr lang="en-US" altLang="zh-CN" dirty="0">
                <a:ea typeface="宋体" panose="02010600030101010101" pitchFamily="2" charset="-122"/>
              </a:rPr>
              <a:t>) so long as </a:t>
            </a:r>
            <a:r>
              <a:rPr lang="en-US" altLang="zh-CN" i="1" dirty="0">
                <a:ea typeface="宋体" panose="02010600030101010101" pitchFamily="2" charset="-122"/>
              </a:rPr>
              <a:t>any</a:t>
            </a:r>
            <a:r>
              <a:rPr lang="en-US" altLang="zh-CN" dirty="0">
                <a:ea typeface="宋体" panose="02010600030101010101" pitchFamily="2" charset="-122"/>
              </a:rPr>
              <a:t> values of </a:t>
            </a:r>
            <a:r>
              <a:rPr lang="en-US" altLang="zh-CN" i="1" dirty="0">
                <a:ea typeface="宋体" panose="02010600030101010101" pitchFamily="2" charset="-122"/>
              </a:rPr>
              <a:t>c</a:t>
            </a:r>
            <a:r>
              <a:rPr lang="en-US" altLang="zh-CN" dirty="0">
                <a:ea typeface="宋体" panose="02010600030101010101" pitchFamily="2" charset="-122"/>
              </a:rPr>
              <a:t> and </a:t>
            </a:r>
            <a:r>
              <a:rPr lang="en-US" altLang="zh-CN" i="1" dirty="0">
                <a:ea typeface="宋体" panose="02010600030101010101" pitchFamily="2" charset="-122"/>
              </a:rPr>
              <a:t>k</a:t>
            </a:r>
            <a:r>
              <a:rPr lang="en-US" altLang="zh-CN" dirty="0">
                <a:ea typeface="宋体" panose="02010600030101010101" pitchFamily="2" charset="-122"/>
              </a:rPr>
              <a:t> exist that satisfy the definition.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But: The particular </a:t>
            </a:r>
            <a:r>
              <a:rPr lang="en-US" altLang="zh-CN" i="1" dirty="0">
                <a:ea typeface="宋体" panose="02010600030101010101" pitchFamily="2" charset="-122"/>
              </a:rPr>
              <a:t>c</a:t>
            </a:r>
            <a:r>
              <a:rPr lang="en-US" altLang="zh-CN" dirty="0">
                <a:ea typeface="宋体" panose="02010600030101010101" pitchFamily="2" charset="-122"/>
              </a:rPr>
              <a:t>, </a:t>
            </a:r>
            <a:r>
              <a:rPr lang="en-US" altLang="zh-CN" i="1" dirty="0">
                <a:ea typeface="宋体" panose="02010600030101010101" pitchFamily="2" charset="-122"/>
              </a:rPr>
              <a:t>k</a:t>
            </a:r>
            <a:r>
              <a:rPr lang="en-US" altLang="zh-CN" dirty="0">
                <a:ea typeface="宋体" panose="02010600030101010101" pitchFamily="2" charset="-122"/>
              </a:rPr>
              <a:t>, values that make the statement true are </a:t>
            </a:r>
            <a:r>
              <a:rPr lang="en-US" altLang="zh-CN" i="1" dirty="0">
                <a:ea typeface="宋体" panose="02010600030101010101" pitchFamily="2" charset="-122"/>
              </a:rPr>
              <a:t>not</a:t>
            </a:r>
            <a:r>
              <a:rPr lang="en-US" altLang="zh-CN" dirty="0">
                <a:ea typeface="宋体" panose="02010600030101010101" pitchFamily="2" charset="-122"/>
              </a:rPr>
              <a:t> unique: </a:t>
            </a:r>
            <a:r>
              <a:rPr lang="en-US" altLang="zh-CN" b="1" dirty="0">
                <a:ea typeface="宋体" panose="02010600030101010101" pitchFamily="2" charset="-122"/>
              </a:rPr>
              <a:t>Any larger value of </a:t>
            </a:r>
            <a:r>
              <a:rPr lang="en-US" altLang="zh-CN" b="1" i="1" dirty="0">
                <a:ea typeface="宋体" panose="02010600030101010101" pitchFamily="2" charset="-122"/>
              </a:rPr>
              <a:t>c</a:t>
            </a:r>
            <a:r>
              <a:rPr lang="en-US" altLang="zh-CN" b="1" dirty="0">
                <a:ea typeface="宋体" panose="02010600030101010101" pitchFamily="2" charset="-122"/>
              </a:rPr>
              <a:t> and/or </a:t>
            </a:r>
            <a:r>
              <a:rPr lang="en-US" altLang="zh-CN" b="1" i="1" dirty="0">
                <a:ea typeface="宋体" panose="02010600030101010101" pitchFamily="2" charset="-122"/>
              </a:rPr>
              <a:t>k </a:t>
            </a:r>
            <a:r>
              <a:rPr lang="en-US" altLang="zh-CN" b="1" dirty="0">
                <a:ea typeface="宋体" panose="02010600030101010101" pitchFamily="2" charset="-122"/>
              </a:rPr>
              <a:t>will also work.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You are </a:t>
            </a:r>
            <a:r>
              <a:rPr lang="en-US" altLang="zh-CN" b="1" dirty="0">
                <a:ea typeface="宋体" panose="02010600030101010101" pitchFamily="2" charset="-122"/>
              </a:rPr>
              <a:t>not</a:t>
            </a:r>
            <a:r>
              <a:rPr lang="en-US" altLang="zh-CN" dirty="0">
                <a:ea typeface="宋体" panose="02010600030101010101" pitchFamily="2" charset="-122"/>
              </a:rPr>
              <a:t> required to find the smallest </a:t>
            </a:r>
            <a:r>
              <a:rPr lang="en-US" altLang="zh-CN" i="1" dirty="0">
                <a:ea typeface="宋体" panose="02010600030101010101" pitchFamily="2" charset="-122"/>
              </a:rPr>
              <a:t>c</a:t>
            </a:r>
            <a:r>
              <a:rPr lang="en-US" altLang="zh-CN" dirty="0">
                <a:ea typeface="宋体" panose="02010600030101010101" pitchFamily="2" charset="-122"/>
              </a:rPr>
              <a:t> and </a:t>
            </a:r>
            <a:r>
              <a:rPr lang="en-US" altLang="zh-CN" i="1" dirty="0">
                <a:ea typeface="宋体" panose="02010600030101010101" pitchFamily="2" charset="-122"/>
              </a:rPr>
              <a:t>k</a:t>
            </a:r>
            <a:r>
              <a:rPr lang="en-US" altLang="zh-CN" dirty="0">
                <a:ea typeface="宋体" panose="02010600030101010101" pitchFamily="2" charset="-122"/>
              </a:rPr>
              <a:t> values that work.  (Indeed, in some cases, there may be no smallest values!)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2295" name="Text Box 4"/>
          <p:cNvSpPr txBox="1"/>
          <p:nvPr/>
        </p:nvSpPr>
        <p:spPr>
          <a:xfrm>
            <a:off x="43815" y="5645785"/>
            <a:ext cx="9100185" cy="460375"/>
          </a:xfrm>
          <a:prstGeom prst="rect">
            <a:avLst/>
          </a:prstGeom>
          <a:solidFill>
            <a:srgbClr val="FFFFCC"/>
          </a:solidFill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folHlink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folHlink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folHlink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folHlink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folHlink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ea typeface="宋体" panose="02010600030101010101" pitchFamily="2" charset="-122"/>
              </a:rPr>
              <a:t>However, you should </a:t>
            </a:r>
            <a:r>
              <a:rPr lang="en-US" altLang="zh-CN" sz="2400" b="1" dirty="0">
                <a:solidFill>
                  <a:schemeClr val="tx1"/>
                </a:solidFill>
                <a:ea typeface="宋体" panose="02010600030101010101" pitchFamily="2" charset="-122"/>
              </a:rPr>
              <a:t>prove</a:t>
            </a:r>
            <a:r>
              <a:rPr lang="en-US" altLang="zh-CN" sz="2400" dirty="0">
                <a:solidFill>
                  <a:schemeClr val="tx1"/>
                </a:solidFill>
                <a:ea typeface="宋体" panose="02010600030101010101" pitchFamily="2" charset="-122"/>
              </a:rPr>
              <a:t> that the values you choose do work.</a:t>
            </a:r>
            <a:endParaRPr lang="en-US" altLang="zh-CN" sz="24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zh-CN" altLang="en-US" sz="1000" b="1" i="1" dirty="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3315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zh-CN" altLang="en-US" sz="1000" b="1" i="1" dirty="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3316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 b="1" i="1" dirty="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331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i="1" dirty="0">
                <a:latin typeface="Times New Roman" panose="02020603050405020304" pitchFamily="18" charset="0"/>
              </a:rPr>
              <a:t>little-o </a:t>
            </a:r>
            <a:r>
              <a:rPr lang="en-US" altLang="zh-CN" dirty="0">
                <a:latin typeface="Times New Roman" panose="02020603050405020304" pitchFamily="18" charset="0"/>
              </a:rPr>
              <a:t>of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endParaRPr lang="zh-CN" altLang="en-US" i="1" dirty="0">
              <a:latin typeface="Times New Roman" panose="02020603050405020304" pitchFamily="18" charset="0"/>
            </a:endParaRPr>
          </a:p>
        </p:txBody>
      </p:sp>
      <p:sp>
        <p:nvSpPr>
          <p:cNvPr id="1331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3600" dirty="0"/>
              <a:t>In calculus</a:t>
            </a:r>
            <a:endParaRPr lang="en-US" altLang="zh-CN" sz="3600" dirty="0"/>
          </a:p>
          <a:p>
            <a:pPr lvl="1" eaLnBrk="1" hangingPunct="1"/>
            <a:r>
              <a:rPr lang="en-US" altLang="zh-CN" sz="3200" dirty="0"/>
              <a:t>If</a:t>
            </a:r>
            <a:endParaRPr lang="en-US" altLang="zh-CN" sz="3200" dirty="0"/>
          </a:p>
          <a:p>
            <a:pPr eaLnBrk="1" hangingPunct="1"/>
            <a:endParaRPr lang="en-US" altLang="zh-CN" sz="3600" dirty="0"/>
          </a:p>
          <a:p>
            <a:pPr eaLnBrk="1" hangingPunct="1"/>
            <a:endParaRPr lang="en-US" altLang="zh-CN" sz="3600" dirty="0"/>
          </a:p>
          <a:p>
            <a:pPr lvl="1" eaLnBrk="1" hangingPunct="1"/>
            <a:r>
              <a:rPr lang="en-US" altLang="zh-CN" sz="3200" dirty="0"/>
              <a:t>Then</a:t>
            </a:r>
            <a:endParaRPr lang="en-US" altLang="zh-CN" sz="3200" dirty="0"/>
          </a:p>
          <a:p>
            <a:pPr lvl="2" eaLnBrk="1" hangingPunct="1"/>
            <a:r>
              <a:rPr lang="en-US" altLang="zh-CN" sz="2800" i="1" dirty="0"/>
              <a:t>f</a:t>
            </a:r>
            <a:r>
              <a:rPr lang="en-US" altLang="zh-CN" sz="2800" dirty="0"/>
              <a:t> is </a:t>
            </a:r>
            <a:r>
              <a:rPr lang="en-US" altLang="zh-CN" sz="2800" i="1" dirty="0"/>
              <a:t>o</a:t>
            </a:r>
            <a:r>
              <a:rPr lang="en-US" altLang="zh-CN" sz="2800" dirty="0"/>
              <a:t>(</a:t>
            </a:r>
            <a:r>
              <a:rPr lang="en-US" altLang="zh-CN" sz="2800" i="1" dirty="0"/>
              <a:t>g</a:t>
            </a:r>
            <a:r>
              <a:rPr lang="en-US" altLang="zh-CN" sz="2800" dirty="0"/>
              <a:t>) (called </a:t>
            </a:r>
            <a:r>
              <a:rPr lang="en-US" altLang="zh-CN" sz="2800" i="1" dirty="0"/>
              <a:t>little-o </a:t>
            </a:r>
            <a:r>
              <a:rPr lang="en-US" altLang="zh-CN" sz="2800" dirty="0"/>
              <a:t>of </a:t>
            </a:r>
            <a:r>
              <a:rPr lang="en-US" altLang="zh-CN" sz="2800" i="1" dirty="0"/>
              <a:t>g</a:t>
            </a:r>
            <a:r>
              <a:rPr lang="en-US" altLang="zh-CN" sz="2800" dirty="0"/>
              <a:t>)</a:t>
            </a:r>
            <a:endParaRPr lang="en-US" altLang="zh-CN" sz="2800" dirty="0"/>
          </a:p>
        </p:txBody>
      </p:sp>
      <p:pic>
        <p:nvPicPr>
          <p:cNvPr id="13319" name="Picture 4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059113" y="2351088"/>
            <a:ext cx="1905000" cy="11064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zh-CN" altLang="en-US" sz="1000" b="1" i="1" dirty="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4339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zh-CN" altLang="en-US" sz="1000" b="1" i="1" dirty="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4340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 b="1" i="1" dirty="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434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Theorem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4342" name="Rectangle 3"/>
          <p:cNvSpPr>
            <a:spLocks noGrp="1"/>
          </p:cNvSpPr>
          <p:nvPr>
            <p:ph idx="1"/>
          </p:nvPr>
        </p:nvSpPr>
        <p:spPr>
          <a:xfrm>
            <a:off x="589280" y="1219835"/>
            <a:ext cx="8366125" cy="4912995"/>
          </a:xfrm>
        </p:spPr>
        <p:txBody>
          <a:bodyPr vert="horz" wrap="square" lIns="91440" tIns="45720" rIns="91440" bIns="45720" anchor="t" anchorCtr="0"/>
          <a:p>
            <a:pPr lvl="0" eaLnBrk="1" hangingPunct="1"/>
            <a:r>
              <a:rPr lang="en-US" altLang="zh-CN" sz="3600" dirty="0">
                <a:solidFill>
                  <a:schemeClr val="hlink"/>
                </a:solidFill>
              </a:rPr>
              <a:t>If </a:t>
            </a:r>
            <a:r>
              <a:rPr lang="en-US" altLang="zh-CN" sz="3600" i="1" dirty="0">
                <a:solidFill>
                  <a:schemeClr val="hlink"/>
                </a:solidFill>
              </a:rPr>
              <a:t>f</a:t>
            </a:r>
            <a:r>
              <a:rPr lang="en-US" altLang="zh-CN" sz="3600" dirty="0">
                <a:solidFill>
                  <a:schemeClr val="hlink"/>
                </a:solidFill>
              </a:rPr>
              <a:t> is </a:t>
            </a:r>
            <a:r>
              <a:rPr lang="en-US" altLang="zh-CN" sz="3600" i="1" dirty="0">
                <a:solidFill>
                  <a:schemeClr val="hlink"/>
                </a:solidFill>
              </a:rPr>
              <a:t>o</a:t>
            </a:r>
            <a:r>
              <a:rPr lang="en-US" altLang="zh-CN" sz="3600" dirty="0">
                <a:solidFill>
                  <a:schemeClr val="hlink"/>
                </a:solidFill>
              </a:rPr>
              <a:t>(</a:t>
            </a:r>
            <a:r>
              <a:rPr lang="en-US" altLang="zh-CN" sz="3600" i="1" dirty="0">
                <a:solidFill>
                  <a:schemeClr val="hlink"/>
                </a:solidFill>
              </a:rPr>
              <a:t>g</a:t>
            </a:r>
            <a:r>
              <a:rPr lang="en-US" altLang="zh-CN" sz="3600" dirty="0">
                <a:solidFill>
                  <a:schemeClr val="hlink"/>
                </a:solidFill>
              </a:rPr>
              <a:t>) then </a:t>
            </a:r>
            <a:r>
              <a:rPr lang="en-US" altLang="zh-CN" sz="3600" i="1" dirty="0">
                <a:solidFill>
                  <a:schemeClr val="hlink"/>
                </a:solidFill>
              </a:rPr>
              <a:t>f</a:t>
            </a:r>
            <a:r>
              <a:rPr lang="en-US" altLang="zh-CN" sz="3600" dirty="0">
                <a:solidFill>
                  <a:schemeClr val="hlink"/>
                </a:solidFill>
              </a:rPr>
              <a:t> is </a:t>
            </a:r>
            <a:r>
              <a:rPr lang="en-US" altLang="zh-CN" sz="3600" i="1" dirty="0">
                <a:solidFill>
                  <a:schemeClr val="hlink"/>
                </a:solidFill>
              </a:rPr>
              <a:t>O</a:t>
            </a:r>
            <a:r>
              <a:rPr lang="en-US" altLang="zh-CN" sz="3600" dirty="0">
                <a:solidFill>
                  <a:schemeClr val="hlink"/>
                </a:solidFill>
              </a:rPr>
              <a:t>(</a:t>
            </a:r>
            <a:r>
              <a:rPr lang="en-US" altLang="zh-CN" sz="3600" i="1" dirty="0">
                <a:solidFill>
                  <a:schemeClr val="hlink"/>
                </a:solidFill>
              </a:rPr>
              <a:t>g</a:t>
            </a:r>
            <a:r>
              <a:rPr lang="en-US" altLang="zh-CN" sz="3600" dirty="0">
                <a:solidFill>
                  <a:schemeClr val="hlink"/>
                </a:solidFill>
              </a:rPr>
              <a:t>).</a:t>
            </a:r>
            <a:endParaRPr lang="en-US" altLang="zh-CN" sz="3600" dirty="0">
              <a:solidFill>
                <a:schemeClr val="hlink"/>
              </a:solidFill>
            </a:endParaRPr>
          </a:p>
          <a:p>
            <a:pPr eaLnBrk="1" hangingPunct="1"/>
            <a:r>
              <a:rPr lang="en-US" altLang="zh-CN" sz="3600" b="1" dirty="0"/>
              <a:t>Proof</a:t>
            </a:r>
            <a:r>
              <a:rPr lang="en-US" altLang="zh-CN" sz="3600" dirty="0"/>
              <a:t>: </a:t>
            </a:r>
            <a:endParaRPr lang="en-US" altLang="zh-CN" sz="3600" dirty="0"/>
          </a:p>
          <a:p>
            <a:pPr lvl="1" eaLnBrk="1" hangingPunct="1"/>
            <a:r>
              <a:rPr lang="en-US" altLang="zh-CN" sz="3200" dirty="0"/>
              <a:t>by definition of limit as </a:t>
            </a:r>
            <a:r>
              <a:rPr lang="en-US" altLang="zh-CN" sz="3200" i="1" dirty="0"/>
              <a:t>n</a:t>
            </a:r>
            <a:r>
              <a:rPr lang="en-US" altLang="zh-CN" sz="3200" dirty="0"/>
              <a:t> goes to infinity, </a:t>
            </a:r>
            <a:r>
              <a:rPr lang="en-US" altLang="zh-CN" sz="3200" i="1" dirty="0"/>
              <a:t>f</a:t>
            </a:r>
            <a:r>
              <a:rPr lang="en-US" altLang="zh-CN" sz="3200" dirty="0"/>
              <a:t>(</a:t>
            </a:r>
            <a:r>
              <a:rPr lang="en-US" altLang="zh-CN" sz="3200" i="1" dirty="0"/>
              <a:t>n</a:t>
            </a:r>
            <a:r>
              <a:rPr lang="en-US" altLang="zh-CN" sz="3200" dirty="0"/>
              <a:t>)/</a:t>
            </a:r>
            <a:r>
              <a:rPr lang="en-US" altLang="zh-CN" sz="3200" i="1" dirty="0"/>
              <a:t>g</a:t>
            </a:r>
            <a:r>
              <a:rPr lang="en-US" altLang="zh-CN" sz="3200" dirty="0"/>
              <a:t>(</a:t>
            </a:r>
            <a:r>
              <a:rPr lang="en-US" altLang="zh-CN" sz="3200" i="1" dirty="0"/>
              <a:t>n</a:t>
            </a:r>
            <a:r>
              <a:rPr lang="en-US" altLang="zh-CN" sz="3200" dirty="0"/>
              <a:t>) gets arbitrarily small.</a:t>
            </a:r>
            <a:endParaRPr lang="en-US" altLang="zh-CN" sz="3200" dirty="0"/>
          </a:p>
          <a:p>
            <a:pPr lvl="1" eaLnBrk="1" hangingPunct="1"/>
            <a:r>
              <a:rPr lang="en-US" altLang="zh-CN" sz="3200" dirty="0"/>
              <a:t>That is for any </a:t>
            </a:r>
            <a:r>
              <a:rPr lang="en-US" altLang="zh-CN" sz="3200" dirty="0">
                <a:latin typeface="Symbol" panose="05050102010706020507" pitchFamily="18" charset="2"/>
              </a:rPr>
              <a:t>e </a:t>
            </a:r>
            <a:r>
              <a:rPr lang="en-US" altLang="zh-CN" sz="3200" dirty="0"/>
              <a:t>&gt;0, there must be an integer </a:t>
            </a:r>
            <a:r>
              <a:rPr lang="en-US" altLang="zh-CN" sz="3200" i="1" dirty="0"/>
              <a:t>N</a:t>
            </a:r>
            <a:r>
              <a:rPr lang="en-US" altLang="zh-CN" sz="3200" dirty="0"/>
              <a:t> such that when </a:t>
            </a:r>
            <a:r>
              <a:rPr lang="en-US" altLang="zh-CN" sz="3200" i="1" dirty="0"/>
              <a:t>n</a:t>
            </a:r>
            <a:r>
              <a:rPr lang="en-US" altLang="zh-CN" sz="3200" dirty="0"/>
              <a:t> &gt; </a:t>
            </a:r>
            <a:r>
              <a:rPr lang="en-US" altLang="zh-CN" sz="3200" i="1" dirty="0"/>
              <a:t>N</a:t>
            </a:r>
            <a:r>
              <a:rPr lang="en-US" altLang="zh-CN" sz="3200" dirty="0"/>
              <a:t>, | </a:t>
            </a:r>
            <a:r>
              <a:rPr lang="en-US" altLang="zh-CN" sz="3200" i="1" dirty="0"/>
              <a:t>f</a:t>
            </a:r>
            <a:r>
              <a:rPr lang="en-US" altLang="zh-CN" sz="3200" dirty="0"/>
              <a:t>(</a:t>
            </a:r>
            <a:r>
              <a:rPr lang="en-US" altLang="zh-CN" sz="3200" i="1" dirty="0"/>
              <a:t>n</a:t>
            </a:r>
            <a:r>
              <a:rPr lang="en-US" altLang="zh-CN" sz="3200" dirty="0"/>
              <a:t>)/</a:t>
            </a:r>
            <a:r>
              <a:rPr lang="en-US" altLang="zh-CN" sz="3200" i="1" dirty="0"/>
              <a:t>g</a:t>
            </a:r>
            <a:r>
              <a:rPr lang="en-US" altLang="zh-CN" sz="3200" dirty="0"/>
              <a:t>(</a:t>
            </a:r>
            <a:r>
              <a:rPr lang="en-US" altLang="zh-CN" sz="3200" i="1" dirty="0"/>
              <a:t>n</a:t>
            </a:r>
            <a:r>
              <a:rPr lang="en-US" altLang="zh-CN" sz="3200" dirty="0"/>
              <a:t>) | &lt; </a:t>
            </a:r>
            <a:r>
              <a:rPr lang="en-US" altLang="zh-CN" sz="3200" dirty="0">
                <a:latin typeface="Symbol" panose="05050102010706020507" pitchFamily="18" charset="2"/>
              </a:rPr>
              <a:t>e </a:t>
            </a:r>
            <a:r>
              <a:rPr lang="en-US" altLang="zh-CN" sz="3200" dirty="0"/>
              <a:t>.</a:t>
            </a:r>
            <a:endParaRPr lang="en-US" altLang="zh-CN" sz="3200" dirty="0"/>
          </a:p>
          <a:p>
            <a:pPr lvl="1" eaLnBrk="1" hangingPunct="1"/>
            <a:r>
              <a:rPr lang="en-US" altLang="zh-CN" sz="3200" dirty="0"/>
              <a:t>Hence, choose </a:t>
            </a:r>
            <a:r>
              <a:rPr lang="en-US" altLang="zh-CN" sz="3200" i="1" dirty="0"/>
              <a:t>c</a:t>
            </a:r>
            <a:r>
              <a:rPr lang="en-US" altLang="zh-CN" sz="3200" dirty="0"/>
              <a:t> = </a:t>
            </a:r>
            <a:r>
              <a:rPr lang="en-US" altLang="zh-CN" sz="3200" i="1" dirty="0">
                <a:latin typeface="Symbol" panose="05050102010706020507" pitchFamily="18" charset="2"/>
              </a:rPr>
              <a:t>e</a:t>
            </a:r>
            <a:r>
              <a:rPr lang="en-US" altLang="zh-CN" sz="3200" dirty="0">
                <a:latin typeface="Symbol" panose="05050102010706020507" pitchFamily="18" charset="2"/>
              </a:rPr>
              <a:t> </a:t>
            </a:r>
            <a:r>
              <a:rPr lang="en-US" altLang="zh-CN" sz="3200" dirty="0"/>
              <a:t>and </a:t>
            </a:r>
            <a:r>
              <a:rPr lang="en-US" altLang="zh-CN" sz="3200" i="1" dirty="0"/>
              <a:t>k</a:t>
            </a:r>
            <a:r>
              <a:rPr lang="en-US" altLang="zh-CN" sz="3200" dirty="0"/>
              <a:t> = </a:t>
            </a:r>
            <a:r>
              <a:rPr lang="en-US" altLang="zh-CN" sz="3200" i="1" dirty="0"/>
              <a:t>N</a:t>
            </a:r>
            <a:r>
              <a:rPr lang="en-US" altLang="zh-CN" sz="3200" dirty="0"/>
              <a:t>.</a:t>
            </a:r>
            <a:endParaRPr lang="en-US" altLang="zh-CN" sz="3200" dirty="0"/>
          </a:p>
          <a:p>
            <a:pPr lvl="2" algn="r" eaLnBrk="1" hangingPunct="1"/>
            <a:r>
              <a:rPr lang="en-US" altLang="zh-CN" sz="2800" dirty="0"/>
              <a:t>Q. E. D.</a:t>
            </a:r>
            <a:endParaRPr lang="en-US" altLang="zh-CN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zh-CN" altLang="en-US" sz="1000" b="1" i="1" dirty="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5363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zh-CN" altLang="en-US" sz="1000" b="1" i="1" dirty="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5364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 b="1" i="1" dirty="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536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Example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536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lvl="0" eaLnBrk="1" hangingPunct="1"/>
            <a:r>
              <a:rPr lang="zh-CN" altLang="en-US" sz="3600" dirty="0"/>
              <a:t>3</a:t>
            </a:r>
            <a:r>
              <a:rPr lang="en-US" altLang="zh-CN" sz="3600" i="1" dirty="0"/>
              <a:t>n</a:t>
            </a:r>
            <a:r>
              <a:rPr lang="en-US" altLang="zh-CN" sz="3600" dirty="0"/>
              <a:t> + 5 is O(</a:t>
            </a:r>
            <a:r>
              <a:rPr lang="en-US" altLang="zh-CN" sz="3600" i="1" dirty="0"/>
              <a:t>n</a:t>
            </a:r>
            <a:r>
              <a:rPr lang="en-US" altLang="zh-CN" sz="3600" baseline="30000" dirty="0"/>
              <a:t>2</a:t>
            </a:r>
            <a:r>
              <a:rPr lang="en-US" altLang="zh-CN" sz="3600" dirty="0"/>
              <a:t>)</a:t>
            </a:r>
            <a:endParaRPr lang="en-US" altLang="zh-CN" sz="3600" dirty="0"/>
          </a:p>
          <a:p>
            <a:pPr eaLnBrk="1" hangingPunct="1"/>
            <a:r>
              <a:rPr lang="en-US" altLang="zh-CN" sz="3600" dirty="0"/>
              <a:t>Proof: It's easy to show</a:t>
            </a:r>
            <a:endParaRPr lang="en-US" altLang="zh-CN" sz="3600" dirty="0"/>
          </a:p>
          <a:p>
            <a:pPr eaLnBrk="1" hangingPunct="1"/>
            <a:endParaRPr lang="en-US" altLang="zh-CN" sz="3600" dirty="0"/>
          </a:p>
          <a:p>
            <a:pPr eaLnBrk="1" hangingPunct="1"/>
            <a:endParaRPr lang="en-US" altLang="zh-CN" sz="3600" dirty="0"/>
          </a:p>
          <a:p>
            <a:pPr lvl="1" eaLnBrk="1" hangingPunct="1"/>
            <a:r>
              <a:rPr lang="en-US" altLang="zh-CN" sz="3200" dirty="0"/>
              <a:t>using the theory of limits.</a:t>
            </a:r>
            <a:endParaRPr lang="en-US" altLang="zh-CN" sz="3200" dirty="0"/>
          </a:p>
          <a:p>
            <a:pPr lvl="1" eaLnBrk="1" hangingPunct="1"/>
            <a:r>
              <a:rPr lang="en-US" altLang="zh-CN" sz="3200" dirty="0"/>
              <a:t>Hence 3</a:t>
            </a:r>
            <a:r>
              <a:rPr lang="en-US" altLang="zh-CN" sz="3200" i="1" dirty="0"/>
              <a:t>n</a:t>
            </a:r>
            <a:r>
              <a:rPr lang="en-US" altLang="zh-CN" sz="3200" dirty="0"/>
              <a:t> + 5 is o(</a:t>
            </a:r>
            <a:r>
              <a:rPr lang="en-US" altLang="zh-CN" sz="3200" i="1" dirty="0"/>
              <a:t>n</a:t>
            </a:r>
            <a:r>
              <a:rPr lang="en-US" altLang="zh-CN" sz="3200" baseline="30000" dirty="0"/>
              <a:t>2</a:t>
            </a:r>
            <a:r>
              <a:rPr lang="en-US" altLang="zh-CN" sz="3200" dirty="0"/>
              <a:t>) and so it is O(</a:t>
            </a:r>
            <a:r>
              <a:rPr lang="en-US" altLang="zh-CN" sz="3200" i="1" dirty="0"/>
              <a:t>n</a:t>
            </a:r>
            <a:r>
              <a:rPr lang="en-US" altLang="zh-CN" sz="3200" baseline="30000" dirty="0"/>
              <a:t>2</a:t>
            </a:r>
            <a:r>
              <a:rPr lang="en-US" altLang="zh-CN" sz="3200" dirty="0"/>
              <a:t>).</a:t>
            </a:r>
            <a:endParaRPr lang="en-US" altLang="zh-CN" sz="3200" dirty="0"/>
          </a:p>
          <a:p>
            <a:pPr lvl="2" algn="r" eaLnBrk="1" hangingPunct="1"/>
            <a:r>
              <a:rPr lang="en-US" altLang="zh-CN" sz="2800" dirty="0"/>
              <a:t>Q. E. D.</a:t>
            </a:r>
            <a:endParaRPr lang="en-US" altLang="zh-CN" sz="2800" dirty="0"/>
          </a:p>
        </p:txBody>
      </p:sp>
      <p:pic>
        <p:nvPicPr>
          <p:cNvPr id="15367" name="Picture 4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636010" y="2493010"/>
            <a:ext cx="2239010" cy="12268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zh-CN" altLang="en-US" sz="1000" b="1" i="1" dirty="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7411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zh-CN" altLang="en-US" sz="1000" b="1" i="1" dirty="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7412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 b="1" i="1" dirty="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741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en-US" altLang="zh-CN" dirty="0">
                <a:ea typeface="宋体" panose="02010600030101010101" pitchFamily="2" charset="-122"/>
              </a:rPr>
              <a:t>Big-O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en-US" altLang="zh-CN" dirty="0">
                <a:ea typeface="宋体" panose="02010600030101010101" pitchFamily="2" charset="-122"/>
              </a:rPr>
              <a:t> Proof Examples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7414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Show that 30</a:t>
            </a:r>
            <a:r>
              <a:rPr lang="en-US" altLang="zh-CN" i="1" dirty="0">
                <a:ea typeface="宋体" panose="02010600030101010101" pitchFamily="2" charset="-122"/>
              </a:rPr>
              <a:t>n</a:t>
            </a:r>
            <a:r>
              <a:rPr lang="en-US" altLang="zh-CN" dirty="0">
                <a:ea typeface="宋体" panose="02010600030101010101" pitchFamily="2" charset="-122"/>
              </a:rPr>
              <a:t>+8 is O(</a:t>
            </a:r>
            <a:r>
              <a:rPr lang="en-US" altLang="zh-CN" i="1" dirty="0">
                <a:ea typeface="宋体" panose="02010600030101010101" pitchFamily="2" charset="-122"/>
              </a:rPr>
              <a:t>n</a:t>
            </a:r>
            <a:r>
              <a:rPr lang="en-US" altLang="zh-CN" dirty="0">
                <a:ea typeface="宋体" panose="02010600030101010101" pitchFamily="2" charset="-122"/>
              </a:rPr>
              <a:t>).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Show 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k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: 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&gt;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k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: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30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+8  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cn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endParaRPr lang="en-US" altLang="zh-CN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2" eaLnBrk="1" hangingPunct="1"/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Let 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c=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31, 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k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=8.  Assume 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&gt;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k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=8.  Then</a:t>
            </a:r>
            <a:b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cn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 = 31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 = 30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 + 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 &gt; 30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+8, so 30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+8 &lt; 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cn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endParaRPr lang="en-US" altLang="zh-CN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Show that </a:t>
            </a:r>
            <a:r>
              <a:rPr lang="en-US" altLang="zh-CN" i="1" dirty="0">
                <a:ea typeface="宋体" panose="02010600030101010101" pitchFamily="2" charset="-122"/>
              </a:rPr>
              <a:t>n</a:t>
            </a:r>
            <a:r>
              <a:rPr lang="en-US" altLang="zh-CN" baseline="30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+1 is O(</a:t>
            </a:r>
            <a:r>
              <a:rPr lang="en-US" altLang="zh-CN" i="1" dirty="0">
                <a:ea typeface="宋体" panose="02010600030101010101" pitchFamily="2" charset="-122"/>
              </a:rPr>
              <a:t>n</a:t>
            </a:r>
            <a:r>
              <a:rPr lang="en-US" altLang="zh-CN" baseline="30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).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Show 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k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: 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&gt;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k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: </a:t>
            </a:r>
            <a:r>
              <a:rPr lang="en-US" altLang="zh-CN" i="1" dirty="0">
                <a:ea typeface="宋体" panose="02010600030101010101" pitchFamily="2" charset="-122"/>
              </a:rPr>
              <a:t>n</a:t>
            </a:r>
            <a:r>
              <a:rPr lang="en-US" altLang="zh-CN" baseline="30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+1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  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cn</a:t>
            </a:r>
            <a:r>
              <a:rPr lang="en-US" altLang="zh-CN" baseline="30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.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dirty="0">
                <a:ea typeface="宋体" panose="02010600030101010101" pitchFamily="2" charset="-122"/>
              </a:rPr>
              <a:t>Let </a:t>
            </a:r>
            <a:r>
              <a:rPr lang="en-US" altLang="zh-CN" i="1" dirty="0">
                <a:ea typeface="宋体" panose="02010600030101010101" pitchFamily="2" charset="-122"/>
              </a:rPr>
              <a:t>c</a:t>
            </a:r>
            <a:r>
              <a:rPr lang="en-US" altLang="zh-CN" dirty="0">
                <a:ea typeface="宋体" panose="02010600030101010101" pitchFamily="2" charset="-122"/>
              </a:rPr>
              <a:t>=2, </a:t>
            </a:r>
            <a:r>
              <a:rPr lang="en-US" altLang="zh-CN" i="1" dirty="0">
                <a:ea typeface="宋体" panose="02010600030101010101" pitchFamily="2" charset="-122"/>
              </a:rPr>
              <a:t>k</a:t>
            </a:r>
            <a:r>
              <a:rPr lang="en-US" altLang="zh-CN" dirty="0">
                <a:ea typeface="宋体" panose="02010600030101010101" pitchFamily="2" charset="-122"/>
              </a:rPr>
              <a:t>=1.  Assume </a:t>
            </a:r>
            <a:r>
              <a:rPr lang="en-US" altLang="zh-CN" i="1" dirty="0">
                <a:ea typeface="宋体" panose="02010600030101010101" pitchFamily="2" charset="-122"/>
              </a:rPr>
              <a:t>n</a:t>
            </a:r>
            <a:r>
              <a:rPr lang="en-US" altLang="zh-CN" dirty="0">
                <a:ea typeface="宋体" panose="02010600030101010101" pitchFamily="2" charset="-122"/>
              </a:rPr>
              <a:t>&gt;1.  Then 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i="1" dirty="0">
                <a:ea typeface="宋体" panose="02010600030101010101" pitchFamily="2" charset="-122"/>
              </a:rPr>
              <a:t>cn</a:t>
            </a:r>
            <a:r>
              <a:rPr lang="en-US" altLang="zh-CN" baseline="30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 = 2</a:t>
            </a:r>
            <a:r>
              <a:rPr lang="en-US" altLang="zh-CN" i="1" dirty="0">
                <a:ea typeface="宋体" panose="02010600030101010101" pitchFamily="2" charset="-122"/>
              </a:rPr>
              <a:t>n</a:t>
            </a:r>
            <a:r>
              <a:rPr lang="en-US" altLang="zh-CN" baseline="30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 = </a:t>
            </a:r>
            <a:r>
              <a:rPr lang="en-US" altLang="zh-CN" i="1" dirty="0">
                <a:ea typeface="宋体" panose="02010600030101010101" pitchFamily="2" charset="-122"/>
              </a:rPr>
              <a:t>n</a:t>
            </a:r>
            <a:r>
              <a:rPr lang="en-US" altLang="zh-CN" baseline="30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+</a:t>
            </a:r>
            <a:r>
              <a:rPr lang="en-US" altLang="zh-CN" i="1" dirty="0">
                <a:ea typeface="宋体" panose="02010600030101010101" pitchFamily="2" charset="-122"/>
              </a:rPr>
              <a:t>n</a:t>
            </a:r>
            <a:r>
              <a:rPr lang="en-US" altLang="zh-CN" baseline="30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 &gt; </a:t>
            </a:r>
            <a:r>
              <a:rPr lang="en-US" altLang="zh-CN" i="1" dirty="0">
                <a:ea typeface="宋体" panose="02010600030101010101" pitchFamily="2" charset="-122"/>
              </a:rPr>
              <a:t>n</a:t>
            </a:r>
            <a:r>
              <a:rPr lang="en-US" altLang="zh-CN" baseline="30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+1, or </a:t>
            </a:r>
            <a:r>
              <a:rPr lang="en-US" altLang="zh-CN" i="1" dirty="0">
                <a:ea typeface="宋体" panose="02010600030101010101" pitchFamily="2" charset="-122"/>
              </a:rPr>
              <a:t>n</a:t>
            </a:r>
            <a:r>
              <a:rPr lang="en-US" altLang="zh-CN" baseline="30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+1&lt; </a:t>
            </a:r>
            <a:r>
              <a:rPr lang="en-US" altLang="zh-CN" i="1" dirty="0">
                <a:ea typeface="宋体" panose="02010600030101010101" pitchFamily="2" charset="-122"/>
              </a:rPr>
              <a:t>cn</a:t>
            </a:r>
            <a:r>
              <a:rPr lang="en-US" altLang="zh-CN" baseline="30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.</a:t>
            </a:r>
            <a:endParaRPr lang="en-US" altLang="zh-CN" baseline="300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zh-CN" altLang="en-US" sz="1000" b="1" i="1" dirty="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8435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zh-CN" altLang="en-US" sz="1000" b="1" i="1" dirty="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8436" name="页脚占位符 5"/>
          <p:cNvSpPr txBox="1">
            <a:spLocks noGrp="1"/>
          </p:cNvSpPr>
          <p:nvPr>
            <p:ph type="ftr" sz="quarter" idx="12"/>
          </p:nvPr>
        </p:nvSpPr>
        <p:spPr>
          <a:xfrm>
            <a:off x="1547495" y="6400800"/>
            <a:ext cx="6292850" cy="457200"/>
          </a:xfrm>
        </p:spPr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 b="1" i="1" dirty="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8439" name="Rectangle 7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Big-O example, graphically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651500" y="2069783"/>
            <a:ext cx="2082800" cy="31845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1" u="sng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2"/>
          <p:cNvSpPr>
            <a:spLocks noGrp="1"/>
          </p:cNvSpPr>
          <p:nvPr>
            <p:ph idx="1"/>
          </p:nvPr>
        </p:nvSpPr>
        <p:spPr>
          <a:xfrm>
            <a:off x="417513" y="1564958"/>
            <a:ext cx="3794125" cy="4140200"/>
          </a:xfrm>
        </p:spPr>
        <p:txBody>
          <a:bodyPr vert="horz" wrap="square" lIns="91440" tIns="45720" rIns="91440" bIns="45720" anchor="t" anchorCtr="0"/>
          <a:p>
            <a:pPr algn="just"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 30</a:t>
            </a:r>
            <a:r>
              <a:rPr lang="en-US" altLang="zh-CN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+8 isn’t less than </a:t>
            </a:r>
            <a:r>
              <a:rPr lang="en-US" altLang="zh-CN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anywhere 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&gt;0).</a:t>
            </a:r>
            <a:endParaRPr lang="en-US" altLang="zh-C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isn’t even less than 31</a:t>
            </a:r>
            <a:r>
              <a:rPr lang="en-US" altLang="zh-CN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everywhere to the left of n=8.</a:t>
            </a:r>
            <a:endParaRPr lang="en-US" altLang="zh-C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it </a:t>
            </a:r>
            <a:r>
              <a:rPr lang="en-US" altLang="zh-CN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less than</a:t>
            </a:r>
            <a:b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r>
            <a:r>
              <a:rPr lang="en-US" altLang="zh-CN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everywhere to</a:t>
            </a:r>
            <a:b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right of </a:t>
            </a:r>
            <a:r>
              <a:rPr lang="en-US" altLang="zh-CN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=8. </a:t>
            </a:r>
            <a:endParaRPr lang="en-US" altLang="zh-CN" sz="2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Line 8"/>
          <p:cNvSpPr/>
          <p:nvPr/>
        </p:nvSpPr>
        <p:spPr>
          <a:xfrm flipV="1">
            <a:off x="4838700" y="2063433"/>
            <a:ext cx="0" cy="32004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" name="Line 9"/>
          <p:cNvSpPr/>
          <p:nvPr/>
        </p:nvSpPr>
        <p:spPr>
          <a:xfrm flipV="1">
            <a:off x="4838700" y="5262245"/>
            <a:ext cx="3352800" cy="1588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" name="Line 10"/>
          <p:cNvSpPr/>
          <p:nvPr/>
        </p:nvSpPr>
        <p:spPr>
          <a:xfrm flipV="1">
            <a:off x="4830763" y="2069783"/>
            <a:ext cx="2693987" cy="2509837"/>
          </a:xfrm>
          <a:prstGeom prst="line">
            <a:avLst/>
          </a:prstGeom>
          <a:ln w="57150" cap="flat" cmpd="sng">
            <a:solidFill>
              <a:srgbClr val="FFC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" name="Text Box 11"/>
          <p:cNvSpPr txBox="1"/>
          <p:nvPr/>
        </p:nvSpPr>
        <p:spPr>
          <a:xfrm>
            <a:off x="5386388" y="5262245"/>
            <a:ext cx="2182812" cy="460375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latin typeface="Times New Roman" panose="02020603050405020304" pitchFamily="18" charset="0"/>
              </a:rPr>
              <a:t>Increasing n 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endParaRPr lang="en-US" altLang="zh-CN" sz="2400" b="1" i="1" dirty="0">
              <a:latin typeface="Times New Roman" panose="02020603050405020304" pitchFamily="18" charset="0"/>
            </a:endParaRPr>
          </a:p>
        </p:txBody>
      </p:sp>
      <p:sp>
        <p:nvSpPr>
          <p:cNvPr id="11" name="Text Box 12"/>
          <p:cNvSpPr txBox="1"/>
          <p:nvPr/>
        </p:nvSpPr>
        <p:spPr>
          <a:xfrm rot="-5400000">
            <a:off x="3224213" y="3566795"/>
            <a:ext cx="2771775" cy="461963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latin typeface="Times New Roman" panose="02020603050405020304" pitchFamily="18" charset="0"/>
              </a:rPr>
              <a:t>Value of function 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endParaRPr lang="en-US" altLang="zh-CN" sz="2400" b="1" i="1" dirty="0">
              <a:latin typeface="Times New Roman" panose="02020603050405020304" pitchFamily="18" charset="0"/>
            </a:endParaRPr>
          </a:p>
        </p:txBody>
      </p:sp>
      <p:sp>
        <p:nvSpPr>
          <p:cNvPr id="12" name="Line 17"/>
          <p:cNvSpPr/>
          <p:nvPr/>
        </p:nvSpPr>
        <p:spPr>
          <a:xfrm flipV="1">
            <a:off x="4838700" y="2057083"/>
            <a:ext cx="1774825" cy="3206750"/>
          </a:xfrm>
          <a:prstGeom prst="line">
            <a:avLst/>
          </a:prstGeom>
          <a:ln w="381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3" name="Text Box 18"/>
          <p:cNvSpPr txBox="1"/>
          <p:nvPr/>
        </p:nvSpPr>
        <p:spPr>
          <a:xfrm>
            <a:off x="5534025" y="1444308"/>
            <a:ext cx="1628775" cy="461962"/>
          </a:xfrm>
          <a:prstGeom prst="rect">
            <a:avLst/>
          </a:prstGeom>
          <a:solidFill>
            <a:srgbClr val="99CCFF"/>
          </a:solidFill>
          <a:ln w="38100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latin typeface="Times New Roman" panose="02020603050405020304" pitchFamily="18" charset="0"/>
              </a:rPr>
              <a:t>y=cn =31n</a:t>
            </a:r>
            <a:endParaRPr lang="en-US" altLang="zh-CN" sz="2400" b="1" i="1" dirty="0">
              <a:latin typeface="Times New Roman" panose="02020603050405020304" pitchFamily="18" charset="0"/>
            </a:endParaRPr>
          </a:p>
        </p:txBody>
      </p:sp>
      <p:sp>
        <p:nvSpPr>
          <p:cNvPr id="14" name="Text Box 19"/>
          <p:cNvSpPr txBox="1"/>
          <p:nvPr/>
        </p:nvSpPr>
        <p:spPr>
          <a:xfrm>
            <a:off x="7262813" y="1455420"/>
            <a:ext cx="1412875" cy="457200"/>
          </a:xfrm>
          <a:prstGeom prst="rect">
            <a:avLst/>
          </a:prstGeom>
          <a:solidFill>
            <a:srgbClr val="FFC000"/>
          </a:solidFill>
          <a:ln w="50800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i="1" dirty="0">
                <a:latin typeface="Times New Roman" panose="02020603050405020304" pitchFamily="18" charset="0"/>
              </a:rPr>
              <a:t>y=30n+8</a:t>
            </a:r>
            <a:endParaRPr lang="en-US" altLang="zh-CN" sz="1600" b="1" i="1" dirty="0">
              <a:latin typeface="Times New Roman" panose="02020603050405020304" pitchFamily="18" charset="0"/>
            </a:endParaRPr>
          </a:p>
        </p:txBody>
      </p:sp>
      <p:sp>
        <p:nvSpPr>
          <p:cNvPr id="18448" name="矩形 3"/>
          <p:cNvSpPr/>
          <p:nvPr/>
        </p:nvSpPr>
        <p:spPr>
          <a:xfrm>
            <a:off x="3114675" y="5925820"/>
            <a:ext cx="5719763" cy="461963"/>
          </a:xfrm>
          <a:prstGeom prst="rect">
            <a:avLst/>
          </a:prstGeom>
          <a:solidFill>
            <a:srgbClr val="FFC000"/>
          </a:solidFill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c,k: n&gt;k: 30n+8  cn, thus 30n+8 O(n)</a:t>
            </a:r>
            <a:endParaRPr lang="zh-CN" altLang="en-US" sz="2400" b="1" i="1" dirty="0">
              <a:latin typeface="Times New Roman" panose="02020603050405020304" pitchFamily="18" charset="0"/>
            </a:endParaRPr>
          </a:p>
        </p:txBody>
      </p:sp>
      <p:cxnSp>
        <p:nvCxnSpPr>
          <p:cNvPr id="18449" name="直接连接符 6"/>
          <p:cNvCxnSpPr/>
          <p:nvPr/>
        </p:nvCxnSpPr>
        <p:spPr>
          <a:xfrm>
            <a:off x="5651500" y="2069783"/>
            <a:ext cx="0" cy="3184525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4" l="-25088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4" l="-25088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4" l="-25088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  <p:bldP spid="14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zh-CN" altLang="en-US" sz="1000" b="1" i="1" dirty="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9459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zh-CN" altLang="en-US" sz="1000" b="1" i="1" dirty="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9460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 b="1" i="1" dirty="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946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Some important Big-O results </a:t>
            </a:r>
            <a:endParaRPr lang="en-US" altLang="zh-CN" dirty="0"/>
          </a:p>
        </p:txBody>
      </p:sp>
      <p:sp>
        <p:nvSpPr>
          <p:cNvPr id="1946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dirty="0"/>
              <a:t>Theorem 1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Let 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x</a:t>
            </a:r>
            <a:r>
              <a:rPr lang="en-US" altLang="zh-CN" dirty="0"/>
              <a:t>) = 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n</a:t>
            </a:r>
            <a:r>
              <a:rPr lang="en-US" altLang="zh-CN" i="1" dirty="0"/>
              <a:t>x</a:t>
            </a:r>
            <a:r>
              <a:rPr lang="en-US" altLang="zh-CN" i="1" baseline="30000" dirty="0"/>
              <a:t>n</a:t>
            </a:r>
            <a:r>
              <a:rPr lang="en-US" altLang="zh-CN" baseline="30000" dirty="0"/>
              <a:t> </a:t>
            </a:r>
            <a:r>
              <a:rPr lang="en-US" altLang="zh-CN" i="1" dirty="0"/>
              <a:t>+</a:t>
            </a:r>
            <a:r>
              <a:rPr lang="en-US" altLang="zh-CN" baseline="30000" dirty="0"/>
              <a:t> 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n-1</a:t>
            </a:r>
            <a:r>
              <a:rPr lang="en-US" altLang="zh-CN" i="1" dirty="0"/>
              <a:t>x</a:t>
            </a:r>
            <a:r>
              <a:rPr lang="en-US" altLang="zh-CN" i="1" baseline="30000" dirty="0"/>
              <a:t>n-1</a:t>
            </a:r>
            <a:r>
              <a:rPr lang="en-US" altLang="zh-CN" baseline="30000" dirty="0"/>
              <a:t> </a:t>
            </a:r>
            <a:r>
              <a:rPr lang="en-US" altLang="zh-CN" i="1" dirty="0"/>
              <a:t>+…+ a</a:t>
            </a:r>
            <a:r>
              <a:rPr lang="en-US" altLang="zh-CN" i="1" baseline="-25000" dirty="0"/>
              <a:t>1</a:t>
            </a:r>
            <a:r>
              <a:rPr lang="en-US" altLang="zh-CN" i="1" dirty="0"/>
              <a:t>x+a</a:t>
            </a:r>
            <a:r>
              <a:rPr lang="en-US" altLang="zh-CN" i="1" baseline="-25000" dirty="0"/>
              <a:t>0</a:t>
            </a:r>
            <a:r>
              <a:rPr lang="en-US" altLang="zh-CN" baseline="30000" dirty="0"/>
              <a:t>  </a:t>
            </a:r>
            <a:r>
              <a:rPr lang="en-US" altLang="zh-CN" dirty="0"/>
              <a:t>,where 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0 </a:t>
            </a:r>
            <a:r>
              <a:rPr lang="en-US" altLang="zh-CN" dirty="0"/>
              <a:t>,</a:t>
            </a:r>
            <a:r>
              <a:rPr lang="en-US" altLang="zh-CN" i="1" baseline="-25000" dirty="0"/>
              <a:t> 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1 </a:t>
            </a:r>
            <a:r>
              <a:rPr lang="en-US" altLang="zh-CN" dirty="0"/>
              <a:t>,</a:t>
            </a:r>
            <a:r>
              <a:rPr lang="en-US" altLang="zh-CN" i="1" baseline="-25000" dirty="0"/>
              <a:t> </a:t>
            </a:r>
            <a:r>
              <a:rPr lang="en-US" altLang="zh-CN" i="1" dirty="0"/>
              <a:t>… a</a:t>
            </a:r>
            <a:r>
              <a:rPr lang="en-US" altLang="zh-CN" i="1" baseline="-25000" dirty="0"/>
              <a:t>n-1</a:t>
            </a:r>
            <a:r>
              <a:rPr lang="en-US" altLang="zh-CN" i="1" dirty="0"/>
              <a:t>, a</a:t>
            </a:r>
            <a:r>
              <a:rPr lang="en-US" altLang="zh-CN" i="1" baseline="-25000" dirty="0"/>
              <a:t>n</a:t>
            </a:r>
            <a:r>
              <a:rPr lang="en-US" altLang="zh-CN" i="1" dirty="0"/>
              <a:t> </a:t>
            </a:r>
            <a:r>
              <a:rPr lang="en-US" altLang="zh-CN" dirty="0"/>
              <a:t>are real numbers. Then 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x</a:t>
            </a:r>
            <a:r>
              <a:rPr lang="en-US" altLang="zh-CN" dirty="0"/>
              <a:t>) is </a:t>
            </a:r>
            <a:r>
              <a:rPr lang="en-US" altLang="zh-CN" i="1" dirty="0"/>
              <a:t>O</a:t>
            </a:r>
            <a:r>
              <a:rPr lang="en-US" altLang="zh-CN" dirty="0"/>
              <a:t>(</a:t>
            </a:r>
            <a:r>
              <a:rPr lang="en-US" altLang="zh-CN" i="1" dirty="0"/>
              <a:t>x</a:t>
            </a:r>
            <a:r>
              <a:rPr lang="en-US" altLang="zh-CN" i="1" baseline="30000" dirty="0"/>
              <a:t>n</a:t>
            </a:r>
            <a:r>
              <a:rPr lang="en-US" altLang="zh-CN" dirty="0"/>
              <a:t>) .</a:t>
            </a:r>
            <a:endParaRPr lang="en-US" altLang="zh-CN" dirty="0"/>
          </a:p>
          <a:p>
            <a:pPr eaLnBrk="1" hangingPunct="1">
              <a:lnSpc>
                <a:spcPct val="90000"/>
              </a:lnSpc>
            </a:pPr>
            <a:r>
              <a:rPr lang="en-US" altLang="zh-CN" i="1" dirty="0"/>
              <a:t>n</a:t>
            </a:r>
            <a:r>
              <a:rPr lang="en-US" altLang="zh-CN" dirty="0"/>
              <a:t>! is </a:t>
            </a:r>
            <a:r>
              <a:rPr lang="en-US" altLang="zh-CN" i="1" dirty="0"/>
              <a:t>O</a:t>
            </a:r>
            <a:r>
              <a:rPr lang="en-US" altLang="zh-CN" dirty="0"/>
              <a:t>(</a:t>
            </a:r>
            <a:r>
              <a:rPr lang="en-US" altLang="zh-CN" i="1" dirty="0"/>
              <a:t>n</a:t>
            </a:r>
            <a:r>
              <a:rPr lang="en-US" altLang="zh-CN" i="1" baseline="30000" dirty="0"/>
              <a:t>n</a:t>
            </a:r>
            <a:r>
              <a:rPr lang="en-US" altLang="zh-CN" dirty="0"/>
              <a:t>)</a:t>
            </a:r>
            <a:endParaRPr lang="en-US" altLang="zh-CN" dirty="0"/>
          </a:p>
          <a:p>
            <a:pPr eaLnBrk="1" hangingPunct="1">
              <a:lnSpc>
                <a:spcPct val="90000"/>
              </a:lnSpc>
            </a:pPr>
            <a:r>
              <a:rPr lang="en-US" altLang="zh-CN" dirty="0"/>
              <a:t>log </a:t>
            </a:r>
            <a:r>
              <a:rPr lang="en-US" altLang="zh-CN" i="1" dirty="0"/>
              <a:t>n</a:t>
            </a:r>
            <a:r>
              <a:rPr lang="en-US" altLang="zh-CN" dirty="0"/>
              <a:t>! is </a:t>
            </a:r>
            <a:r>
              <a:rPr lang="en-US" altLang="zh-CN" i="1" dirty="0"/>
              <a:t>O</a:t>
            </a:r>
            <a:r>
              <a:rPr lang="en-US" altLang="zh-CN" dirty="0"/>
              <a:t>(</a:t>
            </a:r>
            <a:r>
              <a:rPr lang="en-US" altLang="zh-CN" i="1" dirty="0"/>
              <a:t>n</a:t>
            </a:r>
            <a:r>
              <a:rPr lang="en-US" altLang="zh-CN" dirty="0"/>
              <a:t>log</a:t>
            </a:r>
            <a:r>
              <a:rPr lang="en-US" altLang="zh-CN" i="1" dirty="0"/>
              <a:t>n</a:t>
            </a:r>
            <a:r>
              <a:rPr lang="en-US" altLang="zh-CN" dirty="0"/>
              <a:t>)</a:t>
            </a:r>
            <a:endParaRPr lang="en-US" altLang="zh-CN" dirty="0"/>
          </a:p>
          <a:p>
            <a:pPr eaLnBrk="1" hangingPunct="1">
              <a:lnSpc>
                <a:spcPct val="90000"/>
              </a:lnSpc>
            </a:pPr>
            <a:r>
              <a:rPr lang="en-US" altLang="zh-CN" dirty="0"/>
              <a:t>log </a:t>
            </a:r>
            <a:r>
              <a:rPr lang="en-US" altLang="zh-CN" i="1" dirty="0"/>
              <a:t>n</a:t>
            </a:r>
            <a:r>
              <a:rPr lang="en-US" altLang="zh-CN" dirty="0"/>
              <a:t> is </a:t>
            </a:r>
            <a:r>
              <a:rPr lang="en-US" altLang="zh-CN" i="1" dirty="0"/>
              <a:t>O</a:t>
            </a:r>
            <a:r>
              <a:rPr lang="en-US" altLang="zh-CN" dirty="0"/>
              <a:t>(</a:t>
            </a:r>
            <a:r>
              <a:rPr lang="en-US" altLang="zh-CN" i="1" dirty="0"/>
              <a:t>n</a:t>
            </a:r>
            <a:r>
              <a:rPr lang="en-US" altLang="zh-CN" dirty="0"/>
              <a:t>)</a:t>
            </a:r>
            <a:endParaRPr lang="en-US" altLang="zh-CN" dirty="0"/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sym typeface="+mn-ea"/>
              </a:rPr>
              <a:t>1, log </a:t>
            </a:r>
            <a:r>
              <a:rPr lang="en-US" altLang="zh-CN" i="1" dirty="0">
                <a:sym typeface="+mn-ea"/>
              </a:rPr>
              <a:t>n</a:t>
            </a:r>
            <a:r>
              <a:rPr lang="en-US" altLang="zh-CN" dirty="0">
                <a:sym typeface="+mn-ea"/>
              </a:rPr>
              <a:t>, </a:t>
            </a:r>
            <a:r>
              <a:rPr lang="en-US" altLang="zh-CN" i="1" dirty="0">
                <a:sym typeface="+mn-ea"/>
              </a:rPr>
              <a:t>n</a:t>
            </a:r>
            <a:r>
              <a:rPr lang="en-US" altLang="zh-CN" dirty="0">
                <a:sym typeface="+mn-ea"/>
              </a:rPr>
              <a:t>, </a:t>
            </a:r>
            <a:r>
              <a:rPr lang="en-US" altLang="zh-CN" i="1" dirty="0">
                <a:sym typeface="+mn-ea"/>
              </a:rPr>
              <a:t>n</a:t>
            </a:r>
            <a:r>
              <a:rPr lang="en-US" altLang="zh-CN" dirty="0">
                <a:sym typeface="+mn-ea"/>
              </a:rPr>
              <a:t>log</a:t>
            </a:r>
            <a:r>
              <a:rPr lang="en-US" altLang="zh-CN" i="1" dirty="0">
                <a:sym typeface="+mn-ea"/>
              </a:rPr>
              <a:t>n</a:t>
            </a:r>
            <a:r>
              <a:rPr lang="en-US" altLang="zh-CN" dirty="0">
                <a:sym typeface="+mn-ea"/>
              </a:rPr>
              <a:t>, </a:t>
            </a:r>
            <a:r>
              <a:rPr lang="en-US" altLang="zh-CN" i="1" dirty="0">
                <a:sym typeface="+mn-ea"/>
              </a:rPr>
              <a:t>n</a:t>
            </a:r>
            <a:r>
              <a:rPr lang="en-US" altLang="zh-CN" baseline="30000" dirty="0">
                <a:sym typeface="+mn-ea"/>
              </a:rPr>
              <a:t>2</a:t>
            </a:r>
            <a:r>
              <a:rPr lang="en-US" altLang="zh-CN" dirty="0">
                <a:sym typeface="+mn-ea"/>
              </a:rPr>
              <a:t>, 2</a:t>
            </a:r>
            <a:r>
              <a:rPr lang="en-US" altLang="zh-CN" i="1" baseline="30000" dirty="0">
                <a:sym typeface="+mn-ea"/>
              </a:rPr>
              <a:t>n</a:t>
            </a:r>
            <a:r>
              <a:rPr lang="en-US" altLang="zh-CN" dirty="0">
                <a:sym typeface="+mn-ea"/>
              </a:rPr>
              <a:t>, </a:t>
            </a:r>
            <a:r>
              <a:rPr lang="en-US" altLang="zh-CN" i="1" dirty="0">
                <a:sym typeface="+mn-ea"/>
              </a:rPr>
              <a:t>n</a:t>
            </a:r>
            <a:r>
              <a:rPr lang="en-US" altLang="zh-CN" dirty="0">
                <a:sym typeface="+mn-ea"/>
              </a:rPr>
              <a:t>!</a:t>
            </a:r>
            <a:endParaRPr lang="en-US" altLang="zh-CN" dirty="0"/>
          </a:p>
          <a:p>
            <a:pPr eaLnBrk="1" hangingPunct="1">
              <a:lnSpc>
                <a:spcPct val="90000"/>
              </a:lnSpc>
            </a:pPr>
            <a:endParaRPr lang="en-US" altLang="zh-C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en-US" altLang="zh-CN" dirty="0"/>
              <a:t>Display of Growth of Functions</a:t>
            </a:r>
            <a:endParaRPr lang="en-US" altLang="zh-CN" dirty="0"/>
          </a:p>
        </p:txBody>
      </p:sp>
      <p:pic>
        <p:nvPicPr>
          <p:cNvPr id="20483" name="Content Placeholder 3" descr="0309.jpg"/>
          <p:cNvPicPr>
            <a:picLocks noGrp="1" noChangeAspect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2523490" y="1771650"/>
            <a:ext cx="5193030" cy="4220210"/>
          </a:xfrm>
        </p:spPr>
      </p:pic>
      <p:sp>
        <p:nvSpPr>
          <p:cNvPr id="20484" name="TextBox 5"/>
          <p:cNvSpPr txBox="1"/>
          <p:nvPr/>
        </p:nvSpPr>
        <p:spPr>
          <a:xfrm>
            <a:off x="394335" y="6021070"/>
            <a:ext cx="848487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folHlink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folHlink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folHlink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folHlink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folHlink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Note the difference in behavior of functions as </a:t>
            </a:r>
            <a:r>
              <a:rPr lang="en-US" altLang="zh-CN" sz="2400" i="1" dirty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n</a:t>
            </a:r>
            <a:r>
              <a:rPr lang="en-US" altLang="zh-CN" sz="2400" dirty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gets larger</a:t>
            </a:r>
            <a:endParaRPr lang="en-US" altLang="zh-CN" sz="2400" dirty="0">
              <a:solidFill>
                <a:schemeClr val="tx1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87450" y="1300480"/>
            <a:ext cx="5116195" cy="5359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sym typeface="+mn-ea"/>
              </a:rPr>
              <a:t>1, log </a:t>
            </a:r>
            <a:r>
              <a:rPr lang="en-US" altLang="zh-CN" sz="2800" i="1" dirty="0">
                <a:sym typeface="+mn-ea"/>
              </a:rPr>
              <a:t>n</a:t>
            </a:r>
            <a:r>
              <a:rPr lang="en-US" altLang="zh-CN" sz="2800" dirty="0">
                <a:sym typeface="+mn-ea"/>
              </a:rPr>
              <a:t>, </a:t>
            </a:r>
            <a:r>
              <a:rPr lang="en-US" altLang="zh-CN" sz="2800" i="1" dirty="0">
                <a:sym typeface="+mn-ea"/>
              </a:rPr>
              <a:t>n</a:t>
            </a:r>
            <a:r>
              <a:rPr lang="en-US" altLang="zh-CN" sz="2800" dirty="0">
                <a:sym typeface="+mn-ea"/>
              </a:rPr>
              <a:t>, </a:t>
            </a:r>
            <a:r>
              <a:rPr lang="en-US" altLang="zh-CN" sz="2800" i="1" dirty="0">
                <a:sym typeface="+mn-ea"/>
              </a:rPr>
              <a:t>n</a:t>
            </a:r>
            <a:r>
              <a:rPr lang="en-US" altLang="zh-CN" sz="2800" dirty="0">
                <a:sym typeface="+mn-ea"/>
              </a:rPr>
              <a:t>log</a:t>
            </a:r>
            <a:r>
              <a:rPr lang="en-US" altLang="zh-CN" sz="2800" i="1" dirty="0">
                <a:sym typeface="+mn-ea"/>
              </a:rPr>
              <a:t>n</a:t>
            </a:r>
            <a:r>
              <a:rPr lang="en-US" altLang="zh-CN" sz="2800" dirty="0">
                <a:sym typeface="+mn-ea"/>
              </a:rPr>
              <a:t>, </a:t>
            </a:r>
            <a:r>
              <a:rPr lang="en-US" altLang="zh-CN" sz="2800" i="1" dirty="0">
                <a:sym typeface="+mn-ea"/>
              </a:rPr>
              <a:t>n</a:t>
            </a:r>
            <a:r>
              <a:rPr lang="en-US" altLang="zh-CN" sz="2800" baseline="30000" dirty="0">
                <a:sym typeface="+mn-ea"/>
              </a:rPr>
              <a:t>2</a:t>
            </a:r>
            <a:r>
              <a:rPr lang="en-US" altLang="zh-CN" sz="2800" dirty="0">
                <a:sym typeface="+mn-ea"/>
              </a:rPr>
              <a:t>, 2</a:t>
            </a:r>
            <a:r>
              <a:rPr lang="en-US" altLang="zh-CN" sz="2800" i="1" baseline="30000" dirty="0">
                <a:sym typeface="+mn-ea"/>
              </a:rPr>
              <a:t>n</a:t>
            </a:r>
            <a:r>
              <a:rPr lang="en-US" altLang="zh-CN" sz="2800" dirty="0">
                <a:sym typeface="+mn-ea"/>
              </a:rPr>
              <a:t>, </a:t>
            </a:r>
            <a:r>
              <a:rPr lang="en-US" altLang="zh-CN" sz="2800" i="1" dirty="0">
                <a:sym typeface="+mn-ea"/>
              </a:rPr>
              <a:t>n</a:t>
            </a:r>
            <a:r>
              <a:rPr lang="en-US" altLang="zh-CN" sz="2800" dirty="0">
                <a:sym typeface="+mn-ea"/>
              </a:rPr>
              <a:t>!</a:t>
            </a:r>
            <a:endParaRPr lang="en-US" altLang="zh-CN" sz="2800" dirty="0"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en-US" altLang="zh-CN" sz="4000" dirty="0"/>
              <a:t>Useful Big-</a:t>
            </a:r>
            <a:r>
              <a:rPr lang="en-US" altLang="zh-CN" sz="4000" i="1" dirty="0"/>
              <a:t>O</a:t>
            </a:r>
            <a:r>
              <a:rPr lang="en-US" altLang="zh-CN" sz="4000" dirty="0"/>
              <a:t> Estimates Involving Logarithms, Powers, and Exponents</a:t>
            </a:r>
            <a:endParaRPr lang="en-US" altLang="zh-CN" sz="4000" dirty="0"/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>
          <a:xfrm>
            <a:off x="-36830" y="1371600"/>
            <a:ext cx="7009765" cy="4114800"/>
          </a:xfrm>
        </p:spPr>
        <p:txBody>
          <a:bodyPr vert="horz" wrap="square" lIns="91440" tIns="45720" rIns="91440" bIns="45720" anchor="t" anchorCtr="0"/>
          <a:p>
            <a:r>
              <a:rPr lang="en-US" altLang="zh-CN" sz="2800" dirty="0"/>
              <a:t>If </a:t>
            </a:r>
            <a:r>
              <a:rPr lang="en-US" altLang="zh-CN" sz="2800" i="1" dirty="0"/>
              <a:t>d</a:t>
            </a:r>
            <a:r>
              <a:rPr lang="en-US" altLang="zh-CN" sz="2800" dirty="0"/>
              <a:t> &gt; c &gt; </a:t>
            </a:r>
            <a:r>
              <a:rPr lang="en-US" altLang="zh-CN" sz="2800" dirty="0">
                <a:latin typeface="Cambria Math" panose="02040503050406030204" pitchFamily="18" charset="0"/>
              </a:rPr>
              <a:t>1</a:t>
            </a:r>
            <a:r>
              <a:rPr lang="en-US" altLang="zh-CN" sz="2800" dirty="0"/>
              <a:t>, then </a:t>
            </a:r>
            <a:endParaRPr lang="en-US" altLang="zh-CN" sz="2800" dirty="0"/>
          </a:p>
          <a:p>
            <a:pPr>
              <a:buNone/>
            </a:pPr>
            <a:r>
              <a:rPr lang="en-US" altLang="zh-CN" sz="2800" i="1" dirty="0"/>
              <a:t>       n</a:t>
            </a:r>
            <a:r>
              <a:rPr lang="en-US" altLang="zh-CN" sz="2800" i="1" baseline="30000" dirty="0"/>
              <a:t>c</a:t>
            </a:r>
            <a:r>
              <a:rPr lang="en-US" altLang="zh-CN" sz="2800" baseline="30000" dirty="0"/>
              <a:t>  </a:t>
            </a:r>
            <a:r>
              <a:rPr lang="en-US" altLang="zh-CN" sz="2800" dirty="0"/>
              <a:t>is </a:t>
            </a:r>
            <a:r>
              <a:rPr lang="en-US" altLang="zh-CN" sz="2800" i="1" dirty="0"/>
              <a:t>O</a:t>
            </a:r>
            <a:r>
              <a:rPr lang="en-US" altLang="zh-CN" sz="2800" dirty="0"/>
              <a:t>(</a:t>
            </a:r>
            <a:r>
              <a:rPr lang="en-US" altLang="zh-CN" sz="2800" i="1" dirty="0"/>
              <a:t>n</a:t>
            </a:r>
            <a:r>
              <a:rPr lang="en-US" altLang="zh-CN" sz="2800" i="1" baseline="30000" dirty="0"/>
              <a:t>d</a:t>
            </a:r>
            <a:r>
              <a:rPr lang="en-US" altLang="zh-CN" sz="2800" dirty="0"/>
              <a:t>), but </a:t>
            </a:r>
            <a:r>
              <a:rPr lang="en-US" altLang="zh-CN" sz="2800" i="1" dirty="0"/>
              <a:t>n</a:t>
            </a:r>
            <a:r>
              <a:rPr lang="en-US" altLang="zh-CN" sz="2800" i="1" baseline="30000" dirty="0"/>
              <a:t>d </a:t>
            </a:r>
            <a:r>
              <a:rPr lang="en-US" altLang="zh-CN" sz="2800" dirty="0"/>
              <a:t>is not  </a:t>
            </a:r>
            <a:r>
              <a:rPr lang="en-US" altLang="zh-CN" sz="2800" i="1" dirty="0"/>
              <a:t>O</a:t>
            </a:r>
            <a:r>
              <a:rPr lang="en-US" altLang="zh-CN" sz="2800" dirty="0"/>
              <a:t>(</a:t>
            </a:r>
            <a:r>
              <a:rPr lang="en-US" altLang="zh-CN" sz="2800" i="1" dirty="0"/>
              <a:t>n</a:t>
            </a:r>
            <a:r>
              <a:rPr lang="en-US" altLang="zh-CN" sz="2800" i="1" baseline="30000" dirty="0"/>
              <a:t>c</a:t>
            </a:r>
            <a:r>
              <a:rPr lang="en-US" altLang="zh-CN" sz="2800" dirty="0"/>
              <a:t>). </a:t>
            </a:r>
            <a:endParaRPr lang="en-US" altLang="zh-CN" sz="2800" dirty="0"/>
          </a:p>
          <a:p>
            <a:r>
              <a:rPr lang="en-US" altLang="zh-CN" sz="2800" dirty="0"/>
              <a:t>If  b &gt; </a:t>
            </a:r>
            <a:r>
              <a:rPr lang="en-US" altLang="zh-CN" sz="2800" dirty="0">
                <a:latin typeface="Cambria Math" panose="02040503050406030204" pitchFamily="18" charset="0"/>
              </a:rPr>
              <a:t>1</a:t>
            </a:r>
            <a:r>
              <a:rPr lang="en-US" altLang="zh-CN" sz="2800" dirty="0"/>
              <a:t>  and </a:t>
            </a:r>
            <a:r>
              <a:rPr lang="en-US" altLang="zh-CN" sz="2800" i="1" dirty="0"/>
              <a:t>c</a:t>
            </a:r>
            <a:r>
              <a:rPr lang="en-US" altLang="zh-CN" sz="2800" dirty="0"/>
              <a:t> and </a:t>
            </a:r>
            <a:r>
              <a:rPr lang="en-US" altLang="zh-CN" sz="2800" i="1" dirty="0"/>
              <a:t>d</a:t>
            </a:r>
            <a:r>
              <a:rPr lang="en-US" altLang="zh-CN" sz="2800" dirty="0"/>
              <a:t> are positive, then </a:t>
            </a:r>
            <a:endParaRPr lang="en-US" altLang="zh-CN" sz="2800" dirty="0"/>
          </a:p>
          <a:p>
            <a:pPr>
              <a:buNone/>
            </a:pPr>
            <a:r>
              <a:rPr lang="en-US" altLang="zh-CN" sz="2800" i="1" dirty="0"/>
              <a:t>     </a:t>
            </a:r>
            <a:r>
              <a:rPr lang="en-US" altLang="zh-CN" sz="2800" dirty="0"/>
              <a:t>(log</a:t>
            </a:r>
            <a:r>
              <a:rPr lang="en-US" altLang="zh-CN" sz="2800" baseline="-25000" dirty="0"/>
              <a:t>b</a:t>
            </a:r>
            <a:r>
              <a:rPr lang="en-US" altLang="zh-CN" sz="2800" i="1" dirty="0"/>
              <a:t>n</a:t>
            </a:r>
            <a:r>
              <a:rPr lang="en-US" altLang="zh-CN" sz="2800" dirty="0"/>
              <a:t>)</a:t>
            </a:r>
            <a:r>
              <a:rPr lang="en-US" altLang="zh-CN" sz="2800" i="1" baseline="30000" dirty="0"/>
              <a:t>c</a:t>
            </a:r>
            <a:r>
              <a:rPr lang="en-US" altLang="zh-CN" sz="2800" baseline="30000" dirty="0"/>
              <a:t>  </a:t>
            </a:r>
            <a:r>
              <a:rPr lang="en-US" altLang="zh-CN" sz="2800" dirty="0"/>
              <a:t>is </a:t>
            </a:r>
            <a:r>
              <a:rPr lang="en-US" altLang="zh-CN" sz="2800" i="1" dirty="0"/>
              <a:t>O</a:t>
            </a:r>
            <a:r>
              <a:rPr lang="en-US" altLang="zh-CN" sz="2800" dirty="0"/>
              <a:t>(</a:t>
            </a:r>
            <a:r>
              <a:rPr lang="en-US" altLang="zh-CN" sz="2800" i="1" dirty="0"/>
              <a:t>n</a:t>
            </a:r>
            <a:r>
              <a:rPr lang="en-US" altLang="zh-CN" sz="2800" i="1" baseline="30000" dirty="0"/>
              <a:t>d</a:t>
            </a:r>
            <a:r>
              <a:rPr lang="en-US" altLang="zh-CN" sz="2800" dirty="0"/>
              <a:t>), but </a:t>
            </a:r>
            <a:r>
              <a:rPr lang="en-US" altLang="zh-CN" sz="2800" i="1" dirty="0"/>
              <a:t>n</a:t>
            </a:r>
            <a:r>
              <a:rPr lang="en-US" altLang="zh-CN" sz="2800" i="1" baseline="30000" dirty="0"/>
              <a:t>d </a:t>
            </a:r>
            <a:r>
              <a:rPr lang="en-US" altLang="zh-CN" sz="2800" dirty="0"/>
              <a:t>is not </a:t>
            </a:r>
            <a:r>
              <a:rPr lang="en-US" altLang="zh-CN" sz="2800" i="1" dirty="0"/>
              <a:t>O</a:t>
            </a:r>
            <a:r>
              <a:rPr lang="en-US" altLang="zh-CN" sz="2800" dirty="0"/>
              <a:t>((log</a:t>
            </a:r>
            <a:r>
              <a:rPr lang="en-US" altLang="zh-CN" sz="2800" baseline="-25000" dirty="0"/>
              <a:t>b</a:t>
            </a:r>
            <a:r>
              <a:rPr lang="en-US" altLang="zh-CN" sz="2800" i="1" dirty="0"/>
              <a:t>n</a:t>
            </a:r>
            <a:r>
              <a:rPr lang="en-US" altLang="zh-CN" sz="2800" dirty="0"/>
              <a:t>)</a:t>
            </a:r>
            <a:r>
              <a:rPr lang="en-US" altLang="zh-CN" sz="2800" i="1" baseline="30000" dirty="0"/>
              <a:t>c</a:t>
            </a:r>
            <a:r>
              <a:rPr lang="en-US" altLang="zh-CN" sz="2800" dirty="0"/>
              <a:t>). </a:t>
            </a:r>
            <a:endParaRPr lang="en-US" altLang="zh-CN" sz="2800" dirty="0"/>
          </a:p>
          <a:p>
            <a:r>
              <a:rPr lang="en-US" altLang="zh-CN" sz="2800" dirty="0"/>
              <a:t> If  b &gt; </a:t>
            </a:r>
            <a:r>
              <a:rPr lang="en-US" altLang="zh-CN" sz="2800" dirty="0">
                <a:latin typeface="Cambria Math" panose="02040503050406030204" pitchFamily="18" charset="0"/>
              </a:rPr>
              <a:t>1</a:t>
            </a:r>
            <a:r>
              <a:rPr lang="en-US" altLang="zh-CN" sz="2800" dirty="0"/>
              <a:t>  and  </a:t>
            </a:r>
            <a:r>
              <a:rPr lang="en-US" altLang="zh-CN" sz="2800" i="1" dirty="0"/>
              <a:t>d</a:t>
            </a:r>
            <a:r>
              <a:rPr lang="en-US" altLang="zh-CN" sz="2800" dirty="0"/>
              <a:t> is positive, then </a:t>
            </a:r>
            <a:endParaRPr lang="en-US" altLang="zh-CN" sz="2800" dirty="0"/>
          </a:p>
          <a:p>
            <a:pPr>
              <a:buNone/>
            </a:pPr>
            <a:r>
              <a:rPr lang="en-US" altLang="zh-CN" sz="2800" i="1" dirty="0"/>
              <a:t>       n</a:t>
            </a:r>
            <a:r>
              <a:rPr lang="en-US" altLang="zh-CN" sz="2800" i="1" baseline="30000" dirty="0"/>
              <a:t>d</a:t>
            </a:r>
            <a:r>
              <a:rPr lang="en-US" altLang="zh-CN" sz="2800" baseline="30000" dirty="0"/>
              <a:t>  </a:t>
            </a:r>
            <a:r>
              <a:rPr lang="en-US" altLang="zh-CN" sz="2800" dirty="0"/>
              <a:t>is </a:t>
            </a:r>
            <a:r>
              <a:rPr lang="en-US" altLang="zh-CN" sz="2800" i="1" dirty="0"/>
              <a:t>O</a:t>
            </a:r>
            <a:r>
              <a:rPr lang="en-US" altLang="zh-CN" sz="2800" dirty="0"/>
              <a:t>(</a:t>
            </a:r>
            <a:r>
              <a:rPr lang="en-US" altLang="zh-CN" sz="2800" i="1" dirty="0"/>
              <a:t>b</a:t>
            </a:r>
            <a:r>
              <a:rPr lang="en-US" altLang="zh-CN" sz="2800" i="1" baseline="30000" dirty="0"/>
              <a:t>n</a:t>
            </a:r>
            <a:r>
              <a:rPr lang="en-US" altLang="zh-CN" sz="2800" dirty="0"/>
              <a:t>), but </a:t>
            </a:r>
            <a:r>
              <a:rPr lang="en-US" altLang="zh-CN" sz="2800" i="1" dirty="0"/>
              <a:t>b</a:t>
            </a:r>
            <a:r>
              <a:rPr lang="en-US" altLang="zh-CN" sz="2800" i="1" baseline="30000" dirty="0"/>
              <a:t>n </a:t>
            </a:r>
            <a:r>
              <a:rPr lang="en-US" altLang="zh-CN" sz="2800" dirty="0"/>
              <a:t>is not  </a:t>
            </a:r>
            <a:r>
              <a:rPr lang="en-US" altLang="zh-CN" sz="2800" i="1" dirty="0"/>
              <a:t>O</a:t>
            </a:r>
            <a:r>
              <a:rPr lang="en-US" altLang="zh-CN" sz="2800" dirty="0"/>
              <a:t>(</a:t>
            </a:r>
            <a:r>
              <a:rPr lang="en-US" altLang="zh-CN" sz="2800" i="1" dirty="0"/>
              <a:t>n</a:t>
            </a:r>
            <a:r>
              <a:rPr lang="en-US" altLang="zh-CN" sz="2800" i="1" baseline="30000" dirty="0"/>
              <a:t>d</a:t>
            </a:r>
            <a:r>
              <a:rPr lang="en-US" altLang="zh-CN" sz="2800" dirty="0"/>
              <a:t>).</a:t>
            </a:r>
            <a:endParaRPr lang="en-US" altLang="zh-CN" sz="2800" dirty="0"/>
          </a:p>
          <a:p>
            <a:r>
              <a:rPr lang="en-US" altLang="zh-CN" sz="2800" dirty="0"/>
              <a:t> If </a:t>
            </a:r>
            <a:r>
              <a:rPr lang="en-US" altLang="zh-CN" sz="2800" i="1" dirty="0"/>
              <a:t>c</a:t>
            </a:r>
            <a:r>
              <a:rPr lang="en-US" altLang="zh-CN" sz="2800" dirty="0"/>
              <a:t> &gt; b &gt; </a:t>
            </a:r>
            <a:r>
              <a:rPr lang="en-US" altLang="zh-CN" sz="2800" dirty="0">
                <a:latin typeface="Cambria Math" panose="02040503050406030204" pitchFamily="18" charset="0"/>
              </a:rPr>
              <a:t>1</a:t>
            </a:r>
            <a:r>
              <a:rPr lang="en-US" altLang="zh-CN" sz="2800" dirty="0"/>
              <a:t>, then </a:t>
            </a:r>
            <a:endParaRPr lang="en-US" altLang="zh-CN" sz="2800" dirty="0"/>
          </a:p>
          <a:p>
            <a:pPr>
              <a:buNone/>
            </a:pPr>
            <a:r>
              <a:rPr lang="en-US" altLang="zh-CN" sz="2800" i="1" dirty="0"/>
              <a:t>       b</a:t>
            </a:r>
            <a:r>
              <a:rPr lang="en-US" altLang="zh-CN" sz="2800" i="1" baseline="30000" dirty="0"/>
              <a:t>n</a:t>
            </a:r>
            <a:r>
              <a:rPr lang="en-US" altLang="zh-CN" sz="2800" baseline="30000" dirty="0"/>
              <a:t>  </a:t>
            </a:r>
            <a:r>
              <a:rPr lang="en-US" altLang="zh-CN" sz="2800" dirty="0"/>
              <a:t>is </a:t>
            </a:r>
            <a:r>
              <a:rPr lang="en-US" altLang="zh-CN" sz="2800" i="1" dirty="0"/>
              <a:t>O</a:t>
            </a:r>
            <a:r>
              <a:rPr lang="en-US" altLang="zh-CN" sz="2800" dirty="0"/>
              <a:t>(</a:t>
            </a:r>
            <a:r>
              <a:rPr lang="en-US" altLang="zh-CN" sz="2800" i="1" dirty="0"/>
              <a:t>c</a:t>
            </a:r>
            <a:r>
              <a:rPr lang="en-US" altLang="zh-CN" sz="2800" i="1" baseline="30000" dirty="0"/>
              <a:t>n</a:t>
            </a:r>
            <a:r>
              <a:rPr lang="en-US" altLang="zh-CN" sz="2800" dirty="0"/>
              <a:t>), but </a:t>
            </a:r>
            <a:r>
              <a:rPr lang="en-US" altLang="zh-CN" sz="2800" i="1" dirty="0"/>
              <a:t>c</a:t>
            </a:r>
            <a:r>
              <a:rPr lang="en-US" altLang="zh-CN" sz="2800" i="1" baseline="30000" dirty="0"/>
              <a:t>n </a:t>
            </a:r>
            <a:r>
              <a:rPr lang="en-US" altLang="zh-CN" sz="2800" dirty="0"/>
              <a:t>is not  </a:t>
            </a:r>
            <a:r>
              <a:rPr lang="en-US" altLang="zh-CN" sz="2800" i="1" dirty="0"/>
              <a:t>O</a:t>
            </a:r>
            <a:r>
              <a:rPr lang="en-US" altLang="zh-CN" sz="2800" dirty="0"/>
              <a:t>(</a:t>
            </a:r>
            <a:r>
              <a:rPr lang="en-US" altLang="zh-CN" sz="2800" i="1" dirty="0"/>
              <a:t>b</a:t>
            </a:r>
            <a:r>
              <a:rPr lang="en-US" altLang="zh-CN" sz="2800" i="1" baseline="30000" dirty="0"/>
              <a:t>n</a:t>
            </a:r>
            <a:r>
              <a:rPr lang="en-US" altLang="zh-CN" sz="2800" dirty="0"/>
              <a:t>).</a:t>
            </a:r>
            <a:endParaRPr lang="en-US" altLang="zh-CN" sz="2800" dirty="0"/>
          </a:p>
          <a:p>
            <a:pPr>
              <a:buNone/>
            </a:pPr>
            <a:endParaRPr lang="en-US" altLang="zh-CN" dirty="0"/>
          </a:p>
          <a:p>
            <a:pPr>
              <a:buNone/>
            </a:pPr>
            <a:endParaRPr lang="en-US" altLang="zh-CN" dirty="0"/>
          </a:p>
        </p:txBody>
      </p:sp>
      <p:sp>
        <p:nvSpPr>
          <p:cNvPr id="2" name="矩形 1"/>
          <p:cNvSpPr/>
          <p:nvPr/>
        </p:nvSpPr>
        <p:spPr>
          <a:xfrm>
            <a:off x="6659880" y="1988820"/>
            <a:ext cx="2147570" cy="1630045"/>
          </a:xfrm>
          <a:prstGeom prst="rect">
            <a:avLst/>
          </a:prstGeom>
          <a:solidFill>
            <a:srgbClr val="FFC000"/>
          </a:solidFill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latin typeface="Times New Roman" panose="02020603050405020304" pitchFamily="18" charset="0"/>
              </a:rPr>
              <a:t>原则：</a:t>
            </a:r>
            <a:r>
              <a:rPr lang="zh-CN" altLang="en-US" sz="2000" dirty="0">
                <a:latin typeface="Times New Roman" panose="02020603050405020304" pitchFamily="18" charset="0"/>
              </a:rPr>
              <a:t>增长慢的可以向增长快的估计，但增长快的不能向增长慢的估计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515735" y="4220845"/>
            <a:ext cx="2363470" cy="1014730"/>
          </a:xfrm>
          <a:prstGeom prst="rect">
            <a:avLst/>
          </a:prstGeom>
          <a:solidFill>
            <a:srgbClr val="FFC000"/>
          </a:solidFill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latin typeface="Times New Roman" panose="02020603050405020304" pitchFamily="18" charset="0"/>
              </a:rPr>
              <a:t>应用：</a:t>
            </a:r>
            <a:r>
              <a:rPr lang="zh-CN" altLang="en-US" sz="2000" dirty="0">
                <a:latin typeface="Times New Roman" panose="02020603050405020304" pitchFamily="18" charset="0"/>
              </a:rPr>
              <a:t>可以对不同函数的增长速度进行排序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5" grpId="0" animBg="1"/>
      <p:bldP spid="5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9478" y="116523"/>
            <a:ext cx="7885113" cy="1143000"/>
          </a:xfrm>
        </p:spPr>
        <p:txBody>
          <a:bodyPr vert="horz" wrap="square" lIns="91440" tIns="45720" rIns="91440" bIns="45720" numCol="1" anchor="b" anchorCtr="0" compatLnSpc="1">
            <a:normAutofit fontScale="9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j-ea"/>
                <a:cs typeface="Times New Roman" panose="02020603050405020304" pitchFamily="18" charset="0"/>
              </a:rPr>
              <a:t>Ordering Functions by Order of Growth</a:t>
            </a:r>
            <a:endParaRPr kumimoji="1" lang="en-US" sz="40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>
          <a:xfrm>
            <a:off x="467043" y="1268413"/>
            <a:ext cx="7772400" cy="4114800"/>
          </a:xfrm>
        </p:spPr>
        <p:txBody>
          <a:bodyPr vert="horz" wrap="square" lIns="91440" tIns="45720" rIns="91440" bIns="45720" anchor="t" anchorCtr="0"/>
          <a:p>
            <a:pPr>
              <a:lnSpc>
                <a:spcPct val="80000"/>
              </a:lnSpc>
            </a:pPr>
            <a:r>
              <a:rPr lang="en-US" altLang="zh-CN" sz="2800" dirty="0"/>
              <a:t>Put the functions below in order so that each function is big-O of the next function on the list.</a:t>
            </a:r>
            <a:endParaRPr lang="en-US" altLang="zh-CN" sz="2800" dirty="0"/>
          </a:p>
          <a:p>
            <a:pPr>
              <a:lnSpc>
                <a:spcPct val="80000"/>
              </a:lnSpc>
            </a:pPr>
            <a:r>
              <a:rPr lang="en-US" altLang="zh-CN" sz="2800" i="1" dirty="0"/>
              <a:t>f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(</a:t>
            </a:r>
            <a:r>
              <a:rPr lang="en-US" altLang="zh-CN" sz="2800" i="1" dirty="0"/>
              <a:t>n</a:t>
            </a:r>
            <a:r>
              <a:rPr lang="en-US" altLang="zh-CN" sz="2800" dirty="0"/>
              <a:t>) = (</a:t>
            </a:r>
            <a:r>
              <a:rPr lang="en-US" altLang="zh-CN" sz="2800" dirty="0">
                <a:latin typeface="Cambria Math" panose="02040503050406030204" pitchFamily="18" charset="0"/>
              </a:rPr>
              <a:t>1.5</a:t>
            </a:r>
            <a:r>
              <a:rPr lang="en-US" altLang="zh-CN" sz="2800" dirty="0"/>
              <a:t>)</a:t>
            </a:r>
            <a:r>
              <a:rPr lang="en-US" altLang="zh-CN" sz="2800" i="1" baseline="30000" dirty="0"/>
              <a:t>n</a:t>
            </a:r>
            <a:endParaRPr lang="en-US" altLang="zh-CN" sz="2800" i="1" baseline="30000" dirty="0"/>
          </a:p>
          <a:p>
            <a:pPr>
              <a:lnSpc>
                <a:spcPct val="80000"/>
              </a:lnSpc>
            </a:pPr>
            <a:r>
              <a:rPr lang="en-US" altLang="zh-CN" sz="2800" i="1" dirty="0"/>
              <a:t>f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(</a:t>
            </a:r>
            <a:r>
              <a:rPr lang="en-US" altLang="zh-CN" sz="2800" i="1" dirty="0"/>
              <a:t>n</a:t>
            </a:r>
            <a:r>
              <a:rPr lang="en-US" altLang="zh-CN" sz="2800" dirty="0"/>
              <a:t>) = 8</a:t>
            </a:r>
            <a:r>
              <a:rPr lang="en-US" altLang="zh-CN" sz="2800" i="1" dirty="0">
                <a:latin typeface="Cambria Math" panose="02040503050406030204" pitchFamily="18" charset="0"/>
              </a:rPr>
              <a:t>n</a:t>
            </a:r>
            <a:r>
              <a:rPr lang="en-US" altLang="zh-CN" sz="2800" baseline="30000" dirty="0">
                <a:latin typeface="Cambria Math" panose="02040503050406030204" pitchFamily="18" charset="0"/>
              </a:rPr>
              <a:t>3</a:t>
            </a:r>
            <a:r>
              <a:rPr lang="en-US" altLang="zh-CN" sz="2800" dirty="0">
                <a:latin typeface="Cambria Math" panose="02040503050406030204" pitchFamily="18" charset="0"/>
              </a:rPr>
              <a:t>+17</a:t>
            </a:r>
            <a:r>
              <a:rPr lang="en-US" altLang="zh-CN" sz="2800" i="1" dirty="0">
                <a:latin typeface="Cambria Math" panose="02040503050406030204" pitchFamily="18" charset="0"/>
              </a:rPr>
              <a:t>n</a:t>
            </a:r>
            <a:r>
              <a:rPr lang="en-US" altLang="zh-CN" sz="2800" baseline="30000" dirty="0">
                <a:latin typeface="Cambria Math" panose="02040503050406030204" pitchFamily="18" charset="0"/>
              </a:rPr>
              <a:t>2  </a:t>
            </a:r>
            <a:r>
              <a:rPr lang="en-US" altLang="zh-CN" sz="2800" dirty="0">
                <a:latin typeface="Cambria Math" panose="02040503050406030204" pitchFamily="18" charset="0"/>
              </a:rPr>
              <a:t>+111</a:t>
            </a:r>
            <a:endParaRPr lang="en-US" altLang="zh-CN" sz="2800" i="1" baseline="30000" dirty="0"/>
          </a:p>
          <a:p>
            <a:pPr>
              <a:lnSpc>
                <a:spcPct val="80000"/>
              </a:lnSpc>
            </a:pPr>
            <a:r>
              <a:rPr lang="en-US" altLang="zh-CN" sz="2800" i="1" dirty="0"/>
              <a:t>f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(</a:t>
            </a:r>
            <a:r>
              <a:rPr lang="en-US" altLang="zh-CN" sz="2800" i="1" dirty="0"/>
              <a:t>n</a:t>
            </a:r>
            <a:r>
              <a:rPr lang="en-US" altLang="zh-CN" sz="2800" dirty="0"/>
              <a:t>) = (</a:t>
            </a:r>
            <a:r>
              <a:rPr lang="en-US" altLang="zh-CN" sz="2800" dirty="0">
                <a:latin typeface="Cambria Math" panose="02040503050406030204" pitchFamily="18" charset="0"/>
              </a:rPr>
              <a:t>log n </a:t>
            </a:r>
            <a:r>
              <a:rPr lang="en-US" altLang="zh-CN" sz="2800" dirty="0"/>
              <a:t>)</a:t>
            </a:r>
            <a:r>
              <a:rPr lang="en-US" altLang="zh-CN" sz="2800" i="1" baseline="30000" dirty="0">
                <a:latin typeface="Cambria Math" panose="02040503050406030204" pitchFamily="18" charset="0"/>
              </a:rPr>
              <a:t>2</a:t>
            </a:r>
            <a:endParaRPr lang="en-US" altLang="zh-CN" sz="2800" i="1" dirty="0">
              <a:latin typeface="Cambria Math" panose="02040503050406030204" pitchFamily="18" charset="0"/>
            </a:endParaRPr>
          </a:p>
          <a:p>
            <a:pPr>
              <a:lnSpc>
                <a:spcPct val="80000"/>
              </a:lnSpc>
            </a:pPr>
            <a:r>
              <a:rPr lang="en-US" altLang="zh-CN" sz="2800" i="1" dirty="0"/>
              <a:t>f</a:t>
            </a:r>
            <a:r>
              <a:rPr lang="en-US" altLang="zh-CN" sz="2800" baseline="-25000" dirty="0"/>
              <a:t>4</a:t>
            </a:r>
            <a:r>
              <a:rPr lang="en-US" altLang="zh-CN" sz="2800" dirty="0"/>
              <a:t>(</a:t>
            </a:r>
            <a:r>
              <a:rPr lang="en-US" altLang="zh-CN" sz="2800" i="1" dirty="0"/>
              <a:t>n</a:t>
            </a:r>
            <a:r>
              <a:rPr lang="en-US" altLang="zh-CN" sz="2800" dirty="0"/>
              <a:t>) = </a:t>
            </a:r>
            <a:r>
              <a:rPr lang="en-US" altLang="zh-CN" sz="2800" dirty="0">
                <a:latin typeface="Cambria Math" panose="02040503050406030204" pitchFamily="18" charset="0"/>
              </a:rPr>
              <a:t>2</a:t>
            </a:r>
            <a:r>
              <a:rPr lang="en-US" altLang="zh-CN" sz="2800" i="1" baseline="30000" dirty="0">
                <a:latin typeface="Cambria Math" panose="02040503050406030204" pitchFamily="18" charset="0"/>
              </a:rPr>
              <a:t>n</a:t>
            </a:r>
            <a:endParaRPr lang="en-US" altLang="zh-CN" sz="2800" i="1" dirty="0"/>
          </a:p>
          <a:p>
            <a:pPr>
              <a:lnSpc>
                <a:spcPct val="80000"/>
              </a:lnSpc>
            </a:pPr>
            <a:r>
              <a:rPr lang="en-US" altLang="zh-CN" sz="2800" i="1" dirty="0"/>
              <a:t>f</a:t>
            </a:r>
            <a:r>
              <a:rPr lang="en-US" altLang="zh-CN" sz="2800" baseline="-25000" dirty="0"/>
              <a:t>5</a:t>
            </a:r>
            <a:r>
              <a:rPr lang="en-US" altLang="zh-CN" sz="2800" dirty="0"/>
              <a:t>(</a:t>
            </a:r>
            <a:r>
              <a:rPr lang="en-US" altLang="zh-CN" sz="2800" i="1" dirty="0"/>
              <a:t>n</a:t>
            </a:r>
            <a:r>
              <a:rPr lang="en-US" altLang="zh-CN" sz="2800" dirty="0"/>
              <a:t>) =</a:t>
            </a:r>
            <a:r>
              <a:rPr lang="en-US" altLang="zh-CN" sz="2800" dirty="0">
                <a:latin typeface="Cambria Math" panose="02040503050406030204" pitchFamily="18" charset="0"/>
              </a:rPr>
              <a:t> log (log </a:t>
            </a:r>
            <a:r>
              <a:rPr lang="en-US" altLang="zh-CN" sz="2800" i="1" dirty="0">
                <a:latin typeface="Cambria Math" panose="02040503050406030204" pitchFamily="18" charset="0"/>
              </a:rPr>
              <a:t>n</a:t>
            </a:r>
            <a:r>
              <a:rPr lang="en-US" altLang="zh-CN" sz="2800" dirty="0">
                <a:latin typeface="Cambria Math" panose="02040503050406030204" pitchFamily="18" charset="0"/>
              </a:rPr>
              <a:t>)</a:t>
            </a:r>
            <a:endParaRPr lang="en-US" altLang="zh-CN" sz="2800" i="1" dirty="0"/>
          </a:p>
          <a:p>
            <a:pPr>
              <a:lnSpc>
                <a:spcPct val="80000"/>
              </a:lnSpc>
            </a:pPr>
            <a:r>
              <a:rPr lang="en-US" altLang="zh-CN" sz="2800" i="1" dirty="0"/>
              <a:t>f</a:t>
            </a:r>
            <a:r>
              <a:rPr lang="en-US" altLang="zh-CN" sz="2800" baseline="-25000" dirty="0"/>
              <a:t>6</a:t>
            </a:r>
            <a:r>
              <a:rPr lang="en-US" altLang="zh-CN" sz="2800" dirty="0"/>
              <a:t>(</a:t>
            </a:r>
            <a:r>
              <a:rPr lang="en-US" altLang="zh-CN" sz="2800" i="1" dirty="0"/>
              <a:t>n</a:t>
            </a:r>
            <a:r>
              <a:rPr lang="en-US" altLang="zh-CN" sz="2800" dirty="0"/>
              <a:t>) = </a:t>
            </a:r>
            <a:r>
              <a:rPr lang="en-US" altLang="zh-CN" sz="2800" i="1" dirty="0">
                <a:latin typeface="Cambria Math" panose="02040503050406030204" pitchFamily="18" charset="0"/>
              </a:rPr>
              <a:t>n</a:t>
            </a:r>
            <a:r>
              <a:rPr lang="en-US" altLang="zh-CN" sz="2800" baseline="30000" dirty="0">
                <a:latin typeface="Cambria Math" panose="02040503050406030204" pitchFamily="18" charset="0"/>
              </a:rPr>
              <a:t>2 </a:t>
            </a:r>
            <a:r>
              <a:rPr lang="en-US" altLang="zh-CN" sz="2800" dirty="0"/>
              <a:t>(</a:t>
            </a:r>
            <a:r>
              <a:rPr lang="en-US" altLang="zh-CN" sz="2800" dirty="0">
                <a:latin typeface="Cambria Math" panose="02040503050406030204" pitchFamily="18" charset="0"/>
              </a:rPr>
              <a:t>log </a:t>
            </a:r>
            <a:r>
              <a:rPr lang="en-US" altLang="zh-CN" sz="2800" i="1" dirty="0">
                <a:latin typeface="Cambria Math" panose="02040503050406030204" pitchFamily="18" charset="0"/>
              </a:rPr>
              <a:t>n</a:t>
            </a:r>
            <a:r>
              <a:rPr lang="en-US" altLang="zh-CN" sz="2800" dirty="0"/>
              <a:t>)</a:t>
            </a:r>
            <a:r>
              <a:rPr lang="en-US" altLang="zh-CN" sz="2800" baseline="30000" dirty="0"/>
              <a:t>3</a:t>
            </a:r>
            <a:endParaRPr lang="en-US" altLang="zh-CN" sz="2800" baseline="30000" dirty="0"/>
          </a:p>
          <a:p>
            <a:pPr>
              <a:lnSpc>
                <a:spcPct val="80000"/>
              </a:lnSpc>
            </a:pPr>
            <a:r>
              <a:rPr lang="en-US" altLang="zh-CN" sz="2800" i="1" dirty="0"/>
              <a:t>f</a:t>
            </a:r>
            <a:r>
              <a:rPr lang="en-US" altLang="zh-CN" sz="2800" baseline="-25000" dirty="0"/>
              <a:t>7</a:t>
            </a:r>
            <a:r>
              <a:rPr lang="en-US" altLang="zh-CN" sz="2800" dirty="0"/>
              <a:t>(</a:t>
            </a:r>
            <a:r>
              <a:rPr lang="en-US" altLang="zh-CN" sz="2800" i="1" dirty="0"/>
              <a:t>n</a:t>
            </a:r>
            <a:r>
              <a:rPr lang="en-US" altLang="zh-CN" sz="2800" dirty="0"/>
              <a:t>) = </a:t>
            </a:r>
            <a:r>
              <a:rPr lang="en-US" altLang="zh-CN" sz="2800" dirty="0">
                <a:latin typeface="Cambria Math" panose="02040503050406030204" pitchFamily="18" charset="0"/>
              </a:rPr>
              <a:t>2</a:t>
            </a:r>
            <a:r>
              <a:rPr lang="en-US" altLang="zh-CN" sz="2800" i="1" baseline="30000" dirty="0">
                <a:latin typeface="Cambria Math" panose="02040503050406030204" pitchFamily="18" charset="0"/>
              </a:rPr>
              <a:t>n</a:t>
            </a:r>
            <a:r>
              <a:rPr lang="en-US" altLang="zh-CN" sz="2800" i="1" dirty="0">
                <a:latin typeface="Cambria Math" panose="02040503050406030204" pitchFamily="18" charset="0"/>
              </a:rPr>
              <a:t> </a:t>
            </a:r>
            <a:r>
              <a:rPr lang="en-US" altLang="zh-CN" sz="2800" dirty="0">
                <a:latin typeface="Cambria Math" panose="02040503050406030204" pitchFamily="18" charset="0"/>
              </a:rPr>
              <a:t>(</a:t>
            </a:r>
            <a:r>
              <a:rPr lang="en-US" altLang="zh-CN" sz="2800" i="1" dirty="0">
                <a:latin typeface="Cambria Math" panose="02040503050406030204" pitchFamily="18" charset="0"/>
              </a:rPr>
              <a:t>n</a:t>
            </a:r>
            <a:r>
              <a:rPr lang="en-US" altLang="zh-CN" sz="2800" baseline="30000" dirty="0">
                <a:latin typeface="Cambria Math" panose="02040503050406030204" pitchFamily="18" charset="0"/>
              </a:rPr>
              <a:t>2  </a:t>
            </a:r>
            <a:r>
              <a:rPr lang="en-US" altLang="zh-CN" sz="2800" dirty="0">
                <a:latin typeface="Cambria Math" panose="02040503050406030204" pitchFamily="18" charset="0"/>
              </a:rPr>
              <a:t>+1)</a:t>
            </a:r>
            <a:endParaRPr lang="en-US" altLang="zh-CN" sz="2800" baseline="30000" dirty="0">
              <a:latin typeface="Cambria Math" panose="02040503050406030204" pitchFamily="18" charset="0"/>
            </a:endParaRPr>
          </a:p>
          <a:p>
            <a:pPr>
              <a:lnSpc>
                <a:spcPct val="80000"/>
              </a:lnSpc>
            </a:pPr>
            <a:r>
              <a:rPr lang="en-US" altLang="zh-CN" sz="2800" i="1" dirty="0"/>
              <a:t>f</a:t>
            </a:r>
            <a:r>
              <a:rPr lang="en-US" altLang="zh-CN" sz="2800" baseline="-25000" dirty="0"/>
              <a:t>8</a:t>
            </a:r>
            <a:r>
              <a:rPr lang="en-US" altLang="zh-CN" sz="2800" dirty="0"/>
              <a:t>(</a:t>
            </a:r>
            <a:r>
              <a:rPr lang="en-US" altLang="zh-CN" sz="2800" i="1" dirty="0"/>
              <a:t>n</a:t>
            </a:r>
            <a:r>
              <a:rPr lang="en-US" altLang="zh-CN" sz="2800" dirty="0"/>
              <a:t>) = </a:t>
            </a:r>
            <a:r>
              <a:rPr lang="en-US" altLang="zh-CN" sz="2800" i="1" dirty="0">
                <a:latin typeface="Cambria Math" panose="02040503050406030204" pitchFamily="18" charset="0"/>
              </a:rPr>
              <a:t>n</a:t>
            </a:r>
            <a:r>
              <a:rPr lang="en-US" altLang="zh-CN" sz="2800" baseline="30000" dirty="0">
                <a:latin typeface="Cambria Math" panose="02040503050406030204" pitchFamily="18" charset="0"/>
              </a:rPr>
              <a:t>3</a:t>
            </a:r>
            <a:r>
              <a:rPr lang="en-US" altLang="zh-CN" sz="2800" dirty="0">
                <a:latin typeface="Cambria Math" panose="02040503050406030204" pitchFamily="18" charset="0"/>
              </a:rPr>
              <a:t>+ </a:t>
            </a:r>
            <a:r>
              <a:rPr lang="en-US" altLang="zh-CN" sz="2800" i="1" dirty="0">
                <a:latin typeface="Cambria Math" panose="02040503050406030204" pitchFamily="18" charset="0"/>
              </a:rPr>
              <a:t>n</a:t>
            </a:r>
            <a:r>
              <a:rPr lang="en-US" altLang="zh-CN" sz="2800" dirty="0">
                <a:latin typeface="Cambria Math" panose="02040503050406030204" pitchFamily="18" charset="0"/>
              </a:rPr>
              <a:t>(log </a:t>
            </a:r>
            <a:r>
              <a:rPr lang="en-US" altLang="zh-CN" sz="2800" i="1" dirty="0">
                <a:latin typeface="Cambria Math" panose="02040503050406030204" pitchFamily="18" charset="0"/>
              </a:rPr>
              <a:t>n</a:t>
            </a:r>
            <a:r>
              <a:rPr lang="en-US" altLang="zh-CN" sz="2800" dirty="0">
                <a:latin typeface="Cambria Math" panose="02040503050406030204" pitchFamily="18" charset="0"/>
              </a:rPr>
              <a:t>)</a:t>
            </a:r>
            <a:r>
              <a:rPr lang="en-US" altLang="zh-CN" sz="2800" baseline="30000" dirty="0">
                <a:latin typeface="Cambria Math" panose="02040503050406030204" pitchFamily="18" charset="0"/>
              </a:rPr>
              <a:t>2 </a:t>
            </a:r>
            <a:endParaRPr lang="en-US" altLang="zh-CN" sz="2800" dirty="0">
              <a:latin typeface="Cambria Math" panose="02040503050406030204" pitchFamily="18" charset="0"/>
            </a:endParaRPr>
          </a:p>
          <a:p>
            <a:pPr>
              <a:lnSpc>
                <a:spcPct val="80000"/>
              </a:lnSpc>
            </a:pPr>
            <a:r>
              <a:rPr lang="en-US" altLang="zh-CN" sz="2800" i="1" dirty="0"/>
              <a:t>f</a:t>
            </a:r>
            <a:r>
              <a:rPr lang="en-US" altLang="zh-CN" sz="2800" baseline="-25000" dirty="0"/>
              <a:t>9</a:t>
            </a:r>
            <a:r>
              <a:rPr lang="en-US" altLang="zh-CN" sz="2800" dirty="0"/>
              <a:t>(</a:t>
            </a:r>
            <a:r>
              <a:rPr lang="en-US" altLang="zh-CN" sz="2800" i="1" dirty="0"/>
              <a:t>n</a:t>
            </a:r>
            <a:r>
              <a:rPr lang="en-US" altLang="zh-CN" sz="2800" dirty="0"/>
              <a:t>) = </a:t>
            </a:r>
            <a:r>
              <a:rPr lang="en-US" altLang="zh-CN" sz="2800" dirty="0">
                <a:latin typeface="Cambria Math" panose="02040503050406030204" pitchFamily="18" charset="0"/>
              </a:rPr>
              <a:t>10000</a:t>
            </a:r>
            <a:endParaRPr lang="en-US" altLang="zh-CN" sz="2800" dirty="0">
              <a:latin typeface="Cambria Math" panose="02040503050406030204" pitchFamily="18" charset="0"/>
            </a:endParaRPr>
          </a:p>
          <a:p>
            <a:pPr>
              <a:lnSpc>
                <a:spcPct val="80000"/>
              </a:lnSpc>
            </a:pPr>
            <a:r>
              <a:rPr lang="en-US" altLang="zh-CN" sz="2800" i="1" dirty="0"/>
              <a:t>f</a:t>
            </a:r>
            <a:r>
              <a:rPr lang="en-US" altLang="zh-CN" sz="2800" baseline="-25000" dirty="0"/>
              <a:t>10</a:t>
            </a:r>
            <a:r>
              <a:rPr lang="en-US" altLang="zh-CN" sz="2800" dirty="0"/>
              <a:t>(</a:t>
            </a:r>
            <a:r>
              <a:rPr lang="en-US" altLang="zh-CN" sz="2800" i="1" dirty="0"/>
              <a:t>n</a:t>
            </a:r>
            <a:r>
              <a:rPr lang="en-US" altLang="zh-CN" sz="2800" dirty="0"/>
              <a:t>) = </a:t>
            </a:r>
            <a:r>
              <a:rPr lang="en-US" altLang="zh-CN" sz="2800" dirty="0">
                <a:latin typeface="Cambria Math" panose="02040503050406030204" pitchFamily="18" charset="0"/>
              </a:rPr>
              <a:t>n!</a:t>
            </a:r>
            <a:endParaRPr lang="en-US" altLang="zh-CN" sz="2800" dirty="0">
              <a:latin typeface="Cambria Math" panose="02040503050406030204" pitchFamily="18" charset="0"/>
            </a:endParaRPr>
          </a:p>
          <a:p>
            <a:pPr>
              <a:lnSpc>
                <a:spcPct val="80000"/>
              </a:lnSpc>
            </a:pPr>
            <a:endParaRPr lang="en-US" altLang="zh-CN" sz="2800" i="1" baseline="30000" dirty="0"/>
          </a:p>
          <a:p>
            <a:pPr>
              <a:lnSpc>
                <a:spcPct val="80000"/>
              </a:lnSpc>
            </a:pPr>
            <a:endParaRPr lang="en-US" altLang="zh-CN" sz="2200" i="1" baseline="30000" dirty="0"/>
          </a:p>
          <a:p>
            <a:pPr>
              <a:lnSpc>
                <a:spcPct val="80000"/>
              </a:lnSpc>
            </a:pPr>
            <a:endParaRPr lang="en-US" altLang="zh-CN" sz="2200" i="1" dirty="0"/>
          </a:p>
          <a:p>
            <a:pPr>
              <a:lnSpc>
                <a:spcPct val="80000"/>
              </a:lnSpc>
            </a:pPr>
            <a:endParaRPr lang="en-US" altLang="zh-CN" sz="2200" baseline="30000" dirty="0"/>
          </a:p>
          <a:p>
            <a:pPr>
              <a:lnSpc>
                <a:spcPct val="80000"/>
              </a:lnSpc>
            </a:pPr>
            <a:endParaRPr lang="en-US" altLang="zh-CN" sz="2200" i="1" dirty="0"/>
          </a:p>
        </p:txBody>
      </p:sp>
      <p:sp>
        <p:nvSpPr>
          <p:cNvPr id="3" name="TextBox 3"/>
          <p:cNvSpPr txBox="1"/>
          <p:nvPr/>
        </p:nvSpPr>
        <p:spPr>
          <a:xfrm>
            <a:off x="3636010" y="2060575"/>
            <a:ext cx="5437188" cy="4318000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Successively find the function that grows slowest among all those left on the list.</a:t>
            </a:r>
            <a:endParaRPr lang="en-US" altLang="zh-CN" sz="1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16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(n) = 10000            (constant, does not increase with n)</a:t>
            </a:r>
            <a:endParaRPr lang="en-US" altLang="zh-CN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16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(n) = log (log n)     (grows slowest of all the others)</a:t>
            </a:r>
            <a:endParaRPr lang="en-US" altLang="zh-CN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16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(n) = (log n) </a:t>
            </a:r>
            <a:r>
              <a:rPr lang="en-US" altLang="zh-CN" sz="16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(grows next slowest)</a:t>
            </a:r>
            <a:endParaRPr lang="en-US" altLang="zh-CN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16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(n) = n</a:t>
            </a:r>
            <a:r>
              <a:rPr lang="en-US" altLang="zh-CN" sz="16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(log n) </a:t>
            </a:r>
            <a:r>
              <a:rPr lang="en-US" altLang="zh-CN" sz="16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   </a:t>
            </a: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((log n)</a:t>
            </a:r>
            <a:r>
              <a:rPr lang="en-US" altLang="zh-CN" sz="16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 smaller than any power of n)</a:t>
            </a:r>
            <a:endParaRPr lang="en-US" altLang="zh-CN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16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(n) = n</a:t>
            </a:r>
            <a:r>
              <a:rPr lang="en-US" altLang="zh-CN" sz="16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n(log n)</a:t>
            </a:r>
            <a:r>
              <a:rPr lang="en-US" altLang="zh-CN" sz="16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 </a:t>
            </a: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(tied with the one below)</a:t>
            </a:r>
            <a:endParaRPr lang="en-US" altLang="zh-CN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16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(n) = 8n</a:t>
            </a:r>
            <a:r>
              <a:rPr lang="en-US" altLang="zh-CN" sz="16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+17n</a:t>
            </a:r>
            <a:r>
              <a:rPr lang="en-US" altLang="zh-CN" sz="16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 </a:t>
            </a: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+111    (tied with the one above)</a:t>
            </a:r>
            <a:endParaRPr lang="en-US" altLang="zh-CN" sz="1600" i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16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(n) = (1.5) </a:t>
            </a:r>
            <a:r>
              <a:rPr lang="en-US" altLang="zh-CN" sz="16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  </a:t>
            </a: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	        (an exponential function)</a:t>
            </a:r>
            <a:endParaRPr lang="en-US" altLang="zh-CN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16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(n) = 2 </a:t>
            </a:r>
            <a:r>
              <a:rPr lang="en-US" altLang="zh-CN" sz="16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(grows faster than one above since 2 &gt; 1.5)</a:t>
            </a:r>
            <a:endParaRPr lang="en-US" altLang="zh-CN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16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(n) = 2 </a:t>
            </a:r>
            <a:r>
              <a:rPr lang="en-US" altLang="zh-CN" sz="16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</a:t>
            </a:r>
            <a:r>
              <a:rPr lang="en-US" altLang="zh-CN" sz="16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 </a:t>
            </a: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+1)     (grows faster than above because of the n</a:t>
            </a:r>
            <a:r>
              <a:rPr lang="en-US" altLang="zh-CN" sz="16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 </a:t>
            </a: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+1 factor)</a:t>
            </a:r>
            <a:endParaRPr lang="en-US" altLang="zh-CN" sz="1600" i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16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(n) = n</a:t>
            </a:r>
            <a:r>
              <a:rPr lang="zh-CN" alt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！</a:t>
            </a:r>
            <a:r>
              <a:rPr lang="en-US" altLang="zh-CN" sz="16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n!  grows faster than c</a:t>
            </a:r>
            <a:r>
              <a:rPr lang="en-US" altLang="zh-CN" sz="16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  </a:t>
            </a: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 every c)</a:t>
            </a:r>
            <a:endParaRPr lang="en-US" altLang="zh-CN" sz="1600" i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3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zh-CN" altLang="en-US" sz="1000" b="1" i="1" dirty="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3555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zh-CN" altLang="en-US" sz="1000" b="1" i="1" dirty="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3556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 b="1" i="1" dirty="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3557" name="Rectangle 2"/>
          <p:cNvSpPr>
            <a:spLocks noGrp="1"/>
          </p:cNvSpPr>
          <p:nvPr>
            <p:ph type="title"/>
          </p:nvPr>
        </p:nvSpPr>
        <p:spPr>
          <a:xfrm>
            <a:off x="790575" y="43815"/>
            <a:ext cx="8098790" cy="116332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4000" dirty="0"/>
              <a:t>The growth of combinations of functions</a:t>
            </a:r>
            <a:endParaRPr lang="en-US" altLang="zh-CN" sz="4000" dirty="0"/>
          </a:p>
        </p:txBody>
      </p:sp>
      <p:sp>
        <p:nvSpPr>
          <p:cNvPr id="23558" name="Rectangle 3"/>
          <p:cNvSpPr>
            <a:spLocks noGrp="1"/>
          </p:cNvSpPr>
          <p:nvPr>
            <p:ph idx="1"/>
          </p:nvPr>
        </p:nvSpPr>
        <p:spPr>
          <a:xfrm>
            <a:off x="755333" y="1371283"/>
            <a:ext cx="8559800" cy="41148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dirty="0"/>
              <a:t>Theorem 2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Suppose that </a:t>
            </a:r>
            <a:r>
              <a:rPr lang="en-US" altLang="zh-CN" i="1" dirty="0"/>
              <a:t>f</a:t>
            </a:r>
            <a:r>
              <a:rPr lang="en-US" altLang="zh-CN" baseline="-25000" dirty="0"/>
              <a:t>1</a:t>
            </a:r>
            <a:r>
              <a:rPr lang="en-US" altLang="zh-CN" dirty="0"/>
              <a:t> is </a:t>
            </a:r>
            <a:r>
              <a:rPr lang="en-US" altLang="zh-CN" i="1" dirty="0"/>
              <a:t>O</a:t>
            </a:r>
            <a:r>
              <a:rPr lang="en-US" altLang="zh-CN" dirty="0"/>
              <a:t>(</a:t>
            </a:r>
            <a:r>
              <a:rPr lang="en-US" altLang="zh-CN" i="1" dirty="0"/>
              <a:t>g</a:t>
            </a:r>
            <a:r>
              <a:rPr lang="en-US" altLang="zh-CN" baseline="-25000" dirty="0"/>
              <a:t>1</a:t>
            </a:r>
            <a:r>
              <a:rPr lang="en-US" altLang="zh-CN" dirty="0"/>
              <a:t>) and </a:t>
            </a:r>
            <a:r>
              <a:rPr lang="en-US" altLang="zh-CN" i="1" dirty="0"/>
              <a:t>f</a:t>
            </a:r>
            <a:r>
              <a:rPr lang="en-US" altLang="zh-CN" baseline="-25000" dirty="0"/>
              <a:t>2</a:t>
            </a:r>
            <a:r>
              <a:rPr lang="en-US" altLang="zh-CN" dirty="0"/>
              <a:t> is </a:t>
            </a:r>
            <a:r>
              <a:rPr lang="en-US" altLang="zh-CN" i="1" dirty="0"/>
              <a:t>O</a:t>
            </a:r>
            <a:r>
              <a:rPr lang="en-US" altLang="zh-CN" dirty="0"/>
              <a:t>(</a:t>
            </a:r>
            <a:r>
              <a:rPr lang="en-US" altLang="zh-CN" i="1" dirty="0"/>
              <a:t>g</a:t>
            </a:r>
            <a:r>
              <a:rPr lang="en-US" altLang="zh-CN" baseline="-25000" dirty="0"/>
              <a:t>2</a:t>
            </a:r>
            <a:r>
              <a:rPr lang="en-US" altLang="zh-CN" dirty="0"/>
              <a:t>) .Then   </a:t>
            </a:r>
            <a:r>
              <a:rPr lang="en-US" altLang="zh-CN" i="1" dirty="0"/>
              <a:t>f</a:t>
            </a:r>
            <a:r>
              <a:rPr lang="en-US" altLang="zh-CN" i="1" baseline="-25000" dirty="0"/>
              <a:t>1</a:t>
            </a:r>
            <a:r>
              <a:rPr lang="en-US" altLang="zh-CN" dirty="0"/>
              <a:t> + </a:t>
            </a:r>
            <a:r>
              <a:rPr lang="en-US" altLang="zh-CN" i="1" dirty="0"/>
              <a:t>f</a:t>
            </a:r>
            <a:r>
              <a:rPr lang="en-US" altLang="zh-CN" baseline="-25000" dirty="0"/>
              <a:t>2</a:t>
            </a:r>
            <a:r>
              <a:rPr lang="en-US" altLang="zh-CN" dirty="0"/>
              <a:t> is </a:t>
            </a:r>
            <a:r>
              <a:rPr lang="en-US" altLang="zh-CN" i="1" dirty="0"/>
              <a:t>O</a:t>
            </a:r>
            <a:r>
              <a:rPr lang="en-US" altLang="zh-CN" dirty="0"/>
              <a:t>(</a:t>
            </a:r>
            <a:r>
              <a:rPr lang="en-US" altLang="zh-CN" i="1" dirty="0"/>
              <a:t>max</a:t>
            </a:r>
            <a:r>
              <a:rPr lang="en-US" altLang="zh-CN" dirty="0"/>
              <a:t>{ </a:t>
            </a:r>
            <a:r>
              <a:rPr lang="en-US" altLang="zh-CN" i="1" dirty="0"/>
              <a:t>g</a:t>
            </a:r>
            <a:r>
              <a:rPr lang="en-US" altLang="zh-CN" i="1" baseline="-25000" dirty="0"/>
              <a:t>1</a:t>
            </a:r>
            <a:r>
              <a:rPr lang="en-US" altLang="zh-CN" dirty="0"/>
              <a:t>, </a:t>
            </a:r>
            <a:r>
              <a:rPr lang="en-US" altLang="zh-CN" i="1" dirty="0"/>
              <a:t>g</a:t>
            </a:r>
            <a:r>
              <a:rPr lang="en-US" altLang="zh-CN" baseline="-25000" dirty="0"/>
              <a:t>2</a:t>
            </a:r>
            <a:r>
              <a:rPr lang="en-US" altLang="zh-CN" dirty="0"/>
              <a:t>})</a:t>
            </a:r>
            <a:endParaRPr lang="en-US" altLang="zh-CN" dirty="0"/>
          </a:p>
          <a:p>
            <a:pPr eaLnBrk="1" hangingPunct="1">
              <a:lnSpc>
                <a:spcPct val="90000"/>
              </a:lnSpc>
            </a:pPr>
            <a:r>
              <a:rPr lang="en-US" altLang="zh-CN" dirty="0"/>
              <a:t>Corollary 1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If </a:t>
            </a:r>
            <a:r>
              <a:rPr lang="en-US" altLang="zh-CN" i="1" dirty="0"/>
              <a:t>f</a:t>
            </a:r>
            <a:r>
              <a:rPr lang="en-US" altLang="zh-CN" i="1" baseline="-25000" dirty="0"/>
              <a:t>1</a:t>
            </a:r>
            <a:r>
              <a:rPr lang="en-US" altLang="zh-CN" dirty="0"/>
              <a:t> ,  </a:t>
            </a:r>
            <a:r>
              <a:rPr lang="en-US" altLang="zh-CN" i="1" dirty="0"/>
              <a:t>f</a:t>
            </a:r>
            <a:r>
              <a:rPr lang="en-US" altLang="zh-CN" baseline="-25000" dirty="0"/>
              <a:t>2</a:t>
            </a:r>
            <a:r>
              <a:rPr lang="en-US" altLang="zh-CN" dirty="0"/>
              <a:t> are both </a:t>
            </a:r>
            <a:r>
              <a:rPr lang="en-US" altLang="zh-CN" i="1" dirty="0"/>
              <a:t>O</a:t>
            </a:r>
            <a:r>
              <a:rPr lang="en-US" altLang="zh-CN" dirty="0"/>
              <a:t>(</a:t>
            </a:r>
            <a:r>
              <a:rPr lang="en-US" altLang="zh-CN" i="1" dirty="0"/>
              <a:t>g</a:t>
            </a:r>
            <a:r>
              <a:rPr lang="en-US" altLang="zh-CN" dirty="0"/>
              <a:t>) then  </a:t>
            </a:r>
            <a:r>
              <a:rPr lang="en-US" altLang="zh-CN" i="1" dirty="0"/>
              <a:t>f</a:t>
            </a:r>
            <a:r>
              <a:rPr lang="en-US" altLang="zh-CN" i="1" baseline="-25000" dirty="0"/>
              <a:t>1</a:t>
            </a:r>
            <a:r>
              <a:rPr lang="en-US" altLang="zh-CN" dirty="0"/>
              <a:t> + </a:t>
            </a:r>
            <a:r>
              <a:rPr lang="en-US" altLang="zh-CN" i="1" dirty="0"/>
              <a:t>f</a:t>
            </a:r>
            <a:r>
              <a:rPr lang="en-US" altLang="zh-CN" baseline="-25000" dirty="0"/>
              <a:t>2</a:t>
            </a:r>
            <a:r>
              <a:rPr lang="en-US" altLang="zh-CN" dirty="0"/>
              <a:t> is </a:t>
            </a:r>
            <a:r>
              <a:rPr lang="en-US" altLang="zh-CN" i="1" dirty="0"/>
              <a:t>O</a:t>
            </a:r>
            <a:r>
              <a:rPr lang="en-US" altLang="zh-CN" dirty="0"/>
              <a:t>(</a:t>
            </a:r>
            <a:r>
              <a:rPr lang="en-US" altLang="zh-CN" i="1" dirty="0"/>
              <a:t>g</a:t>
            </a:r>
            <a:r>
              <a:rPr lang="en-US" altLang="zh-CN" dirty="0"/>
              <a:t>).</a:t>
            </a:r>
            <a:endParaRPr lang="en-US" altLang="zh-CN" dirty="0"/>
          </a:p>
          <a:p>
            <a:pPr eaLnBrk="1" hangingPunct="1">
              <a:lnSpc>
                <a:spcPct val="90000"/>
              </a:lnSpc>
            </a:pPr>
            <a:r>
              <a:rPr lang="en-US" altLang="zh-CN" dirty="0"/>
              <a:t>Theorem 3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Suppose that </a:t>
            </a:r>
            <a:r>
              <a:rPr lang="en-US" altLang="zh-CN" i="1" dirty="0"/>
              <a:t>f</a:t>
            </a:r>
            <a:r>
              <a:rPr lang="en-US" altLang="zh-CN" baseline="-25000" dirty="0"/>
              <a:t>1</a:t>
            </a:r>
            <a:r>
              <a:rPr lang="en-US" altLang="zh-CN" dirty="0"/>
              <a:t> is </a:t>
            </a:r>
            <a:r>
              <a:rPr lang="en-US" altLang="zh-CN" i="1" dirty="0"/>
              <a:t>O</a:t>
            </a:r>
            <a:r>
              <a:rPr lang="en-US" altLang="zh-CN" dirty="0"/>
              <a:t>(</a:t>
            </a:r>
            <a:r>
              <a:rPr lang="en-US" altLang="zh-CN" i="1" dirty="0"/>
              <a:t>g</a:t>
            </a:r>
            <a:r>
              <a:rPr lang="en-US" altLang="zh-CN" baseline="-25000" dirty="0"/>
              <a:t>1</a:t>
            </a:r>
            <a:r>
              <a:rPr lang="en-US" altLang="zh-CN" dirty="0"/>
              <a:t>) and </a:t>
            </a:r>
            <a:r>
              <a:rPr lang="en-US" altLang="zh-CN" i="1" dirty="0"/>
              <a:t>f</a:t>
            </a:r>
            <a:r>
              <a:rPr lang="en-US" altLang="zh-CN" baseline="-25000" dirty="0"/>
              <a:t>2</a:t>
            </a:r>
            <a:r>
              <a:rPr lang="en-US" altLang="zh-CN" dirty="0"/>
              <a:t> is </a:t>
            </a:r>
            <a:r>
              <a:rPr lang="en-US" altLang="zh-CN" i="1" dirty="0"/>
              <a:t>O</a:t>
            </a:r>
            <a:r>
              <a:rPr lang="en-US" altLang="zh-CN" dirty="0"/>
              <a:t>(</a:t>
            </a:r>
            <a:r>
              <a:rPr lang="en-US" altLang="zh-CN" i="1" dirty="0"/>
              <a:t>g</a:t>
            </a:r>
            <a:r>
              <a:rPr lang="en-US" altLang="zh-CN" baseline="-25000" dirty="0"/>
              <a:t>2</a:t>
            </a:r>
            <a:r>
              <a:rPr lang="en-US" altLang="zh-CN" dirty="0"/>
              <a:t>) .Then </a:t>
            </a:r>
            <a:r>
              <a:rPr lang="en-US" altLang="zh-CN" i="1" dirty="0"/>
              <a:t>f</a:t>
            </a:r>
            <a:r>
              <a:rPr lang="en-US" altLang="zh-CN" i="1" baseline="-25000" dirty="0"/>
              <a:t>1</a:t>
            </a:r>
            <a:r>
              <a:rPr lang="en-US" altLang="zh-CN" i="1" dirty="0"/>
              <a:t>f</a:t>
            </a:r>
            <a:r>
              <a:rPr lang="en-US" altLang="zh-CN" i="1" baseline="-25000" dirty="0"/>
              <a:t>2</a:t>
            </a:r>
            <a:r>
              <a:rPr lang="en-US" altLang="zh-CN" dirty="0"/>
              <a:t> is </a:t>
            </a:r>
            <a:r>
              <a:rPr lang="en-US" altLang="zh-CN" i="1" dirty="0"/>
              <a:t>O</a:t>
            </a:r>
            <a:r>
              <a:rPr lang="en-US" altLang="zh-CN" dirty="0"/>
              <a:t>(g</a:t>
            </a:r>
            <a:r>
              <a:rPr lang="en-US" altLang="zh-CN" baseline="-25000" dirty="0"/>
              <a:t>1</a:t>
            </a:r>
            <a:r>
              <a:rPr lang="en-US" altLang="zh-CN" dirty="0"/>
              <a:t>g</a:t>
            </a:r>
            <a:r>
              <a:rPr lang="en-US" altLang="zh-CN" baseline="-25000" dirty="0"/>
              <a:t>2</a:t>
            </a:r>
            <a:r>
              <a:rPr lang="en-US" altLang="zh-CN" dirty="0"/>
              <a:t>)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endParaRPr lang="zh-CN" altLang="en-US" dirty="0"/>
          </a:p>
          <a:p>
            <a:pPr eaLnBrk="1" hangingPunct="1">
              <a:lnSpc>
                <a:spcPct val="90000"/>
              </a:lnSpc>
            </a:pPr>
            <a:endParaRPr lang="zh-CN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zh-CN" altLang="en-US" sz="1000" b="1" i="1" dirty="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4579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zh-CN" altLang="en-US" sz="1000" b="1" i="1" dirty="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4580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 b="1" i="1" dirty="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458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Proof of </a:t>
            </a:r>
            <a:r>
              <a:rPr lang="en-US" altLang="zh-CN" i="1" dirty="0">
                <a:solidFill>
                  <a:schemeClr val="hlink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i="1" baseline="-25000" dirty="0">
                <a:solidFill>
                  <a:schemeClr val="hlink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chemeClr val="hlink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i="1" baseline="-25000" dirty="0">
                <a:solidFill>
                  <a:schemeClr val="hlink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</a:rPr>
              <a:t> is </a:t>
            </a:r>
            <a:r>
              <a:rPr lang="en-US" altLang="zh-CN" i="1" dirty="0">
                <a:solidFill>
                  <a:schemeClr val="hlink"/>
                </a:solidFill>
                <a:latin typeface="Times New Roman" panose="02020603050405020304" pitchFamily="18" charset="0"/>
              </a:rPr>
              <a:t>O</a:t>
            </a:r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</a:rPr>
              <a:t>(g</a:t>
            </a:r>
            <a:r>
              <a:rPr lang="en-US" altLang="zh-CN" baseline="-25000" dirty="0">
                <a:solidFill>
                  <a:schemeClr val="hlink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baseline="-25000" dirty="0">
                <a:solidFill>
                  <a:schemeClr val="hlink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</a:rPr>
              <a:t>)</a:t>
            </a:r>
            <a:endParaRPr lang="zh-CN" altLang="en-US" dirty="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58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sz="3600" dirty="0"/>
              <a:t>There is a </a:t>
            </a:r>
            <a:r>
              <a:rPr lang="en-US" altLang="zh-CN" sz="3600" i="1" dirty="0"/>
              <a:t>k</a:t>
            </a:r>
            <a:r>
              <a:rPr lang="en-US" altLang="zh-CN" sz="3600" baseline="-25000" dirty="0"/>
              <a:t>1</a:t>
            </a:r>
            <a:r>
              <a:rPr lang="en-US" altLang="zh-CN" sz="3600" dirty="0"/>
              <a:t> and </a:t>
            </a:r>
            <a:r>
              <a:rPr lang="en-US" altLang="zh-CN" sz="3600" i="1" dirty="0"/>
              <a:t>c</a:t>
            </a:r>
            <a:r>
              <a:rPr lang="en-US" altLang="zh-CN" sz="3600" baseline="-25000" dirty="0"/>
              <a:t>1</a:t>
            </a:r>
            <a:r>
              <a:rPr lang="en-US" altLang="zh-CN" sz="3600" dirty="0"/>
              <a:t> such that</a:t>
            </a:r>
            <a:endParaRPr lang="en-US" altLang="zh-CN" sz="36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3200" dirty="0"/>
              <a:t>1. </a:t>
            </a:r>
            <a:r>
              <a:rPr lang="en-US" altLang="zh-CN" sz="3200" i="1" dirty="0"/>
              <a:t>f</a:t>
            </a:r>
            <a:r>
              <a:rPr lang="en-US" altLang="zh-CN" sz="3200" baseline="-25000" dirty="0"/>
              <a:t>1</a:t>
            </a:r>
            <a:r>
              <a:rPr lang="en-US" altLang="zh-CN" sz="3200" dirty="0"/>
              <a:t>(</a:t>
            </a:r>
            <a:r>
              <a:rPr lang="en-US" altLang="zh-CN" sz="3200" i="1" dirty="0"/>
              <a:t>n</a:t>
            </a:r>
            <a:r>
              <a:rPr lang="en-US" altLang="zh-CN" sz="3200" dirty="0"/>
              <a:t>) &lt; </a:t>
            </a:r>
            <a:r>
              <a:rPr lang="en-US" altLang="zh-CN" sz="3200" i="1" dirty="0"/>
              <a:t>c</a:t>
            </a:r>
            <a:r>
              <a:rPr lang="en-US" altLang="zh-CN" sz="3200" baseline="-25000" dirty="0"/>
              <a:t>1</a:t>
            </a:r>
            <a:r>
              <a:rPr lang="en-US" altLang="zh-CN" sz="3200" i="1" dirty="0"/>
              <a:t>g</a:t>
            </a:r>
            <a:r>
              <a:rPr lang="en-US" altLang="zh-CN" sz="3200" baseline="-25000" dirty="0"/>
              <a:t>1</a:t>
            </a:r>
            <a:r>
              <a:rPr lang="en-US" altLang="zh-CN" sz="3200" dirty="0"/>
              <a:t>(</a:t>
            </a:r>
            <a:r>
              <a:rPr lang="en-US" altLang="zh-CN" sz="3200" i="1" dirty="0"/>
              <a:t>n</a:t>
            </a:r>
            <a:r>
              <a:rPr lang="en-US" altLang="zh-CN" sz="3200" dirty="0"/>
              <a:t>)</a:t>
            </a:r>
            <a:endParaRPr lang="en-US" altLang="zh-CN" sz="32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3200" dirty="0"/>
              <a:t>when </a:t>
            </a:r>
            <a:r>
              <a:rPr lang="en-US" altLang="zh-CN" sz="3200" i="1" dirty="0"/>
              <a:t>n</a:t>
            </a:r>
            <a:r>
              <a:rPr lang="en-US" altLang="zh-CN" sz="3200" dirty="0"/>
              <a:t> &gt; </a:t>
            </a:r>
            <a:r>
              <a:rPr lang="en-US" altLang="zh-CN" sz="3200" i="1" dirty="0"/>
              <a:t>k</a:t>
            </a:r>
            <a:r>
              <a:rPr lang="en-US" altLang="zh-CN" sz="3200" baseline="-25000" dirty="0"/>
              <a:t>1</a:t>
            </a:r>
            <a:r>
              <a:rPr lang="en-US" altLang="zh-CN" sz="3200" dirty="0"/>
              <a:t>.</a:t>
            </a:r>
            <a:endParaRPr lang="en-US" altLang="zh-CN" sz="32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3600" dirty="0"/>
              <a:t>There is a </a:t>
            </a:r>
            <a:r>
              <a:rPr lang="en-US" altLang="zh-CN" sz="3600" i="1" dirty="0"/>
              <a:t>k</a:t>
            </a:r>
            <a:r>
              <a:rPr lang="en-US" altLang="zh-CN" sz="3600" baseline="-25000" dirty="0"/>
              <a:t>2</a:t>
            </a:r>
            <a:r>
              <a:rPr lang="en-US" altLang="zh-CN" sz="3600" dirty="0"/>
              <a:t> and </a:t>
            </a:r>
            <a:r>
              <a:rPr lang="en-US" altLang="zh-CN" sz="3600" i="1" dirty="0"/>
              <a:t>c</a:t>
            </a:r>
            <a:r>
              <a:rPr lang="en-US" altLang="zh-CN" sz="3600" baseline="-25000" dirty="0"/>
              <a:t>2</a:t>
            </a:r>
            <a:r>
              <a:rPr lang="en-US" altLang="zh-CN" sz="3600" dirty="0"/>
              <a:t> such that</a:t>
            </a:r>
            <a:endParaRPr lang="en-US" altLang="zh-CN" sz="36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3200" dirty="0"/>
              <a:t>2. </a:t>
            </a:r>
            <a:r>
              <a:rPr lang="en-US" altLang="zh-CN" sz="3200" i="1" dirty="0"/>
              <a:t>f</a:t>
            </a:r>
            <a:r>
              <a:rPr lang="en-US" altLang="zh-CN" sz="3200" i="1" baseline="-25000" dirty="0"/>
              <a:t>2</a:t>
            </a:r>
            <a:r>
              <a:rPr lang="en-US" altLang="zh-CN" sz="3200" dirty="0"/>
              <a:t>(</a:t>
            </a:r>
            <a:r>
              <a:rPr lang="en-US" altLang="zh-CN" sz="3200" i="1" dirty="0"/>
              <a:t>n</a:t>
            </a:r>
            <a:r>
              <a:rPr lang="en-US" altLang="zh-CN" sz="3200" dirty="0"/>
              <a:t>) &lt; </a:t>
            </a:r>
            <a:r>
              <a:rPr lang="en-US" altLang="zh-CN" sz="3200" i="1" dirty="0"/>
              <a:t>c</a:t>
            </a:r>
            <a:r>
              <a:rPr lang="en-US" altLang="zh-CN" sz="3200" i="1" baseline="-25000" dirty="0"/>
              <a:t>2</a:t>
            </a:r>
            <a:r>
              <a:rPr lang="en-US" altLang="zh-CN" sz="3200" i="1" dirty="0"/>
              <a:t>g</a:t>
            </a:r>
            <a:r>
              <a:rPr lang="en-US" altLang="zh-CN" sz="3200" i="1" baseline="-25000" dirty="0"/>
              <a:t>2</a:t>
            </a:r>
            <a:r>
              <a:rPr lang="en-US" altLang="zh-CN" sz="3200" dirty="0"/>
              <a:t>(</a:t>
            </a:r>
            <a:r>
              <a:rPr lang="en-US" altLang="zh-CN" sz="3200" i="1" dirty="0"/>
              <a:t>n</a:t>
            </a:r>
            <a:r>
              <a:rPr lang="en-US" altLang="zh-CN" sz="3200" dirty="0"/>
              <a:t>)</a:t>
            </a:r>
            <a:endParaRPr lang="en-US" altLang="zh-CN" sz="32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3200" dirty="0"/>
              <a:t>when </a:t>
            </a:r>
            <a:r>
              <a:rPr lang="en-US" altLang="zh-CN" sz="3200" i="1" dirty="0"/>
              <a:t>n</a:t>
            </a:r>
            <a:r>
              <a:rPr lang="en-US" altLang="zh-CN" sz="3200" dirty="0"/>
              <a:t> &gt; </a:t>
            </a:r>
            <a:r>
              <a:rPr lang="en-US" altLang="zh-CN" sz="3200" i="1" dirty="0"/>
              <a:t>k</a:t>
            </a:r>
            <a:r>
              <a:rPr lang="en-US" altLang="zh-CN" sz="3200" baseline="-25000" dirty="0"/>
              <a:t>2</a:t>
            </a:r>
            <a:r>
              <a:rPr lang="en-US" altLang="zh-CN" sz="3200" dirty="0"/>
              <a:t>.</a:t>
            </a:r>
            <a:endParaRPr lang="en-US" altLang="zh-CN" sz="32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3600" dirty="0"/>
              <a:t>We must find a </a:t>
            </a:r>
            <a:r>
              <a:rPr lang="en-US" altLang="zh-CN" sz="3600" i="1" dirty="0"/>
              <a:t>k</a:t>
            </a:r>
            <a:r>
              <a:rPr lang="en-US" altLang="zh-CN" sz="3600" baseline="-25000" dirty="0"/>
              <a:t>3</a:t>
            </a:r>
            <a:r>
              <a:rPr lang="en-US" altLang="zh-CN" sz="3600" dirty="0"/>
              <a:t> and </a:t>
            </a:r>
            <a:r>
              <a:rPr lang="en-US" altLang="zh-CN" sz="3600" i="1" dirty="0"/>
              <a:t>c</a:t>
            </a:r>
            <a:r>
              <a:rPr lang="en-US" altLang="zh-CN" sz="3600" baseline="-25000" dirty="0"/>
              <a:t>3</a:t>
            </a:r>
            <a:r>
              <a:rPr lang="en-US" altLang="zh-CN" sz="3600" dirty="0"/>
              <a:t> such that</a:t>
            </a:r>
            <a:endParaRPr lang="en-US" altLang="zh-CN" sz="36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3200" dirty="0"/>
              <a:t>3. </a:t>
            </a:r>
            <a:r>
              <a:rPr lang="en-US" altLang="zh-CN" sz="3200" i="1" dirty="0"/>
              <a:t>f</a:t>
            </a:r>
            <a:r>
              <a:rPr lang="en-US" altLang="zh-CN" sz="3200" baseline="-25000" dirty="0"/>
              <a:t>1</a:t>
            </a:r>
            <a:r>
              <a:rPr lang="en-US" altLang="zh-CN" sz="3200" dirty="0"/>
              <a:t>(</a:t>
            </a:r>
            <a:r>
              <a:rPr lang="en-US" altLang="zh-CN" sz="3200" i="1" dirty="0"/>
              <a:t>n</a:t>
            </a:r>
            <a:r>
              <a:rPr lang="en-US" altLang="zh-CN" sz="3200" dirty="0"/>
              <a:t>)</a:t>
            </a:r>
            <a:r>
              <a:rPr lang="en-US" altLang="zh-CN" sz="3200" i="1" dirty="0"/>
              <a:t>f</a:t>
            </a:r>
            <a:r>
              <a:rPr lang="en-US" altLang="zh-CN" sz="3200" baseline="-25000" dirty="0"/>
              <a:t>2</a:t>
            </a:r>
            <a:r>
              <a:rPr lang="en-US" altLang="zh-CN" sz="3200" dirty="0"/>
              <a:t>(</a:t>
            </a:r>
            <a:r>
              <a:rPr lang="en-US" altLang="zh-CN" sz="3200" i="1" dirty="0"/>
              <a:t>n</a:t>
            </a:r>
            <a:r>
              <a:rPr lang="en-US" altLang="zh-CN" sz="3200" dirty="0"/>
              <a:t>) &lt; </a:t>
            </a:r>
            <a:r>
              <a:rPr lang="en-US" altLang="zh-CN" sz="3200" i="1" dirty="0"/>
              <a:t>c</a:t>
            </a:r>
            <a:r>
              <a:rPr lang="en-US" altLang="zh-CN" sz="3200" baseline="-25000" dirty="0"/>
              <a:t>3</a:t>
            </a:r>
            <a:r>
              <a:rPr lang="en-US" altLang="zh-CN" sz="3200" i="1" dirty="0"/>
              <a:t>g</a:t>
            </a:r>
            <a:r>
              <a:rPr lang="en-US" altLang="zh-CN" sz="3200" baseline="-25000" dirty="0"/>
              <a:t>1</a:t>
            </a:r>
            <a:r>
              <a:rPr lang="en-US" altLang="zh-CN" sz="3200" dirty="0"/>
              <a:t>(</a:t>
            </a:r>
            <a:r>
              <a:rPr lang="en-US" altLang="zh-CN" sz="3200" i="1" dirty="0"/>
              <a:t>n</a:t>
            </a:r>
            <a:r>
              <a:rPr lang="en-US" altLang="zh-CN" sz="3200" dirty="0"/>
              <a:t>)g</a:t>
            </a:r>
            <a:r>
              <a:rPr lang="en-US" altLang="zh-CN" sz="3200" baseline="-25000" dirty="0"/>
              <a:t>2</a:t>
            </a:r>
            <a:r>
              <a:rPr lang="en-US" altLang="zh-CN" sz="3200" dirty="0"/>
              <a:t>(</a:t>
            </a:r>
            <a:r>
              <a:rPr lang="en-US" altLang="zh-CN" sz="3200" i="1" dirty="0"/>
              <a:t>n</a:t>
            </a:r>
            <a:r>
              <a:rPr lang="en-US" altLang="zh-CN" sz="3200" dirty="0"/>
              <a:t>)</a:t>
            </a:r>
            <a:endParaRPr lang="en-US" altLang="zh-CN" sz="32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3200" dirty="0"/>
              <a:t>when </a:t>
            </a:r>
            <a:r>
              <a:rPr lang="en-US" altLang="zh-CN" sz="3200" i="1" dirty="0"/>
              <a:t>n</a:t>
            </a:r>
            <a:r>
              <a:rPr lang="en-US" altLang="zh-CN" sz="3200" dirty="0"/>
              <a:t> &gt; </a:t>
            </a:r>
            <a:r>
              <a:rPr lang="en-US" altLang="zh-CN" sz="3200" i="1" dirty="0"/>
              <a:t>k</a:t>
            </a:r>
            <a:r>
              <a:rPr lang="en-US" altLang="zh-CN" sz="3200" baseline="-25000" dirty="0"/>
              <a:t>3</a:t>
            </a:r>
            <a:r>
              <a:rPr lang="en-US" altLang="zh-CN" sz="3200" dirty="0"/>
              <a:t>.</a:t>
            </a:r>
            <a:endParaRPr lang="en-US" altLang="zh-CN" sz="3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zh-CN" altLang="en-US" sz="1000" b="1" i="1" dirty="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5603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zh-CN" altLang="en-US" sz="1000" b="1" i="1" dirty="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5604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 b="1" i="1" dirty="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560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Proof of </a:t>
            </a:r>
            <a:r>
              <a:rPr lang="en-US" altLang="zh-CN" i="1" dirty="0">
                <a:solidFill>
                  <a:schemeClr val="hlink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i="1" baseline="-25000" dirty="0">
                <a:solidFill>
                  <a:schemeClr val="hlink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chemeClr val="hlink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i="1" baseline="-25000" dirty="0">
                <a:solidFill>
                  <a:schemeClr val="hlink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</a:rPr>
              <a:t> is </a:t>
            </a:r>
            <a:r>
              <a:rPr lang="en-US" altLang="zh-CN" i="1" dirty="0">
                <a:solidFill>
                  <a:schemeClr val="hlink"/>
                </a:solidFill>
                <a:latin typeface="Times New Roman" panose="02020603050405020304" pitchFamily="18" charset="0"/>
              </a:rPr>
              <a:t>O</a:t>
            </a:r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</a:rPr>
              <a:t>(g</a:t>
            </a:r>
            <a:r>
              <a:rPr lang="en-US" altLang="zh-CN" baseline="-25000" dirty="0">
                <a:solidFill>
                  <a:schemeClr val="hlink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baseline="-25000" dirty="0">
                <a:solidFill>
                  <a:schemeClr val="hlink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</a:rPr>
              <a:t>)</a:t>
            </a:r>
            <a:endParaRPr lang="zh-CN" altLang="en-US" dirty="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0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dirty="0"/>
              <a:t>We use the inequality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if 0 &lt; </a:t>
            </a:r>
            <a:r>
              <a:rPr lang="en-US" altLang="zh-CN" i="1" dirty="0"/>
              <a:t>a</a:t>
            </a:r>
            <a:r>
              <a:rPr lang="en-US" altLang="zh-CN" dirty="0"/>
              <a:t> &lt; </a:t>
            </a:r>
            <a:r>
              <a:rPr lang="en-US" altLang="zh-CN" i="1" dirty="0"/>
              <a:t>b</a:t>
            </a:r>
            <a:r>
              <a:rPr lang="en-US" altLang="zh-CN" dirty="0"/>
              <a:t> and 0 &lt; </a:t>
            </a:r>
            <a:r>
              <a:rPr lang="en-US" altLang="zh-CN" i="1" dirty="0"/>
              <a:t>c</a:t>
            </a:r>
            <a:r>
              <a:rPr lang="en-US" altLang="zh-CN" dirty="0"/>
              <a:t> &lt; </a:t>
            </a:r>
            <a:r>
              <a:rPr lang="en-US" altLang="zh-CN" i="1" dirty="0"/>
              <a:t>d</a:t>
            </a:r>
            <a:r>
              <a:rPr lang="en-US" altLang="zh-CN" dirty="0"/>
              <a:t> then </a:t>
            </a:r>
            <a:r>
              <a:rPr lang="en-US" altLang="zh-CN" i="1" dirty="0"/>
              <a:t>ac</a:t>
            </a:r>
            <a:r>
              <a:rPr lang="en-US" altLang="zh-CN" dirty="0"/>
              <a:t> &lt; </a:t>
            </a:r>
            <a:r>
              <a:rPr lang="en-US" altLang="zh-CN" i="1" dirty="0"/>
              <a:t>bd</a:t>
            </a:r>
            <a:endParaRPr lang="en-US" altLang="zh-CN" i="1" dirty="0"/>
          </a:p>
          <a:p>
            <a:pPr eaLnBrk="1" hangingPunct="1">
              <a:lnSpc>
                <a:spcPct val="90000"/>
              </a:lnSpc>
            </a:pPr>
            <a:r>
              <a:rPr lang="en-US" altLang="zh-CN" dirty="0"/>
              <a:t>to conclude that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i="1" dirty="0"/>
              <a:t>f</a:t>
            </a:r>
            <a:r>
              <a:rPr lang="en-US" altLang="zh-CN" baseline="-25000" dirty="0"/>
              <a:t>1</a:t>
            </a:r>
            <a:r>
              <a:rPr lang="en-US" altLang="zh-CN" dirty="0"/>
              <a:t>(</a:t>
            </a:r>
            <a:r>
              <a:rPr lang="en-US" altLang="zh-CN" i="1" dirty="0"/>
              <a:t>n</a:t>
            </a:r>
            <a:r>
              <a:rPr lang="en-US" altLang="zh-CN" dirty="0"/>
              <a:t>)</a:t>
            </a:r>
            <a:r>
              <a:rPr lang="en-US" altLang="zh-CN" i="1" dirty="0"/>
              <a:t>f</a:t>
            </a:r>
            <a:r>
              <a:rPr lang="en-US" altLang="zh-CN" baseline="-25000" dirty="0"/>
              <a:t>2</a:t>
            </a:r>
            <a:r>
              <a:rPr lang="en-US" altLang="zh-CN" dirty="0"/>
              <a:t>(</a:t>
            </a:r>
            <a:r>
              <a:rPr lang="en-US" altLang="zh-CN" i="1" dirty="0"/>
              <a:t>n</a:t>
            </a:r>
            <a:r>
              <a:rPr lang="en-US" altLang="zh-CN" dirty="0"/>
              <a:t>) &lt; </a:t>
            </a:r>
            <a:r>
              <a:rPr lang="en-US" altLang="zh-CN" i="1" dirty="0"/>
              <a:t>c</a:t>
            </a:r>
            <a:r>
              <a:rPr lang="en-US" altLang="zh-CN" baseline="-25000" dirty="0"/>
              <a:t>1</a:t>
            </a:r>
            <a:r>
              <a:rPr lang="en-US" altLang="zh-CN" i="1" dirty="0"/>
              <a:t>c</a:t>
            </a:r>
            <a:r>
              <a:rPr lang="en-US" altLang="zh-CN" baseline="-25000" dirty="0"/>
              <a:t>2</a:t>
            </a:r>
            <a:r>
              <a:rPr lang="en-US" altLang="zh-CN" i="1" dirty="0"/>
              <a:t>g</a:t>
            </a:r>
            <a:r>
              <a:rPr lang="en-US" altLang="zh-CN" baseline="-25000" dirty="0"/>
              <a:t>1</a:t>
            </a:r>
            <a:r>
              <a:rPr lang="en-US" altLang="zh-CN" dirty="0"/>
              <a:t>(</a:t>
            </a:r>
            <a:r>
              <a:rPr lang="en-US" altLang="zh-CN" i="1" dirty="0"/>
              <a:t>n</a:t>
            </a:r>
            <a:r>
              <a:rPr lang="en-US" altLang="zh-CN" dirty="0"/>
              <a:t>)</a:t>
            </a:r>
            <a:r>
              <a:rPr lang="en-US" altLang="zh-CN" i="1" dirty="0"/>
              <a:t>g</a:t>
            </a:r>
            <a:r>
              <a:rPr lang="en-US" altLang="zh-CN" baseline="-25000" dirty="0"/>
              <a:t>2</a:t>
            </a:r>
            <a:r>
              <a:rPr lang="en-US" altLang="zh-CN" dirty="0"/>
              <a:t>(</a:t>
            </a:r>
            <a:r>
              <a:rPr lang="en-US" altLang="zh-CN" i="1" dirty="0"/>
              <a:t>n</a:t>
            </a:r>
            <a:r>
              <a:rPr lang="en-US" altLang="zh-CN" dirty="0"/>
              <a:t>)</a:t>
            </a:r>
            <a:endParaRPr lang="en-US" altLang="zh-CN" dirty="0"/>
          </a:p>
          <a:p>
            <a:pPr eaLnBrk="1" hangingPunct="1">
              <a:lnSpc>
                <a:spcPct val="90000"/>
              </a:lnSpc>
            </a:pPr>
            <a:r>
              <a:rPr lang="en-US" altLang="zh-CN" dirty="0"/>
              <a:t>as long as </a:t>
            </a:r>
            <a:r>
              <a:rPr lang="en-US" altLang="zh-CN" i="1" dirty="0"/>
              <a:t>k</a:t>
            </a:r>
            <a:r>
              <a:rPr lang="en-US" altLang="zh-CN" dirty="0"/>
              <a:t> &gt; </a:t>
            </a:r>
            <a:r>
              <a:rPr lang="en-US" altLang="zh-CN" i="1" dirty="0"/>
              <a:t>max</a:t>
            </a:r>
            <a:r>
              <a:rPr lang="en-US" altLang="zh-CN" dirty="0"/>
              <a:t>{</a:t>
            </a:r>
            <a:r>
              <a:rPr lang="en-US" altLang="zh-CN" i="1" dirty="0"/>
              <a:t>k</a:t>
            </a:r>
            <a:r>
              <a:rPr lang="en-US" altLang="zh-CN" baseline="-25000" dirty="0"/>
              <a:t>1</a:t>
            </a:r>
            <a:r>
              <a:rPr lang="en-US" altLang="zh-CN" dirty="0"/>
              <a:t>, </a:t>
            </a:r>
            <a:r>
              <a:rPr lang="en-US" altLang="zh-CN" i="1" dirty="0"/>
              <a:t>k</a:t>
            </a:r>
            <a:r>
              <a:rPr lang="en-US" altLang="zh-CN" baseline="-25000" dirty="0"/>
              <a:t>2</a:t>
            </a:r>
            <a:r>
              <a:rPr lang="en-US" altLang="zh-CN" dirty="0"/>
              <a:t>} so that </a:t>
            </a:r>
            <a:r>
              <a:rPr lang="en-US" altLang="zh-CN" i="1" dirty="0">
                <a:solidFill>
                  <a:schemeClr val="hlink"/>
                </a:solidFill>
              </a:rPr>
              <a:t>both</a:t>
            </a:r>
            <a:r>
              <a:rPr lang="en-US" altLang="zh-CN" dirty="0"/>
              <a:t> inequalities 1 and 2. hold at the same time.</a:t>
            </a:r>
            <a:endParaRPr lang="en-US" altLang="zh-CN" dirty="0"/>
          </a:p>
          <a:p>
            <a:pPr eaLnBrk="1" hangingPunct="1">
              <a:lnSpc>
                <a:spcPct val="90000"/>
              </a:lnSpc>
            </a:pPr>
            <a:r>
              <a:rPr lang="en-US" altLang="zh-CN" dirty="0"/>
              <a:t>Therefore, choose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i="1" dirty="0"/>
              <a:t>c</a:t>
            </a:r>
            <a:r>
              <a:rPr lang="en-US" altLang="zh-CN" baseline="-25000" dirty="0"/>
              <a:t>3</a:t>
            </a:r>
            <a:r>
              <a:rPr lang="en-US" altLang="zh-CN" dirty="0"/>
              <a:t> = </a:t>
            </a:r>
            <a:r>
              <a:rPr lang="en-US" altLang="zh-CN" i="1" dirty="0"/>
              <a:t>c</a:t>
            </a:r>
            <a:r>
              <a:rPr lang="en-US" altLang="zh-CN" baseline="-25000" dirty="0"/>
              <a:t>1</a:t>
            </a:r>
            <a:r>
              <a:rPr lang="en-US" altLang="zh-CN" i="1" dirty="0"/>
              <a:t>c</a:t>
            </a:r>
            <a:r>
              <a:rPr lang="en-US" altLang="zh-CN" baseline="-25000" dirty="0"/>
              <a:t>2</a:t>
            </a:r>
            <a:endParaRPr lang="en-US" altLang="zh-CN" baseline="-250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and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i="1" dirty="0"/>
              <a:t>k</a:t>
            </a:r>
            <a:r>
              <a:rPr lang="en-US" altLang="zh-CN" baseline="-25000" dirty="0"/>
              <a:t>3</a:t>
            </a:r>
            <a:r>
              <a:rPr lang="en-US" altLang="zh-CN" dirty="0"/>
              <a:t> = </a:t>
            </a:r>
            <a:r>
              <a:rPr lang="en-US" altLang="zh-CN" i="1" dirty="0"/>
              <a:t>max</a:t>
            </a:r>
            <a:r>
              <a:rPr lang="en-US" altLang="zh-CN" dirty="0"/>
              <a:t>{</a:t>
            </a:r>
            <a:r>
              <a:rPr lang="en-US" altLang="zh-CN" i="1" dirty="0"/>
              <a:t>k</a:t>
            </a:r>
            <a:r>
              <a:rPr lang="en-US" altLang="zh-CN" baseline="-25000" dirty="0"/>
              <a:t>1</a:t>
            </a:r>
            <a:r>
              <a:rPr lang="en-US" altLang="zh-CN" dirty="0"/>
              <a:t>, </a:t>
            </a:r>
            <a:r>
              <a:rPr lang="en-US" altLang="zh-CN" i="1" dirty="0"/>
              <a:t>k</a:t>
            </a:r>
            <a:r>
              <a:rPr lang="en-US" altLang="zh-CN" baseline="-25000" dirty="0"/>
              <a:t>2</a:t>
            </a:r>
            <a:r>
              <a:rPr lang="en-US" altLang="zh-CN" dirty="0"/>
              <a:t>}.</a:t>
            </a:r>
            <a:endParaRPr lang="en-US" altLang="zh-CN" dirty="0"/>
          </a:p>
          <a:p>
            <a:pPr lvl="2" algn="r" eaLnBrk="1" hangingPunct="1">
              <a:lnSpc>
                <a:spcPct val="90000"/>
              </a:lnSpc>
            </a:pPr>
            <a:r>
              <a:rPr lang="en-US" altLang="zh-CN" sz="2000" dirty="0"/>
              <a:t>Q. E. D.</a:t>
            </a:r>
            <a:endParaRPr lang="en-US" altLang="zh-CN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zh-CN" altLang="en-US" sz="1000" b="1" i="1" dirty="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6627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zh-CN" altLang="en-US" sz="1000" b="1" i="1" dirty="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6628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 b="1" i="1" dirty="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662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Example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663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3600" dirty="0"/>
              <a:t>Find the complexity class of the function</a:t>
            </a:r>
            <a:endParaRPr lang="en-US" altLang="zh-CN" sz="3600" dirty="0"/>
          </a:p>
          <a:p>
            <a:pPr lvl="1" eaLnBrk="1" hangingPunct="1"/>
            <a:r>
              <a:rPr lang="en-US" altLang="zh-CN" sz="3200" dirty="0"/>
              <a:t>(</a:t>
            </a:r>
            <a:r>
              <a:rPr lang="en-US" altLang="zh-CN" sz="3200" i="1" dirty="0"/>
              <a:t>nn</a:t>
            </a:r>
            <a:r>
              <a:rPr lang="en-US" altLang="zh-CN" sz="3200" dirty="0"/>
              <a:t>!</a:t>
            </a:r>
            <a:r>
              <a:rPr lang="en-US" altLang="zh-CN" sz="3200" dirty="0">
                <a:latin typeface="Symbol" panose="05050102010706020507" pitchFamily="18" charset="2"/>
              </a:rPr>
              <a:t>+ </a:t>
            </a:r>
            <a:r>
              <a:rPr lang="en-US" altLang="zh-CN" sz="3200" dirty="0"/>
              <a:t>3</a:t>
            </a:r>
            <a:r>
              <a:rPr lang="en-US" altLang="zh-CN" sz="3200" i="1" baseline="30000" dirty="0"/>
              <a:t>n</a:t>
            </a:r>
            <a:r>
              <a:rPr lang="en-US" altLang="zh-CN" sz="3200" baseline="30000" dirty="0">
                <a:latin typeface="Symbol" panose="05050102010706020507" pitchFamily="18" charset="2"/>
              </a:rPr>
              <a:t>+</a:t>
            </a:r>
            <a:r>
              <a:rPr lang="en-US" altLang="zh-CN" sz="3200" baseline="30000" dirty="0"/>
              <a:t>2</a:t>
            </a:r>
            <a:r>
              <a:rPr lang="en-US" altLang="zh-CN" sz="3200" dirty="0"/>
              <a:t> </a:t>
            </a:r>
            <a:r>
              <a:rPr lang="en-US" altLang="zh-CN" sz="3200" dirty="0">
                <a:latin typeface="Symbol" panose="05050102010706020507" pitchFamily="18" charset="2"/>
              </a:rPr>
              <a:t>+ </a:t>
            </a:r>
            <a:r>
              <a:rPr lang="en-US" altLang="zh-CN" sz="3200" dirty="0"/>
              <a:t>3</a:t>
            </a:r>
            <a:r>
              <a:rPr lang="en-US" altLang="zh-CN" sz="3200" i="1" dirty="0"/>
              <a:t>n</a:t>
            </a:r>
            <a:r>
              <a:rPr lang="en-US" altLang="zh-CN" sz="3200" baseline="30000" dirty="0"/>
              <a:t>100</a:t>
            </a:r>
            <a:r>
              <a:rPr lang="en-US" altLang="zh-CN" sz="3200" dirty="0"/>
              <a:t> )(</a:t>
            </a:r>
            <a:r>
              <a:rPr lang="en-US" altLang="zh-CN" sz="3200" i="1" dirty="0"/>
              <a:t>n</a:t>
            </a:r>
            <a:r>
              <a:rPr lang="en-US" altLang="zh-CN" sz="3200" i="1" baseline="30000" dirty="0"/>
              <a:t>n</a:t>
            </a:r>
            <a:r>
              <a:rPr lang="en-US" altLang="zh-CN" sz="3200" i="1" dirty="0"/>
              <a:t> </a:t>
            </a:r>
            <a:r>
              <a:rPr lang="en-US" altLang="zh-CN" sz="3200" dirty="0">
                <a:latin typeface="Symbol" panose="05050102010706020507" pitchFamily="18" charset="2"/>
              </a:rPr>
              <a:t>+ </a:t>
            </a:r>
            <a:r>
              <a:rPr lang="en-US" altLang="zh-CN" sz="3200" i="1" dirty="0"/>
              <a:t>n</a:t>
            </a:r>
            <a:r>
              <a:rPr lang="en-US" altLang="zh-CN" sz="3200" dirty="0"/>
              <a:t>2</a:t>
            </a:r>
            <a:r>
              <a:rPr lang="en-US" altLang="zh-CN" sz="3200" i="1" baseline="30000" dirty="0"/>
              <a:t>n</a:t>
            </a:r>
            <a:r>
              <a:rPr lang="en-US" altLang="zh-CN" sz="3200" i="1" dirty="0"/>
              <a:t> </a:t>
            </a:r>
            <a:r>
              <a:rPr lang="en-US" altLang="zh-CN" sz="3200" dirty="0"/>
              <a:t>)</a:t>
            </a:r>
            <a:endParaRPr lang="en-US" altLang="zh-CN" sz="3200" dirty="0"/>
          </a:p>
          <a:p>
            <a:pPr eaLnBrk="1" hangingPunct="1"/>
            <a:r>
              <a:rPr lang="en-US" altLang="zh-CN" sz="3600" dirty="0"/>
              <a:t>Solution:</a:t>
            </a:r>
            <a:endParaRPr lang="en-US" altLang="zh-CN" sz="3600" dirty="0"/>
          </a:p>
          <a:p>
            <a:pPr lvl="1" eaLnBrk="1" hangingPunct="1"/>
            <a:r>
              <a:rPr lang="en-US" altLang="zh-CN" sz="3200" dirty="0"/>
              <a:t>This means to simplify the expression.</a:t>
            </a:r>
            <a:endParaRPr lang="en-US" altLang="zh-CN" sz="3200" dirty="0"/>
          </a:p>
          <a:p>
            <a:pPr lvl="1" eaLnBrk="1" hangingPunct="1"/>
            <a:r>
              <a:rPr lang="en-US" altLang="zh-CN" sz="3200" dirty="0"/>
              <a:t>Throw out stuff which you know doesn't grow as fast. And at last:</a:t>
            </a:r>
            <a:endParaRPr lang="en-US" altLang="zh-CN" sz="3200" dirty="0"/>
          </a:p>
          <a:p>
            <a:pPr lvl="1" eaLnBrk="1" hangingPunct="1"/>
            <a:r>
              <a:rPr lang="en-US" altLang="zh-CN" sz="3200" i="1" dirty="0"/>
              <a:t>nn</a:t>
            </a:r>
            <a:r>
              <a:rPr lang="en-US" altLang="zh-CN" sz="3200" dirty="0"/>
              <a:t>! </a:t>
            </a:r>
            <a:r>
              <a:rPr lang="en-US" altLang="zh-CN" sz="3200" i="1" dirty="0"/>
              <a:t>n</a:t>
            </a:r>
            <a:r>
              <a:rPr lang="en-US" altLang="zh-CN" sz="3200" i="1" baseline="30000" dirty="0"/>
              <a:t>n</a:t>
            </a:r>
            <a:endParaRPr lang="en-US" altLang="zh-CN" sz="3200" i="1" baseline="30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zh-CN" altLang="en-US" sz="1000" b="1" i="1" dirty="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7651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zh-CN" altLang="en-US" sz="1000" b="1" i="1" dirty="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7652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 b="1" i="1" dirty="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765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Big-omega notation</a:t>
            </a:r>
            <a:endParaRPr lang="en-US" altLang="zh-CN" dirty="0"/>
          </a:p>
        </p:txBody>
      </p:sp>
      <p:sp>
        <p:nvSpPr>
          <p:cNvPr id="27654" name="Rectangle 3"/>
          <p:cNvSpPr>
            <a:spLocks noGrp="1"/>
          </p:cNvSpPr>
          <p:nvPr>
            <p:ph idx="1"/>
          </p:nvPr>
        </p:nvSpPr>
        <p:spPr>
          <a:xfrm>
            <a:off x="603250" y="1219835"/>
            <a:ext cx="8352155" cy="4912995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b="1" dirty="0"/>
              <a:t>Definition: </a:t>
            </a:r>
            <a:r>
              <a:rPr lang="en-US" altLang="zh-CN" dirty="0"/>
              <a:t>Let </a:t>
            </a:r>
            <a:r>
              <a:rPr lang="en-US" altLang="zh-CN" i="1" dirty="0"/>
              <a:t>f</a:t>
            </a:r>
            <a:r>
              <a:rPr lang="en-US" altLang="zh-CN" dirty="0"/>
              <a:t> and </a:t>
            </a:r>
            <a:r>
              <a:rPr lang="en-US" altLang="zh-CN" i="1" dirty="0"/>
              <a:t>g</a:t>
            </a:r>
            <a:r>
              <a:rPr lang="en-US" altLang="zh-CN" dirty="0"/>
              <a:t> be functions from </a:t>
            </a:r>
            <a:r>
              <a:rPr lang="en-US" altLang="zh-CN" dirty="0">
                <a:latin typeface="Euclid Math Two" panose="02050601010101010101" pitchFamily="18" charset="2"/>
              </a:rPr>
              <a:t>N</a:t>
            </a:r>
            <a:r>
              <a:rPr lang="en-US" altLang="zh-CN" dirty="0"/>
              <a:t>  or </a:t>
            </a:r>
            <a:r>
              <a:rPr lang="en-US" altLang="zh-CN" dirty="0">
                <a:latin typeface="Euclid Math Two" panose="02050601010101010101" pitchFamily="18" charset="2"/>
              </a:rPr>
              <a:t>R</a:t>
            </a:r>
            <a:r>
              <a:rPr lang="en-US" altLang="zh-CN" dirty="0"/>
              <a:t> to </a:t>
            </a:r>
            <a:r>
              <a:rPr lang="en-US" altLang="zh-CN" dirty="0">
                <a:latin typeface="Euclid Math Two" panose="02050601010101010101" pitchFamily="18" charset="2"/>
              </a:rPr>
              <a:t>R</a:t>
            </a:r>
            <a:r>
              <a:rPr lang="en-US" altLang="zh-CN" dirty="0"/>
              <a:t>. We say </a:t>
            </a:r>
            <a:r>
              <a:rPr lang="en-US" altLang="zh-CN" i="1" dirty="0"/>
              <a:t>f </a:t>
            </a:r>
            <a:r>
              <a:rPr lang="en-US" altLang="zh-CN" dirty="0"/>
              <a:t> is </a:t>
            </a:r>
            <a:r>
              <a:rPr lang="en-US" altLang="zh-CN" dirty="0">
                <a:sym typeface="Symbol" panose="05050102010706020507" pitchFamily="18" charset="2"/>
              </a:rPr>
              <a:t></a:t>
            </a:r>
            <a:r>
              <a:rPr lang="en-US" altLang="zh-CN" dirty="0"/>
              <a:t>(</a:t>
            </a:r>
            <a:r>
              <a:rPr lang="en-US" altLang="zh-CN" i="1" dirty="0"/>
              <a:t>g</a:t>
            </a:r>
            <a:r>
              <a:rPr lang="en-US" altLang="zh-CN" dirty="0"/>
              <a:t>) or '</a:t>
            </a:r>
            <a:r>
              <a:rPr lang="en-US" altLang="zh-CN" i="1" dirty="0"/>
              <a:t>f</a:t>
            </a:r>
            <a:r>
              <a:rPr lang="en-US" altLang="zh-CN" dirty="0"/>
              <a:t> is big- </a:t>
            </a:r>
            <a:r>
              <a:rPr lang="en-US" altLang="zh-CN" dirty="0">
                <a:sym typeface="Symbol" panose="05050102010706020507" pitchFamily="18" charset="2"/>
              </a:rPr>
              <a:t></a:t>
            </a:r>
            <a:r>
              <a:rPr lang="en-US" altLang="zh-CN" dirty="0"/>
              <a:t> of</a:t>
            </a:r>
            <a:r>
              <a:rPr lang="en-US" altLang="zh-CN" i="1" dirty="0"/>
              <a:t> g</a:t>
            </a:r>
            <a:r>
              <a:rPr lang="en-US" altLang="zh-CN" dirty="0"/>
              <a:t>,' iff</a:t>
            </a:r>
            <a:endParaRPr lang="en-US" altLang="zh-CN" dirty="0"/>
          </a:p>
          <a:p>
            <a:pPr lvl="1" eaLnBrk="1" hangingPunct="1"/>
            <a:r>
              <a:rPr lang="en-US" altLang="zh-CN" dirty="0">
                <a:latin typeface="Symbol" panose="05050102010706020507" pitchFamily="18" charset="2"/>
              </a:rPr>
              <a:t>$</a:t>
            </a:r>
            <a:r>
              <a:rPr lang="en-US" altLang="zh-CN" i="1" dirty="0"/>
              <a:t>k</a:t>
            </a:r>
            <a:r>
              <a:rPr lang="en-US" altLang="zh-CN" dirty="0">
                <a:latin typeface="Symbol" panose="05050102010706020507" pitchFamily="18" charset="2"/>
              </a:rPr>
              <a:t>$</a:t>
            </a:r>
            <a:r>
              <a:rPr lang="en-US" altLang="zh-CN" i="1" dirty="0"/>
              <a:t>c</a:t>
            </a:r>
            <a:r>
              <a:rPr lang="en-US" altLang="zh-CN" dirty="0">
                <a:latin typeface="Symbol" panose="05050102010706020507" pitchFamily="18" charset="2"/>
              </a:rPr>
              <a:t>"</a:t>
            </a:r>
            <a:r>
              <a:rPr lang="en-US" altLang="zh-CN" i="1" dirty="0"/>
              <a:t>n</a:t>
            </a:r>
            <a:r>
              <a:rPr lang="en-US" altLang="zh-CN" dirty="0"/>
              <a:t>[</a:t>
            </a:r>
            <a:r>
              <a:rPr lang="en-US" altLang="zh-CN" i="1" dirty="0"/>
              <a:t>n </a:t>
            </a:r>
            <a:r>
              <a:rPr lang="en-US" altLang="zh-CN" dirty="0">
                <a:latin typeface="Symbol" panose="05050102010706020507" pitchFamily="18" charset="2"/>
              </a:rPr>
              <a:t>&gt; </a:t>
            </a:r>
            <a:r>
              <a:rPr lang="en-US" altLang="zh-CN" i="1" dirty="0"/>
              <a:t>k</a:t>
            </a:r>
            <a:r>
              <a:rPr lang="en-US" altLang="zh-CN" dirty="0">
                <a:latin typeface="Symbol" panose="05050102010706020507" pitchFamily="18" charset="2"/>
              </a:rPr>
              <a:t>®</a:t>
            </a:r>
            <a:r>
              <a:rPr lang="en-US" altLang="zh-CN" dirty="0"/>
              <a:t>| </a:t>
            </a:r>
            <a:r>
              <a:rPr lang="en-US" altLang="zh-CN" i="1" dirty="0"/>
              <a:t>f </a:t>
            </a:r>
            <a:r>
              <a:rPr lang="en-US" altLang="zh-CN" dirty="0"/>
              <a:t>(</a:t>
            </a:r>
            <a:r>
              <a:rPr lang="en-US" altLang="zh-CN" i="1" dirty="0"/>
              <a:t>n</a:t>
            </a:r>
            <a:r>
              <a:rPr lang="en-US" altLang="zh-CN" dirty="0"/>
              <a:t>) |</a:t>
            </a:r>
            <a:r>
              <a:rPr lang="en-US" altLang="zh-CN" dirty="0">
                <a:latin typeface="Symbol" panose="05050102010706020507" pitchFamily="18" charset="2"/>
                <a:sym typeface="Symbol" panose="05050102010706020507" pitchFamily="18" charset="2"/>
              </a:rPr>
              <a:t></a:t>
            </a:r>
            <a:r>
              <a:rPr lang="en-US" altLang="zh-CN" i="1" dirty="0"/>
              <a:t>c </a:t>
            </a:r>
            <a:r>
              <a:rPr lang="en-US" altLang="zh-CN" dirty="0"/>
              <a:t>| </a:t>
            </a:r>
            <a:r>
              <a:rPr lang="en-US" altLang="zh-CN" i="1" dirty="0"/>
              <a:t>g</a:t>
            </a:r>
            <a:r>
              <a:rPr lang="en-US" altLang="zh-CN" dirty="0"/>
              <a:t>(</a:t>
            </a:r>
            <a:r>
              <a:rPr lang="en-US" altLang="zh-CN" i="1" dirty="0"/>
              <a:t>n</a:t>
            </a:r>
            <a:r>
              <a:rPr lang="en-US" altLang="zh-CN" dirty="0"/>
              <a:t>) |]</a:t>
            </a:r>
            <a:endParaRPr lang="en-US" altLang="zh-CN" dirty="0"/>
          </a:p>
          <a:p>
            <a:pPr eaLnBrk="1" hangingPunct="1"/>
            <a:r>
              <a:rPr lang="en-US" altLang="zh-CN" dirty="0"/>
              <a:t>Note: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Choose </a:t>
            </a:r>
            <a:r>
              <a:rPr lang="en-US" altLang="zh-CN" i="1" dirty="0"/>
              <a:t>k</a:t>
            </a:r>
            <a:endParaRPr lang="en-US" altLang="zh-CN" i="1" dirty="0"/>
          </a:p>
          <a:p>
            <a:pPr lvl="1" eaLnBrk="1" hangingPunct="1"/>
            <a:r>
              <a:rPr lang="en-US" altLang="zh-CN" dirty="0"/>
              <a:t>Choose </a:t>
            </a:r>
            <a:r>
              <a:rPr lang="en-US" altLang="zh-CN" i="1" dirty="0"/>
              <a:t>c</a:t>
            </a:r>
            <a:r>
              <a:rPr lang="en-US" altLang="zh-CN" dirty="0"/>
              <a:t>; it may depend on your choice of </a:t>
            </a:r>
            <a:r>
              <a:rPr lang="en-US" altLang="zh-CN" i="1" dirty="0"/>
              <a:t>k</a:t>
            </a:r>
            <a:endParaRPr lang="en-US" altLang="zh-CN" i="1" dirty="0"/>
          </a:p>
          <a:p>
            <a:pPr lvl="1" eaLnBrk="1" hangingPunct="1"/>
            <a:r>
              <a:rPr lang="en-US" altLang="zh-CN" dirty="0"/>
              <a:t>Once you choose </a:t>
            </a:r>
            <a:r>
              <a:rPr lang="en-US" altLang="zh-CN" i="1" dirty="0"/>
              <a:t>k</a:t>
            </a:r>
            <a:r>
              <a:rPr lang="en-US" altLang="zh-CN" dirty="0"/>
              <a:t> and </a:t>
            </a:r>
            <a:r>
              <a:rPr lang="en-US" altLang="zh-CN" i="1" dirty="0"/>
              <a:t>c</a:t>
            </a:r>
            <a:r>
              <a:rPr lang="en-US" altLang="zh-CN" dirty="0"/>
              <a:t>, you must prove the truth of the implication (often by induction)</a:t>
            </a:r>
            <a:endParaRPr lang="zh-CN" altLang="en-US" dirty="0"/>
          </a:p>
          <a:p>
            <a:pPr eaLnBrk="1" hangingPunct="1"/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4106863" y="2924175"/>
            <a:ext cx="4440237" cy="431800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实际上相当于给出函数的</a:t>
            </a:r>
            <a:r>
              <a:rPr lang="zh-CN" alt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渐进下</a:t>
            </a:r>
            <a:r>
              <a:rPr lang="zh-CN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界</a:t>
            </a:r>
            <a:endParaRPr lang="zh-CN" altLang="en-US" sz="2200" b="1" i="1" dirty="0">
              <a:latin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27088" y="5661025"/>
            <a:ext cx="7805737" cy="460375"/>
          </a:xfrm>
          <a:prstGeom prst="rect">
            <a:avLst/>
          </a:prstGeom>
          <a:solidFill>
            <a:srgbClr val="FFC000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latin typeface="Times New Roman" panose="02020603050405020304" pitchFamily="18" charset="0"/>
              </a:rPr>
              <a:t>In particular, f(x) is Ω(g(x)) if and only if g(x) is O(f(x)).</a:t>
            </a:r>
            <a:endParaRPr lang="zh-CN" altLang="en-US" sz="2400" b="1" i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2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zh-CN" altLang="en-US" sz="1000" b="1" i="1" dirty="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8675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zh-CN" altLang="en-US" sz="1000" b="1" i="1" dirty="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8676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 b="1" i="1" dirty="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8677" name="Rectangle 2"/>
          <p:cNvSpPr>
            <a:spLocks noGrp="1"/>
          </p:cNvSpPr>
          <p:nvPr>
            <p:ph type="title"/>
          </p:nvPr>
        </p:nvSpPr>
        <p:spPr>
          <a:xfrm>
            <a:off x="1043305" y="116523"/>
            <a:ext cx="8188325" cy="11430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Big-theta notation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8678" name="Rectangle 3"/>
          <p:cNvSpPr>
            <a:spLocks noGrp="1"/>
          </p:cNvSpPr>
          <p:nvPr>
            <p:ph idx="1"/>
          </p:nvPr>
        </p:nvSpPr>
        <p:spPr>
          <a:xfrm>
            <a:off x="827405" y="1412875"/>
            <a:ext cx="8001000" cy="44196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solidFill>
                  <a:srgbClr val="008000"/>
                </a:solidFill>
                <a:ea typeface="宋体" panose="02010600030101010101" pitchFamily="2" charset="-122"/>
              </a:rPr>
              <a:t>If </a:t>
            </a:r>
            <a:r>
              <a:rPr lang="en-US" altLang="zh-CN" i="1" dirty="0">
                <a:solidFill>
                  <a:srgbClr val="008000"/>
                </a:solidFill>
                <a:ea typeface="宋体" panose="02010600030101010101" pitchFamily="2" charset="-122"/>
              </a:rPr>
              <a:t>f</a:t>
            </a:r>
            <a:r>
              <a:rPr lang="en-US" altLang="zh-CN" dirty="0">
                <a:solidFill>
                  <a:srgbClr val="008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O(</a:t>
            </a:r>
            <a:r>
              <a:rPr lang="en-US" altLang="zh-CN" i="1" dirty="0">
                <a:solidFill>
                  <a:srgbClr val="008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en-US" altLang="zh-CN" dirty="0">
                <a:solidFill>
                  <a:srgbClr val="008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and </a:t>
            </a:r>
            <a:r>
              <a:rPr lang="en-US" altLang="zh-CN" i="1" dirty="0">
                <a:solidFill>
                  <a:srgbClr val="008000"/>
                </a:solidFill>
                <a:ea typeface="宋体" panose="02010600030101010101" pitchFamily="2" charset="-122"/>
              </a:rPr>
              <a:t>g</a:t>
            </a:r>
            <a:r>
              <a:rPr lang="en-US" altLang="zh-CN" dirty="0">
                <a:solidFill>
                  <a:srgbClr val="008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O(</a:t>
            </a:r>
            <a:r>
              <a:rPr lang="en-US" altLang="zh-CN" i="1" dirty="0">
                <a:solidFill>
                  <a:srgbClr val="008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 dirty="0">
                <a:solidFill>
                  <a:srgbClr val="008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), then we say “</a:t>
            </a:r>
            <a:r>
              <a:rPr lang="en-US" altLang="zh-CN" i="1" dirty="0">
                <a:solidFill>
                  <a:srgbClr val="008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g and f are of the same order</a:t>
            </a:r>
            <a:r>
              <a:rPr lang="en-US" altLang="zh-CN" dirty="0">
                <a:solidFill>
                  <a:srgbClr val="008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” or “</a:t>
            </a:r>
            <a:r>
              <a:rPr lang="en-US" altLang="zh-CN" i="1" dirty="0">
                <a:solidFill>
                  <a:srgbClr val="008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 is (exactly) order g</a:t>
            </a:r>
            <a:r>
              <a:rPr lang="en-US" altLang="zh-CN" dirty="0">
                <a:solidFill>
                  <a:srgbClr val="008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” and write </a:t>
            </a:r>
            <a:r>
              <a:rPr lang="en-US" altLang="zh-CN" i="1" dirty="0">
                <a:solidFill>
                  <a:srgbClr val="008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 dirty="0">
                <a:solidFill>
                  <a:srgbClr val="008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(</a:t>
            </a:r>
            <a:r>
              <a:rPr lang="en-US" altLang="zh-CN" i="1" dirty="0">
                <a:solidFill>
                  <a:srgbClr val="008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en-US" altLang="zh-CN" dirty="0">
                <a:solidFill>
                  <a:srgbClr val="008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).</a:t>
            </a:r>
            <a:endParaRPr lang="en-US" altLang="zh-CN" dirty="0">
              <a:solidFill>
                <a:srgbClr val="008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Another, equivalent definition:</a:t>
            </a:r>
            <a:b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(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 {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: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| </a:t>
            </a:r>
            <a:b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      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 baseline="-250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 baseline="-250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k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&gt;0 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&gt;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k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: |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 baseline="-250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)||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)||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 baseline="-250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)| }</a:t>
            </a:r>
            <a:endParaRPr lang="en-US" altLang="zh-CN" dirty="0">
              <a:solidFill>
                <a:srgbClr val="FF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“Everywhere beyond some point 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k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, 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lies in between two multiples of 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).”</a:t>
            </a:r>
            <a:endParaRPr lang="en-US" altLang="zh-CN" dirty="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349375" y="5621338"/>
            <a:ext cx="4157663" cy="847725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lang="zh-CN" alt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通过上界和下界确定了函数的阶</a:t>
            </a:r>
            <a:endParaRPr lang="en-US" altLang="zh-CN" sz="2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f(x)</a:t>
            </a:r>
            <a:r>
              <a:rPr lang="zh-CN" alt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 </a:t>
            </a: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g(x)</a:t>
            </a:r>
            <a:r>
              <a:rPr lang="zh-CN" alt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具有相同的阶</a:t>
            </a:r>
            <a:endParaRPr lang="zh-CN" altLang="en-US" sz="2200" b="1" i="1" dirty="0">
              <a:latin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088063" y="3527425"/>
            <a:ext cx="2717800" cy="461963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O(g) and f(g) </a:t>
            </a:r>
            <a:endParaRPr lang="zh-CN" altLang="en-US" sz="2400" b="1" i="1" dirty="0">
              <a:latin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873750" y="5886450"/>
            <a:ext cx="2867025" cy="461963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zh-CN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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(g) and g</a:t>
            </a:r>
            <a:r>
              <a:rPr lang="zh-CN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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(f) </a:t>
            </a:r>
            <a:endParaRPr lang="zh-CN" altLang="en-US" sz="2400" b="1" i="1" dirty="0">
              <a:latin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659563" y="2776538"/>
            <a:ext cx="1887537" cy="430212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互为渐进上界</a:t>
            </a:r>
            <a:endParaRPr lang="zh-CN" altLang="en-US" sz="2200" b="1" i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2" grpId="0" animBg="1"/>
      <p:bldP spid="2" grpId="1" animBg="1"/>
      <p:bldP spid="10" grpId="0" animBg="1"/>
      <p:bldP spid="9" grpId="0" animBg="1"/>
      <p:bldP spid="10" grpId="1" animBg="1"/>
      <p:bldP spid="9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zh-CN" altLang="en-US" sz="1000" b="1" i="1" dirty="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9699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zh-CN" altLang="en-US" sz="1000" b="1" i="1" dirty="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9700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 b="1" i="1" dirty="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970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>
                <a:ea typeface="宋体" panose="02010600030101010101" pitchFamily="2" charset="-122"/>
                <a:sym typeface="Symbol" panose="05050102010706020507" pitchFamily="18" charset="2"/>
              </a:rPr>
              <a:t>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example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970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Determine whether: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Quick solution: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29703" name="Object 4"/>
          <p:cNvGraphicFramePr>
            <a:graphicFrameLocks noChangeAspect="1"/>
          </p:cNvGraphicFramePr>
          <p:nvPr/>
        </p:nvGraphicFramePr>
        <p:xfrm>
          <a:off x="5220335" y="1207135"/>
          <a:ext cx="2652395" cy="134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901700" imgH="457200" progId="Equation.3">
                  <p:embed/>
                </p:oleObj>
              </mc:Choice>
              <mc:Fallback>
                <p:oleObj name="" r:id="rId1" imgW="901700" imgH="4572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220335" y="1207135"/>
                        <a:ext cx="2652395" cy="1346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4" name="Object 5"/>
          <p:cNvGraphicFramePr>
            <a:graphicFrameLocks noChangeAspect="1"/>
          </p:cNvGraphicFramePr>
          <p:nvPr/>
        </p:nvGraphicFramePr>
        <p:xfrm>
          <a:off x="1663700" y="2535873"/>
          <a:ext cx="2890838" cy="286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3" imgW="1181100" imgH="1168400" progId="Equation.3">
                  <p:embed/>
                </p:oleObj>
              </mc:Choice>
              <mc:Fallback>
                <p:oleObj name="" r:id="rId3" imgW="1181100" imgH="11684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63700" y="2535873"/>
                        <a:ext cx="2890838" cy="2860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6"/>
          <p:cNvGrpSpPr/>
          <p:nvPr/>
        </p:nvGrpSpPr>
        <p:grpSpPr>
          <a:xfrm>
            <a:off x="3200400" y="2854960"/>
            <a:ext cx="914400" cy="1371600"/>
            <a:chOff x="2016" y="2160"/>
            <a:chExt cx="576" cy="864"/>
          </a:xfrm>
        </p:grpSpPr>
        <p:sp>
          <p:nvSpPr>
            <p:cNvPr id="29714" name="Oval 7"/>
            <p:cNvSpPr/>
            <p:nvPr/>
          </p:nvSpPr>
          <p:spPr>
            <a:xfrm>
              <a:off x="2016" y="2160"/>
              <a:ext cx="576" cy="336"/>
            </a:xfrm>
            <a:prstGeom prst="ellipse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folHlink"/>
                  </a:solidFill>
                  <a:latin typeface="+mn-lt"/>
                  <a:ea typeface="+mn-ea"/>
                  <a:cs typeface="楷体_GB231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folHlink"/>
                  </a:solidFill>
                  <a:latin typeface="+mn-lt"/>
                  <a:ea typeface="+mn-ea"/>
                  <a:cs typeface="楷体_GB231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folHlink"/>
                  </a:solidFill>
                  <a:latin typeface="+mn-lt"/>
                  <a:ea typeface="+mn-ea"/>
                  <a:cs typeface="楷体_GB231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folHlink"/>
                  </a:solidFill>
                  <a:latin typeface="+mn-lt"/>
                  <a:ea typeface="+mn-ea"/>
                  <a:cs typeface="楷体_GB231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folHlink"/>
                  </a:solidFill>
                  <a:latin typeface="+mn-lt"/>
                  <a:ea typeface="+mn-ea"/>
                  <a:cs typeface="楷体_GB2312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715" name="Oval 8"/>
            <p:cNvSpPr/>
            <p:nvPr/>
          </p:nvSpPr>
          <p:spPr>
            <a:xfrm>
              <a:off x="2064" y="2688"/>
              <a:ext cx="528" cy="336"/>
            </a:xfrm>
            <a:prstGeom prst="ellipse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folHlink"/>
                  </a:solidFill>
                  <a:latin typeface="+mn-lt"/>
                  <a:ea typeface="+mn-ea"/>
                  <a:cs typeface="楷体_GB231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folHlink"/>
                  </a:solidFill>
                  <a:latin typeface="+mn-lt"/>
                  <a:ea typeface="+mn-ea"/>
                  <a:cs typeface="楷体_GB231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folHlink"/>
                  </a:solidFill>
                  <a:latin typeface="+mn-lt"/>
                  <a:ea typeface="+mn-ea"/>
                  <a:cs typeface="楷体_GB231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folHlink"/>
                  </a:solidFill>
                  <a:latin typeface="+mn-lt"/>
                  <a:ea typeface="+mn-ea"/>
                  <a:cs typeface="楷体_GB231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folHlink"/>
                  </a:solidFill>
                  <a:latin typeface="+mn-lt"/>
                  <a:ea typeface="+mn-ea"/>
                  <a:cs typeface="楷体_GB2312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716" name="Line 9"/>
            <p:cNvSpPr/>
            <p:nvPr/>
          </p:nvSpPr>
          <p:spPr>
            <a:xfrm>
              <a:off x="2256" y="2496"/>
              <a:ext cx="48" cy="192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3" name="Group 10"/>
          <p:cNvGrpSpPr/>
          <p:nvPr/>
        </p:nvGrpSpPr>
        <p:grpSpPr>
          <a:xfrm>
            <a:off x="3276600" y="3693160"/>
            <a:ext cx="1371600" cy="1066800"/>
            <a:chOff x="2064" y="2688"/>
            <a:chExt cx="864" cy="672"/>
          </a:xfrm>
        </p:grpSpPr>
        <p:sp>
          <p:nvSpPr>
            <p:cNvPr id="29711" name="Oval 11"/>
            <p:cNvSpPr/>
            <p:nvPr/>
          </p:nvSpPr>
          <p:spPr>
            <a:xfrm>
              <a:off x="2064" y="2688"/>
              <a:ext cx="864" cy="288"/>
            </a:xfrm>
            <a:prstGeom prst="ellipse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folHlink"/>
                  </a:solidFill>
                  <a:latin typeface="+mn-lt"/>
                  <a:ea typeface="+mn-ea"/>
                  <a:cs typeface="楷体_GB231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folHlink"/>
                  </a:solidFill>
                  <a:latin typeface="+mn-lt"/>
                  <a:ea typeface="+mn-ea"/>
                  <a:cs typeface="楷体_GB231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folHlink"/>
                  </a:solidFill>
                  <a:latin typeface="+mn-lt"/>
                  <a:ea typeface="+mn-ea"/>
                  <a:cs typeface="楷体_GB231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folHlink"/>
                  </a:solidFill>
                  <a:latin typeface="+mn-lt"/>
                  <a:ea typeface="+mn-ea"/>
                  <a:cs typeface="楷体_GB231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folHlink"/>
                  </a:solidFill>
                  <a:latin typeface="+mn-lt"/>
                  <a:ea typeface="+mn-ea"/>
                  <a:cs typeface="楷体_GB2312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712" name="Oval 12"/>
            <p:cNvSpPr/>
            <p:nvPr/>
          </p:nvSpPr>
          <p:spPr>
            <a:xfrm>
              <a:off x="2064" y="3072"/>
              <a:ext cx="576" cy="288"/>
            </a:xfrm>
            <a:prstGeom prst="ellipse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folHlink"/>
                  </a:solidFill>
                  <a:latin typeface="+mn-lt"/>
                  <a:ea typeface="+mn-ea"/>
                  <a:cs typeface="楷体_GB231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folHlink"/>
                  </a:solidFill>
                  <a:latin typeface="+mn-lt"/>
                  <a:ea typeface="+mn-ea"/>
                  <a:cs typeface="楷体_GB231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folHlink"/>
                  </a:solidFill>
                  <a:latin typeface="+mn-lt"/>
                  <a:ea typeface="+mn-ea"/>
                  <a:cs typeface="楷体_GB231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folHlink"/>
                  </a:solidFill>
                  <a:latin typeface="+mn-lt"/>
                  <a:ea typeface="+mn-ea"/>
                  <a:cs typeface="楷体_GB231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folHlink"/>
                  </a:solidFill>
                  <a:latin typeface="+mn-lt"/>
                  <a:ea typeface="+mn-ea"/>
                  <a:cs typeface="楷体_GB2312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713" name="Line 13"/>
            <p:cNvSpPr/>
            <p:nvPr/>
          </p:nvSpPr>
          <p:spPr>
            <a:xfrm flipH="1">
              <a:off x="2544" y="2976"/>
              <a:ext cx="96" cy="144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4" name="Group 14"/>
          <p:cNvGrpSpPr/>
          <p:nvPr/>
        </p:nvGrpSpPr>
        <p:grpSpPr>
          <a:xfrm>
            <a:off x="2895600" y="4302760"/>
            <a:ext cx="1295400" cy="1066800"/>
            <a:chOff x="1824" y="3072"/>
            <a:chExt cx="816" cy="672"/>
          </a:xfrm>
        </p:grpSpPr>
        <p:sp>
          <p:nvSpPr>
            <p:cNvPr id="29708" name="Oval 15"/>
            <p:cNvSpPr/>
            <p:nvPr/>
          </p:nvSpPr>
          <p:spPr>
            <a:xfrm>
              <a:off x="1824" y="3072"/>
              <a:ext cx="816" cy="288"/>
            </a:xfrm>
            <a:prstGeom prst="ellipse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folHlink"/>
                  </a:solidFill>
                  <a:latin typeface="+mn-lt"/>
                  <a:ea typeface="+mn-ea"/>
                  <a:cs typeface="楷体_GB231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folHlink"/>
                  </a:solidFill>
                  <a:latin typeface="+mn-lt"/>
                  <a:ea typeface="+mn-ea"/>
                  <a:cs typeface="楷体_GB231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folHlink"/>
                  </a:solidFill>
                  <a:latin typeface="+mn-lt"/>
                  <a:ea typeface="+mn-ea"/>
                  <a:cs typeface="楷体_GB231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folHlink"/>
                  </a:solidFill>
                  <a:latin typeface="+mn-lt"/>
                  <a:ea typeface="+mn-ea"/>
                  <a:cs typeface="楷体_GB231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folHlink"/>
                  </a:solidFill>
                  <a:latin typeface="+mn-lt"/>
                  <a:ea typeface="+mn-ea"/>
                  <a:cs typeface="楷体_GB2312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709" name="Oval 16"/>
            <p:cNvSpPr/>
            <p:nvPr/>
          </p:nvSpPr>
          <p:spPr>
            <a:xfrm>
              <a:off x="1824" y="3456"/>
              <a:ext cx="720" cy="288"/>
            </a:xfrm>
            <a:prstGeom prst="ellipse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folHlink"/>
                  </a:solidFill>
                  <a:latin typeface="+mn-lt"/>
                  <a:ea typeface="+mn-ea"/>
                  <a:cs typeface="楷体_GB231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folHlink"/>
                  </a:solidFill>
                  <a:latin typeface="+mn-lt"/>
                  <a:ea typeface="+mn-ea"/>
                  <a:cs typeface="楷体_GB231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folHlink"/>
                  </a:solidFill>
                  <a:latin typeface="+mn-lt"/>
                  <a:ea typeface="+mn-ea"/>
                  <a:cs typeface="楷体_GB231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folHlink"/>
                  </a:solidFill>
                  <a:latin typeface="+mn-lt"/>
                  <a:ea typeface="+mn-ea"/>
                  <a:cs typeface="楷体_GB231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folHlink"/>
                  </a:solidFill>
                  <a:latin typeface="+mn-lt"/>
                  <a:ea typeface="+mn-ea"/>
                  <a:cs typeface="楷体_GB2312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710" name="Line 17"/>
            <p:cNvSpPr/>
            <p:nvPr/>
          </p:nvSpPr>
          <p:spPr>
            <a:xfrm flipH="1">
              <a:off x="2448" y="3312"/>
              <a:ext cx="96" cy="192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zh-CN" altLang="en-US" sz="1000" b="1" i="1" dirty="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0723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zh-CN" altLang="en-US" sz="1000" b="1" i="1" dirty="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0724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 b="1" i="1" dirty="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072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endParaRPr lang="zh-CN" altLang="en-US" dirty="0"/>
          </a:p>
        </p:txBody>
      </p:sp>
      <p:sp>
        <p:nvSpPr>
          <p:cNvPr id="3072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Theorem 4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Let 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x</a:t>
            </a:r>
            <a:r>
              <a:rPr lang="en-US" altLang="zh-CN" dirty="0"/>
              <a:t>) = 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n</a:t>
            </a:r>
            <a:r>
              <a:rPr lang="en-US" altLang="zh-CN" i="1" dirty="0"/>
              <a:t>x</a:t>
            </a:r>
            <a:r>
              <a:rPr lang="en-US" altLang="zh-CN" i="1" baseline="30000" dirty="0"/>
              <a:t>n</a:t>
            </a:r>
            <a:r>
              <a:rPr lang="en-US" altLang="zh-CN" baseline="30000" dirty="0"/>
              <a:t> </a:t>
            </a:r>
            <a:r>
              <a:rPr lang="en-US" altLang="zh-CN" i="1" dirty="0"/>
              <a:t>+</a:t>
            </a:r>
            <a:r>
              <a:rPr lang="en-US" altLang="zh-CN" baseline="30000" dirty="0"/>
              <a:t> 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n-1</a:t>
            </a:r>
            <a:r>
              <a:rPr lang="en-US" altLang="zh-CN" i="1" dirty="0"/>
              <a:t>x</a:t>
            </a:r>
            <a:r>
              <a:rPr lang="en-US" altLang="zh-CN" i="1" baseline="30000" dirty="0"/>
              <a:t>n-1</a:t>
            </a:r>
            <a:r>
              <a:rPr lang="en-US" altLang="zh-CN" baseline="30000" dirty="0"/>
              <a:t> </a:t>
            </a:r>
            <a:r>
              <a:rPr lang="en-US" altLang="zh-CN" i="1" dirty="0"/>
              <a:t>+…+ a</a:t>
            </a:r>
            <a:r>
              <a:rPr lang="en-US" altLang="zh-CN" i="1" baseline="-25000" dirty="0"/>
              <a:t>1</a:t>
            </a:r>
            <a:r>
              <a:rPr lang="en-US" altLang="zh-CN" i="1" dirty="0"/>
              <a:t>x+a</a:t>
            </a:r>
            <a:r>
              <a:rPr lang="en-US" altLang="zh-CN" i="1" baseline="-25000" dirty="0"/>
              <a:t>0</a:t>
            </a:r>
            <a:r>
              <a:rPr lang="en-US" altLang="zh-CN" baseline="30000" dirty="0"/>
              <a:t>  </a:t>
            </a:r>
            <a:r>
              <a:rPr lang="en-US" altLang="zh-CN" dirty="0"/>
              <a:t>,where 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0 </a:t>
            </a:r>
            <a:r>
              <a:rPr lang="en-US" altLang="zh-CN" dirty="0"/>
              <a:t>,</a:t>
            </a:r>
            <a:r>
              <a:rPr lang="en-US" altLang="zh-CN" i="1" baseline="-25000" dirty="0"/>
              <a:t> 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1 </a:t>
            </a:r>
            <a:r>
              <a:rPr lang="en-US" altLang="zh-CN" dirty="0"/>
              <a:t>,</a:t>
            </a:r>
            <a:r>
              <a:rPr lang="en-US" altLang="zh-CN" i="1" baseline="-25000" dirty="0"/>
              <a:t> </a:t>
            </a:r>
            <a:r>
              <a:rPr lang="en-US" altLang="zh-CN" i="1" dirty="0"/>
              <a:t>… a</a:t>
            </a:r>
            <a:r>
              <a:rPr lang="en-US" altLang="zh-CN" i="1" baseline="-25000" dirty="0"/>
              <a:t>n-1</a:t>
            </a:r>
            <a:r>
              <a:rPr lang="en-US" altLang="zh-CN" i="1" dirty="0"/>
              <a:t>, a</a:t>
            </a:r>
            <a:r>
              <a:rPr lang="en-US" altLang="zh-CN" i="1" baseline="-25000" dirty="0"/>
              <a:t>n</a:t>
            </a:r>
            <a:r>
              <a:rPr lang="en-US" altLang="zh-CN" i="1" dirty="0"/>
              <a:t> </a:t>
            </a:r>
            <a:r>
              <a:rPr lang="en-US" altLang="zh-CN" dirty="0"/>
              <a:t>are real numbers with 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n</a:t>
            </a:r>
            <a:r>
              <a:rPr lang="en-US" altLang="zh-CN" i="1" dirty="0">
                <a:sym typeface="Symbol" panose="05050102010706020507" pitchFamily="18" charset="2"/>
              </a:rPr>
              <a:t> 0</a:t>
            </a:r>
            <a:r>
              <a:rPr lang="en-US" altLang="zh-CN" dirty="0"/>
              <a:t> . Then 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x</a:t>
            </a:r>
            <a:r>
              <a:rPr lang="en-US" altLang="zh-CN" dirty="0"/>
              <a:t>) is of order </a:t>
            </a:r>
            <a:r>
              <a:rPr lang="en-US" altLang="zh-CN" i="1" dirty="0"/>
              <a:t>x</a:t>
            </a:r>
            <a:r>
              <a:rPr lang="en-US" altLang="zh-CN" i="1" baseline="30000" dirty="0"/>
              <a:t>n</a:t>
            </a:r>
            <a:r>
              <a:rPr lang="en-US" altLang="zh-CN" dirty="0"/>
              <a:t> .</a:t>
            </a:r>
            <a:endParaRPr lang="en-US" altLang="zh-CN" dirty="0"/>
          </a:p>
          <a:p>
            <a:pPr eaLnBrk="1" hangingPunct="1"/>
            <a:endParaRPr lang="en-US" altLang="zh-CN" dirty="0"/>
          </a:p>
        </p:txBody>
      </p:sp>
      <p:sp>
        <p:nvSpPr>
          <p:cNvPr id="2" name="矩形 1"/>
          <p:cNvSpPr/>
          <p:nvPr/>
        </p:nvSpPr>
        <p:spPr>
          <a:xfrm>
            <a:off x="978853" y="3668713"/>
            <a:ext cx="7705725" cy="955675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Method:</a:t>
            </a:r>
            <a:r>
              <a:rPr lang="zh-CN" alt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2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f(x) is O(x</a:t>
            </a:r>
            <a:r>
              <a:rPr lang="en-US" altLang="zh-CN" sz="2800" b="1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f(x) is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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</a:t>
            </a:r>
            <a:r>
              <a:rPr lang="en-US" altLang="zh-CN" sz="2800" b="1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endParaRPr lang="en-US" altLang="zh-CN" sz="2800" i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956628" y="5010150"/>
            <a:ext cx="7705725" cy="954088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Remember:</a:t>
            </a:r>
            <a:r>
              <a:rPr lang="zh-CN" alt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2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Leading term of a polynomial determines its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altLang="zh-CN" sz="2800" i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8" grpId="0" animBg="1"/>
      <p:bldP spid="8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zh-CN" altLang="en-US" sz="1000" b="1" i="1" dirty="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1747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zh-CN" altLang="en-US" sz="1000" b="1" i="1" dirty="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1748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 b="1" i="1" dirty="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174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Review: Orders of Growth (§3.2)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1750" name="Rectangle 3"/>
          <p:cNvSpPr>
            <a:spLocks noGrp="1"/>
          </p:cNvSpPr>
          <p:nvPr>
            <p:ph idx="1"/>
          </p:nvPr>
        </p:nvSpPr>
        <p:spPr>
          <a:xfrm>
            <a:off x="685800" y="1981200"/>
            <a:ext cx="8328660" cy="4267200"/>
          </a:xfrm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dirty="0">
                <a:ea typeface="宋体" panose="02010600030101010101" pitchFamily="2" charset="-122"/>
              </a:rPr>
              <a:t>Definitions of order-of-growth sets,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: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O(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g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) :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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{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f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|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 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&gt;0 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k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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&gt;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k |f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)| &lt; |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cg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)|}</a:t>
            </a:r>
            <a:endParaRPr lang="en-US" altLang="zh-CN" dirty="0">
              <a:solidFill>
                <a:srgbClr val="FF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 o(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g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) :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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 {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f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 | 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&gt;0 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k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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x&gt;k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|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)| &lt; |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cg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)|}</a:t>
            </a:r>
            <a:endParaRPr lang="en-US" altLang="zh-CN" dirty="0">
              <a:solidFill>
                <a:srgbClr val="FF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(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: {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| 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O(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)}</a:t>
            </a:r>
            <a:endParaRPr lang="en-US" altLang="zh-CN" dirty="0">
              <a:solidFill>
                <a:srgbClr val="FF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0" lvl="1" eaLnBrk="1" hangingPunct="1"/>
            <a:r>
              <a:rPr lang="en-US" altLang="zh-CN" sz="32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(</a:t>
            </a:r>
            <a:r>
              <a:rPr lang="en-US" altLang="zh-CN" sz="3200" i="1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32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) :{</a:t>
            </a:r>
            <a:r>
              <a:rPr lang="en-US" altLang="zh-CN" sz="3200" i="1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f</a:t>
            </a:r>
            <a:r>
              <a:rPr lang="en-US" altLang="zh-CN" sz="3200" b="1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32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| </a:t>
            </a:r>
            <a:r>
              <a:rPr lang="en-US" altLang="zh-CN" sz="3200" b="1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 </a:t>
            </a:r>
            <a:r>
              <a:rPr lang="en-US" altLang="zh-CN" sz="3200" i="1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32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&gt;0 </a:t>
            </a:r>
            <a:r>
              <a:rPr lang="en-US" altLang="zh-CN" sz="3200" i="1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sz="32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Symbol" panose="05050102010706020507" pitchFamily="18" charset="2"/>
                <a:sym typeface="+mn-ea"/>
              </a:rPr>
              <a:t>"</a:t>
            </a:r>
            <a:r>
              <a:rPr lang="en-US" altLang="zh-CN" sz="3200" i="1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x&gt;k</a:t>
            </a:r>
            <a:r>
              <a:rPr lang="en-US" altLang="zh-CN" sz="32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|</a:t>
            </a:r>
            <a:r>
              <a:rPr lang="en-US" altLang="zh-CN" sz="3200" i="1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32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3200" i="1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32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)| </a:t>
            </a:r>
            <a:r>
              <a:rPr lang="en-US" altLang="zh-CN" sz="3200" b="1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32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|</a:t>
            </a:r>
            <a:r>
              <a:rPr lang="en-US" altLang="zh-CN" sz="3200" i="1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cg</a:t>
            </a:r>
            <a:r>
              <a:rPr lang="en-US" altLang="zh-CN" sz="32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3200" i="1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32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)|</a:t>
            </a:r>
            <a:r>
              <a:rPr lang="en-US" altLang="zh-CN" sz="3200" b="1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}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(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: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O(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g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)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charset="0"/>
              </a:rPr>
              <a:t>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(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endParaRPr lang="en-US" altLang="zh-CN" dirty="0">
              <a:solidFill>
                <a:srgbClr val="FF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32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(</a:t>
            </a:r>
            <a:r>
              <a:rPr lang="en-US" altLang="zh-CN" sz="3200" i="1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32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)  {</a:t>
            </a:r>
            <a:r>
              <a:rPr lang="en-US" altLang="zh-CN" sz="3200" i="1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32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|</a:t>
            </a:r>
            <a:r>
              <a:rPr lang="en-US" altLang="zh-CN" sz="3200" i="1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3200" baseline="-250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3200" i="1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3200" baseline="-250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3200" i="1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sz="32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&gt;0 </a:t>
            </a:r>
            <a:r>
              <a:rPr lang="en-US" altLang="zh-CN" sz="3200" i="1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32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&gt;</a:t>
            </a:r>
            <a:r>
              <a:rPr lang="en-US" altLang="zh-CN" sz="3200" i="1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sz="32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|</a:t>
            </a:r>
            <a:r>
              <a:rPr lang="en-US" altLang="zh-CN" sz="3200" i="1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3200" baseline="-250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3200" i="1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32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3200" i="1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32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)||</a:t>
            </a:r>
            <a:r>
              <a:rPr lang="en-US" altLang="zh-CN" sz="3200" i="1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32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3200" i="1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32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)||</a:t>
            </a:r>
            <a:r>
              <a:rPr lang="en-US" altLang="zh-CN" sz="3200" i="1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3200" baseline="-250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3200" i="1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32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3200" i="1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32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)|}</a:t>
            </a:r>
            <a:endParaRPr lang="en-US" altLang="zh-CN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endParaRPr lang="en-US" altLang="zh-CN" dirty="0">
              <a:solidFill>
                <a:srgbClr val="FF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zh-CN" altLang="en-US" sz="1000" b="1" i="1" dirty="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2771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zh-CN" altLang="en-US" sz="1000" b="1" i="1" dirty="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2772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 b="1" i="1" dirty="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277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Homework</a:t>
            </a:r>
            <a:endParaRPr lang="en-US" altLang="zh-CN" dirty="0"/>
          </a:p>
        </p:txBody>
      </p:sp>
      <p:sp>
        <p:nvSpPr>
          <p:cNvPr id="32774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§3.2 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 34,74</a:t>
            </a:r>
            <a:endParaRPr lang="en-US" altLang="zh-CN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PP_MARK_KEY" val="7b2ee401-d8e5-421f-9df3-5060ab61e86d"/>
  <p:tag name="COMMONDATA" val="eyJoZGlkIjoiYjZhMmY1NGQwZjE0MWY4MTkzZjM4YzBiNDA1ZmM3ZDEifQ=="/>
</p:tagLst>
</file>

<file path=ppt/theme/theme1.xml><?xml version="1.0" encoding="utf-8"?>
<a:theme xmlns:a="http://schemas.openxmlformats.org/drawingml/2006/main" name="1_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pperplate Gothic Light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1" i="1" u="sng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1" i="1" u="sng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D:\Program Files\Microsoft Office\Templates\Presentation Designs\Blends.pot</Template>
  <TotalTime>0</TotalTime>
  <Words>8430</Words>
  <Application>WPS 演示</Application>
  <PresentationFormat/>
  <Paragraphs>437</Paragraphs>
  <Slides>28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28</vt:i4>
      </vt:variant>
    </vt:vector>
  </HeadingPairs>
  <TitlesOfParts>
    <vt:vector size="52" baseType="lpstr">
      <vt:lpstr>Arial</vt:lpstr>
      <vt:lpstr>宋体</vt:lpstr>
      <vt:lpstr>Wingdings</vt:lpstr>
      <vt:lpstr>Tahoma</vt:lpstr>
      <vt:lpstr>Times New Roman</vt:lpstr>
      <vt:lpstr>Arial Narrow</vt:lpstr>
      <vt:lpstr>Copperplate Gothic Light</vt:lpstr>
      <vt:lpstr>Copperplate Gothic Bold</vt:lpstr>
      <vt:lpstr>Wingdings</vt:lpstr>
      <vt:lpstr>Georgia</vt:lpstr>
      <vt:lpstr>楷体_GB2312</vt:lpstr>
      <vt:lpstr>Impact</vt:lpstr>
      <vt:lpstr>新宋体</vt:lpstr>
      <vt:lpstr>Symbol</vt:lpstr>
      <vt:lpstr>Cambria Math</vt:lpstr>
      <vt:lpstr>微软雅黑</vt:lpstr>
      <vt:lpstr>Arial Unicode MS</vt:lpstr>
      <vt:lpstr>Euclid Math Two</vt:lpstr>
      <vt:lpstr>Symbol</vt:lpstr>
      <vt:lpstr>1_Blends</vt:lpstr>
      <vt:lpstr>自定义设计方案</vt:lpstr>
      <vt:lpstr>Equation.DSMT4</vt:lpstr>
      <vt:lpstr>Equation.3</vt:lpstr>
      <vt:lpstr>Equation.3</vt:lpstr>
      <vt:lpstr>Growth of Functions (函数增长)</vt:lpstr>
      <vt:lpstr>The Growth of Functions</vt:lpstr>
      <vt:lpstr>Orders of Growth (§3.2)</vt:lpstr>
      <vt:lpstr>Orders of Growth - Motivation</vt:lpstr>
      <vt:lpstr>Visualizing Orders of Growth</vt:lpstr>
      <vt:lpstr>Concept of order of growth</vt:lpstr>
      <vt:lpstr>The Big-O Notation </vt:lpstr>
      <vt:lpstr>Example</vt:lpstr>
      <vt:lpstr>Points about the definition</vt:lpstr>
      <vt:lpstr>little-o of g</vt:lpstr>
      <vt:lpstr>Theorem</vt:lpstr>
      <vt:lpstr>Example</vt:lpstr>
      <vt:lpstr>“Big-O” Proof Examples</vt:lpstr>
      <vt:lpstr>Big-O example, graphically</vt:lpstr>
      <vt:lpstr>Some important Big-O results </vt:lpstr>
      <vt:lpstr>Display of Growth of Functions</vt:lpstr>
      <vt:lpstr>Useful Big-O Estimates Involving Logarithms, Powers, and Exponents</vt:lpstr>
      <vt:lpstr>Ordering Functions by Order of Growth</vt:lpstr>
      <vt:lpstr>The growth of combinations of functions</vt:lpstr>
      <vt:lpstr>Proof of f1f2 is O(g1g2)</vt:lpstr>
      <vt:lpstr>Proof of f1f2 is O(g1g2)</vt:lpstr>
      <vt:lpstr>Example</vt:lpstr>
      <vt:lpstr>Big-omega notation</vt:lpstr>
      <vt:lpstr>Big-theta notation</vt:lpstr>
      <vt:lpstr> example</vt:lpstr>
      <vt:lpstr>PowerPoint 演示文稿</vt:lpstr>
      <vt:lpstr>Review: Orders of Growth (§3.2)</vt:lpstr>
      <vt:lpstr>Homework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yangjuan</dc:creator>
  <cp:lastModifiedBy>杨娟</cp:lastModifiedBy>
  <cp:revision>320</cp:revision>
  <dcterms:created xsi:type="dcterms:W3CDTF">2023-05-08T08:01:00Z</dcterms:created>
  <dcterms:modified xsi:type="dcterms:W3CDTF">2024-05-15T16:23:48Z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5F357ADD2DFE498F93C98ED6F99CEA87</vt:lpwstr>
  </property>
  <property fmtid="{D5CDD505-2E9C-101B-9397-08002B2CF9AE}" pid="3" name="KSOProductBuildVer">
    <vt:lpwstr>2052-11.1.0.15319</vt:lpwstr>
  </property>
</Properties>
</file>