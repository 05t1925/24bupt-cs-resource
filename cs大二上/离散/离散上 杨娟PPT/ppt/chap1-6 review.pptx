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82" r:id="rId3"/>
    <p:sldId id="732" r:id="rId4"/>
    <p:sldId id="731" r:id="rId5"/>
    <p:sldId id="717" r:id="rId6"/>
    <p:sldId id="316" r:id="rId7"/>
    <p:sldId id="318" r:id="rId8"/>
    <p:sldId id="321" r:id="rId9"/>
    <p:sldId id="354" r:id="rId10"/>
    <p:sldId id="395" r:id="rId11"/>
    <p:sldId id="434" r:id="rId12"/>
    <p:sldId id="475" r:id="rId13"/>
    <p:sldId id="482" r:id="rId14"/>
    <p:sldId id="308" r:id="rId15"/>
    <p:sldId id="284" r:id="rId16"/>
    <p:sldId id="718" r:id="rId17"/>
    <p:sldId id="292" r:id="rId18"/>
    <p:sldId id="278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88" d="100"/>
          <a:sy n="88" d="100"/>
        </p:scale>
        <p:origin x="72" y="2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80C66-C26C-438E-8443-94F668BBE3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34C58-AD87-447D-8A40-AD4936FE4B8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CF2B-AD1F-48F1-B896-172A27F364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5C4B-BEB6-47AA-A0F1-E58C9B83F5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CF2B-AD1F-48F1-B896-172A27F364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5C4B-BEB6-47AA-A0F1-E58C9B83F5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CF2B-AD1F-48F1-B896-172A27F364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5C4B-BEB6-47AA-A0F1-E58C9B83F5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CF2B-AD1F-48F1-B896-172A27F364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5C4B-BEB6-47AA-A0F1-E58C9B83F5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CF2B-AD1F-48F1-B896-172A27F364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5C4B-BEB6-47AA-A0F1-E58C9B83F5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CF2B-AD1F-48F1-B896-172A27F364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5C4B-BEB6-47AA-A0F1-E58C9B83F5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CF2B-AD1F-48F1-B896-172A27F364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5C4B-BEB6-47AA-A0F1-E58C9B83F5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CF2B-AD1F-48F1-B896-172A27F364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5C4B-BEB6-47AA-A0F1-E58C9B83F5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CF2B-AD1F-48F1-B896-172A27F364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5C4B-BEB6-47AA-A0F1-E58C9B83F5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CF2B-AD1F-48F1-B896-172A27F364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5C4B-BEB6-47AA-A0F1-E58C9B83F5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CF2B-AD1F-48F1-B896-172A27F364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5C4B-BEB6-47AA-A0F1-E58C9B83F5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CCF2B-AD1F-48F1-B896-172A27F364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A5C4B-BEB6-47AA-A0F1-E58C9B83F5C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2469"/>
            <a:ext cx="10515600" cy="4684494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Propositional Logic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Language of Propositions   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Connectives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Truth Values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Truth Tables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Applications                               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Translating English Sentences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Logical Equivalences        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Important Equivalences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Showing Equivalence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Normal Forms     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Principal Disjunctive Normal Form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Principal Conjunctive Normal Form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2469"/>
            <a:ext cx="10515600" cy="468449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Predicate Logic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Language of Quantifiers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Predicates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Variables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Universal Quantifier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Existential Quantifier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Translation from Predicate Logic to English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Translation from English to Predicate Logic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Logical Equivalences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Nested Quantifiers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dirty="0" err="1"/>
              <a:t>prenex</a:t>
            </a:r>
            <a:r>
              <a:rPr lang="en-US" altLang="zh-CN" dirty="0"/>
              <a:t> normal form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2469"/>
            <a:ext cx="10515600" cy="4684494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Rules of Inference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Valid Arguments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Inference Rules for Propositional Logic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Using Rules of Inference to Build Arguments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Rules of Inference for Quantified Statements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Building Arguments for Quantified Statements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1 Summary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565" y="1498600"/>
            <a:ext cx="10934700" cy="4912995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Proofs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 Methods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Direct Proofs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Assume </a:t>
            </a:r>
            <a:r>
              <a:rPr lang="en-US" altLang="zh-CN" i="1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is true, and prove </a:t>
            </a:r>
            <a:r>
              <a:rPr lang="en-US" altLang="zh-CN" i="1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Indirect Proofs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3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 of the Contrapositive 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Assume 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and prove 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.</a:t>
            </a:r>
            <a:endParaRPr lang="en-US" altLang="zh-CN" dirty="0">
              <a:solidFill>
                <a:srgbClr val="0066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 pitchFamily="18" charset="2"/>
            </a:endParaRPr>
          </a:p>
          <a:p>
            <a:pPr lvl="3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 by Contradiction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assumes Q is false</a:t>
            </a:r>
            <a:r>
              <a:rPr lang="zh-CN" altLang="en-US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derives a contradiction, usually of the form P </a:t>
            </a:r>
            <a:r>
              <a:rPr lang="en-US" altLang="zh-CN" dirty="0">
                <a:solidFill>
                  <a:srgbClr val="006600"/>
                </a:solidFill>
                <a:latin typeface="PingFang SC" panose="020B0400000000000000" charset="-122"/>
                <a:ea typeface="PingFang SC" panose="020B0400000000000000" charset="-122"/>
                <a:cs typeface="Times New Roman" panose="02020503050405090304" pitchFamily="18" charset="0"/>
              </a:rPr>
              <a:t>∧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~P which establishes ~ Q 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 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0.)</a:t>
            </a:r>
            <a:endParaRPr lang="en-US" altLang="zh-CN" dirty="0">
              <a:solidFill>
                <a:srgbClr val="0066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 by Cases 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Show </a:t>
            </a:r>
            <a:r>
              <a:rPr lang="en-US" altLang="zh-CN" i="1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(</a:t>
            </a:r>
            <a:r>
              <a:rPr lang="en-US" altLang="zh-CN" i="1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  </a:t>
            </a:r>
            <a:r>
              <a:rPr lang="en-US" altLang="zh-CN" i="1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), and (</a:t>
            </a:r>
            <a:r>
              <a:rPr lang="en-US" altLang="zh-CN" i="1" dirty="0" err="1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 err="1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) and (</a:t>
            </a:r>
            <a:r>
              <a:rPr lang="en-US" altLang="zh-CN" i="1" dirty="0" err="1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 err="1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).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Existence Proofs </a:t>
            </a:r>
            <a:r>
              <a:rPr lang="zh-CN" altLang="en-US" dirty="0">
                <a:solidFill>
                  <a:srgbClr val="00B05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</a:t>
            </a:r>
            <a:r>
              <a:rPr lang="en-US" altLang="zh-CN" dirty="0">
                <a:solidFill>
                  <a:srgbClr val="00B05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x P(x)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(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Constructive\Nonconstructive)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Disproof by Counterexample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Nonexistence Proofs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Uniqueness Proofs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 Strategy(</a:t>
            </a:r>
            <a:r>
              <a:rPr lang="en-US" altLang="zh-CN" i="1" dirty="0"/>
              <a:t>forward reasoning\ backward reasoning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2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Sets </a:t>
            </a:r>
            <a:endParaRPr lang="en-US" dirty="0"/>
          </a:p>
          <a:p>
            <a:pPr lvl="1"/>
            <a:r>
              <a:rPr lang="en-US" dirty="0"/>
              <a:t>The Language of Sets</a:t>
            </a:r>
            <a:endParaRPr lang="en-US" dirty="0"/>
          </a:p>
          <a:p>
            <a:pPr lvl="1"/>
            <a:r>
              <a:rPr lang="en-US" dirty="0"/>
              <a:t>Set Operations</a:t>
            </a:r>
            <a:endParaRPr lang="en-US" dirty="0"/>
          </a:p>
          <a:p>
            <a:pPr lvl="1"/>
            <a:r>
              <a:rPr lang="en-US" dirty="0"/>
              <a:t>Set Identities</a:t>
            </a:r>
            <a:endParaRPr lang="en-US" dirty="0"/>
          </a:p>
          <a:p>
            <a:r>
              <a:rPr lang="en-US" dirty="0"/>
              <a:t>Functions</a:t>
            </a:r>
            <a:endParaRPr lang="en-US" dirty="0"/>
          </a:p>
          <a:p>
            <a:pPr lvl="1"/>
            <a:r>
              <a:rPr lang="en-US" dirty="0"/>
              <a:t>Types of Functions</a:t>
            </a:r>
            <a:endParaRPr lang="en-US" dirty="0"/>
          </a:p>
          <a:p>
            <a:pPr lvl="1"/>
            <a:r>
              <a:rPr lang="en-US" dirty="0"/>
              <a:t>Operations on Functions</a:t>
            </a:r>
            <a:endParaRPr lang="en-US" dirty="0"/>
          </a:p>
          <a:p>
            <a:r>
              <a:rPr lang="en-US" dirty="0"/>
              <a:t>Sequences and Summations</a:t>
            </a:r>
            <a:endParaRPr lang="en-US" dirty="0"/>
          </a:p>
          <a:p>
            <a:pPr lvl="1"/>
            <a:r>
              <a:rPr lang="en-US" dirty="0"/>
              <a:t>Types of Sequences</a:t>
            </a:r>
            <a:endParaRPr lang="en-US" dirty="0"/>
          </a:p>
          <a:p>
            <a:pPr lvl="1"/>
            <a:r>
              <a:rPr lang="en-US" dirty="0"/>
              <a:t>Summation Formulae</a:t>
            </a:r>
            <a:endParaRPr lang="en-US" dirty="0"/>
          </a:p>
          <a:p>
            <a:r>
              <a:rPr lang="en-US" dirty="0"/>
              <a:t>Set Cardinality</a:t>
            </a:r>
            <a:endParaRPr lang="en-US" dirty="0"/>
          </a:p>
          <a:p>
            <a:pPr lvl="1"/>
            <a:r>
              <a:rPr lang="en-US" dirty="0"/>
              <a:t>Countable Sets</a:t>
            </a:r>
            <a:endParaRPr lang="en-US" dirty="0"/>
          </a:p>
          <a:p>
            <a:r>
              <a:rPr lang="en-US" dirty="0"/>
              <a:t>Matrices</a:t>
            </a:r>
            <a:endParaRPr lang="en-US" dirty="0"/>
          </a:p>
          <a:p>
            <a:pPr lvl="1"/>
            <a:r>
              <a:rPr lang="en-US" dirty="0"/>
              <a:t>Matrix Arithmetic</a:t>
            </a:r>
            <a:endParaRPr lang="en-US" dirty="0"/>
          </a:p>
          <a:p>
            <a:endParaRPr lang="en-US" dirty="0"/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Sets</a:t>
            </a:r>
            <a:r>
              <a:rPr lang="en-US" dirty="0"/>
              <a:t>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Definition of sets</a:t>
            </a:r>
            <a:endParaRPr lang="en-US" dirty="0"/>
          </a:p>
          <a:p>
            <a:r>
              <a:rPr lang="en-US" dirty="0"/>
              <a:t>Describing Sets</a:t>
            </a:r>
            <a:endParaRPr lang="en-US" dirty="0"/>
          </a:p>
          <a:p>
            <a:pPr lvl="1"/>
            <a:r>
              <a:rPr lang="en-US" dirty="0"/>
              <a:t>Roster Method</a:t>
            </a:r>
            <a:endParaRPr lang="en-US" dirty="0"/>
          </a:p>
          <a:p>
            <a:pPr lvl="1"/>
            <a:r>
              <a:rPr lang="en-US" dirty="0"/>
              <a:t>Set-Builder Notation</a:t>
            </a:r>
            <a:endParaRPr lang="en-US" dirty="0"/>
          </a:p>
          <a:p>
            <a:r>
              <a:rPr lang="en-US" dirty="0"/>
              <a:t>Some Important Sets in Mathematics</a:t>
            </a:r>
            <a:endParaRPr lang="en-US" dirty="0"/>
          </a:p>
          <a:p>
            <a:r>
              <a:rPr lang="en-US" dirty="0"/>
              <a:t>Empty Set and Universal Set</a:t>
            </a:r>
            <a:endParaRPr lang="en-US" dirty="0"/>
          </a:p>
          <a:p>
            <a:r>
              <a:rPr lang="en-US" dirty="0"/>
              <a:t>Subsets and Set Equality</a:t>
            </a:r>
            <a:endParaRPr lang="en-US" dirty="0"/>
          </a:p>
          <a:p>
            <a:r>
              <a:rPr lang="en-US" dirty="0"/>
              <a:t>Cardinality of Sets</a:t>
            </a:r>
            <a:endParaRPr lang="en-US" dirty="0"/>
          </a:p>
          <a:p>
            <a:r>
              <a:rPr lang="en-US" dirty="0" err="1"/>
              <a:t>Tuples</a:t>
            </a:r>
            <a:endParaRPr lang="en-US" dirty="0"/>
          </a:p>
          <a:p>
            <a:r>
              <a:rPr lang="en-US" dirty="0"/>
              <a:t>Cartesian Product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Important 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dirty="0"/>
              <a:t> = </a:t>
            </a:r>
            <a:r>
              <a:rPr lang="en-US" i="1" dirty="0"/>
              <a:t>natural numbers </a:t>
            </a:r>
            <a:r>
              <a:rPr lang="en-US" dirty="0"/>
              <a:t>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{0,1,2,3….}</a:t>
            </a:r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en-US" b="1" dirty="0">
                <a:latin typeface="Cambria Math" pitchFamily="18" charset="0"/>
                <a:ea typeface="Cambria Math" pitchFamily="18" charset="0"/>
              </a:rPr>
              <a:t>Z</a:t>
            </a:r>
            <a:r>
              <a:rPr lang="en-US" dirty="0"/>
              <a:t> = </a:t>
            </a:r>
            <a:r>
              <a:rPr lang="en-US" i="1" dirty="0"/>
              <a:t>integers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{…,-3,-2,-1,0,1,2,3,…}</a:t>
            </a:r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en-US" b="1" dirty="0">
                <a:latin typeface="Cambria Math" pitchFamily="18" charset="0"/>
                <a:ea typeface="Cambria Math" pitchFamily="18" charset="0"/>
              </a:rPr>
              <a:t>Z⁺</a:t>
            </a:r>
            <a:r>
              <a:rPr lang="en-US" dirty="0"/>
              <a:t> = </a:t>
            </a:r>
            <a:r>
              <a:rPr lang="en-US" i="1" dirty="0"/>
              <a:t>positive integers </a:t>
            </a:r>
            <a:r>
              <a:rPr lang="en-US" dirty="0"/>
              <a:t>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{1,2,3,…..}</a:t>
            </a:r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en-US" b="1" dirty="0">
                <a:latin typeface="Cambria Math" pitchFamily="18" charset="0"/>
                <a:ea typeface="Cambria Math" pitchFamily="18" charset="0"/>
              </a:rPr>
              <a:t>R</a:t>
            </a:r>
            <a:r>
              <a:rPr lang="en-US" dirty="0"/>
              <a:t> = set of </a:t>
            </a:r>
            <a:r>
              <a:rPr lang="en-US" i="1" dirty="0"/>
              <a:t>real numbers</a:t>
            </a:r>
            <a:endParaRPr lang="en-US" i="1" dirty="0"/>
          </a:p>
          <a:p>
            <a:pPr>
              <a:buNone/>
            </a:pPr>
            <a:r>
              <a:rPr lang="en-US" b="1" dirty="0">
                <a:latin typeface="Cambria Math" pitchFamily="18" charset="0"/>
                <a:ea typeface="Cambria Math" pitchFamily="18" charset="0"/>
              </a:rPr>
              <a:t>R</a:t>
            </a:r>
            <a:r>
              <a:rPr lang="en-US" b="1" baseline="30000" dirty="0">
                <a:latin typeface="Cambria Math" pitchFamily="18" charset="0"/>
                <a:ea typeface="Cambria Math" pitchFamily="18" charset="0"/>
              </a:rPr>
              <a:t>+</a:t>
            </a:r>
            <a:r>
              <a:rPr lang="en-US" dirty="0"/>
              <a:t> = set of </a:t>
            </a:r>
            <a:r>
              <a:rPr lang="en-US" i="1" dirty="0"/>
              <a:t>positive real numbers</a:t>
            </a:r>
            <a:endParaRPr lang="en-US" i="1" dirty="0"/>
          </a:p>
          <a:p>
            <a:pPr>
              <a:buNone/>
            </a:pPr>
            <a:r>
              <a:rPr lang="en-US" b="1" dirty="0">
                <a:latin typeface="Cambria Math" pitchFamily="18" charset="0"/>
                <a:ea typeface="Cambria Math" pitchFamily="18" charset="0"/>
              </a:rPr>
              <a:t>C</a:t>
            </a:r>
            <a:r>
              <a:rPr lang="en-US" dirty="0"/>
              <a:t> =  set of </a:t>
            </a:r>
            <a:r>
              <a:rPr lang="en-US" i="1" dirty="0"/>
              <a:t>complex numbers</a:t>
            </a:r>
            <a:r>
              <a:rPr lang="en-US" dirty="0"/>
              <a:t>.</a:t>
            </a:r>
            <a:endParaRPr lang="en-US" dirty="0"/>
          </a:p>
          <a:p>
            <a:pPr>
              <a:buNone/>
            </a:pPr>
            <a:r>
              <a:rPr lang="en-US" b="1" dirty="0"/>
              <a:t>Q</a:t>
            </a:r>
            <a:r>
              <a:rPr lang="en-US" dirty="0"/>
              <a:t> = set of rational numbers</a:t>
            </a:r>
            <a:endParaRPr lang="en-US" dirty="0"/>
          </a:p>
          <a:p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Set Operations </a:t>
            </a:r>
            <a:r>
              <a:rPr lang="en-US" dirty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Set Operations</a:t>
            </a:r>
            <a:endParaRPr lang="en-US" dirty="0"/>
          </a:p>
          <a:p>
            <a:pPr lvl="1"/>
            <a:r>
              <a:rPr lang="en-US" dirty="0"/>
              <a:t>Union</a:t>
            </a:r>
            <a:endParaRPr lang="en-US" dirty="0"/>
          </a:p>
          <a:p>
            <a:pPr lvl="1"/>
            <a:r>
              <a:rPr lang="en-US" dirty="0"/>
              <a:t>Intersection</a:t>
            </a:r>
            <a:endParaRPr lang="en-US" dirty="0"/>
          </a:p>
          <a:p>
            <a:pPr lvl="1"/>
            <a:r>
              <a:rPr lang="en-US" dirty="0"/>
              <a:t>Complementation</a:t>
            </a:r>
            <a:endParaRPr lang="en-US" dirty="0"/>
          </a:p>
          <a:p>
            <a:pPr lvl="1"/>
            <a:r>
              <a:rPr lang="en-US" dirty="0"/>
              <a:t>Difference</a:t>
            </a:r>
            <a:endParaRPr lang="en-US" dirty="0"/>
          </a:p>
          <a:p>
            <a:r>
              <a:rPr lang="en-US" dirty="0"/>
              <a:t>More on Set Cardinality</a:t>
            </a:r>
            <a:endParaRPr lang="en-US" dirty="0"/>
          </a:p>
          <a:p>
            <a:r>
              <a:rPr lang="en-US" dirty="0"/>
              <a:t>Set Identities</a:t>
            </a:r>
            <a:endParaRPr lang="en-US" dirty="0"/>
          </a:p>
          <a:p>
            <a:r>
              <a:rPr lang="en-US" dirty="0"/>
              <a:t>Proving Identities</a:t>
            </a:r>
            <a:endParaRPr lang="en-US" dirty="0"/>
          </a:p>
          <a:p>
            <a:r>
              <a:rPr lang="en-US" dirty="0"/>
              <a:t>Membership Tables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Functions</a:t>
            </a:r>
            <a:r>
              <a:rPr lang="en-US" dirty="0"/>
              <a:t>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2283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Definition of a Function.</a:t>
            </a:r>
            <a:endParaRPr lang="en-US" dirty="0"/>
          </a:p>
          <a:p>
            <a:pPr lvl="1"/>
            <a:r>
              <a:rPr lang="en-US" dirty="0"/>
              <a:t>Domain, Codomain</a:t>
            </a:r>
            <a:endParaRPr lang="en-US" dirty="0"/>
          </a:p>
          <a:p>
            <a:pPr lvl="1"/>
            <a:r>
              <a:rPr lang="en-US" dirty="0"/>
              <a:t>Image, </a:t>
            </a:r>
            <a:r>
              <a:rPr lang="en-US" dirty="0" err="1"/>
              <a:t>Preimage</a:t>
            </a:r>
            <a:endParaRPr lang="en-US" dirty="0"/>
          </a:p>
          <a:p>
            <a:r>
              <a:rPr lang="en-US" dirty="0"/>
              <a:t>Injection, Surjection, </a:t>
            </a:r>
            <a:r>
              <a:rPr lang="en-US" dirty="0" err="1"/>
              <a:t>Bijection</a:t>
            </a:r>
            <a:endParaRPr lang="en-US" dirty="0"/>
          </a:p>
          <a:p>
            <a:r>
              <a:rPr lang="en-US" dirty="0"/>
              <a:t>Inverse Function</a:t>
            </a:r>
            <a:endParaRPr lang="en-US" dirty="0"/>
          </a:p>
          <a:p>
            <a:r>
              <a:rPr lang="en-US" dirty="0"/>
              <a:t>Function Composition</a:t>
            </a:r>
            <a:endParaRPr lang="en-US" dirty="0"/>
          </a:p>
          <a:p>
            <a:r>
              <a:rPr lang="en-US" dirty="0"/>
              <a:t>Graphing Functions</a:t>
            </a:r>
            <a:endParaRPr lang="en-US" dirty="0"/>
          </a:p>
          <a:p>
            <a:r>
              <a:rPr lang="en-US" dirty="0"/>
              <a:t>Floor, Ceiling, Factorial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Sequences and Summations</a:t>
            </a:r>
            <a:r>
              <a:rPr lang="en-US" dirty="0"/>
              <a:t>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Sequences.</a:t>
            </a:r>
            <a:endParaRPr lang="en-US" dirty="0"/>
          </a:p>
          <a:p>
            <a:pPr lvl="1"/>
            <a:r>
              <a:rPr lang="en-US" dirty="0"/>
              <a:t>Examples: Geometric Progression, Arithmetic Progression</a:t>
            </a:r>
            <a:endParaRPr lang="en-US" dirty="0"/>
          </a:p>
          <a:p>
            <a:r>
              <a:rPr lang="en-US" dirty="0"/>
              <a:t>Recurrence Relations</a:t>
            </a:r>
            <a:endParaRPr lang="en-US" dirty="0"/>
          </a:p>
          <a:p>
            <a:pPr lvl="1"/>
            <a:r>
              <a:rPr lang="en-US" dirty="0"/>
              <a:t>Example: Fibonacci Sequence</a:t>
            </a:r>
            <a:endParaRPr lang="en-US" dirty="0"/>
          </a:p>
          <a:p>
            <a:r>
              <a:rPr lang="en-US" dirty="0"/>
              <a:t>Summations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Cardinality of Sets</a:t>
            </a:r>
            <a:r>
              <a:rPr lang="en-US" dirty="0"/>
              <a:t>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Cardinality</a:t>
            </a:r>
            <a:endParaRPr lang="en-US" dirty="0"/>
          </a:p>
          <a:p>
            <a:r>
              <a:rPr lang="en-US" dirty="0"/>
              <a:t>Countable Sets</a:t>
            </a:r>
            <a:endParaRPr lang="en-US" dirty="0"/>
          </a:p>
          <a:p>
            <a:r>
              <a:rPr lang="en-US" dirty="0"/>
              <a:t>Computability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Matrices</a:t>
            </a:r>
            <a:r>
              <a:rPr lang="en-US" dirty="0"/>
              <a:t>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Definition of a Matrix</a:t>
            </a:r>
            <a:endParaRPr lang="en-US" dirty="0"/>
          </a:p>
          <a:p>
            <a:r>
              <a:rPr lang="en-US" dirty="0"/>
              <a:t>Matrix Arithmetic</a:t>
            </a:r>
            <a:endParaRPr lang="en-US" dirty="0"/>
          </a:p>
          <a:p>
            <a:r>
              <a:rPr lang="en-US" dirty="0"/>
              <a:t>Transposes and Powers of Arithmetic</a:t>
            </a:r>
            <a:endParaRPr lang="en-US" dirty="0"/>
          </a:p>
          <a:p>
            <a:r>
              <a:rPr lang="en-US" dirty="0"/>
              <a:t>Zero-One matrices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3 –</a:t>
            </a:r>
            <a:r>
              <a:rPr lang="en-US" altLang="zh-CN" dirty="0"/>
              <a:t>Algorithms </a:t>
            </a:r>
            <a:r>
              <a:rPr lang="en-US" dirty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4862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Algorithms </a:t>
            </a:r>
            <a:endParaRPr lang="en-US" dirty="0"/>
          </a:p>
          <a:p>
            <a:pPr lvl="1"/>
            <a:r>
              <a:rPr lang="en-US" altLang="zh-CN" dirty="0"/>
              <a:t>Properties of Algorithms</a:t>
            </a:r>
            <a:endParaRPr lang="en-US" altLang="zh-CN" dirty="0"/>
          </a:p>
          <a:p>
            <a:pPr lvl="1"/>
            <a:r>
              <a:rPr lang="en-US" altLang="zh-CN" dirty="0"/>
              <a:t>Algorithms for Searching and Sorting</a:t>
            </a:r>
            <a:endParaRPr lang="en-US" altLang="zh-CN" dirty="0"/>
          </a:p>
          <a:p>
            <a:pPr lvl="1"/>
            <a:r>
              <a:rPr lang="en-US" altLang="zh-CN" dirty="0"/>
              <a:t>Greedy Algorithms	</a:t>
            </a:r>
            <a:endParaRPr lang="en-US" altLang="zh-CN" dirty="0"/>
          </a:p>
          <a:p>
            <a:pPr lvl="1"/>
            <a:r>
              <a:rPr lang="en-US" altLang="zh-CN" dirty="0"/>
              <a:t>Halting Problem</a:t>
            </a:r>
            <a:endParaRPr lang="en-US" altLang="zh-CN" dirty="0"/>
          </a:p>
          <a:p>
            <a:r>
              <a:rPr lang="en-US" dirty="0"/>
              <a:t>Growth of Functions</a:t>
            </a:r>
            <a:endParaRPr lang="en-US" dirty="0"/>
          </a:p>
          <a:p>
            <a:pPr lvl="1"/>
            <a:r>
              <a:rPr lang="en-US" dirty="0"/>
              <a:t>Big-</a:t>
            </a:r>
            <a:r>
              <a:rPr lang="en-US" i="1" dirty="0"/>
              <a:t>O</a:t>
            </a:r>
            <a:r>
              <a:rPr lang="en-US" dirty="0"/>
              <a:t> </a:t>
            </a:r>
            <a:r>
              <a:rPr lang="en-US" altLang="zh-CN" dirty="0"/>
              <a:t>Notation(there are constants C and k such that                              x &gt; k</a:t>
            </a:r>
            <a:endParaRPr lang="en-US" altLang="zh-CN" dirty="0"/>
          </a:p>
          <a:p>
            <a:pPr lvl="1"/>
            <a:r>
              <a:rPr lang="en-US" altLang="zh-CN" dirty="0"/>
              <a:t>Big-Omega Notation(there are constants C and k such that                         x &gt; k</a:t>
            </a:r>
            <a:endParaRPr lang="en-US" altLang="zh-CN" dirty="0"/>
          </a:p>
          <a:p>
            <a:pPr lvl="1"/>
            <a:r>
              <a:rPr lang="en-US" altLang="zh-CN" dirty="0"/>
              <a:t>Big-Theta Notation</a:t>
            </a:r>
            <a:endParaRPr lang="en-US" altLang="zh-CN" dirty="0"/>
          </a:p>
          <a:p>
            <a:r>
              <a:rPr lang="en-US" dirty="0"/>
              <a:t>Complexity of Algorithms</a:t>
            </a:r>
            <a:endParaRPr lang="en-US" dirty="0"/>
          </a:p>
          <a:p>
            <a:pPr lvl="1"/>
            <a:r>
              <a:rPr lang="en-US" altLang="zh-CN" dirty="0"/>
              <a:t>Time Complexity</a:t>
            </a:r>
            <a:endParaRPr lang="en-US" altLang="zh-CN" dirty="0"/>
          </a:p>
          <a:p>
            <a:pPr lvl="1"/>
            <a:r>
              <a:rPr lang="en-US" altLang="zh-CN" dirty="0"/>
              <a:t>Worst-Case Complexity</a:t>
            </a:r>
            <a:endParaRPr lang="en-US" altLang="zh-CN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/>
          <a:stretch>
            <a:fillRect/>
          </a:stretch>
        </p:blipFill>
        <p:spPr>
          <a:xfrm>
            <a:off x="2682042" y="3929348"/>
            <a:ext cx="1671145" cy="247167"/>
          </a:xfrm>
          <a:prstGeom prst="rect">
            <a:avLst/>
          </a:prstGeom>
        </p:spPr>
      </p:pic>
      <p:pic>
        <p:nvPicPr>
          <p:cNvPr id="5" name="Picture 7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681935" y="4471182"/>
            <a:ext cx="1671147" cy="2471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660117" cy="1325563"/>
          </a:xfrm>
        </p:spPr>
        <p:txBody>
          <a:bodyPr/>
          <a:lstStyle/>
          <a:p>
            <a:r>
              <a:rPr lang="en-US" dirty="0"/>
              <a:t>Chapter 4-</a:t>
            </a:r>
            <a:r>
              <a:rPr lang="en-US" altLang="zh-CN" dirty="0"/>
              <a:t>Number Theory </a:t>
            </a:r>
            <a:r>
              <a:rPr lang="en-US" dirty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Divisibility and Modular Arithmetic</a:t>
            </a:r>
            <a:endParaRPr lang="en-US" dirty="0"/>
          </a:p>
          <a:p>
            <a:pPr lvl="1"/>
            <a:r>
              <a:rPr lang="en-US" altLang="zh-CN" dirty="0"/>
              <a:t>Division</a:t>
            </a:r>
            <a:endParaRPr lang="en-US" altLang="zh-CN" dirty="0"/>
          </a:p>
          <a:p>
            <a:pPr lvl="1"/>
            <a:r>
              <a:rPr lang="en-US" altLang="zh-CN" dirty="0"/>
              <a:t>Division Algorithm</a:t>
            </a:r>
            <a:endParaRPr lang="en-US" altLang="zh-CN" dirty="0"/>
          </a:p>
          <a:p>
            <a:pPr lvl="1"/>
            <a:r>
              <a:rPr lang="en-US" altLang="zh-CN" dirty="0"/>
              <a:t> Modular Arithmetic</a:t>
            </a:r>
            <a:endParaRPr lang="en-US" dirty="0"/>
          </a:p>
          <a:p>
            <a:r>
              <a:rPr lang="en-US" dirty="0"/>
              <a:t>Integer Representations and Algorithms</a:t>
            </a:r>
            <a:endParaRPr lang="en-US" dirty="0"/>
          </a:p>
          <a:p>
            <a:pPr lvl="1"/>
            <a:r>
              <a:rPr lang="en-US" altLang="zh-CN" dirty="0"/>
              <a:t>Integer Representations</a:t>
            </a:r>
            <a:endParaRPr lang="en-US" altLang="zh-CN" dirty="0"/>
          </a:p>
          <a:p>
            <a:pPr lvl="2"/>
            <a:r>
              <a:rPr lang="en-US" altLang="zh-CN" dirty="0"/>
              <a:t>Base </a:t>
            </a:r>
            <a:r>
              <a:rPr lang="en-US" altLang="zh-CN" i="1" dirty="0"/>
              <a:t>b</a:t>
            </a:r>
            <a:r>
              <a:rPr lang="en-US" altLang="zh-CN" dirty="0"/>
              <a:t> Expansions</a:t>
            </a:r>
            <a:endParaRPr lang="en-US" altLang="zh-CN" dirty="0"/>
          </a:p>
          <a:p>
            <a:pPr lvl="2"/>
            <a:r>
              <a:rPr lang="en-US" altLang="zh-CN" dirty="0"/>
              <a:t> Binary Expansions</a:t>
            </a:r>
            <a:endParaRPr lang="en-US" altLang="zh-CN" dirty="0"/>
          </a:p>
          <a:p>
            <a:pPr lvl="1"/>
            <a:r>
              <a:rPr lang="en-US" altLang="zh-CN" dirty="0"/>
              <a:t> 	Octal Expansions</a:t>
            </a:r>
            <a:endParaRPr lang="en-US" altLang="zh-CN" dirty="0"/>
          </a:p>
          <a:p>
            <a:pPr lvl="2"/>
            <a:r>
              <a:rPr lang="en-US" altLang="zh-CN" dirty="0"/>
              <a:t>Hexadecimal Expansions</a:t>
            </a:r>
            <a:endParaRPr lang="en-US" altLang="zh-CN" dirty="0"/>
          </a:p>
          <a:p>
            <a:pPr lvl="1"/>
            <a:r>
              <a:rPr lang="en-US" altLang="zh-CN" dirty="0"/>
              <a:t>Base Conversion Algorithm</a:t>
            </a:r>
            <a:endParaRPr lang="en-US" altLang="zh-CN" dirty="0"/>
          </a:p>
          <a:p>
            <a:pPr lvl="1"/>
            <a:r>
              <a:rPr lang="en-US" altLang="zh-CN" dirty="0"/>
              <a:t>Algorithms for Integer Operations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660117" cy="1325563"/>
          </a:xfrm>
        </p:spPr>
        <p:txBody>
          <a:bodyPr/>
          <a:lstStyle/>
          <a:p>
            <a:r>
              <a:rPr lang="en-US" dirty="0"/>
              <a:t>Chapter 4-</a:t>
            </a:r>
            <a:r>
              <a:rPr lang="en-US" altLang="zh-CN" dirty="0"/>
              <a:t>Number Theory </a:t>
            </a:r>
            <a:r>
              <a:rPr lang="en-US" dirty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Primes and Greatest Common Divisors</a:t>
            </a:r>
            <a:endParaRPr lang="en-US" dirty="0"/>
          </a:p>
          <a:p>
            <a:pPr lvl="1"/>
            <a:r>
              <a:rPr lang="en-US" altLang="zh-CN" dirty="0"/>
              <a:t>Prime Numbers and their Properties</a:t>
            </a:r>
            <a:endParaRPr lang="en-US" altLang="zh-CN" dirty="0"/>
          </a:p>
          <a:p>
            <a:pPr lvl="1"/>
            <a:r>
              <a:rPr lang="en-US" altLang="zh-CN" dirty="0"/>
              <a:t>Conjectures and Open Problems About Primes</a:t>
            </a:r>
            <a:endParaRPr lang="en-US" altLang="zh-CN" dirty="0"/>
          </a:p>
          <a:p>
            <a:pPr lvl="1"/>
            <a:r>
              <a:rPr lang="en-US" altLang="zh-CN" dirty="0"/>
              <a:t>Greatest Common Divisors and Least Common Multiples</a:t>
            </a:r>
            <a:endParaRPr lang="en-US" altLang="zh-CN" dirty="0"/>
          </a:p>
          <a:p>
            <a:pPr lvl="1"/>
            <a:r>
              <a:rPr lang="en-US" altLang="zh-CN" dirty="0"/>
              <a:t>The Euclidian Algorithm</a:t>
            </a:r>
            <a:endParaRPr lang="en-US" altLang="zh-CN" dirty="0"/>
          </a:p>
          <a:p>
            <a:pPr lvl="1"/>
            <a:r>
              <a:rPr lang="en-US" altLang="zh-CN" dirty="0" err="1"/>
              <a:t>gcds</a:t>
            </a:r>
            <a:r>
              <a:rPr lang="en-US" altLang="zh-CN" dirty="0"/>
              <a:t> as Linear Combinations</a:t>
            </a:r>
            <a:endParaRPr lang="en-US" altLang="zh-CN" dirty="0"/>
          </a:p>
          <a:p>
            <a:r>
              <a:rPr lang="en-US" dirty="0"/>
              <a:t>Solving Congruences</a:t>
            </a:r>
            <a:endParaRPr lang="en-US" dirty="0"/>
          </a:p>
          <a:p>
            <a:pPr lvl="1"/>
            <a:r>
              <a:rPr lang="en-US" altLang="zh-CN" dirty="0"/>
              <a:t>Linear Congruences</a:t>
            </a:r>
            <a:endParaRPr lang="en-US" altLang="zh-CN" dirty="0"/>
          </a:p>
          <a:p>
            <a:pPr lvl="1"/>
            <a:r>
              <a:rPr lang="en-US" altLang="zh-CN" dirty="0"/>
              <a:t>The Chinese Remainder Theorem</a:t>
            </a:r>
            <a:endParaRPr lang="en-US" altLang="zh-CN" dirty="0"/>
          </a:p>
          <a:p>
            <a:pPr lvl="1"/>
            <a:r>
              <a:rPr lang="en-US" altLang="zh-CN" dirty="0"/>
              <a:t>Fermat’s Little Theorem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chemeClr val="tx1"/>
                </a:solidFill>
                <a:latin typeface="+mj-lt"/>
              </a:rPr>
              <a:t>Pseudoprimes</a:t>
            </a:r>
            <a:endParaRPr lang="en-US" altLang="zh-CN" dirty="0">
              <a:solidFill>
                <a:schemeClr val="tx1"/>
              </a:solidFill>
              <a:latin typeface="+mj-lt"/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  <a:latin typeface="+mj-lt"/>
              </a:rPr>
              <a:t>Primitive Roots and Discrete Logarithms</a:t>
            </a:r>
            <a:endParaRPr lang="en-US" altLang="zh-CN" dirty="0">
              <a:solidFill>
                <a:schemeClr val="tx1"/>
              </a:solidFill>
              <a:latin typeface="+mj-lt"/>
            </a:endParaRPr>
          </a:p>
          <a:p>
            <a:endParaRPr lang="en-US" dirty="0"/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828283" cy="1325563"/>
          </a:xfrm>
        </p:spPr>
        <p:txBody>
          <a:bodyPr/>
          <a:lstStyle/>
          <a:p>
            <a:r>
              <a:rPr lang="en-US" dirty="0"/>
              <a:t>Chapter 5-</a:t>
            </a:r>
            <a:r>
              <a:rPr lang="en-US" altLang="zh-CN" dirty="0"/>
              <a:t>Induction and recursion</a:t>
            </a:r>
            <a:r>
              <a:rPr lang="en-US" dirty="0"/>
              <a:t>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090" y="1825625"/>
            <a:ext cx="10909738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Mathematical Induction:</a:t>
            </a:r>
            <a:r>
              <a:rPr lang="en-US" altLang="zh-CN" dirty="0"/>
              <a:t> </a:t>
            </a:r>
            <a:r>
              <a:rPr lang="en-US" altLang="zh-CN" sz="2400" dirty="0"/>
              <a:t>To prove that </a:t>
            </a:r>
            <a:r>
              <a:rPr lang="en-US" altLang="zh-CN" sz="2400" i="1" dirty="0"/>
              <a:t>P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 is true for all positive integers </a:t>
            </a:r>
            <a:r>
              <a:rPr lang="en-US" altLang="zh-CN" sz="2400" i="1" dirty="0"/>
              <a:t>n</a:t>
            </a:r>
            <a:endParaRPr lang="en-US" sz="3200" dirty="0"/>
          </a:p>
          <a:p>
            <a:pPr lvl="1"/>
            <a:r>
              <a:rPr lang="en-US" dirty="0"/>
              <a:t> </a:t>
            </a:r>
            <a:r>
              <a:rPr lang="en-US" altLang="zh-CN" i="1" dirty="0"/>
              <a:t>Basis Step</a:t>
            </a:r>
            <a:r>
              <a:rPr lang="en-US" altLang="zh-CN" dirty="0"/>
              <a:t>: Show that 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altLang="zh-CN" dirty="0"/>
              <a:t>) is true.</a:t>
            </a:r>
            <a:endParaRPr lang="en-US" altLang="zh-CN" dirty="0"/>
          </a:p>
          <a:p>
            <a:pPr lvl="1"/>
            <a:r>
              <a:rPr lang="en-US" altLang="zh-CN" i="1" dirty="0"/>
              <a:t>Inductive Step</a:t>
            </a:r>
            <a:r>
              <a:rPr lang="en-US" altLang="zh-CN" dirty="0"/>
              <a:t>: Show that 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k</a:t>
            </a:r>
            <a:r>
              <a:rPr lang="en-US" altLang="zh-CN" dirty="0"/>
              <a:t>)</a:t>
            </a:r>
            <a:r>
              <a:rPr lang="en-US" altLang="zh-CN" i="1" dirty="0"/>
              <a:t> </a:t>
            </a:r>
            <a:r>
              <a:rPr lang="en-US" altLang="zh-CN" i="1" dirty="0">
                <a:latin typeface="Cambria Math"/>
                <a:ea typeface="Cambria Math"/>
                <a:sym typeface="Wingdings" panose="05000000000000000000" pitchFamily="2" charset="2"/>
              </a:rPr>
              <a:t>→</a:t>
            </a:r>
            <a:r>
              <a:rPr lang="en-US" altLang="zh-CN" i="1" dirty="0">
                <a:sym typeface="Wingdings" panose="05000000000000000000" pitchFamily="2" charset="2"/>
              </a:rPr>
              <a:t> P</a:t>
            </a:r>
            <a:r>
              <a:rPr lang="en-US" altLang="zh-CN" dirty="0">
                <a:sym typeface="Wingdings" panose="05000000000000000000" pitchFamily="2" charset="2"/>
              </a:rPr>
              <a:t>(</a:t>
            </a:r>
            <a:r>
              <a:rPr lang="en-US" altLang="zh-CN" i="1" dirty="0">
                <a:sym typeface="Wingdings" panose="05000000000000000000" pitchFamily="2" charset="2"/>
              </a:rPr>
              <a:t>k + </a:t>
            </a:r>
            <a:r>
              <a:rPr lang="en-US" altLang="zh-CN" dirty="0">
                <a:latin typeface="Cambria Math" pitchFamily="18" charset="0"/>
                <a:ea typeface="Cambria Math" pitchFamily="18" charset="0"/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) </a:t>
            </a:r>
            <a:r>
              <a:rPr lang="en-US" altLang="zh-CN" i="1" dirty="0">
                <a:sym typeface="Wingdings" panose="05000000000000000000" pitchFamily="2" charset="2"/>
              </a:rPr>
              <a:t> </a:t>
            </a:r>
            <a:r>
              <a:rPr lang="en-US" altLang="zh-CN" dirty="0">
                <a:sym typeface="Wingdings" panose="05000000000000000000" pitchFamily="2" charset="2"/>
              </a:rPr>
              <a:t>is true for all positive integers </a:t>
            </a:r>
            <a:r>
              <a:rPr lang="en-US" altLang="zh-CN" i="1" dirty="0">
                <a:sym typeface="Wingdings" panose="05000000000000000000" pitchFamily="2" charset="2"/>
              </a:rPr>
              <a:t>k</a:t>
            </a:r>
            <a:r>
              <a:rPr lang="en-US" altLang="zh-CN" dirty="0">
                <a:sym typeface="Wingdings" panose="05000000000000000000" pitchFamily="2" charset="2"/>
              </a:rPr>
              <a:t>.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en-US" altLang="zh-CN" dirty="0"/>
              <a:t>Validity of Mathematical Induction</a:t>
            </a:r>
            <a:endParaRPr lang="en-US" dirty="0"/>
          </a:p>
          <a:p>
            <a:r>
              <a:rPr lang="en-US" dirty="0"/>
              <a:t>Strong </a:t>
            </a:r>
            <a:r>
              <a:rPr lang="en-US" dirty="0" err="1"/>
              <a:t>Induction:</a:t>
            </a:r>
            <a:r>
              <a:rPr lang="en-US" altLang="zh-CN" dirty="0" err="1"/>
              <a:t>To</a:t>
            </a:r>
            <a:r>
              <a:rPr lang="en-US" altLang="zh-CN" dirty="0"/>
              <a:t> prove that 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is true for all positive integers </a:t>
            </a:r>
            <a:r>
              <a:rPr lang="en-US" altLang="zh-CN" i="1" dirty="0"/>
              <a:t>n</a:t>
            </a:r>
            <a:endParaRPr lang="en-US" altLang="zh-CN" sz="3600" dirty="0"/>
          </a:p>
          <a:p>
            <a:pPr lvl="1"/>
            <a:r>
              <a:rPr lang="en-US" altLang="zh-CN" i="1" dirty="0"/>
              <a:t>Basis Step</a:t>
            </a:r>
            <a:r>
              <a:rPr lang="en-US" altLang="zh-CN" dirty="0"/>
              <a:t>: Verify that the proposition 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altLang="zh-CN" dirty="0"/>
              <a:t>) is true.</a:t>
            </a:r>
            <a:endParaRPr lang="en-US" altLang="zh-CN" dirty="0"/>
          </a:p>
          <a:p>
            <a:pPr lvl="1"/>
            <a:r>
              <a:rPr lang="en-US" altLang="zh-CN" i="1" dirty="0"/>
              <a:t>Inductive Step</a:t>
            </a:r>
            <a:r>
              <a:rPr lang="en-US" altLang="zh-CN" dirty="0"/>
              <a:t>: Show the conditional statement  [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altLang="zh-CN" dirty="0"/>
              <a:t>)</a:t>
            </a:r>
            <a:r>
              <a:rPr lang="en-US" altLang="zh-CN" i="1" dirty="0"/>
              <a:t> </a:t>
            </a:r>
            <a:r>
              <a:rPr lang="en-US" altLang="zh-CN" dirty="0">
                <a:latin typeface="Cambria Math"/>
                <a:ea typeface="Cambria Math"/>
              </a:rPr>
              <a:t>∧</a:t>
            </a:r>
            <a:r>
              <a:rPr lang="en-US" altLang="zh-CN" dirty="0"/>
              <a:t> 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altLang="zh-CN" dirty="0"/>
              <a:t>)</a:t>
            </a:r>
            <a:r>
              <a:rPr lang="en-US" altLang="zh-CN" i="1" dirty="0"/>
              <a:t> </a:t>
            </a:r>
            <a:r>
              <a:rPr lang="en-US" altLang="zh-CN" dirty="0">
                <a:latin typeface="Cambria Math"/>
                <a:ea typeface="Cambria Math"/>
              </a:rPr>
              <a:t>∧∙∙∙</a:t>
            </a:r>
            <a:r>
              <a:rPr lang="en-US" altLang="zh-CN" dirty="0"/>
              <a:t> </a:t>
            </a:r>
            <a:r>
              <a:rPr lang="en-US" altLang="zh-CN" dirty="0">
                <a:latin typeface="Cambria Math"/>
                <a:ea typeface="Cambria Math"/>
              </a:rPr>
              <a:t>∧</a:t>
            </a:r>
            <a:r>
              <a:rPr lang="en-US" altLang="zh-CN" i="1" dirty="0"/>
              <a:t> P</a:t>
            </a:r>
            <a:r>
              <a:rPr lang="en-US" altLang="zh-CN" dirty="0"/>
              <a:t>(</a:t>
            </a:r>
            <a:r>
              <a:rPr lang="en-US" altLang="zh-CN" i="1" dirty="0"/>
              <a:t>k</a:t>
            </a:r>
            <a:r>
              <a:rPr lang="en-US" altLang="zh-CN" dirty="0"/>
              <a:t>)]</a:t>
            </a:r>
            <a:r>
              <a:rPr lang="en-US" altLang="zh-CN" i="1" dirty="0"/>
              <a:t> </a:t>
            </a:r>
            <a:r>
              <a:rPr lang="en-US" altLang="zh-CN" dirty="0">
                <a:latin typeface="Cambria Math"/>
                <a:ea typeface="Cambria Math"/>
              </a:rPr>
              <a:t>→</a:t>
            </a:r>
            <a:r>
              <a:rPr lang="en-US" altLang="zh-CN" dirty="0"/>
              <a:t> 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k + </a:t>
            </a:r>
            <a:r>
              <a:rPr lang="en-US" altLang="zh-CN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altLang="zh-CN" dirty="0"/>
              <a:t>)</a:t>
            </a:r>
            <a:r>
              <a:rPr lang="en-US" altLang="zh-CN" i="1" dirty="0"/>
              <a:t> </a:t>
            </a:r>
            <a:r>
              <a:rPr lang="en-US" altLang="zh-CN" dirty="0"/>
              <a:t>holds for all positive integers </a:t>
            </a:r>
            <a:r>
              <a:rPr lang="en-US" altLang="zh-CN" i="1" dirty="0"/>
              <a:t>k</a:t>
            </a:r>
            <a:r>
              <a:rPr lang="en-US" altLang="zh-CN" dirty="0"/>
              <a:t>. </a:t>
            </a:r>
            <a:endParaRPr lang="en-US" altLang="zh-CN" dirty="0"/>
          </a:p>
          <a:p>
            <a:r>
              <a:rPr lang="en-US" dirty="0"/>
              <a:t>Well-Ordering:</a:t>
            </a:r>
            <a:r>
              <a:rPr lang="en-US" altLang="zh-CN" dirty="0"/>
              <a:t> Every nonempty set of nonnegative integers has a least element.</a:t>
            </a:r>
            <a:endParaRPr lang="en-US" dirty="0"/>
          </a:p>
          <a:p>
            <a:r>
              <a:rPr lang="en-US" dirty="0"/>
              <a:t>Recursive Definitions(</a:t>
            </a:r>
            <a:r>
              <a:rPr lang="en-US" altLang="zh-CN" dirty="0"/>
              <a:t>Recursively Defined Functions\Sets\ Structures)</a:t>
            </a:r>
            <a:endParaRPr lang="en-US" altLang="zh-CN" dirty="0"/>
          </a:p>
          <a:p>
            <a:r>
              <a:rPr lang="en-US" dirty="0"/>
              <a:t>Structural Induction</a:t>
            </a:r>
            <a:endParaRPr lang="en-US" dirty="0"/>
          </a:p>
          <a:p>
            <a:r>
              <a:rPr lang="en-US" dirty="0">
                <a:solidFill>
                  <a:schemeClr val="accent3"/>
                </a:solidFill>
              </a:rPr>
              <a:t>Recursive Algorithms</a:t>
            </a:r>
            <a:endParaRPr lang="en-US" dirty="0">
              <a:solidFill>
                <a:schemeClr val="accent3"/>
              </a:solidFill>
            </a:endParaRPr>
          </a:p>
          <a:p>
            <a:pPr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6-</a:t>
            </a:r>
            <a:r>
              <a:rPr lang="en-US" altLang="zh-CN" dirty="0"/>
              <a:t>Counting</a:t>
            </a:r>
            <a:r>
              <a:rPr lang="en-US" dirty="0"/>
              <a:t>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Basics of Counting</a:t>
            </a:r>
            <a:endParaRPr lang="en-US" dirty="0"/>
          </a:p>
          <a:p>
            <a:pPr lvl="1"/>
            <a:r>
              <a:rPr lang="en-US" altLang="zh-CN" dirty="0"/>
              <a:t>The Product Rule</a:t>
            </a:r>
            <a:endParaRPr lang="en-US" altLang="zh-CN" dirty="0"/>
          </a:p>
          <a:p>
            <a:pPr lvl="1"/>
            <a:r>
              <a:rPr lang="en-US" altLang="zh-CN" dirty="0"/>
              <a:t>The Sum Rule</a:t>
            </a:r>
            <a:endParaRPr lang="en-US" altLang="zh-CN" dirty="0"/>
          </a:p>
          <a:p>
            <a:pPr lvl="1"/>
            <a:r>
              <a:rPr lang="en-US" altLang="zh-CN" dirty="0"/>
              <a:t>The Subtraction Rule</a:t>
            </a:r>
            <a:endParaRPr lang="en-US" altLang="zh-CN" dirty="0"/>
          </a:p>
          <a:p>
            <a:pPr lvl="1"/>
            <a:r>
              <a:rPr lang="en-US" altLang="zh-CN" dirty="0"/>
              <a:t>The Division Rule</a:t>
            </a:r>
            <a:endParaRPr lang="en-US" altLang="zh-CN" dirty="0"/>
          </a:p>
          <a:p>
            <a:pPr lvl="1"/>
            <a:r>
              <a:rPr lang="en-US" altLang="zh-CN" dirty="0"/>
              <a:t>Examples, Examples, and Examples</a:t>
            </a:r>
            <a:endParaRPr lang="en-US" altLang="zh-CN" dirty="0"/>
          </a:p>
          <a:p>
            <a:pPr lvl="1"/>
            <a:r>
              <a:rPr lang="en-US" altLang="zh-CN" dirty="0"/>
              <a:t>Tree Diagrams</a:t>
            </a:r>
            <a:endParaRPr lang="en-US" altLang="zh-CN" dirty="0"/>
          </a:p>
          <a:p>
            <a:r>
              <a:rPr lang="en-US" dirty="0"/>
              <a:t>The Pigeonhole Principle</a:t>
            </a:r>
            <a:endParaRPr lang="en-US" dirty="0"/>
          </a:p>
          <a:p>
            <a:r>
              <a:rPr lang="en-US" dirty="0"/>
              <a:t>Permutations and Combinations</a:t>
            </a:r>
            <a:endParaRPr lang="en-US" dirty="0"/>
          </a:p>
          <a:p>
            <a:r>
              <a:rPr lang="en-US" dirty="0"/>
              <a:t>Generalized Permutations and Combinations</a:t>
            </a:r>
            <a:endParaRPr lang="en-US" dirty="0"/>
          </a:p>
          <a:p>
            <a:pPr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LATEXADDIN" val="\documentclass{article}&#10;\usepackage{amsmath}&#10;\pagestyle{empty}&#10;\begin{document}&#10;&#10;&#10;$|f(x)| \leq C|g(x)|$&#10;&#10;\end{document}"/>
  <p:tag name="IGUANATEXSIZE" val="25"/>
</p:tagLst>
</file>

<file path=ppt/tags/tag2.xml><?xml version="1.0" encoding="utf-8"?>
<p:tagLst xmlns:p="http://schemas.openxmlformats.org/presentationml/2006/main">
  <p:tag name="LATEXADDIN" val="\documentclass{article}&#10;\usepackage{amsmath}&#10;\pagestyle{empty}&#10;\begin{document}&#10;&#10;&#10;$|f(x)| \geq C|g(x)|$&#10;&#10;\end{document}"/>
  <p:tag name="IGUANATEXSIZE" val="25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4681</Words>
  <Application>WPS 文字</Application>
  <PresentationFormat>宽屏</PresentationFormat>
  <Paragraphs>239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8" baseType="lpstr">
      <vt:lpstr>Arial</vt:lpstr>
      <vt:lpstr>宋体</vt:lpstr>
      <vt:lpstr>Wingdings</vt:lpstr>
      <vt:lpstr>Times New Roman</vt:lpstr>
      <vt:lpstr>Symbol</vt:lpstr>
      <vt:lpstr>Kingsoft Sign</vt:lpstr>
      <vt:lpstr>Euclid Symbol</vt:lpstr>
      <vt:lpstr>Cambria Math</vt:lpstr>
      <vt:lpstr>Kingsoft Math</vt:lpstr>
      <vt:lpstr>Cambria Math</vt:lpstr>
      <vt:lpstr>等线 Light</vt:lpstr>
      <vt:lpstr>汉仪中等线KW</vt:lpstr>
      <vt:lpstr>等线</vt:lpstr>
      <vt:lpstr>微软雅黑</vt:lpstr>
      <vt:lpstr>汉仪旗黑</vt:lpstr>
      <vt:lpstr>宋体</vt:lpstr>
      <vt:lpstr>Arial Unicode MS</vt:lpstr>
      <vt:lpstr>Helvetica Neue</vt:lpstr>
      <vt:lpstr>PingFang SC</vt:lpstr>
      <vt:lpstr>汉仪书宋二KW</vt:lpstr>
      <vt:lpstr>Office 主题​​</vt:lpstr>
      <vt:lpstr>Chapter 1 Summary</vt:lpstr>
      <vt:lpstr>Chapter 1 Summary</vt:lpstr>
      <vt:lpstr>Chapter 1 Summary</vt:lpstr>
      <vt:lpstr>Chapter 1 Summary</vt:lpstr>
      <vt:lpstr>Chapter 2 Summary</vt:lpstr>
      <vt:lpstr>Sets Summary</vt:lpstr>
      <vt:lpstr>Some Important Sets</vt:lpstr>
      <vt:lpstr>Set Operations Summary</vt:lpstr>
      <vt:lpstr>Functions Summary</vt:lpstr>
      <vt:lpstr>Sequences and Summations Summary</vt:lpstr>
      <vt:lpstr>Cardinality of Sets Summary</vt:lpstr>
      <vt:lpstr>Matrices Summary</vt:lpstr>
      <vt:lpstr>Chapter 3 –Algorithms Summary</vt:lpstr>
      <vt:lpstr>Chapter 4-Number Theory Summary</vt:lpstr>
      <vt:lpstr>Chapter 4-Number Theory Summary</vt:lpstr>
      <vt:lpstr>Chapter 5-Induction and recursion Summary</vt:lpstr>
      <vt:lpstr>Chapter 6-Counting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yj</dc:creator>
  <cp:lastModifiedBy>杨娟</cp:lastModifiedBy>
  <cp:revision>31</cp:revision>
  <dcterms:created xsi:type="dcterms:W3CDTF">2025-06-02T04:18:51Z</dcterms:created>
  <dcterms:modified xsi:type="dcterms:W3CDTF">2025-06-02T04:18:51Z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0DACDA29ADF71437F6233D68D3E9EC44_43</vt:lpwstr>
  </property>
  <property fmtid="{D5CDD505-2E9C-101B-9397-08002B2CF9AE}" pid="3" name="KSOProductBuildVer">
    <vt:lpwstr>2052-6.9.0.8865</vt:lpwstr>
  </property>
</Properties>
</file>