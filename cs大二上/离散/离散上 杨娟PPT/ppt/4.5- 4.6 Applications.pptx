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37"/>
  </p:notesMasterIdLst>
  <p:handoutMasterIdLst>
    <p:handoutMasterId r:id="rId38"/>
  </p:handoutMasterIdLst>
  <p:sldIdLst>
    <p:sldId id="317" r:id="rId4"/>
    <p:sldId id="371" r:id="rId5"/>
    <p:sldId id="366" r:id="rId6"/>
    <p:sldId id="425" r:id="rId7"/>
    <p:sldId id="367" r:id="rId8"/>
    <p:sldId id="426" r:id="rId9"/>
    <p:sldId id="368" r:id="rId10"/>
    <p:sldId id="369" r:id="rId11"/>
    <p:sldId id="370" r:id="rId12"/>
    <p:sldId id="318" r:id="rId13"/>
    <p:sldId id="373" r:id="rId14"/>
    <p:sldId id="427" r:id="rId15"/>
    <p:sldId id="375" r:id="rId16"/>
    <p:sldId id="374" r:id="rId17"/>
    <p:sldId id="376" r:id="rId18"/>
    <p:sldId id="377" r:id="rId19"/>
    <p:sldId id="378" r:id="rId20"/>
    <p:sldId id="409" r:id="rId21"/>
    <p:sldId id="379" r:id="rId22"/>
    <p:sldId id="410" r:id="rId23"/>
    <p:sldId id="380" r:id="rId24"/>
    <p:sldId id="387" r:id="rId25"/>
    <p:sldId id="381" r:id="rId26"/>
    <p:sldId id="388" r:id="rId27"/>
    <p:sldId id="382" r:id="rId28"/>
    <p:sldId id="383" r:id="rId29"/>
    <p:sldId id="384" r:id="rId30"/>
    <p:sldId id="407" r:id="rId31"/>
    <p:sldId id="390" r:id="rId32"/>
    <p:sldId id="408" r:id="rId33"/>
    <p:sldId id="385" r:id="rId34"/>
    <p:sldId id="386" r:id="rId35"/>
    <p:sldId id="391" r:id="rId36"/>
  </p:sldIdLst>
  <p:sldSz cx="9144000" cy="6858000" type="screen4x3"/>
  <p:notesSz cx="6858000" cy="9144000"/>
  <p:custDataLst>
    <p:tags r:id="rId42"/>
  </p:custDataLst>
  <p:defaultTextStyle>
    <a:defPPr>
      <a:defRPr lang="en-US"/>
    </a:defPPr>
    <a:lvl1pPr marL="0" lvl="0" indent="0" algn="l" defTabSz="914400" rtl="0" eaLnBrk="1" fontAlgn="base" latinLnBrk="0" hangingPunct="1">
      <a:lnSpc>
        <a:spcPct val="100000"/>
      </a:lnSpc>
      <a:spcBef>
        <a:spcPct val="0"/>
      </a:spcBef>
      <a:spcAft>
        <a:spcPct val="0"/>
      </a:spcAft>
      <a:buNone/>
      <a:defRPr sz="2400" b="1" i="1" u="sng" kern="1200">
        <a:solidFill>
          <a:schemeClr val="tx1"/>
        </a:solidFill>
        <a:latin typeface="Times New Roman" panose="02020503050405090304" pitchFamily="18"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1" i="1" u="sng" kern="1200">
        <a:solidFill>
          <a:schemeClr val="tx1"/>
        </a:solidFill>
        <a:latin typeface="Times New Roman" panose="02020503050405090304"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1" u="sng" kern="1200">
        <a:solidFill>
          <a:schemeClr val="tx1"/>
        </a:solidFill>
        <a:latin typeface="Times New Roman" panose="02020503050405090304"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1" u="sng" kern="1200">
        <a:solidFill>
          <a:schemeClr val="tx1"/>
        </a:solidFill>
        <a:latin typeface="Times New Roman" panose="02020503050405090304"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1" u="sng" kern="1200">
        <a:solidFill>
          <a:schemeClr val="tx1"/>
        </a:solidFill>
        <a:latin typeface="Times New Roman" panose="02020503050405090304" pitchFamily="18"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1" u="sng" kern="1200">
        <a:solidFill>
          <a:schemeClr val="tx1"/>
        </a:solidFill>
        <a:latin typeface="Times New Roman" panose="02020503050405090304" pitchFamily="18"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1" u="sng" kern="1200">
        <a:solidFill>
          <a:schemeClr val="tx1"/>
        </a:solidFill>
        <a:latin typeface="Times New Roman" panose="02020503050405090304" pitchFamily="18"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1" u="sng" kern="1200">
        <a:solidFill>
          <a:schemeClr val="tx1"/>
        </a:solidFill>
        <a:latin typeface="Times New Roman" panose="02020503050405090304" pitchFamily="18"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1" u="sng" kern="1200">
        <a:solidFill>
          <a:schemeClr val="tx1"/>
        </a:solidFill>
        <a:latin typeface="Times New Roman" panose="02020503050405090304" pitchFamily="18" charset="0"/>
        <a:ea typeface="宋体" pitchFamily="2" charset="-122"/>
        <a:cs typeface="+mn-cs"/>
      </a:defRPr>
    </a:lvl9pPr>
  </p:defaultTextStyle>
  <p:extLst>
    <p:ext uri="{EFAFB233-063F-42B5-8137-9DF3F51BA10A}">
      <p15:sldGuideLst xmlns:p15="http://schemas.microsoft.com/office/powerpoint/2012/main">
        <p15:guide id="1" orient="horz" pos="1440" userDrawn="1">
          <p15:clr>
            <a:srgbClr val="A4A3A4"/>
          </p15:clr>
        </p15:guide>
        <p15:guide id="2" pos="4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CCFF33"/>
    <a:srgbClr val="FF3300"/>
    <a:srgbClr val="003399"/>
    <a:srgbClr val="336699"/>
    <a:srgbClr val="008080"/>
    <a:srgbClr val="0099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82"/>
  </p:normalViewPr>
  <p:slideViewPr>
    <p:cSldViewPr showGuides="1">
      <p:cViewPr varScale="1">
        <p:scale>
          <a:sx n="86" d="100"/>
          <a:sy n="86" d="100"/>
        </p:scale>
        <p:origin x="1524" y="90"/>
      </p:cViewPr>
      <p:guideLst>
        <p:guide orient="horz" pos="1440"/>
        <p:guide pos="48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7284"/>
    </p:cViewPr>
  </p:sorterViewPr>
  <p:gridSpacing cx="72006" cy="72006"/>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gs" Target="tags/tag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1.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notesMaster" Target="notesMasters/notes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kumimoji="0" sz="1200" b="0" i="0" u="none"/>
            </a:lvl1pPr>
          </a:lstStyle>
          <a:p>
            <a:pPr fontAlgn="base">
              <a:defRPr/>
            </a:pPr>
            <a:endParaRPr lang="zh-CN" altLang="en-US" strike="noStrike" noProof="1"/>
          </a:p>
        </p:txBody>
      </p:sp>
      <p:sp>
        <p:nvSpPr>
          <p:cNvPr id="1741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0" sz="1200" b="0" i="0" u="none"/>
            </a:lvl1pPr>
          </a:lstStyle>
          <a:p>
            <a:pPr fontAlgn="base">
              <a:defRPr/>
            </a:pPr>
            <a:endParaRPr lang="en-US" altLang="zh-CN" strike="noStrike" noProof="1"/>
          </a:p>
        </p:txBody>
      </p:sp>
      <p:sp>
        <p:nvSpPr>
          <p:cNvPr id="1741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kumimoji="0" sz="1200" b="0" i="0" u="none"/>
            </a:lvl1pPr>
          </a:lstStyle>
          <a:p>
            <a:pPr fontAlgn="base">
              <a:defRPr/>
            </a:pPr>
            <a:endParaRPr lang="zh-CN" altLang="en-US" strike="noStrike" noProof="1"/>
          </a:p>
        </p:txBody>
      </p:sp>
      <p:sp>
        <p:nvSpPr>
          <p:cNvPr id="1741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200" b="0" i="0" u="none"/>
            </a:lvl1pPr>
          </a:lstStyle>
          <a:p>
            <a:pPr fontAlgn="base">
              <a:defRPr/>
            </a:pPr>
            <a:fld id="{9032789F-3546-45FB-8139-125E26356D3E}" type="slidenum">
              <a:rPr lang="zh-CN" altLang="en-US" strike="noStrike" noProof="1">
                <a:latin typeface="Times New Roman" panose="02020503050405090304" pitchFamily="18" charset="0"/>
                <a:ea typeface="宋体" pitchFamily="2" charset="-122"/>
                <a:cs typeface="+mn-cs"/>
              </a:rPr>
            </a:fld>
            <a:endParaRPr lang="en-US" altLang="zh-CN"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kumimoji="0" sz="1200" b="0" i="0" u="none"/>
            </a:lvl1pPr>
          </a:lstStyle>
          <a:p>
            <a:pPr fontAlgn="base">
              <a:defRPr/>
            </a:pPr>
            <a:endParaRPr lang="zh-CN" altLang="en-US" strike="noStrike" noProof="1"/>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0" sz="1200" b="0" i="0" u="none"/>
            </a:lvl1pPr>
          </a:lstStyle>
          <a:p>
            <a:pPr fontAlgn="base">
              <a:defRPr/>
            </a:pPr>
            <a:endParaRPr lang="en-US" altLang="zh-CN" strike="noStrike" noProof="1"/>
          </a:p>
        </p:txBody>
      </p:sp>
      <p:sp>
        <p:nvSpPr>
          <p:cNvPr id="4100"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p:cNvSpPr>
          <p:nvPr>
            <p:ph type="body" sz="quarter"/>
          </p:nvPr>
        </p:nvSpPr>
        <p:spPr>
          <a:xfrm>
            <a:off x="914400" y="4343400"/>
            <a:ext cx="5029200" cy="4114800"/>
          </a:xfrm>
          <a:prstGeom prst="rect">
            <a:avLst/>
          </a:prstGeom>
          <a:noFill/>
          <a:ln w="9525">
            <a:noFill/>
          </a:ln>
        </p:spPr>
        <p:txBody>
          <a:bodyPr vert="horz" wrap="square" lIns="91440" tIns="45720" rIns="91440" bIns="45720" anchor="t" anchorCtr="0"/>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kumimoji="0" sz="1200" b="0" i="0" u="none"/>
            </a:lvl1pPr>
          </a:lstStyle>
          <a:p>
            <a:pPr fontAlgn="base">
              <a:defRPr/>
            </a:pPr>
            <a:endParaRPr lang="en-US" altLang="zh-CN" strike="noStrike" noProof="1"/>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200" b="0" i="0" u="none"/>
            </a:lvl1pPr>
          </a:lstStyle>
          <a:p>
            <a:pPr fontAlgn="base">
              <a:defRPr/>
            </a:pPr>
            <a:fld id="{D4C1CBE0-49CE-4B91-85D7-73A0ECCCDCB8}" type="slidenum">
              <a:rPr lang="zh-CN" altLang="en-US" strike="noStrike" noProof="1">
                <a:latin typeface="Times New Roman" panose="02020503050405090304" pitchFamily="18" charset="0"/>
                <a:ea typeface="宋体" pitchFamily="2" charset="-122"/>
                <a:cs typeface="+mn-cs"/>
              </a:rPr>
            </a:fld>
            <a:endParaRPr lang="en-US" altLang="zh-CN"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17" descr="attach"/>
          <p:cNvPicPr>
            <a:picLocks noChangeAspect="1"/>
          </p:cNvPicPr>
          <p:nvPr userDrawn="1"/>
        </p:nvPicPr>
        <p:blipFill>
          <a:blip r:embed="rId2"/>
          <a:stretch>
            <a:fillRect/>
          </a:stretch>
        </p:blipFill>
        <p:spPr>
          <a:xfrm>
            <a:off x="1752600" y="533400"/>
            <a:ext cx="5905500" cy="5905500"/>
          </a:xfrm>
          <a:prstGeom prst="rect">
            <a:avLst/>
          </a:prstGeom>
          <a:noFill/>
          <a:ln w="9525">
            <a:noFill/>
          </a:ln>
        </p:spPr>
      </p:pic>
      <p:grpSp>
        <p:nvGrpSpPr>
          <p:cNvPr id="2051" name="Group 2"/>
          <p:cNvGrpSpPr/>
          <p:nvPr/>
        </p:nvGrpSpPr>
        <p:grpSpPr>
          <a:xfrm>
            <a:off x="0" y="2438400"/>
            <a:ext cx="9009063" cy="1052513"/>
            <a:chOff x="0" y="1536"/>
            <a:chExt cx="5675" cy="663"/>
          </a:xfrm>
        </p:grpSpPr>
        <p:grpSp>
          <p:nvGrpSpPr>
            <p:cNvPr id="2052" name="Group 3"/>
            <p:cNvGrpSpPr/>
            <p:nvPr/>
          </p:nvGrpSpPr>
          <p:grpSpPr>
            <a:xfrm>
              <a:off x="185" y="1604"/>
              <a:ext cx="449" cy="299"/>
              <a:chOff x="720" y="336"/>
              <a:chExt cx="624" cy="432"/>
            </a:xfrm>
          </p:grpSpPr>
          <p:sp>
            <p:nvSpPr>
              <p:cNvPr id="2053" name="Rectangle 4"/>
              <p:cNvSpPr/>
              <p:nvPr/>
            </p:nvSpPr>
            <p:spPr>
              <a:xfrm>
                <a:off x="720" y="336"/>
                <a:ext cx="384" cy="432"/>
              </a:xfrm>
              <a:prstGeom prst="rect">
                <a:avLst/>
              </a:prstGeom>
              <a:solidFill>
                <a:schemeClr val="folHlink"/>
              </a:solidFill>
              <a:ln w="9525">
                <a:noFill/>
              </a:ln>
            </p:spPr>
            <p:txBody>
              <a:bodyPr wrap="none" anchor="ctr" anchorCtr="0"/>
              <a:p>
                <a:pPr lvl="0" algn="ctr" eaLnBrk="0" hangingPunct="0"/>
                <a:endParaRPr lang="zh-CN" altLang="en-US">
                  <a:latin typeface="Times New Roman" panose="02020503050405090304" pitchFamily="18" charset="0"/>
                </a:endParaRPr>
              </a:p>
            </p:txBody>
          </p:sp>
          <p:sp>
            <p:nvSpPr>
              <p:cNvPr id="2054" name="Rectangle 5"/>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eaLnBrk="0" hangingPunct="0"/>
                <a:endParaRPr lang="zh-CN" altLang="en-US">
                  <a:latin typeface="Times New Roman" panose="02020503050405090304" pitchFamily="18" charset="0"/>
                </a:endParaRPr>
              </a:p>
            </p:txBody>
          </p:sp>
        </p:grpSp>
        <p:grpSp>
          <p:nvGrpSpPr>
            <p:cNvPr id="2055" name="Group 6"/>
            <p:cNvGrpSpPr/>
            <p:nvPr/>
          </p:nvGrpSpPr>
          <p:grpSpPr>
            <a:xfrm>
              <a:off x="263" y="1870"/>
              <a:ext cx="466" cy="299"/>
              <a:chOff x="912" y="2640"/>
              <a:chExt cx="672" cy="432"/>
            </a:xfrm>
          </p:grpSpPr>
          <p:sp>
            <p:nvSpPr>
              <p:cNvPr id="2056" name="Rectangle 7"/>
              <p:cNvSpPr/>
              <p:nvPr/>
            </p:nvSpPr>
            <p:spPr>
              <a:xfrm>
                <a:off x="912" y="2640"/>
                <a:ext cx="384" cy="432"/>
              </a:xfrm>
              <a:prstGeom prst="rect">
                <a:avLst/>
              </a:prstGeom>
              <a:solidFill>
                <a:schemeClr val="accent2"/>
              </a:solidFill>
              <a:ln w="9525">
                <a:noFill/>
              </a:ln>
            </p:spPr>
            <p:txBody>
              <a:bodyPr wrap="none" anchor="ctr" anchorCtr="0"/>
              <a:p>
                <a:pPr lvl="0" algn="ctr" eaLnBrk="0" hangingPunct="0"/>
                <a:endParaRPr lang="zh-CN" altLang="en-US">
                  <a:latin typeface="Times New Roman" panose="02020503050405090304" pitchFamily="18" charset="0"/>
                </a:endParaRPr>
              </a:p>
            </p:txBody>
          </p:sp>
          <p:sp>
            <p:nvSpPr>
              <p:cNvPr id="2057" name="Rectangle 8"/>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wrap="none" anchor="ctr" anchorCtr="0"/>
              <a:p>
                <a:pPr lvl="0" algn="ctr" eaLnBrk="0" hangingPunct="0"/>
                <a:endParaRPr lang="zh-CN" altLang="en-US">
                  <a:latin typeface="Times New Roman" panose="02020503050405090304" pitchFamily="18" charset="0"/>
                </a:endParaRPr>
              </a:p>
            </p:txBody>
          </p:sp>
        </p:grpSp>
        <p:sp>
          <p:nvSpPr>
            <p:cNvPr id="2058" name="Rectangle 9"/>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wrap="none" anchor="ctr" anchorCtr="0"/>
            <a:p>
              <a:pPr lvl="0" algn="ctr" eaLnBrk="0" hangingPunct="0"/>
              <a:endParaRPr lang="zh-CN" altLang="en-US">
                <a:latin typeface="Times New Roman" panose="02020503050405090304" pitchFamily="18" charset="0"/>
              </a:endParaRPr>
            </a:p>
          </p:txBody>
        </p:sp>
        <p:sp>
          <p:nvSpPr>
            <p:cNvPr id="2059" name="Rectangle 10"/>
            <p:cNvSpPr/>
            <p:nvPr/>
          </p:nvSpPr>
          <p:spPr>
            <a:xfrm>
              <a:off x="400" y="1536"/>
              <a:ext cx="20" cy="663"/>
            </a:xfrm>
            <a:prstGeom prst="rect">
              <a:avLst/>
            </a:prstGeom>
            <a:solidFill>
              <a:schemeClr val="bg2"/>
            </a:solidFill>
            <a:ln w="9525">
              <a:noFill/>
            </a:ln>
          </p:spPr>
          <p:txBody>
            <a:bodyPr wrap="none" anchor="ctr" anchorCtr="0"/>
            <a:p>
              <a:pPr lvl="0" algn="ctr" eaLnBrk="0" hangingPunct="0"/>
              <a:endParaRPr lang="zh-CN" altLang="en-US">
                <a:latin typeface="Times New Roman" panose="02020503050405090304" pitchFamily="18" charset="0"/>
              </a:endParaRPr>
            </a:p>
          </p:txBody>
        </p:sp>
        <p:sp>
          <p:nvSpPr>
            <p:cNvPr id="2060" name="Rectangle 11"/>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wrap="none" anchor="ctr" anchorCtr="0"/>
            <a:p>
              <a:pPr lvl="0" algn="ctr" eaLnBrk="0" hangingPunct="0"/>
              <a:endParaRPr lang="zh-CN" altLang="en-US">
                <a:latin typeface="Times New Roman" panose="02020503050405090304" pitchFamily="18" charset="0"/>
              </a:endParaRPr>
            </a:p>
          </p:txBody>
        </p:sp>
      </p:grpSp>
      <p:sp>
        <p:nvSpPr>
          <p:cNvPr id="2061" name="Text Box 18"/>
          <p:cNvSpPr txBox="1"/>
          <p:nvPr userDrawn="1"/>
        </p:nvSpPr>
        <p:spPr>
          <a:xfrm>
            <a:off x="3563938" y="4581525"/>
            <a:ext cx="4640262" cy="1631950"/>
          </a:xfrm>
          <a:prstGeom prst="rect">
            <a:avLst/>
          </a:prstGeom>
          <a:noFill/>
          <a:ln w="9525">
            <a:noFill/>
          </a:ln>
        </p:spPr>
        <p:txBody>
          <a:bodyPr wrap="none" anchor="t" anchorCtr="0">
            <a:spAutoFit/>
          </a:bodyPr>
          <a:p>
            <a:pPr lvl="0" algn="r" eaLnBrk="1" hangingPunct="1">
              <a:spcBef>
                <a:spcPct val="20000"/>
              </a:spcBef>
              <a:buClr>
                <a:schemeClr val="folHlink"/>
              </a:buClr>
              <a:buSzPct val="60000"/>
              <a:buFont typeface="Wingdings" panose="05000000000000000000" pitchFamily="2" charset="2"/>
              <a:buNone/>
            </a:pPr>
            <a:r>
              <a:rPr lang="en-US" altLang="zh-CN" b="0" i="0" u="none">
                <a:solidFill>
                  <a:schemeClr val="folHlink"/>
                </a:solidFill>
                <a:latin typeface="Copperplate Gothic Light" pitchFamily="34" charset="0"/>
              </a:rPr>
              <a:t>Yang Juan</a:t>
            </a:r>
            <a:endParaRPr lang="en-US" altLang="zh-CN" b="0" i="0" u="none">
              <a:solidFill>
                <a:schemeClr val="folHlink"/>
              </a:solidFill>
              <a:latin typeface="Copperplate Gothic Light" pitchFamily="34" charset="0"/>
            </a:endParaRPr>
          </a:p>
          <a:p>
            <a:pPr lvl="0" algn="r" eaLnBrk="1" hangingPunct="1">
              <a:spcBef>
                <a:spcPct val="20000"/>
              </a:spcBef>
              <a:buClr>
                <a:schemeClr val="folHlink"/>
              </a:buClr>
              <a:buSzPct val="60000"/>
              <a:buFont typeface="Wingdings" panose="05000000000000000000" pitchFamily="2" charset="2"/>
              <a:buNone/>
            </a:pPr>
            <a:r>
              <a:rPr lang="en-US" altLang="zh-CN" sz="1600" b="0" i="0" u="none">
                <a:solidFill>
                  <a:srgbClr val="009999"/>
                </a:solidFill>
                <a:latin typeface="Times New Roman" panose="02020503050405090304" pitchFamily="18" charset="0"/>
              </a:rPr>
              <a:t>jyang@tseg.org</a:t>
            </a:r>
            <a:endParaRPr lang="en-US" altLang="zh-CN" sz="1600" b="0" i="0" u="none">
              <a:solidFill>
                <a:srgbClr val="009999"/>
              </a:solidFill>
              <a:latin typeface="Times New Roman" panose="02020503050405090304" pitchFamily="18" charset="0"/>
            </a:endParaRPr>
          </a:p>
          <a:p>
            <a:pPr lvl="0" algn="r" eaLnBrk="1" hangingPunct="1">
              <a:spcBef>
                <a:spcPct val="20000"/>
              </a:spcBef>
              <a:buClr>
                <a:schemeClr val="folHlink"/>
              </a:buClr>
              <a:buSzPct val="60000"/>
              <a:buFont typeface="Wingdings" panose="05000000000000000000" pitchFamily="2" charset="2"/>
              <a:buNone/>
            </a:pPr>
            <a:endParaRPr lang="en-US" altLang="zh-CN" sz="1600" b="0" i="0" u="none">
              <a:solidFill>
                <a:srgbClr val="009999"/>
              </a:solidFill>
              <a:latin typeface="Tahoma" panose="020B0604030504040204" pitchFamily="34" charset="0"/>
            </a:endParaRPr>
          </a:p>
          <a:p>
            <a:pPr lvl="0" algn="r" eaLnBrk="1" hangingPunct="1">
              <a:spcBef>
                <a:spcPct val="20000"/>
              </a:spcBef>
              <a:buClr>
                <a:schemeClr val="folHlink"/>
              </a:buClr>
              <a:buSzPct val="60000"/>
              <a:buFont typeface="Wingdings" panose="05000000000000000000" pitchFamily="2" charset="2"/>
              <a:buNone/>
            </a:pPr>
            <a:r>
              <a:rPr lang="en-US" altLang="zh-CN" sz="1600" b="0" i="0" u="none">
                <a:solidFill>
                  <a:srgbClr val="009999"/>
                </a:solidFill>
                <a:latin typeface="Copperplate Gothic Light" pitchFamily="34" charset="0"/>
              </a:rPr>
              <a:t>College of Computer Science &amp; Technology</a:t>
            </a:r>
            <a:endParaRPr lang="en-US" altLang="zh-CN" sz="1600" b="0" i="0" u="none">
              <a:solidFill>
                <a:srgbClr val="009999"/>
              </a:solidFill>
              <a:latin typeface="Copperplate Gothic Light" pitchFamily="34" charset="0"/>
            </a:endParaRPr>
          </a:p>
          <a:p>
            <a:pPr lvl="0" algn="r" eaLnBrk="1" hangingPunct="1">
              <a:spcBef>
                <a:spcPct val="20000"/>
              </a:spcBef>
              <a:buClr>
                <a:schemeClr val="folHlink"/>
              </a:buClr>
              <a:buSzPct val="60000"/>
              <a:buFont typeface="Wingdings" panose="05000000000000000000" pitchFamily="2" charset="2"/>
              <a:buNone/>
            </a:pPr>
            <a:r>
              <a:rPr lang="en-US" altLang="zh-CN" sz="1600" b="0" i="0" u="none">
                <a:solidFill>
                  <a:srgbClr val="009999"/>
                </a:solidFill>
                <a:latin typeface="Copperplate Gothic Light" pitchFamily="34" charset="0"/>
              </a:rPr>
              <a:t>Beijing University of Posts &amp; Telecommunications</a:t>
            </a:r>
            <a:endParaRPr lang="zh-CN" altLang="en-US" sz="1600" b="0" i="0" u="none">
              <a:latin typeface="Times New Roman" panose="02020503050405090304" pitchFamily="18" charset="0"/>
            </a:endParaRPr>
          </a:p>
        </p:txBody>
      </p:sp>
      <p:sp>
        <p:nvSpPr>
          <p:cNvPr id="153612" name="Rectangle 12"/>
          <p:cNvSpPr>
            <a:spLocks noGrp="1" noChangeArrowheads="1"/>
          </p:cNvSpPr>
          <p:nvPr>
            <p:ph type="ctrTitle"/>
          </p:nvPr>
        </p:nvSpPr>
        <p:spPr>
          <a:xfrm>
            <a:off x="990600" y="1828800"/>
            <a:ext cx="7772400" cy="1143000"/>
          </a:xfrm>
        </p:spPr>
        <p:txBody>
          <a:bodyPr/>
          <a:lstStyle>
            <a:lvl1pPr>
              <a:defRPr>
                <a:latin typeface="Copperplate Gothic Bold" pitchFamily="34" charset="0"/>
              </a:defRPr>
            </a:lvl1pPr>
          </a:lstStyle>
          <a:p>
            <a:pPr fontAlgn="base"/>
            <a:r>
              <a:rPr lang="zh-CN" altLang="en-US" strike="noStrike" noProof="1"/>
              <a:t>单击此处编辑母版标题样式</a:t>
            </a:r>
            <a:endParaRPr lang="zh-CN" altLang="en-US" strike="noStrike" noProof="1"/>
          </a:p>
        </p:txBody>
      </p:sp>
      <p:sp>
        <p:nvSpPr>
          <p:cNvPr id="153613"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fontAlgn="base"/>
            <a:r>
              <a:rPr lang="zh-CN" altLang="en-US" strike="noStrike" noProof="1"/>
              <a:t>单击此处编辑母版副标题样式</a:t>
            </a:r>
            <a:endParaRPr lang="zh-CN" altLang="en-US" strike="noStrike" noProof="1"/>
          </a:p>
        </p:txBody>
      </p:sp>
      <p:sp>
        <p:nvSpPr>
          <p:cNvPr id="16" name="Rectangle 14"/>
          <p:cNvSpPr>
            <a:spLocks noGrp="1" noChangeArrowheads="1"/>
          </p:cNvSpPr>
          <p:nvPr>
            <p:ph type="dt" sz="half" idx="10"/>
          </p:nvPr>
        </p:nvSpPr>
        <p:spPr>
          <a:xfrm>
            <a:off x="9906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b="0" i="0">
                <a:solidFill>
                  <a:schemeClr val="bg2"/>
                </a:solidFill>
                <a:latin typeface="+mn-lt"/>
              </a:defRPr>
            </a:lvl1pPr>
          </a:lstStyle>
          <a:p>
            <a:pPr fontAlgn="base">
              <a:defRPr/>
            </a:pPr>
            <a:fld id="{FA3A08FB-62F8-4439-8B71-1F19C344B713}" type="datetime1">
              <a:rPr lang="zh-CN" altLang="en-US" strike="noStrike" noProof="1">
                <a:latin typeface="+mn-lt"/>
                <a:ea typeface="宋体" pitchFamily="2" charset="-122"/>
                <a:cs typeface="+mn-cs"/>
              </a:rPr>
            </a:fld>
            <a:endParaRPr lang="en-US" altLang="zh-CN" strike="noStrike" noProof="1"/>
          </a:p>
        </p:txBody>
      </p:sp>
      <p:sp>
        <p:nvSpPr>
          <p:cNvPr id="17" name="Rectangle 15"/>
          <p:cNvSpPr>
            <a:spLocks noGrp="1" noChangeArrowheads="1"/>
          </p:cNvSpPr>
          <p:nvPr>
            <p:ph type="ftr" sz="quarter" idx="11"/>
          </p:nvPr>
        </p:nvSpPr>
        <p:spPr>
          <a:xfrm>
            <a:off x="3429000" y="6248400"/>
            <a:ext cx="28956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defRPr kumimoji="0" sz="1400" b="0" i="0">
                <a:solidFill>
                  <a:schemeClr val="bg2"/>
                </a:solidFill>
                <a:latin typeface="+mn-lt"/>
              </a:defRPr>
            </a:lvl1pPr>
          </a:lstStyle>
          <a:p>
            <a:pPr fontAlgn="base">
              <a:defRPr/>
            </a:pPr>
            <a:endParaRPr lang="en-US" altLang="zh-CN" strike="noStrike" noProof="1"/>
          </a:p>
        </p:txBody>
      </p:sp>
      <p:sp>
        <p:nvSpPr>
          <p:cNvPr id="18" name="Rectangle 16"/>
          <p:cNvSpPr>
            <a:spLocks noGrp="1" noChangeArrowheads="1"/>
          </p:cNvSpPr>
          <p:nvPr>
            <p:ph type="sldNum" sz="quarter" idx="12"/>
          </p:nvPr>
        </p:nvSpPr>
        <p:spPr>
          <a:xfrm>
            <a:off x="68580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fontAlgn="base">
              <a:defRPr/>
            </a:pPr>
            <a:fld id="{36B9D3F7-3108-4833-AA9E-B3BE29F4B4C8}" type="slidenum">
              <a:rPr lang="zh-CN" altLang="en-US" strike="noStrike" noProof="1">
                <a:latin typeface="Tahoma" panose="020B0604030504040204" pitchFamily="34" charset="0"/>
                <a:ea typeface="宋体" pitchFamily="2" charset="-122"/>
                <a:cs typeface="+mn-cs"/>
              </a:rPr>
            </a:fld>
            <a:endParaRPr lang="en-US" altLang="zh-CN"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5" name="日期占位符 4"/>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页脚占位符 5"/>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5" name="日期占位符 4"/>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页脚占位符 5"/>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84213" y="1268413"/>
            <a:ext cx="4059237" cy="4864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895850" y="1268413"/>
            <a:ext cx="4059238" cy="4864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日期占位符 5"/>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7" name="页脚占位符 6"/>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8" name="日期占位符 7"/>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9" name="页脚占位符 8"/>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4" name="日期占位符 3"/>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5" name="页脚占位符 4"/>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3" name="日期占位符 2"/>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4" name="页脚占位符 3"/>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日期占位符 5"/>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7" name="页脚占位符 6"/>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fontAlgn="base"/>
            <a:endParaRPr lang="zh-CN" altLang="en-US" strike="noStrike"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日期占位符 5"/>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7" name="页脚占位符 6"/>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5" name="日期占位符 4"/>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页脚占位符 5"/>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88163" y="0"/>
            <a:ext cx="2066925" cy="6132513"/>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84213" y="0"/>
            <a:ext cx="6051550" cy="6132513"/>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5" name="日期占位符 4"/>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页脚占位符 5"/>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023938" y="0"/>
            <a:ext cx="7793037" cy="11430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84213" y="1268413"/>
            <a:ext cx="4059237" cy="48641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895850" y="1268413"/>
            <a:ext cx="4059238" cy="48641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日期占位符 5"/>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7" name="页脚占位符 6"/>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023938" y="0"/>
            <a:ext cx="7793037" cy="11430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84213" y="1268413"/>
            <a:ext cx="4059237" cy="48641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quarter" idx="2"/>
          </p:nvPr>
        </p:nvSpPr>
        <p:spPr>
          <a:xfrm>
            <a:off x="4895850" y="1268413"/>
            <a:ext cx="4059238" cy="235585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a:spLocks noGrp="1"/>
          </p:cNvSpPr>
          <p:nvPr>
            <p:ph sz="quarter" idx="3"/>
          </p:nvPr>
        </p:nvSpPr>
        <p:spPr>
          <a:xfrm>
            <a:off x="4895850" y="3776663"/>
            <a:ext cx="4059238" cy="235585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6" name="灯片编号占位符 5"/>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7" name="日期占位符 6"/>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8" name="页脚占位符 7"/>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17" descr="attach"/>
          <p:cNvPicPr>
            <a:picLocks noChangeAspect="1"/>
          </p:cNvPicPr>
          <p:nvPr userDrawn="1"/>
        </p:nvPicPr>
        <p:blipFill>
          <a:blip r:embed="rId2"/>
          <a:stretch>
            <a:fillRect/>
          </a:stretch>
        </p:blipFill>
        <p:spPr>
          <a:xfrm>
            <a:off x="1752600" y="533400"/>
            <a:ext cx="5905500" cy="5905500"/>
          </a:xfrm>
          <a:prstGeom prst="rect">
            <a:avLst/>
          </a:prstGeom>
          <a:noFill/>
          <a:ln w="9525">
            <a:noFill/>
          </a:ln>
        </p:spPr>
      </p:pic>
      <p:grpSp>
        <p:nvGrpSpPr>
          <p:cNvPr id="2051" name="Group 2"/>
          <p:cNvGrpSpPr/>
          <p:nvPr/>
        </p:nvGrpSpPr>
        <p:grpSpPr>
          <a:xfrm>
            <a:off x="0" y="2438400"/>
            <a:ext cx="9009063" cy="1052513"/>
            <a:chOff x="0" y="1536"/>
            <a:chExt cx="5675" cy="663"/>
          </a:xfrm>
        </p:grpSpPr>
        <p:grpSp>
          <p:nvGrpSpPr>
            <p:cNvPr id="2052" name="Group 3"/>
            <p:cNvGrpSpPr/>
            <p:nvPr/>
          </p:nvGrpSpPr>
          <p:grpSpPr>
            <a:xfrm>
              <a:off x="185" y="1604"/>
              <a:ext cx="449" cy="299"/>
              <a:chOff x="720" y="336"/>
              <a:chExt cx="624" cy="432"/>
            </a:xfrm>
          </p:grpSpPr>
          <p:sp>
            <p:nvSpPr>
              <p:cNvPr id="2053" name="Rectangle 4"/>
              <p:cNvSpPr/>
              <p:nvPr/>
            </p:nvSpPr>
            <p:spPr>
              <a:xfrm>
                <a:off x="720" y="336"/>
                <a:ext cx="384" cy="432"/>
              </a:xfrm>
              <a:prstGeom prst="rect">
                <a:avLst/>
              </a:prstGeom>
              <a:solidFill>
                <a:schemeClr val="folHlink"/>
              </a:solidFill>
              <a:ln w="9525">
                <a:noFill/>
              </a:ln>
            </p:spPr>
            <p:txBody>
              <a:bodyPr wrap="none" anchor="ctr" anchorCtr="0"/>
              <a:p>
                <a:pPr lvl="0" algn="ctr" eaLnBrk="0" hangingPunct="0"/>
                <a:endParaRPr lang="zh-CN" altLang="en-US">
                  <a:latin typeface="Times New Roman" panose="02020503050405090304" pitchFamily="18" charset="0"/>
                </a:endParaRPr>
              </a:p>
            </p:txBody>
          </p:sp>
          <p:sp>
            <p:nvSpPr>
              <p:cNvPr id="2054" name="Rectangle 5"/>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eaLnBrk="0" hangingPunct="0"/>
                <a:endParaRPr lang="zh-CN" altLang="en-US">
                  <a:latin typeface="Times New Roman" panose="02020503050405090304" pitchFamily="18" charset="0"/>
                </a:endParaRPr>
              </a:p>
            </p:txBody>
          </p:sp>
        </p:grpSp>
        <p:grpSp>
          <p:nvGrpSpPr>
            <p:cNvPr id="2055" name="Group 6"/>
            <p:cNvGrpSpPr/>
            <p:nvPr/>
          </p:nvGrpSpPr>
          <p:grpSpPr>
            <a:xfrm>
              <a:off x="263" y="1870"/>
              <a:ext cx="466" cy="299"/>
              <a:chOff x="912" y="2640"/>
              <a:chExt cx="672" cy="432"/>
            </a:xfrm>
          </p:grpSpPr>
          <p:sp>
            <p:nvSpPr>
              <p:cNvPr id="2056" name="Rectangle 7"/>
              <p:cNvSpPr/>
              <p:nvPr/>
            </p:nvSpPr>
            <p:spPr>
              <a:xfrm>
                <a:off x="912" y="2640"/>
                <a:ext cx="384" cy="432"/>
              </a:xfrm>
              <a:prstGeom prst="rect">
                <a:avLst/>
              </a:prstGeom>
              <a:solidFill>
                <a:schemeClr val="accent2"/>
              </a:solidFill>
              <a:ln w="9525">
                <a:noFill/>
              </a:ln>
            </p:spPr>
            <p:txBody>
              <a:bodyPr wrap="none" anchor="ctr" anchorCtr="0"/>
              <a:p>
                <a:pPr lvl="0" algn="ctr" eaLnBrk="0" hangingPunct="0"/>
                <a:endParaRPr lang="zh-CN" altLang="en-US">
                  <a:latin typeface="Times New Roman" panose="02020503050405090304" pitchFamily="18" charset="0"/>
                </a:endParaRPr>
              </a:p>
            </p:txBody>
          </p:sp>
          <p:sp>
            <p:nvSpPr>
              <p:cNvPr id="2057" name="Rectangle 8"/>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wrap="none" anchor="ctr" anchorCtr="0"/>
              <a:p>
                <a:pPr lvl="0" algn="ctr" eaLnBrk="0" hangingPunct="0"/>
                <a:endParaRPr lang="zh-CN" altLang="en-US">
                  <a:latin typeface="Times New Roman" panose="02020503050405090304" pitchFamily="18" charset="0"/>
                </a:endParaRPr>
              </a:p>
            </p:txBody>
          </p:sp>
        </p:grpSp>
        <p:sp>
          <p:nvSpPr>
            <p:cNvPr id="2058" name="Rectangle 9"/>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wrap="none" anchor="ctr" anchorCtr="0"/>
            <a:p>
              <a:pPr lvl="0" algn="ctr" eaLnBrk="0" hangingPunct="0"/>
              <a:endParaRPr lang="zh-CN" altLang="en-US">
                <a:latin typeface="Times New Roman" panose="02020503050405090304" pitchFamily="18" charset="0"/>
              </a:endParaRPr>
            </a:p>
          </p:txBody>
        </p:sp>
        <p:sp>
          <p:nvSpPr>
            <p:cNvPr id="2059" name="Rectangle 10"/>
            <p:cNvSpPr/>
            <p:nvPr/>
          </p:nvSpPr>
          <p:spPr>
            <a:xfrm>
              <a:off x="400" y="1536"/>
              <a:ext cx="20" cy="663"/>
            </a:xfrm>
            <a:prstGeom prst="rect">
              <a:avLst/>
            </a:prstGeom>
            <a:solidFill>
              <a:schemeClr val="bg2"/>
            </a:solidFill>
            <a:ln w="9525">
              <a:noFill/>
            </a:ln>
          </p:spPr>
          <p:txBody>
            <a:bodyPr wrap="none" anchor="ctr" anchorCtr="0"/>
            <a:p>
              <a:pPr lvl="0" algn="ctr" eaLnBrk="0" hangingPunct="0"/>
              <a:endParaRPr lang="zh-CN" altLang="en-US">
                <a:latin typeface="Times New Roman" panose="02020503050405090304" pitchFamily="18" charset="0"/>
              </a:endParaRPr>
            </a:p>
          </p:txBody>
        </p:sp>
        <p:sp>
          <p:nvSpPr>
            <p:cNvPr id="2060" name="Rectangle 11"/>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wrap="none" anchor="ctr" anchorCtr="0"/>
            <a:p>
              <a:pPr lvl="0" algn="ctr" eaLnBrk="0" hangingPunct="0"/>
              <a:endParaRPr lang="zh-CN" altLang="en-US">
                <a:latin typeface="Times New Roman" panose="02020503050405090304" pitchFamily="18" charset="0"/>
              </a:endParaRPr>
            </a:p>
          </p:txBody>
        </p:sp>
      </p:grpSp>
      <p:sp>
        <p:nvSpPr>
          <p:cNvPr id="2061" name="Text Box 18"/>
          <p:cNvSpPr txBox="1"/>
          <p:nvPr userDrawn="1"/>
        </p:nvSpPr>
        <p:spPr>
          <a:xfrm>
            <a:off x="3563938" y="4581525"/>
            <a:ext cx="4640262" cy="1631950"/>
          </a:xfrm>
          <a:prstGeom prst="rect">
            <a:avLst/>
          </a:prstGeom>
          <a:noFill/>
          <a:ln w="9525">
            <a:noFill/>
          </a:ln>
        </p:spPr>
        <p:txBody>
          <a:bodyPr wrap="none" anchor="t" anchorCtr="0">
            <a:spAutoFit/>
          </a:bodyPr>
          <a:p>
            <a:pPr lvl="0" algn="r" eaLnBrk="1" hangingPunct="1">
              <a:spcBef>
                <a:spcPct val="20000"/>
              </a:spcBef>
              <a:buClr>
                <a:schemeClr val="folHlink"/>
              </a:buClr>
              <a:buSzPct val="60000"/>
              <a:buFont typeface="Wingdings" panose="05000000000000000000" pitchFamily="2" charset="2"/>
              <a:buNone/>
            </a:pPr>
            <a:r>
              <a:rPr lang="en-US" altLang="zh-CN" b="0" i="0" u="none">
                <a:solidFill>
                  <a:schemeClr val="folHlink"/>
                </a:solidFill>
                <a:latin typeface="Copperplate Gothic Light" pitchFamily="34" charset="0"/>
              </a:rPr>
              <a:t>Yang Juan</a:t>
            </a:r>
            <a:endParaRPr lang="en-US" altLang="zh-CN" b="0" i="0" u="none">
              <a:solidFill>
                <a:schemeClr val="folHlink"/>
              </a:solidFill>
              <a:latin typeface="Copperplate Gothic Light" pitchFamily="34" charset="0"/>
            </a:endParaRPr>
          </a:p>
          <a:p>
            <a:pPr lvl="0" algn="r" eaLnBrk="1" hangingPunct="1">
              <a:spcBef>
                <a:spcPct val="20000"/>
              </a:spcBef>
              <a:buClr>
                <a:schemeClr val="folHlink"/>
              </a:buClr>
              <a:buSzPct val="60000"/>
              <a:buFont typeface="Wingdings" panose="05000000000000000000" pitchFamily="2" charset="2"/>
              <a:buNone/>
            </a:pPr>
            <a:r>
              <a:rPr lang="en-US" altLang="zh-CN" sz="1600" b="0" i="0" u="none">
                <a:solidFill>
                  <a:srgbClr val="009999"/>
                </a:solidFill>
                <a:latin typeface="Times New Roman" panose="02020503050405090304" pitchFamily="18" charset="0"/>
              </a:rPr>
              <a:t>jyang@tseg.org</a:t>
            </a:r>
            <a:endParaRPr lang="en-US" altLang="zh-CN" sz="1600" b="0" i="0" u="none">
              <a:solidFill>
                <a:srgbClr val="009999"/>
              </a:solidFill>
              <a:latin typeface="Times New Roman" panose="02020503050405090304" pitchFamily="18" charset="0"/>
            </a:endParaRPr>
          </a:p>
          <a:p>
            <a:pPr lvl="0" algn="r" eaLnBrk="1" hangingPunct="1">
              <a:spcBef>
                <a:spcPct val="20000"/>
              </a:spcBef>
              <a:buClr>
                <a:schemeClr val="folHlink"/>
              </a:buClr>
              <a:buSzPct val="60000"/>
              <a:buFont typeface="Wingdings" panose="05000000000000000000" pitchFamily="2" charset="2"/>
              <a:buNone/>
            </a:pPr>
            <a:endParaRPr lang="en-US" altLang="zh-CN" sz="1600" b="0" i="0" u="none">
              <a:solidFill>
                <a:srgbClr val="009999"/>
              </a:solidFill>
              <a:latin typeface="Tahoma" panose="020B0604030504040204" pitchFamily="34" charset="0"/>
            </a:endParaRPr>
          </a:p>
          <a:p>
            <a:pPr lvl="0" algn="r" eaLnBrk="1" hangingPunct="1">
              <a:spcBef>
                <a:spcPct val="20000"/>
              </a:spcBef>
              <a:buClr>
                <a:schemeClr val="folHlink"/>
              </a:buClr>
              <a:buSzPct val="60000"/>
              <a:buFont typeface="Wingdings" panose="05000000000000000000" pitchFamily="2" charset="2"/>
              <a:buNone/>
            </a:pPr>
            <a:r>
              <a:rPr lang="en-US" altLang="zh-CN" sz="1600" b="0" i="0" u="none">
                <a:solidFill>
                  <a:srgbClr val="009999"/>
                </a:solidFill>
                <a:latin typeface="Copperplate Gothic Light" pitchFamily="34" charset="0"/>
              </a:rPr>
              <a:t>College of Computer Science &amp; Technology</a:t>
            </a:r>
            <a:endParaRPr lang="en-US" altLang="zh-CN" sz="1600" b="0" i="0" u="none">
              <a:solidFill>
                <a:srgbClr val="009999"/>
              </a:solidFill>
              <a:latin typeface="Copperplate Gothic Light" pitchFamily="34" charset="0"/>
            </a:endParaRPr>
          </a:p>
          <a:p>
            <a:pPr lvl="0" algn="r" eaLnBrk="1" hangingPunct="1">
              <a:spcBef>
                <a:spcPct val="20000"/>
              </a:spcBef>
              <a:buClr>
                <a:schemeClr val="folHlink"/>
              </a:buClr>
              <a:buSzPct val="60000"/>
              <a:buFont typeface="Wingdings" panose="05000000000000000000" pitchFamily="2" charset="2"/>
              <a:buNone/>
            </a:pPr>
            <a:r>
              <a:rPr lang="en-US" altLang="zh-CN" sz="1600" b="0" i="0" u="none">
                <a:solidFill>
                  <a:srgbClr val="009999"/>
                </a:solidFill>
                <a:latin typeface="Copperplate Gothic Light" pitchFamily="34" charset="0"/>
              </a:rPr>
              <a:t>Beijing University of Posts &amp; Telecommunications</a:t>
            </a:r>
            <a:endParaRPr lang="zh-CN" altLang="en-US" sz="1600" b="0" i="0" u="none">
              <a:latin typeface="Times New Roman" panose="02020503050405090304" pitchFamily="18" charset="0"/>
            </a:endParaRPr>
          </a:p>
        </p:txBody>
      </p:sp>
      <p:sp>
        <p:nvSpPr>
          <p:cNvPr id="153612" name="Rectangle 12"/>
          <p:cNvSpPr>
            <a:spLocks noGrp="1" noChangeArrowheads="1"/>
          </p:cNvSpPr>
          <p:nvPr>
            <p:ph type="ctrTitle"/>
          </p:nvPr>
        </p:nvSpPr>
        <p:spPr>
          <a:xfrm>
            <a:off x="990600" y="1828800"/>
            <a:ext cx="7772400" cy="1143000"/>
          </a:xfrm>
        </p:spPr>
        <p:txBody>
          <a:bodyPr/>
          <a:lstStyle>
            <a:lvl1pPr>
              <a:defRPr>
                <a:latin typeface="Copperplate Gothic Bold" pitchFamily="34" charset="0"/>
              </a:defRPr>
            </a:lvl1pPr>
          </a:lstStyle>
          <a:p>
            <a:pPr fontAlgn="base"/>
            <a:r>
              <a:rPr lang="zh-CN" altLang="en-US" strike="noStrike" noProof="1"/>
              <a:t>单击此处编辑母版标题样式</a:t>
            </a:r>
            <a:endParaRPr lang="zh-CN" altLang="en-US" strike="noStrike" noProof="1"/>
          </a:p>
        </p:txBody>
      </p:sp>
      <p:sp>
        <p:nvSpPr>
          <p:cNvPr id="153613"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fontAlgn="base"/>
            <a:r>
              <a:rPr lang="zh-CN" altLang="en-US" strike="noStrike" noProof="1"/>
              <a:t>单击此处编辑母版副标题样式</a:t>
            </a:r>
            <a:endParaRPr lang="zh-CN" altLang="en-US" strike="noStrike" noProof="1"/>
          </a:p>
        </p:txBody>
      </p:sp>
      <p:sp>
        <p:nvSpPr>
          <p:cNvPr id="16" name="Rectangle 14"/>
          <p:cNvSpPr>
            <a:spLocks noGrp="1" noChangeArrowheads="1"/>
          </p:cNvSpPr>
          <p:nvPr>
            <p:ph type="dt" sz="half" idx="10"/>
          </p:nvPr>
        </p:nvSpPr>
        <p:spPr>
          <a:xfrm>
            <a:off x="9906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b="0" i="0">
                <a:solidFill>
                  <a:schemeClr val="bg2"/>
                </a:solidFill>
                <a:latin typeface="+mn-lt"/>
              </a:defRPr>
            </a:lvl1pPr>
          </a:lstStyle>
          <a:p>
            <a:pPr fontAlgn="base">
              <a:defRPr/>
            </a:pPr>
            <a:fld id="{FA3A08FB-62F8-4439-8B71-1F19C344B713}" type="datetime1">
              <a:rPr lang="zh-CN" altLang="en-US" strike="noStrike" noProof="1">
                <a:latin typeface="+mn-lt"/>
                <a:ea typeface="宋体" pitchFamily="2" charset="-122"/>
                <a:cs typeface="+mn-cs"/>
              </a:rPr>
            </a:fld>
            <a:endParaRPr lang="en-US" altLang="zh-CN" strike="noStrike" noProof="1"/>
          </a:p>
        </p:txBody>
      </p:sp>
      <p:sp>
        <p:nvSpPr>
          <p:cNvPr id="17" name="Rectangle 15"/>
          <p:cNvSpPr>
            <a:spLocks noGrp="1" noChangeArrowheads="1"/>
          </p:cNvSpPr>
          <p:nvPr>
            <p:ph type="ftr" sz="quarter" idx="11"/>
          </p:nvPr>
        </p:nvSpPr>
        <p:spPr>
          <a:xfrm>
            <a:off x="3429000" y="6248400"/>
            <a:ext cx="28956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defRPr kumimoji="0" sz="1400" b="0" i="0">
                <a:solidFill>
                  <a:schemeClr val="bg2"/>
                </a:solidFill>
                <a:latin typeface="+mn-lt"/>
              </a:defRPr>
            </a:lvl1pPr>
          </a:lstStyle>
          <a:p>
            <a:pPr fontAlgn="base">
              <a:defRPr/>
            </a:pPr>
            <a:endParaRPr lang="en-US" altLang="zh-CN" strike="noStrike" noProof="1"/>
          </a:p>
        </p:txBody>
      </p:sp>
      <p:sp>
        <p:nvSpPr>
          <p:cNvPr id="18" name="Rectangle 16"/>
          <p:cNvSpPr>
            <a:spLocks noGrp="1" noChangeArrowheads="1"/>
          </p:cNvSpPr>
          <p:nvPr>
            <p:ph type="sldNum" sz="quarter" idx="12"/>
          </p:nvPr>
        </p:nvSpPr>
        <p:spPr>
          <a:xfrm>
            <a:off x="68580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fontAlgn="base">
              <a:defRPr/>
            </a:pPr>
            <a:fld id="{36B9D3F7-3108-4833-AA9E-B3BE29F4B4C8}" type="slidenum">
              <a:rPr lang="zh-CN" altLang="en-US" strike="noStrike" noProof="1">
                <a:latin typeface="Tahoma" panose="020B0604030504040204" pitchFamily="34" charset="0"/>
                <a:ea typeface="宋体" pitchFamily="2" charset="-122"/>
                <a:cs typeface="+mn-cs"/>
              </a:rPr>
            </a:fld>
            <a:endParaRPr lang="en-US" altLang="zh-CN"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5" name="日期占位符 4"/>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页脚占位符 5"/>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5" name="日期占位符 4"/>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页脚占位符 5"/>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84213" y="1268413"/>
            <a:ext cx="4059237" cy="4864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895850" y="1268413"/>
            <a:ext cx="4059238" cy="4864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日期占位符 5"/>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7" name="页脚占位符 6"/>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8" name="日期占位符 7"/>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9" name="页脚占位符 8"/>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4" name="日期占位符 3"/>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5" name="页脚占位符 4"/>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3" name="日期占位符 2"/>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4" name="页脚占位符 3"/>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日期占位符 5"/>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7" name="页脚占位符 6"/>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fontAlgn="base"/>
            <a:endParaRPr lang="zh-CN" altLang="en-US" strike="noStrike"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日期占位符 5"/>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7" name="页脚占位符 6"/>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5" name="日期占位符 4"/>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页脚占位符 5"/>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88163" y="0"/>
            <a:ext cx="2066925" cy="6132513"/>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84213" y="0"/>
            <a:ext cx="6051550" cy="6132513"/>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5" name="日期占位符 4"/>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页脚占位符 5"/>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023938" y="0"/>
            <a:ext cx="7793037" cy="11430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84213" y="1268413"/>
            <a:ext cx="4059237" cy="48641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895850" y="1268413"/>
            <a:ext cx="4059238" cy="48641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6" name="日期占位符 5"/>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7" name="页脚占位符 6"/>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023938" y="0"/>
            <a:ext cx="7793037" cy="11430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84213" y="1268413"/>
            <a:ext cx="4059237" cy="48641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quarter" idx="2"/>
          </p:nvPr>
        </p:nvSpPr>
        <p:spPr>
          <a:xfrm>
            <a:off x="4895850" y="1268413"/>
            <a:ext cx="4059238" cy="235585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a:spLocks noGrp="1"/>
          </p:cNvSpPr>
          <p:nvPr>
            <p:ph sz="quarter" idx="3"/>
          </p:nvPr>
        </p:nvSpPr>
        <p:spPr>
          <a:xfrm>
            <a:off x="4895850" y="3776663"/>
            <a:ext cx="4059238" cy="235585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6" name="灯片编号占位符 5"/>
          <p:cNvSpPr>
            <a:spLocks noGrp="1"/>
          </p:cNvSpPr>
          <p:nvPr>
            <p:ph type="sldNum" sz="quarter" idx="10"/>
          </p:nvPr>
        </p:nvSpPr>
        <p:spPr/>
        <p:txBody>
          <a:bodyPr/>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7" name="日期占位符 6"/>
          <p:cNvSpPr>
            <a:spLocks noGrp="1"/>
          </p:cNvSpPr>
          <p:nvPr>
            <p:ph type="dt" sz="half" idx="11"/>
          </p:nvPr>
        </p:nvSpPr>
        <p:spPr/>
        <p:txBody>
          <a:bodyPr/>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8" name="页脚占位符 7"/>
          <p:cNvSpPr>
            <a:spLocks noGrp="1"/>
          </p:cNvSpPr>
          <p:nvPr>
            <p:ph type="ftr" sz="quarter" idx="12"/>
          </p:nvPr>
        </p:nvSpPr>
        <p:spPr/>
        <p:txBody>
          <a:bodyPr/>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5" Type="http://schemas.openxmlformats.org/officeDocument/2006/relationships/theme" Target="../theme/theme2.xml"/><Relationship Id="rId14" Type="http://schemas.openxmlformats.org/officeDocument/2006/relationships/image" Target="../media/image1.pn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8" descr="attach"/>
          <p:cNvPicPr>
            <a:picLocks noChangeAspect="1"/>
          </p:cNvPicPr>
          <p:nvPr userDrawn="1"/>
        </p:nvPicPr>
        <p:blipFill>
          <a:blip r:embed="rId14"/>
          <a:stretch>
            <a:fillRect/>
          </a:stretch>
        </p:blipFill>
        <p:spPr>
          <a:xfrm>
            <a:off x="1752600" y="533400"/>
            <a:ext cx="5905500" cy="5905500"/>
          </a:xfrm>
          <a:prstGeom prst="rect">
            <a:avLst/>
          </a:prstGeom>
          <a:noFill/>
          <a:ln w="9525">
            <a:noFill/>
          </a:ln>
        </p:spPr>
      </p:pic>
      <p:sp>
        <p:nvSpPr>
          <p:cNvPr id="152592" name="Rectangle 16"/>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u="none">
                <a:solidFill>
                  <a:srgbClr val="009999"/>
                </a:solidFill>
                <a:latin typeface="Arial Narrow" panose="020B0606020202030204" pitchFamily="34" charset="0"/>
              </a:defRPr>
            </a:lvl1pPr>
          </a:lstStyle>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1028" name="Rectangle 2"/>
          <p:cNvSpPr/>
          <p:nvPr/>
        </p:nvSpPr>
        <p:spPr>
          <a:xfrm>
            <a:off x="290513" y="481013"/>
            <a:ext cx="438150" cy="474662"/>
          </a:xfrm>
          <a:prstGeom prst="rect">
            <a:avLst/>
          </a:prstGeom>
          <a:solidFill>
            <a:schemeClr val="accent2"/>
          </a:soli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29" name="Rectangle 3"/>
          <p:cNvSpPr/>
          <p:nvPr/>
        </p:nvSpPr>
        <p:spPr>
          <a:xfrm>
            <a:off x="673100" y="481013"/>
            <a:ext cx="328613" cy="474662"/>
          </a:xfrm>
          <a:prstGeom prst="rect">
            <a:avLst/>
          </a:prstGeom>
          <a:gradFill rotWithShape="0">
            <a:gsLst>
              <a:gs pos="0">
                <a:schemeClr val="accent2"/>
              </a:gs>
              <a:gs pos="100000">
                <a:schemeClr val="bg1"/>
              </a:gs>
            </a:gsLst>
            <a:lin ang="0" scaled="1"/>
            <a:tileRect/>
          </a:gra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30" name="Rectangle 4"/>
          <p:cNvSpPr/>
          <p:nvPr/>
        </p:nvSpPr>
        <p:spPr>
          <a:xfrm>
            <a:off x="414338" y="903288"/>
            <a:ext cx="422275" cy="474662"/>
          </a:xfrm>
          <a:prstGeom prst="rect">
            <a:avLst/>
          </a:prstGeom>
          <a:solidFill>
            <a:schemeClr val="folHlink"/>
          </a:soli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31" name="Rectangle 5"/>
          <p:cNvSpPr/>
          <p:nvPr/>
        </p:nvSpPr>
        <p:spPr>
          <a:xfrm>
            <a:off x="784225" y="903288"/>
            <a:ext cx="368300" cy="474662"/>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32" name="Rectangle 6"/>
          <p:cNvSpPr/>
          <p:nvPr/>
        </p:nvSpPr>
        <p:spPr>
          <a:xfrm>
            <a:off x="0" y="830263"/>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33" name="Rectangle 7"/>
          <p:cNvSpPr/>
          <p:nvPr/>
        </p:nvSpPr>
        <p:spPr>
          <a:xfrm>
            <a:off x="635000" y="373063"/>
            <a:ext cx="31750" cy="1052512"/>
          </a:xfrm>
          <a:prstGeom prst="rect">
            <a:avLst/>
          </a:prstGeom>
          <a:solidFill>
            <a:schemeClr val="bg2"/>
          </a:soli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34" name="Rectangle 8"/>
          <p:cNvSpPr/>
          <p:nvPr/>
        </p:nvSpPr>
        <p:spPr>
          <a:xfrm>
            <a:off x="315913" y="1163638"/>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35" name="Rectangle 9"/>
          <p:cNvSpPr>
            <a:spLocks noGrp="1"/>
          </p:cNvSpPr>
          <p:nvPr>
            <p:ph type="title"/>
          </p:nvPr>
        </p:nvSpPr>
        <p:spPr>
          <a:xfrm>
            <a:off x="1023938" y="0"/>
            <a:ext cx="7793037" cy="1143000"/>
          </a:xfrm>
          <a:prstGeom prst="rect">
            <a:avLst/>
          </a:prstGeom>
          <a:noFill/>
          <a:ln w="9525">
            <a:noFill/>
          </a:ln>
        </p:spPr>
        <p:txBody>
          <a:bodyPr vert="horz" wrap="square" lIns="91440" tIns="45720" rIns="91440" bIns="45720" anchor="b" anchorCtr="0"/>
          <a:p>
            <a:pPr lvl="0"/>
            <a:r>
              <a:rPr lang="zh-CN" altLang="en-US"/>
              <a:t>单击此处编辑母版标题样式</a:t>
            </a:r>
            <a:endParaRPr lang="zh-CN" altLang="en-US"/>
          </a:p>
        </p:txBody>
      </p:sp>
      <p:sp>
        <p:nvSpPr>
          <p:cNvPr id="1036" name="Rectangle 10"/>
          <p:cNvSpPr>
            <a:spLocks noGrp="1"/>
          </p:cNvSpPr>
          <p:nvPr>
            <p:ph type="body"/>
          </p:nvPr>
        </p:nvSpPr>
        <p:spPr>
          <a:xfrm>
            <a:off x="684213" y="1268413"/>
            <a:ext cx="8270875" cy="4864100"/>
          </a:xfrm>
          <a:prstGeom prst="rect">
            <a:avLst/>
          </a:prstGeom>
          <a:noFill/>
          <a:ln w="9525">
            <a:noFill/>
          </a:ln>
        </p:spPr>
        <p:txBody>
          <a:bodyPr vert="horz" wrap="square"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52590" name="Rectangle 14"/>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kumimoji="0" sz="1000" u="none">
                <a:solidFill>
                  <a:srgbClr val="009999"/>
                </a:solidFill>
                <a:latin typeface="Arial Narrow" panose="020B0606020202030204" pitchFamily="34" charset="0"/>
              </a:defRPr>
            </a:lvl1pPr>
          </a:lstStyle>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152591" name="Rectangle 15"/>
          <p:cNvSpPr>
            <a:spLocks noGrp="1" noChangeArrowheads="1"/>
          </p:cNvSpPr>
          <p:nvPr>
            <p:ph type="ftr" sz="quarter" idx="3"/>
          </p:nvPr>
        </p:nvSpPr>
        <p:spPr bwMode="auto">
          <a:xfrm>
            <a:off x="1447800" y="6400800"/>
            <a:ext cx="629285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defRPr sz="1200" u="none">
                <a:solidFill>
                  <a:srgbClr val="009999"/>
                </a:solidFill>
                <a:latin typeface="Arial Narrow" panose="020B0606020202030204" pitchFamily="34" charset="0"/>
              </a:defRPr>
            </a:lvl1pPr>
          </a:lstStyle>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Copperplate Gothic Light" pitchFamily="34" charset="0"/>
          <a:ea typeface="宋体" pitchFamily="2" charset="-122"/>
        </a:defRPr>
      </a:lvl2pPr>
      <a:lvl3pPr algn="l" rtl="0" eaLnBrk="0" fontAlgn="base" hangingPunct="0">
        <a:spcBef>
          <a:spcPct val="0"/>
        </a:spcBef>
        <a:spcAft>
          <a:spcPct val="0"/>
        </a:spcAft>
        <a:defRPr kumimoji="1" sz="4400">
          <a:solidFill>
            <a:schemeClr val="tx2"/>
          </a:solidFill>
          <a:latin typeface="Copperplate Gothic Light" pitchFamily="34" charset="0"/>
          <a:ea typeface="宋体" pitchFamily="2" charset="-122"/>
        </a:defRPr>
      </a:lvl3pPr>
      <a:lvl4pPr algn="l" rtl="0" eaLnBrk="0" fontAlgn="base" hangingPunct="0">
        <a:spcBef>
          <a:spcPct val="0"/>
        </a:spcBef>
        <a:spcAft>
          <a:spcPct val="0"/>
        </a:spcAft>
        <a:defRPr kumimoji="1" sz="4400">
          <a:solidFill>
            <a:schemeClr val="tx2"/>
          </a:solidFill>
          <a:latin typeface="Copperplate Gothic Light" pitchFamily="34" charset="0"/>
          <a:ea typeface="宋体" pitchFamily="2" charset="-122"/>
        </a:defRPr>
      </a:lvl4pPr>
      <a:lvl5pPr algn="l" rtl="0" eaLnBrk="0" fontAlgn="base" hangingPunct="0">
        <a:spcBef>
          <a:spcPct val="0"/>
        </a:spcBef>
        <a:spcAft>
          <a:spcPct val="0"/>
        </a:spcAft>
        <a:defRPr kumimoji="1" sz="4400">
          <a:solidFill>
            <a:schemeClr val="tx2"/>
          </a:solidFill>
          <a:latin typeface="Copperplate Gothic Light"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8" descr="attach"/>
          <p:cNvPicPr>
            <a:picLocks noChangeAspect="1"/>
          </p:cNvPicPr>
          <p:nvPr userDrawn="1"/>
        </p:nvPicPr>
        <p:blipFill>
          <a:blip r:embed="rId14"/>
          <a:stretch>
            <a:fillRect/>
          </a:stretch>
        </p:blipFill>
        <p:spPr>
          <a:xfrm>
            <a:off x="1752600" y="533400"/>
            <a:ext cx="5905500" cy="5905500"/>
          </a:xfrm>
          <a:prstGeom prst="rect">
            <a:avLst/>
          </a:prstGeom>
          <a:noFill/>
          <a:ln w="9525">
            <a:noFill/>
          </a:ln>
        </p:spPr>
      </p:pic>
      <p:sp>
        <p:nvSpPr>
          <p:cNvPr id="152592" name="Rectangle 16"/>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u="none">
                <a:solidFill>
                  <a:srgbClr val="009999"/>
                </a:solidFill>
                <a:latin typeface="Arial Narrow" panose="020B0606020202030204" pitchFamily="34" charset="0"/>
              </a:defRPr>
            </a:lvl1pPr>
          </a:lstStyle>
          <a:p>
            <a:pPr fontAlgn="base">
              <a:defRPr/>
            </a:pPr>
            <a:fld id="{72423007-391D-4120-AE2C-FBE1911C4F8E}" type="slidenum">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1028" name="Rectangle 2"/>
          <p:cNvSpPr/>
          <p:nvPr/>
        </p:nvSpPr>
        <p:spPr>
          <a:xfrm>
            <a:off x="290513" y="481013"/>
            <a:ext cx="438150" cy="474662"/>
          </a:xfrm>
          <a:prstGeom prst="rect">
            <a:avLst/>
          </a:prstGeom>
          <a:solidFill>
            <a:schemeClr val="accent2"/>
          </a:soli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29" name="Rectangle 3"/>
          <p:cNvSpPr/>
          <p:nvPr/>
        </p:nvSpPr>
        <p:spPr>
          <a:xfrm>
            <a:off x="673100" y="481013"/>
            <a:ext cx="328613" cy="474662"/>
          </a:xfrm>
          <a:prstGeom prst="rect">
            <a:avLst/>
          </a:prstGeom>
          <a:gradFill rotWithShape="0">
            <a:gsLst>
              <a:gs pos="0">
                <a:schemeClr val="accent2"/>
              </a:gs>
              <a:gs pos="100000">
                <a:schemeClr val="bg1"/>
              </a:gs>
            </a:gsLst>
            <a:lin ang="0" scaled="1"/>
            <a:tileRect/>
          </a:gra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30" name="Rectangle 4"/>
          <p:cNvSpPr/>
          <p:nvPr/>
        </p:nvSpPr>
        <p:spPr>
          <a:xfrm>
            <a:off x="414338" y="903288"/>
            <a:ext cx="422275" cy="474662"/>
          </a:xfrm>
          <a:prstGeom prst="rect">
            <a:avLst/>
          </a:prstGeom>
          <a:solidFill>
            <a:schemeClr val="folHlink"/>
          </a:soli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31" name="Rectangle 5"/>
          <p:cNvSpPr/>
          <p:nvPr/>
        </p:nvSpPr>
        <p:spPr>
          <a:xfrm>
            <a:off x="784225" y="903288"/>
            <a:ext cx="368300" cy="474662"/>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32" name="Rectangle 6"/>
          <p:cNvSpPr/>
          <p:nvPr/>
        </p:nvSpPr>
        <p:spPr>
          <a:xfrm>
            <a:off x="0" y="830263"/>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33" name="Rectangle 7"/>
          <p:cNvSpPr/>
          <p:nvPr/>
        </p:nvSpPr>
        <p:spPr>
          <a:xfrm>
            <a:off x="635000" y="373063"/>
            <a:ext cx="31750" cy="1052512"/>
          </a:xfrm>
          <a:prstGeom prst="rect">
            <a:avLst/>
          </a:prstGeom>
          <a:solidFill>
            <a:schemeClr val="bg2"/>
          </a:soli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34" name="Rectangle 8"/>
          <p:cNvSpPr/>
          <p:nvPr/>
        </p:nvSpPr>
        <p:spPr>
          <a:xfrm>
            <a:off x="315913" y="1163638"/>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p>
            <a:pPr lvl="0" algn="ctr" eaLnBrk="1" hangingPunct="1"/>
            <a:endParaRPr lang="zh-CN" altLang="en-US" b="0" i="0" u="none">
              <a:latin typeface="Tahoma" panose="020B0604030504040204" pitchFamily="34" charset="0"/>
            </a:endParaRPr>
          </a:p>
        </p:txBody>
      </p:sp>
      <p:sp>
        <p:nvSpPr>
          <p:cNvPr id="1035" name="Rectangle 9"/>
          <p:cNvSpPr>
            <a:spLocks noGrp="1"/>
          </p:cNvSpPr>
          <p:nvPr>
            <p:ph type="title"/>
          </p:nvPr>
        </p:nvSpPr>
        <p:spPr>
          <a:xfrm>
            <a:off x="1023938" y="0"/>
            <a:ext cx="7793037" cy="1143000"/>
          </a:xfrm>
          <a:prstGeom prst="rect">
            <a:avLst/>
          </a:prstGeom>
          <a:noFill/>
          <a:ln w="9525">
            <a:noFill/>
          </a:ln>
        </p:spPr>
        <p:txBody>
          <a:bodyPr vert="horz" wrap="square" lIns="91440" tIns="45720" rIns="91440" bIns="45720" anchor="b" anchorCtr="0"/>
          <a:p>
            <a:pPr lvl="0"/>
            <a:r>
              <a:rPr lang="zh-CN" altLang="en-US"/>
              <a:t>单击此处编辑母版标题样式</a:t>
            </a:r>
            <a:endParaRPr lang="zh-CN" altLang="en-US"/>
          </a:p>
        </p:txBody>
      </p:sp>
      <p:sp>
        <p:nvSpPr>
          <p:cNvPr id="1036" name="Rectangle 10"/>
          <p:cNvSpPr>
            <a:spLocks noGrp="1"/>
          </p:cNvSpPr>
          <p:nvPr>
            <p:ph type="body"/>
          </p:nvPr>
        </p:nvSpPr>
        <p:spPr>
          <a:xfrm>
            <a:off x="684213" y="1268413"/>
            <a:ext cx="8270875" cy="4864100"/>
          </a:xfrm>
          <a:prstGeom prst="rect">
            <a:avLst/>
          </a:prstGeom>
          <a:noFill/>
          <a:ln w="9525">
            <a:noFill/>
          </a:ln>
        </p:spPr>
        <p:txBody>
          <a:bodyPr vert="horz" wrap="square"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52590" name="Rectangle 14"/>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kumimoji="0" sz="1000" u="none">
                <a:solidFill>
                  <a:srgbClr val="009999"/>
                </a:solidFill>
                <a:latin typeface="Arial Narrow" panose="020B0606020202030204" pitchFamily="34" charset="0"/>
              </a:defRPr>
            </a:lvl1pPr>
          </a:lstStyle>
          <a:p>
            <a:pPr fontAlgn="base">
              <a:defRPr/>
            </a:pPr>
            <a:fld id="{A57007D3-3714-4332-A01A-EF7DB55D6DF1}" type="datetime1">
              <a:rPr lang="zh-CN" altLang="en-US" strike="noStrike" noProof="1">
                <a:latin typeface="Arial Narrow" panose="020B0606020202030204" pitchFamily="34" charset="0"/>
                <a:ea typeface="宋体" pitchFamily="2" charset="-122"/>
                <a:cs typeface="+mn-cs"/>
              </a:rPr>
            </a:fld>
            <a:endParaRPr lang="en-US" altLang="zh-CN" strike="noStrike" noProof="1"/>
          </a:p>
        </p:txBody>
      </p:sp>
      <p:sp>
        <p:nvSpPr>
          <p:cNvPr id="152591" name="Rectangle 15"/>
          <p:cNvSpPr>
            <a:spLocks noGrp="1" noChangeArrowheads="1"/>
          </p:cNvSpPr>
          <p:nvPr>
            <p:ph type="ftr" sz="quarter" idx="3"/>
          </p:nvPr>
        </p:nvSpPr>
        <p:spPr bwMode="auto">
          <a:xfrm>
            <a:off x="1447800" y="6400800"/>
            <a:ext cx="629285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defRPr sz="1200" u="none">
                <a:solidFill>
                  <a:srgbClr val="009999"/>
                </a:solidFill>
                <a:latin typeface="Arial Narrow" panose="020B0606020202030204" pitchFamily="34" charset="0"/>
              </a:defRPr>
            </a:lvl1pPr>
          </a:lstStyle>
          <a:p>
            <a:pPr fontAlgn="base">
              <a:defRPr/>
            </a:pPr>
            <a:r>
              <a:rPr lang="en-US" altLang="zh-CN" strike="noStrike" noProof="1">
                <a:latin typeface="Arial Narrow" panose="020B0606020202030204" pitchFamily="34" charset="0"/>
                <a:ea typeface="宋体" pitchFamily="2" charset="-122"/>
                <a:cs typeface="+mn-cs"/>
              </a:rPr>
              <a:t>College of Computer Science &amp; Technology, BUPT</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Copperplate Gothic Light" pitchFamily="34" charset="0"/>
          <a:ea typeface="宋体" pitchFamily="2" charset="-122"/>
        </a:defRPr>
      </a:lvl2pPr>
      <a:lvl3pPr algn="l" rtl="0" eaLnBrk="0" fontAlgn="base" hangingPunct="0">
        <a:spcBef>
          <a:spcPct val="0"/>
        </a:spcBef>
        <a:spcAft>
          <a:spcPct val="0"/>
        </a:spcAft>
        <a:defRPr kumimoji="1" sz="4400">
          <a:solidFill>
            <a:schemeClr val="tx2"/>
          </a:solidFill>
          <a:latin typeface="Copperplate Gothic Light" pitchFamily="34" charset="0"/>
          <a:ea typeface="宋体" pitchFamily="2" charset="-122"/>
        </a:defRPr>
      </a:lvl3pPr>
      <a:lvl4pPr algn="l" rtl="0" eaLnBrk="0" fontAlgn="base" hangingPunct="0">
        <a:spcBef>
          <a:spcPct val="0"/>
        </a:spcBef>
        <a:spcAft>
          <a:spcPct val="0"/>
        </a:spcAft>
        <a:defRPr kumimoji="1" sz="4400">
          <a:solidFill>
            <a:schemeClr val="tx2"/>
          </a:solidFill>
          <a:latin typeface="Copperplate Gothic Light" pitchFamily="34" charset="0"/>
          <a:ea typeface="宋体" pitchFamily="2" charset="-122"/>
        </a:defRPr>
      </a:lvl4pPr>
      <a:lvl5pPr algn="l" rtl="0" eaLnBrk="0" fontAlgn="base" hangingPunct="0">
        <a:spcBef>
          <a:spcPct val="0"/>
        </a:spcBef>
        <a:spcAft>
          <a:spcPct val="0"/>
        </a:spcAft>
        <a:defRPr kumimoji="1" sz="4400">
          <a:solidFill>
            <a:schemeClr val="tx2"/>
          </a:solidFill>
          <a:latin typeface="Copperplate Gothic Light"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tags" Target="../tags/tag2.xml"/><Relationship Id="rId2" Type="http://schemas.openxmlformats.org/officeDocument/2006/relationships/image" Target="../media/image2.png"/><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4.w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Title 1"/>
          <p:cNvSpPr>
            <a:spLocks noGrp="1"/>
          </p:cNvSpPr>
          <p:nvPr>
            <p:ph type="ctrTitle"/>
          </p:nvPr>
        </p:nvSpPr>
        <p:spPr>
          <a:ln/>
        </p:spPr>
        <p:txBody>
          <a:bodyPr vert="horz" wrap="square" lIns="91440" tIns="45720" rIns="91440" bIns="45720" anchor="b" anchorCtr="0"/>
          <a:p>
            <a:pPr>
              <a:buClrTx/>
              <a:buSzTx/>
              <a:buFontTx/>
            </a:pPr>
            <a:r>
              <a:rPr kumimoji="1" lang="en-US" altLang="zh-CN">
                <a:latin typeface="Copperplate Gothic Bold" pitchFamily="34" charset="0"/>
                <a:ea typeface="+mj-ea"/>
                <a:cs typeface="+mj-cs"/>
              </a:rPr>
              <a:t>Applications of  Congruences</a:t>
            </a:r>
            <a:endParaRPr kumimoji="1" lang="en-US" altLang="zh-CN">
              <a:latin typeface="Copperplate Gothic Bold" pitchFamily="34" charset="0"/>
              <a:ea typeface="+mj-ea"/>
              <a:cs typeface="+mj-cs"/>
            </a:endParaRPr>
          </a:p>
        </p:txBody>
      </p:sp>
      <p:sp>
        <p:nvSpPr>
          <p:cNvPr id="25603" name="副标题 2"/>
          <p:cNvSpPr>
            <a:spLocks noGrp="1" noChangeArrowheads="1"/>
          </p:cNvSpPr>
          <p:nvPr>
            <p:ph type="subTitle" idx="1"/>
          </p:nvPr>
        </p:nvSpPr>
        <p:spPr/>
        <p:txBody>
          <a:bodyPr/>
          <a:lstStyle/>
          <a:p>
            <a:pPr fontAlgn="base"/>
            <a:endParaRPr lang="zh-CN" altLang="en-US" strike="noStrike" noProof="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itle 1"/>
          <p:cNvSpPr>
            <a:spLocks noGrp="1"/>
          </p:cNvSpPr>
          <p:nvPr>
            <p:ph type="title"/>
          </p:nvPr>
        </p:nvSpPr>
        <p:spPr>
          <a:ln/>
        </p:spPr>
        <p:txBody>
          <a:bodyPr vert="horz" wrap="square" lIns="91440" tIns="45720" rIns="91440" bIns="45720" anchor="b" anchorCtr="0"/>
          <a:p>
            <a:r>
              <a:rPr lang="en-US" altLang="zh-CN"/>
              <a:t>Section Summary</a:t>
            </a:r>
            <a:endParaRPr lang="en-US" altLang="zh-CN"/>
          </a:p>
        </p:txBody>
      </p:sp>
      <p:sp>
        <p:nvSpPr>
          <p:cNvPr id="6146" name="Content Placeholder 2"/>
          <p:cNvSpPr>
            <a:spLocks noGrp="1"/>
          </p:cNvSpPr>
          <p:nvPr>
            <p:ph idx="1"/>
          </p:nvPr>
        </p:nvSpPr>
        <p:spPr>
          <a:ln/>
        </p:spPr>
        <p:txBody>
          <a:bodyPr vert="horz" wrap="square" lIns="91440" tIns="45720" rIns="91440" bIns="45720" anchor="t" anchorCtr="0"/>
          <a:p>
            <a:pPr>
              <a:buNone/>
            </a:pPr>
            <a:endParaRPr lang="en-US" altLang="zh-CN"/>
          </a:p>
          <a:p>
            <a:r>
              <a:rPr lang="en-US" altLang="zh-CN"/>
              <a:t>Hashing Functions</a:t>
            </a:r>
            <a:endParaRPr lang="en-US" altLang="zh-CN"/>
          </a:p>
          <a:p>
            <a:r>
              <a:rPr lang="en-US" altLang="zh-CN"/>
              <a:t>Pseudorandom Numbers</a:t>
            </a:r>
            <a:endParaRPr lang="en-US" altLang="zh-CN"/>
          </a:p>
          <a:p>
            <a:r>
              <a:rPr lang="en-US" altLang="zh-CN"/>
              <a:t>Check Digits</a:t>
            </a:r>
            <a:endParaRPr lang="en-US" altLang="zh-CN"/>
          </a:p>
          <a:p>
            <a:pPr>
              <a:buNone/>
            </a:pPr>
            <a:endParaRPr lang="en-US" altLang="zh-CN"/>
          </a:p>
          <a:p>
            <a:pPr lvl="1">
              <a:buNone/>
            </a:pPr>
            <a:endParaRPr lang="en-US" altLang="zh-CN"/>
          </a:p>
          <a:p>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Title 1"/>
          <p:cNvSpPr>
            <a:spLocks noGrp="1"/>
          </p:cNvSpPr>
          <p:nvPr>
            <p:ph type="title"/>
          </p:nvPr>
        </p:nvSpPr>
        <p:spPr>
          <a:ln/>
        </p:spPr>
        <p:txBody>
          <a:bodyPr vert="horz" wrap="square" lIns="91440" tIns="45720" rIns="91440" bIns="45720" anchor="b" anchorCtr="0"/>
          <a:p>
            <a:r>
              <a:rPr lang="en-US" altLang="zh-CN"/>
              <a:t>Hashing Functions-1</a:t>
            </a:r>
            <a:endParaRPr lang="en-US" altLang="zh-CN"/>
          </a:p>
        </p:txBody>
      </p:sp>
      <p:sp>
        <p:nvSpPr>
          <p:cNvPr id="3" name="Content Placeholder 2"/>
          <p:cNvSpPr>
            <a:spLocks noGrp="1"/>
          </p:cNvSpPr>
          <p:nvPr>
            <p:ph idx="1"/>
          </p:nvPr>
        </p:nvSpPr>
        <p:spPr/>
        <p:txBody>
          <a:bodyPr>
            <a:normAutofit lnSpcReduction="10000"/>
          </a:bodyPr>
          <a:lstStyle/>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Definition</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hashing function h </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assigns memory location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h</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to the record that has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as its key.</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80000"/>
              </a:lnSpc>
              <a:spcBef>
                <a:spcPct val="200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 common hashing function is  </a:t>
            </a:r>
            <a:r>
              <a:rPr kumimoji="1" lang="en-US" altLang="zh-CN"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h</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a:t>
            </a:r>
            <a:r>
              <a:rPr kumimoji="1" lang="en-US" altLang="zh-CN"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4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where </a:t>
            </a:r>
            <a:r>
              <a:rPr kumimoji="1" lang="en-US" altLang="zh-CN"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 </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is the number of memory locations. </a:t>
            </a:r>
            <a:endPar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80000"/>
              </a:lnSpc>
              <a:spcBef>
                <a:spcPct val="200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Because this hashing function is onto, all memory locations are possible.</a:t>
            </a:r>
            <a:endPar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2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Example</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Let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h</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111. This hashing function  assigns the records of customers with social security numbers as keys to memory locations in the following manner:</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1143000" marR="0" lvl="2" indent="-228600" algn="l" defTabSz="914400" rtl="0" eaLnBrk="0" fontAlgn="base" latinLnBrk="0" hangingPunct="0">
              <a:lnSpc>
                <a:spcPct val="80000"/>
              </a:lnSpc>
              <a:spcBef>
                <a:spcPct val="20000"/>
              </a:spcBef>
              <a:spcAft>
                <a:spcPct val="0"/>
              </a:spcAft>
              <a:buClr>
                <a:schemeClr val="folHlink"/>
              </a:buClr>
              <a:buSzPct val="50000"/>
              <a:buFont typeface="Wingdings" panose="05000000000000000000" pitchFamily="2" charset="2"/>
              <a:buNone/>
              <a:defRPr/>
            </a:pPr>
            <a:r>
              <a:rPr kumimoji="1" lang="en-US" altLang="zh-CN"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h(064212848) = 064212848 </a:t>
            </a:r>
            <a:r>
              <a:rPr kumimoji="1" lang="en-US" altLang="zh-CN" sz="20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111 = 14</a:t>
            </a:r>
            <a:endParaRPr kumimoji="1" lang="en-US" altLang="zh-CN"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1143000" marR="0" lvl="2" indent="-228600" algn="l" defTabSz="914400" rtl="0" eaLnBrk="0" fontAlgn="base" latinLnBrk="0" hangingPunct="0">
              <a:lnSpc>
                <a:spcPct val="80000"/>
              </a:lnSpc>
              <a:spcBef>
                <a:spcPct val="20000"/>
              </a:spcBef>
              <a:spcAft>
                <a:spcPct val="0"/>
              </a:spcAft>
              <a:buClr>
                <a:schemeClr val="folHlink"/>
              </a:buClr>
              <a:buSzPct val="50000"/>
              <a:buFont typeface="Wingdings" panose="05000000000000000000" pitchFamily="2" charset="2"/>
              <a:buNone/>
              <a:defRPr/>
            </a:pPr>
            <a:r>
              <a:rPr kumimoji="1" lang="en-US" altLang="zh-CN"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h(037149212) = 037149212 </a:t>
            </a:r>
            <a:r>
              <a:rPr kumimoji="1" lang="en-US" altLang="zh-CN" sz="20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111 = 65</a:t>
            </a:r>
            <a:endParaRPr kumimoji="1" lang="en-US" altLang="zh-CN"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1143000" marR="0" lvl="2" indent="-228600" algn="l" defTabSz="914400" rtl="0" eaLnBrk="0" fontAlgn="base" latinLnBrk="0" hangingPunct="0">
              <a:lnSpc>
                <a:spcPct val="80000"/>
              </a:lnSpc>
              <a:spcBef>
                <a:spcPct val="20000"/>
              </a:spcBef>
              <a:spcAft>
                <a:spcPct val="0"/>
              </a:spcAft>
              <a:buClr>
                <a:schemeClr val="folHlink"/>
              </a:buClr>
              <a:buSzPct val="50000"/>
              <a:buFont typeface="Wingdings" panose="05000000000000000000" pitchFamily="2" charset="2"/>
              <a:buNone/>
              <a:defRPr/>
            </a:pPr>
            <a:r>
              <a:rPr kumimoji="1" lang="en-US" altLang="zh-CN"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h(107405723) = 107405723 </a:t>
            </a:r>
            <a:r>
              <a:rPr kumimoji="1" lang="en-US" altLang="zh-CN" sz="20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111 = 14, but since location 14 is already occupied, the record is assigned to  the next available position, which is 15.</a:t>
            </a:r>
            <a:endParaRPr kumimoji="1" lang="en-US" altLang="zh-CN"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endParaRPr kumimoji="1" lang="en-US" altLang="zh-CN" sz="1800" b="0" i="0" u="none" strike="noStrike" kern="0" cap="none" spc="0" normalizeH="0" baseline="0" noProof="1" dirty="0">
              <a:solidFill>
                <a:schemeClr val="tx1"/>
              </a:solidFill>
              <a:latin typeface="Cambria Math" pitchFamily="18" charset="0"/>
              <a:ea typeface="+mn-ea"/>
              <a:cs typeface="+mn-cs"/>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endParaRPr kumimoji="1" lang="en-US" altLang="zh-CN" sz="1800" b="0" i="0" u="none" strike="noStrike" kern="0" cap="none" spc="0" normalizeH="0" baseline="0" noProof="1" dirty="0">
              <a:solidFill>
                <a:schemeClr val="tx1"/>
              </a:solidFill>
              <a:latin typeface="Cambria Math" pitchFamily="18" charset="0"/>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Title 1"/>
          <p:cNvSpPr>
            <a:spLocks noGrp="1"/>
          </p:cNvSpPr>
          <p:nvPr>
            <p:ph type="title"/>
          </p:nvPr>
        </p:nvSpPr>
        <p:spPr/>
        <p:txBody>
          <a:bodyPr vert="horz" wrap="square" lIns="91440" tIns="45720" rIns="91440" bIns="45720" anchor="b" anchorCtr="0"/>
          <a:p>
            <a:r>
              <a:rPr lang="en-US" altLang="zh-CN"/>
              <a:t>Hashing Functions-2</a:t>
            </a:r>
            <a:endParaRPr lang="en-US" altLang="zh-CN"/>
          </a:p>
        </p:txBody>
      </p:sp>
      <p:sp>
        <p:nvSpPr>
          <p:cNvPr id="3" name="Content Placeholder 2"/>
          <p:cNvSpPr>
            <a:spLocks noGrp="1"/>
          </p:cNvSpPr>
          <p:nvPr>
            <p:ph idx="1"/>
          </p:nvPr>
        </p:nvSpPr>
        <p:spPr/>
        <p:txBody>
          <a:bodyPr>
            <a:normAutofit/>
          </a:bodyPr>
          <a:lstStyle/>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The hashing function is not one-to-one as there are many more possible keys than memory locations.  When more than one record is assigned to the same location, we say a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collision</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occurs.  Here a collision has been resolved by assigning the record to the first free location.</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For collision resolution, we can use a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linear probing function</a:t>
            </a:r>
            <a:r>
              <a:rPr kumimoji="1" lang="en-US" altLang="zh-CN" sz="2800" b="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zh-CN" altLang="en-US" sz="2800" b="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线性探测函数</a:t>
            </a:r>
            <a:r>
              <a:rPr kumimoji="1" lang="en-US" altLang="zh-CN" sz="2800" b="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h</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k,i</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h</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a:t>
            </a:r>
            <a:r>
              <a:rPr kumimoji="1" lang="en-US" altLang="zh-CN" sz="28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i</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where </a:t>
            </a:r>
            <a:r>
              <a:rPr kumimoji="1" lang="en-US" altLang="zh-CN" sz="28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i</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runs from 0 to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− 1.</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There are many other methods of handling with collisions. You may cover these in a  later CS course.</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endParaRPr kumimoji="1" lang="en-US" altLang="zh-CN" sz="1800" b="0" i="0" u="none" strike="noStrike" kern="0" cap="none" spc="0" normalizeH="0" baseline="0" noProof="1" dirty="0">
              <a:solidFill>
                <a:schemeClr val="tx1"/>
              </a:solidFill>
              <a:latin typeface="Cambria Math" pitchFamily="18" charset="0"/>
              <a:ea typeface="+mn-ea"/>
              <a:cs typeface="+mn-cs"/>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endParaRPr kumimoji="1" lang="en-US" altLang="zh-CN" sz="1800" b="0" i="0" u="none" strike="noStrike" kern="0" cap="none" spc="0" normalizeH="0" baseline="0" noProof="1" dirty="0">
              <a:solidFill>
                <a:schemeClr val="tx1"/>
              </a:solidFill>
              <a:latin typeface="Cambria Math" pitchFamily="18" charset="0"/>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Title 1"/>
          <p:cNvSpPr>
            <a:spLocks noGrp="1"/>
          </p:cNvSpPr>
          <p:nvPr>
            <p:ph type="title"/>
          </p:nvPr>
        </p:nvSpPr>
        <p:spPr>
          <a:ln/>
        </p:spPr>
        <p:txBody>
          <a:bodyPr vert="horz" wrap="square" lIns="91440" tIns="45720" rIns="91440" bIns="45720" anchor="b" anchorCtr="0"/>
          <a:p>
            <a:r>
              <a:rPr lang="en-US" altLang="zh-CN"/>
              <a:t>Pseudorandom Numbers-1</a:t>
            </a:r>
            <a:endParaRPr lang="en-US" altLang="zh-CN"/>
          </a:p>
        </p:txBody>
      </p:sp>
      <p:sp>
        <p:nvSpPr>
          <p:cNvPr id="8194" name="Content Placeholder 2"/>
          <p:cNvSpPr>
            <a:spLocks noGrp="1"/>
          </p:cNvSpPr>
          <p:nvPr>
            <p:ph idx="1"/>
          </p:nvPr>
        </p:nvSpPr>
        <p:spPr>
          <a:ln/>
        </p:spPr>
        <p:txBody>
          <a:bodyPr vert="horz" wrap="square" lIns="91440" tIns="45720" rIns="91440" bIns="45720" anchor="t" anchorCtr="0"/>
          <a:p>
            <a:pPr>
              <a:lnSpc>
                <a:spcPct val="80000"/>
              </a:lnSpc>
            </a:pPr>
            <a:r>
              <a:rPr lang="en-US" altLang="zh-CN" sz="2800">
                <a:latin typeface="Times New Roman" panose="02020503050405090304" pitchFamily="18" charset="0"/>
              </a:rPr>
              <a:t>Randomly chosen numbers are needed for many purposes, including computer simulations. </a:t>
            </a:r>
            <a:endParaRPr lang="en-US" altLang="zh-CN" sz="2800">
              <a:latin typeface="Times New Roman" panose="02020503050405090304" pitchFamily="18" charset="0"/>
            </a:endParaRPr>
          </a:p>
          <a:p>
            <a:pPr>
              <a:lnSpc>
                <a:spcPct val="80000"/>
              </a:lnSpc>
            </a:pPr>
            <a:r>
              <a:rPr lang="en-US" altLang="zh-CN" sz="2800" i="1">
                <a:latin typeface="Times New Roman" panose="02020503050405090304" pitchFamily="18" charset="0"/>
              </a:rPr>
              <a:t>Pseudorandom numbers</a:t>
            </a:r>
            <a:r>
              <a:rPr lang="en-US" altLang="zh-CN" sz="2800">
                <a:latin typeface="Times New Roman" panose="02020503050405090304" pitchFamily="18" charset="0"/>
              </a:rPr>
              <a:t> are not truly random since they are generated by systematic methods. </a:t>
            </a:r>
            <a:endParaRPr lang="en-US" altLang="zh-CN" sz="2800">
              <a:latin typeface="Times New Roman" panose="02020503050405090304" pitchFamily="18" charset="0"/>
            </a:endParaRPr>
          </a:p>
          <a:p>
            <a:pPr>
              <a:lnSpc>
                <a:spcPct val="80000"/>
              </a:lnSpc>
            </a:pPr>
            <a:r>
              <a:rPr lang="en-US" altLang="zh-CN" sz="2800">
                <a:latin typeface="Times New Roman" panose="02020503050405090304" pitchFamily="18" charset="0"/>
              </a:rPr>
              <a:t>The </a:t>
            </a:r>
            <a:r>
              <a:rPr lang="en-US" altLang="zh-CN" sz="2800" i="1">
                <a:solidFill>
                  <a:srgbClr val="FF0000"/>
                </a:solidFill>
                <a:latin typeface="Times New Roman" panose="02020503050405090304" pitchFamily="18" charset="0"/>
              </a:rPr>
              <a:t>linear congruential method</a:t>
            </a:r>
            <a:r>
              <a:rPr lang="zh-CN" altLang="en-US" sz="2800">
                <a:latin typeface="Times New Roman" panose="02020503050405090304" pitchFamily="18" charset="0"/>
              </a:rPr>
              <a:t>（线性</a:t>
            </a:r>
            <a:r>
              <a:rPr lang="zh-CN" altLang="en-US" sz="2800">
                <a:latin typeface="Times New Roman" panose="02020503050405090304" pitchFamily="18" charset="0"/>
              </a:rPr>
              <a:t>同余法）</a:t>
            </a:r>
            <a:r>
              <a:rPr lang="en-US" altLang="zh-CN" sz="2800" i="1">
                <a:latin typeface="Times New Roman" panose="02020503050405090304" pitchFamily="18" charset="0"/>
              </a:rPr>
              <a:t> </a:t>
            </a:r>
            <a:r>
              <a:rPr lang="en-US" altLang="zh-CN" sz="2800">
                <a:latin typeface="Times New Roman" panose="02020503050405090304" pitchFamily="18" charset="0"/>
              </a:rPr>
              <a:t>is one commonly used procedure for generating pseudorandom numbers. </a:t>
            </a:r>
            <a:endParaRPr lang="en-US" altLang="zh-CN" sz="2800">
              <a:latin typeface="Times New Roman" panose="02020503050405090304" pitchFamily="18" charset="0"/>
            </a:endParaRPr>
          </a:p>
          <a:p>
            <a:pPr marL="0" indent="0">
              <a:lnSpc>
                <a:spcPct val="80000"/>
              </a:lnSpc>
              <a:buNone/>
            </a:pPr>
            <a:endParaRPr lang="en-US" altLang="zh-CN" sz="2800">
              <a:latin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Title 1"/>
          <p:cNvSpPr>
            <a:spLocks noGrp="1"/>
          </p:cNvSpPr>
          <p:nvPr>
            <p:ph type="title"/>
          </p:nvPr>
        </p:nvSpPr>
        <p:spPr/>
        <p:txBody>
          <a:bodyPr vert="horz" wrap="square" lIns="91440" tIns="45720" rIns="91440" bIns="45720" anchor="b" anchorCtr="0"/>
          <a:p>
            <a:r>
              <a:rPr lang="en-US" altLang="zh-CN"/>
              <a:t>Pseudorandom Numbers-2</a:t>
            </a:r>
            <a:endParaRPr lang="en-US" altLang="zh-CN"/>
          </a:p>
        </p:txBody>
      </p:sp>
      <p:sp>
        <p:nvSpPr>
          <p:cNvPr id="8194" name="Content Placeholder 2"/>
          <p:cNvSpPr>
            <a:spLocks noGrp="1"/>
          </p:cNvSpPr>
          <p:nvPr>
            <p:ph idx="1"/>
          </p:nvPr>
        </p:nvSpPr>
        <p:spPr/>
        <p:txBody>
          <a:bodyPr vert="horz" wrap="square" lIns="91440" tIns="45720" rIns="91440" bIns="45720" anchor="t" anchorCtr="0"/>
          <a:p>
            <a:pPr>
              <a:lnSpc>
                <a:spcPct val="80000"/>
              </a:lnSpc>
            </a:pPr>
            <a:r>
              <a:rPr lang="en-US" altLang="zh-CN" sz="2800">
                <a:latin typeface="Times New Roman" panose="02020503050405090304" pitchFamily="18" charset="0"/>
              </a:rPr>
              <a:t>The </a:t>
            </a:r>
            <a:r>
              <a:rPr lang="en-US" altLang="zh-CN" sz="2800" i="1">
                <a:latin typeface="Times New Roman" panose="02020503050405090304" pitchFamily="18" charset="0"/>
              </a:rPr>
              <a:t>linear congruential method </a:t>
            </a:r>
            <a:endParaRPr lang="en-US" altLang="zh-CN" sz="2800" i="1">
              <a:latin typeface="Times New Roman" panose="02020503050405090304" pitchFamily="18" charset="0"/>
            </a:endParaRPr>
          </a:p>
          <a:p>
            <a:pPr>
              <a:lnSpc>
                <a:spcPct val="80000"/>
              </a:lnSpc>
            </a:pPr>
            <a:r>
              <a:rPr lang="en-US" altLang="zh-CN" sz="2800">
                <a:latin typeface="Times New Roman" panose="02020503050405090304" pitchFamily="18" charset="0"/>
              </a:rPr>
              <a:t>Four integers are needed: the </a:t>
            </a:r>
            <a:r>
              <a:rPr lang="en-US" altLang="zh-CN" sz="2800" i="1">
                <a:latin typeface="Times New Roman" panose="02020503050405090304" pitchFamily="18" charset="0"/>
              </a:rPr>
              <a:t>modulus</a:t>
            </a:r>
            <a:r>
              <a:rPr lang="en-US" altLang="zh-CN" sz="2800">
                <a:latin typeface="Times New Roman" panose="02020503050405090304" pitchFamily="18" charset="0"/>
              </a:rPr>
              <a:t> </a:t>
            </a:r>
            <a:r>
              <a:rPr lang="en-US" altLang="zh-CN" sz="2800" i="1">
                <a:latin typeface="Times New Roman" panose="02020503050405090304" pitchFamily="18" charset="0"/>
              </a:rPr>
              <a:t>m</a:t>
            </a:r>
            <a:r>
              <a:rPr lang="en-US" altLang="zh-CN" sz="2800">
                <a:latin typeface="Times New Roman" panose="02020503050405090304" pitchFamily="18" charset="0"/>
              </a:rPr>
              <a:t>, the </a:t>
            </a:r>
            <a:r>
              <a:rPr lang="en-US" altLang="zh-CN" sz="2800" i="1">
                <a:latin typeface="Times New Roman" panose="02020503050405090304" pitchFamily="18" charset="0"/>
              </a:rPr>
              <a:t>multiplier</a:t>
            </a:r>
            <a:r>
              <a:rPr lang="en-US" altLang="zh-CN" sz="2800">
                <a:latin typeface="Times New Roman" panose="02020503050405090304" pitchFamily="18" charset="0"/>
              </a:rPr>
              <a:t> </a:t>
            </a:r>
            <a:r>
              <a:rPr lang="en-US" altLang="zh-CN" sz="2800" i="1">
                <a:latin typeface="Times New Roman" panose="02020503050405090304" pitchFamily="18" charset="0"/>
              </a:rPr>
              <a:t>a</a:t>
            </a:r>
            <a:r>
              <a:rPr lang="en-US" altLang="zh-CN" sz="2800">
                <a:latin typeface="Times New Roman" panose="02020503050405090304" pitchFamily="18" charset="0"/>
              </a:rPr>
              <a:t>, the </a:t>
            </a:r>
            <a:r>
              <a:rPr lang="en-US" altLang="zh-CN" sz="2800" i="1">
                <a:latin typeface="Times New Roman" panose="02020503050405090304" pitchFamily="18" charset="0"/>
              </a:rPr>
              <a:t>increment</a:t>
            </a:r>
            <a:r>
              <a:rPr lang="en-US" altLang="zh-CN" sz="2800">
                <a:latin typeface="Times New Roman" panose="02020503050405090304" pitchFamily="18" charset="0"/>
              </a:rPr>
              <a:t> </a:t>
            </a:r>
            <a:r>
              <a:rPr lang="en-US" altLang="zh-CN" sz="2800" i="1">
                <a:latin typeface="Times New Roman" panose="02020503050405090304" pitchFamily="18" charset="0"/>
              </a:rPr>
              <a:t>c</a:t>
            </a:r>
            <a:r>
              <a:rPr lang="en-US" altLang="zh-CN" sz="2800">
                <a:latin typeface="Times New Roman" panose="02020503050405090304" pitchFamily="18" charset="0"/>
              </a:rPr>
              <a:t>, and </a:t>
            </a:r>
            <a:r>
              <a:rPr lang="en-US" altLang="zh-CN" sz="2800" i="1">
                <a:latin typeface="Times New Roman" panose="02020503050405090304" pitchFamily="18" charset="0"/>
              </a:rPr>
              <a:t>seed</a:t>
            </a:r>
            <a:r>
              <a:rPr lang="en-US" altLang="zh-CN" sz="2800">
                <a:latin typeface="Times New Roman" panose="02020503050405090304" pitchFamily="18" charset="0"/>
              </a:rPr>
              <a:t> </a:t>
            </a:r>
            <a:r>
              <a:rPr lang="en-US" altLang="zh-CN" sz="2800" i="1">
                <a:latin typeface="Times New Roman" panose="02020503050405090304" pitchFamily="18" charset="0"/>
              </a:rPr>
              <a:t>x</a:t>
            </a:r>
            <a:r>
              <a:rPr lang="en-US" altLang="zh-CN" sz="2800" baseline="-25000">
                <a:latin typeface="Times New Roman" panose="02020503050405090304" pitchFamily="18" charset="0"/>
              </a:rPr>
              <a:t>0</a:t>
            </a:r>
            <a:r>
              <a:rPr lang="en-US" altLang="zh-CN" sz="2800">
                <a:latin typeface="Times New Roman" panose="02020503050405090304" pitchFamily="18" charset="0"/>
              </a:rPr>
              <a:t>, with </a:t>
            </a:r>
            <a:endParaRPr lang="en-US" altLang="zh-CN" sz="2800">
              <a:latin typeface="Times New Roman" panose="02020503050405090304" pitchFamily="18" charset="0"/>
            </a:endParaRPr>
          </a:p>
          <a:p>
            <a:pPr marL="0" indent="0">
              <a:lnSpc>
                <a:spcPct val="80000"/>
              </a:lnSpc>
              <a:buNone/>
            </a:pPr>
            <a:r>
              <a:rPr lang="en-US" altLang="zh-CN" sz="2800">
                <a:latin typeface="Times New Roman" panose="02020503050405090304" pitchFamily="18" charset="0"/>
              </a:rPr>
              <a:t>    2 ≤ </a:t>
            </a:r>
            <a:r>
              <a:rPr lang="en-US" altLang="zh-CN" sz="2800" i="1">
                <a:latin typeface="Times New Roman" panose="02020503050405090304" pitchFamily="18" charset="0"/>
              </a:rPr>
              <a:t>a</a:t>
            </a:r>
            <a:r>
              <a:rPr lang="en-US" altLang="zh-CN" sz="2800">
                <a:latin typeface="Times New Roman" panose="02020503050405090304" pitchFamily="18" charset="0"/>
              </a:rPr>
              <a:t> &lt; </a:t>
            </a:r>
            <a:r>
              <a:rPr lang="en-US" altLang="zh-CN" sz="2800" i="1">
                <a:latin typeface="Times New Roman" panose="02020503050405090304" pitchFamily="18" charset="0"/>
              </a:rPr>
              <a:t>m</a:t>
            </a:r>
            <a:r>
              <a:rPr lang="en-US" altLang="zh-CN" sz="2800">
                <a:latin typeface="Times New Roman" panose="02020503050405090304" pitchFamily="18" charset="0"/>
              </a:rPr>
              <a:t>, 0 ≤ </a:t>
            </a:r>
            <a:r>
              <a:rPr lang="en-US" altLang="zh-CN" sz="2800" i="1">
                <a:latin typeface="Times New Roman" panose="02020503050405090304" pitchFamily="18" charset="0"/>
              </a:rPr>
              <a:t>c</a:t>
            </a:r>
            <a:r>
              <a:rPr lang="en-US" altLang="zh-CN" sz="2800">
                <a:latin typeface="Times New Roman" panose="02020503050405090304" pitchFamily="18" charset="0"/>
              </a:rPr>
              <a:t> &lt; </a:t>
            </a:r>
            <a:r>
              <a:rPr lang="en-US" altLang="zh-CN" sz="2800" i="1">
                <a:latin typeface="Times New Roman" panose="02020503050405090304" pitchFamily="18" charset="0"/>
              </a:rPr>
              <a:t>m</a:t>
            </a:r>
            <a:r>
              <a:rPr lang="en-US" altLang="zh-CN" sz="2800">
                <a:latin typeface="Times New Roman" panose="02020503050405090304" pitchFamily="18" charset="0"/>
              </a:rPr>
              <a:t>, 0 ≤</a:t>
            </a:r>
            <a:r>
              <a:rPr lang="en-US" altLang="zh-CN" sz="2800" i="1">
                <a:latin typeface="Times New Roman" panose="02020503050405090304" pitchFamily="18" charset="0"/>
              </a:rPr>
              <a:t> x</a:t>
            </a:r>
            <a:r>
              <a:rPr lang="en-US" altLang="zh-CN" sz="2800" baseline="-25000">
                <a:latin typeface="Times New Roman" panose="02020503050405090304" pitchFamily="18" charset="0"/>
              </a:rPr>
              <a:t>0</a:t>
            </a:r>
            <a:r>
              <a:rPr lang="en-US" altLang="zh-CN" sz="2800">
                <a:latin typeface="Times New Roman" panose="02020503050405090304" pitchFamily="18" charset="0"/>
              </a:rPr>
              <a:t> &lt; </a:t>
            </a:r>
            <a:r>
              <a:rPr lang="en-US" altLang="zh-CN" sz="2800" i="1">
                <a:latin typeface="Times New Roman" panose="02020503050405090304" pitchFamily="18" charset="0"/>
              </a:rPr>
              <a:t>m. </a:t>
            </a:r>
            <a:endParaRPr lang="en-US" altLang="zh-CN" sz="2800" i="1">
              <a:latin typeface="Times New Roman" panose="02020503050405090304" pitchFamily="18" charset="0"/>
            </a:endParaRPr>
          </a:p>
          <a:p>
            <a:pPr>
              <a:lnSpc>
                <a:spcPct val="80000"/>
              </a:lnSpc>
            </a:pPr>
            <a:r>
              <a:rPr lang="en-US" altLang="zh-CN" sz="2800">
                <a:latin typeface="Times New Roman" panose="02020503050405090304" pitchFamily="18" charset="0"/>
              </a:rPr>
              <a:t>We generate a sequence of pseudorandom numbers {</a:t>
            </a:r>
            <a:r>
              <a:rPr lang="en-US" altLang="zh-CN" sz="2800" i="1">
                <a:latin typeface="Times New Roman" panose="02020503050405090304" pitchFamily="18" charset="0"/>
              </a:rPr>
              <a:t>x</a:t>
            </a:r>
            <a:r>
              <a:rPr lang="en-US" altLang="zh-CN" sz="2800" i="1" baseline="-25000">
                <a:latin typeface="Times New Roman" panose="02020503050405090304" pitchFamily="18" charset="0"/>
              </a:rPr>
              <a:t>n</a:t>
            </a:r>
            <a:r>
              <a:rPr lang="en-US" altLang="zh-CN" sz="2800">
                <a:latin typeface="Times New Roman" panose="02020503050405090304" pitchFamily="18" charset="0"/>
              </a:rPr>
              <a:t>}, with    0 ≤</a:t>
            </a:r>
            <a:r>
              <a:rPr lang="en-US" altLang="zh-CN" sz="2800" i="1">
                <a:latin typeface="Times New Roman" panose="02020503050405090304" pitchFamily="18" charset="0"/>
              </a:rPr>
              <a:t> x</a:t>
            </a:r>
            <a:r>
              <a:rPr lang="en-US" altLang="zh-CN" sz="2800" baseline="-25000">
                <a:latin typeface="Times New Roman" panose="02020503050405090304" pitchFamily="18" charset="0"/>
              </a:rPr>
              <a:t>n</a:t>
            </a:r>
            <a:r>
              <a:rPr lang="en-US" altLang="zh-CN" sz="2800">
                <a:latin typeface="Times New Roman" panose="02020503050405090304" pitchFamily="18" charset="0"/>
              </a:rPr>
              <a:t> &lt; </a:t>
            </a:r>
            <a:r>
              <a:rPr lang="en-US" altLang="zh-CN" sz="2800" i="1">
                <a:latin typeface="Times New Roman" panose="02020503050405090304" pitchFamily="18" charset="0"/>
              </a:rPr>
              <a:t>m </a:t>
            </a:r>
            <a:r>
              <a:rPr lang="en-US" altLang="zh-CN" sz="2800">
                <a:latin typeface="Times New Roman" panose="02020503050405090304" pitchFamily="18" charset="0"/>
              </a:rPr>
              <a:t>for all n, by successively using the recursively defined function</a:t>
            </a:r>
            <a:endParaRPr lang="en-US" altLang="zh-CN" sz="2800">
              <a:latin typeface="Times New Roman" panose="02020503050405090304" pitchFamily="18" charset="0"/>
            </a:endParaRPr>
          </a:p>
          <a:p>
            <a:pPr>
              <a:lnSpc>
                <a:spcPct val="80000"/>
              </a:lnSpc>
              <a:buNone/>
            </a:pPr>
            <a:r>
              <a:rPr lang="en-US" altLang="zh-CN" sz="2800">
                <a:latin typeface="Times New Roman" panose="02020503050405090304" pitchFamily="18" charset="0"/>
              </a:rPr>
              <a:t>                               </a:t>
            </a:r>
            <a:endParaRPr lang="en-US" altLang="zh-CN" sz="2800">
              <a:latin typeface="Times New Roman" panose="02020503050405090304" pitchFamily="18" charset="0"/>
            </a:endParaRPr>
          </a:p>
          <a:p>
            <a:pPr>
              <a:lnSpc>
                <a:spcPct val="80000"/>
              </a:lnSpc>
              <a:buNone/>
            </a:pPr>
            <a:r>
              <a:rPr lang="en-US" altLang="zh-CN" sz="2800">
                <a:latin typeface="Times New Roman" panose="02020503050405090304" pitchFamily="18" charset="0"/>
              </a:rPr>
              <a:t>   (</a:t>
            </a:r>
            <a:r>
              <a:rPr lang="en-US" altLang="zh-CN" sz="2400" i="1">
                <a:latin typeface="Times New Roman" panose="02020503050405090304" pitchFamily="18" charset="0"/>
              </a:rPr>
              <a:t>an example of a recursive definition, discussed in Section </a:t>
            </a:r>
            <a:r>
              <a:rPr lang="en-US" altLang="zh-CN" sz="2400">
                <a:latin typeface="Times New Roman" panose="02020503050405090304" pitchFamily="18" charset="0"/>
              </a:rPr>
              <a:t>5.3</a:t>
            </a:r>
            <a:r>
              <a:rPr lang="en-US" altLang="zh-CN" sz="2800" i="1">
                <a:latin typeface="Times New Roman" panose="02020503050405090304" pitchFamily="18" charset="0"/>
              </a:rPr>
              <a:t>)</a:t>
            </a:r>
            <a:endParaRPr lang="en-US" altLang="zh-CN" sz="2800" i="1">
              <a:latin typeface="Times New Roman" panose="02020503050405090304" pitchFamily="18" charset="0"/>
            </a:endParaRPr>
          </a:p>
          <a:p>
            <a:pPr>
              <a:lnSpc>
                <a:spcPct val="80000"/>
              </a:lnSpc>
            </a:pPr>
            <a:r>
              <a:rPr lang="en-US" altLang="zh-CN" sz="2800">
                <a:latin typeface="Times New Roman" panose="02020503050405090304" pitchFamily="18" charset="0"/>
              </a:rPr>
              <a:t>If psudorandom numbers between 0 and 1 are needed, then the generated numbers are divided by the modulus, </a:t>
            </a:r>
            <a:r>
              <a:rPr lang="en-US" altLang="zh-CN" sz="2800" i="1">
                <a:latin typeface="Times New Roman" panose="02020503050405090304" pitchFamily="18" charset="0"/>
              </a:rPr>
              <a:t>x</a:t>
            </a:r>
            <a:r>
              <a:rPr lang="en-US" altLang="zh-CN" sz="2800" i="1" baseline="-25000">
                <a:latin typeface="Times New Roman" panose="02020503050405090304" pitchFamily="18" charset="0"/>
              </a:rPr>
              <a:t>n </a:t>
            </a:r>
            <a:r>
              <a:rPr lang="en-US" altLang="zh-CN" sz="2800">
                <a:latin typeface="Times New Roman" panose="02020503050405090304" pitchFamily="18" charset="0"/>
              </a:rPr>
              <a:t>/</a:t>
            </a:r>
            <a:r>
              <a:rPr lang="en-US" altLang="zh-CN" sz="2800" i="1">
                <a:latin typeface="Times New Roman" panose="02020503050405090304" pitchFamily="18" charset="0"/>
              </a:rPr>
              <a:t>m</a:t>
            </a:r>
            <a:r>
              <a:rPr lang="en-US" altLang="zh-CN" sz="2800">
                <a:latin typeface="Times New Roman" panose="02020503050405090304" pitchFamily="18" charset="0"/>
              </a:rPr>
              <a:t>.</a:t>
            </a:r>
            <a:endParaRPr lang="en-US" altLang="zh-CN" sz="2800">
              <a:latin typeface="Times New Roman" panose="02020503050405090304" pitchFamily="18" charset="0"/>
            </a:endParaRPr>
          </a:p>
          <a:p>
            <a:pPr>
              <a:lnSpc>
                <a:spcPct val="80000"/>
              </a:lnSpc>
            </a:pPr>
            <a:endParaRPr lang="en-US" altLang="zh-CN" sz="2800">
              <a:latin typeface="Times New Roman" panose="02020503050405090304" pitchFamily="18" charset="0"/>
            </a:endParaRPr>
          </a:p>
        </p:txBody>
      </p:sp>
      <p:sp>
        <p:nvSpPr>
          <p:cNvPr id="8195" name="TextBox 3"/>
          <p:cNvSpPr txBox="1"/>
          <p:nvPr/>
        </p:nvSpPr>
        <p:spPr>
          <a:xfrm>
            <a:off x="2627630" y="3945255"/>
            <a:ext cx="3456305" cy="520065"/>
          </a:xfrm>
          <a:prstGeom prst="rect">
            <a:avLst/>
          </a:prstGeom>
          <a:noFill/>
          <a:ln w="9525">
            <a:noFill/>
          </a:ln>
        </p:spPr>
        <p:txBody>
          <a:bodyPr anchor="t" anchorCtr="0">
            <a:noAutofit/>
          </a:bodyPr>
          <a:p>
            <a:pPr eaLnBrk="0" hangingPunct="0">
              <a:buNone/>
            </a:pPr>
            <a:r>
              <a:rPr lang="en-US" altLang="zh-CN" u="none">
                <a:latin typeface="Times New Roman" panose="02020503050405090304" pitchFamily="18" charset="0"/>
              </a:rPr>
              <a:t>x</a:t>
            </a:r>
            <a:r>
              <a:rPr lang="en-US" altLang="zh-CN" u="none" baseline="-25000">
                <a:latin typeface="Cambria Math" pitchFamily="18" charset="0"/>
              </a:rPr>
              <a:t>n+1   </a:t>
            </a:r>
            <a:r>
              <a:rPr lang="en-US" altLang="zh-CN" u="none">
                <a:latin typeface="Times New Roman" panose="02020503050405090304" pitchFamily="18" charset="0"/>
              </a:rPr>
              <a:t> = (ax</a:t>
            </a:r>
            <a:r>
              <a:rPr lang="en-US" altLang="zh-CN" u="none" baseline="-25000">
                <a:latin typeface="Times New Roman" panose="02020503050405090304" pitchFamily="18" charset="0"/>
              </a:rPr>
              <a:t>n</a:t>
            </a:r>
            <a:r>
              <a:rPr lang="en-US" altLang="zh-CN" u="none">
                <a:latin typeface="Times New Roman" panose="02020503050405090304" pitchFamily="18" charset="0"/>
              </a:rPr>
              <a:t> + c) mod m.</a:t>
            </a:r>
            <a:endParaRPr lang="en-US" altLang="zh-CN" u="none">
              <a:latin typeface="Times New Roman" panose="0202050305040509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Title 1"/>
          <p:cNvSpPr>
            <a:spLocks noGrp="1"/>
          </p:cNvSpPr>
          <p:nvPr>
            <p:ph type="title"/>
          </p:nvPr>
        </p:nvSpPr>
        <p:spPr>
          <a:ln/>
        </p:spPr>
        <p:txBody>
          <a:bodyPr vert="horz" wrap="square" lIns="91440" tIns="45720" rIns="91440" bIns="45720" anchor="b" anchorCtr="0"/>
          <a:p>
            <a:r>
              <a:rPr lang="en-US" altLang="zh-CN"/>
              <a:t>Pseudorandom Numbers</a:t>
            </a:r>
            <a:endParaRPr lang="en-US" altLang="zh-CN"/>
          </a:p>
        </p:txBody>
      </p:sp>
      <p:sp>
        <p:nvSpPr>
          <p:cNvPr id="9218" name="Content Placeholder 2"/>
          <p:cNvSpPr>
            <a:spLocks noGrp="1"/>
          </p:cNvSpPr>
          <p:nvPr>
            <p:ph idx="1"/>
          </p:nvPr>
        </p:nvSpPr>
        <p:spPr>
          <a:ln/>
        </p:spPr>
        <p:txBody>
          <a:bodyPr vert="horz" wrap="square" lIns="91440" tIns="45720" rIns="91440" bIns="45720" anchor="t" anchorCtr="0"/>
          <a:p>
            <a:pPr>
              <a:lnSpc>
                <a:spcPct val="80000"/>
              </a:lnSpc>
            </a:pPr>
            <a:r>
              <a:rPr lang="en-US" altLang="zh-CN" sz="2000" b="1">
                <a:latin typeface="Times New Roman" panose="02020503050405090304" pitchFamily="18" charset="0"/>
              </a:rPr>
              <a:t>Example</a:t>
            </a:r>
            <a:r>
              <a:rPr lang="en-US" altLang="zh-CN" sz="2000">
                <a:latin typeface="Times New Roman" panose="02020503050405090304" pitchFamily="18" charset="0"/>
              </a:rPr>
              <a:t>: Find the sequence of pseudorandom numbers generated by the linear congruential method with modulus </a:t>
            </a:r>
            <a:r>
              <a:rPr lang="en-US" altLang="zh-CN" sz="2000" i="1">
                <a:latin typeface="Times New Roman" panose="02020503050405090304" pitchFamily="18" charset="0"/>
              </a:rPr>
              <a:t>m</a:t>
            </a:r>
            <a:r>
              <a:rPr lang="en-US" altLang="zh-CN" sz="2000">
                <a:latin typeface="Times New Roman" panose="02020503050405090304" pitchFamily="18" charset="0"/>
              </a:rPr>
              <a:t> = 9, multiplier </a:t>
            </a:r>
            <a:r>
              <a:rPr lang="en-US" altLang="zh-CN" sz="2000" i="1">
                <a:latin typeface="Times New Roman" panose="02020503050405090304" pitchFamily="18" charset="0"/>
              </a:rPr>
              <a:t>a</a:t>
            </a:r>
            <a:r>
              <a:rPr lang="en-US" altLang="zh-CN" sz="2000">
                <a:latin typeface="Times New Roman" panose="02020503050405090304" pitchFamily="18" charset="0"/>
              </a:rPr>
              <a:t> = 7, increment </a:t>
            </a:r>
            <a:r>
              <a:rPr lang="en-US" altLang="zh-CN" sz="2000" i="1">
                <a:latin typeface="Times New Roman" panose="02020503050405090304" pitchFamily="18" charset="0"/>
              </a:rPr>
              <a:t>c</a:t>
            </a:r>
            <a:r>
              <a:rPr lang="en-US" altLang="zh-CN" sz="2000">
                <a:latin typeface="Times New Roman" panose="02020503050405090304" pitchFamily="18" charset="0"/>
              </a:rPr>
              <a:t> = 4, and          seed </a:t>
            </a:r>
            <a:r>
              <a:rPr lang="en-US" altLang="zh-CN" sz="2000" i="1">
                <a:latin typeface="Times New Roman" panose="02020503050405090304" pitchFamily="18" charset="0"/>
              </a:rPr>
              <a:t>x</a:t>
            </a:r>
            <a:r>
              <a:rPr lang="en-US" altLang="zh-CN" sz="2000" baseline="-25000">
                <a:latin typeface="Times New Roman" panose="02020503050405090304" pitchFamily="18" charset="0"/>
              </a:rPr>
              <a:t>0  </a:t>
            </a:r>
            <a:r>
              <a:rPr lang="en-US" altLang="zh-CN" sz="2000">
                <a:latin typeface="Times New Roman" panose="02020503050405090304" pitchFamily="18" charset="0"/>
              </a:rPr>
              <a:t>= 3.</a:t>
            </a:r>
            <a:endParaRPr lang="en-US" altLang="zh-CN" sz="2000">
              <a:latin typeface="Times New Roman" panose="02020503050405090304" pitchFamily="18" charset="0"/>
            </a:endParaRPr>
          </a:p>
          <a:p>
            <a:pPr>
              <a:lnSpc>
                <a:spcPct val="80000"/>
              </a:lnSpc>
            </a:pPr>
            <a:r>
              <a:rPr lang="en-US" altLang="zh-CN" sz="2000" b="1">
                <a:latin typeface="Times New Roman" panose="02020503050405090304" pitchFamily="18" charset="0"/>
              </a:rPr>
              <a:t>Solution</a:t>
            </a:r>
            <a:r>
              <a:rPr lang="en-US" altLang="zh-CN" sz="2000">
                <a:latin typeface="Times New Roman" panose="02020503050405090304" pitchFamily="18" charset="0"/>
              </a:rPr>
              <a:t>: Compute the terms of the sequence by successively using the congruence      </a:t>
            </a:r>
            <a:r>
              <a:rPr lang="en-US" altLang="zh-CN" sz="2000" i="1">
                <a:latin typeface="Times New Roman" panose="02020503050405090304" pitchFamily="18" charset="0"/>
              </a:rPr>
              <a:t>x</a:t>
            </a:r>
            <a:r>
              <a:rPr lang="en-US" altLang="zh-CN" sz="2000" i="1" baseline="-25000">
                <a:latin typeface="Times New Roman" panose="02020503050405090304" pitchFamily="18" charset="0"/>
              </a:rPr>
              <a:t>n</a:t>
            </a:r>
            <a:r>
              <a:rPr lang="en-US" altLang="zh-CN" sz="2000" baseline="-25000">
                <a:latin typeface="Times New Roman" panose="02020503050405090304" pitchFamily="18" charset="0"/>
              </a:rPr>
              <a:t>+1</a:t>
            </a:r>
            <a:r>
              <a:rPr lang="en-US" altLang="zh-CN" sz="2000" i="1" baseline="-25000">
                <a:latin typeface="Times New Roman" panose="02020503050405090304" pitchFamily="18" charset="0"/>
              </a:rPr>
              <a:t>   </a:t>
            </a:r>
            <a:r>
              <a:rPr lang="en-US" altLang="zh-CN" sz="2000">
                <a:latin typeface="Times New Roman" panose="02020503050405090304" pitchFamily="18" charset="0"/>
              </a:rPr>
              <a:t> = (7</a:t>
            </a:r>
            <a:r>
              <a:rPr lang="en-US" altLang="zh-CN" sz="2000" i="1">
                <a:latin typeface="Times New Roman" panose="02020503050405090304" pitchFamily="18" charset="0"/>
              </a:rPr>
              <a:t>x</a:t>
            </a:r>
            <a:r>
              <a:rPr lang="en-US" altLang="zh-CN" sz="2000" i="1" baseline="-25000">
                <a:latin typeface="Times New Roman" panose="02020503050405090304" pitchFamily="18" charset="0"/>
              </a:rPr>
              <a:t>n</a:t>
            </a:r>
            <a:r>
              <a:rPr lang="en-US" altLang="zh-CN" sz="2000">
                <a:latin typeface="Times New Roman" panose="02020503050405090304" pitchFamily="18" charset="0"/>
              </a:rPr>
              <a:t> + 4) </a:t>
            </a:r>
            <a:r>
              <a:rPr lang="en-US" altLang="zh-CN" sz="2000" b="1">
                <a:latin typeface="Times New Roman" panose="02020503050405090304" pitchFamily="18" charset="0"/>
              </a:rPr>
              <a:t>mod </a:t>
            </a:r>
            <a:r>
              <a:rPr lang="en-US" altLang="zh-CN" sz="2000">
                <a:latin typeface="Times New Roman" panose="02020503050405090304" pitchFamily="18" charset="0"/>
              </a:rPr>
              <a:t>9, with </a:t>
            </a:r>
            <a:r>
              <a:rPr lang="en-US" altLang="zh-CN" sz="2000" i="1">
                <a:latin typeface="Times New Roman" panose="02020503050405090304" pitchFamily="18" charset="0"/>
              </a:rPr>
              <a:t>x</a:t>
            </a:r>
            <a:r>
              <a:rPr lang="en-US" altLang="zh-CN" sz="2000" baseline="-25000">
                <a:latin typeface="Times New Roman" panose="02020503050405090304" pitchFamily="18" charset="0"/>
              </a:rPr>
              <a:t>0  </a:t>
            </a:r>
            <a:r>
              <a:rPr lang="en-US" altLang="zh-CN" sz="2000">
                <a:latin typeface="Times New Roman" panose="02020503050405090304" pitchFamily="18" charset="0"/>
              </a:rPr>
              <a:t>= 3.</a:t>
            </a:r>
            <a:endParaRPr lang="en-US" altLang="zh-CN" sz="2000">
              <a:latin typeface="Times New Roman" panose="02020503050405090304" pitchFamily="18" charset="0"/>
            </a:endParaRPr>
          </a:p>
          <a:p>
            <a:pPr lvl="2">
              <a:lnSpc>
                <a:spcPct val="80000"/>
              </a:lnSpc>
              <a:buNone/>
            </a:pPr>
            <a:r>
              <a:rPr lang="en-US" altLang="zh-CN" sz="1400" i="1">
                <a:latin typeface="Times New Roman" panose="02020503050405090304" pitchFamily="18" charset="0"/>
              </a:rPr>
              <a:t>x</a:t>
            </a:r>
            <a:r>
              <a:rPr lang="en-US" altLang="zh-CN" sz="1400" baseline="-25000">
                <a:latin typeface="Times New Roman" panose="02020503050405090304" pitchFamily="18" charset="0"/>
              </a:rPr>
              <a:t>1</a:t>
            </a:r>
            <a:r>
              <a:rPr lang="en-US" altLang="zh-CN" sz="1400" i="1" baseline="-25000">
                <a:latin typeface="Times New Roman" panose="02020503050405090304" pitchFamily="18" charset="0"/>
              </a:rPr>
              <a:t>  </a:t>
            </a:r>
            <a:r>
              <a:rPr lang="en-US" altLang="zh-CN" sz="1400">
                <a:latin typeface="Times New Roman" panose="02020503050405090304" pitchFamily="18" charset="0"/>
              </a:rPr>
              <a:t>= 7</a:t>
            </a:r>
            <a:r>
              <a:rPr lang="en-US" altLang="zh-CN" sz="1400" i="1">
                <a:latin typeface="Times New Roman" panose="02020503050405090304" pitchFamily="18" charset="0"/>
              </a:rPr>
              <a:t>x</a:t>
            </a:r>
            <a:r>
              <a:rPr lang="en-US" altLang="zh-CN" sz="1400" baseline="-25000">
                <a:latin typeface="Times New Roman" panose="02020503050405090304" pitchFamily="18" charset="0"/>
              </a:rPr>
              <a:t>0</a:t>
            </a:r>
            <a:r>
              <a:rPr lang="en-US" altLang="zh-CN" sz="1400">
                <a:latin typeface="Times New Roman" panose="02020503050405090304" pitchFamily="18" charset="0"/>
              </a:rPr>
              <a:t> + 4 </a:t>
            </a:r>
            <a:r>
              <a:rPr lang="en-US" altLang="zh-CN" sz="1400" b="1">
                <a:latin typeface="Times New Roman" panose="02020503050405090304" pitchFamily="18" charset="0"/>
              </a:rPr>
              <a:t>mod </a:t>
            </a:r>
            <a:r>
              <a:rPr lang="en-US" altLang="zh-CN" sz="1400">
                <a:latin typeface="Times New Roman" panose="02020503050405090304" pitchFamily="18" charset="0"/>
              </a:rPr>
              <a:t>9  = 7∙3 + 4</a:t>
            </a:r>
            <a:r>
              <a:rPr lang="en-US" altLang="zh-CN" sz="1400" b="1">
                <a:latin typeface="Times New Roman" panose="02020503050405090304" pitchFamily="18" charset="0"/>
              </a:rPr>
              <a:t> mod </a:t>
            </a:r>
            <a:r>
              <a:rPr lang="en-US" altLang="zh-CN" sz="1400">
                <a:latin typeface="Times New Roman" panose="02020503050405090304" pitchFamily="18" charset="0"/>
              </a:rPr>
              <a:t>9 = 25 </a:t>
            </a:r>
            <a:r>
              <a:rPr lang="en-US" altLang="zh-CN" sz="1400" b="1">
                <a:latin typeface="Times New Roman" panose="02020503050405090304" pitchFamily="18" charset="0"/>
              </a:rPr>
              <a:t>mod </a:t>
            </a:r>
            <a:r>
              <a:rPr lang="en-US" altLang="zh-CN" sz="1400">
                <a:latin typeface="Times New Roman" panose="02020503050405090304" pitchFamily="18" charset="0"/>
              </a:rPr>
              <a:t>9 = 7,</a:t>
            </a:r>
            <a:endParaRPr lang="en-US" altLang="zh-CN" sz="1400">
              <a:latin typeface="Times New Roman" panose="02020503050405090304" pitchFamily="18" charset="0"/>
            </a:endParaRPr>
          </a:p>
          <a:p>
            <a:pPr lvl="2">
              <a:lnSpc>
                <a:spcPct val="80000"/>
              </a:lnSpc>
              <a:buNone/>
            </a:pPr>
            <a:r>
              <a:rPr lang="en-US" altLang="zh-CN" sz="1400" i="1">
                <a:latin typeface="Times New Roman" panose="02020503050405090304" pitchFamily="18" charset="0"/>
              </a:rPr>
              <a:t>x</a:t>
            </a:r>
            <a:r>
              <a:rPr lang="en-US" altLang="zh-CN" sz="1400" baseline="-25000">
                <a:latin typeface="Times New Roman" panose="02020503050405090304" pitchFamily="18" charset="0"/>
              </a:rPr>
              <a:t>2</a:t>
            </a:r>
            <a:r>
              <a:rPr lang="en-US" altLang="zh-CN" sz="1400" i="1" baseline="-25000">
                <a:latin typeface="Times New Roman" panose="02020503050405090304" pitchFamily="18" charset="0"/>
              </a:rPr>
              <a:t>  </a:t>
            </a:r>
            <a:r>
              <a:rPr lang="en-US" altLang="zh-CN" sz="1400">
                <a:latin typeface="Times New Roman" panose="02020503050405090304" pitchFamily="18" charset="0"/>
              </a:rPr>
              <a:t>= 7</a:t>
            </a:r>
            <a:r>
              <a:rPr lang="en-US" altLang="zh-CN" sz="1400" i="1">
                <a:latin typeface="Times New Roman" panose="02020503050405090304" pitchFamily="18" charset="0"/>
              </a:rPr>
              <a:t>x</a:t>
            </a:r>
            <a:r>
              <a:rPr lang="en-US" altLang="zh-CN" sz="1400" baseline="-25000">
                <a:latin typeface="Times New Roman" panose="02020503050405090304" pitchFamily="18" charset="0"/>
              </a:rPr>
              <a:t>1</a:t>
            </a:r>
            <a:r>
              <a:rPr lang="en-US" altLang="zh-CN" sz="1400">
                <a:latin typeface="Times New Roman" panose="02020503050405090304" pitchFamily="18" charset="0"/>
              </a:rPr>
              <a:t> + 4 </a:t>
            </a:r>
            <a:r>
              <a:rPr lang="en-US" altLang="zh-CN" sz="1400" b="1">
                <a:latin typeface="Times New Roman" panose="02020503050405090304" pitchFamily="18" charset="0"/>
              </a:rPr>
              <a:t>mod </a:t>
            </a:r>
            <a:r>
              <a:rPr lang="en-US" altLang="zh-CN" sz="1400">
                <a:latin typeface="Times New Roman" panose="02020503050405090304" pitchFamily="18" charset="0"/>
              </a:rPr>
              <a:t>9  = 7∙7 + 4</a:t>
            </a:r>
            <a:r>
              <a:rPr lang="en-US" altLang="zh-CN" sz="1400" b="1">
                <a:latin typeface="Times New Roman" panose="02020503050405090304" pitchFamily="18" charset="0"/>
              </a:rPr>
              <a:t> mod </a:t>
            </a:r>
            <a:r>
              <a:rPr lang="en-US" altLang="zh-CN" sz="1400">
                <a:latin typeface="Times New Roman" panose="02020503050405090304" pitchFamily="18" charset="0"/>
              </a:rPr>
              <a:t>9 = 53 </a:t>
            </a:r>
            <a:r>
              <a:rPr lang="en-US" altLang="zh-CN" sz="1400" b="1">
                <a:latin typeface="Times New Roman" panose="02020503050405090304" pitchFamily="18" charset="0"/>
              </a:rPr>
              <a:t>mod </a:t>
            </a:r>
            <a:r>
              <a:rPr lang="en-US" altLang="zh-CN" sz="1400">
                <a:latin typeface="Times New Roman" panose="02020503050405090304" pitchFamily="18" charset="0"/>
              </a:rPr>
              <a:t>9 = 8,</a:t>
            </a:r>
            <a:endParaRPr lang="en-US" altLang="zh-CN" sz="1400">
              <a:latin typeface="Times New Roman" panose="02020503050405090304" pitchFamily="18" charset="0"/>
            </a:endParaRPr>
          </a:p>
          <a:p>
            <a:pPr lvl="2">
              <a:lnSpc>
                <a:spcPct val="80000"/>
              </a:lnSpc>
              <a:buNone/>
            </a:pPr>
            <a:r>
              <a:rPr lang="en-US" altLang="zh-CN" sz="1400" i="1">
                <a:latin typeface="Times New Roman" panose="02020503050405090304" pitchFamily="18" charset="0"/>
              </a:rPr>
              <a:t>x</a:t>
            </a:r>
            <a:r>
              <a:rPr lang="en-US" altLang="zh-CN" sz="1400" baseline="-25000">
                <a:latin typeface="Times New Roman" panose="02020503050405090304" pitchFamily="18" charset="0"/>
              </a:rPr>
              <a:t>3</a:t>
            </a:r>
            <a:r>
              <a:rPr lang="en-US" altLang="zh-CN" sz="1400" i="1" baseline="-25000">
                <a:latin typeface="Times New Roman" panose="02020503050405090304" pitchFamily="18" charset="0"/>
              </a:rPr>
              <a:t>  </a:t>
            </a:r>
            <a:r>
              <a:rPr lang="en-US" altLang="zh-CN" sz="1400">
                <a:latin typeface="Times New Roman" panose="02020503050405090304" pitchFamily="18" charset="0"/>
              </a:rPr>
              <a:t>= 7</a:t>
            </a:r>
            <a:r>
              <a:rPr lang="en-US" altLang="zh-CN" sz="1400" i="1">
                <a:latin typeface="Times New Roman" panose="02020503050405090304" pitchFamily="18" charset="0"/>
              </a:rPr>
              <a:t>x</a:t>
            </a:r>
            <a:r>
              <a:rPr lang="en-US" altLang="zh-CN" sz="1400" baseline="-25000">
                <a:latin typeface="Times New Roman" panose="02020503050405090304" pitchFamily="18" charset="0"/>
              </a:rPr>
              <a:t>2</a:t>
            </a:r>
            <a:r>
              <a:rPr lang="en-US" altLang="zh-CN" sz="1400">
                <a:latin typeface="Times New Roman" panose="02020503050405090304" pitchFamily="18" charset="0"/>
              </a:rPr>
              <a:t> + 4 </a:t>
            </a:r>
            <a:r>
              <a:rPr lang="en-US" altLang="zh-CN" sz="1400" b="1">
                <a:latin typeface="Times New Roman" panose="02020503050405090304" pitchFamily="18" charset="0"/>
              </a:rPr>
              <a:t>mod </a:t>
            </a:r>
            <a:r>
              <a:rPr lang="en-US" altLang="zh-CN" sz="1400">
                <a:latin typeface="Times New Roman" panose="02020503050405090304" pitchFamily="18" charset="0"/>
              </a:rPr>
              <a:t>9  = 7∙8 + 4</a:t>
            </a:r>
            <a:r>
              <a:rPr lang="en-US" altLang="zh-CN" sz="1400" b="1">
                <a:latin typeface="Times New Roman" panose="02020503050405090304" pitchFamily="18" charset="0"/>
              </a:rPr>
              <a:t> mod </a:t>
            </a:r>
            <a:r>
              <a:rPr lang="en-US" altLang="zh-CN" sz="1400">
                <a:latin typeface="Times New Roman" panose="02020503050405090304" pitchFamily="18" charset="0"/>
              </a:rPr>
              <a:t>9 = 60 </a:t>
            </a:r>
            <a:r>
              <a:rPr lang="en-US" altLang="zh-CN" sz="1400" b="1">
                <a:latin typeface="Times New Roman" panose="02020503050405090304" pitchFamily="18" charset="0"/>
              </a:rPr>
              <a:t>mod </a:t>
            </a:r>
            <a:r>
              <a:rPr lang="en-US" altLang="zh-CN" sz="1400">
                <a:latin typeface="Times New Roman" panose="02020503050405090304" pitchFamily="18" charset="0"/>
              </a:rPr>
              <a:t>9 = 6,</a:t>
            </a:r>
            <a:endParaRPr lang="en-US" altLang="zh-CN" sz="1400">
              <a:latin typeface="Times New Roman" panose="02020503050405090304" pitchFamily="18" charset="0"/>
            </a:endParaRPr>
          </a:p>
          <a:p>
            <a:pPr lvl="2">
              <a:lnSpc>
                <a:spcPct val="80000"/>
              </a:lnSpc>
              <a:buNone/>
            </a:pPr>
            <a:r>
              <a:rPr lang="en-US" altLang="zh-CN" sz="1400" i="1">
                <a:latin typeface="Times New Roman" panose="02020503050405090304" pitchFamily="18" charset="0"/>
              </a:rPr>
              <a:t>x</a:t>
            </a:r>
            <a:r>
              <a:rPr lang="en-US" altLang="zh-CN" sz="1400" baseline="-25000">
                <a:latin typeface="Times New Roman" panose="02020503050405090304" pitchFamily="18" charset="0"/>
              </a:rPr>
              <a:t>4</a:t>
            </a:r>
            <a:r>
              <a:rPr lang="en-US" altLang="zh-CN" sz="1400" i="1" baseline="-25000">
                <a:latin typeface="Times New Roman" panose="02020503050405090304" pitchFamily="18" charset="0"/>
              </a:rPr>
              <a:t>  </a:t>
            </a:r>
            <a:r>
              <a:rPr lang="en-US" altLang="zh-CN" sz="1400">
                <a:latin typeface="Times New Roman" panose="02020503050405090304" pitchFamily="18" charset="0"/>
              </a:rPr>
              <a:t>= 7</a:t>
            </a:r>
            <a:r>
              <a:rPr lang="en-US" altLang="zh-CN" sz="1400" i="1">
                <a:latin typeface="Times New Roman" panose="02020503050405090304" pitchFamily="18" charset="0"/>
              </a:rPr>
              <a:t>x</a:t>
            </a:r>
            <a:r>
              <a:rPr lang="en-US" altLang="zh-CN" sz="1400" baseline="-25000">
                <a:latin typeface="Times New Roman" panose="02020503050405090304" pitchFamily="18" charset="0"/>
              </a:rPr>
              <a:t>3</a:t>
            </a:r>
            <a:r>
              <a:rPr lang="en-US" altLang="zh-CN" sz="1400">
                <a:latin typeface="Times New Roman" panose="02020503050405090304" pitchFamily="18" charset="0"/>
              </a:rPr>
              <a:t> + 4 </a:t>
            </a:r>
            <a:r>
              <a:rPr lang="en-US" altLang="zh-CN" sz="1400" b="1">
                <a:latin typeface="Times New Roman" panose="02020503050405090304" pitchFamily="18" charset="0"/>
              </a:rPr>
              <a:t>mod </a:t>
            </a:r>
            <a:r>
              <a:rPr lang="en-US" altLang="zh-CN" sz="1400">
                <a:latin typeface="Times New Roman" panose="02020503050405090304" pitchFamily="18" charset="0"/>
              </a:rPr>
              <a:t>9  = 7∙6 + 4</a:t>
            </a:r>
            <a:r>
              <a:rPr lang="en-US" altLang="zh-CN" sz="1400" b="1">
                <a:latin typeface="Times New Roman" panose="02020503050405090304" pitchFamily="18" charset="0"/>
              </a:rPr>
              <a:t> mod </a:t>
            </a:r>
            <a:r>
              <a:rPr lang="en-US" altLang="zh-CN" sz="1400">
                <a:latin typeface="Times New Roman" panose="02020503050405090304" pitchFamily="18" charset="0"/>
              </a:rPr>
              <a:t>9 = 46 </a:t>
            </a:r>
            <a:r>
              <a:rPr lang="en-US" altLang="zh-CN" sz="1400" b="1">
                <a:latin typeface="Times New Roman" panose="02020503050405090304" pitchFamily="18" charset="0"/>
              </a:rPr>
              <a:t>mod </a:t>
            </a:r>
            <a:r>
              <a:rPr lang="en-US" altLang="zh-CN" sz="1400">
                <a:latin typeface="Times New Roman" panose="02020503050405090304" pitchFamily="18" charset="0"/>
              </a:rPr>
              <a:t>9 = 1,</a:t>
            </a:r>
            <a:endParaRPr lang="en-US" altLang="zh-CN" sz="1400">
              <a:latin typeface="Times New Roman" panose="02020503050405090304" pitchFamily="18" charset="0"/>
            </a:endParaRPr>
          </a:p>
          <a:p>
            <a:pPr lvl="2">
              <a:lnSpc>
                <a:spcPct val="80000"/>
              </a:lnSpc>
              <a:buNone/>
            </a:pPr>
            <a:r>
              <a:rPr lang="en-US" altLang="zh-CN" sz="1400" i="1">
                <a:latin typeface="Times New Roman" panose="02020503050405090304" pitchFamily="18" charset="0"/>
              </a:rPr>
              <a:t>x</a:t>
            </a:r>
            <a:r>
              <a:rPr lang="en-US" altLang="zh-CN" sz="1400" baseline="-25000">
                <a:latin typeface="Times New Roman" panose="02020503050405090304" pitchFamily="18" charset="0"/>
              </a:rPr>
              <a:t>5</a:t>
            </a:r>
            <a:r>
              <a:rPr lang="en-US" altLang="zh-CN" sz="1400" i="1" baseline="-25000">
                <a:latin typeface="Times New Roman" panose="02020503050405090304" pitchFamily="18" charset="0"/>
              </a:rPr>
              <a:t>  </a:t>
            </a:r>
            <a:r>
              <a:rPr lang="en-US" altLang="zh-CN" sz="1400">
                <a:latin typeface="Times New Roman" panose="02020503050405090304" pitchFamily="18" charset="0"/>
              </a:rPr>
              <a:t>= 7</a:t>
            </a:r>
            <a:r>
              <a:rPr lang="en-US" altLang="zh-CN" sz="1400" i="1">
                <a:latin typeface="Times New Roman" panose="02020503050405090304" pitchFamily="18" charset="0"/>
              </a:rPr>
              <a:t>x</a:t>
            </a:r>
            <a:r>
              <a:rPr lang="en-US" altLang="zh-CN" sz="1400" baseline="-25000">
                <a:latin typeface="Times New Roman" panose="02020503050405090304" pitchFamily="18" charset="0"/>
              </a:rPr>
              <a:t>4</a:t>
            </a:r>
            <a:r>
              <a:rPr lang="en-US" altLang="zh-CN" sz="1400">
                <a:latin typeface="Times New Roman" panose="02020503050405090304" pitchFamily="18" charset="0"/>
              </a:rPr>
              <a:t> + 4 </a:t>
            </a:r>
            <a:r>
              <a:rPr lang="en-US" altLang="zh-CN" sz="1400" b="1">
                <a:latin typeface="Times New Roman" panose="02020503050405090304" pitchFamily="18" charset="0"/>
              </a:rPr>
              <a:t>mod </a:t>
            </a:r>
            <a:r>
              <a:rPr lang="en-US" altLang="zh-CN" sz="1400">
                <a:latin typeface="Times New Roman" panose="02020503050405090304" pitchFamily="18" charset="0"/>
              </a:rPr>
              <a:t>9  = 7∙1 + 4</a:t>
            </a:r>
            <a:r>
              <a:rPr lang="en-US" altLang="zh-CN" sz="1400" b="1">
                <a:latin typeface="Times New Roman" panose="02020503050405090304" pitchFamily="18" charset="0"/>
              </a:rPr>
              <a:t> mod </a:t>
            </a:r>
            <a:r>
              <a:rPr lang="en-US" altLang="zh-CN" sz="1400">
                <a:latin typeface="Times New Roman" panose="02020503050405090304" pitchFamily="18" charset="0"/>
              </a:rPr>
              <a:t>9 = 11 </a:t>
            </a:r>
            <a:r>
              <a:rPr lang="en-US" altLang="zh-CN" sz="1400" b="1">
                <a:latin typeface="Times New Roman" panose="02020503050405090304" pitchFamily="18" charset="0"/>
              </a:rPr>
              <a:t>mod </a:t>
            </a:r>
            <a:r>
              <a:rPr lang="en-US" altLang="zh-CN" sz="1400">
                <a:latin typeface="Times New Roman" panose="02020503050405090304" pitchFamily="18" charset="0"/>
              </a:rPr>
              <a:t>9 = 2,</a:t>
            </a:r>
            <a:endParaRPr lang="en-US" altLang="zh-CN" sz="1400">
              <a:latin typeface="Times New Roman" panose="02020503050405090304" pitchFamily="18" charset="0"/>
            </a:endParaRPr>
          </a:p>
          <a:p>
            <a:pPr lvl="2">
              <a:lnSpc>
                <a:spcPct val="80000"/>
              </a:lnSpc>
              <a:buNone/>
            </a:pPr>
            <a:r>
              <a:rPr lang="en-US" altLang="zh-CN" sz="1400" i="1">
                <a:latin typeface="Times New Roman" panose="02020503050405090304" pitchFamily="18" charset="0"/>
              </a:rPr>
              <a:t>x</a:t>
            </a:r>
            <a:r>
              <a:rPr lang="en-US" altLang="zh-CN" sz="1400" baseline="-25000">
                <a:latin typeface="Times New Roman" panose="02020503050405090304" pitchFamily="18" charset="0"/>
              </a:rPr>
              <a:t>6</a:t>
            </a:r>
            <a:r>
              <a:rPr lang="en-US" altLang="zh-CN" sz="1400" i="1" baseline="-25000">
                <a:latin typeface="Times New Roman" panose="02020503050405090304" pitchFamily="18" charset="0"/>
              </a:rPr>
              <a:t>  </a:t>
            </a:r>
            <a:r>
              <a:rPr lang="en-US" altLang="zh-CN" sz="1400">
                <a:latin typeface="Times New Roman" panose="02020503050405090304" pitchFamily="18" charset="0"/>
              </a:rPr>
              <a:t>= 7</a:t>
            </a:r>
            <a:r>
              <a:rPr lang="en-US" altLang="zh-CN" sz="1400" i="1">
                <a:latin typeface="Times New Roman" panose="02020503050405090304" pitchFamily="18" charset="0"/>
              </a:rPr>
              <a:t>x</a:t>
            </a:r>
            <a:r>
              <a:rPr lang="en-US" altLang="zh-CN" sz="1400" baseline="-25000">
                <a:latin typeface="Times New Roman" panose="02020503050405090304" pitchFamily="18" charset="0"/>
              </a:rPr>
              <a:t>5</a:t>
            </a:r>
            <a:r>
              <a:rPr lang="en-US" altLang="zh-CN" sz="1400">
                <a:latin typeface="Times New Roman" panose="02020503050405090304" pitchFamily="18" charset="0"/>
              </a:rPr>
              <a:t> + 4 </a:t>
            </a:r>
            <a:r>
              <a:rPr lang="en-US" altLang="zh-CN" sz="1400" b="1">
                <a:latin typeface="Times New Roman" panose="02020503050405090304" pitchFamily="18" charset="0"/>
              </a:rPr>
              <a:t>mod </a:t>
            </a:r>
            <a:r>
              <a:rPr lang="en-US" altLang="zh-CN" sz="1400">
                <a:latin typeface="Times New Roman" panose="02020503050405090304" pitchFamily="18" charset="0"/>
              </a:rPr>
              <a:t>9  = 7∙2 + 4</a:t>
            </a:r>
            <a:r>
              <a:rPr lang="en-US" altLang="zh-CN" sz="1400" b="1">
                <a:latin typeface="Times New Roman" panose="02020503050405090304" pitchFamily="18" charset="0"/>
              </a:rPr>
              <a:t> mod </a:t>
            </a:r>
            <a:r>
              <a:rPr lang="en-US" altLang="zh-CN" sz="1400">
                <a:latin typeface="Times New Roman" panose="02020503050405090304" pitchFamily="18" charset="0"/>
              </a:rPr>
              <a:t>9 = 18 </a:t>
            </a:r>
            <a:r>
              <a:rPr lang="en-US" altLang="zh-CN" sz="1400" b="1">
                <a:latin typeface="Times New Roman" panose="02020503050405090304" pitchFamily="18" charset="0"/>
              </a:rPr>
              <a:t>mod </a:t>
            </a:r>
            <a:r>
              <a:rPr lang="en-US" altLang="zh-CN" sz="1400">
                <a:latin typeface="Times New Roman" panose="02020503050405090304" pitchFamily="18" charset="0"/>
              </a:rPr>
              <a:t>9 = 0,</a:t>
            </a:r>
            <a:endParaRPr lang="en-US" altLang="zh-CN" sz="1400">
              <a:latin typeface="Times New Roman" panose="02020503050405090304" pitchFamily="18" charset="0"/>
            </a:endParaRPr>
          </a:p>
          <a:p>
            <a:pPr lvl="2">
              <a:lnSpc>
                <a:spcPct val="80000"/>
              </a:lnSpc>
              <a:buNone/>
            </a:pPr>
            <a:r>
              <a:rPr lang="en-US" altLang="zh-CN" sz="1400" i="1">
                <a:latin typeface="Times New Roman" panose="02020503050405090304" pitchFamily="18" charset="0"/>
              </a:rPr>
              <a:t>x</a:t>
            </a:r>
            <a:r>
              <a:rPr lang="en-US" altLang="zh-CN" sz="1400" baseline="-25000">
                <a:latin typeface="Times New Roman" panose="02020503050405090304" pitchFamily="18" charset="0"/>
              </a:rPr>
              <a:t>7</a:t>
            </a:r>
            <a:r>
              <a:rPr lang="en-US" altLang="zh-CN" sz="1400" i="1" baseline="-25000">
                <a:latin typeface="Times New Roman" panose="02020503050405090304" pitchFamily="18" charset="0"/>
              </a:rPr>
              <a:t>  </a:t>
            </a:r>
            <a:r>
              <a:rPr lang="en-US" altLang="zh-CN" sz="1400">
                <a:latin typeface="Times New Roman" panose="02020503050405090304" pitchFamily="18" charset="0"/>
              </a:rPr>
              <a:t>= 7</a:t>
            </a:r>
            <a:r>
              <a:rPr lang="en-US" altLang="zh-CN" sz="1400" i="1">
                <a:latin typeface="Times New Roman" panose="02020503050405090304" pitchFamily="18" charset="0"/>
              </a:rPr>
              <a:t>x</a:t>
            </a:r>
            <a:r>
              <a:rPr lang="en-US" altLang="zh-CN" sz="1400" baseline="-25000">
                <a:latin typeface="Times New Roman" panose="02020503050405090304" pitchFamily="18" charset="0"/>
              </a:rPr>
              <a:t>6</a:t>
            </a:r>
            <a:r>
              <a:rPr lang="en-US" altLang="zh-CN" sz="1400">
                <a:latin typeface="Times New Roman" panose="02020503050405090304" pitchFamily="18" charset="0"/>
              </a:rPr>
              <a:t> + 4 </a:t>
            </a:r>
            <a:r>
              <a:rPr lang="en-US" altLang="zh-CN" sz="1400" b="1">
                <a:latin typeface="Times New Roman" panose="02020503050405090304" pitchFamily="18" charset="0"/>
              </a:rPr>
              <a:t>mod </a:t>
            </a:r>
            <a:r>
              <a:rPr lang="en-US" altLang="zh-CN" sz="1400">
                <a:latin typeface="Times New Roman" panose="02020503050405090304" pitchFamily="18" charset="0"/>
              </a:rPr>
              <a:t>9  = 7∙0 + 4</a:t>
            </a:r>
            <a:r>
              <a:rPr lang="en-US" altLang="zh-CN" sz="1400" b="1">
                <a:latin typeface="Times New Roman" panose="02020503050405090304" pitchFamily="18" charset="0"/>
              </a:rPr>
              <a:t> mod </a:t>
            </a:r>
            <a:r>
              <a:rPr lang="en-US" altLang="zh-CN" sz="1400">
                <a:latin typeface="Times New Roman" panose="02020503050405090304" pitchFamily="18" charset="0"/>
              </a:rPr>
              <a:t>9 = 4 </a:t>
            </a:r>
            <a:r>
              <a:rPr lang="en-US" altLang="zh-CN" sz="1400" b="1">
                <a:latin typeface="Times New Roman" panose="02020503050405090304" pitchFamily="18" charset="0"/>
              </a:rPr>
              <a:t>mod </a:t>
            </a:r>
            <a:r>
              <a:rPr lang="en-US" altLang="zh-CN" sz="1400">
                <a:latin typeface="Times New Roman" panose="02020503050405090304" pitchFamily="18" charset="0"/>
              </a:rPr>
              <a:t>9 = 4,</a:t>
            </a:r>
            <a:endParaRPr lang="en-US" altLang="zh-CN" sz="1400">
              <a:latin typeface="Times New Roman" panose="02020503050405090304" pitchFamily="18" charset="0"/>
            </a:endParaRPr>
          </a:p>
          <a:p>
            <a:pPr lvl="2">
              <a:lnSpc>
                <a:spcPct val="80000"/>
              </a:lnSpc>
              <a:buNone/>
            </a:pPr>
            <a:r>
              <a:rPr lang="en-US" altLang="zh-CN" sz="1400" i="1">
                <a:latin typeface="Times New Roman" panose="02020503050405090304" pitchFamily="18" charset="0"/>
              </a:rPr>
              <a:t>x</a:t>
            </a:r>
            <a:r>
              <a:rPr lang="en-US" altLang="zh-CN" sz="1400" baseline="-25000">
                <a:latin typeface="Times New Roman" panose="02020503050405090304" pitchFamily="18" charset="0"/>
              </a:rPr>
              <a:t>8</a:t>
            </a:r>
            <a:r>
              <a:rPr lang="en-US" altLang="zh-CN" sz="1400" i="1" baseline="-25000">
                <a:latin typeface="Times New Roman" panose="02020503050405090304" pitchFamily="18" charset="0"/>
              </a:rPr>
              <a:t>  </a:t>
            </a:r>
            <a:r>
              <a:rPr lang="en-US" altLang="zh-CN" sz="1400">
                <a:latin typeface="Times New Roman" panose="02020503050405090304" pitchFamily="18" charset="0"/>
              </a:rPr>
              <a:t>= 7</a:t>
            </a:r>
            <a:r>
              <a:rPr lang="en-US" altLang="zh-CN" sz="1400" i="1">
                <a:latin typeface="Times New Roman" panose="02020503050405090304" pitchFamily="18" charset="0"/>
              </a:rPr>
              <a:t>x</a:t>
            </a:r>
            <a:r>
              <a:rPr lang="en-US" altLang="zh-CN" sz="1400" baseline="-25000">
                <a:latin typeface="Times New Roman" panose="02020503050405090304" pitchFamily="18" charset="0"/>
              </a:rPr>
              <a:t>7</a:t>
            </a:r>
            <a:r>
              <a:rPr lang="en-US" altLang="zh-CN" sz="1400">
                <a:latin typeface="Times New Roman" panose="02020503050405090304" pitchFamily="18" charset="0"/>
              </a:rPr>
              <a:t> + 4 </a:t>
            </a:r>
            <a:r>
              <a:rPr lang="en-US" altLang="zh-CN" sz="1400" b="1">
                <a:latin typeface="Times New Roman" panose="02020503050405090304" pitchFamily="18" charset="0"/>
              </a:rPr>
              <a:t>mod </a:t>
            </a:r>
            <a:r>
              <a:rPr lang="en-US" altLang="zh-CN" sz="1400">
                <a:latin typeface="Times New Roman" panose="02020503050405090304" pitchFamily="18" charset="0"/>
              </a:rPr>
              <a:t>9  = 7∙4 + 4</a:t>
            </a:r>
            <a:r>
              <a:rPr lang="en-US" altLang="zh-CN" sz="1400" b="1">
                <a:latin typeface="Times New Roman" panose="02020503050405090304" pitchFamily="18" charset="0"/>
              </a:rPr>
              <a:t> mod </a:t>
            </a:r>
            <a:r>
              <a:rPr lang="en-US" altLang="zh-CN" sz="1400">
                <a:latin typeface="Times New Roman" panose="02020503050405090304" pitchFamily="18" charset="0"/>
              </a:rPr>
              <a:t>9 = 32 </a:t>
            </a:r>
            <a:r>
              <a:rPr lang="en-US" altLang="zh-CN" sz="1400" b="1">
                <a:latin typeface="Times New Roman" panose="02020503050405090304" pitchFamily="18" charset="0"/>
              </a:rPr>
              <a:t>mod </a:t>
            </a:r>
            <a:r>
              <a:rPr lang="en-US" altLang="zh-CN" sz="1400">
                <a:latin typeface="Times New Roman" panose="02020503050405090304" pitchFamily="18" charset="0"/>
              </a:rPr>
              <a:t>9 = 5,</a:t>
            </a:r>
            <a:endParaRPr lang="en-US" altLang="zh-CN" sz="1400">
              <a:latin typeface="Times New Roman" panose="02020503050405090304" pitchFamily="18" charset="0"/>
            </a:endParaRPr>
          </a:p>
          <a:p>
            <a:pPr lvl="2">
              <a:lnSpc>
                <a:spcPct val="80000"/>
              </a:lnSpc>
              <a:buNone/>
            </a:pPr>
            <a:r>
              <a:rPr lang="en-US" altLang="zh-CN" sz="1400" i="1">
                <a:latin typeface="Times New Roman" panose="02020503050405090304" pitchFamily="18" charset="0"/>
              </a:rPr>
              <a:t>x</a:t>
            </a:r>
            <a:r>
              <a:rPr lang="en-US" altLang="zh-CN" sz="1400" baseline="-25000">
                <a:latin typeface="Times New Roman" panose="02020503050405090304" pitchFamily="18" charset="0"/>
              </a:rPr>
              <a:t>9</a:t>
            </a:r>
            <a:r>
              <a:rPr lang="en-US" altLang="zh-CN" sz="1400" i="1" baseline="-25000">
                <a:latin typeface="Times New Roman" panose="02020503050405090304" pitchFamily="18" charset="0"/>
              </a:rPr>
              <a:t>  </a:t>
            </a:r>
            <a:r>
              <a:rPr lang="en-US" altLang="zh-CN" sz="1400">
                <a:latin typeface="Times New Roman" panose="02020503050405090304" pitchFamily="18" charset="0"/>
              </a:rPr>
              <a:t>= 7</a:t>
            </a:r>
            <a:r>
              <a:rPr lang="en-US" altLang="zh-CN" sz="1400" i="1">
                <a:latin typeface="Times New Roman" panose="02020503050405090304" pitchFamily="18" charset="0"/>
              </a:rPr>
              <a:t>x</a:t>
            </a:r>
            <a:r>
              <a:rPr lang="en-US" altLang="zh-CN" sz="1400" baseline="-25000">
                <a:latin typeface="Times New Roman" panose="02020503050405090304" pitchFamily="18" charset="0"/>
              </a:rPr>
              <a:t>8</a:t>
            </a:r>
            <a:r>
              <a:rPr lang="en-US" altLang="zh-CN" sz="1400">
                <a:latin typeface="Times New Roman" panose="02020503050405090304" pitchFamily="18" charset="0"/>
              </a:rPr>
              <a:t> + 4 </a:t>
            </a:r>
            <a:r>
              <a:rPr lang="en-US" altLang="zh-CN" sz="1400" b="1">
                <a:latin typeface="Times New Roman" panose="02020503050405090304" pitchFamily="18" charset="0"/>
              </a:rPr>
              <a:t>mod </a:t>
            </a:r>
            <a:r>
              <a:rPr lang="en-US" altLang="zh-CN" sz="1400">
                <a:latin typeface="Times New Roman" panose="02020503050405090304" pitchFamily="18" charset="0"/>
              </a:rPr>
              <a:t>9  = 7∙5 + 4</a:t>
            </a:r>
            <a:r>
              <a:rPr lang="en-US" altLang="zh-CN" sz="1400" b="1">
                <a:latin typeface="Times New Roman" panose="02020503050405090304" pitchFamily="18" charset="0"/>
              </a:rPr>
              <a:t> mod </a:t>
            </a:r>
            <a:r>
              <a:rPr lang="en-US" altLang="zh-CN" sz="1400">
                <a:latin typeface="Times New Roman" panose="02020503050405090304" pitchFamily="18" charset="0"/>
              </a:rPr>
              <a:t>9 = 39 </a:t>
            </a:r>
            <a:r>
              <a:rPr lang="en-US" altLang="zh-CN" sz="1400" b="1">
                <a:latin typeface="Times New Roman" panose="02020503050405090304" pitchFamily="18" charset="0"/>
              </a:rPr>
              <a:t>mod </a:t>
            </a:r>
            <a:r>
              <a:rPr lang="en-US" altLang="zh-CN" sz="1400">
                <a:latin typeface="Times New Roman" panose="02020503050405090304" pitchFamily="18" charset="0"/>
              </a:rPr>
              <a:t>9 = 3.</a:t>
            </a:r>
            <a:endParaRPr lang="en-US" altLang="zh-CN" sz="1400">
              <a:latin typeface="Times New Roman" panose="02020503050405090304" pitchFamily="18" charset="0"/>
            </a:endParaRPr>
          </a:p>
          <a:p>
            <a:pPr lvl="1">
              <a:lnSpc>
                <a:spcPct val="80000"/>
              </a:lnSpc>
              <a:buNone/>
            </a:pPr>
            <a:r>
              <a:rPr lang="en-US" altLang="zh-CN" sz="1600">
                <a:latin typeface="Times New Roman" panose="02020503050405090304" pitchFamily="18" charset="0"/>
              </a:rPr>
              <a:t>The sequence generated is 3,7,8,6,1,2,0,4,5,3,7,8,6,1,2,0,4,5,3,…   </a:t>
            </a:r>
            <a:endParaRPr lang="en-US" altLang="zh-CN" sz="1600">
              <a:latin typeface="Times New Roman" panose="02020503050405090304" pitchFamily="18" charset="0"/>
            </a:endParaRPr>
          </a:p>
          <a:p>
            <a:pPr lvl="1">
              <a:lnSpc>
                <a:spcPct val="80000"/>
              </a:lnSpc>
              <a:buNone/>
            </a:pPr>
            <a:r>
              <a:rPr lang="en-US" altLang="zh-CN" sz="1600">
                <a:latin typeface="Times New Roman" panose="02020503050405090304" pitchFamily="18" charset="0"/>
              </a:rPr>
              <a:t>It repeats after generating 9 terms.</a:t>
            </a:r>
            <a:endParaRPr lang="en-US" altLang="zh-CN" sz="1600">
              <a:latin typeface="Times New Roman" panose="02020503050405090304" pitchFamily="18" charset="0"/>
            </a:endParaRPr>
          </a:p>
          <a:p>
            <a:pPr>
              <a:lnSpc>
                <a:spcPct val="80000"/>
              </a:lnSpc>
            </a:pPr>
            <a:r>
              <a:rPr lang="en-US" altLang="zh-CN" sz="2000">
                <a:latin typeface="Times New Roman" panose="02020503050405090304" pitchFamily="18" charset="0"/>
              </a:rPr>
              <a:t>Commonly, computers use a linear congruential generator with increment </a:t>
            </a:r>
            <a:r>
              <a:rPr lang="en-US" altLang="zh-CN" sz="2000" i="1">
                <a:latin typeface="Times New Roman" panose="02020503050405090304" pitchFamily="18" charset="0"/>
              </a:rPr>
              <a:t>c</a:t>
            </a:r>
            <a:r>
              <a:rPr lang="en-US" altLang="zh-CN" sz="2000">
                <a:latin typeface="Times New Roman" panose="02020503050405090304" pitchFamily="18" charset="0"/>
              </a:rPr>
              <a:t> = 0. This is called a </a:t>
            </a:r>
            <a:r>
              <a:rPr lang="en-US" altLang="zh-CN" sz="2000" i="1">
                <a:solidFill>
                  <a:srgbClr val="FF0000"/>
                </a:solidFill>
                <a:latin typeface="Times New Roman" panose="02020503050405090304" pitchFamily="18" charset="0"/>
              </a:rPr>
              <a:t>pure multiplicative generator</a:t>
            </a:r>
            <a:r>
              <a:rPr lang="en-US" altLang="zh-CN" sz="2000">
                <a:latin typeface="Times New Roman" panose="02020503050405090304" pitchFamily="18" charset="0"/>
              </a:rPr>
              <a:t>. Such a generator with modulus 2</a:t>
            </a:r>
            <a:r>
              <a:rPr lang="en-US" altLang="zh-CN" sz="2000" baseline="30000">
                <a:latin typeface="Times New Roman" panose="02020503050405090304" pitchFamily="18" charset="0"/>
              </a:rPr>
              <a:t>31</a:t>
            </a:r>
            <a:r>
              <a:rPr lang="en-US" altLang="zh-CN" sz="2000">
                <a:latin typeface="Times New Roman" panose="02020503050405090304" pitchFamily="18" charset="0"/>
              </a:rPr>
              <a:t> − 1 and multiplier  7</a:t>
            </a:r>
            <a:r>
              <a:rPr lang="en-US" altLang="zh-CN" sz="2000" baseline="30000">
                <a:latin typeface="Times New Roman" panose="02020503050405090304" pitchFamily="18" charset="0"/>
              </a:rPr>
              <a:t>5</a:t>
            </a:r>
            <a:r>
              <a:rPr lang="en-US" altLang="zh-CN" sz="2000">
                <a:latin typeface="Times New Roman" panose="02020503050405090304" pitchFamily="18" charset="0"/>
              </a:rPr>
              <a:t> = 16,807 generates 2</a:t>
            </a:r>
            <a:r>
              <a:rPr lang="en-US" altLang="zh-CN" sz="2000" baseline="30000">
                <a:latin typeface="Times New Roman" panose="02020503050405090304" pitchFamily="18" charset="0"/>
              </a:rPr>
              <a:t>31 </a:t>
            </a:r>
            <a:r>
              <a:rPr lang="en-US" altLang="zh-CN" sz="2000">
                <a:latin typeface="Times New Roman" panose="02020503050405090304" pitchFamily="18" charset="0"/>
              </a:rPr>
              <a:t>− 2 numbers before  repeating. </a:t>
            </a:r>
            <a:endParaRPr lang="en-US" altLang="zh-CN" sz="2000" baseline="30000">
              <a:latin typeface="Times New Roman" panose="02020503050405090304" pitchFamily="18" charset="0"/>
            </a:endParaRPr>
          </a:p>
          <a:p>
            <a:pPr>
              <a:lnSpc>
                <a:spcPct val="80000"/>
              </a:lnSpc>
            </a:pPr>
            <a:endParaRPr lang="en-US" altLang="zh-CN"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Title 1"/>
          <p:cNvSpPr>
            <a:spLocks noGrp="1"/>
          </p:cNvSpPr>
          <p:nvPr>
            <p:ph type="title"/>
          </p:nvPr>
        </p:nvSpPr>
        <p:spPr>
          <a:ln/>
        </p:spPr>
        <p:txBody>
          <a:bodyPr vert="horz" wrap="square" lIns="91440" tIns="45720" rIns="91440" bIns="45720" anchor="b" anchorCtr="0"/>
          <a:p>
            <a:r>
              <a:rPr lang="en-US" altLang="zh-CN" sz="3200"/>
              <a:t>Check Digits:  UPCs</a:t>
            </a:r>
            <a:r>
              <a:rPr lang="zh-CN" altLang="en-US" sz="3200"/>
              <a:t>（通用产品代码）</a:t>
            </a:r>
            <a:endParaRPr lang="zh-CN" altLang="en-US" sz="3200"/>
          </a:p>
        </p:txBody>
      </p:sp>
      <p:sp>
        <p:nvSpPr>
          <p:cNvPr id="10242" name="Content Placeholder 2"/>
          <p:cNvSpPr>
            <a:spLocks noGrp="1"/>
          </p:cNvSpPr>
          <p:nvPr>
            <p:ph idx="1"/>
          </p:nvPr>
        </p:nvSpPr>
        <p:spPr>
          <a:ln/>
        </p:spPr>
        <p:txBody>
          <a:bodyPr vert="horz" wrap="square" lIns="91440" tIns="45720" rIns="91440" bIns="45720" anchor="t" anchorCtr="0"/>
          <a:p>
            <a:pPr>
              <a:lnSpc>
                <a:spcPct val="70000"/>
              </a:lnSpc>
            </a:pPr>
            <a:r>
              <a:rPr lang="en-US" altLang="zh-CN" sz="2400" dirty="0">
                <a:latin typeface="Times New Roman" panose="02020503050405090304" pitchFamily="18" charset="0"/>
              </a:rPr>
              <a:t>A common method of detecting errors in strings of digits is to add an extra digit at the end, which is evaluated using a function. If the final digit is  not correct, then the string is assumed not to be correct.</a:t>
            </a:r>
            <a:endParaRPr lang="en-US" altLang="zh-CN" sz="2400" dirty="0">
              <a:latin typeface="Times New Roman" panose="02020503050405090304" pitchFamily="18" charset="0"/>
            </a:endParaRPr>
          </a:p>
          <a:p>
            <a:pPr>
              <a:lnSpc>
                <a:spcPct val="70000"/>
              </a:lnSpc>
              <a:buNone/>
            </a:pPr>
            <a:r>
              <a:rPr lang="en-US" altLang="zh-CN" sz="2400" b="1" dirty="0">
                <a:latin typeface="Times New Roman" panose="02020503050405090304" pitchFamily="18" charset="0"/>
              </a:rPr>
              <a:t>   Example</a:t>
            </a:r>
            <a:r>
              <a:rPr lang="en-US" altLang="zh-CN" sz="2400" dirty="0">
                <a:latin typeface="Times New Roman" panose="02020503050405090304" pitchFamily="18" charset="0"/>
              </a:rPr>
              <a:t>: Retail products are identified by their </a:t>
            </a:r>
            <a:r>
              <a:rPr lang="en-US" altLang="zh-CN" sz="2400" i="1" dirty="0">
                <a:latin typeface="Times New Roman" panose="02020503050405090304" pitchFamily="18" charset="0"/>
              </a:rPr>
              <a:t>Universal Product Codes </a:t>
            </a:r>
            <a:r>
              <a:rPr lang="en-US" altLang="zh-CN" sz="2400" dirty="0">
                <a:latin typeface="Times New Roman" panose="02020503050405090304" pitchFamily="18" charset="0"/>
              </a:rPr>
              <a:t>(</a:t>
            </a:r>
            <a:r>
              <a:rPr lang="en-US" altLang="zh-CN" sz="2400" i="1" dirty="0">
                <a:latin typeface="Times New Roman" panose="02020503050405090304" pitchFamily="18" charset="0"/>
              </a:rPr>
              <a:t>UPC</a:t>
            </a:r>
            <a:r>
              <a:rPr lang="en-US" altLang="zh-CN" sz="2400" dirty="0">
                <a:latin typeface="Times New Roman" panose="02020503050405090304" pitchFamily="18" charset="0"/>
              </a:rPr>
              <a:t>s). Usually these have 12 decimal digits, the last one being the check digit. The check digit is determined by the congruence:</a:t>
            </a:r>
            <a:endParaRPr lang="en-US" altLang="zh-CN" sz="2400" dirty="0">
              <a:latin typeface="Times New Roman" panose="02020503050405090304" pitchFamily="18" charset="0"/>
            </a:endParaRPr>
          </a:p>
          <a:p>
            <a:pPr marL="822325" lvl="4" indent="-273050">
              <a:lnSpc>
                <a:spcPct val="70000"/>
              </a:lnSpc>
              <a:buSzPct val="95000"/>
              <a:buNone/>
            </a:pPr>
            <a:r>
              <a:rPr lang="en-US" altLang="zh-CN" sz="1400" dirty="0">
                <a:latin typeface="Times New Roman" panose="02020503050405090304" pitchFamily="18" charset="0"/>
              </a:rPr>
              <a:t>   3</a:t>
            </a:r>
            <a:r>
              <a:rPr lang="en-US" altLang="zh-CN" sz="1400" i="1" dirty="0">
                <a:latin typeface="Times New Roman" panose="02020503050405090304" pitchFamily="18" charset="0"/>
              </a:rPr>
              <a:t>x</a:t>
            </a:r>
            <a:r>
              <a:rPr lang="en-US" altLang="zh-CN" sz="1400" baseline="-25000" dirty="0">
                <a:latin typeface="Times New Roman" panose="02020503050405090304" pitchFamily="18" charset="0"/>
              </a:rPr>
              <a:t>1</a:t>
            </a:r>
            <a:r>
              <a:rPr lang="en-US" altLang="zh-CN" sz="1400" i="1" baseline="-25000" dirty="0">
                <a:latin typeface="Times New Roman" panose="02020503050405090304" pitchFamily="18" charset="0"/>
              </a:rPr>
              <a:t>  </a:t>
            </a:r>
            <a:r>
              <a:rPr lang="en-US" altLang="zh-CN" sz="1400" dirty="0">
                <a:latin typeface="Times New Roman" panose="02020503050405090304" pitchFamily="18" charset="0"/>
              </a:rPr>
              <a:t>+ </a:t>
            </a:r>
            <a:r>
              <a:rPr lang="en-US" altLang="zh-CN" sz="1400" i="1" dirty="0">
                <a:latin typeface="Times New Roman" panose="02020503050405090304" pitchFamily="18" charset="0"/>
              </a:rPr>
              <a:t>x</a:t>
            </a:r>
            <a:r>
              <a:rPr lang="en-US" altLang="zh-CN" sz="1400" baseline="-25000" dirty="0">
                <a:latin typeface="Times New Roman" panose="02020503050405090304" pitchFamily="18" charset="0"/>
              </a:rPr>
              <a:t>2</a:t>
            </a:r>
            <a:r>
              <a:rPr lang="en-US" altLang="zh-CN" sz="1400" i="1" baseline="-25000" dirty="0">
                <a:latin typeface="Times New Roman" panose="02020503050405090304" pitchFamily="18" charset="0"/>
              </a:rPr>
              <a:t>  </a:t>
            </a:r>
            <a:r>
              <a:rPr lang="en-US" altLang="zh-CN" sz="1400" dirty="0">
                <a:latin typeface="Times New Roman" panose="02020503050405090304" pitchFamily="18" charset="0"/>
              </a:rPr>
              <a:t>+ 3</a:t>
            </a:r>
            <a:r>
              <a:rPr lang="en-US" altLang="zh-CN" sz="1400" i="1" dirty="0">
                <a:latin typeface="Times New Roman" panose="02020503050405090304" pitchFamily="18" charset="0"/>
              </a:rPr>
              <a:t>x</a:t>
            </a:r>
            <a:r>
              <a:rPr lang="en-US" altLang="zh-CN" sz="1400" baseline="-25000" dirty="0">
                <a:latin typeface="Times New Roman" panose="02020503050405090304" pitchFamily="18" charset="0"/>
              </a:rPr>
              <a:t>3</a:t>
            </a:r>
            <a:r>
              <a:rPr lang="en-US" altLang="zh-CN" sz="1400" i="1" baseline="-25000" dirty="0">
                <a:latin typeface="Times New Roman" panose="02020503050405090304" pitchFamily="18" charset="0"/>
              </a:rPr>
              <a:t>  </a:t>
            </a:r>
            <a:r>
              <a:rPr lang="en-US" altLang="zh-CN" sz="1400" dirty="0">
                <a:latin typeface="Times New Roman" panose="02020503050405090304" pitchFamily="18" charset="0"/>
              </a:rPr>
              <a:t>+ </a:t>
            </a:r>
            <a:r>
              <a:rPr lang="en-US" altLang="zh-CN" sz="1400" i="1" dirty="0">
                <a:latin typeface="Times New Roman" panose="02020503050405090304" pitchFamily="18" charset="0"/>
              </a:rPr>
              <a:t>x</a:t>
            </a:r>
            <a:r>
              <a:rPr lang="en-US" altLang="zh-CN" sz="1400" baseline="-25000" dirty="0">
                <a:latin typeface="Times New Roman" panose="02020503050405090304" pitchFamily="18" charset="0"/>
              </a:rPr>
              <a:t>4</a:t>
            </a:r>
            <a:r>
              <a:rPr lang="en-US" altLang="zh-CN" sz="1400" i="1" baseline="-25000" dirty="0">
                <a:latin typeface="Times New Roman" panose="02020503050405090304" pitchFamily="18" charset="0"/>
              </a:rPr>
              <a:t>  </a:t>
            </a:r>
            <a:r>
              <a:rPr lang="en-US" altLang="zh-CN" sz="1400" dirty="0">
                <a:latin typeface="Times New Roman" panose="02020503050405090304" pitchFamily="18" charset="0"/>
              </a:rPr>
              <a:t>+ 3</a:t>
            </a:r>
            <a:r>
              <a:rPr lang="en-US" altLang="zh-CN" sz="1400" i="1" dirty="0">
                <a:latin typeface="Times New Roman" panose="02020503050405090304" pitchFamily="18" charset="0"/>
              </a:rPr>
              <a:t>x</a:t>
            </a:r>
            <a:r>
              <a:rPr lang="en-US" altLang="zh-CN" sz="1400" baseline="-25000" dirty="0">
                <a:latin typeface="Times New Roman" panose="02020503050405090304" pitchFamily="18" charset="0"/>
              </a:rPr>
              <a:t>5</a:t>
            </a:r>
            <a:r>
              <a:rPr lang="en-US" altLang="zh-CN" sz="1400" i="1" baseline="-25000" dirty="0">
                <a:latin typeface="Times New Roman" panose="02020503050405090304" pitchFamily="18" charset="0"/>
              </a:rPr>
              <a:t>  </a:t>
            </a:r>
            <a:r>
              <a:rPr lang="en-US" altLang="zh-CN" sz="1400" dirty="0">
                <a:latin typeface="Times New Roman" panose="02020503050405090304" pitchFamily="18" charset="0"/>
              </a:rPr>
              <a:t>+ </a:t>
            </a:r>
            <a:r>
              <a:rPr lang="en-US" altLang="zh-CN" sz="1400" i="1" dirty="0">
                <a:latin typeface="Times New Roman" panose="02020503050405090304" pitchFamily="18" charset="0"/>
              </a:rPr>
              <a:t>x</a:t>
            </a:r>
            <a:r>
              <a:rPr lang="en-US" altLang="zh-CN" sz="1400" baseline="-25000" dirty="0">
                <a:latin typeface="Times New Roman" panose="02020503050405090304" pitchFamily="18" charset="0"/>
              </a:rPr>
              <a:t>6</a:t>
            </a:r>
            <a:r>
              <a:rPr lang="en-US" altLang="zh-CN" sz="1400" i="1" baseline="-25000" dirty="0">
                <a:latin typeface="Times New Roman" panose="02020503050405090304" pitchFamily="18" charset="0"/>
              </a:rPr>
              <a:t>  </a:t>
            </a:r>
            <a:r>
              <a:rPr lang="en-US" altLang="zh-CN" sz="1400" dirty="0">
                <a:latin typeface="Times New Roman" panose="02020503050405090304" pitchFamily="18" charset="0"/>
              </a:rPr>
              <a:t>+ 3</a:t>
            </a:r>
            <a:r>
              <a:rPr lang="en-US" altLang="zh-CN" sz="1400" i="1" dirty="0">
                <a:latin typeface="Times New Roman" panose="02020503050405090304" pitchFamily="18" charset="0"/>
              </a:rPr>
              <a:t>x</a:t>
            </a:r>
            <a:r>
              <a:rPr lang="en-US" altLang="zh-CN" sz="1400" baseline="-25000" dirty="0">
                <a:latin typeface="Times New Roman" panose="02020503050405090304" pitchFamily="18" charset="0"/>
              </a:rPr>
              <a:t>7</a:t>
            </a:r>
            <a:r>
              <a:rPr lang="en-US" altLang="zh-CN" sz="1400" i="1" baseline="-25000" dirty="0">
                <a:latin typeface="Times New Roman" panose="02020503050405090304" pitchFamily="18" charset="0"/>
              </a:rPr>
              <a:t>  </a:t>
            </a:r>
            <a:r>
              <a:rPr lang="en-US" altLang="zh-CN" sz="1400" dirty="0">
                <a:latin typeface="Times New Roman" panose="02020503050405090304" pitchFamily="18" charset="0"/>
              </a:rPr>
              <a:t>+ </a:t>
            </a:r>
            <a:r>
              <a:rPr lang="en-US" altLang="zh-CN" sz="1400" i="1" dirty="0">
                <a:latin typeface="Times New Roman" panose="02020503050405090304" pitchFamily="18" charset="0"/>
              </a:rPr>
              <a:t>x</a:t>
            </a:r>
            <a:r>
              <a:rPr lang="en-US" altLang="zh-CN" sz="1400" baseline="-25000" dirty="0">
                <a:latin typeface="Times New Roman" panose="02020503050405090304" pitchFamily="18" charset="0"/>
              </a:rPr>
              <a:t>8</a:t>
            </a:r>
            <a:r>
              <a:rPr lang="en-US" altLang="zh-CN" sz="1400" i="1" baseline="-25000" dirty="0">
                <a:latin typeface="Times New Roman" panose="02020503050405090304" pitchFamily="18" charset="0"/>
              </a:rPr>
              <a:t>  </a:t>
            </a:r>
            <a:r>
              <a:rPr lang="en-US" altLang="zh-CN" sz="1400" dirty="0">
                <a:latin typeface="Times New Roman" panose="02020503050405090304" pitchFamily="18" charset="0"/>
              </a:rPr>
              <a:t>+ 3</a:t>
            </a:r>
            <a:r>
              <a:rPr lang="en-US" altLang="zh-CN" sz="1400" i="1" dirty="0">
                <a:latin typeface="Times New Roman" panose="02020503050405090304" pitchFamily="18" charset="0"/>
              </a:rPr>
              <a:t>x</a:t>
            </a:r>
            <a:r>
              <a:rPr lang="en-US" altLang="zh-CN" sz="1400" baseline="-25000" dirty="0">
                <a:latin typeface="Times New Roman" panose="02020503050405090304" pitchFamily="18" charset="0"/>
              </a:rPr>
              <a:t>9</a:t>
            </a:r>
            <a:r>
              <a:rPr lang="en-US" altLang="zh-CN" sz="1400" dirty="0">
                <a:latin typeface="Times New Roman" panose="02020503050405090304" pitchFamily="18" charset="0"/>
              </a:rPr>
              <a:t> + </a:t>
            </a:r>
            <a:r>
              <a:rPr lang="en-US" altLang="zh-CN" sz="1400" i="1" dirty="0">
                <a:latin typeface="Times New Roman" panose="02020503050405090304" pitchFamily="18" charset="0"/>
              </a:rPr>
              <a:t>x</a:t>
            </a:r>
            <a:r>
              <a:rPr lang="en-US" altLang="zh-CN" sz="1400" baseline="-25000" dirty="0">
                <a:latin typeface="Times New Roman" panose="02020503050405090304" pitchFamily="18" charset="0"/>
              </a:rPr>
              <a:t>10</a:t>
            </a:r>
            <a:r>
              <a:rPr lang="en-US" altLang="zh-CN" sz="1400" i="1" baseline="-25000" dirty="0">
                <a:latin typeface="Times New Roman" panose="02020503050405090304" pitchFamily="18" charset="0"/>
              </a:rPr>
              <a:t>  </a:t>
            </a:r>
            <a:r>
              <a:rPr lang="en-US" altLang="zh-CN" sz="1400" dirty="0">
                <a:latin typeface="Times New Roman" panose="02020503050405090304" pitchFamily="18" charset="0"/>
              </a:rPr>
              <a:t>+ 3</a:t>
            </a:r>
            <a:r>
              <a:rPr lang="en-US" altLang="zh-CN" sz="1400" i="1" dirty="0">
                <a:latin typeface="Times New Roman" panose="02020503050405090304" pitchFamily="18" charset="0"/>
              </a:rPr>
              <a:t>x</a:t>
            </a:r>
            <a:r>
              <a:rPr lang="en-US" altLang="zh-CN" sz="1400" baseline="-25000" dirty="0">
                <a:latin typeface="Times New Roman" panose="02020503050405090304" pitchFamily="18" charset="0"/>
              </a:rPr>
              <a:t>11</a:t>
            </a:r>
            <a:r>
              <a:rPr lang="en-US" altLang="zh-CN" sz="1400" i="1" baseline="-25000" dirty="0">
                <a:latin typeface="Times New Roman" panose="02020503050405090304" pitchFamily="18" charset="0"/>
              </a:rPr>
              <a:t>  </a:t>
            </a:r>
            <a:r>
              <a:rPr lang="en-US" altLang="zh-CN" sz="1400" dirty="0">
                <a:latin typeface="Times New Roman" panose="02020503050405090304" pitchFamily="18" charset="0"/>
              </a:rPr>
              <a:t>+ </a:t>
            </a:r>
            <a:r>
              <a:rPr lang="en-US" altLang="zh-CN" sz="1400" i="1" dirty="0">
                <a:latin typeface="Times New Roman" panose="02020503050405090304" pitchFamily="18" charset="0"/>
              </a:rPr>
              <a:t>x</a:t>
            </a:r>
            <a:r>
              <a:rPr lang="en-US" altLang="zh-CN" sz="1400" baseline="-25000" dirty="0">
                <a:latin typeface="Times New Roman" panose="02020503050405090304" pitchFamily="18" charset="0"/>
              </a:rPr>
              <a:t>12</a:t>
            </a:r>
            <a:r>
              <a:rPr lang="en-US" altLang="zh-CN" sz="1400" i="1" baseline="-25000" dirty="0">
                <a:latin typeface="Times New Roman" panose="02020503050405090304" pitchFamily="18" charset="0"/>
              </a:rPr>
              <a:t> </a:t>
            </a:r>
            <a:r>
              <a:rPr lang="en-US" altLang="zh-CN" sz="1400" dirty="0">
                <a:latin typeface="Times New Roman" panose="02020503050405090304" pitchFamily="18" charset="0"/>
              </a:rPr>
              <a:t>≡ 0 (mod</a:t>
            </a:r>
            <a:r>
              <a:rPr lang="en-US" altLang="zh-CN" sz="1400" b="1" dirty="0">
                <a:latin typeface="Times New Roman" panose="02020503050405090304" pitchFamily="18" charset="0"/>
              </a:rPr>
              <a:t> </a:t>
            </a:r>
            <a:r>
              <a:rPr lang="en-US" altLang="zh-CN" sz="1400" dirty="0">
                <a:latin typeface="Times New Roman" panose="02020503050405090304" pitchFamily="18" charset="0"/>
              </a:rPr>
              <a:t>10).</a:t>
            </a:r>
            <a:endParaRPr lang="en-US" altLang="zh-CN" sz="1400" dirty="0">
              <a:latin typeface="Times New Roman" panose="02020503050405090304" pitchFamily="18" charset="0"/>
            </a:endParaRPr>
          </a:p>
          <a:p>
            <a:pPr marL="730250" lvl="3" indent="-457200">
              <a:lnSpc>
                <a:spcPct val="70000"/>
              </a:lnSpc>
              <a:buSzPct val="95000"/>
              <a:buFont typeface="Copperplate Gothic Light" pitchFamily="34" charset="0"/>
              <a:buAutoNum type="alphaLcPeriod"/>
            </a:pPr>
            <a:r>
              <a:rPr lang="en-US" altLang="zh-CN" sz="1400" dirty="0">
                <a:latin typeface="Times New Roman" panose="02020503050405090304" pitchFamily="18" charset="0"/>
              </a:rPr>
              <a:t>Suppose that the first 11 digits of the UPC are 79357343104. What is the check digit?</a:t>
            </a:r>
            <a:endParaRPr lang="en-US" altLang="zh-CN" sz="1400" dirty="0">
              <a:latin typeface="Times New Roman" panose="02020503050405090304" pitchFamily="18" charset="0"/>
            </a:endParaRPr>
          </a:p>
          <a:p>
            <a:pPr marL="730250" lvl="3" indent="-457200">
              <a:lnSpc>
                <a:spcPct val="70000"/>
              </a:lnSpc>
              <a:buSzPct val="95000"/>
              <a:buFont typeface="Copperplate Gothic Light" pitchFamily="34" charset="0"/>
              <a:buAutoNum type="alphaLcPeriod"/>
            </a:pPr>
            <a:r>
              <a:rPr lang="en-US" altLang="zh-CN" sz="1400" dirty="0">
                <a:latin typeface="Times New Roman" panose="02020503050405090304" pitchFamily="18" charset="0"/>
              </a:rPr>
              <a:t>Is 041331021641 a valid UPC?</a:t>
            </a:r>
            <a:endParaRPr lang="en-US" altLang="zh-CN" sz="1400" dirty="0">
              <a:latin typeface="Times New Roman" panose="02020503050405090304" pitchFamily="18" charset="0"/>
            </a:endParaRPr>
          </a:p>
          <a:p>
            <a:pPr marL="457200" lvl="2" indent="-457200">
              <a:lnSpc>
                <a:spcPct val="70000"/>
              </a:lnSpc>
              <a:buSzPct val="95000"/>
              <a:buNone/>
            </a:pPr>
            <a:r>
              <a:rPr lang="en-US" altLang="zh-CN" sz="1600" b="1" dirty="0">
                <a:latin typeface="Times New Roman" panose="02020503050405090304" pitchFamily="18" charset="0"/>
              </a:rPr>
              <a:t>       </a:t>
            </a:r>
            <a:r>
              <a:rPr lang="en-US" altLang="zh-CN" sz="2000" b="1" dirty="0">
                <a:latin typeface="Times New Roman" panose="02020503050405090304" pitchFamily="18" charset="0"/>
              </a:rPr>
              <a:t>Solution</a:t>
            </a:r>
            <a:r>
              <a:rPr lang="en-US" altLang="zh-CN" sz="2000" dirty="0">
                <a:latin typeface="Times New Roman" panose="02020503050405090304" pitchFamily="18" charset="0"/>
              </a:rPr>
              <a:t>: </a:t>
            </a:r>
            <a:endParaRPr lang="en-US" altLang="zh-CN" sz="2000" dirty="0">
              <a:latin typeface="Times New Roman" panose="02020503050405090304" pitchFamily="18" charset="0"/>
            </a:endParaRPr>
          </a:p>
          <a:p>
            <a:pPr marL="730250" lvl="3" indent="-457200">
              <a:lnSpc>
                <a:spcPct val="70000"/>
              </a:lnSpc>
              <a:buSzPct val="95000"/>
              <a:buFont typeface="Copperplate Gothic Light" pitchFamily="34" charset="0"/>
              <a:buAutoNum type="alphaLcPeriod"/>
            </a:pPr>
            <a:r>
              <a:rPr lang="en-US" altLang="zh-CN" sz="1600" dirty="0">
                <a:latin typeface="Times New Roman" panose="02020503050405090304" pitchFamily="18" charset="0"/>
              </a:rPr>
              <a:t>3∙7 + 9 + 3∙3 + 5 + 3∙7 + 3 + 3∙4 + 3 + 3∙1 + 0 + 3∙4 + </a:t>
            </a:r>
            <a:r>
              <a:rPr lang="en-US" altLang="zh-CN" sz="1600" i="1" dirty="0">
                <a:latin typeface="Times New Roman" panose="02020503050405090304" pitchFamily="18" charset="0"/>
              </a:rPr>
              <a:t>x</a:t>
            </a:r>
            <a:r>
              <a:rPr lang="en-US" altLang="zh-CN" sz="1600" baseline="-25000" dirty="0">
                <a:latin typeface="Times New Roman" panose="02020503050405090304" pitchFamily="18" charset="0"/>
              </a:rPr>
              <a:t>12</a:t>
            </a:r>
            <a:r>
              <a:rPr lang="en-US" altLang="zh-CN" sz="1600" i="1" baseline="-25000" dirty="0">
                <a:latin typeface="Times New Roman" panose="02020503050405090304" pitchFamily="18" charset="0"/>
              </a:rPr>
              <a:t> </a:t>
            </a:r>
            <a:r>
              <a:rPr lang="en-US" altLang="zh-CN" sz="1600" dirty="0">
                <a:latin typeface="Times New Roman" panose="02020503050405090304" pitchFamily="18" charset="0"/>
              </a:rPr>
              <a:t>≡ 0 (mod</a:t>
            </a:r>
            <a:r>
              <a:rPr lang="en-US" altLang="zh-CN" sz="1600" b="1" dirty="0">
                <a:latin typeface="Times New Roman" panose="02020503050405090304" pitchFamily="18" charset="0"/>
              </a:rPr>
              <a:t> </a:t>
            </a:r>
            <a:r>
              <a:rPr lang="en-US" altLang="zh-CN" sz="1600" dirty="0">
                <a:latin typeface="Times New Roman" panose="02020503050405090304" pitchFamily="18" charset="0"/>
              </a:rPr>
              <a:t>10) </a:t>
            </a:r>
            <a:endParaRPr lang="en-US" altLang="zh-CN" sz="1600" dirty="0">
              <a:latin typeface="Times New Roman" panose="02020503050405090304" pitchFamily="18" charset="0"/>
            </a:endParaRPr>
          </a:p>
          <a:p>
            <a:pPr marL="730250" lvl="3" indent="-457200">
              <a:lnSpc>
                <a:spcPct val="70000"/>
              </a:lnSpc>
              <a:buSzPct val="95000"/>
              <a:buNone/>
            </a:pPr>
            <a:r>
              <a:rPr lang="en-US" altLang="zh-CN" sz="1600" dirty="0">
                <a:latin typeface="Times New Roman" panose="02020503050405090304" pitchFamily="18" charset="0"/>
              </a:rPr>
              <a:t>           21 + 9 + 9 + 5 + 21 + 3 + 12+ 3 + 3 + 0 + 12 + </a:t>
            </a:r>
            <a:r>
              <a:rPr lang="en-US" altLang="zh-CN" sz="1600" i="1" dirty="0">
                <a:latin typeface="Times New Roman" panose="02020503050405090304" pitchFamily="18" charset="0"/>
              </a:rPr>
              <a:t>x</a:t>
            </a:r>
            <a:r>
              <a:rPr lang="en-US" altLang="zh-CN" sz="1600" baseline="-25000" dirty="0">
                <a:latin typeface="Times New Roman" panose="02020503050405090304" pitchFamily="18" charset="0"/>
              </a:rPr>
              <a:t>12</a:t>
            </a:r>
            <a:r>
              <a:rPr lang="en-US" altLang="zh-CN" sz="1600" i="1" baseline="-25000" dirty="0">
                <a:latin typeface="Times New Roman" panose="02020503050405090304" pitchFamily="18" charset="0"/>
              </a:rPr>
              <a:t> </a:t>
            </a:r>
            <a:r>
              <a:rPr lang="en-US" altLang="zh-CN" sz="1600" dirty="0">
                <a:latin typeface="Times New Roman" panose="02020503050405090304" pitchFamily="18" charset="0"/>
              </a:rPr>
              <a:t>≡ 0 (mod</a:t>
            </a:r>
            <a:r>
              <a:rPr lang="en-US" altLang="zh-CN" sz="1600" b="1" dirty="0">
                <a:latin typeface="Times New Roman" panose="02020503050405090304" pitchFamily="18" charset="0"/>
              </a:rPr>
              <a:t> </a:t>
            </a:r>
            <a:r>
              <a:rPr lang="en-US" altLang="zh-CN" sz="1600" dirty="0">
                <a:latin typeface="Times New Roman" panose="02020503050405090304" pitchFamily="18" charset="0"/>
              </a:rPr>
              <a:t>10)                </a:t>
            </a:r>
            <a:endParaRPr lang="en-US" altLang="zh-CN" sz="1600" dirty="0">
              <a:latin typeface="Times New Roman" panose="02020503050405090304" pitchFamily="18" charset="0"/>
            </a:endParaRPr>
          </a:p>
          <a:p>
            <a:pPr marL="730250" lvl="3" indent="-457200">
              <a:lnSpc>
                <a:spcPct val="70000"/>
              </a:lnSpc>
              <a:buSzPct val="95000"/>
              <a:buNone/>
            </a:pPr>
            <a:r>
              <a:rPr lang="en-US" altLang="zh-CN" sz="1600" dirty="0">
                <a:latin typeface="Times New Roman" panose="02020503050405090304" pitchFamily="18" charset="0"/>
              </a:rPr>
              <a:t>           98 + </a:t>
            </a:r>
            <a:r>
              <a:rPr lang="en-US" altLang="zh-CN" sz="1600" i="1" dirty="0">
                <a:latin typeface="Times New Roman" panose="02020503050405090304" pitchFamily="18" charset="0"/>
              </a:rPr>
              <a:t>x</a:t>
            </a:r>
            <a:r>
              <a:rPr lang="en-US" altLang="zh-CN" sz="1600" baseline="-25000" dirty="0">
                <a:latin typeface="Times New Roman" panose="02020503050405090304" pitchFamily="18" charset="0"/>
              </a:rPr>
              <a:t>12</a:t>
            </a:r>
            <a:r>
              <a:rPr lang="en-US" altLang="zh-CN" sz="1600" i="1" baseline="-25000" dirty="0">
                <a:latin typeface="Times New Roman" panose="02020503050405090304" pitchFamily="18" charset="0"/>
              </a:rPr>
              <a:t> </a:t>
            </a:r>
            <a:r>
              <a:rPr lang="en-US" altLang="zh-CN" sz="1600" dirty="0">
                <a:latin typeface="Times New Roman" panose="02020503050405090304" pitchFamily="18" charset="0"/>
              </a:rPr>
              <a:t>≡ 0 (mod</a:t>
            </a:r>
            <a:r>
              <a:rPr lang="en-US" altLang="zh-CN" sz="1600" b="1" dirty="0">
                <a:latin typeface="Times New Roman" panose="02020503050405090304" pitchFamily="18" charset="0"/>
              </a:rPr>
              <a:t> </a:t>
            </a:r>
            <a:r>
              <a:rPr lang="en-US" altLang="zh-CN" sz="1600" dirty="0">
                <a:latin typeface="Times New Roman" panose="02020503050405090304" pitchFamily="18" charset="0"/>
              </a:rPr>
              <a:t>10) </a:t>
            </a:r>
            <a:endParaRPr lang="en-US" altLang="zh-CN" sz="1600" dirty="0">
              <a:latin typeface="Times New Roman" panose="02020503050405090304" pitchFamily="18" charset="0"/>
            </a:endParaRPr>
          </a:p>
          <a:p>
            <a:pPr marL="730250" lvl="3" indent="-457200">
              <a:lnSpc>
                <a:spcPct val="70000"/>
              </a:lnSpc>
              <a:buSzPct val="95000"/>
              <a:buNone/>
            </a:pPr>
            <a:r>
              <a:rPr lang="en-US" altLang="zh-CN" sz="1600" i="1" dirty="0">
                <a:latin typeface="Times New Roman" panose="02020503050405090304" pitchFamily="18" charset="0"/>
              </a:rPr>
              <a:t>           x</a:t>
            </a:r>
            <a:r>
              <a:rPr lang="en-US" altLang="zh-CN" sz="1600" baseline="-25000" dirty="0">
                <a:latin typeface="Times New Roman" panose="02020503050405090304" pitchFamily="18" charset="0"/>
              </a:rPr>
              <a:t>12</a:t>
            </a:r>
            <a:r>
              <a:rPr lang="en-US" altLang="zh-CN" sz="1600" i="1" baseline="-25000" dirty="0">
                <a:latin typeface="Times New Roman" panose="02020503050405090304" pitchFamily="18" charset="0"/>
              </a:rPr>
              <a:t> </a:t>
            </a:r>
            <a:r>
              <a:rPr lang="en-US" altLang="zh-CN" sz="1600" dirty="0">
                <a:latin typeface="Times New Roman" panose="02020503050405090304" pitchFamily="18" charset="0"/>
              </a:rPr>
              <a:t>≡ 0 (mod</a:t>
            </a:r>
            <a:r>
              <a:rPr lang="en-US" altLang="zh-CN" sz="1600" b="1" dirty="0">
                <a:latin typeface="Times New Roman" panose="02020503050405090304" pitchFamily="18" charset="0"/>
              </a:rPr>
              <a:t> </a:t>
            </a:r>
            <a:r>
              <a:rPr lang="en-US" altLang="zh-CN" sz="1600" dirty="0">
                <a:latin typeface="Times New Roman" panose="02020503050405090304" pitchFamily="18" charset="0"/>
              </a:rPr>
              <a:t>10)     So, the check digit is 2.</a:t>
            </a:r>
            <a:endParaRPr lang="en-US" altLang="zh-CN" sz="1600" dirty="0">
              <a:latin typeface="Times New Roman" panose="02020503050405090304" pitchFamily="18" charset="0"/>
            </a:endParaRPr>
          </a:p>
          <a:p>
            <a:pPr marL="730250" lvl="3" indent="-457200">
              <a:lnSpc>
                <a:spcPct val="70000"/>
              </a:lnSpc>
              <a:buSzPct val="95000"/>
              <a:buFont typeface="Copperplate Gothic Light" pitchFamily="34" charset="0"/>
              <a:buAutoNum type="alphaLcPeriod" startAt="2"/>
            </a:pPr>
            <a:r>
              <a:rPr lang="en-US" altLang="zh-CN" sz="1600" dirty="0">
                <a:latin typeface="Times New Roman" panose="02020503050405090304" pitchFamily="18" charset="0"/>
              </a:rPr>
              <a:t>3∙0 + 4 + 3∙1 + 3 + 3∙3 + 1 + 3∙0 + 2 + 3∙1 + 6 + 3∙4 +  1</a:t>
            </a:r>
            <a:r>
              <a:rPr lang="en-US" altLang="zh-CN" sz="1600" i="1" baseline="-25000" dirty="0">
                <a:latin typeface="Times New Roman" panose="02020503050405090304" pitchFamily="18" charset="0"/>
              </a:rPr>
              <a:t> </a:t>
            </a:r>
            <a:r>
              <a:rPr lang="en-US" altLang="zh-CN" sz="1600" dirty="0">
                <a:latin typeface="Times New Roman" panose="02020503050405090304" pitchFamily="18" charset="0"/>
              </a:rPr>
              <a:t>≡ 0 (mod</a:t>
            </a:r>
            <a:r>
              <a:rPr lang="en-US" altLang="zh-CN" sz="1600" b="1" dirty="0">
                <a:latin typeface="Times New Roman" panose="02020503050405090304" pitchFamily="18" charset="0"/>
              </a:rPr>
              <a:t> </a:t>
            </a:r>
            <a:r>
              <a:rPr lang="en-US" altLang="zh-CN" sz="1600" dirty="0">
                <a:latin typeface="Times New Roman" panose="02020503050405090304" pitchFamily="18" charset="0"/>
              </a:rPr>
              <a:t>10) </a:t>
            </a:r>
            <a:endParaRPr lang="en-US" altLang="zh-CN" sz="1600" dirty="0">
              <a:latin typeface="Times New Roman" panose="02020503050405090304" pitchFamily="18" charset="0"/>
            </a:endParaRPr>
          </a:p>
          <a:p>
            <a:pPr marL="730250" lvl="3" indent="-457200">
              <a:lnSpc>
                <a:spcPct val="70000"/>
              </a:lnSpc>
              <a:buSzPct val="95000"/>
              <a:buNone/>
            </a:pPr>
            <a:r>
              <a:rPr lang="en-US" altLang="zh-CN" sz="1600" dirty="0">
                <a:latin typeface="Times New Roman" panose="02020503050405090304" pitchFamily="18" charset="0"/>
              </a:rPr>
              <a:t>           0 + 4 + 3 + 3 + 9 + 1 + 0+ 2 + 3 + 6 + 12 + 1 = 44 </a:t>
            </a:r>
            <a:r>
              <a:rPr lang="en-US" altLang="zh-CN" sz="1600" i="1" baseline="-25000" dirty="0">
                <a:latin typeface="Times New Roman" panose="02020503050405090304" pitchFamily="18" charset="0"/>
              </a:rPr>
              <a:t> </a:t>
            </a:r>
            <a:r>
              <a:rPr lang="en-US" altLang="zh-CN" sz="1600" dirty="0">
                <a:latin typeface="Times New Roman" panose="02020503050405090304" pitchFamily="18" charset="0"/>
              </a:rPr>
              <a:t>≡ 4 ≢ (mod</a:t>
            </a:r>
            <a:r>
              <a:rPr lang="en-US" altLang="zh-CN" sz="1600" b="1" dirty="0">
                <a:latin typeface="Times New Roman" panose="02020503050405090304" pitchFamily="18" charset="0"/>
              </a:rPr>
              <a:t> </a:t>
            </a:r>
            <a:r>
              <a:rPr lang="en-US" altLang="zh-CN" sz="1600" dirty="0">
                <a:latin typeface="Times New Roman" panose="02020503050405090304" pitchFamily="18" charset="0"/>
              </a:rPr>
              <a:t>10)                </a:t>
            </a:r>
            <a:endParaRPr lang="en-US" altLang="zh-CN" sz="1600" dirty="0">
              <a:latin typeface="Times New Roman" panose="02020503050405090304" pitchFamily="18" charset="0"/>
            </a:endParaRPr>
          </a:p>
          <a:p>
            <a:pPr marL="730250" lvl="3" indent="-457200">
              <a:lnSpc>
                <a:spcPct val="70000"/>
              </a:lnSpc>
              <a:buSzPct val="95000"/>
              <a:buNone/>
            </a:pPr>
            <a:r>
              <a:rPr lang="en-US" altLang="zh-CN" sz="1600" dirty="0">
                <a:latin typeface="Times New Roman" panose="02020503050405090304" pitchFamily="18" charset="0"/>
              </a:rPr>
              <a:t>          Hence, 041331021641  is not a valid UPC.</a:t>
            </a:r>
            <a:endParaRPr lang="en-US" altLang="zh-CN" sz="1600" dirty="0">
              <a:latin typeface="Times New Roman" panose="02020503050405090304" pitchFamily="18" charset="0"/>
            </a:endParaRPr>
          </a:p>
          <a:p>
            <a:pPr marL="730250" lvl="3" indent="-457200">
              <a:lnSpc>
                <a:spcPct val="70000"/>
              </a:lnSpc>
              <a:buSzPct val="95000"/>
              <a:buNone/>
            </a:pPr>
            <a:endParaRPr lang="en-US" altLang="zh-CN" sz="1400" dirty="0">
              <a:latin typeface="Cambria Math" pitchFamily="18" charset="0"/>
            </a:endParaRPr>
          </a:p>
          <a:p>
            <a:pPr marL="730250" lvl="3" indent="-457200">
              <a:lnSpc>
                <a:spcPct val="70000"/>
              </a:lnSpc>
              <a:buSzPct val="95000"/>
              <a:buNone/>
            </a:pPr>
            <a:endParaRPr lang="en-US" altLang="zh-CN" sz="1400" dirty="0">
              <a:latin typeface="Cambria Math" pitchFamily="18" charset="0"/>
            </a:endParaRPr>
          </a:p>
          <a:p>
            <a:pPr marL="730250" lvl="3" indent="-457200">
              <a:lnSpc>
                <a:spcPct val="70000"/>
              </a:lnSpc>
              <a:buSzPct val="95000"/>
              <a:buFont typeface="Copperplate Gothic Light" pitchFamily="34" charset="0"/>
              <a:buAutoNum type="alphaLcParenR"/>
            </a:pPr>
            <a:endParaRPr lang="en-US" altLang="zh-CN" sz="1400" dirty="0"/>
          </a:p>
          <a:p>
            <a:pPr>
              <a:lnSpc>
                <a:spcPct val="70000"/>
              </a:lnSpc>
              <a:buFont typeface="Wingdings" panose="05000000000000000000" pitchFamily="2" charset="2"/>
              <a:buAutoNum type="alphaLcParenR"/>
            </a:pPr>
            <a:endParaRPr lang="en-US" altLang="zh-CN" sz="2000" i="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Title 1"/>
          <p:cNvSpPr>
            <a:spLocks noGrp="1"/>
          </p:cNvSpPr>
          <p:nvPr>
            <p:ph type="title"/>
          </p:nvPr>
        </p:nvSpPr>
        <p:spPr>
          <a:ln/>
        </p:spPr>
        <p:txBody>
          <a:bodyPr vert="horz" wrap="square" lIns="91440" tIns="45720" rIns="91440" bIns="45720" anchor="b" anchorCtr="0"/>
          <a:p>
            <a:r>
              <a:rPr lang="en-US" altLang="zh-CN"/>
              <a:t>Check Digits:ISBNs</a:t>
            </a:r>
            <a:endParaRPr lang="en-US" altLang="zh-CN"/>
          </a:p>
        </p:txBody>
      </p:sp>
      <p:sp>
        <p:nvSpPr>
          <p:cNvPr id="3" name="Content Placeholder 2"/>
          <p:cNvSpPr>
            <a:spLocks noGrp="1"/>
          </p:cNvSpPr>
          <p:nvPr>
            <p:ph idx="1"/>
          </p:nvPr>
        </p:nvSpPr>
        <p:spPr/>
        <p:txBody>
          <a:bodyPr>
            <a:normAutofit fontScale="92500" lnSpcReduction="10000"/>
          </a:bodyPr>
          <a:lstStyle/>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13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6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B</a:t>
            </a:r>
            <a:r>
              <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ooks are identified  by an </a:t>
            </a:r>
            <a:r>
              <a:rPr kumimoji="1" lang="en-US" altLang="zh-CN"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International Standard Book Number </a:t>
            </a:r>
            <a:r>
              <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(ISBN-10), a 10 digit code. The first 9 digits identify the language, the publisher, and the book. The tenth digit is a check digit, which is determined by the following congruence </a:t>
            </a:r>
            <a:endPar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endPar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endPar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endPar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The validity of an ISBN-10 number can be evaluated with the equivalent </a:t>
            </a:r>
            <a:endPar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endPar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1108075" marR="0" lvl="1" indent="-742950" algn="l" defTabSz="914400" rtl="0" eaLnBrk="0" fontAlgn="base" latinLnBrk="0" hangingPunct="0">
              <a:lnSpc>
                <a:spcPct val="80000"/>
              </a:lnSpc>
              <a:spcBef>
                <a:spcPct val="20000"/>
              </a:spcBef>
              <a:spcAft>
                <a:spcPct val="0"/>
              </a:spcAft>
              <a:buClr>
                <a:schemeClr val="hlink"/>
              </a:buClr>
              <a:buSzPct val="55000"/>
              <a:buFont typeface="Copperplate Gothic Light" pitchFamily="34" charset="0"/>
              <a:buAutoNum type="alphaLcPeriod"/>
              <a:defRPr/>
            </a:pPr>
            <a:endPar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1108075" marR="0" lvl="1" indent="-742950" algn="l" defTabSz="914400" rtl="0" eaLnBrk="0" fontAlgn="base" latinLnBrk="0" hangingPunct="0">
              <a:lnSpc>
                <a:spcPct val="80000"/>
              </a:lnSpc>
              <a:spcBef>
                <a:spcPct val="20000"/>
              </a:spcBef>
              <a:spcAft>
                <a:spcPct val="0"/>
              </a:spcAft>
              <a:buClr>
                <a:schemeClr val="hlink"/>
              </a:buClr>
              <a:buSzPct val="55000"/>
              <a:buFont typeface="Copperplate Gothic Light" pitchFamily="34" charset="0"/>
              <a:buAutoNum type="alphaLcPeriod"/>
              <a:defRPr/>
            </a:pPr>
            <a:r>
              <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Suppose that the first 9 digits of the ISBN-10 are 007288008. What is the check digit?     </a:t>
            </a:r>
            <a:endPar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1108075" marR="0" lvl="1" indent="-742950" algn="l" defTabSz="914400" rtl="0" eaLnBrk="0" fontAlgn="base" latinLnBrk="0" hangingPunct="0">
              <a:lnSpc>
                <a:spcPct val="80000"/>
              </a:lnSpc>
              <a:spcBef>
                <a:spcPct val="20000"/>
              </a:spcBef>
              <a:spcAft>
                <a:spcPct val="0"/>
              </a:spcAft>
              <a:buClr>
                <a:schemeClr val="hlink"/>
              </a:buClr>
              <a:buSzPct val="55000"/>
              <a:buFont typeface="Copperplate Gothic Light" pitchFamily="34" charset="0"/>
              <a:buAutoNum type="alphaLcPeriod"/>
              <a:defRPr/>
            </a:pPr>
            <a:r>
              <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Is 084930149X  a valid ISBN10?</a:t>
            </a:r>
            <a:endPar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1108075" marR="0" lvl="1" indent="-742950" algn="l" defTabSz="914400" rtl="0" eaLnBrk="0" fontAlgn="base" latinLnBrk="0" hangingPunct="0">
              <a:lnSpc>
                <a:spcPct val="80000"/>
              </a:lnSpc>
              <a:spcBef>
                <a:spcPct val="20000"/>
              </a:spcBef>
              <a:spcAft>
                <a:spcPct val="0"/>
              </a:spcAft>
              <a:buClr>
                <a:schemeClr val="hlink"/>
              </a:buClr>
              <a:buSzPct val="55000"/>
              <a:buFont typeface="Copperplate Gothic Light" pitchFamily="34" charset="0"/>
              <a:buAutoNum type="alphaLcPeriod"/>
              <a:defRPr/>
            </a:pPr>
            <a:endPar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30250" marR="0" lvl="3" indent="-457200" algn="l" defTabSz="914400" rtl="0" eaLnBrk="0" fontAlgn="base" latinLnBrk="0" hangingPunct="0">
              <a:lnSpc>
                <a:spcPct val="80000"/>
              </a:lnSpc>
              <a:spcBef>
                <a:spcPct val="20000"/>
              </a:spcBef>
              <a:spcAft>
                <a:spcPct val="0"/>
              </a:spcAft>
              <a:buClr>
                <a:schemeClr val="accent2"/>
              </a:buClr>
              <a:buSzPct val="95000"/>
              <a:buFont typeface="Wingdings" panose="05000000000000000000" pitchFamily="2" charset="2"/>
              <a:buNone/>
              <a:defRPr/>
            </a:pPr>
            <a:endParaRPr kumimoji="1" lang="en-US" altLang="zh-CN" sz="9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457200" marR="0" lvl="2" indent="-457200" algn="l" defTabSz="914400" rtl="0" eaLnBrk="0" fontAlgn="base" latinLnBrk="0" hangingPunct="0">
              <a:lnSpc>
                <a:spcPct val="80000"/>
              </a:lnSpc>
              <a:spcBef>
                <a:spcPct val="20000"/>
              </a:spcBef>
              <a:spcAft>
                <a:spcPct val="0"/>
              </a:spcAft>
              <a:buClr>
                <a:schemeClr val="folHlink"/>
              </a:buClr>
              <a:buSzPct val="95000"/>
              <a:buFont typeface="Wingdings" panose="05000000000000000000" pitchFamily="2" charset="2"/>
              <a:buNone/>
              <a:defRPr/>
            </a:pPr>
            <a:r>
              <a:rPr kumimoji="1" lang="en-US" altLang="zh-CN" sz="105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6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Solution</a:t>
            </a:r>
            <a:r>
              <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endPar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30250" marR="0" lvl="3" indent="-457200" algn="l" defTabSz="914400" rtl="0" eaLnBrk="0" fontAlgn="base" latinLnBrk="0" hangingPunct="0">
              <a:lnSpc>
                <a:spcPct val="80000"/>
              </a:lnSpc>
              <a:spcBef>
                <a:spcPct val="20000"/>
              </a:spcBef>
              <a:spcAft>
                <a:spcPct val="0"/>
              </a:spcAft>
              <a:buClr>
                <a:schemeClr val="accent1"/>
              </a:buClr>
              <a:buSzPct val="95000"/>
              <a:buFont typeface="Wingdings" panose="05000000000000000000" pitchFamily="2" charset="2"/>
              <a:buNone/>
              <a:defRPr/>
            </a:pPr>
            <a:r>
              <a:rPr kumimoji="1" lang="en-US" altLang="zh-CN" sz="1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0" u="none" strike="noStrike" kern="0" cap="none" spc="0" normalizeH="0" baseline="0" noProof="1" dirty="0">
                <a:solidFill>
                  <a:schemeClr val="tx2"/>
                </a:solidFill>
                <a:latin typeface="Times New Roman" panose="02020503050405090304" pitchFamily="18" charset="0"/>
                <a:ea typeface="+mn-ea"/>
                <a:cs typeface="Times New Roman" panose="02020503050405090304" pitchFamily="18" charset="0"/>
              </a:rPr>
              <a:t>a</a:t>
            </a:r>
            <a:r>
              <a:rPr kumimoji="1" lang="en-US" altLang="zh-CN" sz="1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X</a:t>
            </a:r>
            <a:r>
              <a:rPr kumimoji="1" lang="en-US" altLang="zh-CN" sz="1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10</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1"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1∙0 + 2∙0 + 3∙7 +  4∙2 +  5∙8 +  6∙8 + 7∙ 0 + 8∙0 + 9∙8 (mod</a:t>
            </a:r>
            <a:r>
              <a:rPr kumimoji="1" lang="en-US" altLang="zh-CN" sz="14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11).</a:t>
            </a:r>
            <a:endPar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30250" marR="0" lvl="3" indent="-457200" algn="l" defTabSz="914400" rtl="0" eaLnBrk="0" fontAlgn="base" latinLnBrk="0" hangingPunct="0">
              <a:lnSpc>
                <a:spcPct val="80000"/>
              </a:lnSpc>
              <a:spcBef>
                <a:spcPct val="20000"/>
              </a:spcBef>
              <a:spcAft>
                <a:spcPct val="0"/>
              </a:spcAft>
              <a:buClr>
                <a:schemeClr val="accent2"/>
              </a:buClr>
              <a:buSzPct val="95000"/>
              <a:buFont typeface="Wingdings" panose="05000000000000000000" pitchFamily="2" charset="2"/>
              <a:buNone/>
              <a:defRPr/>
            </a:pP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X</a:t>
            </a:r>
            <a:r>
              <a:rPr kumimoji="1" lang="en-US" altLang="zh-CN" sz="1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10</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1"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0 + 0 + 21 +  8 +  40 +  48 +  0 + 0 + 72 (mod</a:t>
            </a:r>
            <a:r>
              <a:rPr kumimoji="1" lang="en-US" altLang="zh-CN" sz="14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11). </a:t>
            </a:r>
            <a:endPar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30250" marR="0" lvl="3" indent="-457200" algn="l" defTabSz="914400" rtl="0" eaLnBrk="0" fontAlgn="base" latinLnBrk="0" hangingPunct="0">
              <a:lnSpc>
                <a:spcPct val="80000"/>
              </a:lnSpc>
              <a:spcBef>
                <a:spcPct val="20000"/>
              </a:spcBef>
              <a:spcAft>
                <a:spcPct val="0"/>
              </a:spcAft>
              <a:buClr>
                <a:schemeClr val="accent2"/>
              </a:buClr>
              <a:buSzPct val="95000"/>
              <a:buFont typeface="Wingdings" panose="05000000000000000000" pitchFamily="2" charset="2"/>
              <a:buNone/>
              <a:defRPr/>
            </a:pPr>
            <a:r>
              <a:rPr kumimoji="1" lang="en-US" altLang="zh-CN" sz="1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X</a:t>
            </a:r>
            <a:r>
              <a:rPr kumimoji="1" lang="en-US" altLang="zh-CN" sz="1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10</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1"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189 ≡  2  (mod</a:t>
            </a:r>
            <a:r>
              <a:rPr kumimoji="1" lang="en-US" altLang="zh-CN" sz="14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11).  Hence, </a:t>
            </a:r>
            <a:r>
              <a:rPr kumimoji="1" lang="en-US" altLang="zh-CN" sz="1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X</a:t>
            </a:r>
            <a:r>
              <a:rPr kumimoji="1" lang="en-US" altLang="zh-CN" sz="1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10</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1"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2.</a:t>
            </a:r>
            <a:endPar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30250" marR="0" lvl="3" indent="-457200" algn="l" defTabSz="914400" rtl="0" eaLnBrk="0" fontAlgn="base" latinLnBrk="0" hangingPunct="0">
              <a:lnSpc>
                <a:spcPct val="80000"/>
              </a:lnSpc>
              <a:spcBef>
                <a:spcPct val="20000"/>
              </a:spcBef>
              <a:spcAft>
                <a:spcPct val="0"/>
              </a:spcAft>
              <a:buClr>
                <a:schemeClr val="tx2"/>
              </a:buClr>
              <a:buSzPct val="95000"/>
              <a:buFont typeface="Wingdings" panose="05000000000000000000" pitchFamily="2" charset="2"/>
              <a:buNone/>
              <a:defRPr/>
            </a:pPr>
            <a:r>
              <a:rPr kumimoji="1" lang="en-US" altLang="zh-CN" sz="1400" b="0" i="0" u="none" strike="noStrike" kern="0" cap="none" spc="0" normalizeH="0" baseline="0" noProof="1" dirty="0">
                <a:solidFill>
                  <a:schemeClr val="accent1"/>
                </a:solidFill>
                <a:latin typeface="Times New Roman" panose="02020503050405090304" pitchFamily="18" charset="0"/>
                <a:ea typeface="+mn-ea"/>
                <a:cs typeface="Times New Roman" panose="02020503050405090304" pitchFamily="18" charset="0"/>
              </a:rPr>
              <a:t>   b.          </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1∙0 + 2∙8 + 3∙4 +  4∙9 +  5∙3 +  6∙0 + 7∙ 1 + 8∙4 + 9∙9 + 10∙10  =</a:t>
            </a:r>
            <a:endPar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30250" marR="0" lvl="3" indent="-457200" algn="l" defTabSz="914400" rtl="0" eaLnBrk="0" fontAlgn="base" latinLnBrk="0" hangingPunct="0">
              <a:lnSpc>
                <a:spcPct val="80000"/>
              </a:lnSpc>
              <a:spcBef>
                <a:spcPct val="20000"/>
              </a:spcBef>
              <a:spcAft>
                <a:spcPct val="0"/>
              </a:spcAft>
              <a:buClr>
                <a:schemeClr val="accent2"/>
              </a:buClr>
              <a:buSzPct val="95000"/>
              <a:buFont typeface="Wingdings" panose="05000000000000000000" pitchFamily="2" charset="2"/>
              <a:buNone/>
              <a:defRPr/>
            </a:pP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0 + 16 + 12 +  36 +  15 +  0 + 7 + 32 + 81 + 100  = 299 ≡ 2 ≢  0 (mod</a:t>
            </a:r>
            <a:r>
              <a:rPr kumimoji="1" lang="en-US" altLang="zh-CN" sz="14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11) </a:t>
            </a:r>
            <a:endPar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30250" marR="0" lvl="3" indent="-457200" algn="l" defTabSz="914400" rtl="0" eaLnBrk="0" fontAlgn="base" latinLnBrk="0" hangingPunct="0">
              <a:lnSpc>
                <a:spcPct val="80000"/>
              </a:lnSpc>
              <a:spcBef>
                <a:spcPct val="20000"/>
              </a:spcBef>
              <a:spcAft>
                <a:spcPct val="0"/>
              </a:spcAft>
              <a:buClr>
                <a:schemeClr val="accent2"/>
              </a:buClr>
              <a:buSzPct val="95000"/>
              <a:buFont typeface="Wingdings" panose="05000000000000000000" pitchFamily="2" charset="2"/>
              <a:buNone/>
              <a:defRPr/>
            </a:pPr>
            <a:r>
              <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Hence, 084930149X  is not a valid ISBN-10.</a:t>
            </a:r>
            <a:endPar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30250" marR="0" lvl="3" indent="-457200" algn="l" defTabSz="914400" rtl="0" eaLnBrk="0" fontAlgn="base" latinLnBrk="0" hangingPunct="0">
              <a:lnSpc>
                <a:spcPct val="80000"/>
              </a:lnSpc>
              <a:spcBef>
                <a:spcPct val="20000"/>
              </a:spcBef>
              <a:spcAft>
                <a:spcPct val="0"/>
              </a:spcAft>
              <a:buClr>
                <a:schemeClr val="accent2"/>
              </a:buClr>
              <a:buSzPct val="95000"/>
              <a:buFont typeface="Wingdings" panose="05000000000000000000" pitchFamily="2" charset="2"/>
              <a:buNone/>
              <a:defRPr/>
            </a:pPr>
            <a:endPar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457200" marR="0" lvl="2" indent="-457200" algn="l" defTabSz="914400" rtl="0" eaLnBrk="0" fontAlgn="base" latinLnBrk="0" hangingPunct="0">
              <a:lnSpc>
                <a:spcPct val="80000"/>
              </a:lnSpc>
              <a:spcBef>
                <a:spcPct val="20000"/>
              </a:spcBef>
              <a:spcAft>
                <a:spcPct val="0"/>
              </a:spcAft>
              <a:buClr>
                <a:schemeClr val="folHlink"/>
              </a:buClr>
              <a:buSzPct val="95000"/>
              <a:buFont typeface="Wingdings" panose="05000000000000000000" pitchFamily="2" charset="2"/>
              <a:buChar char="n"/>
              <a:defRPr/>
            </a:pPr>
            <a:r>
              <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 </a:t>
            </a:r>
            <a:r>
              <a:rPr kumimoji="1" lang="en-US" altLang="zh-CN"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single error</a:t>
            </a:r>
            <a:r>
              <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is an error in one digit of an identification number and  a </a:t>
            </a:r>
            <a:r>
              <a:rPr kumimoji="1" lang="en-US" altLang="zh-CN"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transposition error</a:t>
            </a:r>
            <a:r>
              <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is the  accidental interchanging of two digits.  Both of these kinds of errors can be detected by the check digit for  ISBN-10. (</a:t>
            </a:r>
            <a:r>
              <a:rPr kumimoji="1" lang="en-US" altLang="zh-CN"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see text for more details</a:t>
            </a:r>
            <a:r>
              <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altLang="zh-CN"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30250" marR="0" lvl="3" indent="-457200" algn="l" defTabSz="914400" rtl="0" eaLnBrk="0" fontAlgn="base" latinLnBrk="0" hangingPunct="0">
              <a:lnSpc>
                <a:spcPct val="80000"/>
              </a:lnSpc>
              <a:spcBef>
                <a:spcPct val="20000"/>
              </a:spcBef>
              <a:spcAft>
                <a:spcPct val="0"/>
              </a:spcAft>
              <a:buClr>
                <a:schemeClr val="accent2"/>
              </a:buClr>
              <a:buSzPct val="95000"/>
              <a:buFont typeface="Copperplate Gothic Light" pitchFamily="34" charset="0"/>
              <a:buAutoNum type="alphaLcParenR"/>
              <a:defRPr/>
            </a:pPr>
            <a:endParaRPr kumimoji="1" lang="en-US" altLang="zh-CN"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endParaRPr kumimoji="1" lang="en-US" altLang="zh-CN" sz="1400" b="0" i="1" u="none" strike="noStrike" kern="0" cap="none" spc="0" normalizeH="0" baseline="0" noProof="1" dirty="0">
              <a:solidFill>
                <a:schemeClr val="tx1"/>
              </a:solidFill>
              <a:latin typeface="+mn-lt"/>
              <a:ea typeface="+mn-ea"/>
              <a:cs typeface="+mn-cs"/>
            </a:endParaRPr>
          </a:p>
        </p:txBody>
      </p:sp>
      <p:pic>
        <p:nvPicPr>
          <p:cNvPr id="11267" name="Picture 10" descr="addin_tmp.png"/>
          <p:cNvPicPr>
            <a:picLocks noChangeAspect="1"/>
          </p:cNvPicPr>
          <p:nvPr>
            <p:custDataLst>
              <p:tags r:id="rId1"/>
            </p:custDataLst>
          </p:nvPr>
        </p:nvPicPr>
        <p:blipFill>
          <a:blip r:embed="rId2"/>
          <a:stretch>
            <a:fillRect/>
          </a:stretch>
        </p:blipFill>
        <p:spPr>
          <a:xfrm>
            <a:off x="7189788" y="2260600"/>
            <a:ext cx="1658937" cy="479425"/>
          </a:xfrm>
          <a:prstGeom prst="rect">
            <a:avLst/>
          </a:prstGeom>
          <a:noFill/>
          <a:ln w="9525">
            <a:noFill/>
          </a:ln>
        </p:spPr>
      </p:pic>
      <p:pic>
        <p:nvPicPr>
          <p:cNvPr id="11268" name="Picture 13" descr="addin_tmp.png"/>
          <p:cNvPicPr>
            <a:picLocks noChangeAspect="1"/>
          </p:cNvPicPr>
          <p:nvPr>
            <p:custDataLst>
              <p:tags r:id="rId3"/>
            </p:custDataLst>
          </p:nvPr>
        </p:nvPicPr>
        <p:blipFill>
          <a:blip r:embed="rId4"/>
          <a:stretch>
            <a:fillRect/>
          </a:stretch>
        </p:blipFill>
        <p:spPr>
          <a:xfrm>
            <a:off x="2166938" y="1920875"/>
            <a:ext cx="1271587" cy="404813"/>
          </a:xfrm>
          <a:prstGeom prst="rect">
            <a:avLst/>
          </a:prstGeom>
          <a:noFill/>
          <a:ln w="9525">
            <a:noFill/>
          </a:ln>
        </p:spPr>
      </p:pic>
      <p:sp>
        <p:nvSpPr>
          <p:cNvPr id="11269" name="TextBox 12"/>
          <p:cNvSpPr txBox="1"/>
          <p:nvPr/>
        </p:nvSpPr>
        <p:spPr>
          <a:xfrm>
            <a:off x="7639050" y="3789363"/>
            <a:ext cx="1066800" cy="738187"/>
          </a:xfrm>
          <a:prstGeom prst="rect">
            <a:avLst/>
          </a:prstGeom>
          <a:noFill/>
          <a:ln w="9525" cap="flat" cmpd="sng">
            <a:solidFill>
              <a:schemeClr val="accent1"/>
            </a:solidFill>
            <a:prstDash val="solid"/>
            <a:miter/>
            <a:headEnd type="none" w="med" len="med"/>
            <a:tailEnd type="none" w="med" len="med"/>
          </a:ln>
        </p:spPr>
        <p:txBody>
          <a:bodyPr anchor="t" anchorCtr="0">
            <a:spAutoFit/>
          </a:bodyPr>
          <a:p>
            <a:pPr eaLnBrk="0" hangingPunct="0">
              <a:buNone/>
            </a:pPr>
            <a:r>
              <a:rPr lang="en-US" altLang="zh-CN" sz="1400">
                <a:latin typeface="Times New Roman" panose="02020503050405090304" pitchFamily="18" charset="0"/>
              </a:rPr>
              <a:t>X is used for the digit </a:t>
            </a:r>
            <a:r>
              <a:rPr lang="en-US" altLang="zh-CN" sz="1400">
                <a:latin typeface="Cambria Math" pitchFamily="18" charset="0"/>
              </a:rPr>
              <a:t>10</a:t>
            </a:r>
            <a:r>
              <a:rPr lang="en-US" altLang="zh-CN" sz="1400">
                <a:latin typeface="Times New Roman" panose="02020503050405090304" pitchFamily="18" charset="0"/>
              </a:rPr>
              <a:t>.</a:t>
            </a:r>
            <a:endParaRPr lang="en-US" altLang="zh-CN" sz="1400">
              <a:latin typeface="Times New Roman" panose="0202050305040509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Title 1"/>
          <p:cNvSpPr>
            <a:spLocks noGrp="1"/>
          </p:cNvSpPr>
          <p:nvPr>
            <p:ph type="ctrTitle"/>
          </p:nvPr>
        </p:nvSpPr>
        <p:spPr>
          <a:ln/>
        </p:spPr>
        <p:txBody>
          <a:bodyPr vert="horz" wrap="square" lIns="91440" tIns="45720" rIns="91440" bIns="45720" anchor="b" anchorCtr="0"/>
          <a:p>
            <a:pPr>
              <a:buClrTx/>
              <a:buSzTx/>
              <a:buFontTx/>
            </a:pPr>
            <a:r>
              <a:rPr kumimoji="1" lang="en-US" altLang="zh-CN">
                <a:latin typeface="Copperplate Gothic Bold" pitchFamily="34" charset="0"/>
                <a:ea typeface="+mj-ea"/>
                <a:cs typeface="+mj-cs"/>
              </a:rPr>
              <a:t>Cryptography</a:t>
            </a:r>
            <a:endParaRPr kumimoji="1" lang="en-US" altLang="zh-CN">
              <a:latin typeface="Copperplate Gothic Bold" pitchFamily="34" charset="0"/>
              <a:ea typeface="+mj-ea"/>
              <a:cs typeface="+mj-cs"/>
            </a:endParaRPr>
          </a:p>
        </p:txBody>
      </p:sp>
      <p:sp>
        <p:nvSpPr>
          <p:cNvPr id="32771" name="副标题 2"/>
          <p:cNvSpPr>
            <a:spLocks noGrp="1" noChangeArrowheads="1"/>
          </p:cNvSpPr>
          <p:nvPr>
            <p:ph type="subTitle" idx="1"/>
          </p:nvPr>
        </p:nvSpPr>
        <p:spPr/>
        <p:txBody>
          <a:bodyPr/>
          <a:lstStyle/>
          <a:p>
            <a:pPr fontAlgn="base"/>
            <a:endParaRPr lang="zh-CN" altLang="en-US" strike="noStrike" noProof="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Title 1"/>
          <p:cNvSpPr>
            <a:spLocks noGrp="1"/>
          </p:cNvSpPr>
          <p:nvPr>
            <p:ph type="title"/>
          </p:nvPr>
        </p:nvSpPr>
        <p:spPr>
          <a:ln/>
        </p:spPr>
        <p:txBody>
          <a:bodyPr vert="horz" wrap="square" lIns="91440" tIns="45720" rIns="91440" bIns="45720" anchor="b" anchorCtr="0"/>
          <a:p>
            <a:r>
              <a:rPr lang="en-US" altLang="zh-CN"/>
              <a:t>Section Summary</a:t>
            </a:r>
            <a:endParaRPr lang="en-US" altLang="zh-CN"/>
          </a:p>
        </p:txBody>
      </p:sp>
      <p:sp>
        <p:nvSpPr>
          <p:cNvPr id="13314" name="Content Placeholder 2"/>
          <p:cNvSpPr>
            <a:spLocks noGrp="1"/>
          </p:cNvSpPr>
          <p:nvPr>
            <p:ph idx="1"/>
          </p:nvPr>
        </p:nvSpPr>
        <p:spPr>
          <a:ln/>
        </p:spPr>
        <p:txBody>
          <a:bodyPr vert="horz" wrap="square" lIns="91440" tIns="45720" rIns="91440" bIns="45720" anchor="t" anchorCtr="0"/>
          <a:p>
            <a:pPr>
              <a:buNone/>
            </a:pPr>
            <a:endParaRPr lang="en-US" altLang="zh-CN"/>
          </a:p>
          <a:p>
            <a:r>
              <a:rPr lang="en-US" altLang="zh-CN">
                <a:latin typeface="Times New Roman" panose="02020503050405090304" pitchFamily="18" charset="0"/>
              </a:rPr>
              <a:t>Classical Cryptography</a:t>
            </a:r>
            <a:r>
              <a:rPr lang="zh-CN" altLang="en-US">
                <a:latin typeface="Times New Roman" panose="02020503050405090304" pitchFamily="18" charset="0"/>
              </a:rPr>
              <a:t>（古典</a:t>
            </a:r>
            <a:r>
              <a:rPr lang="zh-CN" altLang="en-US">
                <a:latin typeface="Times New Roman" panose="02020503050405090304" pitchFamily="18" charset="0"/>
              </a:rPr>
              <a:t>密码学）</a:t>
            </a:r>
            <a:endParaRPr lang="en-US" altLang="zh-CN">
              <a:latin typeface="Times New Roman" panose="02020503050405090304" pitchFamily="18" charset="0"/>
            </a:endParaRPr>
          </a:p>
          <a:p>
            <a:r>
              <a:rPr lang="en-US" altLang="zh-CN">
                <a:latin typeface="Times New Roman" panose="02020503050405090304" pitchFamily="18" charset="0"/>
              </a:rPr>
              <a:t>Cryptosystems</a:t>
            </a:r>
            <a:r>
              <a:rPr lang="zh-CN" altLang="en-US">
                <a:latin typeface="Times New Roman" panose="02020503050405090304" pitchFamily="18" charset="0"/>
              </a:rPr>
              <a:t>（密码</a:t>
            </a:r>
            <a:r>
              <a:rPr lang="zh-CN" altLang="en-US">
                <a:latin typeface="Times New Roman" panose="02020503050405090304" pitchFamily="18" charset="0"/>
              </a:rPr>
              <a:t>系统）</a:t>
            </a:r>
            <a:endParaRPr lang="en-US" altLang="zh-CN">
              <a:latin typeface="Times New Roman" panose="02020503050405090304" pitchFamily="18" charset="0"/>
            </a:endParaRPr>
          </a:p>
          <a:p>
            <a:r>
              <a:rPr lang="en-US" altLang="zh-CN">
                <a:latin typeface="Times New Roman" panose="02020503050405090304" pitchFamily="18" charset="0"/>
              </a:rPr>
              <a:t>Public Key Cryptography</a:t>
            </a:r>
            <a:r>
              <a:rPr lang="zh-CN" altLang="en-US">
                <a:latin typeface="Times New Roman" panose="02020503050405090304" pitchFamily="18" charset="0"/>
              </a:rPr>
              <a:t>（公钥密码</a:t>
            </a:r>
            <a:r>
              <a:rPr lang="zh-CN" altLang="en-US">
                <a:latin typeface="Times New Roman" panose="02020503050405090304" pitchFamily="18" charset="0"/>
              </a:rPr>
              <a:t>学）</a:t>
            </a:r>
            <a:endParaRPr lang="en-US" altLang="zh-CN">
              <a:latin typeface="Times New Roman" panose="02020503050405090304" pitchFamily="18" charset="0"/>
            </a:endParaRPr>
          </a:p>
          <a:p>
            <a:r>
              <a:rPr lang="en-US" altLang="zh-CN">
                <a:latin typeface="Times New Roman" panose="02020503050405090304" pitchFamily="18" charset="0"/>
              </a:rPr>
              <a:t>RSA Cryptosystem</a:t>
            </a:r>
            <a:r>
              <a:rPr lang="zh-CN" altLang="en-US">
                <a:latin typeface="Times New Roman" panose="02020503050405090304" pitchFamily="18" charset="0"/>
                <a:sym typeface="+mn-ea"/>
              </a:rPr>
              <a:t>（公钥密码</a:t>
            </a:r>
            <a:r>
              <a:rPr lang="zh-CN" altLang="en-US">
                <a:latin typeface="Times New Roman" panose="02020503050405090304" pitchFamily="18" charset="0"/>
                <a:sym typeface="+mn-ea"/>
              </a:rPr>
              <a:t>系统）</a:t>
            </a:r>
            <a:endParaRPr lang="en-US" altLang="zh-CN">
              <a:latin typeface="Times New Roman" panose="02020503050405090304" pitchFamily="18" charset="0"/>
            </a:endParaRPr>
          </a:p>
          <a:p>
            <a:r>
              <a:rPr lang="en-US" altLang="zh-CN">
                <a:latin typeface="Times New Roman" panose="02020503050405090304" pitchFamily="18" charset="0"/>
              </a:rPr>
              <a:t>Crytographic Protocols</a:t>
            </a:r>
            <a:r>
              <a:rPr lang="zh-CN" altLang="en-US">
                <a:latin typeface="Times New Roman" panose="02020503050405090304" pitchFamily="18" charset="0"/>
              </a:rPr>
              <a:t>（密码</a:t>
            </a:r>
            <a:r>
              <a:rPr lang="zh-CN" altLang="en-US">
                <a:latin typeface="Times New Roman" panose="02020503050405090304" pitchFamily="18" charset="0"/>
              </a:rPr>
              <a:t>协议）</a:t>
            </a:r>
            <a:endParaRPr lang="en-US" altLang="zh-CN">
              <a:latin typeface="Times New Roman" panose="02020503050405090304" pitchFamily="18" charset="0"/>
            </a:endParaRPr>
          </a:p>
          <a:p>
            <a:r>
              <a:rPr lang="en-US" altLang="zh-CN">
                <a:latin typeface="Times New Roman" panose="02020503050405090304" pitchFamily="18" charset="0"/>
              </a:rPr>
              <a:t>Primitive Roots and Discrete Logarithms</a:t>
            </a:r>
            <a:r>
              <a:rPr lang="zh-CN" altLang="en-US">
                <a:latin typeface="Times New Roman" panose="02020503050405090304" pitchFamily="18" charset="0"/>
              </a:rPr>
              <a:t>（原根和离散</a:t>
            </a:r>
            <a:r>
              <a:rPr lang="zh-CN" altLang="en-US">
                <a:latin typeface="Times New Roman" panose="02020503050405090304" pitchFamily="18" charset="0"/>
              </a:rPr>
              <a:t>对数）</a:t>
            </a:r>
            <a:endParaRPr lang="en-US" altLang="zh-CN">
              <a:latin typeface="Times New Roman" panose="02020503050405090304" pitchFamily="18" charset="0"/>
            </a:endParaRPr>
          </a:p>
          <a:p>
            <a:pPr>
              <a:buNone/>
            </a:pPr>
            <a:endParaRPr lang="en-US" altLang="zh-CN"/>
          </a:p>
          <a:p>
            <a:pPr lvl="1">
              <a:buNone/>
            </a:pPr>
            <a:endParaRPr lang="en-US" altLang="zh-CN"/>
          </a:p>
          <a:p>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Title 1"/>
          <p:cNvSpPr>
            <a:spLocks noGrp="1"/>
          </p:cNvSpPr>
          <p:nvPr>
            <p:ph type="title"/>
          </p:nvPr>
        </p:nvSpPr>
        <p:spPr>
          <a:xfrm>
            <a:off x="682943" y="45085"/>
            <a:ext cx="7793037" cy="1143000"/>
          </a:xfrm>
        </p:spPr>
        <p:txBody>
          <a:bodyPr vert="horz" wrap="square" lIns="91440" tIns="45720" rIns="91440" bIns="45720" anchor="b" anchorCtr="0"/>
          <a:p>
            <a:r>
              <a:rPr lang="en-US" altLang="zh-CN"/>
              <a:t>Caesar Cipher</a:t>
            </a:r>
            <a:r>
              <a:rPr lang="zh-CN" altLang="en-US"/>
              <a:t>（</a:t>
            </a:r>
            <a:r>
              <a:rPr lang="zh-CN" altLang="en-US"/>
              <a:t>恺撒</a:t>
            </a:r>
            <a:r>
              <a:rPr lang="zh-CN" altLang="en-US"/>
              <a:t>密码）</a:t>
            </a:r>
            <a:endParaRPr lang="zh-CN" altLang="en-US"/>
          </a:p>
        </p:txBody>
      </p:sp>
      <p:sp>
        <p:nvSpPr>
          <p:cNvPr id="3" name="Content Placeholder 2"/>
          <p:cNvSpPr>
            <a:spLocks noGrp="1"/>
          </p:cNvSpPr>
          <p:nvPr>
            <p:ph idx="1"/>
          </p:nvPr>
        </p:nvSpPr>
        <p:spPr>
          <a:xfrm>
            <a:off x="303530" y="1557020"/>
            <a:ext cx="8553450" cy="4864100"/>
          </a:xfrm>
        </p:spPr>
        <p:txBody>
          <a:bodyPr/>
          <a:lstStyle/>
          <a:p>
            <a:pPr marL="342900" marR="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Julius Caesar created secret messages by shifting each letter three letters forward in the alphabet (sending the last three letters to the first three letters.) For example, the letter B is replaced by E and the letter X is replaced by A. This process of making a message secret is an example of </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encryption</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Here is how the encryption process works:</a:t>
            </a:r>
            <a:endPar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Replace each letter by an integer from </a:t>
            </a:r>
            <a:r>
              <a:rPr kumimoji="1" lang="en-US" sz="20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Z</a:t>
            </a:r>
            <a:r>
              <a:rPr kumimoji="1" lang="en-US" sz="2000" b="0" i="0" u="none" strike="noStrike" kern="0" cap="none" spc="0" normalizeH="0" baseline="-25000" noProof="1" dirty="0">
                <a:solidFill>
                  <a:schemeClr val="tx1"/>
                </a:solidFill>
                <a:latin typeface="Times New Roman" panose="02020503050405090304" pitchFamily="18" charset="0"/>
                <a:ea typeface="Cambria Math" pitchFamily="18" charset="0"/>
                <a:cs typeface="Times New Roman" panose="02020503050405090304" pitchFamily="18" charset="0"/>
              </a:rPr>
              <a:t>26</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that is an integer from </a:t>
            </a:r>
            <a:r>
              <a:rPr kumimoji="1" lang="en-US" sz="20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0 </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to </a:t>
            </a:r>
            <a:r>
              <a:rPr kumimoji="1" lang="en-US" sz="20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25 </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representing one less than its position in the alphabet.</a:t>
            </a:r>
            <a:endPar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The encryption function is </a:t>
            </a:r>
            <a:r>
              <a:rPr kumimoji="1" lang="en-US" sz="2000" b="0" i="1"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f</a:t>
            </a:r>
            <a:r>
              <a:rPr kumimoji="1" lang="en-US" sz="2000" b="0" i="0"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a:t>
            </a:r>
            <a:r>
              <a:rPr kumimoji="1" lang="en-US" sz="2000" b="0" i="1"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p</a:t>
            </a:r>
            <a:r>
              <a:rPr kumimoji="1" lang="en-US" sz="2000" b="0" i="0"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a:t>
            </a:r>
            <a:r>
              <a:rPr kumimoji="1" lang="en-US" sz="2000" b="0" i="1"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 = </a:t>
            </a:r>
            <a:r>
              <a:rPr kumimoji="1" lang="en-US" sz="2000" b="0" i="0"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a:t>
            </a:r>
            <a:r>
              <a:rPr kumimoji="1" lang="en-US" sz="2000" b="0" i="1"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p + </a:t>
            </a:r>
            <a:r>
              <a:rPr kumimoji="1" lang="en-US" sz="2000" b="0" i="0" u="none" strike="noStrike" kern="0" cap="none" spc="0" normalizeH="0" baseline="0" noProof="1" dirty="0">
                <a:solidFill>
                  <a:srgbClr val="FF0000"/>
                </a:solidFill>
                <a:latin typeface="Times New Roman" panose="02020503050405090304" pitchFamily="18" charset="0"/>
                <a:ea typeface="Cambria Math" pitchFamily="18" charset="0"/>
                <a:cs typeface="Times New Roman" panose="02020503050405090304" pitchFamily="18" charset="0"/>
              </a:rPr>
              <a:t>3</a:t>
            </a:r>
            <a:r>
              <a:rPr kumimoji="1" lang="en-US" sz="2000" b="0" i="0"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a:t>
            </a:r>
            <a:r>
              <a:rPr kumimoji="1" lang="en-US" sz="2000" b="0" i="1"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 </a:t>
            </a:r>
            <a:r>
              <a:rPr kumimoji="1" lang="en-US" sz="2000" b="1" i="0"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mod</a:t>
            </a:r>
            <a:r>
              <a:rPr kumimoji="1" lang="en-US" sz="2000" b="0" i="0"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 </a:t>
            </a:r>
            <a:r>
              <a:rPr kumimoji="1" lang="en-US" sz="2000" b="0" i="0" u="none" strike="noStrike" kern="0" cap="none" spc="0" normalizeH="0" baseline="0" noProof="1" dirty="0">
                <a:solidFill>
                  <a:srgbClr val="FF0000"/>
                </a:solidFill>
                <a:latin typeface="Times New Roman" panose="02020503050405090304" pitchFamily="18" charset="0"/>
                <a:ea typeface="Cambria Math" pitchFamily="18" charset="0"/>
                <a:cs typeface="Times New Roman" panose="02020503050405090304" pitchFamily="18" charset="0"/>
              </a:rPr>
              <a:t>26</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It replaces each integer </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 </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in the set {</a:t>
            </a:r>
            <a:r>
              <a:rPr kumimoji="1" lang="en-US" sz="20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0,1,2,…,25</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by </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f</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in the set {</a:t>
            </a:r>
            <a:r>
              <a:rPr kumimoji="1" lang="en-US" sz="20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0,1,2,…,25</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endPar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Replace each integer </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by the letter with the position </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0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 3 </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in the alphabet.</a:t>
            </a:r>
            <a:endPar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2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endParaRPr kumimoji="1" lang="en-US" sz="2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p:txBody>
      </p:sp>
      <p:pic>
        <p:nvPicPr>
          <p:cNvPr id="14339" name="Picture 2" descr="C:\Documents and Settings\Richard Scherl\Local Settings\Temporary Internet Files\Content.IE5\00IWHKE8\MC900353617[1].wmf"/>
          <p:cNvPicPr>
            <a:picLocks noChangeAspect="1"/>
          </p:cNvPicPr>
          <p:nvPr/>
        </p:nvPicPr>
        <p:blipFill>
          <a:blip r:embed="rId1"/>
          <a:stretch>
            <a:fillRect/>
          </a:stretch>
        </p:blipFill>
        <p:spPr>
          <a:xfrm>
            <a:off x="7522845" y="-92075"/>
            <a:ext cx="1158875" cy="172085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Title 1"/>
          <p:cNvSpPr>
            <a:spLocks noGrp="1"/>
          </p:cNvSpPr>
          <p:nvPr>
            <p:ph type="title"/>
          </p:nvPr>
        </p:nvSpPr>
        <p:spPr>
          <a:xfrm>
            <a:off x="682943" y="45085"/>
            <a:ext cx="7793037" cy="1143000"/>
          </a:xfrm>
          <a:ln/>
        </p:spPr>
        <p:txBody>
          <a:bodyPr vert="horz" wrap="square" lIns="91440" tIns="45720" rIns="91440" bIns="45720" anchor="b" anchorCtr="0"/>
          <a:p>
            <a:r>
              <a:rPr lang="en-US" altLang="zh-CN"/>
              <a:t>Caesar Cipher</a:t>
            </a:r>
            <a:r>
              <a:rPr lang="zh-CN" altLang="en-US"/>
              <a:t>（</a:t>
            </a:r>
            <a:r>
              <a:rPr lang="zh-CN" altLang="en-US"/>
              <a:t>恺撒</a:t>
            </a:r>
            <a:r>
              <a:rPr lang="zh-CN" altLang="en-US"/>
              <a:t>密码）</a:t>
            </a:r>
            <a:endParaRPr lang="zh-CN" altLang="en-US"/>
          </a:p>
        </p:txBody>
      </p:sp>
      <p:sp>
        <p:nvSpPr>
          <p:cNvPr id="3" name="Content Placeholder 2"/>
          <p:cNvSpPr>
            <a:spLocks noGrp="1"/>
          </p:cNvSpPr>
          <p:nvPr>
            <p:ph idx="1"/>
          </p:nvPr>
        </p:nvSpPr>
        <p:spPr>
          <a:xfrm>
            <a:off x="288925" y="1628775"/>
            <a:ext cx="8418830" cy="4864100"/>
          </a:xfrm>
        </p:spPr>
        <p:txBody>
          <a:bodyPr>
            <a:normAutofit/>
          </a:bodyPr>
          <a:lstStyle/>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20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4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Example</a:t>
            </a: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Encrypt the message “MEET YOU IN THE PARK” using the Caesar cipher.</a:t>
            </a:r>
            <a:endPar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4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Solution</a:t>
            </a: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4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12 4 4 19    24 14 20    8 13    19 7 4    15 0 17 10</a:t>
            </a: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Now replace each of these numbers </a:t>
            </a:r>
            <a:r>
              <a:rPr kumimoji="1" lang="en-US"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by </a:t>
            </a:r>
            <a:r>
              <a:rPr kumimoji="1" lang="en-US"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f</a:t>
            </a: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a:t>
            </a: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 + </a:t>
            </a:r>
            <a:r>
              <a:rPr kumimoji="1" lang="en-US" sz="24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3</a:t>
            </a: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4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4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26</a:t>
            </a: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4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15 7 7 22    1 17 23    11 16    22 10 7    18 3 20 13</a:t>
            </a: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Translating the numbers back to letters produces the encrypted message</a:t>
            </a:r>
            <a:endPar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“PHHW  BRX LQ  WKH  SDUN.”</a:t>
            </a:r>
            <a:endParaRPr kumimoji="1" lang="en-US"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p:txBody>
      </p:sp>
      <p:pic>
        <p:nvPicPr>
          <p:cNvPr id="14339" name="Picture 2" descr="C:\Documents and Settings\Richard Scherl\Local Settings\Temporary Internet Files\Content.IE5\00IWHKE8\MC900353617[1].wmf"/>
          <p:cNvPicPr>
            <a:picLocks noChangeAspect="1"/>
          </p:cNvPicPr>
          <p:nvPr/>
        </p:nvPicPr>
        <p:blipFill>
          <a:blip r:embed="rId1"/>
          <a:stretch>
            <a:fillRect/>
          </a:stretch>
        </p:blipFill>
        <p:spPr>
          <a:xfrm>
            <a:off x="7522845" y="-92075"/>
            <a:ext cx="1158875" cy="172085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Title 1"/>
          <p:cNvSpPr>
            <a:spLocks noGrp="1"/>
          </p:cNvSpPr>
          <p:nvPr>
            <p:ph type="title"/>
          </p:nvPr>
        </p:nvSpPr>
        <p:spPr>
          <a:ln/>
        </p:spPr>
        <p:txBody>
          <a:bodyPr vert="horz" wrap="square" lIns="91440" tIns="45720" rIns="91440" bIns="45720" anchor="b" anchorCtr="0"/>
          <a:p>
            <a:r>
              <a:rPr lang="en-US" altLang="zh-CN"/>
              <a:t>Caesar Cipher</a:t>
            </a:r>
            <a:endParaRPr lang="en-US" altLang="zh-CN"/>
          </a:p>
        </p:txBody>
      </p:sp>
      <p:sp>
        <p:nvSpPr>
          <p:cNvPr id="15362" name="Content Placeholder 2"/>
          <p:cNvSpPr>
            <a:spLocks noGrp="1"/>
          </p:cNvSpPr>
          <p:nvPr>
            <p:ph idx="1"/>
          </p:nvPr>
        </p:nvSpPr>
        <p:spPr>
          <a:ln/>
        </p:spPr>
        <p:txBody>
          <a:bodyPr vert="horz" wrap="square" lIns="91440" tIns="45720" rIns="91440" bIns="45720" anchor="t" anchorCtr="0"/>
          <a:p>
            <a:pPr>
              <a:lnSpc>
                <a:spcPct val="70000"/>
              </a:lnSpc>
            </a:pPr>
            <a:r>
              <a:rPr lang="en-US" altLang="zh-CN" sz="2800" dirty="0">
                <a:latin typeface="Times New Roman" panose="02020503050405090304" pitchFamily="18" charset="0"/>
              </a:rPr>
              <a:t>To recover the original message, use </a:t>
            </a:r>
            <a:r>
              <a:rPr lang="en-US" altLang="zh-CN" sz="2800" i="1" dirty="0">
                <a:latin typeface="Times New Roman" panose="02020503050405090304" pitchFamily="18" charset="0"/>
              </a:rPr>
              <a:t>f</a:t>
            </a:r>
            <a:r>
              <a:rPr lang="en-US" altLang="zh-CN" sz="2800" baseline="30000" dirty="0">
                <a:latin typeface="Times New Roman" panose="02020503050405090304" pitchFamily="18" charset="0"/>
              </a:rPr>
              <a:t>−1</a:t>
            </a:r>
            <a:r>
              <a:rPr lang="en-US" altLang="zh-CN" sz="2800" dirty="0">
                <a:latin typeface="Times New Roman" panose="02020503050405090304" pitchFamily="18" charset="0"/>
              </a:rPr>
              <a:t>(</a:t>
            </a:r>
            <a:r>
              <a:rPr lang="en-US" altLang="zh-CN" sz="2800" i="1" dirty="0">
                <a:latin typeface="Times New Roman" panose="02020503050405090304" pitchFamily="18" charset="0"/>
              </a:rPr>
              <a:t>p</a:t>
            </a:r>
            <a:r>
              <a:rPr lang="en-US" altLang="zh-CN" sz="2800" dirty="0">
                <a:latin typeface="Times New Roman" panose="02020503050405090304" pitchFamily="18" charset="0"/>
              </a:rPr>
              <a:t>) = (</a:t>
            </a:r>
            <a:r>
              <a:rPr lang="en-US" altLang="zh-CN" sz="2800" i="1" dirty="0">
                <a:latin typeface="Times New Roman" panose="02020503050405090304" pitchFamily="18" charset="0"/>
              </a:rPr>
              <a:t>p</a:t>
            </a:r>
            <a:r>
              <a:rPr lang="en-US" altLang="zh-CN" sz="2800" dirty="0">
                <a:latin typeface="Times New Roman" panose="02020503050405090304" pitchFamily="18" charset="0"/>
              </a:rPr>
              <a:t>−3) </a:t>
            </a:r>
            <a:r>
              <a:rPr lang="en-US" altLang="zh-CN" sz="2800" b="1" dirty="0">
                <a:latin typeface="Times New Roman" panose="02020503050405090304" pitchFamily="18" charset="0"/>
              </a:rPr>
              <a:t>mod</a:t>
            </a:r>
            <a:r>
              <a:rPr lang="en-US" altLang="zh-CN" sz="2800" dirty="0">
                <a:latin typeface="Times New Roman" panose="02020503050405090304" pitchFamily="18" charset="0"/>
              </a:rPr>
              <a:t> 26. So, each letter in the coded message is shifted back three letters in the alphabet, with the first three letters sent to the last three letters. This process of recovering the original message from the encrypted message is called </a:t>
            </a:r>
            <a:r>
              <a:rPr lang="en-US" altLang="zh-CN" sz="2800" i="1" dirty="0">
                <a:latin typeface="Times New Roman" panose="02020503050405090304" pitchFamily="18" charset="0"/>
              </a:rPr>
              <a:t>decryption</a:t>
            </a:r>
            <a:r>
              <a:rPr lang="en-US" altLang="zh-CN" sz="2800" dirty="0">
                <a:latin typeface="Times New Roman" panose="02020503050405090304" pitchFamily="18" charset="0"/>
              </a:rPr>
              <a:t>.</a:t>
            </a:r>
            <a:endParaRPr lang="en-US" altLang="zh-CN" sz="2800" baseline="30000" dirty="0">
              <a:latin typeface="Times New Roman" panose="02020503050405090304" pitchFamily="18" charset="0"/>
            </a:endParaRPr>
          </a:p>
          <a:p>
            <a:pPr>
              <a:lnSpc>
                <a:spcPct val="70000"/>
              </a:lnSpc>
            </a:pPr>
            <a:r>
              <a:rPr lang="en-US" altLang="zh-CN" sz="2800" dirty="0">
                <a:latin typeface="Times New Roman" panose="02020503050405090304" pitchFamily="18" charset="0"/>
              </a:rPr>
              <a:t>The Caesar cipher is one of a family of ciphers called </a:t>
            </a:r>
            <a:r>
              <a:rPr lang="en-US" altLang="zh-CN" sz="2800" i="1" dirty="0">
                <a:latin typeface="Times New Roman" panose="02020503050405090304" pitchFamily="18" charset="0"/>
              </a:rPr>
              <a:t>shift ciphers. </a:t>
            </a:r>
            <a:r>
              <a:rPr lang="en-US" altLang="zh-CN" sz="2800" dirty="0">
                <a:latin typeface="Times New Roman" panose="02020503050405090304" pitchFamily="18" charset="0"/>
              </a:rPr>
              <a:t>Letters can be shifted by an integer </a:t>
            </a:r>
            <a:r>
              <a:rPr lang="en-US" altLang="zh-CN" sz="2800" i="1" dirty="0">
                <a:latin typeface="Times New Roman" panose="02020503050405090304" pitchFamily="18" charset="0"/>
              </a:rPr>
              <a:t>k, </a:t>
            </a:r>
            <a:r>
              <a:rPr lang="en-US" altLang="zh-CN" sz="2800" dirty="0">
                <a:latin typeface="Times New Roman" panose="02020503050405090304" pitchFamily="18" charset="0"/>
              </a:rPr>
              <a:t>with 3 being just one possibility. The encryption function is</a:t>
            </a:r>
            <a:endParaRPr lang="en-US" altLang="zh-CN" sz="2800" dirty="0">
              <a:latin typeface="Times New Roman" panose="02020503050405090304" pitchFamily="18" charset="0"/>
            </a:endParaRPr>
          </a:p>
          <a:p>
            <a:pPr lvl="1">
              <a:lnSpc>
                <a:spcPct val="70000"/>
              </a:lnSpc>
              <a:buNone/>
            </a:pPr>
            <a:r>
              <a:rPr lang="en-US" altLang="zh-CN" sz="2400" i="1" dirty="0">
                <a:latin typeface="Times New Roman" panose="02020503050405090304" pitchFamily="18" charset="0"/>
              </a:rPr>
              <a:t>       f</a:t>
            </a:r>
            <a:r>
              <a:rPr lang="en-US" altLang="zh-CN" sz="2400" dirty="0">
                <a:latin typeface="Times New Roman" panose="02020503050405090304" pitchFamily="18" charset="0"/>
              </a:rPr>
              <a:t>(</a:t>
            </a:r>
            <a:r>
              <a:rPr lang="en-US" altLang="zh-CN" sz="2400" i="1" dirty="0">
                <a:latin typeface="Times New Roman" panose="02020503050405090304" pitchFamily="18" charset="0"/>
              </a:rPr>
              <a:t>p) = </a:t>
            </a:r>
            <a:r>
              <a:rPr lang="en-US" altLang="zh-CN" sz="2400" dirty="0">
                <a:latin typeface="Times New Roman" panose="02020503050405090304" pitchFamily="18" charset="0"/>
              </a:rPr>
              <a:t>(</a:t>
            </a:r>
            <a:r>
              <a:rPr lang="en-US" altLang="zh-CN" sz="2400" i="1" dirty="0">
                <a:latin typeface="Times New Roman" panose="02020503050405090304" pitchFamily="18" charset="0"/>
              </a:rPr>
              <a:t>p + k</a:t>
            </a:r>
            <a:r>
              <a:rPr lang="en-US" altLang="zh-CN" sz="2400" dirty="0">
                <a:latin typeface="Times New Roman" panose="02020503050405090304" pitchFamily="18" charset="0"/>
              </a:rPr>
              <a:t>)</a:t>
            </a:r>
            <a:r>
              <a:rPr lang="en-US" altLang="zh-CN" sz="2400" i="1" dirty="0">
                <a:latin typeface="Times New Roman" panose="02020503050405090304" pitchFamily="18" charset="0"/>
              </a:rPr>
              <a:t> </a:t>
            </a:r>
            <a:r>
              <a:rPr lang="en-US" altLang="zh-CN" sz="2400" b="1" dirty="0">
                <a:latin typeface="Times New Roman" panose="02020503050405090304" pitchFamily="18" charset="0"/>
              </a:rPr>
              <a:t>mod</a:t>
            </a:r>
            <a:r>
              <a:rPr lang="en-US" altLang="zh-CN" sz="2400" dirty="0">
                <a:latin typeface="Times New Roman" panose="02020503050405090304" pitchFamily="18" charset="0"/>
              </a:rPr>
              <a:t> 26</a:t>
            </a:r>
            <a:endParaRPr lang="en-US" altLang="zh-CN" sz="2400" dirty="0">
              <a:latin typeface="Times New Roman" panose="02020503050405090304" pitchFamily="18" charset="0"/>
            </a:endParaRPr>
          </a:p>
          <a:p>
            <a:pPr lvl="1">
              <a:lnSpc>
                <a:spcPct val="70000"/>
              </a:lnSpc>
              <a:buNone/>
            </a:pPr>
            <a:r>
              <a:rPr lang="en-US" altLang="zh-CN" sz="2400" dirty="0">
                <a:latin typeface="Times New Roman" panose="02020503050405090304" pitchFamily="18" charset="0"/>
              </a:rPr>
              <a:t>and the decryption function is</a:t>
            </a:r>
            <a:endParaRPr lang="en-US" altLang="zh-CN" sz="2400" dirty="0">
              <a:latin typeface="Times New Roman" panose="02020503050405090304" pitchFamily="18" charset="0"/>
            </a:endParaRPr>
          </a:p>
          <a:p>
            <a:pPr lvl="1">
              <a:lnSpc>
                <a:spcPct val="70000"/>
              </a:lnSpc>
              <a:buNone/>
            </a:pPr>
            <a:r>
              <a:rPr lang="en-US" altLang="zh-CN" sz="2400" i="1" dirty="0">
                <a:latin typeface="Times New Roman" panose="02020503050405090304" pitchFamily="18" charset="0"/>
              </a:rPr>
              <a:t>       f</a:t>
            </a:r>
            <a:r>
              <a:rPr lang="en-US" altLang="zh-CN" sz="2400" baseline="30000" dirty="0">
                <a:latin typeface="Times New Roman" panose="02020503050405090304" pitchFamily="18" charset="0"/>
              </a:rPr>
              <a:t>−1</a:t>
            </a:r>
            <a:r>
              <a:rPr lang="en-US" altLang="zh-CN" sz="2400" dirty="0">
                <a:latin typeface="Times New Roman" panose="02020503050405090304" pitchFamily="18" charset="0"/>
              </a:rPr>
              <a:t>(</a:t>
            </a:r>
            <a:r>
              <a:rPr lang="en-US" altLang="zh-CN" sz="2400" i="1" dirty="0">
                <a:latin typeface="Times New Roman" panose="02020503050405090304" pitchFamily="18" charset="0"/>
              </a:rPr>
              <a:t>p</a:t>
            </a:r>
            <a:r>
              <a:rPr lang="en-US" altLang="zh-CN" sz="2400" dirty="0">
                <a:latin typeface="Times New Roman" panose="02020503050405090304" pitchFamily="18" charset="0"/>
              </a:rPr>
              <a:t>) = (</a:t>
            </a:r>
            <a:r>
              <a:rPr lang="en-US" altLang="zh-CN" sz="2400" i="1" dirty="0">
                <a:latin typeface="Times New Roman" panose="02020503050405090304" pitchFamily="18" charset="0"/>
              </a:rPr>
              <a:t>p</a:t>
            </a:r>
            <a:r>
              <a:rPr lang="en-US" altLang="zh-CN" sz="2400" dirty="0">
                <a:latin typeface="Times New Roman" panose="02020503050405090304" pitchFamily="18" charset="0"/>
              </a:rPr>
              <a:t>−</a:t>
            </a:r>
            <a:r>
              <a:rPr lang="en-US" altLang="zh-CN" sz="2400" i="1" dirty="0">
                <a:latin typeface="Times New Roman" panose="02020503050405090304" pitchFamily="18" charset="0"/>
              </a:rPr>
              <a:t>k</a:t>
            </a:r>
            <a:r>
              <a:rPr lang="en-US" altLang="zh-CN" sz="2400" dirty="0">
                <a:latin typeface="Times New Roman" panose="02020503050405090304" pitchFamily="18" charset="0"/>
              </a:rPr>
              <a:t>) </a:t>
            </a:r>
            <a:r>
              <a:rPr lang="en-US" altLang="zh-CN" sz="2400" b="1" dirty="0">
                <a:latin typeface="Times New Roman" panose="02020503050405090304" pitchFamily="18" charset="0"/>
              </a:rPr>
              <a:t>mod</a:t>
            </a:r>
            <a:r>
              <a:rPr lang="en-US" altLang="zh-CN" sz="2400" dirty="0">
                <a:latin typeface="Times New Roman" panose="02020503050405090304" pitchFamily="18" charset="0"/>
              </a:rPr>
              <a:t> 26</a:t>
            </a:r>
            <a:endParaRPr lang="en-US" altLang="zh-CN" sz="2400" dirty="0">
              <a:latin typeface="Times New Roman" panose="02020503050405090304" pitchFamily="18" charset="0"/>
            </a:endParaRPr>
          </a:p>
          <a:p>
            <a:pPr>
              <a:lnSpc>
                <a:spcPct val="70000"/>
              </a:lnSpc>
              <a:buNone/>
            </a:pPr>
            <a:r>
              <a:rPr lang="en-US" altLang="zh-CN" sz="2800" dirty="0">
                <a:latin typeface="Times New Roman" panose="02020503050405090304" pitchFamily="18" charset="0"/>
              </a:rPr>
              <a:t>      The integer </a:t>
            </a:r>
            <a:r>
              <a:rPr lang="en-US" altLang="zh-CN" sz="2800" i="1" dirty="0">
                <a:latin typeface="Times New Roman" panose="02020503050405090304" pitchFamily="18" charset="0"/>
              </a:rPr>
              <a:t>k</a:t>
            </a:r>
            <a:r>
              <a:rPr lang="en-US" altLang="zh-CN" sz="2800" dirty="0">
                <a:latin typeface="Times New Roman" panose="02020503050405090304" pitchFamily="18" charset="0"/>
              </a:rPr>
              <a:t> is called a </a:t>
            </a:r>
            <a:r>
              <a:rPr lang="en-US" altLang="zh-CN" sz="2800" i="1" dirty="0">
                <a:latin typeface="Times New Roman" panose="02020503050405090304" pitchFamily="18" charset="0"/>
              </a:rPr>
              <a:t>key</a:t>
            </a:r>
            <a:r>
              <a:rPr lang="en-US" altLang="zh-CN" sz="2800" dirty="0">
                <a:latin typeface="Times New Roman" panose="02020503050405090304" pitchFamily="18" charset="0"/>
              </a:rPr>
              <a:t>.</a:t>
            </a:r>
            <a:endParaRPr lang="en-US" altLang="zh-CN" sz="2800" dirty="0">
              <a:latin typeface="Times New Roman" panose="02020503050405090304" pitchFamily="18" charset="0"/>
            </a:endParaRPr>
          </a:p>
          <a:p>
            <a:pPr>
              <a:lnSpc>
                <a:spcPct val="70000"/>
              </a:lnSpc>
            </a:pPr>
            <a:endParaRPr lang="en-US" altLang="zh-CN" sz="2500" dirty="0"/>
          </a:p>
          <a:p>
            <a:pPr>
              <a:lnSpc>
                <a:spcPct val="70000"/>
              </a:lnSpc>
            </a:pPr>
            <a:endParaRPr lang="en-US" altLang="zh-CN" sz="2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Title 1"/>
          <p:cNvSpPr>
            <a:spLocks noGrp="1"/>
          </p:cNvSpPr>
          <p:nvPr>
            <p:ph type="title"/>
          </p:nvPr>
        </p:nvSpPr>
        <p:spPr>
          <a:ln/>
        </p:spPr>
        <p:txBody>
          <a:bodyPr vert="horz" wrap="square" lIns="91440" tIns="45720" rIns="91440" bIns="45720" anchor="b" anchorCtr="0"/>
          <a:p>
            <a:r>
              <a:rPr lang="en-US" altLang="zh-CN"/>
              <a:t>Shift Cipher</a:t>
            </a:r>
            <a:endParaRPr lang="en-US" altLang="zh-CN"/>
          </a:p>
        </p:txBody>
      </p:sp>
      <p:sp>
        <p:nvSpPr>
          <p:cNvPr id="3" name="Content Placeholder 2"/>
          <p:cNvSpPr>
            <a:spLocks noGrp="1"/>
          </p:cNvSpPr>
          <p:nvPr>
            <p:ph idx="1"/>
          </p:nvPr>
        </p:nvSpPr>
        <p:spPr/>
        <p:txBody>
          <a:bodyPr>
            <a:normAutofit fontScale="85000" lnSpcReduction="10000"/>
          </a:bodyPr>
          <a:lstStyle/>
          <a:p>
            <a:pPr marL="342900" marR="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Example </a:t>
            </a:r>
            <a:r>
              <a:rPr kumimoji="1" lang="en-US" sz="3200" b="1"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1</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Encrypt the message “STOP GLOBAL WARMING” using the shift cipher with </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a:t>
            </a:r>
            <a:r>
              <a:rPr kumimoji="1" lang="en-US" sz="32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11</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2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Solution</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Replace each letter with the corresponding element of </a:t>
            </a:r>
            <a:r>
              <a:rPr kumimoji="1" lang="en-US" sz="32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Z</a:t>
            </a:r>
            <a:r>
              <a:rPr kumimoji="1" lang="en-US" sz="3200" b="0" i="0" u="none" strike="noStrike" kern="0" cap="none" spc="0" normalizeH="0" baseline="-25000" noProof="1" dirty="0">
                <a:solidFill>
                  <a:schemeClr val="tx1"/>
                </a:solidFill>
                <a:latin typeface="Times New Roman" panose="02020503050405090304" pitchFamily="18" charset="0"/>
                <a:ea typeface="Cambria Math" pitchFamily="18" charset="0"/>
                <a:cs typeface="Times New Roman" panose="02020503050405090304" pitchFamily="18" charset="0"/>
              </a:rPr>
              <a:t>26</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        18 19 14 15    6 11 14 1 0 11     22 0 17 12  8  13  6</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Apply the shift  </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f</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 + </a:t>
            </a:r>
            <a:r>
              <a:rPr kumimoji="1" lang="en-US" sz="32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11</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2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2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26</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yielding</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2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3 4 25 0    17 22 25 12 11 22     7 11 2 23  19  24  17</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Translating the numbers back to letters produces the </a:t>
            </a:r>
            <a:r>
              <a:rPr kumimoji="1" lang="en-US" sz="32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ciphertext</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“DEZA RWZMLW HLCXTYR.”</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Title 1"/>
          <p:cNvSpPr>
            <a:spLocks noGrp="1"/>
          </p:cNvSpPr>
          <p:nvPr>
            <p:ph type="title"/>
          </p:nvPr>
        </p:nvSpPr>
        <p:spPr>
          <a:ln/>
        </p:spPr>
        <p:txBody>
          <a:bodyPr vert="horz" wrap="square" lIns="91440" tIns="45720" rIns="91440" bIns="45720" anchor="b" anchorCtr="0"/>
          <a:p>
            <a:r>
              <a:rPr lang="en-US" altLang="zh-CN"/>
              <a:t>Shift Cipher</a:t>
            </a:r>
            <a:endParaRPr lang="en-US" altLang="zh-CN"/>
          </a:p>
        </p:txBody>
      </p:sp>
      <p:sp>
        <p:nvSpPr>
          <p:cNvPr id="17410" name="Content Placeholder 2"/>
          <p:cNvSpPr>
            <a:spLocks noGrp="1"/>
          </p:cNvSpPr>
          <p:nvPr>
            <p:ph idx="1"/>
          </p:nvPr>
        </p:nvSpPr>
        <p:spPr>
          <a:ln/>
        </p:spPr>
        <p:txBody>
          <a:bodyPr vert="horz" wrap="square" lIns="91440" tIns="45720" rIns="91440" bIns="45720" anchor="t" anchorCtr="0"/>
          <a:p>
            <a:pPr indent="0">
              <a:lnSpc>
                <a:spcPct val="80000"/>
              </a:lnSpc>
              <a:buNone/>
            </a:pPr>
            <a:r>
              <a:rPr lang="en-US" altLang="zh-CN" sz="2700" b="1">
                <a:latin typeface="Times New Roman" panose="02020503050405090304" pitchFamily="18" charset="0"/>
              </a:rPr>
              <a:t>Example 2</a:t>
            </a:r>
            <a:r>
              <a:rPr lang="en-US" altLang="zh-CN" sz="2700">
                <a:latin typeface="Times New Roman" panose="02020503050405090304" pitchFamily="18" charset="0"/>
              </a:rPr>
              <a:t>: Decrypt the message “LEWLYPLUJL PZ H NYLHA  ALHJOLY” that was encrypted using the shift cipher with </a:t>
            </a:r>
            <a:r>
              <a:rPr lang="en-US" altLang="zh-CN" sz="2700" i="1">
                <a:latin typeface="Times New Roman" panose="02020503050405090304" pitchFamily="18" charset="0"/>
              </a:rPr>
              <a:t>k</a:t>
            </a:r>
            <a:r>
              <a:rPr lang="en-US" altLang="zh-CN" sz="2700">
                <a:latin typeface="Times New Roman" panose="02020503050405090304" pitchFamily="18" charset="0"/>
              </a:rPr>
              <a:t> = 7.</a:t>
            </a:r>
            <a:endParaRPr lang="en-US" altLang="zh-CN" sz="2700">
              <a:latin typeface="Times New Roman" panose="02020503050405090304" pitchFamily="18" charset="0"/>
            </a:endParaRPr>
          </a:p>
          <a:p>
            <a:pPr indent="0">
              <a:lnSpc>
                <a:spcPct val="80000"/>
              </a:lnSpc>
              <a:buNone/>
            </a:pPr>
            <a:r>
              <a:rPr lang="en-US" altLang="zh-CN" sz="2700">
                <a:latin typeface="Times New Roman" panose="02020503050405090304" pitchFamily="18" charset="0"/>
              </a:rPr>
              <a:t>    </a:t>
            </a:r>
            <a:r>
              <a:rPr lang="en-US" altLang="zh-CN" sz="2700" b="1">
                <a:latin typeface="Times New Roman" panose="02020503050405090304" pitchFamily="18" charset="0"/>
              </a:rPr>
              <a:t>Solution</a:t>
            </a:r>
            <a:r>
              <a:rPr lang="en-US" altLang="zh-CN" sz="2700">
                <a:latin typeface="Times New Roman" panose="02020503050405090304" pitchFamily="18" charset="0"/>
              </a:rPr>
              <a:t>: Replace each letter with the corresponding element of </a:t>
            </a:r>
            <a:r>
              <a:rPr lang="en-US" altLang="zh-CN" sz="2700" b="1">
                <a:latin typeface="Times New Roman" panose="02020503050405090304" pitchFamily="18" charset="0"/>
              </a:rPr>
              <a:t>Z</a:t>
            </a:r>
            <a:r>
              <a:rPr lang="en-US" altLang="zh-CN" sz="2700" baseline="-25000">
                <a:latin typeface="Times New Roman" panose="02020503050405090304" pitchFamily="18" charset="0"/>
              </a:rPr>
              <a:t>26</a:t>
            </a:r>
            <a:r>
              <a:rPr lang="en-US" altLang="zh-CN" sz="2700">
                <a:latin typeface="Times New Roman" panose="02020503050405090304" pitchFamily="18" charset="0"/>
              </a:rPr>
              <a:t>.</a:t>
            </a:r>
            <a:endParaRPr lang="en-US" altLang="zh-CN" sz="2700">
              <a:latin typeface="Times New Roman" panose="02020503050405090304" pitchFamily="18" charset="0"/>
            </a:endParaRPr>
          </a:p>
          <a:p>
            <a:pPr indent="0">
              <a:lnSpc>
                <a:spcPct val="80000"/>
              </a:lnSpc>
              <a:buNone/>
            </a:pPr>
            <a:r>
              <a:rPr lang="en-US" altLang="zh-CN" sz="2700">
                <a:latin typeface="Times New Roman" panose="02020503050405090304" pitchFamily="18" charset="0"/>
              </a:rPr>
              <a:t>    </a:t>
            </a:r>
            <a:r>
              <a:rPr lang="en-US" altLang="zh-CN" sz="1600">
                <a:latin typeface="Times New Roman" panose="02020503050405090304" pitchFamily="18" charset="0"/>
              </a:rPr>
              <a:t>11 4 22 11 24 15 11 20 9 11   15 25   7   13 24 11 7  0    0 11 7  9  14  11  24.</a:t>
            </a:r>
            <a:endParaRPr lang="en-US" altLang="zh-CN" sz="1600">
              <a:latin typeface="Times New Roman" panose="02020503050405090304" pitchFamily="18" charset="0"/>
            </a:endParaRPr>
          </a:p>
          <a:p>
            <a:pPr indent="0">
              <a:lnSpc>
                <a:spcPct val="80000"/>
              </a:lnSpc>
              <a:buNone/>
            </a:pPr>
            <a:r>
              <a:rPr lang="en-US" altLang="zh-CN" sz="2700">
                <a:latin typeface="Times New Roman" panose="02020503050405090304" pitchFamily="18" charset="0"/>
              </a:rPr>
              <a:t>    Shift each of the numbers by −</a:t>
            </a:r>
            <a:r>
              <a:rPr lang="en-US" altLang="zh-CN" sz="2700" i="1">
                <a:latin typeface="Times New Roman" panose="02020503050405090304" pitchFamily="18" charset="0"/>
              </a:rPr>
              <a:t>k </a:t>
            </a:r>
            <a:r>
              <a:rPr lang="en-US" altLang="zh-CN" sz="2700">
                <a:latin typeface="Times New Roman" panose="02020503050405090304" pitchFamily="18" charset="0"/>
              </a:rPr>
              <a:t>=</a:t>
            </a:r>
            <a:r>
              <a:rPr lang="en-US" altLang="zh-CN" sz="2700" i="1">
                <a:latin typeface="Times New Roman" panose="02020503050405090304" pitchFamily="18" charset="0"/>
              </a:rPr>
              <a:t> </a:t>
            </a:r>
            <a:r>
              <a:rPr lang="en-US" altLang="zh-CN" sz="2700">
                <a:latin typeface="Times New Roman" panose="02020503050405090304" pitchFamily="18" charset="0"/>
              </a:rPr>
              <a:t>−7 modulo 26, yielding</a:t>
            </a:r>
            <a:endParaRPr lang="en-US" altLang="zh-CN" sz="2700">
              <a:latin typeface="Times New Roman" panose="02020503050405090304" pitchFamily="18" charset="0"/>
            </a:endParaRPr>
          </a:p>
          <a:p>
            <a:pPr indent="0">
              <a:lnSpc>
                <a:spcPct val="80000"/>
              </a:lnSpc>
              <a:buNone/>
            </a:pPr>
            <a:r>
              <a:rPr lang="en-US" altLang="zh-CN" sz="2700">
                <a:latin typeface="Times New Roman" panose="02020503050405090304" pitchFamily="18" charset="0"/>
              </a:rPr>
              <a:t>    </a:t>
            </a:r>
            <a:r>
              <a:rPr lang="en-US" altLang="zh-CN" sz="1600">
                <a:latin typeface="Times New Roman" panose="02020503050405090304" pitchFamily="18" charset="0"/>
              </a:rPr>
              <a:t>4 23 15 4 17 8 4 13 2 4   8 18    0    6 17 4  0  19     19  4  0  2  7  4  17.</a:t>
            </a:r>
            <a:endParaRPr lang="en-US" altLang="zh-CN" sz="1600">
              <a:latin typeface="Times New Roman" panose="02020503050405090304" pitchFamily="18" charset="0"/>
            </a:endParaRPr>
          </a:p>
          <a:p>
            <a:pPr indent="0">
              <a:lnSpc>
                <a:spcPct val="80000"/>
              </a:lnSpc>
              <a:buNone/>
            </a:pPr>
            <a:r>
              <a:rPr lang="en-US" altLang="zh-CN" sz="2700">
                <a:latin typeface="Times New Roman" panose="02020503050405090304" pitchFamily="18" charset="0"/>
              </a:rPr>
              <a:t>    Translating the numbers back to letters produces the decrypted message</a:t>
            </a:r>
            <a:endParaRPr lang="en-US" altLang="zh-CN" sz="2700">
              <a:latin typeface="Times New Roman" panose="02020503050405090304" pitchFamily="18" charset="0"/>
            </a:endParaRPr>
          </a:p>
          <a:p>
            <a:pPr indent="0">
              <a:lnSpc>
                <a:spcPct val="80000"/>
              </a:lnSpc>
              <a:buNone/>
            </a:pPr>
            <a:r>
              <a:rPr lang="en-US" altLang="zh-CN" sz="2700">
                <a:latin typeface="Times New Roman" panose="02020503050405090304" pitchFamily="18" charset="0"/>
              </a:rPr>
              <a:t>           “EXPERIENCE IS A GREAT TEACHER.”</a:t>
            </a:r>
            <a:endParaRPr lang="en-US" altLang="zh-CN" sz="2700">
              <a:latin typeface="Times New Roman" panose="0202050305040509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Title 1"/>
          <p:cNvSpPr>
            <a:spLocks noGrp="1"/>
          </p:cNvSpPr>
          <p:nvPr>
            <p:ph type="title"/>
          </p:nvPr>
        </p:nvSpPr>
        <p:spPr>
          <a:ln/>
        </p:spPr>
        <p:txBody>
          <a:bodyPr vert="horz" wrap="square" lIns="91440" tIns="45720" rIns="91440" bIns="45720" anchor="b" anchorCtr="0"/>
          <a:p>
            <a:r>
              <a:rPr lang="en-US" altLang="zh-CN"/>
              <a:t>Affine Ciphers</a:t>
            </a:r>
            <a:r>
              <a:rPr lang="zh-CN" altLang="en-US"/>
              <a:t>（仿射</a:t>
            </a:r>
            <a:r>
              <a:rPr lang="zh-CN" altLang="en-US"/>
              <a:t>密码）</a:t>
            </a:r>
            <a:endParaRPr lang="zh-CN" altLang="en-US"/>
          </a:p>
        </p:txBody>
      </p:sp>
      <p:sp>
        <p:nvSpPr>
          <p:cNvPr id="18434" name="Content Placeholder 2"/>
          <p:cNvSpPr>
            <a:spLocks noGrp="1"/>
          </p:cNvSpPr>
          <p:nvPr>
            <p:ph idx="1"/>
          </p:nvPr>
        </p:nvSpPr>
        <p:spPr>
          <a:ln/>
        </p:spPr>
        <p:txBody>
          <a:bodyPr vert="horz" wrap="square" lIns="91440" tIns="45720" rIns="91440" bIns="45720" anchor="t" anchorCtr="0"/>
          <a:p>
            <a:r>
              <a:rPr lang="en-US" altLang="zh-CN">
                <a:latin typeface="Times New Roman" panose="02020503050405090304" pitchFamily="18" charset="0"/>
              </a:rPr>
              <a:t>Shift ciphers are a special case of </a:t>
            </a:r>
            <a:r>
              <a:rPr lang="en-US" altLang="zh-CN" i="1">
                <a:latin typeface="Times New Roman" panose="02020503050405090304" pitchFamily="18" charset="0"/>
              </a:rPr>
              <a:t>affine ciphers </a:t>
            </a:r>
            <a:r>
              <a:rPr lang="en-US" altLang="zh-CN">
                <a:latin typeface="Times New Roman" panose="02020503050405090304" pitchFamily="18" charset="0"/>
              </a:rPr>
              <a:t>which use functions of the form</a:t>
            </a:r>
            <a:endParaRPr lang="en-US" altLang="zh-CN">
              <a:latin typeface="Times New Roman" panose="02020503050405090304" pitchFamily="18" charset="0"/>
            </a:endParaRPr>
          </a:p>
          <a:p>
            <a:pPr lvl="1">
              <a:buNone/>
            </a:pPr>
            <a:r>
              <a:rPr lang="en-US" altLang="zh-CN">
                <a:latin typeface="Times New Roman" panose="02020503050405090304" pitchFamily="18" charset="0"/>
              </a:rPr>
              <a:t> </a:t>
            </a:r>
            <a:r>
              <a:rPr lang="en-US" altLang="zh-CN" i="1">
                <a:latin typeface="Times New Roman" panose="02020503050405090304" pitchFamily="18" charset="0"/>
              </a:rPr>
              <a:t>f</a:t>
            </a:r>
            <a:r>
              <a:rPr lang="en-US" altLang="zh-CN">
                <a:latin typeface="Times New Roman" panose="02020503050405090304" pitchFamily="18" charset="0"/>
              </a:rPr>
              <a:t>(</a:t>
            </a:r>
            <a:r>
              <a:rPr lang="en-US" altLang="zh-CN" i="1">
                <a:latin typeface="Times New Roman" panose="02020503050405090304" pitchFamily="18" charset="0"/>
              </a:rPr>
              <a:t>p</a:t>
            </a:r>
            <a:r>
              <a:rPr lang="en-US" altLang="zh-CN">
                <a:latin typeface="Times New Roman" panose="02020503050405090304" pitchFamily="18" charset="0"/>
              </a:rPr>
              <a:t>)</a:t>
            </a:r>
            <a:r>
              <a:rPr lang="en-US" altLang="zh-CN" i="1">
                <a:latin typeface="Times New Roman" panose="02020503050405090304" pitchFamily="18" charset="0"/>
              </a:rPr>
              <a:t> = </a:t>
            </a:r>
            <a:r>
              <a:rPr lang="en-US" altLang="zh-CN">
                <a:latin typeface="Times New Roman" panose="02020503050405090304" pitchFamily="18" charset="0"/>
              </a:rPr>
              <a:t>(</a:t>
            </a:r>
            <a:r>
              <a:rPr lang="en-US" altLang="zh-CN" i="1">
                <a:latin typeface="Times New Roman" panose="02020503050405090304" pitchFamily="18" charset="0"/>
              </a:rPr>
              <a:t>ap + b</a:t>
            </a:r>
            <a:r>
              <a:rPr lang="en-US" altLang="zh-CN">
                <a:latin typeface="Times New Roman" panose="02020503050405090304" pitchFamily="18" charset="0"/>
              </a:rPr>
              <a:t>)</a:t>
            </a:r>
            <a:r>
              <a:rPr lang="en-US" altLang="zh-CN" i="1">
                <a:latin typeface="Times New Roman" panose="02020503050405090304" pitchFamily="18" charset="0"/>
              </a:rPr>
              <a:t> </a:t>
            </a:r>
            <a:r>
              <a:rPr lang="en-US" altLang="zh-CN" b="1">
                <a:latin typeface="Times New Roman" panose="02020503050405090304" pitchFamily="18" charset="0"/>
              </a:rPr>
              <a:t>mod</a:t>
            </a:r>
            <a:r>
              <a:rPr lang="en-US" altLang="zh-CN">
                <a:latin typeface="Times New Roman" panose="02020503050405090304" pitchFamily="18" charset="0"/>
              </a:rPr>
              <a:t> 26,</a:t>
            </a:r>
            <a:endParaRPr lang="en-US" altLang="zh-CN">
              <a:latin typeface="Times New Roman" panose="02020503050405090304" pitchFamily="18" charset="0"/>
            </a:endParaRPr>
          </a:p>
          <a:p>
            <a:pPr>
              <a:buNone/>
            </a:pPr>
            <a:r>
              <a:rPr lang="en-US" altLang="zh-CN">
                <a:latin typeface="Times New Roman" panose="02020503050405090304" pitchFamily="18" charset="0"/>
              </a:rPr>
              <a:t>     where </a:t>
            </a:r>
            <a:r>
              <a:rPr lang="en-US" altLang="zh-CN" i="1">
                <a:latin typeface="Times New Roman" panose="02020503050405090304" pitchFamily="18" charset="0"/>
              </a:rPr>
              <a:t>a</a:t>
            </a:r>
            <a:r>
              <a:rPr lang="en-US" altLang="zh-CN">
                <a:latin typeface="Times New Roman" panose="02020503050405090304" pitchFamily="18" charset="0"/>
              </a:rPr>
              <a:t> and </a:t>
            </a:r>
            <a:r>
              <a:rPr lang="en-US" altLang="zh-CN" i="1">
                <a:latin typeface="Times New Roman" panose="02020503050405090304" pitchFamily="18" charset="0"/>
              </a:rPr>
              <a:t>b</a:t>
            </a:r>
            <a:r>
              <a:rPr lang="en-US" altLang="zh-CN">
                <a:latin typeface="Times New Roman" panose="02020503050405090304" pitchFamily="18" charset="0"/>
              </a:rPr>
              <a:t> are integers, chosen so that </a:t>
            </a:r>
            <a:r>
              <a:rPr lang="en-US" altLang="zh-CN" i="1">
                <a:latin typeface="Times New Roman" panose="02020503050405090304" pitchFamily="18" charset="0"/>
              </a:rPr>
              <a:t>f  </a:t>
            </a:r>
            <a:r>
              <a:rPr lang="en-US" altLang="zh-CN">
                <a:latin typeface="Times New Roman" panose="02020503050405090304" pitchFamily="18" charset="0"/>
              </a:rPr>
              <a:t>is a bijection.</a:t>
            </a:r>
            <a:endParaRPr lang="en-US" altLang="zh-CN">
              <a:latin typeface="Times New Roman" panose="02020503050405090304" pitchFamily="18" charset="0"/>
            </a:endParaRPr>
          </a:p>
          <a:p>
            <a:pPr>
              <a:buNone/>
            </a:pPr>
            <a:r>
              <a:rPr lang="en-US" altLang="zh-CN">
                <a:latin typeface="Times New Roman" panose="02020503050405090304" pitchFamily="18" charset="0"/>
              </a:rPr>
              <a:t>     The function is a bijection if and only if gcd(</a:t>
            </a:r>
            <a:r>
              <a:rPr lang="en-US" altLang="zh-CN" i="1">
                <a:latin typeface="Times New Roman" panose="02020503050405090304" pitchFamily="18" charset="0"/>
              </a:rPr>
              <a:t>a</a:t>
            </a:r>
            <a:r>
              <a:rPr lang="en-US" altLang="zh-CN">
                <a:latin typeface="Times New Roman" panose="02020503050405090304" pitchFamily="18" charset="0"/>
              </a:rPr>
              <a:t>,26) = 1. </a:t>
            </a:r>
            <a:endParaRPr lang="en-US" altLang="zh-CN">
              <a:latin typeface="Times New Roman" panose="02020503050405090304" pitchFamily="18" charset="0"/>
            </a:endParaRPr>
          </a:p>
          <a:p>
            <a:pPr>
              <a:buNone/>
            </a:pP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Title 1"/>
          <p:cNvSpPr>
            <a:spLocks noGrp="1"/>
          </p:cNvSpPr>
          <p:nvPr>
            <p:ph type="title"/>
          </p:nvPr>
        </p:nvSpPr>
        <p:spPr>
          <a:ln/>
        </p:spPr>
        <p:txBody>
          <a:bodyPr vert="horz" wrap="square" lIns="91440" tIns="45720" rIns="91440" bIns="45720" anchor="b" anchorCtr="0"/>
          <a:p>
            <a:r>
              <a:rPr lang="en-US" altLang="zh-CN"/>
              <a:t>Affine Ciphers</a:t>
            </a:r>
            <a:endParaRPr lang="en-US" altLang="zh-CN"/>
          </a:p>
        </p:txBody>
      </p:sp>
      <p:sp>
        <p:nvSpPr>
          <p:cNvPr id="19458" name="Content Placeholder 2"/>
          <p:cNvSpPr>
            <a:spLocks noGrp="1"/>
          </p:cNvSpPr>
          <p:nvPr>
            <p:ph idx="1"/>
          </p:nvPr>
        </p:nvSpPr>
        <p:spPr>
          <a:ln/>
        </p:spPr>
        <p:txBody>
          <a:bodyPr vert="horz" wrap="square" lIns="91440" tIns="45720" rIns="91440" bIns="45720" anchor="t" anchorCtr="0"/>
          <a:p>
            <a:pPr>
              <a:lnSpc>
                <a:spcPct val="80000"/>
              </a:lnSpc>
            </a:pPr>
            <a:r>
              <a:rPr lang="en-US" altLang="zh-CN" sz="2500" b="1">
                <a:latin typeface="Times New Roman" panose="02020503050405090304" pitchFamily="18" charset="0"/>
              </a:rPr>
              <a:t>Example</a:t>
            </a:r>
            <a:r>
              <a:rPr lang="en-US" altLang="zh-CN" sz="2500">
                <a:latin typeface="Times New Roman" panose="02020503050405090304" pitchFamily="18" charset="0"/>
              </a:rPr>
              <a:t>: What letter replaces the letter K when the  function  </a:t>
            </a:r>
            <a:r>
              <a:rPr lang="en-US" altLang="zh-CN" sz="2500" i="1">
                <a:latin typeface="Times New Roman" panose="02020503050405090304" pitchFamily="18" charset="0"/>
              </a:rPr>
              <a:t>f</a:t>
            </a:r>
            <a:r>
              <a:rPr lang="en-US" altLang="zh-CN" sz="2500">
                <a:latin typeface="Times New Roman" panose="02020503050405090304" pitchFamily="18" charset="0"/>
              </a:rPr>
              <a:t>(</a:t>
            </a:r>
            <a:r>
              <a:rPr lang="en-US" altLang="zh-CN" sz="2500" i="1">
                <a:latin typeface="Times New Roman" panose="02020503050405090304" pitchFamily="18" charset="0"/>
              </a:rPr>
              <a:t>p</a:t>
            </a:r>
            <a:r>
              <a:rPr lang="en-US" altLang="zh-CN" sz="2500">
                <a:latin typeface="Times New Roman" panose="02020503050405090304" pitchFamily="18" charset="0"/>
              </a:rPr>
              <a:t>)</a:t>
            </a:r>
            <a:r>
              <a:rPr lang="en-US" altLang="zh-CN" sz="2500" i="1">
                <a:latin typeface="Times New Roman" panose="02020503050405090304" pitchFamily="18" charset="0"/>
              </a:rPr>
              <a:t> = </a:t>
            </a:r>
            <a:r>
              <a:rPr lang="en-US" altLang="zh-CN" sz="2500">
                <a:latin typeface="Times New Roman" panose="02020503050405090304" pitchFamily="18" charset="0"/>
              </a:rPr>
              <a:t>(7</a:t>
            </a:r>
            <a:r>
              <a:rPr lang="en-US" altLang="zh-CN" sz="2500" i="1">
                <a:latin typeface="Times New Roman" panose="02020503050405090304" pitchFamily="18" charset="0"/>
              </a:rPr>
              <a:t>p + </a:t>
            </a:r>
            <a:r>
              <a:rPr lang="en-US" altLang="zh-CN" sz="2500">
                <a:latin typeface="Times New Roman" panose="02020503050405090304" pitchFamily="18" charset="0"/>
              </a:rPr>
              <a:t>3)</a:t>
            </a:r>
            <a:r>
              <a:rPr lang="en-US" altLang="zh-CN" sz="2500" i="1">
                <a:latin typeface="Times New Roman" panose="02020503050405090304" pitchFamily="18" charset="0"/>
              </a:rPr>
              <a:t> </a:t>
            </a:r>
            <a:r>
              <a:rPr lang="en-US" altLang="zh-CN" sz="2500" b="1">
                <a:latin typeface="Times New Roman" panose="02020503050405090304" pitchFamily="18" charset="0"/>
              </a:rPr>
              <a:t>mod</a:t>
            </a:r>
            <a:r>
              <a:rPr lang="en-US" altLang="zh-CN" sz="2500">
                <a:latin typeface="Times New Roman" panose="02020503050405090304" pitchFamily="18" charset="0"/>
              </a:rPr>
              <a:t> 26 is used for encryption.</a:t>
            </a:r>
            <a:endParaRPr lang="en-US" altLang="zh-CN" sz="2500">
              <a:latin typeface="Times New Roman" panose="02020503050405090304" pitchFamily="18" charset="0"/>
            </a:endParaRPr>
          </a:p>
          <a:p>
            <a:pPr>
              <a:lnSpc>
                <a:spcPct val="80000"/>
              </a:lnSpc>
              <a:buNone/>
            </a:pPr>
            <a:r>
              <a:rPr lang="en-US" altLang="zh-CN" sz="2500" b="1">
                <a:latin typeface="Times New Roman" panose="02020503050405090304" pitchFamily="18" charset="0"/>
              </a:rPr>
              <a:t>     Solution</a:t>
            </a:r>
            <a:r>
              <a:rPr lang="en-US" altLang="zh-CN" sz="2500">
                <a:latin typeface="Times New Roman" panose="02020503050405090304" pitchFamily="18" charset="0"/>
              </a:rPr>
              <a:t>: Since 10 represents K, </a:t>
            </a:r>
            <a:r>
              <a:rPr lang="en-US" altLang="zh-CN" sz="2500" i="1">
                <a:latin typeface="Times New Roman" panose="02020503050405090304" pitchFamily="18" charset="0"/>
              </a:rPr>
              <a:t>f</a:t>
            </a:r>
            <a:r>
              <a:rPr lang="en-US" altLang="zh-CN" sz="2500">
                <a:latin typeface="Times New Roman" panose="02020503050405090304" pitchFamily="18" charset="0"/>
              </a:rPr>
              <a:t>(10)</a:t>
            </a:r>
            <a:r>
              <a:rPr lang="en-US" altLang="zh-CN" sz="2500" i="1">
                <a:latin typeface="Times New Roman" panose="02020503050405090304" pitchFamily="18" charset="0"/>
              </a:rPr>
              <a:t> = </a:t>
            </a:r>
            <a:r>
              <a:rPr lang="en-US" altLang="zh-CN" sz="2500">
                <a:latin typeface="Times New Roman" panose="02020503050405090304" pitchFamily="18" charset="0"/>
              </a:rPr>
              <a:t>(7∙10</a:t>
            </a:r>
            <a:r>
              <a:rPr lang="en-US" altLang="zh-CN" sz="2500" i="1">
                <a:latin typeface="Times New Roman" panose="02020503050405090304" pitchFamily="18" charset="0"/>
              </a:rPr>
              <a:t> + </a:t>
            </a:r>
            <a:r>
              <a:rPr lang="en-US" altLang="zh-CN" sz="2500">
                <a:latin typeface="Times New Roman" panose="02020503050405090304" pitchFamily="18" charset="0"/>
              </a:rPr>
              <a:t>3)</a:t>
            </a:r>
            <a:r>
              <a:rPr lang="en-US" altLang="zh-CN" sz="2500" i="1">
                <a:latin typeface="Times New Roman" panose="02020503050405090304" pitchFamily="18" charset="0"/>
              </a:rPr>
              <a:t> </a:t>
            </a:r>
            <a:r>
              <a:rPr lang="en-US" altLang="zh-CN" sz="2500" b="1">
                <a:latin typeface="Times New Roman" panose="02020503050405090304" pitchFamily="18" charset="0"/>
              </a:rPr>
              <a:t>mod</a:t>
            </a:r>
            <a:r>
              <a:rPr lang="en-US" altLang="zh-CN" sz="2500">
                <a:latin typeface="Times New Roman" panose="02020503050405090304" pitchFamily="18" charset="0"/>
              </a:rPr>
              <a:t> 26 =21, which is then replaced by V.</a:t>
            </a:r>
            <a:endParaRPr lang="en-US" altLang="zh-CN" sz="2500">
              <a:latin typeface="Times New Roman" panose="02020503050405090304" pitchFamily="18" charset="0"/>
            </a:endParaRPr>
          </a:p>
          <a:p>
            <a:pPr>
              <a:lnSpc>
                <a:spcPct val="80000"/>
              </a:lnSpc>
            </a:pPr>
            <a:r>
              <a:rPr lang="en-US" altLang="zh-CN" sz="2500">
                <a:latin typeface="Times New Roman" panose="02020503050405090304" pitchFamily="18" charset="0"/>
              </a:rPr>
              <a:t>To decrypt a message encrypted by a shift cipher, the congruence  </a:t>
            </a:r>
            <a:r>
              <a:rPr lang="en-US" altLang="zh-CN" sz="2500" i="1">
                <a:latin typeface="Times New Roman" panose="02020503050405090304" pitchFamily="18" charset="0"/>
              </a:rPr>
              <a:t>c</a:t>
            </a:r>
            <a:r>
              <a:rPr lang="en-US" altLang="zh-CN" sz="2500">
                <a:latin typeface="Times New Roman" panose="02020503050405090304" pitchFamily="18" charset="0"/>
              </a:rPr>
              <a:t> ≡ </a:t>
            </a:r>
            <a:r>
              <a:rPr lang="en-US" altLang="zh-CN" sz="2500" i="1">
                <a:latin typeface="Times New Roman" panose="02020503050405090304" pitchFamily="18" charset="0"/>
              </a:rPr>
              <a:t>ap</a:t>
            </a:r>
            <a:r>
              <a:rPr lang="en-US" altLang="zh-CN" sz="2500">
                <a:latin typeface="Times New Roman" panose="02020503050405090304" pitchFamily="18" charset="0"/>
              </a:rPr>
              <a:t> + </a:t>
            </a:r>
            <a:r>
              <a:rPr lang="en-US" altLang="zh-CN" sz="2500" i="1">
                <a:latin typeface="Times New Roman" panose="02020503050405090304" pitchFamily="18" charset="0"/>
              </a:rPr>
              <a:t>b</a:t>
            </a:r>
            <a:r>
              <a:rPr lang="en-US" altLang="zh-CN" sz="2500">
                <a:latin typeface="Times New Roman" panose="02020503050405090304" pitchFamily="18" charset="0"/>
              </a:rPr>
              <a:t> (mod 26) needs to be solved for </a:t>
            </a:r>
            <a:r>
              <a:rPr lang="en-US" altLang="zh-CN" sz="2500" i="1">
                <a:latin typeface="Times New Roman" panose="02020503050405090304" pitchFamily="18" charset="0"/>
              </a:rPr>
              <a:t>p</a:t>
            </a:r>
            <a:r>
              <a:rPr lang="en-US" altLang="zh-CN" sz="2500">
                <a:latin typeface="Times New Roman" panose="02020503050405090304" pitchFamily="18" charset="0"/>
              </a:rPr>
              <a:t>.</a:t>
            </a:r>
            <a:endParaRPr lang="en-US" altLang="zh-CN" sz="2500">
              <a:latin typeface="Times New Roman" panose="02020503050405090304" pitchFamily="18" charset="0"/>
            </a:endParaRPr>
          </a:p>
          <a:p>
            <a:pPr lvl="1">
              <a:lnSpc>
                <a:spcPct val="80000"/>
              </a:lnSpc>
            </a:pPr>
            <a:r>
              <a:rPr lang="en-US" altLang="zh-CN" sz="2200">
                <a:latin typeface="Times New Roman" panose="02020503050405090304" pitchFamily="18" charset="0"/>
              </a:rPr>
              <a:t>Subtract </a:t>
            </a:r>
            <a:r>
              <a:rPr lang="en-US" altLang="zh-CN" sz="2200" i="1">
                <a:latin typeface="Times New Roman" panose="02020503050405090304" pitchFamily="18" charset="0"/>
              </a:rPr>
              <a:t>b</a:t>
            </a:r>
            <a:r>
              <a:rPr lang="en-US" altLang="zh-CN" sz="2200">
                <a:latin typeface="Times New Roman" panose="02020503050405090304" pitchFamily="18" charset="0"/>
              </a:rPr>
              <a:t> from both sides to obtain </a:t>
            </a:r>
            <a:r>
              <a:rPr lang="en-US" altLang="zh-CN" sz="2200" i="1">
                <a:latin typeface="Times New Roman" panose="02020503050405090304" pitchFamily="18" charset="0"/>
              </a:rPr>
              <a:t>c− b</a:t>
            </a:r>
            <a:r>
              <a:rPr lang="en-US" altLang="zh-CN" sz="2200">
                <a:latin typeface="Times New Roman" panose="02020503050405090304" pitchFamily="18" charset="0"/>
              </a:rPr>
              <a:t> ≡ </a:t>
            </a:r>
            <a:r>
              <a:rPr lang="en-US" altLang="zh-CN" sz="2200" i="1">
                <a:latin typeface="Times New Roman" panose="02020503050405090304" pitchFamily="18" charset="0"/>
              </a:rPr>
              <a:t>ap</a:t>
            </a:r>
            <a:r>
              <a:rPr lang="en-US" altLang="zh-CN" sz="2200">
                <a:latin typeface="Times New Roman" panose="02020503050405090304" pitchFamily="18" charset="0"/>
              </a:rPr>
              <a:t>  (mod 26).</a:t>
            </a:r>
            <a:endParaRPr lang="en-US" altLang="zh-CN" sz="2200">
              <a:latin typeface="Times New Roman" panose="02020503050405090304" pitchFamily="18" charset="0"/>
            </a:endParaRPr>
          </a:p>
          <a:p>
            <a:pPr lvl="1">
              <a:lnSpc>
                <a:spcPct val="80000"/>
              </a:lnSpc>
            </a:pPr>
            <a:r>
              <a:rPr lang="en-US" altLang="zh-CN" sz="2200">
                <a:latin typeface="Times New Roman" panose="02020503050405090304" pitchFamily="18" charset="0"/>
              </a:rPr>
              <a:t>Multiply both sides by  the inverse of a modulo 26, which exists since gcd(</a:t>
            </a:r>
            <a:r>
              <a:rPr lang="en-US" altLang="zh-CN" sz="2200" i="1">
                <a:latin typeface="Times New Roman" panose="02020503050405090304" pitchFamily="18" charset="0"/>
              </a:rPr>
              <a:t>a</a:t>
            </a:r>
            <a:r>
              <a:rPr lang="en-US" altLang="zh-CN" sz="2200">
                <a:latin typeface="Times New Roman" panose="02020503050405090304" pitchFamily="18" charset="0"/>
              </a:rPr>
              <a:t>,26) = 1. </a:t>
            </a:r>
            <a:endParaRPr lang="en-US" altLang="zh-CN" sz="2200">
              <a:latin typeface="Times New Roman" panose="02020503050405090304" pitchFamily="18" charset="0"/>
            </a:endParaRPr>
          </a:p>
          <a:p>
            <a:pPr lvl="1">
              <a:lnSpc>
                <a:spcPct val="80000"/>
              </a:lnSpc>
            </a:pPr>
            <a:r>
              <a:rPr lang="en-US" altLang="zh-CN" sz="2200" i="1">
                <a:latin typeface="Times New Roman" panose="02020503050405090304" pitchFamily="18" charset="0"/>
              </a:rPr>
              <a:t>ā(c− b</a:t>
            </a:r>
            <a:r>
              <a:rPr lang="en-US" altLang="zh-CN" sz="2200">
                <a:latin typeface="Times New Roman" panose="02020503050405090304" pitchFamily="18" charset="0"/>
              </a:rPr>
              <a:t>) ≡ </a:t>
            </a:r>
            <a:r>
              <a:rPr lang="en-US" altLang="zh-CN" sz="2200" i="1">
                <a:latin typeface="Times New Roman" panose="02020503050405090304" pitchFamily="18" charset="0"/>
              </a:rPr>
              <a:t>āap</a:t>
            </a:r>
            <a:r>
              <a:rPr lang="en-US" altLang="zh-CN" sz="2200">
                <a:latin typeface="Times New Roman" panose="02020503050405090304" pitchFamily="18" charset="0"/>
              </a:rPr>
              <a:t>  (mod 26), which simplifies to </a:t>
            </a:r>
            <a:r>
              <a:rPr lang="en-US" altLang="zh-CN" sz="2200" i="1">
                <a:latin typeface="Times New Roman" panose="02020503050405090304" pitchFamily="18" charset="0"/>
              </a:rPr>
              <a:t>ā(c− b</a:t>
            </a:r>
            <a:r>
              <a:rPr lang="en-US" altLang="zh-CN" sz="2200">
                <a:latin typeface="Times New Roman" panose="02020503050405090304" pitchFamily="18" charset="0"/>
              </a:rPr>
              <a:t>) ≡ </a:t>
            </a:r>
            <a:r>
              <a:rPr lang="en-US" altLang="zh-CN" sz="2200" i="1">
                <a:latin typeface="Times New Roman" panose="02020503050405090304" pitchFamily="18" charset="0"/>
              </a:rPr>
              <a:t>p</a:t>
            </a:r>
            <a:r>
              <a:rPr lang="en-US" altLang="zh-CN" sz="2200">
                <a:latin typeface="Times New Roman" panose="02020503050405090304" pitchFamily="18" charset="0"/>
              </a:rPr>
              <a:t>  (mod 26).</a:t>
            </a:r>
            <a:endParaRPr lang="en-US" altLang="zh-CN" sz="2200">
              <a:latin typeface="Times New Roman" panose="02020503050405090304" pitchFamily="18" charset="0"/>
            </a:endParaRPr>
          </a:p>
          <a:p>
            <a:pPr lvl="1">
              <a:lnSpc>
                <a:spcPct val="80000"/>
              </a:lnSpc>
            </a:pPr>
            <a:r>
              <a:rPr lang="en-US" altLang="zh-CN" sz="2200" i="1">
                <a:latin typeface="Times New Roman" panose="02020503050405090304" pitchFamily="18" charset="0"/>
              </a:rPr>
              <a:t>p </a:t>
            </a:r>
            <a:r>
              <a:rPr lang="en-US" altLang="zh-CN" sz="2200">
                <a:latin typeface="Times New Roman" panose="02020503050405090304" pitchFamily="18" charset="0"/>
              </a:rPr>
              <a:t>≡ </a:t>
            </a:r>
            <a:r>
              <a:rPr lang="en-US" altLang="zh-CN" sz="2200" i="1">
                <a:latin typeface="Times New Roman" panose="02020503050405090304" pitchFamily="18" charset="0"/>
              </a:rPr>
              <a:t>ā(c− b</a:t>
            </a:r>
            <a:r>
              <a:rPr lang="en-US" altLang="zh-CN" sz="2200">
                <a:latin typeface="Times New Roman" panose="02020503050405090304" pitchFamily="18" charset="0"/>
              </a:rPr>
              <a:t>) (mod 26) is used to determine </a:t>
            </a:r>
            <a:r>
              <a:rPr lang="en-US" altLang="zh-CN" sz="2200" i="1">
                <a:latin typeface="Times New Roman" panose="02020503050405090304" pitchFamily="18" charset="0"/>
              </a:rPr>
              <a:t>p </a:t>
            </a:r>
            <a:r>
              <a:rPr lang="en-US" altLang="zh-CN" sz="2200">
                <a:latin typeface="Times New Roman" panose="02020503050405090304" pitchFamily="18" charset="0"/>
              </a:rPr>
              <a:t>in</a:t>
            </a:r>
            <a:r>
              <a:rPr lang="en-US" altLang="zh-CN" sz="2200" i="1">
                <a:latin typeface="Times New Roman" panose="02020503050405090304" pitchFamily="18" charset="0"/>
              </a:rPr>
              <a:t> </a:t>
            </a:r>
            <a:r>
              <a:rPr lang="en-US" altLang="zh-CN" sz="2200" b="1">
                <a:latin typeface="Times New Roman" panose="02020503050405090304" pitchFamily="18" charset="0"/>
              </a:rPr>
              <a:t>Z</a:t>
            </a:r>
            <a:r>
              <a:rPr lang="en-US" altLang="zh-CN" sz="2200" baseline="-25000">
                <a:latin typeface="Times New Roman" panose="02020503050405090304" pitchFamily="18" charset="0"/>
              </a:rPr>
              <a:t>26</a:t>
            </a:r>
            <a:r>
              <a:rPr lang="en-US" altLang="zh-CN" sz="2200">
                <a:latin typeface="Times New Roman" panose="02020503050405090304" pitchFamily="18" charset="0"/>
              </a:rPr>
              <a:t>.</a:t>
            </a:r>
            <a:endParaRPr lang="en-US" altLang="zh-CN" sz="2200" baseline="-25000">
              <a:latin typeface="Times New Roman" panose="02020503050405090304" pitchFamily="18" charset="0"/>
            </a:endParaRPr>
          </a:p>
          <a:p>
            <a:pPr>
              <a:lnSpc>
                <a:spcPct val="80000"/>
              </a:lnSpc>
              <a:buNone/>
            </a:pPr>
            <a:endParaRPr lang="en-US" altLang="zh-CN" sz="25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Title 1"/>
          <p:cNvSpPr>
            <a:spLocks noGrp="1"/>
          </p:cNvSpPr>
          <p:nvPr>
            <p:ph type="title"/>
          </p:nvPr>
        </p:nvSpPr>
        <p:spPr>
          <a:xfrm>
            <a:off x="922338" y="153988"/>
            <a:ext cx="7793037" cy="1143000"/>
          </a:xfrm>
          <a:ln/>
        </p:spPr>
        <p:txBody>
          <a:bodyPr vert="horz" wrap="square" lIns="91440" tIns="45720" rIns="91440" bIns="45720" anchor="b" anchorCtr="0"/>
          <a:p>
            <a:r>
              <a:rPr lang="en-US" altLang="zh-CN" sz="4000"/>
              <a:t>Cryptanalysis of Affine Ciphers</a:t>
            </a:r>
            <a:endParaRPr lang="en-US" altLang="zh-CN" sz="4000"/>
          </a:p>
        </p:txBody>
      </p:sp>
      <p:sp>
        <p:nvSpPr>
          <p:cNvPr id="20482" name="Content Placeholder 2"/>
          <p:cNvSpPr>
            <a:spLocks noGrp="1"/>
          </p:cNvSpPr>
          <p:nvPr>
            <p:ph idx="1"/>
          </p:nvPr>
        </p:nvSpPr>
        <p:spPr>
          <a:ln/>
        </p:spPr>
        <p:txBody>
          <a:bodyPr vert="horz" wrap="square" lIns="91440" tIns="45720" rIns="91440" bIns="45720" anchor="t" anchorCtr="0"/>
          <a:p>
            <a:pPr>
              <a:lnSpc>
                <a:spcPct val="80000"/>
              </a:lnSpc>
            </a:pPr>
            <a:r>
              <a:rPr lang="en-US" altLang="zh-CN" sz="2400">
                <a:latin typeface="Times New Roman" panose="02020503050405090304" pitchFamily="18" charset="0"/>
              </a:rPr>
              <a:t>The process of recovering plaintext from ciphertext without knowledge both  of the encryption method and the key is known as </a:t>
            </a:r>
            <a:r>
              <a:rPr lang="en-US" altLang="zh-CN" sz="2400" i="1">
                <a:latin typeface="Times New Roman" panose="02020503050405090304" pitchFamily="18" charset="0"/>
              </a:rPr>
              <a:t>cryptanalysis</a:t>
            </a:r>
            <a:r>
              <a:rPr lang="en-US" altLang="zh-CN" sz="2400">
                <a:latin typeface="Times New Roman" panose="02020503050405090304" pitchFamily="18" charset="0"/>
              </a:rPr>
              <a:t> or </a:t>
            </a:r>
            <a:r>
              <a:rPr lang="en-US" altLang="zh-CN" sz="2400" i="1">
                <a:latin typeface="Times New Roman" panose="02020503050405090304" pitchFamily="18" charset="0"/>
              </a:rPr>
              <a:t>breaking codes</a:t>
            </a:r>
            <a:r>
              <a:rPr lang="en-US" altLang="zh-CN" sz="2400">
                <a:latin typeface="Times New Roman" panose="02020503050405090304" pitchFamily="18" charset="0"/>
              </a:rPr>
              <a:t>.</a:t>
            </a:r>
            <a:endParaRPr lang="en-US" altLang="zh-CN" sz="2400">
              <a:latin typeface="Times New Roman" panose="02020503050405090304" pitchFamily="18" charset="0"/>
            </a:endParaRPr>
          </a:p>
          <a:p>
            <a:pPr>
              <a:lnSpc>
                <a:spcPct val="80000"/>
              </a:lnSpc>
            </a:pPr>
            <a:r>
              <a:rPr lang="en-US" altLang="zh-CN" sz="2400">
                <a:latin typeface="Times New Roman" panose="02020503050405090304" pitchFamily="18" charset="0"/>
              </a:rPr>
              <a:t>An important tool for cryptanalyzing ciphertext produced with a affine ciphers is the relative frequencies of letters. The nine most common letters in the English texts are E 13%, T 9%, A 8%, O 8%, I 7%, N 7%, S 7%, H 6%, and R 6%.</a:t>
            </a:r>
            <a:endParaRPr lang="en-US" altLang="zh-CN" sz="2400">
              <a:latin typeface="Times New Roman" panose="02020503050405090304" pitchFamily="18" charset="0"/>
            </a:endParaRPr>
          </a:p>
          <a:p>
            <a:pPr>
              <a:lnSpc>
                <a:spcPct val="80000"/>
              </a:lnSpc>
            </a:pPr>
            <a:r>
              <a:rPr lang="en-US" altLang="zh-CN" sz="2400">
                <a:latin typeface="Times New Roman" panose="02020503050405090304" pitchFamily="18" charset="0"/>
              </a:rPr>
              <a:t>To analyze ciphertext:</a:t>
            </a:r>
            <a:endParaRPr lang="en-US" altLang="zh-CN" sz="2400">
              <a:latin typeface="Times New Roman" panose="02020503050405090304" pitchFamily="18" charset="0"/>
            </a:endParaRPr>
          </a:p>
          <a:p>
            <a:pPr lvl="1">
              <a:lnSpc>
                <a:spcPct val="80000"/>
              </a:lnSpc>
            </a:pPr>
            <a:r>
              <a:rPr lang="en-US" altLang="zh-CN" sz="2400">
                <a:latin typeface="Times New Roman" panose="02020503050405090304" pitchFamily="18" charset="0"/>
              </a:rPr>
              <a:t>Find the frequency of the letters in the ciphertext.</a:t>
            </a:r>
            <a:endParaRPr lang="en-US" altLang="zh-CN" sz="2400">
              <a:latin typeface="Times New Roman" panose="02020503050405090304" pitchFamily="18" charset="0"/>
            </a:endParaRPr>
          </a:p>
          <a:p>
            <a:pPr lvl="1">
              <a:lnSpc>
                <a:spcPct val="80000"/>
              </a:lnSpc>
            </a:pPr>
            <a:r>
              <a:rPr lang="en-US" altLang="zh-CN" sz="2400">
                <a:latin typeface="Times New Roman" panose="02020503050405090304" pitchFamily="18" charset="0"/>
              </a:rPr>
              <a:t>Hypothesize that the most frequent letter is produced by encrypting E. </a:t>
            </a:r>
            <a:endParaRPr lang="en-US" altLang="zh-CN" sz="2400">
              <a:latin typeface="Times New Roman" panose="02020503050405090304" pitchFamily="18" charset="0"/>
            </a:endParaRPr>
          </a:p>
          <a:p>
            <a:pPr lvl="1">
              <a:lnSpc>
                <a:spcPct val="80000"/>
              </a:lnSpc>
            </a:pPr>
            <a:r>
              <a:rPr lang="en-US" altLang="zh-CN" sz="2400">
                <a:latin typeface="Times New Roman" panose="02020503050405090304" pitchFamily="18" charset="0"/>
              </a:rPr>
              <a:t>If the value of the shift from E to the most frequent letter is </a:t>
            </a:r>
            <a:r>
              <a:rPr lang="en-US" altLang="zh-CN" sz="2400" i="1">
                <a:latin typeface="Times New Roman" panose="02020503050405090304" pitchFamily="18" charset="0"/>
              </a:rPr>
              <a:t>k</a:t>
            </a:r>
            <a:r>
              <a:rPr lang="en-US" altLang="zh-CN" sz="2400">
                <a:latin typeface="Times New Roman" panose="02020503050405090304" pitchFamily="18" charset="0"/>
              </a:rPr>
              <a:t>, shift the ciphertext by −</a:t>
            </a:r>
            <a:r>
              <a:rPr lang="en-US" altLang="zh-CN" sz="2400" i="1">
                <a:latin typeface="Times New Roman" panose="02020503050405090304" pitchFamily="18" charset="0"/>
              </a:rPr>
              <a:t>k</a:t>
            </a:r>
            <a:r>
              <a:rPr lang="en-US" altLang="zh-CN" sz="2400">
                <a:latin typeface="Times New Roman" panose="02020503050405090304" pitchFamily="18" charset="0"/>
              </a:rPr>
              <a:t> and see if it makes sense.</a:t>
            </a:r>
            <a:endParaRPr lang="en-US" altLang="zh-CN" sz="2400">
              <a:latin typeface="Times New Roman" panose="02020503050405090304" pitchFamily="18" charset="0"/>
            </a:endParaRPr>
          </a:p>
          <a:p>
            <a:pPr lvl="1">
              <a:lnSpc>
                <a:spcPct val="80000"/>
              </a:lnSpc>
            </a:pPr>
            <a:r>
              <a:rPr lang="en-US" altLang="zh-CN" sz="2400">
                <a:latin typeface="Times New Roman" panose="02020503050405090304" pitchFamily="18" charset="0"/>
              </a:rPr>
              <a:t>If not, try T as a hypothesis and continue. </a:t>
            </a:r>
            <a:endParaRPr lang="en-US" altLang="zh-CN" sz="2400">
              <a:latin typeface="Times New Roman" panose="0202050305040509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Title 1"/>
          <p:cNvSpPr>
            <a:spLocks noGrp="1"/>
          </p:cNvSpPr>
          <p:nvPr>
            <p:ph type="title"/>
          </p:nvPr>
        </p:nvSpPr>
        <p:spPr>
          <a:ln/>
        </p:spPr>
        <p:txBody>
          <a:bodyPr vert="horz" wrap="square" lIns="91440" tIns="45720" rIns="91440" bIns="45720" anchor="b" anchorCtr="0"/>
          <a:p>
            <a:r>
              <a:rPr lang="en-US" altLang="zh-CN" sz="4000"/>
              <a:t>Cryptanalysis of Affine Ciphers</a:t>
            </a:r>
            <a:endParaRPr lang="en-US" altLang="zh-CN" sz="4000"/>
          </a:p>
        </p:txBody>
      </p:sp>
      <p:sp>
        <p:nvSpPr>
          <p:cNvPr id="21506" name="Content Placeholder 2"/>
          <p:cNvSpPr>
            <a:spLocks noGrp="1"/>
          </p:cNvSpPr>
          <p:nvPr>
            <p:ph idx="1"/>
          </p:nvPr>
        </p:nvSpPr>
        <p:spPr>
          <a:xfrm>
            <a:off x="395288" y="1268413"/>
            <a:ext cx="8748712" cy="4864100"/>
          </a:xfrm>
          <a:ln/>
        </p:spPr>
        <p:txBody>
          <a:bodyPr vert="horz" wrap="square" lIns="91440" tIns="45720" rIns="91440" bIns="45720" anchor="t" anchorCtr="0"/>
          <a:p>
            <a:pPr>
              <a:lnSpc>
                <a:spcPct val="90000"/>
              </a:lnSpc>
            </a:pPr>
            <a:r>
              <a:rPr lang="en-US" altLang="zh-CN" b="1">
                <a:latin typeface="Times New Roman" panose="02020503050405090304" pitchFamily="18" charset="0"/>
              </a:rPr>
              <a:t>Example</a:t>
            </a:r>
            <a:r>
              <a:rPr lang="en-US" altLang="zh-CN">
                <a:latin typeface="Times New Roman" panose="02020503050405090304" pitchFamily="18" charset="0"/>
              </a:rPr>
              <a:t>: We intercepted the message “ZNK KGXRE HOXJ MKZY ZNK CUXS” that we know was produced by a shift cipher.  Let’s try to cryptanalyze.</a:t>
            </a:r>
            <a:endParaRPr lang="en-US" altLang="zh-CN">
              <a:latin typeface="Times New Roman" panose="02020503050405090304" pitchFamily="18" charset="0"/>
            </a:endParaRPr>
          </a:p>
          <a:p>
            <a:pPr>
              <a:lnSpc>
                <a:spcPct val="90000"/>
              </a:lnSpc>
            </a:pPr>
            <a:r>
              <a:rPr lang="en-US" altLang="zh-CN" b="1">
                <a:latin typeface="Times New Roman" panose="02020503050405090304" pitchFamily="18" charset="0"/>
              </a:rPr>
              <a:t>Solution</a:t>
            </a:r>
            <a:r>
              <a:rPr lang="en-US" altLang="zh-CN">
                <a:latin typeface="Times New Roman" panose="02020503050405090304" pitchFamily="18" charset="0"/>
              </a:rPr>
              <a:t>: The most common letter in the ciphertext is K. So perhaps the letters were shifted by 6 since this would then map E to K. Shifting the entire message by −6 gives us “THE EARLY BIRD GETS THE WORM.”</a:t>
            </a:r>
            <a:endParaRPr lang="en-US" altLang="zh-CN">
              <a:latin typeface="Times New Roman" panose="0202050305040509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Title 1"/>
          <p:cNvSpPr>
            <a:spLocks noGrp="1"/>
          </p:cNvSpPr>
          <p:nvPr>
            <p:ph type="title"/>
          </p:nvPr>
        </p:nvSpPr>
        <p:spPr>
          <a:ln/>
        </p:spPr>
        <p:txBody>
          <a:bodyPr vert="horz" wrap="square" lIns="91440" tIns="45720" rIns="91440" bIns="45720" anchor="b" anchorCtr="0"/>
          <a:p>
            <a:r>
              <a:rPr lang="en-US" altLang="zh-CN"/>
              <a:t>Block Ciphers</a:t>
            </a:r>
            <a:r>
              <a:rPr lang="zh-CN" altLang="en-US"/>
              <a:t>（分组</a:t>
            </a:r>
            <a:r>
              <a:rPr lang="zh-CN" altLang="en-US"/>
              <a:t>密码）</a:t>
            </a:r>
            <a:endParaRPr lang="zh-CN" altLang="en-US"/>
          </a:p>
        </p:txBody>
      </p:sp>
      <p:sp>
        <p:nvSpPr>
          <p:cNvPr id="3" name="Content Placeholder 2"/>
          <p:cNvSpPr>
            <a:spLocks noGrp="1"/>
          </p:cNvSpPr>
          <p:nvPr>
            <p:ph idx="1"/>
          </p:nvPr>
        </p:nvSpPr>
        <p:spPr/>
        <p:txBody>
          <a:bodyPr>
            <a:normAutofit fontScale="92500" lnSpcReduction="10000"/>
          </a:bodyPr>
          <a:lstStyle/>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Ciphers that replace each letter of the alphabet by another letter are called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character</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or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monoalphabetic</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ciphers. </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They are vulnerable to cryptanalysis based on letter frequency. </a:t>
            </a:r>
            <a:r>
              <a:rPr kumimoji="1" lang="en-US" altLang="zh-CN" sz="2800" b="0" i="1"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Block ciphers</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avoid this problem, by replacing blocks of letters with other blocks of letters.</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 simple type of block cipher is called the </a:t>
            </a:r>
            <a:r>
              <a:rPr kumimoji="1" lang="en-US" altLang="zh-CN" sz="2800" b="0" i="1"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transposition cipher</a:t>
            </a:r>
            <a:r>
              <a:rPr kumimoji="1" lang="zh-CN" altLang="en-US" sz="2800" b="0" u="none" strike="noStrike" kern="0" cap="none" spc="0" normalizeH="0" baseline="0" noProof="1" dirty="0">
                <a:solidFill>
                  <a:srgbClr val="FF0000"/>
                </a:solidFill>
                <a:latin typeface="Times New Roman" panose="02020503050405090304" pitchFamily="18" charset="0"/>
                <a:ea typeface="+mn-ea"/>
                <a:cs typeface="Times New Roman" panose="02020503050405090304" pitchFamily="18" charset="0"/>
              </a:rPr>
              <a:t>（换位密码）</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The key is a permutation </a:t>
            </a:r>
            <a:r>
              <a:rPr kumimoji="1" lang="el-GR"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σ</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of the set {1,2,…,</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where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is an integer, that is a one-to-one function from {1,2,…,</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to itself. </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To encrypt a message, split the letters into blocks of size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 </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adding additional letters to fill out the final block. We encrypt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1</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2</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altLang="zh-CN" sz="2800" b="0" i="1"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m</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as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a:t>
            </a:r>
            <a:r>
              <a:rPr kumimoji="1" lang="en-US" altLang="zh-CN" sz="2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1</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a:t>
            </a:r>
            <a:r>
              <a:rPr kumimoji="1" lang="en-US" altLang="zh-CN" sz="2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2</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a:t>
            </a:r>
            <a:r>
              <a:rPr kumimoji="1" lang="en-US" altLang="zh-CN" sz="2800" b="0" i="1"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m</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8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σ</a:t>
            </a:r>
            <a:r>
              <a:rPr kumimoji="1" lang="en-US" altLang="zh-CN" sz="2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(1)</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σ</a:t>
            </a:r>
            <a:r>
              <a:rPr kumimoji="1" lang="en-US" altLang="zh-CN" sz="2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(2)</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l-GR" altLang="zh-CN" sz="2800" b="0" i="1"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σ</a:t>
            </a:r>
            <a:r>
              <a:rPr kumimoji="1" lang="en-US" altLang="zh-CN" sz="2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m</a:t>
            </a:r>
            <a:r>
              <a:rPr kumimoji="1" lang="en-US" altLang="zh-CN" sz="2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To decrypt the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a:t>
            </a:r>
            <a:r>
              <a:rPr kumimoji="1" lang="en-US" altLang="zh-CN" sz="2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1</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a:t>
            </a:r>
            <a:r>
              <a:rPr kumimoji="1" lang="en-US" altLang="zh-CN" sz="2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2</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a:t>
            </a:r>
            <a:r>
              <a:rPr kumimoji="1" lang="en-US" altLang="zh-CN" sz="2800" b="0" i="1"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m</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transpose the letters using the inverse permutation  </a:t>
            </a:r>
            <a:r>
              <a:rPr kumimoji="1" lang="el-GR"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σ</a:t>
            </a:r>
            <a:r>
              <a:rPr kumimoji="1" lang="en-US" altLang="zh-CN" sz="2800" b="0" i="0"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−1</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endParaRPr kumimoji="1" lang="en-US" altLang="zh-CN" sz="2200" b="0" i="0" u="none" strike="noStrike" kern="0" cap="none" spc="0" normalizeH="0" baseline="0" noProof="1" dirty="0">
              <a:solidFill>
                <a:schemeClr val="tx1"/>
              </a:solidFill>
              <a:latin typeface="+mn-lt"/>
              <a:ea typeface="+mn-ea"/>
              <a:cs typeface="+mn-cs"/>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endParaRPr kumimoji="1" lang="en-US" altLang="zh-CN" sz="2200" b="0" i="0" u="none" strike="noStrike" kern="0" cap="none" spc="0" normalizeH="0" baseline="0" noProof="1" dirty="0">
              <a:solidFill>
                <a:schemeClr val="tx1"/>
              </a:solidFill>
              <a:latin typeface="+mn-lt"/>
              <a:ea typeface="+mn-ea"/>
              <a:cs typeface="+mn-cs"/>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endParaRPr kumimoji="1" lang="en-US" altLang="zh-CN" sz="2200" b="0" i="0" u="none" strike="noStrike" kern="0" cap="none" spc="0" normalizeH="0" baseline="0" noProof="1" dirty="0">
              <a:solidFill>
                <a:schemeClr val="tx1"/>
              </a:solidFill>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Title 1"/>
          <p:cNvSpPr>
            <a:spLocks noGrp="1"/>
          </p:cNvSpPr>
          <p:nvPr>
            <p:ph type="title"/>
          </p:nvPr>
        </p:nvSpPr>
        <p:spPr>
          <a:ln/>
        </p:spPr>
        <p:txBody>
          <a:bodyPr vert="horz" wrap="square" lIns="91440" tIns="45720" rIns="91440" bIns="45720" anchor="b" anchorCtr="0"/>
          <a:p>
            <a:r>
              <a:rPr lang="en-US" altLang="zh-CN"/>
              <a:t>Block Ciphers</a:t>
            </a:r>
            <a:endParaRPr lang="en-US" altLang="zh-CN"/>
          </a:p>
        </p:txBody>
      </p:sp>
      <p:sp>
        <p:nvSpPr>
          <p:cNvPr id="23554" name="Content Placeholder 2"/>
          <p:cNvSpPr>
            <a:spLocks noGrp="1"/>
          </p:cNvSpPr>
          <p:nvPr>
            <p:ph idx="1"/>
          </p:nvPr>
        </p:nvSpPr>
        <p:spPr>
          <a:ln/>
        </p:spPr>
        <p:txBody>
          <a:bodyPr vert="horz" wrap="square" lIns="91440" tIns="45720" rIns="91440" bIns="45720" anchor="t" anchorCtr="0"/>
          <a:p>
            <a:pPr>
              <a:lnSpc>
                <a:spcPct val="80000"/>
              </a:lnSpc>
              <a:buNone/>
            </a:pPr>
            <a:r>
              <a:rPr lang="en-US" altLang="zh-CN" sz="2700">
                <a:latin typeface="Times New Roman" panose="02020503050405090304" pitchFamily="18" charset="0"/>
              </a:rPr>
              <a:t>    </a:t>
            </a:r>
            <a:r>
              <a:rPr lang="en-US" altLang="zh-CN" sz="2700" b="1">
                <a:latin typeface="Times New Roman" panose="02020503050405090304" pitchFamily="18" charset="0"/>
              </a:rPr>
              <a:t>Example</a:t>
            </a:r>
            <a:r>
              <a:rPr lang="en-US" altLang="zh-CN" sz="2700">
                <a:latin typeface="Times New Roman" panose="02020503050405090304" pitchFamily="18" charset="0"/>
              </a:rPr>
              <a:t>:  Using the transposition cipher based on the permutation </a:t>
            </a:r>
            <a:r>
              <a:rPr lang="el-GR" altLang="zh-CN" sz="2700">
                <a:latin typeface="Times New Roman" panose="02020503050405090304" pitchFamily="18" charset="0"/>
              </a:rPr>
              <a:t>σ</a:t>
            </a:r>
            <a:r>
              <a:rPr lang="en-US" altLang="zh-CN" sz="2700">
                <a:latin typeface="Times New Roman" panose="02020503050405090304" pitchFamily="18" charset="0"/>
              </a:rPr>
              <a:t> of the set {1,2,3,4} with </a:t>
            </a:r>
            <a:r>
              <a:rPr lang="el-GR" altLang="zh-CN" sz="2700">
                <a:latin typeface="Times New Roman" panose="02020503050405090304" pitchFamily="18" charset="0"/>
              </a:rPr>
              <a:t>σ</a:t>
            </a:r>
            <a:r>
              <a:rPr lang="en-US" altLang="zh-CN" sz="2700">
                <a:latin typeface="Times New Roman" panose="02020503050405090304" pitchFamily="18" charset="0"/>
              </a:rPr>
              <a:t>(1) = 3,</a:t>
            </a:r>
            <a:r>
              <a:rPr lang="el-GR" altLang="zh-CN" sz="2700">
                <a:latin typeface="Times New Roman" panose="02020503050405090304" pitchFamily="18" charset="0"/>
              </a:rPr>
              <a:t> σ</a:t>
            </a:r>
            <a:r>
              <a:rPr lang="en-US" altLang="zh-CN" sz="2700">
                <a:latin typeface="Times New Roman" panose="02020503050405090304" pitchFamily="18" charset="0"/>
              </a:rPr>
              <a:t>(2) = 1,</a:t>
            </a:r>
            <a:r>
              <a:rPr lang="el-GR" altLang="zh-CN" sz="2700">
                <a:latin typeface="Times New Roman" panose="02020503050405090304" pitchFamily="18" charset="0"/>
              </a:rPr>
              <a:t> σ</a:t>
            </a:r>
            <a:r>
              <a:rPr lang="en-US" altLang="zh-CN" sz="2700">
                <a:latin typeface="Times New Roman" panose="02020503050405090304" pitchFamily="18" charset="0"/>
              </a:rPr>
              <a:t>(3) = 4,</a:t>
            </a:r>
            <a:r>
              <a:rPr lang="el-GR" altLang="zh-CN" sz="2700">
                <a:latin typeface="Times New Roman" panose="02020503050405090304" pitchFamily="18" charset="0"/>
              </a:rPr>
              <a:t> σ</a:t>
            </a:r>
            <a:r>
              <a:rPr lang="en-US" altLang="zh-CN" sz="2700">
                <a:latin typeface="Times New Roman" panose="02020503050405090304" pitchFamily="18" charset="0"/>
              </a:rPr>
              <a:t>(4) = 2,</a:t>
            </a:r>
            <a:endParaRPr lang="en-US" altLang="zh-CN" sz="2700">
              <a:latin typeface="Times New Roman" panose="02020503050405090304" pitchFamily="18" charset="0"/>
            </a:endParaRPr>
          </a:p>
          <a:p>
            <a:pPr marL="879475" lvl="1" indent="-514350">
              <a:lnSpc>
                <a:spcPct val="80000"/>
              </a:lnSpc>
              <a:buFont typeface="Copperplate Gothic Light" pitchFamily="34" charset="0"/>
              <a:buAutoNum type="alphaLcPeriod"/>
            </a:pPr>
            <a:r>
              <a:rPr lang="en-US" altLang="zh-CN" sz="2400">
                <a:latin typeface="Times New Roman" panose="02020503050405090304" pitchFamily="18" charset="0"/>
              </a:rPr>
              <a:t>Encrypt the plaintext PIRATE ATTACK</a:t>
            </a:r>
            <a:endParaRPr lang="en-US" altLang="zh-CN" sz="2400">
              <a:latin typeface="Times New Roman" panose="02020503050405090304" pitchFamily="18" charset="0"/>
            </a:endParaRPr>
          </a:p>
          <a:p>
            <a:pPr marL="879475" lvl="1" indent="-514350">
              <a:lnSpc>
                <a:spcPct val="80000"/>
              </a:lnSpc>
              <a:buFont typeface="Copperplate Gothic Light" pitchFamily="34" charset="0"/>
              <a:buAutoNum type="alphaLcPeriod"/>
            </a:pPr>
            <a:r>
              <a:rPr lang="en-US" altLang="zh-CN" sz="2400">
                <a:latin typeface="Times New Roman" panose="02020503050405090304" pitchFamily="18" charset="0"/>
              </a:rPr>
              <a:t>Decrypt the ciphertext message SWUE TRAEOEHS, which was encryted using the same cipher. </a:t>
            </a:r>
            <a:endParaRPr lang="en-US" altLang="zh-CN" sz="2400">
              <a:latin typeface="Times New Roman" panose="02020503050405090304" pitchFamily="18" charset="0"/>
            </a:endParaRPr>
          </a:p>
          <a:p>
            <a:pPr>
              <a:lnSpc>
                <a:spcPct val="80000"/>
              </a:lnSpc>
              <a:buNone/>
            </a:pPr>
            <a:r>
              <a:rPr lang="en-US" altLang="zh-CN" sz="2700" b="1">
                <a:latin typeface="Times New Roman" panose="02020503050405090304" pitchFamily="18" charset="0"/>
              </a:rPr>
              <a:t>    Solution</a:t>
            </a:r>
            <a:r>
              <a:rPr lang="en-US" altLang="zh-CN" sz="2700">
                <a:latin typeface="Times New Roman" panose="02020503050405090304" pitchFamily="18" charset="0"/>
                <a:sym typeface="Wingdings" panose="05000000000000000000" pitchFamily="2" charset="2"/>
              </a:rPr>
              <a:t>:</a:t>
            </a:r>
            <a:endParaRPr lang="en-US" altLang="zh-CN" sz="2700">
              <a:latin typeface="Times New Roman" panose="02020503050405090304" pitchFamily="18" charset="0"/>
              <a:sym typeface="Wingdings" panose="05000000000000000000" pitchFamily="2" charset="2"/>
            </a:endParaRPr>
          </a:p>
          <a:p>
            <a:pPr marL="879475" lvl="1" indent="-514350">
              <a:lnSpc>
                <a:spcPct val="80000"/>
              </a:lnSpc>
              <a:buFont typeface="Copperplate Gothic Light" pitchFamily="34" charset="0"/>
              <a:buAutoNum type="alphaLcPeriod"/>
            </a:pPr>
            <a:r>
              <a:rPr lang="en-US" altLang="zh-CN" sz="2400">
                <a:latin typeface="Times New Roman" panose="02020503050405090304" pitchFamily="18" charset="0"/>
                <a:sym typeface="Wingdings" panose="05000000000000000000" pitchFamily="2" charset="2"/>
              </a:rPr>
              <a:t> Split into four blocks  PIRA TEAT TACK.</a:t>
            </a:r>
            <a:endParaRPr lang="en-US" altLang="zh-CN" sz="2400">
              <a:latin typeface="Times New Roman" panose="02020503050405090304" pitchFamily="18" charset="0"/>
              <a:sym typeface="Wingdings" panose="05000000000000000000" pitchFamily="2" charset="2"/>
            </a:endParaRPr>
          </a:p>
          <a:p>
            <a:pPr>
              <a:lnSpc>
                <a:spcPct val="80000"/>
              </a:lnSpc>
              <a:buNone/>
            </a:pPr>
            <a:r>
              <a:rPr lang="en-US" altLang="zh-CN" sz="2700">
                <a:latin typeface="Times New Roman" panose="02020503050405090304" pitchFamily="18" charset="0"/>
                <a:sym typeface="Wingdings" panose="05000000000000000000" pitchFamily="2" charset="2"/>
              </a:rPr>
              <a:t>              Apply the permutation</a:t>
            </a:r>
            <a:r>
              <a:rPr lang="el-GR" altLang="zh-CN" sz="2700">
                <a:latin typeface="Times New Roman" panose="02020503050405090304" pitchFamily="18" charset="0"/>
              </a:rPr>
              <a:t> σ</a:t>
            </a:r>
            <a:r>
              <a:rPr lang="en-US" altLang="zh-CN" sz="2700">
                <a:latin typeface="Times New Roman" panose="02020503050405090304" pitchFamily="18" charset="0"/>
                <a:sym typeface="Wingdings" panose="05000000000000000000" pitchFamily="2" charset="2"/>
              </a:rPr>
              <a:t> giving IAPR ETTA AKTC.</a:t>
            </a:r>
            <a:endParaRPr lang="en-US" altLang="zh-CN" sz="2700">
              <a:latin typeface="Times New Roman" panose="02020503050405090304" pitchFamily="18" charset="0"/>
            </a:endParaRPr>
          </a:p>
          <a:p>
            <a:pPr marL="879475" lvl="1" indent="-514350">
              <a:lnSpc>
                <a:spcPct val="80000"/>
              </a:lnSpc>
              <a:buFont typeface="Copperplate Gothic Light" pitchFamily="34" charset="0"/>
              <a:buAutoNum type="alphaLcPeriod" startAt="2"/>
            </a:pPr>
            <a:r>
              <a:rPr lang="en-US" altLang="zh-CN" sz="2400">
                <a:latin typeface="Times New Roman" panose="02020503050405090304" pitchFamily="18" charset="0"/>
              </a:rPr>
              <a:t> </a:t>
            </a:r>
            <a:r>
              <a:rPr lang="el-GR" altLang="zh-CN" sz="2400">
                <a:latin typeface="Times New Roman" panose="02020503050405090304" pitchFamily="18" charset="0"/>
              </a:rPr>
              <a:t>σ</a:t>
            </a:r>
            <a:r>
              <a:rPr lang="en-US" altLang="zh-CN" sz="2400" baseline="30000">
                <a:latin typeface="Times New Roman" panose="02020503050405090304" pitchFamily="18" charset="0"/>
              </a:rPr>
              <a:t>−1 </a:t>
            </a:r>
            <a:r>
              <a:rPr lang="en-US" altLang="zh-CN" sz="2400">
                <a:latin typeface="Times New Roman" panose="02020503050405090304" pitchFamily="18" charset="0"/>
              </a:rPr>
              <a:t>:  </a:t>
            </a:r>
            <a:r>
              <a:rPr lang="el-GR" altLang="zh-CN" sz="2400">
                <a:latin typeface="Times New Roman" panose="02020503050405090304" pitchFamily="18" charset="0"/>
              </a:rPr>
              <a:t>σ</a:t>
            </a:r>
            <a:r>
              <a:rPr lang="en-US" altLang="zh-CN" sz="2400" baseline="30000">
                <a:latin typeface="Times New Roman" panose="02020503050405090304" pitchFamily="18" charset="0"/>
              </a:rPr>
              <a:t> −1</a:t>
            </a:r>
            <a:r>
              <a:rPr lang="en-US" altLang="zh-CN" sz="2400">
                <a:latin typeface="Times New Roman" panose="02020503050405090304" pitchFamily="18" charset="0"/>
              </a:rPr>
              <a:t>(1) = 2,</a:t>
            </a:r>
            <a:r>
              <a:rPr lang="el-GR" altLang="zh-CN" sz="2400">
                <a:latin typeface="Times New Roman" panose="02020503050405090304" pitchFamily="18" charset="0"/>
              </a:rPr>
              <a:t> σ</a:t>
            </a:r>
            <a:r>
              <a:rPr lang="en-US" altLang="zh-CN" sz="2400" baseline="30000">
                <a:latin typeface="Times New Roman" panose="02020503050405090304" pitchFamily="18" charset="0"/>
              </a:rPr>
              <a:t> −1</a:t>
            </a:r>
            <a:r>
              <a:rPr lang="en-US" altLang="zh-CN" sz="2400">
                <a:latin typeface="Times New Roman" panose="02020503050405090304" pitchFamily="18" charset="0"/>
              </a:rPr>
              <a:t>(2) = 4,</a:t>
            </a:r>
            <a:r>
              <a:rPr lang="el-GR" altLang="zh-CN" sz="2400">
                <a:latin typeface="Times New Roman" panose="02020503050405090304" pitchFamily="18" charset="0"/>
              </a:rPr>
              <a:t> σ</a:t>
            </a:r>
            <a:r>
              <a:rPr lang="en-US" altLang="zh-CN" sz="2400" baseline="30000">
                <a:latin typeface="Times New Roman" panose="02020503050405090304" pitchFamily="18" charset="0"/>
              </a:rPr>
              <a:t> −1</a:t>
            </a:r>
            <a:r>
              <a:rPr lang="en-US" altLang="zh-CN" sz="2400">
                <a:latin typeface="Times New Roman" panose="02020503050405090304" pitchFamily="18" charset="0"/>
              </a:rPr>
              <a:t>(3) = 1,</a:t>
            </a:r>
            <a:r>
              <a:rPr lang="el-GR" altLang="zh-CN" sz="2400">
                <a:latin typeface="Times New Roman" panose="02020503050405090304" pitchFamily="18" charset="0"/>
              </a:rPr>
              <a:t> </a:t>
            </a:r>
            <a:r>
              <a:rPr lang="en-US" altLang="zh-CN" sz="2400">
                <a:latin typeface="Times New Roman" panose="02020503050405090304" pitchFamily="18" charset="0"/>
              </a:rPr>
              <a:t> </a:t>
            </a:r>
            <a:r>
              <a:rPr lang="el-GR" altLang="zh-CN" sz="2400">
                <a:latin typeface="Times New Roman" panose="02020503050405090304" pitchFamily="18" charset="0"/>
              </a:rPr>
              <a:t>σ</a:t>
            </a:r>
            <a:r>
              <a:rPr lang="en-US" altLang="zh-CN" sz="2400" baseline="30000">
                <a:latin typeface="Times New Roman" panose="02020503050405090304" pitchFamily="18" charset="0"/>
              </a:rPr>
              <a:t> −1</a:t>
            </a:r>
            <a:r>
              <a:rPr lang="en-US" altLang="zh-CN" sz="2400">
                <a:latin typeface="Times New Roman" panose="02020503050405090304" pitchFamily="18" charset="0"/>
              </a:rPr>
              <a:t>(4) = 3.</a:t>
            </a:r>
            <a:endParaRPr lang="en-US" altLang="zh-CN" sz="2400">
              <a:latin typeface="Times New Roman" panose="02020503050405090304" pitchFamily="18" charset="0"/>
            </a:endParaRPr>
          </a:p>
          <a:p>
            <a:pPr marL="879475" lvl="1" indent="-514350">
              <a:lnSpc>
                <a:spcPct val="80000"/>
              </a:lnSpc>
              <a:buNone/>
            </a:pPr>
            <a:r>
              <a:rPr lang="en-US" altLang="zh-CN" sz="2400">
                <a:latin typeface="Times New Roman" panose="02020503050405090304" pitchFamily="18" charset="0"/>
              </a:rPr>
              <a:t>        Apply the permutation </a:t>
            </a:r>
            <a:r>
              <a:rPr lang="el-GR" altLang="zh-CN" sz="2400">
                <a:latin typeface="Times New Roman" panose="02020503050405090304" pitchFamily="18" charset="0"/>
              </a:rPr>
              <a:t>σ</a:t>
            </a:r>
            <a:r>
              <a:rPr lang="en-US" altLang="zh-CN" sz="2400" baseline="30000">
                <a:latin typeface="Times New Roman" panose="02020503050405090304" pitchFamily="18" charset="0"/>
              </a:rPr>
              <a:t>−1 </a:t>
            </a:r>
            <a:r>
              <a:rPr lang="en-US" altLang="zh-CN" sz="2400">
                <a:latin typeface="Times New Roman" panose="02020503050405090304" pitchFamily="18" charset="0"/>
                <a:sym typeface="Wingdings" panose="05000000000000000000" pitchFamily="2" charset="2"/>
              </a:rPr>
              <a:t>giving   USEW ATER HOSE.</a:t>
            </a:r>
            <a:endParaRPr lang="en-US" altLang="zh-CN" sz="2400">
              <a:latin typeface="Times New Roman" panose="02020503050405090304" pitchFamily="18" charset="0"/>
              <a:sym typeface="Wingdings" panose="05000000000000000000" pitchFamily="2" charset="2"/>
            </a:endParaRPr>
          </a:p>
          <a:p>
            <a:pPr marL="879475" lvl="1" indent="-514350">
              <a:lnSpc>
                <a:spcPct val="80000"/>
              </a:lnSpc>
              <a:buNone/>
            </a:pPr>
            <a:r>
              <a:rPr lang="en-US" altLang="zh-CN" sz="2400">
                <a:latin typeface="Times New Roman" panose="02020503050405090304" pitchFamily="18" charset="0"/>
                <a:sym typeface="Wingdings" panose="05000000000000000000" pitchFamily="2" charset="2"/>
              </a:rPr>
              <a:t>        Split into words  to obtain USE WATER HOSE.</a:t>
            </a:r>
            <a:endParaRPr lang="en-US" altLang="zh-CN" sz="2400">
              <a:latin typeface="Times New Roman" panose="02020503050405090304" pitchFamily="18" charset="0"/>
            </a:endParaRPr>
          </a:p>
          <a:p>
            <a:pPr>
              <a:lnSpc>
                <a:spcPct val="80000"/>
              </a:lnSpc>
            </a:pPr>
            <a:endParaRPr lang="en-US" altLang="zh-CN" sz="2700"/>
          </a:p>
          <a:p>
            <a:pPr>
              <a:lnSpc>
                <a:spcPct val="80000"/>
              </a:lnSpc>
            </a:pPr>
            <a:endParaRPr lang="en-US" altLang="zh-CN" sz="2700"/>
          </a:p>
          <a:p>
            <a:pPr>
              <a:lnSpc>
                <a:spcPct val="80000"/>
              </a:lnSpc>
              <a:buNone/>
            </a:pPr>
            <a:endParaRPr lang="en-US" altLang="zh-CN" sz="27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Title 1"/>
          <p:cNvSpPr>
            <a:spLocks noGrp="1"/>
          </p:cNvSpPr>
          <p:nvPr>
            <p:ph type="title"/>
          </p:nvPr>
        </p:nvSpPr>
        <p:spPr>
          <a:ln/>
        </p:spPr>
        <p:txBody>
          <a:bodyPr vert="horz" wrap="square" lIns="91440" tIns="45720" rIns="91440" bIns="45720" anchor="b" anchorCtr="0"/>
          <a:p>
            <a:r>
              <a:rPr lang="en-US" altLang="zh-CN"/>
              <a:t>Cryptosystems</a:t>
            </a:r>
            <a:endParaRPr lang="en-US" altLang="zh-CN"/>
          </a:p>
        </p:txBody>
      </p:sp>
      <p:sp>
        <p:nvSpPr>
          <p:cNvPr id="3" name="Content Placeholder 2"/>
          <p:cNvSpPr>
            <a:spLocks noGrp="1"/>
          </p:cNvSpPr>
          <p:nvPr>
            <p:ph idx="1"/>
          </p:nvPr>
        </p:nvSpPr>
        <p:spPr/>
        <p:txBody>
          <a:bodyPr>
            <a:normAutofit fontScale="75000" lnSpcReduction="10000"/>
          </a:bodyPr>
          <a:lstStyle/>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1" i="0" u="none" strike="noStrike" kern="0" cap="none" spc="0" normalizeH="0" baseline="0" noProof="1" dirty="0">
                <a:solidFill>
                  <a:schemeClr val="tx1"/>
                </a:solidFill>
                <a:latin typeface="+mn-lt"/>
                <a:ea typeface="+mn-ea"/>
                <a:cs typeface="+mn-cs"/>
              </a:rPr>
              <a:t>   </a:t>
            </a:r>
            <a:r>
              <a:rPr kumimoji="1" lang="en-US" sz="32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Definition</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 </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cryptosystem </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is a five-</a:t>
            </a:r>
            <a:r>
              <a:rPr kumimoji="1" lang="en-US" sz="32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tuple</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(P,C,K,E,D), where</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 </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is the set of </a:t>
            </a:r>
            <a:r>
              <a:rPr kumimoji="1" lang="en-US" sz="28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plainntext</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strings</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zh-CN" alt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明文串集合</a:t>
            </a:r>
            <a:endPar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is the set of </a:t>
            </a:r>
            <a:r>
              <a:rPr kumimoji="1" lang="en-US" sz="28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ciphertext</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strings</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zh-CN" alt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密文串集合</a:t>
            </a:r>
            <a:endPar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 is the </a:t>
            </a:r>
            <a:r>
              <a:rPr kumimoji="1" lang="en-US" sz="28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keyspace</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(set of all possible keys),//</a:t>
            </a:r>
            <a:r>
              <a:rPr kumimoji="1" lang="zh-CN" alt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密钥空间</a:t>
            </a:r>
            <a:endPar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E is the set of </a:t>
            </a:r>
            <a:r>
              <a:rPr kumimoji="1" lang="en-US" sz="28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encription</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functions, and//</a:t>
            </a:r>
            <a:r>
              <a:rPr kumimoji="1" lang="zh-CN" alt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加密函数集合</a:t>
            </a:r>
            <a:endPar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D is the set of decryption functions.//</a:t>
            </a:r>
            <a:r>
              <a:rPr kumimoji="1" lang="zh-CN" alt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解密函数集合</a:t>
            </a:r>
            <a:endPar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The encryption function in E corresponding to the key </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is denoted by </a:t>
            </a:r>
            <a:r>
              <a:rPr kumimoji="1" lang="en-US" sz="32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E</a:t>
            </a:r>
            <a:r>
              <a:rPr kumimoji="1" lang="en-US" sz="32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k</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and the </a:t>
            </a:r>
            <a:r>
              <a:rPr kumimoji="1" lang="en-US" sz="32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decription</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function in D that decrypts cipher text </a:t>
            </a:r>
            <a:r>
              <a:rPr kumimoji="1" lang="en-US" sz="32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enrypted</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using </a:t>
            </a:r>
            <a:r>
              <a:rPr kumimoji="1" lang="en-US" sz="32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E</a:t>
            </a:r>
            <a:r>
              <a:rPr kumimoji="1" lang="en-US" sz="32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k</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is denoted by </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D</a:t>
            </a:r>
            <a:r>
              <a:rPr kumimoji="1" lang="en-US" sz="3200" b="0" i="1"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k</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Therefore:</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D</a:t>
            </a:r>
            <a:r>
              <a:rPr kumimoji="1" lang="en-US" sz="3200" b="0" i="1"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k</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32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E</a:t>
            </a:r>
            <a:r>
              <a:rPr kumimoji="1" lang="en-US" sz="32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k</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for all plaintext strings </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Title 1"/>
          <p:cNvSpPr>
            <a:spLocks noGrp="1"/>
          </p:cNvSpPr>
          <p:nvPr>
            <p:ph type="title"/>
          </p:nvPr>
        </p:nvSpPr>
        <p:spPr>
          <a:ln/>
        </p:spPr>
        <p:txBody>
          <a:bodyPr vert="horz" wrap="square" lIns="91440" tIns="45720" rIns="91440" bIns="45720" anchor="b" anchorCtr="0"/>
          <a:p>
            <a:r>
              <a:rPr lang="en-US" altLang="zh-CN"/>
              <a:t>Cryptosystems</a:t>
            </a:r>
            <a:endParaRPr lang="en-US" altLang="zh-CN"/>
          </a:p>
        </p:txBody>
      </p:sp>
      <p:sp>
        <p:nvSpPr>
          <p:cNvPr id="25602" name="Content Placeholder 2"/>
          <p:cNvSpPr>
            <a:spLocks noGrp="1"/>
          </p:cNvSpPr>
          <p:nvPr>
            <p:ph idx="1"/>
          </p:nvPr>
        </p:nvSpPr>
        <p:spPr>
          <a:xfrm>
            <a:off x="468313" y="1268413"/>
            <a:ext cx="8486775" cy="4864100"/>
          </a:xfrm>
          <a:ln/>
        </p:spPr>
        <p:txBody>
          <a:bodyPr vert="horz" wrap="square" lIns="91440" tIns="45720" rIns="91440" bIns="45720" anchor="t" anchorCtr="0"/>
          <a:p>
            <a:pPr>
              <a:lnSpc>
                <a:spcPct val="90000"/>
              </a:lnSpc>
              <a:buNone/>
            </a:pPr>
            <a:r>
              <a:rPr lang="en-US" altLang="zh-CN" sz="3000" b="1">
                <a:latin typeface="Times New Roman" panose="02020503050405090304" pitchFamily="18" charset="0"/>
              </a:rPr>
              <a:t>    Example</a:t>
            </a:r>
            <a:r>
              <a:rPr lang="en-US" altLang="zh-CN" sz="3000">
                <a:latin typeface="Times New Roman" panose="02020503050405090304" pitchFamily="18" charset="0"/>
              </a:rPr>
              <a:t>: Describe the family of shift ciphers as a cryptosystem.</a:t>
            </a:r>
            <a:endParaRPr lang="en-US" altLang="zh-CN" sz="3000">
              <a:latin typeface="Times New Roman" panose="02020503050405090304" pitchFamily="18" charset="0"/>
            </a:endParaRPr>
          </a:p>
          <a:p>
            <a:pPr>
              <a:lnSpc>
                <a:spcPct val="90000"/>
              </a:lnSpc>
              <a:buNone/>
            </a:pPr>
            <a:r>
              <a:rPr lang="en-US" altLang="zh-CN" sz="3000">
                <a:latin typeface="Times New Roman" panose="02020503050405090304" pitchFamily="18" charset="0"/>
              </a:rPr>
              <a:t>    </a:t>
            </a:r>
            <a:r>
              <a:rPr lang="en-US" altLang="zh-CN" sz="3000" b="1">
                <a:latin typeface="Times New Roman" panose="02020503050405090304" pitchFamily="18" charset="0"/>
              </a:rPr>
              <a:t>Solution</a:t>
            </a:r>
            <a:r>
              <a:rPr lang="en-US" altLang="zh-CN" sz="3000">
                <a:latin typeface="Times New Roman" panose="02020503050405090304" pitchFamily="18" charset="0"/>
              </a:rPr>
              <a:t>: Assume the messages are strings consisting of  elements in </a:t>
            </a:r>
            <a:r>
              <a:rPr lang="en-US" altLang="zh-CN" sz="3000" b="1">
                <a:latin typeface="Times New Roman" panose="02020503050405090304" pitchFamily="18" charset="0"/>
              </a:rPr>
              <a:t>Z</a:t>
            </a:r>
            <a:r>
              <a:rPr lang="en-US" altLang="zh-CN" sz="3000" baseline="-25000">
                <a:latin typeface="Times New Roman" panose="02020503050405090304" pitchFamily="18" charset="0"/>
              </a:rPr>
              <a:t>26</a:t>
            </a:r>
            <a:r>
              <a:rPr lang="en-US" altLang="zh-CN" sz="3000">
                <a:latin typeface="Times New Roman" panose="02020503050405090304" pitchFamily="18" charset="0"/>
              </a:rPr>
              <a:t>. </a:t>
            </a:r>
            <a:endParaRPr lang="en-US" altLang="zh-CN" sz="3000">
              <a:latin typeface="Times New Roman" panose="02020503050405090304" pitchFamily="18" charset="0"/>
            </a:endParaRPr>
          </a:p>
          <a:p>
            <a:pPr lvl="1">
              <a:lnSpc>
                <a:spcPct val="90000"/>
              </a:lnSpc>
            </a:pPr>
            <a:r>
              <a:rPr lang="en-US" altLang="zh-CN" sz="2600">
                <a:latin typeface="Times New Roman" panose="02020503050405090304" pitchFamily="18" charset="0"/>
              </a:rPr>
              <a:t>P </a:t>
            </a:r>
            <a:r>
              <a:rPr lang="en-US" altLang="zh-CN" sz="2600" i="1">
                <a:latin typeface="Times New Roman" panose="02020503050405090304" pitchFamily="18" charset="0"/>
              </a:rPr>
              <a:t> </a:t>
            </a:r>
            <a:r>
              <a:rPr lang="en-US" altLang="zh-CN" sz="2600">
                <a:latin typeface="Times New Roman" panose="02020503050405090304" pitchFamily="18" charset="0"/>
              </a:rPr>
              <a:t>is the set of strings of elements in  </a:t>
            </a:r>
            <a:r>
              <a:rPr lang="en-US" altLang="zh-CN" sz="2600" b="1">
                <a:latin typeface="Times New Roman" panose="02020503050405090304" pitchFamily="18" charset="0"/>
              </a:rPr>
              <a:t>Z</a:t>
            </a:r>
            <a:r>
              <a:rPr lang="en-US" altLang="zh-CN" sz="2600" baseline="-25000">
                <a:latin typeface="Times New Roman" panose="02020503050405090304" pitchFamily="18" charset="0"/>
              </a:rPr>
              <a:t>26</a:t>
            </a:r>
            <a:r>
              <a:rPr lang="en-US" altLang="zh-CN" sz="2600" i="1">
                <a:latin typeface="Times New Roman" panose="02020503050405090304" pitchFamily="18" charset="0"/>
              </a:rPr>
              <a:t>,</a:t>
            </a:r>
            <a:endParaRPr lang="en-US" altLang="zh-CN" sz="2600" i="1">
              <a:latin typeface="Times New Roman" panose="02020503050405090304" pitchFamily="18" charset="0"/>
            </a:endParaRPr>
          </a:p>
          <a:p>
            <a:pPr lvl="1">
              <a:lnSpc>
                <a:spcPct val="90000"/>
              </a:lnSpc>
            </a:pPr>
            <a:r>
              <a:rPr lang="en-US" altLang="zh-CN" sz="2600">
                <a:latin typeface="Times New Roman" panose="02020503050405090304" pitchFamily="18" charset="0"/>
              </a:rPr>
              <a:t>C</a:t>
            </a:r>
            <a:r>
              <a:rPr lang="en-US" altLang="zh-CN" sz="2600" i="1">
                <a:latin typeface="Times New Roman" panose="02020503050405090304" pitchFamily="18" charset="0"/>
              </a:rPr>
              <a:t> </a:t>
            </a:r>
            <a:r>
              <a:rPr lang="en-US" altLang="zh-CN" sz="2600">
                <a:latin typeface="Times New Roman" panose="02020503050405090304" pitchFamily="18" charset="0"/>
              </a:rPr>
              <a:t>is the set of  strings of elements in  </a:t>
            </a:r>
            <a:r>
              <a:rPr lang="en-US" altLang="zh-CN" sz="2600" b="1">
                <a:latin typeface="Times New Roman" panose="02020503050405090304" pitchFamily="18" charset="0"/>
              </a:rPr>
              <a:t>Z</a:t>
            </a:r>
            <a:r>
              <a:rPr lang="en-US" altLang="zh-CN" sz="2600" baseline="-25000">
                <a:latin typeface="Times New Roman" panose="02020503050405090304" pitchFamily="18" charset="0"/>
              </a:rPr>
              <a:t>26</a:t>
            </a:r>
            <a:r>
              <a:rPr lang="en-US" altLang="zh-CN" sz="2600" i="1">
                <a:latin typeface="Times New Roman" panose="02020503050405090304" pitchFamily="18" charset="0"/>
              </a:rPr>
              <a:t>,</a:t>
            </a:r>
            <a:endParaRPr lang="en-US" altLang="zh-CN" sz="2600" i="1">
              <a:latin typeface="Times New Roman" panose="02020503050405090304" pitchFamily="18" charset="0"/>
            </a:endParaRPr>
          </a:p>
          <a:p>
            <a:pPr lvl="1">
              <a:lnSpc>
                <a:spcPct val="90000"/>
              </a:lnSpc>
            </a:pPr>
            <a:r>
              <a:rPr lang="en-US" altLang="zh-CN" sz="2600">
                <a:latin typeface="Times New Roman" panose="02020503050405090304" pitchFamily="18" charset="0"/>
              </a:rPr>
              <a:t>K = </a:t>
            </a:r>
            <a:r>
              <a:rPr lang="en-US" altLang="zh-CN" sz="2600" b="1">
                <a:latin typeface="Times New Roman" panose="02020503050405090304" pitchFamily="18" charset="0"/>
              </a:rPr>
              <a:t>Z</a:t>
            </a:r>
            <a:r>
              <a:rPr lang="en-US" altLang="zh-CN" sz="2600" baseline="-25000">
                <a:latin typeface="Times New Roman" panose="02020503050405090304" pitchFamily="18" charset="0"/>
              </a:rPr>
              <a:t>26</a:t>
            </a:r>
            <a:r>
              <a:rPr lang="en-US" altLang="zh-CN" sz="2600">
                <a:latin typeface="Times New Roman" panose="02020503050405090304" pitchFamily="18" charset="0"/>
              </a:rPr>
              <a:t>,</a:t>
            </a:r>
            <a:endParaRPr lang="en-US" altLang="zh-CN" sz="2600">
              <a:latin typeface="Times New Roman" panose="02020503050405090304" pitchFamily="18" charset="0"/>
            </a:endParaRPr>
          </a:p>
          <a:p>
            <a:pPr lvl="1">
              <a:lnSpc>
                <a:spcPct val="90000"/>
              </a:lnSpc>
            </a:pPr>
            <a:r>
              <a:rPr lang="en-US" altLang="zh-CN" sz="2600">
                <a:latin typeface="Times New Roman" panose="02020503050405090304" pitchFamily="18" charset="0"/>
              </a:rPr>
              <a:t>E consists of functions of the form                                          </a:t>
            </a:r>
            <a:r>
              <a:rPr lang="en-US" altLang="zh-CN" sz="2600" i="1">
                <a:latin typeface="Times New Roman" panose="02020503050405090304" pitchFamily="18" charset="0"/>
              </a:rPr>
              <a:t> E</a:t>
            </a:r>
            <a:r>
              <a:rPr lang="en-US" altLang="zh-CN" sz="2600" i="1" baseline="-25000">
                <a:latin typeface="Times New Roman" panose="02020503050405090304" pitchFamily="18" charset="0"/>
              </a:rPr>
              <a:t>k</a:t>
            </a:r>
            <a:r>
              <a:rPr lang="en-US" altLang="zh-CN" sz="2600">
                <a:latin typeface="Times New Roman" panose="02020503050405090304" pitchFamily="18" charset="0"/>
              </a:rPr>
              <a:t> (</a:t>
            </a:r>
            <a:r>
              <a:rPr lang="en-US" altLang="zh-CN" sz="2600" i="1">
                <a:latin typeface="Times New Roman" panose="02020503050405090304" pitchFamily="18" charset="0"/>
              </a:rPr>
              <a:t>p</a:t>
            </a:r>
            <a:r>
              <a:rPr lang="en-US" altLang="zh-CN" sz="2600">
                <a:latin typeface="Times New Roman" panose="02020503050405090304" pitchFamily="18" charset="0"/>
              </a:rPr>
              <a:t>) = (</a:t>
            </a:r>
            <a:r>
              <a:rPr lang="en-US" altLang="zh-CN" sz="2600" i="1">
                <a:latin typeface="Times New Roman" panose="02020503050405090304" pitchFamily="18" charset="0"/>
              </a:rPr>
              <a:t>p</a:t>
            </a:r>
            <a:r>
              <a:rPr lang="en-US" altLang="zh-CN" sz="2600">
                <a:latin typeface="Times New Roman" panose="02020503050405090304" pitchFamily="18" charset="0"/>
              </a:rPr>
              <a:t> + </a:t>
            </a:r>
            <a:r>
              <a:rPr lang="en-US" altLang="zh-CN" sz="2600" i="1">
                <a:latin typeface="Times New Roman" panose="02020503050405090304" pitchFamily="18" charset="0"/>
              </a:rPr>
              <a:t>k</a:t>
            </a:r>
            <a:r>
              <a:rPr lang="en-US" altLang="zh-CN" sz="2600">
                <a:latin typeface="Times New Roman" panose="02020503050405090304" pitchFamily="18" charset="0"/>
              </a:rPr>
              <a:t>) </a:t>
            </a:r>
            <a:r>
              <a:rPr lang="en-US" altLang="zh-CN" sz="2600" b="1">
                <a:latin typeface="Times New Roman" panose="02020503050405090304" pitchFamily="18" charset="0"/>
              </a:rPr>
              <a:t>mod</a:t>
            </a:r>
            <a:r>
              <a:rPr lang="en-US" altLang="zh-CN" sz="2600">
                <a:latin typeface="Times New Roman" panose="02020503050405090304" pitchFamily="18" charset="0"/>
              </a:rPr>
              <a:t> 26 , and</a:t>
            </a:r>
            <a:endParaRPr lang="en-US" altLang="zh-CN" sz="2600">
              <a:latin typeface="Times New Roman" panose="02020503050405090304" pitchFamily="18" charset="0"/>
            </a:endParaRPr>
          </a:p>
          <a:p>
            <a:pPr lvl="1">
              <a:lnSpc>
                <a:spcPct val="90000"/>
              </a:lnSpc>
            </a:pPr>
            <a:r>
              <a:rPr lang="en-US" altLang="zh-CN" sz="2600">
                <a:latin typeface="Times New Roman" panose="02020503050405090304" pitchFamily="18" charset="0"/>
              </a:rPr>
              <a:t>D is the same as E  where </a:t>
            </a:r>
            <a:r>
              <a:rPr lang="en-US" altLang="zh-CN" sz="2600" i="1">
                <a:latin typeface="Times New Roman" panose="02020503050405090304" pitchFamily="18" charset="0"/>
              </a:rPr>
              <a:t>D</a:t>
            </a:r>
            <a:r>
              <a:rPr lang="en-US" altLang="zh-CN" sz="2600" i="1" baseline="-25000">
                <a:latin typeface="Times New Roman" panose="02020503050405090304" pitchFamily="18" charset="0"/>
              </a:rPr>
              <a:t>k</a:t>
            </a:r>
            <a:r>
              <a:rPr lang="en-US" altLang="zh-CN" sz="2600">
                <a:latin typeface="Times New Roman" panose="02020503050405090304" pitchFamily="18" charset="0"/>
              </a:rPr>
              <a:t> (</a:t>
            </a:r>
            <a:r>
              <a:rPr lang="en-US" altLang="zh-CN" sz="2600" i="1">
                <a:latin typeface="Times New Roman" panose="02020503050405090304" pitchFamily="18" charset="0"/>
              </a:rPr>
              <a:t>p</a:t>
            </a:r>
            <a:r>
              <a:rPr lang="en-US" altLang="zh-CN" sz="2600">
                <a:latin typeface="Times New Roman" panose="02020503050405090304" pitchFamily="18" charset="0"/>
              </a:rPr>
              <a:t>) = (</a:t>
            </a:r>
            <a:r>
              <a:rPr lang="en-US" altLang="zh-CN" sz="2600" i="1">
                <a:latin typeface="Times New Roman" panose="02020503050405090304" pitchFamily="18" charset="0"/>
              </a:rPr>
              <a:t>p</a:t>
            </a:r>
            <a:r>
              <a:rPr lang="en-US" altLang="zh-CN" sz="2600">
                <a:latin typeface="Times New Roman" panose="02020503050405090304" pitchFamily="18" charset="0"/>
              </a:rPr>
              <a:t> − </a:t>
            </a:r>
            <a:r>
              <a:rPr lang="en-US" altLang="zh-CN" sz="2600" i="1">
                <a:latin typeface="Times New Roman" panose="02020503050405090304" pitchFamily="18" charset="0"/>
              </a:rPr>
              <a:t>k</a:t>
            </a:r>
            <a:r>
              <a:rPr lang="en-US" altLang="zh-CN" sz="2600">
                <a:latin typeface="Times New Roman" panose="02020503050405090304" pitchFamily="18" charset="0"/>
              </a:rPr>
              <a:t>) </a:t>
            </a:r>
            <a:r>
              <a:rPr lang="en-US" altLang="zh-CN" sz="2600" b="1">
                <a:latin typeface="Times New Roman" panose="02020503050405090304" pitchFamily="18" charset="0"/>
              </a:rPr>
              <a:t>mod</a:t>
            </a:r>
            <a:r>
              <a:rPr lang="en-US" altLang="zh-CN" sz="2600">
                <a:latin typeface="Times New Roman" panose="02020503050405090304" pitchFamily="18" charset="0"/>
              </a:rPr>
              <a:t> 26 .</a:t>
            </a:r>
            <a:endParaRPr lang="en-US" altLang="zh-CN" sz="2600">
              <a:latin typeface="Times New Roman" panose="0202050305040509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Title 1"/>
          <p:cNvSpPr>
            <a:spLocks noGrp="1"/>
          </p:cNvSpPr>
          <p:nvPr>
            <p:ph type="title"/>
          </p:nvPr>
        </p:nvSpPr>
        <p:spPr>
          <a:xfrm>
            <a:off x="1023938" y="0"/>
            <a:ext cx="8012112" cy="1143000"/>
          </a:xfrm>
          <a:ln/>
        </p:spPr>
        <p:txBody>
          <a:bodyPr vert="horz" wrap="square" lIns="91440" tIns="45720" rIns="91440" bIns="45720" anchor="b" anchorCtr="0"/>
          <a:p>
            <a:r>
              <a:rPr lang="en-US" altLang="zh-CN"/>
              <a:t>Public Key Cryptography</a:t>
            </a:r>
            <a:endParaRPr lang="en-US" altLang="zh-CN"/>
          </a:p>
        </p:txBody>
      </p:sp>
      <p:sp>
        <p:nvSpPr>
          <p:cNvPr id="3" name="Content Placeholder 2"/>
          <p:cNvSpPr>
            <a:spLocks noGrp="1"/>
          </p:cNvSpPr>
          <p:nvPr>
            <p:ph idx="1"/>
          </p:nvPr>
        </p:nvSpPr>
        <p:spPr/>
        <p:txBody>
          <a:bodyPr>
            <a:normAutofit fontScale="85000" lnSpcReduction="10000"/>
          </a:bodyPr>
          <a:lstStyle/>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All classical ciphers, including shift and affine ciphers, are </a:t>
            </a:r>
            <a:r>
              <a:rPr kumimoji="1" lang="en-US" sz="32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private key cryptosystems</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Knowing the encryption key allows one to quickly determine the decryption key. </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All parties who wish to communicate using a private key cryptosystem must share the key and keep it a secret. </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In public key cryptosystems, first invented in the </a:t>
            </a:r>
            <a:r>
              <a:rPr kumimoji="1" lang="en-US" sz="32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1970</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 knowing how to encrypt a message does not help one to decrypt the message. Therefore, everyone can have a publicly known encryption key. The only key that needs to be kept secret is the decryption key.</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Title 1"/>
          <p:cNvSpPr>
            <a:spLocks noGrp="1"/>
          </p:cNvSpPr>
          <p:nvPr>
            <p:ph type="title"/>
          </p:nvPr>
        </p:nvSpPr>
        <p:spPr>
          <a:xfrm>
            <a:off x="579438" y="141288"/>
            <a:ext cx="7791450" cy="1143000"/>
          </a:xfrm>
          <a:ln/>
        </p:spPr>
        <p:txBody>
          <a:bodyPr vert="horz" wrap="square" lIns="91440" tIns="45720" rIns="91440" bIns="45720" anchor="b" anchorCtr="0"/>
          <a:p>
            <a:r>
              <a:rPr lang="en-US" altLang="zh-CN"/>
              <a:t>The RSA Cryptosystem</a:t>
            </a:r>
            <a:endParaRPr lang="en-US" altLang="zh-CN"/>
          </a:p>
        </p:txBody>
      </p:sp>
      <p:sp>
        <p:nvSpPr>
          <p:cNvPr id="27650" name="Content Placeholder 2"/>
          <p:cNvSpPr>
            <a:spLocks noGrp="1"/>
          </p:cNvSpPr>
          <p:nvPr>
            <p:ph idx="1"/>
          </p:nvPr>
        </p:nvSpPr>
        <p:spPr>
          <a:ln/>
        </p:spPr>
        <p:txBody>
          <a:bodyPr vert="horz" wrap="square" lIns="91440" tIns="45720" rIns="91440" bIns="45720" anchor="t" anchorCtr="0"/>
          <a:p>
            <a:pPr>
              <a:lnSpc>
                <a:spcPct val="70000"/>
              </a:lnSpc>
            </a:pPr>
            <a:endParaRPr lang="en-US" altLang="zh-CN" sz="2200" dirty="0">
              <a:latin typeface="Times New Roman" panose="02020503050405090304" pitchFamily="18" charset="0"/>
            </a:endParaRPr>
          </a:p>
          <a:p>
            <a:pPr>
              <a:lnSpc>
                <a:spcPct val="70000"/>
              </a:lnSpc>
            </a:pPr>
            <a:r>
              <a:rPr lang="en-US" altLang="zh-CN" sz="2200" dirty="0">
                <a:latin typeface="Times New Roman" panose="02020503050405090304" pitchFamily="18" charset="0"/>
              </a:rPr>
              <a:t>A public key cryptosystem, now known  as the RSA system was introduced in 1976 by three researchers at MIT.</a:t>
            </a:r>
            <a:endParaRPr lang="en-US" altLang="zh-CN" sz="2200" dirty="0">
              <a:latin typeface="Times New Roman" panose="02020503050405090304" pitchFamily="18" charset="0"/>
            </a:endParaRPr>
          </a:p>
          <a:p>
            <a:pPr>
              <a:lnSpc>
                <a:spcPct val="70000"/>
              </a:lnSpc>
              <a:buNone/>
            </a:pPr>
            <a:endParaRPr lang="en-US" altLang="zh-CN" sz="2200" dirty="0">
              <a:latin typeface="Times New Roman" panose="02020503050405090304" pitchFamily="18" charset="0"/>
            </a:endParaRPr>
          </a:p>
          <a:p>
            <a:pPr>
              <a:lnSpc>
                <a:spcPct val="70000"/>
              </a:lnSpc>
              <a:buNone/>
            </a:pPr>
            <a:endParaRPr lang="en-US" altLang="zh-CN" sz="2200" dirty="0">
              <a:latin typeface="Times New Roman" panose="02020503050405090304" pitchFamily="18" charset="0"/>
            </a:endParaRPr>
          </a:p>
          <a:p>
            <a:pPr>
              <a:lnSpc>
                <a:spcPct val="70000"/>
              </a:lnSpc>
              <a:buNone/>
            </a:pPr>
            <a:endParaRPr lang="en-US" altLang="zh-CN" sz="2200" dirty="0">
              <a:latin typeface="Times New Roman" panose="02020503050405090304" pitchFamily="18" charset="0"/>
            </a:endParaRPr>
          </a:p>
          <a:p>
            <a:pPr>
              <a:lnSpc>
                <a:spcPct val="70000"/>
              </a:lnSpc>
              <a:buNone/>
            </a:pPr>
            <a:endParaRPr lang="en-US" altLang="zh-CN" sz="2200" dirty="0">
              <a:latin typeface="Times New Roman" panose="02020503050405090304" pitchFamily="18" charset="0"/>
            </a:endParaRPr>
          </a:p>
          <a:p>
            <a:pPr>
              <a:lnSpc>
                <a:spcPct val="70000"/>
              </a:lnSpc>
            </a:pPr>
            <a:endParaRPr lang="en-US" altLang="zh-CN" sz="2200" dirty="0">
              <a:latin typeface="Times New Roman" panose="02020503050405090304" pitchFamily="18" charset="0"/>
            </a:endParaRPr>
          </a:p>
          <a:p>
            <a:pPr>
              <a:lnSpc>
                <a:spcPct val="70000"/>
              </a:lnSpc>
            </a:pPr>
            <a:r>
              <a:rPr lang="en-US" altLang="zh-CN" sz="2200" dirty="0">
                <a:latin typeface="Times New Roman" panose="02020503050405090304" pitchFamily="18" charset="0"/>
              </a:rPr>
              <a:t>It is now known that the method was discovered earlier by Clifford Cocks, working secretly for the UK government. </a:t>
            </a:r>
            <a:endParaRPr lang="en-US" altLang="zh-CN" sz="2200" dirty="0">
              <a:latin typeface="Times New Roman" panose="02020503050405090304" pitchFamily="18" charset="0"/>
            </a:endParaRPr>
          </a:p>
          <a:p>
            <a:pPr>
              <a:lnSpc>
                <a:spcPct val="70000"/>
              </a:lnSpc>
            </a:pPr>
            <a:r>
              <a:rPr lang="en-US" altLang="zh-CN" sz="2200" dirty="0">
                <a:latin typeface="Times New Roman" panose="02020503050405090304" pitchFamily="18" charset="0"/>
              </a:rPr>
              <a:t>The public encryption key  is (</a:t>
            </a:r>
            <a:r>
              <a:rPr lang="en-US" altLang="zh-CN" sz="2200" i="1" dirty="0" err="1">
                <a:latin typeface="Times New Roman" panose="02020503050405090304" pitchFamily="18" charset="0"/>
              </a:rPr>
              <a:t>n,e</a:t>
            </a:r>
            <a:r>
              <a:rPr lang="en-US" altLang="zh-CN" sz="2200" dirty="0">
                <a:latin typeface="Times New Roman" panose="02020503050405090304" pitchFamily="18" charset="0"/>
              </a:rPr>
              <a:t>), where  </a:t>
            </a:r>
            <a:r>
              <a:rPr lang="en-US" altLang="zh-CN" sz="2200" i="1" dirty="0">
                <a:latin typeface="Times New Roman" panose="02020503050405090304" pitchFamily="18" charset="0"/>
              </a:rPr>
              <a:t>n</a:t>
            </a:r>
            <a:r>
              <a:rPr lang="en-US" altLang="zh-CN" sz="2200" dirty="0">
                <a:latin typeface="Times New Roman" panose="02020503050405090304" pitchFamily="18" charset="0"/>
              </a:rPr>
              <a:t> = </a:t>
            </a:r>
            <a:r>
              <a:rPr lang="en-US" altLang="zh-CN" sz="2200" i="1" dirty="0" err="1">
                <a:latin typeface="Times New Roman" panose="02020503050405090304" pitchFamily="18" charset="0"/>
              </a:rPr>
              <a:t>pq</a:t>
            </a:r>
            <a:r>
              <a:rPr lang="en-US" altLang="zh-CN" sz="2200" dirty="0">
                <a:latin typeface="Times New Roman" panose="02020503050405090304" pitchFamily="18" charset="0"/>
              </a:rPr>
              <a:t> (the modulus) is the product of two large (200 digits) primes </a:t>
            </a:r>
            <a:r>
              <a:rPr lang="en-US" altLang="zh-CN" sz="2200" i="1" dirty="0">
                <a:latin typeface="Times New Roman" panose="02020503050405090304" pitchFamily="18" charset="0"/>
              </a:rPr>
              <a:t>p  </a:t>
            </a:r>
            <a:r>
              <a:rPr lang="en-US" altLang="zh-CN" sz="2200" dirty="0">
                <a:latin typeface="Times New Roman" panose="02020503050405090304" pitchFamily="18" charset="0"/>
              </a:rPr>
              <a:t>and</a:t>
            </a:r>
            <a:r>
              <a:rPr lang="en-US" altLang="zh-CN" sz="2200" i="1" dirty="0">
                <a:latin typeface="Times New Roman" panose="02020503050405090304" pitchFamily="18" charset="0"/>
              </a:rPr>
              <a:t> q</a:t>
            </a:r>
            <a:r>
              <a:rPr lang="en-US" altLang="zh-CN" sz="2200" dirty="0">
                <a:latin typeface="Times New Roman" panose="02020503050405090304" pitchFamily="18" charset="0"/>
              </a:rPr>
              <a:t>, and an exponent </a:t>
            </a:r>
            <a:r>
              <a:rPr lang="en-US" altLang="zh-CN" sz="2200" i="1" dirty="0">
                <a:latin typeface="Times New Roman" panose="02020503050405090304" pitchFamily="18" charset="0"/>
              </a:rPr>
              <a:t>e</a:t>
            </a:r>
            <a:r>
              <a:rPr lang="en-US" altLang="zh-CN" sz="2200" dirty="0">
                <a:latin typeface="Times New Roman" panose="02020503050405090304" pitchFamily="18" charset="0"/>
              </a:rPr>
              <a:t> that is relatively prime to (</a:t>
            </a:r>
            <a:r>
              <a:rPr lang="en-US" altLang="zh-CN" sz="2200" i="1" dirty="0">
                <a:latin typeface="Times New Roman" panose="02020503050405090304" pitchFamily="18" charset="0"/>
              </a:rPr>
              <a:t>p</a:t>
            </a:r>
            <a:r>
              <a:rPr lang="en-US" altLang="zh-CN" sz="2200" dirty="0">
                <a:latin typeface="Times New Roman" panose="02020503050405090304" pitchFamily="18" charset="0"/>
              </a:rPr>
              <a:t>−1)(</a:t>
            </a:r>
            <a:r>
              <a:rPr lang="en-US" altLang="zh-CN" sz="2200" i="1" dirty="0">
                <a:latin typeface="Times New Roman" panose="02020503050405090304" pitchFamily="18" charset="0"/>
              </a:rPr>
              <a:t>q</a:t>
            </a:r>
            <a:r>
              <a:rPr lang="en-US" altLang="zh-CN" sz="2200" dirty="0">
                <a:latin typeface="Times New Roman" panose="02020503050405090304" pitchFamily="18" charset="0"/>
              </a:rPr>
              <a:t> −1). The two large primes can be quickly found using probabilistic primality tests, discussed earlier. But </a:t>
            </a:r>
            <a:r>
              <a:rPr lang="en-US" altLang="zh-CN" sz="2200" i="1" dirty="0">
                <a:latin typeface="Times New Roman" panose="02020503050405090304" pitchFamily="18" charset="0"/>
              </a:rPr>
              <a:t>n</a:t>
            </a:r>
            <a:r>
              <a:rPr lang="en-US" altLang="zh-CN" sz="2200" dirty="0">
                <a:latin typeface="Times New Roman" panose="02020503050405090304" pitchFamily="18" charset="0"/>
              </a:rPr>
              <a:t> = </a:t>
            </a:r>
            <a:r>
              <a:rPr lang="en-US" altLang="zh-CN" sz="2200" i="1" dirty="0" err="1">
                <a:latin typeface="Times New Roman" panose="02020503050405090304" pitchFamily="18" charset="0"/>
              </a:rPr>
              <a:t>pq</a:t>
            </a:r>
            <a:r>
              <a:rPr lang="en-US" altLang="zh-CN" sz="2200" dirty="0">
                <a:latin typeface="Times New Roman" panose="02020503050405090304" pitchFamily="18" charset="0"/>
              </a:rPr>
              <a:t>,  with approximately 400 digits, cannot be factored in a reasonable length of time.</a:t>
            </a:r>
            <a:endParaRPr lang="en-US" altLang="zh-CN" sz="2200" dirty="0">
              <a:latin typeface="Times New Roman" panose="02020503050405090304" pitchFamily="18" charset="0"/>
            </a:endParaRPr>
          </a:p>
        </p:txBody>
      </p:sp>
      <p:pic>
        <p:nvPicPr>
          <p:cNvPr id="27651" name="Content Placeholder 3" descr="0319.jpg"/>
          <p:cNvPicPr>
            <a:picLocks noChangeAspect="1"/>
          </p:cNvPicPr>
          <p:nvPr/>
        </p:nvPicPr>
        <p:blipFill>
          <a:blip r:embed="rId1"/>
          <a:stretch>
            <a:fillRect/>
          </a:stretch>
        </p:blipFill>
        <p:spPr>
          <a:xfrm>
            <a:off x="5929313" y="2249488"/>
            <a:ext cx="893762" cy="1035050"/>
          </a:xfrm>
          <a:prstGeom prst="rect">
            <a:avLst/>
          </a:prstGeom>
          <a:noFill/>
          <a:ln w="9525">
            <a:noFill/>
          </a:ln>
        </p:spPr>
      </p:pic>
      <p:pic>
        <p:nvPicPr>
          <p:cNvPr id="27652" name="Picture 4" descr="0317.jpg"/>
          <p:cNvPicPr>
            <a:picLocks noChangeAspect="1"/>
          </p:cNvPicPr>
          <p:nvPr/>
        </p:nvPicPr>
        <p:blipFill>
          <a:blip r:embed="rId2"/>
          <a:stretch>
            <a:fillRect/>
          </a:stretch>
        </p:blipFill>
        <p:spPr>
          <a:xfrm>
            <a:off x="1131888" y="2352675"/>
            <a:ext cx="893762" cy="1035050"/>
          </a:xfrm>
          <a:prstGeom prst="rect">
            <a:avLst/>
          </a:prstGeom>
          <a:noFill/>
          <a:ln w="9525">
            <a:noFill/>
          </a:ln>
        </p:spPr>
      </p:pic>
      <p:pic>
        <p:nvPicPr>
          <p:cNvPr id="27653" name="Picture 5" descr="0318.jpg"/>
          <p:cNvPicPr>
            <a:picLocks noChangeAspect="1"/>
          </p:cNvPicPr>
          <p:nvPr/>
        </p:nvPicPr>
        <p:blipFill>
          <a:blip r:embed="rId3"/>
          <a:stretch>
            <a:fillRect/>
          </a:stretch>
        </p:blipFill>
        <p:spPr>
          <a:xfrm>
            <a:off x="3563938" y="2276475"/>
            <a:ext cx="895350" cy="1036638"/>
          </a:xfrm>
          <a:prstGeom prst="rect">
            <a:avLst/>
          </a:prstGeom>
          <a:noFill/>
          <a:ln w="9525">
            <a:noFill/>
          </a:ln>
        </p:spPr>
      </p:pic>
      <p:sp>
        <p:nvSpPr>
          <p:cNvPr id="27654" name="TextBox 6"/>
          <p:cNvSpPr txBox="1"/>
          <p:nvPr/>
        </p:nvSpPr>
        <p:spPr>
          <a:xfrm>
            <a:off x="2068513" y="2449513"/>
            <a:ext cx="1676400" cy="584200"/>
          </a:xfrm>
          <a:prstGeom prst="rect">
            <a:avLst/>
          </a:prstGeom>
          <a:noFill/>
          <a:ln w="9525">
            <a:noFill/>
          </a:ln>
        </p:spPr>
        <p:txBody>
          <a:bodyPr anchor="t" anchorCtr="0">
            <a:spAutoFit/>
          </a:bodyPr>
          <a:p>
            <a:pPr eaLnBrk="0" hangingPunct="0">
              <a:buNone/>
            </a:pPr>
            <a:r>
              <a:rPr lang="en-US" altLang="zh-CN" sz="1600">
                <a:latin typeface="Times New Roman" panose="02020503050405090304" pitchFamily="18" charset="0"/>
              </a:rPr>
              <a:t>Ronald Rivest</a:t>
            </a:r>
            <a:endParaRPr lang="en-US" altLang="zh-CN" sz="1600">
              <a:latin typeface="Times New Roman" panose="02020503050405090304" pitchFamily="18" charset="0"/>
            </a:endParaRPr>
          </a:p>
          <a:p>
            <a:pPr eaLnBrk="0" hangingPunct="0">
              <a:buNone/>
            </a:pPr>
            <a:r>
              <a:rPr lang="en-US" altLang="zh-CN" sz="1600">
                <a:latin typeface="Times New Roman" panose="02020503050405090304" pitchFamily="18" charset="0"/>
              </a:rPr>
              <a:t>(Born </a:t>
            </a:r>
            <a:r>
              <a:rPr lang="en-US" altLang="zh-CN" sz="1600">
                <a:latin typeface="Cambria Math" pitchFamily="18" charset="0"/>
              </a:rPr>
              <a:t>1948</a:t>
            </a:r>
            <a:r>
              <a:rPr lang="en-US" altLang="zh-CN" sz="1600">
                <a:latin typeface="Times New Roman" panose="02020503050405090304" pitchFamily="18" charset="0"/>
              </a:rPr>
              <a:t>)</a:t>
            </a:r>
            <a:endParaRPr lang="en-US" altLang="zh-CN" sz="1600">
              <a:latin typeface="Times New Roman" panose="02020503050405090304" pitchFamily="18" charset="0"/>
            </a:endParaRPr>
          </a:p>
        </p:txBody>
      </p:sp>
      <p:sp>
        <p:nvSpPr>
          <p:cNvPr id="27655" name="TextBox 7"/>
          <p:cNvSpPr txBox="1"/>
          <p:nvPr/>
        </p:nvSpPr>
        <p:spPr>
          <a:xfrm>
            <a:off x="4484688" y="2568575"/>
            <a:ext cx="2590800" cy="584200"/>
          </a:xfrm>
          <a:prstGeom prst="rect">
            <a:avLst/>
          </a:prstGeom>
          <a:noFill/>
          <a:ln w="9525">
            <a:noFill/>
          </a:ln>
        </p:spPr>
        <p:txBody>
          <a:bodyPr anchor="t" anchorCtr="0">
            <a:spAutoFit/>
          </a:bodyPr>
          <a:p>
            <a:pPr eaLnBrk="0" hangingPunct="0">
              <a:buNone/>
            </a:pPr>
            <a:r>
              <a:rPr lang="en-US" altLang="zh-CN" sz="1600">
                <a:latin typeface="Times New Roman" panose="02020503050405090304" pitchFamily="18" charset="0"/>
              </a:rPr>
              <a:t>Adi Shamir</a:t>
            </a:r>
            <a:endParaRPr lang="en-US" altLang="zh-CN" sz="1600">
              <a:latin typeface="Times New Roman" panose="02020503050405090304" pitchFamily="18" charset="0"/>
            </a:endParaRPr>
          </a:p>
          <a:p>
            <a:pPr eaLnBrk="0" hangingPunct="0">
              <a:buNone/>
            </a:pPr>
            <a:r>
              <a:rPr lang="en-US" altLang="zh-CN" sz="1600">
                <a:latin typeface="Times New Roman" panose="02020503050405090304" pitchFamily="18" charset="0"/>
              </a:rPr>
              <a:t>(Born </a:t>
            </a:r>
            <a:r>
              <a:rPr lang="en-US" altLang="zh-CN" sz="1600">
                <a:latin typeface="Cambria Math" pitchFamily="18" charset="0"/>
              </a:rPr>
              <a:t>1952</a:t>
            </a:r>
            <a:r>
              <a:rPr lang="en-US" altLang="zh-CN" sz="1600">
                <a:latin typeface="Times New Roman" panose="02020503050405090304" pitchFamily="18" charset="0"/>
              </a:rPr>
              <a:t>)</a:t>
            </a:r>
            <a:endParaRPr lang="en-US" altLang="zh-CN" sz="1600">
              <a:latin typeface="Times New Roman" panose="02020503050405090304" pitchFamily="18" charset="0"/>
            </a:endParaRPr>
          </a:p>
        </p:txBody>
      </p:sp>
      <p:sp>
        <p:nvSpPr>
          <p:cNvPr id="27656" name="TextBox 8"/>
          <p:cNvSpPr txBox="1"/>
          <p:nvPr/>
        </p:nvSpPr>
        <p:spPr>
          <a:xfrm>
            <a:off x="6948488" y="2454275"/>
            <a:ext cx="2917825" cy="830263"/>
          </a:xfrm>
          <a:prstGeom prst="rect">
            <a:avLst/>
          </a:prstGeom>
          <a:noFill/>
          <a:ln w="9525">
            <a:noFill/>
          </a:ln>
        </p:spPr>
        <p:txBody>
          <a:bodyPr anchor="t" anchorCtr="0">
            <a:spAutoFit/>
          </a:bodyPr>
          <a:p>
            <a:pPr eaLnBrk="0" hangingPunct="0">
              <a:buNone/>
            </a:pPr>
            <a:r>
              <a:rPr lang="en-US" altLang="zh-CN" sz="1600">
                <a:latin typeface="Times New Roman" panose="02020503050405090304" pitchFamily="18" charset="0"/>
              </a:rPr>
              <a:t>Leonard </a:t>
            </a:r>
            <a:endParaRPr lang="en-US" altLang="zh-CN" sz="1600">
              <a:latin typeface="Times New Roman" panose="02020503050405090304" pitchFamily="18" charset="0"/>
            </a:endParaRPr>
          </a:p>
          <a:p>
            <a:pPr eaLnBrk="0" hangingPunct="0">
              <a:buNone/>
            </a:pPr>
            <a:r>
              <a:rPr lang="en-US" altLang="zh-CN" sz="1600">
                <a:latin typeface="Times New Roman" panose="02020503050405090304" pitchFamily="18" charset="0"/>
              </a:rPr>
              <a:t>Adelman</a:t>
            </a:r>
            <a:endParaRPr lang="en-US" altLang="zh-CN" sz="1600">
              <a:latin typeface="Times New Roman" panose="02020503050405090304" pitchFamily="18" charset="0"/>
            </a:endParaRPr>
          </a:p>
          <a:p>
            <a:pPr eaLnBrk="0" hangingPunct="0">
              <a:buNone/>
            </a:pPr>
            <a:r>
              <a:rPr lang="en-US" altLang="zh-CN" sz="1600">
                <a:latin typeface="Times New Roman" panose="02020503050405090304" pitchFamily="18" charset="0"/>
              </a:rPr>
              <a:t>(Born </a:t>
            </a:r>
            <a:r>
              <a:rPr lang="en-US" altLang="zh-CN" sz="1600">
                <a:latin typeface="Cambria Math" pitchFamily="18" charset="0"/>
              </a:rPr>
              <a:t>1945</a:t>
            </a:r>
            <a:r>
              <a:rPr lang="en-US" altLang="zh-CN" sz="1600">
                <a:latin typeface="Times New Roman" panose="02020503050405090304" pitchFamily="18" charset="0"/>
              </a:rPr>
              <a:t>)</a:t>
            </a:r>
            <a:endParaRPr lang="en-US" altLang="zh-CN" sz="1600">
              <a:latin typeface="Times New Roman" panose="02020503050405090304" pitchFamily="18" charset="0"/>
            </a:endParaRPr>
          </a:p>
        </p:txBody>
      </p:sp>
      <p:pic>
        <p:nvPicPr>
          <p:cNvPr id="27657" name="Picture 9" descr="clifford_cocks.jpg"/>
          <p:cNvPicPr>
            <a:picLocks noChangeAspect="1"/>
          </p:cNvPicPr>
          <p:nvPr/>
        </p:nvPicPr>
        <p:blipFill>
          <a:blip r:embed="rId4"/>
          <a:stretch>
            <a:fillRect/>
          </a:stretch>
        </p:blipFill>
        <p:spPr>
          <a:xfrm>
            <a:off x="7885113" y="44450"/>
            <a:ext cx="1023937" cy="1049338"/>
          </a:xfrm>
          <a:prstGeom prst="rect">
            <a:avLst/>
          </a:prstGeom>
          <a:noFill/>
          <a:ln w="9525">
            <a:noFill/>
          </a:ln>
        </p:spPr>
      </p:pic>
      <p:sp>
        <p:nvSpPr>
          <p:cNvPr id="27658" name="TextBox 10"/>
          <p:cNvSpPr txBox="1"/>
          <p:nvPr/>
        </p:nvSpPr>
        <p:spPr>
          <a:xfrm>
            <a:off x="7524750" y="981075"/>
            <a:ext cx="2516188" cy="708025"/>
          </a:xfrm>
          <a:prstGeom prst="rect">
            <a:avLst/>
          </a:prstGeom>
          <a:noFill/>
          <a:ln w="9525">
            <a:noFill/>
          </a:ln>
        </p:spPr>
        <p:txBody>
          <a:bodyPr anchor="t" anchorCtr="0">
            <a:spAutoFit/>
          </a:bodyPr>
          <a:p>
            <a:pPr eaLnBrk="0" hangingPunct="0">
              <a:buNone/>
            </a:pPr>
            <a:r>
              <a:rPr lang="en-US" altLang="zh-CN" sz="2000">
                <a:latin typeface="Times New Roman" panose="02020503050405090304" pitchFamily="18" charset="0"/>
              </a:rPr>
              <a:t>Clifford Cocks</a:t>
            </a:r>
            <a:endParaRPr lang="en-US" altLang="zh-CN" sz="2000">
              <a:latin typeface="Times New Roman" panose="02020503050405090304" pitchFamily="18" charset="0"/>
            </a:endParaRPr>
          </a:p>
          <a:p>
            <a:pPr eaLnBrk="0" hangingPunct="0">
              <a:buNone/>
            </a:pPr>
            <a:r>
              <a:rPr lang="en-US" altLang="zh-CN" sz="2000">
                <a:latin typeface="Times New Roman" panose="02020503050405090304" pitchFamily="18" charset="0"/>
              </a:rPr>
              <a:t>(Born </a:t>
            </a:r>
            <a:r>
              <a:rPr lang="en-US" altLang="zh-CN" sz="2000">
                <a:latin typeface="Cambria Math" pitchFamily="18" charset="0"/>
              </a:rPr>
              <a:t>1950</a:t>
            </a:r>
            <a:r>
              <a:rPr lang="en-US" altLang="zh-CN" sz="2000">
                <a:latin typeface="Times New Roman" panose="02020503050405090304" pitchFamily="18" charset="0"/>
              </a:rPr>
              <a:t>)</a:t>
            </a:r>
            <a:endParaRPr lang="en-US" altLang="zh-CN">
              <a:latin typeface="Times New Roman" panose="0202050305040509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Title 1"/>
          <p:cNvSpPr>
            <a:spLocks noGrp="1"/>
          </p:cNvSpPr>
          <p:nvPr>
            <p:ph type="title"/>
          </p:nvPr>
        </p:nvSpPr>
        <p:spPr>
          <a:ln/>
        </p:spPr>
        <p:txBody>
          <a:bodyPr vert="horz" wrap="square" lIns="91440" tIns="45720" rIns="91440" bIns="45720" anchor="b" anchorCtr="0"/>
          <a:p>
            <a:r>
              <a:rPr lang="en-US" altLang="zh-CN"/>
              <a:t>RSA Encryption</a:t>
            </a:r>
            <a:endParaRPr lang="en-US" altLang="zh-CN"/>
          </a:p>
        </p:txBody>
      </p:sp>
      <p:sp>
        <p:nvSpPr>
          <p:cNvPr id="3" name="Content Placeholder 2"/>
          <p:cNvSpPr>
            <a:spLocks noGrp="1"/>
          </p:cNvSpPr>
          <p:nvPr>
            <p:ph idx="1"/>
          </p:nvPr>
        </p:nvSpPr>
        <p:spPr/>
        <p:txBody>
          <a:bodyPr>
            <a:normAutofit fontScale="85000" lnSpcReduction="10000"/>
          </a:bodyPr>
          <a:lstStyle/>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To encrypt a message using RSA using a key (</a:t>
            </a:r>
            <a:r>
              <a:rPr kumimoji="1" lang="en-US" sz="32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n</a:t>
            </a:r>
            <a:r>
              <a:rPr kumimoji="1" lang="en-US" sz="32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a:t>
            </a:r>
            <a:r>
              <a:rPr kumimoji="1" lang="en-US" sz="32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e</a:t>
            </a:r>
            <a:r>
              <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endParaRPr kumimoji="1" lang="en-US"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80110" marR="0" lvl="1" indent="-514350" algn="l" defTabSz="914400" rtl="0" eaLnBrk="0" fontAlgn="base" latinLnBrk="0" hangingPunct="0">
              <a:lnSpc>
                <a:spcPct val="100000"/>
              </a:lnSpc>
              <a:spcBef>
                <a:spcPct val="20000"/>
              </a:spcBef>
              <a:spcAft>
                <a:spcPct val="0"/>
              </a:spcAft>
              <a:buClr>
                <a:schemeClr val="hlink"/>
              </a:buClr>
              <a:buSzPct val="55000"/>
              <a:buFont typeface="+mj-lt"/>
              <a:buAutoNum type="romanLcPeriod"/>
              <a:defRPr/>
            </a:pP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Translate the plaintext message </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into sequences of two digit integers representing the letters.  Use </a:t>
            </a:r>
            <a:r>
              <a:rPr kumimoji="1" lang="en-US" sz="28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00</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for A, </a:t>
            </a:r>
            <a:r>
              <a:rPr kumimoji="1" lang="en-US" sz="28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01</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for B, etc.</a:t>
            </a:r>
            <a:endPar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80110" marR="0" lvl="1" indent="-514350" algn="l" defTabSz="914400" rtl="0" eaLnBrk="0" fontAlgn="base" latinLnBrk="0" hangingPunct="0">
              <a:lnSpc>
                <a:spcPct val="100000"/>
              </a:lnSpc>
              <a:spcBef>
                <a:spcPct val="20000"/>
              </a:spcBef>
              <a:spcAft>
                <a:spcPct val="0"/>
              </a:spcAft>
              <a:buClr>
                <a:schemeClr val="hlink"/>
              </a:buClr>
              <a:buSzPct val="55000"/>
              <a:buFont typeface="+mj-lt"/>
              <a:buAutoNum type="romanLcPeriod"/>
              <a:defRPr/>
            </a:pP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Concatenate the two digit integers into strings of digits. </a:t>
            </a:r>
            <a:endPar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80110" marR="0" lvl="1" indent="-514350" algn="l" defTabSz="914400" rtl="0" eaLnBrk="0" fontAlgn="base" latinLnBrk="0" hangingPunct="0">
              <a:lnSpc>
                <a:spcPct val="100000"/>
              </a:lnSpc>
              <a:spcBef>
                <a:spcPct val="20000"/>
              </a:spcBef>
              <a:spcAft>
                <a:spcPct val="0"/>
              </a:spcAft>
              <a:buClr>
                <a:schemeClr val="hlink"/>
              </a:buClr>
              <a:buSzPct val="55000"/>
              <a:buFont typeface="+mj-lt"/>
              <a:buAutoNum type="romanLcPeriod"/>
              <a:defRPr/>
            </a:pP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Divide this string into equally sized blocks of </a:t>
            </a:r>
            <a:r>
              <a:rPr kumimoji="1" lang="en-US" sz="28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2</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N</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digits where </a:t>
            </a:r>
            <a:r>
              <a:rPr kumimoji="1" lang="en-US" sz="28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2</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N</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is the largest even number </a:t>
            </a:r>
            <a:r>
              <a:rPr kumimoji="1" lang="en-US" sz="28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2525…25</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with </a:t>
            </a:r>
            <a:r>
              <a:rPr kumimoji="1" lang="en-US" sz="28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2</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N</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digits that does not exceed </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n</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endPar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80110" marR="0" lvl="1" indent="-514350" algn="l" defTabSz="914400" rtl="0" eaLnBrk="0" fontAlgn="base" latinLnBrk="0" hangingPunct="0">
              <a:lnSpc>
                <a:spcPct val="100000"/>
              </a:lnSpc>
              <a:spcBef>
                <a:spcPct val="20000"/>
              </a:spcBef>
              <a:spcAft>
                <a:spcPct val="0"/>
              </a:spcAft>
              <a:buClr>
                <a:schemeClr val="hlink"/>
              </a:buClr>
              <a:buSzPct val="55000"/>
              <a:buFont typeface="+mj-lt"/>
              <a:buAutoNum type="romanLcPeriod"/>
              <a:defRPr/>
            </a:pP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The plaintext message M is now a sequence of  integers </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a:t>
            </a:r>
            <a:r>
              <a:rPr kumimoji="1" lang="en-US" sz="2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1</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a:t>
            </a:r>
            <a:r>
              <a:rPr kumimoji="1" lang="en-US" sz="2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2</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a:t>
            </a:r>
            <a:r>
              <a:rPr kumimoji="1" lang="en-US" sz="2800" b="0" i="1"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k</a:t>
            </a: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80110" marR="0" lvl="1" indent="-514350" algn="l" defTabSz="914400" rtl="0" eaLnBrk="0" fontAlgn="base" latinLnBrk="0" hangingPunct="0">
              <a:lnSpc>
                <a:spcPct val="100000"/>
              </a:lnSpc>
              <a:spcBef>
                <a:spcPct val="20000"/>
              </a:spcBef>
              <a:spcAft>
                <a:spcPct val="0"/>
              </a:spcAft>
              <a:buClr>
                <a:schemeClr val="hlink"/>
              </a:buClr>
              <a:buSzPct val="55000"/>
              <a:buFont typeface="+mj-lt"/>
              <a:buAutoNum type="romanLcPeriod"/>
              <a:defRPr/>
            </a:pPr>
            <a:r>
              <a:rPr kumimoji="1" lang="en-US"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Each block  (an integer) is encrypted using the function </a:t>
            </a:r>
            <a:r>
              <a:rPr kumimoji="1" lang="en-US" sz="2800" b="0" i="1" u="none" strike="noStrike" kern="0" cap="none" spc="0" normalizeH="0" baseline="0" noProof="1" dirty="0">
                <a:solidFill>
                  <a:schemeClr val="tx1"/>
                </a:solidFill>
                <a:latin typeface="Times New Roman" panose="02020503050405090304" pitchFamily="18" charset="0"/>
                <a:ea typeface="Cambria Math"/>
                <a:cs typeface="Times New Roman" panose="02020503050405090304" pitchFamily="18" charset="0"/>
              </a:rPr>
              <a:t>C</a:t>
            </a:r>
            <a:r>
              <a:rPr kumimoji="1" lang="en-US" sz="2800" b="0" i="0" u="none" strike="noStrike" kern="0" cap="none" spc="0" normalizeH="0" baseline="0" noProof="1" dirty="0">
                <a:solidFill>
                  <a:schemeClr val="tx1"/>
                </a:solidFill>
                <a:latin typeface="Times New Roman" panose="02020503050405090304" pitchFamily="18" charset="0"/>
                <a:ea typeface="Cambria Math"/>
                <a:cs typeface="Times New Roman" panose="02020503050405090304" pitchFamily="18" charset="0"/>
              </a:rPr>
              <a:t> = </a:t>
            </a:r>
            <a:r>
              <a:rPr kumimoji="1" lang="en-US" sz="2800" b="0" i="1" u="none" strike="noStrike" kern="0" cap="none" spc="0" normalizeH="0" baseline="0" noProof="1" dirty="0">
                <a:solidFill>
                  <a:schemeClr val="tx1"/>
                </a:solidFill>
                <a:latin typeface="Times New Roman" panose="02020503050405090304" pitchFamily="18" charset="0"/>
                <a:ea typeface="Cambria Math"/>
                <a:cs typeface="Times New Roman" panose="02020503050405090304" pitchFamily="18" charset="0"/>
              </a:rPr>
              <a:t>M</a:t>
            </a:r>
            <a:r>
              <a:rPr kumimoji="1" lang="en-US" sz="2800" b="0" i="1" u="none" strike="noStrike" kern="0" cap="none" spc="0" normalizeH="0" baseline="30000" noProof="1" dirty="0">
                <a:solidFill>
                  <a:schemeClr val="tx1"/>
                </a:solidFill>
                <a:latin typeface="Times New Roman" panose="02020503050405090304" pitchFamily="18" charset="0"/>
                <a:ea typeface="Cambria Math"/>
                <a:cs typeface="Times New Roman" panose="02020503050405090304" pitchFamily="18" charset="0"/>
              </a:rPr>
              <a:t>e</a:t>
            </a:r>
            <a:r>
              <a:rPr kumimoji="1" lang="en-US" sz="2800" b="0" i="0" u="none" strike="noStrike" kern="0" cap="none" spc="0" normalizeH="0" baseline="0" noProof="1" dirty="0">
                <a:solidFill>
                  <a:schemeClr val="tx1"/>
                </a:solidFill>
                <a:latin typeface="Times New Roman" panose="02020503050405090304" pitchFamily="18" charset="0"/>
                <a:ea typeface="Cambria Math"/>
                <a:cs typeface="Times New Roman" panose="02020503050405090304" pitchFamily="18" charset="0"/>
              </a:rPr>
              <a:t> </a:t>
            </a:r>
            <a:r>
              <a:rPr kumimoji="1" lang="en-US" sz="2800" b="1" i="0" u="none" strike="noStrike" kern="0" cap="none" spc="0" normalizeH="0" baseline="0" noProof="1" dirty="0">
                <a:solidFill>
                  <a:schemeClr val="tx1"/>
                </a:solidFill>
                <a:latin typeface="Times New Roman" panose="02020503050405090304" pitchFamily="18" charset="0"/>
                <a:ea typeface="Cambria Math"/>
                <a:cs typeface="Times New Roman" panose="02020503050405090304" pitchFamily="18" charset="0"/>
              </a:rPr>
              <a:t>mod</a:t>
            </a:r>
            <a:r>
              <a:rPr kumimoji="1" lang="en-US" sz="2800" b="0" i="0" u="none" strike="noStrike" kern="0" cap="none" spc="0" normalizeH="0" baseline="0" noProof="1" dirty="0">
                <a:solidFill>
                  <a:schemeClr val="tx1"/>
                </a:solidFill>
                <a:latin typeface="Times New Roman" panose="02020503050405090304" pitchFamily="18" charset="0"/>
                <a:ea typeface="Cambria Math"/>
                <a:cs typeface="Times New Roman" panose="02020503050405090304" pitchFamily="18" charset="0"/>
              </a:rPr>
              <a:t> </a:t>
            </a:r>
            <a:r>
              <a:rPr kumimoji="1" lang="en-US" sz="2800" b="0" i="1" u="none" strike="noStrike" kern="0" cap="none" spc="0" normalizeH="0" baseline="0" noProof="1" dirty="0">
                <a:solidFill>
                  <a:schemeClr val="tx1"/>
                </a:solidFill>
                <a:latin typeface="Times New Roman" panose="02020503050405090304" pitchFamily="18" charset="0"/>
                <a:ea typeface="Cambria Math"/>
                <a:cs typeface="Times New Roman" panose="02020503050405090304" pitchFamily="18" charset="0"/>
              </a:rPr>
              <a:t>n.</a:t>
            </a:r>
            <a:endParaRPr kumimoji="1" lang="en-US"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en-US" sz="3200" b="0" i="0" u="none" strike="noStrike" kern="0" cap="none" spc="0" normalizeH="0" baseline="0" noProof="1" dirty="0">
              <a:solidFill>
                <a:schemeClr val="tx1"/>
              </a:solidFill>
              <a:latin typeface="+mn-lt"/>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Title 1"/>
          <p:cNvSpPr>
            <a:spLocks noGrp="1"/>
          </p:cNvSpPr>
          <p:nvPr>
            <p:ph type="title"/>
          </p:nvPr>
        </p:nvSpPr>
        <p:spPr>
          <a:ln/>
        </p:spPr>
        <p:txBody>
          <a:bodyPr vert="horz" wrap="square" lIns="91440" tIns="45720" rIns="91440" bIns="45720" anchor="b" anchorCtr="0"/>
          <a:p>
            <a:r>
              <a:rPr lang="en-US" altLang="zh-CN"/>
              <a:t>RSA Encryption</a:t>
            </a:r>
            <a:endParaRPr lang="en-US" altLang="zh-CN"/>
          </a:p>
        </p:txBody>
      </p:sp>
      <p:sp>
        <p:nvSpPr>
          <p:cNvPr id="3" name="Content Placeholder 2"/>
          <p:cNvSpPr>
            <a:spLocks noGrp="1"/>
          </p:cNvSpPr>
          <p:nvPr>
            <p:ph idx="1"/>
          </p:nvPr>
        </p:nvSpPr>
        <p:spPr>
          <a:xfrm>
            <a:off x="0" y="1341438"/>
            <a:ext cx="8707438" cy="4864100"/>
          </a:xfrm>
        </p:spPr>
        <p:txBody>
          <a:bodyPr>
            <a:normAutofit fontScale="92500" lnSpcReduction="10000"/>
          </a:bodyPr>
          <a:lstStyle/>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endParaRPr kumimoji="1" lang="en-US" altLang="zh-CN" sz="2500" b="0" i="0" u="none" strike="noStrike" kern="0" cap="none" spc="0" normalizeH="0" baseline="0" noProof="1" dirty="0">
              <a:solidFill>
                <a:schemeClr val="tx1"/>
              </a:solidFill>
              <a:latin typeface="+mn-lt"/>
              <a:ea typeface="+mn-ea"/>
              <a:cs typeface="+mn-cs"/>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32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Example</a:t>
            </a:r>
            <a:r>
              <a:rPr kumimoji="1" lang="en-US" altLang="zh-CN"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Encrypt the message STOP using the RSA cryptosystem with key(2537,13). </a:t>
            </a:r>
            <a:endParaRPr kumimoji="1" lang="en-US" altLang="zh-CN"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80000"/>
              </a:lnSpc>
              <a:spcBef>
                <a:spcPct val="20000"/>
              </a:spcBef>
              <a:spcAft>
                <a:spcPct val="0"/>
              </a:spcAft>
              <a:buClr>
                <a:schemeClr val="hlink"/>
              </a:buClr>
              <a:buSzPct val="55000"/>
              <a:buFont typeface="Wingdings" panose="05000000000000000000" pitchFamily="2" charset="2"/>
              <a:buChar char="n"/>
              <a:defRPr/>
            </a:pP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2537 = 43∙ 59,</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80000"/>
              </a:lnSpc>
              <a:spcBef>
                <a:spcPct val="20000"/>
              </a:spcBef>
              <a:spcAft>
                <a:spcPct val="0"/>
              </a:spcAft>
              <a:buClr>
                <a:schemeClr val="hlink"/>
              </a:buClr>
              <a:buSzPct val="55000"/>
              <a:buFont typeface="Wingdings" panose="05000000000000000000" pitchFamily="2" charset="2"/>
              <a:buChar char="n"/>
              <a:defRPr/>
            </a:pP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43 and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59 are primes and </a:t>
            </a:r>
            <a:r>
              <a:rPr kumimoji="1" lang="en-US" altLang="zh-CN" sz="28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gcd</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e</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−1)(</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−1)) = </a:t>
            </a:r>
            <a:r>
              <a:rPr kumimoji="1" lang="en-US" altLang="zh-CN" sz="28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gcd</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(13, 42∙ 58) = 1. </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32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Solution</a:t>
            </a:r>
            <a:r>
              <a:rPr kumimoji="1" lang="en-US" altLang="zh-CN"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Translate the letters in STOP to their numerical equivalents 18 19  14 15.</a:t>
            </a:r>
            <a:endParaRPr kumimoji="1" lang="en-US" altLang="zh-CN" sz="32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80000"/>
              </a:lnSpc>
              <a:spcBef>
                <a:spcPct val="20000"/>
              </a:spcBef>
              <a:spcAft>
                <a:spcPct val="0"/>
              </a:spcAft>
              <a:buClr>
                <a:schemeClr val="hlink"/>
              </a:buClr>
              <a:buSzPct val="55000"/>
              <a:buFont typeface="Wingdings" panose="05000000000000000000" pitchFamily="2" charset="2"/>
              <a:buChar char="n"/>
              <a:defRPr/>
            </a:pP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Divide into blocks of four digits (because 2525 &lt; 2537 &lt; 252525) to obtain 1819 1415.</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80000"/>
              </a:lnSpc>
              <a:spcBef>
                <a:spcPct val="20000"/>
              </a:spcBef>
              <a:spcAft>
                <a:spcPct val="0"/>
              </a:spcAft>
              <a:buClr>
                <a:schemeClr val="hlink"/>
              </a:buClr>
              <a:buSzPct val="55000"/>
              <a:buFont typeface="Wingdings" panose="05000000000000000000" pitchFamily="2" charset="2"/>
              <a:buChar char="n"/>
              <a:defRPr/>
            </a:pP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Encrypt each block using the mapping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a:t>
            </a:r>
            <a:r>
              <a:rPr kumimoji="1" lang="en-US" altLang="zh-CN" sz="2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a:t>
            </a:r>
            <a:r>
              <a:rPr kumimoji="1" lang="en-US" altLang="zh-CN" sz="2800" b="0" i="0"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13</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2537.</a:t>
            </a:r>
            <a:endPar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742950" marR="0" lvl="1" indent="-285750" algn="l" defTabSz="914400" rtl="0" eaLnBrk="0" fontAlgn="base" latinLnBrk="0" hangingPunct="0">
              <a:lnSpc>
                <a:spcPct val="80000"/>
              </a:lnSpc>
              <a:spcBef>
                <a:spcPct val="20000"/>
              </a:spcBef>
              <a:spcAft>
                <a:spcPct val="0"/>
              </a:spcAft>
              <a:buClr>
                <a:schemeClr val="hlink"/>
              </a:buClr>
              <a:buSzPct val="55000"/>
              <a:buFont typeface="Wingdings" panose="05000000000000000000" pitchFamily="2" charset="2"/>
              <a:buChar char="n"/>
              <a:defRPr/>
            </a:pP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Since 1819</a:t>
            </a:r>
            <a:r>
              <a:rPr kumimoji="1" lang="en-US" altLang="zh-CN" sz="2800" b="0" i="0"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13</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mod 2537 = 2081 and 1415</a:t>
            </a:r>
            <a:r>
              <a:rPr kumimoji="1" lang="en-US" altLang="zh-CN" sz="2800" b="0" i="0"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13</a:t>
            </a:r>
            <a:r>
              <a:rPr kumimoji="1" lang="en-US" altLang="zh-CN" sz="2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mod 2537 = 2182, the encrypted message is 2081 2182</a:t>
            </a:r>
            <a:r>
              <a:rPr kumimoji="1" lang="en-US" altLang="zh-CN" sz="2200" b="0" i="0" u="none" strike="noStrike" kern="0" cap="none" spc="0" normalizeH="0" baseline="0" noProof="1" dirty="0">
                <a:solidFill>
                  <a:schemeClr val="tx1"/>
                </a:solidFill>
                <a:latin typeface="Cambria Math" pitchFamily="18" charset="0"/>
                <a:ea typeface="+mn-ea"/>
                <a:cs typeface="+mn-ea"/>
              </a:rPr>
              <a:t>.</a:t>
            </a:r>
            <a:endParaRPr kumimoji="1" lang="en-US" altLang="zh-CN" sz="2200" b="0" i="0" u="none" strike="noStrike" kern="0" cap="none" spc="0" normalizeH="0" baseline="0" noProof="1" dirty="0">
              <a:solidFill>
                <a:schemeClr val="tx1"/>
              </a:solidFill>
              <a:latin typeface="+mn-lt"/>
              <a:ea typeface="+mn-ea"/>
              <a:cs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Title 1"/>
          <p:cNvSpPr>
            <a:spLocks noGrp="1"/>
          </p:cNvSpPr>
          <p:nvPr>
            <p:ph type="title"/>
          </p:nvPr>
        </p:nvSpPr>
        <p:spPr>
          <a:ln/>
        </p:spPr>
        <p:txBody>
          <a:bodyPr vert="horz" wrap="square" lIns="91440" tIns="45720" rIns="91440" bIns="45720" anchor="b" anchorCtr="0"/>
          <a:p>
            <a:r>
              <a:rPr lang="en-US" altLang="zh-CN"/>
              <a:t>RSA Decryption</a:t>
            </a:r>
            <a:endParaRPr lang="en-US" altLang="zh-CN"/>
          </a:p>
        </p:txBody>
      </p:sp>
      <p:sp>
        <p:nvSpPr>
          <p:cNvPr id="30722" name="Content Placeholder 2"/>
          <p:cNvSpPr>
            <a:spLocks noGrp="1"/>
          </p:cNvSpPr>
          <p:nvPr>
            <p:ph idx="1"/>
          </p:nvPr>
        </p:nvSpPr>
        <p:spPr>
          <a:xfrm>
            <a:off x="147638" y="1341438"/>
            <a:ext cx="8848725" cy="4864100"/>
          </a:xfrm>
          <a:ln/>
        </p:spPr>
        <p:txBody>
          <a:bodyPr vert="horz" wrap="square" lIns="91440" tIns="45720" rIns="91440" bIns="45720" anchor="t" anchorCtr="0"/>
          <a:p>
            <a:pPr>
              <a:lnSpc>
                <a:spcPct val="80000"/>
              </a:lnSpc>
            </a:pPr>
            <a:r>
              <a:rPr lang="en-US" altLang="zh-CN" sz="2800">
                <a:latin typeface="Times New Roman" panose="02020503050405090304" pitchFamily="18" charset="0"/>
              </a:rPr>
              <a:t>To decrypt a RSA ciphertext message, the decryption key </a:t>
            </a:r>
            <a:r>
              <a:rPr lang="en-US" altLang="zh-CN" sz="2800" i="1">
                <a:latin typeface="Times New Roman" panose="02020503050405090304" pitchFamily="18" charset="0"/>
              </a:rPr>
              <a:t>d</a:t>
            </a:r>
            <a:r>
              <a:rPr lang="en-US" altLang="zh-CN" sz="2800">
                <a:latin typeface="Times New Roman" panose="02020503050405090304" pitchFamily="18" charset="0"/>
              </a:rPr>
              <a:t>, an inverse of </a:t>
            </a:r>
            <a:r>
              <a:rPr lang="en-US" altLang="zh-CN" sz="2800" i="1">
                <a:latin typeface="Times New Roman" panose="02020503050405090304" pitchFamily="18" charset="0"/>
              </a:rPr>
              <a:t>e</a:t>
            </a:r>
            <a:r>
              <a:rPr lang="en-US" altLang="zh-CN" sz="2800">
                <a:latin typeface="Times New Roman" panose="02020503050405090304" pitchFamily="18" charset="0"/>
              </a:rPr>
              <a:t> modulo (</a:t>
            </a:r>
            <a:r>
              <a:rPr lang="en-US" altLang="zh-CN" sz="2800" i="1">
                <a:latin typeface="Times New Roman" panose="02020503050405090304" pitchFamily="18" charset="0"/>
              </a:rPr>
              <a:t>p</a:t>
            </a:r>
            <a:r>
              <a:rPr lang="en-US" altLang="zh-CN" sz="2800">
                <a:latin typeface="Times New Roman" panose="02020503050405090304" pitchFamily="18" charset="0"/>
              </a:rPr>
              <a:t>−1)(</a:t>
            </a:r>
            <a:r>
              <a:rPr lang="en-US" altLang="zh-CN" sz="2800" i="1">
                <a:latin typeface="Times New Roman" panose="02020503050405090304" pitchFamily="18" charset="0"/>
              </a:rPr>
              <a:t>q</a:t>
            </a:r>
            <a:r>
              <a:rPr lang="en-US" altLang="zh-CN" sz="2800">
                <a:latin typeface="Times New Roman" panose="02020503050405090304" pitchFamily="18" charset="0"/>
              </a:rPr>
              <a:t> −1) is needed. The inverse exists since gcd(</a:t>
            </a:r>
            <a:r>
              <a:rPr lang="en-US" altLang="zh-CN" sz="2800" i="1">
                <a:latin typeface="Times New Roman" panose="02020503050405090304" pitchFamily="18" charset="0"/>
              </a:rPr>
              <a:t>e</a:t>
            </a:r>
            <a:r>
              <a:rPr lang="en-US" altLang="zh-CN" sz="2800">
                <a:latin typeface="Times New Roman" panose="02020503050405090304" pitchFamily="18" charset="0"/>
              </a:rPr>
              <a:t>,(</a:t>
            </a:r>
            <a:r>
              <a:rPr lang="en-US" altLang="zh-CN" sz="2800" i="1">
                <a:latin typeface="Times New Roman" panose="02020503050405090304" pitchFamily="18" charset="0"/>
              </a:rPr>
              <a:t>p</a:t>
            </a:r>
            <a:r>
              <a:rPr lang="en-US" altLang="zh-CN" sz="2800">
                <a:latin typeface="Times New Roman" panose="02020503050405090304" pitchFamily="18" charset="0"/>
              </a:rPr>
              <a:t>−1)(</a:t>
            </a:r>
            <a:r>
              <a:rPr lang="en-US" altLang="zh-CN" sz="2800" i="1">
                <a:latin typeface="Times New Roman" panose="02020503050405090304" pitchFamily="18" charset="0"/>
              </a:rPr>
              <a:t>q</a:t>
            </a:r>
            <a:r>
              <a:rPr lang="en-US" altLang="zh-CN" sz="2800">
                <a:latin typeface="Times New Roman" panose="02020503050405090304" pitchFamily="18" charset="0"/>
              </a:rPr>
              <a:t> −1)) = gcd(13, 42∙ 58) = 1.</a:t>
            </a:r>
            <a:endParaRPr lang="en-US" altLang="zh-CN" sz="2800">
              <a:latin typeface="Times New Roman" panose="02020503050405090304" pitchFamily="18" charset="0"/>
            </a:endParaRPr>
          </a:p>
          <a:p>
            <a:pPr>
              <a:lnSpc>
                <a:spcPct val="80000"/>
              </a:lnSpc>
            </a:pPr>
            <a:r>
              <a:rPr lang="en-US" altLang="zh-CN" sz="2800">
                <a:latin typeface="Times New Roman" panose="02020503050405090304" pitchFamily="18" charset="0"/>
              </a:rPr>
              <a:t>With the decryption key </a:t>
            </a:r>
            <a:r>
              <a:rPr lang="en-US" altLang="zh-CN" sz="2800" i="1">
                <a:latin typeface="Times New Roman" panose="02020503050405090304" pitchFamily="18" charset="0"/>
              </a:rPr>
              <a:t>d</a:t>
            </a:r>
            <a:r>
              <a:rPr lang="en-US" altLang="zh-CN" sz="2800">
                <a:latin typeface="Times New Roman" panose="02020503050405090304" pitchFamily="18" charset="0"/>
              </a:rPr>
              <a:t>, we can decrypt each block  with the computation      </a:t>
            </a:r>
            <a:r>
              <a:rPr lang="en-US" altLang="zh-CN" sz="2800" i="1">
                <a:latin typeface="Times New Roman" panose="02020503050405090304" pitchFamily="18" charset="0"/>
              </a:rPr>
              <a:t>M</a:t>
            </a:r>
            <a:r>
              <a:rPr lang="en-US" altLang="zh-CN" sz="2800">
                <a:latin typeface="Times New Roman" panose="02020503050405090304" pitchFamily="18" charset="0"/>
              </a:rPr>
              <a:t> = </a:t>
            </a:r>
            <a:r>
              <a:rPr lang="en-US" altLang="zh-CN" sz="2800" i="1">
                <a:latin typeface="Times New Roman" panose="02020503050405090304" pitchFamily="18" charset="0"/>
              </a:rPr>
              <a:t>C</a:t>
            </a:r>
            <a:r>
              <a:rPr lang="en-US" altLang="zh-CN" sz="2800" i="1" baseline="30000">
                <a:latin typeface="Times New Roman" panose="02020503050405090304" pitchFamily="18" charset="0"/>
              </a:rPr>
              <a:t>d</a:t>
            </a:r>
            <a:r>
              <a:rPr lang="en-US" altLang="zh-CN" sz="2800">
                <a:latin typeface="Times New Roman" panose="02020503050405090304" pitchFamily="18" charset="0"/>
              </a:rPr>
              <a:t> </a:t>
            </a:r>
            <a:r>
              <a:rPr lang="en-US" altLang="zh-CN" sz="2800" b="1">
                <a:latin typeface="Times New Roman" panose="02020503050405090304" pitchFamily="18" charset="0"/>
              </a:rPr>
              <a:t>mod</a:t>
            </a:r>
            <a:r>
              <a:rPr lang="en-US" altLang="zh-CN" sz="2800">
                <a:latin typeface="Times New Roman" panose="02020503050405090304" pitchFamily="18" charset="0"/>
              </a:rPr>
              <a:t> </a:t>
            </a:r>
            <a:r>
              <a:rPr lang="en-US" altLang="zh-CN" sz="2800" i="1">
                <a:latin typeface="Times New Roman" panose="02020503050405090304" pitchFamily="18" charset="0"/>
              </a:rPr>
              <a:t>p∙q. </a:t>
            </a:r>
            <a:r>
              <a:rPr lang="en-US" altLang="zh-CN" sz="2800">
                <a:latin typeface="Times New Roman" panose="02020503050405090304" pitchFamily="18" charset="0"/>
              </a:rPr>
              <a:t>(</a:t>
            </a:r>
            <a:r>
              <a:rPr lang="en-US" altLang="zh-CN" sz="2800" i="1">
                <a:latin typeface="Times New Roman" panose="02020503050405090304" pitchFamily="18" charset="0"/>
              </a:rPr>
              <a:t>see text for full derivation</a:t>
            </a:r>
            <a:r>
              <a:rPr lang="en-US" altLang="zh-CN" sz="2800">
                <a:latin typeface="Times New Roman" panose="02020503050405090304" pitchFamily="18" charset="0"/>
              </a:rPr>
              <a:t>)</a:t>
            </a:r>
            <a:endParaRPr lang="en-US" altLang="zh-CN" sz="2800">
              <a:latin typeface="Times New Roman" panose="02020503050405090304" pitchFamily="18" charset="0"/>
            </a:endParaRPr>
          </a:p>
          <a:p>
            <a:pPr>
              <a:lnSpc>
                <a:spcPct val="80000"/>
              </a:lnSpc>
            </a:pPr>
            <a:r>
              <a:rPr lang="en-US" altLang="zh-CN" sz="2800">
                <a:latin typeface="Times New Roman" panose="02020503050405090304" pitchFamily="18" charset="0"/>
              </a:rPr>
              <a:t>RSA works as a public key system since the only known method of finding </a:t>
            </a:r>
            <a:r>
              <a:rPr lang="en-US" altLang="zh-CN" sz="2800" i="1">
                <a:latin typeface="Times New Roman" panose="02020503050405090304" pitchFamily="18" charset="0"/>
              </a:rPr>
              <a:t>d</a:t>
            </a:r>
            <a:r>
              <a:rPr lang="en-US" altLang="zh-CN" sz="2800">
                <a:latin typeface="Times New Roman" panose="02020503050405090304" pitchFamily="18" charset="0"/>
              </a:rPr>
              <a:t> is based on a factorization of </a:t>
            </a:r>
            <a:r>
              <a:rPr lang="en-US" altLang="zh-CN" sz="2800" i="1">
                <a:latin typeface="Times New Roman" panose="02020503050405090304" pitchFamily="18" charset="0"/>
              </a:rPr>
              <a:t>n</a:t>
            </a:r>
            <a:r>
              <a:rPr lang="en-US" altLang="zh-CN" sz="2800">
                <a:latin typeface="Times New Roman" panose="02020503050405090304" pitchFamily="18" charset="0"/>
              </a:rPr>
              <a:t> into primes. There is currently no known feasible method for factoring large numbers into primes.</a:t>
            </a:r>
            <a:endParaRPr lang="en-US" altLang="zh-CN" sz="2800">
              <a:latin typeface="Times New Roman" panose="02020503050405090304" pitchFamily="18" charset="0"/>
            </a:endParaRPr>
          </a:p>
          <a:p>
            <a:pPr>
              <a:lnSpc>
                <a:spcPct val="80000"/>
              </a:lnSpc>
              <a:buNone/>
            </a:pPr>
            <a:r>
              <a:rPr lang="en-US" altLang="zh-CN" sz="2700" b="1"/>
              <a:t>     </a:t>
            </a:r>
            <a:endParaRPr lang="en-US" altLang="zh-CN" sz="27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Title 1"/>
          <p:cNvSpPr>
            <a:spLocks noGrp="1"/>
          </p:cNvSpPr>
          <p:nvPr>
            <p:ph type="title"/>
          </p:nvPr>
        </p:nvSpPr>
        <p:spPr>
          <a:ln/>
        </p:spPr>
        <p:txBody>
          <a:bodyPr vert="horz" wrap="square" lIns="91440" tIns="45720" rIns="91440" bIns="45720" anchor="b" anchorCtr="0"/>
          <a:p>
            <a:r>
              <a:rPr lang="en-US" altLang="zh-CN"/>
              <a:t>RSA Decryption</a:t>
            </a:r>
            <a:endParaRPr lang="en-US" altLang="zh-CN"/>
          </a:p>
        </p:txBody>
      </p:sp>
      <p:sp>
        <p:nvSpPr>
          <p:cNvPr id="31746" name="Content Placeholder 2"/>
          <p:cNvSpPr>
            <a:spLocks noGrp="1"/>
          </p:cNvSpPr>
          <p:nvPr>
            <p:ph idx="1"/>
          </p:nvPr>
        </p:nvSpPr>
        <p:spPr>
          <a:ln/>
        </p:spPr>
        <p:txBody>
          <a:bodyPr vert="horz" wrap="square" lIns="91440" tIns="45720" rIns="91440" bIns="45720" anchor="t" anchorCtr="0"/>
          <a:p>
            <a:pPr>
              <a:lnSpc>
                <a:spcPct val="80000"/>
              </a:lnSpc>
            </a:pPr>
            <a:r>
              <a:rPr lang="en-US" altLang="zh-CN" sz="3000" b="1">
                <a:latin typeface="Times New Roman" panose="02020503050405090304" pitchFamily="18" charset="0"/>
              </a:rPr>
              <a:t>Example</a:t>
            </a:r>
            <a:r>
              <a:rPr lang="en-US" altLang="zh-CN" sz="3000">
                <a:latin typeface="Times New Roman" panose="02020503050405090304" pitchFamily="18" charset="0"/>
              </a:rPr>
              <a:t>: The message  0981 0461 is received. What is the decrypted message if it was encrypted using the RSA cipher from the previous example. </a:t>
            </a:r>
            <a:endParaRPr lang="en-US" altLang="zh-CN" sz="3000">
              <a:latin typeface="Times New Roman" panose="02020503050405090304" pitchFamily="18" charset="0"/>
            </a:endParaRPr>
          </a:p>
          <a:p>
            <a:pPr>
              <a:lnSpc>
                <a:spcPct val="80000"/>
              </a:lnSpc>
              <a:buNone/>
            </a:pPr>
            <a:r>
              <a:rPr lang="en-US" altLang="zh-CN" sz="3000" b="1">
                <a:latin typeface="Times New Roman" panose="02020503050405090304" pitchFamily="18" charset="0"/>
              </a:rPr>
              <a:t>      Solution</a:t>
            </a:r>
            <a:r>
              <a:rPr lang="en-US" altLang="zh-CN" sz="3000">
                <a:latin typeface="Times New Roman" panose="02020503050405090304" pitchFamily="18" charset="0"/>
              </a:rPr>
              <a:t>: The message was encrypted with </a:t>
            </a:r>
            <a:r>
              <a:rPr lang="en-US" altLang="zh-CN" sz="3000" i="1">
                <a:latin typeface="Times New Roman" panose="02020503050405090304" pitchFamily="18" charset="0"/>
              </a:rPr>
              <a:t>n</a:t>
            </a:r>
            <a:r>
              <a:rPr lang="en-US" altLang="zh-CN" sz="3000">
                <a:latin typeface="Times New Roman" panose="02020503050405090304" pitchFamily="18" charset="0"/>
              </a:rPr>
              <a:t> = 43∙ 59 and exponent 13. An inverse of   13 modulo 42∙ 58 = 2436 (</a:t>
            </a:r>
            <a:r>
              <a:rPr lang="en-US" altLang="zh-CN" sz="3000" i="1">
                <a:latin typeface="Times New Roman" panose="02020503050405090304" pitchFamily="18" charset="0"/>
              </a:rPr>
              <a:t>exercise</a:t>
            </a:r>
            <a:r>
              <a:rPr lang="en-US" altLang="zh-CN" sz="3000">
                <a:latin typeface="Times New Roman" panose="02020503050405090304" pitchFamily="18" charset="0"/>
              </a:rPr>
              <a:t> 2 </a:t>
            </a:r>
            <a:r>
              <a:rPr lang="en-US" altLang="zh-CN" sz="3000" i="1">
                <a:latin typeface="Times New Roman" panose="02020503050405090304" pitchFamily="18" charset="0"/>
              </a:rPr>
              <a:t>in Section </a:t>
            </a:r>
            <a:r>
              <a:rPr lang="en-US" altLang="zh-CN" sz="3000">
                <a:latin typeface="Times New Roman" panose="02020503050405090304" pitchFamily="18" charset="0"/>
              </a:rPr>
              <a:t>4.4) is </a:t>
            </a:r>
            <a:r>
              <a:rPr lang="en-US" altLang="zh-CN" sz="3000" i="1">
                <a:latin typeface="Times New Roman" panose="02020503050405090304" pitchFamily="18" charset="0"/>
              </a:rPr>
              <a:t>d</a:t>
            </a:r>
            <a:r>
              <a:rPr lang="en-US" altLang="zh-CN" sz="3000">
                <a:latin typeface="Times New Roman" panose="02020503050405090304" pitchFamily="18" charset="0"/>
              </a:rPr>
              <a:t> = 937.</a:t>
            </a:r>
            <a:endParaRPr lang="en-US" altLang="zh-CN" sz="3000">
              <a:latin typeface="Times New Roman" panose="02020503050405090304" pitchFamily="18" charset="0"/>
            </a:endParaRPr>
          </a:p>
          <a:p>
            <a:pPr lvl="1">
              <a:lnSpc>
                <a:spcPct val="80000"/>
              </a:lnSpc>
            </a:pPr>
            <a:r>
              <a:rPr lang="en-US" altLang="zh-CN" sz="2600">
                <a:latin typeface="Times New Roman" panose="02020503050405090304" pitchFamily="18" charset="0"/>
              </a:rPr>
              <a:t>To decrypt a block </a:t>
            </a:r>
            <a:r>
              <a:rPr lang="en-US" altLang="zh-CN" sz="2600" i="1">
                <a:latin typeface="Times New Roman" panose="02020503050405090304" pitchFamily="18" charset="0"/>
              </a:rPr>
              <a:t>C</a:t>
            </a:r>
            <a:r>
              <a:rPr lang="en-US" altLang="zh-CN" sz="2600">
                <a:latin typeface="Times New Roman" panose="02020503050405090304" pitchFamily="18" charset="0"/>
              </a:rPr>
              <a:t>, </a:t>
            </a:r>
            <a:r>
              <a:rPr lang="en-US" altLang="zh-CN" sz="2600" i="1">
                <a:latin typeface="Times New Roman" panose="02020503050405090304" pitchFamily="18" charset="0"/>
              </a:rPr>
              <a:t>M</a:t>
            </a:r>
            <a:r>
              <a:rPr lang="en-US" altLang="zh-CN" sz="2600">
                <a:latin typeface="Times New Roman" panose="02020503050405090304" pitchFamily="18" charset="0"/>
              </a:rPr>
              <a:t> = </a:t>
            </a:r>
            <a:r>
              <a:rPr lang="en-US" altLang="zh-CN" sz="2600" i="1">
                <a:latin typeface="Times New Roman" panose="02020503050405090304" pitchFamily="18" charset="0"/>
              </a:rPr>
              <a:t>C</a:t>
            </a:r>
            <a:r>
              <a:rPr lang="en-US" altLang="zh-CN" sz="2600" baseline="30000">
                <a:latin typeface="Times New Roman" panose="02020503050405090304" pitchFamily="18" charset="0"/>
              </a:rPr>
              <a:t>937</a:t>
            </a:r>
            <a:r>
              <a:rPr lang="en-US" altLang="zh-CN" sz="2600">
                <a:latin typeface="Times New Roman" panose="02020503050405090304" pitchFamily="18" charset="0"/>
              </a:rPr>
              <a:t> </a:t>
            </a:r>
            <a:r>
              <a:rPr lang="en-US" altLang="zh-CN" sz="2600" b="1">
                <a:latin typeface="Times New Roman" panose="02020503050405090304" pitchFamily="18" charset="0"/>
              </a:rPr>
              <a:t>mod</a:t>
            </a:r>
            <a:r>
              <a:rPr lang="en-US" altLang="zh-CN" sz="2600">
                <a:latin typeface="Times New Roman" panose="02020503050405090304" pitchFamily="18" charset="0"/>
              </a:rPr>
              <a:t> 2537.</a:t>
            </a:r>
            <a:endParaRPr lang="en-US" altLang="zh-CN" sz="2600">
              <a:latin typeface="Times New Roman" panose="02020503050405090304" pitchFamily="18" charset="0"/>
            </a:endParaRPr>
          </a:p>
          <a:p>
            <a:pPr lvl="1">
              <a:lnSpc>
                <a:spcPct val="80000"/>
              </a:lnSpc>
            </a:pPr>
            <a:r>
              <a:rPr lang="en-US" altLang="zh-CN" sz="2600">
                <a:latin typeface="Times New Roman" panose="02020503050405090304" pitchFamily="18" charset="0"/>
              </a:rPr>
              <a:t>Since 0981</a:t>
            </a:r>
            <a:r>
              <a:rPr lang="en-US" altLang="zh-CN" sz="2600" baseline="30000">
                <a:latin typeface="Times New Roman" panose="02020503050405090304" pitchFamily="18" charset="0"/>
              </a:rPr>
              <a:t>937</a:t>
            </a:r>
            <a:r>
              <a:rPr lang="en-US" altLang="zh-CN" sz="2600">
                <a:latin typeface="Times New Roman" panose="02020503050405090304" pitchFamily="18" charset="0"/>
              </a:rPr>
              <a:t> </a:t>
            </a:r>
            <a:r>
              <a:rPr lang="en-US" altLang="zh-CN" sz="2600" b="1">
                <a:latin typeface="Times New Roman" panose="02020503050405090304" pitchFamily="18" charset="0"/>
              </a:rPr>
              <a:t>mod</a:t>
            </a:r>
            <a:r>
              <a:rPr lang="en-US" altLang="zh-CN" sz="2600">
                <a:latin typeface="Times New Roman" panose="02020503050405090304" pitchFamily="18" charset="0"/>
              </a:rPr>
              <a:t> 2537 = 0704 and 0461</a:t>
            </a:r>
            <a:r>
              <a:rPr lang="en-US" altLang="zh-CN" sz="2600" baseline="30000">
                <a:latin typeface="Times New Roman" panose="02020503050405090304" pitchFamily="18" charset="0"/>
              </a:rPr>
              <a:t>937</a:t>
            </a:r>
            <a:r>
              <a:rPr lang="en-US" altLang="zh-CN" sz="2600">
                <a:latin typeface="Times New Roman" panose="02020503050405090304" pitchFamily="18" charset="0"/>
              </a:rPr>
              <a:t> </a:t>
            </a:r>
            <a:r>
              <a:rPr lang="en-US" altLang="zh-CN" sz="2600" b="1">
                <a:latin typeface="Times New Roman" panose="02020503050405090304" pitchFamily="18" charset="0"/>
              </a:rPr>
              <a:t>mod</a:t>
            </a:r>
            <a:r>
              <a:rPr lang="en-US" altLang="zh-CN" sz="2600">
                <a:latin typeface="Times New Roman" panose="02020503050405090304" pitchFamily="18" charset="0"/>
              </a:rPr>
              <a:t> 2537 = 1115, the decrypted message is 0704 1115.  Translating back to English letters, the message is HELP.</a:t>
            </a:r>
            <a:endParaRPr lang="en-US" altLang="zh-CN" sz="2600">
              <a:latin typeface="Times New Roman" panose="0202050305040509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23938" y="0"/>
            <a:ext cx="7793038" cy="1143000"/>
          </a:xfrm>
        </p:spPr>
        <p:txBody>
          <a:bodyPr>
            <a:normAutofit fontScale="90000"/>
          </a:bodyPr>
          <a:lstStyle/>
          <a:p>
            <a:pPr marL="0" marR="0" indent="0" algn="l" defTabSz="914400" rtl="0" eaLnBrk="0" fontAlgn="base" latinLnBrk="0" hangingPunct="0">
              <a:lnSpc>
                <a:spcPct val="100000"/>
              </a:lnSpc>
              <a:spcBef>
                <a:spcPct val="0"/>
              </a:spcBef>
              <a:spcAft>
                <a:spcPct val="0"/>
              </a:spcAft>
              <a:buClrTx/>
              <a:buSzTx/>
              <a:buFontTx/>
              <a:buNone/>
              <a:defRPr/>
            </a:pPr>
            <a:r>
              <a:rPr kumimoji="1" lang="en-US" sz="4000" b="0" i="0" u="none" strike="noStrike" kern="0" cap="none" spc="0" normalizeH="0" baseline="0" noProof="1" dirty="0">
                <a:solidFill>
                  <a:schemeClr val="tx2"/>
                </a:solidFill>
                <a:latin typeface="+mj-lt"/>
                <a:ea typeface="+mj-ea"/>
                <a:cs typeface="+mj-cs"/>
              </a:rPr>
              <a:t>Cryptographic Protocols: Key Exchange</a:t>
            </a:r>
            <a:endParaRPr kumimoji="1" lang="en-US" sz="4000" b="0" i="0" u="none" strike="noStrike" kern="0" cap="none" spc="0" normalizeH="0" baseline="0" noProof="1" dirty="0">
              <a:solidFill>
                <a:schemeClr val="tx2"/>
              </a:solidFill>
              <a:latin typeface="+mj-lt"/>
              <a:ea typeface="+mj-ea"/>
              <a:cs typeface="+mj-cs"/>
            </a:endParaRPr>
          </a:p>
        </p:txBody>
      </p:sp>
      <p:sp>
        <p:nvSpPr>
          <p:cNvPr id="3" name="Content Placeholder 2"/>
          <p:cNvSpPr>
            <a:spLocks noGrp="1"/>
          </p:cNvSpPr>
          <p:nvPr>
            <p:ph idx="1"/>
          </p:nvPr>
        </p:nvSpPr>
        <p:spPr/>
        <p:txBody>
          <a:bodyPr/>
          <a:lstStyle/>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Cryptographic protocols </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are exchanges of messages carried out by two or more parties to achieve a particular security goal.</a:t>
            </a:r>
            <a:endPar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Key exchange </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is a protocol by which two parties can exchange a secret key over an insecure channel without having any past shared secret information. Here the </a:t>
            </a:r>
            <a:r>
              <a:rPr kumimoji="1" lang="en-US" sz="20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Diffe</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-Hellman key agreement </a:t>
            </a:r>
            <a:r>
              <a:rPr kumimoji="1" lang="en-US" sz="20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protcol</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is described by example.</a:t>
            </a:r>
            <a:endPar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80110" marR="0" lvl="1" indent="-514350" algn="l" defTabSz="914400" rtl="0" eaLnBrk="0" fontAlgn="base" latinLnBrk="0" hangingPunct="0">
              <a:lnSpc>
                <a:spcPct val="100000"/>
              </a:lnSpc>
              <a:spcBef>
                <a:spcPct val="20000"/>
              </a:spcBef>
              <a:spcAft>
                <a:spcPct val="0"/>
              </a:spcAft>
              <a:buClr>
                <a:schemeClr val="hlink"/>
              </a:buClr>
              <a:buSzPct val="55000"/>
              <a:buFont typeface="+mj-lt"/>
              <a:buAutoNum type="romanLcPeriod"/>
              <a:defRPr/>
            </a:pP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Suppose that Alice and Bob want to share a common key.</a:t>
            </a:r>
            <a:endPar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80110" marR="0" lvl="1" indent="-514350" algn="l" defTabSz="914400" rtl="0" eaLnBrk="0" fontAlgn="base" latinLnBrk="0" hangingPunct="0">
              <a:lnSpc>
                <a:spcPct val="100000"/>
              </a:lnSpc>
              <a:spcBef>
                <a:spcPct val="20000"/>
              </a:spcBef>
              <a:spcAft>
                <a:spcPct val="0"/>
              </a:spcAft>
              <a:buClr>
                <a:schemeClr val="hlink"/>
              </a:buClr>
              <a:buSzPct val="55000"/>
              <a:buFont typeface="+mj-lt"/>
              <a:buAutoNum type="romanLcPeriod"/>
              <a:defRPr/>
            </a:pP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Alice and Bob agree to use a prime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and a primitive root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of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endPar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80110" marR="0" lvl="1" indent="-514350" algn="l" defTabSz="914400" rtl="0" eaLnBrk="0" fontAlgn="base" latinLnBrk="0" hangingPunct="0">
              <a:lnSpc>
                <a:spcPct val="100000"/>
              </a:lnSpc>
              <a:spcBef>
                <a:spcPct val="20000"/>
              </a:spcBef>
              <a:spcAft>
                <a:spcPct val="0"/>
              </a:spcAft>
              <a:buClr>
                <a:schemeClr val="hlink"/>
              </a:buClr>
              <a:buSzPct val="55000"/>
              <a:buFont typeface="+mj-lt"/>
              <a:buAutoNum type="romanLcPeriod"/>
              <a:defRPr/>
            </a:pP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Alice chooses a secret integer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sz="1600" b="0" i="0" u="none" strike="noStrike" kern="0" cap="none" spc="0" normalizeH="0" baseline="-25000" noProof="1" dirty="0">
                <a:solidFill>
                  <a:schemeClr val="tx1"/>
                </a:solidFill>
                <a:latin typeface="Times New Roman" panose="02020503050405090304" pitchFamily="18" charset="0"/>
                <a:ea typeface="Cambria Math" pitchFamily="18" charset="0"/>
                <a:cs typeface="Times New Roman" panose="02020503050405090304" pitchFamily="18" charset="0"/>
              </a:rPr>
              <a:t>1</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and sends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a:t>
            </a:r>
            <a:r>
              <a:rPr kumimoji="1" lang="en-US" sz="16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k</a:t>
            </a:r>
            <a:r>
              <a:rPr kumimoji="1" lang="en-US" sz="1200" b="0" i="0" u="none" strike="noStrike" kern="0" cap="none" spc="0" normalizeH="0" baseline="30000" noProof="1" dirty="0">
                <a:solidFill>
                  <a:schemeClr val="tx1"/>
                </a:solidFill>
                <a:latin typeface="Times New Roman" panose="02020503050405090304" pitchFamily="18" charset="0"/>
                <a:ea typeface="Cambria Math" pitchFamily="18" charset="0"/>
                <a:cs typeface="Times New Roman" panose="02020503050405090304" pitchFamily="18" charset="0"/>
              </a:rPr>
              <a:t>1</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6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to Bob.</a:t>
            </a:r>
            <a:endPar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80110" marR="0" lvl="1" indent="-514350" algn="l" defTabSz="914400" rtl="0" eaLnBrk="0" fontAlgn="base" latinLnBrk="0" hangingPunct="0">
              <a:lnSpc>
                <a:spcPct val="100000"/>
              </a:lnSpc>
              <a:spcBef>
                <a:spcPct val="20000"/>
              </a:spcBef>
              <a:spcAft>
                <a:spcPct val="0"/>
              </a:spcAft>
              <a:buClr>
                <a:schemeClr val="hlink"/>
              </a:buClr>
              <a:buSzPct val="55000"/>
              <a:buFont typeface="+mj-lt"/>
              <a:buAutoNum type="romanLcPeriod"/>
              <a:defRPr/>
            </a:pP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Bob chooses a secret integer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sz="1600" b="0" i="0" u="none" strike="noStrike" kern="0" cap="none" spc="0" normalizeH="0" baseline="-25000" noProof="1" dirty="0">
                <a:solidFill>
                  <a:schemeClr val="tx1"/>
                </a:solidFill>
                <a:latin typeface="Times New Roman" panose="02020503050405090304" pitchFamily="18" charset="0"/>
                <a:ea typeface="Cambria Math" pitchFamily="18" charset="0"/>
                <a:cs typeface="Times New Roman" panose="02020503050405090304" pitchFamily="18" charset="0"/>
              </a:rPr>
              <a:t>2</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and sends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a:t>
            </a:r>
            <a:r>
              <a:rPr kumimoji="1" lang="en-US" sz="16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k</a:t>
            </a:r>
            <a:r>
              <a:rPr kumimoji="1" lang="en-US" sz="1200" b="0" i="0" u="none" strike="noStrike" kern="0" cap="none" spc="0" normalizeH="0" baseline="30000" noProof="1" dirty="0">
                <a:solidFill>
                  <a:schemeClr val="tx1"/>
                </a:solidFill>
                <a:latin typeface="Times New Roman" panose="02020503050405090304" pitchFamily="18" charset="0"/>
                <a:ea typeface="Cambria Math" pitchFamily="18" charset="0"/>
                <a:cs typeface="Times New Roman" panose="02020503050405090304" pitchFamily="18" charset="0"/>
              </a:rPr>
              <a:t>2</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6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to Alice.</a:t>
            </a:r>
            <a:endPar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80110" marR="0" lvl="1" indent="-514350" algn="l" defTabSz="914400" rtl="0" eaLnBrk="0" fontAlgn="base" latinLnBrk="0" hangingPunct="0">
              <a:lnSpc>
                <a:spcPct val="100000"/>
              </a:lnSpc>
              <a:spcBef>
                <a:spcPct val="20000"/>
              </a:spcBef>
              <a:spcAft>
                <a:spcPct val="0"/>
              </a:spcAft>
              <a:buClr>
                <a:schemeClr val="hlink"/>
              </a:buClr>
              <a:buSzPct val="55000"/>
              <a:buFont typeface="+mj-lt"/>
              <a:buAutoNum type="romanLcPeriod"/>
              <a:defRPr/>
            </a:pP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Alice computes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a:t>
            </a:r>
            <a:r>
              <a:rPr kumimoji="1" lang="en-US" sz="16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k</a:t>
            </a:r>
            <a:r>
              <a:rPr kumimoji="1" lang="en-US" sz="1200" b="0" i="0" u="none" strike="noStrike" kern="0" cap="none" spc="0" normalizeH="0" baseline="30000" noProof="1" dirty="0">
                <a:solidFill>
                  <a:schemeClr val="tx1"/>
                </a:solidFill>
                <a:latin typeface="Times New Roman" panose="02020503050405090304" pitchFamily="18" charset="0"/>
                <a:ea typeface="Cambria Math" pitchFamily="18" charset="0"/>
                <a:cs typeface="Times New Roman" panose="02020503050405090304" pitchFamily="18" charset="0"/>
              </a:rPr>
              <a:t>2</a:t>
            </a:r>
            <a:r>
              <a:rPr kumimoji="1" lang="en-US" sz="12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a:t>
            </a:r>
            <a:r>
              <a:rPr kumimoji="1" lang="en-US" sz="16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k</a:t>
            </a:r>
            <a:r>
              <a:rPr kumimoji="1" lang="en-US" sz="1200" b="0" i="0" u="none" strike="noStrike" kern="0" cap="none" spc="0" normalizeH="0" baseline="30000" noProof="1" dirty="0">
                <a:solidFill>
                  <a:schemeClr val="tx1"/>
                </a:solidFill>
                <a:latin typeface="Times New Roman" panose="02020503050405090304" pitchFamily="18" charset="0"/>
                <a:ea typeface="Cambria Math" pitchFamily="18" charset="0"/>
                <a:cs typeface="Times New Roman" panose="02020503050405090304" pitchFamily="18" charset="0"/>
              </a:rPr>
              <a:t>1 </a:t>
            </a:r>
            <a:r>
              <a:rPr kumimoji="1" lang="en-US" sz="16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endPar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80110" marR="0" lvl="1" indent="-514350" algn="l" defTabSz="914400" rtl="0" eaLnBrk="0" fontAlgn="base" latinLnBrk="0" hangingPunct="0">
              <a:lnSpc>
                <a:spcPct val="100000"/>
              </a:lnSpc>
              <a:spcBef>
                <a:spcPct val="20000"/>
              </a:spcBef>
              <a:spcAft>
                <a:spcPct val="0"/>
              </a:spcAft>
              <a:buClr>
                <a:schemeClr val="hlink"/>
              </a:buClr>
              <a:buSzPct val="55000"/>
              <a:buFont typeface="+mj-lt"/>
              <a:buAutoNum type="romanLcPeriod"/>
              <a:defRPr/>
            </a:pP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Bob computes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a:t>
            </a:r>
            <a:r>
              <a:rPr kumimoji="1" lang="en-US" sz="16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k</a:t>
            </a:r>
            <a:r>
              <a:rPr kumimoji="1" lang="en-US" sz="1200" b="0" i="0" u="none" strike="noStrike" kern="0" cap="none" spc="0" normalizeH="0" baseline="30000" noProof="1" dirty="0">
                <a:solidFill>
                  <a:schemeClr val="tx1"/>
                </a:solidFill>
                <a:latin typeface="Times New Roman" panose="02020503050405090304" pitchFamily="18" charset="0"/>
                <a:ea typeface="Cambria Math" pitchFamily="18" charset="0"/>
                <a:cs typeface="Times New Roman" panose="02020503050405090304" pitchFamily="18" charset="0"/>
              </a:rPr>
              <a:t>1</a:t>
            </a:r>
            <a:r>
              <a:rPr kumimoji="1" lang="en-US" sz="12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a:t>
            </a:r>
            <a:r>
              <a:rPr kumimoji="1" lang="en-US" sz="16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k</a:t>
            </a:r>
            <a:r>
              <a:rPr kumimoji="1" lang="en-US" sz="1200" b="0" i="0" u="none" strike="noStrike" kern="0" cap="none" spc="0" normalizeH="0" baseline="30000" noProof="1" dirty="0">
                <a:solidFill>
                  <a:schemeClr val="tx1"/>
                </a:solidFill>
                <a:latin typeface="Times New Roman" panose="02020503050405090304" pitchFamily="18" charset="0"/>
                <a:ea typeface="Cambria Math" pitchFamily="18" charset="0"/>
                <a:cs typeface="Times New Roman" panose="02020503050405090304" pitchFamily="18" charset="0"/>
              </a:rPr>
              <a:t>2 </a:t>
            </a:r>
            <a:r>
              <a:rPr kumimoji="1" lang="en-US" sz="16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endPar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80110" marR="0" lvl="1" indent="-5143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None/>
              <a:defRPr/>
            </a:pPr>
            <a:endPar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the end of the protocol, Alice and Bob have their shared key</a:t>
            </a:r>
            <a:endPar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1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a:t>
            </a:r>
            <a:r>
              <a:rPr kumimoji="1" lang="en-US" sz="14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k</a:t>
            </a:r>
            <a:r>
              <a:rPr kumimoji="1" lang="en-US" sz="1400" b="0" i="0" u="none" strike="noStrike" kern="0" cap="none" spc="0" normalizeH="0" baseline="30000" noProof="1" dirty="0">
                <a:solidFill>
                  <a:schemeClr val="tx1"/>
                </a:solidFill>
                <a:latin typeface="Times New Roman" panose="02020503050405090304" pitchFamily="18" charset="0"/>
                <a:ea typeface="Cambria Math" pitchFamily="18" charset="0"/>
                <a:cs typeface="Times New Roman" panose="02020503050405090304" pitchFamily="18" charset="0"/>
              </a:rPr>
              <a:t>2</a:t>
            </a:r>
            <a:r>
              <a:rPr kumimoji="1" lang="en-US" sz="14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a:t>
            </a:r>
            <a:r>
              <a:rPr kumimoji="1" lang="en-US" sz="14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k</a:t>
            </a:r>
            <a:r>
              <a:rPr kumimoji="1" lang="en-US" sz="1400" b="0" i="0" u="none" strike="noStrike" kern="0" cap="none" spc="0" normalizeH="0" baseline="30000" noProof="1" dirty="0">
                <a:solidFill>
                  <a:schemeClr val="tx1"/>
                </a:solidFill>
                <a:latin typeface="Times New Roman" panose="02020503050405090304" pitchFamily="18" charset="0"/>
                <a:ea typeface="Cambria Math" pitchFamily="18" charset="0"/>
                <a:cs typeface="Times New Roman" panose="02020503050405090304" pitchFamily="18" charset="0"/>
              </a:rPr>
              <a:t>1 </a:t>
            </a:r>
            <a:r>
              <a:rPr kumimoji="1" lang="en-US" sz="16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sz="16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6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 = </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a:t>
            </a:r>
            <a:r>
              <a:rPr kumimoji="1" lang="en-US" sz="20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k</a:t>
            </a:r>
            <a:r>
              <a:rPr kumimoji="1" lang="en-US" sz="1200" b="0" i="0" u="none" strike="noStrike" kern="0" cap="none" spc="0" normalizeH="0" baseline="30000" noProof="1" dirty="0">
                <a:solidFill>
                  <a:schemeClr val="tx1"/>
                </a:solidFill>
                <a:latin typeface="Times New Roman" panose="02020503050405090304" pitchFamily="18" charset="0"/>
                <a:ea typeface="Cambria Math" pitchFamily="18" charset="0"/>
                <a:cs typeface="Times New Roman" panose="02020503050405090304" pitchFamily="18" charset="0"/>
              </a:rPr>
              <a:t>1</a:t>
            </a:r>
            <a:r>
              <a:rPr kumimoji="1" lang="en-US" sz="1200" b="0" i="0" u="none" strike="noStrike" kern="0" cap="none" spc="0" normalizeH="0" baseline="0" noProof="1" dirty="0">
                <a:solidFill>
                  <a:schemeClr val="tx1"/>
                </a:solidFill>
                <a:latin typeface="Times New Roman" panose="02020503050405090304" pitchFamily="18" charset="0"/>
                <a:ea typeface="Cambria Math" pitchFamily="18" charset="0"/>
                <a:cs typeface="Times New Roman" panose="02020503050405090304" pitchFamily="18" charset="0"/>
              </a:rPr>
              <a:t>)</a:t>
            </a:r>
            <a:r>
              <a:rPr kumimoji="1" lang="en-US" sz="20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k</a:t>
            </a:r>
            <a:r>
              <a:rPr kumimoji="1" lang="en-US" sz="1200" b="0" i="0" u="none" strike="noStrike" kern="0" cap="none" spc="0" normalizeH="0" baseline="30000" noProof="1" dirty="0">
                <a:solidFill>
                  <a:schemeClr val="tx1"/>
                </a:solidFill>
                <a:latin typeface="Times New Roman" panose="02020503050405090304" pitchFamily="18" charset="0"/>
                <a:ea typeface="Cambria Math" pitchFamily="18" charset="0"/>
                <a:cs typeface="Times New Roman" panose="02020503050405090304" pitchFamily="18" charset="0"/>
              </a:rPr>
              <a:t>2 </a:t>
            </a:r>
            <a:r>
              <a:rPr kumimoji="1" lang="en-US" sz="1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1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endParaRPr kumimoji="1" lang="en-US" sz="1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To find the secret information from the public information would require the adversary to  find </a:t>
            </a:r>
            <a:r>
              <a:rPr kumimoji="1" lang="en-US" sz="1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sz="1800" b="0" i="0" u="none" strike="noStrike" kern="0" cap="none" spc="0" normalizeH="0" baseline="-25000" noProof="1" dirty="0">
                <a:solidFill>
                  <a:schemeClr val="tx1"/>
                </a:solidFill>
                <a:latin typeface="Times New Roman" panose="02020503050405090304" pitchFamily="18" charset="0"/>
                <a:ea typeface="Cambria Math" pitchFamily="18" charset="0"/>
                <a:cs typeface="Times New Roman" panose="02020503050405090304" pitchFamily="18" charset="0"/>
              </a:rPr>
              <a:t>1</a:t>
            </a:r>
            <a:r>
              <a:rPr kumimoji="1" lang="en-US"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and </a:t>
            </a:r>
            <a:r>
              <a:rPr kumimoji="1" lang="en-US" sz="1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k</a:t>
            </a:r>
            <a:r>
              <a:rPr kumimoji="1" lang="en-US" sz="1800" b="0" i="0" u="none" strike="noStrike" kern="0" cap="none" spc="0" normalizeH="0" baseline="-25000" noProof="1" dirty="0">
                <a:solidFill>
                  <a:schemeClr val="tx1"/>
                </a:solidFill>
                <a:latin typeface="Times New Roman" panose="02020503050405090304" pitchFamily="18" charset="0"/>
                <a:ea typeface="Cambria Math" pitchFamily="18" charset="0"/>
                <a:cs typeface="Times New Roman" panose="02020503050405090304" pitchFamily="18" charset="0"/>
              </a:rPr>
              <a:t>2</a:t>
            </a:r>
            <a:r>
              <a:rPr kumimoji="1" lang="en-US"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from </a:t>
            </a:r>
            <a:r>
              <a:rPr kumimoji="1" lang="en-US" sz="1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a:t>
            </a:r>
            <a:r>
              <a:rPr kumimoji="1" lang="en-US" sz="18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k</a:t>
            </a:r>
            <a:r>
              <a:rPr kumimoji="1" lang="en-US" sz="1400" b="0" i="0" u="none" strike="noStrike" kern="0" cap="none" spc="0" normalizeH="0" baseline="30000" noProof="1" dirty="0">
                <a:solidFill>
                  <a:schemeClr val="tx1"/>
                </a:solidFill>
                <a:latin typeface="Times New Roman" panose="02020503050405090304" pitchFamily="18" charset="0"/>
                <a:ea typeface="Cambria Math" pitchFamily="18" charset="0"/>
                <a:cs typeface="Times New Roman" panose="02020503050405090304" pitchFamily="18" charset="0"/>
              </a:rPr>
              <a:t>1</a:t>
            </a:r>
            <a:r>
              <a:rPr kumimoji="1" lang="en-US"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and </a:t>
            </a:r>
            <a:r>
              <a:rPr kumimoji="1" lang="en-US" sz="1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a:t>
            </a:r>
            <a:r>
              <a:rPr kumimoji="1" lang="en-US" sz="18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k</a:t>
            </a:r>
            <a:r>
              <a:rPr kumimoji="1" lang="en-US" sz="1400" b="0" i="0" u="none" strike="noStrike" kern="0" cap="none" spc="0" normalizeH="0" baseline="30000" noProof="1" dirty="0">
                <a:solidFill>
                  <a:schemeClr val="tx1"/>
                </a:solidFill>
                <a:latin typeface="Times New Roman" panose="02020503050405090304" pitchFamily="18" charset="0"/>
                <a:ea typeface="Cambria Math" pitchFamily="18" charset="0"/>
                <a:cs typeface="Times New Roman" panose="02020503050405090304" pitchFamily="18" charset="0"/>
              </a:rPr>
              <a:t>2</a:t>
            </a:r>
            <a:r>
              <a:rPr kumimoji="1" lang="en-US"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1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respectively. </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This is an instance of the discrete logarithm problem, considered to be computationally infeasible when </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and </a:t>
            </a:r>
            <a:r>
              <a:rPr kumimoji="1" lang="en-US" sz="20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a:t>
            </a:r>
            <a:r>
              <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are sufficiently large.</a:t>
            </a:r>
            <a:endParaRPr kumimoji="1" lang="en-US" sz="20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itle 1"/>
          <p:cNvSpPr>
            <a:spLocks noGrp="1"/>
          </p:cNvSpPr>
          <p:nvPr>
            <p:ph type="title"/>
          </p:nvPr>
        </p:nvSpPr>
        <p:spPr>
          <a:ln/>
        </p:spPr>
        <p:txBody>
          <a:bodyPr vert="horz" wrap="square" lIns="91440" tIns="45720" rIns="91440" bIns="45720" anchor="b" anchorCtr="0"/>
          <a:p>
            <a:r>
              <a:rPr lang="en-US" altLang="zh-CN" sz="3600"/>
              <a:t>Cryptographic Protocols: Digital Signatures</a:t>
            </a:r>
            <a:endParaRPr lang="en-US" altLang="zh-CN" sz="3600"/>
          </a:p>
        </p:txBody>
      </p:sp>
      <p:sp>
        <p:nvSpPr>
          <p:cNvPr id="3" name="Content Placeholder 2"/>
          <p:cNvSpPr>
            <a:spLocks noGrp="1"/>
          </p:cNvSpPr>
          <p:nvPr>
            <p:ph idx="1"/>
          </p:nvPr>
        </p:nvSpPr>
        <p:spPr>
          <a:xfrm>
            <a:off x="684213" y="1411923"/>
            <a:ext cx="8270875" cy="4864100"/>
          </a:xfrm>
        </p:spPr>
        <p:txBody>
          <a:bodyPr>
            <a:normAutofit fontScale="62500" lnSpcReduction="20000"/>
          </a:bodyPr>
          <a:lstStyle/>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200" b="0" i="0" u="none" strike="noStrike" kern="0" cap="none" spc="0" normalizeH="0" baseline="0" noProof="1" dirty="0">
                <a:solidFill>
                  <a:schemeClr val="tx1"/>
                </a:solidFill>
                <a:latin typeface="+mn-lt"/>
                <a:ea typeface="+mn-ea"/>
                <a:cs typeface="+mn-cs"/>
              </a:rPr>
              <a:t>   </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Adding a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digital signature </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to a message is a way of ensuring the recipient that the message came from the purported sender.</a:t>
            </a:r>
            <a:endPar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Suppose that Alice’s RSA public key is (</a:t>
            </a:r>
            <a:r>
              <a:rPr kumimoji="1" lang="en-US" sz="34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n,e</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and her private key is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d</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Alice encrypts a plain text message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x</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using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E</a:t>
            </a:r>
            <a:r>
              <a:rPr kumimoji="1" lang="en-US" sz="3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a:t>
            </a:r>
            <a:r>
              <a:rPr kumimoji="1" lang="en-US" sz="34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n</a:t>
            </a:r>
            <a:r>
              <a:rPr kumimoji="1" lang="en-US" sz="3400" b="0" i="0"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a:t>
            </a:r>
            <a:r>
              <a:rPr kumimoji="1" lang="en-US" sz="34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e</a:t>
            </a:r>
            <a:r>
              <a:rPr kumimoji="1" lang="en-US" sz="3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x</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400" b="0" i="1"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x</a:t>
            </a:r>
            <a:r>
              <a:rPr kumimoji="1" lang="en-US" sz="3400" b="0" i="1" u="none" strike="noStrike" kern="0" cap="none" spc="0" normalizeH="0" baseline="30000" noProof="1" dirty="0" err="1">
                <a:solidFill>
                  <a:schemeClr val="tx1"/>
                </a:solidFill>
                <a:latin typeface="Times New Roman" panose="02020503050405090304" pitchFamily="18" charset="0"/>
                <a:ea typeface="+mn-ea"/>
                <a:cs typeface="Times New Roman" panose="02020503050405090304" pitchFamily="18" charset="0"/>
              </a:rPr>
              <a:t>e</a:t>
            </a:r>
            <a:r>
              <a:rPr kumimoji="1" lang="en-US" sz="34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 </a:t>
            </a:r>
            <a:r>
              <a:rPr kumimoji="1" lang="en-US" sz="34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n</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She decrypts a </a:t>
            </a:r>
            <a:r>
              <a:rPr kumimoji="1" lang="en-US" sz="34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ciphertext</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message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y</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using</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D</a:t>
            </a:r>
            <a:r>
              <a:rPr kumimoji="1" lang="en-US" sz="3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a:t>
            </a:r>
            <a:r>
              <a:rPr kumimoji="1" lang="en-US" sz="34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n</a:t>
            </a:r>
            <a:r>
              <a:rPr kumimoji="1" lang="en-US" sz="3400" b="0" i="0"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a:t>
            </a:r>
            <a:r>
              <a:rPr kumimoji="1" lang="en-US" sz="34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e</a:t>
            </a:r>
            <a:r>
              <a:rPr kumimoji="1" lang="en-US" sz="3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y</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y</a:t>
            </a:r>
            <a:r>
              <a:rPr kumimoji="1" lang="en-US" sz="34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d </a:t>
            </a:r>
            <a:r>
              <a:rPr kumimoji="1" lang="en-US" sz="34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n</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endPar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Alice wants to send a message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so that everyone who receives the message knows that it came from her.</a:t>
            </a:r>
            <a:endPar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50265" marR="0" lvl="1" indent="-457200" algn="l" defTabSz="914400" rtl="0" eaLnBrk="0" fontAlgn="base" latinLnBrk="0" hangingPunct="0">
              <a:lnSpc>
                <a:spcPct val="100000"/>
              </a:lnSpc>
              <a:spcBef>
                <a:spcPct val="20000"/>
              </a:spcBef>
              <a:spcAft>
                <a:spcPct val="0"/>
              </a:spcAft>
              <a:buClr>
                <a:schemeClr val="hlink"/>
              </a:buClr>
              <a:buSzPct val="55000"/>
              <a:buFont typeface="+mj-lt"/>
              <a:buAutoNum type="arabicPeriod"/>
              <a:defRPr/>
            </a:pP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She translates the message to numerical equivalents  and splits into blocks, just as in RSA encryption.</a:t>
            </a:r>
            <a:endPar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50265" marR="0" lvl="1" indent="-457200" algn="l" defTabSz="914400" rtl="0" eaLnBrk="0" fontAlgn="base" latinLnBrk="0" hangingPunct="0">
              <a:lnSpc>
                <a:spcPct val="100000"/>
              </a:lnSpc>
              <a:spcBef>
                <a:spcPct val="20000"/>
              </a:spcBef>
              <a:spcAft>
                <a:spcPct val="0"/>
              </a:spcAft>
              <a:buClr>
                <a:schemeClr val="hlink"/>
              </a:buClr>
              <a:buSzPct val="55000"/>
              <a:buFont typeface="+mj-lt"/>
              <a:buAutoNum type="arabicPeriod"/>
              <a:defRPr/>
            </a:pP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She then applies her decryption function</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D</a:t>
            </a:r>
            <a:r>
              <a:rPr kumimoji="1" lang="en-US" sz="3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a:t>
            </a:r>
            <a:r>
              <a:rPr kumimoji="1" lang="en-US" sz="34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n</a:t>
            </a:r>
            <a:r>
              <a:rPr kumimoji="1" lang="en-US" sz="3400" b="0" i="0"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a:t>
            </a:r>
            <a:r>
              <a:rPr kumimoji="1" lang="en-US" sz="34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e</a:t>
            </a:r>
            <a:r>
              <a:rPr kumimoji="1" lang="en-US" sz="3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to the blocks  and sends the results to all intended recipients.</a:t>
            </a:r>
            <a:endPar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50265" marR="0" lvl="1" indent="-457200" algn="l" defTabSz="914400" rtl="0" eaLnBrk="0" fontAlgn="base" latinLnBrk="0" hangingPunct="0">
              <a:lnSpc>
                <a:spcPct val="100000"/>
              </a:lnSpc>
              <a:spcBef>
                <a:spcPct val="20000"/>
              </a:spcBef>
              <a:spcAft>
                <a:spcPct val="0"/>
              </a:spcAft>
              <a:buClr>
                <a:schemeClr val="hlink"/>
              </a:buClr>
              <a:buSzPct val="55000"/>
              <a:buFont typeface="+mj-lt"/>
              <a:buAutoNum type="arabicPeriod"/>
              <a:defRPr/>
            </a:pP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The recipients apply Alice’s encryption function and the result is the original plain text since</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E</a:t>
            </a:r>
            <a:r>
              <a:rPr kumimoji="1" lang="en-US" sz="3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a:t>
            </a:r>
            <a:r>
              <a:rPr kumimoji="1" lang="en-US" sz="34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n</a:t>
            </a:r>
            <a:r>
              <a:rPr kumimoji="1" lang="en-US" sz="3400" b="0" i="0"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a:t>
            </a:r>
            <a:r>
              <a:rPr kumimoji="1" lang="en-US" sz="34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e</a:t>
            </a:r>
            <a:r>
              <a:rPr kumimoji="1" lang="en-US" sz="3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D</a:t>
            </a:r>
            <a:r>
              <a:rPr kumimoji="1" lang="en-US" sz="3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a:t>
            </a:r>
            <a:r>
              <a:rPr kumimoji="1" lang="en-US" sz="34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n</a:t>
            </a:r>
            <a:r>
              <a:rPr kumimoji="1" lang="en-US" sz="3400" b="0" i="0"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a:t>
            </a:r>
            <a:r>
              <a:rPr kumimoji="1" lang="en-US" sz="3400" b="0" i="1" u="none" strike="noStrike" kern="0" cap="none" spc="0" normalizeH="0" baseline="-25000" noProof="1" dirty="0" err="1">
                <a:solidFill>
                  <a:schemeClr val="tx1"/>
                </a:solidFill>
                <a:latin typeface="Times New Roman" panose="02020503050405090304" pitchFamily="18" charset="0"/>
                <a:ea typeface="+mn-ea"/>
                <a:cs typeface="Times New Roman" panose="02020503050405090304" pitchFamily="18" charset="0"/>
              </a:rPr>
              <a:t>e</a:t>
            </a:r>
            <a:r>
              <a:rPr kumimoji="1" lang="en-US" sz="3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x</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sz="3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x</a:t>
            </a: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endPar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Everyone who receives the message can then be certain that it came from Alice.</a:t>
            </a:r>
            <a:endParaRPr kumimoji="1" lang="en-US" sz="3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200" b="0" i="0" u="none" strike="noStrike" kern="0" cap="none" spc="0" normalizeH="0" baseline="0" noProof="1" dirty="0">
              <a:solidFill>
                <a:schemeClr val="tx1"/>
              </a:solidFill>
              <a:latin typeface="+mn-lt"/>
              <a:ea typeface="+mn-ea"/>
              <a:cs typeface="+mn-cs"/>
            </a:endParaRPr>
          </a:p>
          <a:p>
            <a:pPr marL="342900" marR="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sz="3200" b="0" i="0" u="none" strike="noStrike" kern="0" cap="none" spc="0" normalizeH="0" baseline="0" noProof="1" dirty="0">
              <a:solidFill>
                <a:schemeClr val="tx1"/>
              </a:solidFill>
              <a:latin typeface="+mn-lt"/>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Title 1"/>
          <p:cNvSpPr>
            <a:spLocks noGrp="1"/>
          </p:cNvSpPr>
          <p:nvPr>
            <p:ph type="title"/>
          </p:nvPr>
        </p:nvSpPr>
        <p:spPr>
          <a:ln/>
        </p:spPr>
        <p:txBody>
          <a:bodyPr vert="horz" wrap="square" lIns="91440" tIns="45720" rIns="91440" bIns="45720" anchor="b" anchorCtr="0"/>
          <a:p>
            <a:r>
              <a:rPr lang="en-US" altLang="zh-CN" sz="3600"/>
              <a:t>Cryptographic Protocols: Digital Signatures</a:t>
            </a:r>
            <a:endParaRPr lang="en-US" altLang="zh-CN" sz="3600"/>
          </a:p>
        </p:txBody>
      </p:sp>
      <p:sp>
        <p:nvSpPr>
          <p:cNvPr id="3" name="Content Placeholder 2"/>
          <p:cNvSpPr>
            <a:spLocks noGrp="1"/>
          </p:cNvSpPr>
          <p:nvPr>
            <p:ph idx="1"/>
          </p:nvPr>
        </p:nvSpPr>
        <p:spPr/>
        <p:txBody>
          <a:bodyPr>
            <a:normAutofit fontScale="92500"/>
          </a:bodyPr>
          <a:lstStyle/>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24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Example</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Suppose Alice’s RSA cryptosystem is the same as in the earlier example with  key(2537,13), 2537 = 43∙ 59, </a:t>
            </a:r>
            <a:r>
              <a:rPr kumimoji="1" lang="en-US" altLang="zh-CN"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43 and </a:t>
            </a:r>
            <a:r>
              <a:rPr kumimoji="1" lang="en-US" altLang="zh-CN"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q</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 59 are primes and    </a:t>
            </a:r>
            <a:r>
              <a:rPr kumimoji="1" lang="en-US" altLang="zh-CN" sz="24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gcd</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e</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a:t>
            </a:r>
            <a:r>
              <a:rPr kumimoji="1" lang="en-US" altLang="zh-CN"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p</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−1)(</a:t>
            </a:r>
            <a:r>
              <a:rPr kumimoji="1" lang="en-US" altLang="zh-CN"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q</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−1)) = </a:t>
            </a:r>
            <a:r>
              <a:rPr kumimoji="1" lang="en-US" altLang="zh-CN" sz="2400" b="0" i="0" u="none" strike="noStrike" kern="0" cap="none" spc="0" normalizeH="0" baseline="0" noProof="1" dirty="0" err="1">
                <a:solidFill>
                  <a:schemeClr val="tx1"/>
                </a:solidFill>
                <a:latin typeface="Times New Roman" panose="02020503050405090304" pitchFamily="18" charset="0"/>
                <a:ea typeface="+mn-ea"/>
                <a:cs typeface="Times New Roman" panose="02020503050405090304" pitchFamily="18" charset="0"/>
              </a:rPr>
              <a:t>gcd</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(13, 42∙ 58) = 1. </a:t>
            </a:r>
            <a:endPar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Her decryption key is d = 937.</a:t>
            </a:r>
            <a:endPar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She wants to send the message “MEET AT NOON” to her friends so that they can be certain that the message is from her.</a:t>
            </a:r>
            <a:endPar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Solution</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Alice translates the message into blocks of digits 1204 0419 0019 1314 1413.</a:t>
            </a:r>
            <a:endPar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49630" marR="0" lvl="1" indent="-457200" algn="l" defTabSz="914400" rtl="0" eaLnBrk="0" fontAlgn="base" latinLnBrk="0" hangingPunct="0">
              <a:lnSpc>
                <a:spcPct val="80000"/>
              </a:lnSpc>
              <a:spcBef>
                <a:spcPct val="20000"/>
              </a:spcBef>
              <a:spcAft>
                <a:spcPct val="0"/>
              </a:spcAft>
              <a:buClr>
                <a:schemeClr val="hlink"/>
              </a:buClr>
              <a:buSzPct val="55000"/>
              <a:buFont typeface="Copperplate Gothic Light" pitchFamily="34" charset="0"/>
              <a:buAutoNum type="arabicPeriod"/>
              <a:defRPr/>
            </a:pPr>
            <a:r>
              <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She then applies her decryption transformation </a:t>
            </a:r>
            <a:r>
              <a:rPr kumimoji="1" lang="en-US" altLang="zh-CN" sz="1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D</a:t>
            </a:r>
            <a:r>
              <a:rPr kumimoji="1" lang="en-US" altLang="zh-CN" sz="18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(2537,13)</a:t>
            </a:r>
            <a:r>
              <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x</a:t>
            </a:r>
            <a:r>
              <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8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x</a:t>
            </a:r>
            <a:r>
              <a:rPr kumimoji="1" lang="en-US" altLang="zh-CN" sz="1800" b="0" i="0"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937</a:t>
            </a:r>
            <a:r>
              <a:rPr kumimoji="1" lang="en-US" altLang="zh-CN" sz="1800" b="0" i="1"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 </a:t>
            </a:r>
            <a:r>
              <a:rPr kumimoji="1" lang="en-US" altLang="zh-CN" sz="1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2537 to each block. </a:t>
            </a:r>
            <a:endPar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849630" marR="0" lvl="1" indent="-457200" algn="l" defTabSz="914400" rtl="0" eaLnBrk="0" fontAlgn="base" latinLnBrk="0" hangingPunct="0">
              <a:lnSpc>
                <a:spcPct val="80000"/>
              </a:lnSpc>
              <a:spcBef>
                <a:spcPct val="20000"/>
              </a:spcBef>
              <a:spcAft>
                <a:spcPct val="0"/>
              </a:spcAft>
              <a:buClr>
                <a:schemeClr val="hlink"/>
              </a:buClr>
              <a:buSzPct val="55000"/>
              <a:buFont typeface="Copperplate Gothic Light" pitchFamily="34" charset="0"/>
              <a:buAutoNum type="arabicPeriod"/>
              <a:defRPr/>
            </a:pPr>
            <a:r>
              <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She finds (using her laptop, programming skills, and knowledge of discrete mathematics) that 1204</a:t>
            </a:r>
            <a:r>
              <a:rPr kumimoji="1" lang="en-US" altLang="zh-CN" sz="1800" b="0" i="0"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937 </a:t>
            </a:r>
            <a:r>
              <a:rPr kumimoji="1" lang="en-US" altLang="zh-CN" sz="1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2537 = 817, 419</a:t>
            </a:r>
            <a:r>
              <a:rPr kumimoji="1" lang="en-US" altLang="zh-CN" sz="1800" b="0" i="0"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937 </a:t>
            </a:r>
            <a:r>
              <a:rPr kumimoji="1" lang="en-US" altLang="zh-CN" sz="1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2537 = 555 ,  19</a:t>
            </a:r>
            <a:r>
              <a:rPr kumimoji="1" lang="en-US" altLang="zh-CN" sz="1800" b="0" i="0"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937 </a:t>
            </a:r>
            <a:r>
              <a:rPr kumimoji="1" lang="en-US" altLang="zh-CN" sz="1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2537 = 1310, 1314</a:t>
            </a:r>
            <a:r>
              <a:rPr kumimoji="1" lang="en-US" altLang="zh-CN" sz="1800" b="0" i="0"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937 </a:t>
            </a:r>
            <a:r>
              <a:rPr kumimoji="1" lang="en-US" altLang="zh-CN" sz="1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2537 = 2173, and 1413</a:t>
            </a:r>
            <a:r>
              <a:rPr kumimoji="1" lang="en-US" altLang="zh-CN" sz="1800" b="0" i="0"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rPr>
              <a:t>937 </a:t>
            </a:r>
            <a:r>
              <a:rPr kumimoji="1" lang="en-US" altLang="zh-CN" sz="1800" b="1"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mod</a:t>
            </a:r>
            <a:r>
              <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2537 = 1026.</a:t>
            </a:r>
            <a:endParaRPr kumimoji="1" lang="en-US" altLang="zh-CN" sz="1800" b="0" i="0" u="none" strike="noStrike" kern="0" cap="none" spc="0" normalizeH="0" baseline="30000" noProof="1" dirty="0">
              <a:solidFill>
                <a:schemeClr val="tx1"/>
              </a:solidFill>
              <a:latin typeface="Times New Roman" panose="02020503050405090304" pitchFamily="18" charset="0"/>
              <a:ea typeface="+mn-ea"/>
              <a:cs typeface="Times New Roman" panose="02020503050405090304" pitchFamily="18" charset="0"/>
            </a:endParaRPr>
          </a:p>
          <a:p>
            <a:pPr marL="849630" marR="0" lvl="1" indent="-457200" algn="l" defTabSz="914400" rtl="0" eaLnBrk="0" fontAlgn="base" latinLnBrk="0" hangingPunct="0">
              <a:lnSpc>
                <a:spcPct val="80000"/>
              </a:lnSpc>
              <a:spcBef>
                <a:spcPct val="20000"/>
              </a:spcBef>
              <a:spcAft>
                <a:spcPct val="0"/>
              </a:spcAft>
              <a:buClr>
                <a:schemeClr val="hlink"/>
              </a:buClr>
              <a:buSzPct val="55000"/>
              <a:buFont typeface="Copperplate Gothic Light" pitchFamily="34" charset="0"/>
              <a:buAutoNum type="arabicPeriod"/>
              <a:defRPr/>
            </a:pPr>
            <a:r>
              <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She sends  0817 0555 1310 2173 1026.</a:t>
            </a:r>
            <a:endParaRPr kumimoji="1" lang="en-US" altLang="zh-CN" sz="18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None/>
              <a:defRPr/>
            </a:pP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When one of her friends receive the message, they apply Alice’s encryption transformation </a:t>
            </a:r>
            <a:r>
              <a:rPr kumimoji="1" lang="en-US" altLang="zh-CN" sz="2400" b="0" i="1"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E</a:t>
            </a:r>
            <a:r>
              <a:rPr kumimoji="1" lang="en-US" altLang="zh-CN" sz="2400" b="0" i="0" u="none" strike="noStrike" kern="0" cap="none" spc="0" normalizeH="0" baseline="-25000" noProof="1" dirty="0">
                <a:solidFill>
                  <a:schemeClr val="tx1"/>
                </a:solidFill>
                <a:latin typeface="Times New Roman" panose="02020503050405090304" pitchFamily="18" charset="0"/>
                <a:ea typeface="+mn-ea"/>
                <a:cs typeface="Times New Roman" panose="02020503050405090304" pitchFamily="18" charset="0"/>
              </a:rPr>
              <a:t>(2537,13)</a:t>
            </a:r>
            <a:r>
              <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rPr>
              <a:t> to each block. They then obtain the original message which they translate back to English letters.</a:t>
            </a:r>
            <a:endPar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endParaRPr kumimoji="1" lang="en-US" altLang="zh-CN" sz="2400" b="0" i="0" u="none" strike="noStrike" kern="0" cap="none" spc="0" normalizeH="0" baseline="0" noProof="1" dirty="0">
              <a:solidFill>
                <a:schemeClr val="tx1"/>
              </a:solidFill>
              <a:latin typeface="Times New Roman" panose="02020503050405090304" pitchFamily="18" charset="0"/>
              <a:ea typeface="+mn-ea"/>
              <a:cs typeface="Times New Roman" panose="02020503050405090304" pitchFamily="18" charset="0"/>
            </a:endParaRPr>
          </a:p>
          <a:p>
            <a:pPr marL="342900" marR="0" indent="-342900" algn="l" defTabSz="914400" rtl="0" eaLnBrk="0" fontAlgn="base" latinLnBrk="0" hangingPunct="0">
              <a:lnSpc>
                <a:spcPct val="80000"/>
              </a:lnSpc>
              <a:spcBef>
                <a:spcPct val="20000"/>
              </a:spcBef>
              <a:spcAft>
                <a:spcPct val="0"/>
              </a:spcAft>
              <a:buClr>
                <a:schemeClr val="folHlink"/>
              </a:buClr>
              <a:buSzPct val="60000"/>
              <a:buFont typeface="Wingdings" panose="05000000000000000000" pitchFamily="2" charset="2"/>
              <a:buChar char="n"/>
              <a:defRPr/>
            </a:pPr>
            <a:endParaRPr kumimoji="1" lang="en-US" altLang="zh-CN" sz="1800" b="0" i="0" u="none" strike="noStrike" kern="0" cap="none" spc="0" normalizeH="0" baseline="0" noProof="1" dirty="0">
              <a:solidFill>
                <a:schemeClr val="tx1"/>
              </a:solidFill>
              <a:latin typeface="+mn-lt"/>
              <a:ea typeface="+mn-ea"/>
              <a:cs typeface="+mn-cs"/>
            </a:endParaRPr>
          </a:p>
        </p:txBody>
      </p:sp>
    </p:spTree>
  </p:cSld>
  <p:clrMapOvr>
    <a:masterClrMapping/>
  </p:clrMapOvr>
</p:sld>
</file>

<file path=ppt/tags/tag1.xml><?xml version="1.0" encoding="utf-8"?>
<p:tagLst xmlns:p="http://schemas.openxmlformats.org/presentationml/2006/main">
  <p:tag name="LATEXADDIN" val="\documentclass{article}&#10;\usepackage{amsmath}&#10;\pagestyle{empty}&#10;\begin{document}&#10;&#10;$$x_{10} \equiv \sum^{9}_{i = 1}ix_i\;\mbox{(mod 11)}.$$&#10;\end{document}"/>
  <p:tag name="IGUANATEXSIZE" val="13"/>
</p:tagLst>
</file>

<file path=ppt/tags/tag2.xml><?xml version="1.0" encoding="utf-8"?>
<p:tagLst xmlns:p="http://schemas.openxmlformats.org/presentationml/2006/main">
  <p:tag name="LATEXADDIN" val="\documentclass{article}&#10;\usepackage{amsmath}&#10;\pagestyle{empty}&#10;\begin{document}&#10;&#10;$$\sum^{10}_{i = 1}ix_i\equiv 0\; \mbox{(mod 11)}.$$&#10;\end{document}"/>
  <p:tag name="IGUANATEXSIZE" val="11"/>
</p:tagLst>
</file>

<file path=ppt/tags/tag3.xml><?xml version="1.0" encoding="utf-8"?>
<p:tagLst xmlns:p="http://schemas.openxmlformats.org/presentationml/2006/main">
  <p:tag name="commondata" val="eyJoZGlkIjoiYmVhZjkwODNmYWU4ZjEyODhhY2JmMGIzNjQ3MTYzNDIifQ=="/>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Light"/>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1" lang="en-US" sz="2400" b="1" i="1" u="sng" strike="noStrike" cap="none" normalizeH="0" baseline="0" smtClean="0">
            <a:ln>
              <a:noFill/>
            </a:ln>
            <a:solidFill>
              <a:schemeClr val="tx1"/>
            </a:solidFill>
            <a:effectLst/>
            <a:latin typeface="Times New Roman" panose="02020503050405090304" pitchFamily="18" charset="0"/>
            <a:ea typeface="宋体" pitchFamily="2" charset="-122"/>
          </a:defRPr>
        </a:defPPr>
      </a:lstStyle>
    </a:spDef>
    <a:ln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1" lang="en-US" sz="2400" b="1" i="1" u="sng" strike="noStrike" cap="none" normalizeH="0" baseline="0" smtClean="0">
            <a:ln>
              <a:noFill/>
            </a:ln>
            <a:solidFill>
              <a:schemeClr val="tx1"/>
            </a:solidFill>
            <a:effectLst/>
            <a:latin typeface="Times New Roman" panose="02020503050405090304"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Light"/>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1" lang="en-US" sz="2400" b="1" i="1" u="sng" strike="noStrike" cap="none" normalizeH="0" baseline="0" smtClean="0">
            <a:ln>
              <a:noFill/>
            </a:ln>
            <a:solidFill>
              <a:schemeClr val="tx1"/>
            </a:solidFill>
            <a:effectLst/>
            <a:latin typeface="Times New Roman" panose="02020503050405090304" pitchFamily="18" charset="0"/>
            <a:ea typeface="宋体" pitchFamily="2" charset="-122"/>
          </a:defRPr>
        </a:defPPr>
      </a:lstStyle>
    </a:spDef>
    <a:ln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1" lang="en-US" sz="2400" b="1" i="1" u="sng" strike="noStrike" cap="none" normalizeH="0" baseline="0" smtClean="0">
            <a:ln>
              <a:noFill/>
            </a:ln>
            <a:solidFill>
              <a:schemeClr val="tx1"/>
            </a:solidFill>
            <a:effectLst/>
            <a:latin typeface="Times New Roman" panose="02020503050405090304"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0</TotalTime>
  <Words>19292</Words>
  <Application>WPS 演示</Application>
  <PresentationFormat>全屏显示(4:3)</PresentationFormat>
  <Paragraphs>366</Paragraphs>
  <Slides>33</Slides>
  <Notes>0</Notes>
  <HiddenSlides>0</HiddenSlides>
  <MMClips>0</MMClips>
  <ScaleCrop>false</ScaleCrop>
  <HeadingPairs>
    <vt:vector size="6" baseType="variant">
      <vt:variant>
        <vt:lpstr>已用的字体</vt:lpstr>
      </vt:variant>
      <vt:variant>
        <vt:i4>22</vt:i4>
      </vt:variant>
      <vt:variant>
        <vt:lpstr>主题</vt:lpstr>
      </vt:variant>
      <vt:variant>
        <vt:i4>2</vt:i4>
      </vt:variant>
      <vt:variant>
        <vt:lpstr>幻灯片标题</vt:lpstr>
      </vt:variant>
      <vt:variant>
        <vt:i4>33</vt:i4>
      </vt:variant>
    </vt:vector>
  </HeadingPairs>
  <TitlesOfParts>
    <vt:vector size="57" baseType="lpstr">
      <vt:lpstr>Arial</vt:lpstr>
      <vt:lpstr>宋体</vt:lpstr>
      <vt:lpstr>Wingdings</vt:lpstr>
      <vt:lpstr>汉仪书宋二KW</vt:lpstr>
      <vt:lpstr>Times New Roman</vt:lpstr>
      <vt:lpstr>Arial Narrow</vt:lpstr>
      <vt:lpstr>Tahoma</vt:lpstr>
      <vt:lpstr>Copperplate Gothic Light</vt:lpstr>
      <vt:lpstr>苹方-简</vt:lpstr>
      <vt:lpstr>Copperplate Gothic Bold</vt:lpstr>
      <vt:lpstr>Symbol</vt:lpstr>
      <vt:lpstr>Kingsoft Sign</vt:lpstr>
      <vt:lpstr>Cambria Math</vt:lpstr>
      <vt:lpstr>Kingsoft Math</vt:lpstr>
      <vt:lpstr>Euclid Symbol</vt:lpstr>
      <vt:lpstr>Thonburi</vt:lpstr>
      <vt:lpstr>微软雅黑</vt:lpstr>
      <vt:lpstr>汉仪旗黑</vt:lpstr>
      <vt:lpstr>Arial Unicode MS</vt:lpstr>
      <vt:lpstr>Cambria Math</vt:lpstr>
      <vt:lpstr>宋体</vt:lpstr>
      <vt:lpstr>Apple Symbols</vt:lpstr>
      <vt:lpstr>Blends</vt:lpstr>
      <vt:lpstr>1_Blends</vt:lpstr>
      <vt:lpstr>PowerPoint 演示文稿</vt:lpstr>
      <vt:lpstr>PowerPoint 演示文稿</vt:lpstr>
      <vt:lpstr>PowerPoint 演示文稿</vt:lpstr>
      <vt:lpstr>Hashing Functions</vt:lpstr>
      <vt:lpstr>PowerPoint 演示文稿</vt:lpstr>
      <vt:lpstr>Pseudorandom Numbers</vt:lpstr>
      <vt:lpstr>PowerPoint 演示文稿</vt:lpstr>
      <vt:lpstr>PowerPoint 演示文稿</vt:lpstr>
      <vt:lpstr>PowerPoint 演示文稿</vt:lpstr>
      <vt:lpstr>PowerPoint 演示文稿</vt:lpstr>
      <vt:lpstr>PowerPoint 演示文稿</vt:lpstr>
      <vt:lpstr>Caesar Cipher（恺撒密码）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yangjuan</dc:creator>
  <cp:lastModifiedBy>杨娟</cp:lastModifiedBy>
  <cp:revision>371</cp:revision>
  <cp:lastPrinted>2025-05-12T16:38:30Z</cp:lastPrinted>
  <dcterms:created xsi:type="dcterms:W3CDTF">2025-05-12T16:38:30Z</dcterms:created>
  <dcterms:modified xsi:type="dcterms:W3CDTF">2025-05-12T16:38:30Z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C8CCDBB9709F3A0873142268F1E4F019_43</vt:lpwstr>
  </property>
  <property fmtid="{D5CDD505-2E9C-101B-9397-08002B2CF9AE}" pid="3" name="KSOProductBuildVer">
    <vt:lpwstr>2052-6.9.0.8865</vt:lpwstr>
  </property>
</Properties>
</file>