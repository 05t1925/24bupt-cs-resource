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35"/>
  </p:handoutMasterIdLst>
  <p:sldIdLst>
    <p:sldId id="532" r:id="rId3"/>
    <p:sldId id="629" r:id="rId4"/>
    <p:sldId id="533" r:id="rId6"/>
    <p:sldId id="534" r:id="rId7"/>
    <p:sldId id="535" r:id="rId8"/>
    <p:sldId id="649" r:id="rId9"/>
    <p:sldId id="650" r:id="rId10"/>
    <p:sldId id="651" r:id="rId11"/>
    <p:sldId id="674" r:id="rId12"/>
    <p:sldId id="603" r:id="rId13"/>
    <p:sldId id="604" r:id="rId14"/>
    <p:sldId id="539" r:id="rId15"/>
    <p:sldId id="675" r:id="rId16"/>
    <p:sldId id="540" r:id="rId17"/>
    <p:sldId id="541" r:id="rId18"/>
    <p:sldId id="607" r:id="rId19"/>
    <p:sldId id="631" r:id="rId20"/>
    <p:sldId id="632" r:id="rId21"/>
    <p:sldId id="543" r:id="rId22"/>
    <p:sldId id="544" r:id="rId23"/>
    <p:sldId id="545" r:id="rId24"/>
    <p:sldId id="606" r:id="rId25"/>
    <p:sldId id="696" r:id="rId26"/>
    <p:sldId id="697" r:id="rId27"/>
    <p:sldId id="633" r:id="rId28"/>
    <p:sldId id="566" r:id="rId29"/>
    <p:sldId id="567" r:id="rId30"/>
    <p:sldId id="677" r:id="rId31"/>
    <p:sldId id="678" r:id="rId32"/>
    <p:sldId id="679" r:id="rId33"/>
    <p:sldId id="648" r:id="rId34"/>
  </p:sldIdLst>
  <p:sldSz cx="9144000" cy="6858000" type="screen4x3"/>
  <p:notesSz cx="6858000" cy="9144000"/>
  <p:custDataLst>
    <p:tags r:id="rId3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FF33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3236"/>
  </p:normalViewPr>
  <p:slideViewPr>
    <p:cSldViewPr showGuides="1">
      <p:cViewPr varScale="1">
        <p:scale>
          <a:sx n="79" d="100"/>
          <a:sy n="79" d="100"/>
        </p:scale>
        <p:origin x="1140" y="24"/>
      </p:cViewPr>
      <p:guideLst>
        <p:guide orient="horz" pos="1440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tags" Target="tags/tag40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0" sz="1200" b="0" i="0" u="none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 b="0" i="0" u="none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defRPr kumimoji="0" sz="1200" b="0" i="0" u="none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i="0" u="none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A65F32-B0A0-46C4-92F6-27582DB7639C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kumimoji="0" sz="1200" b="0" i="0" u="none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 b="0" i="0" u="none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defRPr kumimoji="0" sz="1200" b="0" i="0" u="none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i="0" u="none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8C1D50-C995-4A09-A19D-D423B2EC1D06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19460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With Venn diagrams, you can see that one set is a subset of another just by seeing that you can draw an enclosure around its members that fits completely inside an enclosure drawn around the larger set</a:t>
            </a:r>
            <a:r>
              <a:rPr lang="en-US" altLang="zh-CN" dirty="0">
                <a:latin typeface="Times New Roman" panose="02020603050405020304" pitchFamily="18" charset="0"/>
              </a:rPr>
              <a:t>’</a:t>
            </a:r>
            <a:r>
              <a:rPr lang="en-US" altLang="zh-CN" dirty="0"/>
              <a:t>s members.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Sometimes people also define </a:t>
            </a:r>
            <a:r>
              <a:rPr lang="en-US" altLang="zh-CN" dirty="0">
                <a:latin typeface="Times New Roman" panose="02020603050405020304" pitchFamily="18" charset="0"/>
              </a:rPr>
              <a:t>“</a:t>
            </a:r>
            <a:r>
              <a:rPr lang="en-US" altLang="zh-CN" dirty="0"/>
              <a:t>bags</a:t>
            </a:r>
            <a:r>
              <a:rPr lang="en-US" altLang="zh-CN" dirty="0">
                <a:latin typeface="Times New Roman" panose="02020603050405020304" pitchFamily="18" charset="0"/>
              </a:rPr>
              <a:t>”</a:t>
            </a:r>
            <a:r>
              <a:rPr lang="en-US" altLang="zh-CN" dirty="0"/>
              <a:t>, which are unordered collections in which duplicates matter.  If you have a bag of coins, they are in no particular order, but it matters how many coins of each type you have.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8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9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447925" y="4581525"/>
            <a:ext cx="5756275" cy="1643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School 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 smtClean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BB1D3B-1EBD-4F5D-A3C5-AB94010A1B2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 smtClean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170A6C-4A36-4F4F-8A97-AA10DDA282E6}" type="slidenum">
              <a:rPr kumimoji="0" lang="zh-CN" altLang="en-US" sz="1400" b="0" i="0" u="sng" strike="noStrike" kern="1200" cap="none" spc="0" normalizeH="0" baseline="0" noProof="1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sng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000" noProof="1" dirty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F6CB9-C46A-49C2-9AAC-D33AD46E86C1}" type="slidenum">
              <a:rPr kumimoji="0" lang="zh-CN" altLang="en-US" sz="1000" b="1" i="1" u="sng" strike="noStrike" kern="1200" cap="none" spc="0" normalizeH="0" baseline="0" noProof="1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000" b="1" i="1" u="sng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47725" y="1367790"/>
            <a:ext cx="8107680" cy="476504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u="none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image" Target="../media/image6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39.xml"/><Relationship Id="rId21" Type="http://schemas.openxmlformats.org/officeDocument/2006/relationships/image" Target="../media/image6.png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ctrTitle"/>
          </p:nvPr>
        </p:nvSpPr>
        <p:spPr>
          <a:xfrm>
            <a:off x="1042988" y="1844675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Sets</a:t>
            </a:r>
            <a:endParaRPr lang="en-US" altLang="zh-CN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endParaRPr lang="en-US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Arial Unicode MS" pitchFamily="34" charset="-122"/>
              </a:rPr>
              <a:t>Introduction to Set Theory</a:t>
            </a:r>
            <a:endParaRPr lang="en-US" altLang="zh-CN" dirty="0">
              <a:latin typeface="Times New Roman" panose="02020603050405020304" pitchFamily="18" charset="0"/>
              <a:ea typeface="Arial Unicode MS" pitchFamily="34" charset="-122"/>
            </a:endParaRPr>
          </a:p>
        </p:txBody>
      </p:sp>
      <p:sp>
        <p:nvSpPr>
          <p:cNvPr id="61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</a:rPr>
              <a:t>A </a:t>
            </a:r>
            <a:r>
              <a:rPr lang="en-US" altLang="zh-CN" sz="2800" i="1" dirty="0">
                <a:latin typeface="Times New Roman" panose="02020603050405020304" pitchFamily="18" charset="0"/>
                <a:ea typeface="Arial Unicode MS" pitchFamily="34" charset="-122"/>
              </a:rPr>
              <a:t>set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</a:rPr>
              <a:t> is a new type of structure, representing an </a:t>
            </a:r>
            <a:r>
              <a:rPr lang="en-US" altLang="zh-CN" sz="2800" i="1" dirty="0">
                <a:latin typeface="Times New Roman" panose="02020603050405020304" pitchFamily="18" charset="0"/>
                <a:ea typeface="Arial Unicode MS" pitchFamily="34" charset="-122"/>
              </a:rPr>
              <a:t>unordered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</a:rPr>
              <a:t>collection (group, plurality) of zero or more </a:t>
            </a:r>
            <a:r>
              <a:rPr lang="en-US" altLang="zh-CN" sz="2800" i="1" dirty="0">
                <a:latin typeface="Times New Roman" panose="02020603050405020304" pitchFamily="18" charset="0"/>
                <a:ea typeface="Arial Unicode MS" pitchFamily="34" charset="-122"/>
              </a:rPr>
              <a:t>distinct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</a:rPr>
              <a:t>(different) objects.</a:t>
            </a:r>
            <a:endParaRPr lang="en-US" altLang="zh-CN" sz="2800" dirty="0">
              <a:latin typeface="Times New Roman" panose="02020603050405020304" pitchFamily="18" charset="0"/>
              <a:ea typeface="Arial Unicode MS" pitchFamily="34" charset="-122"/>
            </a:endParaRPr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Arial Unicode MS" pitchFamily="34" charset="-122"/>
              </a:rPr>
              <a:t>Set theory deals with operations between, relations among, and statements about sets.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Arial Unicode MS" pitchFamily="34" charset="-122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</a:rPr>
              <a:t>Sets are ubiquitous in computer software systems.</a:t>
            </a:r>
            <a:endParaRPr lang="en-US" altLang="zh-CN" sz="2800" dirty="0">
              <a:latin typeface="Times New Roman" panose="02020603050405020304" pitchFamily="18" charset="0"/>
              <a:ea typeface="Arial Unicode MS" pitchFamily="34" charset="-122"/>
            </a:endParaRPr>
          </a:p>
          <a:p>
            <a:pPr eaLnBrk="1" hangingPunct="1"/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Arial Unicode MS" pitchFamily="34" charset="-122"/>
              </a:rPr>
              <a:t>All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Arial Unicode MS" pitchFamily="34" charset="-122"/>
              </a:rPr>
              <a:t> of mathematics can be defined in terms of some form of set theory (using predicate logic).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Sets</a:t>
            </a:r>
            <a:r>
              <a:rPr lang="zh-CN" altLang="en-US" b="1" dirty="0">
                <a:latin typeface="Times New Roman" panose="02020603050405020304" pitchFamily="18" charset="0"/>
              </a:rPr>
              <a:t>（集合）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8" name="Rectangle 3"/>
          <p:cNvSpPr>
            <a:spLocks noGrp="1"/>
          </p:cNvSpPr>
          <p:nvPr>
            <p:ph idx="1"/>
          </p:nvPr>
        </p:nvSpPr>
        <p:spPr>
          <a:xfrm>
            <a:off x="251460" y="1557020"/>
            <a:ext cx="6590665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</a:t>
            </a:r>
            <a:r>
              <a:rPr lang="en-US" altLang="zh-CN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set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is a collection or group of objects</a:t>
            </a:r>
            <a:r>
              <a:rPr lang="zh-CN" altLang="en-US" dirty="0">
                <a:latin typeface="Times New Roman" panose="02020603050405020304" pitchFamily="18" charset="0"/>
              </a:rPr>
              <a:t>（对象） </a:t>
            </a:r>
            <a:r>
              <a:rPr lang="en-US" altLang="zh-CN" dirty="0">
                <a:latin typeface="Times New Roman" panose="02020603050405020304" pitchFamily="18" charset="0"/>
              </a:rPr>
              <a:t>or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elements</a:t>
            </a:r>
            <a:r>
              <a:rPr lang="zh-CN" altLang="en-US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（元素）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or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members</a:t>
            </a:r>
            <a:r>
              <a:rPr lang="zh-CN" altLang="en-US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（成员）</a:t>
            </a:r>
            <a:r>
              <a:rPr lang="en-US" altLang="zh-CN" dirty="0">
                <a:latin typeface="Times New Roman" panose="02020603050405020304" pitchFamily="18" charset="0"/>
              </a:rPr>
              <a:t>. (Cantor 1895)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A set is said to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contain</a:t>
            </a:r>
            <a:r>
              <a:rPr lang="zh-CN" altLang="en-US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（包含）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its elements.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There must be an underlying universal set</a:t>
            </a:r>
            <a:r>
              <a:rPr lang="zh-CN" altLang="en-US" dirty="0">
                <a:latin typeface="Times New Roman" panose="02020603050405020304" pitchFamily="18" charset="0"/>
              </a:rPr>
              <a:t>（全集） </a:t>
            </a:r>
            <a:r>
              <a:rPr lang="en-US" altLang="zh-CN" dirty="0">
                <a:latin typeface="Times New Roman" panose="02020603050405020304" pitchFamily="18" charset="0"/>
              </a:rPr>
              <a:t>U, either specifically stated or understood.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8200" name="矩形 1"/>
          <p:cNvSpPr/>
          <p:nvPr/>
        </p:nvSpPr>
        <p:spPr>
          <a:xfrm>
            <a:off x="6947853" y="2458085"/>
            <a:ext cx="20558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Cantor 1845-1918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8201" name="Picture 12" descr="https://gimg2.baidu.com/image_search/src=http%3A%2F%2Fdingyue.ws.126.net%2FkEKjPZ2QVLiaO8VyHM3imwV7N7B5i9gptZHXBisRTIOqe1581868496845compressflag.jpeg&amp;refer=http%3A%2F%2Fdingyue.ws.126.net&amp;app=2002&amp;size=f9999,10000&amp;q=a80&amp;n=0&amp;g=0n&amp;fmt=auto?sec=1652450557&amp;t=a77c640492d286f5528b34a8e92594d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47853" y="-99377"/>
            <a:ext cx="2055812" cy="2506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Notation</a:t>
            </a:r>
            <a:endParaRPr lang="zh-CN" altLang="en-US" dirty="0"/>
          </a:p>
        </p:txBody>
      </p:sp>
      <p:sp>
        <p:nvSpPr>
          <p:cNvPr id="92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list the elements between braces: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S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(Note: listing an object more than once does not change the set. Ordering means nothing.)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Notation</a:t>
            </a:r>
            <a:endParaRPr lang="en-US" altLang="zh-CN" dirty="0"/>
          </a:p>
        </p:txBody>
      </p:sp>
      <p:sp>
        <p:nvSpPr>
          <p:cNvPr id="10246" name="Rectangle 3"/>
          <p:cNvSpPr>
            <a:spLocks noGrp="1"/>
          </p:cNvSpPr>
          <p:nvPr>
            <p:ph idx="1"/>
          </p:nvPr>
        </p:nvSpPr>
        <p:spPr>
          <a:xfrm>
            <a:off x="971233" y="155702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specification by predicates</a:t>
            </a:r>
            <a:r>
              <a:rPr lang="zh-CN" altLang="en-US" dirty="0">
                <a:latin typeface="Times New Roman" panose="02020603050405020304" pitchFamily="18" charset="0"/>
              </a:rPr>
              <a:t>（谓词）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S= 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)},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denote a sentence or statement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 concerning the variable object </a:t>
            </a:r>
            <a:r>
              <a:rPr lang="en-US" altLang="zh-CN" i="1" dirty="0">
                <a:latin typeface="Times New Roman" panose="02020603050405020304" pitchFamily="18" charset="0"/>
              </a:rPr>
              <a:t>x.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S contains all the elements from U which make the predicate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</a:rPr>
              <a:t>true.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Notation</a:t>
            </a:r>
            <a:endParaRPr lang="en-US" altLang="zh-CN" dirty="0"/>
          </a:p>
        </p:txBody>
      </p:sp>
      <p:sp>
        <p:nvSpPr>
          <p:cNvPr id="112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brace notation with ellipses: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S = { . . . , -3, -2, -1},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the negative integers.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Notation</a:t>
            </a:r>
            <a:endParaRPr lang="en-US" altLang="zh-CN" dirty="0"/>
          </a:p>
        </p:txBody>
      </p:sp>
      <p:sp>
        <p:nvSpPr>
          <p:cNvPr id="122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is a member of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or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is an element of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Î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is not an element of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	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Ï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Examples</a:t>
            </a:r>
            <a:endParaRPr lang="en-US" altLang="zh-CN" dirty="0"/>
          </a:p>
        </p:txBody>
      </p:sp>
      <p:sp>
        <p:nvSpPr>
          <p:cNvPr id="133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|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is a positive integer less than 4} ={1,2,3}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|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is a letter in the word “byte”}                            ={b, y, t, e}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A={BASIC,PASCAL,ADA} and B={ADA,PASCAL,BASIC}, then A=B.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>
          <a:xfrm>
            <a:off x="196850" y="1268730"/>
            <a:ext cx="8938895" cy="4076700"/>
          </a:xfrm>
        </p:spPr>
        <p:txBody>
          <a:bodyPr vert="horz" wrap="square" lIns="91440" tIns="45720" rIns="91440" bIns="45720" anchor="t" anchorCtr="0"/>
          <a:p>
            <a:pPr lvl="0" eaLnBrk="1" hangingPunct="1">
              <a:spcAft>
                <a:spcPts val="600"/>
              </a:spcAft>
            </a:pPr>
            <a:r>
              <a:rPr lang="en-US" altLang="zh-CN" sz="3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𝕽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Reals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hangingPunct="1">
              <a:spcAft>
                <a:spcPts val="600"/>
              </a:spcAft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ℕ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Nature numbers = {0, 1, 2, 3</a:t>
            </a:r>
            <a:r>
              <a:rPr lang="en-US" altLang="zh-CN" sz="3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..}, the counting numbers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hangingPunct="1">
              <a:spcAft>
                <a:spcPts val="600"/>
              </a:spcAft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ℤ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All numbers = {</a:t>
            </a:r>
            <a:r>
              <a:rPr lang="en-US" altLang="zh-CN" sz="3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-3, -2, -1, 0, 1, 2, 3</a:t>
            </a:r>
            <a:r>
              <a:rPr lang="en-US" altLang="zh-CN" sz="3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hangingPunct="1">
              <a:spcAft>
                <a:spcPts val="600"/>
              </a:spcAft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ℤ</a:t>
            </a:r>
            <a:r>
              <a:rPr lang="en-US" altLang="zh-CN" sz="3600" b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The set of positive numbers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hangingPunct="1">
              <a:spcAft>
                <a:spcPts val="600"/>
              </a:spcAft>
            </a:pP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ℚ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The Rational numbers</a:t>
            </a:r>
            <a:endParaRPr lang="en-US" altLang="zh-CN" sz="3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sym typeface="+mn-ea"/>
              </a:rPr>
              <a:t>Common Universal Sets</a:t>
            </a:r>
            <a:endParaRPr lang="en-US" altLang="zh-CN" sz="3200" dirty="0">
              <a:latin typeface="Copperplate Gothic Bold" panose="020E07050202060204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163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Two sets A and B are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equal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（相等）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if  and only if they have the same elements, we write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Empty set</a:t>
            </a:r>
            <a:r>
              <a:rPr lang="zh-CN" altLang="en-US" dirty="0"/>
              <a:t>（空集）</a:t>
            </a:r>
            <a:endParaRPr lang="zh-CN" altLang="en-US" dirty="0"/>
          </a:p>
        </p:txBody>
      </p:sp>
      <p:sp>
        <p:nvSpPr>
          <p:cNvPr id="174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Definition: </a:t>
            </a:r>
            <a:r>
              <a:rPr lang="en-US" altLang="zh-CN" dirty="0">
                <a:latin typeface="Times New Roman" panose="02020603050405020304" pitchFamily="18" charset="0"/>
              </a:rPr>
              <a:t>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void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set,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null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set,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empty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set, denoted {} or 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, is the set with no members.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Example: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|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is a real number and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=-1}= .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Subsets</a:t>
            </a:r>
            <a:r>
              <a:rPr lang="zh-CN" altLang="en-US" dirty="0"/>
              <a:t>（子集）</a:t>
            </a:r>
            <a:endParaRPr lang="zh-CN" altLang="en-US" dirty="0"/>
          </a:p>
        </p:txBody>
      </p:sp>
      <p:sp>
        <p:nvSpPr>
          <p:cNvPr id="204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Definition: </a:t>
            </a:r>
            <a:r>
              <a:rPr lang="en-US" altLang="zh-CN" dirty="0">
                <a:latin typeface="Times New Roman" panose="02020603050405020304" pitchFamily="18" charset="0"/>
              </a:rPr>
              <a:t>The set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a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subset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of the set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or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contained in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（包含于）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,denoted A</a:t>
            </a:r>
            <a:r>
              <a:rPr lang="en-US" altLang="zh-CN" dirty="0">
                <a:latin typeface="Symbol" panose="05050102010706020507" pitchFamily="18" charset="2"/>
              </a:rPr>
              <a:t>Í </a:t>
            </a:r>
            <a:r>
              <a:rPr lang="en-US" altLang="zh-CN" dirty="0">
                <a:latin typeface="Times New Roman" panose="02020603050405020304" pitchFamily="18" charset="0"/>
              </a:rPr>
              <a:t>B, iff</a:t>
            </a:r>
            <a:r>
              <a:rPr lang="zh-CN" altLang="en-US" dirty="0">
                <a:latin typeface="Times New Roman" panose="02020603050405020304" pitchFamily="18" charset="0"/>
              </a:rPr>
              <a:t>（当且仅当）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Symbol" panose="05050102010706020507" pitchFamily="18" charset="2"/>
              </a:rPr>
              <a:t>			"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Symbol" panose="05050102010706020507" pitchFamily="18" charset="2"/>
              </a:rPr>
              <a:t>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Symbol" panose="05050102010706020507" pitchFamily="18" charset="2"/>
              </a:rPr>
              <a:t>®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Symbol" panose="05050102010706020507" pitchFamily="18" charset="2"/>
              </a:rPr>
              <a:t>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not a subset of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,denote A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B.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endParaRPr lang="en-US" altLang="zh-CN" dirty="0">
              <a:latin typeface="Times New Roman" panose="02020603050405020304" pitchFamily="18" charset="0"/>
              <a:sym typeface="Euclid Math Two" panose="02050601010101010101" pitchFamily="18" charset="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0487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343" y="3644900"/>
            <a:ext cx="211137" cy="342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latin typeface="Copperplate Gothic Bold" panose="020E0705020206020404" pitchFamily="34" charset="0"/>
              </a:rPr>
              <a:t>Subsets</a:t>
            </a:r>
            <a:r>
              <a:rPr lang="zh-CN" altLang="en-US" sz="3200" dirty="0">
                <a:latin typeface="Copperplate Gothic Bold" panose="020E0705020206020404" pitchFamily="34" charset="0"/>
              </a:rPr>
              <a:t>（子集）</a:t>
            </a:r>
            <a:endParaRPr lang="zh-CN" altLang="en-US" sz="3200" dirty="0">
              <a:latin typeface="Copperplate Gothic Bold" panose="020E0705020206020404" pitchFamily="34" charset="0"/>
            </a:endParaRPr>
          </a:p>
        </p:txBody>
      </p:sp>
      <p:sp>
        <p:nvSpPr>
          <p:cNvPr id="14342" name="Rectangle 3"/>
          <p:cNvSpPr>
            <a:spLocks noGrp="1"/>
          </p:cNvSpPr>
          <p:nvPr>
            <p:ph idx="1"/>
          </p:nvPr>
        </p:nvSpPr>
        <p:spPr>
          <a:xfrm>
            <a:off x="467678" y="1268095"/>
            <a:ext cx="8512175" cy="414813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Examples: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ℤ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ℤ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𝕽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 A={1, 2, 3, 4, 5, 6}, B={2, 4, 5}, C={1, 2, 3, 4, 5}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latin typeface="Symbol" panose="05050102010706020507" pitchFamily="18" charset="2"/>
              </a:rPr>
              <a:t>Í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 </a:t>
            </a:r>
            <a:r>
              <a:rPr lang="en-US" altLang="zh-CN" dirty="0">
                <a:latin typeface="Symbol" panose="05050102010706020507" pitchFamily="18" charset="2"/>
              </a:rPr>
              <a:t>Í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C </a:t>
            </a:r>
            <a:r>
              <a:rPr lang="en-US" altLang="zh-CN" dirty="0">
                <a:latin typeface="Symbol" panose="05050102010706020507" pitchFamily="18" charset="2"/>
              </a:rPr>
              <a:t>Í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en-US" altLang="zh-CN" dirty="0">
                <a:latin typeface="Symbol" panose="05050102010706020507" pitchFamily="18" charset="2"/>
                <a:cs typeface="Times New Roman" panose="02020603050405020304" pitchFamily="18" charset="0"/>
              </a:rPr>
              <a:t>A    B, A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Symbol" panose="05050102010706020507" pitchFamily="18" charset="2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Symbol" panose="05050102010706020507" pitchFamily="18" charset="2"/>
                <a:cs typeface="Times New Roman" panose="02020603050405020304" pitchFamily="18" charset="0"/>
              </a:rPr>
              <a:t>     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pic>
        <p:nvPicPr>
          <p:cNvPr id="14343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4076700"/>
            <a:ext cx="211138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4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848" y="4076383"/>
            <a:ext cx="211137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5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593" y="4076700"/>
            <a:ext cx="211137" cy="342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Note</a:t>
            </a:r>
            <a:endParaRPr lang="en-US" altLang="zh-CN" dirty="0"/>
          </a:p>
        </p:txBody>
      </p:sp>
      <p:sp>
        <p:nvSpPr>
          <p:cNvPr id="235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 assertion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Symbol" panose="05050102010706020507" pitchFamily="18" charset="2"/>
              </a:rPr>
              <a:t>ÎÆ </a:t>
            </a:r>
            <a:r>
              <a:rPr lang="en-US" altLang="zh-CN" dirty="0">
                <a:latin typeface="Times New Roman" panose="02020603050405020304" pitchFamily="18" charset="0"/>
              </a:rPr>
              <a:t>is always false. Hence </a:t>
            </a:r>
            <a:r>
              <a:rPr lang="en-US" altLang="zh-CN" dirty="0">
                <a:latin typeface="Symbol" panose="05050102010706020507" pitchFamily="18" charset="2"/>
              </a:rPr>
              <a:t>"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Symbol" panose="05050102010706020507" pitchFamily="18" charset="2"/>
              </a:rPr>
              <a:t>ÎÆ®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Symbol" panose="05050102010706020507" pitchFamily="18" charset="2"/>
              </a:rPr>
              <a:t>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 is always true(vacuously). Therefore, </a:t>
            </a:r>
            <a:r>
              <a:rPr lang="en-US" altLang="zh-CN" dirty="0">
                <a:latin typeface="Symbol" panose="05050102010706020507" pitchFamily="18" charset="2"/>
              </a:rPr>
              <a:t>Æ </a:t>
            </a:r>
            <a:r>
              <a:rPr lang="en-US" altLang="zh-CN" dirty="0">
                <a:latin typeface="Times New Roman" panose="02020603050405020304" pitchFamily="18" charset="0"/>
              </a:rPr>
              <a:t>is a subset of every set, 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set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is always a subset of itself,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/>
              <a:t>Definition</a:t>
            </a:r>
            <a:endParaRPr lang="en-US" altLang="zh-CN" dirty="0"/>
          </a:p>
        </p:txBody>
      </p:sp>
      <p:sp>
        <p:nvSpPr>
          <p:cNvPr id="245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Definition: </a:t>
            </a:r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Í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but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¹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the we say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is a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proper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subset</a:t>
            </a:r>
            <a:r>
              <a:rPr lang="zh-CN" altLang="en-US" dirty="0">
                <a:latin typeface="Times New Roman" panose="02020603050405020304" pitchFamily="18" charset="0"/>
              </a:rPr>
              <a:t>（真子集）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denoted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Symbol" panose="05050102010706020507" pitchFamily="18" charset="2"/>
              </a:rPr>
              <a:t>Ì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(in some texts).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Venn diagrams</a:t>
            </a:r>
            <a:r>
              <a:rPr lang="zh-CN" altLang="en-US" dirty="0"/>
              <a:t>（文氏图）</a:t>
            </a:r>
            <a:endParaRPr lang="zh-CN" altLang="en-US" dirty="0"/>
          </a:p>
        </p:txBody>
      </p:sp>
      <p:sp>
        <p:nvSpPr>
          <p:cNvPr id="256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Diagrams used to show relationships between sets after the British logician John Venn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5607" name="Group 24"/>
          <p:cNvGrpSpPr/>
          <p:nvPr/>
        </p:nvGrpSpPr>
        <p:grpSpPr>
          <a:xfrm>
            <a:off x="2916238" y="3503613"/>
            <a:ext cx="936625" cy="1512887"/>
            <a:chOff x="1701" y="2750"/>
            <a:chExt cx="590" cy="953"/>
          </a:xfrm>
        </p:grpSpPr>
        <p:sp>
          <p:nvSpPr>
            <p:cNvPr id="25616" name="Oval 6"/>
            <p:cNvSpPr/>
            <p:nvPr/>
          </p:nvSpPr>
          <p:spPr>
            <a:xfrm>
              <a:off x="1701" y="2750"/>
              <a:ext cx="590" cy="9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en-US" altLang="zh-CN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25617" name="Oval 8"/>
            <p:cNvSpPr/>
            <p:nvPr/>
          </p:nvSpPr>
          <p:spPr>
            <a:xfrm>
              <a:off x="1791" y="3022"/>
              <a:ext cx="317" cy="4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18" name="Text Box 9"/>
            <p:cNvSpPr txBox="1"/>
            <p:nvPr/>
          </p:nvSpPr>
          <p:spPr>
            <a:xfrm>
              <a:off x="1973" y="2795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en-US" altLang="zh-CN" b="0" u="none" dirty="0">
                  <a:latin typeface="Times New Roman" panose="02020603050405020304" pitchFamily="18" charset="0"/>
                </a:rPr>
                <a:t>B</a:t>
              </a:r>
              <a:endParaRPr lang="en-US" altLang="zh-CN" b="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25619" name="Text Box 10"/>
            <p:cNvSpPr txBox="1"/>
            <p:nvPr/>
          </p:nvSpPr>
          <p:spPr>
            <a:xfrm>
              <a:off x="1837" y="3113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b="0" u="none" dirty="0">
                  <a:latin typeface="Times New Roman" panose="02020603050405020304" pitchFamily="18" charset="0"/>
                </a:rPr>
                <a:t>A</a:t>
              </a:r>
              <a:endParaRPr lang="en-US" altLang="zh-CN" b="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608" name="Rectangle 11"/>
          <p:cNvSpPr/>
          <p:nvPr/>
        </p:nvSpPr>
        <p:spPr>
          <a:xfrm>
            <a:off x="2916238" y="5087938"/>
            <a:ext cx="901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b="0" i="0" u="none" dirty="0">
                <a:latin typeface="Times New Roman" panose="02020603050405020304" pitchFamily="18" charset="0"/>
              </a:rPr>
              <a:t>A </a:t>
            </a:r>
            <a:r>
              <a:rPr lang="en-US" altLang="zh-CN" b="0" i="0" u="none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0" i="0" u="none" dirty="0">
                <a:latin typeface="Times New Roman" panose="02020603050405020304" pitchFamily="18" charset="0"/>
              </a:rPr>
              <a:t>B</a:t>
            </a:r>
            <a:endParaRPr lang="zh-CN" altLang="en-US" b="0" i="0" u="none" dirty="0">
              <a:latin typeface="Times New Roman" panose="02020603050405020304" pitchFamily="18" charset="0"/>
            </a:endParaRPr>
          </a:p>
        </p:txBody>
      </p:sp>
      <p:grpSp>
        <p:nvGrpSpPr>
          <p:cNvPr id="25609" name="Group 23"/>
          <p:cNvGrpSpPr/>
          <p:nvPr/>
        </p:nvGrpSpPr>
        <p:grpSpPr>
          <a:xfrm>
            <a:off x="5219700" y="3432175"/>
            <a:ext cx="1655763" cy="1657350"/>
            <a:chOff x="3198" y="2704"/>
            <a:chExt cx="1043" cy="1044"/>
          </a:xfrm>
        </p:grpSpPr>
        <p:sp>
          <p:nvSpPr>
            <p:cNvPr id="25612" name="Oval 16"/>
            <p:cNvSpPr/>
            <p:nvPr/>
          </p:nvSpPr>
          <p:spPr>
            <a:xfrm>
              <a:off x="3198" y="2704"/>
              <a:ext cx="635" cy="99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13" name="Oval 18"/>
            <p:cNvSpPr/>
            <p:nvPr/>
          </p:nvSpPr>
          <p:spPr>
            <a:xfrm>
              <a:off x="3560" y="2704"/>
              <a:ext cx="681" cy="1044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14" name="Rectangle 20"/>
            <p:cNvSpPr/>
            <p:nvPr/>
          </p:nvSpPr>
          <p:spPr>
            <a:xfrm>
              <a:off x="3288" y="2886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b="0" u="none" dirty="0">
                  <a:latin typeface="Times New Roman" panose="02020603050405020304" pitchFamily="18" charset="0"/>
                </a:rPr>
                <a:t>B</a:t>
              </a:r>
              <a:endParaRPr lang="zh-CN" altLang="en-US" b="0" u="none" dirty="0">
                <a:latin typeface="Times New Roman" panose="02020603050405020304" pitchFamily="18" charset="0"/>
              </a:endParaRPr>
            </a:p>
          </p:txBody>
        </p:sp>
        <p:sp>
          <p:nvSpPr>
            <p:cNvPr id="25615" name="Rectangle 21"/>
            <p:cNvSpPr/>
            <p:nvPr/>
          </p:nvSpPr>
          <p:spPr>
            <a:xfrm>
              <a:off x="3923" y="3203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b="0" u="none" dirty="0">
                  <a:latin typeface="Times New Roman" panose="02020603050405020304" pitchFamily="18" charset="0"/>
                </a:rPr>
                <a:t>A</a:t>
              </a:r>
              <a:endParaRPr lang="zh-CN" altLang="en-US" b="0" u="none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610" name="Rectangle 22"/>
          <p:cNvSpPr/>
          <p:nvPr/>
        </p:nvSpPr>
        <p:spPr>
          <a:xfrm>
            <a:off x="5508625" y="5159375"/>
            <a:ext cx="12239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b="0" i="0" u="none" dirty="0">
                <a:latin typeface="Times New Roman" panose="02020603050405020304" pitchFamily="18" charset="0"/>
              </a:rPr>
              <a:t>A    B</a:t>
            </a:r>
            <a:endParaRPr lang="zh-CN" altLang="en-US" b="0" i="0" u="none" dirty="0">
              <a:latin typeface="Times New Roman" panose="02020603050405020304" pitchFamily="18" charset="0"/>
            </a:endParaRPr>
          </a:p>
        </p:txBody>
      </p:sp>
      <p:pic>
        <p:nvPicPr>
          <p:cNvPr id="2561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1863" y="5232400"/>
            <a:ext cx="211137" cy="342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Venn Diagrams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8438" name="WordArt 3"/>
          <p:cNvSpPr>
            <a:spLocks noChangeArrowheads="1" noChangeShapeType="1" noTextEdit="1"/>
          </p:cNvSpPr>
          <p:nvPr/>
        </p:nvSpPr>
        <p:spPr bwMode="auto">
          <a:xfrm>
            <a:off x="1447800" y="29718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9" name="WordArt 4"/>
          <p:cNvSpPr>
            <a:spLocks noChangeArrowheads="1" noChangeShapeType="1" noTextEdit="1"/>
          </p:cNvSpPr>
          <p:nvPr/>
        </p:nvSpPr>
        <p:spPr bwMode="auto">
          <a:xfrm>
            <a:off x="990600" y="3924300"/>
            <a:ext cx="53340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-1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0" name="WordArt 5"/>
          <p:cNvSpPr>
            <a:spLocks noChangeArrowheads="1" noChangeShapeType="1" noTextEdit="1"/>
          </p:cNvSpPr>
          <p:nvPr/>
        </p:nvSpPr>
        <p:spPr bwMode="auto">
          <a:xfrm>
            <a:off x="2590800" y="36576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1" name="WordArt 6"/>
          <p:cNvSpPr>
            <a:spLocks noChangeArrowheads="1" noChangeShapeType="1" noTextEdit="1"/>
          </p:cNvSpPr>
          <p:nvPr/>
        </p:nvSpPr>
        <p:spPr bwMode="auto">
          <a:xfrm>
            <a:off x="4267200" y="28956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2" name="WordArt 7"/>
          <p:cNvSpPr>
            <a:spLocks noChangeArrowheads="1" noChangeShapeType="1" noTextEdit="1"/>
          </p:cNvSpPr>
          <p:nvPr/>
        </p:nvSpPr>
        <p:spPr bwMode="auto">
          <a:xfrm>
            <a:off x="3657600" y="41148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3" name="WordArt 8"/>
          <p:cNvSpPr>
            <a:spLocks noChangeArrowheads="1" noChangeShapeType="1" noTextEdit="1"/>
          </p:cNvSpPr>
          <p:nvPr/>
        </p:nvSpPr>
        <p:spPr bwMode="auto">
          <a:xfrm>
            <a:off x="5715000" y="31242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4" name="WordArt 9"/>
          <p:cNvSpPr>
            <a:spLocks noChangeArrowheads="1" noChangeShapeType="1" noTextEdit="1"/>
          </p:cNvSpPr>
          <p:nvPr/>
        </p:nvSpPr>
        <p:spPr bwMode="auto">
          <a:xfrm>
            <a:off x="4343400" y="41148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5" name="WordArt 10"/>
          <p:cNvSpPr>
            <a:spLocks noChangeArrowheads="1" noChangeShapeType="1" noTextEdit="1"/>
          </p:cNvSpPr>
          <p:nvPr/>
        </p:nvSpPr>
        <p:spPr bwMode="auto">
          <a:xfrm>
            <a:off x="6324600" y="33528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6" name="WordArt 11"/>
          <p:cNvSpPr>
            <a:spLocks noChangeArrowheads="1" noChangeShapeType="1" noTextEdit="1"/>
          </p:cNvSpPr>
          <p:nvPr/>
        </p:nvSpPr>
        <p:spPr bwMode="auto">
          <a:xfrm>
            <a:off x="4953000" y="43434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7" name="WordArt 12"/>
          <p:cNvSpPr>
            <a:spLocks noChangeArrowheads="1" noChangeShapeType="1" noTextEdit="1"/>
          </p:cNvSpPr>
          <p:nvPr/>
        </p:nvSpPr>
        <p:spPr bwMode="auto">
          <a:xfrm>
            <a:off x="7010400" y="35814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8" name="WordArt 13"/>
          <p:cNvSpPr>
            <a:spLocks noChangeArrowheads="1" noChangeShapeType="1" noTextEdit="1"/>
          </p:cNvSpPr>
          <p:nvPr/>
        </p:nvSpPr>
        <p:spPr bwMode="auto">
          <a:xfrm>
            <a:off x="6248400" y="4572000"/>
            <a:ext cx="247650" cy="5715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9</a:t>
            </a:r>
            <a:endParaRPr kumimoji="0" lang="zh-CN" altLang="en-US" sz="3600" b="1" i="1" u="sng" strike="noStrike" kern="10" cap="none" spc="0" normalizeH="0" baseline="0" noProof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449" name="Group 26"/>
          <p:cNvGrpSpPr/>
          <p:nvPr/>
        </p:nvGrpSpPr>
        <p:grpSpPr>
          <a:xfrm>
            <a:off x="533400" y="1905000"/>
            <a:ext cx="8077200" cy="4191000"/>
            <a:chOff x="336" y="1200"/>
            <a:chExt cx="5088" cy="2640"/>
          </a:xfrm>
        </p:grpSpPr>
        <p:sp>
          <p:nvSpPr>
            <p:cNvPr id="18457" name="Oval 14"/>
            <p:cNvSpPr/>
            <p:nvPr/>
          </p:nvSpPr>
          <p:spPr>
            <a:xfrm>
              <a:off x="336" y="1200"/>
              <a:ext cx="5088" cy="264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8" name="Oval 15"/>
            <p:cNvSpPr/>
            <p:nvPr/>
          </p:nvSpPr>
          <p:spPr>
            <a:xfrm>
              <a:off x="1344" y="1344"/>
              <a:ext cx="3840" cy="225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59" name="Oval 16"/>
            <p:cNvSpPr/>
            <p:nvPr/>
          </p:nvSpPr>
          <p:spPr>
            <a:xfrm>
              <a:off x="2112" y="1440"/>
              <a:ext cx="1392" cy="201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60" name="Oval 17"/>
            <p:cNvSpPr/>
            <p:nvPr/>
          </p:nvSpPr>
          <p:spPr>
            <a:xfrm rot="752356">
              <a:off x="1440" y="2352"/>
              <a:ext cx="2832" cy="81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61" name="Oval 18"/>
            <p:cNvSpPr/>
            <p:nvPr/>
          </p:nvSpPr>
          <p:spPr>
            <a:xfrm rot="752356">
              <a:off x="2208" y="1728"/>
              <a:ext cx="2832" cy="81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06227" name="WordArt 19" descr="Narrow vertical"/>
          <p:cNvSpPr>
            <a:spLocks noChangeArrowheads="1" noChangeShapeType="1" noTextEdit="1"/>
          </p:cNvSpPr>
          <p:nvPr/>
        </p:nvSpPr>
        <p:spPr bwMode="auto">
          <a:xfrm>
            <a:off x="2286000" y="5486400"/>
            <a:ext cx="5400675" cy="1084263"/>
          </a:xfrm>
          <a:prstGeom prst="rect">
            <a:avLst/>
          </a:prstGeom>
        </p:spPr>
        <p:txBody>
          <a:bodyPr wrap="none" numCol="1" fromWordArt="1">
            <a:prstTxWarp prst="textCurveUp">
              <a:avLst>
                <a:gd name="adj" fmla="val 40356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sng" strike="noStrike" kern="10" cap="none" spc="0" normalizeH="0" baseline="0" noProof="0">
                <a:ln w="12700">
                  <a:solidFill>
                    <a:srgbClr val="000000"/>
                  </a:solidFill>
                  <a:rou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Integers from -1 to 9</a:t>
            </a:r>
            <a:endParaRPr kumimoji="0" lang="zh-CN" altLang="en-US" sz="3600" b="1" i="1" u="sng" strike="noStrike" kern="10" cap="none" spc="0" normalizeH="0" baseline="0" noProof="0">
              <a:ln w="12700">
                <a:solidFill>
                  <a:srgbClr val="000000"/>
                </a:solidFill>
                <a:rou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28" name="WordArt 20" descr="Narrow vertical"/>
          <p:cNvSpPr>
            <a:spLocks noChangeArrowheads="1" noChangeShapeType="1" noTextEdit="1"/>
          </p:cNvSpPr>
          <p:nvPr/>
        </p:nvSpPr>
        <p:spPr bwMode="auto">
          <a:xfrm>
            <a:off x="3657600" y="5029200"/>
            <a:ext cx="3505200" cy="914400"/>
          </a:xfrm>
          <a:prstGeom prst="rect">
            <a:avLst/>
          </a:prstGeom>
        </p:spPr>
        <p:txBody>
          <a:bodyPr wrap="none" numCol="1" fromWordArt="1">
            <a:prstTxWarp prst="textCurveUp">
              <a:avLst>
                <a:gd name="adj" fmla="val 46852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sng" strike="noStrike" kern="10" cap="none" spc="0" normalizeH="0" baseline="0" noProof="0">
                <a:ln w="12700">
                  <a:solidFill>
                    <a:srgbClr val="000000"/>
                  </a:solidFill>
                  <a:rou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Positive integers less than 10</a:t>
            </a:r>
            <a:endParaRPr kumimoji="0" lang="zh-CN" altLang="en-US" sz="3200" b="1" i="1" u="sng" strike="noStrike" kern="10" cap="none" spc="0" normalizeH="0" baseline="0" noProof="0">
              <a:ln w="12700">
                <a:solidFill>
                  <a:srgbClr val="000000"/>
                </a:solidFill>
                <a:rou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29" name="WordArt 21" descr="Narrow vertical"/>
          <p:cNvSpPr>
            <a:spLocks noChangeArrowheads="1" noChangeShapeType="1" noTextEdit="1"/>
          </p:cNvSpPr>
          <p:nvPr/>
        </p:nvSpPr>
        <p:spPr bwMode="auto">
          <a:xfrm>
            <a:off x="5486400" y="3657600"/>
            <a:ext cx="2743200" cy="762000"/>
          </a:xfrm>
          <a:prstGeom prst="rect">
            <a:avLst/>
          </a:prstGeom>
        </p:spPr>
        <p:txBody>
          <a:bodyPr wrap="none" numCol="1" fromWordArt="1">
            <a:prstTxWarp prst="textCurveUp">
              <a:avLst>
                <a:gd name="adj" fmla="val 46852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sng" strike="noStrike" kern="10" cap="none" spc="0" normalizeH="0" baseline="0" noProof="0">
                <a:ln w="12700">
                  <a:solidFill>
                    <a:srgbClr val="000000"/>
                  </a:solidFill>
                  <a:rou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Even integers from 2 to 9</a:t>
            </a:r>
            <a:endParaRPr kumimoji="0" lang="zh-CN" altLang="en-US" sz="3200" b="1" i="1" u="sng" strike="noStrike" kern="10" cap="none" spc="0" normalizeH="0" baseline="0" noProof="0">
              <a:ln w="12700">
                <a:solidFill>
                  <a:srgbClr val="000000"/>
                </a:solidFill>
                <a:rou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30" name="WordArt 22" descr="Narrow vertical"/>
          <p:cNvSpPr>
            <a:spLocks noChangeArrowheads="1" noChangeShapeType="1" noTextEdit="1"/>
          </p:cNvSpPr>
          <p:nvPr/>
        </p:nvSpPr>
        <p:spPr bwMode="auto">
          <a:xfrm>
            <a:off x="4191000" y="4876800"/>
            <a:ext cx="2819400" cy="381000"/>
          </a:xfrm>
          <a:prstGeom prst="rect">
            <a:avLst/>
          </a:prstGeom>
        </p:spPr>
        <p:txBody>
          <a:bodyPr wrap="none" numCol="1" fromWordArt="1">
            <a:prstTxWarp prst="textCurveUp">
              <a:avLst>
                <a:gd name="adj" fmla="val 29167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sng" strike="noStrike" kern="10" cap="none" spc="0" normalizeH="0" baseline="0" noProof="0">
                <a:ln w="12700">
                  <a:solidFill>
                    <a:srgbClr val="000000"/>
                  </a:solidFill>
                  <a:rou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Odd integers from 1 to 9</a:t>
            </a:r>
            <a:endParaRPr kumimoji="0" lang="zh-CN" altLang="en-US" sz="3200" b="1" i="1" u="sng" strike="noStrike" kern="10" cap="none" spc="0" normalizeH="0" baseline="0" noProof="0">
              <a:ln w="12700">
                <a:solidFill>
                  <a:srgbClr val="000000"/>
                </a:solidFill>
                <a:rou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31" name="WordArt 23" descr="Narrow vertical"/>
          <p:cNvSpPr>
            <a:spLocks noChangeArrowheads="1" noChangeShapeType="1" noTextEdit="1"/>
          </p:cNvSpPr>
          <p:nvPr/>
        </p:nvSpPr>
        <p:spPr bwMode="auto">
          <a:xfrm>
            <a:off x="3886200" y="5105400"/>
            <a:ext cx="1143000" cy="457200"/>
          </a:xfrm>
          <a:prstGeom prst="rect">
            <a:avLst/>
          </a:prstGeom>
        </p:spPr>
        <p:txBody>
          <a:bodyPr wrap="none" numCol="1" fromWordArt="1">
            <a:prstTxWarp prst="textCurveUp">
              <a:avLst>
                <a:gd name="adj" fmla="val 29167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sng" strike="noStrike" kern="10" cap="none" spc="0" normalizeH="0" baseline="0" noProof="0">
                <a:ln w="12700">
                  <a:solidFill>
                    <a:srgbClr val="000000"/>
                  </a:solidFill>
                  <a:rou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Primes &lt;10</a:t>
            </a:r>
            <a:endParaRPr kumimoji="0" lang="zh-CN" altLang="en-US" sz="3200" b="1" i="1" u="sng" strike="noStrike" kern="10" cap="none" spc="0" normalizeH="0" baseline="0" noProof="0">
              <a:ln w="12700">
                <a:solidFill>
                  <a:srgbClr val="000000"/>
                </a:solidFill>
                <a:rou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55" name="Picture 24" descr="venn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7350125" y="0"/>
            <a:ext cx="1793875" cy="2133600"/>
          </a:xfrm>
          <a:ln w="38100">
            <a:solidFill>
              <a:srgbClr val="006600">
                <a:alpha val="100000"/>
              </a:srgbClr>
            </a:solidFill>
            <a:miter lim="800000"/>
            <a:headEnd/>
            <a:tailEnd/>
          </a:ln>
        </p:spPr>
      </p:pic>
      <p:sp>
        <p:nvSpPr>
          <p:cNvPr id="18456" name="Text Box 25"/>
          <p:cNvSpPr txBox="1"/>
          <p:nvPr/>
        </p:nvSpPr>
        <p:spPr>
          <a:xfrm>
            <a:off x="7600950" y="2111375"/>
            <a:ext cx="1543050" cy="860425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b="0" i="0" u="none" dirty="0">
                <a:latin typeface="Times New Roman" panose="02020603050405020304" pitchFamily="18" charset="0"/>
              </a:rPr>
              <a:t>John Venn</a:t>
            </a:r>
            <a:br>
              <a:rPr lang="en-US" altLang="zh-CN" b="0" i="0" u="none" dirty="0">
                <a:latin typeface="Times New Roman" panose="02020603050405020304" pitchFamily="18" charset="0"/>
              </a:rPr>
            </a:br>
            <a:r>
              <a:rPr lang="en-US" altLang="zh-CN" b="0" i="0" u="none" dirty="0">
                <a:latin typeface="Times New Roman" panose="02020603050405020304" pitchFamily="18" charset="0"/>
              </a:rPr>
              <a:t>1834-1923</a:t>
            </a:r>
            <a:endParaRPr lang="en-US" altLang="zh-CN" b="0" i="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6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6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6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06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06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 power set</a:t>
            </a:r>
            <a:endParaRPr lang="en-US" altLang="zh-CN" dirty="0"/>
          </a:p>
        </p:txBody>
      </p:sp>
      <p:sp>
        <p:nvSpPr>
          <p:cNvPr id="286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Definition: </a:t>
            </a:r>
            <a:r>
              <a:rPr lang="en-US" altLang="zh-CN" dirty="0">
                <a:latin typeface="Times New Roman" panose="02020603050405020304" pitchFamily="18" charset="0"/>
              </a:rPr>
              <a:t>The set of all subset of a set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denoted </a:t>
            </a:r>
            <a:r>
              <a:rPr lang="en-US" altLang="zh-CN" i="1" dirty="0">
                <a:latin typeface="Times New Roman" panose="02020603050405020304" pitchFamily="18" charset="0"/>
              </a:rPr>
              <a:t>P(A)</a:t>
            </a:r>
            <a:r>
              <a:rPr lang="en-US" altLang="zh-CN" dirty="0">
                <a:latin typeface="Times New Roman" panose="02020603050405020304" pitchFamily="18" charset="0"/>
              </a:rPr>
              <a:t>, is called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power set</a:t>
            </a:r>
            <a:r>
              <a:rPr lang="zh-CN" altLang="en-US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（幂集）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+mn-ea"/>
              </a:rPr>
              <a:t>Example</a:t>
            </a:r>
            <a:endParaRPr lang="en-US" altLang="zh-CN" dirty="0">
              <a:latin typeface="Times New Roman" panose="02020603050405020304" pitchFamily="18" charset="0"/>
              <a:sym typeface="+mn-ea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  <a:sym typeface="+mn-ea"/>
              </a:rPr>
              <a:t>If A = {a, b} then P(A) = {</a:t>
            </a:r>
            <a:r>
              <a:rPr lang="en-US" altLang="zh-CN" dirty="0">
                <a:latin typeface="Symbol" panose="05050102010706020507" pitchFamily="18" charset="2"/>
                <a:sym typeface="+mn-ea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, {a}, {b}, {a,b}}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Cardinality</a:t>
            </a:r>
            <a:r>
              <a:rPr lang="zh-CN" altLang="en-US" i="1" dirty="0"/>
              <a:t>（基数）</a:t>
            </a:r>
            <a:endParaRPr lang="zh-CN" altLang="en-US" dirty="0"/>
          </a:p>
        </p:txBody>
      </p:sp>
      <p:sp>
        <p:nvSpPr>
          <p:cNvPr id="266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Definition: </a:t>
            </a:r>
            <a:r>
              <a:rPr lang="en-US" altLang="zh-CN" dirty="0">
                <a:latin typeface="Times New Roman" panose="02020603050405020304" pitchFamily="18" charset="0"/>
              </a:rPr>
              <a:t>The number of distinct elements in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denoted 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|, is called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cardinality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the cardinality is a natural number (in N), then the set is called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finite</a:t>
            </a:r>
            <a:r>
              <a:rPr lang="en-US" altLang="zh-CN" dirty="0">
                <a:latin typeface="Times New Roman" panose="02020603050405020304" pitchFamily="18" charset="0"/>
              </a:rPr>
              <a:t>, else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infinite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Cardinality - </a:t>
            </a:r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2151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blipFill rotWithShape="0">
            <a:blip r:embed="rId1" cstate="print"/>
            <a:stretch>
              <a:fillRect l="-549" t="-3259" b="-889"/>
            </a:stretch>
          </a:blipFill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endParaRPr kumimoji="1" lang="zh-CN" altLang="en-US" sz="32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Note</a:t>
            </a:r>
            <a:endParaRPr lang="en-US" altLang="zh-CN" dirty="0"/>
          </a:p>
        </p:txBody>
      </p:sp>
      <p:sp>
        <p:nvSpPr>
          <p:cNvPr id="307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Sets can be both members and subsets of other sets.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Example: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}}.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has two elements and hence four subsets: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, {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}, {{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}}, {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}}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Note that </a:t>
            </a:r>
            <a:r>
              <a:rPr lang="en-US" altLang="zh-CN" dirty="0">
                <a:latin typeface="Symbol" panose="05050102010706020507" pitchFamily="18" charset="2"/>
              </a:rPr>
              <a:t>Æ </a:t>
            </a:r>
            <a:r>
              <a:rPr lang="en-US" altLang="zh-CN" dirty="0">
                <a:latin typeface="Times New Roman" panose="02020603050405020304" pitchFamily="18" charset="0"/>
              </a:rPr>
              <a:t>is both a member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and a subset 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!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317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be a set and let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}},Then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and {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} 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}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and {{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}} 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Euclid Math Two" panose="02050601010101010101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31751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858" y="3069273"/>
            <a:ext cx="211137" cy="342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Let S is set. S= {∅,1,{∅, {∅}}}. What is the cardinality of S ?</a:t>
            </a:r>
            <a:endParaRPr lang="zh-CN" altLang="en-US" sz="260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sng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kumimoji="1" lang="en-US" altLang="en-US" sz="1600" b="0" i="0" u="sng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369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42F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8D04F0-36EB-4E25-995C-C73F972C018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Whichs are the sets that contains {2} as an element?</a:t>
            </a:r>
            <a:endParaRPr lang="zh-CN" altLang="en-US" sz="260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380"/>
            <a:ext cx="668274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{x ∈ R| x is an integer greater than 0}</a:t>
            </a:r>
            <a:endParaRPr lang="zh-CN" altLang="en-US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3575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{x ∈ R| x is the square of an integer}</a:t>
            </a:r>
            <a:endParaRPr lang="zh-CN" altLang="en-US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9290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{2,{2}}</a:t>
            </a:r>
            <a:endParaRPr lang="zh-CN" altLang="en-US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{{2},{{2}}}</a:t>
            </a:r>
            <a:endParaRPr lang="zh-CN" altLang="en-US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4218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93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1828800" y="5072063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{{2},{2,{2}}}</a:t>
            </a:r>
            <a:endParaRPr lang="zh-CN" altLang="en-US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136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1828800" y="5643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{{{2}}}</a:t>
            </a:r>
            <a:endParaRPr lang="zh-CN" altLang="en-US" sz="2600" b="0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114425" y="5707380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1" compatLnSpc="1">
            <a:noAutofit/>
          </a:bodyPr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F</a:t>
            </a:r>
            <a:endParaRPr kumimoji="1" lang="en-US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4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1" i="1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369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42F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Ordered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-tuples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27405" y="1268413"/>
            <a:ext cx="8135938" cy="51133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Definition: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These are like sets, except that duplications matter, and the order makes a difference.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For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ℕ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, an ordered n-tuple or a sequence or list of length n is written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(a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, 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, …, 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and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it’s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first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element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is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a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etc.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Empty sequence, singlet, pairs, triples, quadruples, quintuples, …, n-tuples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Examples: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(1, 2) ≠ (2, 1) ≠ (2, 1, 1)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{1, 2}= {2, 1}={2, 1, 1}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Text Box 4"/>
          <p:cNvSpPr txBox="1"/>
          <p:nvPr/>
        </p:nvSpPr>
        <p:spPr>
          <a:xfrm>
            <a:off x="5364480" y="4796790"/>
            <a:ext cx="1871663" cy="860425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b="0" i="0" u="none" dirty="0">
                <a:latin typeface="Times New Roman" panose="02020603050405020304" pitchFamily="18" charset="0"/>
              </a:rPr>
              <a:t>Contrast with</a:t>
            </a:r>
            <a:br>
              <a:rPr lang="en-US" altLang="zh-CN" b="0" i="0" u="none" dirty="0">
                <a:latin typeface="Times New Roman" panose="02020603050405020304" pitchFamily="18" charset="0"/>
              </a:rPr>
            </a:br>
            <a:r>
              <a:rPr lang="en-US" altLang="zh-CN" b="0" i="0" u="none" dirty="0">
                <a:latin typeface="Times New Roman" panose="02020603050405020304" pitchFamily="18" charset="0"/>
              </a:rPr>
              <a:t>sets’ {} </a:t>
            </a:r>
            <a:endParaRPr lang="en-US" altLang="zh-CN" b="0" i="0" u="none" dirty="0">
              <a:latin typeface="Times New Roman" panose="02020603050405020304" pitchFamily="18" charset="0"/>
            </a:endParaRPr>
          </a:p>
        </p:txBody>
      </p:sp>
      <p:sp>
        <p:nvSpPr>
          <p:cNvPr id="4" name="Line 5"/>
          <p:cNvSpPr/>
          <p:nvPr/>
        </p:nvSpPr>
        <p:spPr>
          <a:xfrm flipH="1">
            <a:off x="4999355" y="5330190"/>
            <a:ext cx="3810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i="1" dirty="0">
                <a:latin typeface="Times New Roman" panose="02020603050405020304" pitchFamily="18" charset="0"/>
              </a:rPr>
              <a:t>Cartesian product</a:t>
            </a:r>
            <a:r>
              <a:rPr lang="zh-CN" altLang="en-US" sz="4000" i="1" dirty="0">
                <a:latin typeface="Times New Roman" panose="02020603050405020304" pitchFamily="18" charset="0"/>
              </a:rPr>
              <a:t>（笛卡尔乘积）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348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Definition: </a:t>
            </a:r>
            <a:r>
              <a:rPr lang="en-US" altLang="zh-CN" dirty="0">
                <a:latin typeface="Times New Roman" panose="02020603050405020304" pitchFamily="18" charset="0"/>
              </a:rPr>
              <a:t>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Cartesian product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with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denoted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is the set of ordered pairs {&lt;a, b&gt; |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Symbol" panose="05050102010706020507" pitchFamily="18" charset="2"/>
              </a:rPr>
              <a:t>Î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Symbol" panose="05050102010706020507" pitchFamily="18" charset="2"/>
              </a:rPr>
              <a:t>Ù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Symbol" panose="05050102010706020507" pitchFamily="18" charset="2"/>
              </a:rPr>
              <a:t>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Notation: </a:t>
            </a:r>
            <a:endParaRPr lang="en-US" altLang="zh-CN" dirty="0">
              <a:latin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Note: The Cartesian product of anything with </a:t>
            </a:r>
            <a:r>
              <a:rPr lang="en-US" altLang="zh-CN" dirty="0">
                <a:latin typeface="Symbol" panose="05050102010706020507" pitchFamily="18" charset="2"/>
              </a:rPr>
              <a:t>Æ </a:t>
            </a:r>
            <a:r>
              <a:rPr lang="en-US" altLang="zh-CN" dirty="0">
                <a:latin typeface="Times New Roman" panose="02020603050405020304" pitchFamily="18" charset="0"/>
              </a:rPr>
              <a:t>is </a:t>
            </a:r>
            <a:r>
              <a:rPr lang="en-US" altLang="zh-CN" dirty="0">
                <a:latin typeface="Symbol" panose="05050102010706020507" pitchFamily="18" charset="2"/>
              </a:rPr>
              <a:t>Æ</a:t>
            </a:r>
            <a:r>
              <a:rPr lang="en-US" altLang="zh-CN" dirty="0">
                <a:latin typeface="Times New Roman" panose="02020603050405020304" pitchFamily="18" charset="0"/>
              </a:rPr>
              <a:t>. (why?)</a:t>
            </a:r>
            <a:endParaRPr lang="en-US" altLang="zh-CN" dirty="0"/>
          </a:p>
        </p:txBody>
      </p:sp>
      <p:pic>
        <p:nvPicPr>
          <p:cNvPr id="3482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3284538"/>
            <a:ext cx="3657600" cy="788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358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= {a,b},</a:t>
            </a:r>
            <a:r>
              <a:rPr lang="en-US" altLang="zh-CN" i="1" dirty="0">
                <a:latin typeface="Times New Roman" panose="02020603050405020304" pitchFamily="18" charset="0"/>
              </a:rPr>
              <a:t> B</a:t>
            </a:r>
            <a:r>
              <a:rPr lang="en-US" altLang="zh-CN" dirty="0">
                <a:latin typeface="Times New Roman" panose="02020603050405020304" pitchFamily="18" charset="0"/>
              </a:rPr>
              <a:t> = {1, 2, 3}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{&lt;a, 1&gt;, &lt;a, 2&gt;, &lt;a, 3&gt;, &lt;b, 1&gt;, &lt;b, 2&gt;, &lt;b, 3&gt;}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What is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?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 = m and |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| = n, what is 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 B</a:t>
            </a:r>
            <a:r>
              <a:rPr lang="en-US" altLang="zh-CN" dirty="0">
                <a:latin typeface="Times New Roman" panose="02020603050405020304" pitchFamily="18" charset="0"/>
              </a:rPr>
              <a:t>|?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2800" dirty="0">
                <a:latin typeface="Copperplate Gothic Bold" panose="020E0705020206020404" pitchFamily="34" charset="0"/>
              </a:rPr>
              <a:t>Using set notation with quantifiers</a:t>
            </a:r>
            <a:endParaRPr lang="en-US" altLang="zh-CN" sz="2800" dirty="0">
              <a:latin typeface="Copperplate Gothic Bold" panose="020E0705020206020404" pitchFamily="34" charset="0"/>
            </a:endParaRPr>
          </a:p>
        </p:txBody>
      </p:sp>
      <p:sp>
        <p:nvSpPr>
          <p:cNvPr id="22534" name="内容占位符 4"/>
          <p:cNvSpPr>
            <a:spLocks noGrp="1"/>
          </p:cNvSpPr>
          <p:nvPr>
            <p:ph idx="1"/>
          </p:nvPr>
        </p:nvSpPr>
        <p:spPr>
          <a:xfrm>
            <a:off x="431483" y="1268413"/>
            <a:ext cx="8512175" cy="5411787"/>
          </a:xfrm>
        </p:spPr>
        <p:txBody>
          <a:bodyPr vert="horz" wrap="square" lIns="91440" tIns="45720" rIns="91440" bIns="45720" anchor="t" anchorCtr="0"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22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1200"/>
              </a:spcBef>
            </a:pPr>
            <a:r>
              <a:rPr lang="en-US" altLang="zh-CN" sz="29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the statements </a:t>
            </a:r>
            <a:r>
              <a:rPr lang="en-US" altLang="zh-CN" sz="29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∀x∈R (x</a:t>
            </a:r>
            <a:r>
              <a:rPr lang="en-US" altLang="zh-CN" sz="297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9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≥ 0)</a:t>
            </a:r>
            <a:r>
              <a:rPr lang="en-US" altLang="zh-CN" sz="29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9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∃x∈Z(x</a:t>
            </a:r>
            <a:r>
              <a:rPr lang="en-US" altLang="zh-CN" sz="297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9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=1)</a:t>
            </a:r>
            <a:r>
              <a:rPr lang="en-US" altLang="zh-CN" sz="29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mean?</a:t>
            </a:r>
            <a:endParaRPr lang="en-US" altLang="zh-CN" sz="2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real number x, x</a:t>
            </a:r>
            <a:r>
              <a:rPr lang="en-US" altLang="zh-C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0. This statement can be expressed as “The square of every real number is nonnegative.” 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an integer x such that x</a:t>
            </a:r>
            <a:r>
              <a:rPr lang="en-US" altLang="zh-CN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 This statement can be expressed as “There is an integer whose square is 1.”  This is also a true statement because x = 1 is such an integer (as is −1).</a:t>
            </a:r>
            <a:endParaRPr lang="zh-CN" alt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535" name="矩形 1"/>
          <p:cNvSpPr/>
          <p:nvPr/>
        </p:nvSpPr>
        <p:spPr>
          <a:xfrm>
            <a:off x="4060825" y="3676015"/>
            <a:ext cx="24796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A={x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R | 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u="sng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≥ 0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2400" b="1" i="1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矩形 7"/>
          <p:cNvSpPr/>
          <p:nvPr/>
        </p:nvSpPr>
        <p:spPr>
          <a:xfrm>
            <a:off x="4041775" y="5516563"/>
            <a:ext cx="24669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A={x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Z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u="sng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2400" b="1" i="1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>
          <a:xfrm>
            <a:off x="1116013" y="115888"/>
            <a:ext cx="7793037" cy="711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latin typeface="Copperplate Gothic Bold" panose="020E0705020206020404" pitchFamily="34" charset="0"/>
              </a:rPr>
              <a:t>Truth Sets of Quantifiers</a:t>
            </a:r>
            <a:endParaRPr lang="zh-CN" altLang="en-US" sz="3200" dirty="0">
              <a:latin typeface="Copperplate Gothic Bold" panose="020E0705020206020404" pitchFamily="34" charset="0"/>
            </a:endParaRPr>
          </a:p>
        </p:txBody>
      </p:sp>
      <p:sp>
        <p:nvSpPr>
          <p:cNvPr id="23558" name="Rectangle 3"/>
          <p:cNvSpPr>
            <a:spLocks noGrp="1"/>
          </p:cNvSpPr>
          <p:nvPr>
            <p:ph idx="1"/>
          </p:nvPr>
        </p:nvSpPr>
        <p:spPr>
          <a:xfrm>
            <a:off x="755333" y="1268730"/>
            <a:ext cx="8351837" cy="50514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Definition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Given a predicate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, and a domain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The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truth set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is denoted by 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∈D |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)}.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Example 23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What are the truth sets of the predicates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and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where the domain is the set of integers?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600" i="1" dirty="0">
                <a:latin typeface="Times New Roman" panose="02020603050405020304" pitchFamily="18" charset="0"/>
              </a:rPr>
              <a:t>P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x</a:t>
            </a:r>
            <a:r>
              <a:rPr lang="en-US" altLang="zh-CN" sz="2600" dirty="0">
                <a:latin typeface="Times New Roman" panose="02020603050405020304" pitchFamily="18" charset="0"/>
              </a:rPr>
              <a:t>) : |</a:t>
            </a:r>
            <a:r>
              <a:rPr lang="en-US" altLang="zh-CN" sz="2600" i="1" dirty="0">
                <a:latin typeface="Times New Roman" panose="02020603050405020304" pitchFamily="18" charset="0"/>
              </a:rPr>
              <a:t>x</a:t>
            </a:r>
            <a:r>
              <a:rPr lang="en-US" altLang="zh-CN" sz="2600" dirty="0">
                <a:latin typeface="Times New Roman" panose="02020603050405020304" pitchFamily="18" charset="0"/>
              </a:rPr>
              <a:t>| = 1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600" i="1" dirty="0">
                <a:latin typeface="Times New Roman" panose="02020603050405020304" pitchFamily="18" charset="0"/>
              </a:rPr>
              <a:t>Q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x</a:t>
            </a:r>
            <a:r>
              <a:rPr lang="en-US" altLang="zh-CN" sz="2600" dirty="0">
                <a:latin typeface="Times New Roman" panose="02020603050405020304" pitchFamily="18" charset="0"/>
              </a:rPr>
              <a:t>) : </a:t>
            </a:r>
            <a:r>
              <a:rPr lang="en-US" altLang="zh-CN" sz="26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</a:rPr>
              <a:t> = 2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600" i="1" dirty="0">
                <a:latin typeface="Times New Roman" panose="02020603050405020304" pitchFamily="18" charset="0"/>
              </a:rPr>
              <a:t>R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x</a:t>
            </a:r>
            <a:r>
              <a:rPr lang="en-US" altLang="zh-CN" sz="2600" dirty="0">
                <a:latin typeface="Times New Roman" panose="02020603050405020304" pitchFamily="18" charset="0"/>
              </a:rPr>
              <a:t>) : |</a:t>
            </a:r>
            <a:r>
              <a:rPr lang="en-US" altLang="zh-CN" sz="2600" i="1" dirty="0">
                <a:latin typeface="Times New Roman" panose="02020603050405020304" pitchFamily="18" charset="0"/>
              </a:rPr>
              <a:t>x</a:t>
            </a:r>
            <a:r>
              <a:rPr lang="en-US" altLang="zh-CN" sz="2600" dirty="0">
                <a:latin typeface="Times New Roman" panose="02020603050405020304" pitchFamily="18" charset="0"/>
              </a:rPr>
              <a:t>| = </a:t>
            </a:r>
            <a:r>
              <a:rPr lang="en-US" altLang="zh-CN" sz="2600" i="1" dirty="0">
                <a:latin typeface="Times New Roman" panose="02020603050405020304" pitchFamily="18" charset="0"/>
              </a:rPr>
              <a:t>x</a:t>
            </a:r>
            <a:endParaRPr lang="zh-CN" altLang="en-US" sz="26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1" name="Rectangle 2"/>
          <p:cNvSpPr>
            <a:spLocks noGrp="1"/>
          </p:cNvSpPr>
          <p:nvPr>
            <p:ph type="title"/>
          </p:nvPr>
        </p:nvSpPr>
        <p:spPr>
          <a:xfrm>
            <a:off x="1043940" y="404178"/>
            <a:ext cx="7793038" cy="711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latin typeface="Copperplate Gothic Bold" panose="020E0705020206020404" pitchFamily="34" charset="0"/>
              </a:rPr>
              <a:t>Review of 2.1 Set</a:t>
            </a:r>
            <a:endParaRPr lang="en-US" altLang="zh-CN" sz="3200" dirty="0">
              <a:latin typeface="Copperplate Gothic Bold" panose="020E0705020206020404" pitchFamily="34" charset="0"/>
            </a:endParaRPr>
          </a:p>
        </p:txBody>
      </p:sp>
      <p:sp>
        <p:nvSpPr>
          <p:cNvPr id="24582" name="内容占位符 2"/>
          <p:cNvSpPr>
            <a:spLocks noGrp="1"/>
          </p:cNvSpPr>
          <p:nvPr>
            <p:ph idx="1"/>
          </p:nvPr>
        </p:nvSpPr>
        <p:spPr>
          <a:xfrm>
            <a:off x="683578" y="1340168"/>
            <a:ext cx="8382000" cy="4608512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Sets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sets: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𝓡,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ℕ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ℤ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notations: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{a, b,</a:t>
            </a:r>
            <a:r>
              <a:rPr lang="en-US" altLang="zh-C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{x|P(x)}</a:t>
            </a:r>
            <a:r>
              <a:rPr lang="en-US" altLang="zh-C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S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S</a:t>
            </a:r>
            <a:r>
              <a:rPr lang="en-US" altLang="zh-CN" dirty="0">
                <a:latin typeface="Symbol" panose="05050102010706020507" pitchFamily="18" charset="2"/>
              </a:rPr>
              <a:t>Ì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S=T</a:t>
            </a:r>
            <a:r>
              <a:rPr lang="en-US" altLang="zh-C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set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2.1</a:t>
            </a:r>
            <a:endParaRPr lang="en-US" altLang="zh-CN" dirty="0"/>
          </a:p>
          <a:p>
            <a:pPr lvl="1"/>
            <a:r>
              <a:rPr lang="en-US" altLang="zh-CN" dirty="0"/>
              <a:t>8,12,18,24,48</a:t>
            </a:r>
            <a:endParaRPr lang="en-US" altLang="zh-CN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947.499212598425,&quot;width&quot;:3237.499212598425}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" val="ProblemSetting"/>
  <p:tag name="RAINPROBLEMTYPE" val="MultipleChoiceMA"/>
</p:tagLst>
</file>

<file path=ppt/tags/tag39.xml><?xml version="1.0" encoding="utf-8"?>
<p:tagLst xmlns:p="http://schemas.openxmlformats.org/presentationml/2006/main">
  <p:tag name="RAINPROBLEM" val="MultipleChoiceMA"/>
  <p:tag name="PROBLEMSCORE" val="1.0"/>
  <p:tag name="PROBLEMSCORE_HALF" val="0.0"/>
</p:tagLst>
</file>

<file path=ppt/tags/tag40.xml><?xml version="1.0" encoding="utf-8"?>
<p:tagLst xmlns:p="http://schemas.openxmlformats.org/presentationml/2006/main">
  <p:tag name="KSO_WPP_MARK_KEY" val="3fd55ebf-c3de-439c-9a40-eef11dd3ae70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6206</Words>
  <Application>WPS 演示</Application>
  <PresentationFormat>全屏显示(4:3)</PresentationFormat>
  <Paragraphs>480</Paragraphs>
  <Slides>31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Copperplate Gothic Bold</vt:lpstr>
      <vt:lpstr>Arial Unicode MS</vt:lpstr>
      <vt:lpstr>Symbol</vt:lpstr>
      <vt:lpstr>微软雅黑</vt:lpstr>
      <vt:lpstr>Arial Unicode MS</vt:lpstr>
      <vt:lpstr>Euclid Math Two</vt:lpstr>
      <vt:lpstr>BatangChe</vt:lpstr>
      <vt:lpstr>Segoe Print</vt:lpstr>
      <vt:lpstr>Blends</vt:lpstr>
      <vt:lpstr>Sets</vt:lpstr>
      <vt:lpstr>Introduction to Set Theory</vt:lpstr>
      <vt:lpstr>Sets（集合）</vt:lpstr>
      <vt:lpstr>Notation</vt:lpstr>
      <vt:lpstr>Notation</vt:lpstr>
      <vt:lpstr>Notation</vt:lpstr>
      <vt:lpstr>Notation</vt:lpstr>
      <vt:lpstr>Examples</vt:lpstr>
      <vt:lpstr>Common Universal Sets</vt:lpstr>
      <vt:lpstr>PowerPoint 演示文稿</vt:lpstr>
      <vt:lpstr>Empty set（空集）</vt:lpstr>
      <vt:lpstr>Subsets（子集）</vt:lpstr>
      <vt:lpstr>Subsets（子集）</vt:lpstr>
      <vt:lpstr>Note</vt:lpstr>
      <vt:lpstr>Definition</vt:lpstr>
      <vt:lpstr>Venn diagrams（文氏图）</vt:lpstr>
      <vt:lpstr>Venn Diagrams</vt:lpstr>
      <vt:lpstr>The power set</vt:lpstr>
      <vt:lpstr>Cardinality（基数）</vt:lpstr>
      <vt:lpstr>Cardinality - Example</vt:lpstr>
      <vt:lpstr>Note</vt:lpstr>
      <vt:lpstr>Example</vt:lpstr>
      <vt:lpstr>PowerPoint 演示文稿</vt:lpstr>
      <vt:lpstr>PowerPoint 演示文稿</vt:lpstr>
      <vt:lpstr>Ordered n-tuples</vt:lpstr>
      <vt:lpstr>Cartesian product（笛卡尔乘积）</vt:lpstr>
      <vt:lpstr>Example</vt:lpstr>
      <vt:lpstr>Using set notation with quantifiers</vt:lpstr>
      <vt:lpstr>Truth Sets of Quantifiers</vt:lpstr>
      <vt:lpstr>Review of 2.1 Set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338</cp:revision>
  <dcterms:created xsi:type="dcterms:W3CDTF">2021-04-25T09:57:00Z</dcterms:created>
  <dcterms:modified xsi:type="dcterms:W3CDTF">2024-04-11T14:11:47Z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DFC13B3D61EE4CCDA5A9440298FE5896</vt:lpwstr>
  </property>
  <property fmtid="{D5CDD505-2E9C-101B-9397-08002B2CF9AE}" pid="3" name="KSOProductBuildVer">
    <vt:lpwstr>2052-11.1.0.15319</vt:lpwstr>
  </property>
</Properties>
</file>