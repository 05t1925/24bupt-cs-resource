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61" r:id="rId3"/>
    <p:sldId id="362" r:id="rId4"/>
    <p:sldId id="363" r:id="rId5"/>
    <p:sldId id="364" r:id="rId6"/>
    <p:sldId id="365" r:id="rId7"/>
    <p:sldId id="367" r:id="rId8"/>
    <p:sldId id="409" r:id="rId9"/>
    <p:sldId id="410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438" r:id="rId18"/>
    <p:sldId id="439" r:id="rId19"/>
    <p:sldId id="375" r:id="rId20"/>
    <p:sldId id="376" r:id="rId21"/>
    <p:sldId id="377" r:id="rId22"/>
    <p:sldId id="378" r:id="rId23"/>
    <p:sldId id="392" r:id="rId24"/>
    <p:sldId id="380" r:id="rId25"/>
    <p:sldId id="381" r:id="rId26"/>
    <p:sldId id="393" r:id="rId27"/>
    <p:sldId id="397" r:id="rId28"/>
    <p:sldId id="399" r:id="rId29"/>
    <p:sldId id="398" r:id="rId30"/>
    <p:sldId id="400" r:id="rId31"/>
    <p:sldId id="412" r:id="rId32"/>
    <p:sldId id="385" r:id="rId33"/>
    <p:sldId id="386" r:id="rId34"/>
    <p:sldId id="387" r:id="rId35"/>
    <p:sldId id="388" r:id="rId36"/>
    <p:sldId id="389" r:id="rId37"/>
    <p:sldId id="390" r:id="rId38"/>
    <p:sldId id="391" r:id="rId39"/>
  </p:sldIdLst>
  <p:sldSz cx="9144000" cy="6858000" type="screen4x3"/>
  <p:notesSz cx="6858000" cy="9144000"/>
  <p:custDataLst>
    <p:tags r:id="rId45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1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675" y="18"/>
      </p:cViewPr>
      <p:guideLst>
        <p:guide orient="horz" pos="1401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3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emf"/><Relationship Id="rId8" Type="http://schemas.openxmlformats.org/officeDocument/2006/relationships/image" Target="../media/image23.emf"/><Relationship Id="rId7" Type="http://schemas.openxmlformats.org/officeDocument/2006/relationships/image" Target="../media/image22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5" Type="http://schemas.openxmlformats.org/officeDocument/2006/relationships/image" Target="../media/image30.emf"/><Relationship Id="rId14" Type="http://schemas.openxmlformats.org/officeDocument/2006/relationships/image" Target="../media/image29.emf"/><Relationship Id="rId13" Type="http://schemas.openxmlformats.org/officeDocument/2006/relationships/image" Target="../media/image28.emf"/><Relationship Id="rId12" Type="http://schemas.openxmlformats.org/officeDocument/2006/relationships/image" Target="../media/image27.emf"/><Relationship Id="rId11" Type="http://schemas.openxmlformats.org/officeDocument/2006/relationships/image" Target="../media/image26.emf"/><Relationship Id="rId10" Type="http://schemas.openxmlformats.org/officeDocument/2006/relationships/image" Target="../media/image25.emf"/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659303-12A4-44FC-BB5E-A634E45455A6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D5C8DE-0E90-4CB1-9C1D-31997430252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yangjuan@bupt.edu.cn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3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7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8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6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5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  <a:hlinkClick r:id="rId3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4022725" y="60325"/>
            <a:ext cx="5060950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409020205090404" pitchFamily="49" charset="0"/>
                <a:ea typeface="宋体" pitchFamily="2" charset="-122"/>
                <a:cs typeface="+mn-cs"/>
              </a:rPr>
              <a:t>Discrete Mathematical Structures</a:t>
            </a:r>
            <a:endParaRPr kumimoji="1" lang="en-US" altLang="zh-CN" sz="2000" b="0" i="1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409020205090404" pitchFamily="49" charset="0"/>
              <a:ea typeface="宋体" pitchFamily="2" charset="-122"/>
              <a:cs typeface="+mn-cs"/>
            </a:endParaRPr>
          </a:p>
        </p:txBody>
      </p:sp>
      <p:sp>
        <p:nvSpPr>
          <p:cNvPr id="651277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1278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3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E9EFF3-6C2D-4378-8D23-90D50251642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32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33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50305040509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3BDEFC-80D4-46C7-BE53-876DF50CEAC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3608" y="597431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base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base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base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02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F48872-D795-4D5A-B42C-FD7E6F895D0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7513" y="59626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00100" y="59626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541338" y="101854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ltGray">
          <a:xfrm>
            <a:off x="911225" y="101854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ltGray">
          <a:xfrm>
            <a:off x="127000" y="94551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gray">
          <a:xfrm>
            <a:off x="762000" y="48831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11"/>
          <p:cNvSpPr>
            <a:spLocks noGrp="1"/>
          </p:cNvSpPr>
          <p:nvPr>
            <p:ph type="title"/>
          </p:nvPr>
        </p:nvSpPr>
        <p:spPr>
          <a:xfrm>
            <a:off x="1150938" y="11525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5" name="Rectangle 12"/>
          <p:cNvSpPr>
            <a:spLocks noGrp="1"/>
          </p:cNvSpPr>
          <p:nvPr>
            <p:ph type="body"/>
          </p:nvPr>
        </p:nvSpPr>
        <p:spPr>
          <a:xfrm>
            <a:off x="798830" y="1318260"/>
            <a:ext cx="8328660" cy="501840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50253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50254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 dirty="0" smtClean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gray">
          <a:xfrm>
            <a:off x="442913" y="119792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Times New Roman" panose="0202050305040509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Times New Roman" panose="02020503050405090304" pitchFamily="18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imes New Roman" panose="02020503050405090304" pitchFamily="18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imes New Roman" panose="0202050305040509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imes New Roman" panose="02020503050405090304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9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7.emf"/><Relationship Id="rId32" Type="http://schemas.openxmlformats.org/officeDocument/2006/relationships/vmlDrawing" Target="../drawings/vmlDrawing7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30.emf"/><Relationship Id="rId3" Type="http://schemas.openxmlformats.org/officeDocument/2006/relationships/oleObject" Target="../embeddings/oleObject9.bin"/><Relationship Id="rId29" Type="http://schemas.openxmlformats.org/officeDocument/2006/relationships/oleObject" Target="../embeddings/oleObject22.bin"/><Relationship Id="rId28" Type="http://schemas.openxmlformats.org/officeDocument/2006/relationships/image" Target="../media/image29.emf"/><Relationship Id="rId27" Type="http://schemas.openxmlformats.org/officeDocument/2006/relationships/oleObject" Target="../embeddings/oleObject21.bin"/><Relationship Id="rId26" Type="http://schemas.openxmlformats.org/officeDocument/2006/relationships/image" Target="../media/image28.emf"/><Relationship Id="rId25" Type="http://schemas.openxmlformats.org/officeDocument/2006/relationships/oleObject" Target="../embeddings/oleObject20.bin"/><Relationship Id="rId24" Type="http://schemas.openxmlformats.org/officeDocument/2006/relationships/image" Target="../media/image27.emf"/><Relationship Id="rId23" Type="http://schemas.openxmlformats.org/officeDocument/2006/relationships/oleObject" Target="../embeddings/oleObject19.bin"/><Relationship Id="rId22" Type="http://schemas.openxmlformats.org/officeDocument/2006/relationships/image" Target="../media/image26.emf"/><Relationship Id="rId21" Type="http://schemas.openxmlformats.org/officeDocument/2006/relationships/oleObject" Target="../embeddings/oleObject18.bin"/><Relationship Id="rId20" Type="http://schemas.openxmlformats.org/officeDocument/2006/relationships/image" Target="../media/image25.emf"/><Relationship Id="rId2" Type="http://schemas.openxmlformats.org/officeDocument/2006/relationships/image" Target="../media/image16.emf"/><Relationship Id="rId19" Type="http://schemas.openxmlformats.org/officeDocument/2006/relationships/oleObject" Target="../embeddings/oleObject17.bin"/><Relationship Id="rId18" Type="http://schemas.openxmlformats.org/officeDocument/2006/relationships/image" Target="../media/image24.emf"/><Relationship Id="rId17" Type="http://schemas.openxmlformats.org/officeDocument/2006/relationships/oleObject" Target="../embeddings/oleObject16.bin"/><Relationship Id="rId16" Type="http://schemas.openxmlformats.org/officeDocument/2006/relationships/image" Target="../media/image23.emf"/><Relationship Id="rId15" Type="http://schemas.openxmlformats.org/officeDocument/2006/relationships/oleObject" Target="../embeddings/oleObject15.bin"/><Relationship Id="rId14" Type="http://schemas.openxmlformats.org/officeDocument/2006/relationships/image" Target="../media/image22.emf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21.e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20.emf"/><Relationship Id="rId1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31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3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jpeg"/><Relationship Id="rId3" Type="http://schemas.openxmlformats.org/officeDocument/2006/relationships/image" Target="../media/image39.wmf"/><Relationship Id="rId2" Type="http://schemas.openxmlformats.org/officeDocument/2006/relationships/oleObject" Target="../embeddings/oleObject30.bin"/><Relationship Id="rId1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1047750" y="2071688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kumimoji="1" lang="en-US" altLang="zh-CN" dirty="0">
                <a:solidFill>
                  <a:schemeClr val="folHlink"/>
                </a:solidFill>
                <a:latin typeface="Copperplate Gothic Bold" panose="020E0705020206020404" pitchFamily="34" charset="0"/>
                <a:ea typeface="+mj-ea"/>
                <a:cs typeface="+mj-cs"/>
              </a:rPr>
              <a:t>Planar Graphs </a:t>
            </a:r>
            <a:endParaRPr kumimoji="1" lang="zh-CN" altLang="en-US" dirty="0">
              <a:solidFill>
                <a:schemeClr val="folHlink"/>
              </a:solidFill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fontAlgn="base" hangingPunct="1">
              <a:buSzPct val="60000"/>
            </a:pPr>
            <a:endParaRPr kumimoji="1" lang="zh-CN" altLang="en-US" strike="noStrike" noProof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>
          <a:xfrm>
            <a:off x="971233" y="4445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Planar Graphs – </a:t>
            </a:r>
            <a:r>
              <a:rPr lang="zh-CN" altLang="en-US" dirty="0">
                <a:solidFill>
                  <a:schemeClr val="folHlink"/>
                </a:solidFill>
                <a:latin typeface="华文新魏" panose="02010800040101010101" pitchFamily="2" charset="-122"/>
              </a:rPr>
              <a:t>平面图</a:t>
            </a:r>
            <a:endParaRPr lang="en-US" altLang="zh-CN" dirty="0">
              <a:solidFill>
                <a:schemeClr val="folHlink"/>
              </a:solidFill>
              <a:latin typeface="华文新魏" panose="02010800040101010101" pitchFamily="2" charset="-122"/>
            </a:endParaRPr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>
          <a:xfrm>
            <a:off x="1116013" y="119888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graph is called </a:t>
            </a:r>
            <a:r>
              <a:rPr lang="en-US" altLang="zh-CN" b="1" i="1" dirty="0">
                <a:solidFill>
                  <a:schemeClr val="hlink"/>
                </a:solidFill>
              </a:rPr>
              <a:t>planar</a:t>
            </a:r>
            <a:r>
              <a:rPr lang="en-US" altLang="zh-CN" dirty="0"/>
              <a:t> if it can be drawn in the plane in such a way that no two edges cross.</a:t>
            </a:r>
            <a:endParaRPr lang="en-US" altLang="zh-CN" dirty="0"/>
          </a:p>
          <a:p>
            <a:pPr eaLnBrk="1" hangingPunct="1"/>
            <a:r>
              <a:rPr lang="en-US" altLang="zh-CN" dirty="0"/>
              <a:t>Example of a planar graph: The clique on 4 nodes.</a:t>
            </a:r>
            <a:endParaRPr lang="zh-CN" altLang="en-US" dirty="0"/>
          </a:p>
        </p:txBody>
      </p:sp>
      <p:grpSp>
        <p:nvGrpSpPr>
          <p:cNvPr id="6150" name="Group 4"/>
          <p:cNvGrpSpPr/>
          <p:nvPr/>
        </p:nvGrpSpPr>
        <p:grpSpPr>
          <a:xfrm>
            <a:off x="1042988" y="3907155"/>
            <a:ext cx="3346450" cy="2189163"/>
            <a:chOff x="1839" y="2094"/>
            <a:chExt cx="2108" cy="1379"/>
          </a:xfrm>
        </p:grpSpPr>
        <p:sp>
          <p:nvSpPr>
            <p:cNvPr id="6151" name="Oval 5"/>
            <p:cNvSpPr/>
            <p:nvPr/>
          </p:nvSpPr>
          <p:spPr>
            <a:xfrm>
              <a:off x="3785" y="217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6152" name="Oval 6"/>
            <p:cNvSpPr/>
            <p:nvPr/>
          </p:nvSpPr>
          <p:spPr>
            <a:xfrm>
              <a:off x="2450" y="218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6153" name="Oval 7"/>
            <p:cNvSpPr/>
            <p:nvPr/>
          </p:nvSpPr>
          <p:spPr>
            <a:xfrm>
              <a:off x="3787" y="331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6154" name="AutoShape 8"/>
            <p:cNvCxnSpPr>
              <a:stCxn id="6151" idx="2"/>
              <a:endCxn id="6152" idx="6"/>
            </p:cNvCxnSpPr>
            <p:nvPr/>
          </p:nvCxnSpPr>
          <p:spPr>
            <a:xfrm flipH="1">
              <a:off x="2619" y="2258"/>
              <a:ext cx="1157" cy="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5" name="AutoShape 9"/>
            <p:cNvCxnSpPr>
              <a:stCxn id="6151" idx="4"/>
              <a:endCxn id="6153" idx="0"/>
            </p:cNvCxnSpPr>
            <p:nvPr/>
          </p:nvCxnSpPr>
          <p:spPr>
            <a:xfrm>
              <a:off x="3865" y="2347"/>
              <a:ext cx="2" cy="95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56" name="Oval 10"/>
            <p:cNvSpPr/>
            <p:nvPr/>
          </p:nvSpPr>
          <p:spPr>
            <a:xfrm>
              <a:off x="2451" y="331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6157" name="AutoShape 11"/>
            <p:cNvCxnSpPr>
              <a:stCxn id="6151" idx="3"/>
              <a:endCxn id="6156" idx="7"/>
            </p:cNvCxnSpPr>
            <p:nvPr/>
          </p:nvCxnSpPr>
          <p:spPr>
            <a:xfrm flipH="1">
              <a:off x="2588" y="2324"/>
              <a:ext cx="1220" cy="100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8" name="AutoShape 12"/>
            <p:cNvCxnSpPr>
              <a:stCxn id="6153" idx="1"/>
              <a:endCxn id="6152" idx="5"/>
            </p:cNvCxnSpPr>
            <p:nvPr/>
          </p:nvCxnSpPr>
          <p:spPr>
            <a:xfrm flipH="1" flipV="1">
              <a:off x="2587" y="2326"/>
              <a:ext cx="1223" cy="100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9" name="AutoShape 13"/>
            <p:cNvCxnSpPr>
              <a:stCxn id="6153" idx="2"/>
              <a:endCxn id="6156" idx="6"/>
            </p:cNvCxnSpPr>
            <p:nvPr/>
          </p:nvCxnSpPr>
          <p:spPr>
            <a:xfrm flipH="1" flipV="1">
              <a:off x="2620" y="3390"/>
              <a:ext cx="1158" cy="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0" name="AutoShape 14"/>
            <p:cNvCxnSpPr>
              <a:stCxn id="6152" idx="4"/>
              <a:endCxn id="6156" idx="0"/>
            </p:cNvCxnSpPr>
            <p:nvPr/>
          </p:nvCxnSpPr>
          <p:spPr>
            <a:xfrm>
              <a:off x="2530" y="2349"/>
              <a:ext cx="1" cy="95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aphicFrame>
          <p:nvGraphicFramePr>
            <p:cNvPr id="6161" name="Object 15"/>
            <p:cNvGraphicFramePr>
              <a:graphicFrameLocks noChangeAspect="1"/>
            </p:cNvGraphicFramePr>
            <p:nvPr/>
          </p:nvGraphicFramePr>
          <p:xfrm>
            <a:off x="1839" y="2094"/>
            <a:ext cx="390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203200" imgH="228600" progId="Equation.DSMT4">
                    <p:embed/>
                  </p:oleObj>
                </mc:Choice>
                <mc:Fallback>
                  <p:oleObj name="" r:id="rId1" imgW="203200" imgH="2286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39" y="2094"/>
                          <a:ext cx="390" cy="4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62" name="Group 16"/>
          <p:cNvGrpSpPr/>
          <p:nvPr/>
        </p:nvGrpSpPr>
        <p:grpSpPr>
          <a:xfrm>
            <a:off x="5219700" y="3575368"/>
            <a:ext cx="2387600" cy="2055812"/>
            <a:chOff x="3515" y="2679"/>
            <a:chExt cx="1504" cy="1295"/>
          </a:xfrm>
        </p:grpSpPr>
        <p:sp>
          <p:nvSpPr>
            <p:cNvPr id="6163" name="Oval 17"/>
            <p:cNvSpPr/>
            <p:nvPr/>
          </p:nvSpPr>
          <p:spPr>
            <a:xfrm>
              <a:off x="4850" y="2679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6164" name="Oval 18"/>
            <p:cNvSpPr/>
            <p:nvPr/>
          </p:nvSpPr>
          <p:spPr>
            <a:xfrm>
              <a:off x="3515" y="2681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6165" name="Oval 19"/>
            <p:cNvSpPr/>
            <p:nvPr/>
          </p:nvSpPr>
          <p:spPr>
            <a:xfrm>
              <a:off x="4852" y="381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6166" name="AutoShape 20"/>
            <p:cNvCxnSpPr>
              <a:stCxn id="6163" idx="2"/>
              <a:endCxn id="6164" idx="6"/>
            </p:cNvCxnSpPr>
            <p:nvPr/>
          </p:nvCxnSpPr>
          <p:spPr>
            <a:xfrm flipH="1">
              <a:off x="3684" y="2759"/>
              <a:ext cx="1157" cy="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7" name="AutoShape 21"/>
            <p:cNvCxnSpPr>
              <a:stCxn id="6163" idx="4"/>
              <a:endCxn id="6165" idx="0"/>
            </p:cNvCxnSpPr>
            <p:nvPr/>
          </p:nvCxnSpPr>
          <p:spPr>
            <a:xfrm>
              <a:off x="4930" y="2848"/>
              <a:ext cx="2" cy="95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68" name="Oval 22"/>
            <p:cNvSpPr/>
            <p:nvPr/>
          </p:nvSpPr>
          <p:spPr>
            <a:xfrm>
              <a:off x="3516" y="3811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6169" name="AutoShape 23"/>
            <p:cNvCxnSpPr>
              <a:stCxn id="6165" idx="1"/>
              <a:endCxn id="6164" idx="5"/>
            </p:cNvCxnSpPr>
            <p:nvPr/>
          </p:nvCxnSpPr>
          <p:spPr>
            <a:xfrm flipH="1" flipV="1">
              <a:off x="3652" y="2827"/>
              <a:ext cx="1223" cy="100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70" name="AutoShape 24"/>
            <p:cNvCxnSpPr>
              <a:stCxn id="6165" idx="2"/>
              <a:endCxn id="6168" idx="6"/>
            </p:cNvCxnSpPr>
            <p:nvPr/>
          </p:nvCxnSpPr>
          <p:spPr>
            <a:xfrm flipH="1" flipV="1">
              <a:off x="3685" y="3891"/>
              <a:ext cx="1158" cy="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71" name="AutoShape 25"/>
            <p:cNvCxnSpPr>
              <a:stCxn id="6164" idx="4"/>
              <a:endCxn id="6168" idx="0"/>
            </p:cNvCxnSpPr>
            <p:nvPr/>
          </p:nvCxnSpPr>
          <p:spPr>
            <a:xfrm>
              <a:off x="3595" y="2850"/>
              <a:ext cx="1" cy="95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72" name="AutoShape 26"/>
            <p:cNvCxnSpPr>
              <a:stCxn id="6168" idx="5"/>
              <a:endCxn id="6163" idx="6"/>
            </p:cNvCxnSpPr>
            <p:nvPr/>
          </p:nvCxnSpPr>
          <p:spPr>
            <a:xfrm rot="5400000" flipH="1" flipV="1">
              <a:off x="3737" y="2675"/>
              <a:ext cx="1198" cy="1366"/>
            </a:xfrm>
            <a:prstGeom prst="curvedConnector4">
              <a:avLst>
                <a:gd name="adj1" fmla="val -23542"/>
                <a:gd name="adj2" fmla="val 145093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1043623" y="18859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Is </a:t>
            </a:r>
            <a:r>
              <a:rPr lang="en-US" altLang="zh-CN" i="1" dirty="0">
                <a:solidFill>
                  <a:schemeClr val="folHlink"/>
                </a:solidFill>
              </a:rPr>
              <a:t>K</a:t>
            </a:r>
            <a:r>
              <a:rPr lang="en-US" altLang="zh-CN" baseline="-25000" dirty="0">
                <a:solidFill>
                  <a:schemeClr val="folHlink"/>
                </a:solidFill>
              </a:rPr>
              <a:t>5</a:t>
            </a:r>
            <a:r>
              <a:rPr lang="en-US" altLang="zh-CN" dirty="0">
                <a:solidFill>
                  <a:schemeClr val="folHlink"/>
                </a:solidFill>
              </a:rPr>
              <a:t> planar?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sp>
        <p:nvSpPr>
          <p:cNvPr id="7174" name="Oval 4"/>
          <p:cNvSpPr/>
          <p:nvPr/>
        </p:nvSpPr>
        <p:spPr>
          <a:xfrm>
            <a:off x="5870575" y="3543300"/>
            <a:ext cx="254000" cy="254000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74320" rIns="274320" anchor="ctr" anchorCtr="0">
            <a:spAutoFit/>
          </a:bodyPr>
          <a:p>
            <a:pPr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7175" name="Oval 5"/>
          <p:cNvSpPr/>
          <p:nvPr/>
        </p:nvSpPr>
        <p:spPr>
          <a:xfrm>
            <a:off x="2941638" y="3546475"/>
            <a:ext cx="254000" cy="254000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74320" rIns="274320" anchor="ctr" anchorCtr="0">
            <a:spAutoFit/>
          </a:bodyPr>
          <a:p>
            <a:pPr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sp>
        <p:nvSpPr>
          <p:cNvPr id="7176" name="Oval 6"/>
          <p:cNvSpPr/>
          <p:nvPr/>
        </p:nvSpPr>
        <p:spPr>
          <a:xfrm>
            <a:off x="5480050" y="5056188"/>
            <a:ext cx="254000" cy="254000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74320" rIns="274320" anchor="ctr" anchorCtr="0">
            <a:spAutoFit/>
          </a:bodyPr>
          <a:p>
            <a:pPr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cxnSp>
        <p:nvCxnSpPr>
          <p:cNvPr id="7177" name="AutoShape 7"/>
          <p:cNvCxnSpPr>
            <a:stCxn id="7174" idx="2"/>
            <a:endCxn id="7175" idx="6"/>
          </p:cNvCxnSpPr>
          <p:nvPr/>
        </p:nvCxnSpPr>
        <p:spPr>
          <a:xfrm flipH="1">
            <a:off x="3209925" y="3670300"/>
            <a:ext cx="2646363" cy="3175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78" name="AutoShape 8"/>
          <p:cNvCxnSpPr>
            <a:stCxn id="7174" idx="4"/>
            <a:endCxn id="7176" idx="0"/>
          </p:cNvCxnSpPr>
          <p:nvPr/>
        </p:nvCxnSpPr>
        <p:spPr>
          <a:xfrm flipH="1">
            <a:off x="5607050" y="3811588"/>
            <a:ext cx="390525" cy="1230312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79" name="Oval 9"/>
          <p:cNvSpPr/>
          <p:nvPr/>
        </p:nvSpPr>
        <p:spPr>
          <a:xfrm>
            <a:off x="3359150" y="5051425"/>
            <a:ext cx="254000" cy="254000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74320" rIns="274320" anchor="ctr" anchorCtr="0">
            <a:spAutoFit/>
          </a:bodyPr>
          <a:p>
            <a:pPr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cxnSp>
        <p:nvCxnSpPr>
          <p:cNvPr id="7180" name="AutoShape 10"/>
          <p:cNvCxnSpPr>
            <a:stCxn id="7174" idx="3"/>
            <a:endCxn id="7179" idx="7"/>
          </p:cNvCxnSpPr>
          <p:nvPr/>
        </p:nvCxnSpPr>
        <p:spPr>
          <a:xfrm flipH="1">
            <a:off x="3576638" y="3775075"/>
            <a:ext cx="2330450" cy="1298575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1" name="AutoShape 11"/>
          <p:cNvCxnSpPr>
            <a:stCxn id="7176" idx="1"/>
            <a:endCxn id="7175" idx="5"/>
          </p:cNvCxnSpPr>
          <p:nvPr/>
        </p:nvCxnSpPr>
        <p:spPr>
          <a:xfrm flipH="1" flipV="1">
            <a:off x="3159125" y="3778250"/>
            <a:ext cx="2357438" cy="1300163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2" name="AutoShape 12"/>
          <p:cNvCxnSpPr/>
          <p:nvPr/>
        </p:nvCxnSpPr>
        <p:spPr>
          <a:xfrm flipH="1" flipV="1">
            <a:off x="3627438" y="5178425"/>
            <a:ext cx="1838325" cy="4763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3" name="AutoShape 13"/>
          <p:cNvCxnSpPr>
            <a:stCxn id="7175" idx="4"/>
            <a:endCxn id="7179" idx="0"/>
          </p:cNvCxnSpPr>
          <p:nvPr/>
        </p:nvCxnSpPr>
        <p:spPr>
          <a:xfrm>
            <a:off x="3068638" y="3814763"/>
            <a:ext cx="417512" cy="1222375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84" name="Oval 14"/>
          <p:cNvSpPr/>
          <p:nvPr/>
        </p:nvSpPr>
        <p:spPr>
          <a:xfrm>
            <a:off x="4413250" y="2565400"/>
            <a:ext cx="254000" cy="254000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274320" rIns="274320" anchor="ctr" anchorCtr="0">
            <a:spAutoFit/>
          </a:bodyPr>
          <a:p>
            <a:pPr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  <p:cxnSp>
        <p:nvCxnSpPr>
          <p:cNvPr id="7185" name="AutoShape 15"/>
          <p:cNvCxnSpPr>
            <a:stCxn id="7184" idx="3"/>
            <a:endCxn id="7175" idx="7"/>
          </p:cNvCxnSpPr>
          <p:nvPr/>
        </p:nvCxnSpPr>
        <p:spPr>
          <a:xfrm flipH="1">
            <a:off x="3159125" y="2797175"/>
            <a:ext cx="1290638" cy="771525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6" name="AutoShape 16"/>
          <p:cNvCxnSpPr>
            <a:stCxn id="7184" idx="5"/>
            <a:endCxn id="7174" idx="1"/>
          </p:cNvCxnSpPr>
          <p:nvPr/>
        </p:nvCxnSpPr>
        <p:spPr>
          <a:xfrm>
            <a:off x="4630738" y="2797175"/>
            <a:ext cx="1276350" cy="768350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7" name="AutoShape 17"/>
          <p:cNvCxnSpPr>
            <a:stCxn id="7184" idx="3"/>
            <a:endCxn id="7179" idx="0"/>
          </p:cNvCxnSpPr>
          <p:nvPr/>
        </p:nvCxnSpPr>
        <p:spPr>
          <a:xfrm flipH="1">
            <a:off x="3486150" y="2797175"/>
            <a:ext cx="963613" cy="2239963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88" name="AutoShape 18"/>
          <p:cNvCxnSpPr>
            <a:stCxn id="7184" idx="5"/>
            <a:endCxn id="7176" idx="0"/>
          </p:cNvCxnSpPr>
          <p:nvPr/>
        </p:nvCxnSpPr>
        <p:spPr>
          <a:xfrm>
            <a:off x="4630738" y="2797175"/>
            <a:ext cx="976312" cy="2244725"/>
          </a:xfrm>
          <a:prstGeom prst="straightConnector1">
            <a:avLst/>
          </a:prstGeom>
          <a:ln w="28575" cap="sq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920750" y="596900"/>
            <a:ext cx="7915275" cy="70548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What about </a:t>
            </a:r>
            <a:r>
              <a:rPr lang="en-US" altLang="zh-CN" i="1" dirty="0">
                <a:solidFill>
                  <a:schemeClr val="folHlink"/>
                </a:solidFill>
              </a:rPr>
              <a:t>K</a:t>
            </a:r>
            <a:r>
              <a:rPr lang="en-US" altLang="zh-CN" baseline="-25000" dirty="0">
                <a:solidFill>
                  <a:schemeClr val="folHlink"/>
                </a:solidFill>
              </a:rPr>
              <a:t>3,3</a:t>
            </a:r>
            <a:r>
              <a:rPr lang="en-US" altLang="zh-CN" dirty="0">
                <a:solidFill>
                  <a:schemeClr val="folHlink"/>
                </a:solidFill>
              </a:rPr>
              <a:t> ?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grpSp>
        <p:nvGrpSpPr>
          <p:cNvPr id="8198" name="Group 4"/>
          <p:cNvGrpSpPr/>
          <p:nvPr/>
        </p:nvGrpSpPr>
        <p:grpSpPr>
          <a:xfrm>
            <a:off x="2933700" y="2852738"/>
            <a:ext cx="3582988" cy="2016125"/>
            <a:chOff x="3169" y="1326"/>
            <a:chExt cx="1197" cy="772"/>
          </a:xfrm>
        </p:grpSpPr>
        <p:sp>
          <p:nvSpPr>
            <p:cNvPr id="8199" name="Oval 5"/>
            <p:cNvSpPr/>
            <p:nvPr/>
          </p:nvSpPr>
          <p:spPr>
            <a:xfrm>
              <a:off x="3173" y="132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8200" name="Oval 6"/>
            <p:cNvSpPr/>
            <p:nvPr/>
          </p:nvSpPr>
          <p:spPr>
            <a:xfrm>
              <a:off x="3677" y="132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8201" name="Oval 7"/>
            <p:cNvSpPr/>
            <p:nvPr/>
          </p:nvSpPr>
          <p:spPr>
            <a:xfrm>
              <a:off x="4204" y="133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8202" name="Oval 8"/>
            <p:cNvSpPr/>
            <p:nvPr/>
          </p:nvSpPr>
          <p:spPr>
            <a:xfrm>
              <a:off x="3169" y="193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8203" name="Oval 9"/>
            <p:cNvSpPr/>
            <p:nvPr/>
          </p:nvSpPr>
          <p:spPr>
            <a:xfrm>
              <a:off x="3673" y="191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8204" name="Oval 10"/>
            <p:cNvSpPr/>
            <p:nvPr/>
          </p:nvSpPr>
          <p:spPr>
            <a:xfrm>
              <a:off x="4206" y="191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8205" name="AutoShape 11"/>
            <p:cNvCxnSpPr>
              <a:stCxn id="8199" idx="4"/>
              <a:endCxn id="8202" idx="0"/>
            </p:cNvCxnSpPr>
            <p:nvPr/>
          </p:nvCxnSpPr>
          <p:spPr>
            <a:xfrm flipH="1">
              <a:off x="3249" y="1495"/>
              <a:ext cx="4" cy="434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6" name="AutoShape 12"/>
            <p:cNvCxnSpPr>
              <a:stCxn id="8200" idx="4"/>
              <a:endCxn id="8203" idx="0"/>
            </p:cNvCxnSpPr>
            <p:nvPr/>
          </p:nvCxnSpPr>
          <p:spPr>
            <a:xfrm flipH="1">
              <a:off x="3753" y="1497"/>
              <a:ext cx="4" cy="41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7" name="AutoShape 13"/>
            <p:cNvCxnSpPr>
              <a:stCxn id="8201" idx="4"/>
              <a:endCxn id="8204" idx="0"/>
            </p:cNvCxnSpPr>
            <p:nvPr/>
          </p:nvCxnSpPr>
          <p:spPr>
            <a:xfrm>
              <a:off x="4284" y="1499"/>
              <a:ext cx="2" cy="40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8" name="AutoShape 14"/>
            <p:cNvCxnSpPr>
              <a:stCxn id="8201" idx="3"/>
              <a:endCxn id="8203" idx="7"/>
            </p:cNvCxnSpPr>
            <p:nvPr/>
          </p:nvCxnSpPr>
          <p:spPr>
            <a:xfrm flipH="1">
              <a:off x="3810" y="1476"/>
              <a:ext cx="417" cy="45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9" name="AutoShape 15"/>
            <p:cNvCxnSpPr>
              <a:stCxn id="8200" idx="3"/>
              <a:endCxn id="8202" idx="7"/>
            </p:cNvCxnSpPr>
            <p:nvPr/>
          </p:nvCxnSpPr>
          <p:spPr>
            <a:xfrm flipH="1">
              <a:off x="3306" y="1474"/>
              <a:ext cx="394" cy="47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0" name="AutoShape 16"/>
            <p:cNvCxnSpPr>
              <a:stCxn id="8199" idx="5"/>
              <a:endCxn id="8203" idx="1"/>
            </p:cNvCxnSpPr>
            <p:nvPr/>
          </p:nvCxnSpPr>
          <p:spPr>
            <a:xfrm>
              <a:off x="3310" y="1472"/>
              <a:ext cx="386" cy="46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1" name="AutoShape 17"/>
            <p:cNvCxnSpPr>
              <a:stCxn id="8200" idx="5"/>
              <a:endCxn id="8204" idx="1"/>
            </p:cNvCxnSpPr>
            <p:nvPr/>
          </p:nvCxnSpPr>
          <p:spPr>
            <a:xfrm>
              <a:off x="3814" y="1474"/>
              <a:ext cx="415" cy="45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2" name="AutoShape 18"/>
            <p:cNvCxnSpPr>
              <a:stCxn id="8202" idx="6"/>
              <a:endCxn id="8201" idx="2"/>
            </p:cNvCxnSpPr>
            <p:nvPr/>
          </p:nvCxnSpPr>
          <p:spPr>
            <a:xfrm flipV="1">
              <a:off x="3338" y="1410"/>
              <a:ext cx="857" cy="60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3" name="AutoShape 19"/>
            <p:cNvCxnSpPr>
              <a:stCxn id="8199" idx="6"/>
              <a:endCxn id="8204" idx="2"/>
            </p:cNvCxnSpPr>
            <p:nvPr/>
          </p:nvCxnSpPr>
          <p:spPr>
            <a:xfrm>
              <a:off x="3342" y="1406"/>
              <a:ext cx="855" cy="58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>
          <a:xfrm>
            <a:off x="971233" y="11684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Why Planar?</a:t>
            </a:r>
            <a:endParaRPr lang="en-US" altLang="zh-CN" dirty="0"/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problem of drawing a graph in the plane arises frequently in VLSI layout problems.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>
          <a:xfrm>
            <a:off x="971233" y="18859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Regions, faces – </a:t>
            </a:r>
            <a:r>
              <a:rPr lang="zh-CN" altLang="en-US" dirty="0">
                <a:solidFill>
                  <a:schemeClr val="folHlink"/>
                </a:solidFill>
              </a:rPr>
              <a:t>面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10245" name="Rectangle 3"/>
          <p:cNvSpPr>
            <a:spLocks noGrp="1"/>
          </p:cNvSpPr>
          <p:nvPr>
            <p:ph idx="1"/>
          </p:nvPr>
        </p:nvSpPr>
        <p:spPr>
          <a:xfrm>
            <a:off x="899478" y="139128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planar representation of a graph splits the plane into </a:t>
            </a:r>
            <a:r>
              <a:rPr lang="en-US" altLang="zh-CN" dirty="0">
                <a:solidFill>
                  <a:srgbClr val="CC3300"/>
                </a:solidFill>
              </a:rPr>
              <a:t>regions</a:t>
            </a:r>
            <a:r>
              <a:rPr lang="en-US" altLang="zh-CN" dirty="0"/>
              <a:t> that we call  </a:t>
            </a:r>
            <a:r>
              <a:rPr lang="en-US" altLang="zh-CN" b="1" i="1" dirty="0">
                <a:solidFill>
                  <a:schemeClr val="hlink"/>
                </a:solidFill>
              </a:rPr>
              <a:t>faces</a:t>
            </a:r>
            <a:r>
              <a:rPr lang="en-US" altLang="zh-CN" dirty="0"/>
              <a:t>, including an unbounded region.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>
          <a:xfrm>
            <a:off x="1973263" y="3373438"/>
            <a:ext cx="2217737" cy="2971800"/>
            <a:chOff x="1067" y="2196"/>
            <a:chExt cx="1397" cy="1872"/>
          </a:xfrm>
        </p:grpSpPr>
        <p:grpSp>
          <p:nvGrpSpPr>
            <p:cNvPr id="10247" name="Group 5"/>
            <p:cNvGrpSpPr/>
            <p:nvPr/>
          </p:nvGrpSpPr>
          <p:grpSpPr>
            <a:xfrm>
              <a:off x="1067" y="2608"/>
              <a:ext cx="1397" cy="1460"/>
              <a:chOff x="1067" y="2608"/>
              <a:chExt cx="1397" cy="1460"/>
            </a:xfrm>
          </p:grpSpPr>
          <p:cxnSp>
            <p:nvCxnSpPr>
              <p:cNvPr id="10248" name="AutoShape 6"/>
              <p:cNvCxnSpPr>
                <a:stCxn id="10249" idx="6"/>
                <a:endCxn id="10250" idx="1"/>
              </p:cNvCxnSpPr>
              <p:nvPr/>
            </p:nvCxnSpPr>
            <p:spPr>
              <a:xfrm>
                <a:off x="1296" y="2831"/>
                <a:ext cx="329" cy="125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49" name="Oval 7"/>
              <p:cNvSpPr/>
              <p:nvPr/>
            </p:nvSpPr>
            <p:spPr>
              <a:xfrm>
                <a:off x="1127" y="2751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0" name="Oval 8"/>
              <p:cNvSpPr/>
              <p:nvPr/>
            </p:nvSpPr>
            <p:spPr>
              <a:xfrm>
                <a:off x="1602" y="2942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1" name="Oval 9"/>
              <p:cNvSpPr/>
              <p:nvPr/>
            </p:nvSpPr>
            <p:spPr>
              <a:xfrm>
                <a:off x="2099" y="2608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2" name="Oval 10"/>
              <p:cNvSpPr/>
              <p:nvPr/>
            </p:nvSpPr>
            <p:spPr>
              <a:xfrm>
                <a:off x="2304" y="3083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3" name="Oval 11"/>
              <p:cNvSpPr/>
              <p:nvPr/>
            </p:nvSpPr>
            <p:spPr>
              <a:xfrm>
                <a:off x="1716" y="3908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4" name="Oval 12"/>
              <p:cNvSpPr/>
              <p:nvPr/>
            </p:nvSpPr>
            <p:spPr>
              <a:xfrm>
                <a:off x="1067" y="3837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55" name="Oval 13"/>
              <p:cNvSpPr/>
              <p:nvPr/>
            </p:nvSpPr>
            <p:spPr>
              <a:xfrm>
                <a:off x="1441" y="3422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cxnSp>
            <p:nvCxnSpPr>
              <p:cNvPr id="10256" name="AutoShape 14"/>
              <p:cNvCxnSpPr>
                <a:stCxn id="10251" idx="3"/>
                <a:endCxn id="10250" idx="7"/>
              </p:cNvCxnSpPr>
              <p:nvPr/>
            </p:nvCxnSpPr>
            <p:spPr>
              <a:xfrm flipH="1">
                <a:off x="1739" y="2754"/>
                <a:ext cx="383" cy="202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7" name="AutoShape 15"/>
              <p:cNvCxnSpPr>
                <a:stCxn id="10252" idx="2"/>
                <a:endCxn id="10250" idx="6"/>
              </p:cNvCxnSpPr>
              <p:nvPr/>
            </p:nvCxnSpPr>
            <p:spPr>
              <a:xfrm flipH="1" flipV="1">
                <a:off x="1771" y="3022"/>
                <a:ext cx="524" cy="141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8" name="AutoShape 16"/>
              <p:cNvCxnSpPr>
                <a:stCxn id="10255" idx="0"/>
                <a:endCxn id="10250" idx="3"/>
              </p:cNvCxnSpPr>
              <p:nvPr/>
            </p:nvCxnSpPr>
            <p:spPr>
              <a:xfrm flipV="1">
                <a:off x="1521" y="3088"/>
                <a:ext cx="104" cy="325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9" name="AutoShape 17"/>
              <p:cNvCxnSpPr>
                <a:stCxn id="10255" idx="3"/>
                <a:endCxn id="10254" idx="7"/>
              </p:cNvCxnSpPr>
              <p:nvPr/>
            </p:nvCxnSpPr>
            <p:spPr>
              <a:xfrm flipH="1">
                <a:off x="1204" y="3568"/>
                <a:ext cx="260" cy="283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0" name="AutoShape 18"/>
              <p:cNvCxnSpPr>
                <a:stCxn id="10255" idx="5"/>
                <a:endCxn id="10253" idx="1"/>
              </p:cNvCxnSpPr>
              <p:nvPr/>
            </p:nvCxnSpPr>
            <p:spPr>
              <a:xfrm>
                <a:off x="1578" y="3568"/>
                <a:ext cx="161" cy="354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261" name="Text Box 19"/>
            <p:cNvSpPr txBox="1"/>
            <p:nvPr/>
          </p:nvSpPr>
          <p:spPr>
            <a:xfrm>
              <a:off x="1073" y="2196"/>
              <a:ext cx="115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one face</a:t>
              </a:r>
              <a:endPara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5572125" y="3351213"/>
            <a:ext cx="2100263" cy="2586037"/>
            <a:chOff x="3334" y="2182"/>
            <a:chExt cx="1323" cy="1629"/>
          </a:xfrm>
        </p:grpSpPr>
        <p:grpSp>
          <p:nvGrpSpPr>
            <p:cNvPr id="10263" name="Group 21"/>
            <p:cNvGrpSpPr/>
            <p:nvPr/>
          </p:nvGrpSpPr>
          <p:grpSpPr>
            <a:xfrm>
              <a:off x="3394" y="2695"/>
              <a:ext cx="1263" cy="1116"/>
              <a:chOff x="3394" y="2695"/>
              <a:chExt cx="1263" cy="1116"/>
            </a:xfrm>
          </p:grpSpPr>
          <p:cxnSp>
            <p:nvCxnSpPr>
              <p:cNvPr id="10264" name="AutoShape 22"/>
              <p:cNvCxnSpPr>
                <a:stCxn id="10266" idx="3"/>
                <a:endCxn id="10267" idx="0"/>
              </p:cNvCxnSpPr>
              <p:nvPr/>
            </p:nvCxnSpPr>
            <p:spPr>
              <a:xfrm flipH="1">
                <a:off x="3789" y="2841"/>
                <a:ext cx="184" cy="727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65" name="Oval 23"/>
              <p:cNvSpPr/>
              <p:nvPr/>
            </p:nvSpPr>
            <p:spPr>
              <a:xfrm>
                <a:off x="3394" y="2876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66" name="Oval 24"/>
              <p:cNvSpPr/>
              <p:nvPr/>
            </p:nvSpPr>
            <p:spPr>
              <a:xfrm>
                <a:off x="3950" y="2695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67" name="Oval 25"/>
              <p:cNvSpPr/>
              <p:nvPr/>
            </p:nvSpPr>
            <p:spPr>
              <a:xfrm>
                <a:off x="3709" y="3577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68" name="Oval 26"/>
              <p:cNvSpPr/>
              <p:nvPr/>
            </p:nvSpPr>
            <p:spPr>
              <a:xfrm>
                <a:off x="4497" y="3651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10269" name="Oval 27"/>
              <p:cNvSpPr/>
              <p:nvPr/>
            </p:nvSpPr>
            <p:spPr>
              <a:xfrm>
                <a:off x="4265" y="3237"/>
                <a:ext cx="160" cy="160"/>
              </a:xfrm>
              <a:prstGeom prst="ellipse">
                <a:avLst/>
              </a:pr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274320" rIns="274320" anchor="ctr" anchorCtr="0">
                <a:spAutoFit/>
              </a:bodyPr>
              <a:p>
                <a:pPr eaLnBrk="0" hangingPunct="0">
                  <a:buClrTx/>
                  <a:buFontTx/>
                </a:pPr>
                <a:endParaRPr lang="zh-CN" altLang="en-US" dirty="0">
                  <a:latin typeface="Times New Roman" panose="02020503050405090304" pitchFamily="18" charset="0"/>
                </a:endParaRPr>
              </a:p>
            </p:txBody>
          </p:sp>
          <p:cxnSp>
            <p:nvCxnSpPr>
              <p:cNvPr id="10270" name="AutoShape 28"/>
              <p:cNvCxnSpPr>
                <a:stCxn id="10266" idx="2"/>
                <a:endCxn id="10265" idx="6"/>
              </p:cNvCxnSpPr>
              <p:nvPr/>
            </p:nvCxnSpPr>
            <p:spPr>
              <a:xfrm flipH="1">
                <a:off x="3563" y="2775"/>
                <a:ext cx="378" cy="181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1" name="AutoShape 29"/>
              <p:cNvCxnSpPr>
                <a:stCxn id="10266" idx="5"/>
                <a:endCxn id="10269" idx="1"/>
              </p:cNvCxnSpPr>
              <p:nvPr/>
            </p:nvCxnSpPr>
            <p:spPr>
              <a:xfrm>
                <a:off x="4087" y="2841"/>
                <a:ext cx="201" cy="410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2" name="AutoShape 30"/>
              <p:cNvCxnSpPr>
                <a:stCxn id="10269" idx="5"/>
                <a:endCxn id="10268" idx="1"/>
              </p:cNvCxnSpPr>
              <p:nvPr/>
            </p:nvCxnSpPr>
            <p:spPr>
              <a:xfrm>
                <a:off x="4402" y="3383"/>
                <a:ext cx="118" cy="282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3" name="AutoShape 31"/>
              <p:cNvCxnSpPr>
                <a:stCxn id="10267" idx="6"/>
                <a:endCxn id="10268" idx="2"/>
              </p:cNvCxnSpPr>
              <p:nvPr/>
            </p:nvCxnSpPr>
            <p:spPr>
              <a:xfrm>
                <a:off x="3878" y="3657"/>
                <a:ext cx="610" cy="74"/>
              </a:xfrm>
              <a:prstGeom prst="straightConnector1">
                <a:avLst/>
              </a:prstGeom>
              <a:ln w="28575" cap="sq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274" name="Text Box 32"/>
            <p:cNvSpPr txBox="1"/>
            <p:nvPr/>
          </p:nvSpPr>
          <p:spPr>
            <a:xfrm>
              <a:off x="3334" y="2182"/>
              <a:ext cx="125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two faces</a:t>
              </a:r>
              <a:endPara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标题 1"/>
          <p:cNvSpPr>
            <a:spLocks noGrp="1"/>
          </p:cNvSpPr>
          <p:nvPr>
            <p:ph type="title"/>
          </p:nvPr>
        </p:nvSpPr>
        <p:spPr>
          <a:xfrm>
            <a:off x="732155" y="50800"/>
            <a:ext cx="8383905" cy="1143000"/>
          </a:xfrm>
        </p:spPr>
        <p:txBody>
          <a:bodyPr anchor="b" anchorCtr="0"/>
          <a:p>
            <a:r>
              <a:rPr lang="zh-CN" altLang="en-US"/>
              <a:t>the degree of a region</a:t>
            </a:r>
            <a:r>
              <a:rPr lang="en-US" altLang="zh-CN"/>
              <a:t> </a:t>
            </a:r>
            <a:r>
              <a:rPr lang="zh-CN" altLang="en-US"/>
              <a:t>deg(R)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0363" y="1739900"/>
            <a:ext cx="8783638" cy="4114800"/>
          </a:xfrm>
        </p:spPr>
        <p:txBody>
          <a:bodyPr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degree of a region, which is defined</a:t>
            </a:r>
            <a:r>
              <a:rPr kumimoji="1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the number of edges on the boundary of this region. </a:t>
            </a:r>
            <a:endParaRPr kumimoji="1" lang="zh-CN" altLang="en-US" sz="3200" b="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an edge occurs twice on the</a:t>
            </a:r>
            <a:r>
              <a:rPr kumimoji="1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boundary (so that it is traced out twice when the boundary is traced out), it contributes two to</a:t>
            </a:r>
            <a:r>
              <a:rPr kumimoji="1" lang="en-US" altLang="zh-CN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degree. </a:t>
            </a:r>
            <a:endParaRPr kumimoji="1" lang="zh-CN" altLang="en-US" sz="3200" b="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denote the degree of a region R by deg(R). </a:t>
            </a:r>
            <a:endParaRPr kumimoji="1" lang="zh-CN" altLang="en-US" sz="3200" b="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kumimoji="1" lang="zh-CN" altLang="en-US" sz="3200" b="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 vert="horz" wrap="square" lIns="91440" tIns="45720" rIns="91440" bIns="45720" numCol="1" anchor="b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标题 1"/>
          <p:cNvSpPr>
            <a:spLocks noGrp="1"/>
          </p:cNvSpPr>
          <p:nvPr>
            <p:ph type="title"/>
          </p:nvPr>
        </p:nvSpPr>
        <p:spPr>
          <a:xfrm>
            <a:off x="917893" y="44450"/>
            <a:ext cx="7793037" cy="1143000"/>
          </a:xfrm>
        </p:spPr>
        <p:txBody>
          <a:bodyPr anchor="b" anchorCtr="0"/>
          <a:p>
            <a:r>
              <a:rPr lang="zh-CN" altLang="en-US">
                <a:sym typeface="宋体" pitchFamily="2" charset="-122"/>
              </a:rPr>
              <a:t>the degree of a region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 vert="horz" wrap="square" lIns="91440" tIns="45720" rIns="91440" bIns="45720" numCol="1" anchor="b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2291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750" y="1773238"/>
            <a:ext cx="5730875" cy="4481512"/>
          </a:xfrm>
        </p:spPr>
      </p:pic>
      <p:sp>
        <p:nvSpPr>
          <p:cNvPr id="12292" name="文本框 5"/>
          <p:cNvSpPr txBox="1"/>
          <p:nvPr/>
        </p:nvSpPr>
        <p:spPr>
          <a:xfrm>
            <a:off x="6445250" y="1917700"/>
            <a:ext cx="2192338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latin typeface="Times New Roman" panose="02020503050405090304" pitchFamily="18" charset="0"/>
              </a:rPr>
              <a:t>Deg(R</a:t>
            </a:r>
            <a:r>
              <a:rPr lang="en-US" altLang="zh-CN" baseline="-25000">
                <a:latin typeface="Times New Roman" panose="02020503050405090304" pitchFamily="18" charset="0"/>
              </a:rPr>
              <a:t>1</a:t>
            </a:r>
            <a:r>
              <a:rPr lang="en-US" altLang="zh-CN">
                <a:latin typeface="Times New Roman" panose="02020503050405090304" pitchFamily="18" charset="0"/>
              </a:rPr>
              <a:t>)=3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0" hangingPunct="0"/>
            <a:r>
              <a:rPr lang="en-US" altLang="zh-CN" sz="3600">
                <a:latin typeface="Times New Roman" panose="02020503050405090304" pitchFamily="18" charset="0"/>
              </a:rPr>
              <a:t>adba</a:t>
            </a:r>
            <a:endParaRPr lang="en-US" altLang="zh-CN" sz="3600">
              <a:latin typeface="Times New Roman" panose="02020503050405090304" pitchFamily="18" charset="0"/>
            </a:endParaRPr>
          </a:p>
        </p:txBody>
      </p:sp>
      <p:sp>
        <p:nvSpPr>
          <p:cNvPr id="12293" name="文本框 6"/>
          <p:cNvSpPr txBox="1"/>
          <p:nvPr/>
        </p:nvSpPr>
        <p:spPr>
          <a:xfrm>
            <a:off x="6516688" y="3213100"/>
            <a:ext cx="2193925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latin typeface="Times New Roman" panose="02020503050405090304" pitchFamily="18" charset="0"/>
              </a:rPr>
              <a:t>Deg(R</a:t>
            </a:r>
            <a:r>
              <a:rPr lang="en-US" altLang="zh-CN" baseline="-25000">
                <a:latin typeface="Times New Roman" panose="02020503050405090304" pitchFamily="18" charset="0"/>
              </a:rPr>
              <a:t>2</a:t>
            </a:r>
            <a:r>
              <a:rPr lang="en-US" altLang="zh-CN">
                <a:latin typeface="Times New Roman" panose="02020503050405090304" pitchFamily="18" charset="0"/>
              </a:rPr>
              <a:t>)=6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0" hangingPunct="0"/>
            <a:r>
              <a:rPr lang="en-US" altLang="zh-CN" sz="3600">
                <a:latin typeface="Times New Roman" panose="02020503050405090304" pitchFamily="18" charset="0"/>
              </a:rPr>
              <a:t>afgfeda</a:t>
            </a:r>
            <a:endParaRPr lang="en-US" altLang="zh-CN" sz="3600">
              <a:latin typeface="Times New Roman" panose="02020503050405090304" pitchFamily="18" charset="0"/>
            </a:endParaRPr>
          </a:p>
        </p:txBody>
      </p:sp>
      <p:sp>
        <p:nvSpPr>
          <p:cNvPr id="12294" name="文本框 7"/>
          <p:cNvSpPr txBox="1"/>
          <p:nvPr/>
        </p:nvSpPr>
        <p:spPr>
          <a:xfrm>
            <a:off x="6516688" y="4581525"/>
            <a:ext cx="2193925" cy="1014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latin typeface="Times New Roman" panose="02020503050405090304" pitchFamily="18" charset="0"/>
              </a:rPr>
              <a:t>Deg(R</a:t>
            </a:r>
            <a:r>
              <a:rPr lang="en-US" altLang="zh-CN" baseline="-25000">
                <a:latin typeface="Times New Roman" panose="02020503050405090304" pitchFamily="18" charset="0"/>
              </a:rPr>
              <a:t>3</a:t>
            </a:r>
            <a:r>
              <a:rPr lang="en-US" altLang="zh-CN">
                <a:latin typeface="Times New Roman" panose="02020503050405090304" pitchFamily="18" charset="0"/>
              </a:rPr>
              <a:t>)=7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0" hangingPunct="0"/>
            <a:r>
              <a:rPr lang="en-US" altLang="zh-CN" sz="3600">
                <a:latin typeface="Times New Roman" panose="02020503050405090304" pitchFamily="18" charset="0"/>
              </a:rPr>
              <a:t>afedbcba</a:t>
            </a:r>
            <a:endParaRPr lang="en-US" altLang="zh-CN" sz="360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>
          <a:xfrm>
            <a:off x="1115378" y="18859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Question</a:t>
            </a:r>
            <a:endParaRPr lang="zh-CN" altLang="en-US" dirty="0"/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Can you redraw this graph as a planar graph so as to alter the number of its faces?</a:t>
            </a:r>
            <a:endParaRPr lang="zh-CN" altLang="en-US" dirty="0"/>
          </a:p>
        </p:txBody>
      </p:sp>
      <p:grpSp>
        <p:nvGrpSpPr>
          <p:cNvPr id="13318" name="Group 4"/>
          <p:cNvGrpSpPr/>
          <p:nvPr/>
        </p:nvGrpSpPr>
        <p:grpSpPr>
          <a:xfrm>
            <a:off x="2703830" y="3213100"/>
            <a:ext cx="3481388" cy="1808163"/>
            <a:chOff x="1415" y="2213"/>
            <a:chExt cx="2193" cy="1139"/>
          </a:xfrm>
        </p:grpSpPr>
        <p:cxnSp>
          <p:nvCxnSpPr>
            <p:cNvPr id="13319" name="AutoShape 5"/>
            <p:cNvCxnSpPr>
              <a:stCxn id="13321" idx="3"/>
              <a:endCxn id="13322" idx="7"/>
            </p:cNvCxnSpPr>
            <p:nvPr/>
          </p:nvCxnSpPr>
          <p:spPr>
            <a:xfrm flipH="1">
              <a:off x="2499" y="2870"/>
              <a:ext cx="358" cy="32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20" name="Oval 6"/>
            <p:cNvSpPr/>
            <p:nvPr/>
          </p:nvSpPr>
          <p:spPr>
            <a:xfrm>
              <a:off x="2365" y="221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3321" name="Oval 7"/>
            <p:cNvSpPr/>
            <p:nvPr/>
          </p:nvSpPr>
          <p:spPr>
            <a:xfrm>
              <a:off x="2834" y="272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3322" name="Oval 8"/>
            <p:cNvSpPr/>
            <p:nvPr/>
          </p:nvSpPr>
          <p:spPr>
            <a:xfrm>
              <a:off x="2362" y="318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3323" name="Oval 9"/>
            <p:cNvSpPr/>
            <p:nvPr/>
          </p:nvSpPr>
          <p:spPr>
            <a:xfrm>
              <a:off x="3447" y="3192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3324" name="AutoShape 10"/>
            <p:cNvCxnSpPr>
              <a:stCxn id="13321" idx="1"/>
              <a:endCxn id="13320" idx="5"/>
            </p:cNvCxnSpPr>
            <p:nvPr/>
          </p:nvCxnSpPr>
          <p:spPr>
            <a:xfrm flipH="1" flipV="1">
              <a:off x="2502" y="2359"/>
              <a:ext cx="355" cy="379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25" name="AutoShape 11"/>
            <p:cNvCxnSpPr>
              <a:stCxn id="13322" idx="6"/>
              <a:endCxn id="13323" idx="2"/>
            </p:cNvCxnSpPr>
            <p:nvPr/>
          </p:nvCxnSpPr>
          <p:spPr>
            <a:xfrm>
              <a:off x="2531" y="3264"/>
              <a:ext cx="907" cy="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326" name="Oval 12"/>
            <p:cNvSpPr/>
            <p:nvPr/>
          </p:nvSpPr>
          <p:spPr>
            <a:xfrm>
              <a:off x="3448" y="2219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3327" name="Oval 13"/>
            <p:cNvSpPr/>
            <p:nvPr/>
          </p:nvSpPr>
          <p:spPr>
            <a:xfrm>
              <a:off x="1936" y="273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3328" name="Oval 14"/>
            <p:cNvSpPr/>
            <p:nvPr/>
          </p:nvSpPr>
          <p:spPr>
            <a:xfrm>
              <a:off x="1415" y="276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3329" name="AutoShape 15"/>
            <p:cNvCxnSpPr>
              <a:stCxn id="13327" idx="6"/>
              <a:endCxn id="13321" idx="2"/>
            </p:cNvCxnSpPr>
            <p:nvPr/>
          </p:nvCxnSpPr>
          <p:spPr>
            <a:xfrm flipV="1">
              <a:off x="2105" y="2804"/>
              <a:ext cx="720" cy="1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0" name="AutoShape 16"/>
            <p:cNvCxnSpPr>
              <a:stCxn id="13320" idx="3"/>
              <a:endCxn id="13327" idx="7"/>
            </p:cNvCxnSpPr>
            <p:nvPr/>
          </p:nvCxnSpPr>
          <p:spPr>
            <a:xfrm flipH="1">
              <a:off x="2073" y="2359"/>
              <a:ext cx="315" cy="39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1" name="AutoShape 17"/>
            <p:cNvCxnSpPr>
              <a:stCxn id="13327" idx="5"/>
              <a:endCxn id="13322" idx="1"/>
            </p:cNvCxnSpPr>
            <p:nvPr/>
          </p:nvCxnSpPr>
          <p:spPr>
            <a:xfrm>
              <a:off x="2073" y="2882"/>
              <a:ext cx="312" cy="31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2" name="AutoShape 18"/>
            <p:cNvCxnSpPr>
              <a:stCxn id="13320" idx="6"/>
              <a:endCxn id="13326" idx="2"/>
            </p:cNvCxnSpPr>
            <p:nvPr/>
          </p:nvCxnSpPr>
          <p:spPr>
            <a:xfrm>
              <a:off x="2534" y="2293"/>
              <a:ext cx="905" cy="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3" name="AutoShape 19"/>
            <p:cNvCxnSpPr>
              <a:stCxn id="13323" idx="0"/>
              <a:endCxn id="13326" idx="4"/>
            </p:cNvCxnSpPr>
            <p:nvPr/>
          </p:nvCxnSpPr>
          <p:spPr>
            <a:xfrm flipV="1">
              <a:off x="3527" y="2388"/>
              <a:ext cx="1" cy="79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4" name="AutoShape 20"/>
            <p:cNvCxnSpPr>
              <a:stCxn id="13328" idx="7"/>
              <a:endCxn id="13320" idx="2"/>
            </p:cNvCxnSpPr>
            <p:nvPr/>
          </p:nvCxnSpPr>
          <p:spPr>
            <a:xfrm flipV="1">
              <a:off x="1552" y="2293"/>
              <a:ext cx="804" cy="48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35" name="AutoShape 21"/>
            <p:cNvCxnSpPr>
              <a:stCxn id="13328" idx="5"/>
              <a:endCxn id="13322" idx="2"/>
            </p:cNvCxnSpPr>
            <p:nvPr/>
          </p:nvCxnSpPr>
          <p:spPr>
            <a:xfrm>
              <a:off x="1552" y="2911"/>
              <a:ext cx="801" cy="35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>
          <a:xfrm>
            <a:off x="1043623" y="4445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This graph has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6  vertices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8  edges and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4  faces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vertices – edges + faces = 2</a:t>
            </a:r>
            <a:endParaRPr lang="zh-CN" altLang="en-US" dirty="0"/>
          </a:p>
        </p:txBody>
      </p:sp>
      <p:grpSp>
        <p:nvGrpSpPr>
          <p:cNvPr id="14342" name="Group 4"/>
          <p:cNvGrpSpPr/>
          <p:nvPr/>
        </p:nvGrpSpPr>
        <p:grpSpPr>
          <a:xfrm>
            <a:off x="3854450" y="2997200"/>
            <a:ext cx="4821238" cy="1808163"/>
            <a:chOff x="1553" y="377"/>
            <a:chExt cx="3037" cy="1139"/>
          </a:xfrm>
        </p:grpSpPr>
        <p:cxnSp>
          <p:nvCxnSpPr>
            <p:cNvPr id="14343" name="AutoShape 5"/>
            <p:cNvCxnSpPr>
              <a:stCxn id="14345" idx="3"/>
              <a:endCxn id="14347" idx="6"/>
            </p:cNvCxnSpPr>
            <p:nvPr/>
          </p:nvCxnSpPr>
          <p:spPr>
            <a:xfrm flipH="1">
              <a:off x="3754" y="983"/>
              <a:ext cx="699" cy="45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44" name="Oval 6"/>
            <p:cNvSpPr/>
            <p:nvPr/>
          </p:nvSpPr>
          <p:spPr>
            <a:xfrm>
              <a:off x="2503" y="37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4345" name="Oval 7"/>
            <p:cNvSpPr/>
            <p:nvPr/>
          </p:nvSpPr>
          <p:spPr>
            <a:xfrm>
              <a:off x="4430" y="83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4346" name="Oval 8"/>
            <p:cNvSpPr/>
            <p:nvPr/>
          </p:nvSpPr>
          <p:spPr>
            <a:xfrm>
              <a:off x="2500" y="134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4347" name="Oval 9"/>
            <p:cNvSpPr/>
            <p:nvPr/>
          </p:nvSpPr>
          <p:spPr>
            <a:xfrm>
              <a:off x="3585" y="135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4348" name="AutoShape 10"/>
            <p:cNvCxnSpPr>
              <a:stCxn id="14345" idx="1"/>
              <a:endCxn id="14350" idx="6"/>
            </p:cNvCxnSpPr>
            <p:nvPr/>
          </p:nvCxnSpPr>
          <p:spPr>
            <a:xfrm flipH="1" flipV="1">
              <a:off x="3755" y="463"/>
              <a:ext cx="698" cy="38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9" name="AutoShape 11"/>
            <p:cNvCxnSpPr>
              <a:stCxn id="14346" idx="6"/>
              <a:endCxn id="14347" idx="2"/>
            </p:cNvCxnSpPr>
            <p:nvPr/>
          </p:nvCxnSpPr>
          <p:spPr>
            <a:xfrm>
              <a:off x="2669" y="1428"/>
              <a:ext cx="907" cy="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350" name="Oval 12"/>
            <p:cNvSpPr/>
            <p:nvPr/>
          </p:nvSpPr>
          <p:spPr>
            <a:xfrm>
              <a:off x="3586" y="38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4351" name="Oval 13"/>
            <p:cNvSpPr/>
            <p:nvPr/>
          </p:nvSpPr>
          <p:spPr>
            <a:xfrm>
              <a:off x="1553" y="929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4352" name="AutoShape 14"/>
            <p:cNvCxnSpPr>
              <a:stCxn id="14344" idx="4"/>
              <a:endCxn id="14346" idx="0"/>
            </p:cNvCxnSpPr>
            <p:nvPr/>
          </p:nvCxnSpPr>
          <p:spPr>
            <a:xfrm flipH="1">
              <a:off x="2580" y="546"/>
              <a:ext cx="3" cy="79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3" name="AutoShape 15"/>
            <p:cNvCxnSpPr>
              <a:stCxn id="14344" idx="6"/>
              <a:endCxn id="14350" idx="2"/>
            </p:cNvCxnSpPr>
            <p:nvPr/>
          </p:nvCxnSpPr>
          <p:spPr>
            <a:xfrm>
              <a:off x="2672" y="457"/>
              <a:ext cx="905" cy="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4" name="AutoShape 16"/>
            <p:cNvCxnSpPr>
              <a:stCxn id="14347" idx="0"/>
              <a:endCxn id="14350" idx="4"/>
            </p:cNvCxnSpPr>
            <p:nvPr/>
          </p:nvCxnSpPr>
          <p:spPr>
            <a:xfrm flipV="1">
              <a:off x="3665" y="552"/>
              <a:ext cx="1" cy="79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5" name="AutoShape 17"/>
            <p:cNvCxnSpPr>
              <a:stCxn id="14351" idx="7"/>
              <a:endCxn id="14344" idx="2"/>
            </p:cNvCxnSpPr>
            <p:nvPr/>
          </p:nvCxnSpPr>
          <p:spPr>
            <a:xfrm flipV="1">
              <a:off x="1690" y="457"/>
              <a:ext cx="804" cy="48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6" name="AutoShape 18"/>
            <p:cNvCxnSpPr>
              <a:stCxn id="14351" idx="5"/>
              <a:endCxn id="14346" idx="2"/>
            </p:cNvCxnSpPr>
            <p:nvPr/>
          </p:nvCxnSpPr>
          <p:spPr>
            <a:xfrm>
              <a:off x="1690" y="1075"/>
              <a:ext cx="801" cy="35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>
          <a:xfrm>
            <a:off x="1066483" y="9969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This graph has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7  vertices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12  edges and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7  faces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vertices – edges + faces = 2</a:t>
            </a:r>
            <a:endParaRPr lang="zh-CN" altLang="en-US" dirty="0"/>
          </a:p>
        </p:txBody>
      </p:sp>
      <p:grpSp>
        <p:nvGrpSpPr>
          <p:cNvPr id="15366" name="Group 4"/>
          <p:cNvGrpSpPr/>
          <p:nvPr/>
        </p:nvGrpSpPr>
        <p:grpSpPr>
          <a:xfrm>
            <a:off x="5418138" y="2587625"/>
            <a:ext cx="3041650" cy="2211388"/>
            <a:chOff x="1968" y="624"/>
            <a:chExt cx="1916" cy="1393"/>
          </a:xfrm>
        </p:grpSpPr>
        <p:cxnSp>
          <p:nvCxnSpPr>
            <p:cNvPr id="15367" name="AutoShape 5"/>
            <p:cNvCxnSpPr>
              <a:stCxn id="15369" idx="3"/>
              <a:endCxn id="15371" idx="6"/>
            </p:cNvCxnSpPr>
            <p:nvPr/>
          </p:nvCxnSpPr>
          <p:spPr>
            <a:xfrm flipH="1">
              <a:off x="3014" y="1731"/>
              <a:ext cx="733" cy="20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68" name="Oval 6"/>
            <p:cNvSpPr/>
            <p:nvPr/>
          </p:nvSpPr>
          <p:spPr>
            <a:xfrm>
              <a:off x="2846" y="62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5369" name="Oval 7"/>
            <p:cNvSpPr/>
            <p:nvPr/>
          </p:nvSpPr>
          <p:spPr>
            <a:xfrm>
              <a:off x="3724" y="158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5370" name="Oval 8"/>
            <p:cNvSpPr/>
            <p:nvPr/>
          </p:nvSpPr>
          <p:spPr>
            <a:xfrm>
              <a:off x="1968" y="162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5371" name="Oval 9"/>
            <p:cNvSpPr/>
            <p:nvPr/>
          </p:nvSpPr>
          <p:spPr>
            <a:xfrm>
              <a:off x="2845" y="185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5372" name="AutoShape 10"/>
            <p:cNvCxnSpPr>
              <a:stCxn id="15369" idx="0"/>
              <a:endCxn id="15374" idx="4"/>
            </p:cNvCxnSpPr>
            <p:nvPr/>
          </p:nvCxnSpPr>
          <p:spPr>
            <a:xfrm flipV="1">
              <a:off x="3804" y="1069"/>
              <a:ext cx="0" cy="50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3" name="AutoShape 11"/>
            <p:cNvCxnSpPr>
              <a:stCxn id="15370" idx="5"/>
              <a:endCxn id="15371" idx="2"/>
            </p:cNvCxnSpPr>
            <p:nvPr/>
          </p:nvCxnSpPr>
          <p:spPr>
            <a:xfrm>
              <a:off x="2105" y="1774"/>
              <a:ext cx="731" cy="16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74" name="Oval 12"/>
            <p:cNvSpPr/>
            <p:nvPr/>
          </p:nvSpPr>
          <p:spPr>
            <a:xfrm>
              <a:off x="3724" y="90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15375" name="Oval 13"/>
            <p:cNvSpPr/>
            <p:nvPr/>
          </p:nvSpPr>
          <p:spPr>
            <a:xfrm>
              <a:off x="1968" y="94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5376" name="AutoShape 14"/>
            <p:cNvCxnSpPr>
              <a:stCxn id="15368" idx="6"/>
              <a:endCxn id="15374" idx="1"/>
            </p:cNvCxnSpPr>
            <p:nvPr/>
          </p:nvCxnSpPr>
          <p:spPr>
            <a:xfrm>
              <a:off x="3015" y="704"/>
              <a:ext cx="732" cy="21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7" name="AutoShape 15"/>
            <p:cNvCxnSpPr>
              <a:stCxn id="15375" idx="7"/>
              <a:endCxn id="15368" idx="2"/>
            </p:cNvCxnSpPr>
            <p:nvPr/>
          </p:nvCxnSpPr>
          <p:spPr>
            <a:xfrm flipV="1">
              <a:off x="2105" y="704"/>
              <a:ext cx="732" cy="25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78" name="AutoShape 16"/>
            <p:cNvCxnSpPr>
              <a:stCxn id="15375" idx="4"/>
              <a:endCxn id="15370" idx="0"/>
            </p:cNvCxnSpPr>
            <p:nvPr/>
          </p:nvCxnSpPr>
          <p:spPr>
            <a:xfrm>
              <a:off x="2048" y="1112"/>
              <a:ext cx="0" cy="50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79" name="Oval 17"/>
            <p:cNvSpPr/>
            <p:nvPr/>
          </p:nvSpPr>
          <p:spPr>
            <a:xfrm>
              <a:off x="2847" y="126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15380" name="AutoShape 18"/>
            <p:cNvCxnSpPr>
              <a:stCxn id="15379" idx="0"/>
              <a:endCxn id="15368" idx="4"/>
            </p:cNvCxnSpPr>
            <p:nvPr/>
          </p:nvCxnSpPr>
          <p:spPr>
            <a:xfrm flipH="1" flipV="1">
              <a:off x="2926" y="793"/>
              <a:ext cx="1" cy="45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1" name="AutoShape 19"/>
            <p:cNvCxnSpPr>
              <a:stCxn id="15371" idx="0"/>
              <a:endCxn id="15379" idx="4"/>
            </p:cNvCxnSpPr>
            <p:nvPr/>
          </p:nvCxnSpPr>
          <p:spPr>
            <a:xfrm flipV="1">
              <a:off x="2925" y="1429"/>
              <a:ext cx="2" cy="419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2" name="AutoShape 20"/>
            <p:cNvCxnSpPr>
              <a:stCxn id="15374" idx="3"/>
              <a:endCxn id="15379" idx="7"/>
            </p:cNvCxnSpPr>
            <p:nvPr/>
          </p:nvCxnSpPr>
          <p:spPr>
            <a:xfrm flipH="1">
              <a:off x="2984" y="1046"/>
              <a:ext cx="763" cy="22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3" name="AutoShape 21"/>
            <p:cNvCxnSpPr>
              <a:stCxn id="15369" idx="1"/>
              <a:endCxn id="15379" idx="5"/>
            </p:cNvCxnSpPr>
            <p:nvPr/>
          </p:nvCxnSpPr>
          <p:spPr>
            <a:xfrm flipH="1" flipV="1">
              <a:off x="2984" y="1406"/>
              <a:ext cx="763" cy="19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4" name="AutoShape 22"/>
            <p:cNvCxnSpPr>
              <a:stCxn id="15370" idx="7"/>
              <a:endCxn id="15379" idx="3"/>
            </p:cNvCxnSpPr>
            <p:nvPr/>
          </p:nvCxnSpPr>
          <p:spPr>
            <a:xfrm flipV="1">
              <a:off x="2105" y="1406"/>
              <a:ext cx="765" cy="23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85" name="AutoShape 23"/>
            <p:cNvCxnSpPr>
              <a:stCxn id="15375" idx="5"/>
              <a:endCxn id="15379" idx="1"/>
            </p:cNvCxnSpPr>
            <p:nvPr/>
          </p:nvCxnSpPr>
          <p:spPr>
            <a:xfrm>
              <a:off x="2105" y="1089"/>
              <a:ext cx="765" cy="18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>
          <a:xfrm>
            <a:off x="971233" y="4445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Euler Theorem 1752</a:t>
            </a:r>
            <a:endParaRPr lang="zh-CN" altLang="en-US" dirty="0"/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Let </a:t>
            </a:r>
            <a:r>
              <a:rPr lang="en-US" altLang="zh-CN" i="1" dirty="0"/>
              <a:t>G </a:t>
            </a:r>
            <a:r>
              <a:rPr lang="en-US" altLang="zh-CN" dirty="0"/>
              <a:t>be a connected planar simple graph with </a:t>
            </a:r>
            <a:r>
              <a:rPr lang="en-US" altLang="zh-CN" i="1" dirty="0"/>
              <a:t>e</a:t>
            </a:r>
            <a:r>
              <a:rPr lang="en-US" altLang="zh-CN" dirty="0"/>
              <a:t> edges and </a:t>
            </a:r>
            <a:r>
              <a:rPr lang="en-US" altLang="zh-CN" i="1" dirty="0"/>
              <a:t>v </a:t>
            </a:r>
            <a:r>
              <a:rPr lang="en-US" altLang="zh-CN" dirty="0"/>
              <a:t>vertices. Let </a:t>
            </a:r>
            <a:r>
              <a:rPr lang="en-US" altLang="zh-CN" i="1" dirty="0"/>
              <a:t>r</a:t>
            </a:r>
            <a:r>
              <a:rPr lang="en-US" altLang="zh-CN" dirty="0"/>
              <a:t> be the number of regions in a planar representation of </a:t>
            </a:r>
            <a:r>
              <a:rPr lang="en-US" altLang="zh-CN" i="1" dirty="0"/>
              <a:t>G</a:t>
            </a:r>
            <a:r>
              <a:rPr lang="en-US" altLang="zh-CN" dirty="0"/>
              <a:t>. Then </a:t>
            </a:r>
            <a:r>
              <a:rPr lang="en-US" altLang="zh-CN" i="1" dirty="0"/>
              <a:t>r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 − </a:t>
            </a:r>
            <a:r>
              <a:rPr lang="en-US" altLang="zh-CN" i="1" dirty="0"/>
              <a:t>v</a:t>
            </a:r>
            <a:r>
              <a:rPr lang="en-US" altLang="zh-CN" dirty="0"/>
              <a:t> +2.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1066483" y="11112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By induction on the # of cycles of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b="1" i="1" dirty="0"/>
              <a:t>Base case</a:t>
            </a:r>
            <a:r>
              <a:rPr lang="en-US" altLang="zh-CN" dirty="0"/>
              <a:t>:  </a:t>
            </a:r>
            <a:r>
              <a:rPr lang="en-US" altLang="zh-CN" i="1" dirty="0"/>
              <a:t>G</a:t>
            </a:r>
            <a:r>
              <a:rPr lang="en-US" altLang="zh-CN" dirty="0"/>
              <a:t> has no cycles.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G</a:t>
            </a:r>
            <a:r>
              <a:rPr lang="en-US" altLang="zh-CN" dirty="0"/>
              <a:t> is connected so it must be a  tree.  </a:t>
            </a:r>
            <a:endParaRPr lang="en-US" altLang="zh-CN" dirty="0"/>
          </a:p>
          <a:p>
            <a:pPr eaLnBrk="1" hangingPunct="1"/>
            <a:r>
              <a:rPr lang="en-US" altLang="zh-CN" dirty="0"/>
              <a:t>Thus, </a:t>
            </a:r>
            <a:r>
              <a:rPr lang="en-US" altLang="zh-CN" i="1" dirty="0"/>
              <a:t>e</a:t>
            </a:r>
            <a:r>
              <a:rPr lang="en-US" altLang="zh-CN" dirty="0"/>
              <a:t> = </a:t>
            </a:r>
            <a:r>
              <a:rPr lang="en-US" altLang="zh-CN" i="1" dirty="0"/>
              <a:t>v </a:t>
            </a:r>
            <a:r>
              <a:rPr lang="en-US" altLang="zh-CN" dirty="0"/>
              <a:t>- 1 and </a:t>
            </a:r>
            <a:r>
              <a:rPr lang="en-US" altLang="zh-CN" i="1" dirty="0"/>
              <a:t>r </a:t>
            </a:r>
            <a:r>
              <a:rPr lang="en-US" altLang="zh-CN" dirty="0"/>
              <a:t>= 1.</a:t>
            </a:r>
            <a:endParaRPr lang="zh-CN" altLang="en-US" dirty="0"/>
          </a:p>
        </p:txBody>
      </p:sp>
      <p:graphicFrame>
        <p:nvGraphicFramePr>
          <p:cNvPr id="667652" name="Object 4"/>
          <p:cNvGraphicFramePr>
            <a:graphicFrameLocks noChangeAspect="1"/>
          </p:cNvGraphicFramePr>
          <p:nvPr/>
        </p:nvGraphicFramePr>
        <p:xfrm>
          <a:off x="3038475" y="4581525"/>
          <a:ext cx="3370263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397000" imgH="622300" progId="Equation.DSMT4">
                  <p:embed/>
                </p:oleObj>
              </mc:Choice>
              <mc:Fallback>
                <p:oleObj name="" r:id="rId1" imgW="1397000" imgH="6223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38475" y="4581525"/>
                        <a:ext cx="3370263" cy="1501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1043623" y="3302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Inductive step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Suppose </a:t>
            </a:r>
            <a:r>
              <a:rPr lang="en-US" altLang="zh-CN" i="1" dirty="0"/>
              <a:t>G</a:t>
            </a:r>
            <a:r>
              <a:rPr lang="en-US" altLang="zh-CN" dirty="0"/>
              <a:t> has at least one cycle </a:t>
            </a:r>
            <a:r>
              <a:rPr lang="en-US" altLang="zh-CN" i="1" dirty="0"/>
              <a:t>C</a:t>
            </a:r>
            <a:r>
              <a:rPr lang="en-US" altLang="zh-CN" dirty="0"/>
              <a:t> containing edge </a:t>
            </a:r>
            <a:r>
              <a:rPr lang="en-US" altLang="zh-CN" i="1" dirty="0"/>
              <a:t>e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Let</a:t>
            </a: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1627188" y="4027488"/>
            <a:ext cx="6884987" cy="1562100"/>
            <a:chOff x="1218" y="1172"/>
            <a:chExt cx="4337" cy="984"/>
          </a:xfrm>
        </p:grpSpPr>
        <p:sp>
          <p:nvSpPr>
            <p:cNvPr id="18439" name="Text Box 5"/>
            <p:cNvSpPr txBox="1"/>
            <p:nvPr/>
          </p:nvSpPr>
          <p:spPr>
            <a:xfrm>
              <a:off x="3364" y="1246"/>
              <a:ext cx="2191" cy="865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v</a:t>
              </a: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  <a:sym typeface="Symbol" panose="05050102010706020507" pitchFamily="18" charset="2"/>
                </a:rPr>
                <a:t>= # of vertices, </a:t>
              </a:r>
              <a:r>
                <a:rPr lang="en-US" altLang="zh-CN" sz="2800" i="1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e</a:t>
              </a: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  <a:sym typeface="Symbol" panose="05050102010706020507" pitchFamily="18" charset="2"/>
                </a:rPr>
                <a:t> = # of edges,</a:t>
              </a:r>
              <a:endPara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  <a:sym typeface="Symbol" panose="05050102010706020507" pitchFamily="18" charset="2"/>
              </a:endParaRPr>
            </a:p>
            <a:p>
              <a:pPr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r </a:t>
              </a: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  <a:sym typeface="Symbol" panose="05050102010706020507" pitchFamily="18" charset="2"/>
                </a:rPr>
                <a:t> = # of regions</a:t>
              </a:r>
              <a:endPara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  <a:sym typeface="Symbol" panose="05050102010706020507" pitchFamily="18" charset="2"/>
              </a:endParaRPr>
            </a:p>
          </p:txBody>
        </p:sp>
        <p:grpSp>
          <p:nvGrpSpPr>
            <p:cNvPr id="18440" name="Group 6"/>
            <p:cNvGrpSpPr/>
            <p:nvPr/>
          </p:nvGrpSpPr>
          <p:grpSpPr>
            <a:xfrm>
              <a:off x="1218" y="1172"/>
              <a:ext cx="2025" cy="984"/>
              <a:chOff x="-103" y="2835"/>
              <a:chExt cx="2025" cy="984"/>
            </a:xfrm>
          </p:grpSpPr>
          <p:sp>
            <p:nvSpPr>
              <p:cNvPr id="18441" name="Text Box 7"/>
              <p:cNvSpPr txBox="1"/>
              <p:nvPr/>
            </p:nvSpPr>
            <p:spPr>
              <a:xfrm rot="-2011089">
                <a:off x="-103" y="2835"/>
                <a:ext cx="1013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274320" rIns="274320" anchor="t" anchorCtr="0">
                <a:spAutoFit/>
              </a:bodyPr>
              <a:p>
                <a:pPr eaLnBrk="0" hangingPunct="0">
                  <a:buClrTx/>
                  <a:buFontTx/>
                </a:pPr>
                <a:r>
                  <a:rPr lang="en-US" altLang="zh-CN" dirty="0">
                    <a:solidFill>
                      <a:schemeClr val="folHlink"/>
                    </a:solidFill>
                    <a:latin typeface="Georgia" panose="02040502050405090303" pitchFamily="18" charset="0"/>
                  </a:rPr>
                  <a:t>exterior</a:t>
                </a:r>
                <a:endParaRPr lang="en-US" altLang="zh-CN" dirty="0">
                  <a:solidFill>
                    <a:schemeClr val="folHlink"/>
                  </a:solidFill>
                  <a:latin typeface="Georgia" panose="02040502050405090303" pitchFamily="18" charset="0"/>
                </a:endParaRPr>
              </a:p>
            </p:txBody>
          </p:sp>
          <p:grpSp>
            <p:nvGrpSpPr>
              <p:cNvPr id="18442" name="Group 8"/>
              <p:cNvGrpSpPr/>
              <p:nvPr/>
            </p:nvGrpSpPr>
            <p:grpSpPr>
              <a:xfrm>
                <a:off x="251" y="2928"/>
                <a:ext cx="1671" cy="891"/>
                <a:chOff x="251" y="2928"/>
                <a:chExt cx="1671" cy="891"/>
              </a:xfrm>
            </p:grpSpPr>
            <p:sp>
              <p:nvSpPr>
                <p:cNvPr id="18443" name="Oval 9"/>
                <p:cNvSpPr/>
                <p:nvPr/>
              </p:nvSpPr>
              <p:spPr>
                <a:xfrm>
                  <a:off x="687" y="2928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8444" name="Oval 10"/>
                <p:cNvSpPr/>
                <p:nvPr/>
              </p:nvSpPr>
              <p:spPr>
                <a:xfrm>
                  <a:off x="546" y="3606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8445" name="Oval 11"/>
                <p:cNvSpPr/>
                <p:nvPr/>
              </p:nvSpPr>
              <p:spPr>
                <a:xfrm>
                  <a:off x="1762" y="3287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18446" name="AutoShape 12"/>
                <p:cNvCxnSpPr>
                  <a:stCxn id="18444" idx="6"/>
                  <a:endCxn id="18454" idx="2"/>
                </p:cNvCxnSpPr>
                <p:nvPr/>
              </p:nvCxnSpPr>
              <p:spPr>
                <a:xfrm>
                  <a:off x="715" y="3686"/>
                  <a:ext cx="312" cy="53"/>
                </a:xfrm>
                <a:prstGeom prst="straightConnector1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8447" name="Oval 13"/>
                <p:cNvSpPr/>
                <p:nvPr/>
              </p:nvSpPr>
              <p:spPr>
                <a:xfrm>
                  <a:off x="1442" y="2934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8448" name="Oval 14"/>
                <p:cNvSpPr/>
                <p:nvPr/>
              </p:nvSpPr>
              <p:spPr>
                <a:xfrm>
                  <a:off x="251" y="3268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18449" name="AutoShape 15"/>
                <p:cNvCxnSpPr>
                  <a:stCxn id="18443" idx="3"/>
                  <a:endCxn id="18448" idx="7"/>
                </p:cNvCxnSpPr>
                <p:nvPr/>
              </p:nvCxnSpPr>
              <p:spPr>
                <a:xfrm flipH="1">
                  <a:off x="388" y="3074"/>
                  <a:ext cx="322" cy="208"/>
                </a:xfrm>
                <a:prstGeom prst="straightConnector1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0" name="AutoShape 16"/>
                <p:cNvCxnSpPr>
                  <a:stCxn id="18448" idx="5"/>
                  <a:endCxn id="18444" idx="1"/>
                </p:cNvCxnSpPr>
                <p:nvPr/>
              </p:nvCxnSpPr>
              <p:spPr>
                <a:xfrm>
                  <a:off x="388" y="3414"/>
                  <a:ext cx="181" cy="206"/>
                </a:xfrm>
                <a:prstGeom prst="straightConnector1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1" name="AutoShape 17"/>
                <p:cNvCxnSpPr>
                  <a:stCxn id="18443" idx="6"/>
                  <a:endCxn id="18447" idx="2"/>
                </p:cNvCxnSpPr>
                <p:nvPr/>
              </p:nvCxnSpPr>
              <p:spPr>
                <a:xfrm>
                  <a:off x="856" y="3008"/>
                  <a:ext cx="577" cy="6"/>
                </a:xfrm>
                <a:prstGeom prst="straightConnector1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2" name="AutoShape 18"/>
                <p:cNvCxnSpPr>
                  <a:stCxn id="18445" idx="0"/>
                  <a:endCxn id="18447" idx="5"/>
                </p:cNvCxnSpPr>
                <p:nvPr/>
              </p:nvCxnSpPr>
              <p:spPr>
                <a:xfrm flipH="1" flipV="1">
                  <a:off x="1579" y="3080"/>
                  <a:ext cx="263" cy="198"/>
                </a:xfrm>
                <a:prstGeom prst="straightConnector1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8453" name="Oval 19"/>
                <p:cNvSpPr/>
                <p:nvPr/>
              </p:nvSpPr>
              <p:spPr>
                <a:xfrm>
                  <a:off x="1495" y="3645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8454" name="Oval 20"/>
                <p:cNvSpPr/>
                <p:nvPr/>
              </p:nvSpPr>
              <p:spPr>
                <a:xfrm>
                  <a:off x="1036" y="3659"/>
                  <a:ext cx="160" cy="160"/>
                </a:xfrm>
                <a:prstGeom prst="ellipse">
                  <a:avLst/>
                </a:prstGeom>
                <a:noFill/>
                <a:ln w="28575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274320" rIns="274320" anchor="ctr" anchorCtr="0">
                  <a:spAutoFit/>
                </a:bodyPr>
                <a:p>
                  <a:pPr eaLnBrk="0" hangingPunct="0">
                    <a:buClrTx/>
                    <a:buFontTx/>
                  </a:pPr>
                  <a:endParaRPr lang="zh-CN" altLang="en-US" dirty="0">
                    <a:latin typeface="Times New Roman" panose="02020503050405090304" pitchFamily="18" charset="0"/>
                  </a:endParaRPr>
                </a:p>
              </p:txBody>
            </p:sp>
            <p:cxnSp>
              <p:nvCxnSpPr>
                <p:cNvPr id="18455" name="AutoShape 21"/>
                <p:cNvCxnSpPr>
                  <a:stCxn id="18454" idx="6"/>
                  <a:endCxn id="18453" idx="2"/>
                </p:cNvCxnSpPr>
                <p:nvPr/>
              </p:nvCxnSpPr>
              <p:spPr>
                <a:xfrm flipV="1">
                  <a:off x="1205" y="3725"/>
                  <a:ext cx="281" cy="14"/>
                </a:xfrm>
                <a:prstGeom prst="straightConnector1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6" name="AutoShape 22"/>
                <p:cNvCxnSpPr>
                  <a:stCxn id="18453" idx="7"/>
                  <a:endCxn id="18445" idx="4"/>
                </p:cNvCxnSpPr>
                <p:nvPr/>
              </p:nvCxnSpPr>
              <p:spPr>
                <a:xfrm flipV="1">
                  <a:off x="1632" y="3456"/>
                  <a:ext cx="210" cy="203"/>
                </a:xfrm>
                <a:prstGeom prst="straightConnector1">
                  <a:avLst/>
                </a:prstGeom>
                <a:ln w="28575" cap="sq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8457" name="Text Box 23"/>
                <p:cNvSpPr txBox="1"/>
                <p:nvPr/>
              </p:nvSpPr>
              <p:spPr>
                <a:xfrm>
                  <a:off x="412" y="3086"/>
                  <a:ext cx="445" cy="327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274320" rIns="274320" anchor="t" anchorCtr="0">
                  <a:spAutoFit/>
                </a:bodyPr>
                <a:p>
                  <a:pPr algn="ctr" eaLnBrk="0" hangingPunct="0">
                    <a:buClrTx/>
                    <a:buFontTx/>
                  </a:pPr>
                  <a:r>
                    <a:rPr lang="en-US" altLang="zh-CN" sz="2800" i="1" dirty="0">
                      <a:solidFill>
                        <a:schemeClr val="tx2"/>
                      </a:solidFill>
                      <a:latin typeface="Times New Roman" panose="02020503050405090304" pitchFamily="18" charset="0"/>
                    </a:rPr>
                    <a:t>e</a:t>
                  </a:r>
                  <a:endParaRPr lang="en-US" altLang="zh-CN" sz="2800" i="1" dirty="0">
                    <a:solidFill>
                      <a:schemeClr val="tx2"/>
                    </a:solidFill>
                    <a:latin typeface="Times New Roman" panose="02020503050405090304" pitchFamily="18" charset="0"/>
                  </a:endParaRPr>
                </a:p>
              </p:txBody>
            </p:sp>
            <p:sp>
              <p:nvSpPr>
                <p:cNvPr id="18458" name="Text Box 24"/>
                <p:cNvSpPr txBox="1"/>
                <p:nvPr/>
              </p:nvSpPr>
              <p:spPr>
                <a:xfrm>
                  <a:off x="622" y="3212"/>
                  <a:ext cx="992" cy="288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lIns="274320" rIns="274320" anchor="t" anchorCtr="0">
                  <a:spAutoFit/>
                </a:bodyPr>
                <a:p>
                  <a:pPr eaLnBrk="0" hangingPunct="0">
                    <a:buClrTx/>
                    <a:buFontTx/>
                  </a:pPr>
                  <a:r>
                    <a:rPr lang="en-US" altLang="zh-CN" dirty="0">
                      <a:solidFill>
                        <a:schemeClr val="folHlink"/>
                      </a:solidFill>
                      <a:latin typeface="Georgia" panose="02040502050405090303" pitchFamily="18" charset="0"/>
                    </a:rPr>
                    <a:t>interior</a:t>
                  </a:r>
                  <a:endParaRPr lang="en-US" altLang="zh-CN" dirty="0">
                    <a:solidFill>
                      <a:schemeClr val="folHlink"/>
                    </a:solidFill>
                    <a:latin typeface="Georgia" panose="02040502050405090303" pitchFamily="18" charset="0"/>
                  </a:endParaRPr>
                </a:p>
              </p:txBody>
            </p:sp>
          </p:grpSp>
        </p:grpSp>
      </p:grpSp>
      <p:graphicFrame>
        <p:nvGraphicFramePr>
          <p:cNvPr id="18459" name="Object 25"/>
          <p:cNvGraphicFramePr>
            <a:graphicFrameLocks noChangeAspect="1"/>
          </p:cNvGraphicFramePr>
          <p:nvPr/>
        </p:nvGraphicFramePr>
        <p:xfrm>
          <a:off x="2484438" y="3213100"/>
          <a:ext cx="16557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60400" imgH="177800" progId="Equation.DSMT4">
                  <p:embed/>
                </p:oleObj>
              </mc:Choice>
              <mc:Fallback>
                <p:oleObj name="" r:id="rId1" imgW="660400" imgH="177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438" y="3213100"/>
                        <a:ext cx="1655762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>
          <a:xfrm>
            <a:off x="1042988" y="2286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Inductive step</a:t>
            </a:r>
            <a:endParaRPr lang="en-US" altLang="zh-CN" dirty="0"/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is connected since </a:t>
            </a:r>
            <a:r>
              <a:rPr lang="en-US" altLang="zh-CN" i="1" dirty="0"/>
              <a:t>e</a:t>
            </a:r>
            <a:r>
              <a:rPr lang="en-US" altLang="zh-CN" dirty="0"/>
              <a:t> was on a cycle.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= </a:t>
            </a:r>
            <a:r>
              <a:rPr lang="en-US" altLang="zh-CN" i="1" dirty="0"/>
              <a:t>r-</a:t>
            </a:r>
            <a:r>
              <a:rPr lang="en-US" altLang="zh-CN" dirty="0"/>
              <a:t>1 and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 has fewer cycles than </a:t>
            </a:r>
            <a:r>
              <a:rPr lang="en-US" altLang="zh-CN" i="1" dirty="0"/>
              <a:t>G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= </a:t>
            </a:r>
            <a:r>
              <a:rPr lang="en-US" altLang="zh-CN" i="1" dirty="0"/>
              <a:t>v</a:t>
            </a:r>
            <a:endParaRPr lang="en-US" altLang="zh-CN" i="1" dirty="0"/>
          </a:p>
          <a:p>
            <a:pPr lvl="1" eaLnBrk="1" hangingPunct="1"/>
            <a:r>
              <a:rPr lang="en-US" altLang="zh-CN" i="1" dirty="0"/>
              <a:t>e</a:t>
            </a:r>
            <a:r>
              <a:rPr lang="en-US" altLang="zh-CN" dirty="0">
                <a:sym typeface="Symbol" panose="05050102010706020507" pitchFamily="18" charset="2"/>
              </a:rPr>
              <a:t>= </a:t>
            </a:r>
            <a:r>
              <a:rPr lang="en-US" altLang="zh-CN" i="1" dirty="0"/>
              <a:t>e-</a:t>
            </a:r>
            <a:r>
              <a:rPr lang="en-US" altLang="zh-CN" dirty="0"/>
              <a:t>1</a:t>
            </a:r>
            <a:endParaRPr lang="en-US" altLang="zh-CN" dirty="0"/>
          </a:p>
          <a:p>
            <a:pPr eaLnBrk="1" hangingPunct="1"/>
            <a:r>
              <a:rPr lang="en-US" altLang="zh-CN" dirty="0"/>
              <a:t>By induction hypothesis:</a:t>
            </a:r>
            <a:endParaRPr lang="zh-CN" altLang="en-US" dirty="0"/>
          </a:p>
        </p:txBody>
      </p:sp>
      <p:graphicFrame>
        <p:nvGraphicFramePr>
          <p:cNvPr id="19462" name="Object 4"/>
          <p:cNvGraphicFramePr>
            <a:graphicFrameLocks noChangeAspect="1"/>
          </p:cNvGraphicFramePr>
          <p:nvPr/>
        </p:nvGraphicFramePr>
        <p:xfrm>
          <a:off x="3128963" y="4107498"/>
          <a:ext cx="2884487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308100" imgH="660400" progId="Equation.DSMT4">
                  <p:embed/>
                </p:oleObj>
              </mc:Choice>
              <mc:Fallback>
                <p:oleObj name="" r:id="rId1" imgW="1308100" imgH="6604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28963" y="4107498"/>
                        <a:ext cx="2884487" cy="1457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1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anchor="b" anchorCtr="0"/>
          <a:p>
            <a:r>
              <a:rPr lang="en-US" altLang="zh-CN"/>
              <a:t>Another </a:t>
            </a:r>
            <a:r>
              <a:rPr lang="zh-CN" altLang="en-US"/>
              <a:t>Proof</a:t>
            </a:r>
            <a:endParaRPr lang="zh-CN" altLang="en-US"/>
          </a:p>
        </p:txBody>
      </p:sp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38100" y="1739900"/>
            <a:ext cx="8980488" cy="4114800"/>
          </a:xfrm>
        </p:spPr>
        <p:txBody>
          <a:bodyPr anchor="t" anchorCtr="0"/>
          <a:p>
            <a:r>
              <a:rPr lang="zh-CN" altLang="en-US"/>
              <a:t> </a:t>
            </a:r>
            <a:r>
              <a:rPr lang="en-US" altLang="zh-CN" sz="2800"/>
              <a:t>C</a:t>
            </a:r>
            <a:r>
              <a:rPr lang="zh-CN" altLang="en-US" sz="2800"/>
              <a:t>onstructing</a:t>
            </a:r>
            <a:r>
              <a:rPr lang="en-US" altLang="zh-CN" sz="2800"/>
              <a:t> </a:t>
            </a:r>
            <a:r>
              <a:rPr lang="zh-CN" altLang="en-US" sz="2800"/>
              <a:t>a sequence of subgraphs G</a:t>
            </a:r>
            <a:r>
              <a:rPr lang="zh-CN" altLang="en-US" sz="2800" baseline="-25000"/>
              <a:t>1</a:t>
            </a:r>
            <a:r>
              <a:rPr lang="zh-CN" altLang="en-US" sz="2800"/>
              <a:t>, G</a:t>
            </a:r>
            <a:r>
              <a:rPr lang="zh-CN" altLang="en-US" sz="2800" baseline="-25000"/>
              <a:t>2</a:t>
            </a:r>
            <a:r>
              <a:rPr lang="zh-CN" altLang="en-US" sz="2800"/>
              <a:t>, … , G</a:t>
            </a:r>
            <a:r>
              <a:rPr lang="zh-CN" altLang="en-US" sz="2800" baseline="-25000"/>
              <a:t>e</a:t>
            </a:r>
            <a:r>
              <a:rPr lang="zh-CN" altLang="en-US" sz="2800"/>
              <a:t> = G, successively adding an edge at each stage.</a:t>
            </a:r>
            <a:endParaRPr lang="zh-CN" altLang="en-US" sz="2800"/>
          </a:p>
          <a:p>
            <a:r>
              <a:rPr lang="zh-CN" altLang="en-US" sz="2800"/>
              <a:t>Arbitrarily pick one edge of G to obtain G</a:t>
            </a:r>
            <a:r>
              <a:rPr lang="zh-CN" altLang="en-US" sz="2800" baseline="-25000"/>
              <a:t>1</a:t>
            </a:r>
            <a:r>
              <a:rPr lang="zh-CN" altLang="en-US" sz="2800"/>
              <a:t>. Obtain</a:t>
            </a:r>
            <a:r>
              <a:rPr lang="en-US" altLang="zh-CN" sz="2800"/>
              <a:t> </a:t>
            </a:r>
            <a:r>
              <a:rPr lang="zh-CN" altLang="en-US" sz="2800"/>
              <a:t>G</a:t>
            </a:r>
            <a:r>
              <a:rPr lang="zh-CN" altLang="en-US" sz="2800" baseline="-25000"/>
              <a:t>n</a:t>
            </a:r>
            <a:r>
              <a:rPr lang="zh-CN" altLang="en-US" sz="2800"/>
              <a:t> from G</a:t>
            </a:r>
            <a:r>
              <a:rPr lang="zh-CN" altLang="en-US" sz="2800" baseline="-25000"/>
              <a:t>n−1</a:t>
            </a:r>
            <a:r>
              <a:rPr lang="zh-CN" altLang="en-US" sz="2800"/>
              <a:t> by arbitrarily adding an edge that is incident with a vertex already in G</a:t>
            </a:r>
            <a:r>
              <a:rPr lang="zh-CN" altLang="en-US" sz="2800" baseline="-25000"/>
              <a:t>n−1</a:t>
            </a:r>
            <a:r>
              <a:rPr lang="zh-CN" altLang="en-US" sz="2800"/>
              <a:t>, adding</a:t>
            </a:r>
            <a:r>
              <a:rPr lang="en-US" altLang="zh-CN" sz="2800"/>
              <a:t> </a:t>
            </a:r>
            <a:r>
              <a:rPr lang="zh-CN" altLang="en-US" sz="2800"/>
              <a:t>the other vertex incident with this edge if it is not already in G</a:t>
            </a:r>
            <a:r>
              <a:rPr lang="zh-CN" altLang="en-US" sz="2800" baseline="-25000"/>
              <a:t>n−1</a:t>
            </a:r>
            <a:r>
              <a:rPr lang="zh-CN" altLang="en-US" sz="2800"/>
              <a:t>.</a:t>
            </a:r>
            <a:endParaRPr lang="zh-CN" altLang="en-US" sz="2800"/>
          </a:p>
          <a:p>
            <a:r>
              <a:rPr lang="zh-CN" altLang="en-US" sz="2800"/>
              <a:t>This construction is possible</a:t>
            </a:r>
            <a:r>
              <a:rPr lang="en-US" altLang="zh-CN" sz="2800"/>
              <a:t> </a:t>
            </a:r>
            <a:r>
              <a:rPr lang="zh-CN" altLang="en-US" sz="2800"/>
              <a:t>because G is connected</a:t>
            </a:r>
            <a:endParaRPr lang="zh-CN" altLang="en-US" sz="2800"/>
          </a:p>
          <a:p>
            <a:r>
              <a:rPr lang="zh-CN" altLang="en-US" sz="2800"/>
              <a:t>Let r</a:t>
            </a:r>
            <a:r>
              <a:rPr lang="zh-CN" altLang="en-US" sz="2800" baseline="-25000"/>
              <a:t>n</a:t>
            </a:r>
            <a:r>
              <a:rPr lang="zh-CN" altLang="en-US" sz="2800"/>
              <a:t>, e</a:t>
            </a:r>
            <a:r>
              <a:rPr lang="zh-CN" altLang="en-US" sz="2800" baseline="-25000"/>
              <a:t>n</a:t>
            </a:r>
            <a:r>
              <a:rPr lang="zh-CN" altLang="en-US" sz="2800"/>
              <a:t>, and v</a:t>
            </a:r>
            <a:r>
              <a:rPr lang="zh-CN" altLang="en-US" sz="2800" baseline="-25000"/>
              <a:t>n</a:t>
            </a:r>
            <a:r>
              <a:rPr lang="zh-CN" altLang="en-US" sz="2800"/>
              <a:t> represent the</a:t>
            </a:r>
            <a:r>
              <a:rPr lang="en-US" altLang="zh-CN" sz="2800"/>
              <a:t> </a:t>
            </a:r>
            <a:r>
              <a:rPr lang="zh-CN" altLang="en-US" sz="2800"/>
              <a:t>number of regions, edges, and vertices of the planar representation of G</a:t>
            </a:r>
            <a:r>
              <a:rPr lang="zh-CN" altLang="en-US" sz="2800" baseline="-25000"/>
              <a:t>n</a:t>
            </a:r>
            <a:endParaRPr lang="zh-CN" altLang="en-US" sz="2800" baseline="-250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 vert="horz" wrap="square" lIns="91440" tIns="45720" rIns="91440" bIns="45720" numCol="1" anchor="b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501583"/>
            <a:ext cx="6642100" cy="3027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84213" y="46673"/>
            <a:ext cx="7793037" cy="1143000"/>
          </a:xfrm>
        </p:spPr>
        <p:txBody>
          <a:bodyPr anchor="b" anchorCtr="0"/>
          <a:p>
            <a:r>
              <a:rPr lang="zh-CN" altLang="en-US"/>
              <a:t> proceed by induction</a:t>
            </a:r>
            <a:endParaRPr lang="zh-CN" altLang="en-US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323850" y="1414145"/>
            <a:ext cx="8694738" cy="4114800"/>
          </a:xfrm>
        </p:spPr>
        <p:txBody>
          <a:bodyPr anchor="t" anchorCtr="0"/>
          <a:p>
            <a:r>
              <a:rPr lang="en-US" altLang="zh-CN" sz="2800"/>
              <a:t>r</a:t>
            </a:r>
            <a:r>
              <a:rPr lang="zh-CN" altLang="en-US" sz="2800" baseline="-25000"/>
              <a:t>1 </a:t>
            </a:r>
            <a:r>
              <a:rPr lang="zh-CN" altLang="en-US" sz="2800"/>
              <a:t>= e</a:t>
            </a:r>
            <a:r>
              <a:rPr lang="zh-CN" altLang="en-US" sz="2800" baseline="-25000"/>
              <a:t>1</a:t>
            </a:r>
            <a:r>
              <a:rPr lang="zh-CN" altLang="en-US" sz="2800"/>
              <a:t> − v</a:t>
            </a:r>
            <a:r>
              <a:rPr lang="zh-CN" altLang="en-US" sz="2800" baseline="-25000"/>
              <a:t>1</a:t>
            </a:r>
            <a:r>
              <a:rPr lang="zh-CN" altLang="en-US" sz="2800"/>
              <a:t> + 2 is true for G</a:t>
            </a:r>
            <a:r>
              <a:rPr lang="zh-CN" altLang="en-US" sz="2800" baseline="-25000"/>
              <a:t>1</a:t>
            </a:r>
            <a:endParaRPr lang="zh-CN" altLang="en-US" sz="28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 vert="horz" wrap="square" lIns="91440" tIns="45720" rIns="91440" bIns="45720" numCol="1" anchor="b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D97B77-8681-4D24-A2AB-16D33456291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150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5" y="1269683"/>
            <a:ext cx="1590675" cy="619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0" name="文本框 5"/>
          <p:cNvSpPr txBox="1"/>
          <p:nvPr/>
        </p:nvSpPr>
        <p:spPr>
          <a:xfrm>
            <a:off x="395288" y="1918970"/>
            <a:ext cx="7993062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>
                <a:latin typeface="Times New Roman" panose="02020503050405090304" pitchFamily="18" charset="0"/>
              </a:rPr>
              <a:t>A</a:t>
            </a:r>
            <a:r>
              <a:rPr lang="zh-CN" altLang="en-US">
                <a:latin typeface="Times New Roman" panose="02020503050405090304" pitchFamily="18" charset="0"/>
              </a:rPr>
              <a:t>ssume that r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= e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− v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+ 2. </a:t>
            </a:r>
            <a:endParaRPr lang="zh-CN" altLang="en-US">
              <a:latin typeface="Times New Roman" panose="02020503050405090304" pitchFamily="18" charset="0"/>
            </a:endParaRPr>
          </a:p>
          <a:p>
            <a:r>
              <a:rPr lang="zh-CN" altLang="en-US">
                <a:latin typeface="Times New Roman" panose="02020503050405090304" pitchFamily="18" charset="0"/>
              </a:rPr>
              <a:t>Let {a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, b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} be the edge that is added to G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to obtain</a:t>
            </a:r>
            <a:r>
              <a:rPr lang="en-US" altLang="zh-CN">
                <a:latin typeface="Times New Roman" panose="02020503050405090304" pitchFamily="18" charset="0"/>
              </a:rPr>
              <a:t> </a:t>
            </a:r>
            <a:r>
              <a:rPr lang="zh-CN" altLang="en-US">
                <a:latin typeface="Times New Roman" panose="02020503050405090304" pitchFamily="18" charset="0"/>
              </a:rPr>
              <a:t>G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. </a:t>
            </a:r>
            <a:endParaRPr lang="zh-CN" altLang="en-US">
              <a:latin typeface="Times New Roman" panose="02020503050405090304" pitchFamily="18" charset="0"/>
            </a:endParaRPr>
          </a:p>
          <a:p>
            <a:r>
              <a:rPr lang="zh-CN" altLang="en-US">
                <a:latin typeface="Times New Roman" panose="02020503050405090304" pitchFamily="18" charset="0"/>
              </a:rPr>
              <a:t>There are two possibilities to consider.</a:t>
            </a:r>
            <a:endParaRPr lang="zh-CN" altLang="en-US">
              <a:latin typeface="Times New Roman" panose="02020503050405090304" pitchFamily="18" charset="0"/>
            </a:endParaRPr>
          </a:p>
        </p:txBody>
      </p:sp>
      <p:sp>
        <p:nvSpPr>
          <p:cNvPr id="21511" name="文本框 7"/>
          <p:cNvSpPr txBox="1"/>
          <p:nvPr/>
        </p:nvSpPr>
        <p:spPr>
          <a:xfrm>
            <a:off x="63500" y="5375275"/>
            <a:ext cx="44053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Times New Roman" panose="02020503050405090304" pitchFamily="18" charset="0"/>
              </a:rPr>
              <a:t> r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 r</a:t>
            </a:r>
            <a:r>
              <a:rPr lang="zh-CN" altLang="en-US" baseline="-25000">
                <a:latin typeface="Times New Roman" panose="02020503050405090304" pitchFamily="18" charset="0"/>
              </a:rPr>
              <a:t>k </a:t>
            </a:r>
            <a:r>
              <a:rPr lang="zh-CN" altLang="en-US">
                <a:latin typeface="Times New Roman" panose="02020503050405090304" pitchFamily="18" charset="0"/>
              </a:rPr>
              <a:t>+1, e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 e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+ 1</a:t>
            </a:r>
            <a:r>
              <a:rPr lang="en-US" altLang="zh-CN">
                <a:latin typeface="Times New Roman" panose="02020503050405090304" pitchFamily="18" charset="0"/>
              </a:rPr>
              <a:t>,</a:t>
            </a:r>
            <a:r>
              <a:rPr lang="zh-CN" altLang="en-US">
                <a:latin typeface="Times New Roman" panose="02020503050405090304" pitchFamily="18" charset="0"/>
              </a:rPr>
              <a:t> v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 v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.</a:t>
            </a:r>
            <a:endParaRPr lang="zh-CN" altLang="en-US">
              <a:latin typeface="Times New Roman" panose="02020503050405090304" pitchFamily="18" charset="0"/>
            </a:endParaRPr>
          </a:p>
        </p:txBody>
      </p:sp>
      <p:sp>
        <p:nvSpPr>
          <p:cNvPr id="21512" name="文本框 8"/>
          <p:cNvSpPr txBox="1"/>
          <p:nvPr/>
        </p:nvSpPr>
        <p:spPr>
          <a:xfrm>
            <a:off x="2384425" y="5806758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Times New Roman" panose="02020503050405090304" pitchFamily="18" charset="0"/>
              </a:rPr>
              <a:t>r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=e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− v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+ 2</a:t>
            </a:r>
            <a:endParaRPr lang="zh-CN" altLang="en-US">
              <a:latin typeface="Times New Roman" panose="02020503050405090304" pitchFamily="18" charset="0"/>
            </a:endParaRPr>
          </a:p>
        </p:txBody>
      </p:sp>
      <p:sp>
        <p:nvSpPr>
          <p:cNvPr id="21513" name="文本框 9"/>
          <p:cNvSpPr txBox="1"/>
          <p:nvPr/>
        </p:nvSpPr>
        <p:spPr>
          <a:xfrm>
            <a:off x="4787900" y="5734050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Times New Roman" panose="02020503050405090304" pitchFamily="18" charset="0"/>
              </a:rPr>
              <a:t>r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 r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en-US" altLang="zh-CN">
                <a:latin typeface="Times New Roman" panose="02020503050405090304" pitchFamily="18" charset="0"/>
              </a:rPr>
              <a:t>,</a:t>
            </a:r>
            <a:r>
              <a:rPr lang="zh-CN" altLang="en-US">
                <a:latin typeface="Times New Roman" panose="02020503050405090304" pitchFamily="18" charset="0"/>
              </a:rPr>
              <a:t> e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=e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+ 1</a:t>
            </a:r>
            <a:r>
              <a:rPr lang="en-US" altLang="zh-CN">
                <a:latin typeface="Times New Roman" panose="02020503050405090304" pitchFamily="18" charset="0"/>
              </a:rPr>
              <a:t>,</a:t>
            </a:r>
            <a:r>
              <a:rPr lang="zh-CN" altLang="en-US">
                <a:latin typeface="Times New Roman" panose="02020503050405090304" pitchFamily="18" charset="0"/>
              </a:rPr>
              <a:t> v</a:t>
            </a:r>
            <a:r>
              <a:rPr lang="zh-CN" altLang="en-US" baseline="-25000">
                <a:latin typeface="Times New Roman" panose="02020503050405090304" pitchFamily="18" charset="0"/>
              </a:rPr>
              <a:t>k+1</a:t>
            </a:r>
            <a:r>
              <a:rPr lang="zh-CN" altLang="en-US">
                <a:latin typeface="Times New Roman" panose="02020503050405090304" pitchFamily="18" charset="0"/>
              </a:rPr>
              <a:t> = v</a:t>
            </a:r>
            <a:r>
              <a:rPr lang="zh-CN" altLang="en-US" baseline="-25000">
                <a:latin typeface="Times New Roman" panose="02020503050405090304" pitchFamily="18" charset="0"/>
              </a:rPr>
              <a:t>k</a:t>
            </a:r>
            <a:r>
              <a:rPr lang="zh-CN" altLang="en-US">
                <a:latin typeface="Times New Roman" panose="02020503050405090304" pitchFamily="18" charset="0"/>
              </a:rPr>
              <a:t> + 1.</a:t>
            </a:r>
            <a:endParaRPr lang="zh-CN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Rectangle 2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Corollary</a:t>
            </a:r>
            <a:endParaRPr lang="zh-CN" altLang="en-US" dirty="0"/>
          </a:p>
        </p:txBody>
      </p:sp>
      <p:sp>
        <p:nvSpPr>
          <p:cNvPr id="225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No matter how we redraw a planar graph it will have the same # of regions.</a:t>
            </a:r>
            <a:endParaRPr lang="en-US" altLang="zh-CN" dirty="0"/>
          </a:p>
          <a:p>
            <a:pPr eaLnBrk="1" hangingPunct="1"/>
            <a:r>
              <a:rPr lang="en-US" altLang="zh-CN" dirty="0"/>
              <a:t>Proof: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r </a:t>
            </a:r>
            <a:r>
              <a:rPr lang="en-US" altLang="zh-CN" dirty="0"/>
              <a:t>= 2 – </a:t>
            </a:r>
            <a:r>
              <a:rPr lang="en-US" altLang="zh-CN" i="1" dirty="0"/>
              <a:t>v </a:t>
            </a:r>
            <a:r>
              <a:rPr lang="en-US" altLang="zh-CN" dirty="0"/>
              <a:t>+ </a:t>
            </a:r>
            <a:r>
              <a:rPr lang="en-US" altLang="zh-CN" i="1" dirty="0"/>
              <a:t>e </a:t>
            </a:r>
            <a:r>
              <a:rPr lang="en-US" altLang="zh-CN" dirty="0"/>
              <a:t>is determined by </a:t>
            </a:r>
            <a:r>
              <a:rPr lang="en-US" altLang="zh-CN" i="1" dirty="0"/>
              <a:t>v </a:t>
            </a:r>
            <a:r>
              <a:rPr lang="en-US" altLang="zh-CN" dirty="0"/>
              <a:t>and </a:t>
            </a:r>
            <a:r>
              <a:rPr lang="en-US" altLang="zh-CN" i="1" dirty="0"/>
              <a:t>e</a:t>
            </a:r>
            <a:r>
              <a:rPr lang="en-US" altLang="zh-CN" dirty="0"/>
              <a:t>, neither of which change when we redraw the graph.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</a:t>
            </a:r>
            <a:endParaRPr lang="zh-CN" altLang="en-US" dirty="0"/>
          </a:p>
        </p:txBody>
      </p:sp>
      <p:sp>
        <p:nvSpPr>
          <p:cNvPr id="235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Every (simple) </a:t>
            </a:r>
            <a:r>
              <a:rPr lang="en-US" altLang="zh-CN" i="1" dirty="0"/>
              <a:t>n</a:t>
            </a:r>
            <a:r>
              <a:rPr lang="en-US" altLang="zh-CN" dirty="0"/>
              <a:t>-node planar graph </a:t>
            </a:r>
            <a:r>
              <a:rPr lang="en-US" altLang="zh-CN" i="1" dirty="0"/>
              <a:t>G</a:t>
            </a:r>
            <a:r>
              <a:rPr lang="en-US" altLang="zh-CN" dirty="0"/>
              <a:t> has at most 3</a:t>
            </a:r>
            <a:r>
              <a:rPr lang="en-US" altLang="zh-CN" i="1" dirty="0"/>
              <a:t>n</a:t>
            </a:r>
            <a:r>
              <a:rPr lang="en-US" altLang="zh-CN" dirty="0"/>
              <a:t>-6 edges.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n </a:t>
            </a:r>
            <a:r>
              <a:rPr lang="en-US" altLang="zh-CN" dirty="0"/>
              <a:t>= 3: Clearly true.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n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3: consider a graph </a:t>
            </a:r>
            <a:r>
              <a:rPr lang="en-US" altLang="zh-CN" i="1" dirty="0"/>
              <a:t>G</a:t>
            </a:r>
            <a:r>
              <a:rPr lang="en-US" altLang="zh-CN" dirty="0"/>
              <a:t> with a maximal number of edges.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G</a:t>
            </a:r>
            <a:r>
              <a:rPr lang="en-US" altLang="zh-CN" dirty="0"/>
              <a:t> must be connected or else we could add an edge.</a:t>
            </a:r>
            <a:endParaRPr lang="en-US" altLang="zh-CN" dirty="0"/>
          </a:p>
          <a:p>
            <a:pPr eaLnBrk="1" hangingPunct="1"/>
            <a:r>
              <a:rPr lang="en-US" altLang="zh-CN" dirty="0"/>
              <a:t>Thus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n </a:t>
            </a:r>
            <a:r>
              <a:rPr lang="en-US" altLang="zh-CN" dirty="0"/>
              <a:t>– </a:t>
            </a:r>
            <a:r>
              <a:rPr lang="en-US" altLang="zh-CN" i="1" dirty="0"/>
              <a:t>e </a:t>
            </a:r>
            <a:r>
              <a:rPr lang="en-US" altLang="zh-CN" dirty="0"/>
              <a:t>+ </a:t>
            </a:r>
            <a:r>
              <a:rPr lang="en-US" altLang="zh-CN" i="1" dirty="0"/>
              <a:t>r </a:t>
            </a:r>
            <a:r>
              <a:rPr lang="en-US" altLang="zh-CN" dirty="0"/>
              <a:t>= 2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Every face has at least 3 edges on its boundary.</a:t>
            </a:r>
            <a:endParaRPr lang="en-US" altLang="zh-CN" dirty="0"/>
          </a:p>
          <a:p>
            <a:pPr eaLnBrk="1" hangingPunct="1"/>
            <a:r>
              <a:rPr lang="en-US" altLang="zh-CN" dirty="0"/>
              <a:t>Every edge lies on the boundary of at most 2 faces.</a:t>
            </a:r>
            <a:endParaRPr lang="en-US" altLang="zh-CN" dirty="0"/>
          </a:p>
          <a:p>
            <a:pPr eaLnBrk="1" hangingPunct="1"/>
            <a:r>
              <a:rPr lang="en-US" altLang="zh-CN" dirty="0"/>
              <a:t>Thus 2</a:t>
            </a:r>
            <a:r>
              <a:rPr lang="en-US" altLang="zh-CN" i="1" dirty="0"/>
              <a:t>e</a:t>
            </a:r>
            <a:r>
              <a:rPr lang="en-US" altLang="zh-CN" dirty="0"/>
              <a:t>&gt;=3</a:t>
            </a:r>
            <a:r>
              <a:rPr lang="en-US" altLang="zh-CN" i="1" dirty="0"/>
              <a:t>r</a:t>
            </a:r>
            <a:endParaRPr lang="en-US" altLang="zh-CN" dirty="0"/>
          </a:p>
        </p:txBody>
      </p:sp>
      <p:graphicFrame>
        <p:nvGraphicFramePr>
          <p:cNvPr id="673796" name="Object 4"/>
          <p:cNvGraphicFramePr>
            <a:graphicFrameLocks noChangeAspect="1"/>
          </p:cNvGraphicFramePr>
          <p:nvPr/>
        </p:nvGraphicFramePr>
        <p:xfrm>
          <a:off x="3614420" y="3644900"/>
          <a:ext cx="2697163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1244600" imgH="863600" progId="Equation.DSMT4">
                  <p:embed/>
                </p:oleObj>
              </mc:Choice>
              <mc:Fallback>
                <p:oleObj name="" r:id="rId1" imgW="1244600" imgH="8636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14420" y="3644900"/>
                        <a:ext cx="2697163" cy="187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corollary</a:t>
            </a:r>
            <a:endParaRPr lang="en-US" altLang="zh-CN" dirty="0"/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G</a:t>
            </a:r>
            <a:r>
              <a:rPr lang="en-US" altLang="zh-CN" dirty="0"/>
              <a:t> is a connected planar simple graph, then </a:t>
            </a:r>
            <a:r>
              <a:rPr lang="en-US" altLang="zh-CN" i="1" dirty="0"/>
              <a:t>G</a:t>
            </a:r>
            <a:r>
              <a:rPr lang="en-US" altLang="zh-CN" dirty="0"/>
              <a:t> has a vertex of degree not exceeding five.</a:t>
            </a:r>
            <a:endParaRPr lang="en-US" altLang="zh-CN" dirty="0"/>
          </a:p>
          <a:p>
            <a:pPr eaLnBrk="1" hangingPunct="1"/>
            <a:r>
              <a:rPr lang="en-US" altLang="zh-CN" dirty="0"/>
              <a:t>If a connected planar simple graph has </a:t>
            </a:r>
            <a:r>
              <a:rPr lang="en-US" altLang="zh-CN" i="1" dirty="0"/>
              <a:t>e</a:t>
            </a:r>
            <a:r>
              <a:rPr lang="en-US" altLang="zh-CN" dirty="0"/>
              <a:t> edges and </a:t>
            </a:r>
            <a:r>
              <a:rPr lang="en-US" altLang="zh-CN" i="1" dirty="0"/>
              <a:t>v</a:t>
            </a:r>
            <a:r>
              <a:rPr lang="en-US" altLang="zh-CN" dirty="0"/>
              <a:t> vertices with 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3 and no circuit of length three, then </a:t>
            </a:r>
            <a:r>
              <a:rPr lang="en-US" altLang="zh-CN" i="1" dirty="0">
                <a:sym typeface="Symbol" panose="05050102010706020507" pitchFamily="18" charset="2"/>
              </a:rPr>
              <a:t>e</a:t>
            </a:r>
            <a:r>
              <a:rPr lang="en-US" altLang="zh-CN" dirty="0">
                <a:sym typeface="Symbol" panose="05050102010706020507" pitchFamily="18" charset="2"/>
              </a:rPr>
              <a:t>2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en-US" altLang="zh-CN" dirty="0">
                <a:sym typeface="Symbol" panose="05050102010706020507" pitchFamily="18" charset="2"/>
              </a:rPr>
              <a:t>-4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1042988" y="16637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>
                <a:solidFill>
                  <a:schemeClr val="folHlink"/>
                </a:solidFill>
              </a:rPr>
              <a:t>K</a:t>
            </a:r>
            <a:r>
              <a:rPr lang="en-US" altLang="zh-CN" baseline="-25000" dirty="0">
                <a:solidFill>
                  <a:schemeClr val="folHlink"/>
                </a:solidFill>
              </a:rPr>
              <a:t>5</a:t>
            </a:r>
            <a:r>
              <a:rPr lang="en-US" altLang="zh-CN" dirty="0">
                <a:solidFill>
                  <a:schemeClr val="folHlink"/>
                </a:solidFill>
              </a:rPr>
              <a:t> is not planar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planar graph on </a:t>
            </a:r>
            <a:r>
              <a:rPr lang="en-US" altLang="zh-CN" i="1" dirty="0"/>
              <a:t>n</a:t>
            </a:r>
            <a:r>
              <a:rPr lang="en-US" altLang="zh-CN" dirty="0"/>
              <a:t> = 5 nodes can have at most 3</a:t>
            </a:r>
            <a:r>
              <a:rPr lang="en-US" altLang="zh-CN" i="1" dirty="0"/>
              <a:t>n</a:t>
            </a:r>
            <a:r>
              <a:rPr lang="en-US" altLang="zh-CN" dirty="0"/>
              <a:t>-6 = 9 edges.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Thus: </a:t>
            </a:r>
            <a:r>
              <a:rPr lang="en-US" altLang="zh-CN" i="1" dirty="0"/>
              <a:t>K</a:t>
            </a:r>
            <a:r>
              <a:rPr lang="en-US" altLang="zh-CN" baseline="-25000" dirty="0"/>
              <a:t>5</a:t>
            </a:r>
            <a:r>
              <a:rPr lang="en-US" altLang="zh-CN" dirty="0"/>
              <a:t> is not planar.</a:t>
            </a:r>
            <a:endParaRPr lang="zh-CN" altLang="en-US" dirty="0"/>
          </a:p>
        </p:txBody>
      </p:sp>
      <p:grpSp>
        <p:nvGrpSpPr>
          <p:cNvPr id="27654" name="Group 4"/>
          <p:cNvGrpSpPr/>
          <p:nvPr/>
        </p:nvGrpSpPr>
        <p:grpSpPr>
          <a:xfrm>
            <a:off x="2989263" y="2497138"/>
            <a:ext cx="1843087" cy="1612900"/>
            <a:chOff x="2142" y="589"/>
            <a:chExt cx="1161" cy="1016"/>
          </a:xfrm>
        </p:grpSpPr>
        <p:sp>
          <p:nvSpPr>
            <p:cNvPr id="27655" name="Oval 5"/>
            <p:cNvSpPr/>
            <p:nvPr/>
          </p:nvSpPr>
          <p:spPr>
            <a:xfrm>
              <a:off x="2142" y="90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7656" name="Oval 6"/>
            <p:cNvSpPr/>
            <p:nvPr/>
          </p:nvSpPr>
          <p:spPr>
            <a:xfrm>
              <a:off x="2637" y="589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27657" name="AutoShape 7"/>
            <p:cNvCxnSpPr>
              <a:stCxn id="27656" idx="5"/>
              <a:endCxn id="27658" idx="0"/>
            </p:cNvCxnSpPr>
            <p:nvPr/>
          </p:nvCxnSpPr>
          <p:spPr>
            <a:xfrm>
              <a:off x="2774" y="735"/>
              <a:ext cx="210" cy="699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658" name="Oval 8"/>
            <p:cNvSpPr/>
            <p:nvPr/>
          </p:nvSpPr>
          <p:spPr>
            <a:xfrm>
              <a:off x="2904" y="144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7659" name="Oval 9"/>
            <p:cNvSpPr/>
            <p:nvPr/>
          </p:nvSpPr>
          <p:spPr>
            <a:xfrm>
              <a:off x="2305" y="144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7660" name="Oval 10"/>
            <p:cNvSpPr/>
            <p:nvPr/>
          </p:nvSpPr>
          <p:spPr>
            <a:xfrm>
              <a:off x="3143" y="912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27661" name="AutoShape 11"/>
            <p:cNvCxnSpPr>
              <a:stCxn id="27660" idx="4"/>
              <a:endCxn id="27658" idx="7"/>
            </p:cNvCxnSpPr>
            <p:nvPr/>
          </p:nvCxnSpPr>
          <p:spPr>
            <a:xfrm flipH="1">
              <a:off x="3041" y="1081"/>
              <a:ext cx="182" cy="37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2" name="AutoShape 12"/>
            <p:cNvCxnSpPr>
              <a:stCxn id="27659" idx="6"/>
              <a:endCxn id="27658" idx="2"/>
            </p:cNvCxnSpPr>
            <p:nvPr/>
          </p:nvCxnSpPr>
          <p:spPr>
            <a:xfrm flipV="1">
              <a:off x="2474" y="1523"/>
              <a:ext cx="421" cy="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3" name="AutoShape 13"/>
            <p:cNvCxnSpPr>
              <a:stCxn id="27660" idx="1"/>
              <a:endCxn id="27656" idx="6"/>
            </p:cNvCxnSpPr>
            <p:nvPr/>
          </p:nvCxnSpPr>
          <p:spPr>
            <a:xfrm flipH="1" flipV="1">
              <a:off x="2806" y="669"/>
              <a:ext cx="360" cy="25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4" name="AutoShape 14"/>
            <p:cNvCxnSpPr>
              <a:stCxn id="27656" idx="2"/>
              <a:endCxn id="27655" idx="7"/>
            </p:cNvCxnSpPr>
            <p:nvPr/>
          </p:nvCxnSpPr>
          <p:spPr>
            <a:xfrm flipH="1">
              <a:off x="2279" y="669"/>
              <a:ext cx="349" cy="25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5" name="AutoShape 15"/>
            <p:cNvCxnSpPr>
              <a:stCxn id="27659" idx="1"/>
              <a:endCxn id="27655" idx="4"/>
            </p:cNvCxnSpPr>
            <p:nvPr/>
          </p:nvCxnSpPr>
          <p:spPr>
            <a:xfrm flipH="1" flipV="1">
              <a:off x="2222" y="1076"/>
              <a:ext cx="106" cy="38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6" name="AutoShape 16"/>
            <p:cNvCxnSpPr>
              <a:stCxn id="27659" idx="0"/>
              <a:endCxn id="27656" idx="3"/>
            </p:cNvCxnSpPr>
            <p:nvPr/>
          </p:nvCxnSpPr>
          <p:spPr>
            <a:xfrm flipV="1">
              <a:off x="2385" y="735"/>
              <a:ext cx="275" cy="70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7" name="AutoShape 17"/>
            <p:cNvCxnSpPr>
              <a:stCxn id="27655" idx="6"/>
              <a:endCxn id="27660" idx="2"/>
            </p:cNvCxnSpPr>
            <p:nvPr/>
          </p:nvCxnSpPr>
          <p:spPr>
            <a:xfrm>
              <a:off x="2311" y="987"/>
              <a:ext cx="823" cy="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8" name="AutoShape 18"/>
            <p:cNvCxnSpPr>
              <a:stCxn id="27655" idx="5"/>
              <a:endCxn id="27658" idx="1"/>
            </p:cNvCxnSpPr>
            <p:nvPr/>
          </p:nvCxnSpPr>
          <p:spPr>
            <a:xfrm>
              <a:off x="2279" y="1053"/>
              <a:ext cx="648" cy="404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69" name="AutoShape 19"/>
            <p:cNvCxnSpPr>
              <a:stCxn id="27659" idx="7"/>
              <a:endCxn id="27660" idx="3"/>
            </p:cNvCxnSpPr>
            <p:nvPr/>
          </p:nvCxnSpPr>
          <p:spPr>
            <a:xfrm flipV="1">
              <a:off x="2442" y="1058"/>
              <a:ext cx="724" cy="40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7670" name="Object 20"/>
          <p:cNvGraphicFramePr>
            <a:graphicFrameLocks noChangeAspect="1"/>
          </p:cNvGraphicFramePr>
          <p:nvPr/>
        </p:nvGraphicFramePr>
        <p:xfrm>
          <a:off x="1709738" y="3462338"/>
          <a:ext cx="9921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342900" imgH="165100" progId="Equation.DSMT4">
                  <p:embed/>
                </p:oleObj>
              </mc:Choice>
              <mc:Fallback>
                <p:oleObj name="" r:id="rId1" imgW="342900" imgH="1651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9738" y="3462338"/>
                        <a:ext cx="992187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1" name="Object 21"/>
          <p:cNvGraphicFramePr>
            <a:graphicFrameLocks noChangeAspect="1"/>
          </p:cNvGraphicFramePr>
          <p:nvPr/>
        </p:nvGraphicFramePr>
        <p:xfrm>
          <a:off x="5259388" y="3167063"/>
          <a:ext cx="182562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787400" imgH="457200" progId="Equation.DSMT4">
                  <p:embed/>
                </p:oleObj>
              </mc:Choice>
              <mc:Fallback>
                <p:oleObj name="" r:id="rId3" imgW="787400" imgH="4572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9388" y="3167063"/>
                        <a:ext cx="1825625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>
          <a:xfrm>
            <a:off x="1042988" y="94615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i="1" dirty="0">
                <a:solidFill>
                  <a:schemeClr val="folHlink"/>
                </a:solidFill>
              </a:rPr>
              <a:t>K</a:t>
            </a:r>
            <a:r>
              <a:rPr lang="en-US" altLang="zh-CN" sz="4000" baseline="-25000" dirty="0">
                <a:solidFill>
                  <a:schemeClr val="folHlink"/>
                </a:solidFill>
              </a:rPr>
              <a:t>3,3</a:t>
            </a:r>
            <a:r>
              <a:rPr lang="en-US" altLang="zh-CN" sz="4000" dirty="0">
                <a:solidFill>
                  <a:schemeClr val="folHlink"/>
                </a:solidFill>
              </a:rPr>
              <a:t> is not planar either</a:t>
            </a:r>
            <a:endParaRPr lang="zh-CN" altLang="en-US" sz="4000" dirty="0">
              <a:solidFill>
                <a:schemeClr val="folHlink"/>
              </a:solidFill>
            </a:endParaRPr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When we redraw </a:t>
            </a:r>
            <a:r>
              <a:rPr lang="en-US" altLang="zh-CN" i="1" dirty="0"/>
              <a:t>K</a:t>
            </a:r>
            <a:r>
              <a:rPr lang="en-US" altLang="zh-CN" baseline="-25000" dirty="0"/>
              <a:t>3,3</a:t>
            </a:r>
            <a:r>
              <a:rPr lang="en-US" altLang="zh-CN" dirty="0"/>
              <a:t> , the blue cycle will be laid out</a:t>
            </a:r>
            <a:endParaRPr lang="zh-CN" altLang="en-US" dirty="0"/>
          </a:p>
        </p:txBody>
      </p:sp>
      <p:sp>
        <p:nvSpPr>
          <p:cNvPr id="28678" name="Text Box 4"/>
          <p:cNvSpPr txBox="1"/>
          <p:nvPr/>
        </p:nvSpPr>
        <p:spPr>
          <a:xfrm>
            <a:off x="820738" y="4437063"/>
            <a:ext cx="727075" cy="519112"/>
          </a:xfrm>
          <a:prstGeom prst="rect">
            <a:avLst/>
          </a:prstGeom>
          <a:noFill/>
          <a:ln w="12700">
            <a:noFill/>
          </a:ln>
        </p:spPr>
        <p:txBody>
          <a:bodyPr wrap="none" lIns="274320" rIns="274320" anchor="t" anchorCtr="0">
            <a:spAutoFit/>
          </a:bodyPr>
          <a:p>
            <a:pPr algn="ctr" eaLnBrk="0" hangingPunct="0">
              <a:buClrTx/>
              <a:buFontTx/>
            </a:pPr>
            <a:r>
              <a: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rPr>
              <a:t>b</a:t>
            </a:r>
            <a:endParaRPr lang="en-US" altLang="zh-CN" sz="2800" i="1" dirty="0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grpSp>
        <p:nvGrpSpPr>
          <p:cNvPr id="28679" name="Group 5"/>
          <p:cNvGrpSpPr/>
          <p:nvPr/>
        </p:nvGrpSpPr>
        <p:grpSpPr>
          <a:xfrm>
            <a:off x="798513" y="2629218"/>
            <a:ext cx="2693987" cy="2027237"/>
            <a:chOff x="412" y="2652"/>
            <a:chExt cx="1697" cy="1277"/>
          </a:xfrm>
        </p:grpSpPr>
        <p:cxnSp>
          <p:nvCxnSpPr>
            <p:cNvPr id="28680" name="AutoShape 6"/>
            <p:cNvCxnSpPr>
              <a:stCxn id="28681" idx="4"/>
              <a:endCxn id="28684" idx="0"/>
            </p:cNvCxnSpPr>
            <p:nvPr/>
          </p:nvCxnSpPr>
          <p:spPr>
            <a:xfrm flipV="1">
              <a:off x="1110" y="3803"/>
              <a:ext cx="312" cy="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681" name="Oval 7"/>
            <p:cNvSpPr/>
            <p:nvPr/>
          </p:nvSpPr>
          <p:spPr>
            <a:xfrm rot="-5400000">
              <a:off x="942" y="372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682" name="Oval 8"/>
            <p:cNvSpPr/>
            <p:nvPr/>
          </p:nvSpPr>
          <p:spPr>
            <a:xfrm rot="-5400000">
              <a:off x="946" y="324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683" name="Oval 9"/>
            <p:cNvSpPr/>
            <p:nvPr/>
          </p:nvSpPr>
          <p:spPr>
            <a:xfrm rot="-5400000">
              <a:off x="944" y="275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684" name="Oval 10"/>
            <p:cNvSpPr/>
            <p:nvPr/>
          </p:nvSpPr>
          <p:spPr>
            <a:xfrm rot="-5400000">
              <a:off x="1432" y="372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685" name="Oval 11"/>
            <p:cNvSpPr/>
            <p:nvPr/>
          </p:nvSpPr>
          <p:spPr>
            <a:xfrm rot="-5400000">
              <a:off x="1443" y="3242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686" name="Oval 12"/>
            <p:cNvSpPr/>
            <p:nvPr/>
          </p:nvSpPr>
          <p:spPr>
            <a:xfrm rot="-5400000">
              <a:off x="1434" y="275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28687" name="AutoShape 13"/>
            <p:cNvCxnSpPr>
              <a:stCxn id="28682" idx="4"/>
              <a:endCxn id="28685" idx="0"/>
            </p:cNvCxnSpPr>
            <p:nvPr/>
          </p:nvCxnSpPr>
          <p:spPr>
            <a:xfrm flipV="1">
              <a:off x="1114" y="3322"/>
              <a:ext cx="319" cy="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88" name="AutoShape 14"/>
            <p:cNvCxnSpPr>
              <a:stCxn id="28683" idx="4"/>
              <a:endCxn id="28686" idx="0"/>
            </p:cNvCxnSpPr>
            <p:nvPr/>
          </p:nvCxnSpPr>
          <p:spPr>
            <a:xfrm flipV="1">
              <a:off x="1112" y="2834"/>
              <a:ext cx="312" cy="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89" name="AutoShape 15"/>
            <p:cNvCxnSpPr>
              <a:stCxn id="28683" idx="3"/>
              <a:endCxn id="28685" idx="7"/>
            </p:cNvCxnSpPr>
            <p:nvPr/>
          </p:nvCxnSpPr>
          <p:spPr>
            <a:xfrm>
              <a:off x="1089" y="2892"/>
              <a:ext cx="368" cy="373"/>
            </a:xfrm>
            <a:prstGeom prst="straightConnector1">
              <a:avLst/>
            </a:prstGeom>
            <a:ln w="38100" cap="sq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90" name="AutoShape 16"/>
            <p:cNvCxnSpPr>
              <a:stCxn id="28683" idx="2"/>
              <a:endCxn id="28684" idx="6"/>
            </p:cNvCxnSpPr>
            <p:nvPr/>
          </p:nvCxnSpPr>
          <p:spPr>
            <a:xfrm>
              <a:off x="1023" y="2924"/>
              <a:ext cx="488" cy="789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91" name="AutoShape 17"/>
            <p:cNvCxnSpPr>
              <a:stCxn id="28686" idx="2"/>
              <a:endCxn id="28681" idx="6"/>
            </p:cNvCxnSpPr>
            <p:nvPr/>
          </p:nvCxnSpPr>
          <p:spPr>
            <a:xfrm flipH="1">
              <a:off x="1021" y="2922"/>
              <a:ext cx="492" cy="793"/>
            </a:xfrm>
            <a:prstGeom prst="straightConnector1">
              <a:avLst/>
            </a:prstGeom>
            <a:ln w="38100" cap="sq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92" name="AutoShape 18"/>
            <p:cNvCxnSpPr>
              <a:stCxn id="28682" idx="3"/>
              <a:endCxn id="28684" idx="7"/>
            </p:cNvCxnSpPr>
            <p:nvPr/>
          </p:nvCxnSpPr>
          <p:spPr>
            <a:xfrm>
              <a:off x="1091" y="3380"/>
              <a:ext cx="355" cy="366"/>
            </a:xfrm>
            <a:prstGeom prst="straightConnector1">
              <a:avLst/>
            </a:prstGeom>
            <a:ln w="38100" cap="sq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93" name="AutoShape 19"/>
            <p:cNvCxnSpPr>
              <a:stCxn id="28682" idx="5"/>
              <a:endCxn id="28686" idx="1"/>
            </p:cNvCxnSpPr>
            <p:nvPr/>
          </p:nvCxnSpPr>
          <p:spPr>
            <a:xfrm flipV="1">
              <a:off x="1091" y="2890"/>
              <a:ext cx="357" cy="37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94" name="AutoShape 20"/>
            <p:cNvCxnSpPr>
              <a:stCxn id="28681" idx="5"/>
              <a:endCxn id="28685" idx="1"/>
            </p:cNvCxnSpPr>
            <p:nvPr/>
          </p:nvCxnSpPr>
          <p:spPr>
            <a:xfrm flipV="1">
              <a:off x="1087" y="3378"/>
              <a:ext cx="370" cy="37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695" name="Text Box 21"/>
            <p:cNvSpPr txBox="1"/>
            <p:nvPr/>
          </p:nvSpPr>
          <p:spPr>
            <a:xfrm>
              <a:off x="412" y="2652"/>
              <a:ext cx="45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a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696" name="Text Box 22"/>
            <p:cNvSpPr txBox="1"/>
            <p:nvPr/>
          </p:nvSpPr>
          <p:spPr>
            <a:xfrm>
              <a:off x="419" y="3602"/>
              <a:ext cx="4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c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697" name="Text Box 23"/>
            <p:cNvSpPr txBox="1"/>
            <p:nvPr/>
          </p:nvSpPr>
          <p:spPr>
            <a:xfrm>
              <a:off x="1668" y="3589"/>
              <a:ext cx="43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z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698" name="Text Box 24"/>
            <p:cNvSpPr txBox="1"/>
            <p:nvPr/>
          </p:nvSpPr>
          <p:spPr>
            <a:xfrm>
              <a:off x="1649" y="3109"/>
              <a:ext cx="4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y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699" name="Text Box 25"/>
            <p:cNvSpPr txBox="1"/>
            <p:nvPr/>
          </p:nvSpPr>
          <p:spPr>
            <a:xfrm>
              <a:off x="1664" y="2658"/>
              <a:ext cx="4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x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</p:grpSp>
      <p:grpSp>
        <p:nvGrpSpPr>
          <p:cNvPr id="28700" name="Group 26"/>
          <p:cNvGrpSpPr/>
          <p:nvPr/>
        </p:nvGrpSpPr>
        <p:grpSpPr>
          <a:xfrm>
            <a:off x="4581525" y="2568893"/>
            <a:ext cx="3446463" cy="2227262"/>
            <a:chOff x="1682" y="2416"/>
            <a:chExt cx="2171" cy="1403"/>
          </a:xfrm>
        </p:grpSpPr>
        <p:sp>
          <p:nvSpPr>
            <p:cNvPr id="28701" name="Oval 27"/>
            <p:cNvSpPr/>
            <p:nvPr/>
          </p:nvSpPr>
          <p:spPr>
            <a:xfrm rot="-5400000">
              <a:off x="2039" y="282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702" name="Oval 28"/>
            <p:cNvSpPr/>
            <p:nvPr/>
          </p:nvSpPr>
          <p:spPr>
            <a:xfrm rot="-5400000">
              <a:off x="2667" y="282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703" name="Oval 29"/>
            <p:cNvSpPr/>
            <p:nvPr/>
          </p:nvSpPr>
          <p:spPr>
            <a:xfrm rot="-5400000">
              <a:off x="3303" y="2822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704" name="Oval 30"/>
            <p:cNvSpPr/>
            <p:nvPr/>
          </p:nvSpPr>
          <p:spPr>
            <a:xfrm rot="-5400000">
              <a:off x="2670" y="333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705" name="Oval 31"/>
            <p:cNvSpPr/>
            <p:nvPr/>
          </p:nvSpPr>
          <p:spPr>
            <a:xfrm rot="-5400000">
              <a:off x="3305" y="332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28706" name="Oval 32"/>
            <p:cNvSpPr/>
            <p:nvPr/>
          </p:nvSpPr>
          <p:spPr>
            <a:xfrm rot="-5400000">
              <a:off x="2038" y="3321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28707" name="AutoShape 33"/>
            <p:cNvCxnSpPr>
              <a:stCxn id="28701" idx="6"/>
              <a:endCxn id="28702" idx="6"/>
            </p:cNvCxnSpPr>
            <p:nvPr/>
          </p:nvCxnSpPr>
          <p:spPr>
            <a:xfrm rot="5400000" flipV="1">
              <a:off x="2427" y="2499"/>
              <a:ext cx="1" cy="628"/>
            </a:xfrm>
            <a:prstGeom prst="curvedConnector3">
              <a:avLst>
                <a:gd name="adj1" fmla="val -13400005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08" name="AutoShape 34"/>
            <p:cNvCxnSpPr>
              <a:stCxn id="28702" idx="6"/>
              <a:endCxn id="28703" idx="6"/>
            </p:cNvCxnSpPr>
            <p:nvPr/>
          </p:nvCxnSpPr>
          <p:spPr>
            <a:xfrm rot="-5400000">
              <a:off x="3061" y="2497"/>
              <a:ext cx="6" cy="636"/>
            </a:xfrm>
            <a:prstGeom prst="curvedConnector3">
              <a:avLst>
                <a:gd name="adj1" fmla="val 2333333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09" name="AutoShape 35"/>
            <p:cNvCxnSpPr>
              <a:stCxn id="28706" idx="2"/>
              <a:endCxn id="28704" idx="2"/>
            </p:cNvCxnSpPr>
            <p:nvPr/>
          </p:nvCxnSpPr>
          <p:spPr>
            <a:xfrm rot="-5400000" flipH="1">
              <a:off x="2422" y="3175"/>
              <a:ext cx="13" cy="632"/>
            </a:xfrm>
            <a:prstGeom prst="curvedConnector3">
              <a:avLst>
                <a:gd name="adj1" fmla="val 1146153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0" name="AutoShape 36"/>
            <p:cNvCxnSpPr>
              <a:stCxn id="28704" idx="2"/>
              <a:endCxn id="28705" idx="2"/>
            </p:cNvCxnSpPr>
            <p:nvPr/>
          </p:nvCxnSpPr>
          <p:spPr>
            <a:xfrm rot="5400000" flipH="1" flipV="1">
              <a:off x="3059" y="3177"/>
              <a:ext cx="6" cy="635"/>
            </a:xfrm>
            <a:prstGeom prst="curvedConnector3">
              <a:avLst>
                <a:gd name="adj1" fmla="val -2266667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1" name="AutoShape 37"/>
            <p:cNvCxnSpPr>
              <a:stCxn id="28701" idx="0"/>
              <a:endCxn id="28706" idx="0"/>
            </p:cNvCxnSpPr>
            <p:nvPr/>
          </p:nvCxnSpPr>
          <p:spPr>
            <a:xfrm rot="-10800000" flipV="1">
              <a:off x="2028" y="2907"/>
              <a:ext cx="1" cy="494"/>
            </a:xfrm>
            <a:prstGeom prst="curvedConnector3">
              <a:avLst>
                <a:gd name="adj1" fmla="val 13500005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12" name="AutoShape 38"/>
            <p:cNvCxnSpPr>
              <a:stCxn id="28703" idx="4"/>
              <a:endCxn id="28705" idx="4"/>
            </p:cNvCxnSpPr>
            <p:nvPr/>
          </p:nvCxnSpPr>
          <p:spPr>
            <a:xfrm>
              <a:off x="3471" y="2901"/>
              <a:ext cx="2" cy="506"/>
            </a:xfrm>
            <a:prstGeom prst="curvedConnector3">
              <a:avLst>
                <a:gd name="adj1" fmla="val 6900000"/>
              </a:avLst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713" name="Text Box 39"/>
            <p:cNvSpPr txBox="1"/>
            <p:nvPr/>
          </p:nvSpPr>
          <p:spPr>
            <a:xfrm>
              <a:off x="1682" y="2549"/>
              <a:ext cx="45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a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714" name="Text Box 40"/>
            <p:cNvSpPr txBox="1"/>
            <p:nvPr/>
          </p:nvSpPr>
          <p:spPr>
            <a:xfrm>
              <a:off x="3392" y="2601"/>
              <a:ext cx="45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b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715" name="Text Box 41"/>
            <p:cNvSpPr txBox="1"/>
            <p:nvPr/>
          </p:nvSpPr>
          <p:spPr>
            <a:xfrm>
              <a:off x="2506" y="3492"/>
              <a:ext cx="4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c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716" name="Text Box 42"/>
            <p:cNvSpPr txBox="1"/>
            <p:nvPr/>
          </p:nvSpPr>
          <p:spPr>
            <a:xfrm>
              <a:off x="2541" y="2416"/>
              <a:ext cx="4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x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717" name="Text Box 43"/>
            <p:cNvSpPr txBox="1"/>
            <p:nvPr/>
          </p:nvSpPr>
          <p:spPr>
            <a:xfrm>
              <a:off x="3408" y="3370"/>
              <a:ext cx="44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y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sp>
          <p:nvSpPr>
            <p:cNvPr id="28718" name="Text Box 44"/>
            <p:cNvSpPr txBox="1"/>
            <p:nvPr/>
          </p:nvSpPr>
          <p:spPr>
            <a:xfrm>
              <a:off x="1699" y="3367"/>
              <a:ext cx="43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2800" i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z</a:t>
              </a:r>
              <a:endParaRPr lang="en-US" altLang="zh-CN" sz="2800" i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cxnSp>
          <p:nvCxnSpPr>
            <p:cNvPr id="28719" name="AutoShape 45"/>
            <p:cNvCxnSpPr>
              <a:stCxn id="28702" idx="2"/>
              <a:endCxn id="28704" idx="6"/>
            </p:cNvCxnSpPr>
            <p:nvPr/>
          </p:nvCxnSpPr>
          <p:spPr>
            <a:xfrm rot="-5400000" flipH="1">
              <a:off x="2579" y="3154"/>
              <a:ext cx="328" cy="3"/>
            </a:xfrm>
            <a:prstGeom prst="curvedConnector3">
              <a:avLst>
                <a:gd name="adj1" fmla="val 50306"/>
              </a:avLst>
            </a:prstGeom>
            <a:ln w="38100" cap="flat" cmpd="sng">
              <a:solidFill>
                <a:srgbClr val="FF00FF"/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28720" name="AutoShape 46"/>
            <p:cNvCxnSpPr>
              <a:stCxn id="28703" idx="1"/>
              <a:endCxn id="28706" idx="5"/>
            </p:cNvCxnSpPr>
            <p:nvPr/>
          </p:nvCxnSpPr>
          <p:spPr>
            <a:xfrm rot="-10800000" flipV="1">
              <a:off x="2183" y="2958"/>
              <a:ext cx="1134" cy="386"/>
            </a:xfrm>
            <a:prstGeom prst="curvedConnector3">
              <a:avLst>
                <a:gd name="adj1" fmla="val 44264"/>
              </a:avLst>
            </a:prstGeom>
            <a:ln w="38100" cap="flat" cmpd="sng">
              <a:solidFill>
                <a:srgbClr val="FF00FF"/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28721" name="AutoShape 47"/>
            <p:cNvCxnSpPr>
              <a:stCxn id="28705" idx="7"/>
              <a:endCxn id="28701" idx="3"/>
            </p:cNvCxnSpPr>
            <p:nvPr/>
          </p:nvCxnSpPr>
          <p:spPr>
            <a:xfrm rot="10800000">
              <a:off x="2184" y="2963"/>
              <a:ext cx="1135" cy="388"/>
            </a:xfrm>
            <a:prstGeom prst="curvedConnector3">
              <a:avLst>
                <a:gd name="adj1" fmla="val 62023"/>
              </a:avLst>
            </a:prstGeom>
            <a:ln w="38100" cap="flat" cmpd="sng">
              <a:solidFill>
                <a:srgbClr val="FF00FF"/>
              </a:solidFill>
              <a:prstDash val="sys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>
          <a:xfrm>
            <a:off x="760095" y="115570"/>
            <a:ext cx="838390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 Kuratowski’s theorem</a:t>
            </a:r>
            <a:endParaRPr lang="zh-CN" altLang="en-US" dirty="0"/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>
          <a:xfrm>
            <a:off x="827088" y="1414145"/>
            <a:ext cx="777240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/>
              <a:t>If a graph is planar, so will be any graph obtained by removing an edge {</a:t>
            </a:r>
            <a:r>
              <a:rPr lang="en-US" altLang="zh-CN" sz="2800" i="1" dirty="0"/>
              <a:t>u, v</a:t>
            </a:r>
            <a:r>
              <a:rPr lang="en-US" altLang="zh-CN" sz="2800" dirty="0"/>
              <a:t>} and adding a new vertex </a:t>
            </a:r>
            <a:r>
              <a:rPr lang="en-US" altLang="zh-CN" sz="2800" i="1" dirty="0"/>
              <a:t>w </a:t>
            </a:r>
            <a:r>
              <a:rPr lang="en-US" altLang="zh-CN" sz="2800" dirty="0"/>
              <a:t>together with edges {</a:t>
            </a:r>
            <a:r>
              <a:rPr lang="en-US" altLang="zh-CN" sz="2800" i="1" dirty="0"/>
              <a:t>u, w</a:t>
            </a:r>
            <a:r>
              <a:rPr lang="en-US" altLang="zh-CN" sz="2800" dirty="0"/>
              <a:t>} and {</a:t>
            </a:r>
            <a:r>
              <a:rPr lang="en-US" altLang="zh-CN" sz="2800" i="1" dirty="0"/>
              <a:t>w, v</a:t>
            </a:r>
            <a:r>
              <a:rPr lang="en-US" altLang="zh-CN" sz="2800" dirty="0"/>
              <a:t>}. Such an operation is called an </a:t>
            </a:r>
            <a:r>
              <a:rPr lang="en-US" altLang="zh-CN" sz="2800" dirty="0">
                <a:solidFill>
                  <a:srgbClr val="FF0000"/>
                </a:solidFill>
              </a:rPr>
              <a:t>elementary subdivision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r>
              <a:rPr lang="en-US" altLang="zh-CN" sz="2800" dirty="0"/>
              <a:t> The graphs </a:t>
            </a:r>
            <a:r>
              <a:rPr lang="en-US" altLang="zh-CN" sz="2800" i="1" dirty="0"/>
              <a:t>G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(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i="1" dirty="0"/>
              <a:t>, 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) and </a:t>
            </a:r>
            <a:r>
              <a:rPr lang="en-US" altLang="zh-CN" sz="2800" i="1" dirty="0"/>
              <a:t>G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(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i="1" dirty="0"/>
              <a:t>, E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 are called </a:t>
            </a:r>
            <a:r>
              <a:rPr lang="en-US" altLang="zh-CN" sz="2800" dirty="0">
                <a:solidFill>
                  <a:srgbClr val="FF0000"/>
                </a:solidFill>
              </a:rPr>
              <a:t>homeomorphic</a:t>
            </a:r>
            <a:r>
              <a:rPr lang="en-US" altLang="zh-CN" sz="2800" dirty="0"/>
              <a:t> if they can be obtained from the same graph by a sequence of elementary subdivisions.</a:t>
            </a:r>
            <a:endParaRPr lang="en-US" altLang="zh-CN" sz="2800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标题 1"/>
          <p:cNvSpPr>
            <a:spLocks noGrp="1"/>
          </p:cNvSpPr>
          <p:nvPr>
            <p:ph type="title"/>
          </p:nvPr>
        </p:nvSpPr>
        <p:spPr>
          <a:xfrm>
            <a:off x="1115378" y="0"/>
            <a:ext cx="779303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Example 7</a:t>
            </a:r>
            <a:endParaRPr lang="zh-CN" altLang="en-US" dirty="0"/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900113" y="2017713"/>
            <a:ext cx="8054975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Show that the graphs 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, and </a:t>
            </a:r>
            <a:r>
              <a:rPr lang="en-US" altLang="zh-CN" i="1" dirty="0"/>
              <a:t>G</a:t>
            </a:r>
            <a:r>
              <a:rPr lang="en-US" altLang="zh-CN" baseline="-25000" dirty="0"/>
              <a:t>3</a:t>
            </a:r>
            <a:r>
              <a:rPr lang="en-US" altLang="zh-CN" dirty="0"/>
              <a:t> displayed in Figure 12 are all homeomorphic.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3072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35313"/>
            <a:ext cx="9170988" cy="288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College of Computer Science &amp; Technology,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>
          <a:xfrm>
            <a:off x="827088" y="11684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Kuratowski</a:t>
            </a:r>
            <a:r>
              <a:rPr lang="en-US" altLang="zh-CN" dirty="0">
                <a:latin typeface="Arial Rounded MT Bold" panose="020F0704030504030204" pitchFamily="34" charset="0"/>
              </a:rPr>
              <a:t>’</a:t>
            </a:r>
            <a:r>
              <a:rPr lang="en-US" altLang="zh-CN" dirty="0"/>
              <a:t>s Theorem [1930]</a:t>
            </a:r>
            <a:endParaRPr lang="zh-CN" altLang="en-US" dirty="0"/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>
          <a:xfrm>
            <a:off x="827088" y="2065338"/>
            <a:ext cx="4824412" cy="4114800"/>
          </a:xfrm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en-US" altLang="zh-CN" dirty="0"/>
              <a:t>A graph is nonplanar 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if and only if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it contains a subgraph homeomorphic to </a:t>
            </a:r>
            <a:r>
              <a:rPr lang="en-US" altLang="zh-CN" i="1" dirty="0"/>
              <a:t>K</a:t>
            </a:r>
            <a:r>
              <a:rPr lang="en-US" altLang="zh-CN" baseline="-25000" dirty="0"/>
              <a:t>3,3</a:t>
            </a:r>
            <a:r>
              <a:rPr lang="en-US" altLang="zh-CN" dirty="0"/>
              <a:t> or </a:t>
            </a:r>
            <a:r>
              <a:rPr lang="en-US" altLang="zh-CN" i="1" dirty="0"/>
              <a:t>K</a:t>
            </a:r>
            <a:r>
              <a:rPr lang="en-US" altLang="zh-CN" baseline="-25000" dirty="0"/>
              <a:t>5</a:t>
            </a:r>
            <a:r>
              <a:rPr lang="en-US" altLang="zh-CN" dirty="0"/>
              <a:t>.</a:t>
            </a:r>
            <a:endParaRPr lang="zh-CN" altLang="en-US" dirty="0"/>
          </a:p>
        </p:txBody>
      </p:sp>
      <p:pic>
        <p:nvPicPr>
          <p:cNvPr id="3175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1863" y="1981200"/>
            <a:ext cx="2713037" cy="3638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/>
          </p:nvPr>
        </p:nvSpPr>
        <p:spPr>
          <a:xfrm>
            <a:off x="1042988" y="44450"/>
            <a:ext cx="779303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Example 8</a:t>
            </a:r>
            <a:endParaRPr lang="zh-CN" altLang="en-US" dirty="0"/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923608" y="1412558"/>
            <a:ext cx="791210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Determine whether the graph </a:t>
            </a:r>
            <a:r>
              <a:rPr lang="en-US" altLang="zh-CN" i="1" dirty="0"/>
              <a:t>G </a:t>
            </a:r>
            <a:r>
              <a:rPr lang="en-US" altLang="zh-CN" dirty="0"/>
              <a:t>shown in Figure 13 is planar.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3277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8" y="2805113"/>
            <a:ext cx="8980487" cy="3648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>
          <a:xfrm>
            <a:off x="1043623" y="188595"/>
            <a:ext cx="7793037" cy="1143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Example 9</a:t>
            </a:r>
            <a:endParaRPr lang="zh-CN" altLang="en-US" dirty="0"/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960120" y="1340485"/>
            <a:ext cx="7992110" cy="4114800"/>
          </a:xfrm>
        </p:spPr>
        <p:txBody>
          <a:bodyPr vert="horz" wrap="square" lIns="91440" tIns="45720" rIns="91440" bIns="45720" anchor="t" anchorCtr="0"/>
          <a:p>
            <a:r>
              <a:rPr lang="en-US" altLang="zh-CN" dirty="0"/>
              <a:t>Is the Petersen graph, shown in Figure 14(a), planar? </a:t>
            </a:r>
            <a:endParaRPr lang="zh-CN" altLang="en-US" dirty="0"/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3379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2566035"/>
            <a:ext cx="8961438" cy="3743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2754" name="Oval 2"/>
          <p:cNvSpPr/>
          <p:nvPr/>
        </p:nvSpPr>
        <p:spPr>
          <a:xfrm>
            <a:off x="4343400" y="3443288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ctr" anchorCtr="0"/>
          <a:p>
            <a:endParaRPr lang="zh-CN" altLang="en-US" sz="1800" dirty="0">
              <a:latin typeface="Times New Roman" panose="02020503050405090304" pitchFamily="18" charset="0"/>
            </a:endParaRPr>
          </a:p>
        </p:txBody>
      </p:sp>
      <p:grpSp>
        <p:nvGrpSpPr>
          <p:cNvPr id="1482755" name="Group 3"/>
          <p:cNvGrpSpPr/>
          <p:nvPr/>
        </p:nvGrpSpPr>
        <p:grpSpPr>
          <a:xfrm>
            <a:off x="2805113" y="2314575"/>
            <a:ext cx="3443287" cy="3524250"/>
            <a:chOff x="2055" y="825"/>
            <a:chExt cx="2169" cy="2220"/>
          </a:xfrm>
        </p:grpSpPr>
        <p:sp>
          <p:nvSpPr>
            <p:cNvPr id="34819" name="AutoShape 4"/>
            <p:cNvSpPr/>
            <p:nvPr/>
          </p:nvSpPr>
          <p:spPr>
            <a:xfrm>
              <a:off x="2400" y="1200"/>
              <a:ext cx="1344" cy="1344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sp>
          <p:nvSpPr>
            <p:cNvPr id="34820" name="Line 5"/>
            <p:cNvSpPr/>
            <p:nvPr/>
          </p:nvSpPr>
          <p:spPr>
            <a:xfrm>
              <a:off x="2400" y="1872"/>
              <a:ext cx="13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</p:sp>
        <p:sp>
          <p:nvSpPr>
            <p:cNvPr id="34821" name="Oval 6"/>
            <p:cNvSpPr/>
            <p:nvPr/>
          </p:nvSpPr>
          <p:spPr>
            <a:xfrm>
              <a:off x="3744" y="1632"/>
              <a:ext cx="480" cy="480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sp>
          <p:nvSpPr>
            <p:cNvPr id="34822" name="Line 7"/>
            <p:cNvSpPr/>
            <p:nvPr/>
          </p:nvSpPr>
          <p:spPr>
            <a:xfrm flipV="1">
              <a:off x="2400" y="960"/>
              <a:ext cx="0" cy="9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</p:sp>
        <p:sp>
          <p:nvSpPr>
            <p:cNvPr id="34823" name="Oval 8"/>
            <p:cNvSpPr/>
            <p:nvPr/>
          </p:nvSpPr>
          <p:spPr>
            <a:xfrm>
              <a:off x="3034" y="2506"/>
              <a:ext cx="96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sp>
          <p:nvSpPr>
            <p:cNvPr id="34824" name="Oval 9"/>
            <p:cNvSpPr/>
            <p:nvPr/>
          </p:nvSpPr>
          <p:spPr>
            <a:xfrm>
              <a:off x="3016" y="1152"/>
              <a:ext cx="96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sp>
          <p:nvSpPr>
            <p:cNvPr id="34825" name="Oval 10"/>
            <p:cNvSpPr/>
            <p:nvPr/>
          </p:nvSpPr>
          <p:spPr>
            <a:xfrm>
              <a:off x="2342" y="1824"/>
              <a:ext cx="96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sp>
          <p:nvSpPr>
            <p:cNvPr id="34826" name="Oval 11"/>
            <p:cNvSpPr/>
            <p:nvPr/>
          </p:nvSpPr>
          <p:spPr>
            <a:xfrm>
              <a:off x="3704" y="1824"/>
              <a:ext cx="96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sp>
          <p:nvSpPr>
            <p:cNvPr id="34827" name="Oval 12"/>
            <p:cNvSpPr/>
            <p:nvPr/>
          </p:nvSpPr>
          <p:spPr>
            <a:xfrm>
              <a:off x="2352" y="912"/>
              <a:ext cx="96" cy="96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endParaRPr lang="zh-CN" altLang="en-US" sz="1800" dirty="0"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34828" name="Object 13"/>
            <p:cNvGraphicFramePr>
              <a:graphicFrameLocks noChangeAspect="1"/>
            </p:cNvGraphicFramePr>
            <p:nvPr/>
          </p:nvGraphicFramePr>
          <p:xfrm>
            <a:off x="2097" y="825"/>
            <a:ext cx="1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79375" imgH="136525" progId="Equation.3">
                    <p:embed/>
                  </p:oleObj>
                </mc:Choice>
                <mc:Fallback>
                  <p:oleObj name="" r:id="rId1" imgW="79375" imgH="13652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97" y="825"/>
                          <a:ext cx="176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9" name="Object 14"/>
            <p:cNvGraphicFramePr>
              <a:graphicFrameLocks noChangeAspect="1"/>
            </p:cNvGraphicFramePr>
            <p:nvPr/>
          </p:nvGraphicFramePr>
          <p:xfrm>
            <a:off x="2055" y="1786"/>
            <a:ext cx="20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3" imgW="85090" imgH="136525" progId="Equation.3">
                    <p:embed/>
                  </p:oleObj>
                </mc:Choice>
                <mc:Fallback>
                  <p:oleObj name="" r:id="rId3" imgW="85090" imgH="136525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55" y="1786"/>
                          <a:ext cx="209" cy="3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0" name="Object 15"/>
            <p:cNvGraphicFramePr>
              <a:graphicFrameLocks noChangeAspect="1"/>
            </p:cNvGraphicFramePr>
            <p:nvPr/>
          </p:nvGraphicFramePr>
          <p:xfrm>
            <a:off x="2967" y="2660"/>
            <a:ext cx="201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85090" imgH="136525" progId="Equation.3">
                    <p:embed/>
                  </p:oleObj>
                </mc:Choice>
                <mc:Fallback>
                  <p:oleObj name="" r:id="rId5" imgW="85090" imgH="136525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67" y="2660"/>
                          <a:ext cx="201" cy="3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16"/>
            <p:cNvGraphicFramePr>
              <a:graphicFrameLocks noChangeAspect="1"/>
            </p:cNvGraphicFramePr>
            <p:nvPr/>
          </p:nvGraphicFramePr>
          <p:xfrm>
            <a:off x="3687" y="2073"/>
            <a:ext cx="206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7" imgW="85090" imgH="136525" progId="Equation.3">
                    <p:embed/>
                  </p:oleObj>
                </mc:Choice>
                <mc:Fallback>
                  <p:oleObj name="" r:id="rId7" imgW="85090" imgH="136525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7" y="2073"/>
                          <a:ext cx="206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2" name="Object 17"/>
            <p:cNvGraphicFramePr>
              <a:graphicFrameLocks noChangeAspect="1"/>
            </p:cNvGraphicFramePr>
            <p:nvPr/>
          </p:nvGraphicFramePr>
          <p:xfrm>
            <a:off x="3096" y="876"/>
            <a:ext cx="201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9" imgW="85090" imgH="136525" progId="Equation.3">
                    <p:embed/>
                  </p:oleObj>
                </mc:Choice>
                <mc:Fallback>
                  <p:oleObj name="" r:id="rId9" imgW="85090" imgH="136525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96" y="876"/>
                          <a:ext cx="201" cy="3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82770" name="Object 18"/>
          <p:cNvGraphicFramePr>
            <a:graphicFrameLocks noChangeAspect="1"/>
          </p:cNvGraphicFramePr>
          <p:nvPr/>
        </p:nvGraphicFramePr>
        <p:xfrm>
          <a:off x="5759450" y="6049963"/>
          <a:ext cx="7572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1" imgW="96520" imgH="113665" progId="Equation.3">
                  <p:embed/>
                </p:oleObj>
              </mc:Choice>
              <mc:Fallback>
                <p:oleObj name="" r:id="rId11" imgW="96520" imgH="1136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59450" y="6049963"/>
                        <a:ext cx="757238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2771" name="Oval 19"/>
          <p:cNvSpPr/>
          <p:nvPr/>
        </p:nvSpPr>
        <p:spPr>
          <a:xfrm>
            <a:off x="4343400" y="4281488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ctr" anchorCtr="0"/>
          <a:p>
            <a:endParaRPr lang="zh-CN" altLang="en-US" sz="1800" dirty="0">
              <a:latin typeface="Times New Roman" panose="02020503050405090304" pitchFamily="18" charset="0"/>
            </a:endParaRPr>
          </a:p>
        </p:txBody>
      </p:sp>
      <p:sp>
        <p:nvSpPr>
          <p:cNvPr id="1482772" name="Oval 20"/>
          <p:cNvSpPr/>
          <p:nvPr/>
        </p:nvSpPr>
        <p:spPr>
          <a:xfrm>
            <a:off x="5791200" y="3900488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ctr" anchorCtr="0"/>
          <a:p>
            <a:endParaRPr lang="zh-CN" altLang="en-US" sz="1800" dirty="0">
              <a:latin typeface="Times New Roman" panose="02020503050405090304" pitchFamily="18" charset="0"/>
            </a:endParaRPr>
          </a:p>
        </p:txBody>
      </p:sp>
      <p:sp>
        <p:nvSpPr>
          <p:cNvPr id="1482773" name="Oval 21"/>
          <p:cNvSpPr/>
          <p:nvPr/>
        </p:nvSpPr>
        <p:spPr>
          <a:xfrm>
            <a:off x="5410200" y="2224088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 anchor="ctr" anchorCtr="0"/>
          <a:p>
            <a:endParaRPr lang="zh-CN" altLang="en-US" sz="1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1482774" name="Object 22"/>
          <p:cNvGraphicFramePr>
            <a:graphicFrameLocks noChangeAspect="1"/>
          </p:cNvGraphicFramePr>
          <p:nvPr/>
        </p:nvGraphicFramePr>
        <p:xfrm>
          <a:off x="3748088" y="3311525"/>
          <a:ext cx="3206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3" imgW="79375" imgH="136525" progId="Equation.3">
                  <p:embed/>
                </p:oleObj>
              </mc:Choice>
              <mc:Fallback>
                <p:oleObj name="" r:id="rId13" imgW="79375" imgH="13652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48088" y="3311525"/>
                        <a:ext cx="320675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75" name="Object 23"/>
          <p:cNvGraphicFramePr>
            <a:graphicFrameLocks noChangeAspect="1"/>
          </p:cNvGraphicFramePr>
          <p:nvPr/>
        </p:nvGraphicFramePr>
        <p:xfrm>
          <a:off x="3870325" y="4070350"/>
          <a:ext cx="2825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5" imgW="85090" imgH="136525" progId="Equation.3">
                  <p:embed/>
                </p:oleObj>
              </mc:Choice>
              <mc:Fallback>
                <p:oleObj name="" r:id="rId15" imgW="85090" imgH="13652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0325" y="4070350"/>
                        <a:ext cx="282575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76" name="Object 24"/>
          <p:cNvGraphicFramePr>
            <a:graphicFrameLocks noChangeAspect="1"/>
          </p:cNvGraphicFramePr>
          <p:nvPr/>
        </p:nvGraphicFramePr>
        <p:xfrm>
          <a:off x="5513388" y="3779838"/>
          <a:ext cx="30003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7" imgW="85090" imgH="136525" progId="Equation.3">
                  <p:embed/>
                </p:oleObj>
              </mc:Choice>
              <mc:Fallback>
                <p:oleObj name="" r:id="rId17" imgW="85090" imgH="13652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13388" y="3779838"/>
                        <a:ext cx="300037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77" name="Object 25"/>
          <p:cNvGraphicFramePr>
            <a:graphicFrameLocks noChangeAspect="1"/>
          </p:cNvGraphicFramePr>
          <p:nvPr/>
        </p:nvGraphicFramePr>
        <p:xfrm>
          <a:off x="5268913" y="2546350"/>
          <a:ext cx="31908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9" imgW="85090" imgH="136525" progId="Equation.3">
                  <p:embed/>
                </p:oleObj>
              </mc:Choice>
              <mc:Fallback>
                <p:oleObj name="" r:id="rId19" imgW="85090" imgH="13652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68913" y="2546350"/>
                        <a:ext cx="319087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78" name="Object 26"/>
          <p:cNvGraphicFramePr>
            <a:graphicFrameLocks noChangeAspect="1"/>
          </p:cNvGraphicFramePr>
          <p:nvPr/>
        </p:nvGraphicFramePr>
        <p:xfrm>
          <a:off x="5607050" y="1630363"/>
          <a:ext cx="3857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21" imgW="85090" imgH="142240" progId="Equation.3">
                  <p:embed/>
                </p:oleObj>
              </mc:Choice>
              <mc:Fallback>
                <p:oleObj name="" r:id="rId21" imgW="85090" imgH="14224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07050" y="1630363"/>
                        <a:ext cx="385763" cy="823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79" name="Object 27"/>
          <p:cNvGraphicFramePr>
            <a:graphicFrameLocks noChangeAspect="1"/>
          </p:cNvGraphicFramePr>
          <p:nvPr/>
        </p:nvGraphicFramePr>
        <p:xfrm>
          <a:off x="4576763" y="3233738"/>
          <a:ext cx="3952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3" imgW="85090" imgH="142240" progId="Equation.3">
                  <p:embed/>
                </p:oleObj>
              </mc:Choice>
              <mc:Fallback>
                <p:oleObj name="" r:id="rId23" imgW="85090" imgH="14224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6763" y="3233738"/>
                        <a:ext cx="395287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80" name="Object 28"/>
          <p:cNvGraphicFramePr>
            <a:graphicFrameLocks noChangeAspect="1"/>
          </p:cNvGraphicFramePr>
          <p:nvPr/>
        </p:nvGraphicFramePr>
        <p:xfrm>
          <a:off x="4602163" y="3937000"/>
          <a:ext cx="33178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5" imgW="85090" imgH="142240" progId="Equation.3">
                  <p:embed/>
                </p:oleObj>
              </mc:Choice>
              <mc:Fallback>
                <p:oleObj name="" r:id="rId25" imgW="85090" imgH="14224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02163" y="3937000"/>
                        <a:ext cx="331787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2781" name="Object 29"/>
          <p:cNvGraphicFramePr>
            <a:graphicFrameLocks noChangeAspect="1"/>
          </p:cNvGraphicFramePr>
          <p:nvPr/>
        </p:nvGraphicFramePr>
        <p:xfrm>
          <a:off x="5905500" y="3721100"/>
          <a:ext cx="29686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7" imgW="85090" imgH="142240" progId="Equation.3">
                  <p:embed/>
                </p:oleObj>
              </mc:Choice>
              <mc:Fallback>
                <p:oleObj name="" r:id="rId27" imgW="85090" imgH="14224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05500" y="3721100"/>
                        <a:ext cx="296863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2782" name="Line 30"/>
          <p:cNvSpPr/>
          <p:nvPr/>
        </p:nvSpPr>
        <p:spPr>
          <a:xfrm>
            <a:off x="4419600" y="3519488"/>
            <a:ext cx="0" cy="8382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</p:sp>
      <p:sp>
        <p:nvSpPr>
          <p:cNvPr id="1482783" name="Line 31"/>
          <p:cNvSpPr/>
          <p:nvPr/>
        </p:nvSpPr>
        <p:spPr>
          <a:xfrm>
            <a:off x="5486400" y="2300288"/>
            <a:ext cx="381000" cy="16764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</p:sp>
      <p:sp>
        <p:nvSpPr>
          <p:cNvPr id="1482784" name="Freeform 32"/>
          <p:cNvSpPr/>
          <p:nvPr/>
        </p:nvSpPr>
        <p:spPr>
          <a:xfrm>
            <a:off x="4419600" y="2328863"/>
            <a:ext cx="1066800" cy="12192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672" h="768">
                <a:moveTo>
                  <a:pt x="672" y="0"/>
                </a:moveTo>
                <a:cubicBezTo>
                  <a:pt x="608" y="200"/>
                  <a:pt x="544" y="400"/>
                  <a:pt x="432" y="528"/>
                </a:cubicBezTo>
                <a:cubicBezTo>
                  <a:pt x="320" y="656"/>
                  <a:pt x="72" y="728"/>
                  <a:pt x="0" y="768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482785" name="Freeform 33"/>
          <p:cNvSpPr/>
          <p:nvPr/>
        </p:nvSpPr>
        <p:spPr>
          <a:xfrm>
            <a:off x="3581400" y="2300288"/>
            <a:ext cx="1854200" cy="12192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168" h="768">
                <a:moveTo>
                  <a:pt x="1168" y="0"/>
                </a:moveTo>
                <a:cubicBezTo>
                  <a:pt x="696" y="80"/>
                  <a:pt x="224" y="160"/>
                  <a:pt x="112" y="288"/>
                </a:cubicBezTo>
                <a:cubicBezTo>
                  <a:pt x="0" y="416"/>
                  <a:pt x="248" y="592"/>
                  <a:pt x="496" y="768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482786" name="Freeform 34"/>
          <p:cNvSpPr/>
          <p:nvPr/>
        </p:nvSpPr>
        <p:spPr>
          <a:xfrm>
            <a:off x="4419600" y="2300288"/>
            <a:ext cx="2209800" cy="292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1392" h="1840">
                <a:moveTo>
                  <a:pt x="0" y="1296"/>
                </a:moveTo>
                <a:cubicBezTo>
                  <a:pt x="504" y="1568"/>
                  <a:pt x="1008" y="1840"/>
                  <a:pt x="1200" y="1728"/>
                </a:cubicBezTo>
                <a:cubicBezTo>
                  <a:pt x="1392" y="1616"/>
                  <a:pt x="1240" y="912"/>
                  <a:pt x="1152" y="624"/>
                </a:cubicBezTo>
                <a:cubicBezTo>
                  <a:pt x="1064" y="336"/>
                  <a:pt x="868" y="168"/>
                  <a:pt x="672" y="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482787" name="Freeform 35"/>
          <p:cNvSpPr/>
          <p:nvPr/>
        </p:nvSpPr>
        <p:spPr>
          <a:xfrm>
            <a:off x="3810000" y="2300288"/>
            <a:ext cx="3416300" cy="3657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2152" h="2304">
                <a:moveTo>
                  <a:pt x="384" y="1296"/>
                </a:moveTo>
                <a:cubicBezTo>
                  <a:pt x="192" y="1528"/>
                  <a:pt x="0" y="1760"/>
                  <a:pt x="48" y="1920"/>
                </a:cubicBezTo>
                <a:cubicBezTo>
                  <a:pt x="96" y="2080"/>
                  <a:pt x="352" y="2304"/>
                  <a:pt x="672" y="2256"/>
                </a:cubicBezTo>
                <a:cubicBezTo>
                  <a:pt x="992" y="2208"/>
                  <a:pt x="1784" y="1928"/>
                  <a:pt x="1968" y="1632"/>
                </a:cubicBezTo>
                <a:cubicBezTo>
                  <a:pt x="2152" y="1336"/>
                  <a:pt x="1928" y="752"/>
                  <a:pt x="1776" y="480"/>
                </a:cubicBezTo>
                <a:cubicBezTo>
                  <a:pt x="1624" y="208"/>
                  <a:pt x="1340" y="104"/>
                  <a:pt x="1056" y="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482788" name="Freeform 36"/>
          <p:cNvSpPr/>
          <p:nvPr/>
        </p:nvSpPr>
        <p:spPr>
          <a:xfrm>
            <a:off x="2438400" y="1782763"/>
            <a:ext cx="3225800" cy="12319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032" h="776">
                <a:moveTo>
                  <a:pt x="1920" y="304"/>
                </a:moveTo>
                <a:cubicBezTo>
                  <a:pt x="1808" y="248"/>
                  <a:pt x="576" y="0"/>
                  <a:pt x="288" y="64"/>
                </a:cubicBezTo>
                <a:cubicBezTo>
                  <a:pt x="0" y="128"/>
                  <a:pt x="128" y="600"/>
                  <a:pt x="192" y="688"/>
                </a:cubicBezTo>
                <a:cubicBezTo>
                  <a:pt x="256" y="776"/>
                  <a:pt x="544" y="640"/>
                  <a:pt x="672" y="592"/>
                </a:cubicBezTo>
                <a:cubicBezTo>
                  <a:pt x="800" y="544"/>
                  <a:pt x="752" y="448"/>
                  <a:pt x="960" y="400"/>
                </a:cubicBezTo>
                <a:cubicBezTo>
                  <a:pt x="1168" y="352"/>
                  <a:pt x="2032" y="360"/>
                  <a:pt x="1920" y="304"/>
                </a:cubicBezTo>
                <a:close/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699999" algn="ctr" rotWithShape="0">
              <a:srgbClr val="808080"/>
            </a:outerShdw>
          </a:effectLst>
        </p:spPr>
        <p:txBody>
          <a:bodyPr/>
          <a:p>
            <a:endParaRPr lang="zh-CN" altLang="en-US"/>
          </a:p>
        </p:txBody>
      </p:sp>
      <p:graphicFrame>
        <p:nvGraphicFramePr>
          <p:cNvPr id="1482789" name="Object 37"/>
          <p:cNvGraphicFramePr>
            <a:graphicFrameLocks noChangeAspect="1"/>
          </p:cNvGraphicFramePr>
          <p:nvPr/>
        </p:nvGraphicFramePr>
        <p:xfrm>
          <a:off x="4340225" y="6189663"/>
          <a:ext cx="5191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29" imgW="67945" imgH="85090" progId="Equation.3">
                  <p:embed/>
                </p:oleObj>
              </mc:Choice>
              <mc:Fallback>
                <p:oleObj name="" r:id="rId29" imgW="67945" imgH="8509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3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0225" y="6189663"/>
                        <a:ext cx="519113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3" name="标题 1"/>
          <p:cNvSpPr>
            <a:spLocks noGrp="1"/>
          </p:cNvSpPr>
          <p:nvPr/>
        </p:nvSpPr>
        <p:spPr>
          <a:xfrm>
            <a:off x="1042988" y="94615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eaLnBrk="0" hangingPunct="0"/>
            <a:r>
              <a:rPr lang="zh-CN" altLang="en-US" sz="4400" dirty="0">
                <a:solidFill>
                  <a:schemeClr val="tx2"/>
                </a:solidFill>
                <a:latin typeface="Copperplate Gothic Light" panose="020E0507020206020404" pitchFamily="34" charset="0"/>
                <a:sym typeface="宋体" pitchFamily="2" charset="-122"/>
              </a:rPr>
              <a:t>对偶图</a:t>
            </a:r>
            <a:endParaRPr lang="zh-CN" altLang="en-US" sz="4400">
              <a:solidFill>
                <a:schemeClr val="tx2"/>
              </a:solidFill>
              <a:latin typeface="Copperplate Gothic Light" panose="020E0507020206020404" pitchFamily="34" charset="0"/>
            </a:endParaRP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48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8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8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8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8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8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8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8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8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8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8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8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8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8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8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8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8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8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8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8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8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8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8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8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8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8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8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48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48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48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48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48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48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148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48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8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2754" grpId="0" bldLvl="0" animBg="1"/>
      <p:bldP spid="1482771" grpId="0" bldLvl="0" animBg="1"/>
      <p:bldP spid="1482772" grpId="0" bldLvl="0" animBg="1"/>
      <p:bldP spid="148277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>
          <a:xfrm>
            <a:off x="1042988" y="2286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完全正则图</a:t>
            </a:r>
            <a:endParaRPr lang="zh-CN" altLang="en-US" dirty="0"/>
          </a:p>
        </p:txBody>
      </p:sp>
      <p:sp>
        <p:nvSpPr>
          <p:cNvPr id="35845" name="Rectangle 3"/>
          <p:cNvSpPr>
            <a:spLocks noGrp="1"/>
          </p:cNvSpPr>
          <p:nvPr>
            <p:ph idx="1"/>
          </p:nvPr>
        </p:nvSpPr>
        <p:spPr>
          <a:xfrm>
            <a:off x="1039813" y="194627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每个节点度数相同的平面图为正则图</a:t>
            </a:r>
            <a:endParaRPr lang="zh-CN" altLang="en-US" dirty="0"/>
          </a:p>
          <a:p>
            <a:pPr eaLnBrk="1" hangingPunct="1"/>
            <a:r>
              <a:rPr lang="zh-CN" altLang="en-US" dirty="0"/>
              <a:t>如果一个正则图的对偶图也是正则图，则称是完全正则图。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完全正则图的每个面的度数都相同。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完全正则图称为柏拉图体，被古代看作是宇宙和谐的象征</a:t>
            </a:r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>
          <a:xfrm>
            <a:off x="798830" y="87630"/>
            <a:ext cx="8345170" cy="107823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Platonic Solids</a:t>
            </a:r>
            <a:r>
              <a:rPr lang="en-US" altLang="zh-CN" sz="4000" dirty="0">
                <a:latin typeface="Arial Rounded MT Bold" panose="020F0704030504030204" pitchFamily="34" charset="0"/>
              </a:rPr>
              <a:t>–</a:t>
            </a:r>
            <a:r>
              <a:rPr lang="en-US" altLang="zh-CN" sz="4000" dirty="0"/>
              <a:t> </a:t>
            </a:r>
            <a:r>
              <a:rPr lang="zh-CN" altLang="en-US" sz="4000" dirty="0"/>
              <a:t>柏拉图体</a:t>
            </a:r>
            <a:endParaRPr lang="zh-CN" altLang="en-US" sz="4000" dirty="0"/>
          </a:p>
        </p:txBody>
      </p:sp>
      <p:sp>
        <p:nvSpPr>
          <p:cNvPr id="368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</a:t>
            </a:r>
            <a:r>
              <a:rPr lang="en-US" altLang="zh-CN" b="1" i="1" dirty="0">
                <a:solidFill>
                  <a:schemeClr val="hlink"/>
                </a:solidFill>
              </a:rPr>
              <a:t>Platonic solid </a:t>
            </a:r>
            <a:r>
              <a:rPr lang="en-US" altLang="zh-CN" dirty="0"/>
              <a:t>has congruent </a:t>
            </a:r>
            <a:r>
              <a:rPr lang="en-US" altLang="zh-CN" i="1" dirty="0">
                <a:solidFill>
                  <a:schemeClr val="hlink"/>
                </a:solidFill>
              </a:rPr>
              <a:t>regular polygons</a:t>
            </a:r>
            <a:r>
              <a:rPr lang="en-US" altLang="zh-CN" dirty="0"/>
              <a:t>(</a:t>
            </a:r>
            <a:r>
              <a:rPr lang="zh-CN" altLang="en-US" dirty="0"/>
              <a:t>正则多边形</a:t>
            </a:r>
            <a:r>
              <a:rPr lang="en-US" altLang="zh-CN" dirty="0"/>
              <a:t>) as faces and has the same number of edges meeting at each corner.</a:t>
            </a:r>
            <a:endParaRPr lang="zh-CN" altLang="en-US" dirty="0"/>
          </a:p>
        </p:txBody>
      </p:sp>
      <p:grpSp>
        <p:nvGrpSpPr>
          <p:cNvPr id="36870" name="Group 4"/>
          <p:cNvGrpSpPr/>
          <p:nvPr/>
        </p:nvGrpSpPr>
        <p:grpSpPr>
          <a:xfrm>
            <a:off x="2278063" y="3719195"/>
            <a:ext cx="1933575" cy="1833563"/>
            <a:chOff x="130" y="573"/>
            <a:chExt cx="1218" cy="1155"/>
          </a:xfrm>
        </p:grpSpPr>
        <p:sp>
          <p:nvSpPr>
            <p:cNvPr id="36871" name="Oval 5"/>
            <p:cNvSpPr/>
            <p:nvPr/>
          </p:nvSpPr>
          <p:spPr>
            <a:xfrm>
              <a:off x="133" y="57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6872" name="Oval 6"/>
            <p:cNvSpPr/>
            <p:nvPr/>
          </p:nvSpPr>
          <p:spPr>
            <a:xfrm>
              <a:off x="130" y="134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6873" name="Oval 7"/>
            <p:cNvSpPr/>
            <p:nvPr/>
          </p:nvSpPr>
          <p:spPr>
            <a:xfrm>
              <a:off x="902" y="135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6874" name="AutoShape 8"/>
            <p:cNvCxnSpPr>
              <a:stCxn id="36872" idx="6"/>
              <a:endCxn id="36873" idx="2"/>
            </p:cNvCxnSpPr>
            <p:nvPr/>
          </p:nvCxnSpPr>
          <p:spPr>
            <a:xfrm>
              <a:off x="299" y="1427"/>
              <a:ext cx="594" cy="8"/>
            </a:xfrm>
            <a:prstGeom prst="straightConnector1">
              <a:avLst/>
            </a:prstGeom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sp>
          <p:nvSpPr>
            <p:cNvPr id="36875" name="Oval 9"/>
            <p:cNvSpPr/>
            <p:nvPr/>
          </p:nvSpPr>
          <p:spPr>
            <a:xfrm>
              <a:off x="903" y="579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6876" name="AutoShape 10"/>
            <p:cNvCxnSpPr>
              <a:stCxn id="36871" idx="6"/>
              <a:endCxn id="36875" idx="2"/>
            </p:cNvCxnSpPr>
            <p:nvPr/>
          </p:nvCxnSpPr>
          <p:spPr>
            <a:xfrm>
              <a:off x="302" y="653"/>
              <a:ext cx="592" cy="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77" name="AutoShape 11"/>
            <p:cNvCxnSpPr>
              <a:stCxn id="36873" idx="0"/>
              <a:endCxn id="36875" idx="4"/>
            </p:cNvCxnSpPr>
            <p:nvPr/>
          </p:nvCxnSpPr>
          <p:spPr>
            <a:xfrm flipV="1">
              <a:off x="982" y="748"/>
              <a:ext cx="1" cy="598"/>
            </a:xfrm>
            <a:prstGeom prst="straightConnector1">
              <a:avLst/>
            </a:prstGeom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cxnSp>
          <p:nvCxnSpPr>
            <p:cNvPr id="36878" name="AutoShape 12"/>
            <p:cNvCxnSpPr>
              <a:stCxn id="36871" idx="4"/>
              <a:endCxn id="36872" idx="0"/>
            </p:cNvCxnSpPr>
            <p:nvPr/>
          </p:nvCxnSpPr>
          <p:spPr>
            <a:xfrm flipH="1">
              <a:off x="210" y="742"/>
              <a:ext cx="3" cy="59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879" name="Oval 13"/>
            <p:cNvSpPr/>
            <p:nvPr/>
          </p:nvSpPr>
          <p:spPr>
            <a:xfrm>
              <a:off x="418" y="78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6880" name="Oval 14"/>
            <p:cNvSpPr/>
            <p:nvPr/>
          </p:nvSpPr>
          <p:spPr>
            <a:xfrm>
              <a:off x="415" y="156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6881" name="Oval 15"/>
            <p:cNvSpPr/>
            <p:nvPr/>
          </p:nvSpPr>
          <p:spPr>
            <a:xfrm>
              <a:off x="1187" y="156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6882" name="AutoShape 16"/>
            <p:cNvCxnSpPr>
              <a:stCxn id="36880" idx="6"/>
              <a:endCxn id="36881" idx="2"/>
            </p:cNvCxnSpPr>
            <p:nvPr/>
          </p:nvCxnSpPr>
          <p:spPr>
            <a:xfrm>
              <a:off x="584" y="1640"/>
              <a:ext cx="594" cy="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883" name="Oval 17"/>
            <p:cNvSpPr/>
            <p:nvPr/>
          </p:nvSpPr>
          <p:spPr>
            <a:xfrm>
              <a:off x="1188" y="792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6884" name="AutoShape 18"/>
            <p:cNvCxnSpPr>
              <a:stCxn id="36879" idx="6"/>
              <a:endCxn id="36883" idx="2"/>
            </p:cNvCxnSpPr>
            <p:nvPr/>
          </p:nvCxnSpPr>
          <p:spPr>
            <a:xfrm>
              <a:off x="587" y="866"/>
              <a:ext cx="592" cy="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85" name="AutoShape 19"/>
            <p:cNvCxnSpPr>
              <a:stCxn id="36881" idx="0"/>
              <a:endCxn id="36883" idx="4"/>
            </p:cNvCxnSpPr>
            <p:nvPr/>
          </p:nvCxnSpPr>
          <p:spPr>
            <a:xfrm flipV="1">
              <a:off x="1267" y="961"/>
              <a:ext cx="1" cy="59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86" name="AutoShape 20"/>
            <p:cNvCxnSpPr>
              <a:stCxn id="36879" idx="4"/>
              <a:endCxn id="36880" idx="0"/>
            </p:cNvCxnSpPr>
            <p:nvPr/>
          </p:nvCxnSpPr>
          <p:spPr>
            <a:xfrm flipH="1">
              <a:off x="495" y="955"/>
              <a:ext cx="3" cy="596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87" name="AutoShape 21"/>
            <p:cNvCxnSpPr>
              <a:stCxn id="36871" idx="5"/>
              <a:endCxn id="36879" idx="1"/>
            </p:cNvCxnSpPr>
            <p:nvPr/>
          </p:nvCxnSpPr>
          <p:spPr>
            <a:xfrm>
              <a:off x="270" y="719"/>
              <a:ext cx="171" cy="8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88" name="AutoShape 22"/>
            <p:cNvCxnSpPr>
              <a:stCxn id="36875" idx="5"/>
              <a:endCxn id="36883" idx="1"/>
            </p:cNvCxnSpPr>
            <p:nvPr/>
          </p:nvCxnSpPr>
          <p:spPr>
            <a:xfrm>
              <a:off x="1040" y="725"/>
              <a:ext cx="171" cy="8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89" name="AutoShape 23"/>
            <p:cNvCxnSpPr>
              <a:stCxn id="36872" idx="5"/>
              <a:endCxn id="36880" idx="1"/>
            </p:cNvCxnSpPr>
            <p:nvPr/>
          </p:nvCxnSpPr>
          <p:spPr>
            <a:xfrm>
              <a:off x="267" y="1493"/>
              <a:ext cx="171" cy="8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90" name="AutoShape 24"/>
            <p:cNvCxnSpPr>
              <a:stCxn id="36873" idx="5"/>
              <a:endCxn id="36881" idx="1"/>
            </p:cNvCxnSpPr>
            <p:nvPr/>
          </p:nvCxnSpPr>
          <p:spPr>
            <a:xfrm>
              <a:off x="1039" y="1501"/>
              <a:ext cx="171" cy="81"/>
            </a:xfrm>
            <a:prstGeom prst="straightConnector1">
              <a:avLst/>
            </a:prstGeom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891" name="Group 25"/>
          <p:cNvGrpSpPr/>
          <p:nvPr/>
        </p:nvGrpSpPr>
        <p:grpSpPr>
          <a:xfrm>
            <a:off x="5435600" y="3790633"/>
            <a:ext cx="1092200" cy="1709737"/>
            <a:chOff x="3686" y="568"/>
            <a:chExt cx="688" cy="1077"/>
          </a:xfrm>
        </p:grpSpPr>
        <p:sp>
          <p:nvSpPr>
            <p:cNvPr id="36892" name="Oval 26"/>
            <p:cNvSpPr/>
            <p:nvPr/>
          </p:nvSpPr>
          <p:spPr>
            <a:xfrm>
              <a:off x="3985" y="568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6893" name="Oval 27"/>
            <p:cNvSpPr/>
            <p:nvPr/>
          </p:nvSpPr>
          <p:spPr>
            <a:xfrm>
              <a:off x="4214" y="112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6894" name="AutoShape 28"/>
            <p:cNvCxnSpPr>
              <a:stCxn id="36892" idx="3"/>
              <a:endCxn id="36895" idx="0"/>
            </p:cNvCxnSpPr>
            <p:nvPr/>
          </p:nvCxnSpPr>
          <p:spPr>
            <a:xfrm flipH="1">
              <a:off x="3766" y="714"/>
              <a:ext cx="242" cy="66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895" name="Oval 29"/>
            <p:cNvSpPr/>
            <p:nvPr/>
          </p:nvSpPr>
          <p:spPr>
            <a:xfrm>
              <a:off x="3686" y="138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6896" name="Oval 30"/>
            <p:cNvSpPr/>
            <p:nvPr/>
          </p:nvSpPr>
          <p:spPr>
            <a:xfrm>
              <a:off x="4135" y="148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6897" name="AutoShape 31"/>
            <p:cNvCxnSpPr>
              <a:stCxn id="36892" idx="4"/>
              <a:endCxn id="36896" idx="0"/>
            </p:cNvCxnSpPr>
            <p:nvPr/>
          </p:nvCxnSpPr>
          <p:spPr>
            <a:xfrm>
              <a:off x="4065" y="737"/>
              <a:ext cx="150" cy="739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98" name="AutoShape 32"/>
            <p:cNvCxnSpPr>
              <a:stCxn id="36892" idx="5"/>
              <a:endCxn id="36893" idx="0"/>
            </p:cNvCxnSpPr>
            <p:nvPr/>
          </p:nvCxnSpPr>
          <p:spPr>
            <a:xfrm>
              <a:off x="4122" y="714"/>
              <a:ext cx="172" cy="39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99" name="AutoShape 33"/>
            <p:cNvCxnSpPr>
              <a:stCxn id="36896" idx="7"/>
              <a:endCxn id="36893" idx="4"/>
            </p:cNvCxnSpPr>
            <p:nvPr/>
          </p:nvCxnSpPr>
          <p:spPr>
            <a:xfrm flipV="1">
              <a:off x="4272" y="1289"/>
              <a:ext cx="22" cy="21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00" name="AutoShape 34"/>
            <p:cNvCxnSpPr>
              <a:stCxn id="36896" idx="2"/>
              <a:endCxn id="36895" idx="6"/>
            </p:cNvCxnSpPr>
            <p:nvPr/>
          </p:nvCxnSpPr>
          <p:spPr>
            <a:xfrm flipH="1" flipV="1">
              <a:off x="3855" y="1465"/>
              <a:ext cx="271" cy="10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01" name="AutoShape 35"/>
            <p:cNvCxnSpPr>
              <a:stCxn id="36893" idx="2"/>
              <a:endCxn id="36895" idx="7"/>
            </p:cNvCxnSpPr>
            <p:nvPr/>
          </p:nvCxnSpPr>
          <p:spPr>
            <a:xfrm flipH="1">
              <a:off x="3823" y="1200"/>
              <a:ext cx="382" cy="199"/>
            </a:xfrm>
            <a:prstGeom prst="straightConnector1">
              <a:avLst/>
            </a:prstGeom>
            <a:ln w="28575" cap="flat" cmpd="sng">
              <a:solidFill>
                <a:schemeClr val="tx2"/>
              </a:solidFill>
              <a:prstDash val="sys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/>
          </p:nvPr>
        </p:nvSpPr>
        <p:spPr>
          <a:xfrm>
            <a:off x="1042988" y="2286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Platonic Solids</a:t>
            </a:r>
            <a:endParaRPr lang="zh-CN" altLang="en-US" dirty="0"/>
          </a:p>
        </p:txBody>
      </p:sp>
      <p:sp>
        <p:nvSpPr>
          <p:cNvPr id="378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Each one can be flattened into a planar graph:</a:t>
            </a:r>
            <a:endParaRPr lang="en-US" altLang="zh-CN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en-US" altLang="zh-CN" sz="2800" dirty="0"/>
              <a:t>with constant degree: </a:t>
            </a:r>
            <a:r>
              <a:rPr lang="en-US" altLang="zh-CN" sz="2800" b="1" i="1" dirty="0">
                <a:solidFill>
                  <a:schemeClr val="hlink"/>
                </a:solidFill>
              </a:rPr>
              <a:t>k</a:t>
            </a:r>
            <a:r>
              <a:rPr lang="en-US" altLang="zh-CN" sz="2800" i="1" dirty="0"/>
              <a:t> </a:t>
            </a:r>
            <a:r>
              <a:rPr lang="en-US" altLang="zh-CN" sz="2800" dirty="0"/>
              <a:t>and 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the same number of edges bounding each face:</a:t>
            </a:r>
            <a:r>
              <a:rPr lang="en-US" altLang="zh-CN" sz="2800" b="1" dirty="0">
                <a:solidFill>
                  <a:schemeClr val="hlink"/>
                </a:solidFill>
              </a:rPr>
              <a:t> </a:t>
            </a:r>
            <a:r>
              <a:rPr lang="en-US" altLang="zh-CN" sz="2800" b="1" i="1" dirty="0">
                <a:solidFill>
                  <a:schemeClr val="hlink"/>
                </a:solidFill>
              </a:rPr>
              <a:t>l</a:t>
            </a:r>
            <a:endParaRPr lang="zh-CN" altLang="en-US" sz="2800" b="1" dirty="0">
              <a:solidFill>
                <a:schemeClr val="hlink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582863" y="2352040"/>
            <a:ext cx="1797050" cy="1565275"/>
            <a:chOff x="1051" y="2323"/>
            <a:chExt cx="1132" cy="986"/>
          </a:xfrm>
        </p:grpSpPr>
        <p:cxnSp>
          <p:nvCxnSpPr>
            <p:cNvPr id="37895" name="AutoShape 5"/>
            <p:cNvCxnSpPr>
              <a:stCxn id="37897" idx="4"/>
              <a:endCxn id="37898" idx="0"/>
            </p:cNvCxnSpPr>
            <p:nvPr/>
          </p:nvCxnSpPr>
          <p:spPr>
            <a:xfrm flipH="1">
              <a:off x="1353" y="2666"/>
              <a:ext cx="2" cy="298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896" name="Oval 6"/>
            <p:cNvSpPr/>
            <p:nvPr/>
          </p:nvSpPr>
          <p:spPr>
            <a:xfrm>
              <a:off x="1051" y="232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897" name="Oval 7"/>
            <p:cNvSpPr/>
            <p:nvPr/>
          </p:nvSpPr>
          <p:spPr>
            <a:xfrm>
              <a:off x="1275" y="2497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898" name="Oval 8"/>
            <p:cNvSpPr/>
            <p:nvPr/>
          </p:nvSpPr>
          <p:spPr>
            <a:xfrm>
              <a:off x="1273" y="297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899" name="Oval 9"/>
            <p:cNvSpPr/>
            <p:nvPr/>
          </p:nvSpPr>
          <p:spPr>
            <a:xfrm>
              <a:off x="1793" y="2983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900" name="Oval 10"/>
            <p:cNvSpPr/>
            <p:nvPr/>
          </p:nvSpPr>
          <p:spPr>
            <a:xfrm>
              <a:off x="1791" y="2500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7901" name="AutoShape 11"/>
            <p:cNvCxnSpPr>
              <a:stCxn id="37897" idx="1"/>
              <a:endCxn id="37896" idx="5"/>
            </p:cNvCxnSpPr>
            <p:nvPr/>
          </p:nvCxnSpPr>
          <p:spPr>
            <a:xfrm flipH="1" flipV="1">
              <a:off x="1188" y="2469"/>
              <a:ext cx="110" cy="42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02" name="AutoShape 12"/>
            <p:cNvCxnSpPr>
              <a:stCxn id="37897" idx="6"/>
              <a:endCxn id="37900" idx="2"/>
            </p:cNvCxnSpPr>
            <p:nvPr/>
          </p:nvCxnSpPr>
          <p:spPr>
            <a:xfrm>
              <a:off x="1444" y="2577"/>
              <a:ext cx="338" cy="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03" name="AutoShape 13"/>
            <p:cNvCxnSpPr>
              <a:stCxn id="37900" idx="4"/>
              <a:endCxn id="37899" idx="0"/>
            </p:cNvCxnSpPr>
            <p:nvPr/>
          </p:nvCxnSpPr>
          <p:spPr>
            <a:xfrm>
              <a:off x="1871" y="2669"/>
              <a:ext cx="2" cy="30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04" name="AutoShape 14"/>
            <p:cNvCxnSpPr>
              <a:stCxn id="37898" idx="6"/>
              <a:endCxn id="37899" idx="2"/>
            </p:cNvCxnSpPr>
            <p:nvPr/>
          </p:nvCxnSpPr>
          <p:spPr>
            <a:xfrm>
              <a:off x="1442" y="3053"/>
              <a:ext cx="342" cy="1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905" name="Oval 15"/>
            <p:cNvSpPr/>
            <p:nvPr/>
          </p:nvSpPr>
          <p:spPr>
            <a:xfrm>
              <a:off x="2023" y="3149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906" name="Oval 16"/>
            <p:cNvSpPr/>
            <p:nvPr/>
          </p:nvSpPr>
          <p:spPr>
            <a:xfrm>
              <a:off x="1052" y="314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907" name="Oval 17"/>
            <p:cNvSpPr/>
            <p:nvPr/>
          </p:nvSpPr>
          <p:spPr>
            <a:xfrm>
              <a:off x="2019" y="2334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7908" name="AutoShape 18"/>
            <p:cNvCxnSpPr>
              <a:stCxn id="37898" idx="3"/>
              <a:endCxn id="37906" idx="7"/>
            </p:cNvCxnSpPr>
            <p:nvPr/>
          </p:nvCxnSpPr>
          <p:spPr>
            <a:xfrm flipH="1">
              <a:off x="1189" y="3119"/>
              <a:ext cx="107" cy="39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09" name="AutoShape 19"/>
            <p:cNvCxnSpPr>
              <a:stCxn id="37905" idx="1"/>
              <a:endCxn id="37899" idx="5"/>
            </p:cNvCxnSpPr>
            <p:nvPr/>
          </p:nvCxnSpPr>
          <p:spPr>
            <a:xfrm flipH="1" flipV="1">
              <a:off x="1930" y="3129"/>
              <a:ext cx="116" cy="34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10" name="AutoShape 20"/>
            <p:cNvCxnSpPr>
              <a:stCxn id="37907" idx="3"/>
              <a:endCxn id="37900" idx="7"/>
            </p:cNvCxnSpPr>
            <p:nvPr/>
          </p:nvCxnSpPr>
          <p:spPr>
            <a:xfrm flipH="1">
              <a:off x="1928" y="2480"/>
              <a:ext cx="114" cy="34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11" name="AutoShape 21"/>
            <p:cNvCxnSpPr>
              <a:stCxn id="37896" idx="4"/>
              <a:endCxn id="37906" idx="0"/>
            </p:cNvCxnSpPr>
            <p:nvPr/>
          </p:nvCxnSpPr>
          <p:spPr>
            <a:xfrm>
              <a:off x="1131" y="2492"/>
              <a:ext cx="1" cy="643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12" name="AutoShape 22"/>
            <p:cNvCxnSpPr>
              <a:stCxn id="37907" idx="4"/>
              <a:endCxn id="37905" idx="0"/>
            </p:cNvCxnSpPr>
            <p:nvPr/>
          </p:nvCxnSpPr>
          <p:spPr>
            <a:xfrm>
              <a:off x="2099" y="2503"/>
              <a:ext cx="4" cy="637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13" name="AutoShape 23"/>
            <p:cNvCxnSpPr>
              <a:stCxn id="37896" idx="6"/>
              <a:endCxn id="37907" idx="2"/>
            </p:cNvCxnSpPr>
            <p:nvPr/>
          </p:nvCxnSpPr>
          <p:spPr>
            <a:xfrm>
              <a:off x="1220" y="2403"/>
              <a:ext cx="790" cy="1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14" name="AutoShape 24"/>
            <p:cNvCxnSpPr>
              <a:stCxn id="37906" idx="6"/>
              <a:endCxn id="37905" idx="2"/>
            </p:cNvCxnSpPr>
            <p:nvPr/>
          </p:nvCxnSpPr>
          <p:spPr>
            <a:xfrm>
              <a:off x="1221" y="3224"/>
              <a:ext cx="793" cy="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" name="Group 25"/>
          <p:cNvGrpSpPr/>
          <p:nvPr/>
        </p:nvGrpSpPr>
        <p:grpSpPr>
          <a:xfrm>
            <a:off x="5435600" y="2499678"/>
            <a:ext cx="1128713" cy="1325562"/>
            <a:chOff x="3636" y="2336"/>
            <a:chExt cx="711" cy="835"/>
          </a:xfrm>
        </p:grpSpPr>
        <p:sp>
          <p:nvSpPr>
            <p:cNvPr id="37916" name="Oval 26"/>
            <p:cNvSpPr/>
            <p:nvPr/>
          </p:nvSpPr>
          <p:spPr>
            <a:xfrm>
              <a:off x="3921" y="233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917" name="Oval 27"/>
            <p:cNvSpPr/>
            <p:nvPr/>
          </p:nvSpPr>
          <p:spPr>
            <a:xfrm>
              <a:off x="3924" y="2785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7918" name="AutoShape 28"/>
            <p:cNvCxnSpPr>
              <a:stCxn id="37916" idx="3"/>
              <a:endCxn id="37919" idx="0"/>
            </p:cNvCxnSpPr>
            <p:nvPr/>
          </p:nvCxnSpPr>
          <p:spPr>
            <a:xfrm flipH="1">
              <a:off x="3716" y="2482"/>
              <a:ext cx="228" cy="51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919" name="Oval 29"/>
            <p:cNvSpPr/>
            <p:nvPr/>
          </p:nvSpPr>
          <p:spPr>
            <a:xfrm>
              <a:off x="3636" y="3006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sp>
          <p:nvSpPr>
            <p:cNvPr id="37920" name="Oval 30"/>
            <p:cNvSpPr/>
            <p:nvPr/>
          </p:nvSpPr>
          <p:spPr>
            <a:xfrm>
              <a:off x="4187" y="3011"/>
              <a:ext cx="160" cy="160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  <p:cxnSp>
          <p:nvCxnSpPr>
            <p:cNvPr id="37921" name="AutoShape 31"/>
            <p:cNvCxnSpPr>
              <a:stCxn id="37916" idx="5"/>
              <a:endCxn id="37920" idx="0"/>
            </p:cNvCxnSpPr>
            <p:nvPr/>
          </p:nvCxnSpPr>
          <p:spPr>
            <a:xfrm>
              <a:off x="4058" y="2482"/>
              <a:ext cx="209" cy="520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22" name="AutoShape 32"/>
            <p:cNvCxnSpPr>
              <a:stCxn id="37916" idx="4"/>
              <a:endCxn id="37917" idx="0"/>
            </p:cNvCxnSpPr>
            <p:nvPr/>
          </p:nvCxnSpPr>
          <p:spPr>
            <a:xfrm>
              <a:off x="4001" y="2505"/>
              <a:ext cx="3" cy="271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23" name="AutoShape 33"/>
            <p:cNvCxnSpPr>
              <a:stCxn id="37920" idx="1"/>
              <a:endCxn id="37917" idx="5"/>
            </p:cNvCxnSpPr>
            <p:nvPr/>
          </p:nvCxnSpPr>
          <p:spPr>
            <a:xfrm flipH="1" flipV="1">
              <a:off x="4061" y="2931"/>
              <a:ext cx="149" cy="94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24" name="AutoShape 34"/>
            <p:cNvCxnSpPr>
              <a:stCxn id="37920" idx="2"/>
              <a:endCxn id="37919" idx="6"/>
            </p:cNvCxnSpPr>
            <p:nvPr/>
          </p:nvCxnSpPr>
          <p:spPr>
            <a:xfrm flipH="1" flipV="1">
              <a:off x="3805" y="3086"/>
              <a:ext cx="373" cy="5"/>
            </a:xfrm>
            <a:prstGeom prst="straightConnector1">
              <a:avLst/>
            </a:prstGeom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25" name="AutoShape 35"/>
            <p:cNvCxnSpPr>
              <a:stCxn id="37917" idx="3"/>
              <a:endCxn id="37919" idx="7"/>
            </p:cNvCxnSpPr>
            <p:nvPr/>
          </p:nvCxnSpPr>
          <p:spPr>
            <a:xfrm flipH="1">
              <a:off x="3773" y="2931"/>
              <a:ext cx="174" cy="89"/>
            </a:xfrm>
            <a:prstGeom prst="straightConnector1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日期占位符 2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684034" name="Object 2"/>
          <p:cNvGraphicFramePr>
            <a:graphicFrameLocks noChangeAspect="1"/>
          </p:cNvGraphicFramePr>
          <p:nvPr/>
        </p:nvGraphicFramePr>
        <p:xfrm>
          <a:off x="5186363" y="1455738"/>
          <a:ext cx="12382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481965" imgH="177800" progId="Equation.DSMT4">
                  <p:embed/>
                </p:oleObj>
              </mc:Choice>
              <mc:Fallback>
                <p:oleObj name="" r:id="rId1" imgW="481965" imgH="177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86363" y="1455738"/>
                        <a:ext cx="1238250" cy="455612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4035" name="Object 3"/>
          <p:cNvGraphicFramePr>
            <a:graphicFrameLocks noChangeAspect="1"/>
          </p:cNvGraphicFramePr>
          <p:nvPr/>
        </p:nvGraphicFramePr>
        <p:xfrm>
          <a:off x="4910138" y="342900"/>
          <a:ext cx="10398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316865" imgH="177800" progId="Equation.DSMT4">
                  <p:embed/>
                </p:oleObj>
              </mc:Choice>
              <mc:Fallback>
                <p:oleObj name="" r:id="rId3" imgW="316865" imgH="1778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0138" y="342900"/>
                        <a:ext cx="1039812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3332163" y="1042988"/>
            <a:ext cx="696912" cy="1109662"/>
            <a:chOff x="2099" y="657"/>
            <a:chExt cx="439" cy="699"/>
          </a:xfrm>
        </p:grpSpPr>
        <p:sp>
          <p:nvSpPr>
            <p:cNvPr id="38919" name="Text Box 5"/>
            <p:cNvSpPr txBox="1"/>
            <p:nvPr/>
          </p:nvSpPr>
          <p:spPr>
            <a:xfrm rot="5400000">
              <a:off x="2078" y="713"/>
              <a:ext cx="516" cy="404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274320" rIns="274320" anchor="t" anchorCtr="0">
              <a:spAutoFit/>
            </a:bodyPr>
            <a:p>
              <a:pPr algn="ctr" eaLnBrk="0" hangingPunct="0">
                <a:buClrTx/>
                <a:buFontTx/>
              </a:pPr>
              <a:r>
                <a:rPr lang="en-US" altLang="zh-CN" sz="3600" b="1" dirty="0">
                  <a:solidFill>
                    <a:schemeClr val="tx2"/>
                  </a:solidFill>
                  <a:latin typeface="Times New Roman" panose="02020503050405090304" pitchFamily="18" charset="0"/>
                </a:rPr>
                <a:t>=</a:t>
              </a:r>
              <a:endParaRPr lang="en-US" altLang="zh-CN" sz="3600" b="1" dirty="0">
                <a:solidFill>
                  <a:schemeClr val="tx2"/>
                </a:solidFill>
                <a:latin typeface="Times New Roman" panose="02020503050405090304" pitchFamily="18" charset="0"/>
              </a:endParaRPr>
            </a:p>
          </p:txBody>
        </p:sp>
        <p:graphicFrame>
          <p:nvGraphicFramePr>
            <p:cNvPr id="38920" name="Object 6"/>
            <p:cNvGraphicFramePr>
              <a:graphicFrameLocks noChangeAspect="1"/>
            </p:cNvGraphicFramePr>
            <p:nvPr/>
          </p:nvGraphicFramePr>
          <p:xfrm>
            <a:off x="2099" y="952"/>
            <a:ext cx="43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5" imgW="190500" imgH="177800" progId="Equation.DSMT4">
                    <p:embed/>
                  </p:oleObj>
                </mc:Choice>
                <mc:Fallback>
                  <p:oleObj name="" r:id="rId5" imgW="190500" imgH="1778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99" y="952"/>
                          <a:ext cx="433" cy="4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21" name="Group 7"/>
          <p:cNvGrpSpPr/>
          <p:nvPr/>
        </p:nvGrpSpPr>
        <p:grpSpPr>
          <a:xfrm>
            <a:off x="1276350" y="341313"/>
            <a:ext cx="3797300" cy="1163637"/>
            <a:chOff x="804" y="215"/>
            <a:chExt cx="2392" cy="733"/>
          </a:xfrm>
        </p:grpSpPr>
        <p:graphicFrame>
          <p:nvGraphicFramePr>
            <p:cNvPr id="38922" name="Object 8"/>
            <p:cNvGraphicFramePr>
              <a:graphicFrameLocks noChangeAspect="1"/>
            </p:cNvGraphicFramePr>
            <p:nvPr/>
          </p:nvGraphicFramePr>
          <p:xfrm>
            <a:off x="1206" y="258"/>
            <a:ext cx="528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7" imgW="292100" imgH="254000" progId="Equation.DSMT4">
                    <p:embed/>
                  </p:oleObj>
                </mc:Choice>
                <mc:Fallback>
                  <p:oleObj name="" r:id="rId7" imgW="292100" imgH="2540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06" y="258"/>
                          <a:ext cx="528" cy="4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3" name="Text Box 9"/>
            <p:cNvSpPr txBox="1"/>
            <p:nvPr/>
          </p:nvSpPr>
          <p:spPr>
            <a:xfrm>
              <a:off x="1621" y="215"/>
              <a:ext cx="1575" cy="51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# of edges</a:t>
              </a:r>
              <a:endParaRPr lang="en-US" altLang="zh-CN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  <a:p>
              <a:pPr eaLnBrk="0" hangingPunct="0">
                <a:buClrTx/>
                <a:buFontTx/>
              </a:pPr>
              <a:r>
                <a:rPr lang="en-US" altLang="zh-CN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coming from </a:t>
              </a:r>
              <a:r>
                <a:rPr lang="en-US" altLang="zh-CN" i="1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x</a:t>
              </a:r>
              <a:endParaRPr lang="en-US" altLang="zh-CN" i="1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</p:txBody>
        </p:sp>
        <p:sp>
          <p:nvSpPr>
            <p:cNvPr id="38924" name="Text Box 10"/>
            <p:cNvSpPr txBox="1"/>
            <p:nvPr/>
          </p:nvSpPr>
          <p:spPr>
            <a:xfrm>
              <a:off x="804" y="621"/>
              <a:ext cx="101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vertex</a:t>
              </a: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 </a:t>
              </a:r>
              <a:r>
                <a:rPr lang="en-US" altLang="zh-CN" i="1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x</a:t>
              </a:r>
              <a:endParaRPr lang="en-US" altLang="zh-CN" i="1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1381125" y="2379663"/>
            <a:ext cx="4879975" cy="946150"/>
            <a:chOff x="870" y="1499"/>
            <a:chExt cx="3074" cy="596"/>
          </a:xfrm>
        </p:grpSpPr>
        <p:graphicFrame>
          <p:nvGraphicFramePr>
            <p:cNvPr id="38926" name="Object 12"/>
            <p:cNvGraphicFramePr>
              <a:graphicFrameLocks noChangeAspect="1"/>
            </p:cNvGraphicFramePr>
            <p:nvPr/>
          </p:nvGraphicFramePr>
          <p:xfrm>
            <a:off x="3280" y="1662"/>
            <a:ext cx="664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9" imgW="457200" imgH="177800" progId="Equation.DSMT4">
                    <p:embed/>
                  </p:oleObj>
                </mc:Choice>
                <mc:Fallback>
                  <p:oleObj name="" r:id="rId9" imgW="457200" imgH="1778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80" y="1662"/>
                          <a:ext cx="664" cy="258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7" name="Text Box 13"/>
            <p:cNvSpPr txBox="1"/>
            <p:nvPr/>
          </p:nvSpPr>
          <p:spPr>
            <a:xfrm>
              <a:off x="870" y="1499"/>
              <a:ext cx="2291" cy="596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Each edge belongs to 2 faces:</a:t>
              </a:r>
              <a:endPara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1346200" y="3646488"/>
            <a:ext cx="5653088" cy="519112"/>
            <a:chOff x="848" y="2297"/>
            <a:chExt cx="3561" cy="327"/>
          </a:xfrm>
        </p:grpSpPr>
        <p:graphicFrame>
          <p:nvGraphicFramePr>
            <p:cNvPr id="38929" name="Object 15"/>
            <p:cNvGraphicFramePr>
              <a:graphicFrameLocks noChangeAspect="1"/>
            </p:cNvGraphicFramePr>
            <p:nvPr/>
          </p:nvGraphicFramePr>
          <p:xfrm>
            <a:off x="3318" y="2339"/>
            <a:ext cx="1091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1" imgW="748665" imgH="177800" progId="Equation.DSMT4">
                    <p:embed/>
                  </p:oleObj>
                </mc:Choice>
                <mc:Fallback>
                  <p:oleObj name="" r:id="rId11" imgW="748665" imgH="1778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18" y="2339"/>
                          <a:ext cx="1091" cy="259"/>
                        </a:xfrm>
                        <a:prstGeom prst="rect">
                          <a:avLst/>
                        </a:prstGeom>
                        <a:noFill/>
                        <a:ln w="2857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0" name="Text Box 16"/>
            <p:cNvSpPr txBox="1"/>
            <p:nvPr/>
          </p:nvSpPr>
          <p:spPr>
            <a:xfrm>
              <a:off x="848" y="2297"/>
              <a:ext cx="225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274320" rIns="274320" anchor="t" anchorCtr="0">
              <a:spAutoFit/>
            </a:bodyPr>
            <a:p>
              <a:pPr eaLnBrk="0" hangingPunct="0">
                <a:buClrTx/>
                <a:buFontTx/>
              </a:pPr>
              <a:r>
                <a:rPr lang="en-US" altLang="zh-CN" sz="2800" dirty="0">
                  <a:solidFill>
                    <a:schemeClr val="folHlink"/>
                  </a:solidFill>
                  <a:latin typeface="Georgia" panose="02040502050405090303" pitchFamily="18" charset="0"/>
                </a:rPr>
                <a:t>By Euler’s formula:</a:t>
              </a:r>
              <a:endPara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endParaRPr>
            </a:p>
          </p:txBody>
        </p:sp>
      </p:grpSp>
      <p:grpSp>
        <p:nvGrpSpPr>
          <p:cNvPr id="6" name="Group 17"/>
          <p:cNvGrpSpPr/>
          <p:nvPr/>
        </p:nvGrpSpPr>
        <p:grpSpPr>
          <a:xfrm>
            <a:off x="1136650" y="4398963"/>
            <a:ext cx="6518275" cy="1266825"/>
            <a:chOff x="716" y="2771"/>
            <a:chExt cx="4106" cy="798"/>
          </a:xfrm>
        </p:grpSpPr>
        <p:graphicFrame>
          <p:nvGraphicFramePr>
            <p:cNvPr id="38932" name="Object 18"/>
            <p:cNvGraphicFramePr>
              <a:graphicFrameLocks noChangeAspect="1"/>
            </p:cNvGraphicFramePr>
            <p:nvPr/>
          </p:nvGraphicFramePr>
          <p:xfrm>
            <a:off x="716" y="3079"/>
            <a:ext cx="4106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3" imgW="3302000" imgH="393700" progId="Equation.DSMT4">
                    <p:embed/>
                  </p:oleObj>
                </mc:Choice>
                <mc:Fallback>
                  <p:oleObj name="" r:id="rId13" imgW="3302000" imgH="393700" progId="Equation.DSMT4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16" y="3079"/>
                          <a:ext cx="4106" cy="4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3" name="AutoShape 19"/>
            <p:cNvSpPr/>
            <p:nvPr/>
          </p:nvSpPr>
          <p:spPr>
            <a:xfrm rot="5400000">
              <a:off x="2561" y="1235"/>
              <a:ext cx="270" cy="3333"/>
            </a:xfrm>
            <a:prstGeom prst="rightBrace">
              <a:avLst>
                <a:gd name="adj1" fmla="val 102641"/>
                <a:gd name="adj2" fmla="val 50000"/>
              </a:avLst>
            </a:prstGeom>
            <a:noFill/>
            <a:ln w="28575" cap="sq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274320" rIns="274320" anchor="ctr" anchorCtr="0">
              <a:spAutoFit/>
            </a:bodyPr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503050405090304" pitchFamily="18" charset="0"/>
              </a:endParaRPr>
            </a:p>
          </p:txBody>
        </p:sp>
      </p:grpSp>
      <p:sp>
        <p:nvSpPr>
          <p:cNvPr id="684052" name="Text Box 20"/>
          <p:cNvSpPr txBox="1"/>
          <p:nvPr/>
        </p:nvSpPr>
        <p:spPr>
          <a:xfrm>
            <a:off x="1670050" y="5726113"/>
            <a:ext cx="5465763" cy="519112"/>
          </a:xfrm>
          <a:prstGeom prst="rect">
            <a:avLst/>
          </a:prstGeom>
          <a:noFill/>
          <a:ln w="12700">
            <a:noFill/>
          </a:ln>
        </p:spPr>
        <p:txBody>
          <a:bodyPr wrap="none" lIns="274320" rIns="274320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and  </a:t>
            </a:r>
            <a:r>
              <a:rPr lang="en-US" altLang="zh-CN" sz="2800" i="1" dirty="0">
                <a:solidFill>
                  <a:schemeClr val="folHlink"/>
                </a:solidFill>
                <a:latin typeface="Georgia" panose="02040502050405090303" pitchFamily="18" charset="0"/>
              </a:rPr>
              <a:t>k</a:t>
            </a: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,</a:t>
            </a:r>
            <a:r>
              <a:rPr lang="en-US" altLang="zh-CN" sz="2800" i="1" dirty="0">
                <a:solidFill>
                  <a:schemeClr val="folHlink"/>
                </a:solidFill>
                <a:latin typeface="Georgia" panose="02040502050405090303" pitchFamily="18" charset="0"/>
              </a:rPr>
              <a:t>l</a:t>
            </a: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 </a:t>
            </a: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3 for physical reasons</a:t>
            </a:r>
            <a:endParaRPr lang="en-US" altLang="zh-CN" sz="2800" dirty="0">
              <a:solidFill>
                <a:schemeClr val="folHlink"/>
              </a:solidFill>
              <a:latin typeface="Georgia" panose="0204050205040509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5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937" name="Picture 3" descr="dmt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708275"/>
            <a:ext cx="4664075" cy="3097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1" name="Rectangle 2"/>
          <p:cNvSpPr>
            <a:spLocks noGrp="1"/>
          </p:cNvSpPr>
          <p:nvPr>
            <p:ph type="title"/>
          </p:nvPr>
        </p:nvSpPr>
        <p:spPr>
          <a:xfrm>
            <a:off x="1115378" y="4445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The only solutions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graphicFrame>
        <p:nvGraphicFramePr>
          <p:cNvPr id="39942" name="Object 4"/>
          <p:cNvGraphicFramePr>
            <a:graphicFrameLocks noChangeAspect="1"/>
          </p:cNvGraphicFramePr>
          <p:nvPr/>
        </p:nvGraphicFramePr>
        <p:xfrm>
          <a:off x="111125" y="2276475"/>
          <a:ext cx="3059113" cy="337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2" imgW="1219200" imgH="1346200" progId="Equation.DSMT4">
                  <p:embed/>
                </p:oleObj>
              </mc:Choice>
              <mc:Fallback>
                <p:oleObj name="" r:id="rId2" imgW="1219200" imgH="1346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125" y="2276475"/>
                        <a:ext cx="3059113" cy="337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Text Box 5"/>
          <p:cNvSpPr txBox="1"/>
          <p:nvPr/>
        </p:nvSpPr>
        <p:spPr>
          <a:xfrm>
            <a:off x="3148013" y="2679700"/>
            <a:ext cx="2794000" cy="2973388"/>
          </a:xfrm>
          <a:prstGeom prst="rect">
            <a:avLst/>
          </a:prstGeom>
          <a:noFill/>
          <a:ln w="12700">
            <a:noFill/>
          </a:ln>
        </p:spPr>
        <p:txBody>
          <a:bodyPr wrap="none" lIns="274320" rIns="274320" anchor="t" anchorCtr="0">
            <a:spAutoFit/>
          </a:bodyPr>
          <a:p>
            <a:pPr eaLnBrk="0" hangingPunct="0">
              <a:lnSpc>
                <a:spcPct val="135000"/>
              </a:lnSpc>
              <a:buClrTx/>
              <a:buFontTx/>
            </a:pP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tetrahedron</a:t>
            </a:r>
            <a:endParaRPr lang="en-US" altLang="zh-CN" sz="2800" dirty="0">
              <a:solidFill>
                <a:schemeClr val="folHlink"/>
              </a:solidFill>
              <a:latin typeface="Georgia" panose="02040502050405090303" pitchFamily="18" charset="0"/>
            </a:endParaRPr>
          </a:p>
          <a:p>
            <a:pPr eaLnBrk="0" hangingPunct="0">
              <a:lnSpc>
                <a:spcPct val="135000"/>
              </a:lnSpc>
              <a:buClrTx/>
              <a:buFontTx/>
            </a:pP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cube</a:t>
            </a:r>
            <a:endParaRPr lang="en-US" altLang="zh-CN" sz="2800" dirty="0">
              <a:solidFill>
                <a:schemeClr val="folHlink"/>
              </a:solidFill>
              <a:latin typeface="Georgia" panose="02040502050405090303" pitchFamily="18" charset="0"/>
            </a:endParaRPr>
          </a:p>
          <a:p>
            <a:pPr eaLnBrk="0" hangingPunct="0">
              <a:lnSpc>
                <a:spcPct val="135000"/>
              </a:lnSpc>
              <a:buClrTx/>
              <a:buFontTx/>
            </a:pP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octahedron</a:t>
            </a:r>
            <a:endParaRPr lang="en-US" altLang="zh-CN" sz="2800" dirty="0">
              <a:solidFill>
                <a:schemeClr val="folHlink"/>
              </a:solidFill>
              <a:latin typeface="Georgia" panose="02040502050405090303" pitchFamily="18" charset="0"/>
            </a:endParaRPr>
          </a:p>
          <a:p>
            <a:pPr eaLnBrk="0" hangingPunct="0">
              <a:lnSpc>
                <a:spcPct val="135000"/>
              </a:lnSpc>
              <a:buClrTx/>
              <a:buFontTx/>
            </a:pP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dodecahedron</a:t>
            </a:r>
            <a:endParaRPr lang="en-US" altLang="zh-CN" sz="2800" dirty="0">
              <a:solidFill>
                <a:schemeClr val="folHlink"/>
              </a:solidFill>
              <a:latin typeface="Georgia" panose="02040502050405090303" pitchFamily="18" charset="0"/>
            </a:endParaRPr>
          </a:p>
          <a:p>
            <a:pPr eaLnBrk="0" hangingPunct="0">
              <a:lnSpc>
                <a:spcPct val="135000"/>
              </a:lnSpc>
              <a:buClrTx/>
              <a:buFontTx/>
            </a:pPr>
            <a:r>
              <a:rPr lang="en-US" altLang="zh-CN" sz="2800" dirty="0">
                <a:solidFill>
                  <a:schemeClr val="folHlink"/>
                </a:solidFill>
                <a:latin typeface="Georgia" panose="02040502050405090303" pitchFamily="18" charset="0"/>
              </a:rPr>
              <a:t>icosahedron</a:t>
            </a:r>
            <a:endParaRPr lang="en-US" altLang="zh-CN" sz="2800" dirty="0">
              <a:solidFill>
                <a:schemeClr val="folHlink"/>
              </a:solidFill>
              <a:latin typeface="Georgia" panose="02040502050405090303" pitchFamily="18" charset="0"/>
            </a:endParaRPr>
          </a:p>
        </p:txBody>
      </p:sp>
      <p:pic>
        <p:nvPicPr>
          <p:cNvPr id="39944" name="Picture 6" descr="仅有的五种正多面体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1700213"/>
            <a:ext cx="2286000" cy="754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1042988" y="59690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grpSp>
        <p:nvGrpSpPr>
          <p:cNvPr id="40965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40966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p>
              <a:pPr algn="ctr" defTabSz="992505" eaLnBrk="0" hangingPunct="0"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</a:endParaRPr>
            </a:p>
          </p:txBody>
        </p:sp>
        <p:grpSp>
          <p:nvGrpSpPr>
            <p:cNvPr id="40967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40968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1" y="7"/>
                  </a:cxn>
                  <a:cxn ang="0">
                    <a:pos x="12" y="19"/>
                  </a:cxn>
                  <a:cxn ang="0">
                    <a:pos x="14" y="46"/>
                  </a:cxn>
                  <a:cxn ang="0">
                    <a:pos x="14" y="64"/>
                  </a:cxn>
                  <a:cxn ang="0">
                    <a:pos x="14" y="89"/>
                  </a:cxn>
                  <a:cxn ang="0">
                    <a:pos x="14" y="117"/>
                  </a:cxn>
                  <a:cxn ang="0">
                    <a:pos x="14" y="147"/>
                  </a:cxn>
                  <a:cxn ang="0">
                    <a:pos x="14" y="177"/>
                  </a:cxn>
                  <a:cxn ang="0">
                    <a:pos x="14" y="217"/>
                  </a:cxn>
                  <a:cxn ang="0">
                    <a:pos x="12" y="244"/>
                  </a:cxn>
                  <a:cxn ang="0">
                    <a:pos x="10" y="264"/>
                  </a:cxn>
                  <a:cxn ang="0">
                    <a:pos x="8" y="274"/>
                  </a:cxn>
                  <a:cxn ang="0">
                    <a:pos x="5" y="264"/>
                  </a:cxn>
                  <a:cxn ang="0">
                    <a:pos x="3" y="231"/>
                  </a:cxn>
                  <a:cxn ang="0">
                    <a:pos x="2" y="201"/>
                  </a:cxn>
                  <a:cxn ang="0">
                    <a:pos x="2" y="164"/>
                  </a:cxn>
                  <a:cxn ang="0">
                    <a:pos x="0" y="131"/>
                  </a:cxn>
                  <a:cxn ang="0">
                    <a:pos x="0" y="85"/>
                  </a:cxn>
                  <a:cxn ang="0">
                    <a:pos x="2" y="52"/>
                  </a:cxn>
                  <a:cxn ang="0">
                    <a:pos x="2" y="29"/>
                  </a:cxn>
                  <a:cxn ang="0">
                    <a:pos x="3" y="0"/>
                  </a:cxn>
                  <a:cxn ang="0">
                    <a:pos x="6" y="0"/>
                  </a:cxn>
                </a:cxnLst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40969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40970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971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972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973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27328556"/>
                    </a:cxn>
                    <a:cxn ang="0">
                      <a:pos x="0" y="26128457"/>
                    </a:cxn>
                    <a:cxn ang="0">
                      <a:pos x="24" y="25209985"/>
                    </a:cxn>
                    <a:cxn ang="0">
                      <a:pos x="88" y="24297286"/>
                    </a:cxn>
                    <a:cxn ang="0">
                      <a:pos x="208" y="22567862"/>
                    </a:cxn>
                    <a:cxn ang="0">
                      <a:pos x="353" y="19921269"/>
                    </a:cxn>
                    <a:cxn ang="0">
                      <a:pos x="431" y="17529097"/>
                    </a:cxn>
                    <a:cxn ang="0">
                      <a:pos x="467" y="16239674"/>
                    </a:cxn>
                    <a:cxn ang="0">
                      <a:pos x="504" y="12736158"/>
                    </a:cxn>
                    <a:cxn ang="0">
                      <a:pos x="497" y="7878680"/>
                    </a:cxn>
                    <a:cxn ang="0">
                      <a:pos x="482" y="5498375"/>
                    </a:cxn>
                    <a:cxn ang="0">
                      <a:pos x="473" y="4579479"/>
                    </a:cxn>
                    <a:cxn ang="0">
                      <a:pos x="326" y="3294606"/>
                    </a:cxn>
                    <a:cxn ang="0">
                      <a:pos x="322" y="2821766"/>
                    </a:cxn>
                    <a:cxn ang="0">
                      <a:pos x="337" y="2559887"/>
                    </a:cxn>
                    <a:cxn ang="0">
                      <a:pos x="473" y="3294606"/>
                    </a:cxn>
                    <a:cxn ang="0">
                      <a:pos x="504" y="3117976"/>
                    </a:cxn>
                    <a:cxn ang="0">
                      <a:pos x="420" y="364841"/>
                    </a:cxn>
                    <a:cxn ang="0">
                      <a:pos x="431" y="0"/>
                    </a:cxn>
                    <a:cxn ang="0">
                      <a:pos x="462" y="92981"/>
                    </a:cxn>
                    <a:cxn ang="0">
                      <a:pos x="539" y="2486943"/>
                    </a:cxn>
                    <a:cxn ang="0">
                      <a:pos x="561" y="2559887"/>
                    </a:cxn>
                    <a:cxn ang="0">
                      <a:pos x="602" y="92981"/>
                    </a:cxn>
                    <a:cxn ang="0">
                      <a:pos x="628" y="0"/>
                    </a:cxn>
                    <a:cxn ang="0">
                      <a:pos x="639" y="445394"/>
                    </a:cxn>
                    <a:cxn ang="0">
                      <a:pos x="607" y="3117976"/>
                    </a:cxn>
                    <a:cxn ang="0">
                      <a:pos x="618" y="3502227"/>
                    </a:cxn>
                    <a:cxn ang="0">
                      <a:pos x="742" y="3117976"/>
                    </a:cxn>
                    <a:cxn ang="0">
                      <a:pos x="764" y="3294606"/>
                    </a:cxn>
                    <a:cxn ang="0">
                      <a:pos x="758" y="3770172"/>
                    </a:cxn>
                    <a:cxn ang="0">
                      <a:pos x="591" y="4505682"/>
                    </a:cxn>
                    <a:cxn ang="0">
                      <a:pos x="576" y="4866986"/>
                    </a:cxn>
                    <a:cxn ang="0">
                      <a:pos x="561" y="6514439"/>
                    </a:cxn>
                    <a:cxn ang="0">
                      <a:pos x="561" y="8903906"/>
                    </a:cxn>
                    <a:cxn ang="0">
                      <a:pos x="565" y="12384164"/>
                    </a:cxn>
                    <a:cxn ang="0">
                      <a:pos x="561" y="15594170"/>
                    </a:cxn>
                    <a:cxn ang="0">
                      <a:pos x="550" y="17049001"/>
                    </a:cxn>
                    <a:cxn ang="0">
                      <a:pos x="467" y="19343888"/>
                    </a:cxn>
                    <a:cxn ang="0">
                      <a:pos x="374" y="21737921"/>
                    </a:cxn>
                    <a:cxn ang="0">
                      <a:pos x="274" y="24297286"/>
                    </a:cxn>
                    <a:cxn ang="0">
                      <a:pos x="191" y="26758857"/>
                    </a:cxn>
                    <a:cxn ang="0">
                      <a:pos x="134" y="28148463"/>
                    </a:cxn>
                    <a:cxn ang="0">
                      <a:pos x="51" y="28508793"/>
                    </a:cxn>
                    <a:cxn ang="0">
                      <a:pos x="15" y="27328556"/>
                    </a:cxn>
                  </a:cxnLst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0974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686094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Please feel free </a:t>
            </a:r>
            <a:endParaRPr lang="en-US" altLang="zh-CN" sz="3900" dirty="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8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9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>
          <a:xfrm>
            <a:off x="1115378" y="116840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419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zh-CN" altLang="en-US" dirty="0"/>
              <a:t>是连通平面图，</a:t>
            </a:r>
            <a:r>
              <a:rPr lang="en-US" altLang="zh-CN" i="1" dirty="0"/>
              <a:t>G</a:t>
            </a:r>
            <a:r>
              <a:rPr lang="zh-CN" altLang="en-US" dirty="0"/>
              <a:t>的每个面的度数大于等于</a:t>
            </a:r>
            <a:r>
              <a:rPr lang="en-US" altLang="zh-CN" i="1" dirty="0"/>
              <a:t>l </a:t>
            </a:r>
            <a:r>
              <a:rPr lang="en-US" altLang="zh-CN" dirty="0"/>
              <a:t>(</a:t>
            </a:r>
            <a:r>
              <a:rPr lang="en-US" altLang="zh-CN" i="1" dirty="0"/>
              <a:t>l 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3)</a:t>
            </a:r>
            <a:r>
              <a:rPr lang="zh-CN" altLang="en-US" dirty="0"/>
              <a:t>，则</a:t>
            </a:r>
            <a:endParaRPr lang="zh-CN" altLang="en-US" dirty="0"/>
          </a:p>
          <a:p>
            <a:pPr lvl="1" eaLnBrk="1" hangingPunct="1"/>
            <a:r>
              <a:rPr lang="en-US" altLang="zh-CN" i="1" dirty="0"/>
              <a:t>e </a:t>
            </a:r>
            <a:r>
              <a:rPr lang="zh-CN" altLang="en-US" dirty="0">
                <a:sym typeface="Symbol" panose="05050102010706020507" pitchFamily="18" charset="2"/>
              </a:rPr>
              <a:t> </a:t>
            </a: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-2)/(</a:t>
            </a:r>
            <a:r>
              <a:rPr lang="en-US" altLang="zh-CN" i="1" dirty="0"/>
              <a:t>l</a:t>
            </a:r>
            <a:r>
              <a:rPr lang="en-US" altLang="zh-CN" dirty="0"/>
              <a:t>-2)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用上述性质证明</a:t>
            </a:r>
            <a:r>
              <a:rPr lang="en-US" altLang="zh-CN" i="1" dirty="0"/>
              <a:t>K</a:t>
            </a:r>
            <a:r>
              <a:rPr lang="en-US" altLang="zh-CN" baseline="-25000" dirty="0"/>
              <a:t>3,3</a:t>
            </a:r>
            <a:r>
              <a:rPr lang="zh-CN" altLang="en-US" dirty="0"/>
              <a:t>不是平面图。</a:t>
            </a:r>
            <a:endParaRPr lang="zh-CN" altLang="en-US" dirty="0"/>
          </a:p>
          <a:p>
            <a:pPr eaLnBrk="1" hangingPunct="1"/>
            <a:r>
              <a:rPr lang="en-US" altLang="zh-CN" dirty="0"/>
              <a:t>§10.7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6, 8, 12, 18, 24, 30</a:t>
            </a:r>
            <a:endParaRPr lang="en-US" altLang="zh-CN" dirty="0"/>
          </a:p>
          <a:p>
            <a:pPr lvl="1"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316e440f-2471-481d-a0ff-f47d09f7c659"/>
  <p:tag name="COMMONDATA" val="eyJoZGlkIjoiYjZhMmY1NGQwZjE0MWY4MTkzZjM4YzBiNDA1ZmM3ZDEifQ=="/>
  <p:tag name="commondata" val="eyJoZGlkIjoiYmVhZjkwODNmYWU4ZjEyODhhY2JmMGIzNjQ3MTYzNDIifQ==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0</TotalTime>
  <Words>5846</Words>
  <Application>WPS 演示</Application>
  <PresentationFormat>全屏显示(4:3)</PresentationFormat>
  <Paragraphs>466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30</vt:i4>
      </vt:variant>
      <vt:variant>
        <vt:lpstr>幻灯片标题</vt:lpstr>
      </vt:variant>
      <vt:variant>
        <vt:i4>37</vt:i4>
      </vt:variant>
    </vt:vector>
  </HeadingPairs>
  <TitlesOfParts>
    <vt:vector size="90" baseType="lpstr">
      <vt:lpstr>Arial</vt:lpstr>
      <vt:lpstr>宋体</vt:lpstr>
      <vt:lpstr>Wingdings</vt:lpstr>
      <vt:lpstr>Times New Roman</vt:lpstr>
      <vt:lpstr>汉仪书宋二KW</vt:lpstr>
      <vt:lpstr>Arial Narrow</vt:lpstr>
      <vt:lpstr>Tahoma</vt:lpstr>
      <vt:lpstr>Copperplate Gothic Light</vt:lpstr>
      <vt:lpstr>苹方-简</vt:lpstr>
      <vt:lpstr>Courier New</vt:lpstr>
      <vt:lpstr>Copperplate Gothic Bold</vt:lpstr>
      <vt:lpstr>华文新魏</vt:lpstr>
      <vt:lpstr>宋体-简</vt:lpstr>
      <vt:lpstr>Georgia</vt:lpstr>
      <vt:lpstr>微软雅黑</vt:lpstr>
      <vt:lpstr>汉仪旗黑</vt:lpstr>
      <vt:lpstr>宋体</vt:lpstr>
      <vt:lpstr>Arial Unicode MS</vt:lpstr>
      <vt:lpstr>Symbol</vt:lpstr>
      <vt:lpstr>Kingsoft Sign</vt:lpstr>
      <vt:lpstr>Arial Rounded MT Bold</vt:lpstr>
      <vt:lpstr>Comic Sans MS</vt:lpstr>
      <vt:lpstr>1_Blends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Planar Graphs </vt:lpstr>
      <vt:lpstr>Planar Graphs – 平面图</vt:lpstr>
      <vt:lpstr>Is K5 planar?</vt:lpstr>
      <vt:lpstr>What about K3,3 ?</vt:lpstr>
      <vt:lpstr>Why Planar?</vt:lpstr>
      <vt:lpstr>Regions, faces – 面</vt:lpstr>
      <vt:lpstr>the degree of a region deg(R)</vt:lpstr>
      <vt:lpstr>the degree of a region</vt:lpstr>
      <vt:lpstr>Question</vt:lpstr>
      <vt:lpstr>Example</vt:lpstr>
      <vt:lpstr>Example</vt:lpstr>
      <vt:lpstr>Euler Theorem 1752</vt:lpstr>
      <vt:lpstr>Proof:</vt:lpstr>
      <vt:lpstr>Inductive step</vt:lpstr>
      <vt:lpstr>Inductive step</vt:lpstr>
      <vt:lpstr>Another Proof</vt:lpstr>
      <vt:lpstr> proceed by induction</vt:lpstr>
      <vt:lpstr>Corollary</vt:lpstr>
      <vt:lpstr>Theorem</vt:lpstr>
      <vt:lpstr>Proof</vt:lpstr>
      <vt:lpstr>Proof</vt:lpstr>
      <vt:lpstr>corollary</vt:lpstr>
      <vt:lpstr>K5 is not planar</vt:lpstr>
      <vt:lpstr>K3,3 is not planar either</vt:lpstr>
      <vt:lpstr>The Kuratowski’s theorem</vt:lpstr>
      <vt:lpstr>Example 7</vt:lpstr>
      <vt:lpstr>Kuratowski’s Theorem [1930]</vt:lpstr>
      <vt:lpstr>Example 8</vt:lpstr>
      <vt:lpstr>Example 9</vt:lpstr>
      <vt:lpstr>PowerPoint 演示文稿</vt:lpstr>
      <vt:lpstr>完全正则图</vt:lpstr>
      <vt:lpstr>Platonic Solids– 柏拉图体</vt:lpstr>
      <vt:lpstr>Platonic Solids</vt:lpstr>
      <vt:lpstr>PowerPoint 演示文稿</vt:lpstr>
      <vt:lpstr>The only solutions</vt:lpstr>
      <vt:lpstr>PowerPoint 演示文稿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367</cp:revision>
  <dcterms:created xsi:type="dcterms:W3CDTF">2025-05-28T10:06:15Z</dcterms:created>
  <dcterms:modified xsi:type="dcterms:W3CDTF">2025-05-28T10:06:15Z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545B3321497F4F2B9AEA3292B834826C</vt:lpwstr>
  </property>
  <property fmtid="{D5CDD505-2E9C-101B-9397-08002B2CF9AE}" pid="3" name="KSOProductBuildVer">
    <vt:lpwstr>2052-6.9.0.8865</vt:lpwstr>
  </property>
</Properties>
</file>