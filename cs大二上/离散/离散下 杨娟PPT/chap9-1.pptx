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6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598" r:id="rId2"/>
    <p:sldId id="583" r:id="rId3"/>
    <p:sldId id="584" r:id="rId4"/>
    <p:sldId id="585" r:id="rId5"/>
    <p:sldId id="635" r:id="rId6"/>
    <p:sldId id="636" r:id="rId7"/>
    <p:sldId id="637" r:id="rId8"/>
    <p:sldId id="599" r:id="rId9"/>
    <p:sldId id="638" r:id="rId10"/>
    <p:sldId id="662" r:id="rId11"/>
    <p:sldId id="586" r:id="rId12"/>
    <p:sldId id="587" r:id="rId13"/>
    <p:sldId id="663" r:id="rId14"/>
    <p:sldId id="641" r:id="rId15"/>
    <p:sldId id="642" r:id="rId16"/>
    <p:sldId id="649" r:id="rId17"/>
    <p:sldId id="650" r:id="rId18"/>
    <p:sldId id="651" r:id="rId19"/>
    <p:sldId id="643" r:id="rId20"/>
    <p:sldId id="652" r:id="rId21"/>
    <p:sldId id="664" r:id="rId22"/>
    <p:sldId id="665" r:id="rId23"/>
    <p:sldId id="666" r:id="rId24"/>
    <p:sldId id="667" r:id="rId25"/>
    <p:sldId id="668" r:id="rId26"/>
    <p:sldId id="669" r:id="rId27"/>
    <p:sldId id="670" r:id="rId28"/>
    <p:sldId id="696" r:id="rId29"/>
    <p:sldId id="671" r:id="rId30"/>
    <p:sldId id="672" r:id="rId31"/>
    <p:sldId id="673" r:id="rId32"/>
    <p:sldId id="674" r:id="rId33"/>
    <p:sldId id="675" r:id="rId34"/>
    <p:sldId id="676" r:id="rId35"/>
    <p:sldId id="677" r:id="rId36"/>
    <p:sldId id="678" r:id="rId37"/>
    <p:sldId id="679" r:id="rId38"/>
    <p:sldId id="680" r:id="rId39"/>
    <p:sldId id="681" r:id="rId40"/>
    <p:sldId id="682" r:id="rId41"/>
    <p:sldId id="683" r:id="rId42"/>
    <p:sldId id="684" r:id="rId43"/>
    <p:sldId id="685" r:id="rId44"/>
    <p:sldId id="686" r:id="rId45"/>
  </p:sldIdLst>
  <p:sldSz cx="9144000" cy="6858000" type="screen4x3"/>
  <p:notesSz cx="6669088" cy="9926638"/>
  <p:custDataLst>
    <p:tags r:id="rId48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64" userDrawn="1">
          <p15:clr>
            <a:srgbClr val="A4A3A4"/>
          </p15:clr>
        </p15:guide>
        <p15:guide id="2" pos="4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90"/>
    <p:restoredTop sz="94747"/>
  </p:normalViewPr>
  <p:slideViewPr>
    <p:cSldViewPr showGuides="1">
      <p:cViewPr varScale="1">
        <p:scale>
          <a:sx n="92" d="100"/>
          <a:sy n="92" d="100"/>
        </p:scale>
        <p:origin x="704" y="184"/>
      </p:cViewPr>
      <p:guideLst>
        <p:guide orient="horz" pos="1464"/>
        <p:guide pos="48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0" hangingPunct="0">
              <a:defRPr kumimoji="0" sz="1200" b="0" i="0" u="none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kumimoji="0" sz="1200" b="0" i="0" u="none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0" hangingPunct="0">
              <a:defRPr kumimoji="0" sz="1200" b="0" i="0" u="none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kumimoji="0" sz="1200" b="0" i="0" u="none" smtClean="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14F391-9726-4848-9E66-24EA3E3BE78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0" hangingPunct="0">
              <a:defRPr kumimoji="0" sz="1200" b="0" i="0" u="none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kumimoji="0" sz="1200" b="0" i="0" u="none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Fifth level</a:t>
            </a: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kumimoji="0" sz="1200" b="0" i="0" u="none" smtClean="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70BA58-EB81-4544-887B-0DF96395E4AB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01725" y="1241425"/>
            <a:ext cx="4465638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kumimoji="1" sz="1200"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1" u="sng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7" descr="attach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2" name="Group 3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053" name="Rectangle 4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lvl="0" algn="ctr" eaLnBrk="0" hangingPunct="0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4" name="Rectangle 5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lvl="0" algn="ctr" eaLnBrk="0" hangingPunct="0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55" name="Group 6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056" name="Rectangle 7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lvl="0" algn="ctr" eaLnBrk="0" hangingPunct="0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7" name="Rectangle 8"/>
              <p:cNvSpPr/>
              <p:nvPr/>
            </p:nvSpPr>
            <p:spPr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lvl="0" algn="ctr" eaLnBrk="0" hangingPunct="0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58" name="Rectangle 9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lvl="0" algn="ctr" eaLnBrk="0" hangingPunc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059" name="Rectangle 10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lstStyle/>
            <a:p>
              <a:pPr lvl="0" algn="ctr" eaLnBrk="0" hangingPunc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060" name="Rectangle 11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lvl="0" algn="ctr" eaLnBrk="0" hangingPunc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061" name="Text Box 18"/>
          <p:cNvSpPr txBox="1"/>
          <p:nvPr userDrawn="1"/>
        </p:nvSpPr>
        <p:spPr>
          <a:xfrm>
            <a:off x="2509838" y="4581525"/>
            <a:ext cx="5694362" cy="163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lvl="0" algn="r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b="0" i="0" u="none" dirty="0">
                <a:solidFill>
                  <a:schemeClr val="folHlink"/>
                </a:solidFill>
                <a:latin typeface="Copperplate Gothic Light" panose="020E0507020206020404" pitchFamily="34" charset="0"/>
              </a:rPr>
              <a:t>Yang Juan</a:t>
            </a:r>
          </a:p>
          <a:p>
            <a:pPr lvl="0" algn="r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1600" b="0" i="0" u="none" dirty="0">
                <a:solidFill>
                  <a:srgbClr val="009999"/>
                </a:solidFill>
                <a:latin typeface="Times New Roman" panose="02020603050405020304" pitchFamily="18" charset="0"/>
              </a:rPr>
              <a:t>yangjuan@bupt.edu.cn</a:t>
            </a:r>
          </a:p>
          <a:p>
            <a:pPr lvl="0" algn="r">
              <a:spcBef>
                <a:spcPct val="20000"/>
              </a:spcBef>
              <a:buClr>
                <a:schemeClr val="folHlink"/>
              </a:buClr>
              <a:buSzPct val="60000"/>
            </a:pPr>
            <a:endParaRPr lang="en-US" altLang="zh-CN" sz="1600" b="0" i="0" u="none" dirty="0">
              <a:solidFill>
                <a:srgbClr val="009999"/>
              </a:solidFill>
              <a:latin typeface="Tahoma" panose="020B0604030504040204" pitchFamily="34" charset="0"/>
            </a:endParaRPr>
          </a:p>
          <a:p>
            <a:pPr lvl="0" algn="r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1600" b="0" i="0" u="none" dirty="0">
                <a:solidFill>
                  <a:srgbClr val="009999"/>
                </a:solidFill>
                <a:latin typeface="Copperplate Gothic Light" panose="020E0507020206020404" pitchFamily="34" charset="0"/>
              </a:rPr>
              <a:t>School of Computer Science</a:t>
            </a:r>
          </a:p>
          <a:p>
            <a:pPr lvl="0" algn="r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1600" b="0" i="0" u="none" dirty="0">
                <a:solidFill>
                  <a:srgbClr val="009999"/>
                </a:solidFill>
                <a:latin typeface="Copperplate Gothic Light" panose="020E0507020206020404" pitchFamily="34" charset="0"/>
              </a:rPr>
              <a:t>Beijing University of Posts &amp; Telecommunications</a:t>
            </a:r>
            <a:endParaRPr lang="zh-CN" altLang="en-US" sz="1600" b="0" i="0" u="none" dirty="0">
              <a:latin typeface="Times New Roman" panose="02020603050405020304" pitchFamily="18" charset="0"/>
            </a:endParaRPr>
          </a:p>
        </p:txBody>
      </p:sp>
      <p:sp>
        <p:nvSpPr>
          <p:cNvPr id="1536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536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27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D7BFCE-5B68-4B5C-8E85-68465541942A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28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29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 smtClean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6F6C25-1491-4855-9E16-7496C8029F2A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579D58-6002-4DCD-9208-6CB8A51E4A6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F2F979-A234-4A38-9232-6D22354A0D44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2025/9/24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579D58-6002-4DCD-9208-6CB8A51E4A6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F2F979-A234-4A38-9232-6D22354A0D44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2025/9/24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579D58-6002-4DCD-9208-6CB8A51E4A6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F2F979-A234-4A38-9232-6D22354A0D44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2025/9/24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579D58-6002-4DCD-9208-6CB8A51E4A6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F2F979-A234-4A38-9232-6D22354A0D44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2025/9/24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579D58-6002-4DCD-9208-6CB8A51E4A6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F2F979-A234-4A38-9232-6D22354A0D44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2025/9/24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579D58-6002-4DCD-9208-6CB8A51E4A6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F2F979-A234-4A38-9232-6D22354A0D44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2025/9/24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579D58-6002-4DCD-9208-6CB8A51E4A6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F2F979-A234-4A38-9232-6D22354A0D44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2025/9/24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579D58-6002-4DCD-9208-6CB8A51E4A6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F2F979-A234-4A38-9232-6D22354A0D44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2025/9/24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579D58-6002-4DCD-9208-6CB8A51E4A6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F2F979-A234-4A38-9232-6D22354A0D44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2025/9/24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579D58-6002-4DCD-9208-6CB8A51E4A6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F2F979-A234-4A38-9232-6D22354A0D44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2025/9/24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579D58-6002-4DCD-9208-6CB8A51E4A6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F2F979-A234-4A38-9232-6D22354A0D44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2025/9/24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8" descr="attach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u="none" smtClean="0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579D58-6002-4DCD-9208-6CB8A51E4A6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2"/>
          <p:cNvSpPr/>
          <p:nvPr/>
        </p:nvSpPr>
        <p:spPr>
          <a:xfrm>
            <a:off x="417513" y="452438"/>
            <a:ext cx="438150" cy="474662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/>
          <a:p>
            <a:pPr lvl="0" algn="ctr"/>
            <a:endParaRPr lang="zh-CN" altLang="en-US" b="0" i="0" u="none" dirty="0">
              <a:latin typeface="Tahoma" panose="020B0604030504040204" pitchFamily="34" charset="0"/>
            </a:endParaRPr>
          </a:p>
        </p:txBody>
      </p:sp>
      <p:sp>
        <p:nvSpPr>
          <p:cNvPr id="1029" name="Rectangle 3"/>
          <p:cNvSpPr/>
          <p:nvPr/>
        </p:nvSpPr>
        <p:spPr>
          <a:xfrm>
            <a:off x="800100" y="4524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algn="ctr"/>
            <a:endParaRPr lang="zh-CN" altLang="en-US" b="0" i="0" u="none" dirty="0">
              <a:latin typeface="Tahoma" panose="020B0604030504040204" pitchFamily="34" charset="0"/>
            </a:endParaRPr>
          </a:p>
        </p:txBody>
      </p:sp>
      <p:sp>
        <p:nvSpPr>
          <p:cNvPr id="1030" name="Rectangle 4"/>
          <p:cNvSpPr/>
          <p:nvPr/>
        </p:nvSpPr>
        <p:spPr>
          <a:xfrm>
            <a:off x="541338" y="874713"/>
            <a:ext cx="422275" cy="474662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lstStyle/>
          <a:p>
            <a:pPr lvl="0" algn="ctr"/>
            <a:endParaRPr lang="zh-CN" altLang="en-US" b="0" i="0" u="none" dirty="0">
              <a:latin typeface="Tahoma" panose="020B0604030504040204" pitchFamily="34" charset="0"/>
            </a:endParaRPr>
          </a:p>
        </p:txBody>
      </p:sp>
      <p:sp>
        <p:nvSpPr>
          <p:cNvPr id="1031" name="Rectangle 5"/>
          <p:cNvSpPr/>
          <p:nvPr/>
        </p:nvSpPr>
        <p:spPr>
          <a:xfrm>
            <a:off x="911225" y="874713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algn="ctr"/>
            <a:endParaRPr lang="zh-CN" altLang="en-US" b="0" i="0" u="none" dirty="0">
              <a:latin typeface="Tahoma" panose="020B0604030504040204" pitchFamily="34" charset="0"/>
            </a:endParaRPr>
          </a:p>
        </p:txBody>
      </p:sp>
      <p:sp>
        <p:nvSpPr>
          <p:cNvPr id="1032" name="Rectangle 6"/>
          <p:cNvSpPr/>
          <p:nvPr/>
        </p:nvSpPr>
        <p:spPr>
          <a:xfrm>
            <a:off x="127000" y="801688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algn="ctr"/>
            <a:endParaRPr lang="zh-CN" altLang="en-US" b="0" i="0" u="none" dirty="0">
              <a:latin typeface="Tahoma" panose="020B0604030504040204" pitchFamily="34" charset="0"/>
            </a:endParaRPr>
          </a:p>
        </p:txBody>
      </p:sp>
      <p:sp>
        <p:nvSpPr>
          <p:cNvPr id="1033" name="Rectangle 7"/>
          <p:cNvSpPr/>
          <p:nvPr/>
        </p:nvSpPr>
        <p:spPr>
          <a:xfrm>
            <a:off x="762000" y="344488"/>
            <a:ext cx="31750" cy="1052512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/>
          <a:p>
            <a:pPr lvl="0" algn="ctr"/>
            <a:endParaRPr lang="zh-CN" altLang="en-US" b="0" i="0" u="none" dirty="0">
              <a:latin typeface="Tahoma" panose="020B0604030504040204" pitchFamily="34" charset="0"/>
            </a:endParaRPr>
          </a:p>
        </p:txBody>
      </p:sp>
      <p:sp>
        <p:nvSpPr>
          <p:cNvPr id="1034" name="Rectangle 8"/>
          <p:cNvSpPr/>
          <p:nvPr/>
        </p:nvSpPr>
        <p:spPr>
          <a:xfrm>
            <a:off x="442913" y="113506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algn="ctr"/>
            <a:endParaRPr lang="zh-CN" altLang="en-US" b="0" i="0" u="none" dirty="0">
              <a:latin typeface="Tahoma" panose="020B0604030504040204" pitchFamily="34" charset="0"/>
            </a:endParaRPr>
          </a:p>
        </p:txBody>
      </p:sp>
      <p:sp>
        <p:nvSpPr>
          <p:cNvPr id="1035" name="Rectangle 9"/>
          <p:cNvSpPr>
            <a:spLocks noGrp="1"/>
          </p:cNvSpPr>
          <p:nvPr>
            <p:ph type="title"/>
          </p:nvPr>
        </p:nvSpPr>
        <p:spPr>
          <a:xfrm>
            <a:off x="842963" y="273050"/>
            <a:ext cx="8096250" cy="8413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6" name="Rectangle 10"/>
          <p:cNvSpPr>
            <a:spLocks noGrp="1"/>
          </p:cNvSpPr>
          <p:nvPr>
            <p:ph type="body"/>
          </p:nvPr>
        </p:nvSpPr>
        <p:spPr>
          <a:xfrm>
            <a:off x="868363" y="1225550"/>
            <a:ext cx="8059737" cy="4968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000" u="none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F2F979-A234-4A38-9232-6D22354A0D44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2025/9/24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2928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kumimoji="1" sz="1200" u="none" dirty="0" smtClean="0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21" Type="http://schemas.openxmlformats.org/officeDocument/2006/relationships/image" Target="../media/image8.png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image" Target="../media/image7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tags" Target="../tags/tag6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 anchorCtr="0"/>
          <a:lstStyle/>
          <a:p>
            <a:pPr>
              <a:buClrTx/>
              <a:buSzTx/>
              <a:buFontTx/>
            </a:pPr>
            <a:r>
              <a:rPr lang="en-US" altLang="zh-CN" dirty="0">
                <a:latin typeface="Copperplate Gothic Bold" panose="020E0705020206020404" pitchFamily="34" charset="0"/>
                <a:ea typeface="+mj-ea"/>
                <a:cs typeface="+mj-cs"/>
              </a:rPr>
              <a:t>Mathematical Structures</a:t>
            </a:r>
            <a:br>
              <a:rPr lang="en-US" altLang="zh-CN" dirty="0">
                <a:latin typeface="Copperplate Gothic Bold" panose="020E0705020206020404" pitchFamily="34" charset="0"/>
                <a:ea typeface="+mj-ea"/>
                <a:cs typeface="+mj-cs"/>
              </a:rPr>
            </a:br>
            <a:r>
              <a:rPr lang="en-US" altLang="zh-CN" dirty="0">
                <a:latin typeface="Copperplate Gothic Bold" panose="020E0705020206020404" pitchFamily="34" charset="0"/>
                <a:ea typeface="+mj-ea"/>
                <a:cs typeface="+mj-cs"/>
              </a:rPr>
              <a:t>   （</a:t>
            </a:r>
            <a:r>
              <a:rPr lang="zh-CN" altLang="en-US" dirty="0">
                <a:latin typeface="Copperplate Gothic Bold" panose="020E0705020206020404" pitchFamily="34" charset="0"/>
                <a:ea typeface="+mj-ea"/>
                <a:cs typeface="+mj-cs"/>
              </a:rPr>
              <a:t>数学结构）</a:t>
            </a:r>
          </a:p>
        </p:txBody>
      </p:sp>
      <p:sp>
        <p:nvSpPr>
          <p:cNvPr id="5123" name="副标题 2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 anchorCtr="0"/>
          <a:lstStyle/>
          <a:p>
            <a:pPr fontAlgn="base">
              <a:buSzPct val="60000"/>
            </a:pPr>
            <a:endParaRPr lang="zh-CN" altLang="en-US" strike="noStrike" noProof="1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Mathematical structure</a:t>
            </a:r>
          </a:p>
        </p:txBody>
      </p:sp>
      <p:sp>
        <p:nvSpPr>
          <p:cNvPr id="614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 collection of objects with operations defined on them and the accompanying     properties form a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mathematical structure</a:t>
            </a:r>
            <a:r>
              <a:rPr lang="en-US" altLang="zh-CN" dirty="0">
                <a:latin typeface="Times New Roman" panose="02020603050405020304" pitchFamily="18" charset="0"/>
              </a:rPr>
              <a:t> or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system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In this book we deal only with discrete mathematical structures.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3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1</a:t>
            </a:r>
          </a:p>
        </p:txBody>
      </p:sp>
      <p:sp>
        <p:nvSpPr>
          <p:cNvPr id="717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The collection of sets with the operations of union, intersection, and complement and their accompanying properties is a (discrete) mathematical structure. We denote this structure by [sets,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dirty="0">
                <a:latin typeface="Times New Roman" panose="02020603050405020304" pitchFamily="18" charset="0"/>
              </a:rPr>
              <a:t>,   ]. </a:t>
            </a:r>
          </a:p>
        </p:txBody>
      </p:sp>
      <p:sp>
        <p:nvSpPr>
          <p:cNvPr id="7174" name="Line 4"/>
          <p:cNvSpPr/>
          <p:nvPr/>
        </p:nvSpPr>
        <p:spPr>
          <a:xfrm>
            <a:off x="5364480" y="3429000"/>
            <a:ext cx="152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2</a:t>
            </a:r>
            <a:endParaRPr lang="zh-CN" altLang="en-US" dirty="0"/>
          </a:p>
        </p:txBody>
      </p:sp>
      <p:sp>
        <p:nvSpPr>
          <p:cNvPr id="819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The collection of 3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</a:rPr>
              <a:t> 3 matrices with the operations of addition, multiplication, and     transpose（</a:t>
            </a:r>
            <a:r>
              <a:rPr lang="zh-CN" altLang="en-US" dirty="0">
                <a:latin typeface="Times New Roman" panose="02020603050405020304" pitchFamily="18" charset="0"/>
              </a:rPr>
              <a:t>转置） </a:t>
            </a:r>
            <a:r>
              <a:rPr lang="en-US" altLang="zh-CN" dirty="0">
                <a:latin typeface="Times New Roman" panose="02020603050405020304" pitchFamily="18" charset="0"/>
              </a:rPr>
              <a:t>is a mathematical structure denoted by                                                 [ 3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</a:rPr>
              <a:t> 3 matrices, +,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baseline="30000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 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5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1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1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2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Closure（</a:t>
            </a:r>
            <a:r>
              <a:rPr lang="zh-CN" altLang="en-US" dirty="0"/>
              <a:t>封闭性）</a:t>
            </a:r>
          </a:p>
        </p:txBody>
      </p:sp>
      <p:sp>
        <p:nvSpPr>
          <p:cNvPr id="922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 structure is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closed with respect to</a:t>
            </a:r>
            <a:r>
              <a:rPr lang="en-US" altLang="zh-CN" dirty="0">
                <a:latin typeface="Times New Roman" panose="02020603050405020304" pitchFamily="18" charset="0"/>
              </a:rPr>
              <a:t> an operation if that operation always produces another member of the collection of objects.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6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Examples</a:t>
            </a:r>
          </a:p>
        </p:txBody>
      </p:sp>
      <p:sp>
        <p:nvSpPr>
          <p:cNvPr id="1024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The structure [5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</a:rPr>
              <a:t> 5 matrices, +, *, 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T</a:t>
            </a:r>
            <a:r>
              <a:rPr lang="en-US" altLang="zh-CN" sz="2800" dirty="0">
                <a:latin typeface="Times New Roman" panose="02020603050405020304" pitchFamily="18" charset="0"/>
              </a:rPr>
              <a:t>] is closed with respect to addition because the sum of two               5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</a:rPr>
              <a:t> 5 matrices is another 5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</a:rPr>
              <a:t> 5 matrix.</a:t>
            </a:r>
          </a:p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The structure [odd integers, +, *] is not closed with respect to addition. </a:t>
            </a:r>
          </a:p>
          <a:p>
            <a:pPr lvl="1" eaLnBrk="1" hangingPunct="1"/>
            <a:r>
              <a:rPr lang="en-US" altLang="zh-CN" sz="2400" dirty="0">
                <a:latin typeface="Times New Roman" panose="02020603050405020304" pitchFamily="18" charset="0"/>
              </a:rPr>
              <a:t>The sum of two odd integers is an even integer.</a:t>
            </a:r>
          </a:p>
          <a:p>
            <a:pPr lvl="1" eaLnBrk="1" hangingPunct="1"/>
            <a:r>
              <a:rPr lang="en-US" altLang="zh-CN" sz="2400" dirty="0">
                <a:latin typeface="Times New Roman" panose="02020603050405020304" pitchFamily="18" charset="0"/>
              </a:rPr>
              <a:t> This structure does have the closure property for multiplication, since the product of two odd numbers is an odd number.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7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Binary operation（</a:t>
            </a:r>
            <a:r>
              <a:rPr lang="zh-CN" altLang="en-US" dirty="0">
                <a:latin typeface="Times New Roman" panose="02020603050405020304" pitchFamily="18" charset="0"/>
              </a:rPr>
              <a:t>二元运算）</a:t>
            </a:r>
          </a:p>
        </p:txBody>
      </p:sp>
      <p:sp>
        <p:nvSpPr>
          <p:cNvPr id="1126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An operation that combines two objects is a 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binary operation</a:t>
            </a:r>
            <a:r>
              <a:rPr lang="en-US" altLang="zh-CN" sz="2800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An operation that requires only one object is a 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unary operation（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一元运算）</a:t>
            </a:r>
            <a:r>
              <a:rPr lang="zh-CN" altLang="en-US" sz="2800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Binary operations often have similar properties, as we have seen earlier.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(a) Set intersection is a binary operation since it combines two sets to produce a new set.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Producing the transpose of matrix is a unary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8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000" dirty="0">
                <a:latin typeface="Times New Roman" panose="02020603050405020304" pitchFamily="18" charset="0"/>
              </a:rPr>
              <a:t>Commutative</a:t>
            </a:r>
            <a:r>
              <a:rPr lang="en-US" altLang="zh-CN" dirty="0"/>
              <a:t> （</a:t>
            </a:r>
            <a:r>
              <a:rPr lang="zh-CN" altLang="en-US" dirty="0"/>
              <a:t>交换性）</a:t>
            </a:r>
          </a:p>
        </p:txBody>
      </p:sp>
      <p:sp>
        <p:nvSpPr>
          <p:cNvPr id="12293" name="Rectangle 3"/>
          <p:cNvSpPr>
            <a:spLocks noGrp="1"/>
          </p:cNvSpPr>
          <p:nvPr>
            <p:ph idx="1"/>
          </p:nvPr>
        </p:nvSpPr>
        <p:spPr>
          <a:xfrm>
            <a:off x="899795" y="1196975"/>
            <a:ext cx="8168640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Common properties have been given names.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For example, if the order of the objects does not affect the outcome of a binary operation, we say that the operation is 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commutative</a:t>
            </a:r>
            <a:r>
              <a:rPr lang="en-US" altLang="zh-CN" sz="2800" dirty="0">
                <a:latin typeface="Times New Roman" panose="02020603050405020304" pitchFamily="18" charset="0"/>
              </a:rPr>
              <a:t>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That is, if 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</a:rPr>
              <a:t> = </a:t>
            </a:r>
            <a:r>
              <a:rPr lang="en-US" altLang="zh-CN" sz="2400" i="1" dirty="0">
                <a:latin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</a:rPr>
              <a:t>, where     is some binary operation,      is commutative 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Example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 (a) Join and meet for Boolean matrices are commutative operations.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 and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A</a:t>
            </a:r>
            <a:r>
              <a:rPr lang="en-US" altLang="zh-CN" sz="2400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 (b) Ordinary matrix multiplication is not a commutative operation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AB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BA</a:t>
            </a:r>
            <a:r>
              <a:rPr lang="en-US" altLang="zh-CN" sz="2800" dirty="0"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22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9400927"/>
              </p:ext>
            </p:extLst>
          </p:nvPr>
        </p:nvGraphicFramePr>
        <p:xfrm>
          <a:off x="5508104" y="2988945"/>
          <a:ext cx="265430" cy="265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7000" imgH="127000" progId="Equation.DSMT4">
                  <p:embed/>
                </p:oleObj>
              </mc:Choice>
              <mc:Fallback>
                <p:oleObj r:id="rId2" imgW="127000" imgH="1270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08104" y="2988945"/>
                        <a:ext cx="265430" cy="2654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8725836"/>
              </p:ext>
            </p:extLst>
          </p:nvPr>
        </p:nvGraphicFramePr>
        <p:xfrm>
          <a:off x="1447800" y="3285490"/>
          <a:ext cx="287020" cy="287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7000" imgH="127000" progId="Equation.DSMT4">
                  <p:embed/>
                </p:oleObj>
              </mc:Choice>
              <mc:Fallback>
                <p:oleObj r:id="rId2" imgW="127000" imgH="1270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47800" y="3285490"/>
                        <a:ext cx="287020" cy="2870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9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Note</a:t>
            </a:r>
          </a:p>
        </p:txBody>
      </p:sp>
      <p:sp>
        <p:nvSpPr>
          <p:cNvPr id="1331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an operation has a property means the statement of the property is true when the operation is used with any objects in the structure. 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If there is even one case when the statement is not true, the operation does not have that property.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10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Associative（</a:t>
            </a:r>
            <a:r>
              <a:rPr lang="zh-CN" altLang="en-US" dirty="0">
                <a:latin typeface="Times New Roman" panose="02020603050405020304" pitchFamily="18" charset="0"/>
              </a:rPr>
              <a:t>结合性）</a:t>
            </a:r>
          </a:p>
        </p:txBody>
      </p:sp>
      <p:sp>
        <p:nvSpPr>
          <p:cNvPr id="1434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If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is a binary operation, then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is associative or has the associative property  if  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sz="2800" i="1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i="1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 =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).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Example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Set union is an associative operation, since               (A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603050405020304" pitchFamily="18" charset="0"/>
              </a:rPr>
              <a:t> B)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603050405020304" pitchFamily="18" charset="0"/>
              </a:rPr>
              <a:t> C = A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603050405020304" pitchFamily="18" charset="0"/>
              </a:rPr>
              <a:t>(B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603050405020304" pitchFamily="18" charset="0"/>
              </a:rPr>
              <a:t> C) is always true.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11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Distributive （</a:t>
            </a:r>
            <a:r>
              <a:rPr lang="zh-CN" altLang="en-US" dirty="0">
                <a:latin typeface="Times New Roman" panose="02020603050405020304" pitchFamily="18" charset="0"/>
              </a:rPr>
              <a:t>分配）</a:t>
            </a:r>
            <a:r>
              <a:rPr lang="en-US" altLang="zh-CN" dirty="0">
                <a:latin typeface="Times New Roman" panose="02020603050405020304" pitchFamily="18" charset="0"/>
              </a:rPr>
              <a:t>property</a:t>
            </a:r>
          </a:p>
        </p:txBody>
      </p:sp>
      <p:sp>
        <p:nvSpPr>
          <p:cNvPr id="15365" name="Rectangle 3"/>
          <p:cNvSpPr>
            <a:spLocks noGrp="1"/>
          </p:cNvSpPr>
          <p:nvPr>
            <p:ph idx="1"/>
          </p:nvPr>
        </p:nvSpPr>
        <p:spPr>
          <a:xfrm>
            <a:off x="539750" y="1196975"/>
            <a:ext cx="8589010" cy="49688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If a mathematical structure has two binary operations, say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 </a:t>
            </a:r>
            <a:r>
              <a:rPr lang="en-US" altLang="zh-CN" dirty="0">
                <a:latin typeface="Times New Roman" panose="02020603050405020304" pitchFamily="18" charset="0"/>
              </a:rPr>
              <a:t>and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dirty="0">
                <a:latin typeface="Times New Roman" panose="02020603050405020304" pitchFamily="18" charset="0"/>
              </a:rPr>
              <a:t>, a distributive property has the following pattern: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)= 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(a) We are familiar with the distributive property for real numbers; if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and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 are real numbers, then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+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+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(b) The structure [sets,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dirty="0">
                <a:latin typeface="Times New Roman" panose="02020603050405020304" pitchFamily="18" charset="0"/>
              </a:rPr>
              <a:t>,   ] has two distributive properties: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b="1" i="1" dirty="0">
                <a:latin typeface="Times New Roman" panose="02020603050405020304" pitchFamily="18" charset="0"/>
              </a:rPr>
              <a:t> C</a:t>
            </a:r>
            <a:r>
              <a:rPr lang="en-US" altLang="zh-CN" dirty="0">
                <a:latin typeface="Times New Roman" panose="02020603050405020304" pitchFamily="18" charset="0"/>
              </a:rPr>
              <a:t>)=(</a:t>
            </a:r>
            <a:r>
              <a:rPr lang="en-US" altLang="zh-CN" b="1" i="1" dirty="0"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 i="1" dirty="0">
                <a:latin typeface="Times New Roman" panose="02020603050405020304" pitchFamily="18" charset="0"/>
              </a:rPr>
              <a:t> B)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b="1" i="1" dirty="0">
                <a:latin typeface="Times New Roman" panose="02020603050405020304" pitchFamily="18" charset="0"/>
              </a:rPr>
              <a:t>(A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 i="1" dirty="0">
                <a:latin typeface="Times New Roman" panose="02020603050405020304" pitchFamily="18" charset="0"/>
              </a:rPr>
              <a:t> C</a:t>
            </a:r>
            <a:r>
              <a:rPr lang="en-US" altLang="zh-CN" dirty="0">
                <a:latin typeface="Times New Roman" panose="02020603050405020304" pitchFamily="18" charset="0"/>
              </a:rPr>
              <a:t>)  and      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 i="1" dirty="0">
                <a:latin typeface="Times New Roman" panose="02020603050405020304" pitchFamily="18" charset="0"/>
              </a:rPr>
              <a:t> C</a:t>
            </a:r>
            <a:r>
              <a:rPr lang="en-US" altLang="zh-CN" dirty="0">
                <a:latin typeface="Times New Roman" panose="02020603050405020304" pitchFamily="18" charset="0"/>
              </a:rPr>
              <a:t>)=(</a:t>
            </a:r>
            <a:r>
              <a:rPr lang="en-US" altLang="zh-CN" b="1" i="1" dirty="0"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b="1" i="1" dirty="0">
                <a:latin typeface="Times New Roman" panose="02020603050405020304" pitchFamily="18" charset="0"/>
              </a:rPr>
              <a:t> B)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 i="1" dirty="0">
                <a:latin typeface="Times New Roman" panose="02020603050405020304" pitchFamily="18" charset="0"/>
              </a:rPr>
              <a:t>(A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b="1" i="1" dirty="0">
                <a:latin typeface="Times New Roman" panose="02020603050405020304" pitchFamily="18" charset="0"/>
              </a:rPr>
              <a:t> C</a:t>
            </a:r>
            <a:r>
              <a:rPr lang="en-US" altLang="zh-CN" dirty="0">
                <a:latin typeface="Times New Roman" panose="02020603050405020304" pitchFamily="18" charset="0"/>
              </a:rPr>
              <a:t>) .</a:t>
            </a:r>
          </a:p>
        </p:txBody>
      </p:sp>
      <p:sp>
        <p:nvSpPr>
          <p:cNvPr id="3" name="Line 4"/>
          <p:cNvSpPr/>
          <p:nvPr/>
        </p:nvSpPr>
        <p:spPr>
          <a:xfrm>
            <a:off x="5715000" y="512318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12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De Morgan</a:t>
            </a:r>
            <a:r>
              <a:rPr lang="en-US" altLang="zh-CN" dirty="0"/>
              <a:t>‘</a:t>
            </a:r>
            <a:r>
              <a:rPr lang="en-US" altLang="zh-CN" dirty="0">
                <a:latin typeface="Times New Roman" panose="02020603050405020304" pitchFamily="18" charset="0"/>
              </a:rPr>
              <a:t>s laws（</a:t>
            </a:r>
            <a:r>
              <a:rPr lang="zh-CN" altLang="en-US" dirty="0">
                <a:latin typeface="Times New Roman" panose="02020603050405020304" pitchFamily="18" charset="0"/>
              </a:rPr>
              <a:t>德.摩根律）</a:t>
            </a:r>
          </a:p>
        </p:txBody>
      </p:sp>
      <p:sp>
        <p:nvSpPr>
          <p:cNvPr id="16389" name="Rectangle 3"/>
          <p:cNvSpPr>
            <a:spLocks noGrp="1"/>
          </p:cNvSpPr>
          <p:nvPr>
            <p:ph idx="1"/>
          </p:nvPr>
        </p:nvSpPr>
        <p:spPr>
          <a:xfrm>
            <a:off x="842963" y="1196975"/>
            <a:ext cx="8059737" cy="4968875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Several of the structures we have seen have a unary operation and two binary operations. </a:t>
            </a:r>
          </a:p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If the unary operation is * and the binary operations are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and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sz="2800" dirty="0">
                <a:latin typeface="Times New Roman" panose="02020603050405020304" pitchFamily="18" charset="0"/>
              </a:rPr>
              <a:t>. then 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De Morgan's laws </a:t>
            </a:r>
            <a:r>
              <a:rPr lang="en-US" altLang="zh-CN" sz="2800" dirty="0">
                <a:latin typeface="Times New Roman" panose="02020603050405020304" pitchFamily="18" charset="0"/>
              </a:rPr>
              <a:t>are     (x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y)* =x*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sz="2800" dirty="0">
                <a:latin typeface="Times New Roman" panose="02020603050405020304" pitchFamily="18" charset="0"/>
              </a:rPr>
              <a:t> y* and (x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sz="2800" dirty="0">
                <a:latin typeface="Times New Roman" panose="02020603050405020304" pitchFamily="18" charset="0"/>
              </a:rPr>
              <a:t> y)* =x* 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y*.</a:t>
            </a:r>
          </a:p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Example 9</a:t>
            </a:r>
          </a:p>
          <a:p>
            <a:pPr lvl="1" eaLnBrk="1" hangingPunct="1"/>
            <a:r>
              <a:rPr lang="en-US" altLang="zh-CN" sz="2400" dirty="0">
                <a:latin typeface="Times New Roman" panose="02020603050405020304" pitchFamily="18" charset="0"/>
              </a:rPr>
              <a:t>(a)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 </a:t>
            </a:r>
            <a:r>
              <a:rPr lang="en-US" altLang="zh-CN" sz="2400" dirty="0">
                <a:latin typeface="Times New Roman" panose="02020603050405020304" pitchFamily="18" charset="0"/>
              </a:rPr>
              <a:t>)=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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 </a:t>
            </a:r>
            <a:r>
              <a:rPr lang="en-US" altLang="zh-CN" sz="2400" dirty="0">
                <a:latin typeface="Times New Roman" panose="02020603050405020304" pitchFamily="18" charset="0"/>
              </a:rPr>
              <a:t>and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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 </a:t>
            </a:r>
            <a:r>
              <a:rPr lang="en-US" altLang="zh-CN" sz="2400" dirty="0">
                <a:latin typeface="Times New Roman" panose="02020603050405020304" pitchFamily="18" charset="0"/>
              </a:rPr>
              <a:t>) 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 </a:t>
            </a:r>
            <a:r>
              <a:rPr lang="en-US" altLang="zh-CN" sz="2400" dirty="0">
                <a:latin typeface="Times New Roman" panose="02020603050405020304" pitchFamily="18" charset="0"/>
              </a:rPr>
              <a:t>.</a:t>
            </a:r>
          </a:p>
          <a:p>
            <a:pPr lvl="1" eaLnBrk="1" hangingPunct="1"/>
            <a:r>
              <a:rPr lang="en-US" altLang="zh-CN" sz="2400" dirty="0">
                <a:latin typeface="Times New Roman" panose="02020603050405020304" pitchFamily="18" charset="0"/>
              </a:rPr>
              <a:t>(b) The structure [real numbers, +, *,   ] does not satisfy De Morgan's laws. since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6390" name="Object 4"/>
          <p:cNvGraphicFramePr>
            <a:graphicFrameLocks noChangeAspect="1"/>
          </p:cNvGraphicFramePr>
          <p:nvPr/>
        </p:nvGraphicFramePr>
        <p:xfrm>
          <a:off x="6262370" y="4581525"/>
          <a:ext cx="228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8600" imgH="215900" progId="Equation.DSMT4">
                  <p:embed/>
                </p:oleObj>
              </mc:Choice>
              <mc:Fallback>
                <p:oleObj r:id="rId2" imgW="228600" imgH="2159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62370" y="4581525"/>
                        <a:ext cx="2286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5"/>
          <p:cNvGraphicFramePr>
            <a:graphicFrameLocks noChangeAspect="1"/>
          </p:cNvGraphicFramePr>
          <p:nvPr/>
        </p:nvGraphicFramePr>
        <p:xfrm>
          <a:off x="4932045" y="5007610"/>
          <a:ext cx="22860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256665" imgH="254000" progId="Equation.DSMT4">
                  <p:embed/>
                </p:oleObj>
              </mc:Choice>
              <mc:Fallback>
                <p:oleObj r:id="rId4" imgW="1256665" imgH="2540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32045" y="5007610"/>
                        <a:ext cx="2286000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2" name="Line 6"/>
          <p:cNvSpPr/>
          <p:nvPr/>
        </p:nvSpPr>
        <p:spPr>
          <a:xfrm>
            <a:off x="2339975" y="40767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393" name="Line 7"/>
          <p:cNvSpPr/>
          <p:nvPr/>
        </p:nvSpPr>
        <p:spPr>
          <a:xfrm>
            <a:off x="3420110" y="4076700"/>
            <a:ext cx="152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394" name="Line 8"/>
          <p:cNvSpPr/>
          <p:nvPr/>
        </p:nvSpPr>
        <p:spPr>
          <a:xfrm>
            <a:off x="3924300" y="4076700"/>
            <a:ext cx="22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395" name="Line 9"/>
          <p:cNvSpPr/>
          <p:nvPr/>
        </p:nvSpPr>
        <p:spPr>
          <a:xfrm>
            <a:off x="4932045" y="40767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396" name="Line 10"/>
          <p:cNvSpPr/>
          <p:nvPr/>
        </p:nvSpPr>
        <p:spPr>
          <a:xfrm>
            <a:off x="6228715" y="4076700"/>
            <a:ext cx="152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397" name="Line 11"/>
          <p:cNvSpPr/>
          <p:nvPr/>
        </p:nvSpPr>
        <p:spPr>
          <a:xfrm>
            <a:off x="6660515" y="4076700"/>
            <a:ext cx="152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13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000" dirty="0">
                <a:latin typeface="Times New Roman" panose="02020603050405020304" pitchFamily="18" charset="0"/>
              </a:rPr>
              <a:t>Identity(</a:t>
            </a:r>
            <a:r>
              <a:rPr lang="zh-CN" altLang="en-US" sz="4000" dirty="0">
                <a:latin typeface="Times New Roman" panose="02020603050405020304" pitchFamily="18" charset="0"/>
              </a:rPr>
              <a:t>单位元） </a:t>
            </a:r>
            <a:r>
              <a:rPr lang="en-US" altLang="zh-CN" sz="4000" dirty="0">
                <a:latin typeface="Times New Roman" panose="02020603050405020304" pitchFamily="18" charset="0"/>
              </a:rPr>
              <a:t>for an operation</a:t>
            </a:r>
            <a:endParaRPr lang="zh-CN" altLang="en-US" sz="4000" dirty="0">
              <a:latin typeface="Times New Roman" panose="02020603050405020304" pitchFamily="18" charset="0"/>
            </a:endParaRPr>
          </a:p>
        </p:txBody>
      </p:sp>
      <p:sp>
        <p:nvSpPr>
          <p:cNvPr id="17413" name="Rectangle 3"/>
          <p:cNvSpPr>
            <a:spLocks noGrp="1"/>
          </p:cNvSpPr>
          <p:nvPr>
            <p:ph idx="1"/>
          </p:nvPr>
        </p:nvSpPr>
        <p:spPr>
          <a:xfrm>
            <a:off x="868680" y="1225550"/>
            <a:ext cx="8277860" cy="4968875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 structure with a binary operation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may contain a distinguished object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, with the property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for all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in the collection. 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We call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an identity for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In fact, an identity for an operation must be unique.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14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Theorem 1</a:t>
            </a:r>
          </a:p>
        </p:txBody>
      </p:sp>
      <p:sp>
        <p:nvSpPr>
          <p:cNvPr id="1843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If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is an identity for a binary operation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, then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is unique.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Proof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Assume another object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also has the identity property, so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Then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,but since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is an identity for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,               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Thus,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There is at most one object with the identity property for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15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6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10</a:t>
            </a:r>
          </a:p>
        </p:txBody>
      </p:sp>
      <p:sp>
        <p:nvSpPr>
          <p:cNvPr id="1946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For [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 matrices, +, *, </a:t>
            </a:r>
            <a:r>
              <a:rPr lang="en-US" altLang="zh-CN" baseline="30000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] ,</a:t>
            </a:r>
            <a:r>
              <a:rPr lang="en-US" altLang="zh-CN" b="1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 is the identity for matrix multiplication and the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 zero matrix is the identity for matrix addition.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16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4" name="Rectangle 2"/>
          <p:cNvSpPr>
            <a:spLocks noGrp="1"/>
          </p:cNvSpPr>
          <p:nvPr>
            <p:ph type="title"/>
          </p:nvPr>
        </p:nvSpPr>
        <p:spPr>
          <a:xfrm>
            <a:off x="1002030" y="0"/>
            <a:ext cx="7793038" cy="11430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Inverse（</a:t>
            </a:r>
            <a:r>
              <a:rPr lang="zh-CN" altLang="en-US" dirty="0">
                <a:latin typeface="Times New Roman" panose="02020603050405020304" pitchFamily="18" charset="0"/>
              </a:rPr>
              <a:t>逆元</a:t>
            </a:r>
            <a:r>
              <a:rPr lang="en-US" altLang="zh-CN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20485" name="Rectangle 3"/>
          <p:cNvSpPr>
            <a:spLocks noGrp="1"/>
          </p:cNvSpPr>
          <p:nvPr>
            <p:ph idx="1"/>
          </p:nvPr>
        </p:nvSpPr>
        <p:spPr>
          <a:xfrm>
            <a:off x="800735" y="1225550"/>
            <a:ext cx="8343900" cy="49688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If a binary operation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has an identity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, we say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 is a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-inverse of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if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i="1" dirty="0">
                <a:latin typeface="Times New Roman" panose="02020603050405020304" pitchFamily="18" charset="0"/>
              </a:rPr>
              <a:t> y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y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i="1" dirty="0">
                <a:latin typeface="Times New Roman" panose="02020603050405020304" pitchFamily="18" charset="0"/>
              </a:rPr>
              <a:t> x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Theorem 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If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is an associative operation and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has a                     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-inverse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, then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 is unique.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Proof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Assume there is another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</a:t>
            </a:r>
            <a:r>
              <a:rPr lang="en-US" altLang="zh-CN" dirty="0">
                <a:latin typeface="Times New Roman" panose="02020603050405020304" pitchFamily="18" charset="0"/>
              </a:rPr>
              <a:t> -inverse for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 say 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Then </a:t>
            </a:r>
            <a:r>
              <a:rPr lang="en-US" altLang="zh-CN" sz="2400" dirty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e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i="1" dirty="0">
                <a:latin typeface="Times New Roman" panose="02020603050405020304" pitchFamily="18" charset="0"/>
              </a:rPr>
              <a:t> y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     and 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Since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is associative, (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 and so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17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11</a:t>
            </a:r>
          </a:p>
        </p:txBody>
      </p:sp>
      <p:sp>
        <p:nvSpPr>
          <p:cNvPr id="2150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</a:rPr>
              <a:t>a) In the structure [3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</a:rPr>
              <a:t> 3 matrices, +, *,</a:t>
            </a:r>
            <a:r>
              <a:rPr lang="en-US" altLang="zh-CN" baseline="30000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] each matrix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= [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</a:rPr>
              <a:t> ] has a +-inverse, or additive inverse, -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= [ -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</a:rPr>
              <a:t> ].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(b) In the structure [integers, +, *], only the integers l and -l have multiplicative  inverses.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18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12</a:t>
            </a:r>
          </a:p>
        </p:txBody>
      </p:sp>
      <p:sp>
        <p:nvSpPr>
          <p:cNvPr id="2253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Let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 ,</a:t>
            </a:r>
            <a:r>
              <a:rPr lang="en-US" altLang="zh-CN" sz="2800" dirty="0">
                <a:latin typeface="Times New Roman" panose="02020603050405020304" pitchFamily="18" charset="0"/>
              </a:rPr>
              <a:t> and * be defined for the set {0, l} by the following tables.</a:t>
            </a:r>
          </a:p>
          <a:p>
            <a:pPr eaLnBrk="1" hangingPunct="1">
              <a:lnSpc>
                <a:spcPct val="80000"/>
              </a:lnSpc>
            </a:pP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Thus 1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0 = l, 0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sz="2800" dirty="0">
                <a:latin typeface="Times New Roman" panose="02020603050405020304" pitchFamily="18" charset="0"/>
              </a:rPr>
              <a:t> 1 = 0, and 1* = 0. Determine if each of the following is true for [{0, l},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sz="2800" dirty="0">
                <a:latin typeface="Times New Roman" panose="02020603050405020304" pitchFamily="18" charset="0"/>
              </a:rPr>
              <a:t>, *].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(a)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is commutative.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(b)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sz="2800" dirty="0">
                <a:latin typeface="Times New Roman" panose="02020603050405020304" pitchFamily="18" charset="0"/>
              </a:rPr>
              <a:t> is associative. 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(c) De Morgan's laws hold.  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(d) Two distributive properties hold for the structure.</a:t>
            </a:r>
          </a:p>
        </p:txBody>
      </p:sp>
      <p:pic>
        <p:nvPicPr>
          <p:cNvPr id="22534" name="Picture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55875" y="1915795"/>
            <a:ext cx="5010150" cy="935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19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12</a:t>
            </a:r>
          </a:p>
        </p:txBody>
      </p:sp>
      <p:sp>
        <p:nvSpPr>
          <p:cNvPr id="23557" name="Rectangle 3"/>
          <p:cNvSpPr>
            <a:spLocks noGrp="1"/>
          </p:cNvSpPr>
          <p:nvPr>
            <p:ph idx="1"/>
          </p:nvPr>
        </p:nvSpPr>
        <p:spPr>
          <a:xfrm>
            <a:off x="843915" y="1225550"/>
            <a:ext cx="8246745" cy="49688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Solution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(a) The statement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must be true for all choices of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and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. Since both 0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l and l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0 are l,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is commutative.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(b) The eight possible cases to be checked are left as an exercise. 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(c) (0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0)*=0* = l     0 *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dirty="0">
                <a:latin typeface="Times New Roman" panose="02020603050405020304" pitchFamily="18" charset="0"/>
              </a:rPr>
              <a:t> 0*=1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dirty="0">
                <a:latin typeface="Times New Roman" panose="02020603050405020304" pitchFamily="18" charset="0"/>
              </a:rPr>
              <a:t> 1= l.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 (0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1)*=1* = 0    0 *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dirty="0">
                <a:latin typeface="Times New Roman" panose="02020603050405020304" pitchFamily="18" charset="0"/>
              </a:rPr>
              <a:t> 1*=1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dirty="0">
                <a:latin typeface="Times New Roman" panose="02020603050405020304" pitchFamily="18" charset="0"/>
              </a:rPr>
              <a:t> 0= 0.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		   (1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1)*=0* = l     1 *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dirty="0">
                <a:latin typeface="Times New Roman" panose="02020603050405020304" pitchFamily="18" charset="0"/>
              </a:rPr>
              <a:t> 1*=0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dirty="0">
                <a:latin typeface="Times New Roman" panose="02020603050405020304" pitchFamily="18" charset="0"/>
              </a:rPr>
              <a:t> 0= 0.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	The last pair shows that De Morgan's laws do not hold in this structure.</a:t>
            </a:r>
          </a:p>
        </p:txBody>
      </p:sp>
      <p:pic>
        <p:nvPicPr>
          <p:cNvPr id="22534" name="Picture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28490" y="226060"/>
            <a:ext cx="4743450" cy="9353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7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7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81" name="Rectangle 3"/>
          <p:cNvSpPr>
            <a:spLocks noGrp="1"/>
          </p:cNvSpPr>
          <p:nvPr>
            <p:ph idx="1"/>
          </p:nvPr>
        </p:nvSpPr>
        <p:spPr>
          <a:xfrm>
            <a:off x="971233" y="1268730"/>
            <a:ext cx="8059737" cy="4968875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80000"/>
              </a:lnSpc>
            </a:pPr>
            <a:r>
              <a:rPr lang="en-US" altLang="zh-CN" sz="3200" dirty="0">
                <a:latin typeface="Times New Roman" panose="02020603050405020304" pitchFamily="18" charset="0"/>
              </a:rPr>
              <a:t>(d) One possible distributive property is                           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3200" dirty="0">
                <a:latin typeface="Times New Roman" panose="02020603050405020304" pitchFamily="18" charset="0"/>
              </a:rPr>
              <a:t> (</a:t>
            </a:r>
            <a:r>
              <a:rPr lang="en-US" altLang="zh-CN" sz="3200" i="1" dirty="0">
                <a:latin typeface="Times New Roman" panose="02020603050405020304" pitchFamily="18" charset="0"/>
              </a:rPr>
              <a:t>y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z</a:t>
            </a:r>
            <a:r>
              <a:rPr lang="en-US" altLang="zh-CN" sz="3200" dirty="0">
                <a:latin typeface="Times New Roman" panose="02020603050405020304" pitchFamily="18" charset="0"/>
              </a:rPr>
              <a:t>) = 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 </a:t>
            </a:r>
            <a:r>
              <a:rPr lang="en-US" altLang="zh-CN" sz="3200" i="1" dirty="0">
                <a:latin typeface="Times New Roman" panose="02020603050405020304" pitchFamily="18" charset="0"/>
              </a:rPr>
              <a:t>y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sz="3200" dirty="0">
                <a:latin typeface="Times New Roman" panose="02020603050405020304" pitchFamily="18" charset="0"/>
              </a:rPr>
              <a:t> 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 </a:t>
            </a:r>
            <a:r>
              <a:rPr lang="en-US" altLang="zh-CN" sz="3200" i="1" dirty="0">
                <a:latin typeface="Times New Roman" panose="02020603050405020304" pitchFamily="18" charset="0"/>
              </a:rPr>
              <a:t>z</a:t>
            </a:r>
            <a:r>
              <a:rPr lang="en-US" altLang="zh-CN" sz="3200" dirty="0">
                <a:latin typeface="Times New Roman" panose="02020603050405020304" pitchFamily="18" charset="0"/>
              </a:rPr>
              <a:t>). 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all possible cases must be checked.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We can show it in a table.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24582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96695" y="3131185"/>
            <a:ext cx="7296150" cy="32696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4" name="Picture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28490" y="226060"/>
            <a:ext cx="4743450" cy="9353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21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4" name="Rectangle 2"/>
          <p:cNvSpPr>
            <a:spLocks noGrp="1"/>
          </p:cNvSpPr>
          <p:nvPr>
            <p:ph type="title"/>
          </p:nvPr>
        </p:nvSpPr>
        <p:spPr>
          <a:xfrm>
            <a:off x="837565" y="332740"/>
            <a:ext cx="8265795" cy="841375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000" dirty="0"/>
              <a:t>Binary operations (</a:t>
            </a:r>
            <a:r>
              <a:rPr lang="zh-CN" altLang="en-US" sz="4000" dirty="0"/>
              <a:t>二元运算</a:t>
            </a:r>
            <a:r>
              <a:rPr lang="en-US" altLang="zh-CN" sz="4000" dirty="0"/>
              <a:t>)</a:t>
            </a:r>
          </a:p>
        </p:txBody>
      </p:sp>
      <p:sp>
        <p:nvSpPr>
          <p:cNvPr id="67891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binary operation on a set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is an </a:t>
            </a:r>
            <a:r>
              <a:rPr lang="en-US" altLang="zh-CN" b="1" i="1" dirty="0">
                <a:latin typeface="Times New Roman" panose="02020603050405020304" pitchFamily="18" charset="0"/>
              </a:rPr>
              <a:t>everywhere</a:t>
            </a:r>
            <a:r>
              <a:rPr lang="en-US" altLang="zh-CN" dirty="0">
                <a:latin typeface="Times New Roman" panose="02020603050405020304" pitchFamily="18" charset="0"/>
              </a:rPr>
              <a:t> defined function </a:t>
            </a:r>
            <a:r>
              <a:rPr lang="en-US" altLang="zh-CN" i="1" dirty="0">
                <a:latin typeface="Times New Roman" panose="02020603050405020304" pitchFamily="18" charset="0"/>
              </a:rPr>
              <a:t>f:A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 binary operation must satisfy:</a:t>
            </a:r>
          </a:p>
          <a:p>
            <a:pPr lvl="1" eaLnBrk="1" hangingPunct="1"/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assigns an element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 of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to each ordered pair 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 in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Only one element of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is assigned to each ordered pair.</a:t>
            </a:r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7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7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7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22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Note</a:t>
            </a:r>
            <a:endParaRPr lang="zh-CN" altLang="zh-CN" dirty="0"/>
          </a:p>
        </p:txBody>
      </p:sp>
      <p:sp>
        <p:nvSpPr>
          <p:cNvPr id="6799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It’s customary to denote binary operations by a symbol such as 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 instead of 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 and to denote the element assigned to 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by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[instead of 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MT Symbol" pitchFamily="82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a, 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)].</a:t>
            </a: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is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closed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封闭的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under the operation </a:t>
            </a:r>
            <a:r>
              <a:rPr lang="zh-CN" altLang="en-US" i="1" dirty="0">
                <a:solidFill>
                  <a:schemeClr val="hlink"/>
                </a:solidFill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, if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and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are elements in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23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1,2</a:t>
            </a:r>
          </a:p>
        </p:txBody>
      </p:sp>
      <p:sp>
        <p:nvSpPr>
          <p:cNvPr id="68096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zh-CN" dirty="0"/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Let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=</a:t>
            </a:r>
            <a:r>
              <a:rPr lang="en-US" altLang="zh-CN" dirty="0"/>
              <a:t> 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. Define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as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+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 is a binary operation on</a:t>
            </a:r>
            <a:r>
              <a:rPr lang="en-US" altLang="zh-CN" dirty="0"/>
              <a:t> 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Let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=</a:t>
            </a:r>
            <a:r>
              <a:rPr lang="en-US" altLang="zh-CN" dirty="0">
                <a:latin typeface="Euclid Math Two" panose="02050601010101010101" pitchFamily="18" charset="2"/>
              </a:rPr>
              <a:t> R</a:t>
            </a:r>
            <a:r>
              <a:rPr lang="en-US" altLang="zh-CN" dirty="0">
                <a:latin typeface="Times New Roman" panose="02020603050405020304" pitchFamily="18" charset="0"/>
              </a:rPr>
              <a:t>. Define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as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/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 is not a binary operation. 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For example, 3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0 is not defined.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8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8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8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8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8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8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3</a:t>
            </a:r>
          </a:p>
        </p:txBody>
      </p:sp>
      <p:sp>
        <p:nvSpPr>
          <p:cNvPr id="681987" name="Rectangle 3"/>
          <p:cNvSpPr>
            <a:spLocks noGrp="1"/>
          </p:cNvSpPr>
          <p:nvPr>
            <p:ph idx="1"/>
          </p:nvPr>
        </p:nvSpPr>
        <p:spPr>
          <a:xfrm>
            <a:off x="683569" y="1225550"/>
            <a:ext cx="8244532" cy="5011762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Let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. Define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as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-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 is not a binary operation .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it does not assign an element of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to every ordered pair of elements of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; for example,2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8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8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25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69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69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70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4</a:t>
            </a:r>
            <a:endParaRPr lang="zh-CN" altLang="en-US" dirty="0"/>
          </a:p>
        </p:txBody>
      </p:sp>
      <p:sp>
        <p:nvSpPr>
          <p:cNvPr id="6830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Let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. Define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as a number less than both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and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 is not a binary operation, since it does not assign a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unique</a:t>
            </a:r>
            <a:r>
              <a:rPr lang="en-US" altLang="zh-CN" dirty="0">
                <a:latin typeface="Times New Roman" panose="02020603050405020304" pitchFamily="18" charset="0"/>
              </a:rPr>
              <a:t> element of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to each ordered pair of elements of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; for example, 8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6 could be 5, 4, 3, l, and so on. 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in this case, 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 would be a relation from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to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but not a function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8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8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8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26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000" dirty="0"/>
              <a:t>Example 5,6</a:t>
            </a:r>
            <a:endParaRPr lang="zh-CN" altLang="en-US" sz="4000" dirty="0"/>
          </a:p>
        </p:txBody>
      </p:sp>
      <p:sp>
        <p:nvSpPr>
          <p:cNvPr id="684035" name="Rectangle 3"/>
          <p:cNvSpPr>
            <a:spLocks noGrp="1"/>
          </p:cNvSpPr>
          <p:nvPr>
            <p:ph idx="1"/>
          </p:nvPr>
        </p:nvSpPr>
        <p:spPr>
          <a:xfrm>
            <a:off x="743585" y="1225550"/>
            <a:ext cx="8312150" cy="4968875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Let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=</a:t>
            </a:r>
            <a:r>
              <a:rPr lang="en-US" altLang="zh-CN" dirty="0"/>
              <a:t> 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. Define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as max{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}.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 is a binary operation; 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for example,2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4 = 4, -3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(-5)=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dirty="0">
                <a:latin typeface="Times New Roman" panose="02020603050405020304" pitchFamily="18" charset="0"/>
              </a:rPr>
              <a:t>3.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Let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), for some set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. If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 and 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dirty="0">
                <a:latin typeface="Times New Roman" panose="02020603050405020304" pitchFamily="18" charset="0"/>
              </a:rPr>
              <a:t> are subsets of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, define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dirty="0">
                <a:latin typeface="Times New Roman" panose="02020603050405020304" pitchFamily="18" charset="0"/>
              </a:rPr>
              <a:t> as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∪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∪ </a:t>
            </a:r>
            <a:r>
              <a:rPr lang="en-US" altLang="zh-CN" dirty="0">
                <a:latin typeface="Times New Roman" panose="02020603050405020304" pitchFamily="18" charset="0"/>
              </a:rPr>
              <a:t>is a binary operation on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if we define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MT Symbol" pitchFamily="82" charset="2"/>
              </a:rPr>
              <a:t>'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dirty="0">
                <a:latin typeface="Times New Roman" panose="02020603050405020304" pitchFamily="18" charset="0"/>
              </a:rPr>
              <a:t> as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∩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dirty="0">
                <a:latin typeface="Times New Roman" panose="02020603050405020304" pitchFamily="18" charset="0"/>
              </a:rPr>
              <a:t>, then </a:t>
            </a:r>
            <a:r>
              <a:rPr lang="zh-CN" altLang="en-US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' is another binary operation on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lvl="2" eaLnBrk="1" hangingPunct="1"/>
            <a:r>
              <a:rPr lang="en-US" altLang="zh-CN" dirty="0">
                <a:latin typeface="Times New Roman" panose="02020603050405020304" pitchFamily="18" charset="0"/>
              </a:rPr>
              <a:t>Note: It’s possible to define many binary operations on the same set.</a:t>
            </a:r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>
                                            <p:txEl>
                                              <p:charRg st="36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84035">
                                            <p:txEl>
                                              <p:charRg st="36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4035">
                                            <p:txEl>
                                              <p:charRg st="36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8403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403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>
                                            <p:txEl>
                                              <p:charRg st="95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84035">
                                            <p:txEl>
                                              <p:charRg st="95" end="1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8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8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8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8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8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8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27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7,8</a:t>
            </a:r>
          </a:p>
        </p:txBody>
      </p:sp>
      <p:sp>
        <p:nvSpPr>
          <p:cNvPr id="685059" name="Rectangle 3"/>
          <p:cNvSpPr>
            <a:spLocks noGrp="1"/>
          </p:cNvSpPr>
          <p:nvPr>
            <p:ph idx="1"/>
          </p:nvPr>
        </p:nvSpPr>
        <p:spPr>
          <a:xfrm>
            <a:off x="899795" y="1268730"/>
            <a:ext cx="7593013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Let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 be the set of all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 Boolean matrices for a fixed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. Define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as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MT Symbol" pitchFamily="82" charset="2"/>
              </a:rPr>
              <a:t>∨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  <a:sym typeface="MT Symbol" pitchFamily="82" charset="2"/>
              </a:rPr>
              <a:t>∨</a:t>
            </a:r>
            <a:r>
              <a:rPr lang="en-US" altLang="zh-CN" dirty="0">
                <a:latin typeface="Times New Roman" panose="02020603050405020304" pitchFamily="18" charset="0"/>
              </a:rPr>
              <a:t> is a binary operation.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 This is also true of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MT Symbol" pitchFamily="82" charset="2"/>
              </a:rPr>
              <a:t>∧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Let 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</a:rPr>
              <a:t> be a lattice. Define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as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  <a:sym typeface="MT Symbol" pitchFamily="82" charset="2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∧ is a binary operation on 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 This is also true of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  <a:sym typeface="MT Symbol" pitchFamily="82" charset="2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endParaRPr lang="zh-CN" altLang="en-US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8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8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8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8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8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8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8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F2F979-A234-4A38-9232-6D22354A0D44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2025/9/24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27405" y="944245"/>
            <a:ext cx="7315200" cy="15151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Determine which description of * is a valid definition of a binary operation on the set.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on </a:t>
            </a:r>
            <a:r>
              <a:rPr lang="en-US" altLang="zh-CN" sz="2600" b="0" dirty="0">
                <a:latin typeface="Euclid Math Two" panose="02050601010101010101" pitchFamily="18" charset="2"/>
                <a:sym typeface="+mn-ea"/>
              </a:rPr>
              <a:t>R</a:t>
            </a:r>
            <a:r>
              <a:rPr lang="en-US" altLang="zh-CN" sz="2600" b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,where a*b is ab</a:t>
            </a:r>
            <a:endParaRPr lang="zh-CN" altLang="en-US" sz="2600" b="0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3471863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i="0">
                <a:solidFill>
                  <a:srgbClr val="000000"/>
                </a:solidFill>
                <a:latin typeface="微软雅黑" charset="-122"/>
                <a:ea typeface="微软雅黑" charset="-122"/>
                <a:sym typeface="+mn-ea"/>
              </a:rPr>
              <a:t>on </a:t>
            </a:r>
            <a:r>
              <a:rPr lang="en-US" altLang="zh-CN" sz="2600" i="0" dirty="0">
                <a:latin typeface="Euclid Math Two" panose="02050601010101010101" pitchFamily="18" charset="2"/>
                <a:sym typeface="+mn-ea"/>
              </a:rPr>
              <a:t>Z</a:t>
            </a:r>
            <a:r>
              <a:rPr lang="en-US" altLang="zh-CN" sz="2600" i="0">
                <a:solidFill>
                  <a:srgbClr val="000000"/>
                </a:solidFill>
                <a:latin typeface="微软雅黑" charset="-122"/>
                <a:ea typeface="微软雅黑" charset="-122"/>
                <a:sym typeface="+mn-ea"/>
              </a:rPr>
              <a:t>,where a*b is a</a:t>
            </a:r>
            <a:r>
              <a:rPr lang="en-US" altLang="zh-CN" sz="2600" i="0" baseline="30000">
                <a:solidFill>
                  <a:srgbClr val="000000"/>
                </a:solidFill>
                <a:latin typeface="微软雅黑" charset="-122"/>
                <a:ea typeface="微软雅黑" charset="-122"/>
                <a:sym typeface="+mn-ea"/>
              </a:rPr>
              <a:t>b</a:t>
            </a:r>
            <a:endParaRPr lang="zh-CN" altLang="en-US" sz="2600" i="0" baseline="30000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4157663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>
                <a:solidFill>
                  <a:srgbClr val="000000"/>
                </a:solidFill>
                <a:latin typeface="微软雅黑" charset="-122"/>
                <a:ea typeface="微软雅黑" charset="-122"/>
                <a:sym typeface="+mn-ea"/>
              </a:rPr>
              <a:t>on </a:t>
            </a:r>
            <a:r>
              <a:rPr lang="en-US" altLang="zh-CN" sz="2600" b="0" dirty="0">
                <a:latin typeface="Euclid Math Two" panose="02050601010101010101" pitchFamily="18" charset="2"/>
                <a:sym typeface="+mn-ea"/>
              </a:rPr>
              <a:t>Z</a:t>
            </a:r>
            <a:r>
              <a:rPr lang="en-US" altLang="zh-CN" sz="2600" b="0" baseline="30000" dirty="0">
                <a:sym typeface="+mn-ea"/>
              </a:rPr>
              <a:t>+</a:t>
            </a:r>
            <a:r>
              <a:rPr lang="en-US" altLang="zh-CN" sz="2600" b="0">
                <a:solidFill>
                  <a:srgbClr val="000000"/>
                </a:solidFill>
                <a:latin typeface="微软雅黑" charset="-122"/>
                <a:ea typeface="微软雅黑" charset="-122"/>
                <a:sym typeface="+mn-ea"/>
              </a:rPr>
              <a:t>,where a*b is a</a:t>
            </a:r>
            <a:r>
              <a:rPr lang="en-US" altLang="zh-CN" sz="2600" b="0" baseline="30000">
                <a:solidFill>
                  <a:srgbClr val="000000"/>
                </a:solidFill>
                <a:latin typeface="微软雅黑" charset="-122"/>
                <a:ea typeface="微软雅黑" charset="-122"/>
                <a:sym typeface="+mn-ea"/>
              </a:rPr>
              <a:t>b</a:t>
            </a:r>
            <a:endParaRPr lang="zh-CN" altLang="en-US" sz="2600" b="0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763395" y="4843463"/>
                <a:ext cx="6400800" cy="6426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lvl="0" algn="l">
                  <a:buNone/>
                </a:pPr>
                <a:r>
                  <a:rPr lang="en-US" altLang="zh-CN" sz="2600" b="0">
                    <a:solidFill>
                      <a:srgbClr val="000000"/>
                    </a:solidFill>
                    <a:latin typeface="微软雅黑" charset="-122"/>
                    <a:ea typeface="微软雅黑" charset="-122"/>
                    <a:sym typeface="+mn-ea"/>
                  </a:rPr>
                  <a:t>on </a:t>
                </a:r>
                <a:r>
                  <a:rPr lang="en-US" altLang="zh-CN" sz="2600" b="0" dirty="0">
                    <a:latin typeface="Euclid Math Two" panose="02050601010101010101" pitchFamily="18" charset="2"/>
                    <a:sym typeface="+mn-ea"/>
                  </a:rPr>
                  <a:t>R</a:t>
                </a:r>
                <a:r>
                  <a:rPr lang="en-US" altLang="zh-CN" sz="2600" b="0">
                    <a:solidFill>
                      <a:srgbClr val="000000"/>
                    </a:solidFill>
                    <a:latin typeface="微软雅黑" charset="-122"/>
                    <a:ea typeface="微软雅黑" charset="-122"/>
                    <a:sym typeface="+mn-ea"/>
                  </a:rPr>
                  <a:t>,where a*b is a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charset="-122"/>
                            <a:cs typeface="Cambria Math" panose="02040503050406030204" charset="0"/>
                            <a:sym typeface="+mn-ea"/>
                          </a:rPr>
                        </m:ctrlPr>
                      </m:radPr>
                      <m:deg/>
                      <m:e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微软雅黑" charset="-122"/>
                            <a:cs typeface="Cambria Math" panose="02040503050406030204" charset="0"/>
                            <a:sym typeface="+mn-ea"/>
                          </a:rPr>
                          <m:t>𝑏</m:t>
                        </m:r>
                      </m:e>
                    </m:rad>
                  </m:oMath>
                </a14:m>
                <a:endParaRPr lang="zh-CN" altLang="en-US" sz="2600" b="0">
                  <a:solidFill>
                    <a:srgbClr val="000000"/>
                  </a:solidFill>
                  <a:latin typeface="微软雅黑" charset="-122"/>
                  <a:ea typeface="微软雅黑" charset="-122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763395" y="4843463"/>
                <a:ext cx="6400800" cy="642620"/>
              </a:xfrm>
              <a:prstGeom prst="rect">
                <a:avLst/>
              </a:prstGeom>
              <a:blipFill rotWithShape="1">
                <a:blip r:embed="rId20"/>
                <a:stretch>
                  <a:fillRect t="-49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lstStyle/>
          <a:p>
            <a:pPr lvl="0" algn="ctr" eaLnBrk="0" hangingPunct="0">
              <a:buClrTx/>
              <a:buSzTx/>
              <a:buFontTx/>
            </a:pPr>
            <a:r>
              <a:rPr kumimoji="1" lang="en-US" altLang="en-US" sz="1600">
                <a:ln>
                  <a:noFill/>
                </a:ln>
                <a:solidFill>
                  <a:srgbClr val="FFFFFF"/>
                </a:solidFill>
                <a:effectLst/>
                <a:latin typeface="微软雅黑" charset="-122"/>
                <a:ea typeface="微软雅黑" charset="-122"/>
                <a:sym typeface="+mn-ea"/>
              </a:rPr>
              <a:t>A</a:t>
            </a: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53615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1" i="1" u="sng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charset="-122"/>
                <a:ea typeface="微软雅黑" charset="-122"/>
              </a:rPr>
              <a:t>B</a:t>
            </a: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2219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1" i="1" u="sng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charset="-122"/>
                <a:ea typeface="微软雅黑" charset="-122"/>
              </a:rPr>
              <a:t>C</a:t>
            </a: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490775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1" i="1" u="sng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charset="-122"/>
                <a:ea typeface="微软雅黑" charset="-122"/>
              </a:rPr>
              <a:t>D</a:t>
            </a: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>
          <a:xfrm>
            <a:off x="6012180" y="566134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1" i="1" u="sng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charset="-122"/>
                <a:ea typeface="微软雅黑" charset="-122"/>
              </a:rPr>
              <a:t>提交</a:t>
            </a:r>
          </a:p>
        </p:txBody>
      </p: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en-US" sz="2400" b="1" i="1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en-US" sz="2400" b="1" i="1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charset="-122"/>
                  <a:ea typeface="微软雅黑" charset="-122"/>
                </a:rPr>
                <a:t>多选题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charset="-122"/>
                  <a:ea typeface="微软雅黑" charset="-122"/>
                  <a:cs typeface="微软雅黑" charset="-122"/>
                </a:rPr>
                <a:t>1分</a:t>
              </a:r>
            </a:p>
          </p:txBody>
        </p:sp>
      </p:grpSp>
      <p:pic>
        <p:nvPicPr>
          <p:cNvPr id="5" name="图片 4" descr="tmp64A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29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Tables – </a:t>
            </a:r>
            <a:r>
              <a:rPr lang="zh-CN" altLang="en-US" dirty="0"/>
              <a:t>运算表</a:t>
            </a:r>
            <a:endParaRPr lang="en-US" altLang="zh-CN" dirty="0"/>
          </a:p>
        </p:txBody>
      </p:sp>
      <p:sp>
        <p:nvSpPr>
          <p:cNvPr id="32773" name="Rectangle 3"/>
          <p:cNvSpPr>
            <a:spLocks noGrp="1"/>
          </p:cNvSpPr>
          <p:nvPr>
            <p:ph idx="1"/>
          </p:nvPr>
        </p:nvSpPr>
        <p:spPr>
          <a:xfrm>
            <a:off x="827405" y="1196975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If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,...,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} is a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finite</a:t>
            </a:r>
            <a:r>
              <a:rPr lang="en-US" altLang="zh-CN" dirty="0">
                <a:latin typeface="Times New Roman" panose="02020603050405020304" pitchFamily="18" charset="0"/>
              </a:rPr>
              <a:t> set, we can define a binary operation on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by means of a table</a:t>
            </a:r>
            <a:endParaRPr lang="en-US" altLang="zh-CN" i="1" baseline="-25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2774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03830" y="2565400"/>
            <a:ext cx="4374515" cy="37852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30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9</a:t>
            </a:r>
          </a:p>
        </p:txBody>
      </p:sp>
      <p:sp>
        <p:nvSpPr>
          <p:cNvPr id="3379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Let 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= {0, l }.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Define binary operations </a:t>
            </a:r>
            <a:r>
              <a:rPr lang="en-US" altLang="zh-CN" dirty="0">
                <a:latin typeface="Times New Roman" panose="02020603050405020304" pitchFamily="18" charset="0"/>
                <a:sym typeface="MT Symbol" pitchFamily="82" charset="2"/>
              </a:rPr>
              <a:t>∨ </a:t>
            </a:r>
            <a:r>
              <a:rPr lang="en-US" altLang="zh-CN" dirty="0">
                <a:latin typeface="Times New Roman" panose="02020603050405020304" pitchFamily="18" charset="0"/>
              </a:rPr>
              <a:t>and </a:t>
            </a:r>
            <a:r>
              <a:rPr lang="en-US" altLang="zh-CN" dirty="0">
                <a:latin typeface="Times New Roman" panose="02020603050405020304" pitchFamily="18" charset="0"/>
                <a:sym typeface="MT Symbol" pitchFamily="82" charset="2"/>
              </a:rPr>
              <a:t>∧</a:t>
            </a:r>
            <a:r>
              <a:rPr lang="en-US" altLang="zh-CN" dirty="0">
                <a:latin typeface="Times New Roman" panose="02020603050405020304" pitchFamily="18" charset="0"/>
              </a:rPr>
              <a:t> by the following tables: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3798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98258" y="3573145"/>
            <a:ext cx="6591300" cy="1543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31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1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1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2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H</a:t>
            </a:r>
            <a:r>
              <a:rPr lang="en-US" altLang="zh-CN" dirty="0"/>
              <a:t>ow many operations?</a:t>
            </a:r>
            <a:endParaRPr lang="zh-CN" altLang="zh-CN" dirty="0"/>
          </a:p>
        </p:txBody>
      </p:sp>
      <p:sp>
        <p:nvSpPr>
          <p:cNvPr id="688131" name="Rectangle 3"/>
          <p:cNvSpPr>
            <a:spLocks noGrp="1"/>
          </p:cNvSpPr>
          <p:nvPr>
            <p:ph idx="1"/>
          </p:nvPr>
        </p:nvSpPr>
        <p:spPr>
          <a:xfrm>
            <a:off x="1223645" y="1268413"/>
            <a:ext cx="7335838" cy="4114800"/>
          </a:xfrm>
        </p:spPr>
        <p:txBody>
          <a:bodyPr vert="horz" wrap="square" lIns="91440" tIns="45720" rIns="91440" bIns="45720" anchor="t" anchorCtr="0"/>
          <a:lstStyle/>
          <a:p>
            <a:pPr marL="533400" indent="-533400" eaLnBrk="1" hangingPunct="1"/>
            <a:r>
              <a:rPr lang="en-US" altLang="zh-CN" dirty="0">
                <a:latin typeface="Times New Roman" panose="02020603050405020304" pitchFamily="18" charset="0"/>
              </a:rPr>
              <a:t>If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}, how many binary operations  can be defined on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marL="914400" lvl="1" indent="-457200" eaLnBrk="1" hangingPunct="1"/>
            <a:r>
              <a:rPr lang="en-US" altLang="zh-CN" dirty="0">
                <a:latin typeface="Times New Roman" panose="02020603050405020304" pitchFamily="18" charset="0"/>
              </a:rPr>
              <a:t>Every binary operation </a:t>
            </a:r>
            <a:r>
              <a:rPr lang="en-US" altLang="zh-CN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 on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can be described by a table </a:t>
            </a:r>
          </a:p>
          <a:p>
            <a:pPr marL="914400" lvl="1" indent="-457200" eaLnBrk="1" hangingPunct="1"/>
            <a:r>
              <a:rPr lang="en-US" altLang="zh-CN" dirty="0">
                <a:latin typeface="Times New Roman" panose="02020603050405020304" pitchFamily="18" charset="0"/>
              </a:rPr>
              <a:t>There are 2</a:t>
            </a:r>
            <a:r>
              <a:rPr lang="en-US" altLang="zh-CN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MT Symbol" pitchFamily="82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2 = 2</a:t>
            </a:r>
            <a:r>
              <a:rPr lang="en-US" altLang="zh-CN" baseline="30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 or 16 ways to complete the table.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4822" name="AutoShape 4"/>
          <p:cNvSpPr>
            <a:spLocks noChangeAspect="1"/>
          </p:cNvSpPr>
          <p:nvPr/>
        </p:nvSpPr>
        <p:spPr>
          <a:xfrm>
            <a:off x="3733800" y="2771775"/>
            <a:ext cx="1676400" cy="1314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pPr algn="ctr"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4823" name="AutoShape 5"/>
          <p:cNvSpPr>
            <a:spLocks noChangeAspect="1"/>
          </p:cNvSpPr>
          <p:nvPr/>
        </p:nvSpPr>
        <p:spPr>
          <a:xfrm>
            <a:off x="3733800" y="2771775"/>
            <a:ext cx="1676400" cy="1314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pPr algn="ctr"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4824" name="AutoShape 6"/>
          <p:cNvSpPr>
            <a:spLocks noChangeAspect="1"/>
          </p:cNvSpPr>
          <p:nvPr/>
        </p:nvSpPr>
        <p:spPr>
          <a:xfrm>
            <a:off x="3733800" y="2771775"/>
            <a:ext cx="1676400" cy="1314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pPr algn="ctr"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4825" name="AutoShape 7"/>
          <p:cNvSpPr>
            <a:spLocks noChangeAspect="1"/>
          </p:cNvSpPr>
          <p:nvPr/>
        </p:nvSpPr>
        <p:spPr>
          <a:xfrm>
            <a:off x="3733800" y="2771775"/>
            <a:ext cx="1676400" cy="1314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pPr algn="ctr"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688136" name="Picture 8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9433" y="4221480"/>
            <a:ext cx="1676400" cy="1314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8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8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32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000" dirty="0"/>
              <a:t>Properties of Binary Operations</a:t>
            </a:r>
            <a:r>
              <a:rPr lang="zh-CN" altLang="en-US" sz="4000" dirty="0"/>
              <a:t>（二元运算的性质）</a:t>
            </a:r>
          </a:p>
        </p:txBody>
      </p:sp>
      <p:sp>
        <p:nvSpPr>
          <p:cNvPr id="3584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For all elements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and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 in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ommutative(</a:t>
            </a:r>
            <a:r>
              <a:rPr lang="zh-CN" altLang="en-US" dirty="0">
                <a:latin typeface="Times New Roman" panose="02020603050405020304" pitchFamily="18" charset="0"/>
              </a:rPr>
              <a:t>可交换的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lvl="1" eaLnBrk="1" hangingPunct="1"/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ssociative(</a:t>
            </a:r>
            <a:r>
              <a:rPr lang="zh-CN" altLang="en-US" dirty="0">
                <a:latin typeface="Times New Roman" panose="02020603050405020304" pitchFamily="18" charset="0"/>
              </a:rPr>
              <a:t>可结合的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</a:p>
          <a:p>
            <a:pPr lvl="1" eaLnBrk="1" hangingPunct="1"/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*(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 = 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)*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dempotent(</a:t>
            </a:r>
            <a:r>
              <a:rPr lang="zh-CN" altLang="en-US" dirty="0">
                <a:latin typeface="Times New Roman" panose="02020603050405020304" pitchFamily="18" charset="0"/>
              </a:rPr>
              <a:t>幂等的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lvl="1" eaLnBrk="1" hangingPunct="1"/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endParaRPr lang="zh-CN" altLang="zh-CN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33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C</a:t>
            </a:r>
            <a:r>
              <a:rPr lang="en-US" altLang="zh-CN" dirty="0"/>
              <a:t>ommutative –</a:t>
            </a:r>
            <a:r>
              <a:rPr lang="zh-CN" altLang="en-US" dirty="0"/>
              <a:t>可交换的</a:t>
            </a:r>
          </a:p>
        </p:txBody>
      </p:sp>
      <p:sp>
        <p:nvSpPr>
          <p:cNvPr id="3686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 binary operation on a set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is said to be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commutative</a:t>
            </a:r>
            <a:r>
              <a:rPr lang="en-US" altLang="zh-CN" dirty="0">
                <a:latin typeface="Times New Roman" panose="02020603050405020304" pitchFamily="18" charset="0"/>
              </a:rPr>
              <a:t> if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for all elements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and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in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Example: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The binary operation of addition on</a:t>
            </a:r>
            <a:r>
              <a:rPr lang="en-US" altLang="zh-CN" dirty="0"/>
              <a:t> 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dirty="0"/>
              <a:t> 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The binary operation of subtraction on</a:t>
            </a:r>
            <a:r>
              <a:rPr lang="en-US" altLang="zh-CN" dirty="0"/>
              <a:t> </a:t>
            </a:r>
            <a:r>
              <a:rPr lang="en-US" altLang="zh-CN" dirty="0">
                <a:latin typeface="Euclid Math Two" panose="02050601010101010101" pitchFamily="18" charset="2"/>
              </a:rPr>
              <a:t>Z.</a:t>
            </a:r>
            <a:endParaRPr lang="zh-CN" altLang="zh-C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34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Commutative</a:t>
            </a:r>
            <a:endParaRPr lang="zh-CN" altLang="zh-CN" dirty="0"/>
          </a:p>
        </p:txBody>
      </p:sp>
      <p:sp>
        <p:nvSpPr>
          <p:cNvPr id="3789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 binary operation that is described by a table is commutative 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if and on1y if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The entries in the table are symmetric with respect to the main diagonal.</a:t>
            </a:r>
            <a:endParaRPr lang="zh-CN" altLang="zh-C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35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12</a:t>
            </a:r>
          </a:p>
        </p:txBody>
      </p:sp>
      <p:sp>
        <p:nvSpPr>
          <p:cNvPr id="3891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Which of the fol1owing binary operations on 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} are commutative?</a:t>
            </a:r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8918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03350" y="2780983"/>
            <a:ext cx="7067550" cy="2714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36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3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3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4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Associative – </a:t>
            </a:r>
            <a:r>
              <a:rPr lang="zh-CN" altLang="en-US" dirty="0"/>
              <a:t>可结合的</a:t>
            </a:r>
          </a:p>
        </p:txBody>
      </p:sp>
      <p:sp>
        <p:nvSpPr>
          <p:cNvPr id="69325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 binary operation * on a set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is said to be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associative</a:t>
            </a:r>
            <a:r>
              <a:rPr lang="en-US" altLang="zh-CN" dirty="0">
                <a:latin typeface="Times New Roman" panose="02020603050405020304" pitchFamily="18" charset="0"/>
              </a:rPr>
              <a:t> if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*(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 = 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)*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 for all elements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and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 in </a:t>
            </a:r>
            <a:r>
              <a:rPr lang="en-US" altLang="zh-CN" i="1" dirty="0">
                <a:latin typeface="Times New Roman" panose="02020603050405020304" pitchFamily="18" charset="0"/>
              </a:rPr>
              <a:t>A.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Example: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The binary operation of addition on Z 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The binary operation of subtraction on Z </a:t>
            </a:r>
          </a:p>
          <a:p>
            <a:pPr lvl="2" eaLnBrk="1" hangingPunct="1"/>
            <a:r>
              <a:rPr lang="en-US" altLang="zh-CN" dirty="0">
                <a:latin typeface="Times New Roman" panose="02020603050405020304" pitchFamily="18" charset="0"/>
              </a:rPr>
              <a:t>2-(3-5)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dirty="0">
                <a:latin typeface="Times New Roman" panose="02020603050405020304" pitchFamily="18" charset="0"/>
              </a:rPr>
              <a:t>(2-3)-5.</a:t>
            </a:r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37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>
                <a:solidFill>
                  <a:schemeClr val="folHlink"/>
                </a:solidFill>
              </a:rPr>
              <a:t>Example 15</a:t>
            </a:r>
            <a:endParaRPr lang="zh-CN" altLang="en-US" dirty="0">
              <a:solidFill>
                <a:schemeClr val="folHlink"/>
              </a:solidFill>
            </a:endParaRPr>
          </a:p>
        </p:txBody>
      </p:sp>
      <p:sp>
        <p:nvSpPr>
          <p:cNvPr id="4096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Let 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</a:rPr>
              <a:t> be a lattice. The binary operation defined by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  <a:sym typeface="MT Symbol" pitchFamily="82" charset="2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is </a:t>
            </a:r>
          </a:p>
          <a:p>
            <a:pPr lvl="1" eaLnBrk="1" hangingPunct="1"/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commutative</a:t>
            </a:r>
            <a:r>
              <a:rPr lang="en-US" altLang="zh-CN" dirty="0">
                <a:latin typeface="Times New Roman" panose="02020603050405020304" pitchFamily="18" charset="0"/>
              </a:rPr>
              <a:t> and </a:t>
            </a:r>
          </a:p>
          <a:p>
            <a:pPr lvl="1" eaLnBrk="1" hangingPunct="1"/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associative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It also satisfies the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idempotent</a:t>
            </a:r>
            <a:r>
              <a:rPr lang="en-US" altLang="zh-CN" dirty="0">
                <a:latin typeface="Times New Roman" panose="02020603050405020304" pitchFamily="18" charset="0"/>
              </a:rPr>
              <a:t> property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  <a:sym typeface="MT Symbol" pitchFamily="82" charset="2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38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16</a:t>
            </a:r>
            <a:endParaRPr lang="zh-CN" altLang="en-US" dirty="0"/>
          </a:p>
        </p:txBody>
      </p:sp>
      <p:sp>
        <p:nvSpPr>
          <p:cNvPr id="4198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Let * be a binary operation on a set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and suppose that * satisfies the following properties for any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and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 in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*(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 = 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)*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Define a relation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on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by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</a:rPr>
              <a:t>if and only if  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b.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Show that 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) is a poset, and for all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in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GLB(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) =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39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301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301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301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16: Solution</a:t>
            </a:r>
            <a:endParaRPr lang="zh-CN" altLang="zh-CN" dirty="0"/>
          </a:p>
        </p:txBody>
      </p:sp>
      <p:sp>
        <p:nvSpPr>
          <p:cNvPr id="69632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We must show that</a:t>
            </a: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 is reflexive, antisymmetric and transitive.</a:t>
            </a:r>
          </a:p>
          <a:p>
            <a:pPr lvl="1" eaLnBrk="1" hangingPunct="1"/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  <a:sym typeface="MT Symbol" pitchFamily="82" charset="2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for all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and b in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40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403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403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403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  is reflexive</a:t>
            </a:r>
            <a:endParaRPr lang="zh-CN" altLang="zh-CN" dirty="0"/>
          </a:p>
        </p:txBody>
      </p:sp>
      <p:sp>
        <p:nvSpPr>
          <p:cNvPr id="4403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lvl="1" eaLnBrk="1" hangingPunct="1"/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b </a:t>
            </a:r>
            <a:r>
              <a:rPr lang="en-US" altLang="zh-CN" sz="3200" dirty="0">
                <a:latin typeface="Times New Roman" panose="02020603050405020304" pitchFamily="18" charset="0"/>
              </a:rPr>
              <a:t>if and only if </a:t>
            </a:r>
            <a:r>
              <a:rPr lang="en-US" altLang="zh-CN" sz="3200" i="1" dirty="0">
                <a:latin typeface="Times New Roman" panose="02020603050405020304" pitchFamily="18" charset="0"/>
              </a:rPr>
              <a:t>a </a:t>
            </a:r>
            <a:r>
              <a:rPr lang="en-US" altLang="zh-CN" sz="3200" dirty="0">
                <a:latin typeface="Times New Roman" panose="02020603050405020304" pitchFamily="18" charset="0"/>
              </a:rPr>
              <a:t>=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*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</a:p>
          <a:p>
            <a:pPr eaLnBrk="1" hangingPunct="1"/>
            <a:r>
              <a:rPr lang="en-US" altLang="zh-CN" sz="3600" dirty="0">
                <a:latin typeface="Times New Roman" panose="02020603050405020304" pitchFamily="18" charset="0"/>
              </a:rPr>
              <a:t>Since </a:t>
            </a:r>
            <a:r>
              <a:rPr lang="en-US" altLang="zh-CN" sz="3600" i="1" dirty="0">
                <a:latin typeface="Times New Roman" panose="02020603050405020304" pitchFamily="18" charset="0"/>
              </a:rPr>
              <a:t>a</a:t>
            </a:r>
            <a:r>
              <a:rPr lang="en-US" altLang="zh-CN" sz="3600" dirty="0">
                <a:latin typeface="Times New Roman" panose="02020603050405020304" pitchFamily="18" charset="0"/>
              </a:rPr>
              <a:t> = </a:t>
            </a:r>
            <a:r>
              <a:rPr lang="en-US" altLang="zh-CN" sz="3600" i="1" dirty="0">
                <a:latin typeface="Times New Roman" panose="02020603050405020304" pitchFamily="18" charset="0"/>
              </a:rPr>
              <a:t>a</a:t>
            </a:r>
            <a:r>
              <a:rPr lang="en-US" altLang="zh-CN" sz="3600" dirty="0">
                <a:latin typeface="Times New Roman" panose="02020603050405020304" pitchFamily="18" charset="0"/>
              </a:rPr>
              <a:t>*</a:t>
            </a:r>
            <a:r>
              <a:rPr lang="en-US" altLang="zh-CN" sz="3600" i="1" dirty="0">
                <a:latin typeface="Times New Roman" panose="02020603050405020304" pitchFamily="18" charset="0"/>
              </a:rPr>
              <a:t>a</a:t>
            </a:r>
            <a:r>
              <a:rPr lang="en-US" altLang="zh-CN" sz="3600" dirty="0">
                <a:latin typeface="Times New Roman" panose="02020603050405020304" pitchFamily="18" charset="0"/>
              </a:rPr>
              <a:t>, </a:t>
            </a:r>
          </a:p>
          <a:p>
            <a:pPr lvl="1" eaLnBrk="1" hangingPunct="1"/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 for all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 in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, and </a:t>
            </a:r>
          </a:p>
          <a:p>
            <a:pPr lvl="1" eaLnBrk="1" hangingPunct="1"/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latin typeface="Times New Roman" panose="02020603050405020304" pitchFamily="18" charset="0"/>
              </a:rPr>
              <a:t>  is reflexive.</a:t>
            </a:r>
            <a:endParaRPr lang="en-US" altLang="zh-CN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41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505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505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506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  is antisymmetric</a:t>
            </a:r>
            <a:endParaRPr lang="zh-CN" altLang="zh-CN" dirty="0"/>
          </a:p>
        </p:txBody>
      </p:sp>
      <p:sp>
        <p:nvSpPr>
          <p:cNvPr id="4506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lvl="1" eaLnBrk="1" hangingPunct="1"/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b </a:t>
            </a:r>
            <a:r>
              <a:rPr lang="en-US" altLang="zh-CN" sz="3200" dirty="0">
                <a:latin typeface="Times New Roman" panose="02020603050405020304" pitchFamily="18" charset="0"/>
              </a:rPr>
              <a:t>if and only if </a:t>
            </a:r>
            <a:r>
              <a:rPr lang="en-US" altLang="zh-CN" sz="3200" i="1" dirty="0">
                <a:latin typeface="Times New Roman" panose="02020603050405020304" pitchFamily="18" charset="0"/>
              </a:rPr>
              <a:t>a </a:t>
            </a:r>
            <a:r>
              <a:rPr lang="en-US" altLang="zh-CN" sz="3200" dirty="0">
                <a:latin typeface="Times New Roman" panose="02020603050405020304" pitchFamily="18" charset="0"/>
              </a:rPr>
              <a:t>=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*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3600" dirty="0">
                <a:latin typeface="Times New Roman" panose="02020603050405020304" pitchFamily="18" charset="0"/>
              </a:rPr>
              <a:t>Now suppose that </a:t>
            </a:r>
          </a:p>
          <a:p>
            <a:pPr lvl="1" eaLnBrk="1" hangingPunct="1"/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 and 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. </a:t>
            </a:r>
          </a:p>
          <a:p>
            <a:pPr lvl="1" eaLnBrk="1" hangingPunct="1"/>
            <a:r>
              <a:rPr lang="en-US" altLang="zh-CN" sz="3200" dirty="0">
                <a:latin typeface="Times New Roman" panose="02020603050405020304" pitchFamily="18" charset="0"/>
              </a:rPr>
              <a:t>Then, by definition and property 2, </a:t>
            </a:r>
          </a:p>
          <a:p>
            <a:pPr lvl="1" eaLnBrk="1" hangingPunct="1"/>
            <a:r>
              <a:rPr lang="en-US" altLang="zh-CN" sz="3200" i="1" dirty="0">
                <a:latin typeface="Times New Roman" panose="02020603050405020304" pitchFamily="18" charset="0"/>
              </a:rPr>
              <a:t>a </a:t>
            </a:r>
            <a:r>
              <a:rPr lang="en-US" altLang="zh-CN" sz="3200" dirty="0">
                <a:latin typeface="Times New Roman" panose="02020603050405020304" pitchFamily="18" charset="0"/>
              </a:rPr>
              <a:t>=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*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*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</a:p>
          <a:p>
            <a:pPr lvl="1" eaLnBrk="1" hangingPunct="1"/>
            <a:r>
              <a:rPr lang="en-US" altLang="zh-CN" sz="3200" dirty="0">
                <a:latin typeface="Times New Roman" panose="02020603050405020304" pitchFamily="18" charset="0"/>
              </a:rPr>
              <a:t>so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. </a:t>
            </a:r>
          </a:p>
          <a:p>
            <a:pPr lvl="1" eaLnBrk="1" hangingPunct="1"/>
            <a:r>
              <a:rPr lang="en-US" altLang="zh-CN" sz="3200" dirty="0">
                <a:latin typeface="Times New Roman" panose="02020603050405020304" pitchFamily="18" charset="0"/>
              </a:rPr>
              <a:t>Thus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latin typeface="Times New Roman" panose="02020603050405020304" pitchFamily="18" charset="0"/>
              </a:rPr>
              <a:t> is antisymmetric.</a:t>
            </a:r>
            <a:endParaRPr lang="en-US" altLang="zh-CN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42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608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608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608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  is transitive</a:t>
            </a:r>
            <a:endParaRPr lang="zh-CN" altLang="zh-CN" dirty="0"/>
          </a:p>
        </p:txBody>
      </p:sp>
      <p:sp>
        <p:nvSpPr>
          <p:cNvPr id="4608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lvl="1" eaLnBrk="1" hangingPunct="1"/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b </a:t>
            </a:r>
            <a:r>
              <a:rPr lang="en-US" altLang="zh-CN" sz="3200" dirty="0">
                <a:latin typeface="Times New Roman" panose="02020603050405020304" pitchFamily="18" charset="0"/>
              </a:rPr>
              <a:t>if and only if </a:t>
            </a:r>
            <a:r>
              <a:rPr lang="en-US" altLang="zh-CN" sz="3200" i="1" dirty="0">
                <a:latin typeface="Times New Roman" panose="02020603050405020304" pitchFamily="18" charset="0"/>
              </a:rPr>
              <a:t>a </a:t>
            </a:r>
            <a:r>
              <a:rPr lang="en-US" altLang="zh-CN" sz="3200" dirty="0">
                <a:latin typeface="Times New Roman" panose="02020603050405020304" pitchFamily="18" charset="0"/>
              </a:rPr>
              <a:t>=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*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</a:p>
          <a:p>
            <a:pPr eaLnBrk="1" hangingPunct="1"/>
            <a:r>
              <a:rPr lang="en-US" altLang="zh-CN" sz="3600" dirty="0">
                <a:latin typeface="Times New Roman" panose="02020603050405020304" pitchFamily="18" charset="0"/>
              </a:rPr>
              <a:t>If </a:t>
            </a:r>
            <a:r>
              <a:rPr lang="en-US" altLang="zh-CN" sz="3600" i="1" dirty="0">
                <a:latin typeface="Times New Roman" panose="02020603050405020304" pitchFamily="18" charset="0"/>
              </a:rPr>
              <a:t>a</a:t>
            </a:r>
            <a:r>
              <a:rPr lang="en-US" altLang="zh-CN" sz="3600" dirty="0">
                <a:latin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600" dirty="0">
                <a:latin typeface="Times New Roman" panose="02020603050405020304" pitchFamily="18" charset="0"/>
              </a:rPr>
              <a:t> </a:t>
            </a:r>
            <a:r>
              <a:rPr lang="en-US" altLang="zh-CN" sz="3600" i="1" dirty="0">
                <a:latin typeface="Times New Roman" panose="02020603050405020304" pitchFamily="18" charset="0"/>
              </a:rPr>
              <a:t>b</a:t>
            </a:r>
            <a:r>
              <a:rPr lang="en-US" altLang="zh-CN" sz="3600" dirty="0">
                <a:latin typeface="Times New Roman" panose="02020603050405020304" pitchFamily="18" charset="0"/>
              </a:rPr>
              <a:t> and </a:t>
            </a:r>
            <a:r>
              <a:rPr lang="en-US" altLang="zh-CN" sz="3600" i="1" dirty="0">
                <a:latin typeface="Times New Roman" panose="02020603050405020304" pitchFamily="18" charset="0"/>
              </a:rPr>
              <a:t>b</a:t>
            </a:r>
            <a:r>
              <a:rPr lang="en-US" altLang="zh-CN" sz="3600" dirty="0">
                <a:latin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600" dirty="0">
                <a:latin typeface="Times New Roman" panose="02020603050405020304" pitchFamily="18" charset="0"/>
              </a:rPr>
              <a:t> </a:t>
            </a:r>
            <a:r>
              <a:rPr lang="en-US" altLang="zh-CN" sz="3600" i="1" dirty="0">
                <a:latin typeface="Times New Roman" panose="02020603050405020304" pitchFamily="18" charset="0"/>
              </a:rPr>
              <a:t>c</a:t>
            </a:r>
            <a:r>
              <a:rPr lang="en-US" altLang="zh-CN" sz="3600" dirty="0">
                <a:latin typeface="Times New Roman" panose="02020603050405020304" pitchFamily="18" charset="0"/>
              </a:rPr>
              <a:t>, </a:t>
            </a:r>
          </a:p>
          <a:p>
            <a:pPr lvl="1" eaLnBrk="1" hangingPunct="1"/>
            <a:r>
              <a:rPr lang="en-US" altLang="zh-CN" sz="3200" dirty="0">
                <a:latin typeface="Times New Roman" panose="02020603050405020304" pitchFamily="18" charset="0"/>
              </a:rPr>
              <a:t>then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*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*(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*</a:t>
            </a:r>
            <a:r>
              <a:rPr lang="en-US" altLang="zh-CN" sz="3200" i="1" dirty="0">
                <a:latin typeface="Times New Roman" panose="02020603050405020304" pitchFamily="18" charset="0"/>
              </a:rPr>
              <a:t>c</a:t>
            </a:r>
            <a:r>
              <a:rPr lang="en-US" altLang="zh-CN" sz="3200" dirty="0">
                <a:latin typeface="Times New Roman" panose="02020603050405020304" pitchFamily="18" charset="0"/>
              </a:rPr>
              <a:t>) = (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*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)*</a:t>
            </a:r>
            <a:r>
              <a:rPr lang="en-US" altLang="zh-CN" sz="3200" i="1" dirty="0">
                <a:latin typeface="Times New Roman" panose="02020603050405020304" pitchFamily="18" charset="0"/>
              </a:rPr>
              <a:t>c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*</a:t>
            </a:r>
            <a:r>
              <a:rPr lang="en-US" altLang="zh-CN" sz="3200" i="1" dirty="0">
                <a:latin typeface="Times New Roman" panose="02020603050405020304" pitchFamily="18" charset="0"/>
              </a:rPr>
              <a:t>c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</a:p>
          <a:p>
            <a:pPr lvl="1" eaLnBrk="1" hangingPunct="1"/>
            <a:r>
              <a:rPr lang="en-US" altLang="zh-CN" sz="3200" dirty="0">
                <a:latin typeface="Times New Roman" panose="02020603050405020304" pitchFamily="18" charset="0"/>
              </a:rPr>
              <a:t>so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3200" i="1" dirty="0">
                <a:latin typeface="Times New Roman" panose="02020603050405020304" pitchFamily="18" charset="0"/>
              </a:rPr>
              <a:t>c</a:t>
            </a:r>
            <a:r>
              <a:rPr lang="en-US" altLang="zh-CN" sz="3200" dirty="0">
                <a:latin typeface="Times New Roman" panose="02020603050405020304" pitchFamily="18" charset="0"/>
              </a:rPr>
              <a:t> and </a:t>
            </a:r>
          </a:p>
          <a:p>
            <a:pPr lvl="1" eaLnBrk="1" hangingPunct="1"/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latin typeface="Times New Roman" panose="02020603050405020304" pitchFamily="18" charset="0"/>
              </a:rPr>
              <a:t>  is transitive.</a:t>
            </a:r>
            <a:endParaRPr lang="en-US" altLang="zh-CN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43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710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710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7108" name="Rectangle 2"/>
          <p:cNvSpPr>
            <a:spLocks noGrp="1"/>
          </p:cNvSpPr>
          <p:nvPr>
            <p:ph type="title"/>
          </p:nvPr>
        </p:nvSpPr>
        <p:spPr>
          <a:xfrm>
            <a:off x="793750" y="273050"/>
            <a:ext cx="8425180" cy="841375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000" i="1" dirty="0"/>
              <a:t>a</a:t>
            </a:r>
            <a:r>
              <a:rPr lang="en-US" altLang="zh-CN" sz="4000" dirty="0"/>
              <a:t>*</a:t>
            </a:r>
            <a:r>
              <a:rPr lang="en-US" altLang="zh-CN" sz="4000" i="1" dirty="0"/>
              <a:t>b</a:t>
            </a:r>
            <a:r>
              <a:rPr lang="en-US" altLang="zh-CN" sz="4000" dirty="0"/>
              <a:t> = </a:t>
            </a:r>
            <a:r>
              <a:rPr lang="en-US" altLang="zh-CN" sz="4000" i="1" dirty="0" err="1"/>
              <a:t>a</a:t>
            </a:r>
            <a:r>
              <a:rPr lang="en-US" altLang="zh-CN" sz="4000" dirty="0" err="1">
                <a:sym typeface="MT Symbol" pitchFamily="82" charset="2"/>
              </a:rPr>
              <a:t>∧</a:t>
            </a:r>
            <a:r>
              <a:rPr lang="en-US" altLang="zh-CN" sz="4000" i="1" dirty="0" err="1"/>
              <a:t>b</a:t>
            </a:r>
            <a:r>
              <a:rPr lang="en-US" altLang="zh-CN" sz="4000" dirty="0"/>
              <a:t>, for all </a:t>
            </a:r>
            <a:r>
              <a:rPr lang="en-US" altLang="zh-CN" sz="4000" i="1" dirty="0"/>
              <a:t>a</a:t>
            </a:r>
            <a:r>
              <a:rPr lang="en-US" altLang="zh-CN" sz="4000" dirty="0"/>
              <a:t> and </a:t>
            </a:r>
            <a:r>
              <a:rPr lang="en-US" altLang="zh-CN" sz="4000" i="1" dirty="0"/>
              <a:t>b</a:t>
            </a:r>
            <a:r>
              <a:rPr lang="en-US" altLang="zh-CN" sz="4000" dirty="0"/>
              <a:t> in </a:t>
            </a:r>
            <a:r>
              <a:rPr lang="en-US" altLang="zh-CN" sz="4000" i="1" dirty="0"/>
              <a:t>A</a:t>
            </a:r>
          </a:p>
        </p:txBody>
      </p:sp>
      <p:sp>
        <p:nvSpPr>
          <p:cNvPr id="47109" name="Rectangle 3"/>
          <p:cNvSpPr>
            <a:spLocks noGrp="1"/>
          </p:cNvSpPr>
          <p:nvPr>
            <p:ph idx="1"/>
          </p:nvPr>
        </p:nvSpPr>
        <p:spPr>
          <a:xfrm>
            <a:off x="1115695" y="1196975"/>
            <a:ext cx="7593013" cy="4114800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90000"/>
              </a:lnSpc>
            </a:pP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</a:rPr>
              <a:t>b </a:t>
            </a:r>
            <a:r>
              <a:rPr lang="en-US" altLang="zh-CN" sz="2400" dirty="0">
                <a:latin typeface="Times New Roman" panose="02020603050405020304" pitchFamily="18" charset="0"/>
              </a:rPr>
              <a:t>if and only if </a:t>
            </a:r>
            <a:r>
              <a:rPr lang="en-US" altLang="zh-CN" sz="2400" i="1" dirty="0">
                <a:latin typeface="Times New Roman" panose="02020603050405020304" pitchFamily="18" charset="0"/>
              </a:rPr>
              <a:t>a </a:t>
            </a:r>
            <a:r>
              <a:rPr lang="en-US" altLang="zh-CN" sz="2400" dirty="0">
                <a:latin typeface="Times New Roman" panose="02020603050405020304" pitchFamily="18" charset="0"/>
              </a:rPr>
              <a:t>= 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*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We have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*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 = 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*(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*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) =(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*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)*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so 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*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In a similar way 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*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so 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*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 is a lower bound for 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 and 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Now, if </a:t>
            </a:r>
            <a:r>
              <a:rPr lang="en-US" altLang="zh-CN" sz="2800" i="1" dirty="0">
                <a:latin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</a:rPr>
              <a:t> and </a:t>
            </a:r>
            <a:r>
              <a:rPr lang="en-US" altLang="zh-CN" sz="2800" i="1" dirty="0">
                <a:latin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then </a:t>
            </a:r>
            <a:r>
              <a:rPr lang="en-US" altLang="zh-CN" sz="2400" i="1" dirty="0">
                <a:latin typeface="Times New Roman" panose="02020603050405020304" pitchFamily="18" charset="0"/>
              </a:rPr>
              <a:t>c</a:t>
            </a:r>
            <a:r>
              <a:rPr lang="en-US" altLang="zh-CN" sz="2400" dirty="0">
                <a:latin typeface="Times New Roman" panose="02020603050405020304" pitchFamily="18" charset="0"/>
              </a:rPr>
              <a:t> = </a:t>
            </a:r>
            <a:r>
              <a:rPr lang="en-US" altLang="zh-CN" sz="2400" i="1" dirty="0">
                <a:latin typeface="Times New Roman" panose="02020603050405020304" pitchFamily="18" charset="0"/>
              </a:rPr>
              <a:t>c</a:t>
            </a:r>
            <a:r>
              <a:rPr lang="en-US" altLang="zh-CN" sz="2400" dirty="0">
                <a:latin typeface="Times New Roman" panose="02020603050405020304" pitchFamily="18" charset="0"/>
              </a:rPr>
              <a:t>*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 and </a:t>
            </a:r>
            <a:r>
              <a:rPr lang="en-US" altLang="zh-CN" sz="2400" i="1" dirty="0">
                <a:latin typeface="Times New Roman" panose="02020603050405020304" pitchFamily="18" charset="0"/>
              </a:rPr>
              <a:t>c</a:t>
            </a:r>
            <a:r>
              <a:rPr lang="en-US" altLang="zh-CN" sz="2400" dirty="0">
                <a:latin typeface="Times New Roman" panose="02020603050405020304" pitchFamily="18" charset="0"/>
              </a:rPr>
              <a:t> = </a:t>
            </a:r>
            <a:r>
              <a:rPr lang="en-US" altLang="zh-CN" sz="2400" i="1" dirty="0">
                <a:latin typeface="Times New Roman" panose="02020603050405020304" pitchFamily="18" charset="0"/>
              </a:rPr>
              <a:t>c</a:t>
            </a:r>
            <a:r>
              <a:rPr lang="en-US" altLang="zh-CN" sz="2400" dirty="0">
                <a:latin typeface="Times New Roman" panose="02020603050405020304" pitchFamily="18" charset="0"/>
              </a:rPr>
              <a:t>*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 by definition.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Thus </a:t>
            </a:r>
            <a:r>
              <a:rPr lang="en-US" altLang="zh-CN" sz="2400" i="1" dirty="0">
                <a:latin typeface="Times New Roman" panose="02020603050405020304" pitchFamily="18" charset="0"/>
              </a:rPr>
              <a:t>c</a:t>
            </a:r>
            <a:r>
              <a:rPr lang="en-US" altLang="zh-CN" sz="2400" dirty="0">
                <a:latin typeface="Times New Roman" panose="02020603050405020304" pitchFamily="18" charset="0"/>
              </a:rPr>
              <a:t> = (</a:t>
            </a:r>
            <a:r>
              <a:rPr lang="en-US" altLang="zh-CN" sz="2400" i="1" dirty="0">
                <a:latin typeface="Times New Roman" panose="02020603050405020304" pitchFamily="18" charset="0"/>
              </a:rPr>
              <a:t>c</a:t>
            </a:r>
            <a:r>
              <a:rPr lang="en-US" altLang="zh-CN" sz="2400" dirty="0">
                <a:latin typeface="Times New Roman" panose="02020603050405020304" pitchFamily="18" charset="0"/>
              </a:rPr>
              <a:t>*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)*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 = </a:t>
            </a:r>
            <a:r>
              <a:rPr lang="en-US" altLang="zh-CN" sz="2400" i="1" dirty="0">
                <a:latin typeface="Times New Roman" panose="02020603050405020304" pitchFamily="18" charset="0"/>
              </a:rPr>
              <a:t>c</a:t>
            </a:r>
            <a:r>
              <a:rPr lang="en-US" altLang="zh-CN" sz="2400" dirty="0">
                <a:latin typeface="Times New Roman" panose="02020603050405020304" pitchFamily="18" charset="0"/>
              </a:rPr>
              <a:t>*(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*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).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so </a:t>
            </a:r>
            <a:r>
              <a:rPr lang="en-US" altLang="zh-CN" sz="2400" i="1" dirty="0">
                <a:latin typeface="Times New Roman" panose="02020603050405020304" pitchFamily="18" charset="0"/>
              </a:rPr>
              <a:t>c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*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This shows that 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*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 is the greatest lower bound of 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 and 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.</a:t>
            </a:r>
            <a:endParaRPr lang="en-US" altLang="zh-CN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44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813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2025/9/24</a:t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813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813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Homework</a:t>
            </a:r>
          </a:p>
        </p:txBody>
      </p:sp>
      <p:sp>
        <p:nvSpPr>
          <p:cNvPr id="48133" name="Rectangle 3"/>
          <p:cNvSpPr>
            <a:spLocks noGrp="1"/>
          </p:cNvSpPr>
          <p:nvPr>
            <p:ph idx="1"/>
          </p:nvPr>
        </p:nvSpPr>
        <p:spPr>
          <a:xfrm>
            <a:off x="755650" y="1196658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20@323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24, 28 @32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8134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9750" y="2522855"/>
            <a:ext cx="4664075" cy="2470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35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43" y="5157470"/>
            <a:ext cx="6002337" cy="555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36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3348" y="2925445"/>
            <a:ext cx="5310187" cy="1308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0ebbcd3-0585-415c-9d1b-04aae1d40ec6"/>
  <p:tag name="COMMONDATA" val="eyJoZGlkIjoiYjZhMmY1NGQwZjE0MWY4MTkzZjM4YzBiNDA1ZmM3ZD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865,&quot;width&quot;:5409}"/>
</p:tagLst>
</file>

<file path=ppt/tags/tag60.xml><?xml version="1.0" encoding="utf-8"?>
<p:tagLst xmlns:p="http://schemas.openxmlformats.org/presentationml/2006/main">
  <p:tag name="RAINPROBLEM" val="ProblemItem"/>
</p:tagLst>
</file>

<file path=ppt/theme/theme1.xml><?xml version="1.0" encoding="utf-8"?>
<a:theme xmlns:a="http://schemas.openxmlformats.org/drawingml/2006/main" name="dm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19</TotalTime>
  <Words>3185</Words>
  <Application>Microsoft Macintosh PowerPoint</Application>
  <PresentationFormat>全屏显示(4:3)</PresentationFormat>
  <Paragraphs>354</Paragraphs>
  <Slides>44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8" baseType="lpstr">
      <vt:lpstr>微软雅黑</vt:lpstr>
      <vt:lpstr>Euclid Math Two</vt:lpstr>
      <vt:lpstr>MT Symbol</vt:lpstr>
      <vt:lpstr>Arial</vt:lpstr>
      <vt:lpstr>Arial Narrow</vt:lpstr>
      <vt:lpstr>Cambria Math</vt:lpstr>
      <vt:lpstr>Copperplate Gothic Bold</vt:lpstr>
      <vt:lpstr>Copperplate Gothic Light</vt:lpstr>
      <vt:lpstr>Symbol</vt:lpstr>
      <vt:lpstr>Tahoma</vt:lpstr>
      <vt:lpstr>Times New Roman</vt:lpstr>
      <vt:lpstr>Wingdings</vt:lpstr>
      <vt:lpstr>dms</vt:lpstr>
      <vt:lpstr>Equation.DSMT4</vt:lpstr>
      <vt:lpstr>Mathematical Structures    （数学结构）</vt:lpstr>
      <vt:lpstr>Mathematical structure</vt:lpstr>
      <vt:lpstr>Example 1</vt:lpstr>
      <vt:lpstr>Example 2</vt:lpstr>
      <vt:lpstr>Closure（封闭性）</vt:lpstr>
      <vt:lpstr>Examples</vt:lpstr>
      <vt:lpstr>Binary operation（二元运算）</vt:lpstr>
      <vt:lpstr>Commutative （交换性）</vt:lpstr>
      <vt:lpstr>Note</vt:lpstr>
      <vt:lpstr>Associative（结合性）</vt:lpstr>
      <vt:lpstr>Distributive （分配）property</vt:lpstr>
      <vt:lpstr>De Morgan‘s laws（德.摩根律）</vt:lpstr>
      <vt:lpstr>Identity(单位元） for an operation</vt:lpstr>
      <vt:lpstr>Theorem 1</vt:lpstr>
      <vt:lpstr>Example 10</vt:lpstr>
      <vt:lpstr>Inverse（逆元）</vt:lpstr>
      <vt:lpstr>Example 11</vt:lpstr>
      <vt:lpstr>Example 12</vt:lpstr>
      <vt:lpstr>Example 12</vt:lpstr>
      <vt:lpstr>PowerPoint 演示文稿</vt:lpstr>
      <vt:lpstr>Binary operations (二元运算)</vt:lpstr>
      <vt:lpstr>Note</vt:lpstr>
      <vt:lpstr>Example 1,2</vt:lpstr>
      <vt:lpstr>Example 3</vt:lpstr>
      <vt:lpstr>Example 4</vt:lpstr>
      <vt:lpstr>Example 5,6</vt:lpstr>
      <vt:lpstr>Example 7,8</vt:lpstr>
      <vt:lpstr>PowerPoint 演示文稿</vt:lpstr>
      <vt:lpstr>Tables – 运算表</vt:lpstr>
      <vt:lpstr>Example 9</vt:lpstr>
      <vt:lpstr>How many operations?</vt:lpstr>
      <vt:lpstr>Properties of Binary Operations（二元运算的性质）</vt:lpstr>
      <vt:lpstr>Commutative –可交换的</vt:lpstr>
      <vt:lpstr>Commutative</vt:lpstr>
      <vt:lpstr>Example 12</vt:lpstr>
      <vt:lpstr>Associative – 可结合的</vt:lpstr>
      <vt:lpstr>Example 15</vt:lpstr>
      <vt:lpstr>Example 16</vt:lpstr>
      <vt:lpstr>Example 16: Solution</vt:lpstr>
      <vt:lpstr>  is reflexive</vt:lpstr>
      <vt:lpstr>  is antisymmetric</vt:lpstr>
      <vt:lpstr>  is transitive</vt:lpstr>
      <vt:lpstr>a*b = a∧b, for all a and b in A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juan yang</cp:lastModifiedBy>
  <cp:revision>401</cp:revision>
  <dcterms:created xsi:type="dcterms:W3CDTF">2025-09-24T11:47:08Z</dcterms:created>
  <dcterms:modified xsi:type="dcterms:W3CDTF">2025-09-24T12:07:45Z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2052-12.1.22218.22218</vt:lpwstr>
  </property>
  <property fmtid="{D5CDD505-2E9C-101B-9397-08002B2CF9AE}" pid="3" name="ICV">
    <vt:lpwstr>7CFEE02280C8431DB93ECD35BF424BDF</vt:lpwstr>
  </property>
</Properties>
</file>