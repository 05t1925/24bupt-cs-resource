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1"/>
  </p:notesMasterIdLst>
  <p:handoutMasterIdLst>
    <p:handoutMasterId r:id="rId72"/>
  </p:handoutMasterIdLst>
  <p:sldIdLst>
    <p:sldId id="256" r:id="rId3"/>
    <p:sldId id="257" r:id="rId4"/>
    <p:sldId id="259" r:id="rId5"/>
    <p:sldId id="261" r:id="rId6"/>
    <p:sldId id="315" r:id="rId7"/>
    <p:sldId id="316" r:id="rId8"/>
    <p:sldId id="355" r:id="rId9"/>
    <p:sldId id="317" r:id="rId10"/>
    <p:sldId id="318" r:id="rId11"/>
    <p:sldId id="265" r:id="rId12"/>
    <p:sldId id="266" r:id="rId13"/>
    <p:sldId id="319" r:id="rId14"/>
    <p:sldId id="320" r:id="rId15"/>
    <p:sldId id="272" r:id="rId16"/>
    <p:sldId id="273" r:id="rId17"/>
    <p:sldId id="274" r:id="rId18"/>
    <p:sldId id="277" r:id="rId19"/>
    <p:sldId id="279" r:id="rId20"/>
    <p:sldId id="321" r:id="rId21"/>
    <p:sldId id="282" r:id="rId22"/>
    <p:sldId id="284" r:id="rId23"/>
    <p:sldId id="286" r:id="rId24"/>
    <p:sldId id="287" r:id="rId25"/>
    <p:sldId id="288" r:id="rId26"/>
    <p:sldId id="290" r:id="rId27"/>
    <p:sldId id="293" r:id="rId28"/>
    <p:sldId id="295" r:id="rId29"/>
    <p:sldId id="297" r:id="rId30"/>
    <p:sldId id="304" r:id="rId31"/>
    <p:sldId id="305" r:id="rId32"/>
    <p:sldId id="322" r:id="rId33"/>
    <p:sldId id="323" r:id="rId34"/>
    <p:sldId id="356" r:id="rId35"/>
    <p:sldId id="306" r:id="rId36"/>
    <p:sldId id="307" r:id="rId37"/>
    <p:sldId id="324" r:id="rId38"/>
    <p:sldId id="312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42" r:id="rId57"/>
    <p:sldId id="343" r:id="rId58"/>
    <p:sldId id="344" r:id="rId59"/>
    <p:sldId id="345" r:id="rId60"/>
    <p:sldId id="346" r:id="rId62"/>
    <p:sldId id="347" r:id="rId63"/>
    <p:sldId id="348" r:id="rId64"/>
    <p:sldId id="349" r:id="rId65"/>
    <p:sldId id="350" r:id="rId66"/>
    <p:sldId id="351" r:id="rId67"/>
    <p:sldId id="352" r:id="rId68"/>
    <p:sldId id="353" r:id="rId69"/>
    <p:sldId id="357" r:id="rId70"/>
    <p:sldId id="354" r:id="rId71"/>
  </p:sldIdLst>
  <p:sldSz cx="9144000" cy="6858000" type="screen4x3"/>
  <p:notesSz cx="6858000" cy="9144000"/>
  <p:custDataLst>
    <p:tags r:id="rId76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4" userDrawn="1">
          <p15:clr>
            <a:srgbClr val="A4A3A4"/>
          </p15:clr>
        </p15:guide>
        <p15:guide id="2" pos="48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6DE202"/>
    <a:srgbClr val="03E118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/>
    <p:restoredTop sz="94645"/>
  </p:normalViewPr>
  <p:slideViewPr>
    <p:cSldViewPr showGuides="1">
      <p:cViewPr varScale="1">
        <p:scale>
          <a:sx n="95" d="100"/>
          <a:sy n="95" d="100"/>
        </p:scale>
        <p:origin x="1056" y="42"/>
      </p:cViewPr>
      <p:guideLst>
        <p:guide orient="horz" pos="1434"/>
        <p:guide pos="48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6" Type="http://schemas.openxmlformats.org/officeDocument/2006/relationships/tags" Target="tags/tag43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9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9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02E053-3DB1-484B-BB7A-A1C24930EE4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B3B16A-F8BA-4AC3-911D-2F53735F7C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0" hangingPunct="0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645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45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0" hangingPunct="0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757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4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053" name="Rectangle 5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" name="Rectangle 6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5" name="Group 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056" name="Rectangle 8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lvl="0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7" name="Rectangle 9"/>
              <p:cNvSpPr/>
              <p:nvPr/>
            </p:nvSpPr>
            <p:spPr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0" hangingPunct="0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8" name="Rectangle 10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59" name="Rectangle 11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lvl="0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60" name="Rectangle 12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61" name="Rectangle 18"/>
          <p:cNvSpPr/>
          <p:nvPr/>
        </p:nvSpPr>
        <p:spPr>
          <a:xfrm>
            <a:off x="4419600" y="4114800"/>
            <a:ext cx="4724400" cy="2184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0"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dirty="0">
                <a:solidFill>
                  <a:schemeClr val="folHlink"/>
                </a:solidFill>
                <a:latin typeface="Copperplate Gothic Light" panose="020E0507020206020404" pitchFamily="34" charset="0"/>
              </a:rPr>
              <a:t>Yang Juan</a:t>
            </a:r>
            <a:endParaRPr lang="en-US" altLang="zh-CN" dirty="0">
              <a:solidFill>
                <a:schemeClr val="folHlink"/>
              </a:solidFill>
              <a:latin typeface="Copperplate Gothic Light" panose="020E0507020206020404" pitchFamily="34" charset="0"/>
            </a:endParaRPr>
          </a:p>
          <a:p>
            <a:pPr lvl="0"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rgbClr val="009999"/>
                </a:solidFill>
                <a:latin typeface="Times New Roman" panose="02020603050405020304" pitchFamily="18" charset="0"/>
              </a:rPr>
              <a:t>yangjuan@bupt.edu.cn</a:t>
            </a:r>
            <a:endParaRPr lang="en-US" altLang="zh-CN" sz="1600" dirty="0">
              <a:solidFill>
                <a:srgbClr val="009999"/>
              </a:solidFill>
              <a:latin typeface="Times New Roman" panose="02020603050405020304" pitchFamily="18" charset="0"/>
            </a:endParaRPr>
          </a:p>
          <a:p>
            <a:pPr lvl="0">
              <a:spcBef>
                <a:spcPct val="50000"/>
              </a:spcBef>
              <a:buClr>
                <a:schemeClr val="folHlink"/>
              </a:buClr>
              <a:buSzPct val="60000"/>
            </a:pPr>
            <a:endParaRPr lang="en-US" altLang="zh-CN" sz="1600" dirty="0">
              <a:solidFill>
                <a:srgbClr val="009999"/>
              </a:solidFill>
              <a:latin typeface="Times New Roman" panose="02020603050405020304" pitchFamily="18" charset="0"/>
            </a:endParaRPr>
          </a:p>
          <a:p>
            <a:pPr lvl="0"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rgbClr val="009999"/>
                </a:solidFill>
                <a:latin typeface="Copperplate Gothic Light" panose="020E0507020206020404" pitchFamily="34" charset="0"/>
              </a:rPr>
              <a:t>School of Computer Science</a:t>
            </a:r>
            <a:endParaRPr lang="en-US" altLang="zh-CN" sz="1600" dirty="0">
              <a:solidFill>
                <a:srgbClr val="009999"/>
              </a:solidFill>
              <a:latin typeface="Copperplate Gothic Light" panose="020E0507020206020404" pitchFamily="34" charset="0"/>
            </a:endParaRPr>
          </a:p>
          <a:p>
            <a:pPr lvl="0"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altLang="zh-CN" sz="1600" dirty="0">
                <a:solidFill>
                  <a:srgbClr val="009999"/>
                </a:solidFill>
                <a:latin typeface="Copperplate Gothic Light" panose="020E0507020206020404" pitchFamily="34" charset="0"/>
              </a:rPr>
              <a:t>Beijing University of Posts &amp; Telecommunications</a:t>
            </a:r>
            <a:endParaRPr lang="zh-CN" altLang="en-US" sz="1600" dirty="0">
              <a:solidFill>
                <a:srgbClr val="009999"/>
              </a:solidFill>
              <a:latin typeface="Copperplate Gothic Light" panose="020E0507020206020404" pitchFamily="34" charset="0"/>
            </a:endParaRPr>
          </a:p>
        </p:txBody>
      </p:sp>
      <p:sp>
        <p:nvSpPr>
          <p:cNvPr id="704525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04526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B96ABD-0871-4050-80FA-E107D3F31E9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34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 smtClean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CDF72-D309-40A1-96EC-FBAEAD6A5EC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4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3" name="Rectangle 9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4" name="Rectangle 10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2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03501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3AB90B-741B-4A65-9572-30385AD4A365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0350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b="1" i="1" dirty="0" smtClean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4.xml"/><Relationship Id="rId14" Type="http://schemas.openxmlformats.org/officeDocument/2006/relationships/image" Target="../media/image2.png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36.xml"/><Relationship Id="rId2" Type="http://schemas.openxmlformats.org/officeDocument/2006/relationships/image" Target="../media/image6.png"/><Relationship Id="rId1" Type="http://schemas.openxmlformats.org/officeDocument/2006/relationships/slide" Target="slide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slide" Target="slide2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tags" Target="../tags/tag15.xml"/><Relationship Id="rId1" Type="http://schemas.openxmlformats.org/officeDocument/2006/relationships/slide" Target="slide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7.xml"/><Relationship Id="rId12" Type="http://schemas.openxmlformats.org/officeDocument/2006/relationships/image" Target="../media/image2.pn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7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0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1.bin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2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3.bin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14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42.xml"/><Relationship Id="rId14" Type="http://schemas.openxmlformats.org/officeDocument/2006/relationships/image" Target="../media/image2.png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928688" y="1925638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Groups – </a:t>
            </a:r>
            <a:r>
              <a:rPr lang="zh-CN" altLang="en-US" dirty="0">
                <a:latin typeface="Copperplate Gothic Bold" panose="020E0705020206020404" pitchFamily="34" charset="0"/>
                <a:ea typeface="+mj-ea"/>
                <a:cs typeface="+mj-cs"/>
              </a:rPr>
              <a:t>群</a:t>
            </a:r>
            <a:endParaRPr lang="zh-CN" altLang="en-US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subTitle" idx="1"/>
          </p:nvPr>
        </p:nvSpPr>
        <p:spPr>
          <a:xfrm>
            <a:off x="1371600" y="3857625"/>
            <a:ext cx="6400800" cy="1752600"/>
          </a:xfrm>
        </p:spPr>
        <p:txBody>
          <a:bodyPr vert="horz" wrap="square" lIns="91440" tIns="45720" rIns="91440" bIns="45720" anchor="t" anchorCtr="0"/>
          <a:p>
            <a:pPr eaLnBrk="1" fontAlgn="base" hangingPunct="1">
              <a:buSzPct val="60000"/>
            </a:pPr>
            <a:endParaRPr lang="zh-CN" altLang="en-US" strike="noStrike" noProof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Definition</a:t>
            </a:r>
            <a:endParaRPr lang="zh-CN" altLang="en-US" dirty="0"/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>
          <a:xfrm>
            <a:off x="838200" y="2017713"/>
            <a:ext cx="8116888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A </a:t>
            </a:r>
            <a:r>
              <a:rPr lang="en-US" altLang="zh-CN" sz="2800" i="1" dirty="0">
                <a:solidFill>
                  <a:srgbClr val="FF3300"/>
                </a:solidFill>
              </a:rPr>
              <a:t>group</a:t>
            </a:r>
            <a:r>
              <a:rPr lang="en-US" altLang="zh-CN" sz="2800" dirty="0"/>
              <a:t> (</a:t>
            </a:r>
            <a:r>
              <a:rPr lang="en-US" altLang="zh-CN" sz="2800" i="1" dirty="0"/>
              <a:t>G</a:t>
            </a:r>
            <a:r>
              <a:rPr lang="en-US" altLang="zh-CN" sz="2800" dirty="0"/>
              <a:t>, *) is a set together with a binary operation * on </a:t>
            </a:r>
            <a:r>
              <a:rPr lang="en-US" altLang="zh-CN" sz="2800" i="1" dirty="0"/>
              <a:t>G</a:t>
            </a:r>
            <a:r>
              <a:rPr lang="en-US" altLang="zh-CN" sz="2800" dirty="0"/>
              <a:t> such that, for any elements </a:t>
            </a:r>
            <a:r>
              <a:rPr lang="en-US" altLang="zh-CN" sz="2800" i="1" dirty="0"/>
              <a:t>a</a:t>
            </a:r>
            <a:r>
              <a:rPr lang="en-US" altLang="zh-CN" sz="2800" dirty="0"/>
              <a:t>, </a:t>
            </a:r>
            <a:r>
              <a:rPr lang="en-US" altLang="zh-CN" sz="2800" i="1" dirty="0"/>
              <a:t>b</a:t>
            </a:r>
            <a:r>
              <a:rPr lang="en-US" altLang="zh-CN" sz="2800" dirty="0"/>
              <a:t>, and </a:t>
            </a:r>
            <a:r>
              <a:rPr lang="en-US" altLang="zh-CN" sz="2800" i="1" dirty="0"/>
              <a:t>c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G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)*</a:t>
            </a:r>
            <a:r>
              <a:rPr lang="en-US" altLang="zh-CN" sz="2400" i="1" dirty="0"/>
              <a:t>c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</a:t>
            </a:r>
            <a:r>
              <a:rPr lang="en-US" altLang="zh-CN" sz="2400" dirty="0"/>
              <a:t>*(</a:t>
            </a:r>
            <a:r>
              <a:rPr lang="en-US" altLang="zh-CN" sz="2400" i="1" dirty="0"/>
              <a:t>b</a:t>
            </a:r>
            <a:r>
              <a:rPr lang="en-US" altLang="zh-CN" sz="2400" dirty="0"/>
              <a:t>*</a:t>
            </a:r>
            <a:r>
              <a:rPr lang="en-US" altLang="zh-CN" sz="2400" i="1" dirty="0"/>
              <a:t>c</a:t>
            </a:r>
            <a:r>
              <a:rPr lang="en-US" altLang="zh-CN" sz="2400" dirty="0"/>
              <a:t>).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a unique element </a:t>
            </a:r>
            <a:r>
              <a:rPr lang="en-US" altLang="zh-CN" sz="2400" i="1" dirty="0"/>
              <a:t>e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G</a:t>
            </a:r>
            <a:r>
              <a:rPr lang="en-US" altLang="zh-CN" sz="2400" dirty="0"/>
              <a:t> such that </a:t>
            </a:r>
            <a:endParaRPr lang="en-US" altLang="zh-CN" sz="2400" dirty="0"/>
          </a:p>
          <a:p>
            <a:pPr lvl="2" eaLnBrk="1" hangingPunct="1"/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e</a:t>
            </a:r>
            <a:r>
              <a:rPr lang="en-US" altLang="zh-CN" sz="2000" dirty="0"/>
              <a:t> = </a:t>
            </a:r>
            <a:r>
              <a:rPr lang="en-US" altLang="zh-CN" sz="2000" i="1" dirty="0"/>
              <a:t>e</a:t>
            </a:r>
            <a:r>
              <a:rPr lang="en-US" altLang="zh-CN" sz="2000" dirty="0"/>
              <a:t>*</a:t>
            </a:r>
            <a:r>
              <a:rPr lang="en-US" altLang="zh-CN" sz="2000" i="1" dirty="0"/>
              <a:t>a=a       for any a</a:t>
            </a:r>
            <a:r>
              <a:rPr lang="en-US" altLang="zh-CN" sz="2000" i="1" dirty="0">
                <a:sym typeface="Symbol" panose="05050102010706020507" charset="0"/>
              </a:rPr>
              <a:t></a:t>
            </a:r>
            <a:r>
              <a:rPr lang="en-US" altLang="zh-CN" sz="2000" i="1" dirty="0"/>
              <a:t>G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1" eaLnBrk="1" hangingPunct="1"/>
            <a:r>
              <a:rPr lang="en-US" altLang="zh-CN" sz="2400" dirty="0"/>
              <a:t>an element </a:t>
            </a:r>
            <a:r>
              <a:rPr lang="en-US" altLang="zh-CN" sz="2400" i="1" dirty="0"/>
              <a:t>a</a:t>
            </a:r>
            <a:r>
              <a:rPr lang="en-US" altLang="zh-CN" sz="2400" dirty="0"/>
              <a:t>'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G, called an inverse of </a:t>
            </a:r>
            <a:r>
              <a:rPr lang="en-US" altLang="zh-CN" sz="2400" i="1" dirty="0"/>
              <a:t>a </a:t>
            </a:r>
            <a:r>
              <a:rPr lang="en-US" altLang="zh-CN" sz="2400" dirty="0"/>
              <a:t>and written as 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, such that </a:t>
            </a:r>
            <a:endParaRPr lang="en-US" altLang="zh-CN" sz="2400" dirty="0"/>
          </a:p>
          <a:p>
            <a:pPr lvl="2" eaLnBrk="1" hangingPunct="1"/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a</a:t>
            </a:r>
            <a:r>
              <a:rPr lang="en-US" altLang="zh-CN" sz="2000" dirty="0"/>
              <a:t>' = </a:t>
            </a:r>
            <a:r>
              <a:rPr lang="en-US" altLang="zh-CN" sz="2000" i="1" dirty="0"/>
              <a:t>a</a:t>
            </a:r>
            <a:r>
              <a:rPr lang="en-US" altLang="zh-CN" sz="2000" dirty="0"/>
              <a:t>'*</a:t>
            </a:r>
            <a:r>
              <a:rPr lang="en-US" altLang="zh-CN" sz="2000" i="1" dirty="0"/>
              <a:t>a</a:t>
            </a:r>
            <a:r>
              <a:rPr lang="en-US" altLang="zh-CN" sz="2000" dirty="0"/>
              <a:t> = </a:t>
            </a:r>
            <a:r>
              <a:rPr lang="en-US" altLang="zh-CN" sz="2000" i="1" dirty="0"/>
              <a:t>e </a:t>
            </a:r>
            <a:r>
              <a:rPr lang="en-US" altLang="zh-CN" sz="2000" dirty="0"/>
              <a:t>or </a:t>
            </a:r>
            <a:r>
              <a:rPr lang="en-US" altLang="zh-CN" sz="2000" i="1" dirty="0"/>
              <a:t>aa</a:t>
            </a:r>
            <a:r>
              <a:rPr lang="en-US" altLang="zh-CN" sz="2000" dirty="0"/>
              <a:t>' = </a:t>
            </a:r>
            <a:r>
              <a:rPr lang="en-US" altLang="zh-CN" sz="2000" i="1" dirty="0"/>
              <a:t>a</a:t>
            </a:r>
            <a:r>
              <a:rPr lang="en-US" altLang="zh-CN" sz="2000" dirty="0"/>
              <a:t>'</a:t>
            </a:r>
            <a:r>
              <a:rPr lang="en-US" altLang="zh-CN" sz="2000" i="1" dirty="0"/>
              <a:t>a</a:t>
            </a:r>
            <a:r>
              <a:rPr lang="en-US" altLang="zh-CN" sz="2000" dirty="0"/>
              <a:t> = </a:t>
            </a:r>
            <a:r>
              <a:rPr lang="en-US" altLang="zh-CN" sz="2000" i="1" dirty="0"/>
              <a:t>e </a:t>
            </a:r>
            <a:r>
              <a:rPr lang="en-US" altLang="zh-CN" sz="2000" dirty="0"/>
              <a:t>or </a:t>
            </a:r>
            <a:r>
              <a:rPr lang="en-US" altLang="zh-CN" sz="2000" i="1" dirty="0"/>
              <a:t>aa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= 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-1</a:t>
            </a:r>
            <a:r>
              <a:rPr lang="en-US" altLang="zh-CN" sz="2000" i="1" dirty="0"/>
              <a:t>a</a:t>
            </a:r>
            <a:r>
              <a:rPr lang="en-US" altLang="zh-CN" sz="2000" dirty="0"/>
              <a:t> = </a:t>
            </a:r>
            <a:r>
              <a:rPr lang="en-US" altLang="zh-CN" sz="2000" i="1" dirty="0"/>
              <a:t>e</a:t>
            </a:r>
            <a:endParaRPr lang="en-US" altLang="zh-CN" sz="20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Abelian – </a:t>
            </a:r>
            <a:r>
              <a:rPr lang="zh-CN" altLang="en-US" dirty="0"/>
              <a:t>阿贝尔群</a:t>
            </a:r>
            <a:endParaRPr lang="zh-CN" altLang="en-US" dirty="0"/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zh-CN" dirty="0"/>
              <a:t> </a:t>
            </a:r>
            <a:r>
              <a:rPr lang="en-US" altLang="zh-CN" dirty="0"/>
              <a:t>A group </a:t>
            </a:r>
            <a:r>
              <a:rPr lang="en-US" altLang="zh-CN" i="1" dirty="0"/>
              <a:t>G</a:t>
            </a:r>
            <a:r>
              <a:rPr lang="en-US" altLang="zh-CN" dirty="0"/>
              <a:t> is said to be </a:t>
            </a:r>
            <a:r>
              <a:rPr lang="en-US" altLang="zh-CN" i="1" dirty="0">
                <a:solidFill>
                  <a:schemeClr val="hlink"/>
                </a:solidFill>
              </a:rPr>
              <a:t>Abelian</a:t>
            </a:r>
            <a:r>
              <a:rPr lang="en-US" altLang="zh-CN" dirty="0"/>
              <a:t> if </a:t>
            </a:r>
            <a:r>
              <a:rPr lang="en-US" altLang="zh-CN" i="1" dirty="0"/>
              <a:t>ab</a:t>
            </a:r>
            <a:r>
              <a:rPr lang="en-US" altLang="zh-CN" dirty="0"/>
              <a:t> = </a:t>
            </a:r>
            <a:r>
              <a:rPr lang="en-US" altLang="zh-CN" i="1" dirty="0"/>
              <a:t>ba</a:t>
            </a:r>
            <a:r>
              <a:rPr lang="en-US" altLang="zh-CN" dirty="0"/>
              <a:t> for all elements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4</a:t>
            </a:r>
            <a:endParaRPr lang="zh-CN" altLang="en-US" dirty="0"/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>
          <a:xfrm>
            <a:off x="1143000" y="2017713"/>
            <a:ext cx="7812088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G be the set of all nonzero real numbers and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ab</a:t>
            </a:r>
            <a:r>
              <a:rPr lang="en-US" altLang="zh-CN" dirty="0"/>
              <a:t>/2. </a:t>
            </a:r>
            <a:endParaRPr lang="en-US" altLang="zh-CN" dirty="0"/>
          </a:p>
          <a:p>
            <a:pPr eaLnBrk="1" hangingPunct="1"/>
            <a:r>
              <a:rPr lang="en-US" altLang="zh-CN" dirty="0"/>
              <a:t>Show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, *) is an Abelian group.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4 - Solution</a:t>
            </a:r>
            <a:endParaRPr lang="zh-CN" altLang="en-US" dirty="0"/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>
          <a:xfrm>
            <a:off x="1143000" y="2017713"/>
            <a:ext cx="7812088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* is a binary operation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are elements of 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then </a:t>
            </a:r>
            <a:r>
              <a:rPr lang="en-US" altLang="zh-CN" i="1" dirty="0"/>
              <a:t>ab</a:t>
            </a:r>
            <a:r>
              <a:rPr lang="en-US" altLang="zh-CN" dirty="0"/>
              <a:t>/2 is a nonzero real number and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hence is in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associativity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)*</a:t>
            </a:r>
            <a:r>
              <a:rPr lang="en-US" altLang="zh-CN" i="1" dirty="0"/>
              <a:t>c</a:t>
            </a:r>
            <a:r>
              <a:rPr lang="en-US" altLang="zh-CN" dirty="0"/>
              <a:t> = (</a:t>
            </a:r>
            <a:r>
              <a:rPr lang="en-US" altLang="zh-CN" i="1" dirty="0"/>
              <a:t>ab</a:t>
            </a:r>
            <a:r>
              <a:rPr lang="en-US" altLang="zh-CN" dirty="0"/>
              <a:t>/2)*</a:t>
            </a:r>
            <a:r>
              <a:rPr lang="en-US" altLang="zh-CN" i="1" dirty="0"/>
              <a:t>c</a:t>
            </a:r>
            <a:r>
              <a:rPr lang="en-US" altLang="zh-CN" dirty="0"/>
              <a:t> = 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i="1" dirty="0"/>
              <a:t>c</a:t>
            </a:r>
            <a:r>
              <a:rPr lang="en-US" altLang="zh-CN" dirty="0"/>
              <a:t>/4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dirty="0"/>
              <a:t>*(</a:t>
            </a:r>
            <a:r>
              <a:rPr lang="en-US" altLang="zh-CN" i="1" dirty="0"/>
              <a:t>b</a:t>
            </a:r>
            <a:r>
              <a:rPr lang="en-US" altLang="zh-CN" dirty="0"/>
              <a:t>*</a:t>
            </a:r>
            <a:r>
              <a:rPr lang="en-US" altLang="zh-CN" i="1" dirty="0"/>
              <a:t>c</a:t>
            </a:r>
            <a:r>
              <a:rPr lang="en-US" altLang="zh-CN" dirty="0"/>
              <a:t>) = </a:t>
            </a:r>
            <a:r>
              <a:rPr lang="en-US" altLang="zh-CN" i="1" dirty="0"/>
              <a:t>a</a:t>
            </a:r>
            <a:r>
              <a:rPr lang="en-US" altLang="zh-CN" dirty="0"/>
              <a:t>*(</a:t>
            </a:r>
            <a:r>
              <a:rPr lang="en-US" altLang="zh-CN" i="1" dirty="0"/>
              <a:t>bc</a:t>
            </a:r>
            <a:r>
              <a:rPr lang="en-US" altLang="zh-CN" dirty="0"/>
              <a:t>/2) = </a:t>
            </a:r>
            <a:r>
              <a:rPr lang="en-US" altLang="zh-CN" i="1" dirty="0"/>
              <a:t>a</a:t>
            </a:r>
            <a:r>
              <a:rPr lang="en-US" altLang="zh-CN" dirty="0"/>
              <a:t>(</a:t>
            </a:r>
            <a:r>
              <a:rPr lang="en-US" altLang="zh-CN" i="1" dirty="0"/>
              <a:t>bc</a:t>
            </a:r>
            <a:r>
              <a:rPr lang="en-US" altLang="zh-CN" dirty="0"/>
              <a:t>)/4= 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i="1" dirty="0"/>
              <a:t>c</a:t>
            </a:r>
            <a:r>
              <a:rPr lang="en-US" altLang="zh-CN" dirty="0"/>
              <a:t>/ 4.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* is associative.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4 - Solution</a:t>
            </a:r>
            <a:endParaRPr lang="zh-CN" altLang="en-US" dirty="0"/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>
          <a:xfrm>
            <a:off x="1143000" y="2017713"/>
            <a:ext cx="7812088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2 is the identity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dirty="0"/>
              <a:t>*2 = (</a:t>
            </a:r>
            <a:r>
              <a:rPr lang="en-US" altLang="zh-CN" i="1" dirty="0"/>
              <a:t>a</a:t>
            </a:r>
            <a:r>
              <a:rPr lang="en-US" altLang="zh-CN" dirty="0"/>
              <a:t>)(2)/2 = </a:t>
            </a:r>
            <a:r>
              <a:rPr lang="en-US" altLang="zh-CN" i="1" dirty="0"/>
              <a:t>a </a:t>
            </a:r>
            <a:r>
              <a:rPr lang="en-US" altLang="zh-CN" dirty="0"/>
              <a:t>= (2)(</a:t>
            </a:r>
            <a:r>
              <a:rPr lang="en-US" altLang="zh-CN" i="1" dirty="0"/>
              <a:t>a</a:t>
            </a:r>
            <a:r>
              <a:rPr lang="en-US" altLang="zh-CN" dirty="0"/>
              <a:t>)/2 = 2*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dirty="0"/>
              <a:t>' = 4/</a:t>
            </a:r>
            <a:r>
              <a:rPr lang="en-US" altLang="zh-CN" i="1" dirty="0"/>
              <a:t>a</a:t>
            </a:r>
            <a:r>
              <a:rPr lang="en-US" altLang="zh-CN" dirty="0"/>
              <a:t> is an inverse of </a:t>
            </a:r>
            <a:r>
              <a:rPr lang="en-US" altLang="zh-CN" i="1" dirty="0"/>
              <a:t>a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dirty="0"/>
              <a:t>' = </a:t>
            </a:r>
            <a:r>
              <a:rPr lang="en-US" altLang="zh-CN" i="1" dirty="0"/>
              <a:t>a</a:t>
            </a:r>
            <a:r>
              <a:rPr lang="en-US" altLang="zh-CN" dirty="0"/>
              <a:t>*4/</a:t>
            </a:r>
            <a:r>
              <a:rPr lang="en-US" altLang="zh-CN" i="1" dirty="0"/>
              <a:t>a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dirty="0"/>
              <a:t>(4/</a:t>
            </a:r>
            <a:r>
              <a:rPr lang="en-US" altLang="zh-CN" i="1" dirty="0"/>
              <a:t>a</a:t>
            </a:r>
            <a:r>
              <a:rPr lang="en-US" altLang="zh-CN" dirty="0"/>
              <a:t>)/2 = 2 = (4/</a:t>
            </a:r>
            <a:r>
              <a:rPr lang="en-US" altLang="zh-CN" i="1" dirty="0"/>
              <a:t>a</a:t>
            </a:r>
            <a:r>
              <a:rPr lang="en-US" altLang="zh-CN" dirty="0"/>
              <a:t>)(</a:t>
            </a:r>
            <a:r>
              <a:rPr lang="en-US" altLang="zh-CN" i="1" dirty="0"/>
              <a:t>a</a:t>
            </a:r>
            <a:r>
              <a:rPr lang="en-US" altLang="zh-CN" dirty="0"/>
              <a:t>)/2 = (4/</a:t>
            </a:r>
            <a:r>
              <a:rPr lang="en-US" altLang="zh-CN" i="1" dirty="0"/>
              <a:t>a</a:t>
            </a:r>
            <a:r>
              <a:rPr lang="en-US" altLang="zh-CN" dirty="0"/>
              <a:t>)*</a:t>
            </a:r>
            <a:r>
              <a:rPr lang="en-US" altLang="zh-CN" i="1" dirty="0"/>
              <a:t>a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dirty="0"/>
              <a:t>' *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Abelian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ab</a:t>
            </a:r>
            <a:r>
              <a:rPr lang="en-US" altLang="zh-CN" dirty="0"/>
              <a:t>/2 = </a:t>
            </a:r>
            <a:r>
              <a:rPr lang="en-US" altLang="zh-CN" i="1" dirty="0"/>
              <a:t>ba</a:t>
            </a:r>
            <a:r>
              <a:rPr lang="en-US" altLang="zh-CN" dirty="0"/>
              <a:t>/2 = </a:t>
            </a:r>
            <a:r>
              <a:rPr lang="en-US" altLang="zh-CN" i="1" dirty="0"/>
              <a:t>b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So, </a:t>
            </a:r>
            <a:r>
              <a:rPr lang="en-US" altLang="zh-CN" i="1" dirty="0"/>
              <a:t>G</a:t>
            </a:r>
            <a:r>
              <a:rPr lang="en-US" altLang="zh-CN" dirty="0"/>
              <a:t> is an Abelian group.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文本框 6"/>
          <p:cNvSpPr txBox="1"/>
          <p:nvPr>
            <p:custDataLst>
              <p:tags r:id="rId1"/>
            </p:custDataLst>
          </p:nvPr>
        </p:nvSpPr>
        <p:spPr>
          <a:xfrm>
            <a:off x="1042988" y="514350"/>
            <a:ext cx="7315200" cy="1762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Which of the following set together with the binary operation is a group?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67" name="文本框 7"/>
          <p:cNvSpPr txBox="1"/>
          <p:nvPr>
            <p:custDataLst>
              <p:tags r:id="rId2"/>
            </p:custDataLst>
          </p:nvPr>
        </p:nvSpPr>
        <p:spPr>
          <a:xfrm>
            <a:off x="1828800" y="242093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Z</a:t>
            </a:r>
            <a:r>
              <a:rPr lang="en-US" altLang="zh-CN" sz="26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+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,under the operation of addition.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68" name="文本框 8"/>
          <p:cNvSpPr txBox="1"/>
          <p:nvPr>
            <p:custDataLst>
              <p:tags r:id="rId3"/>
            </p:custDataLst>
          </p:nvPr>
        </p:nvSpPr>
        <p:spPr>
          <a:xfrm>
            <a:off x="1828800" y="342423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The real numbers that are not equal to -1,where a*b=a+b+ab.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69" name="文本框 9"/>
          <p:cNvSpPr txBox="1"/>
          <p:nvPr>
            <p:custDataLst>
              <p:tags r:id="rId4"/>
            </p:custDataLst>
          </p:nvPr>
        </p:nvSpPr>
        <p:spPr>
          <a:xfrm>
            <a:off x="1828800" y="42926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The set of all rational numbers under the operation of addition.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0" name="矩形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484438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1" name="矩形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487738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2" name="矩形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357688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3" name="矩形: 圆角 15"/>
          <p:cNvSpPr/>
          <p:nvPr>
            <p:custDataLst>
              <p:tags r:id="rId8"/>
            </p:custDataLst>
          </p:nvPr>
        </p:nvSpPr>
        <p:spPr>
          <a:xfrm>
            <a:off x="6227763" y="5532438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274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127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7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7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278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1279" name="图片 5"/>
          <p:cNvPicPr/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1</a:t>
            </a:r>
            <a:endParaRPr lang="zh-CN" altLang="en-US" dirty="0"/>
          </a:p>
        </p:txBody>
      </p:sp>
      <p:sp>
        <p:nvSpPr>
          <p:cNvPr id="122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dirty="0"/>
              <a:t> be a group. Each element </a:t>
            </a:r>
            <a:r>
              <a:rPr lang="en-US" altLang="zh-CN" i="1" dirty="0"/>
              <a:t>a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  <a:r>
              <a:rPr lang="en-US" altLang="zh-CN" dirty="0"/>
              <a:t> has only one inverse in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Proof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2" eaLnBrk="1" hangingPunct="1"/>
            <a:r>
              <a:rPr lang="en-US" altLang="zh-CN" i="1" dirty="0"/>
              <a:t>a</a:t>
            </a:r>
            <a:r>
              <a:rPr lang="en-US" altLang="zh-CN" dirty="0"/>
              <a:t>' and </a:t>
            </a:r>
            <a:r>
              <a:rPr lang="en-US" altLang="zh-CN" i="1" dirty="0"/>
              <a:t>a</a:t>
            </a:r>
            <a:r>
              <a:rPr lang="en-US" altLang="zh-CN" dirty="0"/>
              <a:t>" be inverses of 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Then</a:t>
            </a:r>
            <a:endParaRPr lang="en-US" altLang="zh-CN" dirty="0"/>
          </a:p>
          <a:p>
            <a:pPr lvl="2" eaLnBrk="1" hangingPunct="1"/>
            <a:r>
              <a:rPr lang="en-US" altLang="zh-CN" i="1" dirty="0"/>
              <a:t>a</a:t>
            </a:r>
            <a:r>
              <a:rPr lang="en-US" altLang="zh-CN" dirty="0"/>
              <a:t>' = </a:t>
            </a:r>
            <a:r>
              <a:rPr lang="en-US" altLang="zh-CN" i="1" dirty="0"/>
              <a:t>a</a:t>
            </a:r>
            <a:r>
              <a:rPr lang="en-US" altLang="zh-CN" dirty="0"/>
              <a:t>'</a:t>
            </a:r>
            <a:r>
              <a:rPr lang="en-US" altLang="zh-CN" i="1" dirty="0"/>
              <a:t>e</a:t>
            </a:r>
            <a:r>
              <a:rPr lang="en-US" altLang="zh-CN" dirty="0"/>
              <a:t> = </a:t>
            </a:r>
            <a:r>
              <a:rPr lang="en-US" altLang="zh-CN" i="1" dirty="0">
                <a:solidFill>
                  <a:schemeClr val="hlink"/>
                </a:solidFill>
              </a:rPr>
              <a:t>a</a:t>
            </a:r>
            <a:r>
              <a:rPr lang="en-US" altLang="zh-CN" dirty="0">
                <a:solidFill>
                  <a:schemeClr val="hlink"/>
                </a:solidFill>
              </a:rPr>
              <a:t>'(</a:t>
            </a:r>
            <a:r>
              <a:rPr lang="en-US" altLang="zh-CN" i="1" dirty="0">
                <a:solidFill>
                  <a:schemeClr val="hlink"/>
                </a:solidFill>
              </a:rPr>
              <a:t>aa</a:t>
            </a:r>
            <a:r>
              <a:rPr lang="en-US" altLang="zh-CN" dirty="0">
                <a:solidFill>
                  <a:schemeClr val="hlink"/>
                </a:solidFill>
              </a:rPr>
              <a:t>") = (</a:t>
            </a:r>
            <a:r>
              <a:rPr lang="en-US" altLang="zh-CN" i="1" dirty="0">
                <a:solidFill>
                  <a:schemeClr val="hlink"/>
                </a:solidFill>
              </a:rPr>
              <a:t>a</a:t>
            </a:r>
            <a:r>
              <a:rPr lang="en-US" altLang="zh-CN" dirty="0">
                <a:solidFill>
                  <a:schemeClr val="hlink"/>
                </a:solidFill>
              </a:rPr>
              <a:t>'</a:t>
            </a:r>
            <a:r>
              <a:rPr lang="en-US" altLang="zh-CN" i="1" dirty="0">
                <a:solidFill>
                  <a:schemeClr val="hlink"/>
                </a:solidFill>
              </a:rPr>
              <a:t>a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i="1" dirty="0">
                <a:solidFill>
                  <a:schemeClr val="hlink"/>
                </a:solidFill>
              </a:rPr>
              <a:t>a</a:t>
            </a:r>
            <a:r>
              <a:rPr lang="en-US" altLang="zh-CN" dirty="0">
                <a:solidFill>
                  <a:schemeClr val="hlink"/>
                </a:solidFill>
              </a:rPr>
              <a:t>"</a:t>
            </a:r>
            <a:r>
              <a:rPr lang="en-US" altLang="zh-CN" dirty="0"/>
              <a:t> = </a:t>
            </a:r>
            <a:r>
              <a:rPr lang="en-US" altLang="zh-CN" i="1" dirty="0"/>
              <a:t>ea</a:t>
            </a:r>
            <a:r>
              <a:rPr lang="en-US" altLang="zh-CN" dirty="0"/>
              <a:t>" = </a:t>
            </a:r>
            <a:r>
              <a:rPr lang="en-US" altLang="zh-CN" i="1" dirty="0"/>
              <a:t>a</a:t>
            </a:r>
            <a:r>
              <a:rPr lang="en-US" altLang="zh-CN" dirty="0"/>
              <a:t>".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</a:t>
            </a:r>
            <a:r>
              <a:rPr lang="en-US" altLang="zh-CN" sz="4800" dirty="0"/>
              <a:t>2</a:t>
            </a:r>
            <a:endParaRPr lang="zh-CN" altLang="en-US" sz="4800" dirty="0"/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G</a:t>
            </a:r>
            <a:r>
              <a:rPr lang="en-US" altLang="zh-CN" dirty="0"/>
              <a:t> be a group and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and </a:t>
            </a:r>
            <a:r>
              <a:rPr lang="en-US" altLang="zh-CN" i="1" dirty="0"/>
              <a:t>c</a:t>
            </a:r>
            <a:r>
              <a:rPr lang="en-US" altLang="zh-CN" dirty="0"/>
              <a:t> be elements of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Then</a:t>
            </a:r>
            <a:endParaRPr lang="en-US" altLang="zh-CN" dirty="0"/>
          </a:p>
          <a:p>
            <a:pPr lvl="1" eaLnBrk="1" hangingPunct="1"/>
            <a:r>
              <a:rPr lang="en-US" altLang="zh-CN" i="1" dirty="0">
                <a:solidFill>
                  <a:schemeClr val="hlink"/>
                </a:solidFill>
              </a:rPr>
              <a:t>left cancellation</a:t>
            </a:r>
            <a:r>
              <a:rPr lang="en-US" altLang="zh-CN" i="1" dirty="0"/>
              <a:t> – </a:t>
            </a:r>
            <a:r>
              <a:rPr lang="zh-CN" altLang="en-US" dirty="0"/>
              <a:t>左消去律</a:t>
            </a:r>
            <a:endParaRPr lang="zh-CN" altLang="en-US" dirty="0"/>
          </a:p>
          <a:p>
            <a:pPr lvl="2" eaLnBrk="1" hangingPunct="1"/>
            <a:r>
              <a:rPr lang="en-US" altLang="zh-CN" i="1" dirty="0"/>
              <a:t>ab</a:t>
            </a:r>
            <a:r>
              <a:rPr lang="en-US" altLang="zh-CN" dirty="0"/>
              <a:t> = </a:t>
            </a:r>
            <a:r>
              <a:rPr lang="en-US" altLang="zh-CN" i="1" dirty="0"/>
              <a:t>ac</a:t>
            </a:r>
            <a:r>
              <a:rPr lang="en-US" altLang="zh-CN" dirty="0"/>
              <a:t> implies that 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endParaRPr lang="en-US" altLang="zh-CN" dirty="0"/>
          </a:p>
          <a:p>
            <a:pPr lvl="1" eaLnBrk="1" hangingPunct="1"/>
            <a:r>
              <a:rPr lang="en-US" altLang="zh-CN" i="1" dirty="0">
                <a:solidFill>
                  <a:schemeClr val="hlink"/>
                </a:solidFill>
              </a:rPr>
              <a:t>right cancellation</a:t>
            </a:r>
            <a:r>
              <a:rPr lang="en-US" altLang="zh-CN" i="1" dirty="0"/>
              <a:t> – </a:t>
            </a:r>
            <a:r>
              <a:rPr lang="zh-CN" altLang="en-US" dirty="0"/>
              <a:t>右消去律</a:t>
            </a:r>
            <a:endParaRPr lang="en-US" altLang="zh-CN" i="1" dirty="0">
              <a:solidFill>
                <a:schemeClr val="hlink"/>
              </a:solidFill>
            </a:endParaRPr>
          </a:p>
          <a:p>
            <a:pPr lvl="2" eaLnBrk="1" hangingPunct="1"/>
            <a:r>
              <a:rPr lang="en-US" altLang="zh-CN" i="1" dirty="0"/>
              <a:t>ba</a:t>
            </a:r>
            <a:r>
              <a:rPr lang="en-US" altLang="zh-CN" dirty="0"/>
              <a:t> = </a:t>
            </a:r>
            <a:r>
              <a:rPr lang="en-US" altLang="zh-CN" i="1" dirty="0"/>
              <a:t>ca</a:t>
            </a:r>
            <a:r>
              <a:rPr lang="en-US" altLang="zh-CN" dirty="0"/>
              <a:t> implies that 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2 - </a:t>
            </a:r>
            <a:r>
              <a:rPr lang="en-US" altLang="zh-CN" sz="4000" dirty="0"/>
              <a:t>Proof</a:t>
            </a:r>
            <a:endParaRPr lang="en-US" altLang="zh-CN" sz="4000" dirty="0"/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Left cancellation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Suppose that </a:t>
            </a:r>
            <a:r>
              <a:rPr lang="en-US" altLang="zh-CN" i="1" dirty="0"/>
              <a:t>ab</a:t>
            </a:r>
            <a:r>
              <a:rPr lang="en-US" altLang="zh-CN" dirty="0"/>
              <a:t> = </a:t>
            </a:r>
            <a:r>
              <a:rPr lang="en-US" altLang="zh-CN" i="1" dirty="0"/>
              <a:t>ac</a:t>
            </a:r>
            <a:r>
              <a:rPr lang="en-US" altLang="zh-CN" dirty="0"/>
              <a:t>.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dirty="0"/>
              <a:t>) =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(</a:t>
            </a:r>
            <a:r>
              <a:rPr lang="en-US" altLang="zh-CN" i="1" dirty="0"/>
              <a:t>ac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i="1" dirty="0"/>
              <a:t>b</a:t>
            </a:r>
            <a:r>
              <a:rPr lang="en-US" altLang="zh-CN" dirty="0"/>
              <a:t> = (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i="1" dirty="0"/>
              <a:t>c</a:t>
            </a:r>
            <a:r>
              <a:rPr lang="en-US" altLang="zh-CN" dirty="0"/>
              <a:t>	by associativity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eb</a:t>
            </a:r>
            <a:r>
              <a:rPr lang="en-US" altLang="zh-CN" dirty="0"/>
              <a:t> = </a:t>
            </a:r>
            <a:r>
              <a:rPr lang="en-US" altLang="zh-CN" i="1" dirty="0"/>
              <a:t>ec</a:t>
            </a:r>
            <a:r>
              <a:rPr lang="en-US" altLang="zh-CN" dirty="0"/>
              <a:t>		by the definition of an inverse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r>
              <a:rPr lang="en-US" altLang="zh-CN" dirty="0"/>
              <a:t>		by definition of an identity.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Right cancellation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The proof is similar to above.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zh-CN" dirty="0"/>
              <a:t>Theorem 3</a:t>
            </a:r>
            <a:endParaRPr lang="zh-CN" altLang="zh-CN" dirty="0"/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lang="en-US" altLang="zh-CN" dirty="0"/>
              <a:t>Let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i="1" dirty="0"/>
              <a:t>G</a:t>
            </a:r>
            <a:r>
              <a:rPr lang="en-US" altLang="zh-CN" dirty="0"/>
              <a:t> be a group and 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 elements of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  <a:p>
            <a:pPr marL="533400" indent="-533400" eaLnBrk="1" hangingPunct="1"/>
            <a:r>
              <a:rPr lang="en-US" altLang="zh-CN" dirty="0"/>
              <a:t>Then 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baseline="30000" dirty="0"/>
              <a:t>-1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endParaRPr lang="zh-CN" altLang="en-US" dirty="0"/>
          </a:p>
        </p:txBody>
      </p:sp>
      <p:sp>
        <p:nvSpPr>
          <p:cNvPr id="15366" name="AutoShape 4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7" name="AutoShape 5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8" name="AutoShape 6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9" name="AutoShape 7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3 - Proof</a:t>
            </a:r>
            <a:endParaRPr lang="zh-CN" altLang="en-US" dirty="0"/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>
          <a:xfrm>
            <a:off x="924560" y="2018030"/>
            <a:ext cx="8030845" cy="412623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= </a:t>
            </a:r>
            <a:r>
              <a:rPr lang="en-US" altLang="zh-CN" sz="2800" i="1" dirty="0"/>
              <a:t>a</a:t>
            </a:r>
            <a:endParaRPr lang="en-US" altLang="zh-CN" sz="2800" dirty="0"/>
          </a:p>
          <a:p>
            <a:pPr lvl="1" eaLnBrk="1" hangingPunct="1"/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i="1" dirty="0"/>
              <a:t>a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the inverse of an element is unique, 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So, (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(</a:t>
            </a:r>
            <a:r>
              <a:rPr lang="en-US" altLang="zh-CN" sz="2800" i="1" dirty="0"/>
              <a:t>ab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= </a:t>
            </a:r>
            <a:r>
              <a:rPr lang="en-US" altLang="zh-CN" sz="2800" i="1" dirty="0"/>
              <a:t>b</a:t>
            </a:r>
            <a:r>
              <a:rPr lang="en-US" altLang="zh-CN" sz="2800" baseline="30000" dirty="0"/>
              <a:t>-1</a:t>
            </a:r>
            <a:r>
              <a:rPr lang="en-US" altLang="zh-CN" sz="2800" i="1" dirty="0"/>
              <a:t>a</a:t>
            </a:r>
            <a:r>
              <a:rPr lang="en-US" altLang="zh-CN" sz="2800" baseline="30000" dirty="0"/>
              <a:t>-1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ab</a:t>
            </a:r>
            <a:r>
              <a:rPr lang="en-US" altLang="zh-CN" sz="2400" dirty="0"/>
              <a:t>)(</a:t>
            </a:r>
            <a:r>
              <a:rPr lang="en-US" altLang="zh-CN" sz="2400" i="1" dirty="0"/>
              <a:t>b</a:t>
            </a:r>
            <a:r>
              <a:rPr lang="en-US" altLang="zh-CN" sz="2400" baseline="30000" dirty="0"/>
              <a:t>-l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a(b(b</a:t>
            </a:r>
            <a:r>
              <a:rPr lang="en-US" altLang="zh-CN" sz="2400" i="1" baseline="30000" dirty="0"/>
              <a:t>-</a:t>
            </a:r>
            <a:r>
              <a:rPr lang="en-US" altLang="zh-CN" sz="2400" baseline="30000" dirty="0"/>
              <a:t>l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-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)) = </a:t>
            </a:r>
            <a:r>
              <a:rPr lang="en-US" altLang="zh-CN" sz="2400" i="1" dirty="0"/>
              <a:t>a</a:t>
            </a:r>
            <a:r>
              <a:rPr lang="en-US" altLang="zh-CN" sz="2400" dirty="0"/>
              <a:t>((</a:t>
            </a:r>
            <a:r>
              <a:rPr lang="en-US" altLang="zh-CN" sz="2400" i="1" dirty="0"/>
              <a:t>bb</a:t>
            </a:r>
            <a:r>
              <a:rPr lang="en-US" altLang="zh-CN" sz="2400" baseline="30000" dirty="0"/>
              <a:t>-l</a:t>
            </a:r>
            <a:r>
              <a:rPr lang="en-US" altLang="zh-CN" sz="2400" dirty="0"/>
              <a:t>) 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a</a:t>
            </a:r>
            <a:r>
              <a:rPr lang="en-US" altLang="zh-CN" sz="2400" dirty="0"/>
              <a:t>(</a:t>
            </a:r>
            <a:r>
              <a:rPr lang="en-US" altLang="zh-CN" sz="2400" i="1" dirty="0"/>
              <a:t>ea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aa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endParaRPr lang="en-US" altLang="zh-CN" sz="2400" i="1" dirty="0"/>
          </a:p>
          <a:p>
            <a:pPr lvl="1" eaLnBrk="1" hangingPunct="1"/>
            <a:r>
              <a:rPr lang="en-US" altLang="zh-CN" sz="2400" dirty="0"/>
              <a:t>similarly, (</a:t>
            </a:r>
            <a:r>
              <a:rPr lang="en-US" altLang="zh-CN" sz="2400" i="1" dirty="0"/>
              <a:t>b</a:t>
            </a:r>
            <a:r>
              <a:rPr lang="en-US" altLang="zh-CN" sz="2400" baseline="30000" dirty="0"/>
              <a:t>-l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)(</a:t>
            </a:r>
            <a:r>
              <a:rPr lang="en-US" altLang="zh-CN" sz="2400" i="1" dirty="0"/>
              <a:t>ab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e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so (</a:t>
            </a:r>
            <a:r>
              <a:rPr lang="en-US" altLang="zh-CN" sz="2400" i="1" dirty="0"/>
              <a:t>ab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= </a:t>
            </a:r>
            <a:r>
              <a:rPr lang="en-US" altLang="zh-CN" sz="2400" i="1" dirty="0"/>
              <a:t>b</a:t>
            </a:r>
            <a:r>
              <a:rPr lang="en-US" altLang="zh-CN" sz="2400" baseline="30000" dirty="0"/>
              <a:t>-1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4</a:t>
            </a:r>
            <a:endParaRPr lang="zh-CN" altLang="en-US" dirty="0"/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G</a:t>
            </a:r>
            <a:r>
              <a:rPr lang="en-US" altLang="zh-CN" dirty="0"/>
              <a:t> be a group, and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 elements of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eaLnBrk="1" hangingPunct="1"/>
            <a:r>
              <a:rPr lang="en-US" altLang="zh-CN" dirty="0"/>
              <a:t>Then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equation </a:t>
            </a:r>
            <a:r>
              <a:rPr lang="en-US" altLang="zh-CN" i="1" dirty="0"/>
              <a:t>ax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/>
              <a:t> has a unique solution in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equation </a:t>
            </a:r>
            <a:r>
              <a:rPr lang="en-US" altLang="zh-CN" i="1" dirty="0"/>
              <a:t>ya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/>
              <a:t> has a unique solution in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Proof is omitted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Finite group – </a:t>
            </a:r>
            <a:r>
              <a:rPr lang="zh-CN" altLang="en-US" dirty="0"/>
              <a:t>有限群</a:t>
            </a:r>
            <a:endParaRPr lang="en-US" altLang="zh-CN" dirty="0"/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G</a:t>
            </a:r>
            <a:r>
              <a:rPr lang="en-US" altLang="zh-CN" dirty="0"/>
              <a:t> is a group that has a finite number of elements, </a:t>
            </a:r>
            <a:r>
              <a:rPr lang="en-US" altLang="zh-CN" i="1" dirty="0"/>
              <a:t>G</a:t>
            </a:r>
            <a:r>
              <a:rPr lang="en-US" altLang="zh-CN" dirty="0"/>
              <a:t> is said to be a </a:t>
            </a:r>
            <a:r>
              <a:rPr lang="en-US" altLang="zh-CN" i="1" dirty="0">
                <a:solidFill>
                  <a:srgbClr val="FF3300"/>
                </a:solidFill>
              </a:rPr>
              <a:t>finite group</a:t>
            </a:r>
            <a:r>
              <a:rPr lang="en-US" altLang="zh-CN" dirty="0"/>
              <a:t>, and the </a:t>
            </a:r>
            <a:r>
              <a:rPr lang="en-US" altLang="zh-CN" i="1" dirty="0">
                <a:solidFill>
                  <a:srgbClr val="FF3300"/>
                </a:solidFill>
              </a:rPr>
              <a:t>order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dirty="0">
                <a:solidFill>
                  <a:srgbClr val="FF3300"/>
                </a:solidFill>
              </a:rPr>
              <a:t>阶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r>
              <a:rPr lang="en-US" altLang="zh-CN" dirty="0"/>
              <a:t> is the number of elements |</a:t>
            </a:r>
            <a:r>
              <a:rPr lang="en-US" altLang="zh-CN" i="1" dirty="0"/>
              <a:t>G</a:t>
            </a:r>
            <a:r>
              <a:rPr lang="en-US" altLang="zh-CN" dirty="0"/>
              <a:t>| in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A finite group can be represented in the form of the multiplication table.</a:t>
            </a:r>
            <a:endParaRPr lang="zh-CN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Group of order 1, 2</a:t>
            </a:r>
            <a:endParaRPr lang="zh-CN" altLang="zh-CN" dirty="0"/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>
          <a:xfrm>
            <a:off x="1371600" y="19050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G</a:t>
            </a:r>
            <a:r>
              <a:rPr lang="en-US" altLang="zh-CN" dirty="0"/>
              <a:t> is a group of order 1, then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G</a:t>
            </a:r>
            <a:r>
              <a:rPr lang="en-US" altLang="zh-CN" dirty="0"/>
              <a:t> = {</a:t>
            </a:r>
            <a:r>
              <a:rPr lang="en-US" altLang="zh-CN" i="1" dirty="0"/>
              <a:t>e</a:t>
            </a:r>
            <a:r>
              <a:rPr lang="en-US" altLang="zh-CN" dirty="0"/>
              <a:t>}, and </a:t>
            </a:r>
            <a:r>
              <a:rPr lang="en-US" altLang="zh-CN" i="1" dirty="0"/>
              <a:t>ee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dirty="0"/>
              <a:t> = 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} be a group of order 2.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blank can be filled in by </a:t>
            </a:r>
            <a:r>
              <a:rPr lang="en-US" altLang="zh-CN" i="1" dirty="0"/>
              <a:t>e </a:t>
            </a:r>
            <a:r>
              <a:rPr lang="en-US" altLang="zh-CN" dirty="0"/>
              <a:t>or by </a:t>
            </a:r>
            <a:r>
              <a:rPr lang="en-US" altLang="zh-CN" i="1" dirty="0"/>
              <a:t>a</a:t>
            </a:r>
            <a:r>
              <a:rPr lang="en-US" altLang="zh-CN" dirty="0"/>
              <a:t>?</a:t>
            </a:r>
            <a:endParaRPr lang="en-US" altLang="zh-CN" dirty="0"/>
          </a:p>
        </p:txBody>
      </p:sp>
      <p:pic>
        <p:nvPicPr>
          <p:cNvPr id="19462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5875" y="4221163"/>
            <a:ext cx="3829050" cy="2012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Nonisomorphic groups of order 3</a:t>
            </a:r>
            <a:endParaRPr lang="en-US" altLang="zh-CN" sz="4000" dirty="0"/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dirty="0"/>
              <a:t> = 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} be a group of order 3. </a:t>
            </a:r>
            <a:endParaRPr lang="en-US" altLang="zh-CN" dirty="0"/>
          </a:p>
        </p:txBody>
      </p:sp>
      <p:pic>
        <p:nvPicPr>
          <p:cNvPr id="20486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9613" y="3213100"/>
            <a:ext cx="1717675" cy="2160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7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8263" y="3213100"/>
            <a:ext cx="1841500" cy="21605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Groups of order 4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dirty="0"/>
              <a:t> = 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} be a group of order 4</a:t>
            </a:r>
            <a:endParaRPr lang="zh-CN" altLang="en-US" dirty="0"/>
          </a:p>
        </p:txBody>
      </p:sp>
      <p:pic>
        <p:nvPicPr>
          <p:cNvPr id="21510" name="Picture 4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1050" y="2565400"/>
            <a:ext cx="5638800" cy="4173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1" name="Text Box 5"/>
          <p:cNvSpPr txBox="1"/>
          <p:nvPr/>
        </p:nvSpPr>
        <p:spPr>
          <a:xfrm>
            <a:off x="8534400" y="5867400"/>
            <a:ext cx="438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hlinkClick r:id="rId1" action="ppaction://hlinksldjump"/>
              </a:rPr>
              <a:t>34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hlinkClick r:id="rId3" action="ppaction://hlinksldjump"/>
              </a:rPr>
              <a:t>35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5</a:t>
            </a:r>
            <a:endParaRPr lang="en-US" altLang="zh-CN" dirty="0"/>
          </a:p>
        </p:txBody>
      </p:sp>
      <p:sp>
        <p:nvSpPr>
          <p:cNvPr id="225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B</a:t>
            </a:r>
            <a:r>
              <a:rPr lang="en-US" altLang="zh-CN" dirty="0"/>
              <a:t> = {0, l }, and let + be the operation defined on </a:t>
            </a:r>
            <a:r>
              <a:rPr lang="en-US" altLang="zh-CN" i="1" dirty="0"/>
              <a:t>B</a:t>
            </a:r>
            <a:r>
              <a:rPr lang="en-US" altLang="zh-CN" dirty="0"/>
              <a:t> as follows: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Then </a:t>
            </a:r>
            <a:r>
              <a:rPr lang="en-US" altLang="zh-CN" i="1" dirty="0"/>
              <a:t>B</a:t>
            </a:r>
            <a:r>
              <a:rPr lang="en-US" altLang="zh-CN" dirty="0"/>
              <a:t> is a group.</a:t>
            </a:r>
            <a:endParaRPr lang="zh-CN" altLang="en-US" dirty="0"/>
          </a:p>
        </p:txBody>
      </p:sp>
      <p:pic>
        <p:nvPicPr>
          <p:cNvPr id="22534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1863" y="2924175"/>
            <a:ext cx="1800225" cy="1331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An important group</a:t>
            </a:r>
            <a:endParaRPr lang="zh-CN" altLang="en-US" dirty="0"/>
          </a:p>
        </p:txBody>
      </p:sp>
      <p:sp>
        <p:nvSpPr>
          <p:cNvPr id="235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Given the equilateral triangle with vertices l, 2, and 3</a:t>
            </a:r>
            <a:endParaRPr lang="en-US" altLang="zh-CN" dirty="0"/>
          </a:p>
          <a:p>
            <a:pPr eaLnBrk="1" hangingPunct="1"/>
            <a:r>
              <a:rPr lang="en-US" altLang="zh-CN" dirty="0"/>
              <a:t>Consider it’s symmetries.</a:t>
            </a:r>
            <a:endParaRPr lang="zh-CN" altLang="en-US" dirty="0"/>
          </a:p>
        </p:txBody>
      </p:sp>
      <p:pic>
        <p:nvPicPr>
          <p:cNvPr id="23558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24525" y="3429000"/>
            <a:ext cx="2819400" cy="3141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Symmetries of the triangle</a:t>
            </a:r>
            <a:endParaRPr lang="en-US" altLang="zh-CN" dirty="0"/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There are counter-clockwise rotations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3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 of the triangle about </a:t>
            </a:r>
            <a:r>
              <a:rPr lang="en-US" altLang="zh-CN" i="1" dirty="0"/>
              <a:t>O</a:t>
            </a:r>
            <a:r>
              <a:rPr lang="en-US" altLang="zh-CN" dirty="0"/>
              <a:t> through 120º, 240º,  360º(or 0º) respectively. 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3</a:t>
            </a:r>
            <a:r>
              <a:rPr lang="en-US" altLang="zh-CN" dirty="0"/>
              <a:t> can be written as the permutations.</a:t>
            </a:r>
            <a:endParaRPr lang="zh-CN" altLang="en-US" dirty="0"/>
          </a:p>
        </p:txBody>
      </p:sp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1476375" y="4868863"/>
          <a:ext cx="6553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984500" imgH="457200" progId="Equation.DSMT4">
                  <p:embed/>
                </p:oleObj>
              </mc:Choice>
              <mc:Fallback>
                <p:oleObj name="" r:id="rId1" imgW="2984500" imgH="457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4868863"/>
                        <a:ext cx="6553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315" y="260350"/>
            <a:ext cx="1571625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Symmetries of the triangle</a:t>
            </a:r>
            <a:endParaRPr lang="zh-CN" altLang="en-US" dirty="0"/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Three additional symmetries of the triangle are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, and </a:t>
            </a:r>
            <a:r>
              <a:rPr lang="en-US" altLang="zh-CN" i="1" dirty="0"/>
              <a:t>g</a:t>
            </a:r>
            <a:r>
              <a:rPr lang="en-US" altLang="zh-CN" baseline="-25000" dirty="0"/>
              <a:t>3</a:t>
            </a:r>
            <a:r>
              <a:rPr lang="en-US" altLang="zh-CN" dirty="0"/>
              <a:t>, by reflecting about the lines </a:t>
            </a:r>
            <a:r>
              <a:rPr lang="en-US" altLang="zh-CN" i="1" dirty="0"/>
              <a:t>l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l</a:t>
            </a:r>
            <a:r>
              <a:rPr lang="en-US" altLang="zh-CN" baseline="-25000" dirty="0"/>
              <a:t>2</a:t>
            </a:r>
            <a:r>
              <a:rPr lang="en-US" altLang="zh-CN" dirty="0"/>
              <a:t>, and </a:t>
            </a:r>
            <a:r>
              <a:rPr lang="en-US" altLang="zh-CN" i="1" dirty="0"/>
              <a:t>l</a:t>
            </a:r>
            <a:r>
              <a:rPr lang="en-US" altLang="zh-CN" baseline="-25000" dirty="0"/>
              <a:t>3</a:t>
            </a:r>
            <a:r>
              <a:rPr lang="en-US" altLang="zh-CN" dirty="0"/>
              <a:t>, respectively. </a:t>
            </a:r>
            <a:endParaRPr lang="en-US" altLang="zh-CN" dirty="0"/>
          </a:p>
          <a:p>
            <a:pPr eaLnBrk="1" hangingPunct="1"/>
            <a:r>
              <a:rPr lang="en-US" altLang="zh-CN" dirty="0"/>
              <a:t>Denote these reflections as the following permutations:</a:t>
            </a:r>
            <a:endParaRPr lang="zh-CN" altLang="en-US" dirty="0"/>
          </a:p>
        </p:txBody>
      </p:sp>
      <p:graphicFrame>
        <p:nvGraphicFramePr>
          <p:cNvPr id="25606" name="Object 10"/>
          <p:cNvGraphicFramePr>
            <a:graphicFrameLocks noChangeAspect="1"/>
          </p:cNvGraphicFramePr>
          <p:nvPr/>
        </p:nvGraphicFramePr>
        <p:xfrm>
          <a:off x="1435100" y="4868863"/>
          <a:ext cx="663733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022600" imgH="457200" progId="Equation.DSMT4">
                  <p:embed/>
                </p:oleObj>
              </mc:Choice>
              <mc:Fallback>
                <p:oleObj name="" r:id="rId1" imgW="3022600" imgH="457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35100" y="4868863"/>
                        <a:ext cx="6637338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315" y="260350"/>
            <a:ext cx="1571625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Group of symmetries of the triangle</a:t>
            </a:r>
            <a:endParaRPr lang="zh-CN" altLang="en-US" sz="4000" dirty="0"/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en-US" altLang="zh-CN" dirty="0"/>
              <a:t> = 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3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baseline="-25000" dirty="0"/>
              <a:t>3</a:t>
            </a:r>
            <a:r>
              <a:rPr lang="en-US" altLang="zh-CN" dirty="0"/>
              <a:t>} and introduce the operation *, </a:t>
            </a:r>
            <a:r>
              <a:rPr lang="en-US" altLang="zh-CN" i="1" dirty="0">
                <a:solidFill>
                  <a:schemeClr val="hlink"/>
                </a:solidFill>
              </a:rPr>
              <a:t>followed by</a:t>
            </a:r>
            <a:r>
              <a:rPr lang="en-US" altLang="zh-CN" dirty="0"/>
              <a:t>, on the set S</a:t>
            </a:r>
            <a:r>
              <a:rPr lang="en-US" altLang="zh-CN" baseline="-25000" dirty="0"/>
              <a:t>3</a:t>
            </a:r>
            <a:endParaRPr lang="en-US" altLang="zh-CN" dirty="0"/>
          </a:p>
        </p:txBody>
      </p:sp>
      <p:graphicFrame>
        <p:nvGraphicFramePr>
          <p:cNvPr id="26630" name="Object 5"/>
          <p:cNvGraphicFramePr>
            <a:graphicFrameLocks noChangeAspect="1"/>
          </p:cNvGraphicFramePr>
          <p:nvPr/>
        </p:nvGraphicFramePr>
        <p:xfrm>
          <a:off x="250825" y="2924175"/>
          <a:ext cx="4535488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943100" imgH="1625600" progId="Equation.DSMT4">
                  <p:embed/>
                </p:oleObj>
              </mc:Choice>
              <mc:Fallback>
                <p:oleObj name="" r:id="rId1" imgW="1943100" imgH="1625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2924175"/>
                        <a:ext cx="4535488" cy="379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6"/>
          <p:cNvGraphicFramePr>
            <a:graphicFrameLocks noChangeAspect="1"/>
          </p:cNvGraphicFramePr>
          <p:nvPr/>
        </p:nvGraphicFramePr>
        <p:xfrm>
          <a:off x="4822825" y="4149725"/>
          <a:ext cx="43211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984500" imgH="457200" progId="Equation.DSMT4">
                  <p:embed/>
                </p:oleObj>
              </mc:Choice>
              <mc:Fallback>
                <p:oleObj name="" r:id="rId3" imgW="2984500" imgH="457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2825" y="4149725"/>
                        <a:ext cx="4321175" cy="661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7"/>
          <p:cNvGraphicFramePr>
            <a:graphicFrameLocks noChangeAspect="1"/>
          </p:cNvGraphicFramePr>
          <p:nvPr/>
        </p:nvGraphicFramePr>
        <p:xfrm>
          <a:off x="4822825" y="5013325"/>
          <a:ext cx="42608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3022600" imgH="457200" progId="Equation.DSMT4">
                  <p:embed/>
                </p:oleObj>
              </mc:Choice>
              <mc:Fallback>
                <p:oleObj name="" r:id="rId5" imgW="3022600" imgH="4572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22825" y="5013325"/>
                        <a:ext cx="4260850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8"/>
          <p:cNvSpPr txBox="1"/>
          <p:nvPr/>
        </p:nvSpPr>
        <p:spPr>
          <a:xfrm>
            <a:off x="8101013" y="6035675"/>
            <a:ext cx="5746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dirty="0">
                <a:latin typeface="Times New Roman" panose="02020603050405020304" pitchFamily="18" charset="0"/>
                <a:hlinkClick r:id="rId7" action="ppaction://hlinksldjump"/>
              </a:rPr>
              <a:t>26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Compute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*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geometrically</a:t>
            </a:r>
            <a:endParaRPr lang="en-US" altLang="zh-CN" dirty="0"/>
          </a:p>
        </p:txBody>
      </p:sp>
      <p:pic>
        <p:nvPicPr>
          <p:cNvPr id="27653" name="Picture 3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0113" y="2781300"/>
            <a:ext cx="7772400" cy="252095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>
          <a:xfrm>
            <a:off x="974090" y="617855"/>
            <a:ext cx="8126095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Compute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*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sz="3600" dirty="0"/>
              <a:t>algebraically</a:t>
            </a:r>
            <a:endParaRPr lang="zh-CN" altLang="en-US" dirty="0"/>
          </a:p>
        </p:txBody>
      </p:sp>
      <p:sp>
        <p:nvSpPr>
          <p:cNvPr id="286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To compute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*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algebraically, we compute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So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*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= </a:t>
            </a:r>
            <a:r>
              <a:rPr lang="en-US" altLang="zh-CN" i="1" dirty="0"/>
              <a:t>g</a:t>
            </a:r>
            <a:r>
              <a:rPr lang="en-US" altLang="zh-CN" baseline="-25000" dirty="0"/>
              <a:t>l</a:t>
            </a:r>
            <a:r>
              <a:rPr lang="en-US" altLang="zh-CN" dirty="0"/>
              <a:t>.</a:t>
            </a:r>
            <a:endParaRPr lang="zh-CN" altLang="en-US" dirty="0"/>
          </a:p>
        </p:txBody>
      </p:sp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2124075" y="3500438"/>
          <a:ext cx="532923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527300" imgH="457200" progId="Equation.DSMT4">
                  <p:embed/>
                </p:oleObj>
              </mc:Choice>
              <mc:Fallback>
                <p:oleObj name="" r:id="rId1" imgW="2527300" imgH="457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4075" y="3500438"/>
                        <a:ext cx="5329238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6"/>
          <p:cNvGraphicFramePr>
            <a:graphicFrameLocks noChangeAspect="1"/>
          </p:cNvGraphicFramePr>
          <p:nvPr/>
        </p:nvGraphicFramePr>
        <p:xfrm>
          <a:off x="179388" y="260350"/>
          <a:ext cx="43211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2984500" imgH="457200" progId="Equation.DSMT4">
                  <p:embed/>
                </p:oleObj>
              </mc:Choice>
              <mc:Fallback>
                <p:oleObj name="" r:id="rId3" imgW="2984500" imgH="457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260350"/>
                        <a:ext cx="4321175" cy="661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7"/>
          <p:cNvGraphicFramePr>
            <a:graphicFrameLocks noChangeAspect="1"/>
          </p:cNvGraphicFramePr>
          <p:nvPr/>
        </p:nvGraphicFramePr>
        <p:xfrm>
          <a:off x="4716463" y="260350"/>
          <a:ext cx="42608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3022600" imgH="457200" progId="Equation.DSMT4">
                  <p:embed/>
                </p:oleObj>
              </mc:Choice>
              <mc:Fallback>
                <p:oleObj name="" r:id="rId5" imgW="3022600" imgH="457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6463" y="260350"/>
                        <a:ext cx="4260850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7</a:t>
            </a:r>
            <a:endParaRPr lang="zh-CN" altLang="en-US" dirty="0"/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set of all permutations of </a:t>
            </a:r>
            <a:r>
              <a:rPr lang="en-US" altLang="zh-CN" i="1" dirty="0"/>
              <a:t>n</a:t>
            </a:r>
            <a:r>
              <a:rPr lang="en-US" altLang="zh-CN" dirty="0"/>
              <a:t> elements is a group of order </a:t>
            </a:r>
            <a:r>
              <a:rPr lang="en-US" altLang="zh-CN" i="1" dirty="0"/>
              <a:t>n</a:t>
            </a:r>
            <a:r>
              <a:rPr lang="en-US" altLang="zh-CN" dirty="0"/>
              <a:t>! under the operation of composition. </a:t>
            </a:r>
            <a:endParaRPr lang="en-US" altLang="zh-CN" dirty="0"/>
          </a:p>
          <a:p>
            <a:pPr eaLnBrk="1" hangingPunct="1"/>
            <a:r>
              <a:rPr lang="en-US" altLang="zh-CN" dirty="0"/>
              <a:t>This group is called the </a:t>
            </a:r>
            <a:r>
              <a:rPr lang="en-US" altLang="zh-CN" i="1" dirty="0">
                <a:solidFill>
                  <a:srgbClr val="FF3300"/>
                </a:solidFill>
              </a:rPr>
              <a:t>symmetric group on n </a:t>
            </a:r>
            <a:r>
              <a:rPr lang="en-US" altLang="zh-CN" i="1" dirty="0">
                <a:solidFill>
                  <a:schemeClr val="hlink"/>
                </a:solidFill>
              </a:rPr>
              <a:t>letters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zh-CN" altLang="en-US" dirty="0">
                <a:solidFill>
                  <a:schemeClr val="hlink"/>
                </a:solidFill>
              </a:rPr>
              <a:t>次对称群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 and is denoted by 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n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zh-CN" altLang="en-US" dirty="0"/>
              <a:t>由部分置换构成的群称为置换群</a:t>
            </a:r>
            <a:r>
              <a:rPr lang="en-US" altLang="zh-CN" dirty="0"/>
              <a:t>(permutation group)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Subgroup – </a:t>
            </a:r>
            <a:r>
              <a:rPr lang="zh-CN" altLang="en-US" dirty="0"/>
              <a:t>子群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H</a:t>
            </a:r>
            <a:r>
              <a:rPr lang="en-US" altLang="zh-CN" dirty="0"/>
              <a:t> be a subset of a group </a:t>
            </a:r>
            <a:r>
              <a:rPr lang="en-US" altLang="zh-CN" i="1" dirty="0"/>
              <a:t>G</a:t>
            </a:r>
            <a:r>
              <a:rPr lang="en-US" altLang="zh-CN" dirty="0"/>
              <a:t> such that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(a) The identity </a:t>
            </a:r>
            <a:r>
              <a:rPr lang="en-US" altLang="zh-CN" i="1" dirty="0"/>
              <a:t>e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r>
              <a:rPr lang="en-US" altLang="zh-CN" dirty="0"/>
              <a:t> belongs to </a:t>
            </a:r>
            <a:r>
              <a:rPr lang="en-US" altLang="zh-CN" i="1" dirty="0"/>
              <a:t>H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(b) If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belong to </a:t>
            </a:r>
            <a:r>
              <a:rPr lang="en-US" altLang="zh-CN" i="1" dirty="0"/>
              <a:t>H</a:t>
            </a:r>
            <a:r>
              <a:rPr lang="en-US" altLang="zh-CN" dirty="0"/>
              <a:t>, then </a:t>
            </a:r>
            <a:r>
              <a:rPr lang="en-US" altLang="zh-CN" i="1" dirty="0"/>
              <a:t>ab</a:t>
            </a:r>
            <a:r>
              <a:rPr lang="en-US" altLang="zh-CN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H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(c) If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, then </a:t>
            </a:r>
            <a:r>
              <a:rPr lang="en-US" altLang="zh-CN" i="1" dirty="0"/>
              <a:t>a</a:t>
            </a:r>
            <a:r>
              <a:rPr lang="en-US" altLang="zh-CN" baseline="30000" dirty="0"/>
              <a:t>-l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Then </a:t>
            </a:r>
            <a:r>
              <a:rPr lang="en-US" altLang="zh-CN" i="1" dirty="0"/>
              <a:t>H</a:t>
            </a:r>
            <a:r>
              <a:rPr lang="en-US" altLang="zh-CN" dirty="0"/>
              <a:t> is called a </a:t>
            </a:r>
            <a:r>
              <a:rPr lang="en-US" altLang="zh-CN" i="1" dirty="0">
                <a:solidFill>
                  <a:srgbClr val="FF3300"/>
                </a:solidFill>
              </a:rPr>
              <a:t>subgroup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Examples</a:t>
            </a:r>
            <a:endParaRPr lang="en-US" altLang="zh-CN" dirty="0"/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>
          <a:xfrm>
            <a:off x="755333" y="213264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dirty="0"/>
              <a:t> be a group. Then </a:t>
            </a:r>
            <a:r>
              <a:rPr lang="en-US" altLang="zh-CN" i="1" dirty="0"/>
              <a:t>G</a:t>
            </a:r>
            <a:r>
              <a:rPr lang="en-US" altLang="zh-CN" dirty="0"/>
              <a:t> and </a:t>
            </a:r>
            <a:r>
              <a:rPr lang="en-US" altLang="zh-CN" i="1" dirty="0"/>
              <a:t>H</a:t>
            </a:r>
            <a:r>
              <a:rPr lang="en-US" altLang="zh-CN" dirty="0"/>
              <a:t> = {</a:t>
            </a:r>
            <a:r>
              <a:rPr lang="en-US" altLang="zh-CN" i="1" dirty="0"/>
              <a:t>e</a:t>
            </a:r>
            <a:r>
              <a:rPr lang="en-US" altLang="zh-CN" dirty="0"/>
              <a:t>} are subgroups of </a:t>
            </a:r>
            <a:r>
              <a:rPr lang="en-US" altLang="zh-CN" i="1" dirty="0"/>
              <a:t>G</a:t>
            </a:r>
            <a:r>
              <a:rPr lang="en-US" altLang="zh-CN" dirty="0"/>
              <a:t>, called the </a:t>
            </a:r>
            <a:r>
              <a:rPr lang="en-US" altLang="zh-CN" i="1" dirty="0">
                <a:solidFill>
                  <a:schemeClr val="hlink"/>
                </a:solidFill>
              </a:rPr>
              <a:t>trivial subgroups</a:t>
            </a:r>
            <a:r>
              <a:rPr lang="en-US" altLang="zh-CN" dirty="0"/>
              <a:t> (</a:t>
            </a:r>
            <a:r>
              <a:rPr lang="zh-CN" altLang="en-US" dirty="0"/>
              <a:t>平凡子群</a:t>
            </a:r>
            <a:r>
              <a:rPr lang="en-US" altLang="zh-CN" dirty="0"/>
              <a:t>) of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Consider </a:t>
            </a:r>
            <a:r>
              <a:rPr lang="en-US" altLang="zh-CN" i="1" dirty="0">
                <a:hlinkClick r:id="rId1" action="ppaction://hlinksldjump"/>
              </a:rPr>
              <a:t>S</a:t>
            </a:r>
            <a:r>
              <a:rPr lang="en-US" altLang="zh-CN" baseline="-25000" dirty="0">
                <a:hlinkClick r:id="rId1" action="ppaction://hlinksldjump"/>
              </a:rPr>
              <a:t>3</a:t>
            </a:r>
            <a:r>
              <a:rPr lang="en-US" altLang="zh-CN" dirty="0"/>
              <a:t>, the group of symmetries of the equilateral triangle. It is easy to verify that </a:t>
            </a:r>
            <a:r>
              <a:rPr lang="en-US" altLang="zh-CN" i="1" dirty="0"/>
              <a:t>H</a:t>
            </a:r>
            <a:r>
              <a:rPr lang="en-US" altLang="zh-CN" dirty="0"/>
              <a:t> = 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3</a:t>
            </a:r>
            <a:r>
              <a:rPr lang="en-US" altLang="zh-CN" dirty="0"/>
              <a:t>} is a subgroup of </a:t>
            </a:r>
            <a:r>
              <a:rPr lang="en-US" altLang="zh-CN" i="1" dirty="0"/>
              <a:t>S</a:t>
            </a:r>
            <a:r>
              <a:rPr lang="en-US" altLang="zh-CN" baseline="-25000" dirty="0"/>
              <a:t>3.</a:t>
            </a:r>
            <a:endParaRPr lang="en-US" altLang="zh-CN" baseline="-25000" dirty="0"/>
          </a:p>
          <a:p>
            <a:pPr eaLnBrk="1" hangingPunct="1"/>
            <a:r>
              <a:rPr lang="en-US" altLang="zh-CN" dirty="0"/>
              <a:t>Can you find all </a:t>
            </a:r>
            <a:r>
              <a:rPr lang="en-US" altLang="zh-CN" dirty="0">
                <a:sym typeface="+mn-ea"/>
              </a:rPr>
              <a:t>subgroup of </a:t>
            </a:r>
            <a:r>
              <a:rPr lang="en-US" altLang="zh-CN" i="1" dirty="0">
                <a:sym typeface="+mn-ea"/>
              </a:rPr>
              <a:t>S</a:t>
            </a:r>
            <a:r>
              <a:rPr lang="en-US" altLang="zh-CN" baseline="-25000" dirty="0">
                <a:sym typeface="+mn-ea"/>
              </a:rPr>
              <a:t>3</a:t>
            </a:r>
            <a:r>
              <a:rPr lang="en-US" altLang="zh-CN" dirty="0">
                <a:sym typeface="+mn-ea"/>
              </a:rPr>
              <a:t>?</a:t>
            </a:r>
            <a:endParaRPr lang="en-US" altLang="zh-CN" dirty="0">
              <a:sym typeface="+mn-ea"/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692275" y="5877560"/>
            <a:ext cx="6446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{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baseline="-25000" dirty="0">
                <a:sym typeface="+mn-ea"/>
              </a:rPr>
              <a:t>1</a:t>
            </a:r>
            <a:r>
              <a:rPr lang="en-US" altLang="zh-CN" sz="2800" dirty="0">
                <a:sym typeface="+mn-ea"/>
              </a:rPr>
              <a:t>},</a:t>
            </a:r>
            <a:r>
              <a:rPr lang="en-US" altLang="zh-CN" sz="2800" dirty="0">
                <a:sym typeface="+mn-ea"/>
              </a:rPr>
              <a:t>{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baseline="-25000" dirty="0">
                <a:sym typeface="+mn-ea"/>
              </a:rPr>
              <a:t>1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g</a:t>
            </a:r>
            <a:r>
              <a:rPr lang="en-US" altLang="zh-CN" sz="2800" baseline="-25000" dirty="0">
                <a:sym typeface="+mn-ea"/>
              </a:rPr>
              <a:t>1</a:t>
            </a:r>
            <a:r>
              <a:rPr lang="en-US" altLang="zh-CN" sz="2800" dirty="0">
                <a:sym typeface="+mn-ea"/>
              </a:rPr>
              <a:t>},{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baseline="-25000" dirty="0">
                <a:sym typeface="+mn-ea"/>
              </a:rPr>
              <a:t>1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g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},{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baseline="-25000" dirty="0">
                <a:sym typeface="+mn-ea"/>
              </a:rPr>
              <a:t>1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g</a:t>
            </a:r>
            <a:r>
              <a:rPr lang="en-US" altLang="zh-CN" sz="2800" baseline="-25000" dirty="0">
                <a:sym typeface="+mn-ea"/>
              </a:rPr>
              <a:t>3</a:t>
            </a:r>
            <a:r>
              <a:rPr lang="en-US" altLang="zh-CN" sz="2800" dirty="0">
                <a:sym typeface="+mn-ea"/>
              </a:rPr>
              <a:t>},</a:t>
            </a:r>
            <a:r>
              <a:rPr lang="en-US" altLang="zh-CN" sz="2800" dirty="0">
                <a:sym typeface="+mn-ea"/>
              </a:rPr>
              <a:t>{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baseline="-25000" dirty="0">
                <a:sym typeface="+mn-ea"/>
              </a:rPr>
              <a:t>1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,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baseline="-25000" dirty="0">
                <a:sym typeface="+mn-ea"/>
              </a:rPr>
              <a:t>3</a:t>
            </a:r>
            <a:r>
              <a:rPr lang="en-US" altLang="zh-CN" sz="2800" dirty="0">
                <a:sym typeface="+mn-ea"/>
              </a:rPr>
              <a:t>},</a:t>
            </a:r>
            <a:r>
              <a:rPr lang="en-US" altLang="zh-CN" sz="2800" i="1" dirty="0">
                <a:sym typeface="+mn-ea"/>
              </a:rPr>
              <a:t>S</a:t>
            </a:r>
            <a:r>
              <a:rPr lang="en-US" altLang="zh-CN" sz="2800" baseline="-25000" dirty="0">
                <a:sym typeface="+mn-ea"/>
              </a:rPr>
              <a:t>3</a:t>
            </a:r>
            <a:endParaRPr lang="en-US" altLang="zh-CN" sz="2800" baseline="-250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1395" y="44450"/>
            <a:ext cx="2581275" cy="2159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12</a:t>
            </a:r>
            <a:endParaRPr lang="zh-CN" altLang="en-US" dirty="0"/>
          </a:p>
        </p:txBody>
      </p:sp>
      <p:sp>
        <p:nvSpPr>
          <p:cNvPr id="327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Let 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G</a:t>
            </a:r>
            <a:r>
              <a:rPr lang="en-US" altLang="zh-CN" sz="2400" dirty="0"/>
              <a:t> be a group and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  </a:t>
            </a:r>
            <a:r>
              <a:rPr lang="en-US" altLang="zh-CN" sz="2400" i="1" dirty="0"/>
              <a:t>G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Define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as </a:t>
            </a:r>
            <a:r>
              <a:rPr lang="en-US" altLang="zh-CN" sz="2400" i="1" dirty="0"/>
              <a:t>aa...a</a:t>
            </a:r>
            <a:r>
              <a:rPr lang="en-US" altLang="zh-CN" sz="2400" dirty="0"/>
              <a:t> (</a:t>
            </a:r>
            <a:r>
              <a:rPr lang="en-US" altLang="zh-CN" sz="2400" i="1" dirty="0"/>
              <a:t>n</a:t>
            </a:r>
            <a:r>
              <a:rPr lang="en-US" altLang="zh-CN" sz="2400" dirty="0"/>
              <a:t> factors), for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dirty="0">
                <a:latin typeface="Euclid Math Two" panose="02050601010101010101" pitchFamily="18" charset="2"/>
              </a:rPr>
              <a:t> Z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 and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</a:t>
            </a:r>
            <a:r>
              <a:rPr lang="en-US" altLang="zh-CN" sz="2400" baseline="30000" dirty="0"/>
              <a:t>0</a:t>
            </a:r>
            <a:r>
              <a:rPr lang="en-US" altLang="zh-CN" sz="2400" dirty="0"/>
              <a:t> as </a:t>
            </a:r>
            <a:r>
              <a:rPr lang="en-US" altLang="zh-CN" sz="2400" i="1" dirty="0"/>
              <a:t>e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</a:t>
            </a:r>
            <a:r>
              <a:rPr lang="en-US" altLang="zh-CN" sz="2400" baseline="30000" dirty="0"/>
              <a:t>-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as 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-l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-l... 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-l</a:t>
            </a:r>
            <a:r>
              <a:rPr lang="en-US" altLang="zh-CN" sz="2400" dirty="0"/>
              <a:t> (</a:t>
            </a:r>
            <a:r>
              <a:rPr lang="en-US" altLang="zh-CN" sz="2400" i="1" dirty="0"/>
              <a:t>n</a:t>
            </a:r>
            <a:r>
              <a:rPr lang="en-US" altLang="zh-CN" sz="2400" dirty="0"/>
              <a:t> factors).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if </a:t>
            </a:r>
            <a:r>
              <a:rPr lang="en-US" altLang="zh-CN" sz="2800" i="1" dirty="0"/>
              <a:t>n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m</a:t>
            </a:r>
            <a:r>
              <a:rPr lang="en-US" altLang="zh-CN" sz="2800" dirty="0"/>
              <a:t> are any integers, then </a:t>
            </a:r>
            <a:r>
              <a:rPr lang="en-US" altLang="zh-CN" sz="2800" i="1" dirty="0"/>
              <a:t>a</a:t>
            </a:r>
            <a:r>
              <a:rPr lang="en-US" altLang="zh-CN" sz="2800" i="1" baseline="30000" dirty="0"/>
              <a:t>n</a:t>
            </a:r>
            <a:r>
              <a:rPr lang="en-US" altLang="zh-CN" sz="2800" i="1" dirty="0"/>
              <a:t>a</a:t>
            </a:r>
            <a:r>
              <a:rPr lang="en-US" altLang="zh-CN" sz="2800" i="1" baseline="30000" dirty="0"/>
              <a:t>m</a:t>
            </a:r>
            <a:r>
              <a:rPr lang="en-US" altLang="zh-CN" sz="2800" dirty="0"/>
              <a:t> = </a:t>
            </a:r>
            <a:r>
              <a:rPr lang="en-US" altLang="zh-CN" sz="2800" i="1" dirty="0"/>
              <a:t>a</a:t>
            </a:r>
            <a:r>
              <a:rPr lang="en-US" altLang="zh-CN" sz="2800" i="1" baseline="30000" dirty="0"/>
              <a:t>n</a:t>
            </a:r>
            <a:r>
              <a:rPr lang="en-US" altLang="zh-CN" sz="2800" baseline="30000" dirty="0"/>
              <a:t>+</a:t>
            </a:r>
            <a:r>
              <a:rPr lang="en-US" altLang="zh-CN" sz="2800" i="1" baseline="30000" dirty="0"/>
              <a:t>m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It is easy to show that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H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i</a:t>
            </a:r>
            <a:r>
              <a:rPr lang="en-US" altLang="zh-CN" sz="2400" dirty="0"/>
              <a:t>|</a:t>
            </a:r>
            <a:r>
              <a:rPr lang="en-US" altLang="zh-CN" sz="2400" i="1" dirty="0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dirty="0">
                <a:latin typeface="Euclid Math Two" panose="02050601010101010101" pitchFamily="18" charset="2"/>
              </a:rPr>
              <a:t>Z</a:t>
            </a:r>
            <a:r>
              <a:rPr lang="en-US" altLang="zh-CN" sz="2400" dirty="0"/>
              <a:t>} is a subgroup of </a:t>
            </a:r>
            <a:r>
              <a:rPr lang="en-US" altLang="zh-CN" sz="2400" i="1" dirty="0"/>
              <a:t>G</a:t>
            </a:r>
            <a:r>
              <a:rPr lang="en-US" altLang="zh-CN" sz="2400" dirty="0"/>
              <a:t>. (generated by </a:t>
            </a:r>
            <a:r>
              <a:rPr lang="en-US" altLang="zh-CN" sz="2400" i="1" dirty="0"/>
              <a:t>a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5</a:t>
            </a:r>
            <a:endParaRPr lang="en-US" altLang="zh-CN" dirty="0"/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Let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, *) and (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*') be two groups, and</a:t>
            </a:r>
            <a:endParaRPr lang="en-US" altLang="zh-CN" sz="2400" dirty="0"/>
          </a:p>
          <a:p>
            <a:pPr lvl="1" eaLnBrk="1" hangingPunct="1"/>
            <a:r>
              <a:rPr lang="en-US" altLang="zh-CN" sz="2400" i="1" dirty="0"/>
              <a:t>f</a:t>
            </a:r>
            <a:r>
              <a:rPr lang="en-US" altLang="zh-CN" sz="2400" dirty="0"/>
              <a:t>: </a:t>
            </a:r>
            <a:r>
              <a:rPr lang="en-US" altLang="zh-CN" sz="2400" i="1" dirty="0"/>
              <a:t>G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G</a:t>
            </a:r>
            <a:r>
              <a:rPr lang="en-US" altLang="zh-CN" sz="2400" dirty="0"/>
              <a:t>' be a homomorphism from </a:t>
            </a:r>
            <a:r>
              <a:rPr lang="en-US" altLang="zh-CN" sz="2400" i="1" dirty="0"/>
              <a:t>G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chemeClr val="hlink"/>
                </a:solidFill>
              </a:rPr>
              <a:t>to</a:t>
            </a:r>
            <a:r>
              <a:rPr lang="en-US" altLang="zh-CN" sz="2400" dirty="0"/>
              <a:t> </a:t>
            </a:r>
            <a:r>
              <a:rPr lang="en-US" altLang="zh-CN" sz="2400" i="1" dirty="0"/>
              <a:t>G</a:t>
            </a:r>
            <a:r>
              <a:rPr lang="en-US" altLang="zh-CN" sz="2400" dirty="0"/>
              <a:t>'.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Then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(a) If </a:t>
            </a:r>
            <a:r>
              <a:rPr lang="en-US" altLang="zh-CN" sz="2400" i="1" dirty="0"/>
              <a:t>e</a:t>
            </a:r>
            <a:r>
              <a:rPr lang="en-US" altLang="zh-CN" sz="2400" dirty="0"/>
              <a:t> is the identity in </a:t>
            </a:r>
            <a:r>
              <a:rPr lang="en-US" altLang="zh-CN" sz="2400" i="1" dirty="0"/>
              <a:t>G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e'</a:t>
            </a:r>
            <a:r>
              <a:rPr lang="en-US" altLang="zh-CN" sz="2400" dirty="0"/>
              <a:t> is the identity in 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then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e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e</a:t>
            </a:r>
            <a:r>
              <a:rPr lang="en-US" altLang="zh-CN" sz="2400" dirty="0"/>
              <a:t>'.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(b) 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i="1" dirty="0"/>
              <a:t>G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= 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))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(c) If </a:t>
            </a:r>
            <a:r>
              <a:rPr lang="en-US" altLang="zh-CN" sz="2400" i="1" dirty="0"/>
              <a:t>H</a:t>
            </a:r>
            <a:r>
              <a:rPr lang="en-US" altLang="zh-CN" sz="2400" dirty="0"/>
              <a:t> is a subgroup of </a:t>
            </a:r>
            <a:r>
              <a:rPr lang="en-US" altLang="zh-CN" sz="2400" i="1" dirty="0"/>
              <a:t>G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H</a:t>
            </a:r>
            <a:r>
              <a:rPr lang="en-US" altLang="zh-CN" sz="2400" dirty="0"/>
              <a:t>) = {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h</a:t>
            </a:r>
            <a:r>
              <a:rPr lang="en-US" altLang="zh-CN" sz="2400" dirty="0"/>
              <a:t>)|</a:t>
            </a:r>
            <a:r>
              <a:rPr lang="en-US" altLang="zh-CN" sz="2400" i="1" dirty="0"/>
              <a:t>h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i="1" dirty="0"/>
              <a:t>H</a:t>
            </a:r>
            <a:r>
              <a:rPr lang="en-US" altLang="zh-CN" sz="2400" dirty="0"/>
              <a:t>} is a subgroup of </a:t>
            </a:r>
            <a:r>
              <a:rPr lang="en-US" altLang="zh-CN" sz="2400" i="1" dirty="0"/>
              <a:t>G</a:t>
            </a:r>
            <a:r>
              <a:rPr lang="en-US" altLang="zh-CN" sz="2400" dirty="0"/>
              <a:t>'.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Rectangle 6"/>
          <p:cNvSpPr>
            <a:spLocks noGrp="1"/>
          </p:cNvSpPr>
          <p:nvPr>
            <p:ph type="title"/>
          </p:nvPr>
        </p:nvSpPr>
        <p:spPr>
          <a:xfrm>
            <a:off x="971233" y="60674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 - (a) </a:t>
            </a:r>
            <a:endParaRPr lang="zh-CN" altLang="en-US" dirty="0"/>
          </a:p>
        </p:txBody>
      </p:sp>
      <p:sp>
        <p:nvSpPr>
          <p:cNvPr id="348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/>
            <a:r>
              <a:rPr lang="en-US" altLang="zh-CN" dirty="0"/>
              <a:t>Then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 *'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*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x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so </a:t>
            </a:r>
            <a:r>
              <a:rPr lang="en-US" altLang="zh-CN" i="1" dirty="0"/>
              <a:t>x</a:t>
            </a:r>
            <a:r>
              <a:rPr lang="en-US" altLang="zh-CN" dirty="0"/>
              <a:t> *'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x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 =</a:t>
            </a:r>
            <a:r>
              <a:rPr lang="en-US" altLang="zh-CN" i="1" dirty="0"/>
              <a:t>x</a:t>
            </a:r>
            <a:r>
              <a:rPr lang="en-US" altLang="zh-CN" dirty="0"/>
              <a:t>*'</a:t>
            </a:r>
            <a:r>
              <a:rPr lang="en-US" altLang="zh-CN" i="1" dirty="0"/>
              <a:t>x*</a:t>
            </a:r>
            <a:r>
              <a:rPr lang="en-US" altLang="zh-CN" dirty="0"/>
              <a:t>'</a:t>
            </a:r>
            <a:r>
              <a:rPr lang="en-US" altLang="zh-CN" i="1" dirty="0">
                <a:solidFill>
                  <a:schemeClr val="hlink"/>
                </a:solidFill>
              </a:rPr>
              <a:t>x</a:t>
            </a:r>
            <a:r>
              <a:rPr lang="en-US" altLang="zh-CN" baseline="30000" dirty="0">
                <a:solidFill>
                  <a:schemeClr val="hlink"/>
                </a:solidFill>
              </a:rPr>
              <a:t>-l</a:t>
            </a:r>
            <a:r>
              <a:rPr lang="en-US" altLang="zh-CN" dirty="0"/>
              <a:t> = </a:t>
            </a:r>
            <a:r>
              <a:rPr lang="en-US" altLang="zh-CN" i="1" dirty="0"/>
              <a:t>x</a:t>
            </a:r>
            <a:r>
              <a:rPr lang="en-US" altLang="zh-CN" dirty="0"/>
              <a:t>*'</a:t>
            </a:r>
            <a:r>
              <a:rPr lang="en-US" altLang="zh-CN" i="1" dirty="0">
                <a:solidFill>
                  <a:schemeClr val="hlink"/>
                </a:solidFill>
              </a:rPr>
              <a:t>x</a:t>
            </a:r>
            <a:r>
              <a:rPr lang="en-US" altLang="zh-CN" baseline="30000" dirty="0">
                <a:solidFill>
                  <a:schemeClr val="hlink"/>
                </a:solidFill>
              </a:rPr>
              <a:t>-l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'</a:t>
            </a:r>
            <a:endParaRPr lang="en-US" altLang="zh-CN" dirty="0"/>
          </a:p>
          <a:p>
            <a:pPr eaLnBrk="1" hangingPunct="1"/>
            <a:r>
              <a:rPr lang="en-US" altLang="zh-CN" dirty="0"/>
              <a:t>Thus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4356100" y="702310"/>
            <a:ext cx="466280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If </a:t>
            </a:r>
            <a:r>
              <a:rPr lang="zh-CN" altLang="en-US" sz="2800" i="1"/>
              <a:t>e</a:t>
            </a:r>
            <a:r>
              <a:rPr lang="zh-CN" altLang="en-US" sz="2800"/>
              <a:t> is the identity in G and </a:t>
            </a:r>
            <a:r>
              <a:rPr lang="zh-CN" altLang="en-US" sz="2800" i="1"/>
              <a:t>e</a:t>
            </a:r>
            <a:r>
              <a:rPr lang="zh-CN" altLang="en-US" sz="2800"/>
              <a:t>' is the identity in G', then </a:t>
            </a:r>
            <a:r>
              <a:rPr lang="zh-CN" altLang="en-US" sz="2800" i="1"/>
              <a:t>f</a:t>
            </a:r>
            <a:r>
              <a:rPr lang="zh-CN" altLang="en-US" sz="2800"/>
              <a:t>(</a:t>
            </a:r>
            <a:r>
              <a:rPr lang="zh-CN" altLang="en-US" sz="2800" i="1"/>
              <a:t>e</a:t>
            </a:r>
            <a:r>
              <a:rPr lang="zh-CN" altLang="en-US" sz="2800"/>
              <a:t>) = </a:t>
            </a:r>
            <a:r>
              <a:rPr lang="zh-CN" altLang="en-US" sz="2800" i="1"/>
              <a:t>e</a:t>
            </a:r>
            <a:r>
              <a:rPr lang="zh-CN" altLang="en-US" sz="2800"/>
              <a:t>'.</a:t>
            </a:r>
            <a:endParaRPr lang="zh-CN" altLang="en-US"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 - (b) </a:t>
            </a:r>
            <a:endParaRPr lang="zh-CN" altLang="en-US" dirty="0"/>
          </a:p>
        </p:txBody>
      </p:sp>
      <p:sp>
        <p:nvSpPr>
          <p:cNvPr id="358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Let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 </a:t>
            </a:r>
            <a:r>
              <a:rPr lang="en-US" altLang="zh-CN" sz="2400" dirty="0">
                <a:sym typeface="MT Symbol" pitchFamily="82" charset="2"/>
              </a:rPr>
              <a:t> </a:t>
            </a:r>
            <a:r>
              <a:rPr lang="en-US" altLang="zh-CN" sz="2400" i="1" dirty="0">
                <a:sym typeface="MT Symbol" pitchFamily="82" charset="2"/>
              </a:rPr>
              <a:t>G</a:t>
            </a:r>
            <a:endParaRPr lang="en-US" altLang="zh-CN" sz="2400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Then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/>
              <a:t> * 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so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e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e</a:t>
            </a:r>
            <a:r>
              <a:rPr lang="en-US" altLang="zh-CN" sz="2400" dirty="0"/>
              <a:t>'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*'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=</a:t>
            </a:r>
            <a:r>
              <a:rPr lang="en-US" altLang="zh-CN" sz="2400" i="1" dirty="0"/>
              <a:t> e</a:t>
            </a:r>
            <a:r>
              <a:rPr lang="en-US" altLang="zh-CN" sz="2400" dirty="0"/>
              <a:t>'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Similarly,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*'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</a:t>
            </a:r>
            <a:r>
              <a:rPr lang="en-US" altLang="zh-CN" sz="2400" i="1" dirty="0"/>
              <a:t> e</a:t>
            </a:r>
            <a:r>
              <a:rPr lang="en-US" altLang="zh-CN" sz="2400" dirty="0"/>
              <a:t>'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Hence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=(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))</a:t>
            </a:r>
            <a:r>
              <a:rPr lang="en-US" altLang="zh-CN" sz="2400" baseline="30000" dirty="0"/>
              <a:t>-1</a:t>
            </a:r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4140200" y="1123950"/>
            <a:ext cx="48755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eaLnBrk="1" hangingPunct="1"/>
            <a:r>
              <a:rPr lang="en-US" altLang="zh-CN" sz="2800" dirty="0">
                <a:sym typeface="+mn-ea"/>
              </a:rPr>
              <a:t>If 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i="1" dirty="0">
                <a:sym typeface="+mn-ea"/>
              </a:rPr>
              <a:t>G</a:t>
            </a:r>
            <a:r>
              <a:rPr lang="en-US" altLang="zh-CN" sz="2800" dirty="0">
                <a:sym typeface="+mn-ea"/>
              </a:rPr>
              <a:t>, then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baseline="30000" dirty="0">
                <a:sym typeface="+mn-ea"/>
              </a:rPr>
              <a:t>-1</a:t>
            </a:r>
            <a:r>
              <a:rPr lang="en-US" altLang="zh-CN" sz="2800" dirty="0">
                <a:sym typeface="+mn-ea"/>
              </a:rPr>
              <a:t>) = (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))</a:t>
            </a:r>
            <a:r>
              <a:rPr lang="en-US" altLang="zh-CN" sz="2800" baseline="30000" dirty="0">
                <a:sym typeface="+mn-ea"/>
              </a:rPr>
              <a:t>-1</a:t>
            </a:r>
            <a:r>
              <a:rPr lang="en-US" altLang="zh-CN" sz="2800" dirty="0">
                <a:sym typeface="+mn-ea"/>
              </a:rPr>
              <a:t>.</a:t>
            </a:r>
            <a:endParaRPr lang="en-US" altLang="zh-CN" sz="2800" dirty="0"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>
          <a:xfrm>
            <a:off x="1007428" y="617538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 - (c) </a:t>
            </a:r>
            <a:endParaRPr lang="zh-CN" altLang="en-US" dirty="0"/>
          </a:p>
        </p:txBody>
      </p:sp>
      <p:sp>
        <p:nvSpPr>
          <p:cNvPr id="368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This follows from Theorem 4 of Section 9.2 and parts (a) and (b).</a:t>
            </a:r>
            <a:endParaRPr lang="en-US" altLang="zh-CN" dirty="0"/>
          </a:p>
          <a:p>
            <a:pPr lvl="1" algn="r" eaLnBrk="1" hangingPunct="1"/>
            <a:r>
              <a:rPr lang="en-US" altLang="zh-CN" dirty="0"/>
              <a:t>Q.E.D.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3430270" y="190500"/>
            <a:ext cx="56743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eaLnBrk="1" hangingPunct="1"/>
            <a:r>
              <a:rPr lang="en-US" altLang="zh-CN" sz="2800" dirty="0">
                <a:sym typeface="+mn-ea"/>
              </a:rPr>
              <a:t>If </a:t>
            </a:r>
            <a:r>
              <a:rPr lang="en-US" altLang="zh-CN" sz="2800" i="1" dirty="0">
                <a:sym typeface="+mn-ea"/>
              </a:rPr>
              <a:t>H</a:t>
            </a:r>
            <a:r>
              <a:rPr lang="en-US" altLang="zh-CN" sz="2800" dirty="0">
                <a:sym typeface="+mn-ea"/>
              </a:rPr>
              <a:t> is a subgroup of </a:t>
            </a:r>
            <a:r>
              <a:rPr lang="en-US" altLang="zh-CN" sz="2800" i="1" dirty="0">
                <a:sym typeface="+mn-ea"/>
              </a:rPr>
              <a:t>G</a:t>
            </a:r>
            <a:r>
              <a:rPr lang="en-US" altLang="zh-CN" sz="2800" dirty="0">
                <a:sym typeface="+mn-ea"/>
              </a:rPr>
              <a:t>, then 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i="1" dirty="0">
                <a:sym typeface="+mn-ea"/>
              </a:rPr>
              <a:t>H</a:t>
            </a:r>
            <a:r>
              <a:rPr lang="en-US" altLang="zh-CN" sz="2800" dirty="0">
                <a:sym typeface="+mn-ea"/>
              </a:rPr>
              <a:t>) = {</a:t>
            </a:r>
            <a:r>
              <a:rPr lang="en-US" altLang="zh-CN" sz="2800" i="1" dirty="0">
                <a:sym typeface="+mn-ea"/>
              </a:rPr>
              <a:t>f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i="1" dirty="0">
                <a:sym typeface="+mn-ea"/>
              </a:rPr>
              <a:t>h</a:t>
            </a:r>
            <a:r>
              <a:rPr lang="en-US" altLang="zh-CN" sz="2800" dirty="0">
                <a:sym typeface="+mn-ea"/>
              </a:rPr>
              <a:t>)|</a:t>
            </a:r>
            <a:r>
              <a:rPr lang="en-US" altLang="zh-CN" sz="2800" i="1" dirty="0">
                <a:sym typeface="+mn-ea"/>
              </a:rPr>
              <a:t>h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i="1" dirty="0">
                <a:sym typeface="+mn-ea"/>
              </a:rPr>
              <a:t>H</a:t>
            </a:r>
            <a:r>
              <a:rPr lang="en-US" altLang="zh-CN" sz="2800" dirty="0">
                <a:sym typeface="+mn-ea"/>
              </a:rPr>
              <a:t>} is a subgroup of </a:t>
            </a:r>
            <a:r>
              <a:rPr lang="en-US" altLang="zh-CN" sz="2800" i="1" dirty="0">
                <a:sym typeface="+mn-ea"/>
              </a:rPr>
              <a:t>G</a:t>
            </a:r>
            <a:r>
              <a:rPr lang="en-US" altLang="zh-CN" sz="2800" dirty="0">
                <a:sym typeface="+mn-ea"/>
              </a:rPr>
              <a:t>'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文本框 6"/>
          <p:cNvSpPr txBox="1"/>
          <p:nvPr>
            <p:custDataLst>
              <p:tags r:id="rId1"/>
            </p:custDataLst>
          </p:nvPr>
        </p:nvSpPr>
        <p:spPr>
          <a:xfrm>
            <a:off x="914400" y="981075"/>
            <a:ext cx="7315200" cy="1265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Let H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,H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be subgroups of a group G. Determine whether H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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a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subgroups of the group G.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891" name="文本框 7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YES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892" name="文本框 8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NO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893" name="椭圆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894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895" name="矩形: 圆角 15"/>
          <p:cNvSpPr/>
          <p:nvPr>
            <p:custDataLst>
              <p:tags r:id="rId6"/>
            </p:custDataLst>
          </p:nvPr>
        </p:nvSpPr>
        <p:spPr>
          <a:xfrm>
            <a:off x="5867400" y="4797425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7896" name="组合 20"/>
          <p:cNvGrpSpPr/>
          <p:nvPr/>
        </p:nvGrpSpPr>
        <p:grpSpPr>
          <a:xfrm>
            <a:off x="0" y="0"/>
            <a:ext cx="9144000" cy="635000"/>
            <a:chOff x="0" y="-52229"/>
            <a:chExt cx="9144000" cy="635000"/>
          </a:xfrm>
        </p:grpSpPr>
        <p:sp>
          <p:nvSpPr>
            <p:cNvPr id="3789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-52229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89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-52229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89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-52229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90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427480" y="56991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7901" name="图片 5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Note</a:t>
            </a:r>
            <a:endParaRPr lang="en-US" altLang="zh-CN" dirty="0"/>
          </a:p>
        </p:txBody>
      </p:sp>
      <p:sp>
        <p:nvSpPr>
          <p:cNvPr id="389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>
                <a:solidFill>
                  <a:schemeClr val="hlink"/>
                </a:solidFill>
              </a:rPr>
              <a:t>Remember that an isomorphism preserves all properties defined in terms of the group operations</a:t>
            </a:r>
            <a:r>
              <a:rPr lang="en-US" altLang="zh-CN" dirty="0"/>
              <a:t>.</a:t>
            </a:r>
            <a:endParaRPr lang="zh-CN" altLang="en-US" dirty="0"/>
          </a:p>
          <a:p>
            <a:pPr eaLnBrk="1" hangingPunct="1"/>
            <a:r>
              <a:rPr lang="en-US" altLang="zh-CN" dirty="0"/>
              <a:t>Example 16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groups 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en-US" altLang="zh-CN" dirty="0"/>
              <a:t> and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6</a:t>
            </a:r>
            <a:r>
              <a:rPr lang="en-US" altLang="zh-CN" dirty="0"/>
              <a:t> are both of order 6. However, 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en-US" altLang="zh-CN" dirty="0"/>
              <a:t> is not Abelian and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6</a:t>
            </a:r>
            <a:r>
              <a:rPr lang="en-US" altLang="zh-CN" dirty="0"/>
              <a:t> is Abelian. Hence they are not isomorphic.</a:t>
            </a:r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17</a:t>
            </a:r>
            <a:endParaRPr lang="zh-CN" altLang="en-US" dirty="0"/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The groups with multiplication Tables 9.6, 9.7, and 9.8 are isomorphic. (see </a:t>
            </a:r>
            <a:r>
              <a:rPr lang="en-US" altLang="zh-CN" sz="2800" i="1" dirty="0">
                <a:hlinkClick r:id="rId1" action="ppaction://hlinksldjump"/>
              </a:rPr>
              <a:t>slide 16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The group with multiplication Table 9.5 is called the </a:t>
            </a:r>
            <a:r>
              <a:rPr lang="en-US" altLang="zh-CN" sz="2800" i="1" dirty="0">
                <a:solidFill>
                  <a:schemeClr val="hlink"/>
                </a:solidFill>
              </a:rPr>
              <a:t>Klein 4 group</a:t>
            </a:r>
            <a:r>
              <a:rPr lang="en-US" altLang="zh-CN" sz="2800" dirty="0"/>
              <a:t>(</a:t>
            </a:r>
            <a:r>
              <a:rPr lang="zh-CN" altLang="en-US" sz="2800" dirty="0"/>
              <a:t>克莱因四元素群</a:t>
            </a:r>
            <a:r>
              <a:rPr lang="en-US" altLang="zh-CN" sz="2800" dirty="0"/>
              <a:t>) and it is denoted by </a:t>
            </a:r>
            <a:r>
              <a:rPr lang="en-US" altLang="zh-CN" sz="2800" i="1" dirty="0"/>
              <a:t>V</a:t>
            </a:r>
            <a:r>
              <a:rPr lang="en-US" altLang="zh-CN" sz="2800" dirty="0"/>
              <a:t>. 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Tables 9.5 and 9.6 are not isomorphic groups?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Observe that if </a:t>
            </a:r>
            <a:r>
              <a:rPr lang="en-US" altLang="zh-CN" sz="2400" i="1" dirty="0"/>
              <a:t>x</a:t>
            </a:r>
            <a:r>
              <a:rPr lang="en-US" altLang="zh-CN" sz="2400" dirty="0"/>
              <a:t> is any element in the group determined by Table 9.5, then 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endParaRPr lang="en-US" altLang="zh-CN" sz="2400" i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Cyclic group – </a:t>
            </a:r>
            <a:r>
              <a:rPr lang="zh-CN" altLang="en-US" dirty="0"/>
              <a:t>循环群</a:t>
            </a:r>
            <a:endParaRPr lang="en-US" altLang="zh-CN" dirty="0"/>
          </a:p>
        </p:txBody>
      </p:sp>
      <p:sp>
        <p:nvSpPr>
          <p:cNvPr id="409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Recall the subgroup generated by </a:t>
            </a:r>
            <a:r>
              <a:rPr lang="en-US" altLang="zh-CN" i="1" dirty="0"/>
              <a:t>a</a:t>
            </a:r>
            <a:r>
              <a:rPr lang="en-US" altLang="zh-CN" dirty="0"/>
              <a:t>. Now Check </a:t>
            </a:r>
            <a:r>
              <a:rPr lang="en-US" altLang="zh-CN" dirty="0">
                <a:hlinkClick r:id="rId1" action="ppaction://hlinksldjump"/>
              </a:rPr>
              <a:t>Table 9.7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baseline="30000" dirty="0"/>
              <a:t>0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baseline="30000" dirty="0"/>
              <a:t>3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So </a:t>
            </a:r>
            <a:r>
              <a:rPr lang="en-US" altLang="zh-CN" i="1" dirty="0"/>
              <a:t>G</a:t>
            </a:r>
            <a:r>
              <a:rPr lang="en-US" altLang="zh-CN" dirty="0"/>
              <a:t> = {</a:t>
            </a:r>
            <a:r>
              <a:rPr lang="en-US" altLang="zh-CN" i="1" dirty="0"/>
              <a:t>a</a:t>
            </a:r>
            <a:r>
              <a:rPr lang="en-US" altLang="zh-CN" baseline="30000" dirty="0"/>
              <a:t>0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30000" dirty="0"/>
              <a:t>3</a:t>
            </a:r>
            <a:r>
              <a:rPr lang="en-US" altLang="zh-CN" dirty="0"/>
              <a:t>}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Such group is called </a:t>
            </a:r>
            <a:r>
              <a:rPr lang="en-US" altLang="zh-CN" i="1" dirty="0">
                <a:solidFill>
                  <a:schemeClr val="hlink"/>
                </a:solidFill>
              </a:rPr>
              <a:t>cyclic group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41989" name="Rectangle 3"/>
          <p:cNvSpPr>
            <a:spLocks noGrp="1"/>
          </p:cNvSpPr>
          <p:nvPr>
            <p:ph idx="1"/>
          </p:nvPr>
        </p:nvSpPr>
        <p:spPr>
          <a:xfrm>
            <a:off x="971550" y="184467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12,16 @348</a:t>
            </a:r>
            <a:r>
              <a:rPr lang="en-US" altLang="zh-CN" dirty="0"/>
              <a:t>                   </a:t>
            </a:r>
            <a:r>
              <a:rPr lang="zh-CN" altLang="en-US" dirty="0"/>
              <a:t>26,32@349</a:t>
            </a:r>
            <a:endParaRPr lang="zh-CN" altLang="en-US" dirty="0"/>
          </a:p>
        </p:txBody>
      </p:sp>
      <p:pic>
        <p:nvPicPr>
          <p:cNvPr id="41990" name="图片 1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388" y="2446338"/>
            <a:ext cx="4529137" cy="2247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1" name="图片 1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5373688"/>
            <a:ext cx="4818063" cy="481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2" name="图片 1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2565400"/>
            <a:ext cx="4011613" cy="947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3" name="图片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925" y="4316413"/>
            <a:ext cx="3997325" cy="733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Products and Quotients of Groups</a:t>
            </a:r>
            <a:endParaRPr lang="zh-CN" altLang="en-US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fontAlgn="base" hangingPunct="1">
              <a:buSzPct val="60000"/>
            </a:pPr>
            <a:endParaRPr lang="zh-CN" altLang="en-US" strike="noStrike" noProof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1</a:t>
            </a:r>
            <a:endParaRPr lang="zh-CN" altLang="en-US" dirty="0"/>
          </a:p>
        </p:txBody>
      </p:sp>
      <p:sp>
        <p:nvSpPr>
          <p:cNvPr id="440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en-US" altLang="zh-CN" i="1" dirty="0"/>
              <a:t>G</a:t>
            </a:r>
            <a:r>
              <a:rPr lang="en-US" altLang="zh-CN" baseline="-25000" dirty="0"/>
              <a:t>2 </a:t>
            </a:r>
            <a:r>
              <a:rPr lang="en-US" altLang="zh-CN" dirty="0"/>
              <a:t>are groups, </a:t>
            </a:r>
            <a:endParaRPr lang="en-US" altLang="zh-CN" dirty="0"/>
          </a:p>
          <a:p>
            <a:pPr eaLnBrk="1" hangingPunct="1"/>
            <a:r>
              <a:rPr lang="en-US" altLang="zh-CN" dirty="0"/>
              <a:t>then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G</a:t>
            </a:r>
            <a:r>
              <a:rPr lang="en-US" altLang="zh-CN" dirty="0"/>
              <a:t> =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i="1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/>
            <a:r>
              <a:rPr lang="en-US" altLang="zh-CN" dirty="0"/>
              <a:t>is a group with binary operation defined by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l</a:t>
            </a:r>
            <a:r>
              <a:rPr lang="en-US" altLang="zh-CN" dirty="0"/>
              <a:t>)(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) = (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l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).</a:t>
            </a:r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450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By Theorem 1, Section 9.3, we have that </a:t>
            </a:r>
            <a:r>
              <a:rPr lang="en-US" altLang="zh-CN" i="1" dirty="0"/>
              <a:t>G</a:t>
            </a:r>
            <a:r>
              <a:rPr lang="en-US" altLang="zh-CN" dirty="0"/>
              <a:t> is a semigroup. </a:t>
            </a:r>
            <a:endParaRPr lang="en-US" altLang="zh-CN" dirty="0"/>
          </a:p>
          <a:p>
            <a:pPr eaLnBrk="1" hangingPunct="1"/>
            <a:r>
              <a:rPr lang="en-US" altLang="zh-CN" dirty="0"/>
              <a:t>The existence of an identity and inverses is easy to verify.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Q.E.D.</a:t>
            </a:r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zh-CN" dirty="0"/>
              <a:t>Example 1</a:t>
            </a:r>
            <a:endParaRPr lang="zh-CN" altLang="en-US" dirty="0"/>
          </a:p>
        </p:txBody>
      </p:sp>
      <p:sp>
        <p:nvSpPr>
          <p:cNvPr id="46085" name="Rectangle 3"/>
          <p:cNvSpPr>
            <a:spLocks noGrp="1"/>
          </p:cNvSpPr>
          <p:nvPr>
            <p:ph idx="1"/>
          </p:nvPr>
        </p:nvSpPr>
        <p:spPr>
          <a:xfrm>
            <a:off x="1258888" y="176053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en-US" altLang="zh-CN" i="1" dirty="0"/>
              <a:t>G</a:t>
            </a:r>
            <a:r>
              <a:rPr lang="en-US" altLang="zh-CN" baseline="-25000" dirty="0"/>
              <a:t>2 </a:t>
            </a:r>
            <a:r>
              <a:rPr lang="en-US" altLang="zh-CN" dirty="0"/>
              <a:t>be the group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2</a:t>
            </a:r>
            <a:r>
              <a:rPr lang="en-US" altLang="zh-CN" dirty="0"/>
              <a:t>. For simplicity of notation, we shall write the elements of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2</a:t>
            </a:r>
            <a:r>
              <a:rPr lang="en-US" altLang="zh-CN" dirty="0"/>
              <a:t> as </a:t>
            </a:r>
            <a:r>
              <a:rPr lang="en-US" altLang="zh-CN" dirty="0">
                <a:sym typeface="Symbol" panose="05050102010706020507" pitchFamily="18" charset="2"/>
              </a:rPr>
              <a:t></a:t>
            </a:r>
            <a:r>
              <a:rPr lang="en-US" altLang="zh-CN" dirty="0"/>
              <a:t>0 and </a:t>
            </a:r>
            <a:r>
              <a:rPr lang="en-US" altLang="zh-CN" dirty="0">
                <a:sym typeface="Symbol" panose="05050102010706020507" pitchFamily="18" charset="2"/>
              </a:rPr>
              <a:t></a:t>
            </a:r>
            <a:r>
              <a:rPr lang="en-US" altLang="zh-CN" dirty="0"/>
              <a:t>l, respectively, instead of [0] and [l]. Then the multiplication table of </a:t>
            </a:r>
            <a:r>
              <a:rPr lang="en-US" altLang="zh-CN" i="1" dirty="0"/>
              <a:t>G</a:t>
            </a:r>
            <a:r>
              <a:rPr lang="en-US" altLang="zh-CN" dirty="0"/>
              <a:t> =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i="1" dirty="0">
                <a:sym typeface="Symbol" panose="05050102010706020507" pitchFamily="18" charset="2"/>
              </a:rPr>
              <a:t> 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is given in Table.</a:t>
            </a:r>
            <a:endParaRPr lang="en-US" altLang="zh-CN" dirty="0"/>
          </a:p>
        </p:txBody>
      </p:sp>
      <p:pic>
        <p:nvPicPr>
          <p:cNvPr id="46086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95738" y="4292600"/>
            <a:ext cx="4643437" cy="22733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对象 2"/>
          <p:cNvGraphicFramePr/>
          <p:nvPr/>
        </p:nvGraphicFramePr>
        <p:xfrm>
          <a:off x="6012180" y="45085"/>
          <a:ext cx="2555240" cy="168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2" imgW="2212340" imgH="1461135" progId="Visio.Drawing.15">
                  <p:embed/>
                </p:oleObj>
              </mc:Choice>
              <mc:Fallback>
                <p:oleObj name="" r:id="rId2" imgW="2212340" imgH="1461135" progId="Visio.Drawing.15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12180" y="45085"/>
                        <a:ext cx="2555240" cy="1680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zh-CN" dirty="0"/>
              <a:t>Example 1</a:t>
            </a:r>
            <a:endParaRPr lang="zh-CN" altLang="zh-CN" dirty="0"/>
          </a:p>
        </p:txBody>
      </p:sp>
      <p:sp>
        <p:nvSpPr>
          <p:cNvPr id="471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</a:t>
            </a:r>
            <a:r>
              <a:rPr kumimoji="0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a group of order 4, it must be isomorphic to </a:t>
            </a:r>
            <a:r>
              <a:rPr kumimoji="0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to </a:t>
            </a:r>
            <a:r>
              <a:rPr kumimoji="0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Euclid Math Two" panose="02050601010101010101" pitchFamily="18" charset="2"/>
                <a:ea typeface="+mn-ea"/>
                <a:cs typeface="+mn-cs"/>
              </a:rPr>
              <a:t>Z</a:t>
            </a:r>
            <a:r>
              <a:rPr kumimoji="0" lang="en-US" altLang="zh-CN" sz="3200" b="0" i="0" u="none" strike="noStrike" kern="0" cap="none" spc="0" normalizeH="0" baseline="-2500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, the only groups of order 4. </a:t>
            </a:r>
            <a:endParaRPr kumimoji="0" lang="en-US" altLang="zh-CN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function</a:t>
            </a:r>
            <a:endParaRPr kumimoji="0" lang="en-US" altLang="zh-CN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: 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V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Symbol" panose="05050102010706020507" pitchFamily="18" charset="2"/>
              </a:rPr>
              <a:t>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MT Symbol" pitchFamily="82" charset="2"/>
              </a:rPr>
              <a:t> 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Euclid Math Two" panose="02050601010101010101" pitchFamily="18" charset="2"/>
                <a:ea typeface="+mn-ea"/>
                <a:cs typeface="+mn-ea"/>
              </a:rPr>
              <a:t>Z</a:t>
            </a:r>
            <a:r>
              <a:rPr kumimoji="0" lang="en-US" altLang="zh-CN" sz="2800" b="0" i="0" u="none" strike="noStrike" kern="0" cap="none" spc="0" normalizeH="0" baseline="-2500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 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Symbol" panose="05050102010706020507" pitchFamily="18" charset="2"/>
              </a:rPr>
              <a:t>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Euclid Math Two" panose="02050601010101010101" pitchFamily="18" charset="2"/>
                <a:ea typeface="+mn-ea"/>
                <a:cs typeface="+mn-ea"/>
              </a:rPr>
              <a:t>Z</a:t>
            </a:r>
            <a:r>
              <a:rPr kumimoji="0" lang="en-US" altLang="zh-CN" sz="2800" b="0" i="0" u="none" strike="noStrike" kern="0" cap="none" spc="0" normalizeH="0" baseline="-2500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2 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defined by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e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([0], [0]), 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([1],[0]), 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([0], [1]), and 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c</a:t>
            </a:r>
            <a:r>
              <a:rPr kumimoji="0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([1], [1]) </a:t>
            </a:r>
            <a:endParaRPr kumimoji="0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an isomorphism.</a:t>
            </a:r>
            <a:r>
              <a:rPr kumimoji="0" lang="zh-CN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kumimoji="0" lang="zh-CN" altLang="zh-CN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8855" y="-27940"/>
            <a:ext cx="2310130" cy="19513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Note</a:t>
            </a:r>
            <a:endParaRPr lang="en-US" altLang="zh-CN" dirty="0"/>
          </a:p>
        </p:txBody>
      </p:sp>
      <p:sp>
        <p:nvSpPr>
          <p:cNvPr id="481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we repeat Example 1 with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2</a:t>
            </a:r>
            <a:r>
              <a:rPr lang="en-US" altLang="zh-CN" dirty="0"/>
              <a:t> and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3</a:t>
            </a:r>
            <a:r>
              <a:rPr lang="en-US" altLang="zh-CN" dirty="0"/>
              <a:t>, we find that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3</a:t>
            </a:r>
            <a:r>
              <a:rPr lang="en-US" altLang="zh-CN" dirty="0">
                <a:sym typeface="Symbol" panose="05050102010706020507" pitchFamily="18" charset="2"/>
              </a:rPr>
              <a:t>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-25000" dirty="0"/>
              <a:t>6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It can be shown, in general, that 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i="1" baseline="-25000" dirty="0"/>
              <a:t>m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i="1" baseline="-25000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 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i="1" baseline="-25000" dirty="0"/>
              <a:t>mn</a:t>
            </a:r>
            <a:r>
              <a:rPr lang="en-US" altLang="zh-CN" dirty="0"/>
              <a:t> </a:t>
            </a:r>
            <a:endParaRPr lang="en-US" altLang="zh-CN" dirty="0"/>
          </a:p>
          <a:p>
            <a:pPr lvl="2" eaLnBrk="1" hangingPunct="1"/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endParaRPr lang="en-US" altLang="zh-CN" i="1" dirty="0">
              <a:solidFill>
                <a:schemeClr val="hlink"/>
              </a:solidFill>
            </a:endParaRPr>
          </a:p>
          <a:p>
            <a:pPr lvl="1" eaLnBrk="1" hangingPunct="1"/>
            <a:r>
              <a:rPr lang="en-US" altLang="zh-CN" dirty="0"/>
              <a:t>GCD(</a:t>
            </a:r>
            <a:r>
              <a:rPr lang="en-US" altLang="zh-CN" i="1" dirty="0"/>
              <a:t>m</a:t>
            </a:r>
            <a:r>
              <a:rPr lang="en-US" altLang="zh-CN" dirty="0"/>
              <a:t>, </a:t>
            </a:r>
            <a:r>
              <a:rPr lang="en-US" altLang="zh-CN" i="1" dirty="0"/>
              <a:t>n</a:t>
            </a:r>
            <a:r>
              <a:rPr lang="en-US" altLang="zh-CN" dirty="0"/>
              <a:t>) = l.</a:t>
            </a:r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2</a:t>
            </a:r>
            <a:endParaRPr lang="zh-CN" altLang="en-US" dirty="0"/>
          </a:p>
        </p:txBody>
      </p:sp>
      <p:sp>
        <p:nvSpPr>
          <p:cNvPr id="491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B</a:t>
            </a:r>
            <a:r>
              <a:rPr lang="en-US" altLang="zh-CN" dirty="0"/>
              <a:t> ={0, l } be the group, where + is defined as above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Then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  </a:t>
            </a:r>
            <a:r>
              <a:rPr lang="en-US" altLang="zh-CN" dirty="0"/>
              <a:t>...</a:t>
            </a:r>
            <a:r>
              <a:rPr lang="en-US" altLang="zh-CN" dirty="0">
                <a:sym typeface="Symbol" panose="05050102010706020507" pitchFamily="18" charset="2"/>
              </a:rPr>
              <a:t>  </a:t>
            </a:r>
            <a:r>
              <a:rPr lang="en-US" altLang="zh-CN" i="1" dirty="0"/>
              <a:t>B</a:t>
            </a:r>
            <a:r>
              <a:rPr lang="en-US" altLang="zh-CN" dirty="0"/>
              <a:t> (</a:t>
            </a:r>
            <a:r>
              <a:rPr lang="en-US" altLang="zh-CN" i="1" dirty="0"/>
              <a:t>n</a:t>
            </a:r>
            <a:r>
              <a:rPr lang="en-US" altLang="zh-CN" dirty="0"/>
              <a:t> factors) is a group with operation 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dirty="0"/>
              <a:t>defined by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,... </a:t>
            </a:r>
            <a:r>
              <a:rPr lang="en-US" altLang="zh-CN" i="1" dirty="0"/>
              <a:t>x</a:t>
            </a:r>
            <a:r>
              <a:rPr lang="en-US" altLang="zh-CN" baseline="-25000" dirty="0"/>
              <a:t>n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 </a:t>
            </a:r>
            <a:r>
              <a:rPr lang="en-US" altLang="zh-CN" dirty="0"/>
              <a:t> (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,... </a:t>
            </a:r>
            <a:r>
              <a:rPr lang="en-US" altLang="zh-CN" i="1" dirty="0"/>
              <a:t>y</a:t>
            </a:r>
            <a:r>
              <a:rPr lang="en-US" altLang="zh-CN" baseline="-25000" dirty="0"/>
              <a:t>n</a:t>
            </a:r>
            <a:r>
              <a:rPr lang="en-US" altLang="zh-CN" dirty="0"/>
              <a:t>)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= (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,.... </a:t>
            </a:r>
            <a:r>
              <a:rPr lang="en-US" altLang="zh-CN" i="1" dirty="0"/>
              <a:t>x</a:t>
            </a:r>
            <a:r>
              <a:rPr lang="en-US" altLang="zh-CN" baseline="-25000" dirty="0"/>
              <a:t>n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n</a:t>
            </a:r>
            <a:r>
              <a:rPr lang="en-US" altLang="zh-CN" dirty="0"/>
              <a:t> ).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The identity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is (0, 0,..., 0), and every element is its own inverse. </a:t>
            </a:r>
            <a:endParaRPr lang="en-US" altLang="zh-CN" dirty="0"/>
          </a:p>
        </p:txBody>
      </p:sp>
      <p:pic>
        <p:nvPicPr>
          <p:cNvPr id="49158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2950" y="404813"/>
            <a:ext cx="1704975" cy="1390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Theorem 2</a:t>
            </a:r>
            <a:endParaRPr lang="zh-CN" altLang="en-US" sz="4000" dirty="0"/>
          </a:p>
        </p:txBody>
      </p:sp>
      <p:sp>
        <p:nvSpPr>
          <p:cNvPr id="50181" name="Rectangle 3"/>
          <p:cNvSpPr>
            <a:spLocks noGrp="1"/>
          </p:cNvSpPr>
          <p:nvPr>
            <p:ph idx="1"/>
          </p:nvPr>
        </p:nvSpPr>
        <p:spPr>
          <a:xfrm>
            <a:off x="1043623" y="177260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Let </a:t>
            </a:r>
            <a:r>
              <a:rPr lang="en-US" altLang="zh-CN" sz="2800" i="1" dirty="0"/>
              <a:t>R</a:t>
            </a:r>
            <a:r>
              <a:rPr lang="en-US" altLang="zh-CN" sz="2800" dirty="0"/>
              <a:t> be a congruence relation on the group (</a:t>
            </a:r>
            <a:r>
              <a:rPr lang="en-US" altLang="zh-CN" sz="2800" i="1" dirty="0"/>
              <a:t>G</a:t>
            </a:r>
            <a:r>
              <a:rPr lang="en-US" altLang="zh-CN" sz="2800" dirty="0"/>
              <a:t>, *). 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Then the semigroup (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STIX Two Math" panose="02020603050405020304" charset="0"/>
                <a:cs typeface="STIX Two Math" panose="02020603050405020304" charset="0"/>
              </a:rPr>
              <a:t>⊛</a:t>
            </a:r>
            <a:r>
              <a:rPr lang="en-US" altLang="zh-CN" sz="2800" dirty="0"/>
              <a:t>) is a group, where the operation </a:t>
            </a:r>
            <a:r>
              <a:rPr lang="en-US" altLang="zh-CN" sz="2800" dirty="0">
                <a:latin typeface="STIX Two Math" panose="02020603050405020304" charset="0"/>
                <a:cs typeface="STIX Two Math" panose="02020603050405020304" charset="0"/>
              </a:rPr>
              <a:t>⊛ </a:t>
            </a:r>
            <a:r>
              <a:rPr lang="en-US" altLang="zh-CN" sz="2800" dirty="0"/>
              <a:t>is defined on 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 by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+mn-ea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b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Proof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Since a group is a monoid,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a monoid.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Let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Then [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]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dirty="0"/>
              <a:t>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and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[</a:t>
            </a:r>
            <a:r>
              <a:rPr lang="en-US" altLang="zh-CN" sz="2400" i="1" dirty="0"/>
              <a:t>a</a:t>
            </a:r>
            <a:r>
              <a:rPr lang="en-US" altLang="zh-CN" sz="2400" dirty="0"/>
              <a:t>] 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+mn-ea"/>
              </a:rPr>
              <a:t>⊛</a:t>
            </a:r>
            <a:r>
              <a:rPr lang="en-US" altLang="zh-CN" sz="2400" dirty="0"/>
              <a:t> [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e</a:t>
            </a:r>
            <a:r>
              <a:rPr lang="en-US" altLang="zh-CN" sz="2400" dirty="0"/>
              <a:t>].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So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 = [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].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Hence (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+mn-ea"/>
              </a:rPr>
              <a:t>⊛</a:t>
            </a:r>
            <a:r>
              <a:rPr lang="en-US" altLang="zh-CN" sz="2400" dirty="0"/>
              <a:t>) is a group.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Corollary 1</a:t>
            </a:r>
            <a:endParaRPr lang="en-US" altLang="zh-CN" sz="4000" dirty="0"/>
          </a:p>
        </p:txBody>
      </p:sp>
      <p:sp>
        <p:nvSpPr>
          <p:cNvPr id="512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R</a:t>
            </a:r>
            <a:r>
              <a:rPr lang="en-US" altLang="zh-CN" dirty="0"/>
              <a:t> is a congruence relation on a group </a:t>
            </a:r>
            <a:r>
              <a:rPr lang="en-US" altLang="zh-CN" i="1" dirty="0"/>
              <a:t>G</a:t>
            </a:r>
            <a:r>
              <a:rPr lang="en-US" altLang="zh-CN" dirty="0"/>
              <a:t>, then the function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: </a:t>
            </a:r>
            <a:r>
              <a:rPr lang="en-US" altLang="zh-CN" i="1" dirty="0"/>
              <a:t>G</a:t>
            </a:r>
            <a:r>
              <a:rPr lang="en-US" altLang="zh-CN" i="1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endParaRPr lang="en-US" altLang="zh-CN" dirty="0"/>
          </a:p>
          <a:p>
            <a:pPr eaLnBrk="1" hangingPunct="1"/>
            <a:r>
              <a:rPr lang="en-US" altLang="zh-CN" dirty="0"/>
              <a:t>given by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endParaRPr lang="en-US" altLang="zh-CN" dirty="0"/>
          </a:p>
          <a:p>
            <a:pPr eaLnBrk="1" hangingPunct="1"/>
            <a:r>
              <a:rPr lang="en-US" altLang="zh-CN" dirty="0"/>
              <a:t>is a group homomorphism.</a:t>
            </a:r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Corollary 2</a:t>
            </a:r>
            <a:endParaRPr lang="en-US" altLang="zh-CN" sz="4000" dirty="0"/>
          </a:p>
        </p:txBody>
      </p:sp>
      <p:sp>
        <p:nvSpPr>
          <p:cNvPr id="522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If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: </a:t>
            </a:r>
            <a:r>
              <a:rPr lang="en-US" altLang="zh-CN" sz="2400" i="1" dirty="0"/>
              <a:t>G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G</a:t>
            </a:r>
            <a:r>
              <a:rPr lang="en-US" altLang="zh-CN" sz="2400" dirty="0"/>
              <a:t>' is a homomorphism from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, *) </a:t>
            </a:r>
            <a:r>
              <a:rPr lang="en-US" altLang="zh-CN" sz="2400" i="1" dirty="0">
                <a:solidFill>
                  <a:schemeClr val="hlink"/>
                </a:solidFill>
              </a:rPr>
              <a:t>onto</a:t>
            </a:r>
            <a:r>
              <a:rPr lang="en-US" altLang="zh-CN" sz="2400" dirty="0"/>
              <a:t>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*'), and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 is the relation defined on </a:t>
            </a:r>
            <a:r>
              <a:rPr lang="en-US" altLang="zh-CN" sz="2400" i="1" dirty="0"/>
              <a:t>G</a:t>
            </a:r>
            <a:r>
              <a:rPr lang="en-US" altLang="zh-CN" sz="2400" dirty="0"/>
              <a:t> by </a:t>
            </a:r>
            <a:endParaRPr lang="en-US" altLang="zh-CN" sz="24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  <a:r>
              <a:rPr lang="en-US" altLang="zh-CN" sz="2000" i="1" dirty="0"/>
              <a:t>R</a:t>
            </a:r>
            <a:r>
              <a:rPr lang="en-US" altLang="zh-CN" sz="2000" dirty="0"/>
              <a:t> </a:t>
            </a:r>
            <a:r>
              <a:rPr lang="en-US" altLang="zh-CN" sz="2000" i="1" dirty="0"/>
              <a:t>b</a:t>
            </a:r>
            <a:r>
              <a:rPr lang="en-US" altLang="zh-CN" sz="2000" dirty="0"/>
              <a:t> </a:t>
            </a:r>
            <a:r>
              <a:rPr lang="en-US" altLang="zh-CN" sz="2000" i="1" dirty="0">
                <a:solidFill>
                  <a:schemeClr val="hlink"/>
                </a:solidFill>
              </a:rPr>
              <a:t>if and only if</a:t>
            </a:r>
            <a:r>
              <a:rPr lang="en-US" altLang="zh-CN" sz="2000" dirty="0"/>
              <a:t> 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dirty="0"/>
              <a:t>) =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b</a:t>
            </a:r>
            <a:r>
              <a:rPr lang="en-US" altLang="zh-CN" sz="2000" dirty="0"/>
              <a:t>), for </a:t>
            </a:r>
            <a:r>
              <a:rPr lang="en-US" altLang="zh-CN" sz="2000" i="1" dirty="0"/>
              <a:t>a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b</a:t>
            </a:r>
            <a:r>
              <a:rPr lang="en-US" altLang="zh-CN" sz="2000" dirty="0"/>
              <a:t> in </a:t>
            </a:r>
            <a:r>
              <a:rPr lang="en-US" altLang="zh-CN" sz="2000" i="1" dirty="0"/>
              <a:t>G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Then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 is a congruence relation.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 function </a:t>
            </a:r>
            <a:r>
              <a:rPr lang="en-US" altLang="zh-CN" sz="2400" i="1" dirty="0"/>
              <a:t>f</a:t>
            </a:r>
            <a:r>
              <a:rPr lang="en-US" altLang="zh-CN" sz="2400" dirty="0"/>
              <a:t>: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given by </a:t>
            </a:r>
            <a:r>
              <a:rPr lang="en-US" altLang="zh-CN" sz="2400" i="1" dirty="0"/>
              <a:t>f</a:t>
            </a:r>
            <a:r>
              <a:rPr lang="en-US" altLang="zh-CN" sz="2400" dirty="0"/>
              <a:t>([</a:t>
            </a:r>
            <a:r>
              <a:rPr lang="en-US" altLang="zh-CN" sz="2400" i="1" dirty="0"/>
              <a:t>a</a:t>
            </a:r>
            <a:r>
              <a:rPr lang="en-US" altLang="zh-CN" sz="2400" dirty="0"/>
              <a:t>])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is an isomorphism from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+mn-ea"/>
              </a:rPr>
              <a:t>⊛</a:t>
            </a:r>
            <a:r>
              <a:rPr lang="en-US" altLang="zh-CN" sz="2400" dirty="0"/>
              <a:t>) onto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*' ).</a:t>
            </a:r>
            <a:endParaRPr lang="zh-CN" altLang="zh-CN" sz="2400" dirty="0"/>
          </a:p>
        </p:txBody>
      </p:sp>
      <p:sp>
        <p:nvSpPr>
          <p:cNvPr id="52230" name="Line 4"/>
          <p:cNvSpPr/>
          <p:nvPr/>
        </p:nvSpPr>
        <p:spPr>
          <a:xfrm>
            <a:off x="3635375" y="4868863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31" name="Line 5"/>
          <p:cNvSpPr/>
          <p:nvPr/>
        </p:nvSpPr>
        <p:spPr>
          <a:xfrm>
            <a:off x="6300788" y="4868863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aphicFrame>
        <p:nvGraphicFramePr>
          <p:cNvPr id="3" name="对象 2"/>
          <p:cNvGraphicFramePr/>
          <p:nvPr/>
        </p:nvGraphicFramePr>
        <p:xfrm>
          <a:off x="6156325" y="116840"/>
          <a:ext cx="2580640" cy="207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665605" imgH="1396365" progId="Visio.Drawing.15">
                  <p:embed/>
                </p:oleObj>
              </mc:Choice>
              <mc:Fallback>
                <p:oleObj name="" r:id="rId1" imgW="1665605" imgH="1396365" progId="Visio.Drawing.15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56325" y="116840"/>
                        <a:ext cx="2580640" cy="207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Definition</a:t>
            </a:r>
            <a:endParaRPr lang="en-US" altLang="zh-CN" dirty="0"/>
          </a:p>
        </p:txBody>
      </p:sp>
      <p:sp>
        <p:nvSpPr>
          <p:cNvPr id="53253" name="Rectangle 3"/>
          <p:cNvSpPr>
            <a:spLocks noGrp="1"/>
          </p:cNvSpPr>
          <p:nvPr>
            <p:ph idx="1"/>
          </p:nvPr>
        </p:nvSpPr>
        <p:spPr>
          <a:xfrm>
            <a:off x="1110933" y="180244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Let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H</a:t>
            </a:r>
            <a:r>
              <a:rPr lang="en-US" altLang="zh-CN" sz="2400" dirty="0"/>
              <a:t> be a subgroup of a group </a:t>
            </a:r>
            <a:r>
              <a:rPr lang="en-US" altLang="zh-CN" sz="2400" i="1" dirty="0"/>
              <a:t>G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i="1" dirty="0"/>
              <a:t>G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 </a:t>
            </a:r>
            <a:r>
              <a:rPr lang="en-US" altLang="zh-CN" sz="2800" i="1" dirty="0">
                <a:solidFill>
                  <a:srgbClr val="FF3300"/>
                </a:solidFill>
              </a:rPr>
              <a:t>left coset</a:t>
            </a:r>
            <a:r>
              <a:rPr lang="en-US" altLang="zh-CN" sz="2800" dirty="0"/>
              <a:t>(</a:t>
            </a:r>
            <a:r>
              <a:rPr lang="zh-CN" altLang="en-US" sz="2800" dirty="0"/>
              <a:t>左陪集</a:t>
            </a:r>
            <a:r>
              <a:rPr lang="en-US" altLang="zh-CN" sz="2800" dirty="0"/>
              <a:t>) of </a:t>
            </a:r>
            <a:r>
              <a:rPr lang="en-US" altLang="zh-CN" sz="2800" i="1" dirty="0"/>
              <a:t>H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G</a:t>
            </a:r>
            <a:r>
              <a:rPr lang="en-US" altLang="zh-CN" sz="2800" dirty="0"/>
              <a:t> determined by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the set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aH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ah</a:t>
            </a:r>
            <a:r>
              <a:rPr lang="en-US" altLang="zh-CN" sz="2400" dirty="0"/>
              <a:t>| </a:t>
            </a:r>
            <a:r>
              <a:rPr lang="en-US" altLang="zh-CN" sz="2400" i="1" dirty="0"/>
              <a:t>h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dirty="0"/>
              <a:t> </a:t>
            </a:r>
            <a:r>
              <a:rPr lang="en-US" altLang="zh-CN" sz="2400" i="1" dirty="0"/>
              <a:t>H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 </a:t>
            </a:r>
            <a:r>
              <a:rPr lang="en-US" altLang="zh-CN" sz="2800" i="1" dirty="0">
                <a:solidFill>
                  <a:srgbClr val="FF3300"/>
                </a:solidFill>
              </a:rPr>
              <a:t>right coset </a:t>
            </a:r>
            <a:r>
              <a:rPr lang="en-US" altLang="zh-CN" sz="2800" dirty="0"/>
              <a:t>(</a:t>
            </a:r>
            <a:r>
              <a:rPr lang="zh-CN" altLang="en-US" sz="2800" dirty="0"/>
              <a:t>右陪集</a:t>
            </a:r>
            <a:r>
              <a:rPr lang="en-US" altLang="zh-CN" sz="2800" dirty="0"/>
              <a:t>) of </a:t>
            </a:r>
            <a:r>
              <a:rPr lang="en-US" altLang="zh-CN" sz="2800" i="1" dirty="0"/>
              <a:t>H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G</a:t>
            </a:r>
            <a:r>
              <a:rPr lang="en-US" altLang="zh-CN" sz="2800" dirty="0"/>
              <a:t> determined by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the set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Ha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ha</a:t>
            </a:r>
            <a:r>
              <a:rPr lang="en-US" altLang="zh-CN" sz="2400" dirty="0"/>
              <a:t> | </a:t>
            </a:r>
            <a:r>
              <a:rPr lang="en-US" altLang="zh-CN" sz="2400" i="1" dirty="0"/>
              <a:t>h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dirty="0"/>
              <a:t> </a:t>
            </a:r>
            <a:r>
              <a:rPr lang="en-US" altLang="zh-CN" sz="2400" i="1" dirty="0"/>
              <a:t>H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 subgroup </a:t>
            </a:r>
            <a:r>
              <a:rPr lang="en-US" altLang="zh-CN" sz="2800" i="1" dirty="0"/>
              <a:t>H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G</a:t>
            </a:r>
            <a:r>
              <a:rPr lang="en-US" altLang="zh-CN" sz="2800" dirty="0"/>
              <a:t> is </a:t>
            </a:r>
            <a:r>
              <a:rPr lang="en-US" altLang="zh-CN" sz="2800" i="1" dirty="0">
                <a:solidFill>
                  <a:srgbClr val="FF3300"/>
                </a:solidFill>
              </a:rPr>
              <a:t>normal</a:t>
            </a:r>
            <a:r>
              <a:rPr lang="en-US" altLang="zh-CN" sz="2800" dirty="0">
                <a:solidFill>
                  <a:srgbClr val="FF3300"/>
                </a:solidFill>
              </a:rPr>
              <a:t>(</a:t>
            </a:r>
            <a:r>
              <a:rPr lang="zh-CN" altLang="en-US" sz="2800" dirty="0">
                <a:solidFill>
                  <a:srgbClr val="FF3300"/>
                </a:solidFill>
              </a:rPr>
              <a:t>正规子群</a:t>
            </a:r>
            <a:r>
              <a:rPr lang="en-US" altLang="zh-CN" sz="2800" dirty="0">
                <a:solidFill>
                  <a:srgbClr val="FF3300"/>
                </a:solidFill>
              </a:rPr>
              <a:t>)</a:t>
            </a:r>
            <a:r>
              <a:rPr lang="en-US" altLang="zh-CN" sz="2800" dirty="0"/>
              <a:t> if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aH</a:t>
            </a:r>
            <a:r>
              <a:rPr lang="en-US" altLang="zh-CN" sz="2400" dirty="0"/>
              <a:t> = </a:t>
            </a:r>
            <a:r>
              <a:rPr lang="en-US" altLang="zh-CN" sz="2400" i="1" dirty="0"/>
              <a:t>Ha</a:t>
            </a:r>
            <a:r>
              <a:rPr lang="en-US" altLang="zh-CN" sz="2400" dirty="0"/>
              <a:t>, for all </a:t>
            </a:r>
            <a:r>
              <a:rPr lang="en-US" altLang="zh-CN" sz="2400" i="1" dirty="0"/>
              <a:t>a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G</a:t>
            </a:r>
            <a:endParaRPr lang="en-US" altLang="zh-CN" sz="2400" i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Warning</a:t>
            </a:r>
            <a:endParaRPr lang="en-US" altLang="zh-CN" dirty="0"/>
          </a:p>
        </p:txBody>
      </p:sp>
      <p:sp>
        <p:nvSpPr>
          <p:cNvPr id="542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Ha</a:t>
            </a:r>
            <a:r>
              <a:rPr lang="en-US" altLang="zh-CN" dirty="0"/>
              <a:t> = </a:t>
            </a:r>
            <a:r>
              <a:rPr lang="en-US" altLang="zh-CN" i="1" dirty="0"/>
              <a:t>aH</a:t>
            </a:r>
            <a:r>
              <a:rPr lang="en-US" altLang="zh-CN" dirty="0"/>
              <a:t>, it does not follow that, for 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H</a:t>
            </a:r>
            <a:r>
              <a:rPr lang="en-US" altLang="zh-CN" dirty="0"/>
              <a:t> and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ha</a:t>
            </a:r>
            <a:r>
              <a:rPr lang="en-US" altLang="zh-CN" dirty="0"/>
              <a:t> = </a:t>
            </a:r>
            <a:r>
              <a:rPr lang="en-US" altLang="zh-CN" i="1" dirty="0"/>
              <a:t>ah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But </a:t>
            </a:r>
            <a:r>
              <a:rPr lang="en-US" altLang="zh-CN" i="1" dirty="0"/>
              <a:t>ha</a:t>
            </a:r>
            <a:r>
              <a:rPr lang="en-US" altLang="zh-CN" dirty="0"/>
              <a:t> = </a:t>
            </a:r>
            <a:r>
              <a:rPr lang="en-US" altLang="zh-CN" i="1" dirty="0"/>
              <a:t>ah</a:t>
            </a:r>
            <a:r>
              <a:rPr lang="en-US" altLang="zh-CN" dirty="0"/>
              <a:t>', where </a:t>
            </a:r>
            <a:r>
              <a:rPr lang="en-US" altLang="zh-CN" i="1" dirty="0"/>
              <a:t>h</a:t>
            </a:r>
            <a:r>
              <a:rPr lang="en-US" altLang="zh-CN" dirty="0"/>
              <a:t>' is some element in </a:t>
            </a:r>
            <a:r>
              <a:rPr lang="en-US" altLang="zh-CN" i="1" dirty="0"/>
              <a:t>H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2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2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3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zh-CN" dirty="0"/>
              <a:t>Note</a:t>
            </a:r>
            <a:endParaRPr lang="zh-CN" altLang="zh-CN" dirty="0"/>
          </a:p>
        </p:txBody>
      </p:sp>
      <p:sp>
        <p:nvSpPr>
          <p:cNvPr id="553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lang="en-US" altLang="zh-CN" dirty="0"/>
              <a:t>If </a:t>
            </a:r>
            <a:r>
              <a:rPr lang="en-US" altLang="zh-CN" i="1" dirty="0"/>
              <a:t>H</a:t>
            </a:r>
            <a:r>
              <a:rPr lang="en-US" altLang="zh-CN" dirty="0"/>
              <a:t> is a subgroup of </a:t>
            </a:r>
            <a:r>
              <a:rPr lang="en-US" altLang="zh-CN" i="1" dirty="0"/>
              <a:t>G</a:t>
            </a:r>
            <a:r>
              <a:rPr lang="en-US" altLang="zh-CN" dirty="0"/>
              <a:t>, we shall need in some applications to compute all the left cosets of </a:t>
            </a:r>
            <a:r>
              <a:rPr lang="en-US" altLang="zh-CN" i="1" dirty="0"/>
              <a:t>H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dirty="0"/>
              <a:t>First, suppose that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H</a:t>
            </a:r>
            <a:r>
              <a:rPr lang="en-US" altLang="zh-CN" dirty="0"/>
              <a:t>. Then </a:t>
            </a:r>
            <a:r>
              <a:rPr lang="en-US" altLang="zh-CN" i="1" dirty="0"/>
              <a:t>aH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H</a:t>
            </a:r>
            <a:r>
              <a:rPr lang="en-US" altLang="zh-CN" dirty="0"/>
              <a:t>, since </a:t>
            </a:r>
            <a:r>
              <a:rPr lang="en-US" altLang="zh-CN" i="1" dirty="0"/>
              <a:t>H</a:t>
            </a:r>
            <a:r>
              <a:rPr lang="en-US" altLang="zh-CN" dirty="0"/>
              <a:t> is a subgroup of </a:t>
            </a:r>
            <a:r>
              <a:rPr lang="en-US" altLang="zh-CN" i="1" dirty="0"/>
              <a:t>G</a:t>
            </a:r>
            <a:r>
              <a:rPr lang="en-US" altLang="zh-CN" dirty="0"/>
              <a:t>; 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dirty="0"/>
              <a:t>Moreover, if 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, then </a:t>
            </a:r>
            <a:r>
              <a:rPr lang="en-US" altLang="zh-CN" i="1" dirty="0"/>
              <a:t>h</a:t>
            </a:r>
            <a:r>
              <a:rPr lang="en-US" altLang="zh-CN" dirty="0"/>
              <a:t> = </a:t>
            </a:r>
            <a:r>
              <a:rPr lang="en-US" altLang="zh-CN" i="1" dirty="0"/>
              <a:t>ah</a:t>
            </a:r>
            <a:r>
              <a:rPr lang="en-US" altLang="zh-CN" dirty="0"/>
              <a:t>', where               </a:t>
            </a:r>
            <a:r>
              <a:rPr lang="en-US" altLang="zh-CN" i="1" dirty="0"/>
              <a:t>h</a:t>
            </a:r>
            <a:r>
              <a:rPr lang="en-US" altLang="zh-CN" dirty="0"/>
              <a:t>' =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, so that 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aH</a:t>
            </a:r>
            <a:r>
              <a:rPr lang="en-US" altLang="zh-CN" dirty="0"/>
              <a:t>.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dirty="0"/>
              <a:t>Thus, if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, then </a:t>
            </a:r>
            <a:r>
              <a:rPr lang="en-US" altLang="zh-CN" i="1" dirty="0"/>
              <a:t>aH</a:t>
            </a:r>
            <a:r>
              <a:rPr lang="en-US" altLang="zh-CN" dirty="0"/>
              <a:t> = </a:t>
            </a:r>
            <a:r>
              <a:rPr lang="en-US" altLang="zh-CN" i="1" dirty="0"/>
              <a:t>H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55302" name="AutoShape 4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5303" name="AutoShape 5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5304" name="AutoShape 6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2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3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3</a:t>
            </a:r>
            <a:endParaRPr lang="zh-CN" altLang="en-US" dirty="0"/>
          </a:p>
        </p:txBody>
      </p:sp>
      <p:sp>
        <p:nvSpPr>
          <p:cNvPr id="56325" name="Rectangle 3"/>
          <p:cNvSpPr>
            <a:spLocks noGrp="1"/>
          </p:cNvSpPr>
          <p:nvPr>
            <p:ph type="body" sz="half" idx="1"/>
          </p:nvPr>
        </p:nvSpPr>
        <p:spPr>
          <a:xfrm>
            <a:off x="971550" y="2420938"/>
            <a:ext cx="7205663" cy="400367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Let </a:t>
            </a:r>
            <a:endParaRPr lang="en-US" altLang="zh-CN" sz="28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G</a:t>
            </a:r>
            <a:r>
              <a:rPr lang="en-US" altLang="zh-CN" sz="2400" dirty="0"/>
              <a:t> be the symmetric group S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The subset </a:t>
            </a:r>
            <a:r>
              <a:rPr lang="en-US" altLang="zh-CN" sz="2400" i="1" dirty="0"/>
              <a:t>H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, 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} is a subgroup of </a:t>
            </a:r>
            <a:r>
              <a:rPr lang="en-US" altLang="zh-CN" sz="2400" i="1" dirty="0"/>
              <a:t>G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Compute all the distinct left cosets of </a:t>
            </a:r>
            <a:r>
              <a:rPr lang="en-US" altLang="zh-CN" sz="2800" i="1" dirty="0"/>
              <a:t>H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G</a:t>
            </a:r>
            <a:r>
              <a:rPr lang="en-US" altLang="zh-CN" sz="2800" dirty="0"/>
              <a:t>.</a:t>
            </a:r>
            <a:endParaRPr lang="en-US" altLang="zh-CN" sz="2800" dirty="0"/>
          </a:p>
        </p:txBody>
      </p:sp>
      <p:graphicFrame>
        <p:nvGraphicFramePr>
          <p:cNvPr id="5632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435600" y="188913"/>
          <a:ext cx="3313113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943100" imgH="1625600" progId="Equation.DSMT4">
                  <p:embed/>
                </p:oleObj>
              </mc:Choice>
              <mc:Fallback>
                <p:oleObj name="" r:id="rId1" imgW="1943100" imgH="1625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35600" y="188913"/>
                        <a:ext cx="3313113" cy="27717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7346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7347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73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3</a:t>
            </a:r>
            <a:endParaRPr lang="zh-CN" altLang="en-US" dirty="0"/>
          </a:p>
        </p:txBody>
      </p:sp>
      <p:sp>
        <p:nvSpPr>
          <p:cNvPr id="57349" name="Rectangle 3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4541837" cy="414813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Solution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 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i="1" dirty="0"/>
              <a:t>H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aH</a:t>
            </a:r>
            <a:r>
              <a:rPr lang="en-US" altLang="zh-CN" sz="2400" dirty="0"/>
              <a:t> = </a:t>
            </a:r>
            <a:r>
              <a:rPr lang="en-US" altLang="zh-CN" sz="2400" i="1" dirty="0"/>
              <a:t>H</a:t>
            </a:r>
            <a:r>
              <a:rPr lang="en-US" altLang="zh-CN" sz="2400" dirty="0"/>
              <a:t>. Thus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 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 </a:t>
            </a:r>
            <a:r>
              <a:rPr lang="en-US" altLang="zh-CN" sz="2400" i="1" dirty="0"/>
              <a:t>H</a:t>
            </a:r>
            <a:r>
              <a:rPr lang="en-US" altLang="zh-CN" sz="2400" dirty="0"/>
              <a:t> = 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2</a:t>
            </a:r>
            <a:r>
              <a:rPr lang="en-US" altLang="zh-CN" sz="2400" i="1" dirty="0"/>
              <a:t>H</a:t>
            </a:r>
            <a:r>
              <a:rPr lang="en-US" altLang="zh-CN" sz="2400" dirty="0"/>
              <a:t> = </a:t>
            </a:r>
            <a:r>
              <a:rPr lang="en-US" altLang="zh-CN" sz="2400" i="1" dirty="0"/>
              <a:t>H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f</a:t>
            </a:r>
            <a:r>
              <a:rPr lang="en-US" altLang="zh-CN" sz="2400" baseline="-25000" dirty="0"/>
              <a:t>2</a:t>
            </a:r>
            <a:r>
              <a:rPr lang="en-US" altLang="zh-CN" sz="2400" i="1" dirty="0"/>
              <a:t>H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}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f</a:t>
            </a:r>
            <a:r>
              <a:rPr lang="en-US" altLang="zh-CN" sz="2400" baseline="-25000" dirty="0"/>
              <a:t>3</a:t>
            </a:r>
            <a:r>
              <a:rPr lang="en-US" altLang="zh-CN" sz="2400" i="1" dirty="0"/>
              <a:t>H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 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g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H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}= 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2</a:t>
            </a:r>
            <a:r>
              <a:rPr lang="en-US" altLang="zh-CN" sz="2400" i="1" dirty="0"/>
              <a:t>H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g</a:t>
            </a:r>
            <a:r>
              <a:rPr lang="en-US" altLang="zh-CN" sz="2400" baseline="-25000" dirty="0"/>
              <a:t>3</a:t>
            </a:r>
            <a:r>
              <a:rPr lang="en-US" altLang="zh-CN" sz="2400" i="1" dirty="0"/>
              <a:t>H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 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}= 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3</a:t>
            </a:r>
            <a:r>
              <a:rPr lang="en-US" altLang="zh-CN" sz="2400" i="1" dirty="0"/>
              <a:t>H</a:t>
            </a:r>
            <a:endParaRPr lang="en-US" altLang="zh-CN" sz="2400" i="1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The distinct left cosets of </a:t>
            </a:r>
            <a:r>
              <a:rPr lang="en-US" altLang="zh-CN" sz="2800" i="1" dirty="0"/>
              <a:t>H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G</a:t>
            </a:r>
            <a:r>
              <a:rPr lang="en-US" altLang="zh-CN" sz="2800" dirty="0"/>
              <a:t> are</a:t>
            </a:r>
            <a:endParaRPr lang="en-US" altLang="zh-CN" sz="2800" dirty="0"/>
          </a:p>
          <a:p>
            <a:pPr lvl="2" eaLnBrk="1" hangingPunct="1">
              <a:lnSpc>
                <a:spcPct val="90000"/>
              </a:lnSpc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2000" i="1" dirty="0"/>
              <a:t>H</a:t>
            </a:r>
            <a:r>
              <a:rPr lang="en-US" altLang="zh-CN" sz="2000" dirty="0"/>
              <a:t>, </a:t>
            </a:r>
            <a:r>
              <a:rPr lang="en-US" altLang="zh-CN" sz="2000" i="1" dirty="0"/>
              <a:t>f</a:t>
            </a:r>
            <a:r>
              <a:rPr lang="en-US" altLang="zh-CN" sz="2000" baseline="-25000" dirty="0"/>
              <a:t>2</a:t>
            </a:r>
            <a:r>
              <a:rPr lang="en-US" altLang="zh-CN" sz="2000" i="1" dirty="0"/>
              <a:t>H</a:t>
            </a:r>
            <a:r>
              <a:rPr lang="en-US" altLang="zh-CN" sz="2000" dirty="0"/>
              <a:t>, and </a:t>
            </a:r>
            <a:r>
              <a:rPr lang="en-US" altLang="zh-CN" sz="2000" i="1" dirty="0"/>
              <a:t>f</a:t>
            </a:r>
            <a:r>
              <a:rPr lang="en-US" altLang="zh-CN" sz="2000" baseline="-25000" dirty="0"/>
              <a:t>3</a:t>
            </a:r>
            <a:r>
              <a:rPr lang="en-US" altLang="zh-CN" sz="2000" i="1" dirty="0"/>
              <a:t>H</a:t>
            </a:r>
            <a:r>
              <a:rPr lang="en-US" altLang="zh-CN" sz="2000" dirty="0"/>
              <a:t>.</a:t>
            </a:r>
            <a:endParaRPr lang="zh-CN" altLang="zh-CN" sz="2000" dirty="0"/>
          </a:p>
        </p:txBody>
      </p:sp>
      <p:graphicFrame>
        <p:nvGraphicFramePr>
          <p:cNvPr id="5735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580063" y="0"/>
          <a:ext cx="3240087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943100" imgH="1625600" progId="Equation.DSMT4">
                  <p:embed/>
                </p:oleObj>
              </mc:Choice>
              <mc:Fallback>
                <p:oleObj name="" r:id="rId1" imgW="1943100" imgH="16256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80063" y="0"/>
                        <a:ext cx="3240087" cy="27114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3</a:t>
            </a:r>
            <a:endParaRPr lang="en-US" altLang="zh-CN" dirty="0"/>
          </a:p>
        </p:txBody>
      </p:sp>
      <p:sp>
        <p:nvSpPr>
          <p:cNvPr id="583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 be a congruence relation on a group </a:t>
            </a:r>
            <a:r>
              <a:rPr lang="en-US" altLang="zh-CN" i="1" dirty="0"/>
              <a:t>G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H</a:t>
            </a:r>
            <a:r>
              <a:rPr lang="en-US" altLang="zh-CN" dirty="0"/>
              <a:t> = [</a:t>
            </a:r>
            <a:r>
              <a:rPr lang="en-US" altLang="zh-CN" i="1" dirty="0"/>
              <a:t>e</a:t>
            </a:r>
            <a:r>
              <a:rPr lang="en-US" altLang="zh-CN" dirty="0"/>
              <a:t>], the equivalence class containing the identity.</a:t>
            </a:r>
            <a:endParaRPr lang="en-US" altLang="zh-CN" dirty="0"/>
          </a:p>
          <a:p>
            <a:pPr eaLnBrk="1" hangingPunct="1"/>
            <a:r>
              <a:rPr lang="en-US" altLang="zh-CN" dirty="0"/>
              <a:t>Then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H </a:t>
            </a:r>
            <a:r>
              <a:rPr lang="en-US" altLang="zh-CN" dirty="0"/>
              <a:t>is a normal subgroup of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 = </a:t>
            </a:r>
            <a:r>
              <a:rPr lang="en-US" altLang="zh-CN" i="1" dirty="0"/>
              <a:t>aH</a:t>
            </a:r>
            <a:r>
              <a:rPr lang="en-US" altLang="zh-CN" dirty="0"/>
              <a:t> = </a:t>
            </a:r>
            <a:r>
              <a:rPr lang="en-US" altLang="zh-CN" i="1" dirty="0"/>
              <a:t>Ha</a:t>
            </a:r>
            <a:r>
              <a:rPr lang="en-US" altLang="zh-CN" dirty="0"/>
              <a:t>, for each</a:t>
            </a:r>
            <a:r>
              <a:rPr lang="en-US" altLang="zh-CN" i="1" dirty="0"/>
              <a:t> a</a:t>
            </a:r>
            <a:r>
              <a:rPr lang="en-US" altLang="zh-CN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G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59397" name="Rectangle 3"/>
          <p:cNvSpPr>
            <a:spLocks noGrp="1"/>
          </p:cNvSpPr>
          <p:nvPr>
            <p:ph idx="1"/>
          </p:nvPr>
        </p:nvSpPr>
        <p:spPr>
          <a:xfrm>
            <a:off x="1182688" y="180244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 any elements in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Then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b="1" dirty="0"/>
              <a:t>[</a:t>
            </a:r>
            <a:r>
              <a:rPr lang="en-US" altLang="zh-CN" b="1" i="1" dirty="0"/>
              <a:t>a</a:t>
            </a:r>
            <a:r>
              <a:rPr lang="en-US" altLang="zh-CN" b="1" dirty="0"/>
              <a:t>]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if and only</a:t>
            </a:r>
            <a:r>
              <a:rPr lang="en-US" altLang="zh-CN" dirty="0"/>
              <a:t> if [</a:t>
            </a:r>
            <a:r>
              <a:rPr lang="en-US" altLang="zh-CN" i="1" dirty="0"/>
              <a:t>b</a:t>
            </a:r>
            <a:r>
              <a:rPr lang="en-US" altLang="zh-CN" dirty="0"/>
              <a:t>] = [</a:t>
            </a:r>
            <a:r>
              <a:rPr lang="en-US" altLang="zh-CN" i="1" dirty="0"/>
              <a:t>a</a:t>
            </a:r>
            <a:r>
              <a:rPr lang="en-US" altLang="zh-CN" dirty="0"/>
              <a:t>]. 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i="1" dirty="0"/>
              <a:t>R</a:t>
            </a:r>
            <a:r>
              <a:rPr lang="en-US" altLang="zh-CN" dirty="0"/>
              <a:t> is an equivalence relation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[</a:t>
            </a:r>
            <a:r>
              <a:rPr lang="en-US" altLang="zh-CN" i="1" dirty="0"/>
              <a:t>e</a:t>
            </a:r>
            <a:r>
              <a:rPr lang="en-US" altLang="zh-CN" dirty="0"/>
              <a:t>] = 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baseline="30000" dirty="0"/>
              <a:t>-1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 =</a:t>
            </a:r>
            <a:r>
              <a:rPr lang="en-US" altLang="zh-CN" dirty="0">
                <a:sym typeface="+mn-ea"/>
              </a:rPr>
              <a:t> [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baseline="30000" dirty="0">
                <a:sym typeface="+mn-ea"/>
              </a:rPr>
              <a:t>-1</a:t>
            </a:r>
            <a:r>
              <a:rPr lang="en-US" altLang="zh-CN" dirty="0">
                <a:sym typeface="+mn-ea"/>
              </a:rPr>
              <a:t>]</a:t>
            </a:r>
            <a:r>
              <a:rPr lang="en-US" altLang="zh-CN" dirty="0">
                <a:sym typeface="+mn-ea"/>
              </a:rPr>
              <a:t> [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] =</a:t>
            </a:r>
            <a:r>
              <a:rPr lang="en-US" altLang="zh-CN" dirty="0"/>
              <a:t> [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</a:t>
            </a:r>
            <a:r>
              <a:rPr lang="en-US" altLang="zh-CN" dirty="0"/>
              <a:t>]. 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is a group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H</a:t>
            </a:r>
            <a:r>
              <a:rPr lang="en-US" altLang="zh-CN" dirty="0"/>
              <a:t> = [</a:t>
            </a:r>
            <a:r>
              <a:rPr lang="en-US" altLang="zh-CN" i="1" dirty="0"/>
              <a:t>e</a:t>
            </a:r>
            <a:r>
              <a:rPr lang="en-US" altLang="zh-CN" dirty="0"/>
              <a:t>] = [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</a:t>
            </a:r>
            <a:r>
              <a:rPr lang="en-US" altLang="zh-CN" dirty="0"/>
              <a:t>].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 or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b="1" i="1" dirty="0"/>
              <a:t>aH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So [</a:t>
            </a:r>
            <a:r>
              <a:rPr lang="en-US" altLang="zh-CN" i="1" dirty="0"/>
              <a:t>a</a:t>
            </a:r>
            <a:r>
              <a:rPr lang="en-US" altLang="zh-CN" dirty="0"/>
              <a:t>] = </a:t>
            </a:r>
            <a:r>
              <a:rPr lang="en-US" altLang="zh-CN" i="1" dirty="0"/>
              <a:t>aH</a:t>
            </a:r>
            <a:r>
              <a:rPr lang="en-US" altLang="zh-CN" dirty="0"/>
              <a:t> for every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3780155" y="786765"/>
            <a:ext cx="4866640" cy="582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eaLnBrk="1" hangingPunct="1"/>
            <a:r>
              <a:rPr lang="en-US" altLang="zh-CN" sz="2800" dirty="0">
                <a:sym typeface="+mn-ea"/>
              </a:rPr>
              <a:t>[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] = </a:t>
            </a:r>
            <a:r>
              <a:rPr lang="en-US" altLang="zh-CN" sz="2800" i="1" dirty="0">
                <a:sym typeface="+mn-ea"/>
              </a:rPr>
              <a:t>aH</a:t>
            </a:r>
            <a:r>
              <a:rPr lang="en-US" altLang="zh-CN" sz="2800" dirty="0">
                <a:sym typeface="+mn-ea"/>
              </a:rPr>
              <a:t> , for each</a:t>
            </a:r>
            <a:r>
              <a:rPr lang="en-US" altLang="zh-CN" sz="2800" i="1" dirty="0">
                <a:sym typeface="+mn-ea"/>
              </a:rPr>
              <a:t> a</a:t>
            </a:r>
            <a:r>
              <a:rPr lang="en-US" altLang="zh-CN" sz="2800" dirty="0">
                <a:sym typeface="Symbol" panose="05050102010706020507" pitchFamily="18" charset="2"/>
              </a:rPr>
              <a:t>  </a:t>
            </a:r>
            <a:r>
              <a:rPr lang="en-US" altLang="zh-CN" sz="2800" i="1" dirty="0">
                <a:sym typeface="+mn-ea"/>
              </a:rPr>
              <a:t>G</a:t>
            </a:r>
            <a:endParaRPr lang="en-US" altLang="zh-CN" sz="2800" i="1" dirty="0"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04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04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04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604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Similarly,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 </a:t>
            </a: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H</a:t>
            </a:r>
            <a:r>
              <a:rPr lang="en-US" altLang="zh-CN" dirty="0"/>
              <a:t> = [</a:t>
            </a:r>
            <a:r>
              <a:rPr lang="en-US" altLang="zh-CN" i="1" dirty="0"/>
              <a:t>e</a:t>
            </a:r>
            <a:r>
              <a:rPr lang="en-US" altLang="zh-CN" dirty="0"/>
              <a:t>] = [</a:t>
            </a:r>
            <a:r>
              <a:rPr lang="en-US" altLang="zh-CN" i="1" dirty="0"/>
              <a:t>b</a:t>
            </a:r>
            <a:r>
              <a:rPr lang="en-US" altLang="zh-CN" dirty="0"/>
              <a:t>][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baseline="30000" dirty="0"/>
              <a:t>-1</a:t>
            </a:r>
            <a:r>
              <a:rPr lang="en-US" altLang="zh-CN" dirty="0"/>
              <a:t> = [</a:t>
            </a:r>
            <a:r>
              <a:rPr lang="en-US" altLang="zh-CN" i="1" dirty="0"/>
              <a:t>ba</a:t>
            </a:r>
            <a:r>
              <a:rPr lang="en-US" altLang="zh-CN" baseline="30000" dirty="0"/>
              <a:t>-1</a:t>
            </a:r>
            <a:r>
              <a:rPr lang="en-US" altLang="zh-CN" dirty="0"/>
              <a:t>].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 = </a:t>
            </a:r>
            <a:r>
              <a:rPr lang="en-US" altLang="zh-CN" i="1" dirty="0"/>
              <a:t>Ha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Thus [</a:t>
            </a:r>
            <a:r>
              <a:rPr lang="en-US" altLang="zh-CN" i="1" dirty="0"/>
              <a:t>a</a:t>
            </a:r>
            <a:r>
              <a:rPr lang="en-US" altLang="zh-CN" dirty="0"/>
              <a:t>] = </a:t>
            </a:r>
            <a:r>
              <a:rPr lang="en-US" altLang="zh-CN" i="1" dirty="0"/>
              <a:t>aH</a:t>
            </a:r>
            <a:r>
              <a:rPr lang="en-US" altLang="zh-CN" dirty="0"/>
              <a:t> = </a:t>
            </a:r>
            <a:r>
              <a:rPr lang="en-US" altLang="zh-CN" i="1" dirty="0"/>
              <a:t>Ha</a:t>
            </a:r>
            <a:r>
              <a:rPr lang="en-US" altLang="zh-CN" dirty="0"/>
              <a:t>, and </a:t>
            </a:r>
            <a:r>
              <a:rPr lang="en-US" altLang="zh-CN" i="1" dirty="0"/>
              <a:t>H</a:t>
            </a:r>
            <a:r>
              <a:rPr lang="en-US" altLang="zh-CN" dirty="0"/>
              <a:t> is normal.</a:t>
            </a:r>
            <a:endParaRPr lang="en-US" altLang="zh-CN" dirty="0"/>
          </a:p>
          <a:p>
            <a:pPr lvl="1" algn="r" eaLnBrk="1" hangingPunct="1"/>
            <a:r>
              <a:rPr lang="zh-CN" altLang="en-US" dirty="0"/>
              <a:t>Q</a:t>
            </a:r>
            <a:r>
              <a:rPr lang="en-US" altLang="zh-CN" dirty="0"/>
              <a:t>.E.D.</a:t>
            </a:r>
            <a:endParaRPr lang="zh-CN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4140200" y="54864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eaLnBrk="1" hangingPunct="1"/>
            <a:r>
              <a:rPr lang="en-US" altLang="zh-CN" sz="2800" dirty="0">
                <a:sym typeface="+mn-ea"/>
              </a:rPr>
              <a:t>[</a:t>
            </a:r>
            <a:r>
              <a:rPr lang="en-US" altLang="zh-CN" sz="2800" i="1" dirty="0">
                <a:sym typeface="+mn-ea"/>
              </a:rPr>
              <a:t>a</a:t>
            </a:r>
            <a:r>
              <a:rPr lang="en-US" altLang="zh-CN" sz="2800" dirty="0">
                <a:sym typeface="+mn-ea"/>
              </a:rPr>
              <a:t>] = </a:t>
            </a:r>
            <a:r>
              <a:rPr lang="en-US" altLang="zh-CN" sz="2800" i="1" dirty="0">
                <a:sym typeface="+mn-ea"/>
              </a:rPr>
              <a:t>Ha</a:t>
            </a:r>
            <a:r>
              <a:rPr lang="en-US" altLang="zh-CN" sz="2800" dirty="0">
                <a:sym typeface="+mn-ea"/>
              </a:rPr>
              <a:t>, for each</a:t>
            </a:r>
            <a:r>
              <a:rPr lang="en-US" altLang="zh-CN" sz="2800" i="1" dirty="0">
                <a:sym typeface="+mn-ea"/>
              </a:rPr>
              <a:t> a</a:t>
            </a:r>
            <a:r>
              <a:rPr lang="en-US" altLang="zh-CN" sz="2800" dirty="0">
                <a:sym typeface="Symbol" panose="05050102010706020507" pitchFamily="18" charset="2"/>
              </a:rPr>
              <a:t>  </a:t>
            </a:r>
            <a:r>
              <a:rPr lang="en-US" altLang="zh-CN" sz="2800" i="1" dirty="0">
                <a:sym typeface="+mn-ea"/>
              </a:rPr>
              <a:t>G</a:t>
            </a:r>
            <a:endParaRPr lang="en-US" altLang="zh-CN" sz="2800" i="1" dirty="0"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Note</a:t>
            </a:r>
            <a:endParaRPr lang="en-US" altLang="zh-CN" dirty="0"/>
          </a:p>
        </p:txBody>
      </p:sp>
      <p:sp>
        <p:nvSpPr>
          <p:cNvPr id="614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Combining Theorem 3 with Corollary 1, we see that in this case the quotient group 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 consists of all the left cosets of </a:t>
            </a:r>
            <a:r>
              <a:rPr lang="en-US" altLang="zh-CN" sz="2800" i="1" dirty="0"/>
              <a:t>N</a:t>
            </a:r>
            <a:r>
              <a:rPr lang="en-US" altLang="zh-CN" sz="2800" dirty="0"/>
              <a:t> = [</a:t>
            </a:r>
            <a:r>
              <a:rPr lang="en-US" altLang="zh-CN" sz="2800" i="1" dirty="0"/>
              <a:t>e</a:t>
            </a:r>
            <a:r>
              <a:rPr lang="en-US" altLang="zh-CN" sz="2800" dirty="0"/>
              <a:t>]. The operation in 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given by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(</a:t>
            </a:r>
            <a:r>
              <a:rPr lang="en-US" altLang="zh-CN" sz="2400" i="1" dirty="0"/>
              <a:t>aN</a:t>
            </a:r>
            <a:r>
              <a:rPr lang="en-US" altLang="zh-CN" sz="2400" dirty="0"/>
              <a:t>)(</a:t>
            </a:r>
            <a:r>
              <a:rPr lang="en-US" altLang="zh-CN" sz="2400" i="1" dirty="0"/>
              <a:t>bN</a:t>
            </a:r>
            <a:r>
              <a:rPr lang="en-US" altLang="zh-CN" sz="2400" dirty="0"/>
              <a:t>)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+mn-ea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b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ab</a:t>
            </a:r>
            <a:r>
              <a:rPr lang="en-US" altLang="zh-CN" sz="2400" dirty="0"/>
              <a:t>] = </a:t>
            </a:r>
            <a:r>
              <a:rPr lang="en-US" altLang="zh-CN" sz="2400" i="1" dirty="0"/>
              <a:t>abN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and the function </a:t>
            </a:r>
            <a:r>
              <a:rPr lang="en-US" altLang="zh-CN" sz="2800" i="1" dirty="0"/>
              <a:t>f</a:t>
            </a:r>
            <a:r>
              <a:rPr lang="en-US" altLang="zh-CN" sz="2800" i="1" baseline="-25000" dirty="0"/>
              <a:t>R</a:t>
            </a:r>
            <a:r>
              <a:rPr lang="en-US" altLang="zh-CN" sz="2800" dirty="0"/>
              <a:t>: </a:t>
            </a:r>
            <a:r>
              <a:rPr lang="en-US" altLang="zh-CN" sz="2800" i="1" dirty="0"/>
              <a:t>G</a:t>
            </a:r>
            <a:r>
              <a:rPr lang="en-US" altLang="zh-CN" sz="2800" dirty="0">
                <a:sym typeface="Symbol" panose="05050102010706020507" pitchFamily="18" charset="2"/>
              </a:rPr>
              <a:t> 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, defined by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i="1" baseline="-25000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aN</a:t>
            </a:r>
            <a:endParaRPr lang="en-US" altLang="zh-CN" sz="2400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is a homomorphism from </a:t>
            </a:r>
            <a:r>
              <a:rPr lang="en-US" altLang="zh-CN" sz="2800" i="1" dirty="0"/>
              <a:t>G</a:t>
            </a:r>
            <a:r>
              <a:rPr lang="en-US" altLang="zh-CN" sz="2800" dirty="0"/>
              <a:t> onto 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. For this reason, we will often write 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 as 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N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Theorem 4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24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N</a:t>
            </a:r>
            <a:r>
              <a:rPr lang="en-US" altLang="zh-CN" dirty="0"/>
              <a:t> be a normal subgroup of a group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 be the following relation on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lvl="2" eaLnBrk="1" hangingPunct="1"/>
            <a:r>
              <a:rPr lang="en-US" altLang="zh-CN" i="1" dirty="0"/>
              <a:t>a R b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N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Then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(a) </a:t>
            </a:r>
            <a:r>
              <a:rPr lang="en-US" altLang="zh-CN" i="1" dirty="0"/>
              <a:t>R</a:t>
            </a:r>
            <a:r>
              <a:rPr lang="en-US" altLang="zh-CN" dirty="0"/>
              <a:t> is a congruence relation on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(b)</a:t>
            </a:r>
            <a:r>
              <a:rPr lang="en-US" altLang="zh-CN" i="1" dirty="0"/>
              <a:t> N</a:t>
            </a:r>
            <a:r>
              <a:rPr lang="en-US" altLang="zh-CN" dirty="0"/>
              <a:t> is the equivalence class [</a:t>
            </a:r>
            <a:r>
              <a:rPr lang="en-US" altLang="zh-CN" i="1" dirty="0"/>
              <a:t>e</a:t>
            </a:r>
            <a:r>
              <a:rPr lang="en-US" altLang="zh-CN" dirty="0"/>
              <a:t>] relative to </a:t>
            </a:r>
            <a:r>
              <a:rPr lang="en-US" altLang="zh-CN" i="1" dirty="0"/>
              <a:t>R</a:t>
            </a:r>
            <a:r>
              <a:rPr lang="en-US" altLang="zh-CN" dirty="0"/>
              <a:t>, where </a:t>
            </a:r>
            <a:r>
              <a:rPr lang="en-US" altLang="zh-CN" i="1" dirty="0"/>
              <a:t>e</a:t>
            </a:r>
            <a:r>
              <a:rPr lang="en-US" altLang="zh-CN" dirty="0"/>
              <a:t> is the identity of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34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34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34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(a)</a:t>
            </a:r>
            <a:endParaRPr lang="en-US" altLang="zh-CN" dirty="0"/>
          </a:p>
        </p:txBody>
      </p:sp>
      <p:sp>
        <p:nvSpPr>
          <p:cNvPr id="63493" name="Rectangle 3"/>
          <p:cNvSpPr>
            <a:spLocks noGrp="1"/>
          </p:cNvSpPr>
          <p:nvPr>
            <p:ph idx="1"/>
          </p:nvPr>
        </p:nvSpPr>
        <p:spPr>
          <a:xfrm>
            <a:off x="1182688" y="180244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i="1" dirty="0"/>
              <a:t>R</a:t>
            </a:r>
            <a:r>
              <a:rPr lang="en-US" altLang="zh-CN" sz="2800" dirty="0"/>
              <a:t> is an equivalence relation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Let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i="1" dirty="0"/>
              <a:t>G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a R a</a:t>
            </a:r>
            <a:r>
              <a:rPr lang="en-US" altLang="zh-CN" sz="2000" dirty="0"/>
              <a:t>, since 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-1</a:t>
            </a:r>
            <a:r>
              <a:rPr lang="en-US" altLang="zh-CN" sz="2000" i="1" dirty="0"/>
              <a:t>a</a:t>
            </a:r>
            <a:r>
              <a:rPr lang="en-US" altLang="zh-CN" sz="2000" dirty="0"/>
              <a:t> = </a:t>
            </a:r>
            <a:r>
              <a:rPr lang="en-US" altLang="zh-CN" sz="2000" i="1" dirty="0"/>
              <a:t>e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i="1" dirty="0"/>
              <a:t>N,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R</a:t>
            </a:r>
            <a:r>
              <a:rPr lang="en-US" altLang="zh-CN" sz="2000" dirty="0"/>
              <a:t> is reflexive. 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Suppose that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a</a:t>
            </a:r>
            <a:r>
              <a:rPr lang="en-US" altLang="zh-CN" sz="2000" baseline="30000" dirty="0"/>
              <a:t>-1</a:t>
            </a:r>
            <a:r>
              <a:rPr lang="en-US" altLang="zh-CN" sz="2000" i="1" dirty="0"/>
              <a:t>b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i="1" dirty="0"/>
              <a:t>N</a:t>
            </a:r>
            <a:r>
              <a:rPr lang="en-US" altLang="zh-CN" sz="2000" dirty="0"/>
              <a:t>. </a:t>
            </a:r>
            <a:endParaRPr lang="en-US" altLang="zh-CN" sz="20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-1</a:t>
            </a:r>
            <a:r>
              <a:rPr lang="en-US" altLang="zh-CN" sz="2000" i="1" dirty="0"/>
              <a:t>b</a:t>
            </a:r>
            <a:r>
              <a:rPr lang="en-US" altLang="zh-CN" sz="2000" dirty="0"/>
              <a:t>)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= </a:t>
            </a:r>
            <a:r>
              <a:rPr lang="en-US" altLang="zh-CN" sz="2000" i="1" dirty="0"/>
              <a:t>b</a:t>
            </a:r>
            <a:r>
              <a:rPr lang="en-US" altLang="zh-CN" sz="2000" baseline="30000" dirty="0"/>
              <a:t>-1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dirty="0"/>
              <a:t>N, </a:t>
            </a:r>
            <a:endParaRPr lang="en-US" altLang="zh-CN" sz="20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b</a:t>
            </a:r>
            <a:r>
              <a:rPr lang="en-US" altLang="zh-CN" sz="2000" dirty="0"/>
              <a:t> </a:t>
            </a:r>
            <a:r>
              <a:rPr lang="en-US" altLang="zh-CN" sz="2000" i="1" dirty="0"/>
              <a:t>R a</a:t>
            </a:r>
            <a:r>
              <a:rPr lang="en-US" altLang="zh-CN" sz="2000" dirty="0"/>
              <a:t>. </a:t>
            </a:r>
            <a:endParaRPr lang="en-US" altLang="zh-CN" sz="20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R</a:t>
            </a:r>
            <a:r>
              <a:rPr lang="en-US" altLang="zh-CN" sz="2000" dirty="0"/>
              <a:t> is symmetric. </a:t>
            </a:r>
            <a:endParaRPr lang="en-US" altLang="zh-CN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Suppose that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c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a</a:t>
            </a:r>
            <a:r>
              <a:rPr lang="en-US" altLang="zh-CN" sz="2000" baseline="30000" dirty="0"/>
              <a:t>-l</a:t>
            </a:r>
            <a:r>
              <a:rPr lang="en-US" altLang="zh-CN" sz="2000" i="1" dirty="0"/>
              <a:t>b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i="1" dirty="0"/>
              <a:t>N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b</a:t>
            </a:r>
            <a:r>
              <a:rPr lang="en-US" altLang="zh-CN" sz="2000" i="1" baseline="30000" dirty="0"/>
              <a:t>-</a:t>
            </a:r>
            <a:r>
              <a:rPr lang="en-US" altLang="zh-CN" sz="2000" baseline="30000" dirty="0"/>
              <a:t>1</a:t>
            </a:r>
            <a:r>
              <a:rPr lang="en-US" altLang="zh-CN" sz="2000" i="1" dirty="0"/>
              <a:t>c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i="1" dirty="0"/>
              <a:t>N</a:t>
            </a:r>
            <a:r>
              <a:rPr lang="en-US" altLang="zh-CN" sz="2000" dirty="0"/>
              <a:t>. </a:t>
            </a:r>
            <a:endParaRPr lang="en-US" altLang="zh-CN" sz="20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-l</a:t>
            </a:r>
            <a:r>
              <a:rPr lang="en-US" altLang="zh-CN" sz="2000" i="1" dirty="0"/>
              <a:t>b</a:t>
            </a:r>
            <a:r>
              <a:rPr lang="en-US" altLang="zh-CN" sz="2000" dirty="0"/>
              <a:t>)(</a:t>
            </a:r>
            <a:r>
              <a:rPr lang="en-US" altLang="zh-CN" sz="2000" i="1" dirty="0"/>
              <a:t>b</a:t>
            </a:r>
            <a:r>
              <a:rPr lang="en-US" altLang="zh-CN" sz="2000" baseline="30000" dirty="0"/>
              <a:t>-l</a:t>
            </a:r>
            <a:r>
              <a:rPr lang="en-US" altLang="zh-CN" sz="2000" i="1" dirty="0"/>
              <a:t>c</a:t>
            </a:r>
            <a:r>
              <a:rPr lang="en-US" altLang="zh-CN" sz="2000" dirty="0"/>
              <a:t>) = 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-l</a:t>
            </a:r>
            <a:r>
              <a:rPr lang="en-US" altLang="zh-CN" sz="2000" i="1" dirty="0"/>
              <a:t>c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i="1" dirty="0"/>
              <a:t>N</a:t>
            </a:r>
            <a:r>
              <a:rPr lang="en-US" altLang="zh-CN" sz="2000" dirty="0"/>
              <a:t>, </a:t>
            </a:r>
            <a:endParaRPr lang="en-US" altLang="zh-CN" sz="20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a R c</a:t>
            </a:r>
            <a:r>
              <a:rPr lang="en-US" altLang="zh-CN" sz="2000" dirty="0"/>
              <a:t>. </a:t>
            </a:r>
            <a:endParaRPr lang="en-US" altLang="zh-CN" sz="20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i="1" dirty="0"/>
              <a:t>R</a:t>
            </a:r>
            <a:r>
              <a:rPr lang="en-US" altLang="zh-CN" sz="2000" dirty="0"/>
              <a:t> is transitive. </a:t>
            </a:r>
            <a:endParaRPr lang="en-US" alt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3853180" y="1268095"/>
            <a:ext cx="49352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eaLnBrk="1" hangingPunct="1"/>
            <a:r>
              <a:rPr lang="en-US" altLang="zh-CN" dirty="0">
                <a:sym typeface="+mn-ea"/>
              </a:rPr>
              <a:t>(a)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is a congruence relation on </a:t>
            </a:r>
            <a:r>
              <a:rPr lang="en-US" altLang="zh-CN" i="1" dirty="0">
                <a:sym typeface="+mn-ea"/>
              </a:rPr>
              <a:t>G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66185" y="0"/>
            <a:ext cx="53663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eaLnBrk="1" hangingPunct="1"/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 be a normal subgroup of a group </a:t>
            </a:r>
            <a:r>
              <a:rPr lang="en-US" altLang="zh-CN" i="1" dirty="0">
                <a:sym typeface="+mn-ea"/>
              </a:rPr>
              <a:t>G</a:t>
            </a:r>
            <a:endParaRPr lang="en-US" altLang="zh-CN" i="1" dirty="0"/>
          </a:p>
          <a:p>
            <a:pPr lvl="1" eaLnBrk="1" hangingPunct="1"/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 be the following relation on </a:t>
            </a:r>
            <a:r>
              <a:rPr lang="en-US" altLang="zh-CN" i="1" dirty="0">
                <a:sym typeface="+mn-ea"/>
              </a:rPr>
              <a:t>G</a:t>
            </a:r>
            <a:endParaRPr lang="en-US" altLang="zh-CN" i="1" dirty="0"/>
          </a:p>
          <a:p>
            <a:pPr lvl="2" eaLnBrk="1" hangingPunct="1"/>
            <a:r>
              <a:rPr lang="en-US" altLang="zh-CN" i="1" dirty="0">
                <a:sym typeface="+mn-ea"/>
              </a:rPr>
              <a:t>a R b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olidFill>
                  <a:schemeClr val="hlink"/>
                </a:solidFill>
                <a:sym typeface="+mn-ea"/>
              </a:rPr>
              <a:t>if and only if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baseline="30000" dirty="0">
                <a:sym typeface="+mn-ea"/>
              </a:rPr>
              <a:t>-1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sym typeface="+mn-ea"/>
              </a:rPr>
              <a:t>N</a:t>
            </a:r>
            <a:r>
              <a:rPr lang="en-US" altLang="zh-CN" dirty="0">
                <a:sym typeface="+mn-ea"/>
              </a:rPr>
              <a:t>. 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(a)</a:t>
            </a:r>
            <a:endParaRPr lang="en-US" altLang="zh-CN" dirty="0"/>
          </a:p>
        </p:txBody>
      </p:sp>
      <p:sp>
        <p:nvSpPr>
          <p:cNvPr id="65541" name="Rectangle 3"/>
          <p:cNvSpPr>
            <a:spLocks noGrp="1"/>
          </p:cNvSpPr>
          <p:nvPr>
            <p:ph idx="1"/>
          </p:nvPr>
        </p:nvSpPr>
        <p:spPr>
          <a:xfrm>
            <a:off x="1042035" y="1802765"/>
            <a:ext cx="791337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 is a congruence relation on G.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Suppose that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and </a:t>
            </a:r>
            <a:r>
              <a:rPr lang="en-US" altLang="zh-CN" i="1" dirty="0"/>
              <a:t>c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d</a:t>
            </a:r>
            <a:r>
              <a:rPr lang="en-US" altLang="zh-CN" dirty="0"/>
              <a:t>. 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Then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N</a:t>
            </a:r>
            <a:r>
              <a:rPr lang="en-US" altLang="zh-CN" dirty="0"/>
              <a:t> and  </a:t>
            </a:r>
            <a:r>
              <a:rPr lang="en-US" altLang="zh-CN" i="1" dirty="0"/>
              <a:t>c</a:t>
            </a:r>
            <a:r>
              <a:rPr lang="en-US" altLang="zh-CN" baseline="30000" dirty="0"/>
              <a:t>-1</a:t>
            </a:r>
            <a:r>
              <a:rPr lang="en-US" altLang="zh-CN" dirty="0"/>
              <a:t>d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Since </a:t>
            </a:r>
            <a:r>
              <a:rPr lang="en-US" altLang="zh-CN" i="1" dirty="0"/>
              <a:t>N</a:t>
            </a:r>
            <a:r>
              <a:rPr lang="en-US" altLang="zh-CN" dirty="0"/>
              <a:t> is normal, </a:t>
            </a:r>
            <a:r>
              <a:rPr lang="en-US" altLang="zh-CN" i="1" dirty="0"/>
              <a:t>Nd</a:t>
            </a:r>
            <a:r>
              <a:rPr lang="en-US" altLang="zh-CN" dirty="0"/>
              <a:t> = </a:t>
            </a:r>
            <a:r>
              <a:rPr lang="en-US" altLang="zh-CN" i="1" dirty="0"/>
              <a:t>dN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since </a:t>
            </a:r>
            <a:r>
              <a:rPr lang="en-US" altLang="zh-CN" i="1" dirty="0"/>
              <a:t>a</a:t>
            </a:r>
            <a:r>
              <a:rPr lang="en-US" altLang="zh-CN" baseline="30000" dirty="0"/>
              <a:t>-l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N</a:t>
            </a:r>
            <a:r>
              <a:rPr lang="en-US" altLang="zh-CN" dirty="0"/>
              <a:t> , then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bd</a:t>
            </a:r>
            <a:r>
              <a:rPr lang="en-US" altLang="zh-CN" dirty="0"/>
              <a:t>= </a:t>
            </a:r>
            <a:r>
              <a:rPr lang="en-US" altLang="zh-CN" i="1" dirty="0"/>
              <a:t>dn</a:t>
            </a:r>
            <a:r>
              <a:rPr lang="en-US" altLang="zh-CN" dirty="0"/>
              <a:t> for some </a:t>
            </a:r>
            <a:r>
              <a:rPr lang="en-US" altLang="zh-CN" i="1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N</a:t>
            </a:r>
            <a:r>
              <a:rPr lang="en-US" altLang="zh-CN" dirty="0"/>
              <a:t>.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ac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en-US" altLang="zh-CN" i="1" dirty="0"/>
              <a:t>bd</a:t>
            </a:r>
            <a:r>
              <a:rPr lang="en-US" altLang="zh-CN" dirty="0"/>
              <a:t> = (</a:t>
            </a:r>
            <a:r>
              <a:rPr lang="en-US" altLang="zh-CN" i="1" dirty="0"/>
              <a:t>c</a:t>
            </a:r>
            <a:r>
              <a:rPr lang="en-US" altLang="zh-CN" baseline="30000" dirty="0"/>
              <a:t>-1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)(</a:t>
            </a:r>
            <a:r>
              <a:rPr lang="en-US" altLang="zh-CN" i="1" dirty="0"/>
              <a:t>bd</a:t>
            </a:r>
            <a:r>
              <a:rPr lang="en-US" altLang="zh-CN" dirty="0"/>
              <a:t>) = </a:t>
            </a:r>
            <a:r>
              <a:rPr lang="en-US" altLang="zh-CN" i="1" dirty="0"/>
              <a:t>c</a:t>
            </a:r>
            <a:r>
              <a:rPr lang="en-US" altLang="zh-CN" baseline="30000" dirty="0"/>
              <a:t>-1 </a:t>
            </a:r>
            <a:r>
              <a:rPr lang="en-US" altLang="zh-CN" dirty="0"/>
              <a:t>(</a:t>
            </a:r>
            <a:r>
              <a:rPr lang="en-US" altLang="zh-CN" baseline="30000" dirty="0"/>
              <a:t> 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i="1" dirty="0"/>
              <a:t>d </a:t>
            </a:r>
            <a:r>
              <a:rPr lang="en-US" altLang="zh-CN" dirty="0"/>
              <a:t>= (</a:t>
            </a:r>
            <a:r>
              <a:rPr lang="en-US" altLang="zh-CN" i="1" dirty="0"/>
              <a:t>c</a:t>
            </a:r>
            <a:r>
              <a:rPr lang="en-US" altLang="zh-CN" baseline="30000" dirty="0"/>
              <a:t>-1</a:t>
            </a:r>
            <a:r>
              <a:rPr lang="en-US" altLang="zh-CN" i="1" dirty="0"/>
              <a:t>d</a:t>
            </a:r>
            <a:r>
              <a:rPr lang="en-US" altLang="zh-CN" dirty="0"/>
              <a:t>) </a:t>
            </a:r>
            <a:r>
              <a:rPr lang="en-US" altLang="zh-CN" i="1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so </a:t>
            </a:r>
            <a:r>
              <a:rPr lang="en-US" altLang="zh-CN" i="1" dirty="0"/>
              <a:t>ac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bd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Hence </a:t>
            </a:r>
            <a:r>
              <a:rPr lang="en-US" altLang="zh-CN" i="1" dirty="0"/>
              <a:t>R</a:t>
            </a:r>
            <a:r>
              <a:rPr lang="en-US" altLang="zh-CN" dirty="0"/>
              <a:t> is a congruence relation on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7765" y="71755"/>
            <a:ext cx="5372100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65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65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6564" name="Rectangle 2"/>
          <p:cNvSpPr>
            <a:spLocks noGrp="1"/>
          </p:cNvSpPr>
          <p:nvPr>
            <p:ph type="title"/>
          </p:nvPr>
        </p:nvSpPr>
        <p:spPr>
          <a:xfrm>
            <a:off x="863918" y="617538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(b)</a:t>
            </a:r>
            <a:endParaRPr lang="zh-CN" altLang="en-US" dirty="0"/>
          </a:p>
        </p:txBody>
      </p:sp>
      <p:sp>
        <p:nvSpPr>
          <p:cNvPr id="66565" name="Rectangle 3"/>
          <p:cNvSpPr>
            <a:spLocks noGrp="1"/>
          </p:cNvSpPr>
          <p:nvPr>
            <p:ph idx="1"/>
          </p:nvPr>
        </p:nvSpPr>
        <p:spPr>
          <a:xfrm>
            <a:off x="1150938" y="184435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Suppose that </a:t>
            </a:r>
            <a:r>
              <a:rPr lang="en-US" altLang="zh-CN" sz="2800" i="1" dirty="0"/>
              <a:t>x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i="1" dirty="0"/>
              <a:t>N</a:t>
            </a:r>
            <a:r>
              <a:rPr lang="en-US" altLang="zh-CN" sz="2800" dirty="0"/>
              <a:t>.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30000" dirty="0"/>
              <a:t>-1</a:t>
            </a:r>
            <a:r>
              <a:rPr lang="en-US" altLang="zh-CN" sz="2400" i="1" dirty="0"/>
              <a:t>e=</a:t>
            </a:r>
            <a:r>
              <a:rPr lang="en-US" altLang="zh-CN" sz="2400" dirty="0"/>
              <a:t> 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-1</a:t>
            </a:r>
            <a:r>
              <a:rPr lang="en-US" altLang="zh-CN" sz="2400" dirty="0">
                <a:sym typeface="Symbol" panose="05050102010706020507" pitchFamily="18" charset="2"/>
              </a:rPr>
              <a:t>  </a:t>
            </a:r>
            <a:r>
              <a:rPr lang="en-US" altLang="zh-CN" sz="2400" i="1" dirty="0"/>
              <a:t>N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e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 </a:t>
            </a:r>
            <a:r>
              <a:rPr lang="en-US" altLang="zh-CN" sz="2400" dirty="0"/>
              <a:t> [</a:t>
            </a:r>
            <a:r>
              <a:rPr lang="en-US" altLang="zh-CN" sz="2400" i="1" dirty="0"/>
              <a:t>e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N</a:t>
            </a:r>
            <a:r>
              <a:rPr lang="en-US" altLang="zh-CN" sz="2400" i="1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[</a:t>
            </a:r>
            <a:r>
              <a:rPr lang="en-US" altLang="zh-CN" sz="2400" i="1" dirty="0"/>
              <a:t>e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Conversely, if </a:t>
            </a:r>
            <a:r>
              <a:rPr lang="en-US" altLang="zh-CN" sz="2800" i="1" dirty="0"/>
              <a:t>x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dirty="0"/>
              <a:t>[</a:t>
            </a:r>
            <a:r>
              <a:rPr lang="en-US" altLang="zh-CN" sz="2800" i="1" dirty="0"/>
              <a:t>e</a:t>
            </a:r>
            <a:r>
              <a:rPr lang="en-US" altLang="zh-CN" sz="2800" dirty="0"/>
              <a:t>],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e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x</a:t>
            </a:r>
            <a:r>
              <a:rPr lang="en-US" altLang="zh-CN" sz="2400" baseline="30000" dirty="0"/>
              <a:t>-1</a:t>
            </a:r>
            <a:r>
              <a:rPr lang="en-US" altLang="zh-CN" sz="2400" i="1" dirty="0"/>
              <a:t>e=</a:t>
            </a:r>
            <a:r>
              <a:rPr lang="en-US" altLang="zh-CN" sz="2400" dirty="0"/>
              <a:t> 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-1</a:t>
            </a:r>
            <a:r>
              <a:rPr lang="en-US" altLang="zh-CN" sz="2400" dirty="0">
                <a:sym typeface="Symbol" panose="05050102010706020507" pitchFamily="18" charset="2"/>
              </a:rPr>
              <a:t>  </a:t>
            </a:r>
            <a:r>
              <a:rPr lang="en-US" altLang="zh-CN" sz="2400" i="1" dirty="0"/>
              <a:t>N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 </a:t>
            </a:r>
            <a:r>
              <a:rPr lang="en-US" altLang="zh-CN" sz="2400" i="1" dirty="0"/>
              <a:t>N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[</a:t>
            </a:r>
            <a:r>
              <a:rPr lang="en-US" altLang="zh-CN" sz="2400" i="1" dirty="0"/>
              <a:t>e</a:t>
            </a:r>
            <a:r>
              <a:rPr lang="en-US" altLang="zh-CN" sz="2400" dirty="0"/>
              <a:t>]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i="1" dirty="0"/>
              <a:t>N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Hence </a:t>
            </a:r>
            <a:r>
              <a:rPr lang="en-US" altLang="zh-CN" sz="2800" i="1" dirty="0"/>
              <a:t>N</a:t>
            </a:r>
            <a:r>
              <a:rPr lang="en-US" altLang="zh-CN" sz="2800" dirty="0"/>
              <a:t> = [</a:t>
            </a:r>
            <a:r>
              <a:rPr lang="en-US" altLang="zh-CN" sz="2800" i="1" dirty="0"/>
              <a:t>e</a:t>
            </a:r>
            <a:r>
              <a:rPr lang="en-US" altLang="zh-CN" sz="2800" dirty="0"/>
              <a:t>].</a:t>
            </a:r>
            <a:endParaRPr lang="en-US" altLang="zh-CN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0" y="0"/>
            <a:ext cx="5372100" cy="1200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628390" y="1124585"/>
            <a:ext cx="57486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eaLnBrk="1" hangingPunct="1"/>
            <a:r>
              <a:rPr lang="en-US" altLang="zh-CN" dirty="0">
                <a:sym typeface="+mn-ea"/>
              </a:rPr>
              <a:t>(b)</a:t>
            </a:r>
            <a:r>
              <a:rPr lang="en-US" altLang="zh-CN" i="1" dirty="0">
                <a:sym typeface="+mn-ea"/>
              </a:rPr>
              <a:t> N</a:t>
            </a:r>
            <a:r>
              <a:rPr lang="en-US" altLang="zh-CN" dirty="0">
                <a:sym typeface="+mn-ea"/>
              </a:rPr>
              <a:t> is the equivalence class [</a:t>
            </a:r>
            <a:r>
              <a:rPr lang="en-US" altLang="zh-CN" i="1" dirty="0">
                <a:sym typeface="+mn-ea"/>
              </a:rPr>
              <a:t>e</a:t>
            </a:r>
            <a:r>
              <a:rPr lang="en-US" altLang="zh-CN" dirty="0">
                <a:sym typeface="+mn-ea"/>
              </a:rPr>
              <a:t>] relative to </a:t>
            </a:r>
            <a:r>
              <a:rPr lang="en-US" altLang="zh-CN" i="1" dirty="0">
                <a:sym typeface="+mn-ea"/>
              </a:rPr>
              <a:t>R</a:t>
            </a:r>
            <a:r>
              <a:rPr lang="en-US" altLang="zh-CN" dirty="0">
                <a:sym typeface="+mn-ea"/>
              </a:rPr>
              <a:t>, where </a:t>
            </a:r>
            <a:r>
              <a:rPr lang="en-US" altLang="zh-CN" i="1" dirty="0">
                <a:sym typeface="+mn-ea"/>
              </a:rPr>
              <a:t>e</a:t>
            </a:r>
            <a:r>
              <a:rPr lang="en-US" altLang="zh-CN" dirty="0">
                <a:sym typeface="+mn-ea"/>
              </a:rPr>
              <a:t> is the identity of </a:t>
            </a:r>
            <a:r>
              <a:rPr lang="en-US" altLang="zh-CN" i="1" dirty="0">
                <a:sym typeface="+mn-ea"/>
              </a:rPr>
              <a:t>G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75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75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75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N</a:t>
            </a:r>
            <a:r>
              <a:rPr lang="en-US" altLang="zh-CN" dirty="0"/>
              <a:t>ote</a:t>
            </a:r>
            <a:endParaRPr lang="zh-CN" altLang="zh-CN" dirty="0"/>
          </a:p>
        </p:txBody>
      </p:sp>
      <p:sp>
        <p:nvSpPr>
          <p:cNvPr id="6758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Following three are equivalent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congruence relation </a:t>
            </a:r>
            <a:r>
              <a:rPr lang="en-US" altLang="zh-CN" i="1" dirty="0"/>
              <a:t>R</a:t>
            </a:r>
            <a:r>
              <a:rPr lang="en-US" altLang="zh-CN" dirty="0"/>
              <a:t> on </a:t>
            </a:r>
            <a:r>
              <a:rPr lang="en-US" altLang="zh-CN" i="1" dirty="0"/>
              <a:t>G</a:t>
            </a:r>
            <a:r>
              <a:rPr lang="en-US" altLang="zh-CN" dirty="0"/>
              <a:t>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normal subgroup </a:t>
            </a:r>
            <a:r>
              <a:rPr lang="en-US" altLang="zh-CN" i="1" dirty="0"/>
              <a:t>H</a:t>
            </a:r>
            <a:r>
              <a:rPr lang="en-US" altLang="zh-CN" dirty="0"/>
              <a:t> of </a:t>
            </a:r>
            <a:r>
              <a:rPr lang="en-US" altLang="zh-CN" i="1" dirty="0"/>
              <a:t>G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a homomorphism from </a:t>
            </a:r>
            <a:r>
              <a:rPr lang="en-US" altLang="zh-CN" i="1" dirty="0"/>
              <a:t>G</a:t>
            </a:r>
            <a:r>
              <a:rPr lang="en-US" altLang="zh-CN" dirty="0"/>
              <a:t> to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or </a:t>
            </a:r>
            <a:r>
              <a:rPr lang="en-US" altLang="zh-CN" i="1" dirty="0"/>
              <a:t>G</a:t>
            </a:r>
            <a:r>
              <a:rPr lang="en-US" altLang="zh-CN" dirty="0"/>
              <a:t>'</a:t>
            </a:r>
            <a:endParaRPr lang="en-US" altLang="zh-CN" dirty="0"/>
          </a:p>
        </p:txBody>
      </p:sp>
      <p:graphicFrame>
        <p:nvGraphicFramePr>
          <p:cNvPr id="3" name="对象 2"/>
          <p:cNvGraphicFramePr/>
          <p:nvPr/>
        </p:nvGraphicFramePr>
        <p:xfrm>
          <a:off x="6156325" y="116840"/>
          <a:ext cx="2580640" cy="207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665605" imgH="1396365" progId="Visio.Drawing.15">
                  <p:embed/>
                </p:oleObj>
              </mc:Choice>
              <mc:Fallback>
                <p:oleObj name="" r:id="rId1" imgW="1665605" imgH="1396365" progId="Visio.Drawing.15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56325" y="116840"/>
                        <a:ext cx="2580640" cy="207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86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86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86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Corollary 2</a:t>
            </a:r>
            <a:endParaRPr lang="zh-CN" altLang="en-US" dirty="0"/>
          </a:p>
        </p:txBody>
      </p:sp>
      <p:sp>
        <p:nvSpPr>
          <p:cNvPr id="686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 be a homomorphism from a group (</a:t>
            </a:r>
            <a:r>
              <a:rPr lang="en-US" altLang="zh-CN" i="1" dirty="0"/>
              <a:t>G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a group (</a:t>
            </a:r>
            <a:r>
              <a:rPr lang="en-US" altLang="zh-CN" i="1" dirty="0"/>
              <a:t>G</a:t>
            </a:r>
            <a:r>
              <a:rPr lang="en-US" altLang="zh-CN" dirty="0"/>
              <a:t>', *')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</a:t>
            </a:r>
            <a:r>
              <a:rPr lang="en-US" altLang="zh-CN" i="1" dirty="0">
                <a:solidFill>
                  <a:srgbClr val="FF3300"/>
                </a:solidFill>
              </a:rPr>
              <a:t>kernel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dirty="0">
                <a:solidFill>
                  <a:srgbClr val="FF3300"/>
                </a:solidFill>
              </a:rPr>
              <a:t>核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  <a:r>
              <a:rPr lang="en-US" altLang="zh-CN" dirty="0"/>
              <a:t> of 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), be defined by </a:t>
            </a:r>
            <a:r>
              <a:rPr lang="en-US" altLang="zh-CN" i="1" dirty="0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= {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G</a:t>
            </a:r>
            <a:r>
              <a:rPr lang="en-US" altLang="zh-CN" dirty="0"/>
              <a:t>|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'}.</a:t>
            </a:r>
            <a:endParaRPr lang="en-US" altLang="zh-CN" dirty="0"/>
          </a:p>
          <a:p>
            <a:pPr eaLnBrk="1" hangingPunct="1"/>
            <a:r>
              <a:rPr lang="en-US" altLang="zh-CN" dirty="0"/>
              <a:t>Then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ker(</a:t>
            </a:r>
            <a:r>
              <a:rPr lang="en-US" altLang="zh-CN" i="1" dirty="0"/>
              <a:t>f</a:t>
            </a:r>
            <a:r>
              <a:rPr lang="en-US" altLang="zh-CN" dirty="0"/>
              <a:t>) is a normal subgroup of G.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quotient group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is isomorphic to </a:t>
            </a:r>
            <a:r>
              <a:rPr lang="en-US" altLang="zh-CN" i="1" dirty="0"/>
              <a:t>G</a:t>
            </a:r>
            <a:r>
              <a:rPr lang="en-US" altLang="zh-CN" dirty="0"/>
              <a:t>'.</a:t>
            </a:r>
            <a:endParaRPr lang="en-US" altLang="zh-CN" dirty="0"/>
          </a:p>
        </p:txBody>
      </p:sp>
      <p:graphicFrame>
        <p:nvGraphicFramePr>
          <p:cNvPr id="3" name="对象 2"/>
          <p:cNvGraphicFramePr/>
          <p:nvPr/>
        </p:nvGraphicFramePr>
        <p:xfrm>
          <a:off x="6156325" y="116840"/>
          <a:ext cx="2580640" cy="207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665605" imgH="1396365" progId="Visio.Drawing.15">
                  <p:embed/>
                </p:oleObj>
              </mc:Choice>
              <mc:Fallback>
                <p:oleObj name="" r:id="rId1" imgW="1665605" imgH="1396365" progId="Visio.Drawing.15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56325" y="116840"/>
                        <a:ext cx="2580640" cy="207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96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96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96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6</a:t>
            </a:r>
            <a:endParaRPr lang="en-US" altLang="zh-CN" dirty="0"/>
          </a:p>
        </p:txBody>
      </p:sp>
      <p:sp>
        <p:nvSpPr>
          <p:cNvPr id="696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Consider the homomorphism </a:t>
            </a:r>
            <a:r>
              <a:rPr lang="en-US" altLang="zh-CN" sz="2800" i="1" dirty="0"/>
              <a:t>f</a:t>
            </a:r>
            <a:r>
              <a:rPr lang="en-US" altLang="zh-CN" sz="2800" dirty="0"/>
              <a:t> from </a:t>
            </a:r>
            <a:r>
              <a:rPr lang="en-US" altLang="zh-CN" sz="2800" dirty="0">
                <a:latin typeface="Euclid Math Two" panose="02050601010101010101" pitchFamily="18" charset="2"/>
              </a:rPr>
              <a:t>Z</a:t>
            </a:r>
            <a:r>
              <a:rPr lang="en-US" altLang="zh-CN" sz="2800" dirty="0"/>
              <a:t> onto </a:t>
            </a:r>
            <a:r>
              <a:rPr lang="en-US" altLang="zh-CN" sz="2800" dirty="0">
                <a:latin typeface="Euclid Math Two" panose="02050601010101010101" pitchFamily="18" charset="2"/>
              </a:rPr>
              <a:t>Z</a:t>
            </a:r>
            <a:r>
              <a:rPr lang="en-US" altLang="zh-CN" sz="2800" i="1" baseline="-25000" dirty="0"/>
              <a:t>n </a:t>
            </a:r>
            <a:r>
              <a:rPr lang="en-US" altLang="zh-CN" sz="2800" dirty="0"/>
              <a:t>defined by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m</a:t>
            </a:r>
            <a:r>
              <a:rPr lang="en-US" altLang="zh-CN" sz="2800" dirty="0"/>
              <a:t>) = [</a:t>
            </a:r>
            <a:r>
              <a:rPr lang="en-US" altLang="zh-CN" sz="2800" i="1" dirty="0"/>
              <a:t>r</a:t>
            </a:r>
            <a:r>
              <a:rPr lang="en-US" altLang="zh-CN" sz="2800" dirty="0"/>
              <a:t>], where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the remainder when </a:t>
            </a:r>
            <a:r>
              <a:rPr lang="en-US" altLang="zh-CN" sz="2800" i="1" dirty="0"/>
              <a:t>m</a:t>
            </a:r>
            <a:r>
              <a:rPr lang="en-US" altLang="zh-CN" sz="2800" dirty="0"/>
              <a:t> is divided by </a:t>
            </a:r>
            <a:r>
              <a:rPr lang="en-US" altLang="zh-CN" sz="2800" i="1" dirty="0"/>
              <a:t>n</a:t>
            </a:r>
            <a:r>
              <a:rPr lang="en-US" altLang="zh-CN" sz="2800" dirty="0"/>
              <a:t>. Find </a:t>
            </a:r>
            <a:r>
              <a:rPr lang="en-US" altLang="zh-CN" sz="2800" i="1" dirty="0"/>
              <a:t>ker</a:t>
            </a:r>
            <a:r>
              <a:rPr lang="en-US" altLang="zh-CN" sz="2800" dirty="0"/>
              <a:t>(</a:t>
            </a:r>
            <a:r>
              <a:rPr lang="en-US" altLang="zh-CN" sz="2800" i="1" dirty="0"/>
              <a:t>f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Solution 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An integer </a:t>
            </a:r>
            <a:r>
              <a:rPr lang="en-US" altLang="zh-CN" sz="2400" i="1" dirty="0"/>
              <a:t>m</a:t>
            </a:r>
            <a:r>
              <a:rPr lang="en-US" altLang="zh-CN" sz="2400" dirty="0"/>
              <a:t> in </a:t>
            </a:r>
            <a:r>
              <a:rPr lang="en-US" altLang="zh-CN" sz="2400" dirty="0">
                <a:latin typeface="Euclid Math Two" panose="02050601010101010101" pitchFamily="18" charset="2"/>
              </a:rPr>
              <a:t>Z</a:t>
            </a:r>
            <a:r>
              <a:rPr lang="en-US" altLang="zh-CN" sz="2400" dirty="0"/>
              <a:t> belongs to </a:t>
            </a:r>
            <a:r>
              <a:rPr lang="en-US" altLang="zh-CN" sz="2400" i="1" dirty="0"/>
              <a:t>ker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) 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if and only if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m</a:t>
            </a:r>
            <a:r>
              <a:rPr lang="en-US" altLang="zh-CN" sz="2400" dirty="0"/>
              <a:t>) = [0]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if and only if </a:t>
            </a:r>
            <a:r>
              <a:rPr lang="en-US" altLang="zh-CN" sz="2400" i="1" dirty="0"/>
              <a:t>m</a:t>
            </a:r>
            <a:r>
              <a:rPr lang="en-US" altLang="zh-CN" sz="2400" dirty="0"/>
              <a:t> is a multiple of </a:t>
            </a:r>
            <a:r>
              <a:rPr lang="en-US" altLang="zh-CN" sz="2400" i="1" dirty="0"/>
              <a:t>n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Hence </a:t>
            </a:r>
            <a:r>
              <a:rPr lang="en-US" altLang="zh-CN" sz="2400" i="1" dirty="0"/>
              <a:t>ker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n</a:t>
            </a:r>
            <a:r>
              <a:rPr lang="en-US" altLang="zh-CN" sz="2400" dirty="0">
                <a:latin typeface="Euclid Math Two" panose="02050601010101010101" pitchFamily="18" charset="2"/>
              </a:rPr>
              <a:t>Z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06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06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06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70661" name="Rectangle 3"/>
          <p:cNvSpPr>
            <a:spLocks noGrp="1"/>
          </p:cNvSpPr>
          <p:nvPr>
            <p:ph idx="1"/>
          </p:nvPr>
        </p:nvSpPr>
        <p:spPr>
          <a:xfrm>
            <a:off x="900113" y="176053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4 @353</a:t>
            </a:r>
            <a:r>
              <a:rPr lang="en-US" altLang="zh-CN" dirty="0"/>
              <a:t>      18, 30@354</a:t>
            </a:r>
            <a:endParaRPr lang="en-US" altLang="zh-CN" dirty="0"/>
          </a:p>
        </p:txBody>
      </p:sp>
      <p:pic>
        <p:nvPicPr>
          <p:cNvPr id="70662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75" y="2636838"/>
            <a:ext cx="6161088" cy="92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66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3644900"/>
            <a:ext cx="6035675" cy="1468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664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938" y="5319713"/>
            <a:ext cx="6054725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Tips for proof</a:t>
            </a:r>
            <a:endParaRPr lang="en-US" altLang="zh-CN" dirty="0"/>
          </a:p>
        </p:txBody>
      </p:sp>
      <p:sp>
        <p:nvSpPr>
          <p:cNvPr id="716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Direct proof  </a:t>
            </a:r>
            <a:endParaRPr lang="en-US" altLang="zh-CN" dirty="0"/>
          </a:p>
          <a:p>
            <a:pPr eaLnBrk="1" hangingPunct="1"/>
            <a:r>
              <a:rPr lang="en-US" altLang="zh-CN" dirty="0"/>
              <a:t>Substructure</a:t>
            </a:r>
            <a:endParaRPr lang="en-US" altLang="zh-CN" dirty="0"/>
          </a:p>
          <a:p>
            <a:pPr eaLnBrk="1" hangingPunct="1"/>
            <a:r>
              <a:rPr lang="en-US" altLang="zh-CN" dirty="0"/>
              <a:t>Iso- and homomorphism</a:t>
            </a:r>
            <a:endParaRPr lang="en-US" altLang="zh-CN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27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27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Key ideas for review</a:t>
            </a:r>
            <a:endParaRPr lang="en-US" altLang="zh-CN" dirty="0"/>
          </a:p>
        </p:txBody>
      </p:sp>
      <p:sp>
        <p:nvSpPr>
          <p:cNvPr id="727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Binary operation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Commutative, Associative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Semigroup, Monoid, Group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Subsemigroup, Submonoid, Subgroup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Isomorphism, Homomorphism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Congruence relation </a:t>
            </a:r>
            <a:r>
              <a:rPr lang="en-US" altLang="zh-CN" sz="2400" i="1" dirty="0"/>
              <a:t>R</a:t>
            </a:r>
            <a:r>
              <a:rPr lang="en-US" altLang="zh-CN" sz="2400" dirty="0"/>
              <a:t> on semigroup 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Quotient semigroup 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endParaRPr lang="en-US" altLang="zh-CN" sz="2400" i="1" baseline="-250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Order of group,</a:t>
            </a:r>
            <a:r>
              <a:rPr lang="zh-CN" altLang="en-US" sz="2800" dirty="0"/>
              <a:t> </a:t>
            </a:r>
            <a:r>
              <a:rPr lang="en-US" altLang="zh-CN" sz="2800" i="1" dirty="0"/>
              <a:t>S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 , </a:t>
            </a:r>
            <a:r>
              <a:rPr lang="en-US" altLang="zh-CN" sz="2800" dirty="0">
                <a:latin typeface="Euclid Math Two" panose="02050601010101010101" pitchFamily="18" charset="2"/>
              </a:rPr>
              <a:t>Z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,</a:t>
            </a:r>
            <a:r>
              <a:rPr lang="zh-CN" altLang="en-US" sz="2800" dirty="0"/>
              <a:t>置换群</a:t>
            </a:r>
            <a:r>
              <a:rPr lang="en-US" altLang="zh-CN" sz="2800" dirty="0"/>
              <a:t>, </a:t>
            </a:r>
            <a:r>
              <a:rPr lang="zh-CN" altLang="en-US" sz="2800" dirty="0"/>
              <a:t>循环群</a:t>
            </a:r>
            <a:endParaRPr lang="en-US" altLang="zh-CN" sz="2800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Left and right coset, Normal subgroup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3730" name="文本框 6"/>
          <p:cNvSpPr txBox="1"/>
          <p:nvPr>
            <p:custDataLst>
              <p:tags r:id="rId1"/>
            </p:custDataLst>
          </p:nvPr>
        </p:nvSpPr>
        <p:spPr>
          <a:xfrm>
            <a:off x="977900" y="679450"/>
            <a:ext cx="7315200" cy="15255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Let G=Z</a:t>
            </a:r>
            <a:r>
              <a:rPr lang="en-US" altLang="zh-CN" sz="2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 Determine all the left cosets of H={[0],[2]} in G.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731" name="文本框 7"/>
          <p:cNvSpPr txBox="1"/>
          <p:nvPr>
            <p:custDataLst>
              <p:tags r:id="rId2"/>
            </p:custDataLst>
          </p:nvPr>
        </p:nvSpPr>
        <p:spPr>
          <a:xfrm>
            <a:off x="1828800" y="28209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{[0],[2]}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732" name="文本框 8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{[1],[3]}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733" name="文本框 9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{[0],[1],[2],[3]}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734" name="矩形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495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735" name="矩形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681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736" name="矩形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45640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737" name="矩形: 圆角 15"/>
          <p:cNvSpPr/>
          <p:nvPr>
            <p:custDataLst>
              <p:tags r:id="rId8"/>
            </p:custDataLst>
          </p:nvPr>
        </p:nvSpPr>
        <p:spPr>
          <a:xfrm>
            <a:off x="6227763" y="5842000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3738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3739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3740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3741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742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73743" name="图片 5"/>
          <p:cNvPicPr/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47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Sz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47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Sz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47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747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grpSp>
        <p:nvGrpSpPr>
          <p:cNvPr id="74758" name="Group 4"/>
          <p:cNvGrpSpPr/>
          <p:nvPr/>
        </p:nvGrpSpPr>
        <p:grpSpPr>
          <a:xfrm>
            <a:off x="5410200" y="381000"/>
            <a:ext cx="3155950" cy="6232525"/>
            <a:chOff x="3408" y="240"/>
            <a:chExt cx="1988" cy="3926"/>
          </a:xfrm>
        </p:grpSpPr>
        <p:sp>
          <p:nvSpPr>
            <p:cNvPr id="74759" name="Text Box 5"/>
            <p:cNvSpPr txBox="1"/>
            <p:nvPr/>
          </p:nvSpPr>
          <p:spPr>
            <a:xfrm>
              <a:off x="4042" y="240"/>
              <a:ext cx="1354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9276" tIns="49638" rIns="99276" bIns="49638" anchor="ctr" anchorCtr="0">
              <a:spAutoFit/>
            </a:bodyPr>
            <a:p>
              <a:pPr algn="ctr" defTabSz="992505" eaLnBrk="0" hangingPunct="0">
                <a:spcBef>
                  <a:spcPct val="50000"/>
                </a:spcBef>
                <a:buClrTx/>
                <a:buFontTx/>
              </a:pPr>
              <a:r>
                <a:rPr lang="zh-CN" altLang="en-US" sz="26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 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     )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)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)</a:t>
              </a:r>
              <a:endParaRPr lang="zh-CN" altLang="en-US" sz="2600" b="1" dirty="0">
                <a:solidFill>
                  <a:schemeClr val="hlink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74760" name="Group 6"/>
            <p:cNvGrpSpPr/>
            <p:nvPr/>
          </p:nvGrpSpPr>
          <p:grpSpPr>
            <a:xfrm>
              <a:off x="3408" y="270"/>
              <a:ext cx="1573" cy="3896"/>
              <a:chOff x="3408" y="270"/>
              <a:chExt cx="1573" cy="3896"/>
            </a:xfrm>
          </p:grpSpPr>
          <p:sp>
            <p:nvSpPr>
              <p:cNvPr id="74761" name="Freeform 7"/>
              <p:cNvSpPr/>
              <p:nvPr/>
            </p:nvSpPr>
            <p:spPr>
              <a:xfrm>
                <a:off x="3948" y="2222"/>
                <a:ext cx="508" cy="941"/>
              </a:xfrm>
              <a:custGeom>
                <a:avLst/>
                <a:gdLst/>
                <a:ahLst/>
                <a:cxnLst>
                  <a:cxn ang="0">
                    <a:pos x="194" y="0"/>
                  </a:cxn>
                  <a:cxn ang="0">
                    <a:pos x="270" y="0"/>
                  </a:cxn>
                  <a:cxn ang="0">
                    <a:pos x="364" y="16"/>
                  </a:cxn>
                  <a:cxn ang="0">
                    <a:pos x="414" y="65"/>
                  </a:cxn>
                  <a:cxn ang="0">
                    <a:pos x="465" y="158"/>
                  </a:cxn>
                  <a:cxn ang="0">
                    <a:pos x="491" y="225"/>
                  </a:cxn>
                  <a:cxn ang="0">
                    <a:pos x="508" y="307"/>
                  </a:cxn>
                  <a:cxn ang="0">
                    <a:pos x="508" y="408"/>
                  </a:cxn>
                  <a:cxn ang="0">
                    <a:pos x="499" y="508"/>
                  </a:cxn>
                  <a:cxn ang="0">
                    <a:pos x="491" y="615"/>
                  </a:cxn>
                  <a:cxn ang="0">
                    <a:pos x="456" y="749"/>
                  </a:cxn>
                  <a:cxn ang="0">
                    <a:pos x="414" y="840"/>
                  </a:cxn>
                  <a:cxn ang="0">
                    <a:pos x="339" y="915"/>
                  </a:cxn>
                  <a:cxn ang="0">
                    <a:pos x="254" y="941"/>
                  </a:cxn>
                  <a:cxn ang="0">
                    <a:pos x="160" y="915"/>
                  </a:cxn>
                  <a:cxn ang="0">
                    <a:pos x="102" y="799"/>
                  </a:cxn>
                  <a:cxn ang="0">
                    <a:pos x="58" y="691"/>
                  </a:cxn>
                  <a:cxn ang="0">
                    <a:pos x="33" y="566"/>
                  </a:cxn>
                  <a:cxn ang="0">
                    <a:pos x="0" y="449"/>
                  </a:cxn>
                  <a:cxn ang="0">
                    <a:pos x="0" y="291"/>
                  </a:cxn>
                  <a:cxn ang="0">
                    <a:pos x="25" y="182"/>
                  </a:cxn>
                  <a:cxn ang="0">
                    <a:pos x="58" y="100"/>
                  </a:cxn>
                  <a:cxn ang="0">
                    <a:pos x="102" y="0"/>
                  </a:cxn>
                  <a:cxn ang="0">
                    <a:pos x="194" y="0"/>
                  </a:cxn>
                </a:cxnLst>
                <a:pathLst>
                  <a:path w="618" h="1008">
                    <a:moveTo>
                      <a:pt x="236" y="0"/>
                    </a:moveTo>
                    <a:lnTo>
                      <a:pt x="329" y="0"/>
                    </a:lnTo>
                    <a:lnTo>
                      <a:pt x="443" y="17"/>
                    </a:lnTo>
                    <a:lnTo>
                      <a:pt x="504" y="70"/>
                    </a:lnTo>
                    <a:lnTo>
                      <a:pt x="566" y="169"/>
                    </a:lnTo>
                    <a:lnTo>
                      <a:pt x="597" y="241"/>
                    </a:lnTo>
                    <a:lnTo>
                      <a:pt x="618" y="329"/>
                    </a:lnTo>
                    <a:lnTo>
                      <a:pt x="618" y="437"/>
                    </a:lnTo>
                    <a:lnTo>
                      <a:pt x="607" y="544"/>
                    </a:lnTo>
                    <a:lnTo>
                      <a:pt x="597" y="659"/>
                    </a:lnTo>
                    <a:lnTo>
                      <a:pt x="555" y="802"/>
                    </a:lnTo>
                    <a:lnTo>
                      <a:pt x="504" y="900"/>
                    </a:lnTo>
                    <a:lnTo>
                      <a:pt x="412" y="980"/>
                    </a:lnTo>
                    <a:lnTo>
                      <a:pt x="309" y="1008"/>
                    </a:lnTo>
                    <a:lnTo>
                      <a:pt x="195" y="980"/>
                    </a:lnTo>
                    <a:lnTo>
                      <a:pt x="124" y="856"/>
                    </a:lnTo>
                    <a:lnTo>
                      <a:pt x="71" y="740"/>
                    </a:lnTo>
                    <a:lnTo>
                      <a:pt x="40" y="606"/>
                    </a:lnTo>
                    <a:lnTo>
                      <a:pt x="0" y="481"/>
                    </a:lnTo>
                    <a:lnTo>
                      <a:pt x="0" y="312"/>
                    </a:lnTo>
                    <a:lnTo>
                      <a:pt x="31" y="195"/>
                    </a:lnTo>
                    <a:lnTo>
                      <a:pt x="71" y="107"/>
                    </a:lnTo>
                    <a:lnTo>
                      <a:pt x="124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74762" name="Group 8"/>
              <p:cNvGrpSpPr/>
              <p:nvPr/>
            </p:nvGrpSpPr>
            <p:grpSpPr>
              <a:xfrm>
                <a:off x="3408" y="270"/>
                <a:ext cx="1573" cy="3896"/>
                <a:chOff x="3314" y="144"/>
                <a:chExt cx="1913" cy="4175"/>
              </a:xfrm>
            </p:grpSpPr>
            <p:sp>
              <p:nvSpPr>
                <p:cNvPr id="74763" name="Freeform 9"/>
                <p:cNvSpPr/>
                <p:nvPr/>
              </p:nvSpPr>
              <p:spPr>
                <a:xfrm>
                  <a:off x="3930" y="1491"/>
                  <a:ext cx="571" cy="697"/>
                </a:xfrm>
                <a:custGeom>
                  <a:avLst/>
                  <a:gdLst/>
                  <a:ahLst/>
                  <a:cxnLst>
                    <a:cxn ang="0">
                      <a:pos x="331" y="0"/>
                    </a:cxn>
                    <a:cxn ang="0">
                      <a:pos x="405" y="9"/>
                    </a:cxn>
                    <a:cxn ang="0">
                      <a:pos x="479" y="45"/>
                    </a:cxn>
                    <a:cxn ang="0">
                      <a:pos x="525" y="99"/>
                    </a:cxn>
                    <a:cxn ang="0">
                      <a:pos x="562" y="178"/>
                    </a:cxn>
                    <a:cxn ang="0">
                      <a:pos x="571" y="314"/>
                    </a:cxn>
                    <a:cxn ang="0">
                      <a:pos x="544" y="448"/>
                    </a:cxn>
                    <a:cxn ang="0">
                      <a:pos x="497" y="545"/>
                    </a:cxn>
                    <a:cxn ang="0">
                      <a:pos x="433" y="626"/>
                    </a:cxn>
                    <a:cxn ang="0">
                      <a:pos x="368" y="679"/>
                    </a:cxn>
                    <a:cxn ang="0">
                      <a:pos x="294" y="697"/>
                    </a:cxn>
                    <a:cxn ang="0">
                      <a:pos x="220" y="688"/>
                    </a:cxn>
                    <a:cxn ang="0">
                      <a:pos x="183" y="644"/>
                    </a:cxn>
                    <a:cxn ang="0">
                      <a:pos x="128" y="572"/>
                    </a:cxn>
                    <a:cxn ang="0">
                      <a:pos x="109" y="438"/>
                    </a:cxn>
                    <a:cxn ang="0">
                      <a:pos x="114" y="393"/>
                    </a:cxn>
                    <a:cxn ang="0">
                      <a:pos x="0" y="371"/>
                    </a:cxn>
                    <a:cxn ang="0">
                      <a:pos x="3" y="327"/>
                    </a:cxn>
                    <a:cxn ang="0">
                      <a:pos x="114" y="331"/>
                    </a:cxn>
                    <a:cxn ang="0">
                      <a:pos x="123" y="281"/>
                    </a:cxn>
                    <a:cxn ang="0">
                      <a:pos x="151" y="210"/>
                    </a:cxn>
                    <a:cxn ang="0">
                      <a:pos x="183" y="143"/>
                    </a:cxn>
                    <a:cxn ang="0">
                      <a:pos x="239" y="54"/>
                    </a:cxn>
                    <a:cxn ang="0">
                      <a:pos x="294" y="19"/>
                    </a:cxn>
                    <a:cxn ang="0">
                      <a:pos x="331" y="0"/>
                    </a:cxn>
                  </a:cxnLst>
                  <a:pathLst>
                    <a:path w="571" h="697">
                      <a:moveTo>
                        <a:pt x="331" y="0"/>
                      </a:moveTo>
                      <a:lnTo>
                        <a:pt x="405" y="9"/>
                      </a:lnTo>
                      <a:lnTo>
                        <a:pt x="479" y="45"/>
                      </a:lnTo>
                      <a:lnTo>
                        <a:pt x="525" y="99"/>
                      </a:lnTo>
                      <a:lnTo>
                        <a:pt x="562" y="178"/>
                      </a:lnTo>
                      <a:lnTo>
                        <a:pt x="571" y="314"/>
                      </a:lnTo>
                      <a:lnTo>
                        <a:pt x="544" y="448"/>
                      </a:lnTo>
                      <a:lnTo>
                        <a:pt x="497" y="545"/>
                      </a:lnTo>
                      <a:lnTo>
                        <a:pt x="433" y="626"/>
                      </a:lnTo>
                      <a:lnTo>
                        <a:pt x="368" y="679"/>
                      </a:lnTo>
                      <a:lnTo>
                        <a:pt x="294" y="697"/>
                      </a:lnTo>
                      <a:lnTo>
                        <a:pt x="220" y="688"/>
                      </a:lnTo>
                      <a:lnTo>
                        <a:pt x="183" y="644"/>
                      </a:lnTo>
                      <a:lnTo>
                        <a:pt x="128" y="572"/>
                      </a:lnTo>
                      <a:lnTo>
                        <a:pt x="109" y="438"/>
                      </a:lnTo>
                      <a:lnTo>
                        <a:pt x="114" y="393"/>
                      </a:lnTo>
                      <a:lnTo>
                        <a:pt x="0" y="371"/>
                      </a:lnTo>
                      <a:lnTo>
                        <a:pt x="3" y="327"/>
                      </a:lnTo>
                      <a:lnTo>
                        <a:pt x="114" y="331"/>
                      </a:lnTo>
                      <a:lnTo>
                        <a:pt x="123" y="281"/>
                      </a:lnTo>
                      <a:lnTo>
                        <a:pt x="151" y="210"/>
                      </a:lnTo>
                      <a:lnTo>
                        <a:pt x="183" y="143"/>
                      </a:lnTo>
                      <a:lnTo>
                        <a:pt x="239" y="54"/>
                      </a:lnTo>
                      <a:lnTo>
                        <a:pt x="294" y="19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4764" name="Freeform 10"/>
                <p:cNvSpPr/>
                <p:nvPr/>
              </p:nvSpPr>
              <p:spPr>
                <a:xfrm>
                  <a:off x="4384" y="3101"/>
                  <a:ext cx="475" cy="1158"/>
                </a:xfrm>
                <a:custGeom>
                  <a:avLst/>
                  <a:gdLst/>
                  <a:ahLst/>
                  <a:cxnLst>
                    <a:cxn ang="0">
                      <a:pos x="88" y="134"/>
                    </a:cxn>
                    <a:cxn ang="0">
                      <a:pos x="26" y="57"/>
                    </a:cxn>
                    <a:cxn ang="0">
                      <a:pos x="46" y="0"/>
                    </a:cxn>
                    <a:cxn ang="0">
                      <a:pos x="108" y="0"/>
                    </a:cxn>
                    <a:cxn ang="0">
                      <a:pos x="181" y="62"/>
                    </a:cxn>
                    <a:cxn ang="0">
                      <a:pos x="273" y="191"/>
                    </a:cxn>
                    <a:cxn ang="0">
                      <a:pos x="325" y="314"/>
                    </a:cxn>
                    <a:cxn ang="0">
                      <a:pos x="372" y="433"/>
                    </a:cxn>
                    <a:cxn ang="0">
                      <a:pos x="387" y="542"/>
                    </a:cxn>
                    <a:cxn ang="0">
                      <a:pos x="382" y="599"/>
                    </a:cxn>
                    <a:cxn ang="0">
                      <a:pos x="336" y="669"/>
                    </a:cxn>
                    <a:cxn ang="0">
                      <a:pos x="258" y="859"/>
                    </a:cxn>
                    <a:cxn ang="0">
                      <a:pos x="170" y="968"/>
                    </a:cxn>
                    <a:cxn ang="0">
                      <a:pos x="150" y="1016"/>
                    </a:cxn>
                    <a:cxn ang="0">
                      <a:pos x="233" y="1025"/>
                    </a:cxn>
                    <a:cxn ang="0">
                      <a:pos x="341" y="1025"/>
                    </a:cxn>
                    <a:cxn ang="0">
                      <a:pos x="475" y="1068"/>
                    </a:cxn>
                    <a:cxn ang="0">
                      <a:pos x="464" y="1102"/>
                    </a:cxn>
                    <a:cxn ang="0">
                      <a:pos x="444" y="1140"/>
                    </a:cxn>
                    <a:cxn ang="0">
                      <a:pos x="402" y="1158"/>
                    </a:cxn>
                    <a:cxn ang="0">
                      <a:pos x="321" y="1131"/>
                    </a:cxn>
                    <a:cxn ang="0">
                      <a:pos x="233" y="1088"/>
                    </a:cxn>
                    <a:cxn ang="0">
                      <a:pos x="108" y="1083"/>
                    </a:cxn>
                    <a:cxn ang="0">
                      <a:pos x="31" y="1097"/>
                    </a:cxn>
                    <a:cxn ang="0">
                      <a:pos x="0" y="1073"/>
                    </a:cxn>
                    <a:cxn ang="0">
                      <a:pos x="0" y="1040"/>
                    </a:cxn>
                    <a:cxn ang="0">
                      <a:pos x="42" y="1002"/>
                    </a:cxn>
                    <a:cxn ang="0">
                      <a:pos x="108" y="941"/>
                    </a:cxn>
                    <a:cxn ang="0">
                      <a:pos x="227" y="784"/>
                    </a:cxn>
                    <a:cxn ang="0">
                      <a:pos x="279" y="646"/>
                    </a:cxn>
                    <a:cxn ang="0">
                      <a:pos x="295" y="513"/>
                    </a:cxn>
                    <a:cxn ang="0">
                      <a:pos x="288" y="442"/>
                    </a:cxn>
                    <a:cxn ang="0">
                      <a:pos x="248" y="314"/>
                    </a:cxn>
                    <a:cxn ang="0">
                      <a:pos x="139" y="176"/>
                    </a:cxn>
                    <a:cxn ang="0">
                      <a:pos x="62" y="105"/>
                    </a:cxn>
                    <a:cxn ang="0">
                      <a:pos x="88" y="134"/>
                    </a:cxn>
                  </a:cxnLst>
                  <a:pathLst>
                    <a:path w="475" h="1158">
                      <a:moveTo>
                        <a:pt x="88" y="134"/>
                      </a:moveTo>
                      <a:lnTo>
                        <a:pt x="26" y="57"/>
                      </a:lnTo>
                      <a:lnTo>
                        <a:pt x="46" y="0"/>
                      </a:lnTo>
                      <a:lnTo>
                        <a:pt x="108" y="0"/>
                      </a:lnTo>
                      <a:lnTo>
                        <a:pt x="181" y="62"/>
                      </a:lnTo>
                      <a:lnTo>
                        <a:pt x="273" y="191"/>
                      </a:lnTo>
                      <a:lnTo>
                        <a:pt x="325" y="314"/>
                      </a:lnTo>
                      <a:lnTo>
                        <a:pt x="372" y="433"/>
                      </a:lnTo>
                      <a:lnTo>
                        <a:pt x="387" y="542"/>
                      </a:lnTo>
                      <a:lnTo>
                        <a:pt x="382" y="599"/>
                      </a:lnTo>
                      <a:lnTo>
                        <a:pt x="336" y="669"/>
                      </a:lnTo>
                      <a:lnTo>
                        <a:pt x="258" y="859"/>
                      </a:lnTo>
                      <a:lnTo>
                        <a:pt x="170" y="968"/>
                      </a:lnTo>
                      <a:lnTo>
                        <a:pt x="150" y="1016"/>
                      </a:lnTo>
                      <a:lnTo>
                        <a:pt x="233" y="1025"/>
                      </a:lnTo>
                      <a:lnTo>
                        <a:pt x="341" y="1025"/>
                      </a:lnTo>
                      <a:lnTo>
                        <a:pt x="475" y="1068"/>
                      </a:lnTo>
                      <a:lnTo>
                        <a:pt x="464" y="1102"/>
                      </a:lnTo>
                      <a:lnTo>
                        <a:pt x="444" y="1140"/>
                      </a:lnTo>
                      <a:lnTo>
                        <a:pt x="402" y="1158"/>
                      </a:lnTo>
                      <a:lnTo>
                        <a:pt x="321" y="1131"/>
                      </a:lnTo>
                      <a:lnTo>
                        <a:pt x="233" y="1088"/>
                      </a:lnTo>
                      <a:lnTo>
                        <a:pt x="108" y="1083"/>
                      </a:lnTo>
                      <a:lnTo>
                        <a:pt x="31" y="1097"/>
                      </a:lnTo>
                      <a:lnTo>
                        <a:pt x="0" y="1073"/>
                      </a:lnTo>
                      <a:lnTo>
                        <a:pt x="0" y="1040"/>
                      </a:lnTo>
                      <a:lnTo>
                        <a:pt x="42" y="1002"/>
                      </a:lnTo>
                      <a:lnTo>
                        <a:pt x="108" y="941"/>
                      </a:lnTo>
                      <a:lnTo>
                        <a:pt x="227" y="784"/>
                      </a:lnTo>
                      <a:lnTo>
                        <a:pt x="279" y="646"/>
                      </a:lnTo>
                      <a:lnTo>
                        <a:pt x="295" y="513"/>
                      </a:lnTo>
                      <a:lnTo>
                        <a:pt x="288" y="442"/>
                      </a:lnTo>
                      <a:lnTo>
                        <a:pt x="248" y="314"/>
                      </a:lnTo>
                      <a:lnTo>
                        <a:pt x="139" y="176"/>
                      </a:lnTo>
                      <a:lnTo>
                        <a:pt x="62" y="105"/>
                      </a:lnTo>
                      <a:lnTo>
                        <a:pt x="88" y="134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4765" name="Freeform 11"/>
                <p:cNvSpPr/>
                <p:nvPr/>
              </p:nvSpPr>
              <p:spPr>
                <a:xfrm>
                  <a:off x="3754" y="3084"/>
                  <a:ext cx="475" cy="1235"/>
                </a:xfrm>
                <a:custGeom>
                  <a:avLst/>
                  <a:gdLst/>
                  <a:ahLst/>
                  <a:cxnLst>
                    <a:cxn ang="0">
                      <a:pos x="247" y="222"/>
                    </a:cxn>
                    <a:cxn ang="0">
                      <a:pos x="319" y="97"/>
                    </a:cxn>
                    <a:cxn ang="0">
                      <a:pos x="388" y="0"/>
                    </a:cxn>
                    <a:cxn ang="0">
                      <a:pos x="439" y="0"/>
                    </a:cxn>
                    <a:cxn ang="0">
                      <a:pos x="470" y="40"/>
                    </a:cxn>
                    <a:cxn ang="0">
                      <a:pos x="475" y="106"/>
                    </a:cxn>
                    <a:cxn ang="0">
                      <a:pos x="432" y="156"/>
                    </a:cxn>
                    <a:cxn ang="0">
                      <a:pos x="358" y="217"/>
                    </a:cxn>
                    <a:cxn ang="0">
                      <a:pos x="298" y="288"/>
                    </a:cxn>
                    <a:cxn ang="0">
                      <a:pos x="237" y="386"/>
                    </a:cxn>
                    <a:cxn ang="0">
                      <a:pos x="211" y="453"/>
                    </a:cxn>
                    <a:cxn ang="0">
                      <a:pos x="187" y="537"/>
                    </a:cxn>
                    <a:cxn ang="0">
                      <a:pos x="182" y="645"/>
                    </a:cxn>
                    <a:cxn ang="0">
                      <a:pos x="190" y="742"/>
                    </a:cxn>
                    <a:cxn ang="0">
                      <a:pos x="220" y="862"/>
                    </a:cxn>
                    <a:cxn ang="0">
                      <a:pos x="276" y="968"/>
                    </a:cxn>
                    <a:cxn ang="0">
                      <a:pos x="324" y="1031"/>
                    </a:cxn>
                    <a:cxn ang="0">
                      <a:pos x="353" y="1075"/>
                    </a:cxn>
                    <a:cxn ang="0">
                      <a:pos x="358" y="1110"/>
                    </a:cxn>
                    <a:cxn ang="0">
                      <a:pos x="331" y="1124"/>
                    </a:cxn>
                    <a:cxn ang="0">
                      <a:pos x="271" y="1132"/>
                    </a:cxn>
                    <a:cxn ang="0">
                      <a:pos x="182" y="1159"/>
                    </a:cxn>
                    <a:cxn ang="0">
                      <a:pos x="113" y="1194"/>
                    </a:cxn>
                    <a:cxn ang="0">
                      <a:pos x="69" y="1235"/>
                    </a:cxn>
                    <a:cxn ang="0">
                      <a:pos x="31" y="1226"/>
                    </a:cxn>
                    <a:cxn ang="0">
                      <a:pos x="0" y="1178"/>
                    </a:cxn>
                    <a:cxn ang="0">
                      <a:pos x="0" y="1137"/>
                    </a:cxn>
                    <a:cxn ang="0">
                      <a:pos x="69" y="1101"/>
                    </a:cxn>
                    <a:cxn ang="0">
                      <a:pos x="187" y="1079"/>
                    </a:cxn>
                    <a:cxn ang="0">
                      <a:pos x="293" y="1066"/>
                    </a:cxn>
                    <a:cxn ang="0">
                      <a:pos x="247" y="1018"/>
                    </a:cxn>
                    <a:cxn ang="0">
                      <a:pos x="216" y="955"/>
                    </a:cxn>
                    <a:cxn ang="0">
                      <a:pos x="177" y="866"/>
                    </a:cxn>
                    <a:cxn ang="0">
                      <a:pos x="134" y="773"/>
                    </a:cxn>
                    <a:cxn ang="0">
                      <a:pos x="122" y="658"/>
                    </a:cxn>
                    <a:cxn ang="0">
                      <a:pos x="117" y="546"/>
                    </a:cxn>
                    <a:cxn ang="0">
                      <a:pos x="147" y="439"/>
                    </a:cxn>
                    <a:cxn ang="0">
                      <a:pos x="204" y="297"/>
                    </a:cxn>
                    <a:cxn ang="0">
                      <a:pos x="247" y="222"/>
                    </a:cxn>
                  </a:cxnLst>
                  <a:pathLst>
                    <a:path w="475" h="1235">
                      <a:moveTo>
                        <a:pt x="247" y="222"/>
                      </a:moveTo>
                      <a:lnTo>
                        <a:pt x="319" y="97"/>
                      </a:lnTo>
                      <a:lnTo>
                        <a:pt x="388" y="0"/>
                      </a:lnTo>
                      <a:lnTo>
                        <a:pt x="439" y="0"/>
                      </a:lnTo>
                      <a:lnTo>
                        <a:pt x="470" y="40"/>
                      </a:lnTo>
                      <a:lnTo>
                        <a:pt x="475" y="106"/>
                      </a:lnTo>
                      <a:lnTo>
                        <a:pt x="432" y="156"/>
                      </a:lnTo>
                      <a:lnTo>
                        <a:pt x="358" y="217"/>
                      </a:lnTo>
                      <a:lnTo>
                        <a:pt x="298" y="288"/>
                      </a:lnTo>
                      <a:lnTo>
                        <a:pt x="237" y="386"/>
                      </a:lnTo>
                      <a:lnTo>
                        <a:pt x="211" y="453"/>
                      </a:lnTo>
                      <a:lnTo>
                        <a:pt x="187" y="537"/>
                      </a:lnTo>
                      <a:lnTo>
                        <a:pt x="182" y="645"/>
                      </a:lnTo>
                      <a:lnTo>
                        <a:pt x="190" y="742"/>
                      </a:lnTo>
                      <a:lnTo>
                        <a:pt x="220" y="862"/>
                      </a:lnTo>
                      <a:lnTo>
                        <a:pt x="276" y="968"/>
                      </a:lnTo>
                      <a:lnTo>
                        <a:pt x="324" y="1031"/>
                      </a:lnTo>
                      <a:lnTo>
                        <a:pt x="353" y="1075"/>
                      </a:lnTo>
                      <a:lnTo>
                        <a:pt x="358" y="1110"/>
                      </a:lnTo>
                      <a:lnTo>
                        <a:pt x="331" y="1124"/>
                      </a:lnTo>
                      <a:lnTo>
                        <a:pt x="271" y="1132"/>
                      </a:lnTo>
                      <a:lnTo>
                        <a:pt x="182" y="1159"/>
                      </a:lnTo>
                      <a:lnTo>
                        <a:pt x="113" y="1194"/>
                      </a:lnTo>
                      <a:lnTo>
                        <a:pt x="69" y="1235"/>
                      </a:lnTo>
                      <a:lnTo>
                        <a:pt x="31" y="1226"/>
                      </a:lnTo>
                      <a:lnTo>
                        <a:pt x="0" y="1178"/>
                      </a:lnTo>
                      <a:lnTo>
                        <a:pt x="0" y="1137"/>
                      </a:lnTo>
                      <a:lnTo>
                        <a:pt x="69" y="1101"/>
                      </a:lnTo>
                      <a:lnTo>
                        <a:pt x="187" y="1079"/>
                      </a:lnTo>
                      <a:lnTo>
                        <a:pt x="293" y="1066"/>
                      </a:lnTo>
                      <a:lnTo>
                        <a:pt x="247" y="1018"/>
                      </a:lnTo>
                      <a:lnTo>
                        <a:pt x="216" y="955"/>
                      </a:lnTo>
                      <a:lnTo>
                        <a:pt x="177" y="866"/>
                      </a:lnTo>
                      <a:lnTo>
                        <a:pt x="134" y="773"/>
                      </a:lnTo>
                      <a:lnTo>
                        <a:pt x="122" y="658"/>
                      </a:lnTo>
                      <a:lnTo>
                        <a:pt x="117" y="546"/>
                      </a:lnTo>
                      <a:lnTo>
                        <a:pt x="147" y="439"/>
                      </a:lnTo>
                      <a:lnTo>
                        <a:pt x="204" y="297"/>
                      </a:lnTo>
                      <a:lnTo>
                        <a:pt x="247" y="22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4766" name="Freeform 12"/>
                <p:cNvSpPr/>
                <p:nvPr/>
              </p:nvSpPr>
              <p:spPr>
                <a:xfrm>
                  <a:off x="4463" y="144"/>
                  <a:ext cx="764" cy="2360"/>
                </a:xfrm>
                <a:custGeom>
                  <a:avLst/>
                  <a:gdLst/>
                  <a:ahLst/>
                  <a:cxnLst>
                    <a:cxn ang="0">
                      <a:pos x="15" y="2262"/>
                    </a:cxn>
                    <a:cxn ang="0">
                      <a:pos x="0" y="2163"/>
                    </a:cxn>
                    <a:cxn ang="0">
                      <a:pos x="24" y="2087"/>
                    </a:cxn>
                    <a:cxn ang="0">
                      <a:pos x="88" y="2011"/>
                    </a:cxn>
                    <a:cxn ang="0">
                      <a:pos x="208" y="1868"/>
                    </a:cxn>
                    <a:cxn ang="0">
                      <a:pos x="353" y="1649"/>
                    </a:cxn>
                    <a:cxn ang="0">
                      <a:pos x="431" y="1451"/>
                    </a:cxn>
                    <a:cxn ang="0">
                      <a:pos x="467" y="1344"/>
                    </a:cxn>
                    <a:cxn ang="0">
                      <a:pos x="504" y="1054"/>
                    </a:cxn>
                    <a:cxn ang="0">
                      <a:pos x="497" y="652"/>
                    </a:cxn>
                    <a:cxn ang="0">
                      <a:pos x="482" y="455"/>
                    </a:cxn>
                    <a:cxn ang="0">
                      <a:pos x="473" y="379"/>
                    </a:cxn>
                    <a:cxn ang="0">
                      <a:pos x="326" y="273"/>
                    </a:cxn>
                    <a:cxn ang="0">
                      <a:pos x="322" y="234"/>
                    </a:cxn>
                    <a:cxn ang="0">
                      <a:pos x="337" y="212"/>
                    </a:cxn>
                    <a:cxn ang="0">
                      <a:pos x="473" y="273"/>
                    </a:cxn>
                    <a:cxn ang="0">
                      <a:pos x="504" y="258"/>
                    </a:cxn>
                    <a:cxn ang="0">
                      <a:pos x="420" y="30"/>
                    </a:cxn>
                    <a:cxn ang="0">
                      <a:pos x="431" y="0"/>
                    </a:cxn>
                    <a:cxn ang="0">
                      <a:pos x="462" y="8"/>
                    </a:cxn>
                    <a:cxn ang="0">
                      <a:pos x="539" y="206"/>
                    </a:cxn>
                    <a:cxn ang="0">
                      <a:pos x="561" y="212"/>
                    </a:cxn>
                    <a:cxn ang="0">
                      <a:pos x="602" y="8"/>
                    </a:cxn>
                    <a:cxn ang="0">
                      <a:pos x="628" y="0"/>
                    </a:cxn>
                    <a:cxn ang="0">
                      <a:pos x="639" y="37"/>
                    </a:cxn>
                    <a:cxn ang="0">
                      <a:pos x="607" y="258"/>
                    </a:cxn>
                    <a:cxn ang="0">
                      <a:pos x="618" y="290"/>
                    </a:cxn>
                    <a:cxn ang="0">
                      <a:pos x="742" y="258"/>
                    </a:cxn>
                    <a:cxn ang="0">
                      <a:pos x="764" y="273"/>
                    </a:cxn>
                    <a:cxn ang="0">
                      <a:pos x="758" y="312"/>
                    </a:cxn>
                    <a:cxn ang="0">
                      <a:pos x="591" y="373"/>
                    </a:cxn>
                    <a:cxn ang="0">
                      <a:pos x="576" y="403"/>
                    </a:cxn>
                    <a:cxn ang="0">
                      <a:pos x="561" y="539"/>
                    </a:cxn>
                    <a:cxn ang="0">
                      <a:pos x="561" y="737"/>
                    </a:cxn>
                    <a:cxn ang="0">
                      <a:pos x="565" y="1025"/>
                    </a:cxn>
                    <a:cxn ang="0">
                      <a:pos x="561" y="1291"/>
                    </a:cxn>
                    <a:cxn ang="0">
                      <a:pos x="550" y="1411"/>
                    </a:cxn>
                    <a:cxn ang="0">
                      <a:pos x="467" y="1601"/>
                    </a:cxn>
                    <a:cxn ang="0">
                      <a:pos x="374" y="1799"/>
                    </a:cxn>
                    <a:cxn ang="0">
                      <a:pos x="274" y="2011"/>
                    </a:cxn>
                    <a:cxn ang="0">
                      <a:pos x="191" y="2215"/>
                    </a:cxn>
                    <a:cxn ang="0">
                      <a:pos x="134" y="2330"/>
                    </a:cxn>
                    <a:cxn ang="0">
                      <a:pos x="51" y="2360"/>
                    </a:cxn>
                    <a:cxn ang="0">
                      <a:pos x="15" y="2262"/>
                    </a:cxn>
                  </a:cxnLst>
                  <a:pathLst>
                    <a:path w="764" h="1400">
                      <a:moveTo>
                        <a:pt x="15" y="1342"/>
                      </a:moveTo>
                      <a:lnTo>
                        <a:pt x="0" y="1283"/>
                      </a:lnTo>
                      <a:lnTo>
                        <a:pt x="24" y="1238"/>
                      </a:lnTo>
                      <a:lnTo>
                        <a:pt x="88" y="1193"/>
                      </a:lnTo>
                      <a:lnTo>
                        <a:pt x="208" y="1108"/>
                      </a:lnTo>
                      <a:lnTo>
                        <a:pt x="353" y="978"/>
                      </a:lnTo>
                      <a:lnTo>
                        <a:pt x="431" y="861"/>
                      </a:lnTo>
                      <a:lnTo>
                        <a:pt x="467" y="797"/>
                      </a:lnTo>
                      <a:lnTo>
                        <a:pt x="504" y="625"/>
                      </a:lnTo>
                      <a:lnTo>
                        <a:pt x="497" y="387"/>
                      </a:lnTo>
                      <a:lnTo>
                        <a:pt x="482" y="270"/>
                      </a:lnTo>
                      <a:lnTo>
                        <a:pt x="473" y="225"/>
                      </a:lnTo>
                      <a:lnTo>
                        <a:pt x="326" y="162"/>
                      </a:lnTo>
                      <a:lnTo>
                        <a:pt x="322" y="139"/>
                      </a:lnTo>
                      <a:lnTo>
                        <a:pt x="337" y="126"/>
                      </a:lnTo>
                      <a:lnTo>
                        <a:pt x="473" y="162"/>
                      </a:lnTo>
                      <a:lnTo>
                        <a:pt x="504" y="153"/>
                      </a:lnTo>
                      <a:lnTo>
                        <a:pt x="420" y="18"/>
                      </a:lnTo>
                      <a:lnTo>
                        <a:pt x="431" y="0"/>
                      </a:lnTo>
                      <a:lnTo>
                        <a:pt x="462" y="5"/>
                      </a:lnTo>
                      <a:lnTo>
                        <a:pt x="539" y="122"/>
                      </a:lnTo>
                      <a:lnTo>
                        <a:pt x="561" y="126"/>
                      </a:lnTo>
                      <a:lnTo>
                        <a:pt x="602" y="5"/>
                      </a:lnTo>
                      <a:lnTo>
                        <a:pt x="628" y="0"/>
                      </a:lnTo>
                      <a:lnTo>
                        <a:pt x="639" y="22"/>
                      </a:lnTo>
                      <a:lnTo>
                        <a:pt x="607" y="153"/>
                      </a:lnTo>
                      <a:lnTo>
                        <a:pt x="618" y="172"/>
                      </a:lnTo>
                      <a:lnTo>
                        <a:pt x="742" y="153"/>
                      </a:lnTo>
                      <a:lnTo>
                        <a:pt x="764" y="162"/>
                      </a:lnTo>
                      <a:lnTo>
                        <a:pt x="758" y="185"/>
                      </a:lnTo>
                      <a:lnTo>
                        <a:pt x="591" y="221"/>
                      </a:lnTo>
                      <a:lnTo>
                        <a:pt x="576" y="239"/>
                      </a:lnTo>
                      <a:lnTo>
                        <a:pt x="561" y="320"/>
                      </a:lnTo>
                      <a:lnTo>
                        <a:pt x="561" y="437"/>
                      </a:lnTo>
                      <a:lnTo>
                        <a:pt x="565" y="608"/>
                      </a:lnTo>
                      <a:lnTo>
                        <a:pt x="561" y="766"/>
                      </a:lnTo>
                      <a:lnTo>
                        <a:pt x="550" y="837"/>
                      </a:lnTo>
                      <a:lnTo>
                        <a:pt x="467" y="950"/>
                      </a:lnTo>
                      <a:lnTo>
                        <a:pt x="374" y="1067"/>
                      </a:lnTo>
                      <a:lnTo>
                        <a:pt x="274" y="1193"/>
                      </a:lnTo>
                      <a:lnTo>
                        <a:pt x="191" y="1314"/>
                      </a:lnTo>
                      <a:lnTo>
                        <a:pt x="134" y="1382"/>
                      </a:lnTo>
                      <a:lnTo>
                        <a:pt x="51" y="1400"/>
                      </a:lnTo>
                      <a:lnTo>
                        <a:pt x="15" y="134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74767" name="Freeform 13"/>
                <p:cNvSpPr/>
                <p:nvPr/>
              </p:nvSpPr>
              <p:spPr>
                <a:xfrm>
                  <a:off x="3314" y="2262"/>
                  <a:ext cx="795" cy="1147"/>
                </a:xfrm>
                <a:custGeom>
                  <a:avLst/>
                  <a:gdLst/>
                  <a:ahLst/>
                  <a:cxnLst>
                    <a:cxn ang="0">
                      <a:pos x="576" y="112"/>
                    </a:cxn>
                    <a:cxn ang="0">
                      <a:pos x="659" y="30"/>
                    </a:cxn>
                    <a:cxn ang="0">
                      <a:pos x="711" y="0"/>
                    </a:cxn>
                    <a:cxn ang="0">
                      <a:pos x="753" y="5"/>
                    </a:cxn>
                    <a:cxn ang="0">
                      <a:pos x="795" y="30"/>
                    </a:cxn>
                    <a:cxn ang="0">
                      <a:pos x="795" y="81"/>
                    </a:cxn>
                    <a:cxn ang="0">
                      <a:pos x="784" y="152"/>
                    </a:cxn>
                    <a:cxn ang="0">
                      <a:pos x="753" y="203"/>
                    </a:cxn>
                    <a:cxn ang="0">
                      <a:pos x="716" y="224"/>
                    </a:cxn>
                    <a:cxn ang="0">
                      <a:pos x="637" y="255"/>
                    </a:cxn>
                    <a:cxn ang="0">
                      <a:pos x="539" y="327"/>
                    </a:cxn>
                    <a:cxn ang="0">
                      <a:pos x="436" y="438"/>
                    </a:cxn>
                    <a:cxn ang="0">
                      <a:pos x="394" y="529"/>
                    </a:cxn>
                    <a:cxn ang="0">
                      <a:pos x="337" y="637"/>
                    </a:cxn>
                    <a:cxn ang="0">
                      <a:pos x="306" y="718"/>
                    </a:cxn>
                    <a:cxn ang="0">
                      <a:pos x="265" y="820"/>
                    </a:cxn>
                    <a:cxn ang="0">
                      <a:pos x="248" y="897"/>
                    </a:cxn>
                    <a:cxn ang="0">
                      <a:pos x="265" y="973"/>
                    </a:cxn>
                    <a:cxn ang="0">
                      <a:pos x="300" y="1034"/>
                    </a:cxn>
                    <a:cxn ang="0">
                      <a:pos x="315" y="1054"/>
                    </a:cxn>
                    <a:cxn ang="0">
                      <a:pos x="306" y="1075"/>
                    </a:cxn>
                    <a:cxn ang="0">
                      <a:pos x="289" y="1080"/>
                    </a:cxn>
                    <a:cxn ang="0">
                      <a:pos x="228" y="978"/>
                    </a:cxn>
                    <a:cxn ang="0">
                      <a:pos x="212" y="988"/>
                    </a:cxn>
                    <a:cxn ang="0">
                      <a:pos x="228" y="1116"/>
                    </a:cxn>
                    <a:cxn ang="0">
                      <a:pos x="206" y="1126"/>
                    </a:cxn>
                    <a:cxn ang="0">
                      <a:pos x="191" y="1110"/>
                    </a:cxn>
                    <a:cxn ang="0">
                      <a:pos x="181" y="988"/>
                    </a:cxn>
                    <a:cxn ang="0">
                      <a:pos x="160" y="988"/>
                    </a:cxn>
                    <a:cxn ang="0">
                      <a:pos x="160" y="1110"/>
                    </a:cxn>
                    <a:cxn ang="0">
                      <a:pos x="144" y="1147"/>
                    </a:cxn>
                    <a:cxn ang="0">
                      <a:pos x="118" y="1126"/>
                    </a:cxn>
                    <a:cxn ang="0">
                      <a:pos x="140" y="937"/>
                    </a:cxn>
                    <a:cxn ang="0">
                      <a:pos x="129" y="922"/>
                    </a:cxn>
                    <a:cxn ang="0">
                      <a:pos x="72" y="932"/>
                    </a:cxn>
                    <a:cxn ang="0">
                      <a:pos x="9" y="922"/>
                    </a:cxn>
                    <a:cxn ang="0">
                      <a:pos x="0" y="892"/>
                    </a:cxn>
                    <a:cxn ang="0">
                      <a:pos x="46" y="897"/>
                    </a:cxn>
                    <a:cxn ang="0">
                      <a:pos x="107" y="892"/>
                    </a:cxn>
                    <a:cxn ang="0">
                      <a:pos x="171" y="850"/>
                    </a:cxn>
                    <a:cxn ang="0">
                      <a:pos x="265" y="667"/>
                    </a:cxn>
                    <a:cxn ang="0">
                      <a:pos x="322" y="519"/>
                    </a:cxn>
                    <a:cxn ang="0">
                      <a:pos x="372" y="412"/>
                    </a:cxn>
                    <a:cxn ang="0">
                      <a:pos x="436" y="316"/>
                    </a:cxn>
                    <a:cxn ang="0">
                      <a:pos x="503" y="213"/>
                    </a:cxn>
                    <a:cxn ang="0">
                      <a:pos x="545" y="147"/>
                    </a:cxn>
                    <a:cxn ang="0">
                      <a:pos x="576" y="112"/>
                    </a:cxn>
                  </a:cxnLst>
                  <a:pathLst>
                    <a:path w="795" h="1147">
                      <a:moveTo>
                        <a:pt x="576" y="112"/>
                      </a:moveTo>
                      <a:lnTo>
                        <a:pt x="659" y="30"/>
                      </a:lnTo>
                      <a:lnTo>
                        <a:pt x="711" y="0"/>
                      </a:lnTo>
                      <a:lnTo>
                        <a:pt x="753" y="5"/>
                      </a:lnTo>
                      <a:lnTo>
                        <a:pt x="795" y="30"/>
                      </a:lnTo>
                      <a:lnTo>
                        <a:pt x="795" y="81"/>
                      </a:lnTo>
                      <a:lnTo>
                        <a:pt x="784" y="152"/>
                      </a:lnTo>
                      <a:lnTo>
                        <a:pt x="753" y="203"/>
                      </a:lnTo>
                      <a:lnTo>
                        <a:pt x="716" y="224"/>
                      </a:lnTo>
                      <a:lnTo>
                        <a:pt x="637" y="255"/>
                      </a:lnTo>
                      <a:lnTo>
                        <a:pt x="539" y="327"/>
                      </a:lnTo>
                      <a:lnTo>
                        <a:pt x="436" y="438"/>
                      </a:lnTo>
                      <a:lnTo>
                        <a:pt x="394" y="529"/>
                      </a:lnTo>
                      <a:lnTo>
                        <a:pt x="337" y="637"/>
                      </a:lnTo>
                      <a:lnTo>
                        <a:pt x="306" y="718"/>
                      </a:lnTo>
                      <a:lnTo>
                        <a:pt x="265" y="820"/>
                      </a:lnTo>
                      <a:lnTo>
                        <a:pt x="248" y="897"/>
                      </a:lnTo>
                      <a:lnTo>
                        <a:pt x="265" y="973"/>
                      </a:lnTo>
                      <a:lnTo>
                        <a:pt x="300" y="1034"/>
                      </a:lnTo>
                      <a:lnTo>
                        <a:pt x="315" y="1054"/>
                      </a:lnTo>
                      <a:lnTo>
                        <a:pt x="306" y="1075"/>
                      </a:lnTo>
                      <a:lnTo>
                        <a:pt x="289" y="1080"/>
                      </a:lnTo>
                      <a:lnTo>
                        <a:pt x="228" y="978"/>
                      </a:lnTo>
                      <a:lnTo>
                        <a:pt x="212" y="988"/>
                      </a:lnTo>
                      <a:lnTo>
                        <a:pt x="228" y="1116"/>
                      </a:lnTo>
                      <a:lnTo>
                        <a:pt x="206" y="1126"/>
                      </a:lnTo>
                      <a:lnTo>
                        <a:pt x="191" y="1110"/>
                      </a:lnTo>
                      <a:lnTo>
                        <a:pt x="181" y="988"/>
                      </a:lnTo>
                      <a:lnTo>
                        <a:pt x="160" y="988"/>
                      </a:lnTo>
                      <a:lnTo>
                        <a:pt x="160" y="1110"/>
                      </a:lnTo>
                      <a:lnTo>
                        <a:pt x="144" y="1147"/>
                      </a:lnTo>
                      <a:lnTo>
                        <a:pt x="118" y="1126"/>
                      </a:lnTo>
                      <a:lnTo>
                        <a:pt x="140" y="937"/>
                      </a:lnTo>
                      <a:lnTo>
                        <a:pt x="129" y="922"/>
                      </a:lnTo>
                      <a:lnTo>
                        <a:pt x="72" y="932"/>
                      </a:lnTo>
                      <a:lnTo>
                        <a:pt x="9" y="922"/>
                      </a:lnTo>
                      <a:lnTo>
                        <a:pt x="0" y="892"/>
                      </a:lnTo>
                      <a:lnTo>
                        <a:pt x="46" y="897"/>
                      </a:lnTo>
                      <a:lnTo>
                        <a:pt x="107" y="892"/>
                      </a:lnTo>
                      <a:lnTo>
                        <a:pt x="171" y="850"/>
                      </a:lnTo>
                      <a:lnTo>
                        <a:pt x="265" y="667"/>
                      </a:lnTo>
                      <a:lnTo>
                        <a:pt x="322" y="519"/>
                      </a:lnTo>
                      <a:lnTo>
                        <a:pt x="372" y="412"/>
                      </a:lnTo>
                      <a:lnTo>
                        <a:pt x="436" y="316"/>
                      </a:lnTo>
                      <a:lnTo>
                        <a:pt x="503" y="213"/>
                      </a:lnTo>
                      <a:lnTo>
                        <a:pt x="545" y="147"/>
                      </a:lnTo>
                      <a:lnTo>
                        <a:pt x="576" y="11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744462" name="AutoShape 14"/>
          <p:cNvSpPr/>
          <p:nvPr/>
        </p:nvSpPr>
        <p:spPr>
          <a:xfrm flipH="1">
            <a:off x="1524000" y="304800"/>
            <a:ext cx="4724400" cy="1323975"/>
          </a:xfrm>
          <a:prstGeom prst="wedgeRectCallout">
            <a:avLst>
              <a:gd name="adj1" fmla="val -50236"/>
              <a:gd name="adj2" fmla="val 126977"/>
            </a:avLst>
          </a:prstGeom>
          <a:noFill/>
          <a:ln w="381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9276" tIns="49638" rIns="99276" bIns="49638" anchor="ctr" anchorCtr="0">
            <a:spAutoFit/>
          </a:bodyPr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Please feel free </a:t>
            </a:r>
            <a:endParaRPr lang="en-US" altLang="zh-CN" sz="3900" dirty="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to ask questions!</a:t>
            </a:r>
            <a:endParaRPr lang="en-US" altLang="zh-CN" sz="2600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4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462" grpId="0" animBg="1"/>
    </p:bldLst>
  </p:timing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p="http://schemas.openxmlformats.org/presentationml/2006/main">
  <p:tag name="RAINPROBLEM" val="ProblemSubmit"/>
  <p:tag name="RAINPROBLEMTYPE" val="MultipleChoiceMA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15.xml><?xml version="1.0" encoding="utf-8"?>
<p:tagLst xmlns:p="http://schemas.openxmlformats.org/presentationml/2006/main">
  <p:tag name="KSO_WM_UNIT_PLACING_PICTURE_USER_VIEWPORT" val="{&quot;height&quot;:5985,&quot;width&quot;:7155}"/>
</p:tagLst>
</file>

<file path=ppt/tags/tag16.xml><?xml version="1.0" encoding="utf-8"?>
<p:tagLst xmlns:p="http://schemas.openxmlformats.org/presentationml/2006/main">
  <p:tag name="RAINPROBLEM" val="ProblemBody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p="http://schemas.openxmlformats.org/presentationml/2006/main">
  <p:tag name="RAINPROBLEM" val="ProblemSubmit"/>
  <p:tag name="RAINPROBLEMTYPE" val="MultipleChoice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p="http://schemas.openxmlformats.org/presentationml/2006/main">
  <p:tag name="RAINPROBLEM" val="MultipleChoice"/>
  <p:tag name="PROBLEMSCORE" val="1.0"/>
</p:tagLst>
</file>

<file path=ppt/tags/tag28.xml><?xml version="1.0" encoding="utf-8"?>
<p:tagLst xmlns:p="http://schemas.openxmlformats.org/presentationml/2006/main">
  <p:tag name="KSO_WM_UNIT_PLACING_PICTURE_USER_VIEWPORT" val="{&quot;height&quot;:2460,&quot;width&quot;:4960}"/>
</p:tagLst>
</file>

<file path=ppt/tags/tag29.xml><?xml version="1.0" encoding="utf-8"?>
<p:tagLst xmlns:p="http://schemas.openxmlformats.org/presentationml/2006/main">
  <p:tag name="RAINPROBLEM" val="ProblemBody"/>
</p:tagLst>
</file>

<file path=ppt/tags/tag30.xml><?xml version="1.0" encoding="utf-8"?>
<p:tagLst xmlns:p="http://schemas.openxmlformats.org/presentationml/2006/main">
  <p:tag name="RAINPROBLEM" val="ProblemItem"/>
</p:tagLst>
</file>

<file path=ppt/tags/tag31.xml><?xml version="1.0" encoding="utf-8"?>
<p:tagLst xmlns:p="http://schemas.openxmlformats.org/presentationml/2006/main">
  <p:tag name="RAINPROBLEM" val="ProblemItem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5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6.xml><?xml version="1.0" encoding="utf-8"?>
<p:tagLst xmlns:p="http://schemas.openxmlformats.org/presentationml/2006/main">
  <p:tag name="RAINPROBLEM" val="ProblemSubmit"/>
  <p:tag name="RAINPROBLEMTYPE" val="MultipleChoiceMA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" val="ProblemSetting"/>
  <p:tag name="RAINPROBLEMTYPE" val="MultipleChoiceMA"/>
</p:tagLst>
</file>

<file path=ppt/tags/tag42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43.xml><?xml version="1.0" encoding="utf-8"?>
<p:tagLst xmlns:p="http://schemas.openxmlformats.org/presentationml/2006/main">
  <p:tag name="COMMONDATA" val="eyJoZGlkIjoiYjZhMmY1NGQwZjE0MWY4MTkzZjM4YzBiNDA1ZmM3ZDEifQ=="/>
</p:tagLst>
</file>

<file path=ppt/theme/theme1.xml><?xml version="1.0" encoding="utf-8"?>
<a:theme xmlns:a="http://schemas.openxmlformats.org/drawingml/2006/main" name="2_Blends">
  <a:themeElements>
    <a:clrScheme name="2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2003 - 5.1 - Functions</Template>
  <TotalTime>0</TotalTime>
  <Words>14438</Words>
  <Application>WPS 演示</Application>
  <PresentationFormat>全屏显示(4:3)</PresentationFormat>
  <Paragraphs>985</Paragraphs>
  <Slides>68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68</vt:i4>
      </vt:variant>
    </vt:vector>
  </HeadingPairs>
  <TitlesOfParts>
    <vt:vector size="116" baseType="lpstr">
      <vt:lpstr>Arial</vt:lpstr>
      <vt:lpstr>宋体</vt:lpstr>
      <vt:lpstr>Wingdings</vt:lpstr>
      <vt:lpstr>Times New Roman</vt:lpstr>
      <vt:lpstr>汉仪书宋二KW</vt:lpstr>
      <vt:lpstr>Arial Narrow</vt:lpstr>
      <vt:lpstr>Copperplate Gothic Light</vt:lpstr>
      <vt:lpstr>苹方-简</vt:lpstr>
      <vt:lpstr>Copperplate Gothic Bold</vt:lpstr>
      <vt:lpstr>Symbol</vt:lpstr>
      <vt:lpstr>Kingsoft Sign</vt:lpstr>
      <vt:lpstr>Symbol</vt:lpstr>
      <vt:lpstr>微软雅黑</vt:lpstr>
      <vt:lpstr>汉仪旗黑</vt:lpstr>
      <vt:lpstr>宋体</vt:lpstr>
      <vt:lpstr>Arial Unicode MS</vt:lpstr>
      <vt:lpstr>Euclid</vt:lpstr>
      <vt:lpstr>Euclid Extra</vt:lpstr>
      <vt:lpstr>Euclid Math Two</vt:lpstr>
      <vt:lpstr>MT Symbol</vt:lpstr>
      <vt:lpstr>DejaVu Math TeX Gyre</vt:lpstr>
      <vt:lpstr>Euclid Math One</vt:lpstr>
      <vt:lpstr>Arial Rounded MT Bold</vt:lpstr>
      <vt:lpstr>Comic Sans MS</vt:lpstr>
      <vt:lpstr>Helvetica Neue</vt:lpstr>
      <vt:lpstr>Thonburi</vt:lpstr>
      <vt:lpstr>Euclid Extra</vt:lpstr>
      <vt:lpstr>Euclid Math One</vt:lpstr>
      <vt:lpstr>Euclid Math Two</vt:lpstr>
      <vt:lpstr>MT Symbol</vt:lpstr>
      <vt:lpstr>Wingdings</vt:lpstr>
      <vt:lpstr>微软雅黑</vt:lpstr>
      <vt:lpstr>STIX Two Math</vt:lpstr>
      <vt:lpstr>2_Blends</vt:lpstr>
      <vt:lpstr>Equation.DSMT4</vt:lpstr>
      <vt:lpstr>Visio.Drawing.15</vt:lpstr>
      <vt:lpstr>Equation.DSMT4</vt:lpstr>
      <vt:lpstr>Equation.DSMT4</vt:lpstr>
      <vt:lpstr>Visio.Drawing.15</vt:lpstr>
      <vt:lpstr>Visio.Drawing.15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Visio.Drawing.15</vt:lpstr>
      <vt:lpstr>Groups – 群</vt:lpstr>
      <vt:lpstr>Definition</vt:lpstr>
      <vt:lpstr>Abelian – 阿贝尔群</vt:lpstr>
      <vt:lpstr>Example 4</vt:lpstr>
      <vt:lpstr>Example 4 - Solution</vt:lpstr>
      <vt:lpstr>Example 4 - Solution</vt:lpstr>
      <vt:lpstr>PowerPoint 演示文稿</vt:lpstr>
      <vt:lpstr>Theorem 1</vt:lpstr>
      <vt:lpstr>Theorem 2</vt:lpstr>
      <vt:lpstr>Theorem 2 - Proof</vt:lpstr>
      <vt:lpstr>Theorem 3</vt:lpstr>
      <vt:lpstr>Theorem 3 - Proof</vt:lpstr>
      <vt:lpstr>Theorem 4</vt:lpstr>
      <vt:lpstr>Finite group – 有限群</vt:lpstr>
      <vt:lpstr>Group of order 1, 2</vt:lpstr>
      <vt:lpstr>Nonisomorphic groups of order 3</vt:lpstr>
      <vt:lpstr>Groups of order 4</vt:lpstr>
      <vt:lpstr>Example 5</vt:lpstr>
      <vt:lpstr>An important group</vt:lpstr>
      <vt:lpstr>Symmetries of the triangle</vt:lpstr>
      <vt:lpstr>Symmetries of the triangle</vt:lpstr>
      <vt:lpstr>Group of symmetries of the triangle</vt:lpstr>
      <vt:lpstr>Compute f2*g2 geometrically</vt:lpstr>
      <vt:lpstr>Compute f2*g2 algebraically</vt:lpstr>
      <vt:lpstr>Example 7</vt:lpstr>
      <vt:lpstr>Subgroup – 子群</vt:lpstr>
      <vt:lpstr>Examples</vt:lpstr>
      <vt:lpstr>Example 12</vt:lpstr>
      <vt:lpstr>Theorem 5</vt:lpstr>
      <vt:lpstr>Proof  - (a) </vt:lpstr>
      <vt:lpstr>Proof  - (b) </vt:lpstr>
      <vt:lpstr>Proof  - (c) </vt:lpstr>
      <vt:lpstr>PowerPoint 演示文稿</vt:lpstr>
      <vt:lpstr>Note</vt:lpstr>
      <vt:lpstr>Example 17</vt:lpstr>
      <vt:lpstr>Cyclic group – 循环群</vt:lpstr>
      <vt:lpstr>Homework</vt:lpstr>
      <vt:lpstr>Products and Quotients of Groups</vt:lpstr>
      <vt:lpstr>Theorem 1</vt:lpstr>
      <vt:lpstr>Proof</vt:lpstr>
      <vt:lpstr>Example 1</vt:lpstr>
      <vt:lpstr>Example 1</vt:lpstr>
      <vt:lpstr>Note</vt:lpstr>
      <vt:lpstr>Example 2</vt:lpstr>
      <vt:lpstr>Theorem 2</vt:lpstr>
      <vt:lpstr>Corollary 1</vt:lpstr>
      <vt:lpstr>Corollary 2</vt:lpstr>
      <vt:lpstr>Definition</vt:lpstr>
      <vt:lpstr>Warning</vt:lpstr>
      <vt:lpstr>Note</vt:lpstr>
      <vt:lpstr>Example 3</vt:lpstr>
      <vt:lpstr>Example 3</vt:lpstr>
      <vt:lpstr>Theorem 3</vt:lpstr>
      <vt:lpstr>Proof</vt:lpstr>
      <vt:lpstr>Proof</vt:lpstr>
      <vt:lpstr>Note</vt:lpstr>
      <vt:lpstr>Theorem 4</vt:lpstr>
      <vt:lpstr>Proof (a)</vt:lpstr>
      <vt:lpstr>Proof (a)</vt:lpstr>
      <vt:lpstr>Proof (b)</vt:lpstr>
      <vt:lpstr>Note</vt:lpstr>
      <vt:lpstr>Corollary 2</vt:lpstr>
      <vt:lpstr>Example 6</vt:lpstr>
      <vt:lpstr>Homework</vt:lpstr>
      <vt:lpstr>Tips for proof</vt:lpstr>
      <vt:lpstr>Key ideas for review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杨娟</cp:lastModifiedBy>
  <cp:revision>351</cp:revision>
  <dcterms:created xsi:type="dcterms:W3CDTF">2025-10-09T06:40:43Z</dcterms:created>
  <dcterms:modified xsi:type="dcterms:W3CDTF">2025-10-09T06:40:43Z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8FFC24C66C294454BEA0F469C0EA41E5</vt:lpwstr>
  </property>
</Properties>
</file>