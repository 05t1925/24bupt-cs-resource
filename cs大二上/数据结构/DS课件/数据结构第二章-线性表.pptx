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 id="2147483822" r:id="rId2"/>
  </p:sldMasterIdLst>
  <p:notesMasterIdLst>
    <p:notesMasterId r:id="rId112"/>
  </p:notesMasterIdLst>
  <p:handoutMasterIdLst>
    <p:handoutMasterId r:id="rId113"/>
  </p:handoutMasterIdLst>
  <p:sldIdLst>
    <p:sldId id="317" r:id="rId3"/>
    <p:sldId id="318" r:id="rId4"/>
    <p:sldId id="377" r:id="rId5"/>
    <p:sldId id="378" r:id="rId6"/>
    <p:sldId id="379" r:id="rId7"/>
    <p:sldId id="380" r:id="rId8"/>
    <p:sldId id="383" r:id="rId9"/>
    <p:sldId id="384" r:id="rId10"/>
    <p:sldId id="385" r:id="rId11"/>
    <p:sldId id="386" r:id="rId12"/>
    <p:sldId id="387" r:id="rId13"/>
    <p:sldId id="388" r:id="rId14"/>
    <p:sldId id="381" r:id="rId15"/>
    <p:sldId id="382" r:id="rId16"/>
    <p:sldId id="257" r:id="rId17"/>
    <p:sldId id="258" r:id="rId18"/>
    <p:sldId id="319" r:id="rId19"/>
    <p:sldId id="320" r:id="rId20"/>
    <p:sldId id="334" r:id="rId21"/>
    <p:sldId id="260" r:id="rId22"/>
    <p:sldId id="261" r:id="rId23"/>
    <p:sldId id="262" r:id="rId24"/>
    <p:sldId id="263" r:id="rId25"/>
    <p:sldId id="264" r:id="rId26"/>
    <p:sldId id="266" r:id="rId27"/>
    <p:sldId id="267" r:id="rId28"/>
    <p:sldId id="268" r:id="rId29"/>
    <p:sldId id="269" r:id="rId30"/>
    <p:sldId id="270" r:id="rId31"/>
    <p:sldId id="375" r:id="rId32"/>
    <p:sldId id="271" r:id="rId33"/>
    <p:sldId id="329" r:id="rId34"/>
    <p:sldId id="272" r:id="rId35"/>
    <p:sldId id="273" r:id="rId36"/>
    <p:sldId id="274" r:id="rId37"/>
    <p:sldId id="275" r:id="rId38"/>
    <p:sldId id="276" r:id="rId39"/>
    <p:sldId id="277" r:id="rId40"/>
    <p:sldId id="278" r:id="rId41"/>
    <p:sldId id="279" r:id="rId42"/>
    <p:sldId id="280" r:id="rId43"/>
    <p:sldId id="330" r:id="rId44"/>
    <p:sldId id="281" r:id="rId45"/>
    <p:sldId id="282" r:id="rId46"/>
    <p:sldId id="283" r:id="rId47"/>
    <p:sldId id="284" r:id="rId48"/>
    <p:sldId id="285" r:id="rId49"/>
    <p:sldId id="331" r:id="rId50"/>
    <p:sldId id="286" r:id="rId51"/>
    <p:sldId id="332" r:id="rId52"/>
    <p:sldId id="333" r:id="rId53"/>
    <p:sldId id="287" r:id="rId54"/>
    <p:sldId id="316" r:id="rId55"/>
    <p:sldId id="288" r:id="rId56"/>
    <p:sldId id="289" r:id="rId57"/>
    <p:sldId id="338" r:id="rId58"/>
    <p:sldId id="337" r:id="rId59"/>
    <p:sldId id="340" r:id="rId60"/>
    <p:sldId id="342" r:id="rId61"/>
    <p:sldId id="343" r:id="rId62"/>
    <p:sldId id="290" r:id="rId63"/>
    <p:sldId id="291" r:id="rId64"/>
    <p:sldId id="344" r:id="rId65"/>
    <p:sldId id="345" r:id="rId66"/>
    <p:sldId id="292" r:id="rId67"/>
    <p:sldId id="365" r:id="rId68"/>
    <p:sldId id="293" r:id="rId69"/>
    <p:sldId id="294" r:id="rId70"/>
    <p:sldId id="295" r:id="rId71"/>
    <p:sldId id="346" r:id="rId72"/>
    <p:sldId id="347" r:id="rId73"/>
    <p:sldId id="348" r:id="rId74"/>
    <p:sldId id="296" r:id="rId75"/>
    <p:sldId id="297" r:id="rId76"/>
    <p:sldId id="298" r:id="rId77"/>
    <p:sldId id="349" r:id="rId78"/>
    <p:sldId id="350" r:id="rId79"/>
    <p:sldId id="351" r:id="rId80"/>
    <p:sldId id="299" r:id="rId81"/>
    <p:sldId id="300" r:id="rId82"/>
    <p:sldId id="352" r:id="rId83"/>
    <p:sldId id="353" r:id="rId84"/>
    <p:sldId id="354" r:id="rId85"/>
    <p:sldId id="355" r:id="rId86"/>
    <p:sldId id="301" r:id="rId87"/>
    <p:sldId id="302" r:id="rId88"/>
    <p:sldId id="303" r:id="rId89"/>
    <p:sldId id="304" r:id="rId90"/>
    <p:sldId id="376" r:id="rId91"/>
    <p:sldId id="305" r:id="rId92"/>
    <p:sldId id="389" r:id="rId93"/>
    <p:sldId id="390" r:id="rId94"/>
    <p:sldId id="306" r:id="rId95"/>
    <p:sldId id="307" r:id="rId96"/>
    <p:sldId id="309" r:id="rId97"/>
    <p:sldId id="308" r:id="rId98"/>
    <p:sldId id="310" r:id="rId99"/>
    <p:sldId id="311" r:id="rId100"/>
    <p:sldId id="312" r:id="rId101"/>
    <p:sldId id="314" r:id="rId102"/>
    <p:sldId id="315" r:id="rId103"/>
    <p:sldId id="360" r:id="rId104"/>
    <p:sldId id="362" r:id="rId105"/>
    <p:sldId id="363" r:id="rId106"/>
    <p:sldId id="313" r:id="rId107"/>
    <p:sldId id="356" r:id="rId108"/>
    <p:sldId id="357" r:id="rId109"/>
    <p:sldId id="358" r:id="rId110"/>
    <p:sldId id="359" r:id="rId111"/>
  </p:sldIdLst>
  <p:sldSz cx="12192000" cy="6858000"/>
  <p:notesSz cx="6797675" cy="9928225"/>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F7"/>
    <a:srgbClr val="CCCC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23" autoAdjust="0"/>
    <p:restoredTop sz="92908" autoAdjust="0"/>
  </p:normalViewPr>
  <p:slideViewPr>
    <p:cSldViewPr>
      <p:cViewPr varScale="1">
        <p:scale>
          <a:sx n="67" d="100"/>
          <a:sy n="67" d="100"/>
        </p:scale>
        <p:origin x="852" y="72"/>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ableStyles" Target="tableStyle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notesMaster" Target="notesMasters/notesMaster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handoutMaster" Target="handoutMasters/handoutMaster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143363"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143364" name="Rectangle 4"/>
          <p:cNvSpPr>
            <a:spLocks noGrp="1" noChangeArrowheads="1"/>
          </p:cNvSpPr>
          <p:nvPr>
            <p:ph type="ftr" sz="quarter" idx="2"/>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143365" name="Rectangle 5"/>
          <p:cNvSpPr>
            <a:spLocks noGrp="1" noChangeArrowheads="1"/>
          </p:cNvSpPr>
          <p:nvPr>
            <p:ph type="sldNum" sz="quarter" idx="3"/>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BDF06DE3-0C2C-4BD6-B02C-12EB0781BB6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99331" name="Rectangle 3"/>
          <p:cNvSpPr>
            <a:spLocks noGrp="1" noChangeArrowheads="1"/>
          </p:cNvSpPr>
          <p:nvPr>
            <p:ph type="dt"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25604" name="Rectangle 4"/>
          <p:cNvSpPr>
            <a:spLocks noRo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3" name="Rectangle 5"/>
          <p:cNvSpPr>
            <a:spLocks noGrp="1" noChangeArrowheads="1"/>
          </p:cNvSpPr>
          <p:nvPr>
            <p:ph type="body" sz="quarter" idx="3"/>
          </p:nvPr>
        </p:nvSpPr>
        <p:spPr bwMode="auto">
          <a:xfrm>
            <a:off x="679450" y="4716463"/>
            <a:ext cx="5438775"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99334" name="Rectangle 6"/>
          <p:cNvSpPr>
            <a:spLocks noGrp="1" noChangeArrowheads="1"/>
          </p:cNvSpPr>
          <p:nvPr>
            <p:ph type="ftr" sz="quarter" idx="4"/>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99335" name="Rectangle 7"/>
          <p:cNvSpPr>
            <a:spLocks noGrp="1" noChangeArrowheads="1"/>
          </p:cNvSpPr>
          <p:nvPr>
            <p:ph type="sldNum" sz="quarter" idx="5"/>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B90B733C-1925-4047-9A39-6D4540F8E83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6A6B929-17FE-4388-A460-F2FB9747B756}" type="slidenum">
              <a:rPr lang="en-US" altLang="zh-CN" smtClean="0"/>
              <a:pPr>
                <a:spcBef>
                  <a:spcPct val="0"/>
                </a:spcBef>
              </a:pPr>
              <a:t>12</a:t>
            </a:fld>
            <a:endParaRPr lang="en-US" altLang="zh-CN" smtClean="0"/>
          </a:p>
        </p:txBody>
      </p:sp>
      <p:sp>
        <p:nvSpPr>
          <p:cNvPr id="39939" name="Rectangle 2"/>
          <p:cNvSpPr>
            <a:spLocks noRo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7285843-9FD2-49DB-85EB-C38F4B186FFE}" type="slidenum">
              <a:rPr lang="en-US" altLang="zh-CN" smtClean="0"/>
              <a:pPr>
                <a:spcBef>
                  <a:spcPct val="0"/>
                </a:spcBef>
              </a:pPr>
              <a:t>17</a:t>
            </a:fld>
            <a:endParaRPr lang="en-US" altLang="zh-CN" smtClean="0"/>
          </a:p>
        </p:txBody>
      </p:sp>
      <p:sp>
        <p:nvSpPr>
          <p:cNvPr id="46083" name="Rectangle 2"/>
          <p:cNvSpPr>
            <a:spLocks noRo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C88AF98-E3CB-4C3B-AAF3-F6E51AB91108}" type="slidenum">
              <a:rPr lang="en-US" altLang="zh-CN" smtClean="0"/>
              <a:pPr>
                <a:spcBef>
                  <a:spcPct val="0"/>
                </a:spcBef>
              </a:pPr>
              <a:t>21</a:t>
            </a:fld>
            <a:endParaRPr lang="en-US" altLang="zh-CN" smtClean="0"/>
          </a:p>
        </p:txBody>
      </p:sp>
      <p:sp>
        <p:nvSpPr>
          <p:cNvPr id="51203" name="Rectangle 2"/>
          <p:cNvSpPr>
            <a:spLocks noRo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0C2A260-E418-402B-B47B-49D36C59D19E}" type="slidenum">
              <a:rPr lang="en-US" altLang="zh-CN" smtClean="0"/>
              <a:pPr>
                <a:spcBef>
                  <a:spcPct val="0"/>
                </a:spcBef>
              </a:pPr>
              <a:t>39</a:t>
            </a:fld>
            <a:endParaRPr lang="en-US" altLang="zh-CN" smtClean="0"/>
          </a:p>
        </p:txBody>
      </p:sp>
      <p:sp>
        <p:nvSpPr>
          <p:cNvPr id="70659" name="Rectangle 2"/>
          <p:cNvSpPr>
            <a:spLocks noRo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Arial" panose="020B0604020202020204" pitchFamily="34" charset="0"/>
            </a:endParaRPr>
          </a:p>
        </p:txBody>
      </p:sp>
      <p:sp>
        <p:nvSpPr>
          <p:cNvPr id="747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A8830EF-AE5C-4A58-A347-7E37CB87ABDE}" type="slidenum">
              <a:rPr lang="en-US" altLang="zh-CN" smtClean="0">
                <a:latin typeface="Arial" panose="020B0604020202020204" pitchFamily="34" charset="0"/>
              </a:rPr>
              <a:pPr/>
              <a:t>42</a:t>
            </a:fld>
            <a:endParaRPr lang="en-US"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Arial" panose="020B0604020202020204" pitchFamily="34" charset="0"/>
            </a:endParaRPr>
          </a:p>
        </p:txBody>
      </p:sp>
      <p:sp>
        <p:nvSpPr>
          <p:cNvPr id="778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7C3499F-0E6D-45FF-8C3A-C13AA3229A50}" type="slidenum">
              <a:rPr lang="en-US" altLang="zh-CN" smtClean="0"/>
              <a:pPr>
                <a:spcBef>
                  <a:spcPct val="0"/>
                </a:spcBef>
              </a:pPr>
              <a:t>44</a:t>
            </a:fld>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55A353F-74A1-4831-A5E0-3D980641F021}" type="slidenum">
              <a:rPr lang="en-US" altLang="zh-CN" smtClean="0"/>
              <a:pPr>
                <a:spcBef>
                  <a:spcPct val="0"/>
                </a:spcBef>
              </a:pPr>
              <a:t>47</a:t>
            </a:fld>
            <a:endParaRPr lang="en-US" altLang="zh-CN" smtClean="0"/>
          </a:p>
        </p:txBody>
      </p:sp>
      <p:sp>
        <p:nvSpPr>
          <p:cNvPr id="81923" name="Rectangle 2"/>
          <p:cNvSpPr>
            <a:spLocks noRo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kumimoji="1" lang="zh-CN" altLang="en-US"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44FF11A-D575-4623-819C-88F6D7B638B5}" type="slidenum">
              <a:rPr lang="en-US" altLang="zh-CN" smtClean="0"/>
              <a:pPr>
                <a:spcBef>
                  <a:spcPct val="0"/>
                </a:spcBef>
              </a:pPr>
              <a:t>49</a:t>
            </a:fld>
            <a:endParaRPr lang="en-US" altLang="zh-CN" smtClean="0"/>
          </a:p>
        </p:txBody>
      </p:sp>
      <p:sp>
        <p:nvSpPr>
          <p:cNvPr id="84995" name="Rectangle 2"/>
          <p:cNvSpPr>
            <a:spLocks noRo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Arial" panose="020B0604020202020204" pitchFamily="34" charset="0"/>
            </a:endParaRPr>
          </a:p>
        </p:txBody>
      </p:sp>
      <p:sp>
        <p:nvSpPr>
          <p:cNvPr id="1054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B0F552F-C72B-4BA2-ABD1-5B4948D78C88}" type="slidenum">
              <a:rPr lang="en-US" altLang="zh-CN" smtClean="0"/>
              <a:pPr>
                <a:spcBef>
                  <a:spcPct val="0"/>
                </a:spcBef>
              </a:pPr>
              <a:t>68</a:t>
            </a:fld>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1177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Arial" panose="020B0604020202020204" pitchFamily="34" charset="0"/>
            </a:endParaRPr>
          </a:p>
        </p:txBody>
      </p:sp>
      <p:sp>
        <p:nvSpPr>
          <p:cNvPr id="1177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0EA8030-3BEC-47D6-89FF-CD557C3EA13C}" type="slidenum">
              <a:rPr lang="en-US" altLang="zh-CN" smtClean="0">
                <a:latin typeface="Arial" panose="020B0604020202020204" pitchFamily="34" charset="0"/>
              </a:rPr>
              <a:pPr/>
              <a:t>79</a:t>
            </a:fld>
            <a:endParaRPr lang="en-US"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6EB83CB-DEC6-4E8E-9278-FB17D059E8D0}" type="slidenum">
              <a:rPr lang="en-US" altLang="zh-CN" smtClean="0"/>
              <a:pPr>
                <a:spcBef>
                  <a:spcPct val="0"/>
                </a:spcBef>
              </a:pPr>
              <a:t>101</a:t>
            </a:fld>
            <a:endParaRPr lang="en-US" altLang="zh-CN" smtClean="0"/>
          </a:p>
        </p:txBody>
      </p:sp>
      <p:sp>
        <p:nvSpPr>
          <p:cNvPr id="141315" name="Rectangle 2"/>
          <p:cNvSpPr>
            <a:spLocks noRo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3375"/>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smtClean="0"/>
              <a:t>单击以编辑母版副标题样式</a:t>
            </a:r>
            <a:endParaRPr lang="zh-CN" altLang="en-US"/>
          </a:p>
        </p:txBody>
      </p:sp>
    </p:spTree>
    <p:extLst>
      <p:ext uri="{BB962C8B-B14F-4D97-AF65-F5344CB8AC3E}">
        <p14:creationId xmlns:p14="http://schemas.microsoft.com/office/powerpoint/2010/main" val="1527694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7"/>
          <p:cNvSpPr>
            <a:spLocks noChangeShapeType="1"/>
          </p:cNvSpPr>
          <p:nvPr userDrawn="1"/>
        </p:nvSpPr>
        <p:spPr bwMode="auto">
          <a:xfrm>
            <a:off x="527050" y="1196975"/>
            <a:ext cx="2954338" cy="0"/>
          </a:xfrm>
          <a:prstGeom prst="line">
            <a:avLst/>
          </a:prstGeom>
          <a:noFill/>
          <a:ln w="44450" cmpd="sng">
            <a:solidFill>
              <a:schemeClr val="accent1">
                <a:lumMod val="40000"/>
                <a:lumOff val="60000"/>
              </a:schemeClr>
            </a:solidFill>
            <a:prstDash val="solid"/>
            <a:round/>
            <a:headEnd/>
            <a:tailEnd/>
          </a:ln>
          <a:extLst>
            <a:ext uri="{909E8E84-426E-40DD-AFC4-6F175D3DCCD1}">
              <a14:hiddenFill xmlns:a14="http://schemas.microsoft.com/office/drawing/2010/main">
                <a:noFill/>
              </a14:hiddenFill>
            </a:ext>
          </a:extLst>
        </p:spPr>
        <p:txBody>
          <a:bodyPr/>
          <a:lstStyle/>
          <a:p>
            <a:pPr defTabSz="514350">
              <a:defRPr/>
            </a:pPr>
            <a:endParaRPr lang="zh-CN" altLang="en-US" sz="1013">
              <a:solidFill>
                <a:prstClr val="black"/>
              </a:solidFill>
            </a:endParaRPr>
          </a:p>
        </p:txBody>
      </p:sp>
      <p:sp>
        <p:nvSpPr>
          <p:cNvPr id="2" name="标题 1"/>
          <p:cNvSpPr>
            <a:spLocks noGrp="1"/>
          </p:cNvSpPr>
          <p:nvPr>
            <p:ph type="title"/>
          </p:nvPr>
        </p:nvSpPr>
        <p:spPr>
          <a:xfrm>
            <a:off x="527381" y="260653"/>
            <a:ext cx="10515600" cy="777379"/>
          </a:xfrm>
        </p:spPr>
        <p:txBody>
          <a:bodyPr/>
          <a:lstStyle>
            <a:lvl1pPr>
              <a:defRPr sz="1800" b="1" i="0" baseline="0">
                <a:solidFill>
                  <a:srgbClr val="002060"/>
                </a:solidFill>
                <a:latin typeface="隶书" panose="02010509060101010101" pitchFamily="49" charset="-122"/>
                <a:ea typeface="隶书" panose="020105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527381" y="1589782"/>
            <a:ext cx="10515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130400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3"/>
            <a:ext cx="10515600" cy="2852737"/>
          </a:xfrm>
        </p:spPr>
        <p:txBody>
          <a:bodyPr anchor="b"/>
          <a:lstStyle>
            <a:lvl1pPr>
              <a:defRPr sz="3375"/>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8"/>
            <a:ext cx="10515600" cy="150018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59D9EE97-9978-4F29-8DB4-06164E371C34}" type="datetimeFigureOut">
              <a:rPr lang="zh-CN" altLang="en-US"/>
              <a:pPr>
                <a:defRPr/>
              </a:pPr>
              <a:t>2025/9/16</a:t>
            </a:fld>
            <a:endParaRPr lang="zh-CN" altLang="en-US"/>
          </a:p>
        </p:txBody>
      </p:sp>
      <p:sp>
        <p:nvSpPr>
          <p:cNvPr id="5" name="页脚占位符 4"/>
          <p:cNvSpPr>
            <a:spLocks noGrp="1"/>
          </p:cNvSpPr>
          <p:nvPr>
            <p:ph type="ftr" sz="quarter" idx="11"/>
          </p:nvPr>
        </p:nvSpPr>
        <p:spPr>
          <a:xfrm>
            <a:off x="4078288" y="6492875"/>
            <a:ext cx="3692525"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8401050" y="6205538"/>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46FC0A09-E664-4E3D-94D6-EB3819028135}" type="slidenum">
              <a:rPr lang="zh-CN" altLang="en-US"/>
              <a:pPr>
                <a:defRPr/>
              </a:pPr>
              <a:t>‹#›</a:t>
            </a:fld>
            <a:endParaRPr lang="zh-CN" altLang="en-US"/>
          </a:p>
        </p:txBody>
      </p:sp>
    </p:spTree>
    <p:extLst>
      <p:ext uri="{BB962C8B-B14F-4D97-AF65-F5344CB8AC3E}">
        <p14:creationId xmlns:p14="http://schemas.microsoft.com/office/powerpoint/2010/main" val="2826247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5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825625"/>
            <a:ext cx="515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AE50A951-3123-46EA-ABEC-1EE8F7C3CEA1}" type="datetimeFigureOut">
              <a:rPr lang="zh-CN" altLang="en-US"/>
              <a:pPr>
                <a:defRPr/>
              </a:pPr>
              <a:t>2025/9/16</a:t>
            </a:fld>
            <a:endParaRPr lang="zh-CN" altLang="en-US"/>
          </a:p>
        </p:txBody>
      </p:sp>
      <p:sp>
        <p:nvSpPr>
          <p:cNvPr id="6" name="页脚占位符 5"/>
          <p:cNvSpPr>
            <a:spLocks noGrp="1"/>
          </p:cNvSpPr>
          <p:nvPr>
            <p:ph type="ftr" sz="quarter" idx="11"/>
          </p:nvPr>
        </p:nvSpPr>
        <p:spPr>
          <a:xfrm>
            <a:off x="4078288" y="6492875"/>
            <a:ext cx="3692525" cy="365125"/>
          </a:xfrm>
          <a:prstGeom prst="rect">
            <a:avLst/>
          </a:prstGeom>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a:xfrm>
            <a:off x="8401050" y="6205538"/>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3DDE76ED-63FF-42B9-9B73-EF5577668E79}" type="slidenum">
              <a:rPr lang="zh-CN" altLang="en-US"/>
              <a:pPr>
                <a:defRPr/>
              </a:pPr>
              <a:t>‹#›</a:t>
            </a:fld>
            <a:endParaRPr lang="zh-CN" altLang="en-US"/>
          </a:p>
        </p:txBody>
      </p:sp>
    </p:spTree>
    <p:extLst>
      <p:ext uri="{BB962C8B-B14F-4D97-AF65-F5344CB8AC3E}">
        <p14:creationId xmlns:p14="http://schemas.microsoft.com/office/powerpoint/2010/main" val="2214247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9"/>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9" y="1681163"/>
            <a:ext cx="5158316" cy="82391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smtClean="0"/>
              <a:t>编辑母版文本样式</a:t>
            </a:r>
          </a:p>
        </p:txBody>
      </p:sp>
      <p:sp>
        <p:nvSpPr>
          <p:cNvPr id="4" name="内容占位符 3"/>
          <p:cNvSpPr>
            <a:spLocks noGrp="1"/>
          </p:cNvSpPr>
          <p:nvPr>
            <p:ph sz="half" idx="2"/>
          </p:nvPr>
        </p:nvSpPr>
        <p:spPr>
          <a:xfrm>
            <a:off x="840319" y="2505075"/>
            <a:ext cx="5158316"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37E83594-5692-4465-9A3F-5AC686DD5729}" type="datetimeFigureOut">
              <a:rPr lang="zh-CN" altLang="en-US"/>
              <a:pPr>
                <a:defRPr/>
              </a:pPr>
              <a:t>2025/9/16</a:t>
            </a:fld>
            <a:endParaRPr lang="zh-CN" altLang="en-US"/>
          </a:p>
        </p:txBody>
      </p:sp>
      <p:sp>
        <p:nvSpPr>
          <p:cNvPr id="8" name="页脚占位符 7"/>
          <p:cNvSpPr>
            <a:spLocks noGrp="1"/>
          </p:cNvSpPr>
          <p:nvPr>
            <p:ph type="ftr" sz="quarter" idx="11"/>
          </p:nvPr>
        </p:nvSpPr>
        <p:spPr>
          <a:xfrm>
            <a:off x="4078288" y="6492875"/>
            <a:ext cx="3692525" cy="365125"/>
          </a:xfrm>
          <a:prstGeom prst="rect">
            <a:avLst/>
          </a:prstGeom>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a:xfrm>
            <a:off x="8401050" y="6205538"/>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4CD99792-D6A8-4417-B926-FF22FDFAA57B}" type="slidenum">
              <a:rPr lang="zh-CN" altLang="en-US"/>
              <a:pPr>
                <a:defRPr/>
              </a:pPr>
              <a:t>‹#›</a:t>
            </a:fld>
            <a:endParaRPr lang="zh-CN" altLang="en-US"/>
          </a:p>
        </p:txBody>
      </p:sp>
    </p:spTree>
    <p:extLst>
      <p:ext uri="{BB962C8B-B14F-4D97-AF65-F5344CB8AC3E}">
        <p14:creationId xmlns:p14="http://schemas.microsoft.com/office/powerpoint/2010/main" val="3084727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DD32A2CF-4C63-4AD7-B467-80D4E547329A}" type="datetimeFigureOut">
              <a:rPr lang="zh-CN" altLang="en-US"/>
              <a:pPr>
                <a:defRPr/>
              </a:pPr>
              <a:t>2025/9/16</a:t>
            </a:fld>
            <a:endParaRPr lang="zh-CN" altLang="en-US"/>
          </a:p>
        </p:txBody>
      </p:sp>
      <p:sp>
        <p:nvSpPr>
          <p:cNvPr id="4" name="页脚占位符 3"/>
          <p:cNvSpPr>
            <a:spLocks noGrp="1"/>
          </p:cNvSpPr>
          <p:nvPr>
            <p:ph type="ftr" sz="quarter" idx="11"/>
          </p:nvPr>
        </p:nvSpPr>
        <p:spPr>
          <a:xfrm>
            <a:off x="4078288" y="6492875"/>
            <a:ext cx="3692525" cy="365125"/>
          </a:xfrm>
          <a:prstGeom prst="rect">
            <a:avLst/>
          </a:prstGeom>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a:xfrm>
            <a:off x="8401050" y="6205538"/>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814C2C7E-940C-4B77-9418-A200045836F2}" type="slidenum">
              <a:rPr lang="zh-CN" altLang="en-US"/>
              <a:pPr>
                <a:defRPr/>
              </a:pPr>
              <a:t>‹#›</a:t>
            </a:fld>
            <a:endParaRPr lang="zh-CN" altLang="en-US"/>
          </a:p>
        </p:txBody>
      </p:sp>
    </p:spTree>
    <p:extLst>
      <p:ext uri="{BB962C8B-B14F-4D97-AF65-F5344CB8AC3E}">
        <p14:creationId xmlns:p14="http://schemas.microsoft.com/office/powerpoint/2010/main" val="2652836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Line 7"/>
          <p:cNvSpPr>
            <a:spLocks noChangeShapeType="1"/>
          </p:cNvSpPr>
          <p:nvPr userDrawn="1"/>
        </p:nvSpPr>
        <p:spPr bwMode="auto">
          <a:xfrm>
            <a:off x="527050" y="1196975"/>
            <a:ext cx="2954338" cy="0"/>
          </a:xfrm>
          <a:prstGeom prst="line">
            <a:avLst/>
          </a:prstGeom>
          <a:noFill/>
          <a:ln w="44450" cmpd="sng">
            <a:solidFill>
              <a:schemeClr val="accent1">
                <a:lumMod val="40000"/>
                <a:lumOff val="60000"/>
              </a:schemeClr>
            </a:solidFill>
            <a:prstDash val="solid"/>
            <a:round/>
            <a:headEnd/>
            <a:tailEnd/>
          </a:ln>
          <a:extLst>
            <a:ext uri="{909E8E84-426E-40DD-AFC4-6F175D3DCCD1}">
              <a14:hiddenFill xmlns:a14="http://schemas.microsoft.com/office/drawing/2010/main">
                <a:noFill/>
              </a14:hiddenFill>
            </a:ext>
          </a:extLst>
        </p:spPr>
        <p:txBody>
          <a:bodyPr/>
          <a:lstStyle/>
          <a:p>
            <a:pPr defTabSz="514350">
              <a:defRPr/>
            </a:pPr>
            <a:endParaRPr lang="zh-CN" altLang="en-US" sz="1013">
              <a:solidFill>
                <a:prstClr val="black"/>
              </a:solidFill>
            </a:endParaRPr>
          </a:p>
        </p:txBody>
      </p:sp>
      <p:sp>
        <p:nvSpPr>
          <p:cNvPr id="3" name="页脚占位符 2"/>
          <p:cNvSpPr>
            <a:spLocks noGrp="1"/>
          </p:cNvSpPr>
          <p:nvPr>
            <p:ph type="ftr" sz="quarter" idx="10"/>
          </p:nvPr>
        </p:nvSpPr>
        <p:spPr>
          <a:xfrm>
            <a:off x="4078288" y="6492875"/>
            <a:ext cx="3692525" cy="365125"/>
          </a:xfrm>
          <a:prstGeom prst="rect">
            <a:avLst/>
          </a:prstGeom>
        </p:spPr>
        <p:txBody>
          <a:bodyPr/>
          <a:lstStyle>
            <a:lvl1pPr>
              <a:defRPr/>
            </a:lvl1pPr>
          </a:lstStyle>
          <a:p>
            <a:pPr>
              <a:defRPr/>
            </a:pPr>
            <a:endParaRPr lang="zh-CN" altLang="en-US"/>
          </a:p>
        </p:txBody>
      </p:sp>
    </p:spTree>
    <p:extLst>
      <p:ext uri="{BB962C8B-B14F-4D97-AF65-F5344CB8AC3E}">
        <p14:creationId xmlns:p14="http://schemas.microsoft.com/office/powerpoint/2010/main" val="386880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21" y="457200"/>
            <a:ext cx="3932767" cy="1600200"/>
          </a:xfrm>
        </p:spPr>
        <p:txBody>
          <a:bodyPr anchor="b"/>
          <a:lstStyle>
            <a:lvl1pPr>
              <a:defRPr sz="18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30"/>
            <a:ext cx="6172200" cy="487362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21" y="2057400"/>
            <a:ext cx="3932767" cy="3811588"/>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zh-CN" altLang="en-US" smtClean="0"/>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BB5B0DF4-16FA-4AB1-8839-A8ABB87AFE13}" type="datetimeFigureOut">
              <a:rPr lang="zh-CN" altLang="en-US"/>
              <a:pPr>
                <a:defRPr/>
              </a:pPr>
              <a:t>2025/9/16</a:t>
            </a:fld>
            <a:endParaRPr lang="zh-CN" altLang="en-US"/>
          </a:p>
        </p:txBody>
      </p:sp>
      <p:sp>
        <p:nvSpPr>
          <p:cNvPr id="6" name="页脚占位符 5"/>
          <p:cNvSpPr>
            <a:spLocks noGrp="1"/>
          </p:cNvSpPr>
          <p:nvPr>
            <p:ph type="ftr" sz="quarter" idx="11"/>
          </p:nvPr>
        </p:nvSpPr>
        <p:spPr>
          <a:xfrm>
            <a:off x="4078288" y="6492875"/>
            <a:ext cx="3692525" cy="365125"/>
          </a:xfrm>
          <a:prstGeom prst="rect">
            <a:avLst/>
          </a:prstGeom>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a:xfrm>
            <a:off x="8401050" y="6205538"/>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C18B9B35-3624-45ED-89A3-BC694A72D653}" type="slidenum">
              <a:rPr lang="zh-CN" altLang="en-US"/>
              <a:pPr>
                <a:defRPr/>
              </a:pPr>
              <a:t>‹#›</a:t>
            </a:fld>
            <a:endParaRPr lang="zh-CN" altLang="en-US"/>
          </a:p>
        </p:txBody>
      </p:sp>
    </p:spTree>
    <p:extLst>
      <p:ext uri="{BB962C8B-B14F-4D97-AF65-F5344CB8AC3E}">
        <p14:creationId xmlns:p14="http://schemas.microsoft.com/office/powerpoint/2010/main" val="3983764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21" y="457200"/>
            <a:ext cx="3932767" cy="1600200"/>
          </a:xfrm>
        </p:spPr>
        <p:txBody>
          <a:bodyPr anchor="b"/>
          <a:lstStyle>
            <a:lvl1pPr>
              <a:defRPr sz="18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30"/>
            <a:ext cx="6172200" cy="4873625"/>
          </a:xfrm>
        </p:spPr>
        <p:txBody>
          <a:bodyPr rtlCol="0">
            <a:normAutofit/>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endParaRPr lang="zh-CN" altLang="en-US" noProof="0" smtClean="0"/>
          </a:p>
        </p:txBody>
      </p:sp>
      <p:sp>
        <p:nvSpPr>
          <p:cNvPr id="4" name="文本占位符 3"/>
          <p:cNvSpPr>
            <a:spLocks noGrp="1"/>
          </p:cNvSpPr>
          <p:nvPr>
            <p:ph type="body" sz="half" idx="2"/>
          </p:nvPr>
        </p:nvSpPr>
        <p:spPr>
          <a:xfrm>
            <a:off x="840321" y="2057400"/>
            <a:ext cx="3932767" cy="3811588"/>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zh-CN" altLang="en-US" smtClean="0"/>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6BACA25A-728C-4110-9188-50C0203AAB40}" type="datetimeFigureOut">
              <a:rPr lang="zh-CN" altLang="en-US"/>
              <a:pPr>
                <a:defRPr/>
              </a:pPr>
              <a:t>2025/9/16</a:t>
            </a:fld>
            <a:endParaRPr lang="zh-CN" altLang="en-US"/>
          </a:p>
        </p:txBody>
      </p:sp>
      <p:sp>
        <p:nvSpPr>
          <p:cNvPr id="6" name="页脚占位符 5"/>
          <p:cNvSpPr>
            <a:spLocks noGrp="1"/>
          </p:cNvSpPr>
          <p:nvPr>
            <p:ph type="ftr" sz="quarter" idx="11"/>
          </p:nvPr>
        </p:nvSpPr>
        <p:spPr>
          <a:xfrm>
            <a:off x="4078288" y="6492875"/>
            <a:ext cx="3692525" cy="365125"/>
          </a:xfrm>
          <a:prstGeom prst="rect">
            <a:avLst/>
          </a:prstGeom>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a:xfrm>
            <a:off x="8401050" y="6205538"/>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411FD51A-8D92-4C6F-BCB5-C6041D3D76F4}" type="slidenum">
              <a:rPr lang="zh-CN" altLang="en-US"/>
              <a:pPr>
                <a:defRPr/>
              </a:pPr>
              <a:t>‹#›</a:t>
            </a:fld>
            <a:endParaRPr lang="zh-CN" altLang="en-US"/>
          </a:p>
        </p:txBody>
      </p:sp>
    </p:spTree>
    <p:extLst>
      <p:ext uri="{BB962C8B-B14F-4D97-AF65-F5344CB8AC3E}">
        <p14:creationId xmlns:p14="http://schemas.microsoft.com/office/powerpoint/2010/main" val="1661692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E960E8DE-258C-43A9-97DB-22E3B42AC3AF}" type="datetimeFigureOut">
              <a:rPr lang="zh-CN" altLang="en-US"/>
              <a:pPr>
                <a:defRPr/>
              </a:pPr>
              <a:t>2025/9/16</a:t>
            </a:fld>
            <a:endParaRPr lang="zh-CN" altLang="en-US"/>
          </a:p>
        </p:txBody>
      </p:sp>
      <p:sp>
        <p:nvSpPr>
          <p:cNvPr id="5" name="页脚占位符 4"/>
          <p:cNvSpPr>
            <a:spLocks noGrp="1"/>
          </p:cNvSpPr>
          <p:nvPr>
            <p:ph type="ftr" sz="quarter" idx="11"/>
          </p:nvPr>
        </p:nvSpPr>
        <p:spPr>
          <a:xfrm>
            <a:off x="4078288" y="6492875"/>
            <a:ext cx="3692525"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8401050" y="6205538"/>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36A0EF4D-220C-499A-A526-01FE4ECE753C}" type="slidenum">
              <a:rPr lang="zh-CN" altLang="en-US"/>
              <a:pPr>
                <a:defRPr/>
              </a:pPr>
              <a:t>‹#›</a:t>
            </a:fld>
            <a:endParaRPr lang="zh-CN" altLang="en-US"/>
          </a:p>
        </p:txBody>
      </p:sp>
    </p:spTree>
    <p:extLst>
      <p:ext uri="{BB962C8B-B14F-4D97-AF65-F5344CB8AC3E}">
        <p14:creationId xmlns:p14="http://schemas.microsoft.com/office/powerpoint/2010/main" val="613762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3" y="365125"/>
            <a:ext cx="76835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22BEB496-FA9E-435B-90D2-7B52EE306CBC}" type="datetimeFigureOut">
              <a:rPr lang="zh-CN" altLang="en-US"/>
              <a:pPr>
                <a:defRPr/>
              </a:pPr>
              <a:t>2025/9/16</a:t>
            </a:fld>
            <a:endParaRPr lang="zh-CN" altLang="en-US"/>
          </a:p>
        </p:txBody>
      </p:sp>
      <p:sp>
        <p:nvSpPr>
          <p:cNvPr id="5" name="页脚占位符 4"/>
          <p:cNvSpPr>
            <a:spLocks noGrp="1"/>
          </p:cNvSpPr>
          <p:nvPr>
            <p:ph type="ftr" sz="quarter" idx="11"/>
          </p:nvPr>
        </p:nvSpPr>
        <p:spPr>
          <a:xfrm>
            <a:off x="4078288" y="6492875"/>
            <a:ext cx="3692525"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8401050" y="6205538"/>
            <a:ext cx="2743200" cy="365125"/>
          </a:xfrm>
          <a:prstGeom prst="rect">
            <a:avLst/>
          </a:prstGeom>
        </p:spPr>
        <p:txBody>
          <a:bodyPr/>
          <a:lstStyle>
            <a:lvl1pPr>
              <a:defRPr sz="1013">
                <a:solidFill>
                  <a:prstClr val="black"/>
                </a:solidFill>
                <a:latin typeface="Verdana" panose="020B0604030504040204" pitchFamily="34" charset="0"/>
                <a:ea typeface="宋体" panose="02010600030101010101" pitchFamily="2" charset="-122"/>
              </a:defRPr>
            </a:lvl1pPr>
          </a:lstStyle>
          <a:p>
            <a:pPr>
              <a:defRPr/>
            </a:pPr>
            <a:fld id="{C5679D96-0D84-4564-A2EE-5E1C345A749B}" type="slidenum">
              <a:rPr lang="zh-CN" altLang="en-US"/>
              <a:pPr>
                <a:defRPr/>
              </a:pPr>
              <a:t>‹#›</a:t>
            </a:fld>
            <a:endParaRPr lang="zh-CN" altLang="en-US"/>
          </a:p>
        </p:txBody>
      </p:sp>
    </p:spTree>
    <p:extLst>
      <p:ext uri="{BB962C8B-B14F-4D97-AF65-F5344CB8AC3E}">
        <p14:creationId xmlns:p14="http://schemas.microsoft.com/office/powerpoint/2010/main" val="1419978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27052" y="260350"/>
            <a:ext cx="11040533" cy="61356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200826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14917" y="260350"/>
            <a:ext cx="103632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27053" y="1628780"/>
            <a:ext cx="5418667" cy="47672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48917" y="1628780"/>
            <a:ext cx="5418667" cy="47672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336855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14917" y="260350"/>
            <a:ext cx="103632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527052" y="1628780"/>
            <a:ext cx="11040533" cy="4767263"/>
          </a:xfrm>
        </p:spPr>
        <p:txBody>
          <a:bodyPr/>
          <a:lstStyle/>
          <a:p>
            <a:pPr lvl="0"/>
            <a:endParaRPr lang="zh-CN" altLang="en-US" noProof="0" smtClean="0"/>
          </a:p>
        </p:txBody>
      </p:sp>
    </p:spTree>
    <p:extLst>
      <p:ext uri="{BB962C8B-B14F-4D97-AF65-F5344CB8AC3E}">
        <p14:creationId xmlns:p14="http://schemas.microsoft.com/office/powerpoint/2010/main" val="2216390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二级标题-三级标题-左边图右边文字">
    <p:spTree>
      <p:nvGrpSpPr>
        <p:cNvPr id="1" name=""/>
        <p:cNvGrpSpPr/>
        <p:nvPr/>
      </p:nvGrpSpPr>
      <p:grpSpPr>
        <a:xfrm>
          <a:off x="0" y="0"/>
          <a:ext cx="0" cy="0"/>
          <a:chOff x="0" y="0"/>
          <a:chExt cx="0" cy="0"/>
        </a:xfrm>
      </p:grpSpPr>
      <p:sp>
        <p:nvSpPr>
          <p:cNvPr id="19" name="文本占位符 21"/>
          <p:cNvSpPr>
            <a:spLocks noGrp="1"/>
          </p:cNvSpPr>
          <p:nvPr>
            <p:ph type="body" sz="quarter" idx="16"/>
          </p:nvPr>
        </p:nvSpPr>
        <p:spPr>
          <a:xfrm>
            <a:off x="609601" y="1303602"/>
            <a:ext cx="5236571" cy="383182"/>
          </a:xfrm>
          <a:prstGeom prst="rect">
            <a:avLst/>
          </a:prstGeom>
        </p:spPr>
        <p:txBody>
          <a:bodyPr anchor="ctr" anchorCtr="1">
            <a:spAutoFit/>
          </a:bodyPr>
          <a:lstStyle>
            <a:lvl1pPr marL="0" marR="0" indent="0" algn="ctr" defTabSz="344240" rtl="0" fontAlgn="auto" latinLnBrk="0" hangingPunct="0">
              <a:lnSpc>
                <a:spcPct val="140000"/>
              </a:lnSpc>
              <a:spcBef>
                <a:spcPts val="0"/>
              </a:spcBef>
              <a:spcAft>
                <a:spcPts val="0"/>
              </a:spcAft>
              <a:buClrTx/>
              <a:buSzTx/>
              <a:buFontTx/>
              <a:buNone/>
              <a:tabLst/>
              <a:defRPr kumimoji="0" lang="zh-CN" altLang="en-US" sz="1350" b="0" i="0" u="none" strike="noStrike" cap="none" spc="0" normalizeH="0" baseline="0" dirty="0">
                <a:ln>
                  <a:noFill/>
                </a:ln>
                <a:solidFill>
                  <a:srgbClr val="5E5E5E"/>
                </a:solidFill>
                <a:effectLst/>
                <a:uFillTx/>
                <a:latin typeface="HYRunYuan-45W ExtraLight"/>
                <a:ea typeface="HYRunYuan-45W ExtraLight"/>
                <a:cs typeface="HYRunYuan-45W ExtraLight"/>
                <a:sym typeface="HYRunYuan-45W ExtraLight"/>
              </a:defRPr>
            </a:lvl1pPr>
          </a:lstStyle>
          <a:p>
            <a:pPr lvl="0"/>
            <a:r>
              <a:rPr lang="zh-CN" altLang="en-US" smtClean="0"/>
              <a:t>编辑母版文本样式</a:t>
            </a:r>
          </a:p>
        </p:txBody>
      </p:sp>
      <p:sp>
        <p:nvSpPr>
          <p:cNvPr id="21" name="图片占位符 13"/>
          <p:cNvSpPr>
            <a:spLocks noGrp="1"/>
          </p:cNvSpPr>
          <p:nvPr>
            <p:ph type="pic" sz="quarter" idx="11"/>
          </p:nvPr>
        </p:nvSpPr>
        <p:spPr>
          <a:xfrm>
            <a:off x="1921009" y="2559878"/>
            <a:ext cx="2367643" cy="1993839"/>
          </a:xfrm>
          <a:prstGeom prst="rect">
            <a:avLst/>
          </a:prstGeom>
          <a:ln w="12700">
            <a:miter lim="400000"/>
          </a:ln>
          <a:effectLst>
            <a:reflection stA="50000" endPos="40000" dir="5400000" sy="-100000" algn="bl" rotWithShape="0"/>
          </a:effectLst>
        </p:spPr>
        <p:txBody>
          <a:bodyPr/>
          <a:lstStyle>
            <a:lvl1pPr marL="0" indent="0">
              <a:buFont typeface="Arial" charset="0"/>
              <a:buNone/>
              <a:defRPr/>
            </a:lvl1pPr>
          </a:lstStyle>
          <a:p>
            <a:pPr lvl="0"/>
            <a:r>
              <a:rPr lang="zh-CN" altLang="en-US" noProof="0" smtClean="0"/>
              <a:t>单击图标添加图片</a:t>
            </a:r>
            <a:endParaRPr lang="zh-CN" altLang="en-US" noProof="0" dirty="0"/>
          </a:p>
        </p:txBody>
      </p:sp>
      <p:sp>
        <p:nvSpPr>
          <p:cNvPr id="22" name="文本占位符 17"/>
          <p:cNvSpPr>
            <a:spLocks noGrp="1"/>
          </p:cNvSpPr>
          <p:nvPr>
            <p:ph type="body" sz="quarter" idx="14"/>
          </p:nvPr>
        </p:nvSpPr>
        <p:spPr>
          <a:xfrm>
            <a:off x="5446538" y="3438581"/>
            <a:ext cx="4818371" cy="242887"/>
          </a:xfrm>
          <a:prstGeom prst="rect">
            <a:avLst/>
          </a:prstGeom>
          <a:ln w="12700">
            <a:miter lim="400000"/>
          </a:ln>
        </p:spPr>
        <p:txBody>
          <a:bodyPr lIns="50800" tIns="50800" rIns="50800" bIns="50800" anchor="ctr">
            <a:spAutoFit/>
          </a:bodyPr>
          <a:lstStyle>
            <a:lvl1pPr marL="144661" indent="-144661" algn="ctr">
              <a:buFont typeface="Arial" charset="0"/>
              <a:buNone/>
              <a:defRPr kumimoji="0" lang="zh-CN" altLang="en-US" sz="1013" normalizeH="0" dirty="0">
                <a:solidFill>
                  <a:srgbClr val="535353"/>
                </a:solidFill>
                <a:effectLst/>
                <a:latin typeface="HYRunYuan-45W ExtraLight"/>
                <a:ea typeface="HYRunYuan-45W ExtraLight"/>
                <a:cs typeface="HYRunYuan-45W ExtraLight"/>
              </a:defRPr>
            </a:lvl1pPr>
          </a:lstStyle>
          <a:p>
            <a:pPr lvl="0"/>
            <a:r>
              <a:rPr lang="zh-CN" altLang="en-US" smtClean="0"/>
              <a:t>编辑母版文本样式</a:t>
            </a:r>
          </a:p>
        </p:txBody>
      </p:sp>
    </p:spTree>
    <p:extLst>
      <p:ext uri="{BB962C8B-B14F-4D97-AF65-F5344CB8AC3E}">
        <p14:creationId xmlns:p14="http://schemas.microsoft.com/office/powerpoint/2010/main" val="83049572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二级标题-三级标题-左边图右边文字">
    <p:spTree>
      <p:nvGrpSpPr>
        <p:cNvPr id="1" name=""/>
        <p:cNvGrpSpPr/>
        <p:nvPr/>
      </p:nvGrpSpPr>
      <p:grpSpPr>
        <a:xfrm>
          <a:off x="0" y="0"/>
          <a:ext cx="0" cy="0"/>
          <a:chOff x="0" y="0"/>
          <a:chExt cx="0" cy="0"/>
        </a:xfrm>
      </p:grpSpPr>
      <p:sp>
        <p:nvSpPr>
          <p:cNvPr id="21" name="图片占位符 13"/>
          <p:cNvSpPr>
            <a:spLocks noGrp="1"/>
          </p:cNvSpPr>
          <p:nvPr>
            <p:ph type="pic" sz="quarter" idx="11"/>
          </p:nvPr>
        </p:nvSpPr>
        <p:spPr>
          <a:xfrm>
            <a:off x="1921009" y="2559878"/>
            <a:ext cx="2367643" cy="1993839"/>
          </a:xfrm>
          <a:prstGeom prst="rect">
            <a:avLst/>
          </a:prstGeom>
          <a:ln w="12700">
            <a:miter lim="400000"/>
          </a:ln>
          <a:effectLst>
            <a:reflection stA="50000" endPos="40000" dir="5400000" sy="-100000" algn="bl" rotWithShape="0"/>
          </a:effectLst>
        </p:spPr>
        <p:txBody>
          <a:bodyPr/>
          <a:lstStyle>
            <a:lvl1pPr marL="0" indent="0">
              <a:buFont typeface="Arial" charset="0"/>
              <a:buNone/>
              <a:defRPr/>
            </a:lvl1pPr>
          </a:lstStyle>
          <a:p>
            <a:pPr lvl="0"/>
            <a:r>
              <a:rPr lang="zh-CN" altLang="en-US" noProof="0" smtClean="0"/>
              <a:t>单击图标添加图片</a:t>
            </a:r>
            <a:endParaRPr lang="zh-CN" altLang="en-US" noProof="0" dirty="0"/>
          </a:p>
        </p:txBody>
      </p:sp>
      <p:sp>
        <p:nvSpPr>
          <p:cNvPr id="22" name="文本占位符 17"/>
          <p:cNvSpPr>
            <a:spLocks noGrp="1"/>
          </p:cNvSpPr>
          <p:nvPr>
            <p:ph type="body" sz="quarter" idx="14"/>
          </p:nvPr>
        </p:nvSpPr>
        <p:spPr>
          <a:xfrm>
            <a:off x="5446538" y="3438581"/>
            <a:ext cx="4818371" cy="242887"/>
          </a:xfrm>
          <a:prstGeom prst="rect">
            <a:avLst/>
          </a:prstGeom>
          <a:ln w="12700">
            <a:miter lim="400000"/>
          </a:ln>
        </p:spPr>
        <p:txBody>
          <a:bodyPr lIns="50800" tIns="50800" rIns="50800" bIns="50800" anchor="ctr">
            <a:spAutoFit/>
          </a:bodyPr>
          <a:lstStyle>
            <a:lvl1pPr marL="144661" indent="-144661" algn="ctr">
              <a:buFont typeface="Arial" charset="0"/>
              <a:buNone/>
              <a:defRPr kumimoji="0" lang="zh-CN" altLang="en-US" sz="1013" normalizeH="0" dirty="0">
                <a:solidFill>
                  <a:srgbClr val="535353"/>
                </a:solidFill>
                <a:effectLst/>
                <a:latin typeface="HYRunYuan-45W ExtraLight"/>
                <a:ea typeface="HYRunYuan-45W ExtraLight"/>
                <a:cs typeface="HYRunYuan-45W ExtraLight"/>
              </a:defRPr>
            </a:lvl1pPr>
          </a:lstStyle>
          <a:p>
            <a:pPr lvl="0"/>
            <a:r>
              <a:rPr lang="zh-CN" altLang="en-US" smtClean="0"/>
              <a:t>编辑母版文本样式</a:t>
            </a:r>
          </a:p>
        </p:txBody>
      </p:sp>
    </p:spTree>
    <p:extLst>
      <p:ext uri="{BB962C8B-B14F-4D97-AF65-F5344CB8AC3E}">
        <p14:creationId xmlns:p14="http://schemas.microsoft.com/office/powerpoint/2010/main" val="376876556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03DA1551-BF99-4BB5-BF3F-5056A01A5E47}" type="datetimeFigureOut">
              <a:rPr lang="en-US"/>
              <a:pPr>
                <a:defRPr/>
              </a:pPr>
              <a:t>9/16/2025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7FBB119-8EA4-468B-BDF7-58D933A5B847}" type="slidenum">
              <a:rPr lang="en-US"/>
              <a:pPr>
                <a:defRPr/>
              </a:pPr>
              <a:t>‹#›</a:t>
            </a:fld>
            <a:endParaRPr lang="en-US"/>
          </a:p>
        </p:txBody>
      </p:sp>
    </p:spTree>
    <p:extLst>
      <p:ext uri="{BB962C8B-B14F-4D97-AF65-F5344CB8AC3E}">
        <p14:creationId xmlns:p14="http://schemas.microsoft.com/office/powerpoint/2010/main" val="2538565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7"/>
          <p:cNvSpPr>
            <a:spLocks noChangeShapeType="1"/>
          </p:cNvSpPr>
          <p:nvPr userDrawn="1"/>
        </p:nvSpPr>
        <p:spPr bwMode="auto">
          <a:xfrm>
            <a:off x="527050" y="1196975"/>
            <a:ext cx="2954338" cy="0"/>
          </a:xfrm>
          <a:prstGeom prst="line">
            <a:avLst/>
          </a:prstGeom>
          <a:noFill/>
          <a:ln w="44450" cmpd="sng">
            <a:solidFill>
              <a:schemeClr val="accent1">
                <a:lumMod val="40000"/>
                <a:lumOff val="60000"/>
              </a:schemeClr>
            </a:solidFill>
            <a:prstDash val="solid"/>
            <a:round/>
            <a:headEnd/>
            <a:tailEnd/>
          </a:ln>
          <a:extLst>
            <a:ext uri="{909E8E84-426E-40DD-AFC4-6F175D3DCCD1}">
              <a14:hiddenFill xmlns:a14="http://schemas.microsoft.com/office/drawing/2010/main">
                <a:noFill/>
              </a14:hiddenFill>
            </a:ext>
          </a:extLst>
        </p:spPr>
        <p:txBody>
          <a:bodyPr/>
          <a:lstStyle/>
          <a:p>
            <a:pPr defTabSz="514350">
              <a:defRPr/>
            </a:pPr>
            <a:endParaRPr lang="zh-CN" altLang="en-US" sz="1013">
              <a:solidFill>
                <a:prstClr val="black"/>
              </a:solidFill>
            </a:endParaRPr>
          </a:p>
        </p:txBody>
      </p:sp>
      <p:sp>
        <p:nvSpPr>
          <p:cNvPr id="2" name="Title 1"/>
          <p:cNvSpPr>
            <a:spLocks noGrp="1"/>
          </p:cNvSpPr>
          <p:nvPr>
            <p:ph type="title"/>
          </p:nvPr>
        </p:nvSpPr>
        <p:spPr>
          <a:xfrm>
            <a:off x="527049" y="368563"/>
            <a:ext cx="10219282" cy="821507"/>
          </a:xfrm>
        </p:spPr>
        <p:txBody>
          <a:bodyPr>
            <a:normAutofit/>
          </a:bodyPr>
          <a:lstStyle>
            <a:lvl1pPr>
              <a:defRPr sz="2800" baseline="0">
                <a:solidFill>
                  <a:schemeClr val="accent1"/>
                </a:solidFill>
                <a:latin typeface="Times New Roman" panose="02020603050405020304" pitchFamily="18" charset="0"/>
                <a:cs typeface="Times New Roman" panose="02020603050405020304" pitchFamily="18" charset="0"/>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527049" y="1628800"/>
            <a:ext cx="10219282" cy="4351338"/>
          </a:xfrm>
        </p:spPr>
        <p:txBody>
          <a:bodyPr/>
          <a:lstStyle>
            <a:lvl1pPr marL="228600" indent="-228600">
              <a:buFont typeface="Wingdings" panose="05000000000000000000" pitchFamily="2" charset="2"/>
              <a:buChar char="Ø"/>
              <a:defRPr>
                <a:latin typeface="Times New Roman" panose="02020603050405020304" pitchFamily="18" charset="0"/>
                <a:cs typeface="Times New Roman" panose="02020603050405020304" pitchFamily="18" charset="0"/>
              </a:defRPr>
            </a:lvl1pPr>
            <a:lvl2pPr marL="685800" indent="-228600">
              <a:buFont typeface="Wingdings" panose="05000000000000000000" pitchFamily="2" charset="2"/>
              <a:buChar char="Ø"/>
              <a:defRPr>
                <a:latin typeface="Times New Roman" panose="02020603050405020304" pitchFamily="18" charset="0"/>
                <a:cs typeface="Times New Roman" panose="02020603050405020304" pitchFamily="18" charset="0"/>
              </a:defRPr>
            </a:lvl2pPr>
            <a:lvl3pPr marL="1143000" indent="-228600">
              <a:buFont typeface="Wingdings" panose="05000000000000000000" pitchFamily="2" charset="2"/>
              <a:buChar char="Ø"/>
              <a:defRPr>
                <a:latin typeface="Times New Roman" panose="02020603050405020304" pitchFamily="18" charset="0"/>
                <a:cs typeface="Times New Roman" panose="02020603050405020304" pitchFamily="18" charset="0"/>
              </a:defRPr>
            </a:lvl3pPr>
            <a:lvl4pPr marL="1600200" indent="-228600">
              <a:buFont typeface="Wingdings" panose="05000000000000000000" pitchFamily="2" charset="2"/>
              <a:buChar char="Ø"/>
              <a:defRPr>
                <a:latin typeface="Times New Roman" panose="02020603050405020304" pitchFamily="18" charset="0"/>
                <a:cs typeface="Times New Roman" panose="02020603050405020304" pitchFamily="18" charset="0"/>
              </a:defRPr>
            </a:lvl4pPr>
            <a:lvl5pPr marL="2057400" indent="-228600">
              <a:buFont typeface="Wingdings" panose="05000000000000000000" pitchFamily="2" charset="2"/>
              <a:buChar char="Ø"/>
              <a:defRPr>
                <a:latin typeface="Times New Roman" panose="02020603050405020304" pitchFamily="18" charset="0"/>
                <a:cs typeface="Times New Roman" panose="02020603050405020304" pitchFamily="18" charset="0"/>
              </a:defRPr>
            </a:lvl5p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Tree>
    <p:extLst>
      <p:ext uri="{BB962C8B-B14F-4D97-AF65-F5344CB8AC3E}">
        <p14:creationId xmlns:p14="http://schemas.microsoft.com/office/powerpoint/2010/main" val="9885086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lvl1pPr>
              <a:defRPr/>
            </a:lvl1pPr>
          </a:lstStyle>
          <a:p>
            <a:pPr>
              <a:defRPr/>
            </a:pPr>
            <a:fld id="{468D6BF2-6163-4722-BCF3-2B0015E6400F}" type="datetimeFigureOut">
              <a:rPr lang="zh-CN" altLang="en-US"/>
              <a:pPr>
                <a:defRPr/>
              </a:pPr>
              <a:t>2025/9/16</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B4017612-15B3-41CA-A340-70BAC48F0FAA}" type="slidenum">
              <a:rPr lang="zh-CN" altLang="en-US"/>
              <a:pPr>
                <a:defRPr/>
              </a:pPr>
              <a:t>‹#›</a:t>
            </a:fld>
            <a:endParaRPr lang="zh-CN" altLang="en-US"/>
          </a:p>
        </p:txBody>
      </p:sp>
    </p:spTree>
    <p:extLst>
      <p:ext uri="{BB962C8B-B14F-4D97-AF65-F5344CB8AC3E}">
        <p14:creationId xmlns:p14="http://schemas.microsoft.com/office/powerpoint/2010/main" val="1473258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lvl1pPr>
              <a:defRPr/>
            </a:lvl1pPr>
          </a:lstStyle>
          <a:p>
            <a:pPr>
              <a:defRPr/>
            </a:pPr>
            <a:fld id="{BE444875-5A19-412D-9BCE-5ACFFD5AF1BE}" type="datetimeFigureOut">
              <a:rPr lang="zh-CN" altLang="en-US"/>
              <a:pPr>
                <a:defRPr/>
              </a:pPr>
              <a:t>2025/9/16</a:t>
            </a:fld>
            <a:endParaRPr lang="zh-CN" altLang="en-US"/>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E60DD146-9EDD-4E72-884A-2EAA085D22BB}" type="slidenum">
              <a:rPr lang="zh-CN" altLang="en-US"/>
              <a:pPr>
                <a:defRPr/>
              </a:pPr>
              <a:t>‹#›</a:t>
            </a:fld>
            <a:endParaRPr lang="zh-CN" altLang="en-US"/>
          </a:p>
        </p:txBody>
      </p:sp>
    </p:spTree>
    <p:extLst>
      <p:ext uri="{BB962C8B-B14F-4D97-AF65-F5344CB8AC3E}">
        <p14:creationId xmlns:p14="http://schemas.microsoft.com/office/powerpoint/2010/main" val="37273918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lvl1pPr>
              <a:defRPr/>
            </a:lvl1pPr>
          </a:lstStyle>
          <a:p>
            <a:pPr>
              <a:defRPr/>
            </a:pPr>
            <a:fld id="{2A6631F9-FFB1-4166-AA5D-8040FBCD5975}" type="datetimeFigureOut">
              <a:rPr lang="zh-CN" altLang="en-US"/>
              <a:pPr>
                <a:defRPr/>
              </a:pPr>
              <a:t>2025/9/16</a:t>
            </a:fld>
            <a:endParaRPr lang="zh-CN" altLang="en-US"/>
          </a:p>
        </p:txBody>
      </p:sp>
      <p:sp>
        <p:nvSpPr>
          <p:cNvPr id="8" name="Footer Placeholder 7"/>
          <p:cNvSpPr>
            <a:spLocks noGrp="1"/>
          </p:cNvSpPr>
          <p:nvPr>
            <p:ph type="ftr" sz="quarter" idx="11"/>
          </p:nvPr>
        </p:nvSpPr>
        <p:spPr/>
        <p:txBody>
          <a:bodyPr/>
          <a:lstStyle>
            <a:lvl1pPr>
              <a:defRPr/>
            </a:lvl1pPr>
          </a:lstStyle>
          <a:p>
            <a:pPr>
              <a:defRPr/>
            </a:pPr>
            <a:endParaRPr lang="zh-CN" altLang="en-US"/>
          </a:p>
        </p:txBody>
      </p:sp>
      <p:sp>
        <p:nvSpPr>
          <p:cNvPr id="9" name="Slide Number Placeholder 8"/>
          <p:cNvSpPr>
            <a:spLocks noGrp="1"/>
          </p:cNvSpPr>
          <p:nvPr>
            <p:ph type="sldNum" sz="quarter" idx="12"/>
          </p:nvPr>
        </p:nvSpPr>
        <p:spPr/>
        <p:txBody>
          <a:bodyPr/>
          <a:lstStyle>
            <a:lvl1pPr>
              <a:defRPr/>
            </a:lvl1pPr>
          </a:lstStyle>
          <a:p>
            <a:pPr>
              <a:defRPr/>
            </a:pPr>
            <a:fld id="{59216AFB-D3AB-4EB4-B884-9423E8227618}" type="slidenum">
              <a:rPr lang="zh-CN" altLang="en-US"/>
              <a:pPr>
                <a:defRPr/>
              </a:pPr>
              <a:t>‹#›</a:t>
            </a:fld>
            <a:endParaRPr lang="zh-CN" altLang="en-US"/>
          </a:p>
        </p:txBody>
      </p:sp>
    </p:spTree>
    <p:extLst>
      <p:ext uri="{BB962C8B-B14F-4D97-AF65-F5344CB8AC3E}">
        <p14:creationId xmlns:p14="http://schemas.microsoft.com/office/powerpoint/2010/main" val="6172289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lvl1pPr>
              <a:defRPr/>
            </a:lvl1pPr>
          </a:lstStyle>
          <a:p>
            <a:pPr>
              <a:defRPr/>
            </a:pPr>
            <a:fld id="{51D9D198-F3B2-4C91-922E-4F2A0C95A0DC}" type="datetimeFigureOut">
              <a:rPr lang="zh-CN" altLang="en-US"/>
              <a:pPr>
                <a:defRPr/>
              </a:pPr>
              <a:t>2025/9/16</a:t>
            </a:fld>
            <a:endParaRPr lang="zh-CN" altLang="en-US"/>
          </a:p>
        </p:txBody>
      </p:sp>
      <p:sp>
        <p:nvSpPr>
          <p:cNvPr id="4" name="Footer Placeholder 3"/>
          <p:cNvSpPr>
            <a:spLocks noGrp="1"/>
          </p:cNvSpPr>
          <p:nvPr>
            <p:ph type="ftr" sz="quarter" idx="11"/>
          </p:nvPr>
        </p:nvSpPr>
        <p:spPr/>
        <p:txBody>
          <a:bodyPr/>
          <a:lstStyle>
            <a:lvl1pPr>
              <a:defRPr/>
            </a:lvl1pPr>
          </a:lstStyle>
          <a:p>
            <a:pPr>
              <a:defRPr/>
            </a:pPr>
            <a:endParaRPr lang="zh-CN" altLang="en-US"/>
          </a:p>
        </p:txBody>
      </p:sp>
      <p:sp>
        <p:nvSpPr>
          <p:cNvPr id="5" name="Slide Number Placeholder 4"/>
          <p:cNvSpPr>
            <a:spLocks noGrp="1"/>
          </p:cNvSpPr>
          <p:nvPr>
            <p:ph type="sldNum" sz="quarter" idx="12"/>
          </p:nvPr>
        </p:nvSpPr>
        <p:spPr/>
        <p:txBody>
          <a:bodyPr/>
          <a:lstStyle>
            <a:lvl1pPr>
              <a:defRPr/>
            </a:lvl1pPr>
          </a:lstStyle>
          <a:p>
            <a:pPr>
              <a:defRPr/>
            </a:pPr>
            <a:fld id="{0C0D42EC-8340-41AB-91B6-D906DC92026D}" type="slidenum">
              <a:rPr lang="zh-CN" altLang="en-US"/>
              <a:pPr>
                <a:defRPr/>
              </a:pPr>
              <a:t>‹#›</a:t>
            </a:fld>
            <a:endParaRPr lang="zh-CN" altLang="en-US"/>
          </a:p>
        </p:txBody>
      </p:sp>
    </p:spTree>
    <p:extLst>
      <p:ext uri="{BB962C8B-B14F-4D97-AF65-F5344CB8AC3E}">
        <p14:creationId xmlns:p14="http://schemas.microsoft.com/office/powerpoint/2010/main" val="19033534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Line 7"/>
          <p:cNvSpPr>
            <a:spLocks noChangeShapeType="1"/>
          </p:cNvSpPr>
          <p:nvPr userDrawn="1"/>
        </p:nvSpPr>
        <p:spPr bwMode="auto">
          <a:xfrm>
            <a:off x="527050" y="1196975"/>
            <a:ext cx="2954338" cy="0"/>
          </a:xfrm>
          <a:prstGeom prst="line">
            <a:avLst/>
          </a:prstGeom>
          <a:noFill/>
          <a:ln w="44450" cmpd="sng">
            <a:solidFill>
              <a:schemeClr val="accent1">
                <a:lumMod val="40000"/>
                <a:lumOff val="60000"/>
              </a:schemeClr>
            </a:solidFill>
            <a:prstDash val="solid"/>
            <a:round/>
            <a:headEnd/>
            <a:tailEnd/>
          </a:ln>
          <a:extLst>
            <a:ext uri="{909E8E84-426E-40DD-AFC4-6F175D3DCCD1}">
              <a14:hiddenFill xmlns:a14="http://schemas.microsoft.com/office/drawing/2010/main">
                <a:noFill/>
              </a14:hiddenFill>
            </a:ext>
          </a:extLst>
        </p:spPr>
        <p:txBody>
          <a:bodyPr/>
          <a:lstStyle/>
          <a:p>
            <a:pPr defTabSz="514350">
              <a:defRPr/>
            </a:pPr>
            <a:endParaRPr lang="zh-CN" altLang="en-US" sz="1013">
              <a:solidFill>
                <a:prstClr val="black"/>
              </a:solidFill>
            </a:endParaRPr>
          </a:p>
        </p:txBody>
      </p:sp>
      <p:sp>
        <p:nvSpPr>
          <p:cNvPr id="3" name="Date Placeholder 1"/>
          <p:cNvSpPr>
            <a:spLocks noGrp="1"/>
          </p:cNvSpPr>
          <p:nvPr>
            <p:ph type="dt" sz="half" idx="10"/>
          </p:nvPr>
        </p:nvSpPr>
        <p:spPr/>
        <p:txBody>
          <a:bodyPr/>
          <a:lstStyle>
            <a:lvl1pPr>
              <a:defRPr/>
            </a:lvl1pPr>
          </a:lstStyle>
          <a:p>
            <a:pPr>
              <a:defRPr/>
            </a:pPr>
            <a:fld id="{95BC7A32-9978-4AE3-8632-6D3B5906AB30}" type="datetimeFigureOut">
              <a:rPr lang="en-US"/>
              <a:pPr>
                <a:defRPr/>
              </a:pPr>
              <a:t>9/16/2025</a:t>
            </a:fld>
            <a:endParaRPr lang="en-US"/>
          </a:p>
        </p:txBody>
      </p:sp>
      <p:sp>
        <p:nvSpPr>
          <p:cNvPr id="4" name="Footer Placeholder 2"/>
          <p:cNvSpPr>
            <a:spLocks noGrp="1"/>
          </p:cNvSpPr>
          <p:nvPr>
            <p:ph type="ftr" sz="quarter" idx="11"/>
          </p:nvPr>
        </p:nvSpPr>
        <p:spPr/>
        <p:txBody>
          <a:bodyPr/>
          <a:lstStyle>
            <a:lvl1pPr>
              <a:defRPr/>
            </a:lvl1pPr>
          </a:lstStyle>
          <a:p>
            <a:pPr>
              <a:defRPr/>
            </a:pPr>
            <a:endParaRPr lang="zh-CN" altLang="en-US"/>
          </a:p>
        </p:txBody>
      </p:sp>
      <p:sp>
        <p:nvSpPr>
          <p:cNvPr id="5" name="Slide Number Placeholder 3"/>
          <p:cNvSpPr>
            <a:spLocks noGrp="1"/>
          </p:cNvSpPr>
          <p:nvPr>
            <p:ph type="sldNum" sz="quarter" idx="12"/>
          </p:nvPr>
        </p:nvSpPr>
        <p:spPr/>
        <p:txBody>
          <a:bodyPr/>
          <a:lstStyle>
            <a:lvl1pPr>
              <a:defRPr/>
            </a:lvl1pPr>
          </a:lstStyle>
          <a:p>
            <a:pPr>
              <a:defRPr/>
            </a:pPr>
            <a:fld id="{1BB39B57-D351-434B-AF3A-EB3D2A9581BC}" type="slidenum">
              <a:rPr lang="en-US"/>
              <a:pPr>
                <a:defRPr/>
              </a:pPr>
              <a:t>‹#›</a:t>
            </a:fld>
            <a:endParaRPr lang="en-US"/>
          </a:p>
        </p:txBody>
      </p:sp>
    </p:spTree>
    <p:extLst>
      <p:ext uri="{BB962C8B-B14F-4D97-AF65-F5344CB8AC3E}">
        <p14:creationId xmlns:p14="http://schemas.microsoft.com/office/powerpoint/2010/main" val="35320778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lvl1pPr>
              <a:defRPr/>
            </a:lvl1pPr>
          </a:lstStyle>
          <a:p>
            <a:pPr>
              <a:defRPr/>
            </a:pPr>
            <a:fld id="{F28647B9-A79D-4C34-91BB-F5C8CF002F58}" type="datetimeFigureOut">
              <a:rPr lang="zh-CN" altLang="en-US"/>
              <a:pPr>
                <a:defRPr/>
              </a:pPr>
              <a:t>2025/9/16</a:t>
            </a:fld>
            <a:endParaRPr lang="zh-CN" altLang="en-US"/>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933BDE9F-3C34-43C8-9E4A-F2EF88BE8A97}" type="slidenum">
              <a:rPr lang="zh-CN" altLang="en-US"/>
              <a:pPr>
                <a:defRPr/>
              </a:pPr>
              <a:t>‹#›</a:t>
            </a:fld>
            <a:endParaRPr lang="zh-CN" altLang="en-US"/>
          </a:p>
        </p:txBody>
      </p:sp>
    </p:spTree>
    <p:extLst>
      <p:ext uri="{BB962C8B-B14F-4D97-AF65-F5344CB8AC3E}">
        <p14:creationId xmlns:p14="http://schemas.microsoft.com/office/powerpoint/2010/main" val="26903415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lvl1pPr>
              <a:defRPr/>
            </a:lvl1pPr>
          </a:lstStyle>
          <a:p>
            <a:pPr>
              <a:defRPr/>
            </a:pPr>
            <a:fld id="{9A11E762-804C-4D0C-BE50-49AE5A44D4F3}" type="datetimeFigureOut">
              <a:rPr lang="zh-CN" altLang="en-US"/>
              <a:pPr>
                <a:defRPr/>
              </a:pPr>
              <a:t>2025/9/16</a:t>
            </a:fld>
            <a:endParaRPr lang="zh-CN" altLang="en-US"/>
          </a:p>
        </p:txBody>
      </p:sp>
      <p:sp>
        <p:nvSpPr>
          <p:cNvPr id="6" name="Footer Placeholder 5"/>
          <p:cNvSpPr>
            <a:spLocks noGrp="1"/>
          </p:cNvSpPr>
          <p:nvPr>
            <p:ph type="ftr" sz="quarter" idx="11"/>
          </p:nvPr>
        </p:nvSpPr>
        <p:spPr/>
        <p:txBody>
          <a:bodyPr/>
          <a:lstStyle>
            <a:lvl1pPr>
              <a:defRPr/>
            </a:lvl1pPr>
          </a:lstStyle>
          <a:p>
            <a:pPr>
              <a:defRPr/>
            </a:pPr>
            <a:endParaRPr lang="zh-CN" altLang="en-US"/>
          </a:p>
        </p:txBody>
      </p:sp>
      <p:sp>
        <p:nvSpPr>
          <p:cNvPr id="7" name="Slide Number Placeholder 6"/>
          <p:cNvSpPr>
            <a:spLocks noGrp="1"/>
          </p:cNvSpPr>
          <p:nvPr>
            <p:ph type="sldNum" sz="quarter" idx="12"/>
          </p:nvPr>
        </p:nvSpPr>
        <p:spPr/>
        <p:txBody>
          <a:bodyPr/>
          <a:lstStyle>
            <a:lvl1pPr>
              <a:defRPr/>
            </a:lvl1pPr>
          </a:lstStyle>
          <a:p>
            <a:pPr>
              <a:defRPr/>
            </a:pPr>
            <a:fld id="{5F1BE273-A19B-4F1C-B8DD-2E6A3DD37B3A}" type="slidenum">
              <a:rPr lang="zh-CN" altLang="en-US"/>
              <a:pPr>
                <a:defRPr/>
              </a:pPr>
              <a:t>‹#›</a:t>
            </a:fld>
            <a:endParaRPr lang="zh-CN" altLang="en-US"/>
          </a:p>
        </p:txBody>
      </p:sp>
    </p:spTree>
    <p:extLst>
      <p:ext uri="{BB962C8B-B14F-4D97-AF65-F5344CB8AC3E}">
        <p14:creationId xmlns:p14="http://schemas.microsoft.com/office/powerpoint/2010/main" val="3989977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625F82C9-264C-4050-8299-1F5F3A6635BF}" type="datetimeFigureOut">
              <a:rPr lang="zh-CN" altLang="en-US"/>
              <a:pPr>
                <a:defRPr/>
              </a:pPr>
              <a:t>2025/9/16</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051EBEB0-F594-4D4D-957F-073EF035C862}" type="slidenum">
              <a:rPr lang="zh-CN" altLang="en-US"/>
              <a:pPr>
                <a:defRPr/>
              </a:pPr>
              <a:t>‹#›</a:t>
            </a:fld>
            <a:endParaRPr lang="zh-CN" altLang="en-US"/>
          </a:p>
        </p:txBody>
      </p:sp>
    </p:spTree>
    <p:extLst>
      <p:ext uri="{BB962C8B-B14F-4D97-AF65-F5344CB8AC3E}">
        <p14:creationId xmlns:p14="http://schemas.microsoft.com/office/powerpoint/2010/main" val="29411050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1770D913-74D6-4793-BFAA-17503BF1CA46}" type="datetimeFigureOut">
              <a:rPr lang="zh-CN" altLang="en-US"/>
              <a:pPr>
                <a:defRPr/>
              </a:pPr>
              <a:t>2025/9/16</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48125EA5-A1F8-438F-A13C-7A7B7DCC9224}" type="slidenum">
              <a:rPr lang="zh-CN" altLang="en-US"/>
              <a:pPr>
                <a:defRPr/>
              </a:pPr>
              <a:t>‹#›</a:t>
            </a:fld>
            <a:endParaRPr lang="zh-CN" altLang="en-US"/>
          </a:p>
        </p:txBody>
      </p:sp>
    </p:spTree>
    <p:extLst>
      <p:ext uri="{BB962C8B-B14F-4D97-AF65-F5344CB8AC3E}">
        <p14:creationId xmlns:p14="http://schemas.microsoft.com/office/powerpoint/2010/main" val="765704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9F9F9"/>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pic>
        <p:nvPicPr>
          <p:cNvPr id="7" name="图片 6"/>
          <p:cNvPicPr>
            <a:picLocks noChangeAspect="1"/>
          </p:cNvPicPr>
          <p:nvPr userDrawn="1"/>
        </p:nvPicPr>
        <p:blipFill>
          <a:blip r:embed="rId18">
            <a:clrChange>
              <a:clrFrom>
                <a:srgbClr val="FFFFFF"/>
              </a:clrFrom>
              <a:clrTo>
                <a:srgbClr val="FFFFFF">
                  <a:alpha val="0"/>
                </a:srgbClr>
              </a:clrTo>
            </a:clrChange>
          </a:blip>
          <a:stretch>
            <a:fillRect/>
          </a:stretch>
        </p:blipFill>
        <p:spPr>
          <a:xfrm>
            <a:off x="11055472" y="123750"/>
            <a:ext cx="609149" cy="496938"/>
          </a:xfrm>
          <a:prstGeom prst="rect">
            <a:avLst/>
          </a:prstGeom>
          <a:effectLst>
            <a:softEdge rad="0"/>
          </a:effectLst>
        </p:spPr>
      </p:pic>
      <p:sp>
        <p:nvSpPr>
          <p:cNvPr id="1029" name="Line 7"/>
          <p:cNvSpPr>
            <a:spLocks noChangeShapeType="1"/>
          </p:cNvSpPr>
          <p:nvPr userDrawn="1"/>
        </p:nvSpPr>
        <p:spPr bwMode="auto">
          <a:xfrm>
            <a:off x="527050" y="6524625"/>
            <a:ext cx="11074400" cy="0"/>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Text Box 8"/>
          <p:cNvSpPr txBox="1">
            <a:spLocks noChangeArrowheads="1"/>
          </p:cNvSpPr>
          <p:nvPr userDrawn="1"/>
        </p:nvSpPr>
        <p:spPr bwMode="auto">
          <a:xfrm>
            <a:off x="10514013" y="6553200"/>
            <a:ext cx="1233487"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r" defTabSz="514350" eaLnBrk="1" hangingPunct="1">
              <a:spcBef>
                <a:spcPct val="50000"/>
              </a:spcBef>
              <a:defRPr/>
            </a:pPr>
            <a:r>
              <a:rPr lang="en-US" altLang="zh-CN" sz="788" b="1" dirty="0" smtClean="0">
                <a:solidFill>
                  <a:srgbClr val="0066CC"/>
                </a:solidFill>
                <a:latin typeface="Times New Roman" panose="02020603050405020304" pitchFamily="18" charset="0"/>
                <a:cs typeface="Times New Roman" panose="02020603050405020304" pitchFamily="18" charset="0"/>
              </a:rPr>
              <a:t>BUPT</a:t>
            </a:r>
          </a:p>
        </p:txBody>
      </p:sp>
    </p:spTree>
  </p:cSld>
  <p:clrMap bg1="lt1" tx1="dk1" bg2="lt2" tx2="dk2" accent1="accent1" accent2="accent2" accent3="accent3" accent4="accent4" accent5="accent5" accent6="accent6" hlink="hlink" folHlink="folHlink"/>
  <p:sldLayoutIdLst>
    <p:sldLayoutId id="2147483905"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 id="2147483919" r:id="rId11"/>
    <p:sldLayoutId id="2147483906" r:id="rId12"/>
    <p:sldLayoutId id="2147483907" r:id="rId13"/>
    <p:sldLayoutId id="2147483908" r:id="rId14"/>
    <p:sldLayoutId id="2147483920" r:id="rId15"/>
    <p:sldLayoutId id="2147483921" r:id="rId16"/>
  </p:sldLayoutIdLst>
  <p:txStyles>
    <p:titleStyle>
      <a:lvl1pPr algn="l" rtl="0" eaLnBrk="0" fontAlgn="base" hangingPunct="0">
        <a:lnSpc>
          <a:spcPct val="90000"/>
        </a:lnSpc>
        <a:spcBef>
          <a:spcPct val="0"/>
        </a:spcBef>
        <a:spcAft>
          <a:spcPct val="0"/>
        </a:spcAft>
        <a:defRPr sz="2400" kern="1200">
          <a:solidFill>
            <a:schemeClr val="tx1"/>
          </a:solidFill>
          <a:latin typeface="+mj-lt"/>
          <a:ea typeface="+mj-ea"/>
          <a:cs typeface="+mj-cs"/>
        </a:defRPr>
      </a:lvl1pPr>
      <a:lvl2pPr algn="l" rtl="0" eaLnBrk="0" fontAlgn="base" hangingPunct="0">
        <a:lnSpc>
          <a:spcPct val="90000"/>
        </a:lnSpc>
        <a:spcBef>
          <a:spcPct val="0"/>
        </a:spcBef>
        <a:spcAft>
          <a:spcPct val="0"/>
        </a:spcAft>
        <a:defRPr sz="2400">
          <a:solidFill>
            <a:schemeClr val="tx1"/>
          </a:solidFill>
          <a:latin typeface="Franklin Gothic Medium" panose="020B0603020102020204" pitchFamily="34" charset="0"/>
          <a:ea typeface="隶书" panose="02010509060101010101" pitchFamily="49" charset="-122"/>
        </a:defRPr>
      </a:lvl2pPr>
      <a:lvl3pPr algn="l" rtl="0" eaLnBrk="0" fontAlgn="base" hangingPunct="0">
        <a:lnSpc>
          <a:spcPct val="90000"/>
        </a:lnSpc>
        <a:spcBef>
          <a:spcPct val="0"/>
        </a:spcBef>
        <a:spcAft>
          <a:spcPct val="0"/>
        </a:spcAft>
        <a:defRPr sz="2400">
          <a:solidFill>
            <a:schemeClr val="tx1"/>
          </a:solidFill>
          <a:latin typeface="Franklin Gothic Medium" panose="020B0603020102020204" pitchFamily="34" charset="0"/>
          <a:ea typeface="隶书" panose="02010509060101010101" pitchFamily="49" charset="-122"/>
        </a:defRPr>
      </a:lvl3pPr>
      <a:lvl4pPr algn="l" rtl="0" eaLnBrk="0" fontAlgn="base" hangingPunct="0">
        <a:lnSpc>
          <a:spcPct val="90000"/>
        </a:lnSpc>
        <a:spcBef>
          <a:spcPct val="0"/>
        </a:spcBef>
        <a:spcAft>
          <a:spcPct val="0"/>
        </a:spcAft>
        <a:defRPr sz="2400">
          <a:solidFill>
            <a:schemeClr val="tx1"/>
          </a:solidFill>
          <a:latin typeface="Franklin Gothic Medium" panose="020B0603020102020204" pitchFamily="34" charset="0"/>
          <a:ea typeface="隶书" panose="02010509060101010101" pitchFamily="49" charset="-122"/>
        </a:defRPr>
      </a:lvl4pPr>
      <a:lvl5pPr algn="l" rtl="0" eaLnBrk="0" fontAlgn="base" hangingPunct="0">
        <a:lnSpc>
          <a:spcPct val="90000"/>
        </a:lnSpc>
        <a:spcBef>
          <a:spcPct val="0"/>
        </a:spcBef>
        <a:spcAft>
          <a:spcPct val="0"/>
        </a:spcAft>
        <a:defRPr sz="2400">
          <a:solidFill>
            <a:schemeClr val="tx1"/>
          </a:solidFill>
          <a:latin typeface="Franklin Gothic Medium" panose="020B0603020102020204" pitchFamily="34" charset="0"/>
          <a:ea typeface="隶书" panose="02010509060101010101" pitchFamily="49" charset="-122"/>
        </a:defRPr>
      </a:lvl5pPr>
      <a:lvl6pPr marL="257175" algn="l" rtl="0" fontAlgn="base">
        <a:lnSpc>
          <a:spcPct val="90000"/>
        </a:lnSpc>
        <a:spcBef>
          <a:spcPct val="0"/>
        </a:spcBef>
        <a:spcAft>
          <a:spcPct val="0"/>
        </a:spcAft>
        <a:defRPr sz="2475">
          <a:solidFill>
            <a:schemeClr val="tx1"/>
          </a:solidFill>
          <a:latin typeface="等线 Light" panose="02010600030101010101" pitchFamily="2" charset="-122"/>
          <a:ea typeface="等线 Light" panose="02010600030101010101" pitchFamily="2" charset="-122"/>
        </a:defRPr>
      </a:lvl6pPr>
      <a:lvl7pPr marL="514350" algn="l" rtl="0" fontAlgn="base">
        <a:lnSpc>
          <a:spcPct val="90000"/>
        </a:lnSpc>
        <a:spcBef>
          <a:spcPct val="0"/>
        </a:spcBef>
        <a:spcAft>
          <a:spcPct val="0"/>
        </a:spcAft>
        <a:defRPr sz="2475">
          <a:solidFill>
            <a:schemeClr val="tx1"/>
          </a:solidFill>
          <a:latin typeface="等线 Light" panose="02010600030101010101" pitchFamily="2" charset="-122"/>
          <a:ea typeface="等线 Light" panose="02010600030101010101" pitchFamily="2" charset="-122"/>
        </a:defRPr>
      </a:lvl7pPr>
      <a:lvl8pPr marL="771525" algn="l" rtl="0" fontAlgn="base">
        <a:lnSpc>
          <a:spcPct val="90000"/>
        </a:lnSpc>
        <a:spcBef>
          <a:spcPct val="0"/>
        </a:spcBef>
        <a:spcAft>
          <a:spcPct val="0"/>
        </a:spcAft>
        <a:defRPr sz="2475">
          <a:solidFill>
            <a:schemeClr val="tx1"/>
          </a:solidFill>
          <a:latin typeface="等线 Light" panose="02010600030101010101" pitchFamily="2" charset="-122"/>
          <a:ea typeface="等线 Light" panose="02010600030101010101" pitchFamily="2" charset="-122"/>
        </a:defRPr>
      </a:lvl8pPr>
      <a:lvl9pPr marL="1028700" algn="l" rtl="0" fontAlgn="base">
        <a:lnSpc>
          <a:spcPct val="90000"/>
        </a:lnSpc>
        <a:spcBef>
          <a:spcPct val="0"/>
        </a:spcBef>
        <a:spcAft>
          <a:spcPct val="0"/>
        </a:spcAft>
        <a:defRPr sz="2475">
          <a:solidFill>
            <a:schemeClr val="tx1"/>
          </a:solidFill>
          <a:latin typeface="等线 Light" panose="02010600030101010101" pitchFamily="2" charset="-122"/>
          <a:ea typeface="等线 Light" panose="02010600030101010101" pitchFamily="2" charset="-122"/>
        </a:defRPr>
      </a:lvl9pPr>
    </p:titleStyle>
    <p:bodyStyle>
      <a:lvl1pPr marL="128588" indent="-128588" algn="l" rtl="0" eaLnBrk="0" fontAlgn="base" hangingPunct="0">
        <a:lnSpc>
          <a:spcPct val="90000"/>
        </a:lnSpc>
        <a:spcBef>
          <a:spcPts val="563"/>
        </a:spcBef>
        <a:spcAft>
          <a:spcPct val="0"/>
        </a:spcAft>
        <a:buFont typeface="Wingdings" panose="05000000000000000000" pitchFamily="2" charset="2"/>
        <a:buChar char="Ø"/>
        <a:defRPr sz="1500" kern="1200">
          <a:solidFill>
            <a:schemeClr val="tx1"/>
          </a:solidFill>
          <a:latin typeface="+mn-lt"/>
          <a:ea typeface="+mn-ea"/>
          <a:cs typeface="+mn-cs"/>
        </a:defRPr>
      </a:lvl1pPr>
      <a:lvl2pPr marL="385763" indent="-128588" algn="l" rtl="0" eaLnBrk="0" fontAlgn="base" hangingPunct="0">
        <a:lnSpc>
          <a:spcPct val="90000"/>
        </a:lnSpc>
        <a:spcBef>
          <a:spcPts val="275"/>
        </a:spcBef>
        <a:spcAft>
          <a:spcPct val="0"/>
        </a:spcAft>
        <a:buFont typeface="Wingdings" panose="05000000000000000000" pitchFamily="2" charset="2"/>
        <a:buChar char="Ø"/>
        <a:defRPr kern="1200">
          <a:solidFill>
            <a:schemeClr val="tx1"/>
          </a:solidFill>
          <a:latin typeface="+mn-lt"/>
          <a:ea typeface="+mn-ea"/>
          <a:cs typeface="+mn-cs"/>
        </a:defRPr>
      </a:lvl2pPr>
      <a:lvl3pPr marL="642938" indent="-128588" algn="l" rtl="0" eaLnBrk="0" fontAlgn="base" hangingPunct="0">
        <a:lnSpc>
          <a:spcPct val="90000"/>
        </a:lnSpc>
        <a:spcBef>
          <a:spcPts val="275"/>
        </a:spcBef>
        <a:spcAft>
          <a:spcPct val="0"/>
        </a:spcAft>
        <a:buFont typeface="Wingdings" panose="05000000000000000000" pitchFamily="2" charset="2"/>
        <a:buChar char="Ø"/>
        <a:defRPr sz="1100" kern="1200">
          <a:solidFill>
            <a:schemeClr val="tx1"/>
          </a:solidFill>
          <a:latin typeface="+mn-lt"/>
          <a:ea typeface="+mn-ea"/>
          <a:cs typeface="+mn-cs"/>
        </a:defRPr>
      </a:lvl3pPr>
      <a:lvl4pPr marL="900113" indent="-128588" algn="l" rtl="0" eaLnBrk="0" fontAlgn="base" hangingPunct="0">
        <a:lnSpc>
          <a:spcPct val="90000"/>
        </a:lnSpc>
        <a:spcBef>
          <a:spcPts val="275"/>
        </a:spcBef>
        <a:spcAft>
          <a:spcPct val="0"/>
        </a:spcAft>
        <a:buFont typeface="Wingdings" panose="05000000000000000000" pitchFamily="2" charset="2"/>
        <a:buChar char="Ø"/>
        <a:defRPr kern="1200">
          <a:solidFill>
            <a:schemeClr val="tx1"/>
          </a:solidFill>
          <a:latin typeface="+mn-lt"/>
          <a:ea typeface="+mn-ea"/>
          <a:cs typeface="+mn-cs"/>
        </a:defRPr>
      </a:lvl4pPr>
      <a:lvl5pPr marL="1157288" indent="-128588" algn="l" rtl="0" eaLnBrk="0" fontAlgn="base" hangingPunct="0">
        <a:lnSpc>
          <a:spcPct val="90000"/>
        </a:lnSpc>
        <a:spcBef>
          <a:spcPts val="275"/>
        </a:spcBef>
        <a:spcAft>
          <a:spcPct val="0"/>
        </a:spcAft>
        <a:buFont typeface="Wingdings" panose="05000000000000000000" pitchFamily="2" charset="2"/>
        <a:buChar char="Ø"/>
        <a:defRPr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zh-CN"/>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endParaRPr lang="en-US" altLang="zh-CN" smtClean="0"/>
          </a:p>
        </p:txBody>
      </p:sp>
      <p:sp>
        <p:nvSpPr>
          <p:cNvPr id="205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zh-CN"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310A054-63E8-4B7B-A934-6C5FFD979639}" type="datetimeFigureOut">
              <a:rPr lang="en-US"/>
              <a:pPr>
                <a:defRPr/>
              </a:pPr>
              <a:t>9/16/2025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335F2D8-22F0-4A2A-9CDC-67DA8AB8A131}" type="slidenum">
              <a:rPr lang="en-US"/>
              <a:pPr>
                <a:defRPr/>
              </a:pPr>
              <a:t>‹#›</a:t>
            </a:fld>
            <a:endParaRPr lang="en-US"/>
          </a:p>
        </p:txBody>
      </p:sp>
      <p:pic>
        <p:nvPicPr>
          <p:cNvPr id="7" name="图片 6"/>
          <p:cNvPicPr>
            <a:picLocks noChangeAspect="1"/>
          </p:cNvPicPr>
          <p:nvPr userDrawn="1"/>
        </p:nvPicPr>
        <p:blipFill>
          <a:blip r:embed="rId13">
            <a:clrChange>
              <a:clrFrom>
                <a:srgbClr val="FFFFFF"/>
              </a:clrFrom>
              <a:clrTo>
                <a:srgbClr val="FFFFFF">
                  <a:alpha val="0"/>
                </a:srgbClr>
              </a:clrTo>
            </a:clrChange>
          </a:blip>
          <a:stretch>
            <a:fillRect/>
          </a:stretch>
        </p:blipFill>
        <p:spPr>
          <a:xfrm>
            <a:off x="11055472" y="123750"/>
            <a:ext cx="609149" cy="496938"/>
          </a:xfrm>
          <a:prstGeom prst="rect">
            <a:avLst/>
          </a:prstGeom>
          <a:effectLst>
            <a:softEdge rad="0"/>
          </a:effectLst>
        </p:spPr>
      </p:pic>
      <p:sp>
        <p:nvSpPr>
          <p:cNvPr id="2056" name="Line 7"/>
          <p:cNvSpPr>
            <a:spLocks noChangeShapeType="1"/>
          </p:cNvSpPr>
          <p:nvPr userDrawn="1"/>
        </p:nvSpPr>
        <p:spPr bwMode="auto">
          <a:xfrm>
            <a:off x="527050" y="6524625"/>
            <a:ext cx="11074400" cy="0"/>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Text Box 8"/>
          <p:cNvSpPr txBox="1">
            <a:spLocks noChangeArrowheads="1"/>
          </p:cNvSpPr>
          <p:nvPr userDrawn="1"/>
        </p:nvSpPr>
        <p:spPr bwMode="auto">
          <a:xfrm>
            <a:off x="10514013" y="6553200"/>
            <a:ext cx="1233487"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r" defTabSz="514350" eaLnBrk="1" hangingPunct="1">
              <a:spcBef>
                <a:spcPct val="50000"/>
              </a:spcBef>
              <a:defRPr/>
            </a:pPr>
            <a:r>
              <a:rPr lang="en-US" altLang="zh-CN" sz="788" b="1" dirty="0" smtClean="0">
                <a:solidFill>
                  <a:srgbClr val="0066CC"/>
                </a:solidFill>
                <a:latin typeface="Times New Roman" panose="02020603050405020304" pitchFamily="18" charset="0"/>
                <a:cs typeface="Times New Roman" panose="02020603050405020304" pitchFamily="18" charset="0"/>
              </a:rPr>
              <a:t>BUPT</a:t>
            </a:r>
          </a:p>
        </p:txBody>
      </p:sp>
    </p:spTree>
  </p:cSld>
  <p:clrMap bg1="lt1" tx1="dk1" bg2="lt2" tx2="dk2" accent1="accent1" accent2="accent2" accent3="accent3" accent4="accent4" accent5="accent5" accent6="accent6" hlink="hlink" folHlink="folHlink"/>
  <p:sldLayoutIdLst>
    <p:sldLayoutId id="2147483909"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Franklin Gothic Medium" panose="020B0603020102020204" pitchFamily="34" charset="0"/>
          <a:ea typeface="隶书" panose="02010509060101010101" pitchFamily="49" charset="-122"/>
        </a:defRPr>
      </a:lvl2pPr>
      <a:lvl3pPr algn="l" rtl="0" eaLnBrk="0" fontAlgn="base" hangingPunct="0">
        <a:lnSpc>
          <a:spcPct val="90000"/>
        </a:lnSpc>
        <a:spcBef>
          <a:spcPct val="0"/>
        </a:spcBef>
        <a:spcAft>
          <a:spcPct val="0"/>
        </a:spcAft>
        <a:defRPr sz="4400">
          <a:solidFill>
            <a:schemeClr val="tx1"/>
          </a:solidFill>
          <a:latin typeface="Franklin Gothic Medium" panose="020B0603020102020204" pitchFamily="34" charset="0"/>
          <a:ea typeface="隶书" panose="02010509060101010101" pitchFamily="49" charset="-122"/>
        </a:defRPr>
      </a:lvl3pPr>
      <a:lvl4pPr algn="l" rtl="0" eaLnBrk="0" fontAlgn="base" hangingPunct="0">
        <a:lnSpc>
          <a:spcPct val="90000"/>
        </a:lnSpc>
        <a:spcBef>
          <a:spcPct val="0"/>
        </a:spcBef>
        <a:spcAft>
          <a:spcPct val="0"/>
        </a:spcAft>
        <a:defRPr sz="4400">
          <a:solidFill>
            <a:schemeClr val="tx1"/>
          </a:solidFill>
          <a:latin typeface="Franklin Gothic Medium" panose="020B0603020102020204" pitchFamily="34" charset="0"/>
          <a:ea typeface="隶书" panose="02010509060101010101" pitchFamily="49" charset="-122"/>
        </a:defRPr>
      </a:lvl4pPr>
      <a:lvl5pPr algn="l" rtl="0" eaLnBrk="0" fontAlgn="base" hangingPunct="0">
        <a:lnSpc>
          <a:spcPct val="90000"/>
        </a:lnSpc>
        <a:spcBef>
          <a:spcPct val="0"/>
        </a:spcBef>
        <a:spcAft>
          <a:spcPct val="0"/>
        </a:spcAft>
        <a:defRPr sz="4400">
          <a:solidFill>
            <a:schemeClr val="tx1"/>
          </a:solidFill>
          <a:latin typeface="Franklin Gothic Medium" panose="020B0603020102020204" pitchFamily="34" charset="0"/>
          <a:ea typeface="隶书" panose="02010509060101010101" pitchFamily="49" charset="-122"/>
        </a:defRPr>
      </a:lvl5pPr>
      <a:lvl6pPr marL="457200" algn="l" rtl="0" fontAlgn="base">
        <a:lnSpc>
          <a:spcPct val="90000"/>
        </a:lnSpc>
        <a:spcBef>
          <a:spcPct val="0"/>
        </a:spcBef>
        <a:spcAft>
          <a:spcPct val="0"/>
        </a:spcAft>
        <a:defRPr sz="4400">
          <a:solidFill>
            <a:schemeClr val="tx1"/>
          </a:solidFill>
          <a:latin typeface="Franklin Gothic Medium" panose="020B0603020102020204" pitchFamily="34" charset="0"/>
          <a:ea typeface="隶书" panose="02010509060101010101" pitchFamily="49" charset="-122"/>
        </a:defRPr>
      </a:lvl6pPr>
      <a:lvl7pPr marL="914400" algn="l" rtl="0" fontAlgn="base">
        <a:lnSpc>
          <a:spcPct val="90000"/>
        </a:lnSpc>
        <a:spcBef>
          <a:spcPct val="0"/>
        </a:spcBef>
        <a:spcAft>
          <a:spcPct val="0"/>
        </a:spcAft>
        <a:defRPr sz="4400">
          <a:solidFill>
            <a:schemeClr val="tx1"/>
          </a:solidFill>
          <a:latin typeface="Franklin Gothic Medium" panose="020B0603020102020204" pitchFamily="34" charset="0"/>
          <a:ea typeface="隶书" panose="02010509060101010101" pitchFamily="49" charset="-122"/>
        </a:defRPr>
      </a:lvl7pPr>
      <a:lvl8pPr marL="1371600" algn="l" rtl="0" fontAlgn="base">
        <a:lnSpc>
          <a:spcPct val="90000"/>
        </a:lnSpc>
        <a:spcBef>
          <a:spcPct val="0"/>
        </a:spcBef>
        <a:spcAft>
          <a:spcPct val="0"/>
        </a:spcAft>
        <a:defRPr sz="4400">
          <a:solidFill>
            <a:schemeClr val="tx1"/>
          </a:solidFill>
          <a:latin typeface="Franklin Gothic Medium" panose="020B0603020102020204" pitchFamily="34" charset="0"/>
          <a:ea typeface="隶书" panose="02010509060101010101" pitchFamily="49" charset="-122"/>
        </a:defRPr>
      </a:lvl8pPr>
      <a:lvl9pPr marL="1828800" algn="l" rtl="0" fontAlgn="base">
        <a:lnSpc>
          <a:spcPct val="90000"/>
        </a:lnSpc>
        <a:spcBef>
          <a:spcPct val="0"/>
        </a:spcBef>
        <a:spcAft>
          <a:spcPct val="0"/>
        </a:spcAft>
        <a:defRPr sz="4400">
          <a:solidFill>
            <a:schemeClr val="tx1"/>
          </a:solidFill>
          <a:latin typeface="Franklin Gothic Medium" panose="020B0603020102020204" pitchFamily="34" charset="0"/>
          <a:ea typeface="隶书" panose="02010509060101010101" pitchFamily="49"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8.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hyperlink" Target="../../../text/chapter02/section1/index1.htm" TargetMode="Externa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vmlDrawing" Target="../drawings/vmlDrawing3.v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8.xml"/><Relationship Id="rId1" Type="http://schemas.openxmlformats.org/officeDocument/2006/relationships/vmlDrawing" Target="../drawings/vmlDrawing4.vml"/><Relationship Id="rId4" Type="http://schemas.openxmlformats.org/officeDocument/2006/relationships/image" Target="../media/image6.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8.xml"/><Relationship Id="rId1" Type="http://schemas.openxmlformats.org/officeDocument/2006/relationships/vmlDrawing" Target="../drawings/vmlDrawing5.vml"/><Relationship Id="rId4" Type="http://schemas.openxmlformats.org/officeDocument/2006/relationships/image" Target="../media/image7.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27050" y="368300"/>
            <a:ext cx="10218738" cy="822325"/>
          </a:xfrm>
        </p:spPr>
        <p:txBody>
          <a:bodyPr/>
          <a:lstStyle/>
          <a:p>
            <a:pPr eaLnBrk="1" hangingPunct="1"/>
            <a:r>
              <a:rPr lang="zh-CN" altLang="en-US" smtClean="0"/>
              <a:t>课堂练习</a:t>
            </a:r>
          </a:p>
        </p:txBody>
      </p:sp>
      <p:sp>
        <p:nvSpPr>
          <p:cNvPr id="27651" name="Rectangle 3"/>
          <p:cNvSpPr>
            <a:spLocks noGrp="1" noChangeArrowheads="1"/>
          </p:cNvSpPr>
          <p:nvPr>
            <p:ph idx="1"/>
          </p:nvPr>
        </p:nvSpPr>
        <p:spPr>
          <a:xfrm>
            <a:off x="527050" y="1628775"/>
            <a:ext cx="10218738" cy="4351338"/>
          </a:xfrm>
        </p:spPr>
        <p:txBody>
          <a:bodyPr/>
          <a:lstStyle/>
          <a:p>
            <a:pPr eaLnBrk="1" hangingPunct="1">
              <a:buFont typeface="Wingdings" panose="05000000000000000000" pitchFamily="2" charset="2"/>
              <a:buNone/>
            </a:pPr>
            <a:r>
              <a:rPr lang="en-US" altLang="zh-CN" sz="2600" smtClean="0"/>
              <a:t>for(i=2;i&lt;=n;++i)</a:t>
            </a:r>
          </a:p>
          <a:p>
            <a:pPr eaLnBrk="1" hangingPunct="1">
              <a:buFont typeface="Wingdings" panose="05000000000000000000" pitchFamily="2" charset="2"/>
              <a:buNone/>
            </a:pPr>
            <a:r>
              <a:rPr lang="en-US" altLang="zh-CN" sz="2600" smtClean="0"/>
              <a:t>{</a:t>
            </a:r>
          </a:p>
          <a:p>
            <a:pPr eaLnBrk="1" hangingPunct="1">
              <a:buFont typeface="Wingdings" panose="05000000000000000000" pitchFamily="2" charset="2"/>
              <a:buNone/>
            </a:pPr>
            <a:r>
              <a:rPr lang="en-US" altLang="zh-CN" sz="2600" smtClean="0"/>
              <a:t>     for(j=2;j&lt;=i-1;++j)</a:t>
            </a:r>
          </a:p>
          <a:p>
            <a:pPr eaLnBrk="1" hangingPunct="1">
              <a:buFont typeface="Wingdings" panose="05000000000000000000" pitchFamily="2" charset="2"/>
              <a:buNone/>
            </a:pPr>
            <a:r>
              <a:rPr lang="en-US" altLang="zh-CN" sz="2600" smtClean="0"/>
              <a:t>     {</a:t>
            </a:r>
          </a:p>
          <a:p>
            <a:pPr eaLnBrk="1" hangingPunct="1">
              <a:buFont typeface="Wingdings" panose="05000000000000000000" pitchFamily="2" charset="2"/>
              <a:buNone/>
            </a:pPr>
            <a:r>
              <a:rPr lang="en-US" altLang="zh-CN" sz="2600" smtClean="0"/>
              <a:t>           a[i</a:t>
            </a:r>
            <a:r>
              <a:rPr lang="zh-CN" altLang="en-US" sz="2600" smtClean="0"/>
              <a:t>，</a:t>
            </a:r>
            <a:r>
              <a:rPr lang="en-US" altLang="zh-CN" sz="2600" smtClean="0"/>
              <a:t>j]=1;</a:t>
            </a:r>
          </a:p>
          <a:p>
            <a:pPr eaLnBrk="1" hangingPunct="1">
              <a:buFont typeface="Wingdings" panose="05000000000000000000" pitchFamily="2" charset="2"/>
              <a:buNone/>
            </a:pPr>
            <a:r>
              <a:rPr lang="en-US" altLang="zh-CN" sz="2600" smtClean="0"/>
              <a:t>     } </a:t>
            </a:r>
          </a:p>
          <a:p>
            <a:pPr eaLnBrk="1" hangingPunct="1">
              <a:buFont typeface="Wingdings" panose="05000000000000000000" pitchFamily="2" charset="2"/>
              <a:buNone/>
            </a:pPr>
            <a:r>
              <a:rPr lang="en-US" altLang="zh-CN" sz="2600" smtClean="0"/>
              <a:t>}</a:t>
            </a:r>
          </a:p>
          <a:p>
            <a:pPr eaLnBrk="1" hangingPunct="1">
              <a:buFont typeface="Wingdings" panose="05000000000000000000" pitchFamily="2" charset="2"/>
              <a:buNone/>
            </a:pPr>
            <a:r>
              <a:rPr lang="en-US" altLang="zh-CN" sz="2600" smtClean="0">
                <a:solidFill>
                  <a:srgbClr val="FF0000"/>
                </a:solidFill>
              </a:rPr>
              <a:t>      </a:t>
            </a:r>
          </a:p>
        </p:txBody>
      </p:sp>
      <p:sp>
        <p:nvSpPr>
          <p:cNvPr id="84997" name="Text Box 5"/>
          <p:cNvSpPr txBox="1">
            <a:spLocks noChangeArrowheads="1"/>
          </p:cNvSpPr>
          <p:nvPr/>
        </p:nvSpPr>
        <p:spPr bwMode="auto">
          <a:xfrm>
            <a:off x="6024563" y="3068638"/>
            <a:ext cx="4248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    i       = 2</a:t>
            </a:r>
            <a:r>
              <a:rPr lang="zh-CN" altLang="en-US">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3 … n</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998" name="Rectangle 6"/>
          <p:cNvSpPr>
            <a:spLocks noChangeArrowheads="1"/>
          </p:cNvSpPr>
          <p:nvPr/>
        </p:nvSpPr>
        <p:spPr bwMode="auto">
          <a:xfrm>
            <a:off x="5951538" y="3573463"/>
            <a:ext cx="4572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lang="zh-CN" altLang="en-US">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执行次数 </a:t>
            </a: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 0</a:t>
            </a:r>
            <a:r>
              <a:rPr lang="zh-CN" altLang="en-US">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1, …n-2</a:t>
            </a:r>
          </a:p>
        </p:txBody>
      </p:sp>
      <p:sp>
        <p:nvSpPr>
          <p:cNvPr id="84999" name="Rectangle 7"/>
          <p:cNvSpPr>
            <a:spLocks noChangeArrowheads="1"/>
          </p:cNvSpPr>
          <p:nvPr/>
        </p:nvSpPr>
        <p:spPr bwMode="auto">
          <a:xfrm>
            <a:off x="5808663" y="4149725"/>
            <a:ext cx="45720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lang="zh-CN" altLang="en-US">
                <a:solidFill>
                  <a:srgbClr val="FF0000"/>
                </a:solidFill>
                <a:latin typeface="Times New Roman" panose="02020603050405020304" pitchFamily="18" charset="0"/>
                <a:ea typeface="宋体" panose="02010600030101010101" pitchFamily="2" charset="-122"/>
                <a:cs typeface="Times New Roman" panose="02020603050405020304" pitchFamily="18" charset="0"/>
              </a:rPr>
              <a:t>频度 </a:t>
            </a: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=0+1+…+n-2 </a:t>
            </a:r>
          </a:p>
          <a:p>
            <a:pPr eaLnBrk="1" hangingPunct="1">
              <a:lnSpc>
                <a:spcPct val="100000"/>
              </a:lnSpc>
              <a:spcBef>
                <a:spcPct val="0"/>
              </a:spcBef>
              <a:buFontTx/>
              <a:buNone/>
            </a:pP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=(n-2)(n-2+1)/2</a:t>
            </a:r>
          </a:p>
          <a:p>
            <a:pPr eaLnBrk="1" hangingPunct="1">
              <a:lnSpc>
                <a:spcPct val="100000"/>
              </a:lnSpc>
              <a:spcBef>
                <a:spcPct val="0"/>
              </a:spcBef>
              <a:buFontTx/>
              <a:buNone/>
            </a:pP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baseline="30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/2-3n/2+1</a:t>
            </a:r>
          </a:p>
        </p:txBody>
      </p:sp>
      <p:sp>
        <p:nvSpPr>
          <p:cNvPr id="85000" name="Rectangle 8"/>
          <p:cNvSpPr>
            <a:spLocks noChangeArrowheads="1"/>
          </p:cNvSpPr>
          <p:nvPr/>
        </p:nvSpPr>
        <p:spPr bwMode="auto">
          <a:xfrm>
            <a:off x="6024563" y="5734050"/>
            <a:ext cx="1825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T(n)=O(n</a:t>
            </a:r>
            <a:r>
              <a:rPr lang="en-US" altLang="zh-CN" baseline="30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99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99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50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7" grpId="0"/>
      <p:bldP spid="84998" grpId="0"/>
      <p:bldP spid="84999" grpId="0"/>
      <p:bldP spid="8500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
          <p:cNvSpPr>
            <a:spLocks noGrp="1"/>
          </p:cNvSpPr>
          <p:nvPr>
            <p:ph type="title"/>
          </p:nvPr>
        </p:nvSpPr>
        <p:spPr>
          <a:xfrm>
            <a:off x="527050" y="368300"/>
            <a:ext cx="10218738" cy="822325"/>
          </a:xfrm>
        </p:spPr>
        <p:txBody>
          <a:bodyPr/>
          <a:lstStyle/>
          <a:p>
            <a:pPr eaLnBrk="1" hangingPunct="1"/>
            <a:endParaRPr lang="zh-CN" altLang="en-US" smtClean="0"/>
          </a:p>
        </p:txBody>
      </p:sp>
      <p:sp>
        <p:nvSpPr>
          <p:cNvPr id="28675" name="Rectangle 3"/>
          <p:cNvSpPr>
            <a:spLocks noGrp="1" noChangeArrowheads="1"/>
          </p:cNvSpPr>
          <p:nvPr>
            <p:ph idx="1"/>
          </p:nvPr>
        </p:nvSpPr>
        <p:spPr>
          <a:xfrm>
            <a:off x="527050" y="1628775"/>
            <a:ext cx="10218738" cy="4351338"/>
          </a:xfrm>
        </p:spPr>
        <p:txBody>
          <a:bodyPr/>
          <a:lstStyle/>
          <a:p>
            <a:pPr eaLnBrk="1" hangingPunct="1">
              <a:buFont typeface="Wingdings" panose="05000000000000000000" pitchFamily="2" charset="2"/>
              <a:buNone/>
            </a:pPr>
            <a:r>
              <a:rPr lang="en-US" altLang="zh-CN" sz="2600" smtClean="0"/>
              <a:t>for(i=</a:t>
            </a:r>
            <a:r>
              <a:rPr lang="en-US" altLang="zh-CN" sz="2600" smtClean="0">
                <a:solidFill>
                  <a:schemeClr val="accent2"/>
                </a:solidFill>
              </a:rPr>
              <a:t>3</a:t>
            </a:r>
            <a:r>
              <a:rPr lang="en-US" altLang="zh-CN" sz="2600" smtClean="0"/>
              <a:t>;i&lt;=n;++i)</a:t>
            </a:r>
          </a:p>
          <a:p>
            <a:pPr eaLnBrk="1" hangingPunct="1">
              <a:buFont typeface="Wingdings" panose="05000000000000000000" pitchFamily="2" charset="2"/>
              <a:buNone/>
            </a:pPr>
            <a:r>
              <a:rPr lang="en-US" altLang="zh-CN" sz="2600" smtClean="0"/>
              <a:t>{</a:t>
            </a:r>
          </a:p>
          <a:p>
            <a:pPr eaLnBrk="1" hangingPunct="1">
              <a:buFont typeface="Wingdings" panose="05000000000000000000" pitchFamily="2" charset="2"/>
              <a:buNone/>
            </a:pPr>
            <a:r>
              <a:rPr lang="en-US" altLang="zh-CN" sz="2600" smtClean="0"/>
              <a:t>     for(j=2;j&lt;=</a:t>
            </a:r>
            <a:r>
              <a:rPr lang="en-US" altLang="zh-CN" sz="2600" smtClean="0">
                <a:solidFill>
                  <a:schemeClr val="accent2"/>
                </a:solidFill>
              </a:rPr>
              <a:t>i+1</a:t>
            </a:r>
            <a:r>
              <a:rPr lang="en-US" altLang="zh-CN" sz="2600" smtClean="0"/>
              <a:t>;++j)</a:t>
            </a:r>
          </a:p>
          <a:p>
            <a:pPr eaLnBrk="1" hangingPunct="1">
              <a:buFont typeface="Wingdings" panose="05000000000000000000" pitchFamily="2" charset="2"/>
              <a:buNone/>
            </a:pPr>
            <a:r>
              <a:rPr lang="en-US" altLang="zh-CN" sz="2600" smtClean="0"/>
              <a:t>     {</a:t>
            </a:r>
          </a:p>
          <a:p>
            <a:pPr eaLnBrk="1" hangingPunct="1">
              <a:buFont typeface="Wingdings" panose="05000000000000000000" pitchFamily="2" charset="2"/>
              <a:buNone/>
            </a:pPr>
            <a:r>
              <a:rPr lang="en-US" altLang="zh-CN" sz="2600" smtClean="0"/>
              <a:t>          a[i</a:t>
            </a:r>
            <a:r>
              <a:rPr lang="zh-CN" altLang="en-US" sz="2600" smtClean="0"/>
              <a:t>，</a:t>
            </a:r>
            <a:r>
              <a:rPr lang="en-US" altLang="zh-CN" sz="2600" smtClean="0"/>
              <a:t>j]=1;</a:t>
            </a:r>
          </a:p>
          <a:p>
            <a:pPr eaLnBrk="1" hangingPunct="1">
              <a:buFont typeface="Wingdings" panose="05000000000000000000" pitchFamily="2" charset="2"/>
              <a:buNone/>
            </a:pPr>
            <a:r>
              <a:rPr lang="en-US" altLang="zh-CN" sz="2600" smtClean="0"/>
              <a:t>     } </a:t>
            </a:r>
          </a:p>
          <a:p>
            <a:pPr eaLnBrk="1" hangingPunct="1">
              <a:buFont typeface="Wingdings" panose="05000000000000000000" pitchFamily="2" charset="2"/>
              <a:buNone/>
            </a:pPr>
            <a:r>
              <a:rPr lang="en-US" altLang="zh-CN" sz="2600" smtClean="0"/>
              <a:t>}</a:t>
            </a:r>
          </a:p>
          <a:p>
            <a:pPr eaLnBrk="1" hangingPunct="1">
              <a:buFont typeface="Wingdings" panose="05000000000000000000" pitchFamily="2" charset="2"/>
              <a:buNone/>
            </a:pPr>
            <a:r>
              <a:rPr lang="en-US" altLang="zh-CN" sz="2600" smtClean="0"/>
              <a:t>3+4+…+n=(n+3)(n-2)/2=</a:t>
            </a:r>
            <a:endParaRPr lang="en-US" altLang="zh-CN"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527050" y="368300"/>
            <a:ext cx="10218738" cy="822325"/>
          </a:xfrm>
        </p:spPr>
        <p:txBody>
          <a:bodyPr/>
          <a:lstStyle/>
          <a:p>
            <a:pPr eaLnBrk="1" hangingPunct="1"/>
            <a:r>
              <a:rPr lang="en-US" altLang="zh-CN" smtClean="0"/>
              <a:t>C</a:t>
            </a:r>
            <a:r>
              <a:rPr lang="zh-CN" altLang="en-US" smtClean="0"/>
              <a:t>语言</a:t>
            </a:r>
          </a:p>
        </p:txBody>
      </p:sp>
      <p:sp>
        <p:nvSpPr>
          <p:cNvPr id="29699" name="Rectangle 3"/>
          <p:cNvSpPr>
            <a:spLocks noGrp="1" noChangeArrowheads="1"/>
          </p:cNvSpPr>
          <p:nvPr>
            <p:ph idx="1"/>
          </p:nvPr>
        </p:nvSpPr>
        <p:spPr>
          <a:xfrm>
            <a:off x="527050" y="1628775"/>
            <a:ext cx="10218738" cy="4351338"/>
          </a:xfrm>
        </p:spPr>
        <p:txBody>
          <a:bodyPr/>
          <a:lstStyle/>
          <a:p>
            <a:pPr eaLnBrk="1" hangingPunct="1"/>
            <a:r>
              <a:rPr lang="en-US" altLang="zh-CN" smtClean="0"/>
              <a:t>for</a:t>
            </a:r>
            <a:r>
              <a:rPr lang="zh-CN" altLang="en-US" smtClean="0"/>
              <a:t>循环（单重循环，二重循环，三重循环）</a:t>
            </a:r>
          </a:p>
          <a:p>
            <a:pPr eaLnBrk="1" hangingPunct="1">
              <a:buFont typeface="Wingdings" panose="05000000000000000000" pitchFamily="2" charset="2"/>
              <a:buNone/>
            </a:pPr>
            <a:r>
              <a:rPr lang="zh-CN" altLang="en-US" smtClean="0"/>
              <a:t>单重循环，循环次数</a:t>
            </a:r>
          </a:p>
          <a:p>
            <a:pPr eaLnBrk="1" hangingPunct="1">
              <a:buFont typeface="Wingdings" panose="05000000000000000000" pitchFamily="2" charset="2"/>
              <a:buNone/>
            </a:pPr>
            <a:r>
              <a:rPr lang="en-US" altLang="zh-CN" smtClean="0"/>
              <a:t>for (i=1;i&lt;=n;i++)    //n+1</a:t>
            </a:r>
          </a:p>
          <a:p>
            <a:pPr eaLnBrk="1" hangingPunct="1">
              <a:buFont typeface="Wingdings" panose="05000000000000000000" pitchFamily="2" charset="2"/>
              <a:buNone/>
            </a:pPr>
            <a:r>
              <a:rPr lang="en-US" altLang="zh-CN" smtClean="0"/>
              <a:t>{</a:t>
            </a:r>
          </a:p>
          <a:p>
            <a:pPr eaLnBrk="1" hangingPunct="1">
              <a:buFont typeface="Wingdings" panose="05000000000000000000" pitchFamily="2" charset="2"/>
              <a:buNone/>
            </a:pPr>
            <a:r>
              <a:rPr lang="en-US" altLang="zh-CN" smtClean="0"/>
              <a:t>		</a:t>
            </a:r>
            <a:r>
              <a:rPr lang="zh-CN" altLang="en-US" smtClean="0"/>
              <a:t>语句</a:t>
            </a:r>
            <a:r>
              <a:rPr lang="en-US" altLang="zh-CN" smtClean="0"/>
              <a:t>1</a:t>
            </a:r>
            <a:r>
              <a:rPr lang="zh-CN" altLang="en-US" smtClean="0"/>
              <a:t>；               </a:t>
            </a:r>
            <a:r>
              <a:rPr lang="en-US" altLang="zh-CN" smtClean="0"/>
              <a:t>//n  </a:t>
            </a:r>
          </a:p>
          <a:p>
            <a:pPr eaLnBrk="1" hangingPunct="1">
              <a:buFont typeface="Wingdings" panose="05000000000000000000" pitchFamily="2" charset="2"/>
              <a:buNone/>
            </a:pPr>
            <a:r>
              <a:rPr lang="en-US" altLang="zh-CN" smtClean="0"/>
              <a:t>		</a:t>
            </a:r>
            <a:r>
              <a:rPr lang="zh-CN" altLang="en-US" smtClean="0"/>
              <a:t>语句</a:t>
            </a:r>
            <a:r>
              <a:rPr lang="en-US" altLang="zh-CN" smtClean="0"/>
              <a:t>2</a:t>
            </a:r>
            <a:r>
              <a:rPr lang="zh-CN" altLang="en-US" smtClean="0"/>
              <a:t>； 循环体     </a:t>
            </a:r>
            <a:r>
              <a:rPr lang="en-US" altLang="zh-CN" smtClean="0"/>
              <a:t>//n</a:t>
            </a:r>
          </a:p>
          <a:p>
            <a:pPr eaLnBrk="1" hangingPunct="1">
              <a:buFont typeface="Wingdings" panose="05000000000000000000" pitchFamily="2" charset="2"/>
              <a:buNone/>
            </a:pPr>
            <a:r>
              <a:rPr lang="en-US" altLang="zh-CN" smtClean="0"/>
              <a:t>		</a:t>
            </a:r>
            <a:r>
              <a:rPr lang="zh-CN" altLang="en-US" smtClean="0"/>
              <a:t>语句</a:t>
            </a:r>
            <a:r>
              <a:rPr lang="en-US" altLang="zh-CN" smtClean="0"/>
              <a:t>3</a:t>
            </a:r>
            <a:r>
              <a:rPr lang="zh-CN" altLang="en-US" smtClean="0"/>
              <a:t>；              </a:t>
            </a:r>
            <a:r>
              <a:rPr lang="en-US" altLang="zh-CN" smtClean="0"/>
              <a:t>//n</a:t>
            </a:r>
          </a:p>
          <a:p>
            <a:pPr eaLnBrk="1" hangingPunct="1">
              <a:buFont typeface="Wingdings" panose="05000000000000000000" pitchFamily="2" charset="2"/>
              <a:buNone/>
            </a:pPr>
            <a:r>
              <a:rPr lang="en-US" altLang="zh-CN" smtClean="0"/>
              <a:t>}</a:t>
            </a:r>
          </a:p>
        </p:txBody>
      </p:sp>
      <p:sp>
        <p:nvSpPr>
          <p:cNvPr id="29700" name="AutoShape 4"/>
          <p:cNvSpPr>
            <a:spLocks/>
          </p:cNvSpPr>
          <p:nvPr/>
        </p:nvSpPr>
        <p:spPr bwMode="auto">
          <a:xfrm>
            <a:off x="2782888" y="3805238"/>
            <a:ext cx="73025" cy="1296987"/>
          </a:xfrm>
          <a:prstGeom prst="rightBrace">
            <a:avLst>
              <a:gd name="adj1" fmla="val 14800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700">
              <a:latin typeface="Verdana" panose="020B0604030504040204" pitchFamily="34" charset="0"/>
              <a:ea typeface="宋体" panose="02010600030101010101" pitchFamily="2" charset="-122"/>
              <a:sym typeface="Symbol" panose="05050102010706020507" pitchFamily="18" charset="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30723" name="Rectangle 3"/>
          <p:cNvSpPr>
            <a:spLocks noGrp="1" noChangeArrowheads="1"/>
          </p:cNvSpPr>
          <p:nvPr>
            <p:ph idx="1"/>
          </p:nvPr>
        </p:nvSpPr>
        <p:spPr>
          <a:xfrm>
            <a:off x="766763" y="1628775"/>
            <a:ext cx="9979025" cy="4351338"/>
          </a:xfrm>
        </p:spPr>
        <p:txBody>
          <a:bodyPr/>
          <a:lstStyle/>
          <a:p>
            <a:pPr eaLnBrk="1" hangingPunct="1">
              <a:lnSpc>
                <a:spcPct val="80000"/>
              </a:lnSpc>
            </a:pPr>
            <a:r>
              <a:rPr lang="zh-CN" altLang="en-US" sz="2400" smtClean="0"/>
              <a:t>二重循环</a:t>
            </a:r>
          </a:p>
          <a:p>
            <a:pPr eaLnBrk="1" hangingPunct="1">
              <a:lnSpc>
                <a:spcPct val="80000"/>
              </a:lnSpc>
              <a:buFont typeface="Wingdings" panose="05000000000000000000" pitchFamily="2" charset="2"/>
              <a:buNone/>
            </a:pPr>
            <a:r>
              <a:rPr lang="en-US" altLang="zh-CN" sz="2400" smtClean="0"/>
              <a:t>for (i=1;i&lt;=n;i++)    //n+1</a:t>
            </a:r>
          </a:p>
          <a:p>
            <a:pPr eaLnBrk="1" hangingPunct="1">
              <a:lnSpc>
                <a:spcPct val="80000"/>
              </a:lnSpc>
              <a:buFont typeface="Wingdings" panose="05000000000000000000" pitchFamily="2" charset="2"/>
              <a:buNone/>
            </a:pPr>
            <a:r>
              <a:rPr lang="en-US" altLang="zh-CN" sz="2400" smtClean="0"/>
              <a:t>{</a:t>
            </a:r>
          </a:p>
          <a:p>
            <a:pPr eaLnBrk="1" hangingPunct="1">
              <a:lnSpc>
                <a:spcPct val="80000"/>
              </a:lnSpc>
              <a:buFont typeface="Wingdings" panose="05000000000000000000" pitchFamily="2" charset="2"/>
              <a:buNone/>
            </a:pPr>
            <a:r>
              <a:rPr lang="en-US" altLang="zh-CN" sz="2400" smtClean="0"/>
              <a:t>       </a:t>
            </a:r>
            <a:r>
              <a:rPr lang="zh-CN" altLang="en-US" sz="2400" smtClean="0"/>
              <a:t>语句</a:t>
            </a:r>
            <a:r>
              <a:rPr lang="en-US" altLang="zh-CN" sz="2400" smtClean="0"/>
              <a:t>1</a:t>
            </a:r>
            <a:r>
              <a:rPr lang="zh-CN" altLang="en-US" sz="2400" smtClean="0"/>
              <a:t>；               </a:t>
            </a:r>
            <a:r>
              <a:rPr lang="en-US" altLang="zh-CN" sz="2400" smtClean="0"/>
              <a:t>//n  </a:t>
            </a:r>
          </a:p>
          <a:p>
            <a:pPr eaLnBrk="1" hangingPunct="1">
              <a:lnSpc>
                <a:spcPct val="80000"/>
              </a:lnSpc>
              <a:buFont typeface="Wingdings" panose="05000000000000000000" pitchFamily="2" charset="2"/>
              <a:buNone/>
            </a:pPr>
            <a:r>
              <a:rPr lang="en-US" altLang="zh-CN" sz="2400" smtClean="0"/>
              <a:t>       for(j=1;j&lt;=i;j++)</a:t>
            </a:r>
          </a:p>
          <a:p>
            <a:pPr eaLnBrk="1" hangingPunct="1">
              <a:lnSpc>
                <a:spcPct val="80000"/>
              </a:lnSpc>
              <a:buFont typeface="Wingdings" panose="05000000000000000000" pitchFamily="2" charset="2"/>
              <a:buNone/>
            </a:pPr>
            <a:r>
              <a:rPr lang="en-US" altLang="zh-CN" sz="2400" smtClean="0"/>
              <a:t>	   {</a:t>
            </a:r>
          </a:p>
          <a:p>
            <a:pPr eaLnBrk="1" hangingPunct="1">
              <a:lnSpc>
                <a:spcPct val="80000"/>
              </a:lnSpc>
              <a:buFont typeface="Wingdings" panose="05000000000000000000" pitchFamily="2" charset="2"/>
              <a:buNone/>
            </a:pPr>
            <a:r>
              <a:rPr lang="en-US" altLang="zh-CN" sz="2400" smtClean="0"/>
              <a:t>		    </a:t>
            </a:r>
            <a:r>
              <a:rPr lang="zh-CN" altLang="en-US" sz="2400" smtClean="0"/>
              <a:t>语句</a:t>
            </a:r>
            <a:r>
              <a:rPr lang="en-US" altLang="zh-CN" sz="2400" smtClean="0"/>
              <a:t>4 // n(n+1)/2	</a:t>
            </a:r>
          </a:p>
          <a:p>
            <a:pPr eaLnBrk="1" hangingPunct="1">
              <a:lnSpc>
                <a:spcPct val="80000"/>
              </a:lnSpc>
              <a:buFont typeface="Wingdings" panose="05000000000000000000" pitchFamily="2" charset="2"/>
              <a:buNone/>
            </a:pPr>
            <a:r>
              <a:rPr lang="en-US" altLang="zh-CN" sz="2400" smtClean="0"/>
              <a:t>       }</a:t>
            </a:r>
          </a:p>
          <a:p>
            <a:pPr eaLnBrk="1" hangingPunct="1">
              <a:lnSpc>
                <a:spcPct val="80000"/>
              </a:lnSpc>
              <a:buFont typeface="Wingdings" panose="05000000000000000000" pitchFamily="2" charset="2"/>
              <a:buNone/>
            </a:pPr>
            <a:r>
              <a:rPr lang="en-US" altLang="zh-CN" sz="2400" smtClean="0"/>
              <a:t>		</a:t>
            </a:r>
            <a:r>
              <a:rPr lang="zh-CN" altLang="en-US" sz="2400" smtClean="0"/>
              <a:t>语句</a:t>
            </a:r>
            <a:r>
              <a:rPr lang="en-US" altLang="zh-CN" sz="2400" smtClean="0"/>
              <a:t>3</a:t>
            </a:r>
            <a:r>
              <a:rPr lang="zh-CN" altLang="en-US" sz="2400" smtClean="0"/>
              <a:t>；              </a:t>
            </a:r>
            <a:r>
              <a:rPr lang="en-US" altLang="zh-CN" sz="2400" smtClean="0"/>
              <a:t>//n</a:t>
            </a:r>
          </a:p>
          <a:p>
            <a:pPr eaLnBrk="1" hangingPunct="1">
              <a:lnSpc>
                <a:spcPct val="80000"/>
              </a:lnSpc>
              <a:buFont typeface="Wingdings" panose="05000000000000000000" pitchFamily="2" charset="2"/>
              <a:buNone/>
            </a:pPr>
            <a:r>
              <a:rPr lang="en-US" altLang="zh-CN" sz="2400" smtClean="0"/>
              <a:t>}</a:t>
            </a:r>
          </a:p>
        </p:txBody>
      </p:sp>
      <p:sp>
        <p:nvSpPr>
          <p:cNvPr id="30724" name="AutoShape 4"/>
          <p:cNvSpPr>
            <a:spLocks/>
          </p:cNvSpPr>
          <p:nvPr/>
        </p:nvSpPr>
        <p:spPr bwMode="auto">
          <a:xfrm rot="10800000" flipH="1">
            <a:off x="1027113" y="3500438"/>
            <a:ext cx="215900" cy="1511300"/>
          </a:xfrm>
          <a:prstGeom prst="leftBrace">
            <a:avLst>
              <a:gd name="adj1" fmla="val 86884"/>
              <a:gd name="adj2" fmla="val 4885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700">
              <a:latin typeface="Verdana" panose="020B0604030504040204" pitchFamily="34" charset="0"/>
              <a:ea typeface="宋体" panose="02010600030101010101" pitchFamily="2" charset="-122"/>
              <a:sym typeface="Symbol" panose="05050102010706020507" pitchFamily="18" charset="2"/>
            </a:endParaRPr>
          </a:p>
        </p:txBody>
      </p:sp>
      <p:sp>
        <p:nvSpPr>
          <p:cNvPr id="8197" name="Text Box 5"/>
          <p:cNvSpPr txBox="1">
            <a:spLocks noChangeArrowheads="1"/>
          </p:cNvSpPr>
          <p:nvPr/>
        </p:nvSpPr>
        <p:spPr bwMode="auto">
          <a:xfrm>
            <a:off x="68263" y="4024313"/>
            <a:ext cx="9794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defRPr/>
            </a:pPr>
            <a:r>
              <a:rPr lang="zh-CN" altLang="en-US" sz="2400" dirty="0">
                <a:latin typeface="Times New Roman" panose="02020603050405020304" pitchFamily="18" charset="0"/>
                <a:ea typeface="+mn-ea"/>
                <a:cs typeface="Times New Roman" panose="02020603050405020304" pitchFamily="18" charset="0"/>
                <a:sym typeface="Symbol" panose="05050102010706020507" pitchFamily="18" charset="2"/>
              </a:rPr>
              <a:t>语句</a:t>
            </a:r>
            <a:r>
              <a:rPr lang="en-US" altLang="zh-CN" sz="2400" dirty="0">
                <a:latin typeface="Times New Roman" panose="02020603050405020304" pitchFamily="18" charset="0"/>
                <a:ea typeface="+mn-ea"/>
                <a:cs typeface="Times New Roman" panose="02020603050405020304" pitchFamily="18" charset="0"/>
                <a:sym typeface="Symbol" panose="05050102010706020507" pitchFamily="18" charset="2"/>
              </a:rPr>
              <a:t>2</a:t>
            </a:r>
          </a:p>
        </p:txBody>
      </p:sp>
      <p:sp>
        <p:nvSpPr>
          <p:cNvPr id="30726" name="Rectangle 6"/>
          <p:cNvSpPr>
            <a:spLocks noChangeArrowheads="1"/>
          </p:cNvSpPr>
          <p:nvPr/>
        </p:nvSpPr>
        <p:spPr bwMode="auto">
          <a:xfrm>
            <a:off x="6383338" y="3141663"/>
            <a:ext cx="457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zh-CN" sz="1800">
              <a:latin typeface="Verdana" panose="020B0604030504040204" pitchFamily="34" charset="0"/>
              <a:ea typeface="宋体" panose="02010600030101010101" pitchFamily="2" charset="-122"/>
              <a:sym typeface="Symbol" panose="05050102010706020507" pitchFamily="18" charset="2"/>
            </a:endParaRPr>
          </a:p>
        </p:txBody>
      </p:sp>
      <p:sp>
        <p:nvSpPr>
          <p:cNvPr id="238599" name="Text Box 7"/>
          <p:cNvSpPr txBox="1">
            <a:spLocks noChangeArrowheads="1"/>
          </p:cNvSpPr>
          <p:nvPr/>
        </p:nvSpPr>
        <p:spPr bwMode="auto">
          <a:xfrm>
            <a:off x="6532563" y="2492375"/>
            <a:ext cx="4135437"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第一重</a:t>
            </a:r>
          </a:p>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循环第几次  </a:t>
            </a:r>
            <a:r>
              <a:rPr lang="en-US" altLang="zh-CN" sz="1800">
                <a:latin typeface="Verdana" panose="020B0604030504040204" pitchFamily="34" charset="0"/>
                <a:ea typeface="宋体" panose="02010600030101010101" pitchFamily="2" charset="-122"/>
                <a:sym typeface="Symbol" panose="05050102010706020507" pitchFamily="18" charset="2"/>
              </a:rPr>
              <a:t>1  2  3  4  </a:t>
            </a:r>
            <a:r>
              <a:rPr lang="en-US" altLang="zh-CN" sz="1800">
                <a:latin typeface="Arial" panose="020B0604020202020204" pitchFamily="34" charset="0"/>
                <a:ea typeface="宋体" panose="02010600030101010101" pitchFamily="2" charset="-122"/>
                <a:sym typeface="Symbol" panose="05050102010706020507" pitchFamily="18" charset="2"/>
              </a:rPr>
              <a:t>…</a:t>
            </a:r>
            <a:r>
              <a:rPr lang="en-US" altLang="zh-CN" sz="1800">
                <a:latin typeface="Verdana" panose="020B0604030504040204" pitchFamily="34" charset="0"/>
                <a:ea typeface="宋体" panose="02010600030101010101" pitchFamily="2" charset="-122"/>
                <a:sym typeface="Symbol" panose="05050102010706020507" pitchFamily="18" charset="2"/>
              </a:rPr>
              <a:t>  n</a:t>
            </a:r>
          </a:p>
          <a:p>
            <a:pPr eaLnBrk="1" hangingPunct="1">
              <a:lnSpc>
                <a:spcPct val="100000"/>
              </a:lnSpc>
              <a:spcBef>
                <a:spcPct val="0"/>
              </a:spcBef>
              <a:buFontTx/>
              <a:buNone/>
            </a:pPr>
            <a:r>
              <a:rPr lang="en-US" altLang="zh-CN" sz="1800">
                <a:latin typeface="Verdana" panose="020B0604030504040204" pitchFamily="34" charset="0"/>
                <a:ea typeface="宋体" panose="02010600030101010101" pitchFamily="2" charset="-122"/>
                <a:sym typeface="Symbol" panose="05050102010706020507" pitchFamily="18" charset="2"/>
              </a:rPr>
              <a:t>   i=          1  2  3  4  </a:t>
            </a:r>
            <a:r>
              <a:rPr lang="en-US" altLang="zh-CN" sz="1800">
                <a:latin typeface="Arial" panose="020B0604020202020204" pitchFamily="34" charset="0"/>
                <a:ea typeface="宋体" panose="02010600030101010101" pitchFamily="2" charset="-122"/>
                <a:sym typeface="Symbol" panose="05050102010706020507" pitchFamily="18" charset="2"/>
              </a:rPr>
              <a:t>…</a:t>
            </a:r>
            <a:r>
              <a:rPr lang="en-US" altLang="zh-CN" sz="1800">
                <a:latin typeface="Verdana" panose="020B0604030504040204" pitchFamily="34" charset="0"/>
                <a:ea typeface="宋体" panose="02010600030101010101" pitchFamily="2" charset="-122"/>
                <a:sym typeface="Symbol" panose="05050102010706020507" pitchFamily="18" charset="2"/>
              </a:rPr>
              <a:t>  n</a:t>
            </a:r>
          </a:p>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第二重</a:t>
            </a:r>
          </a:p>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循环共几次  </a:t>
            </a:r>
            <a:r>
              <a:rPr lang="en-US" altLang="zh-CN" sz="1800">
                <a:latin typeface="Verdana" panose="020B0604030504040204" pitchFamily="34" charset="0"/>
                <a:ea typeface="宋体" panose="02010600030101010101" pitchFamily="2" charset="-122"/>
                <a:sym typeface="Symbol" panose="05050102010706020507" pitchFamily="18" charset="2"/>
              </a:rPr>
              <a:t>1  2  3  4  </a:t>
            </a:r>
            <a:r>
              <a:rPr lang="en-US" altLang="zh-CN" sz="1800">
                <a:latin typeface="Arial" panose="020B0604020202020204" pitchFamily="34" charset="0"/>
                <a:ea typeface="宋体" panose="02010600030101010101" pitchFamily="2" charset="-122"/>
                <a:sym typeface="Symbol" panose="05050102010706020507" pitchFamily="18" charset="2"/>
              </a:rPr>
              <a:t>…</a:t>
            </a:r>
            <a:r>
              <a:rPr lang="en-US" altLang="zh-CN" sz="1800">
                <a:latin typeface="Verdana" panose="020B0604030504040204" pitchFamily="34" charset="0"/>
                <a:ea typeface="宋体" panose="02010600030101010101" pitchFamily="2" charset="-122"/>
                <a:sym typeface="Symbol" panose="05050102010706020507" pitchFamily="18" charset="2"/>
              </a:rPr>
              <a:t>  n</a:t>
            </a:r>
          </a:p>
          <a:p>
            <a:pPr eaLnBrk="1" hangingPunct="1">
              <a:lnSpc>
                <a:spcPct val="100000"/>
              </a:lnSpc>
              <a:spcBef>
                <a:spcPct val="0"/>
              </a:spcBef>
              <a:buFontTx/>
              <a:buNone/>
            </a:pPr>
            <a:endParaRPr lang="en-US" altLang="zh-CN" sz="1800">
              <a:latin typeface="Verdana" panose="020B0604030504040204" pitchFamily="34" charset="0"/>
              <a:ea typeface="宋体" panose="02010600030101010101" pitchFamily="2" charset="-122"/>
              <a:sym typeface="Symbol" panose="05050102010706020507" pitchFamily="18" charset="2"/>
            </a:endParaRPr>
          </a:p>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第二重循环总次数：</a:t>
            </a:r>
            <a:r>
              <a:rPr lang="en-US" altLang="zh-CN" sz="1800">
                <a:latin typeface="Verdana" panose="020B0604030504040204" pitchFamily="34" charset="0"/>
                <a:ea typeface="宋体" panose="02010600030101010101" pitchFamily="2" charset="-122"/>
                <a:sym typeface="Symbol" panose="05050102010706020507" pitchFamily="18" charset="2"/>
              </a:rPr>
              <a:t>1+2+3+4+</a:t>
            </a:r>
            <a:r>
              <a:rPr lang="en-US" altLang="zh-CN" sz="1800">
                <a:latin typeface="Arial" panose="020B0604020202020204" pitchFamily="34" charset="0"/>
                <a:ea typeface="宋体" panose="02010600030101010101" pitchFamily="2" charset="-122"/>
                <a:sym typeface="Symbol" panose="05050102010706020507" pitchFamily="18" charset="2"/>
              </a:rPr>
              <a:t>…</a:t>
            </a:r>
            <a:r>
              <a:rPr lang="en-US" altLang="zh-CN" sz="1800">
                <a:latin typeface="Verdana" panose="020B0604030504040204" pitchFamily="34" charset="0"/>
                <a:ea typeface="宋体" panose="02010600030101010101" pitchFamily="2" charset="-122"/>
                <a:sym typeface="Symbol" panose="05050102010706020507" pitchFamily="18" charset="2"/>
              </a:rPr>
              <a:t>+n</a:t>
            </a:r>
          </a:p>
        </p:txBody>
      </p:sp>
      <p:sp>
        <p:nvSpPr>
          <p:cNvPr id="238600" name="Text Box 8"/>
          <p:cNvSpPr txBox="1">
            <a:spLocks noChangeArrowheads="1"/>
          </p:cNvSpPr>
          <p:nvPr/>
        </p:nvSpPr>
        <p:spPr bwMode="auto">
          <a:xfrm>
            <a:off x="6600825" y="4508500"/>
            <a:ext cx="3449638"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例如：</a:t>
            </a:r>
          </a:p>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学校年级</a:t>
            </a:r>
          </a:p>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第几级      </a:t>
            </a:r>
            <a:r>
              <a:rPr lang="en-US" altLang="zh-CN" sz="1800">
                <a:latin typeface="Verdana" panose="020B0604030504040204" pitchFamily="34" charset="0"/>
                <a:ea typeface="宋体" panose="02010600030101010101" pitchFamily="2" charset="-122"/>
                <a:sym typeface="Symbol" panose="05050102010706020507" pitchFamily="18" charset="2"/>
              </a:rPr>
              <a:t>1  2  3  4  </a:t>
            </a:r>
            <a:r>
              <a:rPr lang="en-US" altLang="zh-CN" sz="1800">
                <a:latin typeface="Arial" panose="020B0604020202020204" pitchFamily="34" charset="0"/>
                <a:ea typeface="宋体" panose="02010600030101010101" pitchFamily="2" charset="-122"/>
                <a:sym typeface="Symbol" panose="05050102010706020507" pitchFamily="18" charset="2"/>
              </a:rPr>
              <a:t>…</a:t>
            </a:r>
            <a:r>
              <a:rPr lang="en-US" altLang="zh-CN" sz="1800">
                <a:latin typeface="Verdana" panose="020B0604030504040204" pitchFamily="34" charset="0"/>
                <a:ea typeface="宋体" panose="02010600030101010101" pitchFamily="2" charset="-122"/>
                <a:sym typeface="Symbol" panose="05050102010706020507" pitchFamily="18" charset="2"/>
              </a:rPr>
              <a:t>  n</a:t>
            </a:r>
          </a:p>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年级班数</a:t>
            </a:r>
          </a:p>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共几班      </a:t>
            </a:r>
            <a:r>
              <a:rPr lang="en-US" altLang="zh-CN" sz="1800">
                <a:latin typeface="Verdana" panose="020B0604030504040204" pitchFamily="34" charset="0"/>
                <a:ea typeface="宋体" panose="02010600030101010101" pitchFamily="2" charset="-122"/>
                <a:sym typeface="Symbol" panose="05050102010706020507" pitchFamily="18" charset="2"/>
              </a:rPr>
              <a:t>1  2  3  4  </a:t>
            </a:r>
            <a:r>
              <a:rPr lang="en-US" altLang="zh-CN" sz="1800">
                <a:latin typeface="Arial" panose="020B0604020202020204" pitchFamily="34" charset="0"/>
                <a:ea typeface="宋体" panose="02010600030101010101" pitchFamily="2" charset="-122"/>
                <a:sym typeface="Symbol" panose="05050102010706020507" pitchFamily="18" charset="2"/>
              </a:rPr>
              <a:t>…</a:t>
            </a:r>
            <a:r>
              <a:rPr lang="en-US" altLang="zh-CN" sz="1800">
                <a:latin typeface="Verdana" panose="020B0604030504040204" pitchFamily="34" charset="0"/>
                <a:ea typeface="宋体" panose="02010600030101010101" pitchFamily="2" charset="-122"/>
                <a:sym typeface="Symbol" panose="05050102010706020507" pitchFamily="18" charset="2"/>
              </a:rPr>
              <a:t>  n</a:t>
            </a:r>
          </a:p>
          <a:p>
            <a:pPr eaLnBrk="1" hangingPunct="1">
              <a:lnSpc>
                <a:spcPct val="100000"/>
              </a:lnSpc>
              <a:spcBef>
                <a:spcPct val="0"/>
              </a:spcBef>
              <a:buFontTx/>
              <a:buNone/>
            </a:pPr>
            <a:endParaRPr lang="en-US" altLang="zh-CN" sz="1800">
              <a:latin typeface="Verdana" panose="020B0604030504040204" pitchFamily="34" charset="0"/>
              <a:ea typeface="宋体" panose="02010600030101010101" pitchFamily="2" charset="-122"/>
              <a:sym typeface="Symbol" panose="05050102010706020507" pitchFamily="18" charset="2"/>
            </a:endParaRPr>
          </a:p>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sym typeface="Symbol" panose="05050102010706020507" pitchFamily="18" charset="2"/>
              </a:rPr>
              <a:t>总共多少班：</a:t>
            </a:r>
            <a:r>
              <a:rPr lang="en-US" altLang="zh-CN" sz="1800">
                <a:latin typeface="Verdana" panose="020B0604030504040204" pitchFamily="34" charset="0"/>
                <a:ea typeface="宋体" panose="02010600030101010101" pitchFamily="2" charset="-122"/>
                <a:sym typeface="Symbol" panose="05050102010706020507" pitchFamily="18" charset="2"/>
              </a:rPr>
              <a:t>1+2+3+4+</a:t>
            </a:r>
            <a:r>
              <a:rPr lang="en-US" altLang="zh-CN" sz="1800">
                <a:latin typeface="Arial" panose="020B0604020202020204" pitchFamily="34" charset="0"/>
                <a:ea typeface="宋体" panose="02010600030101010101" pitchFamily="2" charset="-122"/>
                <a:sym typeface="Symbol" panose="05050102010706020507" pitchFamily="18" charset="2"/>
              </a:rPr>
              <a:t>…</a:t>
            </a:r>
            <a:r>
              <a:rPr lang="en-US" altLang="zh-CN" sz="1800">
                <a:latin typeface="Verdana" panose="020B0604030504040204" pitchFamily="34" charset="0"/>
                <a:ea typeface="宋体" panose="02010600030101010101" pitchFamily="2" charset="-122"/>
                <a:sym typeface="Symbol" panose="05050102010706020507" pitchFamily="18" charset="2"/>
              </a:rPr>
              <a:t>+n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85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86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9" grpId="0"/>
      <p:bldP spid="23860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9219" name="Rectangle 3"/>
          <p:cNvSpPr>
            <a:spLocks noGrp="1" noChangeArrowheads="1"/>
          </p:cNvSpPr>
          <p:nvPr>
            <p:ph idx="1"/>
          </p:nvPr>
        </p:nvSpPr>
        <p:spPr>
          <a:xfrm>
            <a:off x="527050" y="1628775"/>
            <a:ext cx="10218738" cy="4351338"/>
          </a:xfrm>
        </p:spPr>
        <p:txBody>
          <a:bodyPr rtlCol="0">
            <a:normAutofit lnSpcReduction="10000"/>
          </a:bodyPr>
          <a:lstStyle/>
          <a:p>
            <a:pPr eaLnBrk="1" fontAlgn="auto" hangingPunct="1">
              <a:lnSpc>
                <a:spcPct val="80000"/>
              </a:lnSpc>
              <a:spcAft>
                <a:spcPts val="0"/>
              </a:spcAft>
              <a:defRPr/>
            </a:pPr>
            <a:r>
              <a:rPr lang="zh-CN" altLang="en-US" sz="2100" dirty="0"/>
              <a:t>三重循环</a:t>
            </a:r>
          </a:p>
          <a:p>
            <a:pPr eaLnBrk="1" fontAlgn="auto" hangingPunct="1">
              <a:lnSpc>
                <a:spcPct val="80000"/>
              </a:lnSpc>
              <a:spcAft>
                <a:spcPts val="0"/>
              </a:spcAft>
              <a:buFont typeface="Wingdings" panose="05000000000000000000" pitchFamily="2" charset="2"/>
              <a:buNone/>
              <a:defRPr/>
            </a:pPr>
            <a:r>
              <a:rPr lang="en-US" altLang="zh-CN" sz="2100" dirty="0"/>
              <a:t>for (</a:t>
            </a:r>
            <a:r>
              <a:rPr lang="en-US" altLang="zh-CN" sz="2100" dirty="0" err="1"/>
              <a:t>i</a:t>
            </a:r>
            <a:r>
              <a:rPr lang="en-US" altLang="zh-CN" sz="2100" dirty="0"/>
              <a:t>=1;i&lt;=</a:t>
            </a:r>
            <a:r>
              <a:rPr lang="en-US" altLang="zh-CN" sz="2100" dirty="0" err="1"/>
              <a:t>n;i</a:t>
            </a:r>
            <a:r>
              <a:rPr lang="en-US" altLang="zh-CN" sz="2100" dirty="0"/>
              <a:t>++)    //n+1</a:t>
            </a:r>
          </a:p>
          <a:p>
            <a:pPr eaLnBrk="1" fontAlgn="auto" hangingPunct="1">
              <a:lnSpc>
                <a:spcPct val="80000"/>
              </a:lnSpc>
              <a:spcAft>
                <a:spcPts val="0"/>
              </a:spcAft>
              <a:buFont typeface="Wingdings" panose="05000000000000000000" pitchFamily="2" charset="2"/>
              <a:buNone/>
              <a:defRPr/>
            </a:pPr>
            <a:r>
              <a:rPr lang="en-US" altLang="zh-CN" sz="2100" dirty="0"/>
              <a:t>{</a:t>
            </a:r>
          </a:p>
          <a:p>
            <a:pPr eaLnBrk="1" fontAlgn="auto" hangingPunct="1">
              <a:lnSpc>
                <a:spcPct val="80000"/>
              </a:lnSpc>
              <a:spcAft>
                <a:spcPts val="0"/>
              </a:spcAft>
              <a:buFont typeface="Wingdings" panose="05000000000000000000" pitchFamily="2" charset="2"/>
              <a:buNone/>
              <a:defRPr/>
            </a:pPr>
            <a:r>
              <a:rPr lang="en-US" altLang="zh-CN" sz="2100" dirty="0"/>
              <a:t>       </a:t>
            </a:r>
            <a:r>
              <a:rPr lang="zh-CN" altLang="en-US" sz="2100" dirty="0"/>
              <a:t>语句</a:t>
            </a:r>
            <a:r>
              <a:rPr lang="en-US" altLang="zh-CN" sz="2100" dirty="0"/>
              <a:t>1</a:t>
            </a:r>
            <a:r>
              <a:rPr lang="zh-CN" altLang="en-US" sz="2100" dirty="0"/>
              <a:t>；               </a:t>
            </a:r>
            <a:r>
              <a:rPr lang="en-US" altLang="zh-CN" sz="2100" dirty="0"/>
              <a:t>//n  </a:t>
            </a:r>
          </a:p>
          <a:p>
            <a:pPr eaLnBrk="1" fontAlgn="auto" hangingPunct="1">
              <a:lnSpc>
                <a:spcPct val="80000"/>
              </a:lnSpc>
              <a:spcAft>
                <a:spcPts val="0"/>
              </a:spcAft>
              <a:buFont typeface="Wingdings" panose="05000000000000000000" pitchFamily="2" charset="2"/>
              <a:buNone/>
              <a:defRPr/>
            </a:pPr>
            <a:r>
              <a:rPr lang="en-US" altLang="zh-CN" sz="2100" dirty="0"/>
              <a:t>       for(j=1;j&lt;=</a:t>
            </a:r>
            <a:r>
              <a:rPr lang="en-US" altLang="zh-CN" sz="2100" dirty="0" err="1"/>
              <a:t>i;j</a:t>
            </a:r>
            <a:r>
              <a:rPr lang="en-US" altLang="zh-CN" sz="2100" dirty="0"/>
              <a:t>++)</a:t>
            </a:r>
          </a:p>
          <a:p>
            <a:pPr eaLnBrk="1" fontAlgn="auto" hangingPunct="1">
              <a:lnSpc>
                <a:spcPct val="80000"/>
              </a:lnSpc>
              <a:spcAft>
                <a:spcPts val="0"/>
              </a:spcAft>
              <a:buFont typeface="Wingdings" panose="05000000000000000000" pitchFamily="2" charset="2"/>
              <a:buNone/>
              <a:defRPr/>
            </a:pPr>
            <a:r>
              <a:rPr lang="en-US" altLang="zh-CN" sz="2100" dirty="0"/>
              <a:t>	   {</a:t>
            </a:r>
          </a:p>
          <a:p>
            <a:pPr eaLnBrk="1" fontAlgn="auto" hangingPunct="1">
              <a:lnSpc>
                <a:spcPct val="80000"/>
              </a:lnSpc>
              <a:spcAft>
                <a:spcPts val="0"/>
              </a:spcAft>
              <a:buFont typeface="Wingdings" panose="05000000000000000000" pitchFamily="2" charset="2"/>
              <a:buNone/>
              <a:defRPr/>
            </a:pPr>
            <a:r>
              <a:rPr lang="en-US" altLang="zh-CN" sz="2100" dirty="0"/>
              <a:t>		    for(k=1;k&lt;=</a:t>
            </a:r>
            <a:r>
              <a:rPr lang="en-US" altLang="zh-CN" sz="2100" dirty="0" err="1"/>
              <a:t>j;k</a:t>
            </a:r>
            <a:r>
              <a:rPr lang="en-US" altLang="zh-CN" sz="2100" dirty="0"/>
              <a:t>++) </a:t>
            </a:r>
            <a:r>
              <a:rPr lang="en-US" altLang="zh-CN" sz="2100" dirty="0" smtClean="0"/>
              <a:t>{</a:t>
            </a:r>
            <a:endParaRPr lang="en-US" altLang="zh-CN" sz="2100" dirty="0"/>
          </a:p>
          <a:p>
            <a:pPr eaLnBrk="1" fontAlgn="auto" hangingPunct="1">
              <a:lnSpc>
                <a:spcPct val="80000"/>
              </a:lnSpc>
              <a:spcAft>
                <a:spcPts val="0"/>
              </a:spcAft>
              <a:buFont typeface="Wingdings" panose="05000000000000000000" pitchFamily="2" charset="2"/>
              <a:buNone/>
              <a:defRPr/>
            </a:pPr>
            <a:r>
              <a:rPr lang="en-US" altLang="zh-CN" sz="2100" dirty="0"/>
              <a:t>			</a:t>
            </a:r>
            <a:r>
              <a:rPr lang="zh-CN" altLang="en-US" sz="2100" dirty="0"/>
              <a:t>语句</a:t>
            </a:r>
            <a:r>
              <a:rPr lang="en-US" altLang="zh-CN" sz="2100" dirty="0"/>
              <a:t>5</a:t>
            </a:r>
          </a:p>
          <a:p>
            <a:pPr eaLnBrk="1" fontAlgn="auto" hangingPunct="1">
              <a:lnSpc>
                <a:spcPct val="80000"/>
              </a:lnSpc>
              <a:spcAft>
                <a:spcPts val="0"/>
              </a:spcAft>
              <a:buFont typeface="Wingdings" panose="05000000000000000000" pitchFamily="2" charset="2"/>
              <a:buNone/>
              <a:defRPr/>
            </a:pPr>
            <a:r>
              <a:rPr lang="en-US" altLang="zh-CN" sz="2100" dirty="0"/>
              <a:t>		    }	</a:t>
            </a:r>
          </a:p>
          <a:p>
            <a:pPr eaLnBrk="1" fontAlgn="auto" hangingPunct="1">
              <a:lnSpc>
                <a:spcPct val="80000"/>
              </a:lnSpc>
              <a:spcAft>
                <a:spcPts val="0"/>
              </a:spcAft>
              <a:buFont typeface="Wingdings" panose="05000000000000000000" pitchFamily="2" charset="2"/>
              <a:buNone/>
              <a:defRPr/>
            </a:pPr>
            <a:r>
              <a:rPr lang="en-US" altLang="zh-CN" sz="2100" dirty="0"/>
              <a:t>	</a:t>
            </a:r>
            <a:r>
              <a:rPr lang="en-US" altLang="zh-CN" sz="2100" dirty="0" smtClean="0"/>
              <a:t>    }</a:t>
            </a:r>
            <a:endParaRPr lang="en-US" altLang="zh-CN" sz="2100" dirty="0"/>
          </a:p>
          <a:p>
            <a:pPr eaLnBrk="1" fontAlgn="auto" hangingPunct="1">
              <a:lnSpc>
                <a:spcPct val="80000"/>
              </a:lnSpc>
              <a:spcAft>
                <a:spcPts val="0"/>
              </a:spcAft>
              <a:buFont typeface="Wingdings" panose="05000000000000000000" pitchFamily="2" charset="2"/>
              <a:buNone/>
              <a:defRPr/>
            </a:pPr>
            <a:r>
              <a:rPr lang="en-US" altLang="zh-CN" sz="2100" dirty="0"/>
              <a:t>	</a:t>
            </a:r>
            <a:r>
              <a:rPr lang="en-US" altLang="zh-CN" sz="2100" dirty="0" smtClean="0"/>
              <a:t>    </a:t>
            </a:r>
            <a:r>
              <a:rPr lang="zh-CN" altLang="en-US" sz="2100" dirty="0" smtClean="0"/>
              <a:t>语句</a:t>
            </a:r>
            <a:r>
              <a:rPr lang="en-US" altLang="zh-CN" sz="2100" dirty="0"/>
              <a:t>3</a:t>
            </a:r>
            <a:r>
              <a:rPr lang="zh-CN" altLang="en-US" sz="2100" dirty="0"/>
              <a:t>；              </a:t>
            </a:r>
            <a:r>
              <a:rPr lang="en-US" altLang="zh-CN" sz="2100" dirty="0"/>
              <a:t>//n</a:t>
            </a:r>
          </a:p>
          <a:p>
            <a:pPr eaLnBrk="1" fontAlgn="auto" hangingPunct="1">
              <a:lnSpc>
                <a:spcPct val="80000"/>
              </a:lnSpc>
              <a:spcAft>
                <a:spcPts val="0"/>
              </a:spcAft>
              <a:buFont typeface="Wingdings" panose="05000000000000000000" pitchFamily="2" charset="2"/>
              <a:buNone/>
              <a:defRPr/>
            </a:pPr>
            <a:r>
              <a:rPr lang="en-US" altLang="zh-CN" sz="2100" dirty="0"/>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10243" name="Rectangle 3"/>
          <p:cNvSpPr>
            <a:spLocks noGrp="1" noChangeArrowheads="1"/>
          </p:cNvSpPr>
          <p:nvPr>
            <p:ph idx="1"/>
          </p:nvPr>
        </p:nvSpPr>
        <p:spPr>
          <a:xfrm>
            <a:off x="506413" y="1398588"/>
            <a:ext cx="10220325" cy="4351337"/>
          </a:xfrm>
        </p:spPr>
        <p:txBody>
          <a:bodyPr rtlCol="0">
            <a:normAutofit fontScale="92500" lnSpcReduction="10000"/>
          </a:bodyPr>
          <a:lstStyle/>
          <a:p>
            <a:pPr eaLnBrk="1" fontAlgn="auto" hangingPunct="1">
              <a:spcAft>
                <a:spcPts val="0"/>
              </a:spcAft>
              <a:buFont typeface="Wingdings" panose="05000000000000000000" pitchFamily="2" charset="2"/>
              <a:buNone/>
              <a:defRPr/>
            </a:pPr>
            <a:r>
              <a:rPr lang="zh-CN" altLang="en-US" sz="2000" dirty="0"/>
              <a:t>第一重</a:t>
            </a:r>
          </a:p>
          <a:p>
            <a:pPr eaLnBrk="1" fontAlgn="auto" hangingPunct="1">
              <a:spcAft>
                <a:spcPts val="0"/>
              </a:spcAft>
              <a:buFont typeface="Wingdings" panose="05000000000000000000" pitchFamily="2" charset="2"/>
              <a:buNone/>
              <a:defRPr/>
            </a:pPr>
            <a:r>
              <a:rPr lang="zh-CN" altLang="en-US" sz="2000" dirty="0"/>
              <a:t>循环第几次          </a:t>
            </a:r>
            <a:r>
              <a:rPr lang="en-US" altLang="zh-CN" sz="2000" dirty="0"/>
              <a:t>1           2         3          4  </a:t>
            </a:r>
            <a:r>
              <a:rPr lang="en-US" altLang="zh-CN" sz="2000" dirty="0">
                <a:latin typeface="Arial" panose="020B0604020202020204" pitchFamily="34" charset="0"/>
              </a:rPr>
              <a:t>…</a:t>
            </a:r>
            <a:r>
              <a:rPr lang="en-US" altLang="zh-CN" sz="2000" dirty="0"/>
              <a:t>       n</a:t>
            </a:r>
          </a:p>
          <a:p>
            <a:pPr eaLnBrk="1" fontAlgn="auto" hangingPunct="1">
              <a:spcAft>
                <a:spcPts val="0"/>
              </a:spcAft>
              <a:buFont typeface="Wingdings" panose="05000000000000000000" pitchFamily="2" charset="2"/>
              <a:buNone/>
              <a:defRPr/>
            </a:pPr>
            <a:r>
              <a:rPr lang="en-US" altLang="zh-CN" sz="2000" dirty="0"/>
              <a:t>   </a:t>
            </a:r>
            <a:r>
              <a:rPr lang="en-US" altLang="zh-CN" sz="2000" dirty="0" err="1"/>
              <a:t>i</a:t>
            </a:r>
            <a:r>
              <a:rPr lang="en-US" altLang="zh-CN" sz="2000" dirty="0"/>
              <a:t>=           </a:t>
            </a:r>
            <a:r>
              <a:rPr lang="en-US" altLang="zh-CN" sz="2000" dirty="0" smtClean="0"/>
              <a:t>             </a:t>
            </a:r>
            <a:r>
              <a:rPr lang="en-US" altLang="zh-CN" sz="2000" dirty="0"/>
              <a:t>1           2         3          4  </a:t>
            </a:r>
            <a:r>
              <a:rPr lang="en-US" altLang="zh-CN" sz="2000" dirty="0">
                <a:latin typeface="Arial" panose="020B0604020202020204" pitchFamily="34" charset="0"/>
              </a:rPr>
              <a:t>…</a:t>
            </a:r>
            <a:r>
              <a:rPr lang="en-US" altLang="zh-CN" sz="2000" dirty="0"/>
              <a:t>       n</a:t>
            </a:r>
          </a:p>
          <a:p>
            <a:pPr eaLnBrk="1" fontAlgn="auto" hangingPunct="1">
              <a:spcAft>
                <a:spcPts val="0"/>
              </a:spcAft>
              <a:buFont typeface="Wingdings" panose="05000000000000000000" pitchFamily="2" charset="2"/>
              <a:buNone/>
              <a:defRPr/>
            </a:pPr>
            <a:r>
              <a:rPr lang="zh-CN" altLang="en-US" sz="2000" dirty="0"/>
              <a:t>第二重</a:t>
            </a:r>
          </a:p>
          <a:p>
            <a:pPr eaLnBrk="1" fontAlgn="auto" hangingPunct="1">
              <a:spcAft>
                <a:spcPts val="0"/>
              </a:spcAft>
              <a:buFont typeface="Wingdings" panose="05000000000000000000" pitchFamily="2" charset="2"/>
              <a:buNone/>
              <a:defRPr/>
            </a:pPr>
            <a:r>
              <a:rPr lang="zh-CN" altLang="en-US" sz="2000" dirty="0"/>
              <a:t>循环共几次          </a:t>
            </a:r>
            <a:r>
              <a:rPr lang="en-US" altLang="zh-CN" sz="2000" dirty="0"/>
              <a:t>1           2         3          4  </a:t>
            </a:r>
            <a:r>
              <a:rPr lang="en-US" altLang="zh-CN" sz="2000" dirty="0">
                <a:latin typeface="Arial" panose="020B0604020202020204" pitchFamily="34" charset="0"/>
              </a:rPr>
              <a:t>…</a:t>
            </a:r>
            <a:r>
              <a:rPr lang="en-US" altLang="zh-CN" sz="2000" dirty="0"/>
              <a:t>        n</a:t>
            </a:r>
          </a:p>
          <a:p>
            <a:pPr eaLnBrk="1" fontAlgn="auto" hangingPunct="1">
              <a:spcAft>
                <a:spcPts val="0"/>
              </a:spcAft>
              <a:buFont typeface="Wingdings" panose="05000000000000000000" pitchFamily="2" charset="2"/>
              <a:buNone/>
              <a:defRPr/>
            </a:pPr>
            <a:endParaRPr lang="en-US" altLang="zh-CN" sz="2000" dirty="0"/>
          </a:p>
          <a:p>
            <a:pPr eaLnBrk="1" fontAlgn="auto" hangingPunct="1">
              <a:spcAft>
                <a:spcPts val="0"/>
              </a:spcAft>
              <a:buFont typeface="Wingdings" panose="05000000000000000000" pitchFamily="2" charset="2"/>
              <a:buNone/>
              <a:defRPr/>
            </a:pPr>
            <a:r>
              <a:rPr lang="en-US" altLang="zh-CN" sz="2000" dirty="0"/>
              <a:t>   j=                  </a:t>
            </a:r>
            <a:r>
              <a:rPr lang="en-US" altLang="zh-CN" sz="2000" dirty="0" smtClean="0"/>
              <a:t>      1          </a:t>
            </a:r>
            <a:r>
              <a:rPr lang="en-US" altLang="zh-CN" sz="2000" dirty="0"/>
              <a:t>1 2    1 2 3    1 2 3 4     1 2 3 </a:t>
            </a:r>
            <a:r>
              <a:rPr lang="en-US" altLang="zh-CN" sz="2000" dirty="0">
                <a:latin typeface="Arial" panose="020B0604020202020204" pitchFamily="34" charset="0"/>
              </a:rPr>
              <a:t>…</a:t>
            </a:r>
            <a:r>
              <a:rPr lang="en-US" altLang="zh-CN" sz="2000" dirty="0"/>
              <a:t> n</a:t>
            </a:r>
          </a:p>
          <a:p>
            <a:pPr eaLnBrk="1" fontAlgn="auto" hangingPunct="1">
              <a:spcAft>
                <a:spcPts val="0"/>
              </a:spcAft>
              <a:buFont typeface="Wingdings" panose="05000000000000000000" pitchFamily="2" charset="2"/>
              <a:buNone/>
              <a:defRPr/>
            </a:pPr>
            <a:r>
              <a:rPr lang="zh-CN" altLang="en-US" sz="2000" dirty="0"/>
              <a:t>第三重</a:t>
            </a:r>
          </a:p>
          <a:p>
            <a:pPr eaLnBrk="1" fontAlgn="auto" hangingPunct="1">
              <a:spcAft>
                <a:spcPts val="0"/>
              </a:spcAft>
              <a:buFont typeface="Wingdings" panose="05000000000000000000" pitchFamily="2" charset="2"/>
              <a:buNone/>
              <a:defRPr/>
            </a:pPr>
            <a:r>
              <a:rPr lang="zh-CN" altLang="en-US" sz="2000" dirty="0"/>
              <a:t>循环共几次          </a:t>
            </a:r>
            <a:r>
              <a:rPr lang="en-US" altLang="zh-CN" sz="2000" dirty="0"/>
              <a:t>1          1 2    1 2 3    1 2 3 4     1 2 3 </a:t>
            </a:r>
            <a:r>
              <a:rPr lang="en-US" altLang="zh-CN" sz="2000" dirty="0">
                <a:latin typeface="Arial" panose="020B0604020202020204" pitchFamily="34" charset="0"/>
              </a:rPr>
              <a:t>…</a:t>
            </a:r>
            <a:r>
              <a:rPr lang="en-US" altLang="zh-CN" sz="2000" dirty="0"/>
              <a:t> n</a:t>
            </a:r>
          </a:p>
          <a:p>
            <a:pPr eaLnBrk="1" fontAlgn="auto" hangingPunct="1">
              <a:spcAft>
                <a:spcPts val="0"/>
              </a:spcAft>
              <a:buFont typeface="Wingdings" panose="05000000000000000000" pitchFamily="2" charset="2"/>
              <a:buNone/>
              <a:defRPr/>
            </a:pPr>
            <a:endParaRPr lang="en-US" altLang="zh-CN" sz="2000" dirty="0"/>
          </a:p>
          <a:p>
            <a:pPr eaLnBrk="1" fontAlgn="auto" hangingPunct="1">
              <a:spcAft>
                <a:spcPts val="0"/>
              </a:spcAft>
              <a:buFont typeface="Wingdings" panose="05000000000000000000" pitchFamily="2" charset="2"/>
              <a:buNone/>
              <a:defRPr/>
            </a:pPr>
            <a:r>
              <a:rPr lang="zh-CN" altLang="en-US" sz="2000" dirty="0"/>
              <a:t>总共次数</a:t>
            </a:r>
            <a:r>
              <a:rPr lang="en-US" altLang="zh-CN" sz="2000" dirty="0"/>
              <a:t>: 1 + 1+2 + 1+2+3  + 1+2+3+4  +1+ 2 +3 +</a:t>
            </a:r>
            <a:r>
              <a:rPr lang="en-US" altLang="zh-CN" sz="2000" dirty="0">
                <a:latin typeface="Arial" panose="020B0604020202020204" pitchFamily="34" charset="0"/>
              </a:rPr>
              <a:t>…</a:t>
            </a:r>
            <a:r>
              <a:rPr lang="en-US" altLang="zh-CN" sz="2000" dirty="0"/>
              <a:t>+ n</a:t>
            </a:r>
          </a:p>
          <a:p>
            <a:pPr eaLnBrk="1" fontAlgn="auto" hangingPunct="1">
              <a:spcAft>
                <a:spcPts val="0"/>
              </a:spcAft>
              <a:buFont typeface="Wingdings" panose="05000000000000000000" pitchFamily="2" charset="2"/>
              <a:buNone/>
              <a:defRPr/>
            </a:pPr>
            <a:r>
              <a:rPr lang="en-US" altLang="zh-CN" sz="2000" dirty="0"/>
              <a:t>=</a:t>
            </a:r>
          </a:p>
          <a:p>
            <a:pPr eaLnBrk="1" fontAlgn="auto" hangingPunct="1">
              <a:spcAft>
                <a:spcPts val="0"/>
              </a:spcAft>
              <a:buFont typeface="Wingdings" panose="05000000000000000000" pitchFamily="2" charset="2"/>
              <a:buNone/>
              <a:defRPr/>
            </a:pPr>
            <a:endParaRPr lang="en-US" altLang="zh-CN" sz="2000" dirty="0"/>
          </a:p>
          <a:p>
            <a:pPr eaLnBrk="1" fontAlgn="auto" hangingPunct="1">
              <a:spcAft>
                <a:spcPts val="0"/>
              </a:spcAft>
              <a:buFont typeface="Wingdings" panose="05000000000000000000" pitchFamily="2" charset="2"/>
              <a:buNone/>
              <a:defRPr/>
            </a:pPr>
            <a:endParaRPr lang="en-US" altLang="zh-CN" sz="2000" dirty="0"/>
          </a:p>
        </p:txBody>
      </p:sp>
      <p:sp>
        <p:nvSpPr>
          <p:cNvPr id="32772" name="Rectangle 4"/>
          <p:cNvSpPr>
            <a:spLocks noChangeArrowheads="1"/>
          </p:cNvSpPr>
          <p:nvPr/>
        </p:nvSpPr>
        <p:spPr bwMode="auto">
          <a:xfrm>
            <a:off x="1524000" y="-176213"/>
            <a:ext cx="184150" cy="35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700">
              <a:latin typeface="Verdana" panose="020B0604030504040204" pitchFamily="34" charset="0"/>
              <a:ea typeface="宋体" panose="02010600030101010101" pitchFamily="2" charset="-122"/>
              <a:sym typeface="Symbol" panose="05050102010706020507" pitchFamily="18" charset="2"/>
            </a:endParaRPr>
          </a:p>
        </p:txBody>
      </p:sp>
      <p:graphicFrame>
        <p:nvGraphicFramePr>
          <p:cNvPr id="32773" name="Object 5"/>
          <p:cNvGraphicFramePr>
            <a:graphicFrameLocks noChangeAspect="1"/>
          </p:cNvGraphicFramePr>
          <p:nvPr/>
        </p:nvGraphicFramePr>
        <p:xfrm>
          <a:off x="3071813" y="5229225"/>
          <a:ext cx="1150937" cy="1039813"/>
        </p:xfrm>
        <a:graphic>
          <a:graphicData uri="http://schemas.openxmlformats.org/presentationml/2006/ole">
            <mc:AlternateContent xmlns:mc="http://schemas.openxmlformats.org/markup-compatibility/2006">
              <mc:Choice xmlns:v="urn:schemas-microsoft-com:vml" Requires="v">
                <p:oleObj spid="_x0000_s32775" name="公式" r:id="rId3" imgW="495085" imgH="444307" progId="Equation.3">
                  <p:embed/>
                </p:oleObj>
              </mc:Choice>
              <mc:Fallback>
                <p:oleObj name="公式" r:id="rId3" imgW="495085" imgH="44430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3" y="5229225"/>
                        <a:ext cx="1150937"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527050" y="368300"/>
            <a:ext cx="10218738" cy="822325"/>
          </a:xfrm>
        </p:spPr>
        <p:txBody>
          <a:bodyPr/>
          <a:lstStyle/>
          <a:p>
            <a:pPr eaLnBrk="1" hangingPunct="1"/>
            <a:r>
              <a:rPr lang="zh-CN" altLang="en-US" smtClean="0"/>
              <a:t>参数传递</a:t>
            </a:r>
          </a:p>
        </p:txBody>
      </p:sp>
      <p:sp>
        <p:nvSpPr>
          <p:cNvPr id="33795" name="Rectangle 3"/>
          <p:cNvSpPr>
            <a:spLocks noGrp="1" noChangeArrowheads="1"/>
          </p:cNvSpPr>
          <p:nvPr>
            <p:ph idx="1"/>
          </p:nvPr>
        </p:nvSpPr>
        <p:spPr>
          <a:xfrm>
            <a:off x="527050" y="1628775"/>
            <a:ext cx="10218738" cy="4351338"/>
          </a:xfrm>
        </p:spPr>
        <p:txBody>
          <a:bodyPr/>
          <a:lstStyle/>
          <a:p>
            <a:pPr eaLnBrk="1" hangingPunct="1"/>
            <a:r>
              <a:rPr lang="zh-CN" altLang="en-US" smtClean="0"/>
              <a:t>值传递</a:t>
            </a:r>
          </a:p>
          <a:p>
            <a:pPr eaLnBrk="1" hangingPunct="1"/>
            <a:r>
              <a:rPr lang="zh-CN" altLang="en-US" smtClean="0"/>
              <a:t>指针传递</a:t>
            </a:r>
          </a:p>
          <a:p>
            <a:pPr eaLnBrk="1" hangingPunct="1"/>
            <a:r>
              <a:rPr lang="zh-CN" altLang="en-US" smtClean="0"/>
              <a:t>引用传递</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12291" name="Rectangle 3"/>
          <p:cNvSpPr>
            <a:spLocks noGrp="1" noChangeArrowheads="1"/>
          </p:cNvSpPr>
          <p:nvPr>
            <p:ph idx="1"/>
          </p:nvPr>
        </p:nvSpPr>
        <p:spPr>
          <a:xfrm>
            <a:off x="527050" y="1628775"/>
            <a:ext cx="10218738" cy="4351338"/>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r>
              <a:rPr lang="en-US" altLang="zh-CN" sz="2600"/>
              <a:t>Swap(int a, int b){</a:t>
            </a:r>
          </a:p>
          <a:p>
            <a:pPr eaLnBrk="1" fontAlgn="auto" hangingPunct="1">
              <a:lnSpc>
                <a:spcPct val="80000"/>
              </a:lnSpc>
              <a:spcAft>
                <a:spcPts val="0"/>
              </a:spcAft>
              <a:buFont typeface="Wingdings" panose="05000000000000000000" pitchFamily="2" charset="2"/>
              <a:buNone/>
              <a:defRPr/>
            </a:pPr>
            <a:r>
              <a:rPr lang="en-US" altLang="zh-CN" sz="2600"/>
              <a:t>	int temp;</a:t>
            </a:r>
          </a:p>
          <a:p>
            <a:pPr eaLnBrk="1" fontAlgn="auto" hangingPunct="1">
              <a:lnSpc>
                <a:spcPct val="80000"/>
              </a:lnSpc>
              <a:spcAft>
                <a:spcPts val="0"/>
              </a:spcAft>
              <a:buFont typeface="Wingdings" panose="05000000000000000000" pitchFamily="2" charset="2"/>
              <a:buNone/>
              <a:defRPr/>
            </a:pPr>
            <a:r>
              <a:rPr lang="en-US" altLang="zh-CN" sz="2600"/>
              <a:t>	temp =a;</a:t>
            </a:r>
          </a:p>
          <a:p>
            <a:pPr eaLnBrk="1" fontAlgn="auto" hangingPunct="1">
              <a:lnSpc>
                <a:spcPct val="80000"/>
              </a:lnSpc>
              <a:spcAft>
                <a:spcPts val="0"/>
              </a:spcAft>
              <a:buFont typeface="Wingdings" panose="05000000000000000000" pitchFamily="2" charset="2"/>
              <a:buNone/>
              <a:defRPr/>
            </a:pPr>
            <a:r>
              <a:rPr lang="en-US" altLang="zh-CN" sz="2600"/>
              <a:t>	a=b;</a:t>
            </a:r>
          </a:p>
          <a:p>
            <a:pPr eaLnBrk="1" fontAlgn="auto" hangingPunct="1">
              <a:lnSpc>
                <a:spcPct val="80000"/>
              </a:lnSpc>
              <a:spcAft>
                <a:spcPts val="0"/>
              </a:spcAft>
              <a:buFont typeface="Wingdings" panose="05000000000000000000" pitchFamily="2" charset="2"/>
              <a:buNone/>
              <a:defRPr/>
            </a:pPr>
            <a:r>
              <a:rPr lang="en-US" altLang="zh-CN" sz="2600"/>
              <a:t>	b=temp;</a:t>
            </a:r>
          </a:p>
          <a:p>
            <a:pPr eaLnBrk="1" fontAlgn="auto" hangingPunct="1">
              <a:lnSpc>
                <a:spcPct val="80000"/>
              </a:lnSpc>
              <a:spcAft>
                <a:spcPts val="0"/>
              </a:spcAft>
              <a:buFont typeface="Wingdings" panose="05000000000000000000" pitchFamily="2" charset="2"/>
              <a:buNone/>
              <a:defRPr/>
            </a:pPr>
            <a:r>
              <a:rPr lang="en-US" altLang="zh-CN" sz="2600"/>
              <a:t>}</a:t>
            </a:r>
          </a:p>
          <a:p>
            <a:pPr eaLnBrk="1" fontAlgn="auto" hangingPunct="1">
              <a:lnSpc>
                <a:spcPct val="80000"/>
              </a:lnSpc>
              <a:spcAft>
                <a:spcPts val="0"/>
              </a:spcAft>
              <a:buFont typeface="Wingdings" panose="05000000000000000000" pitchFamily="2" charset="2"/>
              <a:buNone/>
              <a:defRPr/>
            </a:pPr>
            <a:r>
              <a:rPr lang="en-US" altLang="zh-CN" sz="2600"/>
              <a:t>Main(){</a:t>
            </a:r>
          </a:p>
          <a:p>
            <a:pPr eaLnBrk="1" fontAlgn="auto" hangingPunct="1">
              <a:lnSpc>
                <a:spcPct val="80000"/>
              </a:lnSpc>
              <a:spcAft>
                <a:spcPts val="0"/>
              </a:spcAft>
              <a:buFont typeface="Wingdings" panose="05000000000000000000" pitchFamily="2" charset="2"/>
              <a:buNone/>
              <a:defRPr/>
            </a:pPr>
            <a:r>
              <a:rPr lang="en-US" altLang="zh-CN" sz="2600"/>
              <a:t>	int x,y;</a:t>
            </a:r>
          </a:p>
          <a:p>
            <a:pPr eaLnBrk="1" fontAlgn="auto" hangingPunct="1">
              <a:lnSpc>
                <a:spcPct val="80000"/>
              </a:lnSpc>
              <a:spcAft>
                <a:spcPts val="0"/>
              </a:spcAft>
              <a:buFont typeface="Wingdings" panose="05000000000000000000" pitchFamily="2" charset="2"/>
              <a:buNone/>
              <a:defRPr/>
            </a:pPr>
            <a:r>
              <a:rPr lang="en-US" altLang="zh-CN" sz="2600"/>
              <a:t>	Swap(x,y);</a:t>
            </a:r>
          </a:p>
          <a:p>
            <a:pPr eaLnBrk="1" fontAlgn="auto" hangingPunct="1">
              <a:lnSpc>
                <a:spcPct val="80000"/>
              </a:lnSpc>
              <a:spcAft>
                <a:spcPts val="0"/>
              </a:spcAft>
              <a:buFont typeface="Wingdings" panose="05000000000000000000" pitchFamily="2" charset="2"/>
              <a:buNone/>
              <a:defRPr/>
            </a:pPr>
            <a:r>
              <a:rPr lang="en-US" altLang="zh-CN" sz="2600"/>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13315" name="Rectangle 3"/>
          <p:cNvSpPr>
            <a:spLocks noGrp="1" noChangeArrowheads="1"/>
          </p:cNvSpPr>
          <p:nvPr>
            <p:ph idx="1"/>
          </p:nvPr>
        </p:nvSpPr>
        <p:spPr>
          <a:xfrm>
            <a:off x="527050" y="1628775"/>
            <a:ext cx="10218738" cy="4351338"/>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r>
              <a:rPr lang="en-US" altLang="zh-CN" sz="2600" dirty="0"/>
              <a:t>Swap(</a:t>
            </a:r>
            <a:r>
              <a:rPr lang="en-US" altLang="zh-CN" sz="2600" dirty="0" err="1"/>
              <a:t>int</a:t>
            </a:r>
            <a:r>
              <a:rPr lang="en-US" altLang="zh-CN" sz="2600" dirty="0"/>
              <a:t> *a, </a:t>
            </a:r>
            <a:r>
              <a:rPr lang="en-US" altLang="zh-CN" sz="2600" dirty="0" err="1"/>
              <a:t>int</a:t>
            </a:r>
            <a:r>
              <a:rPr lang="en-US" altLang="zh-CN" sz="2600" dirty="0"/>
              <a:t> *b){</a:t>
            </a:r>
          </a:p>
          <a:p>
            <a:pPr eaLnBrk="1" fontAlgn="auto" hangingPunct="1">
              <a:lnSpc>
                <a:spcPct val="80000"/>
              </a:lnSpc>
              <a:spcAft>
                <a:spcPts val="0"/>
              </a:spcAft>
              <a:buFont typeface="Wingdings" panose="05000000000000000000" pitchFamily="2" charset="2"/>
              <a:buNone/>
              <a:defRPr/>
            </a:pPr>
            <a:r>
              <a:rPr lang="en-US" altLang="zh-CN" sz="2600" dirty="0"/>
              <a:t>	</a:t>
            </a:r>
            <a:r>
              <a:rPr lang="en-US" altLang="zh-CN" sz="2600" dirty="0" err="1" smtClean="0"/>
              <a:t>int</a:t>
            </a:r>
            <a:r>
              <a:rPr lang="en-US" altLang="zh-CN" sz="2600" dirty="0" smtClean="0"/>
              <a:t> </a:t>
            </a:r>
            <a:r>
              <a:rPr lang="en-US" altLang="zh-CN" sz="2600" dirty="0"/>
              <a:t>temp;</a:t>
            </a:r>
          </a:p>
          <a:p>
            <a:pPr eaLnBrk="1" fontAlgn="auto" hangingPunct="1">
              <a:lnSpc>
                <a:spcPct val="80000"/>
              </a:lnSpc>
              <a:spcAft>
                <a:spcPts val="0"/>
              </a:spcAft>
              <a:buFont typeface="Wingdings" panose="05000000000000000000" pitchFamily="2" charset="2"/>
              <a:buNone/>
              <a:defRPr/>
            </a:pPr>
            <a:r>
              <a:rPr lang="en-US" altLang="zh-CN" sz="2600" dirty="0"/>
              <a:t>	temp </a:t>
            </a:r>
            <a:r>
              <a:rPr lang="en-US" altLang="zh-CN" sz="2600" dirty="0" smtClean="0"/>
              <a:t>=*a</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	</a:t>
            </a:r>
            <a:r>
              <a:rPr lang="en-US" altLang="zh-CN" sz="2600" dirty="0" smtClean="0"/>
              <a:t>*a=*b</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	</a:t>
            </a:r>
            <a:r>
              <a:rPr lang="en-US" altLang="zh-CN" sz="2600" dirty="0" smtClean="0"/>
              <a:t>*b=temp</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Main(){</a:t>
            </a:r>
          </a:p>
          <a:p>
            <a:pPr eaLnBrk="1" fontAlgn="auto" hangingPunct="1">
              <a:lnSpc>
                <a:spcPct val="80000"/>
              </a:lnSpc>
              <a:spcAft>
                <a:spcPts val="0"/>
              </a:spcAft>
              <a:buFont typeface="Wingdings" panose="05000000000000000000" pitchFamily="2" charset="2"/>
              <a:buNone/>
              <a:defRPr/>
            </a:pPr>
            <a:r>
              <a:rPr lang="en-US" altLang="zh-CN" sz="2600" dirty="0"/>
              <a:t>	</a:t>
            </a:r>
            <a:r>
              <a:rPr lang="en-US" altLang="zh-CN" sz="2600" dirty="0" err="1"/>
              <a:t>int</a:t>
            </a:r>
            <a:r>
              <a:rPr lang="en-US" altLang="zh-CN" sz="2600" dirty="0"/>
              <a:t> </a:t>
            </a:r>
            <a:r>
              <a:rPr lang="en-US" altLang="zh-CN" sz="2600" dirty="0" err="1"/>
              <a:t>x,y</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	Swap(&amp;</a:t>
            </a:r>
            <a:r>
              <a:rPr lang="en-US" altLang="zh-CN" sz="2600" dirty="0" err="1"/>
              <a:t>x,&amp;y</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14339" name="Rectangle 3"/>
          <p:cNvSpPr>
            <a:spLocks noGrp="1" noChangeArrowheads="1"/>
          </p:cNvSpPr>
          <p:nvPr>
            <p:ph idx="1"/>
          </p:nvPr>
        </p:nvSpPr>
        <p:spPr>
          <a:xfrm>
            <a:off x="527050" y="1628775"/>
            <a:ext cx="10218738" cy="4351338"/>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r>
              <a:rPr lang="en-US" altLang="zh-CN" sz="2600" dirty="0"/>
              <a:t>Swap(</a:t>
            </a:r>
            <a:r>
              <a:rPr lang="en-US" altLang="zh-CN" sz="2600" dirty="0" err="1"/>
              <a:t>int</a:t>
            </a:r>
            <a:r>
              <a:rPr lang="en-US" altLang="zh-CN" sz="2600" dirty="0"/>
              <a:t> *a, </a:t>
            </a:r>
            <a:r>
              <a:rPr lang="en-US" altLang="zh-CN" sz="2600" dirty="0" err="1"/>
              <a:t>int</a:t>
            </a:r>
            <a:r>
              <a:rPr lang="en-US" altLang="zh-CN" sz="2600" dirty="0"/>
              <a:t> *b){</a:t>
            </a:r>
          </a:p>
          <a:p>
            <a:pPr eaLnBrk="1" fontAlgn="auto" hangingPunct="1">
              <a:lnSpc>
                <a:spcPct val="80000"/>
              </a:lnSpc>
              <a:spcAft>
                <a:spcPts val="0"/>
              </a:spcAft>
              <a:buFont typeface="Wingdings" panose="05000000000000000000" pitchFamily="2" charset="2"/>
              <a:buNone/>
              <a:defRPr/>
            </a:pPr>
            <a:r>
              <a:rPr lang="en-US" altLang="zh-CN" sz="2600" dirty="0"/>
              <a:t>	</a:t>
            </a:r>
            <a:r>
              <a:rPr lang="en-US" altLang="zh-CN" sz="2600" dirty="0" err="1"/>
              <a:t>int</a:t>
            </a:r>
            <a:r>
              <a:rPr lang="en-US" altLang="zh-CN" sz="2600" dirty="0"/>
              <a:t> </a:t>
            </a:r>
            <a:r>
              <a:rPr lang="en-US" altLang="zh-CN" sz="2600" dirty="0" smtClean="0"/>
              <a:t>*temp</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	temp </a:t>
            </a:r>
            <a:r>
              <a:rPr lang="en-US" altLang="zh-CN" sz="2600" dirty="0" smtClean="0"/>
              <a:t>=a</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	</a:t>
            </a:r>
            <a:r>
              <a:rPr lang="en-US" altLang="zh-CN" sz="2600" dirty="0" smtClean="0"/>
              <a:t>a=b</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	</a:t>
            </a:r>
            <a:r>
              <a:rPr lang="en-US" altLang="zh-CN" sz="2600" dirty="0" smtClean="0"/>
              <a:t>b=temp</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Main(){</a:t>
            </a:r>
          </a:p>
          <a:p>
            <a:pPr eaLnBrk="1" fontAlgn="auto" hangingPunct="1">
              <a:lnSpc>
                <a:spcPct val="80000"/>
              </a:lnSpc>
              <a:spcAft>
                <a:spcPts val="0"/>
              </a:spcAft>
              <a:buFont typeface="Wingdings" panose="05000000000000000000" pitchFamily="2" charset="2"/>
              <a:buNone/>
              <a:defRPr/>
            </a:pPr>
            <a:r>
              <a:rPr lang="en-US" altLang="zh-CN" sz="2600" dirty="0"/>
              <a:t>	</a:t>
            </a:r>
            <a:r>
              <a:rPr lang="en-US" altLang="zh-CN" sz="2600" dirty="0" err="1"/>
              <a:t>int</a:t>
            </a:r>
            <a:r>
              <a:rPr lang="en-US" altLang="zh-CN" sz="2600" dirty="0"/>
              <a:t> </a:t>
            </a:r>
            <a:r>
              <a:rPr lang="en-US" altLang="zh-CN" sz="2600" dirty="0" err="1"/>
              <a:t>x,y</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	Swap(&amp;</a:t>
            </a:r>
            <a:r>
              <a:rPr lang="en-US" altLang="zh-CN" sz="2600" dirty="0" err="1"/>
              <a:t>x,&amp;y</a:t>
            </a:r>
            <a:r>
              <a:rPr lang="en-US" altLang="zh-CN" sz="2600" dirty="0"/>
              <a:t>);</a:t>
            </a:r>
          </a:p>
          <a:p>
            <a:pPr eaLnBrk="1" fontAlgn="auto" hangingPunct="1">
              <a:lnSpc>
                <a:spcPct val="80000"/>
              </a:lnSpc>
              <a:spcAft>
                <a:spcPts val="0"/>
              </a:spcAft>
              <a:buFont typeface="Wingdings" panose="05000000000000000000" pitchFamily="2" charset="2"/>
              <a:buNone/>
              <a:defRPr/>
            </a:pPr>
            <a:r>
              <a:rPr lang="en-US" altLang="zh-CN" sz="2600" dirty="0"/>
              <a: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15363" name="Rectangle 3"/>
          <p:cNvSpPr>
            <a:spLocks noGrp="1" noChangeArrowheads="1"/>
          </p:cNvSpPr>
          <p:nvPr>
            <p:ph idx="1"/>
          </p:nvPr>
        </p:nvSpPr>
        <p:spPr>
          <a:xfrm>
            <a:off x="527050" y="1628775"/>
            <a:ext cx="10218738" cy="4351338"/>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r>
              <a:rPr lang="en-US" altLang="zh-CN" sz="2600"/>
              <a:t>Swap(int &amp;a, int &amp;b){</a:t>
            </a:r>
          </a:p>
          <a:p>
            <a:pPr eaLnBrk="1" fontAlgn="auto" hangingPunct="1">
              <a:lnSpc>
                <a:spcPct val="80000"/>
              </a:lnSpc>
              <a:spcAft>
                <a:spcPts val="0"/>
              </a:spcAft>
              <a:buFont typeface="Wingdings" panose="05000000000000000000" pitchFamily="2" charset="2"/>
              <a:buNone/>
              <a:defRPr/>
            </a:pPr>
            <a:r>
              <a:rPr lang="en-US" altLang="zh-CN" sz="2600"/>
              <a:t>	int temp;</a:t>
            </a:r>
          </a:p>
          <a:p>
            <a:pPr eaLnBrk="1" fontAlgn="auto" hangingPunct="1">
              <a:lnSpc>
                <a:spcPct val="80000"/>
              </a:lnSpc>
              <a:spcAft>
                <a:spcPts val="0"/>
              </a:spcAft>
              <a:buFont typeface="Wingdings" panose="05000000000000000000" pitchFamily="2" charset="2"/>
              <a:buNone/>
              <a:defRPr/>
            </a:pPr>
            <a:r>
              <a:rPr lang="en-US" altLang="zh-CN" sz="2600"/>
              <a:t>	temp =a;</a:t>
            </a:r>
          </a:p>
          <a:p>
            <a:pPr eaLnBrk="1" fontAlgn="auto" hangingPunct="1">
              <a:lnSpc>
                <a:spcPct val="80000"/>
              </a:lnSpc>
              <a:spcAft>
                <a:spcPts val="0"/>
              </a:spcAft>
              <a:buFont typeface="Wingdings" panose="05000000000000000000" pitchFamily="2" charset="2"/>
              <a:buNone/>
              <a:defRPr/>
            </a:pPr>
            <a:r>
              <a:rPr lang="en-US" altLang="zh-CN" sz="2600"/>
              <a:t>	a=b;</a:t>
            </a:r>
          </a:p>
          <a:p>
            <a:pPr eaLnBrk="1" fontAlgn="auto" hangingPunct="1">
              <a:lnSpc>
                <a:spcPct val="80000"/>
              </a:lnSpc>
              <a:spcAft>
                <a:spcPts val="0"/>
              </a:spcAft>
              <a:buFont typeface="Wingdings" panose="05000000000000000000" pitchFamily="2" charset="2"/>
              <a:buNone/>
              <a:defRPr/>
            </a:pPr>
            <a:r>
              <a:rPr lang="en-US" altLang="zh-CN" sz="2600"/>
              <a:t>	b=temp;</a:t>
            </a:r>
          </a:p>
          <a:p>
            <a:pPr eaLnBrk="1" fontAlgn="auto" hangingPunct="1">
              <a:lnSpc>
                <a:spcPct val="80000"/>
              </a:lnSpc>
              <a:spcAft>
                <a:spcPts val="0"/>
              </a:spcAft>
              <a:buFont typeface="Wingdings" panose="05000000000000000000" pitchFamily="2" charset="2"/>
              <a:buNone/>
              <a:defRPr/>
            </a:pPr>
            <a:r>
              <a:rPr lang="en-US" altLang="zh-CN" sz="2600"/>
              <a:t>}</a:t>
            </a:r>
          </a:p>
          <a:p>
            <a:pPr eaLnBrk="1" fontAlgn="auto" hangingPunct="1">
              <a:lnSpc>
                <a:spcPct val="80000"/>
              </a:lnSpc>
              <a:spcAft>
                <a:spcPts val="0"/>
              </a:spcAft>
              <a:buFont typeface="Wingdings" panose="05000000000000000000" pitchFamily="2" charset="2"/>
              <a:buNone/>
              <a:defRPr/>
            </a:pPr>
            <a:r>
              <a:rPr lang="en-US" altLang="zh-CN" sz="2600"/>
              <a:t>Main(){</a:t>
            </a:r>
          </a:p>
          <a:p>
            <a:pPr eaLnBrk="1" fontAlgn="auto" hangingPunct="1">
              <a:lnSpc>
                <a:spcPct val="80000"/>
              </a:lnSpc>
              <a:spcAft>
                <a:spcPts val="0"/>
              </a:spcAft>
              <a:buFont typeface="Wingdings" panose="05000000000000000000" pitchFamily="2" charset="2"/>
              <a:buNone/>
              <a:defRPr/>
            </a:pPr>
            <a:r>
              <a:rPr lang="en-US" altLang="zh-CN" sz="2600"/>
              <a:t>	int x,y;</a:t>
            </a:r>
          </a:p>
          <a:p>
            <a:pPr eaLnBrk="1" fontAlgn="auto" hangingPunct="1">
              <a:lnSpc>
                <a:spcPct val="80000"/>
              </a:lnSpc>
              <a:spcAft>
                <a:spcPts val="0"/>
              </a:spcAft>
              <a:buFont typeface="Wingdings" panose="05000000000000000000" pitchFamily="2" charset="2"/>
              <a:buNone/>
              <a:defRPr/>
            </a:pPr>
            <a:r>
              <a:rPr lang="en-US" altLang="zh-CN" sz="2600"/>
              <a:t>	Swap(x,y);</a:t>
            </a:r>
          </a:p>
          <a:p>
            <a:pPr eaLnBrk="1" fontAlgn="auto" hangingPunct="1">
              <a:lnSpc>
                <a:spcPct val="80000"/>
              </a:lnSpc>
              <a:spcAft>
                <a:spcPts val="0"/>
              </a:spcAft>
              <a:buFont typeface="Wingdings" panose="05000000000000000000" pitchFamily="2" charset="2"/>
              <a:buNone/>
              <a:defRPr/>
            </a:pPr>
            <a:r>
              <a:rPr lang="en-US" altLang="zh-CN" sz="2600"/>
              <a: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16387" name="Rectangle 3"/>
          <p:cNvSpPr>
            <a:spLocks noGrp="1" noChangeArrowheads="1"/>
          </p:cNvSpPr>
          <p:nvPr>
            <p:ph idx="1"/>
          </p:nvPr>
        </p:nvSpPr>
        <p:spPr>
          <a:xfrm>
            <a:off x="527050" y="1628775"/>
            <a:ext cx="10218738" cy="4351338"/>
          </a:xfrm>
        </p:spPr>
        <p:txBody>
          <a:bodyPr rtlCol="0">
            <a:normAutofit lnSpcReduction="10000"/>
          </a:bodyPr>
          <a:lstStyle/>
          <a:p>
            <a:pPr eaLnBrk="1" fontAlgn="auto" hangingPunct="1">
              <a:lnSpc>
                <a:spcPct val="80000"/>
              </a:lnSpc>
              <a:spcAft>
                <a:spcPts val="0"/>
              </a:spcAft>
              <a:buFont typeface="Wingdings" panose="05000000000000000000" pitchFamily="2" charset="2"/>
              <a:buNone/>
              <a:defRPr/>
            </a:pPr>
            <a:r>
              <a:rPr lang="en-US" altLang="zh-CN" sz="2600"/>
              <a:t>Swap(const int &amp;a, const int &amp;b){</a:t>
            </a:r>
          </a:p>
          <a:p>
            <a:pPr eaLnBrk="1" fontAlgn="auto" hangingPunct="1">
              <a:lnSpc>
                <a:spcPct val="80000"/>
              </a:lnSpc>
              <a:spcAft>
                <a:spcPts val="0"/>
              </a:spcAft>
              <a:buFont typeface="Wingdings" panose="05000000000000000000" pitchFamily="2" charset="2"/>
              <a:buNone/>
              <a:defRPr/>
            </a:pPr>
            <a:r>
              <a:rPr lang="en-US" altLang="zh-CN" sz="2600"/>
              <a:t>	int temp;</a:t>
            </a:r>
          </a:p>
          <a:p>
            <a:pPr eaLnBrk="1" fontAlgn="auto" hangingPunct="1">
              <a:lnSpc>
                <a:spcPct val="80000"/>
              </a:lnSpc>
              <a:spcAft>
                <a:spcPts val="0"/>
              </a:spcAft>
              <a:buFont typeface="Wingdings" panose="05000000000000000000" pitchFamily="2" charset="2"/>
              <a:buNone/>
              <a:defRPr/>
            </a:pPr>
            <a:r>
              <a:rPr lang="en-US" altLang="zh-CN" sz="2600"/>
              <a:t>	temp =a;</a:t>
            </a:r>
          </a:p>
          <a:p>
            <a:pPr eaLnBrk="1" fontAlgn="auto" hangingPunct="1">
              <a:lnSpc>
                <a:spcPct val="80000"/>
              </a:lnSpc>
              <a:spcAft>
                <a:spcPts val="0"/>
              </a:spcAft>
              <a:buFont typeface="Wingdings" panose="05000000000000000000" pitchFamily="2" charset="2"/>
              <a:buNone/>
              <a:defRPr/>
            </a:pPr>
            <a:r>
              <a:rPr lang="en-US" altLang="zh-CN" sz="2600"/>
              <a:t>	a=b;</a:t>
            </a:r>
          </a:p>
          <a:p>
            <a:pPr eaLnBrk="1" fontAlgn="auto" hangingPunct="1">
              <a:lnSpc>
                <a:spcPct val="80000"/>
              </a:lnSpc>
              <a:spcAft>
                <a:spcPts val="0"/>
              </a:spcAft>
              <a:buFont typeface="Wingdings" panose="05000000000000000000" pitchFamily="2" charset="2"/>
              <a:buNone/>
              <a:defRPr/>
            </a:pPr>
            <a:r>
              <a:rPr lang="en-US" altLang="zh-CN" sz="2600"/>
              <a:t>	b=temp;</a:t>
            </a:r>
          </a:p>
          <a:p>
            <a:pPr eaLnBrk="1" fontAlgn="auto" hangingPunct="1">
              <a:lnSpc>
                <a:spcPct val="80000"/>
              </a:lnSpc>
              <a:spcAft>
                <a:spcPts val="0"/>
              </a:spcAft>
              <a:buFont typeface="Wingdings" panose="05000000000000000000" pitchFamily="2" charset="2"/>
              <a:buNone/>
              <a:defRPr/>
            </a:pPr>
            <a:r>
              <a:rPr lang="en-US" altLang="zh-CN" sz="2600"/>
              <a:t>}</a:t>
            </a:r>
          </a:p>
          <a:p>
            <a:pPr eaLnBrk="1" fontAlgn="auto" hangingPunct="1">
              <a:lnSpc>
                <a:spcPct val="80000"/>
              </a:lnSpc>
              <a:spcAft>
                <a:spcPts val="0"/>
              </a:spcAft>
              <a:buFont typeface="Wingdings" panose="05000000000000000000" pitchFamily="2" charset="2"/>
              <a:buNone/>
              <a:defRPr/>
            </a:pPr>
            <a:r>
              <a:rPr lang="en-US" altLang="zh-CN" sz="2600"/>
              <a:t>Main(){</a:t>
            </a:r>
          </a:p>
          <a:p>
            <a:pPr eaLnBrk="1" fontAlgn="auto" hangingPunct="1">
              <a:lnSpc>
                <a:spcPct val="80000"/>
              </a:lnSpc>
              <a:spcAft>
                <a:spcPts val="0"/>
              </a:spcAft>
              <a:buFont typeface="Wingdings" panose="05000000000000000000" pitchFamily="2" charset="2"/>
              <a:buNone/>
              <a:defRPr/>
            </a:pPr>
            <a:r>
              <a:rPr lang="en-US" altLang="zh-CN" sz="2600"/>
              <a:t>	int x,y;</a:t>
            </a:r>
          </a:p>
          <a:p>
            <a:pPr eaLnBrk="1" fontAlgn="auto" hangingPunct="1">
              <a:lnSpc>
                <a:spcPct val="80000"/>
              </a:lnSpc>
              <a:spcAft>
                <a:spcPts val="0"/>
              </a:spcAft>
              <a:buFont typeface="Wingdings" panose="05000000000000000000" pitchFamily="2" charset="2"/>
              <a:buNone/>
              <a:defRPr/>
            </a:pPr>
            <a:r>
              <a:rPr lang="en-US" altLang="zh-CN" sz="2600"/>
              <a:t>	Swap(x,y);</a:t>
            </a:r>
          </a:p>
          <a:p>
            <a:pPr eaLnBrk="1" fontAlgn="auto" hangingPunct="1">
              <a:lnSpc>
                <a:spcPct val="80000"/>
              </a:lnSpc>
              <a:spcAft>
                <a:spcPts val="0"/>
              </a:spcAft>
              <a:buFont typeface="Wingdings" panose="05000000000000000000" pitchFamily="2" charset="2"/>
              <a:buNone/>
              <a:defRPr/>
            </a:pPr>
            <a:r>
              <a:rPr lang="en-US" altLang="zh-CN" sz="2600"/>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27050" y="368300"/>
            <a:ext cx="10218738" cy="822325"/>
          </a:xfrm>
        </p:spPr>
        <p:txBody>
          <a:bodyPr/>
          <a:lstStyle/>
          <a:p>
            <a:pPr eaLnBrk="1" hangingPunct="1"/>
            <a:r>
              <a:rPr lang="en-US" altLang="zh-CN" smtClean="0"/>
              <a:t>C</a:t>
            </a:r>
            <a:r>
              <a:rPr lang="zh-CN" altLang="en-US" smtClean="0"/>
              <a:t>语言</a:t>
            </a:r>
          </a:p>
        </p:txBody>
      </p:sp>
      <p:sp>
        <p:nvSpPr>
          <p:cNvPr id="40963" name="Rectangle 3"/>
          <p:cNvSpPr>
            <a:spLocks noGrp="1" noChangeArrowheads="1"/>
          </p:cNvSpPr>
          <p:nvPr>
            <p:ph idx="1"/>
          </p:nvPr>
        </p:nvSpPr>
        <p:spPr>
          <a:xfrm>
            <a:off x="527050" y="1628775"/>
            <a:ext cx="10218738" cy="4351338"/>
          </a:xfrm>
        </p:spPr>
        <p:txBody>
          <a:bodyPr/>
          <a:lstStyle/>
          <a:p>
            <a:pPr eaLnBrk="1" hangingPunct="1"/>
            <a:r>
              <a:rPr lang="en-US" altLang="zh-CN" sz="2600" smtClean="0"/>
              <a:t>p ++</a:t>
            </a:r>
          </a:p>
          <a:p>
            <a:pPr lvl="1" eaLnBrk="1" hangingPunct="1">
              <a:buFont typeface="Wingdings" panose="05000000000000000000" pitchFamily="2" charset="2"/>
              <a:buNone/>
            </a:pPr>
            <a:r>
              <a:rPr lang="en-US" altLang="zh-CN" sz="2200" smtClean="0"/>
              <a:t>p</a:t>
            </a:r>
            <a:r>
              <a:rPr lang="zh-CN" altLang="en-US" sz="2200" smtClean="0"/>
              <a:t>可以是</a:t>
            </a:r>
            <a:r>
              <a:rPr lang="en-US" altLang="zh-CN" sz="2200" smtClean="0"/>
              <a:t>int</a:t>
            </a:r>
            <a:r>
              <a:rPr lang="zh-CN" altLang="en-US" sz="2200" smtClean="0"/>
              <a:t>型的数，也可以是个指针；</a:t>
            </a:r>
          </a:p>
          <a:p>
            <a:pPr eaLnBrk="1" hangingPunct="1"/>
            <a:r>
              <a:rPr lang="zh-CN" altLang="en-US" sz="2600" smtClean="0"/>
              <a:t>当</a:t>
            </a:r>
            <a:r>
              <a:rPr lang="en-US" altLang="zh-CN" sz="2600" smtClean="0"/>
              <a:t>p</a:t>
            </a:r>
            <a:r>
              <a:rPr lang="zh-CN" altLang="en-US" sz="2600" smtClean="0"/>
              <a:t>为</a:t>
            </a:r>
            <a:r>
              <a:rPr lang="en-US" altLang="zh-CN" sz="2600" smtClean="0"/>
              <a:t>int</a:t>
            </a:r>
            <a:r>
              <a:rPr lang="zh-CN" altLang="en-US" sz="2600" smtClean="0"/>
              <a:t>型数时</a:t>
            </a:r>
          </a:p>
          <a:p>
            <a:pPr lvl="1" eaLnBrk="1" hangingPunct="1">
              <a:buFont typeface="Wingdings" panose="05000000000000000000" pitchFamily="2" charset="2"/>
              <a:buNone/>
            </a:pPr>
            <a:r>
              <a:rPr lang="en-US" altLang="zh-CN" sz="2200" smtClean="0"/>
              <a:t>p ++ </a:t>
            </a:r>
            <a:r>
              <a:rPr lang="zh-CN" altLang="en-US" sz="2200" smtClean="0"/>
              <a:t>；即为</a:t>
            </a:r>
          </a:p>
          <a:p>
            <a:pPr lvl="1" eaLnBrk="1" hangingPunct="1">
              <a:buFont typeface="Wingdings" panose="05000000000000000000" pitchFamily="2" charset="2"/>
              <a:buNone/>
            </a:pPr>
            <a:r>
              <a:rPr lang="en-US" altLang="zh-CN" sz="2200" smtClean="0"/>
              <a:t>p = p +1</a:t>
            </a:r>
            <a:r>
              <a:rPr lang="zh-CN" altLang="en-US" sz="2200" smtClean="0"/>
              <a:t>；</a:t>
            </a:r>
          </a:p>
          <a:p>
            <a:pPr eaLnBrk="1" hangingPunct="1"/>
            <a:r>
              <a:rPr lang="en-US" altLang="zh-CN" sz="2600" smtClean="0"/>
              <a:t>++p </a:t>
            </a:r>
            <a:r>
              <a:rPr lang="zh-CN" altLang="en-US" sz="2600" smtClean="0"/>
              <a:t>和 </a:t>
            </a:r>
            <a:r>
              <a:rPr lang="en-US" altLang="zh-CN" sz="2600" smtClean="0"/>
              <a:t>p++</a:t>
            </a:r>
            <a:r>
              <a:rPr lang="zh-CN" altLang="en-US" sz="2600" smtClean="0"/>
              <a:t>的区别</a:t>
            </a:r>
          </a:p>
          <a:p>
            <a:pPr lvl="1" eaLnBrk="1" hangingPunct="1">
              <a:buFont typeface="Wingdings" panose="05000000000000000000" pitchFamily="2" charset="2"/>
              <a:buNone/>
            </a:pPr>
            <a:r>
              <a:rPr lang="en-US" altLang="zh-CN" sz="2200" smtClean="0"/>
              <a:t>Int p</a:t>
            </a:r>
            <a:r>
              <a:rPr lang="zh-CN" altLang="en-US" sz="2200" smtClean="0"/>
              <a:t>，</a:t>
            </a:r>
            <a:r>
              <a:rPr lang="en-US" altLang="zh-CN" sz="2200" smtClean="0"/>
              <a:t>q</a:t>
            </a:r>
            <a:r>
              <a:rPr lang="zh-CN" altLang="en-US" sz="2200" smtClean="0"/>
              <a:t>；</a:t>
            </a:r>
          </a:p>
          <a:p>
            <a:pPr lvl="1" eaLnBrk="1" hangingPunct="1">
              <a:buFont typeface="Wingdings" panose="05000000000000000000" pitchFamily="2" charset="2"/>
              <a:buNone/>
            </a:pPr>
            <a:r>
              <a:rPr lang="en-US" altLang="zh-CN" sz="2200" smtClean="0"/>
              <a:t>p=3</a:t>
            </a:r>
            <a:r>
              <a:rPr lang="zh-CN" altLang="en-US" sz="2200" smtClean="0"/>
              <a:t>；</a:t>
            </a:r>
          </a:p>
          <a:p>
            <a:pPr lvl="1" eaLnBrk="1" hangingPunct="1">
              <a:buFont typeface="Wingdings" panose="05000000000000000000" pitchFamily="2" charset="2"/>
              <a:buNone/>
            </a:pPr>
            <a:r>
              <a:rPr lang="en-US" altLang="zh-CN" sz="2200" smtClean="0"/>
              <a:t>q=2*</a:t>
            </a:r>
            <a:r>
              <a:rPr lang="zh-CN" altLang="en-US" sz="2200" smtClean="0"/>
              <a:t>（</a:t>
            </a:r>
            <a:r>
              <a:rPr lang="en-US" altLang="zh-CN" sz="2200" smtClean="0"/>
              <a:t>p++</a:t>
            </a:r>
            <a:r>
              <a:rPr lang="zh-CN" altLang="en-US" sz="2200" smtClean="0"/>
              <a:t>）；</a:t>
            </a:r>
          </a:p>
          <a:p>
            <a:pPr lvl="1" eaLnBrk="1" hangingPunct="1">
              <a:buFont typeface="Wingdings" panose="05000000000000000000" pitchFamily="2" charset="2"/>
              <a:buNone/>
            </a:pPr>
            <a:r>
              <a:rPr lang="en-US" altLang="zh-CN" sz="2200" smtClean="0"/>
              <a:t>q=2*</a:t>
            </a:r>
            <a:r>
              <a:rPr lang="zh-CN" altLang="en-US" sz="2200" smtClean="0"/>
              <a:t>（</a:t>
            </a:r>
            <a:r>
              <a:rPr lang="en-US" altLang="zh-CN" sz="2200" smtClean="0"/>
              <a:t>++p</a:t>
            </a:r>
            <a:r>
              <a:rPr lang="zh-CN" altLang="en-US" sz="2200" smtClean="0"/>
              <a: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27050" y="368300"/>
            <a:ext cx="10218738" cy="822325"/>
          </a:xfrm>
        </p:spPr>
        <p:txBody>
          <a:bodyPr/>
          <a:lstStyle/>
          <a:p>
            <a:pPr eaLnBrk="1" hangingPunct="1"/>
            <a:r>
              <a:rPr lang="en-US" altLang="zh-CN" smtClean="0"/>
              <a:t>p</a:t>
            </a:r>
            <a:r>
              <a:rPr lang="zh-CN" altLang="en-US" smtClean="0"/>
              <a:t>为</a:t>
            </a:r>
            <a:r>
              <a:rPr kumimoji="1" lang="zh-CN" altLang="en-US" smtClean="0">
                <a:solidFill>
                  <a:schemeClr val="tx1"/>
                </a:solidFill>
              </a:rPr>
              <a:t>指针：</a:t>
            </a:r>
          </a:p>
        </p:txBody>
      </p:sp>
      <p:sp>
        <p:nvSpPr>
          <p:cNvPr id="41987" name="Line 3"/>
          <p:cNvSpPr>
            <a:spLocks noChangeShapeType="1"/>
          </p:cNvSpPr>
          <p:nvPr/>
        </p:nvSpPr>
        <p:spPr bwMode="auto">
          <a:xfrm>
            <a:off x="3662363" y="1828800"/>
            <a:ext cx="0" cy="2362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88" name="Line 4"/>
          <p:cNvSpPr>
            <a:spLocks noChangeShapeType="1"/>
          </p:cNvSpPr>
          <p:nvPr/>
        </p:nvSpPr>
        <p:spPr bwMode="auto">
          <a:xfrm>
            <a:off x="4500563" y="1828800"/>
            <a:ext cx="0" cy="2362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89" name="Text Box 5"/>
          <p:cNvSpPr txBox="1">
            <a:spLocks noChangeArrowheads="1"/>
          </p:cNvSpPr>
          <p:nvPr/>
        </p:nvSpPr>
        <p:spPr bwMode="auto">
          <a:xfrm>
            <a:off x="3943350" y="1892300"/>
            <a:ext cx="404813"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x</a:t>
            </a: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y</a:t>
            </a: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z</a:t>
            </a: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w</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sym typeface="Symbol" panose="05050102010706020507" pitchFamily="18" charset="2"/>
            </a:endParaRPr>
          </a:p>
        </p:txBody>
      </p:sp>
      <p:sp>
        <p:nvSpPr>
          <p:cNvPr id="41990" name="Line 6"/>
          <p:cNvSpPr>
            <a:spLocks noChangeShapeType="1"/>
          </p:cNvSpPr>
          <p:nvPr/>
        </p:nvSpPr>
        <p:spPr bwMode="auto">
          <a:xfrm>
            <a:off x="3662363" y="1981200"/>
            <a:ext cx="83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1" name="Line 7"/>
          <p:cNvSpPr>
            <a:spLocks noChangeShapeType="1"/>
          </p:cNvSpPr>
          <p:nvPr/>
        </p:nvSpPr>
        <p:spPr bwMode="auto">
          <a:xfrm>
            <a:off x="3662363" y="2362200"/>
            <a:ext cx="83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2" name="Line 8"/>
          <p:cNvSpPr>
            <a:spLocks noChangeShapeType="1"/>
          </p:cNvSpPr>
          <p:nvPr/>
        </p:nvSpPr>
        <p:spPr bwMode="auto">
          <a:xfrm>
            <a:off x="3662363" y="2743200"/>
            <a:ext cx="83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3" name="Line 9"/>
          <p:cNvSpPr>
            <a:spLocks noChangeShapeType="1"/>
          </p:cNvSpPr>
          <p:nvPr/>
        </p:nvSpPr>
        <p:spPr bwMode="auto">
          <a:xfrm>
            <a:off x="3662363" y="3124200"/>
            <a:ext cx="83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4" name="Line 10"/>
          <p:cNvSpPr>
            <a:spLocks noChangeShapeType="1"/>
          </p:cNvSpPr>
          <p:nvPr/>
        </p:nvSpPr>
        <p:spPr bwMode="auto">
          <a:xfrm>
            <a:off x="3662363" y="3505200"/>
            <a:ext cx="83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5" name="Line 11"/>
          <p:cNvSpPr>
            <a:spLocks noChangeShapeType="1"/>
          </p:cNvSpPr>
          <p:nvPr/>
        </p:nvSpPr>
        <p:spPr bwMode="auto">
          <a:xfrm>
            <a:off x="4119563" y="3657600"/>
            <a:ext cx="0" cy="381000"/>
          </a:xfrm>
          <a:prstGeom prst="line">
            <a:avLst/>
          </a:prstGeom>
          <a:noFill/>
          <a:ln w="952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6" name="Text Box 12"/>
          <p:cNvSpPr txBox="1">
            <a:spLocks noChangeArrowheads="1"/>
          </p:cNvSpPr>
          <p:nvPr/>
        </p:nvSpPr>
        <p:spPr bwMode="auto">
          <a:xfrm>
            <a:off x="2900363" y="1905000"/>
            <a:ext cx="793750"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5000"/>
              </a:lnSpc>
              <a:spcBef>
                <a:spcPct val="0"/>
              </a:spcBef>
              <a:buFontTx/>
              <a:buNone/>
            </a:pPr>
            <a:r>
              <a:rPr kumimoji="1" lang="en-US" altLang="en-US" sz="2400">
                <a:latin typeface="Times New Roman" panose="02020603050405020304" pitchFamily="18" charset="0"/>
                <a:ea typeface="宋体" panose="02010600030101010101" pitchFamily="2" charset="-122"/>
                <a:sym typeface="Symbol" panose="05050102010706020507" pitchFamily="18" charset="2"/>
              </a:rPr>
              <a:t>0101</a:t>
            </a: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0102</a:t>
            </a: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0103</a:t>
            </a: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0104</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sym typeface="Symbol" panose="05050102010706020507" pitchFamily="18" charset="2"/>
            </a:endParaRPr>
          </a:p>
        </p:txBody>
      </p:sp>
      <p:sp>
        <p:nvSpPr>
          <p:cNvPr id="41997" name="Line 13"/>
          <p:cNvSpPr>
            <a:spLocks noChangeShapeType="1"/>
          </p:cNvSpPr>
          <p:nvPr/>
        </p:nvSpPr>
        <p:spPr bwMode="auto">
          <a:xfrm>
            <a:off x="3281363" y="3657600"/>
            <a:ext cx="0" cy="381000"/>
          </a:xfrm>
          <a:prstGeom prst="line">
            <a:avLst/>
          </a:prstGeom>
          <a:noFill/>
          <a:ln w="952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8" name="Text Box 14"/>
          <p:cNvSpPr txBox="1">
            <a:spLocks noChangeArrowheads="1"/>
          </p:cNvSpPr>
          <p:nvPr/>
        </p:nvSpPr>
        <p:spPr bwMode="auto">
          <a:xfrm>
            <a:off x="3048000" y="4308475"/>
            <a:ext cx="1392238"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Char  * p;</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p = 0101;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ch = *p;</a:t>
            </a:r>
          </a:p>
          <a:p>
            <a:pPr eaLnBrk="1" hangingPunct="1">
              <a:lnSpc>
                <a:spcPct val="100000"/>
              </a:lnSpc>
              <a:spcBef>
                <a:spcPct val="0"/>
              </a:spcBef>
              <a:buFontTx/>
              <a:buNone/>
            </a:pPr>
            <a:r>
              <a:rPr kumimoji="1" lang="en-US" altLang="zh-CN" sz="2400">
                <a:solidFill>
                  <a:srgbClr val="FF3300"/>
                </a:solidFill>
                <a:latin typeface="Times New Roman" panose="02020603050405020304" pitchFamily="18" charset="0"/>
                <a:ea typeface="宋体" panose="02010600030101010101" pitchFamily="2" charset="-122"/>
                <a:sym typeface="Symbol" panose="05050102010706020507" pitchFamily="18" charset="2"/>
              </a:rPr>
              <a:t>p++;</a:t>
            </a:r>
            <a:r>
              <a:rPr kumimoji="1" lang="en-US" altLang="zh-CN" sz="2400">
                <a:latin typeface="Times New Roman" panose="02020603050405020304" pitchFamily="18" charset="0"/>
                <a:ea typeface="宋体" panose="02010600030101010101" pitchFamily="2" charset="-122"/>
                <a:sym typeface="Symbol" panose="05050102010706020507" pitchFamily="18" charset="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ch = *p;</a:t>
            </a:r>
          </a:p>
        </p:txBody>
      </p:sp>
      <p:sp>
        <p:nvSpPr>
          <p:cNvPr id="41999" name="Line 15"/>
          <p:cNvSpPr>
            <a:spLocks noChangeShapeType="1"/>
          </p:cNvSpPr>
          <p:nvPr/>
        </p:nvSpPr>
        <p:spPr bwMode="auto">
          <a:xfrm>
            <a:off x="7346950" y="1295400"/>
            <a:ext cx="4763" cy="2895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0" name="Line 16"/>
          <p:cNvSpPr>
            <a:spLocks noChangeShapeType="1"/>
          </p:cNvSpPr>
          <p:nvPr/>
        </p:nvSpPr>
        <p:spPr bwMode="auto">
          <a:xfrm>
            <a:off x="8185150" y="1295400"/>
            <a:ext cx="4763" cy="2895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1" name="Text Box 17"/>
          <p:cNvSpPr txBox="1">
            <a:spLocks noChangeArrowheads="1"/>
          </p:cNvSpPr>
          <p:nvPr/>
        </p:nvSpPr>
        <p:spPr bwMode="auto">
          <a:xfrm>
            <a:off x="7543800" y="1403350"/>
            <a:ext cx="492125"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45000"/>
              </a:lnSpc>
              <a:spcBef>
                <a:spcPct val="0"/>
              </a:spcBef>
              <a:buFontTx/>
              <a:buNone/>
            </a:pPr>
            <a:r>
              <a:rPr kumimoji="1" lang="en-US" altLang="en-US" sz="2400">
                <a:latin typeface="Times New Roman" panose="02020603050405020304" pitchFamily="18" charset="0"/>
                <a:ea typeface="宋体" panose="02010600030101010101" pitchFamily="2" charset="-122"/>
                <a:sym typeface="Symbol" panose="05050102010706020507" pitchFamily="18" charset="2"/>
              </a:rPr>
              <a:t>77</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86</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93</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82</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sym typeface="Symbol" panose="05050102010706020507" pitchFamily="18" charset="2"/>
            </a:endParaRPr>
          </a:p>
        </p:txBody>
      </p:sp>
      <p:sp>
        <p:nvSpPr>
          <p:cNvPr id="42002" name="Line 18"/>
          <p:cNvSpPr>
            <a:spLocks noChangeShapeType="1"/>
          </p:cNvSpPr>
          <p:nvPr/>
        </p:nvSpPr>
        <p:spPr bwMode="auto">
          <a:xfrm>
            <a:off x="7351713" y="1524000"/>
            <a:ext cx="83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3" name="Line 19"/>
          <p:cNvSpPr>
            <a:spLocks noChangeShapeType="1"/>
          </p:cNvSpPr>
          <p:nvPr/>
        </p:nvSpPr>
        <p:spPr bwMode="auto">
          <a:xfrm>
            <a:off x="7351713" y="2057400"/>
            <a:ext cx="83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4" name="Line 20"/>
          <p:cNvSpPr>
            <a:spLocks noChangeShapeType="1"/>
          </p:cNvSpPr>
          <p:nvPr/>
        </p:nvSpPr>
        <p:spPr bwMode="auto">
          <a:xfrm>
            <a:off x="7351713" y="2590800"/>
            <a:ext cx="83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5" name="Line 21"/>
          <p:cNvSpPr>
            <a:spLocks noChangeShapeType="1"/>
          </p:cNvSpPr>
          <p:nvPr/>
        </p:nvSpPr>
        <p:spPr bwMode="auto">
          <a:xfrm>
            <a:off x="7351713" y="3124200"/>
            <a:ext cx="83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6" name="Line 22"/>
          <p:cNvSpPr>
            <a:spLocks noChangeShapeType="1"/>
          </p:cNvSpPr>
          <p:nvPr/>
        </p:nvSpPr>
        <p:spPr bwMode="auto">
          <a:xfrm>
            <a:off x="7351713" y="3657600"/>
            <a:ext cx="83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7" name="Line 23"/>
          <p:cNvSpPr>
            <a:spLocks noChangeShapeType="1"/>
          </p:cNvSpPr>
          <p:nvPr/>
        </p:nvSpPr>
        <p:spPr bwMode="auto">
          <a:xfrm>
            <a:off x="7808913" y="3733800"/>
            <a:ext cx="0" cy="381000"/>
          </a:xfrm>
          <a:prstGeom prst="line">
            <a:avLst/>
          </a:prstGeom>
          <a:noFill/>
          <a:ln w="952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8" name="Text Box 24"/>
          <p:cNvSpPr txBox="1">
            <a:spLocks noChangeArrowheads="1"/>
          </p:cNvSpPr>
          <p:nvPr/>
        </p:nvSpPr>
        <p:spPr bwMode="auto">
          <a:xfrm>
            <a:off x="6553200" y="1447800"/>
            <a:ext cx="800100"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45000"/>
              </a:lnSpc>
              <a:spcBef>
                <a:spcPct val="0"/>
              </a:spcBef>
              <a:buFontTx/>
              <a:buNone/>
            </a:pPr>
            <a:r>
              <a:rPr kumimoji="1" lang="en-US" altLang="en-US" sz="2400">
                <a:latin typeface="Times New Roman" panose="02020603050405020304" pitchFamily="18" charset="0"/>
                <a:ea typeface="宋体" panose="02010600030101010101" pitchFamily="2" charset="-122"/>
                <a:sym typeface="Symbol" panose="05050102010706020507" pitchFamily="18" charset="2"/>
              </a:rPr>
              <a:t>0212</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0214</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0216</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0218</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sym typeface="Symbol" panose="05050102010706020507" pitchFamily="18" charset="2"/>
            </a:endParaRPr>
          </a:p>
        </p:txBody>
      </p:sp>
      <p:sp>
        <p:nvSpPr>
          <p:cNvPr id="42009" name="Line 25"/>
          <p:cNvSpPr>
            <a:spLocks noChangeShapeType="1"/>
          </p:cNvSpPr>
          <p:nvPr/>
        </p:nvSpPr>
        <p:spPr bwMode="auto">
          <a:xfrm>
            <a:off x="6970713" y="3733800"/>
            <a:ext cx="0" cy="381000"/>
          </a:xfrm>
          <a:prstGeom prst="line">
            <a:avLst/>
          </a:prstGeom>
          <a:noFill/>
          <a:ln w="952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0" name="Text Box 26"/>
          <p:cNvSpPr txBox="1">
            <a:spLocks noChangeArrowheads="1"/>
          </p:cNvSpPr>
          <p:nvPr/>
        </p:nvSpPr>
        <p:spPr bwMode="auto">
          <a:xfrm>
            <a:off x="6770688" y="4308475"/>
            <a:ext cx="161607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int  * p;</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p = 0212;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num = *p;</a:t>
            </a:r>
          </a:p>
          <a:p>
            <a:pPr eaLnBrk="1" hangingPunct="1">
              <a:lnSpc>
                <a:spcPct val="100000"/>
              </a:lnSpc>
              <a:spcBef>
                <a:spcPct val="0"/>
              </a:spcBef>
              <a:buFontTx/>
              <a:buNone/>
            </a:pPr>
            <a:r>
              <a:rPr kumimoji="1" lang="en-US" altLang="zh-CN" sz="2400">
                <a:solidFill>
                  <a:srgbClr val="FF3300"/>
                </a:solidFill>
                <a:latin typeface="Times New Roman" panose="02020603050405020304" pitchFamily="18" charset="0"/>
                <a:ea typeface="宋体" panose="02010600030101010101" pitchFamily="2" charset="-122"/>
                <a:sym typeface="Symbol" panose="05050102010706020507" pitchFamily="18" charset="2"/>
              </a:rPr>
              <a:t>p++;</a:t>
            </a:r>
            <a:r>
              <a:rPr kumimoji="1" lang="en-US" altLang="zh-CN" sz="2400">
                <a:latin typeface="Times New Roman" panose="02020603050405020304" pitchFamily="18" charset="0"/>
                <a:ea typeface="宋体" panose="02010600030101010101" pitchFamily="2" charset="-122"/>
                <a:sym typeface="Symbol" panose="05050102010706020507" pitchFamily="18" charset="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num = *p;</a:t>
            </a:r>
          </a:p>
        </p:txBody>
      </p:sp>
      <p:sp>
        <p:nvSpPr>
          <p:cNvPr id="42011" name="Rectangle 27"/>
          <p:cNvSpPr>
            <a:spLocks noChangeArrowheads="1"/>
          </p:cNvSpPr>
          <p:nvPr/>
        </p:nvSpPr>
        <p:spPr bwMode="auto">
          <a:xfrm>
            <a:off x="1919288" y="2420938"/>
            <a:ext cx="720725" cy="360362"/>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endParaRPr lang="zh-CN" altLang="zh-CN" sz="1800">
              <a:latin typeface="Verdana" panose="020B0604030504040204" pitchFamily="34" charset="0"/>
              <a:ea typeface="宋体" panose="02010600030101010101" pitchFamily="2" charset="-122"/>
              <a:sym typeface="Symbol" panose="05050102010706020507" pitchFamily="18" charset="2"/>
            </a:endParaRPr>
          </a:p>
        </p:txBody>
      </p:sp>
      <p:sp>
        <p:nvSpPr>
          <p:cNvPr id="42012" name="Rectangle 28"/>
          <p:cNvSpPr>
            <a:spLocks noChangeArrowheads="1"/>
          </p:cNvSpPr>
          <p:nvPr/>
        </p:nvSpPr>
        <p:spPr bwMode="auto">
          <a:xfrm>
            <a:off x="1847850" y="1989138"/>
            <a:ext cx="3270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800">
                <a:latin typeface="Verdana" panose="020B0604030504040204" pitchFamily="34" charset="0"/>
                <a:ea typeface="宋体" panose="02010600030101010101" pitchFamily="2" charset="-122"/>
                <a:sym typeface="Symbol" panose="05050102010706020507" pitchFamily="18" charset="2"/>
              </a:rPr>
              <a:t>p</a:t>
            </a:r>
          </a:p>
        </p:txBody>
      </p:sp>
      <p:sp>
        <p:nvSpPr>
          <p:cNvPr id="146461" name="Text Box 29"/>
          <p:cNvSpPr txBox="1">
            <a:spLocks noChangeArrowheads="1"/>
          </p:cNvSpPr>
          <p:nvPr/>
        </p:nvSpPr>
        <p:spPr bwMode="auto">
          <a:xfrm>
            <a:off x="1919288" y="2435225"/>
            <a:ext cx="768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800">
                <a:latin typeface="Verdana" panose="020B0604030504040204" pitchFamily="34" charset="0"/>
                <a:ea typeface="宋体" panose="02010600030101010101" pitchFamily="2" charset="-122"/>
                <a:sym typeface="Symbol" panose="05050102010706020507" pitchFamily="18" charset="2"/>
              </a:rPr>
              <a:t>0101</a:t>
            </a:r>
          </a:p>
        </p:txBody>
      </p:sp>
      <p:sp>
        <p:nvSpPr>
          <p:cNvPr id="146462" name="Line 30"/>
          <p:cNvSpPr>
            <a:spLocks noChangeShapeType="1"/>
          </p:cNvSpPr>
          <p:nvPr/>
        </p:nvSpPr>
        <p:spPr bwMode="auto">
          <a:xfrm flipV="1">
            <a:off x="2640013" y="2276475"/>
            <a:ext cx="935037" cy="288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15" name="Rectangle 31"/>
          <p:cNvSpPr>
            <a:spLocks noChangeArrowheads="1"/>
          </p:cNvSpPr>
          <p:nvPr/>
        </p:nvSpPr>
        <p:spPr bwMode="auto">
          <a:xfrm>
            <a:off x="4583113" y="4365625"/>
            <a:ext cx="1727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Char  * p;</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p = 0101; ch=</a:t>
            </a:r>
            <a:r>
              <a:rPr kumimoji="1" lang="en-US" altLang="zh-CN" sz="2400">
                <a:solidFill>
                  <a:srgbClr val="FF3300"/>
                </a:solidFill>
                <a:latin typeface="Times New Roman" panose="02020603050405020304" pitchFamily="18" charset="0"/>
                <a:ea typeface="宋体" panose="02010600030101010101" pitchFamily="2" charset="-122"/>
                <a:sym typeface="Symbol" panose="05050102010706020507" pitchFamily="18" charset="2"/>
              </a:rPr>
              <a:t>*p++;</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ch</a:t>
            </a:r>
            <a:r>
              <a:rPr kumimoji="1" lang="en-US" altLang="zh-CN" sz="2400">
                <a:solidFill>
                  <a:srgbClr val="FF3300"/>
                </a:solidFill>
                <a:latin typeface="Times New Roman" panose="02020603050405020304" pitchFamily="18" charset="0"/>
                <a:ea typeface="宋体" panose="02010600030101010101" pitchFamily="2" charset="-122"/>
                <a:sym typeface="Symbol" panose="05050102010706020507" pitchFamily="18" charset="2"/>
              </a:rPr>
              <a:t>=*p</a:t>
            </a:r>
          </a:p>
        </p:txBody>
      </p:sp>
      <p:sp>
        <p:nvSpPr>
          <p:cNvPr id="42016" name="Rectangle 32"/>
          <p:cNvSpPr>
            <a:spLocks noChangeArrowheads="1"/>
          </p:cNvSpPr>
          <p:nvPr/>
        </p:nvSpPr>
        <p:spPr bwMode="auto">
          <a:xfrm>
            <a:off x="8543925" y="4292600"/>
            <a:ext cx="16557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int  * p;</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sym typeface="Symbol" panose="05050102010706020507" pitchFamily="18" charset="2"/>
              </a:rPr>
              <a:t>p = 0212; num=</a:t>
            </a:r>
            <a:r>
              <a:rPr kumimoji="1" lang="en-US" altLang="zh-CN" sz="2400">
                <a:solidFill>
                  <a:srgbClr val="FF3300"/>
                </a:solidFill>
                <a:latin typeface="Times New Roman" panose="02020603050405020304" pitchFamily="18" charset="0"/>
                <a:ea typeface="宋体" panose="02010600030101010101" pitchFamily="2" charset="-122"/>
                <a:sym typeface="Symbol" panose="05050102010706020507" pitchFamily="18" charset="2"/>
              </a:rPr>
              <a:t>*p++;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64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6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6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527050" y="368300"/>
            <a:ext cx="10218738" cy="822325"/>
          </a:xfrm>
        </p:spPr>
        <p:txBody>
          <a:bodyPr/>
          <a:lstStyle/>
          <a:p>
            <a:pPr eaLnBrk="1" hangingPunct="1"/>
            <a:r>
              <a:rPr lang="zh-CN" altLang="en-US" sz="3200" smtClean="0"/>
              <a:t>线性表</a:t>
            </a:r>
          </a:p>
        </p:txBody>
      </p:sp>
      <p:sp>
        <p:nvSpPr>
          <p:cNvPr id="7171" name="Rectangle 3"/>
          <p:cNvSpPr>
            <a:spLocks noGrp="1" noChangeArrowheads="1"/>
          </p:cNvSpPr>
          <p:nvPr>
            <p:ph idx="1"/>
          </p:nvPr>
        </p:nvSpPr>
        <p:spPr>
          <a:xfrm>
            <a:off x="527050" y="1628775"/>
            <a:ext cx="10218738" cy="4351338"/>
          </a:xfrm>
        </p:spPr>
        <p:txBody>
          <a:bodyPr/>
          <a:lstStyle/>
          <a:p>
            <a:pPr eaLnBrk="1" hangingPunct="1"/>
            <a:r>
              <a:rPr lang="zh-CN" altLang="en-US" smtClean="0"/>
              <a:t>何谓线性结构</a:t>
            </a:r>
            <a:r>
              <a:rPr lang="en-US" altLang="zh-CN" smtClean="0"/>
              <a:t>?</a:t>
            </a:r>
          </a:p>
          <a:p>
            <a:pPr lvl="1" eaLnBrk="1" hangingPunct="1"/>
            <a:r>
              <a:rPr lang="zh-CN" altLang="en-US" b="1" smtClean="0"/>
              <a:t>线性结构是一个数据元素的有序（次序）集合。</a:t>
            </a:r>
            <a:endParaRPr lang="zh-CN" altLang="en-US" smtClean="0"/>
          </a:p>
          <a:p>
            <a:pPr eaLnBrk="1" hangingPunct="1"/>
            <a:r>
              <a:rPr lang="zh-CN" altLang="en-US" smtClean="0"/>
              <a:t>四个特征：</a:t>
            </a:r>
          </a:p>
          <a:p>
            <a:pPr lvl="1" eaLnBrk="1" hangingPunct="1"/>
            <a:r>
              <a:rPr lang="zh-CN" altLang="en-US" b="1" smtClean="0"/>
              <a:t>集合中必存在唯一的一个</a:t>
            </a:r>
            <a:r>
              <a:rPr lang="en-US" altLang="zh-CN" b="1" smtClean="0"/>
              <a:t>"</a:t>
            </a:r>
            <a:r>
              <a:rPr lang="zh-CN" altLang="en-US" b="1" smtClean="0"/>
              <a:t>第一元素</a:t>
            </a:r>
            <a:r>
              <a:rPr lang="zh-CN" altLang="en-US" b="1" smtClean="0">
                <a:latin typeface="Arial" panose="020B0604020202020204" pitchFamily="34" charset="0"/>
              </a:rPr>
              <a:t>“</a:t>
            </a:r>
            <a:endParaRPr lang="zh-CN" altLang="en-US" b="1" smtClean="0"/>
          </a:p>
          <a:p>
            <a:pPr lvl="1" eaLnBrk="1" hangingPunct="1"/>
            <a:r>
              <a:rPr lang="zh-CN" altLang="en-US" b="1" smtClean="0"/>
              <a:t>集合中必存在唯一的一个</a:t>
            </a:r>
            <a:r>
              <a:rPr lang="en-US" altLang="zh-CN" b="1" smtClean="0"/>
              <a:t>"</a:t>
            </a:r>
            <a:r>
              <a:rPr lang="zh-CN" altLang="en-US" b="1" smtClean="0"/>
              <a:t>最后元素</a:t>
            </a:r>
            <a:r>
              <a:rPr lang="zh-CN" altLang="en-US" b="1" smtClean="0">
                <a:latin typeface="Arial" panose="020B0604020202020204" pitchFamily="34" charset="0"/>
              </a:rPr>
              <a:t>“</a:t>
            </a:r>
            <a:endParaRPr lang="zh-CN" altLang="en-US" b="1" smtClean="0"/>
          </a:p>
          <a:p>
            <a:pPr lvl="1" eaLnBrk="1" hangingPunct="1"/>
            <a:r>
              <a:rPr lang="zh-CN" altLang="en-US" b="1" smtClean="0"/>
              <a:t>除最后元素之外，其它数据元素均有唯一的</a:t>
            </a:r>
            <a:r>
              <a:rPr lang="en-US" altLang="zh-CN" b="1" smtClean="0"/>
              <a:t>"</a:t>
            </a:r>
            <a:r>
              <a:rPr lang="zh-CN" altLang="en-US" b="1" smtClean="0"/>
              <a:t>后继</a:t>
            </a:r>
            <a:r>
              <a:rPr lang="zh-CN" altLang="en-US" b="1" smtClean="0">
                <a:latin typeface="Arial" panose="020B0604020202020204" pitchFamily="34" charset="0"/>
              </a:rPr>
              <a:t>“</a:t>
            </a:r>
            <a:endParaRPr lang="zh-CN" altLang="en-US" b="1" smtClean="0"/>
          </a:p>
          <a:p>
            <a:pPr lvl="1" eaLnBrk="1" hangingPunct="1"/>
            <a:r>
              <a:rPr lang="zh-CN" altLang="en-US" b="1" smtClean="0"/>
              <a:t>除第一元素之外，其它数据元素均有唯一的</a:t>
            </a:r>
            <a:r>
              <a:rPr lang="en-US" altLang="zh-CN" b="1" smtClean="0"/>
              <a:t>"</a:t>
            </a:r>
            <a:r>
              <a:rPr lang="zh-CN" altLang="en-US" b="1" smtClean="0"/>
              <a:t>前驱</a:t>
            </a:r>
            <a:r>
              <a:rPr lang="en-US" altLang="zh-CN" b="1" smtClean="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171">
                                            <p:txEl>
                                              <p:pRg st="3" end="3"/>
                                            </p:txEl>
                                          </p:spTgt>
                                        </p:tgtEl>
                                        <p:attrNameLst>
                                          <p:attrName>style.visibility</p:attrName>
                                        </p:attrNameLst>
                                      </p:cBhvr>
                                      <p:to>
                                        <p:strVal val="visible"/>
                                      </p:to>
                                    </p:set>
                                    <p:anim calcmode="lin" valueType="num">
                                      <p:cBhvr additive="base">
                                        <p:cTn id="7"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animEffect transition="in" filter="blinds(horizontal)">
                                      <p:cBhvr>
                                        <p:cTn id="13" dur="500"/>
                                        <p:tgtEl>
                                          <p:spTgt spid="7171">
                                            <p:txEl>
                                              <p:pRg st="4" end="4"/>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7171">
                                            <p:txEl>
                                              <p:pRg st="5" end="5"/>
                                            </p:txEl>
                                          </p:spTgt>
                                        </p:tgtEl>
                                        <p:attrNameLst>
                                          <p:attrName>style.visibility</p:attrName>
                                        </p:attrNameLst>
                                      </p:cBhvr>
                                      <p:to>
                                        <p:strVal val="visible"/>
                                      </p:to>
                                    </p:set>
                                    <p:anim calcmode="lin" valueType="num">
                                      <p:cBhvr additive="base">
                                        <p:cTn id="18" dur="500" fill="hold"/>
                                        <p:tgtEl>
                                          <p:spTgt spid="7171">
                                            <p:txEl>
                                              <p:pRg st="5" end="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1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7171">
                                            <p:txEl>
                                              <p:pRg st="6" end="6"/>
                                            </p:txEl>
                                          </p:spTgt>
                                        </p:tgtEl>
                                        <p:attrNameLst>
                                          <p:attrName>style.visibility</p:attrName>
                                        </p:attrNameLst>
                                      </p:cBhvr>
                                      <p:to>
                                        <p:strVal val="visible"/>
                                      </p:to>
                                    </p:set>
                                    <p:anim calcmode="lin" valueType="num">
                                      <p:cBhvr additive="base">
                                        <p:cTn id="24" dur="500" fill="hold"/>
                                        <p:tgtEl>
                                          <p:spTgt spid="7171">
                                            <p:txEl>
                                              <p:pRg st="6" end="6"/>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717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527050" y="368300"/>
            <a:ext cx="10218738" cy="822325"/>
          </a:xfrm>
        </p:spPr>
        <p:txBody>
          <a:bodyPr/>
          <a:lstStyle/>
          <a:p>
            <a:pPr eaLnBrk="1" hangingPunct="1"/>
            <a:r>
              <a:rPr lang="zh-CN" altLang="en-US" smtClean="0"/>
              <a:t>提纲</a:t>
            </a:r>
          </a:p>
        </p:txBody>
      </p:sp>
      <p:sp>
        <p:nvSpPr>
          <p:cNvPr id="44035" name="Rectangle 3"/>
          <p:cNvSpPr>
            <a:spLocks noGrp="1" noChangeArrowheads="1"/>
          </p:cNvSpPr>
          <p:nvPr>
            <p:ph idx="1"/>
          </p:nvPr>
        </p:nvSpPr>
        <p:spPr>
          <a:xfrm>
            <a:off x="527050" y="1628775"/>
            <a:ext cx="10218738" cy="4351338"/>
          </a:xfrm>
        </p:spPr>
        <p:txBody>
          <a:bodyPr/>
          <a:lstStyle/>
          <a:p>
            <a:pPr eaLnBrk="1" hangingPunct="1"/>
            <a:r>
              <a:rPr lang="zh-CN" altLang="en-US" smtClean="0">
                <a:hlinkClick r:id="rId2" action="ppaction://hlinkfile"/>
              </a:rPr>
              <a:t>线性表的定义</a:t>
            </a:r>
            <a:endParaRPr lang="zh-CN" altLang="en-US" smtClean="0"/>
          </a:p>
          <a:p>
            <a:pPr eaLnBrk="1" hangingPunct="1"/>
            <a:r>
              <a:rPr lang="zh-CN" altLang="en-US" smtClean="0"/>
              <a:t>线性表类型的实现（顺序映象）</a:t>
            </a:r>
          </a:p>
          <a:p>
            <a:pPr eaLnBrk="1" hangingPunct="1"/>
            <a:r>
              <a:rPr lang="zh-CN" altLang="en-US" smtClean="0"/>
              <a:t>线性表类型的实现（链式映象）</a:t>
            </a:r>
          </a:p>
          <a:p>
            <a:pPr eaLnBrk="1" hangingPunct="1">
              <a:buFont typeface="Wingdings" panose="05000000000000000000" pitchFamily="2" charset="2"/>
              <a:buNone/>
            </a:pPr>
            <a:endParaRPr lang="zh-CN" altLang="en-US" smtClean="0"/>
          </a:p>
          <a:p>
            <a:pPr eaLnBrk="1" hangingPunct="1"/>
            <a:endParaRPr lang="zh-CN" altLang="en-US" smtClean="0"/>
          </a:p>
          <a:p>
            <a:pPr eaLnBrk="1" hangingPunct="1"/>
            <a:endParaRPr lang="zh-CN" altLang="en-US" smtClean="0"/>
          </a:p>
          <a:p>
            <a:pPr eaLnBrk="1" hangingPunct="1"/>
            <a:endParaRPr lang="en-US" altLang="zh-CN"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45059" name="Rectangle 3"/>
          <p:cNvSpPr>
            <a:spLocks noGrp="1" noChangeArrowheads="1"/>
          </p:cNvSpPr>
          <p:nvPr>
            <p:ph idx="1"/>
          </p:nvPr>
        </p:nvSpPr>
        <p:spPr>
          <a:xfrm>
            <a:off x="527050" y="1628775"/>
            <a:ext cx="10218738" cy="4351338"/>
          </a:xfrm>
        </p:spPr>
        <p:txBody>
          <a:bodyPr/>
          <a:lstStyle/>
          <a:p>
            <a:pPr eaLnBrk="1" hangingPunct="1">
              <a:buFont typeface="Wingdings" panose="05000000000000000000" pitchFamily="2" charset="2"/>
              <a:buNone/>
            </a:pPr>
            <a:r>
              <a:rPr kumimoji="1" lang="zh-CN" altLang="en-US" smtClean="0"/>
              <a:t>例</a:t>
            </a:r>
            <a:r>
              <a:rPr kumimoji="1" lang="en-US" altLang="zh-CN" smtClean="0"/>
              <a:t>1</a:t>
            </a:r>
            <a:r>
              <a:rPr kumimoji="1" lang="zh-CN" altLang="en-US" smtClean="0"/>
              <a:t>、</a:t>
            </a:r>
            <a:r>
              <a:rPr kumimoji="1" lang="en-US" altLang="zh-CN" smtClean="0"/>
              <a:t>26</a:t>
            </a:r>
            <a:r>
              <a:rPr kumimoji="1" lang="zh-CN" altLang="en-US" smtClean="0"/>
              <a:t>个英文字母组成的字母表</a:t>
            </a:r>
          </a:p>
          <a:p>
            <a:pPr eaLnBrk="1" hangingPunct="1">
              <a:buFont typeface="Wingdings" panose="05000000000000000000" pitchFamily="2" charset="2"/>
              <a:buNone/>
            </a:pPr>
            <a:r>
              <a:rPr kumimoji="1" lang="zh-CN" altLang="en-US" smtClean="0"/>
              <a:t>          （</a:t>
            </a:r>
            <a:r>
              <a:rPr kumimoji="1" lang="en-US" altLang="zh-CN" smtClean="0"/>
              <a:t>A</a:t>
            </a:r>
            <a:r>
              <a:rPr kumimoji="1" lang="zh-CN" altLang="en-US" smtClean="0"/>
              <a:t>，</a:t>
            </a:r>
            <a:r>
              <a:rPr kumimoji="1" lang="en-US" altLang="zh-CN" smtClean="0"/>
              <a:t>B</a:t>
            </a:r>
            <a:r>
              <a:rPr kumimoji="1" lang="zh-CN" altLang="en-US" smtClean="0"/>
              <a:t>，</a:t>
            </a:r>
            <a:r>
              <a:rPr kumimoji="1" lang="en-US" altLang="zh-CN" smtClean="0"/>
              <a:t>C</a:t>
            </a:r>
            <a:r>
              <a:rPr kumimoji="1" lang="zh-CN" altLang="en-US" smtClean="0"/>
              <a:t>、</a:t>
            </a:r>
            <a:r>
              <a:rPr kumimoji="1" lang="en-US" altLang="zh-CN" smtClean="0">
                <a:latin typeface="Arial" panose="020B0604020202020204" pitchFamily="34" charset="0"/>
              </a:rPr>
              <a:t>…</a:t>
            </a:r>
            <a:r>
              <a:rPr kumimoji="1" lang="zh-CN" altLang="en-US" smtClean="0"/>
              <a:t>、</a:t>
            </a:r>
            <a:r>
              <a:rPr kumimoji="1" lang="en-US" altLang="zh-CN" smtClean="0"/>
              <a:t>Z</a:t>
            </a:r>
            <a:r>
              <a:rPr kumimoji="1" lang="zh-CN" altLang="en-US" smtClean="0"/>
              <a:t>）</a:t>
            </a:r>
          </a:p>
          <a:p>
            <a:pPr eaLnBrk="1" hangingPunct="1">
              <a:buFont typeface="Wingdings" panose="05000000000000000000" pitchFamily="2" charset="2"/>
              <a:buNone/>
            </a:pPr>
            <a:endParaRPr kumimoji="1" lang="zh-CN" altLang="en-US" smtClean="0"/>
          </a:p>
          <a:p>
            <a:pPr eaLnBrk="1" hangingPunct="1">
              <a:buFont typeface="Wingdings" panose="05000000000000000000" pitchFamily="2" charset="2"/>
              <a:buNone/>
            </a:pPr>
            <a:r>
              <a:rPr kumimoji="1" lang="zh-CN" altLang="en-US" smtClean="0"/>
              <a:t>例</a:t>
            </a:r>
            <a:r>
              <a:rPr kumimoji="1" lang="en-US" altLang="zh-CN" smtClean="0"/>
              <a:t>2</a:t>
            </a:r>
            <a:r>
              <a:rPr kumimoji="1" lang="zh-CN" altLang="en-US" smtClean="0"/>
              <a:t>、一副扑克的点数</a:t>
            </a:r>
          </a:p>
          <a:p>
            <a:pPr eaLnBrk="1" hangingPunct="1">
              <a:buFont typeface="Wingdings" panose="05000000000000000000" pitchFamily="2" charset="2"/>
              <a:buNone/>
            </a:pPr>
            <a:r>
              <a:rPr kumimoji="1" lang="zh-CN" altLang="en-US" smtClean="0"/>
              <a:t>           （</a:t>
            </a:r>
            <a:r>
              <a:rPr kumimoji="1" lang="en-US" altLang="zh-CN" smtClean="0"/>
              <a:t>2</a:t>
            </a:r>
            <a:r>
              <a:rPr kumimoji="1" lang="zh-CN" altLang="en-US" smtClean="0"/>
              <a:t>，</a:t>
            </a:r>
            <a:r>
              <a:rPr kumimoji="1" lang="en-US" altLang="zh-CN" smtClean="0"/>
              <a:t>3</a:t>
            </a:r>
            <a:r>
              <a:rPr kumimoji="1" lang="zh-CN" altLang="en-US" smtClean="0"/>
              <a:t>，</a:t>
            </a:r>
            <a:r>
              <a:rPr kumimoji="1" lang="en-US" altLang="zh-CN" smtClean="0"/>
              <a:t>4</a:t>
            </a:r>
            <a:r>
              <a:rPr kumimoji="1" lang="zh-CN" altLang="en-US" smtClean="0"/>
              <a:t>，</a:t>
            </a:r>
            <a:r>
              <a:rPr kumimoji="1" lang="en-US" altLang="zh-CN" smtClean="0">
                <a:latin typeface="Arial" panose="020B0604020202020204" pitchFamily="34" charset="0"/>
              </a:rPr>
              <a:t>…</a:t>
            </a:r>
            <a:r>
              <a:rPr kumimoji="1" lang="zh-CN" altLang="en-US" smtClean="0"/>
              <a:t>，</a:t>
            </a:r>
            <a:r>
              <a:rPr kumimoji="1" lang="en-US" altLang="zh-CN" smtClean="0"/>
              <a:t>J</a:t>
            </a:r>
            <a:r>
              <a:rPr kumimoji="1" lang="zh-CN" altLang="en-US" smtClean="0"/>
              <a:t>，</a:t>
            </a:r>
            <a:r>
              <a:rPr kumimoji="1" lang="en-US" altLang="zh-CN" smtClean="0"/>
              <a:t>Q</a:t>
            </a:r>
            <a:r>
              <a:rPr kumimoji="1" lang="zh-CN" altLang="en-US" smtClean="0"/>
              <a:t>，</a:t>
            </a:r>
            <a:r>
              <a:rPr kumimoji="1" lang="en-US" altLang="zh-CN" smtClean="0"/>
              <a:t>K</a:t>
            </a:r>
            <a:r>
              <a:rPr kumimoji="1" lang="zh-CN" altLang="en-US" smtClean="0"/>
              <a:t>，</a:t>
            </a:r>
            <a:r>
              <a:rPr kumimoji="1" lang="en-US" altLang="zh-CN" smtClean="0"/>
              <a:t>A</a:t>
            </a:r>
            <a:r>
              <a:rPr kumimoji="1" lang="zh-CN" altLang="en-US" smtClean="0"/>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线性表定义：</a:t>
            </a:r>
          </a:p>
        </p:txBody>
      </p:sp>
      <p:sp>
        <p:nvSpPr>
          <p:cNvPr id="47107" name="Rectangle 3"/>
          <p:cNvSpPr>
            <a:spLocks noGrp="1" noChangeArrowheads="1"/>
          </p:cNvSpPr>
          <p:nvPr>
            <p:ph idx="1"/>
          </p:nvPr>
        </p:nvSpPr>
        <p:spPr>
          <a:xfrm>
            <a:off x="527050" y="1628775"/>
            <a:ext cx="10218738" cy="4351338"/>
          </a:xfrm>
        </p:spPr>
        <p:txBody>
          <a:bodyPr/>
          <a:lstStyle/>
          <a:p>
            <a:pPr eaLnBrk="1" hangingPunct="1">
              <a:buFont typeface="Wingdings" panose="05000000000000000000" pitchFamily="2" charset="2"/>
              <a:buNone/>
            </a:pPr>
            <a:r>
              <a:rPr kumimoji="1" lang="en-US" altLang="zh-CN" smtClean="0"/>
              <a:t>        </a:t>
            </a:r>
            <a:r>
              <a:rPr kumimoji="1" lang="zh-CN" altLang="en-US" smtClean="0"/>
              <a:t>是具有相同数据类型的</a:t>
            </a:r>
            <a:r>
              <a:rPr kumimoji="1" lang="en-US" altLang="zh-CN" smtClean="0"/>
              <a:t>n(n&gt;=0)</a:t>
            </a:r>
            <a:r>
              <a:rPr kumimoji="1" lang="zh-CN" altLang="en-US" smtClean="0"/>
              <a:t>个数据元素的有限序列，通常记为：</a:t>
            </a:r>
          </a:p>
          <a:p>
            <a:pPr eaLnBrk="1" hangingPunct="1">
              <a:buFont typeface="Wingdings" panose="05000000000000000000" pitchFamily="2" charset="2"/>
              <a:buNone/>
            </a:pPr>
            <a:endParaRPr kumimoji="1" lang="zh-CN" altLang="en-US" smtClean="0"/>
          </a:p>
          <a:p>
            <a:pPr eaLnBrk="1" hangingPunct="1">
              <a:buFont typeface="Wingdings" panose="05000000000000000000" pitchFamily="2" charset="2"/>
              <a:buNone/>
            </a:pPr>
            <a:r>
              <a:rPr kumimoji="1" lang="zh-CN" altLang="en-US" smtClean="0"/>
              <a:t>    </a:t>
            </a:r>
            <a:r>
              <a:rPr kumimoji="1" lang="en-US" altLang="zh-CN" smtClean="0"/>
              <a:t>(a</a:t>
            </a:r>
            <a:r>
              <a:rPr kumimoji="1" lang="en-US" altLang="zh-CN" baseline="-25000" smtClean="0"/>
              <a:t>1</a:t>
            </a:r>
            <a:r>
              <a:rPr kumimoji="1" lang="zh-CN" altLang="en-US" smtClean="0"/>
              <a:t>，</a:t>
            </a:r>
            <a:r>
              <a:rPr kumimoji="1" lang="en-US" altLang="zh-CN" smtClean="0"/>
              <a:t>a</a:t>
            </a:r>
            <a:r>
              <a:rPr kumimoji="1" lang="en-US" altLang="zh-CN" baseline="-25000" smtClean="0"/>
              <a:t>2</a:t>
            </a:r>
            <a:r>
              <a:rPr kumimoji="1" lang="zh-CN" altLang="en-US" smtClean="0"/>
              <a:t>，</a:t>
            </a:r>
            <a:r>
              <a:rPr kumimoji="1" lang="en-US" altLang="zh-CN" smtClean="0">
                <a:latin typeface="Arial" panose="020B0604020202020204" pitchFamily="34" charset="0"/>
              </a:rPr>
              <a:t>…</a:t>
            </a:r>
            <a:r>
              <a:rPr kumimoji="1" lang="en-US" altLang="zh-CN" smtClean="0"/>
              <a:t> a</a:t>
            </a:r>
            <a:r>
              <a:rPr kumimoji="1" lang="en-US" altLang="zh-CN" baseline="-25000" smtClean="0"/>
              <a:t>i-1</a:t>
            </a:r>
            <a:r>
              <a:rPr kumimoji="1" lang="zh-CN" altLang="en-US" smtClean="0"/>
              <a:t>，</a:t>
            </a:r>
            <a:r>
              <a:rPr kumimoji="1" lang="en-US" altLang="zh-CN" smtClean="0"/>
              <a:t>a</a:t>
            </a:r>
            <a:r>
              <a:rPr kumimoji="1" lang="en-US" altLang="zh-CN" baseline="-25000" smtClean="0"/>
              <a:t>i</a:t>
            </a:r>
            <a:r>
              <a:rPr kumimoji="1" lang="zh-CN" altLang="en-US" smtClean="0"/>
              <a:t>，</a:t>
            </a:r>
            <a:r>
              <a:rPr kumimoji="1" lang="en-US" altLang="zh-CN" smtClean="0"/>
              <a:t>a</a:t>
            </a:r>
            <a:r>
              <a:rPr kumimoji="1" lang="en-US" altLang="zh-CN" baseline="-25000" smtClean="0"/>
              <a:t>i+1</a:t>
            </a:r>
            <a:r>
              <a:rPr kumimoji="1" lang="zh-CN" altLang="en-US" smtClean="0"/>
              <a:t>，</a:t>
            </a:r>
            <a:r>
              <a:rPr kumimoji="1" lang="en-US" altLang="zh-CN" smtClean="0">
                <a:latin typeface="Arial" panose="020B0604020202020204" pitchFamily="34" charset="0"/>
              </a:rPr>
              <a:t>…</a:t>
            </a:r>
            <a:r>
              <a:rPr kumimoji="1" lang="en-US" altLang="zh-CN" smtClean="0"/>
              <a:t>a</a:t>
            </a:r>
            <a:r>
              <a:rPr kumimoji="1" lang="en-US" altLang="zh-CN" baseline="-25000" smtClean="0"/>
              <a:t>n</a:t>
            </a:r>
            <a:r>
              <a:rPr kumimoji="1" lang="en-US" altLang="zh-CN" smtClean="0"/>
              <a:t>)</a:t>
            </a:r>
          </a:p>
          <a:p>
            <a:pPr eaLnBrk="1" hangingPunct="1"/>
            <a:endParaRPr kumimoji="1" lang="en-US" altLang="zh-CN" smtClean="0"/>
          </a:p>
          <a:p>
            <a:pPr eaLnBrk="1" hangingPunct="1">
              <a:buFont typeface="Wingdings" panose="05000000000000000000" pitchFamily="2" charset="2"/>
              <a:buNone/>
            </a:pPr>
            <a:r>
              <a:rPr kumimoji="1" lang="en-US" altLang="zh-CN" smtClean="0"/>
              <a:t>   </a:t>
            </a:r>
            <a:r>
              <a:rPr kumimoji="1" lang="zh-CN" altLang="en-US" smtClean="0"/>
              <a:t>其中</a:t>
            </a:r>
            <a:r>
              <a:rPr kumimoji="1" lang="en-US" altLang="zh-CN" smtClean="0"/>
              <a:t>n</a:t>
            </a:r>
            <a:r>
              <a:rPr kumimoji="1" lang="zh-CN" altLang="en-US" smtClean="0"/>
              <a:t>为表长， </a:t>
            </a:r>
            <a:r>
              <a:rPr kumimoji="1" lang="en-US" altLang="zh-CN" smtClean="0"/>
              <a:t>n</a:t>
            </a:r>
            <a:r>
              <a:rPr kumimoji="1" lang="zh-CN" altLang="en-US" smtClean="0"/>
              <a:t>＝</a:t>
            </a:r>
            <a:r>
              <a:rPr kumimoji="1" lang="en-US" altLang="zh-CN" smtClean="0"/>
              <a:t>0 </a:t>
            </a:r>
            <a:r>
              <a:rPr kumimoji="1" lang="zh-CN" altLang="en-US" smtClean="0"/>
              <a:t>时称为空表。</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6"/>
          <p:cNvSpPr>
            <a:spLocks noGrp="1"/>
          </p:cNvSpPr>
          <p:nvPr>
            <p:ph type="title"/>
          </p:nvPr>
        </p:nvSpPr>
        <p:spPr>
          <a:xfrm>
            <a:off x="527050" y="368300"/>
            <a:ext cx="10218738" cy="822325"/>
          </a:xfrm>
        </p:spPr>
        <p:txBody>
          <a:bodyPr/>
          <a:lstStyle/>
          <a:p>
            <a:pPr eaLnBrk="1" hangingPunct="1"/>
            <a:endParaRPr lang="zh-CN" altLang="en-US" smtClean="0"/>
          </a:p>
        </p:txBody>
      </p:sp>
      <p:grpSp>
        <p:nvGrpSpPr>
          <p:cNvPr id="2" name="Group 4"/>
          <p:cNvGrpSpPr>
            <a:grpSpLocks/>
          </p:cNvGrpSpPr>
          <p:nvPr/>
        </p:nvGrpSpPr>
        <p:grpSpPr bwMode="auto">
          <a:xfrm>
            <a:off x="1981200" y="1981200"/>
            <a:ext cx="7772400" cy="4114800"/>
            <a:chOff x="669" y="1113"/>
            <a:chExt cx="4894" cy="2591"/>
          </a:xfrm>
        </p:grpSpPr>
        <p:sp>
          <p:nvSpPr>
            <p:cNvPr id="48132" name="Rectangle 5"/>
            <p:cNvSpPr>
              <a:spLocks noChangeArrowheads="1"/>
            </p:cNvSpPr>
            <p:nvPr/>
          </p:nvSpPr>
          <p:spPr bwMode="auto">
            <a:xfrm>
              <a:off x="4176" y="3272"/>
              <a:ext cx="138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p:txBody>
        </p:sp>
        <p:sp>
          <p:nvSpPr>
            <p:cNvPr id="48133" name="Rectangle 6"/>
            <p:cNvSpPr>
              <a:spLocks noChangeArrowheads="1"/>
            </p:cNvSpPr>
            <p:nvPr/>
          </p:nvSpPr>
          <p:spPr bwMode="auto">
            <a:xfrm>
              <a:off x="3456" y="3272"/>
              <a:ext cx="72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48134" name="Rectangle 7"/>
            <p:cNvSpPr>
              <a:spLocks noChangeArrowheads="1"/>
            </p:cNvSpPr>
            <p:nvPr/>
          </p:nvSpPr>
          <p:spPr bwMode="auto">
            <a:xfrm>
              <a:off x="2627" y="3272"/>
              <a:ext cx="82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48135" name="Rectangle 8"/>
            <p:cNvSpPr>
              <a:spLocks noChangeArrowheads="1"/>
            </p:cNvSpPr>
            <p:nvPr/>
          </p:nvSpPr>
          <p:spPr bwMode="auto">
            <a:xfrm>
              <a:off x="1648" y="3272"/>
              <a:ext cx="97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p:txBody>
        </p:sp>
        <p:sp>
          <p:nvSpPr>
            <p:cNvPr id="48136" name="Rectangle 9"/>
            <p:cNvSpPr>
              <a:spLocks noChangeArrowheads="1"/>
            </p:cNvSpPr>
            <p:nvPr/>
          </p:nvSpPr>
          <p:spPr bwMode="auto">
            <a:xfrm>
              <a:off x="669" y="3272"/>
              <a:ext cx="97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p:txBody>
        </p:sp>
        <p:sp>
          <p:nvSpPr>
            <p:cNvPr id="48137" name="Rectangle 10"/>
            <p:cNvSpPr>
              <a:spLocks noChangeArrowheads="1"/>
            </p:cNvSpPr>
            <p:nvPr/>
          </p:nvSpPr>
          <p:spPr bwMode="auto">
            <a:xfrm>
              <a:off x="4176" y="2840"/>
              <a:ext cx="138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86</a:t>
              </a:r>
            </a:p>
          </p:txBody>
        </p:sp>
        <p:sp>
          <p:nvSpPr>
            <p:cNvPr id="48138" name="Rectangle 11"/>
            <p:cNvSpPr>
              <a:spLocks noChangeArrowheads="1"/>
            </p:cNvSpPr>
            <p:nvPr/>
          </p:nvSpPr>
          <p:spPr bwMode="auto">
            <a:xfrm>
              <a:off x="3456" y="2840"/>
              <a:ext cx="72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84</a:t>
              </a:r>
            </a:p>
          </p:txBody>
        </p:sp>
        <p:sp>
          <p:nvSpPr>
            <p:cNvPr id="48139" name="Rectangle 12"/>
            <p:cNvSpPr>
              <a:spLocks noChangeArrowheads="1"/>
            </p:cNvSpPr>
            <p:nvPr/>
          </p:nvSpPr>
          <p:spPr bwMode="auto">
            <a:xfrm>
              <a:off x="2627" y="2840"/>
              <a:ext cx="82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70</a:t>
              </a:r>
            </a:p>
          </p:txBody>
        </p:sp>
        <p:sp>
          <p:nvSpPr>
            <p:cNvPr id="48140" name="Rectangle 13"/>
            <p:cNvSpPr>
              <a:spLocks noChangeArrowheads="1"/>
            </p:cNvSpPr>
            <p:nvPr/>
          </p:nvSpPr>
          <p:spPr bwMode="auto">
            <a:xfrm>
              <a:off x="1648" y="2840"/>
              <a:ext cx="97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李四</a:t>
              </a:r>
            </a:p>
          </p:txBody>
        </p:sp>
        <p:sp>
          <p:nvSpPr>
            <p:cNvPr id="48141" name="Rectangle 14"/>
            <p:cNvSpPr>
              <a:spLocks noChangeArrowheads="1"/>
            </p:cNvSpPr>
            <p:nvPr/>
          </p:nvSpPr>
          <p:spPr bwMode="auto">
            <a:xfrm>
              <a:off x="669" y="2840"/>
              <a:ext cx="97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880004</a:t>
              </a:r>
            </a:p>
          </p:txBody>
        </p:sp>
        <p:sp>
          <p:nvSpPr>
            <p:cNvPr id="48142" name="Rectangle 15"/>
            <p:cNvSpPr>
              <a:spLocks noChangeArrowheads="1"/>
            </p:cNvSpPr>
            <p:nvPr/>
          </p:nvSpPr>
          <p:spPr bwMode="auto">
            <a:xfrm>
              <a:off x="4176" y="2409"/>
              <a:ext cx="1387"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99</a:t>
              </a:r>
            </a:p>
          </p:txBody>
        </p:sp>
        <p:sp>
          <p:nvSpPr>
            <p:cNvPr id="48143" name="Rectangle 16"/>
            <p:cNvSpPr>
              <a:spLocks noChangeArrowheads="1"/>
            </p:cNvSpPr>
            <p:nvPr/>
          </p:nvSpPr>
          <p:spPr bwMode="auto">
            <a:xfrm>
              <a:off x="3456" y="2409"/>
              <a:ext cx="720"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90</a:t>
              </a:r>
            </a:p>
          </p:txBody>
        </p:sp>
        <p:sp>
          <p:nvSpPr>
            <p:cNvPr id="48144" name="Rectangle 17"/>
            <p:cNvSpPr>
              <a:spLocks noChangeArrowheads="1"/>
            </p:cNvSpPr>
            <p:nvPr/>
          </p:nvSpPr>
          <p:spPr bwMode="auto">
            <a:xfrm>
              <a:off x="2627" y="2409"/>
              <a:ext cx="829"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95</a:t>
              </a:r>
            </a:p>
          </p:txBody>
        </p:sp>
        <p:sp>
          <p:nvSpPr>
            <p:cNvPr id="48145" name="Rectangle 18"/>
            <p:cNvSpPr>
              <a:spLocks noChangeArrowheads="1"/>
            </p:cNvSpPr>
            <p:nvPr/>
          </p:nvSpPr>
          <p:spPr bwMode="auto">
            <a:xfrm>
              <a:off x="1648" y="2409"/>
              <a:ext cx="979"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张三</a:t>
              </a:r>
            </a:p>
          </p:txBody>
        </p:sp>
        <p:sp>
          <p:nvSpPr>
            <p:cNvPr id="48146" name="Rectangle 19"/>
            <p:cNvSpPr>
              <a:spLocks noChangeArrowheads="1"/>
            </p:cNvSpPr>
            <p:nvPr/>
          </p:nvSpPr>
          <p:spPr bwMode="auto">
            <a:xfrm>
              <a:off x="669" y="2409"/>
              <a:ext cx="979"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880003</a:t>
              </a:r>
            </a:p>
          </p:txBody>
        </p:sp>
        <p:sp>
          <p:nvSpPr>
            <p:cNvPr id="48147" name="Rectangle 20"/>
            <p:cNvSpPr>
              <a:spLocks noChangeArrowheads="1"/>
            </p:cNvSpPr>
            <p:nvPr/>
          </p:nvSpPr>
          <p:spPr bwMode="auto">
            <a:xfrm>
              <a:off x="4176" y="1977"/>
              <a:ext cx="138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90</a:t>
              </a:r>
            </a:p>
          </p:txBody>
        </p:sp>
        <p:sp>
          <p:nvSpPr>
            <p:cNvPr id="48148" name="Rectangle 21"/>
            <p:cNvSpPr>
              <a:spLocks noChangeArrowheads="1"/>
            </p:cNvSpPr>
            <p:nvPr/>
          </p:nvSpPr>
          <p:spPr bwMode="auto">
            <a:xfrm>
              <a:off x="3456" y="1977"/>
              <a:ext cx="72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85</a:t>
              </a:r>
            </a:p>
          </p:txBody>
        </p:sp>
        <p:sp>
          <p:nvSpPr>
            <p:cNvPr id="48149" name="Rectangle 22"/>
            <p:cNvSpPr>
              <a:spLocks noChangeArrowheads="1"/>
            </p:cNvSpPr>
            <p:nvPr/>
          </p:nvSpPr>
          <p:spPr bwMode="auto">
            <a:xfrm>
              <a:off x="2627" y="1977"/>
              <a:ext cx="82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80</a:t>
              </a:r>
            </a:p>
          </p:txBody>
        </p:sp>
        <p:sp>
          <p:nvSpPr>
            <p:cNvPr id="48150" name="Rectangle 23"/>
            <p:cNvSpPr>
              <a:spLocks noChangeArrowheads="1"/>
            </p:cNvSpPr>
            <p:nvPr/>
          </p:nvSpPr>
          <p:spPr bwMode="auto">
            <a:xfrm>
              <a:off x="1648" y="1977"/>
              <a:ext cx="97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马二</a:t>
              </a:r>
            </a:p>
          </p:txBody>
        </p:sp>
        <p:sp>
          <p:nvSpPr>
            <p:cNvPr id="48151" name="Rectangle 24"/>
            <p:cNvSpPr>
              <a:spLocks noChangeArrowheads="1"/>
            </p:cNvSpPr>
            <p:nvPr/>
          </p:nvSpPr>
          <p:spPr bwMode="auto">
            <a:xfrm>
              <a:off x="669" y="1977"/>
              <a:ext cx="97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880002</a:t>
              </a:r>
            </a:p>
          </p:txBody>
        </p:sp>
        <p:sp>
          <p:nvSpPr>
            <p:cNvPr id="48152" name="Rectangle 25"/>
            <p:cNvSpPr>
              <a:spLocks noChangeArrowheads="1"/>
            </p:cNvSpPr>
            <p:nvPr/>
          </p:nvSpPr>
          <p:spPr bwMode="auto">
            <a:xfrm>
              <a:off x="4176" y="1545"/>
              <a:ext cx="138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95</a:t>
              </a:r>
            </a:p>
          </p:txBody>
        </p:sp>
        <p:sp>
          <p:nvSpPr>
            <p:cNvPr id="48153" name="Rectangle 26"/>
            <p:cNvSpPr>
              <a:spLocks noChangeArrowheads="1"/>
            </p:cNvSpPr>
            <p:nvPr/>
          </p:nvSpPr>
          <p:spPr bwMode="auto">
            <a:xfrm>
              <a:off x="3456" y="1545"/>
              <a:ext cx="72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85</a:t>
              </a:r>
            </a:p>
          </p:txBody>
        </p:sp>
        <p:sp>
          <p:nvSpPr>
            <p:cNvPr id="48154" name="Rectangle 27"/>
            <p:cNvSpPr>
              <a:spLocks noChangeArrowheads="1"/>
            </p:cNvSpPr>
            <p:nvPr/>
          </p:nvSpPr>
          <p:spPr bwMode="auto">
            <a:xfrm>
              <a:off x="2627" y="1545"/>
              <a:ext cx="82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90</a:t>
              </a:r>
            </a:p>
          </p:txBody>
        </p:sp>
        <p:sp>
          <p:nvSpPr>
            <p:cNvPr id="48155" name="Rectangle 28"/>
            <p:cNvSpPr>
              <a:spLocks noChangeArrowheads="1"/>
            </p:cNvSpPr>
            <p:nvPr/>
          </p:nvSpPr>
          <p:spPr bwMode="auto">
            <a:xfrm>
              <a:off x="1648" y="1545"/>
              <a:ext cx="97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丁一</a:t>
              </a:r>
            </a:p>
          </p:txBody>
        </p:sp>
        <p:sp>
          <p:nvSpPr>
            <p:cNvPr id="48156" name="Rectangle 29"/>
            <p:cNvSpPr>
              <a:spLocks noChangeArrowheads="1"/>
            </p:cNvSpPr>
            <p:nvPr/>
          </p:nvSpPr>
          <p:spPr bwMode="auto">
            <a:xfrm>
              <a:off x="669" y="1545"/>
              <a:ext cx="97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880001</a:t>
              </a:r>
            </a:p>
          </p:txBody>
        </p:sp>
        <p:sp>
          <p:nvSpPr>
            <p:cNvPr id="48157" name="Rectangle 30"/>
            <p:cNvSpPr>
              <a:spLocks noChangeArrowheads="1"/>
            </p:cNvSpPr>
            <p:nvPr/>
          </p:nvSpPr>
          <p:spPr bwMode="auto">
            <a:xfrm>
              <a:off x="4176" y="1113"/>
              <a:ext cx="138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英语</a:t>
              </a:r>
            </a:p>
          </p:txBody>
        </p:sp>
        <p:sp>
          <p:nvSpPr>
            <p:cNvPr id="48158" name="Rectangle 31"/>
            <p:cNvSpPr>
              <a:spLocks noChangeArrowheads="1"/>
            </p:cNvSpPr>
            <p:nvPr/>
          </p:nvSpPr>
          <p:spPr bwMode="auto">
            <a:xfrm>
              <a:off x="3456" y="1113"/>
              <a:ext cx="72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物理</a:t>
              </a:r>
            </a:p>
          </p:txBody>
        </p:sp>
        <p:sp>
          <p:nvSpPr>
            <p:cNvPr id="48159" name="Rectangle 32"/>
            <p:cNvSpPr>
              <a:spLocks noChangeArrowheads="1"/>
            </p:cNvSpPr>
            <p:nvPr/>
          </p:nvSpPr>
          <p:spPr bwMode="auto">
            <a:xfrm>
              <a:off x="2627" y="1113"/>
              <a:ext cx="82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数学</a:t>
              </a:r>
            </a:p>
          </p:txBody>
        </p:sp>
        <p:sp>
          <p:nvSpPr>
            <p:cNvPr id="48160" name="Rectangle 33"/>
            <p:cNvSpPr>
              <a:spLocks noChangeArrowheads="1"/>
            </p:cNvSpPr>
            <p:nvPr/>
          </p:nvSpPr>
          <p:spPr bwMode="auto">
            <a:xfrm>
              <a:off x="1648" y="1113"/>
              <a:ext cx="97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姓名</a:t>
              </a:r>
            </a:p>
          </p:txBody>
        </p:sp>
        <p:sp>
          <p:nvSpPr>
            <p:cNvPr id="48161" name="Rectangle 34"/>
            <p:cNvSpPr>
              <a:spLocks noChangeArrowheads="1"/>
            </p:cNvSpPr>
            <p:nvPr/>
          </p:nvSpPr>
          <p:spPr bwMode="auto">
            <a:xfrm>
              <a:off x="669" y="1113"/>
              <a:ext cx="979"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学号</a:t>
              </a:r>
            </a:p>
          </p:txBody>
        </p:sp>
        <p:sp>
          <p:nvSpPr>
            <p:cNvPr id="48162" name="Line 35"/>
            <p:cNvSpPr>
              <a:spLocks noChangeShapeType="1"/>
            </p:cNvSpPr>
            <p:nvPr/>
          </p:nvSpPr>
          <p:spPr bwMode="auto">
            <a:xfrm>
              <a:off x="669" y="1113"/>
              <a:ext cx="4894"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63" name="Line 36"/>
            <p:cNvSpPr>
              <a:spLocks noChangeShapeType="1"/>
            </p:cNvSpPr>
            <p:nvPr/>
          </p:nvSpPr>
          <p:spPr bwMode="auto">
            <a:xfrm>
              <a:off x="669" y="1545"/>
              <a:ext cx="489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64" name="Line 37"/>
            <p:cNvSpPr>
              <a:spLocks noChangeShapeType="1"/>
            </p:cNvSpPr>
            <p:nvPr/>
          </p:nvSpPr>
          <p:spPr bwMode="auto">
            <a:xfrm>
              <a:off x="669" y="1977"/>
              <a:ext cx="489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65" name="Line 38"/>
            <p:cNvSpPr>
              <a:spLocks noChangeShapeType="1"/>
            </p:cNvSpPr>
            <p:nvPr/>
          </p:nvSpPr>
          <p:spPr bwMode="auto">
            <a:xfrm>
              <a:off x="669" y="2409"/>
              <a:ext cx="489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66" name="Line 39"/>
            <p:cNvSpPr>
              <a:spLocks noChangeShapeType="1"/>
            </p:cNvSpPr>
            <p:nvPr/>
          </p:nvSpPr>
          <p:spPr bwMode="auto">
            <a:xfrm>
              <a:off x="669" y="2840"/>
              <a:ext cx="489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67" name="Line 40"/>
            <p:cNvSpPr>
              <a:spLocks noChangeShapeType="1"/>
            </p:cNvSpPr>
            <p:nvPr/>
          </p:nvSpPr>
          <p:spPr bwMode="auto">
            <a:xfrm>
              <a:off x="669" y="3272"/>
              <a:ext cx="489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68" name="Line 41"/>
            <p:cNvSpPr>
              <a:spLocks noChangeShapeType="1"/>
            </p:cNvSpPr>
            <p:nvPr/>
          </p:nvSpPr>
          <p:spPr bwMode="auto">
            <a:xfrm>
              <a:off x="669" y="3704"/>
              <a:ext cx="4894"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69" name="Line 42"/>
            <p:cNvSpPr>
              <a:spLocks noChangeShapeType="1"/>
            </p:cNvSpPr>
            <p:nvPr/>
          </p:nvSpPr>
          <p:spPr bwMode="auto">
            <a:xfrm>
              <a:off x="669" y="1113"/>
              <a:ext cx="0" cy="2591"/>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70" name="Line 43"/>
            <p:cNvSpPr>
              <a:spLocks noChangeShapeType="1"/>
            </p:cNvSpPr>
            <p:nvPr/>
          </p:nvSpPr>
          <p:spPr bwMode="auto">
            <a:xfrm>
              <a:off x="1648" y="1113"/>
              <a:ext cx="0" cy="259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71" name="Line 44"/>
            <p:cNvSpPr>
              <a:spLocks noChangeShapeType="1"/>
            </p:cNvSpPr>
            <p:nvPr/>
          </p:nvSpPr>
          <p:spPr bwMode="auto">
            <a:xfrm>
              <a:off x="2627" y="1113"/>
              <a:ext cx="0" cy="259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72" name="Line 45"/>
            <p:cNvSpPr>
              <a:spLocks noChangeShapeType="1"/>
            </p:cNvSpPr>
            <p:nvPr/>
          </p:nvSpPr>
          <p:spPr bwMode="auto">
            <a:xfrm>
              <a:off x="3456" y="1113"/>
              <a:ext cx="0" cy="259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73" name="Line 46"/>
            <p:cNvSpPr>
              <a:spLocks noChangeShapeType="1"/>
            </p:cNvSpPr>
            <p:nvPr/>
          </p:nvSpPr>
          <p:spPr bwMode="auto">
            <a:xfrm>
              <a:off x="4176" y="1113"/>
              <a:ext cx="0" cy="259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174" name="Line 47"/>
            <p:cNvSpPr>
              <a:spLocks noChangeShapeType="1"/>
            </p:cNvSpPr>
            <p:nvPr/>
          </p:nvSpPr>
          <p:spPr bwMode="auto">
            <a:xfrm>
              <a:off x="5563" y="1113"/>
              <a:ext cx="0" cy="2591"/>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527050" y="368300"/>
            <a:ext cx="10218738" cy="822325"/>
          </a:xfrm>
        </p:spPr>
        <p:txBody>
          <a:bodyPr/>
          <a:lstStyle/>
          <a:p>
            <a:pPr eaLnBrk="1" hangingPunct="1"/>
            <a:r>
              <a:rPr lang="zh-CN" altLang="en-US" smtClean="0"/>
              <a:t>抽象数据类型线性表的定义</a:t>
            </a:r>
          </a:p>
        </p:txBody>
      </p:sp>
      <p:sp>
        <p:nvSpPr>
          <p:cNvPr id="49155" name="Rectangle 3"/>
          <p:cNvSpPr>
            <a:spLocks noGrp="1" noChangeArrowheads="1"/>
          </p:cNvSpPr>
          <p:nvPr>
            <p:ph idx="1"/>
          </p:nvPr>
        </p:nvSpPr>
        <p:spPr>
          <a:xfrm>
            <a:off x="527050" y="1628775"/>
            <a:ext cx="10218738" cy="4351338"/>
          </a:xfrm>
        </p:spPr>
        <p:txBody>
          <a:bodyPr/>
          <a:lstStyle/>
          <a:p>
            <a:pPr eaLnBrk="1" hangingPunct="1"/>
            <a:r>
              <a:rPr lang="en-US" altLang="zh-CN" b="1" smtClean="0"/>
              <a:t>ADT List {</a:t>
            </a:r>
          </a:p>
          <a:p>
            <a:pPr eaLnBrk="1" hangingPunct="1"/>
            <a:r>
              <a:rPr lang="zh-CN" altLang="en-US" smtClean="0">
                <a:solidFill>
                  <a:schemeClr val="accent2"/>
                </a:solidFill>
              </a:rPr>
              <a:t>数据对象：</a:t>
            </a:r>
            <a:r>
              <a:rPr lang="zh-CN" altLang="en-US" smtClean="0"/>
              <a:t> </a:t>
            </a:r>
          </a:p>
          <a:p>
            <a:pPr lvl="1" eaLnBrk="1" hangingPunct="1"/>
            <a:r>
              <a:rPr lang="en-US" altLang="zh-CN" smtClean="0"/>
              <a:t>D</a:t>
            </a:r>
            <a:r>
              <a:rPr lang="zh-CN" altLang="en-US" smtClean="0"/>
              <a:t>＝</a:t>
            </a:r>
            <a:r>
              <a:rPr lang="en-US" altLang="zh-CN" smtClean="0"/>
              <a:t>{</a:t>
            </a:r>
            <a:r>
              <a:rPr lang="en-US" altLang="zh-CN" i="1" smtClean="0"/>
              <a:t>a</a:t>
            </a:r>
            <a:r>
              <a:rPr lang="en-US" altLang="zh-CN" i="1" baseline="-25000" smtClean="0"/>
              <a:t>i</a:t>
            </a:r>
            <a:r>
              <a:rPr lang="en-US" altLang="zh-CN" smtClean="0"/>
              <a:t> | </a:t>
            </a:r>
            <a:r>
              <a:rPr lang="en-US" altLang="zh-CN" i="1" smtClean="0"/>
              <a:t>a</a:t>
            </a:r>
            <a:r>
              <a:rPr lang="en-US" altLang="zh-CN" i="1" baseline="-25000" smtClean="0"/>
              <a:t>i</a:t>
            </a:r>
            <a:r>
              <a:rPr lang="en-US" altLang="zh-CN" smtClean="0"/>
              <a:t> ∈ ElemSet, i=1,2,...,n, n≥0 }</a:t>
            </a:r>
          </a:p>
          <a:p>
            <a:pPr eaLnBrk="1" hangingPunct="1"/>
            <a:r>
              <a:rPr lang="zh-CN" altLang="en-US" smtClean="0">
                <a:solidFill>
                  <a:schemeClr val="accent2"/>
                </a:solidFill>
              </a:rPr>
              <a:t>数据关系：</a:t>
            </a:r>
          </a:p>
          <a:p>
            <a:pPr lvl="1" eaLnBrk="1" hangingPunct="1"/>
            <a:r>
              <a:rPr lang="en-US" altLang="zh-CN" smtClean="0"/>
              <a:t>R1</a:t>
            </a:r>
            <a:r>
              <a:rPr lang="zh-CN" altLang="en-US" smtClean="0"/>
              <a:t>＝</a:t>
            </a:r>
            <a:r>
              <a:rPr lang="en-US" altLang="zh-CN" smtClean="0"/>
              <a:t>{ &lt; </a:t>
            </a:r>
            <a:r>
              <a:rPr lang="en-US" altLang="zh-CN" i="1" smtClean="0"/>
              <a:t>a</a:t>
            </a:r>
            <a:r>
              <a:rPr lang="en-US" altLang="zh-CN" i="1" baseline="-25000" smtClean="0"/>
              <a:t>i</a:t>
            </a:r>
            <a:r>
              <a:rPr lang="zh-CN" altLang="en-US" i="1" baseline="-25000" smtClean="0"/>
              <a:t>－</a:t>
            </a:r>
            <a:r>
              <a:rPr lang="en-US" altLang="zh-CN" i="1" baseline="-25000" smtClean="0"/>
              <a:t>1</a:t>
            </a:r>
            <a:r>
              <a:rPr lang="en-US" altLang="zh-CN" smtClean="0"/>
              <a:t> , </a:t>
            </a:r>
            <a:r>
              <a:rPr lang="en-US" altLang="zh-CN" i="1" smtClean="0"/>
              <a:t>a</a:t>
            </a:r>
            <a:r>
              <a:rPr lang="en-US" altLang="zh-CN" i="1" baseline="-25000" smtClean="0"/>
              <a:t>i</a:t>
            </a:r>
            <a:r>
              <a:rPr lang="en-US" altLang="zh-CN" smtClean="0"/>
              <a:t> &gt;| </a:t>
            </a:r>
            <a:r>
              <a:rPr lang="en-US" altLang="zh-CN" i="1" smtClean="0"/>
              <a:t>a</a:t>
            </a:r>
            <a:r>
              <a:rPr lang="en-US" altLang="zh-CN" i="1" baseline="-25000" smtClean="0"/>
              <a:t>i</a:t>
            </a:r>
            <a:r>
              <a:rPr lang="en-US" altLang="zh-CN" smtClean="0"/>
              <a:t> ∈D, i=2,...,n }</a:t>
            </a:r>
            <a:r>
              <a:rPr lang="en-US" altLang="zh-CN" smtClean="0">
                <a:latin typeface="Arial" panose="020B0604020202020204" pitchFamily="34" charset="0"/>
              </a:rPr>
              <a:t> </a:t>
            </a:r>
            <a:endParaRPr lang="en-US" altLang="zh-CN" smtClean="0"/>
          </a:p>
          <a:p>
            <a:pPr lvl="1" eaLnBrk="1" hangingPunct="1"/>
            <a:r>
              <a:rPr lang="zh-CN" altLang="en-US" smtClean="0"/>
              <a:t>序偶，即有序对，可以看作是具有两个元素的集合。但它与一般集合不同的是序偶具有确定的次序。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527050" y="368300"/>
            <a:ext cx="10218738" cy="822325"/>
          </a:xfrm>
        </p:spPr>
        <p:txBody>
          <a:bodyPr/>
          <a:lstStyle/>
          <a:p>
            <a:pPr eaLnBrk="1" hangingPunct="1"/>
            <a:r>
              <a:rPr lang="zh-CN" altLang="en-US" smtClean="0"/>
              <a:t>抽象数据类型线性表的定义</a:t>
            </a:r>
          </a:p>
        </p:txBody>
      </p:sp>
      <p:sp>
        <p:nvSpPr>
          <p:cNvPr id="13315" name="Rectangle 3"/>
          <p:cNvSpPr>
            <a:spLocks noGrp="1" noChangeArrowheads="1"/>
          </p:cNvSpPr>
          <p:nvPr>
            <p:ph idx="1"/>
          </p:nvPr>
        </p:nvSpPr>
        <p:spPr>
          <a:xfrm>
            <a:off x="527050" y="1628775"/>
            <a:ext cx="10218738" cy="4351338"/>
          </a:xfrm>
        </p:spPr>
        <p:txBody>
          <a:bodyPr/>
          <a:lstStyle/>
          <a:p>
            <a:pPr eaLnBrk="1" hangingPunct="1"/>
            <a:r>
              <a:rPr lang="zh-CN" altLang="en-US" smtClean="0">
                <a:solidFill>
                  <a:schemeClr val="accent2"/>
                </a:solidFill>
              </a:rPr>
              <a:t>基本操作</a:t>
            </a:r>
            <a:r>
              <a:rPr lang="zh-CN" altLang="en-US" smtClean="0"/>
              <a:t>：</a:t>
            </a:r>
          </a:p>
          <a:p>
            <a:pPr lvl="1" eaLnBrk="1" hangingPunct="1"/>
            <a:r>
              <a:rPr lang="zh-CN" altLang="en-US" smtClean="0"/>
              <a:t>结构初始化</a:t>
            </a:r>
          </a:p>
          <a:p>
            <a:pPr lvl="1" eaLnBrk="1" hangingPunct="1">
              <a:buFont typeface="Wingdings" panose="05000000000000000000" pitchFamily="2" charset="2"/>
              <a:buNone/>
            </a:pPr>
            <a:r>
              <a:rPr lang="en-US" altLang="zh-CN" smtClean="0"/>
              <a:t>InitList(</a:t>
            </a:r>
            <a:r>
              <a:rPr lang="en-US" altLang="zh-CN" b="1" smtClean="0"/>
              <a:t>*</a:t>
            </a:r>
            <a:r>
              <a:rPr lang="en-US" altLang="zh-CN" smtClean="0"/>
              <a:t>L)</a:t>
            </a:r>
          </a:p>
          <a:p>
            <a:pPr lvl="1" eaLnBrk="1" hangingPunct="1">
              <a:buFont typeface="Wingdings" panose="05000000000000000000" pitchFamily="2" charset="2"/>
              <a:buNone/>
            </a:pPr>
            <a:r>
              <a:rPr lang="zh-CN" altLang="en-US" smtClean="0"/>
              <a:t>操作结果：构造一个空的线性表 </a:t>
            </a:r>
            <a:r>
              <a:rPr lang="en-US" altLang="zh-CN" smtClean="0"/>
              <a:t>L</a:t>
            </a:r>
          </a:p>
          <a:p>
            <a:pPr lvl="1" eaLnBrk="1" hangingPunct="1"/>
            <a:r>
              <a:rPr lang="zh-CN" altLang="en-US" smtClean="0"/>
              <a:t>销毁结构</a:t>
            </a:r>
          </a:p>
          <a:p>
            <a:pPr lvl="1" eaLnBrk="1" hangingPunct="1">
              <a:buFont typeface="Wingdings" panose="05000000000000000000" pitchFamily="2" charset="2"/>
              <a:buNone/>
            </a:pPr>
            <a:r>
              <a:rPr lang="en-US" altLang="zh-CN" smtClean="0"/>
              <a:t>DestroyList(*L)</a:t>
            </a:r>
          </a:p>
          <a:p>
            <a:pPr lvl="1" eaLnBrk="1" hangingPunct="1">
              <a:buFont typeface="Wingdings" panose="05000000000000000000" pitchFamily="2" charset="2"/>
              <a:buNone/>
            </a:pPr>
            <a:r>
              <a:rPr lang="zh-CN" altLang="en-US" smtClean="0"/>
              <a:t>初始条件：线性表 </a:t>
            </a:r>
            <a:r>
              <a:rPr lang="en-US" altLang="zh-CN" smtClean="0"/>
              <a:t>L </a:t>
            </a:r>
            <a:r>
              <a:rPr lang="zh-CN" altLang="en-US" smtClean="0"/>
              <a:t>已存在</a:t>
            </a:r>
          </a:p>
          <a:p>
            <a:pPr lvl="1" eaLnBrk="1" hangingPunct="1">
              <a:buFont typeface="Wingdings" panose="05000000000000000000" pitchFamily="2" charset="2"/>
              <a:buNone/>
            </a:pPr>
            <a:r>
              <a:rPr lang="zh-CN" altLang="en-US" smtClean="0"/>
              <a:t>操作结果：销毁线性表 </a:t>
            </a:r>
            <a:r>
              <a:rPr lang="en-US" altLang="zh-CN" smtClean="0"/>
              <a:t>L</a:t>
            </a:r>
          </a:p>
          <a:p>
            <a:pPr lvl="1" eaLnBrk="1" hangingPunct="1"/>
            <a:endParaRPr lang="en-US" altLang="zh-CN" smtClean="0"/>
          </a:p>
        </p:txBody>
      </p:sp>
      <p:sp>
        <p:nvSpPr>
          <p:cNvPr id="13316" name="AutoShape 4"/>
          <p:cNvSpPr>
            <a:spLocks noChangeArrowheads="1"/>
          </p:cNvSpPr>
          <p:nvPr/>
        </p:nvSpPr>
        <p:spPr bwMode="auto">
          <a:xfrm>
            <a:off x="5232400" y="2133600"/>
            <a:ext cx="4967288" cy="1727200"/>
          </a:xfrm>
          <a:prstGeom prst="wedgeRoundRectCallout">
            <a:avLst>
              <a:gd name="adj1" fmla="val -70199"/>
              <a:gd name="adj2" fmla="val -57537"/>
              <a:gd name="adj3" fmla="val 16667"/>
            </a:avLst>
          </a:prstGeom>
          <a:solidFill>
            <a:schemeClr val="accent1"/>
          </a:solidFill>
          <a:ln w="9525">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lang="zh-CN" altLang="en-US" b="1">
                <a:latin typeface="Verdana" panose="020B0604030504040204" pitchFamily="34" charset="0"/>
                <a:ea typeface="宋体" panose="02010600030101010101" pitchFamily="2" charset="-122"/>
              </a:rPr>
              <a:t>可分为四类</a:t>
            </a:r>
          </a:p>
          <a:p>
            <a:pPr eaLnBrk="1" hangingPunct="1">
              <a:lnSpc>
                <a:spcPct val="100000"/>
              </a:lnSpc>
              <a:spcBef>
                <a:spcPct val="0"/>
              </a:spcBef>
              <a:buFontTx/>
              <a:buNone/>
            </a:pPr>
            <a:r>
              <a:rPr lang="zh-CN" altLang="en-US" b="1">
                <a:latin typeface="Verdana" panose="020B0604030504040204" pitchFamily="34" charset="0"/>
                <a:ea typeface="宋体" panose="02010600030101010101" pitchFamily="2" charset="-122"/>
              </a:rPr>
              <a:t>结构初始化、销毁结构</a:t>
            </a:r>
          </a:p>
          <a:p>
            <a:pPr eaLnBrk="1" hangingPunct="1">
              <a:lnSpc>
                <a:spcPct val="100000"/>
              </a:lnSpc>
              <a:spcBef>
                <a:spcPct val="0"/>
              </a:spcBef>
              <a:buFontTx/>
              <a:buNone/>
            </a:pPr>
            <a:r>
              <a:rPr lang="zh-CN" altLang="en-US" b="1">
                <a:latin typeface="Verdana" panose="020B0604030504040204" pitchFamily="34" charset="0"/>
                <a:ea typeface="宋体" panose="02010600030101010101" pitchFamily="2" charset="-122"/>
              </a:rPr>
              <a:t>引用型操作、加工型操作</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 calcmode="lin" valueType="num">
                                      <p:cBhvr additive="base">
                                        <p:cTn id="7" dur="500" fill="hold"/>
                                        <p:tgtEl>
                                          <p:spTgt spid="13316"/>
                                        </p:tgtEl>
                                        <p:attrNameLst>
                                          <p:attrName>ppt_x</p:attrName>
                                        </p:attrNameLst>
                                      </p:cBhvr>
                                      <p:tavLst>
                                        <p:tav tm="0">
                                          <p:val>
                                            <p:strVal val="#ppt_x"/>
                                          </p:val>
                                        </p:tav>
                                        <p:tav tm="100000">
                                          <p:val>
                                            <p:strVal val="#ppt_x"/>
                                          </p:val>
                                        </p:tav>
                                      </p:tavLst>
                                    </p:anim>
                                    <p:anim calcmode="lin" valueType="num">
                                      <p:cBhvr additive="base">
                                        <p:cTn id="8"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4" fill="hold" grpId="1" nodeType="clickEffect">
                                  <p:stCondLst>
                                    <p:cond delay="0"/>
                                  </p:stCondLst>
                                  <p:childTnLst>
                                    <p:anim calcmode="lin" valueType="num">
                                      <p:cBhvr additive="base">
                                        <p:cTn id="12" dur="500"/>
                                        <p:tgtEl>
                                          <p:spTgt spid="13316"/>
                                        </p:tgtEl>
                                        <p:attrNameLst>
                                          <p:attrName>ppt_x</p:attrName>
                                        </p:attrNameLst>
                                      </p:cBhvr>
                                      <p:tavLst>
                                        <p:tav tm="0">
                                          <p:val>
                                            <p:strVal val="ppt_x"/>
                                          </p:val>
                                        </p:tav>
                                        <p:tav tm="100000">
                                          <p:val>
                                            <p:strVal val="ppt_x"/>
                                          </p:val>
                                        </p:tav>
                                      </p:tavLst>
                                    </p:anim>
                                    <p:anim calcmode="lin" valueType="num">
                                      <p:cBhvr additive="base">
                                        <p:cTn id="13" dur="500"/>
                                        <p:tgtEl>
                                          <p:spTgt spid="13316"/>
                                        </p:tgtEl>
                                        <p:attrNameLst>
                                          <p:attrName>ppt_y</p:attrName>
                                        </p:attrNameLst>
                                      </p:cBhvr>
                                      <p:tavLst>
                                        <p:tav tm="0">
                                          <p:val>
                                            <p:strVal val="ppt_y"/>
                                          </p:val>
                                        </p:tav>
                                        <p:tav tm="100000">
                                          <p:val>
                                            <p:strVal val="1+ppt_h/2"/>
                                          </p:val>
                                        </p:tav>
                                      </p:tavLst>
                                    </p:anim>
                                    <p:set>
                                      <p:cBhvr>
                                        <p:cTn id="14" dur="1" fill="hold">
                                          <p:stCondLst>
                                            <p:cond delay="499"/>
                                          </p:stCondLst>
                                        </p:cTn>
                                        <p:tgtEl>
                                          <p:spTgt spid="13316"/>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5" presetClass="entr" presetSubtype="10" fill="hold" nodeType="clickEffect">
                                  <p:stCondLst>
                                    <p:cond delay="0"/>
                                  </p:stCondLst>
                                  <p:childTnLst>
                                    <p:set>
                                      <p:cBhvr>
                                        <p:cTn id="18" dur="1" fill="hold">
                                          <p:stCondLst>
                                            <p:cond delay="0"/>
                                          </p:stCondLst>
                                        </p:cTn>
                                        <p:tgtEl>
                                          <p:spTgt spid="13315">
                                            <p:txEl>
                                              <p:pRg st="1" end="1"/>
                                            </p:txEl>
                                          </p:spTgt>
                                        </p:tgtEl>
                                        <p:attrNameLst>
                                          <p:attrName>style.visibility</p:attrName>
                                        </p:attrNameLst>
                                      </p:cBhvr>
                                      <p:to>
                                        <p:strVal val="visible"/>
                                      </p:to>
                                    </p:set>
                                    <p:animEffect transition="in" filter="checkerboard(across)">
                                      <p:cBhvr>
                                        <p:cTn id="19" dur="500"/>
                                        <p:tgtEl>
                                          <p:spTgt spid="13315">
                                            <p:txEl>
                                              <p:pRg st="1" end="1"/>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13315">
                                            <p:txEl>
                                              <p:pRg st="2" end="2"/>
                                            </p:txEl>
                                          </p:spTgt>
                                        </p:tgtEl>
                                        <p:attrNameLst>
                                          <p:attrName>style.visibility</p:attrName>
                                        </p:attrNameLst>
                                      </p:cBhvr>
                                      <p:to>
                                        <p:strVal val="visible"/>
                                      </p:to>
                                    </p:set>
                                    <p:animEffect transition="in" filter="checkerboard(across)">
                                      <p:cBhvr>
                                        <p:cTn id="22" dur="500"/>
                                        <p:tgtEl>
                                          <p:spTgt spid="13315">
                                            <p:txEl>
                                              <p:pRg st="2" end="2"/>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13315">
                                            <p:txEl>
                                              <p:pRg st="3" end="3"/>
                                            </p:txEl>
                                          </p:spTgt>
                                        </p:tgtEl>
                                        <p:attrNameLst>
                                          <p:attrName>style.visibility</p:attrName>
                                        </p:attrNameLst>
                                      </p:cBhvr>
                                      <p:to>
                                        <p:strVal val="visible"/>
                                      </p:to>
                                    </p:set>
                                    <p:animEffect transition="in" filter="checkerboard(across)">
                                      <p:cBhvr>
                                        <p:cTn id="25" dur="500"/>
                                        <p:tgtEl>
                                          <p:spTgt spid="13315">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8" presetClass="entr" presetSubtype="16" fill="hold" nodeType="clickEffect">
                                  <p:stCondLst>
                                    <p:cond delay="0"/>
                                  </p:stCondLst>
                                  <p:childTnLst>
                                    <p:set>
                                      <p:cBhvr>
                                        <p:cTn id="29" dur="1" fill="hold">
                                          <p:stCondLst>
                                            <p:cond delay="0"/>
                                          </p:stCondLst>
                                        </p:cTn>
                                        <p:tgtEl>
                                          <p:spTgt spid="13315">
                                            <p:txEl>
                                              <p:pRg st="4" end="4"/>
                                            </p:txEl>
                                          </p:spTgt>
                                        </p:tgtEl>
                                        <p:attrNameLst>
                                          <p:attrName>style.visibility</p:attrName>
                                        </p:attrNameLst>
                                      </p:cBhvr>
                                      <p:to>
                                        <p:strVal val="visible"/>
                                      </p:to>
                                    </p:set>
                                    <p:animEffect transition="in" filter="diamond(in)">
                                      <p:cBhvr>
                                        <p:cTn id="30" dur="2000"/>
                                        <p:tgtEl>
                                          <p:spTgt spid="13315">
                                            <p:txEl>
                                              <p:pRg st="4" end="4"/>
                                            </p:txEl>
                                          </p:spTgt>
                                        </p:tgtEl>
                                      </p:cBhvr>
                                    </p:animEffect>
                                  </p:childTnLst>
                                </p:cTn>
                              </p:par>
                              <p:par>
                                <p:cTn id="31" presetID="8" presetClass="entr" presetSubtype="16" fill="hold" nodeType="withEffect">
                                  <p:stCondLst>
                                    <p:cond delay="0"/>
                                  </p:stCondLst>
                                  <p:childTnLst>
                                    <p:set>
                                      <p:cBhvr>
                                        <p:cTn id="32" dur="1" fill="hold">
                                          <p:stCondLst>
                                            <p:cond delay="0"/>
                                          </p:stCondLst>
                                        </p:cTn>
                                        <p:tgtEl>
                                          <p:spTgt spid="13315">
                                            <p:txEl>
                                              <p:pRg st="5" end="5"/>
                                            </p:txEl>
                                          </p:spTgt>
                                        </p:tgtEl>
                                        <p:attrNameLst>
                                          <p:attrName>style.visibility</p:attrName>
                                        </p:attrNameLst>
                                      </p:cBhvr>
                                      <p:to>
                                        <p:strVal val="visible"/>
                                      </p:to>
                                    </p:set>
                                    <p:animEffect transition="in" filter="diamond(in)">
                                      <p:cBhvr>
                                        <p:cTn id="33" dur="2000"/>
                                        <p:tgtEl>
                                          <p:spTgt spid="13315">
                                            <p:txEl>
                                              <p:pRg st="5" end="5"/>
                                            </p:txEl>
                                          </p:spTgt>
                                        </p:tgtEl>
                                      </p:cBhvr>
                                    </p:animEffect>
                                  </p:childTnLst>
                                </p:cTn>
                              </p:par>
                              <p:par>
                                <p:cTn id="34" presetID="8" presetClass="entr" presetSubtype="16" fill="hold" nodeType="withEffect">
                                  <p:stCondLst>
                                    <p:cond delay="0"/>
                                  </p:stCondLst>
                                  <p:childTnLst>
                                    <p:set>
                                      <p:cBhvr>
                                        <p:cTn id="35" dur="1" fill="hold">
                                          <p:stCondLst>
                                            <p:cond delay="0"/>
                                          </p:stCondLst>
                                        </p:cTn>
                                        <p:tgtEl>
                                          <p:spTgt spid="13315">
                                            <p:txEl>
                                              <p:pRg st="6" end="6"/>
                                            </p:txEl>
                                          </p:spTgt>
                                        </p:tgtEl>
                                        <p:attrNameLst>
                                          <p:attrName>style.visibility</p:attrName>
                                        </p:attrNameLst>
                                      </p:cBhvr>
                                      <p:to>
                                        <p:strVal val="visible"/>
                                      </p:to>
                                    </p:set>
                                    <p:animEffect transition="in" filter="diamond(in)">
                                      <p:cBhvr>
                                        <p:cTn id="36" dur="2000"/>
                                        <p:tgtEl>
                                          <p:spTgt spid="13315">
                                            <p:txEl>
                                              <p:pRg st="6" end="6"/>
                                            </p:txEl>
                                          </p:spTgt>
                                        </p:tgtEl>
                                      </p:cBhvr>
                                    </p:animEffect>
                                  </p:childTnLst>
                                </p:cTn>
                              </p:par>
                              <p:par>
                                <p:cTn id="37" presetID="8" presetClass="entr" presetSubtype="16" fill="hold" nodeType="withEffect">
                                  <p:stCondLst>
                                    <p:cond delay="0"/>
                                  </p:stCondLst>
                                  <p:childTnLst>
                                    <p:set>
                                      <p:cBhvr>
                                        <p:cTn id="38" dur="1" fill="hold">
                                          <p:stCondLst>
                                            <p:cond delay="0"/>
                                          </p:stCondLst>
                                        </p:cTn>
                                        <p:tgtEl>
                                          <p:spTgt spid="13315">
                                            <p:txEl>
                                              <p:pRg st="7" end="7"/>
                                            </p:txEl>
                                          </p:spTgt>
                                        </p:tgtEl>
                                        <p:attrNameLst>
                                          <p:attrName>style.visibility</p:attrName>
                                        </p:attrNameLst>
                                      </p:cBhvr>
                                      <p:to>
                                        <p:strVal val="visible"/>
                                      </p:to>
                                    </p:set>
                                    <p:animEffect transition="in" filter="diamond(in)">
                                      <p:cBhvr>
                                        <p:cTn id="39" dur="2000"/>
                                        <p:tgtEl>
                                          <p:spTgt spid="133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animBg="1"/>
      <p:bldP spid="13316"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527050" y="368300"/>
            <a:ext cx="10218738" cy="822325"/>
          </a:xfrm>
        </p:spPr>
        <p:txBody>
          <a:bodyPr/>
          <a:lstStyle/>
          <a:p>
            <a:pPr eaLnBrk="1" hangingPunct="1"/>
            <a:r>
              <a:rPr lang="zh-CN" altLang="en-US" smtClean="0"/>
              <a:t>抽象数据类型线性表的定义</a:t>
            </a:r>
          </a:p>
        </p:txBody>
      </p:sp>
      <p:sp>
        <p:nvSpPr>
          <p:cNvPr id="14339" name="Rectangle 3"/>
          <p:cNvSpPr>
            <a:spLocks noGrp="1" noChangeArrowheads="1"/>
          </p:cNvSpPr>
          <p:nvPr>
            <p:ph idx="1"/>
          </p:nvPr>
        </p:nvSpPr>
        <p:spPr>
          <a:xfrm>
            <a:off x="527050" y="1628775"/>
            <a:ext cx="10218738" cy="4351338"/>
          </a:xfrm>
        </p:spPr>
        <p:txBody>
          <a:bodyPr/>
          <a:lstStyle/>
          <a:p>
            <a:pPr eaLnBrk="1" hangingPunct="1"/>
            <a:r>
              <a:rPr lang="zh-CN" altLang="en-US" smtClean="0">
                <a:solidFill>
                  <a:schemeClr val="accent2"/>
                </a:solidFill>
              </a:rPr>
              <a:t>引用型操作（</a:t>
            </a:r>
            <a:r>
              <a:rPr lang="en-US" altLang="zh-CN" smtClean="0">
                <a:solidFill>
                  <a:schemeClr val="accent2"/>
                </a:solidFill>
              </a:rPr>
              <a:t>6</a:t>
            </a:r>
            <a:r>
              <a:rPr lang="zh-CN" altLang="en-US" smtClean="0">
                <a:solidFill>
                  <a:schemeClr val="accent2"/>
                </a:solidFill>
              </a:rPr>
              <a:t>个）</a:t>
            </a:r>
          </a:p>
          <a:p>
            <a:pPr lvl="1" eaLnBrk="1" hangingPunct="1">
              <a:buFont typeface="Wingdings" panose="05000000000000000000" pitchFamily="2" charset="2"/>
              <a:buNone/>
            </a:pPr>
            <a:r>
              <a:rPr lang="en-US" altLang="zh-CN" smtClean="0"/>
              <a:t>ListEmpty( L )</a:t>
            </a:r>
          </a:p>
          <a:p>
            <a:pPr lvl="1" eaLnBrk="1" hangingPunct="1">
              <a:buFont typeface="Wingdings" panose="05000000000000000000" pitchFamily="2" charset="2"/>
              <a:buNone/>
            </a:pPr>
            <a:r>
              <a:rPr lang="zh-CN" altLang="en-US" smtClean="0"/>
              <a:t>初始条件：线性表</a:t>
            </a:r>
            <a:r>
              <a:rPr lang="en-US" altLang="zh-CN" smtClean="0"/>
              <a:t>L</a:t>
            </a:r>
            <a:r>
              <a:rPr lang="zh-CN" altLang="en-US" smtClean="0"/>
              <a:t>已存在</a:t>
            </a:r>
          </a:p>
          <a:p>
            <a:pPr lvl="1" eaLnBrk="1" hangingPunct="1">
              <a:buFont typeface="Wingdings" panose="05000000000000000000" pitchFamily="2" charset="2"/>
              <a:buNone/>
            </a:pPr>
            <a:r>
              <a:rPr lang="zh-CN" altLang="en-US" smtClean="0"/>
              <a:t>操作结果：若 </a:t>
            </a:r>
            <a:r>
              <a:rPr lang="en-US" altLang="zh-CN" smtClean="0"/>
              <a:t>L </a:t>
            </a:r>
            <a:r>
              <a:rPr lang="zh-CN" altLang="en-US" smtClean="0"/>
              <a:t>为空表，则返回 </a:t>
            </a:r>
            <a:r>
              <a:rPr lang="en-US" altLang="zh-CN" smtClean="0"/>
              <a:t>TRUE</a:t>
            </a:r>
            <a:r>
              <a:rPr lang="zh-CN" altLang="en-US" smtClean="0"/>
              <a:t>，否则返回 </a:t>
            </a:r>
            <a:r>
              <a:rPr lang="en-US" altLang="zh-CN" smtClean="0"/>
              <a:t>FALSE</a:t>
            </a:r>
          </a:p>
          <a:p>
            <a:pPr lvl="1" eaLnBrk="1" hangingPunct="1">
              <a:buFont typeface="Wingdings" panose="05000000000000000000" pitchFamily="2" charset="2"/>
              <a:buNone/>
            </a:pPr>
            <a:r>
              <a:rPr lang="en-US" altLang="zh-CN" smtClean="0"/>
              <a:t>ListLength( L )</a:t>
            </a:r>
          </a:p>
          <a:p>
            <a:pPr lvl="1" eaLnBrk="1" hangingPunct="1">
              <a:buFont typeface="Wingdings" panose="05000000000000000000" pitchFamily="2" charset="2"/>
              <a:buNone/>
            </a:pPr>
            <a:r>
              <a:rPr lang="zh-CN" altLang="en-US" smtClean="0"/>
              <a:t>初始条件：线性表 </a:t>
            </a:r>
            <a:r>
              <a:rPr lang="en-US" altLang="zh-CN" smtClean="0"/>
              <a:t>L </a:t>
            </a:r>
            <a:r>
              <a:rPr lang="zh-CN" altLang="en-US" smtClean="0"/>
              <a:t>已存在</a:t>
            </a:r>
          </a:p>
          <a:p>
            <a:pPr lvl="1" eaLnBrk="1" hangingPunct="1">
              <a:buFont typeface="Wingdings" panose="05000000000000000000" pitchFamily="2" charset="2"/>
              <a:buNone/>
            </a:pPr>
            <a:r>
              <a:rPr lang="zh-CN" altLang="en-US" smtClean="0"/>
              <a:t>操作结果：返回 </a:t>
            </a:r>
            <a:r>
              <a:rPr lang="en-US" altLang="zh-CN" smtClean="0"/>
              <a:t>L </a:t>
            </a:r>
            <a:r>
              <a:rPr lang="zh-CN" altLang="en-US" smtClean="0"/>
              <a:t>中元素个数</a:t>
            </a:r>
          </a:p>
          <a:p>
            <a:pPr eaLnBrk="1" hangingPunct="1"/>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7" dur="500"/>
                                        <p:tgtEl>
                                          <p:spTgt spid="1433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0" dur="500"/>
                                        <p:tgtEl>
                                          <p:spTgt spid="1433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13" dur="500"/>
                                        <p:tgtEl>
                                          <p:spTgt spid="14339">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16" dur="500"/>
                                        <p:tgtEl>
                                          <p:spTgt spid="14339">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19" dur="500"/>
                                        <p:tgtEl>
                                          <p:spTgt spid="14339">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4339">
                                            <p:txEl>
                                              <p:pRg st="6" end="6"/>
                                            </p:txEl>
                                          </p:spTgt>
                                        </p:tgtEl>
                                        <p:attrNameLst>
                                          <p:attrName>style.visibility</p:attrName>
                                        </p:attrNameLst>
                                      </p:cBhvr>
                                      <p:to>
                                        <p:strVal val="visible"/>
                                      </p:to>
                                    </p:set>
                                    <p:animEffect transition="in" filter="blinds(horizontal)">
                                      <p:cBhvr>
                                        <p:cTn id="22" dur="500"/>
                                        <p:tgtEl>
                                          <p:spTgt spid="14339">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box(in)">
                                      <p:cBhvr>
                                        <p:cTn id="27" dur="500"/>
                                        <p:tgtEl>
                                          <p:spTgt spid="14339">
                                            <p:txEl>
                                              <p:pRg st="4" end="4"/>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14339">
                                            <p:txEl>
                                              <p:pRg st="5" end="5"/>
                                            </p:txEl>
                                          </p:spTgt>
                                        </p:tgtEl>
                                        <p:attrNameLst>
                                          <p:attrName>style.visibility</p:attrName>
                                        </p:attrNameLst>
                                      </p:cBhvr>
                                      <p:to>
                                        <p:strVal val="visible"/>
                                      </p:to>
                                    </p:set>
                                    <p:animEffect transition="in" filter="box(in)">
                                      <p:cBhvr>
                                        <p:cTn id="30" dur="500"/>
                                        <p:tgtEl>
                                          <p:spTgt spid="14339">
                                            <p:txEl>
                                              <p:pRg st="5" end="5"/>
                                            </p:txEl>
                                          </p:spTgt>
                                        </p:tgtEl>
                                      </p:cBhvr>
                                    </p:animEffect>
                                  </p:childTnLst>
                                </p:cTn>
                              </p:par>
                              <p:par>
                                <p:cTn id="31" presetID="4" presetClass="entr" presetSubtype="16" fill="hold" nodeType="withEffect">
                                  <p:stCondLst>
                                    <p:cond delay="0"/>
                                  </p:stCondLst>
                                  <p:childTnLst>
                                    <p:set>
                                      <p:cBhvr>
                                        <p:cTn id="32" dur="1" fill="hold">
                                          <p:stCondLst>
                                            <p:cond delay="0"/>
                                          </p:stCondLst>
                                        </p:cTn>
                                        <p:tgtEl>
                                          <p:spTgt spid="14339">
                                            <p:txEl>
                                              <p:pRg st="6" end="6"/>
                                            </p:txEl>
                                          </p:spTgt>
                                        </p:tgtEl>
                                        <p:attrNameLst>
                                          <p:attrName>style.visibility</p:attrName>
                                        </p:attrNameLst>
                                      </p:cBhvr>
                                      <p:to>
                                        <p:strVal val="visible"/>
                                      </p:to>
                                    </p:set>
                                    <p:animEffect transition="in" filter="box(in)">
                                      <p:cBhvr>
                                        <p:cTn id="33" dur="500"/>
                                        <p:tgtEl>
                                          <p:spTgt spid="143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527050" y="368300"/>
            <a:ext cx="10218738" cy="822325"/>
          </a:xfrm>
        </p:spPr>
        <p:txBody>
          <a:bodyPr/>
          <a:lstStyle/>
          <a:p>
            <a:pPr eaLnBrk="1" hangingPunct="1"/>
            <a:r>
              <a:rPr lang="zh-CN" altLang="en-US" smtClean="0"/>
              <a:t>抽象数据类型线性表的定义</a:t>
            </a:r>
          </a:p>
        </p:txBody>
      </p:sp>
      <p:sp>
        <p:nvSpPr>
          <p:cNvPr id="15363" name="Rectangle 3"/>
          <p:cNvSpPr>
            <a:spLocks noGrp="1" noChangeArrowheads="1"/>
          </p:cNvSpPr>
          <p:nvPr>
            <p:ph idx="1"/>
          </p:nvPr>
        </p:nvSpPr>
        <p:spPr>
          <a:xfrm>
            <a:off x="527050" y="1628775"/>
            <a:ext cx="10218738" cy="4351338"/>
          </a:xfrm>
        </p:spPr>
        <p:txBody>
          <a:bodyPr/>
          <a:lstStyle/>
          <a:p>
            <a:pPr eaLnBrk="1" hangingPunct="1"/>
            <a:r>
              <a:rPr lang="zh-CN" altLang="en-US" smtClean="0"/>
              <a:t>引用型操作（续）</a:t>
            </a:r>
          </a:p>
          <a:p>
            <a:pPr lvl="1" eaLnBrk="1" hangingPunct="1">
              <a:buFont typeface="Wingdings" panose="05000000000000000000" pitchFamily="2" charset="2"/>
              <a:buNone/>
            </a:pPr>
            <a:r>
              <a:rPr lang="en-US" altLang="zh-CN" smtClean="0"/>
              <a:t>PriorElem( L, cur_e, </a:t>
            </a:r>
            <a:r>
              <a:rPr lang="en-US" altLang="zh-CN" b="1" smtClean="0"/>
              <a:t>*</a:t>
            </a:r>
            <a:r>
              <a:rPr lang="en-US" altLang="zh-CN" smtClean="0"/>
              <a:t>pre_e )</a:t>
            </a:r>
          </a:p>
          <a:p>
            <a:pPr lvl="1" eaLnBrk="1" hangingPunct="1">
              <a:buFont typeface="Wingdings" panose="05000000000000000000" pitchFamily="2" charset="2"/>
              <a:buNone/>
            </a:pPr>
            <a:r>
              <a:rPr lang="zh-CN" altLang="en-US" smtClean="0"/>
              <a:t>初始条件：线性表 </a:t>
            </a:r>
            <a:r>
              <a:rPr lang="en-US" altLang="zh-CN" smtClean="0"/>
              <a:t>L </a:t>
            </a:r>
            <a:r>
              <a:rPr lang="zh-CN" altLang="en-US" smtClean="0"/>
              <a:t>已存在</a:t>
            </a:r>
          </a:p>
          <a:p>
            <a:pPr lvl="1" eaLnBrk="1" hangingPunct="1">
              <a:buFont typeface="Wingdings" panose="05000000000000000000" pitchFamily="2" charset="2"/>
              <a:buNone/>
            </a:pPr>
            <a:r>
              <a:rPr lang="zh-CN" altLang="en-US" smtClean="0"/>
              <a:t>操作结果：若 </a:t>
            </a:r>
            <a:r>
              <a:rPr lang="en-US" altLang="zh-CN" smtClean="0"/>
              <a:t>cur_e </a:t>
            </a:r>
            <a:r>
              <a:rPr lang="zh-CN" altLang="en-US" smtClean="0"/>
              <a:t>是 </a:t>
            </a:r>
            <a:r>
              <a:rPr lang="en-US" altLang="zh-CN" smtClean="0"/>
              <a:t>L </a:t>
            </a:r>
            <a:r>
              <a:rPr lang="zh-CN" altLang="en-US" smtClean="0"/>
              <a:t>中的数据元素，则用 </a:t>
            </a:r>
            <a:r>
              <a:rPr lang="en-US" altLang="zh-CN" smtClean="0"/>
              <a:t>pre_e </a:t>
            </a:r>
            <a:r>
              <a:rPr lang="zh-CN" altLang="en-US" smtClean="0"/>
              <a:t>返回它的前驱，否则操作失败，</a:t>
            </a:r>
            <a:r>
              <a:rPr lang="en-US" altLang="zh-CN" smtClean="0"/>
              <a:t>pre_e </a:t>
            </a:r>
            <a:r>
              <a:rPr lang="zh-CN" altLang="en-US" smtClean="0"/>
              <a:t>无定义</a:t>
            </a:r>
          </a:p>
          <a:p>
            <a:pPr lvl="1" eaLnBrk="1" hangingPunct="1">
              <a:buFont typeface="Wingdings" panose="05000000000000000000" pitchFamily="2" charset="2"/>
              <a:buNone/>
            </a:pPr>
            <a:r>
              <a:rPr lang="en-US" altLang="zh-CN" smtClean="0"/>
              <a:t>NextElem( L, cur_e, </a:t>
            </a:r>
            <a:r>
              <a:rPr lang="en-US" altLang="zh-CN" b="1" smtClean="0"/>
              <a:t>*</a:t>
            </a:r>
            <a:r>
              <a:rPr lang="en-US" altLang="zh-CN" smtClean="0"/>
              <a:t>next_e )</a:t>
            </a:r>
          </a:p>
          <a:p>
            <a:pPr lvl="1" eaLnBrk="1" hangingPunct="1">
              <a:buFont typeface="Wingdings" panose="05000000000000000000" pitchFamily="2" charset="2"/>
              <a:buNone/>
            </a:pPr>
            <a:r>
              <a:rPr lang="zh-CN" altLang="en-US" smtClean="0"/>
              <a:t>初始条件：线性表 </a:t>
            </a:r>
            <a:r>
              <a:rPr lang="en-US" altLang="zh-CN" smtClean="0"/>
              <a:t>L </a:t>
            </a:r>
            <a:r>
              <a:rPr lang="zh-CN" altLang="en-US" smtClean="0"/>
              <a:t>已存在</a:t>
            </a:r>
          </a:p>
          <a:p>
            <a:pPr lvl="1" eaLnBrk="1" hangingPunct="1">
              <a:buFont typeface="Wingdings" panose="05000000000000000000" pitchFamily="2" charset="2"/>
              <a:buNone/>
            </a:pPr>
            <a:r>
              <a:rPr lang="zh-CN" altLang="en-US" smtClean="0"/>
              <a:t>操作结果：若 </a:t>
            </a:r>
            <a:r>
              <a:rPr lang="en-US" altLang="zh-CN" smtClean="0"/>
              <a:t>cur_e </a:t>
            </a:r>
            <a:r>
              <a:rPr lang="zh-CN" altLang="en-US" smtClean="0"/>
              <a:t>是 </a:t>
            </a:r>
            <a:r>
              <a:rPr lang="en-US" altLang="zh-CN" smtClean="0"/>
              <a:t>L </a:t>
            </a:r>
            <a:r>
              <a:rPr lang="zh-CN" altLang="en-US" smtClean="0"/>
              <a:t>中的数据元素，则用 </a:t>
            </a:r>
            <a:r>
              <a:rPr lang="en-US" altLang="zh-CN" smtClean="0"/>
              <a:t>next_e </a:t>
            </a:r>
            <a:r>
              <a:rPr lang="zh-CN" altLang="en-US" smtClean="0"/>
              <a:t>返回它的后继，否则操作失败，</a:t>
            </a:r>
            <a:r>
              <a:rPr lang="en-US" altLang="zh-CN" smtClean="0"/>
              <a:t>next_e </a:t>
            </a:r>
            <a:r>
              <a:rPr lang="zh-CN" altLang="en-US" smtClean="0"/>
              <a:t>无定义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7" dur="500"/>
                                        <p:tgtEl>
                                          <p:spTgt spid="1536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0" dur="500"/>
                                        <p:tgtEl>
                                          <p:spTgt spid="1536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13" dur="500"/>
                                        <p:tgtEl>
                                          <p:spTgt spid="15363">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15363">
                                            <p:txEl>
                                              <p:pRg st="4" end="4"/>
                                            </p:txEl>
                                          </p:spTgt>
                                        </p:tgtEl>
                                        <p:attrNameLst>
                                          <p:attrName>style.visibility</p:attrName>
                                        </p:attrNameLst>
                                      </p:cBhvr>
                                      <p:to>
                                        <p:strVal val="visible"/>
                                      </p:to>
                                    </p:set>
                                    <p:animEffect transition="in" filter="box(in)">
                                      <p:cBhvr>
                                        <p:cTn id="18" dur="500"/>
                                        <p:tgtEl>
                                          <p:spTgt spid="15363">
                                            <p:txEl>
                                              <p:pRg st="4" end="4"/>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15363">
                                            <p:txEl>
                                              <p:pRg st="5" end="5"/>
                                            </p:txEl>
                                          </p:spTgt>
                                        </p:tgtEl>
                                        <p:attrNameLst>
                                          <p:attrName>style.visibility</p:attrName>
                                        </p:attrNameLst>
                                      </p:cBhvr>
                                      <p:to>
                                        <p:strVal val="visible"/>
                                      </p:to>
                                    </p:set>
                                    <p:animEffect transition="in" filter="box(in)">
                                      <p:cBhvr>
                                        <p:cTn id="21" dur="500"/>
                                        <p:tgtEl>
                                          <p:spTgt spid="15363">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15363">
                                            <p:txEl>
                                              <p:pRg st="6" end="6"/>
                                            </p:txEl>
                                          </p:spTgt>
                                        </p:tgtEl>
                                        <p:attrNameLst>
                                          <p:attrName>style.visibility</p:attrName>
                                        </p:attrNameLst>
                                      </p:cBhvr>
                                      <p:to>
                                        <p:strVal val="visible"/>
                                      </p:to>
                                    </p:set>
                                    <p:animEffect transition="in" filter="box(in)">
                                      <p:cBhvr>
                                        <p:cTn id="24" dur="500"/>
                                        <p:tgtEl>
                                          <p:spTgt spid="153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527050" y="368300"/>
            <a:ext cx="10218738" cy="822325"/>
          </a:xfrm>
        </p:spPr>
        <p:txBody>
          <a:bodyPr/>
          <a:lstStyle/>
          <a:p>
            <a:pPr eaLnBrk="1" hangingPunct="1"/>
            <a:r>
              <a:rPr lang="zh-CN" altLang="en-US" smtClean="0"/>
              <a:t>抽象数据类型线性表的定义</a:t>
            </a:r>
          </a:p>
        </p:txBody>
      </p:sp>
      <p:sp>
        <p:nvSpPr>
          <p:cNvPr id="16387" name="Rectangle 3"/>
          <p:cNvSpPr>
            <a:spLocks noGrp="1" noChangeArrowheads="1"/>
          </p:cNvSpPr>
          <p:nvPr>
            <p:ph idx="1"/>
          </p:nvPr>
        </p:nvSpPr>
        <p:spPr>
          <a:xfrm>
            <a:off x="527050" y="1628775"/>
            <a:ext cx="10218738" cy="4351338"/>
          </a:xfrm>
        </p:spPr>
        <p:txBody>
          <a:bodyPr/>
          <a:lstStyle/>
          <a:p>
            <a:pPr eaLnBrk="1" hangingPunct="1"/>
            <a:r>
              <a:rPr lang="zh-CN" altLang="en-US" sz="3200" smtClean="0"/>
              <a:t>引用型操作（续）</a:t>
            </a:r>
            <a:endParaRPr lang="zh-CN" altLang="en-US" smtClean="0"/>
          </a:p>
          <a:p>
            <a:pPr lvl="1" eaLnBrk="1" hangingPunct="1">
              <a:buFont typeface="Wingdings" panose="05000000000000000000" pitchFamily="2" charset="2"/>
              <a:buNone/>
            </a:pPr>
            <a:r>
              <a:rPr lang="en-US" altLang="zh-CN" smtClean="0"/>
              <a:t>GetElem( L, i, </a:t>
            </a:r>
            <a:r>
              <a:rPr lang="en-US" altLang="zh-CN" b="1" smtClean="0"/>
              <a:t>*</a:t>
            </a:r>
            <a:r>
              <a:rPr lang="en-US" altLang="zh-CN" smtClean="0"/>
              <a:t>e )</a:t>
            </a:r>
            <a:r>
              <a:rPr lang="zh-CN" altLang="en-US" smtClean="0"/>
              <a:t>　　　</a:t>
            </a:r>
          </a:p>
          <a:p>
            <a:pPr lvl="1" eaLnBrk="1" hangingPunct="1">
              <a:buFont typeface="Wingdings" panose="05000000000000000000" pitchFamily="2" charset="2"/>
              <a:buNone/>
            </a:pPr>
            <a:r>
              <a:rPr lang="zh-CN" altLang="en-US" smtClean="0"/>
              <a:t>初始条件：线性表 </a:t>
            </a:r>
            <a:r>
              <a:rPr lang="en-US" altLang="zh-CN" smtClean="0"/>
              <a:t>L </a:t>
            </a:r>
            <a:r>
              <a:rPr lang="zh-CN" altLang="en-US" smtClean="0"/>
              <a:t>已存在</a:t>
            </a:r>
            <a:r>
              <a:rPr lang="en-US" altLang="zh-CN" smtClean="0"/>
              <a:t>1≤i≤LengthList(L)</a:t>
            </a:r>
            <a:r>
              <a:rPr lang="zh-CN" altLang="en-US" smtClean="0"/>
              <a:t>。</a:t>
            </a:r>
          </a:p>
          <a:p>
            <a:pPr lvl="1" eaLnBrk="1" hangingPunct="1">
              <a:buFont typeface="Wingdings" panose="05000000000000000000" pitchFamily="2" charset="2"/>
              <a:buNone/>
            </a:pPr>
            <a:r>
              <a:rPr lang="zh-CN" altLang="en-US" smtClean="0"/>
              <a:t>操作结果：用 </a:t>
            </a:r>
            <a:r>
              <a:rPr lang="en-US" altLang="zh-CN" smtClean="0"/>
              <a:t>e </a:t>
            </a:r>
            <a:r>
              <a:rPr lang="zh-CN" altLang="en-US" smtClean="0"/>
              <a:t>返回 </a:t>
            </a:r>
            <a:r>
              <a:rPr lang="en-US" altLang="zh-CN" smtClean="0"/>
              <a:t>L </a:t>
            </a:r>
            <a:r>
              <a:rPr lang="zh-CN" altLang="en-US" smtClean="0"/>
              <a:t>中第 </a:t>
            </a:r>
            <a:r>
              <a:rPr lang="en-US" altLang="zh-CN" smtClean="0"/>
              <a:t>i </a:t>
            </a:r>
            <a:r>
              <a:rPr lang="zh-CN" altLang="en-US" smtClean="0"/>
              <a:t>个元素的值。</a:t>
            </a:r>
          </a:p>
          <a:p>
            <a:pPr lvl="1" eaLnBrk="1" hangingPunct="1">
              <a:buFont typeface="Wingdings" panose="05000000000000000000" pitchFamily="2" charset="2"/>
              <a:buNone/>
            </a:pPr>
            <a:r>
              <a:rPr lang="en-US" altLang="zh-CN" smtClean="0"/>
              <a:t>LocateElem( L, e)</a:t>
            </a:r>
          </a:p>
          <a:p>
            <a:pPr lvl="1" eaLnBrk="1" hangingPunct="1">
              <a:buFont typeface="Wingdings" panose="05000000000000000000" pitchFamily="2" charset="2"/>
              <a:buNone/>
            </a:pPr>
            <a:r>
              <a:rPr lang="zh-CN" altLang="en-US" smtClean="0"/>
              <a:t>初始条件：线性表 </a:t>
            </a:r>
            <a:r>
              <a:rPr lang="en-US" altLang="zh-CN" smtClean="0"/>
              <a:t>L </a:t>
            </a:r>
            <a:r>
              <a:rPr lang="zh-CN" altLang="en-US" smtClean="0"/>
              <a:t>已存在。</a:t>
            </a:r>
          </a:p>
          <a:p>
            <a:pPr lvl="1" eaLnBrk="1" hangingPunct="1">
              <a:buFont typeface="Wingdings" panose="05000000000000000000" pitchFamily="2" charset="2"/>
              <a:buNone/>
            </a:pPr>
            <a:r>
              <a:rPr lang="zh-CN" altLang="en-US" smtClean="0"/>
              <a:t>操作结果：返回 </a:t>
            </a:r>
            <a:r>
              <a:rPr lang="en-US" altLang="zh-CN" smtClean="0"/>
              <a:t>L </a:t>
            </a:r>
            <a:r>
              <a:rPr lang="zh-CN" altLang="en-US" smtClean="0"/>
              <a:t>中与 </a:t>
            </a:r>
            <a:r>
              <a:rPr lang="en-US" altLang="zh-CN" smtClean="0"/>
              <a:t>e </a:t>
            </a:r>
            <a:r>
              <a:rPr lang="zh-CN" altLang="en-US" smtClean="0"/>
              <a:t>相等的元素的序号。若这样的元素不存在，则返回值为</a:t>
            </a:r>
            <a:r>
              <a:rPr lang="en-US" altLang="zh-CN" smtClean="0"/>
              <a:t>0</a:t>
            </a:r>
            <a:r>
              <a:rPr lang="zh-CN" altLang="en-US" smtClean="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Effect transition="in" filter="box(in)">
                                      <p:cBhvr>
                                        <p:cTn id="7" dur="500"/>
                                        <p:tgtEl>
                                          <p:spTgt spid="16387">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6387">
                                            <p:txEl>
                                              <p:pRg st="2" end="2"/>
                                            </p:txEl>
                                          </p:spTgt>
                                        </p:tgtEl>
                                        <p:attrNameLst>
                                          <p:attrName>style.visibility</p:attrName>
                                        </p:attrNameLst>
                                      </p:cBhvr>
                                      <p:to>
                                        <p:strVal val="visible"/>
                                      </p:to>
                                    </p:set>
                                    <p:animEffect transition="in" filter="box(in)">
                                      <p:cBhvr>
                                        <p:cTn id="10" dur="500"/>
                                        <p:tgtEl>
                                          <p:spTgt spid="16387">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6387">
                                            <p:txEl>
                                              <p:pRg st="3" end="3"/>
                                            </p:txEl>
                                          </p:spTgt>
                                        </p:tgtEl>
                                        <p:attrNameLst>
                                          <p:attrName>style.visibility</p:attrName>
                                        </p:attrNameLst>
                                      </p:cBhvr>
                                      <p:to>
                                        <p:strVal val="visible"/>
                                      </p:to>
                                    </p:set>
                                    <p:animEffect transition="in" filter="box(in)">
                                      <p:cBhvr>
                                        <p:cTn id="13" dur="500"/>
                                        <p:tgtEl>
                                          <p:spTgt spid="16387">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16387">
                                            <p:txEl>
                                              <p:pRg st="4" end="4"/>
                                            </p:txEl>
                                          </p:spTgt>
                                        </p:tgtEl>
                                        <p:attrNameLst>
                                          <p:attrName>style.visibility</p:attrName>
                                        </p:attrNameLst>
                                      </p:cBhvr>
                                      <p:to>
                                        <p:strVal val="visible"/>
                                      </p:to>
                                    </p:set>
                                    <p:anim calcmode="lin" valueType="num">
                                      <p:cBhvr additive="base">
                                        <p:cTn id="18"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6387">
                                            <p:txEl>
                                              <p:pRg st="4" end="4"/>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6387">
                                            <p:txEl>
                                              <p:pRg st="5" end="5"/>
                                            </p:txEl>
                                          </p:spTgt>
                                        </p:tgtEl>
                                        <p:attrNameLst>
                                          <p:attrName>style.visibility</p:attrName>
                                        </p:attrNameLst>
                                      </p:cBhvr>
                                      <p:to>
                                        <p:strVal val="visible"/>
                                      </p:to>
                                    </p:set>
                                    <p:anim calcmode="lin" valueType="num">
                                      <p:cBhvr additive="base">
                                        <p:cTn id="22" dur="5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6387">
                                            <p:txEl>
                                              <p:pRg st="5" end="5"/>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6387">
                                            <p:txEl>
                                              <p:pRg st="6" end="6"/>
                                            </p:txEl>
                                          </p:spTgt>
                                        </p:tgtEl>
                                        <p:attrNameLst>
                                          <p:attrName>style.visibility</p:attrName>
                                        </p:attrNameLst>
                                      </p:cBhvr>
                                      <p:to>
                                        <p:strVal val="visible"/>
                                      </p:to>
                                    </p:set>
                                    <p:anim calcmode="lin" valueType="num">
                                      <p:cBhvr additive="base">
                                        <p:cTn id="26" dur="500" fill="hold"/>
                                        <p:tgtEl>
                                          <p:spTgt spid="16387">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638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527050" y="368300"/>
            <a:ext cx="10218738" cy="822325"/>
          </a:xfrm>
        </p:spPr>
        <p:txBody>
          <a:bodyPr/>
          <a:lstStyle/>
          <a:p>
            <a:pPr eaLnBrk="1" hangingPunct="1"/>
            <a:r>
              <a:rPr lang="zh-CN" altLang="en-US" smtClean="0"/>
              <a:t>抽象数据类型线性表的定义</a:t>
            </a:r>
          </a:p>
        </p:txBody>
      </p:sp>
      <p:sp>
        <p:nvSpPr>
          <p:cNvPr id="18435" name="Rectangle 3"/>
          <p:cNvSpPr>
            <a:spLocks noGrp="1" noChangeArrowheads="1"/>
          </p:cNvSpPr>
          <p:nvPr>
            <p:ph idx="1"/>
          </p:nvPr>
        </p:nvSpPr>
        <p:spPr>
          <a:xfrm>
            <a:off x="527050" y="1628775"/>
            <a:ext cx="10218738" cy="4351338"/>
          </a:xfrm>
        </p:spPr>
        <p:txBody>
          <a:bodyPr/>
          <a:lstStyle/>
          <a:p>
            <a:pPr eaLnBrk="1" hangingPunct="1"/>
            <a:r>
              <a:rPr lang="zh-CN" altLang="en-US" b="1" smtClean="0"/>
              <a:t>加工型操作</a:t>
            </a:r>
          </a:p>
          <a:p>
            <a:pPr lvl="1" eaLnBrk="1" hangingPunct="1">
              <a:buFont typeface="Wingdings" panose="05000000000000000000" pitchFamily="2" charset="2"/>
              <a:buNone/>
            </a:pPr>
            <a:r>
              <a:rPr lang="en-US" altLang="zh-CN" smtClean="0"/>
              <a:t>ClearList( </a:t>
            </a:r>
            <a:r>
              <a:rPr lang="en-US" altLang="zh-CN" b="1" smtClean="0"/>
              <a:t>*</a:t>
            </a:r>
            <a:r>
              <a:rPr lang="en-US" altLang="zh-CN" smtClean="0"/>
              <a:t>L )</a:t>
            </a:r>
          </a:p>
          <a:p>
            <a:pPr lvl="1" eaLnBrk="1" hangingPunct="1">
              <a:buFont typeface="Wingdings" panose="05000000000000000000" pitchFamily="2" charset="2"/>
              <a:buNone/>
            </a:pPr>
            <a:r>
              <a:rPr lang="zh-CN" altLang="en-US" smtClean="0"/>
              <a:t>初始条件：线性表 </a:t>
            </a:r>
            <a:r>
              <a:rPr lang="en-US" altLang="zh-CN" smtClean="0"/>
              <a:t>L </a:t>
            </a:r>
            <a:r>
              <a:rPr lang="zh-CN" altLang="en-US" smtClean="0"/>
              <a:t>已存在。</a:t>
            </a:r>
          </a:p>
          <a:p>
            <a:pPr lvl="1" eaLnBrk="1" hangingPunct="1">
              <a:buFont typeface="Wingdings" panose="05000000000000000000" pitchFamily="2" charset="2"/>
              <a:buNone/>
            </a:pPr>
            <a:r>
              <a:rPr lang="zh-CN" altLang="en-US" smtClean="0"/>
              <a:t>操作结果：将 </a:t>
            </a:r>
            <a:r>
              <a:rPr lang="en-US" altLang="zh-CN" smtClean="0"/>
              <a:t>L </a:t>
            </a:r>
            <a:r>
              <a:rPr lang="zh-CN" altLang="en-US" smtClean="0"/>
              <a:t>重置为空表。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Effect transition="in" filter="diamond(in)">
                                      <p:cBhvr>
                                        <p:cTn id="7" dur="2000"/>
                                        <p:tgtEl>
                                          <p:spTgt spid="18435">
                                            <p:txEl>
                                              <p:pRg st="1" end="1"/>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18435">
                                            <p:txEl>
                                              <p:pRg st="2" end="2"/>
                                            </p:txEl>
                                          </p:spTgt>
                                        </p:tgtEl>
                                        <p:attrNameLst>
                                          <p:attrName>style.visibility</p:attrName>
                                        </p:attrNameLst>
                                      </p:cBhvr>
                                      <p:to>
                                        <p:strVal val="visible"/>
                                      </p:to>
                                    </p:set>
                                    <p:animEffect transition="in" filter="diamond(in)">
                                      <p:cBhvr>
                                        <p:cTn id="10" dur="2000"/>
                                        <p:tgtEl>
                                          <p:spTgt spid="18435">
                                            <p:txEl>
                                              <p:pRg st="2" end="2"/>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animEffect transition="in" filter="diamond(in)">
                                      <p:cBhvr>
                                        <p:cTn id="13" dur="20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527050" y="368300"/>
            <a:ext cx="10218738" cy="822325"/>
          </a:xfrm>
        </p:spPr>
        <p:txBody>
          <a:bodyPr/>
          <a:lstStyle/>
          <a:p>
            <a:pPr eaLnBrk="1" hangingPunct="1"/>
            <a:r>
              <a:rPr lang="zh-CN" altLang="en-US" smtClean="0"/>
              <a:t>抽象数据类型线性表的定义</a:t>
            </a:r>
          </a:p>
        </p:txBody>
      </p:sp>
      <p:sp>
        <p:nvSpPr>
          <p:cNvPr id="19459" name="Rectangle 3"/>
          <p:cNvSpPr>
            <a:spLocks noGrp="1" noChangeArrowheads="1"/>
          </p:cNvSpPr>
          <p:nvPr>
            <p:ph idx="1"/>
          </p:nvPr>
        </p:nvSpPr>
        <p:spPr>
          <a:xfrm>
            <a:off x="527050" y="1628775"/>
            <a:ext cx="10218738" cy="4351338"/>
          </a:xfrm>
        </p:spPr>
        <p:txBody>
          <a:bodyPr/>
          <a:lstStyle/>
          <a:p>
            <a:pPr eaLnBrk="1" hangingPunct="1"/>
            <a:r>
              <a:rPr lang="zh-CN" altLang="en-US" sz="2400" b="1" smtClean="0"/>
              <a:t>加工型操作</a:t>
            </a:r>
          </a:p>
          <a:p>
            <a:pPr lvl="1" eaLnBrk="1" hangingPunct="1">
              <a:buFont typeface="Wingdings" panose="05000000000000000000" pitchFamily="2" charset="2"/>
              <a:buNone/>
            </a:pPr>
            <a:r>
              <a:rPr lang="en-US" altLang="zh-CN" sz="2000" smtClean="0"/>
              <a:t>ListInsert( *L, i, e )</a:t>
            </a:r>
          </a:p>
          <a:p>
            <a:pPr lvl="1" eaLnBrk="1" hangingPunct="1">
              <a:buFont typeface="Wingdings" panose="05000000000000000000" pitchFamily="2" charset="2"/>
              <a:buNone/>
            </a:pPr>
            <a:r>
              <a:rPr lang="zh-CN" altLang="en-US" sz="2000" smtClean="0"/>
              <a:t>初始条件：线性表 </a:t>
            </a:r>
            <a:r>
              <a:rPr lang="en-US" altLang="zh-CN" sz="2000" smtClean="0"/>
              <a:t>L </a:t>
            </a:r>
            <a:r>
              <a:rPr lang="zh-CN" altLang="en-US" sz="2000" smtClean="0"/>
              <a:t>已存在，</a:t>
            </a:r>
            <a:r>
              <a:rPr lang="en-US" altLang="zh-CN" sz="2000" smtClean="0"/>
              <a:t>1≤i≤LengthList(L)+1</a:t>
            </a:r>
            <a:r>
              <a:rPr lang="zh-CN" altLang="en-US" sz="2000" smtClean="0"/>
              <a:t>。</a:t>
            </a:r>
          </a:p>
          <a:p>
            <a:pPr lvl="1" eaLnBrk="1" hangingPunct="1">
              <a:buFont typeface="Wingdings" panose="05000000000000000000" pitchFamily="2" charset="2"/>
              <a:buNone/>
            </a:pPr>
            <a:r>
              <a:rPr lang="zh-CN" altLang="en-US" sz="2000" smtClean="0"/>
              <a:t>操作结果：在 </a:t>
            </a:r>
            <a:r>
              <a:rPr lang="en-US" altLang="zh-CN" sz="2000" smtClean="0"/>
              <a:t>L </a:t>
            </a:r>
            <a:r>
              <a:rPr lang="zh-CN" altLang="en-US" sz="2000" smtClean="0"/>
              <a:t>的第 </a:t>
            </a:r>
            <a:r>
              <a:rPr lang="en-US" altLang="zh-CN" sz="2000" smtClean="0"/>
              <a:t>i </a:t>
            </a:r>
            <a:r>
              <a:rPr lang="zh-CN" altLang="en-US" sz="2000" smtClean="0"/>
              <a:t>个元素之前插入新的元素 </a:t>
            </a:r>
            <a:r>
              <a:rPr lang="en-US" altLang="zh-CN" sz="2000" smtClean="0"/>
              <a:t>e</a:t>
            </a:r>
            <a:r>
              <a:rPr lang="zh-CN" altLang="en-US" sz="2000" smtClean="0"/>
              <a:t>，</a:t>
            </a:r>
            <a:r>
              <a:rPr lang="en-US" altLang="zh-CN" sz="2000" smtClean="0"/>
              <a:t>L </a:t>
            </a:r>
            <a:r>
              <a:rPr lang="zh-CN" altLang="en-US" sz="2000" smtClean="0"/>
              <a:t>的长度增</a:t>
            </a:r>
            <a:r>
              <a:rPr lang="en-US" altLang="zh-CN" sz="2000" smtClean="0"/>
              <a:t>1</a:t>
            </a:r>
            <a:r>
              <a:rPr lang="zh-CN" altLang="en-US" sz="2000" smtClean="0"/>
              <a:t>。</a:t>
            </a:r>
          </a:p>
          <a:p>
            <a:pPr lvl="1" eaLnBrk="1" hangingPunct="1">
              <a:buFont typeface="Wingdings" panose="05000000000000000000" pitchFamily="2" charset="2"/>
              <a:buNone/>
            </a:pPr>
            <a:endParaRPr lang="zh-CN" altLang="en-US" sz="2000" smtClean="0"/>
          </a:p>
          <a:p>
            <a:pPr lvl="1" eaLnBrk="1" hangingPunct="1">
              <a:buFont typeface="Wingdings" panose="05000000000000000000" pitchFamily="2" charset="2"/>
              <a:buNone/>
            </a:pPr>
            <a:r>
              <a:rPr lang="en-US" altLang="zh-CN" sz="2000" smtClean="0"/>
              <a:t>ListDelete(</a:t>
            </a:r>
            <a:r>
              <a:rPr lang="en-US" altLang="zh-CN" sz="2000" b="1" smtClean="0"/>
              <a:t> *</a:t>
            </a:r>
            <a:r>
              <a:rPr lang="en-US" altLang="zh-CN" sz="2000" smtClean="0"/>
              <a:t>L, i, </a:t>
            </a:r>
            <a:r>
              <a:rPr lang="en-US" altLang="zh-CN" sz="2000" b="1" smtClean="0"/>
              <a:t>*</a:t>
            </a:r>
            <a:r>
              <a:rPr lang="en-US" altLang="zh-CN" sz="2000" smtClean="0"/>
              <a:t>e )</a:t>
            </a:r>
          </a:p>
          <a:p>
            <a:pPr lvl="1" eaLnBrk="1" hangingPunct="1">
              <a:buFont typeface="Wingdings" panose="05000000000000000000" pitchFamily="2" charset="2"/>
              <a:buNone/>
            </a:pPr>
            <a:r>
              <a:rPr lang="zh-CN" altLang="en-US" sz="2000" smtClean="0"/>
              <a:t>初始条件：线性表 </a:t>
            </a:r>
            <a:r>
              <a:rPr lang="en-US" altLang="zh-CN" sz="2000" smtClean="0"/>
              <a:t>L </a:t>
            </a:r>
            <a:r>
              <a:rPr lang="zh-CN" altLang="en-US" sz="2000" smtClean="0"/>
              <a:t>已存在且非空，</a:t>
            </a:r>
            <a:r>
              <a:rPr lang="en-US" altLang="zh-CN" sz="2000" smtClean="0"/>
              <a:t>1≤i≤LengthList(L)</a:t>
            </a:r>
            <a:r>
              <a:rPr lang="zh-CN" altLang="en-US" sz="2000" smtClean="0"/>
              <a:t>。</a:t>
            </a:r>
          </a:p>
          <a:p>
            <a:pPr lvl="1" eaLnBrk="1" hangingPunct="1">
              <a:buFont typeface="Wingdings" panose="05000000000000000000" pitchFamily="2" charset="2"/>
              <a:buNone/>
            </a:pPr>
            <a:r>
              <a:rPr lang="zh-CN" altLang="en-US" sz="2000" smtClean="0"/>
              <a:t>操作结果：</a:t>
            </a:r>
            <a:r>
              <a:rPr lang="zh-CN" altLang="en-US" sz="2000" b="1" smtClean="0"/>
              <a:t>删除 </a:t>
            </a:r>
            <a:r>
              <a:rPr lang="en-US" altLang="zh-CN" sz="2000" smtClean="0"/>
              <a:t>L </a:t>
            </a:r>
            <a:r>
              <a:rPr lang="zh-CN" altLang="en-US" sz="2000" smtClean="0"/>
              <a:t>的第 </a:t>
            </a:r>
            <a:r>
              <a:rPr lang="en-US" altLang="zh-CN" sz="2000" smtClean="0"/>
              <a:t>i </a:t>
            </a:r>
            <a:r>
              <a:rPr lang="zh-CN" altLang="en-US" sz="2000" smtClean="0"/>
              <a:t>个元素，并用 </a:t>
            </a:r>
            <a:r>
              <a:rPr lang="en-US" altLang="zh-CN" sz="2000" smtClean="0"/>
              <a:t>e </a:t>
            </a:r>
            <a:r>
              <a:rPr lang="zh-CN" altLang="en-US" sz="2000" smtClean="0"/>
              <a:t>返回其值，</a:t>
            </a:r>
            <a:r>
              <a:rPr lang="en-US" altLang="zh-CN" sz="2000" smtClean="0"/>
              <a:t>L </a:t>
            </a:r>
            <a:r>
              <a:rPr lang="zh-CN" altLang="en-US" sz="2000" smtClean="0"/>
              <a:t>的</a:t>
            </a:r>
            <a:r>
              <a:rPr lang="zh-CN" altLang="en-US" sz="2000" b="1" smtClean="0"/>
              <a:t>长度减</a:t>
            </a:r>
            <a:r>
              <a:rPr lang="en-US" altLang="zh-CN" sz="2000" b="1" smtClean="0"/>
              <a:t>1</a:t>
            </a:r>
            <a:r>
              <a:rPr lang="zh-CN" altLang="en-US" sz="1900" smtClean="0"/>
              <a:t>。 </a:t>
            </a:r>
          </a:p>
          <a:p>
            <a:pPr eaLnBrk="1" hangingPunct="1">
              <a:buFont typeface="Wingdings" panose="05000000000000000000" pitchFamily="2" charset="2"/>
              <a:buNone/>
            </a:pPr>
            <a:r>
              <a:rPr lang="en-US" altLang="zh-CN" sz="2100" b="1" smtClean="0"/>
              <a:t>} ADT </a:t>
            </a:r>
            <a:r>
              <a:rPr lang="en-US" altLang="zh-CN" sz="2100" smtClean="0"/>
              <a:t>List</a:t>
            </a:r>
          </a:p>
          <a:p>
            <a:pPr lvl="1" eaLnBrk="1" hangingPunct="1">
              <a:buFont typeface="Wingdings" panose="05000000000000000000" pitchFamily="2" charset="2"/>
              <a:buNone/>
            </a:pPr>
            <a:endParaRPr lang="en-US" altLang="zh-CN" sz="200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checkerboard(across)">
                                      <p:cBhvr>
                                        <p:cTn id="7" dur="500"/>
                                        <p:tgtEl>
                                          <p:spTgt spid="19459">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checkerboard(across)">
                                      <p:cBhvr>
                                        <p:cTn id="10" dur="500"/>
                                        <p:tgtEl>
                                          <p:spTgt spid="19459">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checkerboard(across)">
                                      <p:cBhvr>
                                        <p:cTn id="13" dur="500"/>
                                        <p:tgtEl>
                                          <p:spTgt spid="19459">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19459">
                                            <p:txEl>
                                              <p:pRg st="5" end="5"/>
                                            </p:txEl>
                                          </p:spTgt>
                                        </p:tgtEl>
                                        <p:attrNameLst>
                                          <p:attrName>style.visibility</p:attrName>
                                        </p:attrNameLst>
                                      </p:cBhvr>
                                      <p:to>
                                        <p:strVal val="visible"/>
                                      </p:to>
                                    </p:set>
                                    <p:animEffect transition="in" filter="checkerboard(across)">
                                      <p:cBhvr>
                                        <p:cTn id="18" dur="500"/>
                                        <p:tgtEl>
                                          <p:spTgt spid="19459">
                                            <p:txEl>
                                              <p:pRg st="5" end="5"/>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19459">
                                            <p:txEl>
                                              <p:pRg st="6" end="6"/>
                                            </p:txEl>
                                          </p:spTgt>
                                        </p:tgtEl>
                                        <p:attrNameLst>
                                          <p:attrName>style.visibility</p:attrName>
                                        </p:attrNameLst>
                                      </p:cBhvr>
                                      <p:to>
                                        <p:strVal val="visible"/>
                                      </p:to>
                                    </p:set>
                                    <p:animEffect transition="in" filter="checkerboard(across)">
                                      <p:cBhvr>
                                        <p:cTn id="21" dur="500"/>
                                        <p:tgtEl>
                                          <p:spTgt spid="19459">
                                            <p:txEl>
                                              <p:pRg st="6" end="6"/>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19459">
                                            <p:txEl>
                                              <p:pRg st="7" end="7"/>
                                            </p:txEl>
                                          </p:spTgt>
                                        </p:tgtEl>
                                        <p:attrNameLst>
                                          <p:attrName>style.visibility</p:attrName>
                                        </p:attrNameLst>
                                      </p:cBhvr>
                                      <p:to>
                                        <p:strVal val="visible"/>
                                      </p:to>
                                    </p:set>
                                    <p:animEffect transition="in" filter="checkerboard(across)">
                                      <p:cBhvr>
                                        <p:cTn id="24" dur="500"/>
                                        <p:tgtEl>
                                          <p:spTgt spid="19459">
                                            <p:txEl>
                                              <p:pRg st="7" end="7"/>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nodeType="clickEffect">
                                  <p:stCondLst>
                                    <p:cond delay="0"/>
                                  </p:stCondLst>
                                  <p:childTnLst>
                                    <p:set>
                                      <p:cBhvr>
                                        <p:cTn id="28" dur="1" fill="hold">
                                          <p:stCondLst>
                                            <p:cond delay="0"/>
                                          </p:stCondLst>
                                        </p:cTn>
                                        <p:tgtEl>
                                          <p:spTgt spid="19459">
                                            <p:txEl>
                                              <p:pRg st="8" end="8"/>
                                            </p:txEl>
                                          </p:spTgt>
                                        </p:tgtEl>
                                        <p:attrNameLst>
                                          <p:attrName>style.visibility</p:attrName>
                                        </p:attrNameLst>
                                      </p:cBhvr>
                                      <p:to>
                                        <p:strVal val="visible"/>
                                      </p:to>
                                    </p:set>
                                    <p:animEffect transition="in" filter="box(in)">
                                      <p:cBhvr>
                                        <p:cTn id="29" dur="500"/>
                                        <p:tgtEl>
                                          <p:spTgt spid="1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527050" y="368300"/>
            <a:ext cx="10218738" cy="822325"/>
          </a:xfrm>
        </p:spPr>
        <p:txBody>
          <a:bodyPr/>
          <a:lstStyle/>
          <a:p>
            <a:pPr eaLnBrk="1" hangingPunct="1"/>
            <a:r>
              <a:rPr lang="zh-CN" altLang="en-US" smtClean="0"/>
              <a:t>抽象数据类型线性表的定义</a:t>
            </a:r>
          </a:p>
        </p:txBody>
      </p:sp>
      <p:sp>
        <p:nvSpPr>
          <p:cNvPr id="20483" name="Rectangle 3"/>
          <p:cNvSpPr>
            <a:spLocks noGrp="1" noChangeArrowheads="1"/>
          </p:cNvSpPr>
          <p:nvPr>
            <p:ph idx="1"/>
          </p:nvPr>
        </p:nvSpPr>
        <p:spPr>
          <a:xfrm>
            <a:off x="527050" y="1628775"/>
            <a:ext cx="10218738" cy="4351338"/>
          </a:xfrm>
        </p:spPr>
        <p:txBody>
          <a:bodyPr/>
          <a:lstStyle/>
          <a:p>
            <a:pPr eaLnBrk="1" hangingPunct="1"/>
            <a:r>
              <a:rPr lang="zh-CN" altLang="en-US" sz="2100" b="1" smtClean="0"/>
              <a:t>例</a:t>
            </a:r>
            <a:r>
              <a:rPr lang="en-US" altLang="zh-CN" sz="2100" b="1" smtClean="0"/>
              <a:t>2-1</a:t>
            </a:r>
            <a:r>
              <a:rPr lang="en-US" altLang="zh-CN" sz="2100" smtClean="0"/>
              <a:t> </a:t>
            </a:r>
            <a:r>
              <a:rPr lang="zh-CN" altLang="en-US" sz="2100" smtClean="0"/>
              <a:t>已知集合 </a:t>
            </a:r>
            <a:r>
              <a:rPr lang="en-US" altLang="zh-CN" sz="2100" smtClean="0"/>
              <a:t>A </a:t>
            </a:r>
            <a:r>
              <a:rPr lang="zh-CN" altLang="en-US" sz="2100" smtClean="0"/>
              <a:t>和 </a:t>
            </a:r>
            <a:r>
              <a:rPr lang="en-US" altLang="zh-CN" sz="2100" smtClean="0"/>
              <a:t>B</a:t>
            </a:r>
            <a:r>
              <a:rPr lang="zh-CN" altLang="en-US" sz="2100" smtClean="0"/>
              <a:t>，求两个集合的并集，使 </a:t>
            </a:r>
            <a:r>
              <a:rPr lang="en-US" altLang="zh-CN" sz="2100" smtClean="0"/>
              <a:t>A</a:t>
            </a:r>
            <a:r>
              <a:rPr lang="zh-CN" altLang="en-US" sz="2100" smtClean="0"/>
              <a:t>＝</a:t>
            </a:r>
            <a:r>
              <a:rPr lang="en-US" altLang="zh-CN" sz="2100" smtClean="0"/>
              <a:t>A∪B</a:t>
            </a:r>
            <a:r>
              <a:rPr lang="zh-CN" altLang="en-US" sz="2100" smtClean="0"/>
              <a:t>，且 </a:t>
            </a:r>
            <a:r>
              <a:rPr lang="en-US" altLang="zh-CN" sz="2100" smtClean="0"/>
              <a:t>B </a:t>
            </a:r>
            <a:r>
              <a:rPr lang="zh-CN" altLang="en-US" sz="2100" smtClean="0"/>
              <a:t>不再单独存在。</a:t>
            </a:r>
          </a:p>
          <a:p>
            <a:pPr eaLnBrk="1" hangingPunct="1">
              <a:buFont typeface="Wingdings" panose="05000000000000000000" pitchFamily="2" charset="2"/>
              <a:buNone/>
            </a:pPr>
            <a:r>
              <a:rPr lang="zh-CN" altLang="en-US" sz="2100" smtClean="0"/>
              <a:t>思路：对集合 </a:t>
            </a:r>
            <a:r>
              <a:rPr lang="en-US" altLang="zh-CN" sz="2100" smtClean="0"/>
              <a:t>B </a:t>
            </a:r>
            <a:r>
              <a:rPr lang="zh-CN" altLang="en-US" sz="2100" smtClean="0"/>
              <a:t>中的所有元素一一检查，看看在集合 </a:t>
            </a:r>
            <a:r>
              <a:rPr lang="en-US" altLang="zh-CN" sz="2100" smtClean="0"/>
              <a:t>A </a:t>
            </a:r>
            <a:r>
              <a:rPr lang="zh-CN" altLang="en-US" sz="2100" smtClean="0"/>
              <a:t>中是否存在相同元素，若不存在，则将该元素插入到集合 </a:t>
            </a:r>
            <a:r>
              <a:rPr lang="en-US" altLang="zh-CN" sz="2100" smtClean="0"/>
              <a:t>A</a:t>
            </a:r>
            <a:r>
              <a:rPr lang="zh-CN" altLang="en-US" sz="2100" smtClean="0"/>
              <a:t>，否则舍弃之。</a:t>
            </a:r>
            <a:r>
              <a:rPr lang="zh-CN" altLang="en-US" sz="2100" b="1" smtClean="0"/>
              <a:t>要在计算机中求解，首先要确定</a:t>
            </a:r>
            <a:r>
              <a:rPr lang="zh-CN" altLang="en-US" sz="2100" b="1" smtClean="0">
                <a:latin typeface="Arial" panose="020B0604020202020204" pitchFamily="34" charset="0"/>
              </a:rPr>
              <a:t>“</a:t>
            </a:r>
            <a:r>
              <a:rPr lang="zh-CN" altLang="en-US" sz="2100" b="1" smtClean="0"/>
              <a:t>如何表示集合</a:t>
            </a:r>
            <a:r>
              <a:rPr lang="zh-CN" altLang="en-US" sz="2100" b="1" smtClean="0">
                <a:latin typeface="Arial" panose="020B0604020202020204" pitchFamily="34" charset="0"/>
              </a:rPr>
              <a:t>”</a:t>
            </a:r>
            <a:r>
              <a:rPr lang="zh-CN" altLang="en-US" sz="2100" b="1" smtClean="0"/>
              <a:t>。集合可以有多种表示方法，对上述集合求并的问题可以用线性表表示集合。</a:t>
            </a:r>
          </a:p>
          <a:p>
            <a:pPr eaLnBrk="1" hangingPunct="1">
              <a:buFont typeface="Wingdings" panose="05000000000000000000" pitchFamily="2" charset="2"/>
              <a:buNone/>
            </a:pPr>
            <a:r>
              <a:rPr lang="zh-CN" altLang="en-US" sz="2100" smtClean="0"/>
              <a:t>　　现假设以线性表 </a:t>
            </a:r>
            <a:r>
              <a:rPr lang="en-US" altLang="zh-CN" sz="2100" smtClean="0"/>
              <a:t>LA </a:t>
            </a:r>
            <a:r>
              <a:rPr lang="zh-CN" altLang="en-US" sz="2100" smtClean="0"/>
              <a:t>和 </a:t>
            </a:r>
            <a:r>
              <a:rPr lang="en-US" altLang="zh-CN" sz="2100" smtClean="0"/>
              <a:t>LB </a:t>
            </a:r>
            <a:r>
              <a:rPr lang="zh-CN" altLang="en-US" sz="2100" smtClean="0"/>
              <a:t>分别表示集合 </a:t>
            </a:r>
            <a:r>
              <a:rPr lang="en-US" altLang="zh-CN" sz="2100" smtClean="0"/>
              <a:t>A </a:t>
            </a:r>
            <a:r>
              <a:rPr lang="zh-CN" altLang="en-US" sz="2100" smtClean="0"/>
              <a:t>和 </a:t>
            </a:r>
            <a:r>
              <a:rPr lang="en-US" altLang="zh-CN" sz="2100" smtClean="0"/>
              <a:t>B</a:t>
            </a:r>
            <a:r>
              <a:rPr lang="zh-CN" altLang="en-US" sz="2100" smtClean="0"/>
              <a:t>，即构造两个线性表 </a:t>
            </a:r>
            <a:r>
              <a:rPr lang="en-US" altLang="zh-CN" sz="2100" smtClean="0"/>
              <a:t>LA </a:t>
            </a:r>
            <a:r>
              <a:rPr lang="zh-CN" altLang="en-US" sz="2100" smtClean="0"/>
              <a:t>和 </a:t>
            </a:r>
            <a:r>
              <a:rPr lang="en-US" altLang="zh-CN" sz="2100" smtClean="0"/>
              <a:t>LB</a:t>
            </a:r>
            <a:r>
              <a:rPr lang="zh-CN" altLang="en-US" sz="2100" smtClean="0"/>
              <a:t>，它们的数据元素分别为集合 </a:t>
            </a:r>
            <a:r>
              <a:rPr lang="en-US" altLang="zh-CN" sz="2100" smtClean="0"/>
              <a:t>A </a:t>
            </a:r>
            <a:r>
              <a:rPr lang="zh-CN" altLang="en-US" sz="2100" smtClean="0"/>
              <a:t>和 </a:t>
            </a:r>
            <a:r>
              <a:rPr lang="en-US" altLang="zh-CN" sz="2100" smtClean="0"/>
              <a:t>B </a:t>
            </a:r>
            <a:r>
              <a:rPr lang="zh-CN" altLang="en-US" sz="2100" smtClean="0"/>
              <a:t>中的成员。上述集合求并的问题演绎为：要求对线性表作如下操作：扩大线性表 </a:t>
            </a:r>
            <a:r>
              <a:rPr lang="en-US" altLang="zh-CN" sz="2100" smtClean="0"/>
              <a:t>LA</a:t>
            </a:r>
            <a:r>
              <a:rPr lang="zh-CN" altLang="en-US" sz="2100" smtClean="0"/>
              <a:t>，将</a:t>
            </a:r>
            <a:r>
              <a:rPr lang="zh-CN" altLang="en-US" sz="2100" b="1" smtClean="0"/>
              <a:t>存在于线性表 </a:t>
            </a:r>
            <a:r>
              <a:rPr lang="en-US" altLang="zh-CN" sz="2100" b="1" smtClean="0"/>
              <a:t>LB </a:t>
            </a:r>
            <a:r>
              <a:rPr lang="zh-CN" altLang="en-US" sz="2100" b="1" smtClean="0"/>
              <a:t>中</a:t>
            </a:r>
            <a:r>
              <a:rPr lang="zh-CN" altLang="en-US" sz="2100" smtClean="0"/>
              <a:t>而</a:t>
            </a:r>
            <a:r>
              <a:rPr lang="zh-CN" altLang="en-US" sz="2100" b="1" smtClean="0"/>
              <a:t>不存在于线性表 </a:t>
            </a:r>
            <a:r>
              <a:rPr lang="en-US" altLang="zh-CN" sz="2100" b="1" smtClean="0"/>
              <a:t>LA </a:t>
            </a:r>
            <a:r>
              <a:rPr lang="zh-CN" altLang="en-US" sz="2100" b="1" smtClean="0"/>
              <a:t>中</a:t>
            </a:r>
            <a:r>
              <a:rPr lang="zh-CN" altLang="en-US" sz="2100" smtClean="0"/>
              <a:t>的数据元素</a:t>
            </a:r>
            <a:r>
              <a:rPr lang="zh-CN" altLang="en-US" sz="2100" b="1" smtClean="0"/>
              <a:t>插入到线性表 </a:t>
            </a:r>
            <a:r>
              <a:rPr lang="en-US" altLang="zh-CN" sz="2100" b="1" smtClean="0"/>
              <a:t>LA </a:t>
            </a:r>
            <a:r>
              <a:rPr lang="zh-CN" altLang="en-US" sz="2100" b="1" smtClean="0"/>
              <a:t>中</a:t>
            </a:r>
            <a:r>
              <a:rPr lang="zh-CN" altLang="en-US" sz="2100" smtClean="0"/>
              <a:t>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box(in)">
                                      <p:cBhvr>
                                        <p:cTn id="7" dur="500"/>
                                        <p:tgtEl>
                                          <p:spTgt spid="204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wedge">
                                      <p:cBhvr>
                                        <p:cTn id="12" dur="2000"/>
                                        <p:tgtEl>
                                          <p:spTgt spid="204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527050" y="368300"/>
            <a:ext cx="10218738" cy="822325"/>
          </a:xfrm>
        </p:spPr>
        <p:txBody>
          <a:bodyPr/>
          <a:lstStyle/>
          <a:p>
            <a:pPr eaLnBrk="1" hangingPunct="1"/>
            <a:r>
              <a:rPr lang="zh-CN" altLang="en-US" smtClean="0"/>
              <a:t>抽象数据类型线性表的定义</a:t>
            </a:r>
          </a:p>
        </p:txBody>
      </p:sp>
      <p:sp>
        <p:nvSpPr>
          <p:cNvPr id="21507" name="Rectangle 3"/>
          <p:cNvSpPr>
            <a:spLocks noGrp="1" noChangeArrowheads="1"/>
          </p:cNvSpPr>
          <p:nvPr>
            <p:ph idx="1"/>
          </p:nvPr>
        </p:nvSpPr>
        <p:spPr>
          <a:xfrm>
            <a:off x="527050" y="1628775"/>
            <a:ext cx="10218738" cy="4351338"/>
          </a:xfrm>
        </p:spPr>
        <p:txBody>
          <a:bodyPr/>
          <a:lstStyle/>
          <a:p>
            <a:pPr eaLnBrk="1" hangingPunct="1">
              <a:buFont typeface="Wingdings" panose="05000000000000000000" pitchFamily="2" charset="2"/>
              <a:buNone/>
            </a:pPr>
            <a:r>
              <a:rPr lang="zh-CN" altLang="en-US" sz="2600" smtClean="0">
                <a:solidFill>
                  <a:schemeClr val="accent2"/>
                </a:solidFill>
              </a:rPr>
              <a:t>具体操作步骤为：</a:t>
            </a:r>
            <a:r>
              <a:rPr lang="zh-CN" altLang="en-US" sz="2600" smtClean="0"/>
              <a:t/>
            </a:r>
            <a:br>
              <a:rPr lang="zh-CN" altLang="en-US" sz="2600" smtClean="0"/>
            </a:br>
            <a:r>
              <a:rPr lang="zh-CN" altLang="en-US" sz="2600" smtClean="0"/>
              <a:t>　　</a:t>
            </a:r>
            <a:r>
              <a:rPr lang="en-US" altLang="zh-CN" sz="2600" smtClean="0"/>
              <a:t>1</a:t>
            </a:r>
            <a:r>
              <a:rPr lang="zh-CN" altLang="en-US" sz="2600" smtClean="0"/>
              <a:t>．从线性表 </a:t>
            </a:r>
            <a:r>
              <a:rPr lang="en-US" altLang="zh-CN" sz="2600" smtClean="0"/>
              <a:t>LB </a:t>
            </a:r>
            <a:r>
              <a:rPr lang="zh-CN" altLang="en-US" sz="2600" smtClean="0"/>
              <a:t>中取出一个数据元素；</a:t>
            </a:r>
            <a:br>
              <a:rPr lang="zh-CN" altLang="en-US" sz="2600" smtClean="0"/>
            </a:br>
            <a:r>
              <a:rPr lang="zh-CN" altLang="en-US" sz="2600" smtClean="0"/>
              <a:t>　　</a:t>
            </a:r>
            <a:r>
              <a:rPr lang="en-US" altLang="zh-CN" sz="2600" smtClean="0"/>
              <a:t>2</a:t>
            </a:r>
            <a:r>
              <a:rPr lang="zh-CN" altLang="en-US" sz="2600" smtClean="0"/>
              <a:t>．依值在线性表 </a:t>
            </a:r>
            <a:r>
              <a:rPr lang="en-US" altLang="zh-CN" sz="2600" smtClean="0"/>
              <a:t>LA </a:t>
            </a:r>
            <a:r>
              <a:rPr lang="zh-CN" altLang="en-US" sz="2600" smtClean="0"/>
              <a:t>中进行查询；</a:t>
            </a:r>
            <a:br>
              <a:rPr lang="zh-CN" altLang="en-US" sz="2600" smtClean="0"/>
            </a:br>
            <a:r>
              <a:rPr lang="zh-CN" altLang="en-US" sz="2600" smtClean="0"/>
              <a:t>　　</a:t>
            </a:r>
            <a:r>
              <a:rPr lang="en-US" altLang="zh-CN" sz="2600" smtClean="0"/>
              <a:t>3</a:t>
            </a:r>
            <a:r>
              <a:rPr lang="zh-CN" altLang="en-US" sz="2600" smtClean="0"/>
              <a:t>．若不存在，则将它插入到 </a:t>
            </a:r>
            <a:r>
              <a:rPr lang="en-US" altLang="zh-CN" sz="2600" smtClean="0"/>
              <a:t>LA </a:t>
            </a:r>
            <a:r>
              <a:rPr lang="zh-CN" altLang="en-US" sz="2600" smtClean="0"/>
              <a:t>中。</a:t>
            </a:r>
            <a:br>
              <a:rPr lang="zh-CN" altLang="en-US" sz="2600" smtClean="0"/>
            </a:br>
            <a:r>
              <a:rPr lang="zh-CN" altLang="en-US" sz="2600" smtClean="0"/>
              <a:t>　　重复上述三步直至 </a:t>
            </a:r>
            <a:r>
              <a:rPr lang="en-US" altLang="zh-CN" sz="2600" smtClean="0"/>
              <a:t>LB </a:t>
            </a:r>
            <a:r>
              <a:rPr lang="zh-CN" altLang="en-US" sz="2600" smtClean="0"/>
              <a:t>为空表止。</a:t>
            </a:r>
            <a:endParaRPr lang="zh-CN" altLang="en-US" sz="2600" b="1" smtClean="0"/>
          </a:p>
          <a:p>
            <a:pPr eaLnBrk="1" hangingPunct="1">
              <a:buFont typeface="Wingdings" panose="05000000000000000000" pitchFamily="2" charset="2"/>
              <a:buNone/>
            </a:pPr>
            <a:r>
              <a:rPr lang="zh-CN" altLang="en-US" sz="2600" b="1" smtClean="0">
                <a:solidFill>
                  <a:schemeClr val="accent2"/>
                </a:solidFill>
              </a:rPr>
              <a:t>对应四个基本操作</a:t>
            </a:r>
          </a:p>
          <a:p>
            <a:pPr eaLnBrk="1" hangingPunct="1">
              <a:buFont typeface="Wingdings" panose="05000000000000000000" pitchFamily="2" charset="2"/>
              <a:buNone/>
            </a:pPr>
            <a:r>
              <a:rPr lang="en-US" altLang="zh-CN" sz="2600" smtClean="0">
                <a:solidFill>
                  <a:schemeClr val="accent2"/>
                </a:solidFill>
              </a:rPr>
              <a:t>1. ListDelete( LB, 1, e );</a:t>
            </a:r>
          </a:p>
          <a:p>
            <a:pPr eaLnBrk="1" hangingPunct="1">
              <a:buFont typeface="Wingdings" panose="05000000000000000000" pitchFamily="2" charset="2"/>
              <a:buNone/>
            </a:pPr>
            <a:r>
              <a:rPr lang="en-US" altLang="zh-CN" sz="2600" smtClean="0">
                <a:solidFill>
                  <a:schemeClr val="accent2"/>
                </a:solidFill>
              </a:rPr>
              <a:t>2. LocateElem( LA, e);</a:t>
            </a:r>
          </a:p>
          <a:p>
            <a:pPr eaLnBrk="1" hangingPunct="1">
              <a:buFont typeface="Wingdings" panose="05000000000000000000" pitchFamily="2" charset="2"/>
              <a:buNone/>
            </a:pPr>
            <a:r>
              <a:rPr lang="en-US" altLang="zh-CN" sz="2600" smtClean="0">
                <a:solidFill>
                  <a:schemeClr val="accent2"/>
                </a:solidFill>
              </a:rPr>
              <a:t>3. ListInsert( LA, n+1,e )</a:t>
            </a:r>
          </a:p>
          <a:p>
            <a:pPr eaLnBrk="1" hangingPunct="1">
              <a:buFont typeface="Wingdings" panose="05000000000000000000" pitchFamily="2" charset="2"/>
              <a:buNone/>
            </a:pPr>
            <a:r>
              <a:rPr lang="en-US" altLang="zh-CN" sz="2600" smtClean="0">
                <a:solidFill>
                  <a:schemeClr val="accent2"/>
                </a:solidFill>
              </a:rPr>
              <a:t>4. DestroyList( LB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ox(in)">
                                      <p:cBhvr>
                                        <p:cTn id="7" dur="500"/>
                                        <p:tgtEl>
                                          <p:spTgt spid="21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 calcmode="lin" valueType="num">
                                      <p:cBhvr additive="base">
                                        <p:cTn id="12"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21507">
                                            <p:txEl>
                                              <p:pRg st="2" end="2"/>
                                            </p:txEl>
                                          </p:spTgt>
                                        </p:tgtEl>
                                        <p:attrNameLst>
                                          <p:attrName>style.visibility</p:attrName>
                                        </p:attrNameLst>
                                      </p:cBhvr>
                                      <p:to>
                                        <p:strVal val="visible"/>
                                      </p:to>
                                    </p:set>
                                    <p:anim calcmode="lin" valueType="num">
                                      <p:cBhvr additive="base">
                                        <p:cTn id="18"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15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24" dur="500"/>
                                        <p:tgtEl>
                                          <p:spTgt spid="21507">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0" presetClass="entr" presetSubtype="0" fill="hold" nodeType="clickEffect">
                                  <p:stCondLst>
                                    <p:cond delay="0"/>
                                  </p:stCondLst>
                                  <p:childTnLst>
                                    <p:set>
                                      <p:cBhvr>
                                        <p:cTn id="28" dur="1" fill="hold">
                                          <p:stCondLst>
                                            <p:cond delay="0"/>
                                          </p:stCondLst>
                                        </p:cTn>
                                        <p:tgtEl>
                                          <p:spTgt spid="21507">
                                            <p:txEl>
                                              <p:pRg st="4" end="4"/>
                                            </p:txEl>
                                          </p:spTgt>
                                        </p:tgtEl>
                                        <p:attrNameLst>
                                          <p:attrName>style.visibility</p:attrName>
                                        </p:attrNameLst>
                                      </p:cBhvr>
                                      <p:to>
                                        <p:strVal val="visible"/>
                                      </p:to>
                                    </p:set>
                                    <p:animEffect transition="in" filter="wedge">
                                      <p:cBhvr>
                                        <p:cTn id="29" dur="2000"/>
                                        <p:tgtEl>
                                          <p:spTgt spid="21507">
                                            <p:txEl>
                                              <p:pRg st="4" end="4"/>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0" presetClass="entr" presetSubtype="0" fill="hold" nodeType="clickEffect">
                                  <p:stCondLst>
                                    <p:cond delay="0"/>
                                  </p:stCondLst>
                                  <p:childTnLst>
                                    <p:set>
                                      <p:cBhvr>
                                        <p:cTn id="33" dur="1" fill="hold">
                                          <p:stCondLst>
                                            <p:cond delay="0"/>
                                          </p:stCondLst>
                                        </p:cTn>
                                        <p:tgtEl>
                                          <p:spTgt spid="21507">
                                            <p:txEl>
                                              <p:pRg st="5" end="5"/>
                                            </p:txEl>
                                          </p:spTgt>
                                        </p:tgtEl>
                                        <p:attrNameLst>
                                          <p:attrName>style.visibility</p:attrName>
                                        </p:attrNameLst>
                                      </p:cBhvr>
                                      <p:to>
                                        <p:strVal val="visible"/>
                                      </p:to>
                                    </p:set>
                                    <p:animEffect transition="in" filter="wedge">
                                      <p:cBhvr>
                                        <p:cTn id="34" dur="2000"/>
                                        <p:tgtEl>
                                          <p:spTgt spid="21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527050" y="368300"/>
            <a:ext cx="10218738" cy="822325"/>
          </a:xfrm>
        </p:spPr>
        <p:txBody>
          <a:bodyPr/>
          <a:lstStyle/>
          <a:p>
            <a:pPr eaLnBrk="1" hangingPunct="1"/>
            <a:r>
              <a:rPr lang="zh-CN" altLang="en-US" smtClean="0"/>
              <a:t>抽象数据类型线性表的定义</a:t>
            </a:r>
          </a:p>
        </p:txBody>
      </p:sp>
      <p:sp>
        <p:nvSpPr>
          <p:cNvPr id="59395" name="Rectangle 3"/>
          <p:cNvSpPr>
            <a:spLocks noGrp="1" noChangeArrowheads="1"/>
          </p:cNvSpPr>
          <p:nvPr>
            <p:ph idx="1"/>
          </p:nvPr>
        </p:nvSpPr>
        <p:spPr>
          <a:xfrm>
            <a:off x="527050" y="1628775"/>
            <a:ext cx="10218738" cy="4351338"/>
          </a:xfrm>
        </p:spPr>
        <p:txBody>
          <a:bodyPr/>
          <a:lstStyle/>
          <a:p>
            <a:pPr eaLnBrk="1" hangingPunct="1">
              <a:lnSpc>
                <a:spcPct val="80000"/>
              </a:lnSpc>
              <a:spcBef>
                <a:spcPct val="0"/>
              </a:spcBef>
              <a:buFontTx/>
              <a:buNone/>
            </a:pPr>
            <a:r>
              <a:rPr lang="en-US" altLang="zh-CN" sz="2100" b="1" smtClean="0"/>
              <a:t>void</a:t>
            </a:r>
            <a:r>
              <a:rPr lang="en-US" altLang="zh-CN" sz="2100" smtClean="0"/>
              <a:t> union(List </a:t>
            </a:r>
            <a:r>
              <a:rPr lang="en-US" altLang="zh-CN" sz="2100" b="1" smtClean="0"/>
              <a:t>*</a:t>
            </a:r>
            <a:r>
              <a:rPr lang="en-US" altLang="zh-CN" sz="2100" smtClean="0"/>
              <a:t>LA, List </a:t>
            </a:r>
            <a:r>
              <a:rPr lang="en-US" altLang="zh-CN" sz="2100" b="1" smtClean="0"/>
              <a:t>*</a:t>
            </a:r>
            <a:r>
              <a:rPr lang="en-US" altLang="zh-CN" sz="2100" smtClean="0"/>
              <a:t>LB)</a:t>
            </a:r>
          </a:p>
          <a:p>
            <a:pPr eaLnBrk="1" hangingPunct="1">
              <a:lnSpc>
                <a:spcPct val="80000"/>
              </a:lnSpc>
              <a:spcBef>
                <a:spcPct val="0"/>
              </a:spcBef>
              <a:buFontTx/>
              <a:buNone/>
            </a:pPr>
            <a:r>
              <a:rPr lang="en-US" altLang="zh-CN" sz="2100" b="1" smtClean="0"/>
              <a:t>{</a:t>
            </a:r>
          </a:p>
          <a:p>
            <a:pPr eaLnBrk="1" hangingPunct="1">
              <a:lnSpc>
                <a:spcPct val="80000"/>
              </a:lnSpc>
              <a:spcBef>
                <a:spcPct val="0"/>
              </a:spcBef>
              <a:buFontTx/>
              <a:buNone/>
            </a:pPr>
            <a:r>
              <a:rPr lang="en-US" altLang="zh-CN" sz="2100" b="1" smtClean="0"/>
              <a:t>// </a:t>
            </a:r>
            <a:r>
              <a:rPr lang="zh-CN" altLang="en-US" sz="2100" b="1" smtClean="0"/>
              <a:t>将所有在线性表</a:t>
            </a:r>
            <a:r>
              <a:rPr lang="en-US" altLang="zh-CN" sz="2100" b="1" smtClean="0"/>
              <a:t>LB</a:t>
            </a:r>
            <a:r>
              <a:rPr lang="zh-CN" altLang="en-US" sz="2100" b="1" smtClean="0"/>
              <a:t>中但不在</a:t>
            </a:r>
            <a:r>
              <a:rPr lang="en-US" altLang="zh-CN" sz="2100" b="1" smtClean="0"/>
              <a:t>LA</a:t>
            </a:r>
            <a:r>
              <a:rPr lang="zh-CN" altLang="en-US" sz="2100" b="1" smtClean="0"/>
              <a:t>中的数据元素插入到 </a:t>
            </a:r>
            <a:r>
              <a:rPr lang="en-US" altLang="zh-CN" sz="2100" b="1" smtClean="0"/>
              <a:t>LA </a:t>
            </a:r>
            <a:r>
              <a:rPr lang="zh-CN" altLang="en-US" sz="2100" b="1" smtClean="0"/>
              <a:t>中</a:t>
            </a:r>
            <a:r>
              <a:rPr lang="en-US" altLang="zh-CN" sz="2100" b="1" smtClean="0"/>
              <a:t>,</a:t>
            </a:r>
          </a:p>
          <a:p>
            <a:pPr eaLnBrk="1" hangingPunct="1">
              <a:lnSpc>
                <a:spcPct val="80000"/>
              </a:lnSpc>
              <a:spcBef>
                <a:spcPct val="0"/>
              </a:spcBef>
              <a:buFontTx/>
              <a:buNone/>
            </a:pPr>
            <a:r>
              <a:rPr lang="en-US" altLang="zh-CN" sz="2100" b="1" smtClean="0"/>
              <a:t>// </a:t>
            </a:r>
            <a:r>
              <a:rPr lang="zh-CN" altLang="en-US" sz="2100" b="1" smtClean="0"/>
              <a:t>算法执行之后，线性表 </a:t>
            </a:r>
            <a:r>
              <a:rPr lang="en-US" altLang="zh-CN" sz="2100" b="1" smtClean="0"/>
              <a:t>LB </a:t>
            </a:r>
            <a:r>
              <a:rPr lang="zh-CN" altLang="en-US" sz="2100" b="1" smtClean="0"/>
              <a:t>不再存在。</a:t>
            </a:r>
          </a:p>
          <a:p>
            <a:pPr eaLnBrk="1" hangingPunct="1">
              <a:lnSpc>
                <a:spcPct val="80000"/>
              </a:lnSpc>
              <a:spcBef>
                <a:spcPct val="0"/>
              </a:spcBef>
              <a:buFontTx/>
              <a:buNone/>
            </a:pPr>
            <a:r>
              <a:rPr lang="zh-CN" altLang="en-US" sz="2100" smtClean="0"/>
              <a:t>      </a:t>
            </a:r>
            <a:r>
              <a:rPr lang="en-US" altLang="zh-CN" sz="2100" smtClean="0"/>
              <a:t>La_len = ListLength(LA);</a:t>
            </a:r>
            <a:r>
              <a:rPr lang="zh-CN" altLang="en-US" sz="2100" smtClean="0"/>
              <a:t>　</a:t>
            </a:r>
            <a:r>
              <a:rPr lang="en-US" altLang="zh-CN" sz="2100" smtClean="0"/>
              <a:t>// </a:t>
            </a:r>
            <a:r>
              <a:rPr lang="zh-CN" altLang="en-US" sz="2100" smtClean="0"/>
              <a:t>求得线性表 </a:t>
            </a:r>
            <a:r>
              <a:rPr lang="en-US" altLang="zh-CN" sz="2100" smtClean="0"/>
              <a:t>LA </a:t>
            </a:r>
            <a:r>
              <a:rPr lang="zh-CN" altLang="en-US" sz="2100" smtClean="0"/>
              <a:t>的长度</a:t>
            </a:r>
            <a:br>
              <a:rPr lang="zh-CN" altLang="en-US" sz="2100" smtClean="0"/>
            </a:br>
            <a:r>
              <a:rPr lang="en-US" altLang="zh-CN" sz="2100" b="1" smtClean="0"/>
              <a:t>while</a:t>
            </a:r>
            <a:r>
              <a:rPr lang="en-US" altLang="zh-CN" sz="2100" smtClean="0"/>
              <a:t> (</a:t>
            </a:r>
            <a:r>
              <a:rPr lang="en-US" altLang="zh-CN" sz="2100" b="1" smtClean="0"/>
              <a:t>!</a:t>
            </a:r>
            <a:r>
              <a:rPr lang="en-US" altLang="zh-CN" sz="2100" smtClean="0"/>
              <a:t>ListEmpty(LB)) // </a:t>
            </a:r>
            <a:r>
              <a:rPr lang="zh-CN" altLang="en-US" sz="2100" smtClean="0"/>
              <a:t>依次处理 </a:t>
            </a:r>
            <a:r>
              <a:rPr lang="en-US" altLang="zh-CN" sz="2100" smtClean="0"/>
              <a:t>LB </a:t>
            </a:r>
            <a:r>
              <a:rPr lang="zh-CN" altLang="en-US" sz="2100" smtClean="0"/>
              <a:t>中元素直至 </a:t>
            </a:r>
            <a:r>
              <a:rPr lang="en-US" altLang="zh-CN" sz="2100" smtClean="0"/>
              <a:t>LB </a:t>
            </a:r>
            <a:r>
              <a:rPr lang="zh-CN" altLang="en-US" sz="2100" smtClean="0"/>
              <a:t>为空表止</a:t>
            </a:r>
            <a:br>
              <a:rPr lang="zh-CN" altLang="en-US" sz="2100" smtClean="0"/>
            </a:br>
            <a:r>
              <a:rPr lang="en-US" altLang="zh-CN" sz="2100" b="1" smtClean="0"/>
              <a:t>{</a:t>
            </a:r>
            <a:r>
              <a:rPr lang="en-US" altLang="zh-CN" sz="2100" smtClean="0"/>
              <a:t/>
            </a:r>
            <a:br>
              <a:rPr lang="en-US" altLang="zh-CN" sz="2100" smtClean="0"/>
            </a:br>
            <a:r>
              <a:rPr lang="en-US" altLang="zh-CN" sz="2100" smtClean="0">
                <a:latin typeface="Arial" panose="020B0604020202020204" pitchFamily="34" charset="0"/>
              </a:rPr>
              <a:t>  </a:t>
            </a:r>
            <a:r>
              <a:rPr lang="en-US" altLang="zh-CN" sz="2100" smtClean="0"/>
              <a:t>  ListDelete(LB,1,e);// LB </a:t>
            </a:r>
            <a:r>
              <a:rPr lang="zh-CN" altLang="en-US" sz="2100" smtClean="0"/>
              <a:t>删除第</a:t>
            </a:r>
            <a:r>
              <a:rPr lang="en-US" altLang="zh-CN" sz="2100" smtClean="0"/>
              <a:t>1</a:t>
            </a:r>
            <a:r>
              <a:rPr lang="zh-CN" altLang="en-US" sz="2100" smtClean="0"/>
              <a:t>个数据元素并赋给 </a:t>
            </a:r>
            <a:r>
              <a:rPr lang="en-US" altLang="zh-CN" sz="2100" smtClean="0"/>
              <a:t>e</a:t>
            </a:r>
            <a:br>
              <a:rPr lang="en-US" altLang="zh-CN" sz="2100" smtClean="0"/>
            </a:br>
            <a:r>
              <a:rPr lang="zh-CN" altLang="en-US" sz="2100" smtClean="0"/>
              <a:t>　 </a:t>
            </a:r>
            <a:r>
              <a:rPr lang="en-US" altLang="zh-CN" sz="2100" b="1" smtClean="0"/>
              <a:t>if</a:t>
            </a:r>
            <a:r>
              <a:rPr lang="en-US" altLang="zh-CN" sz="2100" smtClean="0"/>
              <a:t> (!LocateElem(LA,e))</a:t>
            </a:r>
            <a:br>
              <a:rPr lang="en-US" altLang="zh-CN" sz="2100" smtClean="0"/>
            </a:br>
            <a:r>
              <a:rPr lang="zh-CN" altLang="en-US" sz="2100" smtClean="0"/>
              <a:t>　　 　</a:t>
            </a:r>
            <a:r>
              <a:rPr lang="en-US" altLang="zh-CN" sz="2100" smtClean="0"/>
              <a:t>ListInsert(LA,++La_len,e);</a:t>
            </a:r>
            <a:br>
              <a:rPr lang="en-US" altLang="zh-CN" sz="2100" smtClean="0"/>
            </a:br>
            <a:r>
              <a:rPr lang="zh-CN" altLang="en-US" sz="2100" smtClean="0"/>
              <a:t>　　　</a:t>
            </a:r>
            <a:r>
              <a:rPr lang="en-US" altLang="zh-CN" sz="2100" smtClean="0"/>
              <a:t>// </a:t>
            </a:r>
            <a:r>
              <a:rPr lang="zh-CN" altLang="en-US" sz="2100" smtClean="0"/>
              <a:t>当</a:t>
            </a:r>
            <a:r>
              <a:rPr lang="en-US" altLang="zh-CN" sz="2100" smtClean="0"/>
              <a:t>LA</a:t>
            </a:r>
            <a:r>
              <a:rPr lang="zh-CN" altLang="en-US" sz="2100" smtClean="0"/>
              <a:t>中不存在和 </a:t>
            </a:r>
            <a:r>
              <a:rPr lang="en-US" altLang="zh-CN" sz="2100" smtClean="0"/>
              <a:t>e </a:t>
            </a:r>
            <a:r>
              <a:rPr lang="zh-CN" altLang="en-US" sz="2100" smtClean="0"/>
              <a:t>值相同的数据元素时进行插入</a:t>
            </a:r>
            <a:br>
              <a:rPr lang="zh-CN" altLang="en-US" sz="2100" smtClean="0"/>
            </a:br>
            <a:r>
              <a:rPr lang="en-US" altLang="zh-CN" sz="2100" b="1" smtClean="0"/>
              <a:t>} </a:t>
            </a:r>
            <a:r>
              <a:rPr lang="en-US" altLang="zh-CN" sz="2100" smtClean="0"/>
              <a:t>// while</a:t>
            </a:r>
            <a:r>
              <a:rPr lang="zh-CN" altLang="en-US" sz="2100" smtClean="0"/>
              <a:t>　　</a:t>
            </a:r>
            <a:br>
              <a:rPr lang="zh-CN" altLang="en-US" sz="2100" smtClean="0"/>
            </a:br>
            <a:r>
              <a:rPr lang="en-US" altLang="zh-CN" sz="2100" smtClean="0"/>
              <a:t>DestroyList(LB);</a:t>
            </a:r>
            <a:r>
              <a:rPr lang="zh-CN" altLang="en-US" sz="2100" smtClean="0"/>
              <a:t>　　　　　</a:t>
            </a:r>
            <a:r>
              <a:rPr lang="en-US" altLang="zh-CN" sz="2100" smtClean="0"/>
              <a:t>// </a:t>
            </a:r>
            <a:r>
              <a:rPr lang="zh-CN" altLang="en-US" sz="2100" smtClean="0"/>
              <a:t>销毁线性表 </a:t>
            </a:r>
            <a:r>
              <a:rPr lang="en-US" altLang="zh-CN" sz="2100" smtClean="0"/>
              <a:t>LB</a:t>
            </a:r>
            <a:r>
              <a:rPr lang="zh-CN" altLang="en-US" sz="2100" smtClean="0"/>
              <a:t>　</a:t>
            </a:r>
          </a:p>
          <a:p>
            <a:pPr eaLnBrk="1" hangingPunct="1">
              <a:lnSpc>
                <a:spcPct val="80000"/>
              </a:lnSpc>
              <a:spcBef>
                <a:spcPct val="0"/>
              </a:spcBef>
              <a:buFontTx/>
              <a:buNone/>
            </a:pPr>
            <a:r>
              <a:rPr lang="en-US" altLang="zh-CN" sz="2100" b="1" smtClean="0"/>
              <a:t>} </a:t>
            </a:r>
            <a:r>
              <a:rPr lang="en-US" altLang="zh-CN" sz="2100" smtClean="0"/>
              <a:t>// union</a:t>
            </a:r>
          </a:p>
          <a:p>
            <a:pPr eaLnBrk="1" hangingPunct="1">
              <a:lnSpc>
                <a:spcPct val="80000"/>
              </a:lnSpc>
              <a:buFont typeface="Wingdings" panose="05000000000000000000" pitchFamily="2" charset="2"/>
              <a:buNone/>
            </a:pPr>
            <a:endParaRPr lang="en-US" altLang="zh-CN" sz="210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60419" name="Rectangle 3"/>
          <p:cNvSpPr>
            <a:spLocks noGrp="1" noChangeArrowheads="1"/>
          </p:cNvSpPr>
          <p:nvPr>
            <p:ph idx="1"/>
          </p:nvPr>
        </p:nvSpPr>
        <p:spPr>
          <a:xfrm>
            <a:off x="527050" y="1628775"/>
            <a:ext cx="10218738" cy="4351338"/>
          </a:xfrm>
        </p:spPr>
        <p:txBody>
          <a:bodyPr/>
          <a:lstStyle/>
          <a:p>
            <a:pPr eaLnBrk="1" hangingPunct="1">
              <a:buFont typeface="Wingdings" panose="05000000000000000000" pitchFamily="2" charset="2"/>
              <a:buNone/>
            </a:pPr>
            <a:r>
              <a:rPr lang="en-US" altLang="zh-CN" smtClean="0"/>
              <a:t>Main()</a:t>
            </a:r>
          </a:p>
          <a:p>
            <a:pPr eaLnBrk="1" hangingPunct="1">
              <a:buFont typeface="Wingdings" panose="05000000000000000000" pitchFamily="2" charset="2"/>
              <a:buNone/>
            </a:pPr>
            <a:r>
              <a:rPr lang="en-US" altLang="zh-CN" smtClean="0"/>
              <a:t>{</a:t>
            </a:r>
          </a:p>
          <a:p>
            <a:pPr lvl="1" eaLnBrk="1" hangingPunct="1">
              <a:buFont typeface="Wingdings" panose="05000000000000000000" pitchFamily="2" charset="2"/>
              <a:buNone/>
            </a:pPr>
            <a:r>
              <a:rPr lang="en-US" altLang="zh-CN" smtClean="0"/>
              <a:t>List a1,a2;</a:t>
            </a:r>
          </a:p>
          <a:p>
            <a:pPr lvl="1" eaLnBrk="1" hangingPunct="1">
              <a:buFont typeface="Wingdings" panose="05000000000000000000" pitchFamily="2" charset="2"/>
              <a:buNone/>
            </a:pPr>
            <a:r>
              <a:rPr lang="en-US" altLang="zh-CN" smtClean="0"/>
              <a:t>//</a:t>
            </a:r>
            <a:r>
              <a:rPr lang="zh-CN" altLang="en-US" smtClean="0"/>
              <a:t>初始化</a:t>
            </a:r>
            <a:r>
              <a:rPr lang="en-US" altLang="zh-CN" smtClean="0"/>
              <a:t>a1</a:t>
            </a:r>
            <a:r>
              <a:rPr lang="zh-CN" altLang="en-US" smtClean="0"/>
              <a:t>，</a:t>
            </a:r>
            <a:r>
              <a:rPr lang="en-US" altLang="zh-CN" smtClean="0"/>
              <a:t>a2</a:t>
            </a:r>
            <a:r>
              <a:rPr lang="zh-CN" altLang="en-US" smtClean="0"/>
              <a:t>；</a:t>
            </a:r>
          </a:p>
          <a:p>
            <a:pPr lvl="1" eaLnBrk="1" hangingPunct="1">
              <a:buFont typeface="Wingdings" panose="05000000000000000000" pitchFamily="2" charset="2"/>
              <a:buNone/>
            </a:pPr>
            <a:r>
              <a:rPr lang="en-US" altLang="zh-CN" smtClean="0"/>
              <a:t>Union(a1,a2);</a:t>
            </a:r>
          </a:p>
          <a:p>
            <a:pPr eaLnBrk="1" hangingPunct="1">
              <a:buFont typeface="Wingdings" panose="05000000000000000000" pitchFamily="2" charset="2"/>
              <a:buNone/>
            </a:pPr>
            <a:r>
              <a:rPr lang="en-US" altLang="zh-CN" smtClean="0"/>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23555" name="Rectangle 3"/>
          <p:cNvSpPr>
            <a:spLocks noGrp="1" noChangeArrowheads="1"/>
          </p:cNvSpPr>
          <p:nvPr>
            <p:ph idx="1"/>
          </p:nvPr>
        </p:nvSpPr>
        <p:spPr>
          <a:xfrm>
            <a:off x="527050" y="1628775"/>
            <a:ext cx="10218738" cy="4351338"/>
          </a:xfrm>
        </p:spPr>
        <p:txBody>
          <a:bodyPr/>
          <a:lstStyle/>
          <a:p>
            <a:pPr eaLnBrk="1" hangingPunct="1"/>
            <a:r>
              <a:rPr lang="zh-CN" altLang="en-US" sz="2000" b="1" smtClean="0"/>
              <a:t>顺序表： </a:t>
            </a:r>
            <a:r>
              <a:rPr lang="zh-CN" altLang="en-US" sz="2000" smtClean="0">
                <a:latin typeface="Arial" panose="020B0604020202020204" pitchFamily="34" charset="0"/>
              </a:rPr>
              <a:t>“</a:t>
            </a:r>
            <a:r>
              <a:rPr lang="zh-CN" altLang="en-US" sz="2000" smtClean="0"/>
              <a:t>用一组</a:t>
            </a:r>
            <a:r>
              <a:rPr lang="zh-CN" altLang="en-US" sz="2000" b="1" smtClean="0"/>
              <a:t>地址连续</a:t>
            </a:r>
            <a:r>
              <a:rPr lang="zh-CN" altLang="en-US" sz="2000" smtClean="0"/>
              <a:t>的存储单元</a:t>
            </a:r>
            <a:r>
              <a:rPr lang="zh-CN" altLang="en-US" sz="2000" b="1" smtClean="0"/>
              <a:t>依次存放</a:t>
            </a:r>
            <a:r>
              <a:rPr lang="zh-CN" altLang="en-US" sz="2000" smtClean="0"/>
              <a:t>线性表中的数据元素</a:t>
            </a:r>
            <a:r>
              <a:rPr lang="zh-CN" altLang="en-US" sz="2000" smtClean="0">
                <a:latin typeface="Arial" panose="020B0604020202020204" pitchFamily="34" charset="0"/>
              </a:rPr>
              <a:t>”</a:t>
            </a:r>
            <a:r>
              <a:rPr lang="zh-CN" altLang="en-US" sz="2000" smtClean="0"/>
              <a:t>，即以</a:t>
            </a:r>
            <a:r>
              <a:rPr lang="zh-CN" altLang="en-US" sz="2000" smtClean="0">
                <a:latin typeface="Arial" panose="020B0604020202020204" pitchFamily="34" charset="0"/>
              </a:rPr>
              <a:t>“</a:t>
            </a:r>
            <a:r>
              <a:rPr lang="zh-CN" altLang="en-US" sz="2000" b="1" smtClean="0"/>
              <a:t>存储位置相邻</a:t>
            </a:r>
            <a:r>
              <a:rPr lang="zh-CN" altLang="en-US" sz="2000" smtClean="0">
                <a:latin typeface="Arial" panose="020B0604020202020204" pitchFamily="34" charset="0"/>
              </a:rPr>
              <a:t>”</a:t>
            </a:r>
            <a:r>
              <a:rPr lang="zh-CN" altLang="en-US" sz="2000" smtClean="0"/>
              <a:t>表示</a:t>
            </a:r>
            <a:r>
              <a:rPr lang="zh-CN" altLang="en-US" sz="2000" smtClean="0">
                <a:latin typeface="Arial" panose="020B0604020202020204" pitchFamily="34" charset="0"/>
              </a:rPr>
              <a:t>“</a:t>
            </a:r>
            <a:r>
              <a:rPr lang="zh-CN" altLang="en-US" sz="2000" smtClean="0"/>
              <a:t>位序相继的两个数据元素之间的前驱和后继的关系</a:t>
            </a:r>
            <a:r>
              <a:rPr lang="en-US" altLang="zh-CN" sz="2000" smtClean="0"/>
              <a:t>(</a:t>
            </a:r>
            <a:r>
              <a:rPr lang="zh-CN" altLang="en-US" sz="2000" smtClean="0"/>
              <a:t>有序对</a:t>
            </a:r>
            <a:r>
              <a:rPr lang="en-US" altLang="zh-CN" sz="2000" smtClean="0"/>
              <a:t>&lt; </a:t>
            </a:r>
            <a:r>
              <a:rPr lang="en-US" altLang="zh-CN" sz="2000" i="1" smtClean="0"/>
              <a:t>a</a:t>
            </a:r>
            <a:r>
              <a:rPr lang="en-US" altLang="zh-CN" sz="2000" i="1" baseline="-25000" smtClean="0"/>
              <a:t>i</a:t>
            </a:r>
            <a:r>
              <a:rPr lang="zh-CN" altLang="en-US" sz="2000" i="1" baseline="-25000" smtClean="0"/>
              <a:t>－</a:t>
            </a:r>
            <a:r>
              <a:rPr lang="en-US" altLang="zh-CN" sz="2000" i="1" baseline="-25000" smtClean="0"/>
              <a:t>1</a:t>
            </a:r>
            <a:r>
              <a:rPr lang="en-US" altLang="zh-CN" sz="2000" smtClean="0"/>
              <a:t>,</a:t>
            </a:r>
            <a:r>
              <a:rPr lang="en-US" altLang="zh-CN" sz="2000" i="1" smtClean="0"/>
              <a:t>a</a:t>
            </a:r>
            <a:r>
              <a:rPr lang="en-US" altLang="zh-CN" sz="2000" i="1" baseline="-25000" smtClean="0"/>
              <a:t>i</a:t>
            </a:r>
            <a:r>
              <a:rPr lang="en-US" altLang="zh-CN" sz="2000" smtClean="0"/>
              <a:t> &gt;)</a:t>
            </a:r>
            <a:r>
              <a:rPr lang="en-US" altLang="zh-CN" sz="2000" smtClean="0">
                <a:latin typeface="Arial" panose="020B0604020202020204" pitchFamily="34" charset="0"/>
              </a:rPr>
              <a:t>”</a:t>
            </a:r>
            <a:r>
              <a:rPr lang="zh-CN" altLang="en-US" sz="2000" smtClean="0"/>
              <a:t>，并以表中第一个元素的存储位置作为线性表的起始地址，称作</a:t>
            </a:r>
            <a:r>
              <a:rPr lang="zh-CN" altLang="en-US" sz="2000" b="1" smtClean="0"/>
              <a:t>线性表的基地址</a:t>
            </a:r>
            <a:r>
              <a:rPr lang="zh-CN" altLang="en-US" sz="2000" smtClean="0"/>
              <a:t>。</a:t>
            </a:r>
          </a:p>
          <a:p>
            <a:pPr eaLnBrk="1" hangingPunct="1">
              <a:buFont typeface="Wingdings" panose="05000000000000000000" pitchFamily="2" charset="2"/>
              <a:buNone/>
            </a:pPr>
            <a:endParaRPr lang="en-US" altLang="zh-CN" smtClean="0"/>
          </a:p>
        </p:txBody>
      </p:sp>
      <p:pic>
        <p:nvPicPr>
          <p:cNvPr id="23556" name="Picture 4" descr="2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3284538"/>
            <a:ext cx="7704138"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23556"/>
                                        </p:tgtEl>
                                        <p:attrNameLst>
                                          <p:attrName>style.visibility</p:attrName>
                                        </p:attrNameLst>
                                      </p:cBhvr>
                                      <p:to>
                                        <p:strVal val="visible"/>
                                      </p:to>
                                    </p:set>
                                    <p:animEffect transition="in" filter="box(in)">
                                      <p:cBhvr>
                                        <p:cTn id="13" dur="500"/>
                                        <p:tgtEl>
                                          <p:spTgt spid="23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62467" name="Line 4"/>
          <p:cNvSpPr>
            <a:spLocks noChangeShapeType="1"/>
          </p:cNvSpPr>
          <p:nvPr/>
        </p:nvSpPr>
        <p:spPr bwMode="auto">
          <a:xfrm>
            <a:off x="4953000" y="2286000"/>
            <a:ext cx="0" cy="3505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68" name="Line 5"/>
          <p:cNvSpPr>
            <a:spLocks noChangeShapeType="1"/>
          </p:cNvSpPr>
          <p:nvPr/>
        </p:nvSpPr>
        <p:spPr bwMode="auto">
          <a:xfrm>
            <a:off x="6553200" y="2286000"/>
            <a:ext cx="0" cy="3505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69" name="Line 6"/>
          <p:cNvSpPr>
            <a:spLocks noChangeShapeType="1"/>
          </p:cNvSpPr>
          <p:nvPr/>
        </p:nvSpPr>
        <p:spPr bwMode="auto">
          <a:xfrm>
            <a:off x="4953000" y="27432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0" name="Line 7"/>
          <p:cNvSpPr>
            <a:spLocks noChangeShapeType="1"/>
          </p:cNvSpPr>
          <p:nvPr/>
        </p:nvSpPr>
        <p:spPr bwMode="auto">
          <a:xfrm>
            <a:off x="4953000" y="32766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1" name="Text Box 8"/>
          <p:cNvSpPr txBox="1">
            <a:spLocks noChangeArrowheads="1"/>
          </p:cNvSpPr>
          <p:nvPr/>
        </p:nvSpPr>
        <p:spPr bwMode="auto">
          <a:xfrm>
            <a:off x="5538788" y="2671763"/>
            <a:ext cx="404812"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rPr>
              <a:t>A</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rPr>
              <a:t>B</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rPr>
              <a:t>C</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rPr>
              <a:t>D</a:t>
            </a:r>
          </a:p>
          <a:p>
            <a:pPr eaLnBrk="1" hangingPunct="1">
              <a:lnSpc>
                <a:spcPct val="14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p:txBody>
      </p:sp>
      <p:sp>
        <p:nvSpPr>
          <p:cNvPr id="62472" name="Line 9"/>
          <p:cNvSpPr>
            <a:spLocks noChangeShapeType="1"/>
          </p:cNvSpPr>
          <p:nvPr/>
        </p:nvSpPr>
        <p:spPr bwMode="auto">
          <a:xfrm>
            <a:off x="4953000" y="38100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3" name="Line 10"/>
          <p:cNvSpPr>
            <a:spLocks noChangeShapeType="1"/>
          </p:cNvSpPr>
          <p:nvPr/>
        </p:nvSpPr>
        <p:spPr bwMode="auto">
          <a:xfrm>
            <a:off x="4953000" y="43434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4" name="Line 11"/>
          <p:cNvSpPr>
            <a:spLocks noChangeShapeType="1"/>
          </p:cNvSpPr>
          <p:nvPr/>
        </p:nvSpPr>
        <p:spPr bwMode="auto">
          <a:xfrm>
            <a:off x="4953000" y="48768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5" name="Line 12"/>
          <p:cNvSpPr>
            <a:spLocks noChangeShapeType="1"/>
          </p:cNvSpPr>
          <p:nvPr/>
        </p:nvSpPr>
        <p:spPr bwMode="auto">
          <a:xfrm>
            <a:off x="4953000" y="54102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6" name="Text Box 13"/>
          <p:cNvSpPr txBox="1">
            <a:spLocks noChangeArrowheads="1"/>
          </p:cNvSpPr>
          <p:nvPr/>
        </p:nvSpPr>
        <p:spPr bwMode="auto">
          <a:xfrm>
            <a:off x="3863975" y="2349500"/>
            <a:ext cx="10985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45000"/>
              </a:lnSpc>
              <a:spcBef>
                <a:spcPct val="0"/>
              </a:spcBef>
              <a:buFontTx/>
              <a:buNone/>
            </a:pPr>
            <a:r>
              <a:rPr lang="en-US" altLang="zh-CN" sz="2400">
                <a:latin typeface="Times New Roman" panose="02020603050405020304" pitchFamily="18" charset="0"/>
                <a:ea typeface="宋体" panose="02010600030101010101" pitchFamily="2" charset="-122"/>
              </a:rPr>
              <a:t>0x0</a:t>
            </a:r>
            <a:r>
              <a:rPr kumimoji="1" lang="en-US" altLang="zh-CN" sz="2400">
                <a:latin typeface="Times New Roman" panose="02020603050405020304" pitchFamily="18" charset="0"/>
                <a:ea typeface="宋体" panose="02010600030101010101" pitchFamily="2" charset="-122"/>
              </a:rPr>
              <a:t>001</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rPr>
              <a:t>0x0002</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rPr>
              <a:t>0x0003</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rPr>
              <a:t>0x0004</a:t>
            </a:r>
          </a:p>
          <a:p>
            <a:pPr eaLnBrk="1" hangingPunct="1">
              <a:lnSpc>
                <a:spcPct val="145000"/>
              </a:lnSpc>
              <a:spcBef>
                <a:spcPct val="0"/>
              </a:spcBef>
              <a:buFontTx/>
              <a:buNone/>
            </a:pPr>
            <a:r>
              <a:rPr kumimoji="1" lang="en-US" altLang="zh-CN" sz="2400">
                <a:latin typeface="Times New Roman" panose="02020603050405020304" pitchFamily="18" charset="0"/>
                <a:ea typeface="宋体" panose="02010600030101010101" pitchFamily="2" charset="-122"/>
              </a:rPr>
              <a:t>0x0005</a:t>
            </a:r>
          </a:p>
        </p:txBody>
      </p:sp>
      <p:sp>
        <p:nvSpPr>
          <p:cNvPr id="62477" name="Text Box 14"/>
          <p:cNvSpPr txBox="1">
            <a:spLocks noChangeArrowheads="1"/>
          </p:cNvSpPr>
          <p:nvPr/>
        </p:nvSpPr>
        <p:spPr bwMode="auto">
          <a:xfrm>
            <a:off x="6705600" y="1524000"/>
            <a:ext cx="2073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 B, C, D,…)</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24579" name="Rectangle 3"/>
          <p:cNvSpPr>
            <a:spLocks noGrp="1" noChangeArrowheads="1"/>
          </p:cNvSpPr>
          <p:nvPr>
            <p:ph idx="1"/>
          </p:nvPr>
        </p:nvSpPr>
        <p:spPr>
          <a:xfrm>
            <a:off x="527050" y="1628775"/>
            <a:ext cx="10218738" cy="4351338"/>
          </a:xfrm>
        </p:spPr>
        <p:txBody>
          <a:bodyPr/>
          <a:lstStyle/>
          <a:p>
            <a:pPr eaLnBrk="1" hangingPunct="1"/>
            <a:r>
              <a:rPr lang="en-US" altLang="zh-CN" sz="2400" smtClean="0"/>
              <a:t>LOC(</a:t>
            </a:r>
            <a:r>
              <a:rPr lang="en-US" altLang="zh-CN" sz="2400" i="1" smtClean="0"/>
              <a:t>a</a:t>
            </a:r>
            <a:r>
              <a:rPr lang="en-US" altLang="zh-CN" sz="2400" i="1" baseline="-25000" smtClean="0"/>
              <a:t>i</a:t>
            </a:r>
            <a:r>
              <a:rPr lang="en-US" altLang="zh-CN" sz="2400" smtClean="0"/>
              <a:t> ) = LOC(</a:t>
            </a:r>
            <a:r>
              <a:rPr lang="en-US" altLang="zh-CN" sz="2400" i="1" smtClean="0"/>
              <a:t>a</a:t>
            </a:r>
            <a:r>
              <a:rPr lang="en-US" altLang="zh-CN" sz="2400" i="1" baseline="-25000" smtClean="0"/>
              <a:t>i-1</a:t>
            </a:r>
            <a:r>
              <a:rPr lang="en-US" altLang="zh-CN" sz="2400" smtClean="0"/>
              <a:t> ) + </a:t>
            </a:r>
            <a:r>
              <a:rPr lang="en-US" altLang="zh-CN" sz="2400" b="1" smtClean="0"/>
              <a:t>C</a:t>
            </a:r>
          </a:p>
          <a:p>
            <a:pPr lvl="1" eaLnBrk="1" hangingPunct="1"/>
            <a:r>
              <a:rPr lang="zh-CN" altLang="en-US" smtClean="0"/>
              <a:t>其中，</a:t>
            </a:r>
            <a:r>
              <a:rPr lang="en-US" altLang="zh-CN" smtClean="0"/>
              <a:t>C</a:t>
            </a:r>
            <a:r>
              <a:rPr lang="zh-CN" altLang="en-US" smtClean="0"/>
              <a:t>是一个数据元素所占存储量</a:t>
            </a:r>
          </a:p>
          <a:p>
            <a:pPr eaLnBrk="1" hangingPunct="1"/>
            <a:r>
              <a:rPr lang="en-US" altLang="zh-CN" sz="2400" smtClean="0"/>
              <a:t>LOC(</a:t>
            </a:r>
            <a:r>
              <a:rPr lang="en-US" altLang="zh-CN" sz="2400" i="1" smtClean="0"/>
              <a:t>a</a:t>
            </a:r>
            <a:r>
              <a:rPr lang="en-US" altLang="zh-CN" sz="2400" i="1" baseline="-25000" smtClean="0"/>
              <a:t>i</a:t>
            </a:r>
            <a:r>
              <a:rPr lang="en-US" altLang="zh-CN" sz="2400" smtClean="0"/>
              <a:t> ) = LOC(</a:t>
            </a:r>
            <a:r>
              <a:rPr lang="en-US" altLang="zh-CN" sz="2400" i="1" smtClean="0"/>
              <a:t>a</a:t>
            </a:r>
            <a:r>
              <a:rPr lang="en-US" altLang="zh-CN" sz="2400" i="1" baseline="-25000" smtClean="0"/>
              <a:t>1</a:t>
            </a:r>
            <a:r>
              <a:rPr lang="en-US" altLang="zh-CN" sz="2400" smtClean="0"/>
              <a:t> ) + (i-1)×C </a:t>
            </a:r>
            <a:r>
              <a:rPr lang="en-US" altLang="zh-CN" smtClean="0"/>
              <a:t/>
            </a:r>
            <a:br>
              <a:rPr lang="en-US" altLang="zh-CN" smtClean="0"/>
            </a:br>
            <a:r>
              <a:rPr lang="zh-CN" altLang="en-US" smtClean="0"/>
              <a:t>　　　　　</a:t>
            </a:r>
            <a:r>
              <a:rPr lang="zh-CN" altLang="en-US" b="1" smtClean="0">
                <a:solidFill>
                  <a:srgbClr val="CC0000"/>
                </a:solidFill>
              </a:rPr>
              <a:t>↑</a:t>
            </a:r>
            <a:r>
              <a:rPr lang="zh-CN" altLang="en-US" b="1" smtClean="0"/>
              <a:t>基地址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579">
                                            <p:txEl>
                                              <p:pRg st="1" end="1"/>
                                            </p:txEl>
                                          </p:spTgt>
                                        </p:tgtEl>
                                        <p:attrNameLst>
                                          <p:attrName>style.visibility</p:attrName>
                                        </p:attrNameLst>
                                      </p:cBhvr>
                                      <p:to>
                                        <p:strVal val="visible"/>
                                      </p:to>
                                    </p:set>
                                    <p:anim calcmode="lin" valueType="num">
                                      <p:cBhvr additive="base">
                                        <p:cTn id="11"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 calcmode="lin" valueType="num">
                                      <p:cBhvr additive="base">
                                        <p:cTn id="17"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25603" name="Rectangle 3"/>
          <p:cNvSpPr>
            <a:spLocks noGrp="1" noChangeArrowheads="1"/>
          </p:cNvSpPr>
          <p:nvPr>
            <p:ph idx="1"/>
          </p:nvPr>
        </p:nvSpPr>
        <p:spPr>
          <a:xfrm>
            <a:off x="527050" y="1628775"/>
            <a:ext cx="10218738" cy="4351338"/>
          </a:xfrm>
        </p:spPr>
        <p:txBody>
          <a:bodyPr/>
          <a:lstStyle/>
          <a:p>
            <a:pPr eaLnBrk="1" hangingPunct="1"/>
            <a:r>
              <a:rPr lang="zh-CN" altLang="en-US" sz="2600" smtClean="0"/>
              <a:t>用</a:t>
            </a:r>
            <a:r>
              <a:rPr lang="en-US" altLang="zh-CN" sz="2600" smtClean="0"/>
              <a:t>C</a:t>
            </a:r>
            <a:r>
              <a:rPr lang="zh-CN" altLang="en-US" sz="2600" smtClean="0"/>
              <a:t>语言描述的</a:t>
            </a:r>
            <a:r>
              <a:rPr lang="zh-CN" altLang="en-US" sz="2600" b="1" smtClean="0"/>
              <a:t>顺序表类型</a:t>
            </a:r>
            <a:r>
              <a:rPr lang="zh-CN" altLang="en-US" sz="2600" smtClean="0"/>
              <a:t>如下所示：</a:t>
            </a:r>
          </a:p>
          <a:p>
            <a:pPr eaLnBrk="1" hangingPunct="1"/>
            <a:r>
              <a:rPr lang="zh-CN" altLang="en-US" sz="2600" smtClean="0"/>
              <a:t/>
            </a:r>
            <a:br>
              <a:rPr lang="zh-CN" altLang="en-US" sz="2600" smtClean="0"/>
            </a:br>
            <a:r>
              <a:rPr lang="en-US" altLang="zh-CN" sz="2600" b="1" smtClean="0"/>
              <a:t>// </a:t>
            </a:r>
            <a:r>
              <a:rPr lang="zh-CN" altLang="en-US" sz="2600" b="1" smtClean="0"/>
              <a:t>存储结构</a:t>
            </a:r>
            <a:r>
              <a:rPr lang="zh-CN" altLang="en-US" sz="2600" smtClean="0"/>
              <a:t/>
            </a:r>
            <a:br>
              <a:rPr lang="zh-CN" altLang="en-US" sz="2600" smtClean="0"/>
            </a:br>
            <a:r>
              <a:rPr lang="en-US" altLang="zh-CN" sz="2600" b="1" smtClean="0"/>
              <a:t>const</a:t>
            </a:r>
            <a:r>
              <a:rPr lang="en-US" altLang="zh-CN" sz="2600" smtClean="0"/>
              <a:t> </a:t>
            </a:r>
            <a:r>
              <a:rPr lang="en-US" altLang="zh-CN" sz="2600" b="1" smtClean="0"/>
              <a:t>int</a:t>
            </a:r>
            <a:r>
              <a:rPr lang="en-US" altLang="zh-CN" sz="2600" smtClean="0"/>
              <a:t> MAXLISTSIZE=80; // </a:t>
            </a:r>
            <a:r>
              <a:rPr lang="zh-CN" altLang="en-US" sz="2600" smtClean="0"/>
              <a:t>预设的存储</a:t>
            </a:r>
          </a:p>
          <a:p>
            <a:pPr eaLnBrk="1" hangingPunct="1">
              <a:buFont typeface="Wingdings" panose="05000000000000000000" pitchFamily="2" charset="2"/>
              <a:buNone/>
            </a:pPr>
            <a:r>
              <a:rPr lang="zh-CN" altLang="en-US" sz="2600" smtClean="0"/>
              <a:t>    空间最大容量</a:t>
            </a:r>
            <a:br>
              <a:rPr lang="zh-CN" altLang="en-US" sz="2600" smtClean="0"/>
            </a:br>
            <a:r>
              <a:rPr lang="en-US" altLang="zh-CN" sz="2600" b="1" smtClean="0"/>
              <a:t>typedef struct {</a:t>
            </a:r>
            <a:r>
              <a:rPr lang="en-US" altLang="zh-CN" sz="2600" smtClean="0"/>
              <a:t> </a:t>
            </a:r>
            <a:br>
              <a:rPr lang="en-US" altLang="zh-CN" sz="2600" smtClean="0"/>
            </a:br>
            <a:r>
              <a:rPr lang="zh-CN" altLang="en-US" sz="2600" smtClean="0"/>
              <a:t>　　</a:t>
            </a:r>
            <a:r>
              <a:rPr lang="en-US" altLang="zh-CN" sz="2600" smtClean="0"/>
              <a:t>ElemType </a:t>
            </a:r>
            <a:r>
              <a:rPr lang="en-US" altLang="zh-CN" sz="2600" b="1" smtClean="0"/>
              <a:t>*</a:t>
            </a:r>
            <a:r>
              <a:rPr lang="en-US" altLang="zh-CN" sz="2600" smtClean="0"/>
              <a:t>elem;</a:t>
            </a:r>
            <a:r>
              <a:rPr lang="zh-CN" altLang="en-US" sz="2600" smtClean="0"/>
              <a:t>　　　　</a:t>
            </a:r>
            <a:r>
              <a:rPr lang="en-US" altLang="zh-CN" sz="2600" smtClean="0"/>
              <a:t>// </a:t>
            </a:r>
            <a:r>
              <a:rPr lang="zh-CN" altLang="en-US" sz="2600" smtClean="0"/>
              <a:t>存储空间基址 </a:t>
            </a:r>
            <a:br>
              <a:rPr lang="zh-CN" altLang="en-US" sz="2600" smtClean="0"/>
            </a:br>
            <a:r>
              <a:rPr lang="zh-CN" altLang="en-US" sz="2600" smtClean="0"/>
              <a:t>　　</a:t>
            </a:r>
            <a:r>
              <a:rPr lang="en-US" altLang="zh-CN" sz="2600" b="1" smtClean="0"/>
              <a:t>int</a:t>
            </a:r>
            <a:r>
              <a:rPr lang="en-US" altLang="zh-CN" sz="2600" smtClean="0"/>
              <a:t> length; </a:t>
            </a:r>
            <a:r>
              <a:rPr lang="zh-CN" altLang="en-US" sz="2600" smtClean="0"/>
              <a:t>　　　　　</a:t>
            </a:r>
            <a:r>
              <a:rPr lang="en-US" altLang="zh-CN" sz="2600" smtClean="0"/>
              <a:t>// </a:t>
            </a:r>
            <a:r>
              <a:rPr lang="zh-CN" altLang="en-US" sz="2600" smtClean="0"/>
              <a:t>当前长度 </a:t>
            </a:r>
            <a:br>
              <a:rPr lang="zh-CN" altLang="en-US" sz="2600" smtClean="0"/>
            </a:br>
            <a:r>
              <a:rPr lang="zh-CN" altLang="en-US" sz="2600" smtClean="0"/>
              <a:t>　　</a:t>
            </a:r>
            <a:r>
              <a:rPr lang="en-US" altLang="zh-CN" sz="2600" b="1" smtClean="0"/>
              <a:t>int</a:t>
            </a:r>
            <a:r>
              <a:rPr lang="en-US" altLang="zh-CN" sz="2600" smtClean="0"/>
              <a:t> listsize;</a:t>
            </a:r>
            <a:r>
              <a:rPr lang="zh-CN" altLang="en-US" sz="2600" smtClean="0"/>
              <a:t>　　　　</a:t>
            </a:r>
            <a:r>
              <a:rPr lang="en-US" altLang="zh-CN" sz="2600" smtClean="0"/>
              <a:t>// </a:t>
            </a:r>
            <a:r>
              <a:rPr lang="zh-CN" altLang="en-US" sz="2600" smtClean="0"/>
              <a:t>允许的最大存储容量</a:t>
            </a:r>
            <a:br>
              <a:rPr lang="zh-CN" altLang="en-US" sz="2600" smtClean="0"/>
            </a:br>
            <a:r>
              <a:rPr lang="en-US" altLang="zh-CN" sz="2600" b="1" smtClean="0"/>
              <a:t>}</a:t>
            </a:r>
            <a:r>
              <a:rPr lang="en-US" altLang="zh-CN" sz="2600" smtClean="0"/>
              <a:t> SqList;</a:t>
            </a:r>
            <a:r>
              <a:rPr lang="zh-CN" altLang="en-US" sz="2600" smtClean="0"/>
              <a:t>　　　　　　 </a:t>
            </a:r>
            <a:r>
              <a:rPr lang="en-US" altLang="zh-CN" sz="2600" smtClean="0"/>
              <a:t>// </a:t>
            </a:r>
            <a:r>
              <a:rPr lang="zh-CN" altLang="en-US" sz="2600" smtClean="0"/>
              <a:t>俗称 </a:t>
            </a:r>
            <a:r>
              <a:rPr lang="zh-CN" altLang="en-US" sz="2600" b="1" smtClean="0"/>
              <a:t>顺序表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2" dur="500"/>
                                        <p:tgtEl>
                                          <p:spTgt spid="256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7" dur="500"/>
                                        <p:tgtEl>
                                          <p:spTgt spid="256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26627" name="Rectangle 3"/>
          <p:cNvSpPr>
            <a:spLocks noGrp="1" noChangeArrowheads="1"/>
          </p:cNvSpPr>
          <p:nvPr>
            <p:ph idx="1"/>
          </p:nvPr>
        </p:nvSpPr>
        <p:spPr>
          <a:xfrm>
            <a:off x="527050" y="1628775"/>
            <a:ext cx="10218738" cy="4351338"/>
          </a:xfrm>
        </p:spPr>
        <p:txBody>
          <a:bodyPr/>
          <a:lstStyle/>
          <a:p>
            <a:pPr eaLnBrk="1" hangingPunct="1"/>
            <a:r>
              <a:rPr lang="zh-CN" altLang="en-US" smtClean="0"/>
              <a:t>五个操作的实现</a:t>
            </a:r>
          </a:p>
          <a:p>
            <a:pPr lvl="1" eaLnBrk="1" hangingPunct="1"/>
            <a:r>
              <a:rPr lang="zh-CN" altLang="en-US" b="1" smtClean="0"/>
              <a:t>一、初始化操作</a:t>
            </a:r>
          </a:p>
          <a:p>
            <a:pPr lvl="1" eaLnBrk="1" hangingPunct="1"/>
            <a:r>
              <a:rPr lang="zh-CN" altLang="en-US" b="1" smtClean="0"/>
              <a:t>二、元素定位操作</a:t>
            </a:r>
          </a:p>
          <a:p>
            <a:pPr lvl="1" eaLnBrk="1" hangingPunct="1"/>
            <a:r>
              <a:rPr lang="zh-CN" altLang="en-US" b="1" smtClean="0"/>
              <a:t>三、插入元素操作</a:t>
            </a:r>
          </a:p>
          <a:p>
            <a:pPr lvl="1" eaLnBrk="1" hangingPunct="1"/>
            <a:r>
              <a:rPr lang="zh-CN" altLang="en-US" b="1" smtClean="0"/>
              <a:t>四、删除元素操作</a:t>
            </a:r>
          </a:p>
          <a:p>
            <a:pPr lvl="1" eaLnBrk="1" hangingPunct="1"/>
            <a:r>
              <a:rPr lang="zh-CN" altLang="en-US" b="1" smtClean="0"/>
              <a:t>五、销毁结构操作</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animEffect transition="in" filter="box(in)">
                                      <p:cBhvr>
                                        <p:cTn id="7" dur="500"/>
                                        <p:tgtEl>
                                          <p:spTgt spid="26627">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6627">
                                            <p:txEl>
                                              <p:pRg st="2" end="2"/>
                                            </p:txEl>
                                          </p:spTgt>
                                        </p:tgtEl>
                                        <p:attrNameLst>
                                          <p:attrName>style.visibility</p:attrName>
                                        </p:attrNameLst>
                                      </p:cBhvr>
                                      <p:to>
                                        <p:strVal val="visible"/>
                                      </p:to>
                                    </p:set>
                                    <p:animEffect transition="in" filter="box(in)">
                                      <p:cBhvr>
                                        <p:cTn id="10" dur="500"/>
                                        <p:tgtEl>
                                          <p:spTgt spid="26627">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6627">
                                            <p:txEl>
                                              <p:pRg st="3" end="3"/>
                                            </p:txEl>
                                          </p:spTgt>
                                        </p:tgtEl>
                                        <p:attrNameLst>
                                          <p:attrName>style.visibility</p:attrName>
                                        </p:attrNameLst>
                                      </p:cBhvr>
                                      <p:to>
                                        <p:strVal val="visible"/>
                                      </p:to>
                                    </p:set>
                                    <p:animEffect transition="in" filter="box(in)">
                                      <p:cBhvr>
                                        <p:cTn id="13" dur="500"/>
                                        <p:tgtEl>
                                          <p:spTgt spid="26627">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6627">
                                            <p:txEl>
                                              <p:pRg st="4" end="4"/>
                                            </p:txEl>
                                          </p:spTgt>
                                        </p:tgtEl>
                                        <p:attrNameLst>
                                          <p:attrName>style.visibility</p:attrName>
                                        </p:attrNameLst>
                                      </p:cBhvr>
                                      <p:to>
                                        <p:strVal val="visible"/>
                                      </p:to>
                                    </p:set>
                                    <p:animEffect transition="in" filter="box(in)">
                                      <p:cBhvr>
                                        <p:cTn id="16" dur="500"/>
                                        <p:tgtEl>
                                          <p:spTgt spid="26627">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6627">
                                            <p:txEl>
                                              <p:pRg st="5" end="5"/>
                                            </p:txEl>
                                          </p:spTgt>
                                        </p:tgtEl>
                                        <p:attrNameLst>
                                          <p:attrName>style.visibility</p:attrName>
                                        </p:attrNameLst>
                                      </p:cBhvr>
                                      <p:to>
                                        <p:strVal val="visible"/>
                                      </p:to>
                                    </p:set>
                                    <p:animEffect transition="in" filter="box(in)">
                                      <p:cBhvr>
                                        <p:cTn id="19" dur="500"/>
                                        <p:tgtEl>
                                          <p:spTgt spid="266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66563" name="Rectangle 3"/>
          <p:cNvSpPr>
            <a:spLocks noGrp="1" noChangeArrowheads="1"/>
          </p:cNvSpPr>
          <p:nvPr>
            <p:ph idx="1"/>
          </p:nvPr>
        </p:nvSpPr>
        <p:spPr>
          <a:xfrm>
            <a:off x="527050" y="1628775"/>
            <a:ext cx="10218738" cy="4351338"/>
          </a:xfrm>
        </p:spPr>
        <p:txBody>
          <a:bodyPr/>
          <a:lstStyle/>
          <a:p>
            <a:pPr eaLnBrk="1" hangingPunct="1"/>
            <a:r>
              <a:rPr lang="zh-CN" altLang="en-US" smtClean="0"/>
              <a:t>初始化操作</a:t>
            </a:r>
          </a:p>
          <a:p>
            <a:pPr lvl="1" eaLnBrk="1" hangingPunct="1"/>
            <a:r>
              <a:rPr lang="zh-CN" altLang="en-US" smtClean="0"/>
              <a:t>对顺序表而言，</a:t>
            </a:r>
            <a:r>
              <a:rPr lang="zh-CN" altLang="en-US" smtClean="0">
                <a:latin typeface="Arial" panose="020B0604020202020204" pitchFamily="34" charset="0"/>
              </a:rPr>
              <a:t>“</a:t>
            </a:r>
            <a:r>
              <a:rPr lang="zh-CN" altLang="en-US" smtClean="0"/>
              <a:t>初始化</a:t>
            </a:r>
            <a:r>
              <a:rPr lang="zh-CN" altLang="en-US" smtClean="0">
                <a:latin typeface="Arial" panose="020B0604020202020204" pitchFamily="34" charset="0"/>
              </a:rPr>
              <a:t>”</a:t>
            </a:r>
            <a:r>
              <a:rPr lang="zh-CN" altLang="en-US" smtClean="0"/>
              <a:t>的实质是为它分配一个</a:t>
            </a:r>
            <a:r>
              <a:rPr lang="zh-CN" altLang="en-US" smtClean="0">
                <a:latin typeface="Arial" panose="020B0604020202020204" pitchFamily="34" charset="0"/>
              </a:rPr>
              <a:t>“</a:t>
            </a:r>
            <a:r>
              <a:rPr lang="zh-CN" altLang="en-US" smtClean="0"/>
              <a:t>足够应用</a:t>
            </a:r>
            <a:r>
              <a:rPr lang="zh-CN" altLang="en-US" smtClean="0">
                <a:latin typeface="Arial" panose="020B0604020202020204" pitchFamily="34" charset="0"/>
              </a:rPr>
              <a:t>”</a:t>
            </a:r>
            <a:r>
              <a:rPr lang="zh-CN" altLang="en-US" smtClean="0"/>
              <a:t>的元素存储空间。</a:t>
            </a:r>
          </a:p>
          <a:p>
            <a:pPr lvl="1" eaLnBrk="1" hangingPunct="1">
              <a:buFont typeface="Wingdings" panose="05000000000000000000" pitchFamily="2" charset="2"/>
              <a:buNone/>
            </a:pPr>
            <a:endParaRPr lang="en-US" altLang="zh-CN"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28675" name="Rectangle 3"/>
          <p:cNvSpPr>
            <a:spLocks noGrp="1" noChangeArrowheads="1"/>
          </p:cNvSpPr>
          <p:nvPr>
            <p:ph idx="1"/>
          </p:nvPr>
        </p:nvSpPr>
        <p:spPr>
          <a:xfrm>
            <a:off x="527050" y="1628775"/>
            <a:ext cx="10218738" cy="4351338"/>
          </a:xfrm>
        </p:spPr>
        <p:txBody>
          <a:bodyPr/>
          <a:lstStyle/>
          <a:p>
            <a:pPr eaLnBrk="1" hangingPunct="1">
              <a:spcBef>
                <a:spcPct val="0"/>
              </a:spcBef>
              <a:buFontTx/>
              <a:buNone/>
            </a:pPr>
            <a:r>
              <a:rPr lang="en-US" altLang="zh-CN" sz="2000" b="1" smtClean="0"/>
              <a:t>       void</a:t>
            </a:r>
            <a:r>
              <a:rPr lang="en-US" altLang="zh-CN" sz="2000" smtClean="0"/>
              <a:t> InitList(SqList &amp;L, </a:t>
            </a:r>
            <a:r>
              <a:rPr lang="en-US" altLang="zh-CN" sz="2000" b="1" smtClean="0"/>
              <a:t>int</a:t>
            </a:r>
            <a:r>
              <a:rPr lang="en-US" altLang="zh-CN" sz="2000" smtClean="0"/>
              <a:t> maxsize) </a:t>
            </a:r>
            <a:br>
              <a:rPr lang="en-US" altLang="zh-CN" sz="2000" smtClean="0"/>
            </a:br>
            <a:r>
              <a:rPr lang="zh-CN" altLang="en-US" sz="2000" smtClean="0"/>
              <a:t>　</a:t>
            </a:r>
            <a:r>
              <a:rPr lang="en-US" altLang="zh-CN" sz="2000" b="1" smtClean="0"/>
              <a:t>{</a:t>
            </a:r>
            <a:r>
              <a:rPr lang="en-US" altLang="zh-CN" sz="2000" smtClean="0"/>
              <a:t/>
            </a:r>
            <a:br>
              <a:rPr lang="en-US" altLang="zh-CN" sz="2000" smtClean="0"/>
            </a:br>
            <a:r>
              <a:rPr lang="zh-CN" altLang="en-US" sz="2000" smtClean="0"/>
              <a:t>　　　</a:t>
            </a:r>
            <a:r>
              <a:rPr lang="en-US" altLang="zh-CN" sz="2000" b="1" smtClean="0"/>
              <a:t>// </a:t>
            </a:r>
            <a:r>
              <a:rPr lang="zh-CN" altLang="en-US" sz="2000" b="1" smtClean="0"/>
              <a:t>构造一个空的线性表 </a:t>
            </a:r>
            <a:r>
              <a:rPr lang="en-US" altLang="zh-CN" sz="2000" b="1" smtClean="0"/>
              <a:t>L</a:t>
            </a:r>
            <a:r>
              <a:rPr lang="en-US" altLang="zh-CN" sz="2000" smtClean="0"/>
              <a:t/>
            </a:r>
            <a:br>
              <a:rPr lang="en-US" altLang="zh-CN" sz="2000" smtClean="0"/>
            </a:br>
            <a:r>
              <a:rPr lang="zh-CN" altLang="en-US" sz="2000" smtClean="0"/>
              <a:t>　　　</a:t>
            </a:r>
            <a:r>
              <a:rPr lang="en-US" altLang="zh-CN" sz="2000" b="1" smtClean="0"/>
              <a:t>if</a:t>
            </a:r>
            <a:r>
              <a:rPr lang="en-US" altLang="zh-CN" sz="2000" smtClean="0"/>
              <a:t> ( maxsize == 0 ) </a:t>
            </a:r>
            <a:br>
              <a:rPr lang="en-US" altLang="zh-CN" sz="2000" smtClean="0"/>
            </a:br>
            <a:r>
              <a:rPr lang="zh-CN" altLang="en-US" sz="2000" smtClean="0"/>
              <a:t>　　　　　 </a:t>
            </a:r>
            <a:r>
              <a:rPr lang="en-US" altLang="zh-CN" sz="2000" smtClean="0"/>
              <a:t>maxsize = MAXLISTSIZE; </a:t>
            </a:r>
            <a:br>
              <a:rPr lang="en-US" altLang="zh-CN" sz="2000" smtClean="0"/>
            </a:br>
            <a:r>
              <a:rPr lang="zh-CN" altLang="en-US" sz="2000" smtClean="0"/>
              <a:t>　　　</a:t>
            </a:r>
            <a:r>
              <a:rPr lang="en-US" altLang="zh-CN" sz="2000" smtClean="0">
                <a:solidFill>
                  <a:schemeClr val="accent2"/>
                </a:solidFill>
              </a:rPr>
              <a:t>L.elem = (ElemType*)malloc(</a:t>
            </a:r>
            <a:r>
              <a:rPr lang="en-US" altLang="zh-CN" sz="2000" smtClean="0"/>
              <a:t>maxsize*</a:t>
            </a:r>
            <a:r>
              <a:rPr lang="en-US" altLang="zh-CN" sz="2000" smtClean="0">
                <a:solidFill>
                  <a:schemeClr val="accent2"/>
                </a:solidFill>
              </a:rPr>
              <a:t>sizeof(ElemType));</a:t>
            </a:r>
            <a:r>
              <a:rPr lang="en-US" altLang="zh-CN" sz="2000" smtClean="0"/>
              <a:t> </a:t>
            </a:r>
            <a:r>
              <a:rPr lang="en-US" altLang="zh-CN" sz="2000" smtClean="0">
                <a:latin typeface="Arial" panose="020B0604020202020204" pitchFamily="34" charset="0"/>
              </a:rPr>
              <a:t> </a:t>
            </a:r>
          </a:p>
          <a:p>
            <a:pPr eaLnBrk="1" hangingPunct="1">
              <a:spcBef>
                <a:spcPct val="0"/>
              </a:spcBef>
              <a:buFont typeface="Wingdings" panose="05000000000000000000" pitchFamily="2" charset="2"/>
              <a:buNone/>
            </a:pPr>
            <a:r>
              <a:rPr lang="en-US" altLang="zh-CN" sz="2000" smtClean="0">
                <a:latin typeface="Arial" panose="020B0604020202020204" pitchFamily="34" charset="0"/>
              </a:rPr>
              <a:t>               </a:t>
            </a:r>
            <a:r>
              <a:rPr lang="en-US" altLang="zh-CN" sz="2000" smtClean="0">
                <a:solidFill>
                  <a:schemeClr val="accent2"/>
                </a:solidFill>
              </a:rPr>
              <a:t> ElemType </a:t>
            </a:r>
            <a:r>
              <a:rPr lang="en-US" altLang="zh-CN" sz="2000" smtClean="0">
                <a:latin typeface="Arial" panose="020B0604020202020204" pitchFamily="34" charset="0"/>
              </a:rPr>
              <a:t> </a:t>
            </a:r>
            <a:r>
              <a:rPr lang="en-US" altLang="zh-CN" sz="2000" smtClean="0">
                <a:solidFill>
                  <a:schemeClr val="accent2"/>
                </a:solidFill>
              </a:rPr>
              <a:t> L.elem [];</a:t>
            </a:r>
            <a:r>
              <a:rPr lang="zh-CN" altLang="en-US" sz="2000" smtClean="0"/>
              <a:t>　　　</a:t>
            </a:r>
          </a:p>
          <a:p>
            <a:pPr eaLnBrk="1" hangingPunct="1">
              <a:spcBef>
                <a:spcPct val="0"/>
              </a:spcBef>
              <a:buFontTx/>
              <a:buNone/>
            </a:pPr>
            <a:r>
              <a:rPr lang="zh-CN" altLang="en-US" sz="2000" b="1" smtClean="0"/>
              <a:t>              </a:t>
            </a:r>
            <a:r>
              <a:rPr lang="en-US" altLang="zh-CN" sz="2000" b="1" smtClean="0"/>
              <a:t>if</a:t>
            </a:r>
            <a:r>
              <a:rPr lang="en-US" altLang="zh-CN" sz="2000" smtClean="0"/>
              <a:t> (</a:t>
            </a:r>
            <a:r>
              <a:rPr lang="en-US" altLang="zh-CN" sz="2000" b="1" smtClean="0"/>
              <a:t>!</a:t>
            </a:r>
            <a:r>
              <a:rPr lang="en-US" altLang="zh-CN" sz="2000" smtClean="0"/>
              <a:t>L.elem) </a:t>
            </a:r>
            <a:r>
              <a:rPr lang="zh-CN" altLang="en-US" sz="2000" smtClean="0"/>
              <a:t>　</a:t>
            </a:r>
            <a:r>
              <a:rPr lang="en-US" altLang="zh-CN" sz="2000" b="1" smtClean="0"/>
              <a:t>exit</a:t>
            </a:r>
            <a:r>
              <a:rPr lang="en-US" altLang="zh-CN" sz="2000" smtClean="0"/>
              <a:t>(1);</a:t>
            </a:r>
            <a:r>
              <a:rPr lang="zh-CN" altLang="en-US" sz="2000" smtClean="0"/>
              <a:t>　　　 </a:t>
            </a:r>
            <a:r>
              <a:rPr lang="en-US" altLang="zh-CN" sz="2000" smtClean="0"/>
              <a:t>// </a:t>
            </a:r>
            <a:r>
              <a:rPr lang="zh-CN" altLang="en-US" sz="2000" smtClean="0"/>
              <a:t>存储分配失败</a:t>
            </a:r>
            <a:br>
              <a:rPr lang="zh-CN" altLang="en-US" sz="2000" smtClean="0"/>
            </a:br>
            <a:r>
              <a:rPr lang="zh-CN" altLang="en-US" sz="2000" smtClean="0"/>
              <a:t>　　　</a:t>
            </a:r>
            <a:r>
              <a:rPr lang="en-US" altLang="zh-CN" sz="2000" smtClean="0"/>
              <a:t>L.length = 0;</a:t>
            </a:r>
            <a:r>
              <a:rPr lang="zh-CN" altLang="en-US" sz="2000" smtClean="0"/>
              <a:t>　　　　　　</a:t>
            </a:r>
            <a:r>
              <a:rPr lang="en-US" altLang="zh-CN" sz="2000" smtClean="0"/>
              <a:t>// </a:t>
            </a:r>
            <a:r>
              <a:rPr lang="zh-CN" altLang="en-US" sz="2000" smtClean="0"/>
              <a:t>顺序表的初始长度为</a:t>
            </a:r>
            <a:r>
              <a:rPr lang="en-US" altLang="zh-CN" sz="2000" smtClean="0"/>
              <a:t>0</a:t>
            </a:r>
            <a:br>
              <a:rPr lang="en-US" altLang="zh-CN" sz="2000" smtClean="0"/>
            </a:br>
            <a:r>
              <a:rPr lang="zh-CN" altLang="en-US" sz="2000" smtClean="0"/>
              <a:t>　　　</a:t>
            </a:r>
            <a:r>
              <a:rPr lang="en-US" altLang="zh-CN" sz="2000" smtClean="0"/>
              <a:t>L.listsize = maxsize;</a:t>
            </a:r>
          </a:p>
          <a:p>
            <a:pPr eaLnBrk="1" hangingPunct="1">
              <a:spcBef>
                <a:spcPct val="0"/>
              </a:spcBef>
              <a:buFontTx/>
              <a:buNone/>
            </a:pPr>
            <a:r>
              <a:rPr lang="en-US" altLang="zh-CN" sz="2000" smtClean="0"/>
              <a:t>             // </a:t>
            </a:r>
            <a:r>
              <a:rPr lang="zh-CN" altLang="en-US" sz="2000" smtClean="0"/>
              <a:t>该顺序表可以存储元素的最大容量</a:t>
            </a:r>
            <a:br>
              <a:rPr lang="zh-CN" altLang="en-US" sz="2000" smtClean="0"/>
            </a:br>
            <a:r>
              <a:rPr lang="zh-CN" altLang="en-US" sz="2000" smtClean="0"/>
              <a:t>　</a:t>
            </a:r>
            <a:r>
              <a:rPr lang="en-US" altLang="zh-CN" sz="2000" b="1" smtClean="0"/>
              <a:t>}</a:t>
            </a:r>
            <a:r>
              <a:rPr lang="en-US" altLang="zh-CN" sz="2000" smtClean="0"/>
              <a:t> // InitList</a:t>
            </a:r>
            <a:br>
              <a:rPr lang="en-US" altLang="zh-CN" sz="2000" smtClean="0"/>
            </a:br>
            <a:endParaRPr lang="en-US" altLang="zh-CN" sz="2000" smtClean="0"/>
          </a:p>
          <a:p>
            <a:pPr eaLnBrk="1" hangingPunct="1">
              <a:spcBef>
                <a:spcPct val="0"/>
              </a:spcBef>
              <a:buFontTx/>
              <a:buChar char="•"/>
            </a:pPr>
            <a:r>
              <a:rPr lang="zh-CN" altLang="en-US" sz="2000" smtClean="0"/>
              <a:t>此算法的时间复杂度为</a:t>
            </a:r>
            <a:r>
              <a:rPr lang="en-US" altLang="zh-CN" sz="2000" b="1" i="1" smtClean="0"/>
              <a:t>O</a:t>
            </a:r>
            <a:r>
              <a:rPr lang="en-US" altLang="zh-CN" sz="2000" b="1" smtClean="0"/>
              <a:t> (1)</a:t>
            </a:r>
            <a:r>
              <a:rPr lang="zh-CN" altLang="en-US" sz="2000" smtClean="0"/>
              <a:t>。</a:t>
            </a:r>
          </a:p>
          <a:p>
            <a:pPr eaLnBrk="1" hangingPunct="1"/>
            <a:endParaRPr lang="en-US" altLang="zh-CN" sz="200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675">
                                            <p:txEl>
                                              <p:pRg st="4" end="4"/>
                                            </p:txEl>
                                          </p:spTgt>
                                        </p:tgtEl>
                                        <p:attrNameLst>
                                          <p:attrName>style.visibility</p:attrName>
                                        </p:attrNameLst>
                                      </p:cBhvr>
                                      <p:to>
                                        <p:strVal val="visible"/>
                                      </p:to>
                                    </p:set>
                                    <p:anim calcmode="lin" valueType="num">
                                      <p:cBhvr additive="base">
                                        <p:cTn id="7" dur="500" fill="hold"/>
                                        <p:tgtEl>
                                          <p:spTgt spid="2867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29699" name="Rectangle 3"/>
          <p:cNvSpPr>
            <a:spLocks noGrp="1" noChangeArrowheads="1"/>
          </p:cNvSpPr>
          <p:nvPr>
            <p:ph idx="1"/>
          </p:nvPr>
        </p:nvSpPr>
        <p:spPr>
          <a:xfrm>
            <a:off x="527050" y="1628775"/>
            <a:ext cx="10218738" cy="4351338"/>
          </a:xfrm>
        </p:spPr>
        <p:txBody>
          <a:bodyPr/>
          <a:lstStyle/>
          <a:p>
            <a:pPr eaLnBrk="1" hangingPunct="1"/>
            <a:r>
              <a:rPr lang="zh-CN" altLang="en-US" smtClean="0"/>
              <a:t>元素定位操作</a:t>
            </a:r>
          </a:p>
          <a:p>
            <a:pPr lvl="1" eaLnBrk="1" hangingPunct="1"/>
            <a:r>
              <a:rPr lang="zh-CN" altLang="en-US" smtClean="0"/>
              <a:t>在顺序表中</a:t>
            </a:r>
            <a:r>
              <a:rPr lang="zh-CN" altLang="en-US" smtClean="0">
                <a:latin typeface="Arial" panose="020B0604020202020204" pitchFamily="34" charset="0"/>
              </a:rPr>
              <a:t>“</a:t>
            </a:r>
            <a:r>
              <a:rPr lang="zh-CN" altLang="en-US" smtClean="0"/>
              <a:t>查询</a:t>
            </a:r>
            <a:r>
              <a:rPr lang="zh-CN" altLang="en-US" smtClean="0">
                <a:latin typeface="Arial" panose="020B0604020202020204" pitchFamily="34" charset="0"/>
              </a:rPr>
              <a:t>”</a:t>
            </a:r>
            <a:r>
              <a:rPr lang="zh-CN" altLang="en-US" smtClean="0"/>
              <a:t>是否存在一个和给定值满足判定条件的元素的最简单的办法是，</a:t>
            </a:r>
            <a:r>
              <a:rPr lang="zh-CN" altLang="en-US" b="1" smtClean="0">
                <a:solidFill>
                  <a:schemeClr val="accent2"/>
                </a:solidFill>
              </a:rPr>
              <a:t>依次取出结构中的每个元素和给定值进行比较</a:t>
            </a:r>
            <a:r>
              <a:rPr lang="zh-CN" altLang="en-US" smtClean="0"/>
              <a:t>。</a:t>
            </a:r>
          </a:p>
          <a:p>
            <a:pPr lvl="1" eaLnBrk="1" hangingPunct="1">
              <a:buFont typeface="Wingdings" panose="05000000000000000000" pitchFamily="2" charset="2"/>
              <a:buNone/>
            </a:pPr>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blinds(horizontal)">
                                      <p:cBhvr>
                                        <p:cTn id="7" dur="500"/>
                                        <p:tgtEl>
                                          <p:spTgt spid="296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49155" name="Rectangle 3"/>
          <p:cNvSpPr>
            <a:spLocks noGrp="1" noChangeArrowheads="1"/>
          </p:cNvSpPr>
          <p:nvPr>
            <p:ph idx="1"/>
          </p:nvPr>
        </p:nvSpPr>
        <p:spPr>
          <a:xfrm>
            <a:off x="527050" y="1628775"/>
            <a:ext cx="10218738" cy="4351338"/>
          </a:xfrm>
        </p:spPr>
        <p:txBody>
          <a:bodyPr rtlCol="0">
            <a:normAutofit/>
          </a:bodyPr>
          <a:lstStyle/>
          <a:p>
            <a:pPr marL="0" indent="0" eaLnBrk="1" fontAlgn="auto" hangingPunct="1">
              <a:spcAft>
                <a:spcPts val="0"/>
              </a:spcAft>
              <a:buFont typeface="Wingdings" panose="05000000000000000000" pitchFamily="2" charset="2"/>
              <a:buNone/>
              <a:defRPr/>
            </a:pPr>
            <a:r>
              <a:rPr lang="en-US" altLang="zh-CN" sz="2000" b="1" dirty="0" smtClean="0"/>
              <a:t>    </a:t>
            </a:r>
            <a:r>
              <a:rPr lang="en-US" altLang="zh-CN" sz="2000" b="1" dirty="0" err="1" smtClean="0"/>
              <a:t>int</a:t>
            </a:r>
            <a:r>
              <a:rPr lang="en-US" altLang="zh-CN" sz="2000" dirty="0" smtClean="0"/>
              <a:t> </a:t>
            </a:r>
            <a:r>
              <a:rPr lang="en-US" altLang="zh-CN" sz="2000" dirty="0" err="1"/>
              <a:t>LocateElem</a:t>
            </a:r>
            <a:r>
              <a:rPr lang="en-US" altLang="zh-CN" sz="2000" dirty="0"/>
              <a:t>(</a:t>
            </a:r>
            <a:r>
              <a:rPr lang="en-US" altLang="zh-CN" sz="2000" dirty="0" err="1"/>
              <a:t>SqList</a:t>
            </a:r>
            <a:r>
              <a:rPr lang="en-US" altLang="zh-CN" sz="2000" dirty="0"/>
              <a:t> L, </a:t>
            </a:r>
            <a:r>
              <a:rPr lang="en-US" altLang="zh-CN" sz="2000" dirty="0" err="1"/>
              <a:t>ElemType</a:t>
            </a:r>
            <a:r>
              <a:rPr lang="en-US" altLang="zh-CN" sz="2000" dirty="0"/>
              <a:t> e)</a:t>
            </a:r>
            <a:br>
              <a:rPr lang="en-US" altLang="zh-CN" sz="2000" dirty="0"/>
            </a:br>
            <a:r>
              <a:rPr lang="zh-CN" altLang="en-US" sz="2000" b="1" dirty="0"/>
              <a:t>　</a:t>
            </a:r>
            <a:r>
              <a:rPr lang="en-US" altLang="zh-CN" sz="2000" b="1" dirty="0"/>
              <a:t>{</a:t>
            </a:r>
          </a:p>
          <a:p>
            <a:pPr eaLnBrk="1" fontAlgn="auto" hangingPunct="1">
              <a:spcAft>
                <a:spcPts val="0"/>
              </a:spcAft>
              <a:buFont typeface="Wingdings" panose="05000000000000000000" pitchFamily="2" charset="2"/>
              <a:buNone/>
              <a:defRPr/>
            </a:pPr>
            <a:r>
              <a:rPr lang="en-US" altLang="zh-CN" sz="2000" b="1" dirty="0"/>
              <a:t>// </a:t>
            </a:r>
            <a:r>
              <a:rPr lang="zh-CN" altLang="en-US" sz="2000" b="1" dirty="0"/>
              <a:t>在顺序表</a:t>
            </a:r>
            <a:r>
              <a:rPr lang="en-US" altLang="zh-CN" sz="2000" b="1" dirty="0"/>
              <a:t>L</a:t>
            </a:r>
            <a:r>
              <a:rPr lang="zh-CN" altLang="en-US" sz="2000" b="1" dirty="0"/>
              <a:t>中查找第</a:t>
            </a:r>
            <a:r>
              <a:rPr lang="en-US" altLang="zh-CN" sz="2000" b="1" dirty="0"/>
              <a:t>1</a:t>
            </a:r>
            <a:r>
              <a:rPr lang="zh-CN" altLang="en-US" sz="2000" b="1" dirty="0"/>
              <a:t>个值与 </a:t>
            </a:r>
            <a:r>
              <a:rPr lang="en-US" altLang="zh-CN" sz="2000" b="1" dirty="0"/>
              <a:t>e </a:t>
            </a:r>
            <a:r>
              <a:rPr lang="zh-CN" altLang="en-US" sz="2000" b="1" dirty="0"/>
              <a:t>满足相等条件的元素</a:t>
            </a:r>
          </a:p>
          <a:p>
            <a:pPr eaLnBrk="1" fontAlgn="auto" hangingPunct="1">
              <a:spcAft>
                <a:spcPts val="0"/>
              </a:spcAft>
              <a:buFont typeface="Wingdings" panose="05000000000000000000" pitchFamily="2" charset="2"/>
              <a:buNone/>
              <a:defRPr/>
            </a:pPr>
            <a:r>
              <a:rPr lang="en-US" altLang="zh-CN" sz="2000" b="1" dirty="0"/>
              <a:t>// </a:t>
            </a:r>
            <a:r>
              <a:rPr lang="zh-CN" altLang="en-US" sz="2000" b="1" dirty="0"/>
              <a:t>若找到，则返回其在 </a:t>
            </a:r>
            <a:r>
              <a:rPr lang="en-US" altLang="zh-CN" sz="2000" b="1" dirty="0"/>
              <a:t>L </a:t>
            </a:r>
            <a:r>
              <a:rPr lang="zh-CN" altLang="en-US" sz="2000" b="1" dirty="0"/>
              <a:t>中的位序，否则返回</a:t>
            </a:r>
            <a:r>
              <a:rPr lang="en-US" altLang="zh-CN" sz="2000" b="1" dirty="0"/>
              <a:t>0</a:t>
            </a:r>
            <a:r>
              <a:rPr lang="zh-CN" altLang="en-US" sz="2000" b="1" dirty="0"/>
              <a:t>。</a:t>
            </a:r>
            <a:r>
              <a:rPr lang="zh-CN" altLang="en-US" sz="2000" dirty="0"/>
              <a:t/>
            </a:r>
            <a:br>
              <a:rPr lang="zh-CN" altLang="en-US" sz="2000" dirty="0"/>
            </a:br>
            <a:r>
              <a:rPr lang="zh-CN" altLang="en-US" sz="2000" dirty="0"/>
              <a:t>　　</a:t>
            </a:r>
            <a:r>
              <a:rPr lang="en-US" altLang="zh-CN" sz="2000" dirty="0" err="1"/>
              <a:t>i</a:t>
            </a:r>
            <a:r>
              <a:rPr lang="en-US" altLang="zh-CN" sz="2000" dirty="0"/>
              <a:t> = 1;</a:t>
            </a:r>
            <a:r>
              <a:rPr lang="zh-CN" altLang="en-US" sz="2000" dirty="0"/>
              <a:t>　　　　　　　　　</a:t>
            </a:r>
            <a:r>
              <a:rPr lang="en-US" altLang="zh-CN" sz="2000" dirty="0"/>
              <a:t>// </a:t>
            </a:r>
            <a:r>
              <a:rPr lang="en-US" altLang="zh-CN" sz="2000" dirty="0" err="1"/>
              <a:t>i</a:t>
            </a:r>
            <a:r>
              <a:rPr lang="en-US" altLang="zh-CN" sz="2000" dirty="0"/>
              <a:t> </a:t>
            </a:r>
            <a:r>
              <a:rPr lang="zh-CN" altLang="en-US" sz="2000" dirty="0"/>
              <a:t>的初值为第</a:t>
            </a:r>
            <a:r>
              <a:rPr lang="en-US" altLang="zh-CN" sz="2000" dirty="0"/>
              <a:t>1</a:t>
            </a:r>
            <a:r>
              <a:rPr lang="zh-CN" altLang="en-US" sz="2000" dirty="0"/>
              <a:t>元素的位序</a:t>
            </a:r>
            <a:br>
              <a:rPr lang="zh-CN" altLang="en-US" sz="2000" dirty="0"/>
            </a:br>
            <a:r>
              <a:rPr lang="zh-CN" altLang="en-US" sz="2000" dirty="0"/>
              <a:t>　　</a:t>
            </a:r>
            <a:r>
              <a:rPr lang="en-US" altLang="zh-CN" sz="2000" dirty="0"/>
              <a:t>p = </a:t>
            </a:r>
            <a:r>
              <a:rPr lang="en-US" altLang="zh-CN" sz="2000" dirty="0" err="1"/>
              <a:t>L.elem</a:t>
            </a:r>
            <a:r>
              <a:rPr lang="en-US" altLang="zh-CN" sz="2000" dirty="0"/>
              <a:t>; </a:t>
            </a:r>
            <a:r>
              <a:rPr lang="zh-CN" altLang="en-US" sz="2000" dirty="0"/>
              <a:t>　　　　　　</a:t>
            </a:r>
            <a:r>
              <a:rPr lang="en-US" altLang="zh-CN" sz="2000" dirty="0"/>
              <a:t>// p </a:t>
            </a:r>
            <a:r>
              <a:rPr lang="zh-CN" altLang="en-US" sz="2000" dirty="0"/>
              <a:t>的初值为第</a:t>
            </a:r>
            <a:r>
              <a:rPr lang="en-US" altLang="zh-CN" sz="2000" dirty="0"/>
              <a:t>1</a:t>
            </a:r>
            <a:r>
              <a:rPr lang="zh-CN" altLang="en-US" sz="2000" dirty="0"/>
              <a:t>元素的存储位置</a:t>
            </a:r>
            <a:br>
              <a:rPr lang="zh-CN" altLang="en-US" sz="2000" dirty="0"/>
            </a:br>
            <a:r>
              <a:rPr lang="zh-CN" altLang="en-US" sz="2000" dirty="0"/>
              <a:t>　　</a:t>
            </a:r>
            <a:r>
              <a:rPr lang="en-US" altLang="zh-CN" sz="2000" b="1" dirty="0"/>
              <a:t>while</a:t>
            </a:r>
            <a:r>
              <a:rPr lang="en-US" altLang="zh-CN" sz="2000" dirty="0"/>
              <a:t> (</a:t>
            </a:r>
            <a:r>
              <a:rPr lang="en-US" altLang="zh-CN" sz="2000" dirty="0" err="1"/>
              <a:t>i</a:t>
            </a:r>
            <a:r>
              <a:rPr lang="en-US" altLang="zh-CN" sz="2000" dirty="0"/>
              <a:t> &lt;= </a:t>
            </a:r>
            <a:r>
              <a:rPr lang="en-US" altLang="zh-CN" sz="2000" dirty="0" err="1"/>
              <a:t>L.length</a:t>
            </a:r>
            <a:r>
              <a:rPr lang="en-US" altLang="zh-CN" sz="2000" dirty="0"/>
              <a:t> </a:t>
            </a:r>
            <a:r>
              <a:rPr lang="en-US" altLang="zh-CN" sz="2000" b="1" dirty="0"/>
              <a:t>&amp;&amp; !equal</a:t>
            </a:r>
            <a:r>
              <a:rPr lang="en-US" altLang="zh-CN" sz="2000" dirty="0"/>
              <a:t>(*p++,e))</a:t>
            </a:r>
            <a:br>
              <a:rPr lang="en-US" altLang="zh-CN" sz="2000" dirty="0"/>
            </a:br>
            <a:r>
              <a:rPr lang="zh-CN" altLang="en-US" sz="2000" dirty="0"/>
              <a:t>　　　</a:t>
            </a:r>
            <a:r>
              <a:rPr lang="en-US" altLang="zh-CN" sz="2000" dirty="0"/>
              <a:t>++</a:t>
            </a:r>
            <a:r>
              <a:rPr lang="en-US" altLang="zh-CN" sz="2000" dirty="0" err="1"/>
              <a:t>i</a:t>
            </a:r>
            <a:r>
              <a:rPr lang="en-US" altLang="zh-CN" sz="2000" dirty="0"/>
              <a:t>;</a:t>
            </a:r>
            <a:r>
              <a:rPr lang="zh-CN" altLang="en-US" sz="2000" dirty="0"/>
              <a:t>　 　　　　　　　</a:t>
            </a:r>
            <a:r>
              <a:rPr lang="en-US" altLang="zh-CN" sz="2000" dirty="0"/>
              <a:t>// </a:t>
            </a:r>
            <a:r>
              <a:rPr lang="zh-CN" altLang="en-US" sz="2000" dirty="0"/>
              <a:t>依次进行判定</a:t>
            </a:r>
            <a:br>
              <a:rPr lang="zh-CN" altLang="en-US" sz="2000" dirty="0"/>
            </a:br>
            <a:r>
              <a:rPr lang="zh-CN" altLang="en-US" sz="2000" dirty="0"/>
              <a:t>　　</a:t>
            </a:r>
            <a:r>
              <a:rPr lang="en-US" altLang="zh-CN" sz="2000" b="1" dirty="0"/>
              <a:t>if</a:t>
            </a:r>
            <a:r>
              <a:rPr lang="en-US" altLang="zh-CN" sz="2000" dirty="0"/>
              <a:t> (</a:t>
            </a:r>
            <a:r>
              <a:rPr lang="en-US" altLang="zh-CN" sz="2000" dirty="0" err="1"/>
              <a:t>i</a:t>
            </a:r>
            <a:r>
              <a:rPr lang="en-US" altLang="zh-CN" sz="2000" dirty="0"/>
              <a:t> &lt;= </a:t>
            </a:r>
            <a:r>
              <a:rPr lang="en-US" altLang="zh-CN" sz="2000" dirty="0" err="1"/>
              <a:t>L.length</a:t>
            </a:r>
            <a:r>
              <a:rPr lang="en-US" altLang="zh-CN" sz="2000" dirty="0"/>
              <a:t>) </a:t>
            </a:r>
            <a:r>
              <a:rPr lang="en-US" altLang="zh-CN" sz="2000" b="1" dirty="0"/>
              <a:t>return</a:t>
            </a:r>
            <a:r>
              <a:rPr lang="en-US" altLang="zh-CN" sz="2000" dirty="0"/>
              <a:t> </a:t>
            </a:r>
            <a:r>
              <a:rPr lang="en-US" altLang="zh-CN" sz="2000" dirty="0" err="1"/>
              <a:t>i</a:t>
            </a:r>
            <a:r>
              <a:rPr lang="en-US" altLang="zh-CN" sz="2000" dirty="0"/>
              <a:t>; </a:t>
            </a:r>
            <a:br>
              <a:rPr lang="en-US" altLang="zh-CN" sz="2000" dirty="0"/>
            </a:br>
            <a:r>
              <a:rPr lang="zh-CN" altLang="en-US" sz="2000" dirty="0"/>
              <a:t>　　</a:t>
            </a:r>
            <a:r>
              <a:rPr lang="en-US" altLang="zh-CN" sz="2000" dirty="0"/>
              <a:t>// </a:t>
            </a:r>
            <a:r>
              <a:rPr lang="zh-CN" altLang="en-US" sz="2000" dirty="0"/>
              <a:t>找到满足判定条件的数据元素为第 </a:t>
            </a:r>
            <a:r>
              <a:rPr lang="en-US" altLang="zh-CN" sz="2000" dirty="0" err="1"/>
              <a:t>i</a:t>
            </a:r>
            <a:r>
              <a:rPr lang="en-US" altLang="zh-CN" sz="2000" dirty="0"/>
              <a:t> </a:t>
            </a:r>
            <a:r>
              <a:rPr lang="zh-CN" altLang="en-US" sz="2000" dirty="0"/>
              <a:t>个元素</a:t>
            </a:r>
            <a:br>
              <a:rPr lang="zh-CN" altLang="en-US" sz="2000" dirty="0"/>
            </a:br>
            <a:r>
              <a:rPr lang="zh-CN" altLang="en-US" sz="2000" b="1" dirty="0"/>
              <a:t>　　</a:t>
            </a:r>
            <a:r>
              <a:rPr lang="en-US" altLang="zh-CN" sz="2000" b="1" dirty="0"/>
              <a:t>else</a:t>
            </a:r>
            <a:r>
              <a:rPr lang="en-US" altLang="zh-CN" sz="2000" dirty="0"/>
              <a:t> </a:t>
            </a:r>
            <a:r>
              <a:rPr lang="en-US" altLang="zh-CN" sz="2000" b="1" dirty="0"/>
              <a:t>return</a:t>
            </a:r>
            <a:r>
              <a:rPr lang="en-US" altLang="zh-CN" sz="2000" dirty="0"/>
              <a:t> 0;</a:t>
            </a:r>
            <a:r>
              <a:rPr lang="zh-CN" altLang="en-US" sz="2000" dirty="0"/>
              <a:t>　</a:t>
            </a:r>
            <a:r>
              <a:rPr lang="en-US" altLang="zh-CN" sz="2000" dirty="0"/>
              <a:t>// </a:t>
            </a:r>
            <a:r>
              <a:rPr lang="zh-CN" altLang="en-US" sz="2000" dirty="0"/>
              <a:t>该线性表中不存在满足判定的数据元素</a:t>
            </a:r>
            <a:br>
              <a:rPr lang="zh-CN" altLang="en-US" sz="2000" dirty="0"/>
            </a:br>
            <a:r>
              <a:rPr lang="en-US" altLang="zh-CN" sz="2000" b="1" dirty="0" smtClean="0"/>
              <a:t>}</a:t>
            </a:r>
            <a:r>
              <a:rPr lang="en-US" altLang="zh-CN" sz="2000" dirty="0" smtClean="0"/>
              <a:t> </a:t>
            </a:r>
            <a:r>
              <a:rPr lang="en-US" altLang="zh-CN" sz="2000" dirty="0"/>
              <a:t>// </a:t>
            </a:r>
            <a:r>
              <a:rPr lang="en-US" altLang="zh-CN" sz="2000" dirty="0" err="1"/>
              <a:t>LocateElem</a:t>
            </a:r>
            <a:r>
              <a:rPr lang="en-US" altLang="zh-CN" sz="2000" dirty="0"/>
              <a:t> </a:t>
            </a:r>
            <a:br>
              <a:rPr lang="en-US" altLang="zh-CN" sz="2000" dirty="0"/>
            </a:br>
            <a:endParaRPr lang="en-US" altLang="zh-CN" sz="20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31747" name="Rectangle 3"/>
          <p:cNvSpPr>
            <a:spLocks noGrp="1" noChangeArrowheads="1"/>
          </p:cNvSpPr>
          <p:nvPr>
            <p:ph idx="1"/>
          </p:nvPr>
        </p:nvSpPr>
        <p:spPr>
          <a:xfrm>
            <a:off x="527050" y="1628775"/>
            <a:ext cx="10218738" cy="4351338"/>
          </a:xfrm>
        </p:spPr>
        <p:txBody>
          <a:bodyPr/>
          <a:lstStyle/>
          <a:p>
            <a:pPr eaLnBrk="1" hangingPunct="1"/>
            <a:r>
              <a:rPr lang="zh-CN" altLang="en-US" smtClean="0"/>
              <a:t>插入元素操作</a:t>
            </a:r>
          </a:p>
          <a:p>
            <a:pPr lvl="1" eaLnBrk="1" hangingPunct="1"/>
            <a:r>
              <a:rPr lang="zh-CN" altLang="en-US" smtClean="0">
                <a:latin typeface="Arial" panose="020B0604020202020204" pitchFamily="34" charset="0"/>
              </a:rPr>
              <a:t>“</a:t>
            </a:r>
            <a:r>
              <a:rPr lang="zh-CN" altLang="en-US" smtClean="0"/>
              <a:t>插入元素</a:t>
            </a:r>
            <a:r>
              <a:rPr lang="zh-CN" altLang="en-US" smtClean="0">
                <a:latin typeface="Arial" panose="020B0604020202020204" pitchFamily="34" charset="0"/>
              </a:rPr>
              <a:t>”</a:t>
            </a:r>
            <a:r>
              <a:rPr lang="zh-CN" altLang="en-US" smtClean="0"/>
              <a:t>使线性表的逻辑结构发生什么变化？</a:t>
            </a:r>
          </a:p>
          <a:p>
            <a:pPr lvl="1" eaLnBrk="1" hangingPunct="1"/>
            <a:r>
              <a:rPr lang="zh-CN" altLang="en-US" smtClean="0"/>
              <a:t>假设在线性表的第</a:t>
            </a:r>
            <a:r>
              <a:rPr lang="en-US" altLang="zh-CN" smtClean="0"/>
              <a:t>i</a:t>
            </a:r>
            <a:r>
              <a:rPr lang="zh-CN" altLang="en-US" smtClean="0"/>
              <a:t>个元素之前插入一个元素</a:t>
            </a:r>
            <a:r>
              <a:rPr lang="en-US" altLang="zh-CN" smtClean="0"/>
              <a:t>e</a:t>
            </a:r>
            <a:r>
              <a:rPr lang="zh-CN" altLang="en-US" smtClean="0"/>
              <a:t>，使得线性表</a:t>
            </a:r>
            <a:r>
              <a:rPr lang="en-US" altLang="zh-CN" smtClean="0"/>
              <a:t>( a</a:t>
            </a:r>
            <a:r>
              <a:rPr lang="en-US" altLang="zh-CN" baseline="-25000" smtClean="0"/>
              <a:t>1</a:t>
            </a:r>
            <a:r>
              <a:rPr lang="en-US" altLang="zh-CN" smtClean="0"/>
              <a:t>, </a:t>
            </a:r>
            <a:r>
              <a:rPr lang="en-US" altLang="zh-CN" smtClean="0">
                <a:latin typeface="Arial" panose="020B0604020202020204" pitchFamily="34" charset="0"/>
              </a:rPr>
              <a:t>…</a:t>
            </a:r>
            <a:r>
              <a:rPr lang="en-US" altLang="zh-CN" smtClean="0"/>
              <a:t>, a</a:t>
            </a:r>
            <a:r>
              <a:rPr lang="en-US" altLang="zh-CN" baseline="-25000" smtClean="0"/>
              <a:t>i-1</a:t>
            </a:r>
            <a:r>
              <a:rPr lang="en-US" altLang="zh-CN" smtClean="0"/>
              <a:t> , a</a:t>
            </a:r>
            <a:r>
              <a:rPr lang="en-US" altLang="zh-CN" baseline="-25000" smtClean="0"/>
              <a:t>i</a:t>
            </a:r>
            <a:r>
              <a:rPr lang="en-US" altLang="zh-CN" smtClean="0"/>
              <a:t> , </a:t>
            </a:r>
            <a:r>
              <a:rPr lang="en-US" altLang="zh-CN" smtClean="0">
                <a:latin typeface="Arial" panose="020B0604020202020204" pitchFamily="34" charset="0"/>
              </a:rPr>
              <a:t>…</a:t>
            </a:r>
            <a:r>
              <a:rPr lang="en-US" altLang="zh-CN" smtClean="0"/>
              <a:t>, a</a:t>
            </a:r>
            <a:r>
              <a:rPr lang="en-US" altLang="zh-CN" baseline="-25000" smtClean="0"/>
              <a:t>n</a:t>
            </a:r>
            <a:r>
              <a:rPr lang="en-US" altLang="zh-CN" smtClean="0"/>
              <a:t> ) </a:t>
            </a:r>
            <a:r>
              <a:rPr lang="zh-CN" altLang="en-US" smtClean="0"/>
              <a:t>改变为                       </a:t>
            </a:r>
            <a:r>
              <a:rPr lang="en-US" altLang="zh-CN" smtClean="0"/>
              <a:t>(a</a:t>
            </a:r>
            <a:r>
              <a:rPr lang="en-US" altLang="zh-CN" baseline="-25000" smtClean="0"/>
              <a:t>1</a:t>
            </a:r>
            <a:r>
              <a:rPr lang="en-US" altLang="zh-CN" smtClean="0"/>
              <a:t>, </a:t>
            </a:r>
            <a:r>
              <a:rPr lang="en-US" altLang="zh-CN" smtClean="0">
                <a:latin typeface="Arial" panose="020B0604020202020204" pitchFamily="34" charset="0"/>
              </a:rPr>
              <a:t>…</a:t>
            </a:r>
            <a:r>
              <a:rPr lang="en-US" altLang="zh-CN" smtClean="0"/>
              <a:t>, a</a:t>
            </a:r>
            <a:r>
              <a:rPr lang="en-US" altLang="zh-CN" baseline="-25000" smtClean="0"/>
              <a:t>i-1</a:t>
            </a:r>
            <a:r>
              <a:rPr lang="en-US" altLang="zh-CN" smtClean="0"/>
              <a:t> , e, a</a:t>
            </a:r>
            <a:r>
              <a:rPr lang="en-US" altLang="zh-CN" baseline="-25000" smtClean="0"/>
              <a:t>i</a:t>
            </a:r>
            <a:r>
              <a:rPr lang="en-US" altLang="zh-CN" smtClean="0"/>
              <a:t> , </a:t>
            </a:r>
            <a:r>
              <a:rPr lang="en-US" altLang="zh-CN" smtClean="0">
                <a:latin typeface="Arial" panose="020B0604020202020204" pitchFamily="34" charset="0"/>
              </a:rPr>
              <a:t>…</a:t>
            </a:r>
            <a:r>
              <a:rPr lang="en-US" altLang="zh-CN" smtClean="0"/>
              <a:t>,  )</a:t>
            </a:r>
          </a:p>
          <a:p>
            <a:pPr lvl="2" eaLnBrk="1" hangingPunct="1"/>
            <a:r>
              <a:rPr lang="en-US" altLang="zh-CN" smtClean="0"/>
              <a:t>(1) </a:t>
            </a:r>
            <a:r>
              <a:rPr lang="zh-CN" altLang="en-US" smtClean="0"/>
              <a:t>改变了表中元素之间的关系</a:t>
            </a:r>
            <a:r>
              <a:rPr lang="en-US" altLang="zh-CN" smtClean="0"/>
              <a:t>,</a:t>
            </a:r>
            <a:r>
              <a:rPr lang="zh-CN" altLang="en-US" smtClean="0"/>
              <a:t>使</a:t>
            </a:r>
            <a:r>
              <a:rPr lang="en-US" altLang="zh-CN" smtClean="0"/>
              <a:t>&lt; a</a:t>
            </a:r>
            <a:r>
              <a:rPr lang="en-US" altLang="zh-CN" baseline="-25000" smtClean="0"/>
              <a:t>i-1</a:t>
            </a:r>
            <a:r>
              <a:rPr lang="en-US" altLang="zh-CN" smtClean="0"/>
              <a:t> , a</a:t>
            </a:r>
            <a:r>
              <a:rPr lang="en-US" altLang="zh-CN" baseline="-25000" smtClean="0"/>
              <a:t>i</a:t>
            </a:r>
            <a:r>
              <a:rPr lang="en-US" altLang="zh-CN" smtClean="0"/>
              <a:t> &gt; </a:t>
            </a:r>
            <a:r>
              <a:rPr lang="zh-CN" altLang="en-US" smtClean="0"/>
              <a:t>改变为</a:t>
            </a:r>
            <a:r>
              <a:rPr lang="en-US" altLang="zh-CN" smtClean="0"/>
              <a:t>&lt; a</a:t>
            </a:r>
            <a:r>
              <a:rPr lang="en-US" altLang="zh-CN" baseline="-25000" smtClean="0"/>
              <a:t>i-1</a:t>
            </a:r>
            <a:r>
              <a:rPr lang="en-US" altLang="zh-CN" smtClean="0"/>
              <a:t> ,e&gt;</a:t>
            </a:r>
            <a:r>
              <a:rPr lang="zh-CN" altLang="en-US" smtClean="0"/>
              <a:t>和</a:t>
            </a:r>
            <a:r>
              <a:rPr lang="en-US" altLang="zh-CN" smtClean="0"/>
              <a:t>&lt;e, a</a:t>
            </a:r>
            <a:r>
              <a:rPr lang="en-US" altLang="zh-CN" baseline="-25000" smtClean="0"/>
              <a:t>i</a:t>
            </a:r>
            <a:r>
              <a:rPr lang="en-US" altLang="zh-CN" smtClean="0"/>
              <a:t> &gt;</a:t>
            </a:r>
            <a:r>
              <a:rPr lang="en-US" altLang="zh-CN" smtClean="0">
                <a:latin typeface="Arial" panose="020B0604020202020204" pitchFamily="34" charset="0"/>
              </a:rPr>
              <a:t> </a:t>
            </a:r>
            <a:endParaRPr lang="en-US" altLang="zh-CN" smtClean="0"/>
          </a:p>
          <a:p>
            <a:pPr lvl="2" eaLnBrk="1" hangingPunct="1"/>
            <a:r>
              <a:rPr lang="en-US" altLang="zh-CN" smtClean="0"/>
              <a:t>(2) </a:t>
            </a:r>
            <a:r>
              <a:rPr lang="zh-CN" altLang="en-US" smtClean="0"/>
              <a:t>表长增</a:t>
            </a:r>
            <a:r>
              <a:rPr lang="en-US" altLang="zh-CN" smtClean="0"/>
              <a:t>1.</a:t>
            </a:r>
            <a:br>
              <a:rPr lang="en-US" altLang="zh-CN" smtClean="0"/>
            </a:br>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7" dur="500"/>
                                        <p:tgtEl>
                                          <p:spTgt spid="3174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1747">
                                            <p:txEl>
                                              <p:pRg st="3" end="3"/>
                                            </p:txEl>
                                          </p:spTgt>
                                        </p:tgtEl>
                                        <p:attrNameLst>
                                          <p:attrName>style.visibility</p:attrName>
                                        </p:attrNameLst>
                                      </p:cBhvr>
                                      <p:to>
                                        <p:strVal val="visible"/>
                                      </p:to>
                                    </p:set>
                                    <p:animEffect transition="in" filter="box(in)">
                                      <p:cBhvr>
                                        <p:cTn id="12" dur="500"/>
                                        <p:tgtEl>
                                          <p:spTgt spid="31747">
                                            <p:txEl>
                                              <p:pRg st="3" end="3"/>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1747">
                                            <p:txEl>
                                              <p:pRg st="4" end="4"/>
                                            </p:txEl>
                                          </p:spTgt>
                                        </p:tgtEl>
                                        <p:attrNameLst>
                                          <p:attrName>style.visibility</p:attrName>
                                        </p:attrNameLst>
                                      </p:cBhvr>
                                      <p:to>
                                        <p:strVal val="visible"/>
                                      </p:to>
                                    </p:set>
                                    <p:animEffect transition="in" filter="box(in)">
                                      <p:cBhvr>
                                        <p:cTn id="15" dur="500"/>
                                        <p:tgtEl>
                                          <p:spTgt spid="31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32771" name="Rectangle 3"/>
          <p:cNvSpPr>
            <a:spLocks noGrp="1" noChangeArrowheads="1"/>
          </p:cNvSpPr>
          <p:nvPr>
            <p:ph idx="1"/>
          </p:nvPr>
        </p:nvSpPr>
        <p:spPr>
          <a:xfrm>
            <a:off x="527050" y="1628775"/>
            <a:ext cx="10218738" cy="4351338"/>
          </a:xfrm>
        </p:spPr>
        <p:txBody>
          <a:bodyPr rtlCol="0">
            <a:normAutofit fontScale="92500" lnSpcReduction="10000"/>
          </a:bodyPr>
          <a:lstStyle/>
          <a:p>
            <a:pPr marL="0" indent="0" eaLnBrk="1" fontAlgn="auto" hangingPunct="1">
              <a:lnSpc>
                <a:spcPct val="80000"/>
              </a:lnSpc>
              <a:spcAft>
                <a:spcPts val="0"/>
              </a:spcAft>
              <a:buFont typeface="Wingdings" panose="05000000000000000000" pitchFamily="2" charset="2"/>
              <a:buNone/>
              <a:defRPr/>
            </a:pPr>
            <a:r>
              <a:rPr lang="en-US" altLang="zh-CN" sz="2000" b="1" dirty="0" smtClean="0"/>
              <a:t>    bool</a:t>
            </a:r>
            <a:r>
              <a:rPr lang="en-US" altLang="zh-CN" sz="2000" dirty="0" smtClean="0"/>
              <a:t> </a:t>
            </a:r>
            <a:r>
              <a:rPr lang="en-US" altLang="zh-CN" sz="2000" dirty="0" err="1"/>
              <a:t>ListInsert</a:t>
            </a:r>
            <a:r>
              <a:rPr lang="en-US" altLang="zh-CN" sz="2000" dirty="0"/>
              <a:t>(</a:t>
            </a:r>
            <a:r>
              <a:rPr lang="en-US" altLang="zh-CN" sz="2000" dirty="0" err="1"/>
              <a:t>SqList</a:t>
            </a:r>
            <a:r>
              <a:rPr lang="en-US" altLang="zh-CN" sz="2000" dirty="0"/>
              <a:t> </a:t>
            </a:r>
            <a:r>
              <a:rPr lang="en-US" altLang="zh-CN" sz="2000" b="1" dirty="0"/>
              <a:t>&amp;</a:t>
            </a:r>
            <a:r>
              <a:rPr lang="en-US" altLang="zh-CN" sz="2000" dirty="0"/>
              <a:t>L, </a:t>
            </a:r>
            <a:r>
              <a:rPr lang="en-US" altLang="zh-CN" sz="2000" b="1" dirty="0" err="1"/>
              <a:t>int</a:t>
            </a:r>
            <a:r>
              <a:rPr lang="en-US" altLang="zh-CN" sz="2000" dirty="0"/>
              <a:t> </a:t>
            </a:r>
            <a:r>
              <a:rPr lang="en-US" altLang="zh-CN" sz="2000" dirty="0" err="1"/>
              <a:t>pos</a:t>
            </a:r>
            <a:r>
              <a:rPr lang="en-US" altLang="zh-CN" sz="2000" dirty="0"/>
              <a:t>, </a:t>
            </a:r>
            <a:r>
              <a:rPr lang="en-US" altLang="zh-CN" sz="2000" dirty="0" err="1"/>
              <a:t>ElemType</a:t>
            </a:r>
            <a:r>
              <a:rPr lang="en-US" altLang="zh-CN" sz="2000" dirty="0"/>
              <a:t> e)</a:t>
            </a:r>
            <a:br>
              <a:rPr lang="en-US" altLang="zh-CN" sz="2000" dirty="0"/>
            </a:br>
            <a:r>
              <a:rPr lang="zh-CN" altLang="en-US" sz="2000" dirty="0"/>
              <a:t>　</a:t>
            </a:r>
            <a:r>
              <a:rPr lang="en-US" altLang="zh-CN" sz="2000" b="1" dirty="0"/>
              <a:t>{</a:t>
            </a:r>
          </a:p>
          <a:p>
            <a:pPr eaLnBrk="1" fontAlgn="auto" hangingPunct="1">
              <a:lnSpc>
                <a:spcPct val="80000"/>
              </a:lnSpc>
              <a:spcAft>
                <a:spcPts val="0"/>
              </a:spcAft>
              <a:buFont typeface="Wingdings" panose="05000000000000000000" pitchFamily="2" charset="2"/>
              <a:buNone/>
              <a:defRPr/>
            </a:pPr>
            <a:r>
              <a:rPr lang="en-US" altLang="zh-CN" sz="2000" b="1" dirty="0"/>
              <a:t>// </a:t>
            </a:r>
            <a:r>
              <a:rPr lang="zh-CN" altLang="en-US" sz="2000" b="1" dirty="0"/>
              <a:t>若存储空间不满且</a:t>
            </a:r>
            <a:r>
              <a:rPr lang="en-US" altLang="zh-CN" sz="2000" b="1" dirty="0"/>
              <a:t>1≤pos≤Listlength(L)+1</a:t>
            </a:r>
            <a:r>
              <a:rPr lang="zh-CN" altLang="en-US" sz="2000" b="1" dirty="0"/>
              <a:t>，则在顺序表 </a:t>
            </a:r>
            <a:r>
              <a:rPr lang="en-US" altLang="zh-CN" sz="2000" b="1" dirty="0"/>
              <a:t>L</a:t>
            </a:r>
            <a:r>
              <a:rPr lang="en-US" altLang="zh-CN" sz="2000" dirty="0"/>
              <a:t> </a:t>
            </a:r>
          </a:p>
          <a:p>
            <a:pPr eaLnBrk="1" fontAlgn="auto" hangingPunct="1">
              <a:lnSpc>
                <a:spcPct val="80000"/>
              </a:lnSpc>
              <a:spcAft>
                <a:spcPts val="0"/>
              </a:spcAft>
              <a:buFont typeface="Wingdings" panose="05000000000000000000" pitchFamily="2" charset="2"/>
              <a:buNone/>
              <a:defRPr/>
            </a:pPr>
            <a:r>
              <a:rPr lang="en-US" altLang="zh-CN" sz="2000" b="1" dirty="0"/>
              <a:t>// </a:t>
            </a:r>
            <a:r>
              <a:rPr lang="zh-CN" altLang="en-US" sz="2000" b="1" dirty="0"/>
              <a:t>第 </a:t>
            </a:r>
            <a:r>
              <a:rPr lang="en-US" altLang="zh-CN" sz="2000" b="1" dirty="0" err="1"/>
              <a:t>pos</a:t>
            </a:r>
            <a:r>
              <a:rPr lang="en-US" altLang="zh-CN" sz="2000" b="1" dirty="0"/>
              <a:t> </a:t>
            </a:r>
            <a:r>
              <a:rPr lang="zh-CN" altLang="en-US" sz="2000" b="1" dirty="0"/>
              <a:t>个元素之前插入</a:t>
            </a:r>
            <a:r>
              <a:rPr lang="en-US" altLang="zh-CN" sz="2000" b="1" dirty="0"/>
              <a:t>e </a:t>
            </a:r>
            <a:r>
              <a:rPr lang="zh-CN" altLang="en-US" sz="2000" b="1" dirty="0"/>
              <a:t>且返回</a:t>
            </a:r>
            <a:r>
              <a:rPr lang="en-US" altLang="zh-CN" sz="2000" b="1" dirty="0"/>
              <a:t>TRUE</a:t>
            </a:r>
            <a:r>
              <a:rPr lang="zh-CN" altLang="en-US" sz="2000" b="1" dirty="0"/>
              <a:t>，否则返回</a:t>
            </a:r>
            <a:r>
              <a:rPr lang="en-US" altLang="zh-CN" sz="2000" b="1" dirty="0"/>
              <a:t>FALSE</a:t>
            </a:r>
            <a:r>
              <a:rPr lang="en-US" altLang="zh-CN" sz="2000" dirty="0"/>
              <a:t/>
            </a:r>
            <a:br>
              <a:rPr lang="en-US" altLang="zh-CN" sz="2000" dirty="0"/>
            </a:br>
            <a:r>
              <a:rPr lang="zh-CN" altLang="en-US" sz="2000" dirty="0"/>
              <a:t>　　</a:t>
            </a:r>
            <a:r>
              <a:rPr lang="en-US" altLang="zh-CN" sz="2000" b="1" dirty="0">
                <a:solidFill>
                  <a:schemeClr val="hlink"/>
                </a:solidFill>
              </a:rPr>
              <a:t>if</a:t>
            </a:r>
            <a:r>
              <a:rPr lang="en-US" altLang="zh-CN" sz="2000" dirty="0">
                <a:solidFill>
                  <a:schemeClr val="hlink"/>
                </a:solidFill>
              </a:rPr>
              <a:t> (</a:t>
            </a:r>
            <a:r>
              <a:rPr lang="en-US" altLang="zh-CN" sz="2000" dirty="0" err="1">
                <a:solidFill>
                  <a:schemeClr val="hlink"/>
                </a:solidFill>
              </a:rPr>
              <a:t>pos</a:t>
            </a:r>
            <a:r>
              <a:rPr lang="en-US" altLang="zh-CN" sz="2000" dirty="0">
                <a:solidFill>
                  <a:schemeClr val="hlink"/>
                </a:solidFill>
              </a:rPr>
              <a:t> &lt; 1 || </a:t>
            </a:r>
            <a:r>
              <a:rPr lang="en-US" altLang="zh-CN" sz="2000" dirty="0" err="1">
                <a:solidFill>
                  <a:schemeClr val="hlink"/>
                </a:solidFill>
              </a:rPr>
              <a:t>pos</a:t>
            </a:r>
            <a:r>
              <a:rPr lang="en-US" altLang="zh-CN" sz="2000" dirty="0">
                <a:solidFill>
                  <a:schemeClr val="hlink"/>
                </a:solidFill>
              </a:rPr>
              <a:t> &gt; L.length+1) </a:t>
            </a:r>
            <a:r>
              <a:rPr lang="en-US" altLang="zh-CN" sz="2000" b="1" dirty="0">
                <a:solidFill>
                  <a:schemeClr val="hlink"/>
                </a:solidFill>
              </a:rPr>
              <a:t>return FALSE</a:t>
            </a:r>
            <a:r>
              <a:rPr lang="en-US" altLang="zh-CN" sz="2000" dirty="0">
                <a:solidFill>
                  <a:schemeClr val="hlink"/>
                </a:solidFill>
              </a:rPr>
              <a:t> ; </a:t>
            </a:r>
          </a:p>
          <a:p>
            <a:pPr eaLnBrk="1" fontAlgn="auto" hangingPunct="1">
              <a:lnSpc>
                <a:spcPct val="80000"/>
              </a:lnSpc>
              <a:spcAft>
                <a:spcPts val="0"/>
              </a:spcAft>
              <a:buFont typeface="Wingdings" panose="05000000000000000000" pitchFamily="2" charset="2"/>
              <a:buNone/>
              <a:defRPr/>
            </a:pPr>
            <a:r>
              <a:rPr lang="en-US" altLang="zh-CN" sz="2000" dirty="0">
                <a:solidFill>
                  <a:schemeClr val="hlink"/>
                </a:solidFill>
              </a:rPr>
              <a:t>            // </a:t>
            </a:r>
            <a:r>
              <a:rPr lang="zh-CN" altLang="en-US" sz="2000" dirty="0">
                <a:solidFill>
                  <a:schemeClr val="hlink"/>
                </a:solidFill>
              </a:rPr>
              <a:t>插入位置不合法</a:t>
            </a:r>
            <a:br>
              <a:rPr lang="zh-CN" altLang="en-US" sz="2000" dirty="0">
                <a:solidFill>
                  <a:schemeClr val="hlink"/>
                </a:solidFill>
              </a:rPr>
            </a:br>
            <a:r>
              <a:rPr lang="zh-CN" altLang="en-US" sz="2000" dirty="0">
                <a:solidFill>
                  <a:schemeClr val="hlink"/>
                </a:solidFill>
              </a:rPr>
              <a:t>　　</a:t>
            </a:r>
            <a:r>
              <a:rPr lang="en-US" altLang="zh-CN" sz="2000" b="1" dirty="0">
                <a:solidFill>
                  <a:schemeClr val="hlink"/>
                </a:solidFill>
              </a:rPr>
              <a:t>if</a:t>
            </a:r>
            <a:r>
              <a:rPr lang="en-US" altLang="zh-CN" sz="2000" dirty="0">
                <a:solidFill>
                  <a:schemeClr val="hlink"/>
                </a:solidFill>
              </a:rPr>
              <a:t> (</a:t>
            </a:r>
            <a:r>
              <a:rPr lang="en-US" altLang="zh-CN" sz="2000" dirty="0" err="1">
                <a:solidFill>
                  <a:schemeClr val="hlink"/>
                </a:solidFill>
              </a:rPr>
              <a:t>L.length</a:t>
            </a:r>
            <a:r>
              <a:rPr lang="en-US" altLang="zh-CN" sz="2000" dirty="0">
                <a:solidFill>
                  <a:schemeClr val="hlink"/>
                </a:solidFill>
              </a:rPr>
              <a:t> &gt;= </a:t>
            </a:r>
            <a:r>
              <a:rPr lang="en-US" altLang="zh-CN" sz="2000" dirty="0" err="1">
                <a:solidFill>
                  <a:schemeClr val="hlink"/>
                </a:solidFill>
              </a:rPr>
              <a:t>L.listsize</a:t>
            </a:r>
            <a:r>
              <a:rPr lang="en-US" altLang="zh-CN" sz="2000" dirty="0">
                <a:solidFill>
                  <a:schemeClr val="hlink"/>
                </a:solidFill>
              </a:rPr>
              <a:t>) </a:t>
            </a:r>
            <a:r>
              <a:rPr lang="en-US" altLang="zh-CN" sz="2000" b="1" dirty="0">
                <a:solidFill>
                  <a:schemeClr val="hlink"/>
                </a:solidFill>
              </a:rPr>
              <a:t>return FALSE</a:t>
            </a:r>
            <a:r>
              <a:rPr lang="en-US" altLang="zh-CN" sz="2000" dirty="0">
                <a:solidFill>
                  <a:schemeClr val="hlink"/>
                </a:solidFill>
              </a:rPr>
              <a:t>;</a:t>
            </a:r>
            <a:br>
              <a:rPr lang="en-US" altLang="zh-CN" sz="2000" dirty="0">
                <a:solidFill>
                  <a:schemeClr val="hlink"/>
                </a:solidFill>
              </a:rPr>
            </a:br>
            <a:r>
              <a:rPr lang="zh-CN" altLang="en-US" sz="2000" dirty="0">
                <a:solidFill>
                  <a:schemeClr val="hlink"/>
                </a:solidFill>
              </a:rPr>
              <a:t>　　</a:t>
            </a:r>
            <a:r>
              <a:rPr lang="en-US" altLang="zh-CN" sz="2000" dirty="0">
                <a:solidFill>
                  <a:schemeClr val="hlink"/>
                </a:solidFill>
              </a:rPr>
              <a:t>// </a:t>
            </a:r>
            <a:r>
              <a:rPr lang="zh-CN" altLang="en-US" sz="2000" dirty="0">
                <a:solidFill>
                  <a:schemeClr val="hlink"/>
                </a:solidFill>
              </a:rPr>
              <a:t>当前存储空间已满，无法插入</a:t>
            </a:r>
          </a:p>
          <a:p>
            <a:pPr eaLnBrk="1" fontAlgn="auto" hangingPunct="1">
              <a:lnSpc>
                <a:spcPct val="80000"/>
              </a:lnSpc>
              <a:spcAft>
                <a:spcPts val="0"/>
              </a:spcAft>
              <a:buFont typeface="Wingdings" panose="05000000000000000000" pitchFamily="2" charset="2"/>
              <a:buNone/>
              <a:defRPr/>
            </a:pPr>
            <a:r>
              <a:rPr lang="zh-CN" altLang="en-US" sz="2000" dirty="0"/>
              <a:t/>
            </a:r>
            <a:br>
              <a:rPr lang="zh-CN" altLang="en-US" sz="2000" dirty="0"/>
            </a:br>
            <a:r>
              <a:rPr lang="zh-CN" altLang="en-US" sz="2000" dirty="0"/>
              <a:t>　　</a:t>
            </a:r>
            <a:r>
              <a:rPr lang="en-US" altLang="zh-CN" sz="2000" b="1" dirty="0">
                <a:solidFill>
                  <a:schemeClr val="accent2"/>
                </a:solidFill>
              </a:rPr>
              <a:t>for</a:t>
            </a:r>
            <a:r>
              <a:rPr lang="en-US" altLang="zh-CN" sz="2000" dirty="0">
                <a:solidFill>
                  <a:schemeClr val="accent2"/>
                </a:solidFill>
              </a:rPr>
              <a:t> (j=L.length-1; j&gt;=pos-1; --j)</a:t>
            </a:r>
            <a:br>
              <a:rPr lang="en-US" altLang="zh-CN" sz="2000" dirty="0">
                <a:solidFill>
                  <a:schemeClr val="accent2"/>
                </a:solidFill>
              </a:rPr>
            </a:br>
            <a:r>
              <a:rPr lang="zh-CN" altLang="en-US" sz="2000" dirty="0">
                <a:solidFill>
                  <a:schemeClr val="accent2"/>
                </a:solidFill>
              </a:rPr>
              <a:t>　　　</a:t>
            </a:r>
            <a:r>
              <a:rPr lang="zh-CN" altLang="en-US" sz="2000" dirty="0" smtClean="0">
                <a:solidFill>
                  <a:schemeClr val="accent2"/>
                </a:solidFill>
              </a:rPr>
              <a:t>    </a:t>
            </a:r>
            <a:r>
              <a:rPr lang="en-US" altLang="zh-CN" sz="2000" dirty="0" err="1" smtClean="0">
                <a:solidFill>
                  <a:schemeClr val="accent2"/>
                </a:solidFill>
              </a:rPr>
              <a:t>L.elem</a:t>
            </a:r>
            <a:r>
              <a:rPr lang="en-US" altLang="zh-CN" sz="2000" dirty="0" smtClean="0">
                <a:solidFill>
                  <a:schemeClr val="accent2"/>
                </a:solidFill>
              </a:rPr>
              <a:t>[j+1</a:t>
            </a:r>
            <a:r>
              <a:rPr lang="en-US" altLang="zh-CN" sz="2000" dirty="0">
                <a:solidFill>
                  <a:schemeClr val="accent2"/>
                </a:solidFill>
              </a:rPr>
              <a:t>] = </a:t>
            </a:r>
            <a:r>
              <a:rPr lang="en-US" altLang="zh-CN" sz="2000" dirty="0" err="1">
                <a:solidFill>
                  <a:schemeClr val="accent2"/>
                </a:solidFill>
              </a:rPr>
              <a:t>L.elem</a:t>
            </a:r>
            <a:r>
              <a:rPr lang="en-US" altLang="zh-CN" sz="2000" dirty="0">
                <a:solidFill>
                  <a:schemeClr val="accent2"/>
                </a:solidFill>
              </a:rPr>
              <a:t>[j];</a:t>
            </a:r>
            <a:r>
              <a:rPr lang="en-US" altLang="zh-CN" sz="2000" dirty="0"/>
              <a:t> // </a:t>
            </a:r>
            <a:r>
              <a:rPr lang="zh-CN" altLang="en-US" sz="2000" dirty="0"/>
              <a:t>插入位置及之后元素右移</a:t>
            </a:r>
            <a:br>
              <a:rPr lang="zh-CN" altLang="en-US" sz="2000" dirty="0"/>
            </a:br>
            <a:r>
              <a:rPr lang="zh-CN" altLang="en-US" sz="2000" dirty="0"/>
              <a:t>　　</a:t>
            </a:r>
            <a:r>
              <a:rPr lang="en-US" altLang="zh-CN" sz="2000" dirty="0" err="1">
                <a:solidFill>
                  <a:schemeClr val="hlink"/>
                </a:solidFill>
              </a:rPr>
              <a:t>L.elem</a:t>
            </a:r>
            <a:r>
              <a:rPr lang="en-US" altLang="zh-CN" sz="2000" dirty="0">
                <a:solidFill>
                  <a:schemeClr val="hlink"/>
                </a:solidFill>
              </a:rPr>
              <a:t>[pos-1] = e;</a:t>
            </a:r>
            <a:r>
              <a:rPr lang="en-US" altLang="zh-CN" sz="2000" dirty="0"/>
              <a:t> </a:t>
            </a:r>
            <a:r>
              <a:rPr lang="zh-CN" altLang="en-US" sz="2000" dirty="0"/>
              <a:t>　　　　</a:t>
            </a:r>
            <a:r>
              <a:rPr lang="en-US" altLang="zh-CN" sz="2000" dirty="0"/>
              <a:t>// </a:t>
            </a:r>
            <a:r>
              <a:rPr lang="zh-CN" altLang="en-US" sz="2000" dirty="0"/>
              <a:t>插入 </a:t>
            </a:r>
            <a:r>
              <a:rPr lang="en-US" altLang="zh-CN" sz="2000" dirty="0"/>
              <a:t>e</a:t>
            </a:r>
            <a:br>
              <a:rPr lang="en-US" altLang="zh-CN" sz="2000" dirty="0"/>
            </a:br>
            <a:r>
              <a:rPr lang="zh-CN" altLang="en-US" sz="2000" dirty="0"/>
              <a:t>　　</a:t>
            </a:r>
            <a:r>
              <a:rPr lang="en-US" altLang="zh-CN" sz="2000" b="1" dirty="0">
                <a:solidFill>
                  <a:schemeClr val="hlink"/>
                </a:solidFill>
              </a:rPr>
              <a:t>++</a:t>
            </a:r>
            <a:r>
              <a:rPr lang="en-US" altLang="zh-CN" sz="2000" b="1" dirty="0" err="1">
                <a:solidFill>
                  <a:schemeClr val="hlink"/>
                </a:solidFill>
              </a:rPr>
              <a:t>L.length</a:t>
            </a:r>
            <a:r>
              <a:rPr lang="en-US" altLang="zh-CN" sz="2000" b="1" dirty="0">
                <a:solidFill>
                  <a:schemeClr val="hlink"/>
                </a:solidFill>
              </a:rPr>
              <a:t>;</a:t>
            </a:r>
            <a:r>
              <a:rPr lang="en-US" altLang="zh-CN" sz="2000" dirty="0"/>
              <a:t> </a:t>
            </a:r>
            <a:r>
              <a:rPr lang="zh-CN" altLang="en-US" sz="2000" dirty="0"/>
              <a:t>　　　　　　　</a:t>
            </a:r>
            <a:r>
              <a:rPr lang="en-US" altLang="zh-CN" sz="2000" dirty="0"/>
              <a:t>// </a:t>
            </a:r>
            <a:r>
              <a:rPr lang="zh-CN" altLang="en-US" sz="2000" dirty="0"/>
              <a:t>表长增</a:t>
            </a:r>
            <a:r>
              <a:rPr lang="en-US" altLang="zh-CN" sz="2000" dirty="0"/>
              <a:t>1</a:t>
            </a:r>
            <a:br>
              <a:rPr lang="en-US" altLang="zh-CN" sz="2000" dirty="0"/>
            </a:br>
            <a:r>
              <a:rPr lang="zh-CN" altLang="en-US" sz="2000" dirty="0"/>
              <a:t>　　</a:t>
            </a:r>
            <a:r>
              <a:rPr lang="en-US" altLang="zh-CN" sz="2000" b="1" dirty="0"/>
              <a:t>return</a:t>
            </a:r>
            <a:r>
              <a:rPr lang="en-US" altLang="zh-CN" sz="2000" dirty="0"/>
              <a:t> </a:t>
            </a:r>
            <a:r>
              <a:rPr lang="en-US" altLang="zh-CN" sz="2000" b="1" dirty="0"/>
              <a:t>TRUE</a:t>
            </a:r>
            <a:r>
              <a:rPr lang="en-US" altLang="zh-CN" sz="2000" dirty="0"/>
              <a:t>;</a:t>
            </a:r>
            <a:br>
              <a:rPr lang="en-US" altLang="zh-CN" sz="2000" dirty="0"/>
            </a:br>
            <a:r>
              <a:rPr lang="en-US" altLang="zh-CN" sz="2000" b="1" dirty="0" smtClean="0"/>
              <a:t>}</a:t>
            </a:r>
            <a:r>
              <a:rPr lang="en-US" altLang="zh-CN" sz="2000" dirty="0" smtClean="0"/>
              <a:t> </a:t>
            </a:r>
            <a:r>
              <a:rPr lang="en-US" altLang="zh-CN" sz="2000" dirty="0"/>
              <a:t>// </a:t>
            </a:r>
            <a:r>
              <a:rPr lang="en-US" altLang="zh-CN" sz="2000" dirty="0" err="1"/>
              <a:t>ListInsert</a:t>
            </a:r>
            <a:endParaRPr lang="en-US" altLang="zh-CN" sz="2000" dirty="0"/>
          </a:p>
          <a:p>
            <a:pPr eaLnBrk="1" fontAlgn="auto" hangingPunct="1">
              <a:spcBef>
                <a:spcPct val="0"/>
              </a:spcBef>
              <a:spcAft>
                <a:spcPts val="0"/>
              </a:spcAft>
              <a:buFontTx/>
              <a:buNone/>
              <a:defRPr/>
            </a:pPr>
            <a:endParaRPr lang="en-US" altLang="zh-CN" sz="1900" dirty="0"/>
          </a:p>
          <a:p>
            <a:pPr eaLnBrk="1" fontAlgn="auto" hangingPunct="1">
              <a:lnSpc>
                <a:spcPct val="80000"/>
              </a:lnSpc>
              <a:spcAft>
                <a:spcPts val="0"/>
              </a:spcAft>
              <a:defRPr/>
            </a:pPr>
            <a:r>
              <a:rPr lang="zh-CN" altLang="en-US" sz="2000" dirty="0"/>
              <a:t>时间复杂度为：</a:t>
            </a:r>
            <a:r>
              <a:rPr lang="en-US" altLang="zh-CN" sz="2000" b="1" i="1" dirty="0"/>
              <a:t>O </a:t>
            </a:r>
            <a:r>
              <a:rPr lang="en-US" altLang="zh-CN" sz="2000" b="1" dirty="0"/>
              <a:t>(</a:t>
            </a:r>
            <a:r>
              <a:rPr lang="en-US" altLang="zh-CN" sz="2000" b="1" dirty="0" err="1"/>
              <a:t>ListLength</a:t>
            </a:r>
            <a:r>
              <a:rPr lang="en-US" altLang="zh-CN" sz="2000" b="1" dirty="0"/>
              <a:t>(L))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6" end="6"/>
                                            </p:txEl>
                                          </p:spTgt>
                                        </p:tgtEl>
                                        <p:attrNameLst>
                                          <p:attrName>style.visibility</p:attrName>
                                        </p:attrNameLst>
                                      </p:cBhvr>
                                      <p:to>
                                        <p:strVal val="visible"/>
                                      </p:to>
                                    </p:set>
                                    <p:anim calcmode="lin" valueType="num">
                                      <p:cBhvr additive="base">
                                        <p:cTn id="7" dur="500" fill="hold"/>
                                        <p:tgtEl>
                                          <p:spTgt spid="32771">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73731" name="Line 4"/>
          <p:cNvSpPr>
            <a:spLocks noChangeShapeType="1"/>
          </p:cNvSpPr>
          <p:nvPr/>
        </p:nvSpPr>
        <p:spPr bwMode="auto">
          <a:xfrm>
            <a:off x="4267200" y="1219200"/>
            <a:ext cx="0" cy="47307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2" name="Line 5"/>
          <p:cNvSpPr>
            <a:spLocks noChangeShapeType="1"/>
          </p:cNvSpPr>
          <p:nvPr/>
        </p:nvSpPr>
        <p:spPr bwMode="auto">
          <a:xfrm>
            <a:off x="5867400" y="1219200"/>
            <a:ext cx="0" cy="47307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3" name="Line 6"/>
          <p:cNvSpPr>
            <a:spLocks noChangeShapeType="1"/>
          </p:cNvSpPr>
          <p:nvPr/>
        </p:nvSpPr>
        <p:spPr bwMode="auto">
          <a:xfrm>
            <a:off x="4267200" y="15240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4" name="Text Box 7"/>
          <p:cNvSpPr txBox="1">
            <a:spLocks noChangeArrowheads="1"/>
          </p:cNvSpPr>
          <p:nvPr/>
        </p:nvSpPr>
        <p:spPr bwMode="auto">
          <a:xfrm>
            <a:off x="4741863" y="1447800"/>
            <a:ext cx="592137"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i-1</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i+1</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p:txBody>
      </p:sp>
      <p:sp>
        <p:nvSpPr>
          <p:cNvPr id="73735" name="Line 8"/>
          <p:cNvSpPr>
            <a:spLocks noChangeShapeType="1"/>
          </p:cNvSpPr>
          <p:nvPr/>
        </p:nvSpPr>
        <p:spPr bwMode="auto">
          <a:xfrm>
            <a:off x="4267200" y="19812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6" name="Line 9"/>
          <p:cNvSpPr>
            <a:spLocks noChangeShapeType="1"/>
          </p:cNvSpPr>
          <p:nvPr/>
        </p:nvSpPr>
        <p:spPr bwMode="auto">
          <a:xfrm>
            <a:off x="4267200" y="24384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7" name="Line 10"/>
          <p:cNvSpPr>
            <a:spLocks noChangeShapeType="1"/>
          </p:cNvSpPr>
          <p:nvPr/>
        </p:nvSpPr>
        <p:spPr bwMode="auto">
          <a:xfrm>
            <a:off x="4267200" y="28956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8" name="Line 11"/>
          <p:cNvSpPr>
            <a:spLocks noChangeShapeType="1"/>
          </p:cNvSpPr>
          <p:nvPr/>
        </p:nvSpPr>
        <p:spPr bwMode="auto">
          <a:xfrm>
            <a:off x="4267200" y="33528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9" name="Line 12"/>
          <p:cNvSpPr>
            <a:spLocks noChangeShapeType="1"/>
          </p:cNvSpPr>
          <p:nvPr/>
        </p:nvSpPr>
        <p:spPr bwMode="auto">
          <a:xfrm>
            <a:off x="4267200" y="38100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0" name="Line 13"/>
          <p:cNvSpPr>
            <a:spLocks noChangeShapeType="1"/>
          </p:cNvSpPr>
          <p:nvPr/>
        </p:nvSpPr>
        <p:spPr bwMode="auto">
          <a:xfrm>
            <a:off x="4267200" y="42672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1" name="Line 14"/>
          <p:cNvSpPr>
            <a:spLocks noChangeShapeType="1"/>
          </p:cNvSpPr>
          <p:nvPr/>
        </p:nvSpPr>
        <p:spPr bwMode="auto">
          <a:xfrm>
            <a:off x="4267200" y="47244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2" name="Line 15"/>
          <p:cNvSpPr>
            <a:spLocks noChangeShapeType="1"/>
          </p:cNvSpPr>
          <p:nvPr/>
        </p:nvSpPr>
        <p:spPr bwMode="auto">
          <a:xfrm>
            <a:off x="4267200" y="51816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3" name="Line 16"/>
          <p:cNvSpPr>
            <a:spLocks noChangeShapeType="1"/>
          </p:cNvSpPr>
          <p:nvPr/>
        </p:nvSpPr>
        <p:spPr bwMode="auto">
          <a:xfrm>
            <a:off x="4267200" y="56388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4" name="Line 17"/>
          <p:cNvSpPr>
            <a:spLocks noChangeShapeType="1"/>
          </p:cNvSpPr>
          <p:nvPr/>
        </p:nvSpPr>
        <p:spPr bwMode="auto">
          <a:xfrm>
            <a:off x="4953000" y="5676900"/>
            <a:ext cx="0" cy="381000"/>
          </a:xfrm>
          <a:prstGeom prst="line">
            <a:avLst/>
          </a:prstGeom>
          <a:noFill/>
          <a:ln w="952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5" name="Line 18"/>
          <p:cNvSpPr>
            <a:spLocks noChangeShapeType="1"/>
          </p:cNvSpPr>
          <p:nvPr/>
        </p:nvSpPr>
        <p:spPr bwMode="auto">
          <a:xfrm>
            <a:off x="4953000" y="2590800"/>
            <a:ext cx="0" cy="228600"/>
          </a:xfrm>
          <a:prstGeom prst="line">
            <a:avLst/>
          </a:prstGeom>
          <a:noFill/>
          <a:ln w="952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6" name="Line 19"/>
          <p:cNvSpPr>
            <a:spLocks noChangeShapeType="1"/>
          </p:cNvSpPr>
          <p:nvPr/>
        </p:nvSpPr>
        <p:spPr bwMode="auto">
          <a:xfrm>
            <a:off x="4953000" y="4419600"/>
            <a:ext cx="0" cy="228600"/>
          </a:xfrm>
          <a:prstGeom prst="line">
            <a:avLst/>
          </a:prstGeom>
          <a:noFill/>
          <a:ln w="952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7" name="Line 20"/>
          <p:cNvSpPr>
            <a:spLocks noChangeShapeType="1"/>
          </p:cNvSpPr>
          <p:nvPr/>
        </p:nvSpPr>
        <p:spPr bwMode="auto">
          <a:xfrm>
            <a:off x="6858000" y="1219200"/>
            <a:ext cx="0" cy="47307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8" name="Line 21"/>
          <p:cNvSpPr>
            <a:spLocks noChangeShapeType="1"/>
          </p:cNvSpPr>
          <p:nvPr/>
        </p:nvSpPr>
        <p:spPr bwMode="auto">
          <a:xfrm>
            <a:off x="8458200" y="1219200"/>
            <a:ext cx="0" cy="473075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9" name="Line 22"/>
          <p:cNvSpPr>
            <a:spLocks noChangeShapeType="1"/>
          </p:cNvSpPr>
          <p:nvPr/>
        </p:nvSpPr>
        <p:spPr bwMode="auto">
          <a:xfrm>
            <a:off x="6858000" y="15240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0" name="Text Box 23"/>
          <p:cNvSpPr txBox="1">
            <a:spLocks noChangeArrowheads="1"/>
          </p:cNvSpPr>
          <p:nvPr/>
        </p:nvSpPr>
        <p:spPr bwMode="auto">
          <a:xfrm>
            <a:off x="7332663" y="1447800"/>
            <a:ext cx="592137"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i-1</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x</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i+1</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a:p>
            <a:pPr eaLnBrk="1" hangingPunct="1">
              <a:lnSpc>
                <a:spcPct val="12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p:txBody>
      </p:sp>
      <p:sp>
        <p:nvSpPr>
          <p:cNvPr id="73751" name="Line 24"/>
          <p:cNvSpPr>
            <a:spLocks noChangeShapeType="1"/>
          </p:cNvSpPr>
          <p:nvPr/>
        </p:nvSpPr>
        <p:spPr bwMode="auto">
          <a:xfrm>
            <a:off x="6858000" y="19812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2" name="Line 25"/>
          <p:cNvSpPr>
            <a:spLocks noChangeShapeType="1"/>
          </p:cNvSpPr>
          <p:nvPr/>
        </p:nvSpPr>
        <p:spPr bwMode="auto">
          <a:xfrm>
            <a:off x="6858000" y="24384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3" name="Line 26"/>
          <p:cNvSpPr>
            <a:spLocks noChangeShapeType="1"/>
          </p:cNvSpPr>
          <p:nvPr/>
        </p:nvSpPr>
        <p:spPr bwMode="auto">
          <a:xfrm>
            <a:off x="6858000" y="28956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4" name="Line 27"/>
          <p:cNvSpPr>
            <a:spLocks noChangeShapeType="1"/>
          </p:cNvSpPr>
          <p:nvPr/>
        </p:nvSpPr>
        <p:spPr bwMode="auto">
          <a:xfrm>
            <a:off x="6858000" y="33528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5" name="Line 28"/>
          <p:cNvSpPr>
            <a:spLocks noChangeShapeType="1"/>
          </p:cNvSpPr>
          <p:nvPr/>
        </p:nvSpPr>
        <p:spPr bwMode="auto">
          <a:xfrm>
            <a:off x="6858000" y="38100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6" name="Line 29"/>
          <p:cNvSpPr>
            <a:spLocks noChangeShapeType="1"/>
          </p:cNvSpPr>
          <p:nvPr/>
        </p:nvSpPr>
        <p:spPr bwMode="auto">
          <a:xfrm>
            <a:off x="6858000" y="42672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7" name="Line 30"/>
          <p:cNvSpPr>
            <a:spLocks noChangeShapeType="1"/>
          </p:cNvSpPr>
          <p:nvPr/>
        </p:nvSpPr>
        <p:spPr bwMode="auto">
          <a:xfrm>
            <a:off x="6858000" y="47244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8" name="Line 31"/>
          <p:cNvSpPr>
            <a:spLocks noChangeShapeType="1"/>
          </p:cNvSpPr>
          <p:nvPr/>
        </p:nvSpPr>
        <p:spPr bwMode="auto">
          <a:xfrm>
            <a:off x="6858000" y="51816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9" name="Line 32"/>
          <p:cNvSpPr>
            <a:spLocks noChangeShapeType="1"/>
          </p:cNvSpPr>
          <p:nvPr/>
        </p:nvSpPr>
        <p:spPr bwMode="auto">
          <a:xfrm>
            <a:off x="6858000" y="56388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60" name="Line 33"/>
          <p:cNvSpPr>
            <a:spLocks noChangeShapeType="1"/>
          </p:cNvSpPr>
          <p:nvPr/>
        </p:nvSpPr>
        <p:spPr bwMode="auto">
          <a:xfrm>
            <a:off x="7543800" y="5757863"/>
            <a:ext cx="0" cy="381000"/>
          </a:xfrm>
          <a:prstGeom prst="line">
            <a:avLst/>
          </a:prstGeom>
          <a:noFill/>
          <a:ln w="952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61" name="Line 34"/>
          <p:cNvSpPr>
            <a:spLocks noChangeShapeType="1"/>
          </p:cNvSpPr>
          <p:nvPr/>
        </p:nvSpPr>
        <p:spPr bwMode="auto">
          <a:xfrm>
            <a:off x="7543800" y="2590800"/>
            <a:ext cx="0" cy="228600"/>
          </a:xfrm>
          <a:prstGeom prst="line">
            <a:avLst/>
          </a:prstGeom>
          <a:noFill/>
          <a:ln w="952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62" name="Line 35"/>
          <p:cNvSpPr>
            <a:spLocks noChangeShapeType="1"/>
          </p:cNvSpPr>
          <p:nvPr/>
        </p:nvSpPr>
        <p:spPr bwMode="auto">
          <a:xfrm>
            <a:off x="7543800" y="4876800"/>
            <a:ext cx="0" cy="228600"/>
          </a:xfrm>
          <a:prstGeom prst="line">
            <a:avLst/>
          </a:prstGeom>
          <a:noFill/>
          <a:ln w="952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63" name="Text Box 36"/>
          <p:cNvSpPr txBox="1">
            <a:spLocks noChangeArrowheads="1"/>
          </p:cNvSpPr>
          <p:nvPr/>
        </p:nvSpPr>
        <p:spPr bwMode="auto">
          <a:xfrm>
            <a:off x="3524250" y="1447800"/>
            <a:ext cx="590550"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0</a:t>
            </a:r>
          </a:p>
          <a:p>
            <a:pPr algn="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1</a:t>
            </a:r>
          </a:p>
          <a:p>
            <a:pPr algn="r" eaLnBrk="1" hangingPunct="1">
              <a:lnSpc>
                <a:spcPct val="12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i-2</a:t>
            </a:r>
          </a:p>
          <a:p>
            <a:pPr algn="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i-1</a:t>
            </a:r>
          </a:p>
          <a:p>
            <a:pPr algn="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i</a:t>
            </a:r>
          </a:p>
          <a:p>
            <a:pPr algn="r" eaLnBrk="1" hangingPunct="1">
              <a:lnSpc>
                <a:spcPct val="12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n-1</a:t>
            </a:r>
          </a:p>
          <a:p>
            <a:pPr algn="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n</a:t>
            </a:r>
          </a:p>
        </p:txBody>
      </p:sp>
      <p:sp>
        <p:nvSpPr>
          <p:cNvPr id="73764" name="Text Box 37"/>
          <p:cNvSpPr txBox="1">
            <a:spLocks noChangeArrowheads="1"/>
          </p:cNvSpPr>
          <p:nvPr/>
        </p:nvSpPr>
        <p:spPr bwMode="auto">
          <a:xfrm>
            <a:off x="4538663" y="609600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插入前</a:t>
            </a:r>
          </a:p>
        </p:txBody>
      </p:sp>
      <p:sp>
        <p:nvSpPr>
          <p:cNvPr id="73765" name="Text Box 38"/>
          <p:cNvSpPr txBox="1">
            <a:spLocks noChangeArrowheads="1"/>
          </p:cNvSpPr>
          <p:nvPr/>
        </p:nvSpPr>
        <p:spPr bwMode="auto">
          <a:xfrm>
            <a:off x="7032625" y="6111875"/>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插入后</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33795" name="Rectangle 3"/>
          <p:cNvSpPr>
            <a:spLocks noGrp="1" noChangeArrowheads="1"/>
          </p:cNvSpPr>
          <p:nvPr>
            <p:ph idx="1"/>
          </p:nvPr>
        </p:nvSpPr>
        <p:spPr>
          <a:xfrm>
            <a:off x="527050" y="1628775"/>
            <a:ext cx="10218738" cy="4351338"/>
          </a:xfrm>
        </p:spPr>
        <p:txBody>
          <a:bodyPr/>
          <a:lstStyle/>
          <a:p>
            <a:pPr eaLnBrk="1" hangingPunct="1"/>
            <a:r>
              <a:rPr lang="zh-CN" altLang="en-US" smtClean="0"/>
              <a:t>删除元素操作</a:t>
            </a:r>
          </a:p>
          <a:p>
            <a:pPr lvl="1" eaLnBrk="1" hangingPunct="1"/>
            <a:r>
              <a:rPr lang="zh-CN" altLang="en-US" smtClean="0">
                <a:latin typeface="Arial" panose="020B0604020202020204" pitchFamily="34" charset="0"/>
              </a:rPr>
              <a:t>“</a:t>
            </a:r>
            <a:r>
              <a:rPr lang="zh-CN" altLang="en-US" smtClean="0"/>
              <a:t>删除元素</a:t>
            </a:r>
            <a:r>
              <a:rPr lang="zh-CN" altLang="en-US" smtClean="0">
                <a:latin typeface="Arial" panose="020B0604020202020204" pitchFamily="34" charset="0"/>
              </a:rPr>
              <a:t>”</a:t>
            </a:r>
            <a:r>
              <a:rPr lang="zh-CN" altLang="en-US" smtClean="0"/>
              <a:t>使线性表的逻辑结构发生什么变化？</a:t>
            </a:r>
          </a:p>
          <a:p>
            <a:pPr lvl="1" eaLnBrk="1" hangingPunct="1"/>
            <a:r>
              <a:rPr lang="zh-CN" altLang="en-US" smtClean="0"/>
              <a:t>假设删除线性表中第</a:t>
            </a:r>
            <a:r>
              <a:rPr lang="en-US" altLang="zh-CN" smtClean="0"/>
              <a:t>i</a:t>
            </a:r>
            <a:r>
              <a:rPr lang="zh-CN" altLang="en-US" smtClean="0"/>
              <a:t>个元素，使得线性表</a:t>
            </a:r>
            <a:r>
              <a:rPr lang="en-US" altLang="zh-CN" smtClean="0"/>
              <a:t>(a</a:t>
            </a:r>
            <a:r>
              <a:rPr lang="en-US" altLang="zh-CN" baseline="-25000" smtClean="0"/>
              <a:t>1</a:t>
            </a:r>
            <a:r>
              <a:rPr lang="en-US" altLang="zh-CN" smtClean="0"/>
              <a:t>, </a:t>
            </a:r>
            <a:r>
              <a:rPr lang="en-US" altLang="zh-CN" smtClean="0">
                <a:latin typeface="Arial" panose="020B0604020202020204" pitchFamily="34" charset="0"/>
              </a:rPr>
              <a:t>…</a:t>
            </a:r>
            <a:r>
              <a:rPr lang="en-US" altLang="zh-CN" smtClean="0"/>
              <a:t>, a</a:t>
            </a:r>
            <a:r>
              <a:rPr lang="en-US" altLang="zh-CN" baseline="-25000" smtClean="0"/>
              <a:t>i-1</a:t>
            </a:r>
            <a:r>
              <a:rPr lang="en-US" altLang="zh-CN" smtClean="0"/>
              <a:t> , a</a:t>
            </a:r>
            <a:r>
              <a:rPr lang="en-US" altLang="zh-CN" baseline="-25000" smtClean="0"/>
              <a:t>i</a:t>
            </a:r>
            <a:r>
              <a:rPr lang="en-US" altLang="zh-CN" smtClean="0"/>
              <a:t> , a</a:t>
            </a:r>
            <a:r>
              <a:rPr lang="en-US" altLang="zh-CN" baseline="-25000" smtClean="0"/>
              <a:t>i+1</a:t>
            </a:r>
            <a:r>
              <a:rPr lang="en-US" altLang="zh-CN" smtClean="0"/>
              <a:t> </a:t>
            </a:r>
            <a:r>
              <a:rPr lang="en-US" altLang="zh-CN" smtClean="0">
                <a:latin typeface="Arial" panose="020B0604020202020204" pitchFamily="34" charset="0"/>
              </a:rPr>
              <a:t>…</a:t>
            </a:r>
            <a:r>
              <a:rPr lang="en-US" altLang="zh-CN" smtClean="0"/>
              <a:t>, a</a:t>
            </a:r>
            <a:r>
              <a:rPr lang="en-US" altLang="zh-CN" baseline="-25000" smtClean="0"/>
              <a:t>n</a:t>
            </a:r>
            <a:r>
              <a:rPr lang="en-US" altLang="zh-CN" smtClean="0"/>
              <a:t> ) </a:t>
            </a:r>
            <a:r>
              <a:rPr lang="zh-CN" altLang="en-US" smtClean="0"/>
              <a:t>改变为 </a:t>
            </a:r>
            <a:r>
              <a:rPr lang="en-US" altLang="zh-CN" smtClean="0"/>
              <a:t>(a</a:t>
            </a:r>
            <a:r>
              <a:rPr lang="en-US" altLang="zh-CN" baseline="-25000" smtClean="0"/>
              <a:t>1</a:t>
            </a:r>
            <a:r>
              <a:rPr lang="en-US" altLang="zh-CN" smtClean="0"/>
              <a:t>, </a:t>
            </a:r>
            <a:r>
              <a:rPr lang="en-US" altLang="zh-CN" smtClean="0">
                <a:latin typeface="Arial" panose="020B0604020202020204" pitchFamily="34" charset="0"/>
              </a:rPr>
              <a:t>…</a:t>
            </a:r>
            <a:r>
              <a:rPr lang="en-US" altLang="zh-CN" smtClean="0"/>
              <a:t>, a</a:t>
            </a:r>
            <a:r>
              <a:rPr lang="en-US" altLang="zh-CN" baseline="-25000" smtClean="0"/>
              <a:t>i-1</a:t>
            </a:r>
            <a:r>
              <a:rPr lang="en-US" altLang="zh-CN" smtClean="0"/>
              <a:t> , a</a:t>
            </a:r>
            <a:r>
              <a:rPr lang="en-US" altLang="zh-CN" baseline="-25000" smtClean="0"/>
              <a:t>i+1</a:t>
            </a:r>
            <a:r>
              <a:rPr lang="en-US" altLang="zh-CN" smtClean="0"/>
              <a:t> , </a:t>
            </a:r>
            <a:r>
              <a:rPr lang="en-US" altLang="zh-CN" smtClean="0">
                <a:latin typeface="Arial" panose="020B0604020202020204" pitchFamily="34" charset="0"/>
              </a:rPr>
              <a:t>…</a:t>
            </a:r>
            <a:r>
              <a:rPr lang="en-US" altLang="zh-CN" smtClean="0"/>
              <a:t>, a</a:t>
            </a:r>
            <a:r>
              <a:rPr lang="en-US" altLang="zh-CN" baseline="-25000" smtClean="0"/>
              <a:t>n</a:t>
            </a:r>
            <a:r>
              <a:rPr lang="en-US" altLang="zh-CN" smtClean="0"/>
              <a:t> )</a:t>
            </a:r>
          </a:p>
          <a:p>
            <a:pPr lvl="2" eaLnBrk="1" hangingPunct="1"/>
            <a:r>
              <a:rPr lang="en-US" altLang="zh-CN" smtClean="0"/>
              <a:t>(1) </a:t>
            </a:r>
            <a:r>
              <a:rPr lang="zh-CN" altLang="en-US" smtClean="0"/>
              <a:t>改变了表中元素之间的关系，使</a:t>
            </a:r>
            <a:r>
              <a:rPr lang="en-US" altLang="zh-CN" smtClean="0"/>
              <a:t>&lt; a</a:t>
            </a:r>
            <a:r>
              <a:rPr lang="en-US" altLang="zh-CN" baseline="-25000" smtClean="0"/>
              <a:t>i-1</a:t>
            </a:r>
            <a:r>
              <a:rPr lang="en-US" altLang="zh-CN" smtClean="0"/>
              <a:t>, a</a:t>
            </a:r>
            <a:r>
              <a:rPr lang="en-US" altLang="zh-CN" baseline="-25000" smtClean="0"/>
              <a:t>i</a:t>
            </a:r>
            <a:r>
              <a:rPr lang="en-US" altLang="zh-CN" smtClean="0"/>
              <a:t> &gt;</a:t>
            </a:r>
            <a:r>
              <a:rPr lang="zh-CN" altLang="en-US" smtClean="0"/>
              <a:t>和</a:t>
            </a:r>
            <a:r>
              <a:rPr lang="en-US" altLang="zh-CN" smtClean="0"/>
              <a:t>&lt; a</a:t>
            </a:r>
            <a:r>
              <a:rPr lang="en-US" altLang="zh-CN" baseline="-25000" smtClean="0"/>
              <a:t>i</a:t>
            </a:r>
            <a:r>
              <a:rPr lang="en-US" altLang="zh-CN" smtClean="0"/>
              <a:t> , a</a:t>
            </a:r>
            <a:r>
              <a:rPr lang="en-US" altLang="zh-CN" baseline="-25000" smtClean="0"/>
              <a:t>i+1</a:t>
            </a:r>
            <a:r>
              <a:rPr lang="en-US" altLang="zh-CN" smtClean="0"/>
              <a:t> &gt; </a:t>
            </a:r>
            <a:r>
              <a:rPr lang="zh-CN" altLang="en-US" smtClean="0"/>
              <a:t>改变为</a:t>
            </a:r>
            <a:r>
              <a:rPr lang="en-US" altLang="zh-CN" smtClean="0"/>
              <a:t>&lt; a</a:t>
            </a:r>
            <a:r>
              <a:rPr lang="en-US" altLang="zh-CN" baseline="-25000" smtClean="0"/>
              <a:t>i-1</a:t>
            </a:r>
            <a:r>
              <a:rPr lang="en-US" altLang="zh-CN" smtClean="0"/>
              <a:t> , a</a:t>
            </a:r>
            <a:r>
              <a:rPr lang="en-US" altLang="zh-CN" baseline="-25000" smtClean="0"/>
              <a:t>i+1</a:t>
            </a:r>
            <a:r>
              <a:rPr lang="en-US" altLang="zh-CN" smtClean="0"/>
              <a:t>&gt;</a:t>
            </a:r>
          </a:p>
          <a:p>
            <a:pPr lvl="2" eaLnBrk="1" hangingPunct="1"/>
            <a:r>
              <a:rPr lang="en-US" altLang="zh-CN" smtClean="0"/>
              <a:t>(2) </a:t>
            </a:r>
            <a:r>
              <a:rPr lang="zh-CN" altLang="en-US" smtClean="0"/>
              <a:t>表长减</a:t>
            </a:r>
            <a:r>
              <a:rPr lang="en-US" altLang="zh-CN" smtClean="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anim calcmode="lin" valueType="num">
                                      <p:cBhvr additive="base">
                                        <p:cTn id="7" dur="500" fill="hold"/>
                                        <p:tgtEl>
                                          <p:spTgt spid="3379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33795">
                                            <p:txEl>
                                              <p:pRg st="3" end="3"/>
                                            </p:txEl>
                                          </p:spTgt>
                                        </p:tgtEl>
                                        <p:attrNameLst>
                                          <p:attrName>style.visibility</p:attrName>
                                        </p:attrNameLst>
                                      </p:cBhvr>
                                      <p:to>
                                        <p:strVal val="visible"/>
                                      </p:to>
                                    </p:set>
                                    <p:animEffect transition="in" filter="box(in)">
                                      <p:cBhvr>
                                        <p:cTn id="13" dur="500"/>
                                        <p:tgtEl>
                                          <p:spTgt spid="33795">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3795">
                                            <p:txEl>
                                              <p:pRg st="4" end="4"/>
                                            </p:txEl>
                                          </p:spTgt>
                                        </p:tgtEl>
                                        <p:attrNameLst>
                                          <p:attrName>style.visibility</p:attrName>
                                        </p:attrNameLst>
                                      </p:cBhvr>
                                      <p:to>
                                        <p:strVal val="visible"/>
                                      </p:to>
                                    </p:set>
                                    <p:animEffect transition="in" filter="box(in)">
                                      <p:cBhvr>
                                        <p:cTn id="16" dur="500"/>
                                        <p:tgtEl>
                                          <p:spTgt spid="337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56323" name="Rectangle 3"/>
          <p:cNvSpPr>
            <a:spLocks noGrp="1" noChangeArrowheads="1"/>
          </p:cNvSpPr>
          <p:nvPr>
            <p:ph idx="1"/>
          </p:nvPr>
        </p:nvSpPr>
        <p:spPr>
          <a:xfrm>
            <a:off x="527050" y="1628775"/>
            <a:ext cx="10218738" cy="4351338"/>
          </a:xfrm>
        </p:spPr>
        <p:txBody>
          <a:bodyPr rtlCol="0">
            <a:normAutofit/>
          </a:bodyPr>
          <a:lstStyle/>
          <a:p>
            <a:pPr marL="0" indent="0" eaLnBrk="1" fontAlgn="auto" hangingPunct="1">
              <a:lnSpc>
                <a:spcPct val="80000"/>
              </a:lnSpc>
              <a:spcAft>
                <a:spcPts val="0"/>
              </a:spcAft>
              <a:buFont typeface="Wingdings" panose="05000000000000000000" pitchFamily="2" charset="2"/>
              <a:buNone/>
              <a:defRPr/>
            </a:pPr>
            <a:r>
              <a:rPr lang="en-US" altLang="zh-CN" sz="2100" b="1" dirty="0" smtClean="0"/>
              <a:t>    bool</a:t>
            </a:r>
            <a:r>
              <a:rPr lang="en-US" altLang="zh-CN" sz="2100" dirty="0" smtClean="0"/>
              <a:t> </a:t>
            </a:r>
            <a:r>
              <a:rPr lang="en-US" altLang="zh-CN" sz="2100" dirty="0" err="1"/>
              <a:t>ListDelete</a:t>
            </a:r>
            <a:r>
              <a:rPr lang="en-US" altLang="zh-CN" sz="2100" dirty="0"/>
              <a:t>(</a:t>
            </a:r>
            <a:r>
              <a:rPr lang="en-US" altLang="zh-CN" sz="2100" dirty="0" err="1"/>
              <a:t>SqList</a:t>
            </a:r>
            <a:r>
              <a:rPr lang="en-US" altLang="zh-CN" sz="2100" dirty="0"/>
              <a:t> </a:t>
            </a:r>
            <a:r>
              <a:rPr lang="en-US" altLang="zh-CN" sz="2100" b="1" dirty="0"/>
              <a:t>&amp;</a:t>
            </a:r>
            <a:r>
              <a:rPr lang="en-US" altLang="zh-CN" sz="2100" dirty="0"/>
              <a:t>L, </a:t>
            </a:r>
            <a:r>
              <a:rPr lang="en-US" altLang="zh-CN" sz="2100" b="1" dirty="0" err="1"/>
              <a:t>int</a:t>
            </a:r>
            <a:r>
              <a:rPr lang="en-US" altLang="zh-CN" sz="2100" dirty="0"/>
              <a:t> </a:t>
            </a:r>
            <a:r>
              <a:rPr lang="en-US" altLang="zh-CN" sz="2100" dirty="0" err="1"/>
              <a:t>pos</a:t>
            </a:r>
            <a:r>
              <a:rPr lang="en-US" altLang="zh-CN" sz="2100" dirty="0"/>
              <a:t>, </a:t>
            </a:r>
            <a:r>
              <a:rPr lang="en-US" altLang="zh-CN" sz="2100" dirty="0" err="1"/>
              <a:t>ElemType</a:t>
            </a:r>
            <a:r>
              <a:rPr lang="en-US" altLang="zh-CN" sz="2100" dirty="0"/>
              <a:t> </a:t>
            </a:r>
            <a:r>
              <a:rPr lang="en-US" altLang="zh-CN" sz="2100" b="1" dirty="0"/>
              <a:t>&amp;</a:t>
            </a:r>
            <a:r>
              <a:rPr lang="en-US" altLang="zh-CN" sz="2100" dirty="0"/>
              <a:t>e)</a:t>
            </a:r>
            <a:br>
              <a:rPr lang="en-US" altLang="zh-CN" sz="2100" dirty="0"/>
            </a:br>
            <a:r>
              <a:rPr lang="zh-CN" altLang="en-US" sz="2100" dirty="0"/>
              <a:t>　</a:t>
            </a:r>
            <a:r>
              <a:rPr lang="en-US" altLang="zh-CN" sz="2100" b="1" dirty="0"/>
              <a:t>{</a:t>
            </a:r>
          </a:p>
          <a:p>
            <a:pPr eaLnBrk="1" fontAlgn="auto" hangingPunct="1">
              <a:lnSpc>
                <a:spcPct val="80000"/>
              </a:lnSpc>
              <a:spcAft>
                <a:spcPts val="0"/>
              </a:spcAft>
              <a:buFont typeface="Wingdings" panose="05000000000000000000" pitchFamily="2" charset="2"/>
              <a:buNone/>
              <a:defRPr/>
            </a:pPr>
            <a:r>
              <a:rPr lang="en-US" altLang="zh-CN" sz="2100" b="1" dirty="0"/>
              <a:t>// </a:t>
            </a:r>
            <a:r>
              <a:rPr lang="zh-CN" altLang="en-US" sz="2100" b="1" dirty="0"/>
              <a:t>若</a:t>
            </a:r>
            <a:r>
              <a:rPr lang="en-US" altLang="zh-CN" sz="2100" b="1" dirty="0"/>
              <a:t>1≤pos≤Listlength(L)</a:t>
            </a:r>
            <a:r>
              <a:rPr lang="zh-CN" altLang="en-US" sz="2100" b="1" dirty="0"/>
              <a:t>，以 </a:t>
            </a:r>
            <a:r>
              <a:rPr lang="en-US" altLang="zh-CN" sz="2100" b="1" dirty="0"/>
              <a:t>e </a:t>
            </a:r>
            <a:r>
              <a:rPr lang="zh-CN" altLang="en-US" sz="2100" b="1" dirty="0"/>
              <a:t>带回从</a:t>
            </a:r>
            <a:r>
              <a:rPr lang="en-US" altLang="zh-CN" sz="2100" b="1" dirty="0"/>
              <a:t>L </a:t>
            </a:r>
            <a:r>
              <a:rPr lang="zh-CN" altLang="en-US" sz="2100" b="1" dirty="0"/>
              <a:t>中删除的</a:t>
            </a:r>
          </a:p>
          <a:p>
            <a:pPr eaLnBrk="1" fontAlgn="auto" hangingPunct="1">
              <a:lnSpc>
                <a:spcPct val="80000"/>
              </a:lnSpc>
              <a:spcAft>
                <a:spcPts val="0"/>
              </a:spcAft>
              <a:buFont typeface="Wingdings" panose="05000000000000000000" pitchFamily="2" charset="2"/>
              <a:buNone/>
              <a:defRPr/>
            </a:pPr>
            <a:r>
              <a:rPr lang="en-US" altLang="zh-CN" sz="2100" b="1" dirty="0"/>
              <a:t>// </a:t>
            </a:r>
            <a:r>
              <a:rPr lang="zh-CN" altLang="en-US" sz="2100" b="1" dirty="0"/>
              <a:t>第 </a:t>
            </a:r>
            <a:r>
              <a:rPr lang="en-US" altLang="zh-CN" sz="2100" b="1" dirty="0" err="1"/>
              <a:t>pos</a:t>
            </a:r>
            <a:r>
              <a:rPr lang="en-US" altLang="zh-CN" sz="2100" b="1" dirty="0"/>
              <a:t> </a:t>
            </a:r>
            <a:r>
              <a:rPr lang="zh-CN" altLang="en-US" sz="2100" b="1" dirty="0"/>
              <a:t>个元素且返回 </a:t>
            </a:r>
            <a:r>
              <a:rPr lang="en-US" altLang="zh-CN" sz="2100" b="1" dirty="0"/>
              <a:t>TRUE</a:t>
            </a:r>
            <a:r>
              <a:rPr lang="zh-CN" altLang="en-US" sz="2100" b="1" dirty="0"/>
              <a:t>，否则返回 </a:t>
            </a:r>
            <a:r>
              <a:rPr lang="en-US" altLang="zh-CN" sz="2100" b="1" dirty="0"/>
              <a:t>FALSE</a:t>
            </a:r>
            <a:r>
              <a:rPr lang="en-US" altLang="zh-CN" sz="2100" dirty="0"/>
              <a:t/>
            </a:r>
            <a:br>
              <a:rPr lang="en-US" altLang="zh-CN" sz="2100" dirty="0"/>
            </a:br>
            <a:r>
              <a:rPr lang="zh-CN" altLang="en-US" sz="2100" dirty="0"/>
              <a:t>　　</a:t>
            </a:r>
            <a:r>
              <a:rPr lang="en-US" altLang="zh-CN" sz="2100" b="1" dirty="0"/>
              <a:t>if</a:t>
            </a:r>
            <a:r>
              <a:rPr lang="en-US" altLang="zh-CN" sz="2100" dirty="0"/>
              <a:t> ((</a:t>
            </a:r>
            <a:r>
              <a:rPr lang="en-US" altLang="zh-CN" sz="2100" dirty="0" err="1"/>
              <a:t>pos</a:t>
            </a:r>
            <a:r>
              <a:rPr lang="en-US" altLang="zh-CN" sz="2100" dirty="0"/>
              <a:t> &lt; 1) || (</a:t>
            </a:r>
            <a:r>
              <a:rPr lang="en-US" altLang="zh-CN" sz="2100" dirty="0" err="1"/>
              <a:t>pos</a:t>
            </a:r>
            <a:r>
              <a:rPr lang="en-US" altLang="zh-CN" sz="2100" dirty="0"/>
              <a:t> &gt; </a:t>
            </a:r>
            <a:r>
              <a:rPr lang="en-US" altLang="zh-CN" sz="2100" dirty="0" err="1"/>
              <a:t>L.length</a:t>
            </a:r>
            <a:r>
              <a:rPr lang="en-US" altLang="zh-CN" sz="2100" dirty="0"/>
              <a:t>))</a:t>
            </a:r>
            <a:br>
              <a:rPr lang="en-US" altLang="zh-CN" sz="2100" dirty="0"/>
            </a:br>
            <a:r>
              <a:rPr lang="zh-CN" altLang="en-US" sz="2100" dirty="0"/>
              <a:t>　　</a:t>
            </a:r>
            <a:r>
              <a:rPr lang="zh-CN" altLang="en-US" sz="2100" dirty="0" smtClean="0"/>
              <a:t>     </a:t>
            </a:r>
            <a:r>
              <a:rPr lang="en-US" altLang="zh-CN" sz="2100" b="1" dirty="0" smtClean="0"/>
              <a:t>return </a:t>
            </a:r>
            <a:r>
              <a:rPr lang="en-US" altLang="zh-CN" sz="2100" b="1" dirty="0"/>
              <a:t>FALSE</a:t>
            </a:r>
            <a:r>
              <a:rPr lang="en-US" altLang="zh-CN" sz="2100" dirty="0"/>
              <a:t> ; </a:t>
            </a:r>
            <a:r>
              <a:rPr lang="zh-CN" altLang="en-US" sz="2100" dirty="0"/>
              <a:t>　　　　　　　　</a:t>
            </a:r>
            <a:r>
              <a:rPr lang="en-US" altLang="zh-CN" sz="2100" dirty="0"/>
              <a:t>// </a:t>
            </a:r>
            <a:r>
              <a:rPr lang="zh-CN" altLang="en-US" sz="2100" dirty="0"/>
              <a:t>删除位置不合法</a:t>
            </a:r>
            <a:br>
              <a:rPr lang="zh-CN" altLang="en-US" sz="2100" dirty="0"/>
            </a:br>
            <a:r>
              <a:rPr lang="zh-CN" altLang="en-US" sz="2100" dirty="0"/>
              <a:t>　　</a:t>
            </a:r>
            <a:r>
              <a:rPr lang="en-US" altLang="zh-CN" sz="2100" b="1" u="sng" dirty="0">
                <a:solidFill>
                  <a:schemeClr val="accent2"/>
                </a:solidFill>
              </a:rPr>
              <a:t>for (j = </a:t>
            </a:r>
            <a:r>
              <a:rPr lang="en-US" altLang="zh-CN" sz="2100" b="1" u="sng" dirty="0" err="1">
                <a:solidFill>
                  <a:schemeClr val="accent2"/>
                </a:solidFill>
              </a:rPr>
              <a:t>pos</a:t>
            </a:r>
            <a:r>
              <a:rPr lang="en-US" altLang="zh-CN" sz="2100" b="1" u="sng" dirty="0">
                <a:solidFill>
                  <a:schemeClr val="accent2"/>
                </a:solidFill>
              </a:rPr>
              <a:t>; j&lt;</a:t>
            </a:r>
            <a:r>
              <a:rPr lang="en-US" altLang="zh-CN" sz="2100" b="1" u="sng" dirty="0" err="1">
                <a:solidFill>
                  <a:schemeClr val="accent2"/>
                </a:solidFill>
              </a:rPr>
              <a:t>L.length</a:t>
            </a:r>
            <a:r>
              <a:rPr lang="en-US" altLang="zh-CN" sz="2100" b="1" u="sng" dirty="0">
                <a:solidFill>
                  <a:schemeClr val="accent2"/>
                </a:solidFill>
              </a:rPr>
              <a:t>; ++j) </a:t>
            </a:r>
            <a:br>
              <a:rPr lang="en-US" altLang="zh-CN" sz="2100" b="1" u="sng" dirty="0">
                <a:solidFill>
                  <a:schemeClr val="accent2"/>
                </a:solidFill>
              </a:rPr>
            </a:br>
            <a:r>
              <a:rPr lang="zh-CN" altLang="en-US" sz="2100" b="1" u="sng" dirty="0">
                <a:solidFill>
                  <a:schemeClr val="accent2"/>
                </a:solidFill>
              </a:rPr>
              <a:t>　　　</a:t>
            </a:r>
            <a:r>
              <a:rPr lang="zh-CN" altLang="en-US" sz="2100" b="1" u="sng" dirty="0" smtClean="0">
                <a:solidFill>
                  <a:schemeClr val="accent2"/>
                </a:solidFill>
              </a:rPr>
              <a:t> </a:t>
            </a:r>
            <a:r>
              <a:rPr lang="en-US" altLang="zh-CN" sz="2100" b="1" u="sng" dirty="0" err="1" smtClean="0">
                <a:solidFill>
                  <a:schemeClr val="accent2"/>
                </a:solidFill>
              </a:rPr>
              <a:t>L.elem</a:t>
            </a:r>
            <a:r>
              <a:rPr lang="en-US" altLang="zh-CN" sz="2100" b="1" u="sng" dirty="0" smtClean="0">
                <a:solidFill>
                  <a:schemeClr val="accent2"/>
                </a:solidFill>
              </a:rPr>
              <a:t>[j-1</a:t>
            </a:r>
            <a:r>
              <a:rPr lang="en-US" altLang="zh-CN" sz="2100" b="1" u="sng" dirty="0">
                <a:solidFill>
                  <a:schemeClr val="accent2"/>
                </a:solidFill>
              </a:rPr>
              <a:t>] = </a:t>
            </a:r>
            <a:r>
              <a:rPr lang="en-US" altLang="zh-CN" sz="2100" b="1" u="sng" dirty="0" err="1">
                <a:solidFill>
                  <a:schemeClr val="accent2"/>
                </a:solidFill>
              </a:rPr>
              <a:t>L.elem</a:t>
            </a:r>
            <a:r>
              <a:rPr lang="en-US" altLang="zh-CN" sz="2100" b="1" u="sng" dirty="0">
                <a:solidFill>
                  <a:schemeClr val="accent2"/>
                </a:solidFill>
              </a:rPr>
              <a:t>[j];</a:t>
            </a:r>
            <a:r>
              <a:rPr lang="en-US" altLang="zh-CN" sz="2100" b="1" u="sng" dirty="0"/>
              <a:t> </a:t>
            </a:r>
          </a:p>
          <a:p>
            <a:pPr eaLnBrk="1" fontAlgn="auto" hangingPunct="1">
              <a:lnSpc>
                <a:spcPct val="80000"/>
              </a:lnSpc>
              <a:spcAft>
                <a:spcPts val="0"/>
              </a:spcAft>
              <a:buFont typeface="Wingdings" panose="05000000000000000000" pitchFamily="2" charset="2"/>
              <a:buNone/>
              <a:defRPr/>
            </a:pPr>
            <a:r>
              <a:rPr lang="en-US" altLang="zh-CN" sz="2100" dirty="0"/>
              <a:t>           // </a:t>
            </a:r>
            <a:r>
              <a:rPr lang="zh-CN" altLang="en-US" sz="2100" dirty="0"/>
              <a:t>被删除元素之后的元素左移 </a:t>
            </a:r>
            <a:r>
              <a:rPr lang="zh-CN" altLang="en-US" sz="2100" dirty="0">
                <a:latin typeface="Arial" panose="020B0604020202020204" pitchFamily="34" charset="0"/>
              </a:rPr>
              <a:t>  </a:t>
            </a:r>
            <a:r>
              <a:rPr lang="zh-CN" altLang="en-US" sz="2100" dirty="0"/>
              <a:t>　　</a:t>
            </a:r>
          </a:p>
          <a:p>
            <a:pPr eaLnBrk="1" fontAlgn="auto" hangingPunct="1">
              <a:lnSpc>
                <a:spcPct val="80000"/>
              </a:lnSpc>
              <a:spcAft>
                <a:spcPts val="0"/>
              </a:spcAft>
              <a:buFont typeface="Wingdings" panose="05000000000000000000" pitchFamily="2" charset="2"/>
              <a:buNone/>
              <a:defRPr/>
            </a:pPr>
            <a:r>
              <a:rPr lang="zh-CN" altLang="en-US" sz="2100" dirty="0"/>
              <a:t>           </a:t>
            </a:r>
            <a:r>
              <a:rPr lang="en-US" altLang="zh-CN" sz="2100" b="1" dirty="0">
                <a:solidFill>
                  <a:schemeClr val="accent2"/>
                </a:solidFill>
              </a:rPr>
              <a:t>--</a:t>
            </a:r>
            <a:r>
              <a:rPr lang="en-US" altLang="zh-CN" sz="2100" b="1" dirty="0" err="1">
                <a:solidFill>
                  <a:schemeClr val="accent2"/>
                </a:solidFill>
              </a:rPr>
              <a:t>L.length</a:t>
            </a:r>
            <a:r>
              <a:rPr lang="en-US" altLang="zh-CN" sz="2100" b="1" dirty="0">
                <a:solidFill>
                  <a:schemeClr val="accent2"/>
                </a:solidFill>
              </a:rPr>
              <a:t>;</a:t>
            </a:r>
            <a:r>
              <a:rPr lang="en-US" altLang="zh-CN" sz="2100" dirty="0"/>
              <a:t> </a:t>
            </a:r>
            <a:r>
              <a:rPr lang="zh-CN" altLang="en-US" sz="2100" dirty="0"/>
              <a:t>　　　　　　　　　　 </a:t>
            </a:r>
            <a:r>
              <a:rPr lang="en-US" altLang="zh-CN" sz="2100" dirty="0"/>
              <a:t>// </a:t>
            </a:r>
            <a:r>
              <a:rPr lang="zh-CN" altLang="en-US" sz="2100" dirty="0"/>
              <a:t>表长减</a:t>
            </a:r>
            <a:r>
              <a:rPr lang="en-US" altLang="zh-CN" sz="2100" dirty="0"/>
              <a:t>1</a:t>
            </a:r>
            <a:br>
              <a:rPr lang="en-US" altLang="zh-CN" sz="2100" dirty="0"/>
            </a:br>
            <a:r>
              <a:rPr lang="zh-CN" altLang="en-US" sz="2100" dirty="0"/>
              <a:t>　　</a:t>
            </a:r>
            <a:r>
              <a:rPr lang="en-US" altLang="zh-CN" sz="2100" b="1" dirty="0"/>
              <a:t>return TRUE</a:t>
            </a:r>
            <a:r>
              <a:rPr lang="en-US" altLang="zh-CN" sz="2100" dirty="0"/>
              <a:t>;</a:t>
            </a:r>
            <a:br>
              <a:rPr lang="en-US" altLang="zh-CN" sz="2100" dirty="0"/>
            </a:br>
            <a:r>
              <a:rPr lang="en-US" altLang="zh-CN" sz="2100" b="1" dirty="0" smtClean="0"/>
              <a:t>}</a:t>
            </a:r>
            <a:r>
              <a:rPr lang="en-US" altLang="zh-CN" sz="2100" dirty="0" smtClean="0"/>
              <a:t> </a:t>
            </a:r>
            <a:r>
              <a:rPr lang="en-US" altLang="zh-CN" sz="2100" dirty="0"/>
              <a:t>// </a:t>
            </a:r>
            <a:r>
              <a:rPr lang="en-US" altLang="zh-CN" sz="2100" dirty="0" err="1"/>
              <a:t>ListDelete</a:t>
            </a:r>
            <a:r>
              <a:rPr lang="en-US" altLang="zh-CN" sz="2100" dirty="0"/>
              <a:t> </a:t>
            </a:r>
            <a:br>
              <a:rPr lang="en-US" altLang="zh-CN" sz="2100" dirty="0"/>
            </a:br>
            <a:endParaRPr lang="en-US" altLang="zh-CN" sz="2100" dirty="0"/>
          </a:p>
          <a:p>
            <a:pPr eaLnBrk="1" fontAlgn="auto" hangingPunct="1">
              <a:lnSpc>
                <a:spcPct val="80000"/>
              </a:lnSpc>
              <a:spcAft>
                <a:spcPts val="0"/>
              </a:spcAft>
              <a:defRPr/>
            </a:pPr>
            <a:r>
              <a:rPr lang="zh-CN" altLang="en-US" sz="2100" dirty="0"/>
              <a:t>时间复杂度为：</a:t>
            </a:r>
            <a:r>
              <a:rPr lang="en-US" altLang="zh-CN" sz="2100" b="1" i="1" dirty="0"/>
              <a:t>O </a:t>
            </a:r>
            <a:r>
              <a:rPr lang="en-US" altLang="zh-CN" sz="2100" b="1" dirty="0"/>
              <a:t>(</a:t>
            </a:r>
            <a:r>
              <a:rPr lang="en-US" altLang="zh-CN" sz="2100" b="1" dirty="0" err="1"/>
              <a:t>ListLength</a:t>
            </a:r>
            <a:r>
              <a:rPr lang="en-US" altLang="zh-CN" sz="2100" b="1" dirty="0"/>
              <a:t>(L))</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35843" name="Rectangle 3"/>
          <p:cNvSpPr>
            <a:spLocks noGrp="1" noChangeArrowheads="1"/>
          </p:cNvSpPr>
          <p:nvPr>
            <p:ph idx="1"/>
          </p:nvPr>
        </p:nvSpPr>
        <p:spPr>
          <a:xfrm>
            <a:off x="527050" y="1628775"/>
            <a:ext cx="10218738" cy="4351338"/>
          </a:xfrm>
        </p:spPr>
        <p:txBody>
          <a:bodyPr rtlCol="0">
            <a:normAutofit/>
          </a:bodyPr>
          <a:lstStyle/>
          <a:p>
            <a:pPr eaLnBrk="1" fontAlgn="auto" hangingPunct="1">
              <a:spcAft>
                <a:spcPts val="0"/>
              </a:spcAft>
              <a:defRPr/>
            </a:pPr>
            <a:r>
              <a:rPr lang="zh-CN" altLang="en-US" dirty="0" smtClean="0"/>
              <a:t>销毁结构操作</a:t>
            </a:r>
          </a:p>
          <a:p>
            <a:pPr marL="0" indent="0" eaLnBrk="1" fontAlgn="auto" hangingPunct="1">
              <a:spcAft>
                <a:spcPts val="0"/>
              </a:spcAft>
              <a:buFont typeface="Wingdings" panose="05000000000000000000" pitchFamily="2" charset="2"/>
              <a:buNone/>
              <a:defRPr/>
            </a:pPr>
            <a:r>
              <a:rPr lang="en-US" altLang="zh-CN" b="1" dirty="0" smtClean="0"/>
              <a:t>void</a:t>
            </a:r>
            <a:r>
              <a:rPr lang="en-US" altLang="zh-CN" dirty="0" smtClean="0"/>
              <a:t> </a:t>
            </a:r>
            <a:r>
              <a:rPr lang="en-US" altLang="zh-CN" dirty="0" err="1" smtClean="0"/>
              <a:t>DestroyList</a:t>
            </a:r>
            <a:r>
              <a:rPr lang="en-US" altLang="zh-CN" dirty="0" smtClean="0"/>
              <a:t>( </a:t>
            </a:r>
            <a:r>
              <a:rPr lang="en-US" altLang="zh-CN" dirty="0" err="1" smtClean="0"/>
              <a:t>SqList</a:t>
            </a:r>
            <a:r>
              <a:rPr lang="en-US" altLang="zh-CN" dirty="0" smtClean="0"/>
              <a:t> </a:t>
            </a:r>
            <a:r>
              <a:rPr lang="en-US" altLang="zh-CN" b="1" dirty="0" smtClean="0"/>
              <a:t>&amp;</a:t>
            </a:r>
            <a:r>
              <a:rPr lang="en-US" altLang="zh-CN" dirty="0" smtClean="0"/>
              <a:t>L )</a:t>
            </a:r>
            <a:br>
              <a:rPr lang="en-US" altLang="zh-CN" dirty="0" smtClean="0"/>
            </a:br>
            <a:r>
              <a:rPr lang="en-US" altLang="zh-CN" b="1" dirty="0" smtClean="0"/>
              <a:t>{</a:t>
            </a:r>
            <a:r>
              <a:rPr lang="en-US" altLang="zh-CN" dirty="0" smtClean="0"/>
              <a:t/>
            </a:r>
            <a:br>
              <a:rPr lang="en-US" altLang="zh-CN" dirty="0" smtClean="0"/>
            </a:br>
            <a:r>
              <a:rPr lang="zh-CN" altLang="en-US" dirty="0" smtClean="0"/>
              <a:t>　　</a:t>
            </a:r>
            <a:r>
              <a:rPr lang="en-US" altLang="zh-CN" b="1" dirty="0" smtClean="0"/>
              <a:t>// </a:t>
            </a:r>
            <a:r>
              <a:rPr lang="zh-CN" altLang="en-US" b="1" dirty="0" smtClean="0"/>
              <a:t>释放顺序表 </a:t>
            </a:r>
            <a:r>
              <a:rPr lang="en-US" altLang="zh-CN" b="1" dirty="0" smtClean="0"/>
              <a:t>L </a:t>
            </a:r>
            <a:r>
              <a:rPr lang="zh-CN" altLang="en-US" b="1" dirty="0" smtClean="0"/>
              <a:t>所占存储空间</a:t>
            </a:r>
            <a:r>
              <a:rPr lang="zh-CN" altLang="en-US" dirty="0" smtClean="0"/>
              <a:t/>
            </a:r>
            <a:br>
              <a:rPr lang="zh-CN" altLang="en-US" dirty="0" smtClean="0"/>
            </a:br>
            <a:r>
              <a:rPr lang="zh-CN" altLang="en-US" dirty="0" smtClean="0"/>
              <a:t>　　</a:t>
            </a:r>
            <a:r>
              <a:rPr lang="en-US" altLang="zh-CN" b="1" dirty="0" smtClean="0"/>
              <a:t>free(</a:t>
            </a:r>
            <a:r>
              <a:rPr lang="en-US" altLang="zh-CN" dirty="0" err="1" smtClean="0"/>
              <a:t>L.elem</a:t>
            </a:r>
            <a:r>
              <a:rPr lang="en-US" altLang="zh-CN" dirty="0" smtClean="0"/>
              <a:t>);</a:t>
            </a:r>
            <a:br>
              <a:rPr lang="en-US" altLang="zh-CN" dirty="0" smtClean="0"/>
            </a:br>
            <a:r>
              <a:rPr lang="zh-CN" altLang="en-US" dirty="0" smtClean="0"/>
              <a:t>　　</a:t>
            </a:r>
            <a:r>
              <a:rPr lang="en-US" altLang="zh-CN" dirty="0" err="1" smtClean="0"/>
              <a:t>L.listsize</a:t>
            </a:r>
            <a:r>
              <a:rPr lang="en-US" altLang="zh-CN" dirty="0" smtClean="0"/>
              <a:t> = 0;</a:t>
            </a:r>
            <a:br>
              <a:rPr lang="en-US" altLang="zh-CN" dirty="0" smtClean="0"/>
            </a:br>
            <a:r>
              <a:rPr lang="zh-CN" altLang="en-US" dirty="0" smtClean="0"/>
              <a:t>　　</a:t>
            </a:r>
            <a:r>
              <a:rPr lang="en-US" altLang="zh-CN" dirty="0" err="1" smtClean="0"/>
              <a:t>L.length</a:t>
            </a:r>
            <a:r>
              <a:rPr lang="en-US" altLang="zh-CN" dirty="0" smtClean="0"/>
              <a:t> = 0;</a:t>
            </a:r>
            <a:br>
              <a:rPr lang="en-US" altLang="zh-CN" dirty="0" smtClean="0"/>
            </a:br>
            <a:r>
              <a:rPr lang="en-US" altLang="zh-CN" b="1" dirty="0" smtClean="0"/>
              <a:t>} </a:t>
            </a:r>
            <a:r>
              <a:rPr lang="en-US" altLang="zh-CN" dirty="0" smtClean="0"/>
              <a:t>// </a:t>
            </a:r>
            <a:r>
              <a:rPr lang="en-US" altLang="zh-CN" dirty="0" err="1" smtClean="0"/>
              <a:t>DestroyList_Sq</a:t>
            </a:r>
            <a:endParaRPr lang="en-US" altLang="zh-CN" dirty="0" smtClean="0"/>
          </a:p>
          <a:p>
            <a:pPr eaLnBrk="1" fontAlgn="auto" hangingPunct="1">
              <a:spcAft>
                <a:spcPts val="0"/>
              </a:spcAft>
              <a:defRPr/>
            </a:pPr>
            <a:r>
              <a:rPr lang="zh-CN" altLang="en-US" dirty="0" smtClean="0"/>
              <a:t>时间复杂度为：</a:t>
            </a:r>
            <a:r>
              <a:rPr lang="en-US" altLang="zh-CN" b="1" i="1" dirty="0" smtClean="0"/>
              <a:t>O </a:t>
            </a:r>
            <a:r>
              <a:rPr lang="en-US" altLang="zh-CN" b="1" dirty="0" smtClean="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anim calcmode="lin" valueType="num">
                                      <p:cBhvr additive="base">
                                        <p:cTn id="7" dur="500" fill="hold"/>
                                        <p:tgtEl>
                                          <p:spTgt spid="3584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5843">
                                            <p:txEl>
                                              <p:pRg st="2" end="2"/>
                                            </p:txEl>
                                          </p:spTgt>
                                        </p:tgtEl>
                                        <p:attrNameLst>
                                          <p:attrName>style.visibility</p:attrName>
                                        </p:attrNameLst>
                                      </p:cBhvr>
                                      <p:to>
                                        <p:strVal val="visible"/>
                                      </p:to>
                                    </p:set>
                                    <p:anim calcmode="lin" valueType="num">
                                      <p:cBhvr additive="base">
                                        <p:cTn id="13" dur="500" fill="hold"/>
                                        <p:tgtEl>
                                          <p:spTgt spid="3584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79875" name="Rectangle 3"/>
          <p:cNvSpPr>
            <a:spLocks noGrp="1" noChangeArrowheads="1"/>
          </p:cNvSpPr>
          <p:nvPr>
            <p:ph idx="1"/>
          </p:nvPr>
        </p:nvSpPr>
        <p:spPr>
          <a:xfrm>
            <a:off x="527050" y="1628775"/>
            <a:ext cx="10218738" cy="4351338"/>
          </a:xfrm>
        </p:spPr>
        <p:txBody>
          <a:bodyPr/>
          <a:lstStyle/>
          <a:p>
            <a:pPr eaLnBrk="1" hangingPunct="1"/>
            <a:r>
              <a:rPr lang="zh-CN" altLang="en-US" smtClean="0"/>
              <a:t>插入和删除操作的性能分析</a:t>
            </a:r>
          </a:p>
          <a:p>
            <a:pPr lvl="1" eaLnBrk="1" hangingPunct="1"/>
            <a:r>
              <a:rPr lang="zh-CN" altLang="en-US" smtClean="0"/>
              <a:t>在顺序表中任何一个合法位置上进行</a:t>
            </a:r>
            <a:r>
              <a:rPr lang="en-US" altLang="zh-CN" smtClean="0"/>
              <a:t>"</a:t>
            </a:r>
            <a:r>
              <a:rPr lang="zh-CN" altLang="en-US" smtClean="0"/>
              <a:t>一次</a:t>
            </a:r>
            <a:r>
              <a:rPr lang="en-US" altLang="zh-CN" smtClean="0"/>
              <a:t>"</a:t>
            </a:r>
            <a:r>
              <a:rPr lang="zh-CN" altLang="en-US" smtClean="0"/>
              <a:t>插入或删除操作时，需要移动的元素个数的平均值是多少？</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37891" name="Rectangle 3"/>
          <p:cNvSpPr>
            <a:spLocks noGrp="1" noChangeArrowheads="1"/>
          </p:cNvSpPr>
          <p:nvPr>
            <p:ph idx="1"/>
          </p:nvPr>
        </p:nvSpPr>
        <p:spPr>
          <a:xfrm>
            <a:off x="527050" y="1628775"/>
            <a:ext cx="10218738" cy="4351338"/>
          </a:xfrm>
        </p:spPr>
        <p:txBody>
          <a:bodyPr rtlCol="0">
            <a:normAutofit/>
          </a:bodyPr>
          <a:lstStyle/>
          <a:p>
            <a:pPr eaLnBrk="1" fontAlgn="auto" hangingPunct="1">
              <a:spcAft>
                <a:spcPts val="0"/>
              </a:spcAft>
              <a:defRPr/>
            </a:pPr>
            <a:r>
              <a:rPr lang="zh-CN" altLang="en-US" sz="2200" b="1" dirty="0"/>
              <a:t>插入操作</a:t>
            </a:r>
          </a:p>
          <a:p>
            <a:pPr marL="0" indent="0" eaLnBrk="1" fontAlgn="auto" hangingPunct="1">
              <a:spcAft>
                <a:spcPts val="0"/>
              </a:spcAft>
              <a:buFont typeface="Wingdings" panose="05000000000000000000" pitchFamily="2" charset="2"/>
              <a:buNone/>
              <a:defRPr/>
            </a:pPr>
            <a:r>
              <a:rPr lang="en-US" altLang="zh-CN" sz="2200" i="1" dirty="0" err="1"/>
              <a:t>E</a:t>
            </a:r>
            <a:r>
              <a:rPr lang="en-US" altLang="zh-CN" sz="2200" i="1" baseline="-25000" dirty="0" err="1"/>
              <a:t>in</a:t>
            </a:r>
            <a:r>
              <a:rPr lang="en-US" altLang="zh-CN" sz="2200" dirty="0"/>
              <a:t>(n)</a:t>
            </a:r>
            <a:r>
              <a:rPr lang="zh-CN" altLang="en-US" sz="2200" dirty="0"/>
              <a:t>表示在长度为 </a:t>
            </a:r>
            <a:r>
              <a:rPr lang="en-US" altLang="zh-CN" sz="2200" dirty="0"/>
              <a:t>n </a:t>
            </a:r>
            <a:r>
              <a:rPr lang="zh-CN" altLang="en-US" sz="2200" dirty="0"/>
              <a:t>的顺序表中进行一次插入操作时所需进行</a:t>
            </a:r>
            <a:r>
              <a:rPr lang="zh-CN" altLang="en-US" sz="2200" dirty="0">
                <a:latin typeface="Arial" panose="020B0604020202020204" pitchFamily="34" charset="0"/>
              </a:rPr>
              <a:t>“</a:t>
            </a:r>
            <a:r>
              <a:rPr lang="zh-CN" altLang="en-US" sz="2200" dirty="0"/>
              <a:t>移动</a:t>
            </a:r>
            <a:r>
              <a:rPr lang="zh-CN" altLang="en-US" sz="2200" dirty="0">
                <a:latin typeface="Arial" panose="020B0604020202020204" pitchFamily="34" charset="0"/>
              </a:rPr>
              <a:t>”</a:t>
            </a:r>
            <a:r>
              <a:rPr lang="zh-CN" altLang="en-US" sz="2200" dirty="0"/>
              <a:t>元素个数的期望值（即</a:t>
            </a:r>
            <a:r>
              <a:rPr lang="zh-CN" altLang="en-US" sz="2200" b="1" dirty="0"/>
              <a:t>平均移动个数</a:t>
            </a:r>
            <a:r>
              <a:rPr lang="zh-CN" altLang="en-US" sz="2200" dirty="0"/>
              <a:t>），</a:t>
            </a:r>
          </a:p>
          <a:p>
            <a:pPr marL="0" indent="0" eaLnBrk="1" fontAlgn="auto" hangingPunct="1">
              <a:spcAft>
                <a:spcPts val="0"/>
              </a:spcAft>
              <a:buFont typeface="Wingdings" panose="05000000000000000000" pitchFamily="2" charset="2"/>
              <a:buNone/>
              <a:defRPr/>
            </a:pPr>
            <a:r>
              <a:rPr kumimoji="1" lang="zh-CN" altLang="en-US" sz="2200" dirty="0"/>
              <a:t>顺序表上的插入运算，时间主要消耗在了数据的移动上，在第</a:t>
            </a:r>
            <a:r>
              <a:rPr kumimoji="1" lang="en-US" altLang="zh-CN" sz="2200" dirty="0" err="1"/>
              <a:t>i</a:t>
            </a:r>
            <a:r>
              <a:rPr kumimoji="1" lang="zh-CN" altLang="en-US" sz="2200" dirty="0"/>
              <a:t>个位置上插入 </a:t>
            </a:r>
            <a:r>
              <a:rPr kumimoji="1" lang="en-US" altLang="zh-CN" sz="2200" dirty="0"/>
              <a:t>x </a:t>
            </a:r>
            <a:r>
              <a:rPr kumimoji="1" lang="zh-CN" altLang="en-US" sz="2200" dirty="0"/>
              <a:t>，从 </a:t>
            </a:r>
            <a:r>
              <a:rPr kumimoji="1" lang="en-US" altLang="zh-CN" sz="2200" dirty="0" err="1"/>
              <a:t>a</a:t>
            </a:r>
            <a:r>
              <a:rPr kumimoji="1" lang="en-US" altLang="zh-CN" sz="2200" baseline="-25000" dirty="0" err="1"/>
              <a:t>i</a:t>
            </a:r>
            <a:r>
              <a:rPr kumimoji="1" lang="en-US" altLang="zh-CN" sz="2200" dirty="0"/>
              <a:t> </a:t>
            </a:r>
            <a:r>
              <a:rPr kumimoji="1" lang="zh-CN" altLang="en-US" sz="2200" dirty="0"/>
              <a:t>到 </a:t>
            </a:r>
            <a:r>
              <a:rPr kumimoji="1" lang="en-US" altLang="zh-CN" sz="2200" dirty="0"/>
              <a:t>a</a:t>
            </a:r>
            <a:r>
              <a:rPr kumimoji="1" lang="en-US" altLang="zh-CN" sz="2200" baseline="-25000" dirty="0"/>
              <a:t>n</a:t>
            </a:r>
            <a:r>
              <a:rPr kumimoji="1" lang="en-US" altLang="zh-CN" sz="2200" dirty="0"/>
              <a:t> </a:t>
            </a:r>
            <a:r>
              <a:rPr kumimoji="1" lang="zh-CN" altLang="en-US" sz="2200" dirty="0"/>
              <a:t>都要向下移动一个位置，共需要移动 </a:t>
            </a:r>
            <a:r>
              <a:rPr kumimoji="1" lang="en-US" altLang="zh-CN" sz="2200" dirty="0"/>
              <a:t>n</a:t>
            </a:r>
            <a:r>
              <a:rPr kumimoji="1" lang="zh-CN" altLang="en-US" sz="2200" dirty="0"/>
              <a:t>－</a:t>
            </a:r>
            <a:r>
              <a:rPr kumimoji="1" lang="en-US" altLang="zh-CN" sz="2200" dirty="0" err="1"/>
              <a:t>i</a:t>
            </a:r>
            <a:r>
              <a:rPr kumimoji="1" lang="zh-CN" altLang="en-US" sz="2200" dirty="0"/>
              <a:t>＋</a:t>
            </a:r>
            <a:r>
              <a:rPr kumimoji="1" lang="en-US" altLang="zh-CN" sz="2200" dirty="0"/>
              <a:t>1</a:t>
            </a:r>
            <a:r>
              <a:rPr kumimoji="1" lang="zh-CN" altLang="en-US" sz="2200" dirty="0"/>
              <a:t>个元素，而 </a:t>
            </a:r>
            <a:r>
              <a:rPr kumimoji="1" lang="en-US" altLang="zh-CN" sz="2200" dirty="0" err="1"/>
              <a:t>i</a:t>
            </a:r>
            <a:r>
              <a:rPr kumimoji="1" lang="en-US" altLang="zh-CN" sz="2200" dirty="0"/>
              <a:t> </a:t>
            </a:r>
            <a:r>
              <a:rPr kumimoji="1" lang="zh-CN" altLang="en-US" sz="2200" dirty="0"/>
              <a:t>的取值范围为 ：</a:t>
            </a:r>
            <a:r>
              <a:rPr kumimoji="1" lang="en-US" altLang="zh-CN" sz="2200" dirty="0"/>
              <a:t>1&lt;= </a:t>
            </a:r>
            <a:r>
              <a:rPr kumimoji="1" lang="en-US" altLang="zh-CN" sz="2200" dirty="0" err="1"/>
              <a:t>i</a:t>
            </a:r>
            <a:r>
              <a:rPr kumimoji="1" lang="en-US" altLang="zh-CN" sz="2200" dirty="0"/>
              <a:t>&lt;= n+1</a:t>
            </a:r>
            <a:r>
              <a:rPr kumimoji="1" lang="zh-CN" altLang="en-US" sz="2200" dirty="0"/>
              <a:t>，即有 </a:t>
            </a:r>
            <a:r>
              <a:rPr kumimoji="1" lang="en-US" altLang="zh-CN" sz="2200" dirty="0"/>
              <a:t>n</a:t>
            </a:r>
            <a:r>
              <a:rPr kumimoji="1" lang="zh-CN" altLang="en-US" sz="2200" dirty="0"/>
              <a:t>＋</a:t>
            </a:r>
            <a:r>
              <a:rPr kumimoji="1" lang="en-US" altLang="zh-CN" sz="2200" dirty="0"/>
              <a:t>1</a:t>
            </a:r>
            <a:r>
              <a:rPr kumimoji="1" lang="zh-CN" altLang="en-US" sz="2200" dirty="0"/>
              <a:t>个位置可以插入。设在第</a:t>
            </a:r>
            <a:r>
              <a:rPr kumimoji="1" lang="en-US" altLang="zh-CN" sz="2200" dirty="0" err="1"/>
              <a:t>i</a:t>
            </a:r>
            <a:r>
              <a:rPr kumimoji="1" lang="zh-CN" altLang="en-US" sz="2200" dirty="0"/>
              <a:t>个位置上作插入的概率为</a:t>
            </a:r>
            <a:r>
              <a:rPr kumimoji="1" lang="en-US" altLang="zh-CN" sz="2200" dirty="0"/>
              <a:t>P</a:t>
            </a:r>
            <a:r>
              <a:rPr kumimoji="1" lang="en-US" altLang="zh-CN" sz="2200" baseline="-25000" dirty="0"/>
              <a:t>i</a:t>
            </a:r>
            <a:r>
              <a:rPr kumimoji="1" lang="zh-CN" altLang="en-US" sz="2200" dirty="0"/>
              <a:t>，则平均移动数据元素的次数：</a:t>
            </a:r>
            <a:endParaRPr lang="zh-CN" altLang="en-US" sz="2200" dirty="0"/>
          </a:p>
        </p:txBody>
      </p:sp>
      <p:graphicFrame>
        <p:nvGraphicFramePr>
          <p:cNvPr id="80900" name="Object 7"/>
          <p:cNvGraphicFramePr>
            <a:graphicFrameLocks noChangeAspect="1"/>
          </p:cNvGraphicFramePr>
          <p:nvPr>
            <p:ph sz="half" idx="4294967295"/>
          </p:nvPr>
        </p:nvGraphicFramePr>
        <p:xfrm>
          <a:off x="3071813" y="4437063"/>
          <a:ext cx="3887787" cy="982662"/>
        </p:xfrm>
        <a:graphic>
          <a:graphicData uri="http://schemas.openxmlformats.org/presentationml/2006/ole">
            <mc:AlternateContent xmlns:mc="http://schemas.openxmlformats.org/markup-compatibility/2006">
              <mc:Choice xmlns:v="urn:schemas-microsoft-com:vml" Requires="v">
                <p:oleObj spid="_x0000_s80902" r:id="rId4" imgW="1847850" imgH="466725" progId="">
                  <p:embed/>
                </p:oleObj>
              </mc:Choice>
              <mc:Fallback>
                <p:oleObj r:id="rId4" imgW="1847850" imgH="466725" progId="">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813" y="4437063"/>
                        <a:ext cx="3887787" cy="98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 calcmode="lin" valueType="num">
                                      <p:cBhvr additive="base">
                                        <p:cTn id="7"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7891">
                                            <p:txEl>
                                              <p:pRg st="2" end="2"/>
                                            </p:txEl>
                                          </p:spTgt>
                                        </p:tgtEl>
                                        <p:attrNameLst>
                                          <p:attrName>style.visibility</p:attrName>
                                        </p:attrNameLst>
                                      </p:cBhvr>
                                      <p:to>
                                        <p:strVal val="visible"/>
                                      </p:to>
                                    </p:set>
                                    <p:anim calcmode="lin" valueType="num">
                                      <p:cBhvr additive="base">
                                        <p:cTn id="13"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82947" name="Rectangle 3"/>
          <p:cNvSpPr>
            <a:spLocks noGrp="1" noChangeArrowheads="1"/>
          </p:cNvSpPr>
          <p:nvPr>
            <p:ph idx="1"/>
          </p:nvPr>
        </p:nvSpPr>
        <p:spPr>
          <a:xfrm>
            <a:off x="527050" y="1628775"/>
            <a:ext cx="10218738" cy="4351338"/>
          </a:xfrm>
        </p:spPr>
        <p:txBody>
          <a:bodyPr/>
          <a:lstStyle/>
          <a:p>
            <a:pPr eaLnBrk="1" hangingPunct="1"/>
            <a:r>
              <a:rPr lang="zh-CN" altLang="en-US" smtClean="0"/>
              <a:t>由于可能插入的位置 </a:t>
            </a:r>
            <a:r>
              <a:rPr lang="en-US" altLang="zh-CN" smtClean="0"/>
              <a:t>i=1,2,3,</a:t>
            </a:r>
            <a:r>
              <a:rPr lang="en-US" altLang="zh-CN" smtClean="0">
                <a:latin typeface="Arial" panose="020B0604020202020204" pitchFamily="34" charset="0"/>
              </a:rPr>
              <a:t>…</a:t>
            </a:r>
            <a:r>
              <a:rPr lang="en-US" altLang="zh-CN" smtClean="0"/>
              <a:t>,n+1 </a:t>
            </a:r>
            <a:r>
              <a:rPr lang="zh-CN" altLang="en-US" smtClean="0"/>
              <a:t>共 </a:t>
            </a:r>
            <a:r>
              <a:rPr lang="en-US" altLang="zh-CN" smtClean="0"/>
              <a:t>n+1 </a:t>
            </a:r>
            <a:r>
              <a:rPr lang="zh-CN" altLang="en-US" smtClean="0"/>
              <a:t>个，假设在每个位置上进行插入的机会均等，则：</a:t>
            </a:r>
          </a:p>
          <a:p>
            <a:pPr eaLnBrk="1" hangingPunct="1">
              <a:buFont typeface="Wingdings" panose="05000000000000000000" pitchFamily="2" charset="2"/>
              <a:buNone/>
            </a:pPr>
            <a:endParaRPr lang="zh-CN" altLang="en-US" smtClean="0"/>
          </a:p>
          <a:p>
            <a:pPr algn="ctr" eaLnBrk="1" hangingPunct="1">
              <a:buFont typeface="Wingdings" panose="05000000000000000000" pitchFamily="2" charset="2"/>
              <a:buNone/>
            </a:pPr>
            <a:r>
              <a:rPr lang="en-US" altLang="zh-CN" smtClean="0"/>
              <a:t>P</a:t>
            </a:r>
            <a:r>
              <a:rPr lang="en-US" altLang="zh-CN" baseline="-25000" smtClean="0"/>
              <a:t>i</a:t>
            </a:r>
            <a:r>
              <a:rPr lang="en-US" altLang="zh-CN" smtClean="0"/>
              <a:t>=1/(n+1)</a:t>
            </a:r>
          </a:p>
          <a:p>
            <a:pPr eaLnBrk="1" hangingPunct="1">
              <a:buFont typeface="Wingdings" panose="05000000000000000000" pitchFamily="2" charset="2"/>
              <a:buNone/>
            </a:pPr>
            <a:endParaRPr lang="en-US" altLang="zh-CN"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83971" name="Rectangle 3"/>
          <p:cNvSpPr>
            <a:spLocks noGrp="1" noChangeArrowheads="1"/>
          </p:cNvSpPr>
          <p:nvPr>
            <p:ph idx="1"/>
          </p:nvPr>
        </p:nvSpPr>
        <p:spPr>
          <a:xfrm>
            <a:off x="527050" y="1628775"/>
            <a:ext cx="10218738" cy="4351338"/>
          </a:xfrm>
        </p:spPr>
        <p:txBody>
          <a:bodyPr/>
          <a:lstStyle/>
          <a:p>
            <a:pPr eaLnBrk="1" hangingPunct="1"/>
            <a:r>
              <a:rPr lang="zh-CN" altLang="en-US" sz="2600" smtClean="0"/>
              <a:t>即有：</a:t>
            </a:r>
          </a:p>
          <a:p>
            <a:pPr eaLnBrk="1" hangingPunct="1"/>
            <a:endParaRPr lang="zh-CN" altLang="en-US" sz="2600" smtClean="0"/>
          </a:p>
          <a:p>
            <a:pPr eaLnBrk="1" hangingPunct="1"/>
            <a:endParaRPr lang="zh-CN" altLang="en-US" sz="2600" smtClean="0"/>
          </a:p>
          <a:p>
            <a:pPr eaLnBrk="1" hangingPunct="1"/>
            <a:endParaRPr lang="en-US" altLang="zh-CN" sz="2600" smtClean="0"/>
          </a:p>
        </p:txBody>
      </p:sp>
      <p:graphicFrame>
        <p:nvGraphicFramePr>
          <p:cNvPr id="83972" name="Object 10"/>
          <p:cNvGraphicFramePr>
            <a:graphicFrameLocks noChangeAspect="1"/>
          </p:cNvGraphicFramePr>
          <p:nvPr>
            <p:ph sz="half" idx="4294967295"/>
          </p:nvPr>
        </p:nvGraphicFramePr>
        <p:xfrm>
          <a:off x="1774825" y="2744788"/>
          <a:ext cx="7488238" cy="1042987"/>
        </p:xfrm>
        <a:graphic>
          <a:graphicData uri="http://schemas.openxmlformats.org/presentationml/2006/ole">
            <mc:AlternateContent xmlns:mc="http://schemas.openxmlformats.org/markup-compatibility/2006">
              <mc:Choice xmlns:v="urn:schemas-microsoft-com:vml" Requires="v">
                <p:oleObj spid="_x0000_s83974" r:id="rId4" imgW="3124200" imgH="438150" progId="">
                  <p:embed/>
                </p:oleObj>
              </mc:Choice>
              <mc:Fallback>
                <p:oleObj r:id="rId4" imgW="3124200" imgH="438150" progId="">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4825" y="2744788"/>
                        <a:ext cx="7488238" cy="1042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527050" y="368300"/>
            <a:ext cx="10218738" cy="822325"/>
          </a:xfrm>
        </p:spPr>
        <p:txBody>
          <a:bodyPr/>
          <a:lstStyle/>
          <a:p>
            <a:pPr eaLnBrk="1" hangingPunct="1"/>
            <a:r>
              <a:rPr lang="zh-CN" altLang="en-US" smtClean="0"/>
              <a:t>顺序表删除运算的平均时间复杂度</a:t>
            </a:r>
          </a:p>
        </p:txBody>
      </p:sp>
      <p:sp>
        <p:nvSpPr>
          <p:cNvPr id="86019" name="Rectangle 3"/>
          <p:cNvSpPr>
            <a:spLocks noGrp="1" noChangeArrowheads="1"/>
          </p:cNvSpPr>
          <p:nvPr>
            <p:ph idx="1"/>
          </p:nvPr>
        </p:nvSpPr>
        <p:spPr>
          <a:xfrm>
            <a:off x="527050" y="1628775"/>
            <a:ext cx="10218738" cy="4351338"/>
          </a:xfrm>
        </p:spPr>
        <p:txBody>
          <a:bodyPr/>
          <a:lstStyle/>
          <a:p>
            <a:pPr eaLnBrk="1" hangingPunct="1"/>
            <a:r>
              <a:rPr kumimoji="1" lang="zh-CN" altLang="en-US" sz="2600" smtClean="0"/>
              <a:t>与插入运算相同，其时间主要消耗在了移动表中元素上，删除第</a:t>
            </a:r>
            <a:r>
              <a:rPr kumimoji="1" lang="en-US" altLang="zh-CN" sz="2600" smtClean="0"/>
              <a:t>i</a:t>
            </a:r>
            <a:r>
              <a:rPr kumimoji="1" lang="zh-CN" altLang="en-US" sz="2600" smtClean="0"/>
              <a:t>个元素时，其后面的元素 </a:t>
            </a:r>
            <a:r>
              <a:rPr kumimoji="1" lang="en-US" altLang="zh-CN" sz="2600" smtClean="0"/>
              <a:t>a</a:t>
            </a:r>
            <a:r>
              <a:rPr kumimoji="1" lang="en-US" altLang="zh-CN" sz="2600" baseline="-25000" smtClean="0"/>
              <a:t>i</a:t>
            </a:r>
            <a:r>
              <a:rPr kumimoji="1" lang="en-US" altLang="zh-CN" sz="2600" smtClean="0"/>
              <a:t>+1</a:t>
            </a:r>
            <a:r>
              <a:rPr kumimoji="1" lang="zh-CN" altLang="en-US" sz="2600" smtClean="0"/>
              <a:t>～</a:t>
            </a:r>
            <a:r>
              <a:rPr kumimoji="1" lang="en-US" altLang="zh-CN" sz="2600" smtClean="0"/>
              <a:t>a</a:t>
            </a:r>
            <a:r>
              <a:rPr kumimoji="1" lang="en-US" altLang="zh-CN" sz="2600" baseline="-25000" smtClean="0"/>
              <a:t>n</a:t>
            </a:r>
            <a:r>
              <a:rPr kumimoji="1" lang="en-US" altLang="zh-CN" sz="2600" smtClean="0"/>
              <a:t>  </a:t>
            </a:r>
            <a:r>
              <a:rPr kumimoji="1" lang="zh-CN" altLang="en-US" sz="2600" smtClean="0"/>
              <a:t>都要向上移动一个位置，共移动了 </a:t>
            </a:r>
            <a:r>
              <a:rPr kumimoji="1" lang="en-US" altLang="zh-CN" sz="2600" smtClean="0"/>
              <a:t>n-i </a:t>
            </a:r>
            <a:r>
              <a:rPr kumimoji="1" lang="zh-CN" altLang="en-US" sz="2600" smtClean="0"/>
              <a:t>个元素，所以平均移动数据元素的次数：</a:t>
            </a:r>
          </a:p>
        </p:txBody>
      </p:sp>
      <p:graphicFrame>
        <p:nvGraphicFramePr>
          <p:cNvPr id="86020" name="Object 4"/>
          <p:cNvGraphicFramePr>
            <a:graphicFrameLocks noChangeAspect="1"/>
          </p:cNvGraphicFramePr>
          <p:nvPr>
            <p:ph sz="half" idx="4294967295"/>
          </p:nvPr>
        </p:nvGraphicFramePr>
        <p:xfrm>
          <a:off x="4160838" y="3500438"/>
          <a:ext cx="2952750" cy="1003300"/>
        </p:xfrm>
        <a:graphic>
          <a:graphicData uri="http://schemas.openxmlformats.org/presentationml/2006/ole">
            <mc:AlternateContent xmlns:mc="http://schemas.openxmlformats.org/markup-compatibility/2006">
              <mc:Choice xmlns:v="urn:schemas-microsoft-com:vml" Requires="v">
                <p:oleObj spid="_x0000_s86022" r:id="rId3" imgW="1400175" imgH="476250" progId="">
                  <p:embed/>
                </p:oleObj>
              </mc:Choice>
              <mc:Fallback>
                <p:oleObj r:id="rId3" imgW="1400175" imgH="47625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0838" y="3500438"/>
                        <a:ext cx="2952750"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87043" name="Rectangle 3"/>
          <p:cNvSpPr>
            <a:spLocks noGrp="1" noChangeArrowheads="1"/>
          </p:cNvSpPr>
          <p:nvPr>
            <p:ph idx="1"/>
          </p:nvPr>
        </p:nvSpPr>
        <p:spPr>
          <a:xfrm>
            <a:off x="527050" y="1628775"/>
            <a:ext cx="10218738" cy="4351338"/>
          </a:xfrm>
        </p:spPr>
        <p:txBody>
          <a:bodyPr/>
          <a:lstStyle/>
          <a:p>
            <a:pPr eaLnBrk="1" hangingPunct="1"/>
            <a:r>
              <a:rPr kumimoji="1" lang="zh-CN" altLang="en-US" sz="2600" smtClean="0"/>
              <a:t>在等概率情况下，</a:t>
            </a:r>
            <a:r>
              <a:rPr kumimoji="1" lang="en-US" altLang="zh-CN" sz="2600" smtClean="0"/>
              <a:t>p</a:t>
            </a:r>
            <a:r>
              <a:rPr kumimoji="1" lang="en-US" altLang="zh-CN" sz="2600" baseline="-25000" smtClean="0"/>
              <a:t>i </a:t>
            </a:r>
            <a:r>
              <a:rPr kumimoji="1" lang="en-US" altLang="zh-CN" sz="2600" smtClean="0"/>
              <a:t>=1/ n</a:t>
            </a:r>
            <a:r>
              <a:rPr kumimoji="1" lang="zh-CN" altLang="en-US" sz="2600" smtClean="0"/>
              <a:t>，则：</a:t>
            </a:r>
          </a:p>
        </p:txBody>
      </p:sp>
      <p:graphicFrame>
        <p:nvGraphicFramePr>
          <p:cNvPr id="87044" name="Object 4"/>
          <p:cNvGraphicFramePr>
            <a:graphicFrameLocks noChangeAspect="1"/>
          </p:cNvGraphicFramePr>
          <p:nvPr>
            <p:ph sz="half" idx="4294967295"/>
          </p:nvPr>
        </p:nvGraphicFramePr>
        <p:xfrm>
          <a:off x="2351088" y="3141663"/>
          <a:ext cx="5467350" cy="973137"/>
        </p:xfrm>
        <a:graphic>
          <a:graphicData uri="http://schemas.openxmlformats.org/presentationml/2006/ole">
            <mc:AlternateContent xmlns:mc="http://schemas.openxmlformats.org/markup-compatibility/2006">
              <mc:Choice xmlns:v="urn:schemas-microsoft-com:vml" Requires="v">
                <p:oleObj spid="_x0000_s87046" name="公式" r:id="rId3" imgW="2425700" imgH="431800" progId="Equation.3">
                  <p:embed/>
                </p:oleObj>
              </mc:Choice>
              <mc:Fallback>
                <p:oleObj name="公式" r:id="rId3" imgW="24257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1088" y="3141663"/>
                        <a:ext cx="5467350" cy="97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88067" name="Rectangle 3"/>
          <p:cNvSpPr>
            <a:spLocks noGrp="1" noChangeArrowheads="1"/>
          </p:cNvSpPr>
          <p:nvPr>
            <p:ph idx="1"/>
          </p:nvPr>
        </p:nvSpPr>
        <p:spPr>
          <a:xfrm>
            <a:off x="527050" y="1628775"/>
            <a:ext cx="10218738" cy="4351338"/>
          </a:xfrm>
        </p:spPr>
        <p:txBody>
          <a:bodyPr/>
          <a:lstStyle/>
          <a:p>
            <a:pPr eaLnBrk="1" hangingPunct="1"/>
            <a:r>
              <a:rPr lang="zh-CN" altLang="en-US" smtClean="0"/>
              <a:t>在顺序存储表示的线性表中插入或删除一个数据元素，</a:t>
            </a:r>
            <a:r>
              <a:rPr lang="zh-CN" altLang="en-US" b="1" smtClean="0"/>
              <a:t>平均约需移动表中一半元素</a:t>
            </a:r>
            <a:r>
              <a:rPr lang="zh-CN" altLang="en-US" smtClean="0"/>
              <a:t>。</a:t>
            </a:r>
          </a:p>
          <a:p>
            <a:pPr eaLnBrk="1" hangingPunct="1"/>
            <a:r>
              <a:rPr lang="zh-CN" altLang="en-US" smtClean="0"/>
              <a:t>这是由于顺序存储要求线性表的元素依次紧挨存放造成的。因此，</a:t>
            </a:r>
            <a:r>
              <a:rPr lang="zh-CN" altLang="en-US" b="1" u="sng" smtClean="0">
                <a:solidFill>
                  <a:schemeClr val="accent2"/>
                </a:solidFill>
              </a:rPr>
              <a:t>这种顺序存储表示仅适用于不常进行插入和删除操作、表中元素相对稳定的线性表。</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线性表的顺序存储表示和实现</a:t>
            </a:r>
          </a:p>
        </p:txBody>
      </p:sp>
      <p:sp>
        <p:nvSpPr>
          <p:cNvPr id="89091" name="Rectangle 3"/>
          <p:cNvSpPr>
            <a:spLocks noGrp="1" noChangeArrowheads="1"/>
          </p:cNvSpPr>
          <p:nvPr>
            <p:ph idx="1"/>
          </p:nvPr>
        </p:nvSpPr>
        <p:spPr>
          <a:xfrm>
            <a:off x="527050" y="1628775"/>
            <a:ext cx="10218738" cy="4351338"/>
          </a:xfrm>
        </p:spPr>
        <p:txBody>
          <a:bodyPr/>
          <a:lstStyle/>
          <a:p>
            <a:pPr eaLnBrk="1" hangingPunct="1"/>
            <a:r>
              <a:rPr lang="zh-CN" altLang="en-US" sz="3200" smtClean="0">
                <a:latin typeface="宋体" panose="02010600030101010101" pitchFamily="2" charset="-122"/>
              </a:rPr>
              <a:t>线性表顺序存储结构的特点</a:t>
            </a:r>
          </a:p>
          <a:p>
            <a:pPr lvl="1" eaLnBrk="1" hangingPunct="1"/>
            <a:r>
              <a:rPr lang="zh-CN" altLang="en-US" smtClean="0">
                <a:latin typeface="宋体" panose="02010600030101010101" pitchFamily="2" charset="-122"/>
              </a:rPr>
              <a:t>逻辑上相邻的元素，其物理位置也相邻；</a:t>
            </a:r>
          </a:p>
          <a:p>
            <a:pPr lvl="1" eaLnBrk="1" hangingPunct="1"/>
            <a:r>
              <a:rPr lang="zh-CN" altLang="en-US" smtClean="0">
                <a:latin typeface="宋体" panose="02010600030101010101" pitchFamily="2" charset="-122"/>
              </a:rPr>
              <a:t>可随机存取表中任一元素；</a:t>
            </a:r>
          </a:p>
          <a:p>
            <a:pPr lvl="1" eaLnBrk="1" hangingPunct="1"/>
            <a:r>
              <a:rPr lang="zh-CN" altLang="en-US" smtClean="0">
                <a:latin typeface="宋体" panose="02010600030101010101" pitchFamily="2" charset="-122"/>
              </a:rPr>
              <a:t>必须按最大可能长度预分存储空间，存储空间利用率低，表的容量难以扩充，是一种静态存储结构</a:t>
            </a:r>
            <a:r>
              <a:rPr lang="zh-CN" altLang="en-US" sz="3000" smtClean="0">
                <a:latin typeface="宋体" panose="02010600030101010101" pitchFamily="2" charset="-122"/>
              </a:rPr>
              <a:t>；</a:t>
            </a:r>
          </a:p>
          <a:p>
            <a:pPr lvl="1" eaLnBrk="1" hangingPunct="1"/>
            <a:r>
              <a:rPr lang="zh-CN" altLang="en-US" smtClean="0">
                <a:latin typeface="宋体" panose="02010600030101010101" pitchFamily="2" charset="-122"/>
              </a:rPr>
              <a:t>插入删除时，需移动大量元素，平均移动元素为</a:t>
            </a:r>
            <a:r>
              <a:rPr lang="en-US" altLang="zh-CN" smtClean="0">
                <a:latin typeface="宋体" panose="02010600030101010101" pitchFamily="2" charset="-122"/>
              </a:rPr>
              <a:t>n/2</a:t>
            </a:r>
            <a:r>
              <a:rPr lang="zh-CN" altLang="en-US" smtClean="0">
                <a:latin typeface="宋体" panose="02010600030101010101" pitchFamily="2" charset="-122"/>
              </a:rPr>
              <a:t>。</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90115" name="Rectangle 3"/>
          <p:cNvSpPr>
            <a:spLocks noGrp="1" noChangeArrowheads="1"/>
          </p:cNvSpPr>
          <p:nvPr>
            <p:ph idx="1"/>
          </p:nvPr>
        </p:nvSpPr>
        <p:spPr>
          <a:xfrm>
            <a:off x="527050" y="1628775"/>
            <a:ext cx="10218738" cy="4351338"/>
          </a:xfrm>
        </p:spPr>
        <p:txBody>
          <a:bodyPr/>
          <a:lstStyle/>
          <a:p>
            <a:pPr eaLnBrk="1" hangingPunct="1"/>
            <a:r>
              <a:rPr lang="zh-CN" altLang="en-US" sz="2600" smtClean="0"/>
              <a:t>线性表的链式存储表示的特点是用一组任意的存储单元存储线性表的数据元素（这组存储单元可以是连续的，也可以是不连续的）。</a:t>
            </a:r>
          </a:p>
          <a:p>
            <a:pPr eaLnBrk="1" hangingPunct="1"/>
            <a:r>
              <a:rPr lang="zh-CN" altLang="en-US" sz="2600" smtClean="0"/>
              <a:t>为了表示每个数据元素</a:t>
            </a:r>
            <a:r>
              <a:rPr lang="en-US" altLang="zh-CN" sz="2600" i="1" smtClean="0"/>
              <a:t>a</a:t>
            </a:r>
            <a:r>
              <a:rPr lang="en-US" altLang="zh-CN" sz="2600" i="1" baseline="-25000" smtClean="0"/>
              <a:t>i</a:t>
            </a:r>
            <a:r>
              <a:rPr lang="zh-CN" altLang="en-US" sz="2600" smtClean="0"/>
              <a:t>与其直接后继数据元素</a:t>
            </a:r>
            <a:r>
              <a:rPr lang="en-US" altLang="zh-CN" sz="2600" i="1" smtClean="0"/>
              <a:t>a</a:t>
            </a:r>
            <a:r>
              <a:rPr lang="en-US" altLang="zh-CN" sz="2600" i="1" baseline="-25000" smtClean="0"/>
              <a:t>i+1</a:t>
            </a:r>
            <a:r>
              <a:rPr lang="zh-CN" altLang="en-US" sz="2600" smtClean="0"/>
              <a:t>之间的逻辑关系，</a:t>
            </a:r>
            <a:r>
              <a:rPr lang="zh-CN" altLang="en-US" sz="2600" b="1" u="sng" smtClean="0">
                <a:solidFill>
                  <a:schemeClr val="accent2"/>
                </a:solidFill>
              </a:rPr>
              <a:t>数据元素</a:t>
            </a:r>
            <a:r>
              <a:rPr lang="en-US" altLang="zh-CN" sz="2600" b="1" i="1" u="sng" smtClean="0">
                <a:solidFill>
                  <a:schemeClr val="accent2"/>
                </a:solidFill>
              </a:rPr>
              <a:t>a</a:t>
            </a:r>
            <a:r>
              <a:rPr lang="en-US" altLang="zh-CN" sz="2600" b="1" i="1" u="sng" baseline="-25000" smtClean="0">
                <a:solidFill>
                  <a:schemeClr val="accent2"/>
                </a:solidFill>
              </a:rPr>
              <a:t>i</a:t>
            </a:r>
            <a:r>
              <a:rPr lang="zh-CN" altLang="en-US" sz="2600" b="1" u="sng" smtClean="0">
                <a:solidFill>
                  <a:schemeClr val="accent2"/>
                </a:solidFill>
              </a:rPr>
              <a:t>除了存储其本身的信息之外，还需存储一个指示其直接后继的信息（即直接后继的存储位置</a:t>
            </a:r>
            <a:r>
              <a:rPr lang="zh-CN" altLang="en-US" sz="2600" smtClean="0"/>
              <a:t>。</a:t>
            </a:r>
          </a:p>
          <a:p>
            <a:pPr eaLnBrk="1" hangingPunct="1"/>
            <a:endParaRPr lang="en-US" altLang="zh-CN" sz="2600" smtClean="0"/>
          </a:p>
        </p:txBody>
      </p:sp>
      <p:graphicFrame>
        <p:nvGraphicFramePr>
          <p:cNvPr id="40973" name="Group 13"/>
          <p:cNvGraphicFramePr>
            <a:graphicFrameLocks noGrp="1"/>
          </p:cNvGraphicFramePr>
          <p:nvPr>
            <p:ph sz="half" idx="4294967295"/>
          </p:nvPr>
        </p:nvGraphicFramePr>
        <p:xfrm>
          <a:off x="3432175" y="4365625"/>
          <a:ext cx="3924300" cy="884238"/>
        </p:xfrm>
        <a:graphic>
          <a:graphicData uri="http://schemas.openxmlformats.org/drawingml/2006/table">
            <a:tbl>
              <a:tblPr/>
              <a:tblGrid>
                <a:gridCol w="1962150">
                  <a:extLst>
                    <a:ext uri="{9D8B030D-6E8A-4147-A177-3AD203B41FA5}">
                      <a16:colId xmlns:a16="http://schemas.microsoft.com/office/drawing/2014/main" val="20000"/>
                    </a:ext>
                  </a:extLst>
                </a:gridCol>
                <a:gridCol w="1962150">
                  <a:extLst>
                    <a:ext uri="{9D8B030D-6E8A-4147-A177-3AD203B41FA5}">
                      <a16:colId xmlns:a16="http://schemas.microsoft.com/office/drawing/2014/main" val="20001"/>
                    </a:ext>
                  </a:extLst>
                </a:gridCol>
              </a:tblGrid>
              <a:tr h="884238">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600" b="0" i="0" u="none" strike="noStrike" cap="none" normalizeH="0" baseline="0" smtClean="0">
                          <a:ln>
                            <a:noFill/>
                          </a:ln>
                          <a:solidFill>
                            <a:schemeClr val="tx1"/>
                          </a:solidFill>
                          <a:effectLst/>
                          <a:latin typeface="Verdana" pitchFamily="34" charset="0"/>
                          <a:ea typeface="宋体" pitchFamily="2" charset="-122"/>
                        </a:rPr>
                        <a:t>数据域 </a:t>
                      </a:r>
                      <a:r>
                        <a:rPr kumimoji="0" lang="en-US" altLang="zh-CN" sz="2600" b="0" i="0" u="none" strike="noStrike" cap="none" normalizeH="0" baseline="0" smtClean="0">
                          <a:ln>
                            <a:noFill/>
                          </a:ln>
                          <a:solidFill>
                            <a:schemeClr val="tx1"/>
                          </a:solidFill>
                          <a:effectLst/>
                          <a:latin typeface="Verdana" pitchFamily="34" charset="0"/>
                          <a:ea typeface="宋体" pitchFamily="2" charset="-122"/>
                        </a:rPr>
                        <a:t>data</a:t>
                      </a: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600" b="0" i="0" u="none" strike="noStrike" cap="none" normalizeH="0" baseline="0" dirty="0" smtClean="0">
                          <a:ln>
                            <a:noFill/>
                          </a:ln>
                          <a:solidFill>
                            <a:schemeClr val="tx1"/>
                          </a:solidFill>
                          <a:effectLst/>
                          <a:latin typeface="Verdana" pitchFamily="34" charset="0"/>
                          <a:ea typeface="宋体" pitchFamily="2" charset="-122"/>
                        </a:rPr>
                        <a:t>指针域 </a:t>
                      </a:r>
                      <a:r>
                        <a:rPr kumimoji="0" lang="en-US" altLang="zh-CN" sz="2600" b="0" i="0" u="none" strike="noStrike" cap="none" normalizeH="0" baseline="0" dirty="0" smtClean="0">
                          <a:ln>
                            <a:noFill/>
                          </a:ln>
                          <a:solidFill>
                            <a:schemeClr val="tx1"/>
                          </a:solidFill>
                          <a:effectLst/>
                          <a:latin typeface="Verdana" pitchFamily="34" charset="0"/>
                          <a:ea typeface="宋体" pitchFamily="2" charset="-122"/>
                        </a:rPr>
                        <a:t>next</a:t>
                      </a: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0973"/>
                                        </p:tgtEl>
                                        <p:attrNameLst>
                                          <p:attrName>style.visibility</p:attrName>
                                        </p:attrNameLst>
                                      </p:cBhvr>
                                      <p:to>
                                        <p:strVal val="visible"/>
                                      </p:to>
                                    </p:set>
                                    <p:animEffect transition="in" filter="blinds(horizontal)">
                                      <p:cBhvr>
                                        <p:cTn id="7" dur="500"/>
                                        <p:tgtEl>
                                          <p:spTgt spid="40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91139" name="Rectangle 3"/>
          <p:cNvSpPr>
            <a:spLocks noGrp="1" noChangeArrowheads="1"/>
          </p:cNvSpPr>
          <p:nvPr>
            <p:ph idx="1"/>
          </p:nvPr>
        </p:nvSpPr>
        <p:spPr>
          <a:xfrm>
            <a:off x="527050" y="1628775"/>
            <a:ext cx="10218738" cy="4351338"/>
          </a:xfrm>
        </p:spPr>
        <p:txBody>
          <a:bodyPr/>
          <a:lstStyle/>
          <a:p>
            <a:pPr eaLnBrk="1" hangingPunct="1"/>
            <a:r>
              <a:rPr lang="zh-CN" altLang="en-US" b="1" smtClean="0"/>
              <a:t>线性表的链式存储表示：</a:t>
            </a:r>
            <a:r>
              <a:rPr lang="zh-CN" altLang="en-US" smtClean="0"/>
              <a:t>由分别表示 </a:t>
            </a:r>
            <a:r>
              <a:rPr lang="en-US" altLang="zh-CN" i="1" smtClean="0"/>
              <a:t>a</a:t>
            </a:r>
            <a:r>
              <a:rPr lang="en-US" altLang="zh-CN" i="1" baseline="-25000" smtClean="0"/>
              <a:t>1</a:t>
            </a:r>
            <a:r>
              <a:rPr lang="en-US" altLang="zh-CN" smtClean="0"/>
              <a:t>, </a:t>
            </a:r>
            <a:r>
              <a:rPr lang="en-US" altLang="zh-CN" i="1" smtClean="0"/>
              <a:t>a</a:t>
            </a:r>
            <a:r>
              <a:rPr lang="en-US" altLang="zh-CN" i="1" baseline="-25000" smtClean="0"/>
              <a:t>2</a:t>
            </a:r>
            <a:r>
              <a:rPr lang="en-US" altLang="zh-CN" smtClean="0"/>
              <a:t> ,</a:t>
            </a:r>
            <a:r>
              <a:rPr lang="en-US" altLang="zh-CN" smtClean="0">
                <a:latin typeface="Arial" panose="020B0604020202020204" pitchFamily="34" charset="0"/>
              </a:rPr>
              <a:t>…</a:t>
            </a:r>
            <a:r>
              <a:rPr lang="en-US" altLang="zh-CN" smtClean="0"/>
              <a:t>, </a:t>
            </a:r>
            <a:r>
              <a:rPr lang="en-US" altLang="zh-CN" i="1" smtClean="0"/>
              <a:t>a</a:t>
            </a:r>
            <a:r>
              <a:rPr lang="en-US" altLang="zh-CN" i="1" baseline="-25000" smtClean="0"/>
              <a:t>N</a:t>
            </a:r>
            <a:r>
              <a:rPr lang="en-US" altLang="zh-CN" smtClean="0"/>
              <a:t> </a:t>
            </a:r>
            <a:r>
              <a:rPr lang="zh-CN" altLang="en-US" smtClean="0"/>
              <a:t>的</a:t>
            </a:r>
            <a:r>
              <a:rPr lang="en-US" altLang="zh-CN" smtClean="0"/>
              <a:t>N </a:t>
            </a:r>
            <a:r>
              <a:rPr lang="zh-CN" altLang="en-US" smtClean="0"/>
              <a:t>个结点依次相链构成的链表。</a:t>
            </a:r>
          </a:p>
          <a:p>
            <a:pPr eaLnBrk="1" hangingPunct="1"/>
            <a:r>
              <a:rPr lang="zh-CN" altLang="en-US" b="1" smtClean="0"/>
              <a:t>单链表：</a:t>
            </a:r>
            <a:r>
              <a:rPr lang="zh-CN" altLang="en-US" smtClean="0"/>
              <a:t>每个结点中只包含一个指针域。</a:t>
            </a:r>
          </a:p>
          <a:p>
            <a:pPr eaLnBrk="1" hangingPunct="1"/>
            <a:r>
              <a:rPr lang="zh-CN" altLang="en-US" b="1" smtClean="0"/>
              <a:t>头指针：</a:t>
            </a:r>
            <a:r>
              <a:rPr lang="zh-CN" altLang="en-US" smtClean="0"/>
              <a:t>第一个数据元素的存储地址为链表的基地址</a:t>
            </a:r>
          </a:p>
        </p:txBody>
      </p:sp>
      <p:pic>
        <p:nvPicPr>
          <p:cNvPr id="43012" name="Picture 4" descr="2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988" y="4221163"/>
            <a:ext cx="72739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3012"/>
                                        </p:tgtEl>
                                        <p:attrNameLst>
                                          <p:attrName>style.visibility</p:attrName>
                                        </p:attrNameLst>
                                      </p:cBhvr>
                                      <p:to>
                                        <p:strVal val="visible"/>
                                      </p:to>
                                    </p:set>
                                    <p:anim calcmode="lin" valueType="num">
                                      <p:cBhvr additive="base">
                                        <p:cTn id="7" dur="500" fill="hold"/>
                                        <p:tgtEl>
                                          <p:spTgt spid="43012"/>
                                        </p:tgtEl>
                                        <p:attrNameLst>
                                          <p:attrName>ppt_x</p:attrName>
                                        </p:attrNameLst>
                                      </p:cBhvr>
                                      <p:tavLst>
                                        <p:tav tm="0">
                                          <p:val>
                                            <p:strVal val="#ppt_x"/>
                                          </p:val>
                                        </p:tav>
                                        <p:tav tm="100000">
                                          <p:val>
                                            <p:strVal val="#ppt_x"/>
                                          </p:val>
                                        </p:tav>
                                      </p:tavLst>
                                    </p:anim>
                                    <p:anim calcmode="lin" valueType="num">
                                      <p:cBhvr additive="base">
                                        <p:cTn id="8" dur="500" fill="hold"/>
                                        <p:tgtEl>
                                          <p:spTgt spid="430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92163" name="Text Box 4"/>
          <p:cNvSpPr txBox="1">
            <a:spLocks noChangeArrowheads="1"/>
          </p:cNvSpPr>
          <p:nvPr/>
        </p:nvSpPr>
        <p:spPr bwMode="auto">
          <a:xfrm>
            <a:off x="2651125" y="1676400"/>
            <a:ext cx="2216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宋体" panose="02010600030101010101" pitchFamily="2" charset="-122"/>
              </a:rPr>
              <a:t>顺序存储：</a:t>
            </a:r>
            <a:endParaRPr kumimoji="1" lang="zh-CN" altLang="en-US" sz="2400">
              <a:latin typeface="Times New Roman" panose="02020603050405020304" pitchFamily="18" charset="0"/>
              <a:ea typeface="宋体" panose="02010600030101010101" pitchFamily="2" charset="-122"/>
            </a:endParaRPr>
          </a:p>
        </p:txBody>
      </p:sp>
      <p:sp>
        <p:nvSpPr>
          <p:cNvPr id="92164" name="Text Box 5"/>
          <p:cNvSpPr txBox="1">
            <a:spLocks noChangeArrowheads="1"/>
          </p:cNvSpPr>
          <p:nvPr/>
        </p:nvSpPr>
        <p:spPr bwMode="auto">
          <a:xfrm>
            <a:off x="5470525" y="1801813"/>
            <a:ext cx="255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r>
              <a:rPr kumimoji="1" lang="en-US" altLang="zh-CN" sz="2400">
                <a:latin typeface="Times New Roman" panose="02020603050405020304" pitchFamily="18" charset="0"/>
                <a:ea typeface="宋体" panose="02010600030101010101" pitchFamily="2" charset="-122"/>
              </a:rPr>
              <a:t> ,a</a:t>
            </a:r>
            <a:r>
              <a:rPr kumimoji="1" lang="en-US" altLang="zh-CN" sz="2400" baseline="-25000">
                <a:latin typeface="Times New Roman" panose="02020603050405020304" pitchFamily="18" charset="0"/>
                <a:ea typeface="宋体" panose="02010600030101010101" pitchFamily="2" charset="-122"/>
              </a:rPr>
              <a:t>2</a:t>
            </a:r>
            <a:r>
              <a:rPr kumimoji="1" lang="en-US" altLang="zh-CN" sz="2400">
                <a:latin typeface="Times New Roman" panose="02020603050405020304" pitchFamily="18" charset="0"/>
                <a:ea typeface="宋体" panose="02010600030101010101" pitchFamily="2" charset="-122"/>
              </a:rPr>
              <a:t>, a</a:t>
            </a:r>
            <a:r>
              <a:rPr kumimoji="1" lang="en-US" altLang="zh-CN" sz="2400" baseline="-25000">
                <a:latin typeface="Times New Roman" panose="02020603050405020304" pitchFamily="18" charset="0"/>
                <a:ea typeface="宋体" panose="02010600030101010101" pitchFamily="2" charset="-122"/>
              </a:rPr>
              <a:t>3</a:t>
            </a:r>
            <a:r>
              <a:rPr kumimoji="1" lang="en-US" altLang="zh-CN" sz="2400">
                <a:latin typeface="Times New Roman" panose="02020603050405020304" pitchFamily="18" charset="0"/>
                <a:ea typeface="宋体" panose="02010600030101010101" pitchFamily="2" charset="-122"/>
              </a:rPr>
              <a:t>, ……, a</a:t>
            </a:r>
            <a:r>
              <a:rPr kumimoji="1" lang="en-US" altLang="zh-CN" sz="2400" baseline="-25000">
                <a:latin typeface="Times New Roman" panose="02020603050405020304" pitchFamily="18" charset="0"/>
                <a:ea typeface="宋体" panose="02010600030101010101" pitchFamily="2" charset="-122"/>
              </a:rPr>
              <a:t>n</a:t>
            </a:r>
            <a:r>
              <a:rPr kumimoji="1" lang="en-US" altLang="zh-CN" sz="2400">
                <a:latin typeface="Times New Roman" panose="02020603050405020304" pitchFamily="18" charset="0"/>
                <a:ea typeface="宋体" panose="02010600030101010101" pitchFamily="2" charset="-122"/>
              </a:rPr>
              <a:t>)</a:t>
            </a:r>
          </a:p>
        </p:txBody>
      </p:sp>
      <p:sp>
        <p:nvSpPr>
          <p:cNvPr id="92165" name="Line 6"/>
          <p:cNvSpPr>
            <a:spLocks noChangeShapeType="1"/>
          </p:cNvSpPr>
          <p:nvPr/>
        </p:nvSpPr>
        <p:spPr bwMode="auto">
          <a:xfrm>
            <a:off x="4953000" y="2827338"/>
            <a:ext cx="0" cy="3048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66" name="Line 7"/>
          <p:cNvSpPr>
            <a:spLocks noChangeShapeType="1"/>
          </p:cNvSpPr>
          <p:nvPr/>
        </p:nvSpPr>
        <p:spPr bwMode="auto">
          <a:xfrm>
            <a:off x="6248400" y="2827338"/>
            <a:ext cx="0" cy="3048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67" name="Line 8"/>
          <p:cNvSpPr>
            <a:spLocks noChangeShapeType="1"/>
          </p:cNvSpPr>
          <p:nvPr/>
        </p:nvSpPr>
        <p:spPr bwMode="auto">
          <a:xfrm>
            <a:off x="4953000" y="32083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68" name="Line 9"/>
          <p:cNvSpPr>
            <a:spLocks noChangeShapeType="1"/>
          </p:cNvSpPr>
          <p:nvPr/>
        </p:nvSpPr>
        <p:spPr bwMode="auto">
          <a:xfrm>
            <a:off x="4953000" y="36655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69" name="Line 10"/>
          <p:cNvSpPr>
            <a:spLocks noChangeShapeType="1"/>
          </p:cNvSpPr>
          <p:nvPr/>
        </p:nvSpPr>
        <p:spPr bwMode="auto">
          <a:xfrm>
            <a:off x="4953000" y="41227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0" name="Line 11"/>
          <p:cNvSpPr>
            <a:spLocks noChangeShapeType="1"/>
          </p:cNvSpPr>
          <p:nvPr/>
        </p:nvSpPr>
        <p:spPr bwMode="auto">
          <a:xfrm>
            <a:off x="4953000" y="45799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1" name="Text Box 12"/>
          <p:cNvSpPr txBox="1">
            <a:spLocks noChangeArrowheads="1"/>
          </p:cNvSpPr>
          <p:nvPr/>
        </p:nvSpPr>
        <p:spPr bwMode="auto">
          <a:xfrm>
            <a:off x="5334000" y="3132138"/>
            <a:ext cx="42068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3</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p:txBody>
      </p:sp>
      <p:sp>
        <p:nvSpPr>
          <p:cNvPr id="92172" name="Line 13"/>
          <p:cNvSpPr>
            <a:spLocks noChangeShapeType="1"/>
          </p:cNvSpPr>
          <p:nvPr/>
        </p:nvSpPr>
        <p:spPr bwMode="auto">
          <a:xfrm>
            <a:off x="5562600" y="4808538"/>
            <a:ext cx="0" cy="838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3" name="Text Box 14"/>
          <p:cNvSpPr txBox="1">
            <a:spLocks noChangeArrowheads="1"/>
          </p:cNvSpPr>
          <p:nvPr/>
        </p:nvSpPr>
        <p:spPr bwMode="auto">
          <a:xfrm>
            <a:off x="3863975" y="2924175"/>
            <a:ext cx="10985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0x0101</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0x0102</a:t>
            </a:r>
          </a:p>
          <a:p>
            <a:pPr eaLnBrk="1" hangingPunct="1">
              <a:lnSpc>
                <a:spcPct val="125000"/>
              </a:lnSpc>
              <a:spcBef>
                <a:spcPct val="0"/>
              </a:spcBef>
              <a:buFontTx/>
              <a:buNone/>
            </a:pPr>
            <a:r>
              <a:rPr kumimoji="1" lang="en-US" altLang="zh-CN" sz="2400">
                <a:latin typeface="Times New Roman" panose="02020603050405020304" pitchFamily="18" charset="0"/>
                <a:ea typeface="宋体" panose="02010600030101010101" pitchFamily="2" charset="-122"/>
              </a:rPr>
              <a:t>0x0103</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p:txBody>
      </p:sp>
      <p:sp>
        <p:nvSpPr>
          <p:cNvPr id="92174" name="Line 15"/>
          <p:cNvSpPr>
            <a:spLocks noChangeShapeType="1"/>
          </p:cNvSpPr>
          <p:nvPr/>
        </p:nvSpPr>
        <p:spPr bwMode="auto">
          <a:xfrm>
            <a:off x="4495800" y="4808538"/>
            <a:ext cx="0" cy="838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0" name="Text Box 16"/>
          <p:cNvSpPr txBox="1">
            <a:spLocks noChangeArrowheads="1"/>
          </p:cNvSpPr>
          <p:nvPr/>
        </p:nvSpPr>
        <p:spPr bwMode="auto">
          <a:xfrm>
            <a:off x="6858000" y="3589338"/>
            <a:ext cx="3570288"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顺序表的特点是用物理</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位置上的邻接关系来表示</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结点间的逻辑关系，这一</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特点使我们可以随机存取</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表中元素，但它也使得插</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入和删除操作会移动大量</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的结点。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368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368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368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368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368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368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1368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80"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5"/>
          <p:cNvSpPr>
            <a:spLocks noGrp="1"/>
          </p:cNvSpPr>
          <p:nvPr>
            <p:ph type="title"/>
          </p:nvPr>
        </p:nvSpPr>
        <p:spPr>
          <a:xfrm>
            <a:off x="527050" y="368300"/>
            <a:ext cx="10218738" cy="822325"/>
          </a:xfrm>
        </p:spPr>
        <p:txBody>
          <a:bodyPr/>
          <a:lstStyle/>
          <a:p>
            <a:pPr eaLnBrk="1" hangingPunct="1"/>
            <a:r>
              <a:rPr kumimoji="1" lang="zh-CN" altLang="en-US" smtClean="0"/>
              <a:t>链式存储</a:t>
            </a:r>
            <a:endParaRPr lang="zh-CN" altLang="en-US" smtClean="0"/>
          </a:p>
        </p:txBody>
      </p:sp>
      <p:sp>
        <p:nvSpPr>
          <p:cNvPr id="93187" name="Text Box 5"/>
          <p:cNvSpPr txBox="1">
            <a:spLocks noChangeArrowheads="1"/>
          </p:cNvSpPr>
          <p:nvPr/>
        </p:nvSpPr>
        <p:spPr bwMode="auto">
          <a:xfrm>
            <a:off x="5486400" y="1366838"/>
            <a:ext cx="255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r>
              <a:rPr kumimoji="1" lang="en-US" altLang="zh-CN" sz="2400">
                <a:latin typeface="Times New Roman" panose="02020603050405020304" pitchFamily="18" charset="0"/>
                <a:ea typeface="宋体" panose="02010600030101010101" pitchFamily="2" charset="-122"/>
              </a:rPr>
              <a:t> ,a</a:t>
            </a:r>
            <a:r>
              <a:rPr kumimoji="1" lang="en-US" altLang="zh-CN" sz="2400" baseline="-25000">
                <a:latin typeface="Times New Roman" panose="02020603050405020304" pitchFamily="18" charset="0"/>
                <a:ea typeface="宋体" panose="02010600030101010101" pitchFamily="2" charset="-122"/>
              </a:rPr>
              <a:t>2</a:t>
            </a:r>
            <a:r>
              <a:rPr kumimoji="1" lang="en-US" altLang="zh-CN" sz="2400">
                <a:latin typeface="Times New Roman" panose="02020603050405020304" pitchFamily="18" charset="0"/>
                <a:ea typeface="宋体" panose="02010600030101010101" pitchFamily="2" charset="-122"/>
              </a:rPr>
              <a:t>, a</a:t>
            </a:r>
            <a:r>
              <a:rPr kumimoji="1" lang="en-US" altLang="zh-CN" sz="2400" baseline="-25000">
                <a:latin typeface="Times New Roman" panose="02020603050405020304" pitchFamily="18" charset="0"/>
                <a:ea typeface="宋体" panose="02010600030101010101" pitchFamily="2" charset="-122"/>
              </a:rPr>
              <a:t>3</a:t>
            </a:r>
            <a:r>
              <a:rPr kumimoji="1" lang="en-US" altLang="zh-CN" sz="2400">
                <a:latin typeface="Times New Roman" panose="02020603050405020304" pitchFamily="18" charset="0"/>
                <a:ea typeface="宋体" panose="02010600030101010101" pitchFamily="2" charset="-122"/>
              </a:rPr>
              <a:t>, ……, a</a:t>
            </a:r>
            <a:r>
              <a:rPr kumimoji="1" lang="en-US" altLang="zh-CN" sz="2400" baseline="-25000">
                <a:latin typeface="Times New Roman" panose="02020603050405020304" pitchFamily="18" charset="0"/>
                <a:ea typeface="宋体" panose="02010600030101010101" pitchFamily="2" charset="-122"/>
              </a:rPr>
              <a:t>n</a:t>
            </a:r>
            <a:r>
              <a:rPr kumimoji="1" lang="en-US" altLang="zh-CN" sz="2400">
                <a:latin typeface="Times New Roman" panose="02020603050405020304" pitchFamily="18" charset="0"/>
                <a:ea typeface="宋体" panose="02010600030101010101" pitchFamily="2" charset="-122"/>
              </a:rPr>
              <a:t>)</a:t>
            </a:r>
          </a:p>
        </p:txBody>
      </p:sp>
      <p:sp>
        <p:nvSpPr>
          <p:cNvPr id="93188" name="Line 6"/>
          <p:cNvSpPr>
            <a:spLocks noChangeShapeType="1"/>
          </p:cNvSpPr>
          <p:nvPr/>
        </p:nvSpPr>
        <p:spPr bwMode="auto">
          <a:xfrm>
            <a:off x="4876800" y="1916113"/>
            <a:ext cx="0" cy="457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89" name="Line 7"/>
          <p:cNvSpPr>
            <a:spLocks noChangeShapeType="1"/>
          </p:cNvSpPr>
          <p:nvPr/>
        </p:nvSpPr>
        <p:spPr bwMode="auto">
          <a:xfrm>
            <a:off x="6172200" y="1916113"/>
            <a:ext cx="0" cy="457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0" name="Line 8"/>
          <p:cNvSpPr>
            <a:spLocks noChangeShapeType="1"/>
          </p:cNvSpPr>
          <p:nvPr/>
        </p:nvSpPr>
        <p:spPr bwMode="auto">
          <a:xfrm>
            <a:off x="4876800" y="2220913"/>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1" name="Line 9"/>
          <p:cNvSpPr>
            <a:spLocks noChangeShapeType="1"/>
          </p:cNvSpPr>
          <p:nvPr/>
        </p:nvSpPr>
        <p:spPr bwMode="auto">
          <a:xfrm>
            <a:off x="4876800" y="2601913"/>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2" name="Line 10"/>
          <p:cNvSpPr>
            <a:spLocks noChangeShapeType="1"/>
          </p:cNvSpPr>
          <p:nvPr/>
        </p:nvSpPr>
        <p:spPr bwMode="auto">
          <a:xfrm>
            <a:off x="4876800" y="3744913"/>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3" name="Line 11"/>
          <p:cNvSpPr>
            <a:spLocks noChangeShapeType="1"/>
          </p:cNvSpPr>
          <p:nvPr/>
        </p:nvSpPr>
        <p:spPr bwMode="auto">
          <a:xfrm>
            <a:off x="4876800" y="4125913"/>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4" name="Line 12"/>
          <p:cNvSpPr>
            <a:spLocks noChangeShapeType="1"/>
          </p:cNvSpPr>
          <p:nvPr/>
        </p:nvSpPr>
        <p:spPr bwMode="auto">
          <a:xfrm>
            <a:off x="4876800" y="5268913"/>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5" name="Line 13"/>
          <p:cNvSpPr>
            <a:spLocks noChangeShapeType="1"/>
          </p:cNvSpPr>
          <p:nvPr/>
        </p:nvSpPr>
        <p:spPr bwMode="auto">
          <a:xfrm>
            <a:off x="4876800" y="5649913"/>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6" name="Text Box 14"/>
          <p:cNvSpPr txBox="1">
            <a:spLocks noChangeArrowheads="1"/>
          </p:cNvSpPr>
          <p:nvPr/>
        </p:nvSpPr>
        <p:spPr bwMode="auto">
          <a:xfrm>
            <a:off x="5334000" y="2144713"/>
            <a:ext cx="420688" cy="354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3</a:t>
            </a:r>
          </a:p>
        </p:txBody>
      </p:sp>
      <p:sp>
        <p:nvSpPr>
          <p:cNvPr id="93197" name="Text Box 15"/>
          <p:cNvSpPr txBox="1">
            <a:spLocks noChangeArrowheads="1"/>
          </p:cNvSpPr>
          <p:nvPr/>
        </p:nvSpPr>
        <p:spPr bwMode="auto">
          <a:xfrm>
            <a:off x="3844925" y="1952625"/>
            <a:ext cx="1098550" cy="354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0x0201</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0x0255</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0x0283</a:t>
            </a:r>
          </a:p>
        </p:txBody>
      </p:sp>
      <p:sp>
        <p:nvSpPr>
          <p:cNvPr id="93198" name="Line 16"/>
          <p:cNvSpPr>
            <a:spLocks noChangeShapeType="1"/>
          </p:cNvSpPr>
          <p:nvPr/>
        </p:nvSpPr>
        <p:spPr bwMode="auto">
          <a:xfrm>
            <a:off x="5486400" y="2830513"/>
            <a:ext cx="0" cy="6096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9" name="Line 17"/>
          <p:cNvSpPr>
            <a:spLocks noChangeShapeType="1"/>
          </p:cNvSpPr>
          <p:nvPr/>
        </p:nvSpPr>
        <p:spPr bwMode="auto">
          <a:xfrm>
            <a:off x="5486400" y="4354513"/>
            <a:ext cx="0" cy="685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0" name="Line 18"/>
          <p:cNvSpPr>
            <a:spLocks noChangeShapeType="1"/>
          </p:cNvSpPr>
          <p:nvPr/>
        </p:nvSpPr>
        <p:spPr bwMode="auto">
          <a:xfrm>
            <a:off x="5486400" y="5878513"/>
            <a:ext cx="0" cy="381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9" name="Text Box 19"/>
          <p:cNvSpPr txBox="1">
            <a:spLocks noChangeArrowheads="1"/>
          </p:cNvSpPr>
          <p:nvPr/>
        </p:nvSpPr>
        <p:spPr bwMode="auto">
          <a:xfrm>
            <a:off x="6826250" y="3900488"/>
            <a:ext cx="3878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链表中结点在内存中存</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放的位置可以是不连续的，</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甚至是零散分布的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26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26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59"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5"/>
          <p:cNvSpPr>
            <a:spLocks noGrp="1"/>
          </p:cNvSpPr>
          <p:nvPr>
            <p:ph type="title"/>
          </p:nvPr>
        </p:nvSpPr>
        <p:spPr>
          <a:xfrm>
            <a:off x="527050" y="368300"/>
            <a:ext cx="10218738" cy="822325"/>
          </a:xfrm>
        </p:spPr>
        <p:txBody>
          <a:bodyPr/>
          <a:lstStyle/>
          <a:p>
            <a:pPr eaLnBrk="1" hangingPunct="1"/>
            <a:r>
              <a:rPr kumimoji="1" lang="zh-CN" altLang="en-US" smtClean="0"/>
              <a:t>链式存储</a:t>
            </a:r>
            <a:endParaRPr lang="zh-CN" altLang="en-US" smtClean="0"/>
          </a:p>
        </p:txBody>
      </p:sp>
      <p:sp>
        <p:nvSpPr>
          <p:cNvPr id="94211" name="Text Box 5"/>
          <p:cNvSpPr txBox="1">
            <a:spLocks noChangeArrowheads="1"/>
          </p:cNvSpPr>
          <p:nvPr/>
        </p:nvSpPr>
        <p:spPr bwMode="auto">
          <a:xfrm>
            <a:off x="5470525" y="981075"/>
            <a:ext cx="255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r>
              <a:rPr kumimoji="1" lang="en-US" altLang="zh-CN" sz="2400">
                <a:latin typeface="Times New Roman" panose="02020603050405020304" pitchFamily="18" charset="0"/>
                <a:ea typeface="宋体" panose="02010600030101010101" pitchFamily="2" charset="-122"/>
              </a:rPr>
              <a:t> ,a</a:t>
            </a:r>
            <a:r>
              <a:rPr kumimoji="1" lang="en-US" altLang="zh-CN" sz="2400" baseline="-25000">
                <a:latin typeface="Times New Roman" panose="02020603050405020304" pitchFamily="18" charset="0"/>
                <a:ea typeface="宋体" panose="02010600030101010101" pitchFamily="2" charset="-122"/>
              </a:rPr>
              <a:t>2</a:t>
            </a:r>
            <a:r>
              <a:rPr kumimoji="1" lang="en-US" altLang="zh-CN" sz="2400">
                <a:latin typeface="Times New Roman" panose="02020603050405020304" pitchFamily="18" charset="0"/>
                <a:ea typeface="宋体" panose="02010600030101010101" pitchFamily="2" charset="-122"/>
              </a:rPr>
              <a:t>, a</a:t>
            </a:r>
            <a:r>
              <a:rPr kumimoji="1" lang="en-US" altLang="zh-CN" sz="2400" baseline="-25000">
                <a:latin typeface="Times New Roman" panose="02020603050405020304" pitchFamily="18" charset="0"/>
                <a:ea typeface="宋体" panose="02010600030101010101" pitchFamily="2" charset="-122"/>
              </a:rPr>
              <a:t>3</a:t>
            </a:r>
            <a:r>
              <a:rPr kumimoji="1" lang="en-US" altLang="zh-CN" sz="2400">
                <a:latin typeface="Times New Roman" panose="02020603050405020304" pitchFamily="18" charset="0"/>
                <a:ea typeface="宋体" panose="02010600030101010101" pitchFamily="2" charset="-122"/>
              </a:rPr>
              <a:t>, ……, a</a:t>
            </a:r>
            <a:r>
              <a:rPr kumimoji="1" lang="en-US" altLang="zh-CN" sz="2400" baseline="-25000">
                <a:latin typeface="Times New Roman" panose="02020603050405020304" pitchFamily="18" charset="0"/>
                <a:ea typeface="宋体" panose="02010600030101010101" pitchFamily="2" charset="-122"/>
              </a:rPr>
              <a:t>n</a:t>
            </a:r>
            <a:r>
              <a:rPr kumimoji="1" lang="en-US" altLang="zh-CN" sz="2400">
                <a:latin typeface="Times New Roman" panose="02020603050405020304" pitchFamily="18" charset="0"/>
                <a:ea typeface="宋体" panose="02010600030101010101" pitchFamily="2" charset="-122"/>
              </a:rPr>
              <a:t>)</a:t>
            </a:r>
          </a:p>
        </p:txBody>
      </p:sp>
      <p:sp>
        <p:nvSpPr>
          <p:cNvPr id="94212" name="Line 6"/>
          <p:cNvSpPr>
            <a:spLocks noChangeShapeType="1"/>
          </p:cNvSpPr>
          <p:nvPr/>
        </p:nvSpPr>
        <p:spPr bwMode="auto">
          <a:xfrm>
            <a:off x="4876800" y="1778000"/>
            <a:ext cx="0" cy="457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13" name="Line 7"/>
          <p:cNvSpPr>
            <a:spLocks noChangeShapeType="1"/>
          </p:cNvSpPr>
          <p:nvPr/>
        </p:nvSpPr>
        <p:spPr bwMode="auto">
          <a:xfrm>
            <a:off x="6172200" y="1778000"/>
            <a:ext cx="0" cy="457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14" name="Line 8"/>
          <p:cNvSpPr>
            <a:spLocks noChangeShapeType="1"/>
          </p:cNvSpPr>
          <p:nvPr/>
        </p:nvSpPr>
        <p:spPr bwMode="auto">
          <a:xfrm>
            <a:off x="4876800" y="20828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15" name="Line 9"/>
          <p:cNvSpPr>
            <a:spLocks noChangeShapeType="1"/>
          </p:cNvSpPr>
          <p:nvPr/>
        </p:nvSpPr>
        <p:spPr bwMode="auto">
          <a:xfrm>
            <a:off x="4876800" y="24638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16" name="Line 10"/>
          <p:cNvSpPr>
            <a:spLocks noChangeShapeType="1"/>
          </p:cNvSpPr>
          <p:nvPr/>
        </p:nvSpPr>
        <p:spPr bwMode="auto">
          <a:xfrm>
            <a:off x="4876800" y="36068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17" name="Line 11"/>
          <p:cNvSpPr>
            <a:spLocks noChangeShapeType="1"/>
          </p:cNvSpPr>
          <p:nvPr/>
        </p:nvSpPr>
        <p:spPr bwMode="auto">
          <a:xfrm>
            <a:off x="4876800" y="39878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18" name="Line 12"/>
          <p:cNvSpPr>
            <a:spLocks noChangeShapeType="1"/>
          </p:cNvSpPr>
          <p:nvPr/>
        </p:nvSpPr>
        <p:spPr bwMode="auto">
          <a:xfrm>
            <a:off x="4876800" y="51308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19" name="Line 13"/>
          <p:cNvSpPr>
            <a:spLocks noChangeShapeType="1"/>
          </p:cNvSpPr>
          <p:nvPr/>
        </p:nvSpPr>
        <p:spPr bwMode="auto">
          <a:xfrm>
            <a:off x="4876800" y="55118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20" name="Text Box 14"/>
          <p:cNvSpPr txBox="1">
            <a:spLocks noChangeArrowheads="1"/>
          </p:cNvSpPr>
          <p:nvPr/>
        </p:nvSpPr>
        <p:spPr bwMode="auto">
          <a:xfrm>
            <a:off x="4953000" y="2006600"/>
            <a:ext cx="109855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0x0255</a:t>
            </a: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0x0283</a:t>
            </a: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3</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0x0311</a:t>
            </a:r>
          </a:p>
        </p:txBody>
      </p:sp>
      <p:sp>
        <p:nvSpPr>
          <p:cNvPr id="94221" name="Text Box 15"/>
          <p:cNvSpPr txBox="1">
            <a:spLocks noChangeArrowheads="1"/>
          </p:cNvSpPr>
          <p:nvPr/>
        </p:nvSpPr>
        <p:spPr bwMode="auto">
          <a:xfrm>
            <a:off x="3719513" y="1889125"/>
            <a:ext cx="1098550" cy="354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0x0201</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0x0255</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0x0283</a:t>
            </a:r>
          </a:p>
        </p:txBody>
      </p:sp>
      <p:sp>
        <p:nvSpPr>
          <p:cNvPr id="94222" name="Line 16"/>
          <p:cNvSpPr>
            <a:spLocks noChangeShapeType="1"/>
          </p:cNvSpPr>
          <p:nvPr/>
        </p:nvSpPr>
        <p:spPr bwMode="auto">
          <a:xfrm>
            <a:off x="4876800" y="28448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23" name="Line 17"/>
          <p:cNvSpPr>
            <a:spLocks noChangeShapeType="1"/>
          </p:cNvSpPr>
          <p:nvPr/>
        </p:nvSpPr>
        <p:spPr bwMode="auto">
          <a:xfrm>
            <a:off x="4876800" y="43688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24" name="Line 18"/>
          <p:cNvSpPr>
            <a:spLocks noChangeShapeType="1"/>
          </p:cNvSpPr>
          <p:nvPr/>
        </p:nvSpPr>
        <p:spPr bwMode="auto">
          <a:xfrm>
            <a:off x="4876800" y="58928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25" name="Line 19"/>
          <p:cNvSpPr>
            <a:spLocks noChangeShapeType="1"/>
          </p:cNvSpPr>
          <p:nvPr/>
        </p:nvSpPr>
        <p:spPr bwMode="auto">
          <a:xfrm>
            <a:off x="5486400" y="2997200"/>
            <a:ext cx="0" cy="457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26" name="Line 20"/>
          <p:cNvSpPr>
            <a:spLocks noChangeShapeType="1"/>
          </p:cNvSpPr>
          <p:nvPr/>
        </p:nvSpPr>
        <p:spPr bwMode="auto">
          <a:xfrm>
            <a:off x="5486400" y="4521200"/>
            <a:ext cx="0" cy="457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27" name="Line 21"/>
          <p:cNvSpPr>
            <a:spLocks noChangeShapeType="1"/>
          </p:cNvSpPr>
          <p:nvPr/>
        </p:nvSpPr>
        <p:spPr bwMode="auto">
          <a:xfrm>
            <a:off x="5486400" y="6045200"/>
            <a:ext cx="0" cy="381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34" name="Text Box 22"/>
          <p:cNvSpPr txBox="1">
            <a:spLocks noChangeArrowheads="1"/>
          </p:cNvSpPr>
          <p:nvPr/>
        </p:nvSpPr>
        <p:spPr bwMode="auto">
          <a:xfrm>
            <a:off x="6521450" y="3821113"/>
            <a:ext cx="418623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为了能正确表示结点间的</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逻辑关系，在存储每个结点</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值的同时，还必须存储指示</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其后继结点的地址（或位置）</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信息。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573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573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573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573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57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34"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5"/>
          <p:cNvSpPr>
            <a:spLocks noGrp="1"/>
          </p:cNvSpPr>
          <p:nvPr>
            <p:ph type="title"/>
          </p:nvPr>
        </p:nvSpPr>
        <p:spPr>
          <a:xfrm>
            <a:off x="527050" y="368300"/>
            <a:ext cx="10218738" cy="822325"/>
          </a:xfrm>
        </p:spPr>
        <p:txBody>
          <a:bodyPr/>
          <a:lstStyle/>
          <a:p>
            <a:pPr eaLnBrk="1" hangingPunct="1"/>
            <a:r>
              <a:rPr kumimoji="1" lang="zh-CN" altLang="en-US" smtClean="0"/>
              <a:t>链式存储</a:t>
            </a:r>
            <a:endParaRPr lang="zh-CN" altLang="en-US" smtClean="0"/>
          </a:p>
        </p:txBody>
      </p:sp>
      <p:grpSp>
        <p:nvGrpSpPr>
          <p:cNvPr id="95235" name="Group 4"/>
          <p:cNvGrpSpPr>
            <a:grpSpLocks/>
          </p:cNvGrpSpPr>
          <p:nvPr/>
        </p:nvGrpSpPr>
        <p:grpSpPr bwMode="auto">
          <a:xfrm>
            <a:off x="6164263" y="5300663"/>
            <a:ext cx="4505325" cy="1020762"/>
            <a:chOff x="2443" y="1711"/>
            <a:chExt cx="2838" cy="643"/>
          </a:xfrm>
        </p:grpSpPr>
        <p:sp>
          <p:nvSpPr>
            <p:cNvPr id="95254" name="Rectangle 5"/>
            <p:cNvSpPr>
              <a:spLocks noChangeArrowheads="1"/>
            </p:cNvSpPr>
            <p:nvPr/>
          </p:nvSpPr>
          <p:spPr bwMode="auto">
            <a:xfrm>
              <a:off x="3513" y="2185"/>
              <a:ext cx="3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700">
                  <a:solidFill>
                    <a:srgbClr val="000000"/>
                  </a:solidFill>
                  <a:latin typeface="Times New Roman" panose="02020603050405020304" pitchFamily="18" charset="0"/>
                  <a:ea typeface="宋体" panose="02010600030101010101" pitchFamily="2" charset="-122"/>
                </a:rPr>
                <a:t> </a:t>
              </a:r>
              <a:endParaRPr kumimoji="1" lang="en-US" altLang="zh-CN" sz="2400">
                <a:latin typeface="Times New Roman" panose="02020603050405020304" pitchFamily="18" charset="0"/>
                <a:ea typeface="宋体" panose="02010600030101010101" pitchFamily="2" charset="-122"/>
              </a:endParaRPr>
            </a:p>
          </p:txBody>
        </p:sp>
        <p:sp>
          <p:nvSpPr>
            <p:cNvPr id="95255" name="Rectangle 6"/>
            <p:cNvSpPr>
              <a:spLocks noChangeArrowheads="1"/>
            </p:cNvSpPr>
            <p:nvPr/>
          </p:nvSpPr>
          <p:spPr bwMode="auto">
            <a:xfrm>
              <a:off x="3572" y="2189"/>
              <a:ext cx="68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1700">
                  <a:latin typeface="宋体" panose="02010600030101010101" pitchFamily="2" charset="-122"/>
                  <a:ea typeface="宋体" panose="02010600030101010101" pitchFamily="2" charset="-122"/>
                </a:rPr>
                <a:t>链表示意图</a:t>
              </a:r>
              <a:endParaRPr kumimoji="1" lang="zh-CN" altLang="en-US" sz="2400">
                <a:latin typeface="Times New Roman" panose="02020603050405020304" pitchFamily="18" charset="0"/>
                <a:ea typeface="宋体" panose="02010600030101010101" pitchFamily="2" charset="-122"/>
              </a:endParaRPr>
            </a:p>
          </p:txBody>
        </p:sp>
        <p:sp>
          <p:nvSpPr>
            <p:cNvPr id="95256" name="Rectangle 7"/>
            <p:cNvSpPr>
              <a:spLocks noChangeArrowheads="1"/>
            </p:cNvSpPr>
            <p:nvPr/>
          </p:nvSpPr>
          <p:spPr bwMode="auto">
            <a:xfrm>
              <a:off x="3127" y="1795"/>
              <a:ext cx="442" cy="240"/>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5257" name="Rectangle 8"/>
            <p:cNvSpPr>
              <a:spLocks noChangeArrowheads="1"/>
            </p:cNvSpPr>
            <p:nvPr/>
          </p:nvSpPr>
          <p:spPr bwMode="auto">
            <a:xfrm>
              <a:off x="3161" y="1830"/>
              <a:ext cx="16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5258" name="Rectangle 9"/>
            <p:cNvSpPr>
              <a:spLocks noChangeArrowheads="1"/>
            </p:cNvSpPr>
            <p:nvPr/>
          </p:nvSpPr>
          <p:spPr bwMode="auto">
            <a:xfrm>
              <a:off x="3161" y="1830"/>
              <a:ext cx="68"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5259" name="Rectangle 10"/>
            <p:cNvSpPr>
              <a:spLocks noChangeArrowheads="1"/>
            </p:cNvSpPr>
            <p:nvPr/>
          </p:nvSpPr>
          <p:spPr bwMode="auto">
            <a:xfrm>
              <a:off x="3223" y="1872"/>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400">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95260" name="Line 11"/>
            <p:cNvSpPr>
              <a:spLocks noChangeShapeType="1"/>
            </p:cNvSpPr>
            <p:nvPr/>
          </p:nvSpPr>
          <p:spPr bwMode="auto">
            <a:xfrm>
              <a:off x="3359" y="1795"/>
              <a:ext cx="1" cy="23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1" name="Rectangle 12"/>
            <p:cNvSpPr>
              <a:spLocks noChangeArrowheads="1"/>
            </p:cNvSpPr>
            <p:nvPr/>
          </p:nvSpPr>
          <p:spPr bwMode="auto">
            <a:xfrm>
              <a:off x="3418" y="1844"/>
              <a:ext cx="129"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5262" name="Rectangle 13"/>
            <p:cNvSpPr>
              <a:spLocks noChangeArrowheads="1"/>
            </p:cNvSpPr>
            <p:nvPr/>
          </p:nvSpPr>
          <p:spPr bwMode="auto">
            <a:xfrm>
              <a:off x="4837" y="1809"/>
              <a:ext cx="440" cy="240"/>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5263" name="Rectangle 14"/>
            <p:cNvSpPr>
              <a:spLocks noChangeArrowheads="1"/>
            </p:cNvSpPr>
            <p:nvPr/>
          </p:nvSpPr>
          <p:spPr bwMode="auto">
            <a:xfrm>
              <a:off x="4868" y="1844"/>
              <a:ext cx="1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5264" name="Rectangle 15"/>
            <p:cNvSpPr>
              <a:spLocks noChangeArrowheads="1"/>
            </p:cNvSpPr>
            <p:nvPr/>
          </p:nvSpPr>
          <p:spPr bwMode="auto">
            <a:xfrm>
              <a:off x="4868" y="1844"/>
              <a:ext cx="68"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5265" name="Rectangle 16"/>
            <p:cNvSpPr>
              <a:spLocks noChangeArrowheads="1"/>
            </p:cNvSpPr>
            <p:nvPr/>
          </p:nvSpPr>
          <p:spPr bwMode="auto">
            <a:xfrm>
              <a:off x="4930" y="1886"/>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400">
                  <a:latin typeface="Times New Roman" panose="02020603050405020304" pitchFamily="18"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sp>
          <p:nvSpPr>
            <p:cNvPr id="95266" name="Line 17"/>
            <p:cNvSpPr>
              <a:spLocks noChangeShapeType="1"/>
            </p:cNvSpPr>
            <p:nvPr/>
          </p:nvSpPr>
          <p:spPr bwMode="auto">
            <a:xfrm>
              <a:off x="5066" y="1809"/>
              <a:ext cx="3" cy="23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7" name="Rectangle 18"/>
            <p:cNvSpPr>
              <a:spLocks noChangeArrowheads="1"/>
            </p:cNvSpPr>
            <p:nvPr/>
          </p:nvSpPr>
          <p:spPr bwMode="auto">
            <a:xfrm>
              <a:off x="5128" y="1858"/>
              <a:ext cx="13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5268" name="Rectangle 19"/>
            <p:cNvSpPr>
              <a:spLocks noChangeArrowheads="1"/>
            </p:cNvSpPr>
            <p:nvPr/>
          </p:nvSpPr>
          <p:spPr bwMode="auto">
            <a:xfrm>
              <a:off x="5128" y="1875"/>
              <a:ext cx="15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宋体" panose="02010600030101010101" pitchFamily="2" charset="-122"/>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95269" name="Rectangle 20"/>
            <p:cNvSpPr>
              <a:spLocks noChangeArrowheads="1"/>
            </p:cNvSpPr>
            <p:nvPr/>
          </p:nvSpPr>
          <p:spPr bwMode="auto">
            <a:xfrm>
              <a:off x="2443" y="1711"/>
              <a:ext cx="23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5270" name="Rectangle 21"/>
            <p:cNvSpPr>
              <a:spLocks noChangeArrowheads="1"/>
            </p:cNvSpPr>
            <p:nvPr/>
          </p:nvSpPr>
          <p:spPr bwMode="auto">
            <a:xfrm>
              <a:off x="2443" y="1711"/>
              <a:ext cx="11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95271" name="Rectangle 22"/>
            <p:cNvSpPr>
              <a:spLocks noChangeArrowheads="1"/>
            </p:cNvSpPr>
            <p:nvPr/>
          </p:nvSpPr>
          <p:spPr bwMode="auto">
            <a:xfrm>
              <a:off x="3739" y="1798"/>
              <a:ext cx="443" cy="237"/>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5272" name="Rectangle 23"/>
            <p:cNvSpPr>
              <a:spLocks noChangeArrowheads="1"/>
            </p:cNvSpPr>
            <p:nvPr/>
          </p:nvSpPr>
          <p:spPr bwMode="auto">
            <a:xfrm>
              <a:off x="3773" y="1833"/>
              <a:ext cx="167"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5273" name="Rectangle 24"/>
            <p:cNvSpPr>
              <a:spLocks noChangeArrowheads="1"/>
            </p:cNvSpPr>
            <p:nvPr/>
          </p:nvSpPr>
          <p:spPr bwMode="auto">
            <a:xfrm>
              <a:off x="3773" y="1830"/>
              <a:ext cx="68"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95274" name="Rectangle 25"/>
            <p:cNvSpPr>
              <a:spLocks noChangeArrowheads="1"/>
            </p:cNvSpPr>
            <p:nvPr/>
          </p:nvSpPr>
          <p:spPr bwMode="auto">
            <a:xfrm>
              <a:off x="3835" y="1872"/>
              <a:ext cx="5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400">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95275" name="Line 26"/>
            <p:cNvSpPr>
              <a:spLocks noChangeShapeType="1"/>
            </p:cNvSpPr>
            <p:nvPr/>
          </p:nvSpPr>
          <p:spPr bwMode="auto">
            <a:xfrm>
              <a:off x="3971" y="1795"/>
              <a:ext cx="1" cy="23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76" name="Rectangle 27"/>
            <p:cNvSpPr>
              <a:spLocks noChangeArrowheads="1"/>
            </p:cNvSpPr>
            <p:nvPr/>
          </p:nvSpPr>
          <p:spPr bwMode="auto">
            <a:xfrm>
              <a:off x="4033" y="1844"/>
              <a:ext cx="127"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5277" name="Text Box 28"/>
            <p:cNvSpPr txBox="1">
              <a:spLocks noChangeArrowheads="1"/>
            </p:cNvSpPr>
            <p:nvPr/>
          </p:nvSpPr>
          <p:spPr bwMode="auto">
            <a:xfrm>
              <a:off x="4321" y="1724"/>
              <a:ext cx="2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95278" name="Line 29"/>
            <p:cNvSpPr>
              <a:spLocks noChangeShapeType="1"/>
            </p:cNvSpPr>
            <p:nvPr/>
          </p:nvSpPr>
          <p:spPr bwMode="auto">
            <a:xfrm flipV="1">
              <a:off x="2651" y="1938"/>
              <a:ext cx="480" cy="0"/>
            </a:xfrm>
            <a:prstGeom prst="line">
              <a:avLst/>
            </a:prstGeom>
            <a:noFill/>
            <a:ln w="12700"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79" name="Line 30"/>
            <p:cNvSpPr>
              <a:spLocks noChangeShapeType="1"/>
            </p:cNvSpPr>
            <p:nvPr/>
          </p:nvSpPr>
          <p:spPr bwMode="auto">
            <a:xfrm flipV="1">
              <a:off x="3467" y="1938"/>
              <a:ext cx="288" cy="0"/>
            </a:xfrm>
            <a:prstGeom prst="line">
              <a:avLst/>
            </a:prstGeom>
            <a:noFill/>
            <a:ln w="12700"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80" name="Line 31"/>
            <p:cNvSpPr>
              <a:spLocks noChangeShapeType="1"/>
            </p:cNvSpPr>
            <p:nvPr/>
          </p:nvSpPr>
          <p:spPr bwMode="auto">
            <a:xfrm flipV="1">
              <a:off x="4091" y="1938"/>
              <a:ext cx="288" cy="0"/>
            </a:xfrm>
            <a:prstGeom prst="line">
              <a:avLst/>
            </a:prstGeom>
            <a:noFill/>
            <a:ln w="12700"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81" name="Line 32"/>
            <p:cNvSpPr>
              <a:spLocks noChangeShapeType="1"/>
            </p:cNvSpPr>
            <p:nvPr/>
          </p:nvSpPr>
          <p:spPr bwMode="auto">
            <a:xfrm flipV="1">
              <a:off x="4571" y="1938"/>
              <a:ext cx="240" cy="0"/>
            </a:xfrm>
            <a:prstGeom prst="line">
              <a:avLst/>
            </a:prstGeom>
            <a:noFill/>
            <a:ln w="12700"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5236" name="Text Box 34"/>
          <p:cNvSpPr txBox="1">
            <a:spLocks noChangeArrowheads="1"/>
          </p:cNvSpPr>
          <p:nvPr/>
        </p:nvSpPr>
        <p:spPr bwMode="auto">
          <a:xfrm>
            <a:off x="5686425" y="908050"/>
            <a:ext cx="255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r>
              <a:rPr kumimoji="1" lang="en-US" altLang="zh-CN" sz="2400">
                <a:latin typeface="Times New Roman" panose="02020603050405020304" pitchFamily="18" charset="0"/>
                <a:ea typeface="宋体" panose="02010600030101010101" pitchFamily="2" charset="-122"/>
              </a:rPr>
              <a:t> ,a</a:t>
            </a:r>
            <a:r>
              <a:rPr kumimoji="1" lang="en-US" altLang="zh-CN" sz="2400" baseline="-25000">
                <a:latin typeface="Times New Roman" panose="02020603050405020304" pitchFamily="18" charset="0"/>
                <a:ea typeface="宋体" panose="02010600030101010101" pitchFamily="2" charset="-122"/>
              </a:rPr>
              <a:t>2</a:t>
            </a:r>
            <a:r>
              <a:rPr kumimoji="1" lang="en-US" altLang="zh-CN" sz="2400">
                <a:latin typeface="Times New Roman" panose="02020603050405020304" pitchFamily="18" charset="0"/>
                <a:ea typeface="宋体" panose="02010600030101010101" pitchFamily="2" charset="-122"/>
              </a:rPr>
              <a:t>, a</a:t>
            </a:r>
            <a:r>
              <a:rPr kumimoji="1" lang="en-US" altLang="zh-CN" sz="2400" baseline="-25000">
                <a:latin typeface="Times New Roman" panose="02020603050405020304" pitchFamily="18" charset="0"/>
                <a:ea typeface="宋体" panose="02010600030101010101" pitchFamily="2" charset="-122"/>
              </a:rPr>
              <a:t>3</a:t>
            </a:r>
            <a:r>
              <a:rPr kumimoji="1" lang="en-US" altLang="zh-CN" sz="2400">
                <a:latin typeface="Times New Roman" panose="02020603050405020304" pitchFamily="18" charset="0"/>
                <a:ea typeface="宋体" panose="02010600030101010101" pitchFamily="2" charset="-122"/>
              </a:rPr>
              <a:t>, ……, a</a:t>
            </a:r>
            <a:r>
              <a:rPr kumimoji="1" lang="en-US" altLang="zh-CN" sz="2400" baseline="-25000">
                <a:latin typeface="Times New Roman" panose="02020603050405020304" pitchFamily="18" charset="0"/>
                <a:ea typeface="宋体" panose="02010600030101010101" pitchFamily="2" charset="-122"/>
              </a:rPr>
              <a:t>n</a:t>
            </a:r>
            <a:r>
              <a:rPr kumimoji="1" lang="en-US" altLang="zh-CN" sz="2400">
                <a:latin typeface="Times New Roman" panose="02020603050405020304" pitchFamily="18" charset="0"/>
                <a:ea typeface="宋体" panose="02010600030101010101" pitchFamily="2" charset="-122"/>
              </a:rPr>
              <a:t>)</a:t>
            </a:r>
          </a:p>
        </p:txBody>
      </p:sp>
      <p:sp>
        <p:nvSpPr>
          <p:cNvPr id="95237" name="Line 35"/>
          <p:cNvSpPr>
            <a:spLocks noChangeShapeType="1"/>
          </p:cNvSpPr>
          <p:nvPr/>
        </p:nvSpPr>
        <p:spPr bwMode="auto">
          <a:xfrm>
            <a:off x="4330700" y="1704975"/>
            <a:ext cx="0" cy="457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38" name="Line 36"/>
          <p:cNvSpPr>
            <a:spLocks noChangeShapeType="1"/>
          </p:cNvSpPr>
          <p:nvPr/>
        </p:nvSpPr>
        <p:spPr bwMode="auto">
          <a:xfrm>
            <a:off x="5626100" y="1704975"/>
            <a:ext cx="0" cy="457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39" name="Line 37"/>
          <p:cNvSpPr>
            <a:spLocks noChangeShapeType="1"/>
          </p:cNvSpPr>
          <p:nvPr/>
        </p:nvSpPr>
        <p:spPr bwMode="auto">
          <a:xfrm>
            <a:off x="4330700" y="2009775"/>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40" name="Line 38"/>
          <p:cNvSpPr>
            <a:spLocks noChangeShapeType="1"/>
          </p:cNvSpPr>
          <p:nvPr/>
        </p:nvSpPr>
        <p:spPr bwMode="auto">
          <a:xfrm>
            <a:off x="4330700" y="2390775"/>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41" name="Line 39"/>
          <p:cNvSpPr>
            <a:spLocks noChangeShapeType="1"/>
          </p:cNvSpPr>
          <p:nvPr/>
        </p:nvSpPr>
        <p:spPr bwMode="auto">
          <a:xfrm>
            <a:off x="4330700" y="3533775"/>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42" name="Line 40"/>
          <p:cNvSpPr>
            <a:spLocks noChangeShapeType="1"/>
          </p:cNvSpPr>
          <p:nvPr/>
        </p:nvSpPr>
        <p:spPr bwMode="auto">
          <a:xfrm>
            <a:off x="4330700" y="3914775"/>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43" name="Line 41"/>
          <p:cNvSpPr>
            <a:spLocks noChangeShapeType="1"/>
          </p:cNvSpPr>
          <p:nvPr/>
        </p:nvSpPr>
        <p:spPr bwMode="auto">
          <a:xfrm>
            <a:off x="4330700" y="5057775"/>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44" name="Line 42"/>
          <p:cNvSpPr>
            <a:spLocks noChangeShapeType="1"/>
          </p:cNvSpPr>
          <p:nvPr/>
        </p:nvSpPr>
        <p:spPr bwMode="auto">
          <a:xfrm>
            <a:off x="4330700" y="5438775"/>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45" name="Text Box 43"/>
          <p:cNvSpPr txBox="1">
            <a:spLocks noChangeArrowheads="1"/>
          </p:cNvSpPr>
          <p:nvPr/>
        </p:nvSpPr>
        <p:spPr bwMode="auto">
          <a:xfrm>
            <a:off x="4406900" y="1933575"/>
            <a:ext cx="109855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0x0255</a:t>
            </a: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0x0283</a:t>
            </a: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3</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0x0311</a:t>
            </a:r>
          </a:p>
        </p:txBody>
      </p:sp>
      <p:sp>
        <p:nvSpPr>
          <p:cNvPr id="95246" name="Text Box 44"/>
          <p:cNvSpPr txBox="1">
            <a:spLocks noChangeArrowheads="1"/>
          </p:cNvSpPr>
          <p:nvPr/>
        </p:nvSpPr>
        <p:spPr bwMode="auto">
          <a:xfrm>
            <a:off x="3287713" y="1744663"/>
            <a:ext cx="1098550" cy="354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0x0201</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0x0255</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0x0283</a:t>
            </a:r>
          </a:p>
        </p:txBody>
      </p:sp>
      <p:sp>
        <p:nvSpPr>
          <p:cNvPr id="95247" name="Line 45"/>
          <p:cNvSpPr>
            <a:spLocks noChangeShapeType="1"/>
          </p:cNvSpPr>
          <p:nvPr/>
        </p:nvSpPr>
        <p:spPr bwMode="auto">
          <a:xfrm>
            <a:off x="4330700" y="2771775"/>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48" name="Line 46"/>
          <p:cNvSpPr>
            <a:spLocks noChangeShapeType="1"/>
          </p:cNvSpPr>
          <p:nvPr/>
        </p:nvSpPr>
        <p:spPr bwMode="auto">
          <a:xfrm>
            <a:off x="4330700" y="4295775"/>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49" name="Line 47"/>
          <p:cNvSpPr>
            <a:spLocks noChangeShapeType="1"/>
          </p:cNvSpPr>
          <p:nvPr/>
        </p:nvSpPr>
        <p:spPr bwMode="auto">
          <a:xfrm>
            <a:off x="4330700" y="5819775"/>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50" name="Line 48"/>
          <p:cNvSpPr>
            <a:spLocks noChangeShapeType="1"/>
          </p:cNvSpPr>
          <p:nvPr/>
        </p:nvSpPr>
        <p:spPr bwMode="auto">
          <a:xfrm>
            <a:off x="4940300" y="2924175"/>
            <a:ext cx="0" cy="457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51" name="Line 49"/>
          <p:cNvSpPr>
            <a:spLocks noChangeShapeType="1"/>
          </p:cNvSpPr>
          <p:nvPr/>
        </p:nvSpPr>
        <p:spPr bwMode="auto">
          <a:xfrm>
            <a:off x="4940300" y="4448175"/>
            <a:ext cx="0" cy="457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252" name="Line 50"/>
          <p:cNvSpPr>
            <a:spLocks noChangeShapeType="1"/>
          </p:cNvSpPr>
          <p:nvPr/>
        </p:nvSpPr>
        <p:spPr bwMode="auto">
          <a:xfrm>
            <a:off x="4940300" y="5972175"/>
            <a:ext cx="0" cy="381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811" name="Text Box 51"/>
          <p:cNvSpPr txBox="1">
            <a:spLocks noChangeArrowheads="1"/>
          </p:cNvSpPr>
          <p:nvPr/>
        </p:nvSpPr>
        <p:spPr bwMode="auto">
          <a:xfrm>
            <a:off x="6372225" y="3171825"/>
            <a:ext cx="418623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通常用箭头来表示链域中的</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指针，于是链表就可以直观地</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画成用箭头链接起来的结点序</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列（如下图）。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78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78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78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78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11"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5"/>
          <p:cNvSpPr>
            <a:spLocks noGrp="1"/>
          </p:cNvSpPr>
          <p:nvPr>
            <p:ph type="title"/>
          </p:nvPr>
        </p:nvSpPr>
        <p:spPr>
          <a:xfrm>
            <a:off x="527050" y="368300"/>
            <a:ext cx="10218738" cy="822325"/>
          </a:xfrm>
        </p:spPr>
        <p:txBody>
          <a:bodyPr/>
          <a:lstStyle/>
          <a:p>
            <a:pPr eaLnBrk="1" hangingPunct="1"/>
            <a:r>
              <a:rPr kumimoji="1" lang="zh-CN" altLang="en-US" smtClean="0"/>
              <a:t>链式存储</a:t>
            </a:r>
            <a:endParaRPr lang="zh-CN" altLang="en-US" smtClean="0"/>
          </a:p>
        </p:txBody>
      </p:sp>
      <p:sp>
        <p:nvSpPr>
          <p:cNvPr id="96259" name="Text Box 5"/>
          <p:cNvSpPr txBox="1">
            <a:spLocks noChangeArrowheads="1"/>
          </p:cNvSpPr>
          <p:nvPr/>
        </p:nvSpPr>
        <p:spPr bwMode="auto">
          <a:xfrm>
            <a:off x="5470525" y="836613"/>
            <a:ext cx="255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r>
              <a:rPr kumimoji="1" lang="en-US" altLang="zh-CN" sz="2400">
                <a:latin typeface="Times New Roman" panose="02020603050405020304" pitchFamily="18" charset="0"/>
                <a:ea typeface="宋体" panose="02010600030101010101" pitchFamily="2" charset="-122"/>
              </a:rPr>
              <a:t> ,a</a:t>
            </a:r>
            <a:r>
              <a:rPr kumimoji="1" lang="en-US" altLang="zh-CN" sz="2400" baseline="-25000">
                <a:latin typeface="Times New Roman" panose="02020603050405020304" pitchFamily="18" charset="0"/>
                <a:ea typeface="宋体" panose="02010600030101010101" pitchFamily="2" charset="-122"/>
              </a:rPr>
              <a:t>2</a:t>
            </a:r>
            <a:r>
              <a:rPr kumimoji="1" lang="en-US" altLang="zh-CN" sz="2400">
                <a:latin typeface="Times New Roman" panose="02020603050405020304" pitchFamily="18" charset="0"/>
                <a:ea typeface="宋体" panose="02010600030101010101" pitchFamily="2" charset="-122"/>
              </a:rPr>
              <a:t>, a</a:t>
            </a:r>
            <a:r>
              <a:rPr kumimoji="1" lang="en-US" altLang="zh-CN" sz="2400" baseline="-25000">
                <a:latin typeface="Times New Roman" panose="02020603050405020304" pitchFamily="18" charset="0"/>
                <a:ea typeface="宋体" panose="02010600030101010101" pitchFamily="2" charset="-122"/>
              </a:rPr>
              <a:t>3</a:t>
            </a:r>
            <a:r>
              <a:rPr kumimoji="1" lang="en-US" altLang="zh-CN" sz="2400">
                <a:latin typeface="Times New Roman" panose="02020603050405020304" pitchFamily="18" charset="0"/>
                <a:ea typeface="宋体" panose="02010600030101010101" pitchFamily="2" charset="-122"/>
              </a:rPr>
              <a:t>, ……, a</a:t>
            </a:r>
            <a:r>
              <a:rPr kumimoji="1" lang="en-US" altLang="zh-CN" sz="2400" baseline="-25000">
                <a:latin typeface="Times New Roman" panose="02020603050405020304" pitchFamily="18" charset="0"/>
                <a:ea typeface="宋体" panose="02010600030101010101" pitchFamily="2" charset="-122"/>
              </a:rPr>
              <a:t>n</a:t>
            </a:r>
            <a:r>
              <a:rPr kumimoji="1" lang="en-US" altLang="zh-CN" sz="2400">
                <a:latin typeface="Times New Roman" panose="02020603050405020304" pitchFamily="18" charset="0"/>
                <a:ea typeface="宋体" panose="02010600030101010101" pitchFamily="2" charset="-122"/>
              </a:rPr>
              <a:t>)</a:t>
            </a:r>
          </a:p>
        </p:txBody>
      </p:sp>
      <p:sp>
        <p:nvSpPr>
          <p:cNvPr id="96260" name="Line 6"/>
          <p:cNvSpPr>
            <a:spLocks noChangeShapeType="1"/>
          </p:cNvSpPr>
          <p:nvPr/>
        </p:nvSpPr>
        <p:spPr bwMode="auto">
          <a:xfrm>
            <a:off x="4876800" y="1633538"/>
            <a:ext cx="0" cy="457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1" name="Line 7"/>
          <p:cNvSpPr>
            <a:spLocks noChangeShapeType="1"/>
          </p:cNvSpPr>
          <p:nvPr/>
        </p:nvSpPr>
        <p:spPr bwMode="auto">
          <a:xfrm>
            <a:off x="6172200" y="1633538"/>
            <a:ext cx="0" cy="457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2" name="Line 8"/>
          <p:cNvSpPr>
            <a:spLocks noChangeShapeType="1"/>
          </p:cNvSpPr>
          <p:nvPr/>
        </p:nvSpPr>
        <p:spPr bwMode="auto">
          <a:xfrm>
            <a:off x="4876800" y="19383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3" name="Line 9"/>
          <p:cNvSpPr>
            <a:spLocks noChangeShapeType="1"/>
          </p:cNvSpPr>
          <p:nvPr/>
        </p:nvSpPr>
        <p:spPr bwMode="auto">
          <a:xfrm>
            <a:off x="4876800" y="23193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4" name="Line 10"/>
          <p:cNvSpPr>
            <a:spLocks noChangeShapeType="1"/>
          </p:cNvSpPr>
          <p:nvPr/>
        </p:nvSpPr>
        <p:spPr bwMode="auto">
          <a:xfrm>
            <a:off x="4876800" y="34623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5" name="Line 11"/>
          <p:cNvSpPr>
            <a:spLocks noChangeShapeType="1"/>
          </p:cNvSpPr>
          <p:nvPr/>
        </p:nvSpPr>
        <p:spPr bwMode="auto">
          <a:xfrm>
            <a:off x="4876800" y="38433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6" name="Line 12"/>
          <p:cNvSpPr>
            <a:spLocks noChangeShapeType="1"/>
          </p:cNvSpPr>
          <p:nvPr/>
        </p:nvSpPr>
        <p:spPr bwMode="auto">
          <a:xfrm>
            <a:off x="4876800" y="49863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7" name="Line 13"/>
          <p:cNvSpPr>
            <a:spLocks noChangeShapeType="1"/>
          </p:cNvSpPr>
          <p:nvPr/>
        </p:nvSpPr>
        <p:spPr bwMode="auto">
          <a:xfrm>
            <a:off x="4876800" y="53673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68" name="Text Box 14"/>
          <p:cNvSpPr txBox="1">
            <a:spLocks noChangeArrowheads="1"/>
          </p:cNvSpPr>
          <p:nvPr/>
        </p:nvSpPr>
        <p:spPr bwMode="auto">
          <a:xfrm>
            <a:off x="4953000" y="1862138"/>
            <a:ext cx="109855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0x0255</a:t>
            </a: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0x0283</a:t>
            </a: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3</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0x0311</a:t>
            </a:r>
          </a:p>
        </p:txBody>
      </p:sp>
      <p:sp>
        <p:nvSpPr>
          <p:cNvPr id="96269" name="Text Box 15"/>
          <p:cNvSpPr txBox="1">
            <a:spLocks noChangeArrowheads="1"/>
          </p:cNvSpPr>
          <p:nvPr/>
        </p:nvSpPr>
        <p:spPr bwMode="auto">
          <a:xfrm>
            <a:off x="3792538" y="1673225"/>
            <a:ext cx="1098550" cy="354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0x0201</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0x0255</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0x0283</a:t>
            </a:r>
          </a:p>
        </p:txBody>
      </p:sp>
      <p:sp>
        <p:nvSpPr>
          <p:cNvPr id="96270" name="Line 16"/>
          <p:cNvSpPr>
            <a:spLocks noChangeShapeType="1"/>
          </p:cNvSpPr>
          <p:nvPr/>
        </p:nvSpPr>
        <p:spPr bwMode="auto">
          <a:xfrm>
            <a:off x="4876800" y="27003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1" name="Line 17"/>
          <p:cNvSpPr>
            <a:spLocks noChangeShapeType="1"/>
          </p:cNvSpPr>
          <p:nvPr/>
        </p:nvSpPr>
        <p:spPr bwMode="auto">
          <a:xfrm>
            <a:off x="4876800" y="42243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2" name="Line 18"/>
          <p:cNvSpPr>
            <a:spLocks noChangeShapeType="1"/>
          </p:cNvSpPr>
          <p:nvPr/>
        </p:nvSpPr>
        <p:spPr bwMode="auto">
          <a:xfrm>
            <a:off x="4876800" y="5748338"/>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3" name="Line 19"/>
          <p:cNvSpPr>
            <a:spLocks noChangeShapeType="1"/>
          </p:cNvSpPr>
          <p:nvPr/>
        </p:nvSpPr>
        <p:spPr bwMode="auto">
          <a:xfrm>
            <a:off x="5486400" y="2852738"/>
            <a:ext cx="0" cy="457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4" name="Line 20"/>
          <p:cNvSpPr>
            <a:spLocks noChangeShapeType="1"/>
          </p:cNvSpPr>
          <p:nvPr/>
        </p:nvSpPr>
        <p:spPr bwMode="auto">
          <a:xfrm>
            <a:off x="5486400" y="4376738"/>
            <a:ext cx="0" cy="457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5" name="Line 21"/>
          <p:cNvSpPr>
            <a:spLocks noChangeShapeType="1"/>
          </p:cNvSpPr>
          <p:nvPr/>
        </p:nvSpPr>
        <p:spPr bwMode="auto">
          <a:xfrm>
            <a:off x="5486400" y="5900738"/>
            <a:ext cx="0" cy="381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6276" name="Group 22"/>
          <p:cNvGrpSpPr>
            <a:grpSpLocks/>
          </p:cNvGrpSpPr>
          <p:nvPr/>
        </p:nvGrpSpPr>
        <p:grpSpPr bwMode="auto">
          <a:xfrm>
            <a:off x="7620000" y="2909888"/>
            <a:ext cx="2514600" cy="1357312"/>
            <a:chOff x="3360" y="2112"/>
            <a:chExt cx="1584" cy="855"/>
          </a:xfrm>
        </p:grpSpPr>
        <p:sp>
          <p:nvSpPr>
            <p:cNvPr id="96278" name="Rectangle 23"/>
            <p:cNvSpPr>
              <a:spLocks noChangeArrowheads="1"/>
            </p:cNvSpPr>
            <p:nvPr/>
          </p:nvSpPr>
          <p:spPr bwMode="auto">
            <a:xfrm>
              <a:off x="3360" y="2112"/>
              <a:ext cx="1584"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6279" name="Text Box 24"/>
            <p:cNvSpPr txBox="1">
              <a:spLocks noChangeArrowheads="1"/>
            </p:cNvSpPr>
            <p:nvPr/>
          </p:nvSpPr>
          <p:spPr bwMode="auto">
            <a:xfrm>
              <a:off x="3398" y="2186"/>
              <a:ext cx="14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数据         指针</a:t>
              </a:r>
            </a:p>
          </p:txBody>
        </p:sp>
        <p:sp>
          <p:nvSpPr>
            <p:cNvPr id="96280" name="Line 25"/>
            <p:cNvSpPr>
              <a:spLocks noChangeShapeType="1"/>
            </p:cNvSpPr>
            <p:nvPr/>
          </p:nvSpPr>
          <p:spPr bwMode="auto">
            <a:xfrm>
              <a:off x="4176" y="2112"/>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81" name="Text Box 26"/>
            <p:cNvSpPr txBox="1">
              <a:spLocks noChangeArrowheads="1"/>
            </p:cNvSpPr>
            <p:nvPr/>
          </p:nvSpPr>
          <p:spPr bwMode="auto">
            <a:xfrm>
              <a:off x="3792" y="2736"/>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1800">
                  <a:latin typeface="Times New Roman" panose="02020603050405020304" pitchFamily="18" charset="0"/>
                  <a:ea typeface="宋体" panose="02010600030101010101" pitchFamily="2" charset="-122"/>
                </a:rPr>
                <a:t>一个结点</a:t>
              </a:r>
              <a:endParaRPr kumimoji="1" lang="zh-CN" altLang="en-US" sz="2400">
                <a:latin typeface="Times New Roman" panose="02020603050405020304" pitchFamily="18" charset="0"/>
                <a:ea typeface="宋体" panose="02010600030101010101" pitchFamily="2" charset="-122"/>
              </a:endParaRPr>
            </a:p>
          </p:txBody>
        </p:sp>
      </p:grpSp>
      <p:sp>
        <p:nvSpPr>
          <p:cNvPr id="118811" name="Text Box 27"/>
          <p:cNvSpPr txBox="1">
            <a:spLocks noChangeArrowheads="1"/>
          </p:cNvSpPr>
          <p:nvPr/>
        </p:nvSpPr>
        <p:spPr bwMode="auto">
          <a:xfrm>
            <a:off x="6826250" y="4814888"/>
            <a:ext cx="387826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每个结点的信息由两部分</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组成：数据域用来存放结点</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的值，指针域用来存放结点</a:t>
            </a:r>
          </a:p>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的直接后继的地址。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88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88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88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88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11"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97283" name="Rectangle 3"/>
          <p:cNvSpPr>
            <a:spLocks noGrp="1" noChangeArrowheads="1"/>
          </p:cNvSpPr>
          <p:nvPr>
            <p:ph idx="1"/>
          </p:nvPr>
        </p:nvSpPr>
        <p:spPr>
          <a:xfrm>
            <a:off x="527050" y="1628775"/>
            <a:ext cx="10218738" cy="4351338"/>
          </a:xfrm>
        </p:spPr>
        <p:txBody>
          <a:bodyPr/>
          <a:lstStyle/>
          <a:p>
            <a:pPr eaLnBrk="1" hangingPunct="1"/>
            <a:r>
              <a:rPr lang="zh-CN" altLang="en-US" smtClean="0"/>
              <a:t>带</a:t>
            </a:r>
            <a:r>
              <a:rPr lang="zh-CN" altLang="en-US" smtClean="0">
                <a:latin typeface="Arial" panose="020B0604020202020204" pitchFamily="34" charset="0"/>
              </a:rPr>
              <a:t>“</a:t>
            </a:r>
            <a:r>
              <a:rPr lang="zh-CN" altLang="en-US" smtClean="0"/>
              <a:t>头结点</a:t>
            </a:r>
            <a:r>
              <a:rPr lang="zh-CN" altLang="en-US" smtClean="0">
                <a:latin typeface="Arial" panose="020B0604020202020204" pitchFamily="34" charset="0"/>
              </a:rPr>
              <a:t>”</a:t>
            </a:r>
            <a:r>
              <a:rPr lang="zh-CN" altLang="en-US" smtClean="0"/>
              <a:t>的单链表</a:t>
            </a:r>
          </a:p>
          <a:p>
            <a:pPr lvl="1" eaLnBrk="1" hangingPunct="1"/>
            <a:r>
              <a:rPr lang="zh-CN" altLang="en-US" b="1" u="sng" smtClean="0">
                <a:solidFill>
                  <a:schemeClr val="accent2"/>
                </a:solidFill>
              </a:rPr>
              <a:t>在第一个结点之前附加一个</a:t>
            </a:r>
            <a:r>
              <a:rPr lang="zh-CN" altLang="en-US" b="1" u="sng" smtClean="0">
                <a:solidFill>
                  <a:schemeClr val="accent2"/>
                </a:solidFill>
                <a:latin typeface="Arial" panose="020B0604020202020204" pitchFamily="34" charset="0"/>
              </a:rPr>
              <a:t>“</a:t>
            </a:r>
            <a:r>
              <a:rPr lang="zh-CN" altLang="en-US" b="1" u="sng" smtClean="0">
                <a:solidFill>
                  <a:schemeClr val="accent2"/>
                </a:solidFill>
              </a:rPr>
              <a:t>头结点</a:t>
            </a:r>
            <a:r>
              <a:rPr lang="zh-CN" altLang="en-US" b="1" u="sng" smtClean="0">
                <a:solidFill>
                  <a:schemeClr val="accent2"/>
                </a:solidFill>
                <a:latin typeface="Arial" panose="020B0604020202020204" pitchFamily="34" charset="0"/>
              </a:rPr>
              <a:t>”</a:t>
            </a:r>
            <a:r>
              <a:rPr lang="zh-CN" altLang="en-US" b="1" u="sng" smtClean="0">
                <a:solidFill>
                  <a:schemeClr val="accent2"/>
                </a:solidFill>
              </a:rPr>
              <a:t>，令该结点中指针域的指针指向第一个元素结点，并令头指针指向头结点</a:t>
            </a:r>
          </a:p>
          <a:p>
            <a:pPr lvl="1" eaLnBrk="1" hangingPunct="1">
              <a:buFont typeface="Wingdings" panose="05000000000000000000" pitchFamily="2" charset="2"/>
              <a:buNone/>
            </a:pPr>
            <a:endParaRPr lang="en-US" altLang="zh-CN" smtClean="0"/>
          </a:p>
        </p:txBody>
      </p:sp>
      <p:pic>
        <p:nvPicPr>
          <p:cNvPr id="44036" name="Picture 4" descr="2_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13" y="3789363"/>
            <a:ext cx="799147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036"/>
                                        </p:tgtEl>
                                        <p:attrNameLst>
                                          <p:attrName>style.visibility</p:attrName>
                                        </p:attrNameLst>
                                      </p:cBhvr>
                                      <p:to>
                                        <p:strVal val="visible"/>
                                      </p:to>
                                    </p:set>
                                    <p:anim calcmode="lin" valueType="num">
                                      <p:cBhvr additive="base">
                                        <p:cTn id="7" dur="500" fill="hold"/>
                                        <p:tgtEl>
                                          <p:spTgt spid="44036"/>
                                        </p:tgtEl>
                                        <p:attrNameLst>
                                          <p:attrName>ppt_x</p:attrName>
                                        </p:attrNameLst>
                                      </p:cBhvr>
                                      <p:tavLst>
                                        <p:tav tm="0">
                                          <p:val>
                                            <p:strVal val="#ppt_x"/>
                                          </p:val>
                                        </p:tav>
                                        <p:tav tm="100000">
                                          <p:val>
                                            <p:strVal val="#ppt_x"/>
                                          </p:val>
                                        </p:tav>
                                      </p:tavLst>
                                    </p:anim>
                                    <p:anim calcmode="lin" valueType="num">
                                      <p:cBhvr additive="base">
                                        <p:cTn id="8" dur="500" fill="hold"/>
                                        <p:tgtEl>
                                          <p:spTgt spid="440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45059" name="Rectangle 3"/>
          <p:cNvSpPr>
            <a:spLocks noGrp="1" noChangeArrowheads="1"/>
          </p:cNvSpPr>
          <p:nvPr>
            <p:ph idx="1"/>
          </p:nvPr>
        </p:nvSpPr>
        <p:spPr>
          <a:xfrm>
            <a:off x="527050" y="1628775"/>
            <a:ext cx="10218738" cy="4351338"/>
          </a:xfrm>
        </p:spPr>
        <p:txBody>
          <a:bodyPr/>
          <a:lstStyle/>
          <a:p>
            <a:pPr eaLnBrk="1" hangingPunct="1"/>
            <a:r>
              <a:rPr lang="zh-CN" altLang="en-US" smtClean="0"/>
              <a:t>带</a:t>
            </a:r>
            <a:r>
              <a:rPr lang="zh-CN" altLang="en-US" smtClean="0">
                <a:latin typeface="Arial" panose="020B0604020202020204" pitchFamily="34" charset="0"/>
              </a:rPr>
              <a:t>“</a:t>
            </a:r>
            <a:r>
              <a:rPr lang="zh-CN" altLang="en-US" smtClean="0"/>
              <a:t>头结点</a:t>
            </a:r>
            <a:r>
              <a:rPr lang="zh-CN" altLang="en-US" smtClean="0">
                <a:latin typeface="Arial" panose="020B0604020202020204" pitchFamily="34" charset="0"/>
              </a:rPr>
              <a:t>”</a:t>
            </a:r>
            <a:r>
              <a:rPr lang="zh-CN" altLang="en-US" smtClean="0"/>
              <a:t>的单链表的优点</a:t>
            </a:r>
          </a:p>
          <a:p>
            <a:pPr lvl="1" eaLnBrk="1" hangingPunct="1"/>
            <a:r>
              <a:rPr lang="zh-CN" altLang="en-US" smtClean="0"/>
              <a:t>若线性表为空，在不带头结点的情况下，头指针为空</a:t>
            </a:r>
            <a:r>
              <a:rPr lang="en-US" altLang="zh-CN" smtClean="0"/>
              <a:t>(NULL)</a:t>
            </a:r>
            <a:r>
              <a:rPr lang="zh-CN" altLang="en-US" smtClean="0"/>
              <a:t>，但在带头结点的情况下，链表的头指针不为空，而是其头结点中指针域的指针为空。</a:t>
            </a:r>
          </a:p>
        </p:txBody>
      </p:sp>
      <p:pic>
        <p:nvPicPr>
          <p:cNvPr id="45060" name="Picture 4" descr="2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350" y="4005263"/>
            <a:ext cx="6408738"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5059">
                                            <p:txEl>
                                              <p:pRg st="1" end="1"/>
                                            </p:txEl>
                                          </p:spTgt>
                                        </p:tgtEl>
                                        <p:attrNameLst>
                                          <p:attrName>style.visibility</p:attrName>
                                        </p:attrNameLst>
                                      </p:cBhvr>
                                      <p:to>
                                        <p:strVal val="visible"/>
                                      </p:to>
                                    </p:set>
                                    <p:anim calcmode="lin" valueType="num">
                                      <p:cBhvr additive="base">
                                        <p:cTn id="7" dur="500" fill="hold"/>
                                        <p:tgtEl>
                                          <p:spTgt spid="450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45060"/>
                                        </p:tgtEl>
                                        <p:attrNameLst>
                                          <p:attrName>style.visibility</p:attrName>
                                        </p:attrNameLst>
                                      </p:cBhvr>
                                      <p:to>
                                        <p:strVal val="visible"/>
                                      </p:to>
                                    </p:set>
                                    <p:animEffect transition="in" filter="box(in)">
                                      <p:cBhvr>
                                        <p:cTn id="13" dur="500"/>
                                        <p:tgtEl>
                                          <p:spTgt spid="4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5"/>
          <p:cNvSpPr>
            <a:spLocks noGrp="1"/>
          </p:cNvSpPr>
          <p:nvPr>
            <p:ph type="title"/>
          </p:nvPr>
        </p:nvSpPr>
        <p:spPr>
          <a:xfrm>
            <a:off x="527050" y="368300"/>
            <a:ext cx="10218738" cy="822325"/>
          </a:xfrm>
        </p:spPr>
        <p:txBody>
          <a:bodyPr/>
          <a:lstStyle/>
          <a:p>
            <a:pPr eaLnBrk="1" hangingPunct="1"/>
            <a:r>
              <a:rPr kumimoji="1" lang="zh-CN" altLang="en-US" smtClean="0"/>
              <a:t>链式存储</a:t>
            </a:r>
            <a:endParaRPr lang="zh-CN" altLang="en-US" smtClean="0"/>
          </a:p>
        </p:txBody>
      </p:sp>
      <p:sp>
        <p:nvSpPr>
          <p:cNvPr id="99331" name="Rectangle 5"/>
          <p:cNvSpPr>
            <a:spLocks noChangeArrowheads="1"/>
          </p:cNvSpPr>
          <p:nvPr/>
        </p:nvSpPr>
        <p:spPr bwMode="auto">
          <a:xfrm>
            <a:off x="7620000" y="3178175"/>
            <a:ext cx="2514600" cy="68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99332" name="Text Box 6"/>
          <p:cNvSpPr txBox="1">
            <a:spLocks noChangeArrowheads="1"/>
          </p:cNvSpPr>
          <p:nvPr/>
        </p:nvSpPr>
        <p:spPr bwMode="auto">
          <a:xfrm>
            <a:off x="7680325" y="3295650"/>
            <a:ext cx="2241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r>
              <a:rPr kumimoji="1" lang="zh-CN" altLang="en-US" sz="2400">
                <a:latin typeface="Times New Roman" panose="02020603050405020304" pitchFamily="18" charset="0"/>
                <a:ea typeface="宋体" panose="02010600030101010101" pitchFamily="2" charset="-122"/>
              </a:rPr>
              <a:t>数据         指针</a:t>
            </a:r>
          </a:p>
        </p:txBody>
      </p:sp>
      <p:sp>
        <p:nvSpPr>
          <p:cNvPr id="99333" name="Line 7"/>
          <p:cNvSpPr>
            <a:spLocks noChangeShapeType="1"/>
          </p:cNvSpPr>
          <p:nvPr/>
        </p:nvSpPr>
        <p:spPr bwMode="auto">
          <a:xfrm>
            <a:off x="8915400" y="3178175"/>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4" name="Text Box 8"/>
          <p:cNvSpPr txBox="1">
            <a:spLocks noChangeArrowheads="1"/>
          </p:cNvSpPr>
          <p:nvPr/>
        </p:nvSpPr>
        <p:spPr bwMode="auto">
          <a:xfrm>
            <a:off x="2351088" y="2487613"/>
            <a:ext cx="3789362"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20000"/>
              </a:lnSpc>
              <a:spcBef>
                <a:spcPct val="0"/>
              </a:spcBef>
              <a:buFontTx/>
              <a:buNone/>
            </a:pPr>
            <a:r>
              <a:rPr kumimoji="1" lang="en-US" altLang="zh-CN" sz="2400">
                <a:latin typeface="Times New Roman" panose="02020603050405020304" pitchFamily="18" charset="0"/>
                <a:ea typeface="宋体" panose="02010600030101010101" pitchFamily="2" charset="-122"/>
              </a:rPr>
              <a:t>struct  node  {</a:t>
            </a:r>
          </a:p>
          <a:p>
            <a:pPr eaLnBrk="1" hangingPunct="1">
              <a:lnSpc>
                <a:spcPct val="120000"/>
              </a:lnSpc>
              <a:spcBef>
                <a:spcPct val="0"/>
              </a:spcBef>
              <a:buFontTx/>
              <a:buNone/>
            </a:pPr>
            <a:r>
              <a:rPr kumimoji="1" lang="en-US" altLang="zh-CN" sz="2400">
                <a:latin typeface="Times New Roman" panose="02020603050405020304" pitchFamily="18" charset="0"/>
                <a:ea typeface="宋体" panose="02010600030101010101" pitchFamily="2" charset="-122"/>
              </a:rPr>
              <a:t>    ElemType   data;</a:t>
            </a:r>
          </a:p>
          <a:p>
            <a:pPr eaLnBrk="1" hangingPunct="1">
              <a:lnSpc>
                <a:spcPct val="120000"/>
              </a:lnSpc>
              <a:spcBef>
                <a:spcPct val="0"/>
              </a:spcBef>
              <a:buFontTx/>
              <a:buNone/>
            </a:pPr>
            <a:r>
              <a:rPr kumimoji="1" lang="en-US" altLang="zh-CN" sz="2400">
                <a:latin typeface="Times New Roman" panose="02020603050405020304" pitchFamily="18" charset="0"/>
                <a:ea typeface="宋体" panose="02010600030101010101" pitchFamily="2" charset="-122"/>
              </a:rPr>
              <a:t>    struct  node    *  next;</a:t>
            </a:r>
          </a:p>
          <a:p>
            <a:pPr eaLnBrk="1" hangingPunct="1">
              <a:lnSpc>
                <a:spcPct val="120000"/>
              </a:lnSpc>
              <a:spcBef>
                <a:spcPct val="0"/>
              </a:spcBef>
              <a:buFontTx/>
              <a:buNone/>
            </a:pPr>
            <a:r>
              <a:rPr kumimoji="1" lang="en-US" altLang="zh-CN" sz="2400">
                <a:latin typeface="Times New Roman" panose="02020603050405020304" pitchFamily="18" charset="0"/>
                <a:ea typeface="宋体" panose="02010600030101010101" pitchFamily="2" charset="-122"/>
              </a:rPr>
              <a:t>}</a:t>
            </a:r>
          </a:p>
          <a:p>
            <a:pPr eaLnBrk="1" hangingPunct="1">
              <a:lnSpc>
                <a:spcPct val="12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20000"/>
              </a:lnSpc>
              <a:spcBef>
                <a:spcPct val="0"/>
              </a:spcBef>
              <a:buFontTx/>
              <a:buNone/>
            </a:pPr>
            <a:r>
              <a:rPr kumimoji="1" lang="en-US" altLang="zh-CN" sz="2400">
                <a:latin typeface="Times New Roman" panose="02020603050405020304" pitchFamily="18" charset="0"/>
                <a:ea typeface="宋体" panose="02010600030101010101" pitchFamily="2" charset="-122"/>
              </a:rPr>
              <a:t>typedef  struct node   LNode;</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527050" y="368300"/>
            <a:ext cx="10218738" cy="822325"/>
          </a:xfrm>
        </p:spPr>
        <p:txBody>
          <a:bodyPr/>
          <a:lstStyle/>
          <a:p>
            <a:pPr eaLnBrk="1" hangingPunct="1"/>
            <a:r>
              <a:rPr lang="zh-CN" altLang="en-US" smtClean="0"/>
              <a:t>链式存储</a:t>
            </a:r>
          </a:p>
        </p:txBody>
      </p:sp>
      <p:sp>
        <p:nvSpPr>
          <p:cNvPr id="100355" name="Text Box 4"/>
          <p:cNvSpPr txBox="1">
            <a:spLocks noChangeArrowheads="1"/>
          </p:cNvSpPr>
          <p:nvPr/>
        </p:nvSpPr>
        <p:spPr bwMode="auto">
          <a:xfrm>
            <a:off x="6477000" y="1593850"/>
            <a:ext cx="1709738"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LNode  * p;</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 = 0x0201;</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p-&gt;data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p-&gt;next = </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 = p-&gt;next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p-&gt;data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p-&gt;next = </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 = p-&gt;next;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p-&gt;data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p-&gt;next =</a:t>
            </a:r>
          </a:p>
        </p:txBody>
      </p:sp>
      <p:sp>
        <p:nvSpPr>
          <p:cNvPr id="100356" name="Line 5"/>
          <p:cNvSpPr>
            <a:spLocks noChangeShapeType="1"/>
          </p:cNvSpPr>
          <p:nvPr/>
        </p:nvSpPr>
        <p:spPr bwMode="auto">
          <a:xfrm>
            <a:off x="3863975" y="1593850"/>
            <a:ext cx="0" cy="457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7" name="Line 6"/>
          <p:cNvSpPr>
            <a:spLocks noChangeShapeType="1"/>
          </p:cNvSpPr>
          <p:nvPr/>
        </p:nvSpPr>
        <p:spPr bwMode="auto">
          <a:xfrm>
            <a:off x="5159375" y="1593850"/>
            <a:ext cx="0" cy="457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8" name="Line 7"/>
          <p:cNvSpPr>
            <a:spLocks noChangeShapeType="1"/>
          </p:cNvSpPr>
          <p:nvPr/>
        </p:nvSpPr>
        <p:spPr bwMode="auto">
          <a:xfrm>
            <a:off x="3863975" y="1898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59" name="Line 8"/>
          <p:cNvSpPr>
            <a:spLocks noChangeShapeType="1"/>
          </p:cNvSpPr>
          <p:nvPr/>
        </p:nvSpPr>
        <p:spPr bwMode="auto">
          <a:xfrm>
            <a:off x="3863975" y="2279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0" name="Line 9"/>
          <p:cNvSpPr>
            <a:spLocks noChangeShapeType="1"/>
          </p:cNvSpPr>
          <p:nvPr/>
        </p:nvSpPr>
        <p:spPr bwMode="auto">
          <a:xfrm>
            <a:off x="3863975" y="3422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1" name="Line 10"/>
          <p:cNvSpPr>
            <a:spLocks noChangeShapeType="1"/>
          </p:cNvSpPr>
          <p:nvPr/>
        </p:nvSpPr>
        <p:spPr bwMode="auto">
          <a:xfrm>
            <a:off x="3863975" y="3803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2" name="Line 11"/>
          <p:cNvSpPr>
            <a:spLocks noChangeShapeType="1"/>
          </p:cNvSpPr>
          <p:nvPr/>
        </p:nvSpPr>
        <p:spPr bwMode="auto">
          <a:xfrm>
            <a:off x="3863975" y="4946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3" name="Line 12"/>
          <p:cNvSpPr>
            <a:spLocks noChangeShapeType="1"/>
          </p:cNvSpPr>
          <p:nvPr/>
        </p:nvSpPr>
        <p:spPr bwMode="auto">
          <a:xfrm>
            <a:off x="3863975" y="5327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4" name="Text Box 13"/>
          <p:cNvSpPr txBox="1">
            <a:spLocks noChangeArrowheads="1"/>
          </p:cNvSpPr>
          <p:nvPr/>
        </p:nvSpPr>
        <p:spPr bwMode="auto">
          <a:xfrm>
            <a:off x="3940175" y="1822450"/>
            <a:ext cx="109855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A</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0x0255</a:t>
            </a: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B</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0x0283</a:t>
            </a: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C</a:t>
            </a:r>
          </a:p>
          <a:p>
            <a:pPr algn="ct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0x0311</a:t>
            </a:r>
          </a:p>
        </p:txBody>
      </p:sp>
      <p:sp>
        <p:nvSpPr>
          <p:cNvPr id="100365" name="Text Box 14"/>
          <p:cNvSpPr txBox="1">
            <a:spLocks noChangeArrowheads="1"/>
          </p:cNvSpPr>
          <p:nvPr/>
        </p:nvSpPr>
        <p:spPr bwMode="auto">
          <a:xfrm>
            <a:off x="2841625" y="1679575"/>
            <a:ext cx="1098550" cy="354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0x0201</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0x0255</a:t>
            </a: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5000"/>
              </a:lnSpc>
              <a:spcBef>
                <a:spcPct val="0"/>
              </a:spcBef>
              <a:buFontTx/>
              <a:buNone/>
            </a:pPr>
            <a:r>
              <a:rPr kumimoji="1" lang="en-US" altLang="zh-CN" sz="2400">
                <a:latin typeface="Times New Roman" panose="02020603050405020304" pitchFamily="18" charset="0"/>
                <a:ea typeface="宋体" panose="02010600030101010101" pitchFamily="2" charset="-122"/>
              </a:rPr>
              <a:t>0x0283</a:t>
            </a:r>
          </a:p>
        </p:txBody>
      </p:sp>
      <p:sp>
        <p:nvSpPr>
          <p:cNvPr id="100366" name="Line 15"/>
          <p:cNvSpPr>
            <a:spLocks noChangeShapeType="1"/>
          </p:cNvSpPr>
          <p:nvPr/>
        </p:nvSpPr>
        <p:spPr bwMode="auto">
          <a:xfrm>
            <a:off x="3863975" y="2660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7" name="Line 16"/>
          <p:cNvSpPr>
            <a:spLocks noChangeShapeType="1"/>
          </p:cNvSpPr>
          <p:nvPr/>
        </p:nvSpPr>
        <p:spPr bwMode="auto">
          <a:xfrm>
            <a:off x="3863975" y="4184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8" name="Line 17"/>
          <p:cNvSpPr>
            <a:spLocks noChangeShapeType="1"/>
          </p:cNvSpPr>
          <p:nvPr/>
        </p:nvSpPr>
        <p:spPr bwMode="auto">
          <a:xfrm>
            <a:off x="3863975" y="5708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9" name="Line 18"/>
          <p:cNvSpPr>
            <a:spLocks noChangeShapeType="1"/>
          </p:cNvSpPr>
          <p:nvPr/>
        </p:nvSpPr>
        <p:spPr bwMode="auto">
          <a:xfrm>
            <a:off x="4473575" y="2813050"/>
            <a:ext cx="0" cy="457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0" name="Line 19"/>
          <p:cNvSpPr>
            <a:spLocks noChangeShapeType="1"/>
          </p:cNvSpPr>
          <p:nvPr/>
        </p:nvSpPr>
        <p:spPr bwMode="auto">
          <a:xfrm>
            <a:off x="4473575" y="4337050"/>
            <a:ext cx="0" cy="457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1" name="Line 20"/>
          <p:cNvSpPr>
            <a:spLocks noChangeShapeType="1"/>
          </p:cNvSpPr>
          <p:nvPr/>
        </p:nvSpPr>
        <p:spPr bwMode="auto">
          <a:xfrm>
            <a:off x="4473575" y="5861050"/>
            <a:ext cx="0" cy="381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3" name="Text Box 21"/>
          <p:cNvSpPr txBox="1">
            <a:spLocks noChangeArrowheads="1"/>
          </p:cNvSpPr>
          <p:nvPr/>
        </p:nvSpPr>
        <p:spPr bwMode="auto">
          <a:xfrm>
            <a:off x="7848600" y="2727325"/>
            <a:ext cx="119221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0x0255;</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-&gt;next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085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085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085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3"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46083" name="Rectangle 3"/>
          <p:cNvSpPr>
            <a:spLocks noGrp="1" noChangeArrowheads="1"/>
          </p:cNvSpPr>
          <p:nvPr>
            <p:ph idx="1"/>
          </p:nvPr>
        </p:nvSpPr>
        <p:spPr>
          <a:xfrm>
            <a:off x="527050" y="1628775"/>
            <a:ext cx="10218738" cy="4351338"/>
          </a:xfrm>
        </p:spPr>
        <p:txBody>
          <a:bodyPr/>
          <a:lstStyle/>
          <a:p>
            <a:pPr eaLnBrk="1" hangingPunct="1"/>
            <a:r>
              <a:rPr lang="zh-CN" altLang="en-US" smtClean="0"/>
              <a:t>五个基本操作</a:t>
            </a:r>
          </a:p>
          <a:p>
            <a:pPr lvl="1" eaLnBrk="1" hangingPunct="1"/>
            <a:r>
              <a:rPr lang="zh-CN" altLang="en-US" smtClean="0"/>
              <a:t>初始化操作 </a:t>
            </a:r>
          </a:p>
          <a:p>
            <a:pPr lvl="1" eaLnBrk="1" hangingPunct="1"/>
            <a:r>
              <a:rPr lang="zh-CN" altLang="en-US" smtClean="0"/>
              <a:t>销毁结构操作 </a:t>
            </a:r>
          </a:p>
          <a:p>
            <a:pPr lvl="1" eaLnBrk="1" hangingPunct="1"/>
            <a:r>
              <a:rPr lang="zh-CN" altLang="en-US" smtClean="0"/>
              <a:t>存取元素操作 </a:t>
            </a:r>
          </a:p>
          <a:p>
            <a:pPr lvl="1" eaLnBrk="1" hangingPunct="1"/>
            <a:r>
              <a:rPr lang="zh-CN" altLang="en-US" smtClean="0"/>
              <a:t>插入元素操作 </a:t>
            </a:r>
          </a:p>
          <a:p>
            <a:pPr lvl="1" eaLnBrk="1" hangingPunct="1"/>
            <a:r>
              <a:rPr lang="zh-CN" altLang="en-US" smtClean="0"/>
              <a:t>删除元素操作</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diamond(in)">
                                      <p:cBhvr>
                                        <p:cTn id="7" dur="2000"/>
                                        <p:tgtEl>
                                          <p:spTgt spid="46083">
                                            <p:txEl>
                                              <p:pRg st="1" end="1"/>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46083">
                                            <p:txEl>
                                              <p:pRg st="2" end="2"/>
                                            </p:txEl>
                                          </p:spTgt>
                                        </p:tgtEl>
                                        <p:attrNameLst>
                                          <p:attrName>style.visibility</p:attrName>
                                        </p:attrNameLst>
                                      </p:cBhvr>
                                      <p:to>
                                        <p:strVal val="visible"/>
                                      </p:to>
                                    </p:set>
                                    <p:animEffect transition="in" filter="diamond(in)">
                                      <p:cBhvr>
                                        <p:cTn id="10" dur="2000"/>
                                        <p:tgtEl>
                                          <p:spTgt spid="46083">
                                            <p:txEl>
                                              <p:pRg st="2" end="2"/>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46083">
                                            <p:txEl>
                                              <p:pRg st="3" end="3"/>
                                            </p:txEl>
                                          </p:spTgt>
                                        </p:tgtEl>
                                        <p:attrNameLst>
                                          <p:attrName>style.visibility</p:attrName>
                                        </p:attrNameLst>
                                      </p:cBhvr>
                                      <p:to>
                                        <p:strVal val="visible"/>
                                      </p:to>
                                    </p:set>
                                    <p:animEffect transition="in" filter="diamond(in)">
                                      <p:cBhvr>
                                        <p:cTn id="13" dur="2000"/>
                                        <p:tgtEl>
                                          <p:spTgt spid="46083">
                                            <p:txEl>
                                              <p:pRg st="3" end="3"/>
                                            </p:txEl>
                                          </p:spTgt>
                                        </p:tgtEl>
                                      </p:cBhvr>
                                    </p:animEffect>
                                  </p:childTnLst>
                                </p:cTn>
                              </p:par>
                              <p:par>
                                <p:cTn id="14" presetID="8" presetClass="entr" presetSubtype="16" fill="hold" nodeType="withEffect">
                                  <p:stCondLst>
                                    <p:cond delay="0"/>
                                  </p:stCondLst>
                                  <p:childTnLst>
                                    <p:set>
                                      <p:cBhvr>
                                        <p:cTn id="15" dur="1" fill="hold">
                                          <p:stCondLst>
                                            <p:cond delay="0"/>
                                          </p:stCondLst>
                                        </p:cTn>
                                        <p:tgtEl>
                                          <p:spTgt spid="46083">
                                            <p:txEl>
                                              <p:pRg st="4" end="4"/>
                                            </p:txEl>
                                          </p:spTgt>
                                        </p:tgtEl>
                                        <p:attrNameLst>
                                          <p:attrName>style.visibility</p:attrName>
                                        </p:attrNameLst>
                                      </p:cBhvr>
                                      <p:to>
                                        <p:strVal val="visible"/>
                                      </p:to>
                                    </p:set>
                                    <p:animEffect transition="in" filter="diamond(in)">
                                      <p:cBhvr>
                                        <p:cTn id="16" dur="2000"/>
                                        <p:tgtEl>
                                          <p:spTgt spid="46083">
                                            <p:txEl>
                                              <p:pRg st="4" end="4"/>
                                            </p:txEl>
                                          </p:spTgt>
                                        </p:tgtEl>
                                      </p:cBhvr>
                                    </p:animEffect>
                                  </p:childTnLst>
                                </p:cTn>
                              </p:par>
                              <p:par>
                                <p:cTn id="17" presetID="8" presetClass="entr" presetSubtype="16" fill="hold" nodeType="withEffect">
                                  <p:stCondLst>
                                    <p:cond delay="0"/>
                                  </p:stCondLst>
                                  <p:childTnLst>
                                    <p:set>
                                      <p:cBhvr>
                                        <p:cTn id="18" dur="1" fill="hold">
                                          <p:stCondLst>
                                            <p:cond delay="0"/>
                                          </p:stCondLst>
                                        </p:cTn>
                                        <p:tgtEl>
                                          <p:spTgt spid="46083">
                                            <p:txEl>
                                              <p:pRg st="5" end="5"/>
                                            </p:txEl>
                                          </p:spTgt>
                                        </p:tgtEl>
                                        <p:attrNameLst>
                                          <p:attrName>style.visibility</p:attrName>
                                        </p:attrNameLst>
                                      </p:cBhvr>
                                      <p:to>
                                        <p:strVal val="visible"/>
                                      </p:to>
                                    </p:set>
                                    <p:animEffect transition="in" filter="diamond(in)">
                                      <p:cBhvr>
                                        <p:cTn id="19" dur="2000"/>
                                        <p:tgtEl>
                                          <p:spTgt spid="460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102403" name="Rectangle 3"/>
          <p:cNvSpPr>
            <a:spLocks noGrp="1" noChangeArrowheads="1"/>
          </p:cNvSpPr>
          <p:nvPr>
            <p:ph idx="1"/>
          </p:nvPr>
        </p:nvSpPr>
        <p:spPr>
          <a:xfrm>
            <a:off x="527050" y="1628775"/>
            <a:ext cx="10218738" cy="4351338"/>
          </a:xfrm>
        </p:spPr>
        <p:txBody>
          <a:bodyPr/>
          <a:lstStyle/>
          <a:p>
            <a:pPr eaLnBrk="1" hangingPunct="1">
              <a:spcBef>
                <a:spcPct val="0"/>
              </a:spcBef>
              <a:buFontTx/>
              <a:buNone/>
            </a:pPr>
            <a:r>
              <a:rPr kumimoji="1" lang="en-US" altLang="zh-CN" smtClean="0"/>
              <a:t>typedef  LNode  *  Linklist;</a:t>
            </a:r>
          </a:p>
          <a:p>
            <a:pPr eaLnBrk="1" hangingPunct="1">
              <a:buFont typeface="Wingdings" panose="05000000000000000000" pitchFamily="2" charset="2"/>
              <a:buNone/>
            </a:pPr>
            <a:endParaRPr lang="en-US" altLang="zh-CN" smtClean="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47107" name="Rectangle 3"/>
          <p:cNvSpPr>
            <a:spLocks noGrp="1" noChangeArrowheads="1"/>
          </p:cNvSpPr>
          <p:nvPr>
            <p:ph idx="1"/>
          </p:nvPr>
        </p:nvSpPr>
        <p:spPr>
          <a:xfrm>
            <a:off x="527050" y="1628775"/>
            <a:ext cx="10218738" cy="4351338"/>
          </a:xfrm>
        </p:spPr>
        <p:txBody>
          <a:bodyPr/>
          <a:lstStyle/>
          <a:p>
            <a:pPr eaLnBrk="1" hangingPunct="1"/>
            <a:r>
              <a:rPr lang="zh-CN" altLang="en-US" b="1" smtClean="0"/>
              <a:t>初始化操作</a:t>
            </a:r>
          </a:p>
          <a:p>
            <a:pPr lvl="1" eaLnBrk="1" hangingPunct="1"/>
            <a:r>
              <a:rPr lang="en-US" altLang="zh-CN" smtClean="0"/>
              <a:t>"</a:t>
            </a:r>
            <a:r>
              <a:rPr lang="zh-CN" altLang="en-US" smtClean="0"/>
              <a:t>空</a:t>
            </a:r>
            <a:r>
              <a:rPr lang="en-US" altLang="zh-CN" smtClean="0"/>
              <a:t>"</a:t>
            </a:r>
            <a:r>
              <a:rPr lang="zh-CN" altLang="en-US" smtClean="0"/>
              <a:t>链表的头指针是否为</a:t>
            </a:r>
            <a:r>
              <a:rPr lang="en-US" altLang="zh-CN" smtClean="0"/>
              <a:t>NULL?</a:t>
            </a:r>
          </a:p>
          <a:p>
            <a:pPr lvl="2" eaLnBrk="1" hangingPunct="1"/>
            <a:r>
              <a:rPr lang="zh-CN" altLang="en-US" smtClean="0"/>
              <a:t>若链表不带头结点，则以头指针</a:t>
            </a:r>
            <a:r>
              <a:rPr lang="en-US" altLang="zh-CN" smtClean="0"/>
              <a:t>L=NULL</a:t>
            </a:r>
            <a:r>
              <a:rPr lang="zh-CN" altLang="en-US" smtClean="0"/>
              <a:t>表示空表。</a:t>
            </a:r>
          </a:p>
          <a:p>
            <a:pPr lvl="2" eaLnBrk="1" hangingPunct="1"/>
            <a:r>
              <a:rPr lang="zh-CN" altLang="en-US" smtClean="0"/>
              <a:t>在带头结点的情况下，则需建立一个其指针域的指针为</a:t>
            </a:r>
            <a:r>
              <a:rPr lang="en-US" altLang="zh-CN" smtClean="0"/>
              <a:t>NULL</a:t>
            </a:r>
            <a:r>
              <a:rPr lang="zh-CN" altLang="en-US" smtClean="0"/>
              <a:t>的头结点，并令头指针指向该结点。 </a:t>
            </a:r>
          </a:p>
          <a:p>
            <a:pPr lvl="2" eaLnBrk="1" hangingPunct="1"/>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107">
                                            <p:txEl>
                                              <p:pRg st="2" end="2"/>
                                            </p:txEl>
                                          </p:spTgt>
                                        </p:tgtEl>
                                        <p:attrNameLst>
                                          <p:attrName>style.visibility</p:attrName>
                                        </p:attrNameLst>
                                      </p:cBhvr>
                                      <p:to>
                                        <p:strVal val="visible"/>
                                      </p:to>
                                    </p:set>
                                    <p:anim calcmode="lin" valueType="num">
                                      <p:cBhvr additive="base">
                                        <p:cTn id="7"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7107">
                                            <p:txEl>
                                              <p:pRg st="3" end="3"/>
                                            </p:txEl>
                                          </p:spTgt>
                                        </p:tgtEl>
                                        <p:attrNameLst>
                                          <p:attrName>style.visibility</p:attrName>
                                        </p:attrNameLst>
                                      </p:cBhvr>
                                      <p:to>
                                        <p:strVal val="visible"/>
                                      </p:to>
                                    </p:set>
                                    <p:anim calcmode="lin" valueType="num">
                                      <p:cBhvr additive="base">
                                        <p:cTn id="13"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83971" name="Rectangle 3"/>
          <p:cNvSpPr>
            <a:spLocks noGrp="1" noChangeArrowheads="1"/>
          </p:cNvSpPr>
          <p:nvPr>
            <p:ph idx="1"/>
          </p:nvPr>
        </p:nvSpPr>
        <p:spPr>
          <a:xfrm>
            <a:off x="527050" y="1628775"/>
            <a:ext cx="10218738" cy="4351338"/>
          </a:xfrm>
        </p:spPr>
        <p:txBody>
          <a:bodyPr rtlCol="0">
            <a:normAutofit/>
          </a:bodyPr>
          <a:lstStyle/>
          <a:p>
            <a:pPr marL="0" indent="0" eaLnBrk="1" fontAlgn="auto" hangingPunct="1">
              <a:spcBef>
                <a:spcPct val="0"/>
              </a:spcBef>
              <a:spcAft>
                <a:spcPts val="0"/>
              </a:spcAft>
              <a:buFont typeface="Wingdings" panose="05000000000000000000" pitchFamily="2" charset="2"/>
              <a:buNone/>
              <a:defRPr/>
            </a:pPr>
            <a:r>
              <a:rPr lang="en-US" altLang="zh-CN" sz="2600" b="1" dirty="0"/>
              <a:t>void </a:t>
            </a:r>
            <a:r>
              <a:rPr lang="en-US" altLang="zh-CN" sz="2600" dirty="0" err="1"/>
              <a:t>InitList</a:t>
            </a:r>
            <a:r>
              <a:rPr lang="en-US" altLang="zh-CN" sz="2600" dirty="0"/>
              <a:t>(</a:t>
            </a:r>
            <a:r>
              <a:rPr kumimoji="1" lang="en-US" altLang="zh-CN" sz="2600" dirty="0"/>
              <a:t> </a:t>
            </a:r>
            <a:r>
              <a:rPr kumimoji="1" lang="en-US" altLang="zh-CN" sz="2600" dirty="0" err="1"/>
              <a:t>Lnode</a:t>
            </a:r>
            <a:r>
              <a:rPr kumimoji="1" lang="en-US" altLang="zh-CN" sz="2600" dirty="0" smtClean="0"/>
              <a:t>** </a:t>
            </a:r>
            <a:r>
              <a:rPr kumimoji="1" lang="en-US" altLang="zh-CN" sz="2600" dirty="0"/>
              <a:t>L</a:t>
            </a:r>
            <a:r>
              <a:rPr lang="en-US" altLang="zh-CN" sz="2600" dirty="0"/>
              <a:t>)</a:t>
            </a:r>
            <a:br>
              <a:rPr lang="en-US" altLang="zh-CN" sz="2600" dirty="0"/>
            </a:br>
            <a:r>
              <a:rPr lang="en-US" altLang="zh-CN" sz="2600" b="1" dirty="0"/>
              <a:t>{</a:t>
            </a:r>
          </a:p>
          <a:p>
            <a:pPr eaLnBrk="1" fontAlgn="auto" hangingPunct="1">
              <a:spcBef>
                <a:spcPct val="0"/>
              </a:spcBef>
              <a:spcAft>
                <a:spcPts val="0"/>
              </a:spcAft>
              <a:buFontTx/>
              <a:buNone/>
              <a:defRPr/>
            </a:pPr>
            <a:r>
              <a:rPr lang="en-US" altLang="zh-CN" sz="2600" b="1" dirty="0"/>
              <a:t>// </a:t>
            </a:r>
            <a:r>
              <a:rPr lang="zh-CN" altLang="en-US" sz="2600" b="1" dirty="0"/>
              <a:t>创建带头结点的空链表</a:t>
            </a:r>
            <a:r>
              <a:rPr lang="en-US" altLang="zh-CN" sz="2600" b="1" dirty="0"/>
              <a:t>,L </a:t>
            </a:r>
            <a:r>
              <a:rPr lang="zh-CN" altLang="en-US" sz="2600" b="1" dirty="0"/>
              <a:t>为指向头结点的指针</a:t>
            </a:r>
            <a:r>
              <a:rPr lang="zh-CN" altLang="en-US" sz="2600" dirty="0"/>
              <a:t/>
            </a:r>
            <a:br>
              <a:rPr lang="zh-CN" altLang="en-US" sz="2600" dirty="0"/>
            </a:br>
            <a:r>
              <a:rPr lang="zh-CN" altLang="en-US" sz="2600" dirty="0"/>
              <a:t>　　</a:t>
            </a:r>
            <a:r>
              <a:rPr lang="en-US" altLang="zh-CN" sz="2600" dirty="0" smtClean="0"/>
              <a:t>*</a:t>
            </a:r>
            <a:r>
              <a:rPr lang="en-US" altLang="zh-CN" sz="2600" b="1" u="sng" dirty="0" smtClean="0">
                <a:solidFill>
                  <a:schemeClr val="accent2"/>
                </a:solidFill>
              </a:rPr>
              <a:t>L = </a:t>
            </a:r>
            <a:r>
              <a:rPr lang="en-US" altLang="zh-CN" sz="2600" b="1" u="sng" dirty="0" err="1" smtClean="0">
                <a:solidFill>
                  <a:schemeClr val="accent2"/>
                </a:solidFill>
              </a:rPr>
              <a:t>Lnode</a:t>
            </a:r>
            <a:r>
              <a:rPr lang="en-US" altLang="zh-CN" sz="2600" b="1" u="sng" dirty="0" smtClean="0">
                <a:solidFill>
                  <a:schemeClr val="accent2"/>
                </a:solidFill>
              </a:rPr>
              <a:t>*</a:t>
            </a:r>
            <a:r>
              <a:rPr kumimoji="1" lang="en-US" altLang="zh-CN" sz="2600" dirty="0" smtClean="0"/>
              <a:t> </a:t>
            </a:r>
            <a:r>
              <a:rPr lang="en-US" altLang="zh-CN" sz="2600" b="1" u="sng" dirty="0" err="1" smtClean="0">
                <a:solidFill>
                  <a:schemeClr val="accent2"/>
                </a:solidFill>
              </a:rPr>
              <a:t>malloc</a:t>
            </a:r>
            <a:r>
              <a:rPr lang="en-US" altLang="zh-CN" sz="2600" b="1" u="sng" dirty="0" smtClean="0">
                <a:solidFill>
                  <a:schemeClr val="accent2"/>
                </a:solidFill>
              </a:rPr>
              <a:t>(</a:t>
            </a:r>
            <a:r>
              <a:rPr lang="en-US" altLang="zh-CN" sz="2600" b="1" u="sng" dirty="0" err="1" smtClean="0">
                <a:solidFill>
                  <a:schemeClr val="accent2"/>
                </a:solidFill>
              </a:rPr>
              <a:t>sizeof</a:t>
            </a:r>
            <a:r>
              <a:rPr lang="en-US" altLang="zh-CN" sz="2600" b="1" u="sng" dirty="0" smtClean="0">
                <a:solidFill>
                  <a:schemeClr val="accent2"/>
                </a:solidFill>
              </a:rPr>
              <a:t>(</a:t>
            </a:r>
            <a:r>
              <a:rPr lang="en-US" altLang="zh-CN" sz="2600" b="1" u="sng" dirty="0" err="1" smtClean="0">
                <a:solidFill>
                  <a:schemeClr val="accent2"/>
                </a:solidFill>
              </a:rPr>
              <a:t>Lnode</a:t>
            </a:r>
            <a:r>
              <a:rPr lang="en-US" altLang="zh-CN" sz="2600" b="1" u="sng" dirty="0" smtClean="0">
                <a:solidFill>
                  <a:schemeClr val="accent2"/>
                </a:solidFill>
              </a:rPr>
              <a:t>));</a:t>
            </a:r>
            <a:r>
              <a:rPr lang="en-US" altLang="zh-CN" sz="2600" dirty="0" smtClean="0"/>
              <a:t/>
            </a:r>
            <a:br>
              <a:rPr lang="en-US" altLang="zh-CN" sz="2600" dirty="0" smtClean="0"/>
            </a:br>
            <a:r>
              <a:rPr lang="zh-CN" altLang="en-US" sz="2600" dirty="0" smtClean="0"/>
              <a:t>　　</a:t>
            </a:r>
            <a:r>
              <a:rPr lang="en-US" altLang="zh-CN" sz="2600" b="1" dirty="0" smtClean="0"/>
              <a:t>if</a:t>
            </a:r>
            <a:r>
              <a:rPr lang="en-US" altLang="zh-CN" sz="2600" dirty="0" smtClean="0"/>
              <a:t> (!*L) </a:t>
            </a:r>
            <a:r>
              <a:rPr lang="en-US" altLang="zh-CN" sz="2600" b="1" dirty="0" smtClean="0"/>
              <a:t>exit</a:t>
            </a:r>
            <a:r>
              <a:rPr lang="en-US" altLang="zh-CN" sz="2600" dirty="0" smtClean="0"/>
              <a:t>(1); </a:t>
            </a:r>
            <a:r>
              <a:rPr lang="zh-CN" altLang="en-US" sz="2600" dirty="0" smtClean="0"/>
              <a:t>　</a:t>
            </a:r>
            <a:r>
              <a:rPr lang="en-US" altLang="zh-CN" sz="2600" dirty="0" smtClean="0"/>
              <a:t>// </a:t>
            </a:r>
            <a:r>
              <a:rPr lang="zh-CN" altLang="en-US" sz="2600" dirty="0" smtClean="0"/>
              <a:t>存储空间分配失败</a:t>
            </a:r>
            <a:br>
              <a:rPr lang="zh-CN" altLang="en-US" sz="2600" dirty="0" smtClean="0"/>
            </a:br>
            <a:r>
              <a:rPr lang="zh-CN" altLang="en-US" sz="2600" dirty="0"/>
              <a:t>　　</a:t>
            </a:r>
            <a:r>
              <a:rPr lang="en-US" altLang="zh-CN" sz="2600" dirty="0" smtClean="0"/>
              <a:t>*L-&gt;next = </a:t>
            </a:r>
            <a:r>
              <a:rPr lang="en-US" altLang="zh-CN" sz="2600" b="1" dirty="0"/>
              <a:t>NULL</a:t>
            </a:r>
            <a:r>
              <a:rPr lang="en-US" altLang="zh-CN" sz="2600" dirty="0"/>
              <a:t>;</a:t>
            </a:r>
          </a:p>
          <a:p>
            <a:pPr eaLnBrk="1" fontAlgn="auto" hangingPunct="1">
              <a:spcBef>
                <a:spcPct val="0"/>
              </a:spcBef>
              <a:spcAft>
                <a:spcPts val="0"/>
              </a:spcAft>
              <a:buFontTx/>
              <a:buNone/>
              <a:defRPr/>
            </a:pPr>
            <a:r>
              <a:rPr lang="en-US" altLang="zh-CN" sz="2600" dirty="0" smtClean="0"/>
              <a:t>		 // return L;</a:t>
            </a:r>
          </a:p>
          <a:p>
            <a:pPr eaLnBrk="1" fontAlgn="auto" hangingPunct="1">
              <a:spcBef>
                <a:spcPct val="0"/>
              </a:spcBef>
              <a:spcAft>
                <a:spcPts val="0"/>
              </a:spcAft>
              <a:buFontTx/>
              <a:buNone/>
              <a:defRPr/>
            </a:pPr>
            <a:r>
              <a:rPr lang="en-US" altLang="zh-CN" sz="2600" b="1" dirty="0" smtClean="0"/>
              <a:t>} </a:t>
            </a:r>
            <a:r>
              <a:rPr lang="en-US" altLang="zh-CN" sz="2600" dirty="0" smtClean="0"/>
              <a:t>// </a:t>
            </a:r>
            <a:r>
              <a:rPr lang="en-US" altLang="zh-CN" sz="2600" dirty="0" err="1" smtClean="0"/>
              <a:t>InitList</a:t>
            </a:r>
            <a:r>
              <a:rPr lang="en-US" altLang="zh-CN" sz="2600" dirty="0" smtClean="0"/>
              <a:t> </a:t>
            </a:r>
            <a:r>
              <a:rPr lang="zh-CN" altLang="en-US" sz="2600" dirty="0" smtClean="0"/>
              <a:t>　　</a:t>
            </a:r>
          </a:p>
          <a:p>
            <a:pPr eaLnBrk="1" fontAlgn="auto" hangingPunct="1">
              <a:spcAft>
                <a:spcPts val="0"/>
              </a:spcAft>
              <a:defRPr/>
            </a:pPr>
            <a:r>
              <a:rPr lang="zh-CN" altLang="en-US" sz="2600" dirty="0" smtClean="0">
                <a:solidFill>
                  <a:schemeClr val="accent2"/>
                </a:solidFill>
              </a:rPr>
              <a:t>时间</a:t>
            </a:r>
            <a:r>
              <a:rPr lang="zh-CN" altLang="en-US" sz="2600" dirty="0">
                <a:solidFill>
                  <a:schemeClr val="accent2"/>
                </a:solidFill>
              </a:rPr>
              <a:t>复杂度为</a:t>
            </a:r>
            <a:r>
              <a:rPr lang="en-US" altLang="zh-CN" sz="2600" b="1" i="1" dirty="0">
                <a:solidFill>
                  <a:schemeClr val="accent2"/>
                </a:solidFill>
              </a:rPr>
              <a:t>O</a:t>
            </a:r>
            <a:r>
              <a:rPr lang="en-US" altLang="zh-CN" sz="2600" b="1" dirty="0">
                <a:solidFill>
                  <a:schemeClr val="accent2"/>
                </a:solidFill>
              </a:rPr>
              <a:t> (1)</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86019" name="Rectangle 3"/>
          <p:cNvSpPr>
            <a:spLocks noGrp="1" noChangeArrowheads="1"/>
          </p:cNvSpPr>
          <p:nvPr>
            <p:ph idx="1"/>
          </p:nvPr>
        </p:nvSpPr>
        <p:spPr>
          <a:xfrm>
            <a:off x="527050" y="1628775"/>
            <a:ext cx="10218738" cy="4351338"/>
          </a:xfrm>
        </p:spPr>
        <p:txBody>
          <a:bodyPr rtlCol="0">
            <a:normAutofit/>
          </a:bodyPr>
          <a:lstStyle/>
          <a:p>
            <a:pPr eaLnBrk="1" fontAlgn="auto" hangingPunct="1">
              <a:spcAft>
                <a:spcPts val="0"/>
              </a:spcAft>
              <a:defRPr/>
            </a:pPr>
            <a:r>
              <a:rPr lang="zh-CN" altLang="en-US" sz="2000" dirty="0"/>
              <a:t>销毁结构操作 </a:t>
            </a:r>
          </a:p>
          <a:p>
            <a:pPr marL="0" indent="0" eaLnBrk="1" fontAlgn="auto" hangingPunct="1">
              <a:spcAft>
                <a:spcPts val="0"/>
              </a:spcAft>
              <a:buFont typeface="Wingdings" panose="05000000000000000000" pitchFamily="2" charset="2"/>
              <a:buNone/>
              <a:defRPr/>
            </a:pPr>
            <a:r>
              <a:rPr lang="en-US" altLang="zh-CN" sz="2000" b="1" dirty="0"/>
              <a:t>void</a:t>
            </a:r>
            <a:r>
              <a:rPr lang="en-US" altLang="zh-CN" sz="2000" dirty="0"/>
              <a:t> </a:t>
            </a:r>
            <a:r>
              <a:rPr lang="en-US" altLang="zh-CN" sz="2000" dirty="0" err="1"/>
              <a:t>DestroyList</a:t>
            </a:r>
            <a:r>
              <a:rPr lang="en-US" altLang="zh-CN" sz="2000" dirty="0"/>
              <a:t>(</a:t>
            </a:r>
            <a:r>
              <a:rPr kumimoji="1" lang="en-US" altLang="zh-CN" sz="2100" dirty="0" err="1"/>
              <a:t>Linklist</a:t>
            </a:r>
            <a:r>
              <a:rPr lang="en-US" altLang="zh-CN" sz="2100" dirty="0"/>
              <a:t> </a:t>
            </a:r>
            <a:r>
              <a:rPr lang="en-US" altLang="zh-CN" sz="2100" dirty="0" smtClean="0"/>
              <a:t>*</a:t>
            </a:r>
            <a:r>
              <a:rPr lang="en-US" altLang="zh-CN" sz="2000" dirty="0" smtClean="0"/>
              <a:t>L</a:t>
            </a:r>
            <a:r>
              <a:rPr lang="en-US" altLang="zh-CN" sz="2000" dirty="0"/>
              <a:t>)</a:t>
            </a:r>
            <a:br>
              <a:rPr lang="en-US" altLang="zh-CN" sz="2000" dirty="0"/>
            </a:br>
            <a:r>
              <a:rPr lang="en-US" altLang="zh-CN" sz="2000" b="1" dirty="0"/>
              <a:t>{</a:t>
            </a:r>
            <a:r>
              <a:rPr lang="en-US" altLang="zh-CN" sz="2000" dirty="0"/>
              <a:t/>
            </a:r>
            <a:br>
              <a:rPr lang="en-US" altLang="zh-CN" sz="2000" dirty="0"/>
            </a:br>
            <a:r>
              <a:rPr lang="zh-CN" altLang="en-US" sz="2000" dirty="0"/>
              <a:t>　　</a:t>
            </a:r>
            <a:r>
              <a:rPr lang="en-US" altLang="zh-CN" sz="2000" b="1" dirty="0"/>
              <a:t>// </a:t>
            </a:r>
            <a:r>
              <a:rPr lang="zh-CN" altLang="en-US" sz="2000" b="1" dirty="0"/>
              <a:t>销毁以</a:t>
            </a:r>
            <a:r>
              <a:rPr lang="en-US" altLang="zh-CN" sz="2000" b="1" dirty="0"/>
              <a:t>L</a:t>
            </a:r>
            <a:r>
              <a:rPr lang="zh-CN" altLang="en-US" sz="2000" b="1" dirty="0"/>
              <a:t>为头指针的单链表，释放链表中所有结点空间</a:t>
            </a:r>
            <a:r>
              <a:rPr lang="zh-CN" altLang="en-US" sz="2000" dirty="0"/>
              <a:t/>
            </a:r>
            <a:br>
              <a:rPr lang="zh-CN" altLang="en-US" sz="2000" dirty="0"/>
            </a:br>
            <a:r>
              <a:rPr lang="zh-CN" altLang="en-US" sz="2000" dirty="0"/>
              <a:t>　　</a:t>
            </a:r>
            <a:r>
              <a:rPr lang="en-US" altLang="zh-CN" sz="2000" b="1" dirty="0"/>
              <a:t>while</a:t>
            </a:r>
            <a:r>
              <a:rPr lang="en-US" altLang="zh-CN" sz="2000" dirty="0"/>
              <a:t> </a:t>
            </a:r>
            <a:r>
              <a:rPr lang="en-US" altLang="zh-CN" sz="2000" dirty="0" smtClean="0"/>
              <a:t>(*L</a:t>
            </a:r>
            <a:r>
              <a:rPr lang="en-US" altLang="zh-CN" sz="2000" dirty="0"/>
              <a:t>)</a:t>
            </a:r>
            <a:br>
              <a:rPr lang="en-US" altLang="zh-CN" sz="2000" dirty="0"/>
            </a:br>
            <a:r>
              <a:rPr lang="zh-CN" altLang="en-US" sz="2000" dirty="0"/>
              <a:t>　　</a:t>
            </a:r>
            <a:r>
              <a:rPr lang="en-US" altLang="zh-CN" sz="2000" b="1" dirty="0"/>
              <a:t>{</a:t>
            </a:r>
            <a:r>
              <a:rPr lang="en-US" altLang="zh-CN" sz="2000" dirty="0"/>
              <a:t/>
            </a:r>
            <a:br>
              <a:rPr lang="en-US" altLang="zh-CN" sz="2000" dirty="0"/>
            </a:br>
            <a:r>
              <a:rPr lang="zh-CN" altLang="en-US" sz="2000" dirty="0"/>
              <a:t>　　　  </a:t>
            </a:r>
            <a:r>
              <a:rPr lang="en-US" altLang="zh-CN" sz="2000" dirty="0"/>
              <a:t>p = </a:t>
            </a:r>
            <a:r>
              <a:rPr lang="en-US" altLang="zh-CN" sz="2000" dirty="0" smtClean="0"/>
              <a:t>*L</a:t>
            </a:r>
            <a:r>
              <a:rPr lang="en-US" altLang="zh-CN" sz="2000" dirty="0"/>
              <a:t>;</a:t>
            </a:r>
            <a:br>
              <a:rPr lang="en-US" altLang="zh-CN" sz="2000" dirty="0"/>
            </a:br>
            <a:r>
              <a:rPr lang="zh-CN" altLang="en-US" sz="2000" dirty="0"/>
              <a:t>　　　  </a:t>
            </a:r>
            <a:r>
              <a:rPr lang="en-US" altLang="zh-CN" sz="2000" dirty="0" smtClean="0"/>
              <a:t>*L </a:t>
            </a:r>
            <a:r>
              <a:rPr lang="en-US" altLang="zh-CN" sz="2000" dirty="0"/>
              <a:t>= </a:t>
            </a:r>
            <a:r>
              <a:rPr lang="en-US" altLang="zh-CN" sz="2000" dirty="0" smtClean="0"/>
              <a:t>*L-</a:t>
            </a:r>
            <a:r>
              <a:rPr lang="en-US" altLang="zh-CN" sz="2000" dirty="0"/>
              <a:t>&gt;next;</a:t>
            </a:r>
            <a:br>
              <a:rPr lang="en-US" altLang="zh-CN" sz="2000" dirty="0"/>
            </a:br>
            <a:r>
              <a:rPr lang="zh-CN" altLang="en-US" sz="2000" dirty="0"/>
              <a:t>　　　  </a:t>
            </a:r>
            <a:r>
              <a:rPr lang="en-US" altLang="zh-CN" sz="2000" b="1" dirty="0"/>
              <a:t>free(</a:t>
            </a:r>
            <a:r>
              <a:rPr lang="en-US" altLang="zh-CN" sz="2000" dirty="0"/>
              <a:t>p);</a:t>
            </a:r>
            <a:br>
              <a:rPr lang="en-US" altLang="zh-CN" sz="2000" dirty="0"/>
            </a:br>
            <a:r>
              <a:rPr lang="zh-CN" altLang="en-US" sz="2000" dirty="0"/>
              <a:t>　　</a:t>
            </a:r>
            <a:r>
              <a:rPr lang="en-US" altLang="zh-CN" sz="2000" b="1" dirty="0"/>
              <a:t>} </a:t>
            </a:r>
            <a:r>
              <a:rPr lang="en-US" altLang="zh-CN" sz="2000" dirty="0"/>
              <a:t>// while</a:t>
            </a:r>
            <a:br>
              <a:rPr lang="en-US" altLang="zh-CN" sz="2000" dirty="0"/>
            </a:br>
            <a:r>
              <a:rPr lang="zh-CN" altLang="en-US" sz="2000" dirty="0"/>
              <a:t>　　</a:t>
            </a:r>
            <a:r>
              <a:rPr lang="en-US" altLang="zh-CN" sz="2000" dirty="0" smtClean="0"/>
              <a:t>*L </a:t>
            </a:r>
            <a:r>
              <a:rPr lang="en-US" altLang="zh-CN" sz="2000" dirty="0"/>
              <a:t>= </a:t>
            </a:r>
            <a:r>
              <a:rPr lang="en-US" altLang="zh-CN" sz="2000" b="1" dirty="0"/>
              <a:t>NULL</a:t>
            </a:r>
            <a:r>
              <a:rPr lang="en-US" altLang="zh-CN" sz="2000" dirty="0"/>
              <a:t>;</a:t>
            </a:r>
            <a:br>
              <a:rPr lang="en-US" altLang="zh-CN" sz="2000" dirty="0"/>
            </a:br>
            <a:r>
              <a:rPr lang="en-US" altLang="zh-CN" sz="2000" b="1" dirty="0"/>
              <a:t>}</a:t>
            </a:r>
            <a:r>
              <a:rPr lang="en-US" altLang="zh-CN" sz="2000" dirty="0"/>
              <a:t> // </a:t>
            </a:r>
            <a:r>
              <a:rPr lang="en-US" altLang="zh-CN" sz="2000" dirty="0" err="1"/>
              <a:t>DestroyList</a:t>
            </a:r>
            <a:r>
              <a:rPr lang="en-US" altLang="zh-CN" sz="2000" dirty="0"/>
              <a:t/>
            </a:r>
            <a:br>
              <a:rPr lang="en-US" altLang="zh-CN" sz="2000" dirty="0"/>
            </a:br>
            <a:endParaRPr lang="en-US" altLang="zh-CN" sz="2000" dirty="0"/>
          </a:p>
          <a:p>
            <a:pPr eaLnBrk="1" fontAlgn="auto" hangingPunct="1">
              <a:spcAft>
                <a:spcPts val="0"/>
              </a:spcAft>
              <a:defRPr/>
            </a:pPr>
            <a:r>
              <a:rPr lang="zh-CN" altLang="en-US" sz="2000" dirty="0"/>
              <a:t>算法的时间复杂度为</a:t>
            </a:r>
            <a:r>
              <a:rPr lang="en-US" altLang="zh-CN" sz="2000" b="1" i="1" dirty="0"/>
              <a:t>O</a:t>
            </a:r>
            <a:r>
              <a:rPr lang="en-US" altLang="zh-CN" sz="2000" b="1" dirty="0"/>
              <a:t> (</a:t>
            </a:r>
            <a:r>
              <a:rPr lang="en-US" altLang="zh-CN" sz="2000" b="1" dirty="0" err="1"/>
              <a:t>Listlength</a:t>
            </a:r>
            <a:r>
              <a:rPr lang="en-US" altLang="zh-CN" sz="2000" b="1" dirty="0"/>
              <a:t>(L))</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527050" y="368300"/>
            <a:ext cx="10218738" cy="822325"/>
          </a:xfrm>
        </p:spPr>
        <p:txBody>
          <a:bodyPr/>
          <a:lstStyle/>
          <a:p>
            <a:pPr eaLnBrk="1" hangingPunct="1"/>
            <a:r>
              <a:rPr lang="zh-CN" altLang="en-US" smtClean="0"/>
              <a:t>链表的遍历</a:t>
            </a:r>
          </a:p>
        </p:txBody>
      </p:sp>
      <p:sp>
        <p:nvSpPr>
          <p:cNvPr id="107523" name="Text Box 62"/>
          <p:cNvSpPr txBox="1">
            <a:spLocks noChangeArrowheads="1"/>
          </p:cNvSpPr>
          <p:nvPr/>
        </p:nvSpPr>
        <p:spPr bwMode="auto">
          <a:xfrm>
            <a:off x="3733800" y="2971800"/>
            <a:ext cx="3392488"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status  roam( Linklist   L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LNode *p =  L;</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while( p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p = p-&gt;next;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OK;</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07524" name="Text Box 63"/>
          <p:cNvSpPr txBox="1">
            <a:spLocks noChangeArrowheads="1"/>
          </p:cNvSpPr>
          <p:nvPr/>
        </p:nvSpPr>
        <p:spPr bwMode="auto">
          <a:xfrm>
            <a:off x="3733800" y="1828800"/>
            <a:ext cx="3582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typedef  LNode  *  Linklist;</a:t>
            </a:r>
          </a:p>
        </p:txBody>
      </p:sp>
      <p:sp>
        <p:nvSpPr>
          <p:cNvPr id="107525" name="Rectangle 64"/>
          <p:cNvSpPr>
            <a:spLocks noChangeArrowheads="1"/>
          </p:cNvSpPr>
          <p:nvPr/>
        </p:nvSpPr>
        <p:spPr bwMode="auto">
          <a:xfrm>
            <a:off x="5584825" y="6238875"/>
            <a:ext cx="53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700">
                <a:solidFill>
                  <a:srgbClr val="000000"/>
                </a:solidFill>
                <a:latin typeface="Times New Roman" panose="02020603050405020304" pitchFamily="18" charset="0"/>
                <a:ea typeface="宋体" panose="02010600030101010101" pitchFamily="2" charset="-122"/>
              </a:rPr>
              <a:t> </a:t>
            </a:r>
            <a:endParaRPr kumimoji="1" lang="en-US" altLang="zh-CN" sz="2400">
              <a:latin typeface="Times New Roman" panose="02020603050405020304" pitchFamily="18" charset="0"/>
              <a:ea typeface="宋体" panose="02010600030101010101" pitchFamily="2" charset="-122"/>
            </a:endParaRPr>
          </a:p>
        </p:txBody>
      </p:sp>
      <p:sp>
        <p:nvSpPr>
          <p:cNvPr id="107526" name="Rectangle 65"/>
          <p:cNvSpPr>
            <a:spLocks noChangeArrowheads="1"/>
          </p:cNvSpPr>
          <p:nvPr/>
        </p:nvSpPr>
        <p:spPr bwMode="auto">
          <a:xfrm>
            <a:off x="6716713" y="5619750"/>
            <a:ext cx="701675" cy="381000"/>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7527" name="Rectangle 66"/>
          <p:cNvSpPr>
            <a:spLocks noChangeArrowheads="1"/>
          </p:cNvSpPr>
          <p:nvPr/>
        </p:nvSpPr>
        <p:spPr bwMode="auto">
          <a:xfrm>
            <a:off x="6770688" y="5675313"/>
            <a:ext cx="265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7528" name="Rectangle 67"/>
          <p:cNvSpPr>
            <a:spLocks noChangeArrowheads="1"/>
          </p:cNvSpPr>
          <p:nvPr/>
        </p:nvSpPr>
        <p:spPr bwMode="auto">
          <a:xfrm>
            <a:off x="6770688" y="5675313"/>
            <a:ext cx="1079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7529" name="Rectangle 68"/>
          <p:cNvSpPr>
            <a:spLocks noChangeArrowheads="1"/>
          </p:cNvSpPr>
          <p:nvPr/>
        </p:nvSpPr>
        <p:spPr bwMode="auto">
          <a:xfrm>
            <a:off x="6869113" y="5741988"/>
            <a:ext cx="904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400">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07530" name="Line 69"/>
          <p:cNvSpPr>
            <a:spLocks noChangeShapeType="1"/>
          </p:cNvSpPr>
          <p:nvPr/>
        </p:nvSpPr>
        <p:spPr bwMode="auto">
          <a:xfrm>
            <a:off x="7085013" y="5619750"/>
            <a:ext cx="1587" cy="376238"/>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31" name="Rectangle 70"/>
          <p:cNvSpPr>
            <a:spLocks noChangeArrowheads="1"/>
          </p:cNvSpPr>
          <p:nvPr/>
        </p:nvSpPr>
        <p:spPr bwMode="auto">
          <a:xfrm>
            <a:off x="7178675" y="5697538"/>
            <a:ext cx="204788"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7532" name="Rectangle 71"/>
          <p:cNvSpPr>
            <a:spLocks noChangeArrowheads="1"/>
          </p:cNvSpPr>
          <p:nvPr/>
        </p:nvSpPr>
        <p:spPr bwMode="auto">
          <a:xfrm>
            <a:off x="9431338" y="5641975"/>
            <a:ext cx="698500" cy="381000"/>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7533" name="Rectangle 72"/>
          <p:cNvSpPr>
            <a:spLocks noChangeArrowheads="1"/>
          </p:cNvSpPr>
          <p:nvPr/>
        </p:nvSpPr>
        <p:spPr bwMode="auto">
          <a:xfrm>
            <a:off x="9480550" y="5697538"/>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7534" name="Rectangle 73"/>
          <p:cNvSpPr>
            <a:spLocks noChangeArrowheads="1"/>
          </p:cNvSpPr>
          <p:nvPr/>
        </p:nvSpPr>
        <p:spPr bwMode="auto">
          <a:xfrm>
            <a:off x="9480550" y="5697538"/>
            <a:ext cx="1079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7535" name="Rectangle 74"/>
          <p:cNvSpPr>
            <a:spLocks noChangeArrowheads="1"/>
          </p:cNvSpPr>
          <p:nvPr/>
        </p:nvSpPr>
        <p:spPr bwMode="auto">
          <a:xfrm>
            <a:off x="9578975" y="5764213"/>
            <a:ext cx="9048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400">
                <a:latin typeface="Times New Roman" panose="02020603050405020304" pitchFamily="18"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sp>
        <p:nvSpPr>
          <p:cNvPr id="107536" name="Line 75"/>
          <p:cNvSpPr>
            <a:spLocks noChangeShapeType="1"/>
          </p:cNvSpPr>
          <p:nvPr/>
        </p:nvSpPr>
        <p:spPr bwMode="auto">
          <a:xfrm>
            <a:off x="9794875" y="5641975"/>
            <a:ext cx="4763" cy="376238"/>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37" name="Rectangle 76"/>
          <p:cNvSpPr>
            <a:spLocks noChangeArrowheads="1"/>
          </p:cNvSpPr>
          <p:nvPr/>
        </p:nvSpPr>
        <p:spPr bwMode="auto">
          <a:xfrm>
            <a:off x="9893300" y="5719763"/>
            <a:ext cx="206375"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7538" name="Rectangle 77"/>
          <p:cNvSpPr>
            <a:spLocks noChangeArrowheads="1"/>
          </p:cNvSpPr>
          <p:nvPr/>
        </p:nvSpPr>
        <p:spPr bwMode="auto">
          <a:xfrm>
            <a:off x="9893300" y="5746750"/>
            <a:ext cx="2428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宋体" panose="02010600030101010101" pitchFamily="2" charset="-122"/>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107539" name="Rectangle 78"/>
          <p:cNvSpPr>
            <a:spLocks noChangeArrowheads="1"/>
          </p:cNvSpPr>
          <p:nvPr/>
        </p:nvSpPr>
        <p:spPr bwMode="auto">
          <a:xfrm>
            <a:off x="5630863" y="5486400"/>
            <a:ext cx="3778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7540" name="Rectangle 79"/>
          <p:cNvSpPr>
            <a:spLocks noChangeArrowheads="1"/>
          </p:cNvSpPr>
          <p:nvPr/>
        </p:nvSpPr>
        <p:spPr bwMode="auto">
          <a:xfrm>
            <a:off x="5788025" y="5562600"/>
            <a:ext cx="1492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07541" name="Rectangle 80"/>
          <p:cNvSpPr>
            <a:spLocks noChangeArrowheads="1"/>
          </p:cNvSpPr>
          <p:nvPr/>
        </p:nvSpPr>
        <p:spPr bwMode="auto">
          <a:xfrm>
            <a:off x="7688263" y="5624513"/>
            <a:ext cx="703262" cy="376237"/>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7542" name="Rectangle 81"/>
          <p:cNvSpPr>
            <a:spLocks noChangeArrowheads="1"/>
          </p:cNvSpPr>
          <p:nvPr/>
        </p:nvSpPr>
        <p:spPr bwMode="auto">
          <a:xfrm>
            <a:off x="7742238" y="5680075"/>
            <a:ext cx="265112"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7543" name="Rectangle 82"/>
          <p:cNvSpPr>
            <a:spLocks noChangeArrowheads="1"/>
          </p:cNvSpPr>
          <p:nvPr/>
        </p:nvSpPr>
        <p:spPr bwMode="auto">
          <a:xfrm>
            <a:off x="7742238" y="5675313"/>
            <a:ext cx="1079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07544" name="Rectangle 83"/>
          <p:cNvSpPr>
            <a:spLocks noChangeArrowheads="1"/>
          </p:cNvSpPr>
          <p:nvPr/>
        </p:nvSpPr>
        <p:spPr bwMode="auto">
          <a:xfrm>
            <a:off x="7840663" y="5741988"/>
            <a:ext cx="904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400">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07545" name="Line 84"/>
          <p:cNvSpPr>
            <a:spLocks noChangeShapeType="1"/>
          </p:cNvSpPr>
          <p:nvPr/>
        </p:nvSpPr>
        <p:spPr bwMode="auto">
          <a:xfrm>
            <a:off x="8056563" y="5619750"/>
            <a:ext cx="1587" cy="376238"/>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46" name="Rectangle 85"/>
          <p:cNvSpPr>
            <a:spLocks noChangeArrowheads="1"/>
          </p:cNvSpPr>
          <p:nvPr/>
        </p:nvSpPr>
        <p:spPr bwMode="auto">
          <a:xfrm>
            <a:off x="8154988" y="5697538"/>
            <a:ext cx="201612"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7547" name="Text Box 86"/>
          <p:cNvSpPr txBox="1">
            <a:spLocks noChangeArrowheads="1"/>
          </p:cNvSpPr>
          <p:nvPr/>
        </p:nvSpPr>
        <p:spPr bwMode="auto">
          <a:xfrm>
            <a:off x="8612188" y="5507038"/>
            <a:ext cx="41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
        <p:nvSpPr>
          <p:cNvPr id="107548" name="Line 87"/>
          <p:cNvSpPr>
            <a:spLocks noChangeShapeType="1"/>
          </p:cNvSpPr>
          <p:nvPr/>
        </p:nvSpPr>
        <p:spPr bwMode="auto">
          <a:xfrm flipV="1">
            <a:off x="5961063" y="5846763"/>
            <a:ext cx="762000" cy="0"/>
          </a:xfrm>
          <a:prstGeom prst="line">
            <a:avLst/>
          </a:prstGeom>
          <a:noFill/>
          <a:ln w="12700"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49" name="Line 88"/>
          <p:cNvSpPr>
            <a:spLocks noChangeShapeType="1"/>
          </p:cNvSpPr>
          <p:nvPr/>
        </p:nvSpPr>
        <p:spPr bwMode="auto">
          <a:xfrm flipV="1">
            <a:off x="7256463" y="5846763"/>
            <a:ext cx="457200" cy="0"/>
          </a:xfrm>
          <a:prstGeom prst="line">
            <a:avLst/>
          </a:prstGeom>
          <a:noFill/>
          <a:ln w="12700"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0" name="Line 89"/>
          <p:cNvSpPr>
            <a:spLocks noChangeShapeType="1"/>
          </p:cNvSpPr>
          <p:nvPr/>
        </p:nvSpPr>
        <p:spPr bwMode="auto">
          <a:xfrm flipV="1">
            <a:off x="8247063" y="5846763"/>
            <a:ext cx="457200" cy="0"/>
          </a:xfrm>
          <a:prstGeom prst="line">
            <a:avLst/>
          </a:prstGeom>
          <a:noFill/>
          <a:ln w="12700"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51" name="Line 90"/>
          <p:cNvSpPr>
            <a:spLocks noChangeShapeType="1"/>
          </p:cNvSpPr>
          <p:nvPr/>
        </p:nvSpPr>
        <p:spPr bwMode="auto">
          <a:xfrm flipV="1">
            <a:off x="9009063" y="5846763"/>
            <a:ext cx="381000" cy="0"/>
          </a:xfrm>
          <a:prstGeom prst="line">
            <a:avLst/>
          </a:prstGeom>
          <a:noFill/>
          <a:ln w="12700" cap="sq">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527050" y="368300"/>
            <a:ext cx="10218738" cy="822325"/>
          </a:xfrm>
        </p:spPr>
        <p:txBody>
          <a:bodyPr/>
          <a:lstStyle/>
          <a:p>
            <a:pPr eaLnBrk="1" hangingPunct="1"/>
            <a:r>
              <a:rPr lang="zh-CN" altLang="en-US" smtClean="0"/>
              <a:t>求表长</a:t>
            </a:r>
          </a:p>
        </p:txBody>
      </p:sp>
      <p:sp>
        <p:nvSpPr>
          <p:cNvPr id="108547" name="Text Box 4"/>
          <p:cNvSpPr txBox="1">
            <a:spLocks noChangeArrowheads="1"/>
          </p:cNvSpPr>
          <p:nvPr/>
        </p:nvSpPr>
        <p:spPr bwMode="auto">
          <a:xfrm>
            <a:off x="1828800" y="1590675"/>
            <a:ext cx="67056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lvl="2"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int  Length( Linklist  L )</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LNode  * p = L;</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count=0;</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while (p ) </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 count++;  p = p-&gt;next; }</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count;</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p:txBody>
      </p:sp>
      <p:grpSp>
        <p:nvGrpSpPr>
          <p:cNvPr id="108548" name="Group 5"/>
          <p:cNvGrpSpPr>
            <a:grpSpLocks/>
          </p:cNvGrpSpPr>
          <p:nvPr/>
        </p:nvGrpSpPr>
        <p:grpSpPr bwMode="auto">
          <a:xfrm>
            <a:off x="3259138" y="4900613"/>
            <a:ext cx="5580062" cy="1271587"/>
            <a:chOff x="1093" y="3087"/>
            <a:chExt cx="3515" cy="801"/>
          </a:xfrm>
        </p:grpSpPr>
        <p:sp>
          <p:nvSpPr>
            <p:cNvPr id="108549" name="Rectangle 6"/>
            <p:cNvSpPr>
              <a:spLocks noChangeArrowheads="1"/>
            </p:cNvSpPr>
            <p:nvPr/>
          </p:nvSpPr>
          <p:spPr bwMode="auto">
            <a:xfrm>
              <a:off x="1877" y="3575"/>
              <a:ext cx="561" cy="296"/>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8550" name="Rectangle 7"/>
            <p:cNvSpPr>
              <a:spLocks noChangeArrowheads="1"/>
            </p:cNvSpPr>
            <p:nvPr/>
          </p:nvSpPr>
          <p:spPr bwMode="auto">
            <a:xfrm>
              <a:off x="1920" y="3618"/>
              <a:ext cx="14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a1</a:t>
              </a:r>
              <a:endParaRPr kumimoji="1" lang="en-US" altLang="zh-CN" sz="2400">
                <a:latin typeface="Times New Roman" panose="02020603050405020304" pitchFamily="18" charset="0"/>
                <a:ea typeface="宋体" panose="02010600030101010101" pitchFamily="2" charset="-122"/>
              </a:endParaRPr>
            </a:p>
          </p:txBody>
        </p:sp>
        <p:sp>
          <p:nvSpPr>
            <p:cNvPr id="108551" name="Line 8"/>
            <p:cNvSpPr>
              <a:spLocks noChangeShapeType="1"/>
            </p:cNvSpPr>
            <p:nvPr/>
          </p:nvSpPr>
          <p:spPr bwMode="auto">
            <a:xfrm>
              <a:off x="2172" y="3575"/>
              <a:ext cx="1" cy="292"/>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52" name="Rectangle 9"/>
            <p:cNvSpPr>
              <a:spLocks noChangeArrowheads="1"/>
            </p:cNvSpPr>
            <p:nvPr/>
          </p:nvSpPr>
          <p:spPr bwMode="auto">
            <a:xfrm>
              <a:off x="4049" y="3592"/>
              <a:ext cx="559" cy="296"/>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8553" name="Rectangle 10"/>
            <p:cNvSpPr>
              <a:spLocks noChangeArrowheads="1"/>
            </p:cNvSpPr>
            <p:nvPr/>
          </p:nvSpPr>
          <p:spPr bwMode="auto">
            <a:xfrm>
              <a:off x="4088" y="3635"/>
              <a:ext cx="14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an</a:t>
              </a:r>
              <a:endParaRPr kumimoji="1" lang="en-US" altLang="zh-CN" sz="2400">
                <a:latin typeface="Times New Roman" panose="02020603050405020304" pitchFamily="18" charset="0"/>
                <a:ea typeface="宋体" panose="02010600030101010101" pitchFamily="2" charset="-122"/>
              </a:endParaRPr>
            </a:p>
          </p:txBody>
        </p:sp>
        <p:sp>
          <p:nvSpPr>
            <p:cNvPr id="108554" name="Line 11"/>
            <p:cNvSpPr>
              <a:spLocks noChangeShapeType="1"/>
            </p:cNvSpPr>
            <p:nvPr/>
          </p:nvSpPr>
          <p:spPr bwMode="auto">
            <a:xfrm>
              <a:off x="4340" y="3592"/>
              <a:ext cx="4" cy="292"/>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55" name="Rectangle 12"/>
            <p:cNvSpPr>
              <a:spLocks noChangeArrowheads="1"/>
            </p:cNvSpPr>
            <p:nvPr/>
          </p:nvSpPr>
          <p:spPr bwMode="auto">
            <a:xfrm>
              <a:off x="4419" y="3673"/>
              <a:ext cx="15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宋体" panose="02010600030101010101" pitchFamily="2" charset="-122"/>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108556" name="Rectangle 13"/>
            <p:cNvSpPr>
              <a:spLocks noChangeArrowheads="1"/>
            </p:cNvSpPr>
            <p:nvPr/>
          </p:nvSpPr>
          <p:spPr bwMode="auto">
            <a:xfrm>
              <a:off x="1093" y="3527"/>
              <a:ext cx="9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08557" name="Rectangle 14"/>
            <p:cNvSpPr>
              <a:spLocks noChangeArrowheads="1"/>
            </p:cNvSpPr>
            <p:nvPr/>
          </p:nvSpPr>
          <p:spPr bwMode="auto">
            <a:xfrm>
              <a:off x="3491" y="3578"/>
              <a:ext cx="15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b="1">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108558" name="Rectangle 15"/>
            <p:cNvSpPr>
              <a:spLocks noChangeArrowheads="1"/>
            </p:cNvSpPr>
            <p:nvPr/>
          </p:nvSpPr>
          <p:spPr bwMode="auto">
            <a:xfrm>
              <a:off x="2654" y="3578"/>
              <a:ext cx="563" cy="293"/>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8559" name="Rectangle 16"/>
            <p:cNvSpPr>
              <a:spLocks noChangeArrowheads="1"/>
            </p:cNvSpPr>
            <p:nvPr/>
          </p:nvSpPr>
          <p:spPr bwMode="auto">
            <a:xfrm>
              <a:off x="2697" y="3618"/>
              <a:ext cx="14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a2</a:t>
              </a:r>
              <a:endParaRPr kumimoji="1" lang="en-US" altLang="zh-CN" sz="2400">
                <a:latin typeface="Times New Roman" panose="02020603050405020304" pitchFamily="18" charset="0"/>
                <a:ea typeface="宋体" panose="02010600030101010101" pitchFamily="2" charset="-122"/>
              </a:endParaRPr>
            </a:p>
          </p:txBody>
        </p:sp>
        <p:sp>
          <p:nvSpPr>
            <p:cNvPr id="108560" name="Line 17"/>
            <p:cNvSpPr>
              <a:spLocks noChangeShapeType="1"/>
            </p:cNvSpPr>
            <p:nvPr/>
          </p:nvSpPr>
          <p:spPr bwMode="auto">
            <a:xfrm>
              <a:off x="2949" y="3575"/>
              <a:ext cx="1" cy="292"/>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61" name="Line 18"/>
            <p:cNvSpPr>
              <a:spLocks noChangeShapeType="1"/>
            </p:cNvSpPr>
            <p:nvPr/>
          </p:nvSpPr>
          <p:spPr bwMode="auto">
            <a:xfrm>
              <a:off x="1872" y="3327"/>
              <a:ext cx="24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2" name="Text Box 19"/>
            <p:cNvSpPr txBox="1">
              <a:spLocks noChangeArrowheads="1"/>
            </p:cNvSpPr>
            <p:nvPr/>
          </p:nvSpPr>
          <p:spPr bwMode="auto">
            <a:xfrm>
              <a:off x="1708" y="3087"/>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p>
          </p:txBody>
        </p:sp>
        <p:sp>
          <p:nvSpPr>
            <p:cNvPr id="108563" name="Line 20"/>
            <p:cNvSpPr>
              <a:spLocks noChangeShapeType="1"/>
            </p:cNvSpPr>
            <p:nvPr/>
          </p:nvSpPr>
          <p:spPr bwMode="auto">
            <a:xfrm>
              <a:off x="1392" y="3744"/>
              <a:ext cx="432" cy="0"/>
            </a:xfrm>
            <a:prstGeom prst="line">
              <a:avLst/>
            </a:prstGeom>
            <a:noFill/>
            <a:ln w="12700" cap="sq">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4" name="Line 21"/>
            <p:cNvSpPr>
              <a:spLocks noChangeShapeType="1"/>
            </p:cNvSpPr>
            <p:nvPr/>
          </p:nvSpPr>
          <p:spPr bwMode="auto">
            <a:xfrm>
              <a:off x="2304" y="3744"/>
              <a:ext cx="336" cy="0"/>
            </a:xfrm>
            <a:prstGeom prst="line">
              <a:avLst/>
            </a:prstGeom>
            <a:noFill/>
            <a:ln w="12700" cap="sq">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5" name="Line 22"/>
            <p:cNvSpPr>
              <a:spLocks noChangeShapeType="1"/>
            </p:cNvSpPr>
            <p:nvPr/>
          </p:nvSpPr>
          <p:spPr bwMode="auto">
            <a:xfrm>
              <a:off x="3120" y="3744"/>
              <a:ext cx="336" cy="0"/>
            </a:xfrm>
            <a:prstGeom prst="line">
              <a:avLst/>
            </a:prstGeom>
            <a:noFill/>
            <a:ln w="12700" cap="sq">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6" name="Line 23"/>
            <p:cNvSpPr>
              <a:spLocks noChangeShapeType="1"/>
            </p:cNvSpPr>
            <p:nvPr/>
          </p:nvSpPr>
          <p:spPr bwMode="auto">
            <a:xfrm>
              <a:off x="3696" y="3744"/>
              <a:ext cx="336" cy="0"/>
            </a:xfrm>
            <a:prstGeom prst="line">
              <a:avLst/>
            </a:prstGeom>
            <a:noFill/>
            <a:ln w="12700" cap="sq">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527050" y="368300"/>
            <a:ext cx="10218738" cy="822325"/>
          </a:xfrm>
        </p:spPr>
        <p:txBody>
          <a:bodyPr/>
          <a:lstStyle/>
          <a:p>
            <a:pPr eaLnBrk="1" hangingPunct="1"/>
            <a:r>
              <a:rPr lang="zh-CN" altLang="en-US" smtClean="0"/>
              <a:t>按值查找</a:t>
            </a:r>
          </a:p>
        </p:txBody>
      </p:sp>
      <p:sp>
        <p:nvSpPr>
          <p:cNvPr id="109571" name="Text Box 4"/>
          <p:cNvSpPr txBox="1">
            <a:spLocks noChangeArrowheads="1"/>
          </p:cNvSpPr>
          <p:nvPr/>
        </p:nvSpPr>
        <p:spPr bwMode="auto">
          <a:xfrm>
            <a:off x="2286000" y="1828800"/>
            <a:ext cx="7450138"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LNode  * LocateElem( Linklist  L, Elemtype  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r>
              <a:rPr kumimoji="1" lang="zh-CN" altLang="en-US" sz="2400">
                <a:latin typeface="Times New Roman" panose="02020603050405020304" pitchFamily="18" charset="0"/>
                <a:ea typeface="宋体" panose="02010600030101010101" pitchFamily="2" charset="-122"/>
              </a:rPr>
              <a:t>在单链表</a:t>
            </a:r>
            <a:r>
              <a:rPr kumimoji="1" lang="en-US" altLang="zh-CN" sz="2400">
                <a:latin typeface="Times New Roman" panose="02020603050405020304" pitchFamily="18" charset="0"/>
                <a:ea typeface="宋体" panose="02010600030101010101" pitchFamily="2" charset="-122"/>
              </a:rPr>
              <a:t>L</a:t>
            </a:r>
            <a:r>
              <a:rPr kumimoji="1" lang="zh-CN" altLang="en-US" sz="2400">
                <a:latin typeface="Times New Roman" panose="02020603050405020304" pitchFamily="18" charset="0"/>
                <a:ea typeface="宋体" panose="02010600030101010101" pitchFamily="2" charset="-122"/>
              </a:rPr>
              <a:t>中查找值为</a:t>
            </a:r>
            <a:r>
              <a:rPr kumimoji="1" lang="en-US" altLang="zh-CN" sz="2400">
                <a:latin typeface="Times New Roman" panose="02020603050405020304" pitchFamily="18" charset="0"/>
                <a:ea typeface="宋体" panose="02010600030101010101" pitchFamily="2" charset="-122"/>
              </a:rPr>
              <a:t>e</a:t>
            </a:r>
            <a:r>
              <a:rPr kumimoji="1" lang="zh-CN" altLang="en-US" sz="2400">
                <a:latin typeface="Times New Roman" panose="02020603050405020304" pitchFamily="18" charset="0"/>
                <a:ea typeface="宋体" panose="02010600030101010101" pitchFamily="2" charset="-122"/>
              </a:rPr>
              <a:t>的结点，找到后返回其指针*</a:t>
            </a:r>
            <a:r>
              <a:rPr kumimoji="1" lang="en-US" altLang="zh-CN" sz="24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LNode  * p=L;</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while (p &amp;&amp;( p-&gt;data != 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p=p-&gt;next;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p;</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p:txBody>
      </p:sp>
      <p:grpSp>
        <p:nvGrpSpPr>
          <p:cNvPr id="109572" name="Group 5"/>
          <p:cNvGrpSpPr>
            <a:grpSpLocks/>
          </p:cNvGrpSpPr>
          <p:nvPr/>
        </p:nvGrpSpPr>
        <p:grpSpPr bwMode="auto">
          <a:xfrm>
            <a:off x="3259138" y="4900613"/>
            <a:ext cx="5580062" cy="1271587"/>
            <a:chOff x="1093" y="3087"/>
            <a:chExt cx="3515" cy="801"/>
          </a:xfrm>
        </p:grpSpPr>
        <p:sp>
          <p:nvSpPr>
            <p:cNvPr id="109573" name="Rectangle 6"/>
            <p:cNvSpPr>
              <a:spLocks noChangeArrowheads="1"/>
            </p:cNvSpPr>
            <p:nvPr/>
          </p:nvSpPr>
          <p:spPr bwMode="auto">
            <a:xfrm>
              <a:off x="1877" y="3575"/>
              <a:ext cx="561" cy="296"/>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9574" name="Rectangle 7"/>
            <p:cNvSpPr>
              <a:spLocks noChangeArrowheads="1"/>
            </p:cNvSpPr>
            <p:nvPr/>
          </p:nvSpPr>
          <p:spPr bwMode="auto">
            <a:xfrm>
              <a:off x="1920" y="3618"/>
              <a:ext cx="14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a1</a:t>
              </a:r>
              <a:endParaRPr kumimoji="1" lang="en-US" altLang="zh-CN" sz="2400">
                <a:latin typeface="Times New Roman" panose="02020603050405020304" pitchFamily="18" charset="0"/>
                <a:ea typeface="宋体" panose="02010600030101010101" pitchFamily="2" charset="-122"/>
              </a:endParaRPr>
            </a:p>
          </p:txBody>
        </p:sp>
        <p:sp>
          <p:nvSpPr>
            <p:cNvPr id="109575" name="Line 8"/>
            <p:cNvSpPr>
              <a:spLocks noChangeShapeType="1"/>
            </p:cNvSpPr>
            <p:nvPr/>
          </p:nvSpPr>
          <p:spPr bwMode="auto">
            <a:xfrm>
              <a:off x="2172" y="3575"/>
              <a:ext cx="1" cy="292"/>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576" name="Rectangle 9"/>
            <p:cNvSpPr>
              <a:spLocks noChangeArrowheads="1"/>
            </p:cNvSpPr>
            <p:nvPr/>
          </p:nvSpPr>
          <p:spPr bwMode="auto">
            <a:xfrm>
              <a:off x="4049" y="3592"/>
              <a:ext cx="559" cy="296"/>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9577" name="Rectangle 10"/>
            <p:cNvSpPr>
              <a:spLocks noChangeArrowheads="1"/>
            </p:cNvSpPr>
            <p:nvPr/>
          </p:nvSpPr>
          <p:spPr bwMode="auto">
            <a:xfrm>
              <a:off x="4088" y="3635"/>
              <a:ext cx="14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an</a:t>
              </a:r>
              <a:endParaRPr kumimoji="1" lang="en-US" altLang="zh-CN" sz="2400">
                <a:latin typeface="Times New Roman" panose="02020603050405020304" pitchFamily="18" charset="0"/>
                <a:ea typeface="宋体" panose="02010600030101010101" pitchFamily="2" charset="-122"/>
              </a:endParaRPr>
            </a:p>
          </p:txBody>
        </p:sp>
        <p:sp>
          <p:nvSpPr>
            <p:cNvPr id="109578" name="Line 11"/>
            <p:cNvSpPr>
              <a:spLocks noChangeShapeType="1"/>
            </p:cNvSpPr>
            <p:nvPr/>
          </p:nvSpPr>
          <p:spPr bwMode="auto">
            <a:xfrm>
              <a:off x="4340" y="3592"/>
              <a:ext cx="4" cy="292"/>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579" name="Rectangle 12"/>
            <p:cNvSpPr>
              <a:spLocks noChangeArrowheads="1"/>
            </p:cNvSpPr>
            <p:nvPr/>
          </p:nvSpPr>
          <p:spPr bwMode="auto">
            <a:xfrm>
              <a:off x="4419" y="3673"/>
              <a:ext cx="15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宋体" panose="02010600030101010101" pitchFamily="2" charset="-122"/>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109580" name="Rectangle 13"/>
            <p:cNvSpPr>
              <a:spLocks noChangeArrowheads="1"/>
            </p:cNvSpPr>
            <p:nvPr/>
          </p:nvSpPr>
          <p:spPr bwMode="auto">
            <a:xfrm>
              <a:off x="1093" y="3527"/>
              <a:ext cx="9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09581" name="Rectangle 14"/>
            <p:cNvSpPr>
              <a:spLocks noChangeArrowheads="1"/>
            </p:cNvSpPr>
            <p:nvPr/>
          </p:nvSpPr>
          <p:spPr bwMode="auto">
            <a:xfrm>
              <a:off x="3491" y="3578"/>
              <a:ext cx="15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b="1">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109582" name="Rectangle 15"/>
            <p:cNvSpPr>
              <a:spLocks noChangeArrowheads="1"/>
            </p:cNvSpPr>
            <p:nvPr/>
          </p:nvSpPr>
          <p:spPr bwMode="auto">
            <a:xfrm>
              <a:off x="2654" y="3578"/>
              <a:ext cx="563" cy="293"/>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09583" name="Rectangle 16"/>
            <p:cNvSpPr>
              <a:spLocks noChangeArrowheads="1"/>
            </p:cNvSpPr>
            <p:nvPr/>
          </p:nvSpPr>
          <p:spPr bwMode="auto">
            <a:xfrm>
              <a:off x="2697" y="3618"/>
              <a:ext cx="14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1900">
                  <a:latin typeface="Times New Roman" panose="02020603050405020304" pitchFamily="18" charset="0"/>
                  <a:ea typeface="宋体" panose="02010600030101010101" pitchFamily="2" charset="-122"/>
                </a:rPr>
                <a:t>a2</a:t>
              </a:r>
              <a:endParaRPr kumimoji="1" lang="en-US" altLang="zh-CN" sz="2400">
                <a:latin typeface="Times New Roman" panose="02020603050405020304" pitchFamily="18" charset="0"/>
                <a:ea typeface="宋体" panose="02010600030101010101" pitchFamily="2" charset="-122"/>
              </a:endParaRPr>
            </a:p>
          </p:txBody>
        </p:sp>
        <p:sp>
          <p:nvSpPr>
            <p:cNvPr id="109584" name="Line 17"/>
            <p:cNvSpPr>
              <a:spLocks noChangeShapeType="1"/>
            </p:cNvSpPr>
            <p:nvPr/>
          </p:nvSpPr>
          <p:spPr bwMode="auto">
            <a:xfrm>
              <a:off x="2949" y="3575"/>
              <a:ext cx="1" cy="292"/>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585" name="Line 18"/>
            <p:cNvSpPr>
              <a:spLocks noChangeShapeType="1"/>
            </p:cNvSpPr>
            <p:nvPr/>
          </p:nvSpPr>
          <p:spPr bwMode="auto">
            <a:xfrm>
              <a:off x="1872" y="3327"/>
              <a:ext cx="24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6" name="Text Box 19"/>
            <p:cNvSpPr txBox="1">
              <a:spLocks noChangeArrowheads="1"/>
            </p:cNvSpPr>
            <p:nvPr/>
          </p:nvSpPr>
          <p:spPr bwMode="auto">
            <a:xfrm>
              <a:off x="1708" y="3087"/>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p>
          </p:txBody>
        </p:sp>
        <p:sp>
          <p:nvSpPr>
            <p:cNvPr id="109587" name="Line 20"/>
            <p:cNvSpPr>
              <a:spLocks noChangeShapeType="1"/>
            </p:cNvSpPr>
            <p:nvPr/>
          </p:nvSpPr>
          <p:spPr bwMode="auto">
            <a:xfrm>
              <a:off x="1392" y="3744"/>
              <a:ext cx="432" cy="0"/>
            </a:xfrm>
            <a:prstGeom prst="line">
              <a:avLst/>
            </a:prstGeom>
            <a:noFill/>
            <a:ln w="12700" cap="sq">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8" name="Line 21"/>
            <p:cNvSpPr>
              <a:spLocks noChangeShapeType="1"/>
            </p:cNvSpPr>
            <p:nvPr/>
          </p:nvSpPr>
          <p:spPr bwMode="auto">
            <a:xfrm>
              <a:off x="2304" y="3744"/>
              <a:ext cx="336" cy="0"/>
            </a:xfrm>
            <a:prstGeom prst="line">
              <a:avLst/>
            </a:prstGeom>
            <a:noFill/>
            <a:ln w="12700" cap="sq">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9" name="Line 22"/>
            <p:cNvSpPr>
              <a:spLocks noChangeShapeType="1"/>
            </p:cNvSpPr>
            <p:nvPr/>
          </p:nvSpPr>
          <p:spPr bwMode="auto">
            <a:xfrm>
              <a:off x="3120" y="3744"/>
              <a:ext cx="336" cy="0"/>
            </a:xfrm>
            <a:prstGeom prst="line">
              <a:avLst/>
            </a:prstGeom>
            <a:noFill/>
            <a:ln w="12700" cap="sq">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90" name="Line 23"/>
            <p:cNvSpPr>
              <a:spLocks noChangeShapeType="1"/>
            </p:cNvSpPr>
            <p:nvPr/>
          </p:nvSpPr>
          <p:spPr bwMode="auto">
            <a:xfrm>
              <a:off x="3696" y="3744"/>
              <a:ext cx="336" cy="0"/>
            </a:xfrm>
            <a:prstGeom prst="line">
              <a:avLst/>
            </a:prstGeom>
            <a:noFill/>
            <a:ln w="12700" cap="sq">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50179" name="Rectangle 3"/>
          <p:cNvSpPr>
            <a:spLocks noGrp="1" noChangeArrowheads="1"/>
          </p:cNvSpPr>
          <p:nvPr>
            <p:ph idx="1"/>
          </p:nvPr>
        </p:nvSpPr>
        <p:spPr>
          <a:xfrm>
            <a:off x="527050" y="1628775"/>
            <a:ext cx="10218738" cy="4351338"/>
          </a:xfrm>
        </p:spPr>
        <p:txBody>
          <a:bodyPr/>
          <a:lstStyle/>
          <a:p>
            <a:pPr eaLnBrk="1" hangingPunct="1"/>
            <a:r>
              <a:rPr lang="zh-CN" altLang="en-US" smtClean="0"/>
              <a:t>存取元素操作</a:t>
            </a:r>
          </a:p>
          <a:p>
            <a:pPr lvl="1" eaLnBrk="1" hangingPunct="1"/>
            <a:r>
              <a:rPr lang="zh-CN" altLang="en-US" smtClean="0"/>
              <a:t>为取第 </a:t>
            </a:r>
            <a:r>
              <a:rPr lang="en-US" altLang="zh-CN" smtClean="0"/>
              <a:t>i </a:t>
            </a:r>
            <a:r>
              <a:rPr lang="zh-CN" altLang="en-US" smtClean="0"/>
              <a:t>元素，首先必须先找到第 </a:t>
            </a:r>
            <a:r>
              <a:rPr lang="en-US" altLang="zh-CN" smtClean="0"/>
              <a:t>i-1 </a:t>
            </a:r>
            <a:r>
              <a:rPr lang="zh-CN" altLang="en-US" smtClean="0"/>
              <a:t>个元素。因此不论 </a:t>
            </a:r>
            <a:r>
              <a:rPr lang="en-US" altLang="zh-CN" smtClean="0"/>
              <a:t>i </a:t>
            </a:r>
            <a:r>
              <a:rPr lang="zh-CN" altLang="en-US" smtClean="0"/>
              <a:t>值为多少，都必须</a:t>
            </a:r>
            <a:r>
              <a:rPr lang="zh-CN" altLang="en-US" b="1" u="sng" smtClean="0">
                <a:solidFill>
                  <a:schemeClr val="accent2"/>
                </a:solidFill>
              </a:rPr>
              <a:t>从头结点开始起</a:t>
            </a:r>
            <a:r>
              <a:rPr lang="zh-CN" altLang="en-US" b="1" u="sng" smtClean="0">
                <a:solidFill>
                  <a:schemeClr val="accent2"/>
                </a:solidFill>
                <a:latin typeface="Arial" panose="020B0604020202020204" pitchFamily="34" charset="0"/>
              </a:rPr>
              <a:t>“</a:t>
            </a:r>
            <a:r>
              <a:rPr lang="zh-CN" altLang="en-US" b="1" u="sng" smtClean="0">
                <a:solidFill>
                  <a:schemeClr val="accent2"/>
                </a:solidFill>
              </a:rPr>
              <a:t>点数</a:t>
            </a:r>
            <a:r>
              <a:rPr lang="zh-CN" altLang="en-US" b="1" u="sng" smtClean="0">
                <a:solidFill>
                  <a:schemeClr val="accent2"/>
                </a:solidFill>
                <a:latin typeface="Arial" panose="020B0604020202020204" pitchFamily="34" charset="0"/>
              </a:rPr>
              <a:t>”</a:t>
            </a:r>
            <a:r>
              <a:rPr lang="zh-CN" altLang="en-US" smtClean="0"/>
              <a:t>，直数到第 </a:t>
            </a:r>
            <a:r>
              <a:rPr lang="en-US" altLang="zh-CN" smtClean="0"/>
              <a:t>i </a:t>
            </a:r>
            <a:r>
              <a:rPr lang="zh-CN" altLang="en-US" smtClean="0"/>
              <a:t>个为止。</a:t>
            </a:r>
          </a:p>
          <a:p>
            <a:pPr lvl="1" eaLnBrk="1" hangingPunct="1"/>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0179">
                                            <p:txEl>
                                              <p:pRg st="1" end="1"/>
                                            </p:txEl>
                                          </p:spTgt>
                                        </p:tgtEl>
                                        <p:attrNameLst>
                                          <p:attrName>style.visibility</p:attrName>
                                        </p:attrNameLst>
                                      </p:cBhvr>
                                      <p:to>
                                        <p:strVal val="visible"/>
                                      </p:to>
                                    </p:set>
                                    <p:animEffect transition="in" filter="box(in)">
                                      <p:cBhvr>
                                        <p:cTn id="7" dur="500"/>
                                        <p:tgtEl>
                                          <p:spTgt spid="501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51203" name="Rectangle 3"/>
          <p:cNvSpPr>
            <a:spLocks noGrp="1" noChangeArrowheads="1"/>
          </p:cNvSpPr>
          <p:nvPr>
            <p:ph idx="1"/>
          </p:nvPr>
        </p:nvSpPr>
        <p:spPr>
          <a:xfrm>
            <a:off x="527050" y="1628775"/>
            <a:ext cx="10218738" cy="4351338"/>
          </a:xfrm>
        </p:spPr>
        <p:txBody>
          <a:bodyPr rtlCol="0">
            <a:normAutofit/>
          </a:bodyPr>
          <a:lstStyle/>
          <a:p>
            <a:pPr marL="0" indent="0" eaLnBrk="1" fontAlgn="auto" hangingPunct="1">
              <a:lnSpc>
                <a:spcPct val="80000"/>
              </a:lnSpc>
              <a:spcAft>
                <a:spcPts val="0"/>
              </a:spcAft>
              <a:buFont typeface="Wingdings" panose="05000000000000000000" pitchFamily="2" charset="2"/>
              <a:buNone/>
              <a:defRPr/>
            </a:pPr>
            <a:r>
              <a:rPr lang="en-US" altLang="zh-CN" sz="2000" b="1" dirty="0" smtClean="0"/>
              <a:t>    bool</a:t>
            </a:r>
            <a:r>
              <a:rPr lang="en-US" altLang="zh-CN" sz="2000" dirty="0" smtClean="0"/>
              <a:t> </a:t>
            </a:r>
            <a:r>
              <a:rPr lang="en-US" altLang="zh-CN" sz="2000" dirty="0" err="1"/>
              <a:t>GetElem</a:t>
            </a:r>
            <a:r>
              <a:rPr lang="en-US" altLang="zh-CN" sz="2000" dirty="0"/>
              <a:t> ( </a:t>
            </a:r>
            <a:r>
              <a:rPr lang="en-US" altLang="zh-CN" sz="2000" dirty="0" err="1"/>
              <a:t>Linklist</a:t>
            </a:r>
            <a:r>
              <a:rPr lang="en-US" altLang="zh-CN" sz="2000" dirty="0"/>
              <a:t> L, </a:t>
            </a:r>
            <a:r>
              <a:rPr lang="en-US" altLang="zh-CN" sz="2000" b="1" dirty="0" err="1"/>
              <a:t>int</a:t>
            </a:r>
            <a:r>
              <a:rPr lang="en-US" altLang="zh-CN" sz="2000" dirty="0"/>
              <a:t> </a:t>
            </a:r>
            <a:r>
              <a:rPr lang="en-US" altLang="zh-CN" sz="2000" dirty="0" err="1"/>
              <a:t>pos</a:t>
            </a:r>
            <a:r>
              <a:rPr lang="en-US" altLang="zh-CN" sz="2000" dirty="0"/>
              <a:t>, </a:t>
            </a:r>
            <a:r>
              <a:rPr lang="en-US" altLang="zh-CN" sz="2000" dirty="0" err="1"/>
              <a:t>ElemType</a:t>
            </a:r>
            <a:r>
              <a:rPr lang="en-US" altLang="zh-CN" sz="2000" dirty="0"/>
              <a:t> </a:t>
            </a:r>
            <a:r>
              <a:rPr lang="en-US" altLang="zh-CN" sz="2000" b="1" dirty="0"/>
              <a:t>*</a:t>
            </a:r>
            <a:r>
              <a:rPr lang="en-US" altLang="zh-CN" sz="2000" dirty="0"/>
              <a:t>e )</a:t>
            </a:r>
            <a:br>
              <a:rPr lang="en-US" altLang="zh-CN" sz="2000" dirty="0"/>
            </a:br>
            <a:r>
              <a:rPr lang="zh-CN" altLang="en-US" sz="2000" dirty="0"/>
              <a:t>　</a:t>
            </a:r>
            <a:r>
              <a:rPr lang="en-US" altLang="zh-CN" sz="2000" b="1" dirty="0"/>
              <a:t>{</a:t>
            </a:r>
            <a:r>
              <a:rPr lang="en-US" altLang="zh-CN" sz="2000" dirty="0"/>
              <a:t/>
            </a:r>
            <a:br>
              <a:rPr lang="en-US" altLang="zh-CN" sz="2000" dirty="0"/>
            </a:br>
            <a:r>
              <a:rPr lang="en-US" altLang="zh-CN" sz="2000" b="1" dirty="0"/>
              <a:t>// </a:t>
            </a:r>
            <a:r>
              <a:rPr lang="zh-CN" altLang="en-US" sz="2000" b="1" dirty="0"/>
              <a:t>若</a:t>
            </a:r>
            <a:r>
              <a:rPr lang="en-US" altLang="zh-CN" sz="2000" b="1" dirty="0"/>
              <a:t>1≤pos≤LengthList(L)</a:t>
            </a:r>
            <a:r>
              <a:rPr lang="zh-CN" altLang="en-US" sz="2000" b="1" dirty="0"/>
              <a:t>，则用 </a:t>
            </a:r>
            <a:r>
              <a:rPr lang="en-US" altLang="zh-CN" sz="2000" b="1" dirty="0"/>
              <a:t>e </a:t>
            </a:r>
            <a:r>
              <a:rPr lang="zh-CN" altLang="en-US" sz="2000" b="1" dirty="0"/>
              <a:t>带回指针</a:t>
            </a:r>
            <a:r>
              <a:rPr lang="en-US" altLang="zh-CN" sz="2000" b="1" dirty="0"/>
              <a:t>L</a:t>
            </a:r>
            <a:r>
              <a:rPr lang="zh-CN" altLang="en-US" sz="2000" b="1" dirty="0"/>
              <a:t>指向头结点的单链表中第 </a:t>
            </a:r>
            <a:r>
              <a:rPr lang="en-US" altLang="zh-CN" sz="2000" b="1" dirty="0" err="1"/>
              <a:t>pos</a:t>
            </a:r>
            <a:r>
              <a:rPr lang="en-US" altLang="zh-CN" sz="2000" b="1" dirty="0"/>
              <a:t> </a:t>
            </a:r>
            <a:r>
              <a:rPr lang="zh-CN" altLang="en-US" sz="2000" b="1" dirty="0"/>
              <a:t>个元素的值且返回函数值为</a:t>
            </a:r>
            <a:r>
              <a:rPr lang="en-US" altLang="zh-CN" sz="2000" b="1" dirty="0"/>
              <a:t>TRUE,</a:t>
            </a:r>
            <a:r>
              <a:rPr lang="zh-CN" altLang="en-US" sz="2000" b="1" dirty="0"/>
              <a:t>否则返回函数值为</a:t>
            </a:r>
            <a:r>
              <a:rPr lang="en-US" altLang="zh-CN" sz="2000" b="1" dirty="0"/>
              <a:t>FALSE</a:t>
            </a:r>
            <a:r>
              <a:rPr lang="en-US" altLang="zh-CN" sz="2000" dirty="0"/>
              <a:t/>
            </a:r>
            <a:br>
              <a:rPr lang="en-US" altLang="zh-CN" sz="2000" dirty="0"/>
            </a:br>
            <a:r>
              <a:rPr lang="zh-CN" altLang="en-US" sz="2000" dirty="0"/>
              <a:t>　　</a:t>
            </a:r>
            <a:r>
              <a:rPr lang="en-US" altLang="zh-CN" sz="2000" dirty="0"/>
              <a:t>p = L-&gt;next; j =1; </a:t>
            </a:r>
            <a:r>
              <a:rPr lang="zh-CN" altLang="en-US" sz="2000" dirty="0"/>
              <a:t>　</a:t>
            </a:r>
            <a:r>
              <a:rPr lang="en-US" altLang="zh-CN" sz="2000" dirty="0"/>
              <a:t>// </a:t>
            </a:r>
            <a:r>
              <a:rPr lang="zh-CN" altLang="en-US" sz="2000" dirty="0"/>
              <a:t>变量初始化，</a:t>
            </a:r>
            <a:r>
              <a:rPr lang="en-US" altLang="zh-CN" sz="2000" dirty="0"/>
              <a:t>p </a:t>
            </a:r>
            <a:r>
              <a:rPr lang="zh-CN" altLang="en-US" sz="2000" dirty="0"/>
              <a:t>指向第一个结点</a:t>
            </a:r>
            <a:br>
              <a:rPr lang="zh-CN" altLang="en-US" sz="2000" dirty="0"/>
            </a:br>
            <a:r>
              <a:rPr lang="zh-CN" altLang="en-US" sz="2000" dirty="0"/>
              <a:t>　　</a:t>
            </a:r>
            <a:r>
              <a:rPr lang="en-US" altLang="zh-CN" sz="2000" b="1" dirty="0"/>
              <a:t>while</a:t>
            </a:r>
            <a:r>
              <a:rPr lang="en-US" altLang="zh-CN" sz="2000" dirty="0"/>
              <a:t> ( p </a:t>
            </a:r>
            <a:r>
              <a:rPr lang="en-US" altLang="zh-CN" sz="2000" b="1" dirty="0"/>
              <a:t>&amp;&amp;</a:t>
            </a:r>
            <a:r>
              <a:rPr lang="en-US" altLang="zh-CN" sz="2000" dirty="0"/>
              <a:t> j&lt; </a:t>
            </a:r>
            <a:r>
              <a:rPr lang="en-US" altLang="zh-CN" sz="2000" dirty="0" err="1"/>
              <a:t>pos</a:t>
            </a:r>
            <a:r>
              <a:rPr lang="en-US" altLang="zh-CN" sz="2000" dirty="0"/>
              <a:t> )</a:t>
            </a:r>
            <a:br>
              <a:rPr lang="en-US" altLang="zh-CN" sz="2000" dirty="0"/>
            </a:br>
            <a:r>
              <a:rPr lang="zh-CN" altLang="en-US" sz="2000" dirty="0"/>
              <a:t>　　</a:t>
            </a:r>
            <a:r>
              <a:rPr lang="en-US" altLang="zh-CN" sz="2000" b="1" dirty="0"/>
              <a:t>{</a:t>
            </a:r>
            <a:r>
              <a:rPr lang="en-US" altLang="zh-CN" sz="2000" dirty="0"/>
              <a:t> // </a:t>
            </a:r>
            <a:r>
              <a:rPr lang="zh-CN" altLang="en-US" sz="2000" dirty="0"/>
              <a:t>顺结点的指针向后查找，直至 </a:t>
            </a:r>
            <a:r>
              <a:rPr lang="en-US" altLang="zh-CN" sz="2000" dirty="0"/>
              <a:t>p </a:t>
            </a:r>
            <a:r>
              <a:rPr lang="zh-CN" altLang="en-US" sz="2000" dirty="0"/>
              <a:t>指到第</a:t>
            </a:r>
            <a:r>
              <a:rPr lang="en-US" altLang="zh-CN" sz="2000" dirty="0" err="1"/>
              <a:t>pos</a:t>
            </a:r>
            <a:r>
              <a:rPr lang="zh-CN" altLang="en-US" sz="2000" dirty="0"/>
              <a:t>个结点或 </a:t>
            </a:r>
            <a:r>
              <a:rPr lang="en-US" altLang="zh-CN" sz="2000" dirty="0"/>
              <a:t>p </a:t>
            </a:r>
            <a:r>
              <a:rPr lang="zh-CN" altLang="en-US" sz="2000" dirty="0"/>
              <a:t>为空止</a:t>
            </a:r>
            <a:br>
              <a:rPr lang="zh-CN" altLang="en-US" sz="2000" dirty="0"/>
            </a:br>
            <a:r>
              <a:rPr lang="zh-CN" altLang="en-US" sz="2000" dirty="0"/>
              <a:t>　　　</a:t>
            </a:r>
            <a:r>
              <a:rPr lang="en-US" altLang="zh-CN" sz="2000" dirty="0"/>
              <a:t>p = p-&gt;next; ++j;</a:t>
            </a:r>
            <a:br>
              <a:rPr lang="en-US" altLang="zh-CN" sz="2000" dirty="0"/>
            </a:br>
            <a:r>
              <a:rPr lang="zh-CN" altLang="en-US" sz="2000" dirty="0"/>
              <a:t>　　</a:t>
            </a:r>
            <a:r>
              <a:rPr lang="en-US" altLang="zh-CN" sz="2000" b="1" dirty="0"/>
              <a:t>} </a:t>
            </a:r>
            <a:r>
              <a:rPr lang="en-US" altLang="zh-CN" sz="2000" dirty="0"/>
              <a:t>// while</a:t>
            </a:r>
            <a:br>
              <a:rPr lang="en-US" altLang="zh-CN" sz="2000" dirty="0"/>
            </a:br>
            <a:r>
              <a:rPr lang="zh-CN" altLang="en-US" sz="2000" dirty="0"/>
              <a:t>　　</a:t>
            </a:r>
            <a:r>
              <a:rPr lang="en-US" altLang="zh-CN" sz="2000" b="1" dirty="0"/>
              <a:t>if</a:t>
            </a:r>
            <a:r>
              <a:rPr lang="en-US" altLang="zh-CN" sz="2000" dirty="0"/>
              <a:t> ( !p) </a:t>
            </a:r>
            <a:r>
              <a:rPr lang="en-US" altLang="zh-CN" sz="2000" b="1" dirty="0"/>
              <a:t>return FALSE;</a:t>
            </a:r>
            <a:r>
              <a:rPr lang="en-US" altLang="zh-CN" sz="2000" dirty="0"/>
              <a:t> </a:t>
            </a:r>
          </a:p>
          <a:p>
            <a:pPr marL="0" indent="0" eaLnBrk="1" fontAlgn="auto" hangingPunct="1">
              <a:lnSpc>
                <a:spcPct val="80000"/>
              </a:lnSpc>
              <a:spcAft>
                <a:spcPts val="0"/>
              </a:spcAft>
              <a:buFont typeface="Wingdings" panose="05000000000000000000" pitchFamily="2" charset="2"/>
              <a:buNone/>
              <a:defRPr/>
            </a:pPr>
            <a:r>
              <a:rPr lang="en-US" altLang="zh-CN" sz="2000" dirty="0"/>
              <a:t>      // </a:t>
            </a:r>
            <a:r>
              <a:rPr lang="zh-CN" altLang="en-US" sz="2000" dirty="0"/>
              <a:t>链表中不存在第 </a:t>
            </a:r>
            <a:r>
              <a:rPr lang="en-US" altLang="zh-CN" sz="2000" dirty="0" err="1"/>
              <a:t>pos</a:t>
            </a:r>
            <a:r>
              <a:rPr lang="en-US" altLang="zh-CN" sz="2000" dirty="0"/>
              <a:t> </a:t>
            </a:r>
            <a:r>
              <a:rPr lang="zh-CN" altLang="en-US" sz="2000" dirty="0"/>
              <a:t>个结点</a:t>
            </a:r>
            <a:br>
              <a:rPr lang="zh-CN" altLang="en-US" sz="2000" dirty="0"/>
            </a:br>
            <a:r>
              <a:rPr lang="zh-CN" altLang="en-US" sz="2000" dirty="0"/>
              <a:t>　　</a:t>
            </a:r>
            <a:r>
              <a:rPr lang="en-US" altLang="zh-CN" sz="2000" dirty="0"/>
              <a:t>*e = p-&gt;data; </a:t>
            </a:r>
            <a:r>
              <a:rPr lang="zh-CN" altLang="en-US" sz="2000" dirty="0"/>
              <a:t>　　　　　</a:t>
            </a:r>
            <a:r>
              <a:rPr lang="en-US" altLang="zh-CN" sz="2000" dirty="0"/>
              <a:t>// </a:t>
            </a:r>
            <a:r>
              <a:rPr lang="zh-CN" altLang="en-US" sz="2000" dirty="0"/>
              <a:t>取到第 </a:t>
            </a:r>
            <a:r>
              <a:rPr lang="en-US" altLang="zh-CN" sz="2000" dirty="0" err="1"/>
              <a:t>pos</a:t>
            </a:r>
            <a:r>
              <a:rPr lang="en-US" altLang="zh-CN" sz="2000" dirty="0"/>
              <a:t> </a:t>
            </a:r>
            <a:r>
              <a:rPr lang="zh-CN" altLang="en-US" sz="2000" dirty="0"/>
              <a:t>个元素</a:t>
            </a:r>
            <a:br>
              <a:rPr lang="zh-CN" altLang="en-US" sz="2000" dirty="0"/>
            </a:br>
            <a:r>
              <a:rPr lang="zh-CN" altLang="en-US" sz="2000" dirty="0"/>
              <a:t>　　</a:t>
            </a:r>
            <a:r>
              <a:rPr lang="en-US" altLang="zh-CN" sz="2000" b="1" dirty="0"/>
              <a:t>return TRUE;</a:t>
            </a:r>
            <a:r>
              <a:rPr lang="en-US" altLang="zh-CN" sz="2000" dirty="0"/>
              <a:t/>
            </a:r>
            <a:br>
              <a:rPr lang="en-US" altLang="zh-CN" sz="2000" dirty="0"/>
            </a:br>
            <a:r>
              <a:rPr lang="zh-CN" altLang="en-US" sz="2000" dirty="0"/>
              <a:t>　</a:t>
            </a:r>
            <a:r>
              <a:rPr lang="en-US" altLang="zh-CN" sz="2000" b="1" dirty="0"/>
              <a:t>} </a:t>
            </a:r>
            <a:r>
              <a:rPr lang="en-US" altLang="zh-CN" sz="2000" dirty="0"/>
              <a:t>// </a:t>
            </a:r>
            <a:r>
              <a:rPr lang="en-US" altLang="zh-CN" sz="2000" dirty="0" err="1"/>
              <a:t>GetElem</a:t>
            </a:r>
            <a:r>
              <a:rPr lang="en-US" altLang="zh-CN" sz="2000" dirty="0"/>
              <a:t> </a:t>
            </a:r>
          </a:p>
          <a:p>
            <a:pPr eaLnBrk="1" fontAlgn="auto" hangingPunct="1">
              <a:lnSpc>
                <a:spcPct val="80000"/>
              </a:lnSpc>
              <a:spcAft>
                <a:spcPts val="0"/>
              </a:spcAft>
              <a:defRPr/>
            </a:pPr>
            <a:r>
              <a:rPr lang="zh-CN" altLang="en-US" sz="2000" dirty="0"/>
              <a:t>算法的时间复杂度为</a:t>
            </a:r>
            <a:r>
              <a:rPr lang="en-US" altLang="zh-CN" sz="2000" b="1" i="1" dirty="0"/>
              <a:t>O </a:t>
            </a:r>
            <a:r>
              <a:rPr lang="en-US" altLang="zh-CN" sz="2000" b="1" dirty="0"/>
              <a:t>(</a:t>
            </a:r>
            <a:r>
              <a:rPr lang="en-US" altLang="zh-CN" sz="2000" b="1" dirty="0" err="1"/>
              <a:t>ListLength</a:t>
            </a:r>
            <a:r>
              <a:rPr lang="en-US" altLang="zh-CN" sz="2000" b="1" dirty="0"/>
              <a:t>(L))</a:t>
            </a:r>
            <a:r>
              <a:rPr lang="zh-CN" altLang="en-US" sz="200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51203">
                                            <p:txEl>
                                              <p:pRg st="2" end="2"/>
                                            </p:txEl>
                                          </p:spTgt>
                                        </p:tgtEl>
                                        <p:attrNameLst>
                                          <p:attrName>style.visibility</p:attrName>
                                        </p:attrNameLst>
                                      </p:cBhvr>
                                      <p:to>
                                        <p:strVal val="visible"/>
                                      </p:to>
                                    </p:set>
                                    <p:animEffect transition="in" filter="diamond(in)">
                                      <p:cBhvr>
                                        <p:cTn id="7" dur="2000"/>
                                        <p:tgtEl>
                                          <p:spTgt spid="512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52227" name="Rectangle 3"/>
          <p:cNvSpPr>
            <a:spLocks noGrp="1" noChangeArrowheads="1"/>
          </p:cNvSpPr>
          <p:nvPr>
            <p:ph idx="1"/>
          </p:nvPr>
        </p:nvSpPr>
        <p:spPr>
          <a:xfrm>
            <a:off x="527050" y="1628775"/>
            <a:ext cx="10218738" cy="4351338"/>
          </a:xfrm>
        </p:spPr>
        <p:txBody>
          <a:bodyPr/>
          <a:lstStyle/>
          <a:p>
            <a:pPr eaLnBrk="1" hangingPunct="1"/>
            <a:r>
              <a:rPr lang="zh-CN" altLang="en-US" smtClean="0"/>
              <a:t>插入元素操作</a:t>
            </a:r>
          </a:p>
          <a:p>
            <a:pPr lvl="1" eaLnBrk="1" hangingPunct="1"/>
            <a:r>
              <a:rPr lang="zh-CN" altLang="en-US" smtClean="0"/>
              <a:t>在线性表中</a:t>
            </a:r>
            <a:r>
              <a:rPr lang="zh-CN" altLang="en-US" smtClean="0">
                <a:latin typeface="Arial" panose="020B0604020202020204" pitchFamily="34" charset="0"/>
              </a:rPr>
              <a:t>“</a:t>
            </a:r>
            <a:r>
              <a:rPr lang="zh-CN" altLang="en-US" smtClean="0"/>
              <a:t>插入</a:t>
            </a:r>
            <a:r>
              <a:rPr lang="zh-CN" altLang="en-US" smtClean="0">
                <a:latin typeface="Arial" panose="020B0604020202020204" pitchFamily="34" charset="0"/>
              </a:rPr>
              <a:t>”</a:t>
            </a:r>
            <a:r>
              <a:rPr lang="zh-CN" altLang="en-US" smtClean="0"/>
              <a:t>一个元素</a:t>
            </a:r>
            <a:r>
              <a:rPr lang="en-US" altLang="zh-CN" smtClean="0"/>
              <a:t>e</a:t>
            </a:r>
            <a:r>
              <a:rPr lang="zh-CN" altLang="en-US" smtClean="0"/>
              <a:t>时，使元素之间的关系</a:t>
            </a:r>
            <a:r>
              <a:rPr lang="en-US" altLang="zh-CN" smtClean="0"/>
              <a:t>&lt;a</a:t>
            </a:r>
            <a:r>
              <a:rPr lang="en-US" altLang="zh-CN" baseline="-25000" smtClean="0"/>
              <a:t>i-1</a:t>
            </a:r>
            <a:r>
              <a:rPr lang="en-US" altLang="zh-CN" smtClean="0"/>
              <a:t> , a</a:t>
            </a:r>
            <a:r>
              <a:rPr lang="en-US" altLang="zh-CN" baseline="-25000" smtClean="0"/>
              <a:t>i</a:t>
            </a:r>
            <a:r>
              <a:rPr lang="en-US" altLang="zh-CN" smtClean="0"/>
              <a:t>&gt;</a:t>
            </a:r>
            <a:r>
              <a:rPr lang="zh-CN" altLang="en-US" smtClean="0"/>
              <a:t>改变为</a:t>
            </a:r>
            <a:r>
              <a:rPr lang="en-US" altLang="zh-CN" smtClean="0"/>
              <a:t>&lt;a</a:t>
            </a:r>
            <a:r>
              <a:rPr lang="en-US" altLang="zh-CN" baseline="-25000" smtClean="0"/>
              <a:t>i-1</a:t>
            </a:r>
            <a:r>
              <a:rPr lang="en-US" altLang="zh-CN" smtClean="0"/>
              <a:t> ,e &gt;</a:t>
            </a:r>
            <a:r>
              <a:rPr lang="zh-CN" altLang="en-US" smtClean="0"/>
              <a:t>和</a:t>
            </a:r>
            <a:r>
              <a:rPr lang="en-US" altLang="zh-CN" smtClean="0"/>
              <a:t>&lt; e, a</a:t>
            </a:r>
            <a:r>
              <a:rPr lang="en-US" altLang="zh-CN" baseline="-25000" smtClean="0"/>
              <a:t>i</a:t>
            </a:r>
            <a:r>
              <a:rPr lang="en-US" altLang="zh-CN" smtClean="0"/>
              <a:t>&gt;</a:t>
            </a:r>
            <a:r>
              <a:rPr lang="zh-CN" altLang="en-US" smtClean="0"/>
              <a:t>。</a:t>
            </a:r>
          </a:p>
          <a:p>
            <a:pPr lvl="1" eaLnBrk="1" hangingPunct="1"/>
            <a:r>
              <a:rPr lang="zh-CN" altLang="en-US" smtClean="0"/>
              <a:t>当用指针指示后继元素时，实现这种关系的改变就很容易了，</a:t>
            </a:r>
            <a:r>
              <a:rPr lang="zh-CN" altLang="en-US" b="1" u="sng" smtClean="0">
                <a:solidFill>
                  <a:schemeClr val="accent2"/>
                </a:solidFill>
              </a:rPr>
              <a:t>只要修改相应指针即可</a:t>
            </a:r>
            <a:r>
              <a:rPr lang="zh-CN" altLang="en-US" smtClean="0"/>
              <a:t>。</a:t>
            </a:r>
          </a:p>
          <a:p>
            <a:pPr lvl="1" eaLnBrk="1" hangingPunct="1"/>
            <a:r>
              <a:rPr lang="zh-CN" altLang="en-US" smtClean="0"/>
              <a:t>基本思想：找到第</a:t>
            </a:r>
            <a:r>
              <a:rPr lang="en-US" altLang="zh-CN" smtClean="0"/>
              <a:t>i-1</a:t>
            </a:r>
            <a:r>
              <a:rPr lang="zh-CN" altLang="en-US" smtClean="0"/>
              <a:t>个结点，然后修改指针</a:t>
            </a:r>
            <a:r>
              <a:rPr lang="en-US" altLang="zh-CN" smtClean="0"/>
              <a:t>: </a:t>
            </a:r>
            <a:r>
              <a:rPr kumimoji="1" lang="en-US" altLang="zh-CN" b="1" smtClean="0"/>
              <a:t>s-&gt;next</a:t>
            </a:r>
            <a:r>
              <a:rPr kumimoji="1" lang="zh-CN" altLang="en-US" b="1" smtClean="0"/>
              <a:t>＝</a:t>
            </a:r>
            <a:r>
              <a:rPr kumimoji="1" lang="en-US" altLang="zh-CN" b="1" smtClean="0"/>
              <a:t>p-&gt;next</a:t>
            </a:r>
            <a:r>
              <a:rPr kumimoji="1" lang="zh-CN" altLang="en-US" b="1" smtClean="0"/>
              <a:t>；</a:t>
            </a:r>
            <a:r>
              <a:rPr kumimoji="1" lang="en-US" altLang="zh-CN" b="1" smtClean="0"/>
              <a:t>p-&gt;next=s</a:t>
            </a:r>
            <a:r>
              <a:rPr kumimoji="1" lang="zh-CN" altLang="en-US" b="1" smtClean="0"/>
              <a:t>；</a:t>
            </a:r>
            <a:r>
              <a:rPr kumimoji="1" lang="zh-CN" altLang="en-US" sz="2200" smtClean="0"/>
              <a:t> </a:t>
            </a:r>
            <a:endParaRPr lang="zh-CN" altLang="en-US" smtClean="0"/>
          </a:p>
          <a:p>
            <a:pPr eaLnBrk="1" hangingPunct="1"/>
            <a:endParaRPr lang="en-US" altLang="zh-CN" smtClean="0"/>
          </a:p>
        </p:txBody>
      </p:sp>
      <p:sp>
        <p:nvSpPr>
          <p:cNvPr id="52228" name="Line 4"/>
          <p:cNvSpPr>
            <a:spLocks noChangeShapeType="1"/>
          </p:cNvSpPr>
          <p:nvPr/>
        </p:nvSpPr>
        <p:spPr bwMode="auto">
          <a:xfrm>
            <a:off x="2351088" y="5529263"/>
            <a:ext cx="555625" cy="1587"/>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29" name="Rectangle 5"/>
          <p:cNvSpPr>
            <a:spLocks noChangeArrowheads="1"/>
          </p:cNvSpPr>
          <p:nvPr/>
        </p:nvSpPr>
        <p:spPr bwMode="auto">
          <a:xfrm>
            <a:off x="2900363" y="5376863"/>
            <a:ext cx="998537"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2230" name="Text Box 6"/>
          <p:cNvSpPr txBox="1">
            <a:spLocks noChangeArrowheads="1"/>
          </p:cNvSpPr>
          <p:nvPr/>
        </p:nvSpPr>
        <p:spPr bwMode="auto">
          <a:xfrm>
            <a:off x="2865438" y="5300663"/>
            <a:ext cx="11096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en-US" sz="2000">
                <a:latin typeface="Tahoma" panose="020B0604030504040204" pitchFamily="34" charset="0"/>
                <a:ea typeface="宋体" panose="02010600030101010101" pitchFamily="2" charset="-122"/>
              </a:rPr>
              <a:t>x</a:t>
            </a:r>
            <a:endParaRPr kumimoji="1" lang="en-US" altLang="zh-CN" sz="2000">
              <a:latin typeface="Tahoma" panose="020B0604030504040204" pitchFamily="34" charset="0"/>
              <a:ea typeface="宋体" panose="02010600030101010101" pitchFamily="2" charset="-122"/>
            </a:endParaRPr>
          </a:p>
        </p:txBody>
      </p:sp>
      <p:sp>
        <p:nvSpPr>
          <p:cNvPr id="52231" name="Line 7"/>
          <p:cNvSpPr>
            <a:spLocks noChangeShapeType="1"/>
          </p:cNvSpPr>
          <p:nvPr/>
        </p:nvSpPr>
        <p:spPr bwMode="auto">
          <a:xfrm>
            <a:off x="3579813" y="5376863"/>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2" name="Line 8"/>
          <p:cNvSpPr>
            <a:spLocks noChangeShapeType="1"/>
          </p:cNvSpPr>
          <p:nvPr/>
        </p:nvSpPr>
        <p:spPr bwMode="auto">
          <a:xfrm flipV="1">
            <a:off x="3579813" y="5516563"/>
            <a:ext cx="428625" cy="127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3" name="Rectangle 9"/>
          <p:cNvSpPr>
            <a:spLocks noChangeArrowheads="1"/>
          </p:cNvSpPr>
          <p:nvPr/>
        </p:nvSpPr>
        <p:spPr bwMode="auto">
          <a:xfrm>
            <a:off x="4008438" y="5376863"/>
            <a:ext cx="1109662"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2234" name="Text Box 10"/>
          <p:cNvSpPr txBox="1">
            <a:spLocks noChangeArrowheads="1"/>
          </p:cNvSpPr>
          <p:nvPr/>
        </p:nvSpPr>
        <p:spPr bwMode="auto">
          <a:xfrm>
            <a:off x="4008438" y="5300663"/>
            <a:ext cx="11096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2000">
                <a:latin typeface="Tahoma" panose="020B0604030504040204" pitchFamily="34" charset="0"/>
                <a:ea typeface="宋体" panose="02010600030101010101" pitchFamily="2" charset="-122"/>
              </a:rPr>
              <a:t>y</a:t>
            </a:r>
          </a:p>
        </p:txBody>
      </p:sp>
      <p:sp>
        <p:nvSpPr>
          <p:cNvPr id="52235" name="Line 11"/>
          <p:cNvSpPr>
            <a:spLocks noChangeShapeType="1"/>
          </p:cNvSpPr>
          <p:nvPr/>
        </p:nvSpPr>
        <p:spPr bwMode="auto">
          <a:xfrm>
            <a:off x="4737100" y="5376863"/>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6" name="Line 12"/>
          <p:cNvSpPr>
            <a:spLocks noChangeShapeType="1"/>
          </p:cNvSpPr>
          <p:nvPr/>
        </p:nvSpPr>
        <p:spPr bwMode="auto">
          <a:xfrm>
            <a:off x="4757738" y="5529263"/>
            <a:ext cx="665162" cy="1587"/>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7" name="Text Box 13"/>
          <p:cNvSpPr txBox="1">
            <a:spLocks noChangeArrowheads="1"/>
          </p:cNvSpPr>
          <p:nvPr/>
        </p:nvSpPr>
        <p:spPr bwMode="auto">
          <a:xfrm>
            <a:off x="2424113" y="5084763"/>
            <a:ext cx="555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2000">
                <a:latin typeface="Tahoma" panose="020B0604030504040204" pitchFamily="34" charset="0"/>
                <a:ea typeface="宋体" panose="02010600030101010101" pitchFamily="2" charset="-122"/>
              </a:rPr>
              <a:t>p</a:t>
            </a:r>
          </a:p>
        </p:txBody>
      </p:sp>
      <p:sp>
        <p:nvSpPr>
          <p:cNvPr id="52238" name="Rectangle 14"/>
          <p:cNvSpPr>
            <a:spLocks noChangeArrowheads="1"/>
          </p:cNvSpPr>
          <p:nvPr/>
        </p:nvSpPr>
        <p:spPr bwMode="auto">
          <a:xfrm>
            <a:off x="3363913" y="6138863"/>
            <a:ext cx="1220787"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2239" name="Text Box 15"/>
          <p:cNvSpPr txBox="1">
            <a:spLocks noChangeArrowheads="1"/>
          </p:cNvSpPr>
          <p:nvPr/>
        </p:nvSpPr>
        <p:spPr bwMode="auto">
          <a:xfrm>
            <a:off x="3363913" y="6062663"/>
            <a:ext cx="1220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2000">
                <a:latin typeface="Tahoma" panose="020B0604030504040204" pitchFamily="34" charset="0"/>
                <a:ea typeface="宋体" panose="02010600030101010101" pitchFamily="2" charset="-122"/>
              </a:rPr>
              <a:t>b</a:t>
            </a:r>
          </a:p>
        </p:txBody>
      </p:sp>
      <p:sp>
        <p:nvSpPr>
          <p:cNvPr id="52240" name="Line 16"/>
          <p:cNvSpPr>
            <a:spLocks noChangeShapeType="1"/>
          </p:cNvSpPr>
          <p:nvPr/>
        </p:nvSpPr>
        <p:spPr bwMode="auto">
          <a:xfrm>
            <a:off x="4203700" y="6138863"/>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1" name="Text Box 17"/>
          <p:cNvSpPr txBox="1">
            <a:spLocks noChangeArrowheads="1"/>
          </p:cNvSpPr>
          <p:nvPr/>
        </p:nvSpPr>
        <p:spPr bwMode="auto">
          <a:xfrm>
            <a:off x="3081338" y="5970588"/>
            <a:ext cx="66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2000">
                <a:latin typeface="Tahoma" panose="020B0604030504040204" pitchFamily="34" charset="0"/>
                <a:ea typeface="宋体" panose="02010600030101010101" pitchFamily="2" charset="-122"/>
              </a:rPr>
              <a:t>s</a:t>
            </a:r>
          </a:p>
        </p:txBody>
      </p:sp>
      <p:sp>
        <p:nvSpPr>
          <p:cNvPr id="52242" name="Line 18"/>
          <p:cNvSpPr>
            <a:spLocks noChangeShapeType="1"/>
          </p:cNvSpPr>
          <p:nvPr/>
        </p:nvSpPr>
        <p:spPr bwMode="auto">
          <a:xfrm>
            <a:off x="2803525" y="6307138"/>
            <a:ext cx="555625" cy="1587"/>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5" name="Text Box 21"/>
          <p:cNvSpPr txBox="1">
            <a:spLocks noChangeArrowheads="1"/>
          </p:cNvSpPr>
          <p:nvPr/>
        </p:nvSpPr>
        <p:spPr bwMode="auto">
          <a:xfrm>
            <a:off x="1847850" y="4868863"/>
            <a:ext cx="50323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lang="zh-CN" altLang="en-US" sz="1800">
                <a:latin typeface="Verdana" panose="020B0604030504040204" pitchFamily="34" charset="0"/>
                <a:ea typeface="宋体" panose="02010600030101010101" pitchFamily="2" charset="-122"/>
              </a:rPr>
              <a:t>插入前</a:t>
            </a:r>
          </a:p>
        </p:txBody>
      </p:sp>
      <p:sp>
        <p:nvSpPr>
          <p:cNvPr id="52246" name="Rectangle 22"/>
          <p:cNvSpPr>
            <a:spLocks noChangeArrowheads="1"/>
          </p:cNvSpPr>
          <p:nvPr/>
        </p:nvSpPr>
        <p:spPr bwMode="auto">
          <a:xfrm>
            <a:off x="7172325" y="5305425"/>
            <a:ext cx="838200"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2247" name="Rectangle 23"/>
          <p:cNvSpPr>
            <a:spLocks noChangeArrowheads="1"/>
          </p:cNvSpPr>
          <p:nvPr/>
        </p:nvSpPr>
        <p:spPr bwMode="auto">
          <a:xfrm>
            <a:off x="8543925" y="5305425"/>
            <a:ext cx="838200"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2248" name="Rectangle 24"/>
          <p:cNvSpPr>
            <a:spLocks noChangeArrowheads="1"/>
          </p:cNvSpPr>
          <p:nvPr/>
        </p:nvSpPr>
        <p:spPr bwMode="auto">
          <a:xfrm>
            <a:off x="7858125" y="6067425"/>
            <a:ext cx="838200"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2249" name="Line 25"/>
          <p:cNvSpPr>
            <a:spLocks noChangeShapeType="1"/>
          </p:cNvSpPr>
          <p:nvPr/>
        </p:nvSpPr>
        <p:spPr bwMode="auto">
          <a:xfrm>
            <a:off x="7629525" y="5305425"/>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0" name="Line 26"/>
          <p:cNvSpPr>
            <a:spLocks noChangeShapeType="1"/>
          </p:cNvSpPr>
          <p:nvPr/>
        </p:nvSpPr>
        <p:spPr bwMode="auto">
          <a:xfrm>
            <a:off x="8315325" y="6067425"/>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1" name="Line 27"/>
          <p:cNvSpPr>
            <a:spLocks noChangeShapeType="1"/>
          </p:cNvSpPr>
          <p:nvPr/>
        </p:nvSpPr>
        <p:spPr bwMode="auto">
          <a:xfrm>
            <a:off x="9001125" y="5305425"/>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2" name="Line 28"/>
          <p:cNvSpPr>
            <a:spLocks noChangeShapeType="1"/>
          </p:cNvSpPr>
          <p:nvPr/>
        </p:nvSpPr>
        <p:spPr bwMode="auto">
          <a:xfrm>
            <a:off x="7858125" y="5457825"/>
            <a:ext cx="228600" cy="609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3" name="Line 29"/>
          <p:cNvSpPr>
            <a:spLocks noChangeShapeType="1"/>
          </p:cNvSpPr>
          <p:nvPr/>
        </p:nvSpPr>
        <p:spPr bwMode="auto">
          <a:xfrm flipV="1">
            <a:off x="8543925" y="5610225"/>
            <a:ext cx="228600" cy="609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4" name="Line 30"/>
          <p:cNvSpPr>
            <a:spLocks noChangeShapeType="1"/>
          </p:cNvSpPr>
          <p:nvPr/>
        </p:nvSpPr>
        <p:spPr bwMode="auto">
          <a:xfrm>
            <a:off x="6715125" y="5457825"/>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5" name="Text Box 31"/>
          <p:cNvSpPr txBox="1">
            <a:spLocks noChangeArrowheads="1"/>
          </p:cNvSpPr>
          <p:nvPr/>
        </p:nvSpPr>
        <p:spPr bwMode="auto">
          <a:xfrm>
            <a:off x="7248525" y="5229225"/>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en-US" sz="2000">
                <a:latin typeface="Tahoma" panose="020B0604030504040204" pitchFamily="34" charset="0"/>
                <a:ea typeface="宋体" panose="02010600030101010101" pitchFamily="2" charset="-122"/>
              </a:rPr>
              <a:t>x</a:t>
            </a:r>
            <a:endParaRPr kumimoji="1" lang="en-US" altLang="zh-CN" sz="2000">
              <a:latin typeface="Tahoma" panose="020B0604030504040204" pitchFamily="34" charset="0"/>
              <a:ea typeface="宋体" panose="02010600030101010101" pitchFamily="2" charset="-122"/>
            </a:endParaRPr>
          </a:p>
        </p:txBody>
      </p:sp>
      <p:sp>
        <p:nvSpPr>
          <p:cNvPr id="52256" name="Text Box 32"/>
          <p:cNvSpPr txBox="1">
            <a:spLocks noChangeArrowheads="1"/>
          </p:cNvSpPr>
          <p:nvPr/>
        </p:nvSpPr>
        <p:spPr bwMode="auto">
          <a:xfrm>
            <a:off x="7934325" y="5991225"/>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2000">
                <a:latin typeface="Tahoma" panose="020B0604030504040204" pitchFamily="34" charset="0"/>
                <a:ea typeface="宋体" panose="02010600030101010101" pitchFamily="2" charset="-122"/>
              </a:rPr>
              <a:t>b</a:t>
            </a:r>
          </a:p>
        </p:txBody>
      </p:sp>
      <p:sp>
        <p:nvSpPr>
          <p:cNvPr id="52257" name="Text Box 33"/>
          <p:cNvSpPr txBox="1">
            <a:spLocks noChangeArrowheads="1"/>
          </p:cNvSpPr>
          <p:nvPr/>
        </p:nvSpPr>
        <p:spPr bwMode="auto">
          <a:xfrm>
            <a:off x="8620125" y="52292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2000">
                <a:latin typeface="Tahoma" panose="020B0604030504040204" pitchFamily="34" charset="0"/>
                <a:ea typeface="宋体" panose="02010600030101010101" pitchFamily="2" charset="-122"/>
              </a:rPr>
              <a:t>y</a:t>
            </a:r>
          </a:p>
        </p:txBody>
      </p:sp>
      <p:sp>
        <p:nvSpPr>
          <p:cNvPr id="52258" name="Line 34"/>
          <p:cNvSpPr>
            <a:spLocks noChangeShapeType="1"/>
          </p:cNvSpPr>
          <p:nvPr/>
        </p:nvSpPr>
        <p:spPr bwMode="auto">
          <a:xfrm>
            <a:off x="7400925" y="6296025"/>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9" name="Text Box 35"/>
          <p:cNvSpPr txBox="1">
            <a:spLocks noChangeArrowheads="1"/>
          </p:cNvSpPr>
          <p:nvPr/>
        </p:nvSpPr>
        <p:spPr bwMode="auto">
          <a:xfrm>
            <a:off x="7400925" y="59150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2000">
                <a:latin typeface="Tahoma" panose="020B0604030504040204" pitchFamily="34" charset="0"/>
                <a:ea typeface="宋体" panose="02010600030101010101" pitchFamily="2" charset="-122"/>
              </a:rPr>
              <a:t>s</a:t>
            </a:r>
          </a:p>
        </p:txBody>
      </p:sp>
      <p:sp>
        <p:nvSpPr>
          <p:cNvPr id="52260" name="Text Box 36"/>
          <p:cNvSpPr txBox="1">
            <a:spLocks noChangeArrowheads="1"/>
          </p:cNvSpPr>
          <p:nvPr/>
        </p:nvSpPr>
        <p:spPr bwMode="auto">
          <a:xfrm>
            <a:off x="6715125" y="5076825"/>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2000">
                <a:latin typeface="Tahoma" panose="020B0604030504040204" pitchFamily="34" charset="0"/>
                <a:ea typeface="宋体" panose="02010600030101010101" pitchFamily="2" charset="-122"/>
              </a:rPr>
              <a:t>p</a:t>
            </a:r>
          </a:p>
        </p:txBody>
      </p:sp>
      <p:sp>
        <p:nvSpPr>
          <p:cNvPr id="52276" name="Text Box 52"/>
          <p:cNvSpPr txBox="1">
            <a:spLocks noChangeArrowheads="1"/>
          </p:cNvSpPr>
          <p:nvPr/>
        </p:nvSpPr>
        <p:spPr bwMode="auto">
          <a:xfrm>
            <a:off x="6024563" y="5013325"/>
            <a:ext cx="50323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lang="zh-CN" altLang="en-US" sz="1800">
                <a:latin typeface="Verdana" panose="020B0604030504040204" pitchFamily="34" charset="0"/>
                <a:ea typeface="宋体" panose="02010600030101010101" pitchFamily="2" charset="-122"/>
              </a:rPr>
              <a:t>插入后</a:t>
            </a:r>
          </a:p>
        </p:txBody>
      </p:sp>
      <p:sp>
        <p:nvSpPr>
          <p:cNvPr id="52277" name="Line 53"/>
          <p:cNvSpPr>
            <a:spLocks noChangeShapeType="1"/>
          </p:cNvSpPr>
          <p:nvPr/>
        </p:nvSpPr>
        <p:spPr bwMode="auto">
          <a:xfrm>
            <a:off x="9191625" y="5445125"/>
            <a:ext cx="665163" cy="15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 calcmode="lin" valueType="num">
                                      <p:cBhvr additive="base">
                                        <p:cTn id="7" dur="500" fill="hold"/>
                                        <p:tgtEl>
                                          <p:spTgt spid="5222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227">
                                            <p:txEl>
                                              <p:pRg st="2" end="2"/>
                                            </p:txEl>
                                          </p:spTgt>
                                        </p:tgtEl>
                                        <p:attrNameLst>
                                          <p:attrName>style.visibility</p:attrName>
                                        </p:attrNameLst>
                                      </p:cBhvr>
                                      <p:to>
                                        <p:strVal val="visible"/>
                                      </p:to>
                                    </p:set>
                                    <p:anim calcmode="lin" valueType="num">
                                      <p:cBhvr additive="base">
                                        <p:cTn id="13" dur="500" fill="hold"/>
                                        <p:tgtEl>
                                          <p:spTgt spid="5222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2227">
                                            <p:txEl>
                                              <p:pRg st="3" end="3"/>
                                            </p:txEl>
                                          </p:spTgt>
                                        </p:tgtEl>
                                        <p:attrNameLst>
                                          <p:attrName>style.visibility</p:attrName>
                                        </p:attrNameLst>
                                      </p:cBhvr>
                                      <p:to>
                                        <p:strVal val="visible"/>
                                      </p:to>
                                    </p:set>
                                    <p:anim calcmode="lin" valueType="num">
                                      <p:cBhvr additive="base">
                                        <p:cTn id="19" dur="500" fill="hold"/>
                                        <p:tgtEl>
                                          <p:spTgt spid="522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52228"/>
                                        </p:tgtEl>
                                        <p:attrNameLst>
                                          <p:attrName>style.visibility</p:attrName>
                                        </p:attrNameLst>
                                      </p:cBhvr>
                                      <p:to>
                                        <p:strVal val="visible"/>
                                      </p:to>
                                    </p:set>
                                    <p:animEffect transition="in" filter="checkerboard(across)">
                                      <p:cBhvr>
                                        <p:cTn id="25" dur="500"/>
                                        <p:tgtEl>
                                          <p:spTgt spid="52228"/>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52229"/>
                                        </p:tgtEl>
                                        <p:attrNameLst>
                                          <p:attrName>style.visibility</p:attrName>
                                        </p:attrNameLst>
                                      </p:cBhvr>
                                      <p:to>
                                        <p:strVal val="visible"/>
                                      </p:to>
                                    </p:set>
                                    <p:animEffect transition="in" filter="checkerboard(across)">
                                      <p:cBhvr>
                                        <p:cTn id="28" dur="500"/>
                                        <p:tgtEl>
                                          <p:spTgt spid="52229"/>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52230"/>
                                        </p:tgtEl>
                                        <p:attrNameLst>
                                          <p:attrName>style.visibility</p:attrName>
                                        </p:attrNameLst>
                                      </p:cBhvr>
                                      <p:to>
                                        <p:strVal val="visible"/>
                                      </p:to>
                                    </p:set>
                                    <p:animEffect transition="in" filter="checkerboard(across)">
                                      <p:cBhvr>
                                        <p:cTn id="31" dur="500"/>
                                        <p:tgtEl>
                                          <p:spTgt spid="52230"/>
                                        </p:tgtEl>
                                      </p:cBhvr>
                                    </p:animEffect>
                                  </p:childTnLst>
                                </p:cTn>
                              </p:par>
                              <p:par>
                                <p:cTn id="32" presetID="5" presetClass="entr" presetSubtype="10" fill="hold" nodeType="withEffect">
                                  <p:stCondLst>
                                    <p:cond delay="0"/>
                                  </p:stCondLst>
                                  <p:childTnLst>
                                    <p:set>
                                      <p:cBhvr>
                                        <p:cTn id="33" dur="1" fill="hold">
                                          <p:stCondLst>
                                            <p:cond delay="0"/>
                                          </p:stCondLst>
                                        </p:cTn>
                                        <p:tgtEl>
                                          <p:spTgt spid="52231"/>
                                        </p:tgtEl>
                                        <p:attrNameLst>
                                          <p:attrName>style.visibility</p:attrName>
                                        </p:attrNameLst>
                                      </p:cBhvr>
                                      <p:to>
                                        <p:strVal val="visible"/>
                                      </p:to>
                                    </p:set>
                                    <p:animEffect transition="in" filter="checkerboard(across)">
                                      <p:cBhvr>
                                        <p:cTn id="34" dur="500"/>
                                        <p:tgtEl>
                                          <p:spTgt spid="52231"/>
                                        </p:tgtEl>
                                      </p:cBhvr>
                                    </p:animEffect>
                                  </p:childTnLst>
                                </p:cTn>
                              </p:par>
                              <p:par>
                                <p:cTn id="35" presetID="5" presetClass="entr" presetSubtype="10" fill="hold" nodeType="withEffect">
                                  <p:stCondLst>
                                    <p:cond delay="0"/>
                                  </p:stCondLst>
                                  <p:childTnLst>
                                    <p:set>
                                      <p:cBhvr>
                                        <p:cTn id="36" dur="1" fill="hold">
                                          <p:stCondLst>
                                            <p:cond delay="0"/>
                                          </p:stCondLst>
                                        </p:cTn>
                                        <p:tgtEl>
                                          <p:spTgt spid="52232"/>
                                        </p:tgtEl>
                                        <p:attrNameLst>
                                          <p:attrName>style.visibility</p:attrName>
                                        </p:attrNameLst>
                                      </p:cBhvr>
                                      <p:to>
                                        <p:strVal val="visible"/>
                                      </p:to>
                                    </p:set>
                                    <p:animEffect transition="in" filter="checkerboard(across)">
                                      <p:cBhvr>
                                        <p:cTn id="37" dur="500"/>
                                        <p:tgtEl>
                                          <p:spTgt spid="52232"/>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52233"/>
                                        </p:tgtEl>
                                        <p:attrNameLst>
                                          <p:attrName>style.visibility</p:attrName>
                                        </p:attrNameLst>
                                      </p:cBhvr>
                                      <p:to>
                                        <p:strVal val="visible"/>
                                      </p:to>
                                    </p:set>
                                    <p:animEffect transition="in" filter="checkerboard(across)">
                                      <p:cBhvr>
                                        <p:cTn id="40" dur="500"/>
                                        <p:tgtEl>
                                          <p:spTgt spid="52233"/>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52234"/>
                                        </p:tgtEl>
                                        <p:attrNameLst>
                                          <p:attrName>style.visibility</p:attrName>
                                        </p:attrNameLst>
                                      </p:cBhvr>
                                      <p:to>
                                        <p:strVal val="visible"/>
                                      </p:to>
                                    </p:set>
                                    <p:animEffect transition="in" filter="checkerboard(across)">
                                      <p:cBhvr>
                                        <p:cTn id="43" dur="500"/>
                                        <p:tgtEl>
                                          <p:spTgt spid="52234"/>
                                        </p:tgtEl>
                                      </p:cBhvr>
                                    </p:animEffect>
                                  </p:childTnLst>
                                </p:cTn>
                              </p:par>
                              <p:par>
                                <p:cTn id="44" presetID="5" presetClass="entr" presetSubtype="10" fill="hold" nodeType="withEffect">
                                  <p:stCondLst>
                                    <p:cond delay="0"/>
                                  </p:stCondLst>
                                  <p:childTnLst>
                                    <p:set>
                                      <p:cBhvr>
                                        <p:cTn id="45" dur="1" fill="hold">
                                          <p:stCondLst>
                                            <p:cond delay="0"/>
                                          </p:stCondLst>
                                        </p:cTn>
                                        <p:tgtEl>
                                          <p:spTgt spid="52235"/>
                                        </p:tgtEl>
                                        <p:attrNameLst>
                                          <p:attrName>style.visibility</p:attrName>
                                        </p:attrNameLst>
                                      </p:cBhvr>
                                      <p:to>
                                        <p:strVal val="visible"/>
                                      </p:to>
                                    </p:set>
                                    <p:animEffect transition="in" filter="checkerboard(across)">
                                      <p:cBhvr>
                                        <p:cTn id="46" dur="500"/>
                                        <p:tgtEl>
                                          <p:spTgt spid="52235"/>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52237"/>
                                        </p:tgtEl>
                                        <p:attrNameLst>
                                          <p:attrName>style.visibility</p:attrName>
                                        </p:attrNameLst>
                                      </p:cBhvr>
                                      <p:to>
                                        <p:strVal val="visible"/>
                                      </p:to>
                                    </p:set>
                                    <p:animEffect transition="in" filter="checkerboard(across)">
                                      <p:cBhvr>
                                        <p:cTn id="49" dur="500"/>
                                        <p:tgtEl>
                                          <p:spTgt spid="52237"/>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52238"/>
                                        </p:tgtEl>
                                        <p:attrNameLst>
                                          <p:attrName>style.visibility</p:attrName>
                                        </p:attrNameLst>
                                      </p:cBhvr>
                                      <p:to>
                                        <p:strVal val="visible"/>
                                      </p:to>
                                    </p:set>
                                    <p:animEffect transition="in" filter="checkerboard(across)">
                                      <p:cBhvr>
                                        <p:cTn id="52" dur="500"/>
                                        <p:tgtEl>
                                          <p:spTgt spid="52238"/>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52239"/>
                                        </p:tgtEl>
                                        <p:attrNameLst>
                                          <p:attrName>style.visibility</p:attrName>
                                        </p:attrNameLst>
                                      </p:cBhvr>
                                      <p:to>
                                        <p:strVal val="visible"/>
                                      </p:to>
                                    </p:set>
                                    <p:animEffect transition="in" filter="checkerboard(across)">
                                      <p:cBhvr>
                                        <p:cTn id="55" dur="500"/>
                                        <p:tgtEl>
                                          <p:spTgt spid="52239"/>
                                        </p:tgtEl>
                                      </p:cBhvr>
                                    </p:animEffect>
                                  </p:childTnLst>
                                </p:cTn>
                              </p:par>
                              <p:par>
                                <p:cTn id="56" presetID="5" presetClass="entr" presetSubtype="10" fill="hold" nodeType="withEffect">
                                  <p:stCondLst>
                                    <p:cond delay="0"/>
                                  </p:stCondLst>
                                  <p:childTnLst>
                                    <p:set>
                                      <p:cBhvr>
                                        <p:cTn id="57" dur="1" fill="hold">
                                          <p:stCondLst>
                                            <p:cond delay="0"/>
                                          </p:stCondLst>
                                        </p:cTn>
                                        <p:tgtEl>
                                          <p:spTgt spid="52240"/>
                                        </p:tgtEl>
                                        <p:attrNameLst>
                                          <p:attrName>style.visibility</p:attrName>
                                        </p:attrNameLst>
                                      </p:cBhvr>
                                      <p:to>
                                        <p:strVal val="visible"/>
                                      </p:to>
                                    </p:set>
                                    <p:animEffect transition="in" filter="checkerboard(across)">
                                      <p:cBhvr>
                                        <p:cTn id="58" dur="500"/>
                                        <p:tgtEl>
                                          <p:spTgt spid="52240"/>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52241"/>
                                        </p:tgtEl>
                                        <p:attrNameLst>
                                          <p:attrName>style.visibility</p:attrName>
                                        </p:attrNameLst>
                                      </p:cBhvr>
                                      <p:to>
                                        <p:strVal val="visible"/>
                                      </p:to>
                                    </p:set>
                                    <p:animEffect transition="in" filter="checkerboard(across)">
                                      <p:cBhvr>
                                        <p:cTn id="61" dur="500"/>
                                        <p:tgtEl>
                                          <p:spTgt spid="52241"/>
                                        </p:tgtEl>
                                      </p:cBhvr>
                                    </p:animEffect>
                                  </p:childTnLst>
                                </p:cTn>
                              </p:par>
                              <p:par>
                                <p:cTn id="62" presetID="5" presetClass="entr" presetSubtype="10" fill="hold" nodeType="withEffect">
                                  <p:stCondLst>
                                    <p:cond delay="0"/>
                                  </p:stCondLst>
                                  <p:childTnLst>
                                    <p:set>
                                      <p:cBhvr>
                                        <p:cTn id="63" dur="1" fill="hold">
                                          <p:stCondLst>
                                            <p:cond delay="0"/>
                                          </p:stCondLst>
                                        </p:cTn>
                                        <p:tgtEl>
                                          <p:spTgt spid="52242"/>
                                        </p:tgtEl>
                                        <p:attrNameLst>
                                          <p:attrName>style.visibility</p:attrName>
                                        </p:attrNameLst>
                                      </p:cBhvr>
                                      <p:to>
                                        <p:strVal val="visible"/>
                                      </p:to>
                                    </p:set>
                                    <p:animEffect transition="in" filter="checkerboard(across)">
                                      <p:cBhvr>
                                        <p:cTn id="64" dur="500"/>
                                        <p:tgtEl>
                                          <p:spTgt spid="52242"/>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52245"/>
                                        </p:tgtEl>
                                        <p:attrNameLst>
                                          <p:attrName>style.visibility</p:attrName>
                                        </p:attrNameLst>
                                      </p:cBhvr>
                                      <p:to>
                                        <p:strVal val="visible"/>
                                      </p:to>
                                    </p:set>
                                    <p:animEffect transition="in" filter="checkerboard(across)">
                                      <p:cBhvr>
                                        <p:cTn id="67" dur="500"/>
                                        <p:tgtEl>
                                          <p:spTgt spid="52245"/>
                                        </p:tgtEl>
                                      </p:cBhvr>
                                    </p:animEffect>
                                  </p:childTnLst>
                                </p:cTn>
                              </p:par>
                              <p:par>
                                <p:cTn id="68" presetID="3" presetClass="entr" presetSubtype="10" fill="hold" nodeType="withEffect">
                                  <p:stCondLst>
                                    <p:cond delay="0"/>
                                  </p:stCondLst>
                                  <p:childTnLst>
                                    <p:set>
                                      <p:cBhvr>
                                        <p:cTn id="69" dur="1" fill="hold">
                                          <p:stCondLst>
                                            <p:cond delay="0"/>
                                          </p:stCondLst>
                                        </p:cTn>
                                        <p:tgtEl>
                                          <p:spTgt spid="52236"/>
                                        </p:tgtEl>
                                        <p:attrNameLst>
                                          <p:attrName>style.visibility</p:attrName>
                                        </p:attrNameLst>
                                      </p:cBhvr>
                                      <p:to>
                                        <p:strVal val="visible"/>
                                      </p:to>
                                    </p:set>
                                    <p:animEffect transition="in" filter="blinds(horizontal)">
                                      <p:cBhvr>
                                        <p:cTn id="70" dur="500"/>
                                        <p:tgtEl>
                                          <p:spTgt spid="5223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8" presetClass="entr" presetSubtype="16" fill="hold" grpId="0" nodeType="clickEffect">
                                  <p:stCondLst>
                                    <p:cond delay="0"/>
                                  </p:stCondLst>
                                  <p:childTnLst>
                                    <p:set>
                                      <p:cBhvr>
                                        <p:cTn id="74" dur="1" fill="hold">
                                          <p:stCondLst>
                                            <p:cond delay="0"/>
                                          </p:stCondLst>
                                        </p:cTn>
                                        <p:tgtEl>
                                          <p:spTgt spid="52246"/>
                                        </p:tgtEl>
                                        <p:attrNameLst>
                                          <p:attrName>style.visibility</p:attrName>
                                        </p:attrNameLst>
                                      </p:cBhvr>
                                      <p:to>
                                        <p:strVal val="visible"/>
                                      </p:to>
                                    </p:set>
                                    <p:animEffect transition="in" filter="diamond(in)">
                                      <p:cBhvr>
                                        <p:cTn id="75" dur="2000"/>
                                        <p:tgtEl>
                                          <p:spTgt spid="52246"/>
                                        </p:tgtEl>
                                      </p:cBhvr>
                                    </p:animEffect>
                                  </p:childTnLst>
                                </p:cTn>
                              </p:par>
                              <p:par>
                                <p:cTn id="76" presetID="8" presetClass="entr" presetSubtype="16" fill="hold" grpId="0" nodeType="withEffect">
                                  <p:stCondLst>
                                    <p:cond delay="0"/>
                                  </p:stCondLst>
                                  <p:childTnLst>
                                    <p:set>
                                      <p:cBhvr>
                                        <p:cTn id="77" dur="1" fill="hold">
                                          <p:stCondLst>
                                            <p:cond delay="0"/>
                                          </p:stCondLst>
                                        </p:cTn>
                                        <p:tgtEl>
                                          <p:spTgt spid="52247"/>
                                        </p:tgtEl>
                                        <p:attrNameLst>
                                          <p:attrName>style.visibility</p:attrName>
                                        </p:attrNameLst>
                                      </p:cBhvr>
                                      <p:to>
                                        <p:strVal val="visible"/>
                                      </p:to>
                                    </p:set>
                                    <p:animEffect transition="in" filter="diamond(in)">
                                      <p:cBhvr>
                                        <p:cTn id="78" dur="2000"/>
                                        <p:tgtEl>
                                          <p:spTgt spid="52247"/>
                                        </p:tgtEl>
                                      </p:cBhvr>
                                    </p:animEffect>
                                  </p:childTnLst>
                                </p:cTn>
                              </p:par>
                              <p:par>
                                <p:cTn id="79" presetID="8" presetClass="entr" presetSubtype="16" fill="hold" grpId="0" nodeType="withEffect">
                                  <p:stCondLst>
                                    <p:cond delay="0"/>
                                  </p:stCondLst>
                                  <p:childTnLst>
                                    <p:set>
                                      <p:cBhvr>
                                        <p:cTn id="80" dur="1" fill="hold">
                                          <p:stCondLst>
                                            <p:cond delay="0"/>
                                          </p:stCondLst>
                                        </p:cTn>
                                        <p:tgtEl>
                                          <p:spTgt spid="52248"/>
                                        </p:tgtEl>
                                        <p:attrNameLst>
                                          <p:attrName>style.visibility</p:attrName>
                                        </p:attrNameLst>
                                      </p:cBhvr>
                                      <p:to>
                                        <p:strVal val="visible"/>
                                      </p:to>
                                    </p:set>
                                    <p:animEffect transition="in" filter="diamond(in)">
                                      <p:cBhvr>
                                        <p:cTn id="81" dur="2000"/>
                                        <p:tgtEl>
                                          <p:spTgt spid="52248"/>
                                        </p:tgtEl>
                                      </p:cBhvr>
                                    </p:animEffect>
                                  </p:childTnLst>
                                </p:cTn>
                              </p:par>
                              <p:par>
                                <p:cTn id="82" presetID="8" presetClass="entr" presetSubtype="16" fill="hold" nodeType="withEffect">
                                  <p:stCondLst>
                                    <p:cond delay="0"/>
                                  </p:stCondLst>
                                  <p:childTnLst>
                                    <p:set>
                                      <p:cBhvr>
                                        <p:cTn id="83" dur="1" fill="hold">
                                          <p:stCondLst>
                                            <p:cond delay="0"/>
                                          </p:stCondLst>
                                        </p:cTn>
                                        <p:tgtEl>
                                          <p:spTgt spid="52249"/>
                                        </p:tgtEl>
                                        <p:attrNameLst>
                                          <p:attrName>style.visibility</p:attrName>
                                        </p:attrNameLst>
                                      </p:cBhvr>
                                      <p:to>
                                        <p:strVal val="visible"/>
                                      </p:to>
                                    </p:set>
                                    <p:animEffect transition="in" filter="diamond(in)">
                                      <p:cBhvr>
                                        <p:cTn id="84" dur="2000"/>
                                        <p:tgtEl>
                                          <p:spTgt spid="52249"/>
                                        </p:tgtEl>
                                      </p:cBhvr>
                                    </p:animEffect>
                                  </p:childTnLst>
                                </p:cTn>
                              </p:par>
                              <p:par>
                                <p:cTn id="85" presetID="8" presetClass="entr" presetSubtype="16" fill="hold" nodeType="withEffect">
                                  <p:stCondLst>
                                    <p:cond delay="0"/>
                                  </p:stCondLst>
                                  <p:childTnLst>
                                    <p:set>
                                      <p:cBhvr>
                                        <p:cTn id="86" dur="1" fill="hold">
                                          <p:stCondLst>
                                            <p:cond delay="0"/>
                                          </p:stCondLst>
                                        </p:cTn>
                                        <p:tgtEl>
                                          <p:spTgt spid="52250"/>
                                        </p:tgtEl>
                                        <p:attrNameLst>
                                          <p:attrName>style.visibility</p:attrName>
                                        </p:attrNameLst>
                                      </p:cBhvr>
                                      <p:to>
                                        <p:strVal val="visible"/>
                                      </p:to>
                                    </p:set>
                                    <p:animEffect transition="in" filter="diamond(in)">
                                      <p:cBhvr>
                                        <p:cTn id="87" dur="2000"/>
                                        <p:tgtEl>
                                          <p:spTgt spid="52250"/>
                                        </p:tgtEl>
                                      </p:cBhvr>
                                    </p:animEffect>
                                  </p:childTnLst>
                                </p:cTn>
                              </p:par>
                              <p:par>
                                <p:cTn id="88" presetID="8" presetClass="entr" presetSubtype="16" fill="hold" nodeType="withEffect">
                                  <p:stCondLst>
                                    <p:cond delay="0"/>
                                  </p:stCondLst>
                                  <p:childTnLst>
                                    <p:set>
                                      <p:cBhvr>
                                        <p:cTn id="89" dur="1" fill="hold">
                                          <p:stCondLst>
                                            <p:cond delay="0"/>
                                          </p:stCondLst>
                                        </p:cTn>
                                        <p:tgtEl>
                                          <p:spTgt spid="52251"/>
                                        </p:tgtEl>
                                        <p:attrNameLst>
                                          <p:attrName>style.visibility</p:attrName>
                                        </p:attrNameLst>
                                      </p:cBhvr>
                                      <p:to>
                                        <p:strVal val="visible"/>
                                      </p:to>
                                    </p:set>
                                    <p:animEffect transition="in" filter="diamond(in)">
                                      <p:cBhvr>
                                        <p:cTn id="90" dur="2000"/>
                                        <p:tgtEl>
                                          <p:spTgt spid="52251"/>
                                        </p:tgtEl>
                                      </p:cBhvr>
                                    </p:animEffect>
                                  </p:childTnLst>
                                </p:cTn>
                              </p:par>
                              <p:par>
                                <p:cTn id="91" presetID="8" presetClass="entr" presetSubtype="16" fill="hold" nodeType="withEffect">
                                  <p:stCondLst>
                                    <p:cond delay="0"/>
                                  </p:stCondLst>
                                  <p:childTnLst>
                                    <p:set>
                                      <p:cBhvr>
                                        <p:cTn id="92" dur="1" fill="hold">
                                          <p:stCondLst>
                                            <p:cond delay="0"/>
                                          </p:stCondLst>
                                        </p:cTn>
                                        <p:tgtEl>
                                          <p:spTgt spid="52252"/>
                                        </p:tgtEl>
                                        <p:attrNameLst>
                                          <p:attrName>style.visibility</p:attrName>
                                        </p:attrNameLst>
                                      </p:cBhvr>
                                      <p:to>
                                        <p:strVal val="visible"/>
                                      </p:to>
                                    </p:set>
                                    <p:animEffect transition="in" filter="diamond(in)">
                                      <p:cBhvr>
                                        <p:cTn id="93" dur="2000"/>
                                        <p:tgtEl>
                                          <p:spTgt spid="52252"/>
                                        </p:tgtEl>
                                      </p:cBhvr>
                                    </p:animEffect>
                                  </p:childTnLst>
                                </p:cTn>
                              </p:par>
                              <p:par>
                                <p:cTn id="94" presetID="8" presetClass="entr" presetSubtype="16" fill="hold" nodeType="withEffect">
                                  <p:stCondLst>
                                    <p:cond delay="0"/>
                                  </p:stCondLst>
                                  <p:childTnLst>
                                    <p:set>
                                      <p:cBhvr>
                                        <p:cTn id="95" dur="1" fill="hold">
                                          <p:stCondLst>
                                            <p:cond delay="0"/>
                                          </p:stCondLst>
                                        </p:cTn>
                                        <p:tgtEl>
                                          <p:spTgt spid="52253"/>
                                        </p:tgtEl>
                                        <p:attrNameLst>
                                          <p:attrName>style.visibility</p:attrName>
                                        </p:attrNameLst>
                                      </p:cBhvr>
                                      <p:to>
                                        <p:strVal val="visible"/>
                                      </p:to>
                                    </p:set>
                                    <p:animEffect transition="in" filter="diamond(in)">
                                      <p:cBhvr>
                                        <p:cTn id="96" dur="2000"/>
                                        <p:tgtEl>
                                          <p:spTgt spid="52253"/>
                                        </p:tgtEl>
                                      </p:cBhvr>
                                    </p:animEffect>
                                  </p:childTnLst>
                                </p:cTn>
                              </p:par>
                              <p:par>
                                <p:cTn id="97" presetID="8" presetClass="entr" presetSubtype="16" fill="hold" nodeType="withEffect">
                                  <p:stCondLst>
                                    <p:cond delay="0"/>
                                  </p:stCondLst>
                                  <p:childTnLst>
                                    <p:set>
                                      <p:cBhvr>
                                        <p:cTn id="98" dur="1" fill="hold">
                                          <p:stCondLst>
                                            <p:cond delay="0"/>
                                          </p:stCondLst>
                                        </p:cTn>
                                        <p:tgtEl>
                                          <p:spTgt spid="52254"/>
                                        </p:tgtEl>
                                        <p:attrNameLst>
                                          <p:attrName>style.visibility</p:attrName>
                                        </p:attrNameLst>
                                      </p:cBhvr>
                                      <p:to>
                                        <p:strVal val="visible"/>
                                      </p:to>
                                    </p:set>
                                    <p:animEffect transition="in" filter="diamond(in)">
                                      <p:cBhvr>
                                        <p:cTn id="99" dur="2000"/>
                                        <p:tgtEl>
                                          <p:spTgt spid="52254"/>
                                        </p:tgtEl>
                                      </p:cBhvr>
                                    </p:animEffect>
                                  </p:childTnLst>
                                </p:cTn>
                              </p:par>
                              <p:par>
                                <p:cTn id="100" presetID="8" presetClass="entr" presetSubtype="16" fill="hold" grpId="0" nodeType="withEffect">
                                  <p:stCondLst>
                                    <p:cond delay="0"/>
                                  </p:stCondLst>
                                  <p:childTnLst>
                                    <p:set>
                                      <p:cBhvr>
                                        <p:cTn id="101" dur="1" fill="hold">
                                          <p:stCondLst>
                                            <p:cond delay="0"/>
                                          </p:stCondLst>
                                        </p:cTn>
                                        <p:tgtEl>
                                          <p:spTgt spid="52255"/>
                                        </p:tgtEl>
                                        <p:attrNameLst>
                                          <p:attrName>style.visibility</p:attrName>
                                        </p:attrNameLst>
                                      </p:cBhvr>
                                      <p:to>
                                        <p:strVal val="visible"/>
                                      </p:to>
                                    </p:set>
                                    <p:animEffect transition="in" filter="diamond(in)">
                                      <p:cBhvr>
                                        <p:cTn id="102" dur="2000"/>
                                        <p:tgtEl>
                                          <p:spTgt spid="52255"/>
                                        </p:tgtEl>
                                      </p:cBhvr>
                                    </p:animEffect>
                                  </p:childTnLst>
                                </p:cTn>
                              </p:par>
                              <p:par>
                                <p:cTn id="103" presetID="8" presetClass="entr" presetSubtype="16" fill="hold" grpId="0" nodeType="withEffect">
                                  <p:stCondLst>
                                    <p:cond delay="0"/>
                                  </p:stCondLst>
                                  <p:childTnLst>
                                    <p:set>
                                      <p:cBhvr>
                                        <p:cTn id="104" dur="1" fill="hold">
                                          <p:stCondLst>
                                            <p:cond delay="0"/>
                                          </p:stCondLst>
                                        </p:cTn>
                                        <p:tgtEl>
                                          <p:spTgt spid="52256"/>
                                        </p:tgtEl>
                                        <p:attrNameLst>
                                          <p:attrName>style.visibility</p:attrName>
                                        </p:attrNameLst>
                                      </p:cBhvr>
                                      <p:to>
                                        <p:strVal val="visible"/>
                                      </p:to>
                                    </p:set>
                                    <p:animEffect transition="in" filter="diamond(in)">
                                      <p:cBhvr>
                                        <p:cTn id="105" dur="2000"/>
                                        <p:tgtEl>
                                          <p:spTgt spid="52256"/>
                                        </p:tgtEl>
                                      </p:cBhvr>
                                    </p:animEffect>
                                  </p:childTnLst>
                                </p:cTn>
                              </p:par>
                              <p:par>
                                <p:cTn id="106" presetID="8" presetClass="entr" presetSubtype="16" fill="hold" grpId="0" nodeType="withEffect">
                                  <p:stCondLst>
                                    <p:cond delay="0"/>
                                  </p:stCondLst>
                                  <p:childTnLst>
                                    <p:set>
                                      <p:cBhvr>
                                        <p:cTn id="107" dur="1" fill="hold">
                                          <p:stCondLst>
                                            <p:cond delay="0"/>
                                          </p:stCondLst>
                                        </p:cTn>
                                        <p:tgtEl>
                                          <p:spTgt spid="52257"/>
                                        </p:tgtEl>
                                        <p:attrNameLst>
                                          <p:attrName>style.visibility</p:attrName>
                                        </p:attrNameLst>
                                      </p:cBhvr>
                                      <p:to>
                                        <p:strVal val="visible"/>
                                      </p:to>
                                    </p:set>
                                    <p:animEffect transition="in" filter="diamond(in)">
                                      <p:cBhvr>
                                        <p:cTn id="108" dur="2000"/>
                                        <p:tgtEl>
                                          <p:spTgt spid="52257"/>
                                        </p:tgtEl>
                                      </p:cBhvr>
                                    </p:animEffect>
                                  </p:childTnLst>
                                </p:cTn>
                              </p:par>
                              <p:par>
                                <p:cTn id="109" presetID="8" presetClass="entr" presetSubtype="16" fill="hold" nodeType="withEffect">
                                  <p:stCondLst>
                                    <p:cond delay="0"/>
                                  </p:stCondLst>
                                  <p:childTnLst>
                                    <p:set>
                                      <p:cBhvr>
                                        <p:cTn id="110" dur="1" fill="hold">
                                          <p:stCondLst>
                                            <p:cond delay="0"/>
                                          </p:stCondLst>
                                        </p:cTn>
                                        <p:tgtEl>
                                          <p:spTgt spid="52258"/>
                                        </p:tgtEl>
                                        <p:attrNameLst>
                                          <p:attrName>style.visibility</p:attrName>
                                        </p:attrNameLst>
                                      </p:cBhvr>
                                      <p:to>
                                        <p:strVal val="visible"/>
                                      </p:to>
                                    </p:set>
                                    <p:animEffect transition="in" filter="diamond(in)">
                                      <p:cBhvr>
                                        <p:cTn id="111" dur="2000"/>
                                        <p:tgtEl>
                                          <p:spTgt spid="52258"/>
                                        </p:tgtEl>
                                      </p:cBhvr>
                                    </p:animEffect>
                                  </p:childTnLst>
                                </p:cTn>
                              </p:par>
                              <p:par>
                                <p:cTn id="112" presetID="8" presetClass="entr" presetSubtype="16" fill="hold" grpId="0" nodeType="withEffect">
                                  <p:stCondLst>
                                    <p:cond delay="0"/>
                                  </p:stCondLst>
                                  <p:childTnLst>
                                    <p:set>
                                      <p:cBhvr>
                                        <p:cTn id="113" dur="1" fill="hold">
                                          <p:stCondLst>
                                            <p:cond delay="0"/>
                                          </p:stCondLst>
                                        </p:cTn>
                                        <p:tgtEl>
                                          <p:spTgt spid="52259"/>
                                        </p:tgtEl>
                                        <p:attrNameLst>
                                          <p:attrName>style.visibility</p:attrName>
                                        </p:attrNameLst>
                                      </p:cBhvr>
                                      <p:to>
                                        <p:strVal val="visible"/>
                                      </p:to>
                                    </p:set>
                                    <p:animEffect transition="in" filter="diamond(in)">
                                      <p:cBhvr>
                                        <p:cTn id="114" dur="2000"/>
                                        <p:tgtEl>
                                          <p:spTgt spid="52259"/>
                                        </p:tgtEl>
                                      </p:cBhvr>
                                    </p:animEffect>
                                  </p:childTnLst>
                                </p:cTn>
                              </p:par>
                              <p:par>
                                <p:cTn id="115" presetID="8" presetClass="entr" presetSubtype="16" fill="hold" grpId="0" nodeType="withEffect">
                                  <p:stCondLst>
                                    <p:cond delay="0"/>
                                  </p:stCondLst>
                                  <p:childTnLst>
                                    <p:set>
                                      <p:cBhvr>
                                        <p:cTn id="116" dur="1" fill="hold">
                                          <p:stCondLst>
                                            <p:cond delay="0"/>
                                          </p:stCondLst>
                                        </p:cTn>
                                        <p:tgtEl>
                                          <p:spTgt spid="52260"/>
                                        </p:tgtEl>
                                        <p:attrNameLst>
                                          <p:attrName>style.visibility</p:attrName>
                                        </p:attrNameLst>
                                      </p:cBhvr>
                                      <p:to>
                                        <p:strVal val="visible"/>
                                      </p:to>
                                    </p:set>
                                    <p:animEffect transition="in" filter="diamond(in)">
                                      <p:cBhvr>
                                        <p:cTn id="117" dur="2000"/>
                                        <p:tgtEl>
                                          <p:spTgt spid="52260"/>
                                        </p:tgtEl>
                                      </p:cBhvr>
                                    </p:animEffect>
                                  </p:childTnLst>
                                </p:cTn>
                              </p:par>
                              <p:par>
                                <p:cTn id="118" presetID="8" presetClass="entr" presetSubtype="16" fill="hold" grpId="0" nodeType="withEffect">
                                  <p:stCondLst>
                                    <p:cond delay="0"/>
                                  </p:stCondLst>
                                  <p:childTnLst>
                                    <p:set>
                                      <p:cBhvr>
                                        <p:cTn id="119" dur="1" fill="hold">
                                          <p:stCondLst>
                                            <p:cond delay="0"/>
                                          </p:stCondLst>
                                        </p:cTn>
                                        <p:tgtEl>
                                          <p:spTgt spid="52276"/>
                                        </p:tgtEl>
                                        <p:attrNameLst>
                                          <p:attrName>style.visibility</p:attrName>
                                        </p:attrNameLst>
                                      </p:cBhvr>
                                      <p:to>
                                        <p:strVal val="visible"/>
                                      </p:to>
                                    </p:set>
                                    <p:animEffect transition="in" filter="diamond(in)">
                                      <p:cBhvr>
                                        <p:cTn id="120" dur="2000"/>
                                        <p:tgtEl>
                                          <p:spTgt spid="52276"/>
                                        </p:tgtEl>
                                      </p:cBhvr>
                                    </p:animEffect>
                                  </p:childTnLst>
                                </p:cTn>
                              </p:par>
                              <p:par>
                                <p:cTn id="121" presetID="3" presetClass="entr" presetSubtype="10" fill="hold" nodeType="withEffect">
                                  <p:stCondLst>
                                    <p:cond delay="0"/>
                                  </p:stCondLst>
                                  <p:childTnLst>
                                    <p:set>
                                      <p:cBhvr>
                                        <p:cTn id="122" dur="1" fill="hold">
                                          <p:stCondLst>
                                            <p:cond delay="0"/>
                                          </p:stCondLst>
                                        </p:cTn>
                                        <p:tgtEl>
                                          <p:spTgt spid="52277"/>
                                        </p:tgtEl>
                                        <p:attrNameLst>
                                          <p:attrName>style.visibility</p:attrName>
                                        </p:attrNameLst>
                                      </p:cBhvr>
                                      <p:to>
                                        <p:strVal val="visible"/>
                                      </p:to>
                                    </p:set>
                                    <p:animEffect transition="in" filter="blinds(horizontal)">
                                      <p:cBhvr>
                                        <p:cTn id="123" dur="500"/>
                                        <p:tgtEl>
                                          <p:spTgt spid="52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animBg="1"/>
      <p:bldP spid="52230" grpId="0"/>
      <p:bldP spid="52233" grpId="0" animBg="1"/>
      <p:bldP spid="52234" grpId="0"/>
      <p:bldP spid="52237" grpId="0"/>
      <p:bldP spid="52238" grpId="0" animBg="1"/>
      <p:bldP spid="52239" grpId="0"/>
      <p:bldP spid="52241" grpId="0"/>
      <p:bldP spid="52245" grpId="0"/>
      <p:bldP spid="52246" grpId="0" animBg="1"/>
      <p:bldP spid="52247" grpId="0" animBg="1"/>
      <p:bldP spid="52248" grpId="0" animBg="1"/>
      <p:bldP spid="52255" grpId="0"/>
      <p:bldP spid="52256" grpId="0"/>
      <p:bldP spid="52257" grpId="0"/>
      <p:bldP spid="52259" grpId="0"/>
      <p:bldP spid="52260" grpId="0"/>
      <p:bldP spid="5227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113667" name="Rectangle 4"/>
          <p:cNvSpPr>
            <a:spLocks noChangeArrowheads="1"/>
          </p:cNvSpPr>
          <p:nvPr/>
        </p:nvSpPr>
        <p:spPr bwMode="auto">
          <a:xfrm>
            <a:off x="7096125" y="3071813"/>
            <a:ext cx="1109663" cy="571500"/>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3668" name="Line 5"/>
          <p:cNvSpPr>
            <a:spLocks noChangeShapeType="1"/>
          </p:cNvSpPr>
          <p:nvPr/>
        </p:nvSpPr>
        <p:spPr bwMode="auto">
          <a:xfrm>
            <a:off x="7683500" y="3071813"/>
            <a:ext cx="0" cy="57150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3669" name="Rectangle 6"/>
          <p:cNvSpPr>
            <a:spLocks noChangeArrowheads="1"/>
          </p:cNvSpPr>
          <p:nvPr/>
        </p:nvSpPr>
        <p:spPr bwMode="auto">
          <a:xfrm>
            <a:off x="5291138" y="3081338"/>
            <a:ext cx="1109662" cy="573087"/>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3670" name="Line 7"/>
          <p:cNvSpPr>
            <a:spLocks noChangeShapeType="1"/>
          </p:cNvSpPr>
          <p:nvPr/>
        </p:nvSpPr>
        <p:spPr bwMode="auto">
          <a:xfrm>
            <a:off x="5878513" y="3081338"/>
            <a:ext cx="0" cy="57308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3671" name="Rectangle 8"/>
          <p:cNvSpPr>
            <a:spLocks noChangeArrowheads="1"/>
          </p:cNvSpPr>
          <p:nvPr/>
        </p:nvSpPr>
        <p:spPr bwMode="auto">
          <a:xfrm>
            <a:off x="3671888" y="3055938"/>
            <a:ext cx="1111250" cy="571500"/>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3672" name="Line 9"/>
          <p:cNvSpPr>
            <a:spLocks noChangeShapeType="1"/>
          </p:cNvSpPr>
          <p:nvPr/>
        </p:nvSpPr>
        <p:spPr bwMode="auto">
          <a:xfrm>
            <a:off x="4259263" y="3055938"/>
            <a:ext cx="0" cy="57150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3673" name="Line 10"/>
          <p:cNvSpPr>
            <a:spLocks noChangeShapeType="1"/>
          </p:cNvSpPr>
          <p:nvPr/>
        </p:nvSpPr>
        <p:spPr bwMode="auto">
          <a:xfrm>
            <a:off x="4489450" y="3359150"/>
            <a:ext cx="69373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3674" name="Line 11"/>
          <p:cNvSpPr>
            <a:spLocks noChangeShapeType="1"/>
          </p:cNvSpPr>
          <p:nvPr/>
        </p:nvSpPr>
        <p:spPr bwMode="auto">
          <a:xfrm>
            <a:off x="5232400" y="2560638"/>
            <a:ext cx="587375" cy="366712"/>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3675" name="Text Box 12"/>
          <p:cNvSpPr txBox="1">
            <a:spLocks noChangeArrowheads="1"/>
          </p:cNvSpPr>
          <p:nvPr/>
        </p:nvSpPr>
        <p:spPr bwMode="auto">
          <a:xfrm>
            <a:off x="4938713" y="2286000"/>
            <a:ext cx="4254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13676" name="Rectangle 13"/>
          <p:cNvSpPr>
            <a:spLocks noChangeArrowheads="1"/>
          </p:cNvSpPr>
          <p:nvPr/>
        </p:nvSpPr>
        <p:spPr bwMode="auto">
          <a:xfrm>
            <a:off x="6273800" y="4171950"/>
            <a:ext cx="1111250" cy="571500"/>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3677" name="Line 14"/>
          <p:cNvSpPr>
            <a:spLocks noChangeShapeType="1"/>
          </p:cNvSpPr>
          <p:nvPr/>
        </p:nvSpPr>
        <p:spPr bwMode="auto">
          <a:xfrm>
            <a:off x="6861175" y="4171950"/>
            <a:ext cx="0" cy="57150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3678" name="Text Box 15"/>
          <p:cNvSpPr txBox="1">
            <a:spLocks noChangeArrowheads="1"/>
          </p:cNvSpPr>
          <p:nvPr/>
        </p:nvSpPr>
        <p:spPr bwMode="auto">
          <a:xfrm>
            <a:off x="5289550" y="4210050"/>
            <a:ext cx="4254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a:t>
            </a:r>
            <a:endParaRPr kumimoji="1" lang="en-US" altLang="zh-CN" sz="1000">
              <a:latin typeface="Times New Roman" panose="02020603050405020304" pitchFamily="18" charset="0"/>
              <a:ea typeface="宋体" panose="02010600030101010101" pitchFamily="2" charset="-122"/>
            </a:endParaRPr>
          </a:p>
        </p:txBody>
      </p:sp>
      <p:sp>
        <p:nvSpPr>
          <p:cNvPr id="113679" name="Line 16"/>
          <p:cNvSpPr>
            <a:spLocks noChangeShapeType="1"/>
          </p:cNvSpPr>
          <p:nvPr/>
        </p:nvSpPr>
        <p:spPr bwMode="auto">
          <a:xfrm>
            <a:off x="5526088" y="4478338"/>
            <a:ext cx="587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3680" name="Line 17"/>
          <p:cNvSpPr>
            <a:spLocks noChangeShapeType="1"/>
          </p:cNvSpPr>
          <p:nvPr/>
        </p:nvSpPr>
        <p:spPr bwMode="auto">
          <a:xfrm>
            <a:off x="6346825" y="3370263"/>
            <a:ext cx="74453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3681" name="Line 18"/>
          <p:cNvSpPr>
            <a:spLocks noChangeShapeType="1"/>
          </p:cNvSpPr>
          <p:nvPr/>
        </p:nvSpPr>
        <p:spPr bwMode="auto">
          <a:xfrm>
            <a:off x="3046413" y="3387725"/>
            <a:ext cx="587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3682" name="Text Box 19"/>
          <p:cNvSpPr txBox="1">
            <a:spLocks noChangeArrowheads="1"/>
          </p:cNvSpPr>
          <p:nvPr/>
        </p:nvSpPr>
        <p:spPr bwMode="auto">
          <a:xfrm>
            <a:off x="4649788" y="5181600"/>
            <a:ext cx="228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在*</a:t>
            </a:r>
            <a:r>
              <a:rPr kumimoji="1" lang="en-US" altLang="zh-CN" sz="2400">
                <a:latin typeface="Times New Roman" panose="02020603050405020304" pitchFamily="18" charset="0"/>
                <a:ea typeface="宋体" panose="02010600030101010101" pitchFamily="2" charset="-122"/>
              </a:rPr>
              <a:t>p</a:t>
            </a:r>
            <a:r>
              <a:rPr kumimoji="1" lang="zh-CN" altLang="en-US" sz="2400">
                <a:latin typeface="Times New Roman" panose="02020603050405020304" pitchFamily="18" charset="0"/>
                <a:ea typeface="宋体" panose="02010600030101010101" pitchFamily="2" charset="-122"/>
              </a:rPr>
              <a:t>之后插入*</a:t>
            </a:r>
            <a:r>
              <a:rPr kumimoji="1" lang="en-US" altLang="zh-CN" sz="2400">
                <a:latin typeface="Times New Roman" panose="02020603050405020304" pitchFamily="18" charset="0"/>
                <a:ea typeface="宋体" panose="02010600030101010101" pitchFamily="2" charset="-122"/>
              </a:rPr>
              <a:t>s</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114691" name="Text Box 4"/>
          <p:cNvSpPr txBox="1">
            <a:spLocks noChangeArrowheads="1"/>
          </p:cNvSpPr>
          <p:nvPr/>
        </p:nvSpPr>
        <p:spPr bwMode="auto">
          <a:xfrm>
            <a:off x="4649788" y="5181600"/>
            <a:ext cx="228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在*</a:t>
            </a:r>
            <a:r>
              <a:rPr kumimoji="1" lang="en-US" altLang="zh-CN" sz="2400">
                <a:latin typeface="Times New Roman" panose="02020603050405020304" pitchFamily="18" charset="0"/>
                <a:ea typeface="宋体" panose="02010600030101010101" pitchFamily="2" charset="-122"/>
              </a:rPr>
              <a:t>p</a:t>
            </a:r>
            <a:r>
              <a:rPr kumimoji="1" lang="zh-CN" altLang="en-US" sz="2400">
                <a:latin typeface="Times New Roman" panose="02020603050405020304" pitchFamily="18" charset="0"/>
                <a:ea typeface="宋体" panose="02010600030101010101" pitchFamily="2" charset="-122"/>
              </a:rPr>
              <a:t>之后插入*</a:t>
            </a:r>
            <a:r>
              <a:rPr kumimoji="1" lang="en-US" altLang="zh-CN" sz="2400">
                <a:latin typeface="Times New Roman" panose="02020603050405020304" pitchFamily="18" charset="0"/>
                <a:ea typeface="宋体" panose="02010600030101010101" pitchFamily="2" charset="-122"/>
              </a:rPr>
              <a:t>s</a:t>
            </a:r>
          </a:p>
        </p:txBody>
      </p:sp>
      <p:sp>
        <p:nvSpPr>
          <p:cNvPr id="114692" name="Text Box 5"/>
          <p:cNvSpPr txBox="1">
            <a:spLocks noChangeArrowheads="1"/>
          </p:cNvSpPr>
          <p:nvPr/>
        </p:nvSpPr>
        <p:spPr bwMode="auto">
          <a:xfrm>
            <a:off x="6629400" y="1670050"/>
            <a:ext cx="35242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①s-&gt;next=p-&gt;next;</a:t>
            </a:r>
          </a:p>
          <a:p>
            <a:pPr lvl="2"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p:txBody>
      </p:sp>
      <p:sp>
        <p:nvSpPr>
          <p:cNvPr id="114693" name="Arc 6"/>
          <p:cNvSpPr>
            <a:spLocks/>
          </p:cNvSpPr>
          <p:nvPr/>
        </p:nvSpPr>
        <p:spPr bwMode="auto">
          <a:xfrm flipV="1">
            <a:off x="7150100" y="3752850"/>
            <a:ext cx="400050" cy="72707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4694" name="Text Box 7"/>
          <p:cNvSpPr txBox="1">
            <a:spLocks noChangeArrowheads="1"/>
          </p:cNvSpPr>
          <p:nvPr/>
        </p:nvSpPr>
        <p:spPr bwMode="auto">
          <a:xfrm>
            <a:off x="7662863" y="3798888"/>
            <a:ext cx="7191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①</a:t>
            </a:r>
            <a:endParaRPr kumimoji="1" lang="en-US" altLang="zh-CN" sz="1000">
              <a:latin typeface="Times New Roman" panose="02020603050405020304" pitchFamily="18" charset="0"/>
              <a:ea typeface="宋体" panose="02010600030101010101" pitchFamily="2" charset="-122"/>
            </a:endParaRPr>
          </a:p>
        </p:txBody>
      </p:sp>
      <p:sp>
        <p:nvSpPr>
          <p:cNvPr id="114695" name="Rectangle 8"/>
          <p:cNvSpPr>
            <a:spLocks noChangeArrowheads="1"/>
          </p:cNvSpPr>
          <p:nvPr/>
        </p:nvSpPr>
        <p:spPr bwMode="auto">
          <a:xfrm>
            <a:off x="7096125" y="3071813"/>
            <a:ext cx="1109663" cy="571500"/>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4696" name="Line 9"/>
          <p:cNvSpPr>
            <a:spLocks noChangeShapeType="1"/>
          </p:cNvSpPr>
          <p:nvPr/>
        </p:nvSpPr>
        <p:spPr bwMode="auto">
          <a:xfrm>
            <a:off x="7683500" y="3071813"/>
            <a:ext cx="0" cy="57150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4697" name="Rectangle 10"/>
          <p:cNvSpPr>
            <a:spLocks noChangeArrowheads="1"/>
          </p:cNvSpPr>
          <p:nvPr/>
        </p:nvSpPr>
        <p:spPr bwMode="auto">
          <a:xfrm>
            <a:off x="5291138" y="3081338"/>
            <a:ext cx="1109662" cy="573087"/>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4698" name="Line 11"/>
          <p:cNvSpPr>
            <a:spLocks noChangeShapeType="1"/>
          </p:cNvSpPr>
          <p:nvPr/>
        </p:nvSpPr>
        <p:spPr bwMode="auto">
          <a:xfrm>
            <a:off x="5878513" y="3081338"/>
            <a:ext cx="0" cy="57308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4699" name="Rectangle 12"/>
          <p:cNvSpPr>
            <a:spLocks noChangeArrowheads="1"/>
          </p:cNvSpPr>
          <p:nvPr/>
        </p:nvSpPr>
        <p:spPr bwMode="auto">
          <a:xfrm>
            <a:off x="3671888" y="3055938"/>
            <a:ext cx="1111250" cy="571500"/>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4700" name="Line 13"/>
          <p:cNvSpPr>
            <a:spLocks noChangeShapeType="1"/>
          </p:cNvSpPr>
          <p:nvPr/>
        </p:nvSpPr>
        <p:spPr bwMode="auto">
          <a:xfrm>
            <a:off x="4259263" y="3055938"/>
            <a:ext cx="0" cy="57150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4701" name="Line 14"/>
          <p:cNvSpPr>
            <a:spLocks noChangeShapeType="1"/>
          </p:cNvSpPr>
          <p:nvPr/>
        </p:nvSpPr>
        <p:spPr bwMode="auto">
          <a:xfrm>
            <a:off x="4489450" y="3359150"/>
            <a:ext cx="69373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4702" name="Line 15"/>
          <p:cNvSpPr>
            <a:spLocks noChangeShapeType="1"/>
          </p:cNvSpPr>
          <p:nvPr/>
        </p:nvSpPr>
        <p:spPr bwMode="auto">
          <a:xfrm>
            <a:off x="5232400" y="2560638"/>
            <a:ext cx="587375" cy="366712"/>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4703" name="Text Box 16"/>
          <p:cNvSpPr txBox="1">
            <a:spLocks noChangeArrowheads="1"/>
          </p:cNvSpPr>
          <p:nvPr/>
        </p:nvSpPr>
        <p:spPr bwMode="auto">
          <a:xfrm>
            <a:off x="4938713" y="2286000"/>
            <a:ext cx="4254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14704" name="Rectangle 17"/>
          <p:cNvSpPr>
            <a:spLocks noChangeArrowheads="1"/>
          </p:cNvSpPr>
          <p:nvPr/>
        </p:nvSpPr>
        <p:spPr bwMode="auto">
          <a:xfrm>
            <a:off x="6273800" y="4171950"/>
            <a:ext cx="1111250" cy="571500"/>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4705" name="Line 18"/>
          <p:cNvSpPr>
            <a:spLocks noChangeShapeType="1"/>
          </p:cNvSpPr>
          <p:nvPr/>
        </p:nvSpPr>
        <p:spPr bwMode="auto">
          <a:xfrm>
            <a:off x="6861175" y="4171950"/>
            <a:ext cx="0" cy="57150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4706" name="Text Box 19"/>
          <p:cNvSpPr txBox="1">
            <a:spLocks noChangeArrowheads="1"/>
          </p:cNvSpPr>
          <p:nvPr/>
        </p:nvSpPr>
        <p:spPr bwMode="auto">
          <a:xfrm>
            <a:off x="5289550" y="4210050"/>
            <a:ext cx="4254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a:t>
            </a:r>
            <a:endParaRPr kumimoji="1" lang="en-US" altLang="zh-CN" sz="1000">
              <a:latin typeface="Times New Roman" panose="02020603050405020304" pitchFamily="18" charset="0"/>
              <a:ea typeface="宋体" panose="02010600030101010101" pitchFamily="2" charset="-122"/>
            </a:endParaRPr>
          </a:p>
        </p:txBody>
      </p:sp>
      <p:sp>
        <p:nvSpPr>
          <p:cNvPr id="114707" name="Line 20"/>
          <p:cNvSpPr>
            <a:spLocks noChangeShapeType="1"/>
          </p:cNvSpPr>
          <p:nvPr/>
        </p:nvSpPr>
        <p:spPr bwMode="auto">
          <a:xfrm>
            <a:off x="5526088" y="4478338"/>
            <a:ext cx="587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4708" name="Line 21"/>
          <p:cNvSpPr>
            <a:spLocks noChangeShapeType="1"/>
          </p:cNvSpPr>
          <p:nvPr/>
        </p:nvSpPr>
        <p:spPr bwMode="auto">
          <a:xfrm>
            <a:off x="6346825" y="3370263"/>
            <a:ext cx="74453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4709" name="Line 22"/>
          <p:cNvSpPr>
            <a:spLocks noChangeShapeType="1"/>
          </p:cNvSpPr>
          <p:nvPr/>
        </p:nvSpPr>
        <p:spPr bwMode="auto">
          <a:xfrm>
            <a:off x="3046413" y="3387725"/>
            <a:ext cx="587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115715" name="Text Box 4"/>
          <p:cNvSpPr txBox="1">
            <a:spLocks noChangeArrowheads="1"/>
          </p:cNvSpPr>
          <p:nvPr/>
        </p:nvSpPr>
        <p:spPr bwMode="auto">
          <a:xfrm>
            <a:off x="4649788" y="5492750"/>
            <a:ext cx="228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在*</a:t>
            </a:r>
            <a:r>
              <a:rPr kumimoji="1" lang="en-US" altLang="zh-CN" sz="2400">
                <a:latin typeface="Times New Roman" panose="02020603050405020304" pitchFamily="18" charset="0"/>
                <a:ea typeface="宋体" panose="02010600030101010101" pitchFamily="2" charset="-122"/>
              </a:rPr>
              <a:t>p</a:t>
            </a:r>
            <a:r>
              <a:rPr kumimoji="1" lang="zh-CN" altLang="en-US" sz="2400">
                <a:latin typeface="Times New Roman" panose="02020603050405020304" pitchFamily="18" charset="0"/>
                <a:ea typeface="宋体" panose="02010600030101010101" pitchFamily="2" charset="-122"/>
              </a:rPr>
              <a:t>之后插入*</a:t>
            </a:r>
            <a:r>
              <a:rPr kumimoji="1" lang="en-US" altLang="zh-CN" sz="2400">
                <a:latin typeface="Times New Roman" panose="02020603050405020304" pitchFamily="18" charset="0"/>
                <a:ea typeface="宋体" panose="02010600030101010101" pitchFamily="2" charset="-122"/>
              </a:rPr>
              <a:t>s</a:t>
            </a:r>
          </a:p>
        </p:txBody>
      </p:sp>
      <p:sp>
        <p:nvSpPr>
          <p:cNvPr id="115716" name="Text Box 5"/>
          <p:cNvSpPr txBox="1">
            <a:spLocks noChangeArrowheads="1"/>
          </p:cNvSpPr>
          <p:nvPr/>
        </p:nvSpPr>
        <p:spPr bwMode="auto">
          <a:xfrm>
            <a:off x="6629400" y="1682750"/>
            <a:ext cx="35242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①s-&gt;next=p-&gt;next;</a:t>
            </a:r>
          </a:p>
          <a:p>
            <a:pPr lvl="2"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②p-&gt;next=s;</a:t>
            </a:r>
          </a:p>
        </p:txBody>
      </p:sp>
      <p:sp>
        <p:nvSpPr>
          <p:cNvPr id="115717" name="Line 6"/>
          <p:cNvSpPr>
            <a:spLocks noChangeShapeType="1"/>
          </p:cNvSpPr>
          <p:nvPr/>
        </p:nvSpPr>
        <p:spPr bwMode="auto">
          <a:xfrm>
            <a:off x="6196013" y="3676650"/>
            <a:ext cx="441325" cy="823913"/>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5718" name="Text Box 7"/>
          <p:cNvSpPr txBox="1">
            <a:spLocks noChangeArrowheads="1"/>
          </p:cNvSpPr>
          <p:nvPr/>
        </p:nvSpPr>
        <p:spPr bwMode="auto">
          <a:xfrm>
            <a:off x="5829300" y="4040188"/>
            <a:ext cx="3952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②</a:t>
            </a:r>
            <a:endParaRPr kumimoji="1" lang="en-US" altLang="zh-CN" sz="1000">
              <a:latin typeface="Times New Roman" panose="02020603050405020304" pitchFamily="18" charset="0"/>
              <a:ea typeface="宋体" panose="02010600030101010101" pitchFamily="2" charset="-122"/>
            </a:endParaRPr>
          </a:p>
        </p:txBody>
      </p:sp>
      <p:sp>
        <p:nvSpPr>
          <p:cNvPr id="115719" name="Arc 8"/>
          <p:cNvSpPr>
            <a:spLocks/>
          </p:cNvSpPr>
          <p:nvPr/>
        </p:nvSpPr>
        <p:spPr bwMode="auto">
          <a:xfrm flipV="1">
            <a:off x="7150100" y="4064000"/>
            <a:ext cx="400050" cy="72707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5720" name="Text Box 9"/>
          <p:cNvSpPr txBox="1">
            <a:spLocks noChangeArrowheads="1"/>
          </p:cNvSpPr>
          <p:nvPr/>
        </p:nvSpPr>
        <p:spPr bwMode="auto">
          <a:xfrm>
            <a:off x="7662863" y="4110038"/>
            <a:ext cx="7191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①</a:t>
            </a:r>
            <a:endParaRPr kumimoji="1" lang="en-US" altLang="zh-CN" sz="1000">
              <a:latin typeface="Times New Roman" panose="02020603050405020304" pitchFamily="18" charset="0"/>
              <a:ea typeface="宋体" panose="02010600030101010101" pitchFamily="2" charset="-122"/>
            </a:endParaRPr>
          </a:p>
        </p:txBody>
      </p:sp>
      <p:sp>
        <p:nvSpPr>
          <p:cNvPr id="115721" name="Rectangle 10"/>
          <p:cNvSpPr>
            <a:spLocks noChangeArrowheads="1"/>
          </p:cNvSpPr>
          <p:nvPr/>
        </p:nvSpPr>
        <p:spPr bwMode="auto">
          <a:xfrm>
            <a:off x="7096125" y="3382963"/>
            <a:ext cx="1109663" cy="571500"/>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5722" name="Line 11"/>
          <p:cNvSpPr>
            <a:spLocks noChangeShapeType="1"/>
          </p:cNvSpPr>
          <p:nvPr/>
        </p:nvSpPr>
        <p:spPr bwMode="auto">
          <a:xfrm>
            <a:off x="7683500" y="3382963"/>
            <a:ext cx="0" cy="57150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5723" name="Rectangle 12"/>
          <p:cNvSpPr>
            <a:spLocks noChangeArrowheads="1"/>
          </p:cNvSpPr>
          <p:nvPr/>
        </p:nvSpPr>
        <p:spPr bwMode="auto">
          <a:xfrm>
            <a:off x="5291138" y="3392488"/>
            <a:ext cx="1109662" cy="573087"/>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5724" name="Line 13"/>
          <p:cNvSpPr>
            <a:spLocks noChangeShapeType="1"/>
          </p:cNvSpPr>
          <p:nvPr/>
        </p:nvSpPr>
        <p:spPr bwMode="auto">
          <a:xfrm>
            <a:off x="5878513" y="3392488"/>
            <a:ext cx="0" cy="57308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5725" name="Rectangle 14"/>
          <p:cNvSpPr>
            <a:spLocks noChangeArrowheads="1"/>
          </p:cNvSpPr>
          <p:nvPr/>
        </p:nvSpPr>
        <p:spPr bwMode="auto">
          <a:xfrm>
            <a:off x="3671888" y="3367088"/>
            <a:ext cx="1111250" cy="571500"/>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5726" name="Line 15"/>
          <p:cNvSpPr>
            <a:spLocks noChangeShapeType="1"/>
          </p:cNvSpPr>
          <p:nvPr/>
        </p:nvSpPr>
        <p:spPr bwMode="auto">
          <a:xfrm>
            <a:off x="4259263" y="3367088"/>
            <a:ext cx="0" cy="57150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5727" name="Line 16"/>
          <p:cNvSpPr>
            <a:spLocks noChangeShapeType="1"/>
          </p:cNvSpPr>
          <p:nvPr/>
        </p:nvSpPr>
        <p:spPr bwMode="auto">
          <a:xfrm>
            <a:off x="4489450" y="3670300"/>
            <a:ext cx="69373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5728" name="Line 17"/>
          <p:cNvSpPr>
            <a:spLocks noChangeShapeType="1"/>
          </p:cNvSpPr>
          <p:nvPr/>
        </p:nvSpPr>
        <p:spPr bwMode="auto">
          <a:xfrm>
            <a:off x="5232400" y="2871788"/>
            <a:ext cx="587375" cy="366712"/>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5729" name="Text Box 18"/>
          <p:cNvSpPr txBox="1">
            <a:spLocks noChangeArrowheads="1"/>
          </p:cNvSpPr>
          <p:nvPr/>
        </p:nvSpPr>
        <p:spPr bwMode="auto">
          <a:xfrm>
            <a:off x="4938713" y="2597150"/>
            <a:ext cx="4254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15730" name="Rectangle 19"/>
          <p:cNvSpPr>
            <a:spLocks noChangeArrowheads="1"/>
          </p:cNvSpPr>
          <p:nvPr/>
        </p:nvSpPr>
        <p:spPr bwMode="auto">
          <a:xfrm>
            <a:off x="6273800" y="4483100"/>
            <a:ext cx="1111250" cy="571500"/>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5731" name="Line 20"/>
          <p:cNvSpPr>
            <a:spLocks noChangeShapeType="1"/>
          </p:cNvSpPr>
          <p:nvPr/>
        </p:nvSpPr>
        <p:spPr bwMode="auto">
          <a:xfrm>
            <a:off x="6861175" y="4483100"/>
            <a:ext cx="0" cy="57150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5732" name="Text Box 21"/>
          <p:cNvSpPr txBox="1">
            <a:spLocks noChangeArrowheads="1"/>
          </p:cNvSpPr>
          <p:nvPr/>
        </p:nvSpPr>
        <p:spPr bwMode="auto">
          <a:xfrm>
            <a:off x="5289550" y="4521200"/>
            <a:ext cx="42545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s</a:t>
            </a:r>
            <a:endParaRPr kumimoji="1" lang="en-US" altLang="zh-CN" sz="1000">
              <a:latin typeface="Times New Roman" panose="02020603050405020304" pitchFamily="18" charset="0"/>
              <a:ea typeface="宋体" panose="02010600030101010101" pitchFamily="2" charset="-122"/>
            </a:endParaRPr>
          </a:p>
        </p:txBody>
      </p:sp>
      <p:sp>
        <p:nvSpPr>
          <p:cNvPr id="115733" name="Line 22"/>
          <p:cNvSpPr>
            <a:spLocks noChangeShapeType="1"/>
          </p:cNvSpPr>
          <p:nvPr/>
        </p:nvSpPr>
        <p:spPr bwMode="auto">
          <a:xfrm>
            <a:off x="5526088" y="4789488"/>
            <a:ext cx="587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5734" name="Line 23"/>
          <p:cNvSpPr>
            <a:spLocks noChangeShapeType="1"/>
          </p:cNvSpPr>
          <p:nvPr/>
        </p:nvSpPr>
        <p:spPr bwMode="auto">
          <a:xfrm>
            <a:off x="3046413" y="3698875"/>
            <a:ext cx="587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116739" name="Rectangle 3"/>
          <p:cNvSpPr>
            <a:spLocks noGrp="1" noChangeArrowheads="1"/>
          </p:cNvSpPr>
          <p:nvPr>
            <p:ph idx="1"/>
          </p:nvPr>
        </p:nvSpPr>
        <p:spPr>
          <a:xfrm>
            <a:off x="527050" y="1628775"/>
            <a:ext cx="10218738" cy="4351338"/>
          </a:xfrm>
        </p:spPr>
        <p:txBody>
          <a:bodyPr/>
          <a:lstStyle/>
          <a:p>
            <a:pPr eaLnBrk="1" hangingPunct="1">
              <a:lnSpc>
                <a:spcPct val="80000"/>
              </a:lnSpc>
              <a:spcBef>
                <a:spcPct val="0"/>
              </a:spcBef>
              <a:buFontTx/>
              <a:buNone/>
            </a:pPr>
            <a:r>
              <a:rPr lang="en-US" altLang="zh-CN" sz="1800" b="1" smtClean="0"/>
              <a:t>        bool</a:t>
            </a:r>
            <a:r>
              <a:rPr lang="en-US" altLang="zh-CN" sz="1800" smtClean="0"/>
              <a:t> ListInsert (Linklist L, </a:t>
            </a:r>
            <a:r>
              <a:rPr lang="en-US" altLang="zh-CN" sz="1800" b="1" smtClean="0"/>
              <a:t>int</a:t>
            </a:r>
            <a:r>
              <a:rPr lang="en-US" altLang="zh-CN" sz="1800" smtClean="0"/>
              <a:t> pos, ElemType e )</a:t>
            </a:r>
            <a:br>
              <a:rPr lang="en-US" altLang="zh-CN" sz="1800" smtClean="0"/>
            </a:br>
            <a:r>
              <a:rPr lang="zh-CN" altLang="en-US" sz="1800" smtClean="0"/>
              <a:t>　</a:t>
            </a:r>
            <a:r>
              <a:rPr lang="en-US" altLang="zh-CN" sz="1800" b="1" smtClean="0"/>
              <a:t>{</a:t>
            </a:r>
            <a:endParaRPr lang="en-US" altLang="zh-CN" sz="1800" smtClean="0"/>
          </a:p>
          <a:p>
            <a:pPr eaLnBrk="1" hangingPunct="1">
              <a:lnSpc>
                <a:spcPct val="80000"/>
              </a:lnSpc>
              <a:spcBef>
                <a:spcPct val="0"/>
              </a:spcBef>
              <a:buFontTx/>
              <a:buNone/>
            </a:pPr>
            <a:r>
              <a:rPr lang="en-US" altLang="zh-CN" sz="1800" b="1" smtClean="0"/>
              <a:t>// </a:t>
            </a:r>
            <a:r>
              <a:rPr lang="zh-CN" altLang="en-US" sz="1800" b="1" smtClean="0"/>
              <a:t>若</a:t>
            </a:r>
            <a:r>
              <a:rPr lang="en-US" altLang="zh-CN" sz="1800" b="1" smtClean="0"/>
              <a:t>1≤pos≤LengthList(L)+1</a:t>
            </a:r>
            <a:r>
              <a:rPr lang="zh-CN" altLang="en-US" sz="1800" b="1" smtClean="0"/>
              <a:t>，则指针</a:t>
            </a:r>
            <a:r>
              <a:rPr lang="en-US" altLang="zh-CN" sz="1800" b="1" smtClean="0"/>
              <a:t>L</a:t>
            </a:r>
            <a:r>
              <a:rPr lang="zh-CN" altLang="en-US" sz="1800" b="1" smtClean="0"/>
              <a:t>指向头结点的单链</a:t>
            </a:r>
          </a:p>
          <a:p>
            <a:pPr eaLnBrk="1" hangingPunct="1">
              <a:lnSpc>
                <a:spcPct val="80000"/>
              </a:lnSpc>
              <a:spcBef>
                <a:spcPct val="0"/>
              </a:spcBef>
              <a:buFontTx/>
              <a:buNone/>
            </a:pPr>
            <a:r>
              <a:rPr lang="zh-CN" altLang="en-US" sz="1800" b="1" smtClean="0"/>
              <a:t>的第 </a:t>
            </a:r>
            <a:r>
              <a:rPr lang="en-US" altLang="zh-CN" sz="1800" b="1" smtClean="0"/>
              <a:t>pos </a:t>
            </a:r>
            <a:r>
              <a:rPr lang="zh-CN" altLang="en-US" sz="1800" b="1" smtClean="0"/>
              <a:t>个元素之前插入新的元素 </a:t>
            </a:r>
            <a:r>
              <a:rPr lang="en-US" altLang="zh-CN" sz="1800" b="1" smtClean="0"/>
              <a:t>e</a:t>
            </a:r>
            <a:r>
              <a:rPr lang="zh-CN" altLang="en-US" sz="1800" b="1" smtClean="0"/>
              <a:t>，且返回函数值为 </a:t>
            </a:r>
            <a:r>
              <a:rPr lang="en-US" altLang="zh-CN" sz="1800" b="1" smtClean="0"/>
              <a:t>TRUE,</a:t>
            </a:r>
          </a:p>
          <a:p>
            <a:pPr eaLnBrk="1" hangingPunct="1">
              <a:lnSpc>
                <a:spcPct val="80000"/>
              </a:lnSpc>
              <a:spcBef>
                <a:spcPct val="0"/>
              </a:spcBef>
              <a:buFontTx/>
              <a:buNone/>
            </a:pPr>
            <a:r>
              <a:rPr lang="zh-CN" altLang="en-US" sz="1800" b="1" smtClean="0"/>
              <a:t>否则不进行插入且返回函数值为 </a:t>
            </a:r>
            <a:r>
              <a:rPr lang="en-US" altLang="zh-CN" sz="1800" b="1" smtClean="0"/>
              <a:t>FALSE</a:t>
            </a:r>
            <a:r>
              <a:rPr lang="en-US" altLang="zh-CN" sz="1800" smtClean="0"/>
              <a:t/>
            </a:r>
            <a:br>
              <a:rPr lang="en-US" altLang="zh-CN" sz="1800" smtClean="0"/>
            </a:br>
            <a:r>
              <a:rPr lang="zh-CN" altLang="en-US" sz="1800" smtClean="0"/>
              <a:t>　　</a:t>
            </a:r>
            <a:r>
              <a:rPr lang="en-US" altLang="zh-CN" sz="1800" smtClean="0"/>
              <a:t>p=L; j=0;</a:t>
            </a:r>
            <a:br>
              <a:rPr lang="en-US" altLang="zh-CN" sz="1800" smtClean="0"/>
            </a:br>
            <a:r>
              <a:rPr lang="zh-CN" altLang="en-US" sz="1800" smtClean="0"/>
              <a:t>　　</a:t>
            </a:r>
            <a:r>
              <a:rPr lang="en-US" altLang="zh-CN" sz="1800" b="1" u="sng" smtClean="0">
                <a:solidFill>
                  <a:schemeClr val="accent2"/>
                </a:solidFill>
              </a:rPr>
              <a:t>while(p &amp;&amp; j&lt;pos-1)</a:t>
            </a:r>
            <a:br>
              <a:rPr lang="en-US" altLang="zh-CN" sz="1800" b="1" u="sng" smtClean="0">
                <a:solidFill>
                  <a:schemeClr val="accent2"/>
                </a:solidFill>
              </a:rPr>
            </a:br>
            <a:r>
              <a:rPr lang="zh-CN" altLang="en-US" sz="1800" b="1" u="sng" smtClean="0">
                <a:solidFill>
                  <a:schemeClr val="accent2"/>
                </a:solidFill>
              </a:rPr>
              <a:t>　　</a:t>
            </a:r>
            <a:r>
              <a:rPr lang="en-US" altLang="zh-CN" sz="1800" b="1" u="sng" smtClean="0">
                <a:solidFill>
                  <a:schemeClr val="accent2"/>
                </a:solidFill>
              </a:rPr>
              <a:t>{ // </a:t>
            </a:r>
            <a:r>
              <a:rPr lang="zh-CN" altLang="en-US" sz="1800" b="1" u="sng" smtClean="0">
                <a:solidFill>
                  <a:schemeClr val="accent2"/>
                </a:solidFill>
              </a:rPr>
              <a:t>查找第</a:t>
            </a:r>
            <a:r>
              <a:rPr lang="en-US" altLang="zh-CN" sz="1800" b="1" u="sng" smtClean="0">
                <a:solidFill>
                  <a:schemeClr val="accent2"/>
                </a:solidFill>
              </a:rPr>
              <a:t>pos-1</a:t>
            </a:r>
            <a:r>
              <a:rPr lang="zh-CN" altLang="en-US" sz="1800" b="1" u="sng" smtClean="0">
                <a:solidFill>
                  <a:schemeClr val="accent2"/>
                </a:solidFill>
              </a:rPr>
              <a:t>个结点，并令指针</a:t>
            </a:r>
            <a:r>
              <a:rPr lang="en-US" altLang="zh-CN" sz="1800" b="1" u="sng" smtClean="0">
                <a:solidFill>
                  <a:schemeClr val="accent2"/>
                </a:solidFill>
              </a:rPr>
              <a:t>p</a:t>
            </a:r>
            <a:r>
              <a:rPr lang="zh-CN" altLang="en-US" sz="1800" b="1" u="sng" smtClean="0">
                <a:solidFill>
                  <a:schemeClr val="accent2"/>
                </a:solidFill>
              </a:rPr>
              <a:t>指向该结点</a:t>
            </a:r>
            <a:br>
              <a:rPr lang="zh-CN" altLang="en-US" sz="1800" b="1" u="sng" smtClean="0">
                <a:solidFill>
                  <a:schemeClr val="accent2"/>
                </a:solidFill>
              </a:rPr>
            </a:br>
            <a:r>
              <a:rPr lang="zh-CN" altLang="en-US" sz="1800" b="1" u="sng" smtClean="0">
                <a:solidFill>
                  <a:schemeClr val="accent2"/>
                </a:solidFill>
              </a:rPr>
              <a:t>　　　</a:t>
            </a:r>
            <a:r>
              <a:rPr lang="en-US" altLang="zh-CN" sz="1800" b="1" u="sng" smtClean="0">
                <a:solidFill>
                  <a:schemeClr val="accent2"/>
                </a:solidFill>
              </a:rPr>
              <a:t>p=p-&gt;next; ++j; </a:t>
            </a:r>
            <a:br>
              <a:rPr lang="en-US" altLang="zh-CN" sz="1800" b="1" u="sng" smtClean="0">
                <a:solidFill>
                  <a:schemeClr val="accent2"/>
                </a:solidFill>
              </a:rPr>
            </a:br>
            <a:r>
              <a:rPr lang="zh-CN" altLang="en-US" sz="1800" b="1" u="sng" smtClean="0">
                <a:solidFill>
                  <a:schemeClr val="accent2"/>
                </a:solidFill>
              </a:rPr>
              <a:t>　　</a:t>
            </a:r>
            <a:r>
              <a:rPr lang="en-US" altLang="zh-CN" sz="1800" b="1" u="sng" smtClean="0">
                <a:solidFill>
                  <a:schemeClr val="accent2"/>
                </a:solidFill>
              </a:rPr>
              <a:t>} // while</a:t>
            </a:r>
            <a:r>
              <a:rPr lang="en-US" altLang="zh-CN" sz="1800" b="1" smtClean="0"/>
              <a:t/>
            </a:r>
            <a:br>
              <a:rPr lang="en-US" altLang="zh-CN" sz="1800" b="1" smtClean="0"/>
            </a:br>
            <a:r>
              <a:rPr lang="zh-CN" altLang="en-US" sz="1800" smtClean="0"/>
              <a:t>　　</a:t>
            </a:r>
            <a:r>
              <a:rPr lang="en-US" altLang="zh-CN" sz="1800" b="1" smtClean="0"/>
              <a:t>if</a:t>
            </a:r>
            <a:r>
              <a:rPr lang="en-US" altLang="zh-CN" sz="1800" smtClean="0"/>
              <a:t>(!p||j&gt;pos-1)</a:t>
            </a:r>
            <a:br>
              <a:rPr lang="en-US" altLang="zh-CN" sz="1800" smtClean="0"/>
            </a:br>
            <a:r>
              <a:rPr lang="zh-CN" altLang="en-US" sz="1800" smtClean="0"/>
              <a:t>　　　</a:t>
            </a:r>
            <a:r>
              <a:rPr lang="en-US" altLang="zh-CN" sz="1800" b="1" smtClean="0"/>
              <a:t>return FALSE;</a:t>
            </a:r>
            <a:r>
              <a:rPr lang="en-US" altLang="zh-CN" sz="1800" smtClean="0"/>
              <a:t> // </a:t>
            </a:r>
            <a:r>
              <a:rPr lang="zh-CN" altLang="en-US" sz="1800" smtClean="0"/>
              <a:t>参数不合法，</a:t>
            </a:r>
            <a:r>
              <a:rPr lang="en-US" altLang="zh-CN" sz="1800" smtClean="0"/>
              <a:t>pos &lt;1</a:t>
            </a:r>
            <a:r>
              <a:rPr lang="zh-CN" altLang="en-US" sz="1800" smtClean="0"/>
              <a:t>或</a:t>
            </a:r>
            <a:r>
              <a:rPr lang="en-US" altLang="zh-CN" sz="1800" smtClean="0"/>
              <a:t>&gt;</a:t>
            </a:r>
            <a:r>
              <a:rPr lang="zh-CN" altLang="en-US" sz="1800" smtClean="0"/>
              <a:t>表长</a:t>
            </a:r>
            <a:r>
              <a:rPr lang="en-US" altLang="zh-CN" sz="1800" smtClean="0"/>
              <a:t>+1</a:t>
            </a:r>
            <a:br>
              <a:rPr lang="en-US" altLang="zh-CN" sz="1800" smtClean="0"/>
            </a:br>
            <a:r>
              <a:rPr lang="zh-CN" altLang="en-US" sz="1800" smtClean="0"/>
              <a:t>　　</a:t>
            </a:r>
            <a:r>
              <a:rPr lang="en-US" altLang="zh-CN" sz="1800" smtClean="0"/>
              <a:t>s=</a:t>
            </a:r>
            <a:r>
              <a:rPr lang="en-US" altLang="zh-CN" sz="1800" b="1" smtClean="0"/>
              <a:t>LNode* malloc(sizeof(</a:t>
            </a:r>
            <a:r>
              <a:rPr lang="en-US" altLang="zh-CN" sz="1800" smtClean="0"/>
              <a:t>LNode));</a:t>
            </a:r>
            <a:br>
              <a:rPr lang="en-US" altLang="zh-CN" sz="1800" smtClean="0"/>
            </a:br>
            <a:r>
              <a:rPr lang="zh-CN" altLang="en-US" sz="1800" smtClean="0"/>
              <a:t>　　</a:t>
            </a:r>
            <a:r>
              <a:rPr lang="en-US" altLang="zh-CN" sz="1800" smtClean="0"/>
              <a:t>if (!s) exit(1); </a:t>
            </a:r>
            <a:r>
              <a:rPr lang="zh-CN" altLang="en-US" sz="1800" smtClean="0"/>
              <a:t>　　　　 　</a:t>
            </a:r>
            <a:r>
              <a:rPr lang="en-US" altLang="zh-CN" sz="1800" smtClean="0"/>
              <a:t>// </a:t>
            </a:r>
            <a:r>
              <a:rPr lang="zh-CN" altLang="en-US" sz="1800" smtClean="0"/>
              <a:t>存储空间分配失败</a:t>
            </a:r>
            <a:br>
              <a:rPr lang="zh-CN" altLang="en-US" sz="1800" smtClean="0"/>
            </a:br>
            <a:r>
              <a:rPr lang="zh-CN" altLang="en-US" sz="1800" smtClean="0"/>
              <a:t>　　</a:t>
            </a:r>
            <a:r>
              <a:rPr lang="en-US" altLang="zh-CN" sz="1800" smtClean="0"/>
              <a:t>s-&gt;data=e; </a:t>
            </a:r>
            <a:r>
              <a:rPr lang="zh-CN" altLang="en-US" sz="1800" smtClean="0"/>
              <a:t>　　　　　　　　</a:t>
            </a:r>
            <a:r>
              <a:rPr lang="en-US" altLang="zh-CN" sz="1800" smtClean="0"/>
              <a:t>// </a:t>
            </a:r>
            <a:r>
              <a:rPr lang="zh-CN" altLang="en-US" sz="1800" smtClean="0"/>
              <a:t>创建新元素的结点</a:t>
            </a:r>
            <a:br>
              <a:rPr lang="zh-CN" altLang="en-US" sz="1800" smtClean="0"/>
            </a:br>
            <a:r>
              <a:rPr lang="zh-CN" altLang="en-US" sz="1800" smtClean="0"/>
              <a:t>　　</a:t>
            </a:r>
            <a:r>
              <a:rPr lang="en-US" altLang="zh-CN" sz="1800" b="1" u="sng" smtClean="0">
                <a:solidFill>
                  <a:schemeClr val="accent2"/>
                </a:solidFill>
              </a:rPr>
              <a:t>s-&gt;next=p-&gt; next; p-&gt;next=s;</a:t>
            </a:r>
            <a:r>
              <a:rPr lang="en-US" altLang="zh-CN" sz="1800" smtClean="0"/>
              <a:t> // </a:t>
            </a:r>
            <a:r>
              <a:rPr lang="zh-CN" altLang="en-US" sz="1800" smtClean="0"/>
              <a:t>修改指针</a:t>
            </a:r>
            <a:br>
              <a:rPr lang="zh-CN" altLang="en-US" sz="1800" smtClean="0"/>
            </a:br>
            <a:r>
              <a:rPr lang="zh-CN" altLang="en-US" sz="1800" smtClean="0"/>
              <a:t>　　</a:t>
            </a:r>
            <a:r>
              <a:rPr lang="en-US" altLang="zh-CN" sz="1800" b="1" smtClean="0"/>
              <a:t>return TRUE;</a:t>
            </a:r>
            <a:r>
              <a:rPr lang="en-US" altLang="zh-CN" sz="1800" smtClean="0"/>
              <a:t/>
            </a:r>
            <a:br>
              <a:rPr lang="en-US" altLang="zh-CN" sz="1800" smtClean="0"/>
            </a:br>
            <a:r>
              <a:rPr lang="zh-CN" altLang="en-US" sz="1800" smtClean="0"/>
              <a:t>　</a:t>
            </a:r>
            <a:r>
              <a:rPr lang="en-US" altLang="zh-CN" sz="1800" b="1" smtClean="0"/>
              <a:t>} </a:t>
            </a:r>
            <a:r>
              <a:rPr lang="en-US" altLang="zh-CN" sz="1800" smtClean="0"/>
              <a:t>// ListInsert </a:t>
            </a:r>
            <a:r>
              <a:rPr lang="zh-CN" altLang="en-US" sz="1800" smtClean="0"/>
              <a:t>　　</a:t>
            </a:r>
          </a:p>
          <a:p>
            <a:pPr eaLnBrk="1" hangingPunct="1">
              <a:lnSpc>
                <a:spcPct val="80000"/>
              </a:lnSpc>
            </a:pPr>
            <a:endParaRPr lang="en-US" altLang="zh-CN" sz="1800" smtClean="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54275" name="Rectangle 3"/>
          <p:cNvSpPr>
            <a:spLocks noGrp="1" noChangeArrowheads="1"/>
          </p:cNvSpPr>
          <p:nvPr>
            <p:ph idx="1"/>
          </p:nvPr>
        </p:nvSpPr>
        <p:spPr>
          <a:xfrm>
            <a:off x="527050" y="1628775"/>
            <a:ext cx="10218738" cy="4351338"/>
          </a:xfrm>
        </p:spPr>
        <p:txBody>
          <a:bodyPr/>
          <a:lstStyle/>
          <a:p>
            <a:pPr eaLnBrk="1" hangingPunct="1"/>
            <a:r>
              <a:rPr lang="zh-CN" altLang="en-US" smtClean="0"/>
              <a:t>删除元素操作</a:t>
            </a:r>
          </a:p>
          <a:p>
            <a:pPr lvl="1" eaLnBrk="1" hangingPunct="1"/>
            <a:r>
              <a:rPr lang="zh-CN" altLang="en-US" smtClean="0"/>
              <a:t>和插入类似，由于删除元素</a:t>
            </a:r>
            <a:r>
              <a:rPr lang="en-US" altLang="zh-CN" smtClean="0"/>
              <a:t>a</a:t>
            </a:r>
            <a:r>
              <a:rPr lang="en-US" altLang="zh-CN" baseline="-25000" smtClean="0"/>
              <a:t>i</a:t>
            </a:r>
            <a:r>
              <a:rPr lang="zh-CN" altLang="en-US" smtClean="0"/>
              <a:t>改变了元素之间的关系，使</a:t>
            </a:r>
            <a:r>
              <a:rPr lang="en-US" altLang="zh-CN" smtClean="0"/>
              <a:t>a</a:t>
            </a:r>
            <a:r>
              <a:rPr lang="en-US" altLang="zh-CN" baseline="-25000" smtClean="0"/>
              <a:t>i+1</a:t>
            </a:r>
            <a:r>
              <a:rPr lang="zh-CN" altLang="en-US" smtClean="0"/>
              <a:t>不再是</a:t>
            </a:r>
            <a:r>
              <a:rPr lang="en-US" altLang="zh-CN" smtClean="0"/>
              <a:t>a</a:t>
            </a:r>
            <a:r>
              <a:rPr lang="en-US" altLang="zh-CN" baseline="-25000" smtClean="0"/>
              <a:t>i</a:t>
            </a:r>
            <a:r>
              <a:rPr lang="zh-CN" altLang="en-US" smtClean="0"/>
              <a:t>的后继，而是</a:t>
            </a:r>
            <a:r>
              <a:rPr lang="en-US" altLang="zh-CN" smtClean="0"/>
              <a:t>a</a:t>
            </a:r>
            <a:r>
              <a:rPr lang="en-US" altLang="zh-CN" baseline="-25000" smtClean="0"/>
              <a:t>i-1</a:t>
            </a:r>
            <a:r>
              <a:rPr lang="zh-CN" altLang="en-US" smtClean="0"/>
              <a:t>的后继</a:t>
            </a:r>
            <a:r>
              <a:rPr lang="en-US" altLang="zh-CN" smtClean="0"/>
              <a:t>.</a:t>
            </a:r>
          </a:p>
          <a:p>
            <a:pPr lvl="1" eaLnBrk="1" hangingPunct="1"/>
            <a:r>
              <a:rPr lang="zh-CN" altLang="en-US" smtClean="0"/>
              <a:t>因此需要修改</a:t>
            </a:r>
            <a:r>
              <a:rPr lang="en-US" altLang="zh-CN" smtClean="0"/>
              <a:t>a</a:t>
            </a:r>
            <a:r>
              <a:rPr lang="en-US" altLang="zh-CN" baseline="-25000" smtClean="0"/>
              <a:t>i-1</a:t>
            </a:r>
            <a:r>
              <a:rPr lang="zh-CN" altLang="en-US" smtClean="0"/>
              <a:t>元素所在结点的指针。</a:t>
            </a:r>
          </a:p>
          <a:p>
            <a:pPr lvl="1" eaLnBrk="1" hangingPunct="1"/>
            <a:r>
              <a:rPr lang="zh-CN" altLang="en-US" smtClean="0"/>
              <a:t>算法基本思想：首先找到第 </a:t>
            </a:r>
            <a:r>
              <a:rPr lang="en-US" altLang="zh-CN" smtClean="0"/>
              <a:t>i-1 </a:t>
            </a:r>
            <a:r>
              <a:rPr lang="zh-CN" altLang="en-US" smtClean="0"/>
              <a:t>个结点，然后修改相应指针。</a:t>
            </a:r>
            <a:r>
              <a:rPr kumimoji="1" lang="zh-CN" altLang="en-US" b="1" smtClean="0"/>
              <a:t>修改指针：</a:t>
            </a:r>
            <a:r>
              <a:rPr kumimoji="1" lang="en-US" altLang="en-US" b="1" smtClean="0">
                <a:ea typeface="华文楷体" panose="02010600040101010101" pitchFamily="2" charset="-122"/>
              </a:rPr>
              <a:t>p</a:t>
            </a:r>
            <a:r>
              <a:rPr kumimoji="1" lang="en-US" altLang="zh-CN" b="1" smtClean="0"/>
              <a:t>-&gt;next</a:t>
            </a:r>
            <a:r>
              <a:rPr kumimoji="1" lang="zh-CN" altLang="en-US" b="1" smtClean="0"/>
              <a:t>＝</a:t>
            </a:r>
            <a:r>
              <a:rPr kumimoji="1" lang="en-US" altLang="zh-CN" b="1" smtClean="0"/>
              <a:t>p-&gt;next -&gt;next </a:t>
            </a:r>
            <a:r>
              <a:rPr kumimoji="1" lang="zh-CN" altLang="en-US" b="1" smtClean="0"/>
              <a:t>；</a:t>
            </a:r>
          </a:p>
        </p:txBody>
      </p:sp>
      <p:sp>
        <p:nvSpPr>
          <p:cNvPr id="54276" name="Line 4"/>
          <p:cNvSpPr>
            <a:spLocks noChangeShapeType="1"/>
          </p:cNvSpPr>
          <p:nvPr/>
        </p:nvSpPr>
        <p:spPr bwMode="auto">
          <a:xfrm>
            <a:off x="3632200" y="5310188"/>
            <a:ext cx="381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7" name="Rectangle 5"/>
          <p:cNvSpPr>
            <a:spLocks noChangeArrowheads="1"/>
          </p:cNvSpPr>
          <p:nvPr/>
        </p:nvSpPr>
        <p:spPr bwMode="auto">
          <a:xfrm>
            <a:off x="4013200" y="5157788"/>
            <a:ext cx="914400"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4278" name="Line 6"/>
          <p:cNvSpPr>
            <a:spLocks noChangeShapeType="1"/>
          </p:cNvSpPr>
          <p:nvPr/>
        </p:nvSpPr>
        <p:spPr bwMode="auto">
          <a:xfrm>
            <a:off x="4470400" y="5157788"/>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9" name="Line 7"/>
          <p:cNvSpPr>
            <a:spLocks noChangeShapeType="1"/>
          </p:cNvSpPr>
          <p:nvPr/>
        </p:nvSpPr>
        <p:spPr bwMode="auto">
          <a:xfrm>
            <a:off x="4851400" y="5310188"/>
            <a:ext cx="381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0" name="Rectangle 8"/>
          <p:cNvSpPr>
            <a:spLocks noChangeArrowheads="1"/>
          </p:cNvSpPr>
          <p:nvPr/>
        </p:nvSpPr>
        <p:spPr bwMode="auto">
          <a:xfrm>
            <a:off x="5232400" y="5157788"/>
            <a:ext cx="838200"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4281" name="Line 9"/>
          <p:cNvSpPr>
            <a:spLocks noChangeShapeType="1"/>
          </p:cNvSpPr>
          <p:nvPr/>
        </p:nvSpPr>
        <p:spPr bwMode="auto">
          <a:xfrm>
            <a:off x="5689600" y="5157788"/>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2" name="Line 10"/>
          <p:cNvSpPr>
            <a:spLocks noChangeShapeType="1"/>
          </p:cNvSpPr>
          <p:nvPr/>
        </p:nvSpPr>
        <p:spPr bwMode="auto">
          <a:xfrm>
            <a:off x="5918200" y="5310188"/>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3" name="Rectangle 11"/>
          <p:cNvSpPr>
            <a:spLocks noChangeArrowheads="1"/>
          </p:cNvSpPr>
          <p:nvPr/>
        </p:nvSpPr>
        <p:spPr bwMode="auto">
          <a:xfrm>
            <a:off x="6375400" y="5157788"/>
            <a:ext cx="838200"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4284" name="Line 12"/>
          <p:cNvSpPr>
            <a:spLocks noChangeShapeType="1"/>
          </p:cNvSpPr>
          <p:nvPr/>
        </p:nvSpPr>
        <p:spPr bwMode="auto">
          <a:xfrm>
            <a:off x="6832600" y="5157788"/>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5" name="Line 13"/>
          <p:cNvSpPr>
            <a:spLocks noChangeShapeType="1"/>
          </p:cNvSpPr>
          <p:nvPr/>
        </p:nvSpPr>
        <p:spPr bwMode="auto">
          <a:xfrm>
            <a:off x="7061200" y="5310188"/>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6" name="Text Box 14"/>
          <p:cNvSpPr txBox="1">
            <a:spLocks noChangeArrowheads="1"/>
          </p:cNvSpPr>
          <p:nvPr/>
        </p:nvSpPr>
        <p:spPr bwMode="auto">
          <a:xfrm>
            <a:off x="3632200" y="4929188"/>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2000">
                <a:latin typeface="Tahoma" panose="020B0604030504040204" pitchFamily="34" charset="0"/>
                <a:ea typeface="宋体" panose="02010600030101010101" pitchFamily="2" charset="-122"/>
              </a:rPr>
              <a:t>p</a:t>
            </a:r>
          </a:p>
        </p:txBody>
      </p:sp>
      <p:sp>
        <p:nvSpPr>
          <p:cNvPr id="54287" name="Line 15"/>
          <p:cNvSpPr>
            <a:spLocks noChangeShapeType="1"/>
          </p:cNvSpPr>
          <p:nvPr/>
        </p:nvSpPr>
        <p:spPr bwMode="auto">
          <a:xfrm>
            <a:off x="3632200" y="5767388"/>
            <a:ext cx="381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8" name="Rectangle 16"/>
          <p:cNvSpPr>
            <a:spLocks noChangeArrowheads="1"/>
          </p:cNvSpPr>
          <p:nvPr/>
        </p:nvSpPr>
        <p:spPr bwMode="auto">
          <a:xfrm>
            <a:off x="4013200" y="5614988"/>
            <a:ext cx="914400"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4289" name="Line 17"/>
          <p:cNvSpPr>
            <a:spLocks noChangeShapeType="1"/>
          </p:cNvSpPr>
          <p:nvPr/>
        </p:nvSpPr>
        <p:spPr bwMode="auto">
          <a:xfrm>
            <a:off x="4470400" y="5614988"/>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0" name="Rectangle 18"/>
          <p:cNvSpPr>
            <a:spLocks noChangeArrowheads="1"/>
          </p:cNvSpPr>
          <p:nvPr/>
        </p:nvSpPr>
        <p:spPr bwMode="auto">
          <a:xfrm>
            <a:off x="5232400" y="5614988"/>
            <a:ext cx="838200"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4291" name="Line 19"/>
          <p:cNvSpPr>
            <a:spLocks noChangeShapeType="1"/>
          </p:cNvSpPr>
          <p:nvPr/>
        </p:nvSpPr>
        <p:spPr bwMode="auto">
          <a:xfrm>
            <a:off x="5689600" y="5614988"/>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2" name="Rectangle 20"/>
          <p:cNvSpPr>
            <a:spLocks noChangeArrowheads="1"/>
          </p:cNvSpPr>
          <p:nvPr/>
        </p:nvSpPr>
        <p:spPr bwMode="auto">
          <a:xfrm>
            <a:off x="6375400" y="5614988"/>
            <a:ext cx="838200" cy="304800"/>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54293" name="Line 21"/>
          <p:cNvSpPr>
            <a:spLocks noChangeShapeType="1"/>
          </p:cNvSpPr>
          <p:nvPr/>
        </p:nvSpPr>
        <p:spPr bwMode="auto">
          <a:xfrm>
            <a:off x="6832600" y="5614988"/>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4" name="Line 22"/>
          <p:cNvSpPr>
            <a:spLocks noChangeShapeType="1"/>
          </p:cNvSpPr>
          <p:nvPr/>
        </p:nvSpPr>
        <p:spPr bwMode="auto">
          <a:xfrm>
            <a:off x="5918200" y="5767388"/>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5" name="Line 23"/>
          <p:cNvSpPr>
            <a:spLocks noChangeShapeType="1"/>
          </p:cNvSpPr>
          <p:nvPr/>
        </p:nvSpPr>
        <p:spPr bwMode="auto">
          <a:xfrm>
            <a:off x="7061200" y="5767388"/>
            <a:ext cx="457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6" name="Line 24"/>
          <p:cNvSpPr>
            <a:spLocks noChangeShapeType="1"/>
          </p:cNvSpPr>
          <p:nvPr/>
        </p:nvSpPr>
        <p:spPr bwMode="auto">
          <a:xfrm>
            <a:off x="4699000" y="5843588"/>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7" name="Line 25"/>
          <p:cNvSpPr>
            <a:spLocks noChangeShapeType="1"/>
          </p:cNvSpPr>
          <p:nvPr/>
        </p:nvSpPr>
        <p:spPr bwMode="auto">
          <a:xfrm>
            <a:off x="4699000" y="6072188"/>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8" name="Line 26"/>
          <p:cNvSpPr>
            <a:spLocks noChangeShapeType="1"/>
          </p:cNvSpPr>
          <p:nvPr/>
        </p:nvSpPr>
        <p:spPr bwMode="auto">
          <a:xfrm flipV="1">
            <a:off x="6070600" y="5919788"/>
            <a:ext cx="304800" cy="152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9" name="Text Box 27"/>
          <p:cNvSpPr txBox="1">
            <a:spLocks noChangeArrowheads="1"/>
          </p:cNvSpPr>
          <p:nvPr/>
        </p:nvSpPr>
        <p:spPr bwMode="auto">
          <a:xfrm>
            <a:off x="3632200" y="5386388"/>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en-US" sz="2000">
                <a:latin typeface="Tahoma" panose="020B0604030504040204" pitchFamily="34" charset="0"/>
                <a:ea typeface="宋体" panose="02010600030101010101" pitchFamily="2" charset="-122"/>
              </a:rPr>
              <a:t>p</a:t>
            </a:r>
            <a:endParaRPr kumimoji="1" lang="en-US" altLang="zh-CN" sz="2000">
              <a:latin typeface="Tahoma" panose="020B0604030504040204" pitchFamily="34" charset="0"/>
              <a:ea typeface="宋体" panose="02010600030101010101" pitchFamily="2" charset="-122"/>
            </a:endParaRPr>
          </a:p>
        </p:txBody>
      </p:sp>
      <p:sp>
        <p:nvSpPr>
          <p:cNvPr id="54300" name="Text Box 28"/>
          <p:cNvSpPr txBox="1">
            <a:spLocks noChangeArrowheads="1"/>
          </p:cNvSpPr>
          <p:nvPr/>
        </p:nvSpPr>
        <p:spPr bwMode="auto">
          <a:xfrm>
            <a:off x="7732713" y="5091113"/>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rPr>
              <a:t>删除前</a:t>
            </a:r>
          </a:p>
        </p:txBody>
      </p:sp>
      <p:sp>
        <p:nvSpPr>
          <p:cNvPr id="54301" name="Text Box 29"/>
          <p:cNvSpPr txBox="1">
            <a:spLocks noChangeArrowheads="1"/>
          </p:cNvSpPr>
          <p:nvPr/>
        </p:nvSpPr>
        <p:spPr bwMode="auto">
          <a:xfrm>
            <a:off x="7804150" y="5522913"/>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lang="zh-CN" altLang="en-US" sz="1800">
                <a:latin typeface="Verdana" panose="020B0604030504040204" pitchFamily="34" charset="0"/>
                <a:ea typeface="宋体" panose="02010600030101010101" pitchFamily="2" charset="-122"/>
              </a:rPr>
              <a:t>删除后</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animEffect transition="in" filter="box(in)">
                                      <p:cBhvr>
                                        <p:cTn id="7" dur="500"/>
                                        <p:tgtEl>
                                          <p:spTgt spid="5427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4275">
                                            <p:txEl>
                                              <p:pRg st="2" end="2"/>
                                            </p:txEl>
                                          </p:spTgt>
                                        </p:tgtEl>
                                        <p:attrNameLst>
                                          <p:attrName>style.visibility</p:attrName>
                                        </p:attrNameLst>
                                      </p:cBhvr>
                                      <p:to>
                                        <p:strVal val="visible"/>
                                      </p:to>
                                    </p:set>
                                    <p:animEffect transition="in" filter="box(in)">
                                      <p:cBhvr>
                                        <p:cTn id="10" dur="500"/>
                                        <p:tgtEl>
                                          <p:spTgt spid="5427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4275">
                                            <p:txEl>
                                              <p:pRg st="3" end="3"/>
                                            </p:txEl>
                                          </p:spTgt>
                                        </p:tgtEl>
                                        <p:attrNameLst>
                                          <p:attrName>style.visibility</p:attrName>
                                        </p:attrNameLst>
                                      </p:cBhvr>
                                      <p:to>
                                        <p:strVal val="visible"/>
                                      </p:to>
                                    </p:set>
                                    <p:animEffect transition="in" filter="box(in)">
                                      <p:cBhvr>
                                        <p:cTn id="13" dur="500"/>
                                        <p:tgtEl>
                                          <p:spTgt spid="54275">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54276"/>
                                        </p:tgtEl>
                                        <p:attrNameLst>
                                          <p:attrName>style.visibility</p:attrName>
                                        </p:attrNameLst>
                                      </p:cBhvr>
                                      <p:to>
                                        <p:strVal val="visible"/>
                                      </p:to>
                                    </p:set>
                                    <p:anim calcmode="lin" valueType="num">
                                      <p:cBhvr additive="base">
                                        <p:cTn id="18" dur="500" fill="hold"/>
                                        <p:tgtEl>
                                          <p:spTgt spid="54276"/>
                                        </p:tgtEl>
                                        <p:attrNameLst>
                                          <p:attrName>ppt_x</p:attrName>
                                        </p:attrNameLst>
                                      </p:cBhvr>
                                      <p:tavLst>
                                        <p:tav tm="0">
                                          <p:val>
                                            <p:strVal val="#ppt_x"/>
                                          </p:val>
                                        </p:tav>
                                        <p:tav tm="100000">
                                          <p:val>
                                            <p:strVal val="#ppt_x"/>
                                          </p:val>
                                        </p:tav>
                                      </p:tavLst>
                                    </p:anim>
                                    <p:anim calcmode="lin" valueType="num">
                                      <p:cBhvr additive="base">
                                        <p:cTn id="19" dur="500" fill="hold"/>
                                        <p:tgtEl>
                                          <p:spTgt spid="5427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54277"/>
                                        </p:tgtEl>
                                        <p:attrNameLst>
                                          <p:attrName>style.visibility</p:attrName>
                                        </p:attrNameLst>
                                      </p:cBhvr>
                                      <p:to>
                                        <p:strVal val="visible"/>
                                      </p:to>
                                    </p:set>
                                    <p:anim calcmode="lin" valueType="num">
                                      <p:cBhvr additive="base">
                                        <p:cTn id="22" dur="500" fill="hold"/>
                                        <p:tgtEl>
                                          <p:spTgt spid="54277"/>
                                        </p:tgtEl>
                                        <p:attrNameLst>
                                          <p:attrName>ppt_x</p:attrName>
                                        </p:attrNameLst>
                                      </p:cBhvr>
                                      <p:tavLst>
                                        <p:tav tm="0">
                                          <p:val>
                                            <p:strVal val="#ppt_x"/>
                                          </p:val>
                                        </p:tav>
                                        <p:tav tm="100000">
                                          <p:val>
                                            <p:strVal val="#ppt_x"/>
                                          </p:val>
                                        </p:tav>
                                      </p:tavLst>
                                    </p:anim>
                                    <p:anim calcmode="lin" valueType="num">
                                      <p:cBhvr additive="base">
                                        <p:cTn id="23" dur="500" fill="hold"/>
                                        <p:tgtEl>
                                          <p:spTgt spid="54277"/>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54278"/>
                                        </p:tgtEl>
                                        <p:attrNameLst>
                                          <p:attrName>style.visibility</p:attrName>
                                        </p:attrNameLst>
                                      </p:cBhvr>
                                      <p:to>
                                        <p:strVal val="visible"/>
                                      </p:to>
                                    </p:set>
                                    <p:anim calcmode="lin" valueType="num">
                                      <p:cBhvr additive="base">
                                        <p:cTn id="26" dur="500" fill="hold"/>
                                        <p:tgtEl>
                                          <p:spTgt spid="54278"/>
                                        </p:tgtEl>
                                        <p:attrNameLst>
                                          <p:attrName>ppt_x</p:attrName>
                                        </p:attrNameLst>
                                      </p:cBhvr>
                                      <p:tavLst>
                                        <p:tav tm="0">
                                          <p:val>
                                            <p:strVal val="#ppt_x"/>
                                          </p:val>
                                        </p:tav>
                                        <p:tav tm="100000">
                                          <p:val>
                                            <p:strVal val="#ppt_x"/>
                                          </p:val>
                                        </p:tav>
                                      </p:tavLst>
                                    </p:anim>
                                    <p:anim calcmode="lin" valueType="num">
                                      <p:cBhvr additive="base">
                                        <p:cTn id="27" dur="500" fill="hold"/>
                                        <p:tgtEl>
                                          <p:spTgt spid="54278"/>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54279"/>
                                        </p:tgtEl>
                                        <p:attrNameLst>
                                          <p:attrName>style.visibility</p:attrName>
                                        </p:attrNameLst>
                                      </p:cBhvr>
                                      <p:to>
                                        <p:strVal val="visible"/>
                                      </p:to>
                                    </p:set>
                                    <p:anim calcmode="lin" valueType="num">
                                      <p:cBhvr additive="base">
                                        <p:cTn id="30" dur="500" fill="hold"/>
                                        <p:tgtEl>
                                          <p:spTgt spid="54279"/>
                                        </p:tgtEl>
                                        <p:attrNameLst>
                                          <p:attrName>ppt_x</p:attrName>
                                        </p:attrNameLst>
                                      </p:cBhvr>
                                      <p:tavLst>
                                        <p:tav tm="0">
                                          <p:val>
                                            <p:strVal val="#ppt_x"/>
                                          </p:val>
                                        </p:tav>
                                        <p:tav tm="100000">
                                          <p:val>
                                            <p:strVal val="#ppt_x"/>
                                          </p:val>
                                        </p:tav>
                                      </p:tavLst>
                                    </p:anim>
                                    <p:anim calcmode="lin" valueType="num">
                                      <p:cBhvr additive="base">
                                        <p:cTn id="31" dur="500" fill="hold"/>
                                        <p:tgtEl>
                                          <p:spTgt spid="5427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54280"/>
                                        </p:tgtEl>
                                        <p:attrNameLst>
                                          <p:attrName>style.visibility</p:attrName>
                                        </p:attrNameLst>
                                      </p:cBhvr>
                                      <p:to>
                                        <p:strVal val="visible"/>
                                      </p:to>
                                    </p:set>
                                    <p:anim calcmode="lin" valueType="num">
                                      <p:cBhvr additive="base">
                                        <p:cTn id="34" dur="500" fill="hold"/>
                                        <p:tgtEl>
                                          <p:spTgt spid="54280"/>
                                        </p:tgtEl>
                                        <p:attrNameLst>
                                          <p:attrName>ppt_x</p:attrName>
                                        </p:attrNameLst>
                                      </p:cBhvr>
                                      <p:tavLst>
                                        <p:tav tm="0">
                                          <p:val>
                                            <p:strVal val="#ppt_x"/>
                                          </p:val>
                                        </p:tav>
                                        <p:tav tm="100000">
                                          <p:val>
                                            <p:strVal val="#ppt_x"/>
                                          </p:val>
                                        </p:tav>
                                      </p:tavLst>
                                    </p:anim>
                                    <p:anim calcmode="lin" valueType="num">
                                      <p:cBhvr additive="base">
                                        <p:cTn id="35" dur="500" fill="hold"/>
                                        <p:tgtEl>
                                          <p:spTgt spid="54280"/>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54281"/>
                                        </p:tgtEl>
                                        <p:attrNameLst>
                                          <p:attrName>style.visibility</p:attrName>
                                        </p:attrNameLst>
                                      </p:cBhvr>
                                      <p:to>
                                        <p:strVal val="visible"/>
                                      </p:to>
                                    </p:set>
                                    <p:anim calcmode="lin" valueType="num">
                                      <p:cBhvr additive="base">
                                        <p:cTn id="38" dur="500" fill="hold"/>
                                        <p:tgtEl>
                                          <p:spTgt spid="54281"/>
                                        </p:tgtEl>
                                        <p:attrNameLst>
                                          <p:attrName>ppt_x</p:attrName>
                                        </p:attrNameLst>
                                      </p:cBhvr>
                                      <p:tavLst>
                                        <p:tav tm="0">
                                          <p:val>
                                            <p:strVal val="#ppt_x"/>
                                          </p:val>
                                        </p:tav>
                                        <p:tav tm="100000">
                                          <p:val>
                                            <p:strVal val="#ppt_x"/>
                                          </p:val>
                                        </p:tav>
                                      </p:tavLst>
                                    </p:anim>
                                    <p:anim calcmode="lin" valueType="num">
                                      <p:cBhvr additive="base">
                                        <p:cTn id="39" dur="500" fill="hold"/>
                                        <p:tgtEl>
                                          <p:spTgt spid="54281"/>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54282"/>
                                        </p:tgtEl>
                                        <p:attrNameLst>
                                          <p:attrName>style.visibility</p:attrName>
                                        </p:attrNameLst>
                                      </p:cBhvr>
                                      <p:to>
                                        <p:strVal val="visible"/>
                                      </p:to>
                                    </p:set>
                                    <p:anim calcmode="lin" valueType="num">
                                      <p:cBhvr additive="base">
                                        <p:cTn id="42" dur="500" fill="hold"/>
                                        <p:tgtEl>
                                          <p:spTgt spid="54282"/>
                                        </p:tgtEl>
                                        <p:attrNameLst>
                                          <p:attrName>ppt_x</p:attrName>
                                        </p:attrNameLst>
                                      </p:cBhvr>
                                      <p:tavLst>
                                        <p:tav tm="0">
                                          <p:val>
                                            <p:strVal val="#ppt_x"/>
                                          </p:val>
                                        </p:tav>
                                        <p:tav tm="100000">
                                          <p:val>
                                            <p:strVal val="#ppt_x"/>
                                          </p:val>
                                        </p:tav>
                                      </p:tavLst>
                                    </p:anim>
                                    <p:anim calcmode="lin" valueType="num">
                                      <p:cBhvr additive="base">
                                        <p:cTn id="43" dur="500" fill="hold"/>
                                        <p:tgtEl>
                                          <p:spTgt spid="5428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54283"/>
                                        </p:tgtEl>
                                        <p:attrNameLst>
                                          <p:attrName>style.visibility</p:attrName>
                                        </p:attrNameLst>
                                      </p:cBhvr>
                                      <p:to>
                                        <p:strVal val="visible"/>
                                      </p:to>
                                    </p:set>
                                    <p:anim calcmode="lin" valueType="num">
                                      <p:cBhvr additive="base">
                                        <p:cTn id="46" dur="500" fill="hold"/>
                                        <p:tgtEl>
                                          <p:spTgt spid="54283"/>
                                        </p:tgtEl>
                                        <p:attrNameLst>
                                          <p:attrName>ppt_x</p:attrName>
                                        </p:attrNameLst>
                                      </p:cBhvr>
                                      <p:tavLst>
                                        <p:tav tm="0">
                                          <p:val>
                                            <p:strVal val="#ppt_x"/>
                                          </p:val>
                                        </p:tav>
                                        <p:tav tm="100000">
                                          <p:val>
                                            <p:strVal val="#ppt_x"/>
                                          </p:val>
                                        </p:tav>
                                      </p:tavLst>
                                    </p:anim>
                                    <p:anim calcmode="lin" valueType="num">
                                      <p:cBhvr additive="base">
                                        <p:cTn id="47" dur="500" fill="hold"/>
                                        <p:tgtEl>
                                          <p:spTgt spid="54283"/>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54284"/>
                                        </p:tgtEl>
                                        <p:attrNameLst>
                                          <p:attrName>style.visibility</p:attrName>
                                        </p:attrNameLst>
                                      </p:cBhvr>
                                      <p:to>
                                        <p:strVal val="visible"/>
                                      </p:to>
                                    </p:set>
                                    <p:anim calcmode="lin" valueType="num">
                                      <p:cBhvr additive="base">
                                        <p:cTn id="50" dur="500" fill="hold"/>
                                        <p:tgtEl>
                                          <p:spTgt spid="54284"/>
                                        </p:tgtEl>
                                        <p:attrNameLst>
                                          <p:attrName>ppt_x</p:attrName>
                                        </p:attrNameLst>
                                      </p:cBhvr>
                                      <p:tavLst>
                                        <p:tav tm="0">
                                          <p:val>
                                            <p:strVal val="#ppt_x"/>
                                          </p:val>
                                        </p:tav>
                                        <p:tav tm="100000">
                                          <p:val>
                                            <p:strVal val="#ppt_x"/>
                                          </p:val>
                                        </p:tav>
                                      </p:tavLst>
                                    </p:anim>
                                    <p:anim calcmode="lin" valueType="num">
                                      <p:cBhvr additive="base">
                                        <p:cTn id="51" dur="500" fill="hold"/>
                                        <p:tgtEl>
                                          <p:spTgt spid="54284"/>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54285"/>
                                        </p:tgtEl>
                                        <p:attrNameLst>
                                          <p:attrName>style.visibility</p:attrName>
                                        </p:attrNameLst>
                                      </p:cBhvr>
                                      <p:to>
                                        <p:strVal val="visible"/>
                                      </p:to>
                                    </p:set>
                                    <p:anim calcmode="lin" valueType="num">
                                      <p:cBhvr additive="base">
                                        <p:cTn id="54" dur="500" fill="hold"/>
                                        <p:tgtEl>
                                          <p:spTgt spid="54285"/>
                                        </p:tgtEl>
                                        <p:attrNameLst>
                                          <p:attrName>ppt_x</p:attrName>
                                        </p:attrNameLst>
                                      </p:cBhvr>
                                      <p:tavLst>
                                        <p:tav tm="0">
                                          <p:val>
                                            <p:strVal val="#ppt_x"/>
                                          </p:val>
                                        </p:tav>
                                        <p:tav tm="100000">
                                          <p:val>
                                            <p:strVal val="#ppt_x"/>
                                          </p:val>
                                        </p:tav>
                                      </p:tavLst>
                                    </p:anim>
                                    <p:anim calcmode="lin" valueType="num">
                                      <p:cBhvr additive="base">
                                        <p:cTn id="55" dur="500" fill="hold"/>
                                        <p:tgtEl>
                                          <p:spTgt spid="54285"/>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54286"/>
                                        </p:tgtEl>
                                        <p:attrNameLst>
                                          <p:attrName>style.visibility</p:attrName>
                                        </p:attrNameLst>
                                      </p:cBhvr>
                                      <p:to>
                                        <p:strVal val="visible"/>
                                      </p:to>
                                    </p:set>
                                    <p:anim calcmode="lin" valueType="num">
                                      <p:cBhvr additive="base">
                                        <p:cTn id="58" dur="500" fill="hold"/>
                                        <p:tgtEl>
                                          <p:spTgt spid="54286"/>
                                        </p:tgtEl>
                                        <p:attrNameLst>
                                          <p:attrName>ppt_x</p:attrName>
                                        </p:attrNameLst>
                                      </p:cBhvr>
                                      <p:tavLst>
                                        <p:tav tm="0">
                                          <p:val>
                                            <p:strVal val="#ppt_x"/>
                                          </p:val>
                                        </p:tav>
                                        <p:tav tm="100000">
                                          <p:val>
                                            <p:strVal val="#ppt_x"/>
                                          </p:val>
                                        </p:tav>
                                      </p:tavLst>
                                    </p:anim>
                                    <p:anim calcmode="lin" valueType="num">
                                      <p:cBhvr additive="base">
                                        <p:cTn id="59" dur="500" fill="hold"/>
                                        <p:tgtEl>
                                          <p:spTgt spid="54286"/>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54287"/>
                                        </p:tgtEl>
                                        <p:attrNameLst>
                                          <p:attrName>style.visibility</p:attrName>
                                        </p:attrNameLst>
                                      </p:cBhvr>
                                      <p:to>
                                        <p:strVal val="visible"/>
                                      </p:to>
                                    </p:set>
                                    <p:anim calcmode="lin" valueType="num">
                                      <p:cBhvr additive="base">
                                        <p:cTn id="62" dur="500" fill="hold"/>
                                        <p:tgtEl>
                                          <p:spTgt spid="54287"/>
                                        </p:tgtEl>
                                        <p:attrNameLst>
                                          <p:attrName>ppt_x</p:attrName>
                                        </p:attrNameLst>
                                      </p:cBhvr>
                                      <p:tavLst>
                                        <p:tav tm="0">
                                          <p:val>
                                            <p:strVal val="#ppt_x"/>
                                          </p:val>
                                        </p:tav>
                                        <p:tav tm="100000">
                                          <p:val>
                                            <p:strVal val="#ppt_x"/>
                                          </p:val>
                                        </p:tav>
                                      </p:tavLst>
                                    </p:anim>
                                    <p:anim calcmode="lin" valueType="num">
                                      <p:cBhvr additive="base">
                                        <p:cTn id="63" dur="500" fill="hold"/>
                                        <p:tgtEl>
                                          <p:spTgt spid="54287"/>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54288"/>
                                        </p:tgtEl>
                                        <p:attrNameLst>
                                          <p:attrName>style.visibility</p:attrName>
                                        </p:attrNameLst>
                                      </p:cBhvr>
                                      <p:to>
                                        <p:strVal val="visible"/>
                                      </p:to>
                                    </p:set>
                                    <p:anim calcmode="lin" valueType="num">
                                      <p:cBhvr additive="base">
                                        <p:cTn id="66" dur="500" fill="hold"/>
                                        <p:tgtEl>
                                          <p:spTgt spid="54288"/>
                                        </p:tgtEl>
                                        <p:attrNameLst>
                                          <p:attrName>ppt_x</p:attrName>
                                        </p:attrNameLst>
                                      </p:cBhvr>
                                      <p:tavLst>
                                        <p:tav tm="0">
                                          <p:val>
                                            <p:strVal val="#ppt_x"/>
                                          </p:val>
                                        </p:tav>
                                        <p:tav tm="100000">
                                          <p:val>
                                            <p:strVal val="#ppt_x"/>
                                          </p:val>
                                        </p:tav>
                                      </p:tavLst>
                                    </p:anim>
                                    <p:anim calcmode="lin" valueType="num">
                                      <p:cBhvr additive="base">
                                        <p:cTn id="67" dur="500" fill="hold"/>
                                        <p:tgtEl>
                                          <p:spTgt spid="54288"/>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54289"/>
                                        </p:tgtEl>
                                        <p:attrNameLst>
                                          <p:attrName>style.visibility</p:attrName>
                                        </p:attrNameLst>
                                      </p:cBhvr>
                                      <p:to>
                                        <p:strVal val="visible"/>
                                      </p:to>
                                    </p:set>
                                    <p:anim calcmode="lin" valueType="num">
                                      <p:cBhvr additive="base">
                                        <p:cTn id="70" dur="500" fill="hold"/>
                                        <p:tgtEl>
                                          <p:spTgt spid="54289"/>
                                        </p:tgtEl>
                                        <p:attrNameLst>
                                          <p:attrName>ppt_x</p:attrName>
                                        </p:attrNameLst>
                                      </p:cBhvr>
                                      <p:tavLst>
                                        <p:tav tm="0">
                                          <p:val>
                                            <p:strVal val="#ppt_x"/>
                                          </p:val>
                                        </p:tav>
                                        <p:tav tm="100000">
                                          <p:val>
                                            <p:strVal val="#ppt_x"/>
                                          </p:val>
                                        </p:tav>
                                      </p:tavLst>
                                    </p:anim>
                                    <p:anim calcmode="lin" valueType="num">
                                      <p:cBhvr additive="base">
                                        <p:cTn id="71" dur="500" fill="hold"/>
                                        <p:tgtEl>
                                          <p:spTgt spid="54289"/>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54290"/>
                                        </p:tgtEl>
                                        <p:attrNameLst>
                                          <p:attrName>style.visibility</p:attrName>
                                        </p:attrNameLst>
                                      </p:cBhvr>
                                      <p:to>
                                        <p:strVal val="visible"/>
                                      </p:to>
                                    </p:set>
                                    <p:anim calcmode="lin" valueType="num">
                                      <p:cBhvr additive="base">
                                        <p:cTn id="74" dur="500" fill="hold"/>
                                        <p:tgtEl>
                                          <p:spTgt spid="54290"/>
                                        </p:tgtEl>
                                        <p:attrNameLst>
                                          <p:attrName>ppt_x</p:attrName>
                                        </p:attrNameLst>
                                      </p:cBhvr>
                                      <p:tavLst>
                                        <p:tav tm="0">
                                          <p:val>
                                            <p:strVal val="#ppt_x"/>
                                          </p:val>
                                        </p:tav>
                                        <p:tav tm="100000">
                                          <p:val>
                                            <p:strVal val="#ppt_x"/>
                                          </p:val>
                                        </p:tav>
                                      </p:tavLst>
                                    </p:anim>
                                    <p:anim calcmode="lin" valueType="num">
                                      <p:cBhvr additive="base">
                                        <p:cTn id="75" dur="500" fill="hold"/>
                                        <p:tgtEl>
                                          <p:spTgt spid="54290"/>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54291"/>
                                        </p:tgtEl>
                                        <p:attrNameLst>
                                          <p:attrName>style.visibility</p:attrName>
                                        </p:attrNameLst>
                                      </p:cBhvr>
                                      <p:to>
                                        <p:strVal val="visible"/>
                                      </p:to>
                                    </p:set>
                                    <p:anim calcmode="lin" valueType="num">
                                      <p:cBhvr additive="base">
                                        <p:cTn id="78" dur="500" fill="hold"/>
                                        <p:tgtEl>
                                          <p:spTgt spid="54291"/>
                                        </p:tgtEl>
                                        <p:attrNameLst>
                                          <p:attrName>ppt_x</p:attrName>
                                        </p:attrNameLst>
                                      </p:cBhvr>
                                      <p:tavLst>
                                        <p:tav tm="0">
                                          <p:val>
                                            <p:strVal val="#ppt_x"/>
                                          </p:val>
                                        </p:tav>
                                        <p:tav tm="100000">
                                          <p:val>
                                            <p:strVal val="#ppt_x"/>
                                          </p:val>
                                        </p:tav>
                                      </p:tavLst>
                                    </p:anim>
                                    <p:anim calcmode="lin" valueType="num">
                                      <p:cBhvr additive="base">
                                        <p:cTn id="79" dur="500" fill="hold"/>
                                        <p:tgtEl>
                                          <p:spTgt spid="54291"/>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54292"/>
                                        </p:tgtEl>
                                        <p:attrNameLst>
                                          <p:attrName>style.visibility</p:attrName>
                                        </p:attrNameLst>
                                      </p:cBhvr>
                                      <p:to>
                                        <p:strVal val="visible"/>
                                      </p:to>
                                    </p:set>
                                    <p:anim calcmode="lin" valueType="num">
                                      <p:cBhvr additive="base">
                                        <p:cTn id="82" dur="500" fill="hold"/>
                                        <p:tgtEl>
                                          <p:spTgt spid="54292"/>
                                        </p:tgtEl>
                                        <p:attrNameLst>
                                          <p:attrName>ppt_x</p:attrName>
                                        </p:attrNameLst>
                                      </p:cBhvr>
                                      <p:tavLst>
                                        <p:tav tm="0">
                                          <p:val>
                                            <p:strVal val="#ppt_x"/>
                                          </p:val>
                                        </p:tav>
                                        <p:tav tm="100000">
                                          <p:val>
                                            <p:strVal val="#ppt_x"/>
                                          </p:val>
                                        </p:tav>
                                      </p:tavLst>
                                    </p:anim>
                                    <p:anim calcmode="lin" valueType="num">
                                      <p:cBhvr additive="base">
                                        <p:cTn id="83" dur="500" fill="hold"/>
                                        <p:tgtEl>
                                          <p:spTgt spid="54292"/>
                                        </p:tgtEl>
                                        <p:attrNameLst>
                                          <p:attrName>ppt_y</p:attrName>
                                        </p:attrNameLst>
                                      </p:cBhvr>
                                      <p:tavLst>
                                        <p:tav tm="0">
                                          <p:val>
                                            <p:strVal val="1+#ppt_h/2"/>
                                          </p:val>
                                        </p:tav>
                                        <p:tav tm="100000">
                                          <p:val>
                                            <p:strVal val="#ppt_y"/>
                                          </p:val>
                                        </p:tav>
                                      </p:tavLst>
                                    </p:anim>
                                  </p:childTnLst>
                                </p:cTn>
                              </p:par>
                              <p:par>
                                <p:cTn id="84" presetID="2" presetClass="entr" presetSubtype="4" fill="hold" nodeType="withEffect">
                                  <p:stCondLst>
                                    <p:cond delay="0"/>
                                  </p:stCondLst>
                                  <p:childTnLst>
                                    <p:set>
                                      <p:cBhvr>
                                        <p:cTn id="85" dur="1" fill="hold">
                                          <p:stCondLst>
                                            <p:cond delay="0"/>
                                          </p:stCondLst>
                                        </p:cTn>
                                        <p:tgtEl>
                                          <p:spTgt spid="54293"/>
                                        </p:tgtEl>
                                        <p:attrNameLst>
                                          <p:attrName>style.visibility</p:attrName>
                                        </p:attrNameLst>
                                      </p:cBhvr>
                                      <p:to>
                                        <p:strVal val="visible"/>
                                      </p:to>
                                    </p:set>
                                    <p:anim calcmode="lin" valueType="num">
                                      <p:cBhvr additive="base">
                                        <p:cTn id="86" dur="500" fill="hold"/>
                                        <p:tgtEl>
                                          <p:spTgt spid="54293"/>
                                        </p:tgtEl>
                                        <p:attrNameLst>
                                          <p:attrName>ppt_x</p:attrName>
                                        </p:attrNameLst>
                                      </p:cBhvr>
                                      <p:tavLst>
                                        <p:tav tm="0">
                                          <p:val>
                                            <p:strVal val="#ppt_x"/>
                                          </p:val>
                                        </p:tav>
                                        <p:tav tm="100000">
                                          <p:val>
                                            <p:strVal val="#ppt_x"/>
                                          </p:val>
                                        </p:tav>
                                      </p:tavLst>
                                    </p:anim>
                                    <p:anim calcmode="lin" valueType="num">
                                      <p:cBhvr additive="base">
                                        <p:cTn id="87" dur="500" fill="hold"/>
                                        <p:tgtEl>
                                          <p:spTgt spid="54293"/>
                                        </p:tgtEl>
                                        <p:attrNameLst>
                                          <p:attrName>ppt_y</p:attrName>
                                        </p:attrNameLst>
                                      </p:cBhvr>
                                      <p:tavLst>
                                        <p:tav tm="0">
                                          <p:val>
                                            <p:strVal val="1+#ppt_h/2"/>
                                          </p:val>
                                        </p:tav>
                                        <p:tav tm="100000">
                                          <p:val>
                                            <p:strVal val="#ppt_y"/>
                                          </p:val>
                                        </p:tav>
                                      </p:tavLst>
                                    </p:anim>
                                  </p:childTnLst>
                                </p:cTn>
                              </p:par>
                              <p:par>
                                <p:cTn id="88" presetID="2" presetClass="entr" presetSubtype="4" fill="hold" nodeType="withEffect">
                                  <p:stCondLst>
                                    <p:cond delay="0"/>
                                  </p:stCondLst>
                                  <p:childTnLst>
                                    <p:set>
                                      <p:cBhvr>
                                        <p:cTn id="89" dur="1" fill="hold">
                                          <p:stCondLst>
                                            <p:cond delay="0"/>
                                          </p:stCondLst>
                                        </p:cTn>
                                        <p:tgtEl>
                                          <p:spTgt spid="54294"/>
                                        </p:tgtEl>
                                        <p:attrNameLst>
                                          <p:attrName>style.visibility</p:attrName>
                                        </p:attrNameLst>
                                      </p:cBhvr>
                                      <p:to>
                                        <p:strVal val="visible"/>
                                      </p:to>
                                    </p:set>
                                    <p:anim calcmode="lin" valueType="num">
                                      <p:cBhvr additive="base">
                                        <p:cTn id="90" dur="500" fill="hold"/>
                                        <p:tgtEl>
                                          <p:spTgt spid="54294"/>
                                        </p:tgtEl>
                                        <p:attrNameLst>
                                          <p:attrName>ppt_x</p:attrName>
                                        </p:attrNameLst>
                                      </p:cBhvr>
                                      <p:tavLst>
                                        <p:tav tm="0">
                                          <p:val>
                                            <p:strVal val="#ppt_x"/>
                                          </p:val>
                                        </p:tav>
                                        <p:tav tm="100000">
                                          <p:val>
                                            <p:strVal val="#ppt_x"/>
                                          </p:val>
                                        </p:tav>
                                      </p:tavLst>
                                    </p:anim>
                                    <p:anim calcmode="lin" valueType="num">
                                      <p:cBhvr additive="base">
                                        <p:cTn id="91" dur="500" fill="hold"/>
                                        <p:tgtEl>
                                          <p:spTgt spid="54294"/>
                                        </p:tgtEl>
                                        <p:attrNameLst>
                                          <p:attrName>ppt_y</p:attrName>
                                        </p:attrNameLst>
                                      </p:cBhvr>
                                      <p:tavLst>
                                        <p:tav tm="0">
                                          <p:val>
                                            <p:strVal val="1+#ppt_h/2"/>
                                          </p:val>
                                        </p:tav>
                                        <p:tav tm="100000">
                                          <p:val>
                                            <p:strVal val="#ppt_y"/>
                                          </p:val>
                                        </p:tav>
                                      </p:tavLst>
                                    </p:anim>
                                  </p:childTnLst>
                                </p:cTn>
                              </p:par>
                              <p:par>
                                <p:cTn id="92" presetID="2" presetClass="entr" presetSubtype="4" fill="hold" nodeType="withEffect">
                                  <p:stCondLst>
                                    <p:cond delay="0"/>
                                  </p:stCondLst>
                                  <p:childTnLst>
                                    <p:set>
                                      <p:cBhvr>
                                        <p:cTn id="93" dur="1" fill="hold">
                                          <p:stCondLst>
                                            <p:cond delay="0"/>
                                          </p:stCondLst>
                                        </p:cTn>
                                        <p:tgtEl>
                                          <p:spTgt spid="54295"/>
                                        </p:tgtEl>
                                        <p:attrNameLst>
                                          <p:attrName>style.visibility</p:attrName>
                                        </p:attrNameLst>
                                      </p:cBhvr>
                                      <p:to>
                                        <p:strVal val="visible"/>
                                      </p:to>
                                    </p:set>
                                    <p:anim calcmode="lin" valueType="num">
                                      <p:cBhvr additive="base">
                                        <p:cTn id="94" dur="500" fill="hold"/>
                                        <p:tgtEl>
                                          <p:spTgt spid="54295"/>
                                        </p:tgtEl>
                                        <p:attrNameLst>
                                          <p:attrName>ppt_x</p:attrName>
                                        </p:attrNameLst>
                                      </p:cBhvr>
                                      <p:tavLst>
                                        <p:tav tm="0">
                                          <p:val>
                                            <p:strVal val="#ppt_x"/>
                                          </p:val>
                                        </p:tav>
                                        <p:tav tm="100000">
                                          <p:val>
                                            <p:strVal val="#ppt_x"/>
                                          </p:val>
                                        </p:tav>
                                      </p:tavLst>
                                    </p:anim>
                                    <p:anim calcmode="lin" valueType="num">
                                      <p:cBhvr additive="base">
                                        <p:cTn id="95" dur="500" fill="hold"/>
                                        <p:tgtEl>
                                          <p:spTgt spid="54295"/>
                                        </p:tgtEl>
                                        <p:attrNameLst>
                                          <p:attrName>ppt_y</p:attrName>
                                        </p:attrNameLst>
                                      </p:cBhvr>
                                      <p:tavLst>
                                        <p:tav tm="0">
                                          <p:val>
                                            <p:strVal val="1+#ppt_h/2"/>
                                          </p:val>
                                        </p:tav>
                                        <p:tav tm="100000">
                                          <p:val>
                                            <p:strVal val="#ppt_y"/>
                                          </p:val>
                                        </p:tav>
                                      </p:tavLst>
                                    </p:anim>
                                  </p:childTnLst>
                                </p:cTn>
                              </p:par>
                              <p:par>
                                <p:cTn id="96" presetID="2" presetClass="entr" presetSubtype="4" fill="hold" nodeType="withEffect">
                                  <p:stCondLst>
                                    <p:cond delay="0"/>
                                  </p:stCondLst>
                                  <p:childTnLst>
                                    <p:set>
                                      <p:cBhvr>
                                        <p:cTn id="97" dur="1" fill="hold">
                                          <p:stCondLst>
                                            <p:cond delay="0"/>
                                          </p:stCondLst>
                                        </p:cTn>
                                        <p:tgtEl>
                                          <p:spTgt spid="54296"/>
                                        </p:tgtEl>
                                        <p:attrNameLst>
                                          <p:attrName>style.visibility</p:attrName>
                                        </p:attrNameLst>
                                      </p:cBhvr>
                                      <p:to>
                                        <p:strVal val="visible"/>
                                      </p:to>
                                    </p:set>
                                    <p:anim calcmode="lin" valueType="num">
                                      <p:cBhvr additive="base">
                                        <p:cTn id="98" dur="500" fill="hold"/>
                                        <p:tgtEl>
                                          <p:spTgt spid="54296"/>
                                        </p:tgtEl>
                                        <p:attrNameLst>
                                          <p:attrName>ppt_x</p:attrName>
                                        </p:attrNameLst>
                                      </p:cBhvr>
                                      <p:tavLst>
                                        <p:tav tm="0">
                                          <p:val>
                                            <p:strVal val="#ppt_x"/>
                                          </p:val>
                                        </p:tav>
                                        <p:tav tm="100000">
                                          <p:val>
                                            <p:strVal val="#ppt_x"/>
                                          </p:val>
                                        </p:tav>
                                      </p:tavLst>
                                    </p:anim>
                                    <p:anim calcmode="lin" valueType="num">
                                      <p:cBhvr additive="base">
                                        <p:cTn id="99" dur="500" fill="hold"/>
                                        <p:tgtEl>
                                          <p:spTgt spid="54296"/>
                                        </p:tgtEl>
                                        <p:attrNameLst>
                                          <p:attrName>ppt_y</p:attrName>
                                        </p:attrNameLst>
                                      </p:cBhvr>
                                      <p:tavLst>
                                        <p:tav tm="0">
                                          <p:val>
                                            <p:strVal val="1+#ppt_h/2"/>
                                          </p:val>
                                        </p:tav>
                                        <p:tav tm="100000">
                                          <p:val>
                                            <p:strVal val="#ppt_y"/>
                                          </p:val>
                                        </p:tav>
                                      </p:tavLst>
                                    </p:anim>
                                  </p:childTnLst>
                                </p:cTn>
                              </p:par>
                              <p:par>
                                <p:cTn id="100" presetID="2" presetClass="entr" presetSubtype="4" fill="hold" nodeType="withEffect">
                                  <p:stCondLst>
                                    <p:cond delay="0"/>
                                  </p:stCondLst>
                                  <p:childTnLst>
                                    <p:set>
                                      <p:cBhvr>
                                        <p:cTn id="101" dur="1" fill="hold">
                                          <p:stCondLst>
                                            <p:cond delay="0"/>
                                          </p:stCondLst>
                                        </p:cTn>
                                        <p:tgtEl>
                                          <p:spTgt spid="54297"/>
                                        </p:tgtEl>
                                        <p:attrNameLst>
                                          <p:attrName>style.visibility</p:attrName>
                                        </p:attrNameLst>
                                      </p:cBhvr>
                                      <p:to>
                                        <p:strVal val="visible"/>
                                      </p:to>
                                    </p:set>
                                    <p:anim calcmode="lin" valueType="num">
                                      <p:cBhvr additive="base">
                                        <p:cTn id="102" dur="500" fill="hold"/>
                                        <p:tgtEl>
                                          <p:spTgt spid="54297"/>
                                        </p:tgtEl>
                                        <p:attrNameLst>
                                          <p:attrName>ppt_x</p:attrName>
                                        </p:attrNameLst>
                                      </p:cBhvr>
                                      <p:tavLst>
                                        <p:tav tm="0">
                                          <p:val>
                                            <p:strVal val="#ppt_x"/>
                                          </p:val>
                                        </p:tav>
                                        <p:tav tm="100000">
                                          <p:val>
                                            <p:strVal val="#ppt_x"/>
                                          </p:val>
                                        </p:tav>
                                      </p:tavLst>
                                    </p:anim>
                                    <p:anim calcmode="lin" valueType="num">
                                      <p:cBhvr additive="base">
                                        <p:cTn id="103" dur="500" fill="hold"/>
                                        <p:tgtEl>
                                          <p:spTgt spid="54297"/>
                                        </p:tgtEl>
                                        <p:attrNameLst>
                                          <p:attrName>ppt_y</p:attrName>
                                        </p:attrNameLst>
                                      </p:cBhvr>
                                      <p:tavLst>
                                        <p:tav tm="0">
                                          <p:val>
                                            <p:strVal val="1+#ppt_h/2"/>
                                          </p:val>
                                        </p:tav>
                                        <p:tav tm="100000">
                                          <p:val>
                                            <p:strVal val="#ppt_y"/>
                                          </p:val>
                                        </p:tav>
                                      </p:tavLst>
                                    </p:anim>
                                  </p:childTnLst>
                                </p:cTn>
                              </p:par>
                              <p:par>
                                <p:cTn id="104" presetID="2" presetClass="entr" presetSubtype="4" fill="hold" nodeType="withEffect">
                                  <p:stCondLst>
                                    <p:cond delay="0"/>
                                  </p:stCondLst>
                                  <p:childTnLst>
                                    <p:set>
                                      <p:cBhvr>
                                        <p:cTn id="105" dur="1" fill="hold">
                                          <p:stCondLst>
                                            <p:cond delay="0"/>
                                          </p:stCondLst>
                                        </p:cTn>
                                        <p:tgtEl>
                                          <p:spTgt spid="54298"/>
                                        </p:tgtEl>
                                        <p:attrNameLst>
                                          <p:attrName>style.visibility</p:attrName>
                                        </p:attrNameLst>
                                      </p:cBhvr>
                                      <p:to>
                                        <p:strVal val="visible"/>
                                      </p:to>
                                    </p:set>
                                    <p:anim calcmode="lin" valueType="num">
                                      <p:cBhvr additive="base">
                                        <p:cTn id="106" dur="500" fill="hold"/>
                                        <p:tgtEl>
                                          <p:spTgt spid="54298"/>
                                        </p:tgtEl>
                                        <p:attrNameLst>
                                          <p:attrName>ppt_x</p:attrName>
                                        </p:attrNameLst>
                                      </p:cBhvr>
                                      <p:tavLst>
                                        <p:tav tm="0">
                                          <p:val>
                                            <p:strVal val="#ppt_x"/>
                                          </p:val>
                                        </p:tav>
                                        <p:tav tm="100000">
                                          <p:val>
                                            <p:strVal val="#ppt_x"/>
                                          </p:val>
                                        </p:tav>
                                      </p:tavLst>
                                    </p:anim>
                                    <p:anim calcmode="lin" valueType="num">
                                      <p:cBhvr additive="base">
                                        <p:cTn id="107" dur="500" fill="hold"/>
                                        <p:tgtEl>
                                          <p:spTgt spid="54298"/>
                                        </p:tgtEl>
                                        <p:attrNameLst>
                                          <p:attrName>ppt_y</p:attrName>
                                        </p:attrNameLst>
                                      </p:cBhvr>
                                      <p:tavLst>
                                        <p:tav tm="0">
                                          <p:val>
                                            <p:strVal val="1+#ppt_h/2"/>
                                          </p:val>
                                        </p:tav>
                                        <p:tav tm="100000">
                                          <p:val>
                                            <p:strVal val="#ppt_y"/>
                                          </p:val>
                                        </p:tav>
                                      </p:tavLst>
                                    </p:anim>
                                  </p:childTnLst>
                                </p:cTn>
                              </p:par>
                              <p:par>
                                <p:cTn id="108" presetID="2" presetClass="entr" presetSubtype="4" fill="hold" grpId="0" nodeType="withEffect">
                                  <p:stCondLst>
                                    <p:cond delay="0"/>
                                  </p:stCondLst>
                                  <p:childTnLst>
                                    <p:set>
                                      <p:cBhvr>
                                        <p:cTn id="109" dur="1" fill="hold">
                                          <p:stCondLst>
                                            <p:cond delay="0"/>
                                          </p:stCondLst>
                                        </p:cTn>
                                        <p:tgtEl>
                                          <p:spTgt spid="54299"/>
                                        </p:tgtEl>
                                        <p:attrNameLst>
                                          <p:attrName>style.visibility</p:attrName>
                                        </p:attrNameLst>
                                      </p:cBhvr>
                                      <p:to>
                                        <p:strVal val="visible"/>
                                      </p:to>
                                    </p:set>
                                    <p:anim calcmode="lin" valueType="num">
                                      <p:cBhvr additive="base">
                                        <p:cTn id="110" dur="500" fill="hold"/>
                                        <p:tgtEl>
                                          <p:spTgt spid="54299"/>
                                        </p:tgtEl>
                                        <p:attrNameLst>
                                          <p:attrName>ppt_x</p:attrName>
                                        </p:attrNameLst>
                                      </p:cBhvr>
                                      <p:tavLst>
                                        <p:tav tm="0">
                                          <p:val>
                                            <p:strVal val="#ppt_x"/>
                                          </p:val>
                                        </p:tav>
                                        <p:tav tm="100000">
                                          <p:val>
                                            <p:strVal val="#ppt_x"/>
                                          </p:val>
                                        </p:tav>
                                      </p:tavLst>
                                    </p:anim>
                                    <p:anim calcmode="lin" valueType="num">
                                      <p:cBhvr additive="base">
                                        <p:cTn id="111" dur="500" fill="hold"/>
                                        <p:tgtEl>
                                          <p:spTgt spid="54299"/>
                                        </p:tgtEl>
                                        <p:attrNameLst>
                                          <p:attrName>ppt_y</p:attrName>
                                        </p:attrNameLst>
                                      </p:cBhvr>
                                      <p:tavLst>
                                        <p:tav tm="0">
                                          <p:val>
                                            <p:strVal val="1+#ppt_h/2"/>
                                          </p:val>
                                        </p:tav>
                                        <p:tav tm="100000">
                                          <p:val>
                                            <p:strVal val="#ppt_y"/>
                                          </p:val>
                                        </p:tav>
                                      </p:tavLst>
                                    </p:anim>
                                  </p:childTnLst>
                                </p:cTn>
                              </p:par>
                              <p:par>
                                <p:cTn id="112" presetID="2" presetClass="entr" presetSubtype="4" fill="hold" grpId="0" nodeType="withEffect">
                                  <p:stCondLst>
                                    <p:cond delay="0"/>
                                  </p:stCondLst>
                                  <p:childTnLst>
                                    <p:set>
                                      <p:cBhvr>
                                        <p:cTn id="113" dur="1" fill="hold">
                                          <p:stCondLst>
                                            <p:cond delay="0"/>
                                          </p:stCondLst>
                                        </p:cTn>
                                        <p:tgtEl>
                                          <p:spTgt spid="54300"/>
                                        </p:tgtEl>
                                        <p:attrNameLst>
                                          <p:attrName>style.visibility</p:attrName>
                                        </p:attrNameLst>
                                      </p:cBhvr>
                                      <p:to>
                                        <p:strVal val="visible"/>
                                      </p:to>
                                    </p:set>
                                    <p:anim calcmode="lin" valueType="num">
                                      <p:cBhvr additive="base">
                                        <p:cTn id="114" dur="500" fill="hold"/>
                                        <p:tgtEl>
                                          <p:spTgt spid="54300"/>
                                        </p:tgtEl>
                                        <p:attrNameLst>
                                          <p:attrName>ppt_x</p:attrName>
                                        </p:attrNameLst>
                                      </p:cBhvr>
                                      <p:tavLst>
                                        <p:tav tm="0">
                                          <p:val>
                                            <p:strVal val="#ppt_x"/>
                                          </p:val>
                                        </p:tav>
                                        <p:tav tm="100000">
                                          <p:val>
                                            <p:strVal val="#ppt_x"/>
                                          </p:val>
                                        </p:tav>
                                      </p:tavLst>
                                    </p:anim>
                                    <p:anim calcmode="lin" valueType="num">
                                      <p:cBhvr additive="base">
                                        <p:cTn id="115" dur="500" fill="hold"/>
                                        <p:tgtEl>
                                          <p:spTgt spid="54300"/>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54301"/>
                                        </p:tgtEl>
                                        <p:attrNameLst>
                                          <p:attrName>style.visibility</p:attrName>
                                        </p:attrNameLst>
                                      </p:cBhvr>
                                      <p:to>
                                        <p:strVal val="visible"/>
                                      </p:to>
                                    </p:set>
                                    <p:anim calcmode="lin" valueType="num">
                                      <p:cBhvr additive="base">
                                        <p:cTn id="118" dur="500" fill="hold"/>
                                        <p:tgtEl>
                                          <p:spTgt spid="54301"/>
                                        </p:tgtEl>
                                        <p:attrNameLst>
                                          <p:attrName>ppt_x</p:attrName>
                                        </p:attrNameLst>
                                      </p:cBhvr>
                                      <p:tavLst>
                                        <p:tav tm="0">
                                          <p:val>
                                            <p:strVal val="#ppt_x"/>
                                          </p:val>
                                        </p:tav>
                                        <p:tav tm="100000">
                                          <p:val>
                                            <p:strVal val="#ppt_x"/>
                                          </p:val>
                                        </p:tav>
                                      </p:tavLst>
                                    </p:anim>
                                    <p:anim calcmode="lin" valueType="num">
                                      <p:cBhvr additive="base">
                                        <p:cTn id="119" dur="500" fill="hold"/>
                                        <p:tgtEl>
                                          <p:spTgt spid="543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animBg="1"/>
      <p:bldP spid="54280" grpId="0" animBg="1"/>
      <p:bldP spid="54283" grpId="0" animBg="1"/>
      <p:bldP spid="54286" grpId="0"/>
      <p:bldP spid="54288" grpId="0" animBg="1"/>
      <p:bldP spid="54290" grpId="0" animBg="1"/>
      <p:bldP spid="54292" grpId="0" animBg="1"/>
      <p:bldP spid="54299" grpId="0"/>
      <p:bldP spid="54300" grpId="0"/>
      <p:bldP spid="54301"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119811" name="Text Box 4"/>
          <p:cNvSpPr txBox="1">
            <a:spLocks noChangeArrowheads="1"/>
          </p:cNvSpPr>
          <p:nvPr/>
        </p:nvSpPr>
        <p:spPr bwMode="auto">
          <a:xfrm>
            <a:off x="5638800" y="4953000"/>
            <a:ext cx="404971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删除*</a:t>
            </a:r>
            <a:r>
              <a:rPr kumimoji="1" lang="en-US" altLang="zh-CN" sz="2400">
                <a:latin typeface="Times New Roman" panose="02020603050405020304" pitchFamily="18" charset="0"/>
                <a:ea typeface="宋体" panose="02010600030101010101" pitchFamily="2" charset="-122"/>
              </a:rPr>
              <a:t>q</a:t>
            </a:r>
            <a:endParaRPr kumimoji="1" lang="en-US" altLang="zh-CN" sz="1000">
              <a:latin typeface="Times New Roman" panose="02020603050405020304" pitchFamily="18" charset="0"/>
              <a:ea typeface="宋体" panose="02010600030101010101" pitchFamily="2" charset="-122"/>
            </a:endParaRPr>
          </a:p>
        </p:txBody>
      </p:sp>
      <p:sp>
        <p:nvSpPr>
          <p:cNvPr id="119812" name="Rectangle 5"/>
          <p:cNvSpPr>
            <a:spLocks noChangeArrowheads="1"/>
          </p:cNvSpPr>
          <p:nvPr/>
        </p:nvSpPr>
        <p:spPr bwMode="auto">
          <a:xfrm>
            <a:off x="7407275" y="3232150"/>
            <a:ext cx="1203325" cy="5572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9813" name="Line 6"/>
          <p:cNvSpPr>
            <a:spLocks noChangeShapeType="1"/>
          </p:cNvSpPr>
          <p:nvPr/>
        </p:nvSpPr>
        <p:spPr bwMode="auto">
          <a:xfrm>
            <a:off x="8043863" y="3232150"/>
            <a:ext cx="0" cy="5572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9814" name="Rectangle 7"/>
          <p:cNvSpPr>
            <a:spLocks noChangeArrowheads="1"/>
          </p:cNvSpPr>
          <p:nvPr/>
        </p:nvSpPr>
        <p:spPr bwMode="auto">
          <a:xfrm>
            <a:off x="5668963" y="3213100"/>
            <a:ext cx="1203325" cy="5572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9815" name="Line 8"/>
          <p:cNvSpPr>
            <a:spLocks noChangeShapeType="1"/>
          </p:cNvSpPr>
          <p:nvPr/>
        </p:nvSpPr>
        <p:spPr bwMode="auto">
          <a:xfrm>
            <a:off x="6305550" y="3213100"/>
            <a:ext cx="0" cy="5572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9816" name="Rectangle 9"/>
          <p:cNvSpPr>
            <a:spLocks noChangeArrowheads="1"/>
          </p:cNvSpPr>
          <p:nvPr/>
        </p:nvSpPr>
        <p:spPr bwMode="auto">
          <a:xfrm>
            <a:off x="3802063" y="3187700"/>
            <a:ext cx="1203325" cy="5572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19817" name="Line 10"/>
          <p:cNvSpPr>
            <a:spLocks noChangeShapeType="1"/>
          </p:cNvSpPr>
          <p:nvPr/>
        </p:nvSpPr>
        <p:spPr bwMode="auto">
          <a:xfrm>
            <a:off x="4438650" y="3187700"/>
            <a:ext cx="0" cy="5572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9818" name="Line 11"/>
          <p:cNvSpPr>
            <a:spLocks noChangeShapeType="1"/>
          </p:cNvSpPr>
          <p:nvPr/>
        </p:nvSpPr>
        <p:spPr bwMode="auto">
          <a:xfrm>
            <a:off x="5715000" y="2819400"/>
            <a:ext cx="636588" cy="35718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9819" name="Text Box 12"/>
          <p:cNvSpPr txBox="1">
            <a:spLocks noChangeArrowheads="1"/>
          </p:cNvSpPr>
          <p:nvPr/>
        </p:nvSpPr>
        <p:spPr bwMode="auto">
          <a:xfrm>
            <a:off x="5483225" y="2517775"/>
            <a:ext cx="4603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q</a:t>
            </a:r>
            <a:endParaRPr kumimoji="1" lang="en-US" altLang="zh-CN" sz="1000">
              <a:latin typeface="Times New Roman" panose="02020603050405020304" pitchFamily="18" charset="0"/>
              <a:ea typeface="宋体" panose="02010600030101010101" pitchFamily="2" charset="-122"/>
            </a:endParaRPr>
          </a:p>
        </p:txBody>
      </p:sp>
      <p:sp>
        <p:nvSpPr>
          <p:cNvPr id="119820" name="Line 13"/>
          <p:cNvSpPr>
            <a:spLocks noChangeShapeType="1"/>
          </p:cNvSpPr>
          <p:nvPr/>
        </p:nvSpPr>
        <p:spPr bwMode="auto">
          <a:xfrm>
            <a:off x="6659563" y="3525838"/>
            <a:ext cx="6365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9821" name="Line 14"/>
          <p:cNvSpPr>
            <a:spLocks noChangeShapeType="1"/>
          </p:cNvSpPr>
          <p:nvPr/>
        </p:nvSpPr>
        <p:spPr bwMode="auto">
          <a:xfrm>
            <a:off x="3124200" y="3511550"/>
            <a:ext cx="6365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9822" name="Line 15"/>
          <p:cNvSpPr>
            <a:spLocks noChangeShapeType="1"/>
          </p:cNvSpPr>
          <p:nvPr/>
        </p:nvSpPr>
        <p:spPr bwMode="auto">
          <a:xfrm>
            <a:off x="3956050" y="2794000"/>
            <a:ext cx="636588" cy="35718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9823" name="Text Box 16"/>
          <p:cNvSpPr txBox="1">
            <a:spLocks noChangeArrowheads="1"/>
          </p:cNvSpPr>
          <p:nvPr/>
        </p:nvSpPr>
        <p:spPr bwMode="auto">
          <a:xfrm>
            <a:off x="3638550" y="2527300"/>
            <a:ext cx="4603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19824" name="Line 17"/>
          <p:cNvSpPr>
            <a:spLocks noChangeShapeType="1"/>
          </p:cNvSpPr>
          <p:nvPr/>
        </p:nvSpPr>
        <p:spPr bwMode="auto">
          <a:xfrm>
            <a:off x="4821238" y="3511550"/>
            <a:ext cx="8048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9825" name="Line 18"/>
          <p:cNvSpPr>
            <a:spLocks noChangeShapeType="1"/>
          </p:cNvSpPr>
          <p:nvPr/>
        </p:nvSpPr>
        <p:spPr bwMode="auto">
          <a:xfrm>
            <a:off x="8431213" y="3505200"/>
            <a:ext cx="6365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120835" name="Text Box 4"/>
          <p:cNvSpPr txBox="1">
            <a:spLocks noChangeArrowheads="1"/>
          </p:cNvSpPr>
          <p:nvPr/>
        </p:nvSpPr>
        <p:spPr bwMode="auto">
          <a:xfrm>
            <a:off x="5638800" y="5270500"/>
            <a:ext cx="404971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删除*</a:t>
            </a:r>
            <a:r>
              <a:rPr kumimoji="1" lang="en-US" altLang="zh-CN" sz="2400">
                <a:latin typeface="Times New Roman" panose="02020603050405020304" pitchFamily="18" charset="0"/>
                <a:ea typeface="宋体" panose="02010600030101010101" pitchFamily="2" charset="-122"/>
              </a:rPr>
              <a:t>q</a:t>
            </a:r>
            <a:endParaRPr kumimoji="1" lang="en-US" altLang="zh-CN" sz="1000">
              <a:latin typeface="Times New Roman" panose="02020603050405020304" pitchFamily="18" charset="0"/>
              <a:ea typeface="宋体" panose="02010600030101010101" pitchFamily="2" charset="-122"/>
            </a:endParaRPr>
          </a:p>
        </p:txBody>
      </p:sp>
      <p:sp>
        <p:nvSpPr>
          <p:cNvPr id="120836" name="Rectangle 5"/>
          <p:cNvSpPr>
            <a:spLocks noChangeArrowheads="1"/>
          </p:cNvSpPr>
          <p:nvPr/>
        </p:nvSpPr>
        <p:spPr bwMode="auto">
          <a:xfrm>
            <a:off x="7407275" y="3549650"/>
            <a:ext cx="1203325" cy="5572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20837" name="Line 6"/>
          <p:cNvSpPr>
            <a:spLocks noChangeShapeType="1"/>
          </p:cNvSpPr>
          <p:nvPr/>
        </p:nvSpPr>
        <p:spPr bwMode="auto">
          <a:xfrm>
            <a:off x="8043863" y="3549650"/>
            <a:ext cx="0" cy="5572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38" name="Rectangle 7"/>
          <p:cNvSpPr>
            <a:spLocks noChangeArrowheads="1"/>
          </p:cNvSpPr>
          <p:nvPr/>
        </p:nvSpPr>
        <p:spPr bwMode="auto">
          <a:xfrm>
            <a:off x="5668963" y="3530600"/>
            <a:ext cx="1203325" cy="5572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20839" name="Line 8"/>
          <p:cNvSpPr>
            <a:spLocks noChangeShapeType="1"/>
          </p:cNvSpPr>
          <p:nvPr/>
        </p:nvSpPr>
        <p:spPr bwMode="auto">
          <a:xfrm>
            <a:off x="6305550" y="3530600"/>
            <a:ext cx="0" cy="5572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40" name="Rectangle 9"/>
          <p:cNvSpPr>
            <a:spLocks noChangeArrowheads="1"/>
          </p:cNvSpPr>
          <p:nvPr/>
        </p:nvSpPr>
        <p:spPr bwMode="auto">
          <a:xfrm>
            <a:off x="3802063" y="3505200"/>
            <a:ext cx="1203325" cy="5572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20841" name="Line 10"/>
          <p:cNvSpPr>
            <a:spLocks noChangeShapeType="1"/>
          </p:cNvSpPr>
          <p:nvPr/>
        </p:nvSpPr>
        <p:spPr bwMode="auto">
          <a:xfrm>
            <a:off x="4438650" y="3505200"/>
            <a:ext cx="0" cy="5572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42" name="Line 11"/>
          <p:cNvSpPr>
            <a:spLocks noChangeShapeType="1"/>
          </p:cNvSpPr>
          <p:nvPr/>
        </p:nvSpPr>
        <p:spPr bwMode="auto">
          <a:xfrm>
            <a:off x="5715000" y="3136900"/>
            <a:ext cx="636588" cy="35718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43" name="Text Box 12"/>
          <p:cNvSpPr txBox="1">
            <a:spLocks noChangeArrowheads="1"/>
          </p:cNvSpPr>
          <p:nvPr/>
        </p:nvSpPr>
        <p:spPr bwMode="auto">
          <a:xfrm>
            <a:off x="5483225" y="2835275"/>
            <a:ext cx="4603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q</a:t>
            </a:r>
            <a:endParaRPr kumimoji="1" lang="en-US" altLang="zh-CN" sz="1000">
              <a:latin typeface="Times New Roman" panose="02020603050405020304" pitchFamily="18" charset="0"/>
              <a:ea typeface="宋体" panose="02010600030101010101" pitchFamily="2" charset="-122"/>
            </a:endParaRPr>
          </a:p>
        </p:txBody>
      </p:sp>
      <p:sp>
        <p:nvSpPr>
          <p:cNvPr id="120844" name="Line 13"/>
          <p:cNvSpPr>
            <a:spLocks noChangeShapeType="1"/>
          </p:cNvSpPr>
          <p:nvPr/>
        </p:nvSpPr>
        <p:spPr bwMode="auto">
          <a:xfrm>
            <a:off x="6659563" y="3843338"/>
            <a:ext cx="6365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45" name="Line 14"/>
          <p:cNvSpPr>
            <a:spLocks noChangeShapeType="1"/>
          </p:cNvSpPr>
          <p:nvPr/>
        </p:nvSpPr>
        <p:spPr bwMode="auto">
          <a:xfrm>
            <a:off x="3124200" y="3829050"/>
            <a:ext cx="6365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46" name="Line 15"/>
          <p:cNvSpPr>
            <a:spLocks noChangeShapeType="1"/>
          </p:cNvSpPr>
          <p:nvPr/>
        </p:nvSpPr>
        <p:spPr bwMode="auto">
          <a:xfrm>
            <a:off x="4767263" y="3808413"/>
            <a:ext cx="0" cy="85407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47" name="Line 16"/>
          <p:cNvSpPr>
            <a:spLocks noChangeShapeType="1"/>
          </p:cNvSpPr>
          <p:nvPr/>
        </p:nvSpPr>
        <p:spPr bwMode="auto">
          <a:xfrm>
            <a:off x="4767263" y="4662488"/>
            <a:ext cx="2862262" cy="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48" name="Line 17"/>
          <p:cNvSpPr>
            <a:spLocks noChangeShapeType="1"/>
          </p:cNvSpPr>
          <p:nvPr/>
        </p:nvSpPr>
        <p:spPr bwMode="auto">
          <a:xfrm>
            <a:off x="3956050" y="3111500"/>
            <a:ext cx="636588" cy="35718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49" name="Text Box 18"/>
          <p:cNvSpPr txBox="1">
            <a:spLocks noChangeArrowheads="1"/>
          </p:cNvSpPr>
          <p:nvPr/>
        </p:nvSpPr>
        <p:spPr bwMode="auto">
          <a:xfrm>
            <a:off x="3638550" y="2844800"/>
            <a:ext cx="4603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20850" name="Line 19"/>
          <p:cNvSpPr>
            <a:spLocks noChangeShapeType="1"/>
          </p:cNvSpPr>
          <p:nvPr/>
        </p:nvSpPr>
        <p:spPr bwMode="auto">
          <a:xfrm flipV="1">
            <a:off x="7577138" y="4092575"/>
            <a:ext cx="11112" cy="55880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51" name="Text Box 20"/>
          <p:cNvSpPr txBox="1">
            <a:spLocks noChangeArrowheads="1"/>
          </p:cNvSpPr>
          <p:nvPr/>
        </p:nvSpPr>
        <p:spPr bwMode="auto">
          <a:xfrm>
            <a:off x="7491413" y="1704975"/>
            <a:ext cx="27447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① p-&gt;next=q-&gt;next;</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p:txBody>
      </p:sp>
      <p:sp>
        <p:nvSpPr>
          <p:cNvPr id="120852" name="Line 21"/>
          <p:cNvSpPr>
            <a:spLocks noChangeShapeType="1"/>
          </p:cNvSpPr>
          <p:nvPr/>
        </p:nvSpPr>
        <p:spPr bwMode="auto">
          <a:xfrm>
            <a:off x="8431213" y="3822700"/>
            <a:ext cx="6365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0853" name="Text Box 22"/>
          <p:cNvSpPr txBox="1">
            <a:spLocks noChangeArrowheads="1"/>
          </p:cNvSpPr>
          <p:nvPr/>
        </p:nvSpPr>
        <p:spPr bwMode="auto">
          <a:xfrm>
            <a:off x="5943600" y="46609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①</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121859" name="Text Box 4"/>
          <p:cNvSpPr txBox="1">
            <a:spLocks noChangeArrowheads="1"/>
          </p:cNvSpPr>
          <p:nvPr/>
        </p:nvSpPr>
        <p:spPr bwMode="auto">
          <a:xfrm>
            <a:off x="5638800" y="5343525"/>
            <a:ext cx="404971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删除*</a:t>
            </a:r>
            <a:r>
              <a:rPr kumimoji="1" lang="en-US" altLang="zh-CN" sz="2400">
                <a:latin typeface="Times New Roman" panose="02020603050405020304" pitchFamily="18" charset="0"/>
                <a:ea typeface="宋体" panose="02010600030101010101" pitchFamily="2" charset="-122"/>
              </a:rPr>
              <a:t>q</a:t>
            </a:r>
            <a:endParaRPr kumimoji="1" lang="en-US" altLang="zh-CN" sz="1000">
              <a:latin typeface="Times New Roman" panose="02020603050405020304" pitchFamily="18" charset="0"/>
              <a:ea typeface="宋体" panose="02010600030101010101" pitchFamily="2" charset="-122"/>
            </a:endParaRPr>
          </a:p>
        </p:txBody>
      </p:sp>
      <p:sp>
        <p:nvSpPr>
          <p:cNvPr id="121860" name="Rectangle 5"/>
          <p:cNvSpPr>
            <a:spLocks noChangeArrowheads="1"/>
          </p:cNvSpPr>
          <p:nvPr/>
        </p:nvSpPr>
        <p:spPr bwMode="auto">
          <a:xfrm>
            <a:off x="7407275" y="3622675"/>
            <a:ext cx="1203325" cy="5572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21861" name="Line 6"/>
          <p:cNvSpPr>
            <a:spLocks noChangeShapeType="1"/>
          </p:cNvSpPr>
          <p:nvPr/>
        </p:nvSpPr>
        <p:spPr bwMode="auto">
          <a:xfrm>
            <a:off x="8043863" y="3622675"/>
            <a:ext cx="0" cy="5572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62" name="Rectangle 7"/>
          <p:cNvSpPr>
            <a:spLocks noChangeArrowheads="1"/>
          </p:cNvSpPr>
          <p:nvPr/>
        </p:nvSpPr>
        <p:spPr bwMode="auto">
          <a:xfrm>
            <a:off x="5668963" y="3603625"/>
            <a:ext cx="1203325" cy="5572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21863" name="Line 8"/>
          <p:cNvSpPr>
            <a:spLocks noChangeShapeType="1"/>
          </p:cNvSpPr>
          <p:nvPr/>
        </p:nvSpPr>
        <p:spPr bwMode="auto">
          <a:xfrm>
            <a:off x="6305550" y="3603625"/>
            <a:ext cx="0" cy="5572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64" name="Rectangle 9"/>
          <p:cNvSpPr>
            <a:spLocks noChangeArrowheads="1"/>
          </p:cNvSpPr>
          <p:nvPr/>
        </p:nvSpPr>
        <p:spPr bwMode="auto">
          <a:xfrm>
            <a:off x="3802063" y="3578225"/>
            <a:ext cx="1203325" cy="5572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21865" name="Line 10"/>
          <p:cNvSpPr>
            <a:spLocks noChangeShapeType="1"/>
          </p:cNvSpPr>
          <p:nvPr/>
        </p:nvSpPr>
        <p:spPr bwMode="auto">
          <a:xfrm>
            <a:off x="4438650" y="3578225"/>
            <a:ext cx="0" cy="5572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66" name="Line 11"/>
          <p:cNvSpPr>
            <a:spLocks noChangeShapeType="1"/>
          </p:cNvSpPr>
          <p:nvPr/>
        </p:nvSpPr>
        <p:spPr bwMode="auto">
          <a:xfrm>
            <a:off x="5715000" y="3209925"/>
            <a:ext cx="636588" cy="35718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67" name="Text Box 12"/>
          <p:cNvSpPr txBox="1">
            <a:spLocks noChangeArrowheads="1"/>
          </p:cNvSpPr>
          <p:nvPr/>
        </p:nvSpPr>
        <p:spPr bwMode="auto">
          <a:xfrm>
            <a:off x="5483225" y="2908300"/>
            <a:ext cx="4603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q</a:t>
            </a:r>
            <a:endParaRPr kumimoji="1" lang="en-US" altLang="zh-CN" sz="1000">
              <a:latin typeface="Times New Roman" panose="02020603050405020304" pitchFamily="18" charset="0"/>
              <a:ea typeface="宋体" panose="02010600030101010101" pitchFamily="2" charset="-122"/>
            </a:endParaRPr>
          </a:p>
        </p:txBody>
      </p:sp>
      <p:sp>
        <p:nvSpPr>
          <p:cNvPr id="121868" name="Line 13"/>
          <p:cNvSpPr>
            <a:spLocks noChangeShapeType="1"/>
          </p:cNvSpPr>
          <p:nvPr/>
        </p:nvSpPr>
        <p:spPr bwMode="auto">
          <a:xfrm>
            <a:off x="6659563" y="3916363"/>
            <a:ext cx="6365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69" name="Line 14"/>
          <p:cNvSpPr>
            <a:spLocks noChangeShapeType="1"/>
          </p:cNvSpPr>
          <p:nvPr/>
        </p:nvSpPr>
        <p:spPr bwMode="auto">
          <a:xfrm>
            <a:off x="3124200" y="3902075"/>
            <a:ext cx="6365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70" name="Line 15"/>
          <p:cNvSpPr>
            <a:spLocks noChangeShapeType="1"/>
          </p:cNvSpPr>
          <p:nvPr/>
        </p:nvSpPr>
        <p:spPr bwMode="auto">
          <a:xfrm>
            <a:off x="4767263" y="3881438"/>
            <a:ext cx="0" cy="85407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71" name="Line 16"/>
          <p:cNvSpPr>
            <a:spLocks noChangeShapeType="1"/>
          </p:cNvSpPr>
          <p:nvPr/>
        </p:nvSpPr>
        <p:spPr bwMode="auto">
          <a:xfrm>
            <a:off x="4767263" y="4735513"/>
            <a:ext cx="2862262" cy="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72" name="Line 17"/>
          <p:cNvSpPr>
            <a:spLocks noChangeShapeType="1"/>
          </p:cNvSpPr>
          <p:nvPr/>
        </p:nvSpPr>
        <p:spPr bwMode="auto">
          <a:xfrm>
            <a:off x="3956050" y="3184525"/>
            <a:ext cx="636588" cy="35718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73" name="Text Box 18"/>
          <p:cNvSpPr txBox="1">
            <a:spLocks noChangeArrowheads="1"/>
          </p:cNvSpPr>
          <p:nvPr/>
        </p:nvSpPr>
        <p:spPr bwMode="auto">
          <a:xfrm>
            <a:off x="3638550" y="2917825"/>
            <a:ext cx="4603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21874" name="Line 19"/>
          <p:cNvSpPr>
            <a:spLocks noChangeShapeType="1"/>
          </p:cNvSpPr>
          <p:nvPr/>
        </p:nvSpPr>
        <p:spPr bwMode="auto">
          <a:xfrm flipV="1">
            <a:off x="7577138" y="4165600"/>
            <a:ext cx="11112" cy="55880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75" name="Text Box 20"/>
          <p:cNvSpPr txBox="1">
            <a:spLocks noChangeArrowheads="1"/>
          </p:cNvSpPr>
          <p:nvPr/>
        </p:nvSpPr>
        <p:spPr bwMode="auto">
          <a:xfrm>
            <a:off x="7491413" y="1778000"/>
            <a:ext cx="27447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① p-&gt;next=q-&gt;next;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② free(q);</a:t>
            </a:r>
          </a:p>
        </p:txBody>
      </p:sp>
      <p:sp>
        <p:nvSpPr>
          <p:cNvPr id="121876" name="Line 21"/>
          <p:cNvSpPr>
            <a:spLocks noChangeShapeType="1"/>
          </p:cNvSpPr>
          <p:nvPr/>
        </p:nvSpPr>
        <p:spPr bwMode="auto">
          <a:xfrm>
            <a:off x="8431213" y="3895725"/>
            <a:ext cx="6365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1877" name="Text Box 22"/>
          <p:cNvSpPr txBox="1">
            <a:spLocks noChangeArrowheads="1"/>
          </p:cNvSpPr>
          <p:nvPr/>
        </p:nvSpPr>
        <p:spPr bwMode="auto">
          <a:xfrm>
            <a:off x="5943600" y="47339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①</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122883" name="Text Box 4"/>
          <p:cNvSpPr txBox="1">
            <a:spLocks noChangeArrowheads="1"/>
          </p:cNvSpPr>
          <p:nvPr/>
        </p:nvSpPr>
        <p:spPr bwMode="auto">
          <a:xfrm>
            <a:off x="5638800" y="5414963"/>
            <a:ext cx="404971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zh-CN" altLang="en-US" sz="2400">
                <a:latin typeface="Times New Roman" panose="02020603050405020304" pitchFamily="18" charset="0"/>
                <a:ea typeface="宋体" panose="02010600030101010101" pitchFamily="2" charset="-122"/>
              </a:rPr>
              <a:t>删除*</a:t>
            </a:r>
            <a:r>
              <a:rPr kumimoji="1" lang="en-US" altLang="zh-CN" sz="2400">
                <a:latin typeface="Times New Roman" panose="02020603050405020304" pitchFamily="18" charset="0"/>
                <a:ea typeface="宋体" panose="02010600030101010101" pitchFamily="2" charset="-122"/>
              </a:rPr>
              <a:t>q</a:t>
            </a:r>
            <a:endParaRPr kumimoji="1" lang="en-US" altLang="zh-CN" sz="1000">
              <a:latin typeface="Times New Roman" panose="02020603050405020304" pitchFamily="18" charset="0"/>
              <a:ea typeface="宋体" panose="02010600030101010101" pitchFamily="2" charset="-122"/>
            </a:endParaRPr>
          </a:p>
        </p:txBody>
      </p:sp>
      <p:sp>
        <p:nvSpPr>
          <p:cNvPr id="122884" name="Rectangle 5"/>
          <p:cNvSpPr>
            <a:spLocks noChangeArrowheads="1"/>
          </p:cNvSpPr>
          <p:nvPr/>
        </p:nvSpPr>
        <p:spPr bwMode="auto">
          <a:xfrm>
            <a:off x="7407275" y="3694113"/>
            <a:ext cx="1203325" cy="5572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22885" name="Line 6"/>
          <p:cNvSpPr>
            <a:spLocks noChangeShapeType="1"/>
          </p:cNvSpPr>
          <p:nvPr/>
        </p:nvSpPr>
        <p:spPr bwMode="auto">
          <a:xfrm>
            <a:off x="8043863" y="3694113"/>
            <a:ext cx="0" cy="5572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2886" name="Rectangle 7"/>
          <p:cNvSpPr>
            <a:spLocks noChangeArrowheads="1"/>
          </p:cNvSpPr>
          <p:nvPr/>
        </p:nvSpPr>
        <p:spPr bwMode="auto">
          <a:xfrm>
            <a:off x="3802063" y="3649663"/>
            <a:ext cx="1203325" cy="5572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22887" name="Line 8"/>
          <p:cNvSpPr>
            <a:spLocks noChangeShapeType="1"/>
          </p:cNvSpPr>
          <p:nvPr/>
        </p:nvSpPr>
        <p:spPr bwMode="auto">
          <a:xfrm>
            <a:off x="4438650" y="3649663"/>
            <a:ext cx="0" cy="5572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2888" name="Line 9"/>
          <p:cNvSpPr>
            <a:spLocks noChangeShapeType="1"/>
          </p:cNvSpPr>
          <p:nvPr/>
        </p:nvSpPr>
        <p:spPr bwMode="auto">
          <a:xfrm>
            <a:off x="3124200" y="3973513"/>
            <a:ext cx="6365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2889" name="Line 10"/>
          <p:cNvSpPr>
            <a:spLocks noChangeShapeType="1"/>
          </p:cNvSpPr>
          <p:nvPr/>
        </p:nvSpPr>
        <p:spPr bwMode="auto">
          <a:xfrm>
            <a:off x="4767263" y="3952875"/>
            <a:ext cx="0" cy="85407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2890" name="Line 11"/>
          <p:cNvSpPr>
            <a:spLocks noChangeShapeType="1"/>
          </p:cNvSpPr>
          <p:nvPr/>
        </p:nvSpPr>
        <p:spPr bwMode="auto">
          <a:xfrm>
            <a:off x="4767263" y="4806950"/>
            <a:ext cx="2862262" cy="0"/>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2891" name="Line 12"/>
          <p:cNvSpPr>
            <a:spLocks noChangeShapeType="1"/>
          </p:cNvSpPr>
          <p:nvPr/>
        </p:nvSpPr>
        <p:spPr bwMode="auto">
          <a:xfrm>
            <a:off x="3956050" y="3255963"/>
            <a:ext cx="636588" cy="3571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2892" name="Text Box 13"/>
          <p:cNvSpPr txBox="1">
            <a:spLocks noChangeArrowheads="1"/>
          </p:cNvSpPr>
          <p:nvPr/>
        </p:nvSpPr>
        <p:spPr bwMode="auto">
          <a:xfrm>
            <a:off x="3638550" y="2989263"/>
            <a:ext cx="4603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
        <p:nvSpPr>
          <p:cNvPr id="122893" name="Line 14"/>
          <p:cNvSpPr>
            <a:spLocks noChangeShapeType="1"/>
          </p:cNvSpPr>
          <p:nvPr/>
        </p:nvSpPr>
        <p:spPr bwMode="auto">
          <a:xfrm flipV="1">
            <a:off x="7577138" y="4237038"/>
            <a:ext cx="11112" cy="55880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2894" name="Text Box 15"/>
          <p:cNvSpPr txBox="1">
            <a:spLocks noChangeArrowheads="1"/>
          </p:cNvSpPr>
          <p:nvPr/>
        </p:nvSpPr>
        <p:spPr bwMode="auto">
          <a:xfrm>
            <a:off x="7491413" y="1849438"/>
            <a:ext cx="27447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① p-&gt;next=q-&gt;next;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② free(q);</a:t>
            </a:r>
          </a:p>
        </p:txBody>
      </p:sp>
      <p:sp>
        <p:nvSpPr>
          <p:cNvPr id="122895" name="Line 16"/>
          <p:cNvSpPr>
            <a:spLocks noChangeShapeType="1"/>
          </p:cNvSpPr>
          <p:nvPr/>
        </p:nvSpPr>
        <p:spPr bwMode="auto">
          <a:xfrm>
            <a:off x="8431213" y="3967163"/>
            <a:ext cx="6365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2896" name="Text Box 17"/>
          <p:cNvSpPr txBox="1">
            <a:spLocks noChangeArrowheads="1"/>
          </p:cNvSpPr>
          <p:nvPr/>
        </p:nvSpPr>
        <p:spPr bwMode="auto">
          <a:xfrm>
            <a:off x="5943600" y="48053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①</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105475" name="Rectangle 3"/>
          <p:cNvSpPr>
            <a:spLocks noGrp="1" noChangeArrowheads="1"/>
          </p:cNvSpPr>
          <p:nvPr>
            <p:ph idx="1"/>
          </p:nvPr>
        </p:nvSpPr>
        <p:spPr>
          <a:xfrm>
            <a:off x="527050" y="1628775"/>
            <a:ext cx="10218738" cy="4351338"/>
          </a:xfrm>
        </p:spPr>
        <p:txBody>
          <a:bodyPr rtlCol="0">
            <a:normAutofit/>
          </a:bodyPr>
          <a:lstStyle/>
          <a:p>
            <a:pPr marL="0" indent="0" eaLnBrk="1" fontAlgn="auto" hangingPunct="1">
              <a:lnSpc>
                <a:spcPct val="80000"/>
              </a:lnSpc>
              <a:spcAft>
                <a:spcPts val="0"/>
              </a:spcAft>
              <a:buFont typeface="Wingdings" panose="05000000000000000000" pitchFamily="2" charset="2"/>
              <a:buNone/>
              <a:defRPr/>
            </a:pPr>
            <a:r>
              <a:rPr lang="en-US" altLang="zh-CN" sz="2000" b="1" dirty="0" smtClean="0"/>
              <a:t>    bool</a:t>
            </a:r>
            <a:r>
              <a:rPr lang="en-US" altLang="zh-CN" sz="2000" dirty="0" smtClean="0"/>
              <a:t> </a:t>
            </a:r>
            <a:r>
              <a:rPr lang="en-US" altLang="zh-CN" sz="2000" dirty="0" err="1"/>
              <a:t>ListDelete</a:t>
            </a:r>
            <a:r>
              <a:rPr lang="en-US" altLang="zh-CN" sz="2000" dirty="0"/>
              <a:t> (</a:t>
            </a:r>
            <a:r>
              <a:rPr lang="en-US" altLang="zh-CN" sz="2000" dirty="0" err="1"/>
              <a:t>Linklist</a:t>
            </a:r>
            <a:r>
              <a:rPr lang="en-US" altLang="zh-CN" sz="2000" dirty="0"/>
              <a:t> </a:t>
            </a:r>
            <a:r>
              <a:rPr lang="en-US" altLang="zh-CN" sz="2000" b="1" dirty="0"/>
              <a:t>*</a:t>
            </a:r>
            <a:r>
              <a:rPr lang="en-US" altLang="zh-CN" sz="2000" dirty="0"/>
              <a:t>L, </a:t>
            </a:r>
            <a:r>
              <a:rPr lang="en-US" altLang="zh-CN" sz="2000" b="1" dirty="0" err="1"/>
              <a:t>int</a:t>
            </a:r>
            <a:r>
              <a:rPr lang="en-US" altLang="zh-CN" sz="2000" dirty="0"/>
              <a:t> </a:t>
            </a:r>
            <a:r>
              <a:rPr lang="en-US" altLang="zh-CN" sz="2000" dirty="0" err="1"/>
              <a:t>pos</a:t>
            </a:r>
            <a:r>
              <a:rPr lang="en-US" altLang="zh-CN" sz="2000" dirty="0"/>
              <a:t>, </a:t>
            </a:r>
            <a:r>
              <a:rPr lang="en-US" altLang="zh-CN" sz="2000" dirty="0" err="1"/>
              <a:t>ElemType</a:t>
            </a:r>
            <a:r>
              <a:rPr lang="en-US" altLang="zh-CN" sz="2000" dirty="0"/>
              <a:t> </a:t>
            </a:r>
            <a:r>
              <a:rPr lang="en-US" altLang="zh-CN" sz="2000" b="1" dirty="0"/>
              <a:t>*</a:t>
            </a:r>
            <a:r>
              <a:rPr lang="en-US" altLang="zh-CN" sz="2000" dirty="0"/>
              <a:t>e)</a:t>
            </a:r>
            <a:br>
              <a:rPr lang="en-US" altLang="zh-CN" sz="2000" dirty="0"/>
            </a:br>
            <a:r>
              <a:rPr lang="zh-CN" altLang="en-US" sz="2000" dirty="0"/>
              <a:t>　</a:t>
            </a:r>
            <a:r>
              <a:rPr lang="en-US" altLang="zh-CN" sz="2000" b="1" dirty="0"/>
              <a:t>{</a:t>
            </a:r>
          </a:p>
          <a:p>
            <a:pPr eaLnBrk="1" fontAlgn="auto" hangingPunct="1">
              <a:lnSpc>
                <a:spcPct val="80000"/>
              </a:lnSpc>
              <a:spcAft>
                <a:spcPts val="0"/>
              </a:spcAft>
              <a:buFont typeface="Wingdings" panose="05000000000000000000" pitchFamily="2" charset="2"/>
              <a:buNone/>
              <a:defRPr/>
            </a:pPr>
            <a:r>
              <a:rPr lang="en-US" altLang="zh-CN" sz="2000" b="1" dirty="0"/>
              <a:t>// </a:t>
            </a:r>
            <a:r>
              <a:rPr lang="zh-CN" altLang="en-US" sz="2000" b="1" dirty="0"/>
              <a:t>若</a:t>
            </a:r>
            <a:r>
              <a:rPr lang="en-US" altLang="zh-CN" sz="2000" b="1" dirty="0"/>
              <a:t>1≤pos≤LengthList(L)</a:t>
            </a:r>
            <a:r>
              <a:rPr lang="zh-CN" altLang="en-US" sz="2000" b="1" dirty="0"/>
              <a:t>，则删除指针</a:t>
            </a:r>
            <a:r>
              <a:rPr lang="en-US" altLang="zh-CN" sz="2000" b="1" dirty="0"/>
              <a:t>L</a:t>
            </a:r>
            <a:r>
              <a:rPr lang="zh-CN" altLang="en-US" sz="2000" b="1" dirty="0"/>
              <a:t>指向头结点的单链表中第 </a:t>
            </a:r>
            <a:r>
              <a:rPr lang="en-US" altLang="zh-CN" sz="2000" b="1" dirty="0" err="1"/>
              <a:t>pos</a:t>
            </a:r>
            <a:r>
              <a:rPr lang="en-US" altLang="zh-CN" sz="2000" b="1" dirty="0"/>
              <a:t> </a:t>
            </a:r>
            <a:r>
              <a:rPr lang="zh-CN" altLang="en-US" sz="2000" b="1" dirty="0"/>
              <a:t>个元素并以 </a:t>
            </a:r>
            <a:r>
              <a:rPr lang="en-US" altLang="zh-CN" sz="2000" b="1" dirty="0"/>
              <a:t>e </a:t>
            </a:r>
            <a:r>
              <a:rPr lang="zh-CN" altLang="en-US" sz="2000" b="1" dirty="0"/>
              <a:t>带回其值，返回函数值为 </a:t>
            </a:r>
            <a:r>
              <a:rPr lang="en-US" altLang="zh-CN" sz="2000" b="1" dirty="0"/>
              <a:t>TRUE</a:t>
            </a:r>
            <a:r>
              <a:rPr lang="zh-CN" altLang="en-US" sz="2000" b="1" dirty="0"/>
              <a:t>，否则不进行删除操作且返回函数值为 </a:t>
            </a:r>
            <a:r>
              <a:rPr lang="en-US" altLang="zh-CN" sz="2000" b="1" dirty="0"/>
              <a:t>FALSE</a:t>
            </a:r>
            <a:r>
              <a:rPr lang="en-US" altLang="zh-CN" sz="2000" dirty="0"/>
              <a:t/>
            </a:r>
            <a:br>
              <a:rPr lang="en-US" altLang="zh-CN" sz="2000" dirty="0"/>
            </a:br>
            <a:r>
              <a:rPr lang="zh-CN" altLang="en-US" sz="2000" dirty="0"/>
              <a:t>　　</a:t>
            </a:r>
            <a:r>
              <a:rPr lang="en-US" altLang="zh-CN" sz="2000" dirty="0"/>
              <a:t>p = L; j = 0;</a:t>
            </a:r>
            <a:br>
              <a:rPr lang="en-US" altLang="zh-CN" sz="2000" dirty="0"/>
            </a:br>
            <a:r>
              <a:rPr lang="zh-CN" altLang="en-US" sz="2000" dirty="0"/>
              <a:t>　　</a:t>
            </a:r>
            <a:r>
              <a:rPr lang="en-US" altLang="zh-CN" sz="2000" b="1" u="sng" dirty="0"/>
              <a:t>while (p-&gt;next &amp;&amp; j &lt; pos-1)</a:t>
            </a:r>
            <a:br>
              <a:rPr lang="en-US" altLang="zh-CN" sz="2000" b="1" u="sng" dirty="0"/>
            </a:br>
            <a:r>
              <a:rPr lang="zh-CN" altLang="en-US" sz="2000" b="1" u="sng" dirty="0"/>
              <a:t>　　</a:t>
            </a:r>
            <a:r>
              <a:rPr lang="en-US" altLang="zh-CN" sz="2000" b="1" u="sng" dirty="0"/>
              <a:t>{ // </a:t>
            </a:r>
            <a:r>
              <a:rPr lang="zh-CN" altLang="en-US" sz="2000" b="1" u="sng" dirty="0"/>
              <a:t>寻找第</a:t>
            </a:r>
            <a:r>
              <a:rPr lang="en-US" altLang="zh-CN" sz="2000" b="1" u="sng" dirty="0" err="1"/>
              <a:t>pos</a:t>
            </a:r>
            <a:r>
              <a:rPr lang="zh-CN" altLang="en-US" sz="2000" b="1" u="sng" dirty="0"/>
              <a:t>个结点，并令</a:t>
            </a:r>
            <a:r>
              <a:rPr lang="en-US" altLang="zh-CN" sz="2000" b="1" u="sng" dirty="0"/>
              <a:t>p</a:t>
            </a:r>
            <a:r>
              <a:rPr lang="zh-CN" altLang="en-US" sz="2000" b="1" u="sng" dirty="0"/>
              <a:t>指向其前驱</a:t>
            </a:r>
            <a:br>
              <a:rPr lang="zh-CN" altLang="en-US" sz="2000" b="1" u="sng" dirty="0"/>
            </a:br>
            <a:r>
              <a:rPr lang="zh-CN" altLang="en-US" sz="2000" b="1" u="sng" dirty="0"/>
              <a:t>　　　</a:t>
            </a:r>
            <a:r>
              <a:rPr lang="en-US" altLang="zh-CN" sz="2000" b="1" u="sng" dirty="0"/>
              <a:t>p = p-&gt;next; ++j;</a:t>
            </a:r>
            <a:br>
              <a:rPr lang="en-US" altLang="zh-CN" sz="2000" b="1" u="sng" dirty="0"/>
            </a:br>
            <a:r>
              <a:rPr lang="zh-CN" altLang="en-US" sz="2000" b="1" u="sng" dirty="0"/>
              <a:t>　　</a:t>
            </a:r>
            <a:r>
              <a:rPr lang="en-US" altLang="zh-CN" sz="2000" b="1" u="sng" dirty="0"/>
              <a:t>}</a:t>
            </a:r>
            <a:br>
              <a:rPr lang="en-US" altLang="zh-CN" sz="2000" b="1" u="sng" dirty="0"/>
            </a:br>
            <a:r>
              <a:rPr lang="zh-CN" altLang="en-US" sz="2000" dirty="0"/>
              <a:t>　　</a:t>
            </a:r>
            <a:r>
              <a:rPr lang="en-US" altLang="zh-CN" sz="2000" b="1" dirty="0"/>
              <a:t>if</a:t>
            </a:r>
            <a:r>
              <a:rPr lang="en-US" altLang="zh-CN" sz="2000" dirty="0"/>
              <a:t> (</a:t>
            </a:r>
            <a:r>
              <a:rPr lang="en-US" altLang="zh-CN" sz="2000" b="1" dirty="0"/>
              <a:t>!</a:t>
            </a:r>
            <a:r>
              <a:rPr lang="en-US" altLang="zh-CN" sz="2000" dirty="0"/>
              <a:t>(p-&gt;next) || j &gt; pos-1)</a:t>
            </a:r>
            <a:br>
              <a:rPr lang="en-US" altLang="zh-CN" sz="2000" dirty="0"/>
            </a:br>
            <a:r>
              <a:rPr lang="zh-CN" altLang="en-US" sz="2000" dirty="0"/>
              <a:t>　　</a:t>
            </a:r>
            <a:r>
              <a:rPr lang="zh-CN" altLang="en-US" sz="2000" b="1" dirty="0"/>
              <a:t>　</a:t>
            </a:r>
            <a:r>
              <a:rPr lang="en-US" altLang="zh-CN" sz="2000" b="1" dirty="0"/>
              <a:t>return FALSE;</a:t>
            </a:r>
            <a:r>
              <a:rPr lang="en-US" altLang="zh-CN" sz="2000" dirty="0"/>
              <a:t> </a:t>
            </a:r>
            <a:r>
              <a:rPr lang="zh-CN" altLang="en-US" sz="2000" dirty="0"/>
              <a:t>　　　　　　　</a:t>
            </a:r>
            <a:r>
              <a:rPr lang="en-US" altLang="zh-CN" sz="2000" dirty="0"/>
              <a:t>// </a:t>
            </a:r>
            <a:r>
              <a:rPr lang="zh-CN" altLang="en-US" sz="2000" dirty="0"/>
              <a:t>删除位置不合理</a:t>
            </a:r>
            <a:br>
              <a:rPr lang="zh-CN" altLang="en-US" sz="2000" dirty="0"/>
            </a:br>
            <a:r>
              <a:rPr lang="zh-CN" altLang="en-US" sz="2000" dirty="0"/>
              <a:t>　　</a:t>
            </a:r>
            <a:r>
              <a:rPr lang="en-US" altLang="zh-CN" sz="2000" b="1" u="sng" dirty="0">
                <a:solidFill>
                  <a:schemeClr val="accent2"/>
                </a:solidFill>
              </a:rPr>
              <a:t>q = p-&gt;next; p-&gt;next = q-&gt;next;</a:t>
            </a:r>
            <a:r>
              <a:rPr lang="zh-CN" altLang="en-US" sz="2000" dirty="0"/>
              <a:t>　</a:t>
            </a:r>
            <a:r>
              <a:rPr lang="en-US" altLang="zh-CN" sz="2000" dirty="0"/>
              <a:t>// </a:t>
            </a:r>
            <a:r>
              <a:rPr lang="zh-CN" altLang="en-US" sz="2000" dirty="0"/>
              <a:t>修改指针</a:t>
            </a:r>
            <a:br>
              <a:rPr lang="zh-CN" altLang="en-US" sz="2000" dirty="0"/>
            </a:br>
            <a:r>
              <a:rPr lang="zh-CN" altLang="en-US" sz="2000" dirty="0"/>
              <a:t>　　</a:t>
            </a:r>
            <a:r>
              <a:rPr lang="en-US" altLang="zh-CN" sz="2000" dirty="0"/>
              <a:t>e = q-&gt;data; </a:t>
            </a:r>
            <a:r>
              <a:rPr lang="en-US" altLang="zh-CN" sz="2000" b="1" dirty="0"/>
              <a:t>free</a:t>
            </a:r>
            <a:r>
              <a:rPr lang="en-US" altLang="zh-CN" sz="2000" dirty="0"/>
              <a:t>(q);</a:t>
            </a:r>
            <a:r>
              <a:rPr lang="zh-CN" altLang="en-US" sz="2000" dirty="0"/>
              <a:t>　　　　</a:t>
            </a:r>
            <a:r>
              <a:rPr lang="en-US" altLang="zh-CN" sz="2000" dirty="0"/>
              <a:t>// </a:t>
            </a:r>
            <a:r>
              <a:rPr lang="zh-CN" altLang="en-US" sz="2000" dirty="0"/>
              <a:t>释放结点空间 </a:t>
            </a:r>
            <a:br>
              <a:rPr lang="zh-CN" altLang="en-US" sz="2000" dirty="0"/>
            </a:br>
            <a:r>
              <a:rPr lang="zh-CN" altLang="en-US" sz="2000" dirty="0"/>
              <a:t>　　</a:t>
            </a:r>
            <a:r>
              <a:rPr lang="en-US" altLang="zh-CN" sz="2000" b="1" dirty="0"/>
              <a:t>return TRUE;</a:t>
            </a:r>
            <a:r>
              <a:rPr lang="en-US" altLang="zh-CN" sz="2000" dirty="0"/>
              <a:t/>
            </a:r>
            <a:br>
              <a:rPr lang="en-US" altLang="zh-CN" sz="2000" dirty="0"/>
            </a:br>
            <a:r>
              <a:rPr lang="en-US" altLang="zh-CN" sz="2000" b="1" dirty="0" smtClean="0"/>
              <a:t>}</a:t>
            </a:r>
            <a:r>
              <a:rPr lang="en-US" altLang="zh-CN" sz="2000" dirty="0" smtClean="0"/>
              <a:t> </a:t>
            </a:r>
            <a:r>
              <a:rPr lang="en-US" altLang="zh-CN" sz="2000" dirty="0"/>
              <a:t>// </a:t>
            </a:r>
            <a:r>
              <a:rPr lang="en-US" altLang="zh-CN" sz="2000" dirty="0" err="1"/>
              <a:t>ListDelete_L</a:t>
            </a:r>
            <a:endParaRPr lang="en-US" altLang="zh-CN" sz="2000"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56323" name="Rectangle 3"/>
          <p:cNvSpPr>
            <a:spLocks noGrp="1" noChangeArrowheads="1"/>
          </p:cNvSpPr>
          <p:nvPr>
            <p:ph idx="1"/>
          </p:nvPr>
        </p:nvSpPr>
        <p:spPr>
          <a:xfrm>
            <a:off x="527050" y="1628775"/>
            <a:ext cx="10218738" cy="4351338"/>
          </a:xfrm>
        </p:spPr>
        <p:txBody>
          <a:bodyPr/>
          <a:lstStyle/>
          <a:p>
            <a:pPr eaLnBrk="1" hangingPunct="1"/>
            <a:r>
              <a:rPr lang="zh-CN" altLang="en-US" sz="2600" b="1" smtClean="0"/>
              <a:t>例 </a:t>
            </a:r>
            <a:r>
              <a:rPr lang="zh-CN" altLang="en-US" sz="2600" smtClean="0"/>
              <a:t>逆序创建链表</a:t>
            </a:r>
          </a:p>
          <a:p>
            <a:pPr lvl="1" eaLnBrk="1" hangingPunct="1"/>
            <a:r>
              <a:rPr lang="zh-CN" altLang="en-US" sz="2200" smtClean="0"/>
              <a:t>假设线性表</a:t>
            </a:r>
            <a:r>
              <a:rPr lang="en-US" altLang="zh-CN" sz="2200" smtClean="0"/>
              <a:t>( a</a:t>
            </a:r>
            <a:r>
              <a:rPr lang="en-US" altLang="zh-CN" sz="2200" baseline="-25000" smtClean="0"/>
              <a:t>1</a:t>
            </a:r>
            <a:r>
              <a:rPr lang="en-US" altLang="zh-CN" sz="2200" smtClean="0"/>
              <a:t> </a:t>
            </a:r>
            <a:r>
              <a:rPr lang="zh-CN" altLang="en-US" sz="2200" smtClean="0"/>
              <a:t>，</a:t>
            </a:r>
            <a:r>
              <a:rPr lang="en-US" altLang="zh-CN" sz="2200" smtClean="0"/>
              <a:t>a</a:t>
            </a:r>
            <a:r>
              <a:rPr lang="en-US" altLang="zh-CN" sz="2200" baseline="-25000" smtClean="0"/>
              <a:t>2</a:t>
            </a:r>
            <a:r>
              <a:rPr lang="en-US" altLang="zh-CN" sz="2200" smtClean="0"/>
              <a:t> </a:t>
            </a:r>
            <a:r>
              <a:rPr lang="zh-CN" altLang="en-US" sz="2200" smtClean="0"/>
              <a:t>，</a:t>
            </a:r>
            <a:r>
              <a:rPr lang="en-US" altLang="zh-CN" sz="2200" smtClean="0">
                <a:latin typeface="Arial" panose="020B0604020202020204" pitchFamily="34" charset="0"/>
              </a:rPr>
              <a:t>…</a:t>
            </a:r>
            <a:r>
              <a:rPr lang="zh-CN" altLang="en-US" sz="2200" smtClean="0"/>
              <a:t>， </a:t>
            </a:r>
            <a:r>
              <a:rPr lang="en-US" altLang="zh-CN" sz="2200" smtClean="0"/>
              <a:t>a</a:t>
            </a:r>
            <a:r>
              <a:rPr lang="en-US" altLang="zh-CN" sz="2200" baseline="-25000" smtClean="0"/>
              <a:t>n</a:t>
            </a:r>
            <a:r>
              <a:rPr lang="en-US" altLang="zh-CN" sz="2200" smtClean="0"/>
              <a:t> )</a:t>
            </a:r>
            <a:r>
              <a:rPr lang="zh-CN" altLang="en-US" sz="2200" smtClean="0"/>
              <a:t>的数据元素存储在一维数组 </a:t>
            </a:r>
            <a:r>
              <a:rPr lang="en-US" altLang="zh-CN" sz="2200" smtClean="0"/>
              <a:t>A[n]</a:t>
            </a:r>
            <a:r>
              <a:rPr lang="zh-CN" altLang="en-US" sz="2200" smtClean="0"/>
              <a:t>中，则从数组的最后一个分量起，依次生成结点，并逐个插入到一个初始为</a:t>
            </a:r>
            <a:r>
              <a:rPr lang="zh-CN" altLang="en-US" sz="2200" smtClean="0">
                <a:latin typeface="Arial" panose="020B0604020202020204" pitchFamily="34" charset="0"/>
              </a:rPr>
              <a:t>“</a:t>
            </a:r>
            <a:r>
              <a:rPr lang="zh-CN" altLang="en-US" sz="2200" smtClean="0"/>
              <a:t>空</a:t>
            </a:r>
            <a:r>
              <a:rPr lang="zh-CN" altLang="en-US" sz="2200" smtClean="0">
                <a:latin typeface="Arial" panose="020B0604020202020204" pitchFamily="34" charset="0"/>
              </a:rPr>
              <a:t>”</a:t>
            </a:r>
            <a:r>
              <a:rPr lang="zh-CN" altLang="en-US" sz="2200" smtClean="0"/>
              <a:t>的链表中。</a:t>
            </a:r>
          </a:p>
          <a:p>
            <a:pPr lvl="1" eaLnBrk="1" hangingPunct="1"/>
            <a:r>
              <a:rPr lang="zh-CN" altLang="en-US" sz="2200" b="1" smtClean="0"/>
              <a:t>解题分析：</a:t>
            </a:r>
            <a:r>
              <a:rPr lang="zh-CN" altLang="en-US" sz="2200" smtClean="0"/>
              <a:t>由于链表是一种动态存储管理的结构，链表中每个结点占用的存储空间不需预先分配划定，而是在运行时刻由系统应需求即时生成，因此，建立链表的过程是一个动态生成的过程。</a:t>
            </a:r>
            <a:r>
              <a:rPr lang="zh-CN" altLang="en-US" sz="2200" b="1" u="sng" smtClean="0">
                <a:solidFill>
                  <a:schemeClr val="accent2"/>
                </a:solidFill>
              </a:rPr>
              <a:t>即从 </a:t>
            </a:r>
            <a:r>
              <a:rPr lang="zh-CN" altLang="en-US" sz="2200" b="1" u="sng" smtClean="0">
                <a:solidFill>
                  <a:schemeClr val="accent2"/>
                </a:solidFill>
                <a:latin typeface="Arial" panose="020B0604020202020204" pitchFamily="34" charset="0"/>
              </a:rPr>
              <a:t>“</a:t>
            </a:r>
            <a:r>
              <a:rPr lang="zh-CN" altLang="en-US" sz="2200" b="1" u="sng" smtClean="0">
                <a:solidFill>
                  <a:schemeClr val="accent2"/>
                </a:solidFill>
              </a:rPr>
              <a:t>空表</a:t>
            </a:r>
            <a:r>
              <a:rPr lang="zh-CN" altLang="en-US" sz="2200" b="1" u="sng" smtClean="0">
                <a:solidFill>
                  <a:schemeClr val="accent2"/>
                </a:solidFill>
                <a:latin typeface="Arial" panose="020B0604020202020204" pitchFamily="34" charset="0"/>
              </a:rPr>
              <a:t>”</a:t>
            </a:r>
            <a:r>
              <a:rPr lang="zh-CN" altLang="en-US" sz="2200" b="1" u="sng" smtClean="0">
                <a:solidFill>
                  <a:schemeClr val="accent2"/>
                </a:solidFill>
              </a:rPr>
              <a:t>起，依次建立结点，并逐个插入链表。所谓</a:t>
            </a:r>
            <a:r>
              <a:rPr lang="zh-CN" altLang="en-US" sz="2200" b="1" u="sng" smtClean="0">
                <a:solidFill>
                  <a:schemeClr val="accent2"/>
                </a:solidFill>
                <a:latin typeface="Arial" panose="020B0604020202020204" pitchFamily="34" charset="0"/>
              </a:rPr>
              <a:t>“</a:t>
            </a:r>
            <a:r>
              <a:rPr lang="zh-CN" altLang="en-US" sz="2200" b="1" u="sng" smtClean="0">
                <a:solidFill>
                  <a:schemeClr val="accent2"/>
                </a:solidFill>
              </a:rPr>
              <a:t>逆序</a:t>
            </a:r>
            <a:r>
              <a:rPr lang="zh-CN" altLang="en-US" sz="2200" b="1" u="sng" smtClean="0">
                <a:solidFill>
                  <a:schemeClr val="accent2"/>
                </a:solidFill>
                <a:latin typeface="Arial" panose="020B0604020202020204" pitchFamily="34" charset="0"/>
              </a:rPr>
              <a:t>”</a:t>
            </a:r>
            <a:r>
              <a:rPr lang="zh-CN" altLang="en-US" sz="2200" b="1" u="sng" smtClean="0">
                <a:solidFill>
                  <a:schemeClr val="accent2"/>
                </a:solidFill>
              </a:rPr>
              <a:t>创建链表指的是，依和线性表的逻辑顺序相</a:t>
            </a:r>
            <a:r>
              <a:rPr lang="zh-CN" altLang="en-US" sz="2200" b="1" u="sng" smtClean="0">
                <a:solidFill>
                  <a:schemeClr val="accent2"/>
                </a:solidFill>
                <a:latin typeface="Arial" panose="020B0604020202020204" pitchFamily="34" charset="0"/>
              </a:rPr>
              <a:t>“</a:t>
            </a:r>
            <a:r>
              <a:rPr lang="zh-CN" altLang="en-US" sz="2200" b="1" u="sng" smtClean="0">
                <a:solidFill>
                  <a:schemeClr val="accent2"/>
                </a:solidFill>
              </a:rPr>
              <a:t>逆</a:t>
            </a:r>
            <a:r>
              <a:rPr lang="zh-CN" altLang="en-US" sz="2200" b="1" u="sng" smtClean="0">
                <a:solidFill>
                  <a:schemeClr val="accent2"/>
                </a:solidFill>
                <a:latin typeface="Arial" panose="020B0604020202020204" pitchFamily="34" charset="0"/>
              </a:rPr>
              <a:t>”</a:t>
            </a:r>
            <a:r>
              <a:rPr lang="zh-CN" altLang="en-US" sz="2200" b="1" u="sng" smtClean="0">
                <a:solidFill>
                  <a:schemeClr val="accent2"/>
                </a:solidFill>
              </a:rPr>
              <a:t>的次序输入元素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6323">
                                            <p:txEl>
                                              <p:pRg st="2" end="2"/>
                                            </p:txEl>
                                          </p:spTgt>
                                        </p:tgtEl>
                                        <p:attrNameLst>
                                          <p:attrName>style.visibility</p:attrName>
                                        </p:attrNameLst>
                                      </p:cBhvr>
                                      <p:to>
                                        <p:strVal val="visible"/>
                                      </p:to>
                                    </p:set>
                                    <p:anim calcmode="lin" valueType="num">
                                      <p:cBhvr additive="base">
                                        <p:cTn id="7" dur="500" fill="hold"/>
                                        <p:tgtEl>
                                          <p:spTgt spid="5632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107523" name="Rectangle 3"/>
          <p:cNvSpPr>
            <a:spLocks noGrp="1" noChangeArrowheads="1"/>
          </p:cNvSpPr>
          <p:nvPr>
            <p:ph idx="1"/>
          </p:nvPr>
        </p:nvSpPr>
        <p:spPr>
          <a:xfrm>
            <a:off x="527050" y="1628775"/>
            <a:ext cx="10218738" cy="4351338"/>
          </a:xfrm>
        </p:spPr>
        <p:txBody>
          <a:bodyPr rtlCol="0">
            <a:normAutofit/>
          </a:bodyPr>
          <a:lstStyle/>
          <a:p>
            <a:pPr marL="0" indent="0" eaLnBrk="1" fontAlgn="auto" hangingPunct="1">
              <a:lnSpc>
                <a:spcPct val="80000"/>
              </a:lnSpc>
              <a:spcAft>
                <a:spcPts val="0"/>
              </a:spcAft>
              <a:buFont typeface="Wingdings" panose="05000000000000000000" pitchFamily="2" charset="2"/>
              <a:buNone/>
              <a:defRPr/>
            </a:pPr>
            <a:r>
              <a:rPr lang="en-US" altLang="zh-CN" sz="2000" b="1" dirty="0" smtClean="0"/>
              <a:t>    void</a:t>
            </a:r>
            <a:r>
              <a:rPr lang="en-US" altLang="zh-CN" sz="2000" dirty="0" smtClean="0"/>
              <a:t> </a:t>
            </a:r>
            <a:r>
              <a:rPr lang="en-US" altLang="zh-CN" sz="2000" dirty="0" err="1"/>
              <a:t>CreateList_L</a:t>
            </a:r>
            <a:r>
              <a:rPr lang="en-US" altLang="zh-CN" sz="2000" dirty="0"/>
              <a:t>(</a:t>
            </a:r>
            <a:r>
              <a:rPr lang="en-US" altLang="zh-CN" sz="2000" dirty="0" err="1"/>
              <a:t>Linklist</a:t>
            </a:r>
            <a:r>
              <a:rPr lang="en-US" altLang="zh-CN" sz="2000" dirty="0"/>
              <a:t> L, </a:t>
            </a:r>
            <a:r>
              <a:rPr lang="en-US" altLang="zh-CN" sz="2000" b="1" dirty="0" err="1"/>
              <a:t>int</a:t>
            </a:r>
            <a:r>
              <a:rPr lang="en-US" altLang="zh-CN" sz="2000" dirty="0"/>
              <a:t> n, </a:t>
            </a:r>
            <a:r>
              <a:rPr lang="en-US" altLang="zh-CN" sz="2000" dirty="0" err="1"/>
              <a:t>ElemType</a:t>
            </a:r>
            <a:r>
              <a:rPr lang="en-US" altLang="zh-CN" sz="2000" dirty="0"/>
              <a:t> A[]) </a:t>
            </a:r>
            <a:br>
              <a:rPr lang="en-US" altLang="zh-CN" sz="2000" dirty="0"/>
            </a:br>
            <a:r>
              <a:rPr lang="zh-CN" altLang="en-US" sz="2000" dirty="0"/>
              <a:t>　</a:t>
            </a:r>
            <a:r>
              <a:rPr lang="en-US" altLang="zh-CN" sz="2000" b="1" dirty="0"/>
              <a:t>{</a:t>
            </a:r>
            <a:r>
              <a:rPr lang="en-US" altLang="zh-CN" sz="2000" dirty="0"/>
              <a:t> </a:t>
            </a:r>
            <a:br>
              <a:rPr lang="en-US" altLang="zh-CN" sz="2000" dirty="0"/>
            </a:br>
            <a:r>
              <a:rPr lang="zh-CN" altLang="en-US" sz="2000" b="1" dirty="0"/>
              <a:t>　　</a:t>
            </a:r>
            <a:r>
              <a:rPr lang="en-US" altLang="zh-CN" sz="2000" b="1" dirty="0"/>
              <a:t>// </a:t>
            </a:r>
            <a:r>
              <a:rPr lang="zh-CN" altLang="en-US" sz="2000" b="1" dirty="0"/>
              <a:t>已知数组 </a:t>
            </a:r>
            <a:r>
              <a:rPr lang="en-US" altLang="zh-CN" sz="2000" b="1" dirty="0"/>
              <a:t>A </a:t>
            </a:r>
            <a:r>
              <a:rPr lang="zh-CN" altLang="en-US" sz="2000" b="1" dirty="0"/>
              <a:t>中存有线性表的 </a:t>
            </a:r>
            <a:r>
              <a:rPr lang="en-US" altLang="zh-CN" sz="2000" b="1" dirty="0"/>
              <a:t>n </a:t>
            </a:r>
            <a:r>
              <a:rPr lang="zh-CN" altLang="en-US" sz="2000" b="1" dirty="0"/>
              <a:t>个数据元素，</a:t>
            </a:r>
            <a:r>
              <a:rPr lang="zh-CN" altLang="en-US" sz="2000" dirty="0"/>
              <a:t/>
            </a:r>
            <a:br>
              <a:rPr lang="zh-CN" altLang="en-US" sz="2000" dirty="0"/>
            </a:br>
            <a:r>
              <a:rPr lang="zh-CN" altLang="en-US" sz="2000" dirty="0"/>
              <a:t>　　</a:t>
            </a:r>
            <a:r>
              <a:rPr lang="en-US" altLang="zh-CN" sz="2000" b="1" dirty="0"/>
              <a:t>// </a:t>
            </a:r>
            <a:r>
              <a:rPr lang="zh-CN" altLang="en-US" sz="2000" b="1" dirty="0"/>
              <a:t>逆序建立带头结点的单链表。</a:t>
            </a:r>
            <a:r>
              <a:rPr lang="zh-CN" altLang="en-US" sz="2000" dirty="0"/>
              <a:t/>
            </a:r>
            <a:br>
              <a:rPr lang="zh-CN" altLang="en-US" sz="2000" dirty="0"/>
            </a:br>
            <a:r>
              <a:rPr lang="zh-CN" altLang="en-US" sz="2000" dirty="0"/>
              <a:t>　　</a:t>
            </a:r>
            <a:r>
              <a:rPr lang="en-US" altLang="zh-CN" sz="2000" dirty="0"/>
              <a:t>L =</a:t>
            </a:r>
            <a:r>
              <a:rPr lang="en-US" altLang="zh-CN" sz="2000" dirty="0" err="1"/>
              <a:t>Linklist</a:t>
            </a:r>
            <a:r>
              <a:rPr lang="en-US" altLang="zh-CN" sz="2000" dirty="0"/>
              <a:t>  </a:t>
            </a:r>
            <a:r>
              <a:rPr lang="en-US" altLang="zh-CN" sz="2000" b="1" dirty="0" err="1"/>
              <a:t>malloc</a:t>
            </a:r>
            <a:r>
              <a:rPr lang="en-US" altLang="zh-CN" sz="2000" b="1" dirty="0"/>
              <a:t>(</a:t>
            </a:r>
            <a:r>
              <a:rPr lang="en-US" altLang="zh-CN" sz="2000" b="1" dirty="0" err="1"/>
              <a:t>sizeof</a:t>
            </a:r>
            <a:r>
              <a:rPr lang="en-US" altLang="zh-CN" sz="2000" b="1" dirty="0"/>
              <a:t>(</a:t>
            </a:r>
            <a:r>
              <a:rPr lang="en-US" altLang="zh-CN" sz="2000" dirty="0" err="1"/>
              <a:t>LNode</a:t>
            </a:r>
            <a:r>
              <a:rPr lang="en-US" altLang="zh-CN" sz="2000" dirty="0"/>
              <a:t>));</a:t>
            </a:r>
            <a:br>
              <a:rPr lang="en-US" altLang="zh-CN" sz="2000" dirty="0"/>
            </a:br>
            <a:r>
              <a:rPr lang="zh-CN" altLang="en-US" sz="2000" dirty="0"/>
              <a:t>　　</a:t>
            </a:r>
            <a:r>
              <a:rPr lang="en-US" altLang="zh-CN" sz="2000" dirty="0"/>
              <a:t>if (!L) exit(1); </a:t>
            </a:r>
            <a:r>
              <a:rPr lang="zh-CN" altLang="en-US" sz="2000" dirty="0"/>
              <a:t>　　　　</a:t>
            </a:r>
            <a:r>
              <a:rPr lang="en-US" altLang="zh-CN" sz="2000" dirty="0"/>
              <a:t>// </a:t>
            </a:r>
            <a:r>
              <a:rPr lang="zh-CN" altLang="en-US" sz="2000" dirty="0"/>
              <a:t>存储空间分配失败</a:t>
            </a:r>
            <a:br>
              <a:rPr lang="zh-CN" altLang="en-US" sz="2000" dirty="0"/>
            </a:br>
            <a:r>
              <a:rPr lang="zh-CN" altLang="en-US" sz="2000" dirty="0"/>
              <a:t>　　</a:t>
            </a:r>
            <a:r>
              <a:rPr lang="en-US" altLang="zh-CN" sz="2000" dirty="0"/>
              <a:t>L-&gt;next = NULL;</a:t>
            </a:r>
            <a:r>
              <a:rPr lang="zh-CN" altLang="en-US" sz="2000" dirty="0"/>
              <a:t>　</a:t>
            </a:r>
            <a:r>
              <a:rPr lang="en-US" altLang="zh-CN" sz="2000" dirty="0"/>
              <a:t>// </a:t>
            </a:r>
            <a:r>
              <a:rPr lang="zh-CN" altLang="en-US" sz="2000" dirty="0"/>
              <a:t>先建立带头结点的空的单链表</a:t>
            </a:r>
            <a:br>
              <a:rPr lang="zh-CN" altLang="en-US" sz="2000" dirty="0"/>
            </a:br>
            <a:r>
              <a:rPr lang="zh-CN" altLang="en-US" sz="2000" dirty="0"/>
              <a:t>　　</a:t>
            </a:r>
            <a:r>
              <a:rPr lang="en-US" altLang="zh-CN" sz="2000" b="1" dirty="0"/>
              <a:t>for</a:t>
            </a:r>
            <a:r>
              <a:rPr lang="en-US" altLang="zh-CN" sz="2000" dirty="0"/>
              <a:t> (</a:t>
            </a:r>
            <a:r>
              <a:rPr lang="en-US" altLang="zh-CN" sz="2000" dirty="0" err="1"/>
              <a:t>i</a:t>
            </a:r>
            <a:r>
              <a:rPr lang="en-US" altLang="zh-CN" sz="2000" dirty="0"/>
              <a:t> = n; </a:t>
            </a:r>
            <a:r>
              <a:rPr lang="en-US" altLang="zh-CN" sz="2000" dirty="0" err="1"/>
              <a:t>i</a:t>
            </a:r>
            <a:r>
              <a:rPr lang="en-US" altLang="zh-CN" sz="2000" dirty="0"/>
              <a:t> &gt; 0; --</a:t>
            </a:r>
            <a:r>
              <a:rPr lang="en-US" altLang="zh-CN" sz="2000" dirty="0" err="1"/>
              <a:t>i</a:t>
            </a:r>
            <a:r>
              <a:rPr lang="en-US" altLang="zh-CN" sz="2000" dirty="0"/>
              <a:t>) </a:t>
            </a:r>
            <a:br>
              <a:rPr lang="en-US" altLang="zh-CN" sz="2000" dirty="0"/>
            </a:br>
            <a:r>
              <a:rPr lang="zh-CN" altLang="en-US" sz="2000" dirty="0"/>
              <a:t>　　</a:t>
            </a:r>
            <a:r>
              <a:rPr lang="en-US" altLang="zh-CN" sz="2000" b="1" dirty="0" smtClean="0"/>
              <a:t>{  </a:t>
            </a:r>
            <a:r>
              <a:rPr lang="en-US" altLang="zh-CN" sz="2000" dirty="0" smtClean="0"/>
              <a:t> </a:t>
            </a:r>
            <a:r>
              <a:rPr lang="en-US" altLang="zh-CN" sz="2000" dirty="0"/>
              <a:t>p = </a:t>
            </a:r>
            <a:r>
              <a:rPr lang="en-US" altLang="zh-CN" sz="2000" dirty="0" err="1"/>
              <a:t>Linklist</a:t>
            </a:r>
            <a:r>
              <a:rPr lang="en-US" altLang="zh-CN" sz="2000" dirty="0"/>
              <a:t>  </a:t>
            </a:r>
            <a:r>
              <a:rPr lang="en-US" altLang="zh-CN" sz="2000" b="1" dirty="0" err="1"/>
              <a:t>malloc</a:t>
            </a:r>
            <a:r>
              <a:rPr lang="en-US" altLang="zh-CN" sz="2000" b="1" dirty="0"/>
              <a:t>(</a:t>
            </a:r>
            <a:r>
              <a:rPr lang="en-US" altLang="zh-CN" sz="2000" b="1" dirty="0" err="1"/>
              <a:t>sizeof</a:t>
            </a:r>
            <a:r>
              <a:rPr lang="en-US" altLang="zh-CN" sz="2000" b="1" dirty="0"/>
              <a:t>(</a:t>
            </a:r>
            <a:r>
              <a:rPr lang="en-US" altLang="zh-CN" sz="2000" dirty="0" err="1"/>
              <a:t>LNode</a:t>
            </a:r>
            <a:r>
              <a:rPr lang="en-US" altLang="zh-CN" sz="2000" dirty="0"/>
              <a:t>));</a:t>
            </a:r>
            <a:br>
              <a:rPr lang="en-US" altLang="zh-CN" sz="2000" dirty="0"/>
            </a:br>
            <a:r>
              <a:rPr lang="zh-CN" altLang="en-US" sz="2000" dirty="0"/>
              <a:t>　　　</a:t>
            </a:r>
            <a:r>
              <a:rPr lang="zh-CN" altLang="en-US" sz="2000" dirty="0" smtClean="0"/>
              <a:t> </a:t>
            </a:r>
            <a:r>
              <a:rPr lang="en-US" altLang="zh-CN" sz="2000" dirty="0" smtClean="0"/>
              <a:t>if </a:t>
            </a:r>
            <a:r>
              <a:rPr lang="en-US" altLang="zh-CN" sz="2000" dirty="0"/>
              <a:t>(!p) exit(1); </a:t>
            </a:r>
            <a:r>
              <a:rPr lang="zh-CN" altLang="en-US" sz="2000" dirty="0"/>
              <a:t>　　　　</a:t>
            </a:r>
            <a:r>
              <a:rPr lang="en-US" altLang="zh-CN" sz="2000" dirty="0"/>
              <a:t>// </a:t>
            </a:r>
            <a:r>
              <a:rPr lang="zh-CN" altLang="en-US" sz="2000" dirty="0"/>
              <a:t>存储空间分配失败 </a:t>
            </a:r>
            <a:br>
              <a:rPr lang="zh-CN" altLang="en-US" sz="2000" dirty="0"/>
            </a:br>
            <a:r>
              <a:rPr lang="zh-CN" altLang="en-US" sz="2000" dirty="0"/>
              <a:t>　　　</a:t>
            </a:r>
            <a:r>
              <a:rPr lang="zh-CN" altLang="en-US" sz="2000" dirty="0" smtClean="0"/>
              <a:t> </a:t>
            </a:r>
            <a:r>
              <a:rPr lang="en-US" altLang="zh-CN" sz="2000" dirty="0" smtClean="0"/>
              <a:t>p-</a:t>
            </a:r>
            <a:r>
              <a:rPr lang="en-US" altLang="zh-CN" sz="2000" dirty="0"/>
              <a:t>&gt;data = A[i-1]; </a:t>
            </a:r>
            <a:r>
              <a:rPr lang="zh-CN" altLang="en-US" sz="2000" dirty="0"/>
              <a:t>　　　　　 　</a:t>
            </a:r>
            <a:r>
              <a:rPr lang="en-US" altLang="zh-CN" sz="2000" dirty="0"/>
              <a:t>// </a:t>
            </a:r>
            <a:r>
              <a:rPr lang="zh-CN" altLang="en-US" sz="2000" dirty="0"/>
              <a:t>赋元素值 </a:t>
            </a:r>
            <a:br>
              <a:rPr lang="zh-CN" altLang="en-US" sz="2000" dirty="0"/>
            </a:br>
            <a:r>
              <a:rPr lang="zh-CN" altLang="en-US" sz="2000" dirty="0"/>
              <a:t>　　　</a:t>
            </a:r>
            <a:r>
              <a:rPr lang="zh-CN" altLang="en-US" sz="2000" dirty="0" smtClean="0"/>
              <a:t> </a:t>
            </a:r>
            <a:r>
              <a:rPr lang="en-US" altLang="zh-CN" sz="2000" b="1" u="sng" dirty="0" smtClean="0">
                <a:solidFill>
                  <a:schemeClr val="accent2"/>
                </a:solidFill>
              </a:rPr>
              <a:t>p-</a:t>
            </a:r>
            <a:r>
              <a:rPr lang="en-US" altLang="zh-CN" sz="2000" b="1" u="sng" dirty="0">
                <a:solidFill>
                  <a:schemeClr val="accent2"/>
                </a:solidFill>
              </a:rPr>
              <a:t>&gt;next = L-&gt;next; L-&gt;next = p;</a:t>
            </a:r>
          </a:p>
          <a:p>
            <a:pPr eaLnBrk="1" fontAlgn="auto" hangingPunct="1">
              <a:lnSpc>
                <a:spcPct val="80000"/>
              </a:lnSpc>
              <a:spcAft>
                <a:spcPts val="0"/>
              </a:spcAft>
              <a:buFont typeface="Wingdings" panose="05000000000000000000" pitchFamily="2" charset="2"/>
              <a:buNone/>
              <a:defRPr/>
            </a:pPr>
            <a:r>
              <a:rPr lang="en-US" altLang="zh-CN" sz="2000" dirty="0"/>
              <a:t>              // </a:t>
            </a:r>
            <a:r>
              <a:rPr lang="zh-CN" altLang="en-US" sz="2000" dirty="0"/>
              <a:t>插入在头结点之后</a:t>
            </a:r>
            <a:br>
              <a:rPr lang="zh-CN" altLang="en-US" sz="2000" dirty="0"/>
            </a:br>
            <a:r>
              <a:rPr lang="zh-CN" altLang="en-US" sz="2000" dirty="0"/>
              <a:t>　</a:t>
            </a:r>
            <a:r>
              <a:rPr lang="en-US" altLang="zh-CN" sz="2000" b="1" dirty="0" smtClean="0"/>
              <a:t>} </a:t>
            </a:r>
            <a:r>
              <a:rPr lang="en-US" altLang="zh-CN" sz="2000" dirty="0"/>
              <a:t>// for</a:t>
            </a:r>
            <a:br>
              <a:rPr lang="en-US" altLang="zh-CN" sz="2000" dirty="0"/>
            </a:br>
            <a:r>
              <a:rPr lang="en-US" altLang="zh-CN" sz="2000" b="1" dirty="0" smtClean="0"/>
              <a:t>} </a:t>
            </a:r>
            <a:r>
              <a:rPr lang="en-US" altLang="zh-CN" sz="2000" dirty="0"/>
              <a:t>// </a:t>
            </a:r>
            <a:r>
              <a:rPr lang="en-US" altLang="zh-CN" sz="2000" dirty="0" err="1"/>
              <a:t>CreateList_L</a:t>
            </a:r>
            <a:r>
              <a:rPr lang="en-US" altLang="zh-CN" sz="2000" dirty="0"/>
              <a:t> </a:t>
            </a:r>
            <a:r>
              <a:rPr lang="zh-CN" altLang="en-US" sz="2000" dirty="0"/>
              <a:t>　</a:t>
            </a:r>
          </a:p>
          <a:p>
            <a:pPr eaLnBrk="1" fontAlgn="auto" hangingPunct="1">
              <a:lnSpc>
                <a:spcPct val="80000"/>
              </a:lnSpc>
              <a:spcAft>
                <a:spcPts val="0"/>
              </a:spcAft>
              <a:defRPr/>
            </a:pPr>
            <a:r>
              <a:rPr lang="zh-CN" altLang="en-US" sz="2000" dirty="0"/>
              <a:t>算法的时间复杂度为</a:t>
            </a:r>
            <a:r>
              <a:rPr lang="en-US" altLang="zh-CN" sz="2000" b="1" i="1" dirty="0"/>
              <a:t>O</a:t>
            </a:r>
            <a:r>
              <a:rPr lang="en-US" altLang="zh-CN" sz="2000" b="1" dirty="0"/>
              <a:t> (</a:t>
            </a:r>
            <a:r>
              <a:rPr lang="en-US" altLang="zh-CN" sz="2000" b="1" dirty="0" err="1"/>
              <a:t>ListLength</a:t>
            </a:r>
            <a:r>
              <a:rPr lang="en-US" altLang="zh-CN" sz="2000" b="1" dirty="0"/>
              <a:t>(L))</a:t>
            </a:r>
            <a:r>
              <a:rPr lang="zh-CN" altLang="en-US" sz="2000" dirty="0"/>
              <a:t>。</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58371" name="Rectangle 3"/>
          <p:cNvSpPr>
            <a:spLocks noGrp="1" noChangeArrowheads="1"/>
          </p:cNvSpPr>
          <p:nvPr>
            <p:ph idx="1"/>
          </p:nvPr>
        </p:nvSpPr>
        <p:spPr>
          <a:xfrm>
            <a:off x="527050" y="1628775"/>
            <a:ext cx="10218738" cy="4351338"/>
          </a:xfrm>
        </p:spPr>
        <p:txBody>
          <a:bodyPr/>
          <a:lstStyle/>
          <a:p>
            <a:pPr eaLnBrk="1" hangingPunct="1"/>
            <a:r>
              <a:rPr lang="zh-CN" altLang="en-US" sz="2600" b="1" smtClean="0"/>
              <a:t>例</a:t>
            </a:r>
            <a:r>
              <a:rPr lang="zh-CN" altLang="en-US" sz="2600" smtClean="0"/>
              <a:t> 以链表作存储结构将线性表 </a:t>
            </a:r>
            <a:r>
              <a:rPr lang="en-US" altLang="zh-CN" sz="2600" smtClean="0"/>
              <a:t>( a</a:t>
            </a:r>
            <a:r>
              <a:rPr lang="en-US" altLang="zh-CN" sz="2600" baseline="-25000" smtClean="0"/>
              <a:t>1</a:t>
            </a:r>
            <a:r>
              <a:rPr lang="en-US" altLang="zh-CN" sz="2600" smtClean="0"/>
              <a:t> , a</a:t>
            </a:r>
            <a:r>
              <a:rPr lang="en-US" altLang="zh-CN" sz="2600" baseline="-25000" smtClean="0"/>
              <a:t>2</a:t>
            </a:r>
            <a:r>
              <a:rPr lang="en-US" altLang="zh-CN" sz="2600" smtClean="0"/>
              <a:t>,</a:t>
            </a:r>
            <a:r>
              <a:rPr lang="en-US" altLang="zh-CN" sz="2600" smtClean="0">
                <a:latin typeface="Arial" panose="020B0604020202020204" pitchFamily="34" charset="0"/>
              </a:rPr>
              <a:t>…</a:t>
            </a:r>
            <a:r>
              <a:rPr lang="en-US" altLang="zh-CN" sz="2600" smtClean="0"/>
              <a:t>, a</a:t>
            </a:r>
            <a:r>
              <a:rPr lang="en-US" altLang="zh-CN" sz="2600" baseline="-25000" smtClean="0"/>
              <a:t>m</a:t>
            </a:r>
            <a:r>
              <a:rPr lang="en-US" altLang="zh-CN" sz="2600" smtClean="0"/>
              <a:t> , b</a:t>
            </a:r>
            <a:r>
              <a:rPr lang="en-US" altLang="zh-CN" sz="2600" baseline="-25000" smtClean="0"/>
              <a:t>1</a:t>
            </a:r>
            <a:r>
              <a:rPr lang="en-US" altLang="zh-CN" sz="2600" smtClean="0"/>
              <a:t> , b</a:t>
            </a:r>
            <a:r>
              <a:rPr lang="en-US" altLang="zh-CN" sz="2600" baseline="-25000" smtClean="0"/>
              <a:t>2</a:t>
            </a:r>
            <a:r>
              <a:rPr lang="en-US" altLang="zh-CN" sz="2600" smtClean="0"/>
              <a:t> ,</a:t>
            </a:r>
            <a:r>
              <a:rPr lang="en-US" altLang="zh-CN" sz="2600" smtClean="0">
                <a:latin typeface="Arial" panose="020B0604020202020204" pitchFamily="34" charset="0"/>
              </a:rPr>
              <a:t>…</a:t>
            </a:r>
            <a:r>
              <a:rPr lang="en-US" altLang="zh-CN" sz="2600" smtClean="0"/>
              <a:t>, b</a:t>
            </a:r>
            <a:r>
              <a:rPr lang="en-US" altLang="zh-CN" sz="2600" baseline="-25000" smtClean="0"/>
              <a:t>n</a:t>
            </a:r>
            <a:r>
              <a:rPr lang="en-US" altLang="zh-CN" sz="2600" smtClean="0"/>
              <a:t> ) </a:t>
            </a:r>
            <a:r>
              <a:rPr lang="zh-CN" altLang="en-US" sz="2600" smtClean="0"/>
              <a:t>改变成 </a:t>
            </a:r>
            <a:r>
              <a:rPr lang="en-US" altLang="zh-CN" sz="2600" smtClean="0"/>
              <a:t>(b</a:t>
            </a:r>
            <a:r>
              <a:rPr lang="en-US" altLang="zh-CN" sz="2600" baseline="-25000" smtClean="0"/>
              <a:t>1</a:t>
            </a:r>
            <a:r>
              <a:rPr lang="en-US" altLang="zh-CN" sz="2600" smtClean="0"/>
              <a:t>,b</a:t>
            </a:r>
            <a:r>
              <a:rPr lang="en-US" altLang="zh-CN" sz="2600" baseline="-25000" smtClean="0"/>
              <a:t>2</a:t>
            </a:r>
            <a:r>
              <a:rPr lang="en-US" altLang="zh-CN" sz="2600" smtClean="0"/>
              <a:t>,</a:t>
            </a:r>
            <a:r>
              <a:rPr lang="en-US" altLang="zh-CN" sz="2600" smtClean="0">
                <a:latin typeface="Arial" panose="020B0604020202020204" pitchFamily="34" charset="0"/>
              </a:rPr>
              <a:t>…</a:t>
            </a:r>
            <a:r>
              <a:rPr lang="en-US" altLang="zh-CN" sz="2600" smtClean="0"/>
              <a:t>, b</a:t>
            </a:r>
            <a:r>
              <a:rPr lang="en-US" altLang="zh-CN" sz="2600" baseline="-25000" smtClean="0"/>
              <a:t>n</a:t>
            </a:r>
            <a:r>
              <a:rPr lang="en-US" altLang="zh-CN" sz="2600" smtClean="0"/>
              <a:t> , a</a:t>
            </a:r>
            <a:r>
              <a:rPr lang="en-US" altLang="zh-CN" sz="2600" baseline="-25000" smtClean="0"/>
              <a:t>1</a:t>
            </a:r>
            <a:r>
              <a:rPr lang="en-US" altLang="zh-CN" sz="2600" smtClean="0"/>
              <a:t> , a</a:t>
            </a:r>
            <a:r>
              <a:rPr lang="en-US" altLang="zh-CN" sz="2600" baseline="-25000" smtClean="0"/>
              <a:t>2</a:t>
            </a:r>
            <a:r>
              <a:rPr lang="en-US" altLang="zh-CN" sz="2600" smtClean="0"/>
              <a:t> ,</a:t>
            </a:r>
            <a:r>
              <a:rPr lang="en-US" altLang="zh-CN" sz="2600" smtClean="0">
                <a:latin typeface="Arial" panose="020B0604020202020204" pitchFamily="34" charset="0"/>
              </a:rPr>
              <a:t>…</a:t>
            </a:r>
            <a:r>
              <a:rPr lang="en-US" altLang="zh-CN" sz="2600" smtClean="0"/>
              <a:t>, a</a:t>
            </a:r>
            <a:r>
              <a:rPr lang="en-US" altLang="zh-CN" sz="2600" baseline="-25000" smtClean="0"/>
              <a:t>m</a:t>
            </a:r>
            <a:r>
              <a:rPr lang="en-US" altLang="zh-CN" sz="2600" smtClean="0"/>
              <a:t> ) </a:t>
            </a:r>
            <a:r>
              <a:rPr lang="zh-CN" altLang="en-US" sz="2600" smtClean="0"/>
              <a:t>。</a:t>
            </a:r>
          </a:p>
          <a:p>
            <a:pPr lvl="1" eaLnBrk="1" hangingPunct="1"/>
            <a:r>
              <a:rPr lang="zh-CN" altLang="en-US" sz="2200" b="1" smtClean="0"/>
              <a:t>解题分析：</a:t>
            </a:r>
            <a:r>
              <a:rPr lang="zh-CN" altLang="en-US" sz="2200" smtClean="0"/>
              <a:t>因为对链表来说，</a:t>
            </a:r>
            <a:r>
              <a:rPr lang="zh-CN" altLang="en-US" sz="2200" smtClean="0">
                <a:latin typeface="Arial" panose="020B0604020202020204" pitchFamily="34" charset="0"/>
              </a:rPr>
              <a:t>“</a:t>
            </a:r>
            <a:r>
              <a:rPr lang="zh-CN" altLang="en-US" sz="2200" smtClean="0"/>
              <a:t>插入</a:t>
            </a:r>
            <a:r>
              <a:rPr lang="zh-CN" altLang="en-US" sz="2200" smtClean="0">
                <a:latin typeface="Arial" panose="020B0604020202020204" pitchFamily="34" charset="0"/>
              </a:rPr>
              <a:t>”</a:t>
            </a:r>
            <a:r>
              <a:rPr lang="zh-CN" altLang="en-US" sz="2200" smtClean="0"/>
              <a:t>和</a:t>
            </a:r>
            <a:r>
              <a:rPr lang="zh-CN" altLang="en-US" sz="2200" smtClean="0">
                <a:latin typeface="Arial" panose="020B0604020202020204" pitchFamily="34" charset="0"/>
              </a:rPr>
              <a:t>“</a:t>
            </a:r>
            <a:r>
              <a:rPr lang="zh-CN" altLang="en-US" sz="2200" smtClean="0"/>
              <a:t>删除</a:t>
            </a:r>
            <a:r>
              <a:rPr lang="zh-CN" altLang="en-US" sz="2200" smtClean="0">
                <a:latin typeface="Arial" panose="020B0604020202020204" pitchFamily="34" charset="0"/>
              </a:rPr>
              <a:t>”</a:t>
            </a:r>
            <a:r>
              <a:rPr lang="zh-CN" altLang="en-US" sz="2200" smtClean="0"/>
              <a:t>仅需修改指针即可完成，且由于前 </a:t>
            </a:r>
            <a:r>
              <a:rPr lang="en-US" altLang="zh-CN" sz="2200" smtClean="0"/>
              <a:t>m </a:t>
            </a:r>
            <a:r>
              <a:rPr lang="zh-CN" altLang="en-US" sz="2200" smtClean="0"/>
              <a:t>个元素之间和后 </a:t>
            </a:r>
            <a:r>
              <a:rPr lang="en-US" altLang="zh-CN" sz="2200" smtClean="0"/>
              <a:t>n </a:t>
            </a:r>
            <a:r>
              <a:rPr lang="zh-CN" altLang="en-US" sz="2200" smtClean="0"/>
              <a:t>个元素之间的链接关系分别都不需要改变，则算法的实际操作为： </a:t>
            </a:r>
            <a:br>
              <a:rPr lang="zh-CN" altLang="en-US" sz="2200" smtClean="0"/>
            </a:br>
            <a:r>
              <a:rPr lang="zh-CN" altLang="en-US" sz="2200" smtClean="0"/>
              <a:t>　　</a:t>
            </a:r>
            <a:r>
              <a:rPr lang="en-US" altLang="zh-CN" sz="2200" smtClean="0"/>
              <a:t>(1) </a:t>
            </a:r>
            <a:r>
              <a:rPr lang="zh-CN" altLang="en-US" sz="2200" b="1" u="sng" smtClean="0"/>
              <a:t>从链表中删除</a:t>
            </a:r>
            <a:r>
              <a:rPr lang="en-US" altLang="zh-CN" sz="2200" b="1" u="sng" smtClean="0"/>
              <a:t>(a1 , a2,</a:t>
            </a:r>
            <a:r>
              <a:rPr lang="en-US" altLang="zh-CN" sz="2200" b="1" u="sng" smtClean="0">
                <a:latin typeface="Arial" panose="020B0604020202020204" pitchFamily="34" charset="0"/>
              </a:rPr>
              <a:t>…</a:t>
            </a:r>
            <a:r>
              <a:rPr lang="en-US" altLang="zh-CN" sz="2200" b="1" u="sng" smtClean="0"/>
              <a:t>, am )</a:t>
            </a:r>
            <a:r>
              <a:rPr lang="zh-CN" altLang="en-US" sz="2200" b="1" u="sng" smtClean="0"/>
              <a:t>；</a:t>
            </a:r>
            <a:r>
              <a:rPr lang="zh-CN" altLang="en-US" sz="2200" smtClean="0"/>
              <a:t/>
            </a:r>
            <a:br>
              <a:rPr lang="zh-CN" altLang="en-US" sz="2200" smtClean="0"/>
            </a:br>
            <a:r>
              <a:rPr lang="zh-CN" altLang="en-US" sz="2200" smtClean="0"/>
              <a:t/>
            </a:r>
            <a:br>
              <a:rPr lang="zh-CN" altLang="en-US" sz="2200" smtClean="0"/>
            </a:br>
            <a:r>
              <a:rPr lang="zh-CN" altLang="en-US" sz="2200" smtClean="0"/>
              <a:t>　　</a:t>
            </a:r>
            <a:r>
              <a:rPr lang="en-US" altLang="zh-CN" sz="2200" smtClean="0"/>
              <a:t>(2) </a:t>
            </a:r>
            <a:r>
              <a:rPr lang="zh-CN" altLang="en-US" sz="2200" b="1" u="sng" smtClean="0"/>
              <a:t>将</a:t>
            </a:r>
            <a:r>
              <a:rPr lang="en-US" altLang="zh-CN" sz="2200" b="1" u="sng" smtClean="0"/>
              <a:t>(b1 , b2 ,</a:t>
            </a:r>
            <a:r>
              <a:rPr lang="en-US" altLang="zh-CN" sz="2200" b="1" u="sng" smtClean="0">
                <a:latin typeface="Arial" panose="020B0604020202020204" pitchFamily="34" charset="0"/>
              </a:rPr>
              <a:t>…</a:t>
            </a:r>
            <a:r>
              <a:rPr lang="en-US" altLang="zh-CN" sz="2200" b="1" u="sng" smtClean="0"/>
              <a:t>, bn )</a:t>
            </a:r>
            <a:r>
              <a:rPr lang="zh-CN" altLang="en-US" sz="2200" b="1" u="sng" smtClean="0"/>
              <a:t>链接到头结点之后；</a:t>
            </a:r>
            <a:r>
              <a:rPr lang="zh-CN" altLang="en-US" sz="2200" smtClean="0"/>
              <a:t/>
            </a:r>
            <a:br>
              <a:rPr lang="zh-CN" altLang="en-US" sz="2200" smtClean="0"/>
            </a:br>
            <a:r>
              <a:rPr lang="zh-CN" altLang="en-US" sz="2200" smtClean="0"/>
              <a:t/>
            </a:r>
            <a:br>
              <a:rPr lang="zh-CN" altLang="en-US" sz="2200" smtClean="0"/>
            </a:br>
            <a:r>
              <a:rPr lang="zh-CN" altLang="en-US" sz="2200" smtClean="0"/>
              <a:t>　　</a:t>
            </a:r>
            <a:r>
              <a:rPr lang="en-US" altLang="zh-CN" sz="2200" smtClean="0"/>
              <a:t>(3) </a:t>
            </a:r>
            <a:r>
              <a:rPr lang="zh-CN" altLang="en-US" sz="2200" b="1" u="sng" smtClean="0"/>
              <a:t>将</a:t>
            </a:r>
            <a:r>
              <a:rPr lang="en-US" altLang="zh-CN" sz="2200" b="1" u="sng" smtClean="0"/>
              <a:t>(a1 , a2,</a:t>
            </a:r>
            <a:r>
              <a:rPr lang="en-US" altLang="zh-CN" sz="2200" b="1" u="sng" smtClean="0">
                <a:latin typeface="Arial" panose="020B0604020202020204" pitchFamily="34" charset="0"/>
              </a:rPr>
              <a:t>…</a:t>
            </a:r>
            <a:r>
              <a:rPr lang="en-US" altLang="zh-CN" sz="2200" b="1" u="sng" smtClean="0"/>
              <a:t>, am )</a:t>
            </a:r>
            <a:r>
              <a:rPr lang="zh-CN" altLang="en-US" sz="2200" b="1" u="sng" smtClean="0"/>
              <a:t>链接到</a:t>
            </a:r>
            <a:r>
              <a:rPr lang="en-US" altLang="zh-CN" sz="2200" b="1" u="sng" smtClean="0"/>
              <a:t>bn</a:t>
            </a:r>
            <a:r>
              <a:rPr lang="zh-CN" altLang="en-US" sz="2200" b="1" u="sng" smtClean="0"/>
              <a:t>之后。</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8371">
                                            <p:txEl>
                                              <p:pRg st="1" end="1"/>
                                            </p:txEl>
                                          </p:spTgt>
                                        </p:tgtEl>
                                        <p:attrNameLst>
                                          <p:attrName>style.visibility</p:attrName>
                                        </p:attrNameLst>
                                      </p:cBhvr>
                                      <p:to>
                                        <p:strVal val="visible"/>
                                      </p:to>
                                    </p:set>
                                    <p:anim calcmode="lin" valueType="num">
                                      <p:cBhvr additive="base">
                                        <p:cTn id="7" dur="500" fill="hold"/>
                                        <p:tgtEl>
                                          <p:spTgt spid="583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37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128003" name="Rectangle 3"/>
          <p:cNvSpPr>
            <a:spLocks noGrp="1" noChangeArrowheads="1"/>
          </p:cNvSpPr>
          <p:nvPr>
            <p:ph idx="1"/>
          </p:nvPr>
        </p:nvSpPr>
        <p:spPr>
          <a:xfrm>
            <a:off x="527050" y="1628775"/>
            <a:ext cx="10218738" cy="4351338"/>
          </a:xfrm>
        </p:spPr>
        <p:txBody>
          <a:bodyPr/>
          <a:lstStyle/>
          <a:p>
            <a:pPr eaLnBrk="1" hangingPunct="1"/>
            <a:r>
              <a:rPr lang="zh-CN" altLang="en-US" b="1" smtClean="0"/>
              <a:t>删除单链表</a:t>
            </a:r>
            <a:r>
              <a:rPr lang="en-US" altLang="zh-CN" b="1" smtClean="0"/>
              <a:t>L</a:t>
            </a:r>
            <a:r>
              <a:rPr lang="zh-CN" altLang="en-US" b="1" smtClean="0"/>
              <a:t>中的冗余元素，即使操作之后的单链表中只保留操作之前表中所有值都不相同的元素</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110595" name="Rectangle 3"/>
          <p:cNvSpPr>
            <a:spLocks noGrp="1" noChangeArrowheads="1"/>
          </p:cNvSpPr>
          <p:nvPr>
            <p:ph idx="1"/>
          </p:nvPr>
        </p:nvSpPr>
        <p:spPr>
          <a:xfrm>
            <a:off x="527050" y="1628775"/>
            <a:ext cx="10218738" cy="4351338"/>
          </a:xfrm>
        </p:spPr>
        <p:txBody>
          <a:bodyPr rtlCol="0">
            <a:normAutofit lnSpcReduction="10000"/>
          </a:bodyPr>
          <a:lstStyle/>
          <a:p>
            <a:pPr marL="0" indent="0" eaLnBrk="1" fontAlgn="auto" hangingPunct="1">
              <a:lnSpc>
                <a:spcPct val="80000"/>
              </a:lnSpc>
              <a:spcAft>
                <a:spcPts val="0"/>
              </a:spcAft>
              <a:buFont typeface="Wingdings" panose="05000000000000000000" pitchFamily="2" charset="2"/>
              <a:buNone/>
              <a:defRPr/>
            </a:pPr>
            <a:r>
              <a:rPr lang="en-US" altLang="zh-CN" sz="1800" b="1" dirty="0" smtClean="0"/>
              <a:t>    void</a:t>
            </a:r>
            <a:r>
              <a:rPr lang="en-US" altLang="zh-CN" sz="1800" dirty="0" smtClean="0"/>
              <a:t> </a:t>
            </a:r>
            <a:r>
              <a:rPr lang="en-US" altLang="zh-CN" sz="1800" dirty="0" err="1"/>
              <a:t>purge_L</a:t>
            </a:r>
            <a:r>
              <a:rPr lang="en-US" altLang="zh-CN" sz="1800" dirty="0"/>
              <a:t>(</a:t>
            </a:r>
            <a:r>
              <a:rPr lang="en-US" altLang="zh-CN" sz="1800" dirty="0" err="1"/>
              <a:t>Linklist</a:t>
            </a:r>
            <a:r>
              <a:rPr lang="en-US" altLang="zh-CN" sz="1800" dirty="0"/>
              <a:t> L )</a:t>
            </a:r>
            <a:br>
              <a:rPr lang="en-US" altLang="zh-CN" sz="1800" dirty="0"/>
            </a:br>
            <a:r>
              <a:rPr lang="zh-CN" altLang="en-US" sz="1800" dirty="0"/>
              <a:t>　</a:t>
            </a:r>
            <a:r>
              <a:rPr lang="en-US" altLang="zh-CN" sz="1800" b="1" dirty="0"/>
              <a:t>{// </a:t>
            </a:r>
            <a:r>
              <a:rPr lang="zh-CN" altLang="en-US" sz="1800" b="1" dirty="0"/>
              <a:t>删除单链表</a:t>
            </a:r>
            <a:r>
              <a:rPr lang="en-US" altLang="zh-CN" sz="1800" b="1" dirty="0"/>
              <a:t>L</a:t>
            </a:r>
            <a:r>
              <a:rPr lang="zh-CN" altLang="en-US" sz="1800" b="1" dirty="0"/>
              <a:t>中的冗余元素，即使操作之后的单链表中只保留操作之前表中所有值都不相同的元素 </a:t>
            </a:r>
            <a:r>
              <a:rPr lang="zh-CN" altLang="en-US" sz="1800" dirty="0"/>
              <a:t/>
            </a:r>
            <a:br>
              <a:rPr lang="zh-CN" altLang="en-US" sz="1800" dirty="0"/>
            </a:br>
            <a:r>
              <a:rPr lang="zh-CN" altLang="en-US" sz="1800" dirty="0"/>
              <a:t>　　</a:t>
            </a:r>
            <a:r>
              <a:rPr lang="en-US" altLang="zh-CN" sz="1800" dirty="0"/>
              <a:t>p = L-&gt;next;</a:t>
            </a:r>
            <a:br>
              <a:rPr lang="en-US" altLang="zh-CN" sz="1800" dirty="0"/>
            </a:br>
            <a:r>
              <a:rPr lang="zh-CN" altLang="en-US" sz="1800" dirty="0"/>
              <a:t>　　</a:t>
            </a:r>
            <a:r>
              <a:rPr lang="en-US" altLang="zh-CN" sz="1800" dirty="0"/>
              <a:t>L-&gt;next = </a:t>
            </a:r>
            <a:r>
              <a:rPr lang="en-US" altLang="zh-CN" sz="1800" b="1" dirty="0"/>
              <a:t>NULL</a:t>
            </a:r>
            <a:r>
              <a:rPr lang="en-US" altLang="zh-CN" sz="1800" dirty="0"/>
              <a:t>;;</a:t>
            </a:r>
            <a:r>
              <a:rPr lang="zh-CN" altLang="en-US" sz="1800" dirty="0"/>
              <a:t>　　　　　</a:t>
            </a:r>
            <a:r>
              <a:rPr lang="en-US" altLang="zh-CN" sz="1800" dirty="0"/>
              <a:t>// </a:t>
            </a:r>
            <a:r>
              <a:rPr lang="zh-CN" altLang="en-US" sz="1800" dirty="0"/>
              <a:t>设新表为空表</a:t>
            </a:r>
            <a:br>
              <a:rPr lang="zh-CN" altLang="en-US" sz="1800" dirty="0"/>
            </a:br>
            <a:r>
              <a:rPr lang="zh-CN" altLang="en-US" sz="1800" dirty="0"/>
              <a:t>　　</a:t>
            </a:r>
            <a:r>
              <a:rPr lang="en-US" altLang="zh-CN" sz="1800" b="1" dirty="0"/>
              <a:t>while</a:t>
            </a:r>
            <a:r>
              <a:rPr lang="en-US" altLang="zh-CN" sz="1800" dirty="0"/>
              <a:t> ( p )</a:t>
            </a:r>
            <a:r>
              <a:rPr lang="zh-CN" altLang="en-US" sz="1800" dirty="0"/>
              <a:t>　　　　　　　 </a:t>
            </a:r>
            <a:r>
              <a:rPr lang="en-US" altLang="zh-CN" sz="1800" dirty="0"/>
              <a:t>// </a:t>
            </a:r>
            <a:r>
              <a:rPr lang="zh-CN" altLang="en-US" sz="1800" dirty="0"/>
              <a:t>顺序考察原表中每个元素</a:t>
            </a:r>
            <a:br>
              <a:rPr lang="zh-CN" altLang="en-US" sz="1800" dirty="0"/>
            </a:br>
            <a:r>
              <a:rPr lang="zh-CN" altLang="en-US" sz="1800" dirty="0"/>
              <a:t>　　</a:t>
            </a:r>
            <a:r>
              <a:rPr lang="en-US" altLang="zh-CN" sz="1800" b="1" dirty="0"/>
              <a:t>{</a:t>
            </a:r>
            <a:r>
              <a:rPr lang="en-US" altLang="zh-CN" sz="1800" dirty="0"/>
              <a:t/>
            </a:r>
            <a:br>
              <a:rPr lang="en-US" altLang="zh-CN" sz="1800" dirty="0"/>
            </a:br>
            <a:r>
              <a:rPr lang="zh-CN" altLang="en-US" sz="1800" dirty="0"/>
              <a:t>　　　</a:t>
            </a:r>
            <a:r>
              <a:rPr lang="en-US" altLang="zh-CN" sz="1800" dirty="0" err="1"/>
              <a:t>succ</a:t>
            </a:r>
            <a:r>
              <a:rPr lang="en-US" altLang="zh-CN" sz="1800" dirty="0"/>
              <a:t> = p-&gt;next;</a:t>
            </a:r>
            <a:r>
              <a:rPr lang="zh-CN" altLang="en-US" sz="1800" dirty="0"/>
              <a:t>　　　　　</a:t>
            </a:r>
            <a:r>
              <a:rPr lang="en-US" altLang="zh-CN" sz="1800" dirty="0"/>
              <a:t>// </a:t>
            </a:r>
            <a:r>
              <a:rPr lang="zh-CN" altLang="en-US" sz="1800" dirty="0"/>
              <a:t>记下结点 *</a:t>
            </a:r>
            <a:r>
              <a:rPr lang="en-US" altLang="zh-CN" sz="1800" dirty="0"/>
              <a:t>p </a:t>
            </a:r>
            <a:r>
              <a:rPr lang="zh-CN" altLang="en-US" sz="1800" dirty="0"/>
              <a:t>的后继</a:t>
            </a:r>
            <a:br>
              <a:rPr lang="zh-CN" altLang="en-US" sz="1800" dirty="0"/>
            </a:br>
            <a:r>
              <a:rPr lang="zh-CN" altLang="en-US" sz="1800" dirty="0"/>
              <a:t>　　　</a:t>
            </a:r>
            <a:r>
              <a:rPr lang="en-US" altLang="zh-CN" sz="1800" dirty="0"/>
              <a:t>q = L-&gt;next;</a:t>
            </a:r>
            <a:r>
              <a:rPr lang="zh-CN" altLang="en-US" sz="1800" dirty="0"/>
              <a:t>　　　　　　 </a:t>
            </a:r>
            <a:r>
              <a:rPr lang="en-US" altLang="zh-CN" sz="1800" dirty="0"/>
              <a:t>// q </a:t>
            </a:r>
            <a:r>
              <a:rPr lang="zh-CN" altLang="en-US" sz="1800" dirty="0"/>
              <a:t>指向新表的第一个结点</a:t>
            </a:r>
            <a:br>
              <a:rPr lang="zh-CN" altLang="en-US" sz="1800" dirty="0"/>
            </a:br>
            <a:r>
              <a:rPr lang="zh-CN" altLang="en-US" sz="1800" dirty="0"/>
              <a:t>　　　</a:t>
            </a:r>
            <a:r>
              <a:rPr lang="en-US" altLang="zh-CN" sz="1800" b="1" dirty="0"/>
              <a:t>while</a:t>
            </a:r>
            <a:r>
              <a:rPr lang="en-US" altLang="zh-CN" sz="1800" dirty="0"/>
              <a:t>( q </a:t>
            </a:r>
            <a:r>
              <a:rPr lang="en-US" altLang="zh-CN" sz="1800" b="1" dirty="0"/>
              <a:t>&amp;&amp;</a:t>
            </a:r>
            <a:r>
              <a:rPr lang="en-US" altLang="zh-CN" sz="1800" dirty="0"/>
              <a:t> p-&gt;data!=q-&gt;data ) q = q-&gt;next; </a:t>
            </a:r>
            <a:br>
              <a:rPr lang="en-US" altLang="zh-CN" sz="1800" dirty="0"/>
            </a:br>
            <a:r>
              <a:rPr lang="zh-CN" altLang="en-US" sz="1800" dirty="0"/>
              <a:t>　　　</a:t>
            </a:r>
            <a:r>
              <a:rPr lang="en-US" altLang="zh-CN" sz="1800" dirty="0"/>
              <a:t>// </a:t>
            </a:r>
            <a:r>
              <a:rPr lang="zh-CN" altLang="en-US" sz="1800" dirty="0"/>
              <a:t>在新表中查询是否存在和</a:t>
            </a:r>
            <a:r>
              <a:rPr lang="en-US" altLang="zh-CN" sz="1800" dirty="0"/>
              <a:t>p-&gt;data</a:t>
            </a:r>
            <a:r>
              <a:rPr lang="zh-CN" altLang="en-US" sz="1800" dirty="0"/>
              <a:t>相同的元素</a:t>
            </a:r>
            <a:br>
              <a:rPr lang="zh-CN" altLang="en-US" sz="1800" dirty="0"/>
            </a:br>
            <a:r>
              <a:rPr lang="zh-CN" altLang="en-US" sz="1800" dirty="0"/>
              <a:t>　　　</a:t>
            </a:r>
            <a:r>
              <a:rPr lang="en-US" altLang="zh-CN" sz="1800" b="1" dirty="0"/>
              <a:t>if</a:t>
            </a:r>
            <a:r>
              <a:rPr lang="en-US" altLang="zh-CN" sz="1800" dirty="0"/>
              <a:t> ( !q )</a:t>
            </a:r>
            <a:r>
              <a:rPr lang="zh-CN" altLang="en-US" sz="1800" dirty="0"/>
              <a:t>　　　　　　　 </a:t>
            </a:r>
            <a:r>
              <a:rPr lang="en-US" altLang="zh-CN" sz="1800" dirty="0"/>
              <a:t>// </a:t>
            </a:r>
            <a:r>
              <a:rPr lang="zh-CN" altLang="en-US" sz="1800" dirty="0"/>
              <a:t>将结点 *</a:t>
            </a:r>
            <a:r>
              <a:rPr lang="en-US" altLang="zh-CN" sz="1800" dirty="0"/>
              <a:t>p </a:t>
            </a:r>
            <a:r>
              <a:rPr lang="zh-CN" altLang="en-US" sz="1800" dirty="0"/>
              <a:t>插入到新的表中</a:t>
            </a:r>
            <a:br>
              <a:rPr lang="zh-CN" altLang="en-US" sz="1800" dirty="0"/>
            </a:br>
            <a:r>
              <a:rPr lang="zh-CN" altLang="en-US" sz="1800" dirty="0"/>
              <a:t>　　　</a:t>
            </a:r>
            <a:r>
              <a:rPr lang="en-US" altLang="zh-CN" sz="1800" b="1" dirty="0"/>
              <a:t>{</a:t>
            </a:r>
            <a:r>
              <a:rPr lang="en-US" altLang="zh-CN" sz="1800" dirty="0"/>
              <a:t/>
            </a:r>
            <a:br>
              <a:rPr lang="en-US" altLang="zh-CN" sz="1800" dirty="0"/>
            </a:br>
            <a:r>
              <a:rPr lang="zh-CN" altLang="en-US" sz="1800" dirty="0"/>
              <a:t>　　　　</a:t>
            </a:r>
            <a:r>
              <a:rPr lang="en-US" altLang="zh-CN" sz="1800" dirty="0"/>
              <a:t>p-&gt;next = L-&gt;next;</a:t>
            </a:r>
            <a:br>
              <a:rPr lang="en-US" altLang="zh-CN" sz="1800" dirty="0"/>
            </a:br>
            <a:r>
              <a:rPr lang="zh-CN" altLang="en-US" sz="1800" dirty="0"/>
              <a:t>　　　　</a:t>
            </a:r>
            <a:r>
              <a:rPr lang="en-US" altLang="zh-CN" sz="1800" dirty="0"/>
              <a:t>L-&gt;next = p;</a:t>
            </a:r>
            <a:br>
              <a:rPr lang="en-US" altLang="zh-CN" sz="1800" dirty="0"/>
            </a:br>
            <a:r>
              <a:rPr lang="zh-CN" altLang="en-US" sz="1800" dirty="0"/>
              <a:t>　　　</a:t>
            </a:r>
            <a:r>
              <a:rPr lang="en-US" altLang="zh-CN" sz="1800" b="1" dirty="0"/>
              <a:t>}</a:t>
            </a:r>
            <a:r>
              <a:rPr lang="en-US" altLang="zh-CN" sz="1800" dirty="0"/>
              <a:t/>
            </a:r>
            <a:br>
              <a:rPr lang="en-US" altLang="zh-CN" sz="1800" dirty="0"/>
            </a:br>
            <a:r>
              <a:rPr lang="zh-CN" altLang="en-US" sz="1800" dirty="0"/>
              <a:t>　　　</a:t>
            </a:r>
            <a:r>
              <a:rPr lang="en-US" altLang="zh-CN" sz="1800" b="1" dirty="0"/>
              <a:t>else free(</a:t>
            </a:r>
            <a:r>
              <a:rPr lang="en-US" altLang="zh-CN" sz="1800" dirty="0"/>
              <a:t>p);</a:t>
            </a:r>
            <a:r>
              <a:rPr lang="zh-CN" altLang="en-US" sz="1800" dirty="0"/>
              <a:t>　　　　</a:t>
            </a:r>
            <a:r>
              <a:rPr lang="en-US" altLang="zh-CN" sz="1800" dirty="0"/>
              <a:t>// </a:t>
            </a:r>
            <a:r>
              <a:rPr lang="zh-CN" altLang="en-US" sz="1800" dirty="0"/>
              <a:t>释放结点 *</a:t>
            </a:r>
            <a:r>
              <a:rPr lang="en-US" altLang="zh-CN" sz="1800" dirty="0"/>
              <a:t>p</a:t>
            </a:r>
            <a:br>
              <a:rPr lang="en-US" altLang="zh-CN" sz="1800" dirty="0"/>
            </a:br>
            <a:r>
              <a:rPr lang="zh-CN" altLang="en-US" sz="1800" dirty="0"/>
              <a:t>　　　</a:t>
            </a:r>
            <a:r>
              <a:rPr lang="en-US" altLang="zh-CN" sz="1800" dirty="0"/>
              <a:t>p = </a:t>
            </a:r>
            <a:r>
              <a:rPr lang="en-US" altLang="zh-CN" sz="1800" dirty="0" err="1"/>
              <a:t>succ</a:t>
            </a:r>
            <a:r>
              <a:rPr lang="en-US" altLang="zh-CN" sz="1800" dirty="0"/>
              <a:t>;</a:t>
            </a:r>
            <a:br>
              <a:rPr lang="en-US" altLang="zh-CN" sz="1800" dirty="0"/>
            </a:br>
            <a:r>
              <a:rPr lang="zh-CN" altLang="en-US" sz="1800" dirty="0"/>
              <a:t>　　</a:t>
            </a:r>
            <a:r>
              <a:rPr lang="en-US" altLang="zh-CN" sz="1800" b="1" dirty="0"/>
              <a:t>} </a:t>
            </a:r>
            <a:r>
              <a:rPr lang="en-US" altLang="zh-CN" sz="1800" dirty="0"/>
              <a:t>// for</a:t>
            </a:r>
            <a:br>
              <a:rPr lang="en-US" altLang="zh-CN" sz="1800" dirty="0"/>
            </a:br>
            <a:r>
              <a:rPr lang="zh-CN" altLang="en-US" sz="1800" dirty="0"/>
              <a:t>　</a:t>
            </a:r>
            <a:r>
              <a:rPr lang="en-US" altLang="zh-CN" sz="1800" b="1" dirty="0"/>
              <a:t>} </a:t>
            </a:r>
            <a:r>
              <a:rPr lang="en-US" altLang="zh-CN" sz="1800" dirty="0"/>
              <a:t>// </a:t>
            </a:r>
            <a:r>
              <a:rPr lang="en-US" altLang="zh-CN" sz="1800" dirty="0" err="1"/>
              <a:t>purge_L</a:t>
            </a:r>
            <a:r>
              <a:rPr lang="en-US" altLang="zh-CN" sz="1800" dirty="0"/>
              <a:t/>
            </a:r>
            <a:br>
              <a:rPr lang="en-US" altLang="zh-CN" sz="1800" dirty="0"/>
            </a:br>
            <a:endParaRPr lang="en-US" altLang="zh-CN" sz="1800"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111619" name="内容占位符 2"/>
          <p:cNvSpPr>
            <a:spLocks noGrp="1"/>
          </p:cNvSpPr>
          <p:nvPr>
            <p:ph idx="1"/>
          </p:nvPr>
        </p:nvSpPr>
        <p:spPr>
          <a:xfrm>
            <a:off x="527050" y="1628775"/>
            <a:ext cx="10218738" cy="4351338"/>
          </a:xfrm>
        </p:spPr>
        <p:txBody>
          <a:bodyPr rtlCol="0">
            <a:normAutofit/>
          </a:bodyPr>
          <a:lstStyle/>
          <a:p>
            <a:pPr eaLnBrk="1" fontAlgn="auto" hangingPunct="1">
              <a:spcAft>
                <a:spcPts val="0"/>
              </a:spcAft>
              <a:defRPr/>
            </a:pPr>
            <a:r>
              <a:rPr lang="zh-CN" altLang="zh-CN" b="1" dirty="0" smtClean="0"/>
              <a:t>习题</a:t>
            </a:r>
            <a:r>
              <a:rPr lang="en-US" altLang="zh-CN" b="1" dirty="0" smtClean="0"/>
              <a:t>1 </a:t>
            </a:r>
            <a:r>
              <a:rPr lang="zh-CN" altLang="zh-CN" dirty="0" smtClean="0"/>
              <a:t>设顺序表</a:t>
            </a:r>
            <a:r>
              <a:rPr lang="en-US" altLang="zh-CN" dirty="0" smtClean="0"/>
              <a:t>L</a:t>
            </a:r>
            <a:r>
              <a:rPr lang="zh-CN" altLang="zh-CN" dirty="0" smtClean="0"/>
              <a:t>中的数据元素递增有序，试编写算法删除表中所有大于</a:t>
            </a:r>
            <a:r>
              <a:rPr lang="en-US" altLang="zh-CN" dirty="0" smtClean="0"/>
              <a:t>k1</a:t>
            </a:r>
            <a:r>
              <a:rPr lang="zh-CN" altLang="zh-CN" dirty="0" smtClean="0"/>
              <a:t>而小于</a:t>
            </a:r>
            <a:r>
              <a:rPr lang="en-US" altLang="zh-CN" dirty="0" smtClean="0"/>
              <a:t>k2</a:t>
            </a:r>
            <a:r>
              <a:rPr lang="zh-CN" altLang="zh-CN" dirty="0" smtClean="0"/>
              <a:t>的元素（</a:t>
            </a:r>
            <a:r>
              <a:rPr lang="en-US" altLang="zh-CN" dirty="0" smtClean="0"/>
              <a:t>k1&lt;k2</a:t>
            </a:r>
            <a:r>
              <a:rPr lang="zh-CN" altLang="zh-CN" dirty="0" smtClean="0"/>
              <a:t>）。</a:t>
            </a:r>
          </a:p>
          <a:p>
            <a:pPr eaLnBrk="1" fontAlgn="auto" hangingPunct="1">
              <a:spcAft>
                <a:spcPts val="0"/>
              </a:spcAft>
              <a:defRPr/>
            </a:pPr>
            <a:r>
              <a:rPr lang="en-US" altLang="zh-CN" b="1" dirty="0" smtClean="0"/>
              <a:t> </a:t>
            </a:r>
            <a:r>
              <a:rPr lang="zh-CN" altLang="zh-CN" b="1" dirty="0" smtClean="0"/>
              <a:t>习题</a:t>
            </a:r>
            <a:r>
              <a:rPr lang="en-US" altLang="zh-CN" b="1" dirty="0" smtClean="0"/>
              <a:t>2 </a:t>
            </a:r>
            <a:r>
              <a:rPr lang="zh-CN" altLang="zh-CN" dirty="0" smtClean="0"/>
              <a:t>正序创建链表。假设线性表</a:t>
            </a:r>
            <a:r>
              <a:rPr lang="en-US" altLang="zh-CN" dirty="0" smtClean="0"/>
              <a:t>( a</a:t>
            </a:r>
            <a:r>
              <a:rPr lang="en-US" altLang="zh-CN" baseline="-25000" dirty="0" smtClean="0"/>
              <a:t>1</a:t>
            </a:r>
            <a:r>
              <a:rPr lang="en-US" altLang="zh-CN" dirty="0" smtClean="0"/>
              <a:t> </a:t>
            </a:r>
            <a:r>
              <a:rPr lang="zh-CN" altLang="zh-CN" dirty="0" smtClean="0"/>
              <a:t>，</a:t>
            </a:r>
            <a:r>
              <a:rPr lang="en-US" altLang="zh-CN" dirty="0" smtClean="0"/>
              <a:t>a</a:t>
            </a:r>
            <a:r>
              <a:rPr lang="en-US" altLang="zh-CN" baseline="-25000" dirty="0" smtClean="0"/>
              <a:t>2</a:t>
            </a:r>
            <a:r>
              <a:rPr lang="en-US" altLang="zh-CN" dirty="0" smtClean="0"/>
              <a:t> </a:t>
            </a:r>
            <a:r>
              <a:rPr lang="zh-CN" altLang="zh-CN" dirty="0" smtClean="0"/>
              <a:t>，</a:t>
            </a:r>
            <a:r>
              <a:rPr lang="en-US" altLang="zh-CN" dirty="0" smtClean="0"/>
              <a:t>…</a:t>
            </a:r>
            <a:r>
              <a:rPr lang="zh-CN" altLang="zh-CN" dirty="0" smtClean="0"/>
              <a:t>，</a:t>
            </a:r>
            <a:r>
              <a:rPr lang="en-US" altLang="zh-CN" dirty="0" smtClean="0"/>
              <a:t> a</a:t>
            </a:r>
            <a:r>
              <a:rPr lang="en-US" altLang="zh-CN" baseline="-25000" dirty="0" smtClean="0"/>
              <a:t>n</a:t>
            </a:r>
            <a:r>
              <a:rPr lang="en-US" altLang="zh-CN" dirty="0" smtClean="0"/>
              <a:t> )</a:t>
            </a:r>
            <a:r>
              <a:rPr lang="zh-CN" altLang="zh-CN" dirty="0" smtClean="0"/>
              <a:t>的数据元素存储在一维数组</a:t>
            </a:r>
            <a:r>
              <a:rPr lang="en-US" altLang="zh-CN" dirty="0" smtClean="0"/>
              <a:t> A[n]</a:t>
            </a:r>
            <a:r>
              <a:rPr lang="zh-CN" altLang="zh-CN" dirty="0" smtClean="0"/>
              <a:t>中，则从数组的第一个分量起，依次生成结点，并逐个插入到一个初始为</a:t>
            </a:r>
            <a:r>
              <a:rPr lang="en-US" altLang="zh-CN" dirty="0" smtClean="0"/>
              <a:t>“</a:t>
            </a:r>
            <a:r>
              <a:rPr lang="zh-CN" altLang="zh-CN" dirty="0" smtClean="0"/>
              <a:t>空</a:t>
            </a:r>
            <a:r>
              <a:rPr lang="en-US" altLang="zh-CN" dirty="0" smtClean="0"/>
              <a:t>”</a:t>
            </a:r>
            <a:r>
              <a:rPr lang="zh-CN" altLang="zh-CN" dirty="0" smtClean="0"/>
              <a:t>的链表中。</a:t>
            </a:r>
          </a:p>
          <a:p>
            <a:pPr marL="0" indent="0" eaLnBrk="1" fontAlgn="auto" hangingPunct="1">
              <a:spcAft>
                <a:spcPts val="0"/>
              </a:spcAft>
              <a:buFont typeface="Wingdings" panose="05000000000000000000" pitchFamily="2" charset="2"/>
              <a:buNone/>
              <a:defRPr/>
            </a:pPr>
            <a:endParaRPr lang="zh-CN" altLang="zh-CN" dirty="0" smtClean="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3"/>
          <p:cNvSpPr>
            <a:spLocks noGrp="1"/>
          </p:cNvSpPr>
          <p:nvPr>
            <p:ph type="title"/>
          </p:nvPr>
        </p:nvSpPr>
        <p:spPr>
          <a:xfrm>
            <a:off x="527050" y="368300"/>
            <a:ext cx="10218738" cy="822325"/>
          </a:xfrm>
        </p:spPr>
        <p:txBody>
          <a:bodyPr/>
          <a:lstStyle/>
          <a:p>
            <a:pPr eaLnBrk="1" hangingPunct="1"/>
            <a:endParaRPr lang="zh-CN" altLang="en-US" smtClean="0"/>
          </a:p>
        </p:txBody>
      </p:sp>
      <p:sp>
        <p:nvSpPr>
          <p:cNvPr id="131075" name="内容占位符 2"/>
          <p:cNvSpPr>
            <a:spLocks noGrp="1"/>
          </p:cNvSpPr>
          <p:nvPr>
            <p:ph idx="1"/>
          </p:nvPr>
        </p:nvSpPr>
        <p:spPr>
          <a:xfrm>
            <a:off x="527050" y="1628775"/>
            <a:ext cx="10218738" cy="4351338"/>
          </a:xfrm>
        </p:spPr>
        <p:txBody>
          <a:bodyPr/>
          <a:lstStyle/>
          <a:p>
            <a:pPr eaLnBrk="1" hangingPunct="1"/>
            <a:r>
              <a:rPr lang="zh-CN" altLang="zh-CN" b="1" smtClean="0"/>
              <a:t>习题</a:t>
            </a:r>
            <a:r>
              <a:rPr lang="en-US" altLang="zh-CN" b="1" smtClean="0"/>
              <a:t>3 </a:t>
            </a:r>
            <a:r>
              <a:rPr lang="zh-CN" altLang="zh-CN" smtClean="0"/>
              <a:t>设有一个线性表</a:t>
            </a:r>
            <a:r>
              <a:rPr lang="en-US" altLang="zh-CN" smtClean="0"/>
              <a:t> (e</a:t>
            </a:r>
            <a:r>
              <a:rPr lang="en-US" altLang="zh-CN" baseline="-25000" smtClean="0"/>
              <a:t>0</a:t>
            </a:r>
            <a:r>
              <a:rPr lang="en-US" altLang="zh-CN" smtClean="0"/>
              <a:t>, e</a:t>
            </a:r>
            <a:r>
              <a:rPr lang="en-US" altLang="zh-CN" baseline="-25000" smtClean="0"/>
              <a:t>1</a:t>
            </a:r>
            <a:r>
              <a:rPr lang="en-US" altLang="zh-CN" smtClean="0"/>
              <a:t>, …, e</a:t>
            </a:r>
            <a:r>
              <a:rPr lang="en-US" altLang="zh-CN" baseline="-25000" smtClean="0"/>
              <a:t>n-2</a:t>
            </a:r>
            <a:r>
              <a:rPr lang="en-US" altLang="zh-CN" smtClean="0"/>
              <a:t>, e</a:t>
            </a:r>
            <a:r>
              <a:rPr lang="en-US" altLang="zh-CN" baseline="-25000" smtClean="0"/>
              <a:t>n-1</a:t>
            </a:r>
            <a:r>
              <a:rPr lang="en-US" altLang="zh-CN" smtClean="0"/>
              <a:t>) </a:t>
            </a:r>
            <a:r>
              <a:rPr lang="zh-CN" altLang="zh-CN" smtClean="0"/>
              <a:t>存放在一个一维数组</a:t>
            </a:r>
            <a:r>
              <a:rPr lang="en-US" altLang="zh-CN" smtClean="0"/>
              <a:t>A[arraySize]</a:t>
            </a:r>
            <a:r>
              <a:rPr lang="zh-CN" altLang="zh-CN" smtClean="0"/>
              <a:t>中的前</a:t>
            </a:r>
            <a:r>
              <a:rPr lang="en-US" altLang="zh-CN" smtClean="0"/>
              <a:t>n</a:t>
            </a:r>
            <a:r>
              <a:rPr lang="zh-CN" altLang="zh-CN" smtClean="0"/>
              <a:t>个数组元素位置。请编写一个函数将这个线性表原地逆置，即将数组的前</a:t>
            </a:r>
            <a:r>
              <a:rPr lang="en-US" altLang="zh-CN" smtClean="0"/>
              <a:t>n</a:t>
            </a:r>
            <a:r>
              <a:rPr lang="zh-CN" altLang="zh-CN" smtClean="0"/>
              <a:t>个原址内容置换为</a:t>
            </a:r>
            <a:r>
              <a:rPr lang="en-US" altLang="zh-CN" smtClean="0"/>
              <a:t> (e</a:t>
            </a:r>
            <a:r>
              <a:rPr lang="en-US" altLang="zh-CN" baseline="-25000" smtClean="0"/>
              <a:t>n-1</a:t>
            </a:r>
            <a:r>
              <a:rPr lang="en-US" altLang="zh-CN" smtClean="0"/>
              <a:t>, e</a:t>
            </a:r>
            <a:r>
              <a:rPr lang="en-US" altLang="zh-CN" baseline="-25000" smtClean="0"/>
              <a:t>n-2</a:t>
            </a:r>
            <a:r>
              <a:rPr lang="en-US" altLang="zh-CN" smtClean="0"/>
              <a:t>, …, e</a:t>
            </a:r>
            <a:r>
              <a:rPr lang="en-US" altLang="zh-CN" baseline="-25000" smtClean="0"/>
              <a:t>1</a:t>
            </a:r>
            <a:r>
              <a:rPr lang="en-US" altLang="zh-CN" smtClean="0"/>
              <a:t>, e</a:t>
            </a:r>
            <a:r>
              <a:rPr lang="en-US" altLang="zh-CN" baseline="-25000" smtClean="0"/>
              <a:t>0</a:t>
            </a:r>
            <a:r>
              <a:rPr lang="en-US" altLang="zh-CN" smtClean="0"/>
              <a:t>)</a:t>
            </a:r>
            <a:r>
              <a:rPr lang="zh-CN" altLang="zh-CN" smtClean="0"/>
              <a:t>。（原地置逆表示只能用常数个新增的辅助存储空间）</a:t>
            </a:r>
            <a:endParaRPr lang="zh-CN" altLang="en-US" smtClean="0"/>
          </a:p>
          <a:p>
            <a:pPr eaLnBrk="1" hangingPunct="1"/>
            <a:endParaRPr lang="zh-CN" altLang="en-US" smtClean="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113667" name="Rectangle 3"/>
          <p:cNvSpPr>
            <a:spLocks noGrp="1" noChangeArrowheads="1"/>
          </p:cNvSpPr>
          <p:nvPr>
            <p:ph idx="1"/>
          </p:nvPr>
        </p:nvSpPr>
        <p:spPr>
          <a:xfrm>
            <a:off x="527050" y="1628775"/>
            <a:ext cx="10218738" cy="4351338"/>
          </a:xfrm>
        </p:spPr>
        <p:txBody>
          <a:bodyPr rtlCol="0">
            <a:normAutofit/>
          </a:bodyPr>
          <a:lstStyle/>
          <a:p>
            <a:pPr eaLnBrk="1" fontAlgn="auto" hangingPunct="1">
              <a:spcAft>
                <a:spcPts val="0"/>
              </a:spcAft>
              <a:defRPr/>
            </a:pPr>
            <a:r>
              <a:rPr lang="zh-CN" altLang="en-US" dirty="0" smtClean="0"/>
              <a:t>单链表的优势</a:t>
            </a:r>
          </a:p>
          <a:p>
            <a:pPr marL="457200" lvl="1" indent="0" eaLnBrk="1" fontAlgn="auto" hangingPunct="1">
              <a:spcAft>
                <a:spcPts val="0"/>
              </a:spcAft>
              <a:buFont typeface="Wingdings" panose="05000000000000000000" pitchFamily="2" charset="2"/>
              <a:buNone/>
              <a:defRPr/>
            </a:pPr>
            <a:r>
              <a:rPr lang="en-US" altLang="zh-CN" dirty="0" smtClean="0"/>
              <a:t>(1) </a:t>
            </a:r>
            <a:r>
              <a:rPr lang="zh-CN" altLang="en-US" dirty="0" smtClean="0"/>
              <a:t>能有效利用存储空间；</a:t>
            </a:r>
            <a:r>
              <a:rPr lang="zh-CN" altLang="en-US" b="1" dirty="0" smtClean="0">
                <a:latin typeface="宋体" panose="02010600030101010101" pitchFamily="2" charset="-122"/>
              </a:rPr>
              <a:t>逻辑上相邻的元素，物理位置不一定需要相邻； 元素之间的邻接关系由指针域指示。链表是一种动态存储结构；</a:t>
            </a:r>
          </a:p>
          <a:p>
            <a:pPr eaLnBrk="1" fontAlgn="auto" hangingPunct="1">
              <a:spcAft>
                <a:spcPts val="0"/>
              </a:spcAft>
              <a:buFont typeface="Wingdings" panose="05000000000000000000" pitchFamily="2" charset="2"/>
              <a:buNone/>
              <a:defRPr/>
            </a:pPr>
            <a:r>
              <a:rPr lang="zh-CN" altLang="en-US" b="1" dirty="0" smtClean="0">
                <a:latin typeface="宋体" panose="02010600030101010101" pitchFamily="2" charset="-122"/>
              </a:rPr>
              <a:t>    </a:t>
            </a:r>
            <a:r>
              <a:rPr lang="zh-CN" altLang="en-US" sz="2600" b="1" dirty="0"/>
              <a:t>链表的结点可调用</a:t>
            </a:r>
            <a:r>
              <a:rPr lang="en-US" altLang="zh-CN" sz="2600" b="1" dirty="0" err="1"/>
              <a:t>malloc</a:t>
            </a:r>
            <a:r>
              <a:rPr lang="en-US" altLang="en-US" sz="2600" b="1" dirty="0"/>
              <a:t>()</a:t>
            </a:r>
            <a:r>
              <a:rPr lang="zh-CN" altLang="zh-CN" sz="2600" b="1" dirty="0"/>
              <a:t>申请</a:t>
            </a:r>
            <a:r>
              <a:rPr lang="zh-CN" altLang="en-US" sz="2600" b="1" dirty="0"/>
              <a:t>和</a:t>
            </a:r>
            <a:r>
              <a:rPr lang="en-US" altLang="zh-CN" sz="2600" b="1" dirty="0"/>
              <a:t>free</a:t>
            </a:r>
            <a:r>
              <a:rPr lang="en-US" altLang="en-US" sz="2600" b="1" dirty="0"/>
              <a:t>()</a:t>
            </a:r>
            <a:r>
              <a:rPr lang="zh-CN" altLang="en-US" sz="2600" b="1" dirty="0"/>
              <a:t>释放。</a:t>
            </a:r>
          </a:p>
          <a:p>
            <a:pPr marL="457200" lvl="1" indent="0" eaLnBrk="1" fontAlgn="auto" hangingPunct="1">
              <a:spcAft>
                <a:spcPts val="0"/>
              </a:spcAft>
              <a:buFont typeface="Wingdings" panose="05000000000000000000" pitchFamily="2" charset="2"/>
              <a:buNone/>
              <a:defRPr/>
            </a:pPr>
            <a:r>
              <a:rPr lang="en-US" altLang="zh-CN" dirty="0" smtClean="0"/>
              <a:t>(2) </a:t>
            </a:r>
            <a:r>
              <a:rPr lang="zh-CN" altLang="en-US" dirty="0" smtClean="0"/>
              <a:t>用</a:t>
            </a:r>
            <a:r>
              <a:rPr lang="zh-CN" altLang="en-US" dirty="0" smtClean="0">
                <a:latin typeface="Arial" panose="020B0604020202020204" pitchFamily="34" charset="0"/>
              </a:rPr>
              <a:t>“</a:t>
            </a:r>
            <a:r>
              <a:rPr lang="zh-CN" altLang="en-US" dirty="0" smtClean="0"/>
              <a:t>指针</a:t>
            </a:r>
            <a:r>
              <a:rPr lang="zh-CN" altLang="en-US" dirty="0" smtClean="0">
                <a:latin typeface="Arial" panose="020B0604020202020204" pitchFamily="34" charset="0"/>
              </a:rPr>
              <a:t>”</a:t>
            </a:r>
            <a:r>
              <a:rPr lang="zh-CN" altLang="en-US" dirty="0" smtClean="0"/>
              <a:t>指示数据元素之间的后继关系，便于进行</a:t>
            </a:r>
            <a:r>
              <a:rPr lang="zh-CN" altLang="en-US" dirty="0" smtClean="0">
                <a:latin typeface="Arial" panose="020B0604020202020204" pitchFamily="34" charset="0"/>
              </a:rPr>
              <a:t>“</a:t>
            </a:r>
            <a:r>
              <a:rPr lang="zh-CN" altLang="en-US" dirty="0" smtClean="0"/>
              <a:t>插入</a:t>
            </a:r>
            <a:r>
              <a:rPr lang="zh-CN" altLang="en-US" dirty="0" smtClean="0">
                <a:latin typeface="Arial" panose="020B0604020202020204" pitchFamily="34" charset="0"/>
              </a:rPr>
              <a:t>”</a:t>
            </a:r>
            <a:r>
              <a:rPr lang="zh-CN" altLang="en-US" dirty="0" smtClean="0"/>
              <a:t>、</a:t>
            </a:r>
            <a:r>
              <a:rPr lang="zh-CN" altLang="en-US" dirty="0" smtClean="0">
                <a:latin typeface="Arial" panose="020B0604020202020204" pitchFamily="34" charset="0"/>
              </a:rPr>
              <a:t>“</a:t>
            </a:r>
            <a:r>
              <a:rPr lang="zh-CN" altLang="en-US" dirty="0" smtClean="0"/>
              <a:t>删除</a:t>
            </a:r>
            <a:r>
              <a:rPr lang="zh-CN" altLang="en-US" dirty="0" smtClean="0">
                <a:latin typeface="Arial" panose="020B0604020202020204" pitchFamily="34" charset="0"/>
              </a:rPr>
              <a:t>”</a:t>
            </a:r>
            <a:r>
              <a:rPr lang="zh-CN" altLang="en-US" dirty="0" smtClean="0"/>
              <a:t>等操作；</a:t>
            </a:r>
          </a:p>
          <a:p>
            <a:pPr lvl="1" eaLnBrk="1" fontAlgn="auto" hangingPunct="1">
              <a:spcAft>
                <a:spcPts val="0"/>
              </a:spcAft>
              <a:defRPr/>
            </a:pPr>
            <a:endParaRPr lang="en-US" altLang="zh-CN" dirty="0" smtClean="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527050" y="368300"/>
            <a:ext cx="10218738" cy="822325"/>
          </a:xfrm>
        </p:spPr>
        <p:txBody>
          <a:bodyPr/>
          <a:lstStyle/>
          <a:p>
            <a:pPr eaLnBrk="1" hangingPunct="1"/>
            <a:r>
              <a:rPr lang="zh-CN" altLang="en-US" smtClean="0"/>
              <a:t>线性表的链式存储表示和实现</a:t>
            </a:r>
          </a:p>
        </p:txBody>
      </p:sp>
      <p:sp>
        <p:nvSpPr>
          <p:cNvPr id="133123" name="Rectangle 3"/>
          <p:cNvSpPr>
            <a:spLocks noGrp="1" noChangeArrowheads="1"/>
          </p:cNvSpPr>
          <p:nvPr>
            <p:ph idx="1"/>
          </p:nvPr>
        </p:nvSpPr>
        <p:spPr>
          <a:xfrm>
            <a:off x="527050" y="1628775"/>
            <a:ext cx="10218738" cy="4351338"/>
          </a:xfrm>
        </p:spPr>
        <p:txBody>
          <a:bodyPr/>
          <a:lstStyle/>
          <a:p>
            <a:pPr eaLnBrk="1" hangingPunct="1"/>
            <a:r>
              <a:rPr lang="zh-CN" altLang="en-US" smtClean="0"/>
              <a:t>单链表的劣势</a:t>
            </a:r>
          </a:p>
          <a:p>
            <a:pPr lvl="1" eaLnBrk="1" hangingPunct="1"/>
            <a:r>
              <a:rPr lang="zh-CN" altLang="en-US" smtClean="0"/>
              <a:t>不能随机存取数据元素</a:t>
            </a:r>
          </a:p>
          <a:p>
            <a:pPr lvl="1" eaLnBrk="1" hangingPunct="1"/>
            <a:r>
              <a:rPr lang="zh-CN" altLang="en-US" smtClean="0"/>
              <a:t>线性表的</a:t>
            </a:r>
            <a:r>
              <a:rPr lang="zh-CN" altLang="en-US" smtClean="0">
                <a:latin typeface="Arial" panose="020B0604020202020204" pitchFamily="34" charset="0"/>
              </a:rPr>
              <a:t>“</a:t>
            </a:r>
            <a:r>
              <a:rPr lang="zh-CN" altLang="en-US" smtClean="0"/>
              <a:t>表长</a:t>
            </a:r>
            <a:r>
              <a:rPr lang="zh-CN" altLang="en-US" smtClean="0">
                <a:latin typeface="Arial" panose="020B0604020202020204" pitchFamily="34" charset="0"/>
              </a:rPr>
              <a:t>”</a:t>
            </a:r>
            <a:r>
              <a:rPr lang="zh-CN" altLang="en-US" smtClean="0"/>
              <a:t>和数据元素在线性表中的</a:t>
            </a:r>
            <a:r>
              <a:rPr lang="zh-CN" altLang="en-US" smtClean="0">
                <a:latin typeface="Arial" panose="020B0604020202020204" pitchFamily="34" charset="0"/>
              </a:rPr>
              <a:t>“</a:t>
            </a:r>
            <a:r>
              <a:rPr lang="zh-CN" altLang="en-US" smtClean="0"/>
              <a:t>位序</a:t>
            </a:r>
            <a:r>
              <a:rPr lang="zh-CN" altLang="en-US" smtClean="0">
                <a:latin typeface="Arial" panose="020B0604020202020204" pitchFamily="34" charset="0"/>
              </a:rPr>
              <a:t>”</a:t>
            </a:r>
            <a:r>
              <a:rPr lang="zh-CN" altLang="en-US" smtClean="0"/>
              <a:t>，在单链表中都看不见了。</a:t>
            </a:r>
          </a:p>
          <a:p>
            <a:pPr lvl="1" eaLnBrk="1" hangingPunct="1"/>
            <a:r>
              <a:rPr lang="zh-CN" altLang="en-US" smtClean="0"/>
              <a:t>不便于在表尾插入元素，需遍历整个表才能找到插入的位置。</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527050" y="368300"/>
            <a:ext cx="10218738" cy="822325"/>
          </a:xfrm>
        </p:spPr>
        <p:txBody>
          <a:bodyPr/>
          <a:lstStyle/>
          <a:p>
            <a:pPr eaLnBrk="1" hangingPunct="1"/>
            <a:r>
              <a:rPr lang="zh-CN" altLang="en-US" smtClean="0"/>
              <a:t>双向链表</a:t>
            </a:r>
          </a:p>
        </p:txBody>
      </p:sp>
      <p:sp>
        <p:nvSpPr>
          <p:cNvPr id="134147" name="Rectangle 3"/>
          <p:cNvSpPr>
            <a:spLocks noGrp="1" noChangeArrowheads="1"/>
          </p:cNvSpPr>
          <p:nvPr>
            <p:ph idx="1"/>
          </p:nvPr>
        </p:nvSpPr>
        <p:spPr>
          <a:xfrm>
            <a:off x="527050" y="1628775"/>
            <a:ext cx="10218738" cy="4351338"/>
          </a:xfrm>
        </p:spPr>
        <p:txBody>
          <a:bodyPr/>
          <a:lstStyle/>
          <a:p>
            <a:pPr eaLnBrk="1" hangingPunct="1"/>
            <a:r>
              <a:rPr lang="zh-CN" altLang="en-US" smtClean="0"/>
              <a:t>双向链表由指向头结点的头指针唯一确定，若将头尾结点链接起来则构成双向循环链表。</a:t>
            </a:r>
          </a:p>
          <a:p>
            <a:pPr eaLnBrk="1" hangingPunct="1"/>
            <a:r>
              <a:rPr lang="en-US" altLang="zh-CN" b="1" u="sng" smtClean="0">
                <a:solidFill>
                  <a:schemeClr val="accent2"/>
                </a:solidFill>
              </a:rPr>
              <a:t>p-&gt;prior-&gt;next = p</a:t>
            </a:r>
            <a:r>
              <a:rPr lang="en-US" altLang="zh-CN" u="sng" smtClean="0">
                <a:solidFill>
                  <a:schemeClr val="accent2"/>
                </a:solidFill>
              </a:rPr>
              <a:t> </a:t>
            </a:r>
          </a:p>
          <a:p>
            <a:pPr eaLnBrk="1" hangingPunct="1">
              <a:spcBef>
                <a:spcPct val="0"/>
              </a:spcBef>
              <a:buFontTx/>
              <a:buNone/>
            </a:pPr>
            <a:r>
              <a:rPr lang="en-US" altLang="zh-CN" u="sng" smtClean="0">
                <a:solidFill>
                  <a:schemeClr val="accent2"/>
                </a:solidFill>
              </a:rPr>
              <a:t>   </a:t>
            </a:r>
            <a:r>
              <a:rPr lang="en-US" altLang="zh-CN" b="1" u="sng" smtClean="0">
                <a:solidFill>
                  <a:schemeClr val="accent2"/>
                </a:solidFill>
              </a:rPr>
              <a:t>p-&gt;next-&gt;prior = p</a:t>
            </a:r>
          </a:p>
          <a:p>
            <a:pPr eaLnBrk="1" hangingPunct="1">
              <a:spcBef>
                <a:spcPct val="0"/>
              </a:spcBef>
              <a:buFontTx/>
              <a:buChar char="•"/>
            </a:pPr>
            <a:endParaRPr lang="en-US" altLang="zh-CN" u="sng" smtClean="0">
              <a:solidFill>
                <a:schemeClr val="accent2"/>
              </a:solidFill>
            </a:endParaRPr>
          </a:p>
        </p:txBody>
      </p:sp>
      <p:pic>
        <p:nvPicPr>
          <p:cNvPr id="63492" name="Picture 4" descr="2_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550" y="3789363"/>
            <a:ext cx="6911975" cy="273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randombar(horizontal)">
                                      <p:cBhvr>
                                        <p:cTn id="7" dur="500"/>
                                        <p:tgtEl>
                                          <p:spTgt spid="63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527050" y="368300"/>
            <a:ext cx="10218738" cy="822325"/>
          </a:xfrm>
        </p:spPr>
        <p:txBody>
          <a:bodyPr/>
          <a:lstStyle/>
          <a:p>
            <a:pPr eaLnBrk="1" hangingPunct="1"/>
            <a:r>
              <a:rPr lang="zh-CN" altLang="en-US" smtClean="0"/>
              <a:t>双向链表</a:t>
            </a:r>
          </a:p>
        </p:txBody>
      </p:sp>
      <p:sp>
        <p:nvSpPr>
          <p:cNvPr id="116739" name="Rectangle 3"/>
          <p:cNvSpPr>
            <a:spLocks noGrp="1" noChangeArrowheads="1"/>
          </p:cNvSpPr>
          <p:nvPr>
            <p:ph idx="1"/>
          </p:nvPr>
        </p:nvSpPr>
        <p:spPr>
          <a:xfrm>
            <a:off x="527050" y="1628775"/>
            <a:ext cx="10218738" cy="4351338"/>
          </a:xfrm>
        </p:spPr>
        <p:txBody>
          <a:bodyPr rtlCol="0">
            <a:normAutofit/>
          </a:bodyPr>
          <a:lstStyle/>
          <a:p>
            <a:pPr eaLnBrk="1" fontAlgn="auto" hangingPunct="1">
              <a:spcAft>
                <a:spcPts val="0"/>
              </a:spcAft>
              <a:defRPr/>
            </a:pPr>
            <a:r>
              <a:rPr lang="zh-CN" altLang="en-US" b="1" dirty="0" smtClean="0"/>
              <a:t>双向链表</a:t>
            </a:r>
            <a:r>
              <a:rPr lang="zh-CN" altLang="en-US" dirty="0" smtClean="0"/>
              <a:t>：其结点结构中含有</a:t>
            </a:r>
            <a:r>
              <a:rPr lang="zh-CN" altLang="en-US" b="1" dirty="0" smtClean="0">
                <a:solidFill>
                  <a:schemeClr val="accent2"/>
                </a:solidFill>
              </a:rPr>
              <a:t>两个</a:t>
            </a:r>
            <a:r>
              <a:rPr lang="zh-CN" altLang="en-US" dirty="0" smtClean="0"/>
              <a:t>指针域，</a:t>
            </a:r>
            <a:r>
              <a:rPr lang="zh-CN" altLang="en-US" b="1" u="sng" dirty="0" smtClean="0">
                <a:solidFill>
                  <a:schemeClr val="accent2"/>
                </a:solidFill>
              </a:rPr>
              <a:t>其一指向数据元素的</a:t>
            </a:r>
            <a:r>
              <a:rPr lang="en-US" altLang="zh-CN" b="1" u="sng" dirty="0" smtClean="0">
                <a:solidFill>
                  <a:schemeClr val="accent2"/>
                </a:solidFill>
              </a:rPr>
              <a:t>"</a:t>
            </a:r>
            <a:r>
              <a:rPr lang="zh-CN" altLang="en-US" b="1" u="sng" dirty="0" smtClean="0">
                <a:solidFill>
                  <a:schemeClr val="accent2"/>
                </a:solidFill>
              </a:rPr>
              <a:t>直接后继</a:t>
            </a:r>
            <a:r>
              <a:rPr lang="en-US" altLang="zh-CN" b="1" u="sng" dirty="0" smtClean="0">
                <a:solidFill>
                  <a:schemeClr val="accent2"/>
                </a:solidFill>
              </a:rPr>
              <a:t>"</a:t>
            </a:r>
            <a:r>
              <a:rPr lang="zh-CN" altLang="en-US" b="1" u="sng" dirty="0" smtClean="0">
                <a:solidFill>
                  <a:schemeClr val="accent2"/>
                </a:solidFill>
              </a:rPr>
              <a:t>，另一指向数据元素的</a:t>
            </a:r>
            <a:r>
              <a:rPr lang="en-US" altLang="zh-CN" b="1" u="sng" dirty="0" smtClean="0">
                <a:solidFill>
                  <a:schemeClr val="accent2"/>
                </a:solidFill>
              </a:rPr>
              <a:t>"</a:t>
            </a:r>
            <a:r>
              <a:rPr lang="zh-CN" altLang="en-US" b="1" u="sng" dirty="0" smtClean="0">
                <a:solidFill>
                  <a:schemeClr val="accent2"/>
                </a:solidFill>
              </a:rPr>
              <a:t>直接前驱</a:t>
            </a:r>
            <a:r>
              <a:rPr lang="zh-CN" altLang="en-US" b="1" u="sng" dirty="0" smtClean="0">
                <a:solidFill>
                  <a:schemeClr val="accent2"/>
                </a:solidFill>
                <a:latin typeface="Arial" panose="020B0604020202020204" pitchFamily="34" charset="0"/>
              </a:rPr>
              <a:t>“</a:t>
            </a:r>
            <a:endParaRPr lang="zh-CN" altLang="en-US" b="1" u="sng" dirty="0" smtClean="0">
              <a:solidFill>
                <a:schemeClr val="accent2"/>
              </a:solidFill>
            </a:endParaRPr>
          </a:p>
          <a:p>
            <a:pPr marL="0" indent="0" eaLnBrk="1" fontAlgn="auto" hangingPunct="1">
              <a:spcAft>
                <a:spcPts val="0"/>
              </a:spcAft>
              <a:buFont typeface="Wingdings" panose="05000000000000000000" pitchFamily="2" charset="2"/>
              <a:buNone/>
              <a:defRPr/>
            </a:pPr>
            <a:r>
              <a:rPr lang="en-US" altLang="zh-CN" b="1" dirty="0" smtClean="0"/>
              <a:t>       </a:t>
            </a:r>
            <a:r>
              <a:rPr lang="en-US" altLang="zh-CN" b="1" dirty="0" err="1" smtClean="0"/>
              <a:t>typedef</a:t>
            </a:r>
            <a:r>
              <a:rPr lang="en-US" altLang="zh-CN" b="1" dirty="0" smtClean="0"/>
              <a:t> </a:t>
            </a:r>
            <a:r>
              <a:rPr lang="en-US" altLang="zh-CN" b="1" dirty="0" err="1" smtClean="0"/>
              <a:t>struct</a:t>
            </a:r>
            <a:r>
              <a:rPr lang="en-US" altLang="zh-CN" dirty="0" smtClean="0"/>
              <a:t> </a:t>
            </a:r>
            <a:r>
              <a:rPr lang="en-US" altLang="zh-CN" dirty="0" err="1" smtClean="0"/>
              <a:t>DuLNode</a:t>
            </a:r>
            <a:r>
              <a:rPr lang="en-US" altLang="zh-CN" dirty="0" smtClean="0"/>
              <a:t> </a:t>
            </a:r>
            <a:r>
              <a:rPr lang="en-US" altLang="zh-CN" b="1" dirty="0" smtClean="0"/>
              <a:t>{</a:t>
            </a:r>
            <a:r>
              <a:rPr lang="en-US" altLang="zh-CN" dirty="0" smtClean="0"/>
              <a:t/>
            </a:r>
            <a:br>
              <a:rPr lang="en-US" altLang="zh-CN" dirty="0" smtClean="0"/>
            </a:br>
            <a:r>
              <a:rPr lang="zh-CN" altLang="en-US" dirty="0" smtClean="0"/>
              <a:t>　　　　</a:t>
            </a:r>
            <a:r>
              <a:rPr lang="en-US" altLang="zh-CN" dirty="0" err="1" smtClean="0"/>
              <a:t>ElemType</a:t>
            </a:r>
            <a:r>
              <a:rPr lang="en-US" altLang="zh-CN" dirty="0" smtClean="0"/>
              <a:t> data;</a:t>
            </a:r>
            <a:br>
              <a:rPr lang="en-US" altLang="zh-CN" dirty="0" smtClean="0"/>
            </a:br>
            <a:r>
              <a:rPr lang="zh-CN" altLang="en-US" dirty="0" smtClean="0"/>
              <a:t>　　　　</a:t>
            </a:r>
            <a:r>
              <a:rPr lang="en-US" altLang="zh-CN" b="1" dirty="0" err="1" smtClean="0"/>
              <a:t>struct</a:t>
            </a:r>
            <a:r>
              <a:rPr lang="en-US" altLang="zh-CN" dirty="0" smtClean="0"/>
              <a:t> </a:t>
            </a:r>
            <a:r>
              <a:rPr lang="en-US" altLang="zh-CN" dirty="0" err="1" smtClean="0"/>
              <a:t>DuLNode</a:t>
            </a:r>
            <a:r>
              <a:rPr lang="en-US" altLang="zh-CN" dirty="0" smtClean="0"/>
              <a:t> *prior;</a:t>
            </a:r>
            <a:br>
              <a:rPr lang="en-US" altLang="zh-CN" dirty="0" smtClean="0"/>
            </a:br>
            <a:r>
              <a:rPr lang="zh-CN" altLang="en-US" dirty="0" smtClean="0"/>
              <a:t>　　　　</a:t>
            </a:r>
            <a:r>
              <a:rPr lang="en-US" altLang="zh-CN" b="1" dirty="0" err="1" smtClean="0"/>
              <a:t>struct</a:t>
            </a:r>
            <a:r>
              <a:rPr lang="en-US" altLang="zh-CN" dirty="0" smtClean="0"/>
              <a:t> </a:t>
            </a:r>
            <a:r>
              <a:rPr lang="en-US" altLang="zh-CN" dirty="0" err="1" smtClean="0"/>
              <a:t>DuLNode</a:t>
            </a:r>
            <a:r>
              <a:rPr lang="en-US" altLang="zh-CN" dirty="0" smtClean="0"/>
              <a:t> *next;</a:t>
            </a:r>
            <a:br>
              <a:rPr lang="en-US" altLang="zh-CN" dirty="0" smtClean="0"/>
            </a:br>
            <a:r>
              <a:rPr lang="zh-CN" altLang="en-US" dirty="0"/>
              <a:t> </a:t>
            </a:r>
            <a:r>
              <a:rPr lang="zh-CN" altLang="en-US" dirty="0" smtClean="0"/>
              <a:t>      </a:t>
            </a:r>
            <a:r>
              <a:rPr lang="en-US" altLang="zh-CN" b="1" dirty="0" smtClean="0"/>
              <a:t>}</a:t>
            </a:r>
            <a:r>
              <a:rPr lang="en-US" altLang="zh-CN" dirty="0" smtClean="0"/>
              <a:t> </a:t>
            </a:r>
            <a:r>
              <a:rPr lang="en-US" altLang="zh-CN" dirty="0" err="1" smtClean="0"/>
              <a:t>DuLNode</a:t>
            </a:r>
            <a:r>
              <a:rPr lang="en-US" altLang="zh-CN" dirty="0" smtClean="0"/>
              <a:t>, *</a:t>
            </a:r>
            <a:r>
              <a:rPr lang="en-US" altLang="zh-CN" dirty="0" err="1" smtClean="0"/>
              <a:t>DuLink</a:t>
            </a:r>
            <a:r>
              <a:rPr lang="en-US" altLang="zh-CN" dirty="0" smtClean="0"/>
              <a:t>;</a:t>
            </a:r>
            <a:br>
              <a:rPr lang="en-US" altLang="zh-CN" dirty="0" smtClean="0"/>
            </a:br>
            <a:endParaRPr lang="en-US" altLang="zh-CN" dirty="0" smtClean="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527050" y="368300"/>
            <a:ext cx="10218738" cy="822325"/>
          </a:xfrm>
        </p:spPr>
        <p:txBody>
          <a:bodyPr/>
          <a:lstStyle/>
          <a:p>
            <a:pPr eaLnBrk="1" hangingPunct="1"/>
            <a:r>
              <a:rPr lang="zh-CN" altLang="en-US" smtClean="0"/>
              <a:t>双向链表</a:t>
            </a:r>
          </a:p>
        </p:txBody>
      </p:sp>
      <p:sp>
        <p:nvSpPr>
          <p:cNvPr id="136195" name="Rectangle 3"/>
          <p:cNvSpPr>
            <a:spLocks noGrp="1" noChangeArrowheads="1"/>
          </p:cNvSpPr>
          <p:nvPr>
            <p:ph idx="1"/>
          </p:nvPr>
        </p:nvSpPr>
        <p:spPr>
          <a:xfrm>
            <a:off x="527050" y="1628775"/>
            <a:ext cx="10218738" cy="4351338"/>
          </a:xfrm>
        </p:spPr>
        <p:txBody>
          <a:bodyPr/>
          <a:lstStyle/>
          <a:p>
            <a:pPr eaLnBrk="1" hangingPunct="1"/>
            <a:r>
              <a:rPr lang="zh-CN" altLang="en-US" smtClean="0"/>
              <a:t>在双向链表上进行操作基本上和单向链表相同，例如，查找结点也是要从头指针指示的头结点开始。</a:t>
            </a:r>
          </a:p>
          <a:p>
            <a:pPr eaLnBrk="1" hangingPunct="1"/>
            <a:r>
              <a:rPr lang="zh-CN" altLang="en-US" b="1" u="sng" smtClean="0">
                <a:solidFill>
                  <a:schemeClr val="accent2"/>
                </a:solidFill>
              </a:rPr>
              <a:t>插入和删除时必须同时修改两个方向上的指针。</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527050" y="368300"/>
            <a:ext cx="10218738" cy="822325"/>
          </a:xfrm>
        </p:spPr>
        <p:txBody>
          <a:bodyPr/>
          <a:lstStyle/>
          <a:p>
            <a:pPr eaLnBrk="1" hangingPunct="1"/>
            <a:r>
              <a:rPr lang="zh-CN" altLang="en-US" smtClean="0"/>
              <a:t>双向链表</a:t>
            </a:r>
          </a:p>
        </p:txBody>
      </p:sp>
      <p:sp>
        <p:nvSpPr>
          <p:cNvPr id="137219" name="Rectangle 3"/>
          <p:cNvSpPr>
            <a:spLocks noGrp="1" noChangeArrowheads="1"/>
          </p:cNvSpPr>
          <p:nvPr>
            <p:ph idx="1"/>
          </p:nvPr>
        </p:nvSpPr>
        <p:spPr>
          <a:xfrm>
            <a:off x="527050" y="1628775"/>
            <a:ext cx="10218738" cy="4351338"/>
          </a:xfrm>
        </p:spPr>
        <p:txBody>
          <a:bodyPr/>
          <a:lstStyle/>
          <a:p>
            <a:pPr eaLnBrk="1" hangingPunct="1"/>
            <a:r>
              <a:rPr lang="zh-CN" altLang="en-US" sz="2600" smtClean="0"/>
              <a:t>插入操作</a:t>
            </a:r>
          </a:p>
          <a:p>
            <a:pPr eaLnBrk="1" hangingPunct="1">
              <a:buFont typeface="Wingdings" panose="05000000000000000000" pitchFamily="2" charset="2"/>
              <a:buNone/>
            </a:pPr>
            <a:r>
              <a:rPr lang="en-US" altLang="zh-CN" sz="2600" b="1" smtClean="0"/>
              <a:t>      void</a:t>
            </a:r>
            <a:r>
              <a:rPr lang="en-US" altLang="zh-CN" sz="2600" smtClean="0"/>
              <a:t> ListInsert_DuL(DuLink </a:t>
            </a:r>
            <a:r>
              <a:rPr lang="en-US" altLang="zh-CN" sz="2600" b="1" smtClean="0"/>
              <a:t>&amp;</a:t>
            </a:r>
            <a:r>
              <a:rPr lang="en-US" altLang="zh-CN" sz="2600" smtClean="0"/>
              <a:t>L, DuLNode* p, DuLNode* s ) </a:t>
            </a:r>
            <a:br>
              <a:rPr lang="en-US" altLang="zh-CN" sz="2600" smtClean="0"/>
            </a:br>
            <a:r>
              <a:rPr lang="zh-CN" altLang="en-US" sz="2600" smtClean="0"/>
              <a:t>　</a:t>
            </a:r>
            <a:r>
              <a:rPr lang="en-US" altLang="zh-CN" sz="2600" b="1" smtClean="0"/>
              <a:t>{// </a:t>
            </a:r>
            <a:r>
              <a:rPr lang="zh-CN" altLang="en-US" sz="2600" b="1" smtClean="0"/>
              <a:t>在带头结点的双向循环链表 </a:t>
            </a:r>
            <a:r>
              <a:rPr lang="en-US" altLang="zh-CN" sz="2600" b="1" smtClean="0"/>
              <a:t>L </a:t>
            </a:r>
            <a:r>
              <a:rPr lang="zh-CN" altLang="en-US" sz="2600" b="1" smtClean="0"/>
              <a:t>中结点 *</a:t>
            </a:r>
            <a:r>
              <a:rPr lang="en-US" altLang="zh-CN" sz="2600" b="1" smtClean="0"/>
              <a:t>p </a:t>
            </a:r>
            <a:r>
              <a:rPr lang="zh-CN" altLang="en-US" sz="2600" b="1" smtClean="0"/>
              <a:t>之后插入结点 *</a:t>
            </a:r>
            <a:r>
              <a:rPr lang="en-US" altLang="zh-CN" sz="2600" b="1" smtClean="0"/>
              <a:t>s</a:t>
            </a:r>
            <a:r>
              <a:rPr lang="en-US" altLang="zh-CN" sz="2600" smtClean="0"/>
              <a:t/>
            </a:r>
            <a:br>
              <a:rPr lang="en-US" altLang="zh-CN" sz="2600" smtClean="0"/>
            </a:br>
            <a:r>
              <a:rPr lang="zh-CN" altLang="en-US" sz="2600" smtClean="0"/>
              <a:t>　　</a:t>
            </a:r>
            <a:r>
              <a:rPr lang="en-US" altLang="zh-CN" sz="2600" b="1" u="sng" smtClean="0">
                <a:solidFill>
                  <a:schemeClr val="accent2"/>
                </a:solidFill>
              </a:rPr>
              <a:t>s-&gt;next = p-&gt;next; p-&gt;next = s;</a:t>
            </a:r>
            <a:br>
              <a:rPr lang="en-US" altLang="zh-CN" sz="2600" b="1" u="sng" smtClean="0">
                <a:solidFill>
                  <a:schemeClr val="accent2"/>
                </a:solidFill>
              </a:rPr>
            </a:br>
            <a:r>
              <a:rPr lang="zh-CN" altLang="en-US" sz="2600" b="1" u="sng" smtClean="0">
                <a:solidFill>
                  <a:schemeClr val="accent2"/>
                </a:solidFill>
              </a:rPr>
              <a:t>　　</a:t>
            </a:r>
            <a:r>
              <a:rPr lang="en-US" altLang="zh-CN" sz="2600" b="1" u="sng" smtClean="0">
                <a:solidFill>
                  <a:schemeClr val="accent2"/>
                </a:solidFill>
              </a:rPr>
              <a:t>s-&gt;next-&gt;prior = s; s-&gt;prior = p;</a:t>
            </a:r>
            <a:r>
              <a:rPr lang="en-US" altLang="zh-CN" sz="2600" smtClean="0"/>
              <a:t/>
            </a:r>
            <a:br>
              <a:rPr lang="en-US" altLang="zh-CN" sz="2600" smtClean="0"/>
            </a:br>
            <a:r>
              <a:rPr lang="zh-CN" altLang="en-US" sz="2600" smtClean="0"/>
              <a:t>　</a:t>
            </a:r>
            <a:r>
              <a:rPr lang="en-US" altLang="zh-CN" sz="2600" b="1" smtClean="0"/>
              <a:t>}</a:t>
            </a:r>
            <a:r>
              <a:rPr lang="en-US" altLang="zh-CN" sz="2600" smtClean="0"/>
              <a:t>// ListInsert_DuL</a:t>
            </a:r>
          </a:p>
        </p:txBody>
      </p:sp>
      <p:grpSp>
        <p:nvGrpSpPr>
          <p:cNvPr id="2" name="Group 4"/>
          <p:cNvGrpSpPr>
            <a:grpSpLocks/>
          </p:cNvGrpSpPr>
          <p:nvPr/>
        </p:nvGrpSpPr>
        <p:grpSpPr bwMode="auto">
          <a:xfrm>
            <a:off x="2133600" y="5202238"/>
            <a:ext cx="3962400" cy="1006475"/>
            <a:chOff x="528" y="3504"/>
            <a:chExt cx="2496" cy="634"/>
          </a:xfrm>
        </p:grpSpPr>
        <p:sp>
          <p:nvSpPr>
            <p:cNvPr id="137251" name="Line 5"/>
            <p:cNvSpPr>
              <a:spLocks noChangeShapeType="1"/>
            </p:cNvSpPr>
            <p:nvPr/>
          </p:nvSpPr>
          <p:spPr bwMode="auto">
            <a:xfrm>
              <a:off x="864" y="3622"/>
              <a:ext cx="19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7252" name="Group 6"/>
            <p:cNvGrpSpPr>
              <a:grpSpLocks/>
            </p:cNvGrpSpPr>
            <p:nvPr/>
          </p:nvGrpSpPr>
          <p:grpSpPr bwMode="auto">
            <a:xfrm>
              <a:off x="1056" y="3552"/>
              <a:ext cx="672" cy="203"/>
              <a:chOff x="1056" y="2592"/>
              <a:chExt cx="672" cy="203"/>
            </a:xfrm>
          </p:grpSpPr>
          <p:sp>
            <p:nvSpPr>
              <p:cNvPr id="137272" name="Rectangle 7"/>
              <p:cNvSpPr>
                <a:spLocks noChangeArrowheads="1"/>
              </p:cNvSpPr>
              <p:nvPr/>
            </p:nvSpPr>
            <p:spPr bwMode="auto">
              <a:xfrm>
                <a:off x="1056" y="2592"/>
                <a:ext cx="672" cy="192"/>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20000"/>
                  </a:spcBef>
                  <a:buFontTx/>
                  <a:buNone/>
                </a:pPr>
                <a:endParaRPr kumimoji="1" lang="zh-CN" altLang="zh-CN" sz="3000">
                  <a:latin typeface="Tahoma" panose="020B0604030504040204" pitchFamily="34" charset="0"/>
                  <a:ea typeface="宋体" panose="02010600030101010101" pitchFamily="2" charset="-122"/>
                </a:endParaRPr>
              </a:p>
            </p:txBody>
          </p:sp>
          <p:sp>
            <p:nvSpPr>
              <p:cNvPr id="137273" name="Line 8"/>
              <p:cNvSpPr>
                <a:spLocks noChangeShapeType="1"/>
              </p:cNvSpPr>
              <p:nvPr/>
            </p:nvSpPr>
            <p:spPr bwMode="auto">
              <a:xfrm>
                <a:off x="1536" y="2603"/>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74" name="Line 9"/>
              <p:cNvSpPr>
                <a:spLocks noChangeShapeType="1"/>
              </p:cNvSpPr>
              <p:nvPr/>
            </p:nvSpPr>
            <p:spPr bwMode="auto">
              <a:xfrm>
                <a:off x="1263" y="2592"/>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7253" name="Group 10"/>
            <p:cNvGrpSpPr>
              <a:grpSpLocks/>
            </p:cNvGrpSpPr>
            <p:nvPr/>
          </p:nvGrpSpPr>
          <p:grpSpPr bwMode="auto">
            <a:xfrm>
              <a:off x="2160" y="3552"/>
              <a:ext cx="672" cy="203"/>
              <a:chOff x="1056" y="2592"/>
              <a:chExt cx="672" cy="203"/>
            </a:xfrm>
          </p:grpSpPr>
          <p:sp>
            <p:nvSpPr>
              <p:cNvPr id="137269" name="Rectangle 11"/>
              <p:cNvSpPr>
                <a:spLocks noChangeArrowheads="1"/>
              </p:cNvSpPr>
              <p:nvPr/>
            </p:nvSpPr>
            <p:spPr bwMode="auto">
              <a:xfrm>
                <a:off x="1056" y="2592"/>
                <a:ext cx="672" cy="192"/>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20000"/>
                  </a:spcBef>
                  <a:buFontTx/>
                  <a:buNone/>
                </a:pPr>
                <a:endParaRPr kumimoji="1" lang="zh-CN" altLang="zh-CN" sz="3000">
                  <a:latin typeface="Tahoma" panose="020B0604030504040204" pitchFamily="34" charset="0"/>
                  <a:ea typeface="宋体" panose="02010600030101010101" pitchFamily="2" charset="-122"/>
                </a:endParaRPr>
              </a:p>
            </p:txBody>
          </p:sp>
          <p:sp>
            <p:nvSpPr>
              <p:cNvPr id="137270" name="Line 12"/>
              <p:cNvSpPr>
                <a:spLocks noChangeShapeType="1"/>
              </p:cNvSpPr>
              <p:nvPr/>
            </p:nvSpPr>
            <p:spPr bwMode="auto">
              <a:xfrm>
                <a:off x="1536" y="2603"/>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71" name="Line 13"/>
              <p:cNvSpPr>
                <a:spLocks noChangeShapeType="1"/>
              </p:cNvSpPr>
              <p:nvPr/>
            </p:nvSpPr>
            <p:spPr bwMode="auto">
              <a:xfrm>
                <a:off x="1263" y="2592"/>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7254" name="Text Box 14"/>
            <p:cNvSpPr txBox="1">
              <a:spLocks noChangeArrowheads="1"/>
            </p:cNvSpPr>
            <p:nvPr/>
          </p:nvSpPr>
          <p:spPr bwMode="auto">
            <a:xfrm>
              <a:off x="2400" y="3515"/>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ahoma" panose="020B0604030504040204" pitchFamily="34" charset="0"/>
                  <a:ea typeface="宋体" panose="02010600030101010101" pitchFamily="2" charset="-122"/>
                </a:rPr>
                <a:t>b</a:t>
              </a:r>
            </a:p>
          </p:txBody>
        </p:sp>
        <p:sp>
          <p:nvSpPr>
            <p:cNvPr id="137255" name="Line 15"/>
            <p:cNvSpPr>
              <a:spLocks noChangeShapeType="1"/>
            </p:cNvSpPr>
            <p:nvPr/>
          </p:nvSpPr>
          <p:spPr bwMode="auto">
            <a:xfrm>
              <a:off x="1632" y="3600"/>
              <a:ext cx="52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56" name="Line 16"/>
            <p:cNvSpPr>
              <a:spLocks noChangeShapeType="1"/>
            </p:cNvSpPr>
            <p:nvPr/>
          </p:nvSpPr>
          <p:spPr bwMode="auto">
            <a:xfrm>
              <a:off x="2784" y="3600"/>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57" name="Line 17"/>
            <p:cNvSpPr>
              <a:spLocks noChangeShapeType="1"/>
            </p:cNvSpPr>
            <p:nvPr/>
          </p:nvSpPr>
          <p:spPr bwMode="auto">
            <a:xfrm flipH="1">
              <a:off x="1728" y="3696"/>
              <a:ext cx="52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58" name="Line 18"/>
            <p:cNvSpPr>
              <a:spLocks noChangeShapeType="1"/>
            </p:cNvSpPr>
            <p:nvPr/>
          </p:nvSpPr>
          <p:spPr bwMode="auto">
            <a:xfrm flipH="1">
              <a:off x="2832" y="3696"/>
              <a:ext cx="19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7259" name="Group 19"/>
            <p:cNvGrpSpPr>
              <a:grpSpLocks/>
            </p:cNvGrpSpPr>
            <p:nvPr/>
          </p:nvGrpSpPr>
          <p:grpSpPr bwMode="auto">
            <a:xfrm>
              <a:off x="1536" y="3925"/>
              <a:ext cx="672" cy="203"/>
              <a:chOff x="1056" y="2592"/>
              <a:chExt cx="672" cy="203"/>
            </a:xfrm>
          </p:grpSpPr>
          <p:sp>
            <p:nvSpPr>
              <p:cNvPr id="137266" name="Rectangle 20"/>
              <p:cNvSpPr>
                <a:spLocks noChangeArrowheads="1"/>
              </p:cNvSpPr>
              <p:nvPr/>
            </p:nvSpPr>
            <p:spPr bwMode="auto">
              <a:xfrm>
                <a:off x="1056" y="2592"/>
                <a:ext cx="672" cy="192"/>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20000"/>
                  </a:spcBef>
                  <a:buFontTx/>
                  <a:buNone/>
                </a:pPr>
                <a:endParaRPr kumimoji="1" lang="zh-CN" altLang="zh-CN" sz="3000">
                  <a:latin typeface="Tahoma" panose="020B0604030504040204" pitchFamily="34" charset="0"/>
                  <a:ea typeface="宋体" panose="02010600030101010101" pitchFamily="2" charset="-122"/>
                </a:endParaRPr>
              </a:p>
            </p:txBody>
          </p:sp>
          <p:sp>
            <p:nvSpPr>
              <p:cNvPr id="137267" name="Line 21"/>
              <p:cNvSpPr>
                <a:spLocks noChangeShapeType="1"/>
              </p:cNvSpPr>
              <p:nvPr/>
            </p:nvSpPr>
            <p:spPr bwMode="auto">
              <a:xfrm>
                <a:off x="1536" y="2603"/>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68" name="Line 22"/>
              <p:cNvSpPr>
                <a:spLocks noChangeShapeType="1"/>
              </p:cNvSpPr>
              <p:nvPr/>
            </p:nvSpPr>
            <p:spPr bwMode="auto">
              <a:xfrm>
                <a:off x="1263" y="2592"/>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7260" name="Text Box 23"/>
            <p:cNvSpPr txBox="1">
              <a:spLocks noChangeArrowheads="1"/>
            </p:cNvSpPr>
            <p:nvPr/>
          </p:nvSpPr>
          <p:spPr bwMode="auto">
            <a:xfrm>
              <a:off x="1756" y="3877"/>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ahoma" panose="020B0604030504040204" pitchFamily="34" charset="0"/>
                  <a:ea typeface="宋体" panose="02010600030101010101" pitchFamily="2" charset="-122"/>
                </a:rPr>
                <a:t>x</a:t>
              </a:r>
            </a:p>
          </p:txBody>
        </p:sp>
        <p:sp>
          <p:nvSpPr>
            <p:cNvPr id="137261" name="Line 24"/>
            <p:cNvSpPr>
              <a:spLocks noChangeShapeType="1"/>
            </p:cNvSpPr>
            <p:nvPr/>
          </p:nvSpPr>
          <p:spPr bwMode="auto">
            <a:xfrm>
              <a:off x="1200" y="3973"/>
              <a:ext cx="33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62" name="Text Box 25"/>
            <p:cNvSpPr txBox="1">
              <a:spLocks noChangeArrowheads="1"/>
            </p:cNvSpPr>
            <p:nvPr/>
          </p:nvSpPr>
          <p:spPr bwMode="auto">
            <a:xfrm>
              <a:off x="1296" y="3504"/>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ahoma" panose="020B0604030504040204" pitchFamily="34" charset="0"/>
                  <a:ea typeface="宋体" panose="02010600030101010101" pitchFamily="2" charset="-122"/>
                </a:rPr>
                <a:t>a</a:t>
              </a:r>
            </a:p>
          </p:txBody>
        </p:sp>
        <p:sp>
          <p:nvSpPr>
            <p:cNvPr id="137263" name="Line 26"/>
            <p:cNvSpPr>
              <a:spLocks noChangeShapeType="1"/>
            </p:cNvSpPr>
            <p:nvPr/>
          </p:nvSpPr>
          <p:spPr bwMode="auto">
            <a:xfrm flipH="1">
              <a:off x="864" y="3696"/>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64" name="Text Box 27"/>
            <p:cNvSpPr txBox="1">
              <a:spLocks noChangeArrowheads="1"/>
            </p:cNvSpPr>
            <p:nvPr/>
          </p:nvSpPr>
          <p:spPr bwMode="auto">
            <a:xfrm>
              <a:off x="1104" y="3792"/>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ahoma" panose="020B0604030504040204" pitchFamily="34" charset="0"/>
                  <a:ea typeface="宋体" panose="02010600030101010101" pitchFamily="2" charset="-122"/>
                </a:rPr>
                <a:t>s</a:t>
              </a:r>
            </a:p>
          </p:txBody>
        </p:sp>
        <p:sp>
          <p:nvSpPr>
            <p:cNvPr id="137265" name="Text Box 28"/>
            <p:cNvSpPr txBox="1">
              <a:spLocks noChangeArrowheads="1"/>
            </p:cNvSpPr>
            <p:nvPr/>
          </p:nvSpPr>
          <p:spPr bwMode="auto">
            <a:xfrm>
              <a:off x="528" y="3504"/>
              <a:ext cx="28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zh-CN" altLang="en-US" sz="2000">
                  <a:latin typeface="Tahoma" panose="020B0604030504040204" pitchFamily="34" charset="0"/>
                  <a:ea typeface="宋体" panose="02010600030101010101" pitchFamily="2" charset="-122"/>
                </a:rPr>
                <a:t>插入前</a:t>
              </a:r>
            </a:p>
          </p:txBody>
        </p:sp>
      </p:grpSp>
      <p:sp>
        <p:nvSpPr>
          <p:cNvPr id="65565" name="Line 29"/>
          <p:cNvSpPr>
            <a:spLocks noChangeShapeType="1"/>
          </p:cNvSpPr>
          <p:nvPr/>
        </p:nvSpPr>
        <p:spPr bwMode="auto">
          <a:xfrm>
            <a:off x="6934200" y="5348288"/>
            <a:ext cx="304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 name="Group 30"/>
          <p:cNvGrpSpPr>
            <a:grpSpLocks/>
          </p:cNvGrpSpPr>
          <p:nvPr/>
        </p:nvGrpSpPr>
        <p:grpSpPr bwMode="auto">
          <a:xfrm>
            <a:off x="7239000" y="5237163"/>
            <a:ext cx="1066800" cy="322262"/>
            <a:chOff x="1056" y="2592"/>
            <a:chExt cx="672" cy="203"/>
          </a:xfrm>
        </p:grpSpPr>
        <p:sp>
          <p:nvSpPr>
            <p:cNvPr id="137248" name="Rectangle 31"/>
            <p:cNvSpPr>
              <a:spLocks noChangeArrowheads="1"/>
            </p:cNvSpPr>
            <p:nvPr/>
          </p:nvSpPr>
          <p:spPr bwMode="auto">
            <a:xfrm>
              <a:off x="1056" y="2592"/>
              <a:ext cx="672" cy="192"/>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20000"/>
                </a:spcBef>
                <a:buFontTx/>
                <a:buNone/>
              </a:pPr>
              <a:endParaRPr kumimoji="1" lang="zh-CN" altLang="zh-CN" sz="3000">
                <a:latin typeface="Tahoma" panose="020B0604030504040204" pitchFamily="34" charset="0"/>
                <a:ea typeface="宋体" panose="02010600030101010101" pitchFamily="2" charset="-122"/>
              </a:endParaRPr>
            </a:p>
          </p:txBody>
        </p:sp>
        <p:sp>
          <p:nvSpPr>
            <p:cNvPr id="137249" name="Line 32"/>
            <p:cNvSpPr>
              <a:spLocks noChangeShapeType="1"/>
            </p:cNvSpPr>
            <p:nvPr/>
          </p:nvSpPr>
          <p:spPr bwMode="auto">
            <a:xfrm>
              <a:off x="1536" y="2603"/>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50" name="Line 33"/>
            <p:cNvSpPr>
              <a:spLocks noChangeShapeType="1"/>
            </p:cNvSpPr>
            <p:nvPr/>
          </p:nvSpPr>
          <p:spPr bwMode="auto">
            <a:xfrm>
              <a:off x="1263" y="2592"/>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 name="Group 34"/>
          <p:cNvGrpSpPr>
            <a:grpSpLocks/>
          </p:cNvGrpSpPr>
          <p:nvPr/>
        </p:nvGrpSpPr>
        <p:grpSpPr bwMode="auto">
          <a:xfrm>
            <a:off x="8991600" y="5237163"/>
            <a:ext cx="1066800" cy="322262"/>
            <a:chOff x="1056" y="2592"/>
            <a:chExt cx="672" cy="203"/>
          </a:xfrm>
        </p:grpSpPr>
        <p:sp>
          <p:nvSpPr>
            <p:cNvPr id="137245" name="Rectangle 35"/>
            <p:cNvSpPr>
              <a:spLocks noChangeArrowheads="1"/>
            </p:cNvSpPr>
            <p:nvPr/>
          </p:nvSpPr>
          <p:spPr bwMode="auto">
            <a:xfrm>
              <a:off x="1056" y="2592"/>
              <a:ext cx="672" cy="192"/>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20000"/>
                </a:spcBef>
                <a:buFontTx/>
                <a:buNone/>
              </a:pPr>
              <a:endParaRPr kumimoji="1" lang="zh-CN" altLang="zh-CN" sz="3000">
                <a:latin typeface="Tahoma" panose="020B0604030504040204" pitchFamily="34" charset="0"/>
                <a:ea typeface="宋体" panose="02010600030101010101" pitchFamily="2" charset="-122"/>
              </a:endParaRPr>
            </a:p>
          </p:txBody>
        </p:sp>
        <p:sp>
          <p:nvSpPr>
            <p:cNvPr id="137246" name="Line 36"/>
            <p:cNvSpPr>
              <a:spLocks noChangeShapeType="1"/>
            </p:cNvSpPr>
            <p:nvPr/>
          </p:nvSpPr>
          <p:spPr bwMode="auto">
            <a:xfrm>
              <a:off x="1536" y="2603"/>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7" name="Line 37"/>
            <p:cNvSpPr>
              <a:spLocks noChangeShapeType="1"/>
            </p:cNvSpPr>
            <p:nvPr/>
          </p:nvSpPr>
          <p:spPr bwMode="auto">
            <a:xfrm>
              <a:off x="1263" y="2592"/>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5574" name="Text Box 38"/>
          <p:cNvSpPr txBox="1">
            <a:spLocks noChangeArrowheads="1"/>
          </p:cNvSpPr>
          <p:nvPr/>
        </p:nvSpPr>
        <p:spPr bwMode="auto">
          <a:xfrm>
            <a:off x="9372600" y="5178425"/>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ahoma" panose="020B0604030504040204" pitchFamily="34" charset="0"/>
                <a:ea typeface="宋体" panose="02010600030101010101" pitchFamily="2" charset="-122"/>
              </a:rPr>
              <a:t>b</a:t>
            </a:r>
          </a:p>
        </p:txBody>
      </p:sp>
      <p:sp>
        <p:nvSpPr>
          <p:cNvPr id="65575" name="Line 39"/>
          <p:cNvSpPr>
            <a:spLocks noChangeShapeType="1"/>
          </p:cNvSpPr>
          <p:nvPr/>
        </p:nvSpPr>
        <p:spPr bwMode="auto">
          <a:xfrm>
            <a:off x="9982200" y="5313363"/>
            <a:ext cx="381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76" name="Line 40"/>
          <p:cNvSpPr>
            <a:spLocks noChangeShapeType="1"/>
          </p:cNvSpPr>
          <p:nvPr/>
        </p:nvSpPr>
        <p:spPr bwMode="auto">
          <a:xfrm flipH="1">
            <a:off x="10058400" y="5465763"/>
            <a:ext cx="304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 name="Group 41"/>
          <p:cNvGrpSpPr>
            <a:grpSpLocks/>
          </p:cNvGrpSpPr>
          <p:nvPr/>
        </p:nvGrpSpPr>
        <p:grpSpPr bwMode="auto">
          <a:xfrm>
            <a:off x="8001000" y="5829300"/>
            <a:ext cx="1066800" cy="322263"/>
            <a:chOff x="1056" y="2592"/>
            <a:chExt cx="672" cy="203"/>
          </a:xfrm>
        </p:grpSpPr>
        <p:sp>
          <p:nvSpPr>
            <p:cNvPr id="137242" name="Rectangle 42"/>
            <p:cNvSpPr>
              <a:spLocks noChangeArrowheads="1"/>
            </p:cNvSpPr>
            <p:nvPr/>
          </p:nvSpPr>
          <p:spPr bwMode="auto">
            <a:xfrm>
              <a:off x="1056" y="2592"/>
              <a:ext cx="672" cy="192"/>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20000"/>
                </a:spcBef>
                <a:buFontTx/>
                <a:buNone/>
              </a:pPr>
              <a:endParaRPr kumimoji="1" lang="zh-CN" altLang="zh-CN" sz="3000">
                <a:latin typeface="Tahoma" panose="020B0604030504040204" pitchFamily="34" charset="0"/>
                <a:ea typeface="宋体" panose="02010600030101010101" pitchFamily="2" charset="-122"/>
              </a:endParaRPr>
            </a:p>
          </p:txBody>
        </p:sp>
        <p:sp>
          <p:nvSpPr>
            <p:cNvPr id="137243" name="Line 43"/>
            <p:cNvSpPr>
              <a:spLocks noChangeShapeType="1"/>
            </p:cNvSpPr>
            <p:nvPr/>
          </p:nvSpPr>
          <p:spPr bwMode="auto">
            <a:xfrm>
              <a:off x="1536" y="2603"/>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4" name="Line 44"/>
            <p:cNvSpPr>
              <a:spLocks noChangeShapeType="1"/>
            </p:cNvSpPr>
            <p:nvPr/>
          </p:nvSpPr>
          <p:spPr bwMode="auto">
            <a:xfrm>
              <a:off x="1263" y="2592"/>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5581" name="Text Box 45"/>
          <p:cNvSpPr txBox="1">
            <a:spLocks noChangeArrowheads="1"/>
          </p:cNvSpPr>
          <p:nvPr/>
        </p:nvSpPr>
        <p:spPr bwMode="auto">
          <a:xfrm>
            <a:off x="8350250" y="57531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ahoma" panose="020B0604030504040204" pitchFamily="34" charset="0"/>
                <a:ea typeface="宋体" panose="02010600030101010101" pitchFamily="2" charset="-122"/>
              </a:rPr>
              <a:t>x</a:t>
            </a:r>
          </a:p>
        </p:txBody>
      </p:sp>
      <p:sp>
        <p:nvSpPr>
          <p:cNvPr id="65582" name="Line 46"/>
          <p:cNvSpPr>
            <a:spLocks noChangeShapeType="1"/>
          </p:cNvSpPr>
          <p:nvPr/>
        </p:nvSpPr>
        <p:spPr bwMode="auto">
          <a:xfrm>
            <a:off x="7467600" y="5905500"/>
            <a:ext cx="533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83" name="Text Box 47"/>
          <p:cNvSpPr txBox="1">
            <a:spLocks noChangeArrowheads="1"/>
          </p:cNvSpPr>
          <p:nvPr/>
        </p:nvSpPr>
        <p:spPr bwMode="auto">
          <a:xfrm>
            <a:off x="7620000" y="5160963"/>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ahoma" panose="020B0604030504040204" pitchFamily="34" charset="0"/>
                <a:ea typeface="宋体" panose="02010600030101010101" pitchFamily="2" charset="-122"/>
              </a:rPr>
              <a:t>a</a:t>
            </a:r>
          </a:p>
        </p:txBody>
      </p:sp>
      <p:sp>
        <p:nvSpPr>
          <p:cNvPr id="65584" name="Line 48"/>
          <p:cNvSpPr>
            <a:spLocks noChangeShapeType="1"/>
          </p:cNvSpPr>
          <p:nvPr/>
        </p:nvSpPr>
        <p:spPr bwMode="auto">
          <a:xfrm flipH="1">
            <a:off x="6934200" y="5465763"/>
            <a:ext cx="381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85" name="Text Box 49"/>
          <p:cNvSpPr txBox="1">
            <a:spLocks noChangeArrowheads="1"/>
          </p:cNvSpPr>
          <p:nvPr/>
        </p:nvSpPr>
        <p:spPr bwMode="auto">
          <a:xfrm>
            <a:off x="7315200" y="5618163"/>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ahoma" panose="020B0604030504040204" pitchFamily="34" charset="0"/>
                <a:ea typeface="宋体" panose="02010600030101010101" pitchFamily="2" charset="-122"/>
              </a:rPr>
              <a:t>s</a:t>
            </a:r>
          </a:p>
        </p:txBody>
      </p:sp>
      <p:sp>
        <p:nvSpPr>
          <p:cNvPr id="65586" name="Text Box 50"/>
          <p:cNvSpPr txBox="1">
            <a:spLocks noChangeArrowheads="1"/>
          </p:cNvSpPr>
          <p:nvPr/>
        </p:nvSpPr>
        <p:spPr bwMode="auto">
          <a:xfrm>
            <a:off x="6400800" y="5160963"/>
            <a:ext cx="457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zh-CN" altLang="en-US" sz="2000">
                <a:latin typeface="Tahoma" panose="020B0604030504040204" pitchFamily="34" charset="0"/>
                <a:ea typeface="宋体" panose="02010600030101010101" pitchFamily="2" charset="-122"/>
              </a:rPr>
              <a:t>插入后</a:t>
            </a:r>
          </a:p>
        </p:txBody>
      </p:sp>
      <p:sp>
        <p:nvSpPr>
          <p:cNvPr id="65587" name="Line 51"/>
          <p:cNvSpPr>
            <a:spLocks noChangeShapeType="1"/>
          </p:cNvSpPr>
          <p:nvPr/>
        </p:nvSpPr>
        <p:spPr bwMode="auto">
          <a:xfrm>
            <a:off x="7608888" y="5084763"/>
            <a:ext cx="228600" cy="152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88" name="Text Box 52"/>
          <p:cNvSpPr txBox="1">
            <a:spLocks noChangeArrowheads="1"/>
          </p:cNvSpPr>
          <p:nvPr/>
        </p:nvSpPr>
        <p:spPr bwMode="auto">
          <a:xfrm>
            <a:off x="7464425" y="47244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en-US" sz="1800">
                <a:latin typeface="Tahoma" panose="020B0604030504040204" pitchFamily="34" charset="0"/>
                <a:ea typeface="宋体" panose="02010600030101010101" pitchFamily="2" charset="-122"/>
              </a:rPr>
              <a:t>p</a:t>
            </a:r>
            <a:endParaRPr kumimoji="1" lang="en-US" altLang="zh-CN" sz="1800">
              <a:latin typeface="Tahoma" panose="020B0604030504040204" pitchFamily="34" charset="0"/>
              <a:ea typeface="宋体" panose="02010600030101010101" pitchFamily="2" charset="-122"/>
            </a:endParaRPr>
          </a:p>
        </p:txBody>
      </p:sp>
      <p:sp>
        <p:nvSpPr>
          <p:cNvPr id="65589" name="Line 53"/>
          <p:cNvSpPr>
            <a:spLocks noChangeShapeType="1"/>
          </p:cNvSpPr>
          <p:nvPr/>
        </p:nvSpPr>
        <p:spPr bwMode="auto">
          <a:xfrm>
            <a:off x="8153400" y="5507038"/>
            <a:ext cx="228600" cy="304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90" name="Line 54"/>
          <p:cNvSpPr>
            <a:spLocks noChangeShapeType="1"/>
          </p:cNvSpPr>
          <p:nvPr/>
        </p:nvSpPr>
        <p:spPr bwMode="auto">
          <a:xfrm flipH="1" flipV="1">
            <a:off x="7848600" y="5583238"/>
            <a:ext cx="3810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91" name="Line 55"/>
          <p:cNvSpPr>
            <a:spLocks noChangeShapeType="1"/>
          </p:cNvSpPr>
          <p:nvPr/>
        </p:nvSpPr>
        <p:spPr bwMode="auto">
          <a:xfrm flipH="1">
            <a:off x="8763000" y="5430838"/>
            <a:ext cx="3048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92" name="Line 56"/>
          <p:cNvSpPr>
            <a:spLocks noChangeShapeType="1"/>
          </p:cNvSpPr>
          <p:nvPr/>
        </p:nvSpPr>
        <p:spPr bwMode="auto">
          <a:xfrm flipV="1">
            <a:off x="8915400" y="5583238"/>
            <a:ext cx="3810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93" name="Text Box 57"/>
          <p:cNvSpPr txBox="1">
            <a:spLocks noChangeArrowheads="1"/>
          </p:cNvSpPr>
          <p:nvPr/>
        </p:nvSpPr>
        <p:spPr bwMode="auto">
          <a:xfrm>
            <a:off x="3143250" y="4797425"/>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en-US" sz="1800">
                <a:latin typeface="Tahoma" panose="020B0604030504040204" pitchFamily="34" charset="0"/>
                <a:ea typeface="宋体" panose="02010600030101010101" pitchFamily="2" charset="-122"/>
              </a:rPr>
              <a:t>p</a:t>
            </a:r>
            <a:endParaRPr kumimoji="1" lang="en-US" altLang="zh-CN" sz="1800">
              <a:latin typeface="Tahoma" panose="020B0604030504040204" pitchFamily="34" charset="0"/>
              <a:ea typeface="宋体" panose="02010600030101010101" pitchFamily="2" charset="-122"/>
            </a:endParaRPr>
          </a:p>
        </p:txBody>
      </p:sp>
      <p:sp>
        <p:nvSpPr>
          <p:cNvPr id="65594" name="Line 58"/>
          <p:cNvSpPr>
            <a:spLocks noChangeShapeType="1"/>
          </p:cNvSpPr>
          <p:nvPr/>
        </p:nvSpPr>
        <p:spPr bwMode="auto">
          <a:xfrm>
            <a:off x="3287713" y="5084763"/>
            <a:ext cx="228600" cy="152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65565"/>
                                        </p:tgtEl>
                                        <p:attrNameLst>
                                          <p:attrName>style.visibility</p:attrName>
                                        </p:attrNameLst>
                                      </p:cBhvr>
                                      <p:to>
                                        <p:strVal val="visible"/>
                                      </p:to>
                                    </p:set>
                                    <p:animEffect transition="in" filter="blinds(horizontal)">
                                      <p:cBhvr>
                                        <p:cTn id="10" dur="500"/>
                                        <p:tgtEl>
                                          <p:spTgt spid="65565"/>
                                        </p:tgtEl>
                                      </p:cBhvr>
                                    </p:animEffect>
                                  </p:childTnLst>
                                </p:cTn>
                              </p:par>
                              <p:par>
                                <p:cTn id="11" presetID="3"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par>
                                <p:cTn id="14" presetID="3" presetClass="entr" presetSubtype="1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5574"/>
                                        </p:tgtEl>
                                        <p:attrNameLst>
                                          <p:attrName>style.visibility</p:attrName>
                                        </p:attrNameLst>
                                      </p:cBhvr>
                                      <p:to>
                                        <p:strVal val="visible"/>
                                      </p:to>
                                    </p:set>
                                    <p:animEffect transition="in" filter="blinds(horizontal)">
                                      <p:cBhvr>
                                        <p:cTn id="19" dur="500"/>
                                        <p:tgtEl>
                                          <p:spTgt spid="65574"/>
                                        </p:tgtEl>
                                      </p:cBhvr>
                                    </p:animEffect>
                                  </p:childTnLst>
                                </p:cTn>
                              </p:par>
                              <p:par>
                                <p:cTn id="20" presetID="3" presetClass="entr" presetSubtype="10" fill="hold" nodeType="withEffect">
                                  <p:stCondLst>
                                    <p:cond delay="0"/>
                                  </p:stCondLst>
                                  <p:childTnLst>
                                    <p:set>
                                      <p:cBhvr>
                                        <p:cTn id="21" dur="1" fill="hold">
                                          <p:stCondLst>
                                            <p:cond delay="0"/>
                                          </p:stCondLst>
                                        </p:cTn>
                                        <p:tgtEl>
                                          <p:spTgt spid="65575"/>
                                        </p:tgtEl>
                                        <p:attrNameLst>
                                          <p:attrName>style.visibility</p:attrName>
                                        </p:attrNameLst>
                                      </p:cBhvr>
                                      <p:to>
                                        <p:strVal val="visible"/>
                                      </p:to>
                                    </p:set>
                                    <p:animEffect transition="in" filter="blinds(horizontal)">
                                      <p:cBhvr>
                                        <p:cTn id="22" dur="500"/>
                                        <p:tgtEl>
                                          <p:spTgt spid="65575"/>
                                        </p:tgtEl>
                                      </p:cBhvr>
                                    </p:animEffect>
                                  </p:childTnLst>
                                </p:cTn>
                              </p:par>
                              <p:par>
                                <p:cTn id="23" presetID="3" presetClass="entr" presetSubtype="10" fill="hold" nodeType="withEffect">
                                  <p:stCondLst>
                                    <p:cond delay="0"/>
                                  </p:stCondLst>
                                  <p:childTnLst>
                                    <p:set>
                                      <p:cBhvr>
                                        <p:cTn id="24" dur="1" fill="hold">
                                          <p:stCondLst>
                                            <p:cond delay="0"/>
                                          </p:stCondLst>
                                        </p:cTn>
                                        <p:tgtEl>
                                          <p:spTgt spid="65576"/>
                                        </p:tgtEl>
                                        <p:attrNameLst>
                                          <p:attrName>style.visibility</p:attrName>
                                        </p:attrNameLst>
                                      </p:cBhvr>
                                      <p:to>
                                        <p:strVal val="visible"/>
                                      </p:to>
                                    </p:set>
                                    <p:animEffect transition="in" filter="blinds(horizontal)">
                                      <p:cBhvr>
                                        <p:cTn id="25" dur="500"/>
                                        <p:tgtEl>
                                          <p:spTgt spid="65576"/>
                                        </p:tgtEl>
                                      </p:cBhvr>
                                    </p:animEffect>
                                  </p:childTnLst>
                                </p:cTn>
                              </p:par>
                              <p:par>
                                <p:cTn id="26" presetID="3" presetClass="entr" presetSubtype="1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5581"/>
                                        </p:tgtEl>
                                        <p:attrNameLst>
                                          <p:attrName>style.visibility</p:attrName>
                                        </p:attrNameLst>
                                      </p:cBhvr>
                                      <p:to>
                                        <p:strVal val="visible"/>
                                      </p:to>
                                    </p:set>
                                    <p:animEffect transition="in" filter="blinds(horizontal)">
                                      <p:cBhvr>
                                        <p:cTn id="31" dur="500"/>
                                        <p:tgtEl>
                                          <p:spTgt spid="65581"/>
                                        </p:tgtEl>
                                      </p:cBhvr>
                                    </p:animEffect>
                                  </p:childTnLst>
                                </p:cTn>
                              </p:par>
                              <p:par>
                                <p:cTn id="32" presetID="3" presetClass="entr" presetSubtype="10" fill="hold" nodeType="withEffect">
                                  <p:stCondLst>
                                    <p:cond delay="0"/>
                                  </p:stCondLst>
                                  <p:childTnLst>
                                    <p:set>
                                      <p:cBhvr>
                                        <p:cTn id="33" dur="1" fill="hold">
                                          <p:stCondLst>
                                            <p:cond delay="0"/>
                                          </p:stCondLst>
                                        </p:cTn>
                                        <p:tgtEl>
                                          <p:spTgt spid="65582"/>
                                        </p:tgtEl>
                                        <p:attrNameLst>
                                          <p:attrName>style.visibility</p:attrName>
                                        </p:attrNameLst>
                                      </p:cBhvr>
                                      <p:to>
                                        <p:strVal val="visible"/>
                                      </p:to>
                                    </p:set>
                                    <p:animEffect transition="in" filter="blinds(horizontal)">
                                      <p:cBhvr>
                                        <p:cTn id="34" dur="500"/>
                                        <p:tgtEl>
                                          <p:spTgt spid="65582"/>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65583"/>
                                        </p:tgtEl>
                                        <p:attrNameLst>
                                          <p:attrName>style.visibility</p:attrName>
                                        </p:attrNameLst>
                                      </p:cBhvr>
                                      <p:to>
                                        <p:strVal val="visible"/>
                                      </p:to>
                                    </p:set>
                                    <p:animEffect transition="in" filter="blinds(horizontal)">
                                      <p:cBhvr>
                                        <p:cTn id="37" dur="500"/>
                                        <p:tgtEl>
                                          <p:spTgt spid="65583"/>
                                        </p:tgtEl>
                                      </p:cBhvr>
                                    </p:animEffect>
                                  </p:childTnLst>
                                </p:cTn>
                              </p:par>
                              <p:par>
                                <p:cTn id="38" presetID="3" presetClass="entr" presetSubtype="10" fill="hold" nodeType="withEffect">
                                  <p:stCondLst>
                                    <p:cond delay="0"/>
                                  </p:stCondLst>
                                  <p:childTnLst>
                                    <p:set>
                                      <p:cBhvr>
                                        <p:cTn id="39" dur="1" fill="hold">
                                          <p:stCondLst>
                                            <p:cond delay="0"/>
                                          </p:stCondLst>
                                        </p:cTn>
                                        <p:tgtEl>
                                          <p:spTgt spid="65584"/>
                                        </p:tgtEl>
                                        <p:attrNameLst>
                                          <p:attrName>style.visibility</p:attrName>
                                        </p:attrNameLst>
                                      </p:cBhvr>
                                      <p:to>
                                        <p:strVal val="visible"/>
                                      </p:to>
                                    </p:set>
                                    <p:animEffect transition="in" filter="blinds(horizontal)">
                                      <p:cBhvr>
                                        <p:cTn id="40" dur="500"/>
                                        <p:tgtEl>
                                          <p:spTgt spid="65584"/>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65585"/>
                                        </p:tgtEl>
                                        <p:attrNameLst>
                                          <p:attrName>style.visibility</p:attrName>
                                        </p:attrNameLst>
                                      </p:cBhvr>
                                      <p:to>
                                        <p:strVal val="visible"/>
                                      </p:to>
                                    </p:set>
                                    <p:animEffect transition="in" filter="blinds(horizontal)">
                                      <p:cBhvr>
                                        <p:cTn id="43" dur="500"/>
                                        <p:tgtEl>
                                          <p:spTgt spid="6558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65586"/>
                                        </p:tgtEl>
                                        <p:attrNameLst>
                                          <p:attrName>style.visibility</p:attrName>
                                        </p:attrNameLst>
                                      </p:cBhvr>
                                      <p:to>
                                        <p:strVal val="visible"/>
                                      </p:to>
                                    </p:set>
                                    <p:animEffect transition="in" filter="blinds(horizontal)">
                                      <p:cBhvr>
                                        <p:cTn id="46" dur="500"/>
                                        <p:tgtEl>
                                          <p:spTgt spid="65586"/>
                                        </p:tgtEl>
                                      </p:cBhvr>
                                    </p:animEffect>
                                  </p:childTnLst>
                                </p:cTn>
                              </p:par>
                              <p:par>
                                <p:cTn id="47" presetID="3" presetClass="entr" presetSubtype="10" fill="hold" nodeType="withEffect">
                                  <p:stCondLst>
                                    <p:cond delay="0"/>
                                  </p:stCondLst>
                                  <p:childTnLst>
                                    <p:set>
                                      <p:cBhvr>
                                        <p:cTn id="48" dur="1" fill="hold">
                                          <p:stCondLst>
                                            <p:cond delay="0"/>
                                          </p:stCondLst>
                                        </p:cTn>
                                        <p:tgtEl>
                                          <p:spTgt spid="65587"/>
                                        </p:tgtEl>
                                        <p:attrNameLst>
                                          <p:attrName>style.visibility</p:attrName>
                                        </p:attrNameLst>
                                      </p:cBhvr>
                                      <p:to>
                                        <p:strVal val="visible"/>
                                      </p:to>
                                    </p:set>
                                    <p:animEffect transition="in" filter="blinds(horizontal)">
                                      <p:cBhvr>
                                        <p:cTn id="49" dur="500"/>
                                        <p:tgtEl>
                                          <p:spTgt spid="65587"/>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5588"/>
                                        </p:tgtEl>
                                        <p:attrNameLst>
                                          <p:attrName>style.visibility</p:attrName>
                                        </p:attrNameLst>
                                      </p:cBhvr>
                                      <p:to>
                                        <p:strVal val="visible"/>
                                      </p:to>
                                    </p:set>
                                    <p:animEffect transition="in" filter="blinds(horizontal)">
                                      <p:cBhvr>
                                        <p:cTn id="52" dur="500"/>
                                        <p:tgtEl>
                                          <p:spTgt spid="65588"/>
                                        </p:tgtEl>
                                      </p:cBhvr>
                                    </p:animEffect>
                                  </p:childTnLst>
                                </p:cTn>
                              </p:par>
                              <p:par>
                                <p:cTn id="53" presetID="3" presetClass="entr" presetSubtype="10" fill="hold" nodeType="withEffect">
                                  <p:stCondLst>
                                    <p:cond delay="0"/>
                                  </p:stCondLst>
                                  <p:childTnLst>
                                    <p:set>
                                      <p:cBhvr>
                                        <p:cTn id="54" dur="1" fill="hold">
                                          <p:stCondLst>
                                            <p:cond delay="0"/>
                                          </p:stCondLst>
                                        </p:cTn>
                                        <p:tgtEl>
                                          <p:spTgt spid="65589"/>
                                        </p:tgtEl>
                                        <p:attrNameLst>
                                          <p:attrName>style.visibility</p:attrName>
                                        </p:attrNameLst>
                                      </p:cBhvr>
                                      <p:to>
                                        <p:strVal val="visible"/>
                                      </p:to>
                                    </p:set>
                                    <p:animEffect transition="in" filter="blinds(horizontal)">
                                      <p:cBhvr>
                                        <p:cTn id="55" dur="500"/>
                                        <p:tgtEl>
                                          <p:spTgt spid="65589"/>
                                        </p:tgtEl>
                                      </p:cBhvr>
                                    </p:animEffect>
                                  </p:childTnLst>
                                </p:cTn>
                              </p:par>
                              <p:par>
                                <p:cTn id="56" presetID="3" presetClass="entr" presetSubtype="10" fill="hold" nodeType="withEffect">
                                  <p:stCondLst>
                                    <p:cond delay="0"/>
                                  </p:stCondLst>
                                  <p:childTnLst>
                                    <p:set>
                                      <p:cBhvr>
                                        <p:cTn id="57" dur="1" fill="hold">
                                          <p:stCondLst>
                                            <p:cond delay="0"/>
                                          </p:stCondLst>
                                        </p:cTn>
                                        <p:tgtEl>
                                          <p:spTgt spid="65590"/>
                                        </p:tgtEl>
                                        <p:attrNameLst>
                                          <p:attrName>style.visibility</p:attrName>
                                        </p:attrNameLst>
                                      </p:cBhvr>
                                      <p:to>
                                        <p:strVal val="visible"/>
                                      </p:to>
                                    </p:set>
                                    <p:animEffect transition="in" filter="blinds(horizontal)">
                                      <p:cBhvr>
                                        <p:cTn id="58" dur="500"/>
                                        <p:tgtEl>
                                          <p:spTgt spid="65590"/>
                                        </p:tgtEl>
                                      </p:cBhvr>
                                    </p:animEffect>
                                  </p:childTnLst>
                                </p:cTn>
                              </p:par>
                              <p:par>
                                <p:cTn id="59" presetID="3" presetClass="entr" presetSubtype="10" fill="hold" nodeType="withEffect">
                                  <p:stCondLst>
                                    <p:cond delay="0"/>
                                  </p:stCondLst>
                                  <p:childTnLst>
                                    <p:set>
                                      <p:cBhvr>
                                        <p:cTn id="60" dur="1" fill="hold">
                                          <p:stCondLst>
                                            <p:cond delay="0"/>
                                          </p:stCondLst>
                                        </p:cTn>
                                        <p:tgtEl>
                                          <p:spTgt spid="65591"/>
                                        </p:tgtEl>
                                        <p:attrNameLst>
                                          <p:attrName>style.visibility</p:attrName>
                                        </p:attrNameLst>
                                      </p:cBhvr>
                                      <p:to>
                                        <p:strVal val="visible"/>
                                      </p:to>
                                    </p:set>
                                    <p:animEffect transition="in" filter="blinds(horizontal)">
                                      <p:cBhvr>
                                        <p:cTn id="61" dur="500"/>
                                        <p:tgtEl>
                                          <p:spTgt spid="65591"/>
                                        </p:tgtEl>
                                      </p:cBhvr>
                                    </p:animEffect>
                                  </p:childTnLst>
                                </p:cTn>
                              </p:par>
                              <p:par>
                                <p:cTn id="62" presetID="3" presetClass="entr" presetSubtype="10" fill="hold" nodeType="withEffect">
                                  <p:stCondLst>
                                    <p:cond delay="0"/>
                                  </p:stCondLst>
                                  <p:childTnLst>
                                    <p:set>
                                      <p:cBhvr>
                                        <p:cTn id="63" dur="1" fill="hold">
                                          <p:stCondLst>
                                            <p:cond delay="0"/>
                                          </p:stCondLst>
                                        </p:cTn>
                                        <p:tgtEl>
                                          <p:spTgt spid="65592"/>
                                        </p:tgtEl>
                                        <p:attrNameLst>
                                          <p:attrName>style.visibility</p:attrName>
                                        </p:attrNameLst>
                                      </p:cBhvr>
                                      <p:to>
                                        <p:strVal val="visible"/>
                                      </p:to>
                                    </p:set>
                                    <p:animEffect transition="in" filter="blinds(horizontal)">
                                      <p:cBhvr>
                                        <p:cTn id="64" dur="500"/>
                                        <p:tgtEl>
                                          <p:spTgt spid="65592"/>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65593"/>
                                        </p:tgtEl>
                                        <p:attrNameLst>
                                          <p:attrName>style.visibility</p:attrName>
                                        </p:attrNameLst>
                                      </p:cBhvr>
                                      <p:to>
                                        <p:strVal val="visible"/>
                                      </p:to>
                                    </p:set>
                                    <p:animEffect transition="in" filter="blinds(horizontal)">
                                      <p:cBhvr>
                                        <p:cTn id="67" dur="500"/>
                                        <p:tgtEl>
                                          <p:spTgt spid="65593"/>
                                        </p:tgtEl>
                                      </p:cBhvr>
                                    </p:animEffect>
                                  </p:childTnLst>
                                </p:cTn>
                              </p:par>
                              <p:par>
                                <p:cTn id="68" presetID="3" presetClass="entr" presetSubtype="10" fill="hold" nodeType="withEffect">
                                  <p:stCondLst>
                                    <p:cond delay="0"/>
                                  </p:stCondLst>
                                  <p:childTnLst>
                                    <p:set>
                                      <p:cBhvr>
                                        <p:cTn id="69" dur="1" fill="hold">
                                          <p:stCondLst>
                                            <p:cond delay="0"/>
                                          </p:stCondLst>
                                        </p:cTn>
                                        <p:tgtEl>
                                          <p:spTgt spid="65594"/>
                                        </p:tgtEl>
                                        <p:attrNameLst>
                                          <p:attrName>style.visibility</p:attrName>
                                        </p:attrNameLst>
                                      </p:cBhvr>
                                      <p:to>
                                        <p:strVal val="visible"/>
                                      </p:to>
                                    </p:set>
                                    <p:animEffect transition="in" filter="blinds(horizontal)">
                                      <p:cBhvr>
                                        <p:cTn id="70" dur="500"/>
                                        <p:tgtEl>
                                          <p:spTgt spid="65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74" grpId="0"/>
      <p:bldP spid="65581" grpId="0"/>
      <p:bldP spid="65583" grpId="0"/>
      <p:bldP spid="65585" grpId="0"/>
      <p:bldP spid="65586" grpId="0"/>
      <p:bldP spid="65588" grpId="0"/>
      <p:bldP spid="6559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527050" y="368300"/>
            <a:ext cx="10218738" cy="822325"/>
          </a:xfrm>
        </p:spPr>
        <p:txBody>
          <a:bodyPr/>
          <a:lstStyle/>
          <a:p>
            <a:pPr eaLnBrk="1" hangingPunct="1"/>
            <a:r>
              <a:rPr lang="zh-CN" altLang="en-US" smtClean="0"/>
              <a:t>双向链表</a:t>
            </a:r>
          </a:p>
        </p:txBody>
      </p:sp>
      <p:sp>
        <p:nvSpPr>
          <p:cNvPr id="138243" name="Rectangle 3"/>
          <p:cNvSpPr>
            <a:spLocks noGrp="1" noChangeArrowheads="1"/>
          </p:cNvSpPr>
          <p:nvPr>
            <p:ph idx="1"/>
          </p:nvPr>
        </p:nvSpPr>
        <p:spPr>
          <a:xfrm>
            <a:off x="527050" y="1628775"/>
            <a:ext cx="10218738" cy="4351338"/>
          </a:xfrm>
        </p:spPr>
        <p:txBody>
          <a:bodyPr/>
          <a:lstStyle/>
          <a:p>
            <a:pPr eaLnBrk="1" hangingPunct="1"/>
            <a:r>
              <a:rPr lang="zh-CN" altLang="en-US" sz="2600" smtClean="0"/>
              <a:t>删除操作</a:t>
            </a:r>
          </a:p>
          <a:p>
            <a:pPr eaLnBrk="1" hangingPunct="1">
              <a:buFont typeface="Wingdings" panose="05000000000000000000" pitchFamily="2" charset="2"/>
              <a:buNone/>
            </a:pPr>
            <a:r>
              <a:rPr lang="en-US" altLang="zh-CN" sz="2600" b="1" smtClean="0"/>
              <a:t>       void</a:t>
            </a:r>
            <a:r>
              <a:rPr lang="en-US" altLang="zh-CN" sz="2600" smtClean="0"/>
              <a:t> ListDelete_DuL(DuLink </a:t>
            </a:r>
            <a:r>
              <a:rPr lang="en-US" altLang="zh-CN" sz="2600" b="1" smtClean="0"/>
              <a:t>&amp;</a:t>
            </a:r>
            <a:r>
              <a:rPr lang="en-US" altLang="zh-CN" sz="2600" smtClean="0"/>
              <a:t>L, DuNode* p, ElemType </a:t>
            </a:r>
            <a:r>
              <a:rPr lang="en-US" altLang="zh-CN" sz="2600" b="1" smtClean="0"/>
              <a:t>&amp;</a:t>
            </a:r>
            <a:r>
              <a:rPr lang="en-US" altLang="zh-CN" sz="2600" smtClean="0"/>
              <a:t>e) </a:t>
            </a:r>
            <a:br>
              <a:rPr lang="en-US" altLang="zh-CN" sz="2600" smtClean="0"/>
            </a:br>
            <a:r>
              <a:rPr lang="zh-CN" altLang="en-US" sz="2600" smtClean="0"/>
              <a:t>　</a:t>
            </a:r>
            <a:r>
              <a:rPr lang="en-US" altLang="zh-CN" sz="2600" b="1" smtClean="0"/>
              <a:t>{</a:t>
            </a:r>
            <a:r>
              <a:rPr lang="en-US" altLang="zh-CN" sz="2600" smtClean="0"/>
              <a:t/>
            </a:r>
            <a:br>
              <a:rPr lang="en-US" altLang="zh-CN" sz="2600" smtClean="0"/>
            </a:br>
            <a:r>
              <a:rPr lang="en-US" altLang="zh-CN" sz="2600" b="1" smtClean="0"/>
              <a:t>// </a:t>
            </a:r>
            <a:r>
              <a:rPr lang="zh-CN" altLang="en-US" sz="2600" b="1" smtClean="0"/>
              <a:t>删除带头结点的双向循环链表</a:t>
            </a:r>
            <a:r>
              <a:rPr lang="en-US" altLang="zh-CN" sz="2600" b="1" smtClean="0"/>
              <a:t>L</a:t>
            </a:r>
            <a:r>
              <a:rPr lang="zh-CN" altLang="en-US" sz="2600" b="1" smtClean="0"/>
              <a:t>中结点 *</a:t>
            </a:r>
            <a:r>
              <a:rPr lang="en-US" altLang="zh-CN" sz="2600" b="1" smtClean="0"/>
              <a:t>p </a:t>
            </a:r>
            <a:r>
              <a:rPr lang="zh-CN" altLang="en-US" sz="2600" b="1" smtClean="0"/>
              <a:t>的后继，以 </a:t>
            </a:r>
            <a:r>
              <a:rPr lang="en-US" altLang="zh-CN" sz="2600" b="1" smtClean="0"/>
              <a:t>e </a:t>
            </a:r>
            <a:r>
              <a:rPr lang="zh-CN" altLang="en-US" sz="2600" b="1" smtClean="0"/>
              <a:t>返回它的数据元素</a:t>
            </a:r>
            <a:r>
              <a:rPr lang="zh-CN" altLang="en-US" sz="2600" smtClean="0"/>
              <a:t/>
            </a:r>
            <a:br>
              <a:rPr lang="zh-CN" altLang="en-US" sz="2600" smtClean="0"/>
            </a:br>
            <a:r>
              <a:rPr lang="zh-CN" altLang="en-US" sz="2600" smtClean="0"/>
              <a:t>　　</a:t>
            </a:r>
            <a:r>
              <a:rPr lang="en-US" altLang="zh-CN" sz="2600" b="1" u="sng" smtClean="0">
                <a:solidFill>
                  <a:schemeClr val="accent2"/>
                </a:solidFill>
              </a:rPr>
              <a:t>q = p-&gt;next; e = q-&gt;data;</a:t>
            </a:r>
            <a:br>
              <a:rPr lang="en-US" altLang="zh-CN" sz="2600" b="1" u="sng" smtClean="0">
                <a:solidFill>
                  <a:schemeClr val="accent2"/>
                </a:solidFill>
              </a:rPr>
            </a:br>
            <a:r>
              <a:rPr lang="zh-CN" altLang="en-US" sz="2600" b="1" u="sng" smtClean="0">
                <a:solidFill>
                  <a:schemeClr val="accent2"/>
                </a:solidFill>
              </a:rPr>
              <a:t>　　</a:t>
            </a:r>
            <a:r>
              <a:rPr lang="en-US" altLang="zh-CN" sz="2600" b="1" u="sng" smtClean="0">
                <a:solidFill>
                  <a:schemeClr val="accent2"/>
                </a:solidFill>
              </a:rPr>
              <a:t>p-&gt;next = q-&gt;next;</a:t>
            </a:r>
            <a:br>
              <a:rPr lang="en-US" altLang="zh-CN" sz="2600" b="1" u="sng" smtClean="0">
                <a:solidFill>
                  <a:schemeClr val="accent2"/>
                </a:solidFill>
              </a:rPr>
            </a:br>
            <a:r>
              <a:rPr lang="zh-CN" altLang="en-US" sz="2600" b="1" u="sng" smtClean="0">
                <a:solidFill>
                  <a:schemeClr val="accent2"/>
                </a:solidFill>
              </a:rPr>
              <a:t>　　</a:t>
            </a:r>
            <a:r>
              <a:rPr lang="en-US" altLang="zh-CN" sz="2600" b="1" u="sng" smtClean="0">
                <a:solidFill>
                  <a:schemeClr val="accent2"/>
                </a:solidFill>
              </a:rPr>
              <a:t>p-&gt;next-&gt;prior = p;</a:t>
            </a:r>
            <a:br>
              <a:rPr lang="en-US" altLang="zh-CN" sz="2600" b="1" u="sng" smtClean="0">
                <a:solidFill>
                  <a:schemeClr val="accent2"/>
                </a:solidFill>
              </a:rPr>
            </a:br>
            <a:r>
              <a:rPr lang="zh-CN" altLang="en-US" sz="2600" smtClean="0"/>
              <a:t>　　</a:t>
            </a:r>
            <a:r>
              <a:rPr lang="en-US" altLang="zh-CN" sz="2600" b="1" u="sng" smtClean="0"/>
              <a:t>Free(</a:t>
            </a:r>
            <a:r>
              <a:rPr lang="en-US" altLang="zh-CN" sz="2600" u="sng" smtClean="0"/>
              <a:t>q);</a:t>
            </a:r>
            <a:r>
              <a:rPr lang="en-US" altLang="zh-CN" sz="2600" smtClean="0"/>
              <a:t> </a:t>
            </a:r>
            <a:br>
              <a:rPr lang="en-US" altLang="zh-CN" sz="2600" smtClean="0"/>
            </a:br>
            <a:r>
              <a:rPr lang="zh-CN" altLang="en-US" sz="2600" smtClean="0"/>
              <a:t>　</a:t>
            </a:r>
            <a:r>
              <a:rPr lang="en-US" altLang="zh-CN" sz="2600" b="1" smtClean="0"/>
              <a:t>}</a:t>
            </a:r>
            <a:r>
              <a:rPr lang="en-US" altLang="zh-CN" sz="2600" smtClean="0"/>
              <a:t> // ListDelete_DuL</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527050" y="368300"/>
            <a:ext cx="10218738" cy="822325"/>
          </a:xfrm>
        </p:spPr>
        <p:txBody>
          <a:bodyPr/>
          <a:lstStyle/>
          <a:p>
            <a:pPr eaLnBrk="1" hangingPunct="1"/>
            <a:r>
              <a:rPr lang="zh-CN" altLang="en-US" smtClean="0"/>
              <a:t>循环链表</a:t>
            </a:r>
          </a:p>
        </p:txBody>
      </p:sp>
      <p:sp>
        <p:nvSpPr>
          <p:cNvPr id="139267" name="Rectangle 3"/>
          <p:cNvSpPr>
            <a:spLocks noGrp="1" noChangeArrowheads="1"/>
          </p:cNvSpPr>
          <p:nvPr>
            <p:ph idx="1"/>
          </p:nvPr>
        </p:nvSpPr>
        <p:spPr>
          <a:xfrm>
            <a:off x="527050" y="1628775"/>
            <a:ext cx="10218738" cy="4351338"/>
          </a:xfrm>
        </p:spPr>
        <p:txBody>
          <a:bodyPr/>
          <a:lstStyle/>
          <a:p>
            <a:pPr eaLnBrk="1" hangingPunct="1"/>
            <a:r>
              <a:rPr kumimoji="1" lang="zh-CN" altLang="en-US" b="1" smtClean="0"/>
              <a:t>循环链表的存储结构</a:t>
            </a:r>
          </a:p>
          <a:p>
            <a:pPr lvl="1" eaLnBrk="1" hangingPunct="1"/>
            <a:r>
              <a:rPr kumimoji="1" lang="zh-CN" altLang="en-US" b="1" smtClean="0"/>
              <a:t>令链表中最后一个结点的指针域指向头结点，使整个链表形成一个环，称这样的链表为循环链表。</a:t>
            </a:r>
          </a:p>
        </p:txBody>
      </p:sp>
      <p:grpSp>
        <p:nvGrpSpPr>
          <p:cNvPr id="2" name="Group 4"/>
          <p:cNvGrpSpPr>
            <a:grpSpLocks/>
          </p:cNvGrpSpPr>
          <p:nvPr/>
        </p:nvGrpSpPr>
        <p:grpSpPr bwMode="auto">
          <a:xfrm>
            <a:off x="2514600" y="3933825"/>
            <a:ext cx="7181850" cy="960438"/>
            <a:chOff x="624" y="3589"/>
            <a:chExt cx="3504" cy="347"/>
          </a:xfrm>
        </p:grpSpPr>
        <p:sp>
          <p:nvSpPr>
            <p:cNvPr id="139270" name="Rectangle 5"/>
            <p:cNvSpPr>
              <a:spLocks noChangeArrowheads="1"/>
            </p:cNvSpPr>
            <p:nvPr/>
          </p:nvSpPr>
          <p:spPr bwMode="auto">
            <a:xfrm>
              <a:off x="3168" y="3744"/>
              <a:ext cx="672" cy="192"/>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20000"/>
                </a:spcBef>
                <a:buFontTx/>
                <a:buNone/>
              </a:pPr>
              <a:endParaRPr kumimoji="1" lang="zh-CN" altLang="zh-CN" sz="36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9271" name="Line 6"/>
            <p:cNvSpPr>
              <a:spLocks noChangeShapeType="1"/>
            </p:cNvSpPr>
            <p:nvPr/>
          </p:nvSpPr>
          <p:spPr bwMode="auto">
            <a:xfrm flipV="1">
              <a:off x="4128" y="3600"/>
              <a:ext cx="0" cy="24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72" name="Line 7"/>
            <p:cNvSpPr>
              <a:spLocks noChangeShapeType="1"/>
            </p:cNvSpPr>
            <p:nvPr/>
          </p:nvSpPr>
          <p:spPr bwMode="auto">
            <a:xfrm>
              <a:off x="864" y="3840"/>
              <a:ext cx="19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73" name="Rectangle 8"/>
            <p:cNvSpPr>
              <a:spLocks noChangeArrowheads="1"/>
            </p:cNvSpPr>
            <p:nvPr/>
          </p:nvSpPr>
          <p:spPr bwMode="auto">
            <a:xfrm>
              <a:off x="1056" y="3744"/>
              <a:ext cx="576" cy="192"/>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20000"/>
                </a:spcBef>
                <a:buFontTx/>
                <a:buNone/>
              </a:pPr>
              <a:endParaRPr kumimoji="1" lang="zh-CN" altLang="zh-CN" sz="3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9274" name="Rectangle 9"/>
            <p:cNvSpPr>
              <a:spLocks noChangeArrowheads="1"/>
            </p:cNvSpPr>
            <p:nvPr/>
          </p:nvSpPr>
          <p:spPr bwMode="auto">
            <a:xfrm>
              <a:off x="1872" y="3744"/>
              <a:ext cx="576" cy="192"/>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20000"/>
                </a:spcBef>
                <a:buFontTx/>
                <a:buNone/>
              </a:pPr>
              <a:endParaRPr kumimoji="1" lang="zh-CN" altLang="zh-CN" sz="3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9275" name="Line 10"/>
            <p:cNvSpPr>
              <a:spLocks noChangeShapeType="1"/>
            </p:cNvSpPr>
            <p:nvPr/>
          </p:nvSpPr>
          <p:spPr bwMode="auto">
            <a:xfrm>
              <a:off x="1632" y="3840"/>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76" name="Line 11"/>
            <p:cNvSpPr>
              <a:spLocks noChangeShapeType="1"/>
            </p:cNvSpPr>
            <p:nvPr/>
          </p:nvSpPr>
          <p:spPr bwMode="auto">
            <a:xfrm>
              <a:off x="2400" y="3840"/>
              <a:ext cx="19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77" name="Line 12"/>
            <p:cNvSpPr>
              <a:spLocks noChangeShapeType="1"/>
            </p:cNvSpPr>
            <p:nvPr/>
          </p:nvSpPr>
          <p:spPr bwMode="auto">
            <a:xfrm>
              <a:off x="2928" y="3840"/>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78" name="Text Box 13"/>
            <p:cNvSpPr txBox="1">
              <a:spLocks noChangeArrowheads="1"/>
            </p:cNvSpPr>
            <p:nvPr/>
          </p:nvSpPr>
          <p:spPr bwMode="auto">
            <a:xfrm>
              <a:off x="1939" y="3745"/>
              <a:ext cx="336"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a</a:t>
              </a:r>
              <a:r>
                <a:rPr kumimoji="1" lang="en-US" altLang="zh-CN" sz="1800" baseline="-25000">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9279" name="Text Box 14"/>
            <p:cNvSpPr txBox="1">
              <a:spLocks noChangeArrowheads="1"/>
            </p:cNvSpPr>
            <p:nvPr/>
          </p:nvSpPr>
          <p:spPr bwMode="auto">
            <a:xfrm>
              <a:off x="3258" y="3746"/>
              <a:ext cx="404"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a</a:t>
              </a:r>
              <a:r>
                <a:rPr kumimoji="1"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a:t>
              </a:r>
              <a:endParaRPr kumimoji="1" lang="en-US" altLang="zh-CN"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9280" name="Line 15"/>
            <p:cNvSpPr>
              <a:spLocks noChangeShapeType="1"/>
            </p:cNvSpPr>
            <p:nvPr/>
          </p:nvSpPr>
          <p:spPr bwMode="auto">
            <a:xfrm>
              <a:off x="2208" y="3744"/>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81" name="Line 16"/>
            <p:cNvSpPr>
              <a:spLocks noChangeShapeType="1"/>
            </p:cNvSpPr>
            <p:nvPr/>
          </p:nvSpPr>
          <p:spPr bwMode="auto">
            <a:xfrm>
              <a:off x="1392" y="3744"/>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82" name="Text Box 17"/>
            <p:cNvSpPr txBox="1">
              <a:spLocks noChangeArrowheads="1"/>
            </p:cNvSpPr>
            <p:nvPr/>
          </p:nvSpPr>
          <p:spPr bwMode="auto">
            <a:xfrm>
              <a:off x="624" y="3696"/>
              <a:ext cx="288"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50000"/>
                </a:spcBef>
                <a:buFontTx/>
                <a:buNone/>
              </a:pPr>
              <a:r>
                <a:rPr kumimoji="1" lang="en-US" altLang="zh-CN" sz="1800">
                  <a:latin typeface="Times New Roman" panose="02020603050405020304" pitchFamily="18" charset="0"/>
                  <a:ea typeface="宋体" panose="02010600030101010101" pitchFamily="2" charset="-122"/>
                  <a:cs typeface="Times New Roman" panose="02020603050405020304" pitchFamily="18" charset="0"/>
                </a:rPr>
                <a:t>H</a:t>
              </a:r>
            </a:p>
          </p:txBody>
        </p:sp>
        <p:sp>
          <p:nvSpPr>
            <p:cNvPr id="139283" name="Line 18"/>
            <p:cNvSpPr>
              <a:spLocks noChangeShapeType="1"/>
            </p:cNvSpPr>
            <p:nvPr/>
          </p:nvSpPr>
          <p:spPr bwMode="auto">
            <a:xfrm>
              <a:off x="3744" y="3840"/>
              <a:ext cx="384"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84" name="Line 19"/>
            <p:cNvSpPr>
              <a:spLocks noChangeShapeType="1"/>
            </p:cNvSpPr>
            <p:nvPr/>
          </p:nvSpPr>
          <p:spPr bwMode="auto">
            <a:xfrm flipH="1">
              <a:off x="1307" y="3600"/>
              <a:ext cx="2821"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85" name="Line 20"/>
            <p:cNvSpPr>
              <a:spLocks noChangeShapeType="1"/>
            </p:cNvSpPr>
            <p:nvPr/>
          </p:nvSpPr>
          <p:spPr bwMode="auto">
            <a:xfrm flipH="1">
              <a:off x="1104" y="3589"/>
              <a:ext cx="240" cy="144"/>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86" name="Line 21"/>
            <p:cNvSpPr>
              <a:spLocks noChangeShapeType="1"/>
            </p:cNvSpPr>
            <p:nvPr/>
          </p:nvSpPr>
          <p:spPr bwMode="auto">
            <a:xfrm>
              <a:off x="3600" y="3744"/>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9269" name="Text Box 22"/>
          <p:cNvSpPr txBox="1">
            <a:spLocks noChangeArrowheads="1"/>
          </p:cNvSpPr>
          <p:nvPr/>
        </p:nvSpPr>
        <p:spPr bwMode="auto">
          <a:xfrm>
            <a:off x="2362200" y="5638800"/>
            <a:ext cx="69342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nSpc>
                <a:spcPct val="120000"/>
              </a:lnSpc>
              <a:spcBef>
                <a:spcPct val="0"/>
              </a:spcBef>
              <a:buFontTx/>
              <a:buNone/>
            </a:pPr>
            <a:r>
              <a:rPr kumimoji="1" lang="zh-CN" altLang="zh-CN" sz="2200">
                <a:latin typeface="Times New Roman" panose="02020603050405020304" pitchFamily="18" charset="0"/>
                <a:ea typeface="宋体" panose="02010600030101010101" pitchFamily="2" charset="-122"/>
                <a:cs typeface="Times New Roman" panose="02020603050405020304" pitchFamily="18" charset="0"/>
              </a:rPr>
              <a:t>空表时：</a:t>
            </a:r>
            <a:r>
              <a:rPr kumimoji="1" lang="en-US" altLang="zh-CN" sz="2200">
                <a:latin typeface="Times New Roman" panose="02020603050405020304" pitchFamily="18" charset="0"/>
                <a:ea typeface="宋体" panose="02010600030101010101" pitchFamily="2" charset="-122"/>
                <a:cs typeface="Times New Roman" panose="02020603050405020304" pitchFamily="18" charset="0"/>
              </a:rPr>
              <a:t>H-&gt;next= H </a:t>
            </a:r>
            <a:r>
              <a:rPr kumimoji="1" lang="zh-CN" altLang="en-US" sz="2200">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527050" y="368300"/>
            <a:ext cx="10218738" cy="822325"/>
          </a:xfrm>
        </p:spPr>
        <p:txBody>
          <a:bodyPr/>
          <a:lstStyle/>
          <a:p>
            <a:pPr eaLnBrk="1" hangingPunct="1"/>
            <a:r>
              <a:rPr lang="zh-CN" altLang="en-US" smtClean="0"/>
              <a:t>循环链表</a:t>
            </a:r>
          </a:p>
        </p:txBody>
      </p:sp>
      <p:sp>
        <p:nvSpPr>
          <p:cNvPr id="140291" name="Rectangle 3"/>
          <p:cNvSpPr>
            <a:spLocks noGrp="1" noChangeArrowheads="1"/>
          </p:cNvSpPr>
          <p:nvPr>
            <p:ph idx="1"/>
          </p:nvPr>
        </p:nvSpPr>
        <p:spPr>
          <a:xfrm>
            <a:off x="527050" y="1628775"/>
            <a:ext cx="10218738" cy="4351338"/>
          </a:xfrm>
        </p:spPr>
        <p:txBody>
          <a:bodyPr/>
          <a:lstStyle/>
          <a:p>
            <a:pPr eaLnBrk="1" hangingPunct="1"/>
            <a:r>
              <a:rPr kumimoji="1" lang="zh-CN" altLang="en-US" b="1" smtClean="0"/>
              <a:t>循环链表的特点</a:t>
            </a:r>
          </a:p>
          <a:p>
            <a:pPr lvl="1" eaLnBrk="1" hangingPunct="1"/>
            <a:r>
              <a:rPr kumimoji="1" lang="zh-CN" altLang="en-US" b="1" smtClean="0"/>
              <a:t>从任一结点出发，沿着链可访问全部结点；</a:t>
            </a:r>
          </a:p>
          <a:p>
            <a:pPr lvl="1" eaLnBrk="1" hangingPunct="1"/>
            <a:r>
              <a:rPr kumimoji="1" lang="zh-CN" altLang="en-US" b="1" smtClean="0"/>
              <a:t>运算与单链表基本一致，仅是循环结束条件为</a:t>
            </a:r>
            <a:r>
              <a:rPr kumimoji="1" lang="en-US" altLang="zh-CN" b="1" smtClean="0"/>
              <a:t>P-&gt;next==H (H</a:t>
            </a:r>
            <a:r>
              <a:rPr kumimoji="1" lang="zh-CN" altLang="en-US" b="1" smtClean="0"/>
              <a:t>为头指针</a:t>
            </a:r>
            <a:r>
              <a:rPr kumimoji="1" lang="en-US" altLang="zh-CN" b="1" smtClean="0"/>
              <a:t>)</a:t>
            </a:r>
            <a:r>
              <a:rPr kumimoji="1" lang="zh-CN" altLang="en-US" b="1" smtClean="0"/>
              <a:t>；</a:t>
            </a:r>
          </a:p>
          <a:p>
            <a:pPr lvl="1" eaLnBrk="1" hangingPunct="1"/>
            <a:r>
              <a:rPr lang="zh-CN" altLang="en-US" b="1" smtClean="0"/>
              <a:t>判断是否是表尾结点：</a:t>
            </a:r>
            <a:r>
              <a:rPr lang="en-US" altLang="zh-CN" b="1" smtClean="0"/>
              <a:t>p-&gt;next==H ;</a:t>
            </a:r>
            <a:endParaRPr kumimoji="1" lang="en-US" altLang="zh-CN" b="1" smtClean="0"/>
          </a:p>
          <a:p>
            <a:pPr lvl="1" eaLnBrk="1" hangingPunct="1">
              <a:buFont typeface="Wingdings" panose="05000000000000000000" pitchFamily="2" charset="2"/>
              <a:buNone/>
            </a:pPr>
            <a:endParaRPr kumimoji="1" lang="en-US" altLang="zh-CN" b="1" smtClean="0"/>
          </a:p>
        </p:txBody>
      </p:sp>
      <p:grpSp>
        <p:nvGrpSpPr>
          <p:cNvPr id="140292" name="Group 6"/>
          <p:cNvGrpSpPr>
            <a:grpSpLocks/>
          </p:cNvGrpSpPr>
          <p:nvPr/>
        </p:nvGrpSpPr>
        <p:grpSpPr bwMode="auto">
          <a:xfrm>
            <a:off x="4329113" y="4395788"/>
            <a:ext cx="5715000" cy="1651000"/>
            <a:chOff x="0" y="0"/>
            <a:chExt cx="3600" cy="1040"/>
          </a:xfrm>
        </p:grpSpPr>
        <p:sp>
          <p:nvSpPr>
            <p:cNvPr id="140305" name="Rectangle 7"/>
            <p:cNvSpPr>
              <a:spLocks noChangeArrowheads="1"/>
            </p:cNvSpPr>
            <p:nvPr/>
          </p:nvSpPr>
          <p:spPr bwMode="auto">
            <a:xfrm>
              <a:off x="1545" y="768"/>
              <a:ext cx="61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r>
                <a:rPr lang="zh-CN" altLang="en-US" sz="2400" b="1">
                  <a:latin typeface="Times New Roman" panose="02020603050405020304" pitchFamily="18" charset="0"/>
                  <a:ea typeface="宋体" panose="02010600030101010101" pitchFamily="2" charset="-122"/>
                </a:rPr>
                <a:t>非空表</a:t>
              </a:r>
            </a:p>
          </p:txBody>
        </p:sp>
        <p:grpSp>
          <p:nvGrpSpPr>
            <p:cNvPr id="140306" name="Group 8"/>
            <p:cNvGrpSpPr>
              <a:grpSpLocks/>
            </p:cNvGrpSpPr>
            <p:nvPr/>
          </p:nvGrpSpPr>
          <p:grpSpPr bwMode="auto">
            <a:xfrm>
              <a:off x="0" y="0"/>
              <a:ext cx="3600" cy="712"/>
              <a:chOff x="0" y="0"/>
              <a:chExt cx="3600" cy="712"/>
            </a:xfrm>
          </p:grpSpPr>
          <p:grpSp>
            <p:nvGrpSpPr>
              <p:cNvPr id="140307" name="Group 9"/>
              <p:cNvGrpSpPr>
                <a:grpSpLocks/>
              </p:cNvGrpSpPr>
              <p:nvPr/>
            </p:nvGrpSpPr>
            <p:grpSpPr bwMode="auto">
              <a:xfrm>
                <a:off x="742" y="259"/>
                <a:ext cx="720" cy="317"/>
                <a:chOff x="0" y="0"/>
                <a:chExt cx="720" cy="317"/>
              </a:xfrm>
            </p:grpSpPr>
            <p:sp>
              <p:nvSpPr>
                <p:cNvPr id="140329" name="Rectangle 10"/>
                <p:cNvSpPr>
                  <a:spLocks noChangeArrowheads="1"/>
                </p:cNvSpPr>
                <p:nvPr/>
              </p:nvSpPr>
              <p:spPr bwMode="auto">
                <a:xfrm>
                  <a:off x="0" y="0"/>
                  <a:ext cx="544" cy="31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r>
                    <a:rPr lang="en-US" altLang="zh-CN" sz="2400">
                      <a:latin typeface="Times New Roman" panose="02020603050405020304" pitchFamily="18" charset="0"/>
                      <a:ea typeface="宋体" panose="02010600030101010101" pitchFamily="2" charset="-122"/>
                    </a:rPr>
                    <a:t>a</a:t>
                  </a:r>
                  <a:r>
                    <a:rPr lang="en-US" altLang="zh-CN" sz="2400" baseline="-25000">
                      <a:latin typeface="Times New Roman" panose="02020603050405020304" pitchFamily="18" charset="0"/>
                      <a:ea typeface="宋体" panose="02010600030101010101" pitchFamily="2" charset="-122"/>
                    </a:rPr>
                    <a:t>1</a:t>
                  </a:r>
                  <a:r>
                    <a:rPr lang="en-US" altLang="zh-CN" sz="2400">
                      <a:latin typeface="Times New Roman" panose="02020603050405020304" pitchFamily="18" charset="0"/>
                      <a:ea typeface="宋体" panose="02010600030101010101" pitchFamily="2" charset="-122"/>
                    </a:rPr>
                    <a:t>    </a:t>
                  </a:r>
                </a:p>
              </p:txBody>
            </p:sp>
            <p:sp>
              <p:nvSpPr>
                <p:cNvPr id="140330" name="Line 11"/>
                <p:cNvSpPr>
                  <a:spLocks noChangeShapeType="1"/>
                </p:cNvSpPr>
                <p:nvPr/>
              </p:nvSpPr>
              <p:spPr bwMode="auto">
                <a:xfrm>
                  <a:off x="430" y="0"/>
                  <a:ext cx="0" cy="3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31" name="Line 12"/>
                <p:cNvSpPr>
                  <a:spLocks noChangeShapeType="1"/>
                </p:cNvSpPr>
                <p:nvPr/>
              </p:nvSpPr>
              <p:spPr bwMode="auto">
                <a:xfrm>
                  <a:off x="480" y="144"/>
                  <a:ext cx="24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0308" name="Group 13"/>
              <p:cNvGrpSpPr>
                <a:grpSpLocks/>
              </p:cNvGrpSpPr>
              <p:nvPr/>
            </p:nvGrpSpPr>
            <p:grpSpPr bwMode="auto">
              <a:xfrm>
                <a:off x="1472" y="249"/>
                <a:ext cx="720" cy="317"/>
                <a:chOff x="0" y="0"/>
                <a:chExt cx="720" cy="317"/>
              </a:xfrm>
            </p:grpSpPr>
            <p:sp>
              <p:nvSpPr>
                <p:cNvPr id="140326" name="Rectangle 14"/>
                <p:cNvSpPr>
                  <a:spLocks noChangeArrowheads="1"/>
                </p:cNvSpPr>
                <p:nvPr/>
              </p:nvSpPr>
              <p:spPr bwMode="auto">
                <a:xfrm>
                  <a:off x="0" y="0"/>
                  <a:ext cx="544" cy="31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r>
                    <a:rPr lang="en-US" altLang="zh-CN" sz="2400">
                      <a:latin typeface="Times New Roman" panose="02020603050405020304" pitchFamily="18" charset="0"/>
                      <a:ea typeface="宋体" panose="02010600030101010101" pitchFamily="2" charset="-122"/>
                    </a:rPr>
                    <a:t>a</a:t>
                  </a:r>
                  <a:r>
                    <a:rPr lang="en-US" altLang="zh-CN" sz="2400" baseline="-25000">
                      <a:latin typeface="Times New Roman" panose="02020603050405020304" pitchFamily="18" charset="0"/>
                      <a:ea typeface="宋体" panose="02010600030101010101" pitchFamily="2" charset="-122"/>
                    </a:rPr>
                    <a:t>2</a:t>
                  </a:r>
                  <a:r>
                    <a:rPr lang="en-US" altLang="zh-CN" sz="2400">
                      <a:latin typeface="Times New Roman" panose="02020603050405020304" pitchFamily="18" charset="0"/>
                      <a:ea typeface="宋体" panose="02010600030101010101" pitchFamily="2" charset="-122"/>
                    </a:rPr>
                    <a:t>   </a:t>
                  </a:r>
                </a:p>
              </p:txBody>
            </p:sp>
            <p:sp>
              <p:nvSpPr>
                <p:cNvPr id="140327" name="Line 15"/>
                <p:cNvSpPr>
                  <a:spLocks noChangeShapeType="1"/>
                </p:cNvSpPr>
                <p:nvPr/>
              </p:nvSpPr>
              <p:spPr bwMode="auto">
                <a:xfrm>
                  <a:off x="430" y="0"/>
                  <a:ext cx="0" cy="3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28" name="Line 16"/>
                <p:cNvSpPr>
                  <a:spLocks noChangeShapeType="1"/>
                </p:cNvSpPr>
                <p:nvPr/>
              </p:nvSpPr>
              <p:spPr bwMode="auto">
                <a:xfrm>
                  <a:off x="480" y="144"/>
                  <a:ext cx="24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0309" name="Group 17"/>
              <p:cNvGrpSpPr>
                <a:grpSpLocks/>
              </p:cNvGrpSpPr>
              <p:nvPr/>
            </p:nvGrpSpPr>
            <p:grpSpPr bwMode="auto">
              <a:xfrm>
                <a:off x="2202" y="192"/>
                <a:ext cx="720" cy="272"/>
                <a:chOff x="0" y="0"/>
                <a:chExt cx="720" cy="272"/>
              </a:xfrm>
            </p:grpSpPr>
            <p:sp>
              <p:nvSpPr>
                <p:cNvPr id="140324" name="Rectangle 18"/>
                <p:cNvSpPr>
                  <a:spLocks noChangeArrowheads="1"/>
                </p:cNvSpPr>
                <p:nvPr/>
              </p:nvSpPr>
              <p:spPr bwMode="auto">
                <a:xfrm>
                  <a:off x="0" y="0"/>
                  <a:ext cx="544"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r>
                    <a:rPr lang="en-US" altLang="zh-CN" sz="240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140325" name="Line 19"/>
                <p:cNvSpPr>
                  <a:spLocks noChangeShapeType="1"/>
                </p:cNvSpPr>
                <p:nvPr/>
              </p:nvSpPr>
              <p:spPr bwMode="auto">
                <a:xfrm>
                  <a:off x="480" y="192"/>
                  <a:ext cx="24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0310" name="Group 20"/>
              <p:cNvGrpSpPr>
                <a:grpSpLocks/>
              </p:cNvGrpSpPr>
              <p:nvPr/>
            </p:nvGrpSpPr>
            <p:grpSpPr bwMode="auto">
              <a:xfrm>
                <a:off x="2922" y="240"/>
                <a:ext cx="544" cy="319"/>
                <a:chOff x="0" y="0"/>
                <a:chExt cx="544" cy="319"/>
              </a:xfrm>
            </p:grpSpPr>
            <p:sp>
              <p:nvSpPr>
                <p:cNvPr id="140322" name="Rectangle 21"/>
                <p:cNvSpPr>
                  <a:spLocks noChangeArrowheads="1"/>
                </p:cNvSpPr>
                <p:nvPr/>
              </p:nvSpPr>
              <p:spPr bwMode="auto">
                <a:xfrm>
                  <a:off x="0" y="0"/>
                  <a:ext cx="544" cy="31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r>
                    <a:rPr lang="en-US" altLang="zh-CN" sz="2400">
                      <a:latin typeface="Times New Roman" panose="02020603050405020304" pitchFamily="18" charset="0"/>
                      <a:ea typeface="宋体" panose="02010600030101010101" pitchFamily="2" charset="-122"/>
                    </a:rPr>
                    <a:t>a</a:t>
                  </a:r>
                  <a:r>
                    <a:rPr lang="en-US" altLang="zh-CN" sz="2400" baseline="-25000">
                      <a:latin typeface="Times New Roman" panose="02020603050405020304" pitchFamily="18" charset="0"/>
                      <a:ea typeface="宋体" panose="02010600030101010101" pitchFamily="2" charset="-122"/>
                    </a:rPr>
                    <a:t>n</a:t>
                  </a:r>
                </a:p>
              </p:txBody>
            </p:sp>
            <p:sp>
              <p:nvSpPr>
                <p:cNvPr id="140323" name="Line 22"/>
                <p:cNvSpPr>
                  <a:spLocks noChangeShapeType="1"/>
                </p:cNvSpPr>
                <p:nvPr/>
              </p:nvSpPr>
              <p:spPr bwMode="auto">
                <a:xfrm>
                  <a:off x="430" y="2"/>
                  <a:ext cx="0" cy="3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0311" name="Group 23"/>
              <p:cNvGrpSpPr>
                <a:grpSpLocks/>
              </p:cNvGrpSpPr>
              <p:nvPr/>
            </p:nvGrpSpPr>
            <p:grpSpPr bwMode="auto">
              <a:xfrm>
                <a:off x="0" y="0"/>
                <a:ext cx="720" cy="577"/>
                <a:chOff x="0" y="0"/>
                <a:chExt cx="720" cy="577"/>
              </a:xfrm>
            </p:grpSpPr>
            <p:sp>
              <p:nvSpPr>
                <p:cNvPr id="140317" name="Rectangle 24"/>
                <p:cNvSpPr>
                  <a:spLocks noChangeArrowheads="1"/>
                </p:cNvSpPr>
                <p:nvPr/>
              </p:nvSpPr>
              <p:spPr bwMode="auto">
                <a:xfrm>
                  <a:off x="38" y="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r>
                    <a:rPr lang="en-US" altLang="zh-CN" sz="2400">
                      <a:latin typeface="Times New Roman" panose="02020603050405020304" pitchFamily="18" charset="0"/>
                      <a:ea typeface="宋体" panose="02010600030101010101" pitchFamily="2" charset="-122"/>
                    </a:rPr>
                    <a:t>head</a:t>
                  </a:r>
                </a:p>
              </p:txBody>
            </p:sp>
            <p:grpSp>
              <p:nvGrpSpPr>
                <p:cNvPr id="140318" name="Group 25"/>
                <p:cNvGrpSpPr>
                  <a:grpSpLocks/>
                </p:cNvGrpSpPr>
                <p:nvPr/>
              </p:nvGrpSpPr>
              <p:grpSpPr bwMode="auto">
                <a:xfrm>
                  <a:off x="0" y="260"/>
                  <a:ext cx="720" cy="317"/>
                  <a:chOff x="0" y="0"/>
                  <a:chExt cx="720" cy="317"/>
                </a:xfrm>
              </p:grpSpPr>
              <p:sp>
                <p:nvSpPr>
                  <p:cNvPr id="140319" name="Rectangle 26"/>
                  <p:cNvSpPr>
                    <a:spLocks noChangeArrowheads="1"/>
                  </p:cNvSpPr>
                  <p:nvPr/>
                </p:nvSpPr>
                <p:spPr bwMode="auto">
                  <a:xfrm>
                    <a:off x="0" y="0"/>
                    <a:ext cx="544" cy="31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r>
                      <a:rPr lang="en-US" altLang="zh-CN" sz="2400">
                        <a:latin typeface="Times New Roman" panose="02020603050405020304" pitchFamily="18" charset="0"/>
                        <a:ea typeface="宋体" panose="02010600030101010101" pitchFamily="2" charset="-122"/>
                      </a:rPr>
                      <a:t>   </a:t>
                    </a:r>
                  </a:p>
                </p:txBody>
              </p:sp>
              <p:sp>
                <p:nvSpPr>
                  <p:cNvPr id="140320" name="Line 27"/>
                  <p:cNvSpPr>
                    <a:spLocks noChangeShapeType="1"/>
                  </p:cNvSpPr>
                  <p:nvPr/>
                </p:nvSpPr>
                <p:spPr bwMode="auto">
                  <a:xfrm>
                    <a:off x="430" y="0"/>
                    <a:ext cx="0" cy="3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21" name="Line 28"/>
                  <p:cNvSpPr>
                    <a:spLocks noChangeShapeType="1"/>
                  </p:cNvSpPr>
                  <p:nvPr/>
                </p:nvSpPr>
                <p:spPr bwMode="auto">
                  <a:xfrm>
                    <a:off x="480" y="144"/>
                    <a:ext cx="24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40312" name="Group 29"/>
              <p:cNvGrpSpPr>
                <a:grpSpLocks/>
              </p:cNvGrpSpPr>
              <p:nvPr/>
            </p:nvGrpSpPr>
            <p:grpSpPr bwMode="auto">
              <a:xfrm>
                <a:off x="281" y="393"/>
                <a:ext cx="3319" cy="319"/>
                <a:chOff x="0" y="0"/>
                <a:chExt cx="3319" cy="319"/>
              </a:xfrm>
            </p:grpSpPr>
            <p:sp>
              <p:nvSpPr>
                <p:cNvPr id="140313" name="Line 30"/>
                <p:cNvSpPr>
                  <a:spLocks noChangeShapeType="1"/>
                </p:cNvSpPr>
                <p:nvPr/>
              </p:nvSpPr>
              <p:spPr bwMode="auto">
                <a:xfrm>
                  <a:off x="3127" y="0"/>
                  <a:ext cx="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14" name="Line 31"/>
                <p:cNvSpPr>
                  <a:spLocks noChangeShapeType="1"/>
                </p:cNvSpPr>
                <p:nvPr/>
              </p:nvSpPr>
              <p:spPr bwMode="auto">
                <a:xfrm>
                  <a:off x="3319" y="0"/>
                  <a:ext cx="0" cy="3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15" name="Line 32"/>
                <p:cNvSpPr>
                  <a:spLocks noChangeShapeType="1"/>
                </p:cNvSpPr>
                <p:nvPr/>
              </p:nvSpPr>
              <p:spPr bwMode="auto">
                <a:xfrm>
                  <a:off x="0" y="318"/>
                  <a:ext cx="33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16" name="Line 33"/>
                <p:cNvSpPr>
                  <a:spLocks noChangeShapeType="1"/>
                </p:cNvSpPr>
                <p:nvPr/>
              </p:nvSpPr>
              <p:spPr bwMode="auto">
                <a:xfrm flipV="1">
                  <a:off x="7" y="175"/>
                  <a:ext cx="0" cy="14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40293" name="Group 34"/>
          <p:cNvGrpSpPr>
            <a:grpSpLocks/>
          </p:cNvGrpSpPr>
          <p:nvPr/>
        </p:nvGrpSpPr>
        <p:grpSpPr bwMode="auto">
          <a:xfrm>
            <a:off x="2220913" y="4370388"/>
            <a:ext cx="1449387" cy="1160462"/>
            <a:chOff x="0" y="0"/>
            <a:chExt cx="913" cy="731"/>
          </a:xfrm>
        </p:grpSpPr>
        <p:sp>
          <p:nvSpPr>
            <p:cNvPr id="140296" name="Rectangle 35"/>
            <p:cNvSpPr>
              <a:spLocks noChangeArrowheads="1"/>
            </p:cNvSpPr>
            <p:nvPr/>
          </p:nvSpPr>
          <p:spPr bwMode="auto">
            <a:xfrm>
              <a:off x="223" y="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r>
                <a:rPr lang="en-US" altLang="zh-CN" sz="2400">
                  <a:latin typeface="Times New Roman" panose="02020603050405020304" pitchFamily="18" charset="0"/>
                  <a:ea typeface="宋体" panose="02010600030101010101" pitchFamily="2" charset="-122"/>
                </a:rPr>
                <a:t>head</a:t>
              </a:r>
            </a:p>
          </p:txBody>
        </p:sp>
        <p:grpSp>
          <p:nvGrpSpPr>
            <p:cNvPr id="140297" name="Group 36"/>
            <p:cNvGrpSpPr>
              <a:grpSpLocks/>
            </p:cNvGrpSpPr>
            <p:nvPr/>
          </p:nvGrpSpPr>
          <p:grpSpPr bwMode="auto">
            <a:xfrm>
              <a:off x="185" y="260"/>
              <a:ext cx="728" cy="317"/>
              <a:chOff x="0" y="0"/>
              <a:chExt cx="728" cy="317"/>
            </a:xfrm>
          </p:grpSpPr>
          <p:sp>
            <p:nvSpPr>
              <p:cNvPr id="140302" name="Rectangle 37"/>
              <p:cNvSpPr>
                <a:spLocks noChangeArrowheads="1"/>
              </p:cNvSpPr>
              <p:nvPr/>
            </p:nvSpPr>
            <p:spPr bwMode="auto">
              <a:xfrm>
                <a:off x="0" y="0"/>
                <a:ext cx="544" cy="31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r>
                  <a:rPr lang="en-US" altLang="zh-CN" sz="2400">
                    <a:latin typeface="Times New Roman" panose="02020603050405020304" pitchFamily="18" charset="0"/>
                    <a:ea typeface="宋体" panose="02010600030101010101" pitchFamily="2" charset="-122"/>
                  </a:rPr>
                  <a:t>   </a:t>
                </a:r>
              </a:p>
            </p:txBody>
          </p:sp>
          <p:sp>
            <p:nvSpPr>
              <p:cNvPr id="140303" name="Line 38"/>
              <p:cNvSpPr>
                <a:spLocks noChangeShapeType="1"/>
              </p:cNvSpPr>
              <p:nvPr/>
            </p:nvSpPr>
            <p:spPr bwMode="auto">
              <a:xfrm>
                <a:off x="430" y="0"/>
                <a:ext cx="0" cy="3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04" name="Line 39"/>
              <p:cNvSpPr>
                <a:spLocks noChangeShapeType="1"/>
              </p:cNvSpPr>
              <p:nvPr/>
            </p:nvSpPr>
            <p:spPr bwMode="auto">
              <a:xfrm>
                <a:off x="488" y="144"/>
                <a:ext cx="24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40298" name="Group 40"/>
            <p:cNvGrpSpPr>
              <a:grpSpLocks/>
            </p:cNvGrpSpPr>
            <p:nvPr/>
          </p:nvGrpSpPr>
          <p:grpSpPr bwMode="auto">
            <a:xfrm>
              <a:off x="0" y="412"/>
              <a:ext cx="909" cy="319"/>
              <a:chOff x="0" y="0"/>
              <a:chExt cx="909" cy="319"/>
            </a:xfrm>
          </p:grpSpPr>
          <p:sp>
            <p:nvSpPr>
              <p:cNvPr id="140299" name="Line 41"/>
              <p:cNvSpPr>
                <a:spLocks noChangeShapeType="1"/>
              </p:cNvSpPr>
              <p:nvPr/>
            </p:nvSpPr>
            <p:spPr bwMode="auto">
              <a:xfrm>
                <a:off x="909" y="2"/>
                <a:ext cx="0" cy="3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00" name="Line 42"/>
              <p:cNvSpPr>
                <a:spLocks noChangeShapeType="1"/>
              </p:cNvSpPr>
              <p:nvPr/>
            </p:nvSpPr>
            <p:spPr bwMode="auto">
              <a:xfrm>
                <a:off x="0" y="316"/>
                <a:ext cx="90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01" name="Line 43"/>
              <p:cNvSpPr>
                <a:spLocks noChangeShapeType="1"/>
              </p:cNvSpPr>
              <p:nvPr/>
            </p:nvSpPr>
            <p:spPr bwMode="auto">
              <a:xfrm>
                <a:off x="0" y="0"/>
                <a:ext cx="0" cy="3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40294" name="Rectangle 44"/>
          <p:cNvSpPr>
            <a:spLocks noChangeArrowheads="1"/>
          </p:cNvSpPr>
          <p:nvPr/>
        </p:nvSpPr>
        <p:spPr bwMode="auto">
          <a:xfrm>
            <a:off x="2514600" y="5614988"/>
            <a:ext cx="8270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ctr" eaLnBrk="1" hangingPunct="1">
              <a:lnSpc>
                <a:spcPct val="100000"/>
              </a:lnSpc>
              <a:spcBef>
                <a:spcPct val="0"/>
              </a:spcBef>
              <a:buFontTx/>
              <a:buNone/>
            </a:pPr>
            <a:r>
              <a:rPr lang="zh-CN" altLang="en-US" sz="2400" b="1">
                <a:latin typeface="Times New Roman" panose="02020603050405020304" pitchFamily="18" charset="0"/>
                <a:ea typeface="宋体" panose="02010600030101010101" pitchFamily="2" charset="-122"/>
              </a:rPr>
              <a:t>空表</a:t>
            </a:r>
          </a:p>
        </p:txBody>
      </p:sp>
      <p:sp>
        <p:nvSpPr>
          <p:cNvPr id="140295" name="Line 45"/>
          <p:cNvSpPr>
            <a:spLocks noChangeShapeType="1"/>
          </p:cNvSpPr>
          <p:nvPr/>
        </p:nvSpPr>
        <p:spPr bwMode="auto">
          <a:xfrm>
            <a:off x="2209800" y="5027613"/>
            <a:ext cx="3048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527050" y="368300"/>
            <a:ext cx="10218738" cy="822325"/>
          </a:xfrm>
        </p:spPr>
        <p:txBody>
          <a:bodyPr/>
          <a:lstStyle/>
          <a:p>
            <a:pPr eaLnBrk="1" hangingPunct="1"/>
            <a:r>
              <a:rPr kumimoji="1" lang="zh-CN" altLang="en-US" smtClean="0">
                <a:solidFill>
                  <a:schemeClr val="tx1"/>
                </a:solidFill>
              </a:rPr>
              <a:t>线性表</a:t>
            </a:r>
          </a:p>
        </p:txBody>
      </p:sp>
      <p:sp>
        <p:nvSpPr>
          <p:cNvPr id="123907" name="Text Box 5"/>
          <p:cNvSpPr txBox="1">
            <a:spLocks noChangeArrowheads="1"/>
          </p:cNvSpPr>
          <p:nvPr/>
        </p:nvSpPr>
        <p:spPr bwMode="auto">
          <a:xfrm>
            <a:off x="623888" y="1557338"/>
            <a:ext cx="1029652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defRPr/>
            </a:pPr>
            <a:r>
              <a:rPr kumimoji="1" lang="zh-CN" altLang="en-US" sz="2400" dirty="0" smtClean="0">
                <a:latin typeface="Times New Roman" panose="02020603050405020304" pitchFamily="18" charset="0"/>
                <a:ea typeface="+mn-ea"/>
                <a:cs typeface="Times New Roman" panose="02020603050405020304" pitchFamily="18" charset="0"/>
              </a:rPr>
              <a:t>逻辑结构：</a:t>
            </a:r>
          </a:p>
          <a:p>
            <a:pPr eaLnBrk="1" hangingPunct="1">
              <a:spcBef>
                <a:spcPct val="0"/>
              </a:spcBef>
              <a:buClrTx/>
              <a:buFontTx/>
              <a:buNone/>
              <a:defRPr/>
            </a:pPr>
            <a:r>
              <a:rPr kumimoji="1" lang="zh-CN" altLang="en-US" sz="2400" dirty="0" smtClean="0">
                <a:latin typeface="Times New Roman" panose="02020603050405020304" pitchFamily="18" charset="0"/>
                <a:ea typeface="+mn-ea"/>
                <a:cs typeface="Times New Roman" panose="02020603050405020304" pitchFamily="18" charset="0"/>
              </a:rPr>
              <a:t>                </a:t>
            </a:r>
            <a:r>
              <a:rPr kumimoji="1" lang="en-US" altLang="zh-CN" sz="2400" dirty="0" smtClean="0">
                <a:latin typeface="Times New Roman" panose="02020603050405020304" pitchFamily="18" charset="0"/>
                <a:ea typeface="+mn-ea"/>
                <a:cs typeface="Times New Roman" panose="02020603050405020304" pitchFamily="18" charset="0"/>
              </a:rPr>
              <a:t>(a</a:t>
            </a:r>
            <a:r>
              <a:rPr kumimoji="1" lang="en-US" altLang="zh-CN" sz="2400" baseline="-25000" dirty="0" smtClean="0">
                <a:latin typeface="Times New Roman" panose="02020603050405020304" pitchFamily="18" charset="0"/>
                <a:ea typeface="+mn-ea"/>
                <a:cs typeface="Times New Roman" panose="02020603050405020304" pitchFamily="18" charset="0"/>
              </a:rPr>
              <a:t>1</a:t>
            </a:r>
            <a:r>
              <a:rPr kumimoji="1" lang="zh-CN" altLang="en-US" sz="2400" dirty="0" smtClean="0">
                <a:latin typeface="Times New Roman" panose="02020603050405020304" pitchFamily="18" charset="0"/>
                <a:ea typeface="+mn-ea"/>
                <a:cs typeface="Times New Roman" panose="02020603050405020304" pitchFamily="18" charset="0"/>
              </a:rPr>
              <a:t>，</a:t>
            </a:r>
            <a:r>
              <a:rPr kumimoji="1" lang="en-US" altLang="zh-CN" sz="2400" dirty="0" smtClean="0">
                <a:latin typeface="Times New Roman" panose="02020603050405020304" pitchFamily="18" charset="0"/>
                <a:ea typeface="+mn-ea"/>
                <a:cs typeface="Times New Roman" panose="02020603050405020304" pitchFamily="18" charset="0"/>
              </a:rPr>
              <a:t>a</a:t>
            </a:r>
            <a:r>
              <a:rPr kumimoji="1" lang="en-US" altLang="zh-CN" sz="2400" baseline="-25000" dirty="0" smtClean="0">
                <a:latin typeface="Times New Roman" panose="02020603050405020304" pitchFamily="18" charset="0"/>
                <a:ea typeface="+mn-ea"/>
                <a:cs typeface="Times New Roman" panose="02020603050405020304" pitchFamily="18" charset="0"/>
              </a:rPr>
              <a:t>2</a:t>
            </a:r>
            <a:r>
              <a:rPr kumimoji="1" lang="zh-CN" altLang="en-US" sz="2400" dirty="0" smtClean="0">
                <a:latin typeface="Times New Roman" panose="02020603050405020304" pitchFamily="18" charset="0"/>
                <a:ea typeface="+mn-ea"/>
                <a:cs typeface="Times New Roman" panose="02020603050405020304" pitchFamily="18" charset="0"/>
              </a:rPr>
              <a:t>，</a:t>
            </a:r>
            <a:r>
              <a:rPr kumimoji="1" lang="en-US" altLang="zh-CN" sz="2400" dirty="0" smtClean="0">
                <a:latin typeface="Times New Roman" panose="02020603050405020304" pitchFamily="18" charset="0"/>
                <a:ea typeface="+mn-ea"/>
                <a:cs typeface="Times New Roman" panose="02020603050405020304" pitchFamily="18" charset="0"/>
              </a:rPr>
              <a:t>… a</a:t>
            </a:r>
            <a:r>
              <a:rPr kumimoji="1" lang="en-US" altLang="zh-CN" sz="2400" baseline="-25000" dirty="0" smtClean="0">
                <a:latin typeface="Times New Roman" panose="02020603050405020304" pitchFamily="18" charset="0"/>
                <a:ea typeface="+mn-ea"/>
                <a:cs typeface="Times New Roman" panose="02020603050405020304" pitchFamily="18" charset="0"/>
              </a:rPr>
              <a:t>i-1</a:t>
            </a:r>
            <a:r>
              <a:rPr kumimoji="1" lang="zh-CN" altLang="en-US" sz="2400" dirty="0" smtClean="0">
                <a:latin typeface="Times New Roman" panose="02020603050405020304" pitchFamily="18" charset="0"/>
                <a:ea typeface="+mn-ea"/>
                <a:cs typeface="Times New Roman" panose="02020603050405020304" pitchFamily="18" charset="0"/>
              </a:rPr>
              <a:t>，</a:t>
            </a:r>
            <a:r>
              <a:rPr kumimoji="1" lang="en-US" altLang="zh-CN" sz="2400" dirty="0" err="1" smtClean="0">
                <a:latin typeface="Times New Roman" panose="02020603050405020304" pitchFamily="18" charset="0"/>
                <a:ea typeface="+mn-ea"/>
                <a:cs typeface="Times New Roman" panose="02020603050405020304" pitchFamily="18" charset="0"/>
              </a:rPr>
              <a:t>a</a:t>
            </a:r>
            <a:r>
              <a:rPr kumimoji="1" lang="en-US" altLang="zh-CN" sz="2400" baseline="-25000" dirty="0" err="1" smtClean="0">
                <a:latin typeface="Times New Roman" panose="02020603050405020304" pitchFamily="18" charset="0"/>
                <a:ea typeface="+mn-ea"/>
                <a:cs typeface="Times New Roman" panose="02020603050405020304" pitchFamily="18" charset="0"/>
              </a:rPr>
              <a:t>i</a:t>
            </a:r>
            <a:r>
              <a:rPr kumimoji="1" lang="zh-CN" altLang="en-US" sz="2400" dirty="0" smtClean="0">
                <a:latin typeface="Times New Roman" panose="02020603050405020304" pitchFamily="18" charset="0"/>
                <a:ea typeface="+mn-ea"/>
                <a:cs typeface="Times New Roman" panose="02020603050405020304" pitchFamily="18" charset="0"/>
              </a:rPr>
              <a:t>，</a:t>
            </a:r>
            <a:r>
              <a:rPr kumimoji="1" lang="en-US" altLang="zh-CN" sz="2400" dirty="0" smtClean="0">
                <a:latin typeface="Times New Roman" panose="02020603050405020304" pitchFamily="18" charset="0"/>
                <a:ea typeface="+mn-ea"/>
                <a:cs typeface="Times New Roman" panose="02020603050405020304" pitchFamily="18" charset="0"/>
              </a:rPr>
              <a:t>a</a:t>
            </a:r>
            <a:r>
              <a:rPr kumimoji="1" lang="en-US" altLang="zh-CN" sz="2400" baseline="-25000" dirty="0" smtClean="0">
                <a:latin typeface="Times New Roman" panose="02020603050405020304" pitchFamily="18" charset="0"/>
                <a:ea typeface="+mn-ea"/>
                <a:cs typeface="Times New Roman" panose="02020603050405020304" pitchFamily="18" charset="0"/>
              </a:rPr>
              <a:t>i+1</a:t>
            </a:r>
            <a:r>
              <a:rPr kumimoji="1" lang="zh-CN" altLang="en-US" sz="2400" dirty="0" smtClean="0">
                <a:latin typeface="Times New Roman" panose="02020603050405020304" pitchFamily="18" charset="0"/>
                <a:ea typeface="+mn-ea"/>
                <a:cs typeface="Times New Roman" panose="02020603050405020304" pitchFamily="18" charset="0"/>
              </a:rPr>
              <a:t>，</a:t>
            </a:r>
            <a:r>
              <a:rPr kumimoji="1" lang="en-US" altLang="zh-CN" sz="2400" dirty="0" smtClean="0">
                <a:latin typeface="Times New Roman" panose="02020603050405020304" pitchFamily="18" charset="0"/>
                <a:ea typeface="+mn-ea"/>
                <a:cs typeface="Times New Roman" panose="02020603050405020304" pitchFamily="18" charset="0"/>
              </a:rPr>
              <a:t>…a</a:t>
            </a:r>
            <a:r>
              <a:rPr kumimoji="1" lang="en-US" altLang="zh-CN" sz="2400" baseline="-25000" dirty="0" smtClean="0">
                <a:latin typeface="Times New Roman" panose="02020603050405020304" pitchFamily="18" charset="0"/>
                <a:ea typeface="+mn-ea"/>
                <a:cs typeface="Times New Roman" panose="02020603050405020304" pitchFamily="18" charset="0"/>
              </a:rPr>
              <a:t>n</a:t>
            </a:r>
            <a:r>
              <a:rPr kumimoji="1" lang="en-US" altLang="zh-CN" sz="2400" dirty="0" smtClean="0">
                <a:latin typeface="Times New Roman" panose="02020603050405020304" pitchFamily="18" charset="0"/>
                <a:ea typeface="+mn-ea"/>
                <a:cs typeface="Times New Roman" panose="02020603050405020304" pitchFamily="18" charset="0"/>
              </a:rPr>
              <a:t>)</a:t>
            </a:r>
          </a:p>
          <a:p>
            <a:pPr eaLnBrk="1" hangingPunct="1">
              <a:spcBef>
                <a:spcPct val="0"/>
              </a:spcBef>
              <a:buClrTx/>
              <a:buFontTx/>
              <a:buNone/>
              <a:defRPr/>
            </a:pPr>
            <a:endParaRPr kumimoji="1" lang="en-US" altLang="zh-CN" sz="2400" dirty="0" smtClean="0">
              <a:latin typeface="Times New Roman" panose="02020603050405020304" pitchFamily="18" charset="0"/>
              <a:ea typeface="+mn-ea"/>
              <a:cs typeface="Times New Roman" panose="02020603050405020304" pitchFamily="18" charset="0"/>
            </a:endParaRPr>
          </a:p>
          <a:p>
            <a:pPr eaLnBrk="1" hangingPunct="1">
              <a:spcBef>
                <a:spcPct val="0"/>
              </a:spcBef>
              <a:buClrTx/>
              <a:buFontTx/>
              <a:buNone/>
              <a:defRPr/>
            </a:pPr>
            <a:r>
              <a:rPr kumimoji="1" lang="zh-CN" altLang="en-US" sz="2400" dirty="0" smtClean="0">
                <a:latin typeface="Times New Roman" panose="02020603050405020304" pitchFamily="18" charset="0"/>
                <a:ea typeface="+mn-ea"/>
                <a:cs typeface="Times New Roman" panose="02020603050405020304" pitchFamily="18" charset="0"/>
              </a:rPr>
              <a:t>存储结构：</a:t>
            </a:r>
          </a:p>
          <a:p>
            <a:pPr eaLnBrk="1" hangingPunct="1">
              <a:spcBef>
                <a:spcPct val="0"/>
              </a:spcBef>
              <a:buClrTx/>
              <a:buFontTx/>
              <a:buNone/>
              <a:defRPr/>
            </a:pPr>
            <a:r>
              <a:rPr kumimoji="1" lang="zh-CN" altLang="en-US" sz="2400" dirty="0" smtClean="0">
                <a:latin typeface="Times New Roman" panose="02020603050405020304" pitchFamily="18" charset="0"/>
                <a:ea typeface="+mn-ea"/>
                <a:cs typeface="Times New Roman" panose="02020603050405020304" pitchFamily="18" charset="0"/>
              </a:rPr>
              <a:t>    顺序存储：顺序表</a:t>
            </a:r>
          </a:p>
          <a:p>
            <a:pPr eaLnBrk="1" hangingPunct="1">
              <a:spcBef>
                <a:spcPct val="0"/>
              </a:spcBef>
              <a:buClrTx/>
              <a:buFontTx/>
              <a:buNone/>
              <a:defRPr/>
            </a:pPr>
            <a:endParaRPr kumimoji="1" lang="zh-CN" altLang="en-US" sz="2400" dirty="0" smtClean="0">
              <a:latin typeface="Times New Roman" panose="02020603050405020304" pitchFamily="18" charset="0"/>
              <a:ea typeface="+mn-ea"/>
              <a:cs typeface="Times New Roman" panose="02020603050405020304" pitchFamily="18" charset="0"/>
            </a:endParaRPr>
          </a:p>
          <a:p>
            <a:pPr eaLnBrk="1" hangingPunct="1">
              <a:spcBef>
                <a:spcPct val="0"/>
              </a:spcBef>
              <a:buClrTx/>
              <a:buFontTx/>
              <a:buNone/>
              <a:defRPr/>
            </a:pPr>
            <a:r>
              <a:rPr kumimoji="1" lang="zh-CN" altLang="en-US" sz="2400" dirty="0" smtClean="0">
                <a:latin typeface="Times New Roman" panose="02020603050405020304" pitchFamily="18" charset="0"/>
                <a:ea typeface="+mn-ea"/>
                <a:cs typeface="Times New Roman" panose="02020603050405020304" pitchFamily="18" charset="0"/>
              </a:rPr>
              <a:t>    链式存储：链表</a:t>
            </a:r>
          </a:p>
          <a:p>
            <a:pPr eaLnBrk="1" hangingPunct="1">
              <a:spcBef>
                <a:spcPct val="0"/>
              </a:spcBef>
              <a:buClrTx/>
              <a:buFontTx/>
              <a:buNone/>
              <a:defRPr/>
            </a:pPr>
            <a:endParaRPr kumimoji="1" lang="zh-CN" altLang="en-US" sz="2400" dirty="0" smtClean="0">
              <a:latin typeface="Times New Roman" panose="02020603050405020304" pitchFamily="18" charset="0"/>
              <a:ea typeface="+mn-ea"/>
              <a:cs typeface="Times New Roman" panose="02020603050405020304" pitchFamily="18" charset="0"/>
            </a:endParaRPr>
          </a:p>
          <a:p>
            <a:pPr eaLnBrk="1" hangingPunct="1">
              <a:spcBef>
                <a:spcPct val="0"/>
              </a:spcBef>
              <a:buClrTx/>
              <a:buFontTx/>
              <a:buNone/>
              <a:defRPr/>
            </a:pPr>
            <a:endParaRPr kumimoji="1" lang="zh-CN" altLang="en-US" sz="2400" dirty="0" smtClean="0">
              <a:latin typeface="Times New Roman" panose="02020603050405020304" pitchFamily="18" charset="0"/>
              <a:ea typeface="+mn-ea"/>
              <a:cs typeface="Times New Roman" panose="02020603050405020304" pitchFamily="18" charset="0"/>
            </a:endParaRPr>
          </a:p>
          <a:p>
            <a:pPr eaLnBrk="1" hangingPunct="1">
              <a:spcBef>
                <a:spcPct val="0"/>
              </a:spcBef>
              <a:buClrTx/>
              <a:buFontTx/>
              <a:buNone/>
              <a:defRPr/>
            </a:pPr>
            <a:r>
              <a:rPr kumimoji="1" lang="zh-CN" altLang="en-US" sz="2400" dirty="0" smtClean="0">
                <a:latin typeface="Times New Roman" panose="02020603050405020304" pitchFamily="18" charset="0"/>
                <a:ea typeface="+mn-ea"/>
                <a:cs typeface="Times New Roman" panose="02020603050405020304" pitchFamily="18" charset="0"/>
              </a:rPr>
              <a:t>线性表的操作：</a:t>
            </a:r>
          </a:p>
          <a:p>
            <a:pPr eaLnBrk="1" hangingPunct="1">
              <a:spcBef>
                <a:spcPct val="0"/>
              </a:spcBef>
              <a:buClrTx/>
              <a:buFontTx/>
              <a:buNone/>
              <a:defRPr/>
            </a:pPr>
            <a:r>
              <a:rPr kumimoji="1" lang="zh-CN" altLang="en-US" sz="2400" dirty="0" smtClean="0">
                <a:latin typeface="Times New Roman" panose="02020603050405020304" pitchFamily="18" charset="0"/>
                <a:ea typeface="+mn-ea"/>
                <a:cs typeface="Times New Roman" panose="02020603050405020304" pitchFamily="18" charset="0"/>
              </a:rPr>
              <a:t>    初始化、求表的长度、取表元、按值查找、插入操作、</a:t>
            </a:r>
          </a:p>
          <a:p>
            <a:pPr eaLnBrk="1" hangingPunct="1">
              <a:spcBef>
                <a:spcPct val="0"/>
              </a:spcBef>
              <a:buClrTx/>
              <a:buFontTx/>
              <a:buNone/>
              <a:defRPr/>
            </a:pPr>
            <a:r>
              <a:rPr kumimoji="1" lang="zh-CN" altLang="en-US" sz="2400" dirty="0" smtClean="0">
                <a:latin typeface="Times New Roman" panose="02020603050405020304" pitchFamily="18" charset="0"/>
                <a:ea typeface="+mn-ea"/>
                <a:cs typeface="Times New Roman" panose="02020603050405020304" pitchFamily="18" charset="0"/>
              </a:rPr>
              <a:t>    删除操作等</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527050" y="368300"/>
            <a:ext cx="10218738" cy="822325"/>
          </a:xfrm>
        </p:spPr>
        <p:txBody>
          <a:bodyPr/>
          <a:lstStyle/>
          <a:p>
            <a:pPr eaLnBrk="1" hangingPunct="1"/>
            <a:r>
              <a:rPr kumimoji="1" lang="zh-CN" altLang="en-US" smtClean="0">
                <a:solidFill>
                  <a:schemeClr val="tx1"/>
                </a:solidFill>
              </a:rPr>
              <a:t>顺序表与链表比较：</a:t>
            </a:r>
          </a:p>
        </p:txBody>
      </p:sp>
      <p:sp>
        <p:nvSpPr>
          <p:cNvPr id="124931" name="Text Box 4"/>
          <p:cNvSpPr txBox="1">
            <a:spLocks noChangeArrowheads="1"/>
          </p:cNvSpPr>
          <p:nvPr/>
        </p:nvSpPr>
        <p:spPr bwMode="auto">
          <a:xfrm>
            <a:off x="527050" y="1268413"/>
            <a:ext cx="100330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marL="228600" indent="-228600" eaLnBrk="1" hangingPunct="1">
              <a:lnSpc>
                <a:spcPct val="90000"/>
              </a:lnSpc>
              <a:spcBef>
                <a:spcPts val="1000"/>
              </a:spcBef>
              <a:buClrTx/>
              <a:buFont typeface="Wingdings" panose="05000000000000000000" pitchFamily="2" charset="2"/>
              <a:buChar char="Ø"/>
              <a:defRPr/>
            </a:pPr>
            <a:r>
              <a:rPr lang="zh-CN" altLang="en-US" sz="2800" dirty="0" smtClean="0">
                <a:latin typeface="Times New Roman" panose="02020603050405020304" pitchFamily="18" charset="0"/>
                <a:ea typeface="+mn-ea"/>
                <a:cs typeface="Times New Roman" panose="02020603050405020304" pitchFamily="18" charset="0"/>
              </a:rPr>
              <a:t>基于</a:t>
            </a:r>
            <a:r>
              <a:rPr lang="zh-CN" altLang="en-US" sz="2800" dirty="0">
                <a:latin typeface="Times New Roman" panose="02020603050405020304" pitchFamily="18" charset="0"/>
                <a:ea typeface="+mn-ea"/>
                <a:cs typeface="Times New Roman" panose="02020603050405020304" pitchFamily="18" charset="0"/>
              </a:rPr>
              <a:t>存储空间的考虑：</a:t>
            </a:r>
          </a:p>
          <a:p>
            <a:pPr marL="971550" lvl="1" indent="-228600" eaLnBrk="1" hangingPunct="1">
              <a:lnSpc>
                <a:spcPct val="90000"/>
              </a:lnSpc>
              <a:spcBef>
                <a:spcPts val="1000"/>
              </a:spcBef>
              <a:buClrTx/>
              <a:buFont typeface="Wingdings" panose="05000000000000000000" pitchFamily="2" charset="2"/>
              <a:buChar char="Ø"/>
              <a:defRPr/>
            </a:pPr>
            <a:r>
              <a:rPr lang="zh-CN" altLang="en-US" sz="2400" dirty="0">
                <a:latin typeface="Times New Roman" panose="02020603050405020304" pitchFamily="18" charset="0"/>
                <a:ea typeface="+mn-ea"/>
                <a:cs typeface="Times New Roman" panose="02020603050405020304" pitchFamily="18" charset="0"/>
              </a:rPr>
              <a:t>  存储空间的分配：</a:t>
            </a:r>
          </a:p>
          <a:p>
            <a:pPr lvl="1" eaLnBrk="1" hangingPunct="1">
              <a:lnSpc>
                <a:spcPct val="90000"/>
              </a:lnSpc>
              <a:spcBef>
                <a:spcPts val="1000"/>
              </a:spcBef>
              <a:buClrTx/>
              <a:buFont typeface="Wingdings" panose="05000000000000000000" pitchFamily="2" charset="2"/>
              <a:buNone/>
              <a:defRPr/>
            </a:pPr>
            <a:r>
              <a:rPr lang="zh-CN" altLang="en-US" sz="2000" dirty="0">
                <a:latin typeface="Times New Roman" panose="02020603050405020304" pitchFamily="18" charset="0"/>
                <a:ea typeface="+mn-ea"/>
                <a:cs typeface="Times New Roman" panose="02020603050405020304" pitchFamily="18" charset="0"/>
              </a:rPr>
              <a:t>  顺序表：  静态分配。若线性表长度变化较大，则</a:t>
            </a:r>
            <a:r>
              <a:rPr lang="zh-CN" altLang="en-US" sz="2000" dirty="0" smtClean="0">
                <a:latin typeface="Times New Roman" panose="02020603050405020304" pitchFamily="18" charset="0"/>
                <a:ea typeface="+mn-ea"/>
                <a:cs typeface="Times New Roman" panose="02020603050405020304" pitchFamily="18" charset="0"/>
              </a:rPr>
              <a:t>存储空间</a:t>
            </a:r>
            <a:r>
              <a:rPr lang="zh-CN" altLang="en-US" sz="2000" dirty="0">
                <a:latin typeface="Times New Roman" panose="02020603050405020304" pitchFamily="18" charset="0"/>
                <a:ea typeface="+mn-ea"/>
                <a:cs typeface="Times New Roman" panose="02020603050405020304" pitchFamily="18" charset="0"/>
              </a:rPr>
              <a:t>难以预先确定。估计过大将造成空间浪费，</a:t>
            </a:r>
            <a:r>
              <a:rPr lang="zh-CN" altLang="en-US" sz="2000" dirty="0" smtClean="0">
                <a:latin typeface="Times New Roman" panose="02020603050405020304" pitchFamily="18" charset="0"/>
                <a:ea typeface="+mn-ea"/>
                <a:cs typeface="Times New Roman" panose="02020603050405020304" pitchFamily="18" charset="0"/>
              </a:rPr>
              <a:t>估计</a:t>
            </a:r>
            <a:r>
              <a:rPr lang="zh-CN" altLang="en-US" sz="2000" dirty="0">
                <a:latin typeface="Times New Roman" panose="02020603050405020304" pitchFamily="18" charset="0"/>
                <a:ea typeface="+mn-ea"/>
                <a:cs typeface="Times New Roman" panose="02020603050405020304" pitchFamily="18" charset="0"/>
              </a:rPr>
              <a:t>过小又将使空间溢出机会增多。</a:t>
            </a:r>
          </a:p>
          <a:p>
            <a:pPr lvl="1" eaLnBrk="1" hangingPunct="1">
              <a:lnSpc>
                <a:spcPct val="90000"/>
              </a:lnSpc>
              <a:spcBef>
                <a:spcPts val="1000"/>
              </a:spcBef>
              <a:buClrTx/>
              <a:buFont typeface="Wingdings" panose="05000000000000000000" pitchFamily="2" charset="2"/>
              <a:buNone/>
              <a:defRPr/>
            </a:pPr>
            <a:r>
              <a:rPr lang="zh-CN" altLang="en-US" sz="2000" dirty="0">
                <a:latin typeface="Times New Roman" panose="02020603050405020304" pitchFamily="18" charset="0"/>
                <a:ea typeface="+mn-ea"/>
                <a:cs typeface="Times New Roman" panose="02020603050405020304" pitchFamily="18" charset="0"/>
              </a:rPr>
              <a:t>  链表：    动态分配。只要内存空间尚有空闲，就</a:t>
            </a:r>
            <a:r>
              <a:rPr lang="zh-CN" altLang="en-US" sz="2000" dirty="0" smtClean="0">
                <a:latin typeface="Times New Roman" panose="02020603050405020304" pitchFamily="18" charset="0"/>
                <a:ea typeface="+mn-ea"/>
                <a:cs typeface="Times New Roman" panose="02020603050405020304" pitchFamily="18" charset="0"/>
              </a:rPr>
              <a:t>不会产生</a:t>
            </a:r>
            <a:r>
              <a:rPr lang="zh-CN" altLang="en-US" sz="2000" dirty="0">
                <a:latin typeface="Times New Roman" panose="02020603050405020304" pitchFamily="18" charset="0"/>
                <a:ea typeface="+mn-ea"/>
                <a:cs typeface="Times New Roman" panose="02020603050405020304" pitchFamily="18" charset="0"/>
              </a:rPr>
              <a:t>溢出</a:t>
            </a:r>
            <a:r>
              <a:rPr lang="zh-CN" altLang="en-US" sz="2000" dirty="0" smtClean="0">
                <a:latin typeface="Times New Roman" panose="02020603050405020304" pitchFamily="18" charset="0"/>
                <a:ea typeface="+mn-ea"/>
                <a:cs typeface="Times New Roman" panose="02020603050405020304" pitchFamily="18" charset="0"/>
              </a:rPr>
              <a:t>。因此</a:t>
            </a:r>
            <a:r>
              <a:rPr lang="zh-CN" altLang="en-US" sz="2000" dirty="0">
                <a:latin typeface="Times New Roman" panose="02020603050405020304" pitchFamily="18" charset="0"/>
                <a:ea typeface="+mn-ea"/>
                <a:cs typeface="Times New Roman" panose="02020603050405020304" pitchFamily="18" charset="0"/>
              </a:rPr>
              <a:t>，当线性表长度变化较大，难以估计其存储</a:t>
            </a:r>
            <a:r>
              <a:rPr lang="zh-CN" altLang="en-US" sz="2000" dirty="0" smtClean="0">
                <a:latin typeface="Times New Roman" panose="02020603050405020304" pitchFamily="18" charset="0"/>
                <a:ea typeface="+mn-ea"/>
                <a:cs typeface="Times New Roman" panose="02020603050405020304" pitchFamily="18" charset="0"/>
              </a:rPr>
              <a:t>规模</a:t>
            </a:r>
            <a:r>
              <a:rPr lang="zh-CN" altLang="en-US" sz="2000" dirty="0">
                <a:latin typeface="Times New Roman" panose="02020603050405020304" pitchFamily="18" charset="0"/>
                <a:ea typeface="+mn-ea"/>
                <a:cs typeface="Times New Roman" panose="02020603050405020304" pitchFamily="18" charset="0"/>
              </a:rPr>
              <a:t>时，以采用动态链表作为存储结构为宜。</a:t>
            </a:r>
          </a:p>
          <a:p>
            <a:pPr marL="971550" lvl="1" indent="-228600" eaLnBrk="1" hangingPunct="1">
              <a:lnSpc>
                <a:spcPct val="90000"/>
              </a:lnSpc>
              <a:spcBef>
                <a:spcPts val="1000"/>
              </a:spcBef>
              <a:buClrTx/>
              <a:buFont typeface="Wingdings" panose="05000000000000000000" pitchFamily="2" charset="2"/>
              <a:buChar char="Ø"/>
              <a:defRPr/>
            </a:pPr>
            <a:r>
              <a:rPr lang="zh-CN" altLang="en-US" sz="2400" dirty="0">
                <a:latin typeface="Times New Roman" panose="02020603050405020304" pitchFamily="18" charset="0"/>
                <a:ea typeface="+mn-ea"/>
                <a:cs typeface="Times New Roman" panose="02020603050405020304" pitchFamily="18" charset="0"/>
              </a:rPr>
              <a:t>  存储密度：</a:t>
            </a:r>
          </a:p>
          <a:p>
            <a:pPr lvl="1" eaLnBrk="1" hangingPunct="1">
              <a:lnSpc>
                <a:spcPct val="90000"/>
              </a:lnSpc>
              <a:spcBef>
                <a:spcPts val="1000"/>
              </a:spcBef>
              <a:buClrTx/>
              <a:buFont typeface="Wingdings" panose="05000000000000000000" pitchFamily="2" charset="2"/>
              <a:buNone/>
              <a:defRPr/>
            </a:pPr>
            <a:r>
              <a:rPr lang="zh-CN" altLang="en-US" sz="2000" dirty="0">
                <a:latin typeface="Times New Roman" panose="02020603050405020304" pitchFamily="18" charset="0"/>
                <a:ea typeface="+mn-ea"/>
                <a:cs typeface="Times New Roman" panose="02020603050405020304" pitchFamily="18" charset="0"/>
              </a:rPr>
              <a:t>  顺序表</a:t>
            </a:r>
            <a:r>
              <a:rPr lang="en-US" altLang="zh-CN" sz="2000" dirty="0">
                <a:latin typeface="Times New Roman" panose="02020603050405020304" pitchFamily="18" charset="0"/>
                <a:ea typeface="+mn-ea"/>
                <a:cs typeface="Times New Roman" panose="02020603050405020304" pitchFamily="18" charset="0"/>
              </a:rPr>
              <a:t>100%</a:t>
            </a:r>
            <a:r>
              <a:rPr lang="zh-CN" altLang="en-US" sz="2000" dirty="0">
                <a:latin typeface="Times New Roman" panose="02020603050405020304" pitchFamily="18" charset="0"/>
                <a:ea typeface="+mn-ea"/>
                <a:cs typeface="Times New Roman" panose="02020603050405020304" pitchFamily="18" charset="0"/>
              </a:rPr>
              <a:t>。</a:t>
            </a:r>
          </a:p>
          <a:p>
            <a:pPr lvl="1" eaLnBrk="1" hangingPunct="1">
              <a:lnSpc>
                <a:spcPct val="90000"/>
              </a:lnSpc>
              <a:spcBef>
                <a:spcPts val="1000"/>
              </a:spcBef>
              <a:buClrTx/>
              <a:buFont typeface="Wingdings" panose="05000000000000000000" pitchFamily="2" charset="2"/>
              <a:buNone/>
              <a:defRPr/>
            </a:pPr>
            <a:r>
              <a:rPr lang="zh-CN" altLang="en-US" sz="2000" dirty="0">
                <a:latin typeface="Times New Roman" panose="02020603050405020304" pitchFamily="18" charset="0"/>
                <a:ea typeface="+mn-ea"/>
                <a:cs typeface="Times New Roman" panose="02020603050405020304" pitchFamily="18" charset="0"/>
              </a:rPr>
              <a:t>  链表的每个结点，除了数据域外，还要有指针域，</a:t>
            </a:r>
            <a:r>
              <a:rPr lang="zh-CN" altLang="en-US" sz="2000" dirty="0" smtClean="0">
                <a:latin typeface="Times New Roman" panose="02020603050405020304" pitchFamily="18" charset="0"/>
                <a:ea typeface="+mn-ea"/>
                <a:cs typeface="Times New Roman" panose="02020603050405020304" pitchFamily="18" charset="0"/>
              </a:rPr>
              <a:t>从存储密度</a:t>
            </a:r>
            <a:r>
              <a:rPr lang="zh-CN" altLang="en-US" sz="2000" dirty="0">
                <a:latin typeface="Times New Roman" panose="02020603050405020304" pitchFamily="18" charset="0"/>
                <a:ea typeface="+mn-ea"/>
                <a:cs typeface="Times New Roman" panose="02020603050405020304" pitchFamily="18" charset="0"/>
              </a:rPr>
              <a:t>来讲，这是不经济的。若数据域和指针</a:t>
            </a:r>
            <a:r>
              <a:rPr lang="zh-CN" altLang="en-US" sz="2000" dirty="0" smtClean="0">
                <a:latin typeface="Times New Roman" panose="02020603050405020304" pitchFamily="18" charset="0"/>
                <a:ea typeface="+mn-ea"/>
                <a:cs typeface="Times New Roman" panose="02020603050405020304" pitchFamily="18" charset="0"/>
              </a:rPr>
              <a:t>域所</a:t>
            </a:r>
            <a:r>
              <a:rPr lang="zh-CN" altLang="en-US" sz="2000" dirty="0">
                <a:latin typeface="Times New Roman" panose="02020603050405020304" pitchFamily="18" charset="0"/>
                <a:ea typeface="+mn-ea"/>
                <a:cs typeface="Times New Roman" panose="02020603050405020304" pitchFamily="18" charset="0"/>
              </a:rPr>
              <a:t>占的空间大小相同，则链表的存储密度为</a:t>
            </a:r>
            <a:r>
              <a:rPr lang="en-US" altLang="zh-CN" sz="2000" dirty="0">
                <a:latin typeface="Times New Roman" panose="02020603050405020304" pitchFamily="18" charset="0"/>
                <a:ea typeface="+mn-ea"/>
                <a:cs typeface="Times New Roman" panose="02020603050405020304" pitchFamily="18" charset="0"/>
              </a:rPr>
              <a:t>50%</a:t>
            </a:r>
            <a:r>
              <a:rPr lang="zh-CN" altLang="en-US" sz="2000" dirty="0">
                <a:latin typeface="Times New Roman" panose="02020603050405020304" pitchFamily="18" charset="0"/>
                <a:ea typeface="+mn-ea"/>
                <a:cs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7" name="内容占位符 6"/>
          <p:cNvSpPr>
            <a:spLocks noGrp="1"/>
          </p:cNvSpPr>
          <p:nvPr>
            <p:ph idx="1"/>
          </p:nvPr>
        </p:nvSpPr>
        <p:spPr>
          <a:xfrm>
            <a:off x="527050" y="1628775"/>
            <a:ext cx="10218738" cy="4351338"/>
          </a:xfrm>
        </p:spPr>
        <p:txBody>
          <a:bodyPr rtlCol="0">
            <a:normAutofit/>
          </a:bodyPr>
          <a:lstStyle/>
          <a:p>
            <a:pPr eaLnBrk="1" fontAlgn="auto" hangingPunct="1">
              <a:spcAft>
                <a:spcPts val="0"/>
              </a:spcAft>
              <a:defRPr/>
            </a:pPr>
            <a:r>
              <a:rPr lang="zh-CN" altLang="en-US" dirty="0"/>
              <a:t>基于时间的考虑：</a:t>
            </a:r>
          </a:p>
          <a:p>
            <a:pPr marL="0" indent="0" eaLnBrk="1" fontAlgn="auto" hangingPunct="1">
              <a:spcAft>
                <a:spcPts val="0"/>
              </a:spcAft>
              <a:buFont typeface="Wingdings" panose="05000000000000000000" pitchFamily="2" charset="2"/>
              <a:buNone/>
              <a:defRPr/>
            </a:pPr>
            <a:r>
              <a:rPr lang="zh-CN" altLang="en-US" dirty="0"/>
              <a:t>        顺序表是一种随机存储结构，按序号访问</a:t>
            </a:r>
            <a:r>
              <a:rPr lang="zh-CN" altLang="en-US" dirty="0" smtClean="0"/>
              <a:t>其元素</a:t>
            </a:r>
            <a:r>
              <a:rPr lang="en-US" altLang="zh-CN" dirty="0" err="1"/>
              <a:t>a</a:t>
            </a:r>
            <a:r>
              <a:rPr lang="en-US" altLang="zh-CN" baseline="-25000" dirty="0" err="1"/>
              <a:t>i</a:t>
            </a:r>
            <a:r>
              <a:rPr lang="zh-CN" altLang="en-US" dirty="0"/>
              <a:t>，可在</a:t>
            </a:r>
            <a:r>
              <a:rPr lang="en-US" altLang="zh-CN" dirty="0"/>
              <a:t>O(1)</a:t>
            </a:r>
            <a:r>
              <a:rPr lang="zh-CN" altLang="en-US" dirty="0"/>
              <a:t>时间内直接的存储。而链表中</a:t>
            </a:r>
            <a:r>
              <a:rPr lang="zh-CN" altLang="en-US" dirty="0" smtClean="0"/>
              <a:t>的结点</a:t>
            </a:r>
            <a:r>
              <a:rPr lang="zh-CN" altLang="en-US" dirty="0"/>
              <a:t>，必须从头指针起顺着链表扫描才能取得。</a:t>
            </a:r>
            <a:r>
              <a:rPr lang="zh-CN" altLang="en-US" dirty="0" smtClean="0"/>
              <a:t>因此</a:t>
            </a:r>
            <a:r>
              <a:rPr lang="zh-CN" altLang="en-US" dirty="0"/>
              <a:t>，若线性表的操作主要是进行查找，则以顺序</a:t>
            </a:r>
            <a:r>
              <a:rPr lang="zh-CN" altLang="en-US" dirty="0" smtClean="0"/>
              <a:t>表为宜</a:t>
            </a:r>
            <a:r>
              <a:rPr lang="zh-CN" altLang="en-US" dirty="0"/>
              <a:t>。</a:t>
            </a:r>
          </a:p>
          <a:p>
            <a:pPr marL="0" indent="0" eaLnBrk="1" fontAlgn="auto" hangingPunct="1">
              <a:spcAft>
                <a:spcPts val="0"/>
              </a:spcAft>
              <a:buFont typeface="Wingdings" panose="05000000000000000000" pitchFamily="2" charset="2"/>
              <a:buNone/>
              <a:defRPr/>
            </a:pPr>
            <a:r>
              <a:rPr lang="zh-CN" altLang="en-US" dirty="0"/>
              <a:t>        在链表中插入和删除操作，只要修改指针</a:t>
            </a:r>
            <a:r>
              <a:rPr lang="zh-CN" altLang="en-US" dirty="0" smtClean="0"/>
              <a:t>。而</a:t>
            </a:r>
            <a:r>
              <a:rPr lang="zh-CN" altLang="en-US" dirty="0"/>
              <a:t>在顺序表中平均要移动近一半的结点。因此，</a:t>
            </a:r>
            <a:r>
              <a:rPr lang="zh-CN" altLang="en-US" dirty="0" smtClean="0"/>
              <a:t>对于</a:t>
            </a:r>
            <a:r>
              <a:rPr lang="zh-CN" altLang="en-US" dirty="0"/>
              <a:t>频繁地进行插入和删除操作的线性表，宜采用</a:t>
            </a:r>
            <a:r>
              <a:rPr lang="zh-CN" altLang="en-US" dirty="0" smtClean="0"/>
              <a:t>链表</a:t>
            </a:r>
            <a:r>
              <a:rPr lang="zh-CN" altLang="en-US" dirty="0"/>
              <a:t>做存储结构。</a:t>
            </a:r>
          </a:p>
          <a:p>
            <a:pPr eaLnBrk="1" fontAlgn="auto" hangingPunct="1">
              <a:spcAft>
                <a:spcPts val="0"/>
              </a:spcAft>
              <a:defRPr/>
            </a:pPr>
            <a:endParaRPr lang="zh-CN" alt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527050" y="368300"/>
            <a:ext cx="10218738" cy="822325"/>
          </a:xfrm>
        </p:spPr>
        <p:txBody>
          <a:bodyPr/>
          <a:lstStyle/>
          <a:p>
            <a:pPr eaLnBrk="1" hangingPunct="1"/>
            <a:r>
              <a:rPr lang="zh-CN" altLang="en-US" smtClean="0"/>
              <a:t>总结</a:t>
            </a:r>
          </a:p>
        </p:txBody>
      </p:sp>
      <p:sp>
        <p:nvSpPr>
          <p:cNvPr id="145411" name="Rectangle 3"/>
          <p:cNvSpPr>
            <a:spLocks noGrp="1" noChangeArrowheads="1"/>
          </p:cNvSpPr>
          <p:nvPr>
            <p:ph idx="1"/>
          </p:nvPr>
        </p:nvSpPr>
        <p:spPr>
          <a:xfrm>
            <a:off x="527050" y="1628775"/>
            <a:ext cx="10218738" cy="4351338"/>
          </a:xfrm>
        </p:spPr>
        <p:txBody>
          <a:bodyPr/>
          <a:lstStyle/>
          <a:p>
            <a:pPr eaLnBrk="1" hangingPunct="1"/>
            <a:r>
              <a:rPr lang="zh-CN" altLang="en-US" sz="3400" b="1" smtClean="0"/>
              <a:t>学习目标</a:t>
            </a:r>
          </a:p>
          <a:p>
            <a:pPr lvl="1" eaLnBrk="1" hangingPunct="1"/>
            <a:r>
              <a:rPr lang="en-US" altLang="zh-CN" smtClean="0"/>
              <a:t>1. </a:t>
            </a:r>
            <a:r>
              <a:rPr lang="zh-CN" altLang="en-US" smtClean="0"/>
              <a:t>了解线性表的逻辑结构特性是数据元素之间存在着线性关系，</a:t>
            </a:r>
            <a:r>
              <a:rPr lang="zh-CN" altLang="en-US" b="1" smtClean="0"/>
              <a:t>顺序存储结构</a:t>
            </a:r>
            <a:r>
              <a:rPr lang="en-US" altLang="zh-CN" b="1" smtClean="0">
                <a:sym typeface="Wingdings" panose="05000000000000000000" pitchFamily="2" charset="2"/>
              </a:rPr>
              <a:t>&lt;--&gt;</a:t>
            </a:r>
            <a:r>
              <a:rPr lang="zh-CN" altLang="en-US" b="1" smtClean="0"/>
              <a:t>顺序表</a:t>
            </a:r>
            <a:r>
              <a:rPr lang="zh-CN" altLang="en-US" smtClean="0"/>
              <a:t>和</a:t>
            </a:r>
            <a:r>
              <a:rPr lang="zh-CN" altLang="en-US" b="1" smtClean="0"/>
              <a:t>链式存储结构</a:t>
            </a:r>
            <a:r>
              <a:rPr lang="en-US" altLang="zh-CN" b="1" smtClean="0"/>
              <a:t>&lt;</a:t>
            </a:r>
            <a:r>
              <a:rPr lang="en-US" altLang="zh-CN" b="1" smtClean="0">
                <a:sym typeface="Wingdings" panose="05000000000000000000" pitchFamily="2" charset="2"/>
              </a:rPr>
              <a:t>--&gt;</a:t>
            </a:r>
            <a:r>
              <a:rPr lang="zh-CN" altLang="en-US" b="1" smtClean="0"/>
              <a:t>链表</a:t>
            </a:r>
            <a:r>
              <a:rPr lang="zh-CN" altLang="en-US" smtClean="0"/>
              <a:t>。</a:t>
            </a:r>
          </a:p>
          <a:p>
            <a:pPr lvl="1" eaLnBrk="1" hangingPunct="1"/>
            <a:r>
              <a:rPr lang="en-US" altLang="zh-CN" smtClean="0"/>
              <a:t>2. </a:t>
            </a:r>
            <a:r>
              <a:rPr lang="zh-CN" altLang="en-US" smtClean="0"/>
              <a:t>熟练掌握这两类存储结构的描述方法以及线性表的基本操作在这两种存储结构上的实现。</a:t>
            </a:r>
          </a:p>
          <a:p>
            <a:pPr lvl="1" eaLnBrk="1" hangingPunct="1"/>
            <a:r>
              <a:rPr lang="en-US" altLang="zh-CN" smtClean="0"/>
              <a:t>3. </a:t>
            </a:r>
            <a:r>
              <a:rPr lang="zh-CN" altLang="en-US" smtClean="0"/>
              <a:t>能够从时间和空间复杂度的角度综合比较线性表两种存储结构的不同特点及其适用场合。</a:t>
            </a:r>
          </a:p>
          <a:p>
            <a:pPr lvl="1" eaLnBrk="1" hangingPunct="1"/>
            <a:r>
              <a:rPr lang="en-US" altLang="zh-CN" smtClean="0"/>
              <a:t>4. </a:t>
            </a:r>
            <a:r>
              <a:rPr lang="zh-CN" altLang="en-US" smtClean="0"/>
              <a:t>结合线性表类型的定义增强对抽象数据类型的理解。</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128003" name="Text Box 4"/>
          <p:cNvSpPr txBox="1">
            <a:spLocks noChangeArrowheads="1"/>
          </p:cNvSpPr>
          <p:nvPr/>
        </p:nvSpPr>
        <p:spPr bwMode="auto">
          <a:xfrm>
            <a:off x="1679575" y="1684338"/>
            <a:ext cx="7913688"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defRPr/>
            </a:pPr>
            <a:r>
              <a:rPr kumimoji="1" lang="zh-CN" altLang="en-US" sz="3200" dirty="0" smtClean="0">
                <a:latin typeface="Times New Roman" panose="02020603050405020304" pitchFamily="18" charset="0"/>
                <a:ea typeface="+mn-ea"/>
                <a:cs typeface="Times New Roman" panose="02020603050405020304" pitchFamily="18" charset="0"/>
              </a:rPr>
              <a:t>例</a:t>
            </a:r>
            <a:r>
              <a:rPr kumimoji="1" lang="en-US" altLang="zh-CN" sz="3200" dirty="0" smtClean="0">
                <a:latin typeface="Times New Roman" panose="02020603050405020304" pitchFamily="18" charset="0"/>
                <a:ea typeface="+mn-ea"/>
                <a:cs typeface="Times New Roman" panose="02020603050405020304" pitchFamily="18" charset="0"/>
              </a:rPr>
              <a:t>1</a:t>
            </a:r>
            <a:endParaRPr kumimoji="1" lang="en-US" altLang="zh-CN" sz="2400" dirty="0" smtClean="0">
              <a:latin typeface="Times New Roman" panose="02020603050405020304" pitchFamily="18" charset="0"/>
              <a:ea typeface="+mn-ea"/>
              <a:cs typeface="Times New Roman" panose="02020603050405020304" pitchFamily="18" charset="0"/>
            </a:endParaRPr>
          </a:p>
          <a:p>
            <a:pPr eaLnBrk="1" hangingPunct="1">
              <a:spcBef>
                <a:spcPct val="0"/>
              </a:spcBef>
              <a:buClrTx/>
              <a:buFontTx/>
              <a:buNone/>
              <a:defRPr/>
            </a:pPr>
            <a:endParaRPr kumimoji="1" lang="en-US" altLang="zh-CN" sz="2400" dirty="0" smtClean="0">
              <a:latin typeface="Times New Roman" panose="02020603050405020304" pitchFamily="18" charset="0"/>
              <a:ea typeface="+mn-ea"/>
              <a:cs typeface="Times New Roman" panose="02020603050405020304" pitchFamily="18" charset="0"/>
            </a:endParaRPr>
          </a:p>
          <a:p>
            <a:pPr eaLnBrk="1" hangingPunct="1">
              <a:spcBef>
                <a:spcPct val="0"/>
              </a:spcBef>
              <a:buClrTx/>
              <a:buFontTx/>
              <a:buNone/>
              <a:defRPr/>
            </a:pPr>
            <a:r>
              <a:rPr kumimoji="1" lang="zh-CN" altLang="en-US" sz="2400" dirty="0" smtClean="0">
                <a:latin typeface="Times New Roman" panose="02020603050405020304" pitchFamily="18" charset="0"/>
                <a:ea typeface="+mn-ea"/>
                <a:cs typeface="Times New Roman" panose="02020603050405020304" pitchFamily="18" charset="0"/>
              </a:rPr>
              <a:t>在如图所示的单循环链表中，求</a:t>
            </a:r>
            <a:r>
              <a:rPr kumimoji="1" lang="en-US" altLang="zh-CN" sz="2400" dirty="0" smtClean="0">
                <a:latin typeface="Times New Roman" panose="02020603050405020304" pitchFamily="18" charset="0"/>
                <a:ea typeface="+mn-ea"/>
                <a:cs typeface="Times New Roman" panose="02020603050405020304" pitchFamily="18" charset="0"/>
              </a:rPr>
              <a:t>P</a:t>
            </a:r>
            <a:r>
              <a:rPr kumimoji="1" lang="zh-CN" altLang="en-US" sz="2400" dirty="0" smtClean="0">
                <a:latin typeface="Times New Roman" panose="02020603050405020304" pitchFamily="18" charset="0"/>
                <a:ea typeface="+mn-ea"/>
                <a:cs typeface="Times New Roman" panose="02020603050405020304" pitchFamily="18" charset="0"/>
              </a:rPr>
              <a:t>的直接前驱（从</a:t>
            </a:r>
            <a:r>
              <a:rPr kumimoji="1" lang="en-US" altLang="zh-CN" sz="2400" dirty="0" smtClean="0">
                <a:latin typeface="Times New Roman" panose="02020603050405020304" pitchFamily="18" charset="0"/>
                <a:ea typeface="+mn-ea"/>
                <a:cs typeface="Times New Roman" panose="02020603050405020304" pitchFamily="18" charset="0"/>
              </a:rPr>
              <a:t>P</a:t>
            </a:r>
            <a:r>
              <a:rPr kumimoji="1" lang="zh-CN" altLang="en-US" sz="2400" dirty="0" smtClean="0">
                <a:latin typeface="Times New Roman" panose="02020603050405020304" pitchFamily="18" charset="0"/>
                <a:ea typeface="+mn-ea"/>
                <a:cs typeface="Times New Roman" panose="02020603050405020304" pitchFamily="18" charset="0"/>
              </a:rPr>
              <a:t>出发，</a:t>
            </a:r>
          </a:p>
          <a:p>
            <a:pPr eaLnBrk="1" hangingPunct="1">
              <a:spcBef>
                <a:spcPct val="0"/>
              </a:spcBef>
              <a:buClrTx/>
              <a:buFontTx/>
              <a:buNone/>
              <a:defRPr/>
            </a:pPr>
            <a:r>
              <a:rPr kumimoji="1" lang="zh-CN" altLang="en-US" sz="2400" dirty="0" smtClean="0">
                <a:latin typeface="Times New Roman" panose="02020603050405020304" pitchFamily="18" charset="0"/>
                <a:ea typeface="+mn-ea"/>
                <a:cs typeface="Times New Roman" panose="02020603050405020304" pitchFamily="18" charset="0"/>
              </a:rPr>
              <a:t>而不从</a:t>
            </a:r>
            <a:r>
              <a:rPr kumimoji="1" lang="en-US" altLang="zh-CN" sz="2400" dirty="0" smtClean="0">
                <a:latin typeface="Times New Roman" panose="02020603050405020304" pitchFamily="18" charset="0"/>
                <a:ea typeface="+mn-ea"/>
                <a:cs typeface="Times New Roman" panose="02020603050405020304" pitchFamily="18" charset="0"/>
              </a:rPr>
              <a:t>head</a:t>
            </a:r>
            <a:r>
              <a:rPr kumimoji="1" lang="zh-CN" altLang="en-US" sz="2400" dirty="0" smtClean="0">
                <a:latin typeface="Times New Roman" panose="02020603050405020304" pitchFamily="18" charset="0"/>
                <a:ea typeface="+mn-ea"/>
                <a:cs typeface="Times New Roman" panose="02020603050405020304" pitchFamily="18" charset="0"/>
              </a:rPr>
              <a:t>出发）。</a:t>
            </a:r>
          </a:p>
        </p:txBody>
      </p:sp>
      <p:sp>
        <p:nvSpPr>
          <p:cNvPr id="146436" name="Rectangle 5"/>
          <p:cNvSpPr>
            <a:spLocks noChangeArrowheads="1"/>
          </p:cNvSpPr>
          <p:nvPr/>
        </p:nvSpPr>
        <p:spPr bwMode="auto">
          <a:xfrm>
            <a:off x="5426075" y="4033838"/>
            <a:ext cx="793750" cy="481012"/>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46437" name="Text Box 6"/>
          <p:cNvSpPr txBox="1">
            <a:spLocks noChangeArrowheads="1"/>
          </p:cNvSpPr>
          <p:nvPr/>
        </p:nvSpPr>
        <p:spPr bwMode="auto">
          <a:xfrm>
            <a:off x="5484813" y="4106863"/>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2</a:t>
            </a:r>
            <a:endParaRPr kumimoji="1" lang="en-US" altLang="zh-CN" sz="1000" baseline="-25000">
              <a:latin typeface="Times New Roman" panose="02020603050405020304" pitchFamily="18" charset="0"/>
              <a:ea typeface="宋体" panose="02010600030101010101" pitchFamily="2" charset="-122"/>
            </a:endParaRPr>
          </a:p>
        </p:txBody>
      </p:sp>
      <p:sp>
        <p:nvSpPr>
          <p:cNvPr id="146438" name="Line 7"/>
          <p:cNvSpPr>
            <a:spLocks noChangeShapeType="1"/>
          </p:cNvSpPr>
          <p:nvPr/>
        </p:nvSpPr>
        <p:spPr bwMode="auto">
          <a:xfrm>
            <a:off x="5845175" y="4033838"/>
            <a:ext cx="0" cy="481012"/>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39" name="Line 8"/>
          <p:cNvSpPr>
            <a:spLocks noChangeShapeType="1"/>
          </p:cNvSpPr>
          <p:nvPr/>
        </p:nvSpPr>
        <p:spPr bwMode="auto">
          <a:xfrm>
            <a:off x="6010275" y="4289425"/>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40" name="Text Box 9"/>
          <p:cNvSpPr txBox="1">
            <a:spLocks noChangeArrowheads="1"/>
          </p:cNvSpPr>
          <p:nvPr/>
        </p:nvSpPr>
        <p:spPr bwMode="auto">
          <a:xfrm>
            <a:off x="2795588" y="4038600"/>
            <a:ext cx="10144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head</a:t>
            </a:r>
            <a:endParaRPr kumimoji="1" lang="en-US" altLang="zh-CN" sz="1000">
              <a:latin typeface="Times New Roman" panose="02020603050405020304" pitchFamily="18" charset="0"/>
              <a:ea typeface="宋体" panose="02010600030101010101" pitchFamily="2" charset="-122"/>
            </a:endParaRPr>
          </a:p>
        </p:txBody>
      </p:sp>
      <p:sp>
        <p:nvSpPr>
          <p:cNvPr id="146441" name="Line 10"/>
          <p:cNvSpPr>
            <a:spLocks noChangeShapeType="1"/>
          </p:cNvSpPr>
          <p:nvPr/>
        </p:nvSpPr>
        <p:spPr bwMode="auto">
          <a:xfrm>
            <a:off x="3541713" y="4267200"/>
            <a:ext cx="687387"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42" name="Rectangle 11"/>
          <p:cNvSpPr>
            <a:spLocks noChangeArrowheads="1"/>
          </p:cNvSpPr>
          <p:nvPr/>
        </p:nvSpPr>
        <p:spPr bwMode="auto">
          <a:xfrm>
            <a:off x="4249738" y="4019550"/>
            <a:ext cx="792162"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46443" name="Line 12"/>
          <p:cNvSpPr>
            <a:spLocks noChangeShapeType="1"/>
          </p:cNvSpPr>
          <p:nvPr/>
        </p:nvSpPr>
        <p:spPr bwMode="auto">
          <a:xfrm>
            <a:off x="4668838" y="401955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44" name="Line 13"/>
          <p:cNvSpPr>
            <a:spLocks noChangeShapeType="1"/>
          </p:cNvSpPr>
          <p:nvPr/>
        </p:nvSpPr>
        <p:spPr bwMode="auto">
          <a:xfrm>
            <a:off x="4867275" y="4273550"/>
            <a:ext cx="4191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45" name="Rectangle 14"/>
          <p:cNvSpPr>
            <a:spLocks noChangeArrowheads="1"/>
          </p:cNvSpPr>
          <p:nvPr/>
        </p:nvSpPr>
        <p:spPr bwMode="auto">
          <a:xfrm>
            <a:off x="9113838" y="4046538"/>
            <a:ext cx="792162" cy="479425"/>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46446" name="Text Box 15"/>
          <p:cNvSpPr txBox="1">
            <a:spLocks noChangeArrowheads="1"/>
          </p:cNvSpPr>
          <p:nvPr/>
        </p:nvSpPr>
        <p:spPr bwMode="auto">
          <a:xfrm>
            <a:off x="9172575" y="4119563"/>
            <a:ext cx="3048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n</a:t>
            </a:r>
            <a:endParaRPr kumimoji="1" lang="en-US" altLang="zh-CN" sz="1000" baseline="-25000">
              <a:latin typeface="Times New Roman" panose="02020603050405020304" pitchFamily="18" charset="0"/>
              <a:ea typeface="宋体" panose="02010600030101010101" pitchFamily="2" charset="-122"/>
            </a:endParaRPr>
          </a:p>
        </p:txBody>
      </p:sp>
      <p:sp>
        <p:nvSpPr>
          <p:cNvPr id="146447" name="Line 16"/>
          <p:cNvSpPr>
            <a:spLocks noChangeShapeType="1"/>
          </p:cNvSpPr>
          <p:nvPr/>
        </p:nvSpPr>
        <p:spPr bwMode="auto">
          <a:xfrm>
            <a:off x="9532938" y="4046538"/>
            <a:ext cx="0" cy="4794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48" name="Line 17"/>
          <p:cNvSpPr>
            <a:spLocks noChangeShapeType="1"/>
          </p:cNvSpPr>
          <p:nvPr/>
        </p:nvSpPr>
        <p:spPr bwMode="auto">
          <a:xfrm>
            <a:off x="8572500" y="4311650"/>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49" name="Text Box 18"/>
          <p:cNvSpPr txBox="1">
            <a:spLocks noChangeArrowheads="1"/>
          </p:cNvSpPr>
          <p:nvPr/>
        </p:nvSpPr>
        <p:spPr bwMode="auto">
          <a:xfrm>
            <a:off x="8139113" y="4064000"/>
            <a:ext cx="419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a:t>
            </a:r>
            <a:endParaRPr kumimoji="1" lang="en-US" altLang="zh-CN" sz="1000">
              <a:latin typeface="Times New Roman" panose="02020603050405020304" pitchFamily="18" charset="0"/>
              <a:ea typeface="宋体" panose="02010600030101010101" pitchFamily="2" charset="-122"/>
            </a:endParaRPr>
          </a:p>
        </p:txBody>
      </p:sp>
      <p:sp>
        <p:nvSpPr>
          <p:cNvPr id="146450" name="Line 19"/>
          <p:cNvSpPr>
            <a:spLocks noChangeShapeType="1"/>
          </p:cNvSpPr>
          <p:nvPr/>
        </p:nvSpPr>
        <p:spPr bwMode="auto">
          <a:xfrm>
            <a:off x="9686925" y="4337050"/>
            <a:ext cx="600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51" name="Line 20"/>
          <p:cNvSpPr>
            <a:spLocks noChangeShapeType="1"/>
          </p:cNvSpPr>
          <p:nvPr/>
        </p:nvSpPr>
        <p:spPr bwMode="auto">
          <a:xfrm>
            <a:off x="10287000" y="4337050"/>
            <a:ext cx="0" cy="692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52" name="Line 21"/>
          <p:cNvSpPr>
            <a:spLocks noChangeShapeType="1"/>
          </p:cNvSpPr>
          <p:nvPr/>
        </p:nvSpPr>
        <p:spPr bwMode="auto">
          <a:xfrm flipH="1">
            <a:off x="4724400" y="5029200"/>
            <a:ext cx="5562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53" name="Line 22"/>
          <p:cNvSpPr>
            <a:spLocks noChangeShapeType="1"/>
          </p:cNvSpPr>
          <p:nvPr/>
        </p:nvSpPr>
        <p:spPr bwMode="auto">
          <a:xfrm flipV="1">
            <a:off x="4724400" y="4546600"/>
            <a:ext cx="0" cy="461963"/>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54" name="Text Box 23"/>
          <p:cNvSpPr txBox="1">
            <a:spLocks noChangeArrowheads="1"/>
          </p:cNvSpPr>
          <p:nvPr/>
        </p:nvSpPr>
        <p:spPr bwMode="auto">
          <a:xfrm>
            <a:off x="4246563" y="4019550"/>
            <a:ext cx="4238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1</a:t>
            </a:r>
          </a:p>
        </p:txBody>
      </p:sp>
      <p:sp>
        <p:nvSpPr>
          <p:cNvPr id="146455" name="Rectangle 24"/>
          <p:cNvSpPr>
            <a:spLocks noChangeArrowheads="1"/>
          </p:cNvSpPr>
          <p:nvPr/>
        </p:nvSpPr>
        <p:spPr bwMode="auto">
          <a:xfrm>
            <a:off x="6997700" y="4038600"/>
            <a:ext cx="793750" cy="481013"/>
          </a:xfrm>
          <a:prstGeom prst="rect">
            <a:avLst/>
          </a:prstGeom>
          <a:noFill/>
          <a:ln w="9525">
            <a:solidFill>
              <a:schemeClr val="tx1"/>
            </a:solidFill>
            <a:miter lim="800000"/>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endParaRPr lang="zh-CN" altLang="en-US" sz="1800">
              <a:latin typeface="Verdana" panose="020B0604030504040204" pitchFamily="34" charset="0"/>
              <a:ea typeface="宋体" panose="02010600030101010101" pitchFamily="2" charset="-122"/>
            </a:endParaRPr>
          </a:p>
        </p:txBody>
      </p:sp>
      <p:sp>
        <p:nvSpPr>
          <p:cNvPr id="146456" name="Text Box 25"/>
          <p:cNvSpPr txBox="1">
            <a:spLocks noChangeArrowheads="1"/>
          </p:cNvSpPr>
          <p:nvPr/>
        </p:nvSpPr>
        <p:spPr bwMode="auto">
          <a:xfrm>
            <a:off x="7056438" y="4111625"/>
            <a:ext cx="3048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a:t>
            </a:r>
            <a:r>
              <a:rPr kumimoji="1" lang="en-US" altLang="zh-CN" sz="2400" baseline="-25000">
                <a:latin typeface="Times New Roman" panose="02020603050405020304" pitchFamily="18" charset="0"/>
                <a:ea typeface="宋体" panose="02010600030101010101" pitchFamily="2" charset="-122"/>
              </a:rPr>
              <a:t>i</a:t>
            </a:r>
            <a:endParaRPr kumimoji="1" lang="en-US" altLang="zh-CN" sz="1000" baseline="-25000">
              <a:latin typeface="Times New Roman" panose="02020603050405020304" pitchFamily="18" charset="0"/>
              <a:ea typeface="宋体" panose="02010600030101010101" pitchFamily="2" charset="-122"/>
            </a:endParaRPr>
          </a:p>
        </p:txBody>
      </p:sp>
      <p:sp>
        <p:nvSpPr>
          <p:cNvPr id="146457" name="Line 26"/>
          <p:cNvSpPr>
            <a:spLocks noChangeShapeType="1"/>
          </p:cNvSpPr>
          <p:nvPr/>
        </p:nvSpPr>
        <p:spPr bwMode="auto">
          <a:xfrm>
            <a:off x="7416800" y="4038600"/>
            <a:ext cx="0" cy="481013"/>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58" name="Line 27"/>
          <p:cNvSpPr>
            <a:spLocks noChangeShapeType="1"/>
          </p:cNvSpPr>
          <p:nvPr/>
        </p:nvSpPr>
        <p:spPr bwMode="auto">
          <a:xfrm>
            <a:off x="7581900" y="4294188"/>
            <a:ext cx="4953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59" name="Line 28"/>
          <p:cNvSpPr>
            <a:spLocks noChangeShapeType="1"/>
          </p:cNvSpPr>
          <p:nvPr/>
        </p:nvSpPr>
        <p:spPr bwMode="auto">
          <a:xfrm>
            <a:off x="6883400" y="3605213"/>
            <a:ext cx="508000" cy="3571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6460" name="Text Box 29"/>
          <p:cNvSpPr txBox="1">
            <a:spLocks noChangeArrowheads="1"/>
          </p:cNvSpPr>
          <p:nvPr/>
        </p:nvSpPr>
        <p:spPr bwMode="auto">
          <a:xfrm>
            <a:off x="6629400" y="3338513"/>
            <a:ext cx="3683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me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algn="just"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p</a:t>
            </a:r>
            <a:endParaRPr kumimoji="1" lang="en-US" altLang="zh-CN" sz="100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527050" y="368300"/>
            <a:ext cx="10218738" cy="822325"/>
          </a:xfrm>
        </p:spPr>
        <p:txBody>
          <a:bodyPr/>
          <a:lstStyle/>
          <a:p>
            <a:pPr eaLnBrk="1" hangingPunct="1"/>
            <a:r>
              <a:rPr kumimoji="1" lang="zh-CN" altLang="en-US" smtClean="0">
                <a:solidFill>
                  <a:schemeClr val="tx1"/>
                </a:solidFill>
              </a:rPr>
              <a:t>例</a:t>
            </a:r>
            <a:r>
              <a:rPr kumimoji="1" lang="en-US" altLang="zh-CN" smtClean="0">
                <a:solidFill>
                  <a:schemeClr val="tx1"/>
                </a:solidFill>
              </a:rPr>
              <a:t>1</a:t>
            </a:r>
          </a:p>
        </p:txBody>
      </p:sp>
      <p:sp>
        <p:nvSpPr>
          <p:cNvPr id="147459" name="Text Box 5"/>
          <p:cNvSpPr txBox="1">
            <a:spLocks noChangeArrowheads="1"/>
          </p:cNvSpPr>
          <p:nvPr/>
        </p:nvSpPr>
        <p:spPr bwMode="auto">
          <a:xfrm>
            <a:off x="3124200" y="2438400"/>
            <a:ext cx="3567113"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LNode * prior( Linklist  p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LNode *q;</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q=p;</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while( q-&gt;next != p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q=q-&gt;next;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return q;</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527050" y="368300"/>
            <a:ext cx="10218738" cy="822325"/>
          </a:xfrm>
        </p:spPr>
        <p:txBody>
          <a:bodyPr/>
          <a:lstStyle/>
          <a:p>
            <a:pPr eaLnBrk="1" hangingPunct="1"/>
            <a:r>
              <a:rPr kumimoji="1" lang="zh-CN" altLang="en-US" smtClean="0">
                <a:solidFill>
                  <a:schemeClr val="tx1"/>
                </a:solidFill>
              </a:rPr>
              <a:t>例</a:t>
            </a:r>
            <a:r>
              <a:rPr kumimoji="1" lang="en-US" altLang="zh-CN" smtClean="0">
                <a:solidFill>
                  <a:schemeClr val="tx1"/>
                </a:solidFill>
              </a:rPr>
              <a:t>2</a:t>
            </a:r>
          </a:p>
        </p:txBody>
      </p:sp>
      <p:sp>
        <p:nvSpPr>
          <p:cNvPr id="148483" name="Rectangle 3"/>
          <p:cNvSpPr>
            <a:spLocks noGrp="1" noChangeArrowheads="1"/>
          </p:cNvSpPr>
          <p:nvPr>
            <p:ph idx="1"/>
          </p:nvPr>
        </p:nvSpPr>
        <p:spPr>
          <a:xfrm>
            <a:off x="527050" y="1628775"/>
            <a:ext cx="10218738" cy="4351338"/>
          </a:xfrm>
        </p:spPr>
        <p:txBody>
          <a:bodyPr/>
          <a:lstStyle/>
          <a:p>
            <a:pPr eaLnBrk="1" hangingPunct="1"/>
            <a:r>
              <a:rPr kumimoji="1" lang="zh-CN" altLang="en-US" smtClean="0"/>
              <a:t>假设有一个单向链表，其结点含有三个域：</a:t>
            </a:r>
            <a:r>
              <a:rPr kumimoji="1" lang="en-US" altLang="zh-CN" smtClean="0"/>
              <a:t>pre,data, next, </a:t>
            </a:r>
            <a:r>
              <a:rPr kumimoji="1" lang="zh-CN" altLang="en-US" smtClean="0"/>
              <a:t>每个结点的</a:t>
            </a:r>
            <a:r>
              <a:rPr kumimoji="1" lang="en-US" altLang="zh-CN" smtClean="0"/>
              <a:t>pre</a:t>
            </a:r>
            <a:r>
              <a:rPr kumimoji="1" lang="zh-CN" altLang="en-US" smtClean="0"/>
              <a:t>值为空指针。试编写一个算法将此表改为双向链表。</a:t>
            </a:r>
          </a:p>
          <a:p>
            <a:pPr eaLnBrk="1" hangingPunct="1"/>
            <a:endParaRPr lang="en-US" altLang="zh-CN" smtClean="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5"/>
          <p:cNvSpPr>
            <a:spLocks noGrp="1"/>
          </p:cNvSpPr>
          <p:nvPr>
            <p:ph type="title"/>
          </p:nvPr>
        </p:nvSpPr>
        <p:spPr>
          <a:xfrm>
            <a:off x="527050" y="368300"/>
            <a:ext cx="10218738" cy="822325"/>
          </a:xfrm>
        </p:spPr>
        <p:txBody>
          <a:bodyPr/>
          <a:lstStyle/>
          <a:p>
            <a:pPr eaLnBrk="1" hangingPunct="1"/>
            <a:endParaRPr lang="zh-CN" altLang="en-US" smtClean="0"/>
          </a:p>
        </p:txBody>
      </p:sp>
      <p:sp>
        <p:nvSpPr>
          <p:cNvPr id="149507" name="Text Box 4"/>
          <p:cNvSpPr txBox="1">
            <a:spLocks noChangeArrowheads="1"/>
          </p:cNvSpPr>
          <p:nvPr/>
        </p:nvSpPr>
        <p:spPr bwMode="auto">
          <a:xfrm>
            <a:off x="2927350" y="1484313"/>
            <a:ext cx="3625850"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Franklin Gothic Book" panose="020B0503020102020204" pitchFamily="34" charset="0"/>
                <a:ea typeface="华文楷体" panose="0201060004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Franklin Gothic Book" panose="020B0503020102020204" pitchFamily="34" charset="0"/>
                <a:ea typeface="华文楷体" panose="0201060004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Franklin Gothic Book" panose="020B0503020102020204" pitchFamily="34" charset="0"/>
                <a:ea typeface="华文楷体" panose="0201060004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Franklin Gothic Book" panose="020B0503020102020204" pitchFamily="34" charset="0"/>
                <a:ea typeface="华文楷体" panose="02010600040101010101" pitchFamily="2" charset="-122"/>
              </a:defRPr>
            </a:lvl9pPr>
          </a:lstStyle>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typedef   struct  node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Elemtype  data;</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struct  node  *pre,  *next;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DuLNode;</a:t>
            </a:r>
          </a:p>
          <a:p>
            <a:pPr eaLnBrk="1" hangingPunct="1">
              <a:lnSpc>
                <a:spcPct val="100000"/>
              </a:lnSpc>
              <a:spcBef>
                <a:spcPct val="0"/>
              </a:spcBef>
              <a:buFontTx/>
              <a:buNone/>
            </a:pPr>
            <a:endParaRPr kumimoji="1" lang="en-US" altLang="zh-CN" sz="2400">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void  S2D ( DuLNode * L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DuLNode *p=L;</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while( p-&gt;next )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p-&gt;next-&gt;pre = p;</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p = p-&gt;next;</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    }</a:t>
            </a:r>
          </a:p>
          <a:p>
            <a:pPr eaLnBrk="1" hangingPunct="1">
              <a:lnSpc>
                <a:spcPct val="100000"/>
              </a:lnSpc>
              <a:spcBef>
                <a:spcPct val="0"/>
              </a:spcBef>
              <a:buFontTx/>
              <a:buNone/>
            </a:pPr>
            <a:r>
              <a:rPr kumimoji="1" lang="en-US" altLang="zh-CN" sz="2400">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自定义设计方案">
  <a:themeElements>
    <a:clrScheme name="自定义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4472C4"/>
      </a:accent5>
      <a:accent6>
        <a:srgbClr val="70AD47"/>
      </a:accent6>
      <a:hlink>
        <a:srgbClr val="034A90"/>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自定义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4472C4"/>
      </a:accent5>
      <a:accent6>
        <a:srgbClr val="70AD47"/>
      </a:accent6>
      <a:hlink>
        <a:srgbClr val="034A90"/>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41434</TotalTime>
  <Words>5116</Words>
  <Application>Microsoft Office PowerPoint</Application>
  <PresentationFormat>宽屏</PresentationFormat>
  <Paragraphs>934</Paragraphs>
  <Slides>109</Slides>
  <Notes>11</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109</vt:i4>
      </vt:variant>
    </vt:vector>
  </HeadingPairs>
  <TitlesOfParts>
    <vt:vector size="123" baseType="lpstr">
      <vt:lpstr>Verdana</vt:lpstr>
      <vt:lpstr>宋体</vt:lpstr>
      <vt:lpstr>Arial</vt:lpstr>
      <vt:lpstr>Franklin Gothic Medium</vt:lpstr>
      <vt:lpstr>隶书</vt:lpstr>
      <vt:lpstr>Franklin Gothic Book</vt:lpstr>
      <vt:lpstr>华文楷体</vt:lpstr>
      <vt:lpstr>Wingdings</vt:lpstr>
      <vt:lpstr>Times New Roman</vt:lpstr>
      <vt:lpstr>Symbol</vt:lpstr>
      <vt:lpstr>Tahoma</vt:lpstr>
      <vt:lpstr>1_自定义设计方案</vt:lpstr>
      <vt:lpstr>2_自定义设计方案</vt:lpstr>
      <vt:lpstr>Microsoft 公式 3.0</vt:lpstr>
      <vt:lpstr>课堂练习</vt:lpstr>
      <vt:lpstr>PowerPoint 演示文稿</vt:lpstr>
      <vt:lpstr>C语言</vt:lpstr>
      <vt:lpstr>PowerPoint 演示文稿</vt:lpstr>
      <vt:lpstr>PowerPoint 演示文稿</vt:lpstr>
      <vt:lpstr>PowerPoint 演示文稿</vt:lpstr>
      <vt:lpstr>参数传递</vt:lpstr>
      <vt:lpstr>PowerPoint 演示文稿</vt:lpstr>
      <vt:lpstr>PowerPoint 演示文稿</vt:lpstr>
      <vt:lpstr>PowerPoint 演示文稿</vt:lpstr>
      <vt:lpstr>PowerPoint 演示文稿</vt:lpstr>
      <vt:lpstr>PowerPoint 演示文稿</vt:lpstr>
      <vt:lpstr>C语言</vt:lpstr>
      <vt:lpstr>p为指针：</vt:lpstr>
      <vt:lpstr>线性表</vt:lpstr>
      <vt:lpstr>提纲</vt:lpstr>
      <vt:lpstr>PowerPoint 演示文稿</vt:lpstr>
      <vt:lpstr>线性表定义：</vt:lpstr>
      <vt:lpstr>PowerPoint 演示文稿</vt:lpstr>
      <vt:lpstr>抽象数据类型线性表的定义</vt:lpstr>
      <vt:lpstr>抽象数据类型线性表的定义</vt:lpstr>
      <vt:lpstr>抽象数据类型线性表的定义</vt:lpstr>
      <vt:lpstr>抽象数据类型线性表的定义</vt:lpstr>
      <vt:lpstr>抽象数据类型线性表的定义</vt:lpstr>
      <vt:lpstr>抽象数据类型线性表的定义</vt:lpstr>
      <vt:lpstr>抽象数据类型线性表的定义</vt:lpstr>
      <vt:lpstr>抽象数据类型线性表的定义</vt:lpstr>
      <vt:lpstr>抽象数据类型线性表的定义</vt:lpstr>
      <vt:lpstr>抽象数据类型线性表的定义</vt:lpstr>
      <vt:lpstr>PowerPoint 演示文稿</vt:lpstr>
      <vt:lpstr>线性表的顺序存储表示和实现</vt:lpstr>
      <vt:lpstr>PowerPoint 演示文稿</vt:lpstr>
      <vt:lpstr>线性表的顺序存储表示和实现</vt:lpstr>
      <vt:lpstr>线性表的顺序存储表示和实现</vt:lpstr>
      <vt:lpstr>线性表的顺序存储表示和实现</vt:lpstr>
      <vt:lpstr>线性表的顺序存储表示和实现</vt:lpstr>
      <vt:lpstr>线性表的顺序存储表示和实现</vt:lpstr>
      <vt:lpstr>线性表的顺序存储表示和实现</vt:lpstr>
      <vt:lpstr>线性表的顺序存储表示和实现</vt:lpstr>
      <vt:lpstr>线性表的顺序存储表示和实现</vt:lpstr>
      <vt:lpstr>线性表的顺序存储表示和实现</vt:lpstr>
      <vt:lpstr>PowerPoint 演示文稿</vt:lpstr>
      <vt:lpstr>线性表的顺序存储表示和实现</vt:lpstr>
      <vt:lpstr>线性表的顺序存储表示和实现</vt:lpstr>
      <vt:lpstr>线性表的顺序存储表示和实现</vt:lpstr>
      <vt:lpstr>线性表的顺序存储表示和实现</vt:lpstr>
      <vt:lpstr>线性表的顺序存储表示和实现</vt:lpstr>
      <vt:lpstr>PowerPoint 演示文稿</vt:lpstr>
      <vt:lpstr>线性表的顺序存储表示和实现</vt:lpstr>
      <vt:lpstr>顺序表删除运算的平均时间复杂度</vt:lpstr>
      <vt:lpstr>PowerPoint 演示文稿</vt:lpstr>
      <vt:lpstr>线性表的顺序存储表示和实现</vt:lpstr>
      <vt:lpstr>线性表的顺序存储表示和实现</vt:lpstr>
      <vt:lpstr>线性表的链式存储表示和实现</vt:lpstr>
      <vt:lpstr>线性表的链式存储表示和实现</vt:lpstr>
      <vt:lpstr>PowerPoint 演示文稿</vt:lpstr>
      <vt:lpstr>链式存储</vt:lpstr>
      <vt:lpstr>链式存储</vt:lpstr>
      <vt:lpstr>链式存储</vt:lpstr>
      <vt:lpstr>链式存储</vt:lpstr>
      <vt:lpstr>线性表的链式存储表示和实现</vt:lpstr>
      <vt:lpstr>线性表的链式存储表示和实现</vt:lpstr>
      <vt:lpstr>链式存储</vt:lpstr>
      <vt:lpstr>链式存储</vt:lpstr>
      <vt:lpstr>线性表的链式存储表示和实现</vt:lpstr>
      <vt:lpstr>PowerPoint 演示文稿</vt:lpstr>
      <vt:lpstr>线性表的链式存储表示和实现</vt:lpstr>
      <vt:lpstr>线性表的链式存储表示和实现</vt:lpstr>
      <vt:lpstr>线性表的链式存储表示和实现</vt:lpstr>
      <vt:lpstr>链表的遍历</vt:lpstr>
      <vt:lpstr>求表长</vt:lpstr>
      <vt:lpstr>按值查找</vt:lpstr>
      <vt:lpstr>线性表的链式存储表示和实现</vt:lpstr>
      <vt:lpstr>线性表的链式存储表示和实现</vt:lpstr>
      <vt:lpstr>线性表的链式存储表示和实现</vt:lpstr>
      <vt:lpstr>PowerPoint 演示文稿</vt:lpstr>
      <vt:lpstr>PowerPoint 演示文稿</vt:lpstr>
      <vt:lpstr>PowerPoint 演示文稿</vt:lpstr>
      <vt:lpstr>线性表的链式存储表示和实现</vt:lpstr>
      <vt:lpstr>线性表的链式存储表示和实现</vt:lpstr>
      <vt:lpstr>PowerPoint 演示文稿</vt:lpstr>
      <vt:lpstr>PowerPoint 演示文稿</vt:lpstr>
      <vt:lpstr>PowerPoint 演示文稿</vt:lpstr>
      <vt:lpstr>PowerPoint 演示文稿</vt:lpstr>
      <vt:lpstr>线性表的链式存储表示和实现</vt:lpstr>
      <vt:lpstr>线性表的链式存储表示和实现</vt:lpstr>
      <vt:lpstr>线性表的链式存储表示和实现</vt:lpstr>
      <vt:lpstr>线性表的链式存储表示和实现</vt:lpstr>
      <vt:lpstr>PowerPoint 演示文稿</vt:lpstr>
      <vt:lpstr>线性表的链式存储表示和实现</vt:lpstr>
      <vt:lpstr>PowerPoint 演示文稿</vt:lpstr>
      <vt:lpstr>PowerPoint 演示文稿</vt:lpstr>
      <vt:lpstr>线性表的链式存储表示和实现</vt:lpstr>
      <vt:lpstr>线性表的链式存储表示和实现</vt:lpstr>
      <vt:lpstr>双向链表</vt:lpstr>
      <vt:lpstr>双向链表</vt:lpstr>
      <vt:lpstr>双向链表</vt:lpstr>
      <vt:lpstr>双向链表</vt:lpstr>
      <vt:lpstr>双向链表</vt:lpstr>
      <vt:lpstr>循环链表</vt:lpstr>
      <vt:lpstr>循环链表</vt:lpstr>
      <vt:lpstr>线性表</vt:lpstr>
      <vt:lpstr>顺序表与链表比较：</vt:lpstr>
      <vt:lpstr>PowerPoint 演示文稿</vt:lpstr>
      <vt:lpstr>总结</vt:lpstr>
      <vt:lpstr>PowerPoint 演示文稿</vt:lpstr>
      <vt:lpstr>例1</vt:lpstr>
      <vt:lpstr>例2</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线性表</dc:title>
  <dc:creator>baobao</dc:creator>
  <cp:lastModifiedBy>zhhy_bupt@tom.com</cp:lastModifiedBy>
  <cp:revision>262</cp:revision>
  <dcterms:created xsi:type="dcterms:W3CDTF">2008-02-29T08:18:36Z</dcterms:created>
  <dcterms:modified xsi:type="dcterms:W3CDTF">2025-09-21T04:42:25Z</dcterms:modified>
</cp:coreProperties>
</file>